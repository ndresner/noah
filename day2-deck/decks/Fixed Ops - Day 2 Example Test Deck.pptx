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10.xml" ContentType="application/vnd.openxmlformats-officedocument.drawingml.chart+xml"/>
  <Override PartName="/ppt/charts/chart100.xml" ContentType="application/vnd.openxmlformats-officedocument.drawingml.chart+xml"/>
  <Override PartName="/ppt/charts/chart101.xml" ContentType="application/vnd.openxmlformats-officedocument.drawingml.chart+xml"/>
  <Override PartName="/ppt/charts/chart102.xml" ContentType="application/vnd.openxmlformats-officedocument.drawingml.chart+xml"/>
  <Override PartName="/ppt/charts/chart103.xml" ContentType="application/vnd.openxmlformats-officedocument.drawingml.chart+xml"/>
  <Override PartName="/ppt/charts/chart104.xml" ContentType="application/vnd.openxmlformats-officedocument.drawingml.chart+xml"/>
  <Override PartName="/ppt/charts/chart105.xml" ContentType="application/vnd.openxmlformats-officedocument.drawingml.chart+xml"/>
  <Override PartName="/ppt/charts/chart106.xml" ContentType="application/vnd.openxmlformats-officedocument.drawingml.chart+xml"/>
  <Override PartName="/ppt/charts/chart107.xml" ContentType="application/vnd.openxmlformats-officedocument.drawingml.chart+xml"/>
  <Override PartName="/ppt/charts/chart108.xml" ContentType="application/vnd.openxmlformats-officedocument.drawingml.chart+xml"/>
  <Override PartName="/ppt/charts/chart109.xml" ContentType="application/vnd.openxmlformats-officedocument.drawingml.chart+xml"/>
  <Override PartName="/ppt/charts/chart11.xml" ContentType="application/vnd.openxmlformats-officedocument.drawingml.chart+xml"/>
  <Override PartName="/ppt/charts/chart110.xml" ContentType="application/vnd.openxmlformats-officedocument.drawingml.chart+xml"/>
  <Override PartName="/ppt/charts/chart111.xml" ContentType="application/vnd.openxmlformats-officedocument.drawingml.chart+xml"/>
  <Override PartName="/ppt/charts/chart112.xml" ContentType="application/vnd.openxmlformats-officedocument.drawingml.chart+xml"/>
  <Override PartName="/ppt/charts/chart113.xml" ContentType="application/vnd.openxmlformats-officedocument.drawingml.chart+xml"/>
  <Override PartName="/ppt/charts/chart114.xml" ContentType="application/vnd.openxmlformats-officedocument.drawingml.chart+xml"/>
  <Override PartName="/ppt/charts/chart115.xml" ContentType="application/vnd.openxmlformats-officedocument.drawingml.chart+xml"/>
  <Override PartName="/ppt/charts/chart116.xml" ContentType="application/vnd.openxmlformats-officedocument.drawingml.chart+xml"/>
  <Override PartName="/ppt/charts/chart117.xml" ContentType="application/vnd.openxmlformats-officedocument.drawingml.chart+xml"/>
  <Override PartName="/ppt/charts/chart118.xml" ContentType="application/vnd.openxmlformats-officedocument.drawingml.chart+xml"/>
  <Override PartName="/ppt/charts/chart119.xml" ContentType="application/vnd.openxmlformats-officedocument.drawingml.chart+xml"/>
  <Override PartName="/ppt/charts/chart12.xml" ContentType="application/vnd.openxmlformats-officedocument.drawingml.chart+xml"/>
  <Override PartName="/ppt/charts/chart120.xml" ContentType="application/vnd.openxmlformats-officedocument.drawingml.chart+xml"/>
  <Override PartName="/ppt/charts/chart121.xml" ContentType="application/vnd.openxmlformats-officedocument.drawingml.chart+xml"/>
  <Override PartName="/ppt/charts/chart122.xml" ContentType="application/vnd.openxmlformats-officedocument.drawingml.chart+xml"/>
  <Override PartName="/ppt/charts/chart123.xml" ContentType="application/vnd.openxmlformats-officedocument.drawingml.chart+xml"/>
  <Override PartName="/ppt/charts/chart124.xml" ContentType="application/vnd.openxmlformats-officedocument.drawingml.chart+xml"/>
  <Override PartName="/ppt/charts/chart125.xml" ContentType="application/vnd.openxmlformats-officedocument.drawingml.chart+xml"/>
  <Override PartName="/ppt/charts/chart126.xml" ContentType="application/vnd.openxmlformats-officedocument.drawingml.chart+xml"/>
  <Override PartName="/ppt/charts/chart127.xml" ContentType="application/vnd.openxmlformats-officedocument.drawingml.chart+xml"/>
  <Override PartName="/ppt/charts/chart128.xml" ContentType="application/vnd.openxmlformats-officedocument.drawingml.chart+xml"/>
  <Override PartName="/ppt/charts/chart129.xml" ContentType="application/vnd.openxmlformats-officedocument.drawingml.chart+xml"/>
  <Override PartName="/ppt/charts/chart13.xml" ContentType="application/vnd.openxmlformats-officedocument.drawingml.chart+xml"/>
  <Override PartName="/ppt/charts/chart130.xml" ContentType="application/vnd.openxmlformats-officedocument.drawingml.chart+xml"/>
  <Override PartName="/ppt/charts/chart131.xml" ContentType="application/vnd.openxmlformats-officedocument.drawingml.chart+xml"/>
  <Override PartName="/ppt/charts/chart132.xml" ContentType="application/vnd.openxmlformats-officedocument.drawingml.chart+xml"/>
  <Override PartName="/ppt/charts/chart133.xml" ContentType="application/vnd.openxmlformats-officedocument.drawingml.chart+xml"/>
  <Override PartName="/ppt/charts/chart134.xml" ContentType="application/vnd.openxmlformats-officedocument.drawingml.chart+xml"/>
  <Override PartName="/ppt/charts/chart135.xml" ContentType="application/vnd.openxmlformats-officedocument.drawingml.chart+xml"/>
  <Override PartName="/ppt/charts/chart136.xml" ContentType="application/vnd.openxmlformats-officedocument.drawingml.chart+xml"/>
  <Override PartName="/ppt/charts/chart137.xml" ContentType="application/vnd.openxmlformats-officedocument.drawingml.chart+xml"/>
  <Override PartName="/ppt/charts/chart138.xml" ContentType="application/vnd.openxmlformats-officedocument.drawingml.chart+xml"/>
  <Override PartName="/ppt/charts/chart139.xml" ContentType="application/vnd.openxmlformats-officedocument.drawingml.chart+xml"/>
  <Override PartName="/ppt/charts/chart14.xml" ContentType="application/vnd.openxmlformats-officedocument.drawingml.chart+xml"/>
  <Override PartName="/ppt/charts/chart140.xml" ContentType="application/vnd.openxmlformats-officedocument.drawingml.chart+xml"/>
  <Override PartName="/ppt/charts/chart141.xml" ContentType="application/vnd.openxmlformats-officedocument.drawingml.chart+xml"/>
  <Override PartName="/ppt/charts/chart142.xml" ContentType="application/vnd.openxmlformats-officedocument.drawingml.chart+xml"/>
  <Override PartName="/ppt/charts/chart143.xml" ContentType="application/vnd.openxmlformats-officedocument.drawingml.chart+xml"/>
  <Override PartName="/ppt/charts/chart144.xml" ContentType="application/vnd.openxmlformats-officedocument.drawingml.chart+xml"/>
  <Override PartName="/ppt/charts/chart145.xml" ContentType="application/vnd.openxmlformats-officedocument.drawingml.chart+xml"/>
  <Override PartName="/ppt/charts/chart146.xml" ContentType="application/vnd.openxmlformats-officedocument.drawingml.chart+xml"/>
  <Override PartName="/ppt/charts/chart147.xml" ContentType="application/vnd.openxmlformats-officedocument.drawingml.chart+xml"/>
  <Override PartName="/ppt/charts/chart148.xml" ContentType="application/vnd.openxmlformats-officedocument.drawingml.chart+xml"/>
  <Override PartName="/ppt/charts/chart149.xml" ContentType="application/vnd.openxmlformats-officedocument.drawingml.chart+xml"/>
  <Override PartName="/ppt/charts/chart15.xml" ContentType="application/vnd.openxmlformats-officedocument.drawingml.chart+xml"/>
  <Override PartName="/ppt/charts/chart150.xml" ContentType="application/vnd.openxmlformats-officedocument.drawingml.chart+xml"/>
  <Override PartName="/ppt/charts/chart151.xml" ContentType="application/vnd.openxmlformats-officedocument.drawingml.chart+xml"/>
  <Override PartName="/ppt/charts/chart152.xml" ContentType="application/vnd.openxmlformats-officedocument.drawingml.chart+xml"/>
  <Override PartName="/ppt/charts/chart153.xml" ContentType="application/vnd.openxmlformats-officedocument.drawingml.chart+xml"/>
  <Override PartName="/ppt/charts/chart154.xml" ContentType="application/vnd.openxmlformats-officedocument.drawingml.chart+xml"/>
  <Override PartName="/ppt/charts/chart155.xml" ContentType="application/vnd.openxmlformats-officedocument.drawingml.chart+xml"/>
  <Override PartName="/ppt/charts/chart156.xml" ContentType="application/vnd.openxmlformats-officedocument.drawingml.chart+xml"/>
  <Override PartName="/ppt/charts/chart157.xml" ContentType="application/vnd.openxmlformats-officedocument.drawingml.chart+xml"/>
  <Override PartName="/ppt/charts/chart158.xml" ContentType="application/vnd.openxmlformats-officedocument.drawingml.chart+xml"/>
  <Override PartName="/ppt/charts/chart159.xml" ContentType="application/vnd.openxmlformats-officedocument.drawingml.chart+xml"/>
  <Override PartName="/ppt/charts/chart16.xml" ContentType="application/vnd.openxmlformats-officedocument.drawingml.chart+xml"/>
  <Override PartName="/ppt/charts/chart160.xml" ContentType="application/vnd.openxmlformats-officedocument.drawingml.chart+xml"/>
  <Override PartName="/ppt/charts/chart161.xml" ContentType="application/vnd.openxmlformats-officedocument.drawingml.chart+xml"/>
  <Override PartName="/ppt/charts/chart162.xml" ContentType="application/vnd.openxmlformats-officedocument.drawingml.chart+xml"/>
  <Override PartName="/ppt/charts/chart163.xml" ContentType="application/vnd.openxmlformats-officedocument.drawingml.chart+xml"/>
  <Override PartName="/ppt/charts/chart164.xml" ContentType="application/vnd.openxmlformats-officedocument.drawingml.chart+xml"/>
  <Override PartName="/ppt/charts/chart165.xml" ContentType="application/vnd.openxmlformats-officedocument.drawingml.chart+xml"/>
  <Override PartName="/ppt/charts/chart166.xml" ContentType="application/vnd.openxmlformats-officedocument.drawingml.chart+xml"/>
  <Override PartName="/ppt/charts/chart167.xml" ContentType="application/vnd.openxmlformats-officedocument.drawingml.chart+xml"/>
  <Override PartName="/ppt/charts/chart168.xml" ContentType="application/vnd.openxmlformats-officedocument.drawingml.chart+xml"/>
  <Override PartName="/ppt/charts/chart169.xml" ContentType="application/vnd.openxmlformats-officedocument.drawingml.chart+xml"/>
  <Override PartName="/ppt/charts/chart17.xml" ContentType="application/vnd.openxmlformats-officedocument.drawingml.chart+xml"/>
  <Override PartName="/ppt/charts/chart170.xml" ContentType="application/vnd.openxmlformats-officedocument.drawingml.chart+xml"/>
  <Override PartName="/ppt/charts/chart171.xml" ContentType="application/vnd.openxmlformats-officedocument.drawingml.chart+xml"/>
  <Override PartName="/ppt/charts/chart172.xml" ContentType="application/vnd.openxmlformats-officedocument.drawingml.chart+xml"/>
  <Override PartName="/ppt/charts/chart173.xml" ContentType="application/vnd.openxmlformats-officedocument.drawingml.chart+xml"/>
  <Override PartName="/ppt/charts/chart174.xml" ContentType="application/vnd.openxmlformats-officedocument.drawingml.chart+xml"/>
  <Override PartName="/ppt/charts/chart175.xml" ContentType="application/vnd.openxmlformats-officedocument.drawingml.chart+xml"/>
  <Override PartName="/ppt/charts/chart176.xml" ContentType="application/vnd.openxmlformats-officedocument.drawingml.chart+xml"/>
  <Override PartName="/ppt/charts/chart177.xml" ContentType="application/vnd.openxmlformats-officedocument.drawingml.chart+xml"/>
  <Override PartName="/ppt/charts/chart178.xml" ContentType="application/vnd.openxmlformats-officedocument.drawingml.chart+xml"/>
  <Override PartName="/ppt/charts/chart179.xml" ContentType="application/vnd.openxmlformats-officedocument.drawingml.chart+xml"/>
  <Override PartName="/ppt/charts/chart18.xml" ContentType="application/vnd.openxmlformats-officedocument.drawingml.chart+xml"/>
  <Override PartName="/ppt/charts/chart180.xml" ContentType="application/vnd.openxmlformats-officedocument.drawingml.chart+xml"/>
  <Override PartName="/ppt/charts/chart181.xml" ContentType="application/vnd.openxmlformats-officedocument.drawingml.chart+xml"/>
  <Override PartName="/ppt/charts/chart182.xml" ContentType="application/vnd.openxmlformats-officedocument.drawingml.chart+xml"/>
  <Override PartName="/ppt/charts/chart183.xml" ContentType="application/vnd.openxmlformats-officedocument.drawingml.chart+xml"/>
  <Override PartName="/ppt/charts/chart184.xml" ContentType="application/vnd.openxmlformats-officedocument.drawingml.chart+xml"/>
  <Override PartName="/ppt/charts/chart185.xml" ContentType="application/vnd.openxmlformats-officedocument.drawingml.chart+xml"/>
  <Override PartName="/ppt/charts/chart186.xml" ContentType="application/vnd.openxmlformats-officedocument.drawingml.chart+xml"/>
  <Override PartName="/ppt/charts/chart187.xml" ContentType="application/vnd.openxmlformats-officedocument.drawingml.chart+xml"/>
  <Override PartName="/ppt/charts/chart188.xml" ContentType="application/vnd.openxmlformats-officedocument.drawingml.chart+xml"/>
  <Override PartName="/ppt/charts/chart189.xml" ContentType="application/vnd.openxmlformats-officedocument.drawingml.chart+xml"/>
  <Override PartName="/ppt/charts/chart19.xml" ContentType="application/vnd.openxmlformats-officedocument.drawingml.chart+xml"/>
  <Override PartName="/ppt/charts/chart190.xml" ContentType="application/vnd.openxmlformats-officedocument.drawingml.chart+xml"/>
  <Override PartName="/ppt/charts/chart191.xml" ContentType="application/vnd.openxmlformats-officedocument.drawingml.chart+xml"/>
  <Override PartName="/ppt/charts/chart192.xml" ContentType="application/vnd.openxmlformats-officedocument.drawingml.chart+xml"/>
  <Override PartName="/ppt/charts/chart193.xml" ContentType="application/vnd.openxmlformats-officedocument.drawingml.chart+xml"/>
  <Override PartName="/ppt/charts/chart194.xml" ContentType="application/vnd.openxmlformats-officedocument.drawingml.chart+xml"/>
  <Override PartName="/ppt/charts/chart195.xml" ContentType="application/vnd.openxmlformats-officedocument.drawingml.chart+xml"/>
  <Override PartName="/ppt/charts/chart196.xml" ContentType="application/vnd.openxmlformats-officedocument.drawingml.chart+xml"/>
  <Override PartName="/ppt/charts/chart197.xml" ContentType="application/vnd.openxmlformats-officedocument.drawingml.chart+xml"/>
  <Override PartName="/ppt/charts/chart198.xml" ContentType="application/vnd.openxmlformats-officedocument.drawingml.chart+xml"/>
  <Override PartName="/ppt/charts/chart199.xml" ContentType="application/vnd.openxmlformats-officedocument.drawingml.chart+xml"/>
  <Override PartName="/ppt/charts/chart2.xml" ContentType="application/vnd.openxmlformats-officedocument.drawingml.chart+xml"/>
  <Override PartName="/ppt/charts/chart20.xml" ContentType="application/vnd.openxmlformats-officedocument.drawingml.chart+xml"/>
  <Override PartName="/ppt/charts/chart200.xml" ContentType="application/vnd.openxmlformats-officedocument.drawingml.chart+xml"/>
  <Override PartName="/ppt/charts/chart201.xml" ContentType="application/vnd.openxmlformats-officedocument.drawingml.chart+xml"/>
  <Override PartName="/ppt/charts/chart202.xml" ContentType="application/vnd.openxmlformats-officedocument.drawingml.chart+xml"/>
  <Override PartName="/ppt/charts/chart203.xml" ContentType="application/vnd.openxmlformats-officedocument.drawingml.chart+xml"/>
  <Override PartName="/ppt/charts/chart204.xml" ContentType="application/vnd.openxmlformats-officedocument.drawingml.chart+xml"/>
  <Override PartName="/ppt/charts/chart205.xml" ContentType="application/vnd.openxmlformats-officedocument.drawingml.chart+xml"/>
  <Override PartName="/ppt/charts/chart206.xml" ContentType="application/vnd.openxmlformats-officedocument.drawingml.chart+xml"/>
  <Override PartName="/ppt/charts/chart207.xml" ContentType="application/vnd.openxmlformats-officedocument.drawingml.chart+xml"/>
  <Override PartName="/ppt/charts/chart208.xml" ContentType="application/vnd.openxmlformats-officedocument.drawingml.chart+xml"/>
  <Override PartName="/ppt/charts/chart209.xml" ContentType="application/vnd.openxmlformats-officedocument.drawingml.chart+xml"/>
  <Override PartName="/ppt/charts/chart21.xml" ContentType="application/vnd.openxmlformats-officedocument.drawingml.chart+xml"/>
  <Override PartName="/ppt/charts/chart210.xml" ContentType="application/vnd.openxmlformats-officedocument.drawingml.chart+xml"/>
  <Override PartName="/ppt/charts/chart211.xml" ContentType="application/vnd.openxmlformats-officedocument.drawingml.chart+xml"/>
  <Override PartName="/ppt/charts/chart212.xml" ContentType="application/vnd.openxmlformats-officedocument.drawingml.chart+xml"/>
  <Override PartName="/ppt/charts/chart213.xml" ContentType="application/vnd.openxmlformats-officedocument.drawingml.chart+xml"/>
  <Override PartName="/ppt/charts/chart214.xml" ContentType="application/vnd.openxmlformats-officedocument.drawingml.chart+xml"/>
  <Override PartName="/ppt/charts/chart215.xml" ContentType="application/vnd.openxmlformats-officedocument.drawingml.chart+xml"/>
  <Override PartName="/ppt/charts/chart216.xml" ContentType="application/vnd.openxmlformats-officedocument.drawingml.chart+xml"/>
  <Override PartName="/ppt/charts/chart217.xml" ContentType="application/vnd.openxmlformats-officedocument.drawingml.chart+xml"/>
  <Override PartName="/ppt/charts/chart218.xml" ContentType="application/vnd.openxmlformats-officedocument.drawingml.chart+xml"/>
  <Override PartName="/ppt/charts/chart219.xml" ContentType="application/vnd.openxmlformats-officedocument.drawingml.chart+xml"/>
  <Override PartName="/ppt/charts/chart22.xml" ContentType="application/vnd.openxmlformats-officedocument.drawingml.chart+xml"/>
  <Override PartName="/ppt/charts/chart220.xml" ContentType="application/vnd.openxmlformats-officedocument.drawingml.chart+xml"/>
  <Override PartName="/ppt/charts/chart221.xml" ContentType="application/vnd.openxmlformats-officedocument.drawingml.chart+xml"/>
  <Override PartName="/ppt/charts/chart222.xml" ContentType="application/vnd.openxmlformats-officedocument.drawingml.chart+xml"/>
  <Override PartName="/ppt/charts/chart223.xml" ContentType="application/vnd.openxmlformats-officedocument.drawingml.chart+xml"/>
  <Override PartName="/ppt/charts/chart224.xml" ContentType="application/vnd.openxmlformats-officedocument.drawingml.chart+xml"/>
  <Override PartName="/ppt/charts/chart225.xml" ContentType="application/vnd.openxmlformats-officedocument.drawingml.chart+xml"/>
  <Override PartName="/ppt/charts/chart226.xml" ContentType="application/vnd.openxmlformats-officedocument.drawingml.chart+xml"/>
  <Override PartName="/ppt/charts/chart227.xml" ContentType="application/vnd.openxmlformats-officedocument.drawingml.chart+xml"/>
  <Override PartName="/ppt/charts/chart228.xml" ContentType="application/vnd.openxmlformats-officedocument.drawingml.chart+xml"/>
  <Override PartName="/ppt/charts/chart229.xml" ContentType="application/vnd.openxmlformats-officedocument.drawingml.chart+xml"/>
  <Override PartName="/ppt/charts/chart23.xml" ContentType="application/vnd.openxmlformats-officedocument.drawingml.chart+xml"/>
  <Override PartName="/ppt/charts/chart230.xml" ContentType="application/vnd.openxmlformats-officedocument.drawingml.chart+xml"/>
  <Override PartName="/ppt/charts/chart231.xml" ContentType="application/vnd.openxmlformats-officedocument.drawingml.chart+xml"/>
  <Override PartName="/ppt/charts/chart232.xml" ContentType="application/vnd.openxmlformats-officedocument.drawingml.chart+xml"/>
  <Override PartName="/ppt/charts/chart233.xml" ContentType="application/vnd.openxmlformats-officedocument.drawingml.chart+xml"/>
  <Override PartName="/ppt/charts/chart234.xml" ContentType="application/vnd.openxmlformats-officedocument.drawingml.chart+xml"/>
  <Override PartName="/ppt/charts/chart235.xml" ContentType="application/vnd.openxmlformats-officedocument.drawingml.chart+xml"/>
  <Override PartName="/ppt/charts/chart236.xml" ContentType="application/vnd.openxmlformats-officedocument.drawingml.chart+xml"/>
  <Override PartName="/ppt/charts/chart237.xml" ContentType="application/vnd.openxmlformats-officedocument.drawingml.chart+xml"/>
  <Override PartName="/ppt/charts/chart238.xml" ContentType="application/vnd.openxmlformats-officedocument.drawingml.chart+xml"/>
  <Override PartName="/ppt/charts/chart239.xml" ContentType="application/vnd.openxmlformats-officedocument.drawingml.chart+xml"/>
  <Override PartName="/ppt/charts/chart24.xml" ContentType="application/vnd.openxmlformats-officedocument.drawingml.chart+xml"/>
  <Override PartName="/ppt/charts/chart240.xml" ContentType="application/vnd.openxmlformats-officedocument.drawingml.chart+xml"/>
  <Override PartName="/ppt/charts/chart241.xml" ContentType="application/vnd.openxmlformats-officedocument.drawingml.chart+xml"/>
  <Override PartName="/ppt/charts/chart242.xml" ContentType="application/vnd.openxmlformats-officedocument.drawingml.chart+xml"/>
  <Override PartName="/ppt/charts/chart243.xml" ContentType="application/vnd.openxmlformats-officedocument.drawingml.chart+xml"/>
  <Override PartName="/ppt/charts/chart244.xml" ContentType="application/vnd.openxmlformats-officedocument.drawingml.chart+xml"/>
  <Override PartName="/ppt/charts/chart245.xml" ContentType="application/vnd.openxmlformats-officedocument.drawingml.chart+xml"/>
  <Override PartName="/ppt/charts/chart25.xml" ContentType="application/vnd.openxmlformats-officedocument.drawingml.chart+xml"/>
  <Override PartName="/ppt/charts/chart26.xml" ContentType="application/vnd.openxmlformats-officedocument.drawingml.chart+xml"/>
  <Override PartName="/ppt/charts/chart27.xml" ContentType="application/vnd.openxmlformats-officedocument.drawingml.chart+xml"/>
  <Override PartName="/ppt/charts/chart28.xml" ContentType="application/vnd.openxmlformats-officedocument.drawingml.chart+xml"/>
  <Override PartName="/ppt/charts/chart29.xml" ContentType="application/vnd.openxmlformats-officedocument.drawingml.chart+xml"/>
  <Override PartName="/ppt/charts/chart3.xml" ContentType="application/vnd.openxmlformats-officedocument.drawingml.chart+xml"/>
  <Override PartName="/ppt/charts/chart30.xml" ContentType="application/vnd.openxmlformats-officedocument.drawingml.chart+xml"/>
  <Override PartName="/ppt/charts/chart31.xml" ContentType="application/vnd.openxmlformats-officedocument.drawingml.chart+xml"/>
  <Override PartName="/ppt/charts/chart32.xml" ContentType="application/vnd.openxmlformats-officedocument.drawingml.chart+xml"/>
  <Override PartName="/ppt/charts/chart33.xml" ContentType="application/vnd.openxmlformats-officedocument.drawingml.chart+xml"/>
  <Override PartName="/ppt/charts/chart34.xml" ContentType="application/vnd.openxmlformats-officedocument.drawingml.chart+xml"/>
  <Override PartName="/ppt/charts/chart35.xml" ContentType="application/vnd.openxmlformats-officedocument.drawingml.chart+xml"/>
  <Override PartName="/ppt/charts/chart36.xml" ContentType="application/vnd.openxmlformats-officedocument.drawingml.chart+xml"/>
  <Override PartName="/ppt/charts/chart37.xml" ContentType="application/vnd.openxmlformats-officedocument.drawingml.chart+xml"/>
  <Override PartName="/ppt/charts/chart38.xml" ContentType="application/vnd.openxmlformats-officedocument.drawingml.chart+xml"/>
  <Override PartName="/ppt/charts/chart39.xml" ContentType="application/vnd.openxmlformats-officedocument.drawingml.chart+xml"/>
  <Override PartName="/ppt/charts/chart4.xml" ContentType="application/vnd.openxmlformats-officedocument.drawingml.chart+xml"/>
  <Override PartName="/ppt/charts/chart40.xml" ContentType="application/vnd.openxmlformats-officedocument.drawingml.chart+xml"/>
  <Override PartName="/ppt/charts/chart41.xml" ContentType="application/vnd.openxmlformats-officedocument.drawingml.chart+xml"/>
  <Override PartName="/ppt/charts/chart42.xml" ContentType="application/vnd.openxmlformats-officedocument.drawingml.chart+xml"/>
  <Override PartName="/ppt/charts/chart43.xml" ContentType="application/vnd.openxmlformats-officedocument.drawingml.chart+xml"/>
  <Override PartName="/ppt/charts/chart44.xml" ContentType="application/vnd.openxmlformats-officedocument.drawingml.chart+xml"/>
  <Override PartName="/ppt/charts/chart45.xml" ContentType="application/vnd.openxmlformats-officedocument.drawingml.chart+xml"/>
  <Override PartName="/ppt/charts/chart46.xml" ContentType="application/vnd.openxmlformats-officedocument.drawingml.chart+xml"/>
  <Override PartName="/ppt/charts/chart47.xml" ContentType="application/vnd.openxmlformats-officedocument.drawingml.chart+xml"/>
  <Override PartName="/ppt/charts/chart48.xml" ContentType="application/vnd.openxmlformats-officedocument.drawingml.chart+xml"/>
  <Override PartName="/ppt/charts/chart49.xml" ContentType="application/vnd.openxmlformats-officedocument.drawingml.chart+xml"/>
  <Override PartName="/ppt/charts/chart5.xml" ContentType="application/vnd.openxmlformats-officedocument.drawingml.chart+xml"/>
  <Override PartName="/ppt/charts/chart50.xml" ContentType="application/vnd.openxmlformats-officedocument.drawingml.chart+xml"/>
  <Override PartName="/ppt/charts/chart51.xml" ContentType="application/vnd.openxmlformats-officedocument.drawingml.chart+xml"/>
  <Override PartName="/ppt/charts/chart52.xml" ContentType="application/vnd.openxmlformats-officedocument.drawingml.chart+xml"/>
  <Override PartName="/ppt/charts/chart53.xml" ContentType="application/vnd.openxmlformats-officedocument.drawingml.chart+xml"/>
  <Override PartName="/ppt/charts/chart54.xml" ContentType="application/vnd.openxmlformats-officedocument.drawingml.chart+xml"/>
  <Override PartName="/ppt/charts/chart55.xml" ContentType="application/vnd.openxmlformats-officedocument.drawingml.chart+xml"/>
  <Override PartName="/ppt/charts/chart56.xml" ContentType="application/vnd.openxmlformats-officedocument.drawingml.chart+xml"/>
  <Override PartName="/ppt/charts/chart57.xml" ContentType="application/vnd.openxmlformats-officedocument.drawingml.chart+xml"/>
  <Override PartName="/ppt/charts/chart58.xml" ContentType="application/vnd.openxmlformats-officedocument.drawingml.chart+xml"/>
  <Override PartName="/ppt/charts/chart59.xml" ContentType="application/vnd.openxmlformats-officedocument.drawingml.chart+xml"/>
  <Override PartName="/ppt/charts/chart6.xml" ContentType="application/vnd.openxmlformats-officedocument.drawingml.chart+xml"/>
  <Override PartName="/ppt/charts/chart60.xml" ContentType="application/vnd.openxmlformats-officedocument.drawingml.chart+xml"/>
  <Override PartName="/ppt/charts/chart61.xml" ContentType="application/vnd.openxmlformats-officedocument.drawingml.chart+xml"/>
  <Override PartName="/ppt/charts/chart62.xml" ContentType="application/vnd.openxmlformats-officedocument.drawingml.chart+xml"/>
  <Override PartName="/ppt/charts/chart63.xml" ContentType="application/vnd.openxmlformats-officedocument.drawingml.chart+xml"/>
  <Override PartName="/ppt/charts/chart64.xml" ContentType="application/vnd.openxmlformats-officedocument.drawingml.chart+xml"/>
  <Override PartName="/ppt/charts/chart65.xml" ContentType="application/vnd.openxmlformats-officedocument.drawingml.chart+xml"/>
  <Override PartName="/ppt/charts/chart66.xml" ContentType="application/vnd.openxmlformats-officedocument.drawingml.chart+xml"/>
  <Override PartName="/ppt/charts/chart67.xml" ContentType="application/vnd.openxmlformats-officedocument.drawingml.chart+xml"/>
  <Override PartName="/ppt/charts/chart68.xml" ContentType="application/vnd.openxmlformats-officedocument.drawingml.chart+xml"/>
  <Override PartName="/ppt/charts/chart69.xml" ContentType="application/vnd.openxmlformats-officedocument.drawingml.chart+xml"/>
  <Override PartName="/ppt/charts/chart7.xml" ContentType="application/vnd.openxmlformats-officedocument.drawingml.chart+xml"/>
  <Override PartName="/ppt/charts/chart70.xml" ContentType="application/vnd.openxmlformats-officedocument.drawingml.chart+xml"/>
  <Override PartName="/ppt/charts/chart71.xml" ContentType="application/vnd.openxmlformats-officedocument.drawingml.chart+xml"/>
  <Override PartName="/ppt/charts/chart72.xml" ContentType="application/vnd.openxmlformats-officedocument.drawingml.chart+xml"/>
  <Override PartName="/ppt/charts/chart73.xml" ContentType="application/vnd.openxmlformats-officedocument.drawingml.chart+xml"/>
  <Override PartName="/ppt/charts/chart74.xml" ContentType="application/vnd.openxmlformats-officedocument.drawingml.chart+xml"/>
  <Override PartName="/ppt/charts/chart75.xml" ContentType="application/vnd.openxmlformats-officedocument.drawingml.chart+xml"/>
  <Override PartName="/ppt/charts/chart76.xml" ContentType="application/vnd.openxmlformats-officedocument.drawingml.chart+xml"/>
  <Override PartName="/ppt/charts/chart77.xml" ContentType="application/vnd.openxmlformats-officedocument.drawingml.chart+xml"/>
  <Override PartName="/ppt/charts/chart78.xml" ContentType="application/vnd.openxmlformats-officedocument.drawingml.chart+xml"/>
  <Override PartName="/ppt/charts/chart79.xml" ContentType="application/vnd.openxmlformats-officedocument.drawingml.chart+xml"/>
  <Override PartName="/ppt/charts/chart8.xml" ContentType="application/vnd.openxmlformats-officedocument.drawingml.chart+xml"/>
  <Override PartName="/ppt/charts/chart80.xml" ContentType="application/vnd.openxmlformats-officedocument.drawingml.chart+xml"/>
  <Override PartName="/ppt/charts/chart81.xml" ContentType="application/vnd.openxmlformats-officedocument.drawingml.chart+xml"/>
  <Override PartName="/ppt/charts/chart82.xml" ContentType="application/vnd.openxmlformats-officedocument.drawingml.chart+xml"/>
  <Override PartName="/ppt/charts/chart83.xml" ContentType="application/vnd.openxmlformats-officedocument.drawingml.chart+xml"/>
  <Override PartName="/ppt/charts/chart84.xml" ContentType="application/vnd.openxmlformats-officedocument.drawingml.chart+xml"/>
  <Override PartName="/ppt/charts/chart85.xml" ContentType="application/vnd.openxmlformats-officedocument.drawingml.chart+xml"/>
  <Override PartName="/ppt/charts/chart86.xml" ContentType="application/vnd.openxmlformats-officedocument.drawingml.chart+xml"/>
  <Override PartName="/ppt/charts/chart87.xml" ContentType="application/vnd.openxmlformats-officedocument.drawingml.chart+xml"/>
  <Override PartName="/ppt/charts/chart88.xml" ContentType="application/vnd.openxmlformats-officedocument.drawingml.chart+xml"/>
  <Override PartName="/ppt/charts/chart89.xml" ContentType="application/vnd.openxmlformats-officedocument.drawingml.chart+xml"/>
  <Override PartName="/ppt/charts/chart9.xml" ContentType="application/vnd.openxmlformats-officedocument.drawingml.chart+xml"/>
  <Override PartName="/ppt/charts/chart90.xml" ContentType="application/vnd.openxmlformats-officedocument.drawingml.chart+xml"/>
  <Override PartName="/ppt/charts/chart91.xml" ContentType="application/vnd.openxmlformats-officedocument.drawingml.chart+xml"/>
  <Override PartName="/ppt/charts/chart92.xml" ContentType="application/vnd.openxmlformats-officedocument.drawingml.chart+xml"/>
  <Override PartName="/ppt/charts/chart93.xml" ContentType="application/vnd.openxmlformats-officedocument.drawingml.chart+xml"/>
  <Override PartName="/ppt/charts/chart94.xml" ContentType="application/vnd.openxmlformats-officedocument.drawingml.chart+xml"/>
  <Override PartName="/ppt/charts/chart95.xml" ContentType="application/vnd.openxmlformats-officedocument.drawingml.chart+xml"/>
  <Override PartName="/ppt/charts/chart96.xml" ContentType="application/vnd.openxmlformats-officedocument.drawingml.chart+xml"/>
  <Override PartName="/ppt/charts/chart97.xml" ContentType="application/vnd.openxmlformats-officedocument.drawingml.chart+xml"/>
  <Override PartName="/ppt/charts/chart98.xml" ContentType="application/vnd.openxmlformats-officedocument.drawingml.chart+xml"/>
  <Override PartName="/ppt/charts/chart99.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59.xml" ContentType="application/vnd.openxmlformats-officedocument.presentationml.notesSlide+xml"/>
  <Override PartName="/ppt/notesSlides/notesSlide16.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notesSlides/notesSlide162.xml" ContentType="application/vnd.openxmlformats-officedocument.presentationml.notesSlide+xml"/>
  <Override PartName="/ppt/notesSlides/notesSlide163.xml" ContentType="application/vnd.openxmlformats-officedocument.presentationml.notesSlide+xml"/>
  <Override PartName="/ppt/notesSlides/notesSlide164.xml" ContentType="application/vnd.openxmlformats-officedocument.presentationml.notesSlide+xml"/>
  <Override PartName="/ppt/notesSlides/notesSlide165.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notesSlides/notesSlide196.xml" ContentType="application/vnd.openxmlformats-officedocument.presentationml.notesSlide+xml"/>
  <Override PartName="/ppt/notesSlides/notesSlide197.xml" ContentType="application/vnd.openxmlformats-officedocument.presentationml.notesSlide+xml"/>
  <Override PartName="/ppt/notesSlides/notesSlide198.xml" ContentType="application/vnd.openxmlformats-officedocument.presentationml.notesSlide+xml"/>
  <Override PartName="/ppt/notesSlides/notesSlide19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00.xml" ContentType="application/vnd.openxmlformats-officedocument.presentationml.notesSlide+xml"/>
  <Override PartName="/ppt/notesSlides/notesSlide201.xml" ContentType="application/vnd.openxmlformats-officedocument.presentationml.notesSlide+xml"/>
  <Override PartName="/ppt/notesSlides/notesSlide202.xml" ContentType="application/vnd.openxmlformats-officedocument.presentationml.notesSlide+xml"/>
  <Override PartName="/ppt/notesSlides/notesSlide203.xml" ContentType="application/vnd.openxmlformats-officedocument.presentationml.notesSlide+xml"/>
  <Override PartName="/ppt/notesSlides/notesSlide204.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67" r:id="rId18"/>
    <p:sldId id="258" r:id="rId4"/>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59" r:id="rId5"/>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60" r:id="rId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336" r:id="rId87"/>
    <p:sldId id="337" r:id="rId88"/>
    <p:sldId id="338" r:id="rId89"/>
    <p:sldId id="261" r:id="rId7"/>
    <p:sldId id="339" r:id="rId90"/>
    <p:sldId id="340" r:id="rId91"/>
    <p:sldId id="341" r:id="rId92"/>
    <p:sldId id="342" r:id="rId93"/>
    <p:sldId id="343" r:id="rId94"/>
    <p:sldId id="344" r:id="rId95"/>
    <p:sldId id="345" r:id="rId96"/>
    <p:sldId id="346" r:id="rId97"/>
    <p:sldId id="347" r:id="rId98"/>
    <p:sldId id="348" r:id="rId99"/>
    <p:sldId id="349" r:id="rId100"/>
    <p:sldId id="350" r:id="rId101"/>
    <p:sldId id="351" r:id="rId102"/>
    <p:sldId id="352" r:id="rId103"/>
    <p:sldId id="353" r:id="rId104"/>
    <p:sldId id="354" r:id="rId105"/>
    <p:sldId id="355" r:id="rId106"/>
    <p:sldId id="356" r:id="rId107"/>
    <p:sldId id="357" r:id="rId108"/>
    <p:sldId id="358" r:id="rId109"/>
    <p:sldId id="359" r:id="rId110"/>
    <p:sldId id="360" r:id="rId111"/>
    <p:sldId id="361" r:id="rId112"/>
    <p:sldId id="362" r:id="rId113"/>
    <p:sldId id="262" r:id="rId8"/>
    <p:sldId id="363" r:id="rId114"/>
    <p:sldId id="364" r:id="rId115"/>
    <p:sldId id="365" r:id="rId116"/>
    <p:sldId id="366" r:id="rId117"/>
    <p:sldId id="367" r:id="rId118"/>
    <p:sldId id="368" r:id="rId119"/>
    <p:sldId id="369" r:id="rId120"/>
    <p:sldId id="370" r:id="rId121"/>
    <p:sldId id="371" r:id="rId122"/>
    <p:sldId id="372" r:id="rId123"/>
    <p:sldId id="373" r:id="rId124"/>
    <p:sldId id="374" r:id="rId125"/>
    <p:sldId id="263" r:id="rId9"/>
    <p:sldId id="375" r:id="rId126"/>
    <p:sldId id="376" r:id="rId127"/>
    <p:sldId id="377" r:id="rId128"/>
    <p:sldId id="378" r:id="rId129"/>
    <p:sldId id="379" r:id="rId130"/>
    <p:sldId id="380" r:id="rId131"/>
    <p:sldId id="381" r:id="rId132"/>
    <p:sldId id="382" r:id="rId133"/>
    <p:sldId id="383" r:id="rId134"/>
    <p:sldId id="384" r:id="rId135"/>
    <p:sldId id="385" r:id="rId136"/>
    <p:sldId id="386" r:id="rId137"/>
    <p:sldId id="387" r:id="rId138"/>
    <p:sldId id="388" r:id="rId139"/>
    <p:sldId id="389" r:id="rId140"/>
    <p:sldId id="390" r:id="rId141"/>
    <p:sldId id="391" r:id="rId142"/>
    <p:sldId id="392" r:id="rId143"/>
    <p:sldId id="393" r:id="rId144"/>
    <p:sldId id="394" r:id="rId145"/>
    <p:sldId id="395" r:id="rId146"/>
    <p:sldId id="396" r:id="rId147"/>
    <p:sldId id="397" r:id="rId148"/>
    <p:sldId id="398" r:id="rId149"/>
    <p:sldId id="399" r:id="rId150"/>
    <p:sldId id="400" r:id="rId151"/>
    <p:sldId id="401" r:id="rId152"/>
    <p:sldId id="402" r:id="rId153"/>
    <p:sldId id="403" r:id="rId154"/>
    <p:sldId id="404" r:id="rId155"/>
    <p:sldId id="405" r:id="rId156"/>
    <p:sldId id="406" r:id="rId157"/>
    <p:sldId id="407" r:id="rId158"/>
    <p:sldId id="264" r:id="rId10"/>
    <p:sldId id="408" r:id="rId159"/>
    <p:sldId id="409" r:id="rId160"/>
    <p:sldId id="410" r:id="rId161"/>
    <p:sldId id="411" r:id="rId162"/>
    <p:sldId id="412" r:id="rId163"/>
    <p:sldId id="413" r:id="rId164"/>
    <p:sldId id="414" r:id="rId165"/>
    <p:sldId id="415" r:id="rId166"/>
    <p:sldId id="416" r:id="rId167"/>
    <p:sldId id="417" r:id="rId168"/>
    <p:sldId id="418" r:id="rId169"/>
    <p:sldId id="419" r:id="rId170"/>
    <p:sldId id="420" r:id="rId171"/>
    <p:sldId id="265" r:id="rId11"/>
    <p:sldId id="421" r:id="rId172"/>
    <p:sldId id="422" r:id="rId173"/>
    <p:sldId id="423" r:id="rId174"/>
    <p:sldId id="424" r:id="rId175"/>
    <p:sldId id="425" r:id="rId176"/>
    <p:sldId id="426" r:id="rId177"/>
    <p:sldId id="266" r:id="rId12"/>
    <p:sldId id="427" r:id="rId178"/>
    <p:sldId id="428" r:id="rId179"/>
    <p:sldId id="429" r:id="rId180"/>
    <p:sldId id="430" r:id="rId181"/>
    <p:sldId id="431" r:id="rId182"/>
    <p:sldId id="432" r:id="rId183"/>
    <p:sldId id="433" r:id="rId184"/>
    <p:sldId id="434" r:id="rId185"/>
    <p:sldId id="435" r:id="rId186"/>
    <p:sldId id="436" r:id="rId187"/>
    <p:sldId id="437" r:id="rId188"/>
    <p:sldId id="438" r:id="rId189"/>
    <p:sldId id="439" r:id="rId190"/>
    <p:sldId id="440" r:id="rId191"/>
    <p:sldId id="441" r:id="rId192"/>
    <p:sldId id="442" r:id="rId193"/>
    <p:sldId id="443" r:id="rId194"/>
    <p:sldId id="444" r:id="rId195"/>
    <p:sldId id="445" r:id="rId196"/>
    <p:sldId id="446" r:id="rId197"/>
    <p:sldId id="447" r:id="rId198"/>
    <p:sldId id="448" r:id="rId199"/>
    <p:sldId id="449" r:id="rId200"/>
    <p:sldId id="450" r:id="rId201"/>
    <p:sldId id="451" r:id="rId202"/>
    <p:sldId id="452" r:id="rId203"/>
    <p:sldId id="453" r:id="rId204"/>
    <p:sldId id="454" r:id="rId205"/>
    <p:sldId id="455" r:id="rId206"/>
    <p:sldId id="456" r:id="rId207"/>
    <p:sldId id="457" r:id="rId208"/>
    <p:sldId id="458" r:id="rId209"/>
    <p:sldId id="459" r:id="rId210"/>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 Id="rId91" Type="http://schemas.openxmlformats.org/officeDocument/2006/relationships/slide" Target="slides/slide85.xml"/><Relationship Id="rId92" Type="http://schemas.openxmlformats.org/officeDocument/2006/relationships/slide" Target="slides/slide86.xml"/><Relationship Id="rId93" Type="http://schemas.openxmlformats.org/officeDocument/2006/relationships/slide" Target="slides/slide87.xml"/><Relationship Id="rId94" Type="http://schemas.openxmlformats.org/officeDocument/2006/relationships/slide" Target="slides/slide88.xml"/><Relationship Id="rId95" Type="http://schemas.openxmlformats.org/officeDocument/2006/relationships/slide" Target="slides/slide89.xml"/><Relationship Id="rId96" Type="http://schemas.openxmlformats.org/officeDocument/2006/relationships/slide" Target="slides/slide90.xml"/><Relationship Id="rId97" Type="http://schemas.openxmlformats.org/officeDocument/2006/relationships/slide" Target="slides/slide91.xml"/><Relationship Id="rId98" Type="http://schemas.openxmlformats.org/officeDocument/2006/relationships/slide" Target="slides/slide92.xml"/><Relationship Id="rId99" Type="http://schemas.openxmlformats.org/officeDocument/2006/relationships/slide" Target="slides/slide93.xml"/><Relationship Id="rId100" Type="http://schemas.openxmlformats.org/officeDocument/2006/relationships/slide" Target="slides/slide94.xml"/><Relationship Id="rId101" Type="http://schemas.openxmlformats.org/officeDocument/2006/relationships/slide" Target="slides/slide95.xml"/><Relationship Id="rId102" Type="http://schemas.openxmlformats.org/officeDocument/2006/relationships/slide" Target="slides/slide96.xml"/><Relationship Id="rId103" Type="http://schemas.openxmlformats.org/officeDocument/2006/relationships/slide" Target="slides/slide97.xml"/><Relationship Id="rId104" Type="http://schemas.openxmlformats.org/officeDocument/2006/relationships/slide" Target="slides/slide98.xml"/><Relationship Id="rId105" Type="http://schemas.openxmlformats.org/officeDocument/2006/relationships/slide" Target="slides/slide99.xml"/><Relationship Id="rId106" Type="http://schemas.openxmlformats.org/officeDocument/2006/relationships/slide" Target="slides/slide100.xml"/><Relationship Id="rId107" Type="http://schemas.openxmlformats.org/officeDocument/2006/relationships/slide" Target="slides/slide101.xml"/><Relationship Id="rId108" Type="http://schemas.openxmlformats.org/officeDocument/2006/relationships/slide" Target="slides/slide102.xml"/><Relationship Id="rId109" Type="http://schemas.openxmlformats.org/officeDocument/2006/relationships/slide" Target="slides/slide103.xml"/><Relationship Id="rId110" Type="http://schemas.openxmlformats.org/officeDocument/2006/relationships/slide" Target="slides/slide104.xml"/><Relationship Id="rId111" Type="http://schemas.openxmlformats.org/officeDocument/2006/relationships/slide" Target="slides/slide105.xml"/><Relationship Id="rId112" Type="http://schemas.openxmlformats.org/officeDocument/2006/relationships/slide" Target="slides/slide106.xml"/><Relationship Id="rId113" Type="http://schemas.openxmlformats.org/officeDocument/2006/relationships/slide" Target="slides/slide107.xml"/><Relationship Id="rId114" Type="http://schemas.openxmlformats.org/officeDocument/2006/relationships/slide" Target="slides/slide108.xml"/><Relationship Id="rId115" Type="http://schemas.openxmlformats.org/officeDocument/2006/relationships/slide" Target="slides/slide109.xml"/><Relationship Id="rId116" Type="http://schemas.openxmlformats.org/officeDocument/2006/relationships/slide" Target="slides/slide110.xml"/><Relationship Id="rId117" Type="http://schemas.openxmlformats.org/officeDocument/2006/relationships/slide" Target="slides/slide111.xml"/><Relationship Id="rId118" Type="http://schemas.openxmlformats.org/officeDocument/2006/relationships/slide" Target="slides/slide112.xml"/><Relationship Id="rId119" Type="http://schemas.openxmlformats.org/officeDocument/2006/relationships/slide" Target="slides/slide113.xml"/><Relationship Id="rId120" Type="http://schemas.openxmlformats.org/officeDocument/2006/relationships/slide" Target="slides/slide114.xml"/><Relationship Id="rId121" Type="http://schemas.openxmlformats.org/officeDocument/2006/relationships/slide" Target="slides/slide115.xml"/><Relationship Id="rId122" Type="http://schemas.openxmlformats.org/officeDocument/2006/relationships/slide" Target="slides/slide116.xml"/><Relationship Id="rId123" Type="http://schemas.openxmlformats.org/officeDocument/2006/relationships/slide" Target="slides/slide117.xml"/><Relationship Id="rId124" Type="http://schemas.openxmlformats.org/officeDocument/2006/relationships/slide" Target="slides/slide118.xml"/><Relationship Id="rId125" Type="http://schemas.openxmlformats.org/officeDocument/2006/relationships/slide" Target="slides/slide119.xml"/><Relationship Id="rId126" Type="http://schemas.openxmlformats.org/officeDocument/2006/relationships/slide" Target="slides/slide120.xml"/><Relationship Id="rId127" Type="http://schemas.openxmlformats.org/officeDocument/2006/relationships/slide" Target="slides/slide121.xml"/><Relationship Id="rId128" Type="http://schemas.openxmlformats.org/officeDocument/2006/relationships/slide" Target="slides/slide122.xml"/><Relationship Id="rId129" Type="http://schemas.openxmlformats.org/officeDocument/2006/relationships/slide" Target="slides/slide123.xml"/><Relationship Id="rId130" Type="http://schemas.openxmlformats.org/officeDocument/2006/relationships/slide" Target="slides/slide124.xml"/><Relationship Id="rId131" Type="http://schemas.openxmlformats.org/officeDocument/2006/relationships/slide" Target="slides/slide125.xml"/><Relationship Id="rId132" Type="http://schemas.openxmlformats.org/officeDocument/2006/relationships/slide" Target="slides/slide126.xml"/><Relationship Id="rId133" Type="http://schemas.openxmlformats.org/officeDocument/2006/relationships/slide" Target="slides/slide127.xml"/><Relationship Id="rId134" Type="http://schemas.openxmlformats.org/officeDocument/2006/relationships/slide" Target="slides/slide128.xml"/><Relationship Id="rId135" Type="http://schemas.openxmlformats.org/officeDocument/2006/relationships/slide" Target="slides/slide129.xml"/><Relationship Id="rId136" Type="http://schemas.openxmlformats.org/officeDocument/2006/relationships/slide" Target="slides/slide130.xml"/><Relationship Id="rId137" Type="http://schemas.openxmlformats.org/officeDocument/2006/relationships/slide" Target="slides/slide131.xml"/><Relationship Id="rId138" Type="http://schemas.openxmlformats.org/officeDocument/2006/relationships/slide" Target="slides/slide132.xml"/><Relationship Id="rId139" Type="http://schemas.openxmlformats.org/officeDocument/2006/relationships/slide" Target="slides/slide133.xml"/><Relationship Id="rId140" Type="http://schemas.openxmlformats.org/officeDocument/2006/relationships/slide" Target="slides/slide134.xml"/><Relationship Id="rId141" Type="http://schemas.openxmlformats.org/officeDocument/2006/relationships/slide" Target="slides/slide135.xml"/><Relationship Id="rId142" Type="http://schemas.openxmlformats.org/officeDocument/2006/relationships/slide" Target="slides/slide136.xml"/><Relationship Id="rId143" Type="http://schemas.openxmlformats.org/officeDocument/2006/relationships/slide" Target="slides/slide137.xml"/><Relationship Id="rId144" Type="http://schemas.openxmlformats.org/officeDocument/2006/relationships/slide" Target="slides/slide138.xml"/><Relationship Id="rId145" Type="http://schemas.openxmlformats.org/officeDocument/2006/relationships/slide" Target="slides/slide139.xml"/><Relationship Id="rId146" Type="http://schemas.openxmlformats.org/officeDocument/2006/relationships/slide" Target="slides/slide140.xml"/><Relationship Id="rId147" Type="http://schemas.openxmlformats.org/officeDocument/2006/relationships/slide" Target="slides/slide141.xml"/><Relationship Id="rId148" Type="http://schemas.openxmlformats.org/officeDocument/2006/relationships/slide" Target="slides/slide142.xml"/><Relationship Id="rId149" Type="http://schemas.openxmlformats.org/officeDocument/2006/relationships/slide" Target="slides/slide143.xml"/><Relationship Id="rId150" Type="http://schemas.openxmlformats.org/officeDocument/2006/relationships/slide" Target="slides/slide144.xml"/><Relationship Id="rId151" Type="http://schemas.openxmlformats.org/officeDocument/2006/relationships/slide" Target="slides/slide145.xml"/><Relationship Id="rId152" Type="http://schemas.openxmlformats.org/officeDocument/2006/relationships/slide" Target="slides/slide146.xml"/><Relationship Id="rId153" Type="http://schemas.openxmlformats.org/officeDocument/2006/relationships/slide" Target="slides/slide147.xml"/><Relationship Id="rId154" Type="http://schemas.openxmlformats.org/officeDocument/2006/relationships/slide" Target="slides/slide148.xml"/><Relationship Id="rId155" Type="http://schemas.openxmlformats.org/officeDocument/2006/relationships/slide" Target="slides/slide149.xml"/><Relationship Id="rId156" Type="http://schemas.openxmlformats.org/officeDocument/2006/relationships/slide" Target="slides/slide150.xml"/><Relationship Id="rId157" Type="http://schemas.openxmlformats.org/officeDocument/2006/relationships/slide" Target="slides/slide151.xml"/><Relationship Id="rId158" Type="http://schemas.openxmlformats.org/officeDocument/2006/relationships/slide" Target="slides/slide152.xml"/><Relationship Id="rId159" Type="http://schemas.openxmlformats.org/officeDocument/2006/relationships/slide" Target="slides/slide153.xml"/><Relationship Id="rId160" Type="http://schemas.openxmlformats.org/officeDocument/2006/relationships/slide" Target="slides/slide154.xml"/><Relationship Id="rId161" Type="http://schemas.openxmlformats.org/officeDocument/2006/relationships/slide" Target="slides/slide155.xml"/><Relationship Id="rId162" Type="http://schemas.openxmlformats.org/officeDocument/2006/relationships/slide" Target="slides/slide156.xml"/><Relationship Id="rId163" Type="http://schemas.openxmlformats.org/officeDocument/2006/relationships/slide" Target="slides/slide157.xml"/><Relationship Id="rId164" Type="http://schemas.openxmlformats.org/officeDocument/2006/relationships/slide" Target="slides/slide158.xml"/><Relationship Id="rId165" Type="http://schemas.openxmlformats.org/officeDocument/2006/relationships/slide" Target="slides/slide159.xml"/><Relationship Id="rId166" Type="http://schemas.openxmlformats.org/officeDocument/2006/relationships/slide" Target="slides/slide160.xml"/><Relationship Id="rId167" Type="http://schemas.openxmlformats.org/officeDocument/2006/relationships/slide" Target="slides/slide161.xml"/><Relationship Id="rId168" Type="http://schemas.openxmlformats.org/officeDocument/2006/relationships/slide" Target="slides/slide162.xml"/><Relationship Id="rId169" Type="http://schemas.openxmlformats.org/officeDocument/2006/relationships/slide" Target="slides/slide163.xml"/><Relationship Id="rId170" Type="http://schemas.openxmlformats.org/officeDocument/2006/relationships/slide" Target="slides/slide164.xml"/><Relationship Id="rId171" Type="http://schemas.openxmlformats.org/officeDocument/2006/relationships/slide" Target="slides/slide165.xml"/><Relationship Id="rId172" Type="http://schemas.openxmlformats.org/officeDocument/2006/relationships/slide" Target="slides/slide166.xml"/><Relationship Id="rId173" Type="http://schemas.openxmlformats.org/officeDocument/2006/relationships/slide" Target="slides/slide167.xml"/><Relationship Id="rId174" Type="http://schemas.openxmlformats.org/officeDocument/2006/relationships/slide" Target="slides/slide168.xml"/><Relationship Id="rId175" Type="http://schemas.openxmlformats.org/officeDocument/2006/relationships/slide" Target="slides/slide169.xml"/><Relationship Id="rId176" Type="http://schemas.openxmlformats.org/officeDocument/2006/relationships/slide" Target="slides/slide170.xml"/><Relationship Id="rId177" Type="http://schemas.openxmlformats.org/officeDocument/2006/relationships/slide" Target="slides/slide171.xml"/><Relationship Id="rId178" Type="http://schemas.openxmlformats.org/officeDocument/2006/relationships/slide" Target="slides/slide172.xml"/><Relationship Id="rId179" Type="http://schemas.openxmlformats.org/officeDocument/2006/relationships/slide" Target="slides/slide173.xml"/><Relationship Id="rId180" Type="http://schemas.openxmlformats.org/officeDocument/2006/relationships/slide" Target="slides/slide174.xml"/><Relationship Id="rId181" Type="http://schemas.openxmlformats.org/officeDocument/2006/relationships/slide" Target="slides/slide175.xml"/><Relationship Id="rId182" Type="http://schemas.openxmlformats.org/officeDocument/2006/relationships/slide" Target="slides/slide176.xml"/><Relationship Id="rId183" Type="http://schemas.openxmlformats.org/officeDocument/2006/relationships/slide" Target="slides/slide177.xml"/><Relationship Id="rId184" Type="http://schemas.openxmlformats.org/officeDocument/2006/relationships/slide" Target="slides/slide178.xml"/><Relationship Id="rId185" Type="http://schemas.openxmlformats.org/officeDocument/2006/relationships/slide" Target="slides/slide179.xml"/><Relationship Id="rId186" Type="http://schemas.openxmlformats.org/officeDocument/2006/relationships/slide" Target="slides/slide180.xml"/><Relationship Id="rId187" Type="http://schemas.openxmlformats.org/officeDocument/2006/relationships/slide" Target="slides/slide181.xml"/><Relationship Id="rId188" Type="http://schemas.openxmlformats.org/officeDocument/2006/relationships/slide" Target="slides/slide182.xml"/><Relationship Id="rId189" Type="http://schemas.openxmlformats.org/officeDocument/2006/relationships/slide" Target="slides/slide183.xml"/><Relationship Id="rId190" Type="http://schemas.openxmlformats.org/officeDocument/2006/relationships/slide" Target="slides/slide184.xml"/><Relationship Id="rId191" Type="http://schemas.openxmlformats.org/officeDocument/2006/relationships/slide" Target="slides/slide185.xml"/><Relationship Id="rId192" Type="http://schemas.openxmlformats.org/officeDocument/2006/relationships/slide" Target="slides/slide186.xml"/><Relationship Id="rId193" Type="http://schemas.openxmlformats.org/officeDocument/2006/relationships/slide" Target="slides/slide187.xml"/><Relationship Id="rId194" Type="http://schemas.openxmlformats.org/officeDocument/2006/relationships/slide" Target="slides/slide188.xml"/><Relationship Id="rId195" Type="http://schemas.openxmlformats.org/officeDocument/2006/relationships/slide" Target="slides/slide189.xml"/><Relationship Id="rId196" Type="http://schemas.openxmlformats.org/officeDocument/2006/relationships/slide" Target="slides/slide190.xml"/><Relationship Id="rId197" Type="http://schemas.openxmlformats.org/officeDocument/2006/relationships/slide" Target="slides/slide191.xml"/><Relationship Id="rId198" Type="http://schemas.openxmlformats.org/officeDocument/2006/relationships/slide" Target="slides/slide192.xml"/><Relationship Id="rId199" Type="http://schemas.openxmlformats.org/officeDocument/2006/relationships/slide" Target="slides/slide193.xml"/><Relationship Id="rId200" Type="http://schemas.openxmlformats.org/officeDocument/2006/relationships/slide" Target="slides/slide194.xml"/><Relationship Id="rId201" Type="http://schemas.openxmlformats.org/officeDocument/2006/relationships/slide" Target="slides/slide195.xml"/><Relationship Id="rId202" Type="http://schemas.openxmlformats.org/officeDocument/2006/relationships/slide" Target="slides/slide196.xml"/><Relationship Id="rId203" Type="http://schemas.openxmlformats.org/officeDocument/2006/relationships/slide" Target="slides/slide197.xml"/><Relationship Id="rId204" Type="http://schemas.openxmlformats.org/officeDocument/2006/relationships/slide" Target="slides/slide198.xml"/><Relationship Id="rId205" Type="http://schemas.openxmlformats.org/officeDocument/2006/relationships/slide" Target="slides/slide199.xml"/><Relationship Id="rId206" Type="http://schemas.openxmlformats.org/officeDocument/2006/relationships/slide" Target="slides/slide200.xml"/><Relationship Id="rId207" Type="http://schemas.openxmlformats.org/officeDocument/2006/relationships/slide" Target="slides/slide201.xml"/><Relationship Id="rId208" Type="http://schemas.openxmlformats.org/officeDocument/2006/relationships/slide" Target="slides/slide202.xml"/><Relationship Id="rId209" Type="http://schemas.openxmlformats.org/officeDocument/2006/relationships/slide" Target="slides/slide203.xml"/><Relationship Id="rId210" Type="http://schemas.openxmlformats.org/officeDocument/2006/relationships/slide" Target="slides/slide204.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
<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
<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
<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
<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
<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
<Relationships xmlns="http://schemas.openxmlformats.org/package/2006/relationships"><Relationship Id="rId1" Type="http://schemas.openxmlformats.org/officeDocument/2006/relationships/package" Target="../embeddings/Microsoft_Excel_Worksheet14.xlsx"/></Relationships>
</file>

<file path=ppt/charts/_rels/chart15.xml.rels><?xml version='1.0' encoding='UTF-8' standalone='yes'?>
<Relationships xmlns="http://schemas.openxmlformats.org/package/2006/relationships"><Relationship Id="rId1" Type="http://schemas.openxmlformats.org/officeDocument/2006/relationships/package" Target="../embeddings/Microsoft_Excel_Worksheet15.xlsx"/></Relationships>
</file>

<file path=ppt/charts/_rels/chart16.xml.rels><?xml version='1.0' encoding='UTF-8' standalone='yes'?>
<Relationships xmlns="http://schemas.openxmlformats.org/package/2006/relationships"><Relationship Id="rId1" Type="http://schemas.openxmlformats.org/officeDocument/2006/relationships/package" Target="../embeddings/Microsoft_Excel_Worksheet16.xlsx"/></Relationships>
</file>

<file path=ppt/charts/_rels/chart17.xml.rels><?xml version='1.0' encoding='UTF-8' standalone='yes'?>
<Relationships xmlns="http://schemas.openxmlformats.org/package/2006/relationships"><Relationship Id="rId1" Type="http://schemas.openxmlformats.org/officeDocument/2006/relationships/package" Target="../embeddings/Microsoft_Excel_Worksheet17.xlsx"/></Relationships>
</file>

<file path=ppt/charts/_rels/chart18.xml.rels><?xml version='1.0' encoding='UTF-8' standalone='yes'?>
<Relationships xmlns="http://schemas.openxmlformats.org/package/2006/relationships"><Relationship Id="rId1" Type="http://schemas.openxmlformats.org/officeDocument/2006/relationships/package" Target="../embeddings/Microsoft_Excel_Worksheet18.xlsx"/></Relationships>
</file>

<file path=ppt/charts/_rels/chart19.xml.rels><?xml version='1.0' encoding='UTF-8' standalone='yes'?>
<Relationships xmlns="http://schemas.openxmlformats.org/package/2006/relationships"><Relationship Id="rId1" Type="http://schemas.openxmlformats.org/officeDocument/2006/relationships/package" Target="../embeddings/Microsoft_Excel_Worksheet19.xlsx"/></Relationships>
</file>

<file path=ppt/charts/_rels/chart20.xml.rels><?xml version='1.0' encoding='UTF-8' standalone='yes'?>
<Relationships xmlns="http://schemas.openxmlformats.org/package/2006/relationships"><Relationship Id="rId1" Type="http://schemas.openxmlformats.org/officeDocument/2006/relationships/package" Target="../embeddings/Microsoft_Excel_Worksheet20.xlsx"/></Relationships>
</file>

<file path=ppt/charts/_rels/chart21.xml.rels><?xml version='1.0' encoding='UTF-8' standalone='yes'?>
<Relationships xmlns="http://schemas.openxmlformats.org/package/2006/relationships"><Relationship Id="rId1" Type="http://schemas.openxmlformats.org/officeDocument/2006/relationships/package" Target="../embeddings/Microsoft_Excel_Worksheet21.xlsx"/></Relationships>
</file>

<file path=ppt/charts/_rels/chart22.xml.rels><?xml version='1.0' encoding='UTF-8' standalone='yes'?>
<Relationships xmlns="http://schemas.openxmlformats.org/package/2006/relationships"><Relationship Id="rId1" Type="http://schemas.openxmlformats.org/officeDocument/2006/relationships/package" Target="../embeddings/Microsoft_Excel_Worksheet22.xlsx"/></Relationships>
</file>

<file path=ppt/charts/_rels/chart23.xml.rels><?xml version='1.0' encoding='UTF-8' standalone='yes'?>
<Relationships xmlns="http://schemas.openxmlformats.org/package/2006/relationships"><Relationship Id="rId1" Type="http://schemas.openxmlformats.org/officeDocument/2006/relationships/package" Target="../embeddings/Microsoft_Excel_Worksheet23.xlsx"/></Relationships>
</file>

<file path=ppt/charts/_rels/chart24.xml.rels><?xml version='1.0' encoding='UTF-8' standalone='yes'?>
<Relationships xmlns="http://schemas.openxmlformats.org/package/2006/relationships"><Relationship Id="rId1" Type="http://schemas.openxmlformats.org/officeDocument/2006/relationships/package" Target="../embeddings/Microsoft_Excel_Worksheet24.xlsx"/></Relationships>
</file>

<file path=ppt/charts/_rels/chart25.xml.rels><?xml version='1.0' encoding='UTF-8' standalone='yes'?>
<Relationships xmlns="http://schemas.openxmlformats.org/package/2006/relationships"><Relationship Id="rId1" Type="http://schemas.openxmlformats.org/officeDocument/2006/relationships/package" Target="../embeddings/Microsoft_Excel_Worksheet25.xlsx"/></Relationships>
</file>

<file path=ppt/charts/_rels/chart26.xml.rels><?xml version='1.0' encoding='UTF-8' standalone='yes'?>
<Relationships xmlns="http://schemas.openxmlformats.org/package/2006/relationships"><Relationship Id="rId1" Type="http://schemas.openxmlformats.org/officeDocument/2006/relationships/package" Target="../embeddings/Microsoft_Excel_Worksheet26.xlsx"/></Relationships>
</file>

<file path=ppt/charts/_rels/chart27.xml.rels><?xml version='1.0' encoding='UTF-8' standalone='yes'?>
<Relationships xmlns="http://schemas.openxmlformats.org/package/2006/relationships"><Relationship Id="rId1" Type="http://schemas.openxmlformats.org/officeDocument/2006/relationships/package" Target="../embeddings/Microsoft_Excel_Worksheet27.xlsx"/></Relationships>
</file>

<file path=ppt/charts/_rels/chart28.xml.rels><?xml version='1.0' encoding='UTF-8' standalone='yes'?>
<Relationships xmlns="http://schemas.openxmlformats.org/package/2006/relationships"><Relationship Id="rId1" Type="http://schemas.openxmlformats.org/officeDocument/2006/relationships/package" Target="../embeddings/Microsoft_Excel_Worksheet28.xlsx"/></Relationships>
</file>

<file path=ppt/charts/_rels/chart29.xml.rels><?xml version='1.0' encoding='UTF-8' standalone='yes'?>
<Relationships xmlns="http://schemas.openxmlformats.org/package/2006/relationships"><Relationship Id="rId1" Type="http://schemas.openxmlformats.org/officeDocument/2006/relationships/package" Target="../embeddings/Microsoft_Excel_Worksheet29.xlsx"/></Relationships>
</file>

<file path=ppt/charts/_rels/chart30.xml.rels><?xml version='1.0' encoding='UTF-8' standalone='yes'?>
<Relationships xmlns="http://schemas.openxmlformats.org/package/2006/relationships"><Relationship Id="rId1" Type="http://schemas.openxmlformats.org/officeDocument/2006/relationships/package" Target="../embeddings/Microsoft_Excel_Worksheet30.xlsx"/></Relationships>
</file>

<file path=ppt/charts/_rels/chart31.xml.rels><?xml version='1.0' encoding='UTF-8' standalone='yes'?>
<Relationships xmlns="http://schemas.openxmlformats.org/package/2006/relationships"><Relationship Id="rId1" Type="http://schemas.openxmlformats.org/officeDocument/2006/relationships/package" Target="../embeddings/Microsoft_Excel_Worksheet31.xlsx"/></Relationships>
</file>

<file path=ppt/charts/_rels/chart32.xml.rels><?xml version='1.0' encoding='UTF-8' standalone='yes'?>
<Relationships xmlns="http://schemas.openxmlformats.org/package/2006/relationships"><Relationship Id="rId1" Type="http://schemas.openxmlformats.org/officeDocument/2006/relationships/package" Target="../embeddings/Microsoft_Excel_Worksheet32.xlsx"/></Relationships>
</file>

<file path=ppt/charts/_rels/chart33.xml.rels><?xml version='1.0' encoding='UTF-8' standalone='yes'?>
<Relationships xmlns="http://schemas.openxmlformats.org/package/2006/relationships"><Relationship Id="rId1" Type="http://schemas.openxmlformats.org/officeDocument/2006/relationships/package" Target="../embeddings/Microsoft_Excel_Worksheet33.xlsx"/></Relationships>
</file>

<file path=ppt/charts/_rels/chart34.xml.rels><?xml version='1.0' encoding='UTF-8' standalone='yes'?>
<Relationships xmlns="http://schemas.openxmlformats.org/package/2006/relationships"><Relationship Id="rId1" Type="http://schemas.openxmlformats.org/officeDocument/2006/relationships/package" Target="../embeddings/Microsoft_Excel_Worksheet34.xlsx"/></Relationships>
</file>

<file path=ppt/charts/_rels/chart35.xml.rels><?xml version='1.0' encoding='UTF-8' standalone='yes'?>
<Relationships xmlns="http://schemas.openxmlformats.org/package/2006/relationships"><Relationship Id="rId1" Type="http://schemas.openxmlformats.org/officeDocument/2006/relationships/package" Target="../embeddings/Microsoft_Excel_Worksheet35.xlsx"/></Relationships>
</file>

<file path=ppt/charts/_rels/chart36.xml.rels><?xml version='1.0' encoding='UTF-8' standalone='yes'?>
<Relationships xmlns="http://schemas.openxmlformats.org/package/2006/relationships"><Relationship Id="rId1" Type="http://schemas.openxmlformats.org/officeDocument/2006/relationships/package" Target="../embeddings/Microsoft_Excel_Worksheet36.xlsx"/></Relationships>
</file>

<file path=ppt/charts/_rels/chart37.xml.rels><?xml version='1.0' encoding='UTF-8' standalone='yes'?>
<Relationships xmlns="http://schemas.openxmlformats.org/package/2006/relationships"><Relationship Id="rId1" Type="http://schemas.openxmlformats.org/officeDocument/2006/relationships/package" Target="../embeddings/Microsoft_Excel_Worksheet37.xlsx"/></Relationships>
</file>

<file path=ppt/charts/_rels/chart38.xml.rels><?xml version='1.0' encoding='UTF-8' standalone='yes'?>
<Relationships xmlns="http://schemas.openxmlformats.org/package/2006/relationships"><Relationship Id="rId1" Type="http://schemas.openxmlformats.org/officeDocument/2006/relationships/package" Target="../embeddings/Microsoft_Excel_Worksheet38.xlsx"/></Relationships>
</file>

<file path=ppt/charts/_rels/chart39.xml.rels><?xml version='1.0' encoding='UTF-8' standalone='yes'?>
<Relationships xmlns="http://schemas.openxmlformats.org/package/2006/relationships"><Relationship Id="rId1" Type="http://schemas.openxmlformats.org/officeDocument/2006/relationships/package" Target="../embeddings/Microsoft_Excel_Worksheet39.xlsx"/></Relationships>
</file>

<file path=ppt/charts/_rels/chart40.xml.rels><?xml version='1.0' encoding='UTF-8' standalone='yes'?>
<Relationships xmlns="http://schemas.openxmlformats.org/package/2006/relationships"><Relationship Id="rId1" Type="http://schemas.openxmlformats.org/officeDocument/2006/relationships/package" Target="../embeddings/Microsoft_Excel_Worksheet40.xlsx"/></Relationships>
</file>

<file path=ppt/charts/_rels/chart41.xml.rels><?xml version='1.0' encoding='UTF-8' standalone='yes'?>
<Relationships xmlns="http://schemas.openxmlformats.org/package/2006/relationships"><Relationship Id="rId1" Type="http://schemas.openxmlformats.org/officeDocument/2006/relationships/package" Target="../embeddings/Microsoft_Excel_Worksheet41.xlsx"/></Relationships>
</file>

<file path=ppt/charts/_rels/chart42.xml.rels><?xml version='1.0' encoding='UTF-8' standalone='yes'?>
<Relationships xmlns="http://schemas.openxmlformats.org/package/2006/relationships"><Relationship Id="rId1" Type="http://schemas.openxmlformats.org/officeDocument/2006/relationships/package" Target="../embeddings/Microsoft_Excel_Worksheet42.xlsx"/></Relationships>
</file>

<file path=ppt/charts/_rels/chart43.xml.rels><?xml version='1.0' encoding='UTF-8' standalone='yes'?>
<Relationships xmlns="http://schemas.openxmlformats.org/package/2006/relationships"><Relationship Id="rId1" Type="http://schemas.openxmlformats.org/officeDocument/2006/relationships/package" Target="../embeddings/Microsoft_Excel_Worksheet43.xlsx"/></Relationships>
</file>

<file path=ppt/charts/_rels/chart44.xml.rels><?xml version='1.0' encoding='UTF-8' standalone='yes'?>
<Relationships xmlns="http://schemas.openxmlformats.org/package/2006/relationships"><Relationship Id="rId1" Type="http://schemas.openxmlformats.org/officeDocument/2006/relationships/package" Target="../embeddings/Microsoft_Excel_Worksheet44.xlsx"/></Relationships>
</file>

<file path=ppt/charts/_rels/chart45.xml.rels><?xml version='1.0' encoding='UTF-8' standalone='yes'?>
<Relationships xmlns="http://schemas.openxmlformats.org/package/2006/relationships"><Relationship Id="rId1" Type="http://schemas.openxmlformats.org/officeDocument/2006/relationships/package" Target="../embeddings/Microsoft_Excel_Worksheet45.xlsx"/></Relationships>
</file>

<file path=ppt/charts/_rels/chart46.xml.rels><?xml version='1.0' encoding='UTF-8' standalone='yes'?>
<Relationships xmlns="http://schemas.openxmlformats.org/package/2006/relationships"><Relationship Id="rId1" Type="http://schemas.openxmlformats.org/officeDocument/2006/relationships/package" Target="../embeddings/Microsoft_Excel_Worksheet46.xlsx"/></Relationships>
</file>

<file path=ppt/charts/_rels/chart47.xml.rels><?xml version='1.0' encoding='UTF-8' standalone='yes'?>
<Relationships xmlns="http://schemas.openxmlformats.org/package/2006/relationships"><Relationship Id="rId1" Type="http://schemas.openxmlformats.org/officeDocument/2006/relationships/package" Target="../embeddings/Microsoft_Excel_Worksheet47.xlsx"/></Relationships>
</file>

<file path=ppt/charts/_rels/chart48.xml.rels><?xml version='1.0' encoding='UTF-8' standalone='yes'?>
<Relationships xmlns="http://schemas.openxmlformats.org/package/2006/relationships"><Relationship Id="rId1" Type="http://schemas.openxmlformats.org/officeDocument/2006/relationships/package" Target="../embeddings/Microsoft_Excel_Worksheet48.xlsx"/></Relationships>
</file>

<file path=ppt/charts/_rels/chart49.xml.rels><?xml version='1.0' encoding='UTF-8' standalone='yes'?>
<Relationships xmlns="http://schemas.openxmlformats.org/package/2006/relationships"><Relationship Id="rId1" Type="http://schemas.openxmlformats.org/officeDocument/2006/relationships/package" Target="../embeddings/Microsoft_Excel_Worksheet49.xlsx"/></Relationships>
</file>

<file path=ppt/charts/_rels/chart50.xml.rels><?xml version='1.0' encoding='UTF-8' standalone='yes'?>
<Relationships xmlns="http://schemas.openxmlformats.org/package/2006/relationships"><Relationship Id="rId1" Type="http://schemas.openxmlformats.org/officeDocument/2006/relationships/package" Target="../embeddings/Microsoft_Excel_Worksheet50.xlsx"/></Relationships>
</file>

<file path=ppt/charts/_rels/chart51.xml.rels><?xml version='1.0' encoding='UTF-8' standalone='yes'?>
<Relationships xmlns="http://schemas.openxmlformats.org/package/2006/relationships"><Relationship Id="rId1" Type="http://schemas.openxmlformats.org/officeDocument/2006/relationships/package" Target="../embeddings/Microsoft_Excel_Worksheet51.xlsx"/></Relationships>
</file>

<file path=ppt/charts/_rels/chart52.xml.rels><?xml version='1.0' encoding='UTF-8' standalone='yes'?>
<Relationships xmlns="http://schemas.openxmlformats.org/package/2006/relationships"><Relationship Id="rId1" Type="http://schemas.openxmlformats.org/officeDocument/2006/relationships/package" Target="../embeddings/Microsoft_Excel_Worksheet52.xlsx"/></Relationships>
</file>

<file path=ppt/charts/_rels/chart53.xml.rels><?xml version='1.0' encoding='UTF-8' standalone='yes'?>
<Relationships xmlns="http://schemas.openxmlformats.org/package/2006/relationships"><Relationship Id="rId1" Type="http://schemas.openxmlformats.org/officeDocument/2006/relationships/package" Target="../embeddings/Microsoft_Excel_Worksheet53.xlsx"/></Relationships>
</file>

<file path=ppt/charts/_rels/chart54.xml.rels><?xml version='1.0' encoding='UTF-8' standalone='yes'?>
<Relationships xmlns="http://schemas.openxmlformats.org/package/2006/relationships"><Relationship Id="rId1" Type="http://schemas.openxmlformats.org/officeDocument/2006/relationships/package" Target="../embeddings/Microsoft_Excel_Worksheet54.xlsx"/></Relationships>
</file>

<file path=ppt/charts/_rels/chart55.xml.rels><?xml version='1.0' encoding='UTF-8' standalone='yes'?>
<Relationships xmlns="http://schemas.openxmlformats.org/package/2006/relationships"><Relationship Id="rId1" Type="http://schemas.openxmlformats.org/officeDocument/2006/relationships/package" Target="../embeddings/Microsoft_Excel_Worksheet55.xlsx"/></Relationships>
</file>

<file path=ppt/charts/_rels/chart56.xml.rels><?xml version='1.0' encoding='UTF-8' standalone='yes'?>
<Relationships xmlns="http://schemas.openxmlformats.org/package/2006/relationships"><Relationship Id="rId1" Type="http://schemas.openxmlformats.org/officeDocument/2006/relationships/package" Target="../embeddings/Microsoft_Excel_Worksheet56.xlsx"/></Relationships>
</file>

<file path=ppt/charts/_rels/chart57.xml.rels><?xml version='1.0' encoding='UTF-8' standalone='yes'?>
<Relationships xmlns="http://schemas.openxmlformats.org/package/2006/relationships"><Relationship Id="rId1" Type="http://schemas.openxmlformats.org/officeDocument/2006/relationships/package" Target="../embeddings/Microsoft_Excel_Worksheet57.xlsx"/></Relationships>
</file>

<file path=ppt/charts/_rels/chart58.xml.rels><?xml version='1.0' encoding='UTF-8' standalone='yes'?>
<Relationships xmlns="http://schemas.openxmlformats.org/package/2006/relationships"><Relationship Id="rId1" Type="http://schemas.openxmlformats.org/officeDocument/2006/relationships/package" Target="../embeddings/Microsoft_Excel_Worksheet58.xlsx"/></Relationships>
</file>

<file path=ppt/charts/_rels/chart59.xml.rels><?xml version='1.0' encoding='UTF-8' standalone='yes'?>
<Relationships xmlns="http://schemas.openxmlformats.org/package/2006/relationships"><Relationship Id="rId1" Type="http://schemas.openxmlformats.org/officeDocument/2006/relationships/package" Target="../embeddings/Microsoft_Excel_Worksheet59.xlsx"/></Relationships>
</file>

<file path=ppt/charts/_rels/chart60.xml.rels><?xml version='1.0' encoding='UTF-8' standalone='yes'?>
<Relationships xmlns="http://schemas.openxmlformats.org/package/2006/relationships"><Relationship Id="rId1" Type="http://schemas.openxmlformats.org/officeDocument/2006/relationships/package" Target="../embeddings/Microsoft_Excel_Worksheet60.xlsx"/></Relationships>
</file>

<file path=ppt/charts/_rels/chart61.xml.rels><?xml version='1.0' encoding='UTF-8' standalone='yes'?>
<Relationships xmlns="http://schemas.openxmlformats.org/package/2006/relationships"><Relationship Id="rId1" Type="http://schemas.openxmlformats.org/officeDocument/2006/relationships/package" Target="../embeddings/Microsoft_Excel_Worksheet61.xlsx"/></Relationships>
</file>

<file path=ppt/charts/_rels/chart62.xml.rels><?xml version='1.0' encoding='UTF-8' standalone='yes'?>
<Relationships xmlns="http://schemas.openxmlformats.org/package/2006/relationships"><Relationship Id="rId1" Type="http://schemas.openxmlformats.org/officeDocument/2006/relationships/package" Target="../embeddings/Microsoft_Excel_Worksheet62.xlsx"/></Relationships>
</file>

<file path=ppt/charts/_rels/chart63.xml.rels><?xml version='1.0' encoding='UTF-8' standalone='yes'?>
<Relationships xmlns="http://schemas.openxmlformats.org/package/2006/relationships"><Relationship Id="rId1" Type="http://schemas.openxmlformats.org/officeDocument/2006/relationships/package" Target="../embeddings/Microsoft_Excel_Worksheet63.xlsx"/></Relationships>
</file>

<file path=ppt/charts/_rels/chart64.xml.rels><?xml version='1.0' encoding='UTF-8' standalone='yes'?>
<Relationships xmlns="http://schemas.openxmlformats.org/package/2006/relationships"><Relationship Id="rId1" Type="http://schemas.openxmlformats.org/officeDocument/2006/relationships/package" Target="../embeddings/Microsoft_Excel_Worksheet64.xlsx"/></Relationships>
</file>

<file path=ppt/charts/_rels/chart65.xml.rels><?xml version='1.0' encoding='UTF-8' standalone='yes'?>
<Relationships xmlns="http://schemas.openxmlformats.org/package/2006/relationships"><Relationship Id="rId1" Type="http://schemas.openxmlformats.org/officeDocument/2006/relationships/package" Target="../embeddings/Microsoft_Excel_Worksheet65.xlsx"/></Relationships>
</file>

<file path=ppt/charts/_rels/chart66.xml.rels><?xml version='1.0' encoding='UTF-8' standalone='yes'?>
<Relationships xmlns="http://schemas.openxmlformats.org/package/2006/relationships"><Relationship Id="rId1" Type="http://schemas.openxmlformats.org/officeDocument/2006/relationships/package" Target="../embeddings/Microsoft_Excel_Worksheet66.xlsx"/></Relationships>
</file>

<file path=ppt/charts/_rels/chart67.xml.rels><?xml version='1.0' encoding='UTF-8' standalone='yes'?>
<Relationships xmlns="http://schemas.openxmlformats.org/package/2006/relationships"><Relationship Id="rId1" Type="http://schemas.openxmlformats.org/officeDocument/2006/relationships/package" Target="../embeddings/Microsoft_Excel_Worksheet67.xlsx"/></Relationships>
</file>

<file path=ppt/charts/_rels/chart68.xml.rels><?xml version='1.0' encoding='UTF-8' standalone='yes'?>
<Relationships xmlns="http://schemas.openxmlformats.org/package/2006/relationships"><Relationship Id="rId1" Type="http://schemas.openxmlformats.org/officeDocument/2006/relationships/package" Target="../embeddings/Microsoft_Excel_Worksheet68.xlsx"/></Relationships>
</file>

<file path=ppt/charts/_rels/chart69.xml.rels><?xml version='1.0' encoding='UTF-8' standalone='yes'?>
<Relationships xmlns="http://schemas.openxmlformats.org/package/2006/relationships"><Relationship Id="rId1" Type="http://schemas.openxmlformats.org/officeDocument/2006/relationships/package" Target="../embeddings/Microsoft_Excel_Worksheet69.xlsx"/></Relationships>
</file>

<file path=ppt/charts/_rels/chart70.xml.rels><?xml version='1.0' encoding='UTF-8' standalone='yes'?>
<Relationships xmlns="http://schemas.openxmlformats.org/package/2006/relationships"><Relationship Id="rId1" Type="http://schemas.openxmlformats.org/officeDocument/2006/relationships/package" Target="../embeddings/Microsoft_Excel_Worksheet70.xlsx"/></Relationships>
</file>

<file path=ppt/charts/_rels/chart71.xml.rels><?xml version='1.0' encoding='UTF-8' standalone='yes'?>
<Relationships xmlns="http://schemas.openxmlformats.org/package/2006/relationships"><Relationship Id="rId1" Type="http://schemas.openxmlformats.org/officeDocument/2006/relationships/package" Target="../embeddings/Microsoft_Excel_Worksheet71.xlsx"/></Relationships>
</file>

<file path=ppt/charts/_rels/chart72.xml.rels><?xml version='1.0' encoding='UTF-8' standalone='yes'?>
<Relationships xmlns="http://schemas.openxmlformats.org/package/2006/relationships"><Relationship Id="rId1" Type="http://schemas.openxmlformats.org/officeDocument/2006/relationships/package" Target="../embeddings/Microsoft_Excel_Worksheet72.xlsx"/></Relationships>
</file>

<file path=ppt/charts/_rels/chart73.xml.rels><?xml version='1.0' encoding='UTF-8' standalone='yes'?>
<Relationships xmlns="http://schemas.openxmlformats.org/package/2006/relationships"><Relationship Id="rId1" Type="http://schemas.openxmlformats.org/officeDocument/2006/relationships/package" Target="../embeddings/Microsoft_Excel_Worksheet73.xlsx"/></Relationships>
</file>

<file path=ppt/charts/_rels/chart74.xml.rels><?xml version='1.0' encoding='UTF-8' standalone='yes'?>
<Relationships xmlns="http://schemas.openxmlformats.org/package/2006/relationships"><Relationship Id="rId1" Type="http://schemas.openxmlformats.org/officeDocument/2006/relationships/package" Target="../embeddings/Microsoft_Excel_Worksheet74.xlsx"/></Relationships>
</file>

<file path=ppt/charts/_rels/chart75.xml.rels><?xml version='1.0' encoding='UTF-8' standalone='yes'?>
<Relationships xmlns="http://schemas.openxmlformats.org/package/2006/relationships"><Relationship Id="rId1" Type="http://schemas.openxmlformats.org/officeDocument/2006/relationships/package" Target="../embeddings/Microsoft_Excel_Worksheet75.xlsx"/></Relationships>
</file>

<file path=ppt/charts/_rels/chart76.xml.rels><?xml version='1.0' encoding='UTF-8' standalone='yes'?>
<Relationships xmlns="http://schemas.openxmlformats.org/package/2006/relationships"><Relationship Id="rId1" Type="http://schemas.openxmlformats.org/officeDocument/2006/relationships/package" Target="../embeddings/Microsoft_Excel_Worksheet76.xlsx"/></Relationships>
</file>

<file path=ppt/charts/_rels/chart77.xml.rels><?xml version='1.0' encoding='UTF-8' standalone='yes'?>
<Relationships xmlns="http://schemas.openxmlformats.org/package/2006/relationships"><Relationship Id="rId1" Type="http://schemas.openxmlformats.org/officeDocument/2006/relationships/package" Target="../embeddings/Microsoft_Excel_Worksheet77.xlsx"/></Relationships>
</file>

<file path=ppt/charts/_rels/chart78.xml.rels><?xml version='1.0' encoding='UTF-8' standalone='yes'?>
<Relationships xmlns="http://schemas.openxmlformats.org/package/2006/relationships"><Relationship Id="rId1" Type="http://schemas.openxmlformats.org/officeDocument/2006/relationships/package" Target="../embeddings/Microsoft_Excel_Worksheet78.xlsx"/></Relationships>
</file>

<file path=ppt/charts/_rels/chart79.xml.rels><?xml version='1.0' encoding='UTF-8' standalone='yes'?>
<Relationships xmlns="http://schemas.openxmlformats.org/package/2006/relationships"><Relationship Id="rId1" Type="http://schemas.openxmlformats.org/officeDocument/2006/relationships/package" Target="../embeddings/Microsoft_Excel_Worksheet79.xlsx"/></Relationships>
</file>

<file path=ppt/charts/_rels/chart80.xml.rels><?xml version='1.0' encoding='UTF-8' standalone='yes'?>
<Relationships xmlns="http://schemas.openxmlformats.org/package/2006/relationships"><Relationship Id="rId1" Type="http://schemas.openxmlformats.org/officeDocument/2006/relationships/package" Target="../embeddings/Microsoft_Excel_Worksheet80.xlsx"/></Relationships>
</file>

<file path=ppt/charts/_rels/chart81.xml.rels><?xml version='1.0' encoding='UTF-8' standalone='yes'?>
<Relationships xmlns="http://schemas.openxmlformats.org/package/2006/relationships"><Relationship Id="rId1" Type="http://schemas.openxmlformats.org/officeDocument/2006/relationships/package" Target="../embeddings/Microsoft_Excel_Worksheet81.xlsx"/></Relationships>
</file>

<file path=ppt/charts/_rels/chart82.xml.rels><?xml version='1.0' encoding='UTF-8' standalone='yes'?>
<Relationships xmlns="http://schemas.openxmlformats.org/package/2006/relationships"><Relationship Id="rId1" Type="http://schemas.openxmlformats.org/officeDocument/2006/relationships/package" Target="../embeddings/Microsoft_Excel_Worksheet82.xlsx"/></Relationships>
</file>

<file path=ppt/charts/_rels/chart83.xml.rels><?xml version='1.0' encoding='UTF-8' standalone='yes'?>
<Relationships xmlns="http://schemas.openxmlformats.org/package/2006/relationships"><Relationship Id="rId1" Type="http://schemas.openxmlformats.org/officeDocument/2006/relationships/package" Target="../embeddings/Microsoft_Excel_Worksheet83.xlsx"/></Relationships>
</file>

<file path=ppt/charts/_rels/chart84.xml.rels><?xml version='1.0' encoding='UTF-8' standalone='yes'?>
<Relationships xmlns="http://schemas.openxmlformats.org/package/2006/relationships"><Relationship Id="rId1" Type="http://schemas.openxmlformats.org/officeDocument/2006/relationships/package" Target="../embeddings/Microsoft_Excel_Worksheet84.xlsx"/></Relationships>
</file>

<file path=ppt/charts/_rels/chart85.xml.rels><?xml version='1.0' encoding='UTF-8' standalone='yes'?>
<Relationships xmlns="http://schemas.openxmlformats.org/package/2006/relationships"><Relationship Id="rId1" Type="http://schemas.openxmlformats.org/officeDocument/2006/relationships/package" Target="../embeddings/Microsoft_Excel_Worksheet85.xlsx"/></Relationships>
</file>

<file path=ppt/charts/_rels/chart86.xml.rels><?xml version='1.0' encoding='UTF-8' standalone='yes'?>
<Relationships xmlns="http://schemas.openxmlformats.org/package/2006/relationships"><Relationship Id="rId1" Type="http://schemas.openxmlformats.org/officeDocument/2006/relationships/package" Target="../embeddings/Microsoft_Excel_Worksheet86.xlsx"/></Relationships>
</file>

<file path=ppt/charts/_rels/chart87.xml.rels><?xml version='1.0' encoding='UTF-8' standalone='yes'?>
<Relationships xmlns="http://schemas.openxmlformats.org/package/2006/relationships"><Relationship Id="rId1" Type="http://schemas.openxmlformats.org/officeDocument/2006/relationships/package" Target="../embeddings/Microsoft_Excel_Worksheet87.xlsx"/></Relationships>
</file>

<file path=ppt/charts/_rels/chart88.xml.rels><?xml version='1.0' encoding='UTF-8' standalone='yes'?>
<Relationships xmlns="http://schemas.openxmlformats.org/package/2006/relationships"><Relationship Id="rId1" Type="http://schemas.openxmlformats.org/officeDocument/2006/relationships/package" Target="../embeddings/Microsoft_Excel_Worksheet88.xlsx"/></Relationships>
</file>

<file path=ppt/charts/_rels/chart89.xml.rels><?xml version='1.0' encoding='UTF-8' standalone='yes'?>
<Relationships xmlns="http://schemas.openxmlformats.org/package/2006/relationships"><Relationship Id="rId1" Type="http://schemas.openxmlformats.org/officeDocument/2006/relationships/package" Target="../embeddings/Microsoft_Excel_Worksheet89.xlsx"/></Relationships>
</file>

<file path=ppt/charts/_rels/chart90.xml.rels><?xml version='1.0' encoding='UTF-8' standalone='yes'?>
<Relationships xmlns="http://schemas.openxmlformats.org/package/2006/relationships"><Relationship Id="rId1" Type="http://schemas.openxmlformats.org/officeDocument/2006/relationships/package" Target="../embeddings/Microsoft_Excel_Worksheet90.xlsx"/></Relationships>
</file>

<file path=ppt/charts/_rels/chart91.xml.rels><?xml version='1.0' encoding='UTF-8' standalone='yes'?>
<Relationships xmlns="http://schemas.openxmlformats.org/package/2006/relationships"><Relationship Id="rId1" Type="http://schemas.openxmlformats.org/officeDocument/2006/relationships/package" Target="../embeddings/Microsoft_Excel_Worksheet91.xlsx"/></Relationships>
</file>

<file path=ppt/charts/_rels/chart92.xml.rels><?xml version='1.0' encoding='UTF-8' standalone='yes'?>
<Relationships xmlns="http://schemas.openxmlformats.org/package/2006/relationships"><Relationship Id="rId1" Type="http://schemas.openxmlformats.org/officeDocument/2006/relationships/package" Target="../embeddings/Microsoft_Excel_Worksheet92.xlsx"/></Relationships>
</file>

<file path=ppt/charts/_rels/chart93.xml.rels><?xml version='1.0' encoding='UTF-8' standalone='yes'?>
<Relationships xmlns="http://schemas.openxmlformats.org/package/2006/relationships"><Relationship Id="rId1" Type="http://schemas.openxmlformats.org/officeDocument/2006/relationships/package" Target="../embeddings/Microsoft_Excel_Worksheet93.xlsx"/></Relationships>
</file>

<file path=ppt/charts/_rels/chart94.xml.rels><?xml version='1.0' encoding='UTF-8' standalone='yes'?>
<Relationships xmlns="http://schemas.openxmlformats.org/package/2006/relationships"><Relationship Id="rId1" Type="http://schemas.openxmlformats.org/officeDocument/2006/relationships/package" Target="../embeddings/Microsoft_Excel_Worksheet94.xlsx"/></Relationships>
</file>

<file path=ppt/charts/_rels/chart95.xml.rels><?xml version='1.0' encoding='UTF-8' standalone='yes'?>
<Relationships xmlns="http://schemas.openxmlformats.org/package/2006/relationships"><Relationship Id="rId1" Type="http://schemas.openxmlformats.org/officeDocument/2006/relationships/package" Target="../embeddings/Microsoft_Excel_Worksheet95.xlsx"/></Relationships>
</file>

<file path=ppt/charts/_rels/chart96.xml.rels><?xml version='1.0' encoding='UTF-8' standalone='yes'?>
<Relationships xmlns="http://schemas.openxmlformats.org/package/2006/relationships"><Relationship Id="rId1" Type="http://schemas.openxmlformats.org/officeDocument/2006/relationships/package" Target="../embeddings/Microsoft_Excel_Worksheet96.xlsx"/></Relationships>
</file>

<file path=ppt/charts/_rels/chart97.xml.rels><?xml version='1.0' encoding='UTF-8' standalone='yes'?>
<Relationships xmlns="http://schemas.openxmlformats.org/package/2006/relationships"><Relationship Id="rId1" Type="http://schemas.openxmlformats.org/officeDocument/2006/relationships/package" Target="../embeddings/Microsoft_Excel_Worksheet97.xlsx"/></Relationships>
</file>

<file path=ppt/charts/_rels/chart98.xml.rels><?xml version='1.0' encoding='UTF-8' standalone='yes'?>
<Relationships xmlns="http://schemas.openxmlformats.org/package/2006/relationships"><Relationship Id="rId1" Type="http://schemas.openxmlformats.org/officeDocument/2006/relationships/package" Target="../embeddings/Microsoft_Excel_Worksheet98.xlsx"/></Relationships>
</file>

<file path=ppt/charts/_rels/chart99.xml.rels><?xml version='1.0' encoding='UTF-8' standalone='yes'?>
<Relationships xmlns="http://schemas.openxmlformats.org/package/2006/relationships"><Relationship Id="rId1" Type="http://schemas.openxmlformats.org/officeDocument/2006/relationships/package" Target="../embeddings/Microsoft_Excel_Worksheet99.xlsx"/></Relationships>
</file>

<file path=ppt/charts/_rels/chart100.xml.rels><?xml version='1.0' encoding='UTF-8' standalone='yes'?>
<Relationships xmlns="http://schemas.openxmlformats.org/package/2006/relationships"><Relationship Id="rId1" Type="http://schemas.openxmlformats.org/officeDocument/2006/relationships/package" Target="../embeddings/Microsoft_Excel_Worksheet100.xlsx"/></Relationships>
</file>

<file path=ppt/charts/_rels/chart101.xml.rels><?xml version='1.0' encoding='UTF-8' standalone='yes'?>
<Relationships xmlns="http://schemas.openxmlformats.org/package/2006/relationships"><Relationship Id="rId1" Type="http://schemas.openxmlformats.org/officeDocument/2006/relationships/package" Target="../embeddings/Microsoft_Excel_Worksheet101.xlsx"/></Relationships>
</file>

<file path=ppt/charts/_rels/chart102.xml.rels><?xml version='1.0' encoding='UTF-8' standalone='yes'?>
<Relationships xmlns="http://schemas.openxmlformats.org/package/2006/relationships"><Relationship Id="rId1" Type="http://schemas.openxmlformats.org/officeDocument/2006/relationships/package" Target="../embeddings/Microsoft_Excel_Worksheet102.xlsx"/></Relationships>
</file>

<file path=ppt/charts/_rels/chart103.xml.rels><?xml version='1.0' encoding='UTF-8' standalone='yes'?>
<Relationships xmlns="http://schemas.openxmlformats.org/package/2006/relationships"><Relationship Id="rId1" Type="http://schemas.openxmlformats.org/officeDocument/2006/relationships/package" Target="../embeddings/Microsoft_Excel_Worksheet103.xlsx"/></Relationships>
</file>

<file path=ppt/charts/_rels/chart104.xml.rels><?xml version='1.0' encoding='UTF-8' standalone='yes'?>
<Relationships xmlns="http://schemas.openxmlformats.org/package/2006/relationships"><Relationship Id="rId1" Type="http://schemas.openxmlformats.org/officeDocument/2006/relationships/package" Target="../embeddings/Microsoft_Excel_Worksheet104.xlsx"/></Relationships>
</file>

<file path=ppt/charts/_rels/chart105.xml.rels><?xml version='1.0' encoding='UTF-8' standalone='yes'?>
<Relationships xmlns="http://schemas.openxmlformats.org/package/2006/relationships"><Relationship Id="rId1" Type="http://schemas.openxmlformats.org/officeDocument/2006/relationships/package" Target="../embeddings/Microsoft_Excel_Worksheet105.xlsx"/></Relationships>
</file>

<file path=ppt/charts/_rels/chart106.xml.rels><?xml version='1.0' encoding='UTF-8' standalone='yes'?>
<Relationships xmlns="http://schemas.openxmlformats.org/package/2006/relationships"><Relationship Id="rId1" Type="http://schemas.openxmlformats.org/officeDocument/2006/relationships/package" Target="../embeddings/Microsoft_Excel_Worksheet106.xlsx"/></Relationships>
</file>

<file path=ppt/charts/_rels/chart107.xml.rels><?xml version='1.0' encoding='UTF-8' standalone='yes'?>
<Relationships xmlns="http://schemas.openxmlformats.org/package/2006/relationships"><Relationship Id="rId1" Type="http://schemas.openxmlformats.org/officeDocument/2006/relationships/package" Target="../embeddings/Microsoft_Excel_Worksheet107.xlsx"/></Relationships>
</file>

<file path=ppt/charts/_rels/chart108.xml.rels><?xml version='1.0' encoding='UTF-8' standalone='yes'?>
<Relationships xmlns="http://schemas.openxmlformats.org/package/2006/relationships"><Relationship Id="rId1" Type="http://schemas.openxmlformats.org/officeDocument/2006/relationships/package" Target="../embeddings/Microsoft_Excel_Worksheet108.xlsx"/></Relationships>
</file>

<file path=ppt/charts/_rels/chart109.xml.rels><?xml version='1.0' encoding='UTF-8' standalone='yes'?>
<Relationships xmlns="http://schemas.openxmlformats.org/package/2006/relationships"><Relationship Id="rId1" Type="http://schemas.openxmlformats.org/officeDocument/2006/relationships/package" Target="../embeddings/Microsoft_Excel_Worksheet109.xlsx"/></Relationships>
</file>

<file path=ppt/charts/_rels/chart110.xml.rels><?xml version='1.0' encoding='UTF-8' standalone='yes'?>
<Relationships xmlns="http://schemas.openxmlformats.org/package/2006/relationships"><Relationship Id="rId1" Type="http://schemas.openxmlformats.org/officeDocument/2006/relationships/package" Target="../embeddings/Microsoft_Excel_Worksheet110.xlsx"/></Relationships>
</file>

<file path=ppt/charts/_rels/chart111.xml.rels><?xml version='1.0' encoding='UTF-8' standalone='yes'?>
<Relationships xmlns="http://schemas.openxmlformats.org/package/2006/relationships"><Relationship Id="rId1" Type="http://schemas.openxmlformats.org/officeDocument/2006/relationships/package" Target="../embeddings/Microsoft_Excel_Worksheet111.xlsx"/></Relationships>
</file>

<file path=ppt/charts/_rels/chart112.xml.rels><?xml version='1.0' encoding='UTF-8' standalone='yes'?>
<Relationships xmlns="http://schemas.openxmlformats.org/package/2006/relationships"><Relationship Id="rId1" Type="http://schemas.openxmlformats.org/officeDocument/2006/relationships/package" Target="../embeddings/Microsoft_Excel_Worksheet112.xlsx"/></Relationships>
</file>

<file path=ppt/charts/_rels/chart113.xml.rels><?xml version='1.0' encoding='UTF-8' standalone='yes'?>
<Relationships xmlns="http://schemas.openxmlformats.org/package/2006/relationships"><Relationship Id="rId1" Type="http://schemas.openxmlformats.org/officeDocument/2006/relationships/package" Target="../embeddings/Microsoft_Excel_Worksheet113.xlsx"/></Relationships>
</file>

<file path=ppt/charts/_rels/chart114.xml.rels><?xml version='1.0' encoding='UTF-8' standalone='yes'?>
<Relationships xmlns="http://schemas.openxmlformats.org/package/2006/relationships"><Relationship Id="rId1" Type="http://schemas.openxmlformats.org/officeDocument/2006/relationships/package" Target="../embeddings/Microsoft_Excel_Worksheet114.xlsx"/></Relationships>
</file>

<file path=ppt/charts/_rels/chart115.xml.rels><?xml version='1.0' encoding='UTF-8' standalone='yes'?>
<Relationships xmlns="http://schemas.openxmlformats.org/package/2006/relationships"><Relationship Id="rId1" Type="http://schemas.openxmlformats.org/officeDocument/2006/relationships/package" Target="../embeddings/Microsoft_Excel_Worksheet115.xlsx"/></Relationships>
</file>

<file path=ppt/charts/_rels/chart116.xml.rels><?xml version='1.0' encoding='UTF-8' standalone='yes'?>
<Relationships xmlns="http://schemas.openxmlformats.org/package/2006/relationships"><Relationship Id="rId1" Type="http://schemas.openxmlformats.org/officeDocument/2006/relationships/package" Target="../embeddings/Microsoft_Excel_Worksheet116.xlsx"/></Relationships>
</file>

<file path=ppt/charts/_rels/chart117.xml.rels><?xml version='1.0' encoding='UTF-8' standalone='yes'?>
<Relationships xmlns="http://schemas.openxmlformats.org/package/2006/relationships"><Relationship Id="rId1" Type="http://schemas.openxmlformats.org/officeDocument/2006/relationships/package" Target="../embeddings/Microsoft_Excel_Worksheet117.xlsx"/></Relationships>
</file>

<file path=ppt/charts/_rels/chart118.xml.rels><?xml version='1.0' encoding='UTF-8' standalone='yes'?>
<Relationships xmlns="http://schemas.openxmlformats.org/package/2006/relationships"><Relationship Id="rId1" Type="http://schemas.openxmlformats.org/officeDocument/2006/relationships/package" Target="../embeddings/Microsoft_Excel_Worksheet118.xlsx"/></Relationships>
</file>

<file path=ppt/charts/_rels/chart119.xml.rels><?xml version='1.0' encoding='UTF-8' standalone='yes'?>
<Relationships xmlns="http://schemas.openxmlformats.org/package/2006/relationships"><Relationship Id="rId1" Type="http://schemas.openxmlformats.org/officeDocument/2006/relationships/package" Target="../embeddings/Microsoft_Excel_Worksheet119.xlsx"/></Relationships>
</file>

<file path=ppt/charts/_rels/chart120.xml.rels><?xml version='1.0' encoding='UTF-8' standalone='yes'?>
<Relationships xmlns="http://schemas.openxmlformats.org/package/2006/relationships"><Relationship Id="rId1" Type="http://schemas.openxmlformats.org/officeDocument/2006/relationships/package" Target="../embeddings/Microsoft_Excel_Worksheet120.xlsx"/></Relationships>
</file>

<file path=ppt/charts/_rels/chart121.xml.rels><?xml version='1.0' encoding='UTF-8' standalone='yes'?>
<Relationships xmlns="http://schemas.openxmlformats.org/package/2006/relationships"><Relationship Id="rId1" Type="http://schemas.openxmlformats.org/officeDocument/2006/relationships/package" Target="../embeddings/Microsoft_Excel_Worksheet121.xlsx"/></Relationships>
</file>

<file path=ppt/charts/_rels/chart122.xml.rels><?xml version='1.0' encoding='UTF-8' standalone='yes'?>
<Relationships xmlns="http://schemas.openxmlformats.org/package/2006/relationships"><Relationship Id="rId1" Type="http://schemas.openxmlformats.org/officeDocument/2006/relationships/package" Target="../embeddings/Microsoft_Excel_Worksheet122.xlsx"/></Relationships>
</file>

<file path=ppt/charts/_rels/chart123.xml.rels><?xml version='1.0' encoding='UTF-8' standalone='yes'?>
<Relationships xmlns="http://schemas.openxmlformats.org/package/2006/relationships"><Relationship Id="rId1" Type="http://schemas.openxmlformats.org/officeDocument/2006/relationships/package" Target="../embeddings/Microsoft_Excel_Worksheet123.xlsx"/></Relationships>
</file>

<file path=ppt/charts/_rels/chart124.xml.rels><?xml version='1.0' encoding='UTF-8' standalone='yes'?>
<Relationships xmlns="http://schemas.openxmlformats.org/package/2006/relationships"><Relationship Id="rId1" Type="http://schemas.openxmlformats.org/officeDocument/2006/relationships/package" Target="../embeddings/Microsoft_Excel_Worksheet124.xlsx"/></Relationships>
</file>

<file path=ppt/charts/_rels/chart125.xml.rels><?xml version='1.0' encoding='UTF-8' standalone='yes'?>
<Relationships xmlns="http://schemas.openxmlformats.org/package/2006/relationships"><Relationship Id="rId1" Type="http://schemas.openxmlformats.org/officeDocument/2006/relationships/package" Target="../embeddings/Microsoft_Excel_Worksheet125.xlsx"/></Relationships>
</file>

<file path=ppt/charts/_rels/chart126.xml.rels><?xml version='1.0' encoding='UTF-8' standalone='yes'?>
<Relationships xmlns="http://schemas.openxmlformats.org/package/2006/relationships"><Relationship Id="rId1" Type="http://schemas.openxmlformats.org/officeDocument/2006/relationships/package" Target="../embeddings/Microsoft_Excel_Worksheet126.xlsx"/></Relationships>
</file>

<file path=ppt/charts/_rels/chart127.xml.rels><?xml version='1.0' encoding='UTF-8' standalone='yes'?>
<Relationships xmlns="http://schemas.openxmlformats.org/package/2006/relationships"><Relationship Id="rId1" Type="http://schemas.openxmlformats.org/officeDocument/2006/relationships/package" Target="../embeddings/Microsoft_Excel_Worksheet127.xlsx"/></Relationships>
</file>

<file path=ppt/charts/_rels/chart128.xml.rels><?xml version='1.0' encoding='UTF-8' standalone='yes'?>
<Relationships xmlns="http://schemas.openxmlformats.org/package/2006/relationships"><Relationship Id="rId1" Type="http://schemas.openxmlformats.org/officeDocument/2006/relationships/package" Target="../embeddings/Microsoft_Excel_Worksheet128.xlsx"/></Relationships>
</file>

<file path=ppt/charts/_rels/chart129.xml.rels><?xml version='1.0' encoding='UTF-8' standalone='yes'?>
<Relationships xmlns="http://schemas.openxmlformats.org/package/2006/relationships"><Relationship Id="rId1" Type="http://schemas.openxmlformats.org/officeDocument/2006/relationships/package" Target="../embeddings/Microsoft_Excel_Worksheet129.xlsx"/></Relationships>
</file>

<file path=ppt/charts/_rels/chart130.xml.rels><?xml version='1.0' encoding='UTF-8' standalone='yes'?>
<Relationships xmlns="http://schemas.openxmlformats.org/package/2006/relationships"><Relationship Id="rId1" Type="http://schemas.openxmlformats.org/officeDocument/2006/relationships/package" Target="../embeddings/Microsoft_Excel_Worksheet130.xlsx"/></Relationships>
</file>

<file path=ppt/charts/_rels/chart131.xml.rels><?xml version='1.0' encoding='UTF-8' standalone='yes'?>
<Relationships xmlns="http://schemas.openxmlformats.org/package/2006/relationships"><Relationship Id="rId1" Type="http://schemas.openxmlformats.org/officeDocument/2006/relationships/package" Target="../embeddings/Microsoft_Excel_Worksheet131.xlsx"/></Relationships>
</file>

<file path=ppt/charts/_rels/chart132.xml.rels><?xml version='1.0' encoding='UTF-8' standalone='yes'?>
<Relationships xmlns="http://schemas.openxmlformats.org/package/2006/relationships"><Relationship Id="rId1" Type="http://schemas.openxmlformats.org/officeDocument/2006/relationships/package" Target="../embeddings/Microsoft_Excel_Worksheet132.xlsx"/></Relationships>
</file>

<file path=ppt/charts/_rels/chart133.xml.rels><?xml version='1.0' encoding='UTF-8' standalone='yes'?>
<Relationships xmlns="http://schemas.openxmlformats.org/package/2006/relationships"><Relationship Id="rId1" Type="http://schemas.openxmlformats.org/officeDocument/2006/relationships/package" Target="../embeddings/Microsoft_Excel_Worksheet133.xlsx"/></Relationships>
</file>

<file path=ppt/charts/_rels/chart134.xml.rels><?xml version='1.0' encoding='UTF-8' standalone='yes'?>
<Relationships xmlns="http://schemas.openxmlformats.org/package/2006/relationships"><Relationship Id="rId1" Type="http://schemas.openxmlformats.org/officeDocument/2006/relationships/package" Target="../embeddings/Microsoft_Excel_Worksheet134.xlsx"/></Relationships>
</file>

<file path=ppt/charts/_rels/chart135.xml.rels><?xml version='1.0' encoding='UTF-8' standalone='yes'?>
<Relationships xmlns="http://schemas.openxmlformats.org/package/2006/relationships"><Relationship Id="rId1" Type="http://schemas.openxmlformats.org/officeDocument/2006/relationships/package" Target="../embeddings/Microsoft_Excel_Worksheet135.xlsx"/></Relationships>
</file>

<file path=ppt/charts/_rels/chart136.xml.rels><?xml version='1.0' encoding='UTF-8' standalone='yes'?>
<Relationships xmlns="http://schemas.openxmlformats.org/package/2006/relationships"><Relationship Id="rId1" Type="http://schemas.openxmlformats.org/officeDocument/2006/relationships/package" Target="../embeddings/Microsoft_Excel_Worksheet136.xlsx"/></Relationships>
</file>

<file path=ppt/charts/_rels/chart137.xml.rels><?xml version='1.0' encoding='UTF-8' standalone='yes'?>
<Relationships xmlns="http://schemas.openxmlformats.org/package/2006/relationships"><Relationship Id="rId1" Type="http://schemas.openxmlformats.org/officeDocument/2006/relationships/package" Target="../embeddings/Microsoft_Excel_Worksheet137.xlsx"/></Relationships>
</file>

<file path=ppt/charts/_rels/chart138.xml.rels><?xml version='1.0' encoding='UTF-8' standalone='yes'?>
<Relationships xmlns="http://schemas.openxmlformats.org/package/2006/relationships"><Relationship Id="rId1" Type="http://schemas.openxmlformats.org/officeDocument/2006/relationships/package" Target="../embeddings/Microsoft_Excel_Worksheet138.xlsx"/></Relationships>
</file>

<file path=ppt/charts/_rels/chart139.xml.rels><?xml version='1.0' encoding='UTF-8' standalone='yes'?>
<Relationships xmlns="http://schemas.openxmlformats.org/package/2006/relationships"><Relationship Id="rId1" Type="http://schemas.openxmlformats.org/officeDocument/2006/relationships/package" Target="../embeddings/Microsoft_Excel_Worksheet139.xlsx"/></Relationships>
</file>

<file path=ppt/charts/_rels/chart140.xml.rels><?xml version='1.0' encoding='UTF-8' standalone='yes'?>
<Relationships xmlns="http://schemas.openxmlformats.org/package/2006/relationships"><Relationship Id="rId1" Type="http://schemas.openxmlformats.org/officeDocument/2006/relationships/package" Target="../embeddings/Microsoft_Excel_Worksheet140.xlsx"/></Relationships>
</file>

<file path=ppt/charts/_rels/chart141.xml.rels><?xml version='1.0' encoding='UTF-8' standalone='yes'?>
<Relationships xmlns="http://schemas.openxmlformats.org/package/2006/relationships"><Relationship Id="rId1" Type="http://schemas.openxmlformats.org/officeDocument/2006/relationships/package" Target="../embeddings/Microsoft_Excel_Worksheet141.xlsx"/></Relationships>
</file>

<file path=ppt/charts/_rels/chart142.xml.rels><?xml version='1.0' encoding='UTF-8' standalone='yes'?>
<Relationships xmlns="http://schemas.openxmlformats.org/package/2006/relationships"><Relationship Id="rId1" Type="http://schemas.openxmlformats.org/officeDocument/2006/relationships/package" Target="../embeddings/Microsoft_Excel_Worksheet142.xlsx"/></Relationships>
</file>

<file path=ppt/charts/_rels/chart143.xml.rels><?xml version='1.0' encoding='UTF-8' standalone='yes'?>
<Relationships xmlns="http://schemas.openxmlformats.org/package/2006/relationships"><Relationship Id="rId1" Type="http://schemas.openxmlformats.org/officeDocument/2006/relationships/package" Target="../embeddings/Microsoft_Excel_Worksheet143.xlsx"/></Relationships>
</file>

<file path=ppt/charts/_rels/chart144.xml.rels><?xml version='1.0' encoding='UTF-8' standalone='yes'?>
<Relationships xmlns="http://schemas.openxmlformats.org/package/2006/relationships"><Relationship Id="rId1" Type="http://schemas.openxmlformats.org/officeDocument/2006/relationships/package" Target="../embeddings/Microsoft_Excel_Worksheet144.xlsx"/></Relationships>
</file>

<file path=ppt/charts/_rels/chart145.xml.rels><?xml version='1.0' encoding='UTF-8' standalone='yes'?>
<Relationships xmlns="http://schemas.openxmlformats.org/package/2006/relationships"><Relationship Id="rId1" Type="http://schemas.openxmlformats.org/officeDocument/2006/relationships/package" Target="../embeddings/Microsoft_Excel_Worksheet145.xlsx"/></Relationships>
</file>

<file path=ppt/charts/_rels/chart146.xml.rels><?xml version='1.0' encoding='UTF-8' standalone='yes'?>
<Relationships xmlns="http://schemas.openxmlformats.org/package/2006/relationships"><Relationship Id="rId1" Type="http://schemas.openxmlformats.org/officeDocument/2006/relationships/package" Target="../embeddings/Microsoft_Excel_Worksheet146.xlsx"/></Relationships>
</file>

<file path=ppt/charts/_rels/chart147.xml.rels><?xml version='1.0' encoding='UTF-8' standalone='yes'?>
<Relationships xmlns="http://schemas.openxmlformats.org/package/2006/relationships"><Relationship Id="rId1" Type="http://schemas.openxmlformats.org/officeDocument/2006/relationships/package" Target="../embeddings/Microsoft_Excel_Worksheet147.xlsx"/></Relationships>
</file>

<file path=ppt/charts/_rels/chart148.xml.rels><?xml version='1.0' encoding='UTF-8' standalone='yes'?>
<Relationships xmlns="http://schemas.openxmlformats.org/package/2006/relationships"><Relationship Id="rId1" Type="http://schemas.openxmlformats.org/officeDocument/2006/relationships/package" Target="../embeddings/Microsoft_Excel_Worksheet148.xlsx"/></Relationships>
</file>

<file path=ppt/charts/_rels/chart149.xml.rels><?xml version='1.0' encoding='UTF-8' standalone='yes'?>
<Relationships xmlns="http://schemas.openxmlformats.org/package/2006/relationships"><Relationship Id="rId1" Type="http://schemas.openxmlformats.org/officeDocument/2006/relationships/package" Target="../embeddings/Microsoft_Excel_Worksheet149.xlsx"/></Relationships>
</file>

<file path=ppt/charts/_rels/chart150.xml.rels><?xml version='1.0' encoding='UTF-8' standalone='yes'?>
<Relationships xmlns="http://schemas.openxmlformats.org/package/2006/relationships"><Relationship Id="rId1" Type="http://schemas.openxmlformats.org/officeDocument/2006/relationships/package" Target="../embeddings/Microsoft_Excel_Worksheet150.xlsx"/></Relationships>
</file>

<file path=ppt/charts/_rels/chart151.xml.rels><?xml version='1.0' encoding='UTF-8' standalone='yes'?>
<Relationships xmlns="http://schemas.openxmlformats.org/package/2006/relationships"><Relationship Id="rId1" Type="http://schemas.openxmlformats.org/officeDocument/2006/relationships/package" Target="../embeddings/Microsoft_Excel_Worksheet151.xlsx"/></Relationships>
</file>

<file path=ppt/charts/_rels/chart152.xml.rels><?xml version='1.0' encoding='UTF-8' standalone='yes'?>
<Relationships xmlns="http://schemas.openxmlformats.org/package/2006/relationships"><Relationship Id="rId1" Type="http://schemas.openxmlformats.org/officeDocument/2006/relationships/package" Target="../embeddings/Microsoft_Excel_Worksheet152.xlsx"/></Relationships>
</file>

<file path=ppt/charts/_rels/chart153.xml.rels><?xml version='1.0' encoding='UTF-8' standalone='yes'?>
<Relationships xmlns="http://schemas.openxmlformats.org/package/2006/relationships"><Relationship Id="rId1" Type="http://schemas.openxmlformats.org/officeDocument/2006/relationships/package" Target="../embeddings/Microsoft_Excel_Worksheet153.xlsx"/></Relationships>
</file>

<file path=ppt/charts/_rels/chart154.xml.rels><?xml version='1.0' encoding='UTF-8' standalone='yes'?>
<Relationships xmlns="http://schemas.openxmlformats.org/package/2006/relationships"><Relationship Id="rId1" Type="http://schemas.openxmlformats.org/officeDocument/2006/relationships/package" Target="../embeddings/Microsoft_Excel_Worksheet154.xlsx"/></Relationships>
</file>

<file path=ppt/charts/_rels/chart155.xml.rels><?xml version='1.0' encoding='UTF-8' standalone='yes'?>
<Relationships xmlns="http://schemas.openxmlformats.org/package/2006/relationships"><Relationship Id="rId1" Type="http://schemas.openxmlformats.org/officeDocument/2006/relationships/package" Target="../embeddings/Microsoft_Excel_Worksheet155.xlsx"/></Relationships>
</file>

<file path=ppt/charts/_rels/chart156.xml.rels><?xml version='1.0' encoding='UTF-8' standalone='yes'?>
<Relationships xmlns="http://schemas.openxmlformats.org/package/2006/relationships"><Relationship Id="rId1" Type="http://schemas.openxmlformats.org/officeDocument/2006/relationships/package" Target="../embeddings/Microsoft_Excel_Worksheet156.xlsx"/></Relationships>
</file>

<file path=ppt/charts/_rels/chart157.xml.rels><?xml version='1.0' encoding='UTF-8' standalone='yes'?>
<Relationships xmlns="http://schemas.openxmlformats.org/package/2006/relationships"><Relationship Id="rId1" Type="http://schemas.openxmlformats.org/officeDocument/2006/relationships/package" Target="../embeddings/Microsoft_Excel_Worksheet157.xlsx"/></Relationships>
</file>

<file path=ppt/charts/_rels/chart158.xml.rels><?xml version='1.0' encoding='UTF-8' standalone='yes'?>
<Relationships xmlns="http://schemas.openxmlformats.org/package/2006/relationships"><Relationship Id="rId1" Type="http://schemas.openxmlformats.org/officeDocument/2006/relationships/package" Target="../embeddings/Microsoft_Excel_Worksheet158.xlsx"/></Relationships>
</file>

<file path=ppt/charts/_rels/chart159.xml.rels><?xml version='1.0' encoding='UTF-8' standalone='yes'?>
<Relationships xmlns="http://schemas.openxmlformats.org/package/2006/relationships"><Relationship Id="rId1" Type="http://schemas.openxmlformats.org/officeDocument/2006/relationships/package" Target="../embeddings/Microsoft_Excel_Worksheet159.xlsx"/></Relationships>
</file>

<file path=ppt/charts/_rels/chart160.xml.rels><?xml version='1.0' encoding='UTF-8' standalone='yes'?>
<Relationships xmlns="http://schemas.openxmlformats.org/package/2006/relationships"><Relationship Id="rId1" Type="http://schemas.openxmlformats.org/officeDocument/2006/relationships/package" Target="../embeddings/Microsoft_Excel_Worksheet160.xlsx"/></Relationships>
</file>

<file path=ppt/charts/_rels/chart161.xml.rels><?xml version='1.0' encoding='UTF-8' standalone='yes'?>
<Relationships xmlns="http://schemas.openxmlformats.org/package/2006/relationships"><Relationship Id="rId1" Type="http://schemas.openxmlformats.org/officeDocument/2006/relationships/package" Target="../embeddings/Microsoft_Excel_Worksheet161.xlsx"/></Relationships>
</file>

<file path=ppt/charts/_rels/chart162.xml.rels><?xml version='1.0' encoding='UTF-8' standalone='yes'?>
<Relationships xmlns="http://schemas.openxmlformats.org/package/2006/relationships"><Relationship Id="rId1" Type="http://schemas.openxmlformats.org/officeDocument/2006/relationships/package" Target="../embeddings/Microsoft_Excel_Worksheet162.xlsx"/></Relationships>
</file>

<file path=ppt/charts/_rels/chart163.xml.rels><?xml version='1.0' encoding='UTF-8' standalone='yes'?>
<Relationships xmlns="http://schemas.openxmlformats.org/package/2006/relationships"><Relationship Id="rId1" Type="http://schemas.openxmlformats.org/officeDocument/2006/relationships/package" Target="../embeddings/Microsoft_Excel_Worksheet163.xlsx"/></Relationships>
</file>

<file path=ppt/charts/_rels/chart164.xml.rels><?xml version='1.0' encoding='UTF-8' standalone='yes'?>
<Relationships xmlns="http://schemas.openxmlformats.org/package/2006/relationships"><Relationship Id="rId1" Type="http://schemas.openxmlformats.org/officeDocument/2006/relationships/package" Target="../embeddings/Microsoft_Excel_Worksheet164.xlsx"/></Relationships>
</file>

<file path=ppt/charts/_rels/chart165.xml.rels><?xml version='1.0' encoding='UTF-8' standalone='yes'?>
<Relationships xmlns="http://schemas.openxmlformats.org/package/2006/relationships"><Relationship Id="rId1" Type="http://schemas.openxmlformats.org/officeDocument/2006/relationships/package" Target="../embeddings/Microsoft_Excel_Worksheet165.xlsx"/></Relationships>
</file>

<file path=ppt/charts/_rels/chart166.xml.rels><?xml version='1.0' encoding='UTF-8' standalone='yes'?>
<Relationships xmlns="http://schemas.openxmlformats.org/package/2006/relationships"><Relationship Id="rId1" Type="http://schemas.openxmlformats.org/officeDocument/2006/relationships/package" Target="../embeddings/Microsoft_Excel_Worksheet166.xlsx"/></Relationships>
</file>

<file path=ppt/charts/_rels/chart167.xml.rels><?xml version='1.0' encoding='UTF-8' standalone='yes'?>
<Relationships xmlns="http://schemas.openxmlformats.org/package/2006/relationships"><Relationship Id="rId1" Type="http://schemas.openxmlformats.org/officeDocument/2006/relationships/package" Target="../embeddings/Microsoft_Excel_Worksheet167.xlsx"/></Relationships>
</file>

<file path=ppt/charts/_rels/chart168.xml.rels><?xml version='1.0' encoding='UTF-8' standalone='yes'?>
<Relationships xmlns="http://schemas.openxmlformats.org/package/2006/relationships"><Relationship Id="rId1" Type="http://schemas.openxmlformats.org/officeDocument/2006/relationships/package" Target="../embeddings/Microsoft_Excel_Worksheet168.xlsx"/></Relationships>
</file>

<file path=ppt/charts/_rels/chart169.xml.rels><?xml version='1.0' encoding='UTF-8' standalone='yes'?>
<Relationships xmlns="http://schemas.openxmlformats.org/package/2006/relationships"><Relationship Id="rId1" Type="http://schemas.openxmlformats.org/officeDocument/2006/relationships/package" Target="../embeddings/Microsoft_Excel_Worksheet169.xlsx"/></Relationships>
</file>

<file path=ppt/charts/_rels/chart170.xml.rels><?xml version='1.0' encoding='UTF-8' standalone='yes'?>
<Relationships xmlns="http://schemas.openxmlformats.org/package/2006/relationships"><Relationship Id="rId1" Type="http://schemas.openxmlformats.org/officeDocument/2006/relationships/package" Target="../embeddings/Microsoft_Excel_Worksheet170.xlsx"/></Relationships>
</file>

<file path=ppt/charts/_rels/chart171.xml.rels><?xml version='1.0' encoding='UTF-8' standalone='yes'?>
<Relationships xmlns="http://schemas.openxmlformats.org/package/2006/relationships"><Relationship Id="rId1" Type="http://schemas.openxmlformats.org/officeDocument/2006/relationships/package" Target="../embeddings/Microsoft_Excel_Worksheet171.xlsx"/></Relationships>
</file>

<file path=ppt/charts/_rels/chart172.xml.rels><?xml version='1.0' encoding='UTF-8' standalone='yes'?>
<Relationships xmlns="http://schemas.openxmlformats.org/package/2006/relationships"><Relationship Id="rId1" Type="http://schemas.openxmlformats.org/officeDocument/2006/relationships/package" Target="../embeddings/Microsoft_Excel_Worksheet172.xlsx"/></Relationships>
</file>

<file path=ppt/charts/_rels/chart173.xml.rels><?xml version='1.0' encoding='UTF-8' standalone='yes'?>
<Relationships xmlns="http://schemas.openxmlformats.org/package/2006/relationships"><Relationship Id="rId1" Type="http://schemas.openxmlformats.org/officeDocument/2006/relationships/package" Target="../embeddings/Microsoft_Excel_Worksheet173.xlsx"/></Relationships>
</file>

<file path=ppt/charts/_rels/chart174.xml.rels><?xml version='1.0' encoding='UTF-8' standalone='yes'?>
<Relationships xmlns="http://schemas.openxmlformats.org/package/2006/relationships"><Relationship Id="rId1" Type="http://schemas.openxmlformats.org/officeDocument/2006/relationships/package" Target="../embeddings/Microsoft_Excel_Worksheet174.xlsx"/></Relationships>
</file>

<file path=ppt/charts/_rels/chart175.xml.rels><?xml version='1.0' encoding='UTF-8' standalone='yes'?>
<Relationships xmlns="http://schemas.openxmlformats.org/package/2006/relationships"><Relationship Id="rId1" Type="http://schemas.openxmlformats.org/officeDocument/2006/relationships/package" Target="../embeddings/Microsoft_Excel_Worksheet175.xlsx"/></Relationships>
</file>

<file path=ppt/charts/_rels/chart176.xml.rels><?xml version='1.0' encoding='UTF-8' standalone='yes'?>
<Relationships xmlns="http://schemas.openxmlformats.org/package/2006/relationships"><Relationship Id="rId1" Type="http://schemas.openxmlformats.org/officeDocument/2006/relationships/package" Target="../embeddings/Microsoft_Excel_Worksheet176.xlsx"/></Relationships>
</file>

<file path=ppt/charts/_rels/chart177.xml.rels><?xml version='1.0' encoding='UTF-8' standalone='yes'?>
<Relationships xmlns="http://schemas.openxmlformats.org/package/2006/relationships"><Relationship Id="rId1" Type="http://schemas.openxmlformats.org/officeDocument/2006/relationships/package" Target="../embeddings/Microsoft_Excel_Worksheet177.xlsx"/></Relationships>
</file>

<file path=ppt/charts/_rels/chart178.xml.rels><?xml version='1.0' encoding='UTF-8' standalone='yes'?>
<Relationships xmlns="http://schemas.openxmlformats.org/package/2006/relationships"><Relationship Id="rId1" Type="http://schemas.openxmlformats.org/officeDocument/2006/relationships/package" Target="../embeddings/Microsoft_Excel_Worksheet178.xlsx"/></Relationships>
</file>

<file path=ppt/charts/_rels/chart179.xml.rels><?xml version='1.0' encoding='UTF-8' standalone='yes'?>
<Relationships xmlns="http://schemas.openxmlformats.org/package/2006/relationships"><Relationship Id="rId1" Type="http://schemas.openxmlformats.org/officeDocument/2006/relationships/package" Target="../embeddings/Microsoft_Excel_Worksheet179.xlsx"/></Relationships>
</file>

<file path=ppt/charts/_rels/chart180.xml.rels><?xml version='1.0' encoding='UTF-8' standalone='yes'?>
<Relationships xmlns="http://schemas.openxmlformats.org/package/2006/relationships"><Relationship Id="rId1" Type="http://schemas.openxmlformats.org/officeDocument/2006/relationships/package" Target="../embeddings/Microsoft_Excel_Worksheet180.xlsx"/></Relationships>
</file>

<file path=ppt/charts/_rels/chart181.xml.rels><?xml version='1.0' encoding='UTF-8' standalone='yes'?>
<Relationships xmlns="http://schemas.openxmlformats.org/package/2006/relationships"><Relationship Id="rId1" Type="http://schemas.openxmlformats.org/officeDocument/2006/relationships/package" Target="../embeddings/Microsoft_Excel_Worksheet181.xlsx"/></Relationships>
</file>

<file path=ppt/charts/_rels/chart182.xml.rels><?xml version='1.0' encoding='UTF-8' standalone='yes'?>
<Relationships xmlns="http://schemas.openxmlformats.org/package/2006/relationships"><Relationship Id="rId1" Type="http://schemas.openxmlformats.org/officeDocument/2006/relationships/package" Target="../embeddings/Microsoft_Excel_Worksheet182.xlsx"/></Relationships>
</file>

<file path=ppt/charts/_rels/chart183.xml.rels><?xml version='1.0' encoding='UTF-8' standalone='yes'?>
<Relationships xmlns="http://schemas.openxmlformats.org/package/2006/relationships"><Relationship Id="rId1" Type="http://schemas.openxmlformats.org/officeDocument/2006/relationships/package" Target="../embeddings/Microsoft_Excel_Worksheet183.xlsx"/></Relationships>
</file>

<file path=ppt/charts/_rels/chart184.xml.rels><?xml version='1.0' encoding='UTF-8' standalone='yes'?>
<Relationships xmlns="http://schemas.openxmlformats.org/package/2006/relationships"><Relationship Id="rId1" Type="http://schemas.openxmlformats.org/officeDocument/2006/relationships/package" Target="../embeddings/Microsoft_Excel_Worksheet184.xlsx"/></Relationships>
</file>

<file path=ppt/charts/_rels/chart185.xml.rels><?xml version='1.0' encoding='UTF-8' standalone='yes'?>
<Relationships xmlns="http://schemas.openxmlformats.org/package/2006/relationships"><Relationship Id="rId1" Type="http://schemas.openxmlformats.org/officeDocument/2006/relationships/package" Target="../embeddings/Microsoft_Excel_Worksheet185.xlsx"/></Relationships>
</file>

<file path=ppt/charts/_rels/chart186.xml.rels><?xml version='1.0' encoding='UTF-8' standalone='yes'?>
<Relationships xmlns="http://schemas.openxmlformats.org/package/2006/relationships"><Relationship Id="rId1" Type="http://schemas.openxmlformats.org/officeDocument/2006/relationships/package" Target="../embeddings/Microsoft_Excel_Worksheet186.xlsx"/></Relationships>
</file>

<file path=ppt/charts/_rels/chart187.xml.rels><?xml version='1.0' encoding='UTF-8' standalone='yes'?>
<Relationships xmlns="http://schemas.openxmlformats.org/package/2006/relationships"><Relationship Id="rId1" Type="http://schemas.openxmlformats.org/officeDocument/2006/relationships/package" Target="../embeddings/Microsoft_Excel_Worksheet187.xlsx"/></Relationships>
</file>

<file path=ppt/charts/_rels/chart188.xml.rels><?xml version='1.0' encoding='UTF-8' standalone='yes'?>
<Relationships xmlns="http://schemas.openxmlformats.org/package/2006/relationships"><Relationship Id="rId1" Type="http://schemas.openxmlformats.org/officeDocument/2006/relationships/package" Target="../embeddings/Microsoft_Excel_Worksheet188.xlsx"/></Relationships>
</file>

<file path=ppt/charts/_rels/chart189.xml.rels><?xml version='1.0' encoding='UTF-8' standalone='yes'?>
<Relationships xmlns="http://schemas.openxmlformats.org/package/2006/relationships"><Relationship Id="rId1" Type="http://schemas.openxmlformats.org/officeDocument/2006/relationships/package" Target="../embeddings/Microsoft_Excel_Worksheet189.xlsx"/></Relationships>
</file>

<file path=ppt/charts/_rels/chart190.xml.rels><?xml version='1.0' encoding='UTF-8' standalone='yes'?>
<Relationships xmlns="http://schemas.openxmlformats.org/package/2006/relationships"><Relationship Id="rId1" Type="http://schemas.openxmlformats.org/officeDocument/2006/relationships/package" Target="../embeddings/Microsoft_Excel_Worksheet190.xlsx"/></Relationships>
</file>

<file path=ppt/charts/_rels/chart191.xml.rels><?xml version='1.0' encoding='UTF-8' standalone='yes'?>
<Relationships xmlns="http://schemas.openxmlformats.org/package/2006/relationships"><Relationship Id="rId1" Type="http://schemas.openxmlformats.org/officeDocument/2006/relationships/package" Target="../embeddings/Microsoft_Excel_Worksheet191.xlsx"/></Relationships>
</file>

<file path=ppt/charts/_rels/chart192.xml.rels><?xml version='1.0' encoding='UTF-8' standalone='yes'?>
<Relationships xmlns="http://schemas.openxmlformats.org/package/2006/relationships"><Relationship Id="rId1" Type="http://schemas.openxmlformats.org/officeDocument/2006/relationships/package" Target="../embeddings/Microsoft_Excel_Worksheet192.xlsx"/></Relationships>
</file>

<file path=ppt/charts/_rels/chart193.xml.rels><?xml version='1.0' encoding='UTF-8' standalone='yes'?>
<Relationships xmlns="http://schemas.openxmlformats.org/package/2006/relationships"><Relationship Id="rId1" Type="http://schemas.openxmlformats.org/officeDocument/2006/relationships/package" Target="../embeddings/Microsoft_Excel_Worksheet193.xlsx"/></Relationships>
</file>

<file path=ppt/charts/_rels/chart194.xml.rels><?xml version='1.0' encoding='UTF-8' standalone='yes'?>
<Relationships xmlns="http://schemas.openxmlformats.org/package/2006/relationships"><Relationship Id="rId1" Type="http://schemas.openxmlformats.org/officeDocument/2006/relationships/package" Target="../embeddings/Microsoft_Excel_Worksheet194.xlsx"/></Relationships>
</file>

<file path=ppt/charts/_rels/chart195.xml.rels><?xml version='1.0' encoding='UTF-8' standalone='yes'?>
<Relationships xmlns="http://schemas.openxmlformats.org/package/2006/relationships"><Relationship Id="rId1" Type="http://schemas.openxmlformats.org/officeDocument/2006/relationships/package" Target="../embeddings/Microsoft_Excel_Worksheet195.xlsx"/></Relationships>
</file>

<file path=ppt/charts/_rels/chart196.xml.rels><?xml version='1.0' encoding='UTF-8' standalone='yes'?>
<Relationships xmlns="http://schemas.openxmlformats.org/package/2006/relationships"><Relationship Id="rId1" Type="http://schemas.openxmlformats.org/officeDocument/2006/relationships/package" Target="../embeddings/Microsoft_Excel_Worksheet196.xlsx"/></Relationships>
</file>

<file path=ppt/charts/_rels/chart197.xml.rels><?xml version='1.0' encoding='UTF-8' standalone='yes'?>
<Relationships xmlns="http://schemas.openxmlformats.org/package/2006/relationships"><Relationship Id="rId1" Type="http://schemas.openxmlformats.org/officeDocument/2006/relationships/package" Target="../embeddings/Microsoft_Excel_Worksheet197.xlsx"/></Relationships>
</file>

<file path=ppt/charts/_rels/chart198.xml.rels><?xml version='1.0' encoding='UTF-8' standalone='yes'?>
<Relationships xmlns="http://schemas.openxmlformats.org/package/2006/relationships"><Relationship Id="rId1" Type="http://schemas.openxmlformats.org/officeDocument/2006/relationships/package" Target="../embeddings/Microsoft_Excel_Worksheet198.xlsx"/></Relationships>
</file>

<file path=ppt/charts/_rels/chart199.xml.rels><?xml version='1.0' encoding='UTF-8' standalone='yes'?>
<Relationships xmlns="http://schemas.openxmlformats.org/package/2006/relationships"><Relationship Id="rId1" Type="http://schemas.openxmlformats.org/officeDocument/2006/relationships/package" Target="../embeddings/Microsoft_Excel_Worksheet199.xlsx"/></Relationships>
</file>

<file path=ppt/charts/_rels/chart200.xml.rels><?xml version='1.0' encoding='UTF-8' standalone='yes'?>
<Relationships xmlns="http://schemas.openxmlformats.org/package/2006/relationships"><Relationship Id="rId1" Type="http://schemas.openxmlformats.org/officeDocument/2006/relationships/package" Target="../embeddings/Microsoft_Excel_Worksheet200.xlsx"/></Relationships>
</file>

<file path=ppt/charts/_rels/chart201.xml.rels><?xml version='1.0' encoding='UTF-8' standalone='yes'?>
<Relationships xmlns="http://schemas.openxmlformats.org/package/2006/relationships"><Relationship Id="rId1" Type="http://schemas.openxmlformats.org/officeDocument/2006/relationships/package" Target="../embeddings/Microsoft_Excel_Worksheet201.xlsx"/></Relationships>
</file>

<file path=ppt/charts/_rels/chart202.xml.rels><?xml version='1.0' encoding='UTF-8' standalone='yes'?>
<Relationships xmlns="http://schemas.openxmlformats.org/package/2006/relationships"><Relationship Id="rId1" Type="http://schemas.openxmlformats.org/officeDocument/2006/relationships/package" Target="../embeddings/Microsoft_Excel_Worksheet202.xlsx"/></Relationships>
</file>

<file path=ppt/charts/_rels/chart203.xml.rels><?xml version='1.0' encoding='UTF-8' standalone='yes'?>
<Relationships xmlns="http://schemas.openxmlformats.org/package/2006/relationships"><Relationship Id="rId1" Type="http://schemas.openxmlformats.org/officeDocument/2006/relationships/package" Target="../embeddings/Microsoft_Excel_Worksheet203.xlsx"/></Relationships>
</file>

<file path=ppt/charts/_rels/chart204.xml.rels><?xml version='1.0' encoding='UTF-8' standalone='yes'?>
<Relationships xmlns="http://schemas.openxmlformats.org/package/2006/relationships"><Relationship Id="rId1" Type="http://schemas.openxmlformats.org/officeDocument/2006/relationships/package" Target="../embeddings/Microsoft_Excel_Worksheet204.xlsx"/></Relationships>
</file>

<file path=ppt/charts/_rels/chart205.xml.rels><?xml version='1.0' encoding='UTF-8' standalone='yes'?>
<Relationships xmlns="http://schemas.openxmlformats.org/package/2006/relationships"><Relationship Id="rId1" Type="http://schemas.openxmlformats.org/officeDocument/2006/relationships/package" Target="../embeddings/Microsoft_Excel_Worksheet205.xlsx"/></Relationships>
</file>

<file path=ppt/charts/_rels/chart206.xml.rels><?xml version='1.0' encoding='UTF-8' standalone='yes'?>
<Relationships xmlns="http://schemas.openxmlformats.org/package/2006/relationships"><Relationship Id="rId1" Type="http://schemas.openxmlformats.org/officeDocument/2006/relationships/package" Target="../embeddings/Microsoft_Excel_Worksheet206.xlsx"/></Relationships>
</file>

<file path=ppt/charts/_rels/chart207.xml.rels><?xml version='1.0' encoding='UTF-8' standalone='yes'?>
<Relationships xmlns="http://schemas.openxmlformats.org/package/2006/relationships"><Relationship Id="rId1" Type="http://schemas.openxmlformats.org/officeDocument/2006/relationships/package" Target="../embeddings/Microsoft_Excel_Worksheet207.xlsx"/></Relationships>
</file>

<file path=ppt/charts/_rels/chart208.xml.rels><?xml version='1.0' encoding='UTF-8' standalone='yes'?>
<Relationships xmlns="http://schemas.openxmlformats.org/package/2006/relationships"><Relationship Id="rId1" Type="http://schemas.openxmlformats.org/officeDocument/2006/relationships/package" Target="../embeddings/Microsoft_Excel_Worksheet208.xlsx"/></Relationships>
</file>

<file path=ppt/charts/_rels/chart209.xml.rels><?xml version='1.0' encoding='UTF-8' standalone='yes'?>
<Relationships xmlns="http://schemas.openxmlformats.org/package/2006/relationships"><Relationship Id="rId1" Type="http://schemas.openxmlformats.org/officeDocument/2006/relationships/package" Target="../embeddings/Microsoft_Excel_Worksheet209.xlsx"/></Relationships>
</file>

<file path=ppt/charts/_rels/chart210.xml.rels><?xml version='1.0' encoding='UTF-8' standalone='yes'?>
<Relationships xmlns="http://schemas.openxmlformats.org/package/2006/relationships"><Relationship Id="rId1" Type="http://schemas.openxmlformats.org/officeDocument/2006/relationships/package" Target="../embeddings/Microsoft_Excel_Worksheet210.xlsx"/></Relationships>
</file>

<file path=ppt/charts/_rels/chart211.xml.rels><?xml version='1.0' encoding='UTF-8' standalone='yes'?>
<Relationships xmlns="http://schemas.openxmlformats.org/package/2006/relationships"><Relationship Id="rId1" Type="http://schemas.openxmlformats.org/officeDocument/2006/relationships/package" Target="../embeddings/Microsoft_Excel_Worksheet211.xlsx"/></Relationships>
</file>

<file path=ppt/charts/_rels/chart212.xml.rels><?xml version='1.0' encoding='UTF-8' standalone='yes'?>
<Relationships xmlns="http://schemas.openxmlformats.org/package/2006/relationships"><Relationship Id="rId1" Type="http://schemas.openxmlformats.org/officeDocument/2006/relationships/package" Target="../embeddings/Microsoft_Excel_Worksheet212.xlsx"/></Relationships>
</file>

<file path=ppt/charts/_rels/chart213.xml.rels><?xml version='1.0' encoding='UTF-8' standalone='yes'?>
<Relationships xmlns="http://schemas.openxmlformats.org/package/2006/relationships"><Relationship Id="rId1" Type="http://schemas.openxmlformats.org/officeDocument/2006/relationships/package" Target="../embeddings/Microsoft_Excel_Worksheet213.xlsx"/></Relationships>
</file>

<file path=ppt/charts/_rels/chart214.xml.rels><?xml version='1.0' encoding='UTF-8' standalone='yes'?>
<Relationships xmlns="http://schemas.openxmlformats.org/package/2006/relationships"><Relationship Id="rId1" Type="http://schemas.openxmlformats.org/officeDocument/2006/relationships/package" Target="../embeddings/Microsoft_Excel_Worksheet214.xlsx"/></Relationships>
</file>

<file path=ppt/charts/_rels/chart215.xml.rels><?xml version='1.0' encoding='UTF-8' standalone='yes'?>
<Relationships xmlns="http://schemas.openxmlformats.org/package/2006/relationships"><Relationship Id="rId1" Type="http://schemas.openxmlformats.org/officeDocument/2006/relationships/package" Target="../embeddings/Microsoft_Excel_Worksheet215.xlsx"/></Relationships>
</file>

<file path=ppt/charts/_rels/chart216.xml.rels><?xml version='1.0' encoding='UTF-8' standalone='yes'?>
<Relationships xmlns="http://schemas.openxmlformats.org/package/2006/relationships"><Relationship Id="rId1" Type="http://schemas.openxmlformats.org/officeDocument/2006/relationships/package" Target="../embeddings/Microsoft_Excel_Worksheet216.xlsx"/></Relationships>
</file>

<file path=ppt/charts/_rels/chart217.xml.rels><?xml version='1.0' encoding='UTF-8' standalone='yes'?>
<Relationships xmlns="http://schemas.openxmlformats.org/package/2006/relationships"><Relationship Id="rId1" Type="http://schemas.openxmlformats.org/officeDocument/2006/relationships/package" Target="../embeddings/Microsoft_Excel_Worksheet217.xlsx"/></Relationships>
</file>

<file path=ppt/charts/_rels/chart218.xml.rels><?xml version='1.0' encoding='UTF-8' standalone='yes'?>
<Relationships xmlns="http://schemas.openxmlformats.org/package/2006/relationships"><Relationship Id="rId1" Type="http://schemas.openxmlformats.org/officeDocument/2006/relationships/package" Target="../embeddings/Microsoft_Excel_Worksheet218.xlsx"/></Relationships>
</file>

<file path=ppt/charts/_rels/chart219.xml.rels><?xml version='1.0' encoding='UTF-8' standalone='yes'?>
<Relationships xmlns="http://schemas.openxmlformats.org/package/2006/relationships"><Relationship Id="rId1" Type="http://schemas.openxmlformats.org/officeDocument/2006/relationships/package" Target="../embeddings/Microsoft_Excel_Worksheet219.xlsx"/></Relationships>
</file>

<file path=ppt/charts/_rels/chart220.xml.rels><?xml version='1.0' encoding='UTF-8' standalone='yes'?>
<Relationships xmlns="http://schemas.openxmlformats.org/package/2006/relationships"><Relationship Id="rId1" Type="http://schemas.openxmlformats.org/officeDocument/2006/relationships/package" Target="../embeddings/Microsoft_Excel_Worksheet220.xlsx"/></Relationships>
</file>

<file path=ppt/charts/_rels/chart221.xml.rels><?xml version='1.0' encoding='UTF-8' standalone='yes'?>
<Relationships xmlns="http://schemas.openxmlformats.org/package/2006/relationships"><Relationship Id="rId1" Type="http://schemas.openxmlformats.org/officeDocument/2006/relationships/package" Target="../embeddings/Microsoft_Excel_Worksheet221.xlsx"/></Relationships>
</file>

<file path=ppt/charts/_rels/chart222.xml.rels><?xml version='1.0' encoding='UTF-8' standalone='yes'?>
<Relationships xmlns="http://schemas.openxmlformats.org/package/2006/relationships"><Relationship Id="rId1" Type="http://schemas.openxmlformats.org/officeDocument/2006/relationships/package" Target="../embeddings/Microsoft_Excel_Worksheet222.xlsx"/></Relationships>
</file>

<file path=ppt/charts/_rels/chart223.xml.rels><?xml version='1.0' encoding='UTF-8' standalone='yes'?>
<Relationships xmlns="http://schemas.openxmlformats.org/package/2006/relationships"><Relationship Id="rId1" Type="http://schemas.openxmlformats.org/officeDocument/2006/relationships/package" Target="../embeddings/Microsoft_Excel_Worksheet223.xlsx"/></Relationships>
</file>

<file path=ppt/charts/_rels/chart224.xml.rels><?xml version='1.0' encoding='UTF-8' standalone='yes'?>
<Relationships xmlns="http://schemas.openxmlformats.org/package/2006/relationships"><Relationship Id="rId1" Type="http://schemas.openxmlformats.org/officeDocument/2006/relationships/package" Target="../embeddings/Microsoft_Excel_Worksheet224.xlsx"/></Relationships>
</file>

<file path=ppt/charts/_rels/chart225.xml.rels><?xml version='1.0' encoding='UTF-8' standalone='yes'?>
<Relationships xmlns="http://schemas.openxmlformats.org/package/2006/relationships"><Relationship Id="rId1" Type="http://schemas.openxmlformats.org/officeDocument/2006/relationships/package" Target="../embeddings/Microsoft_Excel_Worksheet225.xlsx"/></Relationships>
</file>

<file path=ppt/charts/_rels/chart226.xml.rels><?xml version='1.0' encoding='UTF-8' standalone='yes'?>
<Relationships xmlns="http://schemas.openxmlformats.org/package/2006/relationships"><Relationship Id="rId1" Type="http://schemas.openxmlformats.org/officeDocument/2006/relationships/package" Target="../embeddings/Microsoft_Excel_Worksheet226.xlsx"/></Relationships>
</file>

<file path=ppt/charts/_rels/chart227.xml.rels><?xml version='1.0' encoding='UTF-8' standalone='yes'?>
<Relationships xmlns="http://schemas.openxmlformats.org/package/2006/relationships"><Relationship Id="rId1" Type="http://schemas.openxmlformats.org/officeDocument/2006/relationships/package" Target="../embeddings/Microsoft_Excel_Worksheet227.xlsx"/></Relationships>
</file>

<file path=ppt/charts/_rels/chart228.xml.rels><?xml version='1.0' encoding='UTF-8' standalone='yes'?>
<Relationships xmlns="http://schemas.openxmlformats.org/package/2006/relationships"><Relationship Id="rId1" Type="http://schemas.openxmlformats.org/officeDocument/2006/relationships/package" Target="../embeddings/Microsoft_Excel_Worksheet228.xlsx"/></Relationships>
</file>

<file path=ppt/charts/_rels/chart229.xml.rels><?xml version='1.0' encoding='UTF-8' standalone='yes'?>
<Relationships xmlns="http://schemas.openxmlformats.org/package/2006/relationships"><Relationship Id="rId1" Type="http://schemas.openxmlformats.org/officeDocument/2006/relationships/package" Target="../embeddings/Microsoft_Excel_Worksheet229.xlsx"/></Relationships>
</file>

<file path=ppt/charts/_rels/chart230.xml.rels><?xml version='1.0' encoding='UTF-8' standalone='yes'?>
<Relationships xmlns="http://schemas.openxmlformats.org/package/2006/relationships"><Relationship Id="rId1" Type="http://schemas.openxmlformats.org/officeDocument/2006/relationships/package" Target="../embeddings/Microsoft_Excel_Worksheet230.xlsx"/></Relationships>
</file>

<file path=ppt/charts/_rels/chart231.xml.rels><?xml version='1.0' encoding='UTF-8' standalone='yes'?>
<Relationships xmlns="http://schemas.openxmlformats.org/package/2006/relationships"><Relationship Id="rId1" Type="http://schemas.openxmlformats.org/officeDocument/2006/relationships/package" Target="../embeddings/Microsoft_Excel_Worksheet231.xlsx"/></Relationships>
</file>

<file path=ppt/charts/_rels/chart232.xml.rels><?xml version='1.0' encoding='UTF-8' standalone='yes'?>
<Relationships xmlns="http://schemas.openxmlformats.org/package/2006/relationships"><Relationship Id="rId1" Type="http://schemas.openxmlformats.org/officeDocument/2006/relationships/package" Target="../embeddings/Microsoft_Excel_Worksheet232.xlsx"/></Relationships>
</file>

<file path=ppt/charts/_rels/chart233.xml.rels><?xml version='1.0' encoding='UTF-8' standalone='yes'?>
<Relationships xmlns="http://schemas.openxmlformats.org/package/2006/relationships"><Relationship Id="rId1" Type="http://schemas.openxmlformats.org/officeDocument/2006/relationships/package" Target="../embeddings/Microsoft_Excel_Worksheet233.xlsx"/></Relationships>
</file>

<file path=ppt/charts/_rels/chart234.xml.rels><?xml version='1.0' encoding='UTF-8' standalone='yes'?>
<Relationships xmlns="http://schemas.openxmlformats.org/package/2006/relationships"><Relationship Id="rId1" Type="http://schemas.openxmlformats.org/officeDocument/2006/relationships/package" Target="../embeddings/Microsoft_Excel_Worksheet234.xlsx"/></Relationships>
</file>

<file path=ppt/charts/_rels/chart235.xml.rels><?xml version='1.0' encoding='UTF-8' standalone='yes'?>
<Relationships xmlns="http://schemas.openxmlformats.org/package/2006/relationships"><Relationship Id="rId1" Type="http://schemas.openxmlformats.org/officeDocument/2006/relationships/package" Target="../embeddings/Microsoft_Excel_Worksheet235.xlsx"/></Relationships>
</file>

<file path=ppt/charts/_rels/chart236.xml.rels><?xml version='1.0' encoding='UTF-8' standalone='yes'?>
<Relationships xmlns="http://schemas.openxmlformats.org/package/2006/relationships"><Relationship Id="rId1" Type="http://schemas.openxmlformats.org/officeDocument/2006/relationships/package" Target="../embeddings/Microsoft_Excel_Worksheet236.xlsx"/></Relationships>
</file>

<file path=ppt/charts/_rels/chart237.xml.rels><?xml version='1.0' encoding='UTF-8' standalone='yes'?>
<Relationships xmlns="http://schemas.openxmlformats.org/package/2006/relationships"><Relationship Id="rId1" Type="http://schemas.openxmlformats.org/officeDocument/2006/relationships/package" Target="../embeddings/Microsoft_Excel_Worksheet237.xlsx"/></Relationships>
</file>

<file path=ppt/charts/_rels/chart238.xml.rels><?xml version='1.0' encoding='UTF-8' standalone='yes'?>
<Relationships xmlns="http://schemas.openxmlformats.org/package/2006/relationships"><Relationship Id="rId1" Type="http://schemas.openxmlformats.org/officeDocument/2006/relationships/package" Target="../embeddings/Microsoft_Excel_Worksheet238.xlsx"/></Relationships>
</file>

<file path=ppt/charts/_rels/chart239.xml.rels><?xml version='1.0' encoding='UTF-8' standalone='yes'?>
<Relationships xmlns="http://schemas.openxmlformats.org/package/2006/relationships"><Relationship Id="rId1" Type="http://schemas.openxmlformats.org/officeDocument/2006/relationships/package" Target="../embeddings/Microsoft_Excel_Worksheet239.xlsx"/></Relationships>
</file>

<file path=ppt/charts/_rels/chart240.xml.rels><?xml version='1.0' encoding='UTF-8' standalone='yes'?>
<Relationships xmlns="http://schemas.openxmlformats.org/package/2006/relationships"><Relationship Id="rId1" Type="http://schemas.openxmlformats.org/officeDocument/2006/relationships/package" Target="../embeddings/Microsoft_Excel_Worksheet240.xlsx"/></Relationships>
</file>

<file path=ppt/charts/_rels/chart241.xml.rels><?xml version='1.0' encoding='UTF-8' standalone='yes'?>
<Relationships xmlns="http://schemas.openxmlformats.org/package/2006/relationships"><Relationship Id="rId1" Type="http://schemas.openxmlformats.org/officeDocument/2006/relationships/package" Target="../embeddings/Microsoft_Excel_Worksheet241.xlsx"/></Relationships>
</file>

<file path=ppt/charts/_rels/chart242.xml.rels><?xml version='1.0' encoding='UTF-8' standalone='yes'?>
<Relationships xmlns="http://schemas.openxmlformats.org/package/2006/relationships"><Relationship Id="rId1" Type="http://schemas.openxmlformats.org/officeDocument/2006/relationships/package" Target="../embeddings/Microsoft_Excel_Worksheet242.xlsx"/></Relationships>
</file>

<file path=ppt/charts/_rels/chart243.xml.rels><?xml version='1.0' encoding='UTF-8' standalone='yes'?>
<Relationships xmlns="http://schemas.openxmlformats.org/package/2006/relationships"><Relationship Id="rId1" Type="http://schemas.openxmlformats.org/officeDocument/2006/relationships/package" Target="../embeddings/Microsoft_Excel_Worksheet243.xlsx"/></Relationships>
</file>

<file path=ppt/charts/_rels/chart244.xml.rels><?xml version='1.0' encoding='UTF-8' standalone='yes'?>
<Relationships xmlns="http://schemas.openxmlformats.org/package/2006/relationships"><Relationship Id="rId1" Type="http://schemas.openxmlformats.org/officeDocument/2006/relationships/package" Target="../embeddings/Microsoft_Excel_Worksheet244.xlsx"/></Relationships>
</file>

<file path=ppt/charts/_rels/chart245.xml.rels><?xml version='1.0' encoding='UTF-8' standalone='yes'?>
<Relationships xmlns="http://schemas.openxmlformats.org/package/2006/relationships"><Relationship Id="rId1" Type="http://schemas.openxmlformats.org/officeDocument/2006/relationships/package" Target="../embeddings/Microsoft_Excel_Worksheet245.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19.88</c:v>
                </c:pt>
                <c:pt idx="1">
                  <c:v>18.87</c:v>
                </c:pt>
                <c:pt idx="2">
                  <c:v>21.12</c:v>
                </c:pt>
                <c:pt idx="3">
                  <c:v>21.8</c:v>
                </c:pt>
                <c:pt idx="4">
                  <c:v>20.12</c:v>
                </c:pt>
                <c:pt idx="5">
                  <c:v>21.52</c:v>
                </c:pt>
                <c:pt idx="6">
                  <c:v>22.71</c:v>
                </c:pt>
                <c:pt idx="7">
                  <c:v>21.64</c:v>
                </c:pt>
                <c:pt idx="8">
                  <c:v>21.13</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21.12</c:v>
                </c:pt>
                <c:pt idx="3">
                  <c:v>21.8</c:v>
                </c:pt>
                <c:pt idx="4">
                  <c:v/>
                </c:pt>
                <c:pt idx="5">
                  <c:v>21.52</c:v>
                </c:pt>
                <c:pt idx="6">
                  <c:v>22.71</c:v>
                </c:pt>
                <c:pt idx="7">
                  <c:v>21.64</c:v>
                </c:pt>
                <c:pt idx="8">
                  <c:v>21.13</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19.88</c:v>
                </c:pt>
                <c:pt idx="1">
                  <c:v>18.87</c:v>
                </c:pt>
                <c:pt idx="2">
                  <c:v/>
                </c:pt>
                <c:pt idx="3">
                  <c:v/>
                </c:pt>
                <c:pt idx="4">
                  <c:v>20.12</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20.46</c:v>
                </c:pt>
                <c:pt idx="1">
                  <c:v>19.1</c:v>
                </c:pt>
                <c:pt idx="2">
                  <c:v/>
                </c:pt>
                <c:pt idx="3">
                  <c:v/>
                </c:pt>
                <c:pt idx="4">
                  <c:v>20.28</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20.19</c:v>
                </c:pt>
                <c:pt idx="3">
                  <c:v>20.85</c:v>
                </c:pt>
                <c:pt idx="4">
                  <c:v/>
                </c:pt>
                <c:pt idx="5">
                  <c:v>20.34</c:v>
                </c:pt>
                <c:pt idx="6">
                  <c:v>20.75</c:v>
                </c:pt>
                <c:pt idx="7">
                  <c:v>20.32</c:v>
                </c:pt>
                <c:pt idx="8">
                  <c:v>19.03</c:v>
                </c:pt>
                <c:pt idx="9">
                  <c:v>21.27</c:v>
                </c:pt>
                <c:pt idx="10">
                  <c:v>17.74</c:v>
                </c:pt>
                <c:pt idx="11">
                  <c:v>19.32</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20.46</c:v>
                </c:pt>
                <c:pt idx="1">
                  <c:v>19.1</c:v>
                </c:pt>
                <c:pt idx="2">
                  <c:v>20.19</c:v>
                </c:pt>
                <c:pt idx="3">
                  <c:v>20.85</c:v>
                </c:pt>
                <c:pt idx="4">
                  <c:v>20.28</c:v>
                </c:pt>
                <c:pt idx="5">
                  <c:v>20.34</c:v>
                </c:pt>
                <c:pt idx="6">
                  <c:v>20.75</c:v>
                </c:pt>
                <c:pt idx="7">
                  <c:v>20.32</c:v>
                </c:pt>
                <c:pt idx="8">
                  <c:v>19.03</c:v>
                </c:pt>
                <c:pt idx="9">
                  <c:v>21.27</c:v>
                </c:pt>
                <c:pt idx="10">
                  <c:v>17.74</c:v>
                </c:pt>
                <c:pt idx="11">
                  <c:v>19.32</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13.47</c:v>
                </c:pt>
                <c:pt idx="1">
                  <c:v>12.79</c:v>
                </c:pt>
                <c:pt idx="2">
                  <c:v>14.35</c:v>
                </c:pt>
                <c:pt idx="3">
                  <c:v>14.65</c:v>
                </c:pt>
                <c:pt idx="4">
                  <c:v>13.71</c:v>
                </c:pt>
                <c:pt idx="5">
                  <c:v>14.45</c:v>
                </c:pt>
                <c:pt idx="6">
                  <c:v>15.06</c:v>
                </c:pt>
                <c:pt idx="7">
                  <c:v>14.43</c:v>
                </c:pt>
                <c:pt idx="8">
                  <c:v>13.96</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13.47</c:v>
                </c:pt>
                <c:pt idx="1">
                  <c:v>12.79</c:v>
                </c:pt>
                <c:pt idx="2">
                  <c:v>14.35</c:v>
                </c:pt>
                <c:pt idx="3">
                  <c:v>14.65</c:v>
                </c:pt>
                <c:pt idx="4">
                  <c:v>13.71</c:v>
                </c:pt>
                <c:pt idx="5">
                  <c:v>14.45</c:v>
                </c:pt>
                <c:pt idx="6">
                  <c:v>15.06</c:v>
                </c:pt>
                <c:pt idx="7">
                  <c:v>14.43</c:v>
                </c:pt>
                <c:pt idx="8">
                  <c:v>13.96</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13.41</c:v>
                </c:pt>
                <c:pt idx="1">
                  <c:v>12.64</c:v>
                </c:pt>
                <c:pt idx="2">
                  <c:v>13.59</c:v>
                </c:pt>
                <c:pt idx="3">
                  <c:v>14.01</c:v>
                </c:pt>
                <c:pt idx="4">
                  <c:v>13.61</c:v>
                </c:pt>
                <c:pt idx="5">
                  <c:v>13.53</c:v>
                </c:pt>
                <c:pt idx="6">
                  <c:v>13.78</c:v>
                </c:pt>
                <c:pt idx="7">
                  <c:v>13.51</c:v>
                </c:pt>
                <c:pt idx="8">
                  <c:v>12.5</c:v>
                </c:pt>
                <c:pt idx="9">
                  <c:v>13.74</c:v>
                </c:pt>
                <c:pt idx="10">
                  <c:v>11.84</c:v>
                </c:pt>
                <c:pt idx="11">
                  <c:v>12.92</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13.41</c:v>
                </c:pt>
                <c:pt idx="1">
                  <c:v>12.64</c:v>
                </c:pt>
                <c:pt idx="2">
                  <c:v>13.59</c:v>
                </c:pt>
                <c:pt idx="3">
                  <c:v>14.01</c:v>
                </c:pt>
                <c:pt idx="4">
                  <c:v>13.61</c:v>
                </c:pt>
                <c:pt idx="5">
                  <c:v>13.53</c:v>
                </c:pt>
                <c:pt idx="6">
                  <c:v>13.78</c:v>
                </c:pt>
                <c:pt idx="7">
                  <c:v>13.51</c:v>
                </c:pt>
                <c:pt idx="8">
                  <c:v>12.5</c:v>
                </c:pt>
                <c:pt idx="9">
                  <c:v>13.74</c:v>
                </c:pt>
                <c:pt idx="10">
                  <c:v>11.84</c:v>
                </c:pt>
                <c:pt idx="11">
                  <c:v>12.92</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6.41</c:v>
                </c:pt>
                <c:pt idx="1">
                  <c:v>6.08</c:v>
                </c:pt>
                <c:pt idx="2">
                  <c:v>6.77</c:v>
                </c:pt>
                <c:pt idx="3">
                  <c:v>7.14</c:v>
                </c:pt>
                <c:pt idx="4">
                  <c:v>6.41</c:v>
                </c:pt>
                <c:pt idx="5">
                  <c:v>7.07</c:v>
                </c:pt>
                <c:pt idx="6">
                  <c:v>7.66</c:v>
                </c:pt>
                <c:pt idx="7">
                  <c:v>7.21</c:v>
                </c:pt>
                <c:pt idx="8">
                  <c:v>7.18</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6.77</c:v>
                </c:pt>
                <c:pt idx="3">
                  <c:v>7.14</c:v>
                </c:pt>
                <c:pt idx="4">
                  <c:v/>
                </c:pt>
                <c:pt idx="5">
                  <c:v>7.07</c:v>
                </c:pt>
                <c:pt idx="6">
                  <c:v>7.66</c:v>
                </c:pt>
                <c:pt idx="7">
                  <c:v>7.21</c:v>
                </c:pt>
                <c:pt idx="8">
                  <c:v>7.18</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6.41</c:v>
                </c:pt>
                <c:pt idx="1">
                  <c:v>6.08</c:v>
                </c:pt>
                <c:pt idx="2">
                  <c:v/>
                </c:pt>
                <c:pt idx="3">
                  <c:v/>
                </c:pt>
                <c:pt idx="4">
                  <c:v>6.41</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7.05</c:v>
                </c:pt>
                <c:pt idx="1">
                  <c:v>6.47</c:v>
                </c:pt>
                <c:pt idx="2">
                  <c:v/>
                </c:pt>
                <c:pt idx="3">
                  <c:v/>
                </c:pt>
                <c:pt idx="4">
                  <c:v>6.67</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6.6</c:v>
                </c:pt>
                <c:pt idx="3">
                  <c:v>6.84</c:v>
                </c:pt>
                <c:pt idx="4">
                  <c:v/>
                </c:pt>
                <c:pt idx="5">
                  <c:v>6.81</c:v>
                </c:pt>
                <c:pt idx="6">
                  <c:v>6.97</c:v>
                </c:pt>
                <c:pt idx="7">
                  <c:v>6.81</c:v>
                </c:pt>
                <c:pt idx="8">
                  <c:v>6.54</c:v>
                </c:pt>
                <c:pt idx="9">
                  <c:v>7.53</c:v>
                </c:pt>
                <c:pt idx="10">
                  <c:v>5.91</c:v>
                </c:pt>
                <c:pt idx="11">
                  <c:v>6.4</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7.05</c:v>
                </c:pt>
                <c:pt idx="1">
                  <c:v>6.47</c:v>
                </c:pt>
                <c:pt idx="2">
                  <c:v>6.6</c:v>
                </c:pt>
                <c:pt idx="3">
                  <c:v>6.84</c:v>
                </c:pt>
                <c:pt idx="4">
                  <c:v>6.67</c:v>
                </c:pt>
                <c:pt idx="5">
                  <c:v>6.81</c:v>
                </c:pt>
                <c:pt idx="6">
                  <c:v>6.97</c:v>
                </c:pt>
                <c:pt idx="7">
                  <c:v>6.81</c:v>
                </c:pt>
                <c:pt idx="8">
                  <c:v>6.54</c:v>
                </c:pt>
                <c:pt idx="9">
                  <c:v>7.53</c:v>
                </c:pt>
                <c:pt idx="10">
                  <c:v>5.91</c:v>
                </c:pt>
                <c:pt idx="11">
                  <c:v>6.4</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74.8</c:v>
                </c:pt>
                <c:pt idx="1">
                  <c:v>74.5</c:v>
                </c:pt>
                <c:pt idx="2">
                  <c:v>78.5</c:v>
                </c:pt>
                <c:pt idx="3">
                  <c:v>79.6</c:v>
                </c:pt>
                <c:pt idx="4">
                  <c:v>75.4</c:v>
                </c:pt>
                <c:pt idx="5">
                  <c:v>79.2</c:v>
                </c:pt>
                <c:pt idx="6">
                  <c:v>83</c:v>
                </c:pt>
                <c:pt idx="7">
                  <c:v>79.9</c:v>
                </c:pt>
                <c:pt idx="8">
                  <c:v>77.6</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78.5</c:v>
                </c:pt>
                <c:pt idx="3">
                  <c:v>79.6</c:v>
                </c:pt>
                <c:pt idx="4">
                  <c:v/>
                </c:pt>
                <c:pt idx="5">
                  <c:v>79.2</c:v>
                </c:pt>
                <c:pt idx="6">
                  <c:v>83</c:v>
                </c:pt>
                <c:pt idx="7">
                  <c:v>79.9</c:v>
                </c:pt>
                <c:pt idx="8">
                  <c:v>77.6</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74.8</c:v>
                </c:pt>
                <c:pt idx="1">
                  <c:v>74.5</c:v>
                </c:pt>
                <c:pt idx="2">
                  <c:v/>
                </c:pt>
                <c:pt idx="3">
                  <c:v/>
                </c:pt>
                <c:pt idx="4">
                  <c:v>75.4</c:v>
                </c:pt>
                <c:pt idx="5">
                  <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c:v>
                </c:pt>
                <c:pt idx="1">
                  <c:v>75.1</c:v>
                </c:pt>
                <c:pt idx="2">
                  <c:v/>
                </c:pt>
                <c:pt idx="3">
                  <c:v/>
                </c:pt>
                <c:pt idx="4">
                  <c:v>76.9</c:v>
                </c:pt>
                <c:pt idx="5">
                  <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74.1</c:v>
                </c:pt>
                <c:pt idx="3">
                  <c:v>76.3</c:v>
                </c:pt>
                <c:pt idx="4">
                  <c:v/>
                </c:pt>
                <c:pt idx="5">
                  <c:v>77.8</c:v>
                </c:pt>
                <c:pt idx="6">
                  <c:v>78.4</c:v>
                </c:pt>
                <c:pt idx="7">
                  <c:v>75.9</c:v>
                </c:pt>
                <c:pt idx="8">
                  <c:v>72.7</c:v>
                </c:pt>
                <c:pt idx="9">
                  <c:v>82</c:v>
                </c:pt>
                <c:pt idx="10">
                  <c:v>73.4</c:v>
                </c:pt>
                <c:pt idx="11">
                  <c:v>74.6</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c:v>
                </c:pt>
                <c:pt idx="1">
                  <c:v>75.1</c:v>
                </c:pt>
                <c:pt idx="2">
                  <c:v>74.1</c:v>
                </c:pt>
                <c:pt idx="3">
                  <c:v>76.3</c:v>
                </c:pt>
                <c:pt idx="4">
                  <c:v>76.9</c:v>
                </c:pt>
                <c:pt idx="5">
                  <c:v>77.8</c:v>
                </c:pt>
                <c:pt idx="6">
                  <c:v>78.4</c:v>
                </c:pt>
                <c:pt idx="7">
                  <c:v>75.9</c:v>
                </c:pt>
                <c:pt idx="8">
                  <c:v>72.7</c:v>
                </c:pt>
                <c:pt idx="9">
                  <c:v>82</c:v>
                </c:pt>
                <c:pt idx="10">
                  <c:v>73.4</c:v>
                </c:pt>
                <c:pt idx="11">
                  <c:v>74.6</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c:v>
                </c:pt>
                <c:pt idx="1">
                  <c:v>20.3</c:v>
                </c:pt>
                <c:pt idx="2">
                  <c:v>24.5</c:v>
                </c:pt>
                <c:pt idx="3">
                  <c:v>23.3</c:v>
                </c:pt>
                <c:pt idx="4">
                  <c:v>21.9</c:v>
                </c:pt>
                <c:pt idx="5">
                  <c:v>21.9</c:v>
                </c:pt>
                <c:pt idx="6">
                  <c:v>23.8</c:v>
                </c:pt>
                <c:pt idx="7">
                  <c:v>22.5</c:v>
                </c:pt>
                <c:pt idx="8">
                  <c:v>19.7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c:v>
                </c:pt>
                <c:pt idx="1">
                  <c:v>20.3</c:v>
                </c:pt>
                <c:pt idx="2">
                  <c:v>24.5</c:v>
                </c:pt>
                <c:pt idx="3">
                  <c:v>23.3</c:v>
                </c:pt>
                <c:pt idx="4">
                  <c:v>21.9</c:v>
                </c:pt>
                <c:pt idx="5">
                  <c:v>21.9</c:v>
                </c:pt>
                <c:pt idx="6">
                  <c:v>23.8</c:v>
                </c:pt>
                <c:pt idx="7">
                  <c:v>22.5</c:v>
                </c:pt>
                <c:pt idx="8">
                  <c:v>19.7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16.9</c:v>
                </c:pt>
                <c:pt idx="1">
                  <c:v>16.1</c:v>
                </c:pt>
                <c:pt idx="2">
                  <c:v>21.2</c:v>
                </c:pt>
                <c:pt idx="3">
                  <c:v>21.2</c:v>
                </c:pt>
                <c:pt idx="4">
                  <c:v>21.5</c:v>
                </c:pt>
                <c:pt idx="5">
                  <c:v>19.4</c:v>
                </c:pt>
                <c:pt idx="6">
                  <c:v>20.3</c:v>
                </c:pt>
                <c:pt idx="7">
                  <c:v>19.6</c:v>
                </c:pt>
                <c:pt idx="8">
                  <c:v>13.1</c:v>
                </c:pt>
                <c:pt idx="9">
                  <c:v>21.1</c:v>
                </c:pt>
                <c:pt idx="10">
                  <c:v>14.4</c:v>
                </c:pt>
                <c:pt idx="11">
                  <c:v>16.7</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16.9</c:v>
                </c:pt>
                <c:pt idx="1">
                  <c:v>16.1</c:v>
                </c:pt>
                <c:pt idx="2">
                  <c:v>21.2</c:v>
                </c:pt>
                <c:pt idx="3">
                  <c:v>21.2</c:v>
                </c:pt>
                <c:pt idx="4">
                  <c:v>21.5</c:v>
                </c:pt>
                <c:pt idx="5">
                  <c:v>19.4</c:v>
                </c:pt>
                <c:pt idx="6">
                  <c:v>20.3</c:v>
                </c:pt>
                <c:pt idx="7">
                  <c:v>19.6</c:v>
                </c:pt>
                <c:pt idx="8">
                  <c:v>13.1</c:v>
                </c:pt>
                <c:pt idx="9">
                  <c:v>21.1</c:v>
                </c:pt>
                <c:pt idx="10">
                  <c:v>14.4</c:v>
                </c:pt>
                <c:pt idx="11">
                  <c:v>16.7</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33.5</c:v>
                </c:pt>
                <c:pt idx="1">
                  <c:v>32</c:v>
                </c:pt>
                <c:pt idx="2">
                  <c:v>36.3</c:v>
                </c:pt>
                <c:pt idx="3">
                  <c:v>38</c:v>
                </c:pt>
                <c:pt idx="4">
                  <c:v>33.6</c:v>
                </c:pt>
                <c:pt idx="5">
                  <c:v>37.7</c:v>
                </c:pt>
                <c:pt idx="6">
                  <c:v>41</c:v>
                </c:pt>
                <c:pt idx="7">
                  <c:v>38.1</c:v>
                </c:pt>
                <c:pt idx="8">
                  <c:v>38.8</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36.3</c:v>
                </c:pt>
                <c:pt idx="3">
                  <c:v>38</c:v>
                </c:pt>
                <c:pt idx="4">
                  <c:v/>
                </c:pt>
                <c:pt idx="5">
                  <c:v/>
                </c:pt>
                <c:pt idx="6">
                  <c:v>41</c:v>
                </c:pt>
                <c:pt idx="7">
                  <c:v>38.1</c:v>
                </c:pt>
                <c:pt idx="8">
                  <c:v>38.8</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33.5</c:v>
                </c:pt>
                <c:pt idx="1">
                  <c:v>32</c:v>
                </c:pt>
                <c:pt idx="2">
                  <c:v/>
                </c:pt>
                <c:pt idx="3">
                  <c:v/>
                </c:pt>
                <c:pt idx="4">
                  <c:v>33.6</c:v>
                </c:pt>
                <c:pt idx="5">
                  <c:v>37.7</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39.6</c:v>
                </c:pt>
                <c:pt idx="1">
                  <c:v>36.6</c:v>
                </c:pt>
                <c:pt idx="2">
                  <c:v/>
                </c:pt>
                <c:pt idx="3">
                  <c:v/>
                </c:pt>
                <c:pt idx="4">
                  <c:v>36.7</c:v>
                </c:pt>
                <c:pt idx="5">
                  <c:v>38.1</c:v>
                </c:pt>
                <c:pt idx="6">
                  <c:v/>
                </c:pt>
                <c:pt idx="7">
                  <c:v/>
                </c:pt>
                <c:pt idx="8">
                  <c:v/>
                </c:pt>
                <c:pt idx="9">
                  <c:v>42.6</c:v>
                </c:pt>
                <c:pt idx="10">
                  <c:v>33.3</c:v>
                </c:pt>
                <c:pt idx="11">
                  <c:v>33.8</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35</c:v>
                </c:pt>
                <c:pt idx="3">
                  <c:v>37.7</c:v>
                </c:pt>
                <c:pt idx="4">
                  <c:v/>
                </c:pt>
                <c:pt idx="5">
                  <c:v/>
                </c:pt>
                <c:pt idx="6">
                  <c:v>39.7</c:v>
                </c:pt>
                <c:pt idx="7">
                  <c:v>35.7</c:v>
                </c:pt>
                <c:pt idx="8">
                  <c:v>34.8</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39.6</c:v>
                </c:pt>
                <c:pt idx="1">
                  <c:v>36.6</c:v>
                </c:pt>
                <c:pt idx="2">
                  <c:v>35</c:v>
                </c:pt>
                <c:pt idx="3">
                  <c:v>37.7</c:v>
                </c:pt>
                <c:pt idx="4">
                  <c:v>36.7</c:v>
                </c:pt>
                <c:pt idx="5">
                  <c:v>38.1</c:v>
                </c:pt>
                <c:pt idx="6">
                  <c:v>39.7</c:v>
                </c:pt>
                <c:pt idx="7">
                  <c:v>35.7</c:v>
                </c:pt>
                <c:pt idx="8">
                  <c:v>34.8</c:v>
                </c:pt>
                <c:pt idx="9">
                  <c:v>42.6</c:v>
                </c:pt>
                <c:pt idx="10">
                  <c:v>33.3</c:v>
                </c:pt>
                <c:pt idx="11">
                  <c:v>33.8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30678</c:v>
                </c:pt>
                <c:pt idx="1">
                  <c:v>27329</c:v>
                </c:pt>
                <c:pt idx="2">
                  <c:v>31531</c:v>
                </c:pt>
                <c:pt idx="3">
                  <c:v>30786</c:v>
                </c:pt>
                <c:pt idx="4">
                  <c:v>30636</c:v>
                </c:pt>
                <c:pt idx="5">
                  <c:v>32541</c:v>
                </c:pt>
                <c:pt idx="6">
                  <c:v>33097</c:v>
                </c:pt>
                <c:pt idx="7">
                  <c:v>32319</c:v>
                </c:pt>
                <c:pt idx="8">
                  <c:v>30839</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noFill/>
        <a:ln>
          <a:noFill/>
        </a:ln>
        <a:effectLst/>
      </c:spPr>
    </c:plotArea>
    <c:plotVisOnly val="1"/>
    <c:dispBlanksAs val="span"/>
  </c:chart>
  <c:spPr>
    <a:noFill/>
    <a:ln>
      <a:noFill/>
    </a:ln>
    <a:effectLst/>
  </c:spPr>
  <c:externalData r:id="rId1">
    <c:autoUpdate val="0"/>
  </c:externalData>
</c:chartSpace>
</file>

<file path=ppt/charts/chart3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31531</c:v>
                </c:pt>
                <c:pt idx="3">
                  <c:v/>
                </c:pt>
                <c:pt idx="4">
                  <c:v/>
                </c:pt>
                <c:pt idx="5">
                  <c:v>32541</c:v>
                </c:pt>
                <c:pt idx="6">
                  <c:v>33097</c:v>
                </c:pt>
                <c:pt idx="7">
                  <c:v>32319</c:v>
                </c:pt>
                <c:pt idx="8">
                  <c:v>30839</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30678</c:v>
                </c:pt>
                <c:pt idx="1">
                  <c:v>27329</c:v>
                </c:pt>
                <c:pt idx="2">
                  <c:v/>
                </c:pt>
                <c:pt idx="3">
                  <c:v>30786</c:v>
                </c:pt>
                <c:pt idx="4">
                  <c:v>30636</c:v>
                </c:pt>
                <c:pt idx="5">
                  <c:v/>
                </c:pt>
                <c:pt idx="6">
                  <c:v/>
                </c:pt>
                <c:pt idx="7">
                  <c:v/>
                </c:pt>
                <c:pt idx="8">
                  <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30872</c:v>
                </c:pt>
                <c:pt idx="1">
                  <c:v>28163</c:v>
                </c:pt>
                <c:pt idx="2">
                  <c:v/>
                </c:pt>
                <c:pt idx="3">
                  <c:v>31754</c:v>
                </c:pt>
                <c:pt idx="4">
                  <c:v>31740</c:v>
                </c:pt>
                <c:pt idx="5">
                  <c:v/>
                </c:pt>
                <c:pt idx="6">
                  <c:v/>
                </c:pt>
                <c:pt idx="7">
                  <c:v/>
                </c:pt>
                <c:pt idx="8">
                  <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31247</c:v>
                </c:pt>
                <c:pt idx="3">
                  <c:v/>
                </c:pt>
                <c:pt idx="4">
                  <c:v/>
                </c:pt>
                <c:pt idx="5">
                  <c:v>31179</c:v>
                </c:pt>
                <c:pt idx="6">
                  <c:v>32360</c:v>
                </c:pt>
                <c:pt idx="7">
                  <c:v>31996</c:v>
                </c:pt>
                <c:pt idx="8">
                  <c:v>29989</c:v>
                </c:pt>
                <c:pt idx="9">
                  <c:v>32494</c:v>
                </c:pt>
                <c:pt idx="10">
                  <c:v>28359</c:v>
                </c:pt>
                <c:pt idx="11">
                  <c:v>29409</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30872</c:v>
                </c:pt>
                <c:pt idx="1">
                  <c:v>28163</c:v>
                </c:pt>
                <c:pt idx="2">
                  <c:v>31247</c:v>
                </c:pt>
                <c:pt idx="3">
                  <c:v>31754</c:v>
                </c:pt>
                <c:pt idx="4">
                  <c:v>31740</c:v>
                </c:pt>
                <c:pt idx="5">
                  <c:v>31179</c:v>
                </c:pt>
                <c:pt idx="6">
                  <c:v>32360</c:v>
                </c:pt>
                <c:pt idx="7">
                  <c:v>31996</c:v>
                </c:pt>
                <c:pt idx="8">
                  <c:v>29989</c:v>
                </c:pt>
                <c:pt idx="9">
                  <c:v>32494</c:v>
                </c:pt>
                <c:pt idx="10">
                  <c:v>28359</c:v>
                </c:pt>
                <c:pt idx="11">
                  <c:v>29409</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55578.46</c:v>
                </c:pt>
                <c:pt idx="1">
                  <c:v>52000.56</c:v>
                </c:pt>
                <c:pt idx="2">
                  <c:v>60175.93</c:v>
                </c:pt>
                <c:pt idx="3">
                  <c:v>59745.97</c:v>
                </c:pt>
                <c:pt idx="4">
                  <c:v>57788.84</c:v>
                </c:pt>
                <c:pt idx="5">
                  <c:v>60916.67</c:v>
                </c:pt>
                <c:pt idx="6">
                  <c:v>61860.58</c:v>
                </c:pt>
                <c:pt idx="7">
                  <c:v>59618.54</c:v>
                </c:pt>
                <c:pt idx="8">
                  <c:v>55456.31</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noFill/>
        <a:ln>
          <a:noFill/>
        </a:ln>
        <a:effectLst/>
      </c:spPr>
    </c:plotArea>
    <c:plotVisOnly val="1"/>
    <c:dispBlanksAs val="span"/>
  </c:chart>
  <c:spPr>
    <a:noFill/>
    <a:ln>
      <a:noFill/>
    </a:ln>
    <a:effectLst/>
  </c:spPr>
  <c:externalData r:id="rId1">
    <c:autoUpdate val="0"/>
  </c:externalData>
</c:chartSpace>
</file>

<file path=ppt/charts/chart4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55578.46</c:v>
                </c:pt>
                <c:pt idx="1">
                  <c:v>52000.56</c:v>
                </c:pt>
                <c:pt idx="2">
                  <c:v>60175.93</c:v>
                </c:pt>
                <c:pt idx="3">
                  <c:v>59745.97</c:v>
                </c:pt>
                <c:pt idx="4">
                  <c:v/>
                </c:pt>
                <c:pt idx="5">
                  <c:v>60916.67</c:v>
                </c:pt>
                <c:pt idx="6">
                  <c:v>61860.58</c:v>
                </c:pt>
                <c:pt idx="7">
                  <c:v>59618.54</c:v>
                </c:pt>
                <c:pt idx="8">
                  <c:v>55456.31</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57788.84</c:v>
                </c:pt>
                <c:pt idx="5">
                  <c:v/>
                </c:pt>
                <c:pt idx="6">
                  <c:v/>
                </c:pt>
                <c:pt idx="7">
                  <c:v/>
                </c:pt>
                <c:pt idx="8">
                  <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57794.35</c:v>
                </c:pt>
                <c:pt idx="5">
                  <c:v/>
                </c:pt>
                <c:pt idx="6">
                  <c:v/>
                </c:pt>
                <c:pt idx="7">
                  <c:v/>
                </c:pt>
                <c:pt idx="8">
                  <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55120.88</c:v>
                </c:pt>
                <c:pt idx="1">
                  <c:v>51212.03</c:v>
                </c:pt>
                <c:pt idx="2">
                  <c:v>57205.56</c:v>
                </c:pt>
                <c:pt idx="3">
                  <c:v>58170.14</c:v>
                </c:pt>
                <c:pt idx="4">
                  <c:v/>
                </c:pt>
                <c:pt idx="5">
                  <c:v>56468.18</c:v>
                </c:pt>
                <c:pt idx="6">
                  <c:v>57717.31</c:v>
                </c:pt>
                <c:pt idx="7">
                  <c:v>57021.2</c:v>
                </c:pt>
                <c:pt idx="8">
                  <c:v>53309.32</c:v>
                </c:pt>
                <c:pt idx="9">
                  <c:v>58023.59000000028</c:v>
                </c:pt>
                <c:pt idx="10">
                  <c:v>51202.50000000025</c:v>
                </c:pt>
                <c:pt idx="11">
                  <c:v>52701.39000000027</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55120.88</c:v>
                </c:pt>
                <c:pt idx="1">
                  <c:v>51212.03</c:v>
                </c:pt>
                <c:pt idx="2">
                  <c:v>57205.56</c:v>
                </c:pt>
                <c:pt idx="3">
                  <c:v>58170.14</c:v>
                </c:pt>
                <c:pt idx="4">
                  <c:v>57794.35</c:v>
                </c:pt>
                <c:pt idx="5">
                  <c:v>56468.18</c:v>
                </c:pt>
                <c:pt idx="6">
                  <c:v>57717.31</c:v>
                </c:pt>
                <c:pt idx="7">
                  <c:v>57021.2</c:v>
                </c:pt>
                <c:pt idx="8">
                  <c:v>53309.32</c:v>
                </c:pt>
                <c:pt idx="9">
                  <c:v>58023.59000000028</c:v>
                </c:pt>
                <c:pt idx="10">
                  <c:v>51202.50000000025</c:v>
                </c:pt>
                <c:pt idx="11">
                  <c:v>52701.39000000027</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1.8116715561640362</c:v>
                </c:pt>
                <c:pt idx="1">
                  <c:v>1.902761169453705</c:v>
                </c:pt>
                <c:pt idx="2">
                  <c:v>1.9084688084742114</c:v>
                </c:pt>
                <c:pt idx="3">
                  <c:v>1.9406863509387393</c:v>
                </c:pt>
                <c:pt idx="4">
                  <c:v>1.8863050006528341</c:v>
                </c:pt>
                <c:pt idx="5">
                  <c:v>1.8719974801020323</c:v>
                </c:pt>
                <c:pt idx="6">
                  <c:v>1.8690690999184165</c:v>
                </c:pt>
                <c:pt idx="7">
                  <c:v>1.8446901203626367</c:v>
                </c:pt>
                <c:pt idx="8">
                  <c:v>1.7982525373715093</c:v>
                </c:pt>
                <c:pt idx="9">
                  <c:v/>
                </c:pt>
                <c:pt idx="10">
                  <c:v/>
                </c:pt>
                <c:pt idx="11">
                  <c:v/>
                </c:pt>
              </c:numCache>
            </c:numRef>
          </c:val>
          <c:smooth val="0"/>
        </c:ser>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numFmt formatCode="0.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noFill/>
        <a:ln>
          <a:noFill/>
        </a:ln>
        <a:effectLst/>
      </c:spPr>
    </c:plotArea>
    <c:plotVisOnly val="1"/>
    <c:dispBlanksAs val="span"/>
  </c:chart>
  <c:spPr>
    <a:noFill/>
    <a:ln>
      <a:noFill/>
    </a:ln>
    <a:effectLst/>
  </c:spPr>
  <c:externalData r:id="rId1">
    <c:autoUpdate val="0"/>
  </c:externalData>
</c:chartSpace>
</file>

<file path=ppt/charts/chart4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1.8116715561640362</c:v>
                </c:pt>
                <c:pt idx="1">
                  <c:v>1.902761169453705</c:v>
                </c:pt>
                <c:pt idx="2">
                  <c:v>1.9084688084742114</c:v>
                </c:pt>
                <c:pt idx="3">
                  <c:v>1.9406863509387393</c:v>
                </c:pt>
                <c:pt idx="4">
                  <c:v>1.8863050006528341</c:v>
                </c:pt>
                <c:pt idx="5">
                  <c:v>1.8719974801020323</c:v>
                </c:pt>
                <c:pt idx="6">
                  <c:v>1.8690690999184165</c:v>
                </c:pt>
                <c:pt idx="7">
                  <c:v>1.8446901203626367</c:v>
                </c:pt>
                <c:pt idx="8">
                  <c:v>1.7982525373715093</c:v>
                </c:pt>
                <c:pt idx="9">
                  <c:v/>
                </c:pt>
                <c:pt idx="10">
                  <c:v/>
                </c:pt>
                <c:pt idx="11">
                  <c:v/>
                </c:pt>
              </c:numCache>
            </c:numRef>
          </c:val>
          <c:smooth val="0"/>
        </c:ser>
        <c:dLbls>
          <c:numFmt formatCode="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numFmt formatCode="0.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1.785465146411003</c:v>
                </c:pt>
                <c:pt idx="1">
                  <c:v>1.8184152966658496</c:v>
                </c:pt>
                <c:pt idx="2">
                  <c:v>1.8307536723525557</c:v>
                </c:pt>
                <c:pt idx="3">
                  <c:v>1.8318996031996007</c:v>
                </c:pt>
                <c:pt idx="4">
                  <c:v>1.8208679899180984</c:v>
                </c:pt>
                <c:pt idx="5">
                  <c:v>1.8110965714102494</c:v>
                </c:pt>
                <c:pt idx="6">
                  <c:v>1.7836004326328923</c:v>
                </c:pt>
                <c:pt idx="7">
                  <c:v>1.7821352669083634</c:v>
                </c:pt>
                <c:pt idx="8">
                  <c:v>1.7776291306812524</c:v>
                </c:pt>
                <c:pt idx="9">
                  <c:v>1.7856708930879632</c:v>
                </c:pt>
                <c:pt idx="10">
                  <c:v>1.8055114778377321</c:v>
                </c:pt>
                <c:pt idx="11">
                  <c:v>1.7920157094767</c:v>
                </c:pt>
              </c:numCache>
            </c:numRef>
          </c:val>
          <c:smooth val="0"/>
        </c:ser>
        <c:dLbls>
          <c:numFmt formatCode="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numFmt formatCode="0.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1.785465146411003</c:v>
                </c:pt>
                <c:pt idx="1">
                  <c:v>1.8184152966658496</c:v>
                </c:pt>
                <c:pt idx="2">
                  <c:v>1.8307536723525557</c:v>
                </c:pt>
                <c:pt idx="3">
                  <c:v>1.8318996031996007</c:v>
                </c:pt>
                <c:pt idx="4">
                  <c:v>1.8208679899180984</c:v>
                </c:pt>
                <c:pt idx="5">
                  <c:v>1.8110965714102494</c:v>
                </c:pt>
                <c:pt idx="6">
                  <c:v>1.7836004326328923</c:v>
                </c:pt>
                <c:pt idx="7">
                  <c:v>1.7821352669083634</c:v>
                </c:pt>
                <c:pt idx="8">
                  <c:v>1.7776291306812524</c:v>
                </c:pt>
                <c:pt idx="9">
                  <c:v>1.7856708930879632</c:v>
                </c:pt>
                <c:pt idx="10">
                  <c:v>1.8055114778377321</c:v>
                </c:pt>
                <c:pt idx="11">
                  <c:v>1.7920157094767</c:v>
                </c:pt>
              </c:numCache>
            </c:numRef>
          </c:val>
          <c:smooth val="0"/>
        </c:ser>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majorGridlines>
          <c:spPr>
            <a:ln w="9525" cap="flat">
              <a:solidFill>
                <a:srgbClr val="D9D9D9"/>
              </a:solidFill>
              <a:prstDash val="solid"/>
              <a:round/>
            </a:ln>
          </c:spPr>
        </c:majorGridlines>
        <c:numFmt formatCode="0.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161.13</c:v>
                </c:pt>
                <c:pt idx="1">
                  <c:v>162.3</c:v>
                </c:pt>
                <c:pt idx="2">
                  <c:v>162.02</c:v>
                </c:pt>
                <c:pt idx="3">
                  <c:v>162.06</c:v>
                </c:pt>
                <c:pt idx="4">
                  <c:v>161.12</c:v>
                </c:pt>
                <c:pt idx="5">
                  <c:v>162.01</c:v>
                </c:pt>
                <c:pt idx="6">
                  <c:v>162.6</c:v>
                </c:pt>
                <c:pt idx="7">
                  <c:v>164.83</c:v>
                </c:pt>
                <c:pt idx="8">
                  <c:v>163.61</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5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161.13</c:v>
                </c:pt>
                <c:pt idx="1">
                  <c:v>162.3</c:v>
                </c:pt>
                <c:pt idx="2">
                  <c:v>162.02</c:v>
                </c:pt>
                <c:pt idx="3">
                  <c:v>162.06</c:v>
                </c:pt>
                <c:pt idx="4">
                  <c:v>161.12</c:v>
                </c:pt>
                <c:pt idx="5">
                  <c:v>162.01</c:v>
                </c:pt>
                <c:pt idx="6">
                  <c:v>162.6</c:v>
                </c:pt>
                <c:pt idx="7">
                  <c:v>164.83</c:v>
                </c:pt>
                <c:pt idx="8">
                  <c:v>163.61</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157.2</c:v>
                </c:pt>
                <c:pt idx="1">
                  <c:v>159.46</c:v>
                </c:pt>
                <c:pt idx="2">
                  <c:v>158.38</c:v>
                </c:pt>
                <c:pt idx="3">
                  <c:v>158.8</c:v>
                </c:pt>
                <c:pt idx="4">
                  <c:v>158.09</c:v>
                </c:pt>
                <c:pt idx="5">
                  <c:v>159.24</c:v>
                </c:pt>
                <c:pt idx="6">
                  <c:v>159.33</c:v>
                </c:pt>
                <c:pt idx="7">
                  <c:v>160.09</c:v>
                </c:pt>
                <c:pt idx="8">
                  <c:v>159.15</c:v>
                </c:pt>
                <c:pt idx="9">
                  <c:v>157.67</c:v>
                </c:pt>
                <c:pt idx="10">
                  <c:v>160.67</c:v>
                </c:pt>
                <c:pt idx="11">
                  <c:v>160.87</c:v>
                </c:pt>
              </c:numCache>
            </c:numRef>
          </c:val>
          <c:smooth val="0"/>
        </c:ser>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157.2</c:v>
                </c:pt>
                <c:pt idx="1">
                  <c:v>159.46</c:v>
                </c:pt>
                <c:pt idx="2">
                  <c:v>158.38</c:v>
                </c:pt>
                <c:pt idx="3">
                  <c:v>158.8</c:v>
                </c:pt>
                <c:pt idx="4">
                  <c:v>158.09</c:v>
                </c:pt>
                <c:pt idx="5">
                  <c:v>159.24</c:v>
                </c:pt>
                <c:pt idx="6">
                  <c:v>159.33</c:v>
                </c:pt>
                <c:pt idx="7">
                  <c:v>160.09</c:v>
                </c:pt>
                <c:pt idx="8">
                  <c:v>159.15</c:v>
                </c:pt>
                <c:pt idx="9">
                  <c:v>157.67</c:v>
                </c:pt>
                <c:pt idx="10">
                  <c:v>160.67</c:v>
                </c:pt>
                <c:pt idx="11">
                  <c:v>160.87</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292</c:v>
                </c:pt>
                <c:pt idx="1">
                  <c:v>309</c:v>
                </c:pt>
                <c:pt idx="2">
                  <c:v>309</c:v>
                </c:pt>
                <c:pt idx="3">
                  <c:v>315</c:v>
                </c:pt>
                <c:pt idx="4">
                  <c:v>304</c:v>
                </c:pt>
                <c:pt idx="5">
                  <c:v>303</c:v>
                </c:pt>
                <c:pt idx="6">
                  <c:v>304</c:v>
                </c:pt>
                <c:pt idx="7">
                  <c:v>304</c:v>
                </c:pt>
                <c:pt idx="8">
                  <c:v>294</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charts/chart5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292</c:v>
                </c:pt>
                <c:pt idx="1">
                  <c:v>309</c:v>
                </c:pt>
                <c:pt idx="2">
                  <c:v>309</c:v>
                </c:pt>
                <c:pt idx="3">
                  <c:v>315</c:v>
                </c:pt>
                <c:pt idx="4">
                  <c:v>304</c:v>
                </c:pt>
                <c:pt idx="5">
                  <c:v>303</c:v>
                </c:pt>
                <c:pt idx="6">
                  <c:v>304</c:v>
                </c:pt>
                <c:pt idx="7">
                  <c:v>304</c:v>
                </c:pt>
                <c:pt idx="8">
                  <c:v>294</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281</c:v>
                </c:pt>
                <c:pt idx="1">
                  <c:v>290</c:v>
                </c:pt>
                <c:pt idx="2">
                  <c:v>290</c:v>
                </c:pt>
                <c:pt idx="3">
                  <c:v>291</c:v>
                </c:pt>
                <c:pt idx="4">
                  <c:v>288</c:v>
                </c:pt>
                <c:pt idx="5">
                  <c:v>288</c:v>
                </c:pt>
                <c:pt idx="6">
                  <c:v>284</c:v>
                </c:pt>
                <c:pt idx="7">
                  <c:v>285</c:v>
                </c:pt>
                <c:pt idx="8">
                  <c:v>283</c:v>
                </c:pt>
                <c:pt idx="9">
                  <c:v>282</c:v>
                </c:pt>
                <c:pt idx="10">
                  <c:v>290</c:v>
                </c:pt>
                <c:pt idx="11">
                  <c:v>288</c:v>
                </c:pt>
              </c:numCache>
            </c:numRef>
          </c:val>
          <c:smooth val="0"/>
        </c:ser>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281</c:v>
                </c:pt>
                <c:pt idx="1">
                  <c:v>290</c:v>
                </c:pt>
                <c:pt idx="2">
                  <c:v>290</c:v>
                </c:pt>
                <c:pt idx="3">
                  <c:v>291</c:v>
                </c:pt>
                <c:pt idx="4">
                  <c:v>288</c:v>
                </c:pt>
                <c:pt idx="5">
                  <c:v>288</c:v>
                </c:pt>
                <c:pt idx="6">
                  <c:v>284</c:v>
                </c:pt>
                <c:pt idx="7">
                  <c:v>285</c:v>
                </c:pt>
                <c:pt idx="8">
                  <c:v>283</c:v>
                </c:pt>
                <c:pt idx="9">
                  <c:v>282</c:v>
                </c:pt>
                <c:pt idx="10">
                  <c:v>290</c:v>
                </c:pt>
                <c:pt idx="11">
                  <c:v>288</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80.9</c:v>
                </c:pt>
                <c:pt idx="1">
                  <c:v>80.7</c:v>
                </c:pt>
                <c:pt idx="2">
                  <c:v>80.8</c:v>
                </c:pt>
                <c:pt idx="3">
                  <c:v>80.7</c:v>
                </c:pt>
                <c:pt idx="4">
                  <c:v>80.7</c:v>
                </c:pt>
                <c:pt idx="5">
                  <c:v>80.8</c:v>
                </c:pt>
                <c:pt idx="6">
                  <c:v>80.8</c:v>
                </c:pt>
                <c:pt idx="7">
                  <c:v>81</c:v>
                </c:pt>
                <c:pt idx="8">
                  <c:v>80.7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5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80.9</c:v>
                </c:pt>
                <c:pt idx="1">
                  <c:v/>
                </c:pt>
                <c:pt idx="2">
                  <c:v/>
                </c:pt>
                <c:pt idx="3">
                  <c:v/>
                </c:pt>
                <c:pt idx="4">
                  <c:v/>
                </c:pt>
                <c:pt idx="5">
                  <c:v/>
                </c:pt>
                <c:pt idx="6">
                  <c:v/>
                </c:pt>
                <c:pt idx="7">
                  <c:v>81</c:v>
                </c:pt>
                <c:pt idx="8">
                  <c:v>80.7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80.7</c:v>
                </c:pt>
                <c:pt idx="2">
                  <c:v>80.8</c:v>
                </c:pt>
                <c:pt idx="3">
                  <c:v>80.7</c:v>
                </c:pt>
                <c:pt idx="4">
                  <c:v>80.7</c:v>
                </c:pt>
                <c:pt idx="5">
                  <c:v>80.8</c:v>
                </c:pt>
                <c:pt idx="6">
                  <c:v>80.8</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80.9</c:v>
                </c:pt>
                <c:pt idx="2">
                  <c:v>80.9</c:v>
                </c:pt>
                <c:pt idx="3">
                  <c:v>80.8</c:v>
                </c:pt>
                <c:pt idx="4">
                  <c:v>80.8</c:v>
                </c:pt>
                <c:pt idx="5">
                  <c:v>81.1</c:v>
                </c:pt>
                <c:pt idx="6">
                  <c:v>81</c:v>
                </c:pt>
                <c:pt idx="7">
                  <c:v/>
                </c:pt>
                <c:pt idx="8">
                  <c:v/>
                </c:pt>
                <c:pt idx="9">
                  <c:v>80.8</c:v>
                </c:pt>
                <c:pt idx="10">
                  <c:v>81.1</c:v>
                </c:pt>
                <c:pt idx="11">
                  <c:v>80.8</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80.7</c:v>
                </c:pt>
                <c:pt idx="1">
                  <c:v/>
                </c:pt>
                <c:pt idx="2">
                  <c:v/>
                </c:pt>
                <c:pt idx="3">
                  <c:v/>
                </c:pt>
                <c:pt idx="4">
                  <c:v/>
                </c:pt>
                <c:pt idx="5">
                  <c:v/>
                </c:pt>
                <c:pt idx="6">
                  <c:v/>
                </c:pt>
                <c:pt idx="7">
                  <c:v>80.8</c:v>
                </c:pt>
                <c:pt idx="8">
                  <c:v>80.7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80.7</c:v>
                </c:pt>
                <c:pt idx="1">
                  <c:v>80.9</c:v>
                </c:pt>
                <c:pt idx="2">
                  <c:v>80.9</c:v>
                </c:pt>
                <c:pt idx="3">
                  <c:v>80.8</c:v>
                </c:pt>
                <c:pt idx="4">
                  <c:v>80.8</c:v>
                </c:pt>
                <c:pt idx="5">
                  <c:v>81.1</c:v>
                </c:pt>
                <c:pt idx="6">
                  <c:v>81</c:v>
                </c:pt>
                <c:pt idx="7">
                  <c:v>80.8</c:v>
                </c:pt>
                <c:pt idx="8">
                  <c:v>80.7</c:v>
                </c:pt>
                <c:pt idx="9">
                  <c:v>80.8</c:v>
                </c:pt>
                <c:pt idx="10">
                  <c:v>81.1</c:v>
                </c:pt>
                <c:pt idx="11">
                  <c:v>80.8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84"/>
          <c:min val="78"/>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40.5</c:v>
                </c:pt>
                <c:pt idx="1">
                  <c:v>40.3</c:v>
                </c:pt>
                <c:pt idx="2">
                  <c:v>41</c:v>
                </c:pt>
                <c:pt idx="3">
                  <c:v>39.6</c:v>
                </c:pt>
                <c:pt idx="4">
                  <c:v>41.3</c:v>
                </c:pt>
                <c:pt idx="5">
                  <c:v>41.3</c:v>
                </c:pt>
                <c:pt idx="6">
                  <c:v>40.6</c:v>
                </c:pt>
                <c:pt idx="7">
                  <c:v>41.1</c:v>
                </c:pt>
                <c:pt idx="8">
                  <c:v>40.1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6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40.5</c:v>
                </c:pt>
                <c:pt idx="1">
                  <c:v>40.3</c:v>
                </c:pt>
                <c:pt idx="2">
                  <c:v>41</c:v>
                </c:pt>
                <c:pt idx="3">
                  <c:v>39.6</c:v>
                </c:pt>
                <c:pt idx="4">
                  <c:v>41.3</c:v>
                </c:pt>
                <c:pt idx="5">
                  <c:v>41.3</c:v>
                </c:pt>
                <c:pt idx="6">
                  <c:v>40.6</c:v>
                </c:pt>
                <c:pt idx="7">
                  <c:v>41.1</c:v>
                </c:pt>
                <c:pt idx="8">
                  <c:v>40.1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39.4</c:v>
                </c:pt>
                <c:pt idx="1">
                  <c:v>39.4</c:v>
                </c:pt>
                <c:pt idx="2">
                  <c:v>39.6</c:v>
                </c:pt>
                <c:pt idx="3">
                  <c:v>38.3</c:v>
                </c:pt>
                <c:pt idx="4">
                  <c:v>39.9</c:v>
                </c:pt>
                <c:pt idx="5">
                  <c:v>40.3</c:v>
                </c:pt>
                <c:pt idx="6">
                  <c:v>39.5</c:v>
                </c:pt>
                <c:pt idx="7">
                  <c:v>39.4</c:v>
                </c:pt>
                <c:pt idx="8">
                  <c:v>39.2</c:v>
                </c:pt>
                <c:pt idx="9">
                  <c:v>38.1</c:v>
                </c:pt>
                <c:pt idx="10">
                  <c:v>39.4</c:v>
                </c:pt>
                <c:pt idx="11">
                  <c:v>39.7</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39.4</c:v>
                </c:pt>
                <c:pt idx="1">
                  <c:v>39.4</c:v>
                </c:pt>
                <c:pt idx="2">
                  <c:v>39.6</c:v>
                </c:pt>
                <c:pt idx="3">
                  <c:v>38.3</c:v>
                </c:pt>
                <c:pt idx="4">
                  <c:v>39.9</c:v>
                </c:pt>
                <c:pt idx="5">
                  <c:v>40.3</c:v>
                </c:pt>
                <c:pt idx="6">
                  <c:v>39.5</c:v>
                </c:pt>
                <c:pt idx="7">
                  <c:v>39.4</c:v>
                </c:pt>
                <c:pt idx="8">
                  <c:v>39.2</c:v>
                </c:pt>
                <c:pt idx="9">
                  <c:v>38.1</c:v>
                </c:pt>
                <c:pt idx="10">
                  <c:v>39.4</c:v>
                </c:pt>
                <c:pt idx="11">
                  <c:v>39.7</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12.2</c:v>
                </c:pt>
                <c:pt idx="1">
                  <c:v>13.3</c:v>
                </c:pt>
                <c:pt idx="2">
                  <c:v>13.4</c:v>
                </c:pt>
                <c:pt idx="3">
                  <c:v>14.2</c:v>
                </c:pt>
                <c:pt idx="4">
                  <c:v>13.6</c:v>
                </c:pt>
                <c:pt idx="5">
                  <c:v>13.5</c:v>
                </c:pt>
                <c:pt idx="6">
                  <c:v>13.3</c:v>
                </c:pt>
                <c:pt idx="7">
                  <c:v>13</c:v>
                </c:pt>
                <c:pt idx="8">
                  <c:v>13.1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6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12.2</c:v>
                </c:pt>
                <c:pt idx="1">
                  <c:v>13.3</c:v>
                </c:pt>
                <c:pt idx="2">
                  <c:v>13.4</c:v>
                </c:pt>
                <c:pt idx="3">
                  <c:v>14.2</c:v>
                </c:pt>
                <c:pt idx="4">
                  <c:v>13.6</c:v>
                </c:pt>
                <c:pt idx="5">
                  <c:v>13.5</c:v>
                </c:pt>
                <c:pt idx="6">
                  <c:v>13.3</c:v>
                </c:pt>
                <c:pt idx="7">
                  <c:v>13</c:v>
                </c:pt>
                <c:pt idx="8">
                  <c:v>13.1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11.2</c:v>
                </c:pt>
                <c:pt idx="1">
                  <c:v>12.3</c:v>
                </c:pt>
                <c:pt idx="2">
                  <c:v>12.8</c:v>
                </c:pt>
                <c:pt idx="3">
                  <c:v>12.7</c:v>
                </c:pt>
                <c:pt idx="4">
                  <c:v>12.3</c:v>
                </c:pt>
                <c:pt idx="5">
                  <c:v>11.6</c:v>
                </c:pt>
                <c:pt idx="6">
                  <c:v>11.3</c:v>
                </c:pt>
                <c:pt idx="7">
                  <c:v>11.6</c:v>
                </c:pt>
                <c:pt idx="8">
                  <c:v>11.5</c:v>
                </c:pt>
                <c:pt idx="9">
                  <c:v>12.1</c:v>
                </c:pt>
                <c:pt idx="10">
                  <c:v>12.3</c:v>
                </c:pt>
                <c:pt idx="11">
                  <c:v>11.8</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11.2</c:v>
                </c:pt>
                <c:pt idx="1">
                  <c:v>12.3</c:v>
                </c:pt>
                <c:pt idx="2">
                  <c:v>12.8</c:v>
                </c:pt>
                <c:pt idx="3">
                  <c:v>12.7</c:v>
                </c:pt>
                <c:pt idx="4">
                  <c:v>12.3</c:v>
                </c:pt>
                <c:pt idx="5">
                  <c:v>11.6</c:v>
                </c:pt>
                <c:pt idx="6">
                  <c:v>11.3</c:v>
                </c:pt>
                <c:pt idx="7">
                  <c:v>11.6</c:v>
                </c:pt>
                <c:pt idx="8">
                  <c:v>11.5</c:v>
                </c:pt>
                <c:pt idx="9">
                  <c:v>12.1</c:v>
                </c:pt>
                <c:pt idx="10">
                  <c:v>12.3</c:v>
                </c:pt>
                <c:pt idx="11">
                  <c:v>11.8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7.6</c:v>
                </c:pt>
                <c:pt idx="1">
                  <c:v>8.4</c:v>
                </c:pt>
                <c:pt idx="2">
                  <c:v>8.7</c:v>
                </c:pt>
                <c:pt idx="3">
                  <c:v>8.8</c:v>
                </c:pt>
                <c:pt idx="4">
                  <c:v>8.6</c:v>
                </c:pt>
                <c:pt idx="5">
                  <c:v>8.5</c:v>
                </c:pt>
                <c:pt idx="6">
                  <c:v>8.3</c:v>
                </c:pt>
                <c:pt idx="7">
                  <c:v>8.5</c:v>
                </c:pt>
                <c:pt idx="8">
                  <c:v>8.1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7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7.6</c:v>
                </c:pt>
                <c:pt idx="1">
                  <c:v>8.4</c:v>
                </c:pt>
                <c:pt idx="2">
                  <c:v>8.7</c:v>
                </c:pt>
                <c:pt idx="3">
                  <c:v>8.8</c:v>
                </c:pt>
                <c:pt idx="4">
                  <c:v>8.6</c:v>
                </c:pt>
                <c:pt idx="5">
                  <c:v>8.5</c:v>
                </c:pt>
                <c:pt idx="6">
                  <c:v>8.3</c:v>
                </c:pt>
                <c:pt idx="7">
                  <c:v>8.5</c:v>
                </c:pt>
                <c:pt idx="8">
                  <c:v>8.1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6.3</c:v>
                </c:pt>
                <c:pt idx="1">
                  <c:v>7.1</c:v>
                </c:pt>
                <c:pt idx="2">
                  <c:v>7.6</c:v>
                </c:pt>
                <c:pt idx="3">
                  <c:v>6.9</c:v>
                </c:pt>
                <c:pt idx="4">
                  <c:v>7.1</c:v>
                </c:pt>
                <c:pt idx="5">
                  <c:v>7</c:v>
                </c:pt>
                <c:pt idx="6">
                  <c:v>6.9</c:v>
                </c:pt>
                <c:pt idx="7">
                  <c:v>7</c:v>
                </c:pt>
                <c:pt idx="8">
                  <c:v>6.7</c:v>
                </c:pt>
                <c:pt idx="9">
                  <c:v>6.6</c:v>
                </c:pt>
                <c:pt idx="10">
                  <c:v>6.8</c:v>
                </c:pt>
                <c:pt idx="11">
                  <c:v>6.8</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6.3</c:v>
                </c:pt>
                <c:pt idx="1">
                  <c:v>7.1</c:v>
                </c:pt>
                <c:pt idx="2">
                  <c:v>7.6</c:v>
                </c:pt>
                <c:pt idx="3">
                  <c:v>6.9</c:v>
                </c:pt>
                <c:pt idx="4">
                  <c:v>7.1</c:v>
                </c:pt>
                <c:pt idx="5">
                  <c:v>7</c:v>
                </c:pt>
                <c:pt idx="6">
                  <c:v>6.9</c:v>
                </c:pt>
                <c:pt idx="7">
                  <c:v>7</c:v>
                </c:pt>
                <c:pt idx="8">
                  <c:v>6.7</c:v>
                </c:pt>
                <c:pt idx="9">
                  <c:v>6.6</c:v>
                </c:pt>
                <c:pt idx="10">
                  <c:v>6.8</c:v>
                </c:pt>
                <c:pt idx="11">
                  <c:v>6.8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0"/>
          <c:min val="5"/>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8.5</c:v>
                </c:pt>
                <c:pt idx="1">
                  <c:v>9</c:v>
                </c:pt>
                <c:pt idx="2">
                  <c:v>9.8</c:v>
                </c:pt>
                <c:pt idx="3">
                  <c:v>9.9</c:v>
                </c:pt>
                <c:pt idx="4">
                  <c:v>9.8</c:v>
                </c:pt>
                <c:pt idx="5">
                  <c:v>9.4</c:v>
                </c:pt>
                <c:pt idx="6">
                  <c:v>9</c:v>
                </c:pt>
                <c:pt idx="7">
                  <c:v>8.9</c:v>
                </c:pt>
                <c:pt idx="8">
                  <c:v>9.3</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7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8.5</c:v>
                </c:pt>
                <c:pt idx="1">
                  <c:v>9</c:v>
                </c:pt>
                <c:pt idx="2">
                  <c:v>9.8</c:v>
                </c:pt>
                <c:pt idx="3">
                  <c:v>9.9</c:v>
                </c:pt>
                <c:pt idx="4">
                  <c:v>9.8</c:v>
                </c:pt>
                <c:pt idx="5">
                  <c:v>9.4</c:v>
                </c:pt>
                <c:pt idx="6">
                  <c:v>9</c:v>
                </c:pt>
                <c:pt idx="7">
                  <c:v>8.9</c:v>
                </c:pt>
                <c:pt idx="8">
                  <c:v>9.3</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7.4</c:v>
                </c:pt>
                <c:pt idx="1">
                  <c:v>7.9</c:v>
                </c:pt>
                <c:pt idx="2">
                  <c:v>8.2</c:v>
                </c:pt>
                <c:pt idx="3">
                  <c:v>8.1</c:v>
                </c:pt>
                <c:pt idx="4">
                  <c:v>8.2</c:v>
                </c:pt>
                <c:pt idx="5">
                  <c:v>8</c:v>
                </c:pt>
                <c:pt idx="6">
                  <c:v>7.8</c:v>
                </c:pt>
                <c:pt idx="7">
                  <c:v>8.1</c:v>
                </c:pt>
                <c:pt idx="8">
                  <c:v>7.5</c:v>
                </c:pt>
                <c:pt idx="9">
                  <c:v>7.5</c:v>
                </c:pt>
                <c:pt idx="10">
                  <c:v>7.5</c:v>
                </c:pt>
                <c:pt idx="11">
                  <c:v>7.5</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7.4</c:v>
                </c:pt>
                <c:pt idx="1">
                  <c:v>7.9</c:v>
                </c:pt>
                <c:pt idx="2">
                  <c:v>8.2</c:v>
                </c:pt>
                <c:pt idx="3">
                  <c:v>8.1</c:v>
                </c:pt>
                <c:pt idx="4">
                  <c:v>8.2</c:v>
                </c:pt>
                <c:pt idx="5">
                  <c:v>8</c:v>
                </c:pt>
                <c:pt idx="6">
                  <c:v>7.8</c:v>
                </c:pt>
                <c:pt idx="7">
                  <c:v>8.1</c:v>
                </c:pt>
                <c:pt idx="8">
                  <c:v>7.5</c:v>
                </c:pt>
                <c:pt idx="9">
                  <c:v>7.5</c:v>
                </c:pt>
                <c:pt idx="10">
                  <c:v>7.5</c:v>
                </c:pt>
                <c:pt idx="11">
                  <c:v>7.5</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5.4</c:v>
                </c:pt>
                <c:pt idx="1">
                  <c:v>5.8</c:v>
                </c:pt>
                <c:pt idx="2">
                  <c:v>6.2</c:v>
                </c:pt>
                <c:pt idx="3">
                  <c:v>6</c:v>
                </c:pt>
                <c:pt idx="4">
                  <c:v>6.3</c:v>
                </c:pt>
                <c:pt idx="5">
                  <c:v>5.9</c:v>
                </c:pt>
                <c:pt idx="6">
                  <c:v>5.6</c:v>
                </c:pt>
                <c:pt idx="7">
                  <c:v>5.3</c:v>
                </c:pt>
                <c:pt idx="8">
                  <c:v>5.8</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8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5.4</c:v>
                </c:pt>
                <c:pt idx="1">
                  <c:v>5.8</c:v>
                </c:pt>
                <c:pt idx="2">
                  <c:v>6.2</c:v>
                </c:pt>
                <c:pt idx="3">
                  <c:v>6</c:v>
                </c:pt>
                <c:pt idx="4">
                  <c:v>6.3</c:v>
                </c:pt>
                <c:pt idx="5">
                  <c:v>5.9</c:v>
                </c:pt>
                <c:pt idx="6">
                  <c:v>5.6</c:v>
                </c:pt>
                <c:pt idx="7">
                  <c:v>5.3</c:v>
                </c:pt>
                <c:pt idx="8">
                  <c:v>5.8</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c:v>
                </c:pt>
                <c:pt idx="1">
                  <c:v>4.6</c:v>
                </c:pt>
                <c:pt idx="2">
                  <c:v>4.9</c:v>
                </c:pt>
                <c:pt idx="3">
                  <c:v>4.9</c:v>
                </c:pt>
                <c:pt idx="4">
                  <c:v>4.6</c:v>
                </c:pt>
                <c:pt idx="5">
                  <c:v>4.7</c:v>
                </c:pt>
                <c:pt idx="6">
                  <c:v>4.3</c:v>
                </c:pt>
                <c:pt idx="7">
                  <c:v>4.7</c:v>
                </c:pt>
                <c:pt idx="8">
                  <c:v>4.5</c:v>
                </c:pt>
                <c:pt idx="9">
                  <c:v>4.6</c:v>
                </c:pt>
                <c:pt idx="10">
                  <c:v>4.8</c:v>
                </c:pt>
                <c:pt idx="11">
                  <c:v>4.9</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c:v>
                </c:pt>
                <c:pt idx="1">
                  <c:v>4.6</c:v>
                </c:pt>
                <c:pt idx="2">
                  <c:v>4.9</c:v>
                </c:pt>
                <c:pt idx="3">
                  <c:v>4.9</c:v>
                </c:pt>
                <c:pt idx="4">
                  <c:v>4.6</c:v>
                </c:pt>
                <c:pt idx="5">
                  <c:v>4.7</c:v>
                </c:pt>
                <c:pt idx="6">
                  <c:v>4.3</c:v>
                </c:pt>
                <c:pt idx="7">
                  <c:v>4.7</c:v>
                </c:pt>
                <c:pt idx="8">
                  <c:v>4.5</c:v>
                </c:pt>
                <c:pt idx="9">
                  <c:v>4.6</c:v>
                </c:pt>
                <c:pt idx="10">
                  <c:v>4.8</c:v>
                </c:pt>
                <c:pt idx="11">
                  <c:v>4.9</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125.77</c:v>
                </c:pt>
                <c:pt idx="1">
                  <c:v>124.08</c:v>
                </c:pt>
                <c:pt idx="2">
                  <c:v>130.61</c:v>
                </c:pt>
                <c:pt idx="3">
                  <c:v>130.85</c:v>
                </c:pt>
                <c:pt idx="4">
                  <c:v>131.64</c:v>
                </c:pt>
                <c:pt idx="5">
                  <c:v>128.34</c:v>
                </c:pt>
                <c:pt idx="6">
                  <c:v>132.55</c:v>
                </c:pt>
                <c:pt idx="7">
                  <c:v>129.87</c:v>
                </c:pt>
                <c:pt idx="8">
                  <c:v>133.77</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8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125.77</c:v>
                </c:pt>
                <c:pt idx="1">
                  <c:v/>
                </c:pt>
                <c:pt idx="2">
                  <c:v>130.61</c:v>
                </c:pt>
                <c:pt idx="3">
                  <c:v>130.85</c:v>
                </c:pt>
                <c:pt idx="4">
                  <c:v>131.64</c:v>
                </c:pt>
                <c:pt idx="5">
                  <c:v/>
                </c:pt>
                <c:pt idx="6">
                  <c:v>132.55</c:v>
                </c:pt>
                <c:pt idx="7">
                  <c:v>129.87</c:v>
                </c:pt>
                <c:pt idx="8">
                  <c:v>133.77</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124.08</c:v>
                </c:pt>
                <c:pt idx="2">
                  <c:v/>
                </c:pt>
                <c:pt idx="3">
                  <c:v/>
                </c:pt>
                <c:pt idx="4">
                  <c:v/>
                </c:pt>
                <c:pt idx="5">
                  <c:v>128.34</c:v>
                </c:pt>
                <c:pt idx="6">
                  <c:v/>
                </c:pt>
                <c:pt idx="7">
                  <c:v/>
                </c:pt>
                <c:pt idx="8">
                  <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125.41</c:v>
                </c:pt>
                <c:pt idx="2">
                  <c:v/>
                </c:pt>
                <c:pt idx="3">
                  <c:v/>
                </c:pt>
                <c:pt idx="4">
                  <c:v/>
                </c:pt>
                <c:pt idx="5">
                  <c:v>128.94</c:v>
                </c:pt>
                <c:pt idx="6">
                  <c:v/>
                </c:pt>
                <c:pt idx="7">
                  <c:v/>
                </c:pt>
                <c:pt idx="8">
                  <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123.77</c:v>
                </c:pt>
                <c:pt idx="1">
                  <c:v/>
                </c:pt>
                <c:pt idx="2">
                  <c:v>124.77</c:v>
                </c:pt>
                <c:pt idx="3">
                  <c:v>125.94</c:v>
                </c:pt>
                <c:pt idx="4">
                  <c:v>130.19</c:v>
                </c:pt>
                <c:pt idx="5">
                  <c:v/>
                </c:pt>
                <c:pt idx="6">
                  <c:v>125.78</c:v>
                </c:pt>
                <c:pt idx="7">
                  <c:v>125.81</c:v>
                </c:pt>
                <c:pt idx="8">
                  <c:v>124.46</c:v>
                </c:pt>
                <c:pt idx="9">
                  <c:v>125.52</c:v>
                </c:pt>
                <c:pt idx="10">
                  <c:v>125.56</c:v>
                </c:pt>
                <c:pt idx="11">
                  <c:v>130.39</c:v>
                </c:pt>
              </c:numCache>
            </c:numRef>
          </c:val>
          <c:smooth val="0"/>
        </c:ser>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123.77</c:v>
                </c:pt>
                <c:pt idx="1">
                  <c:v>125.41</c:v>
                </c:pt>
                <c:pt idx="2">
                  <c:v>124.77</c:v>
                </c:pt>
                <c:pt idx="3">
                  <c:v>125.94</c:v>
                </c:pt>
                <c:pt idx="4">
                  <c:v>130.19</c:v>
                </c:pt>
                <c:pt idx="5">
                  <c:v>128.94</c:v>
                </c:pt>
                <c:pt idx="6">
                  <c:v>125.78</c:v>
                </c:pt>
                <c:pt idx="7">
                  <c:v>125.81</c:v>
                </c:pt>
                <c:pt idx="8">
                  <c:v>124.46</c:v>
                </c:pt>
                <c:pt idx="9">
                  <c:v>125.52</c:v>
                </c:pt>
                <c:pt idx="10">
                  <c:v>125.56</c:v>
                </c:pt>
                <c:pt idx="11">
                  <c:v>130.39</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77.5</c:v>
                </c:pt>
                <c:pt idx="1">
                  <c:v>77.4</c:v>
                </c:pt>
                <c:pt idx="2">
                  <c:v>78.4</c:v>
                </c:pt>
                <c:pt idx="3">
                  <c:v>78.3</c:v>
                </c:pt>
                <c:pt idx="4">
                  <c:v>78.8</c:v>
                </c:pt>
                <c:pt idx="5">
                  <c:v>77.8</c:v>
                </c:pt>
                <c:pt idx="6">
                  <c:v>78.7</c:v>
                </c:pt>
                <c:pt idx="7">
                  <c:v>77.9</c:v>
                </c:pt>
                <c:pt idx="8">
                  <c:v>78.2</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9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78.4</c:v>
                </c:pt>
                <c:pt idx="3">
                  <c:v>78.3</c:v>
                </c:pt>
                <c:pt idx="4">
                  <c:v>78.8</c:v>
                </c:pt>
                <c:pt idx="5">
                  <c:v/>
                </c:pt>
                <c:pt idx="6">
                  <c:v>78.7</c:v>
                </c:pt>
                <c:pt idx="7">
                  <c:v>77.9</c:v>
                </c:pt>
                <c:pt idx="8">
                  <c:v>78.2</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77.5</c:v>
                </c:pt>
                <c:pt idx="1">
                  <c:v>77.4</c:v>
                </c:pt>
                <c:pt idx="2">
                  <c:v/>
                </c:pt>
                <c:pt idx="3">
                  <c:v/>
                </c:pt>
                <c:pt idx="4">
                  <c:v/>
                </c:pt>
                <c:pt idx="5">
                  <c:v>77.8</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77.6</c:v>
                </c:pt>
                <c:pt idx="1">
                  <c:v>78</c:v>
                </c:pt>
                <c:pt idx="2">
                  <c:v/>
                </c:pt>
                <c:pt idx="3">
                  <c:v/>
                </c:pt>
                <c:pt idx="4">
                  <c:v/>
                </c:pt>
                <c:pt idx="5">
                  <c:v>78.3</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77.9</c:v>
                </c:pt>
                <c:pt idx="3">
                  <c:v>78</c:v>
                </c:pt>
                <c:pt idx="4">
                  <c:v>78.5</c:v>
                </c:pt>
                <c:pt idx="5">
                  <c:v/>
                </c:pt>
                <c:pt idx="6">
                  <c:v>77.7</c:v>
                </c:pt>
                <c:pt idx="7">
                  <c:v>77.4</c:v>
                </c:pt>
                <c:pt idx="8">
                  <c:v>77.3</c:v>
                </c:pt>
                <c:pt idx="9">
                  <c:v>77.9</c:v>
                </c:pt>
                <c:pt idx="10">
                  <c:v>77.4</c:v>
                </c:pt>
                <c:pt idx="11">
                  <c:v>78.4</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77.6</c:v>
                </c:pt>
                <c:pt idx="1">
                  <c:v>78</c:v>
                </c:pt>
                <c:pt idx="2">
                  <c:v>77.9</c:v>
                </c:pt>
                <c:pt idx="3">
                  <c:v>78</c:v>
                </c:pt>
                <c:pt idx="4">
                  <c:v>78.5</c:v>
                </c:pt>
                <c:pt idx="5">
                  <c:v>78.3</c:v>
                </c:pt>
                <c:pt idx="6">
                  <c:v>77.7</c:v>
                </c:pt>
                <c:pt idx="7">
                  <c:v>77.4</c:v>
                </c:pt>
                <c:pt idx="8">
                  <c:v>77.3</c:v>
                </c:pt>
                <c:pt idx="9">
                  <c:v>77.9</c:v>
                </c:pt>
                <c:pt idx="10">
                  <c:v>77.4</c:v>
                </c:pt>
                <c:pt idx="11">
                  <c:v>78.4</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35.9</c:v>
                </c:pt>
                <c:pt idx="1">
                  <c:v>35.9</c:v>
                </c:pt>
                <c:pt idx="2">
                  <c:v>36.3</c:v>
                </c:pt>
                <c:pt idx="3">
                  <c:v>36.4</c:v>
                </c:pt>
                <c:pt idx="4">
                  <c:v>37.2</c:v>
                </c:pt>
                <c:pt idx="5">
                  <c:v>37</c:v>
                </c:pt>
                <c:pt idx="6">
                  <c:v>36.6</c:v>
                </c:pt>
                <c:pt idx="7">
                  <c:v>36.1</c:v>
                </c:pt>
                <c:pt idx="8">
                  <c:v>36.7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9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35.9</c:v>
                </c:pt>
                <c:pt idx="1">
                  <c:v>35.9</c:v>
                </c:pt>
                <c:pt idx="2">
                  <c:v>36.3</c:v>
                </c:pt>
                <c:pt idx="3">
                  <c:v/>
                </c:pt>
                <c:pt idx="4">
                  <c:v>37.2</c:v>
                </c:pt>
                <c:pt idx="5">
                  <c:v>37</c:v>
                </c:pt>
                <c:pt idx="6">
                  <c:v>36.6</c:v>
                </c:pt>
                <c:pt idx="7">
                  <c:v>36.1</c:v>
                </c:pt>
                <c:pt idx="8">
                  <c:v>36.7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36.4</c:v>
                </c:pt>
                <c:pt idx="4">
                  <c:v/>
                </c:pt>
                <c:pt idx="5">
                  <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36.7</c:v>
                </c:pt>
                <c:pt idx="4">
                  <c:v/>
                </c:pt>
                <c:pt idx="5">
                  <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35.1</c:v>
                </c:pt>
                <c:pt idx="1">
                  <c:v>35.5</c:v>
                </c:pt>
                <c:pt idx="2">
                  <c:v>36.2</c:v>
                </c:pt>
                <c:pt idx="3">
                  <c:v/>
                </c:pt>
                <c:pt idx="4">
                  <c:v>35.5</c:v>
                </c:pt>
                <c:pt idx="5">
                  <c:v>36.7</c:v>
                </c:pt>
                <c:pt idx="6">
                  <c:v>36.4</c:v>
                </c:pt>
                <c:pt idx="7">
                  <c:v>35.3</c:v>
                </c:pt>
                <c:pt idx="8">
                  <c:v>36.1</c:v>
                </c:pt>
                <c:pt idx="9">
                  <c:v>35.4</c:v>
                </c:pt>
                <c:pt idx="10">
                  <c:v>35.2</c:v>
                </c:pt>
                <c:pt idx="11">
                  <c:v>35.4</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35.1</c:v>
                </c:pt>
                <c:pt idx="1">
                  <c:v>35.5</c:v>
                </c:pt>
                <c:pt idx="2">
                  <c:v>36.2</c:v>
                </c:pt>
                <c:pt idx="3">
                  <c:v>36.7</c:v>
                </c:pt>
                <c:pt idx="4">
                  <c:v>35.5</c:v>
                </c:pt>
                <c:pt idx="5">
                  <c:v>36.7</c:v>
                </c:pt>
                <c:pt idx="6">
                  <c:v>36.4</c:v>
                </c:pt>
                <c:pt idx="7">
                  <c:v>35.3</c:v>
                </c:pt>
                <c:pt idx="8">
                  <c:v>36.1</c:v>
                </c:pt>
                <c:pt idx="9">
                  <c:v>35.4</c:v>
                </c:pt>
                <c:pt idx="10">
                  <c:v>35.2</c:v>
                </c:pt>
                <c:pt idx="11">
                  <c:v>35.4</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12996</c:v>
                </c:pt>
                <c:pt idx="1">
                  <c:v>12334</c:v>
                </c:pt>
                <c:pt idx="2">
                  <c:v>13714</c:v>
                </c:pt>
                <c:pt idx="3">
                  <c:v>14108</c:v>
                </c:pt>
                <c:pt idx="4">
                  <c:v>13092</c:v>
                </c:pt>
                <c:pt idx="5">
                  <c:v>13919</c:v>
                </c:pt>
                <c:pt idx="6">
                  <c:v>14673</c:v>
                </c:pt>
                <c:pt idx="7">
                  <c:v>13972</c:v>
                </c:pt>
                <c:pt idx="8">
                  <c:v>13721</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noFill/>
        <a:ln>
          <a:noFill/>
        </a:ln>
        <a:effectLst/>
      </c:spPr>
    </c:plotArea>
    <c:plotVisOnly val="1"/>
    <c:dispBlanksAs val="span"/>
  </c:chart>
  <c:spPr>
    <a:noFill/>
    <a:ln>
      <a:noFill/>
    </a:ln>
    <a:effectLst/>
  </c:spPr>
  <c:externalData r:id="rId1">
    <c:autoUpdate val="0"/>
  </c:externalData>
</c:chartSpace>
</file>

<file path=ppt/charts/chart10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12996</c:v>
                </c:pt>
                <c:pt idx="1">
                  <c:v>12334</c:v>
                </c:pt>
                <c:pt idx="2">
                  <c:v>13714</c:v>
                </c:pt>
                <c:pt idx="3">
                  <c:v>14108</c:v>
                </c:pt>
                <c:pt idx="4">
                  <c:v>13092</c:v>
                </c:pt>
                <c:pt idx="5">
                  <c:v>13919</c:v>
                </c:pt>
                <c:pt idx="6">
                  <c:v>14673</c:v>
                </c:pt>
                <c:pt idx="7">
                  <c:v>13972</c:v>
                </c:pt>
                <c:pt idx="8">
                  <c:v>13721</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12592</c:v>
                </c:pt>
                <c:pt idx="1">
                  <c:v>11705</c:v>
                </c:pt>
                <c:pt idx="2">
                  <c:v>12397</c:v>
                </c:pt>
                <c:pt idx="3">
                  <c:v>12913</c:v>
                </c:pt>
                <c:pt idx="4">
                  <c:v>12494</c:v>
                </c:pt>
                <c:pt idx="5">
                  <c:v>12584</c:v>
                </c:pt>
                <c:pt idx="6">
                  <c:v>12740</c:v>
                </c:pt>
                <c:pt idx="7">
                  <c:v>12488</c:v>
                </c:pt>
                <c:pt idx="8">
                  <c:v>11778</c:v>
                </c:pt>
                <c:pt idx="9">
                  <c:v>13262</c:v>
                </c:pt>
                <c:pt idx="10">
                  <c:v>11216</c:v>
                </c:pt>
                <c:pt idx="11">
                  <c:v>12359</c:v>
                </c:pt>
              </c:numCache>
            </c:numRef>
          </c:val>
          <c:smooth val="0"/>
        </c:ser>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12592</c:v>
                </c:pt>
                <c:pt idx="1">
                  <c:v>11705</c:v>
                </c:pt>
                <c:pt idx="2">
                  <c:v>12397</c:v>
                </c:pt>
                <c:pt idx="3">
                  <c:v>12913</c:v>
                </c:pt>
                <c:pt idx="4">
                  <c:v>12494</c:v>
                </c:pt>
                <c:pt idx="5">
                  <c:v>12584</c:v>
                </c:pt>
                <c:pt idx="6">
                  <c:v>12740</c:v>
                </c:pt>
                <c:pt idx="7">
                  <c:v>12488</c:v>
                </c:pt>
                <c:pt idx="8">
                  <c:v>11778</c:v>
                </c:pt>
                <c:pt idx="9">
                  <c:v>13262</c:v>
                </c:pt>
                <c:pt idx="10">
                  <c:v>11216</c:v>
                </c:pt>
                <c:pt idx="11">
                  <c:v>12359</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165.0483870967742</c:v>
                </c:pt>
                <c:pt idx="1">
                  <c:v>148.57142857142858</c:v>
                </c:pt>
                <c:pt idx="2">
                  <c:v>165.3531746031746</c:v>
                </c:pt>
                <c:pt idx="3">
                  <c:v>163.812</c:v>
                </c:pt>
                <c:pt idx="4">
                  <c:v>157.87007874015748</c:v>
                </c:pt>
                <c:pt idx="5">
                  <c:v>171.412</c:v>
                </c:pt>
                <c:pt idx="6">
                  <c:v>174.588</c:v>
                </c:pt>
                <c:pt idx="7">
                  <c:v>176.49180327868854</c:v>
                </c:pt>
                <c:pt idx="8">
                  <c:v>172.46058091286307</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charts/chart10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171.412</c:v>
                </c:pt>
                <c:pt idx="6">
                  <c:v/>
                </c:pt>
                <c:pt idx="7">
                  <c:v>176.49180327868854</c:v>
                </c:pt>
                <c:pt idx="8">
                  <c:v>172.46058091286307</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165.0483870967742</c:v>
                </c:pt>
                <c:pt idx="1">
                  <c:v>148.57142857142858</c:v>
                </c:pt>
                <c:pt idx="2">
                  <c:v>165.3531746031746</c:v>
                </c:pt>
                <c:pt idx="3">
                  <c:v>163.812</c:v>
                </c:pt>
                <c:pt idx="4">
                  <c:v>157.87007874015748</c:v>
                </c:pt>
                <c:pt idx="5">
                  <c:v/>
                </c:pt>
                <c:pt idx="6">
                  <c:v>174.588</c:v>
                </c:pt>
                <c:pt idx="7">
                  <c:v/>
                </c:pt>
                <c:pt idx="8">
                  <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181.76470588235293</c:v>
                </c:pt>
                <c:pt idx="1">
                  <c:v>167.49789029535864</c:v>
                </c:pt>
                <c:pt idx="2">
                  <c:v>178.79166666666666</c:v>
                </c:pt>
                <c:pt idx="3">
                  <c:v>176.42561983471074</c:v>
                </c:pt>
                <c:pt idx="4">
                  <c:v>169.248</c:v>
                </c:pt>
                <c:pt idx="5">
                  <c:v/>
                </c:pt>
                <c:pt idx="6">
                  <c:v>177.77732793522267</c:v>
                </c:pt>
                <c:pt idx="7">
                  <c:v/>
                </c:pt>
                <c:pt idx="8">
                  <c:v/>
                </c:pt>
                <c:pt idx="9">
                  <c:v>173.3413654618474</c:v>
                </c:pt>
                <c:pt idx="10">
                  <c:v>152.834008097166</c:v>
                </c:pt>
                <c:pt idx="11">
                  <c:v>159.43373493975903</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171.10526315789474</c:v>
                </c:pt>
                <c:pt idx="6">
                  <c:v/>
                </c:pt>
                <c:pt idx="7">
                  <c:v>171.31075697211156</c:v>
                </c:pt>
                <c:pt idx="8">
                  <c:v>160.78225806451613</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181.76470588235293</c:v>
                </c:pt>
                <c:pt idx="1">
                  <c:v>167.49789029535864</c:v>
                </c:pt>
                <c:pt idx="2">
                  <c:v>178.79166666666666</c:v>
                </c:pt>
                <c:pt idx="3">
                  <c:v>176.42561983471074</c:v>
                </c:pt>
                <c:pt idx="4">
                  <c:v>169.248</c:v>
                </c:pt>
                <c:pt idx="5">
                  <c:v>171.10526315789474</c:v>
                </c:pt>
                <c:pt idx="6">
                  <c:v>177.77732793522267</c:v>
                </c:pt>
                <c:pt idx="7">
                  <c:v>171.31075697211156</c:v>
                </c:pt>
                <c:pt idx="8">
                  <c:v>160.78225806451613</c:v>
                </c:pt>
                <c:pt idx="9">
                  <c:v>173.3413654618474</c:v>
                </c:pt>
                <c:pt idx="10">
                  <c:v>152.834008097166</c:v>
                </c:pt>
                <c:pt idx="11">
                  <c:v>159.43373493975903</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26.75294117647059</c:v>
                </c:pt>
                <c:pt idx="1">
                  <c:v>23.790849673202615</c:v>
                </c:pt>
                <c:pt idx="2">
                  <c:v>27.057792207792208</c:v>
                </c:pt>
                <c:pt idx="3">
                  <c:v>26.506796116504855</c:v>
                </c:pt>
                <c:pt idx="4">
                  <c:v>26.089134677944045</c:v>
                </c:pt>
                <c:pt idx="5">
                  <c:v>27.71862871927555</c:v>
                </c:pt>
                <c:pt idx="6">
                  <c:v>28.19573643410853</c:v>
                </c:pt>
                <c:pt idx="7">
                  <c:v>27.801162040025822</c:v>
                </c:pt>
                <c:pt idx="8">
                  <c:v>26.98896103896104</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1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26.75294117647059</c:v>
                </c:pt>
                <c:pt idx="1">
                  <c:v/>
                </c:pt>
                <c:pt idx="2">
                  <c:v>27.057792207792208</c:v>
                </c:pt>
                <c:pt idx="3">
                  <c:v>26.506796116504855</c:v>
                </c:pt>
                <c:pt idx="4">
                  <c:v>26.089134677944045</c:v>
                </c:pt>
                <c:pt idx="5">
                  <c:v>27.71862871927555</c:v>
                </c:pt>
                <c:pt idx="6">
                  <c:v>28.19573643410853</c:v>
                </c:pt>
                <c:pt idx="7">
                  <c:v>27.801162040025822</c:v>
                </c:pt>
                <c:pt idx="8">
                  <c:v>26.98896103896104</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23.790849673202615</c:v>
                </c:pt>
                <c:pt idx="2">
                  <c:v/>
                </c:pt>
                <c:pt idx="3">
                  <c:v/>
                </c:pt>
                <c:pt idx="4">
                  <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24.324142156862745</c:v>
                </c:pt>
                <c:pt idx="2">
                  <c:v/>
                </c:pt>
                <c:pt idx="3">
                  <c:v/>
                </c:pt>
                <c:pt idx="4">
                  <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26.62153846153846</c:v>
                </c:pt>
                <c:pt idx="1">
                  <c:v/>
                </c:pt>
                <c:pt idx="2">
                  <c:v>26.341313689379987</c:v>
                </c:pt>
                <c:pt idx="3">
                  <c:v>26.436532507739937</c:v>
                </c:pt>
                <c:pt idx="4">
                  <c:v>26.070240295748615</c:v>
                </c:pt>
                <c:pt idx="5">
                  <c:v>26.152846534653467</c:v>
                </c:pt>
                <c:pt idx="6">
                  <c:v>26.955801104972377</c:v>
                </c:pt>
                <c:pt idx="7">
                  <c:v>26.42839582052858</c:v>
                </c:pt>
                <c:pt idx="8">
                  <c:v>24.67450495049505</c:v>
                </c:pt>
                <c:pt idx="9">
                  <c:v>26.908977556109726</c:v>
                </c:pt>
                <c:pt idx="10">
                  <c:v>23.8621997471555</c:v>
                </c:pt>
                <c:pt idx="11">
                  <c:v>25.399232245681382</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26.62153846153846</c:v>
                </c:pt>
                <c:pt idx="1">
                  <c:v>24.324142156862745</c:v>
                </c:pt>
                <c:pt idx="2">
                  <c:v>26.341313689379987</c:v>
                </c:pt>
                <c:pt idx="3">
                  <c:v>26.436532507739937</c:v>
                </c:pt>
                <c:pt idx="4">
                  <c:v>26.070240295748615</c:v>
                </c:pt>
                <c:pt idx="5">
                  <c:v>26.152846534653467</c:v>
                </c:pt>
                <c:pt idx="6">
                  <c:v>26.955801104972377</c:v>
                </c:pt>
                <c:pt idx="7">
                  <c:v>26.42839582052858</c:v>
                </c:pt>
                <c:pt idx="8">
                  <c:v>24.67450495049505</c:v>
                </c:pt>
                <c:pt idx="9">
                  <c:v>26.908977556109726</c:v>
                </c:pt>
                <c:pt idx="10">
                  <c:v>23.8621997471555</c:v>
                </c:pt>
                <c:pt idx="11">
                  <c:v>25.399232245681382</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386.1509433962264</c:v>
                </c:pt>
                <c:pt idx="1">
                  <c:v>337.037037037037</c:v>
                </c:pt>
                <c:pt idx="2">
                  <c:v>389.4299065420561</c:v>
                </c:pt>
                <c:pt idx="3">
                  <c:v>386.3490566037736</c:v>
                </c:pt>
                <c:pt idx="4">
                  <c:v>381.8952380952381</c:v>
                </c:pt>
                <c:pt idx="5">
                  <c:v>408.12380952380954</c:v>
                </c:pt>
                <c:pt idx="6">
                  <c:v>411.7641509433962</c:v>
                </c:pt>
                <c:pt idx="7">
                  <c:v>414.0769230769231</c:v>
                </c:pt>
                <c:pt idx="8">
                  <c:v>399.6442307692308</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noFill/>
        <a:ln>
          <a:noFill/>
        </a:ln>
        <a:effectLst/>
      </c:spPr>
    </c:plotArea>
    <c:plotVisOnly val="1"/>
    <c:dispBlanksAs val="span"/>
  </c:chart>
  <c:spPr>
    <a:noFill/>
    <a:ln>
      <a:noFill/>
    </a:ln>
    <a:effectLst/>
  </c:spPr>
  <c:externalData r:id="rId1">
    <c:autoUpdate val="0"/>
  </c:externalData>
</c:chartSpace>
</file>

<file path=ppt/charts/chart1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386.1509433962264</c:v>
                </c:pt>
                <c:pt idx="1">
                  <c:v/>
                </c:pt>
                <c:pt idx="2">
                  <c:v>389.4299065420561</c:v>
                </c:pt>
                <c:pt idx="3">
                  <c:v>386.3490566037736</c:v>
                </c:pt>
                <c:pt idx="4">
                  <c:v>381.8952380952381</c:v>
                </c:pt>
                <c:pt idx="5">
                  <c:v>408.12380952380954</c:v>
                </c:pt>
                <c:pt idx="6">
                  <c:v>411.7641509433962</c:v>
                </c:pt>
                <c:pt idx="7">
                  <c:v>414.0769230769231</c:v>
                </c:pt>
                <c:pt idx="8">
                  <c:v>399.6442307692308</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337.037037037037</c:v>
                </c:pt>
                <c:pt idx="2">
                  <c:v/>
                </c:pt>
                <c:pt idx="3">
                  <c:v/>
                </c:pt>
                <c:pt idx="4">
                  <c:v/>
                </c:pt>
                <c:pt idx="5">
                  <c:v/>
                </c:pt>
                <c:pt idx="6">
                  <c:v/>
                </c:pt>
                <c:pt idx="7">
                  <c:v/>
                </c:pt>
                <c:pt idx="8">
                  <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342.2155172413793</c:v>
                </c:pt>
                <c:pt idx="2">
                  <c:v/>
                </c:pt>
                <c:pt idx="3">
                  <c:v/>
                </c:pt>
                <c:pt idx="4">
                  <c:v/>
                </c:pt>
                <c:pt idx="5">
                  <c:v/>
                </c:pt>
                <c:pt idx="6">
                  <c:v/>
                </c:pt>
                <c:pt idx="7">
                  <c:v/>
                </c:pt>
                <c:pt idx="8">
                  <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369.7435897435897</c:v>
                </c:pt>
                <c:pt idx="1">
                  <c:v/>
                </c:pt>
                <c:pt idx="2">
                  <c:v>369.91379310344826</c:v>
                </c:pt>
                <c:pt idx="3">
                  <c:v>384.63963963963965</c:v>
                </c:pt>
                <c:pt idx="4">
                  <c:v>381.18918918918916</c:v>
                </c:pt>
                <c:pt idx="5">
                  <c:v>387.73394495412845</c:v>
                </c:pt>
                <c:pt idx="6">
                  <c:v>399.1909090909091</c:v>
                </c:pt>
                <c:pt idx="7">
                  <c:v>390.9</c:v>
                </c:pt>
                <c:pt idx="8">
                  <c:v>372.6542056074766</c:v>
                </c:pt>
                <c:pt idx="9">
                  <c:v>395.9816513761468</c:v>
                </c:pt>
                <c:pt idx="10">
                  <c:v>352.803738317757</c:v>
                </c:pt>
                <c:pt idx="11">
                  <c:v>371.01869158878503</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369.7435897435897</c:v>
                </c:pt>
                <c:pt idx="1">
                  <c:v>342.2155172413793</c:v>
                </c:pt>
                <c:pt idx="2">
                  <c:v>369.91379310344826</c:v>
                </c:pt>
                <c:pt idx="3">
                  <c:v>384.63963963963965</c:v>
                </c:pt>
                <c:pt idx="4">
                  <c:v>381.18918918918916</c:v>
                </c:pt>
                <c:pt idx="5">
                  <c:v>387.73394495412845</c:v>
                </c:pt>
                <c:pt idx="6">
                  <c:v>399.1909090909091</c:v>
                </c:pt>
                <c:pt idx="7">
                  <c:v>390.9</c:v>
                </c:pt>
                <c:pt idx="8">
                  <c:v>372.6542056074766</c:v>
                </c:pt>
                <c:pt idx="9">
                  <c:v>395.9816513761468</c:v>
                </c:pt>
                <c:pt idx="10">
                  <c:v>352.803738317757</c:v>
                </c:pt>
                <c:pt idx="11">
                  <c:v>371.01869158878503</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1530</c:v>
                </c:pt>
                <c:pt idx="1">
                  <c:v>1530</c:v>
                </c:pt>
                <c:pt idx="2">
                  <c:v>1540</c:v>
                </c:pt>
                <c:pt idx="3">
                  <c:v>1545</c:v>
                </c:pt>
                <c:pt idx="4">
                  <c:v>1537</c:v>
                </c:pt>
                <c:pt idx="5">
                  <c:v>1546</c:v>
                </c:pt>
                <c:pt idx="6">
                  <c:v>1548</c:v>
                </c:pt>
                <c:pt idx="7">
                  <c:v>1549</c:v>
                </c:pt>
                <c:pt idx="8">
                  <c:v>1540</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noFill/>
        <a:ln>
          <a:noFill/>
        </a:ln>
        <a:effectLst/>
      </c:spPr>
    </c:plotArea>
    <c:plotVisOnly val="1"/>
    <c:dispBlanksAs val="span"/>
  </c:chart>
  <c:spPr>
    <a:noFill/>
    <a:ln>
      <a:noFill/>
    </a:ln>
    <a:effectLst/>
  </c:spPr>
  <c:externalData r:id="rId1">
    <c:autoUpdate val="0"/>
  </c:externalData>
</c:chartSpace>
</file>

<file path=ppt/charts/chart1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1530</c:v>
                </c:pt>
                <c:pt idx="1">
                  <c:v>1530</c:v>
                </c:pt>
                <c:pt idx="2">
                  <c:v>1540</c:v>
                </c:pt>
                <c:pt idx="3">
                  <c:v>1545</c:v>
                </c:pt>
                <c:pt idx="4">
                  <c:v>1537</c:v>
                </c:pt>
                <c:pt idx="5">
                  <c:v>1546</c:v>
                </c:pt>
                <c:pt idx="6">
                  <c:v>1548</c:v>
                </c:pt>
                <c:pt idx="7">
                  <c:v>1549</c:v>
                </c:pt>
                <c:pt idx="8">
                  <c:v>1540</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1625</c:v>
                </c:pt>
                <c:pt idx="1">
                  <c:v>1632</c:v>
                </c:pt>
                <c:pt idx="2">
                  <c:v>1629</c:v>
                </c:pt>
                <c:pt idx="3">
                  <c:v>1615</c:v>
                </c:pt>
                <c:pt idx="4">
                  <c:v>1623</c:v>
                </c:pt>
                <c:pt idx="5">
                  <c:v>1616</c:v>
                </c:pt>
                <c:pt idx="6">
                  <c:v>1629</c:v>
                </c:pt>
                <c:pt idx="7">
                  <c:v>1627</c:v>
                </c:pt>
                <c:pt idx="8">
                  <c:v>1616</c:v>
                </c:pt>
                <c:pt idx="9">
                  <c:v>1604</c:v>
                </c:pt>
                <c:pt idx="10">
                  <c:v>1582</c:v>
                </c:pt>
                <c:pt idx="11">
                  <c:v>1563</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1625</c:v>
                </c:pt>
                <c:pt idx="1">
                  <c:v>1632</c:v>
                </c:pt>
                <c:pt idx="2">
                  <c:v>1629</c:v>
                </c:pt>
                <c:pt idx="3">
                  <c:v>1615</c:v>
                </c:pt>
                <c:pt idx="4">
                  <c:v>1623</c:v>
                </c:pt>
                <c:pt idx="5">
                  <c:v>1616</c:v>
                </c:pt>
                <c:pt idx="6">
                  <c:v>1629</c:v>
                </c:pt>
                <c:pt idx="7">
                  <c:v>1627</c:v>
                </c:pt>
                <c:pt idx="8">
                  <c:v>1616</c:v>
                </c:pt>
                <c:pt idx="9">
                  <c:v>1604</c:v>
                </c:pt>
                <c:pt idx="10">
                  <c:v>1582</c:v>
                </c:pt>
                <c:pt idx="11">
                  <c:v>1563</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196.34</c:v>
                </c:pt>
                <c:pt idx="1">
                  <c:v>197.6</c:v>
                </c:pt>
                <c:pt idx="2">
                  <c:v>196.73</c:v>
                </c:pt>
                <c:pt idx="3">
                  <c:v>199.07</c:v>
                </c:pt>
                <c:pt idx="4">
                  <c:v>194.28</c:v>
                </c:pt>
                <c:pt idx="5">
                  <c:v>194.35</c:v>
                </c:pt>
                <c:pt idx="6">
                  <c:v>198.7</c:v>
                </c:pt>
                <c:pt idx="7">
                  <c:v>198.48</c:v>
                </c:pt>
                <c:pt idx="8">
                  <c:v>198.65</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10"/>
          <c:min val="1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0"/>
      </c:valAx>
      <c:spPr>
        <a:noFill/>
        <a:ln>
          <a:noFill/>
        </a:ln>
        <a:effectLst/>
      </c:spPr>
    </c:plotArea>
    <c:plotVisOnly val="1"/>
    <c:dispBlanksAs val="span"/>
  </c:chart>
  <c:spPr>
    <a:noFill/>
    <a:ln>
      <a:noFill/>
    </a:ln>
    <a:effectLst/>
  </c:spPr>
  <c:externalData r:id="rId1">
    <c:autoUpdate val="0"/>
  </c:externalData>
</c:chartSpace>
</file>

<file path=ppt/charts/chart1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196.34</c:v>
                </c:pt>
                <c:pt idx="1">
                  <c:v>197.6</c:v>
                </c:pt>
                <c:pt idx="2">
                  <c:v>196.73</c:v>
                </c:pt>
                <c:pt idx="3">
                  <c:v>199.07</c:v>
                </c:pt>
                <c:pt idx="4">
                  <c:v>194.28</c:v>
                </c:pt>
                <c:pt idx="5">
                  <c:v>194.35</c:v>
                </c:pt>
                <c:pt idx="6">
                  <c:v>198.7</c:v>
                </c:pt>
                <c:pt idx="7">
                  <c:v>198.48</c:v>
                </c:pt>
                <c:pt idx="8">
                  <c:v>198.65</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10"/>
          <c:min val="1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175.24</c:v>
                </c:pt>
                <c:pt idx="1">
                  <c:v>174.7</c:v>
                </c:pt>
                <c:pt idx="2">
                  <c:v>172.93</c:v>
                </c:pt>
                <c:pt idx="3">
                  <c:v>175.61</c:v>
                </c:pt>
                <c:pt idx="4">
                  <c:v>181.76</c:v>
                </c:pt>
                <c:pt idx="5">
                  <c:v>185.29</c:v>
                </c:pt>
                <c:pt idx="6">
                  <c:v>186.84</c:v>
                </c:pt>
                <c:pt idx="7">
                  <c:v>186.04</c:v>
                </c:pt>
                <c:pt idx="8">
                  <c:v>186.63</c:v>
                </c:pt>
                <c:pt idx="9">
                  <c:v>187.82</c:v>
                </c:pt>
                <c:pt idx="10">
                  <c:v>188.55</c:v>
                </c:pt>
                <c:pt idx="11">
                  <c:v>193.03</c:v>
                </c:pt>
              </c:numCache>
            </c:numRef>
          </c:val>
          <c:smooth val="0"/>
        </c:ser>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10"/>
          <c:min val="1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175.24</c:v>
                </c:pt>
                <c:pt idx="1">
                  <c:v>174.7</c:v>
                </c:pt>
                <c:pt idx="2">
                  <c:v>172.93</c:v>
                </c:pt>
                <c:pt idx="3">
                  <c:v>175.61</c:v>
                </c:pt>
                <c:pt idx="4">
                  <c:v>181.76</c:v>
                </c:pt>
                <c:pt idx="5">
                  <c:v>185.29</c:v>
                </c:pt>
                <c:pt idx="6">
                  <c:v>186.84</c:v>
                </c:pt>
                <c:pt idx="7">
                  <c:v>186.04</c:v>
                </c:pt>
                <c:pt idx="8">
                  <c:v>186.63</c:v>
                </c:pt>
                <c:pt idx="9">
                  <c:v>187.82</c:v>
                </c:pt>
                <c:pt idx="10">
                  <c:v>188.55</c:v>
                </c:pt>
                <c:pt idx="11">
                  <c:v>193.03</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10"/>
          <c:min val="16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43.5</c:v>
                </c:pt>
                <c:pt idx="1">
                  <c:v>44.2</c:v>
                </c:pt>
                <c:pt idx="2">
                  <c:v>44</c:v>
                </c:pt>
                <c:pt idx="3">
                  <c:v>44.3</c:v>
                </c:pt>
                <c:pt idx="4">
                  <c:v>44.5</c:v>
                </c:pt>
                <c:pt idx="5">
                  <c:v>44.5</c:v>
                </c:pt>
                <c:pt idx="6">
                  <c:v>46</c:v>
                </c:pt>
                <c:pt idx="7">
                  <c:v>45.1</c:v>
                </c:pt>
                <c:pt idx="8">
                  <c:v>45.6</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8"/>
          <c:min val="4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1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43.5</c:v>
                </c:pt>
                <c:pt idx="1">
                  <c:v>44.2</c:v>
                </c:pt>
                <c:pt idx="2">
                  <c:v>44</c:v>
                </c:pt>
                <c:pt idx="3">
                  <c:v>44.3</c:v>
                </c:pt>
                <c:pt idx="4">
                  <c:v>44.5</c:v>
                </c:pt>
                <c:pt idx="5">
                  <c:v>44.5</c:v>
                </c:pt>
                <c:pt idx="6">
                  <c:v>46</c:v>
                </c:pt>
                <c:pt idx="7">
                  <c:v>45.1</c:v>
                </c:pt>
                <c:pt idx="8">
                  <c:v>45.6</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8"/>
          <c:min val="4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42.3</c:v>
                </c:pt>
                <c:pt idx="1">
                  <c:v>42.4</c:v>
                </c:pt>
                <c:pt idx="2">
                  <c:v>42.7</c:v>
                </c:pt>
                <c:pt idx="3">
                  <c:v>42.7</c:v>
                </c:pt>
                <c:pt idx="4">
                  <c:v>41.8</c:v>
                </c:pt>
                <c:pt idx="5">
                  <c:v>41.7</c:v>
                </c:pt>
                <c:pt idx="6">
                  <c:v>43.3</c:v>
                </c:pt>
                <c:pt idx="7">
                  <c:v>43.1</c:v>
                </c:pt>
                <c:pt idx="8">
                  <c:v>43.2</c:v>
                </c:pt>
                <c:pt idx="9">
                  <c:v>42.5</c:v>
                </c:pt>
                <c:pt idx="10">
                  <c:v>42.9</c:v>
                </c:pt>
                <c:pt idx="11">
                  <c:v>43.1</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8"/>
          <c:min val="4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42.3</c:v>
                </c:pt>
                <c:pt idx="1">
                  <c:v>42.4</c:v>
                </c:pt>
                <c:pt idx="2">
                  <c:v>42.7</c:v>
                </c:pt>
                <c:pt idx="3">
                  <c:v>42.7</c:v>
                </c:pt>
                <c:pt idx="4">
                  <c:v>41.8</c:v>
                </c:pt>
                <c:pt idx="5">
                  <c:v>41.7</c:v>
                </c:pt>
                <c:pt idx="6">
                  <c:v>43.3</c:v>
                </c:pt>
                <c:pt idx="7">
                  <c:v>43.1</c:v>
                </c:pt>
                <c:pt idx="8">
                  <c:v>43.2</c:v>
                </c:pt>
                <c:pt idx="9">
                  <c:v>42.5</c:v>
                </c:pt>
                <c:pt idx="10">
                  <c:v>42.9</c:v>
                </c:pt>
                <c:pt idx="11">
                  <c:v>43.1</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48"/>
          <c:min val="40"/>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14264</c:v>
                </c:pt>
                <c:pt idx="1">
                  <c:v>12746</c:v>
                </c:pt>
                <c:pt idx="2">
                  <c:v>13940</c:v>
                </c:pt>
                <c:pt idx="3">
                  <c:v>13710</c:v>
                </c:pt>
                <c:pt idx="4">
                  <c:v>13121</c:v>
                </c:pt>
                <c:pt idx="5">
                  <c:v>14168</c:v>
                </c:pt>
                <c:pt idx="6">
                  <c:v>14663</c:v>
                </c:pt>
                <c:pt idx="7">
                  <c:v>15204</c:v>
                </c:pt>
                <c:pt idx="8">
                  <c:v>15075</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000"/>
          <c:min val="10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noFill/>
        <a:ln>
          <a:noFill/>
        </a:ln>
        <a:effectLst/>
      </c:spPr>
    </c:plotArea>
    <c:plotVisOnly val="1"/>
    <c:dispBlanksAs val="span"/>
  </c:chart>
  <c:spPr>
    <a:noFill/>
    <a:ln>
      <a:noFill/>
    </a:ln>
    <a:effectLst/>
  </c:spPr>
  <c:externalData r:id="rId1">
    <c:autoUpdate val="0"/>
  </c:externalData>
</c:chartSpace>
</file>

<file path=ppt/charts/chart13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15204</c:v>
                </c:pt>
                <c:pt idx="8">
                  <c:v>15075</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000"/>
          <c:min val="10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14264</c:v>
                </c:pt>
                <c:pt idx="1">
                  <c:v>12746</c:v>
                </c:pt>
                <c:pt idx="2">
                  <c:v>13940</c:v>
                </c:pt>
                <c:pt idx="3">
                  <c:v>13710</c:v>
                </c:pt>
                <c:pt idx="4">
                  <c:v>13121</c:v>
                </c:pt>
                <c:pt idx="5">
                  <c:v>14168</c:v>
                </c:pt>
                <c:pt idx="6">
                  <c:v>14663</c:v>
                </c:pt>
                <c:pt idx="7">
                  <c:v/>
                </c:pt>
                <c:pt idx="8">
                  <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000"/>
          <c:min val="10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16565</c:v>
                </c:pt>
                <c:pt idx="1">
                  <c:v>15707</c:v>
                </c:pt>
                <c:pt idx="2">
                  <c:v>15981</c:v>
                </c:pt>
                <c:pt idx="3">
                  <c:v>14990</c:v>
                </c:pt>
                <c:pt idx="4">
                  <c:v>14527</c:v>
                </c:pt>
                <c:pt idx="5">
                  <c:v>14882</c:v>
                </c:pt>
                <c:pt idx="6">
                  <c:v>15408</c:v>
                </c:pt>
                <c:pt idx="7">
                  <c:v/>
                </c:pt>
                <c:pt idx="8">
                  <c:v/>
                </c:pt>
                <c:pt idx="9">
                  <c:v>14227</c:v>
                </c:pt>
                <c:pt idx="10">
                  <c:v>12951</c:v>
                </c:pt>
                <c:pt idx="11">
                  <c:v>14223</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000"/>
          <c:min val="10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14622</c:v>
                </c:pt>
                <c:pt idx="8">
                  <c:v>13082</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000"/>
          <c:min val="10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16565</c:v>
                </c:pt>
                <c:pt idx="1">
                  <c:v>15707</c:v>
                </c:pt>
                <c:pt idx="2">
                  <c:v>15981</c:v>
                </c:pt>
                <c:pt idx="3">
                  <c:v>14990</c:v>
                </c:pt>
                <c:pt idx="4">
                  <c:v>14527</c:v>
                </c:pt>
                <c:pt idx="5">
                  <c:v>14882</c:v>
                </c:pt>
                <c:pt idx="6">
                  <c:v>15408</c:v>
                </c:pt>
                <c:pt idx="7">
                  <c:v>14622</c:v>
                </c:pt>
                <c:pt idx="8">
                  <c:v>13082</c:v>
                </c:pt>
                <c:pt idx="9">
                  <c:v>14227</c:v>
                </c:pt>
                <c:pt idx="10">
                  <c:v>12951</c:v>
                </c:pt>
                <c:pt idx="11">
                  <c:v>14223</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8000"/>
          <c:min val="1000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140105.4</c:v>
                </c:pt>
                <c:pt idx="1">
                  <c:v>129994.04000000001</c:v>
                </c:pt>
                <c:pt idx="2">
                  <c:v>194655.32</c:v>
                </c:pt>
                <c:pt idx="3">
                  <c:v>176169.16</c:v>
                </c:pt>
                <c:pt idx="4">
                  <c:v>174810.36</c:v>
                </c:pt>
                <c:pt idx="5">
                  <c:v>155900.23</c:v>
                </c:pt>
                <c:pt idx="6">
                  <c:v>168039.07</c:v>
                </c:pt>
                <c:pt idx="7">
                  <c:v>230368.93</c:v>
                </c:pt>
                <c:pt idx="8">
                  <c:v>227165.53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45425.1635"/>
          <c:min val="114937.806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4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86980.36</c:v>
                </c:pt>
                <c:pt idx="1">
                  <c:v>82836.39</c:v>
                </c:pt>
                <c:pt idx="2">
                  <c:v>86106.14</c:v>
                </c:pt>
                <c:pt idx="3">
                  <c:v>91223.19</c:v>
                </c:pt>
                <c:pt idx="4">
                  <c:v>82915.06</c:v>
                </c:pt>
                <c:pt idx="5">
                  <c:v>95470.58</c:v>
                </c:pt>
                <c:pt idx="6">
                  <c:v>121071.78</c:v>
                </c:pt>
                <c:pt idx="7">
                  <c:v>113797.79000000001</c:v>
                </c:pt>
                <c:pt idx="8">
                  <c:v>101183.02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26807.0885"/>
          <c:min val="77101.081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4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236533.56</c:v>
                </c:pt>
                <c:pt idx="1">
                  <c:v>198065</c:v>
                </c:pt>
                <c:pt idx="2">
                  <c:v>220283.83000000002</c:v>
                </c:pt>
                <c:pt idx="3">
                  <c:v>202377.06</c:v>
                </c:pt>
                <c:pt idx="4">
                  <c:v>210946.1</c:v>
                </c:pt>
                <c:pt idx="5">
                  <c:v>234862.74</c:v>
                </c:pt>
                <c:pt idx="6">
                  <c:v>300394.59</c:v>
                </c:pt>
                <c:pt idx="7">
                  <c:v>271122.35000000003</c:v>
                </c:pt>
                <c:pt idx="8">
                  <c:v>265586.5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15744.0285"/>
          <c:min val="182715.561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4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63266.58</c:v>
                </c:pt>
                <c:pt idx="1">
                  <c:v>48675.05</c:v>
                </c:pt>
                <c:pt idx="2">
                  <c:v>49504.81</c:v>
                </c:pt>
                <c:pt idx="3">
                  <c:v>58672.880000000005</c:v>
                </c:pt>
                <c:pt idx="4">
                  <c:v>58583.36</c:v>
                </c:pt>
                <c:pt idx="5">
                  <c:v>82540.21</c:v>
                </c:pt>
                <c:pt idx="6">
                  <c:v>77897.88</c:v>
                </c:pt>
                <c:pt idx="7">
                  <c:v>64144.34</c:v>
                </c:pt>
                <c:pt idx="8">
                  <c:v>57011.62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87619.98400000001"/>
          <c:min val="43595.2760000000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4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47133.479999999996</c:v>
                </c:pt>
                <c:pt idx="1">
                  <c:v>42518.81</c:v>
                </c:pt>
                <c:pt idx="2">
                  <c:v>57961.69</c:v>
                </c:pt>
                <c:pt idx="3">
                  <c:v>50013.479999999996</c:v>
                </c:pt>
                <c:pt idx="4">
                  <c:v>50169.79</c:v>
                </c:pt>
                <c:pt idx="5">
                  <c:v>48661.44</c:v>
                </c:pt>
                <c:pt idx="6">
                  <c:v>64651.67</c:v>
                </c:pt>
                <c:pt idx="7">
                  <c:v>56663.37</c:v>
                </c:pt>
                <c:pt idx="8">
                  <c:v>58829.520000000004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7971.599"/>
          <c:min val="39198.8809999999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4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LEXUS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176585.11</c:v>
                </c:pt>
                <c:pt idx="1">
                  <c:v>184273.9</c:v>
                </c:pt>
                <c:pt idx="2">
                  <c:v>243873.84</c:v>
                </c:pt>
                <c:pt idx="3">
                  <c:v>231682.97</c:v>
                </c:pt>
                <c:pt idx="4">
                  <c:v>262721.61</c:v>
                </c:pt>
                <c:pt idx="5">
                  <c:v>263340.99</c:v>
                </c:pt>
                <c:pt idx="6">
                  <c:v>244041.77</c:v>
                </c:pt>
                <c:pt idx="7">
                  <c:v>244446.27</c:v>
                </c:pt>
                <c:pt idx="8">
                  <c:v>249281.88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76354.372"/>
          <c:min val="163571.7279999999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4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294309.57999999996</c:v>
                </c:pt>
                <c:pt idx="1">
                  <c:v>278868.58</c:v>
                </c:pt>
                <c:pt idx="2">
                  <c:v>359908.79</c:v>
                </c:pt>
                <c:pt idx="3">
                  <c:v>393728.92000000004</c:v>
                </c:pt>
                <c:pt idx="4">
                  <c:v>359273.68</c:v>
                </c:pt>
                <c:pt idx="5">
                  <c:v>386316.45</c:v>
                </c:pt>
                <c:pt idx="6">
                  <c:v>384135.08</c:v>
                </c:pt>
                <c:pt idx="7">
                  <c:v>397933.38999999996</c:v>
                </c:pt>
                <c:pt idx="8">
                  <c:v>341938.74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15793.11149999994"/>
          <c:min val="261008.8585000000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4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177080.6</c:v>
                </c:pt>
                <c:pt idx="1">
                  <c:v>116317.49</c:v>
                </c:pt>
                <c:pt idx="2">
                  <c:v>151683.66999999998</c:v>
                </c:pt>
                <c:pt idx="3">
                  <c:v>189304.13</c:v>
                </c:pt>
                <c:pt idx="4">
                  <c:v>164925.71000000002</c:v>
                </c:pt>
                <c:pt idx="5">
                  <c:v>166070.51</c:v>
                </c:pt>
                <c:pt idx="6">
                  <c:v>172210.90000000002</c:v>
                </c:pt>
                <c:pt idx="7">
                  <c:v>228828.82</c:v>
                </c:pt>
                <c:pt idx="8">
                  <c:v>129178.53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45705.5195"/>
          <c:min val="99440.79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4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86931.73000000001</c:v>
                </c:pt>
                <c:pt idx="1">
                  <c:v>109867.53</c:v>
                </c:pt>
                <c:pt idx="2">
                  <c:v>104137.82</c:v>
                </c:pt>
                <c:pt idx="3">
                  <c:v>100928.84</c:v>
                </c:pt>
                <c:pt idx="4">
                  <c:v>93945.76000000001</c:v>
                </c:pt>
                <c:pt idx="5">
                  <c:v>108346.47</c:v>
                </c:pt>
                <c:pt idx="6">
                  <c:v>126637.39</c:v>
                </c:pt>
                <c:pt idx="7">
                  <c:v>106298.13999999998</c:v>
                </c:pt>
                <c:pt idx="8">
                  <c:v>124862.66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32593.239"/>
          <c:min val="80975.8810000000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5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293762.4</c:v>
                </c:pt>
                <c:pt idx="1">
                  <c:v>268037.54000000004</c:v>
                </c:pt>
                <c:pt idx="2">
                  <c:v>319668.25</c:v>
                </c:pt>
                <c:pt idx="3">
                  <c:v>349268.96</c:v>
                </c:pt>
                <c:pt idx="4">
                  <c:v>347415.9</c:v>
                </c:pt>
                <c:pt idx="5">
                  <c:v>340633.41000000003</c:v>
                </c:pt>
                <c:pt idx="6">
                  <c:v>373611</c:v>
                </c:pt>
                <c:pt idx="7">
                  <c:v>323504.43</c:v>
                </c:pt>
                <c:pt idx="8">
                  <c:v>336990.87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89447.019"/>
          <c:min val="252201.5210000000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5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LEXUS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395</c:v>
                </c:pt>
                <c:pt idx="1">
                  <c:v>390</c:v>
                </c:pt>
                <c:pt idx="2">
                  <c:v>491</c:v>
                </c:pt>
                <c:pt idx="3">
                  <c:v>543</c:v>
                </c:pt>
                <c:pt idx="4">
                  <c:v>485</c:v>
                </c:pt>
                <c:pt idx="5">
                  <c:v>553</c:v>
                </c:pt>
                <c:pt idx="6">
                  <c:v>564</c:v>
                </c:pt>
                <c:pt idx="7">
                  <c:v>577</c:v>
                </c:pt>
                <c:pt idx="8">
                  <c:v>569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05.05"/>
          <c:min val="361.9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5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567</c:v>
                </c:pt>
                <c:pt idx="1">
                  <c:v>513</c:v>
                </c:pt>
                <c:pt idx="2">
                  <c:v>550</c:v>
                </c:pt>
                <c:pt idx="3">
                  <c:v>539</c:v>
                </c:pt>
                <c:pt idx="4">
                  <c:v>538</c:v>
                </c:pt>
                <c:pt idx="5">
                  <c:v>649</c:v>
                </c:pt>
                <c:pt idx="6">
                  <c:v>716</c:v>
                </c:pt>
                <c:pt idx="7">
                  <c:v>663</c:v>
                </c:pt>
                <c:pt idx="8">
                  <c:v>623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46.45"/>
          <c:min val="482.5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5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352</c:v>
                </c:pt>
                <c:pt idx="1">
                  <c:v>362</c:v>
                </c:pt>
                <c:pt idx="2">
                  <c:v>336</c:v>
                </c:pt>
                <c:pt idx="3">
                  <c:v>402</c:v>
                </c:pt>
                <c:pt idx="4">
                  <c:v>356</c:v>
                </c:pt>
                <c:pt idx="5">
                  <c:v>442</c:v>
                </c:pt>
                <c:pt idx="6">
                  <c:v>449</c:v>
                </c:pt>
                <c:pt idx="7">
                  <c:v>396</c:v>
                </c:pt>
                <c:pt idx="8">
                  <c:v>401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65.95"/>
          <c:min val="319.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5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578</c:v>
                </c:pt>
                <c:pt idx="1">
                  <c:v>519</c:v>
                </c:pt>
                <c:pt idx="2">
                  <c:v>637</c:v>
                </c:pt>
                <c:pt idx="3">
                  <c:v>642</c:v>
                </c:pt>
                <c:pt idx="4">
                  <c:v>663</c:v>
                </c:pt>
                <c:pt idx="5">
                  <c:v>654</c:v>
                </c:pt>
                <c:pt idx="6">
                  <c:v>674</c:v>
                </c:pt>
                <c:pt idx="7">
                  <c:v>677</c:v>
                </c:pt>
                <c:pt idx="8">
                  <c:v>657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00.7"/>
          <c:min val="49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5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FLAGSTAFF</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364</c:v>
                </c:pt>
                <c:pt idx="1">
                  <c:v>375</c:v>
                </c:pt>
                <c:pt idx="2">
                  <c:v>452</c:v>
                </c:pt>
                <c:pt idx="3">
                  <c:v>507</c:v>
                </c:pt>
                <c:pt idx="4">
                  <c:v>463</c:v>
                </c:pt>
                <c:pt idx="5">
                  <c:v>493</c:v>
                </c:pt>
                <c:pt idx="6">
                  <c:v>493</c:v>
                </c:pt>
                <c:pt idx="7">
                  <c:v>458</c:v>
                </c:pt>
                <c:pt idx="8">
                  <c:v>425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28.45"/>
          <c:min val="342.5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5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549</c:v>
                </c:pt>
                <c:pt idx="1">
                  <c:v>531</c:v>
                </c:pt>
                <c:pt idx="2">
                  <c:v>556</c:v>
                </c:pt>
                <c:pt idx="3">
                  <c:v>544</c:v>
                </c:pt>
                <c:pt idx="4">
                  <c:v>516</c:v>
                </c:pt>
                <c:pt idx="5">
                  <c:v>599</c:v>
                </c:pt>
                <c:pt idx="6">
                  <c:v>622</c:v>
                </c:pt>
                <c:pt idx="7">
                  <c:v>587</c:v>
                </c:pt>
                <c:pt idx="8">
                  <c:v>641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59.75"/>
          <c:min val="497.2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5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NORTH</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1576</c:v>
                </c:pt>
                <c:pt idx="1">
                  <c:v>1477</c:v>
                </c:pt>
                <c:pt idx="2">
                  <c:v>1631</c:v>
                </c:pt>
                <c:pt idx="3">
                  <c:v>1610</c:v>
                </c:pt>
                <c:pt idx="4">
                  <c:v>1739</c:v>
                </c:pt>
                <c:pt idx="5">
                  <c:v>1738</c:v>
                </c:pt>
                <c:pt idx="6">
                  <c:v>1723</c:v>
                </c:pt>
                <c:pt idx="7">
                  <c:v>1875</c:v>
                </c:pt>
                <c:pt idx="8">
                  <c:v>1679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34.7"/>
          <c:min val="1417.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5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311</c:v>
                </c:pt>
                <c:pt idx="1">
                  <c:v>327</c:v>
                </c:pt>
                <c:pt idx="2">
                  <c:v>353</c:v>
                </c:pt>
                <c:pt idx="3">
                  <c:v>344</c:v>
                </c:pt>
                <c:pt idx="4">
                  <c:v>308</c:v>
                </c:pt>
                <c:pt idx="5">
                  <c:v>355</c:v>
                </c:pt>
                <c:pt idx="6">
                  <c:v>370</c:v>
                </c:pt>
                <c:pt idx="7">
                  <c:v>382</c:v>
                </c:pt>
                <c:pt idx="8">
                  <c:v>357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93.1"/>
          <c:min val="296.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5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1764</c:v>
                </c:pt>
                <c:pt idx="1">
                  <c:v>1687</c:v>
                </c:pt>
                <c:pt idx="2">
                  <c:v>1914</c:v>
                </c:pt>
                <c:pt idx="3">
                  <c:v>2057</c:v>
                </c:pt>
                <c:pt idx="4">
                  <c:v>1923</c:v>
                </c:pt>
                <c:pt idx="5">
                  <c:v>2056</c:v>
                </c:pt>
                <c:pt idx="6">
                  <c:v>2095</c:v>
                </c:pt>
                <c:pt idx="7">
                  <c:v>1882</c:v>
                </c:pt>
                <c:pt idx="8">
                  <c:v>1998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156.2"/>
          <c:min val="1625.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6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SUBARU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615</c:v>
                </c:pt>
                <c:pt idx="1">
                  <c:v>524</c:v>
                </c:pt>
                <c:pt idx="2">
                  <c:v>607</c:v>
                </c:pt>
                <c:pt idx="3">
                  <c:v>608</c:v>
                </c:pt>
                <c:pt idx="4">
                  <c:v>639</c:v>
                </c:pt>
                <c:pt idx="5">
                  <c:v>637</c:v>
                </c:pt>
                <c:pt idx="6">
                  <c:v>632</c:v>
                </c:pt>
                <c:pt idx="7">
                  <c:v>632</c:v>
                </c:pt>
                <c:pt idx="8">
                  <c:v>659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79.25"/>
          <c:min val="503.7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6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1.1961937716262976</c:v>
                </c:pt>
                <c:pt idx="1">
                  <c:v>1.3</c:v>
                </c:pt>
                <c:pt idx="2">
                  <c:v>1.524175824175824</c:v>
                </c:pt>
                <c:pt idx="3">
                  <c:v>1.4054517133956386</c:v>
                </c:pt>
                <c:pt idx="4">
                  <c:v>1.4104072398190046</c:v>
                </c:pt>
                <c:pt idx="5">
                  <c:v>1.25</c:v>
                </c:pt>
                <c:pt idx="6">
                  <c:v>1.3206231454005934</c:v>
                </c:pt>
                <c:pt idx="7">
                  <c:v>1.7601181683899556</c:v>
                </c:pt>
                <c:pt idx="8">
                  <c:v>1.8642313546423135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644369920947158"/>
          <c:min val="1.09598813417389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6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1.4608490566037735</c:v>
                </c:pt>
                <c:pt idx="1">
                  <c:v>1.4711340206185566</c:v>
                </c:pt>
                <c:pt idx="2">
                  <c:v>1.7298642533936652</c:v>
                </c:pt>
                <c:pt idx="3">
                  <c:v>1.7783898305084744</c:v>
                </c:pt>
                <c:pt idx="4">
                  <c:v>1.441391304347826</c:v>
                </c:pt>
                <c:pt idx="5">
                  <c:v>1.5297619047619047</c:v>
                </c:pt>
                <c:pt idx="6">
                  <c:v>1.819439655172414</c:v>
                </c:pt>
                <c:pt idx="7">
                  <c:v>1.7451485148514851</c:v>
                </c:pt>
                <c:pt idx="8">
                  <c:v>1.725108225108225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761469077961022"/>
          <c:min val="1.384684051724137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6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1.2968932038834953</c:v>
                </c:pt>
                <c:pt idx="1">
                  <c:v>1.3835549132947977</c:v>
                </c:pt>
                <c:pt idx="2">
                  <c:v>1.4527419354838709</c:v>
                </c:pt>
                <c:pt idx="3">
                  <c:v>1.3560913705583755</c:v>
                </c:pt>
                <c:pt idx="4">
                  <c:v>1.272883435582822</c:v>
                </c:pt>
                <c:pt idx="5">
                  <c:v>1.4657920792079207</c:v>
                </c:pt>
                <c:pt idx="6">
                  <c:v>1.5742705570291777</c:v>
                </c:pt>
                <c:pt idx="7">
                  <c:v>1.6565988372093023</c:v>
                </c:pt>
                <c:pt idx="8">
                  <c:v>1.4058823529411764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7141561474532745"/>
          <c:min val="1.21532612533884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6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1.208095238095238</c:v>
                </c:pt>
                <c:pt idx="1">
                  <c:v>1.2542997542997543</c:v>
                </c:pt>
                <c:pt idx="2">
                  <c:v>1.23446261682243</c:v>
                </c:pt>
                <c:pt idx="3">
                  <c:v>1.2625570776255708</c:v>
                </c:pt>
                <c:pt idx="4">
                  <c:v>1.2171394799054374</c:v>
                </c:pt>
                <c:pt idx="5">
                  <c:v>1.2735507246376812</c:v>
                </c:pt>
                <c:pt idx="6">
                  <c:v>1.3877800407331975</c:v>
                </c:pt>
                <c:pt idx="7">
                  <c:v>1.4995475113122172</c:v>
                </c:pt>
                <c:pt idx="8">
                  <c:v>1.2453229398663697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432653522947641"/>
          <c:min val="1.16437739711269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6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1.575798319327731</c:v>
                </c:pt>
                <c:pt idx="1">
                  <c:v>1.6981651376146787</c:v>
                </c:pt>
                <c:pt idx="2">
                  <c:v>1.6719839142091153</c:v>
                </c:pt>
                <c:pt idx="3">
                  <c:v>1.9406276150627615</c:v>
                </c:pt>
                <c:pt idx="4">
                  <c:v>1.7418429003021147</c:v>
                </c:pt>
                <c:pt idx="5">
                  <c:v>1.6785185185185185</c:v>
                </c:pt>
                <c:pt idx="6">
                  <c:v>1.8784676354029062</c:v>
                </c:pt>
                <c:pt idx="7">
                  <c:v>1.8579465541490858</c:v>
                </c:pt>
                <c:pt idx="8">
                  <c:v>1.6184249628528975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953520094230162"/>
          <c:min val="1.521073924967476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6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1.188239247311828</c:v>
                </c:pt>
                <c:pt idx="1">
                  <c:v>1.275762195121951</c:v>
                </c:pt>
                <c:pt idx="2">
                  <c:v>1.4099208965062624</c:v>
                </c:pt>
                <c:pt idx="3">
                  <c:v>1.4275265957446808</c:v>
                </c:pt>
                <c:pt idx="4">
                  <c:v>1.4609295570079883</c:v>
                </c:pt>
                <c:pt idx="5">
                  <c:v>1.4721141374837874</c:v>
                </c:pt>
                <c:pt idx="6">
                  <c:v>1.4142063001852996</c:v>
                </c:pt>
                <c:pt idx="7">
                  <c:v>1.4298619824341279</c:v>
                </c:pt>
                <c:pt idx="8">
                  <c:v>1.3524723487312946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146953710095814"/>
          <c:min val="1.14565801378603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6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ACURA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1.385793450881612</c:v>
                </c:pt>
                <c:pt idx="1">
                  <c:v>1.3389645776566756</c:v>
                </c:pt>
                <c:pt idx="2">
                  <c:v>1.2803874092009684</c:v>
                </c:pt>
                <c:pt idx="3">
                  <c:v>1.333613231552163</c:v>
                </c:pt>
                <c:pt idx="4">
                  <c:v>1.67296568627451</c:v>
                </c:pt>
                <c:pt idx="5">
                  <c:v>1.5423764705882352</c:v>
                </c:pt>
                <c:pt idx="6">
                  <c:v>1.4005580357142857</c:v>
                </c:pt>
                <c:pt idx="7">
                  <c:v>1.3604513064133017</c:v>
                </c:pt>
                <c:pt idx="8">
                  <c:v>1.4541353383458648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7318524278355412"/>
          <c:min val="1.221500667639937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6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2.221710758377425</c:v>
                </c:pt>
                <c:pt idx="1">
                  <c:v>2.0838986354775826</c:v>
                </c:pt>
                <c:pt idx="2">
                  <c:v>2.2707272727272727</c:v>
                </c:pt>
                <c:pt idx="3">
                  <c:v>2.2252504638218924</c:v>
                </c:pt>
                <c:pt idx="4">
                  <c:v>2.1553717472118956</c:v>
                </c:pt>
                <c:pt idx="5">
                  <c:v>1.9233127889060093</c:v>
                </c:pt>
                <c:pt idx="6">
                  <c:v>2.230418994413408</c:v>
                </c:pt>
                <c:pt idx="7">
                  <c:v>2.2426998491704375</c:v>
                </c:pt>
                <c:pt idx="8">
                  <c:v>2.44900481540931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27858619384805"/>
          <c:min val="1.844458984930514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6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2.604809843400447</c:v>
                </c:pt>
                <c:pt idx="1">
                  <c:v>2.3054666666666663</c:v>
                </c:pt>
                <c:pt idx="2">
                  <c:v>2.8330453563714904</c:v>
                </c:pt>
                <c:pt idx="3">
                  <c:v>2.798717948717949</c:v>
                </c:pt>
                <c:pt idx="4">
                  <c:v>2.574561403508772</c:v>
                </c:pt>
                <c:pt idx="5">
                  <c:v>3.172391304347826</c:v>
                </c:pt>
                <c:pt idx="6">
                  <c:v>2.7021809744779586</c:v>
                </c:pt>
                <c:pt idx="7">
                  <c:v>2.878063063063063</c:v>
                </c:pt>
                <c:pt idx="8">
                  <c:v>2.5885922330097086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3024299999999998"/>
          <c:min val="2.17542797101449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7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3.5072</c:v>
                </c:pt>
                <c:pt idx="1">
                  <c:v>2.8326470588235293</c:v>
                </c:pt>
                <c:pt idx="2">
                  <c:v>3.3393630573248405</c:v>
                </c:pt>
                <c:pt idx="3">
                  <c:v>3.9942944785276078</c:v>
                </c:pt>
                <c:pt idx="4">
                  <c:v>4.023714285714286</c:v>
                </c:pt>
                <c:pt idx="5">
                  <c:v>3.3935403726708073</c:v>
                </c:pt>
                <c:pt idx="6">
                  <c:v>3.0639884393063586</c:v>
                </c:pt>
                <c:pt idx="7">
                  <c:v>3.7738297872340425</c:v>
                </c:pt>
                <c:pt idx="8">
                  <c:v>3.325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2023743697479"/>
          <c:min val="2.65398697478991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7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133.50852736170845</c:v>
                </c:pt>
                <c:pt idx="1">
                  <c:v>124.52905604719764</c:v>
                </c:pt>
                <c:pt idx="2">
                  <c:v>125.66441779876723</c:v>
                </c:pt>
                <c:pt idx="3">
                  <c:v>131.4519062005467</c:v>
                </c:pt>
                <c:pt idx="4">
                  <c:v>132.6886803693774</c:v>
                </c:pt>
                <c:pt idx="5">
                  <c:v>140.1975303339418</c:v>
                </c:pt>
                <c:pt idx="6">
                  <c:v>142.53003268369446</c:v>
                </c:pt>
                <c:pt idx="7">
                  <c:v>141.47412587412586</c:v>
                </c:pt>
                <c:pt idx="8">
                  <c:v>141.50217039196633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5.23017917916897"/>
          <c:min val="121.8289095517231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7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226.99655601837938</c:v>
                </c:pt>
                <c:pt idx="1">
                  <c:v>230.6832340523972</c:v>
                </c:pt>
                <c:pt idx="2">
                  <c:v>225.44062666768312</c:v>
                </c:pt>
                <c:pt idx="3">
                  <c:v>220.3694915254237</c:v>
                </c:pt>
                <c:pt idx="4">
                  <c:v>229.04754684838161</c:v>
                </c:pt>
                <c:pt idx="5">
                  <c:v>247.9044473377647</c:v>
                </c:pt>
                <c:pt idx="6">
                  <c:v>243.19138102761363</c:v>
                </c:pt>
                <c:pt idx="7">
                  <c:v>243.7889909692768</c:v>
                </c:pt>
                <c:pt idx="8">
                  <c:v>245.53794655414907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2.03469070961586"/>
          <c:min val="216.239248153572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7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135.50618900582526</c:v>
                </c:pt>
                <c:pt idx="1">
                  <c:v>139.43354100521177</c:v>
                </c:pt>
                <c:pt idx="2">
                  <c:v>143.04070476965322</c:v>
                </c:pt>
                <c:pt idx="3">
                  <c:v>144.27756894597658</c:v>
                </c:pt>
                <c:pt idx="4">
                  <c:v>143.9452209905324</c:v>
                </c:pt>
                <c:pt idx="5">
                  <c:v>143.4172847205565</c:v>
                </c:pt>
                <c:pt idx="6">
                  <c:v>148.4194108316338</c:v>
                </c:pt>
                <c:pt idx="7">
                  <c:v>146.32433479457643</c:v>
                </c:pt>
                <c:pt idx="8">
                  <c:v>148.9747782648588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0.99506665371382"/>
          <c:min val="133.485900616970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7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146.10917942519472</c:v>
                </c:pt>
                <c:pt idx="1">
                  <c:v>139.31016738481938</c:v>
                </c:pt>
                <c:pt idx="2">
                  <c:v>141.53525925925928</c:v>
                </c:pt>
                <c:pt idx="3">
                  <c:v>149.0938108315364</c:v>
                </c:pt>
                <c:pt idx="4">
                  <c:v>157.86236726813692</c:v>
                </c:pt>
                <c:pt idx="5">
                  <c:v>155.1640949727532</c:v>
                </c:pt>
                <c:pt idx="6">
                  <c:v>145.80333762018492</c:v>
                </c:pt>
                <c:pt idx="7">
                  <c:v>147.881053660003</c:v>
                </c:pt>
                <c:pt idx="8">
                  <c:v>159.61675912057146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2.66274788093426"/>
          <c:min val="136.2641786244565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7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141.29899487583762</c:v>
                </c:pt>
                <c:pt idx="1">
                  <c:v>141.12609206660136</c:v>
                </c:pt>
                <c:pt idx="2">
                  <c:v>134.98959023374655</c:v>
                </c:pt>
                <c:pt idx="3">
                  <c:v>134.82066907775769</c:v>
                </c:pt>
                <c:pt idx="4">
                  <c:v>134.81227542002526</c:v>
                </c:pt>
                <c:pt idx="5">
                  <c:v>141.9157515410147</c:v>
                </c:pt>
                <c:pt idx="6">
                  <c:v>145.1528764308776</c:v>
                </c:pt>
                <c:pt idx="7">
                  <c:v>145.4075890162945</c:v>
                </c:pt>
                <c:pt idx="8">
                  <c:v>147.8839667352231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9.84472043250278"/>
          <c:min val="132.85152172274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7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NISSAN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170.91694630872482</c:v>
                </c:pt>
                <c:pt idx="1">
                  <c:v>174.94393030380394</c:v>
                </c:pt>
                <c:pt idx="2">
                  <c:v>171.33260055096417</c:v>
                </c:pt>
                <c:pt idx="3">
                  <c:v>169.3619524405507</c:v>
                </c:pt>
                <c:pt idx="4">
                  <c:v>178.97402165816766</c:v>
                </c:pt>
                <c:pt idx="5">
                  <c:v>176.8534134157945</c:v>
                </c:pt>
                <c:pt idx="6">
                  <c:v>178.75288589721362</c:v>
                </c:pt>
                <c:pt idx="7">
                  <c:v>178.72942668879108</c:v>
                </c:pt>
                <c:pt idx="8">
                  <c:v>183.27923149141628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5.36682334904611"/>
          <c:min val="167.2743605829208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7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147.17883416109635</c:v>
                </c:pt>
                <c:pt idx="1">
                  <c:v>135.63777641695583</c:v>
                </c:pt>
                <c:pt idx="2">
                  <c:v>141.64139075345048</c:v>
                </c:pt>
                <c:pt idx="3">
                  <c:v>139.12898539404827</c:v>
                </c:pt>
                <c:pt idx="4">
                  <c:v>140.79767083404693</c:v>
                </c:pt>
                <c:pt idx="5">
                  <c:v>142.24952097083244</c:v>
                </c:pt>
                <c:pt idx="6">
                  <c:v>142.61742003865575</c:v>
                </c:pt>
                <c:pt idx="7">
                  <c:v>143.95335221631723</c:v>
                </c:pt>
                <c:pt idx="8">
                  <c:v>154.41898907103825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7.2361709691506"/>
          <c:min val="132.8205945188434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7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VOLVO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208.9492918178626</c:v>
                </c:pt>
                <c:pt idx="1">
                  <c:v>217.9379829257705</c:v>
                </c:pt>
                <c:pt idx="2">
                  <c:v>223.98379699248122</c:v>
                </c:pt>
                <c:pt idx="3">
                  <c:v>226.2475382875938</c:v>
                </c:pt>
                <c:pt idx="4">
                  <c:v>219.74642583470168</c:v>
                </c:pt>
                <c:pt idx="5">
                  <c:v>224.43341441458693</c:v>
                </c:pt>
                <c:pt idx="6">
                  <c:v>228.6857179372484</c:v>
                </c:pt>
                <c:pt idx="7">
                  <c:v>221.59294258373205</c:v>
                </c:pt>
                <c:pt idx="8">
                  <c:v>226.9213371266003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31.64618185515627"/>
          <c:min val="205.988827899954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7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153.1491574232082</c:v>
                </c:pt>
                <c:pt idx="1">
                  <c:v>157.95352962362688</c:v>
                </c:pt>
                <c:pt idx="2">
                  <c:v>156.04347791229054</c:v>
                </c:pt>
                <c:pt idx="3">
                  <c:v>157.37133021424003</c:v>
                </c:pt>
                <c:pt idx="4">
                  <c:v>149.20385916225828</c:v>
                </c:pt>
                <c:pt idx="5">
                  <c:v>155.4821624007061</c:v>
                </c:pt>
                <c:pt idx="6">
                  <c:v>158.9620323488045</c:v>
                </c:pt>
                <c:pt idx="7">
                  <c:v>164.2580469341408</c:v>
                </c:pt>
                <c:pt idx="8">
                  <c:v>162.51214652956298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6.51617509992317"/>
          <c:min val="146.945730996475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8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CADILLAC</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169.23952076348527</c:v>
                </c:pt>
                <c:pt idx="1">
                  <c:v>171.362331838565</c:v>
                </c:pt>
                <c:pt idx="2">
                  <c:v>168.18649634020764</c:v>
                </c:pt>
                <c:pt idx="3">
                  <c:v>180.00863368961805</c:v>
                </c:pt>
                <c:pt idx="4">
                  <c:v>151.5942152678995</c:v>
                </c:pt>
                <c:pt idx="5">
                  <c:v>163.62502533205532</c:v>
                </c:pt>
                <c:pt idx="6">
                  <c:v>179.30890045543268</c:v>
                </c:pt>
                <c:pt idx="7">
                  <c:v>175.9947113813166</c:v>
                </c:pt>
                <c:pt idx="8">
                  <c:v>169.93955489368741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4.27079645287583"/>
          <c:min val="147.3320525046417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8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226.22956521739133</c:v>
                </c:pt>
                <c:pt idx="1">
                  <c:v>248.52270270270267</c:v>
                </c:pt>
                <c:pt idx="2">
                  <c:v>200.74942028985507</c:v>
                </c:pt>
                <c:pt idx="3">
                  <c:v>243.29641592920353</c:v>
                </c:pt>
                <c:pt idx="4">
                  <c:v>234.13774647887323</c:v>
                </c:pt>
                <c:pt idx="5">
                  <c:v>287.9189156626506</c:v>
                </c:pt>
                <c:pt idx="6">
                  <c:v>324.6299523809524</c:v>
                </c:pt>
                <c:pt idx="7">
                  <c:v>281.9111059907834</c:v>
                </c:pt>
                <c:pt idx="8">
                  <c:v>287.2737362637363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43.212032194617"/>
          <c:min val="182.1673404761904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8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735.0373714285714</c:v>
                </c:pt>
                <c:pt idx="1">
                  <c:v>633.5144852941177</c:v>
                </c:pt>
                <c:pt idx="2">
                  <c:v>695.5033121019109</c:v>
                </c:pt>
                <c:pt idx="3">
                  <c:v>845.1699386503068</c:v>
                </c:pt>
                <c:pt idx="4">
                  <c:v>839.2182857142857</c:v>
                </c:pt>
                <c:pt idx="5">
                  <c:v>919.2100621118013</c:v>
                </c:pt>
                <c:pt idx="6">
                  <c:v>872.8272254335259</c:v>
                </c:pt>
                <c:pt idx="7">
                  <c:v>956.7090425531915</c:v>
                </c:pt>
                <c:pt idx="8">
                  <c:v>764.899375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005.1882261420525"/>
          <c:min val="585.035301705256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8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ACURA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240.3025692695214</c:v>
                </c:pt>
                <c:pt idx="1">
                  <c:v>216.6792098092643</c:v>
                </c:pt>
                <c:pt idx="2">
                  <c:v>230.04961259079906</c:v>
                </c:pt>
                <c:pt idx="3">
                  <c:v>243.99435114503817</c:v>
                </c:pt>
                <c:pt idx="4">
                  <c:v>304.9811274509804</c:v>
                </c:pt>
                <c:pt idx="5">
                  <c:v>286.73334117647056</c:v>
                </c:pt>
                <c:pt idx="6">
                  <c:v>273.25761160714285</c:v>
                </c:pt>
                <c:pt idx="7">
                  <c:v>260.6470308788598</c:v>
                </c:pt>
                <c:pt idx="8">
                  <c:v>314.04050125313285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28.6446949697131"/>
          <c:min val="202.0750160926840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8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FLAGSTAFF</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181.37186813186813</c:v>
                </c:pt>
                <c:pt idx="1">
                  <c:v>163.32138666666665</c:v>
                </c:pt>
                <c:pt idx="2">
                  <c:v>246.46716814159294</c:v>
                </c:pt>
                <c:pt idx="3">
                  <c:v>218.6002958579882</c:v>
                </c:pt>
                <c:pt idx="4">
                  <c:v>169.2365010799136</c:v>
                </c:pt>
                <c:pt idx="5">
                  <c:v>212.3986206896552</c:v>
                </c:pt>
                <c:pt idx="6">
                  <c:v>233.71951318458417</c:v>
                </c:pt>
                <c:pt idx="7">
                  <c:v>230.95786026200872</c:v>
                </c:pt>
                <c:pt idx="8">
                  <c:v>238.70922352941176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8.9390353628319"/>
          <c:min val="150.8495194454277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8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178.2198300970874</c:v>
                </c:pt>
                <c:pt idx="1">
                  <c:v>209.37557803468206</c:v>
                </c:pt>
                <c:pt idx="2">
                  <c:v>226.22274193548387</c:v>
                </c:pt>
                <c:pt idx="3">
                  <c:v>224.48005076142132</c:v>
                </c:pt>
                <c:pt idx="4">
                  <c:v>221.7853680981595</c:v>
                </c:pt>
                <c:pt idx="5">
                  <c:v>210.79133663366335</c:v>
                </c:pt>
                <c:pt idx="6">
                  <c:v>209.2606100795756</c:v>
                </c:pt>
                <c:pt idx="7">
                  <c:v>270.77191860465115</c:v>
                </c:pt>
                <c:pt idx="8">
                  <c:v>225.52879679144385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84.65473188078573"/>
          <c:min val="164.3370168209528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8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128.18389112903225</c:v>
                </c:pt>
                <c:pt idx="1">
                  <c:v>143.6304268292683</c:v>
                </c:pt>
                <c:pt idx="2">
                  <c:v>136.9080487804878</c:v>
                </c:pt>
                <c:pt idx="3">
                  <c:v>198.15143617021278</c:v>
                </c:pt>
                <c:pt idx="4">
                  <c:v>159.63840958605664</c:v>
                </c:pt>
                <c:pt idx="5">
                  <c:v>147.4817120622568</c:v>
                </c:pt>
                <c:pt idx="6">
                  <c:v>150.852402717727</c:v>
                </c:pt>
                <c:pt idx="7">
                  <c:v>176.80212672521958</c:v>
                </c:pt>
                <c:pt idx="8">
                  <c:v>139.20603773584907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08.64656792638985"/>
          <c:min val="117.6887593728551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8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233.84593837535013</c:v>
                </c:pt>
                <c:pt idx="1">
                  <c:v>272.64770642201836</c:v>
                </c:pt>
                <c:pt idx="2">
                  <c:v>264.5160053619303</c:v>
                </c:pt>
                <c:pt idx="3">
                  <c:v>300.4536959553696</c:v>
                </c:pt>
                <c:pt idx="4">
                  <c:v>288.36308157099694</c:v>
                </c:pt>
                <c:pt idx="5">
                  <c:v>250.08998518518518</c:v>
                </c:pt>
                <c:pt idx="6">
                  <c:v>321.2700792602378</c:v>
                </c:pt>
                <c:pt idx="7">
                  <c:v>293.4214486638537</c:v>
                </c:pt>
                <c:pt idx="8">
                  <c:v>258.24791976225856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34.383700392971"/>
          <c:min val="220.7323172426169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8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640.6571929824562</c:v>
                </c:pt>
                <c:pt idx="1">
                  <c:v>906.8386104218363</c:v>
                </c:pt>
                <c:pt idx="2">
                  <c:v>634.7025063291139</c:v>
                </c:pt>
                <c:pt idx="3">
                  <c:v>665.1664390243902</c:v>
                </c:pt>
                <c:pt idx="4">
                  <c:v>689.3056844547564</c:v>
                </c:pt>
                <c:pt idx="5">
                  <c:v>652.1006864988558</c:v>
                </c:pt>
                <c:pt idx="6">
                  <c:v>693.769124726477</c:v>
                </c:pt>
                <c:pt idx="7">
                  <c:v>709.0950352941177</c:v>
                </c:pt>
                <c:pt idx="8">
                  <c:v>1041.912085308057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102.9935221548983"/>
          <c:min val="573.62106948227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8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879.8076687116564</c:v>
                </c:pt>
                <c:pt idx="1">
                  <c:v>925.1433742331288</c:v>
                </c:pt>
                <c:pt idx="2">
                  <c:v>886.3305590062112</c:v>
                </c:pt>
                <c:pt idx="3">
                  <c:v>953.3849523809523</c:v>
                </c:pt>
                <c:pt idx="4">
                  <c:v>911.7989444444445</c:v>
                </c:pt>
                <c:pt idx="5">
                  <c:v>804.3490058479532</c:v>
                </c:pt>
                <c:pt idx="6">
                  <c:v>1035.5124242424242</c:v>
                </c:pt>
                <c:pt idx="7">
                  <c:v>994.8709444444444</c:v>
                </c:pt>
                <c:pt idx="8">
                  <c:v>934.7331325301205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070.186937001595"/>
          <c:min val="769.674493088782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9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268.8725</c:v>
                </c:pt>
                <c:pt idx="1">
                  <c:v>180.48355670103092</c:v>
                </c:pt>
                <c:pt idx="2">
                  <c:v>249.92049773755656</c:v>
                </c:pt>
                <c:pt idx="3">
                  <c:v>255.83444915254236</c:v>
                </c:pt>
                <c:pt idx="4">
                  <c:v>224.2878260869565</c:v>
                </c:pt>
                <c:pt idx="5">
                  <c:v>167.36384920634922</c:v>
                </c:pt>
                <c:pt idx="6">
                  <c:v>269.1880172413793</c:v>
                </c:pt>
                <c:pt idx="7">
                  <c:v>279.6357425742574</c:v>
                </c:pt>
                <c:pt idx="8">
                  <c:v>227.57493506493506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96.4765265794436"/>
          <c:min val="150.523065201162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9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ACURA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0.3838170224523827</c:v>
                </c:pt>
                <c:pt idx="1">
                  <c:v>0.4035019812938098</c:v>
                </c:pt>
                <c:pt idx="2">
                  <c:v>0.3952216223703298</c:v>
                </c:pt>
                <c:pt idx="3">
                  <c:v>0.4448395856159019</c:v>
                </c:pt>
                <c:pt idx="4">
                  <c:v>0.47606328903347445</c:v>
                </c:pt>
                <c:pt idx="5">
                  <c:v>0.49427527129736526</c:v>
                </c:pt>
                <c:pt idx="6">
                  <c:v>0.4642179700098211</c:v>
                </c:pt>
                <c:pt idx="7">
                  <c:v>0.48270738633256904</c:v>
                </c:pt>
                <c:pt idx="8">
                  <c:v>0.45289434755155056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5108440086241126"/>
          <c:min val="0.36724828512563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9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0.40001902646023274</c:v>
                </c:pt>
                <c:pt idx="1">
                  <c:v>0.3720732457962403</c:v>
                </c:pt>
                <c:pt idx="2">
                  <c:v>0.4018829925450841</c:v>
                </c:pt>
                <c:pt idx="3">
                  <c:v>0.40962760928027814</c:v>
                </c:pt>
                <c:pt idx="4">
                  <c:v>0.4597764968817762</c:v>
                </c:pt>
                <c:pt idx="5">
                  <c:v>0.40350076249992856</c:v>
                </c:pt>
                <c:pt idx="6">
                  <c:v>0.45445150808341633</c:v>
                </c:pt>
                <c:pt idx="7">
                  <c:v>0.42913664813449875</c:v>
                </c:pt>
                <c:pt idx="8">
                  <c:v>0.425523613232545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7293198454460655"/>
          <c:min val="0.35891775813340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9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0.34774542164070493</c:v>
                </c:pt>
                <c:pt idx="1">
                  <c:v>0.3428853815363897</c:v>
                </c:pt>
                <c:pt idx="2">
                  <c:v>0.3678319883700978</c:v>
                </c:pt>
                <c:pt idx="3">
                  <c:v>0.3451036516062462</c:v>
                </c:pt>
                <c:pt idx="4">
                  <c:v>0.37383512874032615</c:v>
                </c:pt>
                <c:pt idx="5">
                  <c:v>0.37442614515827255</c:v>
                </c:pt>
                <c:pt idx="6">
                  <c:v>0.3765012914668214</c:v>
                </c:pt>
                <c:pt idx="7">
                  <c:v>0.4109924749697751</c:v>
                </c:pt>
                <c:pt idx="8">
                  <c:v>0.39565037718326934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212085389847829"/>
          <c:min val="0.332669317521381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9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0.41530601520715416</c:v>
                </c:pt>
                <c:pt idx="1">
                  <c:v>0.4108890052717672</c:v>
                </c:pt>
                <c:pt idx="2">
                  <c:v>0.405583451418382</c:v>
                </c:pt>
                <c:pt idx="3">
                  <c:v>0.41689218345561846</c:v>
                </c:pt>
                <c:pt idx="4">
                  <c:v>0.458754837572283</c:v>
                </c:pt>
                <c:pt idx="5">
                  <c:v>0.47543115549863596</c:v>
                </c:pt>
                <c:pt idx="6">
                  <c:v>0.44051206489623174</c:v>
                </c:pt>
                <c:pt idx="7">
                  <c:v>0.44067846901952584</c:v>
                </c:pt>
                <c:pt idx="8">
                  <c:v>0.4379850163841297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8590831111067406"/>
          <c:min val="0.395106295806343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9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0.40057589442118835</c:v>
                </c:pt>
                <c:pt idx="1">
                  <c:v>0.3824592298574588</c:v>
                </c:pt>
                <c:pt idx="2">
                  <c:v>0.3990699220487699</c:v>
                </c:pt>
                <c:pt idx="3">
                  <c:v>0.3369845083698473</c:v>
                </c:pt>
                <c:pt idx="4">
                  <c:v>0.42446429931693574</c:v>
                </c:pt>
                <c:pt idx="5">
                  <c:v>0.4242123912395645</c:v>
                </c:pt>
                <c:pt idx="6">
                  <c:v>0.4125803196455596</c:v>
                </c:pt>
                <c:pt idx="7">
                  <c:v>0.4279628930950305</c:v>
                </c:pt>
                <c:pt idx="8">
                  <c:v>0.41019587611883684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41609650803808"/>
          <c:min val="0.32333775066106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9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0.39385465162077204</c:v>
                </c:pt>
                <c:pt idx="1">
                  <c:v>0.4104798110566934</c:v>
                </c:pt>
                <c:pt idx="2">
                  <c:v>0.39984615107565896</c:v>
                </c:pt>
                <c:pt idx="3">
                  <c:v>0.4242643654011316</c:v>
                </c:pt>
                <c:pt idx="4">
                  <c:v>0.43535929201653073</c:v>
                </c:pt>
                <c:pt idx="5">
                  <c:v>0.4359650422122587</c:v>
                </c:pt>
                <c:pt idx="6">
                  <c:v>0.4310274406950725</c:v>
                </c:pt>
                <c:pt idx="7">
                  <c:v>0.4257261405886852</c:v>
                </c:pt>
                <c:pt idx="8">
                  <c:v>0.4125780793358778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4228160080098167"/>
          <c:min val="0.3875380930320490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9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0.34615649425879996</c:v>
                </c:pt>
                <c:pt idx="1">
                  <c:v>0.3553626019087758</c:v>
                </c:pt>
                <c:pt idx="2">
                  <c:v>0.33286088298414096</c:v>
                </c:pt>
                <c:pt idx="3">
                  <c:v>0.33135079455831645</c:v>
                </c:pt>
                <c:pt idx="4">
                  <c:v>0.36466133494564634</c:v>
                </c:pt>
                <c:pt idx="5">
                  <c:v>0.38118653720091344</c:v>
                </c:pt>
                <c:pt idx="6">
                  <c:v>0.3809185720341265</c:v>
                </c:pt>
                <c:pt idx="7">
                  <c:v>0.37479736400081787</c:v>
                </c:pt>
                <c:pt idx="8">
                  <c:v>0.3350495696231172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88661898597303"/>
          <c:min val="0.323875433161926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9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0.414351536191364</c:v>
                </c:pt>
                <c:pt idx="1">
                  <c:v>0.39318087070517616</c:v>
                </c:pt>
                <c:pt idx="2">
                  <c:v>0.4185113634289955</c:v>
                </c:pt>
                <c:pt idx="3">
                  <c:v>0.3984325401778728</c:v>
                </c:pt>
                <c:pt idx="4">
                  <c:v>0.4275287802058474</c:v>
                </c:pt>
                <c:pt idx="5">
                  <c:v>0.4314231842150624</c:v>
                </c:pt>
                <c:pt idx="6">
                  <c:v>0.40647931761383654</c:v>
                </c:pt>
                <c:pt idx="7">
                  <c:v>0.42811568086149515</c:v>
                </c:pt>
                <c:pt idx="8">
                  <c:v>0.4328714643805786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38825053431889"/>
          <c:min val="0.387227281653865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9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0.4411058127734458</c:v>
                </c:pt>
                <c:pt idx="1">
                  <c:v>0.45645701726723603</c:v>
                </c:pt>
                <c:pt idx="2">
                  <c:v>0.43879838840991475</c:v>
                </c:pt>
                <c:pt idx="3">
                  <c:v>0.40377729240207977</c:v>
                </c:pt>
                <c:pt idx="4">
                  <c:v>0.4744010071958122</c:v>
                </c:pt>
                <c:pt idx="5">
                  <c:v>0.4339098342743925</c:v>
                </c:pt>
                <c:pt idx="6">
                  <c:v>0.44740581583560335</c:v>
                </c:pt>
                <c:pt idx="7">
                  <c:v>0.46909418535282466</c:v>
                </c:pt>
                <c:pt idx="8">
                  <c:v>0.45065660188962764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8499456441487204"/>
          <c:min val="0.39318373518301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0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0.3680342105578381</c:v>
                </c:pt>
                <c:pt idx="1">
                  <c:v>0.3691001034144722</c:v>
                </c:pt>
                <c:pt idx="2">
                  <c:v>0.3670958755466887</c:v>
                </c:pt>
                <c:pt idx="3">
                  <c:v>0.37086270739787763</c:v>
                </c:pt>
                <c:pt idx="4">
                  <c:v>0.3526965626793513</c:v>
                </c:pt>
                <c:pt idx="5">
                  <c:v>0.37527049523033906</c:v>
                </c:pt>
                <c:pt idx="6">
                  <c:v>0.3587371292399778</c:v>
                </c:pt>
                <c:pt idx="7">
                  <c:v>0.3863209963060099</c:v>
                </c:pt>
                <c:pt idx="8">
                  <c:v>0.40033452080355186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0748021452218197"/>
          <c:min val="0.34555086896072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0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LEXUS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395</c:v>
                </c:pt>
                <c:pt idx="1">
                  <c:v>390</c:v>
                </c:pt>
                <c:pt idx="2">
                  <c:v>491</c:v>
                </c:pt>
                <c:pt idx="3">
                  <c:v>543</c:v>
                </c:pt>
                <c:pt idx="4">
                  <c:v>485</c:v>
                </c:pt>
                <c:pt idx="5">
                  <c:v>553</c:v>
                </c:pt>
                <c:pt idx="6">
                  <c:v>564</c:v>
                </c:pt>
                <c:pt idx="7">
                  <c:v>577</c:v>
                </c:pt>
                <c:pt idx="8">
                  <c:v>569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05.05"/>
          <c:min val="361.9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0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567</c:v>
                </c:pt>
                <c:pt idx="1">
                  <c:v>513</c:v>
                </c:pt>
                <c:pt idx="2">
                  <c:v>550</c:v>
                </c:pt>
                <c:pt idx="3">
                  <c:v>539</c:v>
                </c:pt>
                <c:pt idx="4">
                  <c:v>538</c:v>
                </c:pt>
                <c:pt idx="5">
                  <c:v>649</c:v>
                </c:pt>
                <c:pt idx="6">
                  <c:v>716</c:v>
                </c:pt>
                <c:pt idx="7">
                  <c:v>663</c:v>
                </c:pt>
                <c:pt idx="8">
                  <c:v>623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46.45"/>
          <c:min val="482.5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0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352</c:v>
                </c:pt>
                <c:pt idx="1">
                  <c:v>362</c:v>
                </c:pt>
                <c:pt idx="2">
                  <c:v>336</c:v>
                </c:pt>
                <c:pt idx="3">
                  <c:v>402</c:v>
                </c:pt>
                <c:pt idx="4">
                  <c:v>356</c:v>
                </c:pt>
                <c:pt idx="5">
                  <c:v>442</c:v>
                </c:pt>
                <c:pt idx="6">
                  <c:v>449</c:v>
                </c:pt>
                <c:pt idx="7">
                  <c:v>396</c:v>
                </c:pt>
                <c:pt idx="8">
                  <c:v>401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65.95"/>
          <c:min val="319.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0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578</c:v>
                </c:pt>
                <c:pt idx="1">
                  <c:v>519</c:v>
                </c:pt>
                <c:pt idx="2">
                  <c:v>637</c:v>
                </c:pt>
                <c:pt idx="3">
                  <c:v>642</c:v>
                </c:pt>
                <c:pt idx="4">
                  <c:v>663</c:v>
                </c:pt>
                <c:pt idx="5">
                  <c:v>654</c:v>
                </c:pt>
                <c:pt idx="6">
                  <c:v>674</c:v>
                </c:pt>
                <c:pt idx="7">
                  <c:v>677</c:v>
                </c:pt>
                <c:pt idx="8">
                  <c:v>657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00.7"/>
          <c:min val="49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0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FLAGSTAFF</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364</c:v>
                </c:pt>
                <c:pt idx="1">
                  <c:v>375</c:v>
                </c:pt>
                <c:pt idx="2">
                  <c:v>452</c:v>
                </c:pt>
                <c:pt idx="3">
                  <c:v>507</c:v>
                </c:pt>
                <c:pt idx="4">
                  <c:v>463</c:v>
                </c:pt>
                <c:pt idx="5">
                  <c:v>493</c:v>
                </c:pt>
                <c:pt idx="6">
                  <c:v>493</c:v>
                </c:pt>
                <c:pt idx="7">
                  <c:v>458</c:v>
                </c:pt>
                <c:pt idx="8">
                  <c:v>425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28.45"/>
          <c:min val="342.5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0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1.1961937716262976</c:v>
                </c:pt>
                <c:pt idx="1">
                  <c:v>1.3</c:v>
                </c:pt>
                <c:pt idx="2">
                  <c:v>1.524175824175824</c:v>
                </c:pt>
                <c:pt idx="3">
                  <c:v>1.4054517133956386</c:v>
                </c:pt>
                <c:pt idx="4">
                  <c:v>1.4104072398190046</c:v>
                </c:pt>
                <c:pt idx="5">
                  <c:v>1.25</c:v>
                </c:pt>
                <c:pt idx="6">
                  <c:v>1.3206231454005934</c:v>
                </c:pt>
                <c:pt idx="7">
                  <c:v>1.7601181683899556</c:v>
                </c:pt>
                <c:pt idx="8">
                  <c:v>1.8642313546423135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644369920947158"/>
          <c:min val="1.09598813417389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0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1.4608490566037735</c:v>
                </c:pt>
                <c:pt idx="1">
                  <c:v>1.4711340206185566</c:v>
                </c:pt>
                <c:pt idx="2">
                  <c:v>1.7298642533936652</c:v>
                </c:pt>
                <c:pt idx="3">
                  <c:v>1.7783898305084744</c:v>
                </c:pt>
                <c:pt idx="4">
                  <c:v>1.441391304347826</c:v>
                </c:pt>
                <c:pt idx="5">
                  <c:v>1.5297619047619047</c:v>
                </c:pt>
                <c:pt idx="6">
                  <c:v>1.819439655172414</c:v>
                </c:pt>
                <c:pt idx="7">
                  <c:v>1.7451485148514851</c:v>
                </c:pt>
                <c:pt idx="8">
                  <c:v>1.725108225108225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761469077961022"/>
          <c:min val="1.384684051724137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0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1.2968932038834953</c:v>
                </c:pt>
                <c:pt idx="1">
                  <c:v>1.3835549132947977</c:v>
                </c:pt>
                <c:pt idx="2">
                  <c:v>1.4527419354838709</c:v>
                </c:pt>
                <c:pt idx="3">
                  <c:v>1.3560913705583755</c:v>
                </c:pt>
                <c:pt idx="4">
                  <c:v>1.272883435582822</c:v>
                </c:pt>
                <c:pt idx="5">
                  <c:v>1.4657920792079207</c:v>
                </c:pt>
                <c:pt idx="6">
                  <c:v>1.5742705570291777</c:v>
                </c:pt>
                <c:pt idx="7">
                  <c:v>1.6565988372093023</c:v>
                </c:pt>
                <c:pt idx="8">
                  <c:v>1.4058823529411764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7141561474532745"/>
          <c:min val="1.21532612533884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0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1.208095238095238</c:v>
                </c:pt>
                <c:pt idx="1">
                  <c:v>1.2542997542997543</c:v>
                </c:pt>
                <c:pt idx="2">
                  <c:v>1.23446261682243</c:v>
                </c:pt>
                <c:pt idx="3">
                  <c:v>1.2625570776255708</c:v>
                </c:pt>
                <c:pt idx="4">
                  <c:v>1.2171394799054374</c:v>
                </c:pt>
                <c:pt idx="5">
                  <c:v>1.2735507246376812</c:v>
                </c:pt>
                <c:pt idx="6">
                  <c:v>1.3877800407331975</c:v>
                </c:pt>
                <c:pt idx="7">
                  <c:v>1.4995475113122172</c:v>
                </c:pt>
                <c:pt idx="8">
                  <c:v>1.2453229398663697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432653522947641"/>
          <c:min val="1.16437739711269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1.575798319327731</c:v>
                </c:pt>
                <c:pt idx="1">
                  <c:v>1.6981651376146787</c:v>
                </c:pt>
                <c:pt idx="2">
                  <c:v>1.6719839142091153</c:v>
                </c:pt>
                <c:pt idx="3">
                  <c:v>1.9406276150627615</c:v>
                </c:pt>
                <c:pt idx="4">
                  <c:v>1.7418429003021147</c:v>
                </c:pt>
                <c:pt idx="5">
                  <c:v>1.6785185185185185</c:v>
                </c:pt>
                <c:pt idx="6">
                  <c:v>1.8784676354029062</c:v>
                </c:pt>
                <c:pt idx="7">
                  <c:v>1.8579465541490858</c:v>
                </c:pt>
                <c:pt idx="8">
                  <c:v>1.6184249628528975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953520094230162"/>
          <c:min val="1.521073924967476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133.50852736170845</c:v>
                </c:pt>
                <c:pt idx="1">
                  <c:v>124.52905604719764</c:v>
                </c:pt>
                <c:pt idx="2">
                  <c:v>125.66441779876723</c:v>
                </c:pt>
                <c:pt idx="3">
                  <c:v>131.4519062005467</c:v>
                </c:pt>
                <c:pt idx="4">
                  <c:v>132.6886803693774</c:v>
                </c:pt>
                <c:pt idx="5">
                  <c:v>140.1975303339418</c:v>
                </c:pt>
                <c:pt idx="6">
                  <c:v>142.53003268369446</c:v>
                </c:pt>
                <c:pt idx="7">
                  <c:v>141.47412587412586</c:v>
                </c:pt>
                <c:pt idx="8">
                  <c:v>141.50217039196633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5.23017917916897"/>
          <c:min val="121.8289095517231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226.99655601837938</c:v>
                </c:pt>
                <c:pt idx="1">
                  <c:v>230.6832340523972</c:v>
                </c:pt>
                <c:pt idx="2">
                  <c:v>225.44062666768312</c:v>
                </c:pt>
                <c:pt idx="3">
                  <c:v>220.3694915254237</c:v>
                </c:pt>
                <c:pt idx="4">
                  <c:v>229.04754684838161</c:v>
                </c:pt>
                <c:pt idx="5">
                  <c:v>247.9044473377647</c:v>
                </c:pt>
                <c:pt idx="6">
                  <c:v>243.19138102761363</c:v>
                </c:pt>
                <c:pt idx="7">
                  <c:v>243.7889909692768</c:v>
                </c:pt>
                <c:pt idx="8">
                  <c:v>245.53794655414907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2.03469070961586"/>
          <c:min val="216.239248153572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135.50618900582526</c:v>
                </c:pt>
                <c:pt idx="1">
                  <c:v>139.43354100521177</c:v>
                </c:pt>
                <c:pt idx="2">
                  <c:v>143.04070476965322</c:v>
                </c:pt>
                <c:pt idx="3">
                  <c:v>144.27756894597658</c:v>
                </c:pt>
                <c:pt idx="4">
                  <c:v>143.9452209905324</c:v>
                </c:pt>
                <c:pt idx="5">
                  <c:v>143.4172847205565</c:v>
                </c:pt>
                <c:pt idx="6">
                  <c:v>148.4194108316338</c:v>
                </c:pt>
                <c:pt idx="7">
                  <c:v>146.32433479457643</c:v>
                </c:pt>
                <c:pt idx="8">
                  <c:v>148.9747782648588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0.99506665371382"/>
          <c:min val="133.485900616970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146.10917942519472</c:v>
                </c:pt>
                <c:pt idx="1">
                  <c:v>139.31016738481938</c:v>
                </c:pt>
                <c:pt idx="2">
                  <c:v>141.53525925925928</c:v>
                </c:pt>
                <c:pt idx="3">
                  <c:v>149.0938108315364</c:v>
                </c:pt>
                <c:pt idx="4">
                  <c:v>157.86236726813692</c:v>
                </c:pt>
                <c:pt idx="5">
                  <c:v>155.1640949727532</c:v>
                </c:pt>
                <c:pt idx="6">
                  <c:v>145.80333762018492</c:v>
                </c:pt>
                <c:pt idx="7">
                  <c:v>147.881053660003</c:v>
                </c:pt>
                <c:pt idx="8">
                  <c:v>159.61675912057146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2.66274788093426"/>
          <c:min val="136.2641786244565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141.29899487583762</c:v>
                </c:pt>
                <c:pt idx="1">
                  <c:v>141.12609206660136</c:v>
                </c:pt>
                <c:pt idx="2">
                  <c:v>134.98959023374655</c:v>
                </c:pt>
                <c:pt idx="3">
                  <c:v>134.82066907775769</c:v>
                </c:pt>
                <c:pt idx="4">
                  <c:v>134.81227542002526</c:v>
                </c:pt>
                <c:pt idx="5">
                  <c:v>141.9157515410147</c:v>
                </c:pt>
                <c:pt idx="6">
                  <c:v>145.1528764308776</c:v>
                </c:pt>
                <c:pt idx="7">
                  <c:v>145.4075890162945</c:v>
                </c:pt>
                <c:pt idx="8">
                  <c:v>147.8839667352231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9.84472043250278"/>
          <c:min val="132.85152172274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ACURA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0.3838170224523827</c:v>
                </c:pt>
                <c:pt idx="1">
                  <c:v>0.4035019812938098</c:v>
                </c:pt>
                <c:pt idx="2">
                  <c:v>0.3952216223703298</c:v>
                </c:pt>
                <c:pt idx="3">
                  <c:v>0.4448395856159019</c:v>
                </c:pt>
                <c:pt idx="4">
                  <c:v>0.47606328903347445</c:v>
                </c:pt>
                <c:pt idx="5">
                  <c:v>0.49427527129736526</c:v>
                </c:pt>
                <c:pt idx="6">
                  <c:v>0.4642179700098211</c:v>
                </c:pt>
                <c:pt idx="7">
                  <c:v>0.48270738633256904</c:v>
                </c:pt>
                <c:pt idx="8">
                  <c:v>0.45289434755155056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5108440086241126"/>
          <c:min val="0.36724828512563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0.40001902646023274</c:v>
                </c:pt>
                <c:pt idx="1">
                  <c:v>0.3720732457962403</c:v>
                </c:pt>
                <c:pt idx="2">
                  <c:v>0.4018829925450841</c:v>
                </c:pt>
                <c:pt idx="3">
                  <c:v>0.40962760928027814</c:v>
                </c:pt>
                <c:pt idx="4">
                  <c:v>0.4597764968817762</c:v>
                </c:pt>
                <c:pt idx="5">
                  <c:v>0.40350076249992856</c:v>
                </c:pt>
                <c:pt idx="6">
                  <c:v>0.45445150808341633</c:v>
                </c:pt>
                <c:pt idx="7">
                  <c:v>0.42913664813449875</c:v>
                </c:pt>
                <c:pt idx="8">
                  <c:v>0.425523613232545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7293198454460655"/>
          <c:min val="0.35891775813340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0.34774542164070493</c:v>
                </c:pt>
                <c:pt idx="1">
                  <c:v>0.3428853815363897</c:v>
                </c:pt>
                <c:pt idx="2">
                  <c:v>0.3678319883700978</c:v>
                </c:pt>
                <c:pt idx="3">
                  <c:v>0.3451036516062462</c:v>
                </c:pt>
                <c:pt idx="4">
                  <c:v>0.37383512874032615</c:v>
                </c:pt>
                <c:pt idx="5">
                  <c:v>0.37442614515827255</c:v>
                </c:pt>
                <c:pt idx="6">
                  <c:v>0.3765012914668214</c:v>
                </c:pt>
                <c:pt idx="7">
                  <c:v>0.4109924749697751</c:v>
                </c:pt>
                <c:pt idx="8">
                  <c:v>0.39565037718326934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212085389847829"/>
          <c:min val="0.332669317521381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0.41530601520715416</c:v>
                </c:pt>
                <c:pt idx="1">
                  <c:v>0.4108890052717672</c:v>
                </c:pt>
                <c:pt idx="2">
                  <c:v>0.405583451418382</c:v>
                </c:pt>
                <c:pt idx="3">
                  <c:v>0.41689218345561846</c:v>
                </c:pt>
                <c:pt idx="4">
                  <c:v>0.458754837572283</c:v>
                </c:pt>
                <c:pt idx="5">
                  <c:v>0.47543115549863596</c:v>
                </c:pt>
                <c:pt idx="6">
                  <c:v>0.44051206489623174</c:v>
                </c:pt>
                <c:pt idx="7">
                  <c:v>0.44067846901952584</c:v>
                </c:pt>
                <c:pt idx="8">
                  <c:v>0.4379850163841297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8590831111067406"/>
          <c:min val="0.395106295806343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0.40057589442118835</c:v>
                </c:pt>
                <c:pt idx="1">
                  <c:v>0.3824592298574588</c:v>
                </c:pt>
                <c:pt idx="2">
                  <c:v>0.3990699220487699</c:v>
                </c:pt>
                <c:pt idx="3">
                  <c:v>0.3369845083698473</c:v>
                </c:pt>
                <c:pt idx="4">
                  <c:v>0.42446429931693574</c:v>
                </c:pt>
                <c:pt idx="5">
                  <c:v>0.4242123912395645</c:v>
                </c:pt>
                <c:pt idx="6">
                  <c:v>0.4125803196455596</c:v>
                </c:pt>
                <c:pt idx="7">
                  <c:v>0.4279628930950305</c:v>
                </c:pt>
                <c:pt idx="8">
                  <c:v>0.41019587611883684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41609650803808"/>
          <c:min val="0.32333775066106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140105.4</c:v>
                </c:pt>
                <c:pt idx="1">
                  <c:v>129994.04000000001</c:v>
                </c:pt>
                <c:pt idx="2">
                  <c:v>194655.32</c:v>
                </c:pt>
                <c:pt idx="3">
                  <c:v>176169.16</c:v>
                </c:pt>
                <c:pt idx="4">
                  <c:v>174810.36</c:v>
                </c:pt>
                <c:pt idx="5">
                  <c:v>155900.23</c:v>
                </c:pt>
                <c:pt idx="6">
                  <c:v>168039.07</c:v>
                </c:pt>
                <c:pt idx="7">
                  <c:v>230368.93</c:v>
                </c:pt>
                <c:pt idx="8">
                  <c:v>227165.53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45425.1635"/>
          <c:min val="114937.806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86980.36</c:v>
                </c:pt>
                <c:pt idx="1">
                  <c:v>82836.39</c:v>
                </c:pt>
                <c:pt idx="2">
                  <c:v>86106.14</c:v>
                </c:pt>
                <c:pt idx="3">
                  <c:v>91223.19</c:v>
                </c:pt>
                <c:pt idx="4">
                  <c:v>82915.06</c:v>
                </c:pt>
                <c:pt idx="5">
                  <c:v>95470.58</c:v>
                </c:pt>
                <c:pt idx="6">
                  <c:v>121071.78</c:v>
                </c:pt>
                <c:pt idx="7">
                  <c:v>113797.79000000001</c:v>
                </c:pt>
                <c:pt idx="8">
                  <c:v>101183.02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26807.0885"/>
          <c:min val="77101.081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236533.56</c:v>
                </c:pt>
                <c:pt idx="1">
                  <c:v>198065</c:v>
                </c:pt>
                <c:pt idx="2">
                  <c:v>220283.83000000002</c:v>
                </c:pt>
                <c:pt idx="3">
                  <c:v>202377.06</c:v>
                </c:pt>
                <c:pt idx="4">
                  <c:v>210946.1</c:v>
                </c:pt>
                <c:pt idx="5">
                  <c:v>234862.74</c:v>
                </c:pt>
                <c:pt idx="6">
                  <c:v>300394.59</c:v>
                </c:pt>
                <c:pt idx="7">
                  <c:v>271122.35000000003</c:v>
                </c:pt>
                <c:pt idx="8">
                  <c:v>265586.5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15744.0285"/>
          <c:min val="182715.561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63266.58</c:v>
                </c:pt>
                <c:pt idx="1">
                  <c:v>48675.05</c:v>
                </c:pt>
                <c:pt idx="2">
                  <c:v>49504.81</c:v>
                </c:pt>
                <c:pt idx="3">
                  <c:v>58672.880000000005</c:v>
                </c:pt>
                <c:pt idx="4">
                  <c:v>58583.36</c:v>
                </c:pt>
                <c:pt idx="5">
                  <c:v>82540.21</c:v>
                </c:pt>
                <c:pt idx="6">
                  <c:v>77897.88</c:v>
                </c:pt>
                <c:pt idx="7">
                  <c:v>64144.34</c:v>
                </c:pt>
                <c:pt idx="8">
                  <c:v>57011.62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87619.98400000001"/>
          <c:min val="43595.2760000000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47133.479999999996</c:v>
                </c:pt>
                <c:pt idx="1">
                  <c:v>42518.81</c:v>
                </c:pt>
                <c:pt idx="2">
                  <c:v>57961.69</c:v>
                </c:pt>
                <c:pt idx="3">
                  <c:v>50013.479999999996</c:v>
                </c:pt>
                <c:pt idx="4">
                  <c:v>50169.79</c:v>
                </c:pt>
                <c:pt idx="5">
                  <c:v>48661.44</c:v>
                </c:pt>
                <c:pt idx="6">
                  <c:v>64651.67</c:v>
                </c:pt>
                <c:pt idx="7">
                  <c:v>56663.37</c:v>
                </c:pt>
                <c:pt idx="8">
                  <c:v>58829.520000000004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7971.599"/>
          <c:min val="39198.8809999999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0.23308270676691728</c:v>
                </c:pt>
                <c:pt idx="1">
                  <c:v>0.18114143920595532</c:v>
                </c:pt>
                <c:pt idx="2">
                  <c:v>0.21772151898734177</c:v>
                </c:pt>
                <c:pt idx="3">
                  <c:v>0.20243902439024392</c:v>
                </c:pt>
                <c:pt idx="4">
                  <c:v>0.33410672853828305</c:v>
                </c:pt>
                <c:pt idx="5">
                  <c:v>0.33638443935926776</c:v>
                </c:pt>
                <c:pt idx="6">
                  <c:v>0.31072210065645517</c:v>
                </c:pt>
                <c:pt idx="7">
                  <c:v>0.28941176470588237</c:v>
                </c:pt>
                <c:pt idx="8">
                  <c:v>0.35308056872037913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788714381475427"/>
          <c:min val="0.1553505697787917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0.07439446366782007</c:v>
                </c:pt>
                <c:pt idx="1">
                  <c:v>0.16377649325626203</c:v>
                </c:pt>
                <c:pt idx="2">
                  <c:v>0.14285714285714285</c:v>
                </c:pt>
                <c:pt idx="3">
                  <c:v>0.16510903426791276</c:v>
                </c:pt>
                <c:pt idx="4">
                  <c:v>0.1493212669683258</c:v>
                </c:pt>
                <c:pt idx="5">
                  <c:v>0.10703363914373089</c:v>
                </c:pt>
                <c:pt idx="6">
                  <c:v>0.16468842729970326</c:v>
                </c:pt>
                <c:pt idx="7">
                  <c:v>0.25258493353028066</c:v>
                </c:pt>
                <c:pt idx="8">
                  <c:v>0.2678843226788432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969078015304967"/>
          <c:min val="0.045370984816166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0.016666666666666666</c:v>
                </c:pt>
                <c:pt idx="1">
                  <c:v>0.04176904176904177</c:v>
                </c:pt>
                <c:pt idx="2">
                  <c:v>0.0630841121495327</c:v>
                </c:pt>
                <c:pt idx="3">
                  <c:v>0.06621004566210045</c:v>
                </c:pt>
                <c:pt idx="4">
                  <c:v>0.08983451536643026</c:v>
                </c:pt>
                <c:pt idx="5">
                  <c:v>0.07729468599033816</c:v>
                </c:pt>
                <c:pt idx="6">
                  <c:v>0.11608961303462322</c:v>
                </c:pt>
                <c:pt idx="7">
                  <c:v>0.11764705882352941</c:v>
                </c:pt>
                <c:pt idx="8">
                  <c:v>0.12026726057906459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3580734966592428"/>
          <c:min val="0.001126577579806978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0.16037735849056603</c:v>
                </c:pt>
                <c:pt idx="1">
                  <c:v>0.15463917525773196</c:v>
                </c:pt>
                <c:pt idx="2">
                  <c:v>0.23076923076923078</c:v>
                </c:pt>
                <c:pt idx="3">
                  <c:v>0.23728813559322035</c:v>
                </c:pt>
                <c:pt idx="4">
                  <c:v>0.1826086956521739</c:v>
                </c:pt>
                <c:pt idx="5">
                  <c:v>0.21428571428571427</c:v>
                </c:pt>
                <c:pt idx="6">
                  <c:v>0.24568965517241378</c:v>
                </c:pt>
                <c:pt idx="7">
                  <c:v>0.24752475247524752</c:v>
                </c:pt>
                <c:pt idx="8">
                  <c:v>0.27705627705627706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954188423260588"/>
          <c:min val="0.1362766099879502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0.15048543689320387</c:v>
                </c:pt>
                <c:pt idx="1">
                  <c:v>0.13583815028901733</c:v>
                </c:pt>
                <c:pt idx="2">
                  <c:v>0.0967741935483871</c:v>
                </c:pt>
                <c:pt idx="3">
                  <c:v>0.1116751269035533</c:v>
                </c:pt>
                <c:pt idx="4">
                  <c:v>0.11042944785276074</c:v>
                </c:pt>
                <c:pt idx="5">
                  <c:v>0.1485148514851485</c:v>
                </c:pt>
                <c:pt idx="6">
                  <c:v>0.19363395225464192</c:v>
                </c:pt>
                <c:pt idx="7">
                  <c:v>0.19186046511627908</c:v>
                </c:pt>
                <c:pt idx="8">
                  <c:v>0.19518716577540107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0994911160945318"/>
          <c:min val="0.082012247714334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0.05536332179930796</c:v>
                </c:pt>
                <c:pt idx="1">
                  <c:v>0.1252408477842004</c:v>
                </c:pt>
                <c:pt idx="2">
                  <c:v>0.12401883830455258</c:v>
                </c:pt>
                <c:pt idx="3">
                  <c:v>0.11682242990654206</c:v>
                </c:pt>
                <c:pt idx="4">
                  <c:v>0.09803921568627451</c:v>
                </c:pt>
                <c:pt idx="5">
                  <c:v>0.07339449541284404</c:v>
                </c:pt>
                <c:pt idx="6">
                  <c:v>0.12166172106824925</c:v>
                </c:pt>
                <c:pt idx="7">
                  <c:v>0.22156573116691286</c:v>
                </c:pt>
                <c:pt idx="8">
                  <c:v>0.2374429223744292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647548624606974"/>
          <c:min val="0.02805138171303977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0.09433962264150944</c:v>
                </c:pt>
                <c:pt idx="1">
                  <c:v>0.11855670103092783</c:v>
                </c:pt>
                <c:pt idx="2">
                  <c:v>0.11312217194570136</c:v>
                </c:pt>
                <c:pt idx="3">
                  <c:v>0.1440677966101695</c:v>
                </c:pt>
                <c:pt idx="4">
                  <c:v>0.12173913043478261</c:v>
                </c:pt>
                <c:pt idx="5">
                  <c:v>0.1388888888888889</c:v>
                </c:pt>
                <c:pt idx="6">
                  <c:v>0.125</c:v>
                </c:pt>
                <c:pt idx="7">
                  <c:v>0.14356435643564355</c:v>
                </c:pt>
                <c:pt idx="8">
                  <c:v>0.21212121212121213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2978845054316754"/>
          <c:min val="0.0766723842195540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3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0.004873294346978557</c:v>
                </c:pt>
                <c:pt idx="1">
                  <c:v>0.0012048192771084338</c:v>
                </c:pt>
                <c:pt idx="2">
                  <c:v>0.015321756894790603</c:v>
                </c:pt>
                <c:pt idx="3">
                  <c:v>0.011099899091826439</c:v>
                </c:pt>
                <c:pt idx="4">
                  <c:v>0.003972194637537239</c:v>
                </c:pt>
                <c:pt idx="5">
                  <c:v>0.03501945525291829</c:v>
                </c:pt>
                <c:pt idx="6">
                  <c:v>0.05103969754253308</c:v>
                </c:pt>
                <c:pt idx="7">
                  <c:v>0.04133064516129032</c:v>
                </c:pt>
                <c:pt idx="8">
                  <c:v>0.02747791952894995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5851492928234678"/>
          <c:min val="-0.00627041246270526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0.011904761904761904</c:v>
                </c:pt>
                <c:pt idx="1">
                  <c:v>0.05405405405405406</c:v>
                </c:pt>
                <c:pt idx="2">
                  <c:v>0.09345794392523364</c:v>
                </c:pt>
                <c:pt idx="3">
                  <c:v>0.1278538812785388</c:v>
                </c:pt>
                <c:pt idx="4">
                  <c:v>0.09219858156028368</c:v>
                </c:pt>
                <c:pt idx="5">
                  <c:v>0.05314009661835749</c:v>
                </c:pt>
                <c:pt idx="6">
                  <c:v>0.05702647657841141</c:v>
                </c:pt>
                <c:pt idx="7">
                  <c:v>0.10180995475113122</c:v>
                </c:pt>
                <c:pt idx="8">
                  <c:v>0.10022271714922049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4524624918460532"/>
          <c:min val="-0.00548760600130462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3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NORTH</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0.09898477157360407</c:v>
                </c:pt>
                <c:pt idx="1">
                  <c:v>0.08869329722410291</c:v>
                </c:pt>
                <c:pt idx="2">
                  <c:v>0.10177805027590435</c:v>
                </c:pt>
                <c:pt idx="3">
                  <c:v>0.13354037267080746</c:v>
                </c:pt>
                <c:pt idx="4">
                  <c:v>0.156411730879816</c:v>
                </c:pt>
                <c:pt idx="5">
                  <c:v>0.1283084004602992</c:v>
                </c:pt>
                <c:pt idx="6">
                  <c:v>0.11723737666860128</c:v>
                </c:pt>
                <c:pt idx="7">
                  <c:v>0.13226666666666667</c:v>
                </c:pt>
                <c:pt idx="8">
                  <c:v>0.11554496724240619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6656949592817297"/>
          <c:min val="0.078535532175745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0.04325259515570934</c:v>
                </c:pt>
                <c:pt idx="1">
                  <c:v>0.05009633911368015</c:v>
                </c:pt>
                <c:pt idx="2">
                  <c:v>0.061224489795918366</c:v>
                </c:pt>
                <c:pt idx="3">
                  <c:v>0.06542056074766354</c:v>
                </c:pt>
                <c:pt idx="4">
                  <c:v>0.058823529411764705</c:v>
                </c:pt>
                <c:pt idx="5">
                  <c:v>0.04434250764525994</c:v>
                </c:pt>
                <c:pt idx="6">
                  <c:v>0.057863501483679525</c:v>
                </c:pt>
                <c:pt idx="7">
                  <c:v>0.17725258493353027</c:v>
                </c:pt>
                <c:pt idx="8">
                  <c:v>0.1902587519025875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1230967541461923"/>
          <c:min val="0.02120167164367761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0.007444168734491315</c:v>
                </c:pt>
                <c:pt idx="1">
                  <c:v>0.0030959752321981426</c:v>
                </c:pt>
                <c:pt idx="2">
                  <c:v>0.004796163069544364</c:v>
                </c:pt>
                <c:pt idx="3">
                  <c:v>0</c:v>
                </c:pt>
                <c:pt idx="4">
                  <c:v>0</c:v>
                </c:pt>
                <c:pt idx="5">
                  <c:v>0</c:v>
                </c:pt>
                <c:pt idx="6">
                  <c:v>0</c:v>
                </c:pt>
                <c:pt idx="7">
                  <c:v>0.05952380952380952</c:v>
                </c:pt>
                <c:pt idx="8">
                  <c:v>0.10632183908045977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2227011494252873"/>
          <c:min val="-0.01594827586206896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3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0.03333333333333333</c:v>
                </c:pt>
                <c:pt idx="1">
                  <c:v>0.044226044226044224</c:v>
                </c:pt>
                <c:pt idx="2">
                  <c:v>0.0397196261682243</c:v>
                </c:pt>
                <c:pt idx="3">
                  <c:v>0.0684931506849315</c:v>
                </c:pt>
                <c:pt idx="4">
                  <c:v>0.05200945626477541</c:v>
                </c:pt>
                <c:pt idx="5">
                  <c:v>0.05555555555555555</c:v>
                </c:pt>
                <c:pt idx="6">
                  <c:v>0.06720977596741344</c:v>
                </c:pt>
                <c:pt idx="7">
                  <c:v>0.083710407239819</c:v>
                </c:pt>
                <c:pt idx="8">
                  <c:v>0.08685968819599109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9488864142538975"/>
          <c:min val="0.02530438010393466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0.08490566037735849</c:v>
                </c:pt>
                <c:pt idx="1">
                  <c:v>0.0979381443298969</c:v>
                </c:pt>
                <c:pt idx="2">
                  <c:v>0.06787330316742081</c:v>
                </c:pt>
                <c:pt idx="3">
                  <c:v>0.08898305084745763</c:v>
                </c:pt>
                <c:pt idx="4">
                  <c:v>0.0782608695652174</c:v>
                </c:pt>
                <c:pt idx="5">
                  <c:v>0.0992063492063492</c:v>
                </c:pt>
                <c:pt idx="6">
                  <c:v>0.09913793103448276</c:v>
                </c:pt>
                <c:pt idx="7">
                  <c:v>0.09900990099009901</c:v>
                </c:pt>
                <c:pt idx="8">
                  <c:v>0.15151515151515152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640614287673111"/>
          <c:min val="0.05532702591526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4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0.08198489751887811</c:v>
                </c:pt>
                <c:pt idx="1">
                  <c:v>0.08132147395171538</c:v>
                </c:pt>
                <c:pt idx="2">
                  <c:v>0.07900432900432901</c:v>
                </c:pt>
                <c:pt idx="3">
                  <c:v>0.07203389830508475</c:v>
                </c:pt>
                <c:pt idx="4">
                  <c:v>0.05573770491803279</c:v>
                </c:pt>
                <c:pt idx="5">
                  <c:v>0.06837606837606838</c:v>
                </c:pt>
                <c:pt idx="6">
                  <c:v>0.10104166666666667</c:v>
                </c:pt>
                <c:pt idx="7">
                  <c:v>0.08740068104426787</c:v>
                </c:pt>
                <c:pt idx="8">
                  <c:v>0.119906868451688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295322429817363"/>
          <c:min val="0.04611233038798450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4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0.02249134948096886</c:v>
                </c:pt>
                <c:pt idx="1">
                  <c:v>0.030828516377649325</c:v>
                </c:pt>
                <c:pt idx="2">
                  <c:v>0.023547880690737835</c:v>
                </c:pt>
                <c:pt idx="3">
                  <c:v>0.020249221183800622</c:v>
                </c:pt>
                <c:pt idx="4">
                  <c:v>0.027149321266968326</c:v>
                </c:pt>
                <c:pt idx="5">
                  <c:v>0.012232415902140673</c:v>
                </c:pt>
                <c:pt idx="6">
                  <c:v>0.026706231454005934</c:v>
                </c:pt>
                <c:pt idx="7">
                  <c:v>0.10635155096011817</c:v>
                </c:pt>
                <c:pt idx="8">
                  <c:v>0.1887366818873668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1521232178515073"/>
          <c:min val="-0.0142432239956432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4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0.03398058252427184</c:v>
                </c:pt>
                <c:pt idx="1">
                  <c:v>0.04335260115606936</c:v>
                </c:pt>
                <c:pt idx="2">
                  <c:v>0.04838709677419355</c:v>
                </c:pt>
                <c:pt idx="3">
                  <c:v>0.04060913705583756</c:v>
                </c:pt>
                <c:pt idx="4">
                  <c:v>0.06134969325153374</c:v>
                </c:pt>
                <c:pt idx="5">
                  <c:v>0.06188118811881188</c:v>
                </c:pt>
                <c:pt idx="6">
                  <c:v>0.0636604774535809</c:v>
                </c:pt>
                <c:pt idx="7">
                  <c:v>0.061046511627906974</c:v>
                </c:pt>
                <c:pt idx="8">
                  <c:v>0.11764705882352941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3019703026841806"/>
          <c:min val="0.0214306110793832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4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c:v>
                </c:pt>
                <c:pt idx="1">
                  <c:v>0.0012048192771084338</c:v>
                </c:pt>
                <c:pt idx="2">
                  <c:v>0.033707865168539325</c:v>
                </c:pt>
                <c:pt idx="3">
                  <c:v>0.028254288597376387</c:v>
                </c:pt>
                <c:pt idx="4">
                  <c:v>0.030784508440913606</c:v>
                </c:pt>
                <c:pt idx="5">
                  <c:v>0.04377431906614786</c:v>
                </c:pt>
                <c:pt idx="6">
                  <c:v>0.04158790170132325</c:v>
                </c:pt>
                <c:pt idx="7">
                  <c:v>0.05141129032258065</c:v>
                </c:pt>
                <c:pt idx="8">
                  <c:v>0.053974484789008834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62070657507360155"/>
          <c:min val="-0.00809617271835132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4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LINCOLN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0.04912280701754386</c:v>
                </c:pt>
                <c:pt idx="1">
                  <c:v>0.08914728682170543</c:v>
                </c:pt>
                <c:pt idx="2">
                  <c:v>0.06493506493506493</c:v>
                </c:pt>
                <c:pt idx="3">
                  <c:v>0.06498194945848375</c:v>
                </c:pt>
                <c:pt idx="4">
                  <c:v>0.06007067137809187</c:v>
                </c:pt>
                <c:pt idx="5">
                  <c:v>0.1044776119402985</c:v>
                </c:pt>
                <c:pt idx="6">
                  <c:v>0.11987381703470032</c:v>
                </c:pt>
                <c:pt idx="7">
                  <c:v>0.11450381679389313</c:v>
                </c:pt>
                <c:pt idx="8">
                  <c:v>0.06885245901639345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3048646853727378"/>
          <c:min val="0.0385101555149703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4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c:v>
                </c:pt>
                <c:pt idx="1">
                  <c:v>0</c:v>
                </c:pt>
                <c:pt idx="2">
                  <c:v>0</c:v>
                </c:pt>
                <c:pt idx="3">
                  <c:v>0</c:v>
                </c:pt>
                <c:pt idx="4">
                  <c:v>0</c:v>
                </c:pt>
                <c:pt idx="5">
                  <c:v>0</c:v>
                </c:pt>
                <c:pt idx="6">
                  <c:v>0</c:v>
                </c:pt>
                <c:pt idx="7">
                  <c:v>0.023809523809523808</c:v>
                </c:pt>
                <c:pt idx="8">
                  <c:v>0.05459770114942529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6278735632183909"/>
          <c:min val="-0.0081896551724137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2.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4.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5.xml"/></Relationships>
</file>

<file path=ppt/notesSlides/_rels/notesSlide1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6.xml"/></Relationships>
</file>

<file path=ppt/notesSlides/_rels/notesSlide1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7.xml"/></Relationships>
</file>

<file path=ppt/notesSlides/_rels/notesSlide1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8.xml"/></Relationships>
</file>

<file path=ppt/notesSlides/_rels/notesSlide1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9.xml"/></Relationships>
</file>

<file path=ppt/notesSlides/_rels/notesSlide1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0.xml"/></Relationships>
</file>

<file path=ppt/notesSlides/_rels/notesSlide1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1.xml"/></Relationships>
</file>

<file path=ppt/notesSlides/_rels/notesSlide1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2.xml"/></Relationships>
</file>

<file path=ppt/notesSlides/_rels/notesSlide1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3.xml"/></Relationships>
</file>

<file path=ppt/notesSlides/_rels/notesSlide1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4.xml"/></Relationships>
</file>

<file path=ppt/notesSlides/_rels/notesSlide1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5.xml"/></Relationships>
</file>

<file path=ppt/notesSlides/_rels/notesSlide1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6.xml"/></Relationships>
</file>

<file path=ppt/notesSlides/_rels/notesSlide1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7.xml"/></Relationships>
</file>

<file path=ppt/notesSlides/_rels/notesSlide1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8.xml"/></Relationships>
</file>

<file path=ppt/notesSlides/_rels/notesSlide1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9.xml"/></Relationships>
</file>

<file path=ppt/notesSlides/_rels/notesSlide1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0.xml"/></Relationships>
</file>

<file path=ppt/notesSlides/_rels/notesSlide1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1.xml"/></Relationships>
</file>

<file path=ppt/notesSlides/_rels/notesSlide1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2.xml"/></Relationships>
</file>

<file path=ppt/notesSlides/_rels/notesSlide1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3.xml"/></Relationships>
</file>

<file path=ppt/notesSlides/_rels/notesSlide1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4.xml"/></Relationships>
</file>

<file path=ppt/notesSlides/_rels/notesSlide1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5.xml"/></Relationships>
</file>

<file path=ppt/notesSlides/_rels/notesSlide1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6.xml"/></Relationships>
</file>

<file path=ppt/notesSlides/_rels/notesSlide1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7.xml"/></Relationships>
</file>

<file path=ppt/notesSlides/_rels/notesSlide1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8.xml"/></Relationships>
</file>

<file path=ppt/notesSlides/_rels/notesSlide1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9.xml"/></Relationships>
</file>

<file path=ppt/notesSlides/_rels/notesSlide1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0.xml"/></Relationships>
</file>

<file path=ppt/notesSlides/_rels/notesSlide1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1.xml"/></Relationships>
</file>

<file path=ppt/notesSlides/_rels/notesSlide1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2.xml"/></Relationships>
</file>

<file path=ppt/notesSlides/_rels/notesSlide1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3.xml"/></Relationships>
</file>

<file path=ppt/notesSlides/_rels/notesSlide1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4.xml"/></Relationships>
</file>

<file path=ppt/notesSlides/_rels/notesSlide1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5.xml"/></Relationships>
</file>

<file path=ppt/notesSlides/_rels/notesSlide1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6.xml"/></Relationships>
</file>

<file path=ppt/notesSlides/_rels/notesSlide1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7.xml"/></Relationships>
</file>

<file path=ppt/notesSlides/_rels/notesSlide1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8.xml"/></Relationships>
</file>

<file path=ppt/notesSlides/_rels/notesSlide1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9.xml"/></Relationships>
</file>

<file path=ppt/notesSlides/_rels/notesSlide1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0.xml"/></Relationships>
</file>

<file path=ppt/notesSlides/_rels/notesSlide1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1.xml"/></Relationships>
</file>

<file path=ppt/notesSlides/_rels/notesSlide1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2.xml"/></Relationships>
</file>

<file path=ppt/notesSlides/_rels/notesSlide1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3.xml"/></Relationships>
</file>

<file path=ppt/notesSlides/_rels/notesSlide1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4.xml"/></Relationships>
</file>

<file path=ppt/notesSlides/_rels/notesSlide1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5.xml"/></Relationships>
</file>

<file path=ppt/notesSlides/_rels/notesSlide1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6.xml"/></Relationships>
</file>

<file path=ppt/notesSlides/_rels/notesSlide1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7.xml"/></Relationships>
</file>

<file path=ppt/notesSlides/_rels/notesSlide1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8.xml"/></Relationships>
</file>

<file path=ppt/notesSlides/_rels/notesSlide1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9.xml"/></Relationships>
</file>

<file path=ppt/notesSlides/_rels/notesSlide1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0.xml"/></Relationships>
</file>

<file path=ppt/notesSlides/_rels/notesSlide1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1.xml"/></Relationships>
</file>

<file path=ppt/notesSlides/_rels/notesSlide1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2.xml"/></Relationships>
</file>

<file path=ppt/notesSlides/_rels/notesSlide1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3.xml"/></Relationships>
</file>

<file path=ppt/notesSlides/_rels/notesSlide1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4.xml"/></Relationships>
</file>

<file path=ppt/notesSlides/_rels/notesSlide1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5.xml"/></Relationships>
</file>

<file path=ppt/notesSlides/_rels/notesSlide1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6.xml"/></Relationships>
</file>

<file path=ppt/notesSlides/_rels/notesSlide1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7.xml"/></Relationships>
</file>

<file path=ppt/notesSlides/_rels/notesSlide1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8.xml"/></Relationships>
</file>

<file path=ppt/notesSlides/_rels/notesSlide1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9.xml"/></Relationships>
</file>

<file path=ppt/notesSlides/_rels/notesSlide1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0.xml"/></Relationships>
</file>

<file path=ppt/notesSlides/_rels/notesSlide1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1.xml"/></Relationships>
</file>

<file path=ppt/notesSlides/_rels/notesSlide1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2.xml"/></Relationships>
</file>

<file path=ppt/notesSlides/_rels/notesSlide1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3.xml"/></Relationships>
</file>

<file path=ppt/notesSlides/_rels/notesSlide1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4.xml"/></Relationships>
</file>

<file path=ppt/notesSlides/_rels/notesSlide1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5.xml"/></Relationships>
</file>

<file path=ppt/notesSlides/_rels/notesSlide1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6.xml"/></Relationships>
</file>

<file path=ppt/notesSlides/_rels/notesSlide1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7.xml"/></Relationships>
</file>

<file path=ppt/notesSlides/_rels/notesSlide1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8.xml"/></Relationships>
</file>

<file path=ppt/notesSlides/_rels/notesSlide1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9.xml"/></Relationships>
</file>

<file path=ppt/notesSlides/_rels/notesSlide1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0.xml"/></Relationships>
</file>

<file path=ppt/notesSlides/_rels/notesSlide1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1.xml"/></Relationships>
</file>

<file path=ppt/notesSlides/_rels/notesSlide1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2.xml"/></Relationships>
</file>

<file path=ppt/notesSlides/_rels/notesSlide1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3.xml"/></Relationships>
</file>

<file path=ppt/notesSlides/_rels/notesSlide1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4.xml"/></Relationships>
</file>

<file path=ppt/notesSlides/_rels/notesSlide1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5.xml"/></Relationships>
</file>

<file path=ppt/notesSlides/_rels/notesSlide1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6.xml"/></Relationships>
</file>

<file path=ppt/notesSlides/_rels/notesSlide1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7.xml"/></Relationships>
</file>

<file path=ppt/notesSlides/_rels/notesSlide1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8.xml"/></Relationships>
</file>

<file path=ppt/notesSlides/_rels/notesSlide1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9.xml"/></Relationships>
</file>

<file path=ppt/notesSlides/_rels/notesSlide1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0.xml"/></Relationships>
</file>

<file path=ppt/notesSlides/_rels/notesSlide1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1.xml"/></Relationships>
</file>

<file path=ppt/notesSlides/_rels/notesSlide1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2.xml"/></Relationships>
</file>

<file path=ppt/notesSlides/_rels/notesSlide1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3.xml"/></Relationships>
</file>

<file path=ppt/notesSlides/_rels/notesSlide1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4.xml"/></Relationships>
</file>

<file path=ppt/notesSlides/_rels/notesSlide1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5.xml"/></Relationships>
</file>

<file path=ppt/notesSlides/_rels/notesSlide1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6.xml"/></Relationships>
</file>

<file path=ppt/notesSlides/_rels/notesSlide1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7.xml"/></Relationships>
</file>

<file path=ppt/notesSlides/_rels/notesSlide1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8.xml"/></Relationships>
</file>

<file path=ppt/notesSlides/_rels/notesSlide1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9.xml"/></Relationships>
</file>

<file path=ppt/notesSlides/_rels/notesSlide2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0.xml"/></Relationships>
</file>

<file path=ppt/notesSlides/_rels/notesSlide2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1.xml"/></Relationships>
</file>

<file path=ppt/notesSlides/_rels/notesSlide2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2.xml"/></Relationships>
</file>

<file path=ppt/notesSlides/_rels/notesSlide2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3.xml"/></Relationships>
</file>

<file path=ppt/notesSlides/_rels/notesSlide2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4.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review with Tommy, not for the room. Every slide built but not placed in the deck: alternate versions of slides already in it, and slides not yet decided on. In deck order: Store Records (five designs), Door Rate option A, CP vs Internal GP % option A, Photo completion % (optional measure), Who's Moving Now alternate versions and the line-chart versions taken out of the flow (Oct 23), Most Improved v1. Pick what moves into the deck, then delete this section before the meeting.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right after the cover, before the Gross section.</a:t>
            </a:r>
          </a:p>
          <a:p>
            <a:r>
              <a:t>Said: Roundtable slides 2, 5, 7, 6 (objective; philosophy &amp; culture; 'you get what you tolerate'; collaboration). Ask adapted from Roundtable slide 24 closing questions.</a:t>
            </a:r>
          </a:p>
          <a:p>
            <a:r>
              <a:t>Added Oct 22 (Noah): profit-generating activities and incremental dollars; working on the business versus in it.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Gross section, after the section break and before Total Gross Profit - Fixed Ops.</a:t>
            </a:r>
          </a:p>
          <a:p>
            <a:r>
              <a:t>Said: Roundtable slide 9 ('Service Department?'); Jan GM slide 58 (Sales and Service Relationship).</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Gross section, after Service Is Sales 2.0 and in front of Total Gross Profit - Fixed Ops.</a:t>
            </a:r>
          </a:p>
          <a:p>
            <a:r>
              <a:t>Source: Qlik Profit &amp; Loss, Total Gross Profit - Service and Total Gross Profit - Parts, same-store, INEOS excluded, GMC Prescott body shop gross excluded (as on the gross slides). Hourly technician pay, guarantees and bonuses paid off the RO post as unapplied labor: not charged on any repair order, a cost-of-sale adjustment that reduces service gross (Noah, Oct 23).</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Jan-Sep 2025; 2025 shown January-December.</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Ranked by percent change, Jan-Sep 2026 vs Jan-Sep 2025, so store size does not set the order; dollar change alongside.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Top and bottom five stores by percent change in fixed ops gross, Jan-Sep 2026 vs 2025. Moving now: Jul-Sep 2026 vs Jan-Mar 2026, each store against itself (monthly averages); the group moved +9.4%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Jan-Sep 2025; 2025 shown January-December.</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Ranked by percent change, Jan-Sep 2026 vs Jan-Sep 2025, so store size does not set the order; dollar change alongside.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Top and bottom five stores by percent change in service gross, Jan-Sep 2026 vs 2025. Moving now: Jul-Sep 2026 vs Jan-Mar 2026, each store against itself (monthly averages); the group moved +7.0%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Jan-Sep 2025; 2025 shown January-December.</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Ranked by percent change, Jan-Sep 2026 vs Jan-Sep 2025, so store size does not set the order; dollar change alongside.</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Top and bottom five stores by percent change in parts gross, Jan-Sep 2026 vs 2025. Moving now: Jul-Sep 2026 vs Jan-Mar 2026, each store against itself (monthly averages); the group moved +14.4%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Profitability, in front of Fixed Ops Absorption %.</a:t>
            </a:r>
          </a:p>
          <a:p>
            <a:r>
              <a:t>P&amp;L definition: line 254 Total Gross Profit - Fixed Ops / line 258 Fixed Expenses (the stored line 257 returns a dollar value, so the slide derives it). GMC Prescott includes its body shop, as on the P&amp;L.</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P&amp;L line Fixed Ops Absorption % = Total Gross Profit - Fixed Ops / Fixed Expenses. GMC Prescott includes its body shop, as on the P&amp;L.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P&amp;L line Fixed Ops Absorption % = Total Gross Profit - Fixed Ops / Fixed Expenses. GMC Prescott includes its body shop, as on the P&amp;L. Jan-Sep 2026 YTD. Green at or above the group, red below. Bars start at 30.0%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Change in Fixed Ops Absorption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P&amp;L line Fixed Ops Absorption % = Total Gross Profit - Fixed Ops / Fixed Expenses. GMC Prescott includes its body shop, as on the P&amp;L. Top and bottom five stores by change in Fixed Ops Absorption %, Jan-Sep 2026 vs 2025. Moving now: Jul-Sep 2026 vs Jan-Mar 2026, each store against itself; the group moved +4.2 pts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Profitability, in front of Service Net to Gross %.</a:t>
            </a:r>
          </a:p>
          <a:p>
            <a:r>
              <a:t>P&amp;L Detail statement: DEPARTMENT PROFIT OR LOSS / GROSS PROFIT / INCOME, Mechanical Dept (service) and P&amp;A Dept (parts).</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Mechanical department profit / mechanical department gross (P&amp;L Detail statement). Body shop is its own department and is not included.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Mechanical department profit / mechanical department gross (P&amp;L Detail statement). Body shop is its own department and is not included. Jan-Sep 2026 YTD. Green at or above the group, red below. Bars start at -45.0%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Change in Service Net to Gross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Mechanical department profit / mechanical department gross (P&amp;L Detail statement). Body shop is its own department and is not included. Top and bottom five stores by change in Service Net to Gross %, Jan-Sep 2026 vs 2025. Moving now: Jul-Sep 2026 vs Jan-Mar 2026, each store against itself; the group moved +1.0 pts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P&amp;A department profit / P&amp;A department gross (P&amp;L Detail statement).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P&amp;A department profit / P&amp;A department gross (P&amp;L Detail statement). Jan-Sep 2026 YTD. Green at or above the group, red below.</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Change in Parts Net to Gross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P&amp;A department profit / P&amp;A department gross (P&amp;L Detail statement). Top and bottom five stores by change in Parts Net to Gross %, Jan-Sep 2026 vs 2025. Moving now: Jul-Sep 2026 vs Jan-Mar 2026, each store against itself; the group moved +5.3 pts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CP Engine section, after the section break and before CP RO Count.</a:t>
            </a:r>
          </a:p>
          <a:p>
            <a:r>
              <a:t>Said: Roundtable slides 18-19 (KPIs; CP Labor $ per RO).</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CP Engine section, after the CP RO Count slides and before Hours per RO.</a:t>
            </a:r>
          </a:p>
          <a:p>
            <a:r>
              <a:t>Said: Jan/May GM slides on Appointment Scheduling, Appointment Discipline, Phone Call Handling and Retention Management (Jan 2, 7, 9, 11; May 2, 4, 8, 9).</a:t>
            </a:r>
          </a:p>
          <a:p>
            <a:r>
              <a:t>Optional: the Flai voice AI service view (Jul 16-Aug 15 pull: 4,368 of 8,351 transfers rang out) fits here, but it is a different source and period; refresh it before use and keep it off any slide with a P&amp;L number.</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RO Count.</a:t>
            </a:r>
          </a:p>
          <a:p>
            <a:r>
              <a:t>Definition is the data slides' own: distinct ROs with a customer-pay line, by close month. This includes the roughly 0.9% of CP ROs with no labor charged (parts-only sales such as additives, wipers and batteries, and blank CP lines); Qlik's hasLabor flag is set on every line, so it does not filter them, and the count is kept that way to match the numbers stores are used to. GMC Prescott body-shop-only ROs excluded.</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Distinct customer-pay ROs: every RO with a customer-pay line, whether or not labor was charged (governed RO Count).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Distinct customer-pay ROs: every RO with a customer-pay line, whether or not labor was charged (governed RO Count). Jan-Sep 2026 YTD.</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Change in CP RO count (percent, so store size does not drive the ranking),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date. Same-store, INEOS excluded (opened 2026). GMC Prescott body shop labor types excluded. Per RO = the store's customer-pay labor gross + parts gross / its CP RO count, Jan-Sep 2026. Days open a year: 307 for every store (open 6 days a week, 2026 calendar, less the 6 service holidays: New Year's, Memorial Day, Independence Day, Labor Day, Thanksgiving, Christmas). ROs/day = Jan-Sep 2026 CP ROs at a yearly pace / days open. Assumes the added RO is an average one.Talk track: one more customer a day - one more answered call, one appointment kept, one 'close to losing' customer brought back. Retention, phones and the scheduler are the levers.</a:t>
            </a:r>
          </a:p>
          <a:p>
            <a:r>
              <a:t>LR HENDERSON: $1,168 gross per RO x 307 days open a year = $358,484; 6.8 CP ROs a day today</a:t>
            </a:r>
          </a:p>
          <a:p>
            <a:r>
              <a:t>LR LV: $1,142 gross per RO x 307 days open a year = $350,585; 15.2 CP ROs a day today</a:t>
            </a:r>
          </a:p>
          <a:p>
            <a:r>
              <a:t>LR RENO: $1,052 gross per RO x 307 days open a year = $323,117; 6.2 CP ROs a day today</a:t>
            </a:r>
          </a:p>
          <a:p>
            <a:r>
              <a:t>AUDI HENDERSON: $1,030 gross per RO x 307 days open a year = $316,136; 16.4 CP ROs a day today</a:t>
            </a:r>
          </a:p>
          <a:p>
            <a:r>
              <a:t>AUDI RENO: $740 gross per RO x 307 days open a year = $227,297; 17.0 CP ROs a day today</a:t>
            </a:r>
          </a:p>
          <a:p>
            <a:r>
              <a:t>VOLVO: $662 gross per RO x 307 days open a year = $203,362; 14.8 CP ROs a day today</a:t>
            </a:r>
          </a:p>
          <a:p>
            <a:r>
              <a:t>CADILLAC: $509 gross per RO x 307 days open a year = $156,140; 23.2 CP ROs a day today</a:t>
            </a:r>
          </a:p>
          <a:p>
            <a:r>
              <a:t>LINCOLN: $480 gross per RO x 307 days open a year = $147,507; 11.4 CP ROs a day today</a:t>
            </a:r>
          </a:p>
          <a:p>
            <a:r>
              <a:t>LEXUS: $460 gross per RO x 307 days open a year = $141,182; 19.8 CP ROs a day today</a:t>
            </a:r>
          </a:p>
          <a:p>
            <a:r>
              <a:t>VW HENDERSON: $429 gross per RO x 307 days open a year = $131,560; 22.3 CP ROs a day today</a:t>
            </a:r>
          </a:p>
          <a:p>
            <a:r>
              <a:t>NISSAN: $406 gross per RO x 307 days open a year = $124,728; 30.3 CP ROs a day today</a:t>
            </a:r>
          </a:p>
          <a:p>
            <a:r>
              <a:t>CDJR POST FALLS: $399 gross per RO x 307 days open a year = $122,626; 23.3 CP ROs a day today</a:t>
            </a:r>
          </a:p>
          <a:p>
            <a:r>
              <a:t>CHEVY LV: $362 gross per RO x 307 days open a year = $111,273; 84.8 CP ROs a day today</a:t>
            </a:r>
          </a:p>
          <a:p>
            <a:r>
              <a:t>SUBARU ST GEORGE: $357 gross per RO x 307 days open a year = $109,693; 24.1 CP ROs a day today</a:t>
            </a:r>
          </a:p>
          <a:p>
            <a:r>
              <a:t>ACURA: $356 gross per RO x 307 days open a year = $109,151; 15.9 CP ROs a day today</a:t>
            </a:r>
          </a:p>
          <a:p>
            <a:r>
              <a:t>SUBARU LV: $354 gross per RO x 307 days open a year = $108,687; 61.9 CP ROs a day today</a:t>
            </a:r>
          </a:p>
          <a:p>
            <a:r>
              <a:t>HONDA NORTH: $338 gross per RO x 307 days open a year = $103,675; 65.4 CP ROs a day today</a:t>
            </a:r>
          </a:p>
          <a:p>
            <a:r>
              <a:t>HONDA HENDERSON: $337 gross per RO x 307 days open a year = $103,382; 97.8 CP ROs a day today</a:t>
            </a:r>
          </a:p>
          <a:p>
            <a:r>
              <a:t>HONDA SPOKANE: $331 gross per RO x 307 days open a year = $101,516; 38.8 CP ROs a day today</a:t>
            </a:r>
          </a:p>
          <a:p>
            <a:r>
              <a:t>CHEVY GMC BULLHEAD: $314 gross per RO x 307 days open a year = $96,545; 27.4 CP ROs a day today</a:t>
            </a:r>
          </a:p>
          <a:p>
            <a:r>
              <a:t>GMC PRESCOTT: $310 gross per RO x 307 days open a year = $95,050; 13.5 CP ROs a day today</a:t>
            </a:r>
          </a:p>
          <a:p>
            <a:r>
              <a:t>HONDA FLAGSTAFF: $307 gross per RO x 307 days open a year = $94,176; 17.5 CP ROs a day today</a:t>
            </a:r>
          </a:p>
          <a:p>
            <a:r>
              <a:t>VW ST GEORGE: $292 gross per RO x 307 days open a year = $89,636; 8.3 CP ROs a day today</a:t>
            </a:r>
          </a:p>
          <a:p>
            <a:r>
              <a:t>HYUNDAI ST GEORGE: $283 gross per RO x 307 days open a year = $86,985; 14.5 CP ROs a day today</a:t>
            </a:r>
          </a:p>
          <a:p>
            <a:r>
              <a:t>MAZDA: $280 gross per RO x 307 days open a year = $86,010; 24.8 CP ROs a day today</a:t>
            </a:r>
          </a:p>
          <a:p>
            <a:r>
              <a:t>KIA LV: $268 gross per RO x 307 days open a year = $82,314; 35.3 CP ROs a day today</a:t>
            </a:r>
          </a:p>
          <a:p>
            <a:r>
              <a:t>TOYOTA HENDERSON: $242 gross per RO x 307 days open a year = $74,324; 230.5 CP ROs a day today</a:t>
            </a:r>
          </a:p>
          <a:p>
            <a:r>
              <a:t>HYUNDAI PRESCOTT: $237 gross per RO x 307 days open a year = $72,795; 8.7 CP ROs a day today</a:t>
            </a:r>
          </a:p>
          <a:p>
            <a:r>
              <a:t>SUBARU PRESCOTT: $237 gross per RO x 307 days open a year = $72,776; 22.2 CP ROs a day today</a:t>
            </a:r>
          </a:p>
          <a:p>
            <a:r>
              <a:t>TOYOTA PRESCOTT: $237 gross per RO x 307 days open a year = $72,743; 58.6 CP ROs a day today</a:t>
            </a:r>
          </a:p>
          <a:p>
            <a:r>
              <a:t>KIA ST GEORGE: $220 gross per RO x 307 days open a year = $67,614; 17.0 CP ROs a day today</a:t>
            </a:r>
          </a:p>
          <a:p>
            <a:r>
              <a:t>TOYOTA SPOKANE: $217 gross per RO x 307 days open a year = $66,622; 75.5 CP ROs a day today</a:t>
            </a:r>
          </a:p>
          <a:p>
            <a:r>
              <a:t>TOYOTA FLAGSTAFF: $214 gross per RO x 307 days open a year = $65,596; 65.8 CP ROs a day today</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Distinct customer-pay ROs: every RO with a customer-pay line, whether or not labor was charged (governed RO Count). Top and bottom five stores by change in CP RO count (percent, so store size does not drive the ranking), Jan-Sep 2026 vs 2025. Moving now: Jul-Sep 2026 vs Jan-Mar 2026, each store against itself (monthly averages); the group moved +7.5%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date. Same-store, INEOS excluded (opened 2026). GMC Prescott body shop labor types excluded. Total customer-pay labor hours sold, all CP ROs.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date. Same-store, INEOS excluded (opened 2026). GMC Prescott body shop labor types excluded. Total customer-pay labor hours sold, all CP ROs. Jan-Sep 2026 YTD.</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date. Same-store, INEOS excluded (opened 2026). GMC Prescott body shop labor types excluded. Change in customer-pay hours sold (percent, so store size does not drive the ranking),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date. Same-store, INEOS excluded (opened 2026). GMC Prescott body shop labor types excluded. Total customer-pay labor hours sold, all CP ROs. Top and bottom five stores by change in customer-pay hours sold (percent, so store size does not drive the ranking), Jan-Sep 2026 vs 2025. Moving now: Jul-Sep 2026 vs Jan-Mar 2026, each store against itself (monthly averages); the group moved +5.5%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Hours per RO.</a:t>
            </a:r>
          </a:p>
          <a:p>
            <a:r>
              <a:t>$4,543,691 = 0.1 x 279,756 CP ROs (27,976 hours) x $162.42 CP ELR (on the Hours per RO data slide). Slide rounds to $162 and $4.5M so the room can follow it (Noah, Oct 23).</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sold hours / all customer-pay ROs.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sold hours / all customer-pay ROs.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Change in CP Hours per RO,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all CP ROs, Jan-Sep 2026 by close date. Same-store, INEOS excluded (opened 2026). GMC Prescott body shop labor types excluded. Each store: 0.1 x its CP RO count x its own customer-pay labor gross and parts gross per sold hour; a year = Jan-Sep x 12 / 9. Gross, not sale, so it will not match the $4,543,691 labor sale on the Hours per RO slide. Gross/yr = labor gross + parts gross a year. Parts assumes the extra hours carry the store's average customer-pay parts gross per sold hour.Talk track: 0.1 hour is six minutes of sold time on a visit - one more inspection item sold, one tire rotation, one cabin filter. Parts gross assumes the extra hours carry the store's usual parts.</a:t>
            </a:r>
          </a:p>
          <a:p>
            <a:r>
              <a:t>TOYOTA HENDERSON: 53,084 CP ROs, 1.47 hrs/RO; +0.1 = $97,028 gross a month, $1,164,334 a year (labor $868,256, parts $296,078)</a:t>
            </a:r>
          </a:p>
          <a:p>
            <a:r>
              <a:t>HONDA HENDERSON: 22,527 CP ROs, 1.97 hrs/RO; +0.1 = $42,821 gross a month, $513,852 a year (labor $396,326, parts $117,527)</a:t>
            </a:r>
          </a:p>
          <a:p>
            <a:r>
              <a:t>CHEVY LV: 19,520 CP ROs, 2.30 hrs/RO; +0.1 = $34,189 gross a month, $410,273 a year (labor $295,521, parts $114,751)</a:t>
            </a:r>
          </a:p>
          <a:p>
            <a:r>
              <a:t>TOYOTA SPOKANE: 17,376 CP ROs, 1.48 hrs/RO; +0.1 = $28,273 gross a month, $339,280 a year (labor $220,993, parts $118,287)</a:t>
            </a:r>
          </a:p>
          <a:p>
            <a:r>
              <a:t>TOYOTA FLAGSTAFF: 15,141 CP ROs, 1.41 hrs/RO; +0.1 = $25,581 gross a month, $306,971 a year (labor $228,073, parts $78,899)</a:t>
            </a:r>
          </a:p>
          <a:p>
            <a:r>
              <a:t>HONDA NORTH: 15,048 CP ROs, 2.02 hrs/RO; +0.1 = $27,949 gross a month, $335,387 a year (labor $243,757, parts $91,630)</a:t>
            </a:r>
          </a:p>
          <a:p>
            <a:r>
              <a:t>SUBARU LV: 14,250 CP ROs, 1.95 hrs/RO; +0.1 = $28,789 gross a month, $345,471 a year (labor $260,598, parts $84,873)</a:t>
            </a:r>
          </a:p>
          <a:p>
            <a:r>
              <a:t>TOYOTA PRESCOTT: 13,490 CP ROs, 1.38 hrs/RO; +0.1 = $25,680 gross a month, $308,157 a year (labor $224,917, parts $83,240)</a:t>
            </a:r>
          </a:p>
          <a:p>
            <a:r>
              <a:t>HONDA SPOKANE: 8,930 CP ROs, 2.01 hrs/RO; +0.1 = $16,345 gross a month, $196,138 a year (labor $136,735, parts $59,403)</a:t>
            </a:r>
          </a:p>
          <a:p>
            <a:r>
              <a:t>KIA LV: 8,133 CP ROs, 1.57 hrs/RO; +0.1 = $15,446 gross a month, $185,357 a year (labor $128,599, parts $56,758)</a:t>
            </a:r>
          </a:p>
          <a:p>
            <a:r>
              <a:t>NISSAN: 6,973 CP ROs, 2.11 hrs/RO; +0.1 = $14,916 gross a month, $178,988 a year (labor $128,448, parts $50,540)</a:t>
            </a:r>
          </a:p>
          <a:p>
            <a:r>
              <a:t>CHEVY GMC BULLHEAD: 6,309 CP ROs, 1.74 hrs/RO; +0.1 = $12,652 gross a month, $151,825 a year (labor $102,262, parts $49,564)</a:t>
            </a:r>
          </a:p>
          <a:p>
            <a:r>
              <a:t>MAZDA: 5,701 CP ROs, 1.46 hrs/RO; +0.1 = $12,192 gross a month, $146,304 a year (labor $105,012, parts $41,292)</a:t>
            </a:r>
          </a:p>
          <a:p>
            <a:r>
              <a:t>SUBARU ST GEORGE: 5,553 CP ROs, 2.30 hrs/RO; +0.1 = $9,589 gross a month, $115,073 a year (labor $75,721, parts $39,353)</a:t>
            </a:r>
          </a:p>
          <a:p>
            <a:r>
              <a:t>CDJR POST FALLS: 5,358 CP ROs, 2.20 hrs/RO; +0.1 = $10,803 gross a month, $129,631 a year (labor $91,262, parts $38,370)</a:t>
            </a:r>
          </a:p>
          <a:p>
            <a:r>
              <a:t>CADILLAC: 5,344 CP ROs, 2.73 hrs/RO; +0.1 = $11,060 gross a month, $132,722 a year (labor $95,285, parts $37,436)</a:t>
            </a:r>
          </a:p>
          <a:p>
            <a:r>
              <a:t>VW HENDERSON: 5,145 CP ROs, 2.49 hrs/RO; +0.1 = $9,835 gross a month, $118,025 a year (labor $89,434, parts $28,590)</a:t>
            </a:r>
          </a:p>
          <a:p>
            <a:r>
              <a:t>SUBARU PRESCOTT: 5,105 CP ROs, 1.60 hrs/RO; +0.1 = $8,418 gross a month, $101,015 a year (labor $70,208, parts $30,807)</a:t>
            </a:r>
          </a:p>
          <a:p>
            <a:r>
              <a:t>LEXUS: 4,567 CP ROs, 2.08 hrs/RO; +0.1 = $11,202 gross a month, $134,424 a year (labor $99,999, parts $34,425)</a:t>
            </a:r>
          </a:p>
          <a:p>
            <a:r>
              <a:t>HONDA FLAGSTAFF: 4,030 CP ROs, 1.67 hrs/RO; +0.1 = $8,249 gross a month, $98,985 a year (labor $68,101, parts $30,883)</a:t>
            </a:r>
          </a:p>
          <a:p>
            <a:r>
              <a:t>AUDI RENO: 3,917 CP ROs, 2.73 hrs/RO; +0.1 = $11,814 gross a month, $141,770 a year (labor $96,704, parts $45,066)</a:t>
            </a:r>
          </a:p>
          <a:p>
            <a:r>
              <a:t>KIA ST GEORGE: 3,912 CP ROs, 1.29 hrs/RO; +0.1 = $7,424 gross a month, $89,084 a year (labor $58,429, parts $30,655)</a:t>
            </a:r>
          </a:p>
          <a:p>
            <a:r>
              <a:t>AUDI HENDERSON: 3,779 CP ROs, 3.48 hrs/RO; +0.1 = $12,411 gross a month, $148,928 a year (labor $113,075, parts $35,853)</a:t>
            </a:r>
          </a:p>
          <a:p>
            <a:r>
              <a:t>ACURA: 3,671 CP ROs, 1.42 hrs/RO; +0.1 = $10,212 gross a month, $122,550 a year (labor $81,713, parts $40,837)</a:t>
            </a:r>
          </a:p>
          <a:p>
            <a:r>
              <a:t>LR LV: 3,496 CP ROs, 3.99 hrs/RO; +0.1 = $11,125 gross a month, $133,501 a year (labor $91,287, parts $42,215)</a:t>
            </a:r>
          </a:p>
          <a:p>
            <a:r>
              <a:t>VOLVO: 3,402 CP ROs, 2.28 hrs/RO; +0.1 = $10,992 gross a month, $131,908 a year (labor $89,257, parts $42,652)</a:t>
            </a:r>
          </a:p>
          <a:p>
            <a:r>
              <a:t>HYUNDAI ST GEORGE: 3,349 CP ROs, 1.43 hrs/RO; +0.1 = $7,381 gross a month, $88,568 a year (labor $61,607, parts $26,961)</a:t>
            </a:r>
          </a:p>
          <a:p>
            <a:r>
              <a:t>GMC PRESCOTT: 3,107 CP ROs, 1.96 hrs/RO; +0.1 = $5,461 gross a month, $65,535 a year (labor $42,792, parts $22,743)</a:t>
            </a:r>
          </a:p>
          <a:p>
            <a:r>
              <a:t>LINCOLN: 2,630 CP ROs, 2.48 hrs/RO; +0.1 = $5,651 gross a month, $67,817 a year (labor $48,880, parts $18,937)</a:t>
            </a:r>
          </a:p>
          <a:p>
            <a:r>
              <a:t>HYUNDAI PRESCOTT: 2,010 CP ROs, 1.64 hrs/RO; +0.1 = $3,238 gross a month, $38,856 a year (labor $23,679, parts $15,178)</a:t>
            </a:r>
          </a:p>
          <a:p>
            <a:r>
              <a:t>VW ST GEORGE: 1,919 CP ROs, 1.71 hrs/RO; +0.1 = $3,646 gross a month, $43,756 a year (labor $27,475, parts $16,281)</a:t>
            </a:r>
          </a:p>
          <a:p>
            <a:r>
              <a:t>LR HENDERSON: 1,559 CP ROs, 3.99 hrs/RO; +0.1 = $5,068 gross a month, $60,821 a year (labor $40,050, parts $20,772)</a:t>
            </a:r>
          </a:p>
          <a:p>
            <a:r>
              <a:t>LR RENO: 1,421 CP ROs, 3.48 hrs/RO; +0.1 = $4,771 gross a month, $57,255 a year (labor $37,516, parts $19,739)</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sold hours / all customer-pay ROs. Top and bottom five stores by change in CP Hours per RO, Jan-Sep 2026 vs 2025. Moving now: Jul-Sep 2026 vs Jan-Mar 2026, each store against itself; the group moved −0.04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Customer Pay, after CP Hours per RO and ahead of Labor Sale by Pay Type and the CP ELR slides.</a:t>
            </a:r>
          </a:p>
          <a:p>
            <a:r>
              <a:t>Roundtable worked example removed from the slide (Noah, Oct 21).</a:t>
            </a:r>
          </a:p>
          <a:p>
            <a:r>
              <a:t>Talk track (Noah, Oct 23): to understand your ELR you have to understand your work mix. A shop that does more repair than maintenance will run a higher ELR, because the repair rate is higher; a shop that is mostly maintenance will run lower. There is nothing wrong with that, but you need to know your mix to know why your ELR is what it is. Raising the repair rate may do less than raising the maintenance rate if most of your work is maintenance. Know your ELR for every labor operation.</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Labor sale by pay type, Jan-Sep by close month. Same-store, INEOS excluded. GMC Prescott body shop labor types excluded. Jan-Sep 2026 shares of labor sale; sorted by customer-pay share. Bar labels are percent of labor sale; every value is also listed here.</a:t>
            </a:r>
          </a:p>
          <a:p>
            <a:r>
              <a:t>HONDA SPOKANE: CP 70.3%, W 8.0%, I 21.6%</a:t>
            </a:r>
          </a:p>
          <a:p>
            <a:r>
              <a:t>TOYOTA SPOKANE: CP 65.3%, W 15.5%, I 19.2%</a:t>
            </a:r>
          </a:p>
          <a:p>
            <a:r>
              <a:t>TOYOTA FLAGSTAFF: CP 65.1%, W 11.2%, I 23.7%</a:t>
            </a:r>
          </a:p>
          <a:p>
            <a:r>
              <a:t>HONDA FLAGSTAFF: CP 65.1%, W 11.9%, I 23.0%</a:t>
            </a:r>
          </a:p>
          <a:p>
            <a:r>
              <a:t>LR LV: CP 64.9%, W 25.2%, I 10.0%</a:t>
            </a:r>
          </a:p>
          <a:p>
            <a:r>
              <a:t>VOLVO: CP 62.9%, W 23.1%, I 14.0%</a:t>
            </a:r>
          </a:p>
          <a:p>
            <a:r>
              <a:t>LR RENO: CP 61.5%, W 17.2%, I 21.3%</a:t>
            </a:r>
          </a:p>
          <a:p>
            <a:r>
              <a:t>TOYOTA PRESCOTT: CP 60.5%, W 13.8%, I 25.8%</a:t>
            </a:r>
          </a:p>
          <a:p>
            <a:r>
              <a:t>AUDI RENO: CP 59.7%, W 29.1%, I 11.2%</a:t>
            </a:r>
          </a:p>
          <a:p>
            <a:r>
              <a:t>CDJR POST FALLS: CP 59.5%, W 23.6%, I 16.9%</a:t>
            </a:r>
          </a:p>
          <a:p>
            <a:r>
              <a:t>NISSAN: CP 59.4%, W 17.7%, I 22.9%</a:t>
            </a:r>
          </a:p>
          <a:p>
            <a:r>
              <a:t>SUBARU ST GEORGE: CP 59.0%, W 23.5%, I 17.5%</a:t>
            </a:r>
          </a:p>
          <a:p>
            <a:r>
              <a:t>SUBARU LV: CP 58.0%, W 24.2%, I 17.7%</a:t>
            </a:r>
          </a:p>
          <a:p>
            <a:r>
              <a:t>HONDA NORTH: CP 57.9%, W 13.5%, I 28.6%</a:t>
            </a:r>
          </a:p>
          <a:p>
            <a:r>
              <a:t>TOYOTA HENDERSON: CP 57.3%, W 14.8%, I 27.9%</a:t>
            </a:r>
          </a:p>
          <a:p>
            <a:r>
              <a:t>MAZDA: CP 56.6%, W 12.4%, I 31.0%</a:t>
            </a:r>
          </a:p>
          <a:p>
            <a:r>
              <a:t>HONDA HENDERSON: CP 56.6%, W 10.2%, I 33.3%</a:t>
            </a:r>
          </a:p>
          <a:p>
            <a:r>
              <a:t>VW ST GEORGE: CP 55.8%, W 31.0%, I 13.2%</a:t>
            </a:r>
          </a:p>
          <a:p>
            <a:r>
              <a:t>LR HENDERSON: CP 55.3%, W 20.2%, I 24.5%</a:t>
            </a:r>
          </a:p>
          <a:p>
            <a:r>
              <a:t>LEXUS: CP 54.5%, W 13.1%, I 32.4%</a:t>
            </a:r>
          </a:p>
          <a:p>
            <a:r>
              <a:t>SUBARU PRESCOTT: CP 50.8%, W 19.2%, I 30.0%</a:t>
            </a:r>
          </a:p>
          <a:p>
            <a:r>
              <a:t>ACURA: CP 48.7%, W 15.5%, I 35.8%</a:t>
            </a:r>
          </a:p>
          <a:p>
            <a:r>
              <a:t>GMC PRESCOTT: CP 48.0%, W 23.1%, I 29.0%</a:t>
            </a:r>
          </a:p>
          <a:p>
            <a:r>
              <a:t>VW HENDERSON: CP 47.2%, W 40.1%, I 12.8%</a:t>
            </a:r>
          </a:p>
          <a:p>
            <a:r>
              <a:t>CHEVY LV: CP 47.0%, W 28.1%, I 24.9%</a:t>
            </a:r>
          </a:p>
          <a:p>
            <a:r>
              <a:t>CHEVY GMC BULLHEAD: CP 45.3%, W 14.3%, I 40.4%</a:t>
            </a:r>
          </a:p>
          <a:p>
            <a:r>
              <a:t>LINCOLN: CP 44.6%, W 37.5%, I 17.8%</a:t>
            </a:r>
          </a:p>
          <a:p>
            <a:r>
              <a:t>HYUNDAI ST GEORGE: CP 40.3%, W 34.9%, I 24.8%</a:t>
            </a:r>
          </a:p>
          <a:p>
            <a:r>
              <a:t>KIA ST GEORGE: CP 40.0%, W 38.4%, I 21.7%</a:t>
            </a:r>
          </a:p>
          <a:p>
            <a:r>
              <a:t>KIA LV: CP 39.2%, W 31.5%, I 29.2%</a:t>
            </a:r>
          </a:p>
          <a:p>
            <a:r>
              <a:t>AUDI HENDERSON: CP 34.1%, W 52.2%, I 13.7%</a:t>
            </a:r>
          </a:p>
          <a:p>
            <a:r>
              <a:t>HYUNDAI PRESCOTT: CP 28.5%, W 35.7%, I 35.8%</a:t>
            </a:r>
          </a:p>
          <a:p>
            <a:r>
              <a:t>CADILLAC: CP 27.9%, W 51.3%, I 20.7%</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CP Engine section, before the CP ELR slides (ahead of the door-rate options).</a:t>
            </a:r>
          </a:p>
          <a:p>
            <a:r>
              <a:t>Said: Roundtable slide 15 (Pricing Strategy); Jan/May GM Road to the Sale slide (pricing lines); Jan GM slide 54 (Discounting Discipline); 70% benchmark from the Jan/May door rate slides.</a:t>
            </a:r>
          </a:p>
          <a:p>
            <a:r>
              <a:t>Oct 23 (Noah): grid vs non-grid tile replaced. $126,831 a month = Jul-Sep, for each of the 8 stores under 70% (Chevy LV, Toyota Spokane, Cadillac, Kia LV, Subaru Prescott, Lincoln, GMC Prescott, Hyundai Prescott): (70% x door rate - CP ELR) x CP hours sold, summed ($380,494) / 3. Door rates from the store door rate sheet (door.json), ELR and hours from elr_q3.json.</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Customer-pay labor sale by op code description, Jan-Sep. Same-store, INEOS excluded. GMC Prescott body shop labor types excluded. Maintenance = descriptions naming oil and filter, rotation, brake pads, rotors and brake service, scheduled/interval/mileage service, OEM care plans, alignment, balance, fluid exchanges and flushes, fuel induction, transmission/differential/transfer case/coolant service, spark plugs, filters, wipers, multi-point inspection, timing belt, BG and refresh services, smog/emissions inspection, fluid services, tune-ups, tire promotions (buy 3 get 1), CVT, EGR, 4x4, AWD, intermediate and transmission services, and any coolant replacement or change. Repair = repair, replace, R&amp;R, diagnosis, leak, noise, inoperative, check engine, warning light, struts, shocks, alternator, starter, water pump, reseal, gasket, calibration, overhaul, engine light, drive belt, belt and hose kit. Descriptions that are only a placeholder (exactly MISC, DEFAULT, STANDARD, GENERAL, GENERAL REPAIR, CUSTOMER STATES, GENERAL CONCERN, ADD DESCRIPTION, TELL US MORE and similar) are left unclassified; a placeholder followed by real detail is classified by that detail.</a:t>
            </a:r>
          </a:p>
          <a:p>
            <a:r>
              <a:t>HONDA HENDERSON: M 71.2%, R 24.6%, U 4.2%</a:t>
            </a:r>
          </a:p>
          <a:p>
            <a:r>
              <a:t>TOYOTA PRESCOTT: M 69.4%, R 25.1%, U 5.5%</a:t>
            </a:r>
          </a:p>
          <a:p>
            <a:r>
              <a:t>TOYOTA HENDERSON: M 68.0%, R 24.7%, U 7.3%</a:t>
            </a:r>
          </a:p>
          <a:p>
            <a:r>
              <a:t>LEXUS: M 67.1%, R 22.0%, U 10.9%</a:t>
            </a:r>
          </a:p>
          <a:p>
            <a:r>
              <a:t>HONDA FLAGSTAFF: M 66.4%, R 25.5%, U 8.1%</a:t>
            </a:r>
          </a:p>
          <a:p>
            <a:r>
              <a:t>HONDA NORTH: M 65.9%, R 29.5%, U 4.6%</a:t>
            </a:r>
          </a:p>
          <a:p>
            <a:r>
              <a:t>MAZDA: M 63.9%, R 21.3%, U 14.8%</a:t>
            </a:r>
          </a:p>
          <a:p>
            <a:r>
              <a:t>ACURA: M 62.0%, R 25.6%, U 12.4%</a:t>
            </a:r>
          </a:p>
          <a:p>
            <a:r>
              <a:t>TOYOTA FLAGSTAFF: M 61.6%, R 13.1%, U 25.3%</a:t>
            </a:r>
          </a:p>
          <a:p>
            <a:r>
              <a:t>TOYOTA SPOKANE: M 60.0%, R 26.4%, U 13.6%</a:t>
            </a:r>
          </a:p>
          <a:p>
            <a:r>
              <a:t>KIA LV: M 59.7%, R 31.1%, U 9.2%</a:t>
            </a:r>
          </a:p>
          <a:p>
            <a:r>
              <a:t>SUBARU PRESCOTT: M 59.2%, R 1.5%, U 39.3%</a:t>
            </a:r>
          </a:p>
          <a:p>
            <a:r>
              <a:t>SUBARU ST GEORGE: M 59.0%, R 26.6%, U 14.4%</a:t>
            </a:r>
          </a:p>
          <a:p>
            <a:r>
              <a:t>LR HENDERSON: M 58.8%, R 32.2%, U 9.0%</a:t>
            </a:r>
          </a:p>
          <a:p>
            <a:r>
              <a:t>HYUNDAI ST GEORGE: M 58.3%, R 18.2%, U 23.5%</a:t>
            </a:r>
          </a:p>
          <a:p>
            <a:r>
              <a:t>HYUNDAI PRESCOTT: M 56.8%, R 23.9%, U 19.3%</a:t>
            </a:r>
          </a:p>
          <a:p>
            <a:r>
              <a:t>LR RENO: M 56.8%, R 23.9%, U 19.3%</a:t>
            </a:r>
          </a:p>
          <a:p>
            <a:r>
              <a:t>SUBARU LV: M 55.1%, R 35.4%, U 9.5%</a:t>
            </a:r>
          </a:p>
          <a:p>
            <a:r>
              <a:t>KIA ST GEORGE: M 55.1%, R 29.6%, U 15.3%</a:t>
            </a:r>
          </a:p>
          <a:p>
            <a:r>
              <a:t>HONDA SPOKANE: M 48.6%, R 41.4%, U 10.0%</a:t>
            </a:r>
          </a:p>
          <a:p>
            <a:r>
              <a:t>VOLVO: M 43.9%, R 41.7%, U 14.4%</a:t>
            </a:r>
          </a:p>
          <a:p>
            <a:r>
              <a:t>LR LV: M 43.0%, R 30.0%, U 27.0%</a:t>
            </a:r>
          </a:p>
          <a:p>
            <a:r>
              <a:t>LINCOLN: M 42.8%, R 28.9%, U 28.3%</a:t>
            </a:r>
          </a:p>
          <a:p>
            <a:r>
              <a:t>VW HENDERSON: M 41.0%, R 51.3%, U 7.7%</a:t>
            </a:r>
          </a:p>
          <a:p>
            <a:r>
              <a:t>CHEVY LV: M 40.6%, R 48.3%, U 11.1%</a:t>
            </a:r>
          </a:p>
          <a:p>
            <a:r>
              <a:t>NISSAN: M 40.2%, R 41.9%, U 17.9%</a:t>
            </a:r>
          </a:p>
          <a:p>
            <a:r>
              <a:t>CHEVY GMC BULLHEAD: M 38.4%, R 32.6%, U 29.0%</a:t>
            </a:r>
          </a:p>
          <a:p>
            <a:r>
              <a:t>AUDI HENDERSON: M 35.1%, R 37.8%, U 27.1%</a:t>
            </a:r>
          </a:p>
          <a:p>
            <a:r>
              <a:t>GMC PRESCOTT: M 33.9%, R 2.6%, U 63.5%</a:t>
            </a:r>
          </a:p>
          <a:p>
            <a:r>
              <a:t>CADILLAC: M 32.8%, R 54.6%, U 12.6%</a:t>
            </a:r>
          </a:p>
          <a:p>
            <a:r>
              <a:t>AUDI RENO: M 32.2%, R 29.7%, U 38.1%</a:t>
            </a:r>
          </a:p>
          <a:p>
            <a:r>
              <a:t>VW ST GEORGE: M 27.5%, R 27.4%, U 45.1%</a:t>
            </a:r>
          </a:p>
          <a:p>
            <a:r>
              <a:t>CDJR POST FALLS: M 26.5%, R 21.7%, U 51.8%</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sale / customer-pay sold hours.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sale / customer-pay sold hours.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Change in CP ELR,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CURRENT VERSION - bars and % only. Qlik - Closed Repair Orders. Customer pay, Jan-Sep by close month. Same-store, INEOS excluded (opened 2026). GMC Prescott body shop labor types excluded. CP ELR for JUL-SEP 2026 (last three months, to match current door rates) / store door rate (standard rate from the store door rate sheet; premium, EV and diesel rates not applied). Group = group CP labor sale / hours-weighted door rate. Green at or above 70%, red below. Bars start at 40%. Percentages are truncated, not rounded.</a:t>
            </a:r>
          </a:p>
          <a:p>
            <a:r>
              <a:t>AUDI RENO: ELR $244.12 / door $235.87 = 103.4%</a:t>
            </a:r>
          </a:p>
          <a:p>
            <a:r>
              <a:t>VOLVO: ELR $225.50 / door $249.95 = 90.2%</a:t>
            </a:r>
          </a:p>
          <a:p>
            <a:r>
              <a:t>CHEVY GMC BULLHEAD: ELR $161.80 / door $179.87 = 89.9%</a:t>
            </a:r>
          </a:p>
          <a:p>
            <a:r>
              <a:t>HYUNDAI ST GEORGE: ELR $165.96 / door $184.87 = 89.7%</a:t>
            </a:r>
          </a:p>
          <a:p>
            <a:r>
              <a:t>ACURA: ELR $199.04 / door $224.87 = 88.5%</a:t>
            </a:r>
          </a:p>
          <a:p>
            <a:r>
              <a:t>LR RENO: ELR $238.62 / door $275.00 = 86.7%</a:t>
            </a:r>
          </a:p>
          <a:p>
            <a:r>
              <a:t>HONDA FLAGSTAFF: ELR $159.69 / door $185.00 = 86.3%</a:t>
            </a:r>
          </a:p>
          <a:p>
            <a:r>
              <a:t>HONDA SPOKANE: ELR $147.93 / door $179.00 = 82.6%</a:t>
            </a:r>
          </a:p>
          <a:p>
            <a:r>
              <a:t>LEXUS: ELR $187.42 / door $229.95 = 81.5%</a:t>
            </a:r>
          </a:p>
          <a:p>
            <a:r>
              <a:t>CDJR POST FALLS: ELR $161.93 / door $199.95 = 80.9%</a:t>
            </a:r>
          </a:p>
          <a:p>
            <a:r>
              <a:t>TOYOTA PRESCOTT: ELR $155.78 / door $195.00 = 79.8%</a:t>
            </a:r>
          </a:p>
          <a:p>
            <a:r>
              <a:t>LR HENDERSON: ELR $234.48 / door $294.87 = 79.5%</a:t>
            </a:r>
          </a:p>
          <a:p>
            <a:r>
              <a:t>KIA ST GEORGE: ELR $146.04 / door $185.00 = 78.9%</a:t>
            </a:r>
          </a:p>
          <a:p>
            <a:r>
              <a:t>MAZDA: ELR $165.67 / door $209.87 = 78.9%</a:t>
            </a:r>
          </a:p>
          <a:p>
            <a:r>
              <a:t>VW HENDERSON: ELR $160.84 / door $204.87 = 78.5%</a:t>
            </a:r>
          </a:p>
          <a:p>
            <a:r>
              <a:t>VW ST GEORGE: ELR $141.89 / door $184.87 = 76.7%</a:t>
            </a:r>
          </a:p>
          <a:p>
            <a:r>
              <a:t>AUDI HENDERSON: ELR $266.72 / door $348.87 = 76.4%</a:t>
            </a:r>
          </a:p>
          <a:p>
            <a:r>
              <a:t>LR LV: ELR $233.88 / door $310.00 = 75.4%</a:t>
            </a:r>
          </a:p>
          <a:p>
            <a:r>
              <a:t>SUBARU LV: ELR $162.12 / door $215.37 = 75.2%</a:t>
            </a:r>
          </a:p>
          <a:p>
            <a:r>
              <a:t>NISSAN: ELR $180.14 / door $239.87 = 75.1%</a:t>
            </a:r>
          </a:p>
          <a:p>
            <a:r>
              <a:t>TOYOTA FLAGSTAFF: ELR $142.51 / door $190.00 = 75.0%</a:t>
            </a:r>
          </a:p>
          <a:p>
            <a:r>
              <a:t>SUBARU ST GEORGE: ELR $136.71 / door $185.00 = 73.8%</a:t>
            </a:r>
          </a:p>
          <a:p>
            <a:r>
              <a:t>TOYOTA HENDERSON: ELR $154.55 / door $211.26 = 73.1%</a:t>
            </a:r>
          </a:p>
          <a:p>
            <a:r>
              <a:t>HONDA HENDERSON: ELR $153.45 / door $211.87 = 72.4%</a:t>
            </a:r>
          </a:p>
          <a:p>
            <a:r>
              <a:t>HONDA NORTH: ELR $149.70 / door $211.87 = 70.6%</a:t>
            </a:r>
          </a:p>
          <a:p>
            <a:r>
              <a:t>KIA LV: ELR $150.72 / door $219.87 = 68.5%</a:t>
            </a:r>
          </a:p>
          <a:p>
            <a:r>
              <a:t>LINCOLN: ELR $167.22 / door $244.87 = 68.2%</a:t>
            </a:r>
          </a:p>
          <a:p>
            <a:r>
              <a:t>TOYOTA SPOKANE: ELR $124.92 / door $185.00 = 67.5%</a:t>
            </a:r>
          </a:p>
          <a:p>
            <a:r>
              <a:t>GMC PRESCOTT: ELR $146.92 / door $220.00 = 66.7%</a:t>
            </a:r>
          </a:p>
          <a:p>
            <a:r>
              <a:t>SUBARU PRESCOTT: ELR $139.81 / door $210.00 = 66.5%</a:t>
            </a:r>
          </a:p>
          <a:p>
            <a:r>
              <a:t>CHEVY LV: ELR $146.25 / door $224.87 = 65.0%</a:t>
            </a:r>
          </a:p>
          <a:p>
            <a:r>
              <a:t>HYUNDAI PRESCOTT: ELR $136.12 / door $210.00 = 64.8%</a:t>
            </a:r>
          </a:p>
          <a:p>
            <a:r>
              <a:t>CADILLAC: ELR $175.47 / door $285.00 = 61.5%</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OPTION A - ELR and door rate columns. Qlik - Closed Repair Orders. CP ELR Jul-Sep 2026 (last three months, to match current door rates). Door rate = standard rate from the store door rate sheet; premium, EV and diesel rates not applied. Same-store, INEOS excluded; GMC Prescott body shop excluded. Averages weighted by Jul-Sep CP sold hours.</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sale / customer-pay sold hours. Top and bottom five stores by change in CP ELR, Jan-Sep 2026 vs 2025. Moving now: Jul-Sep 2026 vs Jan-Mar 2026, each store against itself; the group moved +$1.85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Labor $ per RO.</a:t>
            </a:r>
          </a:p>
          <a:p>
            <a:r>
              <a:t>1.87 x $162.42 = $303.73, which rounds to the $304 on the data slide. Parts line (Noah, Oct 23: the parts $ per RO section is out of the deck, so the link lives here): CP parts per RO $228.50 -&gt; $237.96 Jan-Sep 2025 -&gt; 2026 while CP labor per RO rose $286.67 -&gt; $303.72 (Qlik Closed RO, m5.json).</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sale / all customer-pay ROs (governed Labor Sale/RO).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sale / all customer-pay ROs (governed Labor Sale/RO).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Change in CP Labor $ per RO,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sale / all customer-pay ROs (governed Labor Sale/RO). Top and bottom five stores by change in CP Labor $ per RO, Jan-Sep 2026 vs 2025. Moving now: Jul-Sep 2026 vs Jan-Mar 2026, each store against itself; the group moved −$2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Labor Gross Profit %.</a:t>
            </a:r>
          </a:p>
          <a:p>
            <a:r>
              <a:t>Example (Noah, Oct 23: replaces the Roundtable table): one CP hour at the group's Jan-Sep 2026 averages, $162.42 ELR, $31.21 tech cost per hour sold, $131.21 kept = 80.8%; rounded on the slide.</a:t>
            </a:r>
          </a:p>
          <a:p>
            <a:r>
              <a:t>Oct 23 (Noah): The Goldilocks Margin talking point is folded into this slide (it repeated it): no Goldilocks or Roundtable wording; its ask (match the tech to the job, not squeeze tech pay) is the first Why It Matters point.</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gross / customer-pay labor sale. Target range 78-80%.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gross / customer-pay labor sale. Target range 78-80%. Jan-Sep 2026 YTD. Green at or above the group, red below. Bars start at 60.0%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Change in CP Labor Gross Profit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gross / customer-pay labor sale. Target range 78-80%. Top and bottom five stores by change in CP Labor Gross Profit %, Jan-Sep 2026 vs 2025. Moving now: Jul-Sep 2026 vs Jan-Mar 2026, each store against itself; the group moved +0.0 pts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Parts Gross Profit %.</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parts gross / customer-pay parts sale on repair orders (counter and wholesale not included).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parts gross / customer-pay parts sale on repair orders (counter and wholesale not included). Jan-Sep 2026 YTD. Green at or above the group, red below. Bars start at 25.0%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Change in CP Parts Gross Profit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parts gross / customer-pay parts sale on repair orders (counter and wholesale not included). Top and bottom five stores by change in CP Parts Gross Profit %, Jan-Sep 2026 vs 2025. Moving now: Jul-Sep 2026 vs Jan-Mar 2026, each store against itself; the group moved −0.0 pts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Opcodes section, after the section break and before Alignment %.</a:t>
            </a:r>
          </a:p>
          <a:p>
            <a:r>
              <a:t>Said: Roundtable slides 11, 12, 14 (Road to the Sale, Maintenance Menus, MPI Mandate); Jan GM slide 15 / May GM slide 11 (Road to the Sale). Fuel service is 5.8% vs 7.5% (4,731 short).</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Opcode Benchmarks, after Road to the Sale and ahead of MPI Completion % (Noah, Oct 23: express visits and a complete MPI go hand in hand).</a:t>
            </a:r>
          </a:p>
          <a:p>
            <a:r>
              <a:t>Said: Jan GM slide 8 / May GM slide 7 (Express Service).</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Store-reported from each store's MPI tool (MPI_Video_Completion_Jul-Sep_2026.xlsx): CP + warranty ROs closed Jul 1 - Sep 30, 2026, including $0 ROs; % of ROs, not of MPIs. Group = RO-weighted by each store's CP+W ROs (Qlik Closed Repair Orders, 128,726). Tools differ by store; GMC Prescott's report is not filtered to CP+W; Volvo and VW St George did not say. Honda Spokane and Toyota Spokane report the same figure for MPI and video. MPI % = CP+W ROs with a completed technician multi-point inspection / CP+W ROs closed. Benchmark 90% (Roundtable: 90%+ MPI completion). Green at or above the benchmark, red below.Every car, every time: the MPI is where the hours on the opcode slides come from. Cadillac switched to Auto.live during the quarter, so its number may understate the process.</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Store-reported from each store's MPI tool (MPI_Video_Completion_Jul-Sep_2026.xlsx): CP + warranty ROs closed Jul 1 - Sep 30, 2026, including $0 ROs; % of ROs, not of MPIs. Group = RO-weighted by each store's CP+W ROs (Qlik Closed Repair Orders, 128,726). Tools differ by store; GMC Prescott's report is not filtered to CP+W; Volvo and VW St George did not say. Honda Spokane and Toyota Spokane report the same figure for MPI and video. Video % = CP+W ROs with a technician video attached to the MPI / CP+W ROs closed. No benchmark set; scored against the group. Green at or above the group, red below.Video is what turns an inspection into a sale the customer can see. MPI at 80% or more but video under 45%, so the inspection is done and not shown: CDJR Post Falls (81.7% MPI, 16.0% video); Chevy GMC Bullhead (87.6% MPI, 21.8% video); Chevy LV (84.5% MPI, 40.2% video); GMC Prescott (93.2% MPI, 35.1% video); Nissan (97.0% MPI, 41.9% video).</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Opcode Benchmarks, after MPI and Video Completion %, ahead of the op code closing % slides (moved out of Internal, Oct 23).</a:t>
            </a:r>
          </a:p>
          <a:p>
            <a:r>
              <a:t>Said: Jan GM slide 19 / May GM slide 15 (Tracking &amp; Accountability); Roundtable slide 16 (Performance Tracking).</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Opcodes, after the section break, in front of Alignment %.</a:t>
            </a:r>
          </a:p>
          <a:p>
            <a:r>
              <a:t>Denominator: CP ROs on the op code report basis (excluding ROs flagged out of the report).</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ALIGNMENT % = alignment ROs ÷ customer-pay ROs on the op-code report basis. YTD from YTD totals, not the mean of months.</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Jan-Sep 2026 YTD; green at or above the 15% benchmark, red below.</a:t>
            </a:r>
          </a:p>
          <a:p>
            <a:r>
              <a:t>AUDI HENDERSON: 27.5% (2025 21.8%)</a:t>
            </a:r>
          </a:p>
          <a:p>
            <a:r>
              <a:t>LR HENDERSON: 24.4% (2025 19.4%)</a:t>
            </a:r>
          </a:p>
          <a:p>
            <a:r>
              <a:t>HYUNDAI PRESCOTT: 21.8% (2025 15.0%)</a:t>
            </a:r>
          </a:p>
          <a:p>
            <a:r>
              <a:t>HONDA HENDERSON: 21.3% (2025 20.7%)</a:t>
            </a:r>
          </a:p>
          <a:p>
            <a:r>
              <a:t>ACURA: 17.5% (2025 14.2%)</a:t>
            </a:r>
          </a:p>
          <a:p>
            <a:r>
              <a:t>LR LV: 17.4% (2025 11.4%)</a:t>
            </a:r>
          </a:p>
          <a:p>
            <a:r>
              <a:t>MAZDA: 16.7% (2025 10.0%)</a:t>
            </a:r>
          </a:p>
          <a:p>
            <a:r>
              <a:t>HONDA NORTH: 16.2% (2025 15.0%)</a:t>
            </a:r>
          </a:p>
          <a:p>
            <a:r>
              <a:t>HYUNDAI ST GEORGE: 14.8% (2025 5.2%)</a:t>
            </a:r>
          </a:p>
          <a:p>
            <a:r>
              <a:t>SUBARU LV: 14.6% (2025 16.1%)</a:t>
            </a:r>
          </a:p>
          <a:p>
            <a:r>
              <a:t>TOYOTA HENDERSON: 14.5% (2025 15.1%)</a:t>
            </a:r>
          </a:p>
          <a:p>
            <a:r>
              <a:t>CADILLAC: 13.9% (2025 9.7%)</a:t>
            </a:r>
          </a:p>
          <a:p>
            <a:r>
              <a:t>VOLVO: 13.9% (2025 13.5%)</a:t>
            </a:r>
          </a:p>
          <a:p>
            <a:r>
              <a:t>VW HENDERSON: 13.6% (2025 13.5%)</a:t>
            </a:r>
          </a:p>
          <a:p>
            <a:r>
              <a:t>LR RENO: 12.9% (2025 17.7%)</a:t>
            </a:r>
          </a:p>
          <a:p>
            <a:r>
              <a:t>CHEVY LV: 12.9% (2025 13.4%)</a:t>
            </a:r>
          </a:p>
          <a:p>
            <a:r>
              <a:t>SUBARU PRESCOTT: 12.6% (2025 7.1%)</a:t>
            </a:r>
          </a:p>
          <a:p>
            <a:r>
              <a:t>HONDA SPOKANE: 12.5% (2025 10.8%)</a:t>
            </a:r>
          </a:p>
          <a:p>
            <a:r>
              <a:t>TOYOTA PRESCOTT: 12.3% (2025 9.5%)</a:t>
            </a:r>
          </a:p>
          <a:p>
            <a:r>
              <a:t>AUDI RENO: 11.8% (2025 11.7%)</a:t>
            </a:r>
          </a:p>
          <a:p>
            <a:r>
              <a:t>GMC PRESCOTT: 11.7% (2025 5.0%)</a:t>
            </a:r>
          </a:p>
          <a:p>
            <a:r>
              <a:t>LEXUS: 11.4% (2025 8.3%)</a:t>
            </a:r>
          </a:p>
          <a:p>
            <a:r>
              <a:t>CHEVY GMC BULLHEAD: 11.1% (2025 11.2%)</a:t>
            </a:r>
          </a:p>
          <a:p>
            <a:r>
              <a:t>HONDA FLAGSTAFF: 11.1% (2025 5.6%)</a:t>
            </a:r>
          </a:p>
          <a:p>
            <a:r>
              <a:t>SUBARU ST GEORGE: 11.1% (2025 11.9%)</a:t>
            </a:r>
          </a:p>
          <a:p>
            <a:r>
              <a:t>KIA LV: 9.8% (2025 13.3%)</a:t>
            </a:r>
          </a:p>
          <a:p>
            <a:r>
              <a:t>TOYOTA FLAGSTAFF: 9.7% (2025 6.3%)</a:t>
            </a:r>
          </a:p>
          <a:p>
            <a:r>
              <a:t>LINCOLN: 8.4% (2025 2.7%)</a:t>
            </a:r>
          </a:p>
          <a:p>
            <a:r>
              <a:t>KIA ST GEORGE: 8.0% (2025 2.5%)</a:t>
            </a:r>
          </a:p>
          <a:p>
            <a:r>
              <a:t>NISSAN: 7.5% (2025 5.3%)</a:t>
            </a:r>
          </a:p>
          <a:p>
            <a:r>
              <a:t>VW ST GEORGE: 5.6% (2025 3.9%)</a:t>
            </a:r>
          </a:p>
          <a:p>
            <a:r>
              <a:t>TOYOTA SPOKANE: 4.3% (2025 2.6%)</a:t>
            </a:r>
          </a:p>
          <a:p>
            <a:r>
              <a:t>CDJR POST FALLS: 4.2% (2025 1.8%)</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 year = Jan-Sep x 12 / 9. Stores at or above the benchmark are not shown and do not offset anyone. Alignment: group gross per service $129. Rate = Jan-Sep closing %. Services = services short a year.Near-zero stores are included on purpose (Noah, Oct 19 2026): some stores sell little of a service by OEM recommendation or local habit (e.g. Spokane customers swap seasonal tires, so fewer balances), but not every customer fits that pattern, so the opportunity is real. A store with a high RO count can show more opportunity than one selling at zero.</a:t>
            </a:r>
          </a:p>
          <a:p>
            <a:r>
              <a:t>TOYOTA HENDERSON: 14.5%, 326 services short a year x $102/service = $33,148</a:t>
            </a:r>
          </a:p>
          <a:p>
            <a:r>
              <a:t>CHEVY LV: 12.8%, 556 services short a year x $136/service = $75,460</a:t>
            </a:r>
          </a:p>
          <a:p>
            <a:r>
              <a:t>TOYOTA SPOKANE: 4.2%, 2,490 services short a year x $90/service = $225,288</a:t>
            </a:r>
          </a:p>
          <a:p>
            <a:r>
              <a:t>TOYOTA FLAGSTAFF: 9.7%, 1,066 services short a year x $84/service = $89,952</a:t>
            </a:r>
          </a:p>
          <a:p>
            <a:r>
              <a:t>SUBARU LV: 14.5%, 83 services short a year x $117/service = $9,769</a:t>
            </a:r>
          </a:p>
          <a:p>
            <a:r>
              <a:t>TOYOTA PRESCOTT: 12.3%, 478 services short a year x $103/service = $49,384</a:t>
            </a:r>
          </a:p>
          <a:p>
            <a:r>
              <a:t>HONDA SPOKANE: 12.5%, 294 services short a year x $124/service = $36,325</a:t>
            </a:r>
          </a:p>
          <a:p>
            <a:r>
              <a:t>KIA LV: 9.7%, 568 services short a year x $135/service = $76,788</a:t>
            </a:r>
          </a:p>
          <a:p>
            <a:r>
              <a:t>NISSAN: 7.4%, 700 services short a year x $119/service = $83,122</a:t>
            </a:r>
          </a:p>
          <a:p>
            <a:r>
              <a:t>CHEVY GMC BULLHEAD: 11.1%, 324 services short a year x $78/service = $25,354</a:t>
            </a:r>
          </a:p>
          <a:p>
            <a:r>
              <a:t>SUBARU ST GEORGE: 11.0%, 291 services short a year x $78/service = $22,634</a:t>
            </a:r>
          </a:p>
          <a:p>
            <a:r>
              <a:t>CDJR POST FALLS: 4.2%, 770 services short a year x $74/service = $57,157</a:t>
            </a:r>
          </a:p>
          <a:p>
            <a:r>
              <a:t>CADILLAC: 13.8%, 79 services short a year x $115/service = $9,131</a:t>
            </a:r>
          </a:p>
          <a:p>
            <a:r>
              <a:t>VW HENDERSON: 13.6%, 96 services short a year x $245/service = $23,446</a:t>
            </a:r>
          </a:p>
          <a:p>
            <a:r>
              <a:t>SUBARU PRESCOTT: 12.5%, 165 services short a year x $73/service = $12,083</a:t>
            </a:r>
          </a:p>
          <a:p>
            <a:r>
              <a:t>LEXUS: 11.3%, 221 services short a year x $147/service = $32,644</a:t>
            </a:r>
          </a:p>
          <a:p>
            <a:r>
              <a:t>HONDA FLAGSTAFF: 11.0%, 210 services short a year x $100/service = $20,944</a:t>
            </a:r>
          </a:p>
          <a:p>
            <a:r>
              <a:t>KIA ST GEORGE: 8.0%, 365 services short a year x $105/service = $38,212</a:t>
            </a:r>
          </a:p>
          <a:p>
            <a:r>
              <a:t>AUDI RENO: 11.8%, 149 services short a year x $230/service = $34,339</a:t>
            </a:r>
          </a:p>
          <a:p>
            <a:r>
              <a:t>VOLVO: 13.8%, 51 services short a year x $142/service = $7,258</a:t>
            </a:r>
          </a:p>
          <a:p>
            <a:r>
              <a:t>HYUNDAI ST GEORGE: 14.8%, 7 services short a year x $121/service = $865</a:t>
            </a:r>
          </a:p>
          <a:p>
            <a:r>
              <a:t>GMC PRESCOTT: 11.7%, 135 services short a year x $85/service = $11,494</a:t>
            </a:r>
          </a:p>
          <a:p>
            <a:r>
              <a:t>LINCOLN: 8.4%, 230 services short a year x $114/service = $26,302</a:t>
            </a:r>
          </a:p>
          <a:p>
            <a:r>
              <a:t>VW ST GEORGE: 5.6%, 240 services short a year x $74/service = $17,767</a:t>
            </a:r>
          </a:p>
          <a:p>
            <a:r>
              <a:t>LR RENO: 12.8%, 40 services short a year x $259/service = $10,409 (capped; raw $715/service)</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Top and bottom five stores by change in Alignment %, Jan-Sep 2026 vs 2025, in points. Moving now: Jul-Sep 2026 vs Jan-Mar 2026, each store against itself; the group moved +0.2 pts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BALANCE % = balance ROs ÷ customer-pay ROs on the op-code report basis. YTD from YTD totals, not the mean of months.</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Jan-Sep 2026 YTD; green at or above the 15% benchmark, red below. CHECK OP-CODE MAPPING - under 0.5%: TOYOTA SPOKANE, LEXUS, AUDI RENO, AUDI HENDERSON, VW ST GEORGE. Near zero in 2025, so year-over-year gain may be mapping: HONDA SPOKANE, SUBARU PRESCOTT.</a:t>
            </a:r>
          </a:p>
          <a:p>
            <a:r>
              <a:t>LR HENDERSON: 27.0% (2025 22.9%)</a:t>
            </a:r>
          </a:p>
          <a:p>
            <a:r>
              <a:t>HONDA HENDERSON: 18.4% (2025 17.7%)</a:t>
            </a:r>
          </a:p>
          <a:p>
            <a:r>
              <a:t>LR LV: 17.0% (2025 3.4%)</a:t>
            </a:r>
          </a:p>
          <a:p>
            <a:r>
              <a:t>LR RENO: 17.0% (2025 16.3%)</a:t>
            </a:r>
          </a:p>
          <a:p>
            <a:r>
              <a:t>SUBARU PRESCOTT: 15.0% (2025 0.1%)</a:t>
            </a:r>
          </a:p>
          <a:p>
            <a:r>
              <a:t>ACURA: 14.1% (2025 10.3%)</a:t>
            </a:r>
          </a:p>
          <a:p>
            <a:r>
              <a:t>HYUNDAI PRESCOTT: 13.5% (2025 8.9%)</a:t>
            </a:r>
          </a:p>
          <a:p>
            <a:r>
              <a:t>MAZDA: 13.2% (2025 6.5%)</a:t>
            </a:r>
          </a:p>
          <a:p>
            <a:r>
              <a:t>HONDA NORTH: 12.0% (2025 11.3%)</a:t>
            </a:r>
          </a:p>
          <a:p>
            <a:r>
              <a:t>VOLVO: 11.7% (2025 10.9%)</a:t>
            </a:r>
          </a:p>
          <a:p>
            <a:r>
              <a:t>TOYOTA HENDERSON: 11.2% (2025 11.7%)</a:t>
            </a:r>
          </a:p>
          <a:p>
            <a:r>
              <a:t>SUBARU LV: 10.2% (2025 11.3%)</a:t>
            </a:r>
          </a:p>
          <a:p>
            <a:r>
              <a:t>CHEVY GMC BULLHEAD: 9.1% (2025 6.5%)</a:t>
            </a:r>
          </a:p>
          <a:p>
            <a:r>
              <a:t>VW HENDERSON: 8.3% (2025 7.0%)</a:t>
            </a:r>
          </a:p>
          <a:p>
            <a:r>
              <a:t>GMC PRESCOTT: 7.8% (2025 2.0%)</a:t>
            </a:r>
          </a:p>
          <a:p>
            <a:r>
              <a:t>KIA ST GEORGE: 7.7% (2025 1.1%)</a:t>
            </a:r>
          </a:p>
          <a:p>
            <a:r>
              <a:t>CHEVY LV: 7.3% (2025 4.2%)</a:t>
            </a:r>
          </a:p>
          <a:p>
            <a:r>
              <a:t>TOYOTA PRESCOTT: 6.2% (2025 3.3%)</a:t>
            </a:r>
          </a:p>
          <a:p>
            <a:r>
              <a:t>CADILLAC: 6.0% (2025 2.6%)</a:t>
            </a:r>
          </a:p>
          <a:p>
            <a:r>
              <a:t>KIA LV: 5.2% (2025 6.6%)</a:t>
            </a:r>
          </a:p>
          <a:p>
            <a:r>
              <a:t>TOYOTA FLAGSTAFF: 4.9% (2025 3.7%)</a:t>
            </a:r>
          </a:p>
          <a:p>
            <a:r>
              <a:t>SUBARU ST GEORGE: 3.7% (2025 5.3%)</a:t>
            </a:r>
          </a:p>
          <a:p>
            <a:r>
              <a:t>HONDA SPOKANE: 2.2% (2025 0.1%)</a:t>
            </a:r>
          </a:p>
          <a:p>
            <a:r>
              <a:t>LINCOLN: 1.7% (2025 0.0%)</a:t>
            </a:r>
          </a:p>
          <a:p>
            <a:r>
              <a:t>HONDA FLAGSTAFF: 1.3% (2025 0.2%)</a:t>
            </a:r>
          </a:p>
          <a:p>
            <a:r>
              <a:t>CDJR POST FALLS: 1.3% (2025 0.2%)</a:t>
            </a:r>
          </a:p>
          <a:p>
            <a:r>
              <a:t>HYUNDAI ST GEORGE: 1.2% (2025 0.4%)</a:t>
            </a:r>
          </a:p>
          <a:p>
            <a:r>
              <a:t>NISSAN: 1.1% (2025 2.6%)</a:t>
            </a:r>
          </a:p>
          <a:p>
            <a:r>
              <a:t>TOYOTA SPOKANE: 0.5% (2025 0.3%)</a:t>
            </a:r>
          </a:p>
          <a:p>
            <a:r>
              <a:t>VW ST GEORGE: 0.4% (2025 0.7%)</a:t>
            </a:r>
          </a:p>
          <a:p>
            <a:r>
              <a:t>AUDI RENO: 0.1% (2025 0.2%)</a:t>
            </a:r>
          </a:p>
          <a:p>
            <a:r>
              <a:t>LEXUS: 0.1% (2025 0.1%)</a:t>
            </a:r>
          </a:p>
          <a:p>
            <a:r>
              <a:t>AUDI HENDERSON: 0.0% (2025 0.0%)</a:t>
            </a:r>
          </a:p>
        </p:txBody>
      </p:sp>
      <p:sp>
        <p:nvSpPr>
          <p:cNvPr id="4" name="Slide Number Placeholder 3"/>
          <p:cNvSpPr>
            <a:spLocks noGrp="1"/>
          </p:cNvSpPr>
          <p:nvPr>
            <p:ph type="sldNum" idx="5" sz="quarter"/>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 year = Jan-Sep x 12 / 9. Stores at or above the benchmark are not shown and do not offset anyone. Tire Balance: group gross per service $75. Rate = Jan-Sep closing %. Services = services short a year.Near-zero stores are included on purpose (Noah, Oct 19 2026): some stores sell little of a service by OEM recommendation or local habit (e.g. Spokane customers swap seasonal tires, so fewer balances), but not every customer fits that pattern, so the opportunity is real. A store with a high RO count can show more opportunity than one selling at zero.</a:t>
            </a:r>
          </a:p>
          <a:p>
            <a:r>
              <a:t>TOYOTA HENDERSON: 11.2%, 2,671 services short a year x $55/service = $147,351</a:t>
            </a:r>
          </a:p>
          <a:p>
            <a:r>
              <a:t>CHEVY LV: 7.3%, 2,001 services short a year x $53/service = $106,293</a:t>
            </a:r>
          </a:p>
          <a:p>
            <a:r>
              <a:t>TOYOTA SPOKANE: 0.4%, 3,361 services short a year x $53/service = $179,701</a:t>
            </a:r>
          </a:p>
          <a:p>
            <a:r>
              <a:t>TOYOTA FLAGSTAFF: 4.9%, 2,031 services short a year x $54/service = $109,054</a:t>
            </a:r>
          </a:p>
          <a:p>
            <a:r>
              <a:t>HONDA NORTH: 12.0%, 600 services short a year x $64/service = $38,266</a:t>
            </a:r>
          </a:p>
          <a:p>
            <a:r>
              <a:t>SUBARU LV: 10.2%, 909 services short a year x $75/service = $67,808</a:t>
            </a:r>
          </a:p>
          <a:p>
            <a:r>
              <a:t>TOYOTA PRESCOTT: 6.1%, 1,590 services short a year x $83/service = $132,315</a:t>
            </a:r>
          </a:p>
          <a:p>
            <a:r>
              <a:t>HONDA SPOKANE: 2.1%, 1,526 services short a year x $52/service = $80,060</a:t>
            </a:r>
          </a:p>
          <a:p>
            <a:r>
              <a:t>KIA LV: 5.2%, 1,059 services short a year x $68/service = $71,767</a:t>
            </a:r>
          </a:p>
          <a:p>
            <a:r>
              <a:t>NISSAN: 1.0%, 1,296 services short a year x $59/service = $76,668</a:t>
            </a:r>
          </a:p>
          <a:p>
            <a:r>
              <a:t>CHEVY GMC BULLHEAD: 9.0%, 496 services short a year x $42/service = $20,863</a:t>
            </a:r>
          </a:p>
          <a:p>
            <a:r>
              <a:t>MAZDA: 13.1%, 138 services short a year x $79/service = $10,870</a:t>
            </a:r>
          </a:p>
          <a:p>
            <a:r>
              <a:t>SUBARU ST GEORGE: 3.6%, 837 services short a year x $149/service = $124,903 (capped; raw $247/service)</a:t>
            </a:r>
          </a:p>
          <a:p>
            <a:r>
              <a:t>CDJR POST FALLS: 1.2%, 981 services short a year x $75/service = $73,291</a:t>
            </a:r>
          </a:p>
          <a:p>
            <a:r>
              <a:t>CADILLAC: 5.9%, 643 services short a year x $22/service = $14,275</a:t>
            </a:r>
          </a:p>
          <a:p>
            <a:r>
              <a:t>VW HENDERSON: 8.2%, 460 services short a year x $60/service = $27,375</a:t>
            </a:r>
          </a:p>
          <a:p>
            <a:r>
              <a:t>SUBARU PRESCOTT: 14.9%, 1 services short a year x $34/service = $34</a:t>
            </a:r>
          </a:p>
          <a:p>
            <a:r>
              <a:t>LEXUS: 0.0%, 909 services short a year x $75/service (group avg) = $67,832</a:t>
            </a:r>
          </a:p>
          <a:p>
            <a:r>
              <a:t>HONDA FLAGSTAFF: 1.3%, 735 services short a year x $70/service = $51,753</a:t>
            </a:r>
          </a:p>
          <a:p>
            <a:r>
              <a:t>KIA ST GEORGE: 7.7%, 380 services short a year x $48/service = $18,369</a:t>
            </a:r>
          </a:p>
          <a:p>
            <a:r>
              <a:t>AUDI HENDERSON: 0.0%, 754 services short a year x $75/service (group avg) = $56,275</a:t>
            </a:r>
          </a:p>
          <a:p>
            <a:r>
              <a:t>ACURA: 14.1%, 44 services short a year x $64/service = $2,765</a:t>
            </a:r>
          </a:p>
          <a:p>
            <a:r>
              <a:t>AUDI RENO: 0.1%, 696 services short a year x $75/service (group avg) = $51,909</a:t>
            </a:r>
          </a:p>
          <a:p>
            <a:r>
              <a:t>VOLVO: 11.7%, 148 services short a year x $51/service = $7,511</a:t>
            </a:r>
          </a:p>
          <a:p>
            <a:r>
              <a:t>HYUNDAI ST GEORGE: 1.2%, 615 services short a year x $58/service = $35,684</a:t>
            </a:r>
          </a:p>
          <a:p>
            <a:r>
              <a:t>GMC PRESCOTT: 7.7%, 300 services short a year x $90/service = $26,856</a:t>
            </a:r>
          </a:p>
          <a:p>
            <a:r>
              <a:t>LINCOLN: 1.6%, 467 services short a year x $66/service = $30,836</a:t>
            </a:r>
          </a:p>
          <a:p>
            <a:r>
              <a:t>HYUNDAI PRESCOTT: 13.5%, 39 services short a year x $149/service = $5,868 (capped; raw $311/service)</a:t>
            </a:r>
          </a:p>
          <a:p>
            <a:r>
              <a:t>VW ST GEORGE: 0.4%, 373 services short a year x $75/service (group avg) = $27,832</a:t>
            </a:r>
          </a:p>
        </p:txBody>
      </p:sp>
      <p:sp>
        <p:nvSpPr>
          <p:cNvPr id="4" name="Slide Number Placeholder 3"/>
          <p:cNvSpPr>
            <a:spLocks noGrp="1"/>
          </p:cNvSpPr>
          <p:nvPr>
            <p:ph type="sldNum" idx="5" sz="quarter"/>
          </p:nvPr>
        </p:nvSpPr>
        <p:spPr/>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Top and bottom five stores by change in Balance %, Jan-Sep 2026 vs 2025, in points. Moving now: Jul-Sep 2026 vs Jan-Mar 2026, each store against itself; the group moved +0.1 pts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BRAKE FLUID % = brake fluid service ROs ÷ customer-pay ROs on the op-code report basis. YTD from YTD totals, not the mean of months.</a:t>
            </a:r>
          </a:p>
        </p:txBody>
      </p:sp>
      <p:sp>
        <p:nvSpPr>
          <p:cNvPr id="4" name="Slide Number Placeholder 3"/>
          <p:cNvSpPr>
            <a:spLocks noGrp="1"/>
          </p:cNvSpPr>
          <p:nvPr>
            <p:ph type="sldNum" idx="5" sz="quarter"/>
          </p:nvPr>
        </p:nvSpPr>
        <p:spPr/>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Jan-Sep 2026 YTD; green at or above the 10% benchmark, red below.</a:t>
            </a:r>
          </a:p>
          <a:p>
            <a:r>
              <a:t>LR LV: 20.7% (2025 15.2%)</a:t>
            </a:r>
          </a:p>
          <a:p>
            <a:r>
              <a:t>HONDA HENDERSON: 15.6% (2025 12.9%)</a:t>
            </a:r>
          </a:p>
          <a:p>
            <a:r>
              <a:t>LR HENDERSON: 14.3% (2025 9.0%)</a:t>
            </a:r>
          </a:p>
          <a:p>
            <a:r>
              <a:t>ACURA: 12.7% (2025 8.6%)</a:t>
            </a:r>
          </a:p>
          <a:p>
            <a:r>
              <a:t>HONDA NORTH: 12.1% (2025 13.1%)</a:t>
            </a:r>
          </a:p>
          <a:p>
            <a:r>
              <a:t>VOLVO: 11.9% (2025 12.1%)</a:t>
            </a:r>
          </a:p>
          <a:p>
            <a:r>
              <a:t>NISSAN: 11.6% (2025 3.8%)</a:t>
            </a:r>
          </a:p>
          <a:p>
            <a:r>
              <a:t>SUBARU ST GEORGE: 10.8% (2025 11.0%)</a:t>
            </a:r>
          </a:p>
          <a:p>
            <a:r>
              <a:t>SUBARU PRESCOTT: 10.6% (2025 6.4%)</a:t>
            </a:r>
          </a:p>
          <a:p>
            <a:r>
              <a:t>HONDA SPOKANE: 10.3% (2025 9.8%)</a:t>
            </a:r>
          </a:p>
          <a:p>
            <a:r>
              <a:t>SUBARU LV: 10.1% (2025 9.3%)</a:t>
            </a:r>
          </a:p>
          <a:p>
            <a:r>
              <a:t>TOYOTA HENDERSON: 10.1% (2025 9.7%)</a:t>
            </a:r>
          </a:p>
          <a:p>
            <a:r>
              <a:t>HYUNDAI PRESCOTT: 9.7% (2025 8.1%)</a:t>
            </a:r>
          </a:p>
          <a:p>
            <a:r>
              <a:t>VW HENDERSON: 9.5% (2025 7.8%)</a:t>
            </a:r>
          </a:p>
          <a:p>
            <a:r>
              <a:t>MAZDA: 8.5% (2025 4.6%)</a:t>
            </a:r>
          </a:p>
          <a:p>
            <a:r>
              <a:t>TOYOTA PRESCOTT: 8.4% (2025 6.1%)</a:t>
            </a:r>
          </a:p>
          <a:p>
            <a:r>
              <a:t>LEXUS: 8.4% (2025 4.9%)</a:t>
            </a:r>
          </a:p>
          <a:p>
            <a:r>
              <a:t>KIA LV: 8.3% (2025 7.2%)</a:t>
            </a:r>
          </a:p>
          <a:p>
            <a:r>
              <a:t>TOYOTA FLAGSTAFF: 8.1% (2025 7.3%)</a:t>
            </a:r>
          </a:p>
          <a:p>
            <a:r>
              <a:t>LINCOLN: 7.5% (2025 2.4%)</a:t>
            </a:r>
          </a:p>
          <a:p>
            <a:r>
              <a:t>LR RENO: 7.2% (2025 2.5%)</a:t>
            </a:r>
          </a:p>
          <a:p>
            <a:r>
              <a:t>CHEVY GMC BULLHEAD: 7.1% (2025 3.8%)</a:t>
            </a:r>
          </a:p>
          <a:p>
            <a:r>
              <a:t>TOYOTA SPOKANE: 7.0% (2025 6.8%)</a:t>
            </a:r>
          </a:p>
          <a:p>
            <a:r>
              <a:t>GMC PRESCOTT: 6.1% (2025 4.6%)</a:t>
            </a:r>
          </a:p>
          <a:p>
            <a:r>
              <a:t>KIA ST GEORGE: 6.0% (2025 3.8%)</a:t>
            </a:r>
          </a:p>
          <a:p>
            <a:r>
              <a:t>CHEVY LV: 5.8% (2025 5.3%)</a:t>
            </a:r>
          </a:p>
          <a:p>
            <a:r>
              <a:t>VW ST GEORGE: 5.4% (2025 4.0%)</a:t>
            </a:r>
          </a:p>
          <a:p>
            <a:r>
              <a:t>HYUNDAI ST GEORGE: 4.7% (2025 1.6%)</a:t>
            </a:r>
          </a:p>
          <a:p>
            <a:r>
              <a:t>CADILLAC: 4.7% (2025 4.1%)</a:t>
            </a:r>
          </a:p>
          <a:p>
            <a:r>
              <a:t>CDJR POST FALLS: 4.2% (2025 6.0%)</a:t>
            </a:r>
          </a:p>
          <a:p>
            <a:r>
              <a:t>HONDA FLAGSTAFF: 3.2% (2025 2.4%)</a:t>
            </a:r>
          </a:p>
          <a:p>
            <a:r>
              <a:t>AUDI HENDERSON: 2.5% (2025 1.8%)</a:t>
            </a:r>
          </a:p>
          <a:p>
            <a:r>
              <a:t>AUDI RENO: 1.9% (2025 0.5%)</a:t>
            </a:r>
          </a:p>
        </p:txBody>
      </p:sp>
      <p:sp>
        <p:nvSpPr>
          <p:cNvPr id="4" name="Slide Number Placeholder 3"/>
          <p:cNvSpPr>
            <a:spLocks noGrp="1"/>
          </p:cNvSpPr>
          <p:nvPr>
            <p:ph type="sldNum" idx="5" sz="quarter"/>
          </p:nvPr>
        </p:nvSpPr>
        <p:spPr/>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 year = Jan-Sep x 12 / 9. Stores at or above the benchmark are not shown and do not offset anyone. Brake Fluid: group gross per service $189. Rate = Jan-Sep closing %. Services = services short a year.Near-zero stores are included on purpose (Noah, Oct 19 2026): some stores sell little of a service by OEM recommendation or local habit (e.g. Spokane customers swap seasonal tires, so fewer balances), but not every customer fits that pattern, so the opportunity is real. A store with a high RO count can show more opportunity than one selling at zero.</a:t>
            </a:r>
          </a:p>
          <a:p>
            <a:r>
              <a:t>CHEVY LV: 5.7%, 1,093 services short a year x $138/service = $150,836</a:t>
            </a:r>
          </a:p>
          <a:p>
            <a:r>
              <a:t>TOYOTA SPOKANE: 7.0%, 683 services short a year x $117/service = $79,964</a:t>
            </a:r>
          </a:p>
          <a:p>
            <a:r>
              <a:t>TOYOTA FLAGSTAFF: 8.0%, 389 services short a year x $123/service = $47,769</a:t>
            </a:r>
          </a:p>
          <a:p>
            <a:r>
              <a:t>TOYOTA PRESCOTT: 8.4%, 287 services short a year x $112/service = $32,135</a:t>
            </a:r>
          </a:p>
          <a:p>
            <a:r>
              <a:t>KIA LV: 8.2%, 187 services short a year x $120/service = $22,410</a:t>
            </a:r>
          </a:p>
          <a:p>
            <a:r>
              <a:t>CHEVY GMC BULLHEAD: 7.0%, 245 services short a year x $87/service = $21,314</a:t>
            </a:r>
          </a:p>
          <a:p>
            <a:r>
              <a:t>MAZDA: 8.4%, 115 services short a year x $154/service = $17,686</a:t>
            </a:r>
          </a:p>
          <a:p>
            <a:r>
              <a:t>CDJR POST FALLS: 4.2%, 412 services short a year x $128/service = $52,525</a:t>
            </a:r>
          </a:p>
          <a:p>
            <a:r>
              <a:t>CADILLAC: 4.6%, 379 services short a year x $150/service = $56,716</a:t>
            </a:r>
          </a:p>
          <a:p>
            <a:r>
              <a:t>VW HENDERSON: 9.5%, 33 services short a year x $134/service = $4,382</a:t>
            </a:r>
          </a:p>
          <a:p>
            <a:r>
              <a:t>LEXUS: 8.3%, 98 services short a year x $154/service = $15,116</a:t>
            </a:r>
          </a:p>
          <a:p>
            <a:r>
              <a:t>HONDA FLAGSTAFF: 3.1%, 367 services short a year x $184/service = $67,341</a:t>
            </a:r>
          </a:p>
          <a:p>
            <a:r>
              <a:t>KIA ST GEORGE: 5.9%, 211 services short a year x $119/service = $25,037</a:t>
            </a:r>
          </a:p>
          <a:p>
            <a:r>
              <a:t>AUDI HENDERSON: 2.4%, 380 services short a year x $196/service = $74,435</a:t>
            </a:r>
          </a:p>
          <a:p>
            <a:r>
              <a:t>AUDI RENO: 1.9%, 378 services short a year x $206/service = $77,911</a:t>
            </a:r>
          </a:p>
          <a:p>
            <a:r>
              <a:t>HYUNDAI ST GEORGE: 4.7%, 235 services short a year x $134/service = $31,519</a:t>
            </a:r>
          </a:p>
          <a:p>
            <a:r>
              <a:t>GMC PRESCOTT: 6.0%, 162 services short a year x $127/service = $20,618</a:t>
            </a:r>
          </a:p>
          <a:p>
            <a:r>
              <a:t>LINCOLN: 7.5%, 87 services short a year x $126/service = $10,912</a:t>
            </a:r>
          </a:p>
          <a:p>
            <a:r>
              <a:t>HYUNDAI PRESCOTT: 9.6%, 9 services short a year x $354/service = $3,306</a:t>
            </a:r>
          </a:p>
          <a:p>
            <a:r>
              <a:t>VW ST GEORGE: 5.4%, 117 services short a year x $111/service = $13,049</a:t>
            </a:r>
          </a:p>
          <a:p>
            <a:r>
              <a:t>LR RENO: 7.2%, 52 services short a year x $377/service = $19,677 (capped; raw $1,380/service)</a:t>
            </a:r>
          </a:p>
        </p:txBody>
      </p:sp>
      <p:sp>
        <p:nvSpPr>
          <p:cNvPr id="4" name="Slide Number Placeholder 3"/>
          <p:cNvSpPr>
            <a:spLocks noGrp="1"/>
          </p:cNvSpPr>
          <p:nvPr>
            <p:ph type="sldNum" idx="5" sz="quarter"/>
          </p:nvPr>
        </p:nvSpPr>
        <p:spPr/>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Top and bottom five stores by change in Brake Fluid %, Jan-Sep 2026 vs 2025, in points. Moving now: Jul-Sep 2026 vs Jan-Mar 2026, each store against itself; the group moved +0.0 pts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FUEL SERVICE % = fuel service ROs ÷ customer-pay ROs on the op-code report basis. YTD from YTD totals, not the mean of months.</a:t>
            </a:r>
          </a:p>
        </p:txBody>
      </p:sp>
      <p:sp>
        <p:nvSpPr>
          <p:cNvPr id="4" name="Slide Number Placeholder 3"/>
          <p:cNvSpPr>
            <a:spLocks noGrp="1"/>
          </p:cNvSpPr>
          <p:nvPr>
            <p:ph type="sldNum" idx="5" sz="quarter"/>
          </p:nvPr>
        </p:nvSpPr>
        <p:spPr/>
      </p:sp>
    </p:spTree>
  </p:cSld>
  <p:clrMapOvr>
    <a:masterClrMapping/>
  </p:clrMapOvr>
</p:notes>
</file>

<file path=ppt/notesSlides/notesSlide1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Jan-Sep 2026 YTD; green at or above the 7.5% benchmark, red below. CHECK OP-CODE MAPPING - under 0.5%: VW HENDERSON, AUDI HENDERSON, VOLVO. Near zero in 2025, so year-over-year gain may be mapping: HONDA SPOKANE, SUBARU ST GEORGE, LR LV, LR RENO.</a:t>
            </a:r>
          </a:p>
          <a:p>
            <a:r>
              <a:t>SUBARU ST GEORGE: 13.8% (2025 0.0%)</a:t>
            </a:r>
          </a:p>
          <a:p>
            <a:r>
              <a:t>HONDA HENDERSON: 12.0% (2025 10.4%)</a:t>
            </a:r>
          </a:p>
          <a:p>
            <a:r>
              <a:t>SUBARU PRESCOTT: 9.8% (2025 5.9%)</a:t>
            </a:r>
          </a:p>
          <a:p>
            <a:r>
              <a:t>ACURA: 9.4% (2025 5.4%)</a:t>
            </a:r>
          </a:p>
          <a:p>
            <a:r>
              <a:t>KIA ST GEORGE: 8.9% (2025 5.6%)</a:t>
            </a:r>
          </a:p>
          <a:p>
            <a:r>
              <a:t>LINCOLN: 8.2% (2025 2.1%)</a:t>
            </a:r>
          </a:p>
          <a:p>
            <a:r>
              <a:t>HONDA NORTH: 7.7% (2025 5.3%)</a:t>
            </a:r>
          </a:p>
          <a:p>
            <a:r>
              <a:t>HYUNDAI PRESCOTT: 7.4% (2025 6.7%)</a:t>
            </a:r>
          </a:p>
          <a:p>
            <a:r>
              <a:t>SUBARU LV: 7.1% (2025 8.2%)</a:t>
            </a:r>
          </a:p>
          <a:p>
            <a:r>
              <a:t>TOYOTA PRESCOTT: 6.5% (2025 5.0%)</a:t>
            </a:r>
          </a:p>
          <a:p>
            <a:r>
              <a:t>TOYOTA HENDERSON: 6.0% (2025 6.1%)</a:t>
            </a:r>
          </a:p>
          <a:p>
            <a:r>
              <a:t>HYUNDAI ST GEORGE: 5.9% (2025 2.4%)</a:t>
            </a:r>
          </a:p>
          <a:p>
            <a:r>
              <a:t>TOYOTA SPOKANE: 5.8% (2025 6.1%)</a:t>
            </a:r>
          </a:p>
          <a:p>
            <a:r>
              <a:t>LR LV: 5.5% (2025 0.2%)</a:t>
            </a:r>
          </a:p>
          <a:p>
            <a:r>
              <a:t>CHEVY LV: 5.3% (2025 4.8%)</a:t>
            </a:r>
          </a:p>
          <a:p>
            <a:r>
              <a:t>MAZDA: 5.2% (2025 1.4%)</a:t>
            </a:r>
          </a:p>
          <a:p>
            <a:r>
              <a:t>CADILLAC: 5.1% (2025 4.4%)</a:t>
            </a:r>
          </a:p>
          <a:p>
            <a:r>
              <a:t>LR RENO: 4.6% (2025 0.0%)</a:t>
            </a:r>
          </a:p>
          <a:p>
            <a:r>
              <a:t>LEXUS: 4.3% (2025 1.9%)</a:t>
            </a:r>
          </a:p>
          <a:p>
            <a:r>
              <a:t>NISSAN: 4.2% (2025 0.8%)</a:t>
            </a:r>
          </a:p>
          <a:p>
            <a:r>
              <a:t>GMC PRESCOTT: 3.6% (2025 3.0%)</a:t>
            </a:r>
          </a:p>
          <a:p>
            <a:r>
              <a:t>HONDA SPOKANE: 3.2% (2025 0.0%)</a:t>
            </a:r>
          </a:p>
          <a:p>
            <a:r>
              <a:t>KIA LV: 3.2% (2025 2.9%)</a:t>
            </a:r>
          </a:p>
          <a:p>
            <a:r>
              <a:t>CDJR POST FALLS: 3.0% (2025 4.0%)</a:t>
            </a:r>
          </a:p>
          <a:p>
            <a:r>
              <a:t>CHEVY GMC BULLHEAD: 2.7% (2025 1.8%)</a:t>
            </a:r>
          </a:p>
          <a:p>
            <a:r>
              <a:t>VW ST GEORGE: 2.7% (2025 2.4%)</a:t>
            </a:r>
          </a:p>
          <a:p>
            <a:r>
              <a:t>LR HENDERSON: 2.6% (2025 2.4%)</a:t>
            </a:r>
          </a:p>
          <a:p>
            <a:r>
              <a:t>TOYOTA FLAGSTAFF: 1.7% (2025 1.7%)</a:t>
            </a:r>
          </a:p>
          <a:p>
            <a:r>
              <a:t>AUDI RENO: 0.8% (2025 0.0%)</a:t>
            </a:r>
          </a:p>
          <a:p>
            <a:r>
              <a:t>HONDA FLAGSTAFF: 0.7% (2025 0.7%)</a:t>
            </a:r>
          </a:p>
          <a:p>
            <a:r>
              <a:t>VW HENDERSON: 0.0% (2025 0.0%)</a:t>
            </a:r>
          </a:p>
          <a:p>
            <a:r>
              <a:t>AUDI HENDERSON: 0.0% (2025 0.0%)</a:t>
            </a:r>
          </a:p>
          <a:p>
            <a:r>
              <a:t>VOLVO: 0.0% (2025 0.0%)</a:t>
            </a:r>
          </a:p>
        </p:txBody>
      </p:sp>
      <p:sp>
        <p:nvSpPr>
          <p:cNvPr id="4" name="Slide Number Placeholder 3"/>
          <p:cNvSpPr>
            <a:spLocks noGrp="1"/>
          </p:cNvSpPr>
          <p:nvPr>
            <p:ph type="sldNum" idx="5" sz="quarter"/>
          </p:nvPr>
        </p:nvSpPr>
        <p:spPr/>
      </p:sp>
    </p:spTree>
  </p:cSld>
  <p:clrMapOvr>
    <a:masterClrMapping/>
  </p:clrMapOvr>
</p:notes>
</file>

<file path=ppt/notesSlides/notesSlide1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 year = Jan-Sep x 12 / 9. Stores at or above the benchmark are not shown and do not offset anyone. Fuel System Service: group gross per service $165. Rate = Jan-Sep closing %. Services = services short a year.Near-zero stores are included on purpose (Noah, Oct 19 2026): some stores sell little of a service by OEM recommendation or local habit (e.g. Spokane customers swap seasonal tires, so fewer balances), but not every customer fits that pattern, so the opportunity is real. A store with a high RO count can show more opportunity than one selling at zero.</a:t>
            </a:r>
          </a:p>
          <a:p>
            <a:r>
              <a:t>TOYOTA HENDERSON: 6.0%, 1,056 services short a year x $122/service = $128,570</a:t>
            </a:r>
          </a:p>
          <a:p>
            <a:r>
              <a:t>CHEVY LV: 5.2%, 585 services short a year x $243/service = $142,290</a:t>
            </a:r>
          </a:p>
          <a:p>
            <a:r>
              <a:t>TOYOTA SPOKANE: 5.8%, 387 services short a year x $145/service = $56,085</a:t>
            </a:r>
          </a:p>
          <a:p>
            <a:r>
              <a:t>TOYOTA FLAGSTAFF: 1.6%, 1,173 services short a year x $93/service = $108,879</a:t>
            </a:r>
          </a:p>
          <a:p>
            <a:r>
              <a:t>SUBARU LV: 7.0%, 78 services short a year x $130/service = $10,205</a:t>
            </a:r>
          </a:p>
          <a:p>
            <a:r>
              <a:t>TOYOTA PRESCOTT: 6.4%, 186 services short a year x $101/service = $18,882</a:t>
            </a:r>
          </a:p>
          <a:p>
            <a:r>
              <a:t>HONDA SPOKANE: 3.2%, 509 services short a year x $147/service = $75,071</a:t>
            </a:r>
          </a:p>
          <a:p>
            <a:r>
              <a:t>KIA LV: 3.2%, 464 services short a year x $163/service = $75,595</a:t>
            </a:r>
          </a:p>
          <a:p>
            <a:r>
              <a:t>NISSAN: 4.1%, 308 services short a year x $206/service = $63,573</a:t>
            </a:r>
          </a:p>
          <a:p>
            <a:r>
              <a:t>CHEVY GMC BULLHEAD: 2.7%, 400 services short a year x $163/service = $65,189</a:t>
            </a:r>
          </a:p>
          <a:p>
            <a:r>
              <a:t>MAZDA: 5.2%, 174 services short a year x $150/service = $26,069</a:t>
            </a:r>
          </a:p>
          <a:p>
            <a:r>
              <a:t>CDJR POST FALLS: 3.0%, 321 services short a year x $192/service = $61,758</a:t>
            </a:r>
          </a:p>
          <a:p>
            <a:r>
              <a:t>CADILLAC: 5.1%, 170 services short a year x $269/service = $45,825</a:t>
            </a:r>
          </a:p>
          <a:p>
            <a:r>
              <a:t>VW HENDERSON: 0.0%, 515 services short a year x $165/service (group avg) = $84,636</a:t>
            </a:r>
          </a:p>
          <a:p>
            <a:r>
              <a:t>LEXUS: 4.2%, 195 services short a year x $128/service = $24,920</a:t>
            </a:r>
          </a:p>
          <a:p>
            <a:r>
              <a:t>HONDA FLAGSTAFF: 0.7%, 364 services short a year x $165/service (group avg) = $59,934</a:t>
            </a:r>
          </a:p>
          <a:p>
            <a:r>
              <a:t>AUDI HENDERSON: 0.0%, 378 services short a year x $165/service (group avg) = $62,165</a:t>
            </a:r>
          </a:p>
          <a:p>
            <a:r>
              <a:t>AUDI RENO: 0.8%, 313 services short a year x $165/service (group avg) = $51,429</a:t>
            </a:r>
          </a:p>
          <a:p>
            <a:r>
              <a:t>LR LV: 5.5%, 92 services short a year x $258/service = $23,832</a:t>
            </a:r>
          </a:p>
          <a:p>
            <a:r>
              <a:t>VOLVO: 0.0%, 340 services short a year x $165/service (group avg) = $55,964</a:t>
            </a:r>
          </a:p>
          <a:p>
            <a:r>
              <a:t>HYUNDAI ST GEORGE: 5.8%, 72 services short a year x $176/service = $12,726</a:t>
            </a:r>
          </a:p>
          <a:p>
            <a:r>
              <a:t>GMC PRESCOTT: 3.6%, 160 services short a year x $133/service = $21,222</a:t>
            </a:r>
          </a:p>
          <a:p>
            <a:r>
              <a:t>HYUNDAI PRESCOTT: 7.3%, 4 services short a year x $329/service = $1,206 (capped; raw $459/service)</a:t>
            </a:r>
          </a:p>
          <a:p>
            <a:r>
              <a:t>VW ST GEORGE: 2.7%, 123 services short a year x $236/service = $28,870</a:t>
            </a:r>
          </a:p>
          <a:p>
            <a:r>
              <a:t>LR HENDERSON: 2.5%, 103 services short a year x $329/service = $33,745 (capped; raw $774/service)</a:t>
            </a:r>
          </a:p>
          <a:p>
            <a:r>
              <a:t>LR RENO: 4.5%, 55 services short a year x $329/service = $18,238 (capped; raw $1,631/service)</a:t>
            </a:r>
          </a:p>
        </p:txBody>
      </p:sp>
      <p:sp>
        <p:nvSpPr>
          <p:cNvPr id="4" name="Slide Number Placeholder 3"/>
          <p:cNvSpPr>
            <a:spLocks noGrp="1"/>
          </p:cNvSpPr>
          <p:nvPr>
            <p:ph type="sldNum" idx="5" sz="quarter"/>
          </p:nvPr>
        </p:nvSpPr>
        <p:spPr/>
      </p:sp>
    </p:spTree>
  </p:cSld>
  <p:clrMapOvr>
    <a:masterClrMapping/>
  </p:clrMapOvr>
</p:notes>
</file>

<file path=ppt/notesSlides/notesSlide1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Top and bottom five stores by change in Fuel Service %, Jan-Sep 2026 vs 2025, in points. Moving now: Jul-Sep 2026 vs Jan-Mar 2026, each store against itself; the group moved −0.3 pts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 year = Jan-Sep x 12 / 9. Stores at or above the benchmark are not shown and do not offset anyone. Alignment, tire balance, brake fluid and fuel system service added together. Below = how many of the four benchmarks the store is under. Services = services short a year.TOYOTA SPOKANE: $541,039 a year, 6,921 services, under 4 of 4</a:t>
            </a:r>
          </a:p>
          <a:p>
            <a:r>
              <a:t>CHEVY LV: $474,880 a year, 4,236 services, under 4 of 4</a:t>
            </a:r>
          </a:p>
          <a:p>
            <a:r>
              <a:t>TOYOTA FLAGSTAFF: $355,653 a year, 4,659 services, under 4 of 4</a:t>
            </a:r>
          </a:p>
          <a:p>
            <a:r>
              <a:t>TOYOTA HENDERSON: $309,068 a year, 4,054 services, under 3 of 4</a:t>
            </a:r>
          </a:p>
          <a:p>
            <a:r>
              <a:t>KIA LV: $246,559 a year, 2,278 services, under 4 of 4</a:t>
            </a:r>
          </a:p>
          <a:p>
            <a:r>
              <a:t>CDJR POST FALLS: $244,731 a year, 2,484 services, under 4 of 4</a:t>
            </a:r>
          </a:p>
          <a:p>
            <a:r>
              <a:t>TOYOTA PRESCOTT: $232,717 a year, 2,541 services, under 4 of 4</a:t>
            </a:r>
          </a:p>
          <a:p>
            <a:r>
              <a:t>NISSAN: $223,362 a year, 2,304 services, under 3 of 4</a:t>
            </a:r>
          </a:p>
          <a:p>
            <a:r>
              <a:t>AUDI RENO: $215,588 a year, 1,536 services, under 4 of 4</a:t>
            </a:r>
          </a:p>
          <a:p>
            <a:r>
              <a:t>HONDA FLAGSTAFF: $199,972 a year, 1,676 services, under 4 of 4</a:t>
            </a:r>
          </a:p>
          <a:p>
            <a:r>
              <a:t>AUDI HENDERSON: $192,876 a year, 1,512 services, under 3 of 4</a:t>
            </a:r>
          </a:p>
          <a:p>
            <a:r>
              <a:t>HONDA SPOKANE: $191,456 a year, 2,329 services, under 3 of 4</a:t>
            </a:r>
          </a:p>
          <a:p>
            <a:r>
              <a:t>SUBARU ST GEORGE: $147,537 a year, 1,128 services, under 2 of 4</a:t>
            </a:r>
          </a:p>
          <a:p>
            <a:r>
              <a:t>LEXUS: $140,511 a year, 1,424 services, under 4 of 4</a:t>
            </a:r>
          </a:p>
          <a:p>
            <a:r>
              <a:t>VW HENDERSON: $139,840 a year, 1,103 services, under 4 of 4</a:t>
            </a:r>
          </a:p>
          <a:p>
            <a:r>
              <a:t>CHEVY GMC BULLHEAD: $132,721 a year, 1,466 services, under 4 of 4</a:t>
            </a:r>
          </a:p>
          <a:p>
            <a:r>
              <a:t>CADILLAC: $125,947 a year, 1,273 services, under 4 of 4</a:t>
            </a:r>
          </a:p>
          <a:p>
            <a:r>
              <a:t>SUBARU LV: $87,782 a year, 1,070 services, under 3 of 4</a:t>
            </a:r>
          </a:p>
          <a:p>
            <a:r>
              <a:t>VW ST GEORGE: $87,518 a year, 853 services, under 4 of 4</a:t>
            </a:r>
          </a:p>
          <a:p>
            <a:r>
              <a:t>KIA ST GEORGE: $81,619 a year, 956 services, under 3 of 4</a:t>
            </a:r>
          </a:p>
          <a:p>
            <a:r>
              <a:t>HYUNDAI ST GEORGE: $80,793 a year, 929 services, under 4 of 4</a:t>
            </a:r>
          </a:p>
          <a:p>
            <a:r>
              <a:t>GMC PRESCOTT: $80,190 a year, 757 services, under 4 of 4</a:t>
            </a:r>
          </a:p>
          <a:p>
            <a:r>
              <a:t>VOLVO: $70,733 a year, 540 services, under 3 of 4</a:t>
            </a:r>
          </a:p>
          <a:p>
            <a:r>
              <a:t>LINCOLN: $68,050 a year, 784 services, under 3 of 4</a:t>
            </a:r>
          </a:p>
          <a:p>
            <a:r>
              <a:t>MAZDA: $54,625 a year, 426 services, under 3 of 4</a:t>
            </a:r>
          </a:p>
          <a:p>
            <a:r>
              <a:t>LR RENO: $48,324 a year, 148 services, under 3 of 4</a:t>
            </a:r>
          </a:p>
          <a:p>
            <a:r>
              <a:t>HONDA NORTH: $38,266 a year, 600 services, under 1 of 4</a:t>
            </a:r>
          </a:p>
          <a:p>
            <a:r>
              <a:t>LR HENDERSON: $33,745 a year, 103 services, under 1 of 4</a:t>
            </a:r>
          </a:p>
          <a:p>
            <a:r>
              <a:t>LR LV: $23,832 a year, 92 services, under 1 of 4</a:t>
            </a:r>
          </a:p>
          <a:p>
            <a:r>
              <a:t>SUBARU PRESCOTT: $12,118 a year, 166 services, under 2 of 4</a:t>
            </a:r>
          </a:p>
          <a:p>
            <a:r>
              <a:t>HYUNDAI PRESCOTT: $10,380 a year, 52 services, under 3 of 4</a:t>
            </a:r>
          </a:p>
          <a:p>
            <a:r>
              <a:t>ACURA: $2,765 a year, 44 services, under 1 of 4</a:t>
            </a:r>
          </a:p>
        </p:txBody>
      </p:sp>
      <p:sp>
        <p:nvSpPr>
          <p:cNvPr id="4" name="Slide Number Placeholder 3"/>
          <p:cNvSpPr>
            <a:spLocks noGrp="1"/>
          </p:cNvSpPr>
          <p:nvPr>
            <p:ph type="sldNum" idx="5" sz="quarter"/>
          </p:nvPr>
        </p:nvSpPr>
        <p:spPr/>
      </p:sp>
    </p:spTree>
  </p:cSld>
  <p:clrMapOvr>
    <a:masterClrMapping/>
  </p:clrMapOvr>
</p:notes>
</file>

<file path=ppt/notesSlides/notesSlide1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 year = Jan-Sep x 12 / 9. Stores at or above the benchmark are not shown and do not offset anyone.Talk track: every one of these cars is already on a customer-pay RO in our drive. The inspection and the menu find the need; the advisor presents it.</a:t>
            </a:r>
          </a:p>
        </p:txBody>
      </p:sp>
      <p:sp>
        <p:nvSpPr>
          <p:cNvPr id="4" name="Slide Number Placeholder 3"/>
          <p:cNvSpPr>
            <a:spLocks noGrp="1"/>
          </p:cNvSpPr>
          <p:nvPr>
            <p:ph type="sldNum" idx="5" sz="quarter"/>
          </p:nvPr>
        </p:nvSpPr>
        <p:spPr/>
      </p:sp>
    </p:spTree>
  </p:cSld>
  <p:clrMapOvr>
    <a:masterClrMapping/>
  </p:clrMapOvr>
</p:notes>
</file>

<file path=ppt/notesSlides/notesSlide1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Internal labor sale / internal sold hours. A higher internal rate adds service gross but is a cost to used cars.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Internal labor sale / internal sold hours. A higher internal rate adds service gross but is a cost to used cars. Jan-Sep 2026 YTD. Green at or above the group, red below.</a:t>
            </a:r>
          </a:p>
        </p:txBody>
      </p:sp>
      <p:sp>
        <p:nvSpPr>
          <p:cNvPr id="4" name="Slide Number Placeholder 3"/>
          <p:cNvSpPr>
            <a:spLocks noGrp="1"/>
          </p:cNvSpPr>
          <p:nvPr>
            <p:ph type="sldNum" idx="5" sz="quarter"/>
          </p:nvPr>
        </p:nvSpPr>
        <p:spPr/>
      </p:sp>
    </p:spTree>
  </p:cSld>
  <p:clrMapOvr>
    <a:masterClrMapping/>
  </p:clrMapOvr>
</p:notes>
</file>

<file path=ppt/notesSlides/notesSlide1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Change in Internal ELR,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Internal labor sale / internal sold hours. A higher internal rate adds service gross but is a cost to used cars. Top and bottom five stores by change in Internal ELR, Jan-Sep 2026 vs 2025. Moving now: Jul-Sep 2026 vs Jan-Mar 2026, each store against itself; the group moved +$5.20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Internal labor gross / internal labor sale. A higher internal margin adds service gross but is a cost to used cars.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Internal labor gross / internal labor sale. A higher internal margin adds service gross but is a cost to used cars. Jan-Sep 2026 YTD. Green at or above the group, red below. Bars start at 50.0%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1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Change in Internal Labor Gross Profit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Internal labor gross / internal labor sale. A higher internal margin adds service gross but is a cost to used cars. Top and bottom five stores by change in Internal Labor Gross Profit %, Jan-Sep 2026 vs 2025. Moving now: Jul-Sep 2026 vs Jan-Mar 2026, each store against itself; the group moved +0.5 pts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Internal parts gross / internal parts sale on repair orders. A higher internal margin adds parts gross but is a cost to used cars.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Internal parts gross / internal parts sale on repair orders. A higher internal margin adds parts gross but is a cost to used cars. Jan-Sep 2026 YTD. Green at or above the group, red below. Bars start at 20.0%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1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Change in Internal Parts Gross Profit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Internal parts gross / internal parts sale on repair orders. A higher internal margin adds parts gross but is a cost to used cars. Top and bottom five stores by change in Internal Parts Gross Profit %, Jan-Sep 2026 vs 2025. Moving now: Jul-Sep 2026 vs Jan-Mar 2026, each store against itself; the group moved +0.5 pts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Productivity section, after the section break and before Fixed Gross per Fixed Employee.</a:t>
            </a:r>
          </a:p>
          <a:p>
            <a:r>
              <a:t>Said: Roundtable slide 6 (People); Jan GM slide 57 (Technician Pipeline).</a:t>
            </a:r>
          </a:p>
          <a:p>
            <a:r>
              <a:t>Numbers rebuilt 2026-10-20 on ADP headcount (Employee Master extract 10/19/2026); the Qlik headcount history undercounted 2025.</a:t>
            </a:r>
          </a:p>
        </p:txBody>
      </p:sp>
      <p:sp>
        <p:nvSpPr>
          <p:cNvPr id="4" name="Slide Number Placeholder 3"/>
          <p:cNvSpPr>
            <a:spLocks noGrp="1"/>
          </p:cNvSpPr>
          <p:nvPr>
            <p:ph type="sldNum" idx="5" sz="quarter"/>
          </p:nvPr>
        </p:nvSpPr>
        <p:spPr/>
      </p:sp>
    </p:spTree>
  </p:cSld>
  <p:clrMapOvr>
    <a:masterClrMapping/>
  </p:clrMapOvr>
</p:notes>
</file>

<file path=ppt/notesSlides/notesSlide1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Productivity section, before CP &amp; W ROs per Service Advisor.</a:t>
            </a:r>
          </a:p>
          <a:p>
            <a:r>
              <a:t>Said: Jan GM slide 16 / May GM slide 12 (Pay Plans aka Work Instructions).</a:t>
            </a:r>
          </a:p>
        </p:txBody>
      </p:sp>
      <p:sp>
        <p:nvSpPr>
          <p:cNvPr id="4" name="Slide Number Placeholder 3"/>
          <p:cNvSpPr>
            <a:spLocks noGrp="1"/>
          </p:cNvSpPr>
          <p:nvPr>
            <p:ph type="sldNum" idx="5" sz="quarter"/>
          </p:nvPr>
        </p:nvSpPr>
        <p:spPr/>
      </p:sp>
    </p:spTree>
  </p:cSld>
  <p:clrMapOvr>
    <a:masterClrMapping/>
  </p:clrMapOvr>
</p:notes>
</file>

<file path=ppt/notesSlides/notesSlide1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fixed ops gross / fixed employees.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fixed ops gross / fixed employees. Jan-Sep 2026 YTD. Green at or above the group, red below.</a:t>
            </a:r>
          </a:p>
        </p:txBody>
      </p:sp>
      <p:sp>
        <p:nvSpPr>
          <p:cNvPr id="4" name="Slide Number Placeholder 3"/>
          <p:cNvSpPr>
            <a:spLocks noGrp="1"/>
          </p:cNvSpPr>
          <p:nvPr>
            <p:ph type="sldNum" idx="5" sz="quarter"/>
          </p:nvPr>
        </p:nvSpPr>
        <p:spPr/>
      </p:sp>
    </p:spTree>
  </p:cSld>
  <p:clrMapOvr>
    <a:masterClrMapping/>
  </p:clrMapOvr>
</p:notes>
</file>

<file path=ppt/notesSlides/notesSlide1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Fixed Gross per Fixed Employee,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fixed ops gross / fixed employees. Top and bottom five stores by change in Fixed Gross per Fixed Employee, Jan-Sep 2026 vs 2025. Moving now: Jul-Sep 2026 vs Jan-Mar 2026, each store against itself; the group moved +$1,107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Qlik - Productivity app, P&amp;L Total Gross Profit - Fixed Ops. Headcount: ADP Employee Master extract 10/19/2026 (rebuilt 2026-10-20; the Qlik headcount history undercounted). Fixed gross per fixed employee = gross / fixed employees, Jan-Sep 2026 monthly average. Same-store, INEOS excluded (opened 2026). GMC Prescott body shop gross and body shop staff excluded. Each store compared with its own segment average a month: luxury $16,998, non-luxury $12,714 (luxury = Lexus, Lincoln, Cadillac, Volvo, Audi Reno, Audi Henderson, LR Reno, LR LV, LR Henderson). Gross/yr = (segment average - store) x the store's average fixed employees x 12. Stores at or above their segment average are not shown. Per emp = the store's fixed gross per fixed employee a month. Seg avg = its segment's average.Framing: gross the team already in the building could produce, not a headcount target. Luxury stores are measured against luxury, non-luxury against non-luxury. Audi Henderson ($23,686) lifts the luxury average; Lincoln ($11,127) sits below even the non-luxury average.</a:t>
            </a:r>
          </a:p>
          <a:p>
            <a:r>
              <a:t>CADILLAC (luxury): $14,260 per employee a month vs $16,998; 74.8 fixed employees; $2,456,862 a year</a:t>
            </a:r>
          </a:p>
          <a:p>
            <a:r>
              <a:t>LINCOLN (luxury): $10,963 per employee a month vs $16,998; 30.2 fixed employees; $2,188,561 a year</a:t>
            </a:r>
          </a:p>
          <a:p>
            <a:r>
              <a:t>CHEVY GMC BULLHEAD (non-luxury): $10,391 per employee a month vs $12,714; 48.4 fixed employees; $1,350,504 a year</a:t>
            </a:r>
          </a:p>
          <a:p>
            <a:r>
              <a:t>CDJR POST FALLS (non-luxury): $9,953 per employee a month vs $12,714; 39.7 fixed employees; $1,314,435 a year</a:t>
            </a:r>
          </a:p>
          <a:p>
            <a:r>
              <a:t>CHEVY LV (non-luxury): $12,042 per employee a month vs $12,714; 152.7 fixed employees; $1,232,343 a year</a:t>
            </a:r>
          </a:p>
          <a:p>
            <a:r>
              <a:t>TOYOTA SPOKANE (non-luxury): $11,128 per employee a month vs $12,714; 59.2 fixed employees; $1,127,104 a year</a:t>
            </a:r>
          </a:p>
          <a:p>
            <a:r>
              <a:t>TOYOTA FLAGSTAFF (non-luxury): $10,794 per employee a month vs $12,714; 46.0 fixed employees; $1,060,118 a year</a:t>
            </a:r>
          </a:p>
          <a:p>
            <a:r>
              <a:t>GMC PRESCOTT (non-luxury): $9,498 per employee a month vs $12,714; 26.6 fixed employees; $1,024,925 a year</a:t>
            </a:r>
          </a:p>
          <a:p>
            <a:r>
              <a:t>TOYOTA PRESCOTT (non-luxury): $11,044 per employee a month vs $12,714; 51.1 fixed employees; $1,024,357 a year</a:t>
            </a:r>
          </a:p>
          <a:p>
            <a:r>
              <a:t>AUDI RENO (luxury): $14,916 per employee a month vs $16,998; 33.2 fixed employees; $830,073 a year</a:t>
            </a:r>
          </a:p>
          <a:p>
            <a:r>
              <a:t>HONDA FLAGSTAFF (non-luxury): $9,149 per employee a month vs $12,714; 19.3 fixed employees; $827,082 a year</a:t>
            </a:r>
          </a:p>
          <a:p>
            <a:r>
              <a:t>NISSAN (non-luxury): $11,957 per employee a month vs $12,714; 44.4 fixed employees; $403,638 a year</a:t>
            </a:r>
          </a:p>
          <a:p>
            <a:r>
              <a:t>VW HENDERSON (non-luxury): $12,006 per employee a month vs $12,714; 44.3 fixed employees; $376,895 a year</a:t>
            </a:r>
          </a:p>
          <a:p>
            <a:r>
              <a:t>VW ST GEORGE (non-luxury): $9,878 per employee a month vs $12,714; 10.9 fixed employees; $370,634 a year</a:t>
            </a:r>
          </a:p>
          <a:p>
            <a:r>
              <a:t>LR RENO (luxury): $15,226 per employee a month vs $16,998; 16.1 fixed employees; $342,526 a year</a:t>
            </a:r>
          </a:p>
          <a:p>
            <a:r>
              <a:t>HYUNDAI ST GEORGE (non-luxury): $11,541 per employee a month vs $12,714; 22.0 fixed employees; $309,678 a year</a:t>
            </a:r>
          </a:p>
          <a:p>
            <a:r>
              <a:t>HYUNDAI PRESCOTT (non-luxury): $11,631 per employee a month vs $12,714; 14.7 fixed employees; $190,674 a year</a:t>
            </a:r>
          </a:p>
          <a:p>
            <a:r>
              <a:t>KIA ST GEORGE (non-luxury): $12,103 per employee a month vs $12,714; 21.4 fixed employees; $157,193 a year</a:t>
            </a:r>
          </a:p>
          <a:p>
            <a:r>
              <a:t>ACURA (non-luxury): $12,364 per employee a month vs $12,714; 26.0 fixed employees; $109,303 a year</a:t>
            </a:r>
          </a:p>
          <a:p>
            <a:r>
              <a:t>SUBARU PRESCOTT (non-luxury): $12,501 per employee a month vs $12,714; 24.0 fixed employees; $61,379 a year</a:t>
            </a:r>
          </a:p>
          <a:p>
            <a:r>
              <a:t>LEXUS (luxury): $16,919 per employee a month vs $16,998; 27.2 fixed employees; $25,739 a year</a:t>
            </a:r>
          </a:p>
        </p:txBody>
      </p:sp>
      <p:sp>
        <p:nvSpPr>
          <p:cNvPr id="4" name="Slide Number Placeholder 3"/>
          <p:cNvSpPr>
            <a:spLocks noGrp="1"/>
          </p:cNvSpPr>
          <p:nvPr>
            <p:ph type="sldNum" idx="5" sz="quarter"/>
          </p:nvPr>
        </p:nvSpPr>
        <p:spPr/>
      </p:sp>
    </p:spTree>
  </p:cSld>
  <p:clrMapOvr>
    <a:masterClrMapping/>
  </p:clrMapOvr>
</p:notes>
</file>

<file path=ppt/notesSlides/notesSlide1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Qlik - Productivity app, P&amp;L Total Gross Profit - Fixed Ops. Headcount: ADP Employee Master extract 10/19/2026 (rebuilt 2026-10-20; the Qlik headcount history undercounted). Fixed gross per fixed employee = gross / fixed employees, Jan-Sep 2026 monthly average. Same-store, INEOS excluded (opened 2026). GMC Prescott body shop gross and body shop staff excluded. Each store is measured against its own number: Target = today + 5%. Gross/yr = 5% x the store's gross per employee x its average fixed employees x 12 (the same staff producing 5% more). Per working day uses 307 days open a year (6 days a week less the 6 service holidays). Today and Target = fixed gross per fixed employee a month.Framing: every store is measured against itself, so an Audi store does not set a Lincoln store's target. 5% is roughly one more customer-pay RO a day for a small store, or a few tenths of an hour per RO.</a:t>
            </a:r>
          </a:p>
          <a:p>
            <a:r>
              <a:t>TOYOTA HENDERSON: $14,174 today -&gt; $14,883 target per employee a month; 177.1 fixed employees; $1,506,225 a year</a:t>
            </a:r>
          </a:p>
          <a:p>
            <a:r>
              <a:t>CHEVY LV: $12,042 today -&gt; $12,644 target per employee a month; 152.7 fixed employees; $1,103,005 a year</a:t>
            </a:r>
          </a:p>
          <a:p>
            <a:r>
              <a:t>HONDA HENDERSON: $16,061 today -&gt; $16,864 target per employee a month; 99.8 fixed employees; $961,535 a year</a:t>
            </a:r>
          </a:p>
          <a:p>
            <a:r>
              <a:t>AUDI HENDERSON: $23,461 today -&gt; $24,634 target per employee a month; 58.4 fixed employees; $822,684 a year</a:t>
            </a:r>
          </a:p>
          <a:p>
            <a:r>
              <a:t>SUBARU LV: $12,874 today -&gt; $13,518 target per employee a month; 87.0 fixed employees; $672,026 a year</a:t>
            </a:r>
          </a:p>
          <a:p>
            <a:r>
              <a:t>CADILLAC: $14,260 today -&gt; $14,973 target per employee a month; 74.8 fixed employees; $639,799 a year</a:t>
            </a:r>
          </a:p>
          <a:p>
            <a:r>
              <a:t>HONDA NORTH: $14,604 today -&gt; $15,334 target per employee a month; 65.6 fixed employees; $574,425 a year</a:t>
            </a:r>
          </a:p>
          <a:p>
            <a:r>
              <a:t>LR LV: $18,148 today -&gt; $19,056 target per employee a month; 40.4 fixed employees; $440,403 a year</a:t>
            </a:r>
          </a:p>
          <a:p>
            <a:r>
              <a:t>KIA LV: $13,289 today -&gt; $13,954 target per employee a month; 51.4 fixed employees; $410,199 a year</a:t>
            </a:r>
          </a:p>
          <a:p>
            <a:r>
              <a:t>TOYOTA SPOKANE: $11,128 today -&gt; $11,685 target per employee a month; 59.2 fixed employees; $395,423 a year</a:t>
            </a:r>
          </a:p>
          <a:p>
            <a:r>
              <a:t>TOYOTA PRESCOTT: $11,044 today -&gt; $11,596 target per employee a month; 51.1 fixed employees; $338,685 a year</a:t>
            </a:r>
          </a:p>
          <a:p>
            <a:r>
              <a:t>VW HENDERSON: $12,006 today -&gt; $12,606 target per employee a month; 44.3 fixed employees; $319,353 a year</a:t>
            </a:r>
          </a:p>
          <a:p>
            <a:r>
              <a:t>NISSAN: $11,957 today -&gt; $12,555 target per employee a month; 44.4 fixed employees; $318,864 a year</a:t>
            </a:r>
          </a:p>
          <a:p>
            <a:r>
              <a:t>CHEVY GMC BULLHEAD: $10,391 today -&gt; $10,911 target per employee a month; 48.4 fixed employees; $302,035 a year</a:t>
            </a:r>
          </a:p>
          <a:p>
            <a:r>
              <a:t>TOYOTA FLAGSTAFF: $10,794 today -&gt; $11,333 target per employee a month; 46.0 fixed employees; $297,906 a year</a:t>
            </a:r>
          </a:p>
          <a:p>
            <a:r>
              <a:t>AUDI RENO: $14,916 today -&gt; $15,662 target per employee a month; 33.2 fixed employees; $297,322 a year</a:t>
            </a:r>
          </a:p>
          <a:p>
            <a:r>
              <a:t>HONDA SPOKANE: $12,871 today -&gt; $13,514 target per employee a month; 36.1 fixed employees; $278,863 a year</a:t>
            </a:r>
          </a:p>
          <a:p>
            <a:r>
              <a:t>LEXUS: $16,919 today -&gt; $17,765 target per employee a month; 27.2 fixed employees; $276,346 a year</a:t>
            </a:r>
          </a:p>
          <a:p>
            <a:r>
              <a:t>VOLVO: $18,549 today -&gt; $19,476 target per employee a month; 23.4 fixed employees; $260,917 a year</a:t>
            </a:r>
          </a:p>
          <a:p>
            <a:r>
              <a:t>CDJR POST FALLS: $9,953 today -&gt; $10,450 target per employee a month; 39.7 fixed employees; $236,877 a year</a:t>
            </a:r>
          </a:p>
          <a:p>
            <a:r>
              <a:t>SUBARU ST GEORGE: $15,556 today -&gt; $16,333 target per employee a month; 25.1 fixed employees; $234,372 a year</a:t>
            </a:r>
          </a:p>
          <a:p>
            <a:r>
              <a:t>LR HENDERSON: $18,268 today -&gt; $19,182 target per employee a month; 20.8 fixed employees; $227,743 a year</a:t>
            </a:r>
          </a:p>
          <a:p>
            <a:r>
              <a:t>MAZDA: $15,966 today -&gt; $16,765 target per employee a month; 23.0 fixed employees; $220,335 a year</a:t>
            </a:r>
          </a:p>
          <a:p>
            <a:r>
              <a:t>LINCOLN: $10,963 today -&gt; $11,511 target per employee a month; 30.2 fixed employees; $198,802 a year</a:t>
            </a:r>
          </a:p>
          <a:p>
            <a:r>
              <a:t>ACURA: $12,364 today -&gt; $12,982 target per employee a month; 26.0 fixed employees; $192,877 a year</a:t>
            </a:r>
          </a:p>
          <a:p>
            <a:r>
              <a:t>SUBARU PRESCOTT: $12,501 today -&gt; $13,126 target per employee a month; 24.0 fixed employees; $180,016 a year</a:t>
            </a:r>
          </a:p>
          <a:p>
            <a:r>
              <a:t>KIA ST GEORGE: $12,103 today -&gt; $12,709 target per employee a month; 21.4 fixed employees; $155,730 a year</a:t>
            </a:r>
          </a:p>
          <a:p>
            <a:r>
              <a:t>HYUNDAI ST GEORGE: $11,541 today -&gt; $12,118 target per employee a month; 22.0 fixed employees; $152,344 a year</a:t>
            </a:r>
          </a:p>
          <a:p>
            <a:r>
              <a:t>GMC PRESCOTT: $9,498 today -&gt; $9,973 target per employee a month; 26.6 fixed employees; $151,334 a year</a:t>
            </a:r>
          </a:p>
          <a:p>
            <a:r>
              <a:t>LR RENO: $15,226 today -&gt; $15,988 target per employee a month; 16.1 fixed employees; $147,187 a year</a:t>
            </a:r>
          </a:p>
          <a:p>
            <a:r>
              <a:t>HONDA FLAGSTAFF: $9,149 today -&gt; $9,607 target per employee a month; 19.3 fixed employees; $106,131 a year</a:t>
            </a:r>
          </a:p>
          <a:p>
            <a:r>
              <a:t>HYUNDAI PRESCOTT: $11,631 today -&gt; $12,212 target per employee a month; 14.7 fixed employees; $102,351 a year</a:t>
            </a:r>
          </a:p>
          <a:p>
            <a:r>
              <a:t>VW ST GEORGE: $9,878 today -&gt; $10,372 target per employee a month; 10.9 fixed employees; $64,535 a year</a:t>
            </a:r>
          </a:p>
        </p:txBody>
      </p:sp>
      <p:sp>
        <p:nvSpPr>
          <p:cNvPr id="4" name="Slide Number Placeholder 3"/>
          <p:cNvSpPr>
            <a:spLocks noGrp="1"/>
          </p:cNvSpPr>
          <p:nvPr>
            <p:ph type="sldNum" idx="5" sz="quarter"/>
          </p:nvPr>
        </p:nvSpPr>
        <p:spPr/>
      </p:sp>
    </p:spTree>
  </p:cSld>
  <p:clrMapOvr>
    <a:masterClrMapping/>
  </p:clrMapOvr>
</p:notes>
</file>

<file path=ppt/notesSlides/notesSlide1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service advisors.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service advisors.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1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CP &amp; W ROs per Service Advisor,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service advisors. Top and bottom five stores by change in CP &amp; W ROs per Service Advisor, Jan-Sep 2026 vs 2025. Moving now: Jul-Sep 2026 vs Jan-Mar 2026, each store against itself; the group moved +15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employees.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employees.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1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CP &amp; W ROs per Fixed Employee,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employees. Top and bottom five stores by change in CP &amp; W ROs per Fixed Employee, Jan-Sep 2026 vs 2025. Moving now: Jul-Sep 2026 vs Jan-Mar 2026, each store against itself; the group moved +1.8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managers. Small stores carry one to three managers, so one hire moves the ratio sharply.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managers. Small stores carry one to three managers, so one hire moves the ratio sharply.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1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CP &amp; W ROs per Fixed Manager,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managers. Small stores carry one to three managers, so one hire moves the ratio sharply. Top and bottom five stores by change in CP &amp; W ROs per Fixed Manager, Jan-Sep 2026 vs 2025. Moving now: Jul-Sep 2026 vs Jan-Mar 2026, each store against itself; the group moved +38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YTD = average month-end fixed headcount, Jan-Sep. Fixed employees include managers; technicians = service, express, foreman and team-leader titles. 2025 shown January-December.</a:t>
            </a:r>
          </a:p>
          <a:p>
            <a:r>
              <a:t>Jan 25: 1625 fixed, 703 techs, 238 advisors, 117 managers</a:t>
            </a:r>
          </a:p>
          <a:p>
            <a:r>
              <a:t>Feb 25: 1632 fixed, 705 techs, 237 advisors, 116 managers</a:t>
            </a:r>
          </a:p>
          <a:p>
            <a:r>
              <a:t>Mar 25: 1629 fixed, 702 techs, 240 advisors, 116 managers</a:t>
            </a:r>
          </a:p>
          <a:p>
            <a:r>
              <a:t>Apr 25: 1615 fixed, 695 techs, 242 advisors, 111 managers</a:t>
            </a:r>
          </a:p>
          <a:p>
            <a:r>
              <a:t>May 25: 1623 fixed, 699 techs, 250 advisors, 111 managers</a:t>
            </a:r>
          </a:p>
          <a:p>
            <a:r>
              <a:t>Jun 25: 1616 fixed, 695 techs, 247 advisors, 109 managers</a:t>
            </a:r>
          </a:p>
          <a:p>
            <a:r>
              <a:t>Jul 25: 1629 fixed, 705 techs, 247 advisors, 110 managers</a:t>
            </a:r>
          </a:p>
          <a:p>
            <a:r>
              <a:t>Aug 25: 1627 fixed, 701 techs, 251 advisors, 110 managers</a:t>
            </a:r>
          </a:p>
          <a:p>
            <a:r>
              <a:t>Sep 25: 1616 fixed, 701 techs, 248 advisors, 107 managers</a:t>
            </a:r>
          </a:p>
          <a:p>
            <a:r>
              <a:t>Oct 25: 1604 fixed, 688 techs, 249 advisors, 109 managers</a:t>
            </a:r>
          </a:p>
          <a:p>
            <a:r>
              <a:t>Nov 25: 1582 fixed, 685 techs, 247 advisors, 107 managers</a:t>
            </a:r>
          </a:p>
          <a:p>
            <a:r>
              <a:t>Dec 25: 1563 fixed, 674 techs, 249 advisors, 107 managers</a:t>
            </a:r>
          </a:p>
          <a:p>
            <a:r>
              <a:t>Jan 26: 1530 fixed, 657 techs, 248 advisors, 106 managers</a:t>
            </a:r>
          </a:p>
          <a:p>
            <a:r>
              <a:t>Feb 26: 1530 fixed, 670 techs, 245 advisors, 108 managers</a:t>
            </a:r>
          </a:p>
          <a:p>
            <a:r>
              <a:t>Mar 26: 1540 fixed, 669 techs, 252 advisors, 107 managers</a:t>
            </a:r>
          </a:p>
          <a:p>
            <a:r>
              <a:t>Apr 26: 1545 fixed, 687 techs, 250 advisors, 106 managers</a:t>
            </a:r>
          </a:p>
          <a:p>
            <a:r>
              <a:t>May 26: 1537 fixed, 680 techs, 254 advisors, 105 managers</a:t>
            </a:r>
          </a:p>
          <a:p>
            <a:r>
              <a:t>Jun 26: 1546 fixed, 684 techs, 250 advisors, 105 managers</a:t>
            </a:r>
          </a:p>
          <a:p>
            <a:r>
              <a:t>Jul 26: 1548 fixed, 682 techs, 250 advisors, 106 managers</a:t>
            </a:r>
          </a:p>
          <a:p>
            <a:r>
              <a:t>Aug 26: 1549 fixed, 684 techs, 244 advisors, 104 managers</a:t>
            </a:r>
          </a:p>
          <a:p>
            <a:r>
              <a:t>Sep 26: 1540 fixed, 684 techs, 241 advisors, 104 managers</a:t>
            </a:r>
          </a:p>
        </p:txBody>
      </p:sp>
      <p:sp>
        <p:nvSpPr>
          <p:cNvPr id="4" name="Slide Number Placeholder 3"/>
          <p:cNvSpPr>
            <a:spLocks noGrp="1"/>
          </p:cNvSpPr>
          <p:nvPr>
            <p:ph type="sldNum" idx="5" sz="quarter"/>
          </p:nvPr>
        </p:nvSpPr>
        <p:spPr/>
      </p:sp>
    </p:spTree>
  </p:cSld>
  <p:clrMapOvr>
    <a:masterClrMapping/>
  </p:clrMapOvr>
</p:notes>
</file>

<file path=ppt/notesSlides/notesSlide1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fixed ops headcount, Sep 2026 vs Sep 2025, most added first. Neutral colour: added staff can be growth or excess.</a:t>
            </a:r>
          </a:p>
        </p:txBody>
      </p:sp>
      <p:sp>
        <p:nvSpPr>
          <p:cNvPr id="4" name="Slide Number Placeholder 3"/>
          <p:cNvSpPr>
            <a:spLocks noGrp="1"/>
          </p:cNvSpPr>
          <p:nvPr>
            <p:ph type="sldNum" idx="5" sz="quarter"/>
          </p:nvPr>
        </p:nvSpPr>
        <p:spPr/>
      </p:sp>
    </p:spTree>
  </p:cSld>
  <p:clrMapOvr>
    <a:masterClrMapping/>
  </p:clrMapOvr>
</p:notes>
</file>

<file path=ppt/notesSlides/notesSlide1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Technician Proficiency section, after the section break and before the store proficiency ranker.</a:t>
            </a:r>
          </a:p>
          <a:p>
            <a:r>
              <a:t>Said: Roundtable slide 22 (Technicians &amp; Stalls); Jan GM slide 52 / May GM slide 16 (MPI Completion and Tech Efficiency).</a:t>
            </a:r>
          </a:p>
          <a:p>
            <a:r>
              <a:t>Now: proficiency slides (ADP worked hours + Qlik sold hours, Dec 25-Oct 9, with the foreman 30%, tech 10%, role-change and keying-error rules).</a:t>
            </a:r>
          </a:p>
        </p:txBody>
      </p:sp>
      <p:sp>
        <p:nvSpPr>
          <p:cNvPr id="4" name="Slide Number Placeholder 3"/>
          <p:cNvSpPr>
            <a:spLocks noGrp="1"/>
          </p:cNvSpPr>
          <p:nvPr>
            <p:ph type="sldNum" idx="5" sz="quarter"/>
          </p:nvPr>
        </p:nvSpPr>
        <p:spPr/>
      </p:sp>
    </p:spTree>
  </p:cSld>
  <p:clrMapOvr>
    <a:masterClrMapping/>
  </p:clrMapOvr>
</p:notes>
</file>

<file path=ppt/notesSlides/notesSlide1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Technician Proficiency, after the section break, in front of the store ranker.</a:t>
            </a:r>
          </a:p>
          <a:p>
            <a:r>
              <a:t>Proficiency uses ADP worked hours (regular + overtime), so it includes time not on an RO. Efficiency would use DMS time punched on jobs, which this data does not have.</a:t>
            </a:r>
          </a:p>
        </p:txBody>
      </p:sp>
      <p:sp>
        <p:nvSpPr>
          <p:cNvPr id="4" name="Slide Number Placeholder 3"/>
          <p:cNvSpPr>
            <a:spLocks noGrp="1"/>
          </p:cNvSpPr>
          <p:nvPr>
            <p:ph type="sldNum" idx="5" sz="quarter"/>
          </p:nvPr>
        </p:nvSpPr>
        <p:spPr/>
      </p:sp>
    </p:spTree>
  </p:cSld>
  <p:clrMapOvr>
    <a:masterClrMapping/>
  </p:clrMapOvr>
</p:notes>
</file>

<file path=ppt/notesSlides/notesSlide1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right after 'What Is Technician Proficiency?'.</a:t>
            </a:r>
          </a:p>
          <a:p>
            <a:r>
              <a:t>Rules as applied on the proficiency slides (Oct 16 2026). Express techs at stores that pool express hours are mostly excluded by the 10% rule.</a:t>
            </a:r>
          </a:p>
        </p:txBody>
      </p:sp>
      <p:sp>
        <p:nvSpPr>
          <p:cNvPr id="4" name="Slide Number Placeholder 3"/>
          <p:cNvSpPr>
            <a:spLocks noGrp="1"/>
          </p:cNvSpPr>
          <p:nvPr>
            <p:ph type="sldNum" idx="5" sz="quarter"/>
          </p:nvPr>
        </p:nvSpPr>
        <p:spPr/>
      </p:sp>
    </p:spTree>
  </p:cSld>
  <p:clrMapOvr>
    <a:masterClrMapping/>
  </p:clrMapOvr>
</p:notes>
</file>

<file path=ppt/notesSlides/notesSlide1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ADP worked hours (regular + overtime) and Qlik - Closed Repair Orders sold hours, all pay types, matched by tech number. Dec 25, 2025 - Oct 9, 2026 (shown as Jan-Sep). Same-store, INEOS excluded (opened 2026). Service, express, team-leader and shop-foreman titles only; body shop, detail and tint excluded. Outliers dropped: shop foremen at or below 30% (workbook uses 20%; under 30% a foreman is mainly dispatching), team leaders at or below 20%, service and express technicians at or below 10% (workbook uses 2%; under 10% a tech is not working as a line tech). Unassigned codes (MULT, 999, 77777) excluded. Role changes: ADP shows one current title with worked hours for the whole period, so when a tech's worked hours exceed 125% of full time over the months they actually flagged, worked hours are scaled to that span (56 techs). 45 keying-error lines removed from sold hours (5,399 hrs: single lines of 20+ hours with under $25 labor sale per hour, e.g. 940.58 hrs for $0 at Hyundai St George, RO 177970). Proficiency = sold hours / worked hours, from store totals. Green at or above 85%, red below. Bars start at 40%.ACURA: 67.4% (11,339 sold / 16,815 worked, 11 techs: 0 above, 0 on, 11 under)</a:t>
            </a:r>
          </a:p>
          <a:p>
            <a:r>
              <a:t>AUDI HENDERSON: 91.0% (33,481 sold / 36,766 worked, 23 techs: 6 above, 4 on, 13 under)</a:t>
            </a:r>
          </a:p>
          <a:p>
            <a:r>
              <a:t>AUDI RENO: 117.1% (15,985 sold / 13,640 worked, 10 techs: 6 above, 0 on, 4 under)</a:t>
            </a:r>
          </a:p>
          <a:p>
            <a:r>
              <a:t>CADILLAC: 87.7% (42,358 sold / 48,277 worked, 29 techs: 8 above, 5 on, 16 under)</a:t>
            </a:r>
          </a:p>
          <a:p>
            <a:r>
              <a:t>CDJR POST FALLS: 71.2% (14,538 sold / 20,418 worked, 14 techs: 4 above, 1 on, 9 under)</a:t>
            </a:r>
          </a:p>
          <a:p>
            <a:r>
              <a:t>CHEVY GMC BULLHEAD: 68.4% (19,904 sold / 29,093 worked, 20 techs: 2 above, 2 on, 16 under)</a:t>
            </a:r>
          </a:p>
          <a:p>
            <a:r>
              <a:t>CHEVY LV: 103.4% (81,675 sold / 78,983 worked, 51 techs: 21 above, 14 on, 16 under)</a:t>
            </a:r>
          </a:p>
          <a:p>
            <a:r>
              <a:t>GMC PRESCOTT: 73.6% (10,985 sold / 14,924 worked, 12 techs: 1 above, 4 on, 7 under)</a:t>
            </a:r>
          </a:p>
          <a:p>
            <a:r>
              <a:t>HONDA FLAGSTAFF: 78.5% (7,653 sold / 9,743 worked, 6 techs: 2 above, 0 on, 4 under)</a:t>
            </a:r>
          </a:p>
          <a:p>
            <a:r>
              <a:t>HONDA HENDERSON: 118.5% (61,099 sold / 51,555 worked, 28 techs: 16 above, 7 on, 5 under)</a:t>
            </a:r>
          </a:p>
          <a:p>
            <a:r>
              <a:t>HONDA NORTH: 109.3% (39,419 sold / 36,062 worked, 22 techs: 10 above, 8 on, 4 under)</a:t>
            </a:r>
          </a:p>
          <a:p>
            <a:r>
              <a:t>HONDA SPOKANE: 109.0% (17,638 sold / 16,169 worked, 15 techs: 10 above, 3 on, 2 under)</a:t>
            </a:r>
          </a:p>
          <a:p>
            <a:r>
              <a:t>HYUNDAI PRESCOTT: 78.8% (9,116 sold / 11,564 worked, 9 techs: 1 above, 2 on, 6 under)</a:t>
            </a:r>
          </a:p>
          <a:p>
            <a:r>
              <a:t>HYUNDAI ST GEORGE: 69.0% (9,329 sold / 13,515 worked, 11 techs: 3 above, 0 on, 8 under)</a:t>
            </a:r>
          </a:p>
          <a:p>
            <a:r>
              <a:t>KIA LV: 76.8% (20,682 sold / 26,909 worked, 20 techs: 2 above, 2 on, 16 under)</a:t>
            </a:r>
          </a:p>
          <a:p>
            <a:r>
              <a:t>KIA ST GEORGE: 67.5% (11,981 sold / 17,746 worked, 12 techs: 1 above, 2 on, 9 under)</a:t>
            </a:r>
          </a:p>
          <a:p>
            <a:r>
              <a:t>LEXUS: 104.7% (16,940 sold / 16,175 worked, 11 techs: 4 above, 1 on, 6 under)</a:t>
            </a:r>
          </a:p>
          <a:p>
            <a:r>
              <a:t>LINCOLN: 94.9% (15,983 sold / 16,836 worked, 11 techs: 4 above, 2 on, 5 under)</a:t>
            </a:r>
          </a:p>
          <a:p>
            <a:r>
              <a:t>LR HENDERSON: 106.0% (11,497 sold / 10,838 worked, 7 techs: 3 above, 1 on, 3 under)</a:t>
            </a:r>
          </a:p>
          <a:p>
            <a:r>
              <a:t>LR LV: 91.2% (20,301 sold / 22,258 worked, 16 techs: 5 above, 3 on, 8 under)</a:t>
            </a:r>
          </a:p>
          <a:p>
            <a:r>
              <a:t>LR RENO: 81.4% (7,559 sold / 9,283 worked, 6 techs: 1 above, 3 on, 2 under)</a:t>
            </a:r>
          </a:p>
          <a:p>
            <a:r>
              <a:t>MAZDA: 101.6% (14,560 sold / 14,322 worked, 11 techs: 5 above, 2 on, 4 under)</a:t>
            </a:r>
          </a:p>
          <a:p>
            <a:r>
              <a:t>NISSAN: 91.1% (24,792 sold / 27,197 worked, 17 techs: 3 above, 6 on, 8 under)</a:t>
            </a:r>
          </a:p>
          <a:p>
            <a:r>
              <a:t>SUBARU LV: 96.9% (41,501 sold / 42,797 worked, 27 techs: 9 above, 7 on, 11 under)</a:t>
            </a:r>
          </a:p>
          <a:p>
            <a:r>
              <a:t>SUBARU PRESCOTT: 98.4% (17,475 sold / 17,747 worked, 12 techs: 6 above, 0 on, 6 under)</a:t>
            </a:r>
          </a:p>
          <a:p>
            <a:r>
              <a:t>SUBARU ST GEORGE: 109.7% (20,954 sold / 19,086 worked, 12 techs: 9 above, 0 on, 3 under)</a:t>
            </a:r>
          </a:p>
          <a:p>
            <a:r>
              <a:t>TOYOTA FLAGSTAFF: 102.4% (31,978 sold / 31,216 worked, 18 techs: 7 above, 5 on, 6 under)</a:t>
            </a:r>
          </a:p>
          <a:p>
            <a:r>
              <a:t>TOYOTA HENDERSON: 104.3% (104,465 sold / 100,080 worked, 59 techs: 22 above, 17 on, 20 under)</a:t>
            </a:r>
          </a:p>
          <a:p>
            <a:r>
              <a:t>TOYOTA PRESCOTT: 83.6% (29,341 sold / 35,081 worked, 22 techs: 6 above, 5 on, 11 under)</a:t>
            </a:r>
          </a:p>
          <a:p>
            <a:r>
              <a:t>TOYOTA SPOKANE: 108.0% (35,947 sold / 33,274 worked, 28 techs: 15 above, 9 on, 4 under)</a:t>
            </a:r>
          </a:p>
          <a:p>
            <a:r>
              <a:t>VOLVO: 72.3% (10,479 sold / 14,475 worked, 9 techs: 0 above, 1 on, 8 under)</a:t>
            </a:r>
          </a:p>
          <a:p>
            <a:r>
              <a:t>VW HENDERSON: 92.2% (25,394 sold / 27,527 worked, 19 techs: 6 above, 7 on, 6 under)</a:t>
            </a:r>
          </a:p>
          <a:p>
            <a:r>
              <a:t>VW ST GEORGE: 70.0% (5,375 sold / 7,674 worked, 5 techs: 0 above, 0 on, 5 under)</a:t>
            </a:r>
          </a:p>
        </p:txBody>
      </p:sp>
      <p:sp>
        <p:nvSpPr>
          <p:cNvPr id="4" name="Slide Number Placeholder 3"/>
          <p:cNvSpPr>
            <a:spLocks noGrp="1"/>
          </p:cNvSpPr>
          <p:nvPr>
            <p:ph type="sldNum" idx="5" sz="quarter"/>
          </p:nvPr>
        </p:nvSpPr>
        <p:spPr/>
      </p:sp>
    </p:spTree>
  </p:cSld>
  <p:clrMapOvr>
    <a:masterClrMapping/>
  </p:clrMapOvr>
</p:notes>
</file>

<file path=ppt/notesSlides/notesSlide1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ADP worked hours (regular + overtime) and Qlik - Closed Repair Orders sold hours, all pay types, matched by tech number. Dec 25, 2025 - Oct 9, 2026 (shown as Jan-Sep). Same-store, INEOS excluded (opened 2026). Service, express, team-leader and shop-foreman titles only; body shop, detail and tint excluded. Outliers dropped: shop foremen at or below 30% (workbook uses 20%; under 30% a foreman is mainly dispatching), team leaders at or below 20%, service and express technicians at or below 10% (workbook uses 2%; under 10% a tech is not working as a line tech). Unassigned codes (MULT, 999, 77777) excluded. Role changes: ADP shows one current title with worked hours for the whole period, so when a tech's worked hours exceed 125% of full time over the months they actually flagged, worked hours are scaled to that span (56 techs). 45 keying-error lines removed from sold hours (5,399 hrs: single lines of 20+ hours with under $25 labor sale per hour, e.g. 940.58 hrs for $0 at Hyundai St George, RO 177970). Share of each store's technicians by proficiency band (workbook status: Above Target, On Target, Under Target), most above first.ACURA: 67.4% (11,339 sold / 16,815 worked, 11 techs: 0 above, 0 on, 11 under)</a:t>
            </a:r>
          </a:p>
          <a:p>
            <a:r>
              <a:t>AUDI HENDERSON: 91.0% (33,481 sold / 36,766 worked, 23 techs: 6 above, 4 on, 13 under)</a:t>
            </a:r>
          </a:p>
          <a:p>
            <a:r>
              <a:t>AUDI RENO: 117.1% (15,985 sold / 13,640 worked, 10 techs: 6 above, 0 on, 4 under)</a:t>
            </a:r>
          </a:p>
          <a:p>
            <a:r>
              <a:t>CADILLAC: 87.7% (42,358 sold / 48,277 worked, 29 techs: 8 above, 5 on, 16 under)</a:t>
            </a:r>
          </a:p>
          <a:p>
            <a:r>
              <a:t>CDJR POST FALLS: 71.2% (14,538 sold / 20,418 worked, 14 techs: 4 above, 1 on, 9 under)</a:t>
            </a:r>
          </a:p>
          <a:p>
            <a:r>
              <a:t>CHEVY GMC BULLHEAD: 68.4% (19,904 sold / 29,093 worked, 20 techs: 2 above, 2 on, 16 under)</a:t>
            </a:r>
          </a:p>
          <a:p>
            <a:r>
              <a:t>CHEVY LV: 103.4% (81,675 sold / 78,983 worked, 51 techs: 21 above, 14 on, 16 under)</a:t>
            </a:r>
          </a:p>
          <a:p>
            <a:r>
              <a:t>GMC PRESCOTT: 73.6% (10,985 sold / 14,924 worked, 12 techs: 1 above, 4 on, 7 under)</a:t>
            </a:r>
          </a:p>
          <a:p>
            <a:r>
              <a:t>HONDA FLAGSTAFF: 78.5% (7,653 sold / 9,743 worked, 6 techs: 2 above, 0 on, 4 under)</a:t>
            </a:r>
          </a:p>
          <a:p>
            <a:r>
              <a:t>HONDA HENDERSON: 118.5% (61,099 sold / 51,555 worked, 28 techs: 16 above, 7 on, 5 under)</a:t>
            </a:r>
          </a:p>
          <a:p>
            <a:r>
              <a:t>HONDA NORTH: 109.3% (39,419 sold / 36,062 worked, 22 techs: 10 above, 8 on, 4 under)</a:t>
            </a:r>
          </a:p>
          <a:p>
            <a:r>
              <a:t>HONDA SPOKANE: 109.0% (17,638 sold / 16,169 worked, 15 techs: 10 above, 3 on, 2 under)</a:t>
            </a:r>
          </a:p>
          <a:p>
            <a:r>
              <a:t>HYUNDAI PRESCOTT: 78.8% (9,116 sold / 11,564 worked, 9 techs: 1 above, 2 on, 6 under)</a:t>
            </a:r>
          </a:p>
          <a:p>
            <a:r>
              <a:t>HYUNDAI ST GEORGE: 69.0% (9,329 sold / 13,515 worked, 11 techs: 3 above, 0 on, 8 under)</a:t>
            </a:r>
          </a:p>
          <a:p>
            <a:r>
              <a:t>KIA LV: 76.8% (20,682 sold / 26,909 worked, 20 techs: 2 above, 2 on, 16 under)</a:t>
            </a:r>
          </a:p>
          <a:p>
            <a:r>
              <a:t>KIA ST GEORGE: 67.5% (11,981 sold / 17,746 worked, 12 techs: 1 above, 2 on, 9 under)</a:t>
            </a:r>
          </a:p>
          <a:p>
            <a:r>
              <a:t>LEXUS: 104.7% (16,940 sold / 16,175 worked, 11 techs: 4 above, 1 on, 6 under)</a:t>
            </a:r>
          </a:p>
          <a:p>
            <a:r>
              <a:t>LINCOLN: 94.9% (15,983 sold / 16,836 worked, 11 techs: 4 above, 2 on, 5 under)</a:t>
            </a:r>
          </a:p>
          <a:p>
            <a:r>
              <a:t>LR HENDERSON: 106.0% (11,497 sold / 10,838 worked, 7 techs: 3 above, 1 on, 3 under)</a:t>
            </a:r>
          </a:p>
          <a:p>
            <a:r>
              <a:t>LR LV: 91.2% (20,301 sold / 22,258 worked, 16 techs: 5 above, 3 on, 8 under)</a:t>
            </a:r>
          </a:p>
          <a:p>
            <a:r>
              <a:t>LR RENO: 81.4% (7,559 sold / 9,283 worked, 6 techs: 1 above, 3 on, 2 under)</a:t>
            </a:r>
          </a:p>
          <a:p>
            <a:r>
              <a:t>MAZDA: 101.6% (14,560 sold / 14,322 worked, 11 techs: 5 above, 2 on, 4 under)</a:t>
            </a:r>
          </a:p>
          <a:p>
            <a:r>
              <a:t>NISSAN: 91.1% (24,792 sold / 27,197 worked, 17 techs: 3 above, 6 on, 8 under)</a:t>
            </a:r>
          </a:p>
          <a:p>
            <a:r>
              <a:t>SUBARU LV: 96.9% (41,501 sold / 42,797 worked, 27 techs: 9 above, 7 on, 11 under)</a:t>
            </a:r>
          </a:p>
          <a:p>
            <a:r>
              <a:t>SUBARU PRESCOTT: 98.4% (17,475 sold / 17,747 worked, 12 techs: 6 above, 0 on, 6 under)</a:t>
            </a:r>
          </a:p>
          <a:p>
            <a:r>
              <a:t>SUBARU ST GEORGE: 109.7% (20,954 sold / 19,086 worked, 12 techs: 9 above, 0 on, 3 under)</a:t>
            </a:r>
          </a:p>
          <a:p>
            <a:r>
              <a:t>TOYOTA FLAGSTAFF: 102.4% (31,978 sold / 31,216 worked, 18 techs: 7 above, 5 on, 6 under)</a:t>
            </a:r>
          </a:p>
          <a:p>
            <a:r>
              <a:t>TOYOTA HENDERSON: 104.3% (104,465 sold / 100,080 worked, 59 techs: 22 above, 17 on, 20 under)</a:t>
            </a:r>
          </a:p>
          <a:p>
            <a:r>
              <a:t>TOYOTA PRESCOTT: 83.6% (29,341 sold / 35,081 worked, 22 techs: 6 above, 5 on, 11 under)</a:t>
            </a:r>
          </a:p>
          <a:p>
            <a:r>
              <a:t>TOYOTA SPOKANE: 108.0% (35,947 sold / 33,274 worked, 28 techs: 15 above, 9 on, 4 under)</a:t>
            </a:r>
          </a:p>
          <a:p>
            <a:r>
              <a:t>VOLVO: 72.3% (10,479 sold / 14,475 worked, 9 techs: 0 above, 1 on, 8 under)</a:t>
            </a:r>
          </a:p>
          <a:p>
            <a:r>
              <a:t>VW HENDERSON: 92.2% (25,394 sold / 27,527 worked, 19 techs: 6 above, 7 on, 6 under)</a:t>
            </a:r>
          </a:p>
          <a:p>
            <a:r>
              <a:t>VW ST GEORGE: 70.0% (5,375 sold / 7,674 worked, 5 techs: 0 above, 0 on, 5 under)</a:t>
            </a:r>
          </a:p>
        </p:txBody>
      </p:sp>
      <p:sp>
        <p:nvSpPr>
          <p:cNvPr id="4" name="Slide Number Placeholder 3"/>
          <p:cNvSpPr>
            <a:spLocks noGrp="1"/>
          </p:cNvSpPr>
          <p:nvPr>
            <p:ph type="sldNum" idx="5" sz="quarter"/>
          </p:nvPr>
        </p:nvSpPr>
        <p:spPr/>
      </p:sp>
    </p:spTree>
  </p:cSld>
  <p:clrMapOvr>
    <a:masterClrMapping/>
  </p:clrMapOvr>
</p:notes>
</file>

<file path=ppt/notesSlides/notesSlide1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Each technician under 85% lifted to 85% of their own worked hours; techs at or above 85% count as zero, so no store offsets one tech with another. Gap hours valued at what the store's own technicians (counted titles) earn per sold hour in labor gross and parts gross, all pay types, Qlik - Closed Repair Orders, same dates; tech pay at their labor cost per sold hour. Store-wide averages are not used because they carry detail, rental and recon sale booked with no hours. Per month = period total / 9.49 months (Dec 25, 2025 - Oct 9, 2026). Parts assumes the extra hours carry the store's average parts per hour. Population as on the proficiency slides.ACURA: 67.4%; 11 of 11 under 85%; gap 2,954 hrs; labor $50K/mo + parts $26K/mo; tech pay $14K/mo; 25.4% of $299K/mo RO gross; top quarter 74% (3 techs); 3.46 ROs/tech day; 1.75 hrs/RO</a:t>
            </a:r>
          </a:p>
          <a:p>
            <a:r>
              <a:t>AUDI HENDERSON: 91.0%; 13 of 23 under 85%; gap 3,426 hrs; labor $81K/mo + parts $20K/mo; tech pay $14K/mo; 8.3% of $1.23M/mo RO gross; top quarter 135% (6 techs); 2.77 ROs/tech day; 3.23 hrs/RO</a:t>
            </a:r>
          </a:p>
          <a:p>
            <a:r>
              <a:t>AUDI RENO: 117.1%; 4 of 10 under 85%; gap 826 hrs; labor $14K/mo + parts $6K/mo; tech pay $4K/mo; 4.0% of $504K/mo RO gross; top quarter 194% (2 techs); 4.08 ROs/tech day; 2.88 hrs/RO</a:t>
            </a:r>
          </a:p>
          <a:p>
            <a:r>
              <a:t>CADILLAC: 87.7%; 16 of 29 under 85%; gap 6,705 hrs; labor $108K/mo + parts $49K/mo; tech pay $24K/mo; 13.6% of $1.16M/mo RO gross; top quarter 143% (7 techs); 2.48 ROs/tech day; 3.41 hrs/RO</a:t>
            </a:r>
          </a:p>
          <a:p>
            <a:r>
              <a:t>CDJR POST FALLS: 71.2%; 9 of 14 under 85%; gap 5,005 hrs; labor $68K/mo + parts $32K/mo; tech pay $18K/mo; 24.6% of $408K/mo RO gross; top quarter 129% (4 techs); 3.77 ROs/tech day; 2.25 hrs/RO</a:t>
            </a:r>
          </a:p>
          <a:p>
            <a:r>
              <a:t>CHEVY GMC BULLHEAD: 68.4%; 16 of 20 under 85%; gap 5,809 hrs; labor $73K/mo + parts $39K/mo; tech pay $20K/mo; 23.2% of $483K/mo RO gross; top quarter 96% (5 techs); 3.06 ROs/tech day; 2.19 hrs/RO</a:t>
            </a:r>
          </a:p>
          <a:p>
            <a:r>
              <a:t>CHEVY LV: 103.4%; 16 of 51 under 85%; gap 5,102 hrs; labor $62K/mo + parts $25K/mo; tech pay $17K/mo; 5.2% of $1.69M/mo RO gross; top quarter 164% (13 techs); 3.95 ROs/tech day; 2.69 hrs/RO</a:t>
            </a:r>
          </a:p>
          <a:p>
            <a:r>
              <a:t>GMC PRESCOTT: 73.6%; 7 of 12 under 85%; gap 2,741 hrs; labor $31K/mo + parts $17K/mo; tech pay $12K/mo; 14.4% of $333K/mo RO gross; top quarter 104% (3 techs); 3.59 ROs/tech day; 4.21 hrs/RO</a:t>
            </a:r>
          </a:p>
          <a:p>
            <a:r>
              <a:t>HONDA FLAGSTAFF: 78.5%; 4 of 6 under 85%; gap 2,217 hrs; labor $28K/mo + parts $12K/mo; tech pay $8K/mo; 19.6% of $202K/mo RO gross; top quarter 131% (2 techs); 5.23 ROs/tech day; 1.85 hrs/RO</a:t>
            </a:r>
          </a:p>
          <a:p>
            <a:r>
              <a:t>HONDA HENDERSON: 118.5%; 5 of 28 under 85%; gap 669 hrs; labor $9K/mo + parts $4K/mo; tech pay $2K/mo; 0.8% of $1.54M/mo RO gross; top quarter 172% (7 techs); 6.04 ROs/tech day; 2.11 hrs/RO</a:t>
            </a:r>
          </a:p>
          <a:p>
            <a:r>
              <a:t>HONDA NORTH: 109.3%; 4 of 22 under 85%; gap 764 hrs; labor $9K/mo + parts $4K/mo; tech pay $2K/mo; 1.4% of $949K/mo RO gross; top quarter 152% (6 techs); 6.08 ROs/tech day; 2.29 hrs/RO</a:t>
            </a:r>
          </a:p>
          <a:p>
            <a:r>
              <a:t>HONDA SPOKANE: 109.0%; 2 of 15 under 85%; gap 57 hrs; labor $1K/mo + parts $0K/mo; tech pay $0K/mo; 0.2% of $453K/mo RO gross; top quarter 130% (4 techs); 6.24 ROs/tech day; 2.14 hrs/RO</a:t>
            </a:r>
          </a:p>
          <a:p>
            <a:r>
              <a:t>HYUNDAI PRESCOTT: 78.8%; 6 of 9 under 85%; gap 1,873 hrs; labor $23K/mo + parts $11K/mo; tech pay $8K/mo; 18.5% of $185K/mo RO gross; top quarter 113% (2 techs); 3.75 ROs/tech day; 1.78 hrs/RO</a:t>
            </a:r>
          </a:p>
          <a:p>
            <a:r>
              <a:t>HYUNDAI ST GEORGE: 69.0%; 8 of 11 under 85%; gap 3,952 hrs; labor $58K/mo + parts $30K/mo; tech pay $13K/mo; 31.9% of $277K/mo RO gross; top quarter 122% (3 techs); 4.23 ROs/tech day; 1.45 hrs/RO</a:t>
            </a:r>
          </a:p>
          <a:p>
            <a:r>
              <a:t>KIA LV: 76.8%; 16 of 20 under 85%; gap 3,389 hrs; labor $51K/mo + parts $23K/mo; tech pay $12K/mo; 11.6% of $643K/mo RO gross; top quarter 101% (5 techs); 5.22 ROs/tech day; 1.70 hrs/RO</a:t>
            </a:r>
          </a:p>
          <a:p>
            <a:r>
              <a:t>KIA ST GEORGE: 67.5%; 9 of 12 under 85%; gap 3,713 hrs; labor $48K/mo + parts $29K/mo; tech pay $11K/mo; 29.7% of $258K/mo RO gross; top quarter 98% (3 techs); 4.25 ROs/tech day; 1.31 hrs/RO</a:t>
            </a:r>
          </a:p>
          <a:p>
            <a:r>
              <a:t>LEXUS: 104.7%; 6 of 11 under 85%; gap 1,451 hrs; labor $24K/mo + parts $7K/mo; tech pay $5K/mo; 7.9% of $400K/mo RO gross; top quarter 178% (3 techs); 4.01 ROs/tech day; 2.44 hrs/RO</a:t>
            </a:r>
          </a:p>
          <a:p>
            <a:r>
              <a:t>LINCOLN: 94.9%; 5 of 11 under 85%; gap 1,236 hrs; labor $17K/mo + parts $7K/mo; tech pay $4K/mo; 7.6% of $312K/mo RO gross; top quarter 125% (3 techs); 3.24 ROs/tech day; 2.35 hrs/RO</a:t>
            </a:r>
          </a:p>
          <a:p>
            <a:r>
              <a:t>LR HENDERSON: 106.0%; 3 of 7 under 85%; gap 567 hrs; labor $9K/mo + parts $5K/mo; tech pay $2K/mo; 4.2% of $357K/mo RO gross; top quarter 145% (2 techs); 2.94 ROs/tech day; 3.68 hrs/RO</a:t>
            </a:r>
          </a:p>
          <a:p>
            <a:r>
              <a:t>LR LV: 91.2%; 8 of 16 under 85%; gap 2,154 hrs; labor $42K/mo + parts $21K/mo; tech pay $9K/mo; 9.0% of $702K/mo RO gross; top quarter 131% (4 techs); 2.41 ROs/tech day; 3.54 hrs/RO</a:t>
            </a:r>
          </a:p>
          <a:p>
            <a:r>
              <a:t>LR RENO: 81.4%; 2 of 6 under 85%; gap 724 hrs; labor $14K/mo + parts $7K/mo; tech pay $3K/mo; 8.0% of $257K/mo RO gross; top quarter 96% (2 techs); 2.36 ROs/tech day; 3.20 hrs/RO</a:t>
            </a:r>
          </a:p>
          <a:p>
            <a:r>
              <a:t>MAZDA: 101.6%; 4 of 11 under 85%; gap 415 hrs; labor $6K/mo + parts $3K/mo; tech pay $1K/mo; 2.7% of $322K/mo RO gross; top quarter 123% (3 techs); 5.78 ROs/tech day; 1.54 hrs/RO</a:t>
            </a:r>
          </a:p>
          <a:p>
            <a:r>
              <a:t>NISSAN: 91.1%; 8 of 17 under 85%; gap 2,291 hrs; labor $30K/mo + parts $13K/mo; tech pay $9K/mo; 8.0% of $532K/mo RO gross; top quarter 132% (4 techs); 4.08 ROs/tech day; 2.29 hrs/RO</a:t>
            </a:r>
          </a:p>
          <a:p>
            <a:r>
              <a:t>SUBARU LV: 96.9%; 11 of 27 under 85%; gap 2,050 hrs; labor $29K/mo + parts $15K/mo; tech pay $5K/mo; 4.1% of $1.07M/mo RO gross; top quarter 132% (7 techs); 4.64 ROs/tech day; 2.07 hrs/RO</a:t>
            </a:r>
          </a:p>
          <a:p>
            <a:r>
              <a:t>SUBARU PRESCOTT: 98.4%; 6 of 12 under 85%; gap 3,523 hrs; labor $37K/mo + parts $21K/mo; tech pay $13K/mo; 20.0% of $288K/mo RO gross; top quarter 179% (3 techs); 4.73 ROs/tech day; 1.68 hrs/RO</a:t>
            </a:r>
          </a:p>
          <a:p>
            <a:r>
              <a:t>SUBARU ST GEORGE: 109.7%; 3 of 12 under 85%; gap 1,248 hrs; labor $14K/mo + parts $8K/mo; tech pay $5K/mo; 5.8% of $382K/mo RO gross; top quarter 146% (3 techs); 4.11 ROs/tech day; 2.20 hrs/RO</a:t>
            </a:r>
          </a:p>
          <a:p>
            <a:r>
              <a:t>TOYOTA FLAGSTAFF: 102.4%; 6 of 18 under 85%; gap 662 hrs; labor $8K/mo + parts $3K/mo; tech pay $2K/mo; 1.9% of $542K/mo RO gross; top quarter 151% (4 techs); 4.96 ROs/tech day; 1.84 hrs/RO</a:t>
            </a:r>
          </a:p>
          <a:p>
            <a:r>
              <a:t>TOYOTA HENDERSON: 104.3%; 20 of 59 under 85%; gap 4,057 hrs; labor $51K/mo + parts $19K/mo; tech pay $14K/mo; 2.9% of $2.44M/mo RO gross; top quarter 153% (15 techs); 6.41 ROs/tech day; 1.88 hrs/RO</a:t>
            </a:r>
          </a:p>
          <a:p>
            <a:r>
              <a:t>TOYOTA PRESCOTT: 83.6%; 11 of 22 under 85%; gap 4,174 hrs; labor $57K/mo + parts $20K/mo; tech pay $16K/mo; 13.5% of $573K/mo RO gross; top quarter 118% (6 techs); 4.22 ROs/tech day; 1.72 hrs/RO</a:t>
            </a:r>
          </a:p>
          <a:p>
            <a:r>
              <a:t>TOYOTA SPOKANE: 108.0%; 4 of 28 under 85%; gap 745 hrs; labor $8K/mo + parts $4K/mo; tech pay $3K/mo; 1.9% of $609K/mo RO gross; top quarter 134% (7 techs); 5.36 ROs/tech day; 1.81 hrs/RO</a:t>
            </a:r>
          </a:p>
          <a:p>
            <a:r>
              <a:t>VOLVO: 72.3%; 8 of 9 under 85%; gap 1,963 hrs; labor $40K/mo + parts $22K/mo; tech pay $5K/mo; 14.8% of $417K/mo RO gross; top quarter 89% (2 techs); 3.81 ROs/tech day; 1.92 hrs/RO</a:t>
            </a:r>
          </a:p>
          <a:p>
            <a:r>
              <a:t>VW HENDERSON: 92.2%; 6 of 19 under 85%; gap 1,416 hrs; labor $19K/mo + parts $5K/mo; tech pay $4K/mo; 4.8% of $516K/mo RO gross; top quarter 115% (5 techs); 3.77 ROs/tech day; 2.28 hrs/RO</a:t>
            </a:r>
          </a:p>
          <a:p>
            <a:r>
              <a:t>VW ST GEORGE: 70.0%; 5 of 5 under 85%; gap 1,149 hrs; labor $13K/mo + parts $7K/mo; tech pay $3K/mo; 19.0% of $109K/mo RO gross; top quarter 76% (1 techs); 3.81 ROs/tech day; 1.65 hrs/RO</a:t>
            </a:r>
          </a:p>
        </p:txBody>
      </p:sp>
      <p:sp>
        <p:nvSpPr>
          <p:cNvPr id="4" name="Slide Number Placeholder 3"/>
          <p:cNvSpPr>
            <a:spLocks noGrp="1"/>
          </p:cNvSpPr>
          <p:nvPr>
            <p:ph type="sldNum" idx="5" sz="quarter"/>
          </p:nvPr>
        </p:nvSpPr>
        <p:spPr/>
      </p:sp>
    </p:spTree>
  </p:cSld>
  <p:clrMapOvr>
    <a:masterClrMapping/>
  </p:clrMapOvr>
</p:notes>
</file>

<file path=ppt/notesSlides/notesSlide1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Each technician under 85% lifted to 85% of their own worked hours; techs at or above 85% count as zero, so no store offsets one tech with another. Gap hours valued at what the store's own technicians (counted titles) earn per sold hour in labor gross and parts gross, all pay types, Qlik - Closed Repair Orders, same dates; tech pay at their labor cost per sold hour. Store-wide averages are not used because they carry detail, rental and recon sale booked with no hours. Per month = period total / 9.49 months (Dec 25, 2025 - Oct 9, 2026). Parts assumes the extra hours carry the store's average parts per hour. Population as on the proficiency slides. Per mo = labor + parts gross. Under 85% = technicians under 85% of all counted. Store = store proficiency.ACURA: 67.4%; 11 of 11 under 85%; gap 2,954 hrs; labor $50K/mo + parts $26K/mo; tech pay $14K/mo; 25.4% of $299K/mo RO gross; top quarter 74% (3 techs); 3.46 ROs/tech day; 1.75 hrs/RO</a:t>
            </a:r>
          </a:p>
          <a:p>
            <a:r>
              <a:t>AUDI HENDERSON: 91.0%; 13 of 23 under 85%; gap 3,426 hrs; labor $81K/mo + parts $20K/mo; tech pay $14K/mo; 8.3% of $1.23M/mo RO gross; top quarter 135% (6 techs); 2.77 ROs/tech day; 3.23 hrs/RO</a:t>
            </a:r>
          </a:p>
          <a:p>
            <a:r>
              <a:t>AUDI RENO: 117.1%; 4 of 10 under 85%; gap 826 hrs; labor $14K/mo + parts $6K/mo; tech pay $4K/mo; 4.0% of $504K/mo RO gross; top quarter 194% (2 techs); 4.08 ROs/tech day; 2.88 hrs/RO</a:t>
            </a:r>
          </a:p>
          <a:p>
            <a:r>
              <a:t>CADILLAC: 87.7%; 16 of 29 under 85%; gap 6,705 hrs; labor $108K/mo + parts $49K/mo; tech pay $24K/mo; 13.6% of $1.16M/mo RO gross; top quarter 143% (7 techs); 2.48 ROs/tech day; 3.41 hrs/RO</a:t>
            </a:r>
          </a:p>
          <a:p>
            <a:r>
              <a:t>CDJR POST FALLS: 71.2%; 9 of 14 under 85%; gap 5,005 hrs; labor $68K/mo + parts $32K/mo; tech pay $18K/mo; 24.6% of $408K/mo RO gross; top quarter 129% (4 techs); 3.77 ROs/tech day; 2.25 hrs/RO</a:t>
            </a:r>
          </a:p>
          <a:p>
            <a:r>
              <a:t>CHEVY GMC BULLHEAD: 68.4%; 16 of 20 under 85%; gap 5,809 hrs; labor $73K/mo + parts $39K/mo; tech pay $20K/mo; 23.2% of $483K/mo RO gross; top quarter 96% (5 techs); 3.06 ROs/tech day; 2.19 hrs/RO</a:t>
            </a:r>
          </a:p>
          <a:p>
            <a:r>
              <a:t>CHEVY LV: 103.4%; 16 of 51 under 85%; gap 5,102 hrs; labor $62K/mo + parts $25K/mo; tech pay $17K/mo; 5.2% of $1.69M/mo RO gross; top quarter 164% (13 techs); 3.95 ROs/tech day; 2.69 hrs/RO</a:t>
            </a:r>
          </a:p>
          <a:p>
            <a:r>
              <a:t>GMC PRESCOTT: 73.6%; 7 of 12 under 85%; gap 2,741 hrs; labor $31K/mo + parts $17K/mo; tech pay $12K/mo; 14.4% of $333K/mo RO gross; top quarter 104% (3 techs); 3.59 ROs/tech day; 4.21 hrs/RO</a:t>
            </a:r>
          </a:p>
          <a:p>
            <a:r>
              <a:t>HONDA FLAGSTAFF: 78.5%; 4 of 6 under 85%; gap 2,217 hrs; labor $28K/mo + parts $12K/mo; tech pay $8K/mo; 19.6% of $202K/mo RO gross; top quarter 131% (2 techs); 5.23 ROs/tech day; 1.85 hrs/RO</a:t>
            </a:r>
          </a:p>
          <a:p>
            <a:r>
              <a:t>HONDA HENDERSON: 118.5%; 5 of 28 under 85%; gap 669 hrs; labor $9K/mo + parts $4K/mo; tech pay $2K/mo; 0.8% of $1.54M/mo RO gross; top quarter 172% (7 techs); 6.04 ROs/tech day; 2.11 hrs/RO</a:t>
            </a:r>
          </a:p>
          <a:p>
            <a:r>
              <a:t>HONDA NORTH: 109.3%; 4 of 22 under 85%; gap 764 hrs; labor $9K/mo + parts $4K/mo; tech pay $2K/mo; 1.4% of $949K/mo RO gross; top quarter 152% (6 techs); 6.08 ROs/tech day; 2.29 hrs/RO</a:t>
            </a:r>
          </a:p>
          <a:p>
            <a:r>
              <a:t>HONDA SPOKANE: 109.0%; 2 of 15 under 85%; gap 57 hrs; labor $1K/mo + parts $0K/mo; tech pay $0K/mo; 0.2% of $453K/mo RO gross; top quarter 130% (4 techs); 6.24 ROs/tech day; 2.14 hrs/RO</a:t>
            </a:r>
          </a:p>
          <a:p>
            <a:r>
              <a:t>HYUNDAI PRESCOTT: 78.8%; 6 of 9 under 85%; gap 1,873 hrs; labor $23K/mo + parts $11K/mo; tech pay $8K/mo; 18.5% of $185K/mo RO gross; top quarter 113% (2 techs); 3.75 ROs/tech day; 1.78 hrs/RO</a:t>
            </a:r>
          </a:p>
          <a:p>
            <a:r>
              <a:t>HYUNDAI ST GEORGE: 69.0%; 8 of 11 under 85%; gap 3,952 hrs; labor $58K/mo + parts $30K/mo; tech pay $13K/mo; 31.9% of $277K/mo RO gross; top quarter 122% (3 techs); 4.23 ROs/tech day; 1.45 hrs/RO</a:t>
            </a:r>
          </a:p>
          <a:p>
            <a:r>
              <a:t>KIA LV: 76.8%; 16 of 20 under 85%; gap 3,389 hrs; labor $51K/mo + parts $23K/mo; tech pay $12K/mo; 11.6% of $643K/mo RO gross; top quarter 101% (5 techs); 5.22 ROs/tech day; 1.70 hrs/RO</a:t>
            </a:r>
          </a:p>
          <a:p>
            <a:r>
              <a:t>KIA ST GEORGE: 67.5%; 9 of 12 under 85%; gap 3,713 hrs; labor $48K/mo + parts $29K/mo; tech pay $11K/mo; 29.7% of $258K/mo RO gross; top quarter 98% (3 techs); 4.25 ROs/tech day; 1.31 hrs/RO</a:t>
            </a:r>
          </a:p>
          <a:p>
            <a:r>
              <a:t>LEXUS: 104.7%; 6 of 11 under 85%; gap 1,451 hrs; labor $24K/mo + parts $7K/mo; tech pay $5K/mo; 7.9% of $400K/mo RO gross; top quarter 178% (3 techs); 4.01 ROs/tech day; 2.44 hrs/RO</a:t>
            </a:r>
          </a:p>
          <a:p>
            <a:r>
              <a:t>LINCOLN: 94.9%; 5 of 11 under 85%; gap 1,236 hrs; labor $17K/mo + parts $7K/mo; tech pay $4K/mo; 7.6% of $312K/mo RO gross; top quarter 125% (3 techs); 3.24 ROs/tech day; 2.35 hrs/RO</a:t>
            </a:r>
          </a:p>
          <a:p>
            <a:r>
              <a:t>LR HENDERSON: 106.0%; 3 of 7 under 85%; gap 567 hrs; labor $9K/mo + parts $5K/mo; tech pay $2K/mo; 4.2% of $357K/mo RO gross; top quarter 145% (2 techs); 2.94 ROs/tech day; 3.68 hrs/RO</a:t>
            </a:r>
          </a:p>
          <a:p>
            <a:r>
              <a:t>LR LV: 91.2%; 8 of 16 under 85%; gap 2,154 hrs; labor $42K/mo + parts $21K/mo; tech pay $9K/mo; 9.0% of $702K/mo RO gross; top quarter 131% (4 techs); 2.41 ROs/tech day; 3.54 hrs/RO</a:t>
            </a:r>
          </a:p>
          <a:p>
            <a:r>
              <a:t>LR RENO: 81.4%; 2 of 6 under 85%; gap 724 hrs; labor $14K/mo + parts $7K/mo; tech pay $3K/mo; 8.0% of $257K/mo RO gross; top quarter 96% (2 techs); 2.36 ROs/tech day; 3.20 hrs/RO</a:t>
            </a:r>
          </a:p>
          <a:p>
            <a:r>
              <a:t>MAZDA: 101.6%; 4 of 11 under 85%; gap 415 hrs; labor $6K/mo + parts $3K/mo; tech pay $1K/mo; 2.7% of $322K/mo RO gross; top quarter 123% (3 techs); 5.78 ROs/tech day; 1.54 hrs/RO</a:t>
            </a:r>
          </a:p>
          <a:p>
            <a:r>
              <a:t>NISSAN: 91.1%; 8 of 17 under 85%; gap 2,291 hrs; labor $30K/mo + parts $13K/mo; tech pay $9K/mo; 8.0% of $532K/mo RO gross; top quarter 132% (4 techs); 4.08 ROs/tech day; 2.29 hrs/RO</a:t>
            </a:r>
          </a:p>
          <a:p>
            <a:r>
              <a:t>SUBARU LV: 96.9%; 11 of 27 under 85%; gap 2,050 hrs; labor $29K/mo + parts $15K/mo; tech pay $5K/mo; 4.1% of $1.07M/mo RO gross; top quarter 132% (7 techs); 4.64 ROs/tech day; 2.07 hrs/RO</a:t>
            </a:r>
          </a:p>
          <a:p>
            <a:r>
              <a:t>SUBARU PRESCOTT: 98.4%; 6 of 12 under 85%; gap 3,523 hrs; labor $37K/mo + parts $21K/mo; tech pay $13K/mo; 20.0% of $288K/mo RO gross; top quarter 179% (3 techs); 4.73 ROs/tech day; 1.68 hrs/RO</a:t>
            </a:r>
          </a:p>
          <a:p>
            <a:r>
              <a:t>SUBARU ST GEORGE: 109.7%; 3 of 12 under 85%; gap 1,248 hrs; labor $14K/mo + parts $8K/mo; tech pay $5K/mo; 5.8% of $382K/mo RO gross; top quarter 146% (3 techs); 4.11 ROs/tech day; 2.20 hrs/RO</a:t>
            </a:r>
          </a:p>
          <a:p>
            <a:r>
              <a:t>TOYOTA FLAGSTAFF: 102.4%; 6 of 18 under 85%; gap 662 hrs; labor $8K/mo + parts $3K/mo; tech pay $2K/mo; 1.9% of $542K/mo RO gross; top quarter 151% (4 techs); 4.96 ROs/tech day; 1.84 hrs/RO</a:t>
            </a:r>
          </a:p>
          <a:p>
            <a:r>
              <a:t>TOYOTA HENDERSON: 104.3%; 20 of 59 under 85%; gap 4,057 hrs; labor $51K/mo + parts $19K/mo; tech pay $14K/mo; 2.9% of $2.44M/mo RO gross; top quarter 153% (15 techs); 6.41 ROs/tech day; 1.88 hrs/RO</a:t>
            </a:r>
          </a:p>
          <a:p>
            <a:r>
              <a:t>TOYOTA PRESCOTT: 83.6%; 11 of 22 under 85%; gap 4,174 hrs; labor $57K/mo + parts $20K/mo; tech pay $16K/mo; 13.5% of $573K/mo RO gross; top quarter 118% (6 techs); 4.22 ROs/tech day; 1.72 hrs/RO</a:t>
            </a:r>
          </a:p>
          <a:p>
            <a:r>
              <a:t>TOYOTA SPOKANE: 108.0%; 4 of 28 under 85%; gap 745 hrs; labor $8K/mo + parts $4K/mo; tech pay $3K/mo; 1.9% of $609K/mo RO gross; top quarter 134% (7 techs); 5.36 ROs/tech day; 1.81 hrs/RO</a:t>
            </a:r>
          </a:p>
          <a:p>
            <a:r>
              <a:t>VOLVO: 72.3%; 8 of 9 under 85%; gap 1,963 hrs; labor $40K/mo + parts $22K/mo; tech pay $5K/mo; 14.8% of $417K/mo RO gross; top quarter 89% (2 techs); 3.81 ROs/tech day; 1.92 hrs/RO</a:t>
            </a:r>
          </a:p>
          <a:p>
            <a:r>
              <a:t>VW HENDERSON: 92.2%; 6 of 19 under 85%; gap 1,416 hrs; labor $19K/mo + parts $5K/mo; tech pay $4K/mo; 4.8% of $516K/mo RO gross; top quarter 115% (5 techs); 3.77 ROs/tech day; 2.28 hrs/RO</a:t>
            </a:r>
          </a:p>
          <a:p>
            <a:r>
              <a:t>VW ST GEORGE: 70.0%; 5 of 5 under 85%; gap 1,149 hrs; labor $13K/mo + parts $7K/mo; tech pay $3K/mo; 19.0% of $109K/mo RO gross; top quarter 76% (1 techs); 3.81 ROs/tech day; 1.65 hrs/RO</a:t>
            </a:r>
          </a:p>
        </p:txBody>
      </p:sp>
      <p:sp>
        <p:nvSpPr>
          <p:cNvPr id="4" name="Slide Number Placeholder 3"/>
          <p:cNvSpPr>
            <a:spLocks noGrp="1"/>
          </p:cNvSpPr>
          <p:nvPr>
            <p:ph type="sldNum" idx="5" sz="quarter"/>
          </p:nvPr>
        </p:nvSpPr>
        <p:spPr/>
      </p:sp>
    </p:spTree>
  </p:cSld>
  <p:clrMapOvr>
    <a:masterClrMapping/>
  </p:clrMapOvr>
</p:notes>
</file>

<file path=ppt/notesSlides/notesSlide1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Each technician under 85% lifted to 85% of their own worked hours; techs at or above 85% count as zero, so no store offsets one tech with another. Gap hours valued at what the store's own technicians (counted titles) earn per sold hour in labor gross and parts gross, all pay types, Qlik - Closed Repair Orders, same dates; tech pay at their labor cost per sold hour. Store-wide averages are not used because they carry detail, rental and recon sale booked with no hours. Per month = period total / 9.49 months (Dec 25, 2025 - Oct 9, 2026). Parts assumes the extra hours carry the store's average parts per hour. Population as on the proficiency slides. Missed and Gross are per month. Share = missed labor + parts gross / labor + parts gross on the store's closed ROs, all pay types, same dates (includes work on shared tech codes). Not P&amp;L gross: counter and wholesale parts are excluded because techs do not produce them.ACURA: 67.4%; 11 of 11 under 85%; gap 2,954 hrs; labor $50K/mo + parts $26K/mo; tech pay $14K/mo; 25.4% of $299K/mo RO gross; top quarter 74% (3 techs); 3.46 ROs/tech day; 1.75 hrs/RO</a:t>
            </a:r>
          </a:p>
          <a:p>
            <a:r>
              <a:t>AUDI HENDERSON: 91.0%; 13 of 23 under 85%; gap 3,426 hrs; labor $81K/mo + parts $20K/mo; tech pay $14K/mo; 8.3% of $1.23M/mo RO gross; top quarter 135% (6 techs); 2.77 ROs/tech day; 3.23 hrs/RO</a:t>
            </a:r>
          </a:p>
          <a:p>
            <a:r>
              <a:t>AUDI RENO: 117.1%; 4 of 10 under 85%; gap 826 hrs; labor $14K/mo + parts $6K/mo; tech pay $4K/mo; 4.0% of $504K/mo RO gross; top quarter 194% (2 techs); 4.08 ROs/tech day; 2.88 hrs/RO</a:t>
            </a:r>
          </a:p>
          <a:p>
            <a:r>
              <a:t>CADILLAC: 87.7%; 16 of 29 under 85%; gap 6,705 hrs; labor $108K/mo + parts $49K/mo; tech pay $24K/mo; 13.6% of $1.16M/mo RO gross; top quarter 143% (7 techs); 2.48 ROs/tech day; 3.41 hrs/RO</a:t>
            </a:r>
          </a:p>
          <a:p>
            <a:r>
              <a:t>CDJR POST FALLS: 71.2%; 9 of 14 under 85%; gap 5,005 hrs; labor $68K/mo + parts $32K/mo; tech pay $18K/mo; 24.6% of $408K/mo RO gross; top quarter 129% (4 techs); 3.77 ROs/tech day; 2.25 hrs/RO</a:t>
            </a:r>
          </a:p>
          <a:p>
            <a:r>
              <a:t>CHEVY GMC BULLHEAD: 68.4%; 16 of 20 under 85%; gap 5,809 hrs; labor $73K/mo + parts $39K/mo; tech pay $20K/mo; 23.2% of $483K/mo RO gross; top quarter 96% (5 techs); 3.06 ROs/tech day; 2.19 hrs/RO</a:t>
            </a:r>
          </a:p>
          <a:p>
            <a:r>
              <a:t>CHEVY LV: 103.4%; 16 of 51 under 85%; gap 5,102 hrs; labor $62K/mo + parts $25K/mo; tech pay $17K/mo; 5.2% of $1.69M/mo RO gross; top quarter 164% (13 techs); 3.95 ROs/tech day; 2.69 hrs/RO</a:t>
            </a:r>
          </a:p>
          <a:p>
            <a:r>
              <a:t>GMC PRESCOTT: 73.6%; 7 of 12 under 85%; gap 2,741 hrs; labor $31K/mo + parts $17K/mo; tech pay $12K/mo; 14.4% of $333K/mo RO gross; top quarter 104% (3 techs); 3.59 ROs/tech day; 4.21 hrs/RO</a:t>
            </a:r>
          </a:p>
          <a:p>
            <a:r>
              <a:t>HONDA FLAGSTAFF: 78.5%; 4 of 6 under 85%; gap 2,217 hrs; labor $28K/mo + parts $12K/mo; tech pay $8K/mo; 19.6% of $202K/mo RO gross; top quarter 131% (2 techs); 5.23 ROs/tech day; 1.85 hrs/RO</a:t>
            </a:r>
          </a:p>
          <a:p>
            <a:r>
              <a:t>HONDA HENDERSON: 118.5%; 5 of 28 under 85%; gap 669 hrs; labor $9K/mo + parts $4K/mo; tech pay $2K/mo; 0.8% of $1.54M/mo RO gross; top quarter 172% (7 techs); 6.04 ROs/tech day; 2.11 hrs/RO</a:t>
            </a:r>
          </a:p>
          <a:p>
            <a:r>
              <a:t>HONDA NORTH: 109.3%; 4 of 22 under 85%; gap 764 hrs; labor $9K/mo + parts $4K/mo; tech pay $2K/mo; 1.4% of $949K/mo RO gross; top quarter 152% (6 techs); 6.08 ROs/tech day; 2.29 hrs/RO</a:t>
            </a:r>
          </a:p>
          <a:p>
            <a:r>
              <a:t>HONDA SPOKANE: 109.0%; 2 of 15 under 85%; gap 57 hrs; labor $1K/mo + parts $0K/mo; tech pay $0K/mo; 0.2% of $453K/mo RO gross; top quarter 130% (4 techs); 6.24 ROs/tech day; 2.14 hrs/RO</a:t>
            </a:r>
          </a:p>
          <a:p>
            <a:r>
              <a:t>HYUNDAI PRESCOTT: 78.8%; 6 of 9 under 85%; gap 1,873 hrs; labor $23K/mo + parts $11K/mo; tech pay $8K/mo; 18.5% of $185K/mo RO gross; top quarter 113% (2 techs); 3.75 ROs/tech day; 1.78 hrs/RO</a:t>
            </a:r>
          </a:p>
          <a:p>
            <a:r>
              <a:t>HYUNDAI ST GEORGE: 69.0%; 8 of 11 under 85%; gap 3,952 hrs; labor $58K/mo + parts $30K/mo; tech pay $13K/mo; 31.9% of $277K/mo RO gross; top quarter 122% (3 techs); 4.23 ROs/tech day; 1.45 hrs/RO</a:t>
            </a:r>
          </a:p>
          <a:p>
            <a:r>
              <a:t>KIA LV: 76.8%; 16 of 20 under 85%; gap 3,389 hrs; labor $51K/mo + parts $23K/mo; tech pay $12K/mo; 11.6% of $643K/mo RO gross; top quarter 101% (5 techs); 5.22 ROs/tech day; 1.70 hrs/RO</a:t>
            </a:r>
          </a:p>
          <a:p>
            <a:r>
              <a:t>KIA ST GEORGE: 67.5%; 9 of 12 under 85%; gap 3,713 hrs; labor $48K/mo + parts $29K/mo; tech pay $11K/mo; 29.7% of $258K/mo RO gross; top quarter 98% (3 techs); 4.25 ROs/tech day; 1.31 hrs/RO</a:t>
            </a:r>
          </a:p>
          <a:p>
            <a:r>
              <a:t>LEXUS: 104.7%; 6 of 11 under 85%; gap 1,451 hrs; labor $24K/mo + parts $7K/mo; tech pay $5K/mo; 7.9% of $400K/mo RO gross; top quarter 178% (3 techs); 4.01 ROs/tech day; 2.44 hrs/RO</a:t>
            </a:r>
          </a:p>
          <a:p>
            <a:r>
              <a:t>LINCOLN: 94.9%; 5 of 11 under 85%; gap 1,236 hrs; labor $17K/mo + parts $7K/mo; tech pay $4K/mo; 7.6% of $312K/mo RO gross; top quarter 125% (3 techs); 3.24 ROs/tech day; 2.35 hrs/RO</a:t>
            </a:r>
          </a:p>
          <a:p>
            <a:r>
              <a:t>LR HENDERSON: 106.0%; 3 of 7 under 85%; gap 567 hrs; labor $9K/mo + parts $5K/mo; tech pay $2K/mo; 4.2% of $357K/mo RO gross; top quarter 145% (2 techs); 2.94 ROs/tech day; 3.68 hrs/RO</a:t>
            </a:r>
          </a:p>
          <a:p>
            <a:r>
              <a:t>LR LV: 91.2%; 8 of 16 under 85%; gap 2,154 hrs; labor $42K/mo + parts $21K/mo; tech pay $9K/mo; 9.0% of $702K/mo RO gross; top quarter 131% (4 techs); 2.41 ROs/tech day; 3.54 hrs/RO</a:t>
            </a:r>
          </a:p>
          <a:p>
            <a:r>
              <a:t>LR RENO: 81.4%; 2 of 6 under 85%; gap 724 hrs; labor $14K/mo + parts $7K/mo; tech pay $3K/mo; 8.0% of $257K/mo RO gross; top quarter 96% (2 techs); 2.36 ROs/tech day; 3.20 hrs/RO</a:t>
            </a:r>
          </a:p>
          <a:p>
            <a:r>
              <a:t>MAZDA: 101.6%; 4 of 11 under 85%; gap 415 hrs; labor $6K/mo + parts $3K/mo; tech pay $1K/mo; 2.7% of $322K/mo RO gross; top quarter 123% (3 techs); 5.78 ROs/tech day; 1.54 hrs/RO</a:t>
            </a:r>
          </a:p>
          <a:p>
            <a:r>
              <a:t>NISSAN: 91.1%; 8 of 17 under 85%; gap 2,291 hrs; labor $30K/mo + parts $13K/mo; tech pay $9K/mo; 8.0% of $532K/mo RO gross; top quarter 132% (4 techs); 4.08 ROs/tech day; 2.29 hrs/RO</a:t>
            </a:r>
          </a:p>
          <a:p>
            <a:r>
              <a:t>SUBARU LV: 96.9%; 11 of 27 under 85%; gap 2,050 hrs; labor $29K/mo + parts $15K/mo; tech pay $5K/mo; 4.1% of $1.07M/mo RO gross; top quarter 132% (7 techs); 4.64 ROs/tech day; 2.07 hrs/RO</a:t>
            </a:r>
          </a:p>
          <a:p>
            <a:r>
              <a:t>SUBARU PRESCOTT: 98.4%; 6 of 12 under 85%; gap 3,523 hrs; labor $37K/mo + parts $21K/mo; tech pay $13K/mo; 20.0% of $288K/mo RO gross; top quarter 179% (3 techs); 4.73 ROs/tech day; 1.68 hrs/RO</a:t>
            </a:r>
          </a:p>
          <a:p>
            <a:r>
              <a:t>SUBARU ST GEORGE: 109.7%; 3 of 12 under 85%; gap 1,248 hrs; labor $14K/mo + parts $8K/mo; tech pay $5K/mo; 5.8% of $382K/mo RO gross; top quarter 146% (3 techs); 4.11 ROs/tech day; 2.20 hrs/RO</a:t>
            </a:r>
          </a:p>
          <a:p>
            <a:r>
              <a:t>TOYOTA FLAGSTAFF: 102.4%; 6 of 18 under 85%; gap 662 hrs; labor $8K/mo + parts $3K/mo; tech pay $2K/mo; 1.9% of $542K/mo RO gross; top quarter 151% (4 techs); 4.96 ROs/tech day; 1.84 hrs/RO</a:t>
            </a:r>
          </a:p>
          <a:p>
            <a:r>
              <a:t>TOYOTA HENDERSON: 104.3%; 20 of 59 under 85%; gap 4,057 hrs; labor $51K/mo + parts $19K/mo; tech pay $14K/mo; 2.9% of $2.44M/mo RO gross; top quarter 153% (15 techs); 6.41 ROs/tech day; 1.88 hrs/RO</a:t>
            </a:r>
          </a:p>
          <a:p>
            <a:r>
              <a:t>TOYOTA PRESCOTT: 83.6%; 11 of 22 under 85%; gap 4,174 hrs; labor $57K/mo + parts $20K/mo; tech pay $16K/mo; 13.5% of $573K/mo RO gross; top quarter 118% (6 techs); 4.22 ROs/tech day; 1.72 hrs/RO</a:t>
            </a:r>
          </a:p>
          <a:p>
            <a:r>
              <a:t>TOYOTA SPOKANE: 108.0%; 4 of 28 under 85%; gap 745 hrs; labor $8K/mo + parts $4K/mo; tech pay $3K/mo; 1.9% of $609K/mo RO gross; top quarter 134% (7 techs); 5.36 ROs/tech day; 1.81 hrs/RO</a:t>
            </a:r>
          </a:p>
          <a:p>
            <a:r>
              <a:t>VOLVO: 72.3%; 8 of 9 under 85%; gap 1,963 hrs; labor $40K/mo + parts $22K/mo; tech pay $5K/mo; 14.8% of $417K/mo RO gross; top quarter 89% (2 techs); 3.81 ROs/tech day; 1.92 hrs/RO</a:t>
            </a:r>
          </a:p>
          <a:p>
            <a:r>
              <a:t>VW HENDERSON: 92.2%; 6 of 19 under 85%; gap 1,416 hrs; labor $19K/mo + parts $5K/mo; tech pay $4K/mo; 4.8% of $516K/mo RO gross; top quarter 115% (5 techs); 3.77 ROs/tech day; 2.28 hrs/RO</a:t>
            </a:r>
          </a:p>
          <a:p>
            <a:r>
              <a:t>VW ST GEORGE: 70.0%; 5 of 5 under 85%; gap 1,149 hrs; labor $13K/mo + parts $7K/mo; tech pay $3K/mo; 19.0% of $109K/mo RO gross; top quarter 76% (1 techs); 3.81 ROs/tech day; 1.65 hrs/RO</a:t>
            </a:r>
          </a:p>
        </p:txBody>
      </p:sp>
      <p:sp>
        <p:nvSpPr>
          <p:cNvPr id="4" name="Slide Number Placeholder 3"/>
          <p:cNvSpPr>
            <a:spLocks noGrp="1"/>
          </p:cNvSpPr>
          <p:nvPr>
            <p:ph type="sldNum" idx="5" sz="quarter"/>
          </p:nvPr>
        </p:nvSpPr>
        <p:spPr/>
      </p:sp>
    </p:spTree>
  </p:cSld>
  <p:clrMapOvr>
    <a:masterClrMapping/>
  </p:clrMapOvr>
</p:notes>
</file>

<file path=ppt/notesSlides/notesSlide1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ADP worked hours (regular + overtime) and Qlik - Closed Repair Orders sold hours, all pay types, matched by tech number. Dec 25, 2025 - Oct 9, 2026 (shown as Jan-Sep). Same-store, INEOS excluded (opened 2026). Service, express, team-leader and shop-foreman titles only; body shop, detail and tint excluded. Outliers dropped: shop foremen at or below 30% (workbook uses 20%; under 30% a foreman is mainly dispatching), team leaders at or below 20%, service and express technicians at or below 10% (workbook uses 2%; under 10% a tech is not working as a line tech). Unassigned codes (MULT, 999, 77777) excluded. Role changes: ADP shows one current title with worked hours for the whole period, so when a tech's worked hours exceed 125% of full time over the months they actually flagged, worked hours are scaled to that span (56 techs). 45 keying-error lines removed from sold hours (5,399 hrs: single lines of 20+ hours with under $25 labor sale per hour, e.g. 940.58 hrs for $0 at Hyundai St George, RO 177970). Top quarter = the store's most proficient quarter of counted technicians (at least one), sold / worked hours combined. Bars capped at 190%.ACURA: 67.4%; 11 of 11 under 85%; gap 2,954 hrs; labor $50K/mo + parts $26K/mo; tech pay $14K/mo; 25.4% of $299K/mo RO gross; top quarter 74% (3 techs); 3.46 ROs/tech day; 1.75 hrs/RO</a:t>
            </a:r>
          </a:p>
          <a:p>
            <a:r>
              <a:t>AUDI HENDERSON: 91.0%; 13 of 23 under 85%; gap 3,426 hrs; labor $81K/mo + parts $20K/mo; tech pay $14K/mo; 8.3% of $1.23M/mo RO gross; top quarter 135% (6 techs); 2.77 ROs/tech day; 3.23 hrs/RO</a:t>
            </a:r>
          </a:p>
          <a:p>
            <a:r>
              <a:t>AUDI RENO: 117.1%; 4 of 10 under 85%; gap 826 hrs; labor $14K/mo + parts $6K/mo; tech pay $4K/mo; 4.0% of $504K/mo RO gross; top quarter 194% (2 techs); 4.08 ROs/tech day; 2.88 hrs/RO</a:t>
            </a:r>
          </a:p>
          <a:p>
            <a:r>
              <a:t>CADILLAC: 87.7%; 16 of 29 under 85%; gap 6,705 hrs; labor $108K/mo + parts $49K/mo; tech pay $24K/mo; 13.6% of $1.16M/mo RO gross; top quarter 143% (7 techs); 2.48 ROs/tech day; 3.41 hrs/RO</a:t>
            </a:r>
          </a:p>
          <a:p>
            <a:r>
              <a:t>CDJR POST FALLS: 71.2%; 9 of 14 under 85%; gap 5,005 hrs; labor $68K/mo + parts $32K/mo; tech pay $18K/mo; 24.6% of $408K/mo RO gross; top quarter 129% (4 techs); 3.77 ROs/tech day; 2.25 hrs/RO</a:t>
            </a:r>
          </a:p>
          <a:p>
            <a:r>
              <a:t>CHEVY GMC BULLHEAD: 68.4%; 16 of 20 under 85%; gap 5,809 hrs; labor $73K/mo + parts $39K/mo; tech pay $20K/mo; 23.2% of $483K/mo RO gross; top quarter 96% (5 techs); 3.06 ROs/tech day; 2.19 hrs/RO</a:t>
            </a:r>
          </a:p>
          <a:p>
            <a:r>
              <a:t>CHEVY LV: 103.4%; 16 of 51 under 85%; gap 5,102 hrs; labor $62K/mo + parts $25K/mo; tech pay $17K/mo; 5.2% of $1.69M/mo RO gross; top quarter 164% (13 techs); 3.95 ROs/tech day; 2.69 hrs/RO</a:t>
            </a:r>
          </a:p>
          <a:p>
            <a:r>
              <a:t>GMC PRESCOTT: 73.6%; 7 of 12 under 85%; gap 2,741 hrs; labor $31K/mo + parts $17K/mo; tech pay $12K/mo; 14.4% of $333K/mo RO gross; top quarter 104% (3 techs); 3.59 ROs/tech day; 4.21 hrs/RO</a:t>
            </a:r>
          </a:p>
          <a:p>
            <a:r>
              <a:t>HONDA FLAGSTAFF: 78.5%; 4 of 6 under 85%; gap 2,217 hrs; labor $28K/mo + parts $12K/mo; tech pay $8K/mo; 19.6% of $202K/mo RO gross; top quarter 131% (2 techs); 5.23 ROs/tech day; 1.85 hrs/RO</a:t>
            </a:r>
          </a:p>
          <a:p>
            <a:r>
              <a:t>HONDA HENDERSON: 118.5%; 5 of 28 under 85%; gap 669 hrs; labor $9K/mo + parts $4K/mo; tech pay $2K/mo; 0.8% of $1.54M/mo RO gross; top quarter 172% (7 techs); 6.04 ROs/tech day; 2.11 hrs/RO</a:t>
            </a:r>
          </a:p>
          <a:p>
            <a:r>
              <a:t>HONDA NORTH: 109.3%; 4 of 22 under 85%; gap 764 hrs; labor $9K/mo + parts $4K/mo; tech pay $2K/mo; 1.4% of $949K/mo RO gross; top quarter 152% (6 techs); 6.08 ROs/tech day; 2.29 hrs/RO</a:t>
            </a:r>
          </a:p>
          <a:p>
            <a:r>
              <a:t>HONDA SPOKANE: 109.0%; 2 of 15 under 85%; gap 57 hrs; labor $1K/mo + parts $0K/mo; tech pay $0K/mo; 0.2% of $453K/mo RO gross; top quarter 130% (4 techs); 6.24 ROs/tech day; 2.14 hrs/RO</a:t>
            </a:r>
          </a:p>
          <a:p>
            <a:r>
              <a:t>HYUNDAI PRESCOTT: 78.8%; 6 of 9 under 85%; gap 1,873 hrs; labor $23K/mo + parts $11K/mo; tech pay $8K/mo; 18.5% of $185K/mo RO gross; top quarter 113% (2 techs); 3.75 ROs/tech day; 1.78 hrs/RO</a:t>
            </a:r>
          </a:p>
          <a:p>
            <a:r>
              <a:t>HYUNDAI ST GEORGE: 69.0%; 8 of 11 under 85%; gap 3,952 hrs; labor $58K/mo + parts $30K/mo; tech pay $13K/mo; 31.9% of $277K/mo RO gross; top quarter 122% (3 techs); 4.23 ROs/tech day; 1.45 hrs/RO</a:t>
            </a:r>
          </a:p>
          <a:p>
            <a:r>
              <a:t>KIA LV: 76.8%; 16 of 20 under 85%; gap 3,389 hrs; labor $51K/mo + parts $23K/mo; tech pay $12K/mo; 11.6% of $643K/mo RO gross; top quarter 101% (5 techs); 5.22 ROs/tech day; 1.70 hrs/RO</a:t>
            </a:r>
          </a:p>
          <a:p>
            <a:r>
              <a:t>KIA ST GEORGE: 67.5%; 9 of 12 under 85%; gap 3,713 hrs; labor $48K/mo + parts $29K/mo; tech pay $11K/mo; 29.7% of $258K/mo RO gross; top quarter 98% (3 techs); 4.25 ROs/tech day; 1.31 hrs/RO</a:t>
            </a:r>
          </a:p>
          <a:p>
            <a:r>
              <a:t>LEXUS: 104.7%; 6 of 11 under 85%; gap 1,451 hrs; labor $24K/mo + parts $7K/mo; tech pay $5K/mo; 7.9% of $400K/mo RO gross; top quarter 178% (3 techs); 4.01 ROs/tech day; 2.44 hrs/RO</a:t>
            </a:r>
          </a:p>
          <a:p>
            <a:r>
              <a:t>LINCOLN: 94.9%; 5 of 11 under 85%; gap 1,236 hrs; labor $17K/mo + parts $7K/mo; tech pay $4K/mo; 7.6% of $312K/mo RO gross; top quarter 125% (3 techs); 3.24 ROs/tech day; 2.35 hrs/RO</a:t>
            </a:r>
          </a:p>
          <a:p>
            <a:r>
              <a:t>LR HENDERSON: 106.0%; 3 of 7 under 85%; gap 567 hrs; labor $9K/mo + parts $5K/mo; tech pay $2K/mo; 4.2% of $357K/mo RO gross; top quarter 145% (2 techs); 2.94 ROs/tech day; 3.68 hrs/RO</a:t>
            </a:r>
          </a:p>
          <a:p>
            <a:r>
              <a:t>LR LV: 91.2%; 8 of 16 under 85%; gap 2,154 hrs; labor $42K/mo + parts $21K/mo; tech pay $9K/mo; 9.0% of $702K/mo RO gross; top quarter 131% (4 techs); 2.41 ROs/tech day; 3.54 hrs/RO</a:t>
            </a:r>
          </a:p>
          <a:p>
            <a:r>
              <a:t>LR RENO: 81.4%; 2 of 6 under 85%; gap 724 hrs; labor $14K/mo + parts $7K/mo; tech pay $3K/mo; 8.0% of $257K/mo RO gross; top quarter 96% (2 techs); 2.36 ROs/tech day; 3.20 hrs/RO</a:t>
            </a:r>
          </a:p>
          <a:p>
            <a:r>
              <a:t>MAZDA: 101.6%; 4 of 11 under 85%; gap 415 hrs; labor $6K/mo + parts $3K/mo; tech pay $1K/mo; 2.7% of $322K/mo RO gross; top quarter 123% (3 techs); 5.78 ROs/tech day; 1.54 hrs/RO</a:t>
            </a:r>
          </a:p>
          <a:p>
            <a:r>
              <a:t>NISSAN: 91.1%; 8 of 17 under 85%; gap 2,291 hrs; labor $30K/mo + parts $13K/mo; tech pay $9K/mo; 8.0% of $532K/mo RO gross; top quarter 132% (4 techs); 4.08 ROs/tech day; 2.29 hrs/RO</a:t>
            </a:r>
          </a:p>
          <a:p>
            <a:r>
              <a:t>SUBARU LV: 96.9%; 11 of 27 under 85%; gap 2,050 hrs; labor $29K/mo + parts $15K/mo; tech pay $5K/mo; 4.1% of $1.07M/mo RO gross; top quarter 132% (7 techs); 4.64 ROs/tech day; 2.07 hrs/RO</a:t>
            </a:r>
          </a:p>
          <a:p>
            <a:r>
              <a:t>SUBARU PRESCOTT: 98.4%; 6 of 12 under 85%; gap 3,523 hrs; labor $37K/mo + parts $21K/mo; tech pay $13K/mo; 20.0% of $288K/mo RO gross; top quarter 179% (3 techs); 4.73 ROs/tech day; 1.68 hrs/RO</a:t>
            </a:r>
          </a:p>
          <a:p>
            <a:r>
              <a:t>SUBARU ST GEORGE: 109.7%; 3 of 12 under 85%; gap 1,248 hrs; labor $14K/mo + parts $8K/mo; tech pay $5K/mo; 5.8% of $382K/mo RO gross; top quarter 146% (3 techs); 4.11 ROs/tech day; 2.20 hrs/RO</a:t>
            </a:r>
          </a:p>
          <a:p>
            <a:r>
              <a:t>TOYOTA FLAGSTAFF: 102.4%; 6 of 18 under 85%; gap 662 hrs; labor $8K/mo + parts $3K/mo; tech pay $2K/mo; 1.9% of $542K/mo RO gross; top quarter 151% (4 techs); 4.96 ROs/tech day; 1.84 hrs/RO</a:t>
            </a:r>
          </a:p>
          <a:p>
            <a:r>
              <a:t>TOYOTA HENDERSON: 104.3%; 20 of 59 under 85%; gap 4,057 hrs; labor $51K/mo + parts $19K/mo; tech pay $14K/mo; 2.9% of $2.44M/mo RO gross; top quarter 153% (15 techs); 6.41 ROs/tech day; 1.88 hrs/RO</a:t>
            </a:r>
          </a:p>
          <a:p>
            <a:r>
              <a:t>TOYOTA PRESCOTT: 83.6%; 11 of 22 under 85%; gap 4,174 hrs; labor $57K/mo + parts $20K/mo; tech pay $16K/mo; 13.5% of $573K/mo RO gross; top quarter 118% (6 techs); 4.22 ROs/tech day; 1.72 hrs/RO</a:t>
            </a:r>
          </a:p>
          <a:p>
            <a:r>
              <a:t>TOYOTA SPOKANE: 108.0%; 4 of 28 under 85%; gap 745 hrs; labor $8K/mo + parts $4K/mo; tech pay $3K/mo; 1.9% of $609K/mo RO gross; top quarter 134% (7 techs); 5.36 ROs/tech day; 1.81 hrs/RO</a:t>
            </a:r>
          </a:p>
          <a:p>
            <a:r>
              <a:t>VOLVO: 72.3%; 8 of 9 under 85%; gap 1,963 hrs; labor $40K/mo + parts $22K/mo; tech pay $5K/mo; 14.8% of $417K/mo RO gross; top quarter 89% (2 techs); 3.81 ROs/tech day; 1.92 hrs/RO</a:t>
            </a:r>
          </a:p>
          <a:p>
            <a:r>
              <a:t>VW HENDERSON: 92.2%; 6 of 19 under 85%; gap 1,416 hrs; labor $19K/mo + parts $5K/mo; tech pay $4K/mo; 4.8% of $516K/mo RO gross; top quarter 115% (5 techs); 3.77 ROs/tech day; 2.28 hrs/RO</a:t>
            </a:r>
          </a:p>
          <a:p>
            <a:r>
              <a:t>VW ST GEORGE: 70.0%; 5 of 5 under 85%; gap 1,149 hrs; labor $13K/mo + parts $7K/mo; tech pay $3K/mo; 19.0% of $109K/mo RO gross; top quarter 76% (1 techs); 3.81 ROs/tech day; 1.65 hrs/RO</a:t>
            </a:r>
          </a:p>
        </p:txBody>
      </p:sp>
      <p:sp>
        <p:nvSpPr>
          <p:cNvPr id="4" name="Slide Number Placeholder 3"/>
          <p:cNvSpPr>
            <a:spLocks noGrp="1"/>
          </p:cNvSpPr>
          <p:nvPr>
            <p:ph type="sldNum" idx="5" sz="quarter"/>
          </p:nvPr>
        </p:nvSpPr>
        <p:spPr/>
      </p:sp>
    </p:spTree>
  </p:cSld>
  <p:clrMapOvr>
    <a:masterClrMapping/>
  </p:clrMapOvr>
</p:notes>
</file>

<file path=ppt/notesSlides/notesSlide1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Value of a minute = each store's counted technicians' labor gross + parts gross per sold hour, divided by 60 (Qlik - Closed Repair Orders, all pay types, same rates as the proficiency opportunity slides). Tech-days = counted techs' worked hours (ADP) / 8 per day. Assumes each minute saved becomes a minute of flagged work. 583 counted technicians, same-store, INEOS excluded. Month = Dec 25, 2025 - Oct 9, 2026 / 9.49; year = month x 12.Talk track: staged parts delivered to the bay (Roundtable: 'Stage parts, deliver and retrieve'), dispatch with the next job ready, fast MPI approvals, tools and keys where they belong. Ten minutes a day is less than two parts-counter trips.</a:t>
            </a:r>
          </a:p>
          <a:p>
            <a:r>
              <a:t>Assumption to say out loud: a minute saved only counts if it turns into flagged time, so the store needs the work waiting.</a:t>
            </a:r>
          </a:p>
        </p:txBody>
      </p:sp>
      <p:sp>
        <p:nvSpPr>
          <p:cNvPr id="4" name="Slide Number Placeholder 3"/>
          <p:cNvSpPr>
            <a:spLocks noGrp="1"/>
          </p:cNvSpPr>
          <p:nvPr>
            <p:ph type="sldNum" idx="5" sz="quarter"/>
          </p:nvPr>
        </p:nvSpPr>
        <p:spPr/>
      </p:sp>
    </p:spTree>
  </p:cSld>
  <p:clrMapOvr>
    <a:masterClrMapping/>
  </p:clrMapOvr>
</p:notes>
</file>

<file path=ppt/notesSlides/notesSlide1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Value of a minute = each store's counted technicians' labor gross + parts gross per sold hour, divided by 60 (Qlik - Closed Repair Orders, all pay types, same rates as the proficiency opportunity slides). Tech-days = counted techs' worked hours (ADP) / 8 per day. Assumes each minute saved becomes a minute of flagged work. 583 counted technicians, same-store, INEOS excluded. Month = Dec 25, 2025 - Oct 9, 2026 / 9.49; year = month x 12. A year = one minute a day for every counted tech at the store, for a year. Per min = gross per tech minute.</a:t>
            </a:r>
          </a:p>
        </p:txBody>
      </p:sp>
      <p:sp>
        <p:nvSpPr>
          <p:cNvPr id="4" name="Slide Number Placeholder 3"/>
          <p:cNvSpPr>
            <a:spLocks noGrp="1"/>
          </p:cNvSpPr>
          <p:nvPr>
            <p:ph type="sldNum" idx="5" sz="quarter"/>
          </p:nvPr>
        </p:nvSpPr>
        <p:spPr/>
      </p:sp>
    </p:spTree>
  </p:cSld>
  <p:clrMapOvr>
    <a:masterClrMapping/>
  </p:clrMapOvr>
</p:notes>
</file>

<file path=ppt/notesSlides/notesSlide1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Warranty section, after the section break, ahead of Warranty Rate Increases (Oct 22: $3,788,200 added gross profit from the YTD RWR Financials vendor report replaced the warranty RO count here).</a:t>
            </a:r>
          </a:p>
          <a:p>
            <a:r>
              <a:t>Said: Jan GM slides 13-14 (audit chargebacks; Warranty Compliance). The Jan slide named six stores' chargebacks; kept to the $400,000 total here, in line with no store call-outs from the podium.</a:t>
            </a:r>
          </a:p>
        </p:txBody>
      </p:sp>
      <p:sp>
        <p:nvSpPr>
          <p:cNvPr id="4" name="Slide Number Placeholder 3"/>
          <p:cNvSpPr>
            <a:spLocks noGrp="1"/>
          </p:cNvSpPr>
          <p:nvPr>
            <p:ph type="sldNum" idx="5" sz="quarter"/>
          </p:nvPr>
        </p:nvSpPr>
        <p:spPr/>
      </p:sp>
    </p:spTree>
  </p:cSld>
  <p:clrMapOvr>
    <a:masterClrMapping/>
  </p:clrMapOvr>
</p:notes>
</file>

<file path=ppt/notesSlides/notesSlide1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YTD RWR Financials 2026 (warranty rate submission vendor), "YTD revenue secured": the added gross profit from approved increases, as more dollars per warranty labor hour sold or more parts markup. 19 stores have an approval this year; the other 14 have not had one yet. Labor $1,661,368, parts $2,126,832. Honda North uses its labor + parts ($463,396), not the vendor's $463,296 total (Noah, Oct 22: take the higher), so the group is $3,788,200 vs the report's $3,788,100.Talk track: these approvals are new money on every warranty claim, and they are why warranty ELR is up. The factory notices a higher rate too: more money in means more scrutiny. Every claim debited in an audit gives part of it back.</a:t>
            </a:r>
          </a:p>
          <a:p/>
          <a:p>
            <a:r>
              <a:t>Vendor store names: Findlay Acura = ACURA; Findlay Audi Reno Tahoe = AUDI RENO; Findlay BGMC Prescott = GMC PRESCOTT; Findlay Chevrolet = CHEVY LV; Findlay Chrysler Post Falls = CDJR POST FALLS; Findlay Honda Flagstaff = HONDA FLAGSTAFF; Findlay Honda Henderson = HONDA HENDERSON; Findlay Honda North = HONDA NORTH; Findlay Honda Spokane = HONDA SPOKANE; Findlay Hyundai Prescott = HYUNDAI PRESCOTT; Findlay Kia St George = KIA ST GEORGE; Findlay Lexus Spokane = LEXUS; Findlay Lincoln = LINCOLN; Findlay Mazda = MAZDA; Findlay Nissan Henderson = NISSAN; Findlay Subaru Prescott = SUBARU PRESCOTT; Land Rover Henderson = LR HENDERSON; Land Rover Las Vegas = LR LV; Land Rover Reno = LR RENO.</a:t>
            </a:r>
          </a:p>
        </p:txBody>
      </p:sp>
      <p:sp>
        <p:nvSpPr>
          <p:cNvPr id="4" name="Slide Number Placeholder 3"/>
          <p:cNvSpPr>
            <a:spLocks noGrp="1"/>
          </p:cNvSpPr>
          <p:nvPr>
            <p:ph type="sldNum" idx="5" sz="quarter"/>
          </p:nvPr>
        </p:nvSpPr>
        <p:spPr/>
      </p:sp>
    </p:spTree>
  </p:cSld>
  <p:clrMapOvr>
    <a:masterClrMapping/>
  </p:clrMapOvr>
</p:notes>
</file>

<file path=ppt/notesSlides/notesSlide1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Warranty labor sale / warranty sold hours.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Warranty labor sale / warranty sold hours. Jan-Sep 2026 YTD. Green at or above the group, red below.</a:t>
            </a:r>
          </a:p>
        </p:txBody>
      </p:sp>
      <p:sp>
        <p:nvSpPr>
          <p:cNvPr id="4" name="Slide Number Placeholder 3"/>
          <p:cNvSpPr>
            <a:spLocks noGrp="1"/>
          </p:cNvSpPr>
          <p:nvPr>
            <p:ph type="sldNum" idx="5" sz="quarter"/>
          </p:nvPr>
        </p:nvSpPr>
        <p:spPr/>
      </p:sp>
    </p:spTree>
  </p:cSld>
  <p:clrMapOvr>
    <a:masterClrMapping/>
  </p:clrMapOvr>
</p:notes>
</file>

<file path=ppt/notesSlides/notesSlide1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Change in Warranty ELR,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Warranty labor sale / warranty sold hours. Top and bottom five stores by change in Warranty ELR, Jan-Sep 2026 vs 2025. Moving now: Jul-Sep 2026 vs Jan-Mar 2026, each store against itself; the group moved +$1.73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Warranty pay type, parts gross / parts sale, by close month; 2025 January-December, 2026 January-September. Same-store, INEOS excluded (opened 2026). GMC Prescott body shop labor types excluded. Pulled Oct 22 2026.Example for the rate-increase story. The link to the approvals is the point we are making, not something the data proves on its own: 17 of the 19 stores with approvals got a parts markup increase (vendor YTD report), and warranty parts margin rose in every month. Mix of parts and campaigns also moves this line.</a:t>
            </a:r>
          </a:p>
        </p:txBody>
      </p:sp>
      <p:sp>
        <p:nvSpPr>
          <p:cNvPr id="4" name="Slide Number Placeholder 3"/>
          <p:cNvSpPr>
            <a:spLocks noGrp="1"/>
          </p:cNvSpPr>
          <p:nvPr>
            <p:ph type="sldNum" idx="5" sz="quarter"/>
          </p:nvPr>
        </p:nvSpPr>
        <p:spPr/>
      </p:sp>
    </p:spTree>
  </p:cSld>
  <p:clrMapOvr>
    <a:masterClrMapping/>
  </p:clrMapOvr>
</p:notes>
</file>

<file path=ppt/notesSlides/notesSlide1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Jan 2026 GM meeting (Day 1), slides 13-14: six warranty audits, primary causes and Warranty Compliance steps. Descriptions under each heading drafted for this deck; confirm against each OEM's warranty policy manual.DRAFT. Causes from Jan 2026 GM meeting slide 13; the two signature causes combined and Supporting evidence added (Noah, Oct 22: some manufacturers require photos of the failed component or proof a procedure was followed). That slide named six stores and their debits; stores are left off here, as on Warranty Compliance. The store amounts on the Jan slide add to $414,000 (headline said $400,000), so the slide says 'over $400,000'.</a:t>
            </a:r>
          </a:p>
        </p:txBody>
      </p:sp>
      <p:sp>
        <p:nvSpPr>
          <p:cNvPr id="4" name="Slide Number Placeholder 3"/>
          <p:cNvSpPr>
            <a:spLocks noGrp="1"/>
          </p:cNvSpPr>
          <p:nvPr>
            <p:ph type="sldNum" idx="5" sz="quarter"/>
          </p:nvPr>
        </p:nvSpPr>
        <p:spPr/>
      </p:sp>
    </p:spTree>
  </p:cSld>
  <p:clrMapOvr>
    <a:masterClrMapping/>
  </p:clrMapOvr>
</p:notes>
</file>

<file path=ppt/notesSlides/notesSlide1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Jan 2026 GM meeting (Day 1), slides 13-14: six warranty audits, primary causes and Warranty Compliance steps. Descriptions under each heading drafted for this deck; confirm against each OEM's warranty policy manual.DRAFT. Steps from Jan 2026 GM meeting slide 14 (Warranty Compliance); the GM responsibility line from slide 13.</a:t>
            </a:r>
          </a:p>
        </p:txBody>
      </p:sp>
      <p:sp>
        <p:nvSpPr>
          <p:cNvPr id="4" name="Slide Number Placeholder 3"/>
          <p:cNvSpPr>
            <a:spLocks noGrp="1"/>
          </p:cNvSpPr>
          <p:nvPr>
            <p:ph type="sldNum" idx="5" sz="quarter"/>
          </p:nvPr>
        </p:nvSpPr>
        <p:spPr/>
      </p:sp>
    </p:spTree>
  </p:cSld>
  <p:clrMapOvr>
    <a:masterClrMapping/>
  </p:clrMapOvr>
</p:notes>
</file>

<file path=ppt/notesSlides/notesSlide1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Distinct warranty ROs: every RO with a warranty line.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Distinct warranty ROs: every RO with a warranty line. Jan-Sep 2026 YTD.</a:t>
            </a:r>
          </a:p>
        </p:txBody>
      </p:sp>
      <p:sp>
        <p:nvSpPr>
          <p:cNvPr id="4" name="Slide Number Placeholder 3"/>
          <p:cNvSpPr>
            <a:spLocks noGrp="1"/>
          </p:cNvSpPr>
          <p:nvPr>
            <p:ph type="sldNum" idx="5" sz="quarter"/>
          </p:nvPr>
        </p:nvSpPr>
        <p:spPr/>
      </p:sp>
    </p:spTree>
  </p:cSld>
  <p:clrMapOvr>
    <a:masterClrMapping/>
  </p:clrMapOvr>
</p:notes>
</file>

<file path=ppt/notesSlides/notesSlide1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Change in warranty RO count (percent, so store size does not drive the ranking),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Distinct warranty ROs: every RO with a warranty line. Top and bottom five stores by change in warranty RO count (percent, so store size does not drive the ranking), Jan-Sep 2026 vs 2025. Moving now: Jul-Sep 2026 vs Jan-Mar 2026, each store against itself (monthly averages); the group moved +9.7%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
          <a:p>
            <a:r>
              <a:t>Before → after, by measure:</a:t>
            </a:r>
          </a:p>
          <a:p>
            <a:r>
              <a:t>CP Gross: top LINCOLN $865K → $1.26M; SUBARU PRESCOTT $832K → $1.21M; SUBARU ST GEORGE $1.48M → $1.98M. Bottom CHEVY LV $7.40M → $7.08M; AUDI RENO $3.38M → $2.90M; VW ST GEORGE $702K → $560K.</a:t>
            </a:r>
          </a:p>
          <a:p>
            <a:r>
              <a:t>CP RO Count: top KIA LV 7,156 → 8,133; HYUNDAI PRESCOTT 1,784 → 2,010; GMC PRESCOTT 2,810 → 3,107. Bottom AUDI RENO 4,379 → 3,917; HYUNDAI ST GEORGE 3,784 → 3,349; VW ST GEORGE 2,251 → 1,919.</a:t>
            </a:r>
          </a:p>
          <a:p>
            <a:r>
              <a:t>CP Hours per RO: top HYUNDAI ST GEORGE 1.03 → 1.43; SUBARU ST GEORGE 1.75 → 2.30; KIA ST GEORGE 0.99 → 1.29. Bottom VOLVO 2.58 → 2.28; VW ST GEORGE 1.95 → 1.71; LR RENO 4.04 → 3.48.</a:t>
            </a:r>
          </a:p>
          <a:p>
            <a:r>
              <a:t>CP ELR: top HONDA SPOKANE $117.05 → $143.89; VOLVO $181.59 → $222.12; LINCOLN $139.55 → $167.64. Bottom ACURA $221.78 → $210.50; SUBARU ST GEORGE $148.84 → $138.48; KIA LV $184.36 → $149.23.</a:t>
            </a:r>
          </a:p>
          <a:p>
            <a:r>
              <a:t>CP Parts GP %: top ACURA 38.7% → 44.9%; NISSAN 38.2% → 42.7%; SUBARU PRESCOTT 31.0% → 34.8%. Bottom HYUNDAI PRESCOTT 39.9% → 39.4%; TOYOTA SPOKANE 45.3% → 44.5%; AUDI HENDERSON 35.8% → 33.6%.Source: Qlik - Closed Repair Orders. Customer pay, by close date. Same-store, 33 stores (INEOS excluded, opened 2026). GMC Prescott body shop labor types excluded. CP gross = CP labor gross + CP parts gross. Change is Jan-Sep 2026 vs Jan-Sep 2025. Ranked by percent change (points for parts GP %), so store size does not drive the ranking.</a:t>
            </a:r>
          </a:p>
        </p:txBody>
      </p:sp>
      <p:sp>
        <p:nvSpPr>
          <p:cNvPr id="4" name="Slide Number Placeholder 3"/>
          <p:cNvSpPr>
            <a:spLocks noGrp="1"/>
          </p:cNvSpPr>
          <p:nvPr>
            <p:ph type="sldNum" idx="5" sz="quarter"/>
          </p:nvPr>
        </p:nvSpPr>
        <p:spPr/>
      </p:sp>
    </p:spTree>
  </p:cSld>
  <p:clrMapOvr>
    <a:masterClrMapping/>
  </p:clrMapOvr>
</p:notes>
</file>

<file path=ppt/notesSlides/notesSlide1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
          <a:p>
            <a:r>
              <a:t>Before → after, by measure:</a:t>
            </a:r>
          </a:p>
          <a:p>
            <a:r>
              <a:t>CP Gross per Month: top MAZDA $155K → $209K; KIA ST GEORGE $85K → $112K; CDJR POST FALLS $218K → $279K. Bottom SUBARU ST GEORGE $220K → $218K; HONDA HENDERSON $841K → $823K; CADILLAC $317K → $283K.</a:t>
            </a:r>
          </a:p>
          <a:p>
            <a:r>
              <a:t>CP ROs per Month: top LEXUS 425 → 570; CDJR POST FALLS 543 → 667; LR LV 350 → 415. Bottom VW ST GEORGE 207 → 203; HYUNDAI ST GEORGE 377 → 365; CADILLAC 609 → 582.</a:t>
            </a:r>
          </a:p>
          <a:p>
            <a:r>
              <a:t>CP Hours per RO: top MAZDA 1.35 → 1.65; HYUNDAI PRESCOTT 1.56 → 1.76; HYUNDAI ST GEORGE 1.37 → 1.54. Bottom HONDA HENDERSON 2.06 → 1.86; VW HENDERSON 2.66 → 2.37; CADILLAC 2.85 → 2.45.</a:t>
            </a:r>
          </a:p>
          <a:p>
            <a:r>
              <a:t>CP ELR: top VW ST GEORGE $128.27 → $141.89; AUDI RENO $227.34 → $244.12; HONDA SPOKANE $139.40 → $147.93. Bottom SUBARU ST GEORGE $141.07 → $136.71; LEXUS $196.84 → $187.42; ACURA $232.02 → $199.04.</a:t>
            </a:r>
          </a:p>
          <a:p>
            <a:r>
              <a:t>CP Parts GP %: top ACURA 39.4% → 46.6%; VW ST GEORGE 39.1% → 43.8%; GMC PRESCOTT 35.3% → 39.2%. Bottom CHEVY LV 38.2% → 35.0%; LINCOLN 39.9% → 36.0%; HONDA HENDERSON 44.3% → 40.0%.Source: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p:txBody>
      </p:sp>
      <p:sp>
        <p:nvSpPr>
          <p:cNvPr id="4" name="Slide Number Placeholder 3"/>
          <p:cNvSpPr>
            <a:spLocks noGrp="1"/>
          </p:cNvSpPr>
          <p:nvPr>
            <p:ph type="sldNum" idx="5" sz="quarter"/>
          </p:nvPr>
        </p:nvSpPr>
        <p:spPr/>
      </p:sp>
    </p:spTree>
  </p:cSld>
  <p:clrMapOvr>
    <a:masterClrMapping/>
  </p:clrMapOvr>
</p:notes>
</file>

<file path=ppt/notesSlides/notesSlide1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Left: Jan-Sep 2026 vs Jan-Sep 2025. Right: Q3 2026 vs Q1 2026. Top-5 finishes counted across five measures (parts $ per RO dropped, Oct 23); top six stores shown in each view.</a:t>
            </a:r>
          </a:p>
        </p:txBody>
      </p:sp>
      <p:sp>
        <p:nvSpPr>
          <p:cNvPr id="4" name="Slide Number Placeholder 3"/>
          <p:cNvSpPr>
            <a:spLocks noGrp="1"/>
          </p:cNvSpPr>
          <p:nvPr>
            <p:ph type="sldNum" idx="5" sz="quarter"/>
          </p:nvPr>
        </p:nvSpPr>
        <p:spPr/>
      </p:sp>
    </p:spTree>
  </p:cSld>
  <p:clrMapOvr>
    <a:masterClrMapping/>
  </p:clrMapOvr>
</p:notes>
</file>

<file path=ppt/notesSlides/notesSlide1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Each row is the top Q1-to-Q3 mover on that measure. Opcode row: MAZDA tops 3 of the four opcode lists; its biggest move is shown. Opcode closing % = ROs with the service ÷ customer-pay ROs on the op-code report basis.</a:t>
            </a:r>
          </a:p>
          <a:p/>
          <a:p>
            <a:r>
              <a:t>MAZDA's August opcode increase was confirmed with the store as a real change (Noah, Oct 19 2026).</a:t>
            </a:r>
          </a:p>
        </p:txBody>
      </p:sp>
      <p:sp>
        <p:nvSpPr>
          <p:cNvPr id="4" name="Slide Number Placeholder 3"/>
          <p:cNvSpPr>
            <a:spLocks noGrp="1"/>
          </p:cNvSpPr>
          <p:nvPr>
            <p:ph type="sldNum" idx="5" sz="quarter"/>
          </p:nvPr>
        </p:nvSpPr>
        <p:spPr/>
      </p:sp>
    </p:spTree>
  </p:cSld>
  <p:clrMapOvr>
    <a:masterClrMapping/>
  </p:clrMapOvr>
</p:notes>
</file>

<file path=ppt/notesSlides/notesSlide1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Labor + parts gross a year, each from its own slide: Technician Proficiency (each tech under 85% raised to 85%, monthly x 12), Hours per RO (0.1 hr x CP ROs at each store's gross per hour), Op Codes (stores under each benchmark brought to it), One More CP RO a Day (307 open days), Tech Minute (one minute per tech per day). Jan-Sep 2026, same-store, 33 stores. The levers overlap - op code services are part of hours per RO, and selling more hours needs tech time - so they are not added together.Talk track: the GM owns the conditions - staffing, pay plans, marketing budget, the parts department. The service manager owns the daily process - dispatch, the inspection, the menu, the drive. Each line has its own slide earlier in the day.</a:t>
            </a:r>
          </a:p>
        </p:txBody>
      </p:sp>
      <p:sp>
        <p:nvSpPr>
          <p:cNvPr id="4" name="Slide Number Placeholder 3"/>
          <p:cNvSpPr>
            <a:spLocks noGrp="1"/>
          </p:cNvSpPr>
          <p:nvPr>
            <p:ph type="sldNum" idx="5" sz="quarter"/>
          </p:nvPr>
        </p:nvSpPr>
        <p:spPr/>
      </p:sp>
    </p:spTree>
  </p:cSld>
  <p:clrMapOvr>
    <a:masterClrMapping/>
  </p:clrMapOvr>
</p:notes>
</file>

<file path=ppt/notesSlides/notesSlide1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the close, after the last Productivity / Proficiency slide.</a:t>
            </a:r>
          </a:p>
          <a:p>
            <a:r>
              <a:t>Said: Roundtable slide 24 (Misc &amp; Closing). Commitments tracking was dropped for this meeting, so this asks for commitments without a scorecard.</a:t>
            </a:r>
          </a:p>
        </p:txBody>
      </p:sp>
      <p:sp>
        <p:nvSpPr>
          <p:cNvPr id="4" name="Slide Number Placeholder 3"/>
          <p:cNvSpPr>
            <a:spLocks noGrp="1"/>
          </p:cNvSpPr>
          <p:nvPr>
            <p:ph type="sldNum" idx="5" sz="quarter"/>
          </p:nvPr>
        </p:nvSpPr>
        <p:spPr/>
      </p:sp>
    </p:spTree>
  </p:cSld>
  <p:clrMapOvr>
    <a:masterClrMapping/>
  </p:clrMapOvr>
</p:notes>
</file>

<file path=ppt/notesSlides/notesSlide1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Fixed Ops Accounting TB (Family FIXED GROSS, service + parts, body shop excluded), pulled Oct 8 2026. History Jan 2021 - Sep 2026; months before a store opened are ignored. Same-store, INEOS excluded. Matches the P&amp;L for every store except GMC PRESCOTT service (TB higher by $153,746 Jan-Sep 2026, $286,430 Jan-Sep 2025; GMC PRESCOTT's combined record holds on both). Record = Jan-Sep 2026 above every prior Jan-Sep for that store. % = combined gain over the previous best Jan-Sep. Stores with shorter histories count the same: HONDA SPOKANE (from 2025), HYUNDAI PRESCOTT (from 2023), LR HENDERSON (from 2022), NISSAN (from 2024). Order: records in all three first, then by % gain.</a:t>
            </a:r>
          </a:p>
        </p:txBody>
      </p:sp>
      <p:sp>
        <p:nvSpPr>
          <p:cNvPr id="4" name="Slide Number Placeholder 3"/>
          <p:cNvSpPr>
            <a:spLocks noGrp="1"/>
          </p:cNvSpPr>
          <p:nvPr>
            <p:ph type="sldNum" idx="5" sz="quarter"/>
          </p:nvPr>
        </p:nvSpPr>
        <p:spPr/>
      </p:sp>
    </p:spTree>
  </p:cSld>
  <p:clrMapOvr>
    <a:masterClrMapping/>
  </p:clrMapOvr>
</p:notes>
</file>

<file path=ppt/notesSlides/notesSlide1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Fixed Ops Accounting TB (Family FIXED GROSS, service + parts, body shop excluded), pulled Oct 8 2026. History Jan 2021 - Sep 2026; months before a store opened are ignored. Same-store, INEOS excluded. Matches the P&amp;L for every store except GMC PRESCOTT service (TB higher by $153,746 Jan-Sep 2026, $286,430 Jan-Sep 2025; GMC PRESCOTT's combined record holds on both). Combined service + parts, Jan-Sep 2026 vs the store's best prior Jan-Sep.</a:t>
            </a:r>
          </a:p>
        </p:txBody>
      </p:sp>
      <p:sp>
        <p:nvSpPr>
          <p:cNvPr id="4" name="Slide Number Placeholder 3"/>
          <p:cNvSpPr>
            <a:spLocks noGrp="1"/>
          </p:cNvSpPr>
          <p:nvPr>
            <p:ph type="sldNum" idx="5" sz="quarter"/>
          </p:nvPr>
        </p:nvSpPr>
        <p:spPr/>
      </p:sp>
    </p:spTree>
  </p:cSld>
  <p:clrMapOvr>
    <a:masterClrMapping/>
  </p:clrMapOvr>
</p:notes>
</file>

<file path=ppt/notesSlides/notesSlide1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Fixed Ops Accounting TB (Family FIXED GROSS, service + parts, body shop excluded), pulled Oct 8 2026. History Jan 2021 - Sep 2026; months before a store opened are ignored. Same-store, INEOS excluded. Matches the P&amp;L for every store except GMC PRESCOTT service (TB higher by $153,746 Jan-Sep 2026, $286,430 Jan-Sep 2025; GMC PRESCOTT's combined record holds on both). Combined service + parts, Jan-Sep 2026 vs the store's best prior Jan-Sep.</a:t>
            </a:r>
          </a:p>
        </p:txBody>
      </p:sp>
      <p:sp>
        <p:nvSpPr>
          <p:cNvPr id="4" name="Slide Number Placeholder 3"/>
          <p:cNvSpPr>
            <a:spLocks noGrp="1"/>
          </p:cNvSpPr>
          <p:nvPr>
            <p:ph type="sldNum" idx="5" sz="quarter"/>
          </p:nvPr>
        </p:nvSpPr>
        <p:spPr/>
      </p:sp>
    </p:spTree>
  </p:cSld>
  <p:clrMapOvr>
    <a:masterClrMapping/>
  </p:clrMapOvr>
</p:notes>
</file>

<file path=ppt/notesSlides/notesSlide1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Fixed Ops Accounting TB (Family FIXED GROSS, service + parts, body shop excluded), pulled Oct 8 2026. History Jan 2021 - Sep 2026; months before a store opened are ignored. Same-store, INEOS excluded. Matches the P&amp;L for every store except GMC PRESCOTT service (TB higher by $153,746 Jan-Sep 2026, $286,430 Jan-Sep 2025; GMC PRESCOTT's combined record holds on both). Count of times a store set a new all-time monthly high in service, parts or combined gross, Jan-Sep 2026. Each new high counts, so a record beaten twice counts twice.</a:t>
            </a:r>
          </a:p>
        </p:txBody>
      </p:sp>
      <p:sp>
        <p:nvSpPr>
          <p:cNvPr id="4" name="Slide Number Placeholder 3"/>
          <p:cNvSpPr>
            <a:spLocks noGrp="1"/>
          </p:cNvSpPr>
          <p:nvPr>
            <p:ph type="sldNum" idx="5" sz="quarter"/>
          </p:nvPr>
        </p:nvSpPr>
        <p:spPr/>
      </p:sp>
    </p:spTree>
  </p:cSld>
  <p:clrMapOvr>
    <a:masterClrMapping/>
  </p:clrMapOvr>
</p:notes>
</file>

<file path=ppt/notesSlides/notesSlide1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Month each record was set, by store:</a:t>
            </a:r>
          </a:p>
          <a:p>
            <a:r>
              <a:t>AUDI HENDERSON: parts record reset once (Jul); combined record reset twice (Apr, Jul).</a:t>
            </a:r>
          </a:p>
          <a:p>
            <a:r>
              <a:t>CDJR POST FALLS: service record reset once (Jul); combined record reset once (Jul).</a:t>
            </a:r>
          </a:p>
          <a:p>
            <a:r>
              <a:t>GMC PRESCOTT: parts record reset once (Apr); combined record reset once (Apr).</a:t>
            </a:r>
          </a:p>
          <a:p>
            <a:r>
              <a:t>HONDA HENDERSON: service record reset 3 times (Mar, Jun, Jul); parts record reset once (Jul); combined record reset 3 times (Mar, Jun, Jul).</a:t>
            </a:r>
          </a:p>
          <a:p>
            <a:r>
              <a:t>HONDA SPOKANE: service record reset 4 times (Mar, Apr, Jun, Jul); parts record reset once (Jul); combined record reset 4 times (Mar, Apr, Jun, Jul).</a:t>
            </a:r>
          </a:p>
          <a:p>
            <a:r>
              <a:t>HYUNDAI PRESCOTT: service record reset twice (Mar, Jul); parts record reset once (Feb); combined record reset 3 times (Feb, Mar, Jul).</a:t>
            </a:r>
          </a:p>
          <a:p>
            <a:r>
              <a:t>HYUNDAI ST GEORGE: service record reset 4 times (Jan, Mar, Jul, Sep).</a:t>
            </a:r>
          </a:p>
          <a:p>
            <a:r>
              <a:t>KIA LV: service record reset once (Sep).</a:t>
            </a:r>
          </a:p>
          <a:p>
            <a:r>
              <a:t>KIA ST GEORGE: service record reset twice (Apr, Jul); parts record reset once (Jul); combined record reset once (Jul).</a:t>
            </a:r>
          </a:p>
          <a:p>
            <a:r>
              <a:t>LEXUS: service record reset twice (Mar, May); parts record reset once (May); combined record reset once (May).</a:t>
            </a:r>
          </a:p>
          <a:p>
            <a:r>
              <a:t>LINCOLN: service record reset twice (Aug, Sep); parts record reset once (Mar); combined record reset 3 times (Mar, Aug, Sep).</a:t>
            </a:r>
          </a:p>
          <a:p>
            <a:r>
              <a:t>LR HENDERSON: service record reset twice (Aug, Sep); parts record reset once (Jul); combined record reset once (Jul).</a:t>
            </a:r>
          </a:p>
          <a:p>
            <a:r>
              <a:t>LR LV: service record reset once (Jul); combined record reset once (Jul).</a:t>
            </a:r>
          </a:p>
          <a:p>
            <a:r>
              <a:t>LR RENO: service record reset once (Aug); combined record reset once (Aug).</a:t>
            </a:r>
          </a:p>
          <a:p>
            <a:r>
              <a:t>MAZDA: service record reset twice (Aug, Sep); parts record reset once (Sep); combined record reset twice (Aug, Sep).</a:t>
            </a:r>
          </a:p>
          <a:p>
            <a:r>
              <a:t>NISSAN: service record reset 3 times (Mar, Jun, Sep); parts record reset twice (Jun, Jul); combined record reset 4 times (Mar, Jun, Jul, Sep).</a:t>
            </a:r>
          </a:p>
          <a:p>
            <a:r>
              <a:t>SUBARU PRESCOTT: combined record reset once (Apr).</a:t>
            </a:r>
          </a:p>
          <a:p>
            <a:r>
              <a:t>SUBARU ST GEORGE: service record reset twice (Jan, Mar); parts record reset 3 times (Mar, Apr, Jun); combined record reset twice (Mar, Jun).</a:t>
            </a:r>
          </a:p>
          <a:p>
            <a:r>
              <a:t>TOYOTA FLAGSTAFF: service record reset 3 times (Mar, Apr, May); combined record reset once (Mar).</a:t>
            </a:r>
          </a:p>
          <a:p>
            <a:r>
              <a:t>TOYOTA HENDERSON: service record reset twice (Apr, Jul); parts record reset 3 times (Jun, Aug, Sep); combined record reset 3 times (Apr, Jun, Jul).</a:t>
            </a:r>
          </a:p>
          <a:p>
            <a:r>
              <a:t>TOYOTA PRESCOTT: service record reset twice (Mar, Apr); parts record reset once (Apr); combined record reset once (Apr).</a:t>
            </a:r>
          </a:p>
          <a:p>
            <a:r>
              <a:t>TOYOTA SPOKANE: service record reset once (Jul); combined record reset once (Jul).</a:t>
            </a:r>
          </a:p>
          <a:p>
            <a:r>
              <a:t>VOLVO: service record reset twice (Apr, Jun).</a:t>
            </a:r>
          </a:p>
          <a:p/>
          <a:p>
            <a:r>
              <a:t>Source: Qlik - Fixed Ops Accounting TB (Family FIXED GROSS, service + parts, body shop excluded), pulled Oct 8 2026. History Jan 2021 - Sep 2026; months before a store opened are ignored. Same-store, INEOS excluded. Matches the P&amp;L for every store except GMC PRESCOTT service (TB higher by $153,746 Jan-Sep 2026, $286,430 Jan-Sep 2025; GMC PRESCOTT's combined record holds on both). Count of times a store set a new all-time monthly high, Jan-Sep 2026. SVC = service gross, PTS = parts gross, TOT = service + parts combined. Each new high counts, so a record beaten twice counts twice.</a:t>
            </a:r>
          </a:p>
        </p:txBody>
      </p:sp>
      <p:sp>
        <p:nvSpPr>
          <p:cNvPr id="4" name="Slide Number Placeholder 3"/>
          <p:cNvSpPr>
            <a:spLocks noGrp="1"/>
          </p:cNvSpPr>
          <p:nvPr>
            <p:ph type="sldNum" idx="5" sz="quarter"/>
          </p:nvPr>
        </p:nvSpPr>
        <p:spPr/>
      </p:sp>
    </p:spTree>
  </p:cSld>
  <p:clrMapOvr>
    <a:masterClrMapping/>
  </p:clrMapOvr>
</p:notes>
</file>

<file path=ppt/notesSlides/notesSlide1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OPTION D - door rate by store, split by labor grid, standard rate only. Store door rate sheet (Oct 15 2026); averages weighted by Jul-Sep CP sold hours. Bars start at $100. INEOS on the sheet but excluded (same-store).</a:t>
            </a:r>
          </a:p>
          <a:p>
            <a:r>
              <a:t>CHEVY LV: premium $264.87 (Diesel/Corvette)</a:t>
            </a:r>
          </a:p>
          <a:p>
            <a:r>
              <a:t>AUDI HENDERSON: premium $399.00 (Lambo Non-Grid)</a:t>
            </a:r>
          </a:p>
          <a:p>
            <a:r>
              <a:t>VW HENDERSON: premium $210.00 (EV)</a:t>
            </a:r>
          </a:p>
          <a:p>
            <a:r>
              <a:t>CHEVY GMC BULLHEAD: premium $199.87 (Non-Standard Grid)</a:t>
            </a:r>
          </a:p>
          <a:p>
            <a:r>
              <a:t>SUBARU ST GEORGE: premium $210.00 (EV)</a:t>
            </a:r>
          </a:p>
          <a:p>
            <a:r>
              <a:t>HONDA FLAGSTAFF: premium $215.00 (EV)</a:t>
            </a:r>
          </a:p>
          <a:p>
            <a:r>
              <a:t>GMC PRESCOTT: premium $230.00 (EV)</a:t>
            </a:r>
          </a:p>
          <a:p>
            <a:r>
              <a:t>KIA ST GEORGE: premium $195.00 (EV)</a:t>
            </a:r>
          </a:p>
        </p:txBody>
      </p:sp>
      <p:sp>
        <p:nvSpPr>
          <p:cNvPr id="4" name="Slide Number Placeholder 3"/>
          <p:cNvSpPr>
            <a:spLocks noGrp="1"/>
          </p:cNvSpPr>
          <p:nvPr>
            <p:ph type="sldNum" idx="5" sz="quarter"/>
          </p:nvPr>
        </p:nvSpPr>
        <p:spPr/>
      </p:sp>
    </p:spTree>
  </p:cSld>
  <p:clrMapOvr>
    <a:masterClrMapping/>
  </p:clrMapOvr>
</p:notes>
</file>

<file path=ppt/notesSlides/notesSlide1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2026 by close month. Same-store, INEOS excluded (opened 2026). GMC Prescott body shop labor types excluded. Gap = internal GP% minus customer-pay GP%, in points. Green at or better than the group gap (−2.7 pts), red below. 8 stores run internal at or above customer pay: CADILLAC, CHEVY GMC BULLHEAD, GMC PRESCOTT, HYUNDAI PRESCOTT, HYUNDAI ST GEORGE, KIA LV, KIA ST GEORGE and VW ST GEORGE. A wide gap can be a policy (internal detail, used-car recon pricing) rather than a miss; confirm with the store before calling it out.</a:t>
            </a:r>
          </a:p>
        </p:txBody>
      </p:sp>
      <p:sp>
        <p:nvSpPr>
          <p:cNvPr id="4" name="Slide Number Placeholder 3"/>
          <p:cNvSpPr>
            <a:spLocks noGrp="1"/>
          </p:cNvSpPr>
          <p:nvPr>
            <p:ph type="sldNum" idx="5" sz="quarter"/>
          </p:nvPr>
        </p:nvSpPr>
        <p:spPr/>
      </p:sp>
    </p:spTree>
  </p:cSld>
  <p:clrMapOvr>
    <a:masterClrMapping/>
  </p:clrMapOvr>
</p:notes>
</file>

<file path=ppt/notesSlides/notesSlide1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2026 by close month. Same-store, INEOS excluded (opened 2026). GMC Prescott body shop labor types excluded. Gap = internal GP% minus customer-pay GP%, in points. Green at or better than the group gap (−4.2 pts), red below. 5 stores run internal at or above customer pay: CHEVY LV, HONDA HENDERSON, SUBARU PRESCOTT, TOYOTA HENDERSON and VOLVO. A wide gap can be a policy (internal detail, used-car recon pricing) rather than a miss; confirm with the store before calling it out.</a:t>
            </a:r>
          </a:p>
        </p:txBody>
      </p:sp>
      <p:sp>
        <p:nvSpPr>
          <p:cNvPr id="4" name="Slide Number Placeholder 3"/>
          <p:cNvSpPr>
            <a:spLocks noGrp="1"/>
          </p:cNvSpPr>
          <p:nvPr>
            <p:ph type="sldNum" idx="5" sz="quarter"/>
          </p:nvPr>
        </p:nvSpPr>
        <p:spPr/>
      </p:sp>
    </p:spTree>
  </p:cSld>
  <p:clrMapOvr>
    <a:masterClrMapping/>
  </p:clrMapOvr>
</p:notes>
</file>

<file path=ppt/notesSlides/notesSlide1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Store-reported from each store's MPI tool (MPI_Video_Completion_Jul-Sep_2026.xlsx): CP + warranty ROs closed Jul 1 - Sep 30, 2026, including $0 ROs; % of ROs, not of MPIs. Group = RO-weighted by each store's CP+W ROs (Qlik Closed Repair Orders, 128,726). Tools differ by store; GMC Prescott's report is not filtered to CP+W; Volvo and VW St George did not say. Honda Spokane and Toyota Spokane report the same figure for MPI and video. Photo % (optional on the form) = CP+W ROs with at least one technician photo on the MPI / CP+W ROs closed. Scored against the group. Green at or above the group, red below. 5 stores do not report it (N/A or blank).Optional measure: five stores do not report it, so it is a review slide, not a meeting slide.</a:t>
            </a:r>
          </a:p>
        </p:txBody>
      </p:sp>
      <p:sp>
        <p:nvSpPr>
          <p:cNvPr id="4" name="Slide Number Placeholder 3"/>
          <p:cNvSpPr>
            <a:spLocks noGrp="1"/>
          </p:cNvSpPr>
          <p:nvPr>
            <p:ph type="sldNum" idx="5" sz="quarter"/>
          </p:nvPr>
        </p:nvSpPr>
        <p:spPr/>
      </p:sp>
    </p:spTree>
  </p:cSld>
  <p:clrMapOvr>
    <a:masterClrMapping/>
  </p:clrMapOvr>
</p:notes>
</file>

<file path=ppt/notesSlides/notesSlide1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gross per month,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ros per month,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hours per ro,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elr,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parts $ per ro,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parts gp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ros per month,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hours per ro,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elr,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parts gp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gross per month,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Opcode closing % = ROs with the service ÷ customer-pay ROs on the op-code report basis, same as the Opcode Benchmarks slides.</a:t>
            </a:r>
          </a:p>
          <a:p/>
          <a:p>
            <a:r>
              <a:t>Review note: the month line is the store's own monthly alignment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Opcode closing % = ROs with the service ÷ customer-pay ROs on the op-code report basis, same as the Opcode Benchmarks slides.</a:t>
            </a:r>
          </a:p>
          <a:p/>
          <a:p>
            <a:r>
              <a:t>Review note: the month line is the store's own monthly balance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Opcode closing % = ROs with the service ÷ customer-pay ROs on the op-code report basis, same as the Opcode Benchmarks slides.</a:t>
            </a:r>
          </a:p>
          <a:p/>
          <a:p>
            <a:r>
              <a:t>Review note: the month line is the store's own monthly brake fluid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Opcode closing % = ROs with the service ÷ customer-pay ROs on the op-code report basis, same as the Opcode Benchmarks slides.</a:t>
            </a:r>
          </a:p>
          <a:p/>
          <a:p>
            <a:r>
              <a:t>Review note: the month line is the store's own monthly fuel service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 Period: Jan–Sep 2026 vs Jan–Sep 2025. Stores with under 50 CP ROs in the base period not ranked (none were excluded).</a:t>
            </a:r>
          </a:p>
          <a:p/>
          <a:p>
            <a:r>
              <a:t>Review note: percent change rewards a store coming off a weak base. The before → after values are on the card so the room sees the starting point.</a:t>
            </a:r>
          </a:p>
        </p:txBody>
      </p:sp>
      <p:sp>
        <p:nvSpPr>
          <p:cNvPr id="4" name="Slide Number Placeholder 3"/>
          <p:cNvSpPr>
            <a:spLocks noGrp="1"/>
          </p:cNvSpPr>
          <p:nvPr>
            <p:ph type="sldNum" idx="5" sz="quarter"/>
          </p:nvPr>
        </p:nvSpPr>
        <p:spPr/>
      </p:sp>
    </p:spTree>
  </p:cSld>
  <p:clrMapOvr>
    <a:masterClrMapping/>
  </p:clrMapOvr>
</p:notes>
</file>

<file path=ppt/notesSlides/notesSlide1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 Period: Jul–Sep 2026 vs Jul–Sep 2025. Stores with under 50 CP ROs in the base period not ranked (none were excluded).</a:t>
            </a:r>
          </a:p>
          <a:p/>
          <a:p>
            <a:r>
              <a:t>Review note: percent change rewards a store coming off a weak base. The before → after values are on the card so the room sees the starting point.</a:t>
            </a:r>
          </a:p>
        </p:txBody>
      </p:sp>
      <p:sp>
        <p:nvSpPr>
          <p:cNvPr id="4" name="Slide Number Placeholder 3"/>
          <p:cNvSpPr>
            <a:spLocks noGrp="1"/>
          </p:cNvSpPr>
          <p:nvPr>
            <p:ph type="sldNum" idx="5" sz="quarter"/>
          </p:nvPr>
        </p:nvSpPr>
        <p:spPr/>
      </p:sp>
    </p:spTree>
  </p:cSld>
  <p:clrMapOvr>
    <a:masterClrMapping/>
  </p:clrMapOvr>
</p:notes>
</file>

<file path=ppt/notesSlides/notesSlide1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 Top-3 finishes counted across six measures in each of two periods (Jan-Sep and Jul-Sep), 12 lists in all. Top 8 stores shown.</a:t>
            </a:r>
          </a:p>
        </p:txBody>
      </p:sp>
      <p:sp>
        <p:nvSpPr>
          <p:cNvPr id="4" name="Slide Number Placeholder 3"/>
          <p:cNvSpPr>
            <a:spLocks noGrp="1"/>
          </p:cNvSpPr>
          <p:nvPr>
            <p:ph type="sldNum" idx="5" sz="quarter"/>
          </p:nvPr>
        </p:nvSpPr>
        <p:spPr/>
      </p:sp>
    </p:spTree>
  </p:cSld>
  <p:clrMapOvr>
    <a:masterClrMapping/>
  </p:clrMapOvr>
</p:notes>
</file>

<file path=ppt/notesSlides/notesSlide1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2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2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2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2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2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xml"/><Relationship Id="rId3" Type="http://schemas.openxmlformats.org/officeDocument/2006/relationships/chart" Target="../charts/chart2.xml"/><Relationship Id="rId4" Type="http://schemas.openxmlformats.org/officeDocument/2006/relationships/chart" Target="../charts/chart3.xml"/><Relationship Id="rId5" Type="http://schemas.openxmlformats.org/officeDocument/2006/relationships/chart" Target="../charts/chart4.xml"/><Relationship Id="rId6" Type="http://schemas.openxmlformats.org/officeDocument/2006/relationships/chart" Target="../charts/chart5.xml"/><Relationship Id="rId7" Type="http://schemas.openxmlformats.org/officeDocument/2006/relationships/chart" Target="../charts/chart6.xml"/><Relationship Id="rId8"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7.xml"/><Relationship Id="rId3" Type="http://schemas.openxmlformats.org/officeDocument/2006/relationships/chart" Target="../charts/chart8.xml"/><Relationship Id="rId4" Type="http://schemas.openxmlformats.org/officeDocument/2006/relationships/chart" Target="../charts/chart9.xml"/><Relationship Id="rId5" Type="http://schemas.openxmlformats.org/officeDocument/2006/relationships/chart" Target="../charts/chart10.xml"/><Relationship Id="rId6"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1.xml"/><Relationship Id="rId3" Type="http://schemas.openxmlformats.org/officeDocument/2006/relationships/chart" Target="../charts/chart12.xml"/><Relationship Id="rId4" Type="http://schemas.openxmlformats.org/officeDocument/2006/relationships/chart" Target="../charts/chart13.xml"/><Relationship Id="rId5" Type="http://schemas.openxmlformats.org/officeDocument/2006/relationships/chart" Target="../charts/chart14.xml"/><Relationship Id="rId6" Type="http://schemas.openxmlformats.org/officeDocument/2006/relationships/chart" Target="../charts/chart15.xml"/><Relationship Id="rId7" Type="http://schemas.openxmlformats.org/officeDocument/2006/relationships/chart" Target="../charts/chart16.xml"/><Relationship Id="rId8"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7.xml"/><Relationship Id="rId3" Type="http://schemas.openxmlformats.org/officeDocument/2006/relationships/chart" Target="../charts/chart18.xml"/><Relationship Id="rId4" Type="http://schemas.openxmlformats.org/officeDocument/2006/relationships/chart" Target="../charts/chart19.xml"/><Relationship Id="rId5" Type="http://schemas.openxmlformats.org/officeDocument/2006/relationships/chart" Target="../charts/chart20.xml"/><Relationship Id="rId6" Type="http://schemas.openxmlformats.org/officeDocument/2006/relationships/chart" Target="../charts/chart21.xml"/><Relationship Id="rId7" Type="http://schemas.openxmlformats.org/officeDocument/2006/relationships/chart" Target="../charts/chart22.xml"/><Relationship Id="rId8"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3.xml"/><Relationship Id="rId3" Type="http://schemas.openxmlformats.org/officeDocument/2006/relationships/chart" Target="../charts/chart24.xml"/><Relationship Id="rId4" Type="http://schemas.openxmlformats.org/officeDocument/2006/relationships/chart" Target="../charts/chart25.xml"/><Relationship Id="rId5" Type="http://schemas.openxmlformats.org/officeDocument/2006/relationships/chart" Target="../charts/chart26.xml"/><Relationship Id="rId6"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7.xml"/><Relationship Id="rId3" Type="http://schemas.openxmlformats.org/officeDocument/2006/relationships/chart" Target="../charts/chart28.xml"/><Relationship Id="rId4" Type="http://schemas.openxmlformats.org/officeDocument/2006/relationships/chart" Target="../charts/chart29.xml"/><Relationship Id="rId5" Type="http://schemas.openxmlformats.org/officeDocument/2006/relationships/chart" Target="../charts/chart30.xml"/><Relationship Id="rId6" Type="http://schemas.openxmlformats.org/officeDocument/2006/relationships/chart" Target="../charts/chart31.xml"/><Relationship Id="rId7" Type="http://schemas.openxmlformats.org/officeDocument/2006/relationships/chart" Target="../charts/chart32.xml"/><Relationship Id="rId8"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33.xml"/><Relationship Id="rId3" Type="http://schemas.openxmlformats.org/officeDocument/2006/relationships/chart" Target="../charts/chart34.xml"/><Relationship Id="rId4" Type="http://schemas.openxmlformats.org/officeDocument/2006/relationships/chart" Target="../charts/chart35.xml"/><Relationship Id="rId5" Type="http://schemas.openxmlformats.org/officeDocument/2006/relationships/chart" Target="../charts/chart36.xml"/><Relationship Id="rId6" Type="http://schemas.openxmlformats.org/officeDocument/2006/relationships/chart" Target="../charts/chart37.xml"/><Relationship Id="rId7" Type="http://schemas.openxmlformats.org/officeDocument/2006/relationships/chart" Target="../charts/chart38.xml"/><Relationship Id="rId8"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39.xml"/><Relationship Id="rId3" Type="http://schemas.openxmlformats.org/officeDocument/2006/relationships/chart" Target="../charts/chart40.xml"/><Relationship Id="rId4" Type="http://schemas.openxmlformats.org/officeDocument/2006/relationships/chart" Target="../charts/chart41.xml"/><Relationship Id="rId5" Type="http://schemas.openxmlformats.org/officeDocument/2006/relationships/chart" Target="../charts/chart42.xml"/><Relationship Id="rId6" Type="http://schemas.openxmlformats.org/officeDocument/2006/relationships/chart" Target="../charts/chart43.xml"/><Relationship Id="rId7" Type="http://schemas.openxmlformats.org/officeDocument/2006/relationships/chart" Target="../charts/chart44.xml"/><Relationship Id="rId8"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45.xml"/><Relationship Id="rId3" Type="http://schemas.openxmlformats.org/officeDocument/2006/relationships/chart" Target="../charts/chart46.xml"/><Relationship Id="rId4" Type="http://schemas.openxmlformats.org/officeDocument/2006/relationships/chart" Target="../charts/chart47.xml"/><Relationship Id="rId5" Type="http://schemas.openxmlformats.org/officeDocument/2006/relationships/chart" Target="../charts/chart48.xml"/><Relationship Id="rId6"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49.xml"/><Relationship Id="rId3" Type="http://schemas.openxmlformats.org/officeDocument/2006/relationships/chart" Target="../charts/chart50.xml"/><Relationship Id="rId4" Type="http://schemas.openxmlformats.org/officeDocument/2006/relationships/chart" Target="../charts/chart51.xml"/><Relationship Id="rId5" Type="http://schemas.openxmlformats.org/officeDocument/2006/relationships/chart" Target="../charts/chart52.xml"/><Relationship Id="rId6"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53.xml"/><Relationship Id="rId3" Type="http://schemas.openxmlformats.org/officeDocument/2006/relationships/chart" Target="../charts/chart54.xml"/><Relationship Id="rId4" Type="http://schemas.openxmlformats.org/officeDocument/2006/relationships/chart" Target="../charts/chart55.xml"/><Relationship Id="rId5" Type="http://schemas.openxmlformats.org/officeDocument/2006/relationships/chart" Target="../charts/chart56.xml"/><Relationship Id="rId6"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57.xml"/><Relationship Id="rId3" Type="http://schemas.openxmlformats.org/officeDocument/2006/relationships/chart" Target="../charts/chart58.xml"/><Relationship Id="rId4" Type="http://schemas.openxmlformats.org/officeDocument/2006/relationships/chart" Target="../charts/chart59.xml"/><Relationship Id="rId5" Type="http://schemas.openxmlformats.org/officeDocument/2006/relationships/chart" Target="../charts/chart60.xml"/><Relationship Id="rId6" Type="http://schemas.openxmlformats.org/officeDocument/2006/relationships/chart" Target="../charts/chart61.xml"/><Relationship Id="rId7" Type="http://schemas.openxmlformats.org/officeDocument/2006/relationships/chart" Target="../charts/chart62.xml"/><Relationship Id="rId8"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63.xml"/><Relationship Id="rId3" Type="http://schemas.openxmlformats.org/officeDocument/2006/relationships/chart" Target="../charts/chart64.xml"/><Relationship Id="rId4" Type="http://schemas.openxmlformats.org/officeDocument/2006/relationships/chart" Target="../charts/chart65.xml"/><Relationship Id="rId5" Type="http://schemas.openxmlformats.org/officeDocument/2006/relationships/chart" Target="../charts/chart66.xml"/><Relationship Id="rId6"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67.xml"/><Relationship Id="rId3" Type="http://schemas.openxmlformats.org/officeDocument/2006/relationships/chart" Target="../charts/chart68.xml"/><Relationship Id="rId4" Type="http://schemas.openxmlformats.org/officeDocument/2006/relationships/chart" Target="../charts/chart69.xml"/><Relationship Id="rId5" Type="http://schemas.openxmlformats.org/officeDocument/2006/relationships/chart" Target="../charts/chart70.xml"/><Relationship Id="rId6"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71.xml"/><Relationship Id="rId3" Type="http://schemas.openxmlformats.org/officeDocument/2006/relationships/chart" Target="../charts/chart72.xml"/><Relationship Id="rId4" Type="http://schemas.openxmlformats.org/officeDocument/2006/relationships/chart" Target="../charts/chart73.xml"/><Relationship Id="rId5" Type="http://schemas.openxmlformats.org/officeDocument/2006/relationships/chart" Target="../charts/chart74.xml"/><Relationship Id="rId6"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75.xml"/><Relationship Id="rId3" Type="http://schemas.openxmlformats.org/officeDocument/2006/relationships/chart" Target="../charts/chart76.xml"/><Relationship Id="rId4" Type="http://schemas.openxmlformats.org/officeDocument/2006/relationships/chart" Target="../charts/chart77.xml"/><Relationship Id="rId5" Type="http://schemas.openxmlformats.org/officeDocument/2006/relationships/chart" Target="../charts/chart78.xml"/><Relationship Id="rId6"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79.xml"/><Relationship Id="rId3" Type="http://schemas.openxmlformats.org/officeDocument/2006/relationships/chart" Target="../charts/chart80.xml"/><Relationship Id="rId4" Type="http://schemas.openxmlformats.org/officeDocument/2006/relationships/chart" Target="../charts/chart81.xml"/><Relationship Id="rId5" Type="http://schemas.openxmlformats.org/officeDocument/2006/relationships/chart" Target="../charts/chart82.xml"/><Relationship Id="rId6"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83.xml"/><Relationship Id="rId3" Type="http://schemas.openxmlformats.org/officeDocument/2006/relationships/chart" Target="../charts/chart84.xml"/><Relationship Id="rId4" Type="http://schemas.openxmlformats.org/officeDocument/2006/relationships/chart" Target="../charts/chart85.xml"/><Relationship Id="rId5" Type="http://schemas.openxmlformats.org/officeDocument/2006/relationships/chart" Target="../charts/chart86.xml"/><Relationship Id="rId6" Type="http://schemas.openxmlformats.org/officeDocument/2006/relationships/chart" Target="../charts/chart87.xml"/><Relationship Id="rId7" Type="http://schemas.openxmlformats.org/officeDocument/2006/relationships/chart" Target="../charts/chart88.xml"/><Relationship Id="rId8" Type="http://schemas.openxmlformats.org/officeDocument/2006/relationships/notesSlide" Target="../notesSlides/notesSlide108.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9.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0.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1.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89.xml"/><Relationship Id="rId3" Type="http://schemas.openxmlformats.org/officeDocument/2006/relationships/chart" Target="../charts/chart90.xml"/><Relationship Id="rId4" Type="http://schemas.openxmlformats.org/officeDocument/2006/relationships/chart" Target="../charts/chart91.xml"/><Relationship Id="rId5" Type="http://schemas.openxmlformats.org/officeDocument/2006/relationships/chart" Target="../charts/chart92.xml"/><Relationship Id="rId6" Type="http://schemas.openxmlformats.org/officeDocument/2006/relationships/chart" Target="../charts/chart93.xml"/><Relationship Id="rId7" Type="http://schemas.openxmlformats.org/officeDocument/2006/relationships/chart" Target="../charts/chart94.xml"/><Relationship Id="rId8" Type="http://schemas.openxmlformats.org/officeDocument/2006/relationships/notesSlide" Target="../notesSlides/notesSlide11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3.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4.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5.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95.xml"/><Relationship Id="rId3" Type="http://schemas.openxmlformats.org/officeDocument/2006/relationships/chart" Target="../charts/chart96.xml"/><Relationship Id="rId4" Type="http://schemas.openxmlformats.org/officeDocument/2006/relationships/chart" Target="../charts/chart97.xml"/><Relationship Id="rId5" Type="http://schemas.openxmlformats.org/officeDocument/2006/relationships/chart" Target="../charts/chart98.xml"/><Relationship Id="rId6" Type="http://schemas.openxmlformats.org/officeDocument/2006/relationships/chart" Target="../charts/chart99.xml"/><Relationship Id="rId7" Type="http://schemas.openxmlformats.org/officeDocument/2006/relationships/chart" Target="../charts/chart100.xml"/><Relationship Id="rId8" Type="http://schemas.openxmlformats.org/officeDocument/2006/relationships/notesSlide" Target="../notesSlides/notesSlide116.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8.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9.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0.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1.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01.xml"/><Relationship Id="rId3" Type="http://schemas.openxmlformats.org/officeDocument/2006/relationships/chart" Target="../charts/chart102.xml"/><Relationship Id="rId4" Type="http://schemas.openxmlformats.org/officeDocument/2006/relationships/chart" Target="../charts/chart103.xml"/><Relationship Id="rId5" Type="http://schemas.openxmlformats.org/officeDocument/2006/relationships/chart" Target="../charts/chart104.xml"/><Relationship Id="rId6" Type="http://schemas.openxmlformats.org/officeDocument/2006/relationships/notesSlide" Target="../notesSlides/notesSlide122.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3.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4.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5.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6.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05.xml"/><Relationship Id="rId3" Type="http://schemas.openxmlformats.org/officeDocument/2006/relationships/chart" Target="../charts/chart106.xml"/><Relationship Id="rId4" Type="http://schemas.openxmlformats.org/officeDocument/2006/relationships/chart" Target="../charts/chart107.xml"/><Relationship Id="rId5" Type="http://schemas.openxmlformats.org/officeDocument/2006/relationships/chart" Target="../charts/chart108.xml"/><Relationship Id="rId6" Type="http://schemas.openxmlformats.org/officeDocument/2006/relationships/chart" Target="../charts/chart109.xml"/><Relationship Id="rId7" Type="http://schemas.openxmlformats.org/officeDocument/2006/relationships/chart" Target="../charts/chart110.xml"/><Relationship Id="rId8" Type="http://schemas.openxmlformats.org/officeDocument/2006/relationships/notesSlide" Target="../notesSlides/notesSlide128.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9.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0.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1.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11.xml"/><Relationship Id="rId3" Type="http://schemas.openxmlformats.org/officeDocument/2006/relationships/chart" Target="../charts/chart112.xml"/><Relationship Id="rId4" Type="http://schemas.openxmlformats.org/officeDocument/2006/relationships/chart" Target="../charts/chart113.xml"/><Relationship Id="rId5" Type="http://schemas.openxmlformats.org/officeDocument/2006/relationships/chart" Target="../charts/chart114.xml"/><Relationship Id="rId6" Type="http://schemas.openxmlformats.org/officeDocument/2006/relationships/chart" Target="../charts/chart115.xml"/><Relationship Id="rId7" Type="http://schemas.openxmlformats.org/officeDocument/2006/relationships/chart" Target="../charts/chart116.xml"/><Relationship Id="rId8" Type="http://schemas.openxmlformats.org/officeDocument/2006/relationships/notesSlide" Target="../notesSlides/notesSlide132.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3.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4.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5.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17.xml"/><Relationship Id="rId3" Type="http://schemas.openxmlformats.org/officeDocument/2006/relationships/chart" Target="../charts/chart118.xml"/><Relationship Id="rId4" Type="http://schemas.openxmlformats.org/officeDocument/2006/relationships/chart" Target="../charts/chart119.xml"/><Relationship Id="rId5" Type="http://schemas.openxmlformats.org/officeDocument/2006/relationships/chart" Target="../charts/chart120.xml"/><Relationship Id="rId6" Type="http://schemas.openxmlformats.org/officeDocument/2006/relationships/chart" Target="../charts/chart121.xml"/><Relationship Id="rId7" Type="http://schemas.openxmlformats.org/officeDocument/2006/relationships/chart" Target="../charts/chart122.xml"/><Relationship Id="rId8" Type="http://schemas.openxmlformats.org/officeDocument/2006/relationships/notesSlide" Target="../notesSlides/notesSlide136.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7.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8.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9.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23.xml"/><Relationship Id="rId3" Type="http://schemas.openxmlformats.org/officeDocument/2006/relationships/chart" Target="../charts/chart124.xml"/><Relationship Id="rId4" Type="http://schemas.openxmlformats.org/officeDocument/2006/relationships/chart" Target="../charts/chart125.xml"/><Relationship Id="rId5" Type="http://schemas.openxmlformats.org/officeDocument/2006/relationships/chart" Target="../charts/chart126.xml"/><Relationship Id="rId6" Type="http://schemas.openxmlformats.org/officeDocument/2006/relationships/notesSlide" Target="../notesSlides/notesSlide140.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1.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2.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3.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4.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5.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6.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7.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8.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9.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0.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1.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2.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3.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4.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27.xml"/><Relationship Id="rId3" Type="http://schemas.openxmlformats.org/officeDocument/2006/relationships/chart" Target="../charts/chart128.xml"/><Relationship Id="rId4" Type="http://schemas.openxmlformats.org/officeDocument/2006/relationships/chart" Target="../charts/chart129.xml"/><Relationship Id="rId5" Type="http://schemas.openxmlformats.org/officeDocument/2006/relationships/chart" Target="../charts/chart130.xml"/><Relationship Id="rId6" Type="http://schemas.openxmlformats.org/officeDocument/2006/relationships/notesSlide" Target="../notesSlides/notesSlide155.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6.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7.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8.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31.xml"/><Relationship Id="rId3" Type="http://schemas.openxmlformats.org/officeDocument/2006/relationships/chart" Target="../charts/chart132.xml"/><Relationship Id="rId4" Type="http://schemas.openxmlformats.org/officeDocument/2006/relationships/chart" Target="../charts/chart133.xml"/><Relationship Id="rId5" Type="http://schemas.openxmlformats.org/officeDocument/2006/relationships/chart" Target="../charts/chart134.xml"/><Relationship Id="rId6" Type="http://schemas.openxmlformats.org/officeDocument/2006/relationships/notesSlide" Target="../notesSlides/notesSlide159.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0.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1.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35.xml"/><Relationship Id="rId3" Type="http://schemas.openxmlformats.org/officeDocument/2006/relationships/chart" Target="../charts/chart136.xml"/><Relationship Id="rId4" Type="http://schemas.openxmlformats.org/officeDocument/2006/relationships/chart" Target="../charts/chart137.xml"/><Relationship Id="rId5" Type="http://schemas.openxmlformats.org/officeDocument/2006/relationships/chart" Target="../charts/chart138.xml"/><Relationship Id="rId6" Type="http://schemas.openxmlformats.org/officeDocument/2006/relationships/chart" Target="../charts/chart139.xml"/><Relationship Id="rId7" Type="http://schemas.openxmlformats.org/officeDocument/2006/relationships/chart" Target="../charts/chart140.xml"/><Relationship Id="rId8" Type="http://schemas.openxmlformats.org/officeDocument/2006/relationships/notesSlide" Target="../notesSlides/notesSlide162.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3.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4.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5.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6.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7.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8.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9.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0.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1.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2.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3.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4.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5.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6.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7.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8.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9.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0.xml"/></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41.xml"/><Relationship Id="rId3" Type="http://schemas.openxmlformats.org/officeDocument/2006/relationships/chart" Target="../charts/chart142.xml"/><Relationship Id="rId4" Type="http://schemas.openxmlformats.org/officeDocument/2006/relationships/chart" Target="../charts/chart143.xml"/><Relationship Id="rId5" Type="http://schemas.openxmlformats.org/officeDocument/2006/relationships/chart" Target="../charts/chart144.xml"/><Relationship Id="rId6" Type="http://schemas.openxmlformats.org/officeDocument/2006/relationships/chart" Target="../charts/chart145.xml"/><Relationship Id="rId7" Type="http://schemas.openxmlformats.org/officeDocument/2006/relationships/chart" Target="../charts/chart146.xml"/><Relationship Id="rId8" Type="http://schemas.openxmlformats.org/officeDocument/2006/relationships/chart" Target="../charts/chart147.xml"/><Relationship Id="rId9" Type="http://schemas.openxmlformats.org/officeDocument/2006/relationships/chart" Target="../charts/chart148.xml"/><Relationship Id="rId10" Type="http://schemas.openxmlformats.org/officeDocument/2006/relationships/chart" Target="../charts/chart149.xml"/><Relationship Id="rId11" Type="http://schemas.openxmlformats.org/officeDocument/2006/relationships/chart" Target="../charts/chart150.xml"/><Relationship Id="rId12" Type="http://schemas.openxmlformats.org/officeDocument/2006/relationships/notesSlide" Target="../notesSlides/notesSlide181.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51.xml"/><Relationship Id="rId3" Type="http://schemas.openxmlformats.org/officeDocument/2006/relationships/chart" Target="../charts/chart152.xml"/><Relationship Id="rId4" Type="http://schemas.openxmlformats.org/officeDocument/2006/relationships/chart" Target="../charts/chart153.xml"/><Relationship Id="rId5" Type="http://schemas.openxmlformats.org/officeDocument/2006/relationships/chart" Target="../charts/chart154.xml"/><Relationship Id="rId6" Type="http://schemas.openxmlformats.org/officeDocument/2006/relationships/chart" Target="../charts/chart155.xml"/><Relationship Id="rId7" Type="http://schemas.openxmlformats.org/officeDocument/2006/relationships/chart" Target="../charts/chart156.xml"/><Relationship Id="rId8" Type="http://schemas.openxmlformats.org/officeDocument/2006/relationships/chart" Target="../charts/chart157.xml"/><Relationship Id="rId9" Type="http://schemas.openxmlformats.org/officeDocument/2006/relationships/chart" Target="../charts/chart158.xml"/><Relationship Id="rId10" Type="http://schemas.openxmlformats.org/officeDocument/2006/relationships/chart" Target="../charts/chart159.xml"/><Relationship Id="rId11" Type="http://schemas.openxmlformats.org/officeDocument/2006/relationships/chart" Target="../charts/chart160.xml"/><Relationship Id="rId12" Type="http://schemas.openxmlformats.org/officeDocument/2006/relationships/notesSlide" Target="../notesSlides/notesSlide182.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61.xml"/><Relationship Id="rId3" Type="http://schemas.openxmlformats.org/officeDocument/2006/relationships/chart" Target="../charts/chart162.xml"/><Relationship Id="rId4" Type="http://schemas.openxmlformats.org/officeDocument/2006/relationships/chart" Target="../charts/chart163.xml"/><Relationship Id="rId5" Type="http://schemas.openxmlformats.org/officeDocument/2006/relationships/chart" Target="../charts/chart164.xml"/><Relationship Id="rId6" Type="http://schemas.openxmlformats.org/officeDocument/2006/relationships/chart" Target="../charts/chart165.xml"/><Relationship Id="rId7" Type="http://schemas.openxmlformats.org/officeDocument/2006/relationships/chart" Target="../charts/chart166.xml"/><Relationship Id="rId8" Type="http://schemas.openxmlformats.org/officeDocument/2006/relationships/chart" Target="../charts/chart167.xml"/><Relationship Id="rId9" Type="http://schemas.openxmlformats.org/officeDocument/2006/relationships/chart" Target="../charts/chart168.xml"/><Relationship Id="rId10" Type="http://schemas.openxmlformats.org/officeDocument/2006/relationships/chart" Target="../charts/chart169.xml"/><Relationship Id="rId11" Type="http://schemas.openxmlformats.org/officeDocument/2006/relationships/chart" Target="../charts/chart170.xml"/><Relationship Id="rId12" Type="http://schemas.openxmlformats.org/officeDocument/2006/relationships/notesSlide" Target="../notesSlides/notesSlide183.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71.xml"/><Relationship Id="rId3" Type="http://schemas.openxmlformats.org/officeDocument/2006/relationships/chart" Target="../charts/chart172.xml"/><Relationship Id="rId4" Type="http://schemas.openxmlformats.org/officeDocument/2006/relationships/chart" Target="../charts/chart173.xml"/><Relationship Id="rId5" Type="http://schemas.openxmlformats.org/officeDocument/2006/relationships/chart" Target="../charts/chart174.xml"/><Relationship Id="rId6" Type="http://schemas.openxmlformats.org/officeDocument/2006/relationships/chart" Target="../charts/chart175.xml"/><Relationship Id="rId7" Type="http://schemas.openxmlformats.org/officeDocument/2006/relationships/chart" Target="../charts/chart176.xml"/><Relationship Id="rId8" Type="http://schemas.openxmlformats.org/officeDocument/2006/relationships/chart" Target="../charts/chart177.xml"/><Relationship Id="rId9" Type="http://schemas.openxmlformats.org/officeDocument/2006/relationships/chart" Target="../charts/chart178.xml"/><Relationship Id="rId10" Type="http://schemas.openxmlformats.org/officeDocument/2006/relationships/chart" Target="../charts/chart179.xml"/><Relationship Id="rId11" Type="http://schemas.openxmlformats.org/officeDocument/2006/relationships/chart" Target="../charts/chart180.xml"/><Relationship Id="rId12" Type="http://schemas.openxmlformats.org/officeDocument/2006/relationships/notesSlide" Target="../notesSlides/notesSlide184.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81.xml"/><Relationship Id="rId3" Type="http://schemas.openxmlformats.org/officeDocument/2006/relationships/chart" Target="../charts/chart182.xml"/><Relationship Id="rId4" Type="http://schemas.openxmlformats.org/officeDocument/2006/relationships/chart" Target="../charts/chart183.xml"/><Relationship Id="rId5" Type="http://schemas.openxmlformats.org/officeDocument/2006/relationships/chart" Target="../charts/chart184.xml"/><Relationship Id="rId6" Type="http://schemas.openxmlformats.org/officeDocument/2006/relationships/chart" Target="../charts/chart185.xml"/><Relationship Id="rId7" Type="http://schemas.openxmlformats.org/officeDocument/2006/relationships/chart" Target="../charts/chart186.xml"/><Relationship Id="rId8" Type="http://schemas.openxmlformats.org/officeDocument/2006/relationships/chart" Target="../charts/chart187.xml"/><Relationship Id="rId9" Type="http://schemas.openxmlformats.org/officeDocument/2006/relationships/chart" Target="../charts/chart188.xml"/><Relationship Id="rId10" Type="http://schemas.openxmlformats.org/officeDocument/2006/relationships/chart" Target="../charts/chart189.xml"/><Relationship Id="rId11" Type="http://schemas.openxmlformats.org/officeDocument/2006/relationships/chart" Target="../charts/chart190.xml"/><Relationship Id="rId12" Type="http://schemas.openxmlformats.org/officeDocument/2006/relationships/notesSlide" Target="../notesSlides/notesSlide185.xm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91.xml"/><Relationship Id="rId3" Type="http://schemas.openxmlformats.org/officeDocument/2006/relationships/chart" Target="../charts/chart192.xml"/><Relationship Id="rId4" Type="http://schemas.openxmlformats.org/officeDocument/2006/relationships/chart" Target="../charts/chart193.xml"/><Relationship Id="rId5" Type="http://schemas.openxmlformats.org/officeDocument/2006/relationships/chart" Target="../charts/chart194.xml"/><Relationship Id="rId6" Type="http://schemas.openxmlformats.org/officeDocument/2006/relationships/chart" Target="../charts/chart195.xml"/><Relationship Id="rId7" Type="http://schemas.openxmlformats.org/officeDocument/2006/relationships/chart" Target="../charts/chart196.xml"/><Relationship Id="rId8" Type="http://schemas.openxmlformats.org/officeDocument/2006/relationships/chart" Target="../charts/chart197.xml"/><Relationship Id="rId9" Type="http://schemas.openxmlformats.org/officeDocument/2006/relationships/chart" Target="../charts/chart198.xml"/><Relationship Id="rId10" Type="http://schemas.openxmlformats.org/officeDocument/2006/relationships/chart" Target="../charts/chart199.xml"/><Relationship Id="rId11" Type="http://schemas.openxmlformats.org/officeDocument/2006/relationships/chart" Target="../charts/chart200.xml"/><Relationship Id="rId12" Type="http://schemas.openxmlformats.org/officeDocument/2006/relationships/notesSlide" Target="../notesSlides/notesSlide186.xml"/></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01.xml"/><Relationship Id="rId3" Type="http://schemas.openxmlformats.org/officeDocument/2006/relationships/chart" Target="../charts/chart202.xml"/><Relationship Id="rId4" Type="http://schemas.openxmlformats.org/officeDocument/2006/relationships/chart" Target="../charts/chart203.xml"/><Relationship Id="rId5" Type="http://schemas.openxmlformats.org/officeDocument/2006/relationships/chart" Target="../charts/chart204.xml"/><Relationship Id="rId6" Type="http://schemas.openxmlformats.org/officeDocument/2006/relationships/chart" Target="../charts/chart205.xml"/><Relationship Id="rId7" Type="http://schemas.openxmlformats.org/officeDocument/2006/relationships/notesSlide" Target="../notesSlides/notesSlide187.xml"/></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06.xml"/><Relationship Id="rId3" Type="http://schemas.openxmlformats.org/officeDocument/2006/relationships/chart" Target="../charts/chart207.xml"/><Relationship Id="rId4" Type="http://schemas.openxmlformats.org/officeDocument/2006/relationships/chart" Target="../charts/chart208.xml"/><Relationship Id="rId5" Type="http://schemas.openxmlformats.org/officeDocument/2006/relationships/chart" Target="../charts/chart209.xml"/><Relationship Id="rId6" Type="http://schemas.openxmlformats.org/officeDocument/2006/relationships/chart" Target="../charts/chart210.xml"/><Relationship Id="rId7" Type="http://schemas.openxmlformats.org/officeDocument/2006/relationships/notesSlide" Target="../notesSlides/notesSlide188.xm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11.xml"/><Relationship Id="rId3" Type="http://schemas.openxmlformats.org/officeDocument/2006/relationships/chart" Target="../charts/chart212.xml"/><Relationship Id="rId4" Type="http://schemas.openxmlformats.org/officeDocument/2006/relationships/chart" Target="../charts/chart213.xml"/><Relationship Id="rId5" Type="http://schemas.openxmlformats.org/officeDocument/2006/relationships/chart" Target="../charts/chart214.xml"/><Relationship Id="rId6" Type="http://schemas.openxmlformats.org/officeDocument/2006/relationships/chart" Target="../charts/chart215.xml"/><Relationship Id="rId7" Type="http://schemas.openxmlformats.org/officeDocument/2006/relationships/notesSlide" Target="../notesSlides/notesSlide189.xm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16.xml"/><Relationship Id="rId3" Type="http://schemas.openxmlformats.org/officeDocument/2006/relationships/chart" Target="../charts/chart217.xml"/><Relationship Id="rId4" Type="http://schemas.openxmlformats.org/officeDocument/2006/relationships/chart" Target="../charts/chart218.xml"/><Relationship Id="rId5" Type="http://schemas.openxmlformats.org/officeDocument/2006/relationships/chart" Target="../charts/chart219.xml"/><Relationship Id="rId6" Type="http://schemas.openxmlformats.org/officeDocument/2006/relationships/chart" Target="../charts/chart220.xml"/><Relationship Id="rId7" Type="http://schemas.openxmlformats.org/officeDocument/2006/relationships/notesSlide" Target="../notesSlides/notesSlide190.xml"/></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21.xml"/><Relationship Id="rId3" Type="http://schemas.openxmlformats.org/officeDocument/2006/relationships/chart" Target="../charts/chart222.xml"/><Relationship Id="rId4" Type="http://schemas.openxmlformats.org/officeDocument/2006/relationships/chart" Target="../charts/chart223.xml"/><Relationship Id="rId5" Type="http://schemas.openxmlformats.org/officeDocument/2006/relationships/chart" Target="../charts/chart224.xml"/><Relationship Id="rId6" Type="http://schemas.openxmlformats.org/officeDocument/2006/relationships/chart" Target="../charts/chart225.xml"/><Relationship Id="rId7" Type="http://schemas.openxmlformats.org/officeDocument/2006/relationships/notesSlide" Target="../notesSlides/notesSlide191.xml"/></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26.xml"/><Relationship Id="rId3" Type="http://schemas.openxmlformats.org/officeDocument/2006/relationships/chart" Target="../charts/chart227.xml"/><Relationship Id="rId4" Type="http://schemas.openxmlformats.org/officeDocument/2006/relationships/chart" Target="../charts/chart228.xml"/><Relationship Id="rId5" Type="http://schemas.openxmlformats.org/officeDocument/2006/relationships/chart" Target="../charts/chart229.xml"/><Relationship Id="rId6" Type="http://schemas.openxmlformats.org/officeDocument/2006/relationships/chart" Target="../charts/chart230.xml"/><Relationship Id="rId7" Type="http://schemas.openxmlformats.org/officeDocument/2006/relationships/notesSlide" Target="../notesSlides/notesSlide192.xml"/></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31.xml"/><Relationship Id="rId3" Type="http://schemas.openxmlformats.org/officeDocument/2006/relationships/chart" Target="../charts/chart232.xml"/><Relationship Id="rId4" Type="http://schemas.openxmlformats.org/officeDocument/2006/relationships/chart" Target="../charts/chart233.xml"/><Relationship Id="rId5" Type="http://schemas.openxmlformats.org/officeDocument/2006/relationships/chart" Target="../charts/chart234.xml"/><Relationship Id="rId6" Type="http://schemas.openxmlformats.org/officeDocument/2006/relationships/chart" Target="../charts/chart235.xml"/><Relationship Id="rId7" Type="http://schemas.openxmlformats.org/officeDocument/2006/relationships/notesSlide" Target="../notesSlides/notesSlide193.xml"/></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36.xml"/><Relationship Id="rId3" Type="http://schemas.openxmlformats.org/officeDocument/2006/relationships/chart" Target="../charts/chart237.xml"/><Relationship Id="rId4" Type="http://schemas.openxmlformats.org/officeDocument/2006/relationships/chart" Target="../charts/chart238.xml"/><Relationship Id="rId5" Type="http://schemas.openxmlformats.org/officeDocument/2006/relationships/chart" Target="../charts/chart239.xml"/><Relationship Id="rId6" Type="http://schemas.openxmlformats.org/officeDocument/2006/relationships/chart" Target="../charts/chart240.xml"/><Relationship Id="rId7" Type="http://schemas.openxmlformats.org/officeDocument/2006/relationships/notesSlide" Target="../notesSlides/notesSlide194.xml"/></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41.xml"/><Relationship Id="rId3" Type="http://schemas.openxmlformats.org/officeDocument/2006/relationships/chart" Target="../charts/chart242.xml"/><Relationship Id="rId4" Type="http://schemas.openxmlformats.org/officeDocument/2006/relationships/chart" Target="../charts/chart243.xml"/><Relationship Id="rId5" Type="http://schemas.openxmlformats.org/officeDocument/2006/relationships/chart" Target="../charts/chart244.xml"/><Relationship Id="rId6" Type="http://schemas.openxmlformats.org/officeDocument/2006/relationships/chart" Target="../charts/chart245.xml"/><Relationship Id="rId7" Type="http://schemas.openxmlformats.org/officeDocument/2006/relationships/notesSlide" Target="../notesSlides/notesSlide195.xml"/></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6.xml"/></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7.xml"/></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8.xml"/></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9.xml"/></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0.xml"/></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1.xml"/></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2.xml"/></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3.xml"/></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2194560" cy="667512"/>
          </a:xfrm>
          <a:prstGeom prst="rect">
            <a:avLst/>
          </a:prstGeom>
        </p:spPr>
      </p:pic>
      <p:sp>
        <p:nvSpPr>
          <p:cNvPr id="3" name="Text 0"/>
          <p:cNvSpPr txBox="1"/>
          <p:nvPr/>
        </p:nvSpPr>
        <p:spPr>
          <a:xfrm>
            <a:off x="667512" y="2377440"/>
            <a:ext cx="10789920" cy="1737360"/>
          </a:xfrm>
          <a:prstGeom prst="rect">
            <a:avLst/>
          </a:prstGeom>
          <a:noFill/>
          <a:ln/>
        </p:spPr>
        <p:txBody>
          <a:bodyPr wrap="square" lIns="0" tIns="0" rIns="0" bIns="0" rtlCol="0" anchor="ctr"/>
          <a:lstStyle/>
          <a:p>
            <a:pPr indent="0" marL="0">
              <a:buNone/>
            </a:pPr>
            <a:r>
              <a:rPr lang="en-US" sz="6200" b="1" dirty="0">
                <a:solidFill>
                  <a:srgbClr val="1A1A1A"/>
                </a:solidFill>
                <a:latin typeface="Inter" pitchFamily="34" charset="0"/>
                <a:ea typeface="Inter" pitchFamily="34" charset="-122"/>
                <a:cs typeface="Inter" pitchFamily="34" charset="-120"/>
              </a:rPr>
              <a:t>Fixed Operations</a:t>
            </a:r>
            <a:endParaRPr lang="en-US" sz="6200" dirty="0"/>
          </a:p>
        </p:txBody>
      </p:sp>
      <p:sp>
        <p:nvSpPr>
          <p:cNvPr id="4" name="Shape 1"/>
          <p:cNvSpPr/>
          <p:nvPr/>
        </p:nvSpPr>
        <p:spPr>
          <a:xfrm>
            <a:off x="713232" y="4224528"/>
            <a:ext cx="1371600" cy="50292"/>
          </a:xfrm>
          <a:prstGeom prst="rect">
            <a:avLst/>
          </a:prstGeom>
          <a:solidFill>
            <a:srgbClr val="2587C5"/>
          </a:solidFill>
          <a:ln/>
        </p:spPr>
      </p:sp>
      <p:sp>
        <p:nvSpPr>
          <p:cNvPr id="5" name="Text 2"/>
          <p:cNvSpPr txBox="1"/>
          <p:nvPr/>
        </p:nvSpPr>
        <p:spPr>
          <a:xfrm>
            <a:off x="694944" y="4462272"/>
            <a:ext cx="10789920" cy="457200"/>
          </a:xfrm>
          <a:prstGeom prst="rect">
            <a:avLst/>
          </a:prstGeom>
          <a:noFill/>
          <a:ln/>
        </p:spPr>
        <p:txBody>
          <a:bodyPr wrap="square" lIns="0" tIns="0" rIns="0" bIns="0" rtlCol="0" anchor="ctr"/>
          <a:lstStyle/>
          <a:p>
            <a:pPr indent="0" marL="0">
              <a:buNone/>
            </a:pPr>
            <a:r>
              <a:rPr lang="en-US" sz="2600" dirty="0">
                <a:solidFill>
                  <a:srgbClr val="2587C5"/>
                </a:solidFill>
                <a:latin typeface="Inter" pitchFamily="34" charset="0"/>
                <a:ea typeface="Inter" pitchFamily="34" charset="-122"/>
                <a:cs typeface="Inter" pitchFamily="34" charset="-120"/>
              </a:rPr>
              <a:t>Day 2  ·  General Managers &amp; Service Managers  ·  October 29, 2026</a:t>
            </a:r>
            <a:endParaRPr lang="en-US" sz="2600" dirty="0"/>
          </a:p>
        </p:txBody>
      </p:sp>
      <p:sp>
        <p:nvSpPr>
          <p:cNvPr id="6" name="Text 3"/>
          <p:cNvSpPr txBox="1"/>
          <p:nvPr/>
        </p:nvSpPr>
        <p:spPr>
          <a:xfrm>
            <a:off x="694944" y="4956048"/>
            <a:ext cx="10789920" cy="411480"/>
          </a:xfrm>
          <a:prstGeom prst="rect">
            <a:avLst/>
          </a:prstGeom>
          <a:noFill/>
          <a:ln/>
        </p:spPr>
        <p:txBody>
          <a:bodyPr wrap="square" lIns="0" tIns="0" rIns="0" bIns="0" rtlCol="0" anchor="ctr"/>
          <a:lstStyle/>
          <a:p>
            <a:pPr indent="0" marL="0">
              <a:buNone/>
            </a:pPr>
            <a:r>
              <a:rPr lang="en-US" sz="2000" dirty="0">
                <a:solidFill>
                  <a:srgbClr val="595959"/>
                </a:solidFill>
                <a:latin typeface="Inter" pitchFamily="34" charset="0"/>
                <a:ea typeface="Inter" pitchFamily="34" charset="-122"/>
                <a:cs typeface="Inter" pitchFamily="34" charset="-120"/>
              </a:rPr>
              <a:t>South Point, Las Vegas</a:t>
            </a:r>
            <a:endParaRPr lang="en-US" sz="2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DAY 2 · GENERAL MANAGERS &amp; SERVICE MANAGERS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Agenda</a:t>
            </a:r>
            <a:endParaRPr lang="en-US" sz="2800" dirty="0"/>
          </a:p>
        </p:txBody>
      </p:sp>
      <p:sp>
        <p:nvSpPr>
          <p:cNvPr id="5" name="Shape 3"/>
          <p:cNvSpPr/>
          <p:nvPr/>
        </p:nvSpPr>
        <p:spPr>
          <a:xfrm>
            <a:off x="457200" y="1207008"/>
            <a:ext cx="5586984" cy="1195578"/>
          </a:xfrm>
          <a:prstGeom prst="rect">
            <a:avLst/>
          </a:prstGeom>
          <a:solidFill>
            <a:srgbClr val="FFFFFF"/>
          </a:solidFill>
          <a:ln/>
        </p:spPr>
      </p:sp>
      <p:sp>
        <p:nvSpPr>
          <p:cNvPr id="6" name="Shape 4"/>
          <p:cNvSpPr/>
          <p:nvPr/>
        </p:nvSpPr>
        <p:spPr>
          <a:xfrm>
            <a:off x="457200" y="1207008"/>
            <a:ext cx="50292" cy="1195578"/>
          </a:xfrm>
          <a:prstGeom prst="rect">
            <a:avLst/>
          </a:prstGeom>
          <a:solidFill>
            <a:srgbClr val="2587C5"/>
          </a:solidFill>
          <a:ln/>
        </p:spPr>
      </p:sp>
      <p:sp>
        <p:nvSpPr>
          <p:cNvPr id="7" name="Text 5"/>
          <p:cNvSpPr txBox="1"/>
          <p:nvPr/>
        </p:nvSpPr>
        <p:spPr>
          <a:xfrm>
            <a:off x="694944" y="1207008"/>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01</a:t>
            </a:r>
            <a:endParaRPr lang="en-US" sz="2000" dirty="0"/>
          </a:p>
        </p:txBody>
      </p:sp>
      <p:sp>
        <p:nvSpPr>
          <p:cNvPr id="8" name="Text 6"/>
          <p:cNvSpPr txBox="1"/>
          <p:nvPr/>
        </p:nvSpPr>
        <p:spPr>
          <a:xfrm>
            <a:off x="1371600" y="1207008"/>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Gross</a:t>
            </a:r>
            <a:endParaRPr lang="en-US" sz="1700" dirty="0"/>
          </a:p>
        </p:txBody>
      </p:sp>
      <p:sp>
        <p:nvSpPr>
          <p:cNvPr id="9" name="Text 7"/>
          <p:cNvSpPr txBox="1"/>
          <p:nvPr/>
        </p:nvSpPr>
        <p:spPr>
          <a:xfrm>
            <a:off x="3703320" y="1207008"/>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Fixed ops, service and parts gross, and the store records.</a:t>
            </a:r>
            <a:endParaRPr lang="en-US" sz="1400" dirty="0"/>
          </a:p>
        </p:txBody>
      </p:sp>
      <p:sp>
        <p:nvSpPr>
          <p:cNvPr id="10" name="Shape 8"/>
          <p:cNvSpPr/>
          <p:nvPr/>
        </p:nvSpPr>
        <p:spPr>
          <a:xfrm>
            <a:off x="457200" y="2494026"/>
            <a:ext cx="5586984" cy="1195578"/>
          </a:xfrm>
          <a:prstGeom prst="rect">
            <a:avLst/>
          </a:prstGeom>
          <a:solidFill>
            <a:srgbClr val="FFFFFF"/>
          </a:solidFill>
          <a:ln/>
        </p:spPr>
      </p:sp>
      <p:sp>
        <p:nvSpPr>
          <p:cNvPr id="11" name="Shape 9"/>
          <p:cNvSpPr/>
          <p:nvPr/>
        </p:nvSpPr>
        <p:spPr>
          <a:xfrm>
            <a:off x="457200" y="2494026"/>
            <a:ext cx="50292" cy="1195578"/>
          </a:xfrm>
          <a:prstGeom prst="rect">
            <a:avLst/>
          </a:prstGeom>
          <a:solidFill>
            <a:srgbClr val="2587C5"/>
          </a:solidFill>
          <a:ln/>
        </p:spPr>
      </p:sp>
      <p:sp>
        <p:nvSpPr>
          <p:cNvPr id="12" name="Text 10"/>
          <p:cNvSpPr txBox="1"/>
          <p:nvPr/>
        </p:nvSpPr>
        <p:spPr>
          <a:xfrm>
            <a:off x="694944" y="2494026"/>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02</a:t>
            </a:r>
            <a:endParaRPr lang="en-US" sz="2000" dirty="0"/>
          </a:p>
        </p:txBody>
      </p:sp>
      <p:sp>
        <p:nvSpPr>
          <p:cNvPr id="13" name="Text 11"/>
          <p:cNvSpPr txBox="1"/>
          <p:nvPr/>
        </p:nvSpPr>
        <p:spPr>
          <a:xfrm>
            <a:off x="1371600" y="2494026"/>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Profitability</a:t>
            </a:r>
            <a:endParaRPr lang="en-US" sz="1700" dirty="0"/>
          </a:p>
        </p:txBody>
      </p:sp>
      <p:sp>
        <p:nvSpPr>
          <p:cNvPr id="14" name="Text 12"/>
          <p:cNvSpPr txBox="1"/>
          <p:nvPr/>
        </p:nvSpPr>
        <p:spPr>
          <a:xfrm>
            <a:off x="3703320" y="2494026"/>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Absorption and net to gross.</a:t>
            </a:r>
            <a:endParaRPr lang="en-US" sz="1400" dirty="0"/>
          </a:p>
        </p:txBody>
      </p:sp>
      <p:sp>
        <p:nvSpPr>
          <p:cNvPr id="15" name="Shape 13"/>
          <p:cNvSpPr/>
          <p:nvPr/>
        </p:nvSpPr>
        <p:spPr>
          <a:xfrm>
            <a:off x="457200" y="3781044"/>
            <a:ext cx="5586984" cy="1195578"/>
          </a:xfrm>
          <a:prstGeom prst="rect">
            <a:avLst/>
          </a:prstGeom>
          <a:solidFill>
            <a:srgbClr val="FFFFFF"/>
          </a:solidFill>
          <a:ln/>
        </p:spPr>
      </p:sp>
      <p:sp>
        <p:nvSpPr>
          <p:cNvPr id="16" name="Shape 14"/>
          <p:cNvSpPr/>
          <p:nvPr/>
        </p:nvSpPr>
        <p:spPr>
          <a:xfrm>
            <a:off x="457200" y="3781044"/>
            <a:ext cx="50292" cy="1195578"/>
          </a:xfrm>
          <a:prstGeom prst="rect">
            <a:avLst/>
          </a:prstGeom>
          <a:solidFill>
            <a:srgbClr val="2587C5"/>
          </a:solidFill>
          <a:ln/>
        </p:spPr>
      </p:sp>
      <p:sp>
        <p:nvSpPr>
          <p:cNvPr id="17" name="Text 15"/>
          <p:cNvSpPr txBox="1"/>
          <p:nvPr/>
        </p:nvSpPr>
        <p:spPr>
          <a:xfrm>
            <a:off x="694944" y="3781044"/>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03</a:t>
            </a:r>
            <a:endParaRPr lang="en-US" sz="2000" dirty="0"/>
          </a:p>
        </p:txBody>
      </p:sp>
      <p:sp>
        <p:nvSpPr>
          <p:cNvPr id="18" name="Text 16"/>
          <p:cNvSpPr txBox="1"/>
          <p:nvPr/>
        </p:nvSpPr>
        <p:spPr>
          <a:xfrm>
            <a:off x="1371600" y="3781044"/>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Customer Pay</a:t>
            </a:r>
            <a:endParaRPr lang="en-US" sz="1700" dirty="0"/>
          </a:p>
        </p:txBody>
      </p:sp>
      <p:sp>
        <p:nvSpPr>
          <p:cNvPr id="19" name="Text 17"/>
          <p:cNvSpPr txBox="1"/>
          <p:nvPr/>
        </p:nvSpPr>
        <p:spPr>
          <a:xfrm>
            <a:off x="3703320" y="3781044"/>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ROs, hours per RO, pricing and labor mix, rate and margin.</a:t>
            </a:r>
            <a:endParaRPr lang="en-US" sz="1400" dirty="0"/>
          </a:p>
        </p:txBody>
      </p:sp>
      <p:sp>
        <p:nvSpPr>
          <p:cNvPr id="20" name="Shape 18"/>
          <p:cNvSpPr/>
          <p:nvPr/>
        </p:nvSpPr>
        <p:spPr>
          <a:xfrm>
            <a:off x="457200" y="5068062"/>
            <a:ext cx="5586984" cy="1195578"/>
          </a:xfrm>
          <a:prstGeom prst="rect">
            <a:avLst/>
          </a:prstGeom>
          <a:solidFill>
            <a:srgbClr val="FFFFFF"/>
          </a:solidFill>
          <a:ln/>
        </p:spPr>
      </p:sp>
      <p:sp>
        <p:nvSpPr>
          <p:cNvPr id="21" name="Shape 19"/>
          <p:cNvSpPr/>
          <p:nvPr/>
        </p:nvSpPr>
        <p:spPr>
          <a:xfrm>
            <a:off x="457200" y="5068062"/>
            <a:ext cx="50292" cy="1195578"/>
          </a:xfrm>
          <a:prstGeom prst="rect">
            <a:avLst/>
          </a:prstGeom>
          <a:solidFill>
            <a:srgbClr val="2587C5"/>
          </a:solidFill>
          <a:ln/>
        </p:spPr>
      </p:sp>
      <p:sp>
        <p:nvSpPr>
          <p:cNvPr id="22" name="Text 20"/>
          <p:cNvSpPr txBox="1"/>
          <p:nvPr/>
        </p:nvSpPr>
        <p:spPr>
          <a:xfrm>
            <a:off x="694944" y="5068062"/>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04</a:t>
            </a:r>
            <a:endParaRPr lang="en-US" sz="2000" dirty="0"/>
          </a:p>
        </p:txBody>
      </p:sp>
      <p:sp>
        <p:nvSpPr>
          <p:cNvPr id="23" name="Text 21"/>
          <p:cNvSpPr txBox="1"/>
          <p:nvPr/>
        </p:nvSpPr>
        <p:spPr>
          <a:xfrm>
            <a:off x="1371600" y="5068062"/>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Opcode Benchmarks</a:t>
            </a:r>
            <a:endParaRPr lang="en-US" sz="1700" dirty="0"/>
          </a:p>
        </p:txBody>
      </p:sp>
      <p:sp>
        <p:nvSpPr>
          <p:cNvPr id="24" name="Text 22"/>
          <p:cNvSpPr txBox="1"/>
          <p:nvPr/>
        </p:nvSpPr>
        <p:spPr>
          <a:xfrm>
            <a:off x="3703320" y="5068062"/>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Express service, MPI and video, tracking, then alignment, balance, brake fluid and fuel.</a:t>
            </a:r>
            <a:endParaRPr lang="en-US" sz="1400" dirty="0"/>
          </a:p>
        </p:txBody>
      </p:sp>
      <p:sp>
        <p:nvSpPr>
          <p:cNvPr id="25" name="Shape 23"/>
          <p:cNvSpPr/>
          <p:nvPr/>
        </p:nvSpPr>
        <p:spPr>
          <a:xfrm>
            <a:off x="6144768" y="1207008"/>
            <a:ext cx="5586984" cy="1195578"/>
          </a:xfrm>
          <a:prstGeom prst="rect">
            <a:avLst/>
          </a:prstGeom>
          <a:solidFill>
            <a:srgbClr val="FFFFFF"/>
          </a:solidFill>
          <a:ln/>
        </p:spPr>
      </p:sp>
      <p:sp>
        <p:nvSpPr>
          <p:cNvPr id="26" name="Shape 24"/>
          <p:cNvSpPr/>
          <p:nvPr/>
        </p:nvSpPr>
        <p:spPr>
          <a:xfrm>
            <a:off x="6144768" y="1207008"/>
            <a:ext cx="50292" cy="1195578"/>
          </a:xfrm>
          <a:prstGeom prst="rect">
            <a:avLst/>
          </a:prstGeom>
          <a:solidFill>
            <a:srgbClr val="2587C5"/>
          </a:solidFill>
          <a:ln/>
        </p:spPr>
      </p:sp>
      <p:sp>
        <p:nvSpPr>
          <p:cNvPr id="27" name="Text 25"/>
          <p:cNvSpPr txBox="1"/>
          <p:nvPr/>
        </p:nvSpPr>
        <p:spPr>
          <a:xfrm>
            <a:off x="6382512" y="1207008"/>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05</a:t>
            </a:r>
            <a:endParaRPr lang="en-US" sz="2000" dirty="0"/>
          </a:p>
        </p:txBody>
      </p:sp>
      <p:sp>
        <p:nvSpPr>
          <p:cNvPr id="28" name="Text 26"/>
          <p:cNvSpPr txBox="1"/>
          <p:nvPr/>
        </p:nvSpPr>
        <p:spPr>
          <a:xfrm>
            <a:off x="7059168" y="1207008"/>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Internal</a:t>
            </a:r>
            <a:endParaRPr lang="en-US" sz="1700" dirty="0"/>
          </a:p>
        </p:txBody>
      </p:sp>
      <p:sp>
        <p:nvSpPr>
          <p:cNvPr id="29" name="Text 27"/>
          <p:cNvSpPr txBox="1"/>
          <p:nvPr/>
        </p:nvSpPr>
        <p:spPr>
          <a:xfrm>
            <a:off x="9390888" y="1207008"/>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Internal labor rate and margin.</a:t>
            </a:r>
            <a:endParaRPr lang="en-US" sz="1400" dirty="0"/>
          </a:p>
        </p:txBody>
      </p:sp>
      <p:sp>
        <p:nvSpPr>
          <p:cNvPr id="30" name="Shape 28"/>
          <p:cNvSpPr/>
          <p:nvPr/>
        </p:nvSpPr>
        <p:spPr>
          <a:xfrm>
            <a:off x="6144768" y="2494026"/>
            <a:ext cx="5586984" cy="1195578"/>
          </a:xfrm>
          <a:prstGeom prst="rect">
            <a:avLst/>
          </a:prstGeom>
          <a:solidFill>
            <a:srgbClr val="FFFFFF"/>
          </a:solidFill>
          <a:ln/>
        </p:spPr>
      </p:sp>
      <p:sp>
        <p:nvSpPr>
          <p:cNvPr id="31" name="Shape 29"/>
          <p:cNvSpPr/>
          <p:nvPr/>
        </p:nvSpPr>
        <p:spPr>
          <a:xfrm>
            <a:off x="6144768" y="2494026"/>
            <a:ext cx="50292" cy="1195578"/>
          </a:xfrm>
          <a:prstGeom prst="rect">
            <a:avLst/>
          </a:prstGeom>
          <a:solidFill>
            <a:srgbClr val="2587C5"/>
          </a:solidFill>
          <a:ln/>
        </p:spPr>
      </p:sp>
      <p:sp>
        <p:nvSpPr>
          <p:cNvPr id="32" name="Text 30"/>
          <p:cNvSpPr txBox="1"/>
          <p:nvPr/>
        </p:nvSpPr>
        <p:spPr>
          <a:xfrm>
            <a:off x="6382512" y="2494026"/>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06</a:t>
            </a:r>
            <a:endParaRPr lang="en-US" sz="2000" dirty="0"/>
          </a:p>
        </p:txBody>
      </p:sp>
      <p:sp>
        <p:nvSpPr>
          <p:cNvPr id="33" name="Text 31"/>
          <p:cNvSpPr txBox="1"/>
          <p:nvPr/>
        </p:nvSpPr>
        <p:spPr>
          <a:xfrm>
            <a:off x="7059168" y="2494026"/>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Productivity</a:t>
            </a:r>
            <a:endParaRPr lang="en-US" sz="1700" dirty="0"/>
          </a:p>
        </p:txBody>
      </p:sp>
      <p:sp>
        <p:nvSpPr>
          <p:cNvPr id="34" name="Text 32"/>
          <p:cNvSpPr txBox="1"/>
          <p:nvPr/>
        </p:nvSpPr>
        <p:spPr>
          <a:xfrm>
            <a:off x="9390888" y="2494026"/>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Gross per employee, headcount and technician proficiency.</a:t>
            </a:r>
            <a:endParaRPr lang="en-US" sz="1400" dirty="0"/>
          </a:p>
        </p:txBody>
      </p:sp>
      <p:sp>
        <p:nvSpPr>
          <p:cNvPr id="35" name="Shape 33"/>
          <p:cNvSpPr/>
          <p:nvPr/>
        </p:nvSpPr>
        <p:spPr>
          <a:xfrm>
            <a:off x="6144768" y="3781044"/>
            <a:ext cx="5586984" cy="1195578"/>
          </a:xfrm>
          <a:prstGeom prst="rect">
            <a:avLst/>
          </a:prstGeom>
          <a:solidFill>
            <a:srgbClr val="FFFFFF"/>
          </a:solidFill>
          <a:ln/>
        </p:spPr>
      </p:sp>
      <p:sp>
        <p:nvSpPr>
          <p:cNvPr id="36" name="Shape 34"/>
          <p:cNvSpPr/>
          <p:nvPr/>
        </p:nvSpPr>
        <p:spPr>
          <a:xfrm>
            <a:off x="6144768" y="3781044"/>
            <a:ext cx="50292" cy="1195578"/>
          </a:xfrm>
          <a:prstGeom prst="rect">
            <a:avLst/>
          </a:prstGeom>
          <a:solidFill>
            <a:srgbClr val="2587C5"/>
          </a:solidFill>
          <a:ln/>
        </p:spPr>
      </p:sp>
      <p:sp>
        <p:nvSpPr>
          <p:cNvPr id="37" name="Text 35"/>
          <p:cNvSpPr txBox="1"/>
          <p:nvPr/>
        </p:nvSpPr>
        <p:spPr>
          <a:xfrm>
            <a:off x="6382512" y="3781044"/>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07</a:t>
            </a:r>
            <a:endParaRPr lang="en-US" sz="2000" dirty="0"/>
          </a:p>
        </p:txBody>
      </p:sp>
      <p:sp>
        <p:nvSpPr>
          <p:cNvPr id="38" name="Text 36"/>
          <p:cNvSpPr txBox="1"/>
          <p:nvPr/>
        </p:nvSpPr>
        <p:spPr>
          <a:xfrm>
            <a:off x="7059168" y="3781044"/>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Warranty</a:t>
            </a:r>
            <a:endParaRPr lang="en-US" sz="1700" dirty="0"/>
          </a:p>
        </p:txBody>
      </p:sp>
      <p:sp>
        <p:nvSpPr>
          <p:cNvPr id="39" name="Text 37"/>
          <p:cNvSpPr txBox="1"/>
          <p:nvPr/>
        </p:nvSpPr>
        <p:spPr>
          <a:xfrm>
            <a:off x="9390888" y="3781044"/>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Rate increases, warranty rate and parts margin, audits and compliance.</a:t>
            </a:r>
            <a:endParaRPr lang="en-US" sz="1400" dirty="0"/>
          </a:p>
        </p:txBody>
      </p:sp>
      <p:sp>
        <p:nvSpPr>
          <p:cNvPr id="40" name="Shape 38"/>
          <p:cNvSpPr/>
          <p:nvPr/>
        </p:nvSpPr>
        <p:spPr>
          <a:xfrm>
            <a:off x="6144768" y="5068062"/>
            <a:ext cx="5586984" cy="1195578"/>
          </a:xfrm>
          <a:prstGeom prst="rect">
            <a:avLst/>
          </a:prstGeom>
          <a:solidFill>
            <a:srgbClr val="FFFFFF"/>
          </a:solidFill>
          <a:ln/>
        </p:spPr>
      </p:sp>
      <p:sp>
        <p:nvSpPr>
          <p:cNvPr id="41" name="Shape 39"/>
          <p:cNvSpPr/>
          <p:nvPr/>
        </p:nvSpPr>
        <p:spPr>
          <a:xfrm>
            <a:off x="6144768" y="5068062"/>
            <a:ext cx="50292" cy="1195578"/>
          </a:xfrm>
          <a:prstGeom prst="rect">
            <a:avLst/>
          </a:prstGeom>
          <a:solidFill>
            <a:srgbClr val="2587C5"/>
          </a:solidFill>
          <a:ln/>
        </p:spPr>
      </p:sp>
      <p:sp>
        <p:nvSpPr>
          <p:cNvPr id="42" name="Text 40"/>
          <p:cNvSpPr txBox="1"/>
          <p:nvPr/>
        </p:nvSpPr>
        <p:spPr>
          <a:xfrm>
            <a:off x="6382512" y="5068062"/>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08</a:t>
            </a:r>
            <a:endParaRPr lang="en-US" sz="2000" dirty="0"/>
          </a:p>
        </p:txBody>
      </p:sp>
      <p:sp>
        <p:nvSpPr>
          <p:cNvPr id="43" name="Text 41"/>
          <p:cNvSpPr txBox="1"/>
          <p:nvPr/>
        </p:nvSpPr>
        <p:spPr>
          <a:xfrm>
            <a:off x="7059168" y="5068062"/>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Close</a:t>
            </a:r>
            <a:endParaRPr lang="en-US" sz="1700" dirty="0"/>
          </a:p>
        </p:txBody>
      </p:sp>
      <p:sp>
        <p:nvSpPr>
          <p:cNvPr id="44" name="Text 42"/>
          <p:cNvSpPr txBox="1"/>
          <p:nvPr/>
        </p:nvSpPr>
        <p:spPr>
          <a:xfrm>
            <a:off x="9390888" y="5068062"/>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What changed, where the money is, and commitments.</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01</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Gross</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Fixed ops   ·   Service   ·   Parts</a:t>
            </a:r>
            <a:endParaRPr lang="en-US" sz="2200" dirty="0"/>
          </a:p>
        </p:txBody>
      </p:sp>
      <p:sp>
        <p:nvSpPr>
          <p:cNvPr id="6" name="Shape 3"/>
          <p:cNvSpPr/>
          <p:nvPr/>
        </p:nvSpPr>
        <p:spPr>
          <a:xfrm>
            <a:off x="685800" y="4983480"/>
            <a:ext cx="1956816" cy="91440"/>
          </a:xfrm>
          <a:prstGeom prst="rect">
            <a:avLst/>
          </a:prstGeom>
          <a:solidFill>
            <a:srgbClr val="2587C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D9D9D9"/>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D9D9D9"/>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D9D9D9"/>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D9D9D9"/>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02</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Profitability</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Absorption   ·   Service net to gross   ·   Parts net to gross</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91440"/>
          </a:xfrm>
          <a:prstGeom prst="rect">
            <a:avLst/>
          </a:prstGeom>
          <a:solidFill>
            <a:srgbClr val="2587C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D9D9D9"/>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D9D9D9"/>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D9D9D9"/>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03</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Customer Pay</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ROs   ·   Hours per RO   ·   Pricing &amp; mix   ·   ELR   ·   $ per RO   ·   Margin</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91440"/>
          </a:xfrm>
          <a:prstGeom prst="rect">
            <a:avLst/>
          </a:prstGeom>
          <a:solidFill>
            <a:srgbClr val="2587C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D9D9D9"/>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D9D9D9"/>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04</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Opcode Benchmarks</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MPI 90%   ·   Alignment 15%   ·   Balance 15%   ·   Brake fluid 10%   ·   Fuel 7.5%</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91440"/>
          </a:xfrm>
          <a:prstGeom prst="rect">
            <a:avLst/>
          </a:prstGeom>
          <a:solidFill>
            <a:srgbClr val="2587C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D9D9D9"/>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05</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Internal</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Internal ELR   ·   Internal labor GP %   ·   Internal parts GP %</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5B9BD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91440"/>
          </a:xfrm>
          <a:prstGeom prst="rect">
            <a:avLst/>
          </a:prstGeom>
          <a:solidFill>
            <a:srgbClr val="2587C5"/>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06</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Productivity</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Gross per employee   ·   ROs per person   ·   Headcount   ·   Technician proficiency</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5B9BD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5B9BD5"/>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91440"/>
          </a:xfrm>
          <a:prstGeom prst="rect">
            <a:avLst/>
          </a:prstGeom>
          <a:solidFill>
            <a:srgbClr val="2587C5"/>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07</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Warranty</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Rate increases   ·   Warranty ELR   ·   Parts margin   ·   Warranty audits</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5B9BD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5B9BD5"/>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5B9BD5"/>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91440"/>
          </a:xfrm>
          <a:prstGeom prst="rect">
            <a:avLst/>
          </a:prstGeom>
          <a:solidFill>
            <a:srgbClr val="2587C5"/>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08</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Close</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Most improved   ·   Where the money is   ·   Before you leave</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5B9BD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5B9BD5"/>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5B9BD5"/>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5B9BD5"/>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91440"/>
          </a:xfrm>
          <a:prstGeom prst="rect">
            <a:avLst/>
          </a:prstGeom>
          <a:solidFill>
            <a:srgbClr val="2587C5"/>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NOT PRESENTED · FOR REVIEW</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Open Decisions</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Store records   ·   Door rate   ·   CP vs internal   ·   Photo %   ·   Who's moving now   ·   Most improved</a:t>
            </a:r>
            <a:endParaRPr lang="en-US" sz="2200" dirty="0"/>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Why We Are Here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Foster collaboration, introduce ideas that drive operational excellence, and set a clear path to exceptional service performance</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Focus on profit-generating activities: the work that brings in incremental dollars, not just the work that fills the day</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Work on the business, not just in it: step out of the daily fires long enough to fix the process behind them</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No risk of judgement: your success is our success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Customer first, company second, team third</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You get what you tolerate</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Leverage the power in this room: collaboration</a:t>
            </a:r>
            <a:endParaRPr lang="en-US" sz="16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+$7,468,567</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ops gross, up 4.1% year to date. 25 of 33 stores grew.</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78.1%</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ops absorption, up 2.1 pts. Fixed gross grew 4.1%, fixed expenses 1.3%.</a:t>
            </a:r>
            <a:endParaRPr lang="en-US" sz="1400" dirty="0"/>
          </a:p>
        </p:txBody>
      </p:sp>
      <p:sp>
        <p:nvSpPr>
          <p:cNvPr id="16" name="Shape 14"/>
          <p:cNvSpPr/>
          <p:nvPr/>
        </p:nvSpPr>
        <p:spPr>
          <a:xfrm>
            <a:off x="7269480" y="4602480"/>
            <a:ext cx="54864" cy="1112520"/>
          </a:xfrm>
          <a:prstGeom prst="rect">
            <a:avLst/>
          </a:prstGeom>
          <a:solidFill>
            <a:srgbClr val="12A566"/>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21.8%</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Service net to gross, up 2.9 pts and ahead of 2025 in all nine months.</a:t>
            </a:r>
            <a:endParaRPr lang="en-US" sz="1400" dirty="0"/>
          </a:p>
        </p:txBody>
      </p:sp>
      <p:sp>
        <p:nvSpPr>
          <p:cNvPr id="19" name="Shape 17"/>
          <p:cNvSpPr/>
          <p:nvPr/>
        </p:nvSpPr>
        <p:spPr>
          <a:xfrm>
            <a:off x="457200" y="6126480"/>
            <a:ext cx="11274552" cy="615696"/>
          </a:xfrm>
          <a:prstGeom prst="rect">
            <a:avLst/>
          </a:prstGeom>
          <a:solidFill>
            <a:srgbClr val="E6F6EE"/>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The ask: leave today with one or two things you will put in place before year end, and tell the room what they are.</a:t>
            </a:r>
            <a:endParaRPr lang="en-US" sz="1600" dirty="0"/>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Is Sales 2.0</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Sell hours, build value, sell peace of mind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Drive visits: don't say no to dollars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Generate throughput: max out hours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Drive retention and sell cars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Sales sells the first car. Service sells the next six.</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+$6,297,386</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Service gross, up 5.2%, ahead of 2025 in all nine months.</a:t>
            </a:r>
            <a:endParaRPr lang="en-US" sz="1400" dirty="0"/>
          </a:p>
        </p:txBody>
      </p:sp>
      <p:sp>
        <p:nvSpPr>
          <p:cNvPr id="13" name="Shape 11"/>
          <p:cNvSpPr/>
          <p:nvPr/>
        </p:nvSpPr>
        <p:spPr>
          <a:xfrm>
            <a:off x="7269480" y="3261360"/>
            <a:ext cx="54864" cy="1112520"/>
          </a:xfrm>
          <a:prstGeom prst="rect">
            <a:avLst/>
          </a:prstGeom>
          <a:solidFill>
            <a:srgbClr val="2587C5"/>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+$1,171,181</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Parts gross, up 1.9%, but parts net to gross slipped 0.4 pts to 36.7%.</a:t>
            </a:r>
            <a:endParaRPr lang="en-US" sz="1400" dirty="0"/>
          </a:p>
        </p:txBody>
      </p:sp>
      <p:sp>
        <p:nvSpPr>
          <p:cNvPr id="16" name="Shape 14"/>
          <p:cNvSpPr/>
          <p:nvPr/>
        </p:nvSpPr>
        <p:spPr>
          <a:xfrm>
            <a:off x="7269480" y="4602480"/>
            <a:ext cx="54864" cy="1112520"/>
          </a:xfrm>
          <a:prstGeom prst="rect">
            <a:avLst/>
          </a:prstGeom>
          <a:solidFill>
            <a:srgbClr val="12A566"/>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$20.59M</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ops gross a month over the last twelve months.</a:t>
            </a:r>
            <a:endParaRPr lang="en-US" sz="1400" dirty="0"/>
          </a:p>
        </p:txBody>
      </p:sp>
      <p:sp>
        <p:nvSpPr>
          <p:cNvPr id="19" name="Shape 17"/>
          <p:cNvSpPr/>
          <p:nvPr/>
        </p:nvSpPr>
        <p:spPr>
          <a:xfrm>
            <a:off x="457200" y="6126480"/>
            <a:ext cx="11274552" cy="348996"/>
          </a:xfrm>
          <a:prstGeom prst="rect">
            <a:avLst/>
          </a:prstGeom>
          <a:solidFill>
            <a:srgbClr val="EDF4FA"/>
          </a:solidFill>
          <a:ln/>
        </p:spPr>
      </p:sp>
      <p:sp>
        <p:nvSpPr>
          <p:cNvPr id="20" name="Text 18"/>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2C4A"/>
                </a:solidFill>
                <a:latin typeface="Inter" pitchFamily="34" charset="0"/>
                <a:ea typeface="Inter" pitchFamily="34" charset="-122"/>
                <a:cs typeface="Inter" pitchFamily="34" charset="-120"/>
              </a:rPr>
              <a:t>The ask: run service like a sales department: every visit is a chance to sell the next hour and the next car.</a:t>
            </a:r>
            <a:endParaRPr lang="en-US" sz="1450" dirty="0"/>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Fixed Ops Gross?</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Fixed ops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service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parts gross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What each department keeps after the cost of what it sold: labor sale less technician cost, parts sale less parts cost.</a:t>
            </a:r>
            <a:endParaRPr lang="en-US" sz="14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JAN–SEP 2026</a:t>
            </a:r>
            <a:endParaRPr lang="en-US" sz="1400" dirty="0"/>
          </a:p>
        </p:txBody>
      </p:sp>
      <p:sp>
        <p:nvSpPr>
          <p:cNvPr id="9" name="Shape 7"/>
          <p:cNvSpPr/>
          <p:nvPr/>
        </p:nvSpPr>
        <p:spPr>
          <a:xfrm>
            <a:off x="2286000" y="2340864"/>
            <a:ext cx="307543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Service  </a:t>
            </a:r>
            <a:pPr algn="ctr" indent="0" marL="0">
              <a:buNone/>
            </a:pPr>
            <a:r>
              <a:rPr lang="en-US" sz="1400" b="1" dirty="0">
                <a:solidFill>
                  <a:srgbClr val="0B2C4A"/>
                </a:solidFill>
                <a:latin typeface="Inter" pitchFamily="34" charset="0"/>
                <a:ea typeface="Inter" pitchFamily="34" charset="-122"/>
                <a:cs typeface="Inter" pitchFamily="34" charset="-120"/>
              </a:rPr>
              <a:t>$126.87M</a:t>
            </a:r>
            <a:endParaRPr lang="en-US" sz="1400" dirty="0"/>
          </a:p>
        </p:txBody>
      </p:sp>
      <p:sp>
        <p:nvSpPr>
          <p:cNvPr id="11" name="Shape 9"/>
          <p:cNvSpPr/>
          <p:nvPr/>
        </p:nvSpPr>
        <p:spPr>
          <a:xfrm>
            <a:off x="5471160" y="2340864"/>
            <a:ext cx="3075432" cy="457200"/>
          </a:xfrm>
          <a:prstGeom prst="rect">
            <a:avLst/>
          </a:prstGeom>
          <a:solidFill>
            <a:srgbClr val="FFFFFF"/>
          </a:solidFill>
          <a:ln w="9525">
            <a:solidFill>
              <a:srgbClr val="D9D9D9"/>
            </a:solidFill>
            <a:prstDash val="solid"/>
          </a:ln>
        </p:spPr>
      </p:sp>
      <p:sp>
        <p:nvSpPr>
          <p:cNvPr id="12" name="Text 10"/>
          <p:cNvSpPr txBox="1"/>
          <p:nvPr/>
        </p:nvSpPr>
        <p:spPr>
          <a:xfrm>
            <a:off x="554431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Parts  </a:t>
            </a:r>
            <a:pPr algn="ctr" indent="0" marL="0">
              <a:buNone/>
            </a:pPr>
            <a:r>
              <a:rPr lang="en-US" sz="1400" b="1" dirty="0">
                <a:solidFill>
                  <a:srgbClr val="0B2C4A"/>
                </a:solidFill>
                <a:latin typeface="Inter" pitchFamily="34" charset="0"/>
                <a:ea typeface="Inter" pitchFamily="34" charset="-122"/>
                <a:cs typeface="Inter" pitchFamily="34" charset="-120"/>
              </a:rPr>
              <a:t>$61.93M</a:t>
            </a:r>
            <a:endParaRPr lang="en-US" sz="1400" dirty="0"/>
          </a:p>
        </p:txBody>
      </p:sp>
      <p:sp>
        <p:nvSpPr>
          <p:cNvPr id="13" name="Shape 11"/>
          <p:cNvSpPr/>
          <p:nvPr/>
        </p:nvSpPr>
        <p:spPr>
          <a:xfrm>
            <a:off x="8656320" y="2340864"/>
            <a:ext cx="3075432" cy="457200"/>
          </a:xfrm>
          <a:prstGeom prst="rect">
            <a:avLst/>
          </a:prstGeom>
          <a:solidFill>
            <a:srgbClr val="FFFFFF"/>
          </a:solidFill>
          <a:ln w="9525">
            <a:solidFill>
              <a:srgbClr val="D9D9D9"/>
            </a:solidFill>
            <a:prstDash val="solid"/>
          </a:ln>
        </p:spPr>
      </p:sp>
      <p:sp>
        <p:nvSpPr>
          <p:cNvPr id="14" name="Text 12"/>
          <p:cNvSpPr txBox="1"/>
          <p:nvPr/>
        </p:nvSpPr>
        <p:spPr>
          <a:xfrm>
            <a:off x="872947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Fixed ops  </a:t>
            </a:r>
            <a:pPr algn="ctr" indent="0" marL="0">
              <a:buNone/>
            </a:pPr>
            <a:r>
              <a:rPr lang="en-US" sz="1400" b="1" dirty="0">
                <a:solidFill>
                  <a:srgbClr val="0B2C4A"/>
                </a:solidFill>
                <a:latin typeface="Inter" pitchFamily="34" charset="0"/>
                <a:ea typeface="Inter" pitchFamily="34" charset="-122"/>
                <a:cs typeface="Inter" pitchFamily="34" charset="-120"/>
              </a:rPr>
              <a:t>$188.80M</a:t>
            </a:r>
            <a:endParaRPr lang="en-US" sz="1400" dirty="0"/>
          </a:p>
        </p:txBody>
      </p:sp>
      <p:sp>
        <p:nvSpPr>
          <p:cNvPr id="15" name="Shape 13"/>
          <p:cNvSpPr/>
          <p:nvPr/>
        </p:nvSpPr>
        <p:spPr>
          <a:xfrm>
            <a:off x="457200" y="2907792"/>
            <a:ext cx="4343400" cy="3081528"/>
          </a:xfrm>
          <a:prstGeom prst="rect">
            <a:avLst/>
          </a:prstGeom>
          <a:solidFill>
            <a:srgbClr val="FFFFFF"/>
          </a:solidFill>
          <a:ln/>
        </p:spPr>
      </p:sp>
      <p:sp>
        <p:nvSpPr>
          <p:cNvPr id="16" name="Shape 14"/>
          <p:cNvSpPr/>
          <p:nvPr/>
        </p:nvSpPr>
        <p:spPr>
          <a:xfrm>
            <a:off x="4937760" y="2907792"/>
            <a:ext cx="6793992" cy="3081528"/>
          </a:xfrm>
          <a:prstGeom prst="rect">
            <a:avLst/>
          </a:prstGeom>
          <a:solidFill>
            <a:srgbClr val="FFFFFF"/>
          </a:solidFill>
          <a:ln/>
        </p:spPr>
      </p:sp>
      <p:sp>
        <p:nvSpPr>
          <p:cNvPr id="17" name="Text 15"/>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HOW EACH IS BUILT</a:t>
            </a:r>
            <a:endParaRPr lang="en-US" sz="1400" dirty="0"/>
          </a:p>
        </p:txBody>
      </p:sp>
      <p:sp>
        <p:nvSpPr>
          <p:cNvPr id="18" name="Text 16"/>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9" name="Text 17"/>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Service earns only on labor hours sold: the labor sale less what the technician is paid for the job.</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Parts sold on a service RO are parts gross, not service gross, even when an advisor sells them.</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Both include customer pay, warranty and internal work.</a:t>
            </a:r>
            <a:endParaRPr lang="en-US" sz="1500" dirty="0"/>
          </a:p>
        </p:txBody>
      </p:sp>
      <p:sp>
        <p:nvSpPr>
          <p:cNvPr id="20" name="Shape 18"/>
          <p:cNvSpPr/>
          <p:nvPr/>
        </p:nvSpPr>
        <p:spPr>
          <a:xfrm>
            <a:off x="5138928" y="3410712"/>
            <a:ext cx="45720" cy="1420837"/>
          </a:xfrm>
          <a:prstGeom prst="rect">
            <a:avLst/>
          </a:prstGeom>
          <a:solidFill>
            <a:srgbClr val="2587C5"/>
          </a:solidFill>
          <a:ln/>
        </p:spPr>
      </p:sp>
      <p:sp>
        <p:nvSpPr>
          <p:cNvPr id="21" name="Text 19"/>
          <p:cNvSpPr txBox="1"/>
          <p:nvPr/>
        </p:nvSpPr>
        <p:spPr>
          <a:xfrm>
            <a:off x="5266944" y="3410712"/>
            <a:ext cx="2962656" cy="1420837"/>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Service: labor sale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Hours sold times the rate collected (ELR)</a:t>
            </a:r>
            <a:endParaRPr lang="en-US" sz="1400" dirty="0"/>
          </a:p>
        </p:txBody>
      </p:sp>
      <p:sp>
        <p:nvSpPr>
          <p:cNvPr id="22" name="Shape 20"/>
          <p:cNvSpPr/>
          <p:nvPr/>
        </p:nvSpPr>
        <p:spPr>
          <a:xfrm>
            <a:off x="8394192" y="3410712"/>
            <a:ext cx="45720" cy="1420837"/>
          </a:xfrm>
          <a:prstGeom prst="rect">
            <a:avLst/>
          </a:prstGeom>
          <a:solidFill>
            <a:srgbClr val="2587C5"/>
          </a:solidFill>
          <a:ln/>
        </p:spPr>
      </p:sp>
      <p:sp>
        <p:nvSpPr>
          <p:cNvPr id="23" name="Text 21"/>
          <p:cNvSpPr txBox="1"/>
          <p:nvPr/>
        </p:nvSpPr>
        <p:spPr>
          <a:xfrm>
            <a:off x="8522208" y="3410712"/>
            <a:ext cx="2962656" cy="1420837"/>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Service: technician cost</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Pay on the RO. Hourly pay, guarantees and bonuses paid off the RO are unapplied labor: not on the RO, but they lower gross</a:t>
            </a:r>
            <a:endParaRPr lang="en-US" sz="1400" dirty="0"/>
          </a:p>
        </p:txBody>
      </p:sp>
      <p:sp>
        <p:nvSpPr>
          <p:cNvPr id="24" name="Shape 22"/>
          <p:cNvSpPr/>
          <p:nvPr/>
        </p:nvSpPr>
        <p:spPr>
          <a:xfrm>
            <a:off x="5138928" y="4941277"/>
            <a:ext cx="45720" cy="846875"/>
          </a:xfrm>
          <a:prstGeom prst="rect">
            <a:avLst/>
          </a:prstGeom>
          <a:solidFill>
            <a:srgbClr val="2587C5"/>
          </a:solidFill>
          <a:ln/>
        </p:spPr>
      </p:sp>
      <p:sp>
        <p:nvSpPr>
          <p:cNvPr id="25" name="Text 23"/>
          <p:cNvSpPr txBox="1"/>
          <p:nvPr/>
        </p:nvSpPr>
        <p:spPr>
          <a:xfrm>
            <a:off x="5266944" y="4941277"/>
            <a:ext cx="2962656" cy="846875"/>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on the RO</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Customer pay, warranty and internal parts sold through service</a:t>
            </a:r>
            <a:endParaRPr lang="en-US" sz="1400" dirty="0"/>
          </a:p>
        </p:txBody>
      </p:sp>
      <p:sp>
        <p:nvSpPr>
          <p:cNvPr id="26" name="Shape 24"/>
          <p:cNvSpPr/>
          <p:nvPr/>
        </p:nvSpPr>
        <p:spPr>
          <a:xfrm>
            <a:off x="8394192" y="4941277"/>
            <a:ext cx="45720" cy="846875"/>
          </a:xfrm>
          <a:prstGeom prst="rect">
            <a:avLst/>
          </a:prstGeom>
          <a:solidFill>
            <a:srgbClr val="2587C5"/>
          </a:solidFill>
          <a:ln/>
        </p:spPr>
      </p:sp>
      <p:sp>
        <p:nvSpPr>
          <p:cNvPr id="27" name="Text 25"/>
          <p:cNvSpPr txBox="1"/>
          <p:nvPr/>
        </p:nvSpPr>
        <p:spPr>
          <a:xfrm>
            <a:off x="8522208" y="4941277"/>
            <a:ext cx="2962656" cy="846875"/>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over the counter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Counter retail, wholesale, tires and oil</a:t>
            </a:r>
            <a:endParaRPr lang="en-US" sz="1400" dirty="0"/>
          </a:p>
        </p:txBody>
      </p:sp>
      <p:sp>
        <p:nvSpPr>
          <p:cNvPr id="28" name="Shape 26"/>
          <p:cNvSpPr/>
          <p:nvPr/>
        </p:nvSpPr>
        <p:spPr>
          <a:xfrm>
            <a:off x="457200" y="6126480"/>
            <a:ext cx="11274552" cy="371856"/>
          </a:xfrm>
          <a:prstGeom prst="rect">
            <a:avLst/>
          </a:prstGeom>
          <a:solidFill>
            <a:srgbClr val="E6F6EE"/>
          </a:solidFill>
          <a:ln/>
        </p:spPr>
      </p:sp>
      <p:sp>
        <p:nvSpPr>
          <p:cNvPr id="29" name="Text 2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$188.80M fixed ops gross Jan–Sep 2026, up $7.47M (4.1%): service +$6.30M, parts +$1.17M.</a:t>
            </a:r>
            <a:endParaRPr lang="en-US" sz="1600" dirty="0"/>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$181.33M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$188.80M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+$7.47M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+4.1%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Ops gross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+$7,468,567 (4.1%) year to date; 6 of nine months ahead of 2025, best September at +$2,098,497.</a:t>
            </a:r>
            <a:endParaRPr lang="en-US" sz="1600" dirty="0"/>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$188.80M</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1860"/>
            <a:ext cx="1828800" cy="110352"/>
          </a:xfrm>
          <a:prstGeom prst="rect">
            <a:avLst/>
          </a:prstGeom>
          <a:solidFill>
            <a:srgbClr val="2587C5"/>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$22.59M</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7" name="Shape 15"/>
          <p:cNvSpPr/>
          <p:nvPr/>
        </p:nvSpPr>
        <p:spPr>
          <a:xfrm>
            <a:off x="2980944" y="2151755"/>
            <a:ext cx="1339226" cy="110352"/>
          </a:xfrm>
          <a:prstGeom prst="rect">
            <a:avLst/>
          </a:prstGeom>
          <a:solidFill>
            <a:srgbClr val="2587C5"/>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$16.55M</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1" name="Shape 19"/>
          <p:cNvSpPr/>
          <p:nvPr/>
        </p:nvSpPr>
        <p:spPr>
          <a:xfrm>
            <a:off x="2980944" y="2391651"/>
            <a:ext cx="1167458" cy="110352"/>
          </a:xfrm>
          <a:prstGeom prst="rect">
            <a:avLst/>
          </a:prstGeom>
          <a:solidFill>
            <a:srgbClr val="2587C5"/>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$14.42M</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5" name="Shape 23"/>
          <p:cNvSpPr/>
          <p:nvPr/>
        </p:nvSpPr>
        <p:spPr>
          <a:xfrm>
            <a:off x="2980944" y="2631546"/>
            <a:ext cx="998871" cy="110352"/>
          </a:xfrm>
          <a:prstGeom prst="rect">
            <a:avLst/>
          </a:prstGeom>
          <a:solidFill>
            <a:srgbClr val="2587C5"/>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$12.34M</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9" name="Shape 27"/>
          <p:cNvSpPr/>
          <p:nvPr/>
        </p:nvSpPr>
        <p:spPr>
          <a:xfrm>
            <a:off x="2980944" y="2871442"/>
            <a:ext cx="815948" cy="110352"/>
          </a:xfrm>
          <a:prstGeom prst="rect">
            <a:avLst/>
          </a:prstGeom>
          <a:solidFill>
            <a:srgbClr val="2587C5"/>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$10.08M</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3" name="Shape 31"/>
          <p:cNvSpPr/>
          <p:nvPr/>
        </p:nvSpPr>
        <p:spPr>
          <a:xfrm>
            <a:off x="2980944" y="3111337"/>
            <a:ext cx="776819" cy="110352"/>
          </a:xfrm>
          <a:prstGeom prst="rect">
            <a:avLst/>
          </a:prstGeom>
          <a:solidFill>
            <a:srgbClr val="2587C5"/>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$9.60M</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2980944" y="3351233"/>
            <a:ext cx="697445" cy="110352"/>
          </a:xfrm>
          <a:prstGeom prst="rect">
            <a:avLst/>
          </a:prstGeom>
          <a:solidFill>
            <a:srgbClr val="2587C5"/>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$8.62M</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2980944" y="3591128"/>
            <a:ext cx="534720" cy="110352"/>
          </a:xfrm>
          <a:prstGeom prst="rect">
            <a:avLst/>
          </a:prstGeom>
          <a:solidFill>
            <a:srgbClr val="2587C5"/>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$6.61M</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2980944" y="3831024"/>
            <a:ext cx="498047" cy="110352"/>
          </a:xfrm>
          <a:prstGeom prst="rect">
            <a:avLst/>
          </a:prstGeom>
          <a:solidFill>
            <a:srgbClr val="2587C5"/>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$6.15M</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9" name="Shape 47"/>
          <p:cNvSpPr/>
          <p:nvPr/>
        </p:nvSpPr>
        <p:spPr>
          <a:xfrm>
            <a:off x="2980944" y="4070920"/>
            <a:ext cx="480108" cy="110352"/>
          </a:xfrm>
          <a:prstGeom prst="rect">
            <a:avLst/>
          </a:prstGeom>
          <a:solidFill>
            <a:srgbClr val="2587C5"/>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$5.93M</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3" name="Shape 51"/>
          <p:cNvSpPr/>
          <p:nvPr/>
        </p:nvSpPr>
        <p:spPr>
          <a:xfrm>
            <a:off x="2980944" y="4310815"/>
            <a:ext cx="411218" cy="110352"/>
          </a:xfrm>
          <a:prstGeom prst="rect">
            <a:avLst/>
          </a:prstGeom>
          <a:solidFill>
            <a:srgbClr val="2587C5"/>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$5.08M</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7" name="Shape 55"/>
          <p:cNvSpPr/>
          <p:nvPr/>
        </p:nvSpPr>
        <p:spPr>
          <a:xfrm>
            <a:off x="2980944" y="4550711"/>
            <a:ext cx="387746" cy="110352"/>
          </a:xfrm>
          <a:prstGeom prst="rect">
            <a:avLst/>
          </a:prstGeom>
          <a:solidFill>
            <a:srgbClr val="2587C5"/>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$4.79M</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1" name="Shape 59"/>
          <p:cNvSpPr/>
          <p:nvPr/>
        </p:nvSpPr>
        <p:spPr>
          <a:xfrm>
            <a:off x="2980944" y="4790606"/>
            <a:ext cx="387152" cy="110352"/>
          </a:xfrm>
          <a:prstGeom prst="rect">
            <a:avLst/>
          </a:prstGeom>
          <a:solidFill>
            <a:srgbClr val="2587C5"/>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$4.78M</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5" name="Shape 63"/>
          <p:cNvSpPr/>
          <p:nvPr/>
        </p:nvSpPr>
        <p:spPr>
          <a:xfrm>
            <a:off x="2980944" y="5030502"/>
            <a:ext cx="366719" cy="110352"/>
          </a:xfrm>
          <a:prstGeom prst="rect">
            <a:avLst/>
          </a:prstGeom>
          <a:solidFill>
            <a:srgbClr val="2587C5"/>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$4.53M</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9" name="Shape 67"/>
          <p:cNvSpPr/>
          <p:nvPr/>
        </p:nvSpPr>
        <p:spPr>
          <a:xfrm>
            <a:off x="2980944" y="5270397"/>
            <a:ext cx="361706" cy="110352"/>
          </a:xfrm>
          <a:prstGeom prst="rect">
            <a:avLst/>
          </a:prstGeom>
          <a:solidFill>
            <a:srgbClr val="2587C5"/>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$4.47M</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73" name="Shape 71"/>
          <p:cNvSpPr/>
          <p:nvPr/>
        </p:nvSpPr>
        <p:spPr>
          <a:xfrm>
            <a:off x="2980944" y="5510293"/>
            <a:ext cx="360997" cy="110352"/>
          </a:xfrm>
          <a:prstGeom prst="rect">
            <a:avLst/>
          </a:prstGeom>
          <a:solidFill>
            <a:srgbClr val="2587C5"/>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$4.46M</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7" name="Shape 75"/>
          <p:cNvSpPr/>
          <p:nvPr/>
        </p:nvSpPr>
        <p:spPr>
          <a:xfrm>
            <a:off x="2980944" y="5750188"/>
            <a:ext cx="338585" cy="110352"/>
          </a:xfrm>
          <a:prstGeom prst="rect">
            <a:avLst/>
          </a:prstGeom>
          <a:solidFill>
            <a:srgbClr val="2587C5"/>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$4.18M</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1" name="Shape 79"/>
          <p:cNvSpPr/>
          <p:nvPr/>
        </p:nvSpPr>
        <p:spPr>
          <a:xfrm>
            <a:off x="8531352" y="1911860"/>
            <a:ext cx="335529" cy="110352"/>
          </a:xfrm>
          <a:prstGeom prst="rect">
            <a:avLst/>
          </a:prstGeom>
          <a:solidFill>
            <a:srgbClr val="2587C5"/>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$4.15M</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5" name="Shape 83"/>
          <p:cNvSpPr/>
          <p:nvPr/>
        </p:nvSpPr>
        <p:spPr>
          <a:xfrm>
            <a:off x="8531352" y="2151755"/>
            <a:ext cx="316795" cy="110352"/>
          </a:xfrm>
          <a:prstGeom prst="rect">
            <a:avLst/>
          </a:prstGeom>
          <a:solidFill>
            <a:srgbClr val="2587C5"/>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$3.91M</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8531352" y="2391651"/>
            <a:ext cx="287606" cy="110352"/>
          </a:xfrm>
          <a:prstGeom prst="rect">
            <a:avLst/>
          </a:prstGeom>
          <a:solidFill>
            <a:srgbClr val="2587C5"/>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$3.55M</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3" name="Shape 91"/>
          <p:cNvSpPr/>
          <p:nvPr/>
        </p:nvSpPr>
        <p:spPr>
          <a:xfrm>
            <a:off x="8531352" y="2631546"/>
            <a:ext cx="284566" cy="110352"/>
          </a:xfrm>
          <a:prstGeom prst="rect">
            <a:avLst/>
          </a:prstGeom>
          <a:solidFill>
            <a:srgbClr val="2587C5"/>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$3.52M</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7" name="Shape 95"/>
          <p:cNvSpPr/>
          <p:nvPr/>
        </p:nvSpPr>
        <p:spPr>
          <a:xfrm>
            <a:off x="8531352" y="2871442"/>
            <a:ext cx="276517" cy="110352"/>
          </a:xfrm>
          <a:prstGeom prst="rect">
            <a:avLst/>
          </a:prstGeom>
          <a:solidFill>
            <a:srgbClr val="2587C5"/>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$3.42M</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1" name="Shape 99"/>
          <p:cNvSpPr/>
          <p:nvPr/>
        </p:nvSpPr>
        <p:spPr>
          <a:xfrm>
            <a:off x="8531352" y="3111337"/>
            <a:ext cx="267522" cy="110352"/>
          </a:xfrm>
          <a:prstGeom prst="rect">
            <a:avLst/>
          </a:prstGeom>
          <a:solidFill>
            <a:srgbClr val="2587C5"/>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$3.31M</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5" name="Shape 103"/>
          <p:cNvSpPr/>
          <p:nvPr/>
        </p:nvSpPr>
        <p:spPr>
          <a:xfrm>
            <a:off x="8531352" y="3351233"/>
            <a:ext cx="241377" cy="110352"/>
          </a:xfrm>
          <a:prstGeom prst="rect">
            <a:avLst/>
          </a:prstGeom>
          <a:solidFill>
            <a:srgbClr val="2587C5"/>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$2.98M</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9" name="Shape 107"/>
          <p:cNvSpPr/>
          <p:nvPr/>
        </p:nvSpPr>
        <p:spPr>
          <a:xfrm>
            <a:off x="8531352" y="3591128"/>
            <a:ext cx="234183" cy="110352"/>
          </a:xfrm>
          <a:prstGeom prst="rect">
            <a:avLst/>
          </a:prstGeom>
          <a:solidFill>
            <a:srgbClr val="2587C5"/>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$2.89M</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3" name="Shape 111"/>
          <p:cNvSpPr/>
          <p:nvPr/>
        </p:nvSpPr>
        <p:spPr>
          <a:xfrm>
            <a:off x="8531352" y="3831024"/>
            <a:ext cx="218568" cy="110352"/>
          </a:xfrm>
          <a:prstGeom prst="rect">
            <a:avLst/>
          </a:prstGeom>
          <a:solidFill>
            <a:srgbClr val="2587C5"/>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$2.70M</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17" name="Shape 115"/>
          <p:cNvSpPr/>
          <p:nvPr/>
        </p:nvSpPr>
        <p:spPr>
          <a:xfrm>
            <a:off x="8531352" y="4070920"/>
            <a:ext cx="189081" cy="110352"/>
          </a:xfrm>
          <a:prstGeom prst="rect">
            <a:avLst/>
          </a:prstGeom>
          <a:solidFill>
            <a:srgbClr val="2587C5"/>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$2.34M</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1" name="Shape 119"/>
          <p:cNvSpPr/>
          <p:nvPr/>
        </p:nvSpPr>
        <p:spPr>
          <a:xfrm>
            <a:off x="8531352" y="4310815"/>
            <a:ext cx="184970" cy="110352"/>
          </a:xfrm>
          <a:prstGeom prst="rect">
            <a:avLst/>
          </a:prstGeom>
          <a:solidFill>
            <a:srgbClr val="2587C5"/>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$2.29M</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5" name="Shape 123"/>
          <p:cNvSpPr/>
          <p:nvPr/>
        </p:nvSpPr>
        <p:spPr>
          <a:xfrm>
            <a:off x="8531352" y="4550711"/>
            <a:ext cx="183743" cy="110352"/>
          </a:xfrm>
          <a:prstGeom prst="rect">
            <a:avLst/>
          </a:prstGeom>
          <a:solidFill>
            <a:srgbClr val="2587C5"/>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$2.27M</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9" name="Shape 127"/>
          <p:cNvSpPr/>
          <p:nvPr/>
        </p:nvSpPr>
        <p:spPr>
          <a:xfrm>
            <a:off x="8531352" y="4790606"/>
            <a:ext cx="178709" cy="110352"/>
          </a:xfrm>
          <a:prstGeom prst="rect">
            <a:avLst/>
          </a:prstGeom>
          <a:solidFill>
            <a:srgbClr val="2587C5"/>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$2.21M</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31352" y="5030502"/>
            <a:ext cx="128860" cy="110352"/>
          </a:xfrm>
          <a:prstGeom prst="rect">
            <a:avLst/>
          </a:prstGeom>
          <a:solidFill>
            <a:srgbClr val="2587C5"/>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$1.59M</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31352" y="5270397"/>
            <a:ext cx="124271" cy="110352"/>
          </a:xfrm>
          <a:prstGeom prst="rect">
            <a:avLst/>
          </a:prstGeom>
          <a:solidFill>
            <a:srgbClr val="2587C5"/>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$1.54M</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31352" y="5510293"/>
            <a:ext cx="78355" cy="110352"/>
          </a:xfrm>
          <a:prstGeom prst="rect">
            <a:avLst/>
          </a:prstGeom>
          <a:solidFill>
            <a:srgbClr val="2587C5"/>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$968,018</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4" name="Shape 142"/>
          <p:cNvSpPr/>
          <p:nvPr/>
        </p:nvSpPr>
        <p:spPr>
          <a:xfrm>
            <a:off x="457200" y="6126480"/>
            <a:ext cx="11274552" cy="371856"/>
          </a:xfrm>
          <a:prstGeom prst="rect">
            <a:avLst/>
          </a:prstGeom>
          <a:solidFill>
            <a:srgbClr val="EDF4FA"/>
          </a:solidFill>
          <a:ln/>
        </p:spPr>
      </p:sp>
      <p:sp>
        <p:nvSpPr>
          <p:cNvPr id="145" name="Text 14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Toyota Henderson is $22.59M of the group's $188.80M; VW St George is smallest at $968,018.</a:t>
            </a:r>
            <a:endParaRPr lang="en-US" sz="1600" dirty="0"/>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+4.1%  ·  +$7.47M</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+35.8%</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+$404K</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2" name="Shape 20"/>
          <p:cNvSpPr/>
          <p:nvPr/>
        </p:nvSpPr>
        <p:spPr>
          <a:xfrm>
            <a:off x="3579876" y="2405582"/>
            <a:ext cx="506111"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+31.7%</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+$717K</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7" name="Shape 25"/>
          <p:cNvSpPr/>
          <p:nvPr/>
        </p:nvSpPr>
        <p:spPr>
          <a:xfrm>
            <a:off x="3579876" y="2629341"/>
            <a:ext cx="360850"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+22.6%</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+$764K</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2" name="Shape 30"/>
          <p:cNvSpPr/>
          <p:nvPr/>
        </p:nvSpPr>
        <p:spPr>
          <a:xfrm>
            <a:off x="3579876" y="2853100"/>
            <a:ext cx="256108"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+$1.70M</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7" name="Shape 35"/>
          <p:cNvSpPr/>
          <p:nvPr/>
        </p:nvSpPr>
        <p:spPr>
          <a:xfrm>
            <a:off x="3579876" y="3076859"/>
            <a:ext cx="252129" cy="102929"/>
          </a:xfrm>
          <a:prstGeom prst="rect">
            <a:avLst/>
          </a:prstGeom>
          <a:solidFill>
            <a:srgbClr val="12A566"/>
          </a:solidFill>
          <a:ln/>
        </p:spPr>
      </p:sp>
      <p:sp>
        <p:nvSpPr>
          <p:cNvPr id="38" name="Text 36"/>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+15.8%</a:t>
            </a:r>
            <a:endParaRPr lang="en-US" sz="1200" dirty="0"/>
          </a:p>
        </p:txBody>
      </p:sp>
      <p:sp>
        <p:nvSpPr>
          <p:cNvPr id="39" name="Text 37"/>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+$368K</a:t>
            </a:r>
            <a:endParaRPr lang="en-US" sz="1200" dirty="0"/>
          </a:p>
        </p:txBody>
      </p:sp>
      <p:sp>
        <p:nvSpPr>
          <p:cNvPr id="40" name="Text 38"/>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1" name="Text 39"/>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2" name="Shape 40"/>
          <p:cNvSpPr/>
          <p:nvPr/>
        </p:nvSpPr>
        <p:spPr>
          <a:xfrm>
            <a:off x="3579876" y="3300618"/>
            <a:ext cx="248007" cy="102929"/>
          </a:xfrm>
          <a:prstGeom prst="rect">
            <a:avLst/>
          </a:prstGeom>
          <a:solidFill>
            <a:srgbClr val="12A566"/>
          </a:solidFill>
          <a:ln/>
        </p:spPr>
      </p:sp>
      <p:sp>
        <p:nvSpPr>
          <p:cNvPr id="43" name="Text 41"/>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a:t>
            </a:r>
            <a:endParaRPr lang="en-US" sz="1200" dirty="0"/>
          </a:p>
        </p:txBody>
      </p:sp>
      <p:sp>
        <p:nvSpPr>
          <p:cNvPr id="44" name="Text 42"/>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+$472K</a:t>
            </a:r>
            <a:endParaRPr lang="en-US" sz="1200" dirty="0"/>
          </a:p>
        </p:txBody>
      </p:sp>
      <p:sp>
        <p:nvSpPr>
          <p:cNvPr id="45" name="Text 43"/>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6" name="Text 44"/>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7" name="Shape 45"/>
          <p:cNvSpPr/>
          <p:nvPr/>
        </p:nvSpPr>
        <p:spPr>
          <a:xfrm>
            <a:off x="3579876" y="3524377"/>
            <a:ext cx="208279" cy="102929"/>
          </a:xfrm>
          <a:prstGeom prst="rect">
            <a:avLst/>
          </a:prstGeom>
          <a:solidFill>
            <a:srgbClr val="12A566"/>
          </a:solidFill>
          <a:ln/>
        </p:spPr>
      </p:sp>
      <p:sp>
        <p:nvSpPr>
          <p:cNvPr id="48" name="Text 46"/>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+13.0%</a:t>
            </a:r>
            <a:endParaRPr lang="en-US" sz="1200" dirty="0"/>
          </a:p>
        </p:txBody>
      </p:sp>
      <p:sp>
        <p:nvSpPr>
          <p:cNvPr id="49" name="Text 47"/>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+$586K</a:t>
            </a:r>
            <a:endParaRPr lang="en-US" sz="1200" dirty="0"/>
          </a:p>
        </p:txBody>
      </p:sp>
      <p:sp>
        <p:nvSpPr>
          <p:cNvPr id="50" name="Text 48"/>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1" name="Text 49"/>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2" name="Shape 50"/>
          <p:cNvSpPr/>
          <p:nvPr/>
        </p:nvSpPr>
        <p:spPr>
          <a:xfrm>
            <a:off x="3579876" y="3748136"/>
            <a:ext cx="166767" cy="102929"/>
          </a:xfrm>
          <a:prstGeom prst="rect">
            <a:avLst/>
          </a:prstGeom>
          <a:solidFill>
            <a:srgbClr val="12A566"/>
          </a:solidFill>
          <a:ln/>
        </p:spPr>
      </p:sp>
      <p:sp>
        <p:nvSpPr>
          <p:cNvPr id="53" name="Text 51"/>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+10.4%</a:t>
            </a:r>
            <a:endParaRPr lang="en-US" sz="1200" dirty="0"/>
          </a:p>
        </p:txBody>
      </p:sp>
      <p:sp>
        <p:nvSpPr>
          <p:cNvPr id="54" name="Text 52"/>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+$422K</a:t>
            </a:r>
            <a:endParaRPr lang="en-US" sz="1200" dirty="0"/>
          </a:p>
        </p:txBody>
      </p:sp>
      <p:sp>
        <p:nvSpPr>
          <p:cNvPr id="55" name="Text 53"/>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6" name="Text 54"/>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7" name="Shape 55"/>
          <p:cNvSpPr/>
          <p:nvPr/>
        </p:nvSpPr>
        <p:spPr>
          <a:xfrm>
            <a:off x="3579876" y="3971895"/>
            <a:ext cx="163731" cy="102929"/>
          </a:xfrm>
          <a:prstGeom prst="rect">
            <a:avLst/>
          </a:prstGeom>
          <a:solidFill>
            <a:srgbClr val="12A566"/>
          </a:solidFill>
          <a:ln/>
        </p:spPr>
      </p:sp>
      <p:sp>
        <p:nvSpPr>
          <p:cNvPr id="58" name="Text 56"/>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+10.2%</a:t>
            </a:r>
            <a:endParaRPr lang="en-US" sz="1200" dirty="0"/>
          </a:p>
        </p:txBody>
      </p:sp>
      <p:sp>
        <p:nvSpPr>
          <p:cNvPr id="59" name="Text 57"/>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+$445K</a:t>
            </a:r>
            <a:endParaRPr lang="en-US" sz="1200" dirty="0"/>
          </a:p>
        </p:txBody>
      </p:sp>
      <p:sp>
        <p:nvSpPr>
          <p:cNvPr id="60" name="Text 58"/>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1" name="Text 59"/>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2" name="Shape 60"/>
          <p:cNvSpPr/>
          <p:nvPr/>
        </p:nvSpPr>
        <p:spPr>
          <a:xfrm>
            <a:off x="3579876" y="4195654"/>
            <a:ext cx="162710" cy="102929"/>
          </a:xfrm>
          <a:prstGeom prst="rect">
            <a:avLst/>
          </a:prstGeom>
          <a:solidFill>
            <a:srgbClr val="12A566"/>
          </a:solidFill>
          <a:ln/>
        </p:spPr>
      </p:sp>
      <p:sp>
        <p:nvSpPr>
          <p:cNvPr id="63" name="Text 61"/>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+10.2%</a:t>
            </a:r>
            <a:endParaRPr lang="en-US" sz="1200" dirty="0"/>
          </a:p>
        </p:txBody>
      </p:sp>
      <p:sp>
        <p:nvSpPr>
          <p:cNvPr id="64" name="Text 62"/>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+$216K</a:t>
            </a:r>
            <a:endParaRPr lang="en-US" sz="1200" dirty="0"/>
          </a:p>
        </p:txBody>
      </p:sp>
      <p:sp>
        <p:nvSpPr>
          <p:cNvPr id="65" name="Text 63"/>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6" name="Text 64"/>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7" name="Shape 65"/>
          <p:cNvSpPr/>
          <p:nvPr/>
        </p:nvSpPr>
        <p:spPr>
          <a:xfrm>
            <a:off x="3579876" y="4419414"/>
            <a:ext cx="161498" cy="102929"/>
          </a:xfrm>
          <a:prstGeom prst="rect">
            <a:avLst/>
          </a:prstGeom>
          <a:solidFill>
            <a:srgbClr val="12A566"/>
          </a:solidFill>
          <a:ln/>
        </p:spPr>
      </p:sp>
      <p:sp>
        <p:nvSpPr>
          <p:cNvPr id="68" name="Text 66"/>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69" name="Text 67"/>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+$545K</a:t>
            </a:r>
            <a:endParaRPr lang="en-US" sz="1200" dirty="0"/>
          </a:p>
        </p:txBody>
      </p:sp>
      <p:sp>
        <p:nvSpPr>
          <p:cNvPr id="70" name="Text 68"/>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1" name="Text 69"/>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2" name="Shape 70"/>
          <p:cNvSpPr/>
          <p:nvPr/>
        </p:nvSpPr>
        <p:spPr>
          <a:xfrm>
            <a:off x="3579876" y="4643173"/>
            <a:ext cx="156373" cy="102929"/>
          </a:xfrm>
          <a:prstGeom prst="rect">
            <a:avLst/>
          </a:prstGeom>
          <a:solidFill>
            <a:srgbClr val="12A566"/>
          </a:solidFill>
          <a:ln/>
        </p:spPr>
      </p:sp>
      <p:sp>
        <p:nvSpPr>
          <p:cNvPr id="73" name="Text 71"/>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+9.8%</a:t>
            </a:r>
            <a:endParaRPr lang="en-US" sz="1200" dirty="0"/>
          </a:p>
        </p:txBody>
      </p:sp>
      <p:sp>
        <p:nvSpPr>
          <p:cNvPr id="74" name="Text 72"/>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+$373K</a:t>
            </a:r>
            <a:endParaRPr lang="en-US" sz="1200" dirty="0"/>
          </a:p>
        </p:txBody>
      </p:sp>
      <p:sp>
        <p:nvSpPr>
          <p:cNvPr id="75" name="Text 73"/>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6" name="Text 74"/>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77" name="Shape 75"/>
          <p:cNvSpPr/>
          <p:nvPr/>
        </p:nvSpPr>
        <p:spPr>
          <a:xfrm>
            <a:off x="3579876" y="4866932"/>
            <a:ext cx="136210" cy="102929"/>
          </a:xfrm>
          <a:prstGeom prst="rect">
            <a:avLst/>
          </a:prstGeom>
          <a:solidFill>
            <a:srgbClr val="12A566"/>
          </a:solidFill>
          <a:ln/>
        </p:spPr>
      </p:sp>
      <p:sp>
        <p:nvSpPr>
          <p:cNvPr id="78" name="Text 76"/>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a:t>
            </a:r>
            <a:endParaRPr lang="en-US" sz="1200" dirty="0"/>
          </a:p>
        </p:txBody>
      </p:sp>
      <p:sp>
        <p:nvSpPr>
          <p:cNvPr id="79" name="Text 77"/>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+$178K</a:t>
            </a:r>
            <a:endParaRPr lang="en-US" sz="1200" dirty="0"/>
          </a:p>
        </p:txBody>
      </p:sp>
      <p:sp>
        <p:nvSpPr>
          <p:cNvPr id="80" name="Text 78"/>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1" name="Text 79"/>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2" name="Shape 80"/>
          <p:cNvSpPr/>
          <p:nvPr/>
        </p:nvSpPr>
        <p:spPr>
          <a:xfrm>
            <a:off x="3579876" y="5090691"/>
            <a:ext cx="136028" cy="102929"/>
          </a:xfrm>
          <a:prstGeom prst="rect">
            <a:avLst/>
          </a:prstGeom>
          <a:solidFill>
            <a:srgbClr val="12A566"/>
          </a:solidFill>
          <a:ln/>
        </p:spPr>
      </p:sp>
      <p:sp>
        <p:nvSpPr>
          <p:cNvPr id="83" name="Text 81"/>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a:t>
            </a:r>
            <a:endParaRPr lang="en-US" sz="1200" dirty="0"/>
          </a:p>
        </p:txBody>
      </p:sp>
      <p:sp>
        <p:nvSpPr>
          <p:cNvPr id="84" name="Text 82"/>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+$1.77M</a:t>
            </a:r>
            <a:endParaRPr lang="en-US" sz="1200" dirty="0"/>
          </a:p>
        </p:txBody>
      </p:sp>
      <p:sp>
        <p:nvSpPr>
          <p:cNvPr id="85" name="Text 8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6" name="Text 8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87" name="Shape 85"/>
          <p:cNvSpPr/>
          <p:nvPr/>
        </p:nvSpPr>
        <p:spPr>
          <a:xfrm>
            <a:off x="3579876" y="5314450"/>
            <a:ext cx="122042" cy="102929"/>
          </a:xfrm>
          <a:prstGeom prst="rect">
            <a:avLst/>
          </a:prstGeom>
          <a:solidFill>
            <a:srgbClr val="12A566"/>
          </a:solidFill>
          <a:ln/>
        </p:spPr>
      </p:sp>
      <p:sp>
        <p:nvSpPr>
          <p:cNvPr id="88" name="Text 86"/>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a:t>
            </a:r>
            <a:endParaRPr lang="en-US" sz="1200" dirty="0"/>
          </a:p>
        </p:txBody>
      </p:sp>
      <p:sp>
        <p:nvSpPr>
          <p:cNvPr id="89" name="Text 87"/>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+$157K</a:t>
            </a:r>
            <a:endParaRPr lang="en-US" sz="1200" dirty="0"/>
          </a:p>
        </p:txBody>
      </p:sp>
      <p:sp>
        <p:nvSpPr>
          <p:cNvPr id="90" name="Text 88"/>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92" name="Shape 90"/>
          <p:cNvSpPr/>
          <p:nvPr/>
        </p:nvSpPr>
        <p:spPr>
          <a:xfrm>
            <a:off x="3579876" y="5538209"/>
            <a:ext cx="118786" cy="102929"/>
          </a:xfrm>
          <a:prstGeom prst="rect">
            <a:avLst/>
          </a:prstGeom>
          <a:solidFill>
            <a:srgbClr val="12A566"/>
          </a:solidFill>
          <a:ln/>
        </p:spPr>
      </p:sp>
      <p:sp>
        <p:nvSpPr>
          <p:cNvPr id="93" name="Text 91"/>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+7.4%</a:t>
            </a:r>
            <a:endParaRPr lang="en-US" sz="1200" dirty="0"/>
          </a:p>
        </p:txBody>
      </p:sp>
      <p:sp>
        <p:nvSpPr>
          <p:cNvPr id="94" name="Text 92"/>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+$664K</a:t>
            </a:r>
            <a:endParaRPr lang="en-US" sz="1200" dirty="0"/>
          </a:p>
        </p:txBody>
      </p:sp>
      <p:sp>
        <p:nvSpPr>
          <p:cNvPr id="95" name="Text 93"/>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6" name="Text 94"/>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97" name="Shape 95"/>
          <p:cNvSpPr/>
          <p:nvPr/>
        </p:nvSpPr>
        <p:spPr>
          <a:xfrm>
            <a:off x="3579876" y="5761968"/>
            <a:ext cx="110352" cy="102929"/>
          </a:xfrm>
          <a:prstGeom prst="rect">
            <a:avLst/>
          </a:prstGeom>
          <a:solidFill>
            <a:srgbClr val="12A566"/>
          </a:solidFill>
          <a:ln/>
        </p:spPr>
      </p:sp>
      <p:sp>
        <p:nvSpPr>
          <p:cNvPr id="98" name="Text 96"/>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+6.9%</a:t>
            </a:r>
            <a:endParaRPr lang="en-US" sz="1200" dirty="0"/>
          </a:p>
        </p:txBody>
      </p:sp>
      <p:sp>
        <p:nvSpPr>
          <p:cNvPr id="99" name="Text 97"/>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+$932K</a:t>
            </a:r>
            <a:endParaRPr lang="en-US" sz="1200" dirty="0"/>
          </a:p>
        </p:txBody>
      </p:sp>
      <p:sp>
        <p:nvSpPr>
          <p:cNvPr id="100" name="Text 98"/>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2" name="Shape 100"/>
          <p:cNvSpPr/>
          <p:nvPr/>
        </p:nvSpPr>
        <p:spPr>
          <a:xfrm>
            <a:off x="9130284" y="2181823"/>
            <a:ext cx="64131" cy="102929"/>
          </a:xfrm>
          <a:prstGeom prst="rect">
            <a:avLst/>
          </a:prstGeom>
          <a:solidFill>
            <a:srgbClr val="12A566"/>
          </a:solidFill>
          <a:ln/>
        </p:spPr>
      </p:sp>
      <p:sp>
        <p:nvSpPr>
          <p:cNvPr id="103" name="Text 101"/>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+4.0%</a:t>
            </a:r>
            <a:endParaRPr lang="en-US" sz="1200" dirty="0"/>
          </a:p>
        </p:txBody>
      </p:sp>
      <p:sp>
        <p:nvSpPr>
          <p:cNvPr id="104" name="Text 102"/>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+$88K</a:t>
            </a:r>
            <a:endParaRPr lang="en-US" sz="1200" dirty="0"/>
          </a:p>
        </p:txBody>
      </p:sp>
      <p:sp>
        <p:nvSpPr>
          <p:cNvPr id="105" name="Text 103"/>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7" name="Shape 105"/>
          <p:cNvSpPr/>
          <p:nvPr/>
        </p:nvSpPr>
        <p:spPr>
          <a:xfrm>
            <a:off x="9130284" y="2405582"/>
            <a:ext cx="60011" cy="102929"/>
          </a:xfrm>
          <a:prstGeom prst="rect">
            <a:avLst/>
          </a:prstGeom>
          <a:solidFill>
            <a:srgbClr val="12A566"/>
          </a:solidFill>
          <a:ln/>
        </p:spPr>
      </p:sp>
      <p:sp>
        <p:nvSpPr>
          <p:cNvPr id="108" name="Text 106"/>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a:t>
            </a:r>
            <a:endParaRPr lang="en-US" sz="1200" dirty="0"/>
          </a:p>
        </p:txBody>
      </p:sp>
      <p:sp>
        <p:nvSpPr>
          <p:cNvPr id="109" name="Text 107"/>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+$120K</a:t>
            </a:r>
            <a:endParaRPr lang="en-US" sz="1200" dirty="0"/>
          </a:p>
        </p:txBody>
      </p:sp>
      <p:sp>
        <p:nvSpPr>
          <p:cNvPr id="110" name="Text 108"/>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1" name="Text 109"/>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2" name="Shape 110"/>
          <p:cNvSpPr/>
          <p:nvPr/>
        </p:nvSpPr>
        <p:spPr>
          <a:xfrm>
            <a:off x="9130284" y="2629341"/>
            <a:ext cx="45763" cy="102929"/>
          </a:xfrm>
          <a:prstGeom prst="rect">
            <a:avLst/>
          </a:prstGeom>
          <a:solidFill>
            <a:srgbClr val="12A566"/>
          </a:solidFill>
          <a:ln/>
        </p:spPr>
      </p:sp>
      <p:sp>
        <p:nvSpPr>
          <p:cNvPr id="113" name="Text 111"/>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a:t>
            </a:r>
            <a:endParaRPr lang="en-US" sz="1200" dirty="0"/>
          </a:p>
        </p:txBody>
      </p:sp>
      <p:sp>
        <p:nvSpPr>
          <p:cNvPr id="114" name="Text 112"/>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+$95K</a:t>
            </a:r>
            <a:endParaRPr lang="en-US" sz="1200" dirty="0"/>
          </a:p>
        </p:txBody>
      </p:sp>
      <p:sp>
        <p:nvSpPr>
          <p:cNvPr id="115" name="Text 113"/>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6" name="Text 114"/>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7" name="Shape 115"/>
          <p:cNvSpPr/>
          <p:nvPr/>
        </p:nvSpPr>
        <p:spPr>
          <a:xfrm>
            <a:off x="9130284" y="2853100"/>
            <a:ext cx="33373" cy="102929"/>
          </a:xfrm>
          <a:prstGeom prst="rect">
            <a:avLst/>
          </a:prstGeom>
          <a:solidFill>
            <a:srgbClr val="12A566"/>
          </a:solidFill>
          <a:ln/>
        </p:spPr>
      </p:sp>
      <p:sp>
        <p:nvSpPr>
          <p:cNvPr id="118" name="Text 116"/>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a:t>
            </a:r>
            <a:endParaRPr lang="en-US" sz="1200" dirty="0"/>
          </a:p>
        </p:txBody>
      </p:sp>
      <p:sp>
        <p:nvSpPr>
          <p:cNvPr id="119" name="Text 117"/>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+$135K</a:t>
            </a:r>
            <a:endParaRPr lang="en-US" sz="1200" dirty="0"/>
          </a:p>
        </p:txBody>
      </p:sp>
      <p:sp>
        <p:nvSpPr>
          <p:cNvPr id="120" name="Text 118"/>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1" name="Text 119"/>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22" name="Shape 120"/>
          <p:cNvSpPr/>
          <p:nvPr/>
        </p:nvSpPr>
        <p:spPr>
          <a:xfrm>
            <a:off x="9130284" y="3076859"/>
            <a:ext cx="33130" cy="102929"/>
          </a:xfrm>
          <a:prstGeom prst="rect">
            <a:avLst/>
          </a:prstGeom>
          <a:solidFill>
            <a:srgbClr val="12A566"/>
          </a:solidFill>
          <a:ln/>
        </p:spPr>
      </p:sp>
      <p:sp>
        <p:nvSpPr>
          <p:cNvPr id="123" name="Text 121"/>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a:t>
            </a:r>
            <a:endParaRPr lang="en-US" sz="1200" dirty="0"/>
          </a:p>
        </p:txBody>
      </p:sp>
      <p:sp>
        <p:nvSpPr>
          <p:cNvPr id="124" name="Text 122"/>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+$125K</a:t>
            </a:r>
            <a:endParaRPr lang="en-US" sz="1200" dirty="0"/>
          </a:p>
        </p:txBody>
      </p:sp>
      <p:sp>
        <p:nvSpPr>
          <p:cNvPr id="125" name="Text 123"/>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6" name="Text 124"/>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27" name="Shape 125"/>
          <p:cNvSpPr/>
          <p:nvPr/>
        </p:nvSpPr>
        <p:spPr>
          <a:xfrm>
            <a:off x="9130284" y="3300618"/>
            <a:ext cx="26052" cy="102929"/>
          </a:xfrm>
          <a:prstGeom prst="rect">
            <a:avLst/>
          </a:prstGeom>
          <a:solidFill>
            <a:srgbClr val="12A566"/>
          </a:solidFill>
          <a:ln/>
        </p:spPr>
      </p:sp>
      <p:sp>
        <p:nvSpPr>
          <p:cNvPr id="128" name="Text 126"/>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a:t>
            </a:r>
            <a:endParaRPr lang="en-US" sz="1200" dirty="0"/>
          </a:p>
        </p:txBody>
      </p:sp>
      <p:sp>
        <p:nvSpPr>
          <p:cNvPr id="129" name="Text 127"/>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+$63K</a:t>
            </a:r>
            <a:endParaRPr lang="en-US" sz="1200" dirty="0"/>
          </a:p>
        </p:txBody>
      </p:sp>
      <p:sp>
        <p:nvSpPr>
          <p:cNvPr id="130" name="Text 128"/>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1" name="Text 129"/>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2" name="Shape 130"/>
          <p:cNvSpPr/>
          <p:nvPr/>
        </p:nvSpPr>
        <p:spPr>
          <a:xfrm>
            <a:off x="9130284" y="3524377"/>
            <a:ext cx="23062" cy="102929"/>
          </a:xfrm>
          <a:prstGeom prst="rect">
            <a:avLst/>
          </a:prstGeom>
          <a:solidFill>
            <a:srgbClr val="12A566"/>
          </a:solidFill>
          <a:ln/>
        </p:spPr>
      </p:sp>
      <p:sp>
        <p:nvSpPr>
          <p:cNvPr id="133" name="Text 131"/>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134" name="Text 132"/>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+$23K</a:t>
            </a:r>
            <a:endParaRPr lang="en-US" sz="1200" dirty="0"/>
          </a:p>
        </p:txBody>
      </p:sp>
      <p:sp>
        <p:nvSpPr>
          <p:cNvPr id="135" name="Text 13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6" name="Text 13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37" name="Shape 135"/>
          <p:cNvSpPr/>
          <p:nvPr/>
        </p:nvSpPr>
        <p:spPr>
          <a:xfrm>
            <a:off x="9130284" y="3748136"/>
            <a:ext cx="13857" cy="102929"/>
          </a:xfrm>
          <a:prstGeom prst="rect">
            <a:avLst/>
          </a:prstGeom>
          <a:solidFill>
            <a:srgbClr val="12A566"/>
          </a:solidFill>
          <a:ln/>
        </p:spPr>
      </p:sp>
      <p:sp>
        <p:nvSpPr>
          <p:cNvPr id="138" name="Text 136"/>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+0.9%</a:t>
            </a:r>
            <a:endParaRPr lang="en-US" sz="1200" dirty="0"/>
          </a:p>
        </p:txBody>
      </p:sp>
      <p:sp>
        <p:nvSpPr>
          <p:cNvPr id="139" name="Text 137"/>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+$39K</a:t>
            </a:r>
            <a:endParaRPr lang="en-US" sz="1200" dirty="0"/>
          </a:p>
        </p:txBody>
      </p:sp>
      <p:sp>
        <p:nvSpPr>
          <p:cNvPr id="140" name="Text 138"/>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1" name="Text 139"/>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42" name="Shape 140"/>
          <p:cNvSpPr/>
          <p:nvPr/>
        </p:nvSpPr>
        <p:spPr>
          <a:xfrm>
            <a:off x="9089172" y="3971895"/>
            <a:ext cx="41112" cy="102929"/>
          </a:xfrm>
          <a:prstGeom prst="rect">
            <a:avLst/>
          </a:prstGeom>
          <a:solidFill>
            <a:srgbClr val="C2352F"/>
          </a:solidFill>
          <a:ln/>
        </p:spPr>
      </p:sp>
      <p:sp>
        <p:nvSpPr>
          <p:cNvPr id="143" name="Text 141"/>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a:t>
            </a:r>
            <a:endParaRPr lang="en-US" sz="1200" dirty="0"/>
          </a:p>
        </p:txBody>
      </p:sp>
      <p:sp>
        <p:nvSpPr>
          <p:cNvPr id="144" name="Text 142"/>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−$437K</a:t>
            </a:r>
            <a:endParaRPr lang="en-US" sz="1200" dirty="0"/>
          </a:p>
        </p:txBody>
      </p:sp>
      <p:sp>
        <p:nvSpPr>
          <p:cNvPr id="145" name="Text 143"/>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6" name="Text 144"/>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47" name="Shape 145"/>
          <p:cNvSpPr/>
          <p:nvPr/>
        </p:nvSpPr>
        <p:spPr>
          <a:xfrm>
            <a:off x="9054987" y="4195654"/>
            <a:ext cx="75297" cy="102929"/>
          </a:xfrm>
          <a:prstGeom prst="rect">
            <a:avLst/>
          </a:prstGeom>
          <a:solidFill>
            <a:srgbClr val="C2352F"/>
          </a:solidFill>
          <a:ln/>
        </p:spPr>
      </p:sp>
      <p:sp>
        <p:nvSpPr>
          <p:cNvPr id="148" name="Text 146"/>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−4.7%</a:t>
            </a:r>
            <a:endParaRPr lang="en-US" sz="1200" dirty="0"/>
          </a:p>
        </p:txBody>
      </p:sp>
      <p:sp>
        <p:nvSpPr>
          <p:cNvPr id="149" name="Text 147"/>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−$499K</a:t>
            </a:r>
            <a:endParaRPr lang="en-US" sz="1200" dirty="0"/>
          </a:p>
        </p:txBody>
      </p:sp>
      <p:sp>
        <p:nvSpPr>
          <p:cNvPr id="150" name="Text 148"/>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1" name="Text 149"/>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52" name="Shape 150"/>
          <p:cNvSpPr/>
          <p:nvPr/>
        </p:nvSpPr>
        <p:spPr>
          <a:xfrm>
            <a:off x="9043679" y="4419414"/>
            <a:ext cx="86605" cy="102929"/>
          </a:xfrm>
          <a:prstGeom prst="rect">
            <a:avLst/>
          </a:prstGeom>
          <a:solidFill>
            <a:srgbClr val="C2352F"/>
          </a:solidFill>
          <a:ln/>
        </p:spPr>
      </p:sp>
      <p:sp>
        <p:nvSpPr>
          <p:cNvPr id="153" name="Text 151"/>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a:t>
            </a:r>
            <a:endParaRPr lang="en-US" sz="1200" dirty="0"/>
          </a:p>
        </p:txBody>
      </p:sp>
      <p:sp>
        <p:nvSpPr>
          <p:cNvPr id="154" name="Text 152"/>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−$204K</a:t>
            </a:r>
            <a:endParaRPr lang="en-US" sz="1200" dirty="0"/>
          </a:p>
        </p:txBody>
      </p:sp>
      <p:sp>
        <p:nvSpPr>
          <p:cNvPr id="155" name="Text 153"/>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6" name="Text 154"/>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57" name="Shape 155"/>
          <p:cNvSpPr/>
          <p:nvPr/>
        </p:nvSpPr>
        <p:spPr>
          <a:xfrm>
            <a:off x="8988381" y="4643173"/>
            <a:ext cx="141903" cy="102929"/>
          </a:xfrm>
          <a:prstGeom prst="rect">
            <a:avLst/>
          </a:prstGeom>
          <a:solidFill>
            <a:srgbClr val="C2352F"/>
          </a:solidFill>
          <a:ln/>
        </p:spPr>
      </p:sp>
      <p:sp>
        <p:nvSpPr>
          <p:cNvPr id="158" name="Text 156"/>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−8.9%</a:t>
            </a:r>
            <a:endParaRPr lang="en-US" sz="1200" dirty="0"/>
          </a:p>
        </p:txBody>
      </p:sp>
      <p:sp>
        <p:nvSpPr>
          <p:cNvPr id="159" name="Text 157"/>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−$840K</a:t>
            </a:r>
            <a:endParaRPr lang="en-US" sz="1200" dirty="0"/>
          </a:p>
        </p:txBody>
      </p:sp>
      <p:sp>
        <p:nvSpPr>
          <p:cNvPr id="160" name="Text 158"/>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1" name="Text 159"/>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62" name="Shape 160"/>
          <p:cNvSpPr/>
          <p:nvPr/>
        </p:nvSpPr>
        <p:spPr>
          <a:xfrm>
            <a:off x="8963498" y="4866932"/>
            <a:ext cx="166786" cy="102929"/>
          </a:xfrm>
          <a:prstGeom prst="rect">
            <a:avLst/>
          </a:prstGeom>
          <a:solidFill>
            <a:srgbClr val="C2352F"/>
          </a:solidFill>
          <a:ln/>
        </p:spPr>
      </p:sp>
      <p:sp>
        <p:nvSpPr>
          <p:cNvPr id="163" name="Text 161"/>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−10.4%</a:t>
            </a:r>
            <a:endParaRPr lang="en-US" sz="1200" dirty="0"/>
          </a:p>
        </p:txBody>
      </p:sp>
      <p:sp>
        <p:nvSpPr>
          <p:cNvPr id="164" name="Text 162"/>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−$520K</a:t>
            </a:r>
            <a:endParaRPr lang="en-US" sz="1200" dirty="0"/>
          </a:p>
        </p:txBody>
      </p:sp>
      <p:sp>
        <p:nvSpPr>
          <p:cNvPr id="165" name="Text 163"/>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6" name="Text 164"/>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67" name="Shape 165"/>
          <p:cNvSpPr/>
          <p:nvPr/>
        </p:nvSpPr>
        <p:spPr>
          <a:xfrm>
            <a:off x="8911219" y="5090691"/>
            <a:ext cx="219065" cy="102929"/>
          </a:xfrm>
          <a:prstGeom prst="rect">
            <a:avLst/>
          </a:prstGeom>
          <a:solidFill>
            <a:srgbClr val="C2352F"/>
          </a:solidFill>
          <a:ln/>
        </p:spPr>
      </p:sp>
      <p:sp>
        <p:nvSpPr>
          <p:cNvPr id="168" name="Text 166"/>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−13.7%</a:t>
            </a:r>
            <a:endParaRPr lang="en-US" sz="1200" dirty="0"/>
          </a:p>
        </p:txBody>
      </p:sp>
      <p:sp>
        <p:nvSpPr>
          <p:cNvPr id="169" name="Text 167"/>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−$761K</a:t>
            </a:r>
            <a:endParaRPr lang="en-US" sz="1200" dirty="0"/>
          </a:p>
        </p:txBody>
      </p:sp>
      <p:sp>
        <p:nvSpPr>
          <p:cNvPr id="170" name="Text 168"/>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1" name="Text 169"/>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72" name="Shape 170"/>
          <p:cNvSpPr/>
          <p:nvPr/>
        </p:nvSpPr>
        <p:spPr>
          <a:xfrm>
            <a:off x="8900217" y="5314450"/>
            <a:ext cx="230067" cy="102929"/>
          </a:xfrm>
          <a:prstGeom prst="rect">
            <a:avLst/>
          </a:prstGeom>
          <a:solidFill>
            <a:srgbClr val="C2352F"/>
          </a:solidFill>
          <a:ln/>
        </p:spPr>
      </p:sp>
      <p:sp>
        <p:nvSpPr>
          <p:cNvPr id="173" name="Text 171"/>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a:t>
            </a:r>
            <a:endParaRPr lang="en-US" sz="1200" dirty="0"/>
          </a:p>
        </p:txBody>
      </p:sp>
      <p:sp>
        <p:nvSpPr>
          <p:cNvPr id="174" name="Text 172"/>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−$163K</a:t>
            </a:r>
            <a:endParaRPr lang="en-US" sz="1200" dirty="0"/>
          </a:p>
        </p:txBody>
      </p:sp>
      <p:sp>
        <p:nvSpPr>
          <p:cNvPr id="175" name="Text 173"/>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6" name="Text 174"/>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77" name="Shape 175"/>
          <p:cNvSpPr/>
          <p:nvPr/>
        </p:nvSpPr>
        <p:spPr>
          <a:xfrm>
            <a:off x="8888151" y="5538209"/>
            <a:ext cx="242133" cy="102929"/>
          </a:xfrm>
          <a:prstGeom prst="rect">
            <a:avLst/>
          </a:prstGeom>
          <a:solidFill>
            <a:srgbClr val="C2352F"/>
          </a:solidFill>
          <a:ln/>
        </p:spPr>
      </p:sp>
      <p:sp>
        <p:nvSpPr>
          <p:cNvPr id="178" name="Text 176"/>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−15.2%</a:t>
            </a:r>
            <a:endParaRPr lang="en-US" sz="1200" dirty="0"/>
          </a:p>
        </p:txBody>
      </p:sp>
      <p:sp>
        <p:nvSpPr>
          <p:cNvPr id="179" name="Text 177"/>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−$517K</a:t>
            </a:r>
            <a:endParaRPr lang="en-US" sz="1200" dirty="0"/>
          </a:p>
        </p:txBody>
      </p:sp>
      <p:sp>
        <p:nvSpPr>
          <p:cNvPr id="180" name="Shape 178"/>
          <p:cNvSpPr/>
          <p:nvPr/>
        </p:nvSpPr>
        <p:spPr>
          <a:xfrm>
            <a:off x="3574390" y="2121408"/>
            <a:ext cx="10973" cy="3803904"/>
          </a:xfrm>
          <a:prstGeom prst="rect">
            <a:avLst/>
          </a:prstGeom>
          <a:solidFill>
            <a:srgbClr val="9AA3AD"/>
          </a:solidFill>
          <a:ln/>
        </p:spPr>
      </p:sp>
      <p:sp>
        <p:nvSpPr>
          <p:cNvPr id="181" name="Shape 179"/>
          <p:cNvSpPr/>
          <p:nvPr/>
        </p:nvSpPr>
        <p:spPr>
          <a:xfrm>
            <a:off x="9124798" y="2121408"/>
            <a:ext cx="10973" cy="3803904"/>
          </a:xfrm>
          <a:prstGeom prst="rect">
            <a:avLst/>
          </a:prstGeom>
          <a:solidFill>
            <a:srgbClr val="9AA3AD"/>
          </a:solidFill>
          <a:ln/>
        </p:spPr>
      </p:sp>
      <p:sp>
        <p:nvSpPr>
          <p:cNvPr id="182" name="Shape 180"/>
          <p:cNvSpPr/>
          <p:nvPr/>
        </p:nvSpPr>
        <p:spPr>
          <a:xfrm>
            <a:off x="6085332" y="2121408"/>
            <a:ext cx="10973" cy="3803904"/>
          </a:xfrm>
          <a:prstGeom prst="rect">
            <a:avLst/>
          </a:prstGeom>
          <a:solidFill>
            <a:srgbClr val="D9D9D9"/>
          </a:solidFill>
          <a:ln/>
        </p:spPr>
      </p:sp>
      <p:sp>
        <p:nvSpPr>
          <p:cNvPr id="183" name="Shape 181"/>
          <p:cNvSpPr/>
          <p:nvPr/>
        </p:nvSpPr>
        <p:spPr>
          <a:xfrm>
            <a:off x="457200" y="6126480"/>
            <a:ext cx="11274552" cy="356616"/>
          </a:xfrm>
          <a:prstGeom prst="rect">
            <a:avLst/>
          </a:prstGeom>
          <a:solidFill>
            <a:srgbClr val="E6F6EE"/>
          </a:solidFill>
          <a:ln/>
        </p:spPr>
      </p:sp>
      <p:sp>
        <p:nvSpPr>
          <p:cNvPr id="184" name="Text 182"/>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25 of 33 stores grew. Hyundai Prescott grew most at +35.8% (+$404K); Acura fell most at −15.2% (−$517K).</a:t>
            </a:r>
            <a:endParaRPr lang="en-US" sz="1500" dirty="0"/>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$1.13M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$1.54M</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+35.8%</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$2.26M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$2.98M</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+31.7%</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$3.38M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$4.15M</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+22.6%</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$10.64M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$12.34M</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+16.0%</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$2.33M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$2.70M</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+15.8%</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$3.41M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$2.89M</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−15.2%</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$1.13M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$968K</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−14.4%</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$5.55M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$4.79M</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−13.7%</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$4.98M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$4.46M</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−10.4%</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$9.46M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$8.62M</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−8.9%</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 per month</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$313K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$425K</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+35.7%</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$227K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$301K</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+32.7%</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$332K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$429K</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+29.1%</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$364K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$448K</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+23.2%</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$158K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$188K</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+19.1%</a:t>
            </a:r>
            <a:endParaRPr lang="en-US" sz="1600" dirty="0"/>
          </a:p>
        </p:txBody>
      </p:sp>
      <p:sp>
        <p:nvSpPr>
          <p:cNvPr id="69" name="Shape 67"/>
          <p:cNvSpPr/>
          <p:nvPr/>
        </p:nvSpPr>
        <p:spPr>
          <a:xfrm>
            <a:off x="457200" y="6126480"/>
            <a:ext cx="11274552" cy="615696"/>
          </a:xfrm>
          <a:prstGeom prst="rect">
            <a:avLst/>
          </a:prstGeom>
          <a:solidFill>
            <a:srgbClr val="EDF4FA"/>
          </a:solidFill>
          <a:ln/>
        </p:spPr>
      </p:sp>
      <p:sp>
        <p:nvSpPr>
          <p:cNvPr id="70"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Hyundai Prescott, Lincoln and Lexus what changed. Ask Acura, VW St George and VW Henderson what got in the way. Ask Mazda, Kia St George and LR Henderson what they started this year.</a:t>
            </a:r>
            <a:endParaRPr lang="en-US" sz="1600" dirty="0"/>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$120.57M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$126.87M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+$6.30M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+5.2%</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Service gross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371856"/>
          </a:xfrm>
          <a:prstGeom prst="rect">
            <a:avLst/>
          </a:prstGeom>
          <a:solidFill>
            <a:srgbClr val="E6F6EE"/>
          </a:solidFill>
          <a:ln/>
        </p:spPr>
      </p:sp>
      <p:sp>
        <p:nvSpPr>
          <p:cNvPr id="28"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+$6,297,386 (5.2%) year to date; 9 of nine months ahead of 2025, best September at +$1,457,847.</a:t>
            </a:r>
            <a:endParaRPr lang="en-US" sz="1600" dirty="0"/>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$126.87M</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1860"/>
            <a:ext cx="1828800" cy="110352"/>
          </a:xfrm>
          <a:prstGeom prst="rect">
            <a:avLst/>
          </a:prstGeom>
          <a:solidFill>
            <a:srgbClr val="2587C5"/>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$16.38M</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2980944" y="2151755"/>
            <a:ext cx="1178132" cy="110352"/>
          </a:xfrm>
          <a:prstGeom prst="rect">
            <a:avLst/>
          </a:prstGeom>
          <a:solidFill>
            <a:srgbClr val="2587C5"/>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$10.55M</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1" name="Shape 19"/>
          <p:cNvSpPr/>
          <p:nvPr/>
        </p:nvSpPr>
        <p:spPr>
          <a:xfrm>
            <a:off x="2980944" y="2391651"/>
            <a:ext cx="1171781" cy="110352"/>
          </a:xfrm>
          <a:prstGeom prst="rect">
            <a:avLst/>
          </a:prstGeom>
          <a:solidFill>
            <a:srgbClr val="2587C5"/>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$10.50M</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5" name="Shape 23"/>
          <p:cNvSpPr/>
          <p:nvPr/>
        </p:nvSpPr>
        <p:spPr>
          <a:xfrm>
            <a:off x="2980944" y="2631546"/>
            <a:ext cx="982405" cy="110352"/>
          </a:xfrm>
          <a:prstGeom prst="rect">
            <a:avLst/>
          </a:prstGeom>
          <a:solidFill>
            <a:srgbClr val="2587C5"/>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$8.80M</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9" name="Shape 27"/>
          <p:cNvSpPr/>
          <p:nvPr/>
        </p:nvSpPr>
        <p:spPr>
          <a:xfrm>
            <a:off x="2980944" y="2871442"/>
            <a:ext cx="724430" cy="110352"/>
          </a:xfrm>
          <a:prstGeom prst="rect">
            <a:avLst/>
          </a:prstGeom>
          <a:solidFill>
            <a:srgbClr val="2587C5"/>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$6.49M</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33" name="Shape 31"/>
          <p:cNvSpPr/>
          <p:nvPr/>
        </p:nvSpPr>
        <p:spPr>
          <a:xfrm>
            <a:off x="2980944" y="3111337"/>
            <a:ext cx="698259" cy="110352"/>
          </a:xfrm>
          <a:prstGeom prst="rect">
            <a:avLst/>
          </a:prstGeom>
          <a:solidFill>
            <a:srgbClr val="2587C5"/>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$6.26M</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2980944" y="3351233"/>
            <a:ext cx="660750" cy="110352"/>
          </a:xfrm>
          <a:prstGeom prst="rect">
            <a:avLst/>
          </a:prstGeom>
          <a:solidFill>
            <a:srgbClr val="2587C5"/>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$5.92M</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2980944" y="3591128"/>
            <a:ext cx="455591" cy="110352"/>
          </a:xfrm>
          <a:prstGeom prst="rect">
            <a:avLst/>
          </a:prstGeom>
          <a:solidFill>
            <a:srgbClr val="2587C5"/>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$4.08M</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2980944" y="3831024"/>
            <a:ext cx="452277" cy="110352"/>
          </a:xfrm>
          <a:prstGeom prst="rect">
            <a:avLst/>
          </a:prstGeom>
          <a:solidFill>
            <a:srgbClr val="2587C5"/>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$4.05M</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9" name="Shape 47"/>
          <p:cNvSpPr/>
          <p:nvPr/>
        </p:nvSpPr>
        <p:spPr>
          <a:xfrm>
            <a:off x="2980944" y="4070920"/>
            <a:ext cx="410917" cy="110352"/>
          </a:xfrm>
          <a:prstGeom prst="rect">
            <a:avLst/>
          </a:prstGeom>
          <a:solidFill>
            <a:srgbClr val="2587C5"/>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$3.68M</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3" name="Shape 51"/>
          <p:cNvSpPr/>
          <p:nvPr/>
        </p:nvSpPr>
        <p:spPr>
          <a:xfrm>
            <a:off x="2980944" y="4310815"/>
            <a:ext cx="405463" cy="110352"/>
          </a:xfrm>
          <a:prstGeom prst="rect">
            <a:avLst/>
          </a:prstGeom>
          <a:solidFill>
            <a:srgbClr val="2587C5"/>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$3.63M</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7" name="Shape 55"/>
          <p:cNvSpPr/>
          <p:nvPr/>
        </p:nvSpPr>
        <p:spPr>
          <a:xfrm>
            <a:off x="2980944" y="4550711"/>
            <a:ext cx="390976" cy="110352"/>
          </a:xfrm>
          <a:prstGeom prst="rect">
            <a:avLst/>
          </a:prstGeom>
          <a:solidFill>
            <a:srgbClr val="2587C5"/>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$3.50M</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1" name="Shape 59"/>
          <p:cNvSpPr/>
          <p:nvPr/>
        </p:nvSpPr>
        <p:spPr>
          <a:xfrm>
            <a:off x="2980944" y="4790606"/>
            <a:ext cx="356124" cy="110352"/>
          </a:xfrm>
          <a:prstGeom prst="rect">
            <a:avLst/>
          </a:prstGeom>
          <a:solidFill>
            <a:srgbClr val="2587C5"/>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$3.19M</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5" name="Shape 63"/>
          <p:cNvSpPr/>
          <p:nvPr/>
        </p:nvSpPr>
        <p:spPr>
          <a:xfrm>
            <a:off x="2980944" y="5030502"/>
            <a:ext cx="352683" cy="110352"/>
          </a:xfrm>
          <a:prstGeom prst="rect">
            <a:avLst/>
          </a:prstGeom>
          <a:solidFill>
            <a:srgbClr val="2587C5"/>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$3.16M</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9" name="Shape 67"/>
          <p:cNvSpPr/>
          <p:nvPr/>
        </p:nvSpPr>
        <p:spPr>
          <a:xfrm>
            <a:off x="2980944" y="5270397"/>
            <a:ext cx="340845" cy="110352"/>
          </a:xfrm>
          <a:prstGeom prst="rect">
            <a:avLst/>
          </a:prstGeom>
          <a:solidFill>
            <a:srgbClr val="2587C5"/>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$3.05M</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73" name="Shape 71"/>
          <p:cNvSpPr/>
          <p:nvPr/>
        </p:nvSpPr>
        <p:spPr>
          <a:xfrm>
            <a:off x="2980944" y="5510293"/>
            <a:ext cx="339380" cy="110352"/>
          </a:xfrm>
          <a:prstGeom prst="rect">
            <a:avLst/>
          </a:prstGeom>
          <a:solidFill>
            <a:srgbClr val="2587C5"/>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$3.04M</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7" name="Shape 75"/>
          <p:cNvSpPr/>
          <p:nvPr/>
        </p:nvSpPr>
        <p:spPr>
          <a:xfrm>
            <a:off x="2980944" y="5750188"/>
            <a:ext cx="329329" cy="110352"/>
          </a:xfrm>
          <a:prstGeom prst="rect">
            <a:avLst/>
          </a:prstGeom>
          <a:solidFill>
            <a:srgbClr val="2587C5"/>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$2.95M</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1" name="Shape 79"/>
          <p:cNvSpPr/>
          <p:nvPr/>
        </p:nvSpPr>
        <p:spPr>
          <a:xfrm>
            <a:off x="8531352" y="1911860"/>
            <a:ext cx="311294" cy="110352"/>
          </a:xfrm>
          <a:prstGeom prst="rect">
            <a:avLst/>
          </a:prstGeom>
          <a:solidFill>
            <a:srgbClr val="2587C5"/>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$2.79M</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5" name="Shape 83"/>
          <p:cNvSpPr/>
          <p:nvPr/>
        </p:nvSpPr>
        <p:spPr>
          <a:xfrm>
            <a:off x="8531352" y="2151755"/>
            <a:ext cx="270275" cy="110352"/>
          </a:xfrm>
          <a:prstGeom prst="rect">
            <a:avLst/>
          </a:prstGeom>
          <a:solidFill>
            <a:srgbClr val="2587C5"/>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$2.42M</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8531352" y="2391651"/>
            <a:ext cx="256215" cy="110352"/>
          </a:xfrm>
          <a:prstGeom prst="rect">
            <a:avLst/>
          </a:prstGeom>
          <a:solidFill>
            <a:srgbClr val="2587C5"/>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$2.30M</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3" name="Shape 91"/>
          <p:cNvSpPr/>
          <p:nvPr/>
        </p:nvSpPr>
        <p:spPr>
          <a:xfrm>
            <a:off x="8531352" y="2631546"/>
            <a:ext cx="245763" cy="110352"/>
          </a:xfrm>
          <a:prstGeom prst="rect">
            <a:avLst/>
          </a:prstGeom>
          <a:solidFill>
            <a:srgbClr val="2587C5"/>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$2.20M</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7" name="Shape 95"/>
          <p:cNvSpPr/>
          <p:nvPr/>
        </p:nvSpPr>
        <p:spPr>
          <a:xfrm>
            <a:off x="8531352" y="2871442"/>
            <a:ext cx="238967" cy="110352"/>
          </a:xfrm>
          <a:prstGeom prst="rect">
            <a:avLst/>
          </a:prstGeom>
          <a:solidFill>
            <a:srgbClr val="2587C5"/>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$2.14M</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1" name="Shape 99"/>
          <p:cNvSpPr/>
          <p:nvPr/>
        </p:nvSpPr>
        <p:spPr>
          <a:xfrm>
            <a:off x="8531352" y="3111337"/>
            <a:ext cx="235763" cy="110352"/>
          </a:xfrm>
          <a:prstGeom prst="rect">
            <a:avLst/>
          </a:prstGeom>
          <a:solidFill>
            <a:srgbClr val="2587C5"/>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$2.11M</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5" name="Shape 103"/>
          <p:cNvSpPr/>
          <p:nvPr/>
        </p:nvSpPr>
        <p:spPr>
          <a:xfrm>
            <a:off x="8531352" y="3351233"/>
            <a:ext cx="232807" cy="110352"/>
          </a:xfrm>
          <a:prstGeom prst="rect">
            <a:avLst/>
          </a:prstGeom>
          <a:solidFill>
            <a:srgbClr val="2587C5"/>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$2.09M</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9" name="Shape 107"/>
          <p:cNvSpPr/>
          <p:nvPr/>
        </p:nvSpPr>
        <p:spPr>
          <a:xfrm>
            <a:off x="8531352" y="3591128"/>
            <a:ext cx="210714" cy="110352"/>
          </a:xfrm>
          <a:prstGeom prst="rect">
            <a:avLst/>
          </a:prstGeom>
          <a:solidFill>
            <a:srgbClr val="2587C5"/>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$1.89M</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3" name="Shape 111"/>
          <p:cNvSpPr/>
          <p:nvPr/>
        </p:nvSpPr>
        <p:spPr>
          <a:xfrm>
            <a:off x="8531352" y="3831024"/>
            <a:ext cx="178756" cy="110352"/>
          </a:xfrm>
          <a:prstGeom prst="rect">
            <a:avLst/>
          </a:prstGeom>
          <a:solidFill>
            <a:srgbClr val="2587C5"/>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$1.60M</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8531352" y="4070920"/>
            <a:ext cx="162808" cy="110352"/>
          </a:xfrm>
          <a:prstGeom prst="rect">
            <a:avLst/>
          </a:prstGeom>
          <a:solidFill>
            <a:srgbClr val="2587C5"/>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$1.46M</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1" name="Shape 119"/>
          <p:cNvSpPr/>
          <p:nvPr/>
        </p:nvSpPr>
        <p:spPr>
          <a:xfrm>
            <a:off x="8531352" y="4310815"/>
            <a:ext cx="160552" cy="110352"/>
          </a:xfrm>
          <a:prstGeom prst="rect">
            <a:avLst/>
          </a:prstGeom>
          <a:solidFill>
            <a:srgbClr val="2587C5"/>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$1.44M</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5" name="Shape 123"/>
          <p:cNvSpPr/>
          <p:nvPr/>
        </p:nvSpPr>
        <p:spPr>
          <a:xfrm>
            <a:off x="8531352" y="4550711"/>
            <a:ext cx="155672" cy="110352"/>
          </a:xfrm>
          <a:prstGeom prst="rect">
            <a:avLst/>
          </a:prstGeom>
          <a:solidFill>
            <a:srgbClr val="2587C5"/>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$1.39M</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9" name="Shape 127"/>
          <p:cNvSpPr/>
          <p:nvPr/>
        </p:nvSpPr>
        <p:spPr>
          <a:xfrm>
            <a:off x="8531352" y="4790606"/>
            <a:ext cx="131649" cy="110352"/>
          </a:xfrm>
          <a:prstGeom prst="rect">
            <a:avLst/>
          </a:prstGeom>
          <a:solidFill>
            <a:srgbClr val="2587C5"/>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$1.18M</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31352" y="5030502"/>
            <a:ext cx="116550" cy="110352"/>
          </a:xfrm>
          <a:prstGeom prst="rect">
            <a:avLst/>
          </a:prstGeom>
          <a:solidFill>
            <a:srgbClr val="2587C5"/>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$1.04M</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31352" y="5270397"/>
            <a:ext cx="110797" cy="110352"/>
          </a:xfrm>
          <a:prstGeom prst="rect">
            <a:avLst/>
          </a:prstGeom>
          <a:solidFill>
            <a:srgbClr val="2587C5"/>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$992,560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31352" y="5510293"/>
            <a:ext cx="65691" cy="110352"/>
          </a:xfrm>
          <a:prstGeom prst="rect">
            <a:avLst/>
          </a:prstGeom>
          <a:solidFill>
            <a:srgbClr val="2587C5"/>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$588,480</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4" name="Shape 142"/>
          <p:cNvSpPr/>
          <p:nvPr/>
        </p:nvSpPr>
        <p:spPr>
          <a:xfrm>
            <a:off x="457200" y="6126480"/>
            <a:ext cx="11274552" cy="371856"/>
          </a:xfrm>
          <a:prstGeom prst="rect">
            <a:avLst/>
          </a:prstGeom>
          <a:solidFill>
            <a:srgbClr val="EDF4FA"/>
          </a:solidFill>
          <a:ln/>
        </p:spPr>
      </p:sp>
      <p:sp>
        <p:nvSpPr>
          <p:cNvPr id="145" name="Text 14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Toyota Henderson is $16.38M of the group's $126.87M; VW St George is smallest at $588,480.</a:t>
            </a:r>
            <a:endParaRPr lang="en-US" sz="1600" dirty="0"/>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+5.2%  ·  +$6.30M</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+53.3%</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+$345K</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2" name="Shape 20"/>
          <p:cNvSpPr/>
          <p:nvPr/>
        </p:nvSpPr>
        <p:spPr>
          <a:xfrm>
            <a:off x="3579876" y="2405582"/>
            <a:ext cx="316386"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+29.5%</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+$475K</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7" name="Shape 25"/>
          <p:cNvSpPr/>
          <p:nvPr/>
        </p:nvSpPr>
        <p:spPr>
          <a:xfrm>
            <a:off x="3579876" y="2629341"/>
            <a:ext cx="296910"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+27.7%</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+$639K</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32" name="Shape 30"/>
          <p:cNvSpPr/>
          <p:nvPr/>
        </p:nvSpPr>
        <p:spPr>
          <a:xfrm>
            <a:off x="3579876" y="2853100"/>
            <a:ext cx="295598"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+27.5%</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+$315K</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37" name="Shape 35"/>
          <p:cNvSpPr/>
          <p:nvPr/>
        </p:nvSpPr>
        <p:spPr>
          <a:xfrm>
            <a:off x="3579876" y="3076859"/>
            <a:ext cx="220512" cy="102929"/>
          </a:xfrm>
          <a:prstGeom prst="rect">
            <a:avLst/>
          </a:prstGeom>
          <a:solidFill>
            <a:srgbClr val="12A566"/>
          </a:solidFill>
          <a:ln/>
        </p:spPr>
      </p:sp>
      <p:sp>
        <p:nvSpPr>
          <p:cNvPr id="38" name="Text 36"/>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+20.5%</a:t>
            </a:r>
            <a:endParaRPr lang="en-US" sz="1200" dirty="0"/>
          </a:p>
        </p:txBody>
      </p:sp>
      <p:sp>
        <p:nvSpPr>
          <p:cNvPr id="39" name="Text 37"/>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+$619K</a:t>
            </a:r>
            <a:endParaRPr lang="en-US" sz="1200" dirty="0"/>
          </a:p>
        </p:txBody>
      </p:sp>
      <p:sp>
        <p:nvSpPr>
          <p:cNvPr id="40" name="Text 38"/>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1" name="Text 39"/>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2" name="Shape 40"/>
          <p:cNvSpPr/>
          <p:nvPr/>
        </p:nvSpPr>
        <p:spPr>
          <a:xfrm>
            <a:off x="3579876" y="3300618"/>
            <a:ext cx="209724" cy="102929"/>
          </a:xfrm>
          <a:prstGeom prst="rect">
            <a:avLst/>
          </a:prstGeom>
          <a:solidFill>
            <a:srgbClr val="12A566"/>
          </a:solidFill>
          <a:ln/>
        </p:spPr>
      </p:sp>
      <p:sp>
        <p:nvSpPr>
          <p:cNvPr id="43" name="Text 41"/>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+19.5%</a:t>
            </a:r>
            <a:endParaRPr lang="en-US" sz="1200" dirty="0"/>
          </a:p>
        </p:txBody>
      </p:sp>
      <p:sp>
        <p:nvSpPr>
          <p:cNvPr id="44" name="Text 42"/>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+$602K</a:t>
            </a:r>
            <a:endParaRPr lang="en-US" sz="1200" dirty="0"/>
          </a:p>
        </p:txBody>
      </p:sp>
      <p:sp>
        <p:nvSpPr>
          <p:cNvPr id="45" name="Text 43"/>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6" name="Text 44"/>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7" name="Shape 45"/>
          <p:cNvSpPr/>
          <p:nvPr/>
        </p:nvSpPr>
        <p:spPr>
          <a:xfrm>
            <a:off x="3579876" y="3524377"/>
            <a:ext cx="205980" cy="102929"/>
          </a:xfrm>
          <a:prstGeom prst="rect">
            <a:avLst/>
          </a:prstGeom>
          <a:solidFill>
            <a:srgbClr val="12A566"/>
          </a:solidFill>
          <a:ln/>
        </p:spPr>
      </p:sp>
      <p:sp>
        <p:nvSpPr>
          <p:cNvPr id="48" name="Text 46"/>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+19.2%</a:t>
            </a:r>
            <a:endParaRPr lang="en-US" sz="1200" dirty="0"/>
          </a:p>
        </p:txBody>
      </p:sp>
      <p:sp>
        <p:nvSpPr>
          <p:cNvPr id="49" name="Text 47"/>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+$1.42M</a:t>
            </a:r>
            <a:endParaRPr lang="en-US" sz="1200" dirty="0"/>
          </a:p>
        </p:txBody>
      </p:sp>
      <p:sp>
        <p:nvSpPr>
          <p:cNvPr id="50" name="Text 48"/>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1" name="Text 49"/>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2" name="Shape 50"/>
          <p:cNvSpPr/>
          <p:nvPr/>
        </p:nvSpPr>
        <p:spPr>
          <a:xfrm>
            <a:off x="3579876" y="3748136"/>
            <a:ext cx="171603" cy="102929"/>
          </a:xfrm>
          <a:prstGeom prst="rect">
            <a:avLst/>
          </a:prstGeom>
          <a:solidFill>
            <a:srgbClr val="12A566"/>
          </a:solidFill>
          <a:ln/>
        </p:spPr>
      </p:sp>
      <p:sp>
        <p:nvSpPr>
          <p:cNvPr id="53" name="Text 51"/>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a:t>
            </a:r>
            <a:endParaRPr lang="en-US" sz="1200" dirty="0"/>
          </a:p>
        </p:txBody>
      </p:sp>
      <p:sp>
        <p:nvSpPr>
          <p:cNvPr id="54" name="Text 52"/>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+$384K</a:t>
            </a:r>
            <a:endParaRPr lang="en-US" sz="1200" dirty="0"/>
          </a:p>
        </p:txBody>
      </p:sp>
      <p:sp>
        <p:nvSpPr>
          <p:cNvPr id="55" name="Text 53"/>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6" name="Text 54"/>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57" name="Shape 55"/>
          <p:cNvSpPr/>
          <p:nvPr/>
        </p:nvSpPr>
        <p:spPr>
          <a:xfrm>
            <a:off x="3579876" y="3971895"/>
            <a:ext cx="167960" cy="102929"/>
          </a:xfrm>
          <a:prstGeom prst="rect">
            <a:avLst/>
          </a:prstGeom>
          <a:solidFill>
            <a:srgbClr val="12A566"/>
          </a:solidFill>
          <a:ln/>
        </p:spPr>
      </p:sp>
      <p:sp>
        <p:nvSpPr>
          <p:cNvPr id="58" name="Text 56"/>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+15.7%</a:t>
            </a:r>
            <a:endParaRPr lang="en-US" sz="1200" dirty="0"/>
          </a:p>
        </p:txBody>
      </p:sp>
      <p:sp>
        <p:nvSpPr>
          <p:cNvPr id="59" name="Text 57"/>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+$217K</a:t>
            </a:r>
            <a:endParaRPr lang="en-US" sz="1200" dirty="0"/>
          </a:p>
        </p:txBody>
      </p:sp>
      <p:sp>
        <p:nvSpPr>
          <p:cNvPr id="60" name="Text 58"/>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1" name="Text 59"/>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2" name="Shape 60"/>
          <p:cNvSpPr/>
          <p:nvPr/>
        </p:nvSpPr>
        <p:spPr>
          <a:xfrm>
            <a:off x="3579876" y="4195654"/>
            <a:ext cx="150975" cy="102929"/>
          </a:xfrm>
          <a:prstGeom prst="rect">
            <a:avLst/>
          </a:prstGeom>
          <a:solidFill>
            <a:srgbClr val="12A566"/>
          </a:solidFill>
          <a:ln/>
        </p:spPr>
      </p:sp>
      <p:sp>
        <p:nvSpPr>
          <p:cNvPr id="63" name="Text 61"/>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+14.1%</a:t>
            </a:r>
            <a:endParaRPr lang="en-US" sz="1200" dirty="0"/>
          </a:p>
        </p:txBody>
      </p:sp>
      <p:sp>
        <p:nvSpPr>
          <p:cNvPr id="64" name="Text 62"/>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+$390K</a:t>
            </a:r>
            <a:endParaRPr lang="en-US" sz="1200" dirty="0"/>
          </a:p>
        </p:txBody>
      </p:sp>
      <p:sp>
        <p:nvSpPr>
          <p:cNvPr id="65" name="Text 63"/>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6" name="Text 64"/>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7" name="Shape 65"/>
          <p:cNvSpPr/>
          <p:nvPr/>
        </p:nvSpPr>
        <p:spPr>
          <a:xfrm>
            <a:off x="3579876" y="4419414"/>
            <a:ext cx="148094" cy="102929"/>
          </a:xfrm>
          <a:prstGeom prst="rect">
            <a:avLst/>
          </a:prstGeom>
          <a:solidFill>
            <a:srgbClr val="12A566"/>
          </a:solidFill>
          <a:ln/>
        </p:spPr>
      </p:sp>
      <p:sp>
        <p:nvSpPr>
          <p:cNvPr id="68" name="Text 66"/>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+13.8%</a:t>
            </a:r>
            <a:endParaRPr lang="en-US" sz="1200" dirty="0"/>
          </a:p>
        </p:txBody>
      </p:sp>
      <p:sp>
        <p:nvSpPr>
          <p:cNvPr id="69" name="Text 67"/>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+$169K</a:t>
            </a:r>
            <a:endParaRPr lang="en-US" sz="1200" dirty="0"/>
          </a:p>
        </p:txBody>
      </p:sp>
      <p:sp>
        <p:nvSpPr>
          <p:cNvPr id="70" name="Text 68"/>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1" name="Text 69"/>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2" name="Shape 70"/>
          <p:cNvSpPr/>
          <p:nvPr/>
        </p:nvSpPr>
        <p:spPr>
          <a:xfrm>
            <a:off x="3579876" y="4643173"/>
            <a:ext cx="135843" cy="102929"/>
          </a:xfrm>
          <a:prstGeom prst="rect">
            <a:avLst/>
          </a:prstGeom>
          <a:solidFill>
            <a:srgbClr val="12A566"/>
          </a:solidFill>
          <a:ln/>
        </p:spPr>
      </p:sp>
      <p:sp>
        <p:nvSpPr>
          <p:cNvPr id="73" name="Text 71"/>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+12.7%</a:t>
            </a:r>
            <a:endParaRPr lang="en-US" sz="1200" dirty="0"/>
          </a:p>
        </p:txBody>
      </p:sp>
      <p:sp>
        <p:nvSpPr>
          <p:cNvPr id="74" name="Text 72"/>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+$162K</a:t>
            </a:r>
            <a:endParaRPr lang="en-US" sz="1200" dirty="0"/>
          </a:p>
        </p:txBody>
      </p:sp>
      <p:sp>
        <p:nvSpPr>
          <p:cNvPr id="75" name="Text 73"/>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6" name="Text 74"/>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7" name="Shape 75"/>
          <p:cNvSpPr/>
          <p:nvPr/>
        </p:nvSpPr>
        <p:spPr>
          <a:xfrm>
            <a:off x="3579876" y="4866932"/>
            <a:ext cx="108217" cy="102929"/>
          </a:xfrm>
          <a:prstGeom prst="rect">
            <a:avLst/>
          </a:prstGeom>
          <a:solidFill>
            <a:srgbClr val="12A566"/>
          </a:solidFill>
          <a:ln/>
        </p:spPr>
      </p:sp>
      <p:sp>
        <p:nvSpPr>
          <p:cNvPr id="78" name="Text 76"/>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79" name="Text 77"/>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+$202K</a:t>
            </a:r>
            <a:endParaRPr lang="en-US" sz="1200" dirty="0"/>
          </a:p>
        </p:txBody>
      </p:sp>
      <p:sp>
        <p:nvSpPr>
          <p:cNvPr id="80" name="Text 78"/>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1" name="Text 79"/>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2" name="Shape 80"/>
          <p:cNvSpPr/>
          <p:nvPr/>
        </p:nvSpPr>
        <p:spPr>
          <a:xfrm>
            <a:off x="3579876" y="5090691"/>
            <a:ext cx="108105" cy="102929"/>
          </a:xfrm>
          <a:prstGeom prst="rect">
            <a:avLst/>
          </a:prstGeom>
          <a:solidFill>
            <a:srgbClr val="12A566"/>
          </a:solidFill>
          <a:ln/>
        </p:spPr>
      </p:sp>
      <p:sp>
        <p:nvSpPr>
          <p:cNvPr id="83" name="Text 81"/>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84" name="Text 82"/>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+$1.50M</a:t>
            </a:r>
            <a:endParaRPr lang="en-US" sz="1200" dirty="0"/>
          </a:p>
        </p:txBody>
      </p:sp>
      <p:sp>
        <p:nvSpPr>
          <p:cNvPr id="85" name="Text 8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6" name="Text 8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7" name="Shape 85"/>
          <p:cNvSpPr/>
          <p:nvPr/>
        </p:nvSpPr>
        <p:spPr>
          <a:xfrm>
            <a:off x="3579876" y="5314450"/>
            <a:ext cx="84908" cy="102929"/>
          </a:xfrm>
          <a:prstGeom prst="rect">
            <a:avLst/>
          </a:prstGeom>
          <a:solidFill>
            <a:srgbClr val="12A566"/>
          </a:solidFill>
          <a:ln/>
        </p:spPr>
      </p:sp>
      <p:sp>
        <p:nvSpPr>
          <p:cNvPr id="88" name="Text 86"/>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a:t>
            </a:r>
            <a:endParaRPr lang="en-US" sz="1200" dirty="0"/>
          </a:p>
        </p:txBody>
      </p:sp>
      <p:sp>
        <p:nvSpPr>
          <p:cNvPr id="89" name="Text 87"/>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+$234K</a:t>
            </a:r>
            <a:endParaRPr lang="en-US" sz="1200" dirty="0"/>
          </a:p>
        </p:txBody>
      </p:sp>
      <p:sp>
        <p:nvSpPr>
          <p:cNvPr id="90" name="Text 88"/>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92" name="Shape 90"/>
          <p:cNvSpPr/>
          <p:nvPr/>
        </p:nvSpPr>
        <p:spPr>
          <a:xfrm>
            <a:off x="3579876" y="5538209"/>
            <a:ext cx="83407" cy="102929"/>
          </a:xfrm>
          <a:prstGeom prst="rect">
            <a:avLst/>
          </a:prstGeom>
          <a:solidFill>
            <a:srgbClr val="12A566"/>
          </a:solidFill>
          <a:ln/>
        </p:spPr>
      </p:sp>
      <p:sp>
        <p:nvSpPr>
          <p:cNvPr id="93" name="Text 91"/>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a:t>
            </a:r>
            <a:endParaRPr lang="en-US" sz="1200" dirty="0"/>
          </a:p>
        </p:txBody>
      </p:sp>
      <p:sp>
        <p:nvSpPr>
          <p:cNvPr id="94" name="Text 92"/>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+$292K</a:t>
            </a:r>
            <a:endParaRPr lang="en-US" sz="1200" dirty="0"/>
          </a:p>
        </p:txBody>
      </p:sp>
      <p:sp>
        <p:nvSpPr>
          <p:cNvPr id="95" name="Text 93"/>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6" name="Text 94"/>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97" name="Shape 95"/>
          <p:cNvSpPr/>
          <p:nvPr/>
        </p:nvSpPr>
        <p:spPr>
          <a:xfrm>
            <a:off x="3579876" y="5761968"/>
            <a:ext cx="65940" cy="102929"/>
          </a:xfrm>
          <a:prstGeom prst="rect">
            <a:avLst/>
          </a:prstGeom>
          <a:solidFill>
            <a:srgbClr val="12A566"/>
          </a:solidFill>
          <a:ln/>
        </p:spPr>
      </p:sp>
      <p:sp>
        <p:nvSpPr>
          <p:cNvPr id="98" name="Text 96"/>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+6.1%</a:t>
            </a:r>
            <a:endParaRPr lang="en-US" sz="1200" dirty="0"/>
          </a:p>
        </p:txBody>
      </p:sp>
      <p:sp>
        <p:nvSpPr>
          <p:cNvPr id="99" name="Text 97"/>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+$611K</a:t>
            </a:r>
            <a:endParaRPr lang="en-US" sz="1200" dirty="0"/>
          </a:p>
        </p:txBody>
      </p:sp>
      <p:sp>
        <p:nvSpPr>
          <p:cNvPr id="100" name="Text 98"/>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02" name="Shape 100"/>
          <p:cNvSpPr/>
          <p:nvPr/>
        </p:nvSpPr>
        <p:spPr>
          <a:xfrm>
            <a:off x="9130284" y="2181823"/>
            <a:ext cx="54058" cy="102929"/>
          </a:xfrm>
          <a:prstGeom prst="rect">
            <a:avLst/>
          </a:prstGeom>
          <a:solidFill>
            <a:srgbClr val="12A566"/>
          </a:solidFill>
          <a:ln/>
        </p:spPr>
      </p:sp>
      <p:sp>
        <p:nvSpPr>
          <p:cNvPr id="103" name="Text 101"/>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+5.0%</a:t>
            </a:r>
            <a:endParaRPr lang="en-US" sz="1200" dirty="0"/>
          </a:p>
        </p:txBody>
      </p:sp>
      <p:sp>
        <p:nvSpPr>
          <p:cNvPr id="104" name="Text 102"/>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+$196K</a:t>
            </a:r>
            <a:endParaRPr lang="en-US" sz="1200" dirty="0"/>
          </a:p>
        </p:txBody>
      </p:sp>
      <p:sp>
        <p:nvSpPr>
          <p:cNvPr id="105" name="Text 103"/>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7" name="Shape 105"/>
          <p:cNvSpPr/>
          <p:nvPr/>
        </p:nvSpPr>
        <p:spPr>
          <a:xfrm>
            <a:off x="9130284" y="2405582"/>
            <a:ext cx="52461" cy="102929"/>
          </a:xfrm>
          <a:prstGeom prst="rect">
            <a:avLst/>
          </a:prstGeom>
          <a:solidFill>
            <a:srgbClr val="12A566"/>
          </a:solidFill>
          <a:ln/>
        </p:spPr>
      </p:sp>
      <p:sp>
        <p:nvSpPr>
          <p:cNvPr id="108" name="Text 106"/>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a:t>
            </a:r>
            <a:endParaRPr lang="en-US" sz="1200" dirty="0"/>
          </a:p>
        </p:txBody>
      </p:sp>
      <p:sp>
        <p:nvSpPr>
          <p:cNvPr id="109" name="Text 107"/>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+$113K</a:t>
            </a:r>
            <a:endParaRPr lang="en-US" sz="1200" dirty="0"/>
          </a:p>
        </p:txBody>
      </p:sp>
      <p:sp>
        <p:nvSpPr>
          <p:cNvPr id="110" name="Text 108"/>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1" name="Text 109"/>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2" name="Shape 110"/>
          <p:cNvSpPr/>
          <p:nvPr/>
        </p:nvSpPr>
        <p:spPr>
          <a:xfrm>
            <a:off x="9130284" y="2629341"/>
            <a:ext cx="35288" cy="102929"/>
          </a:xfrm>
          <a:prstGeom prst="rect">
            <a:avLst/>
          </a:prstGeom>
          <a:solidFill>
            <a:srgbClr val="12A566"/>
          </a:solidFill>
          <a:ln/>
        </p:spPr>
      </p:sp>
      <p:sp>
        <p:nvSpPr>
          <p:cNvPr id="113" name="Text 111"/>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a:t>
            </a:r>
            <a:endParaRPr lang="en-US" sz="1200" dirty="0"/>
          </a:p>
        </p:txBody>
      </p:sp>
      <p:sp>
        <p:nvSpPr>
          <p:cNvPr id="114" name="Text 112"/>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+$68K</a:t>
            </a:r>
            <a:endParaRPr lang="en-US" sz="1200" dirty="0"/>
          </a:p>
        </p:txBody>
      </p:sp>
      <p:sp>
        <p:nvSpPr>
          <p:cNvPr id="115" name="Text 113"/>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6" name="Text 114"/>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7" name="Shape 115"/>
          <p:cNvSpPr/>
          <p:nvPr/>
        </p:nvSpPr>
        <p:spPr>
          <a:xfrm>
            <a:off x="9130284" y="2853100"/>
            <a:ext cx="18626" cy="102929"/>
          </a:xfrm>
          <a:prstGeom prst="rect">
            <a:avLst/>
          </a:prstGeom>
          <a:solidFill>
            <a:srgbClr val="12A566"/>
          </a:solidFill>
          <a:ln/>
        </p:spPr>
      </p:sp>
      <p:sp>
        <p:nvSpPr>
          <p:cNvPr id="118" name="Text 116"/>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119" name="Text 117"/>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+$20K</a:t>
            </a:r>
            <a:endParaRPr lang="en-US" sz="1200" dirty="0"/>
          </a:p>
        </p:txBody>
      </p:sp>
      <p:sp>
        <p:nvSpPr>
          <p:cNvPr id="120" name="Text 118"/>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1" name="Text 119"/>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2" name="Shape 120"/>
          <p:cNvSpPr/>
          <p:nvPr/>
        </p:nvSpPr>
        <p:spPr>
          <a:xfrm>
            <a:off x="9130284" y="3076859"/>
            <a:ext cx="16084" cy="102929"/>
          </a:xfrm>
          <a:prstGeom prst="rect">
            <a:avLst/>
          </a:prstGeom>
          <a:solidFill>
            <a:srgbClr val="12A566"/>
          </a:solidFill>
          <a:ln/>
        </p:spPr>
      </p:sp>
      <p:sp>
        <p:nvSpPr>
          <p:cNvPr id="123" name="Text 121"/>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a:t>
            </a:r>
            <a:endParaRPr lang="en-US" sz="1200" dirty="0"/>
          </a:p>
        </p:txBody>
      </p:sp>
      <p:sp>
        <p:nvSpPr>
          <p:cNvPr id="124" name="Text 122"/>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+$31K</a:t>
            </a:r>
            <a:endParaRPr lang="en-US" sz="1200" dirty="0"/>
          </a:p>
        </p:txBody>
      </p:sp>
      <p:sp>
        <p:nvSpPr>
          <p:cNvPr id="125" name="Text 123"/>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6" name="Text 124"/>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7" name="Shape 125"/>
          <p:cNvSpPr/>
          <p:nvPr/>
        </p:nvSpPr>
        <p:spPr>
          <a:xfrm>
            <a:off x="9130284" y="3300618"/>
            <a:ext cx="12802" cy="102929"/>
          </a:xfrm>
          <a:prstGeom prst="rect">
            <a:avLst/>
          </a:prstGeom>
          <a:solidFill>
            <a:srgbClr val="12A566"/>
          </a:solidFill>
          <a:ln/>
        </p:spPr>
      </p:sp>
      <p:sp>
        <p:nvSpPr>
          <p:cNvPr id="128" name="Text 126"/>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+0.7%</a:t>
            </a:r>
            <a:endParaRPr lang="en-US" sz="1200" dirty="0"/>
          </a:p>
        </p:txBody>
      </p:sp>
      <p:sp>
        <p:nvSpPr>
          <p:cNvPr id="129" name="Text 127"/>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+$20K</a:t>
            </a:r>
            <a:endParaRPr lang="en-US" sz="1200" dirty="0"/>
          </a:p>
        </p:txBody>
      </p:sp>
      <p:sp>
        <p:nvSpPr>
          <p:cNvPr id="130" name="Text 128"/>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1" name="Text 129"/>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32" name="Shape 130"/>
          <p:cNvSpPr/>
          <p:nvPr/>
        </p:nvSpPr>
        <p:spPr>
          <a:xfrm>
            <a:off x="9126342" y="3524377"/>
            <a:ext cx="12802" cy="102929"/>
          </a:xfrm>
          <a:prstGeom prst="rect">
            <a:avLst/>
          </a:prstGeom>
          <a:solidFill>
            <a:srgbClr val="C2352F"/>
          </a:solidFill>
          <a:ln/>
        </p:spPr>
      </p:sp>
      <p:sp>
        <p:nvSpPr>
          <p:cNvPr id="133" name="Text 131"/>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−0.4%</a:t>
            </a:r>
            <a:endParaRPr lang="en-US" sz="1200" dirty="0"/>
          </a:p>
        </p:txBody>
      </p:sp>
      <p:sp>
        <p:nvSpPr>
          <p:cNvPr id="134" name="Text 132"/>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−$24K</a:t>
            </a:r>
            <a:endParaRPr lang="en-US" sz="1200" dirty="0"/>
          </a:p>
        </p:txBody>
      </p:sp>
      <p:sp>
        <p:nvSpPr>
          <p:cNvPr id="135" name="Text 13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6" name="Text 13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37" name="Shape 135"/>
          <p:cNvSpPr/>
          <p:nvPr/>
        </p:nvSpPr>
        <p:spPr>
          <a:xfrm>
            <a:off x="9103951" y="3748136"/>
            <a:ext cx="26333" cy="102929"/>
          </a:xfrm>
          <a:prstGeom prst="rect">
            <a:avLst/>
          </a:prstGeom>
          <a:solidFill>
            <a:srgbClr val="C2352F"/>
          </a:solidFill>
          <a:ln/>
        </p:spPr>
      </p:sp>
      <p:sp>
        <p:nvSpPr>
          <p:cNvPr id="138" name="Text 136"/>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a:t>
            </a:r>
            <a:endParaRPr lang="en-US" sz="1200" dirty="0"/>
          </a:p>
        </p:txBody>
      </p:sp>
      <p:sp>
        <p:nvSpPr>
          <p:cNvPr id="139" name="Text 137"/>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−$58K</a:t>
            </a:r>
            <a:endParaRPr lang="en-US" sz="1200" dirty="0"/>
          </a:p>
        </p:txBody>
      </p:sp>
      <p:sp>
        <p:nvSpPr>
          <p:cNvPr id="140" name="Text 138"/>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1" name="Text 139"/>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2" name="Shape 140"/>
          <p:cNvSpPr/>
          <p:nvPr/>
        </p:nvSpPr>
        <p:spPr>
          <a:xfrm>
            <a:off x="9102538" y="3971895"/>
            <a:ext cx="27746" cy="102929"/>
          </a:xfrm>
          <a:prstGeom prst="rect">
            <a:avLst/>
          </a:prstGeom>
          <a:solidFill>
            <a:srgbClr val="C2352F"/>
          </a:solidFill>
          <a:ln/>
        </p:spPr>
      </p:sp>
      <p:sp>
        <p:nvSpPr>
          <p:cNvPr id="143" name="Text 141"/>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a:t>
            </a:r>
            <a:endParaRPr lang="en-US" sz="1200" dirty="0"/>
          </a:p>
        </p:txBody>
      </p:sp>
      <p:sp>
        <p:nvSpPr>
          <p:cNvPr id="144" name="Text 142"/>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−$28K</a:t>
            </a:r>
            <a:endParaRPr lang="en-US" sz="1200" dirty="0"/>
          </a:p>
        </p:txBody>
      </p:sp>
      <p:sp>
        <p:nvSpPr>
          <p:cNvPr id="145" name="Text 143"/>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6" name="Text 144"/>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47" name="Shape 145"/>
          <p:cNvSpPr/>
          <p:nvPr/>
        </p:nvSpPr>
        <p:spPr>
          <a:xfrm>
            <a:off x="9095214" y="4195654"/>
            <a:ext cx="35070" cy="102929"/>
          </a:xfrm>
          <a:prstGeom prst="rect">
            <a:avLst/>
          </a:prstGeom>
          <a:solidFill>
            <a:srgbClr val="C2352F"/>
          </a:solidFill>
          <a:ln/>
        </p:spPr>
      </p:sp>
      <p:sp>
        <p:nvSpPr>
          <p:cNvPr id="148" name="Text 146"/>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−3.3%</a:t>
            </a:r>
            <a:endParaRPr lang="en-US" sz="1200" dirty="0"/>
          </a:p>
        </p:txBody>
      </p:sp>
      <p:sp>
        <p:nvSpPr>
          <p:cNvPr id="149" name="Text 147"/>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−$211K</a:t>
            </a:r>
            <a:endParaRPr lang="en-US" sz="1200" dirty="0"/>
          </a:p>
        </p:txBody>
      </p:sp>
      <p:sp>
        <p:nvSpPr>
          <p:cNvPr id="150" name="Text 148"/>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1" name="Text 149"/>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52" name="Shape 150"/>
          <p:cNvSpPr/>
          <p:nvPr/>
        </p:nvSpPr>
        <p:spPr>
          <a:xfrm>
            <a:off x="9091379" y="4419414"/>
            <a:ext cx="38905" cy="102929"/>
          </a:xfrm>
          <a:prstGeom prst="rect">
            <a:avLst/>
          </a:prstGeom>
          <a:solidFill>
            <a:srgbClr val="C2352F"/>
          </a:solidFill>
          <a:ln/>
        </p:spPr>
      </p:sp>
      <p:sp>
        <p:nvSpPr>
          <p:cNvPr id="153" name="Text 151"/>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a:t>
            </a:r>
            <a:endParaRPr lang="en-US" sz="1200" dirty="0"/>
          </a:p>
        </p:txBody>
      </p:sp>
      <p:sp>
        <p:nvSpPr>
          <p:cNvPr id="154" name="Text 152"/>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−$395K</a:t>
            </a:r>
            <a:endParaRPr lang="en-US" sz="1200" dirty="0"/>
          </a:p>
        </p:txBody>
      </p:sp>
      <p:sp>
        <p:nvSpPr>
          <p:cNvPr id="155" name="Text 153"/>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6" name="Text 154"/>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57" name="Shape 155"/>
          <p:cNvSpPr/>
          <p:nvPr/>
        </p:nvSpPr>
        <p:spPr>
          <a:xfrm>
            <a:off x="9066557" y="4643173"/>
            <a:ext cx="63727" cy="102929"/>
          </a:xfrm>
          <a:prstGeom prst="rect">
            <a:avLst/>
          </a:prstGeom>
          <a:solidFill>
            <a:srgbClr val="C2352F"/>
          </a:solidFill>
          <a:ln/>
        </p:spPr>
      </p:sp>
      <p:sp>
        <p:nvSpPr>
          <p:cNvPr id="158" name="Text 156"/>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159" name="Text 157"/>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−$192K</a:t>
            </a:r>
            <a:endParaRPr lang="en-US" sz="1200" dirty="0"/>
          </a:p>
        </p:txBody>
      </p:sp>
      <p:sp>
        <p:nvSpPr>
          <p:cNvPr id="160" name="Text 158"/>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1" name="Text 159"/>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62" name="Shape 160"/>
          <p:cNvSpPr/>
          <p:nvPr/>
        </p:nvSpPr>
        <p:spPr>
          <a:xfrm>
            <a:off x="9017570" y="4866932"/>
            <a:ext cx="112714" cy="102929"/>
          </a:xfrm>
          <a:prstGeom prst="rect">
            <a:avLst/>
          </a:prstGeom>
          <a:solidFill>
            <a:srgbClr val="C2352F"/>
          </a:solidFill>
          <a:ln/>
        </p:spPr>
      </p:sp>
      <p:sp>
        <p:nvSpPr>
          <p:cNvPr id="163" name="Text 161"/>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−10.5%</a:t>
            </a:r>
            <a:endParaRPr lang="en-US" sz="1200" dirty="0"/>
          </a:p>
        </p:txBody>
      </p:sp>
      <p:sp>
        <p:nvSpPr>
          <p:cNvPr id="164" name="Text 162"/>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−$695K</a:t>
            </a:r>
            <a:endParaRPr lang="en-US" sz="1200" dirty="0"/>
          </a:p>
        </p:txBody>
      </p:sp>
      <p:sp>
        <p:nvSpPr>
          <p:cNvPr id="165" name="Text 163"/>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6" name="Text 164"/>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67" name="Shape 165"/>
          <p:cNvSpPr/>
          <p:nvPr/>
        </p:nvSpPr>
        <p:spPr>
          <a:xfrm>
            <a:off x="8985267" y="5090691"/>
            <a:ext cx="145017" cy="102929"/>
          </a:xfrm>
          <a:prstGeom prst="rect">
            <a:avLst/>
          </a:prstGeom>
          <a:solidFill>
            <a:srgbClr val="C2352F"/>
          </a:solidFill>
          <a:ln/>
        </p:spPr>
      </p:sp>
      <p:sp>
        <p:nvSpPr>
          <p:cNvPr id="168" name="Text 166"/>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−13.5%</a:t>
            </a:r>
            <a:endParaRPr lang="en-US" sz="1200" dirty="0"/>
          </a:p>
        </p:txBody>
      </p:sp>
      <p:sp>
        <p:nvSpPr>
          <p:cNvPr id="169" name="Text 167"/>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−$547K</a:t>
            </a:r>
            <a:endParaRPr lang="en-US" sz="1200" dirty="0"/>
          </a:p>
        </p:txBody>
      </p:sp>
      <p:sp>
        <p:nvSpPr>
          <p:cNvPr id="170" name="Text 168"/>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1" name="Text 169"/>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72" name="Shape 170"/>
          <p:cNvSpPr/>
          <p:nvPr/>
        </p:nvSpPr>
        <p:spPr>
          <a:xfrm>
            <a:off x="8929980" y="5314450"/>
            <a:ext cx="200304" cy="102929"/>
          </a:xfrm>
          <a:prstGeom prst="rect">
            <a:avLst/>
          </a:prstGeom>
          <a:solidFill>
            <a:srgbClr val="C2352F"/>
          </a:solidFill>
          <a:ln/>
        </p:spPr>
      </p:sp>
      <p:sp>
        <p:nvSpPr>
          <p:cNvPr id="173" name="Text 171"/>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−18.7%</a:t>
            </a:r>
            <a:endParaRPr lang="en-US" sz="1200" dirty="0"/>
          </a:p>
        </p:txBody>
      </p:sp>
      <p:sp>
        <p:nvSpPr>
          <p:cNvPr id="174" name="Text 172"/>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−$135K</a:t>
            </a:r>
            <a:endParaRPr lang="en-US" sz="1200" dirty="0"/>
          </a:p>
        </p:txBody>
      </p:sp>
      <p:sp>
        <p:nvSpPr>
          <p:cNvPr id="175" name="Text 173"/>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6" name="Text 174"/>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77" name="Shape 175"/>
          <p:cNvSpPr/>
          <p:nvPr/>
        </p:nvSpPr>
        <p:spPr>
          <a:xfrm>
            <a:off x="8928189" y="5538209"/>
            <a:ext cx="202095" cy="102929"/>
          </a:xfrm>
          <a:prstGeom prst="rect">
            <a:avLst/>
          </a:prstGeom>
          <a:solidFill>
            <a:srgbClr val="C2352F"/>
          </a:solidFill>
          <a:ln/>
        </p:spPr>
      </p:sp>
      <p:sp>
        <p:nvSpPr>
          <p:cNvPr id="178" name="Text 176"/>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−18.8%</a:t>
            </a:r>
            <a:endParaRPr lang="en-US" sz="1200" dirty="0"/>
          </a:p>
        </p:txBody>
      </p:sp>
      <p:sp>
        <p:nvSpPr>
          <p:cNvPr id="179" name="Text 177"/>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−$438K</a:t>
            </a:r>
            <a:endParaRPr lang="en-US" sz="1200" dirty="0"/>
          </a:p>
        </p:txBody>
      </p:sp>
      <p:sp>
        <p:nvSpPr>
          <p:cNvPr id="180" name="Shape 178"/>
          <p:cNvSpPr/>
          <p:nvPr/>
        </p:nvSpPr>
        <p:spPr>
          <a:xfrm>
            <a:off x="3574390" y="2121408"/>
            <a:ext cx="10973" cy="3803904"/>
          </a:xfrm>
          <a:prstGeom prst="rect">
            <a:avLst/>
          </a:prstGeom>
          <a:solidFill>
            <a:srgbClr val="9AA3AD"/>
          </a:solidFill>
          <a:ln/>
        </p:spPr>
      </p:sp>
      <p:sp>
        <p:nvSpPr>
          <p:cNvPr id="181" name="Shape 179"/>
          <p:cNvSpPr/>
          <p:nvPr/>
        </p:nvSpPr>
        <p:spPr>
          <a:xfrm>
            <a:off x="9124798" y="2121408"/>
            <a:ext cx="10973" cy="3803904"/>
          </a:xfrm>
          <a:prstGeom prst="rect">
            <a:avLst/>
          </a:prstGeom>
          <a:solidFill>
            <a:srgbClr val="9AA3AD"/>
          </a:solidFill>
          <a:ln/>
        </p:spPr>
      </p:sp>
      <p:sp>
        <p:nvSpPr>
          <p:cNvPr id="182" name="Shape 180"/>
          <p:cNvSpPr/>
          <p:nvPr/>
        </p:nvSpPr>
        <p:spPr>
          <a:xfrm>
            <a:off x="6085332" y="2121408"/>
            <a:ext cx="10973" cy="3803904"/>
          </a:xfrm>
          <a:prstGeom prst="rect">
            <a:avLst/>
          </a:prstGeom>
          <a:solidFill>
            <a:srgbClr val="D9D9D9"/>
          </a:solidFill>
          <a:ln/>
        </p:spPr>
      </p:sp>
      <p:sp>
        <p:nvSpPr>
          <p:cNvPr id="183" name="Shape 181"/>
          <p:cNvSpPr/>
          <p:nvPr/>
        </p:nvSpPr>
        <p:spPr>
          <a:xfrm>
            <a:off x="457200" y="6126480"/>
            <a:ext cx="11274552" cy="356616"/>
          </a:xfrm>
          <a:prstGeom prst="rect">
            <a:avLst/>
          </a:prstGeom>
          <a:solidFill>
            <a:srgbClr val="E6F6EE"/>
          </a:solidFill>
          <a:ln/>
        </p:spPr>
      </p:sp>
      <p:sp>
        <p:nvSpPr>
          <p:cNvPr id="184" name="Text 182"/>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23 of 33 stores grew. Hyundai Prescott grew most at +53.3% (+$345K); Acura fell most at −18.8% (−$438K).</a:t>
            </a:r>
            <a:endParaRPr lang="en-US" sz="1500" dirty="0"/>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$648K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$993K</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+53.3%</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$1.61M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$2.09M</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+29.5%</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$2.31M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$2.95M</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+27.7%</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$1.14M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$1.46M</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+27.5%</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$3.01M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$3.63M</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+20.5%</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$2.33M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$1.89M</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−18.8%</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$724K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$588K</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−18.7%</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$4.05M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$3.50M</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−13.5%</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$6.61M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$5.92M</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−10.5%</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$3.23M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$3.04M</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−5.9%</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 per month</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$199K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$275K</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+38.0%</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$132K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$178K</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+34.5%</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$96K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$128K</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+34.2%</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$206K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$273K</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+32.4%</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$236K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$290K</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+22.9%</a:t>
            </a:r>
            <a:endParaRPr lang="en-US" sz="1600" dirty="0"/>
          </a:p>
        </p:txBody>
      </p:sp>
      <p:sp>
        <p:nvSpPr>
          <p:cNvPr id="69" name="Shape 67"/>
          <p:cNvSpPr/>
          <p:nvPr/>
        </p:nvSpPr>
        <p:spPr>
          <a:xfrm>
            <a:off x="457200" y="6126480"/>
            <a:ext cx="11274552" cy="615696"/>
          </a:xfrm>
          <a:prstGeom prst="rect">
            <a:avLst/>
          </a:prstGeom>
          <a:solidFill>
            <a:srgbClr val="EDF4FA"/>
          </a:solidFill>
          <a:ln/>
        </p:spPr>
      </p:sp>
      <p:sp>
        <p:nvSpPr>
          <p:cNvPr id="70"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Hyundai Prescott, Lincoln and Lexus what changed. Ask Acura, VW St George and VW Henderson what got in the way. Ask Mazda, Kia St George and Hyundai Prescott what they started this year.</a:t>
            </a:r>
            <a:endParaRPr lang="en-US" sz="1600" dirty="0"/>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$60.76M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$61.93M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+$1.17M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+1.9%</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Parts gross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+$1,171,181 (1.9%) year to date; 6 of nine months ahead of 2025, best July at +$684,859.</a:t>
            </a:r>
            <a:endParaRPr lang="en-US" sz="1600" dirty="0"/>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$61.93M</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1860"/>
            <a:ext cx="1828800" cy="110352"/>
          </a:xfrm>
          <a:prstGeom prst="rect">
            <a:avLst/>
          </a:prstGeom>
          <a:solidFill>
            <a:srgbClr val="2587C5"/>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$6.21M</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7" name="Shape 15"/>
          <p:cNvSpPr/>
          <p:nvPr/>
        </p:nvSpPr>
        <p:spPr>
          <a:xfrm>
            <a:off x="2980944" y="2151755"/>
            <a:ext cx="1780953" cy="110352"/>
          </a:xfrm>
          <a:prstGeom prst="rect">
            <a:avLst/>
          </a:prstGeom>
          <a:solidFill>
            <a:srgbClr val="2587C5"/>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$6.05M</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1" name="Shape 19"/>
          <p:cNvSpPr/>
          <p:nvPr/>
        </p:nvSpPr>
        <p:spPr>
          <a:xfrm>
            <a:off x="2980944" y="2391651"/>
            <a:ext cx="1139299" cy="110352"/>
          </a:xfrm>
          <a:prstGeom prst="rect">
            <a:avLst/>
          </a:prstGeom>
          <a:solidFill>
            <a:srgbClr val="2587C5"/>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$3.87M</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5" name="Shape 23"/>
          <p:cNvSpPr/>
          <p:nvPr/>
        </p:nvSpPr>
        <p:spPr>
          <a:xfrm>
            <a:off x="2980944" y="2631546"/>
            <a:ext cx="1126417" cy="110352"/>
          </a:xfrm>
          <a:prstGeom prst="rect">
            <a:avLst/>
          </a:prstGeom>
          <a:solidFill>
            <a:srgbClr val="2587C5"/>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$3.83M</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9" name="Shape 27"/>
          <p:cNvSpPr/>
          <p:nvPr/>
        </p:nvSpPr>
        <p:spPr>
          <a:xfrm>
            <a:off x="2980944" y="2871442"/>
            <a:ext cx="1042309" cy="110352"/>
          </a:xfrm>
          <a:prstGeom prst="rect">
            <a:avLst/>
          </a:prstGeom>
          <a:solidFill>
            <a:srgbClr val="2587C5"/>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$3.54M</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3" name="Shape 31"/>
          <p:cNvSpPr/>
          <p:nvPr/>
        </p:nvSpPr>
        <p:spPr>
          <a:xfrm>
            <a:off x="2980944" y="3111337"/>
            <a:ext cx="915024" cy="110352"/>
          </a:xfrm>
          <a:prstGeom prst="rect">
            <a:avLst/>
          </a:prstGeom>
          <a:solidFill>
            <a:srgbClr val="2587C5"/>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$3.11M</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2980944" y="3351233"/>
            <a:ext cx="794248" cy="110352"/>
          </a:xfrm>
          <a:prstGeom prst="rect">
            <a:avLst/>
          </a:prstGeom>
          <a:solidFill>
            <a:srgbClr val="2587C5"/>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$2.70M</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2980944" y="3591128"/>
            <a:ext cx="743466" cy="110352"/>
          </a:xfrm>
          <a:prstGeom prst="rect">
            <a:avLst/>
          </a:prstGeom>
          <a:solidFill>
            <a:srgbClr val="2587C5"/>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$2.52M</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5" name="Shape 43"/>
          <p:cNvSpPr/>
          <p:nvPr/>
        </p:nvSpPr>
        <p:spPr>
          <a:xfrm>
            <a:off x="2980944" y="3831024"/>
            <a:ext cx="662635" cy="110352"/>
          </a:xfrm>
          <a:prstGeom prst="rect">
            <a:avLst/>
          </a:prstGeom>
          <a:solidFill>
            <a:srgbClr val="2587C5"/>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$2.25M</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9" name="Shape 47"/>
          <p:cNvSpPr/>
          <p:nvPr/>
        </p:nvSpPr>
        <p:spPr>
          <a:xfrm>
            <a:off x="2980944" y="4070920"/>
            <a:ext cx="618790" cy="110352"/>
          </a:xfrm>
          <a:prstGeom prst="rect">
            <a:avLst/>
          </a:prstGeom>
          <a:solidFill>
            <a:srgbClr val="2587C5"/>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$2.10M</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3" name="Shape 51"/>
          <p:cNvSpPr/>
          <p:nvPr/>
        </p:nvSpPr>
        <p:spPr>
          <a:xfrm>
            <a:off x="2980944" y="4310815"/>
            <a:ext cx="469006" cy="110352"/>
          </a:xfrm>
          <a:prstGeom prst="rect">
            <a:avLst/>
          </a:prstGeom>
          <a:solidFill>
            <a:srgbClr val="2587C5"/>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$1.59M</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57" name="Shape 55"/>
          <p:cNvSpPr/>
          <p:nvPr/>
        </p:nvSpPr>
        <p:spPr>
          <a:xfrm>
            <a:off x="2980944" y="4550711"/>
            <a:ext cx="439517" cy="110352"/>
          </a:xfrm>
          <a:prstGeom prst="rect">
            <a:avLst/>
          </a:prstGeom>
          <a:solidFill>
            <a:srgbClr val="2587C5"/>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$1.49M</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1" name="Shape 59"/>
          <p:cNvSpPr/>
          <p:nvPr/>
        </p:nvSpPr>
        <p:spPr>
          <a:xfrm>
            <a:off x="2980944" y="4790606"/>
            <a:ext cx="434974" cy="110352"/>
          </a:xfrm>
          <a:prstGeom prst="rect">
            <a:avLst/>
          </a:prstGeom>
          <a:solidFill>
            <a:srgbClr val="2587C5"/>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$1.48M</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5" name="Shape 63"/>
          <p:cNvSpPr/>
          <p:nvPr/>
        </p:nvSpPr>
        <p:spPr>
          <a:xfrm>
            <a:off x="2980944" y="5030502"/>
            <a:ext cx="426399" cy="110352"/>
          </a:xfrm>
          <a:prstGeom prst="rect">
            <a:avLst/>
          </a:prstGeom>
          <a:solidFill>
            <a:srgbClr val="2587C5"/>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$1.45M</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9" name="Shape 67"/>
          <p:cNvSpPr/>
          <p:nvPr/>
        </p:nvSpPr>
        <p:spPr>
          <a:xfrm>
            <a:off x="2980944" y="5270397"/>
            <a:ext cx="418024" cy="110352"/>
          </a:xfrm>
          <a:prstGeom prst="rect">
            <a:avLst/>
          </a:prstGeom>
          <a:solidFill>
            <a:srgbClr val="2587C5"/>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$1.42M</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3" name="Shape 71"/>
          <p:cNvSpPr/>
          <p:nvPr/>
        </p:nvSpPr>
        <p:spPr>
          <a:xfrm>
            <a:off x="2980944" y="5510293"/>
            <a:ext cx="410579" cy="110352"/>
          </a:xfrm>
          <a:prstGeom prst="rect">
            <a:avLst/>
          </a:prstGeom>
          <a:solidFill>
            <a:srgbClr val="2587C5"/>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$1.39M</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7" name="Shape 75"/>
          <p:cNvSpPr/>
          <p:nvPr/>
        </p:nvSpPr>
        <p:spPr>
          <a:xfrm>
            <a:off x="2980944" y="5750188"/>
            <a:ext cx="386930" cy="110352"/>
          </a:xfrm>
          <a:prstGeom prst="rect">
            <a:avLst/>
          </a:prstGeom>
          <a:solidFill>
            <a:srgbClr val="2587C5"/>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$1.31M</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1" name="Shape 79"/>
          <p:cNvSpPr/>
          <p:nvPr/>
        </p:nvSpPr>
        <p:spPr>
          <a:xfrm>
            <a:off x="8531352" y="1911860"/>
            <a:ext cx="385510" cy="110352"/>
          </a:xfrm>
          <a:prstGeom prst="rect">
            <a:avLst/>
          </a:prstGeom>
          <a:solidFill>
            <a:srgbClr val="2587C5"/>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$1.31M</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85" name="Shape 83"/>
          <p:cNvSpPr/>
          <p:nvPr/>
        </p:nvSpPr>
        <p:spPr>
          <a:xfrm>
            <a:off x="8531352" y="2151755"/>
            <a:ext cx="379226" cy="110352"/>
          </a:xfrm>
          <a:prstGeom prst="rect">
            <a:avLst/>
          </a:prstGeom>
          <a:solidFill>
            <a:srgbClr val="2587C5"/>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$1.29M</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89" name="Shape 87"/>
          <p:cNvSpPr/>
          <p:nvPr/>
        </p:nvSpPr>
        <p:spPr>
          <a:xfrm>
            <a:off x="8531352" y="2391651"/>
            <a:ext cx="375575" cy="110352"/>
          </a:xfrm>
          <a:prstGeom prst="rect">
            <a:avLst/>
          </a:prstGeom>
          <a:solidFill>
            <a:srgbClr val="2587C5"/>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$1.28M</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3" name="Shape 91"/>
          <p:cNvSpPr/>
          <p:nvPr/>
        </p:nvSpPr>
        <p:spPr>
          <a:xfrm>
            <a:off x="8531352" y="2631546"/>
            <a:ext cx="370418" cy="110352"/>
          </a:xfrm>
          <a:prstGeom prst="rect">
            <a:avLst/>
          </a:prstGeom>
          <a:solidFill>
            <a:srgbClr val="2587C5"/>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$1.26M</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8531352" y="2871442"/>
            <a:ext cx="351886" cy="110352"/>
          </a:xfrm>
          <a:prstGeom prst="rect">
            <a:avLst/>
          </a:prstGeom>
          <a:solidFill>
            <a:srgbClr val="2587C5"/>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$1.19M</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1" name="Shape 99"/>
          <p:cNvSpPr/>
          <p:nvPr/>
        </p:nvSpPr>
        <p:spPr>
          <a:xfrm>
            <a:off x="8531352" y="3111337"/>
            <a:ext cx="351305" cy="110352"/>
          </a:xfrm>
          <a:prstGeom prst="rect">
            <a:avLst/>
          </a:prstGeom>
          <a:solidFill>
            <a:srgbClr val="2587C5"/>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$1.19M</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05" name="Shape 103"/>
          <p:cNvSpPr/>
          <p:nvPr/>
        </p:nvSpPr>
        <p:spPr>
          <a:xfrm>
            <a:off x="8531352" y="3351233"/>
            <a:ext cx="323594" cy="110352"/>
          </a:xfrm>
          <a:prstGeom prst="rect">
            <a:avLst/>
          </a:prstGeom>
          <a:solidFill>
            <a:srgbClr val="2587C5"/>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$1.10M</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9" name="Shape 107"/>
          <p:cNvSpPr/>
          <p:nvPr/>
        </p:nvSpPr>
        <p:spPr>
          <a:xfrm>
            <a:off x="8531352" y="3591128"/>
            <a:ext cx="321171" cy="110352"/>
          </a:xfrm>
          <a:prstGeom prst="rect">
            <a:avLst/>
          </a:prstGeom>
          <a:solidFill>
            <a:srgbClr val="2587C5"/>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$1.09M</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13" name="Shape 111"/>
          <p:cNvSpPr/>
          <p:nvPr/>
        </p:nvSpPr>
        <p:spPr>
          <a:xfrm>
            <a:off x="8531352" y="3831024"/>
            <a:ext cx="296096" cy="110352"/>
          </a:xfrm>
          <a:prstGeom prst="rect">
            <a:avLst/>
          </a:prstGeom>
          <a:solidFill>
            <a:srgbClr val="2587C5"/>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$1.01M</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17" name="Shape 115"/>
          <p:cNvSpPr/>
          <p:nvPr/>
        </p:nvSpPr>
        <p:spPr>
          <a:xfrm>
            <a:off x="8531352" y="4070920"/>
            <a:ext cx="277217" cy="110352"/>
          </a:xfrm>
          <a:prstGeom prst="rect">
            <a:avLst/>
          </a:prstGeom>
          <a:solidFill>
            <a:srgbClr val="2587C5"/>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$941,382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1" name="Shape 119"/>
          <p:cNvSpPr/>
          <p:nvPr/>
        </p:nvSpPr>
        <p:spPr>
          <a:xfrm>
            <a:off x="8531352" y="4310815"/>
            <a:ext cx="263987" cy="110352"/>
          </a:xfrm>
          <a:prstGeom prst="rect">
            <a:avLst/>
          </a:prstGeom>
          <a:solidFill>
            <a:srgbClr val="2587C5"/>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$896,457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5" name="Shape 123"/>
          <p:cNvSpPr/>
          <p:nvPr/>
        </p:nvSpPr>
        <p:spPr>
          <a:xfrm>
            <a:off x="8531352" y="4550711"/>
            <a:ext cx="243434" cy="110352"/>
          </a:xfrm>
          <a:prstGeom prst="rect">
            <a:avLst/>
          </a:prstGeom>
          <a:solidFill>
            <a:srgbClr val="2587C5"/>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$826,662</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9" name="Shape 127"/>
          <p:cNvSpPr/>
          <p:nvPr/>
        </p:nvSpPr>
        <p:spPr>
          <a:xfrm>
            <a:off x="8531352" y="4790606"/>
            <a:ext cx="226608" cy="110352"/>
          </a:xfrm>
          <a:prstGeom prst="rect">
            <a:avLst/>
          </a:prstGeom>
          <a:solidFill>
            <a:srgbClr val="2587C5"/>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$769,524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31352" y="5030502"/>
            <a:ext cx="161334" cy="110352"/>
          </a:xfrm>
          <a:prstGeom prst="rect">
            <a:avLst/>
          </a:prstGeom>
          <a:solidFill>
            <a:srgbClr val="2587C5"/>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$547,864</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31352" y="5270397"/>
            <a:ext cx="159817" cy="110352"/>
          </a:xfrm>
          <a:prstGeom prst="rect">
            <a:avLst/>
          </a:prstGeom>
          <a:solidFill>
            <a:srgbClr val="2587C5"/>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$542,712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31352" y="5510293"/>
            <a:ext cx="111766" cy="110352"/>
          </a:xfrm>
          <a:prstGeom prst="rect">
            <a:avLst/>
          </a:prstGeom>
          <a:solidFill>
            <a:srgbClr val="2587C5"/>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$379,537</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4" name="Shape 142"/>
          <p:cNvSpPr/>
          <p:nvPr/>
        </p:nvSpPr>
        <p:spPr>
          <a:xfrm>
            <a:off x="457200" y="6126480"/>
            <a:ext cx="11274552" cy="371856"/>
          </a:xfrm>
          <a:prstGeom prst="rect">
            <a:avLst/>
          </a:prstGeom>
          <a:solidFill>
            <a:srgbClr val="EDF4FA"/>
          </a:solidFill>
          <a:ln/>
        </p:spPr>
      </p:sp>
      <p:sp>
        <p:nvSpPr>
          <p:cNvPr id="145" name="Text 14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Toyota Henderson is $6.21M of the group's $61.93M; VW St George is smallest at $379,537.</a:t>
            </a:r>
            <a:endParaRPr lang="en-US" sz="1600" dirty="0"/>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+1.9%  ·  +$1.17M</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+37.1%</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+$243K</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2" name="Shape 20"/>
          <p:cNvSpPr/>
          <p:nvPr/>
        </p:nvSpPr>
        <p:spPr>
          <a:xfrm>
            <a:off x="3579876" y="2405582"/>
            <a:ext cx="438224"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+28.4%</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+$688K</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7" name="Shape 25"/>
          <p:cNvSpPr/>
          <p:nvPr/>
        </p:nvSpPr>
        <p:spPr>
          <a:xfrm>
            <a:off x="3579876" y="2629341"/>
            <a:ext cx="399845"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+26.0%</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+$271K</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32" name="Shape 30"/>
          <p:cNvSpPr/>
          <p:nvPr/>
        </p:nvSpPr>
        <p:spPr>
          <a:xfrm>
            <a:off x="3579876" y="2853100"/>
            <a:ext cx="261421"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+17.0%</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+$158K</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7" name="Shape 35"/>
          <p:cNvSpPr/>
          <p:nvPr/>
        </p:nvSpPr>
        <p:spPr>
          <a:xfrm>
            <a:off x="3579876" y="3076859"/>
            <a:ext cx="246093" cy="102929"/>
          </a:xfrm>
          <a:prstGeom prst="rect">
            <a:avLst/>
          </a:prstGeom>
          <a:solidFill>
            <a:srgbClr val="12A566"/>
          </a:solidFill>
          <a:ln/>
        </p:spPr>
      </p:sp>
      <p:sp>
        <p:nvSpPr>
          <p:cNvPr id="38" name="Text 36"/>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a:t>
            </a:r>
            <a:endParaRPr lang="en-US" sz="1200" dirty="0"/>
          </a:p>
        </p:txBody>
      </p:sp>
      <p:sp>
        <p:nvSpPr>
          <p:cNvPr id="39" name="Text 37"/>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+$151K</a:t>
            </a:r>
            <a:endParaRPr lang="en-US" sz="1200" dirty="0"/>
          </a:p>
        </p:txBody>
      </p:sp>
      <p:sp>
        <p:nvSpPr>
          <p:cNvPr id="40" name="Text 38"/>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1" name="Text 39"/>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2" name="Shape 40"/>
          <p:cNvSpPr/>
          <p:nvPr/>
        </p:nvSpPr>
        <p:spPr>
          <a:xfrm>
            <a:off x="3579876" y="3300618"/>
            <a:ext cx="234911" cy="102929"/>
          </a:xfrm>
          <a:prstGeom prst="rect">
            <a:avLst/>
          </a:prstGeom>
          <a:solidFill>
            <a:srgbClr val="12A566"/>
          </a:solidFill>
          <a:ln/>
        </p:spPr>
      </p:sp>
      <p:sp>
        <p:nvSpPr>
          <p:cNvPr id="43" name="Text 41"/>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+15.2%</a:t>
            </a:r>
            <a:endParaRPr lang="en-US" sz="1200" dirty="0"/>
          </a:p>
        </p:txBody>
      </p:sp>
      <p:sp>
        <p:nvSpPr>
          <p:cNvPr id="44" name="Text 42"/>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+$211K</a:t>
            </a:r>
            <a:endParaRPr lang="en-US" sz="1200" dirty="0"/>
          </a:p>
        </p:txBody>
      </p:sp>
      <p:sp>
        <p:nvSpPr>
          <p:cNvPr id="45" name="Text 43"/>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6" name="Text 44"/>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47" name="Shape 45"/>
          <p:cNvSpPr/>
          <p:nvPr/>
        </p:nvSpPr>
        <p:spPr>
          <a:xfrm>
            <a:off x="3579876" y="3524377"/>
            <a:ext cx="190077" cy="102929"/>
          </a:xfrm>
          <a:prstGeom prst="rect">
            <a:avLst/>
          </a:prstGeom>
          <a:solidFill>
            <a:srgbClr val="12A566"/>
          </a:solidFill>
          <a:ln/>
        </p:spPr>
      </p:sp>
      <p:sp>
        <p:nvSpPr>
          <p:cNvPr id="48" name="Text 46"/>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+12.3%</a:t>
            </a:r>
            <a:endParaRPr lang="en-US" sz="1200" dirty="0"/>
          </a:p>
        </p:txBody>
      </p:sp>
      <p:sp>
        <p:nvSpPr>
          <p:cNvPr id="49" name="Text 47"/>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+$60K</a:t>
            </a:r>
            <a:endParaRPr lang="en-US" sz="1200" dirty="0"/>
          </a:p>
        </p:txBody>
      </p:sp>
      <p:sp>
        <p:nvSpPr>
          <p:cNvPr id="50" name="Text 48"/>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1" name="Text 49"/>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2" name="Shape 50"/>
          <p:cNvSpPr/>
          <p:nvPr/>
        </p:nvSpPr>
        <p:spPr>
          <a:xfrm>
            <a:off x="3579876" y="3748136"/>
            <a:ext cx="179058" cy="102929"/>
          </a:xfrm>
          <a:prstGeom prst="rect">
            <a:avLst/>
          </a:prstGeom>
          <a:solidFill>
            <a:srgbClr val="12A566"/>
          </a:solidFill>
          <a:ln/>
        </p:spPr>
      </p:sp>
      <p:sp>
        <p:nvSpPr>
          <p:cNvPr id="53" name="Text 51"/>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+11.6%</a:t>
            </a:r>
            <a:endParaRPr lang="en-US" sz="1200" dirty="0"/>
          </a:p>
        </p:txBody>
      </p:sp>
      <p:sp>
        <p:nvSpPr>
          <p:cNvPr id="54" name="Text 52"/>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+$124K</a:t>
            </a:r>
            <a:endParaRPr lang="en-US" sz="1200" dirty="0"/>
          </a:p>
        </p:txBody>
      </p:sp>
      <p:sp>
        <p:nvSpPr>
          <p:cNvPr id="55" name="Text 53"/>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6" name="Text 54"/>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57" name="Shape 55"/>
          <p:cNvSpPr/>
          <p:nvPr/>
        </p:nvSpPr>
        <p:spPr>
          <a:xfrm>
            <a:off x="3579876" y="3971895"/>
            <a:ext cx="155972" cy="102929"/>
          </a:xfrm>
          <a:prstGeom prst="rect">
            <a:avLst/>
          </a:prstGeom>
          <a:solidFill>
            <a:srgbClr val="12A566"/>
          </a:solidFill>
          <a:ln/>
        </p:spPr>
      </p:sp>
      <p:sp>
        <p:nvSpPr>
          <p:cNvPr id="58" name="Text 56"/>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59" name="Text 57"/>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+$50K</a:t>
            </a:r>
            <a:endParaRPr lang="en-US" sz="1200" dirty="0"/>
          </a:p>
        </p:txBody>
      </p:sp>
      <p:sp>
        <p:nvSpPr>
          <p:cNvPr id="60" name="Text 58"/>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1" name="Text 59"/>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2" name="Shape 60"/>
          <p:cNvSpPr/>
          <p:nvPr/>
        </p:nvSpPr>
        <p:spPr>
          <a:xfrm>
            <a:off x="3579876" y="4195654"/>
            <a:ext cx="139366" cy="102929"/>
          </a:xfrm>
          <a:prstGeom prst="rect">
            <a:avLst/>
          </a:prstGeom>
          <a:solidFill>
            <a:srgbClr val="12A566"/>
          </a:solidFill>
          <a:ln/>
        </p:spPr>
      </p:sp>
      <p:sp>
        <p:nvSpPr>
          <p:cNvPr id="63" name="Text 61"/>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a:t>
            </a:r>
            <a:endParaRPr lang="en-US" sz="1200" dirty="0"/>
          </a:p>
        </p:txBody>
      </p:sp>
      <p:sp>
        <p:nvSpPr>
          <p:cNvPr id="64" name="Text 62"/>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+$321K</a:t>
            </a:r>
            <a:endParaRPr lang="en-US" sz="1200" dirty="0"/>
          </a:p>
        </p:txBody>
      </p:sp>
      <p:sp>
        <p:nvSpPr>
          <p:cNvPr id="65" name="Text 63"/>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6" name="Text 64"/>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67" name="Shape 65"/>
          <p:cNvSpPr/>
          <p:nvPr/>
        </p:nvSpPr>
        <p:spPr>
          <a:xfrm>
            <a:off x="3579876" y="4419414"/>
            <a:ext cx="136341" cy="102929"/>
          </a:xfrm>
          <a:prstGeom prst="rect">
            <a:avLst/>
          </a:prstGeom>
          <a:solidFill>
            <a:srgbClr val="12A566"/>
          </a:solidFill>
          <a:ln/>
        </p:spPr>
      </p:sp>
      <p:sp>
        <p:nvSpPr>
          <p:cNvPr id="68" name="Text 66"/>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a:t>
            </a:r>
            <a:endParaRPr lang="en-US" sz="1200" dirty="0"/>
          </a:p>
        </p:txBody>
      </p:sp>
      <p:sp>
        <p:nvSpPr>
          <p:cNvPr id="69" name="Text 67"/>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+$288K</a:t>
            </a:r>
            <a:endParaRPr lang="en-US" sz="1200" dirty="0"/>
          </a:p>
        </p:txBody>
      </p:sp>
      <p:sp>
        <p:nvSpPr>
          <p:cNvPr id="70" name="Text 68"/>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1" name="Text 69"/>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72" name="Shape 70"/>
          <p:cNvSpPr/>
          <p:nvPr/>
        </p:nvSpPr>
        <p:spPr>
          <a:xfrm>
            <a:off x="3579876" y="4643173"/>
            <a:ext cx="123400" cy="102929"/>
          </a:xfrm>
          <a:prstGeom prst="rect">
            <a:avLst/>
          </a:prstGeom>
          <a:solidFill>
            <a:srgbClr val="12A566"/>
          </a:solidFill>
          <a:ln/>
        </p:spPr>
      </p:sp>
      <p:sp>
        <p:nvSpPr>
          <p:cNvPr id="73" name="Text 71"/>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a:t>
            </a:r>
            <a:endParaRPr lang="en-US" sz="1200" dirty="0"/>
          </a:p>
        </p:txBody>
      </p:sp>
      <p:sp>
        <p:nvSpPr>
          <p:cNvPr id="74" name="Text 72"/>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+$88K</a:t>
            </a:r>
            <a:endParaRPr lang="en-US" sz="1200" dirty="0"/>
          </a:p>
        </p:txBody>
      </p:sp>
      <p:sp>
        <p:nvSpPr>
          <p:cNvPr id="75" name="Text 73"/>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6" name="Text 74"/>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7" name="Shape 75"/>
          <p:cNvSpPr/>
          <p:nvPr/>
        </p:nvSpPr>
        <p:spPr>
          <a:xfrm>
            <a:off x="3579876" y="4866932"/>
            <a:ext cx="80616" cy="102929"/>
          </a:xfrm>
          <a:prstGeom prst="rect">
            <a:avLst/>
          </a:prstGeom>
          <a:solidFill>
            <a:srgbClr val="12A566"/>
          </a:solidFill>
          <a:ln/>
        </p:spPr>
      </p:sp>
      <p:sp>
        <p:nvSpPr>
          <p:cNvPr id="78" name="Text 76"/>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+5.2%</a:t>
            </a:r>
            <a:endParaRPr lang="en-US" sz="1200" dirty="0"/>
          </a:p>
        </p:txBody>
      </p:sp>
      <p:sp>
        <p:nvSpPr>
          <p:cNvPr id="79" name="Text 77"/>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+$47K</a:t>
            </a:r>
            <a:endParaRPr lang="en-US" sz="1200" dirty="0"/>
          </a:p>
        </p:txBody>
      </p:sp>
      <p:sp>
        <p:nvSpPr>
          <p:cNvPr id="80" name="Text 78"/>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1" name="Text 79"/>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2" name="Shape 80"/>
          <p:cNvSpPr/>
          <p:nvPr/>
        </p:nvSpPr>
        <p:spPr>
          <a:xfrm>
            <a:off x="3579876" y="5090691"/>
            <a:ext cx="70968" cy="102929"/>
          </a:xfrm>
          <a:prstGeom prst="rect">
            <a:avLst/>
          </a:prstGeom>
          <a:solidFill>
            <a:srgbClr val="12A566"/>
          </a:solidFill>
          <a:ln/>
        </p:spPr>
      </p:sp>
      <p:sp>
        <p:nvSpPr>
          <p:cNvPr id="83" name="Text 81"/>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+4.6%</a:t>
            </a:r>
            <a:endParaRPr lang="en-US" sz="1200" dirty="0"/>
          </a:p>
        </p:txBody>
      </p:sp>
      <p:sp>
        <p:nvSpPr>
          <p:cNvPr id="84" name="Text 82"/>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+$273K</a:t>
            </a:r>
            <a:endParaRPr lang="en-US" sz="1200" dirty="0"/>
          </a:p>
        </p:txBody>
      </p:sp>
      <p:sp>
        <p:nvSpPr>
          <p:cNvPr id="85" name="Text 8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6" name="Text 8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7" name="Shape 85"/>
          <p:cNvSpPr/>
          <p:nvPr/>
        </p:nvSpPr>
        <p:spPr>
          <a:xfrm>
            <a:off x="3579876" y="5314450"/>
            <a:ext cx="39483" cy="102929"/>
          </a:xfrm>
          <a:prstGeom prst="rect">
            <a:avLst/>
          </a:prstGeom>
          <a:solidFill>
            <a:srgbClr val="12A566"/>
          </a:solidFill>
          <a:ln/>
        </p:spPr>
      </p:sp>
      <p:sp>
        <p:nvSpPr>
          <p:cNvPr id="88" name="Text 86"/>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a:t>
            </a:r>
            <a:endParaRPr lang="en-US" sz="1200" dirty="0"/>
          </a:p>
        </p:txBody>
      </p:sp>
      <p:sp>
        <p:nvSpPr>
          <p:cNvPr id="89" name="Text 87"/>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+$33K</a:t>
            </a:r>
            <a:endParaRPr lang="en-US" sz="1200" dirty="0"/>
          </a:p>
        </p:txBody>
      </p:sp>
      <p:sp>
        <p:nvSpPr>
          <p:cNvPr id="90" name="Text 88"/>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2" name="Shape 90"/>
          <p:cNvSpPr/>
          <p:nvPr/>
        </p:nvSpPr>
        <p:spPr>
          <a:xfrm>
            <a:off x="3579876" y="5538209"/>
            <a:ext cx="33295" cy="102929"/>
          </a:xfrm>
          <a:prstGeom prst="rect">
            <a:avLst/>
          </a:prstGeom>
          <a:solidFill>
            <a:srgbClr val="12A566"/>
          </a:solidFill>
          <a:ln/>
        </p:spPr>
      </p:sp>
      <p:sp>
        <p:nvSpPr>
          <p:cNvPr id="93" name="Text 91"/>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a:t>
            </a:r>
            <a:endParaRPr lang="en-US" sz="1200" dirty="0"/>
          </a:p>
        </p:txBody>
      </p:sp>
      <p:sp>
        <p:nvSpPr>
          <p:cNvPr id="94" name="Text 92"/>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+$27K</a:t>
            </a:r>
            <a:endParaRPr lang="en-US" sz="1200" dirty="0"/>
          </a:p>
        </p:txBody>
      </p:sp>
      <p:sp>
        <p:nvSpPr>
          <p:cNvPr id="95" name="Text 93"/>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6" name="Text 94"/>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7" name="Shape 95"/>
          <p:cNvSpPr/>
          <p:nvPr/>
        </p:nvSpPr>
        <p:spPr>
          <a:xfrm>
            <a:off x="3579876" y="5761968"/>
            <a:ext cx="19780" cy="102929"/>
          </a:xfrm>
          <a:prstGeom prst="rect">
            <a:avLst/>
          </a:prstGeom>
          <a:solidFill>
            <a:srgbClr val="12A566"/>
          </a:solidFill>
          <a:ln/>
        </p:spPr>
      </p:sp>
      <p:sp>
        <p:nvSpPr>
          <p:cNvPr id="98" name="Text 96"/>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a:t>
            </a:r>
            <a:endParaRPr lang="en-US" sz="1200" dirty="0"/>
          </a:p>
        </p:txBody>
      </p:sp>
      <p:sp>
        <p:nvSpPr>
          <p:cNvPr id="99" name="Text 97"/>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+$19K</a:t>
            </a:r>
            <a:endParaRPr lang="en-US" sz="1200" dirty="0"/>
          </a:p>
        </p:txBody>
      </p:sp>
      <p:sp>
        <p:nvSpPr>
          <p:cNvPr id="100" name="Text 98"/>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02" name="Shape 100"/>
          <p:cNvSpPr/>
          <p:nvPr/>
        </p:nvSpPr>
        <p:spPr>
          <a:xfrm>
            <a:off x="9120504" y="2181823"/>
            <a:ext cx="12802" cy="102929"/>
          </a:xfrm>
          <a:prstGeom prst="rect">
            <a:avLst/>
          </a:prstGeom>
          <a:solidFill>
            <a:srgbClr val="C2352F"/>
          </a:solidFill>
          <a:ln/>
        </p:spPr>
      </p:sp>
      <p:sp>
        <p:nvSpPr>
          <p:cNvPr id="103" name="Text 101"/>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−0.6%</a:t>
            </a:r>
            <a:endParaRPr lang="en-US" sz="1200" dirty="0"/>
          </a:p>
        </p:txBody>
      </p:sp>
      <p:sp>
        <p:nvSpPr>
          <p:cNvPr id="104" name="Text 102"/>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−$5K</a:t>
            </a:r>
            <a:endParaRPr lang="en-US" sz="1200" dirty="0"/>
          </a:p>
        </p:txBody>
      </p:sp>
      <p:sp>
        <p:nvSpPr>
          <p:cNvPr id="105" name="Text 103"/>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07" name="Shape 105"/>
          <p:cNvSpPr/>
          <p:nvPr/>
        </p:nvSpPr>
        <p:spPr>
          <a:xfrm>
            <a:off x="9119621" y="2405582"/>
            <a:ext cx="12802" cy="102929"/>
          </a:xfrm>
          <a:prstGeom prst="rect">
            <a:avLst/>
          </a:prstGeom>
          <a:solidFill>
            <a:srgbClr val="C2352F"/>
          </a:solidFill>
          <a:ln/>
        </p:spPr>
      </p:sp>
      <p:sp>
        <p:nvSpPr>
          <p:cNvPr id="108" name="Text 106"/>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−0.7%</a:t>
            </a:r>
            <a:endParaRPr lang="en-US" sz="1200" dirty="0"/>
          </a:p>
        </p:txBody>
      </p:sp>
      <p:sp>
        <p:nvSpPr>
          <p:cNvPr id="109" name="Text 107"/>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−$42K</a:t>
            </a:r>
            <a:endParaRPr lang="en-US" sz="1200" dirty="0"/>
          </a:p>
        </p:txBody>
      </p:sp>
      <p:sp>
        <p:nvSpPr>
          <p:cNvPr id="110" name="Text 108"/>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1" name="Text 109"/>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2" name="Shape 110"/>
          <p:cNvSpPr/>
          <p:nvPr/>
        </p:nvSpPr>
        <p:spPr>
          <a:xfrm>
            <a:off x="9117659" y="2629341"/>
            <a:ext cx="12802" cy="102929"/>
          </a:xfrm>
          <a:prstGeom prst="rect">
            <a:avLst/>
          </a:prstGeom>
          <a:solidFill>
            <a:srgbClr val="C2352F"/>
          </a:solidFill>
          <a:ln/>
        </p:spPr>
      </p:sp>
      <p:sp>
        <p:nvSpPr>
          <p:cNvPr id="113" name="Text 111"/>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−0.8%</a:t>
            </a:r>
            <a:endParaRPr lang="en-US" sz="1200" dirty="0"/>
          </a:p>
        </p:txBody>
      </p:sp>
      <p:sp>
        <p:nvSpPr>
          <p:cNvPr id="114" name="Text 112"/>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−$12K</a:t>
            </a:r>
            <a:endParaRPr lang="en-US" sz="1200" dirty="0"/>
          </a:p>
        </p:txBody>
      </p:sp>
      <p:sp>
        <p:nvSpPr>
          <p:cNvPr id="115" name="Text 113"/>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6" name="Text 114"/>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7" name="Shape 115"/>
          <p:cNvSpPr/>
          <p:nvPr/>
        </p:nvSpPr>
        <p:spPr>
          <a:xfrm>
            <a:off x="9095741" y="2853100"/>
            <a:ext cx="34543" cy="102929"/>
          </a:xfrm>
          <a:prstGeom prst="rect">
            <a:avLst/>
          </a:prstGeom>
          <a:solidFill>
            <a:srgbClr val="C2352F"/>
          </a:solidFill>
          <a:ln/>
        </p:spPr>
      </p:sp>
      <p:sp>
        <p:nvSpPr>
          <p:cNvPr id="118" name="Text 116"/>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a:t>
            </a:r>
            <a:endParaRPr lang="en-US" sz="1200" dirty="0"/>
          </a:p>
        </p:txBody>
      </p:sp>
      <p:sp>
        <p:nvSpPr>
          <p:cNvPr id="119" name="Text 117"/>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−$33K</a:t>
            </a:r>
            <a:endParaRPr lang="en-US" sz="1200" dirty="0"/>
          </a:p>
        </p:txBody>
      </p:sp>
      <p:sp>
        <p:nvSpPr>
          <p:cNvPr id="120" name="Text 118"/>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1" name="Text 119"/>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22" name="Shape 120"/>
          <p:cNvSpPr/>
          <p:nvPr/>
        </p:nvSpPr>
        <p:spPr>
          <a:xfrm>
            <a:off x="9094197" y="3076859"/>
            <a:ext cx="36087" cy="102929"/>
          </a:xfrm>
          <a:prstGeom prst="rect">
            <a:avLst/>
          </a:prstGeom>
          <a:solidFill>
            <a:srgbClr val="C2352F"/>
          </a:solidFill>
          <a:ln/>
        </p:spPr>
      </p:sp>
      <p:sp>
        <p:nvSpPr>
          <p:cNvPr id="123" name="Text 121"/>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a:t>
            </a:r>
            <a:endParaRPr lang="en-US" sz="1200" dirty="0"/>
          </a:p>
        </p:txBody>
      </p:sp>
      <p:sp>
        <p:nvSpPr>
          <p:cNvPr id="124" name="Text 122"/>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−$61K</a:t>
            </a:r>
            <a:endParaRPr lang="en-US" sz="1200" dirty="0"/>
          </a:p>
        </p:txBody>
      </p:sp>
      <p:sp>
        <p:nvSpPr>
          <p:cNvPr id="125" name="Text 123"/>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6" name="Text 124"/>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7" name="Shape 125"/>
          <p:cNvSpPr/>
          <p:nvPr/>
        </p:nvSpPr>
        <p:spPr>
          <a:xfrm>
            <a:off x="9092061" y="3300618"/>
            <a:ext cx="38223" cy="102929"/>
          </a:xfrm>
          <a:prstGeom prst="rect">
            <a:avLst/>
          </a:prstGeom>
          <a:solidFill>
            <a:srgbClr val="C2352F"/>
          </a:solidFill>
          <a:ln/>
        </p:spPr>
      </p:sp>
      <p:sp>
        <p:nvSpPr>
          <p:cNvPr id="128" name="Text 126"/>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a:t>
            </a:r>
            <a:endParaRPr lang="en-US" sz="1200" dirty="0"/>
          </a:p>
        </p:txBody>
      </p:sp>
      <p:sp>
        <p:nvSpPr>
          <p:cNvPr id="129" name="Text 127"/>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−$57K</a:t>
            </a:r>
            <a:endParaRPr lang="en-US" sz="1200" dirty="0"/>
          </a:p>
        </p:txBody>
      </p:sp>
      <p:sp>
        <p:nvSpPr>
          <p:cNvPr id="130" name="Text 128"/>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1" name="Text 129"/>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2" name="Shape 130"/>
          <p:cNvSpPr/>
          <p:nvPr/>
        </p:nvSpPr>
        <p:spPr>
          <a:xfrm>
            <a:off x="9080300" y="3524377"/>
            <a:ext cx="49984" cy="102929"/>
          </a:xfrm>
          <a:prstGeom prst="rect">
            <a:avLst/>
          </a:prstGeom>
          <a:solidFill>
            <a:srgbClr val="C2352F"/>
          </a:solidFill>
          <a:ln/>
        </p:spPr>
      </p:sp>
      <p:sp>
        <p:nvSpPr>
          <p:cNvPr id="133" name="Text 131"/>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134" name="Text 132"/>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−$50K</a:t>
            </a:r>
            <a:endParaRPr lang="en-US" sz="1200" dirty="0"/>
          </a:p>
        </p:txBody>
      </p:sp>
      <p:sp>
        <p:nvSpPr>
          <p:cNvPr id="135" name="Text 13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6" name="Text 13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37" name="Shape 135"/>
          <p:cNvSpPr/>
          <p:nvPr/>
        </p:nvSpPr>
        <p:spPr>
          <a:xfrm>
            <a:off x="9051537" y="3748136"/>
            <a:ext cx="78747" cy="102929"/>
          </a:xfrm>
          <a:prstGeom prst="rect">
            <a:avLst/>
          </a:prstGeom>
          <a:solidFill>
            <a:srgbClr val="C2352F"/>
          </a:solidFill>
          <a:ln/>
        </p:spPr>
      </p:sp>
      <p:sp>
        <p:nvSpPr>
          <p:cNvPr id="138" name="Text 136"/>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−5.1%</a:t>
            </a:r>
            <a:endParaRPr lang="en-US" sz="1200" dirty="0"/>
          </a:p>
        </p:txBody>
      </p:sp>
      <p:sp>
        <p:nvSpPr>
          <p:cNvPr id="139" name="Text 137"/>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−$145K</a:t>
            </a:r>
            <a:endParaRPr lang="en-US" sz="1200" dirty="0"/>
          </a:p>
        </p:txBody>
      </p:sp>
      <p:sp>
        <p:nvSpPr>
          <p:cNvPr id="140" name="Text 138"/>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1" name="Text 139"/>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2" name="Shape 140"/>
          <p:cNvSpPr/>
          <p:nvPr/>
        </p:nvSpPr>
        <p:spPr>
          <a:xfrm>
            <a:off x="9025094" y="3971895"/>
            <a:ext cx="105190" cy="102929"/>
          </a:xfrm>
          <a:prstGeom prst="rect">
            <a:avLst/>
          </a:prstGeom>
          <a:solidFill>
            <a:srgbClr val="C2352F"/>
          </a:solidFill>
          <a:ln/>
        </p:spPr>
      </p:sp>
      <p:sp>
        <p:nvSpPr>
          <p:cNvPr id="143" name="Text 141"/>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a:t>
            </a:r>
            <a:endParaRPr lang="en-US" sz="1200" dirty="0"/>
          </a:p>
        </p:txBody>
      </p:sp>
      <p:sp>
        <p:nvSpPr>
          <p:cNvPr id="144" name="Text 142"/>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−$28K</a:t>
            </a:r>
            <a:endParaRPr lang="en-US" sz="1200" dirty="0"/>
          </a:p>
        </p:txBody>
      </p:sp>
      <p:sp>
        <p:nvSpPr>
          <p:cNvPr id="145" name="Text 143"/>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6" name="Text 144"/>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47" name="Shape 145"/>
          <p:cNvSpPr/>
          <p:nvPr/>
        </p:nvSpPr>
        <p:spPr>
          <a:xfrm>
            <a:off x="9022657" y="4195654"/>
            <a:ext cx="107627" cy="102929"/>
          </a:xfrm>
          <a:prstGeom prst="rect">
            <a:avLst/>
          </a:prstGeom>
          <a:solidFill>
            <a:srgbClr val="C2352F"/>
          </a:solidFill>
          <a:ln/>
        </p:spPr>
      </p:sp>
      <p:sp>
        <p:nvSpPr>
          <p:cNvPr id="148" name="Text 146"/>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a:t>
            </a:r>
            <a:endParaRPr lang="en-US" sz="1200" dirty="0"/>
          </a:p>
        </p:txBody>
      </p:sp>
      <p:sp>
        <p:nvSpPr>
          <p:cNvPr id="149" name="Text 147"/>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−$287K</a:t>
            </a:r>
            <a:endParaRPr lang="en-US" sz="1200" dirty="0"/>
          </a:p>
        </p:txBody>
      </p:sp>
      <p:sp>
        <p:nvSpPr>
          <p:cNvPr id="150" name="Text 148"/>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1" name="Text 149"/>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52" name="Shape 150"/>
          <p:cNvSpPr/>
          <p:nvPr/>
        </p:nvSpPr>
        <p:spPr>
          <a:xfrm>
            <a:off x="9018226" y="4419414"/>
            <a:ext cx="112058" cy="102929"/>
          </a:xfrm>
          <a:prstGeom prst="rect">
            <a:avLst/>
          </a:prstGeom>
          <a:solidFill>
            <a:srgbClr val="C2352F"/>
          </a:solidFill>
          <a:ln/>
        </p:spPr>
      </p:sp>
      <p:sp>
        <p:nvSpPr>
          <p:cNvPr id="153" name="Text 151"/>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a:t>
            </a:r>
            <a:endParaRPr lang="en-US" sz="1200" dirty="0"/>
          </a:p>
        </p:txBody>
      </p:sp>
      <p:sp>
        <p:nvSpPr>
          <p:cNvPr id="154" name="Text 152"/>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−$79K</a:t>
            </a:r>
            <a:endParaRPr lang="en-US" sz="1200" dirty="0"/>
          </a:p>
        </p:txBody>
      </p:sp>
      <p:sp>
        <p:nvSpPr>
          <p:cNvPr id="155" name="Text 153"/>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6" name="Text 154"/>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57" name="Shape 155"/>
          <p:cNvSpPr/>
          <p:nvPr/>
        </p:nvSpPr>
        <p:spPr>
          <a:xfrm>
            <a:off x="9016738" y="4643173"/>
            <a:ext cx="113546" cy="102929"/>
          </a:xfrm>
          <a:prstGeom prst="rect">
            <a:avLst/>
          </a:prstGeom>
          <a:solidFill>
            <a:srgbClr val="C2352F"/>
          </a:solidFill>
          <a:ln/>
        </p:spPr>
      </p:sp>
      <p:sp>
        <p:nvSpPr>
          <p:cNvPr id="158" name="Text 156"/>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a:t>
            </a:r>
            <a:endParaRPr lang="en-US" sz="1200" dirty="0"/>
          </a:p>
        </p:txBody>
      </p:sp>
      <p:sp>
        <p:nvSpPr>
          <p:cNvPr id="159" name="Text 157"/>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−$167K</a:t>
            </a:r>
            <a:endParaRPr lang="en-US" sz="1200" dirty="0"/>
          </a:p>
        </p:txBody>
      </p:sp>
      <p:sp>
        <p:nvSpPr>
          <p:cNvPr id="160" name="Text 158"/>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1" name="Text 159"/>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62" name="Shape 160"/>
          <p:cNvSpPr/>
          <p:nvPr/>
        </p:nvSpPr>
        <p:spPr>
          <a:xfrm>
            <a:off x="8970138" y="4866932"/>
            <a:ext cx="160146" cy="102929"/>
          </a:xfrm>
          <a:prstGeom prst="rect">
            <a:avLst/>
          </a:prstGeom>
          <a:solidFill>
            <a:srgbClr val="C2352F"/>
          </a:solidFill>
          <a:ln/>
        </p:spPr>
      </p:sp>
      <p:sp>
        <p:nvSpPr>
          <p:cNvPr id="163" name="Text 161"/>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−10.4%</a:t>
            </a:r>
            <a:endParaRPr lang="en-US" sz="1200" dirty="0"/>
          </a:p>
        </p:txBody>
      </p:sp>
      <p:sp>
        <p:nvSpPr>
          <p:cNvPr id="164" name="Text 162"/>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−$146K</a:t>
            </a:r>
            <a:endParaRPr lang="en-US" sz="1200" dirty="0"/>
          </a:p>
        </p:txBody>
      </p:sp>
      <p:sp>
        <p:nvSpPr>
          <p:cNvPr id="165" name="Text 163"/>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6" name="Text 164"/>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67" name="Shape 165"/>
          <p:cNvSpPr/>
          <p:nvPr/>
        </p:nvSpPr>
        <p:spPr>
          <a:xfrm>
            <a:off x="8910748" y="5090691"/>
            <a:ext cx="219536" cy="102929"/>
          </a:xfrm>
          <a:prstGeom prst="rect">
            <a:avLst/>
          </a:prstGeom>
          <a:solidFill>
            <a:srgbClr val="C2352F"/>
          </a:solidFill>
          <a:ln/>
        </p:spPr>
      </p:sp>
      <p:sp>
        <p:nvSpPr>
          <p:cNvPr id="168" name="Text 166"/>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a:t>
            </a:r>
            <a:endParaRPr lang="en-US" sz="1200" dirty="0"/>
          </a:p>
        </p:txBody>
      </p:sp>
      <p:sp>
        <p:nvSpPr>
          <p:cNvPr id="169" name="Text 167"/>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−$214K</a:t>
            </a:r>
            <a:endParaRPr lang="en-US" sz="1200" dirty="0"/>
          </a:p>
        </p:txBody>
      </p:sp>
      <p:sp>
        <p:nvSpPr>
          <p:cNvPr id="170" name="Text 168"/>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1" name="Text 169"/>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72" name="Shape 170"/>
          <p:cNvSpPr/>
          <p:nvPr/>
        </p:nvSpPr>
        <p:spPr>
          <a:xfrm>
            <a:off x="8841155" y="5314450"/>
            <a:ext cx="289129" cy="102929"/>
          </a:xfrm>
          <a:prstGeom prst="rect">
            <a:avLst/>
          </a:prstGeom>
          <a:solidFill>
            <a:srgbClr val="C2352F"/>
          </a:solidFill>
          <a:ln/>
        </p:spPr>
      </p:sp>
      <p:sp>
        <p:nvSpPr>
          <p:cNvPr id="173" name="Text 171"/>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−18.8%</a:t>
            </a:r>
            <a:endParaRPr lang="en-US" sz="1200" dirty="0"/>
          </a:p>
        </p:txBody>
      </p:sp>
      <p:sp>
        <p:nvSpPr>
          <p:cNvPr id="174" name="Text 172"/>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−$328K</a:t>
            </a:r>
            <a:endParaRPr lang="en-US" sz="1200" dirty="0"/>
          </a:p>
        </p:txBody>
      </p:sp>
      <p:sp>
        <p:nvSpPr>
          <p:cNvPr id="175" name="Text 173"/>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6" name="Text 174"/>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7" name="Shape 175"/>
          <p:cNvSpPr/>
          <p:nvPr/>
        </p:nvSpPr>
        <p:spPr>
          <a:xfrm>
            <a:off x="8798602" y="5538209"/>
            <a:ext cx="331682" cy="102929"/>
          </a:xfrm>
          <a:prstGeom prst="rect">
            <a:avLst/>
          </a:prstGeom>
          <a:solidFill>
            <a:srgbClr val="C2352F"/>
          </a:solidFill>
          <a:ln/>
        </p:spPr>
      </p:sp>
      <p:sp>
        <p:nvSpPr>
          <p:cNvPr id="178" name="Text 176"/>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−21.5%</a:t>
            </a:r>
            <a:endParaRPr lang="en-US" sz="1200" dirty="0"/>
          </a:p>
        </p:txBody>
      </p:sp>
      <p:sp>
        <p:nvSpPr>
          <p:cNvPr id="179" name="Text 177"/>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−$227K</a:t>
            </a:r>
            <a:endParaRPr lang="en-US" sz="1200" dirty="0"/>
          </a:p>
        </p:txBody>
      </p:sp>
      <p:sp>
        <p:nvSpPr>
          <p:cNvPr id="180" name="Shape 178"/>
          <p:cNvSpPr/>
          <p:nvPr/>
        </p:nvSpPr>
        <p:spPr>
          <a:xfrm>
            <a:off x="3574390" y="2121408"/>
            <a:ext cx="10973" cy="3803904"/>
          </a:xfrm>
          <a:prstGeom prst="rect">
            <a:avLst/>
          </a:prstGeom>
          <a:solidFill>
            <a:srgbClr val="9AA3AD"/>
          </a:solidFill>
          <a:ln/>
        </p:spPr>
      </p:sp>
      <p:sp>
        <p:nvSpPr>
          <p:cNvPr id="181" name="Shape 179"/>
          <p:cNvSpPr/>
          <p:nvPr/>
        </p:nvSpPr>
        <p:spPr>
          <a:xfrm>
            <a:off x="9124798" y="2121408"/>
            <a:ext cx="10973" cy="3803904"/>
          </a:xfrm>
          <a:prstGeom prst="rect">
            <a:avLst/>
          </a:prstGeom>
          <a:solidFill>
            <a:srgbClr val="9AA3AD"/>
          </a:solidFill>
          <a:ln/>
        </p:spPr>
      </p:sp>
      <p:sp>
        <p:nvSpPr>
          <p:cNvPr id="182" name="Shape 180"/>
          <p:cNvSpPr/>
          <p:nvPr/>
        </p:nvSpPr>
        <p:spPr>
          <a:xfrm>
            <a:off x="6085332" y="2121408"/>
            <a:ext cx="10973" cy="3803904"/>
          </a:xfrm>
          <a:prstGeom prst="rect">
            <a:avLst/>
          </a:prstGeom>
          <a:solidFill>
            <a:srgbClr val="D9D9D9"/>
          </a:solidFill>
          <a:ln/>
        </p:spPr>
      </p:sp>
      <p:sp>
        <p:nvSpPr>
          <p:cNvPr id="183" name="Shape 181"/>
          <p:cNvSpPr/>
          <p:nvPr/>
        </p:nvSpPr>
        <p:spPr>
          <a:xfrm>
            <a:off x="457200" y="6126480"/>
            <a:ext cx="11274552" cy="348996"/>
          </a:xfrm>
          <a:prstGeom prst="rect">
            <a:avLst/>
          </a:prstGeom>
          <a:solidFill>
            <a:srgbClr val="E6F6EE"/>
          </a:solidFill>
          <a:ln/>
        </p:spPr>
      </p:sp>
      <p:sp>
        <p:nvSpPr>
          <p:cNvPr id="184" name="Text 182"/>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7A4A"/>
                </a:solidFill>
                <a:latin typeface="Inter" pitchFamily="34" charset="0"/>
                <a:ea typeface="Inter" pitchFamily="34" charset="-122"/>
                <a:cs typeface="Inter" pitchFamily="34" charset="-120"/>
              </a:rPr>
              <a:t>17 of 33 stores grew. Lincoln grew most at +37.1% (+$243K); Hyundai St George fell most at −21.5% (−$227K).</a:t>
            </a:r>
            <a:endParaRPr lang="en-US" sz="1450" dirty="0"/>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$654K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$896K</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+37.1%</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$2.42M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$3.11M</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+28.4%</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$1.04M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$1.31M</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+26.0%</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$932K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$1.09M</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+17.0%</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$948K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$1.10M</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+16.0%</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$827K</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−21.5%</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$1.42M</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−18.8%</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$1.50M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$1.29M</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−14.2%</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$1.40M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$1.26M</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−10.4%</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$2.27M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$2.10M</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−7.4%</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 per month</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$339K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$486K</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+43.4%</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$114K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$150K</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+31.5%</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$52K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$68K</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$95K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$123K</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+30.1%</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$155K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$198K</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+27.6%</a:t>
            </a:r>
            <a:endParaRPr lang="en-US" sz="1600" dirty="0"/>
          </a:p>
        </p:txBody>
      </p:sp>
      <p:sp>
        <p:nvSpPr>
          <p:cNvPr id="69" name="Shape 67"/>
          <p:cNvSpPr/>
          <p:nvPr/>
        </p:nvSpPr>
        <p:spPr>
          <a:xfrm>
            <a:off x="457200" y="6126480"/>
            <a:ext cx="11274552" cy="600456"/>
          </a:xfrm>
          <a:prstGeom prst="rect">
            <a:avLst/>
          </a:prstGeom>
          <a:solidFill>
            <a:srgbClr val="EDF4FA"/>
          </a:solidFill>
          <a:ln/>
        </p:spPr>
      </p:sp>
      <p:sp>
        <p:nvSpPr>
          <p:cNvPr id="70" name="Text 68"/>
          <p:cNvSpPr txBox="1"/>
          <p:nvPr/>
        </p:nvSpPr>
        <p:spPr>
          <a:xfrm>
            <a:off x="658368" y="6144768"/>
            <a:ext cx="10927080" cy="56388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Ask Lincoln, Cadillac and Subaru St George what changed. Ask Hyundai St George, Audi Reno and VW Henderson what got in the way. Ask Audi Henderson, Mazda and Honda Flagstaff what they started this year.</a:t>
            </a:r>
            <a:endParaRPr lang="en-US" sz="1550" dirty="0"/>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Absorption?</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Fixed ops absorption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fixed ops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total store fixed expenses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How much of the whole store's fixed expenses, not just service and parts expenses, the service and parts gross pays for.</a:t>
            </a:r>
            <a:endParaRPr lang="en-US" sz="14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READING IT</a:t>
            </a:r>
            <a:endParaRPr lang="en-US" sz="1400" dirty="0"/>
          </a:p>
        </p:txBody>
      </p:sp>
      <p:sp>
        <p:nvSpPr>
          <p:cNvPr id="9" name="Shape 7"/>
          <p:cNvSpPr/>
          <p:nvPr/>
        </p:nvSpPr>
        <p:spPr>
          <a:xfrm>
            <a:off x="2286000" y="2340864"/>
            <a:ext cx="466801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At 100%  </a:t>
            </a:r>
            <a:pPr algn="ctr" indent="0" marL="0">
              <a:buNone/>
            </a:pPr>
            <a:r>
              <a:rPr lang="en-US" sz="1400" b="1" dirty="0">
                <a:solidFill>
                  <a:srgbClr val="0B2C4A"/>
                </a:solidFill>
                <a:latin typeface="Inter" pitchFamily="34" charset="0"/>
                <a:ea typeface="Inter" pitchFamily="34" charset="-122"/>
                <a:cs typeface="Inter" pitchFamily="34" charset="-120"/>
              </a:rPr>
              <a:t>fixed ops covers every fixed expense</a:t>
            </a:r>
            <a:endParaRPr lang="en-US" sz="1400" dirty="0"/>
          </a:p>
        </p:txBody>
      </p:sp>
      <p:sp>
        <p:nvSpPr>
          <p:cNvPr id="11" name="Shape 9"/>
          <p:cNvSpPr/>
          <p:nvPr/>
        </p:nvSpPr>
        <p:spPr>
          <a:xfrm>
            <a:off x="7063740" y="2340864"/>
            <a:ext cx="4668012" cy="457200"/>
          </a:xfrm>
          <a:prstGeom prst="rect">
            <a:avLst/>
          </a:prstGeom>
          <a:solidFill>
            <a:srgbClr val="FFFFFF"/>
          </a:solidFill>
          <a:ln w="9525">
            <a:solidFill>
              <a:srgbClr val="D9D9D9"/>
            </a:solidFill>
            <a:prstDash val="solid"/>
          </a:ln>
        </p:spPr>
      </p:sp>
      <p:sp>
        <p:nvSpPr>
          <p:cNvPr id="12" name="Text 10"/>
          <p:cNvSpPr txBox="1"/>
          <p:nvPr/>
        </p:nvSpPr>
        <p:spPr>
          <a:xfrm>
            <a:off x="713689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Group today  </a:t>
            </a:r>
            <a:pPr algn="ctr" indent="0" marL="0">
              <a:buNone/>
            </a:pPr>
            <a:r>
              <a:rPr lang="en-US" sz="1400" b="1" dirty="0">
                <a:solidFill>
                  <a:srgbClr val="0B2C4A"/>
                </a:solidFill>
                <a:latin typeface="Inter" pitchFamily="34" charset="0"/>
                <a:ea typeface="Inter" pitchFamily="34" charset="-122"/>
                <a:cs typeface="Inter" pitchFamily="34" charset="-120"/>
              </a:rPr>
              <a:t>78.1%</a:t>
            </a:r>
            <a:endParaRPr lang="en-US" sz="1400" dirty="0"/>
          </a:p>
        </p:txBody>
      </p:sp>
      <p:sp>
        <p:nvSpPr>
          <p:cNvPr id="13" name="Shape 11"/>
          <p:cNvSpPr/>
          <p:nvPr/>
        </p:nvSpPr>
        <p:spPr>
          <a:xfrm>
            <a:off x="457200" y="2907792"/>
            <a:ext cx="4343400" cy="3081528"/>
          </a:xfrm>
          <a:prstGeom prst="rect">
            <a:avLst/>
          </a:prstGeom>
          <a:solidFill>
            <a:srgbClr val="FFFFFF"/>
          </a:solidFill>
          <a:ln/>
        </p:spPr>
      </p:sp>
      <p:sp>
        <p:nvSpPr>
          <p:cNvPr id="14" name="Shape 12"/>
          <p:cNvSpPr/>
          <p:nvPr/>
        </p:nvSpPr>
        <p:spPr>
          <a:xfrm>
            <a:off x="4937760" y="2907792"/>
            <a:ext cx="6793992" cy="3081528"/>
          </a:xfrm>
          <a:prstGeom prst="rect">
            <a:avLst/>
          </a:prstGeom>
          <a:solidFill>
            <a:srgbClr val="FFFFFF"/>
          </a:solidFill>
          <a:ln/>
        </p:spPr>
      </p:sp>
      <p:sp>
        <p:nvSpPr>
          <p:cNvPr id="15" name="Text 13"/>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6" name="Text 14"/>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7" name="Text 15"/>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At 100%, the store covers its fixed costs before it sells a car.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protects the store when car sales slow.</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the clearest measure of fixed ops' value to the dealership.</a:t>
            </a:r>
            <a:endParaRPr lang="en-US" sz="1500" dirty="0"/>
          </a:p>
        </p:txBody>
      </p:sp>
      <p:sp>
        <p:nvSpPr>
          <p:cNvPr id="18" name="Shape 16"/>
          <p:cNvSpPr/>
          <p:nvPr/>
        </p:nvSpPr>
        <p:spPr>
          <a:xfrm>
            <a:off x="5138928" y="3410712"/>
            <a:ext cx="45720" cy="1133856"/>
          </a:xfrm>
          <a:prstGeom prst="rect">
            <a:avLst/>
          </a:prstGeom>
          <a:solidFill>
            <a:srgbClr val="2587C5"/>
          </a:solidFill>
          <a:ln/>
        </p:spPr>
      </p:sp>
      <p:sp>
        <p:nvSpPr>
          <p:cNvPr id="19" name="Text 17"/>
          <p:cNvSpPr txBox="1"/>
          <p:nvPr/>
        </p:nvSpPr>
        <p:spPr>
          <a:xfrm>
            <a:off x="5266944"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Fixed ops gross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Everything on the customer-pay slides: ROs, hours, ELR, margin</a:t>
            </a:r>
            <a:endParaRPr lang="en-US" sz="1400" dirty="0"/>
          </a:p>
        </p:txBody>
      </p:sp>
      <p:sp>
        <p:nvSpPr>
          <p:cNvPr id="20" name="Shape 18"/>
          <p:cNvSpPr/>
          <p:nvPr/>
        </p:nvSpPr>
        <p:spPr>
          <a:xfrm>
            <a:off x="8394192" y="3410712"/>
            <a:ext cx="45720" cy="1133856"/>
          </a:xfrm>
          <a:prstGeom prst="rect">
            <a:avLst/>
          </a:prstGeom>
          <a:solidFill>
            <a:srgbClr val="2587C5"/>
          </a:solidFill>
          <a:ln/>
        </p:spPr>
      </p:sp>
      <p:sp>
        <p:nvSpPr>
          <p:cNvPr id="21" name="Text 19"/>
          <p:cNvSpPr txBox="1"/>
          <p:nvPr/>
        </p:nvSpPr>
        <p:spPr>
          <a:xfrm>
            <a:off x="8522208"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Store fixed expenses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The whole store's rent, facility and other fixed costs</a:t>
            </a:r>
            <a:endParaRPr lang="en-US" sz="1400" dirty="0"/>
          </a:p>
        </p:txBody>
      </p:sp>
      <p:sp>
        <p:nvSpPr>
          <p:cNvPr id="22" name="Shape 20"/>
          <p:cNvSpPr/>
          <p:nvPr/>
        </p:nvSpPr>
        <p:spPr>
          <a:xfrm>
            <a:off x="5138928" y="4654296"/>
            <a:ext cx="45720" cy="1133856"/>
          </a:xfrm>
          <a:prstGeom prst="rect">
            <a:avLst/>
          </a:prstGeom>
          <a:solidFill>
            <a:srgbClr val="2587C5"/>
          </a:solidFill>
          <a:ln/>
        </p:spPr>
      </p:sp>
      <p:sp>
        <p:nvSpPr>
          <p:cNvPr id="23" name="Text 21"/>
          <p:cNvSpPr txBox="1"/>
          <p:nvPr/>
        </p:nvSpPr>
        <p:spPr>
          <a:xfrm>
            <a:off x="5266944"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Warranty and internal</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Gross from warranty and reconditioning counts too</a:t>
            </a:r>
            <a:endParaRPr lang="en-US" sz="1400" dirty="0"/>
          </a:p>
        </p:txBody>
      </p:sp>
      <p:sp>
        <p:nvSpPr>
          <p:cNvPr id="24" name="Shape 22"/>
          <p:cNvSpPr/>
          <p:nvPr/>
        </p:nvSpPr>
        <p:spPr>
          <a:xfrm>
            <a:off x="8394192" y="4654296"/>
            <a:ext cx="45720" cy="1133856"/>
          </a:xfrm>
          <a:prstGeom prst="rect">
            <a:avLst/>
          </a:prstGeom>
          <a:solidFill>
            <a:srgbClr val="2587C5"/>
          </a:solidFill>
          <a:ln/>
        </p:spPr>
      </p:sp>
      <p:sp>
        <p:nvSpPr>
          <p:cNvPr id="25" name="Text 23"/>
          <p:cNvSpPr txBox="1"/>
          <p:nvPr/>
        </p:nvSpPr>
        <p:spPr>
          <a:xfrm>
            <a:off x="8522208"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Counter and wholesale parts gross counts as well</a:t>
            </a:r>
            <a:endParaRPr lang="en-US" sz="1400" dirty="0"/>
          </a:p>
        </p:txBody>
      </p:sp>
      <p:sp>
        <p:nvSpPr>
          <p:cNvPr id="26" name="Shape 24"/>
          <p:cNvSpPr/>
          <p:nvPr/>
        </p:nvSpPr>
        <p:spPr>
          <a:xfrm>
            <a:off x="457200" y="6126480"/>
            <a:ext cx="11274552" cy="371856"/>
          </a:xfrm>
          <a:prstGeom prst="rect">
            <a:avLst/>
          </a:prstGeom>
          <a:solidFill>
            <a:srgbClr val="E6F6EE"/>
          </a:solidFill>
          <a:ln/>
        </p:spPr>
      </p:sp>
      <p:sp>
        <p:nvSpPr>
          <p:cNvPr id="27" name="Text 2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78.1% absorption, up 2.1 pts. Fixed gross grew 4.1%; fixed expenses 1.3%.</a:t>
            </a:r>
            <a:endParaRPr lang="en-US" sz="1600" dirty="0"/>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Absorption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76.0%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78.1%</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+2.1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+2.7%</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Ops Absorption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64236"/>
          </a:xfrm>
          <a:prstGeom prst="rect">
            <a:avLst/>
          </a:prstGeom>
          <a:solidFill>
            <a:srgbClr val="E6F6EE"/>
          </a:solidFill>
          <a:ln/>
        </p:spPr>
      </p:sp>
      <p:sp>
        <p:nvSpPr>
          <p:cNvPr id="30" name="Text 22"/>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Up 2.1 pts to 78.1%, ahead of 2025 in six of nine months. Fixed gross grew 4.1%; fixed expenses 1.3%.</a:t>
            </a:r>
            <a:endParaRPr lang="en-US" sz="1550" dirty="0"/>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Absorption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ABSORPTION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78.1%</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106.6%</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7" name="Shape 15"/>
          <p:cNvSpPr/>
          <p:nvPr/>
        </p:nvSpPr>
        <p:spPr>
          <a:xfrm>
            <a:off x="3008376" y="2146957"/>
            <a:ext cx="1625327"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103.6%</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1" name="Shape 19"/>
          <p:cNvSpPr/>
          <p:nvPr/>
        </p:nvSpPr>
        <p:spPr>
          <a:xfrm>
            <a:off x="3008376" y="2386853"/>
            <a:ext cx="1406928"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5" name="Shape 23"/>
          <p:cNvSpPr/>
          <p:nvPr/>
        </p:nvSpPr>
        <p:spPr>
          <a:xfrm>
            <a:off x="3008376" y="2626748"/>
            <a:ext cx="1323114"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29" name="Shape 27"/>
          <p:cNvSpPr/>
          <p:nvPr/>
        </p:nvSpPr>
        <p:spPr>
          <a:xfrm>
            <a:off x="3008376" y="2866644"/>
            <a:ext cx="1271788"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87.6%</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3" name="Shape 31"/>
          <p:cNvSpPr/>
          <p:nvPr/>
        </p:nvSpPr>
        <p:spPr>
          <a:xfrm>
            <a:off x="3008376" y="3106540"/>
            <a:ext cx="1243905"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7" name="Shape 35"/>
          <p:cNvSpPr/>
          <p:nvPr/>
        </p:nvSpPr>
        <p:spPr>
          <a:xfrm>
            <a:off x="3008376" y="3346435"/>
            <a:ext cx="1238289"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86.1%</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1" name="Shape 39"/>
          <p:cNvSpPr/>
          <p:nvPr/>
        </p:nvSpPr>
        <p:spPr>
          <a:xfrm>
            <a:off x="3008376" y="3586331"/>
            <a:ext cx="1236225"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86.0%</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5" name="Shape 43"/>
          <p:cNvSpPr/>
          <p:nvPr/>
        </p:nvSpPr>
        <p:spPr>
          <a:xfrm>
            <a:off x="3008376" y="3826226"/>
            <a:ext cx="1203167"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84.5%</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9" name="Shape 47"/>
          <p:cNvSpPr/>
          <p:nvPr/>
        </p:nvSpPr>
        <p:spPr>
          <a:xfrm>
            <a:off x="3008376" y="4066122"/>
            <a:ext cx="1188815"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83.8%</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53" name="Shape 51"/>
          <p:cNvSpPr/>
          <p:nvPr/>
        </p:nvSpPr>
        <p:spPr>
          <a:xfrm>
            <a:off x="3008376" y="4306017"/>
            <a:ext cx="1143609"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7" name="Shape 55"/>
          <p:cNvSpPr/>
          <p:nvPr/>
        </p:nvSpPr>
        <p:spPr>
          <a:xfrm>
            <a:off x="3008376" y="4545913"/>
            <a:ext cx="1136929"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61" name="Shape 59"/>
          <p:cNvSpPr/>
          <p:nvPr/>
        </p:nvSpPr>
        <p:spPr>
          <a:xfrm>
            <a:off x="3008376" y="4785808"/>
            <a:ext cx="1094886"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5" name="Shape 63"/>
          <p:cNvSpPr/>
          <p:nvPr/>
        </p:nvSpPr>
        <p:spPr>
          <a:xfrm>
            <a:off x="3008376" y="5025704"/>
            <a:ext cx="1073984"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9" name="Shape 67"/>
          <p:cNvSpPr/>
          <p:nvPr/>
        </p:nvSpPr>
        <p:spPr>
          <a:xfrm>
            <a:off x="3008376" y="5265599"/>
            <a:ext cx="1069793"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3" name="Shape 71"/>
          <p:cNvSpPr/>
          <p:nvPr/>
        </p:nvSpPr>
        <p:spPr>
          <a:xfrm>
            <a:off x="3008376" y="5505495"/>
            <a:ext cx="1044916"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77.3%</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77" name="Shape 75"/>
          <p:cNvSpPr/>
          <p:nvPr/>
        </p:nvSpPr>
        <p:spPr>
          <a:xfrm>
            <a:off x="3008376" y="5745390"/>
            <a:ext cx="1007984"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75.6%</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1" name="Shape 79"/>
          <p:cNvSpPr/>
          <p:nvPr/>
        </p:nvSpPr>
        <p:spPr>
          <a:xfrm>
            <a:off x="8558784" y="1907062"/>
            <a:ext cx="1007915"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75.6%</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85" name="Shape 83"/>
          <p:cNvSpPr/>
          <p:nvPr/>
        </p:nvSpPr>
        <p:spPr>
          <a:xfrm>
            <a:off x="8558784" y="2146957"/>
            <a:ext cx="979751"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74.4%</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89" name="Shape 87"/>
          <p:cNvSpPr/>
          <p:nvPr/>
        </p:nvSpPr>
        <p:spPr>
          <a:xfrm>
            <a:off x="8558784" y="2386853"/>
            <a:ext cx="956432"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73.3%</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93" name="Shape 91"/>
          <p:cNvSpPr/>
          <p:nvPr/>
        </p:nvSpPr>
        <p:spPr>
          <a:xfrm>
            <a:off x="8558784" y="2626748"/>
            <a:ext cx="897553"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7" name="Shape 95"/>
          <p:cNvSpPr/>
          <p:nvPr/>
        </p:nvSpPr>
        <p:spPr>
          <a:xfrm>
            <a:off x="8558784" y="2866644"/>
            <a:ext cx="890311"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1" name="Shape 99"/>
          <p:cNvSpPr/>
          <p:nvPr/>
        </p:nvSpPr>
        <p:spPr>
          <a:xfrm>
            <a:off x="8558784" y="3106540"/>
            <a:ext cx="88351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70.0%</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05" name="Shape 103"/>
          <p:cNvSpPr/>
          <p:nvPr/>
        </p:nvSpPr>
        <p:spPr>
          <a:xfrm>
            <a:off x="8558784" y="3346435"/>
            <a:ext cx="860120"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68.9%</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9" name="Shape 107"/>
          <p:cNvSpPr/>
          <p:nvPr/>
        </p:nvSpPr>
        <p:spPr>
          <a:xfrm>
            <a:off x="8558784" y="3586331"/>
            <a:ext cx="791399"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13" name="Shape 111"/>
          <p:cNvSpPr/>
          <p:nvPr/>
        </p:nvSpPr>
        <p:spPr>
          <a:xfrm>
            <a:off x="8558784" y="3826226"/>
            <a:ext cx="774373"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65.1%</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7" name="Shape 115"/>
          <p:cNvSpPr/>
          <p:nvPr/>
        </p:nvSpPr>
        <p:spPr>
          <a:xfrm>
            <a:off x="8558784" y="4066122"/>
            <a:ext cx="743729"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63.7%</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1" name="Shape 119"/>
          <p:cNvSpPr/>
          <p:nvPr/>
        </p:nvSpPr>
        <p:spPr>
          <a:xfrm>
            <a:off x="8558784" y="4306017"/>
            <a:ext cx="73022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63.1%</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5" name="Shape 123"/>
          <p:cNvSpPr/>
          <p:nvPr/>
        </p:nvSpPr>
        <p:spPr>
          <a:xfrm>
            <a:off x="8558784" y="4545913"/>
            <a:ext cx="660247"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9" name="Shape 127"/>
          <p:cNvSpPr/>
          <p:nvPr/>
        </p:nvSpPr>
        <p:spPr>
          <a:xfrm>
            <a:off x="8558784" y="4785808"/>
            <a:ext cx="601492"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57.2%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58784" y="5025704"/>
            <a:ext cx="531644"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54.1%</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37" name="Shape 135"/>
          <p:cNvSpPr/>
          <p:nvPr/>
        </p:nvSpPr>
        <p:spPr>
          <a:xfrm>
            <a:off x="8558784" y="5265599"/>
            <a:ext cx="471852"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51.4%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05495"/>
            <a:ext cx="35800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46.2%</a:t>
            </a:r>
            <a:endParaRPr lang="en-US" sz="1200" dirty="0"/>
          </a:p>
        </p:txBody>
      </p:sp>
      <p:sp>
        <p:nvSpPr>
          <p:cNvPr id="143" name="Shape 141"/>
          <p:cNvSpPr/>
          <p:nvPr/>
        </p:nvSpPr>
        <p:spPr>
          <a:xfrm>
            <a:off x="4063635" y="1847088"/>
            <a:ext cx="14630" cy="4078224"/>
          </a:xfrm>
          <a:prstGeom prst="rect">
            <a:avLst/>
          </a:prstGeom>
          <a:solidFill>
            <a:srgbClr val="0B2C4A"/>
          </a:solidFill>
          <a:ln/>
        </p:spPr>
      </p:sp>
      <p:sp>
        <p:nvSpPr>
          <p:cNvPr id="144" name="Shape 142"/>
          <p:cNvSpPr/>
          <p:nvPr/>
        </p:nvSpPr>
        <p:spPr>
          <a:xfrm>
            <a:off x="9614043"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15 of 33 stores at or above the 78.1% group, led by Audi Henderson at 106.6%. Hyundai Prescott is lowest at 46.2%.</a:t>
            </a:r>
            <a:endParaRPr lang="en-US" sz="1600" dirty="0"/>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Absorption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ABSORPTION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+2.1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 name="Shape 11"/>
          <p:cNvSpPr/>
          <p:nvPr/>
        </p:nvSpPr>
        <p:spPr>
          <a:xfrm>
            <a:off x="3785616" y="1911860"/>
            <a:ext cx="716268"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+16.1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7" name="Shape 15"/>
          <p:cNvSpPr/>
          <p:nvPr/>
        </p:nvSpPr>
        <p:spPr>
          <a:xfrm>
            <a:off x="3785616" y="2151755"/>
            <a:ext cx="425726"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+9.5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1" name="Shape 19"/>
          <p:cNvSpPr/>
          <p:nvPr/>
        </p:nvSpPr>
        <p:spPr>
          <a:xfrm>
            <a:off x="3785616" y="2391651"/>
            <a:ext cx="423929"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+9.5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25" name="Shape 23"/>
          <p:cNvSpPr/>
          <p:nvPr/>
        </p:nvSpPr>
        <p:spPr>
          <a:xfrm>
            <a:off x="3785616" y="2631546"/>
            <a:ext cx="249780"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+5.6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29" name="Shape 27"/>
          <p:cNvSpPr/>
          <p:nvPr/>
        </p:nvSpPr>
        <p:spPr>
          <a:xfrm>
            <a:off x="3785616" y="2871442"/>
            <a:ext cx="241902"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+5.4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3" name="Shape 31"/>
          <p:cNvSpPr/>
          <p:nvPr/>
        </p:nvSpPr>
        <p:spPr>
          <a:xfrm>
            <a:off x="3785616" y="3111337"/>
            <a:ext cx="234433"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+5.3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7" name="Shape 35"/>
          <p:cNvSpPr/>
          <p:nvPr/>
        </p:nvSpPr>
        <p:spPr>
          <a:xfrm>
            <a:off x="3785616" y="3351233"/>
            <a:ext cx="234127"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+5.2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3785616" y="3591128"/>
            <a:ext cx="23051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+5.2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5" name="Shape 43"/>
          <p:cNvSpPr/>
          <p:nvPr/>
        </p:nvSpPr>
        <p:spPr>
          <a:xfrm>
            <a:off x="3785616" y="3831024"/>
            <a:ext cx="227415"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+5.1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9" name="Shape 47"/>
          <p:cNvSpPr/>
          <p:nvPr/>
        </p:nvSpPr>
        <p:spPr>
          <a:xfrm>
            <a:off x="3785616" y="4070920"/>
            <a:ext cx="222558"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+5.0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785616" y="4310815"/>
            <a:ext cx="220801"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7" name="Shape 55"/>
          <p:cNvSpPr/>
          <p:nvPr/>
        </p:nvSpPr>
        <p:spPr>
          <a:xfrm>
            <a:off x="3785616" y="4550711"/>
            <a:ext cx="212368"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+4.8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1" name="Shape 59"/>
          <p:cNvSpPr/>
          <p:nvPr/>
        </p:nvSpPr>
        <p:spPr>
          <a:xfrm>
            <a:off x="3785616" y="4790606"/>
            <a:ext cx="178083"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+4.0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5" name="Shape 63"/>
          <p:cNvSpPr/>
          <p:nvPr/>
        </p:nvSpPr>
        <p:spPr>
          <a:xfrm>
            <a:off x="3785616" y="5030502"/>
            <a:ext cx="171975"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69" name="Shape 67"/>
          <p:cNvSpPr/>
          <p:nvPr/>
        </p:nvSpPr>
        <p:spPr>
          <a:xfrm>
            <a:off x="3785616" y="5270397"/>
            <a:ext cx="17072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73" name="Shape 71"/>
          <p:cNvSpPr/>
          <p:nvPr/>
        </p:nvSpPr>
        <p:spPr>
          <a:xfrm>
            <a:off x="3785616" y="5510293"/>
            <a:ext cx="145782"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7" name="Shape 75"/>
          <p:cNvSpPr/>
          <p:nvPr/>
        </p:nvSpPr>
        <p:spPr>
          <a:xfrm>
            <a:off x="3785616" y="5750188"/>
            <a:ext cx="144022"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1" name="Shape 79"/>
          <p:cNvSpPr/>
          <p:nvPr/>
        </p:nvSpPr>
        <p:spPr>
          <a:xfrm>
            <a:off x="9336024" y="1911860"/>
            <a:ext cx="111949"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5" name="Shape 83"/>
          <p:cNvSpPr/>
          <p:nvPr/>
        </p:nvSpPr>
        <p:spPr>
          <a:xfrm>
            <a:off x="9336024" y="2151755"/>
            <a:ext cx="76399"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9" name="Shape 87"/>
          <p:cNvSpPr/>
          <p:nvPr/>
        </p:nvSpPr>
        <p:spPr>
          <a:xfrm>
            <a:off x="9336024" y="2391651"/>
            <a:ext cx="71229"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3" name="Shape 91"/>
          <p:cNvSpPr/>
          <p:nvPr/>
        </p:nvSpPr>
        <p:spPr>
          <a:xfrm>
            <a:off x="9336024" y="2631546"/>
            <a:ext cx="27863"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+0.6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97" name="Shape 95"/>
          <p:cNvSpPr/>
          <p:nvPr/>
        </p:nvSpPr>
        <p:spPr>
          <a:xfrm>
            <a:off x="9336024" y="2871442"/>
            <a:ext cx="1333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1" name="Shape 99"/>
          <p:cNvSpPr/>
          <p:nvPr/>
        </p:nvSpPr>
        <p:spPr>
          <a:xfrm>
            <a:off x="9336024" y="3111337"/>
            <a:ext cx="1280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5" name="Shape 103"/>
          <p:cNvSpPr/>
          <p:nvPr/>
        </p:nvSpPr>
        <p:spPr>
          <a:xfrm>
            <a:off x="9330933" y="3351233"/>
            <a:ext cx="12802"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9" name="Shape 107"/>
          <p:cNvSpPr/>
          <p:nvPr/>
        </p:nvSpPr>
        <p:spPr>
          <a:xfrm>
            <a:off x="9329910" y="3591128"/>
            <a:ext cx="12802"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325626" y="3831024"/>
            <a:ext cx="12802"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−0.2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17" name="Shape 115"/>
          <p:cNvSpPr/>
          <p:nvPr/>
        </p:nvSpPr>
        <p:spPr>
          <a:xfrm>
            <a:off x="9288072" y="4070920"/>
            <a:ext cx="47952"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1" name="Shape 119"/>
          <p:cNvSpPr/>
          <p:nvPr/>
        </p:nvSpPr>
        <p:spPr>
          <a:xfrm>
            <a:off x="9286667" y="4310815"/>
            <a:ext cx="49357"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5" name="Shape 123"/>
          <p:cNvSpPr/>
          <p:nvPr/>
        </p:nvSpPr>
        <p:spPr>
          <a:xfrm>
            <a:off x="9232720" y="4550711"/>
            <a:ext cx="103304"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9" name="Shape 127"/>
          <p:cNvSpPr/>
          <p:nvPr/>
        </p:nvSpPr>
        <p:spPr>
          <a:xfrm>
            <a:off x="9063013" y="4790606"/>
            <a:ext cx="273011"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3" name="Shape 131"/>
          <p:cNvSpPr/>
          <p:nvPr/>
        </p:nvSpPr>
        <p:spPr>
          <a:xfrm>
            <a:off x="8903742" y="5030502"/>
            <a:ext cx="432282"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−9.7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8884924" y="5270397"/>
            <a:ext cx="451100"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−10.1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−17.4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23 of 33 stores raised absorption, led by Lincoln at +16.1 pts to 59.9%. 10 declined; VW St George fell most at −17.4 pts.</a:t>
            </a:r>
            <a:endParaRPr lang="en-US" sz="1600" dirty="0"/>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Absorption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43.8%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59.9%</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+16.1 pts</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86.1%</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+9.5 pts</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67.8%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77.3%</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+9.5 pts</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72.8%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78.4%</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+5.6 pts</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70.2%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75.6%</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+5.4 pts</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71.5%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54.1%</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−17.4 pts</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75.9%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65.8%</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−10.1 pts</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93.5%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83.8%</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−9.7 pts</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109.7%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103.6%</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−6.1 pts</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65.4%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63.1%</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−2.3 pts</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66.7%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82.9%</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+16.3 pts</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69.5%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84.8%</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+15.3 pts</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62.0%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73.1%</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+11.1 pts</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83.6%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94.4%</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+10.7 pts</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74.2%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84.2%</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+10.0 pts</a:t>
            </a:r>
            <a:endParaRPr lang="en-US" sz="1600" dirty="0"/>
          </a:p>
        </p:txBody>
      </p:sp>
      <p:sp>
        <p:nvSpPr>
          <p:cNvPr id="69" name="Shape 67"/>
          <p:cNvSpPr/>
          <p:nvPr/>
        </p:nvSpPr>
        <p:spPr>
          <a:xfrm>
            <a:off x="457200" y="6126480"/>
            <a:ext cx="11274552" cy="615696"/>
          </a:xfrm>
          <a:prstGeom prst="rect">
            <a:avLst/>
          </a:prstGeom>
          <a:solidFill>
            <a:srgbClr val="EDF4FA"/>
          </a:solidFill>
          <a:ln/>
        </p:spPr>
      </p:sp>
      <p:sp>
        <p:nvSpPr>
          <p:cNvPr id="70"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Lincoln, Cadillac and LR Reno what changed. Ask VW St George, Kia St George and VW Henderson what got in the way. Ask LR Henderson, LR Reno and Kia St George what they started this year.</a:t>
            </a:r>
            <a:endParaRPr lang="en-US" sz="1600" dirty="0"/>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Net to Gross?</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Net to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department profit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department gross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much of each gross dollar the department keeps after its own expenses.</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the true measure of how the department performs.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Gross is what we make; net is what we keep.</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Gross can grow while net falls if expenses grow faster.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ties staffing and pay plans to results.</a:t>
            </a:r>
            <a:endParaRPr lang="en-US" sz="1500" dirty="0"/>
          </a:p>
        </p:txBody>
      </p:sp>
      <p:sp>
        <p:nvSpPr>
          <p:cNvPr id="13" name="Shape 11"/>
          <p:cNvSpPr/>
          <p:nvPr/>
        </p:nvSpPr>
        <p:spPr>
          <a:xfrm>
            <a:off x="5138928" y="2843784"/>
            <a:ext cx="45720" cy="1417320"/>
          </a:xfrm>
          <a:prstGeom prst="rect">
            <a:avLst/>
          </a:prstGeom>
          <a:solidFill>
            <a:srgbClr val="2587C5"/>
          </a:solidFill>
          <a:ln/>
        </p:spPr>
      </p:sp>
      <p:sp>
        <p:nvSpPr>
          <p:cNvPr id="14" name="Text 12"/>
          <p:cNvSpPr txBox="1"/>
          <p:nvPr/>
        </p:nvSpPr>
        <p:spPr>
          <a:xfrm>
            <a:off x="5266944" y="2843784"/>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Personnel expense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Headcount and pay plans: the biggest line</a:t>
            </a:r>
            <a:endParaRPr lang="en-US" sz="1400" dirty="0"/>
          </a:p>
        </p:txBody>
      </p:sp>
      <p:sp>
        <p:nvSpPr>
          <p:cNvPr id="15" name="Shape 13"/>
          <p:cNvSpPr/>
          <p:nvPr/>
        </p:nvSpPr>
        <p:spPr>
          <a:xfrm>
            <a:off x="8394192" y="2843784"/>
            <a:ext cx="45720" cy="1417320"/>
          </a:xfrm>
          <a:prstGeom prst="rect">
            <a:avLst/>
          </a:prstGeom>
          <a:solidFill>
            <a:srgbClr val="2587C5"/>
          </a:solidFill>
          <a:ln/>
        </p:spPr>
      </p:sp>
      <p:sp>
        <p:nvSpPr>
          <p:cNvPr id="16" name="Text 14"/>
          <p:cNvSpPr txBox="1"/>
          <p:nvPr/>
        </p:nvSpPr>
        <p:spPr>
          <a:xfrm>
            <a:off x="8522208" y="2843784"/>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Semi-fixed expenses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Supplies, policy, training, equipment</a:t>
            </a:r>
            <a:endParaRPr lang="en-US" sz="1400" dirty="0"/>
          </a:p>
        </p:txBody>
      </p:sp>
      <p:sp>
        <p:nvSpPr>
          <p:cNvPr id="17" name="Shape 15"/>
          <p:cNvSpPr/>
          <p:nvPr/>
        </p:nvSpPr>
        <p:spPr>
          <a:xfrm>
            <a:off x="5138928" y="4370832"/>
            <a:ext cx="45720" cy="1417320"/>
          </a:xfrm>
          <a:prstGeom prst="rect">
            <a:avLst/>
          </a:prstGeom>
          <a:solidFill>
            <a:srgbClr val="2587C5"/>
          </a:solidFill>
          <a:ln/>
        </p:spPr>
      </p:sp>
      <p:sp>
        <p:nvSpPr>
          <p:cNvPr id="18" name="Text 16"/>
          <p:cNvSpPr txBox="1"/>
          <p:nvPr/>
        </p:nvSpPr>
        <p:spPr>
          <a:xfrm>
            <a:off x="5266944" y="4370832"/>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Policy and adjustments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Goodwill and comebacks charged to the department</a:t>
            </a:r>
            <a:endParaRPr lang="en-US" sz="1400" dirty="0"/>
          </a:p>
        </p:txBody>
      </p:sp>
      <p:sp>
        <p:nvSpPr>
          <p:cNvPr id="19" name="Shape 17"/>
          <p:cNvSpPr/>
          <p:nvPr/>
        </p:nvSpPr>
        <p:spPr>
          <a:xfrm>
            <a:off x="8394192" y="4370832"/>
            <a:ext cx="45720" cy="1417320"/>
          </a:xfrm>
          <a:prstGeom prst="rect">
            <a:avLst/>
          </a:prstGeom>
          <a:solidFill>
            <a:srgbClr val="2587C5"/>
          </a:solidFill>
          <a:ln/>
        </p:spPr>
      </p:sp>
      <p:sp>
        <p:nvSpPr>
          <p:cNvPr id="20" name="Text 18"/>
          <p:cNvSpPr txBox="1"/>
          <p:nvPr/>
        </p:nvSpPr>
        <p:spPr>
          <a:xfrm>
            <a:off x="8522208" y="4370832"/>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Gross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Grow gross faster than expense</a:t>
            </a:r>
            <a:endParaRPr lang="en-US" sz="1400" dirty="0"/>
          </a:p>
        </p:txBody>
      </p:sp>
      <p:sp>
        <p:nvSpPr>
          <p:cNvPr id="21" name="Shape 19"/>
          <p:cNvSpPr/>
          <p:nvPr/>
        </p:nvSpPr>
        <p:spPr>
          <a:xfrm>
            <a:off x="457200" y="6126480"/>
            <a:ext cx="11274552" cy="371856"/>
          </a:xfrm>
          <a:prstGeom prst="rect">
            <a:avLst/>
          </a:prstGeom>
          <a:solidFill>
            <a:srgbClr val="EDF4FA"/>
          </a:solidFill>
          <a:ln/>
        </p:spPr>
      </p:sp>
      <p:sp>
        <p:nvSpPr>
          <p:cNvPr id="22" name="Text 2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service 21.8%, up 2.9 pts; parts 36.7%, down 0.4 pts.</a:t>
            </a:r>
            <a:endParaRPr lang="en-US" sz="1600" dirty="0"/>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to Gross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21.8%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+2.9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+15.6%</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Service Net to Gross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356616"/>
          </a:xfrm>
          <a:prstGeom prst="rect">
            <a:avLst/>
          </a:prstGeom>
          <a:solidFill>
            <a:srgbClr val="E6F6EE"/>
          </a:solidFill>
          <a:ln/>
        </p:spPr>
      </p:sp>
      <p:sp>
        <p:nvSpPr>
          <p:cNvPr id="28" name="Text 22"/>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Up 2.9 pts to 21.8%, ahead of 2025 in all nine months. Department profit grew 21.6% on 5.2% more gross.</a:t>
            </a:r>
            <a:endParaRPr lang="en-US" sz="1500" dirty="0"/>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NET TO GROSS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21.8%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3" name="Shape 11"/>
          <p:cNvSpPr/>
          <p:nvPr/>
        </p:nvSpPr>
        <p:spPr>
          <a:xfrm>
            <a:off x="3872946" y="1907062"/>
            <a:ext cx="82707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7" name="Shape 15"/>
          <p:cNvSpPr/>
          <p:nvPr/>
        </p:nvSpPr>
        <p:spPr>
          <a:xfrm>
            <a:off x="3872946" y="2146957"/>
            <a:ext cx="741210"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38.6%</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1" name="Shape 19"/>
          <p:cNvSpPr/>
          <p:nvPr/>
        </p:nvSpPr>
        <p:spPr>
          <a:xfrm>
            <a:off x="3872946" y="2386853"/>
            <a:ext cx="733821"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38.2%</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5" name="Shape 23"/>
          <p:cNvSpPr/>
          <p:nvPr/>
        </p:nvSpPr>
        <p:spPr>
          <a:xfrm>
            <a:off x="3872946" y="2626748"/>
            <a:ext cx="712087"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37.1%</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9" name="Shape 27"/>
          <p:cNvSpPr/>
          <p:nvPr/>
        </p:nvSpPr>
        <p:spPr>
          <a:xfrm>
            <a:off x="3872946" y="2866644"/>
            <a:ext cx="655726"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3" name="Shape 31"/>
          <p:cNvSpPr/>
          <p:nvPr/>
        </p:nvSpPr>
        <p:spPr>
          <a:xfrm>
            <a:off x="3872946" y="3106540"/>
            <a:ext cx="566887"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29.5%</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37" name="Shape 35"/>
          <p:cNvSpPr/>
          <p:nvPr/>
        </p:nvSpPr>
        <p:spPr>
          <a:xfrm>
            <a:off x="3872946" y="3346435"/>
            <a:ext cx="539181"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28.1%</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872946" y="3586331"/>
            <a:ext cx="521670"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27.2%</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5" name="Shape 43"/>
          <p:cNvSpPr/>
          <p:nvPr/>
        </p:nvSpPr>
        <p:spPr>
          <a:xfrm>
            <a:off x="3872946" y="3826226"/>
            <a:ext cx="51622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26.9%</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9" name="Shape 47"/>
          <p:cNvSpPr/>
          <p:nvPr/>
        </p:nvSpPr>
        <p:spPr>
          <a:xfrm>
            <a:off x="3872946" y="4066122"/>
            <a:ext cx="486582"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25.3%</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53" name="Shape 51"/>
          <p:cNvSpPr/>
          <p:nvPr/>
        </p:nvSpPr>
        <p:spPr>
          <a:xfrm>
            <a:off x="3872946" y="4306017"/>
            <a:ext cx="419144" cy="119948"/>
          </a:xfrm>
          <a:prstGeom prst="rect">
            <a:avLst/>
          </a:prstGeom>
          <a:solidFill>
            <a:srgbClr val="C2352F"/>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57" name="Shape 55"/>
          <p:cNvSpPr/>
          <p:nvPr/>
        </p:nvSpPr>
        <p:spPr>
          <a:xfrm>
            <a:off x="3872946" y="4545913"/>
            <a:ext cx="413606" cy="119948"/>
          </a:xfrm>
          <a:prstGeom prst="rect">
            <a:avLst/>
          </a:prstGeom>
          <a:solidFill>
            <a:srgbClr val="C2352F"/>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1" name="Shape 59"/>
          <p:cNvSpPr/>
          <p:nvPr/>
        </p:nvSpPr>
        <p:spPr>
          <a:xfrm>
            <a:off x="3872946" y="4785808"/>
            <a:ext cx="387517"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20.2%</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5" name="Shape 63"/>
          <p:cNvSpPr/>
          <p:nvPr/>
        </p:nvSpPr>
        <p:spPr>
          <a:xfrm>
            <a:off x="3872946" y="5025704"/>
            <a:ext cx="372520"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19.4%</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872946" y="5265599"/>
            <a:ext cx="370433"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19.3%</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3" name="Shape 71"/>
          <p:cNvSpPr/>
          <p:nvPr/>
        </p:nvSpPr>
        <p:spPr>
          <a:xfrm>
            <a:off x="3872946" y="5505495"/>
            <a:ext cx="362889"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18.9%</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7" name="Shape 75"/>
          <p:cNvSpPr/>
          <p:nvPr/>
        </p:nvSpPr>
        <p:spPr>
          <a:xfrm>
            <a:off x="3872946" y="5745390"/>
            <a:ext cx="347211"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81" name="Shape 79"/>
          <p:cNvSpPr/>
          <p:nvPr/>
        </p:nvSpPr>
        <p:spPr>
          <a:xfrm>
            <a:off x="9423354" y="1907062"/>
            <a:ext cx="307434"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16.0%</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5" name="Shape 83"/>
          <p:cNvSpPr/>
          <p:nvPr/>
        </p:nvSpPr>
        <p:spPr>
          <a:xfrm>
            <a:off x="9423354" y="2146957"/>
            <a:ext cx="299427"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15.6%</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9423354" y="2386853"/>
            <a:ext cx="228054"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11.9%</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3" name="Shape 91"/>
          <p:cNvSpPr/>
          <p:nvPr/>
        </p:nvSpPr>
        <p:spPr>
          <a:xfrm>
            <a:off x="9423354" y="2626748"/>
            <a:ext cx="226811"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7" name="Shape 95"/>
          <p:cNvSpPr/>
          <p:nvPr/>
        </p:nvSpPr>
        <p:spPr>
          <a:xfrm>
            <a:off x="9423354" y="2866644"/>
            <a:ext cx="150781"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1" name="Shape 99"/>
          <p:cNvSpPr/>
          <p:nvPr/>
        </p:nvSpPr>
        <p:spPr>
          <a:xfrm>
            <a:off x="9423354" y="3106540"/>
            <a:ext cx="98956"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05" name="Shape 103"/>
          <p:cNvSpPr/>
          <p:nvPr/>
        </p:nvSpPr>
        <p:spPr>
          <a:xfrm>
            <a:off x="9423354" y="3346435"/>
            <a:ext cx="92745"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4.8%</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9" name="Shape 107"/>
          <p:cNvSpPr/>
          <p:nvPr/>
        </p:nvSpPr>
        <p:spPr>
          <a:xfrm>
            <a:off x="9423354" y="3586331"/>
            <a:ext cx="72080"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423354" y="3826226"/>
            <a:ext cx="68131"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9362469" y="4066122"/>
            <a:ext cx="60885"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1" name="Shape 119"/>
          <p:cNvSpPr/>
          <p:nvPr/>
        </p:nvSpPr>
        <p:spPr>
          <a:xfrm>
            <a:off x="9301150" y="4306017"/>
            <a:ext cx="12220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5" name="Shape 123"/>
          <p:cNvSpPr/>
          <p:nvPr/>
        </p:nvSpPr>
        <p:spPr>
          <a:xfrm>
            <a:off x="9157477" y="4545913"/>
            <a:ext cx="265877"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9147151" y="4785808"/>
            <a:ext cx="276203"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3" name="Shape 131"/>
          <p:cNvSpPr/>
          <p:nvPr/>
        </p:nvSpPr>
        <p:spPr>
          <a:xfrm>
            <a:off x="9054444" y="5025704"/>
            <a:ext cx="368910"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-19.2%</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8939232" y="5265599"/>
            <a:ext cx="484122"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1" name="Shape 139"/>
          <p:cNvSpPr/>
          <p:nvPr/>
        </p:nvSpPr>
        <p:spPr>
          <a:xfrm>
            <a:off x="8691149" y="5505495"/>
            <a:ext cx="73220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-38.1%</a:t>
            </a:r>
            <a:endParaRPr lang="en-US" sz="1200" dirty="0"/>
          </a:p>
        </p:txBody>
      </p:sp>
      <p:sp>
        <p:nvSpPr>
          <p:cNvPr id="143" name="Shape 141"/>
          <p:cNvSpPr/>
          <p:nvPr/>
        </p:nvSpPr>
        <p:spPr>
          <a:xfrm>
            <a:off x="3868374" y="1847088"/>
            <a:ext cx="9144" cy="4078224"/>
          </a:xfrm>
          <a:prstGeom prst="rect">
            <a:avLst/>
          </a:prstGeom>
          <a:solidFill>
            <a:srgbClr val="9AA3AD"/>
          </a:solidFill>
          <a:ln/>
        </p:spPr>
      </p:sp>
      <p:sp>
        <p:nvSpPr>
          <p:cNvPr id="144" name="Shape 142"/>
          <p:cNvSpPr/>
          <p:nvPr/>
        </p:nvSpPr>
        <p:spPr>
          <a:xfrm>
            <a:off x="4285058" y="1847088"/>
            <a:ext cx="14630" cy="4078224"/>
          </a:xfrm>
          <a:prstGeom prst="rect">
            <a:avLst/>
          </a:prstGeom>
          <a:solidFill>
            <a:srgbClr val="0B2C4A"/>
          </a:solidFill>
          <a:ln/>
        </p:spPr>
      </p:sp>
      <p:sp>
        <p:nvSpPr>
          <p:cNvPr id="145" name="Shape 143"/>
          <p:cNvSpPr/>
          <p:nvPr/>
        </p:nvSpPr>
        <p:spPr>
          <a:xfrm>
            <a:off x="9418782" y="1847088"/>
            <a:ext cx="9144" cy="4078224"/>
          </a:xfrm>
          <a:prstGeom prst="rect">
            <a:avLst/>
          </a:prstGeom>
          <a:solidFill>
            <a:srgbClr val="9AA3AD"/>
          </a:solidFill>
          <a:ln/>
        </p:spPr>
      </p:sp>
      <p:sp>
        <p:nvSpPr>
          <p:cNvPr id="146" name="Shape 144"/>
          <p:cNvSpPr/>
          <p:nvPr/>
        </p:nvSpPr>
        <p:spPr>
          <a:xfrm>
            <a:off x="9835466" y="1847088"/>
            <a:ext cx="14630" cy="4078224"/>
          </a:xfrm>
          <a:prstGeom prst="rect">
            <a:avLst/>
          </a:prstGeom>
          <a:solidFill>
            <a:srgbClr val="0B2C4A"/>
          </a:solidFill>
          <a:ln/>
        </p:spPr>
      </p:sp>
      <p:sp>
        <p:nvSpPr>
          <p:cNvPr id="147" name="Shape 145"/>
          <p:cNvSpPr/>
          <p:nvPr/>
        </p:nvSpPr>
        <p:spPr>
          <a:xfrm>
            <a:off x="6085332" y="1847088"/>
            <a:ext cx="10973" cy="4078224"/>
          </a:xfrm>
          <a:prstGeom prst="rect">
            <a:avLst/>
          </a:prstGeom>
          <a:solidFill>
            <a:srgbClr val="D9D9D9"/>
          </a:solidFill>
          <a:ln/>
        </p:spPr>
      </p:sp>
      <p:sp>
        <p:nvSpPr>
          <p:cNvPr id="148" name="Shape 146"/>
          <p:cNvSpPr/>
          <p:nvPr/>
        </p:nvSpPr>
        <p:spPr>
          <a:xfrm>
            <a:off x="457200" y="6126480"/>
            <a:ext cx="11274552" cy="341376"/>
          </a:xfrm>
          <a:prstGeom prst="rect">
            <a:avLst/>
          </a:prstGeom>
          <a:solidFill>
            <a:srgbClr val="EDF4FA"/>
          </a:solidFill>
          <a:ln/>
        </p:spPr>
      </p:sp>
      <p:sp>
        <p:nvSpPr>
          <p:cNvPr id="149" name="Text 147"/>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10 of 33 stores at or above the 21.8% group, led by Honda Henderson at 43.0%. GMC Prescott is lowest at -38.1%.</a:t>
            </a:r>
            <a:endParaRPr lang="en-US" sz="1400" dirty="0"/>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NET TO GROSS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+2.9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+33.5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7" name="Shape 15"/>
          <p:cNvSpPr/>
          <p:nvPr/>
        </p:nvSpPr>
        <p:spPr>
          <a:xfrm>
            <a:off x="3785616" y="2151755"/>
            <a:ext cx="522301"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+22.5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1" name="Shape 19"/>
          <p:cNvSpPr/>
          <p:nvPr/>
        </p:nvSpPr>
        <p:spPr>
          <a:xfrm>
            <a:off x="3785616" y="2391651"/>
            <a:ext cx="466019"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+20.1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5" name="Shape 23"/>
          <p:cNvSpPr/>
          <p:nvPr/>
        </p:nvSpPr>
        <p:spPr>
          <a:xfrm>
            <a:off x="3785616" y="2631546"/>
            <a:ext cx="318357"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+13.7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9" name="Shape 27"/>
          <p:cNvSpPr/>
          <p:nvPr/>
        </p:nvSpPr>
        <p:spPr>
          <a:xfrm>
            <a:off x="3785616" y="2871442"/>
            <a:ext cx="277139"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+11.9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33" name="Shape 31"/>
          <p:cNvSpPr/>
          <p:nvPr/>
        </p:nvSpPr>
        <p:spPr>
          <a:xfrm>
            <a:off x="3785616" y="3111337"/>
            <a:ext cx="194030"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37" name="Shape 35"/>
          <p:cNvSpPr/>
          <p:nvPr/>
        </p:nvSpPr>
        <p:spPr>
          <a:xfrm>
            <a:off x="3785616" y="3351233"/>
            <a:ext cx="183450"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1" name="Shape 39"/>
          <p:cNvSpPr/>
          <p:nvPr/>
        </p:nvSpPr>
        <p:spPr>
          <a:xfrm>
            <a:off x="3785616" y="3591128"/>
            <a:ext cx="169078"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5" name="Shape 43"/>
          <p:cNvSpPr/>
          <p:nvPr/>
        </p:nvSpPr>
        <p:spPr>
          <a:xfrm>
            <a:off x="3785616" y="3831024"/>
            <a:ext cx="164481"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+7.1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49" name="Shape 47"/>
          <p:cNvSpPr/>
          <p:nvPr/>
        </p:nvSpPr>
        <p:spPr>
          <a:xfrm>
            <a:off x="3785616" y="4070920"/>
            <a:ext cx="146713"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+6.3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3" name="Shape 51"/>
          <p:cNvSpPr/>
          <p:nvPr/>
        </p:nvSpPr>
        <p:spPr>
          <a:xfrm>
            <a:off x="3785616" y="4310815"/>
            <a:ext cx="143918"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+6.2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7" name="Shape 55"/>
          <p:cNvSpPr/>
          <p:nvPr/>
        </p:nvSpPr>
        <p:spPr>
          <a:xfrm>
            <a:off x="3785616" y="4550711"/>
            <a:ext cx="139313"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+6.0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1" name="Shape 59"/>
          <p:cNvSpPr/>
          <p:nvPr/>
        </p:nvSpPr>
        <p:spPr>
          <a:xfrm>
            <a:off x="3785616" y="4790606"/>
            <a:ext cx="111722"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+4.8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5" name="Shape 63"/>
          <p:cNvSpPr/>
          <p:nvPr/>
        </p:nvSpPr>
        <p:spPr>
          <a:xfrm>
            <a:off x="3785616" y="5030502"/>
            <a:ext cx="108452"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785616" y="5270397"/>
            <a:ext cx="104888"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3" name="Shape 71"/>
          <p:cNvSpPr/>
          <p:nvPr/>
        </p:nvSpPr>
        <p:spPr>
          <a:xfrm>
            <a:off x="3785616" y="5510293"/>
            <a:ext cx="95711"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77" name="Shape 75"/>
          <p:cNvSpPr/>
          <p:nvPr/>
        </p:nvSpPr>
        <p:spPr>
          <a:xfrm>
            <a:off x="3785616" y="5750188"/>
            <a:ext cx="95177"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1" name="Shape 79"/>
          <p:cNvSpPr/>
          <p:nvPr/>
        </p:nvSpPr>
        <p:spPr>
          <a:xfrm>
            <a:off x="9336024" y="1911860"/>
            <a:ext cx="90237"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5" name="Shape 83"/>
          <p:cNvSpPr/>
          <p:nvPr/>
        </p:nvSpPr>
        <p:spPr>
          <a:xfrm>
            <a:off x="9336024" y="2151755"/>
            <a:ext cx="87077"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9" name="Shape 87"/>
          <p:cNvSpPr/>
          <p:nvPr/>
        </p:nvSpPr>
        <p:spPr>
          <a:xfrm>
            <a:off x="9336024" y="2391651"/>
            <a:ext cx="54978"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93" name="Shape 91"/>
          <p:cNvSpPr/>
          <p:nvPr/>
        </p:nvSpPr>
        <p:spPr>
          <a:xfrm>
            <a:off x="9336024" y="2631546"/>
            <a:ext cx="52170"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9336024" y="2871442"/>
            <a:ext cx="24496"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1" name="Shape 99"/>
          <p:cNvSpPr/>
          <p:nvPr/>
        </p:nvSpPr>
        <p:spPr>
          <a:xfrm>
            <a:off x="9336024" y="3111337"/>
            <a:ext cx="1280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5" name="Shape 103"/>
          <p:cNvSpPr/>
          <p:nvPr/>
        </p:nvSpPr>
        <p:spPr>
          <a:xfrm>
            <a:off x="9336024" y="3351233"/>
            <a:ext cx="12802"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09" name="Shape 107"/>
          <p:cNvSpPr/>
          <p:nvPr/>
        </p:nvSpPr>
        <p:spPr>
          <a:xfrm>
            <a:off x="9326258" y="3591128"/>
            <a:ext cx="12802"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−0.4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301116" y="3831024"/>
            <a:ext cx="34908"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7" name="Shape 115"/>
          <p:cNvSpPr/>
          <p:nvPr/>
        </p:nvSpPr>
        <p:spPr>
          <a:xfrm>
            <a:off x="9283123" y="4070920"/>
            <a:ext cx="52901"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1" name="Shape 119"/>
          <p:cNvSpPr/>
          <p:nvPr/>
        </p:nvSpPr>
        <p:spPr>
          <a:xfrm>
            <a:off x="9263086" y="4310815"/>
            <a:ext cx="72938"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5" name="Shape 123"/>
          <p:cNvSpPr/>
          <p:nvPr/>
        </p:nvSpPr>
        <p:spPr>
          <a:xfrm>
            <a:off x="9244126" y="4550711"/>
            <a:ext cx="91898"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9" name="Shape 127"/>
          <p:cNvSpPr/>
          <p:nvPr/>
        </p:nvSpPr>
        <p:spPr>
          <a:xfrm>
            <a:off x="9216373" y="4790606"/>
            <a:ext cx="119651"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3" name="Shape 131"/>
          <p:cNvSpPr/>
          <p:nvPr/>
        </p:nvSpPr>
        <p:spPr>
          <a:xfrm>
            <a:off x="9139860" y="5030502"/>
            <a:ext cx="196164"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9081728" y="5270397"/>
            <a:ext cx="254296"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−10.9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713274" y="5510293"/>
            <a:ext cx="62275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−26.8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24 of 33 stores raised service net to gross, led by Hyundai Prescott at +33.5 pts to -19.2%. 9 declined; VW St George fell most at −26.8 pts.</a:t>
            </a:r>
            <a:endParaRPr lang="en-US" sz="1600" dirty="0"/>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-52.7%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-19.2%</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+33.5 pts</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-3.2%</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+22.5 pts</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16.0%</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+20.1 pts</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-27.5%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-13.8%</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+13.7 pts</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-14.4%</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+11.9 pts</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-25.2%</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−26.8 pts</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5.2%</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−10.9 pts</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27.2%</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−8.4 pts</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18.1%</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−5.2 pts</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29.3%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25.3%</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−4.0 pts</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-32.0%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-8.3%</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+23.6 pts</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12.9%</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+17.4 pts</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21.6%</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+16.9 pts</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34.2%</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+12.6 pts</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5.5%</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+12.2 pts</a:t>
            </a:r>
            <a:endParaRPr lang="en-US" sz="1600" dirty="0"/>
          </a:p>
        </p:txBody>
      </p:sp>
      <p:sp>
        <p:nvSpPr>
          <p:cNvPr id="69" name="Shape 67"/>
          <p:cNvSpPr/>
          <p:nvPr/>
        </p:nvSpPr>
        <p:spPr>
          <a:xfrm>
            <a:off x="457200" y="6126480"/>
            <a:ext cx="11274552" cy="615696"/>
          </a:xfrm>
          <a:prstGeom prst="rect">
            <a:avLst/>
          </a:prstGeom>
          <a:solidFill>
            <a:srgbClr val="EDF4FA"/>
          </a:solidFill>
          <a:ln/>
        </p:spPr>
      </p:sp>
      <p:sp>
        <p:nvSpPr>
          <p:cNvPr id="70"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Hyundai Prescott, Lincoln and LR Reno what changed. Ask VW St George, Kia St George and Mazda what got in the way. Ask Hyundai Prescott, LR Henderson and LR Reno what they started this year.</a:t>
            </a:r>
            <a:endParaRPr lang="en-US" sz="1600" dirty="0"/>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to Gross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37.1%</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36.7%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−0.4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−1.1%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Parts Net to Gross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48996"/>
          </a:xfrm>
          <a:prstGeom prst="rect">
            <a:avLst/>
          </a:prstGeom>
          <a:solidFill>
            <a:srgbClr val="FBEBEA"/>
          </a:solidFill>
          <a:ln/>
        </p:spPr>
      </p:sp>
      <p:sp>
        <p:nvSpPr>
          <p:cNvPr id="30" name="Text 22"/>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A82B26"/>
                </a:solidFill>
                <a:latin typeface="Inter" pitchFamily="34" charset="0"/>
                <a:ea typeface="Inter" pitchFamily="34" charset="-122"/>
                <a:cs typeface="Inter" pitchFamily="34" charset="-120"/>
              </a:rPr>
              <a:t>Down 0.4 pts to 36.7%, behind 2025 in four of nine months. Gross grew 1.9% but department profit grew 0.8%.</a:t>
            </a:r>
            <a:endParaRPr lang="en-US" sz="1450" dirty="0"/>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4993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NET TO GROSS %</a:t>
            </a:r>
            <a:endParaRPr lang="en-US" sz="1500" dirty="0"/>
          </a:p>
        </p:txBody>
      </p:sp>
      <p:sp>
        <p:nvSpPr>
          <p:cNvPr id="9" name="Text 7"/>
          <p:cNvSpPr txBox="1"/>
          <p:nvPr/>
        </p:nvSpPr>
        <p:spPr>
          <a:xfrm>
            <a:off x="3413760" y="1335024"/>
            <a:ext cx="463296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36.7%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58.7%</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7" name="Shape 15"/>
          <p:cNvSpPr/>
          <p:nvPr/>
        </p:nvSpPr>
        <p:spPr>
          <a:xfrm>
            <a:off x="3008376" y="2146957"/>
            <a:ext cx="1429353"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49.6%</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1" name="Shape 19"/>
          <p:cNvSpPr/>
          <p:nvPr/>
        </p:nvSpPr>
        <p:spPr>
          <a:xfrm>
            <a:off x="3008376" y="2386853"/>
            <a:ext cx="1412066"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49.0%</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5" name="Shape 23"/>
          <p:cNvSpPr/>
          <p:nvPr/>
        </p:nvSpPr>
        <p:spPr>
          <a:xfrm>
            <a:off x="3008376" y="2626748"/>
            <a:ext cx="1398451"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48.5%</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9" name="Shape 27"/>
          <p:cNvSpPr/>
          <p:nvPr/>
        </p:nvSpPr>
        <p:spPr>
          <a:xfrm>
            <a:off x="3008376" y="2866644"/>
            <a:ext cx="1317467"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45.7%</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3" name="Shape 31"/>
          <p:cNvSpPr/>
          <p:nvPr/>
        </p:nvSpPr>
        <p:spPr>
          <a:xfrm>
            <a:off x="3008376" y="3106540"/>
            <a:ext cx="1312721"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45.5%</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37" name="Shape 35"/>
          <p:cNvSpPr/>
          <p:nvPr/>
        </p:nvSpPr>
        <p:spPr>
          <a:xfrm>
            <a:off x="3008376" y="3346435"/>
            <a:ext cx="1306825"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1" name="Shape 39"/>
          <p:cNvSpPr/>
          <p:nvPr/>
        </p:nvSpPr>
        <p:spPr>
          <a:xfrm>
            <a:off x="3008376" y="3586331"/>
            <a:ext cx="1279067"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44.4%</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5" name="Shape 43"/>
          <p:cNvSpPr/>
          <p:nvPr/>
        </p:nvSpPr>
        <p:spPr>
          <a:xfrm>
            <a:off x="3008376" y="3826226"/>
            <a:ext cx="1273414"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44.2%</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9" name="Shape 47"/>
          <p:cNvSpPr/>
          <p:nvPr/>
        </p:nvSpPr>
        <p:spPr>
          <a:xfrm>
            <a:off x="3008376" y="4066122"/>
            <a:ext cx="1261946"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43.8%</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3" name="Shape 51"/>
          <p:cNvSpPr/>
          <p:nvPr/>
        </p:nvSpPr>
        <p:spPr>
          <a:xfrm>
            <a:off x="3008376" y="4306017"/>
            <a:ext cx="1239549"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43.0%</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7" name="Shape 55"/>
          <p:cNvSpPr/>
          <p:nvPr/>
        </p:nvSpPr>
        <p:spPr>
          <a:xfrm>
            <a:off x="3008376" y="4545913"/>
            <a:ext cx="1209944"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1" name="Shape 59"/>
          <p:cNvSpPr/>
          <p:nvPr/>
        </p:nvSpPr>
        <p:spPr>
          <a:xfrm>
            <a:off x="3008376" y="4785808"/>
            <a:ext cx="1143812"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39.7%</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65" name="Shape 63"/>
          <p:cNvSpPr/>
          <p:nvPr/>
        </p:nvSpPr>
        <p:spPr>
          <a:xfrm>
            <a:off x="3008376" y="5025704"/>
            <a:ext cx="1134120"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39.3%</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9" name="Shape 67"/>
          <p:cNvSpPr/>
          <p:nvPr/>
        </p:nvSpPr>
        <p:spPr>
          <a:xfrm>
            <a:off x="3008376" y="5265599"/>
            <a:ext cx="1079936"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37.5%</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3" name="Shape 71"/>
          <p:cNvSpPr/>
          <p:nvPr/>
        </p:nvSpPr>
        <p:spPr>
          <a:xfrm>
            <a:off x="3008376" y="5505495"/>
            <a:ext cx="1039071"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36.0%</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7" name="Shape 75"/>
          <p:cNvSpPr/>
          <p:nvPr/>
        </p:nvSpPr>
        <p:spPr>
          <a:xfrm>
            <a:off x="3008376" y="5745390"/>
            <a:ext cx="1026056"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35.6%</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1" name="Shape 79"/>
          <p:cNvSpPr/>
          <p:nvPr/>
        </p:nvSpPr>
        <p:spPr>
          <a:xfrm>
            <a:off x="8558784" y="1907062"/>
            <a:ext cx="994650"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5" name="Shape 83"/>
          <p:cNvSpPr/>
          <p:nvPr/>
        </p:nvSpPr>
        <p:spPr>
          <a:xfrm>
            <a:off x="8558784" y="2146957"/>
            <a:ext cx="946998"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32.9%</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9" name="Shape 87"/>
          <p:cNvSpPr/>
          <p:nvPr/>
        </p:nvSpPr>
        <p:spPr>
          <a:xfrm>
            <a:off x="8558784" y="2386853"/>
            <a:ext cx="941033"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32.6%</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900852"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31.3%</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8558784" y="2866644"/>
            <a:ext cx="894005"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31.0%</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1" name="Shape 99"/>
          <p:cNvSpPr/>
          <p:nvPr/>
        </p:nvSpPr>
        <p:spPr>
          <a:xfrm>
            <a:off x="8558784" y="3106540"/>
            <a:ext cx="887363"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30.8%</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05" name="Shape 103"/>
          <p:cNvSpPr/>
          <p:nvPr/>
        </p:nvSpPr>
        <p:spPr>
          <a:xfrm>
            <a:off x="8558784" y="3346435"/>
            <a:ext cx="863472"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9" name="Shape 107"/>
          <p:cNvSpPr/>
          <p:nvPr/>
        </p:nvSpPr>
        <p:spPr>
          <a:xfrm>
            <a:off x="8558784" y="3586331"/>
            <a:ext cx="767637"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26.6%</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13" name="Shape 111"/>
          <p:cNvSpPr/>
          <p:nvPr/>
        </p:nvSpPr>
        <p:spPr>
          <a:xfrm>
            <a:off x="8558784" y="3826226"/>
            <a:ext cx="740911"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7" name="Shape 115"/>
          <p:cNvSpPr/>
          <p:nvPr/>
        </p:nvSpPr>
        <p:spPr>
          <a:xfrm>
            <a:off x="8558784" y="4066122"/>
            <a:ext cx="728589"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1" name="Shape 119"/>
          <p:cNvSpPr/>
          <p:nvPr/>
        </p:nvSpPr>
        <p:spPr>
          <a:xfrm>
            <a:off x="8558784" y="4306017"/>
            <a:ext cx="726153"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25.2%</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5" name="Shape 123"/>
          <p:cNvSpPr/>
          <p:nvPr/>
        </p:nvSpPr>
        <p:spPr>
          <a:xfrm>
            <a:off x="8558784" y="4545913"/>
            <a:ext cx="687804"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9" name="Shape 127"/>
          <p:cNvSpPr/>
          <p:nvPr/>
        </p:nvSpPr>
        <p:spPr>
          <a:xfrm>
            <a:off x="8558784" y="4785808"/>
            <a:ext cx="680786"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23.6%</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3" name="Shape 131"/>
          <p:cNvSpPr/>
          <p:nvPr/>
        </p:nvSpPr>
        <p:spPr>
          <a:xfrm>
            <a:off x="8558784" y="5025704"/>
            <a:ext cx="516128"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7" name="Shape 135"/>
          <p:cNvSpPr/>
          <p:nvPr/>
        </p:nvSpPr>
        <p:spPr>
          <a:xfrm>
            <a:off x="8558784" y="5265599"/>
            <a:ext cx="455373"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05495"/>
            <a:ext cx="28719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10.0%</a:t>
            </a:r>
            <a:endParaRPr lang="en-US" sz="1200" dirty="0"/>
          </a:p>
        </p:txBody>
      </p:sp>
      <p:sp>
        <p:nvSpPr>
          <p:cNvPr id="143" name="Shape 141"/>
          <p:cNvSpPr/>
          <p:nvPr/>
        </p:nvSpPr>
        <p:spPr>
          <a:xfrm>
            <a:off x="4060077" y="1847088"/>
            <a:ext cx="14630" cy="4078224"/>
          </a:xfrm>
          <a:prstGeom prst="rect">
            <a:avLst/>
          </a:prstGeom>
          <a:solidFill>
            <a:srgbClr val="0B2C4A"/>
          </a:solidFill>
          <a:ln/>
        </p:spPr>
      </p:sp>
      <p:sp>
        <p:nvSpPr>
          <p:cNvPr id="144" name="Shape 142"/>
          <p:cNvSpPr/>
          <p:nvPr/>
        </p:nvSpPr>
        <p:spPr>
          <a:xfrm>
            <a:off x="9610485"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15 of 33 stores at or above the 36.7% group, led by Subaru St George at 58.7%. Hyundai Prescott is lowest at 10.0%.</a:t>
            </a:r>
            <a:endParaRPr lang="en-US" sz="1600" dirty="0"/>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4993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NET TO GROSS %</a:t>
            </a:r>
            <a:endParaRPr lang="en-US" sz="1500" dirty="0"/>
          </a:p>
        </p:txBody>
      </p:sp>
      <p:sp>
        <p:nvSpPr>
          <p:cNvPr id="9" name="Text 7"/>
          <p:cNvSpPr txBox="1"/>
          <p:nvPr/>
        </p:nvSpPr>
        <p:spPr>
          <a:xfrm>
            <a:off x="3413760" y="1335024"/>
            <a:ext cx="463296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A82B26"/>
                </a:solidFill>
                <a:latin typeface="Inter" pitchFamily="34" charset="0"/>
                <a:ea typeface="Inter" pitchFamily="34" charset="-122"/>
                <a:cs typeface="Inter" pitchFamily="34" charset="-120"/>
              </a:rPr>
              <a:t>−0.4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+14.2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7" name="Shape 15"/>
          <p:cNvSpPr/>
          <p:nvPr/>
        </p:nvSpPr>
        <p:spPr>
          <a:xfrm>
            <a:off x="3785616" y="2151755"/>
            <a:ext cx="712549"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+13.1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21" name="Shape 19"/>
          <p:cNvSpPr/>
          <p:nvPr/>
        </p:nvSpPr>
        <p:spPr>
          <a:xfrm>
            <a:off x="3785616" y="2391651"/>
            <a:ext cx="579309"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25" name="Shape 23"/>
          <p:cNvSpPr/>
          <p:nvPr/>
        </p:nvSpPr>
        <p:spPr>
          <a:xfrm>
            <a:off x="3785616" y="2631546"/>
            <a:ext cx="412524"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29" name="Shape 27"/>
          <p:cNvSpPr/>
          <p:nvPr/>
        </p:nvSpPr>
        <p:spPr>
          <a:xfrm>
            <a:off x="3785616" y="2871442"/>
            <a:ext cx="384335"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3" name="Shape 31"/>
          <p:cNvSpPr/>
          <p:nvPr/>
        </p:nvSpPr>
        <p:spPr>
          <a:xfrm>
            <a:off x="3785616" y="3111337"/>
            <a:ext cx="345136"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+6.3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7" name="Shape 35"/>
          <p:cNvSpPr/>
          <p:nvPr/>
        </p:nvSpPr>
        <p:spPr>
          <a:xfrm>
            <a:off x="3785616" y="3351233"/>
            <a:ext cx="344254"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+6.3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1" name="Shape 39"/>
          <p:cNvSpPr/>
          <p:nvPr/>
        </p:nvSpPr>
        <p:spPr>
          <a:xfrm>
            <a:off x="3785616" y="3591128"/>
            <a:ext cx="326556"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+6.0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5" name="Shape 43"/>
          <p:cNvSpPr/>
          <p:nvPr/>
        </p:nvSpPr>
        <p:spPr>
          <a:xfrm>
            <a:off x="3785616" y="3831024"/>
            <a:ext cx="248228"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9" name="Shape 47"/>
          <p:cNvSpPr/>
          <p:nvPr/>
        </p:nvSpPr>
        <p:spPr>
          <a:xfrm>
            <a:off x="3785616" y="4070920"/>
            <a:ext cx="176703"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3" name="Shape 51"/>
          <p:cNvSpPr/>
          <p:nvPr/>
        </p:nvSpPr>
        <p:spPr>
          <a:xfrm>
            <a:off x="3785616" y="4310815"/>
            <a:ext cx="172791"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57" name="Shape 55"/>
          <p:cNvSpPr/>
          <p:nvPr/>
        </p:nvSpPr>
        <p:spPr>
          <a:xfrm>
            <a:off x="3785616" y="4550711"/>
            <a:ext cx="120839"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1" name="Shape 59"/>
          <p:cNvSpPr/>
          <p:nvPr/>
        </p:nvSpPr>
        <p:spPr>
          <a:xfrm>
            <a:off x="3785616" y="4790606"/>
            <a:ext cx="109670"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65" name="Shape 63"/>
          <p:cNvSpPr/>
          <p:nvPr/>
        </p:nvSpPr>
        <p:spPr>
          <a:xfrm>
            <a:off x="3785616" y="5030502"/>
            <a:ext cx="81021"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9" name="Shape 67"/>
          <p:cNvSpPr/>
          <p:nvPr/>
        </p:nvSpPr>
        <p:spPr>
          <a:xfrm>
            <a:off x="3785616" y="5270397"/>
            <a:ext cx="69580"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3" name="Shape 71"/>
          <p:cNvSpPr/>
          <p:nvPr/>
        </p:nvSpPr>
        <p:spPr>
          <a:xfrm>
            <a:off x="3783808" y="5510293"/>
            <a:ext cx="12802" cy="110352"/>
          </a:xfrm>
          <a:prstGeom prst="rect">
            <a:avLst/>
          </a:prstGeom>
          <a:solidFill>
            <a:srgbClr val="C2352F"/>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77" name="Shape 75"/>
          <p:cNvSpPr/>
          <p:nvPr/>
        </p:nvSpPr>
        <p:spPr>
          <a:xfrm>
            <a:off x="3782938" y="5750188"/>
            <a:ext cx="12802" cy="110352"/>
          </a:xfrm>
          <a:prstGeom prst="rect">
            <a:avLst/>
          </a:prstGeom>
          <a:solidFill>
            <a:srgbClr val="C2352F"/>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1" name="Shape 79"/>
          <p:cNvSpPr/>
          <p:nvPr/>
        </p:nvSpPr>
        <p:spPr>
          <a:xfrm>
            <a:off x="9279706" y="1911860"/>
            <a:ext cx="56318" cy="110352"/>
          </a:xfrm>
          <a:prstGeom prst="rect">
            <a:avLst/>
          </a:prstGeom>
          <a:solidFill>
            <a:srgbClr val="C2352F"/>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5" name="Shape 83"/>
          <p:cNvSpPr/>
          <p:nvPr/>
        </p:nvSpPr>
        <p:spPr>
          <a:xfrm>
            <a:off x="9261209" y="2151755"/>
            <a:ext cx="74815" cy="110352"/>
          </a:xfrm>
          <a:prstGeom prst="rect">
            <a:avLst/>
          </a:prstGeom>
          <a:solidFill>
            <a:srgbClr val="C2352F"/>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89" name="Shape 87"/>
          <p:cNvSpPr/>
          <p:nvPr/>
        </p:nvSpPr>
        <p:spPr>
          <a:xfrm>
            <a:off x="9182825" y="2391651"/>
            <a:ext cx="153199"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3" name="Shape 91"/>
          <p:cNvSpPr/>
          <p:nvPr/>
        </p:nvSpPr>
        <p:spPr>
          <a:xfrm>
            <a:off x="9150574" y="2631546"/>
            <a:ext cx="185450"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7" name="Shape 95"/>
          <p:cNvSpPr/>
          <p:nvPr/>
        </p:nvSpPr>
        <p:spPr>
          <a:xfrm>
            <a:off x="9107949" y="2871442"/>
            <a:ext cx="228075"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1" name="Shape 99"/>
          <p:cNvSpPr/>
          <p:nvPr/>
        </p:nvSpPr>
        <p:spPr>
          <a:xfrm>
            <a:off x="9106168" y="3111337"/>
            <a:ext cx="229856"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5" name="Shape 103"/>
          <p:cNvSpPr/>
          <p:nvPr/>
        </p:nvSpPr>
        <p:spPr>
          <a:xfrm>
            <a:off x="9076473" y="3351233"/>
            <a:ext cx="259551"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−4.8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9" name="Shape 107"/>
          <p:cNvSpPr/>
          <p:nvPr/>
        </p:nvSpPr>
        <p:spPr>
          <a:xfrm>
            <a:off x="9037703" y="3591128"/>
            <a:ext cx="29832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−5.5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3" name="Shape 111"/>
          <p:cNvSpPr/>
          <p:nvPr/>
        </p:nvSpPr>
        <p:spPr>
          <a:xfrm>
            <a:off x="9035179" y="3831024"/>
            <a:ext cx="300845"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−5.5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7" name="Shape 115"/>
          <p:cNvSpPr/>
          <p:nvPr/>
        </p:nvSpPr>
        <p:spPr>
          <a:xfrm>
            <a:off x="9018589" y="4070920"/>
            <a:ext cx="317435"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1" name="Shape 119"/>
          <p:cNvSpPr/>
          <p:nvPr/>
        </p:nvSpPr>
        <p:spPr>
          <a:xfrm>
            <a:off x="8963304" y="4310815"/>
            <a:ext cx="372720"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5" name="Shape 123"/>
          <p:cNvSpPr/>
          <p:nvPr/>
        </p:nvSpPr>
        <p:spPr>
          <a:xfrm>
            <a:off x="8882230" y="4550711"/>
            <a:ext cx="453794"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−8.3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9" name="Shape 127"/>
          <p:cNvSpPr/>
          <p:nvPr/>
        </p:nvSpPr>
        <p:spPr>
          <a:xfrm>
            <a:off x="8795705" y="4790606"/>
            <a:ext cx="540319"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−9.9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725604" y="5030502"/>
            <a:ext cx="610420"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−11.2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7" name="Shape 135"/>
          <p:cNvSpPr/>
          <p:nvPr/>
        </p:nvSpPr>
        <p:spPr>
          <a:xfrm>
            <a:off x="8691636" y="5270397"/>
            <a:ext cx="644388"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652415" y="5510293"/>
            <a:ext cx="683609"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−12.5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FBEBE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15 of 33 stores raised parts net to gross, led by Lincoln at +14.2 pts to 17.9%. 18 declined; Hyundai Prescott fell most at −12.5 pts.</a:t>
            </a:r>
            <a:endParaRPr lang="en-US" sz="1600" dirty="0"/>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17.9%</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+14.2 pts</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25.2%</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+13.1 pts</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32.9%</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+10.6 pts</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26.6%</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+7.6 pts</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44.4%</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+7.0 pts</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10.0%</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−12.5 pts</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49.3%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37.5%</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−11.8 pts</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34.8%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23.6%</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−11.2 pts</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25.3%</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−9.9 pts</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15.8%</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−8.3 pts</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35.8%</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+20.1 pts</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34.2%</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+16.9 pts</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40.6%</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+16.5 pts</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31.0%</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+15.4 pts</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24.1%</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+15.0 pts</a:t>
            </a:r>
            <a:endParaRPr lang="en-US" sz="1600" dirty="0"/>
          </a:p>
        </p:txBody>
      </p:sp>
      <p:sp>
        <p:nvSpPr>
          <p:cNvPr id="69" name="Shape 67"/>
          <p:cNvSpPr/>
          <p:nvPr/>
        </p:nvSpPr>
        <p:spPr>
          <a:xfrm>
            <a:off x="457200" y="6126480"/>
            <a:ext cx="11274552" cy="615696"/>
          </a:xfrm>
          <a:prstGeom prst="rect">
            <a:avLst/>
          </a:prstGeom>
          <a:solidFill>
            <a:srgbClr val="EDF4FA"/>
          </a:solidFill>
          <a:ln/>
        </p:spPr>
      </p:sp>
      <p:sp>
        <p:nvSpPr>
          <p:cNvPr id="70"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Lincoln, Acura and Nissan what changed. Ask Hyundai Prescott, Hyundai St George and VW St George what got in the way. Ask LR Reno, VW St George and Mazda what they started this year.</a:t>
            </a:r>
            <a:endParaRPr lang="en-US" sz="1600" dirty="0"/>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Can You Control?</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Work it in order: ROs first, then hours per RO, the rate (ELR), the mix and the margin (GP%)</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CP labor $ per RO represents how well you execute, store and individual</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ELR plus hours per RO cannot be manipulated: true performance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Total dollars per RO matters more than any single measure. It's what we sell.</a:t>
            </a:r>
            <a:endParaRPr lang="en-US" sz="1800" dirty="0"/>
          </a:p>
        </p:txBody>
      </p:sp>
      <p:sp>
        <p:nvSpPr>
          <p:cNvPr id="10" name="Shape 8"/>
          <p:cNvSpPr/>
          <p:nvPr/>
        </p:nvSpPr>
        <p:spPr>
          <a:xfrm>
            <a:off x="7269480" y="1920240"/>
            <a:ext cx="54864" cy="111252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279,756 ROs</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Customer-pay RO count, up only 456. Volume is flat.</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1.87 hrs per RO</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Up 0.07, ahead in all nine months. Every 0.1 hour per RO is worth $4,543,691 of labor.</a:t>
            </a:r>
            <a:endParaRPr lang="en-US" sz="1400" dirty="0"/>
          </a:p>
        </p:txBody>
      </p:sp>
      <p:sp>
        <p:nvSpPr>
          <p:cNvPr id="16" name="Shape 14"/>
          <p:cNvSpPr/>
          <p:nvPr/>
        </p:nvSpPr>
        <p:spPr>
          <a:xfrm>
            <a:off x="7269480" y="4602480"/>
            <a:ext cx="54864" cy="1112520"/>
          </a:xfrm>
          <a:prstGeom prst="rect">
            <a:avLst/>
          </a:prstGeom>
          <a:solidFill>
            <a:srgbClr val="12A566"/>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$304 per RO</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labor per RO, up $17. The $4,899,376 labor gain came from selling more per visit.</a:t>
            </a:r>
            <a:endParaRPr lang="en-US" sz="1400" dirty="0"/>
          </a:p>
        </p:txBody>
      </p:sp>
      <p:sp>
        <p:nvSpPr>
          <p:cNvPr id="19" name="Shape 17"/>
          <p:cNvSpPr/>
          <p:nvPr/>
        </p:nvSpPr>
        <p:spPr>
          <a:xfrm>
            <a:off x="457200" y="6126480"/>
            <a:ext cx="11274552" cy="356616"/>
          </a:xfrm>
          <a:prstGeom prst="rect">
            <a:avLst/>
          </a:prstGeom>
          <a:solidFill>
            <a:srgbClr val="E6F6EE"/>
          </a:solidFill>
          <a:ln/>
        </p:spPr>
      </p:sp>
      <p:sp>
        <p:nvSpPr>
          <p:cNvPr id="20" name="Text 18"/>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The ask: with car count flat, the growth is in hours per RO. Sell the next tenth of an hour on every RO.</a:t>
            </a:r>
            <a:endParaRPr lang="en-US" sz="1500" dirty="0"/>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The Front Door</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Open and available scheduler: same-day or next-day appointments, quick online scheduling</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75% of visits are basic services. Saturdays are what you choose to make them.</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Every call is a sales opportunity. Mishandled calls cost millions.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Where do calls go after hours and Sundays?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No-show process; first appointment at time of sale; next appointment before the customer leaves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Active retention tracking: work the Viz 'Close to Losing' and 'Unretained' lists</a:t>
            </a:r>
            <a:endParaRPr lang="en-US" sz="1800" dirty="0"/>
          </a:p>
        </p:txBody>
      </p:sp>
      <p:sp>
        <p:nvSpPr>
          <p:cNvPr id="10" name="Shape 8"/>
          <p:cNvSpPr/>
          <p:nvPr/>
        </p:nvSpPr>
        <p:spPr>
          <a:xfrm>
            <a:off x="7269480" y="1920240"/>
            <a:ext cx="54864" cy="178308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+0.2%</a:t>
            </a:r>
            <a:endParaRPr lang="en-US" sz="3000" dirty="0"/>
          </a:p>
        </p:txBody>
      </p:sp>
      <p:sp>
        <p:nvSpPr>
          <p:cNvPr id="12" name="Text 10"/>
          <p:cNvSpPr txBox="1"/>
          <p:nvPr/>
        </p:nvSpPr>
        <p:spPr>
          <a:xfrm>
            <a:off x="7452360" y="244144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Customer-pay RO count. 13 of 33 stores had fewer CP ROs than last year.</a:t>
            </a:r>
            <a:endParaRPr lang="en-US" sz="1400" dirty="0"/>
          </a:p>
        </p:txBody>
      </p:sp>
      <p:sp>
        <p:nvSpPr>
          <p:cNvPr id="13" name="Shape 11"/>
          <p:cNvSpPr/>
          <p:nvPr/>
        </p:nvSpPr>
        <p:spPr>
          <a:xfrm>
            <a:off x="7269480" y="3931920"/>
            <a:ext cx="54864" cy="1783080"/>
          </a:xfrm>
          <a:prstGeom prst="rect">
            <a:avLst/>
          </a:prstGeom>
          <a:solidFill>
            <a:srgbClr val="C2352F"/>
          </a:solidFill>
          <a:ln/>
        </p:spPr>
      </p:sp>
      <p:sp>
        <p:nvSpPr>
          <p:cNvPr id="14" name="Text 12"/>
          <p:cNvSpPr txBox="1"/>
          <p:nvPr/>
        </p:nvSpPr>
        <p:spPr>
          <a:xfrm>
            <a:off x="7452360" y="388620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166 ROs per advisor</a:t>
            </a:r>
            <a:endParaRPr lang="en-US" sz="3000" dirty="0"/>
          </a:p>
        </p:txBody>
      </p:sp>
      <p:sp>
        <p:nvSpPr>
          <p:cNvPr id="15" name="Text 13"/>
          <p:cNvSpPr txBox="1"/>
          <p:nvPr/>
        </p:nvSpPr>
        <p:spPr>
          <a:xfrm>
            <a:off x="7452360" y="445312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&amp; W ROs per service advisor a month, down 7. Advisors grew 1.5%; ROs fell 2.3%.</a:t>
            </a:r>
            <a:endParaRPr lang="en-US" sz="1400" dirty="0"/>
          </a:p>
        </p:txBody>
      </p:sp>
      <p:sp>
        <p:nvSpPr>
          <p:cNvPr id="16" name="Shape 14"/>
          <p:cNvSpPr/>
          <p:nvPr/>
        </p:nvSpPr>
        <p:spPr>
          <a:xfrm>
            <a:off x="457200" y="6126480"/>
            <a:ext cx="11274552" cy="341376"/>
          </a:xfrm>
          <a:prstGeom prst="rect">
            <a:avLst/>
          </a:prstGeom>
          <a:solidFill>
            <a:srgbClr val="EDF4FA"/>
          </a:solidFill>
          <a:ln/>
        </p:spPr>
      </p:sp>
      <p:sp>
        <p:nvSpPr>
          <p:cNvPr id="17" name="Text 15"/>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The ask: every customer leaves with the next appointment booked, and every call reaches someone who asks for it.</a:t>
            </a:r>
            <a:endParaRPr lang="en-US" sz="1400" dirty="0"/>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CP RO Count?</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200" b="1" dirty="0">
                <a:solidFill>
                  <a:srgbClr val="0B2C4A"/>
                </a:solidFill>
                <a:latin typeface="Inter" pitchFamily="34" charset="0"/>
                <a:ea typeface="Inter" pitchFamily="34" charset="-122"/>
                <a:cs typeface="Inter" pitchFamily="34" charset="-120"/>
              </a:rPr>
              <a:t>CP RO count  </a:t>
            </a:r>
            <a:pPr indent="0" marL="0">
              <a:buNone/>
            </a:pPr>
            <a:r>
              <a:rPr lang="en-US" sz="2200" b="1" dirty="0">
                <a:solidFill>
                  <a:srgbClr val="2587C5"/>
                </a:solidFill>
                <a:latin typeface="Inter" pitchFamily="34" charset="0"/>
                <a:ea typeface="Inter" pitchFamily="34" charset="-122"/>
                <a:cs typeface="Inter" pitchFamily="34" charset="-120"/>
              </a:rPr>
              <a:t>=  </a:t>
            </a:r>
            <a:pPr indent="0" marL="0">
              <a:buNone/>
            </a:pPr>
            <a:r>
              <a:rPr lang="en-US" sz="2200" b="1" dirty="0">
                <a:solidFill>
                  <a:srgbClr val="0B2C4A"/>
                </a:solidFill>
                <a:latin typeface="Inter" pitchFamily="34" charset="0"/>
                <a:ea typeface="Inter" pitchFamily="34" charset="-122"/>
                <a:cs typeface="Inter" pitchFamily="34" charset="-120"/>
              </a:rPr>
              <a:t>customer-pay repair orders closed in the period</a:t>
            </a:r>
            <a:endParaRPr lang="en-US" sz="22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Every RO with a customer-pay line. One RO counts once, however many lines it has.</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Everything else starts here: hours, ELR and $ per RO all multiply off the RO count.</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shows whether the business is expanding or contracting: are customers coming back?</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Flat car count means growth has to come from selling more on each visit.</a:t>
            </a:r>
            <a:endParaRPr lang="en-US" sz="1600" dirty="0"/>
          </a:p>
        </p:txBody>
      </p:sp>
      <p:sp>
        <p:nvSpPr>
          <p:cNvPr id="13" name="Shape 11"/>
          <p:cNvSpPr/>
          <p:nvPr/>
        </p:nvSpPr>
        <p:spPr>
          <a:xfrm>
            <a:off x="5138928" y="2843784"/>
            <a:ext cx="45720" cy="801942"/>
          </a:xfrm>
          <a:prstGeom prst="rect">
            <a:avLst/>
          </a:prstGeom>
          <a:solidFill>
            <a:srgbClr val="2587C5"/>
          </a:solidFill>
          <a:ln/>
        </p:spPr>
      </p:sp>
      <p:sp>
        <p:nvSpPr>
          <p:cNvPr id="14" name="Text 12"/>
          <p:cNvSpPr txBox="1"/>
          <p:nvPr/>
        </p:nvSpPr>
        <p:spPr>
          <a:xfrm>
            <a:off x="5266944" y="2843784"/>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Appointment availability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Same-day and next-day slots; an easy online scheduler</a:t>
            </a:r>
            <a:endParaRPr lang="en-US" sz="1400" dirty="0"/>
          </a:p>
        </p:txBody>
      </p:sp>
      <p:sp>
        <p:nvSpPr>
          <p:cNvPr id="15" name="Shape 13"/>
          <p:cNvSpPr/>
          <p:nvPr/>
        </p:nvSpPr>
        <p:spPr>
          <a:xfrm>
            <a:off x="8394192" y="2843784"/>
            <a:ext cx="45720" cy="801942"/>
          </a:xfrm>
          <a:prstGeom prst="rect">
            <a:avLst/>
          </a:prstGeom>
          <a:solidFill>
            <a:srgbClr val="2587C5"/>
          </a:solidFill>
          <a:ln/>
        </p:spPr>
      </p:sp>
      <p:sp>
        <p:nvSpPr>
          <p:cNvPr id="16" name="Text 14"/>
          <p:cNvSpPr txBox="1"/>
          <p:nvPr/>
        </p:nvSpPr>
        <p:spPr>
          <a:xfrm>
            <a:off x="8522208" y="2843784"/>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Phone handling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call answered, and every caller asked for the appointment</a:t>
            </a:r>
            <a:endParaRPr lang="en-US" sz="1400" dirty="0"/>
          </a:p>
        </p:txBody>
      </p:sp>
      <p:sp>
        <p:nvSpPr>
          <p:cNvPr id="17" name="Shape 15"/>
          <p:cNvSpPr/>
          <p:nvPr/>
        </p:nvSpPr>
        <p:spPr>
          <a:xfrm>
            <a:off x="5138928" y="3755454"/>
            <a:ext cx="45720" cy="1121027"/>
          </a:xfrm>
          <a:prstGeom prst="rect">
            <a:avLst/>
          </a:prstGeom>
          <a:solidFill>
            <a:srgbClr val="2587C5"/>
          </a:solidFill>
          <a:ln/>
        </p:spPr>
      </p:sp>
      <p:sp>
        <p:nvSpPr>
          <p:cNvPr id="18" name="Text 16"/>
          <p:cNvSpPr txBox="1"/>
          <p:nvPr/>
        </p:nvSpPr>
        <p:spPr>
          <a:xfrm>
            <a:off x="5266944" y="3755454"/>
            <a:ext cx="2962656" cy="1121027"/>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Retention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Proactive outreach and ongoing engagement: lapsed, inactive and sold-not-serviced customers (VizAuto retention app)</a:t>
            </a:r>
            <a:endParaRPr lang="en-US" sz="1400" dirty="0"/>
          </a:p>
        </p:txBody>
      </p:sp>
      <p:sp>
        <p:nvSpPr>
          <p:cNvPr id="19" name="Shape 17"/>
          <p:cNvSpPr/>
          <p:nvPr/>
        </p:nvSpPr>
        <p:spPr>
          <a:xfrm>
            <a:off x="8394192" y="3755454"/>
            <a:ext cx="45720" cy="1121027"/>
          </a:xfrm>
          <a:prstGeom prst="rect">
            <a:avLst/>
          </a:prstGeom>
          <a:solidFill>
            <a:srgbClr val="2587C5"/>
          </a:solidFill>
          <a:ln/>
        </p:spPr>
      </p:sp>
      <p:sp>
        <p:nvSpPr>
          <p:cNvPr id="20" name="Text 18"/>
          <p:cNvSpPr txBox="1"/>
          <p:nvPr/>
        </p:nvSpPr>
        <p:spPr>
          <a:xfrm>
            <a:off x="8522208" y="3755454"/>
            <a:ext cx="2962656" cy="1121027"/>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Next visit booked</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First appointment at the sale; next one before the customer leaves</a:t>
            </a:r>
            <a:endParaRPr lang="en-US" sz="1400" dirty="0"/>
          </a:p>
        </p:txBody>
      </p:sp>
      <p:sp>
        <p:nvSpPr>
          <p:cNvPr id="21" name="Shape 19"/>
          <p:cNvSpPr/>
          <p:nvPr/>
        </p:nvSpPr>
        <p:spPr>
          <a:xfrm>
            <a:off x="5138928" y="4986210"/>
            <a:ext cx="45720" cy="801942"/>
          </a:xfrm>
          <a:prstGeom prst="rect">
            <a:avLst/>
          </a:prstGeom>
          <a:solidFill>
            <a:srgbClr val="2587C5"/>
          </a:solidFill>
          <a:ln/>
        </p:spPr>
      </p:sp>
      <p:sp>
        <p:nvSpPr>
          <p:cNvPr id="22" name="Text 20"/>
          <p:cNvSpPr txBox="1"/>
          <p:nvPr/>
        </p:nvSpPr>
        <p:spPr>
          <a:xfrm>
            <a:off x="5266944" y="4986210"/>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Express service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Fast, easy maintenance keeps customers coming back</a:t>
            </a:r>
            <a:endParaRPr lang="en-US" sz="1400" dirty="0"/>
          </a:p>
        </p:txBody>
      </p:sp>
      <p:sp>
        <p:nvSpPr>
          <p:cNvPr id="23" name="Shape 21"/>
          <p:cNvSpPr/>
          <p:nvPr/>
        </p:nvSpPr>
        <p:spPr>
          <a:xfrm>
            <a:off x="8394192" y="4986210"/>
            <a:ext cx="45720" cy="801942"/>
          </a:xfrm>
          <a:prstGeom prst="rect">
            <a:avLst/>
          </a:prstGeom>
          <a:solidFill>
            <a:srgbClr val="2587C5"/>
          </a:solidFill>
          <a:ln/>
        </p:spPr>
      </p:sp>
      <p:sp>
        <p:nvSpPr>
          <p:cNvPr id="24" name="Text 22"/>
          <p:cNvSpPr txBox="1"/>
          <p:nvPr/>
        </p:nvSpPr>
        <p:spPr>
          <a:xfrm>
            <a:off x="8522208" y="4986210"/>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Marketing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Fixed ops budget, keyword search, OEM and third-party reminders</a:t>
            </a:r>
            <a:endParaRPr lang="en-US" sz="1400" dirty="0"/>
          </a:p>
        </p:txBody>
      </p:sp>
      <p:sp>
        <p:nvSpPr>
          <p:cNvPr id="25" name="Shape 23"/>
          <p:cNvSpPr/>
          <p:nvPr/>
        </p:nvSpPr>
        <p:spPr>
          <a:xfrm>
            <a:off x="457200" y="6126480"/>
            <a:ext cx="11274552" cy="371856"/>
          </a:xfrm>
          <a:prstGeom prst="rect">
            <a:avLst/>
          </a:prstGeom>
          <a:solidFill>
            <a:srgbClr val="EDF4FA"/>
          </a:solidFill>
          <a:ln/>
        </p:spPr>
      </p:sp>
      <p:sp>
        <p:nvSpPr>
          <p:cNvPr id="26" name="Text 24"/>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279,756 CP ROs, up 456 from 2025. Volume is flat.</a:t>
            </a:r>
            <a:endParaRPr lang="en-US" sz="1600" dirty="0"/>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279,300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279,756</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+456</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+0.2%</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RO Count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615696"/>
          </a:xfrm>
          <a:prstGeom prst="rect">
            <a:avLst/>
          </a:prstGeom>
          <a:solidFill>
            <a:srgbClr val="E6F6EE"/>
          </a:solidFill>
          <a:ln/>
        </p:spPr>
      </p:sp>
      <p:sp>
        <p:nvSpPr>
          <p:cNvPr id="30"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456 to 279,756, ahead of 2025 in five of nine months. Volume is flat, so every gain here comes from selling more per RO.</a:t>
            </a:r>
            <a:endParaRPr lang="en-US" sz="1600" dirty="0"/>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RO COUNT</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279,756</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1860"/>
            <a:ext cx="1828800" cy="110352"/>
          </a:xfrm>
          <a:prstGeom prst="rect">
            <a:avLst/>
          </a:prstGeom>
          <a:solidFill>
            <a:srgbClr val="2587C5"/>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53,084</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2980944" y="2151755"/>
            <a:ext cx="776079" cy="110352"/>
          </a:xfrm>
          <a:prstGeom prst="rect">
            <a:avLst/>
          </a:prstGeom>
          <a:solidFill>
            <a:srgbClr val="2587C5"/>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22,527</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1" name="Shape 19"/>
          <p:cNvSpPr/>
          <p:nvPr/>
        </p:nvSpPr>
        <p:spPr>
          <a:xfrm>
            <a:off x="2980944" y="2391651"/>
            <a:ext cx="672485" cy="110352"/>
          </a:xfrm>
          <a:prstGeom prst="rect">
            <a:avLst/>
          </a:prstGeom>
          <a:solidFill>
            <a:srgbClr val="2587C5"/>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19,520</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5" name="Shape 23"/>
          <p:cNvSpPr/>
          <p:nvPr/>
        </p:nvSpPr>
        <p:spPr>
          <a:xfrm>
            <a:off x="2980944" y="2631546"/>
            <a:ext cx="598622" cy="110352"/>
          </a:xfrm>
          <a:prstGeom prst="rect">
            <a:avLst/>
          </a:prstGeom>
          <a:solidFill>
            <a:srgbClr val="2587C5"/>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17,376</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9" name="Shape 27"/>
          <p:cNvSpPr/>
          <p:nvPr/>
        </p:nvSpPr>
        <p:spPr>
          <a:xfrm>
            <a:off x="2980944" y="2871442"/>
            <a:ext cx="521623" cy="110352"/>
          </a:xfrm>
          <a:prstGeom prst="rect">
            <a:avLst/>
          </a:prstGeom>
          <a:solidFill>
            <a:srgbClr val="2587C5"/>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15,141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3" name="Shape 31"/>
          <p:cNvSpPr/>
          <p:nvPr/>
        </p:nvSpPr>
        <p:spPr>
          <a:xfrm>
            <a:off x="2980944" y="3111337"/>
            <a:ext cx="518420" cy="110352"/>
          </a:xfrm>
          <a:prstGeom prst="rect">
            <a:avLst/>
          </a:prstGeom>
          <a:solidFill>
            <a:srgbClr val="2587C5"/>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15,048</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37" name="Shape 35"/>
          <p:cNvSpPr/>
          <p:nvPr/>
        </p:nvSpPr>
        <p:spPr>
          <a:xfrm>
            <a:off x="2980944" y="3351233"/>
            <a:ext cx="490928" cy="110352"/>
          </a:xfrm>
          <a:prstGeom prst="rect">
            <a:avLst/>
          </a:prstGeom>
          <a:solidFill>
            <a:srgbClr val="2587C5"/>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14,250</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2980944" y="3591128"/>
            <a:ext cx="464745" cy="110352"/>
          </a:xfrm>
          <a:prstGeom prst="rect">
            <a:avLst/>
          </a:prstGeom>
          <a:solidFill>
            <a:srgbClr val="2587C5"/>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13,490</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5" name="Shape 43"/>
          <p:cNvSpPr/>
          <p:nvPr/>
        </p:nvSpPr>
        <p:spPr>
          <a:xfrm>
            <a:off x="2980944" y="3831024"/>
            <a:ext cx="307648" cy="110352"/>
          </a:xfrm>
          <a:prstGeom prst="rect">
            <a:avLst/>
          </a:prstGeom>
          <a:solidFill>
            <a:srgbClr val="2587C5"/>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8,930</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9" name="Shape 47"/>
          <p:cNvSpPr/>
          <p:nvPr/>
        </p:nvSpPr>
        <p:spPr>
          <a:xfrm>
            <a:off x="2980944" y="4070920"/>
            <a:ext cx="280190" cy="110352"/>
          </a:xfrm>
          <a:prstGeom prst="rect">
            <a:avLst/>
          </a:prstGeom>
          <a:solidFill>
            <a:srgbClr val="2587C5"/>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8,133</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3" name="Shape 51"/>
          <p:cNvSpPr/>
          <p:nvPr/>
        </p:nvSpPr>
        <p:spPr>
          <a:xfrm>
            <a:off x="2980944" y="4310815"/>
            <a:ext cx="240227" cy="110352"/>
          </a:xfrm>
          <a:prstGeom prst="rect">
            <a:avLst/>
          </a:prstGeom>
          <a:solidFill>
            <a:srgbClr val="2587C5"/>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6,973</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57" name="Shape 55"/>
          <p:cNvSpPr/>
          <p:nvPr/>
        </p:nvSpPr>
        <p:spPr>
          <a:xfrm>
            <a:off x="2980944" y="4550711"/>
            <a:ext cx="217352" cy="110352"/>
          </a:xfrm>
          <a:prstGeom prst="rect">
            <a:avLst/>
          </a:prstGeom>
          <a:solidFill>
            <a:srgbClr val="2587C5"/>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6,309</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1" name="Shape 59"/>
          <p:cNvSpPr/>
          <p:nvPr/>
        </p:nvSpPr>
        <p:spPr>
          <a:xfrm>
            <a:off x="2980944" y="4790606"/>
            <a:ext cx="196405" cy="110352"/>
          </a:xfrm>
          <a:prstGeom prst="rect">
            <a:avLst/>
          </a:prstGeom>
          <a:solidFill>
            <a:srgbClr val="2587C5"/>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5,701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5" name="Shape 63"/>
          <p:cNvSpPr/>
          <p:nvPr/>
        </p:nvSpPr>
        <p:spPr>
          <a:xfrm>
            <a:off x="2980944" y="5030502"/>
            <a:ext cx="191307" cy="110352"/>
          </a:xfrm>
          <a:prstGeom prst="rect">
            <a:avLst/>
          </a:prstGeom>
          <a:solidFill>
            <a:srgbClr val="2587C5"/>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5,553</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9" name="Shape 67"/>
          <p:cNvSpPr/>
          <p:nvPr/>
        </p:nvSpPr>
        <p:spPr>
          <a:xfrm>
            <a:off x="2980944" y="5270397"/>
            <a:ext cx="184589" cy="110352"/>
          </a:xfrm>
          <a:prstGeom prst="rect">
            <a:avLst/>
          </a:prstGeom>
          <a:solidFill>
            <a:srgbClr val="2587C5"/>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5,358</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3" name="Shape 71"/>
          <p:cNvSpPr/>
          <p:nvPr/>
        </p:nvSpPr>
        <p:spPr>
          <a:xfrm>
            <a:off x="2980944" y="5510293"/>
            <a:ext cx="184106" cy="110352"/>
          </a:xfrm>
          <a:prstGeom prst="rect">
            <a:avLst/>
          </a:prstGeom>
          <a:solidFill>
            <a:srgbClr val="2587C5"/>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5,344</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7" name="Shape 75"/>
          <p:cNvSpPr/>
          <p:nvPr/>
        </p:nvSpPr>
        <p:spPr>
          <a:xfrm>
            <a:off x="2980944" y="5750188"/>
            <a:ext cx="177251" cy="110352"/>
          </a:xfrm>
          <a:prstGeom prst="rect">
            <a:avLst/>
          </a:prstGeom>
          <a:solidFill>
            <a:srgbClr val="2587C5"/>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5,145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1" name="Shape 79"/>
          <p:cNvSpPr/>
          <p:nvPr/>
        </p:nvSpPr>
        <p:spPr>
          <a:xfrm>
            <a:off x="8531352" y="1911860"/>
            <a:ext cx="175873" cy="110352"/>
          </a:xfrm>
          <a:prstGeom prst="rect">
            <a:avLst/>
          </a:prstGeom>
          <a:solidFill>
            <a:srgbClr val="2587C5"/>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5,105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5" name="Shape 83"/>
          <p:cNvSpPr/>
          <p:nvPr/>
        </p:nvSpPr>
        <p:spPr>
          <a:xfrm>
            <a:off x="8531352" y="2151755"/>
            <a:ext cx="157338" cy="110352"/>
          </a:xfrm>
          <a:prstGeom prst="rect">
            <a:avLst/>
          </a:prstGeom>
          <a:solidFill>
            <a:srgbClr val="2587C5"/>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4,567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9" name="Shape 87"/>
          <p:cNvSpPr/>
          <p:nvPr/>
        </p:nvSpPr>
        <p:spPr>
          <a:xfrm>
            <a:off x="8531352" y="2391651"/>
            <a:ext cx="138838" cy="110352"/>
          </a:xfrm>
          <a:prstGeom prst="rect">
            <a:avLst/>
          </a:prstGeom>
          <a:solidFill>
            <a:srgbClr val="2587C5"/>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4,030</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3" name="Shape 91"/>
          <p:cNvSpPr/>
          <p:nvPr/>
        </p:nvSpPr>
        <p:spPr>
          <a:xfrm>
            <a:off x="8531352" y="2631546"/>
            <a:ext cx="134945" cy="110352"/>
          </a:xfrm>
          <a:prstGeom prst="rect">
            <a:avLst/>
          </a:prstGeom>
          <a:solidFill>
            <a:srgbClr val="2587C5"/>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3,917</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97" name="Shape 95"/>
          <p:cNvSpPr/>
          <p:nvPr/>
        </p:nvSpPr>
        <p:spPr>
          <a:xfrm>
            <a:off x="8531352" y="2871442"/>
            <a:ext cx="134773" cy="110352"/>
          </a:xfrm>
          <a:prstGeom prst="rect">
            <a:avLst/>
          </a:prstGeom>
          <a:solidFill>
            <a:srgbClr val="2587C5"/>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3,912</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1" name="Shape 99"/>
          <p:cNvSpPr/>
          <p:nvPr/>
        </p:nvSpPr>
        <p:spPr>
          <a:xfrm>
            <a:off x="8531352" y="3111337"/>
            <a:ext cx="130191" cy="110352"/>
          </a:xfrm>
          <a:prstGeom prst="rect">
            <a:avLst/>
          </a:prstGeom>
          <a:solidFill>
            <a:srgbClr val="2587C5"/>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3,779</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5" name="Shape 103"/>
          <p:cNvSpPr/>
          <p:nvPr/>
        </p:nvSpPr>
        <p:spPr>
          <a:xfrm>
            <a:off x="8531352" y="3351233"/>
            <a:ext cx="126470" cy="110352"/>
          </a:xfrm>
          <a:prstGeom prst="rect">
            <a:avLst/>
          </a:prstGeom>
          <a:solidFill>
            <a:srgbClr val="2587C5"/>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3,671</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09" name="Shape 107"/>
          <p:cNvSpPr/>
          <p:nvPr/>
        </p:nvSpPr>
        <p:spPr>
          <a:xfrm>
            <a:off x="8531352" y="3591128"/>
            <a:ext cx="120441" cy="110352"/>
          </a:xfrm>
          <a:prstGeom prst="rect">
            <a:avLst/>
          </a:prstGeom>
          <a:solidFill>
            <a:srgbClr val="2587C5"/>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3,496</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13" name="Shape 111"/>
          <p:cNvSpPr/>
          <p:nvPr/>
        </p:nvSpPr>
        <p:spPr>
          <a:xfrm>
            <a:off x="8531352" y="3831024"/>
            <a:ext cx="117203" cy="110352"/>
          </a:xfrm>
          <a:prstGeom prst="rect">
            <a:avLst/>
          </a:prstGeom>
          <a:solidFill>
            <a:srgbClr val="2587C5"/>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3,402</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8531352" y="4070920"/>
            <a:ext cx="115377" cy="110352"/>
          </a:xfrm>
          <a:prstGeom prst="rect">
            <a:avLst/>
          </a:prstGeom>
          <a:solidFill>
            <a:srgbClr val="2587C5"/>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3,349</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1" name="Shape 119"/>
          <p:cNvSpPr/>
          <p:nvPr/>
        </p:nvSpPr>
        <p:spPr>
          <a:xfrm>
            <a:off x="8531352" y="4310815"/>
            <a:ext cx="107039" cy="110352"/>
          </a:xfrm>
          <a:prstGeom prst="rect">
            <a:avLst/>
          </a:prstGeom>
          <a:solidFill>
            <a:srgbClr val="2587C5"/>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3,107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5" name="Shape 123"/>
          <p:cNvSpPr/>
          <p:nvPr/>
        </p:nvSpPr>
        <p:spPr>
          <a:xfrm>
            <a:off x="8531352" y="4550711"/>
            <a:ext cx="90606" cy="110352"/>
          </a:xfrm>
          <a:prstGeom prst="rect">
            <a:avLst/>
          </a:prstGeom>
          <a:solidFill>
            <a:srgbClr val="2587C5"/>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2,630</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9" name="Shape 127"/>
          <p:cNvSpPr/>
          <p:nvPr/>
        </p:nvSpPr>
        <p:spPr>
          <a:xfrm>
            <a:off x="8531352" y="4790606"/>
            <a:ext cx="69247" cy="110352"/>
          </a:xfrm>
          <a:prstGeom prst="rect">
            <a:avLst/>
          </a:prstGeom>
          <a:solidFill>
            <a:srgbClr val="2587C5"/>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2,010</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31352" y="5030502"/>
            <a:ext cx="66112" cy="110352"/>
          </a:xfrm>
          <a:prstGeom prst="rect">
            <a:avLst/>
          </a:prstGeom>
          <a:solidFill>
            <a:srgbClr val="2587C5"/>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1,919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7" name="Shape 135"/>
          <p:cNvSpPr/>
          <p:nvPr/>
        </p:nvSpPr>
        <p:spPr>
          <a:xfrm>
            <a:off x="8531352" y="5270397"/>
            <a:ext cx="53709" cy="110352"/>
          </a:xfrm>
          <a:prstGeom prst="rect">
            <a:avLst/>
          </a:prstGeom>
          <a:solidFill>
            <a:srgbClr val="2587C5"/>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1,559</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41" name="Shape 139"/>
          <p:cNvSpPr/>
          <p:nvPr/>
        </p:nvSpPr>
        <p:spPr>
          <a:xfrm>
            <a:off x="8531352" y="5510293"/>
            <a:ext cx="48955" cy="110352"/>
          </a:xfrm>
          <a:prstGeom prst="rect">
            <a:avLst/>
          </a:prstGeom>
          <a:solidFill>
            <a:srgbClr val="2587C5"/>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1,421</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4" name="Shape 142"/>
          <p:cNvSpPr/>
          <p:nvPr/>
        </p:nvSpPr>
        <p:spPr>
          <a:xfrm>
            <a:off x="457200" y="6126480"/>
            <a:ext cx="11274552" cy="371856"/>
          </a:xfrm>
          <a:prstGeom prst="rect">
            <a:avLst/>
          </a:prstGeom>
          <a:solidFill>
            <a:srgbClr val="EDF4FA"/>
          </a:solidFill>
          <a:ln/>
        </p:spPr>
      </p:sp>
      <p:sp>
        <p:nvSpPr>
          <p:cNvPr id="145" name="Text 14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Toyota Henderson leads at 53,084; LR Reno is smallest at 1,421.</a:t>
            </a:r>
            <a:endParaRPr lang="en-US" sz="1600" dirty="0"/>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RO COUNT</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+0.2%</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3" name="Shape 11"/>
          <p:cNvSpPr/>
          <p:nvPr/>
        </p:nvSpPr>
        <p:spPr>
          <a:xfrm>
            <a:off x="3785616" y="1911860"/>
            <a:ext cx="719477"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+13.7%</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667584"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+12.7%</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21" name="Shape 19"/>
          <p:cNvSpPr/>
          <p:nvPr/>
        </p:nvSpPr>
        <p:spPr>
          <a:xfrm>
            <a:off x="3785616" y="2391651"/>
            <a:ext cx="556984"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5" name="Shape 23"/>
          <p:cNvSpPr/>
          <p:nvPr/>
        </p:nvSpPr>
        <p:spPr>
          <a:xfrm>
            <a:off x="3785616" y="2631546"/>
            <a:ext cx="534085"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785616" y="2871442"/>
            <a:ext cx="477233"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3" name="Shape 31"/>
          <p:cNvSpPr/>
          <p:nvPr/>
        </p:nvSpPr>
        <p:spPr>
          <a:xfrm>
            <a:off x="3785616" y="3111337"/>
            <a:ext cx="40819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7" name="Shape 35"/>
          <p:cNvSpPr/>
          <p:nvPr/>
        </p:nvSpPr>
        <p:spPr>
          <a:xfrm>
            <a:off x="3785616" y="3351233"/>
            <a:ext cx="324532"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41" name="Shape 39"/>
          <p:cNvSpPr/>
          <p:nvPr/>
        </p:nvSpPr>
        <p:spPr>
          <a:xfrm>
            <a:off x="3785616" y="3591128"/>
            <a:ext cx="29319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+5.6%</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5" name="Shape 43"/>
          <p:cNvSpPr/>
          <p:nvPr/>
        </p:nvSpPr>
        <p:spPr>
          <a:xfrm>
            <a:off x="3785616" y="3831024"/>
            <a:ext cx="193177"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9" name="Shape 47"/>
          <p:cNvSpPr/>
          <p:nvPr/>
        </p:nvSpPr>
        <p:spPr>
          <a:xfrm>
            <a:off x="3785616" y="4070920"/>
            <a:ext cx="183237"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53" name="Shape 51"/>
          <p:cNvSpPr/>
          <p:nvPr/>
        </p:nvSpPr>
        <p:spPr>
          <a:xfrm>
            <a:off x="3785616" y="4310815"/>
            <a:ext cx="181766"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7" name="Shape 55"/>
          <p:cNvSpPr/>
          <p:nvPr/>
        </p:nvSpPr>
        <p:spPr>
          <a:xfrm>
            <a:off x="3785616" y="4550711"/>
            <a:ext cx="171810"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1" name="Shape 59"/>
          <p:cNvSpPr/>
          <p:nvPr/>
        </p:nvSpPr>
        <p:spPr>
          <a:xfrm>
            <a:off x="3785616" y="4790606"/>
            <a:ext cx="138652"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5" name="Shape 63"/>
          <p:cNvSpPr/>
          <p:nvPr/>
        </p:nvSpPr>
        <p:spPr>
          <a:xfrm>
            <a:off x="3785616" y="5030502"/>
            <a:ext cx="136074"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9" name="Shape 67"/>
          <p:cNvSpPr/>
          <p:nvPr/>
        </p:nvSpPr>
        <p:spPr>
          <a:xfrm>
            <a:off x="3785616" y="5270397"/>
            <a:ext cx="12550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3" name="Shape 71"/>
          <p:cNvSpPr/>
          <p:nvPr/>
        </p:nvSpPr>
        <p:spPr>
          <a:xfrm>
            <a:off x="3785616" y="5510293"/>
            <a:ext cx="89377"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7" name="Shape 75"/>
          <p:cNvSpPr/>
          <p:nvPr/>
        </p:nvSpPr>
        <p:spPr>
          <a:xfrm>
            <a:off x="3785616" y="5750188"/>
            <a:ext cx="77273"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1" name="Shape 79"/>
          <p:cNvSpPr/>
          <p:nvPr/>
        </p:nvSpPr>
        <p:spPr>
          <a:xfrm>
            <a:off x="9336024" y="1911860"/>
            <a:ext cx="7223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5" name="Shape 83"/>
          <p:cNvSpPr/>
          <p:nvPr/>
        </p:nvSpPr>
        <p:spPr>
          <a:xfrm>
            <a:off x="9336024" y="2151755"/>
            <a:ext cx="1280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9" name="Shape 87"/>
          <p:cNvSpPr/>
          <p:nvPr/>
        </p:nvSpPr>
        <p:spPr>
          <a:xfrm>
            <a:off x="9336024" y="2391651"/>
            <a:ext cx="12802"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3" name="Shape 91"/>
          <p:cNvSpPr/>
          <p:nvPr/>
        </p:nvSpPr>
        <p:spPr>
          <a:xfrm>
            <a:off x="9331930" y="2631546"/>
            <a:ext cx="12802"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7" name="Shape 95"/>
          <p:cNvSpPr/>
          <p:nvPr/>
        </p:nvSpPr>
        <p:spPr>
          <a:xfrm>
            <a:off x="9304957" y="2871442"/>
            <a:ext cx="31067"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−0.6%</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1" name="Shape 99"/>
          <p:cNvSpPr/>
          <p:nvPr/>
        </p:nvSpPr>
        <p:spPr>
          <a:xfrm>
            <a:off x="9297085" y="3111337"/>
            <a:ext cx="38939"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−0.7%</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05" name="Shape 103"/>
          <p:cNvSpPr/>
          <p:nvPr/>
        </p:nvSpPr>
        <p:spPr>
          <a:xfrm>
            <a:off x="9291949" y="3351233"/>
            <a:ext cx="44075"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−0.8%</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9" name="Shape 107"/>
          <p:cNvSpPr/>
          <p:nvPr/>
        </p:nvSpPr>
        <p:spPr>
          <a:xfrm>
            <a:off x="9131973" y="3591128"/>
            <a:ext cx="20405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3" name="Shape 111"/>
          <p:cNvSpPr/>
          <p:nvPr/>
        </p:nvSpPr>
        <p:spPr>
          <a:xfrm>
            <a:off x="9090966" y="3831024"/>
            <a:ext cx="245058"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7" name="Shape 115"/>
          <p:cNvSpPr/>
          <p:nvPr/>
        </p:nvSpPr>
        <p:spPr>
          <a:xfrm>
            <a:off x="9076977" y="4070920"/>
            <a:ext cx="259047"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−4.9%</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1" name="Shape 119"/>
          <p:cNvSpPr/>
          <p:nvPr/>
        </p:nvSpPr>
        <p:spPr>
          <a:xfrm>
            <a:off x="9029931" y="4310815"/>
            <a:ext cx="306093"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5" name="Shape 123"/>
          <p:cNvSpPr/>
          <p:nvPr/>
        </p:nvSpPr>
        <p:spPr>
          <a:xfrm>
            <a:off x="9013907" y="4550711"/>
            <a:ext cx="322117"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9" name="Shape 127"/>
          <p:cNvSpPr/>
          <p:nvPr/>
        </p:nvSpPr>
        <p:spPr>
          <a:xfrm>
            <a:off x="8805808" y="4790606"/>
            <a:ext cx="530216"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−10.1%</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3" name="Shape 131"/>
          <p:cNvSpPr/>
          <p:nvPr/>
        </p:nvSpPr>
        <p:spPr>
          <a:xfrm>
            <a:off x="8780043" y="5030502"/>
            <a:ext cx="555981"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−10.6%</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7" name="Shape 135"/>
          <p:cNvSpPr/>
          <p:nvPr/>
        </p:nvSpPr>
        <p:spPr>
          <a:xfrm>
            <a:off x="8730222" y="5270397"/>
            <a:ext cx="605802"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−11.5%</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20 of 33 stores grew CP RO count, led by Kia LV at +13.7% to 8,133. 13 declined; VW St George fell most at −14.7%.</a:t>
            </a:r>
            <a:endParaRPr lang="en-US" sz="1600" dirty="0"/>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One More CP RO a Day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529584"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352544"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ROs/day</a:t>
            </a:r>
            <a:endParaRPr lang="en-US" sz="1400" dirty="0"/>
          </a:p>
        </p:txBody>
      </p:sp>
      <p:sp>
        <p:nvSpPr>
          <p:cNvPr id="8" name="Text 6"/>
          <p:cNvSpPr txBox="1"/>
          <p:nvPr/>
        </p:nvSpPr>
        <p:spPr>
          <a:xfrm>
            <a:off x="5138928" y="1316736"/>
            <a:ext cx="7315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RO</a:t>
            </a:r>
            <a:endParaRPr lang="en-US" sz="1400" dirty="0"/>
          </a:p>
        </p:txBody>
      </p:sp>
      <p:sp>
        <p:nvSpPr>
          <p:cNvPr id="9" name="Text 7"/>
          <p:cNvSpPr txBox="1"/>
          <p:nvPr/>
        </p:nvSpPr>
        <p:spPr>
          <a:xfrm>
            <a:off x="9079992"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02952"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ROs/day</a:t>
            </a:r>
            <a:endParaRPr lang="en-US" sz="1400" dirty="0"/>
          </a:p>
        </p:txBody>
      </p:sp>
      <p:sp>
        <p:nvSpPr>
          <p:cNvPr id="11" name="Text 9"/>
          <p:cNvSpPr txBox="1"/>
          <p:nvPr/>
        </p:nvSpPr>
        <p:spPr>
          <a:xfrm>
            <a:off x="10689336" y="1316736"/>
            <a:ext cx="7315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RO</a:t>
            </a:r>
            <a:endParaRPr lang="en-US" sz="1400" dirty="0"/>
          </a:p>
        </p:txBody>
      </p:sp>
      <p:sp>
        <p:nvSpPr>
          <p:cNvPr id="12" name="Text 10"/>
          <p:cNvSpPr txBox="1"/>
          <p:nvPr/>
        </p:nvSpPr>
        <p:spPr>
          <a:xfrm>
            <a:off x="658368"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3" name="Shape 11"/>
          <p:cNvSpPr/>
          <p:nvPr/>
        </p:nvSpPr>
        <p:spPr>
          <a:xfrm>
            <a:off x="2670048" y="1756697"/>
            <a:ext cx="804672" cy="136676"/>
          </a:xfrm>
          <a:prstGeom prst="rect">
            <a:avLst/>
          </a:prstGeom>
          <a:solidFill>
            <a:srgbClr val="2587C5"/>
          </a:solidFill>
          <a:ln/>
        </p:spPr>
      </p:sp>
      <p:sp>
        <p:nvSpPr>
          <p:cNvPr id="14" name="Text 12"/>
          <p:cNvSpPr txBox="1"/>
          <p:nvPr/>
        </p:nvSpPr>
        <p:spPr>
          <a:xfrm>
            <a:off x="3529584" y="170078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$358K</a:t>
            </a:r>
            <a:endParaRPr lang="en-US" sz="1300" dirty="0"/>
          </a:p>
        </p:txBody>
      </p:sp>
      <p:sp>
        <p:nvSpPr>
          <p:cNvPr id="15" name="Text 13"/>
          <p:cNvSpPr txBox="1"/>
          <p:nvPr/>
        </p:nvSpPr>
        <p:spPr>
          <a:xfrm>
            <a:off x="4352544" y="170078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a:t>
            </a:r>
            <a:endParaRPr lang="en-US" sz="1300" dirty="0"/>
          </a:p>
        </p:txBody>
      </p:sp>
      <p:sp>
        <p:nvSpPr>
          <p:cNvPr id="16" name="Text 14"/>
          <p:cNvSpPr txBox="1"/>
          <p:nvPr/>
        </p:nvSpPr>
        <p:spPr>
          <a:xfrm>
            <a:off x="5138928" y="170078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$1,168</a:t>
            </a:r>
            <a:endParaRPr lang="en-US" sz="1300" dirty="0"/>
          </a:p>
        </p:txBody>
      </p:sp>
      <p:sp>
        <p:nvSpPr>
          <p:cNvPr id="17" name="Text 15"/>
          <p:cNvSpPr txBox="1"/>
          <p:nvPr/>
        </p:nvSpPr>
        <p:spPr>
          <a:xfrm>
            <a:off x="658368"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8" name="Shape 16"/>
          <p:cNvSpPr/>
          <p:nvPr/>
        </p:nvSpPr>
        <p:spPr>
          <a:xfrm>
            <a:off x="2670048" y="2005199"/>
            <a:ext cx="786943" cy="136676"/>
          </a:xfrm>
          <a:prstGeom prst="rect">
            <a:avLst/>
          </a:prstGeom>
          <a:solidFill>
            <a:srgbClr val="2587C5"/>
          </a:solidFill>
          <a:ln/>
        </p:spPr>
      </p:sp>
      <p:sp>
        <p:nvSpPr>
          <p:cNvPr id="19" name="Text 17"/>
          <p:cNvSpPr txBox="1"/>
          <p:nvPr/>
        </p:nvSpPr>
        <p:spPr>
          <a:xfrm>
            <a:off x="3529584" y="1949286"/>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$351K</a:t>
            </a:r>
            <a:endParaRPr lang="en-US" sz="1300" dirty="0"/>
          </a:p>
        </p:txBody>
      </p:sp>
      <p:sp>
        <p:nvSpPr>
          <p:cNvPr id="20" name="Text 18"/>
          <p:cNvSpPr txBox="1"/>
          <p:nvPr/>
        </p:nvSpPr>
        <p:spPr>
          <a:xfrm>
            <a:off x="4352544" y="1949286"/>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a:t>
            </a:r>
            <a:endParaRPr lang="en-US" sz="1300" dirty="0"/>
          </a:p>
        </p:txBody>
      </p:sp>
      <p:sp>
        <p:nvSpPr>
          <p:cNvPr id="21" name="Text 19"/>
          <p:cNvSpPr txBox="1"/>
          <p:nvPr/>
        </p:nvSpPr>
        <p:spPr>
          <a:xfrm>
            <a:off x="5138928" y="194928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$1,142</a:t>
            </a:r>
            <a:endParaRPr lang="en-US" sz="1300" dirty="0"/>
          </a:p>
        </p:txBody>
      </p:sp>
      <p:sp>
        <p:nvSpPr>
          <p:cNvPr id="22" name="Text 20"/>
          <p:cNvSpPr txBox="1"/>
          <p:nvPr/>
        </p:nvSpPr>
        <p:spPr>
          <a:xfrm>
            <a:off x="658368"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23" name="Shape 21"/>
          <p:cNvSpPr/>
          <p:nvPr/>
        </p:nvSpPr>
        <p:spPr>
          <a:xfrm>
            <a:off x="2670048" y="2253700"/>
            <a:ext cx="725286" cy="136676"/>
          </a:xfrm>
          <a:prstGeom prst="rect">
            <a:avLst/>
          </a:prstGeom>
          <a:solidFill>
            <a:srgbClr val="2587C5"/>
          </a:solidFill>
          <a:ln/>
        </p:spPr>
      </p:sp>
      <p:sp>
        <p:nvSpPr>
          <p:cNvPr id="24" name="Text 22"/>
          <p:cNvSpPr txBox="1"/>
          <p:nvPr/>
        </p:nvSpPr>
        <p:spPr>
          <a:xfrm>
            <a:off x="3529584" y="219778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$323K</a:t>
            </a:r>
            <a:endParaRPr lang="en-US" sz="1300" dirty="0"/>
          </a:p>
        </p:txBody>
      </p:sp>
      <p:sp>
        <p:nvSpPr>
          <p:cNvPr id="25" name="Text 23"/>
          <p:cNvSpPr txBox="1"/>
          <p:nvPr/>
        </p:nvSpPr>
        <p:spPr>
          <a:xfrm>
            <a:off x="4352544" y="219778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a:t>
            </a:r>
            <a:endParaRPr lang="en-US" sz="1300" dirty="0"/>
          </a:p>
        </p:txBody>
      </p:sp>
      <p:sp>
        <p:nvSpPr>
          <p:cNvPr id="26" name="Text 24"/>
          <p:cNvSpPr txBox="1"/>
          <p:nvPr/>
        </p:nvSpPr>
        <p:spPr>
          <a:xfrm>
            <a:off x="5138928" y="219778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$1,052</a:t>
            </a:r>
            <a:endParaRPr lang="en-US" sz="1300" dirty="0"/>
          </a:p>
        </p:txBody>
      </p:sp>
      <p:sp>
        <p:nvSpPr>
          <p:cNvPr id="27" name="Text 25"/>
          <p:cNvSpPr txBox="1"/>
          <p:nvPr/>
        </p:nvSpPr>
        <p:spPr>
          <a:xfrm>
            <a:off x="658368"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28" name="Shape 26"/>
          <p:cNvSpPr/>
          <p:nvPr/>
        </p:nvSpPr>
        <p:spPr>
          <a:xfrm>
            <a:off x="2670048" y="2502202"/>
            <a:ext cx="709617" cy="136676"/>
          </a:xfrm>
          <a:prstGeom prst="rect">
            <a:avLst/>
          </a:prstGeom>
          <a:solidFill>
            <a:srgbClr val="2587C5"/>
          </a:solidFill>
          <a:ln/>
        </p:spPr>
      </p:sp>
      <p:sp>
        <p:nvSpPr>
          <p:cNvPr id="29" name="Text 27"/>
          <p:cNvSpPr txBox="1"/>
          <p:nvPr/>
        </p:nvSpPr>
        <p:spPr>
          <a:xfrm>
            <a:off x="3529584" y="244628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$316K</a:t>
            </a:r>
            <a:endParaRPr lang="en-US" sz="1300" dirty="0"/>
          </a:p>
        </p:txBody>
      </p:sp>
      <p:sp>
        <p:nvSpPr>
          <p:cNvPr id="30" name="Text 28"/>
          <p:cNvSpPr txBox="1"/>
          <p:nvPr/>
        </p:nvSpPr>
        <p:spPr>
          <a:xfrm>
            <a:off x="4352544" y="244628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31" name="Text 29"/>
          <p:cNvSpPr txBox="1"/>
          <p:nvPr/>
        </p:nvSpPr>
        <p:spPr>
          <a:xfrm>
            <a:off x="5138928" y="244628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$1,030</a:t>
            </a:r>
            <a:endParaRPr lang="en-US" sz="1300" dirty="0"/>
          </a:p>
        </p:txBody>
      </p:sp>
      <p:sp>
        <p:nvSpPr>
          <p:cNvPr id="32" name="Text 30"/>
          <p:cNvSpPr txBox="1"/>
          <p:nvPr/>
        </p:nvSpPr>
        <p:spPr>
          <a:xfrm>
            <a:off x="658368"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33" name="Shape 31"/>
          <p:cNvSpPr/>
          <p:nvPr/>
        </p:nvSpPr>
        <p:spPr>
          <a:xfrm>
            <a:off x="2670048" y="2750703"/>
            <a:ext cx="510203" cy="136676"/>
          </a:xfrm>
          <a:prstGeom prst="rect">
            <a:avLst/>
          </a:prstGeom>
          <a:solidFill>
            <a:srgbClr val="2587C5"/>
          </a:solidFill>
          <a:ln/>
        </p:spPr>
      </p:sp>
      <p:sp>
        <p:nvSpPr>
          <p:cNvPr id="34" name="Text 32"/>
          <p:cNvSpPr txBox="1"/>
          <p:nvPr/>
        </p:nvSpPr>
        <p:spPr>
          <a:xfrm>
            <a:off x="3529584" y="2694791"/>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$227K</a:t>
            </a:r>
            <a:endParaRPr lang="en-US" sz="1300" dirty="0"/>
          </a:p>
        </p:txBody>
      </p:sp>
      <p:sp>
        <p:nvSpPr>
          <p:cNvPr id="35" name="Text 33"/>
          <p:cNvSpPr txBox="1"/>
          <p:nvPr/>
        </p:nvSpPr>
        <p:spPr>
          <a:xfrm>
            <a:off x="4352544" y="2694791"/>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36" name="Text 34"/>
          <p:cNvSpPr txBox="1"/>
          <p:nvPr/>
        </p:nvSpPr>
        <p:spPr>
          <a:xfrm>
            <a:off x="5138928" y="2694791"/>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$740</a:t>
            </a:r>
            <a:endParaRPr lang="en-US" sz="1300" dirty="0"/>
          </a:p>
        </p:txBody>
      </p:sp>
      <p:sp>
        <p:nvSpPr>
          <p:cNvPr id="37" name="Text 35"/>
          <p:cNvSpPr txBox="1"/>
          <p:nvPr/>
        </p:nvSpPr>
        <p:spPr>
          <a:xfrm>
            <a:off x="658368"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38" name="Shape 36"/>
          <p:cNvSpPr/>
          <p:nvPr/>
        </p:nvSpPr>
        <p:spPr>
          <a:xfrm>
            <a:off x="2670048" y="2999205"/>
            <a:ext cx="456478" cy="136676"/>
          </a:xfrm>
          <a:prstGeom prst="rect">
            <a:avLst/>
          </a:prstGeom>
          <a:solidFill>
            <a:srgbClr val="2587C5"/>
          </a:solidFill>
          <a:ln/>
        </p:spPr>
      </p:sp>
      <p:sp>
        <p:nvSpPr>
          <p:cNvPr id="39" name="Text 37"/>
          <p:cNvSpPr txBox="1"/>
          <p:nvPr/>
        </p:nvSpPr>
        <p:spPr>
          <a:xfrm>
            <a:off x="3529584" y="2943292"/>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$203K</a:t>
            </a:r>
            <a:endParaRPr lang="en-US" sz="1300" dirty="0"/>
          </a:p>
        </p:txBody>
      </p:sp>
      <p:sp>
        <p:nvSpPr>
          <p:cNvPr id="40" name="Text 38"/>
          <p:cNvSpPr txBox="1"/>
          <p:nvPr/>
        </p:nvSpPr>
        <p:spPr>
          <a:xfrm>
            <a:off x="4352544" y="2943292"/>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a:t>
            </a:r>
            <a:endParaRPr lang="en-US" sz="1300" dirty="0"/>
          </a:p>
        </p:txBody>
      </p:sp>
      <p:sp>
        <p:nvSpPr>
          <p:cNvPr id="41" name="Text 39"/>
          <p:cNvSpPr txBox="1"/>
          <p:nvPr/>
        </p:nvSpPr>
        <p:spPr>
          <a:xfrm>
            <a:off x="5138928" y="294329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$662</a:t>
            </a:r>
            <a:endParaRPr lang="en-US" sz="1300" dirty="0"/>
          </a:p>
        </p:txBody>
      </p:sp>
      <p:sp>
        <p:nvSpPr>
          <p:cNvPr id="42" name="Text 40"/>
          <p:cNvSpPr txBox="1"/>
          <p:nvPr/>
        </p:nvSpPr>
        <p:spPr>
          <a:xfrm>
            <a:off x="658368"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43" name="Shape 41"/>
          <p:cNvSpPr/>
          <p:nvPr/>
        </p:nvSpPr>
        <p:spPr>
          <a:xfrm>
            <a:off x="2670048" y="3247707"/>
            <a:ext cx="350480" cy="136676"/>
          </a:xfrm>
          <a:prstGeom prst="rect">
            <a:avLst/>
          </a:prstGeom>
          <a:solidFill>
            <a:srgbClr val="2587C5"/>
          </a:solidFill>
          <a:ln/>
        </p:spPr>
      </p:sp>
      <p:sp>
        <p:nvSpPr>
          <p:cNvPr id="44" name="Text 42"/>
          <p:cNvSpPr txBox="1"/>
          <p:nvPr/>
        </p:nvSpPr>
        <p:spPr>
          <a:xfrm>
            <a:off x="3529584" y="319179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$156K</a:t>
            </a:r>
            <a:endParaRPr lang="en-US" sz="1300" dirty="0"/>
          </a:p>
        </p:txBody>
      </p:sp>
      <p:sp>
        <p:nvSpPr>
          <p:cNvPr id="45" name="Text 43"/>
          <p:cNvSpPr txBox="1"/>
          <p:nvPr/>
        </p:nvSpPr>
        <p:spPr>
          <a:xfrm>
            <a:off x="4352544" y="319179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a:t>
            </a:r>
            <a:endParaRPr lang="en-US" sz="1300" dirty="0"/>
          </a:p>
        </p:txBody>
      </p:sp>
      <p:sp>
        <p:nvSpPr>
          <p:cNvPr id="46" name="Text 44"/>
          <p:cNvSpPr txBox="1"/>
          <p:nvPr/>
        </p:nvSpPr>
        <p:spPr>
          <a:xfrm>
            <a:off x="5138928" y="319179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$509</a:t>
            </a:r>
            <a:endParaRPr lang="en-US" sz="1300" dirty="0"/>
          </a:p>
        </p:txBody>
      </p:sp>
      <p:sp>
        <p:nvSpPr>
          <p:cNvPr id="47" name="Text 45"/>
          <p:cNvSpPr txBox="1"/>
          <p:nvPr/>
        </p:nvSpPr>
        <p:spPr>
          <a:xfrm>
            <a:off x="658368"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48" name="Shape 46"/>
          <p:cNvSpPr/>
          <p:nvPr/>
        </p:nvSpPr>
        <p:spPr>
          <a:xfrm>
            <a:off x="2670048" y="3496208"/>
            <a:ext cx="331101" cy="136676"/>
          </a:xfrm>
          <a:prstGeom prst="rect">
            <a:avLst/>
          </a:prstGeom>
          <a:solidFill>
            <a:srgbClr val="2587C5"/>
          </a:solidFill>
          <a:ln/>
        </p:spPr>
      </p:sp>
      <p:sp>
        <p:nvSpPr>
          <p:cNvPr id="49" name="Text 47"/>
          <p:cNvSpPr txBox="1"/>
          <p:nvPr/>
        </p:nvSpPr>
        <p:spPr>
          <a:xfrm>
            <a:off x="3529584" y="3440296"/>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$148K</a:t>
            </a:r>
            <a:endParaRPr lang="en-US" sz="1300" dirty="0"/>
          </a:p>
        </p:txBody>
      </p:sp>
      <p:sp>
        <p:nvSpPr>
          <p:cNvPr id="50" name="Text 48"/>
          <p:cNvSpPr txBox="1"/>
          <p:nvPr/>
        </p:nvSpPr>
        <p:spPr>
          <a:xfrm>
            <a:off x="4352544" y="3440296"/>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51" name="Text 49"/>
          <p:cNvSpPr txBox="1"/>
          <p:nvPr/>
        </p:nvSpPr>
        <p:spPr>
          <a:xfrm>
            <a:off x="5138928" y="344029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$480</a:t>
            </a:r>
            <a:endParaRPr lang="en-US" sz="1300" dirty="0"/>
          </a:p>
        </p:txBody>
      </p:sp>
      <p:sp>
        <p:nvSpPr>
          <p:cNvPr id="52" name="Text 50"/>
          <p:cNvSpPr txBox="1"/>
          <p:nvPr/>
        </p:nvSpPr>
        <p:spPr>
          <a:xfrm>
            <a:off x="658368"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53" name="Shape 51"/>
          <p:cNvSpPr/>
          <p:nvPr/>
        </p:nvSpPr>
        <p:spPr>
          <a:xfrm>
            <a:off x="2670048" y="3744710"/>
            <a:ext cx="316904" cy="136676"/>
          </a:xfrm>
          <a:prstGeom prst="rect">
            <a:avLst/>
          </a:prstGeom>
          <a:solidFill>
            <a:srgbClr val="2587C5"/>
          </a:solidFill>
          <a:ln/>
        </p:spPr>
      </p:sp>
      <p:sp>
        <p:nvSpPr>
          <p:cNvPr id="54" name="Text 52"/>
          <p:cNvSpPr txBox="1"/>
          <p:nvPr/>
        </p:nvSpPr>
        <p:spPr>
          <a:xfrm>
            <a:off x="3529584" y="368879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$141K</a:t>
            </a:r>
            <a:endParaRPr lang="en-US" sz="1300" dirty="0"/>
          </a:p>
        </p:txBody>
      </p:sp>
      <p:sp>
        <p:nvSpPr>
          <p:cNvPr id="55" name="Text 53"/>
          <p:cNvSpPr txBox="1"/>
          <p:nvPr/>
        </p:nvSpPr>
        <p:spPr>
          <a:xfrm>
            <a:off x="4352544" y="368879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a:t>
            </a:r>
            <a:endParaRPr lang="en-US" sz="1300" dirty="0"/>
          </a:p>
        </p:txBody>
      </p:sp>
      <p:sp>
        <p:nvSpPr>
          <p:cNvPr id="56" name="Text 54"/>
          <p:cNvSpPr txBox="1"/>
          <p:nvPr/>
        </p:nvSpPr>
        <p:spPr>
          <a:xfrm>
            <a:off x="5138928" y="368879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$460</a:t>
            </a:r>
            <a:endParaRPr lang="en-US" sz="1300" dirty="0"/>
          </a:p>
        </p:txBody>
      </p:sp>
      <p:sp>
        <p:nvSpPr>
          <p:cNvPr id="57" name="Text 55"/>
          <p:cNvSpPr txBox="1"/>
          <p:nvPr/>
        </p:nvSpPr>
        <p:spPr>
          <a:xfrm>
            <a:off x="658368"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58" name="Shape 56"/>
          <p:cNvSpPr/>
          <p:nvPr/>
        </p:nvSpPr>
        <p:spPr>
          <a:xfrm>
            <a:off x="2670048" y="3993212"/>
            <a:ext cx="295308" cy="136676"/>
          </a:xfrm>
          <a:prstGeom prst="rect">
            <a:avLst/>
          </a:prstGeom>
          <a:solidFill>
            <a:srgbClr val="2587C5"/>
          </a:solidFill>
          <a:ln/>
        </p:spPr>
      </p:sp>
      <p:sp>
        <p:nvSpPr>
          <p:cNvPr id="59" name="Text 57"/>
          <p:cNvSpPr txBox="1"/>
          <p:nvPr/>
        </p:nvSpPr>
        <p:spPr>
          <a:xfrm>
            <a:off x="3529584" y="393729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$132K</a:t>
            </a:r>
            <a:endParaRPr lang="en-US" sz="1300" dirty="0"/>
          </a:p>
        </p:txBody>
      </p:sp>
      <p:sp>
        <p:nvSpPr>
          <p:cNvPr id="60" name="Text 58"/>
          <p:cNvSpPr txBox="1"/>
          <p:nvPr/>
        </p:nvSpPr>
        <p:spPr>
          <a:xfrm>
            <a:off x="4352544" y="393729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61" name="Text 59"/>
          <p:cNvSpPr txBox="1"/>
          <p:nvPr/>
        </p:nvSpPr>
        <p:spPr>
          <a:xfrm>
            <a:off x="5138928" y="393729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$429</a:t>
            </a:r>
            <a:endParaRPr lang="en-US" sz="1300" dirty="0"/>
          </a:p>
        </p:txBody>
      </p:sp>
      <p:sp>
        <p:nvSpPr>
          <p:cNvPr id="62" name="Text 60"/>
          <p:cNvSpPr txBox="1"/>
          <p:nvPr/>
        </p:nvSpPr>
        <p:spPr>
          <a:xfrm>
            <a:off x="658368"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63" name="Shape 61"/>
          <p:cNvSpPr/>
          <p:nvPr/>
        </p:nvSpPr>
        <p:spPr>
          <a:xfrm>
            <a:off x="2670048" y="4241713"/>
            <a:ext cx="279971" cy="136676"/>
          </a:xfrm>
          <a:prstGeom prst="rect">
            <a:avLst/>
          </a:prstGeom>
          <a:solidFill>
            <a:srgbClr val="2587C5"/>
          </a:solidFill>
          <a:ln/>
        </p:spPr>
      </p:sp>
      <p:sp>
        <p:nvSpPr>
          <p:cNvPr id="64" name="Text 62"/>
          <p:cNvSpPr txBox="1"/>
          <p:nvPr/>
        </p:nvSpPr>
        <p:spPr>
          <a:xfrm>
            <a:off x="3529584" y="4185800"/>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$125K</a:t>
            </a:r>
            <a:endParaRPr lang="en-US" sz="1300" dirty="0"/>
          </a:p>
        </p:txBody>
      </p:sp>
      <p:sp>
        <p:nvSpPr>
          <p:cNvPr id="65" name="Text 63"/>
          <p:cNvSpPr txBox="1"/>
          <p:nvPr/>
        </p:nvSpPr>
        <p:spPr>
          <a:xfrm>
            <a:off x="4352544" y="4185800"/>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66" name="Text 64"/>
          <p:cNvSpPr txBox="1"/>
          <p:nvPr/>
        </p:nvSpPr>
        <p:spPr>
          <a:xfrm>
            <a:off x="5138928" y="4185800"/>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$406</a:t>
            </a:r>
            <a:endParaRPr lang="en-US" sz="1300" dirty="0"/>
          </a:p>
        </p:txBody>
      </p:sp>
      <p:sp>
        <p:nvSpPr>
          <p:cNvPr id="67" name="Text 65"/>
          <p:cNvSpPr txBox="1"/>
          <p:nvPr/>
        </p:nvSpPr>
        <p:spPr>
          <a:xfrm>
            <a:off x="658368"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68" name="Shape 66"/>
          <p:cNvSpPr/>
          <p:nvPr/>
        </p:nvSpPr>
        <p:spPr>
          <a:xfrm>
            <a:off x="2670048" y="4490215"/>
            <a:ext cx="275254" cy="136676"/>
          </a:xfrm>
          <a:prstGeom prst="rect">
            <a:avLst/>
          </a:prstGeom>
          <a:solidFill>
            <a:srgbClr val="2587C5"/>
          </a:solidFill>
          <a:ln/>
        </p:spPr>
      </p:sp>
      <p:sp>
        <p:nvSpPr>
          <p:cNvPr id="69" name="Text 67"/>
          <p:cNvSpPr txBox="1"/>
          <p:nvPr/>
        </p:nvSpPr>
        <p:spPr>
          <a:xfrm>
            <a:off x="3529584" y="4434302"/>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$123K</a:t>
            </a:r>
            <a:endParaRPr lang="en-US" sz="1300" dirty="0"/>
          </a:p>
        </p:txBody>
      </p:sp>
      <p:sp>
        <p:nvSpPr>
          <p:cNvPr id="70" name="Text 68"/>
          <p:cNvSpPr txBox="1"/>
          <p:nvPr/>
        </p:nvSpPr>
        <p:spPr>
          <a:xfrm>
            <a:off x="4352544" y="4434302"/>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a:t>
            </a:r>
            <a:endParaRPr lang="en-US" sz="1300" dirty="0"/>
          </a:p>
        </p:txBody>
      </p:sp>
      <p:sp>
        <p:nvSpPr>
          <p:cNvPr id="71" name="Text 69"/>
          <p:cNvSpPr txBox="1"/>
          <p:nvPr/>
        </p:nvSpPr>
        <p:spPr>
          <a:xfrm>
            <a:off x="5138928" y="443430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$399</a:t>
            </a:r>
            <a:endParaRPr lang="en-US" sz="1300" dirty="0"/>
          </a:p>
        </p:txBody>
      </p:sp>
      <p:sp>
        <p:nvSpPr>
          <p:cNvPr id="72" name="Text 70"/>
          <p:cNvSpPr txBox="1"/>
          <p:nvPr/>
        </p:nvSpPr>
        <p:spPr>
          <a:xfrm>
            <a:off x="658368"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73" name="Shape 71"/>
          <p:cNvSpPr/>
          <p:nvPr/>
        </p:nvSpPr>
        <p:spPr>
          <a:xfrm>
            <a:off x="2670048" y="4738717"/>
            <a:ext cx="249770" cy="136676"/>
          </a:xfrm>
          <a:prstGeom prst="rect">
            <a:avLst/>
          </a:prstGeom>
          <a:solidFill>
            <a:srgbClr val="2587C5"/>
          </a:solidFill>
          <a:ln/>
        </p:spPr>
      </p:sp>
      <p:sp>
        <p:nvSpPr>
          <p:cNvPr id="74" name="Text 72"/>
          <p:cNvSpPr txBox="1"/>
          <p:nvPr/>
        </p:nvSpPr>
        <p:spPr>
          <a:xfrm>
            <a:off x="3529584" y="468280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$111K</a:t>
            </a:r>
            <a:endParaRPr lang="en-US" sz="1300" dirty="0"/>
          </a:p>
        </p:txBody>
      </p:sp>
      <p:sp>
        <p:nvSpPr>
          <p:cNvPr id="75" name="Text 73"/>
          <p:cNvSpPr txBox="1"/>
          <p:nvPr/>
        </p:nvSpPr>
        <p:spPr>
          <a:xfrm>
            <a:off x="4352544" y="468280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85</a:t>
            </a:r>
            <a:endParaRPr lang="en-US" sz="1300" dirty="0"/>
          </a:p>
        </p:txBody>
      </p:sp>
      <p:sp>
        <p:nvSpPr>
          <p:cNvPr id="76" name="Text 74"/>
          <p:cNvSpPr txBox="1"/>
          <p:nvPr/>
        </p:nvSpPr>
        <p:spPr>
          <a:xfrm>
            <a:off x="5138928" y="468280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$362</a:t>
            </a:r>
            <a:endParaRPr lang="en-US" sz="1300" dirty="0"/>
          </a:p>
        </p:txBody>
      </p:sp>
      <p:sp>
        <p:nvSpPr>
          <p:cNvPr id="77" name="Text 75"/>
          <p:cNvSpPr txBox="1"/>
          <p:nvPr/>
        </p:nvSpPr>
        <p:spPr>
          <a:xfrm>
            <a:off x="658368"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78" name="Shape 76"/>
          <p:cNvSpPr/>
          <p:nvPr/>
        </p:nvSpPr>
        <p:spPr>
          <a:xfrm>
            <a:off x="2670048" y="4987218"/>
            <a:ext cx="246222" cy="136676"/>
          </a:xfrm>
          <a:prstGeom prst="rect">
            <a:avLst/>
          </a:prstGeom>
          <a:solidFill>
            <a:srgbClr val="2587C5"/>
          </a:solidFill>
          <a:ln/>
        </p:spPr>
      </p:sp>
      <p:sp>
        <p:nvSpPr>
          <p:cNvPr id="79" name="Text 77"/>
          <p:cNvSpPr txBox="1"/>
          <p:nvPr/>
        </p:nvSpPr>
        <p:spPr>
          <a:xfrm>
            <a:off x="3529584" y="4931305"/>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$110K</a:t>
            </a:r>
            <a:endParaRPr lang="en-US" sz="1300" dirty="0"/>
          </a:p>
        </p:txBody>
      </p:sp>
      <p:sp>
        <p:nvSpPr>
          <p:cNvPr id="80" name="Text 78"/>
          <p:cNvSpPr txBox="1"/>
          <p:nvPr/>
        </p:nvSpPr>
        <p:spPr>
          <a:xfrm>
            <a:off x="4352544" y="4931305"/>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a:t>
            </a:r>
            <a:endParaRPr lang="en-US" sz="1300" dirty="0"/>
          </a:p>
        </p:txBody>
      </p:sp>
      <p:sp>
        <p:nvSpPr>
          <p:cNvPr id="81" name="Text 79"/>
          <p:cNvSpPr txBox="1"/>
          <p:nvPr/>
        </p:nvSpPr>
        <p:spPr>
          <a:xfrm>
            <a:off x="5138928" y="4931305"/>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$357</a:t>
            </a:r>
            <a:endParaRPr lang="en-US" sz="1300" dirty="0"/>
          </a:p>
        </p:txBody>
      </p:sp>
      <p:sp>
        <p:nvSpPr>
          <p:cNvPr id="82" name="Text 80"/>
          <p:cNvSpPr txBox="1"/>
          <p:nvPr/>
        </p:nvSpPr>
        <p:spPr>
          <a:xfrm>
            <a:off x="658368"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83" name="Shape 81"/>
          <p:cNvSpPr/>
          <p:nvPr/>
        </p:nvSpPr>
        <p:spPr>
          <a:xfrm>
            <a:off x="2670048" y="5235720"/>
            <a:ext cx="245006" cy="136676"/>
          </a:xfrm>
          <a:prstGeom prst="rect">
            <a:avLst/>
          </a:prstGeom>
          <a:solidFill>
            <a:srgbClr val="2587C5"/>
          </a:solidFill>
          <a:ln/>
        </p:spPr>
      </p:sp>
      <p:sp>
        <p:nvSpPr>
          <p:cNvPr id="84" name="Text 82"/>
          <p:cNvSpPr txBox="1"/>
          <p:nvPr/>
        </p:nvSpPr>
        <p:spPr>
          <a:xfrm>
            <a:off x="3529584" y="517980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$109K</a:t>
            </a:r>
            <a:endParaRPr lang="en-US" sz="1300" dirty="0"/>
          </a:p>
        </p:txBody>
      </p:sp>
      <p:sp>
        <p:nvSpPr>
          <p:cNvPr id="85" name="Text 83"/>
          <p:cNvSpPr txBox="1"/>
          <p:nvPr/>
        </p:nvSpPr>
        <p:spPr>
          <a:xfrm>
            <a:off x="4352544" y="517980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86" name="Text 84"/>
          <p:cNvSpPr txBox="1"/>
          <p:nvPr/>
        </p:nvSpPr>
        <p:spPr>
          <a:xfrm>
            <a:off x="5138928" y="517980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$356</a:t>
            </a:r>
            <a:endParaRPr lang="en-US" sz="1300" dirty="0"/>
          </a:p>
        </p:txBody>
      </p:sp>
      <p:sp>
        <p:nvSpPr>
          <p:cNvPr id="87" name="Text 85"/>
          <p:cNvSpPr txBox="1"/>
          <p:nvPr/>
        </p:nvSpPr>
        <p:spPr>
          <a:xfrm>
            <a:off x="658368"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88" name="Shape 86"/>
          <p:cNvSpPr/>
          <p:nvPr/>
        </p:nvSpPr>
        <p:spPr>
          <a:xfrm>
            <a:off x="2670048" y="5484222"/>
            <a:ext cx="243965" cy="136676"/>
          </a:xfrm>
          <a:prstGeom prst="rect">
            <a:avLst/>
          </a:prstGeom>
          <a:solidFill>
            <a:srgbClr val="2587C5"/>
          </a:solidFill>
          <a:ln/>
        </p:spPr>
      </p:sp>
      <p:sp>
        <p:nvSpPr>
          <p:cNvPr id="89" name="Text 87"/>
          <p:cNvSpPr txBox="1"/>
          <p:nvPr/>
        </p:nvSpPr>
        <p:spPr>
          <a:xfrm>
            <a:off x="3529584" y="542830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$109K</a:t>
            </a:r>
            <a:endParaRPr lang="en-US" sz="1300" dirty="0"/>
          </a:p>
        </p:txBody>
      </p:sp>
      <p:sp>
        <p:nvSpPr>
          <p:cNvPr id="90" name="Text 88"/>
          <p:cNvSpPr txBox="1"/>
          <p:nvPr/>
        </p:nvSpPr>
        <p:spPr>
          <a:xfrm>
            <a:off x="4352544" y="542830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62</a:t>
            </a:r>
            <a:endParaRPr lang="en-US" sz="1300" dirty="0"/>
          </a:p>
        </p:txBody>
      </p:sp>
      <p:sp>
        <p:nvSpPr>
          <p:cNvPr id="91" name="Text 89"/>
          <p:cNvSpPr txBox="1"/>
          <p:nvPr/>
        </p:nvSpPr>
        <p:spPr>
          <a:xfrm>
            <a:off x="5138928" y="542830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$354</a:t>
            </a:r>
            <a:endParaRPr lang="en-US" sz="1300" dirty="0"/>
          </a:p>
        </p:txBody>
      </p:sp>
      <p:sp>
        <p:nvSpPr>
          <p:cNvPr id="92" name="Text 90"/>
          <p:cNvSpPr txBox="1"/>
          <p:nvPr/>
        </p:nvSpPr>
        <p:spPr>
          <a:xfrm>
            <a:off x="658368" y="567681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93" name="Shape 91"/>
          <p:cNvSpPr/>
          <p:nvPr/>
        </p:nvSpPr>
        <p:spPr>
          <a:xfrm>
            <a:off x="2670048" y="5732723"/>
            <a:ext cx="232714" cy="136676"/>
          </a:xfrm>
          <a:prstGeom prst="rect">
            <a:avLst/>
          </a:prstGeom>
          <a:solidFill>
            <a:srgbClr val="2587C5"/>
          </a:solidFill>
          <a:ln/>
        </p:spPr>
      </p:sp>
      <p:sp>
        <p:nvSpPr>
          <p:cNvPr id="94" name="Text 92"/>
          <p:cNvSpPr txBox="1"/>
          <p:nvPr/>
        </p:nvSpPr>
        <p:spPr>
          <a:xfrm>
            <a:off x="3529584" y="5676810"/>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$104K</a:t>
            </a:r>
            <a:endParaRPr lang="en-US" sz="1300" dirty="0"/>
          </a:p>
        </p:txBody>
      </p:sp>
      <p:sp>
        <p:nvSpPr>
          <p:cNvPr id="95" name="Text 93"/>
          <p:cNvSpPr txBox="1"/>
          <p:nvPr/>
        </p:nvSpPr>
        <p:spPr>
          <a:xfrm>
            <a:off x="4352544" y="5676810"/>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65</a:t>
            </a:r>
            <a:endParaRPr lang="en-US" sz="1300" dirty="0"/>
          </a:p>
        </p:txBody>
      </p:sp>
      <p:sp>
        <p:nvSpPr>
          <p:cNvPr id="96" name="Text 94"/>
          <p:cNvSpPr txBox="1"/>
          <p:nvPr/>
        </p:nvSpPr>
        <p:spPr>
          <a:xfrm>
            <a:off x="5138928" y="5676810"/>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$338</a:t>
            </a:r>
            <a:endParaRPr lang="en-US" sz="1300" dirty="0"/>
          </a:p>
        </p:txBody>
      </p:sp>
      <p:sp>
        <p:nvSpPr>
          <p:cNvPr id="97" name="Text 95"/>
          <p:cNvSpPr txBox="1"/>
          <p:nvPr/>
        </p:nvSpPr>
        <p:spPr>
          <a:xfrm>
            <a:off x="6208776"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98" name="Shape 96"/>
          <p:cNvSpPr/>
          <p:nvPr/>
        </p:nvSpPr>
        <p:spPr>
          <a:xfrm>
            <a:off x="8220456" y="1756697"/>
            <a:ext cx="232057" cy="136676"/>
          </a:xfrm>
          <a:prstGeom prst="rect">
            <a:avLst/>
          </a:prstGeom>
          <a:solidFill>
            <a:srgbClr val="2587C5"/>
          </a:solidFill>
          <a:ln/>
        </p:spPr>
      </p:sp>
      <p:sp>
        <p:nvSpPr>
          <p:cNvPr id="99" name="Text 97"/>
          <p:cNvSpPr txBox="1"/>
          <p:nvPr/>
        </p:nvSpPr>
        <p:spPr>
          <a:xfrm>
            <a:off x="9079992" y="170078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$103K</a:t>
            </a:r>
            <a:endParaRPr lang="en-US" sz="1300" dirty="0"/>
          </a:p>
        </p:txBody>
      </p:sp>
      <p:sp>
        <p:nvSpPr>
          <p:cNvPr id="100" name="Text 98"/>
          <p:cNvSpPr txBox="1"/>
          <p:nvPr/>
        </p:nvSpPr>
        <p:spPr>
          <a:xfrm>
            <a:off x="9902952" y="170078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98</a:t>
            </a:r>
            <a:endParaRPr lang="en-US" sz="1300" dirty="0"/>
          </a:p>
        </p:txBody>
      </p:sp>
      <p:sp>
        <p:nvSpPr>
          <p:cNvPr id="101" name="Text 99"/>
          <p:cNvSpPr txBox="1"/>
          <p:nvPr/>
        </p:nvSpPr>
        <p:spPr>
          <a:xfrm>
            <a:off x="10689336" y="170078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$337</a:t>
            </a:r>
            <a:endParaRPr lang="en-US" sz="1300" dirty="0"/>
          </a:p>
        </p:txBody>
      </p:sp>
      <p:sp>
        <p:nvSpPr>
          <p:cNvPr id="102" name="Text 100"/>
          <p:cNvSpPr txBox="1"/>
          <p:nvPr/>
        </p:nvSpPr>
        <p:spPr>
          <a:xfrm>
            <a:off x="6208776"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03" name="Shape 101"/>
          <p:cNvSpPr/>
          <p:nvPr/>
        </p:nvSpPr>
        <p:spPr>
          <a:xfrm>
            <a:off x="8220456" y="2005199"/>
            <a:ext cx="227868" cy="136676"/>
          </a:xfrm>
          <a:prstGeom prst="rect">
            <a:avLst/>
          </a:prstGeom>
          <a:solidFill>
            <a:srgbClr val="2587C5"/>
          </a:solidFill>
          <a:ln/>
        </p:spPr>
      </p:sp>
      <p:sp>
        <p:nvSpPr>
          <p:cNvPr id="104" name="Text 102"/>
          <p:cNvSpPr txBox="1"/>
          <p:nvPr/>
        </p:nvSpPr>
        <p:spPr>
          <a:xfrm>
            <a:off x="9079992" y="1949286"/>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$102K</a:t>
            </a:r>
            <a:endParaRPr lang="en-US" sz="1300" dirty="0"/>
          </a:p>
        </p:txBody>
      </p:sp>
      <p:sp>
        <p:nvSpPr>
          <p:cNvPr id="105" name="Text 103"/>
          <p:cNvSpPr txBox="1"/>
          <p:nvPr/>
        </p:nvSpPr>
        <p:spPr>
          <a:xfrm>
            <a:off x="9902952" y="1949286"/>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a:t>
            </a:r>
            <a:endParaRPr lang="en-US" sz="1300" dirty="0"/>
          </a:p>
        </p:txBody>
      </p:sp>
      <p:sp>
        <p:nvSpPr>
          <p:cNvPr id="106" name="Text 104"/>
          <p:cNvSpPr txBox="1"/>
          <p:nvPr/>
        </p:nvSpPr>
        <p:spPr>
          <a:xfrm>
            <a:off x="10689336" y="194928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$331</a:t>
            </a:r>
            <a:endParaRPr lang="en-US" sz="1300" dirty="0"/>
          </a:p>
        </p:txBody>
      </p:sp>
      <p:sp>
        <p:nvSpPr>
          <p:cNvPr id="107" name="Text 105"/>
          <p:cNvSpPr txBox="1"/>
          <p:nvPr/>
        </p:nvSpPr>
        <p:spPr>
          <a:xfrm>
            <a:off x="6208776"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08" name="Shape 106"/>
          <p:cNvSpPr/>
          <p:nvPr/>
        </p:nvSpPr>
        <p:spPr>
          <a:xfrm>
            <a:off x="8220456" y="2253700"/>
            <a:ext cx="216710" cy="136676"/>
          </a:xfrm>
          <a:prstGeom prst="rect">
            <a:avLst/>
          </a:prstGeom>
          <a:solidFill>
            <a:srgbClr val="2587C5"/>
          </a:solidFill>
          <a:ln/>
        </p:spPr>
      </p:sp>
      <p:sp>
        <p:nvSpPr>
          <p:cNvPr id="109" name="Text 107"/>
          <p:cNvSpPr txBox="1"/>
          <p:nvPr/>
        </p:nvSpPr>
        <p:spPr>
          <a:xfrm>
            <a:off x="9079992" y="219778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$97K</a:t>
            </a:r>
            <a:endParaRPr lang="en-US" sz="1300" dirty="0"/>
          </a:p>
        </p:txBody>
      </p:sp>
      <p:sp>
        <p:nvSpPr>
          <p:cNvPr id="110" name="Text 108"/>
          <p:cNvSpPr txBox="1"/>
          <p:nvPr/>
        </p:nvSpPr>
        <p:spPr>
          <a:xfrm>
            <a:off x="9902952" y="219778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111" name="Text 109"/>
          <p:cNvSpPr txBox="1"/>
          <p:nvPr/>
        </p:nvSpPr>
        <p:spPr>
          <a:xfrm>
            <a:off x="10689336" y="219778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$314</a:t>
            </a:r>
            <a:endParaRPr lang="en-US" sz="1300" dirty="0"/>
          </a:p>
        </p:txBody>
      </p:sp>
      <p:sp>
        <p:nvSpPr>
          <p:cNvPr id="112" name="Text 110"/>
          <p:cNvSpPr txBox="1"/>
          <p:nvPr/>
        </p:nvSpPr>
        <p:spPr>
          <a:xfrm>
            <a:off x="6208776"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13" name="Shape 111"/>
          <p:cNvSpPr/>
          <p:nvPr/>
        </p:nvSpPr>
        <p:spPr>
          <a:xfrm>
            <a:off x="8220456" y="2502202"/>
            <a:ext cx="213355" cy="136676"/>
          </a:xfrm>
          <a:prstGeom prst="rect">
            <a:avLst/>
          </a:prstGeom>
          <a:solidFill>
            <a:srgbClr val="2587C5"/>
          </a:solidFill>
          <a:ln/>
        </p:spPr>
      </p:sp>
      <p:sp>
        <p:nvSpPr>
          <p:cNvPr id="114" name="Text 112"/>
          <p:cNvSpPr txBox="1"/>
          <p:nvPr/>
        </p:nvSpPr>
        <p:spPr>
          <a:xfrm>
            <a:off x="9079992" y="244628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$95K</a:t>
            </a:r>
            <a:endParaRPr lang="en-US" sz="1300" dirty="0"/>
          </a:p>
        </p:txBody>
      </p:sp>
      <p:sp>
        <p:nvSpPr>
          <p:cNvPr id="115" name="Text 113"/>
          <p:cNvSpPr txBox="1"/>
          <p:nvPr/>
        </p:nvSpPr>
        <p:spPr>
          <a:xfrm>
            <a:off x="9902952" y="244628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a:t>
            </a:r>
            <a:endParaRPr lang="en-US" sz="1300" dirty="0"/>
          </a:p>
        </p:txBody>
      </p:sp>
      <p:sp>
        <p:nvSpPr>
          <p:cNvPr id="116" name="Text 114"/>
          <p:cNvSpPr txBox="1"/>
          <p:nvPr/>
        </p:nvSpPr>
        <p:spPr>
          <a:xfrm>
            <a:off x="10689336" y="244628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$310</a:t>
            </a:r>
            <a:endParaRPr lang="en-US" sz="1300" dirty="0"/>
          </a:p>
        </p:txBody>
      </p:sp>
      <p:sp>
        <p:nvSpPr>
          <p:cNvPr id="117" name="Text 115"/>
          <p:cNvSpPr txBox="1"/>
          <p:nvPr/>
        </p:nvSpPr>
        <p:spPr>
          <a:xfrm>
            <a:off x="6208776"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18" name="Shape 116"/>
          <p:cNvSpPr/>
          <p:nvPr/>
        </p:nvSpPr>
        <p:spPr>
          <a:xfrm>
            <a:off x="8220456" y="2750703"/>
            <a:ext cx="211393" cy="136676"/>
          </a:xfrm>
          <a:prstGeom prst="rect">
            <a:avLst/>
          </a:prstGeom>
          <a:solidFill>
            <a:srgbClr val="2587C5"/>
          </a:solidFill>
          <a:ln/>
        </p:spPr>
      </p:sp>
      <p:sp>
        <p:nvSpPr>
          <p:cNvPr id="119" name="Text 117"/>
          <p:cNvSpPr txBox="1"/>
          <p:nvPr/>
        </p:nvSpPr>
        <p:spPr>
          <a:xfrm>
            <a:off x="9079992" y="2694791"/>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$94K</a:t>
            </a:r>
            <a:endParaRPr lang="en-US" sz="1300" dirty="0"/>
          </a:p>
        </p:txBody>
      </p:sp>
      <p:sp>
        <p:nvSpPr>
          <p:cNvPr id="120" name="Text 118"/>
          <p:cNvSpPr txBox="1"/>
          <p:nvPr/>
        </p:nvSpPr>
        <p:spPr>
          <a:xfrm>
            <a:off x="9902952" y="2694791"/>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a:t>
            </a:r>
            <a:endParaRPr lang="en-US" sz="1300" dirty="0"/>
          </a:p>
        </p:txBody>
      </p:sp>
      <p:sp>
        <p:nvSpPr>
          <p:cNvPr id="121" name="Text 119"/>
          <p:cNvSpPr txBox="1"/>
          <p:nvPr/>
        </p:nvSpPr>
        <p:spPr>
          <a:xfrm>
            <a:off x="10689336" y="2694791"/>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$307</a:t>
            </a:r>
            <a:endParaRPr lang="en-US" sz="1300" dirty="0"/>
          </a:p>
        </p:txBody>
      </p:sp>
      <p:sp>
        <p:nvSpPr>
          <p:cNvPr id="122" name="Text 120"/>
          <p:cNvSpPr txBox="1"/>
          <p:nvPr/>
        </p:nvSpPr>
        <p:spPr>
          <a:xfrm>
            <a:off x="6208776"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23" name="Shape 121"/>
          <p:cNvSpPr/>
          <p:nvPr/>
        </p:nvSpPr>
        <p:spPr>
          <a:xfrm>
            <a:off x="8220456" y="2999205"/>
            <a:ext cx="201201" cy="136676"/>
          </a:xfrm>
          <a:prstGeom prst="rect">
            <a:avLst/>
          </a:prstGeom>
          <a:solidFill>
            <a:srgbClr val="2587C5"/>
          </a:solidFill>
          <a:ln/>
        </p:spPr>
      </p:sp>
      <p:sp>
        <p:nvSpPr>
          <p:cNvPr id="124" name="Text 122"/>
          <p:cNvSpPr txBox="1"/>
          <p:nvPr/>
        </p:nvSpPr>
        <p:spPr>
          <a:xfrm>
            <a:off x="9079992" y="2943292"/>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$90K</a:t>
            </a:r>
            <a:endParaRPr lang="en-US" sz="1300" dirty="0"/>
          </a:p>
        </p:txBody>
      </p:sp>
      <p:sp>
        <p:nvSpPr>
          <p:cNvPr id="125" name="Text 123"/>
          <p:cNvSpPr txBox="1"/>
          <p:nvPr/>
        </p:nvSpPr>
        <p:spPr>
          <a:xfrm>
            <a:off x="9902952" y="2943292"/>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a:t>
            </a:r>
            <a:endParaRPr lang="en-US" sz="1300" dirty="0"/>
          </a:p>
        </p:txBody>
      </p:sp>
      <p:sp>
        <p:nvSpPr>
          <p:cNvPr id="126" name="Text 124"/>
          <p:cNvSpPr txBox="1"/>
          <p:nvPr/>
        </p:nvSpPr>
        <p:spPr>
          <a:xfrm>
            <a:off x="10689336" y="294329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$292</a:t>
            </a:r>
            <a:endParaRPr lang="en-US" sz="1300" dirty="0"/>
          </a:p>
        </p:txBody>
      </p:sp>
      <p:sp>
        <p:nvSpPr>
          <p:cNvPr id="127" name="Text 125"/>
          <p:cNvSpPr txBox="1"/>
          <p:nvPr/>
        </p:nvSpPr>
        <p:spPr>
          <a:xfrm>
            <a:off x="6208776"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28" name="Shape 126"/>
          <p:cNvSpPr/>
          <p:nvPr/>
        </p:nvSpPr>
        <p:spPr>
          <a:xfrm>
            <a:off x="8220456" y="3247707"/>
            <a:ext cx="195251" cy="136676"/>
          </a:xfrm>
          <a:prstGeom prst="rect">
            <a:avLst/>
          </a:prstGeom>
          <a:solidFill>
            <a:srgbClr val="2587C5"/>
          </a:solidFill>
          <a:ln/>
        </p:spPr>
      </p:sp>
      <p:sp>
        <p:nvSpPr>
          <p:cNvPr id="129" name="Text 127"/>
          <p:cNvSpPr txBox="1"/>
          <p:nvPr/>
        </p:nvSpPr>
        <p:spPr>
          <a:xfrm>
            <a:off x="9079992" y="319179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$87K</a:t>
            </a:r>
            <a:endParaRPr lang="en-US" sz="1300" dirty="0"/>
          </a:p>
        </p:txBody>
      </p:sp>
      <p:sp>
        <p:nvSpPr>
          <p:cNvPr id="130" name="Text 128"/>
          <p:cNvSpPr txBox="1"/>
          <p:nvPr/>
        </p:nvSpPr>
        <p:spPr>
          <a:xfrm>
            <a:off x="9902952" y="319179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a:t>
            </a:r>
            <a:endParaRPr lang="en-US" sz="1300" dirty="0"/>
          </a:p>
        </p:txBody>
      </p:sp>
      <p:sp>
        <p:nvSpPr>
          <p:cNvPr id="131" name="Text 129"/>
          <p:cNvSpPr txBox="1"/>
          <p:nvPr/>
        </p:nvSpPr>
        <p:spPr>
          <a:xfrm>
            <a:off x="10689336" y="319179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$283</a:t>
            </a:r>
            <a:endParaRPr lang="en-US" sz="1300" dirty="0"/>
          </a:p>
        </p:txBody>
      </p:sp>
      <p:sp>
        <p:nvSpPr>
          <p:cNvPr id="132" name="Text 130"/>
          <p:cNvSpPr txBox="1"/>
          <p:nvPr/>
        </p:nvSpPr>
        <p:spPr>
          <a:xfrm>
            <a:off x="6208776"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33" name="Shape 131"/>
          <p:cNvSpPr/>
          <p:nvPr/>
        </p:nvSpPr>
        <p:spPr>
          <a:xfrm>
            <a:off x="8220456" y="3496208"/>
            <a:ext cx="193063" cy="136676"/>
          </a:xfrm>
          <a:prstGeom prst="rect">
            <a:avLst/>
          </a:prstGeom>
          <a:solidFill>
            <a:srgbClr val="2587C5"/>
          </a:solidFill>
          <a:ln/>
        </p:spPr>
      </p:sp>
      <p:sp>
        <p:nvSpPr>
          <p:cNvPr id="134" name="Text 132"/>
          <p:cNvSpPr txBox="1"/>
          <p:nvPr/>
        </p:nvSpPr>
        <p:spPr>
          <a:xfrm>
            <a:off x="9079992" y="3440296"/>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$86K</a:t>
            </a:r>
            <a:endParaRPr lang="en-US" sz="1300" dirty="0"/>
          </a:p>
        </p:txBody>
      </p:sp>
      <p:sp>
        <p:nvSpPr>
          <p:cNvPr id="135" name="Text 133"/>
          <p:cNvSpPr txBox="1"/>
          <p:nvPr/>
        </p:nvSpPr>
        <p:spPr>
          <a:xfrm>
            <a:off x="9902952" y="3440296"/>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a:t>
            </a:r>
            <a:endParaRPr lang="en-US" sz="1300" dirty="0"/>
          </a:p>
        </p:txBody>
      </p:sp>
      <p:sp>
        <p:nvSpPr>
          <p:cNvPr id="136" name="Text 134"/>
          <p:cNvSpPr txBox="1"/>
          <p:nvPr/>
        </p:nvSpPr>
        <p:spPr>
          <a:xfrm>
            <a:off x="10689336" y="344029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$280</a:t>
            </a:r>
            <a:endParaRPr lang="en-US" sz="1300" dirty="0"/>
          </a:p>
        </p:txBody>
      </p:sp>
      <p:sp>
        <p:nvSpPr>
          <p:cNvPr id="137" name="Text 135"/>
          <p:cNvSpPr txBox="1"/>
          <p:nvPr/>
        </p:nvSpPr>
        <p:spPr>
          <a:xfrm>
            <a:off x="6208776"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38" name="Shape 136"/>
          <p:cNvSpPr/>
          <p:nvPr/>
        </p:nvSpPr>
        <p:spPr>
          <a:xfrm>
            <a:off x="8220456" y="3744710"/>
            <a:ext cx="184766" cy="136676"/>
          </a:xfrm>
          <a:prstGeom prst="rect">
            <a:avLst/>
          </a:prstGeom>
          <a:solidFill>
            <a:srgbClr val="2587C5"/>
          </a:solidFill>
          <a:ln/>
        </p:spPr>
      </p:sp>
      <p:sp>
        <p:nvSpPr>
          <p:cNvPr id="139" name="Text 137"/>
          <p:cNvSpPr txBox="1"/>
          <p:nvPr/>
        </p:nvSpPr>
        <p:spPr>
          <a:xfrm>
            <a:off x="9079992" y="368879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$82K</a:t>
            </a:r>
            <a:endParaRPr lang="en-US" sz="1300" dirty="0"/>
          </a:p>
        </p:txBody>
      </p:sp>
      <p:sp>
        <p:nvSpPr>
          <p:cNvPr id="140" name="Text 138"/>
          <p:cNvSpPr txBox="1"/>
          <p:nvPr/>
        </p:nvSpPr>
        <p:spPr>
          <a:xfrm>
            <a:off x="9902952" y="368879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a:t>
            </a:r>
            <a:endParaRPr lang="en-US" sz="1300" dirty="0"/>
          </a:p>
        </p:txBody>
      </p:sp>
      <p:sp>
        <p:nvSpPr>
          <p:cNvPr id="141" name="Text 139"/>
          <p:cNvSpPr txBox="1"/>
          <p:nvPr/>
        </p:nvSpPr>
        <p:spPr>
          <a:xfrm>
            <a:off x="10689336" y="368879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$268</a:t>
            </a:r>
            <a:endParaRPr lang="en-US" sz="1300" dirty="0"/>
          </a:p>
        </p:txBody>
      </p:sp>
      <p:sp>
        <p:nvSpPr>
          <p:cNvPr id="142" name="Text 140"/>
          <p:cNvSpPr txBox="1"/>
          <p:nvPr/>
        </p:nvSpPr>
        <p:spPr>
          <a:xfrm>
            <a:off x="6208776"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43" name="Shape 141"/>
          <p:cNvSpPr/>
          <p:nvPr/>
        </p:nvSpPr>
        <p:spPr>
          <a:xfrm>
            <a:off x="8220456" y="3993212"/>
            <a:ext cx="166831" cy="136676"/>
          </a:xfrm>
          <a:prstGeom prst="rect">
            <a:avLst/>
          </a:prstGeom>
          <a:solidFill>
            <a:srgbClr val="2587C5"/>
          </a:solidFill>
          <a:ln/>
        </p:spPr>
      </p:sp>
      <p:sp>
        <p:nvSpPr>
          <p:cNvPr id="144" name="Text 142"/>
          <p:cNvSpPr txBox="1"/>
          <p:nvPr/>
        </p:nvSpPr>
        <p:spPr>
          <a:xfrm>
            <a:off x="9079992" y="393729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$74K</a:t>
            </a:r>
            <a:endParaRPr lang="en-US" sz="1300" dirty="0"/>
          </a:p>
        </p:txBody>
      </p:sp>
      <p:sp>
        <p:nvSpPr>
          <p:cNvPr id="145" name="Text 143"/>
          <p:cNvSpPr txBox="1"/>
          <p:nvPr/>
        </p:nvSpPr>
        <p:spPr>
          <a:xfrm>
            <a:off x="9902952" y="393729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231</a:t>
            </a:r>
            <a:endParaRPr lang="en-US" sz="1300" dirty="0"/>
          </a:p>
        </p:txBody>
      </p:sp>
      <p:sp>
        <p:nvSpPr>
          <p:cNvPr id="146" name="Text 144"/>
          <p:cNvSpPr txBox="1"/>
          <p:nvPr/>
        </p:nvSpPr>
        <p:spPr>
          <a:xfrm>
            <a:off x="10689336" y="393729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$242</a:t>
            </a:r>
            <a:endParaRPr lang="en-US" sz="1300" dirty="0"/>
          </a:p>
        </p:txBody>
      </p:sp>
      <p:sp>
        <p:nvSpPr>
          <p:cNvPr id="147" name="Text 145"/>
          <p:cNvSpPr txBox="1"/>
          <p:nvPr/>
        </p:nvSpPr>
        <p:spPr>
          <a:xfrm>
            <a:off x="6208776"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48" name="Shape 146"/>
          <p:cNvSpPr/>
          <p:nvPr/>
        </p:nvSpPr>
        <p:spPr>
          <a:xfrm>
            <a:off x="8220456" y="4241713"/>
            <a:ext cx="163399" cy="136676"/>
          </a:xfrm>
          <a:prstGeom prst="rect">
            <a:avLst/>
          </a:prstGeom>
          <a:solidFill>
            <a:srgbClr val="2587C5"/>
          </a:solidFill>
          <a:ln/>
        </p:spPr>
      </p:sp>
      <p:sp>
        <p:nvSpPr>
          <p:cNvPr id="149" name="Text 147"/>
          <p:cNvSpPr txBox="1"/>
          <p:nvPr/>
        </p:nvSpPr>
        <p:spPr>
          <a:xfrm>
            <a:off x="9079992" y="4185800"/>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$73K</a:t>
            </a:r>
            <a:endParaRPr lang="en-US" sz="1300" dirty="0"/>
          </a:p>
        </p:txBody>
      </p:sp>
      <p:sp>
        <p:nvSpPr>
          <p:cNvPr id="150" name="Text 148"/>
          <p:cNvSpPr txBox="1"/>
          <p:nvPr/>
        </p:nvSpPr>
        <p:spPr>
          <a:xfrm>
            <a:off x="9902952" y="4185800"/>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151" name="Text 149"/>
          <p:cNvSpPr txBox="1"/>
          <p:nvPr/>
        </p:nvSpPr>
        <p:spPr>
          <a:xfrm>
            <a:off x="10689336" y="4185800"/>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$237</a:t>
            </a:r>
            <a:endParaRPr lang="en-US" sz="1300" dirty="0"/>
          </a:p>
        </p:txBody>
      </p:sp>
      <p:sp>
        <p:nvSpPr>
          <p:cNvPr id="152" name="Text 150"/>
          <p:cNvSpPr txBox="1"/>
          <p:nvPr/>
        </p:nvSpPr>
        <p:spPr>
          <a:xfrm>
            <a:off x="6208776"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53" name="Shape 151"/>
          <p:cNvSpPr/>
          <p:nvPr/>
        </p:nvSpPr>
        <p:spPr>
          <a:xfrm>
            <a:off x="8220456" y="4490215"/>
            <a:ext cx="163357" cy="136676"/>
          </a:xfrm>
          <a:prstGeom prst="rect">
            <a:avLst/>
          </a:prstGeom>
          <a:solidFill>
            <a:srgbClr val="2587C5"/>
          </a:solidFill>
          <a:ln/>
        </p:spPr>
      </p:sp>
      <p:sp>
        <p:nvSpPr>
          <p:cNvPr id="154" name="Text 152"/>
          <p:cNvSpPr txBox="1"/>
          <p:nvPr/>
        </p:nvSpPr>
        <p:spPr>
          <a:xfrm>
            <a:off x="9079992" y="4434302"/>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$73K</a:t>
            </a:r>
            <a:endParaRPr lang="en-US" sz="1300" dirty="0"/>
          </a:p>
        </p:txBody>
      </p:sp>
      <p:sp>
        <p:nvSpPr>
          <p:cNvPr id="155" name="Text 153"/>
          <p:cNvSpPr txBox="1"/>
          <p:nvPr/>
        </p:nvSpPr>
        <p:spPr>
          <a:xfrm>
            <a:off x="9902952" y="4434302"/>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156" name="Text 154"/>
          <p:cNvSpPr txBox="1"/>
          <p:nvPr/>
        </p:nvSpPr>
        <p:spPr>
          <a:xfrm>
            <a:off x="10689336" y="443430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$237</a:t>
            </a:r>
            <a:endParaRPr lang="en-US" sz="1300" dirty="0"/>
          </a:p>
        </p:txBody>
      </p:sp>
      <p:sp>
        <p:nvSpPr>
          <p:cNvPr id="157" name="Text 155"/>
          <p:cNvSpPr txBox="1"/>
          <p:nvPr/>
        </p:nvSpPr>
        <p:spPr>
          <a:xfrm>
            <a:off x="6208776"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58" name="Shape 156"/>
          <p:cNvSpPr/>
          <p:nvPr/>
        </p:nvSpPr>
        <p:spPr>
          <a:xfrm>
            <a:off x="8220456" y="4738717"/>
            <a:ext cx="163282" cy="136676"/>
          </a:xfrm>
          <a:prstGeom prst="rect">
            <a:avLst/>
          </a:prstGeom>
          <a:solidFill>
            <a:srgbClr val="2587C5"/>
          </a:solidFill>
          <a:ln/>
        </p:spPr>
      </p:sp>
      <p:sp>
        <p:nvSpPr>
          <p:cNvPr id="159" name="Text 157"/>
          <p:cNvSpPr txBox="1"/>
          <p:nvPr/>
        </p:nvSpPr>
        <p:spPr>
          <a:xfrm>
            <a:off x="9079992" y="468280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$73K</a:t>
            </a:r>
            <a:endParaRPr lang="en-US" sz="1300" dirty="0"/>
          </a:p>
        </p:txBody>
      </p:sp>
      <p:sp>
        <p:nvSpPr>
          <p:cNvPr id="160" name="Text 158"/>
          <p:cNvSpPr txBox="1"/>
          <p:nvPr/>
        </p:nvSpPr>
        <p:spPr>
          <a:xfrm>
            <a:off x="9902952" y="468280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161" name="Text 159"/>
          <p:cNvSpPr txBox="1"/>
          <p:nvPr/>
        </p:nvSpPr>
        <p:spPr>
          <a:xfrm>
            <a:off x="10689336" y="468280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$237</a:t>
            </a:r>
            <a:endParaRPr lang="en-US" sz="1300" dirty="0"/>
          </a:p>
        </p:txBody>
      </p:sp>
      <p:sp>
        <p:nvSpPr>
          <p:cNvPr id="162" name="Text 160"/>
          <p:cNvSpPr txBox="1"/>
          <p:nvPr/>
        </p:nvSpPr>
        <p:spPr>
          <a:xfrm>
            <a:off x="6208776"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63" name="Shape 161"/>
          <p:cNvSpPr/>
          <p:nvPr/>
        </p:nvSpPr>
        <p:spPr>
          <a:xfrm>
            <a:off x="8220456" y="4987218"/>
            <a:ext cx="151770" cy="136676"/>
          </a:xfrm>
          <a:prstGeom prst="rect">
            <a:avLst/>
          </a:prstGeom>
          <a:solidFill>
            <a:srgbClr val="2587C5"/>
          </a:solidFill>
          <a:ln/>
        </p:spPr>
      </p:sp>
      <p:sp>
        <p:nvSpPr>
          <p:cNvPr id="164" name="Text 162"/>
          <p:cNvSpPr txBox="1"/>
          <p:nvPr/>
        </p:nvSpPr>
        <p:spPr>
          <a:xfrm>
            <a:off x="9079992" y="4931305"/>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$68K</a:t>
            </a:r>
            <a:endParaRPr lang="en-US" sz="1300" dirty="0"/>
          </a:p>
        </p:txBody>
      </p:sp>
      <p:sp>
        <p:nvSpPr>
          <p:cNvPr id="165" name="Text 163"/>
          <p:cNvSpPr txBox="1"/>
          <p:nvPr/>
        </p:nvSpPr>
        <p:spPr>
          <a:xfrm>
            <a:off x="9902952" y="4931305"/>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166" name="Text 164"/>
          <p:cNvSpPr txBox="1"/>
          <p:nvPr/>
        </p:nvSpPr>
        <p:spPr>
          <a:xfrm>
            <a:off x="10689336" y="4931305"/>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$220</a:t>
            </a:r>
            <a:endParaRPr lang="en-US" sz="1300" dirty="0"/>
          </a:p>
        </p:txBody>
      </p:sp>
      <p:sp>
        <p:nvSpPr>
          <p:cNvPr id="167" name="Text 165"/>
          <p:cNvSpPr txBox="1"/>
          <p:nvPr/>
        </p:nvSpPr>
        <p:spPr>
          <a:xfrm>
            <a:off x="6208776"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68" name="Shape 166"/>
          <p:cNvSpPr/>
          <p:nvPr/>
        </p:nvSpPr>
        <p:spPr>
          <a:xfrm>
            <a:off x="8220456" y="5235720"/>
            <a:ext cx="149543" cy="136676"/>
          </a:xfrm>
          <a:prstGeom prst="rect">
            <a:avLst/>
          </a:prstGeom>
          <a:solidFill>
            <a:srgbClr val="2587C5"/>
          </a:solidFill>
          <a:ln/>
        </p:spPr>
      </p:sp>
      <p:sp>
        <p:nvSpPr>
          <p:cNvPr id="169" name="Text 167"/>
          <p:cNvSpPr txBox="1"/>
          <p:nvPr/>
        </p:nvSpPr>
        <p:spPr>
          <a:xfrm>
            <a:off x="9079992" y="517980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$67K</a:t>
            </a:r>
            <a:endParaRPr lang="en-US" sz="1300" dirty="0"/>
          </a:p>
        </p:txBody>
      </p:sp>
      <p:sp>
        <p:nvSpPr>
          <p:cNvPr id="170" name="Text 168"/>
          <p:cNvSpPr txBox="1"/>
          <p:nvPr/>
        </p:nvSpPr>
        <p:spPr>
          <a:xfrm>
            <a:off x="9902952" y="517980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75</a:t>
            </a:r>
            <a:endParaRPr lang="en-US" sz="1300" dirty="0"/>
          </a:p>
        </p:txBody>
      </p:sp>
      <p:sp>
        <p:nvSpPr>
          <p:cNvPr id="171" name="Text 169"/>
          <p:cNvSpPr txBox="1"/>
          <p:nvPr/>
        </p:nvSpPr>
        <p:spPr>
          <a:xfrm>
            <a:off x="10689336" y="517980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$217</a:t>
            </a:r>
            <a:endParaRPr lang="en-US" sz="1300" dirty="0"/>
          </a:p>
        </p:txBody>
      </p:sp>
      <p:sp>
        <p:nvSpPr>
          <p:cNvPr id="172" name="Text 170"/>
          <p:cNvSpPr txBox="1"/>
          <p:nvPr/>
        </p:nvSpPr>
        <p:spPr>
          <a:xfrm>
            <a:off x="6208776"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73" name="Shape 171"/>
          <p:cNvSpPr/>
          <p:nvPr/>
        </p:nvSpPr>
        <p:spPr>
          <a:xfrm>
            <a:off x="8220456" y="5484222"/>
            <a:ext cx="147241" cy="136676"/>
          </a:xfrm>
          <a:prstGeom prst="rect">
            <a:avLst/>
          </a:prstGeom>
          <a:solidFill>
            <a:srgbClr val="2587C5"/>
          </a:solidFill>
          <a:ln/>
        </p:spPr>
      </p:sp>
      <p:sp>
        <p:nvSpPr>
          <p:cNvPr id="174" name="Text 172"/>
          <p:cNvSpPr txBox="1"/>
          <p:nvPr/>
        </p:nvSpPr>
        <p:spPr>
          <a:xfrm>
            <a:off x="9079992" y="542830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$66K</a:t>
            </a:r>
            <a:endParaRPr lang="en-US" sz="1300" dirty="0"/>
          </a:p>
        </p:txBody>
      </p:sp>
      <p:sp>
        <p:nvSpPr>
          <p:cNvPr id="175" name="Text 173"/>
          <p:cNvSpPr txBox="1"/>
          <p:nvPr/>
        </p:nvSpPr>
        <p:spPr>
          <a:xfrm>
            <a:off x="9902952" y="542830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66</a:t>
            </a:r>
            <a:endParaRPr lang="en-US" sz="1300" dirty="0"/>
          </a:p>
        </p:txBody>
      </p:sp>
      <p:sp>
        <p:nvSpPr>
          <p:cNvPr id="176" name="Text 174"/>
          <p:cNvSpPr txBox="1"/>
          <p:nvPr/>
        </p:nvSpPr>
        <p:spPr>
          <a:xfrm>
            <a:off x="10689336" y="542830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$214</a:t>
            </a:r>
            <a:endParaRPr lang="en-US" sz="1300" dirty="0"/>
          </a:p>
        </p:txBody>
      </p:sp>
      <p:sp>
        <p:nvSpPr>
          <p:cNvPr id="177" name="Shape 175"/>
          <p:cNvSpPr/>
          <p:nvPr/>
        </p:nvSpPr>
        <p:spPr>
          <a:xfrm>
            <a:off x="457200" y="6126480"/>
            <a:ext cx="11274552" cy="615696"/>
          </a:xfrm>
          <a:prstGeom prst="rect">
            <a:avLst/>
          </a:prstGeom>
          <a:solidFill>
            <a:srgbClr val="E6F6EE"/>
          </a:solidFill>
          <a:ln/>
        </p:spPr>
      </p:sp>
      <p:sp>
        <p:nvSpPr>
          <p:cNvPr id="178" name="Text 17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One more customer-pay RO a day at every store is worth $4,473,284 a year in labor and parts gross. Each RO averages $342.</a:t>
            </a:r>
            <a:endParaRPr lang="en-US" sz="1600" dirty="0"/>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7,156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8,133</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+13.7%</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1,784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2,010</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+12.7%</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2,810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3,107</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5,042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5,553</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+10.1%</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1,303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1,421</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+9.1%</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2,251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1,919</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−14.7%</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3,784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3,349</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−11.5%</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4,379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3,917</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−10.6%</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9,929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8,930</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−10.1%</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3,910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3,671</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−6.1%</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 per month</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570</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+34.0%</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543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667</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+22.8%</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415</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+18.7%</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578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669</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+15.8%</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459</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+15.5%</a:t>
            </a:r>
            <a:endParaRPr lang="en-US" sz="1600" dirty="0"/>
          </a:p>
        </p:txBody>
      </p:sp>
      <p:sp>
        <p:nvSpPr>
          <p:cNvPr id="69" name="Shape 67"/>
          <p:cNvSpPr/>
          <p:nvPr/>
        </p:nvSpPr>
        <p:spPr>
          <a:xfrm>
            <a:off x="457200" y="6126480"/>
            <a:ext cx="11274552" cy="615696"/>
          </a:xfrm>
          <a:prstGeom prst="rect">
            <a:avLst/>
          </a:prstGeom>
          <a:solidFill>
            <a:srgbClr val="EDF4FA"/>
          </a:solidFill>
          <a:ln/>
        </p:spPr>
      </p:sp>
      <p:sp>
        <p:nvSpPr>
          <p:cNvPr id="70"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Kia LV, Hyundai Prescott and GMC Prescott what changed. Ask VW St George, Hyundai St George and Audi Reno what got in the way. Ask Lexus, CDJR Post Falls and LR LV what they started this year.</a:t>
            </a:r>
            <a:endParaRPr lang="en-US" sz="1600" dirty="0"/>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Hours Sold</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504,019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523,142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+19,123</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+3.8%</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Customer Pay Hours Sold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615696"/>
          </a:xfrm>
          <a:prstGeom prst="rect">
            <a:avLst/>
          </a:prstGeom>
          <a:solidFill>
            <a:srgbClr val="E6F6EE"/>
          </a:solidFill>
          <a:ln/>
        </p:spPr>
      </p:sp>
      <p:sp>
        <p:nvSpPr>
          <p:cNvPr id="30"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19,123 to 523,142, ahead of 2025 in eight of nine months. CP RO count rose only 0.2%, so the extra hours came from selling more on each visit.</a:t>
            </a:r>
            <a:endParaRPr lang="en-US" sz="1600" dirty="0"/>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Hours Sold</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CUSTOMER PAY HOURS SOLD</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523,142</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1860"/>
            <a:ext cx="1828800" cy="110352"/>
          </a:xfrm>
          <a:prstGeom prst="rect">
            <a:avLst/>
          </a:prstGeom>
          <a:solidFill>
            <a:srgbClr val="2587C5"/>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78,123</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7" name="Shape 15"/>
          <p:cNvSpPr/>
          <p:nvPr/>
        </p:nvSpPr>
        <p:spPr>
          <a:xfrm>
            <a:off x="2980944" y="2151755"/>
            <a:ext cx="1050673" cy="110352"/>
          </a:xfrm>
          <a:prstGeom prst="rect">
            <a:avLst/>
          </a:prstGeom>
          <a:solidFill>
            <a:srgbClr val="2587C5"/>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44,883</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1" name="Shape 19"/>
          <p:cNvSpPr/>
          <p:nvPr/>
        </p:nvSpPr>
        <p:spPr>
          <a:xfrm>
            <a:off x="2980944" y="2391651"/>
            <a:ext cx="1038014" cy="110352"/>
          </a:xfrm>
          <a:prstGeom prst="rect">
            <a:avLst/>
          </a:prstGeom>
          <a:solidFill>
            <a:srgbClr val="2587C5"/>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44,342</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5" name="Shape 23"/>
          <p:cNvSpPr/>
          <p:nvPr/>
        </p:nvSpPr>
        <p:spPr>
          <a:xfrm>
            <a:off x="2980944" y="2631546"/>
            <a:ext cx="711662" cy="110352"/>
          </a:xfrm>
          <a:prstGeom prst="rect">
            <a:avLst/>
          </a:prstGeom>
          <a:solidFill>
            <a:srgbClr val="2587C5"/>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30,401</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9" name="Shape 27"/>
          <p:cNvSpPr/>
          <p:nvPr/>
        </p:nvSpPr>
        <p:spPr>
          <a:xfrm>
            <a:off x="2980944" y="2871442"/>
            <a:ext cx="649509" cy="110352"/>
          </a:xfrm>
          <a:prstGeom prst="rect">
            <a:avLst/>
          </a:prstGeom>
          <a:solidFill>
            <a:srgbClr val="2587C5"/>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27,746</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3" name="Shape 31"/>
          <p:cNvSpPr/>
          <p:nvPr/>
        </p:nvSpPr>
        <p:spPr>
          <a:xfrm>
            <a:off x="2980944" y="3111337"/>
            <a:ext cx="602764" cy="110352"/>
          </a:xfrm>
          <a:prstGeom prst="rect">
            <a:avLst/>
          </a:prstGeom>
          <a:solidFill>
            <a:srgbClr val="2587C5"/>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25,749</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37" name="Shape 35"/>
          <p:cNvSpPr/>
          <p:nvPr/>
        </p:nvSpPr>
        <p:spPr>
          <a:xfrm>
            <a:off x="2980944" y="3351233"/>
            <a:ext cx="498059" cy="110352"/>
          </a:xfrm>
          <a:prstGeom prst="rect">
            <a:avLst/>
          </a:prstGeom>
          <a:solidFill>
            <a:srgbClr val="2587C5"/>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21,276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2980944" y="3591128"/>
            <a:ext cx="436748" cy="110352"/>
          </a:xfrm>
          <a:prstGeom prst="rect">
            <a:avLst/>
          </a:prstGeom>
          <a:solidFill>
            <a:srgbClr val="2587C5"/>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18,657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5" name="Shape 43"/>
          <p:cNvSpPr/>
          <p:nvPr/>
        </p:nvSpPr>
        <p:spPr>
          <a:xfrm>
            <a:off x="2980944" y="3831024"/>
            <a:ext cx="419629" cy="110352"/>
          </a:xfrm>
          <a:prstGeom prst="rect">
            <a:avLst/>
          </a:prstGeom>
          <a:solidFill>
            <a:srgbClr val="2587C5"/>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17,926</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9" name="Shape 47"/>
          <p:cNvSpPr/>
          <p:nvPr/>
        </p:nvSpPr>
        <p:spPr>
          <a:xfrm>
            <a:off x="2980944" y="4070920"/>
            <a:ext cx="344483" cy="110352"/>
          </a:xfrm>
          <a:prstGeom prst="rect">
            <a:avLst/>
          </a:prstGeom>
          <a:solidFill>
            <a:srgbClr val="2587C5"/>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14,716</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53" name="Shape 51"/>
          <p:cNvSpPr/>
          <p:nvPr/>
        </p:nvSpPr>
        <p:spPr>
          <a:xfrm>
            <a:off x="2980944" y="4310815"/>
            <a:ext cx="341580" cy="110352"/>
          </a:xfrm>
          <a:prstGeom prst="rect">
            <a:avLst/>
          </a:prstGeom>
          <a:solidFill>
            <a:srgbClr val="2587C5"/>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14,592</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7" name="Shape 55"/>
          <p:cNvSpPr/>
          <p:nvPr/>
        </p:nvSpPr>
        <p:spPr>
          <a:xfrm>
            <a:off x="2980944" y="4550711"/>
            <a:ext cx="326318" cy="110352"/>
          </a:xfrm>
          <a:prstGeom prst="rect">
            <a:avLst/>
          </a:prstGeom>
          <a:solidFill>
            <a:srgbClr val="2587C5"/>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13,940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61" name="Shape 59"/>
          <p:cNvSpPr/>
          <p:nvPr/>
        </p:nvSpPr>
        <p:spPr>
          <a:xfrm>
            <a:off x="2980944" y="4790606"/>
            <a:ext cx="308206" cy="110352"/>
          </a:xfrm>
          <a:prstGeom prst="rect">
            <a:avLst/>
          </a:prstGeom>
          <a:solidFill>
            <a:srgbClr val="2587C5"/>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13,166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2980944" y="5030502"/>
            <a:ext cx="299995" cy="110352"/>
          </a:xfrm>
          <a:prstGeom prst="rect">
            <a:avLst/>
          </a:prstGeom>
          <a:solidFill>
            <a:srgbClr val="2587C5"/>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12,815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9" name="Shape 67"/>
          <p:cNvSpPr/>
          <p:nvPr/>
        </p:nvSpPr>
        <p:spPr>
          <a:xfrm>
            <a:off x="2980944" y="5270397"/>
            <a:ext cx="298846" cy="110352"/>
          </a:xfrm>
          <a:prstGeom prst="rect">
            <a:avLst/>
          </a:prstGeom>
          <a:solidFill>
            <a:srgbClr val="2587C5"/>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12,766</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73" name="Shape 71"/>
          <p:cNvSpPr/>
          <p:nvPr/>
        </p:nvSpPr>
        <p:spPr>
          <a:xfrm>
            <a:off x="2980944" y="5510293"/>
            <a:ext cx="298644" cy="110352"/>
          </a:xfrm>
          <a:prstGeom prst="rect">
            <a:avLst/>
          </a:prstGeom>
          <a:solidFill>
            <a:srgbClr val="2587C5"/>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12,757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7" name="Shape 75"/>
          <p:cNvSpPr/>
          <p:nvPr/>
        </p:nvSpPr>
        <p:spPr>
          <a:xfrm>
            <a:off x="2980944" y="5750188"/>
            <a:ext cx="276102" cy="110352"/>
          </a:xfrm>
          <a:prstGeom prst="rect">
            <a:avLst/>
          </a:prstGeom>
          <a:solidFill>
            <a:srgbClr val="2587C5"/>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11,795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1" name="Shape 79"/>
          <p:cNvSpPr/>
          <p:nvPr/>
        </p:nvSpPr>
        <p:spPr>
          <a:xfrm>
            <a:off x="8531352" y="1911860"/>
            <a:ext cx="257333" cy="110352"/>
          </a:xfrm>
          <a:prstGeom prst="rect">
            <a:avLst/>
          </a:prstGeom>
          <a:solidFill>
            <a:srgbClr val="2587C5"/>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10,993</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5" name="Shape 83"/>
          <p:cNvSpPr/>
          <p:nvPr/>
        </p:nvSpPr>
        <p:spPr>
          <a:xfrm>
            <a:off x="8531352" y="2151755"/>
            <a:ext cx="250095" cy="110352"/>
          </a:xfrm>
          <a:prstGeom prst="rect">
            <a:avLst/>
          </a:prstGeom>
          <a:solidFill>
            <a:srgbClr val="2587C5"/>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10,684</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9" name="Shape 87"/>
          <p:cNvSpPr/>
          <p:nvPr/>
        </p:nvSpPr>
        <p:spPr>
          <a:xfrm>
            <a:off x="8531352" y="2391651"/>
            <a:ext cx="222717" cy="110352"/>
          </a:xfrm>
          <a:prstGeom prst="rect">
            <a:avLst/>
          </a:prstGeom>
          <a:solidFill>
            <a:srgbClr val="2587C5"/>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9,514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93" name="Shape 91"/>
          <p:cNvSpPr/>
          <p:nvPr/>
        </p:nvSpPr>
        <p:spPr>
          <a:xfrm>
            <a:off x="8531352" y="2631546"/>
            <a:ext cx="194260" cy="110352"/>
          </a:xfrm>
          <a:prstGeom prst="rect">
            <a:avLst/>
          </a:prstGeom>
          <a:solidFill>
            <a:srgbClr val="2587C5"/>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8,298</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97" name="Shape 95"/>
          <p:cNvSpPr/>
          <p:nvPr/>
        </p:nvSpPr>
        <p:spPr>
          <a:xfrm>
            <a:off x="8531352" y="2871442"/>
            <a:ext cx="190890" cy="110352"/>
          </a:xfrm>
          <a:prstGeom prst="rect">
            <a:avLst/>
          </a:prstGeom>
          <a:solidFill>
            <a:srgbClr val="2587C5"/>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8,154</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1" name="Shape 99"/>
          <p:cNvSpPr/>
          <p:nvPr/>
        </p:nvSpPr>
        <p:spPr>
          <a:xfrm>
            <a:off x="8531352" y="3111337"/>
            <a:ext cx="181408" cy="110352"/>
          </a:xfrm>
          <a:prstGeom prst="rect">
            <a:avLst/>
          </a:prstGeom>
          <a:solidFill>
            <a:srgbClr val="2587C5"/>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7,749</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5" name="Shape 103"/>
          <p:cNvSpPr/>
          <p:nvPr/>
        </p:nvSpPr>
        <p:spPr>
          <a:xfrm>
            <a:off x="8531352" y="3351233"/>
            <a:ext cx="157098" cy="110352"/>
          </a:xfrm>
          <a:prstGeom prst="rect">
            <a:avLst/>
          </a:prstGeom>
          <a:solidFill>
            <a:srgbClr val="2587C5"/>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6,711</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9" name="Shape 107"/>
          <p:cNvSpPr/>
          <p:nvPr/>
        </p:nvSpPr>
        <p:spPr>
          <a:xfrm>
            <a:off x="8531352" y="3591128"/>
            <a:ext cx="152958" cy="110352"/>
          </a:xfrm>
          <a:prstGeom prst="rect">
            <a:avLst/>
          </a:prstGeom>
          <a:solidFill>
            <a:srgbClr val="2587C5"/>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6,534</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3" name="Shape 111"/>
          <p:cNvSpPr/>
          <p:nvPr/>
        </p:nvSpPr>
        <p:spPr>
          <a:xfrm>
            <a:off x="8531352" y="3831024"/>
            <a:ext cx="145645" cy="110352"/>
          </a:xfrm>
          <a:prstGeom prst="rect">
            <a:avLst/>
          </a:prstGeom>
          <a:solidFill>
            <a:srgbClr val="2587C5"/>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6,222</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7" name="Shape 115"/>
          <p:cNvSpPr/>
          <p:nvPr/>
        </p:nvSpPr>
        <p:spPr>
          <a:xfrm>
            <a:off x="8531352" y="4070920"/>
            <a:ext cx="142349" cy="110352"/>
          </a:xfrm>
          <a:prstGeom prst="rect">
            <a:avLst/>
          </a:prstGeom>
          <a:solidFill>
            <a:srgbClr val="2587C5"/>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6,081</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1" name="Shape 119"/>
          <p:cNvSpPr/>
          <p:nvPr/>
        </p:nvSpPr>
        <p:spPr>
          <a:xfrm>
            <a:off x="8531352" y="4310815"/>
            <a:ext cx="122032" cy="110352"/>
          </a:xfrm>
          <a:prstGeom prst="rect">
            <a:avLst/>
          </a:prstGeom>
          <a:solidFill>
            <a:srgbClr val="2587C5"/>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5,213</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5" name="Shape 123"/>
          <p:cNvSpPr/>
          <p:nvPr/>
        </p:nvSpPr>
        <p:spPr>
          <a:xfrm>
            <a:off x="8531352" y="4550711"/>
            <a:ext cx="118093" cy="110352"/>
          </a:xfrm>
          <a:prstGeom prst="rect">
            <a:avLst/>
          </a:prstGeom>
          <a:solidFill>
            <a:srgbClr val="2587C5"/>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5,045</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9" name="Shape 127"/>
          <p:cNvSpPr/>
          <p:nvPr/>
        </p:nvSpPr>
        <p:spPr>
          <a:xfrm>
            <a:off x="8531352" y="4790606"/>
            <a:ext cx="115857" cy="110352"/>
          </a:xfrm>
          <a:prstGeom prst="rect">
            <a:avLst/>
          </a:prstGeom>
          <a:solidFill>
            <a:srgbClr val="2587C5"/>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4,949</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3" name="Shape 131"/>
          <p:cNvSpPr/>
          <p:nvPr/>
        </p:nvSpPr>
        <p:spPr>
          <a:xfrm>
            <a:off x="8531352" y="5030502"/>
            <a:ext cx="111992" cy="110352"/>
          </a:xfrm>
          <a:prstGeom prst="rect">
            <a:avLst/>
          </a:prstGeom>
          <a:solidFill>
            <a:srgbClr val="2587C5"/>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4,784</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31352" y="5270397"/>
            <a:ext cx="76952" cy="110352"/>
          </a:xfrm>
          <a:prstGeom prst="rect">
            <a:avLst/>
          </a:prstGeom>
          <a:solidFill>
            <a:srgbClr val="2587C5"/>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3,287</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31352" y="5510293"/>
            <a:ext cx="76698" cy="110352"/>
          </a:xfrm>
          <a:prstGeom prst="rect">
            <a:avLst/>
          </a:prstGeom>
          <a:solidFill>
            <a:srgbClr val="2587C5"/>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3,276</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4" name="Shape 142"/>
          <p:cNvSpPr/>
          <p:nvPr/>
        </p:nvSpPr>
        <p:spPr>
          <a:xfrm>
            <a:off x="457200" y="6126480"/>
            <a:ext cx="11274552" cy="371856"/>
          </a:xfrm>
          <a:prstGeom prst="rect">
            <a:avLst/>
          </a:prstGeom>
          <a:solidFill>
            <a:srgbClr val="EDF4FA"/>
          </a:solidFill>
          <a:ln/>
        </p:spPr>
      </p:sp>
      <p:sp>
        <p:nvSpPr>
          <p:cNvPr id="145" name="Text 14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Toyota Henderson leads at 78,123; VW St George is smallest at 3,276.</a:t>
            </a:r>
            <a:endParaRPr lang="en-US" sz="1600" dirty="0"/>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Hours Sold</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CUSTOMER PAY HOURS SOLD</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+3.8%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+44.6%</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7" name="Shape 15"/>
          <p:cNvSpPr/>
          <p:nvPr/>
        </p:nvSpPr>
        <p:spPr>
          <a:xfrm>
            <a:off x="3785616" y="2151755"/>
            <a:ext cx="608749"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1" name="Shape 19"/>
          <p:cNvSpPr/>
          <p:nvPr/>
        </p:nvSpPr>
        <p:spPr>
          <a:xfrm>
            <a:off x="3785616" y="2391651"/>
            <a:ext cx="58986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5" name="Shape 23"/>
          <p:cNvSpPr/>
          <p:nvPr/>
        </p:nvSpPr>
        <p:spPr>
          <a:xfrm>
            <a:off x="3785616" y="2631546"/>
            <a:ext cx="502608"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29" name="Shape 27"/>
          <p:cNvSpPr/>
          <p:nvPr/>
        </p:nvSpPr>
        <p:spPr>
          <a:xfrm>
            <a:off x="3785616" y="2871442"/>
            <a:ext cx="489520"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33" name="Shape 31"/>
          <p:cNvSpPr/>
          <p:nvPr/>
        </p:nvSpPr>
        <p:spPr>
          <a:xfrm>
            <a:off x="3785616" y="3111337"/>
            <a:ext cx="475887"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37" name="Shape 35"/>
          <p:cNvSpPr/>
          <p:nvPr/>
        </p:nvSpPr>
        <p:spPr>
          <a:xfrm>
            <a:off x="3785616" y="3351233"/>
            <a:ext cx="403394"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785616" y="3591128"/>
            <a:ext cx="320015"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+18.4%</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5" name="Shape 43"/>
          <p:cNvSpPr/>
          <p:nvPr/>
        </p:nvSpPr>
        <p:spPr>
          <a:xfrm>
            <a:off x="3785616" y="3831024"/>
            <a:ext cx="319802"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+18.4%</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9" name="Shape 47"/>
          <p:cNvSpPr/>
          <p:nvPr/>
        </p:nvSpPr>
        <p:spPr>
          <a:xfrm>
            <a:off x="3785616" y="4070920"/>
            <a:ext cx="304780"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+17.5%</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53" name="Shape 51"/>
          <p:cNvSpPr/>
          <p:nvPr/>
        </p:nvSpPr>
        <p:spPr>
          <a:xfrm>
            <a:off x="3785616" y="4310815"/>
            <a:ext cx="214987"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+12.3%</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7" name="Shape 55"/>
          <p:cNvSpPr/>
          <p:nvPr/>
        </p:nvSpPr>
        <p:spPr>
          <a:xfrm>
            <a:off x="3785616" y="4550711"/>
            <a:ext cx="207215"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+11.9%</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1" name="Shape 59"/>
          <p:cNvSpPr/>
          <p:nvPr/>
        </p:nvSpPr>
        <p:spPr>
          <a:xfrm>
            <a:off x="3785616" y="4790606"/>
            <a:ext cx="187159"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+10.7%</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5" name="Shape 63"/>
          <p:cNvSpPr/>
          <p:nvPr/>
        </p:nvSpPr>
        <p:spPr>
          <a:xfrm>
            <a:off x="3785616" y="5030502"/>
            <a:ext cx="172129"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9" name="Shape 67"/>
          <p:cNvSpPr/>
          <p:nvPr/>
        </p:nvSpPr>
        <p:spPr>
          <a:xfrm>
            <a:off x="3785616" y="5270397"/>
            <a:ext cx="11674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+6.7%</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3" name="Shape 71"/>
          <p:cNvSpPr/>
          <p:nvPr/>
        </p:nvSpPr>
        <p:spPr>
          <a:xfrm>
            <a:off x="3785616" y="5510293"/>
            <a:ext cx="116682"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7" name="Shape 75"/>
          <p:cNvSpPr/>
          <p:nvPr/>
        </p:nvSpPr>
        <p:spPr>
          <a:xfrm>
            <a:off x="3785616" y="5750188"/>
            <a:ext cx="116417"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+6.7%</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1" name="Shape 79"/>
          <p:cNvSpPr/>
          <p:nvPr/>
        </p:nvSpPr>
        <p:spPr>
          <a:xfrm>
            <a:off x="9336024" y="1911860"/>
            <a:ext cx="106340"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5" name="Shape 83"/>
          <p:cNvSpPr/>
          <p:nvPr/>
        </p:nvSpPr>
        <p:spPr>
          <a:xfrm>
            <a:off x="9336024" y="2151755"/>
            <a:ext cx="9998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9" name="Shape 87"/>
          <p:cNvSpPr/>
          <p:nvPr/>
        </p:nvSpPr>
        <p:spPr>
          <a:xfrm>
            <a:off x="9336024" y="2391651"/>
            <a:ext cx="89045"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3" name="Shape 91"/>
          <p:cNvSpPr/>
          <p:nvPr/>
        </p:nvSpPr>
        <p:spPr>
          <a:xfrm>
            <a:off x="9336024" y="2631546"/>
            <a:ext cx="88806"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7" name="Shape 95"/>
          <p:cNvSpPr/>
          <p:nvPr/>
        </p:nvSpPr>
        <p:spPr>
          <a:xfrm>
            <a:off x="9336024" y="2871442"/>
            <a:ext cx="12802"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1" name="Shape 99"/>
          <p:cNvSpPr/>
          <p:nvPr/>
        </p:nvSpPr>
        <p:spPr>
          <a:xfrm>
            <a:off x="9336024" y="3111337"/>
            <a:ext cx="1280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5" name="Shape 103"/>
          <p:cNvSpPr/>
          <p:nvPr/>
        </p:nvSpPr>
        <p:spPr>
          <a:xfrm>
            <a:off x="9306237" y="3351233"/>
            <a:ext cx="29787"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9" name="Shape 107"/>
          <p:cNvSpPr/>
          <p:nvPr/>
        </p:nvSpPr>
        <p:spPr>
          <a:xfrm>
            <a:off x="9291402" y="3591128"/>
            <a:ext cx="44622"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3" name="Shape 111"/>
          <p:cNvSpPr/>
          <p:nvPr/>
        </p:nvSpPr>
        <p:spPr>
          <a:xfrm>
            <a:off x="9285327" y="3831024"/>
            <a:ext cx="50697"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17" name="Shape 115"/>
          <p:cNvSpPr/>
          <p:nvPr/>
        </p:nvSpPr>
        <p:spPr>
          <a:xfrm>
            <a:off x="9275488" y="4070920"/>
            <a:ext cx="60536"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1" name="Shape 119"/>
          <p:cNvSpPr/>
          <p:nvPr/>
        </p:nvSpPr>
        <p:spPr>
          <a:xfrm>
            <a:off x="9233370" y="4310815"/>
            <a:ext cx="102654"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5" name="Shape 123"/>
          <p:cNvSpPr/>
          <p:nvPr/>
        </p:nvSpPr>
        <p:spPr>
          <a:xfrm>
            <a:off x="9206595" y="4550711"/>
            <a:ext cx="129429"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9" name="Shape 127"/>
          <p:cNvSpPr/>
          <p:nvPr/>
        </p:nvSpPr>
        <p:spPr>
          <a:xfrm>
            <a:off x="9193818" y="4790606"/>
            <a:ext cx="142206"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3" name="Shape 131"/>
          <p:cNvSpPr/>
          <p:nvPr/>
        </p:nvSpPr>
        <p:spPr>
          <a:xfrm>
            <a:off x="9153034" y="5030502"/>
            <a:ext cx="182990"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−10.5%</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7" name="Shape 135"/>
          <p:cNvSpPr/>
          <p:nvPr/>
        </p:nvSpPr>
        <p:spPr>
          <a:xfrm>
            <a:off x="9069849" y="5270397"/>
            <a:ext cx="266175"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−15.3%</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892903" y="5510293"/>
            <a:ext cx="443121"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−25.4%</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23 of 33 stores sold more CP hours, led by Subaru St George at +44.6% to 12,766. 10 declined; VW St George fell most at −25.4%.</a:t>
            </a:r>
            <a:endParaRPr lang="en-US" sz="1600" dirty="0"/>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Hours Sold</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8,827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12,766</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+44.6%</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9,453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12,757</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+35.0%</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3,768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5,045</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+33.9%</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6,328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8,154</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+28.9%</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2,566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3,287</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+28.1%</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4,394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3,276</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−25.4%</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12,611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10,684</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−15.3%</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8,659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7,749</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−10.5%</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19,520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17,926</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−8.2%</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48,486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44,883</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−7.4%</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 per month</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779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1,102</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+41.5%</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1,193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1,537</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+28.8%</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922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1,146</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+24.3%</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1,367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1,692</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+23.8%</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634</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+23.1%</a:t>
            </a:r>
            <a:endParaRPr lang="en-US" sz="1600" dirty="0"/>
          </a:p>
        </p:txBody>
      </p:sp>
      <p:sp>
        <p:nvSpPr>
          <p:cNvPr id="69" name="Shape 67"/>
          <p:cNvSpPr/>
          <p:nvPr/>
        </p:nvSpPr>
        <p:spPr>
          <a:xfrm>
            <a:off x="457200" y="6126480"/>
            <a:ext cx="11274552" cy="615696"/>
          </a:xfrm>
          <a:prstGeom prst="rect">
            <a:avLst/>
          </a:prstGeom>
          <a:solidFill>
            <a:srgbClr val="EDF4FA"/>
          </a:solidFill>
          <a:ln/>
        </p:spPr>
      </p:sp>
      <p:sp>
        <p:nvSpPr>
          <p:cNvPr id="70"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Subaru St George, Kia LV and Kia St George what changed. Ask VW St George, Audi Reno and Volvo what got in the way. Ask Mazda, CDJR Post Falls and Lexus what they started this year.</a:t>
            </a:r>
            <a:endParaRPr lang="en-US" sz="1600" dirty="0"/>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Hours per RO?</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Hours per RO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hours sold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RO count</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much labor time we sell on the average customer-pay visit.</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0.1 HOUR</a:t>
            </a:r>
            <a:endParaRPr lang="en-US" sz="1400" dirty="0"/>
          </a:p>
        </p:txBody>
      </p:sp>
      <p:sp>
        <p:nvSpPr>
          <p:cNvPr id="9" name="Shape 7"/>
          <p:cNvSpPr/>
          <p:nvPr/>
        </p:nvSpPr>
        <p:spPr>
          <a:xfrm>
            <a:off x="2286000" y="2340864"/>
            <a:ext cx="466801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0.1 hour more on every RO  </a:t>
            </a:r>
            <a:pPr algn="ctr" indent="0" marL="0">
              <a:buNone/>
            </a:pPr>
            <a:r>
              <a:rPr lang="en-US" sz="1400" b="1" dirty="0">
                <a:solidFill>
                  <a:srgbClr val="0B2C4A"/>
                </a:solidFill>
                <a:latin typeface="Inter" pitchFamily="34" charset="0"/>
                <a:ea typeface="Inter" pitchFamily="34" charset="-122"/>
                <a:cs typeface="Inter" pitchFamily="34" charset="-120"/>
              </a:rPr>
              <a:t>= 27,976 more hours</a:t>
            </a:r>
            <a:endParaRPr lang="en-US" sz="1400" dirty="0"/>
          </a:p>
        </p:txBody>
      </p:sp>
      <p:sp>
        <p:nvSpPr>
          <p:cNvPr id="11" name="Shape 9"/>
          <p:cNvSpPr/>
          <p:nvPr/>
        </p:nvSpPr>
        <p:spPr>
          <a:xfrm>
            <a:off x="7063740" y="2340864"/>
            <a:ext cx="4668012" cy="457200"/>
          </a:xfrm>
          <a:prstGeom prst="rect">
            <a:avLst/>
          </a:prstGeom>
          <a:solidFill>
            <a:srgbClr val="FFFFFF"/>
          </a:solidFill>
          <a:ln w="9525">
            <a:solidFill>
              <a:srgbClr val="D9D9D9"/>
            </a:solidFill>
            <a:prstDash val="solid"/>
          </a:ln>
        </p:spPr>
      </p:sp>
      <p:sp>
        <p:nvSpPr>
          <p:cNvPr id="12" name="Text 10"/>
          <p:cNvSpPr txBox="1"/>
          <p:nvPr/>
        </p:nvSpPr>
        <p:spPr>
          <a:xfrm>
            <a:off x="713689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 $162 an hour (our ELR)  </a:t>
            </a:r>
            <a:pPr algn="ctr" indent="0" marL="0">
              <a:buNone/>
            </a:pPr>
            <a:r>
              <a:rPr lang="en-US" sz="1400" b="1" dirty="0">
                <a:solidFill>
                  <a:srgbClr val="0B2C4A"/>
                </a:solidFill>
                <a:latin typeface="Inter" pitchFamily="34" charset="0"/>
                <a:ea typeface="Inter" pitchFamily="34" charset="-122"/>
                <a:cs typeface="Inter" pitchFamily="34" charset="-120"/>
              </a:rPr>
              <a:t>= $4.5M more labor</a:t>
            </a:r>
            <a:endParaRPr lang="en-US" sz="1400" dirty="0"/>
          </a:p>
        </p:txBody>
      </p:sp>
      <p:sp>
        <p:nvSpPr>
          <p:cNvPr id="13" name="Shape 11"/>
          <p:cNvSpPr/>
          <p:nvPr/>
        </p:nvSpPr>
        <p:spPr>
          <a:xfrm>
            <a:off x="457200" y="2907792"/>
            <a:ext cx="4343400" cy="3081528"/>
          </a:xfrm>
          <a:prstGeom prst="rect">
            <a:avLst/>
          </a:prstGeom>
          <a:solidFill>
            <a:srgbClr val="FFFFFF"/>
          </a:solidFill>
          <a:ln/>
        </p:spPr>
      </p:sp>
      <p:sp>
        <p:nvSpPr>
          <p:cNvPr id="14" name="Shape 12"/>
          <p:cNvSpPr/>
          <p:nvPr/>
        </p:nvSpPr>
        <p:spPr>
          <a:xfrm>
            <a:off x="4937760" y="2907792"/>
            <a:ext cx="6793992" cy="3081528"/>
          </a:xfrm>
          <a:prstGeom prst="rect">
            <a:avLst/>
          </a:prstGeom>
          <a:solidFill>
            <a:srgbClr val="FFFFFF"/>
          </a:solidFill>
          <a:ln/>
        </p:spPr>
      </p:sp>
      <p:sp>
        <p:nvSpPr>
          <p:cNvPr id="15" name="Text 13"/>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6" name="Text 14"/>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7" name="Text 15"/>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cannot be manipulated: it is work the customer agreed to.</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the main lever while car count is flat.</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Selling more hours also sells parts.</a:t>
            </a:r>
            <a:endParaRPr lang="en-US" sz="1500" dirty="0"/>
          </a:p>
        </p:txBody>
      </p:sp>
      <p:sp>
        <p:nvSpPr>
          <p:cNvPr id="18" name="Shape 16"/>
          <p:cNvSpPr/>
          <p:nvPr/>
        </p:nvSpPr>
        <p:spPr>
          <a:xfrm>
            <a:off x="5138928" y="3410712"/>
            <a:ext cx="45720" cy="1133856"/>
          </a:xfrm>
          <a:prstGeom prst="rect">
            <a:avLst/>
          </a:prstGeom>
          <a:solidFill>
            <a:srgbClr val="2587C5"/>
          </a:solidFill>
          <a:ln/>
        </p:spPr>
      </p:sp>
      <p:sp>
        <p:nvSpPr>
          <p:cNvPr id="19" name="Text 17"/>
          <p:cNvSpPr txBox="1"/>
          <p:nvPr/>
        </p:nvSpPr>
        <p:spPr>
          <a:xfrm>
            <a:off x="5266944"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MPI on every car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car inspected, with photos and video sent to the customer</a:t>
            </a:r>
            <a:endParaRPr lang="en-US" sz="1400" dirty="0"/>
          </a:p>
        </p:txBody>
      </p:sp>
      <p:sp>
        <p:nvSpPr>
          <p:cNvPr id="20" name="Shape 18"/>
          <p:cNvSpPr/>
          <p:nvPr/>
        </p:nvSpPr>
        <p:spPr>
          <a:xfrm>
            <a:off x="7309104" y="3410712"/>
            <a:ext cx="45720" cy="1133856"/>
          </a:xfrm>
          <a:prstGeom prst="rect">
            <a:avLst/>
          </a:prstGeom>
          <a:solidFill>
            <a:srgbClr val="2587C5"/>
          </a:solidFill>
          <a:ln/>
        </p:spPr>
      </p:sp>
      <p:sp>
        <p:nvSpPr>
          <p:cNvPr id="21" name="Text 19"/>
          <p:cNvSpPr txBox="1"/>
          <p:nvPr/>
        </p:nvSpPr>
        <p:spPr>
          <a:xfrm>
            <a:off x="7437120"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Road to the Sale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Walk-around at the vehicle: hood, tires and wipers</a:t>
            </a:r>
            <a:endParaRPr lang="en-US" sz="1400" dirty="0"/>
          </a:p>
        </p:txBody>
      </p:sp>
      <p:sp>
        <p:nvSpPr>
          <p:cNvPr id="22" name="Shape 20"/>
          <p:cNvSpPr/>
          <p:nvPr/>
        </p:nvSpPr>
        <p:spPr>
          <a:xfrm>
            <a:off x="9479280" y="3410712"/>
            <a:ext cx="45720" cy="1133856"/>
          </a:xfrm>
          <a:prstGeom prst="rect">
            <a:avLst/>
          </a:prstGeom>
          <a:solidFill>
            <a:srgbClr val="2587C5"/>
          </a:solidFill>
          <a:ln/>
        </p:spPr>
      </p:sp>
      <p:sp>
        <p:nvSpPr>
          <p:cNvPr id="23" name="Text 21"/>
          <p:cNvSpPr txBox="1"/>
          <p:nvPr/>
        </p:nvSpPr>
        <p:spPr>
          <a:xfrm>
            <a:off x="9607296"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Menu presentation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Time and mileage recommendations, every customer, every time</a:t>
            </a:r>
            <a:endParaRPr lang="en-US" sz="1400" dirty="0"/>
          </a:p>
        </p:txBody>
      </p:sp>
      <p:sp>
        <p:nvSpPr>
          <p:cNvPr id="24" name="Shape 22"/>
          <p:cNvSpPr/>
          <p:nvPr/>
        </p:nvSpPr>
        <p:spPr>
          <a:xfrm>
            <a:off x="5138928" y="4654296"/>
            <a:ext cx="45720" cy="1133856"/>
          </a:xfrm>
          <a:prstGeom prst="rect">
            <a:avLst/>
          </a:prstGeom>
          <a:solidFill>
            <a:srgbClr val="2587C5"/>
          </a:solidFill>
          <a:ln/>
        </p:spPr>
      </p:sp>
      <p:sp>
        <p:nvSpPr>
          <p:cNvPr id="25" name="Text 23"/>
          <p:cNvSpPr txBox="1"/>
          <p:nvPr/>
        </p:nvSpPr>
        <p:spPr>
          <a:xfrm>
            <a:off x="5266944"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Declined work follow-up</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A defined process and a champion to bring it back</a:t>
            </a:r>
            <a:endParaRPr lang="en-US" sz="1400" dirty="0"/>
          </a:p>
        </p:txBody>
      </p:sp>
      <p:sp>
        <p:nvSpPr>
          <p:cNvPr id="26" name="Shape 24"/>
          <p:cNvSpPr/>
          <p:nvPr/>
        </p:nvSpPr>
        <p:spPr>
          <a:xfrm>
            <a:off x="7309104" y="4654296"/>
            <a:ext cx="45720" cy="1133856"/>
          </a:xfrm>
          <a:prstGeom prst="rect">
            <a:avLst/>
          </a:prstGeom>
          <a:solidFill>
            <a:srgbClr val="2587C5"/>
          </a:solidFill>
          <a:ln/>
        </p:spPr>
      </p:sp>
      <p:sp>
        <p:nvSpPr>
          <p:cNvPr id="27" name="Text 25"/>
          <p:cNvSpPr txBox="1"/>
          <p:nvPr/>
        </p:nvSpPr>
        <p:spPr>
          <a:xfrm>
            <a:off x="7437120"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Op code times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Sell the hours the job pays; don't give time away</a:t>
            </a:r>
            <a:endParaRPr lang="en-US" sz="1400" dirty="0"/>
          </a:p>
        </p:txBody>
      </p:sp>
      <p:sp>
        <p:nvSpPr>
          <p:cNvPr id="28" name="Shape 26"/>
          <p:cNvSpPr/>
          <p:nvPr/>
        </p:nvSpPr>
        <p:spPr>
          <a:xfrm>
            <a:off x="9479280" y="4654296"/>
            <a:ext cx="45720" cy="1133856"/>
          </a:xfrm>
          <a:prstGeom prst="rect">
            <a:avLst/>
          </a:prstGeom>
          <a:solidFill>
            <a:srgbClr val="2587C5"/>
          </a:solidFill>
          <a:ln/>
        </p:spPr>
      </p:sp>
      <p:sp>
        <p:nvSpPr>
          <p:cNvPr id="29" name="Text 27"/>
          <p:cNvSpPr txBox="1"/>
          <p:nvPr/>
        </p:nvSpPr>
        <p:spPr>
          <a:xfrm>
            <a:off x="9607296"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Right tech, right car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High-mileage and repair work to the techs who find it</a:t>
            </a:r>
            <a:endParaRPr lang="en-US" sz="1400" dirty="0"/>
          </a:p>
        </p:txBody>
      </p:sp>
      <p:sp>
        <p:nvSpPr>
          <p:cNvPr id="30" name="Shape 28"/>
          <p:cNvSpPr/>
          <p:nvPr/>
        </p:nvSpPr>
        <p:spPr>
          <a:xfrm>
            <a:off x="457200" y="6126480"/>
            <a:ext cx="11274552" cy="371856"/>
          </a:xfrm>
          <a:prstGeom prst="rect">
            <a:avLst/>
          </a:prstGeom>
          <a:solidFill>
            <a:srgbClr val="E6F6EE"/>
          </a:solidFill>
          <a:ln/>
        </p:spPr>
      </p:sp>
      <p:sp>
        <p:nvSpPr>
          <p:cNvPr id="31" name="Text 29"/>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1.87 CP hours per RO, up 0.07 and ahead of 2025 in all nine months.</a:t>
            </a:r>
            <a:endParaRPr lang="en-US" sz="1600" dirty="0"/>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+0.07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+3.6%</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Hours per RO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615696"/>
          </a:xfrm>
          <a:prstGeom prst="rect">
            <a:avLst/>
          </a:prstGeom>
          <a:solidFill>
            <a:srgbClr val="E6F6EE"/>
          </a:solidFill>
          <a:ln/>
        </p:spPr>
      </p:sp>
      <p:sp>
        <p:nvSpPr>
          <p:cNvPr id="28"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0.07 to 1.87, ahead of 2025 in all nine months. Each 0.1 hour per RO is worth $4,543,691 of labor at the 2026 ELR.</a:t>
            </a:r>
            <a:endParaRPr lang="en-US" sz="1600" dirty="0"/>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HOURS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1.87</a:t>
            </a:r>
            <a:endParaRPr lang="en-US" sz="2000" dirty="0"/>
          </a:p>
        </p:txBody>
      </p:sp>
      <p:sp>
        <p:nvSpPr>
          <p:cNvPr id="11" name="Text 9"/>
          <p:cNvSpPr txBox="1"/>
          <p:nvPr/>
        </p:nvSpPr>
        <p:spPr>
          <a:xfrm>
            <a:off x="859536" y="1847088"/>
            <a:ext cx="10607040"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Each segment ranked on its own. Navy line = each segment's average; green at or above it.</a:t>
            </a:r>
            <a:endParaRPr lang="en-US" sz="1400" dirty="0"/>
          </a:p>
        </p:txBody>
      </p:sp>
      <p:sp>
        <p:nvSpPr>
          <p:cNvPr id="12" name="Text 10"/>
          <p:cNvSpPr txBox="1"/>
          <p:nvPr/>
        </p:nvSpPr>
        <p:spPr>
          <a:xfrm>
            <a:off x="658368" y="2176272"/>
            <a:ext cx="5303520" cy="208280"/>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2.90</a:t>
            </a:r>
            <a:endParaRPr lang="en-US" sz="1300" dirty="0"/>
          </a:p>
        </p:txBody>
      </p:sp>
      <p:sp>
        <p:nvSpPr>
          <p:cNvPr id="13" name="Shape 11"/>
          <p:cNvSpPr/>
          <p:nvPr/>
        </p:nvSpPr>
        <p:spPr>
          <a:xfrm>
            <a:off x="658368" y="2366264"/>
            <a:ext cx="5303520" cy="18288"/>
          </a:xfrm>
          <a:prstGeom prst="rect">
            <a:avLst/>
          </a:prstGeom>
          <a:solidFill>
            <a:srgbClr val="0B2C4A"/>
          </a:solidFill>
          <a:ln/>
        </p:spPr>
      </p:sp>
      <p:sp>
        <p:nvSpPr>
          <p:cNvPr id="14" name="Text 12"/>
          <p:cNvSpPr txBox="1"/>
          <p:nvPr/>
        </p:nvSpPr>
        <p:spPr>
          <a:xfrm>
            <a:off x="658368" y="23845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5" name="Text 13"/>
          <p:cNvSpPr txBox="1"/>
          <p:nvPr/>
        </p:nvSpPr>
        <p:spPr>
          <a:xfrm>
            <a:off x="1014984" y="23845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6" name="Shape 14"/>
          <p:cNvSpPr/>
          <p:nvPr/>
        </p:nvSpPr>
        <p:spPr>
          <a:xfrm>
            <a:off x="3008376" y="2436622"/>
            <a:ext cx="1599253" cy="104140"/>
          </a:xfrm>
          <a:prstGeom prst="rect">
            <a:avLst/>
          </a:prstGeom>
          <a:solidFill>
            <a:srgbClr val="12A566"/>
          </a:solidFill>
          <a:ln/>
        </p:spPr>
      </p:sp>
      <p:sp>
        <p:nvSpPr>
          <p:cNvPr id="17" name="Text 15"/>
          <p:cNvSpPr txBox="1"/>
          <p:nvPr/>
        </p:nvSpPr>
        <p:spPr>
          <a:xfrm>
            <a:off x="4754880" y="238455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3.99</a:t>
            </a:r>
            <a:endParaRPr lang="en-US" sz="1200" dirty="0"/>
          </a:p>
        </p:txBody>
      </p:sp>
      <p:sp>
        <p:nvSpPr>
          <p:cNvPr id="18" name="Text 16"/>
          <p:cNvSpPr txBox="1"/>
          <p:nvPr/>
        </p:nvSpPr>
        <p:spPr>
          <a:xfrm>
            <a:off x="658368" y="25928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25928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0" name="Shape 18"/>
          <p:cNvSpPr/>
          <p:nvPr/>
        </p:nvSpPr>
        <p:spPr>
          <a:xfrm>
            <a:off x="3008376" y="2644902"/>
            <a:ext cx="1597857" cy="104140"/>
          </a:xfrm>
          <a:prstGeom prst="rect">
            <a:avLst/>
          </a:prstGeom>
          <a:solidFill>
            <a:srgbClr val="12A566"/>
          </a:solidFill>
          <a:ln/>
        </p:spPr>
      </p:sp>
      <p:sp>
        <p:nvSpPr>
          <p:cNvPr id="21" name="Text 19"/>
          <p:cNvSpPr txBox="1"/>
          <p:nvPr/>
        </p:nvSpPr>
        <p:spPr>
          <a:xfrm>
            <a:off x="4754880" y="259283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3.99</a:t>
            </a:r>
            <a:endParaRPr lang="en-US" sz="1200" dirty="0"/>
          </a:p>
        </p:txBody>
      </p:sp>
      <p:sp>
        <p:nvSpPr>
          <p:cNvPr id="22" name="Text 20"/>
          <p:cNvSpPr txBox="1"/>
          <p:nvPr/>
        </p:nvSpPr>
        <p:spPr>
          <a:xfrm>
            <a:off x="658368" y="28011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3" name="Text 21"/>
          <p:cNvSpPr txBox="1"/>
          <p:nvPr/>
        </p:nvSpPr>
        <p:spPr>
          <a:xfrm>
            <a:off x="1014984" y="28011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4" name="Shape 22"/>
          <p:cNvSpPr/>
          <p:nvPr/>
        </p:nvSpPr>
        <p:spPr>
          <a:xfrm>
            <a:off x="3008376" y="2853182"/>
            <a:ext cx="1396154" cy="104140"/>
          </a:xfrm>
          <a:prstGeom prst="rect">
            <a:avLst/>
          </a:prstGeom>
          <a:solidFill>
            <a:srgbClr val="12A566"/>
          </a:solidFill>
          <a:ln/>
        </p:spPr>
      </p:sp>
      <p:sp>
        <p:nvSpPr>
          <p:cNvPr id="25" name="Text 23"/>
          <p:cNvSpPr txBox="1"/>
          <p:nvPr/>
        </p:nvSpPr>
        <p:spPr>
          <a:xfrm>
            <a:off x="4754880" y="280111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3.48</a:t>
            </a:r>
            <a:endParaRPr lang="en-US" sz="1200" dirty="0"/>
          </a:p>
        </p:txBody>
      </p:sp>
      <p:sp>
        <p:nvSpPr>
          <p:cNvPr id="26" name="Text 24"/>
          <p:cNvSpPr txBox="1"/>
          <p:nvPr/>
        </p:nvSpPr>
        <p:spPr>
          <a:xfrm>
            <a:off x="658368" y="30093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7" name="Text 25"/>
          <p:cNvSpPr txBox="1"/>
          <p:nvPr/>
        </p:nvSpPr>
        <p:spPr>
          <a:xfrm>
            <a:off x="1014984" y="30093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8" name="Shape 26"/>
          <p:cNvSpPr/>
          <p:nvPr/>
        </p:nvSpPr>
        <p:spPr>
          <a:xfrm>
            <a:off x="3008376" y="3061462"/>
            <a:ext cx="1395716" cy="104140"/>
          </a:xfrm>
          <a:prstGeom prst="rect">
            <a:avLst/>
          </a:prstGeom>
          <a:solidFill>
            <a:srgbClr val="12A566"/>
          </a:solidFill>
          <a:ln/>
        </p:spPr>
      </p:sp>
      <p:sp>
        <p:nvSpPr>
          <p:cNvPr id="29" name="Text 27"/>
          <p:cNvSpPr txBox="1"/>
          <p:nvPr/>
        </p:nvSpPr>
        <p:spPr>
          <a:xfrm>
            <a:off x="4754880" y="300939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3.48</a:t>
            </a:r>
            <a:endParaRPr lang="en-US" sz="1200" dirty="0"/>
          </a:p>
        </p:txBody>
      </p:sp>
      <p:sp>
        <p:nvSpPr>
          <p:cNvPr id="30" name="Text 28"/>
          <p:cNvSpPr txBox="1"/>
          <p:nvPr/>
        </p:nvSpPr>
        <p:spPr>
          <a:xfrm>
            <a:off x="658368" y="32176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1" name="Text 29"/>
          <p:cNvSpPr txBox="1"/>
          <p:nvPr/>
        </p:nvSpPr>
        <p:spPr>
          <a:xfrm>
            <a:off x="1014984" y="32176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2" name="Shape 30"/>
          <p:cNvSpPr/>
          <p:nvPr/>
        </p:nvSpPr>
        <p:spPr>
          <a:xfrm>
            <a:off x="3008376" y="3269742"/>
            <a:ext cx="1094195" cy="104140"/>
          </a:xfrm>
          <a:prstGeom prst="rect">
            <a:avLst/>
          </a:prstGeom>
          <a:solidFill>
            <a:srgbClr val="C2352F"/>
          </a:solidFill>
          <a:ln/>
        </p:spPr>
      </p:sp>
      <p:sp>
        <p:nvSpPr>
          <p:cNvPr id="33" name="Text 31"/>
          <p:cNvSpPr txBox="1"/>
          <p:nvPr/>
        </p:nvSpPr>
        <p:spPr>
          <a:xfrm>
            <a:off x="4754880" y="321767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2.73</a:t>
            </a:r>
            <a:endParaRPr lang="en-US" sz="1200" dirty="0"/>
          </a:p>
        </p:txBody>
      </p:sp>
      <p:sp>
        <p:nvSpPr>
          <p:cNvPr id="34" name="Text 32"/>
          <p:cNvSpPr txBox="1"/>
          <p:nvPr/>
        </p:nvSpPr>
        <p:spPr>
          <a:xfrm>
            <a:off x="658368" y="34259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5" name="Text 33"/>
          <p:cNvSpPr txBox="1"/>
          <p:nvPr/>
        </p:nvSpPr>
        <p:spPr>
          <a:xfrm>
            <a:off x="1014984" y="34259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36" name="Shape 34"/>
          <p:cNvSpPr/>
          <p:nvPr/>
        </p:nvSpPr>
        <p:spPr>
          <a:xfrm>
            <a:off x="3008376" y="3478022"/>
            <a:ext cx="1092999" cy="104140"/>
          </a:xfrm>
          <a:prstGeom prst="rect">
            <a:avLst/>
          </a:prstGeom>
          <a:solidFill>
            <a:srgbClr val="C2352F"/>
          </a:solidFill>
          <a:ln/>
        </p:spPr>
      </p:sp>
      <p:sp>
        <p:nvSpPr>
          <p:cNvPr id="37" name="Text 35"/>
          <p:cNvSpPr txBox="1"/>
          <p:nvPr/>
        </p:nvSpPr>
        <p:spPr>
          <a:xfrm>
            <a:off x="4754880" y="342595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2.73</a:t>
            </a:r>
            <a:endParaRPr lang="en-US" sz="1200" dirty="0"/>
          </a:p>
        </p:txBody>
      </p:sp>
      <p:sp>
        <p:nvSpPr>
          <p:cNvPr id="38" name="Text 36"/>
          <p:cNvSpPr txBox="1"/>
          <p:nvPr/>
        </p:nvSpPr>
        <p:spPr>
          <a:xfrm>
            <a:off x="658368" y="36342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9" name="Text 37"/>
          <p:cNvSpPr txBox="1"/>
          <p:nvPr/>
        </p:nvSpPr>
        <p:spPr>
          <a:xfrm>
            <a:off x="1014984" y="36342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0" name="Shape 38"/>
          <p:cNvSpPr/>
          <p:nvPr/>
        </p:nvSpPr>
        <p:spPr>
          <a:xfrm>
            <a:off x="3008376" y="3686302"/>
            <a:ext cx="995599" cy="104140"/>
          </a:xfrm>
          <a:prstGeom prst="rect">
            <a:avLst/>
          </a:prstGeom>
          <a:solidFill>
            <a:srgbClr val="C2352F"/>
          </a:solidFill>
          <a:ln/>
        </p:spPr>
      </p:sp>
      <p:sp>
        <p:nvSpPr>
          <p:cNvPr id="41" name="Text 39"/>
          <p:cNvSpPr txBox="1"/>
          <p:nvPr/>
        </p:nvSpPr>
        <p:spPr>
          <a:xfrm>
            <a:off x="4754880" y="363423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2.48</a:t>
            </a:r>
            <a:endParaRPr lang="en-US" sz="1200" dirty="0"/>
          </a:p>
        </p:txBody>
      </p:sp>
      <p:sp>
        <p:nvSpPr>
          <p:cNvPr id="42" name="Text 40"/>
          <p:cNvSpPr txBox="1"/>
          <p:nvPr/>
        </p:nvSpPr>
        <p:spPr>
          <a:xfrm>
            <a:off x="658368" y="38425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3" name="Text 41"/>
          <p:cNvSpPr txBox="1"/>
          <p:nvPr/>
        </p:nvSpPr>
        <p:spPr>
          <a:xfrm>
            <a:off x="1014984" y="38425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4" name="Shape 42"/>
          <p:cNvSpPr/>
          <p:nvPr/>
        </p:nvSpPr>
        <p:spPr>
          <a:xfrm>
            <a:off x="3008376" y="3894582"/>
            <a:ext cx="912830" cy="104140"/>
          </a:xfrm>
          <a:prstGeom prst="rect">
            <a:avLst/>
          </a:prstGeom>
          <a:solidFill>
            <a:srgbClr val="C2352F"/>
          </a:solidFill>
          <a:ln/>
        </p:spPr>
      </p:sp>
      <p:sp>
        <p:nvSpPr>
          <p:cNvPr id="45" name="Text 43"/>
          <p:cNvSpPr txBox="1"/>
          <p:nvPr/>
        </p:nvSpPr>
        <p:spPr>
          <a:xfrm>
            <a:off x="4754880" y="384251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2.28</a:t>
            </a:r>
            <a:endParaRPr lang="en-US" sz="1200" dirty="0"/>
          </a:p>
        </p:txBody>
      </p:sp>
      <p:sp>
        <p:nvSpPr>
          <p:cNvPr id="46" name="Text 44"/>
          <p:cNvSpPr txBox="1"/>
          <p:nvPr/>
        </p:nvSpPr>
        <p:spPr>
          <a:xfrm>
            <a:off x="658368" y="40507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7" name="Text 45"/>
          <p:cNvSpPr txBox="1"/>
          <p:nvPr/>
        </p:nvSpPr>
        <p:spPr>
          <a:xfrm>
            <a:off x="1014984" y="40507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8" name="Shape 46"/>
          <p:cNvSpPr/>
          <p:nvPr/>
        </p:nvSpPr>
        <p:spPr>
          <a:xfrm>
            <a:off x="3008376" y="4102862"/>
            <a:ext cx="834814" cy="104140"/>
          </a:xfrm>
          <a:prstGeom prst="rect">
            <a:avLst/>
          </a:prstGeom>
          <a:solidFill>
            <a:srgbClr val="C2352F"/>
          </a:solidFill>
          <a:ln/>
        </p:spPr>
      </p:sp>
      <p:sp>
        <p:nvSpPr>
          <p:cNvPr id="49" name="Text 47"/>
          <p:cNvSpPr txBox="1"/>
          <p:nvPr/>
        </p:nvSpPr>
        <p:spPr>
          <a:xfrm>
            <a:off x="4754880" y="405079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2.08</a:t>
            </a:r>
            <a:endParaRPr lang="en-US" sz="1200" dirty="0"/>
          </a:p>
        </p:txBody>
      </p:sp>
      <p:sp>
        <p:nvSpPr>
          <p:cNvPr id="50" name="Text 48"/>
          <p:cNvSpPr txBox="1"/>
          <p:nvPr/>
        </p:nvSpPr>
        <p:spPr>
          <a:xfrm>
            <a:off x="658368" y="4259072"/>
            <a:ext cx="5303520" cy="208280"/>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1.75</a:t>
            </a:r>
            <a:endParaRPr lang="en-US" sz="1300" dirty="0"/>
          </a:p>
        </p:txBody>
      </p:sp>
      <p:sp>
        <p:nvSpPr>
          <p:cNvPr id="51" name="Shape 49"/>
          <p:cNvSpPr/>
          <p:nvPr/>
        </p:nvSpPr>
        <p:spPr>
          <a:xfrm>
            <a:off x="658368" y="4449064"/>
            <a:ext cx="5303520" cy="18288"/>
          </a:xfrm>
          <a:prstGeom prst="rect">
            <a:avLst/>
          </a:prstGeom>
          <a:solidFill>
            <a:srgbClr val="0B2C4A"/>
          </a:solidFill>
          <a:ln/>
        </p:spPr>
      </p:sp>
      <p:sp>
        <p:nvSpPr>
          <p:cNvPr id="52" name="Text 50"/>
          <p:cNvSpPr txBox="1"/>
          <p:nvPr/>
        </p:nvSpPr>
        <p:spPr>
          <a:xfrm>
            <a:off x="658368" y="44673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4673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4" name="Shape 52"/>
          <p:cNvSpPr/>
          <p:nvPr/>
        </p:nvSpPr>
        <p:spPr>
          <a:xfrm>
            <a:off x="3008376" y="4519422"/>
            <a:ext cx="1658471" cy="104140"/>
          </a:xfrm>
          <a:prstGeom prst="rect">
            <a:avLst/>
          </a:prstGeom>
          <a:solidFill>
            <a:srgbClr val="12A566"/>
          </a:solidFill>
          <a:ln/>
        </p:spPr>
      </p:sp>
      <p:sp>
        <p:nvSpPr>
          <p:cNvPr id="55" name="Text 53"/>
          <p:cNvSpPr txBox="1"/>
          <p:nvPr/>
        </p:nvSpPr>
        <p:spPr>
          <a:xfrm>
            <a:off x="4754880" y="446735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2.49</a:t>
            </a:r>
            <a:endParaRPr lang="en-US" sz="1200" dirty="0"/>
          </a:p>
        </p:txBody>
      </p:sp>
      <p:sp>
        <p:nvSpPr>
          <p:cNvPr id="56" name="Text 54"/>
          <p:cNvSpPr txBox="1"/>
          <p:nvPr/>
        </p:nvSpPr>
        <p:spPr>
          <a:xfrm>
            <a:off x="658368" y="46756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6756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58" name="Shape 56"/>
          <p:cNvSpPr/>
          <p:nvPr/>
        </p:nvSpPr>
        <p:spPr>
          <a:xfrm>
            <a:off x="3008376" y="4727702"/>
            <a:ext cx="1530972" cy="104140"/>
          </a:xfrm>
          <a:prstGeom prst="rect">
            <a:avLst/>
          </a:prstGeom>
          <a:solidFill>
            <a:srgbClr val="12A566"/>
          </a:solidFill>
          <a:ln/>
        </p:spPr>
      </p:sp>
      <p:sp>
        <p:nvSpPr>
          <p:cNvPr id="59" name="Text 57"/>
          <p:cNvSpPr txBox="1"/>
          <p:nvPr/>
        </p:nvSpPr>
        <p:spPr>
          <a:xfrm>
            <a:off x="4754880" y="467563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2.30</a:t>
            </a:r>
            <a:endParaRPr lang="en-US" sz="1200" dirty="0"/>
          </a:p>
        </p:txBody>
      </p:sp>
      <p:sp>
        <p:nvSpPr>
          <p:cNvPr id="60" name="Text 58"/>
          <p:cNvSpPr txBox="1"/>
          <p:nvPr/>
        </p:nvSpPr>
        <p:spPr>
          <a:xfrm>
            <a:off x="658368" y="48839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48839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2" name="Shape 60"/>
          <p:cNvSpPr/>
          <p:nvPr/>
        </p:nvSpPr>
        <p:spPr>
          <a:xfrm>
            <a:off x="3008376" y="4935982"/>
            <a:ext cx="1530733" cy="104140"/>
          </a:xfrm>
          <a:prstGeom prst="rect">
            <a:avLst/>
          </a:prstGeom>
          <a:solidFill>
            <a:srgbClr val="12A566"/>
          </a:solidFill>
          <a:ln/>
        </p:spPr>
      </p:sp>
      <p:sp>
        <p:nvSpPr>
          <p:cNvPr id="63" name="Text 61"/>
          <p:cNvSpPr txBox="1"/>
          <p:nvPr/>
        </p:nvSpPr>
        <p:spPr>
          <a:xfrm>
            <a:off x="4754880" y="488391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2.30</a:t>
            </a:r>
            <a:endParaRPr lang="en-US" sz="1200" dirty="0"/>
          </a:p>
        </p:txBody>
      </p:sp>
      <p:sp>
        <p:nvSpPr>
          <p:cNvPr id="64" name="Text 62"/>
          <p:cNvSpPr txBox="1"/>
          <p:nvPr/>
        </p:nvSpPr>
        <p:spPr>
          <a:xfrm>
            <a:off x="658368" y="50921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0921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6" name="Shape 64"/>
          <p:cNvSpPr/>
          <p:nvPr/>
        </p:nvSpPr>
        <p:spPr>
          <a:xfrm>
            <a:off x="3008376" y="5144262"/>
            <a:ext cx="1465702" cy="104140"/>
          </a:xfrm>
          <a:prstGeom prst="rect">
            <a:avLst/>
          </a:prstGeom>
          <a:solidFill>
            <a:srgbClr val="12A566"/>
          </a:solidFill>
          <a:ln/>
        </p:spPr>
      </p:sp>
      <p:sp>
        <p:nvSpPr>
          <p:cNvPr id="67" name="Text 65"/>
          <p:cNvSpPr txBox="1"/>
          <p:nvPr/>
        </p:nvSpPr>
        <p:spPr>
          <a:xfrm>
            <a:off x="4754880" y="509219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2.20</a:t>
            </a:r>
            <a:endParaRPr lang="en-US" sz="1200" dirty="0"/>
          </a:p>
        </p:txBody>
      </p:sp>
      <p:sp>
        <p:nvSpPr>
          <p:cNvPr id="68" name="Text 66"/>
          <p:cNvSpPr txBox="1"/>
          <p:nvPr/>
        </p:nvSpPr>
        <p:spPr>
          <a:xfrm>
            <a:off x="658368" y="53004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3004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70" name="Shape 68"/>
          <p:cNvSpPr/>
          <p:nvPr/>
        </p:nvSpPr>
        <p:spPr>
          <a:xfrm>
            <a:off x="3008376" y="5352542"/>
            <a:ext cx="1405167" cy="104140"/>
          </a:xfrm>
          <a:prstGeom prst="rect">
            <a:avLst/>
          </a:prstGeom>
          <a:solidFill>
            <a:srgbClr val="12A566"/>
          </a:solidFill>
          <a:ln/>
        </p:spPr>
      </p:sp>
      <p:sp>
        <p:nvSpPr>
          <p:cNvPr id="71" name="Text 69"/>
          <p:cNvSpPr txBox="1"/>
          <p:nvPr/>
        </p:nvSpPr>
        <p:spPr>
          <a:xfrm>
            <a:off x="4754880" y="530047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2.11</a:t>
            </a:r>
            <a:endParaRPr lang="en-US" sz="1200" dirty="0"/>
          </a:p>
        </p:txBody>
      </p:sp>
      <p:sp>
        <p:nvSpPr>
          <p:cNvPr id="72" name="Text 70"/>
          <p:cNvSpPr txBox="1"/>
          <p:nvPr/>
        </p:nvSpPr>
        <p:spPr>
          <a:xfrm>
            <a:off x="658368" y="55087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5087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74" name="Shape 72"/>
          <p:cNvSpPr/>
          <p:nvPr/>
        </p:nvSpPr>
        <p:spPr>
          <a:xfrm>
            <a:off x="3008376" y="5560822"/>
            <a:ext cx="1345161" cy="104140"/>
          </a:xfrm>
          <a:prstGeom prst="rect">
            <a:avLst/>
          </a:prstGeom>
          <a:solidFill>
            <a:srgbClr val="12A566"/>
          </a:solidFill>
          <a:ln/>
        </p:spPr>
      </p:sp>
      <p:sp>
        <p:nvSpPr>
          <p:cNvPr id="75" name="Text 73"/>
          <p:cNvSpPr txBox="1"/>
          <p:nvPr/>
        </p:nvSpPr>
        <p:spPr>
          <a:xfrm>
            <a:off x="4754880" y="550875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2.02</a:t>
            </a:r>
            <a:endParaRPr lang="en-US" sz="1200" dirty="0"/>
          </a:p>
        </p:txBody>
      </p:sp>
      <p:sp>
        <p:nvSpPr>
          <p:cNvPr id="76" name="Text 74"/>
          <p:cNvSpPr txBox="1"/>
          <p:nvPr/>
        </p:nvSpPr>
        <p:spPr>
          <a:xfrm>
            <a:off x="658368" y="57170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57170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8" name="Shape 76"/>
          <p:cNvSpPr/>
          <p:nvPr/>
        </p:nvSpPr>
        <p:spPr>
          <a:xfrm>
            <a:off x="3008376" y="5769102"/>
            <a:ext cx="1336576" cy="104140"/>
          </a:xfrm>
          <a:prstGeom prst="rect">
            <a:avLst/>
          </a:prstGeom>
          <a:solidFill>
            <a:srgbClr val="12A566"/>
          </a:solidFill>
          <a:ln/>
        </p:spPr>
      </p:sp>
      <p:sp>
        <p:nvSpPr>
          <p:cNvPr id="79" name="Text 77"/>
          <p:cNvSpPr txBox="1"/>
          <p:nvPr/>
        </p:nvSpPr>
        <p:spPr>
          <a:xfrm>
            <a:off x="4754880" y="571703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2.01</a:t>
            </a:r>
            <a:endParaRPr lang="en-US" sz="1200" dirty="0"/>
          </a:p>
        </p:txBody>
      </p:sp>
      <p:sp>
        <p:nvSpPr>
          <p:cNvPr id="80" name="Text 78"/>
          <p:cNvSpPr txBox="1"/>
          <p:nvPr/>
        </p:nvSpPr>
        <p:spPr>
          <a:xfrm>
            <a:off x="6208776" y="21762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1" name="Text 79"/>
          <p:cNvSpPr txBox="1"/>
          <p:nvPr/>
        </p:nvSpPr>
        <p:spPr>
          <a:xfrm>
            <a:off x="6565392" y="21762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2" name="Shape 80"/>
          <p:cNvSpPr/>
          <p:nvPr/>
        </p:nvSpPr>
        <p:spPr>
          <a:xfrm>
            <a:off x="8558784" y="2228342"/>
            <a:ext cx="1310628" cy="104140"/>
          </a:xfrm>
          <a:prstGeom prst="rect">
            <a:avLst/>
          </a:prstGeom>
          <a:solidFill>
            <a:srgbClr val="12A566"/>
          </a:solidFill>
          <a:ln/>
        </p:spPr>
      </p:sp>
      <p:sp>
        <p:nvSpPr>
          <p:cNvPr id="83" name="Text 81"/>
          <p:cNvSpPr txBox="1"/>
          <p:nvPr/>
        </p:nvSpPr>
        <p:spPr>
          <a:xfrm>
            <a:off x="10305288" y="217627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1.97</a:t>
            </a:r>
            <a:endParaRPr lang="en-US" sz="1200" dirty="0"/>
          </a:p>
        </p:txBody>
      </p:sp>
      <p:sp>
        <p:nvSpPr>
          <p:cNvPr id="84" name="Text 82"/>
          <p:cNvSpPr txBox="1"/>
          <p:nvPr/>
        </p:nvSpPr>
        <p:spPr>
          <a:xfrm>
            <a:off x="6208776" y="23845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5" name="Text 83"/>
          <p:cNvSpPr txBox="1"/>
          <p:nvPr/>
        </p:nvSpPr>
        <p:spPr>
          <a:xfrm>
            <a:off x="6565392" y="23845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86" name="Shape 84"/>
          <p:cNvSpPr/>
          <p:nvPr/>
        </p:nvSpPr>
        <p:spPr>
          <a:xfrm>
            <a:off x="8558784" y="2436622"/>
            <a:ext cx="1303142" cy="104140"/>
          </a:xfrm>
          <a:prstGeom prst="rect">
            <a:avLst/>
          </a:prstGeom>
          <a:solidFill>
            <a:srgbClr val="12A566"/>
          </a:solidFill>
          <a:ln/>
        </p:spPr>
      </p:sp>
      <p:sp>
        <p:nvSpPr>
          <p:cNvPr id="87" name="Text 85"/>
          <p:cNvSpPr txBox="1"/>
          <p:nvPr/>
        </p:nvSpPr>
        <p:spPr>
          <a:xfrm>
            <a:off x="10305288" y="238455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1.96</a:t>
            </a:r>
            <a:endParaRPr lang="en-US" sz="1200" dirty="0"/>
          </a:p>
        </p:txBody>
      </p:sp>
      <p:sp>
        <p:nvSpPr>
          <p:cNvPr id="88" name="Text 86"/>
          <p:cNvSpPr txBox="1"/>
          <p:nvPr/>
        </p:nvSpPr>
        <p:spPr>
          <a:xfrm>
            <a:off x="6208776" y="25928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89" name="Text 87"/>
          <p:cNvSpPr txBox="1"/>
          <p:nvPr/>
        </p:nvSpPr>
        <p:spPr>
          <a:xfrm>
            <a:off x="6565392" y="25928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90" name="Shape 88"/>
          <p:cNvSpPr/>
          <p:nvPr/>
        </p:nvSpPr>
        <p:spPr>
          <a:xfrm>
            <a:off x="8558784" y="2644902"/>
            <a:ext cx="1296433" cy="104140"/>
          </a:xfrm>
          <a:prstGeom prst="rect">
            <a:avLst/>
          </a:prstGeom>
          <a:solidFill>
            <a:srgbClr val="12A566"/>
          </a:solidFill>
          <a:ln/>
        </p:spPr>
      </p:sp>
      <p:sp>
        <p:nvSpPr>
          <p:cNvPr id="91" name="Text 89"/>
          <p:cNvSpPr txBox="1"/>
          <p:nvPr/>
        </p:nvSpPr>
        <p:spPr>
          <a:xfrm>
            <a:off x="10305288" y="259283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1.95</a:t>
            </a:r>
            <a:endParaRPr lang="en-US" sz="1200" dirty="0"/>
          </a:p>
        </p:txBody>
      </p:sp>
      <p:sp>
        <p:nvSpPr>
          <p:cNvPr id="92" name="Text 90"/>
          <p:cNvSpPr txBox="1"/>
          <p:nvPr/>
        </p:nvSpPr>
        <p:spPr>
          <a:xfrm>
            <a:off x="6208776" y="28011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3" name="Text 91"/>
          <p:cNvSpPr txBox="1"/>
          <p:nvPr/>
        </p:nvSpPr>
        <p:spPr>
          <a:xfrm>
            <a:off x="6565392" y="28011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4" name="Shape 92"/>
          <p:cNvSpPr/>
          <p:nvPr/>
        </p:nvSpPr>
        <p:spPr>
          <a:xfrm>
            <a:off x="8558784" y="2853182"/>
            <a:ext cx="1160151" cy="104140"/>
          </a:xfrm>
          <a:prstGeom prst="rect">
            <a:avLst/>
          </a:prstGeom>
          <a:solidFill>
            <a:srgbClr val="C2352F"/>
          </a:solidFill>
          <a:ln/>
        </p:spPr>
      </p:sp>
      <p:sp>
        <p:nvSpPr>
          <p:cNvPr id="95" name="Text 93"/>
          <p:cNvSpPr txBox="1"/>
          <p:nvPr/>
        </p:nvSpPr>
        <p:spPr>
          <a:xfrm>
            <a:off x="10305288" y="280111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1.74</a:t>
            </a:r>
            <a:endParaRPr lang="en-US" sz="1200" dirty="0"/>
          </a:p>
        </p:txBody>
      </p:sp>
      <p:sp>
        <p:nvSpPr>
          <p:cNvPr id="96" name="Text 94"/>
          <p:cNvSpPr txBox="1"/>
          <p:nvPr/>
        </p:nvSpPr>
        <p:spPr>
          <a:xfrm>
            <a:off x="6208776" y="30093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7" name="Text 95"/>
          <p:cNvSpPr txBox="1"/>
          <p:nvPr/>
        </p:nvSpPr>
        <p:spPr>
          <a:xfrm>
            <a:off x="6565392" y="30093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98" name="Shape 96"/>
          <p:cNvSpPr/>
          <p:nvPr/>
        </p:nvSpPr>
        <p:spPr>
          <a:xfrm>
            <a:off x="8558784" y="3061462"/>
            <a:ext cx="1136807" cy="104140"/>
          </a:xfrm>
          <a:prstGeom prst="rect">
            <a:avLst/>
          </a:prstGeom>
          <a:solidFill>
            <a:srgbClr val="C2352F"/>
          </a:solidFill>
          <a:ln/>
        </p:spPr>
      </p:sp>
      <p:sp>
        <p:nvSpPr>
          <p:cNvPr id="99" name="Text 97"/>
          <p:cNvSpPr txBox="1"/>
          <p:nvPr/>
        </p:nvSpPr>
        <p:spPr>
          <a:xfrm>
            <a:off x="10305288" y="300939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1.71</a:t>
            </a:r>
            <a:endParaRPr lang="en-US" sz="1200" dirty="0"/>
          </a:p>
        </p:txBody>
      </p:sp>
      <p:sp>
        <p:nvSpPr>
          <p:cNvPr id="100" name="Text 98"/>
          <p:cNvSpPr txBox="1"/>
          <p:nvPr/>
        </p:nvSpPr>
        <p:spPr>
          <a:xfrm>
            <a:off x="6208776" y="32176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1" name="Text 99"/>
          <p:cNvSpPr txBox="1"/>
          <p:nvPr/>
        </p:nvSpPr>
        <p:spPr>
          <a:xfrm>
            <a:off x="6565392" y="32176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2" name="Shape 100"/>
          <p:cNvSpPr/>
          <p:nvPr/>
        </p:nvSpPr>
        <p:spPr>
          <a:xfrm>
            <a:off x="8558784" y="3269742"/>
            <a:ext cx="1108783" cy="104140"/>
          </a:xfrm>
          <a:prstGeom prst="rect">
            <a:avLst/>
          </a:prstGeom>
          <a:solidFill>
            <a:srgbClr val="C2352F"/>
          </a:solidFill>
          <a:ln/>
        </p:spPr>
      </p:sp>
      <p:sp>
        <p:nvSpPr>
          <p:cNvPr id="103" name="Text 101"/>
          <p:cNvSpPr txBox="1"/>
          <p:nvPr/>
        </p:nvSpPr>
        <p:spPr>
          <a:xfrm>
            <a:off x="10305288" y="321767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1.67</a:t>
            </a:r>
            <a:endParaRPr lang="en-US" sz="1200" dirty="0"/>
          </a:p>
        </p:txBody>
      </p:sp>
      <p:sp>
        <p:nvSpPr>
          <p:cNvPr id="104" name="Text 102"/>
          <p:cNvSpPr txBox="1"/>
          <p:nvPr/>
        </p:nvSpPr>
        <p:spPr>
          <a:xfrm>
            <a:off x="6208776" y="34259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5" name="Text 103"/>
          <p:cNvSpPr txBox="1"/>
          <p:nvPr/>
        </p:nvSpPr>
        <p:spPr>
          <a:xfrm>
            <a:off x="6565392" y="34259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6" name="Shape 104"/>
          <p:cNvSpPr/>
          <p:nvPr/>
        </p:nvSpPr>
        <p:spPr>
          <a:xfrm>
            <a:off x="8558784" y="3478022"/>
            <a:ext cx="1088944" cy="104140"/>
          </a:xfrm>
          <a:prstGeom prst="rect">
            <a:avLst/>
          </a:prstGeom>
          <a:solidFill>
            <a:srgbClr val="C2352F"/>
          </a:solidFill>
          <a:ln/>
        </p:spPr>
      </p:sp>
      <p:sp>
        <p:nvSpPr>
          <p:cNvPr id="107" name="Text 105"/>
          <p:cNvSpPr txBox="1"/>
          <p:nvPr/>
        </p:nvSpPr>
        <p:spPr>
          <a:xfrm>
            <a:off x="10305288" y="342595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1.64</a:t>
            </a:r>
            <a:endParaRPr lang="en-US" sz="1200" dirty="0"/>
          </a:p>
        </p:txBody>
      </p:sp>
      <p:sp>
        <p:nvSpPr>
          <p:cNvPr id="108" name="Text 106"/>
          <p:cNvSpPr txBox="1"/>
          <p:nvPr/>
        </p:nvSpPr>
        <p:spPr>
          <a:xfrm>
            <a:off x="6208776" y="36342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09" name="Text 107"/>
          <p:cNvSpPr txBox="1"/>
          <p:nvPr/>
        </p:nvSpPr>
        <p:spPr>
          <a:xfrm>
            <a:off x="6565392" y="36342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0" name="Shape 108"/>
          <p:cNvSpPr/>
          <p:nvPr/>
        </p:nvSpPr>
        <p:spPr>
          <a:xfrm>
            <a:off x="8558784" y="3686302"/>
            <a:ext cx="1063571" cy="104140"/>
          </a:xfrm>
          <a:prstGeom prst="rect">
            <a:avLst/>
          </a:prstGeom>
          <a:solidFill>
            <a:srgbClr val="C2352F"/>
          </a:solidFill>
          <a:ln/>
        </p:spPr>
      </p:sp>
      <p:sp>
        <p:nvSpPr>
          <p:cNvPr id="111" name="Text 109"/>
          <p:cNvSpPr txBox="1"/>
          <p:nvPr/>
        </p:nvSpPr>
        <p:spPr>
          <a:xfrm>
            <a:off x="10305288" y="363423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1.60</a:t>
            </a:r>
            <a:endParaRPr lang="en-US" sz="1200" dirty="0"/>
          </a:p>
        </p:txBody>
      </p:sp>
      <p:sp>
        <p:nvSpPr>
          <p:cNvPr id="112" name="Text 110"/>
          <p:cNvSpPr txBox="1"/>
          <p:nvPr/>
        </p:nvSpPr>
        <p:spPr>
          <a:xfrm>
            <a:off x="6208776" y="38425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3" name="Text 111"/>
          <p:cNvSpPr txBox="1"/>
          <p:nvPr/>
        </p:nvSpPr>
        <p:spPr>
          <a:xfrm>
            <a:off x="6565392" y="38425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4" name="Shape 112"/>
          <p:cNvSpPr/>
          <p:nvPr/>
        </p:nvSpPr>
        <p:spPr>
          <a:xfrm>
            <a:off x="8558784" y="3894582"/>
            <a:ext cx="1044439" cy="104140"/>
          </a:xfrm>
          <a:prstGeom prst="rect">
            <a:avLst/>
          </a:prstGeom>
          <a:solidFill>
            <a:srgbClr val="C2352F"/>
          </a:solidFill>
          <a:ln/>
        </p:spPr>
      </p:sp>
      <p:sp>
        <p:nvSpPr>
          <p:cNvPr id="115" name="Text 113"/>
          <p:cNvSpPr txBox="1"/>
          <p:nvPr/>
        </p:nvSpPr>
        <p:spPr>
          <a:xfrm>
            <a:off x="10305288" y="384251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1.57</a:t>
            </a:r>
            <a:endParaRPr lang="en-US" sz="1200" dirty="0"/>
          </a:p>
        </p:txBody>
      </p:sp>
      <p:sp>
        <p:nvSpPr>
          <p:cNvPr id="116" name="Text 114"/>
          <p:cNvSpPr txBox="1"/>
          <p:nvPr/>
        </p:nvSpPr>
        <p:spPr>
          <a:xfrm>
            <a:off x="6208776" y="40507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7" name="Text 115"/>
          <p:cNvSpPr txBox="1"/>
          <p:nvPr/>
        </p:nvSpPr>
        <p:spPr>
          <a:xfrm>
            <a:off x="6565392" y="40507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8" name="Shape 116"/>
          <p:cNvSpPr/>
          <p:nvPr/>
        </p:nvSpPr>
        <p:spPr>
          <a:xfrm>
            <a:off x="8558784" y="4102862"/>
            <a:ext cx="986681" cy="104140"/>
          </a:xfrm>
          <a:prstGeom prst="rect">
            <a:avLst/>
          </a:prstGeom>
          <a:solidFill>
            <a:srgbClr val="C2352F"/>
          </a:solidFill>
          <a:ln/>
        </p:spPr>
      </p:sp>
      <p:sp>
        <p:nvSpPr>
          <p:cNvPr id="119" name="Text 117"/>
          <p:cNvSpPr txBox="1"/>
          <p:nvPr/>
        </p:nvSpPr>
        <p:spPr>
          <a:xfrm>
            <a:off x="10305288" y="405079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1.48</a:t>
            </a:r>
            <a:endParaRPr lang="en-US" sz="1200" dirty="0"/>
          </a:p>
        </p:txBody>
      </p:sp>
      <p:sp>
        <p:nvSpPr>
          <p:cNvPr id="120" name="Text 118"/>
          <p:cNvSpPr txBox="1"/>
          <p:nvPr/>
        </p:nvSpPr>
        <p:spPr>
          <a:xfrm>
            <a:off x="6208776" y="42590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1" name="Text 119"/>
          <p:cNvSpPr txBox="1"/>
          <p:nvPr/>
        </p:nvSpPr>
        <p:spPr>
          <a:xfrm>
            <a:off x="6565392" y="42590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22" name="Shape 120"/>
          <p:cNvSpPr/>
          <p:nvPr/>
        </p:nvSpPr>
        <p:spPr>
          <a:xfrm>
            <a:off x="8558784" y="4311142"/>
            <a:ext cx="979901" cy="104140"/>
          </a:xfrm>
          <a:prstGeom prst="rect">
            <a:avLst/>
          </a:prstGeom>
          <a:solidFill>
            <a:srgbClr val="C2352F"/>
          </a:solidFill>
          <a:ln/>
        </p:spPr>
      </p:sp>
      <p:sp>
        <p:nvSpPr>
          <p:cNvPr id="123" name="Text 121"/>
          <p:cNvSpPr txBox="1"/>
          <p:nvPr/>
        </p:nvSpPr>
        <p:spPr>
          <a:xfrm>
            <a:off x="10305288" y="425907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124" name="Text 122"/>
          <p:cNvSpPr txBox="1"/>
          <p:nvPr/>
        </p:nvSpPr>
        <p:spPr>
          <a:xfrm>
            <a:off x="6208776" y="44673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5" name="Text 123"/>
          <p:cNvSpPr txBox="1"/>
          <p:nvPr/>
        </p:nvSpPr>
        <p:spPr>
          <a:xfrm>
            <a:off x="6565392" y="44673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6" name="Shape 124"/>
          <p:cNvSpPr/>
          <p:nvPr/>
        </p:nvSpPr>
        <p:spPr>
          <a:xfrm>
            <a:off x="8558784" y="4519422"/>
            <a:ext cx="969197" cy="104140"/>
          </a:xfrm>
          <a:prstGeom prst="rect">
            <a:avLst/>
          </a:prstGeom>
          <a:solidFill>
            <a:srgbClr val="C2352F"/>
          </a:solidFill>
          <a:ln/>
        </p:spPr>
      </p:sp>
      <p:sp>
        <p:nvSpPr>
          <p:cNvPr id="127" name="Text 125"/>
          <p:cNvSpPr txBox="1"/>
          <p:nvPr/>
        </p:nvSpPr>
        <p:spPr>
          <a:xfrm>
            <a:off x="10305288" y="446735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1.46</a:t>
            </a:r>
            <a:endParaRPr lang="en-US" sz="1200" dirty="0"/>
          </a:p>
        </p:txBody>
      </p:sp>
      <p:sp>
        <p:nvSpPr>
          <p:cNvPr id="128" name="Text 126"/>
          <p:cNvSpPr txBox="1"/>
          <p:nvPr/>
        </p:nvSpPr>
        <p:spPr>
          <a:xfrm>
            <a:off x="6208776" y="46756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9" name="Text 127"/>
          <p:cNvSpPr txBox="1"/>
          <p:nvPr/>
        </p:nvSpPr>
        <p:spPr>
          <a:xfrm>
            <a:off x="6565392" y="46756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0" name="Shape 128"/>
          <p:cNvSpPr/>
          <p:nvPr/>
        </p:nvSpPr>
        <p:spPr>
          <a:xfrm>
            <a:off x="8558784" y="4727702"/>
            <a:ext cx="951153" cy="104140"/>
          </a:xfrm>
          <a:prstGeom prst="rect">
            <a:avLst/>
          </a:prstGeom>
          <a:solidFill>
            <a:srgbClr val="C2352F"/>
          </a:solidFill>
          <a:ln/>
        </p:spPr>
      </p:sp>
      <p:sp>
        <p:nvSpPr>
          <p:cNvPr id="131" name="Text 129"/>
          <p:cNvSpPr txBox="1"/>
          <p:nvPr/>
        </p:nvSpPr>
        <p:spPr>
          <a:xfrm>
            <a:off x="10305288" y="467563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a:t>
            </a:r>
            <a:endParaRPr lang="en-US" sz="1200" dirty="0"/>
          </a:p>
        </p:txBody>
      </p:sp>
      <p:sp>
        <p:nvSpPr>
          <p:cNvPr id="132" name="Text 130"/>
          <p:cNvSpPr txBox="1"/>
          <p:nvPr/>
        </p:nvSpPr>
        <p:spPr>
          <a:xfrm>
            <a:off x="6208776" y="48839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3" name="Text 131"/>
          <p:cNvSpPr txBox="1"/>
          <p:nvPr/>
        </p:nvSpPr>
        <p:spPr>
          <a:xfrm>
            <a:off x="6565392" y="48839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4" name="Shape 132"/>
          <p:cNvSpPr/>
          <p:nvPr/>
        </p:nvSpPr>
        <p:spPr>
          <a:xfrm>
            <a:off x="8558784" y="4935982"/>
            <a:ext cx="945514" cy="104140"/>
          </a:xfrm>
          <a:prstGeom prst="rect">
            <a:avLst/>
          </a:prstGeom>
          <a:solidFill>
            <a:srgbClr val="C2352F"/>
          </a:solidFill>
          <a:ln/>
        </p:spPr>
      </p:sp>
      <p:sp>
        <p:nvSpPr>
          <p:cNvPr id="135" name="Text 133"/>
          <p:cNvSpPr txBox="1"/>
          <p:nvPr/>
        </p:nvSpPr>
        <p:spPr>
          <a:xfrm>
            <a:off x="10305288" y="488391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a:t>
            </a:r>
            <a:endParaRPr lang="en-US" sz="1200" dirty="0"/>
          </a:p>
        </p:txBody>
      </p:sp>
      <p:sp>
        <p:nvSpPr>
          <p:cNvPr id="136" name="Text 134"/>
          <p:cNvSpPr txBox="1"/>
          <p:nvPr/>
        </p:nvSpPr>
        <p:spPr>
          <a:xfrm>
            <a:off x="6208776" y="50921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7" name="Text 135"/>
          <p:cNvSpPr txBox="1"/>
          <p:nvPr/>
        </p:nvSpPr>
        <p:spPr>
          <a:xfrm>
            <a:off x="6565392" y="50921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38" name="Shape 136"/>
          <p:cNvSpPr/>
          <p:nvPr/>
        </p:nvSpPr>
        <p:spPr>
          <a:xfrm>
            <a:off x="8558784" y="5144262"/>
            <a:ext cx="935633" cy="104140"/>
          </a:xfrm>
          <a:prstGeom prst="rect">
            <a:avLst/>
          </a:prstGeom>
          <a:solidFill>
            <a:srgbClr val="C2352F"/>
          </a:solidFill>
          <a:ln/>
        </p:spPr>
      </p:sp>
      <p:sp>
        <p:nvSpPr>
          <p:cNvPr id="139" name="Text 137"/>
          <p:cNvSpPr txBox="1"/>
          <p:nvPr/>
        </p:nvSpPr>
        <p:spPr>
          <a:xfrm>
            <a:off x="10305288" y="509219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1.41</a:t>
            </a:r>
            <a:endParaRPr lang="en-US" sz="1200" dirty="0"/>
          </a:p>
        </p:txBody>
      </p:sp>
      <p:sp>
        <p:nvSpPr>
          <p:cNvPr id="140" name="Text 138"/>
          <p:cNvSpPr txBox="1"/>
          <p:nvPr/>
        </p:nvSpPr>
        <p:spPr>
          <a:xfrm>
            <a:off x="6208776" y="53004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1" name="Text 139"/>
          <p:cNvSpPr txBox="1"/>
          <p:nvPr/>
        </p:nvSpPr>
        <p:spPr>
          <a:xfrm>
            <a:off x="6565392" y="53004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42" name="Shape 140"/>
          <p:cNvSpPr/>
          <p:nvPr/>
        </p:nvSpPr>
        <p:spPr>
          <a:xfrm>
            <a:off x="8558784" y="5352542"/>
            <a:ext cx="920871" cy="104140"/>
          </a:xfrm>
          <a:prstGeom prst="rect">
            <a:avLst/>
          </a:prstGeom>
          <a:solidFill>
            <a:srgbClr val="C2352F"/>
          </a:solidFill>
          <a:ln/>
        </p:spPr>
      </p:sp>
      <p:sp>
        <p:nvSpPr>
          <p:cNvPr id="143" name="Text 141"/>
          <p:cNvSpPr txBox="1"/>
          <p:nvPr/>
        </p:nvSpPr>
        <p:spPr>
          <a:xfrm>
            <a:off x="10305288" y="530047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144" name="Text 142"/>
          <p:cNvSpPr txBox="1"/>
          <p:nvPr/>
        </p:nvSpPr>
        <p:spPr>
          <a:xfrm>
            <a:off x="6208776" y="55087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5" name="Text 143"/>
          <p:cNvSpPr txBox="1"/>
          <p:nvPr/>
        </p:nvSpPr>
        <p:spPr>
          <a:xfrm>
            <a:off x="6565392" y="55087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46" name="Shape 144"/>
          <p:cNvSpPr/>
          <p:nvPr/>
        </p:nvSpPr>
        <p:spPr>
          <a:xfrm>
            <a:off x="8558784" y="5560822"/>
            <a:ext cx="858628" cy="104140"/>
          </a:xfrm>
          <a:prstGeom prst="rect">
            <a:avLst/>
          </a:prstGeom>
          <a:solidFill>
            <a:srgbClr val="C2352F"/>
          </a:solidFill>
          <a:ln/>
        </p:spPr>
      </p:sp>
      <p:sp>
        <p:nvSpPr>
          <p:cNvPr id="147" name="Text 145"/>
          <p:cNvSpPr txBox="1"/>
          <p:nvPr/>
        </p:nvSpPr>
        <p:spPr>
          <a:xfrm>
            <a:off x="10305288" y="550875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1.29</a:t>
            </a:r>
            <a:endParaRPr lang="en-US" sz="1200" dirty="0"/>
          </a:p>
        </p:txBody>
      </p:sp>
      <p:sp>
        <p:nvSpPr>
          <p:cNvPr id="148" name="Shape 146"/>
          <p:cNvSpPr/>
          <p:nvPr/>
        </p:nvSpPr>
        <p:spPr>
          <a:xfrm>
            <a:off x="4163400" y="2176272"/>
            <a:ext cx="14630" cy="3749040"/>
          </a:xfrm>
          <a:prstGeom prst="rect">
            <a:avLst/>
          </a:prstGeom>
          <a:solidFill>
            <a:srgbClr val="0B2C4A"/>
          </a:solidFill>
          <a:ln/>
        </p:spPr>
      </p:sp>
      <p:sp>
        <p:nvSpPr>
          <p:cNvPr id="149" name="Shape 147"/>
          <p:cNvSpPr/>
          <p:nvPr/>
        </p:nvSpPr>
        <p:spPr>
          <a:xfrm>
            <a:off x="9713808" y="2176272"/>
            <a:ext cx="14630" cy="3749040"/>
          </a:xfrm>
          <a:prstGeom prst="rect">
            <a:avLst/>
          </a:prstGeom>
          <a:solidFill>
            <a:srgbClr val="0B2C4A"/>
          </a:solidFill>
          <a:ln/>
        </p:spPr>
      </p:sp>
      <p:sp>
        <p:nvSpPr>
          <p:cNvPr id="150" name="Shape 148"/>
          <p:cNvSpPr/>
          <p:nvPr/>
        </p:nvSpPr>
        <p:spPr>
          <a:xfrm>
            <a:off x="6085332" y="2176272"/>
            <a:ext cx="10973" cy="3749040"/>
          </a:xfrm>
          <a:prstGeom prst="rect">
            <a:avLst/>
          </a:prstGeom>
          <a:solidFill>
            <a:srgbClr val="D9D9D9"/>
          </a:solidFill>
          <a:ln/>
        </p:spPr>
      </p:sp>
      <p:sp>
        <p:nvSpPr>
          <p:cNvPr id="151" name="Shape 149"/>
          <p:cNvSpPr/>
          <p:nvPr/>
        </p:nvSpPr>
        <p:spPr>
          <a:xfrm>
            <a:off x="457200" y="6126480"/>
            <a:ext cx="11274552" cy="615696"/>
          </a:xfrm>
          <a:prstGeom prst="rect">
            <a:avLst/>
          </a:prstGeom>
          <a:solidFill>
            <a:srgbClr val="EDF4FA"/>
          </a:solidFill>
          <a:ln/>
        </p:spPr>
      </p:sp>
      <p:sp>
        <p:nvSpPr>
          <p:cNvPr id="152" name="Text 15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Against their own segment, 4 of 9 luxury stores beat 2.90 and 10 of 24 others beat 1.75. VW Henderson leads non-luxury at 2.49.</a:t>
            </a:r>
            <a:endParaRPr lang="en-US" sz="1600" dirty="0"/>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HOURS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+0.07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785616" y="1911860"/>
            <a:ext cx="770176"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+0.55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 name="Shape 15"/>
          <p:cNvSpPr/>
          <p:nvPr/>
        </p:nvSpPr>
        <p:spPr>
          <a:xfrm>
            <a:off x="3785616" y="2151755"/>
            <a:ext cx="564666"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1" name="Shape 19"/>
          <p:cNvSpPr/>
          <p:nvPr/>
        </p:nvSpPr>
        <p:spPr>
          <a:xfrm>
            <a:off x="3785616" y="2391651"/>
            <a:ext cx="42606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+0.30</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5" name="Shape 23"/>
          <p:cNvSpPr/>
          <p:nvPr/>
        </p:nvSpPr>
        <p:spPr>
          <a:xfrm>
            <a:off x="3785616" y="2631546"/>
            <a:ext cx="417722"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+0.30</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9" name="Shape 27"/>
          <p:cNvSpPr/>
          <p:nvPr/>
        </p:nvSpPr>
        <p:spPr>
          <a:xfrm>
            <a:off x="3785616" y="2871442"/>
            <a:ext cx="412897"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3" name="Shape 31"/>
          <p:cNvSpPr/>
          <p:nvPr/>
        </p:nvSpPr>
        <p:spPr>
          <a:xfrm>
            <a:off x="3785616" y="3111337"/>
            <a:ext cx="410888"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+0.29</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7" name="Shape 35"/>
          <p:cNvSpPr/>
          <p:nvPr/>
        </p:nvSpPr>
        <p:spPr>
          <a:xfrm>
            <a:off x="3785616" y="3351233"/>
            <a:ext cx="367632"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41" name="Shape 39"/>
          <p:cNvSpPr/>
          <p:nvPr/>
        </p:nvSpPr>
        <p:spPr>
          <a:xfrm>
            <a:off x="3785616" y="3591128"/>
            <a:ext cx="361775"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+0.26</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3785616" y="3831024"/>
            <a:ext cx="347775"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+0.25</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9" name="Shape 47"/>
          <p:cNvSpPr/>
          <p:nvPr/>
        </p:nvSpPr>
        <p:spPr>
          <a:xfrm>
            <a:off x="3785616" y="4070920"/>
            <a:ext cx="323785"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+0.23</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53" name="Shape 51"/>
          <p:cNvSpPr/>
          <p:nvPr/>
        </p:nvSpPr>
        <p:spPr>
          <a:xfrm>
            <a:off x="3785616" y="4310815"/>
            <a:ext cx="276863"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+0.20</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7" name="Shape 55"/>
          <p:cNvSpPr/>
          <p:nvPr/>
        </p:nvSpPr>
        <p:spPr>
          <a:xfrm>
            <a:off x="3785616" y="4550711"/>
            <a:ext cx="261070"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+0.19</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1" name="Shape 59"/>
          <p:cNvSpPr/>
          <p:nvPr/>
        </p:nvSpPr>
        <p:spPr>
          <a:xfrm>
            <a:off x="3785616" y="4790606"/>
            <a:ext cx="221771"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5" name="Shape 63"/>
          <p:cNvSpPr/>
          <p:nvPr/>
        </p:nvSpPr>
        <p:spPr>
          <a:xfrm>
            <a:off x="3785616" y="5030502"/>
            <a:ext cx="181513"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+0.13</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9" name="Shape 67"/>
          <p:cNvSpPr/>
          <p:nvPr/>
        </p:nvSpPr>
        <p:spPr>
          <a:xfrm>
            <a:off x="3785616" y="5270397"/>
            <a:ext cx="156493"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+0.11</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3" name="Shape 71"/>
          <p:cNvSpPr/>
          <p:nvPr/>
        </p:nvSpPr>
        <p:spPr>
          <a:xfrm>
            <a:off x="3785616" y="5510293"/>
            <a:ext cx="146373"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+0.10</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77" name="Shape 75"/>
          <p:cNvSpPr/>
          <p:nvPr/>
        </p:nvSpPr>
        <p:spPr>
          <a:xfrm>
            <a:off x="3785616" y="5750188"/>
            <a:ext cx="142691"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+0.10</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9336024" y="1911860"/>
            <a:ext cx="132718"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+0.09</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5" name="Shape 83"/>
          <p:cNvSpPr/>
          <p:nvPr/>
        </p:nvSpPr>
        <p:spPr>
          <a:xfrm>
            <a:off x="9336024" y="2151755"/>
            <a:ext cx="128547"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+0.09</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9" name="Shape 87"/>
          <p:cNvSpPr/>
          <p:nvPr/>
        </p:nvSpPr>
        <p:spPr>
          <a:xfrm>
            <a:off x="9336024" y="2391651"/>
            <a:ext cx="122528"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+0.09</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93" name="Shape 91"/>
          <p:cNvSpPr/>
          <p:nvPr/>
        </p:nvSpPr>
        <p:spPr>
          <a:xfrm>
            <a:off x="9336024" y="2631546"/>
            <a:ext cx="114612"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+0.08</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7" name="Shape 95"/>
          <p:cNvSpPr/>
          <p:nvPr/>
        </p:nvSpPr>
        <p:spPr>
          <a:xfrm>
            <a:off x="9336024" y="2871442"/>
            <a:ext cx="111734"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1" name="Shape 99"/>
          <p:cNvSpPr/>
          <p:nvPr/>
        </p:nvSpPr>
        <p:spPr>
          <a:xfrm>
            <a:off x="9336024" y="3111337"/>
            <a:ext cx="63851"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+0.05</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05" name="Shape 103"/>
          <p:cNvSpPr/>
          <p:nvPr/>
        </p:nvSpPr>
        <p:spPr>
          <a:xfrm>
            <a:off x="9336024" y="3351233"/>
            <a:ext cx="58226"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+0.04</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9" name="Shape 107"/>
          <p:cNvSpPr/>
          <p:nvPr/>
        </p:nvSpPr>
        <p:spPr>
          <a:xfrm>
            <a:off x="9336024" y="3591128"/>
            <a:ext cx="12802" cy="110352"/>
          </a:xfrm>
          <a:prstGeom prst="rect">
            <a:avLst/>
          </a:prstGeom>
          <a:solidFill>
            <a:srgbClr val="12A566"/>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+0.01</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13" name="Shape 111"/>
          <p:cNvSpPr/>
          <p:nvPr/>
        </p:nvSpPr>
        <p:spPr>
          <a:xfrm>
            <a:off x="9336024" y="3831024"/>
            <a:ext cx="12802" cy="110352"/>
          </a:xfrm>
          <a:prstGeom prst="rect">
            <a:avLst/>
          </a:prstGeom>
          <a:solidFill>
            <a:srgbClr val="12A566"/>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+0.00</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17" name="Shape 115"/>
          <p:cNvSpPr/>
          <p:nvPr/>
        </p:nvSpPr>
        <p:spPr>
          <a:xfrm>
            <a:off x="9297473" y="4070920"/>
            <a:ext cx="38551"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1" name="Shape 119"/>
          <p:cNvSpPr/>
          <p:nvPr/>
        </p:nvSpPr>
        <p:spPr>
          <a:xfrm>
            <a:off x="9292255" y="4310815"/>
            <a:ext cx="43769"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−0.03</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5" name="Shape 123"/>
          <p:cNvSpPr/>
          <p:nvPr/>
        </p:nvSpPr>
        <p:spPr>
          <a:xfrm>
            <a:off x="9238983" y="4550711"/>
            <a:ext cx="97041"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−0.07</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9" name="Shape 127"/>
          <p:cNvSpPr/>
          <p:nvPr/>
        </p:nvSpPr>
        <p:spPr>
          <a:xfrm>
            <a:off x="9121986" y="4790606"/>
            <a:ext cx="214038"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−0.15</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992031" y="5030502"/>
            <a:ext cx="343993"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−0.24</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7" name="Shape 135"/>
          <p:cNvSpPr/>
          <p:nvPr/>
        </p:nvSpPr>
        <p:spPr>
          <a:xfrm>
            <a:off x="8911352" y="5270397"/>
            <a:ext cx="424672"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−0.30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−0.55</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26 of 33 stores sold more hours per RO, led by Subaru St George at +0.55 to 2.30. 7 declined; LR Reno fell most at −0.55.</a:t>
            </a:r>
            <a:endParaRPr lang="en-US" sz="1600" dirty="0"/>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0.1 Hour per RO Is Worth</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218688" y="1316736"/>
            <a:ext cx="91440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133088" y="1316736"/>
            <a:ext cx="896112"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Labor</a:t>
            </a:r>
            <a:endParaRPr lang="en-US" sz="1400" dirty="0"/>
          </a:p>
        </p:txBody>
      </p:sp>
      <p:sp>
        <p:nvSpPr>
          <p:cNvPr id="8" name="Text 6"/>
          <p:cNvSpPr txBox="1"/>
          <p:nvPr/>
        </p:nvSpPr>
        <p:spPr>
          <a:xfrm>
            <a:off x="5029200"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Parts</a:t>
            </a:r>
            <a:endParaRPr lang="en-US" sz="1400" dirty="0"/>
          </a:p>
        </p:txBody>
      </p:sp>
      <p:sp>
        <p:nvSpPr>
          <p:cNvPr id="9" name="Text 7"/>
          <p:cNvSpPr txBox="1"/>
          <p:nvPr/>
        </p:nvSpPr>
        <p:spPr>
          <a:xfrm>
            <a:off x="8769096" y="1316736"/>
            <a:ext cx="91440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683496" y="1316736"/>
            <a:ext cx="896112"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Labor</a:t>
            </a:r>
            <a:endParaRPr lang="en-US" sz="1400" dirty="0"/>
          </a:p>
        </p:txBody>
      </p:sp>
      <p:sp>
        <p:nvSpPr>
          <p:cNvPr id="11" name="Text 9"/>
          <p:cNvSpPr txBox="1"/>
          <p:nvPr/>
        </p:nvSpPr>
        <p:spPr>
          <a:xfrm>
            <a:off x="10579608"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Parts</a:t>
            </a:r>
            <a:endParaRPr lang="en-US" sz="1400" dirty="0"/>
          </a:p>
        </p:txBody>
      </p:sp>
      <p:sp>
        <p:nvSpPr>
          <p:cNvPr id="12" name="Text 10"/>
          <p:cNvSpPr txBox="1"/>
          <p:nvPr/>
        </p:nvSpPr>
        <p:spPr>
          <a:xfrm>
            <a:off x="658368"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3" name="Shape 11"/>
          <p:cNvSpPr/>
          <p:nvPr/>
        </p:nvSpPr>
        <p:spPr>
          <a:xfrm>
            <a:off x="2670048" y="1756697"/>
            <a:ext cx="493776" cy="136676"/>
          </a:xfrm>
          <a:prstGeom prst="rect">
            <a:avLst/>
          </a:prstGeom>
          <a:solidFill>
            <a:srgbClr val="2587C5"/>
          </a:solidFill>
          <a:ln/>
        </p:spPr>
      </p:sp>
      <p:sp>
        <p:nvSpPr>
          <p:cNvPr id="14" name="Text 12"/>
          <p:cNvSpPr txBox="1"/>
          <p:nvPr/>
        </p:nvSpPr>
        <p:spPr>
          <a:xfrm>
            <a:off x="3218688" y="170078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$1.16M</a:t>
            </a:r>
            <a:endParaRPr lang="en-US" sz="1300" dirty="0"/>
          </a:p>
        </p:txBody>
      </p:sp>
      <p:sp>
        <p:nvSpPr>
          <p:cNvPr id="15" name="Text 13"/>
          <p:cNvSpPr txBox="1"/>
          <p:nvPr/>
        </p:nvSpPr>
        <p:spPr>
          <a:xfrm>
            <a:off x="4133088" y="1700784"/>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$868K</a:t>
            </a:r>
            <a:endParaRPr lang="en-US" sz="1300" dirty="0"/>
          </a:p>
        </p:txBody>
      </p:sp>
      <p:sp>
        <p:nvSpPr>
          <p:cNvPr id="16" name="Text 14"/>
          <p:cNvSpPr txBox="1"/>
          <p:nvPr/>
        </p:nvSpPr>
        <p:spPr>
          <a:xfrm>
            <a:off x="5029200" y="1700784"/>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$296K</a:t>
            </a:r>
            <a:endParaRPr lang="en-US" sz="1300" dirty="0"/>
          </a:p>
        </p:txBody>
      </p:sp>
      <p:sp>
        <p:nvSpPr>
          <p:cNvPr id="17" name="Text 15"/>
          <p:cNvSpPr txBox="1"/>
          <p:nvPr/>
        </p:nvSpPr>
        <p:spPr>
          <a:xfrm>
            <a:off x="658368"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8" name="Shape 16"/>
          <p:cNvSpPr/>
          <p:nvPr/>
        </p:nvSpPr>
        <p:spPr>
          <a:xfrm>
            <a:off x="2670048" y="2005199"/>
            <a:ext cx="217917" cy="136676"/>
          </a:xfrm>
          <a:prstGeom prst="rect">
            <a:avLst/>
          </a:prstGeom>
          <a:solidFill>
            <a:srgbClr val="2587C5"/>
          </a:solidFill>
          <a:ln/>
        </p:spPr>
      </p:sp>
      <p:sp>
        <p:nvSpPr>
          <p:cNvPr id="19" name="Text 17"/>
          <p:cNvSpPr txBox="1"/>
          <p:nvPr/>
        </p:nvSpPr>
        <p:spPr>
          <a:xfrm>
            <a:off x="3218688" y="194928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$514K</a:t>
            </a:r>
            <a:endParaRPr lang="en-US" sz="1300" dirty="0"/>
          </a:p>
        </p:txBody>
      </p:sp>
      <p:sp>
        <p:nvSpPr>
          <p:cNvPr id="20" name="Text 18"/>
          <p:cNvSpPr txBox="1"/>
          <p:nvPr/>
        </p:nvSpPr>
        <p:spPr>
          <a:xfrm>
            <a:off x="4133088" y="1949286"/>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$396K</a:t>
            </a:r>
            <a:endParaRPr lang="en-US" sz="1300" dirty="0"/>
          </a:p>
        </p:txBody>
      </p:sp>
      <p:sp>
        <p:nvSpPr>
          <p:cNvPr id="21" name="Text 19"/>
          <p:cNvSpPr txBox="1"/>
          <p:nvPr/>
        </p:nvSpPr>
        <p:spPr>
          <a:xfrm>
            <a:off x="5029200" y="1949286"/>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$118K</a:t>
            </a:r>
            <a:endParaRPr lang="en-US" sz="1300" dirty="0"/>
          </a:p>
        </p:txBody>
      </p:sp>
      <p:sp>
        <p:nvSpPr>
          <p:cNvPr id="22" name="Text 20"/>
          <p:cNvSpPr txBox="1"/>
          <p:nvPr/>
        </p:nvSpPr>
        <p:spPr>
          <a:xfrm>
            <a:off x="658368"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23" name="Shape 21"/>
          <p:cNvSpPr/>
          <p:nvPr/>
        </p:nvSpPr>
        <p:spPr>
          <a:xfrm>
            <a:off x="2670048" y="2253700"/>
            <a:ext cx="173990" cy="136676"/>
          </a:xfrm>
          <a:prstGeom prst="rect">
            <a:avLst/>
          </a:prstGeom>
          <a:solidFill>
            <a:srgbClr val="2587C5"/>
          </a:solidFill>
          <a:ln/>
        </p:spPr>
      </p:sp>
      <p:sp>
        <p:nvSpPr>
          <p:cNvPr id="24" name="Text 22"/>
          <p:cNvSpPr txBox="1"/>
          <p:nvPr/>
        </p:nvSpPr>
        <p:spPr>
          <a:xfrm>
            <a:off x="3218688" y="219778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$410K</a:t>
            </a:r>
            <a:endParaRPr lang="en-US" sz="1300" dirty="0"/>
          </a:p>
        </p:txBody>
      </p:sp>
      <p:sp>
        <p:nvSpPr>
          <p:cNvPr id="25" name="Text 23"/>
          <p:cNvSpPr txBox="1"/>
          <p:nvPr/>
        </p:nvSpPr>
        <p:spPr>
          <a:xfrm>
            <a:off x="4133088" y="2197787"/>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$296K</a:t>
            </a:r>
            <a:endParaRPr lang="en-US" sz="1300" dirty="0"/>
          </a:p>
        </p:txBody>
      </p:sp>
      <p:sp>
        <p:nvSpPr>
          <p:cNvPr id="26" name="Text 24"/>
          <p:cNvSpPr txBox="1"/>
          <p:nvPr/>
        </p:nvSpPr>
        <p:spPr>
          <a:xfrm>
            <a:off x="5029200" y="2197787"/>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$115K</a:t>
            </a:r>
            <a:endParaRPr lang="en-US" sz="1300" dirty="0"/>
          </a:p>
        </p:txBody>
      </p:sp>
      <p:sp>
        <p:nvSpPr>
          <p:cNvPr id="27" name="Text 25"/>
          <p:cNvSpPr txBox="1"/>
          <p:nvPr/>
        </p:nvSpPr>
        <p:spPr>
          <a:xfrm>
            <a:off x="658368"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28" name="Shape 26"/>
          <p:cNvSpPr/>
          <p:nvPr/>
        </p:nvSpPr>
        <p:spPr>
          <a:xfrm>
            <a:off x="2670048" y="2502202"/>
            <a:ext cx="146509" cy="136676"/>
          </a:xfrm>
          <a:prstGeom prst="rect">
            <a:avLst/>
          </a:prstGeom>
          <a:solidFill>
            <a:srgbClr val="2587C5"/>
          </a:solidFill>
          <a:ln/>
        </p:spPr>
      </p:sp>
      <p:sp>
        <p:nvSpPr>
          <p:cNvPr id="29" name="Text 27"/>
          <p:cNvSpPr txBox="1"/>
          <p:nvPr/>
        </p:nvSpPr>
        <p:spPr>
          <a:xfrm>
            <a:off x="3218688" y="244628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$345K</a:t>
            </a:r>
            <a:endParaRPr lang="en-US" sz="1300" dirty="0"/>
          </a:p>
        </p:txBody>
      </p:sp>
      <p:sp>
        <p:nvSpPr>
          <p:cNvPr id="30" name="Text 28"/>
          <p:cNvSpPr txBox="1"/>
          <p:nvPr/>
        </p:nvSpPr>
        <p:spPr>
          <a:xfrm>
            <a:off x="4133088" y="2446289"/>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$261K</a:t>
            </a:r>
            <a:endParaRPr lang="en-US" sz="1300" dirty="0"/>
          </a:p>
        </p:txBody>
      </p:sp>
      <p:sp>
        <p:nvSpPr>
          <p:cNvPr id="31" name="Text 29"/>
          <p:cNvSpPr txBox="1"/>
          <p:nvPr/>
        </p:nvSpPr>
        <p:spPr>
          <a:xfrm>
            <a:off x="5029200" y="2446289"/>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$85K</a:t>
            </a:r>
            <a:endParaRPr lang="en-US" sz="1300" dirty="0"/>
          </a:p>
        </p:txBody>
      </p:sp>
      <p:sp>
        <p:nvSpPr>
          <p:cNvPr id="32" name="Text 30"/>
          <p:cNvSpPr txBox="1"/>
          <p:nvPr/>
        </p:nvSpPr>
        <p:spPr>
          <a:xfrm>
            <a:off x="658368"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33" name="Shape 31"/>
          <p:cNvSpPr/>
          <p:nvPr/>
        </p:nvSpPr>
        <p:spPr>
          <a:xfrm>
            <a:off x="2670048" y="2750703"/>
            <a:ext cx="143883" cy="136676"/>
          </a:xfrm>
          <a:prstGeom prst="rect">
            <a:avLst/>
          </a:prstGeom>
          <a:solidFill>
            <a:srgbClr val="2587C5"/>
          </a:solidFill>
          <a:ln/>
        </p:spPr>
      </p:sp>
      <p:sp>
        <p:nvSpPr>
          <p:cNvPr id="34" name="Text 32"/>
          <p:cNvSpPr txBox="1"/>
          <p:nvPr/>
        </p:nvSpPr>
        <p:spPr>
          <a:xfrm>
            <a:off x="3218688" y="2694791"/>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$339K</a:t>
            </a:r>
            <a:endParaRPr lang="en-US" sz="1300" dirty="0"/>
          </a:p>
        </p:txBody>
      </p:sp>
      <p:sp>
        <p:nvSpPr>
          <p:cNvPr id="35" name="Text 33"/>
          <p:cNvSpPr txBox="1"/>
          <p:nvPr/>
        </p:nvSpPr>
        <p:spPr>
          <a:xfrm>
            <a:off x="4133088" y="2694791"/>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$221K</a:t>
            </a:r>
            <a:endParaRPr lang="en-US" sz="1300" dirty="0"/>
          </a:p>
        </p:txBody>
      </p:sp>
      <p:sp>
        <p:nvSpPr>
          <p:cNvPr id="36" name="Text 34"/>
          <p:cNvSpPr txBox="1"/>
          <p:nvPr/>
        </p:nvSpPr>
        <p:spPr>
          <a:xfrm>
            <a:off x="5029200" y="2694791"/>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$118K</a:t>
            </a:r>
            <a:endParaRPr lang="en-US" sz="1300" dirty="0"/>
          </a:p>
        </p:txBody>
      </p:sp>
      <p:sp>
        <p:nvSpPr>
          <p:cNvPr id="37" name="Text 35"/>
          <p:cNvSpPr txBox="1"/>
          <p:nvPr/>
        </p:nvSpPr>
        <p:spPr>
          <a:xfrm>
            <a:off x="658368"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38" name="Shape 36"/>
          <p:cNvSpPr/>
          <p:nvPr/>
        </p:nvSpPr>
        <p:spPr>
          <a:xfrm>
            <a:off x="2670048" y="2999205"/>
            <a:ext cx="142232" cy="136676"/>
          </a:xfrm>
          <a:prstGeom prst="rect">
            <a:avLst/>
          </a:prstGeom>
          <a:solidFill>
            <a:srgbClr val="2587C5"/>
          </a:solidFill>
          <a:ln/>
        </p:spPr>
      </p:sp>
      <p:sp>
        <p:nvSpPr>
          <p:cNvPr id="39" name="Text 37"/>
          <p:cNvSpPr txBox="1"/>
          <p:nvPr/>
        </p:nvSpPr>
        <p:spPr>
          <a:xfrm>
            <a:off x="3218688" y="294329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$335K</a:t>
            </a:r>
            <a:endParaRPr lang="en-US" sz="1300" dirty="0"/>
          </a:p>
        </p:txBody>
      </p:sp>
      <p:sp>
        <p:nvSpPr>
          <p:cNvPr id="40" name="Text 38"/>
          <p:cNvSpPr txBox="1"/>
          <p:nvPr/>
        </p:nvSpPr>
        <p:spPr>
          <a:xfrm>
            <a:off x="4133088" y="2943292"/>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$244K</a:t>
            </a:r>
            <a:endParaRPr lang="en-US" sz="1300" dirty="0"/>
          </a:p>
        </p:txBody>
      </p:sp>
      <p:sp>
        <p:nvSpPr>
          <p:cNvPr id="41" name="Text 39"/>
          <p:cNvSpPr txBox="1"/>
          <p:nvPr/>
        </p:nvSpPr>
        <p:spPr>
          <a:xfrm>
            <a:off x="5029200" y="2943292"/>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$92K</a:t>
            </a:r>
            <a:endParaRPr lang="en-US" sz="1300" dirty="0"/>
          </a:p>
        </p:txBody>
      </p:sp>
      <p:sp>
        <p:nvSpPr>
          <p:cNvPr id="42" name="Text 40"/>
          <p:cNvSpPr txBox="1"/>
          <p:nvPr/>
        </p:nvSpPr>
        <p:spPr>
          <a:xfrm>
            <a:off x="658368"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43" name="Shape 41"/>
          <p:cNvSpPr/>
          <p:nvPr/>
        </p:nvSpPr>
        <p:spPr>
          <a:xfrm>
            <a:off x="2670048" y="3247707"/>
            <a:ext cx="130684" cy="136676"/>
          </a:xfrm>
          <a:prstGeom prst="rect">
            <a:avLst/>
          </a:prstGeom>
          <a:solidFill>
            <a:srgbClr val="2587C5"/>
          </a:solidFill>
          <a:ln/>
        </p:spPr>
      </p:sp>
      <p:sp>
        <p:nvSpPr>
          <p:cNvPr id="44" name="Text 42"/>
          <p:cNvSpPr txBox="1"/>
          <p:nvPr/>
        </p:nvSpPr>
        <p:spPr>
          <a:xfrm>
            <a:off x="3218688" y="319179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$308K</a:t>
            </a:r>
            <a:endParaRPr lang="en-US" sz="1300" dirty="0"/>
          </a:p>
        </p:txBody>
      </p:sp>
      <p:sp>
        <p:nvSpPr>
          <p:cNvPr id="45" name="Text 43"/>
          <p:cNvSpPr txBox="1"/>
          <p:nvPr/>
        </p:nvSpPr>
        <p:spPr>
          <a:xfrm>
            <a:off x="4133088" y="3191794"/>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$225K</a:t>
            </a:r>
            <a:endParaRPr lang="en-US" sz="1300" dirty="0"/>
          </a:p>
        </p:txBody>
      </p:sp>
      <p:sp>
        <p:nvSpPr>
          <p:cNvPr id="46" name="Text 44"/>
          <p:cNvSpPr txBox="1"/>
          <p:nvPr/>
        </p:nvSpPr>
        <p:spPr>
          <a:xfrm>
            <a:off x="5029200" y="3191794"/>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$83K</a:t>
            </a:r>
            <a:endParaRPr lang="en-US" sz="1300" dirty="0"/>
          </a:p>
        </p:txBody>
      </p:sp>
      <p:sp>
        <p:nvSpPr>
          <p:cNvPr id="47" name="Text 45"/>
          <p:cNvSpPr txBox="1"/>
          <p:nvPr/>
        </p:nvSpPr>
        <p:spPr>
          <a:xfrm>
            <a:off x="658368"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48" name="Shape 46"/>
          <p:cNvSpPr/>
          <p:nvPr/>
        </p:nvSpPr>
        <p:spPr>
          <a:xfrm>
            <a:off x="2670048" y="3496208"/>
            <a:ext cx="130182" cy="136676"/>
          </a:xfrm>
          <a:prstGeom prst="rect">
            <a:avLst/>
          </a:prstGeom>
          <a:solidFill>
            <a:srgbClr val="2587C5"/>
          </a:solidFill>
          <a:ln/>
        </p:spPr>
      </p:sp>
      <p:sp>
        <p:nvSpPr>
          <p:cNvPr id="49" name="Text 47"/>
          <p:cNvSpPr txBox="1"/>
          <p:nvPr/>
        </p:nvSpPr>
        <p:spPr>
          <a:xfrm>
            <a:off x="3218688" y="344029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$307K</a:t>
            </a:r>
            <a:endParaRPr lang="en-US" sz="1300" dirty="0"/>
          </a:p>
        </p:txBody>
      </p:sp>
      <p:sp>
        <p:nvSpPr>
          <p:cNvPr id="50" name="Text 48"/>
          <p:cNvSpPr txBox="1"/>
          <p:nvPr/>
        </p:nvSpPr>
        <p:spPr>
          <a:xfrm>
            <a:off x="4133088" y="3440296"/>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$228K</a:t>
            </a:r>
            <a:endParaRPr lang="en-US" sz="1300" dirty="0"/>
          </a:p>
        </p:txBody>
      </p:sp>
      <p:sp>
        <p:nvSpPr>
          <p:cNvPr id="51" name="Text 49"/>
          <p:cNvSpPr txBox="1"/>
          <p:nvPr/>
        </p:nvSpPr>
        <p:spPr>
          <a:xfrm>
            <a:off x="5029200" y="3440296"/>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$79K</a:t>
            </a:r>
            <a:endParaRPr lang="en-US" sz="1300" dirty="0"/>
          </a:p>
        </p:txBody>
      </p:sp>
      <p:sp>
        <p:nvSpPr>
          <p:cNvPr id="52" name="Text 50"/>
          <p:cNvSpPr txBox="1"/>
          <p:nvPr/>
        </p:nvSpPr>
        <p:spPr>
          <a:xfrm>
            <a:off x="658368"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53" name="Shape 51"/>
          <p:cNvSpPr/>
          <p:nvPr/>
        </p:nvSpPr>
        <p:spPr>
          <a:xfrm>
            <a:off x="2670048" y="3744710"/>
            <a:ext cx="83179" cy="136676"/>
          </a:xfrm>
          <a:prstGeom prst="rect">
            <a:avLst/>
          </a:prstGeom>
          <a:solidFill>
            <a:srgbClr val="2587C5"/>
          </a:solidFill>
          <a:ln/>
        </p:spPr>
      </p:sp>
      <p:sp>
        <p:nvSpPr>
          <p:cNvPr id="54" name="Text 52"/>
          <p:cNvSpPr txBox="1"/>
          <p:nvPr/>
        </p:nvSpPr>
        <p:spPr>
          <a:xfrm>
            <a:off x="3218688" y="368879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$196K</a:t>
            </a:r>
            <a:endParaRPr lang="en-US" sz="1300" dirty="0"/>
          </a:p>
        </p:txBody>
      </p:sp>
      <p:sp>
        <p:nvSpPr>
          <p:cNvPr id="55" name="Text 53"/>
          <p:cNvSpPr txBox="1"/>
          <p:nvPr/>
        </p:nvSpPr>
        <p:spPr>
          <a:xfrm>
            <a:off x="4133088" y="3688797"/>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$137K</a:t>
            </a:r>
            <a:endParaRPr lang="en-US" sz="1300" dirty="0"/>
          </a:p>
        </p:txBody>
      </p:sp>
      <p:sp>
        <p:nvSpPr>
          <p:cNvPr id="56" name="Text 54"/>
          <p:cNvSpPr txBox="1"/>
          <p:nvPr/>
        </p:nvSpPr>
        <p:spPr>
          <a:xfrm>
            <a:off x="5029200" y="3688797"/>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$59K</a:t>
            </a:r>
            <a:endParaRPr lang="en-US" sz="1300" dirty="0"/>
          </a:p>
        </p:txBody>
      </p:sp>
      <p:sp>
        <p:nvSpPr>
          <p:cNvPr id="57" name="Text 55"/>
          <p:cNvSpPr txBox="1"/>
          <p:nvPr/>
        </p:nvSpPr>
        <p:spPr>
          <a:xfrm>
            <a:off x="658368"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58" name="Shape 56"/>
          <p:cNvSpPr/>
          <p:nvPr/>
        </p:nvSpPr>
        <p:spPr>
          <a:xfrm>
            <a:off x="2670048" y="3993212"/>
            <a:ext cx="78607" cy="136676"/>
          </a:xfrm>
          <a:prstGeom prst="rect">
            <a:avLst/>
          </a:prstGeom>
          <a:solidFill>
            <a:srgbClr val="2587C5"/>
          </a:solidFill>
          <a:ln/>
        </p:spPr>
      </p:sp>
      <p:sp>
        <p:nvSpPr>
          <p:cNvPr id="59" name="Text 57"/>
          <p:cNvSpPr txBox="1"/>
          <p:nvPr/>
        </p:nvSpPr>
        <p:spPr>
          <a:xfrm>
            <a:off x="3218688" y="393729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$185K</a:t>
            </a:r>
            <a:endParaRPr lang="en-US" sz="1300" dirty="0"/>
          </a:p>
        </p:txBody>
      </p:sp>
      <p:sp>
        <p:nvSpPr>
          <p:cNvPr id="60" name="Text 58"/>
          <p:cNvSpPr txBox="1"/>
          <p:nvPr/>
        </p:nvSpPr>
        <p:spPr>
          <a:xfrm>
            <a:off x="4133088" y="3937299"/>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$129K</a:t>
            </a:r>
            <a:endParaRPr lang="en-US" sz="1300" dirty="0"/>
          </a:p>
        </p:txBody>
      </p:sp>
      <p:sp>
        <p:nvSpPr>
          <p:cNvPr id="61" name="Text 59"/>
          <p:cNvSpPr txBox="1"/>
          <p:nvPr/>
        </p:nvSpPr>
        <p:spPr>
          <a:xfrm>
            <a:off x="5029200" y="3937299"/>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$57K</a:t>
            </a:r>
            <a:endParaRPr lang="en-US" sz="1300" dirty="0"/>
          </a:p>
        </p:txBody>
      </p:sp>
      <p:sp>
        <p:nvSpPr>
          <p:cNvPr id="62" name="Text 60"/>
          <p:cNvSpPr txBox="1"/>
          <p:nvPr/>
        </p:nvSpPr>
        <p:spPr>
          <a:xfrm>
            <a:off x="658368"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63" name="Shape 61"/>
          <p:cNvSpPr/>
          <p:nvPr/>
        </p:nvSpPr>
        <p:spPr>
          <a:xfrm>
            <a:off x="2670048" y="4241713"/>
            <a:ext cx="75906" cy="136676"/>
          </a:xfrm>
          <a:prstGeom prst="rect">
            <a:avLst/>
          </a:prstGeom>
          <a:solidFill>
            <a:srgbClr val="2587C5"/>
          </a:solidFill>
          <a:ln/>
        </p:spPr>
      </p:sp>
      <p:sp>
        <p:nvSpPr>
          <p:cNvPr id="64" name="Text 62"/>
          <p:cNvSpPr txBox="1"/>
          <p:nvPr/>
        </p:nvSpPr>
        <p:spPr>
          <a:xfrm>
            <a:off x="3218688" y="418580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$179K</a:t>
            </a:r>
            <a:endParaRPr lang="en-US" sz="1300" dirty="0"/>
          </a:p>
        </p:txBody>
      </p:sp>
      <p:sp>
        <p:nvSpPr>
          <p:cNvPr id="65" name="Text 63"/>
          <p:cNvSpPr txBox="1"/>
          <p:nvPr/>
        </p:nvSpPr>
        <p:spPr>
          <a:xfrm>
            <a:off x="4133088" y="4185800"/>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$128K</a:t>
            </a:r>
            <a:endParaRPr lang="en-US" sz="1300" dirty="0"/>
          </a:p>
        </p:txBody>
      </p:sp>
      <p:sp>
        <p:nvSpPr>
          <p:cNvPr id="66" name="Text 64"/>
          <p:cNvSpPr txBox="1"/>
          <p:nvPr/>
        </p:nvSpPr>
        <p:spPr>
          <a:xfrm>
            <a:off x="5029200" y="4185800"/>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$51K</a:t>
            </a:r>
            <a:endParaRPr lang="en-US" sz="1300" dirty="0"/>
          </a:p>
        </p:txBody>
      </p:sp>
      <p:sp>
        <p:nvSpPr>
          <p:cNvPr id="67" name="Text 65"/>
          <p:cNvSpPr txBox="1"/>
          <p:nvPr/>
        </p:nvSpPr>
        <p:spPr>
          <a:xfrm>
            <a:off x="658368"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68" name="Shape 66"/>
          <p:cNvSpPr/>
          <p:nvPr/>
        </p:nvSpPr>
        <p:spPr>
          <a:xfrm>
            <a:off x="2670048" y="4490215"/>
            <a:ext cx="64387" cy="136676"/>
          </a:xfrm>
          <a:prstGeom prst="rect">
            <a:avLst/>
          </a:prstGeom>
          <a:solidFill>
            <a:srgbClr val="2587C5"/>
          </a:solidFill>
          <a:ln/>
        </p:spPr>
      </p:sp>
      <p:sp>
        <p:nvSpPr>
          <p:cNvPr id="69" name="Text 67"/>
          <p:cNvSpPr txBox="1"/>
          <p:nvPr/>
        </p:nvSpPr>
        <p:spPr>
          <a:xfrm>
            <a:off x="3218688" y="443430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$152K</a:t>
            </a:r>
            <a:endParaRPr lang="en-US" sz="1300" dirty="0"/>
          </a:p>
        </p:txBody>
      </p:sp>
      <p:sp>
        <p:nvSpPr>
          <p:cNvPr id="70" name="Text 68"/>
          <p:cNvSpPr txBox="1"/>
          <p:nvPr/>
        </p:nvSpPr>
        <p:spPr>
          <a:xfrm>
            <a:off x="4133088" y="4434302"/>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$102K</a:t>
            </a:r>
            <a:endParaRPr lang="en-US" sz="1300" dirty="0"/>
          </a:p>
        </p:txBody>
      </p:sp>
      <p:sp>
        <p:nvSpPr>
          <p:cNvPr id="71" name="Text 69"/>
          <p:cNvSpPr txBox="1"/>
          <p:nvPr/>
        </p:nvSpPr>
        <p:spPr>
          <a:xfrm>
            <a:off x="5029200" y="4434302"/>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$50K</a:t>
            </a:r>
            <a:endParaRPr lang="en-US" sz="1300" dirty="0"/>
          </a:p>
        </p:txBody>
      </p:sp>
      <p:sp>
        <p:nvSpPr>
          <p:cNvPr id="72" name="Text 70"/>
          <p:cNvSpPr txBox="1"/>
          <p:nvPr/>
        </p:nvSpPr>
        <p:spPr>
          <a:xfrm>
            <a:off x="658368"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73" name="Shape 71"/>
          <p:cNvSpPr/>
          <p:nvPr/>
        </p:nvSpPr>
        <p:spPr>
          <a:xfrm>
            <a:off x="2670048" y="4738717"/>
            <a:ext cx="63158" cy="136676"/>
          </a:xfrm>
          <a:prstGeom prst="rect">
            <a:avLst/>
          </a:prstGeom>
          <a:solidFill>
            <a:srgbClr val="2587C5"/>
          </a:solidFill>
          <a:ln/>
        </p:spPr>
      </p:sp>
      <p:sp>
        <p:nvSpPr>
          <p:cNvPr id="74" name="Text 72"/>
          <p:cNvSpPr txBox="1"/>
          <p:nvPr/>
        </p:nvSpPr>
        <p:spPr>
          <a:xfrm>
            <a:off x="3218688" y="468280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$149K</a:t>
            </a:r>
            <a:endParaRPr lang="en-US" sz="1300" dirty="0"/>
          </a:p>
        </p:txBody>
      </p:sp>
      <p:sp>
        <p:nvSpPr>
          <p:cNvPr id="75" name="Text 73"/>
          <p:cNvSpPr txBox="1"/>
          <p:nvPr/>
        </p:nvSpPr>
        <p:spPr>
          <a:xfrm>
            <a:off x="4133088" y="4682804"/>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$113K</a:t>
            </a:r>
            <a:endParaRPr lang="en-US" sz="1300" dirty="0"/>
          </a:p>
        </p:txBody>
      </p:sp>
      <p:sp>
        <p:nvSpPr>
          <p:cNvPr id="76" name="Text 74"/>
          <p:cNvSpPr txBox="1"/>
          <p:nvPr/>
        </p:nvSpPr>
        <p:spPr>
          <a:xfrm>
            <a:off x="5029200" y="4682804"/>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$36K</a:t>
            </a:r>
            <a:endParaRPr lang="en-US" sz="1300" dirty="0"/>
          </a:p>
        </p:txBody>
      </p:sp>
      <p:sp>
        <p:nvSpPr>
          <p:cNvPr id="77" name="Text 75"/>
          <p:cNvSpPr txBox="1"/>
          <p:nvPr/>
        </p:nvSpPr>
        <p:spPr>
          <a:xfrm>
            <a:off x="658368"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78" name="Shape 76"/>
          <p:cNvSpPr/>
          <p:nvPr/>
        </p:nvSpPr>
        <p:spPr>
          <a:xfrm>
            <a:off x="2670048" y="4987218"/>
            <a:ext cx="62045" cy="136676"/>
          </a:xfrm>
          <a:prstGeom prst="rect">
            <a:avLst/>
          </a:prstGeom>
          <a:solidFill>
            <a:srgbClr val="2587C5"/>
          </a:solidFill>
          <a:ln/>
        </p:spPr>
      </p:sp>
      <p:sp>
        <p:nvSpPr>
          <p:cNvPr id="79" name="Text 77"/>
          <p:cNvSpPr txBox="1"/>
          <p:nvPr/>
        </p:nvSpPr>
        <p:spPr>
          <a:xfrm>
            <a:off x="3218688" y="4931305"/>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$146K</a:t>
            </a:r>
            <a:endParaRPr lang="en-US" sz="1300" dirty="0"/>
          </a:p>
        </p:txBody>
      </p:sp>
      <p:sp>
        <p:nvSpPr>
          <p:cNvPr id="80" name="Text 78"/>
          <p:cNvSpPr txBox="1"/>
          <p:nvPr/>
        </p:nvSpPr>
        <p:spPr>
          <a:xfrm>
            <a:off x="4133088" y="4931305"/>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$105K</a:t>
            </a:r>
            <a:endParaRPr lang="en-US" sz="1300" dirty="0"/>
          </a:p>
        </p:txBody>
      </p:sp>
      <p:sp>
        <p:nvSpPr>
          <p:cNvPr id="81" name="Text 79"/>
          <p:cNvSpPr txBox="1"/>
          <p:nvPr/>
        </p:nvSpPr>
        <p:spPr>
          <a:xfrm>
            <a:off x="5029200" y="4931305"/>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$41K</a:t>
            </a:r>
            <a:endParaRPr lang="en-US" sz="1300" dirty="0"/>
          </a:p>
        </p:txBody>
      </p:sp>
      <p:sp>
        <p:nvSpPr>
          <p:cNvPr id="82" name="Text 80"/>
          <p:cNvSpPr txBox="1"/>
          <p:nvPr/>
        </p:nvSpPr>
        <p:spPr>
          <a:xfrm>
            <a:off x="658368"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83" name="Shape 81"/>
          <p:cNvSpPr/>
          <p:nvPr/>
        </p:nvSpPr>
        <p:spPr>
          <a:xfrm>
            <a:off x="2670048" y="5235720"/>
            <a:ext cx="60123" cy="136676"/>
          </a:xfrm>
          <a:prstGeom prst="rect">
            <a:avLst/>
          </a:prstGeom>
          <a:solidFill>
            <a:srgbClr val="2587C5"/>
          </a:solidFill>
          <a:ln/>
        </p:spPr>
      </p:sp>
      <p:sp>
        <p:nvSpPr>
          <p:cNvPr id="84" name="Text 82"/>
          <p:cNvSpPr txBox="1"/>
          <p:nvPr/>
        </p:nvSpPr>
        <p:spPr>
          <a:xfrm>
            <a:off x="3218688" y="517980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$142K</a:t>
            </a:r>
            <a:endParaRPr lang="en-US" sz="1300" dirty="0"/>
          </a:p>
        </p:txBody>
      </p:sp>
      <p:sp>
        <p:nvSpPr>
          <p:cNvPr id="85" name="Text 83"/>
          <p:cNvSpPr txBox="1"/>
          <p:nvPr/>
        </p:nvSpPr>
        <p:spPr>
          <a:xfrm>
            <a:off x="4133088" y="5179807"/>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$97K</a:t>
            </a:r>
            <a:endParaRPr lang="en-US" sz="1300" dirty="0"/>
          </a:p>
        </p:txBody>
      </p:sp>
      <p:sp>
        <p:nvSpPr>
          <p:cNvPr id="86" name="Text 84"/>
          <p:cNvSpPr txBox="1"/>
          <p:nvPr/>
        </p:nvSpPr>
        <p:spPr>
          <a:xfrm>
            <a:off x="5029200" y="5179807"/>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$45K</a:t>
            </a:r>
            <a:endParaRPr lang="en-US" sz="1300" dirty="0"/>
          </a:p>
        </p:txBody>
      </p:sp>
      <p:sp>
        <p:nvSpPr>
          <p:cNvPr id="87" name="Text 85"/>
          <p:cNvSpPr txBox="1"/>
          <p:nvPr/>
        </p:nvSpPr>
        <p:spPr>
          <a:xfrm>
            <a:off x="658368"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88" name="Shape 86"/>
          <p:cNvSpPr/>
          <p:nvPr/>
        </p:nvSpPr>
        <p:spPr>
          <a:xfrm>
            <a:off x="2670048" y="5484222"/>
            <a:ext cx="57007" cy="136676"/>
          </a:xfrm>
          <a:prstGeom prst="rect">
            <a:avLst/>
          </a:prstGeom>
          <a:solidFill>
            <a:srgbClr val="2587C5"/>
          </a:solidFill>
          <a:ln/>
        </p:spPr>
      </p:sp>
      <p:sp>
        <p:nvSpPr>
          <p:cNvPr id="89" name="Text 87"/>
          <p:cNvSpPr txBox="1"/>
          <p:nvPr/>
        </p:nvSpPr>
        <p:spPr>
          <a:xfrm>
            <a:off x="3218688" y="542830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$134K</a:t>
            </a:r>
            <a:endParaRPr lang="en-US" sz="1300" dirty="0"/>
          </a:p>
        </p:txBody>
      </p:sp>
      <p:sp>
        <p:nvSpPr>
          <p:cNvPr id="90" name="Text 88"/>
          <p:cNvSpPr txBox="1"/>
          <p:nvPr/>
        </p:nvSpPr>
        <p:spPr>
          <a:xfrm>
            <a:off x="4133088" y="5428309"/>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$100K</a:t>
            </a:r>
            <a:endParaRPr lang="en-US" sz="1300" dirty="0"/>
          </a:p>
        </p:txBody>
      </p:sp>
      <p:sp>
        <p:nvSpPr>
          <p:cNvPr id="91" name="Text 89"/>
          <p:cNvSpPr txBox="1"/>
          <p:nvPr/>
        </p:nvSpPr>
        <p:spPr>
          <a:xfrm>
            <a:off x="5029200" y="5428309"/>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$34K</a:t>
            </a:r>
            <a:endParaRPr lang="en-US" sz="1300" dirty="0"/>
          </a:p>
        </p:txBody>
      </p:sp>
      <p:sp>
        <p:nvSpPr>
          <p:cNvPr id="92" name="Text 90"/>
          <p:cNvSpPr txBox="1"/>
          <p:nvPr/>
        </p:nvSpPr>
        <p:spPr>
          <a:xfrm>
            <a:off x="658368" y="567681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93" name="Shape 91"/>
          <p:cNvSpPr/>
          <p:nvPr/>
        </p:nvSpPr>
        <p:spPr>
          <a:xfrm>
            <a:off x="2670048" y="5732723"/>
            <a:ext cx="56616" cy="136676"/>
          </a:xfrm>
          <a:prstGeom prst="rect">
            <a:avLst/>
          </a:prstGeom>
          <a:solidFill>
            <a:srgbClr val="2587C5"/>
          </a:solidFill>
          <a:ln/>
        </p:spPr>
      </p:sp>
      <p:sp>
        <p:nvSpPr>
          <p:cNvPr id="94" name="Text 92"/>
          <p:cNvSpPr txBox="1"/>
          <p:nvPr/>
        </p:nvSpPr>
        <p:spPr>
          <a:xfrm>
            <a:off x="3218688" y="567681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$134K</a:t>
            </a:r>
            <a:endParaRPr lang="en-US" sz="1300" dirty="0"/>
          </a:p>
        </p:txBody>
      </p:sp>
      <p:sp>
        <p:nvSpPr>
          <p:cNvPr id="95" name="Text 93"/>
          <p:cNvSpPr txBox="1"/>
          <p:nvPr/>
        </p:nvSpPr>
        <p:spPr>
          <a:xfrm>
            <a:off x="4133088" y="5676810"/>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$91K</a:t>
            </a:r>
            <a:endParaRPr lang="en-US" sz="1300" dirty="0"/>
          </a:p>
        </p:txBody>
      </p:sp>
      <p:sp>
        <p:nvSpPr>
          <p:cNvPr id="96" name="Text 94"/>
          <p:cNvSpPr txBox="1"/>
          <p:nvPr/>
        </p:nvSpPr>
        <p:spPr>
          <a:xfrm>
            <a:off x="5029200" y="5676810"/>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$42K</a:t>
            </a:r>
            <a:endParaRPr lang="en-US" sz="1300" dirty="0"/>
          </a:p>
        </p:txBody>
      </p:sp>
      <p:sp>
        <p:nvSpPr>
          <p:cNvPr id="97" name="Text 95"/>
          <p:cNvSpPr txBox="1"/>
          <p:nvPr/>
        </p:nvSpPr>
        <p:spPr>
          <a:xfrm>
            <a:off x="6208776"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98" name="Shape 96"/>
          <p:cNvSpPr/>
          <p:nvPr/>
        </p:nvSpPr>
        <p:spPr>
          <a:xfrm>
            <a:off x="8220456" y="1756697"/>
            <a:ext cx="56285" cy="136676"/>
          </a:xfrm>
          <a:prstGeom prst="rect">
            <a:avLst/>
          </a:prstGeom>
          <a:solidFill>
            <a:srgbClr val="2587C5"/>
          </a:solidFill>
          <a:ln/>
        </p:spPr>
      </p:sp>
      <p:sp>
        <p:nvSpPr>
          <p:cNvPr id="99" name="Text 97"/>
          <p:cNvSpPr txBox="1"/>
          <p:nvPr/>
        </p:nvSpPr>
        <p:spPr>
          <a:xfrm>
            <a:off x="8769096" y="170078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$133K</a:t>
            </a:r>
            <a:endParaRPr lang="en-US" sz="1300" dirty="0"/>
          </a:p>
        </p:txBody>
      </p:sp>
      <p:sp>
        <p:nvSpPr>
          <p:cNvPr id="100" name="Text 98"/>
          <p:cNvSpPr txBox="1"/>
          <p:nvPr/>
        </p:nvSpPr>
        <p:spPr>
          <a:xfrm>
            <a:off x="9683496" y="1700784"/>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$95K</a:t>
            </a:r>
            <a:endParaRPr lang="en-US" sz="1300" dirty="0"/>
          </a:p>
        </p:txBody>
      </p:sp>
      <p:sp>
        <p:nvSpPr>
          <p:cNvPr id="101" name="Text 99"/>
          <p:cNvSpPr txBox="1"/>
          <p:nvPr/>
        </p:nvSpPr>
        <p:spPr>
          <a:xfrm>
            <a:off x="10579608" y="1700784"/>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$37K</a:t>
            </a:r>
            <a:endParaRPr lang="en-US" sz="1300" dirty="0"/>
          </a:p>
        </p:txBody>
      </p:sp>
      <p:sp>
        <p:nvSpPr>
          <p:cNvPr id="102" name="Text 100"/>
          <p:cNvSpPr txBox="1"/>
          <p:nvPr/>
        </p:nvSpPr>
        <p:spPr>
          <a:xfrm>
            <a:off x="6208776"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03" name="Shape 101"/>
          <p:cNvSpPr/>
          <p:nvPr/>
        </p:nvSpPr>
        <p:spPr>
          <a:xfrm>
            <a:off x="8220456" y="2005199"/>
            <a:ext cx="55940" cy="136676"/>
          </a:xfrm>
          <a:prstGeom prst="rect">
            <a:avLst/>
          </a:prstGeom>
          <a:solidFill>
            <a:srgbClr val="2587C5"/>
          </a:solidFill>
          <a:ln/>
        </p:spPr>
      </p:sp>
      <p:sp>
        <p:nvSpPr>
          <p:cNvPr id="104" name="Text 102"/>
          <p:cNvSpPr txBox="1"/>
          <p:nvPr/>
        </p:nvSpPr>
        <p:spPr>
          <a:xfrm>
            <a:off x="8769096" y="194928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$132K</a:t>
            </a:r>
            <a:endParaRPr lang="en-US" sz="1300" dirty="0"/>
          </a:p>
        </p:txBody>
      </p:sp>
      <p:sp>
        <p:nvSpPr>
          <p:cNvPr id="105" name="Text 103"/>
          <p:cNvSpPr txBox="1"/>
          <p:nvPr/>
        </p:nvSpPr>
        <p:spPr>
          <a:xfrm>
            <a:off x="9683496" y="1949286"/>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$89K</a:t>
            </a:r>
            <a:endParaRPr lang="en-US" sz="1300" dirty="0"/>
          </a:p>
        </p:txBody>
      </p:sp>
      <p:sp>
        <p:nvSpPr>
          <p:cNvPr id="106" name="Text 104"/>
          <p:cNvSpPr txBox="1"/>
          <p:nvPr/>
        </p:nvSpPr>
        <p:spPr>
          <a:xfrm>
            <a:off x="10579608" y="1949286"/>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$43K</a:t>
            </a:r>
            <a:endParaRPr lang="en-US" sz="1300" dirty="0"/>
          </a:p>
        </p:txBody>
      </p:sp>
      <p:sp>
        <p:nvSpPr>
          <p:cNvPr id="107" name="Text 105"/>
          <p:cNvSpPr txBox="1"/>
          <p:nvPr/>
        </p:nvSpPr>
        <p:spPr>
          <a:xfrm>
            <a:off x="6208776"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08" name="Shape 106"/>
          <p:cNvSpPr/>
          <p:nvPr/>
        </p:nvSpPr>
        <p:spPr>
          <a:xfrm>
            <a:off x="8220456" y="2253700"/>
            <a:ext cx="54975" cy="136676"/>
          </a:xfrm>
          <a:prstGeom prst="rect">
            <a:avLst/>
          </a:prstGeom>
          <a:solidFill>
            <a:srgbClr val="2587C5"/>
          </a:solidFill>
          <a:ln/>
        </p:spPr>
      </p:sp>
      <p:sp>
        <p:nvSpPr>
          <p:cNvPr id="109" name="Text 107"/>
          <p:cNvSpPr txBox="1"/>
          <p:nvPr/>
        </p:nvSpPr>
        <p:spPr>
          <a:xfrm>
            <a:off x="8769096" y="219778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$130K</a:t>
            </a:r>
            <a:endParaRPr lang="en-US" sz="1300" dirty="0"/>
          </a:p>
        </p:txBody>
      </p:sp>
      <p:sp>
        <p:nvSpPr>
          <p:cNvPr id="110" name="Text 108"/>
          <p:cNvSpPr txBox="1"/>
          <p:nvPr/>
        </p:nvSpPr>
        <p:spPr>
          <a:xfrm>
            <a:off x="9683496" y="2197787"/>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$91K</a:t>
            </a:r>
            <a:endParaRPr lang="en-US" sz="1300" dirty="0"/>
          </a:p>
        </p:txBody>
      </p:sp>
      <p:sp>
        <p:nvSpPr>
          <p:cNvPr id="111" name="Text 109"/>
          <p:cNvSpPr txBox="1"/>
          <p:nvPr/>
        </p:nvSpPr>
        <p:spPr>
          <a:xfrm>
            <a:off x="10579608" y="2197787"/>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$38K</a:t>
            </a:r>
            <a:endParaRPr lang="en-US" sz="1300" dirty="0"/>
          </a:p>
        </p:txBody>
      </p:sp>
      <p:sp>
        <p:nvSpPr>
          <p:cNvPr id="112" name="Text 110"/>
          <p:cNvSpPr txBox="1"/>
          <p:nvPr/>
        </p:nvSpPr>
        <p:spPr>
          <a:xfrm>
            <a:off x="6208776"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13" name="Shape 111"/>
          <p:cNvSpPr/>
          <p:nvPr/>
        </p:nvSpPr>
        <p:spPr>
          <a:xfrm>
            <a:off x="8220456" y="2502202"/>
            <a:ext cx="51971" cy="136676"/>
          </a:xfrm>
          <a:prstGeom prst="rect">
            <a:avLst/>
          </a:prstGeom>
          <a:solidFill>
            <a:srgbClr val="2587C5"/>
          </a:solidFill>
          <a:ln/>
        </p:spPr>
      </p:sp>
      <p:sp>
        <p:nvSpPr>
          <p:cNvPr id="114" name="Text 112"/>
          <p:cNvSpPr txBox="1"/>
          <p:nvPr/>
        </p:nvSpPr>
        <p:spPr>
          <a:xfrm>
            <a:off x="8769096" y="244628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$123K</a:t>
            </a:r>
            <a:endParaRPr lang="en-US" sz="1300" dirty="0"/>
          </a:p>
        </p:txBody>
      </p:sp>
      <p:sp>
        <p:nvSpPr>
          <p:cNvPr id="115" name="Text 113"/>
          <p:cNvSpPr txBox="1"/>
          <p:nvPr/>
        </p:nvSpPr>
        <p:spPr>
          <a:xfrm>
            <a:off x="9683496" y="2446289"/>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$82K</a:t>
            </a:r>
            <a:endParaRPr lang="en-US" sz="1300" dirty="0"/>
          </a:p>
        </p:txBody>
      </p:sp>
      <p:sp>
        <p:nvSpPr>
          <p:cNvPr id="116" name="Text 114"/>
          <p:cNvSpPr txBox="1"/>
          <p:nvPr/>
        </p:nvSpPr>
        <p:spPr>
          <a:xfrm>
            <a:off x="10579608" y="2446289"/>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$41K</a:t>
            </a:r>
            <a:endParaRPr lang="en-US" sz="1300" dirty="0"/>
          </a:p>
        </p:txBody>
      </p:sp>
      <p:sp>
        <p:nvSpPr>
          <p:cNvPr id="117" name="Text 115"/>
          <p:cNvSpPr txBox="1"/>
          <p:nvPr/>
        </p:nvSpPr>
        <p:spPr>
          <a:xfrm>
            <a:off x="6208776"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18" name="Shape 116"/>
          <p:cNvSpPr/>
          <p:nvPr/>
        </p:nvSpPr>
        <p:spPr>
          <a:xfrm>
            <a:off x="8220456" y="2750703"/>
            <a:ext cx="50052" cy="136676"/>
          </a:xfrm>
          <a:prstGeom prst="rect">
            <a:avLst/>
          </a:prstGeom>
          <a:solidFill>
            <a:srgbClr val="2587C5"/>
          </a:solidFill>
          <a:ln/>
        </p:spPr>
      </p:sp>
      <p:sp>
        <p:nvSpPr>
          <p:cNvPr id="119" name="Text 117"/>
          <p:cNvSpPr txBox="1"/>
          <p:nvPr/>
        </p:nvSpPr>
        <p:spPr>
          <a:xfrm>
            <a:off x="8769096" y="2694791"/>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$118K</a:t>
            </a:r>
            <a:endParaRPr lang="en-US" sz="1300" dirty="0"/>
          </a:p>
        </p:txBody>
      </p:sp>
      <p:sp>
        <p:nvSpPr>
          <p:cNvPr id="120" name="Text 118"/>
          <p:cNvSpPr txBox="1"/>
          <p:nvPr/>
        </p:nvSpPr>
        <p:spPr>
          <a:xfrm>
            <a:off x="9683496" y="2694791"/>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$89K</a:t>
            </a:r>
            <a:endParaRPr lang="en-US" sz="1300" dirty="0"/>
          </a:p>
        </p:txBody>
      </p:sp>
      <p:sp>
        <p:nvSpPr>
          <p:cNvPr id="121" name="Text 119"/>
          <p:cNvSpPr txBox="1"/>
          <p:nvPr/>
        </p:nvSpPr>
        <p:spPr>
          <a:xfrm>
            <a:off x="10579608" y="2694791"/>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$29K</a:t>
            </a:r>
            <a:endParaRPr lang="en-US" sz="1300" dirty="0"/>
          </a:p>
        </p:txBody>
      </p:sp>
      <p:sp>
        <p:nvSpPr>
          <p:cNvPr id="122" name="Text 120"/>
          <p:cNvSpPr txBox="1"/>
          <p:nvPr/>
        </p:nvSpPr>
        <p:spPr>
          <a:xfrm>
            <a:off x="6208776"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23" name="Shape 121"/>
          <p:cNvSpPr/>
          <p:nvPr/>
        </p:nvSpPr>
        <p:spPr>
          <a:xfrm>
            <a:off x="8220456" y="2999205"/>
            <a:ext cx="48801" cy="136676"/>
          </a:xfrm>
          <a:prstGeom prst="rect">
            <a:avLst/>
          </a:prstGeom>
          <a:solidFill>
            <a:srgbClr val="2587C5"/>
          </a:solidFill>
          <a:ln/>
        </p:spPr>
      </p:sp>
      <p:sp>
        <p:nvSpPr>
          <p:cNvPr id="124" name="Text 122"/>
          <p:cNvSpPr txBox="1"/>
          <p:nvPr/>
        </p:nvSpPr>
        <p:spPr>
          <a:xfrm>
            <a:off x="8769096" y="294329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$115K</a:t>
            </a:r>
            <a:endParaRPr lang="en-US" sz="1300" dirty="0"/>
          </a:p>
        </p:txBody>
      </p:sp>
      <p:sp>
        <p:nvSpPr>
          <p:cNvPr id="125" name="Text 123"/>
          <p:cNvSpPr txBox="1"/>
          <p:nvPr/>
        </p:nvSpPr>
        <p:spPr>
          <a:xfrm>
            <a:off x="9683496" y="2943292"/>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$76K</a:t>
            </a:r>
            <a:endParaRPr lang="en-US" sz="1300" dirty="0"/>
          </a:p>
        </p:txBody>
      </p:sp>
      <p:sp>
        <p:nvSpPr>
          <p:cNvPr id="126" name="Text 124"/>
          <p:cNvSpPr txBox="1"/>
          <p:nvPr/>
        </p:nvSpPr>
        <p:spPr>
          <a:xfrm>
            <a:off x="10579608" y="2943292"/>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$39K</a:t>
            </a:r>
            <a:endParaRPr lang="en-US" sz="1300" dirty="0"/>
          </a:p>
        </p:txBody>
      </p:sp>
      <p:sp>
        <p:nvSpPr>
          <p:cNvPr id="127" name="Text 125"/>
          <p:cNvSpPr txBox="1"/>
          <p:nvPr/>
        </p:nvSpPr>
        <p:spPr>
          <a:xfrm>
            <a:off x="6208776"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28" name="Shape 126"/>
          <p:cNvSpPr/>
          <p:nvPr/>
        </p:nvSpPr>
        <p:spPr>
          <a:xfrm>
            <a:off x="8220456" y="3247707"/>
            <a:ext cx="42839" cy="136676"/>
          </a:xfrm>
          <a:prstGeom prst="rect">
            <a:avLst/>
          </a:prstGeom>
          <a:solidFill>
            <a:srgbClr val="2587C5"/>
          </a:solidFill>
          <a:ln/>
        </p:spPr>
      </p:sp>
      <p:sp>
        <p:nvSpPr>
          <p:cNvPr id="129" name="Text 127"/>
          <p:cNvSpPr txBox="1"/>
          <p:nvPr/>
        </p:nvSpPr>
        <p:spPr>
          <a:xfrm>
            <a:off x="8769096" y="319179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$101K</a:t>
            </a:r>
            <a:endParaRPr lang="en-US" sz="1300" dirty="0"/>
          </a:p>
        </p:txBody>
      </p:sp>
      <p:sp>
        <p:nvSpPr>
          <p:cNvPr id="130" name="Text 128"/>
          <p:cNvSpPr txBox="1"/>
          <p:nvPr/>
        </p:nvSpPr>
        <p:spPr>
          <a:xfrm>
            <a:off x="9683496" y="3191794"/>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$70K</a:t>
            </a:r>
            <a:endParaRPr lang="en-US" sz="1300" dirty="0"/>
          </a:p>
        </p:txBody>
      </p:sp>
      <p:sp>
        <p:nvSpPr>
          <p:cNvPr id="131" name="Text 129"/>
          <p:cNvSpPr txBox="1"/>
          <p:nvPr/>
        </p:nvSpPr>
        <p:spPr>
          <a:xfrm>
            <a:off x="10579608" y="3191794"/>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$31K</a:t>
            </a:r>
            <a:endParaRPr lang="en-US" sz="1300" dirty="0"/>
          </a:p>
        </p:txBody>
      </p:sp>
      <p:sp>
        <p:nvSpPr>
          <p:cNvPr id="132" name="Text 130"/>
          <p:cNvSpPr txBox="1"/>
          <p:nvPr/>
        </p:nvSpPr>
        <p:spPr>
          <a:xfrm>
            <a:off x="6208776"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33" name="Shape 131"/>
          <p:cNvSpPr/>
          <p:nvPr/>
        </p:nvSpPr>
        <p:spPr>
          <a:xfrm>
            <a:off x="8220456" y="3496208"/>
            <a:ext cx="41978" cy="136676"/>
          </a:xfrm>
          <a:prstGeom prst="rect">
            <a:avLst/>
          </a:prstGeom>
          <a:solidFill>
            <a:srgbClr val="2587C5"/>
          </a:solidFill>
          <a:ln/>
        </p:spPr>
      </p:sp>
      <p:sp>
        <p:nvSpPr>
          <p:cNvPr id="134" name="Text 132"/>
          <p:cNvSpPr txBox="1"/>
          <p:nvPr/>
        </p:nvSpPr>
        <p:spPr>
          <a:xfrm>
            <a:off x="8769096" y="344029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$99K</a:t>
            </a:r>
            <a:endParaRPr lang="en-US" sz="1300" dirty="0"/>
          </a:p>
        </p:txBody>
      </p:sp>
      <p:sp>
        <p:nvSpPr>
          <p:cNvPr id="135" name="Text 133"/>
          <p:cNvSpPr txBox="1"/>
          <p:nvPr/>
        </p:nvSpPr>
        <p:spPr>
          <a:xfrm>
            <a:off x="9683496" y="3440296"/>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$68K</a:t>
            </a:r>
            <a:endParaRPr lang="en-US" sz="1300" dirty="0"/>
          </a:p>
        </p:txBody>
      </p:sp>
      <p:sp>
        <p:nvSpPr>
          <p:cNvPr id="136" name="Text 134"/>
          <p:cNvSpPr txBox="1"/>
          <p:nvPr/>
        </p:nvSpPr>
        <p:spPr>
          <a:xfrm>
            <a:off x="10579608" y="3440296"/>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$31K</a:t>
            </a:r>
            <a:endParaRPr lang="en-US" sz="1300" dirty="0"/>
          </a:p>
        </p:txBody>
      </p:sp>
      <p:sp>
        <p:nvSpPr>
          <p:cNvPr id="137" name="Text 135"/>
          <p:cNvSpPr txBox="1"/>
          <p:nvPr/>
        </p:nvSpPr>
        <p:spPr>
          <a:xfrm>
            <a:off x="6208776"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38" name="Shape 136"/>
          <p:cNvSpPr/>
          <p:nvPr/>
        </p:nvSpPr>
        <p:spPr>
          <a:xfrm>
            <a:off x="8220456" y="3744710"/>
            <a:ext cx="37779" cy="136676"/>
          </a:xfrm>
          <a:prstGeom prst="rect">
            <a:avLst/>
          </a:prstGeom>
          <a:solidFill>
            <a:srgbClr val="2587C5"/>
          </a:solidFill>
          <a:ln/>
        </p:spPr>
      </p:sp>
      <p:sp>
        <p:nvSpPr>
          <p:cNvPr id="139" name="Text 137"/>
          <p:cNvSpPr txBox="1"/>
          <p:nvPr/>
        </p:nvSpPr>
        <p:spPr>
          <a:xfrm>
            <a:off x="8769096" y="368879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$89K</a:t>
            </a:r>
            <a:endParaRPr lang="en-US" sz="1300" dirty="0"/>
          </a:p>
        </p:txBody>
      </p:sp>
      <p:sp>
        <p:nvSpPr>
          <p:cNvPr id="140" name="Text 138"/>
          <p:cNvSpPr txBox="1"/>
          <p:nvPr/>
        </p:nvSpPr>
        <p:spPr>
          <a:xfrm>
            <a:off x="9683496" y="3688797"/>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$58K</a:t>
            </a:r>
            <a:endParaRPr lang="en-US" sz="1300" dirty="0"/>
          </a:p>
        </p:txBody>
      </p:sp>
      <p:sp>
        <p:nvSpPr>
          <p:cNvPr id="141" name="Text 139"/>
          <p:cNvSpPr txBox="1"/>
          <p:nvPr/>
        </p:nvSpPr>
        <p:spPr>
          <a:xfrm>
            <a:off x="10579608" y="3688797"/>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$31K</a:t>
            </a:r>
            <a:endParaRPr lang="en-US" sz="1300" dirty="0"/>
          </a:p>
        </p:txBody>
      </p:sp>
      <p:sp>
        <p:nvSpPr>
          <p:cNvPr id="142" name="Text 140"/>
          <p:cNvSpPr txBox="1"/>
          <p:nvPr/>
        </p:nvSpPr>
        <p:spPr>
          <a:xfrm>
            <a:off x="6208776"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43" name="Shape 141"/>
          <p:cNvSpPr/>
          <p:nvPr/>
        </p:nvSpPr>
        <p:spPr>
          <a:xfrm>
            <a:off x="8220456" y="3993212"/>
            <a:ext cx="37560" cy="136676"/>
          </a:xfrm>
          <a:prstGeom prst="rect">
            <a:avLst/>
          </a:prstGeom>
          <a:solidFill>
            <a:srgbClr val="2587C5"/>
          </a:solidFill>
          <a:ln/>
        </p:spPr>
      </p:sp>
      <p:sp>
        <p:nvSpPr>
          <p:cNvPr id="144" name="Text 142"/>
          <p:cNvSpPr txBox="1"/>
          <p:nvPr/>
        </p:nvSpPr>
        <p:spPr>
          <a:xfrm>
            <a:off x="8769096" y="393729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$89K</a:t>
            </a:r>
            <a:endParaRPr lang="en-US" sz="1300" dirty="0"/>
          </a:p>
        </p:txBody>
      </p:sp>
      <p:sp>
        <p:nvSpPr>
          <p:cNvPr id="145" name="Text 143"/>
          <p:cNvSpPr txBox="1"/>
          <p:nvPr/>
        </p:nvSpPr>
        <p:spPr>
          <a:xfrm>
            <a:off x="9683496" y="3937299"/>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$62K</a:t>
            </a:r>
            <a:endParaRPr lang="en-US" sz="1300" dirty="0"/>
          </a:p>
        </p:txBody>
      </p:sp>
      <p:sp>
        <p:nvSpPr>
          <p:cNvPr id="146" name="Text 144"/>
          <p:cNvSpPr txBox="1"/>
          <p:nvPr/>
        </p:nvSpPr>
        <p:spPr>
          <a:xfrm>
            <a:off x="10579608" y="3937299"/>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$27K</a:t>
            </a:r>
            <a:endParaRPr lang="en-US" sz="1300" dirty="0"/>
          </a:p>
        </p:txBody>
      </p:sp>
      <p:sp>
        <p:nvSpPr>
          <p:cNvPr id="147" name="Text 145"/>
          <p:cNvSpPr txBox="1"/>
          <p:nvPr/>
        </p:nvSpPr>
        <p:spPr>
          <a:xfrm>
            <a:off x="6208776"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48" name="Shape 146"/>
          <p:cNvSpPr/>
          <p:nvPr/>
        </p:nvSpPr>
        <p:spPr>
          <a:xfrm>
            <a:off x="8220456" y="4241713"/>
            <a:ext cx="28760" cy="136676"/>
          </a:xfrm>
          <a:prstGeom prst="rect">
            <a:avLst/>
          </a:prstGeom>
          <a:solidFill>
            <a:srgbClr val="2587C5"/>
          </a:solidFill>
          <a:ln/>
        </p:spPr>
      </p:sp>
      <p:sp>
        <p:nvSpPr>
          <p:cNvPr id="149" name="Text 147"/>
          <p:cNvSpPr txBox="1"/>
          <p:nvPr/>
        </p:nvSpPr>
        <p:spPr>
          <a:xfrm>
            <a:off x="8769096" y="418580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$68K</a:t>
            </a:r>
            <a:endParaRPr lang="en-US" sz="1300" dirty="0"/>
          </a:p>
        </p:txBody>
      </p:sp>
      <p:sp>
        <p:nvSpPr>
          <p:cNvPr id="150" name="Text 148"/>
          <p:cNvSpPr txBox="1"/>
          <p:nvPr/>
        </p:nvSpPr>
        <p:spPr>
          <a:xfrm>
            <a:off x="9683496" y="4185800"/>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$49K</a:t>
            </a:r>
            <a:endParaRPr lang="en-US" sz="1300" dirty="0"/>
          </a:p>
        </p:txBody>
      </p:sp>
      <p:sp>
        <p:nvSpPr>
          <p:cNvPr id="151" name="Text 149"/>
          <p:cNvSpPr txBox="1"/>
          <p:nvPr/>
        </p:nvSpPr>
        <p:spPr>
          <a:xfrm>
            <a:off x="10579608" y="4185800"/>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$19K</a:t>
            </a:r>
            <a:endParaRPr lang="en-US" sz="1300" dirty="0"/>
          </a:p>
        </p:txBody>
      </p:sp>
      <p:sp>
        <p:nvSpPr>
          <p:cNvPr id="152" name="Text 150"/>
          <p:cNvSpPr txBox="1"/>
          <p:nvPr/>
        </p:nvSpPr>
        <p:spPr>
          <a:xfrm>
            <a:off x="6208776"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53" name="Shape 151"/>
          <p:cNvSpPr/>
          <p:nvPr/>
        </p:nvSpPr>
        <p:spPr>
          <a:xfrm>
            <a:off x="8220456" y="4490215"/>
            <a:ext cx="27792" cy="136676"/>
          </a:xfrm>
          <a:prstGeom prst="rect">
            <a:avLst/>
          </a:prstGeom>
          <a:solidFill>
            <a:srgbClr val="2587C5"/>
          </a:solidFill>
          <a:ln/>
        </p:spPr>
      </p:sp>
      <p:sp>
        <p:nvSpPr>
          <p:cNvPr id="154" name="Text 152"/>
          <p:cNvSpPr txBox="1"/>
          <p:nvPr/>
        </p:nvSpPr>
        <p:spPr>
          <a:xfrm>
            <a:off x="8769096" y="443430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$66K</a:t>
            </a:r>
            <a:endParaRPr lang="en-US" sz="1300" dirty="0"/>
          </a:p>
        </p:txBody>
      </p:sp>
      <p:sp>
        <p:nvSpPr>
          <p:cNvPr id="155" name="Text 153"/>
          <p:cNvSpPr txBox="1"/>
          <p:nvPr/>
        </p:nvSpPr>
        <p:spPr>
          <a:xfrm>
            <a:off x="9683496" y="4434302"/>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$43K</a:t>
            </a:r>
            <a:endParaRPr lang="en-US" sz="1300" dirty="0"/>
          </a:p>
        </p:txBody>
      </p:sp>
      <p:sp>
        <p:nvSpPr>
          <p:cNvPr id="156" name="Text 154"/>
          <p:cNvSpPr txBox="1"/>
          <p:nvPr/>
        </p:nvSpPr>
        <p:spPr>
          <a:xfrm>
            <a:off x="10579608" y="4434302"/>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$23K</a:t>
            </a:r>
            <a:endParaRPr lang="en-US" sz="1300" dirty="0"/>
          </a:p>
        </p:txBody>
      </p:sp>
      <p:sp>
        <p:nvSpPr>
          <p:cNvPr id="157" name="Text 155"/>
          <p:cNvSpPr txBox="1"/>
          <p:nvPr/>
        </p:nvSpPr>
        <p:spPr>
          <a:xfrm>
            <a:off x="6208776"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58" name="Shape 156"/>
          <p:cNvSpPr/>
          <p:nvPr/>
        </p:nvSpPr>
        <p:spPr>
          <a:xfrm>
            <a:off x="8220456" y="4738717"/>
            <a:ext cx="25793" cy="136676"/>
          </a:xfrm>
          <a:prstGeom prst="rect">
            <a:avLst/>
          </a:prstGeom>
          <a:solidFill>
            <a:srgbClr val="2587C5"/>
          </a:solidFill>
          <a:ln/>
        </p:spPr>
      </p:sp>
      <p:sp>
        <p:nvSpPr>
          <p:cNvPr id="159" name="Text 157"/>
          <p:cNvSpPr txBox="1"/>
          <p:nvPr/>
        </p:nvSpPr>
        <p:spPr>
          <a:xfrm>
            <a:off x="8769096" y="468280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$61K</a:t>
            </a:r>
            <a:endParaRPr lang="en-US" sz="1300" dirty="0"/>
          </a:p>
        </p:txBody>
      </p:sp>
      <p:sp>
        <p:nvSpPr>
          <p:cNvPr id="160" name="Text 158"/>
          <p:cNvSpPr txBox="1"/>
          <p:nvPr/>
        </p:nvSpPr>
        <p:spPr>
          <a:xfrm>
            <a:off x="9683496" y="4682804"/>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$40K</a:t>
            </a:r>
            <a:endParaRPr lang="en-US" sz="1300" dirty="0"/>
          </a:p>
        </p:txBody>
      </p:sp>
      <p:sp>
        <p:nvSpPr>
          <p:cNvPr id="161" name="Text 159"/>
          <p:cNvSpPr txBox="1"/>
          <p:nvPr/>
        </p:nvSpPr>
        <p:spPr>
          <a:xfrm>
            <a:off x="10579608" y="4682804"/>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$21K</a:t>
            </a:r>
            <a:endParaRPr lang="en-US" sz="1300" dirty="0"/>
          </a:p>
        </p:txBody>
      </p:sp>
      <p:sp>
        <p:nvSpPr>
          <p:cNvPr id="162" name="Text 160"/>
          <p:cNvSpPr txBox="1"/>
          <p:nvPr/>
        </p:nvSpPr>
        <p:spPr>
          <a:xfrm>
            <a:off x="6208776"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63" name="Shape 161"/>
          <p:cNvSpPr/>
          <p:nvPr/>
        </p:nvSpPr>
        <p:spPr>
          <a:xfrm>
            <a:off x="8220456" y="4987218"/>
            <a:ext cx="24281" cy="136676"/>
          </a:xfrm>
          <a:prstGeom prst="rect">
            <a:avLst/>
          </a:prstGeom>
          <a:solidFill>
            <a:srgbClr val="2587C5"/>
          </a:solidFill>
          <a:ln/>
        </p:spPr>
      </p:sp>
      <p:sp>
        <p:nvSpPr>
          <p:cNvPr id="164" name="Text 162"/>
          <p:cNvSpPr txBox="1"/>
          <p:nvPr/>
        </p:nvSpPr>
        <p:spPr>
          <a:xfrm>
            <a:off x="8769096" y="4931305"/>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$57K</a:t>
            </a:r>
            <a:endParaRPr lang="en-US" sz="1300" dirty="0"/>
          </a:p>
        </p:txBody>
      </p:sp>
      <p:sp>
        <p:nvSpPr>
          <p:cNvPr id="165" name="Text 163"/>
          <p:cNvSpPr txBox="1"/>
          <p:nvPr/>
        </p:nvSpPr>
        <p:spPr>
          <a:xfrm>
            <a:off x="9683496" y="4931305"/>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$38K</a:t>
            </a:r>
            <a:endParaRPr lang="en-US" sz="1300" dirty="0"/>
          </a:p>
        </p:txBody>
      </p:sp>
      <p:sp>
        <p:nvSpPr>
          <p:cNvPr id="166" name="Text 164"/>
          <p:cNvSpPr txBox="1"/>
          <p:nvPr/>
        </p:nvSpPr>
        <p:spPr>
          <a:xfrm>
            <a:off x="10579608" y="4931305"/>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$20K</a:t>
            </a:r>
            <a:endParaRPr lang="en-US" sz="1300" dirty="0"/>
          </a:p>
        </p:txBody>
      </p:sp>
      <p:sp>
        <p:nvSpPr>
          <p:cNvPr id="167" name="Text 165"/>
          <p:cNvSpPr txBox="1"/>
          <p:nvPr/>
        </p:nvSpPr>
        <p:spPr>
          <a:xfrm>
            <a:off x="6208776"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68" name="Shape 166"/>
          <p:cNvSpPr/>
          <p:nvPr/>
        </p:nvSpPr>
        <p:spPr>
          <a:xfrm>
            <a:off x="8220456" y="5235720"/>
            <a:ext cx="18556" cy="136676"/>
          </a:xfrm>
          <a:prstGeom prst="rect">
            <a:avLst/>
          </a:prstGeom>
          <a:solidFill>
            <a:srgbClr val="2587C5"/>
          </a:solidFill>
          <a:ln/>
        </p:spPr>
      </p:sp>
      <p:sp>
        <p:nvSpPr>
          <p:cNvPr id="169" name="Text 167"/>
          <p:cNvSpPr txBox="1"/>
          <p:nvPr/>
        </p:nvSpPr>
        <p:spPr>
          <a:xfrm>
            <a:off x="8769096" y="517980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$44K</a:t>
            </a:r>
            <a:endParaRPr lang="en-US" sz="1300" dirty="0"/>
          </a:p>
        </p:txBody>
      </p:sp>
      <p:sp>
        <p:nvSpPr>
          <p:cNvPr id="170" name="Text 168"/>
          <p:cNvSpPr txBox="1"/>
          <p:nvPr/>
        </p:nvSpPr>
        <p:spPr>
          <a:xfrm>
            <a:off x="9683496" y="5179807"/>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$27K</a:t>
            </a:r>
            <a:endParaRPr lang="en-US" sz="1300" dirty="0"/>
          </a:p>
        </p:txBody>
      </p:sp>
      <p:sp>
        <p:nvSpPr>
          <p:cNvPr id="171" name="Text 169"/>
          <p:cNvSpPr txBox="1"/>
          <p:nvPr/>
        </p:nvSpPr>
        <p:spPr>
          <a:xfrm>
            <a:off x="10579608" y="5179807"/>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$16K</a:t>
            </a:r>
            <a:endParaRPr lang="en-US" sz="1300" dirty="0"/>
          </a:p>
        </p:txBody>
      </p:sp>
      <p:sp>
        <p:nvSpPr>
          <p:cNvPr id="172" name="Text 170"/>
          <p:cNvSpPr txBox="1"/>
          <p:nvPr/>
        </p:nvSpPr>
        <p:spPr>
          <a:xfrm>
            <a:off x="6208776"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73" name="Shape 171"/>
          <p:cNvSpPr/>
          <p:nvPr/>
        </p:nvSpPr>
        <p:spPr>
          <a:xfrm>
            <a:off x="8220456" y="5484222"/>
            <a:ext cx="18288" cy="136676"/>
          </a:xfrm>
          <a:prstGeom prst="rect">
            <a:avLst/>
          </a:prstGeom>
          <a:solidFill>
            <a:srgbClr val="2587C5"/>
          </a:solidFill>
          <a:ln/>
        </p:spPr>
      </p:sp>
      <p:sp>
        <p:nvSpPr>
          <p:cNvPr id="174" name="Text 172"/>
          <p:cNvSpPr txBox="1"/>
          <p:nvPr/>
        </p:nvSpPr>
        <p:spPr>
          <a:xfrm>
            <a:off x="8769096" y="542830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$39K</a:t>
            </a:r>
            <a:endParaRPr lang="en-US" sz="1300" dirty="0"/>
          </a:p>
        </p:txBody>
      </p:sp>
      <p:sp>
        <p:nvSpPr>
          <p:cNvPr id="175" name="Text 173"/>
          <p:cNvSpPr txBox="1"/>
          <p:nvPr/>
        </p:nvSpPr>
        <p:spPr>
          <a:xfrm>
            <a:off x="9683496" y="5428309"/>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$24K</a:t>
            </a:r>
            <a:endParaRPr lang="en-US" sz="1300" dirty="0"/>
          </a:p>
        </p:txBody>
      </p:sp>
      <p:sp>
        <p:nvSpPr>
          <p:cNvPr id="176" name="Text 174"/>
          <p:cNvSpPr txBox="1"/>
          <p:nvPr/>
        </p:nvSpPr>
        <p:spPr>
          <a:xfrm>
            <a:off x="10579608" y="5428309"/>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$15K</a:t>
            </a:r>
            <a:endParaRPr lang="en-US" sz="1300" dirty="0"/>
          </a:p>
        </p:txBody>
      </p:sp>
      <p:sp>
        <p:nvSpPr>
          <p:cNvPr id="177" name="Shape 175"/>
          <p:cNvSpPr/>
          <p:nvPr/>
        </p:nvSpPr>
        <p:spPr>
          <a:xfrm>
            <a:off x="457200" y="6126480"/>
            <a:ext cx="11274552" cy="615696"/>
          </a:xfrm>
          <a:prstGeom prst="rect">
            <a:avLst/>
          </a:prstGeom>
          <a:solidFill>
            <a:srgbClr val="E6F6EE"/>
          </a:solidFill>
          <a:ln/>
        </p:spPr>
      </p:sp>
      <p:sp>
        <p:nvSpPr>
          <p:cNvPr id="178" name="Text 17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0.1 hour more on every CP RO is worth $6,602,564 a year in gross: $4,741,969 labor and $1,860,595 parts. Toyota Henderson leads at $1,164,334.</a:t>
            </a:r>
            <a:endParaRPr lang="en-US" sz="1600" dirty="0"/>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2.30</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+0.55</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1.43</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+0.40</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0.99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1.29</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+0.30</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2.08</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+0.30</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3.69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3.99</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+0.29</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4.04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3.48</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−0.55</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2.28</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−0.30</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1.71</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−0.24</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2.73</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−0.15</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2.30</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−0.07</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1.65</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+0.30</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1.76</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+0.21</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4.07</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+0.17</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1.54</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+0.17</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3.41</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+0.15</a:t>
            </a:r>
            <a:endParaRPr lang="en-US" sz="1600" dirty="0"/>
          </a:p>
        </p:txBody>
      </p:sp>
      <p:sp>
        <p:nvSpPr>
          <p:cNvPr id="69" name="Shape 67"/>
          <p:cNvSpPr/>
          <p:nvPr/>
        </p:nvSpPr>
        <p:spPr>
          <a:xfrm>
            <a:off x="457200" y="6126480"/>
            <a:ext cx="11274552" cy="615696"/>
          </a:xfrm>
          <a:prstGeom prst="rect">
            <a:avLst/>
          </a:prstGeom>
          <a:solidFill>
            <a:srgbClr val="EDF4FA"/>
          </a:solidFill>
          <a:ln/>
        </p:spPr>
      </p:sp>
      <p:sp>
        <p:nvSpPr>
          <p:cNvPr id="70"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Subaru St George, Hyundai St George and Kia St George what changed. Ask LR Reno, Volvo and VW St George what got in the way. Ask Mazda, Hyundai Prescott and LR LV what they started this year.</a:t>
            </a:r>
            <a:endParaRPr lang="en-US" sz="1600" dirty="0"/>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Effective Labor Rate?</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Effective labor rate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labor sale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hours sold</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average amount we collect for each hour of customer-pay labor we sell.</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Every hour sold is worth the ELR, so it sets the value of the whole shop. Know what you are charging.</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shows whether pricing, discounting and mix are under control.</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Benchmark: CP ELR at least 70% of door rate.</a:t>
            </a:r>
            <a:endParaRPr lang="en-US" sz="1600" dirty="0"/>
          </a:p>
        </p:txBody>
      </p:sp>
      <p:sp>
        <p:nvSpPr>
          <p:cNvPr id="13" name="Shape 11"/>
          <p:cNvSpPr/>
          <p:nvPr/>
        </p:nvSpPr>
        <p:spPr>
          <a:xfrm>
            <a:off x="5138928" y="2843784"/>
            <a:ext cx="45720" cy="1064924"/>
          </a:xfrm>
          <a:prstGeom prst="rect">
            <a:avLst/>
          </a:prstGeom>
          <a:solidFill>
            <a:srgbClr val="2587C5"/>
          </a:solidFill>
          <a:ln/>
        </p:spPr>
      </p:sp>
      <p:sp>
        <p:nvSpPr>
          <p:cNvPr id="14" name="Text 12"/>
          <p:cNvSpPr txBox="1"/>
          <p:nvPr/>
        </p:nvSpPr>
        <p:spPr>
          <a:xfrm>
            <a:off x="5266944" y="2843784"/>
            <a:ext cx="2962656" cy="106492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Work mix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Repair is priced above maintenance: repair-heavy shops run a higher ELR, maintenance-heavy lower. Neither is wrong.</a:t>
            </a:r>
            <a:endParaRPr lang="en-US" sz="1400" dirty="0"/>
          </a:p>
        </p:txBody>
      </p:sp>
      <p:sp>
        <p:nvSpPr>
          <p:cNvPr id="15" name="Shape 13"/>
          <p:cNvSpPr/>
          <p:nvPr/>
        </p:nvSpPr>
        <p:spPr>
          <a:xfrm>
            <a:off x="8394192" y="2843784"/>
            <a:ext cx="45720" cy="1064924"/>
          </a:xfrm>
          <a:prstGeom prst="rect">
            <a:avLst/>
          </a:prstGeom>
          <a:solidFill>
            <a:srgbClr val="2587C5"/>
          </a:solidFill>
          <a:ln/>
        </p:spPr>
      </p:sp>
      <p:sp>
        <p:nvSpPr>
          <p:cNvPr id="16" name="Text 14"/>
          <p:cNvSpPr txBox="1"/>
          <p:nvPr/>
        </p:nvSpPr>
        <p:spPr>
          <a:xfrm>
            <a:off x="8522208" y="2843784"/>
            <a:ext cx="2962656" cy="106492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Maintenance pricing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If most of your hours are maintenance, the maintenance rate moves ELR more than the repair rate</a:t>
            </a:r>
            <a:endParaRPr lang="en-US" sz="1400" dirty="0"/>
          </a:p>
        </p:txBody>
      </p:sp>
      <p:sp>
        <p:nvSpPr>
          <p:cNvPr id="17" name="Shape 15"/>
          <p:cNvSpPr/>
          <p:nvPr/>
        </p:nvSpPr>
        <p:spPr>
          <a:xfrm>
            <a:off x="5138928" y="4018436"/>
            <a:ext cx="45720" cy="829994"/>
          </a:xfrm>
          <a:prstGeom prst="rect">
            <a:avLst/>
          </a:prstGeom>
          <a:solidFill>
            <a:srgbClr val="2587C5"/>
          </a:solidFill>
          <a:ln/>
        </p:spPr>
      </p:sp>
      <p:sp>
        <p:nvSpPr>
          <p:cNvPr id="18" name="Text 16"/>
          <p:cNvSpPr txBox="1"/>
          <p:nvPr/>
        </p:nvSpPr>
        <p:spPr>
          <a:xfrm>
            <a:off x="5266944" y="4018436"/>
            <a:ext cx="2962656" cy="82999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ELR by labor operation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Know what every op code collects per hour, not just the store total</a:t>
            </a:r>
            <a:endParaRPr lang="en-US" sz="1400" dirty="0"/>
          </a:p>
        </p:txBody>
      </p:sp>
      <p:sp>
        <p:nvSpPr>
          <p:cNvPr id="19" name="Shape 17"/>
          <p:cNvSpPr/>
          <p:nvPr/>
        </p:nvSpPr>
        <p:spPr>
          <a:xfrm>
            <a:off x="8394192" y="4018436"/>
            <a:ext cx="45720" cy="829994"/>
          </a:xfrm>
          <a:prstGeom prst="rect">
            <a:avLst/>
          </a:prstGeom>
          <a:solidFill>
            <a:srgbClr val="2587C5"/>
          </a:solidFill>
          <a:ln/>
        </p:spPr>
      </p:sp>
      <p:sp>
        <p:nvSpPr>
          <p:cNvPr id="20" name="Text 18"/>
          <p:cNvSpPr txBox="1"/>
          <p:nvPr/>
        </p:nvSpPr>
        <p:spPr>
          <a:xfrm>
            <a:off x="8522208" y="4018436"/>
            <a:ext cx="2962656" cy="82999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Door rate and repair pricing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Posted rate from a market labor study, and how repair jobs are priced against it</a:t>
            </a:r>
            <a:endParaRPr lang="en-US" sz="1400" dirty="0"/>
          </a:p>
        </p:txBody>
      </p:sp>
      <p:sp>
        <p:nvSpPr>
          <p:cNvPr id="21" name="Shape 19"/>
          <p:cNvSpPr/>
          <p:nvPr/>
        </p:nvSpPr>
        <p:spPr>
          <a:xfrm>
            <a:off x="5138928" y="4958158"/>
            <a:ext cx="45720" cy="829994"/>
          </a:xfrm>
          <a:prstGeom prst="rect">
            <a:avLst/>
          </a:prstGeom>
          <a:solidFill>
            <a:srgbClr val="2587C5"/>
          </a:solidFill>
          <a:ln/>
        </p:spPr>
      </p:sp>
      <p:sp>
        <p:nvSpPr>
          <p:cNvPr id="22" name="Text 20"/>
          <p:cNvSpPr txBox="1"/>
          <p:nvPr/>
        </p:nvSpPr>
        <p:spPr>
          <a:xfrm>
            <a:off x="5266944" y="4958158"/>
            <a:ext cx="2962656" cy="82999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Discounts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discount lowers ELR. Run them through ADC so we can see them.</a:t>
            </a:r>
            <a:endParaRPr lang="en-US" sz="1400" dirty="0"/>
          </a:p>
        </p:txBody>
      </p:sp>
      <p:sp>
        <p:nvSpPr>
          <p:cNvPr id="23" name="Shape 21"/>
          <p:cNvSpPr/>
          <p:nvPr/>
        </p:nvSpPr>
        <p:spPr>
          <a:xfrm>
            <a:off x="8394192" y="4958158"/>
            <a:ext cx="45720" cy="829994"/>
          </a:xfrm>
          <a:prstGeom prst="rect">
            <a:avLst/>
          </a:prstGeom>
          <a:solidFill>
            <a:srgbClr val="2587C5"/>
          </a:solidFill>
          <a:ln/>
        </p:spPr>
      </p:sp>
      <p:sp>
        <p:nvSpPr>
          <p:cNvPr id="24" name="Text 22"/>
          <p:cNvSpPr txBox="1"/>
          <p:nvPr/>
        </p:nvSpPr>
        <p:spPr>
          <a:xfrm>
            <a:off x="8522208" y="4958158"/>
            <a:ext cx="2962656" cy="82999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Maintenance labor times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The hours we set and pay the tech on menu jobs; repair times come from labor guides</a:t>
            </a:r>
            <a:endParaRPr lang="en-US" sz="1400" dirty="0"/>
          </a:p>
        </p:txBody>
      </p:sp>
      <p:sp>
        <p:nvSpPr>
          <p:cNvPr id="25" name="Shape 23"/>
          <p:cNvSpPr/>
          <p:nvPr/>
        </p:nvSpPr>
        <p:spPr>
          <a:xfrm>
            <a:off x="457200" y="6126480"/>
            <a:ext cx="11274552" cy="364236"/>
          </a:xfrm>
          <a:prstGeom prst="rect">
            <a:avLst/>
          </a:prstGeom>
          <a:solidFill>
            <a:srgbClr val="E6F6EE"/>
          </a:solidFill>
          <a:ln/>
        </p:spPr>
      </p:sp>
      <p:sp>
        <p:nvSpPr>
          <p:cNvPr id="26" name="Text 24"/>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Group: $162.42 CP ELR, up $3.56. Jul-Sep it ran 74.7% of door rate; 25 of 33 stores at or above 70%.</a:t>
            </a:r>
            <a:endParaRPr lang="en-US" sz="1550" dirty="0"/>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Labor Sale by Pay Type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201168" cy="201168"/>
          </a:xfrm>
          <a:prstGeom prst="rect">
            <a:avLst/>
          </a:prstGeom>
          <a:solidFill>
            <a:srgbClr val="2587C5"/>
          </a:solidFill>
          <a:ln/>
        </p:spPr>
      </p:sp>
      <p:sp>
        <p:nvSpPr>
          <p:cNvPr id="7" name="Text 5"/>
          <p:cNvSpPr txBox="1"/>
          <p:nvPr/>
        </p:nvSpPr>
        <p:spPr>
          <a:xfrm>
            <a:off x="93268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Customer pay %</a:t>
            </a:r>
            <a:endParaRPr lang="en-US" sz="1400" dirty="0"/>
          </a:p>
        </p:txBody>
      </p:sp>
      <p:sp>
        <p:nvSpPr>
          <p:cNvPr id="8" name="Shape 6"/>
          <p:cNvSpPr/>
          <p:nvPr/>
        </p:nvSpPr>
        <p:spPr>
          <a:xfrm>
            <a:off x="2624328" y="1371600"/>
            <a:ext cx="201168" cy="201168"/>
          </a:xfrm>
          <a:prstGeom prst="rect">
            <a:avLst/>
          </a:prstGeom>
          <a:solidFill>
            <a:srgbClr val="8FBEE6"/>
          </a:solidFill>
          <a:ln/>
        </p:spPr>
      </p:sp>
      <p:sp>
        <p:nvSpPr>
          <p:cNvPr id="9" name="Text 7"/>
          <p:cNvSpPr txBox="1"/>
          <p:nvPr/>
        </p:nvSpPr>
        <p:spPr>
          <a:xfrm>
            <a:off x="289864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Warranty %</a:t>
            </a:r>
            <a:endParaRPr lang="en-US" sz="1400" dirty="0"/>
          </a:p>
        </p:txBody>
      </p:sp>
      <p:sp>
        <p:nvSpPr>
          <p:cNvPr id="10" name="Shape 8"/>
          <p:cNvSpPr/>
          <p:nvPr/>
        </p:nvSpPr>
        <p:spPr>
          <a:xfrm>
            <a:off x="4590288" y="1371600"/>
            <a:ext cx="201168" cy="201168"/>
          </a:xfrm>
          <a:prstGeom prst="rect">
            <a:avLst/>
          </a:prstGeom>
          <a:solidFill>
            <a:srgbClr val="D9D9D9"/>
          </a:solidFill>
          <a:ln/>
        </p:spPr>
      </p:sp>
      <p:sp>
        <p:nvSpPr>
          <p:cNvPr id="11" name="Text 9"/>
          <p:cNvSpPr txBox="1"/>
          <p:nvPr/>
        </p:nvSpPr>
        <p:spPr>
          <a:xfrm>
            <a:off x="486460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Internal %</a:t>
            </a:r>
            <a:endParaRPr lang="en-US" sz="1400" dirty="0"/>
          </a:p>
        </p:txBody>
      </p:sp>
      <p:sp>
        <p:nvSpPr>
          <p:cNvPr id="12" name="Shape 10"/>
          <p:cNvSpPr/>
          <p:nvPr/>
        </p:nvSpPr>
        <p:spPr>
          <a:xfrm>
            <a:off x="6675120" y="1298448"/>
            <a:ext cx="4855464" cy="384048"/>
          </a:xfrm>
          <a:prstGeom prst="rect">
            <a:avLst/>
          </a:prstGeom>
          <a:solidFill>
            <a:srgbClr val="EDF4FA"/>
          </a:solidFill>
          <a:ln/>
        </p:spPr>
      </p:sp>
      <p:sp>
        <p:nvSpPr>
          <p:cNvPr id="13" name="Text 11"/>
          <p:cNvSpPr txBox="1"/>
          <p:nvPr/>
        </p:nvSpPr>
        <p:spPr>
          <a:xfrm>
            <a:off x="6766560" y="1298448"/>
            <a:ext cx="91440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endParaRPr lang="en-US" sz="1500" dirty="0"/>
          </a:p>
        </p:txBody>
      </p:sp>
      <p:sp>
        <p:nvSpPr>
          <p:cNvPr id="14" name="Shape 12"/>
          <p:cNvSpPr/>
          <p:nvPr/>
        </p:nvSpPr>
        <p:spPr>
          <a:xfrm>
            <a:off x="7726680" y="1344168"/>
            <a:ext cx="1948645" cy="292608"/>
          </a:xfrm>
          <a:prstGeom prst="rect">
            <a:avLst/>
          </a:prstGeom>
          <a:solidFill>
            <a:srgbClr val="2587C5"/>
          </a:solidFill>
          <a:ln w="6350">
            <a:solidFill>
              <a:srgbClr val="FFFFFF"/>
            </a:solidFill>
            <a:prstDash val="solid"/>
          </a:ln>
        </p:spPr>
      </p:sp>
      <p:sp>
        <p:nvSpPr>
          <p:cNvPr id="15" name="Text 13"/>
          <p:cNvSpPr txBox="1"/>
          <p:nvPr/>
        </p:nvSpPr>
        <p:spPr>
          <a:xfrm>
            <a:off x="7726680" y="1344168"/>
            <a:ext cx="1948645"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52</a:t>
            </a:r>
            <a:endParaRPr lang="en-US" sz="1400" dirty="0"/>
          </a:p>
        </p:txBody>
      </p:sp>
      <p:sp>
        <p:nvSpPr>
          <p:cNvPr id="16" name="Shape 14"/>
          <p:cNvSpPr/>
          <p:nvPr/>
        </p:nvSpPr>
        <p:spPr>
          <a:xfrm>
            <a:off x="9675325" y="1344168"/>
            <a:ext cx="882937" cy="292608"/>
          </a:xfrm>
          <a:prstGeom prst="rect">
            <a:avLst/>
          </a:prstGeom>
          <a:solidFill>
            <a:srgbClr val="8FBEE6"/>
          </a:solidFill>
          <a:ln w="6350">
            <a:solidFill>
              <a:srgbClr val="FFFFFF"/>
            </a:solidFill>
            <a:prstDash val="solid"/>
          </a:ln>
        </p:spPr>
      </p:sp>
      <p:sp>
        <p:nvSpPr>
          <p:cNvPr id="17" name="Text 15"/>
          <p:cNvSpPr txBox="1"/>
          <p:nvPr/>
        </p:nvSpPr>
        <p:spPr>
          <a:xfrm>
            <a:off x="9675325" y="1344168"/>
            <a:ext cx="882937" cy="292608"/>
          </a:xfrm>
          <a:prstGeom prst="rect">
            <a:avLst/>
          </a:prstGeom>
          <a:noFill/>
          <a:ln/>
        </p:spPr>
        <p:txBody>
          <a:bodyPr wrap="none" lIns="0" tIns="0" rIns="0" bIns="0" rtlCol="0" anchor="ctr"/>
          <a:lstStyle/>
          <a:p>
            <a:pPr algn="ctr" indent="0" marL="0">
              <a:buNone/>
            </a:pPr>
            <a:r>
              <a:rPr lang="en-US" sz="1400" b="1" dirty="0">
                <a:solidFill>
                  <a:srgbClr val="1A1A1A"/>
                </a:solidFill>
                <a:latin typeface="Inter" pitchFamily="34" charset="0"/>
                <a:ea typeface="Inter" pitchFamily="34" charset="-122"/>
                <a:cs typeface="Inter" pitchFamily="34" charset="-120"/>
              </a:rPr>
              <a:t>24</a:t>
            </a:r>
            <a:endParaRPr lang="en-US" sz="1400" dirty="0"/>
          </a:p>
        </p:txBody>
      </p:sp>
      <p:sp>
        <p:nvSpPr>
          <p:cNvPr id="18" name="Shape 16"/>
          <p:cNvSpPr/>
          <p:nvPr/>
        </p:nvSpPr>
        <p:spPr>
          <a:xfrm>
            <a:off x="10558262" y="1344168"/>
            <a:ext cx="880882" cy="292608"/>
          </a:xfrm>
          <a:prstGeom prst="rect">
            <a:avLst/>
          </a:prstGeom>
          <a:solidFill>
            <a:srgbClr val="D9D9D9"/>
          </a:solidFill>
          <a:ln w="6350">
            <a:solidFill>
              <a:srgbClr val="FFFFFF"/>
            </a:solidFill>
            <a:prstDash val="solid"/>
          </a:ln>
        </p:spPr>
      </p:sp>
      <p:sp>
        <p:nvSpPr>
          <p:cNvPr id="19" name="Text 17"/>
          <p:cNvSpPr txBox="1"/>
          <p:nvPr/>
        </p:nvSpPr>
        <p:spPr>
          <a:xfrm>
            <a:off x="10558262" y="1344168"/>
            <a:ext cx="880882" cy="292608"/>
          </a:xfrm>
          <a:prstGeom prst="rect">
            <a:avLst/>
          </a:prstGeom>
          <a:noFill/>
          <a:ln/>
        </p:spPr>
        <p:txBody>
          <a:bodyPr wrap="none" lIns="0" tIns="0" rIns="0" bIns="0" rtlCol="0" anchor="ctr"/>
          <a:lstStyle/>
          <a:p>
            <a:pPr algn="ctr" indent="0" marL="0">
              <a:buNone/>
            </a:pPr>
            <a:r>
              <a:rPr lang="en-US" sz="1400" b="1" dirty="0">
                <a:solidFill>
                  <a:srgbClr val="1A1A1A"/>
                </a:solidFill>
                <a:latin typeface="Inter" pitchFamily="34" charset="0"/>
                <a:ea typeface="Inter" pitchFamily="34" charset="-122"/>
                <a:cs typeface="Inter" pitchFamily="34" charset="-120"/>
              </a:rPr>
              <a:t>24</a:t>
            </a:r>
            <a:endParaRPr lang="en-US" sz="1400" dirty="0"/>
          </a:p>
        </p:txBody>
      </p:sp>
      <p:sp>
        <p:nvSpPr>
          <p:cNvPr id="20" name="Text 18"/>
          <p:cNvSpPr txBox="1"/>
          <p:nvPr/>
        </p:nvSpPr>
        <p:spPr>
          <a:xfrm>
            <a:off x="658368"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21" name="Shape 19"/>
          <p:cNvSpPr/>
          <p:nvPr/>
        </p:nvSpPr>
        <p:spPr>
          <a:xfrm>
            <a:off x="2807208" y="1857717"/>
            <a:ext cx="2219218" cy="183138"/>
          </a:xfrm>
          <a:prstGeom prst="rect">
            <a:avLst/>
          </a:prstGeom>
          <a:solidFill>
            <a:srgbClr val="2587C5"/>
          </a:solidFill>
          <a:ln w="6350">
            <a:solidFill>
              <a:srgbClr val="FFFFFF"/>
            </a:solidFill>
            <a:prstDash val="solid"/>
          </a:ln>
        </p:spPr>
      </p:sp>
      <p:sp>
        <p:nvSpPr>
          <p:cNvPr id="22" name="Text 20"/>
          <p:cNvSpPr txBox="1"/>
          <p:nvPr/>
        </p:nvSpPr>
        <p:spPr>
          <a:xfrm>
            <a:off x="2807208" y="1857717"/>
            <a:ext cx="221921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70</a:t>
            </a:r>
            <a:endParaRPr lang="en-US" sz="1300" dirty="0"/>
          </a:p>
        </p:txBody>
      </p:sp>
      <p:sp>
        <p:nvSpPr>
          <p:cNvPr id="23" name="Shape 21"/>
          <p:cNvSpPr/>
          <p:nvPr/>
        </p:nvSpPr>
        <p:spPr>
          <a:xfrm>
            <a:off x="5026426" y="1857717"/>
            <a:ext cx="252542" cy="183138"/>
          </a:xfrm>
          <a:prstGeom prst="rect">
            <a:avLst/>
          </a:prstGeom>
          <a:solidFill>
            <a:srgbClr val="8FBEE6"/>
          </a:solidFill>
          <a:ln w="6350">
            <a:solidFill>
              <a:srgbClr val="FFFFFF"/>
            </a:solidFill>
            <a:prstDash val="solid"/>
          </a:ln>
        </p:spPr>
      </p:sp>
      <p:sp>
        <p:nvSpPr>
          <p:cNvPr id="24" name="Text 22"/>
          <p:cNvSpPr txBox="1"/>
          <p:nvPr/>
        </p:nvSpPr>
        <p:spPr>
          <a:xfrm>
            <a:off x="5026426" y="1857717"/>
            <a:ext cx="25254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8</a:t>
            </a:r>
            <a:endParaRPr lang="en-US" sz="1300" dirty="0"/>
          </a:p>
        </p:txBody>
      </p:sp>
      <p:sp>
        <p:nvSpPr>
          <p:cNvPr id="25" name="Shape 23"/>
          <p:cNvSpPr/>
          <p:nvPr/>
        </p:nvSpPr>
        <p:spPr>
          <a:xfrm>
            <a:off x="5278968" y="1857717"/>
            <a:ext cx="682920" cy="183138"/>
          </a:xfrm>
          <a:prstGeom prst="rect">
            <a:avLst/>
          </a:prstGeom>
          <a:solidFill>
            <a:srgbClr val="D9D9D9"/>
          </a:solidFill>
          <a:ln w="6350">
            <a:solidFill>
              <a:srgbClr val="FFFFFF"/>
            </a:solidFill>
            <a:prstDash val="solid"/>
          </a:ln>
        </p:spPr>
      </p:sp>
      <p:sp>
        <p:nvSpPr>
          <p:cNvPr id="26" name="Text 24"/>
          <p:cNvSpPr txBox="1"/>
          <p:nvPr/>
        </p:nvSpPr>
        <p:spPr>
          <a:xfrm>
            <a:off x="5278968" y="1857717"/>
            <a:ext cx="68292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22</a:t>
            </a:r>
            <a:endParaRPr lang="en-US" sz="1300" dirty="0"/>
          </a:p>
        </p:txBody>
      </p:sp>
      <p:sp>
        <p:nvSpPr>
          <p:cNvPr id="27" name="Text 25"/>
          <p:cNvSpPr txBox="1"/>
          <p:nvPr/>
        </p:nvSpPr>
        <p:spPr>
          <a:xfrm>
            <a:off x="658368"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28" name="Shape 26"/>
          <p:cNvSpPr/>
          <p:nvPr/>
        </p:nvSpPr>
        <p:spPr>
          <a:xfrm>
            <a:off x="2807208" y="2098688"/>
            <a:ext cx="2060840" cy="183138"/>
          </a:xfrm>
          <a:prstGeom prst="rect">
            <a:avLst/>
          </a:prstGeom>
          <a:solidFill>
            <a:srgbClr val="2587C5"/>
          </a:solidFill>
          <a:ln w="6350">
            <a:solidFill>
              <a:srgbClr val="FFFFFF"/>
            </a:solidFill>
            <a:prstDash val="solid"/>
          </a:ln>
        </p:spPr>
      </p:sp>
      <p:sp>
        <p:nvSpPr>
          <p:cNvPr id="29" name="Text 27"/>
          <p:cNvSpPr txBox="1"/>
          <p:nvPr/>
        </p:nvSpPr>
        <p:spPr>
          <a:xfrm>
            <a:off x="2807208" y="2098688"/>
            <a:ext cx="20608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65</a:t>
            </a:r>
            <a:endParaRPr lang="en-US" sz="1300" dirty="0"/>
          </a:p>
        </p:txBody>
      </p:sp>
      <p:sp>
        <p:nvSpPr>
          <p:cNvPr id="30" name="Shape 28"/>
          <p:cNvSpPr/>
          <p:nvPr/>
        </p:nvSpPr>
        <p:spPr>
          <a:xfrm>
            <a:off x="4868048" y="2098688"/>
            <a:ext cx="489573" cy="183138"/>
          </a:xfrm>
          <a:prstGeom prst="rect">
            <a:avLst/>
          </a:prstGeom>
          <a:solidFill>
            <a:srgbClr val="8FBEE6"/>
          </a:solidFill>
          <a:ln w="6350">
            <a:solidFill>
              <a:srgbClr val="FFFFFF"/>
            </a:solidFill>
            <a:prstDash val="solid"/>
          </a:ln>
        </p:spPr>
      </p:sp>
      <p:sp>
        <p:nvSpPr>
          <p:cNvPr id="31" name="Text 29"/>
          <p:cNvSpPr txBox="1"/>
          <p:nvPr/>
        </p:nvSpPr>
        <p:spPr>
          <a:xfrm>
            <a:off x="4868048" y="2098688"/>
            <a:ext cx="48957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16</a:t>
            </a:r>
            <a:endParaRPr lang="en-US" sz="1300" dirty="0"/>
          </a:p>
        </p:txBody>
      </p:sp>
      <p:sp>
        <p:nvSpPr>
          <p:cNvPr id="32" name="Shape 30"/>
          <p:cNvSpPr/>
          <p:nvPr/>
        </p:nvSpPr>
        <p:spPr>
          <a:xfrm>
            <a:off x="5357621" y="2098688"/>
            <a:ext cx="604267" cy="183138"/>
          </a:xfrm>
          <a:prstGeom prst="rect">
            <a:avLst/>
          </a:prstGeom>
          <a:solidFill>
            <a:srgbClr val="D9D9D9"/>
          </a:solidFill>
          <a:ln w="6350">
            <a:solidFill>
              <a:srgbClr val="FFFFFF"/>
            </a:solidFill>
            <a:prstDash val="solid"/>
          </a:ln>
        </p:spPr>
      </p:sp>
      <p:sp>
        <p:nvSpPr>
          <p:cNvPr id="33" name="Text 31"/>
          <p:cNvSpPr txBox="1"/>
          <p:nvPr/>
        </p:nvSpPr>
        <p:spPr>
          <a:xfrm>
            <a:off x="5357621" y="2098688"/>
            <a:ext cx="60426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19</a:t>
            </a:r>
            <a:endParaRPr lang="en-US" sz="1300" dirty="0"/>
          </a:p>
        </p:txBody>
      </p:sp>
      <p:sp>
        <p:nvSpPr>
          <p:cNvPr id="34" name="Text 32"/>
          <p:cNvSpPr txBox="1"/>
          <p:nvPr/>
        </p:nvSpPr>
        <p:spPr>
          <a:xfrm>
            <a:off x="658368"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35" name="Shape 33"/>
          <p:cNvSpPr/>
          <p:nvPr/>
        </p:nvSpPr>
        <p:spPr>
          <a:xfrm>
            <a:off x="2807208" y="2339659"/>
            <a:ext cx="2054762" cy="183138"/>
          </a:xfrm>
          <a:prstGeom prst="rect">
            <a:avLst/>
          </a:prstGeom>
          <a:solidFill>
            <a:srgbClr val="2587C5"/>
          </a:solidFill>
          <a:ln w="6350">
            <a:solidFill>
              <a:srgbClr val="FFFFFF"/>
            </a:solidFill>
            <a:prstDash val="solid"/>
          </a:ln>
        </p:spPr>
      </p:sp>
      <p:sp>
        <p:nvSpPr>
          <p:cNvPr id="36" name="Text 34"/>
          <p:cNvSpPr txBox="1"/>
          <p:nvPr/>
        </p:nvSpPr>
        <p:spPr>
          <a:xfrm>
            <a:off x="2807208" y="2339659"/>
            <a:ext cx="205476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65</a:t>
            </a:r>
            <a:endParaRPr lang="en-US" sz="1300" dirty="0"/>
          </a:p>
        </p:txBody>
      </p:sp>
      <p:sp>
        <p:nvSpPr>
          <p:cNvPr id="37" name="Shape 35"/>
          <p:cNvSpPr/>
          <p:nvPr/>
        </p:nvSpPr>
        <p:spPr>
          <a:xfrm>
            <a:off x="4861970" y="2339659"/>
            <a:ext cx="352121" cy="183138"/>
          </a:xfrm>
          <a:prstGeom prst="rect">
            <a:avLst/>
          </a:prstGeom>
          <a:solidFill>
            <a:srgbClr val="8FBEE6"/>
          </a:solidFill>
          <a:ln w="6350">
            <a:solidFill>
              <a:srgbClr val="FFFFFF"/>
            </a:solidFill>
            <a:prstDash val="solid"/>
          </a:ln>
        </p:spPr>
      </p:sp>
      <p:sp>
        <p:nvSpPr>
          <p:cNvPr id="38" name="Text 36"/>
          <p:cNvSpPr txBox="1"/>
          <p:nvPr/>
        </p:nvSpPr>
        <p:spPr>
          <a:xfrm>
            <a:off x="4861970" y="2339659"/>
            <a:ext cx="35212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11</a:t>
            </a:r>
            <a:endParaRPr lang="en-US" sz="1300" dirty="0"/>
          </a:p>
        </p:txBody>
      </p:sp>
      <p:sp>
        <p:nvSpPr>
          <p:cNvPr id="39" name="Shape 37"/>
          <p:cNvSpPr/>
          <p:nvPr/>
        </p:nvSpPr>
        <p:spPr>
          <a:xfrm>
            <a:off x="5214091" y="2339659"/>
            <a:ext cx="747797" cy="183138"/>
          </a:xfrm>
          <a:prstGeom prst="rect">
            <a:avLst/>
          </a:prstGeom>
          <a:solidFill>
            <a:srgbClr val="D9D9D9"/>
          </a:solidFill>
          <a:ln w="6350">
            <a:solidFill>
              <a:srgbClr val="FFFFFF"/>
            </a:solidFill>
            <a:prstDash val="solid"/>
          </a:ln>
        </p:spPr>
      </p:sp>
      <p:sp>
        <p:nvSpPr>
          <p:cNvPr id="40" name="Text 38"/>
          <p:cNvSpPr txBox="1"/>
          <p:nvPr/>
        </p:nvSpPr>
        <p:spPr>
          <a:xfrm>
            <a:off x="5214091" y="2339659"/>
            <a:ext cx="74779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41" name="Text 39"/>
          <p:cNvSpPr txBox="1"/>
          <p:nvPr/>
        </p:nvSpPr>
        <p:spPr>
          <a:xfrm>
            <a:off x="658368"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42" name="Shape 40"/>
          <p:cNvSpPr/>
          <p:nvPr/>
        </p:nvSpPr>
        <p:spPr>
          <a:xfrm>
            <a:off x="2807208" y="2580630"/>
            <a:ext cx="2053161" cy="183138"/>
          </a:xfrm>
          <a:prstGeom prst="rect">
            <a:avLst/>
          </a:prstGeom>
          <a:solidFill>
            <a:srgbClr val="2587C5"/>
          </a:solidFill>
          <a:ln w="6350">
            <a:solidFill>
              <a:srgbClr val="FFFFFF"/>
            </a:solidFill>
            <a:prstDash val="solid"/>
          </a:ln>
        </p:spPr>
      </p:sp>
      <p:sp>
        <p:nvSpPr>
          <p:cNvPr id="43" name="Text 41"/>
          <p:cNvSpPr txBox="1"/>
          <p:nvPr/>
        </p:nvSpPr>
        <p:spPr>
          <a:xfrm>
            <a:off x="2807208" y="2580630"/>
            <a:ext cx="205316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65</a:t>
            </a:r>
            <a:endParaRPr lang="en-US" sz="1300" dirty="0"/>
          </a:p>
        </p:txBody>
      </p:sp>
      <p:sp>
        <p:nvSpPr>
          <p:cNvPr id="44" name="Shape 42"/>
          <p:cNvSpPr/>
          <p:nvPr/>
        </p:nvSpPr>
        <p:spPr>
          <a:xfrm>
            <a:off x="4860369" y="2580630"/>
            <a:ext cx="375876" cy="183138"/>
          </a:xfrm>
          <a:prstGeom prst="rect">
            <a:avLst/>
          </a:prstGeom>
          <a:solidFill>
            <a:srgbClr val="8FBEE6"/>
          </a:solidFill>
          <a:ln w="6350">
            <a:solidFill>
              <a:srgbClr val="FFFFFF"/>
            </a:solidFill>
            <a:prstDash val="solid"/>
          </a:ln>
        </p:spPr>
      </p:sp>
      <p:sp>
        <p:nvSpPr>
          <p:cNvPr id="45" name="Text 43"/>
          <p:cNvSpPr txBox="1"/>
          <p:nvPr/>
        </p:nvSpPr>
        <p:spPr>
          <a:xfrm>
            <a:off x="4860369" y="2580630"/>
            <a:ext cx="37587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12</a:t>
            </a:r>
            <a:endParaRPr lang="en-US" sz="1300" dirty="0"/>
          </a:p>
        </p:txBody>
      </p:sp>
      <p:sp>
        <p:nvSpPr>
          <p:cNvPr id="46" name="Shape 44"/>
          <p:cNvSpPr/>
          <p:nvPr/>
        </p:nvSpPr>
        <p:spPr>
          <a:xfrm>
            <a:off x="5236245" y="2580630"/>
            <a:ext cx="725643" cy="183138"/>
          </a:xfrm>
          <a:prstGeom prst="rect">
            <a:avLst/>
          </a:prstGeom>
          <a:solidFill>
            <a:srgbClr val="D9D9D9"/>
          </a:solidFill>
          <a:ln w="6350">
            <a:solidFill>
              <a:srgbClr val="FFFFFF"/>
            </a:solidFill>
            <a:prstDash val="solid"/>
          </a:ln>
        </p:spPr>
      </p:sp>
      <p:sp>
        <p:nvSpPr>
          <p:cNvPr id="47" name="Text 45"/>
          <p:cNvSpPr txBox="1"/>
          <p:nvPr/>
        </p:nvSpPr>
        <p:spPr>
          <a:xfrm>
            <a:off x="5236245" y="2580630"/>
            <a:ext cx="72564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48" name="Text 46"/>
          <p:cNvSpPr txBox="1"/>
          <p:nvPr/>
        </p:nvSpPr>
        <p:spPr>
          <a:xfrm>
            <a:off x="658368"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49" name="Shape 47"/>
          <p:cNvSpPr/>
          <p:nvPr/>
        </p:nvSpPr>
        <p:spPr>
          <a:xfrm>
            <a:off x="2807208" y="2821602"/>
            <a:ext cx="2046848" cy="183138"/>
          </a:xfrm>
          <a:prstGeom prst="rect">
            <a:avLst/>
          </a:prstGeom>
          <a:solidFill>
            <a:srgbClr val="2587C5"/>
          </a:solidFill>
          <a:ln w="6350">
            <a:solidFill>
              <a:srgbClr val="FFFFFF"/>
            </a:solidFill>
            <a:prstDash val="solid"/>
          </a:ln>
        </p:spPr>
      </p:sp>
      <p:sp>
        <p:nvSpPr>
          <p:cNvPr id="50" name="Text 48"/>
          <p:cNvSpPr txBox="1"/>
          <p:nvPr/>
        </p:nvSpPr>
        <p:spPr>
          <a:xfrm>
            <a:off x="2807208" y="2821602"/>
            <a:ext cx="204684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65</a:t>
            </a:r>
            <a:endParaRPr lang="en-US" sz="1300" dirty="0"/>
          </a:p>
        </p:txBody>
      </p:sp>
      <p:sp>
        <p:nvSpPr>
          <p:cNvPr id="51" name="Shape 49"/>
          <p:cNvSpPr/>
          <p:nvPr/>
        </p:nvSpPr>
        <p:spPr>
          <a:xfrm>
            <a:off x="4854056" y="2821602"/>
            <a:ext cx="793865" cy="183138"/>
          </a:xfrm>
          <a:prstGeom prst="rect">
            <a:avLst/>
          </a:prstGeom>
          <a:solidFill>
            <a:srgbClr val="8FBEE6"/>
          </a:solidFill>
          <a:ln w="6350">
            <a:solidFill>
              <a:srgbClr val="FFFFFF"/>
            </a:solidFill>
            <a:prstDash val="solid"/>
          </a:ln>
        </p:spPr>
      </p:sp>
      <p:sp>
        <p:nvSpPr>
          <p:cNvPr id="52" name="Text 50"/>
          <p:cNvSpPr txBox="1"/>
          <p:nvPr/>
        </p:nvSpPr>
        <p:spPr>
          <a:xfrm>
            <a:off x="4854056" y="2821602"/>
            <a:ext cx="79386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25</a:t>
            </a:r>
            <a:endParaRPr lang="en-US" sz="1300" dirty="0"/>
          </a:p>
        </p:txBody>
      </p:sp>
      <p:sp>
        <p:nvSpPr>
          <p:cNvPr id="53" name="Shape 51"/>
          <p:cNvSpPr/>
          <p:nvPr/>
        </p:nvSpPr>
        <p:spPr>
          <a:xfrm>
            <a:off x="5647921" y="2821602"/>
            <a:ext cx="313967" cy="183138"/>
          </a:xfrm>
          <a:prstGeom prst="rect">
            <a:avLst/>
          </a:prstGeom>
          <a:solidFill>
            <a:srgbClr val="D9D9D9"/>
          </a:solidFill>
          <a:ln w="6350">
            <a:solidFill>
              <a:srgbClr val="FFFFFF"/>
            </a:solidFill>
            <a:prstDash val="solid"/>
          </a:ln>
        </p:spPr>
      </p:sp>
      <p:sp>
        <p:nvSpPr>
          <p:cNvPr id="54" name="Text 52"/>
          <p:cNvSpPr txBox="1"/>
          <p:nvPr/>
        </p:nvSpPr>
        <p:spPr>
          <a:xfrm>
            <a:off x="5647921" y="2821602"/>
            <a:ext cx="31396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10</a:t>
            </a:r>
            <a:endParaRPr lang="en-US" sz="1300" dirty="0"/>
          </a:p>
        </p:txBody>
      </p:sp>
      <p:sp>
        <p:nvSpPr>
          <p:cNvPr id="55" name="Text 53"/>
          <p:cNvSpPr txBox="1"/>
          <p:nvPr/>
        </p:nvSpPr>
        <p:spPr>
          <a:xfrm>
            <a:off x="658368"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56" name="Shape 54"/>
          <p:cNvSpPr/>
          <p:nvPr/>
        </p:nvSpPr>
        <p:spPr>
          <a:xfrm>
            <a:off x="2807208" y="3062573"/>
            <a:ext cx="1985155" cy="183138"/>
          </a:xfrm>
          <a:prstGeom prst="rect">
            <a:avLst/>
          </a:prstGeom>
          <a:solidFill>
            <a:srgbClr val="2587C5"/>
          </a:solidFill>
          <a:ln w="6350">
            <a:solidFill>
              <a:srgbClr val="FFFFFF"/>
            </a:solidFill>
            <a:prstDash val="solid"/>
          </a:ln>
        </p:spPr>
      </p:sp>
      <p:sp>
        <p:nvSpPr>
          <p:cNvPr id="57" name="Text 55"/>
          <p:cNvSpPr txBox="1"/>
          <p:nvPr/>
        </p:nvSpPr>
        <p:spPr>
          <a:xfrm>
            <a:off x="2807208" y="3062573"/>
            <a:ext cx="198515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63</a:t>
            </a:r>
            <a:endParaRPr lang="en-US" sz="1300" dirty="0"/>
          </a:p>
        </p:txBody>
      </p:sp>
      <p:sp>
        <p:nvSpPr>
          <p:cNvPr id="58" name="Shape 56"/>
          <p:cNvSpPr/>
          <p:nvPr/>
        </p:nvSpPr>
        <p:spPr>
          <a:xfrm>
            <a:off x="4792363" y="3062573"/>
            <a:ext cx="729180" cy="183138"/>
          </a:xfrm>
          <a:prstGeom prst="rect">
            <a:avLst/>
          </a:prstGeom>
          <a:solidFill>
            <a:srgbClr val="8FBEE6"/>
          </a:solidFill>
          <a:ln w="6350">
            <a:solidFill>
              <a:srgbClr val="FFFFFF"/>
            </a:solidFill>
            <a:prstDash val="solid"/>
          </a:ln>
        </p:spPr>
      </p:sp>
      <p:sp>
        <p:nvSpPr>
          <p:cNvPr id="59" name="Text 57"/>
          <p:cNvSpPr txBox="1"/>
          <p:nvPr/>
        </p:nvSpPr>
        <p:spPr>
          <a:xfrm>
            <a:off x="4792363" y="3062573"/>
            <a:ext cx="72918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60" name="Shape 58"/>
          <p:cNvSpPr/>
          <p:nvPr/>
        </p:nvSpPr>
        <p:spPr>
          <a:xfrm>
            <a:off x="5521542" y="3062573"/>
            <a:ext cx="440346" cy="183138"/>
          </a:xfrm>
          <a:prstGeom prst="rect">
            <a:avLst/>
          </a:prstGeom>
          <a:solidFill>
            <a:srgbClr val="D9D9D9"/>
          </a:solidFill>
          <a:ln w="6350">
            <a:solidFill>
              <a:srgbClr val="FFFFFF"/>
            </a:solidFill>
            <a:prstDash val="solid"/>
          </a:ln>
        </p:spPr>
      </p:sp>
      <p:sp>
        <p:nvSpPr>
          <p:cNvPr id="61" name="Text 59"/>
          <p:cNvSpPr txBox="1"/>
          <p:nvPr/>
        </p:nvSpPr>
        <p:spPr>
          <a:xfrm>
            <a:off x="5521542" y="3062573"/>
            <a:ext cx="44034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62" name="Text 60"/>
          <p:cNvSpPr txBox="1"/>
          <p:nvPr/>
        </p:nvSpPr>
        <p:spPr>
          <a:xfrm>
            <a:off x="658368"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63" name="Shape 61"/>
          <p:cNvSpPr/>
          <p:nvPr/>
        </p:nvSpPr>
        <p:spPr>
          <a:xfrm>
            <a:off x="2807208" y="3303544"/>
            <a:ext cx="1940199" cy="183138"/>
          </a:xfrm>
          <a:prstGeom prst="rect">
            <a:avLst/>
          </a:prstGeom>
          <a:solidFill>
            <a:srgbClr val="2587C5"/>
          </a:solidFill>
          <a:ln w="6350">
            <a:solidFill>
              <a:srgbClr val="FFFFFF"/>
            </a:solidFill>
            <a:prstDash val="solid"/>
          </a:ln>
        </p:spPr>
      </p:sp>
      <p:sp>
        <p:nvSpPr>
          <p:cNvPr id="64" name="Text 62"/>
          <p:cNvSpPr txBox="1"/>
          <p:nvPr/>
        </p:nvSpPr>
        <p:spPr>
          <a:xfrm>
            <a:off x="2807208" y="3303544"/>
            <a:ext cx="194019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62</a:t>
            </a:r>
            <a:endParaRPr lang="en-US" sz="1300" dirty="0"/>
          </a:p>
        </p:txBody>
      </p:sp>
      <p:sp>
        <p:nvSpPr>
          <p:cNvPr id="65" name="Shape 63"/>
          <p:cNvSpPr/>
          <p:nvPr/>
        </p:nvSpPr>
        <p:spPr>
          <a:xfrm>
            <a:off x="4747407" y="3303544"/>
            <a:ext cx="542990" cy="183138"/>
          </a:xfrm>
          <a:prstGeom prst="rect">
            <a:avLst/>
          </a:prstGeom>
          <a:solidFill>
            <a:srgbClr val="8FBEE6"/>
          </a:solidFill>
          <a:ln w="6350">
            <a:solidFill>
              <a:srgbClr val="FFFFFF"/>
            </a:solidFill>
            <a:prstDash val="solid"/>
          </a:ln>
        </p:spPr>
      </p:sp>
      <p:sp>
        <p:nvSpPr>
          <p:cNvPr id="66" name="Text 64"/>
          <p:cNvSpPr txBox="1"/>
          <p:nvPr/>
        </p:nvSpPr>
        <p:spPr>
          <a:xfrm>
            <a:off x="4747407" y="3303544"/>
            <a:ext cx="54299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17</a:t>
            </a:r>
            <a:endParaRPr lang="en-US" sz="1300" dirty="0"/>
          </a:p>
        </p:txBody>
      </p:sp>
      <p:sp>
        <p:nvSpPr>
          <p:cNvPr id="67" name="Shape 65"/>
          <p:cNvSpPr/>
          <p:nvPr/>
        </p:nvSpPr>
        <p:spPr>
          <a:xfrm>
            <a:off x="5290397" y="3303544"/>
            <a:ext cx="671491" cy="183138"/>
          </a:xfrm>
          <a:prstGeom prst="rect">
            <a:avLst/>
          </a:prstGeom>
          <a:solidFill>
            <a:srgbClr val="D9D9D9"/>
          </a:solidFill>
          <a:ln w="6350">
            <a:solidFill>
              <a:srgbClr val="FFFFFF"/>
            </a:solidFill>
            <a:prstDash val="solid"/>
          </a:ln>
        </p:spPr>
      </p:sp>
      <p:sp>
        <p:nvSpPr>
          <p:cNvPr id="68" name="Text 66"/>
          <p:cNvSpPr txBox="1"/>
          <p:nvPr/>
        </p:nvSpPr>
        <p:spPr>
          <a:xfrm>
            <a:off x="5290397" y="3303544"/>
            <a:ext cx="67149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21</a:t>
            </a:r>
            <a:endParaRPr lang="en-US" sz="1300" dirty="0"/>
          </a:p>
        </p:txBody>
      </p:sp>
      <p:sp>
        <p:nvSpPr>
          <p:cNvPr id="69" name="Text 67"/>
          <p:cNvSpPr txBox="1"/>
          <p:nvPr/>
        </p:nvSpPr>
        <p:spPr>
          <a:xfrm>
            <a:off x="658368"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70" name="Shape 68"/>
          <p:cNvSpPr/>
          <p:nvPr/>
        </p:nvSpPr>
        <p:spPr>
          <a:xfrm>
            <a:off x="2807208" y="3544516"/>
            <a:ext cx="1907392" cy="183138"/>
          </a:xfrm>
          <a:prstGeom prst="rect">
            <a:avLst/>
          </a:prstGeom>
          <a:solidFill>
            <a:srgbClr val="2587C5"/>
          </a:solidFill>
          <a:ln w="6350">
            <a:solidFill>
              <a:srgbClr val="FFFFFF"/>
            </a:solidFill>
            <a:prstDash val="solid"/>
          </a:ln>
        </p:spPr>
      </p:sp>
      <p:sp>
        <p:nvSpPr>
          <p:cNvPr id="71" name="Text 69"/>
          <p:cNvSpPr txBox="1"/>
          <p:nvPr/>
        </p:nvSpPr>
        <p:spPr>
          <a:xfrm>
            <a:off x="2807208" y="3544516"/>
            <a:ext cx="190739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72" name="Shape 70"/>
          <p:cNvSpPr/>
          <p:nvPr/>
        </p:nvSpPr>
        <p:spPr>
          <a:xfrm>
            <a:off x="4714600" y="3544516"/>
            <a:ext cx="434501" cy="183138"/>
          </a:xfrm>
          <a:prstGeom prst="rect">
            <a:avLst/>
          </a:prstGeom>
          <a:solidFill>
            <a:srgbClr val="8FBEE6"/>
          </a:solidFill>
          <a:ln w="6350">
            <a:solidFill>
              <a:srgbClr val="FFFFFF"/>
            </a:solidFill>
            <a:prstDash val="solid"/>
          </a:ln>
        </p:spPr>
      </p:sp>
      <p:sp>
        <p:nvSpPr>
          <p:cNvPr id="73" name="Text 71"/>
          <p:cNvSpPr txBox="1"/>
          <p:nvPr/>
        </p:nvSpPr>
        <p:spPr>
          <a:xfrm>
            <a:off x="4714600" y="3544516"/>
            <a:ext cx="43450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74" name="Shape 72"/>
          <p:cNvSpPr/>
          <p:nvPr/>
        </p:nvSpPr>
        <p:spPr>
          <a:xfrm>
            <a:off x="5149102" y="3544516"/>
            <a:ext cx="812786" cy="183138"/>
          </a:xfrm>
          <a:prstGeom prst="rect">
            <a:avLst/>
          </a:prstGeom>
          <a:solidFill>
            <a:srgbClr val="D9D9D9"/>
          </a:solidFill>
          <a:ln w="6350">
            <a:solidFill>
              <a:srgbClr val="FFFFFF"/>
            </a:solidFill>
            <a:prstDash val="solid"/>
          </a:ln>
        </p:spPr>
      </p:sp>
      <p:sp>
        <p:nvSpPr>
          <p:cNvPr id="75" name="Text 73"/>
          <p:cNvSpPr txBox="1"/>
          <p:nvPr/>
        </p:nvSpPr>
        <p:spPr>
          <a:xfrm>
            <a:off x="5149102" y="3544516"/>
            <a:ext cx="81278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26</a:t>
            </a:r>
            <a:endParaRPr lang="en-US" sz="1300" dirty="0"/>
          </a:p>
        </p:txBody>
      </p:sp>
      <p:sp>
        <p:nvSpPr>
          <p:cNvPr id="76" name="Text 74"/>
          <p:cNvSpPr txBox="1"/>
          <p:nvPr/>
        </p:nvSpPr>
        <p:spPr>
          <a:xfrm>
            <a:off x="658368"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77" name="Shape 75"/>
          <p:cNvSpPr/>
          <p:nvPr/>
        </p:nvSpPr>
        <p:spPr>
          <a:xfrm>
            <a:off x="2807208" y="3785487"/>
            <a:ext cx="1883011" cy="183138"/>
          </a:xfrm>
          <a:prstGeom prst="rect">
            <a:avLst/>
          </a:prstGeom>
          <a:solidFill>
            <a:srgbClr val="2587C5"/>
          </a:solidFill>
          <a:ln w="6350">
            <a:solidFill>
              <a:srgbClr val="FFFFFF"/>
            </a:solidFill>
            <a:prstDash val="solid"/>
          </a:ln>
        </p:spPr>
      </p:sp>
      <p:sp>
        <p:nvSpPr>
          <p:cNvPr id="78" name="Text 76"/>
          <p:cNvSpPr txBox="1"/>
          <p:nvPr/>
        </p:nvSpPr>
        <p:spPr>
          <a:xfrm>
            <a:off x="2807208" y="3785487"/>
            <a:ext cx="188301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79" name="Shape 77"/>
          <p:cNvSpPr/>
          <p:nvPr/>
        </p:nvSpPr>
        <p:spPr>
          <a:xfrm>
            <a:off x="4690219" y="3785487"/>
            <a:ext cx="918142" cy="183138"/>
          </a:xfrm>
          <a:prstGeom prst="rect">
            <a:avLst/>
          </a:prstGeom>
          <a:solidFill>
            <a:srgbClr val="8FBEE6"/>
          </a:solidFill>
          <a:ln w="6350">
            <a:solidFill>
              <a:srgbClr val="FFFFFF"/>
            </a:solidFill>
            <a:prstDash val="solid"/>
          </a:ln>
        </p:spPr>
      </p:sp>
      <p:sp>
        <p:nvSpPr>
          <p:cNvPr id="80" name="Text 78"/>
          <p:cNvSpPr txBox="1"/>
          <p:nvPr/>
        </p:nvSpPr>
        <p:spPr>
          <a:xfrm>
            <a:off x="4690219" y="3785487"/>
            <a:ext cx="91814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81" name="Shape 79"/>
          <p:cNvSpPr/>
          <p:nvPr/>
        </p:nvSpPr>
        <p:spPr>
          <a:xfrm>
            <a:off x="5608361" y="3785487"/>
            <a:ext cx="353527" cy="183138"/>
          </a:xfrm>
          <a:prstGeom prst="rect">
            <a:avLst/>
          </a:prstGeom>
          <a:solidFill>
            <a:srgbClr val="D9D9D9"/>
          </a:solidFill>
          <a:ln w="6350">
            <a:solidFill>
              <a:srgbClr val="FFFFFF"/>
            </a:solidFill>
            <a:prstDash val="solid"/>
          </a:ln>
        </p:spPr>
      </p:sp>
      <p:sp>
        <p:nvSpPr>
          <p:cNvPr id="82" name="Text 80"/>
          <p:cNvSpPr txBox="1"/>
          <p:nvPr/>
        </p:nvSpPr>
        <p:spPr>
          <a:xfrm>
            <a:off x="5608361" y="3785487"/>
            <a:ext cx="35352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11</a:t>
            </a:r>
            <a:endParaRPr lang="en-US" sz="1300" dirty="0"/>
          </a:p>
        </p:txBody>
      </p:sp>
      <p:sp>
        <p:nvSpPr>
          <p:cNvPr id="83" name="Text 81"/>
          <p:cNvSpPr txBox="1"/>
          <p:nvPr/>
        </p:nvSpPr>
        <p:spPr>
          <a:xfrm>
            <a:off x="658368"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84" name="Shape 82"/>
          <p:cNvSpPr/>
          <p:nvPr/>
        </p:nvSpPr>
        <p:spPr>
          <a:xfrm>
            <a:off x="2807208" y="4026458"/>
            <a:ext cx="1876032" cy="183138"/>
          </a:xfrm>
          <a:prstGeom prst="rect">
            <a:avLst/>
          </a:prstGeom>
          <a:solidFill>
            <a:srgbClr val="2587C5"/>
          </a:solidFill>
          <a:ln w="6350">
            <a:solidFill>
              <a:srgbClr val="FFFFFF"/>
            </a:solidFill>
            <a:prstDash val="solid"/>
          </a:ln>
        </p:spPr>
      </p:sp>
      <p:sp>
        <p:nvSpPr>
          <p:cNvPr id="85" name="Text 83"/>
          <p:cNvSpPr txBox="1"/>
          <p:nvPr/>
        </p:nvSpPr>
        <p:spPr>
          <a:xfrm>
            <a:off x="2807208" y="4026458"/>
            <a:ext cx="187603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86" name="Shape 84"/>
          <p:cNvSpPr/>
          <p:nvPr/>
        </p:nvSpPr>
        <p:spPr>
          <a:xfrm>
            <a:off x="4683240" y="4026458"/>
            <a:ext cx="744656" cy="183138"/>
          </a:xfrm>
          <a:prstGeom prst="rect">
            <a:avLst/>
          </a:prstGeom>
          <a:solidFill>
            <a:srgbClr val="8FBEE6"/>
          </a:solidFill>
          <a:ln w="6350">
            <a:solidFill>
              <a:srgbClr val="FFFFFF"/>
            </a:solidFill>
            <a:prstDash val="solid"/>
          </a:ln>
        </p:spPr>
      </p:sp>
      <p:sp>
        <p:nvSpPr>
          <p:cNvPr id="87" name="Text 85"/>
          <p:cNvSpPr txBox="1"/>
          <p:nvPr/>
        </p:nvSpPr>
        <p:spPr>
          <a:xfrm>
            <a:off x="4683240" y="4026458"/>
            <a:ext cx="74465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88" name="Shape 86"/>
          <p:cNvSpPr/>
          <p:nvPr/>
        </p:nvSpPr>
        <p:spPr>
          <a:xfrm>
            <a:off x="5427896" y="4026458"/>
            <a:ext cx="533992" cy="183138"/>
          </a:xfrm>
          <a:prstGeom prst="rect">
            <a:avLst/>
          </a:prstGeom>
          <a:solidFill>
            <a:srgbClr val="D9D9D9"/>
          </a:solidFill>
          <a:ln w="6350">
            <a:solidFill>
              <a:srgbClr val="FFFFFF"/>
            </a:solidFill>
            <a:prstDash val="solid"/>
          </a:ln>
        </p:spPr>
      </p:sp>
      <p:sp>
        <p:nvSpPr>
          <p:cNvPr id="89" name="Text 87"/>
          <p:cNvSpPr txBox="1"/>
          <p:nvPr/>
        </p:nvSpPr>
        <p:spPr>
          <a:xfrm>
            <a:off x="5427896" y="4026458"/>
            <a:ext cx="53399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17</a:t>
            </a:r>
            <a:endParaRPr lang="en-US" sz="1300" dirty="0"/>
          </a:p>
        </p:txBody>
      </p:sp>
      <p:sp>
        <p:nvSpPr>
          <p:cNvPr id="90" name="Text 88"/>
          <p:cNvSpPr txBox="1"/>
          <p:nvPr/>
        </p:nvSpPr>
        <p:spPr>
          <a:xfrm>
            <a:off x="658368"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91" name="Shape 89"/>
          <p:cNvSpPr/>
          <p:nvPr/>
        </p:nvSpPr>
        <p:spPr>
          <a:xfrm>
            <a:off x="2807208" y="4267429"/>
            <a:ext cx="1874405" cy="183138"/>
          </a:xfrm>
          <a:prstGeom prst="rect">
            <a:avLst/>
          </a:prstGeom>
          <a:solidFill>
            <a:srgbClr val="2587C5"/>
          </a:solidFill>
          <a:ln w="6350">
            <a:solidFill>
              <a:srgbClr val="FFFFFF"/>
            </a:solidFill>
            <a:prstDash val="solid"/>
          </a:ln>
        </p:spPr>
      </p:sp>
      <p:sp>
        <p:nvSpPr>
          <p:cNvPr id="92" name="Text 90"/>
          <p:cNvSpPr txBox="1"/>
          <p:nvPr/>
        </p:nvSpPr>
        <p:spPr>
          <a:xfrm>
            <a:off x="2807208" y="4267429"/>
            <a:ext cx="187440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93" name="Shape 91"/>
          <p:cNvSpPr/>
          <p:nvPr/>
        </p:nvSpPr>
        <p:spPr>
          <a:xfrm>
            <a:off x="4681613" y="4267429"/>
            <a:ext cx="558160" cy="183138"/>
          </a:xfrm>
          <a:prstGeom prst="rect">
            <a:avLst/>
          </a:prstGeom>
          <a:solidFill>
            <a:srgbClr val="8FBEE6"/>
          </a:solidFill>
          <a:ln w="6350">
            <a:solidFill>
              <a:srgbClr val="FFFFFF"/>
            </a:solidFill>
            <a:prstDash val="solid"/>
          </a:ln>
        </p:spPr>
      </p:sp>
      <p:sp>
        <p:nvSpPr>
          <p:cNvPr id="94" name="Text 92"/>
          <p:cNvSpPr txBox="1"/>
          <p:nvPr/>
        </p:nvSpPr>
        <p:spPr>
          <a:xfrm>
            <a:off x="4681613" y="4267429"/>
            <a:ext cx="55816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18</a:t>
            </a:r>
            <a:endParaRPr lang="en-US" sz="1300" dirty="0"/>
          </a:p>
        </p:txBody>
      </p:sp>
      <p:sp>
        <p:nvSpPr>
          <p:cNvPr id="95" name="Shape 93"/>
          <p:cNvSpPr/>
          <p:nvPr/>
        </p:nvSpPr>
        <p:spPr>
          <a:xfrm>
            <a:off x="5239773" y="4267429"/>
            <a:ext cx="722115" cy="183138"/>
          </a:xfrm>
          <a:prstGeom prst="rect">
            <a:avLst/>
          </a:prstGeom>
          <a:solidFill>
            <a:srgbClr val="D9D9D9"/>
          </a:solidFill>
          <a:ln w="6350">
            <a:solidFill>
              <a:srgbClr val="FFFFFF"/>
            </a:solidFill>
            <a:prstDash val="solid"/>
          </a:ln>
        </p:spPr>
      </p:sp>
      <p:sp>
        <p:nvSpPr>
          <p:cNvPr id="96" name="Text 94"/>
          <p:cNvSpPr txBox="1"/>
          <p:nvPr/>
        </p:nvSpPr>
        <p:spPr>
          <a:xfrm>
            <a:off x="5239773" y="4267429"/>
            <a:ext cx="72211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97" name="Text 95"/>
          <p:cNvSpPr txBox="1"/>
          <p:nvPr/>
        </p:nvSpPr>
        <p:spPr>
          <a:xfrm>
            <a:off x="658368"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98" name="Shape 96"/>
          <p:cNvSpPr/>
          <p:nvPr/>
        </p:nvSpPr>
        <p:spPr>
          <a:xfrm>
            <a:off x="2807208" y="4508401"/>
            <a:ext cx="1862814" cy="183138"/>
          </a:xfrm>
          <a:prstGeom prst="rect">
            <a:avLst/>
          </a:prstGeom>
          <a:solidFill>
            <a:srgbClr val="2587C5"/>
          </a:solidFill>
          <a:ln w="6350">
            <a:solidFill>
              <a:srgbClr val="FFFFFF"/>
            </a:solidFill>
            <a:prstDash val="solid"/>
          </a:ln>
        </p:spPr>
      </p:sp>
      <p:sp>
        <p:nvSpPr>
          <p:cNvPr id="99" name="Text 97"/>
          <p:cNvSpPr txBox="1"/>
          <p:nvPr/>
        </p:nvSpPr>
        <p:spPr>
          <a:xfrm>
            <a:off x="2807208" y="4508401"/>
            <a:ext cx="186281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100" name="Shape 98"/>
          <p:cNvSpPr/>
          <p:nvPr/>
        </p:nvSpPr>
        <p:spPr>
          <a:xfrm>
            <a:off x="4670022" y="4508401"/>
            <a:ext cx="740644" cy="183138"/>
          </a:xfrm>
          <a:prstGeom prst="rect">
            <a:avLst/>
          </a:prstGeom>
          <a:solidFill>
            <a:srgbClr val="8FBEE6"/>
          </a:solidFill>
          <a:ln w="6350">
            <a:solidFill>
              <a:srgbClr val="FFFFFF"/>
            </a:solidFill>
            <a:prstDash val="solid"/>
          </a:ln>
        </p:spPr>
      </p:sp>
      <p:sp>
        <p:nvSpPr>
          <p:cNvPr id="101" name="Text 99"/>
          <p:cNvSpPr txBox="1"/>
          <p:nvPr/>
        </p:nvSpPr>
        <p:spPr>
          <a:xfrm>
            <a:off x="4670022" y="4508401"/>
            <a:ext cx="74064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102" name="Shape 100"/>
          <p:cNvSpPr/>
          <p:nvPr/>
        </p:nvSpPr>
        <p:spPr>
          <a:xfrm>
            <a:off x="5410666" y="4508401"/>
            <a:ext cx="551222" cy="183138"/>
          </a:xfrm>
          <a:prstGeom prst="rect">
            <a:avLst/>
          </a:prstGeom>
          <a:solidFill>
            <a:srgbClr val="D9D9D9"/>
          </a:solidFill>
          <a:ln w="6350">
            <a:solidFill>
              <a:srgbClr val="FFFFFF"/>
            </a:solidFill>
            <a:prstDash val="solid"/>
          </a:ln>
        </p:spPr>
      </p:sp>
      <p:sp>
        <p:nvSpPr>
          <p:cNvPr id="103" name="Text 101"/>
          <p:cNvSpPr txBox="1"/>
          <p:nvPr/>
        </p:nvSpPr>
        <p:spPr>
          <a:xfrm>
            <a:off x="5410666" y="4508401"/>
            <a:ext cx="55122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17</a:t>
            </a:r>
            <a:endParaRPr lang="en-US" sz="1300" dirty="0"/>
          </a:p>
        </p:txBody>
      </p:sp>
      <p:sp>
        <p:nvSpPr>
          <p:cNvPr id="104" name="Text 102"/>
          <p:cNvSpPr txBox="1"/>
          <p:nvPr/>
        </p:nvSpPr>
        <p:spPr>
          <a:xfrm>
            <a:off x="658368"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05" name="Shape 103"/>
          <p:cNvSpPr/>
          <p:nvPr/>
        </p:nvSpPr>
        <p:spPr>
          <a:xfrm>
            <a:off x="2807208" y="4749372"/>
            <a:ext cx="1831119" cy="183138"/>
          </a:xfrm>
          <a:prstGeom prst="rect">
            <a:avLst/>
          </a:prstGeom>
          <a:solidFill>
            <a:srgbClr val="2587C5"/>
          </a:solidFill>
          <a:ln w="6350">
            <a:solidFill>
              <a:srgbClr val="FFFFFF"/>
            </a:solidFill>
            <a:prstDash val="solid"/>
          </a:ln>
        </p:spPr>
      </p:sp>
      <p:sp>
        <p:nvSpPr>
          <p:cNvPr id="106" name="Text 104"/>
          <p:cNvSpPr txBox="1"/>
          <p:nvPr/>
        </p:nvSpPr>
        <p:spPr>
          <a:xfrm>
            <a:off x="2807208" y="4749372"/>
            <a:ext cx="183111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58</a:t>
            </a:r>
            <a:endParaRPr lang="en-US" sz="1300" dirty="0"/>
          </a:p>
        </p:txBody>
      </p:sp>
      <p:sp>
        <p:nvSpPr>
          <p:cNvPr id="107" name="Shape 105"/>
          <p:cNvSpPr/>
          <p:nvPr/>
        </p:nvSpPr>
        <p:spPr>
          <a:xfrm>
            <a:off x="4638327" y="4749372"/>
            <a:ext cx="764127" cy="183138"/>
          </a:xfrm>
          <a:prstGeom prst="rect">
            <a:avLst/>
          </a:prstGeom>
          <a:solidFill>
            <a:srgbClr val="8FBEE6"/>
          </a:solidFill>
          <a:ln w="6350">
            <a:solidFill>
              <a:srgbClr val="FFFFFF"/>
            </a:solidFill>
            <a:prstDash val="solid"/>
          </a:ln>
        </p:spPr>
      </p:sp>
      <p:sp>
        <p:nvSpPr>
          <p:cNvPr id="108" name="Text 106"/>
          <p:cNvSpPr txBox="1"/>
          <p:nvPr/>
        </p:nvSpPr>
        <p:spPr>
          <a:xfrm>
            <a:off x="4638327" y="4749372"/>
            <a:ext cx="76412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109" name="Shape 107"/>
          <p:cNvSpPr/>
          <p:nvPr/>
        </p:nvSpPr>
        <p:spPr>
          <a:xfrm>
            <a:off x="5402455" y="4749372"/>
            <a:ext cx="559433" cy="183138"/>
          </a:xfrm>
          <a:prstGeom prst="rect">
            <a:avLst/>
          </a:prstGeom>
          <a:solidFill>
            <a:srgbClr val="D9D9D9"/>
          </a:solidFill>
          <a:ln w="6350">
            <a:solidFill>
              <a:srgbClr val="FFFFFF"/>
            </a:solidFill>
            <a:prstDash val="solid"/>
          </a:ln>
        </p:spPr>
      </p:sp>
      <p:sp>
        <p:nvSpPr>
          <p:cNvPr id="110" name="Text 108"/>
          <p:cNvSpPr txBox="1"/>
          <p:nvPr/>
        </p:nvSpPr>
        <p:spPr>
          <a:xfrm>
            <a:off x="5402455" y="4749372"/>
            <a:ext cx="55943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18</a:t>
            </a:r>
            <a:endParaRPr lang="en-US" sz="1300" dirty="0"/>
          </a:p>
        </p:txBody>
      </p:sp>
      <p:sp>
        <p:nvSpPr>
          <p:cNvPr id="111" name="Text 109"/>
          <p:cNvSpPr txBox="1"/>
          <p:nvPr/>
        </p:nvSpPr>
        <p:spPr>
          <a:xfrm>
            <a:off x="658368"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112" name="Shape 110"/>
          <p:cNvSpPr/>
          <p:nvPr/>
        </p:nvSpPr>
        <p:spPr>
          <a:xfrm>
            <a:off x="2807208" y="4990343"/>
            <a:ext cx="1825486" cy="183138"/>
          </a:xfrm>
          <a:prstGeom prst="rect">
            <a:avLst/>
          </a:prstGeom>
          <a:solidFill>
            <a:srgbClr val="2587C5"/>
          </a:solidFill>
          <a:ln w="6350">
            <a:solidFill>
              <a:srgbClr val="FFFFFF"/>
            </a:solidFill>
            <a:prstDash val="solid"/>
          </a:ln>
        </p:spPr>
      </p:sp>
      <p:sp>
        <p:nvSpPr>
          <p:cNvPr id="113" name="Text 111"/>
          <p:cNvSpPr txBox="1"/>
          <p:nvPr/>
        </p:nvSpPr>
        <p:spPr>
          <a:xfrm>
            <a:off x="2807208" y="4990343"/>
            <a:ext cx="182548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58</a:t>
            </a:r>
            <a:endParaRPr lang="en-US" sz="1300" dirty="0"/>
          </a:p>
        </p:txBody>
      </p:sp>
      <p:sp>
        <p:nvSpPr>
          <p:cNvPr id="114" name="Shape 112"/>
          <p:cNvSpPr/>
          <p:nvPr/>
        </p:nvSpPr>
        <p:spPr>
          <a:xfrm>
            <a:off x="4632694" y="4990343"/>
            <a:ext cx="426634" cy="183138"/>
          </a:xfrm>
          <a:prstGeom prst="rect">
            <a:avLst/>
          </a:prstGeom>
          <a:solidFill>
            <a:srgbClr val="8FBEE6"/>
          </a:solidFill>
          <a:ln w="6350">
            <a:solidFill>
              <a:srgbClr val="FFFFFF"/>
            </a:solidFill>
            <a:prstDash val="solid"/>
          </a:ln>
        </p:spPr>
      </p:sp>
      <p:sp>
        <p:nvSpPr>
          <p:cNvPr id="115" name="Text 113"/>
          <p:cNvSpPr txBox="1"/>
          <p:nvPr/>
        </p:nvSpPr>
        <p:spPr>
          <a:xfrm>
            <a:off x="4632694" y="4990343"/>
            <a:ext cx="42663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116" name="Shape 114"/>
          <p:cNvSpPr/>
          <p:nvPr/>
        </p:nvSpPr>
        <p:spPr>
          <a:xfrm>
            <a:off x="5059328" y="4990343"/>
            <a:ext cx="902560" cy="183138"/>
          </a:xfrm>
          <a:prstGeom prst="rect">
            <a:avLst/>
          </a:prstGeom>
          <a:solidFill>
            <a:srgbClr val="D9D9D9"/>
          </a:solidFill>
          <a:ln w="6350">
            <a:solidFill>
              <a:srgbClr val="FFFFFF"/>
            </a:solidFill>
            <a:prstDash val="solid"/>
          </a:ln>
        </p:spPr>
      </p:sp>
      <p:sp>
        <p:nvSpPr>
          <p:cNvPr id="117" name="Text 115"/>
          <p:cNvSpPr txBox="1"/>
          <p:nvPr/>
        </p:nvSpPr>
        <p:spPr>
          <a:xfrm>
            <a:off x="5059328" y="4990343"/>
            <a:ext cx="90256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118" name="Text 116"/>
          <p:cNvSpPr txBox="1"/>
          <p:nvPr/>
        </p:nvSpPr>
        <p:spPr>
          <a:xfrm>
            <a:off x="658368"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19" name="Shape 117"/>
          <p:cNvSpPr/>
          <p:nvPr/>
        </p:nvSpPr>
        <p:spPr>
          <a:xfrm>
            <a:off x="2807208" y="5231315"/>
            <a:ext cx="1807555" cy="183138"/>
          </a:xfrm>
          <a:prstGeom prst="rect">
            <a:avLst/>
          </a:prstGeom>
          <a:solidFill>
            <a:srgbClr val="2587C5"/>
          </a:solidFill>
          <a:ln w="6350">
            <a:solidFill>
              <a:srgbClr val="FFFFFF"/>
            </a:solidFill>
            <a:prstDash val="solid"/>
          </a:ln>
        </p:spPr>
      </p:sp>
      <p:sp>
        <p:nvSpPr>
          <p:cNvPr id="120" name="Text 118"/>
          <p:cNvSpPr txBox="1"/>
          <p:nvPr/>
        </p:nvSpPr>
        <p:spPr>
          <a:xfrm>
            <a:off x="2807208" y="5231315"/>
            <a:ext cx="180755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21" name="Shape 119"/>
          <p:cNvSpPr/>
          <p:nvPr/>
        </p:nvSpPr>
        <p:spPr>
          <a:xfrm>
            <a:off x="4614763" y="5231315"/>
            <a:ext cx="466810" cy="183138"/>
          </a:xfrm>
          <a:prstGeom prst="rect">
            <a:avLst/>
          </a:prstGeom>
          <a:solidFill>
            <a:srgbClr val="8FBEE6"/>
          </a:solidFill>
          <a:ln w="6350">
            <a:solidFill>
              <a:srgbClr val="FFFFFF"/>
            </a:solidFill>
            <a:prstDash val="solid"/>
          </a:ln>
        </p:spPr>
      </p:sp>
      <p:sp>
        <p:nvSpPr>
          <p:cNvPr id="122" name="Text 120"/>
          <p:cNvSpPr txBox="1"/>
          <p:nvPr/>
        </p:nvSpPr>
        <p:spPr>
          <a:xfrm>
            <a:off x="4614763" y="5231315"/>
            <a:ext cx="46681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15</a:t>
            </a:r>
            <a:endParaRPr lang="en-US" sz="1300" dirty="0"/>
          </a:p>
        </p:txBody>
      </p:sp>
      <p:sp>
        <p:nvSpPr>
          <p:cNvPr id="123" name="Shape 121"/>
          <p:cNvSpPr/>
          <p:nvPr/>
        </p:nvSpPr>
        <p:spPr>
          <a:xfrm>
            <a:off x="5081573" y="5231315"/>
            <a:ext cx="880315" cy="183138"/>
          </a:xfrm>
          <a:prstGeom prst="rect">
            <a:avLst/>
          </a:prstGeom>
          <a:solidFill>
            <a:srgbClr val="D9D9D9"/>
          </a:solidFill>
          <a:ln w="6350">
            <a:solidFill>
              <a:srgbClr val="FFFFFF"/>
            </a:solidFill>
            <a:prstDash val="solid"/>
          </a:ln>
        </p:spPr>
      </p:sp>
      <p:sp>
        <p:nvSpPr>
          <p:cNvPr id="124" name="Text 122"/>
          <p:cNvSpPr txBox="1"/>
          <p:nvPr/>
        </p:nvSpPr>
        <p:spPr>
          <a:xfrm>
            <a:off x="5081573" y="5231315"/>
            <a:ext cx="88031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28</a:t>
            </a:r>
            <a:endParaRPr lang="en-US" sz="1300" dirty="0"/>
          </a:p>
        </p:txBody>
      </p:sp>
      <p:sp>
        <p:nvSpPr>
          <p:cNvPr id="125" name="Text 123"/>
          <p:cNvSpPr txBox="1"/>
          <p:nvPr/>
        </p:nvSpPr>
        <p:spPr>
          <a:xfrm>
            <a:off x="658368"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26" name="Shape 124"/>
          <p:cNvSpPr/>
          <p:nvPr/>
        </p:nvSpPr>
        <p:spPr>
          <a:xfrm>
            <a:off x="2807208" y="5472286"/>
            <a:ext cx="1784948" cy="183138"/>
          </a:xfrm>
          <a:prstGeom prst="rect">
            <a:avLst/>
          </a:prstGeom>
          <a:solidFill>
            <a:srgbClr val="2587C5"/>
          </a:solidFill>
          <a:ln w="6350">
            <a:solidFill>
              <a:srgbClr val="FFFFFF"/>
            </a:solidFill>
            <a:prstDash val="solid"/>
          </a:ln>
        </p:spPr>
      </p:sp>
      <p:sp>
        <p:nvSpPr>
          <p:cNvPr id="127" name="Text 125"/>
          <p:cNvSpPr txBox="1"/>
          <p:nvPr/>
        </p:nvSpPr>
        <p:spPr>
          <a:xfrm>
            <a:off x="2807208" y="5472286"/>
            <a:ext cx="178494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28" name="Shape 126"/>
          <p:cNvSpPr/>
          <p:nvPr/>
        </p:nvSpPr>
        <p:spPr>
          <a:xfrm>
            <a:off x="4592156" y="5472286"/>
            <a:ext cx="390376" cy="183138"/>
          </a:xfrm>
          <a:prstGeom prst="rect">
            <a:avLst/>
          </a:prstGeom>
          <a:solidFill>
            <a:srgbClr val="8FBEE6"/>
          </a:solidFill>
          <a:ln w="6350">
            <a:solidFill>
              <a:srgbClr val="FFFFFF"/>
            </a:solidFill>
            <a:prstDash val="solid"/>
          </a:ln>
        </p:spPr>
      </p:sp>
      <p:sp>
        <p:nvSpPr>
          <p:cNvPr id="129" name="Text 127"/>
          <p:cNvSpPr txBox="1"/>
          <p:nvPr/>
        </p:nvSpPr>
        <p:spPr>
          <a:xfrm>
            <a:off x="4592156" y="5472286"/>
            <a:ext cx="39037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12</a:t>
            </a:r>
            <a:endParaRPr lang="en-US" sz="1300" dirty="0"/>
          </a:p>
        </p:txBody>
      </p:sp>
      <p:sp>
        <p:nvSpPr>
          <p:cNvPr id="130" name="Shape 128"/>
          <p:cNvSpPr/>
          <p:nvPr/>
        </p:nvSpPr>
        <p:spPr>
          <a:xfrm>
            <a:off x="4982532" y="5472286"/>
            <a:ext cx="979356" cy="183138"/>
          </a:xfrm>
          <a:prstGeom prst="rect">
            <a:avLst/>
          </a:prstGeom>
          <a:solidFill>
            <a:srgbClr val="D9D9D9"/>
          </a:solidFill>
          <a:ln w="6350">
            <a:solidFill>
              <a:srgbClr val="FFFFFF"/>
            </a:solidFill>
            <a:prstDash val="solid"/>
          </a:ln>
        </p:spPr>
      </p:sp>
      <p:sp>
        <p:nvSpPr>
          <p:cNvPr id="131" name="Text 129"/>
          <p:cNvSpPr txBox="1"/>
          <p:nvPr/>
        </p:nvSpPr>
        <p:spPr>
          <a:xfrm>
            <a:off x="4982532" y="5472286"/>
            <a:ext cx="97935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31</a:t>
            </a:r>
            <a:endParaRPr lang="en-US" sz="1300" dirty="0"/>
          </a:p>
        </p:txBody>
      </p:sp>
      <p:sp>
        <p:nvSpPr>
          <p:cNvPr id="132" name="Text 130"/>
          <p:cNvSpPr txBox="1"/>
          <p:nvPr/>
        </p:nvSpPr>
        <p:spPr>
          <a:xfrm>
            <a:off x="658368" y="568434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33" name="Shape 131"/>
          <p:cNvSpPr/>
          <p:nvPr/>
        </p:nvSpPr>
        <p:spPr>
          <a:xfrm>
            <a:off x="2807208" y="5713257"/>
            <a:ext cx="1784687" cy="183138"/>
          </a:xfrm>
          <a:prstGeom prst="rect">
            <a:avLst/>
          </a:prstGeom>
          <a:solidFill>
            <a:srgbClr val="2587C5"/>
          </a:solidFill>
          <a:ln w="6350">
            <a:solidFill>
              <a:srgbClr val="FFFFFF"/>
            </a:solidFill>
            <a:prstDash val="solid"/>
          </a:ln>
        </p:spPr>
      </p:sp>
      <p:sp>
        <p:nvSpPr>
          <p:cNvPr id="134" name="Text 132"/>
          <p:cNvSpPr txBox="1"/>
          <p:nvPr/>
        </p:nvSpPr>
        <p:spPr>
          <a:xfrm>
            <a:off x="2807208" y="5713257"/>
            <a:ext cx="178468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35" name="Shape 133"/>
          <p:cNvSpPr/>
          <p:nvPr/>
        </p:nvSpPr>
        <p:spPr>
          <a:xfrm>
            <a:off x="4591895" y="5713257"/>
            <a:ext cx="320373" cy="183138"/>
          </a:xfrm>
          <a:prstGeom prst="rect">
            <a:avLst/>
          </a:prstGeom>
          <a:solidFill>
            <a:srgbClr val="8FBEE6"/>
          </a:solidFill>
          <a:ln w="6350">
            <a:solidFill>
              <a:srgbClr val="FFFFFF"/>
            </a:solidFill>
            <a:prstDash val="solid"/>
          </a:ln>
        </p:spPr>
      </p:sp>
      <p:sp>
        <p:nvSpPr>
          <p:cNvPr id="136" name="Text 134"/>
          <p:cNvSpPr txBox="1"/>
          <p:nvPr/>
        </p:nvSpPr>
        <p:spPr>
          <a:xfrm>
            <a:off x="4591895" y="5713257"/>
            <a:ext cx="32037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10</a:t>
            </a:r>
            <a:endParaRPr lang="en-US" sz="1300" dirty="0"/>
          </a:p>
        </p:txBody>
      </p:sp>
      <p:sp>
        <p:nvSpPr>
          <p:cNvPr id="137" name="Shape 135"/>
          <p:cNvSpPr/>
          <p:nvPr/>
        </p:nvSpPr>
        <p:spPr>
          <a:xfrm>
            <a:off x="4912268" y="5713257"/>
            <a:ext cx="1049620" cy="183138"/>
          </a:xfrm>
          <a:prstGeom prst="rect">
            <a:avLst/>
          </a:prstGeom>
          <a:solidFill>
            <a:srgbClr val="D9D9D9"/>
          </a:solidFill>
          <a:ln w="6350">
            <a:solidFill>
              <a:srgbClr val="FFFFFF"/>
            </a:solidFill>
            <a:prstDash val="solid"/>
          </a:ln>
        </p:spPr>
      </p:sp>
      <p:sp>
        <p:nvSpPr>
          <p:cNvPr id="138" name="Text 136"/>
          <p:cNvSpPr txBox="1"/>
          <p:nvPr/>
        </p:nvSpPr>
        <p:spPr>
          <a:xfrm>
            <a:off x="4912268" y="5713257"/>
            <a:ext cx="104962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33</a:t>
            </a:r>
            <a:endParaRPr lang="en-US" sz="1300" dirty="0"/>
          </a:p>
        </p:txBody>
      </p:sp>
      <p:sp>
        <p:nvSpPr>
          <p:cNvPr id="139" name="Text 137"/>
          <p:cNvSpPr txBox="1"/>
          <p:nvPr/>
        </p:nvSpPr>
        <p:spPr>
          <a:xfrm>
            <a:off x="6208776"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40" name="Shape 138"/>
          <p:cNvSpPr/>
          <p:nvPr/>
        </p:nvSpPr>
        <p:spPr>
          <a:xfrm>
            <a:off x="8357616" y="1857717"/>
            <a:ext cx="1759183" cy="183138"/>
          </a:xfrm>
          <a:prstGeom prst="rect">
            <a:avLst/>
          </a:prstGeom>
          <a:solidFill>
            <a:srgbClr val="2587C5"/>
          </a:solidFill>
          <a:ln w="6350">
            <a:solidFill>
              <a:srgbClr val="FFFFFF"/>
            </a:solidFill>
            <a:prstDash val="solid"/>
          </a:ln>
        </p:spPr>
      </p:sp>
      <p:sp>
        <p:nvSpPr>
          <p:cNvPr id="141" name="Text 139"/>
          <p:cNvSpPr txBox="1"/>
          <p:nvPr/>
        </p:nvSpPr>
        <p:spPr>
          <a:xfrm>
            <a:off x="8357616" y="1857717"/>
            <a:ext cx="175918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56</a:t>
            </a:r>
            <a:endParaRPr lang="en-US" sz="1300" dirty="0"/>
          </a:p>
        </p:txBody>
      </p:sp>
      <p:sp>
        <p:nvSpPr>
          <p:cNvPr id="142" name="Shape 140"/>
          <p:cNvSpPr/>
          <p:nvPr/>
        </p:nvSpPr>
        <p:spPr>
          <a:xfrm>
            <a:off x="10116799" y="1857717"/>
            <a:ext cx="978643" cy="183138"/>
          </a:xfrm>
          <a:prstGeom prst="rect">
            <a:avLst/>
          </a:prstGeom>
          <a:solidFill>
            <a:srgbClr val="8FBEE6"/>
          </a:solidFill>
          <a:ln w="6350">
            <a:solidFill>
              <a:srgbClr val="FFFFFF"/>
            </a:solidFill>
            <a:prstDash val="solid"/>
          </a:ln>
        </p:spPr>
      </p:sp>
      <p:sp>
        <p:nvSpPr>
          <p:cNvPr id="143" name="Text 141"/>
          <p:cNvSpPr txBox="1"/>
          <p:nvPr/>
        </p:nvSpPr>
        <p:spPr>
          <a:xfrm>
            <a:off x="10116799" y="1857717"/>
            <a:ext cx="97864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31</a:t>
            </a:r>
            <a:endParaRPr lang="en-US" sz="1300" dirty="0"/>
          </a:p>
        </p:txBody>
      </p:sp>
      <p:sp>
        <p:nvSpPr>
          <p:cNvPr id="144" name="Shape 142"/>
          <p:cNvSpPr/>
          <p:nvPr/>
        </p:nvSpPr>
        <p:spPr>
          <a:xfrm>
            <a:off x="11095442" y="1857717"/>
            <a:ext cx="416854" cy="183138"/>
          </a:xfrm>
          <a:prstGeom prst="rect">
            <a:avLst/>
          </a:prstGeom>
          <a:solidFill>
            <a:srgbClr val="D9D9D9"/>
          </a:solidFill>
          <a:ln w="6350">
            <a:solidFill>
              <a:srgbClr val="FFFFFF"/>
            </a:solidFill>
            <a:prstDash val="solid"/>
          </a:ln>
        </p:spPr>
      </p:sp>
      <p:sp>
        <p:nvSpPr>
          <p:cNvPr id="145" name="Text 143"/>
          <p:cNvSpPr txBox="1"/>
          <p:nvPr/>
        </p:nvSpPr>
        <p:spPr>
          <a:xfrm>
            <a:off x="11095442" y="1857717"/>
            <a:ext cx="41685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13</a:t>
            </a:r>
            <a:endParaRPr lang="en-US" sz="1300" dirty="0"/>
          </a:p>
        </p:txBody>
      </p:sp>
      <p:sp>
        <p:nvSpPr>
          <p:cNvPr id="146" name="Text 144"/>
          <p:cNvSpPr txBox="1"/>
          <p:nvPr/>
        </p:nvSpPr>
        <p:spPr>
          <a:xfrm>
            <a:off x="6208776"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47" name="Shape 145"/>
          <p:cNvSpPr/>
          <p:nvPr/>
        </p:nvSpPr>
        <p:spPr>
          <a:xfrm>
            <a:off x="8357616" y="2098688"/>
            <a:ext cx="1743709" cy="183138"/>
          </a:xfrm>
          <a:prstGeom prst="rect">
            <a:avLst/>
          </a:prstGeom>
          <a:solidFill>
            <a:srgbClr val="2587C5"/>
          </a:solidFill>
          <a:ln w="6350">
            <a:solidFill>
              <a:srgbClr val="FFFFFF"/>
            </a:solidFill>
            <a:prstDash val="solid"/>
          </a:ln>
        </p:spPr>
      </p:sp>
      <p:sp>
        <p:nvSpPr>
          <p:cNvPr id="148" name="Text 146"/>
          <p:cNvSpPr txBox="1"/>
          <p:nvPr/>
        </p:nvSpPr>
        <p:spPr>
          <a:xfrm>
            <a:off x="8357616" y="2098688"/>
            <a:ext cx="174370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49" name="Shape 147"/>
          <p:cNvSpPr/>
          <p:nvPr/>
        </p:nvSpPr>
        <p:spPr>
          <a:xfrm>
            <a:off x="10101325" y="2098688"/>
            <a:ext cx="638330" cy="183138"/>
          </a:xfrm>
          <a:prstGeom prst="rect">
            <a:avLst/>
          </a:prstGeom>
          <a:solidFill>
            <a:srgbClr val="8FBEE6"/>
          </a:solidFill>
          <a:ln w="6350">
            <a:solidFill>
              <a:srgbClr val="FFFFFF"/>
            </a:solidFill>
            <a:prstDash val="solid"/>
          </a:ln>
        </p:spPr>
      </p:sp>
      <p:sp>
        <p:nvSpPr>
          <p:cNvPr id="150" name="Text 148"/>
          <p:cNvSpPr txBox="1"/>
          <p:nvPr/>
        </p:nvSpPr>
        <p:spPr>
          <a:xfrm>
            <a:off x="10101325" y="2098688"/>
            <a:ext cx="63833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20</a:t>
            </a:r>
            <a:endParaRPr lang="en-US" sz="1300" dirty="0"/>
          </a:p>
        </p:txBody>
      </p:sp>
      <p:sp>
        <p:nvSpPr>
          <p:cNvPr id="151" name="Shape 149"/>
          <p:cNvSpPr/>
          <p:nvPr/>
        </p:nvSpPr>
        <p:spPr>
          <a:xfrm>
            <a:off x="10739655" y="2098688"/>
            <a:ext cx="772641" cy="183138"/>
          </a:xfrm>
          <a:prstGeom prst="rect">
            <a:avLst/>
          </a:prstGeom>
          <a:solidFill>
            <a:srgbClr val="D9D9D9"/>
          </a:solidFill>
          <a:ln w="6350">
            <a:solidFill>
              <a:srgbClr val="FFFFFF"/>
            </a:solidFill>
            <a:prstDash val="solid"/>
          </a:ln>
        </p:spPr>
      </p:sp>
      <p:sp>
        <p:nvSpPr>
          <p:cNvPr id="152" name="Text 150"/>
          <p:cNvSpPr txBox="1"/>
          <p:nvPr/>
        </p:nvSpPr>
        <p:spPr>
          <a:xfrm>
            <a:off x="10739655" y="2098688"/>
            <a:ext cx="77264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153" name="Text 151"/>
          <p:cNvSpPr txBox="1"/>
          <p:nvPr/>
        </p:nvSpPr>
        <p:spPr>
          <a:xfrm>
            <a:off x="6208776"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54" name="Shape 152"/>
          <p:cNvSpPr/>
          <p:nvPr/>
        </p:nvSpPr>
        <p:spPr>
          <a:xfrm>
            <a:off x="8357616" y="2339659"/>
            <a:ext cx="1719908" cy="183138"/>
          </a:xfrm>
          <a:prstGeom prst="rect">
            <a:avLst/>
          </a:prstGeom>
          <a:solidFill>
            <a:srgbClr val="2587C5"/>
          </a:solidFill>
          <a:ln w="6350">
            <a:solidFill>
              <a:srgbClr val="FFFFFF"/>
            </a:solidFill>
            <a:prstDash val="solid"/>
          </a:ln>
        </p:spPr>
      </p:sp>
      <p:sp>
        <p:nvSpPr>
          <p:cNvPr id="155" name="Text 153"/>
          <p:cNvSpPr txBox="1"/>
          <p:nvPr/>
        </p:nvSpPr>
        <p:spPr>
          <a:xfrm>
            <a:off x="8357616" y="2339659"/>
            <a:ext cx="17199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56" name="Shape 154"/>
          <p:cNvSpPr/>
          <p:nvPr/>
        </p:nvSpPr>
        <p:spPr>
          <a:xfrm>
            <a:off x="10077524" y="2339659"/>
            <a:ext cx="412555" cy="183138"/>
          </a:xfrm>
          <a:prstGeom prst="rect">
            <a:avLst/>
          </a:prstGeom>
          <a:solidFill>
            <a:srgbClr val="8FBEE6"/>
          </a:solidFill>
          <a:ln w="6350">
            <a:solidFill>
              <a:srgbClr val="FFFFFF"/>
            </a:solidFill>
            <a:prstDash val="solid"/>
          </a:ln>
        </p:spPr>
      </p:sp>
      <p:sp>
        <p:nvSpPr>
          <p:cNvPr id="157" name="Text 155"/>
          <p:cNvSpPr txBox="1"/>
          <p:nvPr/>
        </p:nvSpPr>
        <p:spPr>
          <a:xfrm>
            <a:off x="10077524" y="2339659"/>
            <a:ext cx="41255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13</a:t>
            </a:r>
            <a:endParaRPr lang="en-US" sz="1300" dirty="0"/>
          </a:p>
        </p:txBody>
      </p:sp>
      <p:sp>
        <p:nvSpPr>
          <p:cNvPr id="158" name="Shape 156"/>
          <p:cNvSpPr/>
          <p:nvPr/>
        </p:nvSpPr>
        <p:spPr>
          <a:xfrm>
            <a:off x="10490079" y="2339659"/>
            <a:ext cx="1022217" cy="183138"/>
          </a:xfrm>
          <a:prstGeom prst="rect">
            <a:avLst/>
          </a:prstGeom>
          <a:solidFill>
            <a:srgbClr val="D9D9D9"/>
          </a:solidFill>
          <a:ln w="6350">
            <a:solidFill>
              <a:srgbClr val="FFFFFF"/>
            </a:solidFill>
            <a:prstDash val="solid"/>
          </a:ln>
        </p:spPr>
      </p:sp>
      <p:sp>
        <p:nvSpPr>
          <p:cNvPr id="159" name="Text 157"/>
          <p:cNvSpPr txBox="1"/>
          <p:nvPr/>
        </p:nvSpPr>
        <p:spPr>
          <a:xfrm>
            <a:off x="10490079" y="2339659"/>
            <a:ext cx="102221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32</a:t>
            </a:r>
            <a:endParaRPr lang="en-US" sz="1300" dirty="0"/>
          </a:p>
        </p:txBody>
      </p:sp>
      <p:sp>
        <p:nvSpPr>
          <p:cNvPr id="160" name="Text 158"/>
          <p:cNvSpPr txBox="1"/>
          <p:nvPr/>
        </p:nvSpPr>
        <p:spPr>
          <a:xfrm>
            <a:off x="6208776"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61" name="Shape 159"/>
          <p:cNvSpPr/>
          <p:nvPr/>
        </p:nvSpPr>
        <p:spPr>
          <a:xfrm>
            <a:off x="8357616" y="2580630"/>
            <a:ext cx="1601041" cy="183138"/>
          </a:xfrm>
          <a:prstGeom prst="rect">
            <a:avLst/>
          </a:prstGeom>
          <a:solidFill>
            <a:srgbClr val="2587C5"/>
          </a:solidFill>
          <a:ln w="6350">
            <a:solidFill>
              <a:srgbClr val="FFFFFF"/>
            </a:solidFill>
            <a:prstDash val="solid"/>
          </a:ln>
        </p:spPr>
      </p:sp>
      <p:sp>
        <p:nvSpPr>
          <p:cNvPr id="162" name="Text 160"/>
          <p:cNvSpPr txBox="1"/>
          <p:nvPr/>
        </p:nvSpPr>
        <p:spPr>
          <a:xfrm>
            <a:off x="8357616" y="2580630"/>
            <a:ext cx="160104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51</a:t>
            </a:r>
            <a:endParaRPr lang="en-US" sz="1300" dirty="0"/>
          </a:p>
        </p:txBody>
      </p:sp>
      <p:sp>
        <p:nvSpPr>
          <p:cNvPr id="163" name="Shape 161"/>
          <p:cNvSpPr/>
          <p:nvPr/>
        </p:nvSpPr>
        <p:spPr>
          <a:xfrm>
            <a:off x="9958657" y="2580630"/>
            <a:ext cx="606875" cy="183138"/>
          </a:xfrm>
          <a:prstGeom prst="rect">
            <a:avLst/>
          </a:prstGeom>
          <a:solidFill>
            <a:srgbClr val="8FBEE6"/>
          </a:solidFill>
          <a:ln w="6350">
            <a:solidFill>
              <a:srgbClr val="FFFFFF"/>
            </a:solidFill>
            <a:prstDash val="solid"/>
          </a:ln>
        </p:spPr>
      </p:sp>
      <p:sp>
        <p:nvSpPr>
          <p:cNvPr id="164" name="Text 162"/>
          <p:cNvSpPr txBox="1"/>
          <p:nvPr/>
        </p:nvSpPr>
        <p:spPr>
          <a:xfrm>
            <a:off x="9958657" y="2580630"/>
            <a:ext cx="60687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19</a:t>
            </a:r>
            <a:endParaRPr lang="en-US" sz="1300" dirty="0"/>
          </a:p>
        </p:txBody>
      </p:sp>
      <p:sp>
        <p:nvSpPr>
          <p:cNvPr id="165" name="Shape 163"/>
          <p:cNvSpPr/>
          <p:nvPr/>
        </p:nvSpPr>
        <p:spPr>
          <a:xfrm>
            <a:off x="10565532" y="2580630"/>
            <a:ext cx="946764" cy="183138"/>
          </a:xfrm>
          <a:prstGeom prst="rect">
            <a:avLst/>
          </a:prstGeom>
          <a:solidFill>
            <a:srgbClr val="D9D9D9"/>
          </a:solidFill>
          <a:ln w="6350">
            <a:solidFill>
              <a:srgbClr val="FFFFFF"/>
            </a:solidFill>
            <a:prstDash val="solid"/>
          </a:ln>
        </p:spPr>
      </p:sp>
      <p:sp>
        <p:nvSpPr>
          <p:cNvPr id="166" name="Text 164"/>
          <p:cNvSpPr txBox="1"/>
          <p:nvPr/>
        </p:nvSpPr>
        <p:spPr>
          <a:xfrm>
            <a:off x="10565532" y="2580630"/>
            <a:ext cx="94676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30</a:t>
            </a:r>
            <a:endParaRPr lang="en-US" sz="1300" dirty="0"/>
          </a:p>
        </p:txBody>
      </p:sp>
      <p:sp>
        <p:nvSpPr>
          <p:cNvPr id="167" name="Text 165"/>
          <p:cNvSpPr txBox="1"/>
          <p:nvPr/>
        </p:nvSpPr>
        <p:spPr>
          <a:xfrm>
            <a:off x="6208776"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68" name="Shape 166"/>
          <p:cNvSpPr/>
          <p:nvPr/>
        </p:nvSpPr>
        <p:spPr>
          <a:xfrm>
            <a:off x="8357616" y="2821602"/>
            <a:ext cx="1536222" cy="183138"/>
          </a:xfrm>
          <a:prstGeom prst="rect">
            <a:avLst/>
          </a:prstGeom>
          <a:solidFill>
            <a:srgbClr val="2587C5"/>
          </a:solidFill>
          <a:ln w="6350">
            <a:solidFill>
              <a:srgbClr val="FFFFFF"/>
            </a:solidFill>
            <a:prstDash val="solid"/>
          </a:ln>
        </p:spPr>
      </p:sp>
      <p:sp>
        <p:nvSpPr>
          <p:cNvPr id="169" name="Text 167"/>
          <p:cNvSpPr txBox="1"/>
          <p:nvPr/>
        </p:nvSpPr>
        <p:spPr>
          <a:xfrm>
            <a:off x="8357616" y="2821602"/>
            <a:ext cx="153622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49</a:t>
            </a:r>
            <a:endParaRPr lang="en-US" sz="1300" dirty="0"/>
          </a:p>
        </p:txBody>
      </p:sp>
      <p:sp>
        <p:nvSpPr>
          <p:cNvPr id="170" name="Shape 168"/>
          <p:cNvSpPr/>
          <p:nvPr/>
        </p:nvSpPr>
        <p:spPr>
          <a:xfrm>
            <a:off x="9893838" y="2821602"/>
            <a:ext cx="488153" cy="183138"/>
          </a:xfrm>
          <a:prstGeom prst="rect">
            <a:avLst/>
          </a:prstGeom>
          <a:solidFill>
            <a:srgbClr val="8FBEE6"/>
          </a:solidFill>
          <a:ln w="6350">
            <a:solidFill>
              <a:srgbClr val="FFFFFF"/>
            </a:solidFill>
            <a:prstDash val="solid"/>
          </a:ln>
        </p:spPr>
      </p:sp>
      <p:sp>
        <p:nvSpPr>
          <p:cNvPr id="171" name="Text 169"/>
          <p:cNvSpPr txBox="1"/>
          <p:nvPr/>
        </p:nvSpPr>
        <p:spPr>
          <a:xfrm>
            <a:off x="9893838" y="2821602"/>
            <a:ext cx="48815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15</a:t>
            </a:r>
            <a:endParaRPr lang="en-US" sz="1300" dirty="0"/>
          </a:p>
        </p:txBody>
      </p:sp>
      <p:sp>
        <p:nvSpPr>
          <p:cNvPr id="172" name="Shape 170"/>
          <p:cNvSpPr/>
          <p:nvPr/>
        </p:nvSpPr>
        <p:spPr>
          <a:xfrm>
            <a:off x="10381990" y="2821602"/>
            <a:ext cx="1130306" cy="183138"/>
          </a:xfrm>
          <a:prstGeom prst="rect">
            <a:avLst/>
          </a:prstGeom>
          <a:solidFill>
            <a:srgbClr val="D9D9D9"/>
          </a:solidFill>
          <a:ln w="6350">
            <a:solidFill>
              <a:srgbClr val="FFFFFF"/>
            </a:solidFill>
            <a:prstDash val="solid"/>
          </a:ln>
        </p:spPr>
      </p:sp>
      <p:sp>
        <p:nvSpPr>
          <p:cNvPr id="173" name="Text 171"/>
          <p:cNvSpPr txBox="1"/>
          <p:nvPr/>
        </p:nvSpPr>
        <p:spPr>
          <a:xfrm>
            <a:off x="10381990" y="2821602"/>
            <a:ext cx="113030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36</a:t>
            </a:r>
            <a:endParaRPr lang="en-US" sz="1300" dirty="0"/>
          </a:p>
        </p:txBody>
      </p:sp>
      <p:sp>
        <p:nvSpPr>
          <p:cNvPr id="174" name="Text 172"/>
          <p:cNvSpPr txBox="1"/>
          <p:nvPr/>
        </p:nvSpPr>
        <p:spPr>
          <a:xfrm>
            <a:off x="6208776"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75" name="Shape 173"/>
          <p:cNvSpPr/>
          <p:nvPr/>
        </p:nvSpPr>
        <p:spPr>
          <a:xfrm>
            <a:off x="8357616" y="3062573"/>
            <a:ext cx="1513638" cy="183138"/>
          </a:xfrm>
          <a:prstGeom prst="rect">
            <a:avLst/>
          </a:prstGeom>
          <a:solidFill>
            <a:srgbClr val="2587C5"/>
          </a:solidFill>
          <a:ln w="6350">
            <a:solidFill>
              <a:srgbClr val="FFFFFF"/>
            </a:solidFill>
            <a:prstDash val="solid"/>
          </a:ln>
        </p:spPr>
      </p:sp>
      <p:sp>
        <p:nvSpPr>
          <p:cNvPr id="176" name="Text 174"/>
          <p:cNvSpPr txBox="1"/>
          <p:nvPr/>
        </p:nvSpPr>
        <p:spPr>
          <a:xfrm>
            <a:off x="8357616" y="3062573"/>
            <a:ext cx="151363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48</a:t>
            </a:r>
            <a:endParaRPr lang="en-US" sz="1300" dirty="0"/>
          </a:p>
        </p:txBody>
      </p:sp>
      <p:sp>
        <p:nvSpPr>
          <p:cNvPr id="177" name="Shape 175"/>
          <p:cNvSpPr/>
          <p:nvPr/>
        </p:nvSpPr>
        <p:spPr>
          <a:xfrm>
            <a:off x="9871254" y="3062573"/>
            <a:ext cx="727538" cy="183138"/>
          </a:xfrm>
          <a:prstGeom prst="rect">
            <a:avLst/>
          </a:prstGeom>
          <a:solidFill>
            <a:srgbClr val="8FBEE6"/>
          </a:solidFill>
          <a:ln w="6350">
            <a:solidFill>
              <a:srgbClr val="FFFFFF"/>
            </a:solidFill>
            <a:prstDash val="solid"/>
          </a:ln>
        </p:spPr>
      </p:sp>
      <p:sp>
        <p:nvSpPr>
          <p:cNvPr id="178" name="Text 176"/>
          <p:cNvSpPr txBox="1"/>
          <p:nvPr/>
        </p:nvSpPr>
        <p:spPr>
          <a:xfrm>
            <a:off x="9871254" y="3062573"/>
            <a:ext cx="72753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179" name="Shape 177"/>
          <p:cNvSpPr/>
          <p:nvPr/>
        </p:nvSpPr>
        <p:spPr>
          <a:xfrm>
            <a:off x="10598793" y="3062573"/>
            <a:ext cx="913503" cy="183138"/>
          </a:xfrm>
          <a:prstGeom prst="rect">
            <a:avLst/>
          </a:prstGeom>
          <a:solidFill>
            <a:srgbClr val="D9D9D9"/>
          </a:solidFill>
          <a:ln w="6350">
            <a:solidFill>
              <a:srgbClr val="FFFFFF"/>
            </a:solidFill>
            <a:prstDash val="solid"/>
          </a:ln>
        </p:spPr>
      </p:sp>
      <p:sp>
        <p:nvSpPr>
          <p:cNvPr id="180" name="Text 178"/>
          <p:cNvSpPr txBox="1"/>
          <p:nvPr/>
        </p:nvSpPr>
        <p:spPr>
          <a:xfrm>
            <a:off x="10598793" y="3062573"/>
            <a:ext cx="91350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181" name="Text 179"/>
          <p:cNvSpPr txBox="1"/>
          <p:nvPr/>
        </p:nvSpPr>
        <p:spPr>
          <a:xfrm>
            <a:off x="6208776"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82" name="Shape 180"/>
          <p:cNvSpPr/>
          <p:nvPr/>
        </p:nvSpPr>
        <p:spPr>
          <a:xfrm>
            <a:off x="8357616" y="3303544"/>
            <a:ext cx="1487709" cy="183138"/>
          </a:xfrm>
          <a:prstGeom prst="rect">
            <a:avLst/>
          </a:prstGeom>
          <a:solidFill>
            <a:srgbClr val="2587C5"/>
          </a:solidFill>
          <a:ln w="6350">
            <a:solidFill>
              <a:srgbClr val="FFFFFF"/>
            </a:solidFill>
            <a:prstDash val="solid"/>
          </a:ln>
        </p:spPr>
      </p:sp>
      <p:sp>
        <p:nvSpPr>
          <p:cNvPr id="183" name="Text 181"/>
          <p:cNvSpPr txBox="1"/>
          <p:nvPr/>
        </p:nvSpPr>
        <p:spPr>
          <a:xfrm>
            <a:off x="8357616" y="3303544"/>
            <a:ext cx="148770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47</a:t>
            </a:r>
            <a:endParaRPr lang="en-US" sz="1300" dirty="0"/>
          </a:p>
        </p:txBody>
      </p:sp>
      <p:sp>
        <p:nvSpPr>
          <p:cNvPr id="184" name="Shape 182"/>
          <p:cNvSpPr/>
          <p:nvPr/>
        </p:nvSpPr>
        <p:spPr>
          <a:xfrm>
            <a:off x="9845325" y="3303544"/>
            <a:ext cx="1263575" cy="183138"/>
          </a:xfrm>
          <a:prstGeom prst="rect">
            <a:avLst/>
          </a:prstGeom>
          <a:solidFill>
            <a:srgbClr val="8FBEE6"/>
          </a:solidFill>
          <a:ln w="6350">
            <a:solidFill>
              <a:srgbClr val="FFFFFF"/>
            </a:solidFill>
            <a:prstDash val="solid"/>
          </a:ln>
        </p:spPr>
      </p:sp>
      <p:sp>
        <p:nvSpPr>
          <p:cNvPr id="185" name="Text 183"/>
          <p:cNvSpPr txBox="1"/>
          <p:nvPr/>
        </p:nvSpPr>
        <p:spPr>
          <a:xfrm>
            <a:off x="9845325" y="3303544"/>
            <a:ext cx="126357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40</a:t>
            </a:r>
            <a:endParaRPr lang="en-US" sz="1300" dirty="0"/>
          </a:p>
        </p:txBody>
      </p:sp>
      <p:sp>
        <p:nvSpPr>
          <p:cNvPr id="186" name="Shape 184"/>
          <p:cNvSpPr/>
          <p:nvPr/>
        </p:nvSpPr>
        <p:spPr>
          <a:xfrm>
            <a:off x="11108900" y="3303544"/>
            <a:ext cx="403396" cy="183138"/>
          </a:xfrm>
          <a:prstGeom prst="rect">
            <a:avLst/>
          </a:prstGeom>
          <a:solidFill>
            <a:srgbClr val="D9D9D9"/>
          </a:solidFill>
          <a:ln w="6350">
            <a:solidFill>
              <a:srgbClr val="FFFFFF"/>
            </a:solidFill>
            <a:prstDash val="solid"/>
          </a:ln>
        </p:spPr>
      </p:sp>
      <p:sp>
        <p:nvSpPr>
          <p:cNvPr id="187" name="Text 185"/>
          <p:cNvSpPr txBox="1"/>
          <p:nvPr/>
        </p:nvSpPr>
        <p:spPr>
          <a:xfrm>
            <a:off x="11108900" y="3303544"/>
            <a:ext cx="40339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13</a:t>
            </a:r>
            <a:endParaRPr lang="en-US" sz="1300" dirty="0"/>
          </a:p>
        </p:txBody>
      </p:sp>
      <p:sp>
        <p:nvSpPr>
          <p:cNvPr id="188" name="Text 186"/>
          <p:cNvSpPr txBox="1"/>
          <p:nvPr/>
        </p:nvSpPr>
        <p:spPr>
          <a:xfrm>
            <a:off x="6208776"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89" name="Shape 187"/>
          <p:cNvSpPr/>
          <p:nvPr/>
        </p:nvSpPr>
        <p:spPr>
          <a:xfrm>
            <a:off x="8357616" y="3544516"/>
            <a:ext cx="1483116" cy="183138"/>
          </a:xfrm>
          <a:prstGeom prst="rect">
            <a:avLst/>
          </a:prstGeom>
          <a:solidFill>
            <a:srgbClr val="2587C5"/>
          </a:solidFill>
          <a:ln w="6350">
            <a:solidFill>
              <a:srgbClr val="FFFFFF"/>
            </a:solidFill>
            <a:prstDash val="solid"/>
          </a:ln>
        </p:spPr>
      </p:sp>
      <p:sp>
        <p:nvSpPr>
          <p:cNvPr id="190" name="Text 188"/>
          <p:cNvSpPr txBox="1"/>
          <p:nvPr/>
        </p:nvSpPr>
        <p:spPr>
          <a:xfrm>
            <a:off x="8357616" y="3544516"/>
            <a:ext cx="148311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47</a:t>
            </a:r>
            <a:endParaRPr lang="en-US" sz="1300" dirty="0"/>
          </a:p>
        </p:txBody>
      </p:sp>
      <p:sp>
        <p:nvSpPr>
          <p:cNvPr id="191" name="Shape 189"/>
          <p:cNvSpPr/>
          <p:nvPr/>
        </p:nvSpPr>
        <p:spPr>
          <a:xfrm>
            <a:off x="9840732" y="3544516"/>
            <a:ext cx="885736" cy="183138"/>
          </a:xfrm>
          <a:prstGeom prst="rect">
            <a:avLst/>
          </a:prstGeom>
          <a:solidFill>
            <a:srgbClr val="8FBEE6"/>
          </a:solidFill>
          <a:ln w="6350">
            <a:solidFill>
              <a:srgbClr val="FFFFFF"/>
            </a:solidFill>
            <a:prstDash val="solid"/>
          </a:ln>
        </p:spPr>
      </p:sp>
      <p:sp>
        <p:nvSpPr>
          <p:cNvPr id="192" name="Text 190"/>
          <p:cNvSpPr txBox="1"/>
          <p:nvPr/>
        </p:nvSpPr>
        <p:spPr>
          <a:xfrm>
            <a:off x="9840732" y="3544516"/>
            <a:ext cx="88573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28</a:t>
            </a:r>
            <a:endParaRPr lang="en-US" sz="1300" dirty="0"/>
          </a:p>
        </p:txBody>
      </p:sp>
      <p:sp>
        <p:nvSpPr>
          <p:cNvPr id="193" name="Shape 191"/>
          <p:cNvSpPr/>
          <p:nvPr/>
        </p:nvSpPr>
        <p:spPr>
          <a:xfrm>
            <a:off x="10726468" y="3544516"/>
            <a:ext cx="785828" cy="183138"/>
          </a:xfrm>
          <a:prstGeom prst="rect">
            <a:avLst/>
          </a:prstGeom>
          <a:solidFill>
            <a:srgbClr val="D9D9D9"/>
          </a:solidFill>
          <a:ln w="6350">
            <a:solidFill>
              <a:srgbClr val="FFFFFF"/>
            </a:solidFill>
            <a:prstDash val="solid"/>
          </a:ln>
        </p:spPr>
      </p:sp>
      <p:sp>
        <p:nvSpPr>
          <p:cNvPr id="194" name="Text 192"/>
          <p:cNvSpPr txBox="1"/>
          <p:nvPr/>
        </p:nvSpPr>
        <p:spPr>
          <a:xfrm>
            <a:off x="10726468" y="3544516"/>
            <a:ext cx="78582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25</a:t>
            </a:r>
            <a:endParaRPr lang="en-US" sz="1300" dirty="0"/>
          </a:p>
        </p:txBody>
      </p:sp>
      <p:sp>
        <p:nvSpPr>
          <p:cNvPr id="195" name="Text 193"/>
          <p:cNvSpPr txBox="1"/>
          <p:nvPr/>
        </p:nvSpPr>
        <p:spPr>
          <a:xfrm>
            <a:off x="6208776"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96" name="Shape 194"/>
          <p:cNvSpPr/>
          <p:nvPr/>
        </p:nvSpPr>
        <p:spPr>
          <a:xfrm>
            <a:off x="8357616" y="3785487"/>
            <a:ext cx="1429900" cy="183138"/>
          </a:xfrm>
          <a:prstGeom prst="rect">
            <a:avLst/>
          </a:prstGeom>
          <a:solidFill>
            <a:srgbClr val="2587C5"/>
          </a:solidFill>
          <a:ln w="6350">
            <a:solidFill>
              <a:srgbClr val="FFFFFF"/>
            </a:solidFill>
            <a:prstDash val="solid"/>
          </a:ln>
        </p:spPr>
      </p:sp>
      <p:sp>
        <p:nvSpPr>
          <p:cNvPr id="197" name="Text 195"/>
          <p:cNvSpPr txBox="1"/>
          <p:nvPr/>
        </p:nvSpPr>
        <p:spPr>
          <a:xfrm>
            <a:off x="8357616" y="3785487"/>
            <a:ext cx="142990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198" name="Shape 196"/>
          <p:cNvSpPr/>
          <p:nvPr/>
        </p:nvSpPr>
        <p:spPr>
          <a:xfrm>
            <a:off x="9787516" y="3785487"/>
            <a:ext cx="450296" cy="183138"/>
          </a:xfrm>
          <a:prstGeom prst="rect">
            <a:avLst/>
          </a:prstGeom>
          <a:solidFill>
            <a:srgbClr val="8FBEE6"/>
          </a:solidFill>
          <a:ln w="6350">
            <a:solidFill>
              <a:srgbClr val="FFFFFF"/>
            </a:solidFill>
            <a:prstDash val="solid"/>
          </a:ln>
        </p:spPr>
      </p:sp>
      <p:sp>
        <p:nvSpPr>
          <p:cNvPr id="199" name="Text 197"/>
          <p:cNvSpPr txBox="1"/>
          <p:nvPr/>
        </p:nvSpPr>
        <p:spPr>
          <a:xfrm>
            <a:off x="9787516" y="3785487"/>
            <a:ext cx="45029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200" name="Shape 198"/>
          <p:cNvSpPr/>
          <p:nvPr/>
        </p:nvSpPr>
        <p:spPr>
          <a:xfrm>
            <a:off x="10237812" y="3785487"/>
            <a:ext cx="1274484" cy="183138"/>
          </a:xfrm>
          <a:prstGeom prst="rect">
            <a:avLst/>
          </a:prstGeom>
          <a:solidFill>
            <a:srgbClr val="D9D9D9"/>
          </a:solidFill>
          <a:ln w="6350">
            <a:solidFill>
              <a:srgbClr val="FFFFFF"/>
            </a:solidFill>
            <a:prstDash val="solid"/>
          </a:ln>
        </p:spPr>
      </p:sp>
      <p:sp>
        <p:nvSpPr>
          <p:cNvPr id="201" name="Text 199"/>
          <p:cNvSpPr txBox="1"/>
          <p:nvPr/>
        </p:nvSpPr>
        <p:spPr>
          <a:xfrm>
            <a:off x="10237812" y="3785487"/>
            <a:ext cx="127448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40</a:t>
            </a:r>
            <a:endParaRPr lang="en-US" sz="1300" dirty="0"/>
          </a:p>
        </p:txBody>
      </p:sp>
      <p:sp>
        <p:nvSpPr>
          <p:cNvPr id="202" name="Text 200"/>
          <p:cNvSpPr txBox="1"/>
          <p:nvPr/>
        </p:nvSpPr>
        <p:spPr>
          <a:xfrm>
            <a:off x="6208776"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203" name="Shape 201"/>
          <p:cNvSpPr/>
          <p:nvPr/>
        </p:nvSpPr>
        <p:spPr>
          <a:xfrm>
            <a:off x="8357616" y="4026458"/>
            <a:ext cx="1407663" cy="183138"/>
          </a:xfrm>
          <a:prstGeom prst="rect">
            <a:avLst/>
          </a:prstGeom>
          <a:solidFill>
            <a:srgbClr val="2587C5"/>
          </a:solidFill>
          <a:ln w="6350">
            <a:solidFill>
              <a:srgbClr val="FFFFFF"/>
            </a:solidFill>
            <a:prstDash val="solid"/>
          </a:ln>
        </p:spPr>
      </p:sp>
      <p:sp>
        <p:nvSpPr>
          <p:cNvPr id="204" name="Text 202"/>
          <p:cNvSpPr txBox="1"/>
          <p:nvPr/>
        </p:nvSpPr>
        <p:spPr>
          <a:xfrm>
            <a:off x="8357616" y="4026458"/>
            <a:ext cx="140766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205" name="Shape 203"/>
          <p:cNvSpPr/>
          <p:nvPr/>
        </p:nvSpPr>
        <p:spPr>
          <a:xfrm>
            <a:off x="9765279" y="4026458"/>
            <a:ext cx="1184133" cy="183138"/>
          </a:xfrm>
          <a:prstGeom prst="rect">
            <a:avLst/>
          </a:prstGeom>
          <a:solidFill>
            <a:srgbClr val="8FBEE6"/>
          </a:solidFill>
          <a:ln w="6350">
            <a:solidFill>
              <a:srgbClr val="FFFFFF"/>
            </a:solidFill>
            <a:prstDash val="solid"/>
          </a:ln>
        </p:spPr>
      </p:sp>
      <p:sp>
        <p:nvSpPr>
          <p:cNvPr id="206" name="Text 204"/>
          <p:cNvSpPr txBox="1"/>
          <p:nvPr/>
        </p:nvSpPr>
        <p:spPr>
          <a:xfrm>
            <a:off x="9765279" y="4026458"/>
            <a:ext cx="118413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38</a:t>
            </a:r>
            <a:endParaRPr lang="en-US" sz="1300" dirty="0"/>
          </a:p>
        </p:txBody>
      </p:sp>
      <p:sp>
        <p:nvSpPr>
          <p:cNvPr id="207" name="Shape 205"/>
          <p:cNvSpPr/>
          <p:nvPr/>
        </p:nvSpPr>
        <p:spPr>
          <a:xfrm>
            <a:off x="10949412" y="4026458"/>
            <a:ext cx="562884" cy="183138"/>
          </a:xfrm>
          <a:prstGeom prst="rect">
            <a:avLst/>
          </a:prstGeom>
          <a:solidFill>
            <a:srgbClr val="D9D9D9"/>
          </a:solidFill>
          <a:ln w="6350">
            <a:solidFill>
              <a:srgbClr val="FFFFFF"/>
            </a:solidFill>
            <a:prstDash val="solid"/>
          </a:ln>
        </p:spPr>
      </p:sp>
      <p:sp>
        <p:nvSpPr>
          <p:cNvPr id="208" name="Text 206"/>
          <p:cNvSpPr txBox="1"/>
          <p:nvPr/>
        </p:nvSpPr>
        <p:spPr>
          <a:xfrm>
            <a:off x="10949412" y="4026458"/>
            <a:ext cx="56288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18</a:t>
            </a:r>
            <a:endParaRPr lang="en-US" sz="1300" dirty="0"/>
          </a:p>
        </p:txBody>
      </p:sp>
      <p:sp>
        <p:nvSpPr>
          <p:cNvPr id="209" name="Text 207"/>
          <p:cNvSpPr txBox="1"/>
          <p:nvPr/>
        </p:nvSpPr>
        <p:spPr>
          <a:xfrm>
            <a:off x="6208776"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210" name="Shape 208"/>
          <p:cNvSpPr/>
          <p:nvPr/>
        </p:nvSpPr>
        <p:spPr>
          <a:xfrm>
            <a:off x="8357616" y="4267429"/>
            <a:ext cx="1272315" cy="183138"/>
          </a:xfrm>
          <a:prstGeom prst="rect">
            <a:avLst/>
          </a:prstGeom>
          <a:solidFill>
            <a:srgbClr val="2587C5"/>
          </a:solidFill>
          <a:ln w="6350">
            <a:solidFill>
              <a:srgbClr val="FFFFFF"/>
            </a:solidFill>
            <a:prstDash val="solid"/>
          </a:ln>
        </p:spPr>
      </p:sp>
      <p:sp>
        <p:nvSpPr>
          <p:cNvPr id="211" name="Text 209"/>
          <p:cNvSpPr txBox="1"/>
          <p:nvPr/>
        </p:nvSpPr>
        <p:spPr>
          <a:xfrm>
            <a:off x="8357616" y="4267429"/>
            <a:ext cx="127231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40</a:t>
            </a:r>
            <a:endParaRPr lang="en-US" sz="1300" dirty="0"/>
          </a:p>
        </p:txBody>
      </p:sp>
      <p:sp>
        <p:nvSpPr>
          <p:cNvPr id="212" name="Shape 210"/>
          <p:cNvSpPr/>
          <p:nvPr/>
        </p:nvSpPr>
        <p:spPr>
          <a:xfrm>
            <a:off x="9629931" y="4267429"/>
            <a:ext cx="1101342" cy="183138"/>
          </a:xfrm>
          <a:prstGeom prst="rect">
            <a:avLst/>
          </a:prstGeom>
          <a:solidFill>
            <a:srgbClr val="8FBEE6"/>
          </a:solidFill>
          <a:ln w="6350">
            <a:solidFill>
              <a:srgbClr val="FFFFFF"/>
            </a:solidFill>
            <a:prstDash val="solid"/>
          </a:ln>
        </p:spPr>
      </p:sp>
      <p:sp>
        <p:nvSpPr>
          <p:cNvPr id="213" name="Text 211"/>
          <p:cNvSpPr txBox="1"/>
          <p:nvPr/>
        </p:nvSpPr>
        <p:spPr>
          <a:xfrm>
            <a:off x="9629931" y="4267429"/>
            <a:ext cx="110134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35</a:t>
            </a:r>
            <a:endParaRPr lang="en-US" sz="1300" dirty="0"/>
          </a:p>
        </p:txBody>
      </p:sp>
      <p:sp>
        <p:nvSpPr>
          <p:cNvPr id="214" name="Shape 212"/>
          <p:cNvSpPr/>
          <p:nvPr/>
        </p:nvSpPr>
        <p:spPr>
          <a:xfrm>
            <a:off x="10731273" y="4267429"/>
            <a:ext cx="781023" cy="183138"/>
          </a:xfrm>
          <a:prstGeom prst="rect">
            <a:avLst/>
          </a:prstGeom>
          <a:solidFill>
            <a:srgbClr val="D9D9D9"/>
          </a:solidFill>
          <a:ln w="6350">
            <a:solidFill>
              <a:srgbClr val="FFFFFF"/>
            </a:solidFill>
            <a:prstDash val="solid"/>
          </a:ln>
        </p:spPr>
      </p:sp>
      <p:sp>
        <p:nvSpPr>
          <p:cNvPr id="215" name="Text 213"/>
          <p:cNvSpPr txBox="1"/>
          <p:nvPr/>
        </p:nvSpPr>
        <p:spPr>
          <a:xfrm>
            <a:off x="10731273" y="4267429"/>
            <a:ext cx="78102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25</a:t>
            </a:r>
            <a:endParaRPr lang="en-US" sz="1300" dirty="0"/>
          </a:p>
        </p:txBody>
      </p:sp>
      <p:sp>
        <p:nvSpPr>
          <p:cNvPr id="216" name="Text 214"/>
          <p:cNvSpPr txBox="1"/>
          <p:nvPr/>
        </p:nvSpPr>
        <p:spPr>
          <a:xfrm>
            <a:off x="6208776"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217" name="Shape 215"/>
          <p:cNvSpPr/>
          <p:nvPr/>
        </p:nvSpPr>
        <p:spPr>
          <a:xfrm>
            <a:off x="8357616" y="4508401"/>
            <a:ext cx="1260841" cy="183138"/>
          </a:xfrm>
          <a:prstGeom prst="rect">
            <a:avLst/>
          </a:prstGeom>
          <a:solidFill>
            <a:srgbClr val="2587C5"/>
          </a:solidFill>
          <a:ln w="6350">
            <a:solidFill>
              <a:srgbClr val="FFFFFF"/>
            </a:solidFill>
            <a:prstDash val="solid"/>
          </a:ln>
        </p:spPr>
      </p:sp>
      <p:sp>
        <p:nvSpPr>
          <p:cNvPr id="218" name="Text 216"/>
          <p:cNvSpPr txBox="1"/>
          <p:nvPr/>
        </p:nvSpPr>
        <p:spPr>
          <a:xfrm>
            <a:off x="8357616" y="4508401"/>
            <a:ext cx="126084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40</a:t>
            </a:r>
            <a:endParaRPr lang="en-US" sz="1300" dirty="0"/>
          </a:p>
        </p:txBody>
      </p:sp>
      <p:sp>
        <p:nvSpPr>
          <p:cNvPr id="219" name="Shape 217"/>
          <p:cNvSpPr/>
          <p:nvPr/>
        </p:nvSpPr>
        <p:spPr>
          <a:xfrm>
            <a:off x="9618457" y="4508401"/>
            <a:ext cx="1210006" cy="183138"/>
          </a:xfrm>
          <a:prstGeom prst="rect">
            <a:avLst/>
          </a:prstGeom>
          <a:solidFill>
            <a:srgbClr val="8FBEE6"/>
          </a:solidFill>
          <a:ln w="6350">
            <a:solidFill>
              <a:srgbClr val="FFFFFF"/>
            </a:solidFill>
            <a:prstDash val="solid"/>
          </a:ln>
        </p:spPr>
      </p:sp>
      <p:sp>
        <p:nvSpPr>
          <p:cNvPr id="220" name="Text 218"/>
          <p:cNvSpPr txBox="1"/>
          <p:nvPr/>
        </p:nvSpPr>
        <p:spPr>
          <a:xfrm>
            <a:off x="9618457" y="4508401"/>
            <a:ext cx="121000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38</a:t>
            </a:r>
            <a:endParaRPr lang="en-US" sz="1300" dirty="0"/>
          </a:p>
        </p:txBody>
      </p:sp>
      <p:sp>
        <p:nvSpPr>
          <p:cNvPr id="221" name="Shape 219"/>
          <p:cNvSpPr/>
          <p:nvPr/>
        </p:nvSpPr>
        <p:spPr>
          <a:xfrm>
            <a:off x="10828463" y="4508401"/>
            <a:ext cx="683833" cy="183138"/>
          </a:xfrm>
          <a:prstGeom prst="rect">
            <a:avLst/>
          </a:prstGeom>
          <a:solidFill>
            <a:srgbClr val="D9D9D9"/>
          </a:solidFill>
          <a:ln w="6350">
            <a:solidFill>
              <a:srgbClr val="FFFFFF"/>
            </a:solidFill>
            <a:prstDash val="solid"/>
          </a:ln>
        </p:spPr>
      </p:sp>
      <p:sp>
        <p:nvSpPr>
          <p:cNvPr id="222" name="Text 220"/>
          <p:cNvSpPr txBox="1"/>
          <p:nvPr/>
        </p:nvSpPr>
        <p:spPr>
          <a:xfrm>
            <a:off x="10828463" y="4508401"/>
            <a:ext cx="68383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22</a:t>
            </a:r>
            <a:endParaRPr lang="en-US" sz="1300" dirty="0"/>
          </a:p>
        </p:txBody>
      </p:sp>
      <p:sp>
        <p:nvSpPr>
          <p:cNvPr id="223" name="Text 221"/>
          <p:cNvSpPr txBox="1"/>
          <p:nvPr/>
        </p:nvSpPr>
        <p:spPr>
          <a:xfrm>
            <a:off x="6208776"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224" name="Shape 222"/>
          <p:cNvSpPr/>
          <p:nvPr/>
        </p:nvSpPr>
        <p:spPr>
          <a:xfrm>
            <a:off x="8357616" y="4749372"/>
            <a:ext cx="1237324" cy="183138"/>
          </a:xfrm>
          <a:prstGeom prst="rect">
            <a:avLst/>
          </a:prstGeom>
          <a:solidFill>
            <a:srgbClr val="2587C5"/>
          </a:solidFill>
          <a:ln w="6350">
            <a:solidFill>
              <a:srgbClr val="FFFFFF"/>
            </a:solidFill>
            <a:prstDash val="solid"/>
          </a:ln>
        </p:spPr>
      </p:sp>
      <p:sp>
        <p:nvSpPr>
          <p:cNvPr id="225" name="Text 223"/>
          <p:cNvSpPr txBox="1"/>
          <p:nvPr/>
        </p:nvSpPr>
        <p:spPr>
          <a:xfrm>
            <a:off x="8357616" y="4749372"/>
            <a:ext cx="123732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39</a:t>
            </a:r>
            <a:endParaRPr lang="en-US" sz="1300" dirty="0"/>
          </a:p>
        </p:txBody>
      </p:sp>
      <p:sp>
        <p:nvSpPr>
          <p:cNvPr id="226" name="Shape 224"/>
          <p:cNvSpPr/>
          <p:nvPr/>
        </p:nvSpPr>
        <p:spPr>
          <a:xfrm>
            <a:off x="9594940" y="4749372"/>
            <a:ext cx="995080" cy="183138"/>
          </a:xfrm>
          <a:prstGeom prst="rect">
            <a:avLst/>
          </a:prstGeom>
          <a:solidFill>
            <a:srgbClr val="8FBEE6"/>
          </a:solidFill>
          <a:ln w="6350">
            <a:solidFill>
              <a:srgbClr val="FFFFFF"/>
            </a:solidFill>
            <a:prstDash val="solid"/>
          </a:ln>
        </p:spPr>
      </p:sp>
      <p:sp>
        <p:nvSpPr>
          <p:cNvPr id="227" name="Text 225"/>
          <p:cNvSpPr txBox="1"/>
          <p:nvPr/>
        </p:nvSpPr>
        <p:spPr>
          <a:xfrm>
            <a:off x="9594940" y="4749372"/>
            <a:ext cx="99508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32</a:t>
            </a:r>
            <a:endParaRPr lang="en-US" sz="1300" dirty="0"/>
          </a:p>
        </p:txBody>
      </p:sp>
      <p:sp>
        <p:nvSpPr>
          <p:cNvPr id="228" name="Shape 226"/>
          <p:cNvSpPr/>
          <p:nvPr/>
        </p:nvSpPr>
        <p:spPr>
          <a:xfrm>
            <a:off x="10590020" y="4749372"/>
            <a:ext cx="922276" cy="183138"/>
          </a:xfrm>
          <a:prstGeom prst="rect">
            <a:avLst/>
          </a:prstGeom>
          <a:solidFill>
            <a:srgbClr val="D9D9D9"/>
          </a:solidFill>
          <a:ln w="6350">
            <a:solidFill>
              <a:srgbClr val="FFFFFF"/>
            </a:solidFill>
            <a:prstDash val="solid"/>
          </a:ln>
        </p:spPr>
      </p:sp>
      <p:sp>
        <p:nvSpPr>
          <p:cNvPr id="229" name="Text 227"/>
          <p:cNvSpPr txBox="1"/>
          <p:nvPr/>
        </p:nvSpPr>
        <p:spPr>
          <a:xfrm>
            <a:off x="10590020" y="4749372"/>
            <a:ext cx="92227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230" name="Text 228"/>
          <p:cNvSpPr txBox="1"/>
          <p:nvPr/>
        </p:nvSpPr>
        <p:spPr>
          <a:xfrm>
            <a:off x="6208776"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231" name="Shape 229"/>
          <p:cNvSpPr/>
          <p:nvPr/>
        </p:nvSpPr>
        <p:spPr>
          <a:xfrm>
            <a:off x="8357616" y="4990343"/>
            <a:ext cx="1075368" cy="183138"/>
          </a:xfrm>
          <a:prstGeom prst="rect">
            <a:avLst/>
          </a:prstGeom>
          <a:solidFill>
            <a:srgbClr val="2587C5"/>
          </a:solidFill>
          <a:ln w="6350">
            <a:solidFill>
              <a:srgbClr val="FFFFFF"/>
            </a:solidFill>
            <a:prstDash val="solid"/>
          </a:ln>
        </p:spPr>
      </p:sp>
      <p:sp>
        <p:nvSpPr>
          <p:cNvPr id="232" name="Text 230"/>
          <p:cNvSpPr txBox="1"/>
          <p:nvPr/>
        </p:nvSpPr>
        <p:spPr>
          <a:xfrm>
            <a:off x="8357616" y="4990343"/>
            <a:ext cx="10753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34</a:t>
            </a:r>
            <a:endParaRPr lang="en-US" sz="1300" dirty="0"/>
          </a:p>
        </p:txBody>
      </p:sp>
      <p:sp>
        <p:nvSpPr>
          <p:cNvPr id="233" name="Shape 231"/>
          <p:cNvSpPr/>
          <p:nvPr/>
        </p:nvSpPr>
        <p:spPr>
          <a:xfrm>
            <a:off x="9432984" y="4990343"/>
            <a:ext cx="1647182" cy="183138"/>
          </a:xfrm>
          <a:prstGeom prst="rect">
            <a:avLst/>
          </a:prstGeom>
          <a:solidFill>
            <a:srgbClr val="8FBEE6"/>
          </a:solidFill>
          <a:ln w="6350">
            <a:solidFill>
              <a:srgbClr val="FFFFFF"/>
            </a:solidFill>
            <a:prstDash val="solid"/>
          </a:ln>
        </p:spPr>
      </p:sp>
      <p:sp>
        <p:nvSpPr>
          <p:cNvPr id="234" name="Text 232"/>
          <p:cNvSpPr txBox="1"/>
          <p:nvPr/>
        </p:nvSpPr>
        <p:spPr>
          <a:xfrm>
            <a:off x="9432984" y="4990343"/>
            <a:ext cx="164718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52</a:t>
            </a:r>
            <a:endParaRPr lang="en-US" sz="1300" dirty="0"/>
          </a:p>
        </p:txBody>
      </p:sp>
      <p:sp>
        <p:nvSpPr>
          <p:cNvPr id="235" name="Shape 233"/>
          <p:cNvSpPr/>
          <p:nvPr/>
        </p:nvSpPr>
        <p:spPr>
          <a:xfrm>
            <a:off x="11080165" y="4990343"/>
            <a:ext cx="432131" cy="183138"/>
          </a:xfrm>
          <a:prstGeom prst="rect">
            <a:avLst/>
          </a:prstGeom>
          <a:solidFill>
            <a:srgbClr val="D9D9D9"/>
          </a:solidFill>
          <a:ln w="6350">
            <a:solidFill>
              <a:srgbClr val="FFFFFF"/>
            </a:solidFill>
            <a:prstDash val="solid"/>
          </a:ln>
        </p:spPr>
      </p:sp>
      <p:sp>
        <p:nvSpPr>
          <p:cNvPr id="236" name="Text 234"/>
          <p:cNvSpPr txBox="1"/>
          <p:nvPr/>
        </p:nvSpPr>
        <p:spPr>
          <a:xfrm>
            <a:off x="11080165" y="4990343"/>
            <a:ext cx="43213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237" name="Text 235"/>
          <p:cNvSpPr txBox="1"/>
          <p:nvPr/>
        </p:nvSpPr>
        <p:spPr>
          <a:xfrm>
            <a:off x="6208776"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238" name="Shape 236"/>
          <p:cNvSpPr/>
          <p:nvPr/>
        </p:nvSpPr>
        <p:spPr>
          <a:xfrm>
            <a:off x="8357616" y="5231315"/>
            <a:ext cx="898846" cy="183138"/>
          </a:xfrm>
          <a:prstGeom prst="rect">
            <a:avLst/>
          </a:prstGeom>
          <a:solidFill>
            <a:srgbClr val="2587C5"/>
          </a:solidFill>
          <a:ln w="6350">
            <a:solidFill>
              <a:srgbClr val="FFFFFF"/>
            </a:solidFill>
            <a:prstDash val="solid"/>
          </a:ln>
        </p:spPr>
      </p:sp>
      <p:sp>
        <p:nvSpPr>
          <p:cNvPr id="239" name="Text 237"/>
          <p:cNvSpPr txBox="1"/>
          <p:nvPr/>
        </p:nvSpPr>
        <p:spPr>
          <a:xfrm>
            <a:off x="8357616" y="5231315"/>
            <a:ext cx="89884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240" name="Shape 238"/>
          <p:cNvSpPr/>
          <p:nvPr/>
        </p:nvSpPr>
        <p:spPr>
          <a:xfrm>
            <a:off x="9256462" y="5231315"/>
            <a:ext cx="1126586" cy="183138"/>
          </a:xfrm>
          <a:prstGeom prst="rect">
            <a:avLst/>
          </a:prstGeom>
          <a:solidFill>
            <a:srgbClr val="8FBEE6"/>
          </a:solidFill>
          <a:ln w="6350">
            <a:solidFill>
              <a:srgbClr val="FFFFFF"/>
            </a:solidFill>
            <a:prstDash val="solid"/>
          </a:ln>
        </p:spPr>
      </p:sp>
      <p:sp>
        <p:nvSpPr>
          <p:cNvPr id="241" name="Text 239"/>
          <p:cNvSpPr txBox="1"/>
          <p:nvPr/>
        </p:nvSpPr>
        <p:spPr>
          <a:xfrm>
            <a:off x="9256462" y="5231315"/>
            <a:ext cx="112658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36</a:t>
            </a:r>
            <a:endParaRPr lang="en-US" sz="1300" dirty="0"/>
          </a:p>
        </p:txBody>
      </p:sp>
      <p:sp>
        <p:nvSpPr>
          <p:cNvPr id="242" name="Shape 240"/>
          <p:cNvSpPr/>
          <p:nvPr/>
        </p:nvSpPr>
        <p:spPr>
          <a:xfrm>
            <a:off x="10383048" y="5231315"/>
            <a:ext cx="1129248" cy="183138"/>
          </a:xfrm>
          <a:prstGeom prst="rect">
            <a:avLst/>
          </a:prstGeom>
          <a:solidFill>
            <a:srgbClr val="D9D9D9"/>
          </a:solidFill>
          <a:ln w="6350">
            <a:solidFill>
              <a:srgbClr val="FFFFFF"/>
            </a:solidFill>
            <a:prstDash val="solid"/>
          </a:ln>
        </p:spPr>
      </p:sp>
      <p:sp>
        <p:nvSpPr>
          <p:cNvPr id="243" name="Text 241"/>
          <p:cNvSpPr txBox="1"/>
          <p:nvPr/>
        </p:nvSpPr>
        <p:spPr>
          <a:xfrm>
            <a:off x="10383048" y="5231315"/>
            <a:ext cx="112924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36</a:t>
            </a:r>
            <a:endParaRPr lang="en-US" sz="1300" dirty="0"/>
          </a:p>
        </p:txBody>
      </p:sp>
      <p:sp>
        <p:nvSpPr>
          <p:cNvPr id="244" name="Text 242"/>
          <p:cNvSpPr txBox="1"/>
          <p:nvPr/>
        </p:nvSpPr>
        <p:spPr>
          <a:xfrm>
            <a:off x="6208776"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245" name="Shape 243"/>
          <p:cNvSpPr/>
          <p:nvPr/>
        </p:nvSpPr>
        <p:spPr>
          <a:xfrm>
            <a:off x="8357616" y="5472286"/>
            <a:ext cx="880673" cy="183138"/>
          </a:xfrm>
          <a:prstGeom prst="rect">
            <a:avLst/>
          </a:prstGeom>
          <a:solidFill>
            <a:srgbClr val="2587C5"/>
          </a:solidFill>
          <a:ln w="6350">
            <a:solidFill>
              <a:srgbClr val="FFFFFF"/>
            </a:solidFill>
            <a:prstDash val="solid"/>
          </a:ln>
        </p:spPr>
      </p:sp>
      <p:sp>
        <p:nvSpPr>
          <p:cNvPr id="246" name="Text 244"/>
          <p:cNvSpPr txBox="1"/>
          <p:nvPr/>
        </p:nvSpPr>
        <p:spPr>
          <a:xfrm>
            <a:off x="8357616" y="5472286"/>
            <a:ext cx="88067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247" name="Shape 245"/>
          <p:cNvSpPr/>
          <p:nvPr/>
        </p:nvSpPr>
        <p:spPr>
          <a:xfrm>
            <a:off x="9238289" y="5472286"/>
            <a:ext cx="1619914" cy="183138"/>
          </a:xfrm>
          <a:prstGeom prst="rect">
            <a:avLst/>
          </a:prstGeom>
          <a:solidFill>
            <a:srgbClr val="8FBEE6"/>
          </a:solidFill>
          <a:ln w="6350">
            <a:solidFill>
              <a:srgbClr val="FFFFFF"/>
            </a:solidFill>
            <a:prstDash val="solid"/>
          </a:ln>
        </p:spPr>
      </p:sp>
      <p:sp>
        <p:nvSpPr>
          <p:cNvPr id="248" name="Text 246"/>
          <p:cNvSpPr txBox="1"/>
          <p:nvPr/>
        </p:nvSpPr>
        <p:spPr>
          <a:xfrm>
            <a:off x="9238289" y="5472286"/>
            <a:ext cx="161991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51</a:t>
            </a:r>
            <a:endParaRPr lang="en-US" sz="1300" dirty="0"/>
          </a:p>
        </p:txBody>
      </p:sp>
      <p:sp>
        <p:nvSpPr>
          <p:cNvPr id="249" name="Shape 247"/>
          <p:cNvSpPr/>
          <p:nvPr/>
        </p:nvSpPr>
        <p:spPr>
          <a:xfrm>
            <a:off x="10858202" y="5472286"/>
            <a:ext cx="654094" cy="183138"/>
          </a:xfrm>
          <a:prstGeom prst="rect">
            <a:avLst/>
          </a:prstGeom>
          <a:solidFill>
            <a:srgbClr val="D9D9D9"/>
          </a:solidFill>
          <a:ln w="6350">
            <a:solidFill>
              <a:srgbClr val="FFFFFF"/>
            </a:solidFill>
            <a:prstDash val="solid"/>
          </a:ln>
        </p:spPr>
      </p:sp>
      <p:sp>
        <p:nvSpPr>
          <p:cNvPr id="250" name="Text 248"/>
          <p:cNvSpPr txBox="1"/>
          <p:nvPr/>
        </p:nvSpPr>
        <p:spPr>
          <a:xfrm>
            <a:off x="10858202" y="5472286"/>
            <a:ext cx="65409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21</a:t>
            </a:r>
            <a:endParaRPr lang="en-US" sz="1300" dirty="0"/>
          </a:p>
        </p:txBody>
      </p:sp>
      <p:sp>
        <p:nvSpPr>
          <p:cNvPr id="251" name="Shape 249"/>
          <p:cNvSpPr/>
          <p:nvPr/>
        </p:nvSpPr>
        <p:spPr>
          <a:xfrm>
            <a:off x="457200" y="6126480"/>
            <a:ext cx="11274552" cy="615696"/>
          </a:xfrm>
          <a:prstGeom prst="rect">
            <a:avLst/>
          </a:prstGeom>
          <a:solidFill>
            <a:srgbClr val="EDF4FA"/>
          </a:solidFill>
          <a:ln/>
        </p:spPr>
      </p:sp>
      <p:sp>
        <p:nvSpPr>
          <p:cNvPr id="252" name="Text 25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Customer pay is 52.5% of labor sale (52.8% in 2025), warranty 23.8%, internal 23.7%. Honda Spokane is most customer-pay at 70.3%.</a:t>
            </a:r>
            <a:endParaRPr lang="en-US" sz="1600" dirty="0"/>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Pricing Strategy</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Do a comprehensive market labor study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Calculate your ELR on every maintenance item; target ELR by work type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Know your loss leader, and what the competition is charging</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No direct price changes to parts or labor: use ADC-controlled discounting for every discount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Benchmark: CP ELR at least 70% of door rate</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$162.42</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effective labor rate, up $3.56 and ahead in all nine months.</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74.7%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ELR as a share of door rate, Jul-Sep. 25 of 33 stores at or above 70%.</a:t>
            </a:r>
            <a:endParaRPr lang="en-US" sz="1400" dirty="0"/>
          </a:p>
        </p:txBody>
      </p:sp>
      <p:sp>
        <p:nvSpPr>
          <p:cNvPr id="16" name="Shape 14"/>
          <p:cNvSpPr/>
          <p:nvPr/>
        </p:nvSpPr>
        <p:spPr>
          <a:xfrm>
            <a:off x="7269480" y="4602480"/>
            <a:ext cx="54864" cy="1112520"/>
          </a:xfrm>
          <a:prstGeom prst="rect">
            <a:avLst/>
          </a:prstGeom>
          <a:solidFill>
            <a:srgbClr val="2587C5"/>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$127K a month</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Added labor if the 8 stores under 70% reached it on the hours they already sell, Jul-Sep: $126,831 a month.</a:t>
            </a:r>
            <a:endParaRPr lang="en-US" sz="1400" dirty="0"/>
          </a:p>
        </p:txBody>
      </p:sp>
      <p:sp>
        <p:nvSpPr>
          <p:cNvPr id="19" name="Shape 17"/>
          <p:cNvSpPr/>
          <p:nvPr/>
        </p:nvSpPr>
        <p:spPr>
          <a:xfrm>
            <a:off x="457200" y="6126480"/>
            <a:ext cx="11274552" cy="364236"/>
          </a:xfrm>
          <a:prstGeom prst="rect">
            <a:avLst/>
          </a:prstGeom>
          <a:solidFill>
            <a:srgbClr val="EDF4FA"/>
          </a:solidFill>
          <a:ln/>
        </p:spPr>
      </p:sp>
      <p:sp>
        <p:nvSpPr>
          <p:cNvPr id="20" name="Text 18"/>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The ask: know what you collect on every op code, and run every discount through ADC so we can see it.</a:t>
            </a:r>
            <a:endParaRPr lang="en-US" sz="1550" dirty="0"/>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Customer-Pay Labor by Work Type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201168" cy="201168"/>
          </a:xfrm>
          <a:prstGeom prst="rect">
            <a:avLst/>
          </a:prstGeom>
          <a:solidFill>
            <a:srgbClr val="2587C5"/>
          </a:solidFill>
          <a:ln/>
        </p:spPr>
      </p:sp>
      <p:sp>
        <p:nvSpPr>
          <p:cNvPr id="7" name="Text 5"/>
          <p:cNvSpPr txBox="1"/>
          <p:nvPr/>
        </p:nvSpPr>
        <p:spPr>
          <a:xfrm>
            <a:off x="93268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Maintenance %</a:t>
            </a:r>
            <a:endParaRPr lang="en-US" sz="1400" dirty="0"/>
          </a:p>
        </p:txBody>
      </p:sp>
      <p:sp>
        <p:nvSpPr>
          <p:cNvPr id="8" name="Shape 6"/>
          <p:cNvSpPr/>
          <p:nvPr/>
        </p:nvSpPr>
        <p:spPr>
          <a:xfrm>
            <a:off x="2624328" y="1371600"/>
            <a:ext cx="201168" cy="201168"/>
          </a:xfrm>
          <a:prstGeom prst="rect">
            <a:avLst/>
          </a:prstGeom>
          <a:solidFill>
            <a:srgbClr val="0B2C4A"/>
          </a:solidFill>
          <a:ln/>
        </p:spPr>
      </p:sp>
      <p:sp>
        <p:nvSpPr>
          <p:cNvPr id="9" name="Text 7"/>
          <p:cNvSpPr txBox="1"/>
          <p:nvPr/>
        </p:nvSpPr>
        <p:spPr>
          <a:xfrm>
            <a:off x="289864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Repair %</a:t>
            </a:r>
            <a:endParaRPr lang="en-US" sz="1400" dirty="0"/>
          </a:p>
        </p:txBody>
      </p:sp>
      <p:sp>
        <p:nvSpPr>
          <p:cNvPr id="10" name="Shape 8"/>
          <p:cNvSpPr/>
          <p:nvPr/>
        </p:nvSpPr>
        <p:spPr>
          <a:xfrm>
            <a:off x="4590288" y="1371600"/>
            <a:ext cx="201168" cy="201168"/>
          </a:xfrm>
          <a:prstGeom prst="rect">
            <a:avLst/>
          </a:prstGeom>
          <a:solidFill>
            <a:srgbClr val="D9D9D9"/>
          </a:solidFill>
          <a:ln/>
        </p:spPr>
      </p:sp>
      <p:sp>
        <p:nvSpPr>
          <p:cNvPr id="11" name="Text 9"/>
          <p:cNvSpPr txBox="1"/>
          <p:nvPr/>
        </p:nvSpPr>
        <p:spPr>
          <a:xfrm>
            <a:off x="486460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Unclassified %</a:t>
            </a:r>
            <a:endParaRPr lang="en-US" sz="1400" dirty="0"/>
          </a:p>
        </p:txBody>
      </p:sp>
      <p:sp>
        <p:nvSpPr>
          <p:cNvPr id="12" name="Shape 10"/>
          <p:cNvSpPr/>
          <p:nvPr/>
        </p:nvSpPr>
        <p:spPr>
          <a:xfrm>
            <a:off x="6675120" y="1298448"/>
            <a:ext cx="4855464" cy="384048"/>
          </a:xfrm>
          <a:prstGeom prst="rect">
            <a:avLst/>
          </a:prstGeom>
          <a:solidFill>
            <a:srgbClr val="EDF4FA"/>
          </a:solidFill>
          <a:ln/>
        </p:spPr>
      </p:sp>
      <p:sp>
        <p:nvSpPr>
          <p:cNvPr id="13" name="Text 11"/>
          <p:cNvSpPr txBox="1"/>
          <p:nvPr/>
        </p:nvSpPr>
        <p:spPr>
          <a:xfrm>
            <a:off x="6766560" y="1298448"/>
            <a:ext cx="91440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endParaRPr lang="en-US" sz="1500" dirty="0"/>
          </a:p>
        </p:txBody>
      </p:sp>
      <p:sp>
        <p:nvSpPr>
          <p:cNvPr id="14" name="Shape 12"/>
          <p:cNvSpPr/>
          <p:nvPr/>
        </p:nvSpPr>
        <p:spPr>
          <a:xfrm>
            <a:off x="7726680" y="1344168"/>
            <a:ext cx="2015868" cy="292608"/>
          </a:xfrm>
          <a:prstGeom prst="rect">
            <a:avLst/>
          </a:prstGeom>
          <a:solidFill>
            <a:srgbClr val="2587C5"/>
          </a:solidFill>
          <a:ln w="6350">
            <a:solidFill>
              <a:srgbClr val="FFFFFF"/>
            </a:solidFill>
            <a:prstDash val="solid"/>
          </a:ln>
        </p:spPr>
      </p:sp>
      <p:sp>
        <p:nvSpPr>
          <p:cNvPr id="15" name="Text 13"/>
          <p:cNvSpPr txBox="1"/>
          <p:nvPr/>
        </p:nvSpPr>
        <p:spPr>
          <a:xfrm>
            <a:off x="7726680" y="1344168"/>
            <a:ext cx="2015868"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54</a:t>
            </a:r>
            <a:endParaRPr lang="en-US" sz="1400" dirty="0"/>
          </a:p>
        </p:txBody>
      </p:sp>
      <p:sp>
        <p:nvSpPr>
          <p:cNvPr id="16" name="Shape 14"/>
          <p:cNvSpPr/>
          <p:nvPr/>
        </p:nvSpPr>
        <p:spPr>
          <a:xfrm>
            <a:off x="9742548" y="1344168"/>
            <a:ext cx="1132302" cy="292608"/>
          </a:xfrm>
          <a:prstGeom prst="rect">
            <a:avLst/>
          </a:prstGeom>
          <a:solidFill>
            <a:srgbClr val="0B2C4A"/>
          </a:solidFill>
          <a:ln w="6350">
            <a:solidFill>
              <a:srgbClr val="FFFFFF"/>
            </a:solidFill>
            <a:prstDash val="solid"/>
          </a:ln>
        </p:spPr>
      </p:sp>
      <p:sp>
        <p:nvSpPr>
          <p:cNvPr id="17" name="Text 15"/>
          <p:cNvSpPr txBox="1"/>
          <p:nvPr/>
        </p:nvSpPr>
        <p:spPr>
          <a:xfrm>
            <a:off x="9742548" y="1344168"/>
            <a:ext cx="1132302"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31</a:t>
            </a:r>
            <a:endParaRPr lang="en-US" sz="1400" dirty="0"/>
          </a:p>
        </p:txBody>
      </p:sp>
      <p:sp>
        <p:nvSpPr>
          <p:cNvPr id="18" name="Shape 16"/>
          <p:cNvSpPr/>
          <p:nvPr/>
        </p:nvSpPr>
        <p:spPr>
          <a:xfrm>
            <a:off x="10874849" y="1344168"/>
            <a:ext cx="564295" cy="292608"/>
          </a:xfrm>
          <a:prstGeom prst="rect">
            <a:avLst/>
          </a:prstGeom>
          <a:solidFill>
            <a:srgbClr val="D9D9D9"/>
          </a:solidFill>
          <a:ln w="6350">
            <a:solidFill>
              <a:srgbClr val="FFFFFF"/>
            </a:solidFill>
            <a:prstDash val="solid"/>
          </a:ln>
        </p:spPr>
      </p:sp>
      <p:sp>
        <p:nvSpPr>
          <p:cNvPr id="19" name="Text 17"/>
          <p:cNvSpPr txBox="1"/>
          <p:nvPr/>
        </p:nvSpPr>
        <p:spPr>
          <a:xfrm>
            <a:off x="10874849" y="1344168"/>
            <a:ext cx="564295" cy="292608"/>
          </a:xfrm>
          <a:prstGeom prst="rect">
            <a:avLst/>
          </a:prstGeom>
          <a:noFill/>
          <a:ln/>
        </p:spPr>
        <p:txBody>
          <a:bodyPr wrap="none" lIns="0" tIns="0" rIns="0" bIns="0" rtlCol="0" anchor="ctr"/>
          <a:lstStyle/>
          <a:p>
            <a:pPr algn="ctr" indent="0" marL="0">
              <a:buNone/>
            </a:pPr>
            <a:r>
              <a:rPr lang="en-US" sz="1400" b="1" dirty="0">
                <a:solidFill>
                  <a:srgbClr val="1A1A1A"/>
                </a:solidFill>
                <a:latin typeface="Inter" pitchFamily="34" charset="0"/>
                <a:ea typeface="Inter" pitchFamily="34" charset="-122"/>
                <a:cs typeface="Inter" pitchFamily="34" charset="-120"/>
              </a:rPr>
              <a:t>15</a:t>
            </a:r>
            <a:endParaRPr lang="en-US" sz="1400" dirty="0"/>
          </a:p>
        </p:txBody>
      </p:sp>
      <p:sp>
        <p:nvSpPr>
          <p:cNvPr id="20" name="Text 18"/>
          <p:cNvSpPr txBox="1"/>
          <p:nvPr/>
        </p:nvSpPr>
        <p:spPr>
          <a:xfrm>
            <a:off x="658368"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21" name="Shape 19"/>
          <p:cNvSpPr/>
          <p:nvPr/>
        </p:nvSpPr>
        <p:spPr>
          <a:xfrm>
            <a:off x="2807208" y="1857717"/>
            <a:ext cx="2246132" cy="183138"/>
          </a:xfrm>
          <a:prstGeom prst="rect">
            <a:avLst/>
          </a:prstGeom>
          <a:solidFill>
            <a:srgbClr val="2587C5"/>
          </a:solidFill>
          <a:ln w="6350">
            <a:solidFill>
              <a:srgbClr val="FFFFFF"/>
            </a:solidFill>
            <a:prstDash val="solid"/>
          </a:ln>
        </p:spPr>
      </p:sp>
      <p:sp>
        <p:nvSpPr>
          <p:cNvPr id="22" name="Text 20"/>
          <p:cNvSpPr txBox="1"/>
          <p:nvPr/>
        </p:nvSpPr>
        <p:spPr>
          <a:xfrm>
            <a:off x="2807208" y="1857717"/>
            <a:ext cx="224613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71</a:t>
            </a:r>
            <a:endParaRPr lang="en-US" sz="1300" dirty="0"/>
          </a:p>
        </p:txBody>
      </p:sp>
      <p:sp>
        <p:nvSpPr>
          <p:cNvPr id="23" name="Shape 21"/>
          <p:cNvSpPr/>
          <p:nvPr/>
        </p:nvSpPr>
        <p:spPr>
          <a:xfrm>
            <a:off x="5053340" y="1857717"/>
            <a:ext cx="776051" cy="183138"/>
          </a:xfrm>
          <a:prstGeom prst="rect">
            <a:avLst/>
          </a:prstGeom>
          <a:solidFill>
            <a:srgbClr val="0B2C4A"/>
          </a:solidFill>
          <a:ln w="6350">
            <a:solidFill>
              <a:srgbClr val="FFFFFF"/>
            </a:solidFill>
            <a:prstDash val="solid"/>
          </a:ln>
        </p:spPr>
      </p:sp>
      <p:sp>
        <p:nvSpPr>
          <p:cNvPr id="24" name="Text 22"/>
          <p:cNvSpPr txBox="1"/>
          <p:nvPr/>
        </p:nvSpPr>
        <p:spPr>
          <a:xfrm>
            <a:off x="5053340" y="1857717"/>
            <a:ext cx="77605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25" name="Shape 23"/>
          <p:cNvSpPr/>
          <p:nvPr/>
        </p:nvSpPr>
        <p:spPr>
          <a:xfrm>
            <a:off x="5829391" y="1857717"/>
            <a:ext cx="132497" cy="183138"/>
          </a:xfrm>
          <a:prstGeom prst="rect">
            <a:avLst/>
          </a:prstGeom>
          <a:solidFill>
            <a:srgbClr val="D9D9D9"/>
          </a:solidFill>
          <a:ln w="6350">
            <a:solidFill>
              <a:srgbClr val="FFFFFF"/>
            </a:solidFill>
            <a:prstDash val="solid"/>
          </a:ln>
        </p:spPr>
      </p:sp>
      <p:sp>
        <p:nvSpPr>
          <p:cNvPr id="26" name="Text 24"/>
          <p:cNvSpPr txBox="1"/>
          <p:nvPr/>
        </p:nvSpPr>
        <p:spPr>
          <a:xfrm>
            <a:off x="658368"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27" name="Shape 25"/>
          <p:cNvSpPr/>
          <p:nvPr/>
        </p:nvSpPr>
        <p:spPr>
          <a:xfrm>
            <a:off x="2807208" y="2098688"/>
            <a:ext cx="2189348" cy="183138"/>
          </a:xfrm>
          <a:prstGeom prst="rect">
            <a:avLst/>
          </a:prstGeom>
          <a:solidFill>
            <a:srgbClr val="2587C5"/>
          </a:solidFill>
          <a:ln w="6350">
            <a:solidFill>
              <a:srgbClr val="FFFFFF"/>
            </a:solidFill>
            <a:prstDash val="solid"/>
          </a:ln>
        </p:spPr>
      </p:sp>
      <p:sp>
        <p:nvSpPr>
          <p:cNvPr id="28" name="Text 26"/>
          <p:cNvSpPr txBox="1"/>
          <p:nvPr/>
        </p:nvSpPr>
        <p:spPr>
          <a:xfrm>
            <a:off x="2807208" y="2098688"/>
            <a:ext cx="218934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69</a:t>
            </a:r>
            <a:endParaRPr lang="en-US" sz="1300" dirty="0"/>
          </a:p>
        </p:txBody>
      </p:sp>
      <p:sp>
        <p:nvSpPr>
          <p:cNvPr id="29" name="Shape 27"/>
          <p:cNvSpPr/>
          <p:nvPr/>
        </p:nvSpPr>
        <p:spPr>
          <a:xfrm>
            <a:off x="4996556" y="2098688"/>
            <a:ext cx="791825" cy="183138"/>
          </a:xfrm>
          <a:prstGeom prst="rect">
            <a:avLst/>
          </a:prstGeom>
          <a:solidFill>
            <a:srgbClr val="0B2C4A"/>
          </a:solidFill>
          <a:ln w="6350">
            <a:solidFill>
              <a:srgbClr val="FFFFFF"/>
            </a:solidFill>
            <a:prstDash val="solid"/>
          </a:ln>
        </p:spPr>
      </p:sp>
      <p:sp>
        <p:nvSpPr>
          <p:cNvPr id="30" name="Text 28"/>
          <p:cNvSpPr txBox="1"/>
          <p:nvPr/>
        </p:nvSpPr>
        <p:spPr>
          <a:xfrm>
            <a:off x="4996556" y="2098688"/>
            <a:ext cx="79182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31" name="Shape 29"/>
          <p:cNvSpPr/>
          <p:nvPr/>
        </p:nvSpPr>
        <p:spPr>
          <a:xfrm>
            <a:off x="5788381" y="2098688"/>
            <a:ext cx="173507" cy="183138"/>
          </a:xfrm>
          <a:prstGeom prst="rect">
            <a:avLst/>
          </a:prstGeom>
          <a:solidFill>
            <a:srgbClr val="D9D9D9"/>
          </a:solidFill>
          <a:ln w="6350">
            <a:solidFill>
              <a:srgbClr val="FFFFFF"/>
            </a:solidFill>
            <a:prstDash val="solid"/>
          </a:ln>
        </p:spPr>
      </p:sp>
      <p:sp>
        <p:nvSpPr>
          <p:cNvPr id="32" name="Text 30"/>
          <p:cNvSpPr txBox="1"/>
          <p:nvPr/>
        </p:nvSpPr>
        <p:spPr>
          <a:xfrm>
            <a:off x="5788381" y="2098688"/>
            <a:ext cx="17350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5</a:t>
            </a:r>
            <a:endParaRPr lang="en-US" sz="1300" dirty="0"/>
          </a:p>
        </p:txBody>
      </p:sp>
      <p:sp>
        <p:nvSpPr>
          <p:cNvPr id="33" name="Text 31"/>
          <p:cNvSpPr txBox="1"/>
          <p:nvPr/>
        </p:nvSpPr>
        <p:spPr>
          <a:xfrm>
            <a:off x="658368"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34" name="Shape 32"/>
          <p:cNvSpPr/>
          <p:nvPr/>
        </p:nvSpPr>
        <p:spPr>
          <a:xfrm>
            <a:off x="2807208" y="2339659"/>
            <a:ext cx="2145182" cy="183138"/>
          </a:xfrm>
          <a:prstGeom prst="rect">
            <a:avLst/>
          </a:prstGeom>
          <a:solidFill>
            <a:srgbClr val="2587C5"/>
          </a:solidFill>
          <a:ln w="6350">
            <a:solidFill>
              <a:srgbClr val="FFFFFF"/>
            </a:solidFill>
            <a:prstDash val="solid"/>
          </a:ln>
        </p:spPr>
      </p:sp>
      <p:sp>
        <p:nvSpPr>
          <p:cNvPr id="35" name="Text 33"/>
          <p:cNvSpPr txBox="1"/>
          <p:nvPr/>
        </p:nvSpPr>
        <p:spPr>
          <a:xfrm>
            <a:off x="2807208" y="2339659"/>
            <a:ext cx="214518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68</a:t>
            </a:r>
            <a:endParaRPr lang="en-US" sz="1300" dirty="0"/>
          </a:p>
        </p:txBody>
      </p:sp>
      <p:sp>
        <p:nvSpPr>
          <p:cNvPr id="36" name="Shape 34"/>
          <p:cNvSpPr/>
          <p:nvPr/>
        </p:nvSpPr>
        <p:spPr>
          <a:xfrm>
            <a:off x="4952390" y="2339659"/>
            <a:ext cx="779206" cy="183138"/>
          </a:xfrm>
          <a:prstGeom prst="rect">
            <a:avLst/>
          </a:prstGeom>
          <a:solidFill>
            <a:srgbClr val="0B2C4A"/>
          </a:solidFill>
          <a:ln w="6350">
            <a:solidFill>
              <a:srgbClr val="FFFFFF"/>
            </a:solidFill>
            <a:prstDash val="solid"/>
          </a:ln>
        </p:spPr>
      </p:sp>
      <p:sp>
        <p:nvSpPr>
          <p:cNvPr id="37" name="Text 35"/>
          <p:cNvSpPr txBox="1"/>
          <p:nvPr/>
        </p:nvSpPr>
        <p:spPr>
          <a:xfrm>
            <a:off x="4952390" y="2339659"/>
            <a:ext cx="77920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38" name="Shape 36"/>
          <p:cNvSpPr/>
          <p:nvPr/>
        </p:nvSpPr>
        <p:spPr>
          <a:xfrm>
            <a:off x="5731596" y="2339659"/>
            <a:ext cx="230292" cy="183138"/>
          </a:xfrm>
          <a:prstGeom prst="rect">
            <a:avLst/>
          </a:prstGeom>
          <a:solidFill>
            <a:srgbClr val="D9D9D9"/>
          </a:solidFill>
          <a:ln w="6350">
            <a:solidFill>
              <a:srgbClr val="FFFFFF"/>
            </a:solidFill>
            <a:prstDash val="solid"/>
          </a:ln>
        </p:spPr>
      </p:sp>
      <p:sp>
        <p:nvSpPr>
          <p:cNvPr id="39" name="Text 37"/>
          <p:cNvSpPr txBox="1"/>
          <p:nvPr/>
        </p:nvSpPr>
        <p:spPr>
          <a:xfrm>
            <a:off x="5731596" y="2339659"/>
            <a:ext cx="23029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7</a:t>
            </a:r>
            <a:endParaRPr lang="en-US" sz="1300" dirty="0"/>
          </a:p>
        </p:txBody>
      </p:sp>
      <p:sp>
        <p:nvSpPr>
          <p:cNvPr id="40" name="Text 38"/>
          <p:cNvSpPr txBox="1"/>
          <p:nvPr/>
        </p:nvSpPr>
        <p:spPr>
          <a:xfrm>
            <a:off x="658368"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41" name="Shape 39"/>
          <p:cNvSpPr/>
          <p:nvPr/>
        </p:nvSpPr>
        <p:spPr>
          <a:xfrm>
            <a:off x="2807208" y="2580630"/>
            <a:ext cx="2116790" cy="183138"/>
          </a:xfrm>
          <a:prstGeom prst="rect">
            <a:avLst/>
          </a:prstGeom>
          <a:solidFill>
            <a:srgbClr val="2587C5"/>
          </a:solidFill>
          <a:ln w="6350">
            <a:solidFill>
              <a:srgbClr val="FFFFFF"/>
            </a:solidFill>
            <a:prstDash val="solid"/>
          </a:ln>
        </p:spPr>
      </p:sp>
      <p:sp>
        <p:nvSpPr>
          <p:cNvPr id="42" name="Text 40"/>
          <p:cNvSpPr txBox="1"/>
          <p:nvPr/>
        </p:nvSpPr>
        <p:spPr>
          <a:xfrm>
            <a:off x="2807208" y="2580630"/>
            <a:ext cx="211679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67</a:t>
            </a:r>
            <a:endParaRPr lang="en-US" sz="1300" dirty="0"/>
          </a:p>
        </p:txBody>
      </p:sp>
      <p:sp>
        <p:nvSpPr>
          <p:cNvPr id="43" name="Shape 41"/>
          <p:cNvSpPr/>
          <p:nvPr/>
        </p:nvSpPr>
        <p:spPr>
          <a:xfrm>
            <a:off x="4923998" y="2580630"/>
            <a:ext cx="694030" cy="183138"/>
          </a:xfrm>
          <a:prstGeom prst="rect">
            <a:avLst/>
          </a:prstGeom>
          <a:solidFill>
            <a:srgbClr val="0B2C4A"/>
          </a:solidFill>
          <a:ln w="6350">
            <a:solidFill>
              <a:srgbClr val="FFFFFF"/>
            </a:solidFill>
            <a:prstDash val="solid"/>
          </a:ln>
        </p:spPr>
      </p:sp>
      <p:sp>
        <p:nvSpPr>
          <p:cNvPr id="44" name="Text 42"/>
          <p:cNvSpPr txBox="1"/>
          <p:nvPr/>
        </p:nvSpPr>
        <p:spPr>
          <a:xfrm>
            <a:off x="4923998" y="2580630"/>
            <a:ext cx="69403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22</a:t>
            </a:r>
            <a:endParaRPr lang="en-US" sz="1300" dirty="0"/>
          </a:p>
        </p:txBody>
      </p:sp>
      <p:sp>
        <p:nvSpPr>
          <p:cNvPr id="45" name="Shape 43"/>
          <p:cNvSpPr/>
          <p:nvPr/>
        </p:nvSpPr>
        <p:spPr>
          <a:xfrm>
            <a:off x="5618028" y="2580630"/>
            <a:ext cx="343860" cy="183138"/>
          </a:xfrm>
          <a:prstGeom prst="rect">
            <a:avLst/>
          </a:prstGeom>
          <a:solidFill>
            <a:srgbClr val="D9D9D9"/>
          </a:solidFill>
          <a:ln w="6350">
            <a:solidFill>
              <a:srgbClr val="FFFFFF"/>
            </a:solidFill>
            <a:prstDash val="solid"/>
          </a:ln>
        </p:spPr>
      </p:sp>
      <p:sp>
        <p:nvSpPr>
          <p:cNvPr id="46" name="Text 44"/>
          <p:cNvSpPr txBox="1"/>
          <p:nvPr/>
        </p:nvSpPr>
        <p:spPr>
          <a:xfrm>
            <a:off x="5618028" y="2580630"/>
            <a:ext cx="34386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11</a:t>
            </a:r>
            <a:endParaRPr lang="en-US" sz="1300" dirty="0"/>
          </a:p>
        </p:txBody>
      </p:sp>
      <p:sp>
        <p:nvSpPr>
          <p:cNvPr id="47" name="Text 45"/>
          <p:cNvSpPr txBox="1"/>
          <p:nvPr/>
        </p:nvSpPr>
        <p:spPr>
          <a:xfrm>
            <a:off x="658368"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48" name="Shape 46"/>
          <p:cNvSpPr/>
          <p:nvPr/>
        </p:nvSpPr>
        <p:spPr>
          <a:xfrm>
            <a:off x="2807208" y="2821602"/>
            <a:ext cx="2094708" cy="183138"/>
          </a:xfrm>
          <a:prstGeom prst="rect">
            <a:avLst/>
          </a:prstGeom>
          <a:solidFill>
            <a:srgbClr val="2587C5"/>
          </a:solidFill>
          <a:ln w="6350">
            <a:solidFill>
              <a:srgbClr val="FFFFFF"/>
            </a:solidFill>
            <a:prstDash val="solid"/>
          </a:ln>
        </p:spPr>
      </p:sp>
      <p:sp>
        <p:nvSpPr>
          <p:cNvPr id="49" name="Text 47"/>
          <p:cNvSpPr txBox="1"/>
          <p:nvPr/>
        </p:nvSpPr>
        <p:spPr>
          <a:xfrm>
            <a:off x="2807208" y="2821602"/>
            <a:ext cx="20947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66</a:t>
            </a:r>
            <a:endParaRPr lang="en-US" sz="1300" dirty="0"/>
          </a:p>
        </p:txBody>
      </p:sp>
      <p:sp>
        <p:nvSpPr>
          <p:cNvPr id="50" name="Shape 48"/>
          <p:cNvSpPr/>
          <p:nvPr/>
        </p:nvSpPr>
        <p:spPr>
          <a:xfrm>
            <a:off x="4901916" y="2821602"/>
            <a:ext cx="804443" cy="183138"/>
          </a:xfrm>
          <a:prstGeom prst="rect">
            <a:avLst/>
          </a:prstGeom>
          <a:solidFill>
            <a:srgbClr val="0B2C4A"/>
          </a:solidFill>
          <a:ln w="6350">
            <a:solidFill>
              <a:srgbClr val="FFFFFF"/>
            </a:solidFill>
            <a:prstDash val="solid"/>
          </a:ln>
        </p:spPr>
      </p:sp>
      <p:sp>
        <p:nvSpPr>
          <p:cNvPr id="51" name="Text 49"/>
          <p:cNvSpPr txBox="1"/>
          <p:nvPr/>
        </p:nvSpPr>
        <p:spPr>
          <a:xfrm>
            <a:off x="4901916" y="2821602"/>
            <a:ext cx="80444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52" name="Shape 50"/>
          <p:cNvSpPr/>
          <p:nvPr/>
        </p:nvSpPr>
        <p:spPr>
          <a:xfrm>
            <a:off x="5706359" y="2821602"/>
            <a:ext cx="255529" cy="183138"/>
          </a:xfrm>
          <a:prstGeom prst="rect">
            <a:avLst/>
          </a:prstGeom>
          <a:solidFill>
            <a:srgbClr val="D9D9D9"/>
          </a:solidFill>
          <a:ln w="6350">
            <a:solidFill>
              <a:srgbClr val="FFFFFF"/>
            </a:solidFill>
            <a:prstDash val="solid"/>
          </a:ln>
        </p:spPr>
      </p:sp>
      <p:sp>
        <p:nvSpPr>
          <p:cNvPr id="53" name="Text 51"/>
          <p:cNvSpPr txBox="1"/>
          <p:nvPr/>
        </p:nvSpPr>
        <p:spPr>
          <a:xfrm>
            <a:off x="5706359" y="2821602"/>
            <a:ext cx="255529"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8</a:t>
            </a:r>
            <a:endParaRPr lang="en-US" sz="1300" dirty="0"/>
          </a:p>
        </p:txBody>
      </p:sp>
      <p:sp>
        <p:nvSpPr>
          <p:cNvPr id="54" name="Text 52"/>
          <p:cNvSpPr txBox="1"/>
          <p:nvPr/>
        </p:nvSpPr>
        <p:spPr>
          <a:xfrm>
            <a:off x="658368"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55" name="Shape 53"/>
          <p:cNvSpPr/>
          <p:nvPr/>
        </p:nvSpPr>
        <p:spPr>
          <a:xfrm>
            <a:off x="2807208" y="3062573"/>
            <a:ext cx="2078934" cy="183138"/>
          </a:xfrm>
          <a:prstGeom prst="rect">
            <a:avLst/>
          </a:prstGeom>
          <a:solidFill>
            <a:srgbClr val="2587C5"/>
          </a:solidFill>
          <a:ln w="6350">
            <a:solidFill>
              <a:srgbClr val="FFFFFF"/>
            </a:solidFill>
            <a:prstDash val="solid"/>
          </a:ln>
        </p:spPr>
      </p:sp>
      <p:sp>
        <p:nvSpPr>
          <p:cNvPr id="56" name="Text 54"/>
          <p:cNvSpPr txBox="1"/>
          <p:nvPr/>
        </p:nvSpPr>
        <p:spPr>
          <a:xfrm>
            <a:off x="2807208" y="3062573"/>
            <a:ext cx="207893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66</a:t>
            </a:r>
            <a:endParaRPr lang="en-US" sz="1300" dirty="0"/>
          </a:p>
        </p:txBody>
      </p:sp>
      <p:sp>
        <p:nvSpPr>
          <p:cNvPr id="57" name="Shape 55"/>
          <p:cNvSpPr/>
          <p:nvPr/>
        </p:nvSpPr>
        <p:spPr>
          <a:xfrm>
            <a:off x="4886142" y="3062573"/>
            <a:ext cx="930631" cy="183138"/>
          </a:xfrm>
          <a:prstGeom prst="rect">
            <a:avLst/>
          </a:prstGeom>
          <a:solidFill>
            <a:srgbClr val="0B2C4A"/>
          </a:solidFill>
          <a:ln w="6350">
            <a:solidFill>
              <a:srgbClr val="FFFFFF"/>
            </a:solidFill>
            <a:prstDash val="solid"/>
          </a:ln>
        </p:spPr>
      </p:sp>
      <p:sp>
        <p:nvSpPr>
          <p:cNvPr id="58" name="Text 56"/>
          <p:cNvSpPr txBox="1"/>
          <p:nvPr/>
        </p:nvSpPr>
        <p:spPr>
          <a:xfrm>
            <a:off x="4886142" y="3062573"/>
            <a:ext cx="93063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30</a:t>
            </a:r>
            <a:endParaRPr lang="en-US" sz="1300" dirty="0"/>
          </a:p>
        </p:txBody>
      </p:sp>
      <p:sp>
        <p:nvSpPr>
          <p:cNvPr id="59" name="Shape 57"/>
          <p:cNvSpPr/>
          <p:nvPr/>
        </p:nvSpPr>
        <p:spPr>
          <a:xfrm>
            <a:off x="5816773" y="3062573"/>
            <a:ext cx="145115" cy="183138"/>
          </a:xfrm>
          <a:prstGeom prst="rect">
            <a:avLst/>
          </a:prstGeom>
          <a:solidFill>
            <a:srgbClr val="D9D9D9"/>
          </a:solidFill>
          <a:ln w="6350">
            <a:solidFill>
              <a:srgbClr val="FFFFFF"/>
            </a:solidFill>
            <a:prstDash val="solid"/>
          </a:ln>
        </p:spPr>
      </p:sp>
      <p:sp>
        <p:nvSpPr>
          <p:cNvPr id="60" name="Text 58"/>
          <p:cNvSpPr txBox="1"/>
          <p:nvPr/>
        </p:nvSpPr>
        <p:spPr>
          <a:xfrm>
            <a:off x="658368"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61" name="Shape 59"/>
          <p:cNvSpPr/>
          <p:nvPr/>
        </p:nvSpPr>
        <p:spPr>
          <a:xfrm>
            <a:off x="2807208" y="3303544"/>
            <a:ext cx="2015841" cy="183138"/>
          </a:xfrm>
          <a:prstGeom prst="rect">
            <a:avLst/>
          </a:prstGeom>
          <a:solidFill>
            <a:srgbClr val="2587C5"/>
          </a:solidFill>
          <a:ln w="6350">
            <a:solidFill>
              <a:srgbClr val="FFFFFF"/>
            </a:solidFill>
            <a:prstDash val="solid"/>
          </a:ln>
        </p:spPr>
      </p:sp>
      <p:sp>
        <p:nvSpPr>
          <p:cNvPr id="62" name="Text 60"/>
          <p:cNvSpPr txBox="1"/>
          <p:nvPr/>
        </p:nvSpPr>
        <p:spPr>
          <a:xfrm>
            <a:off x="2807208" y="3303544"/>
            <a:ext cx="201584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64</a:t>
            </a:r>
            <a:endParaRPr lang="en-US" sz="1300" dirty="0"/>
          </a:p>
        </p:txBody>
      </p:sp>
      <p:sp>
        <p:nvSpPr>
          <p:cNvPr id="63" name="Shape 61"/>
          <p:cNvSpPr/>
          <p:nvPr/>
        </p:nvSpPr>
        <p:spPr>
          <a:xfrm>
            <a:off x="4823049" y="3303544"/>
            <a:ext cx="671947" cy="183138"/>
          </a:xfrm>
          <a:prstGeom prst="rect">
            <a:avLst/>
          </a:prstGeom>
          <a:solidFill>
            <a:srgbClr val="0B2C4A"/>
          </a:solidFill>
          <a:ln w="6350">
            <a:solidFill>
              <a:srgbClr val="FFFFFF"/>
            </a:solidFill>
            <a:prstDash val="solid"/>
          </a:ln>
        </p:spPr>
      </p:sp>
      <p:sp>
        <p:nvSpPr>
          <p:cNvPr id="64" name="Text 62"/>
          <p:cNvSpPr txBox="1"/>
          <p:nvPr/>
        </p:nvSpPr>
        <p:spPr>
          <a:xfrm>
            <a:off x="4823049" y="3303544"/>
            <a:ext cx="67194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21</a:t>
            </a:r>
            <a:endParaRPr lang="en-US" sz="1300" dirty="0"/>
          </a:p>
        </p:txBody>
      </p:sp>
      <p:sp>
        <p:nvSpPr>
          <p:cNvPr id="65" name="Shape 63"/>
          <p:cNvSpPr/>
          <p:nvPr/>
        </p:nvSpPr>
        <p:spPr>
          <a:xfrm>
            <a:off x="5494995" y="3303544"/>
            <a:ext cx="466893" cy="183138"/>
          </a:xfrm>
          <a:prstGeom prst="rect">
            <a:avLst/>
          </a:prstGeom>
          <a:solidFill>
            <a:srgbClr val="D9D9D9"/>
          </a:solidFill>
          <a:ln w="6350">
            <a:solidFill>
              <a:srgbClr val="FFFFFF"/>
            </a:solidFill>
            <a:prstDash val="solid"/>
          </a:ln>
        </p:spPr>
      </p:sp>
      <p:sp>
        <p:nvSpPr>
          <p:cNvPr id="66" name="Text 64"/>
          <p:cNvSpPr txBox="1"/>
          <p:nvPr/>
        </p:nvSpPr>
        <p:spPr>
          <a:xfrm>
            <a:off x="5494995" y="3303544"/>
            <a:ext cx="46689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15</a:t>
            </a:r>
            <a:endParaRPr lang="en-US" sz="1300" dirty="0"/>
          </a:p>
        </p:txBody>
      </p:sp>
      <p:sp>
        <p:nvSpPr>
          <p:cNvPr id="67" name="Text 65"/>
          <p:cNvSpPr txBox="1"/>
          <p:nvPr/>
        </p:nvSpPr>
        <p:spPr>
          <a:xfrm>
            <a:off x="658368"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68" name="Shape 66"/>
          <p:cNvSpPr/>
          <p:nvPr/>
        </p:nvSpPr>
        <p:spPr>
          <a:xfrm>
            <a:off x="2807208" y="3544516"/>
            <a:ext cx="1955902" cy="183138"/>
          </a:xfrm>
          <a:prstGeom prst="rect">
            <a:avLst/>
          </a:prstGeom>
          <a:solidFill>
            <a:srgbClr val="2587C5"/>
          </a:solidFill>
          <a:ln w="6350">
            <a:solidFill>
              <a:srgbClr val="FFFFFF"/>
            </a:solidFill>
            <a:prstDash val="solid"/>
          </a:ln>
        </p:spPr>
      </p:sp>
      <p:sp>
        <p:nvSpPr>
          <p:cNvPr id="69" name="Text 67"/>
          <p:cNvSpPr txBox="1"/>
          <p:nvPr/>
        </p:nvSpPr>
        <p:spPr>
          <a:xfrm>
            <a:off x="2807208" y="3544516"/>
            <a:ext cx="195590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62</a:t>
            </a:r>
            <a:endParaRPr lang="en-US" sz="1300" dirty="0"/>
          </a:p>
        </p:txBody>
      </p:sp>
      <p:sp>
        <p:nvSpPr>
          <p:cNvPr id="70" name="Shape 68"/>
          <p:cNvSpPr/>
          <p:nvPr/>
        </p:nvSpPr>
        <p:spPr>
          <a:xfrm>
            <a:off x="4763110" y="3544516"/>
            <a:ext cx="807598" cy="183138"/>
          </a:xfrm>
          <a:prstGeom prst="rect">
            <a:avLst/>
          </a:prstGeom>
          <a:solidFill>
            <a:srgbClr val="0B2C4A"/>
          </a:solidFill>
          <a:ln w="6350">
            <a:solidFill>
              <a:srgbClr val="FFFFFF"/>
            </a:solidFill>
            <a:prstDash val="solid"/>
          </a:ln>
        </p:spPr>
      </p:sp>
      <p:sp>
        <p:nvSpPr>
          <p:cNvPr id="71" name="Text 69"/>
          <p:cNvSpPr txBox="1"/>
          <p:nvPr/>
        </p:nvSpPr>
        <p:spPr>
          <a:xfrm>
            <a:off x="4763110" y="3544516"/>
            <a:ext cx="80759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72" name="Shape 70"/>
          <p:cNvSpPr/>
          <p:nvPr/>
        </p:nvSpPr>
        <p:spPr>
          <a:xfrm>
            <a:off x="5570708" y="3544516"/>
            <a:ext cx="391180" cy="183138"/>
          </a:xfrm>
          <a:prstGeom prst="rect">
            <a:avLst/>
          </a:prstGeom>
          <a:solidFill>
            <a:srgbClr val="D9D9D9"/>
          </a:solidFill>
          <a:ln w="6350">
            <a:solidFill>
              <a:srgbClr val="FFFFFF"/>
            </a:solidFill>
            <a:prstDash val="solid"/>
          </a:ln>
        </p:spPr>
      </p:sp>
      <p:sp>
        <p:nvSpPr>
          <p:cNvPr id="73" name="Text 71"/>
          <p:cNvSpPr txBox="1"/>
          <p:nvPr/>
        </p:nvSpPr>
        <p:spPr>
          <a:xfrm>
            <a:off x="5570708" y="3544516"/>
            <a:ext cx="39118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12</a:t>
            </a:r>
            <a:endParaRPr lang="en-US" sz="1300" dirty="0"/>
          </a:p>
        </p:txBody>
      </p:sp>
      <p:sp>
        <p:nvSpPr>
          <p:cNvPr id="74" name="Text 72"/>
          <p:cNvSpPr txBox="1"/>
          <p:nvPr/>
        </p:nvSpPr>
        <p:spPr>
          <a:xfrm>
            <a:off x="658368"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75" name="Shape 73"/>
          <p:cNvSpPr/>
          <p:nvPr/>
        </p:nvSpPr>
        <p:spPr>
          <a:xfrm>
            <a:off x="2807208" y="3785487"/>
            <a:ext cx="1943283" cy="183138"/>
          </a:xfrm>
          <a:prstGeom prst="rect">
            <a:avLst/>
          </a:prstGeom>
          <a:solidFill>
            <a:srgbClr val="2587C5"/>
          </a:solidFill>
          <a:ln w="6350">
            <a:solidFill>
              <a:srgbClr val="FFFFFF"/>
            </a:solidFill>
            <a:prstDash val="solid"/>
          </a:ln>
        </p:spPr>
      </p:sp>
      <p:sp>
        <p:nvSpPr>
          <p:cNvPr id="76" name="Text 74"/>
          <p:cNvSpPr txBox="1"/>
          <p:nvPr/>
        </p:nvSpPr>
        <p:spPr>
          <a:xfrm>
            <a:off x="2807208" y="3785487"/>
            <a:ext cx="194328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62</a:t>
            </a:r>
            <a:endParaRPr lang="en-US" sz="1300" dirty="0"/>
          </a:p>
        </p:txBody>
      </p:sp>
      <p:sp>
        <p:nvSpPr>
          <p:cNvPr id="77" name="Shape 75"/>
          <p:cNvSpPr/>
          <p:nvPr/>
        </p:nvSpPr>
        <p:spPr>
          <a:xfrm>
            <a:off x="4750491" y="3785487"/>
            <a:ext cx="413263" cy="183138"/>
          </a:xfrm>
          <a:prstGeom prst="rect">
            <a:avLst/>
          </a:prstGeom>
          <a:solidFill>
            <a:srgbClr val="0B2C4A"/>
          </a:solidFill>
          <a:ln w="6350">
            <a:solidFill>
              <a:srgbClr val="FFFFFF"/>
            </a:solidFill>
            <a:prstDash val="solid"/>
          </a:ln>
        </p:spPr>
      </p:sp>
      <p:sp>
        <p:nvSpPr>
          <p:cNvPr id="78" name="Text 76"/>
          <p:cNvSpPr txBox="1"/>
          <p:nvPr/>
        </p:nvSpPr>
        <p:spPr>
          <a:xfrm>
            <a:off x="4750491" y="3785487"/>
            <a:ext cx="41326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13</a:t>
            </a:r>
            <a:endParaRPr lang="en-US" sz="1300" dirty="0"/>
          </a:p>
        </p:txBody>
      </p:sp>
      <p:sp>
        <p:nvSpPr>
          <p:cNvPr id="79" name="Shape 77"/>
          <p:cNvSpPr/>
          <p:nvPr/>
        </p:nvSpPr>
        <p:spPr>
          <a:xfrm>
            <a:off x="5163754" y="3785487"/>
            <a:ext cx="798134" cy="183138"/>
          </a:xfrm>
          <a:prstGeom prst="rect">
            <a:avLst/>
          </a:prstGeom>
          <a:solidFill>
            <a:srgbClr val="D9D9D9"/>
          </a:solidFill>
          <a:ln w="6350">
            <a:solidFill>
              <a:srgbClr val="FFFFFF"/>
            </a:solidFill>
            <a:prstDash val="solid"/>
          </a:ln>
        </p:spPr>
      </p:sp>
      <p:sp>
        <p:nvSpPr>
          <p:cNvPr id="80" name="Text 78"/>
          <p:cNvSpPr txBox="1"/>
          <p:nvPr/>
        </p:nvSpPr>
        <p:spPr>
          <a:xfrm>
            <a:off x="5163754" y="3785487"/>
            <a:ext cx="79813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25</a:t>
            </a:r>
            <a:endParaRPr lang="en-US" sz="1300" dirty="0"/>
          </a:p>
        </p:txBody>
      </p:sp>
      <p:sp>
        <p:nvSpPr>
          <p:cNvPr id="81" name="Text 79"/>
          <p:cNvSpPr txBox="1"/>
          <p:nvPr/>
        </p:nvSpPr>
        <p:spPr>
          <a:xfrm>
            <a:off x="658368"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82" name="Shape 80"/>
          <p:cNvSpPr/>
          <p:nvPr/>
        </p:nvSpPr>
        <p:spPr>
          <a:xfrm>
            <a:off x="2807208" y="4026458"/>
            <a:ext cx="1892808" cy="183138"/>
          </a:xfrm>
          <a:prstGeom prst="rect">
            <a:avLst/>
          </a:prstGeom>
          <a:solidFill>
            <a:srgbClr val="2587C5"/>
          </a:solidFill>
          <a:ln w="6350">
            <a:solidFill>
              <a:srgbClr val="FFFFFF"/>
            </a:solidFill>
            <a:prstDash val="solid"/>
          </a:ln>
        </p:spPr>
      </p:sp>
      <p:sp>
        <p:nvSpPr>
          <p:cNvPr id="83" name="Text 81"/>
          <p:cNvSpPr txBox="1"/>
          <p:nvPr/>
        </p:nvSpPr>
        <p:spPr>
          <a:xfrm>
            <a:off x="2807208" y="4026458"/>
            <a:ext cx="18928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84" name="Shape 82"/>
          <p:cNvSpPr/>
          <p:nvPr/>
        </p:nvSpPr>
        <p:spPr>
          <a:xfrm>
            <a:off x="4700016" y="4026458"/>
            <a:ext cx="832836" cy="183138"/>
          </a:xfrm>
          <a:prstGeom prst="rect">
            <a:avLst/>
          </a:prstGeom>
          <a:solidFill>
            <a:srgbClr val="0B2C4A"/>
          </a:solidFill>
          <a:ln w="6350">
            <a:solidFill>
              <a:srgbClr val="FFFFFF"/>
            </a:solidFill>
            <a:prstDash val="solid"/>
          </a:ln>
        </p:spPr>
      </p:sp>
      <p:sp>
        <p:nvSpPr>
          <p:cNvPr id="85" name="Text 83"/>
          <p:cNvSpPr txBox="1"/>
          <p:nvPr/>
        </p:nvSpPr>
        <p:spPr>
          <a:xfrm>
            <a:off x="4700016" y="4026458"/>
            <a:ext cx="83283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86" name="Shape 84"/>
          <p:cNvSpPr/>
          <p:nvPr/>
        </p:nvSpPr>
        <p:spPr>
          <a:xfrm>
            <a:off x="5532852" y="4026458"/>
            <a:ext cx="429036" cy="183138"/>
          </a:xfrm>
          <a:prstGeom prst="rect">
            <a:avLst/>
          </a:prstGeom>
          <a:solidFill>
            <a:srgbClr val="D9D9D9"/>
          </a:solidFill>
          <a:ln w="6350">
            <a:solidFill>
              <a:srgbClr val="FFFFFF"/>
            </a:solidFill>
            <a:prstDash val="solid"/>
          </a:ln>
        </p:spPr>
      </p:sp>
      <p:sp>
        <p:nvSpPr>
          <p:cNvPr id="87" name="Text 85"/>
          <p:cNvSpPr txBox="1"/>
          <p:nvPr/>
        </p:nvSpPr>
        <p:spPr>
          <a:xfrm>
            <a:off x="5532852" y="4026458"/>
            <a:ext cx="42903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88" name="Text 86"/>
          <p:cNvSpPr txBox="1"/>
          <p:nvPr/>
        </p:nvSpPr>
        <p:spPr>
          <a:xfrm>
            <a:off x="658368"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89" name="Shape 87"/>
          <p:cNvSpPr/>
          <p:nvPr/>
        </p:nvSpPr>
        <p:spPr>
          <a:xfrm>
            <a:off x="2807208" y="4267429"/>
            <a:ext cx="1883344" cy="183138"/>
          </a:xfrm>
          <a:prstGeom prst="rect">
            <a:avLst/>
          </a:prstGeom>
          <a:solidFill>
            <a:srgbClr val="2587C5"/>
          </a:solidFill>
          <a:ln w="6350">
            <a:solidFill>
              <a:srgbClr val="FFFFFF"/>
            </a:solidFill>
            <a:prstDash val="solid"/>
          </a:ln>
        </p:spPr>
      </p:sp>
      <p:sp>
        <p:nvSpPr>
          <p:cNvPr id="90" name="Text 88"/>
          <p:cNvSpPr txBox="1"/>
          <p:nvPr/>
        </p:nvSpPr>
        <p:spPr>
          <a:xfrm>
            <a:off x="2807208" y="4267429"/>
            <a:ext cx="188334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91" name="Shape 89"/>
          <p:cNvSpPr/>
          <p:nvPr/>
        </p:nvSpPr>
        <p:spPr>
          <a:xfrm>
            <a:off x="4690552" y="4267429"/>
            <a:ext cx="981105" cy="183138"/>
          </a:xfrm>
          <a:prstGeom prst="rect">
            <a:avLst/>
          </a:prstGeom>
          <a:solidFill>
            <a:srgbClr val="0B2C4A"/>
          </a:solidFill>
          <a:ln w="6350">
            <a:solidFill>
              <a:srgbClr val="FFFFFF"/>
            </a:solidFill>
            <a:prstDash val="solid"/>
          </a:ln>
        </p:spPr>
      </p:sp>
      <p:sp>
        <p:nvSpPr>
          <p:cNvPr id="92" name="Text 90"/>
          <p:cNvSpPr txBox="1"/>
          <p:nvPr/>
        </p:nvSpPr>
        <p:spPr>
          <a:xfrm>
            <a:off x="4690552" y="4267429"/>
            <a:ext cx="98110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31</a:t>
            </a:r>
            <a:endParaRPr lang="en-US" sz="1300" dirty="0"/>
          </a:p>
        </p:txBody>
      </p:sp>
      <p:sp>
        <p:nvSpPr>
          <p:cNvPr id="93" name="Shape 91"/>
          <p:cNvSpPr/>
          <p:nvPr/>
        </p:nvSpPr>
        <p:spPr>
          <a:xfrm>
            <a:off x="5671657" y="4267429"/>
            <a:ext cx="290231" cy="183138"/>
          </a:xfrm>
          <a:prstGeom prst="rect">
            <a:avLst/>
          </a:prstGeom>
          <a:solidFill>
            <a:srgbClr val="D9D9D9"/>
          </a:solidFill>
          <a:ln w="6350">
            <a:solidFill>
              <a:srgbClr val="FFFFFF"/>
            </a:solidFill>
            <a:prstDash val="solid"/>
          </a:ln>
        </p:spPr>
      </p:sp>
      <p:sp>
        <p:nvSpPr>
          <p:cNvPr id="94" name="Text 92"/>
          <p:cNvSpPr txBox="1"/>
          <p:nvPr/>
        </p:nvSpPr>
        <p:spPr>
          <a:xfrm>
            <a:off x="5671657" y="4267429"/>
            <a:ext cx="29023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95" name="Text 93"/>
          <p:cNvSpPr txBox="1"/>
          <p:nvPr/>
        </p:nvSpPr>
        <p:spPr>
          <a:xfrm>
            <a:off x="658368"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96" name="Shape 94"/>
          <p:cNvSpPr/>
          <p:nvPr/>
        </p:nvSpPr>
        <p:spPr>
          <a:xfrm>
            <a:off x="2807208" y="4508401"/>
            <a:ext cx="1867571" cy="183138"/>
          </a:xfrm>
          <a:prstGeom prst="rect">
            <a:avLst/>
          </a:prstGeom>
          <a:solidFill>
            <a:srgbClr val="2587C5"/>
          </a:solidFill>
          <a:ln w="6350">
            <a:solidFill>
              <a:srgbClr val="FFFFFF"/>
            </a:solidFill>
            <a:prstDash val="solid"/>
          </a:ln>
        </p:spPr>
      </p:sp>
      <p:sp>
        <p:nvSpPr>
          <p:cNvPr id="97" name="Text 95"/>
          <p:cNvSpPr txBox="1"/>
          <p:nvPr/>
        </p:nvSpPr>
        <p:spPr>
          <a:xfrm>
            <a:off x="2807208" y="4508401"/>
            <a:ext cx="186757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98" name="Shape 96"/>
          <p:cNvSpPr/>
          <p:nvPr/>
        </p:nvSpPr>
        <p:spPr>
          <a:xfrm>
            <a:off x="4674779" y="4508401"/>
            <a:ext cx="47320" cy="183138"/>
          </a:xfrm>
          <a:prstGeom prst="rect">
            <a:avLst/>
          </a:prstGeom>
          <a:solidFill>
            <a:srgbClr val="0B2C4A"/>
          </a:solidFill>
          <a:ln w="6350">
            <a:solidFill>
              <a:srgbClr val="FFFFFF"/>
            </a:solidFill>
            <a:prstDash val="solid"/>
          </a:ln>
        </p:spPr>
      </p:sp>
      <p:sp>
        <p:nvSpPr>
          <p:cNvPr id="99" name="Shape 97"/>
          <p:cNvSpPr/>
          <p:nvPr/>
        </p:nvSpPr>
        <p:spPr>
          <a:xfrm>
            <a:off x="4722099" y="4508401"/>
            <a:ext cx="1239789" cy="183138"/>
          </a:xfrm>
          <a:prstGeom prst="rect">
            <a:avLst/>
          </a:prstGeom>
          <a:solidFill>
            <a:srgbClr val="D9D9D9"/>
          </a:solidFill>
          <a:ln w="6350">
            <a:solidFill>
              <a:srgbClr val="FFFFFF"/>
            </a:solidFill>
            <a:prstDash val="solid"/>
          </a:ln>
        </p:spPr>
      </p:sp>
      <p:sp>
        <p:nvSpPr>
          <p:cNvPr id="100" name="Text 98"/>
          <p:cNvSpPr txBox="1"/>
          <p:nvPr/>
        </p:nvSpPr>
        <p:spPr>
          <a:xfrm>
            <a:off x="4722099" y="4508401"/>
            <a:ext cx="1239789"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39</a:t>
            </a:r>
            <a:endParaRPr lang="en-US" sz="1300" dirty="0"/>
          </a:p>
        </p:txBody>
      </p:sp>
      <p:sp>
        <p:nvSpPr>
          <p:cNvPr id="101" name="Text 99"/>
          <p:cNvSpPr txBox="1"/>
          <p:nvPr/>
        </p:nvSpPr>
        <p:spPr>
          <a:xfrm>
            <a:off x="658368"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02" name="Shape 100"/>
          <p:cNvSpPr/>
          <p:nvPr/>
        </p:nvSpPr>
        <p:spPr>
          <a:xfrm>
            <a:off x="2807208" y="4749372"/>
            <a:ext cx="1861261" cy="183138"/>
          </a:xfrm>
          <a:prstGeom prst="rect">
            <a:avLst/>
          </a:prstGeom>
          <a:solidFill>
            <a:srgbClr val="2587C5"/>
          </a:solidFill>
          <a:ln w="6350">
            <a:solidFill>
              <a:srgbClr val="FFFFFF"/>
            </a:solidFill>
            <a:prstDash val="solid"/>
          </a:ln>
        </p:spPr>
      </p:sp>
      <p:sp>
        <p:nvSpPr>
          <p:cNvPr id="103" name="Text 101"/>
          <p:cNvSpPr txBox="1"/>
          <p:nvPr/>
        </p:nvSpPr>
        <p:spPr>
          <a:xfrm>
            <a:off x="2807208" y="4749372"/>
            <a:ext cx="186126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104" name="Shape 102"/>
          <p:cNvSpPr/>
          <p:nvPr/>
        </p:nvSpPr>
        <p:spPr>
          <a:xfrm>
            <a:off x="4668469" y="4749372"/>
            <a:ext cx="839145" cy="183138"/>
          </a:xfrm>
          <a:prstGeom prst="rect">
            <a:avLst/>
          </a:prstGeom>
          <a:solidFill>
            <a:srgbClr val="0B2C4A"/>
          </a:solidFill>
          <a:ln w="6350">
            <a:solidFill>
              <a:srgbClr val="FFFFFF"/>
            </a:solidFill>
            <a:prstDash val="solid"/>
          </a:ln>
        </p:spPr>
      </p:sp>
      <p:sp>
        <p:nvSpPr>
          <p:cNvPr id="105" name="Text 103"/>
          <p:cNvSpPr txBox="1"/>
          <p:nvPr/>
        </p:nvSpPr>
        <p:spPr>
          <a:xfrm>
            <a:off x="4668469" y="4749372"/>
            <a:ext cx="83914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106" name="Shape 104"/>
          <p:cNvSpPr/>
          <p:nvPr/>
        </p:nvSpPr>
        <p:spPr>
          <a:xfrm>
            <a:off x="5507614" y="4749372"/>
            <a:ext cx="454274" cy="183138"/>
          </a:xfrm>
          <a:prstGeom prst="rect">
            <a:avLst/>
          </a:prstGeom>
          <a:solidFill>
            <a:srgbClr val="D9D9D9"/>
          </a:solidFill>
          <a:ln w="6350">
            <a:solidFill>
              <a:srgbClr val="FFFFFF"/>
            </a:solidFill>
            <a:prstDash val="solid"/>
          </a:ln>
        </p:spPr>
      </p:sp>
      <p:sp>
        <p:nvSpPr>
          <p:cNvPr id="107" name="Text 105"/>
          <p:cNvSpPr txBox="1"/>
          <p:nvPr/>
        </p:nvSpPr>
        <p:spPr>
          <a:xfrm>
            <a:off x="5507614" y="4749372"/>
            <a:ext cx="45427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108" name="Text 106"/>
          <p:cNvSpPr txBox="1"/>
          <p:nvPr/>
        </p:nvSpPr>
        <p:spPr>
          <a:xfrm>
            <a:off x="658368"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09" name="Shape 107"/>
          <p:cNvSpPr/>
          <p:nvPr/>
        </p:nvSpPr>
        <p:spPr>
          <a:xfrm>
            <a:off x="2807208" y="4990343"/>
            <a:ext cx="1854952" cy="183138"/>
          </a:xfrm>
          <a:prstGeom prst="rect">
            <a:avLst/>
          </a:prstGeom>
          <a:solidFill>
            <a:srgbClr val="2587C5"/>
          </a:solidFill>
          <a:ln w="6350">
            <a:solidFill>
              <a:srgbClr val="FFFFFF"/>
            </a:solidFill>
            <a:prstDash val="solid"/>
          </a:ln>
        </p:spPr>
      </p:sp>
      <p:sp>
        <p:nvSpPr>
          <p:cNvPr id="110" name="Text 108"/>
          <p:cNvSpPr txBox="1"/>
          <p:nvPr/>
        </p:nvSpPr>
        <p:spPr>
          <a:xfrm>
            <a:off x="2807208" y="4990343"/>
            <a:ext cx="185495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111" name="Shape 109"/>
          <p:cNvSpPr/>
          <p:nvPr/>
        </p:nvSpPr>
        <p:spPr>
          <a:xfrm>
            <a:off x="4662160" y="4990343"/>
            <a:ext cx="1015807" cy="183138"/>
          </a:xfrm>
          <a:prstGeom prst="rect">
            <a:avLst/>
          </a:prstGeom>
          <a:solidFill>
            <a:srgbClr val="0B2C4A"/>
          </a:solidFill>
          <a:ln w="6350">
            <a:solidFill>
              <a:srgbClr val="FFFFFF"/>
            </a:solidFill>
            <a:prstDash val="solid"/>
          </a:ln>
        </p:spPr>
      </p:sp>
      <p:sp>
        <p:nvSpPr>
          <p:cNvPr id="112" name="Text 110"/>
          <p:cNvSpPr txBox="1"/>
          <p:nvPr/>
        </p:nvSpPr>
        <p:spPr>
          <a:xfrm>
            <a:off x="4662160" y="4990343"/>
            <a:ext cx="101580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113" name="Shape 111"/>
          <p:cNvSpPr/>
          <p:nvPr/>
        </p:nvSpPr>
        <p:spPr>
          <a:xfrm>
            <a:off x="5677967" y="4990343"/>
            <a:ext cx="283921" cy="183138"/>
          </a:xfrm>
          <a:prstGeom prst="rect">
            <a:avLst/>
          </a:prstGeom>
          <a:solidFill>
            <a:srgbClr val="D9D9D9"/>
          </a:solidFill>
          <a:ln w="6350">
            <a:solidFill>
              <a:srgbClr val="FFFFFF"/>
            </a:solidFill>
            <a:prstDash val="solid"/>
          </a:ln>
        </p:spPr>
      </p:sp>
      <p:sp>
        <p:nvSpPr>
          <p:cNvPr id="114" name="Text 112"/>
          <p:cNvSpPr txBox="1"/>
          <p:nvPr/>
        </p:nvSpPr>
        <p:spPr>
          <a:xfrm>
            <a:off x="5677967" y="4990343"/>
            <a:ext cx="28392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115" name="Text 113"/>
          <p:cNvSpPr txBox="1"/>
          <p:nvPr/>
        </p:nvSpPr>
        <p:spPr>
          <a:xfrm>
            <a:off x="658368"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16" name="Shape 114"/>
          <p:cNvSpPr/>
          <p:nvPr/>
        </p:nvSpPr>
        <p:spPr>
          <a:xfrm>
            <a:off x="2807208" y="5231315"/>
            <a:ext cx="1839178" cy="183138"/>
          </a:xfrm>
          <a:prstGeom prst="rect">
            <a:avLst/>
          </a:prstGeom>
          <a:solidFill>
            <a:srgbClr val="2587C5"/>
          </a:solidFill>
          <a:ln w="6350">
            <a:solidFill>
              <a:srgbClr val="FFFFFF"/>
            </a:solidFill>
            <a:prstDash val="solid"/>
          </a:ln>
        </p:spPr>
      </p:sp>
      <p:sp>
        <p:nvSpPr>
          <p:cNvPr id="117" name="Text 115"/>
          <p:cNvSpPr txBox="1"/>
          <p:nvPr/>
        </p:nvSpPr>
        <p:spPr>
          <a:xfrm>
            <a:off x="2807208" y="5231315"/>
            <a:ext cx="183917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58</a:t>
            </a:r>
            <a:endParaRPr lang="en-US" sz="1300" dirty="0"/>
          </a:p>
        </p:txBody>
      </p:sp>
      <p:sp>
        <p:nvSpPr>
          <p:cNvPr id="118" name="Shape 116"/>
          <p:cNvSpPr/>
          <p:nvPr/>
        </p:nvSpPr>
        <p:spPr>
          <a:xfrm>
            <a:off x="4646386" y="5231315"/>
            <a:ext cx="574152" cy="183138"/>
          </a:xfrm>
          <a:prstGeom prst="rect">
            <a:avLst/>
          </a:prstGeom>
          <a:solidFill>
            <a:srgbClr val="0B2C4A"/>
          </a:solidFill>
          <a:ln w="6350">
            <a:solidFill>
              <a:srgbClr val="FFFFFF"/>
            </a:solidFill>
            <a:prstDash val="solid"/>
          </a:ln>
        </p:spPr>
      </p:sp>
      <p:sp>
        <p:nvSpPr>
          <p:cNvPr id="119" name="Text 117"/>
          <p:cNvSpPr txBox="1"/>
          <p:nvPr/>
        </p:nvSpPr>
        <p:spPr>
          <a:xfrm>
            <a:off x="4646386" y="5231315"/>
            <a:ext cx="57415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120" name="Shape 118"/>
          <p:cNvSpPr/>
          <p:nvPr/>
        </p:nvSpPr>
        <p:spPr>
          <a:xfrm>
            <a:off x="5220538" y="5231315"/>
            <a:ext cx="741350" cy="183138"/>
          </a:xfrm>
          <a:prstGeom prst="rect">
            <a:avLst/>
          </a:prstGeom>
          <a:solidFill>
            <a:srgbClr val="D9D9D9"/>
          </a:solidFill>
          <a:ln w="6350">
            <a:solidFill>
              <a:srgbClr val="FFFFFF"/>
            </a:solidFill>
            <a:prstDash val="solid"/>
          </a:ln>
        </p:spPr>
      </p:sp>
      <p:sp>
        <p:nvSpPr>
          <p:cNvPr id="121" name="Text 119"/>
          <p:cNvSpPr txBox="1"/>
          <p:nvPr/>
        </p:nvSpPr>
        <p:spPr>
          <a:xfrm>
            <a:off x="5220538" y="5231315"/>
            <a:ext cx="74135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122" name="Text 120"/>
          <p:cNvSpPr txBox="1"/>
          <p:nvPr/>
        </p:nvSpPr>
        <p:spPr>
          <a:xfrm>
            <a:off x="658368"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23" name="Shape 121"/>
          <p:cNvSpPr/>
          <p:nvPr/>
        </p:nvSpPr>
        <p:spPr>
          <a:xfrm>
            <a:off x="2807208" y="5472286"/>
            <a:ext cx="1791858" cy="183138"/>
          </a:xfrm>
          <a:prstGeom prst="rect">
            <a:avLst/>
          </a:prstGeom>
          <a:solidFill>
            <a:srgbClr val="2587C5"/>
          </a:solidFill>
          <a:ln w="6350">
            <a:solidFill>
              <a:srgbClr val="FFFFFF"/>
            </a:solidFill>
            <a:prstDash val="solid"/>
          </a:ln>
        </p:spPr>
      </p:sp>
      <p:sp>
        <p:nvSpPr>
          <p:cNvPr id="124" name="Text 122"/>
          <p:cNvSpPr txBox="1"/>
          <p:nvPr/>
        </p:nvSpPr>
        <p:spPr>
          <a:xfrm>
            <a:off x="2807208" y="5472286"/>
            <a:ext cx="179185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25" name="Shape 123"/>
          <p:cNvSpPr/>
          <p:nvPr/>
        </p:nvSpPr>
        <p:spPr>
          <a:xfrm>
            <a:off x="4599066" y="5472286"/>
            <a:ext cx="753969" cy="183138"/>
          </a:xfrm>
          <a:prstGeom prst="rect">
            <a:avLst/>
          </a:prstGeom>
          <a:solidFill>
            <a:srgbClr val="0B2C4A"/>
          </a:solidFill>
          <a:ln w="6350">
            <a:solidFill>
              <a:srgbClr val="FFFFFF"/>
            </a:solidFill>
            <a:prstDash val="solid"/>
          </a:ln>
        </p:spPr>
      </p:sp>
      <p:sp>
        <p:nvSpPr>
          <p:cNvPr id="126" name="Text 124"/>
          <p:cNvSpPr txBox="1"/>
          <p:nvPr/>
        </p:nvSpPr>
        <p:spPr>
          <a:xfrm>
            <a:off x="4599066" y="5472286"/>
            <a:ext cx="7539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24</a:t>
            </a:r>
            <a:endParaRPr lang="en-US" sz="1300" dirty="0"/>
          </a:p>
        </p:txBody>
      </p:sp>
      <p:sp>
        <p:nvSpPr>
          <p:cNvPr id="127" name="Shape 125"/>
          <p:cNvSpPr/>
          <p:nvPr/>
        </p:nvSpPr>
        <p:spPr>
          <a:xfrm>
            <a:off x="5353035" y="5472286"/>
            <a:ext cx="608853" cy="183138"/>
          </a:xfrm>
          <a:prstGeom prst="rect">
            <a:avLst/>
          </a:prstGeom>
          <a:solidFill>
            <a:srgbClr val="D9D9D9"/>
          </a:solidFill>
          <a:ln w="6350">
            <a:solidFill>
              <a:srgbClr val="FFFFFF"/>
            </a:solidFill>
            <a:prstDash val="solid"/>
          </a:ln>
        </p:spPr>
      </p:sp>
      <p:sp>
        <p:nvSpPr>
          <p:cNvPr id="128" name="Text 126"/>
          <p:cNvSpPr txBox="1"/>
          <p:nvPr/>
        </p:nvSpPr>
        <p:spPr>
          <a:xfrm>
            <a:off x="5353035" y="5472286"/>
            <a:ext cx="60885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19</a:t>
            </a:r>
            <a:endParaRPr lang="en-US" sz="1300" dirty="0"/>
          </a:p>
        </p:txBody>
      </p:sp>
      <p:sp>
        <p:nvSpPr>
          <p:cNvPr id="129" name="Text 127"/>
          <p:cNvSpPr txBox="1"/>
          <p:nvPr/>
        </p:nvSpPr>
        <p:spPr>
          <a:xfrm>
            <a:off x="658368" y="568434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30" name="Shape 128"/>
          <p:cNvSpPr/>
          <p:nvPr/>
        </p:nvSpPr>
        <p:spPr>
          <a:xfrm>
            <a:off x="2807208" y="5713257"/>
            <a:ext cx="1791858" cy="183138"/>
          </a:xfrm>
          <a:prstGeom prst="rect">
            <a:avLst/>
          </a:prstGeom>
          <a:solidFill>
            <a:srgbClr val="2587C5"/>
          </a:solidFill>
          <a:ln w="6350">
            <a:solidFill>
              <a:srgbClr val="FFFFFF"/>
            </a:solidFill>
            <a:prstDash val="solid"/>
          </a:ln>
        </p:spPr>
      </p:sp>
      <p:sp>
        <p:nvSpPr>
          <p:cNvPr id="131" name="Text 129"/>
          <p:cNvSpPr txBox="1"/>
          <p:nvPr/>
        </p:nvSpPr>
        <p:spPr>
          <a:xfrm>
            <a:off x="2807208" y="5713257"/>
            <a:ext cx="179185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32" name="Shape 130"/>
          <p:cNvSpPr/>
          <p:nvPr/>
        </p:nvSpPr>
        <p:spPr>
          <a:xfrm>
            <a:off x="4599066" y="5713257"/>
            <a:ext cx="753969" cy="183138"/>
          </a:xfrm>
          <a:prstGeom prst="rect">
            <a:avLst/>
          </a:prstGeom>
          <a:solidFill>
            <a:srgbClr val="0B2C4A"/>
          </a:solidFill>
          <a:ln w="6350">
            <a:solidFill>
              <a:srgbClr val="FFFFFF"/>
            </a:solidFill>
            <a:prstDash val="solid"/>
          </a:ln>
        </p:spPr>
      </p:sp>
      <p:sp>
        <p:nvSpPr>
          <p:cNvPr id="133" name="Text 131"/>
          <p:cNvSpPr txBox="1"/>
          <p:nvPr/>
        </p:nvSpPr>
        <p:spPr>
          <a:xfrm>
            <a:off x="4599066" y="5713257"/>
            <a:ext cx="7539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24</a:t>
            </a:r>
            <a:endParaRPr lang="en-US" sz="1300" dirty="0"/>
          </a:p>
        </p:txBody>
      </p:sp>
      <p:sp>
        <p:nvSpPr>
          <p:cNvPr id="134" name="Shape 132"/>
          <p:cNvSpPr/>
          <p:nvPr/>
        </p:nvSpPr>
        <p:spPr>
          <a:xfrm>
            <a:off x="5353035" y="5713257"/>
            <a:ext cx="608853" cy="183138"/>
          </a:xfrm>
          <a:prstGeom prst="rect">
            <a:avLst/>
          </a:prstGeom>
          <a:solidFill>
            <a:srgbClr val="D9D9D9"/>
          </a:solidFill>
          <a:ln w="6350">
            <a:solidFill>
              <a:srgbClr val="FFFFFF"/>
            </a:solidFill>
            <a:prstDash val="solid"/>
          </a:ln>
        </p:spPr>
      </p:sp>
      <p:sp>
        <p:nvSpPr>
          <p:cNvPr id="135" name="Text 133"/>
          <p:cNvSpPr txBox="1"/>
          <p:nvPr/>
        </p:nvSpPr>
        <p:spPr>
          <a:xfrm>
            <a:off x="5353035" y="5713257"/>
            <a:ext cx="60885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19</a:t>
            </a:r>
            <a:endParaRPr lang="en-US" sz="1300" dirty="0"/>
          </a:p>
        </p:txBody>
      </p:sp>
      <p:sp>
        <p:nvSpPr>
          <p:cNvPr id="136" name="Text 134"/>
          <p:cNvSpPr txBox="1"/>
          <p:nvPr/>
        </p:nvSpPr>
        <p:spPr>
          <a:xfrm>
            <a:off x="6208776"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37" name="Shape 135"/>
          <p:cNvSpPr/>
          <p:nvPr/>
        </p:nvSpPr>
        <p:spPr>
          <a:xfrm>
            <a:off x="8357616" y="1857717"/>
            <a:ext cx="1738229" cy="183138"/>
          </a:xfrm>
          <a:prstGeom prst="rect">
            <a:avLst/>
          </a:prstGeom>
          <a:solidFill>
            <a:srgbClr val="2587C5"/>
          </a:solidFill>
          <a:ln w="6350">
            <a:solidFill>
              <a:srgbClr val="FFFFFF"/>
            </a:solidFill>
            <a:prstDash val="solid"/>
          </a:ln>
        </p:spPr>
      </p:sp>
      <p:sp>
        <p:nvSpPr>
          <p:cNvPr id="138" name="Text 136"/>
          <p:cNvSpPr txBox="1"/>
          <p:nvPr/>
        </p:nvSpPr>
        <p:spPr>
          <a:xfrm>
            <a:off x="8357616" y="1857717"/>
            <a:ext cx="173822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39" name="Shape 137"/>
          <p:cNvSpPr/>
          <p:nvPr/>
        </p:nvSpPr>
        <p:spPr>
          <a:xfrm>
            <a:off x="10095845" y="1857717"/>
            <a:ext cx="1116757" cy="183138"/>
          </a:xfrm>
          <a:prstGeom prst="rect">
            <a:avLst/>
          </a:prstGeom>
          <a:solidFill>
            <a:srgbClr val="0B2C4A"/>
          </a:solidFill>
          <a:ln w="6350">
            <a:solidFill>
              <a:srgbClr val="FFFFFF"/>
            </a:solidFill>
            <a:prstDash val="solid"/>
          </a:ln>
        </p:spPr>
      </p:sp>
      <p:sp>
        <p:nvSpPr>
          <p:cNvPr id="140" name="Text 138"/>
          <p:cNvSpPr txBox="1"/>
          <p:nvPr/>
        </p:nvSpPr>
        <p:spPr>
          <a:xfrm>
            <a:off x="10095845" y="1857717"/>
            <a:ext cx="111675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35</a:t>
            </a:r>
            <a:endParaRPr lang="en-US" sz="1300" dirty="0"/>
          </a:p>
        </p:txBody>
      </p:sp>
      <p:sp>
        <p:nvSpPr>
          <p:cNvPr id="141" name="Shape 139"/>
          <p:cNvSpPr/>
          <p:nvPr/>
        </p:nvSpPr>
        <p:spPr>
          <a:xfrm>
            <a:off x="11212601" y="1857717"/>
            <a:ext cx="299695" cy="183138"/>
          </a:xfrm>
          <a:prstGeom prst="rect">
            <a:avLst/>
          </a:prstGeom>
          <a:solidFill>
            <a:srgbClr val="D9D9D9"/>
          </a:solidFill>
          <a:ln w="6350">
            <a:solidFill>
              <a:srgbClr val="FFFFFF"/>
            </a:solidFill>
            <a:prstDash val="solid"/>
          </a:ln>
        </p:spPr>
      </p:sp>
      <p:sp>
        <p:nvSpPr>
          <p:cNvPr id="142" name="Text 140"/>
          <p:cNvSpPr txBox="1"/>
          <p:nvPr/>
        </p:nvSpPr>
        <p:spPr>
          <a:xfrm>
            <a:off x="11212601" y="1857717"/>
            <a:ext cx="29969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143" name="Text 141"/>
          <p:cNvSpPr txBox="1"/>
          <p:nvPr/>
        </p:nvSpPr>
        <p:spPr>
          <a:xfrm>
            <a:off x="6208776"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44" name="Shape 142"/>
          <p:cNvSpPr/>
          <p:nvPr/>
        </p:nvSpPr>
        <p:spPr>
          <a:xfrm>
            <a:off x="8357616" y="2098688"/>
            <a:ext cx="1738229" cy="183138"/>
          </a:xfrm>
          <a:prstGeom prst="rect">
            <a:avLst/>
          </a:prstGeom>
          <a:solidFill>
            <a:srgbClr val="2587C5"/>
          </a:solidFill>
          <a:ln w="6350">
            <a:solidFill>
              <a:srgbClr val="FFFFFF"/>
            </a:solidFill>
            <a:prstDash val="solid"/>
          </a:ln>
        </p:spPr>
      </p:sp>
      <p:sp>
        <p:nvSpPr>
          <p:cNvPr id="145" name="Text 143"/>
          <p:cNvSpPr txBox="1"/>
          <p:nvPr/>
        </p:nvSpPr>
        <p:spPr>
          <a:xfrm>
            <a:off x="8357616" y="2098688"/>
            <a:ext cx="173822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46" name="Shape 144"/>
          <p:cNvSpPr/>
          <p:nvPr/>
        </p:nvSpPr>
        <p:spPr>
          <a:xfrm>
            <a:off x="10095845" y="2098688"/>
            <a:ext cx="933785" cy="183138"/>
          </a:xfrm>
          <a:prstGeom prst="rect">
            <a:avLst/>
          </a:prstGeom>
          <a:solidFill>
            <a:srgbClr val="0B2C4A"/>
          </a:solidFill>
          <a:ln w="6350">
            <a:solidFill>
              <a:srgbClr val="FFFFFF"/>
            </a:solidFill>
            <a:prstDash val="solid"/>
          </a:ln>
        </p:spPr>
      </p:sp>
      <p:sp>
        <p:nvSpPr>
          <p:cNvPr id="147" name="Text 145"/>
          <p:cNvSpPr txBox="1"/>
          <p:nvPr/>
        </p:nvSpPr>
        <p:spPr>
          <a:xfrm>
            <a:off x="10095845" y="2098688"/>
            <a:ext cx="93378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30</a:t>
            </a:r>
            <a:endParaRPr lang="en-US" sz="1300" dirty="0"/>
          </a:p>
        </p:txBody>
      </p:sp>
      <p:sp>
        <p:nvSpPr>
          <p:cNvPr id="148" name="Shape 146"/>
          <p:cNvSpPr/>
          <p:nvPr/>
        </p:nvSpPr>
        <p:spPr>
          <a:xfrm>
            <a:off x="11029630" y="2098688"/>
            <a:ext cx="482666" cy="183138"/>
          </a:xfrm>
          <a:prstGeom prst="rect">
            <a:avLst/>
          </a:prstGeom>
          <a:solidFill>
            <a:srgbClr val="D9D9D9"/>
          </a:solidFill>
          <a:ln w="6350">
            <a:solidFill>
              <a:srgbClr val="FFFFFF"/>
            </a:solidFill>
            <a:prstDash val="solid"/>
          </a:ln>
        </p:spPr>
      </p:sp>
      <p:sp>
        <p:nvSpPr>
          <p:cNvPr id="149" name="Text 147"/>
          <p:cNvSpPr txBox="1"/>
          <p:nvPr/>
        </p:nvSpPr>
        <p:spPr>
          <a:xfrm>
            <a:off x="11029630" y="2098688"/>
            <a:ext cx="48266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15</a:t>
            </a:r>
            <a:endParaRPr lang="en-US" sz="1300" dirty="0"/>
          </a:p>
        </p:txBody>
      </p:sp>
      <p:sp>
        <p:nvSpPr>
          <p:cNvPr id="150" name="Text 148"/>
          <p:cNvSpPr txBox="1"/>
          <p:nvPr/>
        </p:nvSpPr>
        <p:spPr>
          <a:xfrm>
            <a:off x="6208776"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51" name="Shape 149"/>
          <p:cNvSpPr/>
          <p:nvPr/>
        </p:nvSpPr>
        <p:spPr>
          <a:xfrm>
            <a:off x="8357616" y="2339659"/>
            <a:ext cx="1533174" cy="183138"/>
          </a:xfrm>
          <a:prstGeom prst="rect">
            <a:avLst/>
          </a:prstGeom>
          <a:solidFill>
            <a:srgbClr val="2587C5"/>
          </a:solidFill>
          <a:ln w="6350">
            <a:solidFill>
              <a:srgbClr val="FFFFFF"/>
            </a:solidFill>
            <a:prstDash val="solid"/>
          </a:ln>
        </p:spPr>
      </p:sp>
      <p:sp>
        <p:nvSpPr>
          <p:cNvPr id="152" name="Text 150"/>
          <p:cNvSpPr txBox="1"/>
          <p:nvPr/>
        </p:nvSpPr>
        <p:spPr>
          <a:xfrm>
            <a:off x="8357616" y="2339659"/>
            <a:ext cx="153317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49</a:t>
            </a:r>
            <a:endParaRPr lang="en-US" sz="1300" dirty="0"/>
          </a:p>
        </p:txBody>
      </p:sp>
      <p:sp>
        <p:nvSpPr>
          <p:cNvPr id="153" name="Shape 151"/>
          <p:cNvSpPr/>
          <p:nvPr/>
        </p:nvSpPr>
        <p:spPr>
          <a:xfrm>
            <a:off x="9890790" y="2339659"/>
            <a:ext cx="1306038" cy="183138"/>
          </a:xfrm>
          <a:prstGeom prst="rect">
            <a:avLst/>
          </a:prstGeom>
          <a:solidFill>
            <a:srgbClr val="0B2C4A"/>
          </a:solidFill>
          <a:ln w="6350">
            <a:solidFill>
              <a:srgbClr val="FFFFFF"/>
            </a:solidFill>
            <a:prstDash val="solid"/>
          </a:ln>
        </p:spPr>
      </p:sp>
      <p:sp>
        <p:nvSpPr>
          <p:cNvPr id="154" name="Text 152"/>
          <p:cNvSpPr txBox="1"/>
          <p:nvPr/>
        </p:nvSpPr>
        <p:spPr>
          <a:xfrm>
            <a:off x="9890790" y="2339659"/>
            <a:ext cx="130603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155" name="Shape 153"/>
          <p:cNvSpPr/>
          <p:nvPr/>
        </p:nvSpPr>
        <p:spPr>
          <a:xfrm>
            <a:off x="11196828" y="2339659"/>
            <a:ext cx="315468" cy="183138"/>
          </a:xfrm>
          <a:prstGeom prst="rect">
            <a:avLst/>
          </a:prstGeom>
          <a:solidFill>
            <a:srgbClr val="D9D9D9"/>
          </a:solidFill>
          <a:ln w="6350">
            <a:solidFill>
              <a:srgbClr val="FFFFFF"/>
            </a:solidFill>
            <a:prstDash val="solid"/>
          </a:ln>
        </p:spPr>
      </p:sp>
      <p:sp>
        <p:nvSpPr>
          <p:cNvPr id="156" name="Text 154"/>
          <p:cNvSpPr txBox="1"/>
          <p:nvPr/>
        </p:nvSpPr>
        <p:spPr>
          <a:xfrm>
            <a:off x="11196828" y="2339659"/>
            <a:ext cx="31546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10</a:t>
            </a:r>
            <a:endParaRPr lang="en-US" sz="1300" dirty="0"/>
          </a:p>
        </p:txBody>
      </p:sp>
      <p:sp>
        <p:nvSpPr>
          <p:cNvPr id="157" name="Text 155"/>
          <p:cNvSpPr txBox="1"/>
          <p:nvPr/>
        </p:nvSpPr>
        <p:spPr>
          <a:xfrm>
            <a:off x="6208776"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58" name="Shape 156"/>
          <p:cNvSpPr/>
          <p:nvPr/>
        </p:nvSpPr>
        <p:spPr>
          <a:xfrm>
            <a:off x="8357616" y="2580630"/>
            <a:ext cx="1384905" cy="183138"/>
          </a:xfrm>
          <a:prstGeom prst="rect">
            <a:avLst/>
          </a:prstGeom>
          <a:solidFill>
            <a:srgbClr val="2587C5"/>
          </a:solidFill>
          <a:ln w="6350">
            <a:solidFill>
              <a:srgbClr val="FFFFFF"/>
            </a:solidFill>
            <a:prstDash val="solid"/>
          </a:ln>
        </p:spPr>
      </p:sp>
      <p:sp>
        <p:nvSpPr>
          <p:cNvPr id="159" name="Text 157"/>
          <p:cNvSpPr txBox="1"/>
          <p:nvPr/>
        </p:nvSpPr>
        <p:spPr>
          <a:xfrm>
            <a:off x="8357616" y="2580630"/>
            <a:ext cx="138490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44</a:t>
            </a:r>
            <a:endParaRPr lang="en-US" sz="1300" dirty="0"/>
          </a:p>
        </p:txBody>
      </p:sp>
      <p:sp>
        <p:nvSpPr>
          <p:cNvPr id="160" name="Shape 158"/>
          <p:cNvSpPr/>
          <p:nvPr/>
        </p:nvSpPr>
        <p:spPr>
          <a:xfrm>
            <a:off x="9742521" y="2580630"/>
            <a:ext cx="1315502" cy="183138"/>
          </a:xfrm>
          <a:prstGeom prst="rect">
            <a:avLst/>
          </a:prstGeom>
          <a:solidFill>
            <a:srgbClr val="0B2C4A"/>
          </a:solidFill>
          <a:ln w="6350">
            <a:solidFill>
              <a:srgbClr val="FFFFFF"/>
            </a:solidFill>
            <a:prstDash val="solid"/>
          </a:ln>
        </p:spPr>
      </p:sp>
      <p:sp>
        <p:nvSpPr>
          <p:cNvPr id="161" name="Text 159"/>
          <p:cNvSpPr txBox="1"/>
          <p:nvPr/>
        </p:nvSpPr>
        <p:spPr>
          <a:xfrm>
            <a:off x="9742521" y="2580630"/>
            <a:ext cx="131550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42</a:t>
            </a:r>
            <a:endParaRPr lang="en-US" sz="1300" dirty="0"/>
          </a:p>
        </p:txBody>
      </p:sp>
      <p:sp>
        <p:nvSpPr>
          <p:cNvPr id="162" name="Shape 160"/>
          <p:cNvSpPr/>
          <p:nvPr/>
        </p:nvSpPr>
        <p:spPr>
          <a:xfrm>
            <a:off x="11058022" y="2580630"/>
            <a:ext cx="454274" cy="183138"/>
          </a:xfrm>
          <a:prstGeom prst="rect">
            <a:avLst/>
          </a:prstGeom>
          <a:solidFill>
            <a:srgbClr val="D9D9D9"/>
          </a:solidFill>
          <a:ln w="6350">
            <a:solidFill>
              <a:srgbClr val="FFFFFF"/>
            </a:solidFill>
            <a:prstDash val="solid"/>
          </a:ln>
        </p:spPr>
      </p:sp>
      <p:sp>
        <p:nvSpPr>
          <p:cNvPr id="163" name="Text 161"/>
          <p:cNvSpPr txBox="1"/>
          <p:nvPr/>
        </p:nvSpPr>
        <p:spPr>
          <a:xfrm>
            <a:off x="11058022" y="2580630"/>
            <a:ext cx="45427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164" name="Text 162"/>
          <p:cNvSpPr txBox="1"/>
          <p:nvPr/>
        </p:nvSpPr>
        <p:spPr>
          <a:xfrm>
            <a:off x="6208776"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65" name="Shape 163"/>
          <p:cNvSpPr/>
          <p:nvPr/>
        </p:nvSpPr>
        <p:spPr>
          <a:xfrm>
            <a:off x="8357616" y="2821602"/>
            <a:ext cx="1356512" cy="183138"/>
          </a:xfrm>
          <a:prstGeom prst="rect">
            <a:avLst/>
          </a:prstGeom>
          <a:solidFill>
            <a:srgbClr val="2587C5"/>
          </a:solidFill>
          <a:ln w="6350">
            <a:solidFill>
              <a:srgbClr val="FFFFFF"/>
            </a:solidFill>
            <a:prstDash val="solid"/>
          </a:ln>
        </p:spPr>
      </p:sp>
      <p:sp>
        <p:nvSpPr>
          <p:cNvPr id="166" name="Text 164"/>
          <p:cNvSpPr txBox="1"/>
          <p:nvPr/>
        </p:nvSpPr>
        <p:spPr>
          <a:xfrm>
            <a:off x="8357616" y="2821602"/>
            <a:ext cx="135651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43</a:t>
            </a:r>
            <a:endParaRPr lang="en-US" sz="1300" dirty="0"/>
          </a:p>
        </p:txBody>
      </p:sp>
      <p:sp>
        <p:nvSpPr>
          <p:cNvPr id="167" name="Shape 165"/>
          <p:cNvSpPr/>
          <p:nvPr/>
        </p:nvSpPr>
        <p:spPr>
          <a:xfrm>
            <a:off x="9714128" y="2821602"/>
            <a:ext cx="946404" cy="183138"/>
          </a:xfrm>
          <a:prstGeom prst="rect">
            <a:avLst/>
          </a:prstGeom>
          <a:solidFill>
            <a:srgbClr val="0B2C4A"/>
          </a:solidFill>
          <a:ln w="6350">
            <a:solidFill>
              <a:srgbClr val="FFFFFF"/>
            </a:solidFill>
            <a:prstDash val="solid"/>
          </a:ln>
        </p:spPr>
      </p:sp>
      <p:sp>
        <p:nvSpPr>
          <p:cNvPr id="168" name="Text 166"/>
          <p:cNvSpPr txBox="1"/>
          <p:nvPr/>
        </p:nvSpPr>
        <p:spPr>
          <a:xfrm>
            <a:off x="9714128" y="2821602"/>
            <a:ext cx="94640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30</a:t>
            </a:r>
            <a:endParaRPr lang="en-US" sz="1300" dirty="0"/>
          </a:p>
        </p:txBody>
      </p:sp>
      <p:sp>
        <p:nvSpPr>
          <p:cNvPr id="169" name="Shape 167"/>
          <p:cNvSpPr/>
          <p:nvPr/>
        </p:nvSpPr>
        <p:spPr>
          <a:xfrm>
            <a:off x="10660532" y="2821602"/>
            <a:ext cx="851764" cy="183138"/>
          </a:xfrm>
          <a:prstGeom prst="rect">
            <a:avLst/>
          </a:prstGeom>
          <a:solidFill>
            <a:srgbClr val="D9D9D9"/>
          </a:solidFill>
          <a:ln w="6350">
            <a:solidFill>
              <a:srgbClr val="FFFFFF"/>
            </a:solidFill>
            <a:prstDash val="solid"/>
          </a:ln>
        </p:spPr>
      </p:sp>
      <p:sp>
        <p:nvSpPr>
          <p:cNvPr id="170" name="Text 168"/>
          <p:cNvSpPr txBox="1"/>
          <p:nvPr/>
        </p:nvSpPr>
        <p:spPr>
          <a:xfrm>
            <a:off x="10660532" y="2821602"/>
            <a:ext cx="85176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27</a:t>
            </a:r>
            <a:endParaRPr lang="en-US" sz="1300" dirty="0"/>
          </a:p>
        </p:txBody>
      </p:sp>
      <p:sp>
        <p:nvSpPr>
          <p:cNvPr id="171" name="Text 169"/>
          <p:cNvSpPr txBox="1"/>
          <p:nvPr/>
        </p:nvSpPr>
        <p:spPr>
          <a:xfrm>
            <a:off x="6208776"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72" name="Shape 170"/>
          <p:cNvSpPr/>
          <p:nvPr/>
        </p:nvSpPr>
        <p:spPr>
          <a:xfrm>
            <a:off x="8357616" y="3062573"/>
            <a:ext cx="1350203" cy="183138"/>
          </a:xfrm>
          <a:prstGeom prst="rect">
            <a:avLst/>
          </a:prstGeom>
          <a:solidFill>
            <a:srgbClr val="2587C5"/>
          </a:solidFill>
          <a:ln w="6350">
            <a:solidFill>
              <a:srgbClr val="FFFFFF"/>
            </a:solidFill>
            <a:prstDash val="solid"/>
          </a:ln>
        </p:spPr>
      </p:sp>
      <p:sp>
        <p:nvSpPr>
          <p:cNvPr id="173" name="Text 171"/>
          <p:cNvSpPr txBox="1"/>
          <p:nvPr/>
        </p:nvSpPr>
        <p:spPr>
          <a:xfrm>
            <a:off x="8357616" y="3062573"/>
            <a:ext cx="135020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43</a:t>
            </a:r>
            <a:endParaRPr lang="en-US" sz="1300" dirty="0"/>
          </a:p>
        </p:txBody>
      </p:sp>
      <p:sp>
        <p:nvSpPr>
          <p:cNvPr id="174" name="Shape 172"/>
          <p:cNvSpPr/>
          <p:nvPr/>
        </p:nvSpPr>
        <p:spPr>
          <a:xfrm>
            <a:off x="9707819" y="3062573"/>
            <a:ext cx="911703" cy="183138"/>
          </a:xfrm>
          <a:prstGeom prst="rect">
            <a:avLst/>
          </a:prstGeom>
          <a:solidFill>
            <a:srgbClr val="0B2C4A"/>
          </a:solidFill>
          <a:ln w="6350">
            <a:solidFill>
              <a:srgbClr val="FFFFFF"/>
            </a:solidFill>
            <a:prstDash val="solid"/>
          </a:ln>
        </p:spPr>
      </p:sp>
      <p:sp>
        <p:nvSpPr>
          <p:cNvPr id="175" name="Text 173"/>
          <p:cNvSpPr txBox="1"/>
          <p:nvPr/>
        </p:nvSpPr>
        <p:spPr>
          <a:xfrm>
            <a:off x="9707819" y="3062573"/>
            <a:ext cx="91170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29</a:t>
            </a:r>
            <a:endParaRPr lang="en-US" sz="1300" dirty="0"/>
          </a:p>
        </p:txBody>
      </p:sp>
      <p:sp>
        <p:nvSpPr>
          <p:cNvPr id="176" name="Shape 174"/>
          <p:cNvSpPr/>
          <p:nvPr/>
        </p:nvSpPr>
        <p:spPr>
          <a:xfrm>
            <a:off x="10619522" y="3062573"/>
            <a:ext cx="892774" cy="183138"/>
          </a:xfrm>
          <a:prstGeom prst="rect">
            <a:avLst/>
          </a:prstGeom>
          <a:solidFill>
            <a:srgbClr val="D9D9D9"/>
          </a:solidFill>
          <a:ln w="6350">
            <a:solidFill>
              <a:srgbClr val="FFFFFF"/>
            </a:solidFill>
            <a:prstDash val="solid"/>
          </a:ln>
        </p:spPr>
      </p:sp>
      <p:sp>
        <p:nvSpPr>
          <p:cNvPr id="177" name="Text 175"/>
          <p:cNvSpPr txBox="1"/>
          <p:nvPr/>
        </p:nvSpPr>
        <p:spPr>
          <a:xfrm>
            <a:off x="10619522" y="3062573"/>
            <a:ext cx="89277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28</a:t>
            </a:r>
            <a:endParaRPr lang="en-US" sz="1300" dirty="0"/>
          </a:p>
        </p:txBody>
      </p:sp>
      <p:sp>
        <p:nvSpPr>
          <p:cNvPr id="178" name="Text 176"/>
          <p:cNvSpPr txBox="1"/>
          <p:nvPr/>
        </p:nvSpPr>
        <p:spPr>
          <a:xfrm>
            <a:off x="6208776"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79" name="Shape 177"/>
          <p:cNvSpPr/>
          <p:nvPr/>
        </p:nvSpPr>
        <p:spPr>
          <a:xfrm>
            <a:off x="8357616" y="3303544"/>
            <a:ext cx="1293419" cy="183138"/>
          </a:xfrm>
          <a:prstGeom prst="rect">
            <a:avLst/>
          </a:prstGeom>
          <a:solidFill>
            <a:srgbClr val="2587C5"/>
          </a:solidFill>
          <a:ln w="6350">
            <a:solidFill>
              <a:srgbClr val="FFFFFF"/>
            </a:solidFill>
            <a:prstDash val="solid"/>
          </a:ln>
        </p:spPr>
      </p:sp>
      <p:sp>
        <p:nvSpPr>
          <p:cNvPr id="180" name="Text 178"/>
          <p:cNvSpPr txBox="1"/>
          <p:nvPr/>
        </p:nvSpPr>
        <p:spPr>
          <a:xfrm>
            <a:off x="8357616" y="3303544"/>
            <a:ext cx="129341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181" name="Shape 179"/>
          <p:cNvSpPr/>
          <p:nvPr/>
        </p:nvSpPr>
        <p:spPr>
          <a:xfrm>
            <a:off x="9651035" y="3303544"/>
            <a:ext cx="1618351" cy="183138"/>
          </a:xfrm>
          <a:prstGeom prst="rect">
            <a:avLst/>
          </a:prstGeom>
          <a:solidFill>
            <a:srgbClr val="0B2C4A"/>
          </a:solidFill>
          <a:ln w="6350">
            <a:solidFill>
              <a:srgbClr val="FFFFFF"/>
            </a:solidFill>
            <a:prstDash val="solid"/>
          </a:ln>
        </p:spPr>
      </p:sp>
      <p:sp>
        <p:nvSpPr>
          <p:cNvPr id="182" name="Text 180"/>
          <p:cNvSpPr txBox="1"/>
          <p:nvPr/>
        </p:nvSpPr>
        <p:spPr>
          <a:xfrm>
            <a:off x="9651035" y="3303544"/>
            <a:ext cx="161835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51</a:t>
            </a:r>
            <a:endParaRPr lang="en-US" sz="1300" dirty="0"/>
          </a:p>
        </p:txBody>
      </p:sp>
      <p:sp>
        <p:nvSpPr>
          <p:cNvPr id="183" name="Shape 181"/>
          <p:cNvSpPr/>
          <p:nvPr/>
        </p:nvSpPr>
        <p:spPr>
          <a:xfrm>
            <a:off x="11269386" y="3303544"/>
            <a:ext cx="242910" cy="183138"/>
          </a:xfrm>
          <a:prstGeom prst="rect">
            <a:avLst/>
          </a:prstGeom>
          <a:solidFill>
            <a:srgbClr val="D9D9D9"/>
          </a:solidFill>
          <a:ln w="6350">
            <a:solidFill>
              <a:srgbClr val="FFFFFF"/>
            </a:solidFill>
            <a:prstDash val="solid"/>
          </a:ln>
        </p:spPr>
      </p:sp>
      <p:sp>
        <p:nvSpPr>
          <p:cNvPr id="184" name="Text 182"/>
          <p:cNvSpPr txBox="1"/>
          <p:nvPr/>
        </p:nvSpPr>
        <p:spPr>
          <a:xfrm>
            <a:off x="11269386" y="3303544"/>
            <a:ext cx="24291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8</a:t>
            </a:r>
            <a:endParaRPr lang="en-US" sz="1300" dirty="0"/>
          </a:p>
        </p:txBody>
      </p:sp>
      <p:sp>
        <p:nvSpPr>
          <p:cNvPr id="185" name="Text 183"/>
          <p:cNvSpPr txBox="1"/>
          <p:nvPr/>
        </p:nvSpPr>
        <p:spPr>
          <a:xfrm>
            <a:off x="6208776"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86" name="Shape 184"/>
          <p:cNvSpPr/>
          <p:nvPr/>
        </p:nvSpPr>
        <p:spPr>
          <a:xfrm>
            <a:off x="8357616" y="3544516"/>
            <a:ext cx="1280800" cy="183138"/>
          </a:xfrm>
          <a:prstGeom prst="rect">
            <a:avLst/>
          </a:prstGeom>
          <a:solidFill>
            <a:srgbClr val="2587C5"/>
          </a:solidFill>
          <a:ln w="6350">
            <a:solidFill>
              <a:srgbClr val="FFFFFF"/>
            </a:solidFill>
            <a:prstDash val="solid"/>
          </a:ln>
        </p:spPr>
      </p:sp>
      <p:sp>
        <p:nvSpPr>
          <p:cNvPr id="187" name="Text 185"/>
          <p:cNvSpPr txBox="1"/>
          <p:nvPr/>
        </p:nvSpPr>
        <p:spPr>
          <a:xfrm>
            <a:off x="8357616" y="3544516"/>
            <a:ext cx="128080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188" name="Shape 186"/>
          <p:cNvSpPr/>
          <p:nvPr/>
        </p:nvSpPr>
        <p:spPr>
          <a:xfrm>
            <a:off x="9638416" y="3544516"/>
            <a:ext cx="1523710" cy="183138"/>
          </a:xfrm>
          <a:prstGeom prst="rect">
            <a:avLst/>
          </a:prstGeom>
          <a:solidFill>
            <a:srgbClr val="0B2C4A"/>
          </a:solidFill>
          <a:ln w="6350">
            <a:solidFill>
              <a:srgbClr val="FFFFFF"/>
            </a:solidFill>
            <a:prstDash val="solid"/>
          </a:ln>
        </p:spPr>
      </p:sp>
      <p:sp>
        <p:nvSpPr>
          <p:cNvPr id="189" name="Text 187"/>
          <p:cNvSpPr txBox="1"/>
          <p:nvPr/>
        </p:nvSpPr>
        <p:spPr>
          <a:xfrm>
            <a:off x="9638416" y="3544516"/>
            <a:ext cx="152371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48</a:t>
            </a:r>
            <a:endParaRPr lang="en-US" sz="1300" dirty="0"/>
          </a:p>
        </p:txBody>
      </p:sp>
      <p:sp>
        <p:nvSpPr>
          <p:cNvPr id="190" name="Shape 188"/>
          <p:cNvSpPr/>
          <p:nvPr/>
        </p:nvSpPr>
        <p:spPr>
          <a:xfrm>
            <a:off x="11162127" y="3544516"/>
            <a:ext cx="350169" cy="183138"/>
          </a:xfrm>
          <a:prstGeom prst="rect">
            <a:avLst/>
          </a:prstGeom>
          <a:solidFill>
            <a:srgbClr val="D9D9D9"/>
          </a:solidFill>
          <a:ln w="6350">
            <a:solidFill>
              <a:srgbClr val="FFFFFF"/>
            </a:solidFill>
            <a:prstDash val="solid"/>
          </a:ln>
        </p:spPr>
      </p:sp>
      <p:sp>
        <p:nvSpPr>
          <p:cNvPr id="191" name="Text 189"/>
          <p:cNvSpPr txBox="1"/>
          <p:nvPr/>
        </p:nvSpPr>
        <p:spPr>
          <a:xfrm>
            <a:off x="11162127" y="3544516"/>
            <a:ext cx="350169"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11</a:t>
            </a:r>
            <a:endParaRPr lang="en-US" sz="1300" dirty="0"/>
          </a:p>
        </p:txBody>
      </p:sp>
      <p:sp>
        <p:nvSpPr>
          <p:cNvPr id="192" name="Text 190"/>
          <p:cNvSpPr txBox="1"/>
          <p:nvPr/>
        </p:nvSpPr>
        <p:spPr>
          <a:xfrm>
            <a:off x="6208776"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93" name="Shape 191"/>
          <p:cNvSpPr/>
          <p:nvPr/>
        </p:nvSpPr>
        <p:spPr>
          <a:xfrm>
            <a:off x="8357616" y="3785487"/>
            <a:ext cx="1268181" cy="183138"/>
          </a:xfrm>
          <a:prstGeom prst="rect">
            <a:avLst/>
          </a:prstGeom>
          <a:solidFill>
            <a:srgbClr val="2587C5"/>
          </a:solidFill>
          <a:ln w="6350">
            <a:solidFill>
              <a:srgbClr val="FFFFFF"/>
            </a:solidFill>
            <a:prstDash val="solid"/>
          </a:ln>
        </p:spPr>
      </p:sp>
      <p:sp>
        <p:nvSpPr>
          <p:cNvPr id="194" name="Text 192"/>
          <p:cNvSpPr txBox="1"/>
          <p:nvPr/>
        </p:nvSpPr>
        <p:spPr>
          <a:xfrm>
            <a:off x="8357616" y="3785487"/>
            <a:ext cx="126818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40</a:t>
            </a:r>
            <a:endParaRPr lang="en-US" sz="1300" dirty="0"/>
          </a:p>
        </p:txBody>
      </p:sp>
      <p:sp>
        <p:nvSpPr>
          <p:cNvPr id="195" name="Shape 193"/>
          <p:cNvSpPr/>
          <p:nvPr/>
        </p:nvSpPr>
        <p:spPr>
          <a:xfrm>
            <a:off x="9625797" y="3785487"/>
            <a:ext cx="1321811" cy="183138"/>
          </a:xfrm>
          <a:prstGeom prst="rect">
            <a:avLst/>
          </a:prstGeom>
          <a:solidFill>
            <a:srgbClr val="0B2C4A"/>
          </a:solidFill>
          <a:ln w="6350">
            <a:solidFill>
              <a:srgbClr val="FFFFFF"/>
            </a:solidFill>
            <a:prstDash val="solid"/>
          </a:ln>
        </p:spPr>
      </p:sp>
      <p:sp>
        <p:nvSpPr>
          <p:cNvPr id="196" name="Text 194"/>
          <p:cNvSpPr txBox="1"/>
          <p:nvPr/>
        </p:nvSpPr>
        <p:spPr>
          <a:xfrm>
            <a:off x="9625797" y="3785487"/>
            <a:ext cx="132181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42</a:t>
            </a:r>
            <a:endParaRPr lang="en-US" sz="1300" dirty="0"/>
          </a:p>
        </p:txBody>
      </p:sp>
      <p:sp>
        <p:nvSpPr>
          <p:cNvPr id="197" name="Shape 195"/>
          <p:cNvSpPr/>
          <p:nvPr/>
        </p:nvSpPr>
        <p:spPr>
          <a:xfrm>
            <a:off x="10947608" y="3785487"/>
            <a:ext cx="564688" cy="183138"/>
          </a:xfrm>
          <a:prstGeom prst="rect">
            <a:avLst/>
          </a:prstGeom>
          <a:solidFill>
            <a:srgbClr val="D9D9D9"/>
          </a:solidFill>
          <a:ln w="6350">
            <a:solidFill>
              <a:srgbClr val="FFFFFF"/>
            </a:solidFill>
            <a:prstDash val="solid"/>
          </a:ln>
        </p:spPr>
      </p:sp>
      <p:sp>
        <p:nvSpPr>
          <p:cNvPr id="198" name="Text 196"/>
          <p:cNvSpPr txBox="1"/>
          <p:nvPr/>
        </p:nvSpPr>
        <p:spPr>
          <a:xfrm>
            <a:off x="10947608" y="3785487"/>
            <a:ext cx="56468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18</a:t>
            </a:r>
            <a:endParaRPr lang="en-US" sz="1300" dirty="0"/>
          </a:p>
        </p:txBody>
      </p:sp>
      <p:sp>
        <p:nvSpPr>
          <p:cNvPr id="199" name="Text 197"/>
          <p:cNvSpPr txBox="1"/>
          <p:nvPr/>
        </p:nvSpPr>
        <p:spPr>
          <a:xfrm>
            <a:off x="6208776"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200" name="Shape 198"/>
          <p:cNvSpPr/>
          <p:nvPr/>
        </p:nvSpPr>
        <p:spPr>
          <a:xfrm>
            <a:off x="8357616" y="4026458"/>
            <a:ext cx="1211397" cy="183138"/>
          </a:xfrm>
          <a:prstGeom prst="rect">
            <a:avLst/>
          </a:prstGeom>
          <a:solidFill>
            <a:srgbClr val="2587C5"/>
          </a:solidFill>
          <a:ln w="6350">
            <a:solidFill>
              <a:srgbClr val="FFFFFF"/>
            </a:solidFill>
            <a:prstDash val="solid"/>
          </a:ln>
        </p:spPr>
      </p:sp>
      <p:sp>
        <p:nvSpPr>
          <p:cNvPr id="201" name="Text 199"/>
          <p:cNvSpPr txBox="1"/>
          <p:nvPr/>
        </p:nvSpPr>
        <p:spPr>
          <a:xfrm>
            <a:off x="8357616" y="4026458"/>
            <a:ext cx="121139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38</a:t>
            </a:r>
            <a:endParaRPr lang="en-US" sz="1300" dirty="0"/>
          </a:p>
        </p:txBody>
      </p:sp>
      <p:sp>
        <p:nvSpPr>
          <p:cNvPr id="202" name="Shape 200"/>
          <p:cNvSpPr/>
          <p:nvPr/>
        </p:nvSpPr>
        <p:spPr>
          <a:xfrm>
            <a:off x="9569013" y="4026458"/>
            <a:ext cx="1028426" cy="183138"/>
          </a:xfrm>
          <a:prstGeom prst="rect">
            <a:avLst/>
          </a:prstGeom>
          <a:solidFill>
            <a:srgbClr val="0B2C4A"/>
          </a:solidFill>
          <a:ln w="6350">
            <a:solidFill>
              <a:srgbClr val="FFFFFF"/>
            </a:solidFill>
            <a:prstDash val="solid"/>
          </a:ln>
        </p:spPr>
      </p:sp>
      <p:sp>
        <p:nvSpPr>
          <p:cNvPr id="203" name="Text 201"/>
          <p:cNvSpPr txBox="1"/>
          <p:nvPr/>
        </p:nvSpPr>
        <p:spPr>
          <a:xfrm>
            <a:off x="9569013" y="4026458"/>
            <a:ext cx="102842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204" name="Shape 202"/>
          <p:cNvSpPr/>
          <p:nvPr/>
        </p:nvSpPr>
        <p:spPr>
          <a:xfrm>
            <a:off x="10597439" y="4026458"/>
            <a:ext cx="914857" cy="183138"/>
          </a:xfrm>
          <a:prstGeom prst="rect">
            <a:avLst/>
          </a:prstGeom>
          <a:solidFill>
            <a:srgbClr val="D9D9D9"/>
          </a:solidFill>
          <a:ln w="6350">
            <a:solidFill>
              <a:srgbClr val="FFFFFF"/>
            </a:solidFill>
            <a:prstDash val="solid"/>
          </a:ln>
        </p:spPr>
      </p:sp>
      <p:sp>
        <p:nvSpPr>
          <p:cNvPr id="205" name="Text 203"/>
          <p:cNvSpPr txBox="1"/>
          <p:nvPr/>
        </p:nvSpPr>
        <p:spPr>
          <a:xfrm>
            <a:off x="10597439" y="4026458"/>
            <a:ext cx="91485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206" name="Text 204"/>
          <p:cNvSpPr txBox="1"/>
          <p:nvPr/>
        </p:nvSpPr>
        <p:spPr>
          <a:xfrm>
            <a:off x="6208776"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207" name="Shape 205"/>
          <p:cNvSpPr/>
          <p:nvPr/>
        </p:nvSpPr>
        <p:spPr>
          <a:xfrm>
            <a:off x="8357616" y="4267429"/>
            <a:ext cx="1107293" cy="183138"/>
          </a:xfrm>
          <a:prstGeom prst="rect">
            <a:avLst/>
          </a:prstGeom>
          <a:solidFill>
            <a:srgbClr val="2587C5"/>
          </a:solidFill>
          <a:ln w="6350">
            <a:solidFill>
              <a:srgbClr val="FFFFFF"/>
            </a:solidFill>
            <a:prstDash val="solid"/>
          </a:ln>
        </p:spPr>
      </p:sp>
      <p:sp>
        <p:nvSpPr>
          <p:cNvPr id="208" name="Text 206"/>
          <p:cNvSpPr txBox="1"/>
          <p:nvPr/>
        </p:nvSpPr>
        <p:spPr>
          <a:xfrm>
            <a:off x="8357616" y="4267429"/>
            <a:ext cx="110729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35</a:t>
            </a:r>
            <a:endParaRPr lang="en-US" sz="1300" dirty="0"/>
          </a:p>
        </p:txBody>
      </p:sp>
      <p:sp>
        <p:nvSpPr>
          <p:cNvPr id="209" name="Shape 207"/>
          <p:cNvSpPr/>
          <p:nvPr/>
        </p:nvSpPr>
        <p:spPr>
          <a:xfrm>
            <a:off x="9464909" y="4267429"/>
            <a:ext cx="1192469" cy="183138"/>
          </a:xfrm>
          <a:prstGeom prst="rect">
            <a:avLst/>
          </a:prstGeom>
          <a:solidFill>
            <a:srgbClr val="0B2C4A"/>
          </a:solidFill>
          <a:ln w="6350">
            <a:solidFill>
              <a:srgbClr val="FFFFFF"/>
            </a:solidFill>
            <a:prstDash val="solid"/>
          </a:ln>
        </p:spPr>
      </p:sp>
      <p:sp>
        <p:nvSpPr>
          <p:cNvPr id="210" name="Text 208"/>
          <p:cNvSpPr txBox="1"/>
          <p:nvPr/>
        </p:nvSpPr>
        <p:spPr>
          <a:xfrm>
            <a:off x="9464909" y="4267429"/>
            <a:ext cx="11924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38</a:t>
            </a:r>
            <a:endParaRPr lang="en-US" sz="1300" dirty="0"/>
          </a:p>
        </p:txBody>
      </p:sp>
      <p:sp>
        <p:nvSpPr>
          <p:cNvPr id="211" name="Shape 209"/>
          <p:cNvSpPr/>
          <p:nvPr/>
        </p:nvSpPr>
        <p:spPr>
          <a:xfrm>
            <a:off x="10657378" y="4267429"/>
            <a:ext cx="854918" cy="183138"/>
          </a:xfrm>
          <a:prstGeom prst="rect">
            <a:avLst/>
          </a:prstGeom>
          <a:solidFill>
            <a:srgbClr val="D9D9D9"/>
          </a:solidFill>
          <a:ln w="6350">
            <a:solidFill>
              <a:srgbClr val="FFFFFF"/>
            </a:solidFill>
            <a:prstDash val="solid"/>
          </a:ln>
        </p:spPr>
      </p:sp>
      <p:sp>
        <p:nvSpPr>
          <p:cNvPr id="212" name="Text 210"/>
          <p:cNvSpPr txBox="1"/>
          <p:nvPr/>
        </p:nvSpPr>
        <p:spPr>
          <a:xfrm>
            <a:off x="10657378" y="4267429"/>
            <a:ext cx="85491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27</a:t>
            </a:r>
            <a:endParaRPr lang="en-US" sz="1300" dirty="0"/>
          </a:p>
        </p:txBody>
      </p:sp>
      <p:sp>
        <p:nvSpPr>
          <p:cNvPr id="213" name="Text 211"/>
          <p:cNvSpPr txBox="1"/>
          <p:nvPr/>
        </p:nvSpPr>
        <p:spPr>
          <a:xfrm>
            <a:off x="6208776"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214" name="Shape 212"/>
          <p:cNvSpPr/>
          <p:nvPr/>
        </p:nvSpPr>
        <p:spPr>
          <a:xfrm>
            <a:off x="8357616" y="4508401"/>
            <a:ext cx="1069437" cy="183138"/>
          </a:xfrm>
          <a:prstGeom prst="rect">
            <a:avLst/>
          </a:prstGeom>
          <a:solidFill>
            <a:srgbClr val="2587C5"/>
          </a:solidFill>
          <a:ln w="6350">
            <a:solidFill>
              <a:srgbClr val="FFFFFF"/>
            </a:solidFill>
            <a:prstDash val="solid"/>
          </a:ln>
        </p:spPr>
      </p:sp>
      <p:sp>
        <p:nvSpPr>
          <p:cNvPr id="215" name="Text 213"/>
          <p:cNvSpPr txBox="1"/>
          <p:nvPr/>
        </p:nvSpPr>
        <p:spPr>
          <a:xfrm>
            <a:off x="8357616" y="4508401"/>
            <a:ext cx="106943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34</a:t>
            </a:r>
            <a:endParaRPr lang="en-US" sz="1300" dirty="0"/>
          </a:p>
        </p:txBody>
      </p:sp>
      <p:sp>
        <p:nvSpPr>
          <p:cNvPr id="216" name="Shape 214"/>
          <p:cNvSpPr/>
          <p:nvPr/>
        </p:nvSpPr>
        <p:spPr>
          <a:xfrm>
            <a:off x="9427053" y="4508401"/>
            <a:ext cx="82022" cy="183138"/>
          </a:xfrm>
          <a:prstGeom prst="rect">
            <a:avLst/>
          </a:prstGeom>
          <a:solidFill>
            <a:srgbClr val="0B2C4A"/>
          </a:solidFill>
          <a:ln w="6350">
            <a:solidFill>
              <a:srgbClr val="FFFFFF"/>
            </a:solidFill>
            <a:prstDash val="solid"/>
          </a:ln>
        </p:spPr>
      </p:sp>
      <p:sp>
        <p:nvSpPr>
          <p:cNvPr id="217" name="Shape 215"/>
          <p:cNvSpPr/>
          <p:nvPr/>
        </p:nvSpPr>
        <p:spPr>
          <a:xfrm>
            <a:off x="9509074" y="4508401"/>
            <a:ext cx="2003222" cy="183138"/>
          </a:xfrm>
          <a:prstGeom prst="rect">
            <a:avLst/>
          </a:prstGeom>
          <a:solidFill>
            <a:srgbClr val="D9D9D9"/>
          </a:solidFill>
          <a:ln w="6350">
            <a:solidFill>
              <a:srgbClr val="FFFFFF"/>
            </a:solidFill>
            <a:prstDash val="solid"/>
          </a:ln>
        </p:spPr>
      </p:sp>
      <p:sp>
        <p:nvSpPr>
          <p:cNvPr id="218" name="Text 216"/>
          <p:cNvSpPr txBox="1"/>
          <p:nvPr/>
        </p:nvSpPr>
        <p:spPr>
          <a:xfrm>
            <a:off x="9509074" y="4508401"/>
            <a:ext cx="200322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64</a:t>
            </a:r>
            <a:endParaRPr lang="en-US" sz="1300" dirty="0"/>
          </a:p>
        </p:txBody>
      </p:sp>
      <p:sp>
        <p:nvSpPr>
          <p:cNvPr id="219" name="Text 217"/>
          <p:cNvSpPr txBox="1"/>
          <p:nvPr/>
        </p:nvSpPr>
        <p:spPr>
          <a:xfrm>
            <a:off x="6208776"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220" name="Shape 218"/>
          <p:cNvSpPr/>
          <p:nvPr/>
        </p:nvSpPr>
        <p:spPr>
          <a:xfrm>
            <a:off x="8357616" y="4749372"/>
            <a:ext cx="1034735" cy="183138"/>
          </a:xfrm>
          <a:prstGeom prst="rect">
            <a:avLst/>
          </a:prstGeom>
          <a:solidFill>
            <a:srgbClr val="2587C5"/>
          </a:solidFill>
          <a:ln w="6350">
            <a:solidFill>
              <a:srgbClr val="FFFFFF"/>
            </a:solidFill>
            <a:prstDash val="solid"/>
          </a:ln>
        </p:spPr>
      </p:sp>
      <p:sp>
        <p:nvSpPr>
          <p:cNvPr id="221" name="Text 219"/>
          <p:cNvSpPr txBox="1"/>
          <p:nvPr/>
        </p:nvSpPr>
        <p:spPr>
          <a:xfrm>
            <a:off x="8357616" y="4749372"/>
            <a:ext cx="103473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222" name="Shape 220"/>
          <p:cNvSpPr/>
          <p:nvPr/>
        </p:nvSpPr>
        <p:spPr>
          <a:xfrm>
            <a:off x="9392351" y="4749372"/>
            <a:ext cx="1722455" cy="183138"/>
          </a:xfrm>
          <a:prstGeom prst="rect">
            <a:avLst/>
          </a:prstGeom>
          <a:solidFill>
            <a:srgbClr val="0B2C4A"/>
          </a:solidFill>
          <a:ln w="6350">
            <a:solidFill>
              <a:srgbClr val="FFFFFF"/>
            </a:solidFill>
            <a:prstDash val="solid"/>
          </a:ln>
        </p:spPr>
      </p:sp>
      <p:sp>
        <p:nvSpPr>
          <p:cNvPr id="223" name="Text 221"/>
          <p:cNvSpPr txBox="1"/>
          <p:nvPr/>
        </p:nvSpPr>
        <p:spPr>
          <a:xfrm>
            <a:off x="9392351" y="4749372"/>
            <a:ext cx="172245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224" name="Shape 222"/>
          <p:cNvSpPr/>
          <p:nvPr/>
        </p:nvSpPr>
        <p:spPr>
          <a:xfrm>
            <a:off x="11114806" y="4749372"/>
            <a:ext cx="397490" cy="183138"/>
          </a:xfrm>
          <a:prstGeom prst="rect">
            <a:avLst/>
          </a:prstGeom>
          <a:solidFill>
            <a:srgbClr val="D9D9D9"/>
          </a:solidFill>
          <a:ln w="6350">
            <a:solidFill>
              <a:srgbClr val="FFFFFF"/>
            </a:solidFill>
            <a:prstDash val="solid"/>
          </a:ln>
        </p:spPr>
      </p:sp>
      <p:sp>
        <p:nvSpPr>
          <p:cNvPr id="225" name="Text 223"/>
          <p:cNvSpPr txBox="1"/>
          <p:nvPr/>
        </p:nvSpPr>
        <p:spPr>
          <a:xfrm>
            <a:off x="11114806" y="4749372"/>
            <a:ext cx="39749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13</a:t>
            </a:r>
            <a:endParaRPr lang="en-US" sz="1300" dirty="0"/>
          </a:p>
        </p:txBody>
      </p:sp>
      <p:sp>
        <p:nvSpPr>
          <p:cNvPr id="226" name="Text 224"/>
          <p:cNvSpPr txBox="1"/>
          <p:nvPr/>
        </p:nvSpPr>
        <p:spPr>
          <a:xfrm>
            <a:off x="6208776"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227" name="Shape 225"/>
          <p:cNvSpPr/>
          <p:nvPr/>
        </p:nvSpPr>
        <p:spPr>
          <a:xfrm>
            <a:off x="8357616" y="4990343"/>
            <a:ext cx="1015807" cy="183138"/>
          </a:xfrm>
          <a:prstGeom prst="rect">
            <a:avLst/>
          </a:prstGeom>
          <a:solidFill>
            <a:srgbClr val="2587C5"/>
          </a:solidFill>
          <a:ln w="6350">
            <a:solidFill>
              <a:srgbClr val="FFFFFF"/>
            </a:solidFill>
            <a:prstDash val="solid"/>
          </a:ln>
        </p:spPr>
      </p:sp>
      <p:sp>
        <p:nvSpPr>
          <p:cNvPr id="228" name="Text 226"/>
          <p:cNvSpPr txBox="1"/>
          <p:nvPr/>
        </p:nvSpPr>
        <p:spPr>
          <a:xfrm>
            <a:off x="8357616" y="4990343"/>
            <a:ext cx="101580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229" name="Shape 227"/>
          <p:cNvSpPr/>
          <p:nvPr/>
        </p:nvSpPr>
        <p:spPr>
          <a:xfrm>
            <a:off x="9373423" y="4990343"/>
            <a:ext cx="936940" cy="183138"/>
          </a:xfrm>
          <a:prstGeom prst="rect">
            <a:avLst/>
          </a:prstGeom>
          <a:solidFill>
            <a:srgbClr val="0B2C4A"/>
          </a:solidFill>
          <a:ln w="6350">
            <a:solidFill>
              <a:srgbClr val="FFFFFF"/>
            </a:solidFill>
            <a:prstDash val="solid"/>
          </a:ln>
        </p:spPr>
      </p:sp>
      <p:sp>
        <p:nvSpPr>
          <p:cNvPr id="230" name="Text 228"/>
          <p:cNvSpPr txBox="1"/>
          <p:nvPr/>
        </p:nvSpPr>
        <p:spPr>
          <a:xfrm>
            <a:off x="9373423" y="4990343"/>
            <a:ext cx="9369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30</a:t>
            </a:r>
            <a:endParaRPr lang="en-US" sz="1300" dirty="0"/>
          </a:p>
        </p:txBody>
      </p:sp>
      <p:sp>
        <p:nvSpPr>
          <p:cNvPr id="231" name="Shape 229"/>
          <p:cNvSpPr/>
          <p:nvPr/>
        </p:nvSpPr>
        <p:spPr>
          <a:xfrm>
            <a:off x="10310363" y="4990343"/>
            <a:ext cx="1201933" cy="183138"/>
          </a:xfrm>
          <a:prstGeom prst="rect">
            <a:avLst/>
          </a:prstGeom>
          <a:solidFill>
            <a:srgbClr val="D9D9D9"/>
          </a:solidFill>
          <a:ln w="6350">
            <a:solidFill>
              <a:srgbClr val="FFFFFF"/>
            </a:solidFill>
            <a:prstDash val="solid"/>
          </a:ln>
        </p:spPr>
      </p:sp>
      <p:sp>
        <p:nvSpPr>
          <p:cNvPr id="232" name="Text 230"/>
          <p:cNvSpPr txBox="1"/>
          <p:nvPr/>
        </p:nvSpPr>
        <p:spPr>
          <a:xfrm>
            <a:off x="10310363" y="4990343"/>
            <a:ext cx="120193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38</a:t>
            </a:r>
            <a:endParaRPr lang="en-US" sz="1300" dirty="0"/>
          </a:p>
        </p:txBody>
      </p:sp>
      <p:sp>
        <p:nvSpPr>
          <p:cNvPr id="233" name="Text 231"/>
          <p:cNvSpPr txBox="1"/>
          <p:nvPr/>
        </p:nvSpPr>
        <p:spPr>
          <a:xfrm>
            <a:off x="6208776"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234" name="Shape 232"/>
          <p:cNvSpPr/>
          <p:nvPr/>
        </p:nvSpPr>
        <p:spPr>
          <a:xfrm>
            <a:off x="8357616" y="5231315"/>
            <a:ext cx="867537" cy="183138"/>
          </a:xfrm>
          <a:prstGeom prst="rect">
            <a:avLst/>
          </a:prstGeom>
          <a:solidFill>
            <a:srgbClr val="2587C5"/>
          </a:solidFill>
          <a:ln w="6350">
            <a:solidFill>
              <a:srgbClr val="FFFFFF"/>
            </a:solidFill>
            <a:prstDash val="solid"/>
          </a:ln>
        </p:spPr>
      </p:sp>
      <p:sp>
        <p:nvSpPr>
          <p:cNvPr id="235" name="Text 233"/>
          <p:cNvSpPr txBox="1"/>
          <p:nvPr/>
        </p:nvSpPr>
        <p:spPr>
          <a:xfrm>
            <a:off x="8357616" y="5231315"/>
            <a:ext cx="86753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236" name="Shape 234"/>
          <p:cNvSpPr/>
          <p:nvPr/>
        </p:nvSpPr>
        <p:spPr>
          <a:xfrm>
            <a:off x="9225153" y="5231315"/>
            <a:ext cx="864382" cy="183138"/>
          </a:xfrm>
          <a:prstGeom prst="rect">
            <a:avLst/>
          </a:prstGeom>
          <a:solidFill>
            <a:srgbClr val="0B2C4A"/>
          </a:solidFill>
          <a:ln w="6350">
            <a:solidFill>
              <a:srgbClr val="FFFFFF"/>
            </a:solidFill>
            <a:prstDash val="solid"/>
          </a:ln>
        </p:spPr>
      </p:sp>
      <p:sp>
        <p:nvSpPr>
          <p:cNvPr id="237" name="Text 235"/>
          <p:cNvSpPr txBox="1"/>
          <p:nvPr/>
        </p:nvSpPr>
        <p:spPr>
          <a:xfrm>
            <a:off x="9225153" y="5231315"/>
            <a:ext cx="86438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238" name="Shape 236"/>
          <p:cNvSpPr/>
          <p:nvPr/>
        </p:nvSpPr>
        <p:spPr>
          <a:xfrm>
            <a:off x="10089535" y="5231315"/>
            <a:ext cx="1422761" cy="183138"/>
          </a:xfrm>
          <a:prstGeom prst="rect">
            <a:avLst/>
          </a:prstGeom>
          <a:solidFill>
            <a:srgbClr val="D9D9D9"/>
          </a:solidFill>
          <a:ln w="6350">
            <a:solidFill>
              <a:srgbClr val="FFFFFF"/>
            </a:solidFill>
            <a:prstDash val="solid"/>
          </a:ln>
        </p:spPr>
      </p:sp>
      <p:sp>
        <p:nvSpPr>
          <p:cNvPr id="239" name="Text 237"/>
          <p:cNvSpPr txBox="1"/>
          <p:nvPr/>
        </p:nvSpPr>
        <p:spPr>
          <a:xfrm>
            <a:off x="10089535" y="5231315"/>
            <a:ext cx="142276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45</a:t>
            </a:r>
            <a:endParaRPr lang="en-US" sz="1300" dirty="0"/>
          </a:p>
        </p:txBody>
      </p:sp>
      <p:sp>
        <p:nvSpPr>
          <p:cNvPr id="240" name="Text 238"/>
          <p:cNvSpPr txBox="1"/>
          <p:nvPr/>
        </p:nvSpPr>
        <p:spPr>
          <a:xfrm>
            <a:off x="6208776"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241" name="Shape 239"/>
          <p:cNvSpPr/>
          <p:nvPr/>
        </p:nvSpPr>
        <p:spPr>
          <a:xfrm>
            <a:off x="8357616" y="5472286"/>
            <a:ext cx="835990" cy="183138"/>
          </a:xfrm>
          <a:prstGeom prst="rect">
            <a:avLst/>
          </a:prstGeom>
          <a:solidFill>
            <a:srgbClr val="2587C5"/>
          </a:solidFill>
          <a:ln w="6350">
            <a:solidFill>
              <a:srgbClr val="FFFFFF"/>
            </a:solidFill>
            <a:prstDash val="solid"/>
          </a:ln>
        </p:spPr>
      </p:sp>
      <p:sp>
        <p:nvSpPr>
          <p:cNvPr id="242" name="Text 240"/>
          <p:cNvSpPr txBox="1"/>
          <p:nvPr/>
        </p:nvSpPr>
        <p:spPr>
          <a:xfrm>
            <a:off x="8357616" y="5472286"/>
            <a:ext cx="83599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243" name="Shape 241"/>
          <p:cNvSpPr/>
          <p:nvPr/>
        </p:nvSpPr>
        <p:spPr>
          <a:xfrm>
            <a:off x="9193606" y="5472286"/>
            <a:ext cx="684566" cy="183138"/>
          </a:xfrm>
          <a:prstGeom prst="rect">
            <a:avLst/>
          </a:prstGeom>
          <a:solidFill>
            <a:srgbClr val="0B2C4A"/>
          </a:solidFill>
          <a:ln w="6350">
            <a:solidFill>
              <a:srgbClr val="FFFFFF"/>
            </a:solidFill>
            <a:prstDash val="solid"/>
          </a:ln>
        </p:spPr>
      </p:sp>
      <p:sp>
        <p:nvSpPr>
          <p:cNvPr id="244" name="Text 242"/>
          <p:cNvSpPr txBox="1"/>
          <p:nvPr/>
        </p:nvSpPr>
        <p:spPr>
          <a:xfrm>
            <a:off x="9193606" y="5472286"/>
            <a:ext cx="68456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22</a:t>
            </a:r>
            <a:endParaRPr lang="en-US" sz="1300" dirty="0"/>
          </a:p>
        </p:txBody>
      </p:sp>
      <p:sp>
        <p:nvSpPr>
          <p:cNvPr id="245" name="Shape 243"/>
          <p:cNvSpPr/>
          <p:nvPr/>
        </p:nvSpPr>
        <p:spPr>
          <a:xfrm>
            <a:off x="9878172" y="5472286"/>
            <a:ext cx="1634124" cy="183138"/>
          </a:xfrm>
          <a:prstGeom prst="rect">
            <a:avLst/>
          </a:prstGeom>
          <a:solidFill>
            <a:srgbClr val="D9D9D9"/>
          </a:solidFill>
          <a:ln w="6350">
            <a:solidFill>
              <a:srgbClr val="FFFFFF"/>
            </a:solidFill>
            <a:prstDash val="solid"/>
          </a:ln>
        </p:spPr>
      </p:sp>
      <p:sp>
        <p:nvSpPr>
          <p:cNvPr id="246" name="Text 244"/>
          <p:cNvSpPr txBox="1"/>
          <p:nvPr/>
        </p:nvSpPr>
        <p:spPr>
          <a:xfrm>
            <a:off x="9878172" y="5472286"/>
            <a:ext cx="163412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52</a:t>
            </a:r>
            <a:endParaRPr lang="en-US" sz="1300" dirty="0"/>
          </a:p>
        </p:txBody>
      </p:sp>
      <p:sp>
        <p:nvSpPr>
          <p:cNvPr id="247" name="Shape 245"/>
          <p:cNvSpPr/>
          <p:nvPr/>
        </p:nvSpPr>
        <p:spPr>
          <a:xfrm>
            <a:off x="457200" y="6126480"/>
            <a:ext cx="11274552" cy="615696"/>
          </a:xfrm>
          <a:prstGeom prst="rect">
            <a:avLst/>
          </a:prstGeom>
          <a:solidFill>
            <a:srgbClr val="EDF4FA"/>
          </a:solidFill>
          <a:ln/>
        </p:spPr>
      </p:sp>
      <p:sp>
        <p:nvSpPr>
          <p:cNvPr id="248" name="Text 24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Maintenance is 54.3% of customer-pay labor, repair 30.5%, and 15.2% cannot be classified from its description (19.0% in 2025).</a:t>
            </a:r>
            <a:endParaRPr lang="en-US" sz="1600" dirty="0"/>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$158.86</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$162.42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+$3.56</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+2.2%</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ELR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371856"/>
          </a:xfrm>
          <a:prstGeom prst="rect">
            <a:avLst/>
          </a:prstGeom>
          <a:solidFill>
            <a:srgbClr val="E6F6EE"/>
          </a:solidFill>
          <a:ln/>
        </p:spPr>
      </p:sp>
      <p:sp>
        <p:nvSpPr>
          <p:cNvPr id="28"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$3.56 to $162.42, ahead of 2025 in all nine months.</a:t>
            </a:r>
            <a:endParaRPr lang="en-US" sz="1600" dirty="0"/>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$162.42</a:t>
            </a:r>
            <a:endParaRPr lang="en-US" sz="2000" dirty="0"/>
          </a:p>
        </p:txBody>
      </p:sp>
      <p:sp>
        <p:nvSpPr>
          <p:cNvPr id="11" name="Text 9"/>
          <p:cNvSpPr txBox="1"/>
          <p:nvPr/>
        </p:nvSpPr>
        <p:spPr>
          <a:xfrm>
            <a:off x="859536" y="1847088"/>
            <a:ext cx="10607040"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Each segment ranked on its own. Navy line = each segment's average; green at or above it.</a:t>
            </a:r>
            <a:endParaRPr lang="en-US" sz="1400" dirty="0"/>
          </a:p>
        </p:txBody>
      </p:sp>
      <p:sp>
        <p:nvSpPr>
          <p:cNvPr id="12" name="Text 10"/>
          <p:cNvSpPr txBox="1"/>
          <p:nvPr/>
        </p:nvSpPr>
        <p:spPr>
          <a:xfrm>
            <a:off x="658368" y="2176272"/>
            <a:ext cx="5303520" cy="208280"/>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$217.79</a:t>
            </a:r>
            <a:endParaRPr lang="en-US" sz="1300" dirty="0"/>
          </a:p>
        </p:txBody>
      </p:sp>
      <p:sp>
        <p:nvSpPr>
          <p:cNvPr id="13" name="Shape 11"/>
          <p:cNvSpPr/>
          <p:nvPr/>
        </p:nvSpPr>
        <p:spPr>
          <a:xfrm>
            <a:off x="658368" y="2366264"/>
            <a:ext cx="5303520" cy="18288"/>
          </a:xfrm>
          <a:prstGeom prst="rect">
            <a:avLst/>
          </a:prstGeom>
          <a:solidFill>
            <a:srgbClr val="0B2C4A"/>
          </a:solidFill>
          <a:ln/>
        </p:spPr>
      </p:sp>
      <p:sp>
        <p:nvSpPr>
          <p:cNvPr id="14" name="Text 12"/>
          <p:cNvSpPr txBox="1"/>
          <p:nvPr/>
        </p:nvSpPr>
        <p:spPr>
          <a:xfrm>
            <a:off x="658368" y="23845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5" name="Text 13"/>
          <p:cNvSpPr txBox="1"/>
          <p:nvPr/>
        </p:nvSpPr>
        <p:spPr>
          <a:xfrm>
            <a:off x="1014984" y="23845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6" name="Shape 14"/>
          <p:cNvSpPr/>
          <p:nvPr/>
        </p:nvSpPr>
        <p:spPr>
          <a:xfrm>
            <a:off x="3008376" y="2436622"/>
            <a:ext cx="1457852" cy="104140"/>
          </a:xfrm>
          <a:prstGeom prst="rect">
            <a:avLst/>
          </a:prstGeom>
          <a:solidFill>
            <a:srgbClr val="12A566"/>
          </a:solidFill>
          <a:ln/>
        </p:spPr>
      </p:sp>
      <p:sp>
        <p:nvSpPr>
          <p:cNvPr id="17" name="Text 15"/>
          <p:cNvSpPr txBox="1"/>
          <p:nvPr/>
        </p:nvSpPr>
        <p:spPr>
          <a:xfrm>
            <a:off x="4754880" y="238455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$266.32</a:t>
            </a:r>
            <a:endParaRPr lang="en-US" sz="1200" dirty="0"/>
          </a:p>
        </p:txBody>
      </p:sp>
      <p:sp>
        <p:nvSpPr>
          <p:cNvPr id="18" name="Text 16"/>
          <p:cNvSpPr txBox="1"/>
          <p:nvPr/>
        </p:nvSpPr>
        <p:spPr>
          <a:xfrm>
            <a:off x="658368" y="25928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25928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0" name="Shape 18"/>
          <p:cNvSpPr/>
          <p:nvPr/>
        </p:nvSpPr>
        <p:spPr>
          <a:xfrm>
            <a:off x="3008376" y="2644902"/>
            <a:ext cx="1286740" cy="104140"/>
          </a:xfrm>
          <a:prstGeom prst="rect">
            <a:avLst/>
          </a:prstGeom>
          <a:solidFill>
            <a:srgbClr val="12A566"/>
          </a:solidFill>
          <a:ln/>
        </p:spPr>
      </p:sp>
      <p:sp>
        <p:nvSpPr>
          <p:cNvPr id="21" name="Text 19"/>
          <p:cNvSpPr txBox="1"/>
          <p:nvPr/>
        </p:nvSpPr>
        <p:spPr>
          <a:xfrm>
            <a:off x="4754880" y="259283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$235.07</a:t>
            </a:r>
            <a:endParaRPr lang="en-US" sz="1200" dirty="0"/>
          </a:p>
        </p:txBody>
      </p:sp>
      <p:sp>
        <p:nvSpPr>
          <p:cNvPr id="22" name="Text 20"/>
          <p:cNvSpPr txBox="1"/>
          <p:nvPr/>
        </p:nvSpPr>
        <p:spPr>
          <a:xfrm>
            <a:off x="658368" y="28011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3" name="Text 21"/>
          <p:cNvSpPr txBox="1"/>
          <p:nvPr/>
        </p:nvSpPr>
        <p:spPr>
          <a:xfrm>
            <a:off x="1014984" y="28011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4" name="Shape 22"/>
          <p:cNvSpPr/>
          <p:nvPr/>
        </p:nvSpPr>
        <p:spPr>
          <a:xfrm>
            <a:off x="3008376" y="2853182"/>
            <a:ext cx="1283929" cy="104140"/>
          </a:xfrm>
          <a:prstGeom prst="rect">
            <a:avLst/>
          </a:prstGeom>
          <a:solidFill>
            <a:srgbClr val="12A566"/>
          </a:solidFill>
          <a:ln/>
        </p:spPr>
      </p:sp>
      <p:sp>
        <p:nvSpPr>
          <p:cNvPr id="25" name="Text 23"/>
          <p:cNvSpPr txBox="1"/>
          <p:nvPr/>
        </p:nvSpPr>
        <p:spPr>
          <a:xfrm>
            <a:off x="4754880" y="280111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$234.55</a:t>
            </a:r>
            <a:endParaRPr lang="en-US" sz="1200" dirty="0"/>
          </a:p>
        </p:txBody>
      </p:sp>
      <p:sp>
        <p:nvSpPr>
          <p:cNvPr id="26" name="Text 24"/>
          <p:cNvSpPr txBox="1"/>
          <p:nvPr/>
        </p:nvSpPr>
        <p:spPr>
          <a:xfrm>
            <a:off x="658368" y="30093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7" name="Text 25"/>
          <p:cNvSpPr txBox="1"/>
          <p:nvPr/>
        </p:nvSpPr>
        <p:spPr>
          <a:xfrm>
            <a:off x="1014984" y="30093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8" name="Shape 26"/>
          <p:cNvSpPr/>
          <p:nvPr/>
        </p:nvSpPr>
        <p:spPr>
          <a:xfrm>
            <a:off x="3008376" y="3061462"/>
            <a:ext cx="1279771" cy="104140"/>
          </a:xfrm>
          <a:prstGeom prst="rect">
            <a:avLst/>
          </a:prstGeom>
          <a:solidFill>
            <a:srgbClr val="12A566"/>
          </a:solidFill>
          <a:ln/>
        </p:spPr>
      </p:sp>
      <p:sp>
        <p:nvSpPr>
          <p:cNvPr id="29" name="Text 27"/>
          <p:cNvSpPr txBox="1"/>
          <p:nvPr/>
        </p:nvSpPr>
        <p:spPr>
          <a:xfrm>
            <a:off x="4754880" y="300939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$233.79</a:t>
            </a:r>
            <a:endParaRPr lang="en-US" sz="1200" dirty="0"/>
          </a:p>
        </p:txBody>
      </p:sp>
      <p:sp>
        <p:nvSpPr>
          <p:cNvPr id="30" name="Text 28"/>
          <p:cNvSpPr txBox="1"/>
          <p:nvPr/>
        </p:nvSpPr>
        <p:spPr>
          <a:xfrm>
            <a:off x="658368" y="32176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1" name="Text 29"/>
          <p:cNvSpPr txBox="1"/>
          <p:nvPr/>
        </p:nvSpPr>
        <p:spPr>
          <a:xfrm>
            <a:off x="1014984" y="32176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2" name="Shape 30"/>
          <p:cNvSpPr/>
          <p:nvPr/>
        </p:nvSpPr>
        <p:spPr>
          <a:xfrm>
            <a:off x="3008376" y="3269742"/>
            <a:ext cx="1277948" cy="104140"/>
          </a:xfrm>
          <a:prstGeom prst="rect">
            <a:avLst/>
          </a:prstGeom>
          <a:solidFill>
            <a:srgbClr val="12A566"/>
          </a:solidFill>
          <a:ln/>
        </p:spPr>
      </p:sp>
      <p:sp>
        <p:nvSpPr>
          <p:cNvPr id="33" name="Text 31"/>
          <p:cNvSpPr txBox="1"/>
          <p:nvPr/>
        </p:nvSpPr>
        <p:spPr>
          <a:xfrm>
            <a:off x="4754880" y="321767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$233.46</a:t>
            </a:r>
            <a:endParaRPr lang="en-US" sz="1200" dirty="0"/>
          </a:p>
        </p:txBody>
      </p:sp>
      <p:sp>
        <p:nvSpPr>
          <p:cNvPr id="34" name="Text 32"/>
          <p:cNvSpPr txBox="1"/>
          <p:nvPr/>
        </p:nvSpPr>
        <p:spPr>
          <a:xfrm>
            <a:off x="658368" y="34259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5" name="Text 33"/>
          <p:cNvSpPr txBox="1"/>
          <p:nvPr/>
        </p:nvSpPr>
        <p:spPr>
          <a:xfrm>
            <a:off x="1014984" y="34259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6" name="Shape 34"/>
          <p:cNvSpPr/>
          <p:nvPr/>
        </p:nvSpPr>
        <p:spPr>
          <a:xfrm>
            <a:off x="3008376" y="3478022"/>
            <a:ext cx="1215860" cy="104140"/>
          </a:xfrm>
          <a:prstGeom prst="rect">
            <a:avLst/>
          </a:prstGeom>
          <a:solidFill>
            <a:srgbClr val="12A566"/>
          </a:solidFill>
          <a:ln/>
        </p:spPr>
      </p:sp>
      <p:sp>
        <p:nvSpPr>
          <p:cNvPr id="37" name="Text 35"/>
          <p:cNvSpPr txBox="1"/>
          <p:nvPr/>
        </p:nvSpPr>
        <p:spPr>
          <a:xfrm>
            <a:off x="4754880" y="342595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$222.12</a:t>
            </a:r>
            <a:endParaRPr lang="en-US" sz="1200" dirty="0"/>
          </a:p>
        </p:txBody>
      </p:sp>
      <p:sp>
        <p:nvSpPr>
          <p:cNvPr id="38" name="Text 36"/>
          <p:cNvSpPr txBox="1"/>
          <p:nvPr/>
        </p:nvSpPr>
        <p:spPr>
          <a:xfrm>
            <a:off x="658368" y="36342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9" name="Text 37"/>
          <p:cNvSpPr txBox="1"/>
          <p:nvPr/>
        </p:nvSpPr>
        <p:spPr>
          <a:xfrm>
            <a:off x="1014984" y="36342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0" name="Shape 38"/>
          <p:cNvSpPr/>
          <p:nvPr/>
        </p:nvSpPr>
        <p:spPr>
          <a:xfrm>
            <a:off x="3008376" y="3686302"/>
            <a:ext cx="1058054" cy="104140"/>
          </a:xfrm>
          <a:prstGeom prst="rect">
            <a:avLst/>
          </a:prstGeom>
          <a:solidFill>
            <a:srgbClr val="C2352F"/>
          </a:solidFill>
          <a:ln/>
        </p:spPr>
      </p:sp>
      <p:sp>
        <p:nvSpPr>
          <p:cNvPr id="41" name="Text 39"/>
          <p:cNvSpPr txBox="1"/>
          <p:nvPr/>
        </p:nvSpPr>
        <p:spPr>
          <a:xfrm>
            <a:off x="4754880" y="363423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$193.29</a:t>
            </a:r>
            <a:endParaRPr lang="en-US" sz="1200" dirty="0"/>
          </a:p>
        </p:txBody>
      </p:sp>
      <p:sp>
        <p:nvSpPr>
          <p:cNvPr id="42" name="Text 40"/>
          <p:cNvSpPr txBox="1"/>
          <p:nvPr/>
        </p:nvSpPr>
        <p:spPr>
          <a:xfrm>
            <a:off x="658368" y="38425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3" name="Text 41"/>
          <p:cNvSpPr txBox="1"/>
          <p:nvPr/>
        </p:nvSpPr>
        <p:spPr>
          <a:xfrm>
            <a:off x="1014984" y="38425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4" name="Shape 42"/>
          <p:cNvSpPr/>
          <p:nvPr/>
        </p:nvSpPr>
        <p:spPr>
          <a:xfrm>
            <a:off x="3008376" y="3894582"/>
            <a:ext cx="930641" cy="104140"/>
          </a:xfrm>
          <a:prstGeom prst="rect">
            <a:avLst/>
          </a:prstGeom>
          <a:solidFill>
            <a:srgbClr val="C2352F"/>
          </a:solidFill>
          <a:ln/>
        </p:spPr>
      </p:sp>
      <p:sp>
        <p:nvSpPr>
          <p:cNvPr id="45" name="Text 43"/>
          <p:cNvSpPr txBox="1"/>
          <p:nvPr/>
        </p:nvSpPr>
        <p:spPr>
          <a:xfrm>
            <a:off x="4754880" y="384251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$170.01</a:t>
            </a:r>
            <a:endParaRPr lang="en-US" sz="1200" dirty="0"/>
          </a:p>
        </p:txBody>
      </p:sp>
      <p:sp>
        <p:nvSpPr>
          <p:cNvPr id="46" name="Text 44"/>
          <p:cNvSpPr txBox="1"/>
          <p:nvPr/>
        </p:nvSpPr>
        <p:spPr>
          <a:xfrm>
            <a:off x="658368" y="40507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7" name="Text 45"/>
          <p:cNvSpPr txBox="1"/>
          <p:nvPr/>
        </p:nvSpPr>
        <p:spPr>
          <a:xfrm>
            <a:off x="1014984" y="40507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8" name="Shape 46"/>
          <p:cNvSpPr/>
          <p:nvPr/>
        </p:nvSpPr>
        <p:spPr>
          <a:xfrm>
            <a:off x="3008376" y="4102862"/>
            <a:ext cx="917631" cy="104140"/>
          </a:xfrm>
          <a:prstGeom prst="rect">
            <a:avLst/>
          </a:prstGeom>
          <a:solidFill>
            <a:srgbClr val="C2352F"/>
          </a:solidFill>
          <a:ln/>
        </p:spPr>
      </p:sp>
      <p:sp>
        <p:nvSpPr>
          <p:cNvPr id="49" name="Text 47"/>
          <p:cNvSpPr txBox="1"/>
          <p:nvPr/>
        </p:nvSpPr>
        <p:spPr>
          <a:xfrm>
            <a:off x="4754880" y="405079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$167.64</a:t>
            </a:r>
            <a:endParaRPr lang="en-US" sz="1200" dirty="0"/>
          </a:p>
        </p:txBody>
      </p:sp>
      <p:sp>
        <p:nvSpPr>
          <p:cNvPr id="50" name="Text 48"/>
          <p:cNvSpPr txBox="1"/>
          <p:nvPr/>
        </p:nvSpPr>
        <p:spPr>
          <a:xfrm>
            <a:off x="658368" y="4259072"/>
            <a:ext cx="5303520" cy="208280"/>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$151.32</a:t>
            </a:r>
            <a:endParaRPr lang="en-US" sz="1300" dirty="0"/>
          </a:p>
        </p:txBody>
      </p:sp>
      <p:sp>
        <p:nvSpPr>
          <p:cNvPr id="51" name="Shape 49"/>
          <p:cNvSpPr/>
          <p:nvPr/>
        </p:nvSpPr>
        <p:spPr>
          <a:xfrm>
            <a:off x="658368" y="4449064"/>
            <a:ext cx="5303520" cy="18288"/>
          </a:xfrm>
          <a:prstGeom prst="rect">
            <a:avLst/>
          </a:prstGeom>
          <a:solidFill>
            <a:srgbClr val="0B2C4A"/>
          </a:solidFill>
          <a:ln/>
        </p:spPr>
      </p:sp>
      <p:sp>
        <p:nvSpPr>
          <p:cNvPr id="52" name="Text 50"/>
          <p:cNvSpPr txBox="1"/>
          <p:nvPr/>
        </p:nvSpPr>
        <p:spPr>
          <a:xfrm>
            <a:off x="658368" y="44673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4673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54" name="Shape 52"/>
          <p:cNvSpPr/>
          <p:nvPr/>
        </p:nvSpPr>
        <p:spPr>
          <a:xfrm>
            <a:off x="3008376" y="4519422"/>
            <a:ext cx="1658471" cy="104140"/>
          </a:xfrm>
          <a:prstGeom prst="rect">
            <a:avLst/>
          </a:prstGeom>
          <a:solidFill>
            <a:srgbClr val="12A566"/>
          </a:solidFill>
          <a:ln/>
        </p:spPr>
      </p:sp>
      <p:sp>
        <p:nvSpPr>
          <p:cNvPr id="55" name="Text 53"/>
          <p:cNvSpPr txBox="1"/>
          <p:nvPr/>
        </p:nvSpPr>
        <p:spPr>
          <a:xfrm>
            <a:off x="4754880" y="446735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$210.50</a:t>
            </a:r>
            <a:endParaRPr lang="en-US" sz="1200" dirty="0"/>
          </a:p>
        </p:txBody>
      </p:sp>
      <p:sp>
        <p:nvSpPr>
          <p:cNvPr id="56" name="Text 54"/>
          <p:cNvSpPr txBox="1"/>
          <p:nvPr/>
        </p:nvSpPr>
        <p:spPr>
          <a:xfrm>
            <a:off x="658368" y="46756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6756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8" name="Shape 56"/>
          <p:cNvSpPr/>
          <p:nvPr/>
        </p:nvSpPr>
        <p:spPr>
          <a:xfrm>
            <a:off x="3008376" y="4727702"/>
            <a:ext cx="1385836" cy="104140"/>
          </a:xfrm>
          <a:prstGeom prst="rect">
            <a:avLst/>
          </a:prstGeom>
          <a:solidFill>
            <a:srgbClr val="12A566"/>
          </a:solidFill>
          <a:ln/>
        </p:spPr>
      </p:sp>
      <p:sp>
        <p:nvSpPr>
          <p:cNvPr id="59" name="Text 57"/>
          <p:cNvSpPr txBox="1"/>
          <p:nvPr/>
        </p:nvSpPr>
        <p:spPr>
          <a:xfrm>
            <a:off x="4754880" y="467563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$175.90</a:t>
            </a:r>
            <a:endParaRPr lang="en-US" sz="1200" dirty="0"/>
          </a:p>
        </p:txBody>
      </p:sp>
      <p:sp>
        <p:nvSpPr>
          <p:cNvPr id="60" name="Text 58"/>
          <p:cNvSpPr txBox="1"/>
          <p:nvPr/>
        </p:nvSpPr>
        <p:spPr>
          <a:xfrm>
            <a:off x="658368" y="48839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48839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2" name="Shape 60"/>
          <p:cNvSpPr/>
          <p:nvPr/>
        </p:nvSpPr>
        <p:spPr>
          <a:xfrm>
            <a:off x="3008376" y="4935982"/>
            <a:ext cx="1311361" cy="104140"/>
          </a:xfrm>
          <a:prstGeom prst="rect">
            <a:avLst/>
          </a:prstGeom>
          <a:solidFill>
            <a:srgbClr val="12A566"/>
          </a:solidFill>
          <a:ln/>
        </p:spPr>
      </p:sp>
      <p:sp>
        <p:nvSpPr>
          <p:cNvPr id="63" name="Text 61"/>
          <p:cNvSpPr txBox="1"/>
          <p:nvPr/>
        </p:nvSpPr>
        <p:spPr>
          <a:xfrm>
            <a:off x="4754880" y="488391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$166.44</a:t>
            </a:r>
            <a:endParaRPr lang="en-US" sz="1200" dirty="0"/>
          </a:p>
        </p:txBody>
      </p:sp>
      <p:sp>
        <p:nvSpPr>
          <p:cNvPr id="64" name="Text 62"/>
          <p:cNvSpPr txBox="1"/>
          <p:nvPr/>
        </p:nvSpPr>
        <p:spPr>
          <a:xfrm>
            <a:off x="658368" y="50921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0921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6" name="Shape 64"/>
          <p:cNvSpPr/>
          <p:nvPr/>
        </p:nvSpPr>
        <p:spPr>
          <a:xfrm>
            <a:off x="3008376" y="5144262"/>
            <a:ext cx="1289251" cy="104140"/>
          </a:xfrm>
          <a:prstGeom prst="rect">
            <a:avLst/>
          </a:prstGeom>
          <a:solidFill>
            <a:srgbClr val="12A566"/>
          </a:solidFill>
          <a:ln/>
        </p:spPr>
      </p:sp>
      <p:sp>
        <p:nvSpPr>
          <p:cNvPr id="67" name="Text 65"/>
          <p:cNvSpPr txBox="1"/>
          <p:nvPr/>
        </p:nvSpPr>
        <p:spPr>
          <a:xfrm>
            <a:off x="4754880" y="509219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$163.64</a:t>
            </a:r>
            <a:endParaRPr lang="en-US" sz="1200" dirty="0"/>
          </a:p>
        </p:txBody>
      </p:sp>
      <p:sp>
        <p:nvSpPr>
          <p:cNvPr id="68" name="Text 66"/>
          <p:cNvSpPr txBox="1"/>
          <p:nvPr/>
        </p:nvSpPr>
        <p:spPr>
          <a:xfrm>
            <a:off x="658368" y="53004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3004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70" name="Shape 68"/>
          <p:cNvSpPr/>
          <p:nvPr/>
        </p:nvSpPr>
        <p:spPr>
          <a:xfrm>
            <a:off x="3008376" y="5352542"/>
            <a:ext cx="1283069" cy="104140"/>
          </a:xfrm>
          <a:prstGeom prst="rect">
            <a:avLst/>
          </a:prstGeom>
          <a:solidFill>
            <a:srgbClr val="12A566"/>
          </a:solidFill>
          <a:ln/>
        </p:spPr>
      </p:sp>
      <p:sp>
        <p:nvSpPr>
          <p:cNvPr id="71" name="Text 69"/>
          <p:cNvSpPr txBox="1"/>
          <p:nvPr/>
        </p:nvSpPr>
        <p:spPr>
          <a:xfrm>
            <a:off x="4754880" y="530047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$162.85</a:t>
            </a:r>
            <a:endParaRPr lang="en-US" sz="1200" dirty="0"/>
          </a:p>
        </p:txBody>
      </p:sp>
      <p:sp>
        <p:nvSpPr>
          <p:cNvPr id="72" name="Text 70"/>
          <p:cNvSpPr txBox="1"/>
          <p:nvPr/>
        </p:nvSpPr>
        <p:spPr>
          <a:xfrm>
            <a:off x="658368" y="55087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5087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4" name="Shape 72"/>
          <p:cNvSpPr/>
          <p:nvPr/>
        </p:nvSpPr>
        <p:spPr>
          <a:xfrm>
            <a:off x="3008376" y="5560822"/>
            <a:ext cx="1265801" cy="104140"/>
          </a:xfrm>
          <a:prstGeom prst="rect">
            <a:avLst/>
          </a:prstGeom>
          <a:solidFill>
            <a:srgbClr val="12A566"/>
          </a:solidFill>
          <a:ln/>
        </p:spPr>
      </p:sp>
      <p:sp>
        <p:nvSpPr>
          <p:cNvPr id="75" name="Text 73"/>
          <p:cNvSpPr txBox="1"/>
          <p:nvPr/>
        </p:nvSpPr>
        <p:spPr>
          <a:xfrm>
            <a:off x="4754880" y="550875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$160.66</a:t>
            </a:r>
            <a:endParaRPr lang="en-US" sz="1200" dirty="0"/>
          </a:p>
        </p:txBody>
      </p:sp>
      <p:sp>
        <p:nvSpPr>
          <p:cNvPr id="76" name="Text 74"/>
          <p:cNvSpPr txBox="1"/>
          <p:nvPr/>
        </p:nvSpPr>
        <p:spPr>
          <a:xfrm>
            <a:off x="658368" y="57170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57170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8" name="Shape 76"/>
          <p:cNvSpPr/>
          <p:nvPr/>
        </p:nvSpPr>
        <p:spPr>
          <a:xfrm>
            <a:off x="3008376" y="5769102"/>
            <a:ext cx="1257200" cy="104140"/>
          </a:xfrm>
          <a:prstGeom prst="rect">
            <a:avLst/>
          </a:prstGeom>
          <a:solidFill>
            <a:srgbClr val="12A566"/>
          </a:solidFill>
          <a:ln/>
        </p:spPr>
      </p:sp>
      <p:sp>
        <p:nvSpPr>
          <p:cNvPr id="79" name="Text 77"/>
          <p:cNvSpPr txBox="1"/>
          <p:nvPr/>
        </p:nvSpPr>
        <p:spPr>
          <a:xfrm>
            <a:off x="4754880" y="571703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$159.57</a:t>
            </a:r>
            <a:endParaRPr lang="en-US" sz="1200" dirty="0"/>
          </a:p>
        </p:txBody>
      </p:sp>
      <p:sp>
        <p:nvSpPr>
          <p:cNvPr id="80" name="Text 78"/>
          <p:cNvSpPr txBox="1"/>
          <p:nvPr/>
        </p:nvSpPr>
        <p:spPr>
          <a:xfrm>
            <a:off x="6208776" y="21762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1" name="Text 79"/>
          <p:cNvSpPr txBox="1"/>
          <p:nvPr/>
        </p:nvSpPr>
        <p:spPr>
          <a:xfrm>
            <a:off x="6565392" y="21762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2" name="Shape 80"/>
          <p:cNvSpPr/>
          <p:nvPr/>
        </p:nvSpPr>
        <p:spPr>
          <a:xfrm>
            <a:off x="8558784" y="2228342"/>
            <a:ext cx="1255672" cy="104140"/>
          </a:xfrm>
          <a:prstGeom prst="rect">
            <a:avLst/>
          </a:prstGeom>
          <a:solidFill>
            <a:srgbClr val="12A566"/>
          </a:solidFill>
          <a:ln/>
        </p:spPr>
      </p:sp>
      <p:sp>
        <p:nvSpPr>
          <p:cNvPr id="83" name="Text 81"/>
          <p:cNvSpPr txBox="1"/>
          <p:nvPr/>
        </p:nvSpPr>
        <p:spPr>
          <a:xfrm>
            <a:off x="10305288" y="217627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$159.38</a:t>
            </a:r>
            <a:endParaRPr lang="en-US" sz="1200" dirty="0"/>
          </a:p>
        </p:txBody>
      </p:sp>
      <p:sp>
        <p:nvSpPr>
          <p:cNvPr id="84" name="Text 82"/>
          <p:cNvSpPr txBox="1"/>
          <p:nvPr/>
        </p:nvSpPr>
        <p:spPr>
          <a:xfrm>
            <a:off x="6208776" y="23845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5" name="Text 83"/>
          <p:cNvSpPr txBox="1"/>
          <p:nvPr/>
        </p:nvSpPr>
        <p:spPr>
          <a:xfrm>
            <a:off x="6565392" y="23845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6" name="Shape 84"/>
          <p:cNvSpPr/>
          <p:nvPr/>
        </p:nvSpPr>
        <p:spPr>
          <a:xfrm>
            <a:off x="8558784" y="2436622"/>
            <a:ext cx="1239620" cy="104140"/>
          </a:xfrm>
          <a:prstGeom prst="rect">
            <a:avLst/>
          </a:prstGeom>
          <a:solidFill>
            <a:srgbClr val="12A566"/>
          </a:solidFill>
          <a:ln/>
        </p:spPr>
      </p:sp>
      <p:sp>
        <p:nvSpPr>
          <p:cNvPr id="87" name="Text 85"/>
          <p:cNvSpPr txBox="1"/>
          <p:nvPr/>
        </p:nvSpPr>
        <p:spPr>
          <a:xfrm>
            <a:off x="10305288" y="238455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$157.34</a:t>
            </a:r>
            <a:endParaRPr lang="en-US" sz="1200" dirty="0"/>
          </a:p>
        </p:txBody>
      </p:sp>
      <p:sp>
        <p:nvSpPr>
          <p:cNvPr id="88" name="Text 86"/>
          <p:cNvSpPr txBox="1"/>
          <p:nvPr/>
        </p:nvSpPr>
        <p:spPr>
          <a:xfrm>
            <a:off x="6208776" y="25928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89" name="Text 87"/>
          <p:cNvSpPr txBox="1"/>
          <p:nvPr/>
        </p:nvSpPr>
        <p:spPr>
          <a:xfrm>
            <a:off x="6565392" y="25928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0" name="Shape 88"/>
          <p:cNvSpPr/>
          <p:nvPr/>
        </p:nvSpPr>
        <p:spPr>
          <a:xfrm>
            <a:off x="8558784" y="2644902"/>
            <a:ext cx="1230530" cy="104140"/>
          </a:xfrm>
          <a:prstGeom prst="rect">
            <a:avLst/>
          </a:prstGeom>
          <a:solidFill>
            <a:srgbClr val="12A566"/>
          </a:solidFill>
          <a:ln/>
        </p:spPr>
      </p:sp>
      <p:sp>
        <p:nvSpPr>
          <p:cNvPr id="91" name="Text 89"/>
          <p:cNvSpPr txBox="1"/>
          <p:nvPr/>
        </p:nvSpPr>
        <p:spPr>
          <a:xfrm>
            <a:off x="10305288" y="259283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$156.18</a:t>
            </a:r>
            <a:endParaRPr lang="en-US" sz="1200" dirty="0"/>
          </a:p>
        </p:txBody>
      </p:sp>
      <p:sp>
        <p:nvSpPr>
          <p:cNvPr id="92" name="Text 90"/>
          <p:cNvSpPr txBox="1"/>
          <p:nvPr/>
        </p:nvSpPr>
        <p:spPr>
          <a:xfrm>
            <a:off x="6208776" y="28011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3" name="Text 91"/>
          <p:cNvSpPr txBox="1"/>
          <p:nvPr/>
        </p:nvSpPr>
        <p:spPr>
          <a:xfrm>
            <a:off x="6565392" y="28011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94" name="Shape 92"/>
          <p:cNvSpPr/>
          <p:nvPr/>
        </p:nvSpPr>
        <p:spPr>
          <a:xfrm>
            <a:off x="8558784" y="2853182"/>
            <a:ext cx="1217330" cy="104140"/>
          </a:xfrm>
          <a:prstGeom prst="rect">
            <a:avLst/>
          </a:prstGeom>
          <a:solidFill>
            <a:srgbClr val="12A566"/>
          </a:solidFill>
          <a:ln/>
        </p:spPr>
      </p:sp>
      <p:sp>
        <p:nvSpPr>
          <p:cNvPr id="95" name="Text 93"/>
          <p:cNvSpPr txBox="1"/>
          <p:nvPr/>
        </p:nvSpPr>
        <p:spPr>
          <a:xfrm>
            <a:off x="10305288" y="280111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$154.51</a:t>
            </a:r>
            <a:endParaRPr lang="en-US" sz="1200" dirty="0"/>
          </a:p>
        </p:txBody>
      </p:sp>
      <p:sp>
        <p:nvSpPr>
          <p:cNvPr id="96" name="Text 94"/>
          <p:cNvSpPr txBox="1"/>
          <p:nvPr/>
        </p:nvSpPr>
        <p:spPr>
          <a:xfrm>
            <a:off x="6208776" y="30093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7" name="Text 95"/>
          <p:cNvSpPr txBox="1"/>
          <p:nvPr/>
        </p:nvSpPr>
        <p:spPr>
          <a:xfrm>
            <a:off x="6565392" y="30093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98" name="Shape 96"/>
          <p:cNvSpPr/>
          <p:nvPr/>
        </p:nvSpPr>
        <p:spPr>
          <a:xfrm>
            <a:off x="8558784" y="3061462"/>
            <a:ext cx="1207702" cy="104140"/>
          </a:xfrm>
          <a:prstGeom prst="rect">
            <a:avLst/>
          </a:prstGeom>
          <a:solidFill>
            <a:srgbClr val="12A566"/>
          </a:solidFill>
          <a:ln/>
        </p:spPr>
      </p:sp>
      <p:sp>
        <p:nvSpPr>
          <p:cNvPr id="99" name="Text 97"/>
          <p:cNvSpPr txBox="1"/>
          <p:nvPr/>
        </p:nvSpPr>
        <p:spPr>
          <a:xfrm>
            <a:off x="10305288" y="300939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$153.29</a:t>
            </a:r>
            <a:endParaRPr lang="en-US" sz="1200" dirty="0"/>
          </a:p>
        </p:txBody>
      </p:sp>
      <p:sp>
        <p:nvSpPr>
          <p:cNvPr id="100" name="Text 98"/>
          <p:cNvSpPr txBox="1"/>
          <p:nvPr/>
        </p:nvSpPr>
        <p:spPr>
          <a:xfrm>
            <a:off x="6208776" y="32176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1" name="Text 99"/>
          <p:cNvSpPr txBox="1"/>
          <p:nvPr/>
        </p:nvSpPr>
        <p:spPr>
          <a:xfrm>
            <a:off x="6565392" y="32176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2" name="Shape 100"/>
          <p:cNvSpPr/>
          <p:nvPr/>
        </p:nvSpPr>
        <p:spPr>
          <a:xfrm>
            <a:off x="8558784" y="3269742"/>
            <a:ext cx="1175735" cy="104140"/>
          </a:xfrm>
          <a:prstGeom prst="rect">
            <a:avLst/>
          </a:prstGeom>
          <a:solidFill>
            <a:srgbClr val="C2352F"/>
          </a:solidFill>
          <a:ln/>
        </p:spPr>
      </p:sp>
      <p:sp>
        <p:nvSpPr>
          <p:cNvPr id="103" name="Text 101"/>
          <p:cNvSpPr txBox="1"/>
          <p:nvPr/>
        </p:nvSpPr>
        <p:spPr>
          <a:xfrm>
            <a:off x="10305288" y="321767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$149.23</a:t>
            </a:r>
            <a:endParaRPr lang="en-US" sz="1200" dirty="0"/>
          </a:p>
        </p:txBody>
      </p:sp>
      <p:sp>
        <p:nvSpPr>
          <p:cNvPr id="104" name="Text 102"/>
          <p:cNvSpPr txBox="1"/>
          <p:nvPr/>
        </p:nvSpPr>
        <p:spPr>
          <a:xfrm>
            <a:off x="6208776" y="34259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5" name="Text 103"/>
          <p:cNvSpPr txBox="1"/>
          <p:nvPr/>
        </p:nvSpPr>
        <p:spPr>
          <a:xfrm>
            <a:off x="6565392" y="34259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6" name="Shape 104"/>
          <p:cNvSpPr/>
          <p:nvPr/>
        </p:nvSpPr>
        <p:spPr>
          <a:xfrm>
            <a:off x="8558784" y="3478022"/>
            <a:ext cx="1167864" cy="104140"/>
          </a:xfrm>
          <a:prstGeom prst="rect">
            <a:avLst/>
          </a:prstGeom>
          <a:solidFill>
            <a:srgbClr val="C2352F"/>
          </a:solidFill>
          <a:ln/>
        </p:spPr>
      </p:sp>
      <p:sp>
        <p:nvSpPr>
          <p:cNvPr id="107" name="Text 105"/>
          <p:cNvSpPr txBox="1"/>
          <p:nvPr/>
        </p:nvSpPr>
        <p:spPr>
          <a:xfrm>
            <a:off x="10305288" y="342595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$148.23</a:t>
            </a:r>
            <a:endParaRPr lang="en-US" sz="1200" dirty="0"/>
          </a:p>
        </p:txBody>
      </p:sp>
      <p:sp>
        <p:nvSpPr>
          <p:cNvPr id="108" name="Text 106"/>
          <p:cNvSpPr txBox="1"/>
          <p:nvPr/>
        </p:nvSpPr>
        <p:spPr>
          <a:xfrm>
            <a:off x="6208776" y="36342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09" name="Text 107"/>
          <p:cNvSpPr txBox="1"/>
          <p:nvPr/>
        </p:nvSpPr>
        <p:spPr>
          <a:xfrm>
            <a:off x="6565392" y="36342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0" name="Shape 108"/>
          <p:cNvSpPr/>
          <p:nvPr/>
        </p:nvSpPr>
        <p:spPr>
          <a:xfrm>
            <a:off x="8558784" y="3686302"/>
            <a:ext cx="1138434" cy="104140"/>
          </a:xfrm>
          <a:prstGeom prst="rect">
            <a:avLst/>
          </a:prstGeom>
          <a:solidFill>
            <a:srgbClr val="C2352F"/>
          </a:solidFill>
          <a:ln/>
        </p:spPr>
      </p:sp>
      <p:sp>
        <p:nvSpPr>
          <p:cNvPr id="111" name="Text 109"/>
          <p:cNvSpPr txBox="1"/>
          <p:nvPr/>
        </p:nvSpPr>
        <p:spPr>
          <a:xfrm>
            <a:off x="10305288" y="363423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$144.50</a:t>
            </a:r>
            <a:endParaRPr lang="en-US" sz="1200" dirty="0"/>
          </a:p>
        </p:txBody>
      </p:sp>
      <p:sp>
        <p:nvSpPr>
          <p:cNvPr id="112" name="Text 110"/>
          <p:cNvSpPr txBox="1"/>
          <p:nvPr/>
        </p:nvSpPr>
        <p:spPr>
          <a:xfrm>
            <a:off x="6208776" y="38425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3" name="Text 111"/>
          <p:cNvSpPr txBox="1"/>
          <p:nvPr/>
        </p:nvSpPr>
        <p:spPr>
          <a:xfrm>
            <a:off x="6565392" y="38425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4" name="Shape 112"/>
          <p:cNvSpPr/>
          <p:nvPr/>
        </p:nvSpPr>
        <p:spPr>
          <a:xfrm>
            <a:off x="8558784" y="3894582"/>
            <a:ext cx="1133676" cy="104140"/>
          </a:xfrm>
          <a:prstGeom prst="rect">
            <a:avLst/>
          </a:prstGeom>
          <a:solidFill>
            <a:srgbClr val="C2352F"/>
          </a:solidFill>
          <a:ln/>
        </p:spPr>
      </p:sp>
      <p:sp>
        <p:nvSpPr>
          <p:cNvPr id="115" name="Text 113"/>
          <p:cNvSpPr txBox="1"/>
          <p:nvPr/>
        </p:nvSpPr>
        <p:spPr>
          <a:xfrm>
            <a:off x="10305288" y="384251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$143.89</a:t>
            </a:r>
            <a:endParaRPr lang="en-US" sz="1200" dirty="0"/>
          </a:p>
        </p:txBody>
      </p:sp>
      <p:sp>
        <p:nvSpPr>
          <p:cNvPr id="116" name="Text 114"/>
          <p:cNvSpPr txBox="1"/>
          <p:nvPr/>
        </p:nvSpPr>
        <p:spPr>
          <a:xfrm>
            <a:off x="6208776" y="40507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7" name="Text 115"/>
          <p:cNvSpPr txBox="1"/>
          <p:nvPr/>
        </p:nvSpPr>
        <p:spPr>
          <a:xfrm>
            <a:off x="6565392" y="40507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8" name="Shape 116"/>
          <p:cNvSpPr/>
          <p:nvPr/>
        </p:nvSpPr>
        <p:spPr>
          <a:xfrm>
            <a:off x="8558784" y="4102862"/>
            <a:ext cx="1127091" cy="104140"/>
          </a:xfrm>
          <a:prstGeom prst="rect">
            <a:avLst/>
          </a:prstGeom>
          <a:solidFill>
            <a:srgbClr val="C2352F"/>
          </a:solidFill>
          <a:ln/>
        </p:spPr>
      </p:sp>
      <p:sp>
        <p:nvSpPr>
          <p:cNvPr id="119" name="Text 117"/>
          <p:cNvSpPr txBox="1"/>
          <p:nvPr/>
        </p:nvSpPr>
        <p:spPr>
          <a:xfrm>
            <a:off x="10305288" y="405079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$143.06</a:t>
            </a:r>
            <a:endParaRPr lang="en-US" sz="1200" dirty="0"/>
          </a:p>
        </p:txBody>
      </p:sp>
      <p:sp>
        <p:nvSpPr>
          <p:cNvPr id="120" name="Text 118"/>
          <p:cNvSpPr txBox="1"/>
          <p:nvPr/>
        </p:nvSpPr>
        <p:spPr>
          <a:xfrm>
            <a:off x="6208776" y="42590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1" name="Text 119"/>
          <p:cNvSpPr txBox="1"/>
          <p:nvPr/>
        </p:nvSpPr>
        <p:spPr>
          <a:xfrm>
            <a:off x="6565392" y="42590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2" name="Shape 120"/>
          <p:cNvSpPr/>
          <p:nvPr/>
        </p:nvSpPr>
        <p:spPr>
          <a:xfrm>
            <a:off x="8558784" y="4311142"/>
            <a:ext cx="1125055" cy="104140"/>
          </a:xfrm>
          <a:prstGeom prst="rect">
            <a:avLst/>
          </a:prstGeom>
          <a:solidFill>
            <a:srgbClr val="C2352F"/>
          </a:solidFill>
          <a:ln/>
        </p:spPr>
      </p:sp>
      <p:sp>
        <p:nvSpPr>
          <p:cNvPr id="123" name="Text 121"/>
          <p:cNvSpPr txBox="1"/>
          <p:nvPr/>
        </p:nvSpPr>
        <p:spPr>
          <a:xfrm>
            <a:off x="10305288" y="425907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$142.80</a:t>
            </a:r>
            <a:endParaRPr lang="en-US" sz="1200" dirty="0"/>
          </a:p>
        </p:txBody>
      </p:sp>
      <p:sp>
        <p:nvSpPr>
          <p:cNvPr id="124" name="Text 122"/>
          <p:cNvSpPr txBox="1"/>
          <p:nvPr/>
        </p:nvSpPr>
        <p:spPr>
          <a:xfrm>
            <a:off x="6208776" y="44673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5" name="Text 123"/>
          <p:cNvSpPr txBox="1"/>
          <p:nvPr/>
        </p:nvSpPr>
        <p:spPr>
          <a:xfrm>
            <a:off x="6565392" y="44673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6" name="Shape 124"/>
          <p:cNvSpPr/>
          <p:nvPr/>
        </p:nvSpPr>
        <p:spPr>
          <a:xfrm>
            <a:off x="8558784" y="4519422"/>
            <a:ext cx="1111707" cy="104140"/>
          </a:xfrm>
          <a:prstGeom prst="rect">
            <a:avLst/>
          </a:prstGeom>
          <a:solidFill>
            <a:srgbClr val="C2352F"/>
          </a:solidFill>
          <a:ln/>
        </p:spPr>
      </p:sp>
      <p:sp>
        <p:nvSpPr>
          <p:cNvPr id="127" name="Text 125"/>
          <p:cNvSpPr txBox="1"/>
          <p:nvPr/>
        </p:nvSpPr>
        <p:spPr>
          <a:xfrm>
            <a:off x="10305288" y="446735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$141.10</a:t>
            </a:r>
            <a:endParaRPr lang="en-US" sz="1200" dirty="0"/>
          </a:p>
        </p:txBody>
      </p:sp>
      <p:sp>
        <p:nvSpPr>
          <p:cNvPr id="128" name="Text 126"/>
          <p:cNvSpPr txBox="1"/>
          <p:nvPr/>
        </p:nvSpPr>
        <p:spPr>
          <a:xfrm>
            <a:off x="6208776" y="46756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9" name="Text 127"/>
          <p:cNvSpPr txBox="1"/>
          <p:nvPr/>
        </p:nvSpPr>
        <p:spPr>
          <a:xfrm>
            <a:off x="6565392" y="46756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30" name="Shape 128"/>
          <p:cNvSpPr/>
          <p:nvPr/>
        </p:nvSpPr>
        <p:spPr>
          <a:xfrm>
            <a:off x="8558784" y="4727702"/>
            <a:ext cx="1096152" cy="104140"/>
          </a:xfrm>
          <a:prstGeom prst="rect">
            <a:avLst/>
          </a:prstGeom>
          <a:solidFill>
            <a:srgbClr val="C2352F"/>
          </a:solidFill>
          <a:ln/>
        </p:spPr>
      </p:sp>
      <p:sp>
        <p:nvSpPr>
          <p:cNvPr id="131" name="Text 129"/>
          <p:cNvSpPr txBox="1"/>
          <p:nvPr/>
        </p:nvSpPr>
        <p:spPr>
          <a:xfrm>
            <a:off x="10305288" y="467563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$139.13</a:t>
            </a:r>
            <a:endParaRPr lang="en-US" sz="1200" dirty="0"/>
          </a:p>
        </p:txBody>
      </p:sp>
      <p:sp>
        <p:nvSpPr>
          <p:cNvPr id="132" name="Text 130"/>
          <p:cNvSpPr txBox="1"/>
          <p:nvPr/>
        </p:nvSpPr>
        <p:spPr>
          <a:xfrm>
            <a:off x="6208776" y="48839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3" name="Text 131"/>
          <p:cNvSpPr txBox="1"/>
          <p:nvPr/>
        </p:nvSpPr>
        <p:spPr>
          <a:xfrm>
            <a:off x="6565392" y="48839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4" name="Shape 132"/>
          <p:cNvSpPr/>
          <p:nvPr/>
        </p:nvSpPr>
        <p:spPr>
          <a:xfrm>
            <a:off x="8558784" y="4935982"/>
            <a:ext cx="1091062" cy="104140"/>
          </a:xfrm>
          <a:prstGeom prst="rect">
            <a:avLst/>
          </a:prstGeom>
          <a:solidFill>
            <a:srgbClr val="C2352F"/>
          </a:solidFill>
          <a:ln/>
        </p:spPr>
      </p:sp>
      <p:sp>
        <p:nvSpPr>
          <p:cNvPr id="135" name="Text 133"/>
          <p:cNvSpPr txBox="1"/>
          <p:nvPr/>
        </p:nvSpPr>
        <p:spPr>
          <a:xfrm>
            <a:off x="10305288" y="488391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$138.48</a:t>
            </a:r>
            <a:endParaRPr lang="en-US" sz="1200" dirty="0"/>
          </a:p>
        </p:txBody>
      </p:sp>
      <p:sp>
        <p:nvSpPr>
          <p:cNvPr id="136" name="Text 134"/>
          <p:cNvSpPr txBox="1"/>
          <p:nvPr/>
        </p:nvSpPr>
        <p:spPr>
          <a:xfrm>
            <a:off x="6208776" y="50921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7" name="Text 135"/>
          <p:cNvSpPr txBox="1"/>
          <p:nvPr/>
        </p:nvSpPr>
        <p:spPr>
          <a:xfrm>
            <a:off x="6565392" y="50921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8" name="Shape 136"/>
          <p:cNvSpPr/>
          <p:nvPr/>
        </p:nvSpPr>
        <p:spPr>
          <a:xfrm>
            <a:off x="8558784" y="5144262"/>
            <a:ext cx="1064841" cy="104140"/>
          </a:xfrm>
          <a:prstGeom prst="rect">
            <a:avLst/>
          </a:prstGeom>
          <a:solidFill>
            <a:srgbClr val="C2352F"/>
          </a:solidFill>
          <a:ln/>
        </p:spPr>
      </p:sp>
      <p:sp>
        <p:nvSpPr>
          <p:cNvPr id="139" name="Text 137"/>
          <p:cNvSpPr txBox="1"/>
          <p:nvPr/>
        </p:nvSpPr>
        <p:spPr>
          <a:xfrm>
            <a:off x="10305288" y="509219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$135.15</a:t>
            </a:r>
            <a:endParaRPr lang="en-US" sz="1200" dirty="0"/>
          </a:p>
        </p:txBody>
      </p:sp>
      <p:sp>
        <p:nvSpPr>
          <p:cNvPr id="140" name="Text 138"/>
          <p:cNvSpPr txBox="1"/>
          <p:nvPr/>
        </p:nvSpPr>
        <p:spPr>
          <a:xfrm>
            <a:off x="6208776" y="53004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1" name="Text 139"/>
          <p:cNvSpPr txBox="1"/>
          <p:nvPr/>
        </p:nvSpPr>
        <p:spPr>
          <a:xfrm>
            <a:off x="6565392" y="53004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2" name="Shape 140"/>
          <p:cNvSpPr/>
          <p:nvPr/>
        </p:nvSpPr>
        <p:spPr>
          <a:xfrm>
            <a:off x="8558784" y="5352542"/>
            <a:ext cx="1027823" cy="104140"/>
          </a:xfrm>
          <a:prstGeom prst="rect">
            <a:avLst/>
          </a:prstGeom>
          <a:solidFill>
            <a:srgbClr val="C2352F"/>
          </a:solidFill>
          <a:ln/>
        </p:spPr>
      </p:sp>
      <p:sp>
        <p:nvSpPr>
          <p:cNvPr id="143" name="Text 141"/>
          <p:cNvSpPr txBox="1"/>
          <p:nvPr/>
        </p:nvSpPr>
        <p:spPr>
          <a:xfrm>
            <a:off x="10305288" y="530047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$130.46</a:t>
            </a:r>
            <a:endParaRPr lang="en-US" sz="1200" dirty="0"/>
          </a:p>
        </p:txBody>
      </p:sp>
      <p:sp>
        <p:nvSpPr>
          <p:cNvPr id="144" name="Text 142"/>
          <p:cNvSpPr txBox="1"/>
          <p:nvPr/>
        </p:nvSpPr>
        <p:spPr>
          <a:xfrm>
            <a:off x="6208776" y="55087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5" name="Text 143"/>
          <p:cNvSpPr txBox="1"/>
          <p:nvPr/>
        </p:nvSpPr>
        <p:spPr>
          <a:xfrm>
            <a:off x="6565392" y="55087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46" name="Shape 144"/>
          <p:cNvSpPr/>
          <p:nvPr/>
        </p:nvSpPr>
        <p:spPr>
          <a:xfrm>
            <a:off x="8558784" y="5560822"/>
            <a:ext cx="993409" cy="104140"/>
          </a:xfrm>
          <a:prstGeom prst="rect">
            <a:avLst/>
          </a:prstGeom>
          <a:solidFill>
            <a:srgbClr val="C2352F"/>
          </a:solidFill>
          <a:ln/>
        </p:spPr>
      </p:sp>
      <p:sp>
        <p:nvSpPr>
          <p:cNvPr id="147" name="Text 145"/>
          <p:cNvSpPr txBox="1"/>
          <p:nvPr/>
        </p:nvSpPr>
        <p:spPr>
          <a:xfrm>
            <a:off x="10305288" y="550875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$126.09</a:t>
            </a:r>
            <a:endParaRPr lang="en-US" sz="1200" dirty="0"/>
          </a:p>
        </p:txBody>
      </p:sp>
      <p:sp>
        <p:nvSpPr>
          <p:cNvPr id="148" name="Shape 146"/>
          <p:cNvSpPr/>
          <p:nvPr/>
        </p:nvSpPr>
        <p:spPr>
          <a:xfrm>
            <a:off x="4193240" y="2176272"/>
            <a:ext cx="14630" cy="3749040"/>
          </a:xfrm>
          <a:prstGeom prst="rect">
            <a:avLst/>
          </a:prstGeom>
          <a:solidFill>
            <a:srgbClr val="0B2C4A"/>
          </a:solidFill>
          <a:ln/>
        </p:spPr>
      </p:sp>
      <p:sp>
        <p:nvSpPr>
          <p:cNvPr id="149" name="Shape 147"/>
          <p:cNvSpPr/>
          <p:nvPr/>
        </p:nvSpPr>
        <p:spPr>
          <a:xfrm>
            <a:off x="9743648" y="2176272"/>
            <a:ext cx="14630" cy="3749040"/>
          </a:xfrm>
          <a:prstGeom prst="rect">
            <a:avLst/>
          </a:prstGeom>
          <a:solidFill>
            <a:srgbClr val="0B2C4A"/>
          </a:solidFill>
          <a:ln/>
        </p:spPr>
      </p:sp>
      <p:sp>
        <p:nvSpPr>
          <p:cNvPr id="150" name="Shape 148"/>
          <p:cNvSpPr/>
          <p:nvPr/>
        </p:nvSpPr>
        <p:spPr>
          <a:xfrm>
            <a:off x="6085332" y="2176272"/>
            <a:ext cx="10973" cy="3749040"/>
          </a:xfrm>
          <a:prstGeom prst="rect">
            <a:avLst/>
          </a:prstGeom>
          <a:solidFill>
            <a:srgbClr val="D9D9D9"/>
          </a:solidFill>
          <a:ln/>
        </p:spPr>
      </p:sp>
      <p:sp>
        <p:nvSpPr>
          <p:cNvPr id="151" name="Shape 149"/>
          <p:cNvSpPr/>
          <p:nvPr/>
        </p:nvSpPr>
        <p:spPr>
          <a:xfrm>
            <a:off x="457200" y="6126480"/>
            <a:ext cx="11274552" cy="615696"/>
          </a:xfrm>
          <a:prstGeom prst="rect">
            <a:avLst/>
          </a:prstGeom>
          <a:solidFill>
            <a:srgbClr val="EDF4FA"/>
          </a:solidFill>
          <a:ln/>
        </p:spPr>
      </p:sp>
      <p:sp>
        <p:nvSpPr>
          <p:cNvPr id="152" name="Text 15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Against their own segment, 6 of 9 luxury stores beat $217.79 and 12 of 24 others beat $151.32. Acura leads non-luxury at $210.50.</a:t>
            </a:r>
            <a:endParaRPr lang="en-US" sz="1600" dirty="0"/>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+$3.56</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+$40.53</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7" name="Shape 15"/>
          <p:cNvSpPr/>
          <p:nvPr/>
        </p:nvSpPr>
        <p:spPr>
          <a:xfrm>
            <a:off x="3785616" y="2151755"/>
            <a:ext cx="538508"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+$28.08</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21" name="Shape 19"/>
          <p:cNvSpPr/>
          <p:nvPr/>
        </p:nvSpPr>
        <p:spPr>
          <a:xfrm>
            <a:off x="3785616" y="2391651"/>
            <a:ext cx="514703"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+$26.84</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25" name="Shape 23"/>
          <p:cNvSpPr/>
          <p:nvPr/>
        </p:nvSpPr>
        <p:spPr>
          <a:xfrm>
            <a:off x="3785616" y="2631546"/>
            <a:ext cx="422343"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+$22.02</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785616" y="2871442"/>
            <a:ext cx="333962"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+$17.41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3" name="Shape 31"/>
          <p:cNvSpPr/>
          <p:nvPr/>
        </p:nvSpPr>
        <p:spPr>
          <a:xfrm>
            <a:off x="3785616" y="3111337"/>
            <a:ext cx="323669"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+$16.88</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37" name="Shape 35"/>
          <p:cNvSpPr/>
          <p:nvPr/>
        </p:nvSpPr>
        <p:spPr>
          <a:xfrm>
            <a:off x="3785616" y="3351233"/>
            <a:ext cx="285572"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+$14.89</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1" name="Shape 39"/>
          <p:cNvSpPr/>
          <p:nvPr/>
        </p:nvSpPr>
        <p:spPr>
          <a:xfrm>
            <a:off x="3785616" y="3591128"/>
            <a:ext cx="227218"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+$11.85</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5" name="Shape 43"/>
          <p:cNvSpPr/>
          <p:nvPr/>
        </p:nvSpPr>
        <p:spPr>
          <a:xfrm>
            <a:off x="3785616" y="3831024"/>
            <a:ext cx="175981"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+$9.18</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9" name="Shape 47"/>
          <p:cNvSpPr/>
          <p:nvPr/>
        </p:nvSpPr>
        <p:spPr>
          <a:xfrm>
            <a:off x="3785616" y="4070920"/>
            <a:ext cx="143320"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+$7.47</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3" name="Shape 51"/>
          <p:cNvSpPr/>
          <p:nvPr/>
        </p:nvSpPr>
        <p:spPr>
          <a:xfrm>
            <a:off x="3785616" y="4310815"/>
            <a:ext cx="118282"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+$6.17</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57" name="Shape 55"/>
          <p:cNvSpPr/>
          <p:nvPr/>
        </p:nvSpPr>
        <p:spPr>
          <a:xfrm>
            <a:off x="3785616" y="4550711"/>
            <a:ext cx="85736"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+$4.47</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1" name="Shape 59"/>
          <p:cNvSpPr/>
          <p:nvPr/>
        </p:nvSpPr>
        <p:spPr>
          <a:xfrm>
            <a:off x="3785616" y="4790606"/>
            <a:ext cx="81438"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+$4.25</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785616" y="5030502"/>
            <a:ext cx="72180"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785616" y="5270397"/>
            <a:ext cx="6525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+$3.40</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3" name="Shape 71"/>
          <p:cNvSpPr/>
          <p:nvPr/>
        </p:nvSpPr>
        <p:spPr>
          <a:xfrm>
            <a:off x="3785616" y="5510293"/>
            <a:ext cx="63550"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77" name="Shape 75"/>
          <p:cNvSpPr/>
          <p:nvPr/>
        </p:nvSpPr>
        <p:spPr>
          <a:xfrm>
            <a:off x="3785616" y="5750188"/>
            <a:ext cx="61758"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+$3.22</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1" name="Shape 79"/>
          <p:cNvSpPr/>
          <p:nvPr/>
        </p:nvSpPr>
        <p:spPr>
          <a:xfrm>
            <a:off x="9336024" y="1911860"/>
            <a:ext cx="34241"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+$1.79</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5" name="Shape 83"/>
          <p:cNvSpPr/>
          <p:nvPr/>
        </p:nvSpPr>
        <p:spPr>
          <a:xfrm>
            <a:off x="9336024" y="2151755"/>
            <a:ext cx="1280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+$0.18</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89" name="Shape 87"/>
          <p:cNvSpPr/>
          <p:nvPr/>
        </p:nvSpPr>
        <p:spPr>
          <a:xfrm>
            <a:off x="9318854" y="2391651"/>
            <a:ext cx="17170"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−$0.90</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3" name="Shape 91"/>
          <p:cNvSpPr/>
          <p:nvPr/>
        </p:nvSpPr>
        <p:spPr>
          <a:xfrm>
            <a:off x="9317123" y="2631546"/>
            <a:ext cx="18901"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−$0.99</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97" name="Shape 95"/>
          <p:cNvSpPr/>
          <p:nvPr/>
        </p:nvSpPr>
        <p:spPr>
          <a:xfrm>
            <a:off x="9308306" y="2871442"/>
            <a:ext cx="27718"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−$1.45</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1" name="Shape 99"/>
          <p:cNvSpPr/>
          <p:nvPr/>
        </p:nvSpPr>
        <p:spPr>
          <a:xfrm>
            <a:off x="9306754" y="3111337"/>
            <a:ext cx="29270"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−$1.53</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5" name="Shape 103"/>
          <p:cNvSpPr/>
          <p:nvPr/>
        </p:nvSpPr>
        <p:spPr>
          <a:xfrm>
            <a:off x="9300755" y="3351233"/>
            <a:ext cx="35269"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−$1.84</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9" name="Shape 107"/>
          <p:cNvSpPr/>
          <p:nvPr/>
        </p:nvSpPr>
        <p:spPr>
          <a:xfrm>
            <a:off x="9296965" y="3591128"/>
            <a:ext cx="39059"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−$2.04</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3" name="Shape 111"/>
          <p:cNvSpPr/>
          <p:nvPr/>
        </p:nvSpPr>
        <p:spPr>
          <a:xfrm>
            <a:off x="9296926" y="3831024"/>
            <a:ext cx="39098"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−$2.04</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7" name="Shape 115"/>
          <p:cNvSpPr/>
          <p:nvPr/>
        </p:nvSpPr>
        <p:spPr>
          <a:xfrm>
            <a:off x="9294926" y="4070920"/>
            <a:ext cx="41098"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−$2.14</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1" name="Shape 119"/>
          <p:cNvSpPr/>
          <p:nvPr/>
        </p:nvSpPr>
        <p:spPr>
          <a:xfrm>
            <a:off x="9266894" y="4310815"/>
            <a:ext cx="69130"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−$3.60</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5" name="Shape 123"/>
          <p:cNvSpPr/>
          <p:nvPr/>
        </p:nvSpPr>
        <p:spPr>
          <a:xfrm>
            <a:off x="9216031" y="4550711"/>
            <a:ext cx="119993"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−$6.26</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9" name="Shape 127"/>
          <p:cNvSpPr/>
          <p:nvPr/>
        </p:nvSpPr>
        <p:spPr>
          <a:xfrm>
            <a:off x="9137473" y="4790606"/>
            <a:ext cx="198551"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−$10.35</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3" name="Shape 131"/>
          <p:cNvSpPr/>
          <p:nvPr/>
        </p:nvSpPr>
        <p:spPr>
          <a:xfrm>
            <a:off x="9119752" y="5030502"/>
            <a:ext cx="216272"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−$11.28</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7" name="Shape 135"/>
          <p:cNvSpPr/>
          <p:nvPr/>
        </p:nvSpPr>
        <p:spPr>
          <a:xfrm>
            <a:off x="9093546" y="5270397"/>
            <a:ext cx="242478"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−$12.64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41" name="Shape 139"/>
          <p:cNvSpPr/>
          <p:nvPr/>
        </p:nvSpPr>
        <p:spPr>
          <a:xfrm>
            <a:off x="8662367" y="5510293"/>
            <a:ext cx="673657"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−$35.13</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48996"/>
          </a:xfrm>
          <a:prstGeom prst="rect">
            <a:avLst/>
          </a:prstGeom>
          <a:solidFill>
            <a:srgbClr val="E6F6EE"/>
          </a:solidFill>
          <a:ln/>
        </p:spPr>
      </p:sp>
      <p:sp>
        <p:nvSpPr>
          <p:cNvPr id="147" name="Text 145"/>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7A4A"/>
                </a:solidFill>
                <a:latin typeface="Inter" pitchFamily="34" charset="0"/>
                <a:ea typeface="Inter" pitchFamily="34" charset="-122"/>
                <a:cs typeface="Inter" pitchFamily="34" charset="-120"/>
              </a:rPr>
              <a:t>19 of 33 stores raised CP ELR, led by Volvo at +$40.53 to $222.12. 14 declined; Kia LV fell most at −$35.13.</a:t>
            </a:r>
            <a:endParaRPr lang="en-US" sz="1450" dirty="0"/>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 % of 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61747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 % OF DOOR RATE</a:t>
            </a:r>
            <a:endParaRPr lang="en-US" sz="1500" dirty="0"/>
          </a:p>
        </p:txBody>
      </p:sp>
      <p:sp>
        <p:nvSpPr>
          <p:cNvPr id="9" name="Text 7"/>
          <p:cNvSpPr txBox="1"/>
          <p:nvPr/>
        </p:nvSpPr>
        <p:spPr>
          <a:xfrm>
            <a:off x="3531870" y="1335024"/>
            <a:ext cx="451485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70.0%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74.7%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103.4%</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7" name="Shape 15"/>
          <p:cNvSpPr/>
          <p:nvPr/>
        </p:nvSpPr>
        <p:spPr>
          <a:xfrm>
            <a:off x="3008376" y="2146957"/>
            <a:ext cx="1337833"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90.2%</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1" name="Shape 19"/>
          <p:cNvSpPr/>
          <p:nvPr/>
        </p:nvSpPr>
        <p:spPr>
          <a:xfrm>
            <a:off x="3008376" y="2386853"/>
            <a:ext cx="1330750"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5" name="Shape 23"/>
          <p:cNvSpPr/>
          <p:nvPr/>
        </p:nvSpPr>
        <p:spPr>
          <a:xfrm>
            <a:off x="3008376" y="2626748"/>
            <a:ext cx="1325919"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89.7%</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9" name="Shape 27"/>
          <p:cNvSpPr/>
          <p:nvPr/>
        </p:nvSpPr>
        <p:spPr>
          <a:xfrm>
            <a:off x="3008376" y="2866644"/>
            <a:ext cx="1292406"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88.5%</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3" name="Shape 31"/>
          <p:cNvSpPr/>
          <p:nvPr/>
        </p:nvSpPr>
        <p:spPr>
          <a:xfrm>
            <a:off x="3008376" y="3106540"/>
            <a:ext cx="1245988"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37" name="Shape 35"/>
          <p:cNvSpPr/>
          <p:nvPr/>
        </p:nvSpPr>
        <p:spPr>
          <a:xfrm>
            <a:off x="3008376" y="3346435"/>
            <a:ext cx="1233940"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1" name="Shape 39"/>
          <p:cNvSpPr/>
          <p:nvPr/>
        </p:nvSpPr>
        <p:spPr>
          <a:xfrm>
            <a:off x="3008376" y="3586331"/>
            <a:ext cx="1135970"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82.6%</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5" name="Shape 43"/>
          <p:cNvSpPr/>
          <p:nvPr/>
        </p:nvSpPr>
        <p:spPr>
          <a:xfrm>
            <a:off x="3008376" y="3826226"/>
            <a:ext cx="1105695"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49" name="Shape 47"/>
          <p:cNvSpPr/>
          <p:nvPr/>
        </p:nvSpPr>
        <p:spPr>
          <a:xfrm>
            <a:off x="3008376" y="4066122"/>
            <a:ext cx="1091852"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80.9%</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3" name="Shape 51"/>
          <p:cNvSpPr/>
          <p:nvPr/>
        </p:nvSpPr>
        <p:spPr>
          <a:xfrm>
            <a:off x="3008376" y="4306017"/>
            <a:ext cx="1062579"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57" name="Shape 55"/>
          <p:cNvSpPr/>
          <p:nvPr/>
        </p:nvSpPr>
        <p:spPr>
          <a:xfrm>
            <a:off x="3008376" y="4545913"/>
            <a:ext cx="1052866"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1" name="Shape 59"/>
          <p:cNvSpPr/>
          <p:nvPr/>
        </p:nvSpPr>
        <p:spPr>
          <a:xfrm>
            <a:off x="3008376" y="4785808"/>
            <a:ext cx="1037454"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5" name="Shape 63"/>
          <p:cNvSpPr/>
          <p:nvPr/>
        </p:nvSpPr>
        <p:spPr>
          <a:xfrm>
            <a:off x="3008376" y="5025704"/>
            <a:ext cx="1037318"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9" name="Shape 67"/>
          <p:cNvSpPr/>
          <p:nvPr/>
        </p:nvSpPr>
        <p:spPr>
          <a:xfrm>
            <a:off x="3008376" y="5265599"/>
            <a:ext cx="1025918"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78.5%</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73" name="Shape 71"/>
          <p:cNvSpPr/>
          <p:nvPr/>
        </p:nvSpPr>
        <p:spPr>
          <a:xfrm>
            <a:off x="3008376" y="5505495"/>
            <a:ext cx="979141"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77" name="Shape 75"/>
          <p:cNvSpPr/>
          <p:nvPr/>
        </p:nvSpPr>
        <p:spPr>
          <a:xfrm>
            <a:off x="3008376" y="5745390"/>
            <a:ext cx="971152"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76.4%</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1" name="Shape 79"/>
          <p:cNvSpPr/>
          <p:nvPr/>
        </p:nvSpPr>
        <p:spPr>
          <a:xfrm>
            <a:off x="8558784" y="1907062"/>
            <a:ext cx="944283"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85" name="Shape 83"/>
          <p:cNvSpPr/>
          <p:nvPr/>
        </p:nvSpPr>
        <p:spPr>
          <a:xfrm>
            <a:off x="8558784" y="2146957"/>
            <a:ext cx="939782"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9" name="Shape 87"/>
          <p:cNvSpPr/>
          <p:nvPr/>
        </p:nvSpPr>
        <p:spPr>
          <a:xfrm>
            <a:off x="8558784" y="2386853"/>
            <a:ext cx="935092" cy="119948"/>
          </a:xfrm>
          <a:prstGeom prst="rect">
            <a:avLst/>
          </a:prstGeom>
          <a:solidFill>
            <a:srgbClr val="12A566"/>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932611" cy="119948"/>
          </a:xfrm>
          <a:prstGeom prst="rect">
            <a:avLst/>
          </a:prstGeom>
          <a:solidFill>
            <a:srgbClr val="12A566"/>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75.0%</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7" name="Shape 95"/>
          <p:cNvSpPr/>
          <p:nvPr/>
        </p:nvSpPr>
        <p:spPr>
          <a:xfrm>
            <a:off x="8558784" y="2866644"/>
            <a:ext cx="903003" cy="119948"/>
          </a:xfrm>
          <a:prstGeom prst="rect">
            <a:avLst/>
          </a:prstGeom>
          <a:solidFill>
            <a:srgbClr val="12A566"/>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1" name="Shape 99"/>
          <p:cNvSpPr/>
          <p:nvPr/>
        </p:nvSpPr>
        <p:spPr>
          <a:xfrm>
            <a:off x="8558784" y="3106540"/>
            <a:ext cx="883327" cy="119948"/>
          </a:xfrm>
          <a:prstGeom prst="rect">
            <a:avLst/>
          </a:prstGeom>
          <a:solidFill>
            <a:srgbClr val="12A566"/>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05" name="Shape 103"/>
          <p:cNvSpPr/>
          <p:nvPr/>
        </p:nvSpPr>
        <p:spPr>
          <a:xfrm>
            <a:off x="8558784" y="3346435"/>
            <a:ext cx="863903" cy="119948"/>
          </a:xfrm>
          <a:prstGeom prst="rect">
            <a:avLst/>
          </a:prstGeom>
          <a:solidFill>
            <a:srgbClr val="12A566"/>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72.4%</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9" name="Shape 107"/>
          <p:cNvSpPr/>
          <p:nvPr/>
        </p:nvSpPr>
        <p:spPr>
          <a:xfrm>
            <a:off x="8558784" y="3586331"/>
            <a:ext cx="816673" cy="119948"/>
          </a:xfrm>
          <a:prstGeom prst="rect">
            <a:avLst/>
          </a:prstGeom>
          <a:solidFill>
            <a:srgbClr val="12A566"/>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70.6%</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3" name="Shape 111"/>
          <p:cNvSpPr/>
          <p:nvPr/>
        </p:nvSpPr>
        <p:spPr>
          <a:xfrm>
            <a:off x="8558784" y="3826226"/>
            <a:ext cx="760618"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8558784" y="4066122"/>
            <a:ext cx="753672"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1" name="Shape 119"/>
          <p:cNvSpPr/>
          <p:nvPr/>
        </p:nvSpPr>
        <p:spPr>
          <a:xfrm>
            <a:off x="8558784" y="4306017"/>
            <a:ext cx="73330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67.5%</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5" name="Shape 123"/>
          <p:cNvSpPr/>
          <p:nvPr/>
        </p:nvSpPr>
        <p:spPr>
          <a:xfrm>
            <a:off x="8558784" y="4545913"/>
            <a:ext cx="713521"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66.7%</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8558784" y="4785808"/>
            <a:ext cx="707954"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66.5%</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33" name="Shape 131"/>
          <p:cNvSpPr/>
          <p:nvPr/>
        </p:nvSpPr>
        <p:spPr>
          <a:xfrm>
            <a:off x="8558784" y="5025704"/>
            <a:ext cx="666961"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65.0%</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58784" y="5265599"/>
            <a:ext cx="661223"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41" name="Shape 139"/>
          <p:cNvSpPr/>
          <p:nvPr/>
        </p:nvSpPr>
        <p:spPr>
          <a:xfrm>
            <a:off x="8558784" y="5505495"/>
            <a:ext cx="57463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61.5%</a:t>
            </a:r>
            <a:endParaRPr lang="en-US" sz="1200" dirty="0"/>
          </a:p>
        </p:txBody>
      </p:sp>
      <p:sp>
        <p:nvSpPr>
          <p:cNvPr id="143" name="Shape 141"/>
          <p:cNvSpPr/>
          <p:nvPr/>
        </p:nvSpPr>
        <p:spPr>
          <a:xfrm>
            <a:off x="3800278" y="1847088"/>
            <a:ext cx="14630" cy="4078224"/>
          </a:xfrm>
          <a:prstGeom prst="rect">
            <a:avLst/>
          </a:prstGeom>
          <a:solidFill>
            <a:srgbClr val="0B2C4A"/>
          </a:solidFill>
          <a:ln/>
        </p:spPr>
      </p:sp>
      <p:sp>
        <p:nvSpPr>
          <p:cNvPr id="144" name="Shape 142"/>
          <p:cNvSpPr/>
          <p:nvPr/>
        </p:nvSpPr>
        <p:spPr>
          <a:xfrm>
            <a:off x="9350686"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Jul–Sep: 25 of 33 stores realize at least 70% of door rate; the group is at 74.7%. Audi Reno leads at 103.4%; Cadillac is lowest at 61.5%.</a:t>
            </a:r>
            <a:endParaRPr lang="en-US" sz="1600" dirty="0"/>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 % of 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61747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 % OF DOOR RATE</a:t>
            </a:r>
            <a:endParaRPr lang="en-US" sz="1500" dirty="0"/>
          </a:p>
        </p:txBody>
      </p:sp>
      <p:sp>
        <p:nvSpPr>
          <p:cNvPr id="9" name="Text 7"/>
          <p:cNvSpPr txBox="1"/>
          <p:nvPr/>
        </p:nvSpPr>
        <p:spPr>
          <a:xfrm>
            <a:off x="3531870" y="1335024"/>
            <a:ext cx="451485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70.0%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74.7%</a:t>
            </a:r>
            <a:endParaRPr lang="en-US" sz="2000" dirty="0"/>
          </a:p>
        </p:txBody>
      </p:sp>
      <p:sp>
        <p:nvSpPr>
          <p:cNvPr id="11" name="Text 9"/>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 name="Shape 11"/>
          <p:cNvSpPr/>
          <p:nvPr/>
        </p:nvSpPr>
        <p:spPr>
          <a:xfrm>
            <a:off x="3008376" y="2177348"/>
            <a:ext cx="484632" cy="111880"/>
          </a:xfrm>
          <a:prstGeom prst="rect">
            <a:avLst/>
          </a:prstGeom>
          <a:solidFill>
            <a:srgbClr val="12A566"/>
          </a:solidFill>
          <a:ln/>
        </p:spPr>
      </p:sp>
      <p:sp>
        <p:nvSpPr>
          <p:cNvPr id="14" name="Text 12"/>
          <p:cNvSpPr txBox="1"/>
          <p:nvPr/>
        </p:nvSpPr>
        <p:spPr>
          <a:xfrm>
            <a:off x="3547872"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103.4%</a:t>
            </a:r>
            <a:endParaRPr lang="en-US" sz="1200" dirty="0"/>
          </a:p>
        </p:txBody>
      </p:sp>
      <p:sp>
        <p:nvSpPr>
          <p:cNvPr id="15" name="Text 13"/>
          <p:cNvSpPr txBox="1"/>
          <p:nvPr/>
        </p:nvSpPr>
        <p:spPr>
          <a:xfrm>
            <a:off x="4224528"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$244.12</a:t>
            </a:r>
            <a:endParaRPr lang="en-US" sz="1200" dirty="0"/>
          </a:p>
        </p:txBody>
      </p:sp>
      <p:sp>
        <p:nvSpPr>
          <p:cNvPr id="16" name="Text 14"/>
          <p:cNvSpPr txBox="1"/>
          <p:nvPr/>
        </p:nvSpPr>
        <p:spPr>
          <a:xfrm>
            <a:off x="5010912"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$235.87</a:t>
            </a:r>
            <a:endParaRPr lang="en-US" sz="1200" dirty="0"/>
          </a:p>
        </p:txBody>
      </p:sp>
      <p:sp>
        <p:nvSpPr>
          <p:cNvPr id="17" name="Text 15"/>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9" name="Shape 17"/>
          <p:cNvSpPr/>
          <p:nvPr/>
        </p:nvSpPr>
        <p:spPr>
          <a:xfrm>
            <a:off x="3008376" y="2401107"/>
            <a:ext cx="383271" cy="111880"/>
          </a:xfrm>
          <a:prstGeom prst="rect">
            <a:avLst/>
          </a:prstGeom>
          <a:solidFill>
            <a:srgbClr val="12A566"/>
          </a:solidFill>
          <a:ln/>
        </p:spPr>
      </p:sp>
      <p:sp>
        <p:nvSpPr>
          <p:cNvPr id="20" name="Text 18"/>
          <p:cNvSpPr txBox="1"/>
          <p:nvPr/>
        </p:nvSpPr>
        <p:spPr>
          <a:xfrm>
            <a:off x="3547872"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90.2%</a:t>
            </a:r>
            <a:endParaRPr lang="en-US" sz="1200" dirty="0"/>
          </a:p>
        </p:txBody>
      </p:sp>
      <p:sp>
        <p:nvSpPr>
          <p:cNvPr id="21" name="Text 19"/>
          <p:cNvSpPr txBox="1"/>
          <p:nvPr/>
        </p:nvSpPr>
        <p:spPr>
          <a:xfrm>
            <a:off x="4224528"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$225.50</a:t>
            </a:r>
            <a:endParaRPr lang="en-US" sz="1200" dirty="0"/>
          </a:p>
        </p:txBody>
      </p:sp>
      <p:sp>
        <p:nvSpPr>
          <p:cNvPr id="22" name="Text 20"/>
          <p:cNvSpPr txBox="1"/>
          <p:nvPr/>
        </p:nvSpPr>
        <p:spPr>
          <a:xfrm>
            <a:off x="5010912"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$249.95</a:t>
            </a:r>
            <a:endParaRPr lang="en-US" sz="1200" dirty="0"/>
          </a:p>
        </p:txBody>
      </p:sp>
      <p:sp>
        <p:nvSpPr>
          <p:cNvPr id="23" name="Text 21"/>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4" name="Text 22"/>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5" name="Shape 23"/>
          <p:cNvSpPr/>
          <p:nvPr/>
        </p:nvSpPr>
        <p:spPr>
          <a:xfrm>
            <a:off x="3008376" y="2624866"/>
            <a:ext cx="381242" cy="111880"/>
          </a:xfrm>
          <a:prstGeom prst="rect">
            <a:avLst/>
          </a:prstGeom>
          <a:solidFill>
            <a:srgbClr val="12A566"/>
          </a:solidFill>
          <a:ln/>
        </p:spPr>
      </p:sp>
      <p:sp>
        <p:nvSpPr>
          <p:cNvPr id="26" name="Text 24"/>
          <p:cNvSpPr txBox="1"/>
          <p:nvPr/>
        </p:nvSpPr>
        <p:spPr>
          <a:xfrm>
            <a:off x="3547872"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89.9%</a:t>
            </a:r>
            <a:endParaRPr lang="en-US" sz="1200" dirty="0"/>
          </a:p>
        </p:txBody>
      </p:sp>
      <p:sp>
        <p:nvSpPr>
          <p:cNvPr id="27" name="Text 25"/>
          <p:cNvSpPr txBox="1"/>
          <p:nvPr/>
        </p:nvSpPr>
        <p:spPr>
          <a:xfrm>
            <a:off x="4224528"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$161.80</a:t>
            </a:r>
            <a:endParaRPr lang="en-US" sz="1200" dirty="0"/>
          </a:p>
        </p:txBody>
      </p:sp>
      <p:sp>
        <p:nvSpPr>
          <p:cNvPr id="28" name="Text 26"/>
          <p:cNvSpPr txBox="1"/>
          <p:nvPr/>
        </p:nvSpPr>
        <p:spPr>
          <a:xfrm>
            <a:off x="5010912"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$179.87</a:t>
            </a:r>
            <a:endParaRPr lang="en-US" sz="1200" dirty="0"/>
          </a:p>
        </p:txBody>
      </p:sp>
      <p:sp>
        <p:nvSpPr>
          <p:cNvPr id="29" name="Text 27"/>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0" name="Text 28"/>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31" name="Shape 29"/>
          <p:cNvSpPr/>
          <p:nvPr/>
        </p:nvSpPr>
        <p:spPr>
          <a:xfrm>
            <a:off x="3008376" y="2848625"/>
            <a:ext cx="379858" cy="111880"/>
          </a:xfrm>
          <a:prstGeom prst="rect">
            <a:avLst/>
          </a:prstGeom>
          <a:solidFill>
            <a:srgbClr val="12A566"/>
          </a:solidFill>
          <a:ln/>
        </p:spPr>
      </p:sp>
      <p:sp>
        <p:nvSpPr>
          <p:cNvPr id="32" name="Text 30"/>
          <p:cNvSpPr txBox="1"/>
          <p:nvPr/>
        </p:nvSpPr>
        <p:spPr>
          <a:xfrm>
            <a:off x="3547872"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89.7%</a:t>
            </a:r>
            <a:endParaRPr lang="en-US" sz="1200" dirty="0"/>
          </a:p>
        </p:txBody>
      </p:sp>
      <p:sp>
        <p:nvSpPr>
          <p:cNvPr id="33" name="Text 31"/>
          <p:cNvSpPr txBox="1"/>
          <p:nvPr/>
        </p:nvSpPr>
        <p:spPr>
          <a:xfrm>
            <a:off x="4224528"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$165.96</a:t>
            </a:r>
            <a:endParaRPr lang="en-US" sz="1200" dirty="0"/>
          </a:p>
        </p:txBody>
      </p:sp>
      <p:sp>
        <p:nvSpPr>
          <p:cNvPr id="34" name="Text 32"/>
          <p:cNvSpPr txBox="1"/>
          <p:nvPr/>
        </p:nvSpPr>
        <p:spPr>
          <a:xfrm>
            <a:off x="5010912"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$184.87</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37" name="Shape 35"/>
          <p:cNvSpPr/>
          <p:nvPr/>
        </p:nvSpPr>
        <p:spPr>
          <a:xfrm>
            <a:off x="3008376" y="3072384"/>
            <a:ext cx="370257" cy="111880"/>
          </a:xfrm>
          <a:prstGeom prst="rect">
            <a:avLst/>
          </a:prstGeom>
          <a:solidFill>
            <a:srgbClr val="12A566"/>
          </a:solidFill>
          <a:ln/>
        </p:spPr>
      </p:sp>
      <p:sp>
        <p:nvSpPr>
          <p:cNvPr id="38" name="Text 36"/>
          <p:cNvSpPr txBox="1"/>
          <p:nvPr/>
        </p:nvSpPr>
        <p:spPr>
          <a:xfrm>
            <a:off x="3547872"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88.5%</a:t>
            </a:r>
            <a:endParaRPr lang="en-US" sz="1200" dirty="0"/>
          </a:p>
        </p:txBody>
      </p:sp>
      <p:sp>
        <p:nvSpPr>
          <p:cNvPr id="39" name="Text 37"/>
          <p:cNvSpPr txBox="1"/>
          <p:nvPr/>
        </p:nvSpPr>
        <p:spPr>
          <a:xfrm>
            <a:off x="4224528"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$199.04</a:t>
            </a:r>
            <a:endParaRPr lang="en-US" sz="1200" dirty="0"/>
          </a:p>
        </p:txBody>
      </p:sp>
      <p:sp>
        <p:nvSpPr>
          <p:cNvPr id="40" name="Text 38"/>
          <p:cNvSpPr txBox="1"/>
          <p:nvPr/>
        </p:nvSpPr>
        <p:spPr>
          <a:xfrm>
            <a:off x="5010912"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$224.87</a:t>
            </a:r>
            <a:endParaRPr lang="en-US" sz="1200" dirty="0"/>
          </a:p>
        </p:txBody>
      </p:sp>
      <p:sp>
        <p:nvSpPr>
          <p:cNvPr id="41" name="Text 39"/>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2" name="Text 40"/>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3" name="Shape 41"/>
          <p:cNvSpPr/>
          <p:nvPr/>
        </p:nvSpPr>
        <p:spPr>
          <a:xfrm>
            <a:off x="3008376" y="3296143"/>
            <a:ext cx="356959" cy="111880"/>
          </a:xfrm>
          <a:prstGeom prst="rect">
            <a:avLst/>
          </a:prstGeom>
          <a:solidFill>
            <a:srgbClr val="12A566"/>
          </a:solidFill>
          <a:ln/>
        </p:spPr>
      </p:sp>
      <p:sp>
        <p:nvSpPr>
          <p:cNvPr id="44" name="Text 42"/>
          <p:cNvSpPr txBox="1"/>
          <p:nvPr/>
        </p:nvSpPr>
        <p:spPr>
          <a:xfrm>
            <a:off x="3547872"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86.7%</a:t>
            </a:r>
            <a:endParaRPr lang="en-US" sz="1200" dirty="0"/>
          </a:p>
        </p:txBody>
      </p:sp>
      <p:sp>
        <p:nvSpPr>
          <p:cNvPr id="45" name="Text 43"/>
          <p:cNvSpPr txBox="1"/>
          <p:nvPr/>
        </p:nvSpPr>
        <p:spPr>
          <a:xfrm>
            <a:off x="4224528"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$238.62</a:t>
            </a:r>
            <a:endParaRPr lang="en-US" sz="1200" dirty="0"/>
          </a:p>
        </p:txBody>
      </p:sp>
      <p:sp>
        <p:nvSpPr>
          <p:cNvPr id="46" name="Text 44"/>
          <p:cNvSpPr txBox="1"/>
          <p:nvPr/>
        </p:nvSpPr>
        <p:spPr>
          <a:xfrm>
            <a:off x="5010912"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$275.00</a:t>
            </a:r>
            <a:endParaRPr lang="en-US" sz="1200" dirty="0"/>
          </a:p>
        </p:txBody>
      </p:sp>
      <p:sp>
        <p:nvSpPr>
          <p:cNvPr id="47" name="Text 45"/>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8" name="Text 46"/>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49" name="Shape 47"/>
          <p:cNvSpPr/>
          <p:nvPr/>
        </p:nvSpPr>
        <p:spPr>
          <a:xfrm>
            <a:off x="3008376" y="3519902"/>
            <a:ext cx="353507" cy="111880"/>
          </a:xfrm>
          <a:prstGeom prst="rect">
            <a:avLst/>
          </a:prstGeom>
          <a:solidFill>
            <a:srgbClr val="12A566"/>
          </a:solidFill>
          <a:ln/>
        </p:spPr>
      </p:sp>
      <p:sp>
        <p:nvSpPr>
          <p:cNvPr id="50" name="Text 48"/>
          <p:cNvSpPr txBox="1"/>
          <p:nvPr/>
        </p:nvSpPr>
        <p:spPr>
          <a:xfrm>
            <a:off x="3547872"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86.3%</a:t>
            </a:r>
            <a:endParaRPr lang="en-US" sz="1200" dirty="0"/>
          </a:p>
        </p:txBody>
      </p:sp>
      <p:sp>
        <p:nvSpPr>
          <p:cNvPr id="51" name="Text 49"/>
          <p:cNvSpPr txBox="1"/>
          <p:nvPr/>
        </p:nvSpPr>
        <p:spPr>
          <a:xfrm>
            <a:off x="4224528"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$159.69</a:t>
            </a:r>
            <a:endParaRPr lang="en-US" sz="1200" dirty="0"/>
          </a:p>
        </p:txBody>
      </p:sp>
      <p:sp>
        <p:nvSpPr>
          <p:cNvPr id="52" name="Text 50"/>
          <p:cNvSpPr txBox="1"/>
          <p:nvPr/>
        </p:nvSpPr>
        <p:spPr>
          <a:xfrm>
            <a:off x="5010912"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$185.00</a:t>
            </a:r>
            <a:endParaRPr lang="en-US" sz="1200" dirty="0"/>
          </a:p>
        </p:txBody>
      </p:sp>
      <p:sp>
        <p:nvSpPr>
          <p:cNvPr id="53" name="Text 51"/>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4" name="Text 52"/>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5" name="Shape 53"/>
          <p:cNvSpPr/>
          <p:nvPr/>
        </p:nvSpPr>
        <p:spPr>
          <a:xfrm>
            <a:off x="3008376" y="3743661"/>
            <a:ext cx="325440" cy="111880"/>
          </a:xfrm>
          <a:prstGeom prst="rect">
            <a:avLst/>
          </a:prstGeom>
          <a:solidFill>
            <a:srgbClr val="12A566"/>
          </a:solidFill>
          <a:ln/>
        </p:spPr>
      </p:sp>
      <p:sp>
        <p:nvSpPr>
          <p:cNvPr id="56" name="Text 54"/>
          <p:cNvSpPr txBox="1"/>
          <p:nvPr/>
        </p:nvSpPr>
        <p:spPr>
          <a:xfrm>
            <a:off x="3547872"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82.6%</a:t>
            </a:r>
            <a:endParaRPr lang="en-US" sz="1200" dirty="0"/>
          </a:p>
        </p:txBody>
      </p:sp>
      <p:sp>
        <p:nvSpPr>
          <p:cNvPr id="57" name="Text 55"/>
          <p:cNvSpPr txBox="1"/>
          <p:nvPr/>
        </p:nvSpPr>
        <p:spPr>
          <a:xfrm>
            <a:off x="4224528"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$147.93</a:t>
            </a:r>
            <a:endParaRPr lang="en-US" sz="1200" dirty="0"/>
          </a:p>
        </p:txBody>
      </p:sp>
      <p:sp>
        <p:nvSpPr>
          <p:cNvPr id="58" name="Text 56"/>
          <p:cNvSpPr txBox="1"/>
          <p:nvPr/>
        </p:nvSpPr>
        <p:spPr>
          <a:xfrm>
            <a:off x="5010912"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$179.00</a:t>
            </a:r>
            <a:endParaRPr lang="en-US" sz="1200" dirty="0"/>
          </a:p>
        </p:txBody>
      </p:sp>
      <p:sp>
        <p:nvSpPr>
          <p:cNvPr id="59" name="Text 57"/>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0" name="Text 58"/>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1" name="Shape 59"/>
          <p:cNvSpPr/>
          <p:nvPr/>
        </p:nvSpPr>
        <p:spPr>
          <a:xfrm>
            <a:off x="3008376" y="3967420"/>
            <a:ext cx="316767" cy="111880"/>
          </a:xfrm>
          <a:prstGeom prst="rect">
            <a:avLst/>
          </a:prstGeom>
          <a:solidFill>
            <a:srgbClr val="12A566"/>
          </a:solidFill>
          <a:ln/>
        </p:spPr>
      </p:sp>
      <p:sp>
        <p:nvSpPr>
          <p:cNvPr id="62" name="Text 60"/>
          <p:cNvSpPr txBox="1"/>
          <p:nvPr/>
        </p:nvSpPr>
        <p:spPr>
          <a:xfrm>
            <a:off x="3547872" y="391148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63" name="Text 61"/>
          <p:cNvSpPr txBox="1"/>
          <p:nvPr/>
        </p:nvSpPr>
        <p:spPr>
          <a:xfrm>
            <a:off x="4224528"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$187.42</a:t>
            </a:r>
            <a:endParaRPr lang="en-US" sz="1200" dirty="0"/>
          </a:p>
        </p:txBody>
      </p:sp>
      <p:sp>
        <p:nvSpPr>
          <p:cNvPr id="64" name="Text 62"/>
          <p:cNvSpPr txBox="1"/>
          <p:nvPr/>
        </p:nvSpPr>
        <p:spPr>
          <a:xfrm>
            <a:off x="5010912"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$229.95</a:t>
            </a:r>
            <a:endParaRPr lang="en-US" sz="1200" dirty="0"/>
          </a:p>
        </p:txBody>
      </p:sp>
      <p:sp>
        <p:nvSpPr>
          <p:cNvPr id="65" name="Text 63"/>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6" name="Text 64"/>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7" name="Shape 65"/>
          <p:cNvSpPr/>
          <p:nvPr/>
        </p:nvSpPr>
        <p:spPr>
          <a:xfrm>
            <a:off x="3008376" y="4191179"/>
            <a:ext cx="312801" cy="111880"/>
          </a:xfrm>
          <a:prstGeom prst="rect">
            <a:avLst/>
          </a:prstGeom>
          <a:solidFill>
            <a:srgbClr val="12A566"/>
          </a:solidFill>
          <a:ln/>
        </p:spPr>
      </p:sp>
      <p:sp>
        <p:nvSpPr>
          <p:cNvPr id="68" name="Text 66"/>
          <p:cNvSpPr txBox="1"/>
          <p:nvPr/>
        </p:nvSpPr>
        <p:spPr>
          <a:xfrm>
            <a:off x="3547872" y="413524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80.9%</a:t>
            </a:r>
            <a:endParaRPr lang="en-US" sz="1200" dirty="0"/>
          </a:p>
        </p:txBody>
      </p:sp>
      <p:sp>
        <p:nvSpPr>
          <p:cNvPr id="69" name="Text 67"/>
          <p:cNvSpPr txBox="1"/>
          <p:nvPr/>
        </p:nvSpPr>
        <p:spPr>
          <a:xfrm>
            <a:off x="4224528"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$161.93</a:t>
            </a:r>
            <a:endParaRPr lang="en-US" sz="1200" dirty="0"/>
          </a:p>
        </p:txBody>
      </p:sp>
      <p:sp>
        <p:nvSpPr>
          <p:cNvPr id="70" name="Text 68"/>
          <p:cNvSpPr txBox="1"/>
          <p:nvPr/>
        </p:nvSpPr>
        <p:spPr>
          <a:xfrm>
            <a:off x="5010912"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$199.95</a:t>
            </a:r>
            <a:endParaRPr lang="en-US" sz="1200" dirty="0"/>
          </a:p>
        </p:txBody>
      </p:sp>
      <p:sp>
        <p:nvSpPr>
          <p:cNvPr id="71" name="Text 69"/>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2" name="Text 70"/>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3" name="Shape 71"/>
          <p:cNvSpPr/>
          <p:nvPr/>
        </p:nvSpPr>
        <p:spPr>
          <a:xfrm>
            <a:off x="3008376" y="4414938"/>
            <a:ext cx="304415" cy="111880"/>
          </a:xfrm>
          <a:prstGeom prst="rect">
            <a:avLst/>
          </a:prstGeom>
          <a:solidFill>
            <a:srgbClr val="12A566"/>
          </a:solidFill>
          <a:ln/>
        </p:spPr>
      </p:sp>
      <p:sp>
        <p:nvSpPr>
          <p:cNvPr id="74" name="Text 72"/>
          <p:cNvSpPr txBox="1"/>
          <p:nvPr/>
        </p:nvSpPr>
        <p:spPr>
          <a:xfrm>
            <a:off x="3547872" y="4358999"/>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79.8%</a:t>
            </a:r>
            <a:endParaRPr lang="en-US" sz="1200" dirty="0"/>
          </a:p>
        </p:txBody>
      </p:sp>
      <p:sp>
        <p:nvSpPr>
          <p:cNvPr id="75" name="Text 73"/>
          <p:cNvSpPr txBox="1"/>
          <p:nvPr/>
        </p:nvSpPr>
        <p:spPr>
          <a:xfrm>
            <a:off x="4224528"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$155.78</a:t>
            </a:r>
            <a:endParaRPr lang="en-US" sz="1200" dirty="0"/>
          </a:p>
        </p:txBody>
      </p:sp>
      <p:sp>
        <p:nvSpPr>
          <p:cNvPr id="76" name="Text 74"/>
          <p:cNvSpPr txBox="1"/>
          <p:nvPr/>
        </p:nvSpPr>
        <p:spPr>
          <a:xfrm>
            <a:off x="5010912"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$195.00</a:t>
            </a:r>
            <a:endParaRPr lang="en-US" sz="1200" dirty="0"/>
          </a:p>
        </p:txBody>
      </p:sp>
      <p:sp>
        <p:nvSpPr>
          <p:cNvPr id="77" name="Text 75"/>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8" name="Text 76"/>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9" name="Shape 77"/>
          <p:cNvSpPr/>
          <p:nvPr/>
        </p:nvSpPr>
        <p:spPr>
          <a:xfrm>
            <a:off x="3008376" y="4638697"/>
            <a:ext cx="301632" cy="111880"/>
          </a:xfrm>
          <a:prstGeom prst="rect">
            <a:avLst/>
          </a:prstGeom>
          <a:solidFill>
            <a:srgbClr val="12A566"/>
          </a:solidFill>
          <a:ln/>
        </p:spPr>
      </p:sp>
      <p:sp>
        <p:nvSpPr>
          <p:cNvPr id="80" name="Text 78"/>
          <p:cNvSpPr txBox="1"/>
          <p:nvPr/>
        </p:nvSpPr>
        <p:spPr>
          <a:xfrm>
            <a:off x="3547872" y="458275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79.5%</a:t>
            </a:r>
            <a:endParaRPr lang="en-US" sz="1200" dirty="0"/>
          </a:p>
        </p:txBody>
      </p:sp>
      <p:sp>
        <p:nvSpPr>
          <p:cNvPr id="81" name="Text 79"/>
          <p:cNvSpPr txBox="1"/>
          <p:nvPr/>
        </p:nvSpPr>
        <p:spPr>
          <a:xfrm>
            <a:off x="4224528"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$234.48</a:t>
            </a:r>
            <a:endParaRPr lang="en-US" sz="1200" dirty="0"/>
          </a:p>
        </p:txBody>
      </p:sp>
      <p:sp>
        <p:nvSpPr>
          <p:cNvPr id="82" name="Text 80"/>
          <p:cNvSpPr txBox="1"/>
          <p:nvPr/>
        </p:nvSpPr>
        <p:spPr>
          <a:xfrm>
            <a:off x="5010912"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$294.87</a:t>
            </a:r>
            <a:endParaRPr lang="en-US" sz="1200" dirty="0"/>
          </a:p>
        </p:txBody>
      </p:sp>
      <p:sp>
        <p:nvSpPr>
          <p:cNvPr id="83" name="Text 81"/>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4" name="Text 82"/>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3008376" y="4862456"/>
            <a:ext cx="297217" cy="111880"/>
          </a:xfrm>
          <a:prstGeom prst="rect">
            <a:avLst/>
          </a:prstGeom>
          <a:solidFill>
            <a:srgbClr val="12A566"/>
          </a:solidFill>
          <a:ln/>
        </p:spPr>
      </p:sp>
      <p:sp>
        <p:nvSpPr>
          <p:cNvPr id="86" name="Text 84"/>
          <p:cNvSpPr txBox="1"/>
          <p:nvPr/>
        </p:nvSpPr>
        <p:spPr>
          <a:xfrm>
            <a:off x="3547872" y="480651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87" name="Text 85"/>
          <p:cNvSpPr txBox="1"/>
          <p:nvPr/>
        </p:nvSpPr>
        <p:spPr>
          <a:xfrm>
            <a:off x="4224528"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$146.04</a:t>
            </a:r>
            <a:endParaRPr lang="en-US" sz="1200" dirty="0"/>
          </a:p>
        </p:txBody>
      </p:sp>
      <p:sp>
        <p:nvSpPr>
          <p:cNvPr id="88" name="Text 86"/>
          <p:cNvSpPr txBox="1"/>
          <p:nvPr/>
        </p:nvSpPr>
        <p:spPr>
          <a:xfrm>
            <a:off x="5010912"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$185.00</a:t>
            </a:r>
            <a:endParaRPr lang="en-US" sz="1200" dirty="0"/>
          </a:p>
        </p:txBody>
      </p:sp>
      <p:sp>
        <p:nvSpPr>
          <p:cNvPr id="89" name="Text 87"/>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0" name="Text 88"/>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91" name="Shape 89"/>
          <p:cNvSpPr/>
          <p:nvPr/>
        </p:nvSpPr>
        <p:spPr>
          <a:xfrm>
            <a:off x="3008376" y="5086216"/>
            <a:ext cx="297178" cy="111880"/>
          </a:xfrm>
          <a:prstGeom prst="rect">
            <a:avLst/>
          </a:prstGeom>
          <a:solidFill>
            <a:srgbClr val="12A566"/>
          </a:solidFill>
          <a:ln/>
        </p:spPr>
      </p:sp>
      <p:sp>
        <p:nvSpPr>
          <p:cNvPr id="92" name="Text 90"/>
          <p:cNvSpPr txBox="1"/>
          <p:nvPr/>
        </p:nvSpPr>
        <p:spPr>
          <a:xfrm>
            <a:off x="3547872" y="503027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93" name="Text 91"/>
          <p:cNvSpPr txBox="1"/>
          <p:nvPr/>
        </p:nvSpPr>
        <p:spPr>
          <a:xfrm>
            <a:off x="4224528"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$165.67</a:t>
            </a:r>
            <a:endParaRPr lang="en-US" sz="1200" dirty="0"/>
          </a:p>
        </p:txBody>
      </p:sp>
      <p:sp>
        <p:nvSpPr>
          <p:cNvPr id="94" name="Text 92"/>
          <p:cNvSpPr txBox="1"/>
          <p:nvPr/>
        </p:nvSpPr>
        <p:spPr>
          <a:xfrm>
            <a:off x="5010912"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$209.87</a:t>
            </a:r>
            <a:endParaRPr lang="en-US" sz="1200" dirty="0"/>
          </a:p>
        </p:txBody>
      </p:sp>
      <p:sp>
        <p:nvSpPr>
          <p:cNvPr id="95" name="Text 9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6" name="Text 9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3008376" y="5309975"/>
            <a:ext cx="293912" cy="111880"/>
          </a:xfrm>
          <a:prstGeom prst="rect">
            <a:avLst/>
          </a:prstGeom>
          <a:solidFill>
            <a:srgbClr val="12A566"/>
          </a:solidFill>
          <a:ln/>
        </p:spPr>
      </p:sp>
      <p:sp>
        <p:nvSpPr>
          <p:cNvPr id="98" name="Text 96"/>
          <p:cNvSpPr txBox="1"/>
          <p:nvPr/>
        </p:nvSpPr>
        <p:spPr>
          <a:xfrm>
            <a:off x="3547872" y="525403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78.5%</a:t>
            </a:r>
            <a:endParaRPr lang="en-US" sz="1200" dirty="0"/>
          </a:p>
        </p:txBody>
      </p:sp>
      <p:sp>
        <p:nvSpPr>
          <p:cNvPr id="99" name="Text 97"/>
          <p:cNvSpPr txBox="1"/>
          <p:nvPr/>
        </p:nvSpPr>
        <p:spPr>
          <a:xfrm>
            <a:off x="4224528"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$160.84</a:t>
            </a:r>
            <a:endParaRPr lang="en-US" sz="1200" dirty="0"/>
          </a:p>
        </p:txBody>
      </p:sp>
      <p:sp>
        <p:nvSpPr>
          <p:cNvPr id="100" name="Text 98"/>
          <p:cNvSpPr txBox="1"/>
          <p:nvPr/>
        </p:nvSpPr>
        <p:spPr>
          <a:xfrm>
            <a:off x="5010912"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$204.87</a:t>
            </a:r>
            <a:endParaRPr lang="en-US" sz="1200" dirty="0"/>
          </a:p>
        </p:txBody>
      </p:sp>
      <p:sp>
        <p:nvSpPr>
          <p:cNvPr id="101" name="Text 99"/>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2" name="Text 100"/>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3" name="Shape 101"/>
          <p:cNvSpPr/>
          <p:nvPr/>
        </p:nvSpPr>
        <p:spPr>
          <a:xfrm>
            <a:off x="3008376" y="5533734"/>
            <a:ext cx="280511" cy="111880"/>
          </a:xfrm>
          <a:prstGeom prst="rect">
            <a:avLst/>
          </a:prstGeom>
          <a:solidFill>
            <a:srgbClr val="12A566"/>
          </a:solidFill>
          <a:ln/>
        </p:spPr>
      </p:sp>
      <p:sp>
        <p:nvSpPr>
          <p:cNvPr id="104" name="Text 102"/>
          <p:cNvSpPr txBox="1"/>
          <p:nvPr/>
        </p:nvSpPr>
        <p:spPr>
          <a:xfrm>
            <a:off x="3547872" y="547779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76.7%</a:t>
            </a:r>
            <a:endParaRPr lang="en-US" sz="1200" dirty="0"/>
          </a:p>
        </p:txBody>
      </p:sp>
      <p:sp>
        <p:nvSpPr>
          <p:cNvPr id="105" name="Text 103"/>
          <p:cNvSpPr txBox="1"/>
          <p:nvPr/>
        </p:nvSpPr>
        <p:spPr>
          <a:xfrm>
            <a:off x="4224528"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$141.89</a:t>
            </a:r>
            <a:endParaRPr lang="en-US" sz="1200" dirty="0"/>
          </a:p>
        </p:txBody>
      </p:sp>
      <p:sp>
        <p:nvSpPr>
          <p:cNvPr id="106" name="Text 104"/>
          <p:cNvSpPr txBox="1"/>
          <p:nvPr/>
        </p:nvSpPr>
        <p:spPr>
          <a:xfrm>
            <a:off x="5010912"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$184.87</a:t>
            </a:r>
            <a:endParaRPr lang="en-US" sz="1200" dirty="0"/>
          </a:p>
        </p:txBody>
      </p:sp>
      <p:sp>
        <p:nvSpPr>
          <p:cNvPr id="107" name="Text 105"/>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8" name="Text 106"/>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9" name="Shape 107"/>
          <p:cNvSpPr/>
          <p:nvPr/>
        </p:nvSpPr>
        <p:spPr>
          <a:xfrm>
            <a:off x="3008376" y="5757493"/>
            <a:ext cx="278222" cy="111880"/>
          </a:xfrm>
          <a:prstGeom prst="rect">
            <a:avLst/>
          </a:prstGeom>
          <a:solidFill>
            <a:srgbClr val="12A566"/>
          </a:solidFill>
          <a:ln/>
        </p:spPr>
      </p:sp>
      <p:sp>
        <p:nvSpPr>
          <p:cNvPr id="110" name="Text 108"/>
          <p:cNvSpPr txBox="1"/>
          <p:nvPr/>
        </p:nvSpPr>
        <p:spPr>
          <a:xfrm>
            <a:off x="3547872" y="570155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76.4%</a:t>
            </a:r>
            <a:endParaRPr lang="en-US" sz="1200" dirty="0"/>
          </a:p>
        </p:txBody>
      </p:sp>
      <p:sp>
        <p:nvSpPr>
          <p:cNvPr id="111" name="Text 109"/>
          <p:cNvSpPr txBox="1"/>
          <p:nvPr/>
        </p:nvSpPr>
        <p:spPr>
          <a:xfrm>
            <a:off x="4224528" y="570155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$266.72</a:t>
            </a:r>
            <a:endParaRPr lang="en-US" sz="1200" dirty="0"/>
          </a:p>
        </p:txBody>
      </p:sp>
      <p:sp>
        <p:nvSpPr>
          <p:cNvPr id="112" name="Text 110"/>
          <p:cNvSpPr txBox="1"/>
          <p:nvPr/>
        </p:nvSpPr>
        <p:spPr>
          <a:xfrm>
            <a:off x="5010912" y="570155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$348.87</a:t>
            </a:r>
            <a:endParaRPr lang="en-US" sz="1200" dirty="0"/>
          </a:p>
        </p:txBody>
      </p:sp>
      <p:sp>
        <p:nvSpPr>
          <p:cNvPr id="113" name="Text 11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4" name="Text 11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5" name="Shape 113"/>
          <p:cNvSpPr/>
          <p:nvPr/>
        </p:nvSpPr>
        <p:spPr>
          <a:xfrm>
            <a:off x="8558784" y="2177348"/>
            <a:ext cx="270524" cy="111880"/>
          </a:xfrm>
          <a:prstGeom prst="rect">
            <a:avLst/>
          </a:prstGeom>
          <a:solidFill>
            <a:srgbClr val="12A566"/>
          </a:solidFill>
          <a:ln/>
        </p:spPr>
      </p:sp>
      <p:sp>
        <p:nvSpPr>
          <p:cNvPr id="116" name="Text 114"/>
          <p:cNvSpPr txBox="1"/>
          <p:nvPr/>
        </p:nvSpPr>
        <p:spPr>
          <a:xfrm>
            <a:off x="9098280"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75.4%</a:t>
            </a:r>
            <a:endParaRPr lang="en-US" sz="1200" dirty="0"/>
          </a:p>
        </p:txBody>
      </p:sp>
      <p:sp>
        <p:nvSpPr>
          <p:cNvPr id="117" name="Text 115"/>
          <p:cNvSpPr txBox="1"/>
          <p:nvPr/>
        </p:nvSpPr>
        <p:spPr>
          <a:xfrm>
            <a:off x="9774936"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$233.88</a:t>
            </a:r>
            <a:endParaRPr lang="en-US" sz="1200" dirty="0"/>
          </a:p>
        </p:txBody>
      </p:sp>
      <p:sp>
        <p:nvSpPr>
          <p:cNvPr id="118" name="Text 116"/>
          <p:cNvSpPr txBox="1"/>
          <p:nvPr/>
        </p:nvSpPr>
        <p:spPr>
          <a:xfrm>
            <a:off x="10561320"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$310.00</a:t>
            </a:r>
            <a:endParaRPr lang="en-US" sz="1200" dirty="0"/>
          </a:p>
        </p:txBody>
      </p:sp>
      <p:sp>
        <p:nvSpPr>
          <p:cNvPr id="119" name="Text 117"/>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0" name="Text 118"/>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1" name="Shape 119"/>
          <p:cNvSpPr/>
          <p:nvPr/>
        </p:nvSpPr>
        <p:spPr>
          <a:xfrm>
            <a:off x="8558784" y="2401107"/>
            <a:ext cx="269235" cy="111880"/>
          </a:xfrm>
          <a:prstGeom prst="rect">
            <a:avLst/>
          </a:prstGeom>
          <a:solidFill>
            <a:srgbClr val="12A566"/>
          </a:solidFill>
          <a:ln/>
        </p:spPr>
      </p:sp>
      <p:sp>
        <p:nvSpPr>
          <p:cNvPr id="122" name="Text 120"/>
          <p:cNvSpPr txBox="1"/>
          <p:nvPr/>
        </p:nvSpPr>
        <p:spPr>
          <a:xfrm>
            <a:off x="9098280"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75.2%</a:t>
            </a:r>
            <a:endParaRPr lang="en-US" sz="1200" dirty="0"/>
          </a:p>
        </p:txBody>
      </p:sp>
      <p:sp>
        <p:nvSpPr>
          <p:cNvPr id="123" name="Text 121"/>
          <p:cNvSpPr txBox="1"/>
          <p:nvPr/>
        </p:nvSpPr>
        <p:spPr>
          <a:xfrm>
            <a:off x="9774936"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$162.12</a:t>
            </a:r>
            <a:endParaRPr lang="en-US" sz="1200" dirty="0"/>
          </a:p>
        </p:txBody>
      </p:sp>
      <p:sp>
        <p:nvSpPr>
          <p:cNvPr id="124" name="Text 122"/>
          <p:cNvSpPr txBox="1"/>
          <p:nvPr/>
        </p:nvSpPr>
        <p:spPr>
          <a:xfrm>
            <a:off x="10561320"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$215.37</a:t>
            </a:r>
            <a:endParaRPr lang="en-US" sz="1200" dirty="0"/>
          </a:p>
        </p:txBody>
      </p:sp>
      <p:sp>
        <p:nvSpPr>
          <p:cNvPr id="125" name="Text 123"/>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6" name="Text 124"/>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7" name="Shape 125"/>
          <p:cNvSpPr/>
          <p:nvPr/>
        </p:nvSpPr>
        <p:spPr>
          <a:xfrm>
            <a:off x="8558784" y="2624866"/>
            <a:ext cx="267891" cy="111880"/>
          </a:xfrm>
          <a:prstGeom prst="rect">
            <a:avLst/>
          </a:prstGeom>
          <a:solidFill>
            <a:srgbClr val="12A566"/>
          </a:solidFill>
          <a:ln/>
        </p:spPr>
      </p:sp>
      <p:sp>
        <p:nvSpPr>
          <p:cNvPr id="128" name="Text 126"/>
          <p:cNvSpPr txBox="1"/>
          <p:nvPr/>
        </p:nvSpPr>
        <p:spPr>
          <a:xfrm>
            <a:off x="9098280"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75.1%</a:t>
            </a:r>
            <a:endParaRPr lang="en-US" sz="1200" dirty="0"/>
          </a:p>
        </p:txBody>
      </p:sp>
      <p:sp>
        <p:nvSpPr>
          <p:cNvPr id="129" name="Text 127"/>
          <p:cNvSpPr txBox="1"/>
          <p:nvPr/>
        </p:nvSpPr>
        <p:spPr>
          <a:xfrm>
            <a:off x="9774936"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$180.14</a:t>
            </a:r>
            <a:endParaRPr lang="en-US" sz="1200" dirty="0"/>
          </a:p>
        </p:txBody>
      </p:sp>
      <p:sp>
        <p:nvSpPr>
          <p:cNvPr id="130" name="Text 128"/>
          <p:cNvSpPr txBox="1"/>
          <p:nvPr/>
        </p:nvSpPr>
        <p:spPr>
          <a:xfrm>
            <a:off x="10561320"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$239.87</a:t>
            </a:r>
            <a:endParaRPr lang="en-US" sz="1200" dirty="0"/>
          </a:p>
        </p:txBody>
      </p:sp>
      <p:sp>
        <p:nvSpPr>
          <p:cNvPr id="131" name="Text 129"/>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2" name="Text 130"/>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33" name="Shape 131"/>
          <p:cNvSpPr/>
          <p:nvPr/>
        </p:nvSpPr>
        <p:spPr>
          <a:xfrm>
            <a:off x="8558784" y="2848625"/>
            <a:ext cx="267180" cy="111880"/>
          </a:xfrm>
          <a:prstGeom prst="rect">
            <a:avLst/>
          </a:prstGeom>
          <a:solidFill>
            <a:srgbClr val="12A566"/>
          </a:solidFill>
          <a:ln/>
        </p:spPr>
      </p:sp>
      <p:sp>
        <p:nvSpPr>
          <p:cNvPr id="134" name="Text 132"/>
          <p:cNvSpPr txBox="1"/>
          <p:nvPr/>
        </p:nvSpPr>
        <p:spPr>
          <a:xfrm>
            <a:off x="9098280"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75.0%</a:t>
            </a:r>
            <a:endParaRPr lang="en-US" sz="1200" dirty="0"/>
          </a:p>
        </p:txBody>
      </p:sp>
      <p:sp>
        <p:nvSpPr>
          <p:cNvPr id="135" name="Text 133"/>
          <p:cNvSpPr txBox="1"/>
          <p:nvPr/>
        </p:nvSpPr>
        <p:spPr>
          <a:xfrm>
            <a:off x="9774936"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$142.51</a:t>
            </a:r>
            <a:endParaRPr lang="en-US" sz="1200" dirty="0"/>
          </a:p>
        </p:txBody>
      </p:sp>
      <p:sp>
        <p:nvSpPr>
          <p:cNvPr id="136" name="Text 134"/>
          <p:cNvSpPr txBox="1"/>
          <p:nvPr/>
        </p:nvSpPr>
        <p:spPr>
          <a:xfrm>
            <a:off x="10561320"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$190.00</a:t>
            </a:r>
            <a:endParaRPr lang="en-US" sz="1200" dirty="0"/>
          </a:p>
        </p:txBody>
      </p:sp>
      <p:sp>
        <p:nvSpPr>
          <p:cNvPr id="137" name="Text 135"/>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8" name="Text 136"/>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9" name="Shape 137"/>
          <p:cNvSpPr/>
          <p:nvPr/>
        </p:nvSpPr>
        <p:spPr>
          <a:xfrm>
            <a:off x="8558784" y="3072384"/>
            <a:ext cx="258698" cy="111880"/>
          </a:xfrm>
          <a:prstGeom prst="rect">
            <a:avLst/>
          </a:prstGeom>
          <a:solidFill>
            <a:srgbClr val="12A566"/>
          </a:solidFill>
          <a:ln/>
        </p:spPr>
      </p:sp>
      <p:sp>
        <p:nvSpPr>
          <p:cNvPr id="140" name="Text 138"/>
          <p:cNvSpPr txBox="1"/>
          <p:nvPr/>
        </p:nvSpPr>
        <p:spPr>
          <a:xfrm>
            <a:off x="9098280"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73.8%</a:t>
            </a:r>
            <a:endParaRPr lang="en-US" sz="1200" dirty="0"/>
          </a:p>
        </p:txBody>
      </p:sp>
      <p:sp>
        <p:nvSpPr>
          <p:cNvPr id="141" name="Text 139"/>
          <p:cNvSpPr txBox="1"/>
          <p:nvPr/>
        </p:nvSpPr>
        <p:spPr>
          <a:xfrm>
            <a:off x="9774936"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$136.71</a:t>
            </a:r>
            <a:endParaRPr lang="en-US" sz="1200" dirty="0"/>
          </a:p>
        </p:txBody>
      </p:sp>
      <p:sp>
        <p:nvSpPr>
          <p:cNvPr id="142" name="Text 140"/>
          <p:cNvSpPr txBox="1"/>
          <p:nvPr/>
        </p:nvSpPr>
        <p:spPr>
          <a:xfrm>
            <a:off x="10561320"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$185.00</a:t>
            </a:r>
            <a:endParaRPr lang="en-US" sz="1200" dirty="0"/>
          </a:p>
        </p:txBody>
      </p:sp>
      <p:sp>
        <p:nvSpPr>
          <p:cNvPr id="143" name="Text 141"/>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4" name="Text 142"/>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45" name="Shape 143"/>
          <p:cNvSpPr/>
          <p:nvPr/>
        </p:nvSpPr>
        <p:spPr>
          <a:xfrm>
            <a:off x="8558784" y="3296143"/>
            <a:ext cx="253061" cy="111880"/>
          </a:xfrm>
          <a:prstGeom prst="rect">
            <a:avLst/>
          </a:prstGeom>
          <a:solidFill>
            <a:srgbClr val="12A566"/>
          </a:solidFill>
          <a:ln/>
        </p:spPr>
      </p:sp>
      <p:sp>
        <p:nvSpPr>
          <p:cNvPr id="146" name="Text 144"/>
          <p:cNvSpPr txBox="1"/>
          <p:nvPr/>
        </p:nvSpPr>
        <p:spPr>
          <a:xfrm>
            <a:off x="9098280"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73.1%</a:t>
            </a:r>
            <a:endParaRPr lang="en-US" sz="1200" dirty="0"/>
          </a:p>
        </p:txBody>
      </p:sp>
      <p:sp>
        <p:nvSpPr>
          <p:cNvPr id="147" name="Text 145"/>
          <p:cNvSpPr txBox="1"/>
          <p:nvPr/>
        </p:nvSpPr>
        <p:spPr>
          <a:xfrm>
            <a:off x="9774936"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$154.55</a:t>
            </a:r>
            <a:endParaRPr lang="en-US" sz="1200" dirty="0"/>
          </a:p>
        </p:txBody>
      </p:sp>
      <p:sp>
        <p:nvSpPr>
          <p:cNvPr id="148" name="Text 146"/>
          <p:cNvSpPr txBox="1"/>
          <p:nvPr/>
        </p:nvSpPr>
        <p:spPr>
          <a:xfrm>
            <a:off x="10561320"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$211.26</a:t>
            </a:r>
            <a:endParaRPr lang="en-US" sz="1200" dirty="0"/>
          </a:p>
        </p:txBody>
      </p:sp>
      <p:sp>
        <p:nvSpPr>
          <p:cNvPr id="149" name="Text 147"/>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0" name="Text 148"/>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51" name="Shape 149"/>
          <p:cNvSpPr/>
          <p:nvPr/>
        </p:nvSpPr>
        <p:spPr>
          <a:xfrm>
            <a:off x="8558784" y="3519902"/>
            <a:ext cx="247497" cy="111880"/>
          </a:xfrm>
          <a:prstGeom prst="rect">
            <a:avLst/>
          </a:prstGeom>
          <a:solidFill>
            <a:srgbClr val="12A566"/>
          </a:solidFill>
          <a:ln/>
        </p:spPr>
      </p:sp>
      <p:sp>
        <p:nvSpPr>
          <p:cNvPr id="152" name="Text 150"/>
          <p:cNvSpPr txBox="1"/>
          <p:nvPr/>
        </p:nvSpPr>
        <p:spPr>
          <a:xfrm>
            <a:off x="9098280"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72.4%</a:t>
            </a:r>
            <a:endParaRPr lang="en-US" sz="1200" dirty="0"/>
          </a:p>
        </p:txBody>
      </p:sp>
      <p:sp>
        <p:nvSpPr>
          <p:cNvPr id="153" name="Text 151"/>
          <p:cNvSpPr txBox="1"/>
          <p:nvPr/>
        </p:nvSpPr>
        <p:spPr>
          <a:xfrm>
            <a:off x="9774936"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$153.45</a:t>
            </a:r>
            <a:endParaRPr lang="en-US" sz="1200" dirty="0"/>
          </a:p>
        </p:txBody>
      </p:sp>
      <p:sp>
        <p:nvSpPr>
          <p:cNvPr id="154" name="Text 152"/>
          <p:cNvSpPr txBox="1"/>
          <p:nvPr/>
        </p:nvSpPr>
        <p:spPr>
          <a:xfrm>
            <a:off x="10561320"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$211.87</a:t>
            </a:r>
            <a:endParaRPr lang="en-US" sz="1200" dirty="0"/>
          </a:p>
        </p:txBody>
      </p:sp>
      <p:sp>
        <p:nvSpPr>
          <p:cNvPr id="155" name="Text 15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6" name="Text 15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57" name="Shape 155"/>
          <p:cNvSpPr/>
          <p:nvPr/>
        </p:nvSpPr>
        <p:spPr>
          <a:xfrm>
            <a:off x="8558784" y="3743661"/>
            <a:ext cx="233966" cy="111880"/>
          </a:xfrm>
          <a:prstGeom prst="rect">
            <a:avLst/>
          </a:prstGeom>
          <a:solidFill>
            <a:srgbClr val="12A566"/>
          </a:solidFill>
          <a:ln/>
        </p:spPr>
      </p:sp>
      <p:sp>
        <p:nvSpPr>
          <p:cNvPr id="158" name="Text 156"/>
          <p:cNvSpPr txBox="1"/>
          <p:nvPr/>
        </p:nvSpPr>
        <p:spPr>
          <a:xfrm>
            <a:off x="9098280"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70.6%</a:t>
            </a:r>
            <a:endParaRPr lang="en-US" sz="1200" dirty="0"/>
          </a:p>
        </p:txBody>
      </p:sp>
      <p:sp>
        <p:nvSpPr>
          <p:cNvPr id="159" name="Text 157"/>
          <p:cNvSpPr txBox="1"/>
          <p:nvPr/>
        </p:nvSpPr>
        <p:spPr>
          <a:xfrm>
            <a:off x="9774936"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$149.70</a:t>
            </a:r>
            <a:endParaRPr lang="en-US" sz="1200" dirty="0"/>
          </a:p>
        </p:txBody>
      </p:sp>
      <p:sp>
        <p:nvSpPr>
          <p:cNvPr id="160" name="Text 158"/>
          <p:cNvSpPr txBox="1"/>
          <p:nvPr/>
        </p:nvSpPr>
        <p:spPr>
          <a:xfrm>
            <a:off x="10561320"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$211.87</a:t>
            </a:r>
            <a:endParaRPr lang="en-US" sz="1200" dirty="0"/>
          </a:p>
        </p:txBody>
      </p:sp>
      <p:sp>
        <p:nvSpPr>
          <p:cNvPr id="161" name="Text 159"/>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2" name="Text 160"/>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63" name="Shape 161"/>
          <p:cNvSpPr/>
          <p:nvPr/>
        </p:nvSpPr>
        <p:spPr>
          <a:xfrm>
            <a:off x="8558784" y="3967420"/>
            <a:ext cx="217907" cy="111880"/>
          </a:xfrm>
          <a:prstGeom prst="rect">
            <a:avLst/>
          </a:prstGeom>
          <a:solidFill>
            <a:srgbClr val="C2352F"/>
          </a:solidFill>
          <a:ln/>
        </p:spPr>
      </p:sp>
      <p:sp>
        <p:nvSpPr>
          <p:cNvPr id="164" name="Text 162"/>
          <p:cNvSpPr txBox="1"/>
          <p:nvPr/>
        </p:nvSpPr>
        <p:spPr>
          <a:xfrm>
            <a:off x="9098280" y="391148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68.5%</a:t>
            </a:r>
            <a:endParaRPr lang="en-US" sz="1200" dirty="0"/>
          </a:p>
        </p:txBody>
      </p:sp>
      <p:sp>
        <p:nvSpPr>
          <p:cNvPr id="165" name="Text 163"/>
          <p:cNvSpPr txBox="1"/>
          <p:nvPr/>
        </p:nvSpPr>
        <p:spPr>
          <a:xfrm>
            <a:off x="9774936"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$150.72</a:t>
            </a:r>
            <a:endParaRPr lang="en-US" sz="1200" dirty="0"/>
          </a:p>
        </p:txBody>
      </p:sp>
      <p:sp>
        <p:nvSpPr>
          <p:cNvPr id="166" name="Text 164"/>
          <p:cNvSpPr txBox="1"/>
          <p:nvPr/>
        </p:nvSpPr>
        <p:spPr>
          <a:xfrm>
            <a:off x="10561320"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$219.87</a:t>
            </a:r>
            <a:endParaRPr lang="en-US" sz="1200" dirty="0"/>
          </a:p>
        </p:txBody>
      </p:sp>
      <p:sp>
        <p:nvSpPr>
          <p:cNvPr id="167" name="Text 165"/>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8" name="Text 166"/>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69" name="Shape 167"/>
          <p:cNvSpPr/>
          <p:nvPr/>
        </p:nvSpPr>
        <p:spPr>
          <a:xfrm>
            <a:off x="8558784" y="4191179"/>
            <a:ext cx="215917" cy="111880"/>
          </a:xfrm>
          <a:prstGeom prst="rect">
            <a:avLst/>
          </a:prstGeom>
          <a:solidFill>
            <a:srgbClr val="C2352F"/>
          </a:solidFill>
          <a:ln/>
        </p:spPr>
      </p:sp>
      <p:sp>
        <p:nvSpPr>
          <p:cNvPr id="170" name="Text 168"/>
          <p:cNvSpPr txBox="1"/>
          <p:nvPr/>
        </p:nvSpPr>
        <p:spPr>
          <a:xfrm>
            <a:off x="9098280" y="413524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68.2%</a:t>
            </a:r>
            <a:endParaRPr lang="en-US" sz="1200" dirty="0"/>
          </a:p>
        </p:txBody>
      </p:sp>
      <p:sp>
        <p:nvSpPr>
          <p:cNvPr id="171" name="Text 169"/>
          <p:cNvSpPr txBox="1"/>
          <p:nvPr/>
        </p:nvSpPr>
        <p:spPr>
          <a:xfrm>
            <a:off x="9774936"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$167.22</a:t>
            </a:r>
            <a:endParaRPr lang="en-US" sz="1200" dirty="0"/>
          </a:p>
        </p:txBody>
      </p:sp>
      <p:sp>
        <p:nvSpPr>
          <p:cNvPr id="172" name="Text 170"/>
          <p:cNvSpPr txBox="1"/>
          <p:nvPr/>
        </p:nvSpPr>
        <p:spPr>
          <a:xfrm>
            <a:off x="10561320"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$244.87</a:t>
            </a:r>
            <a:endParaRPr lang="en-US" sz="1200" dirty="0"/>
          </a:p>
        </p:txBody>
      </p:sp>
      <p:sp>
        <p:nvSpPr>
          <p:cNvPr id="173" name="Text 171"/>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4" name="Text 172"/>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75" name="Shape 173"/>
          <p:cNvSpPr/>
          <p:nvPr/>
        </p:nvSpPr>
        <p:spPr>
          <a:xfrm>
            <a:off x="8558784" y="4414938"/>
            <a:ext cx="210082" cy="111880"/>
          </a:xfrm>
          <a:prstGeom prst="rect">
            <a:avLst/>
          </a:prstGeom>
          <a:solidFill>
            <a:srgbClr val="C2352F"/>
          </a:solidFill>
          <a:ln/>
        </p:spPr>
      </p:sp>
      <p:sp>
        <p:nvSpPr>
          <p:cNvPr id="176" name="Text 174"/>
          <p:cNvSpPr txBox="1"/>
          <p:nvPr/>
        </p:nvSpPr>
        <p:spPr>
          <a:xfrm>
            <a:off x="9098280" y="4358999"/>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67.5%</a:t>
            </a:r>
            <a:endParaRPr lang="en-US" sz="1200" dirty="0"/>
          </a:p>
        </p:txBody>
      </p:sp>
      <p:sp>
        <p:nvSpPr>
          <p:cNvPr id="177" name="Text 175"/>
          <p:cNvSpPr txBox="1"/>
          <p:nvPr/>
        </p:nvSpPr>
        <p:spPr>
          <a:xfrm>
            <a:off x="9774936"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$124.92</a:t>
            </a:r>
            <a:endParaRPr lang="en-US" sz="1200" dirty="0"/>
          </a:p>
        </p:txBody>
      </p:sp>
      <p:sp>
        <p:nvSpPr>
          <p:cNvPr id="178" name="Text 176"/>
          <p:cNvSpPr txBox="1"/>
          <p:nvPr/>
        </p:nvSpPr>
        <p:spPr>
          <a:xfrm>
            <a:off x="10561320"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$185.00</a:t>
            </a:r>
            <a:endParaRPr lang="en-US" sz="1200" dirty="0"/>
          </a:p>
        </p:txBody>
      </p:sp>
      <p:sp>
        <p:nvSpPr>
          <p:cNvPr id="179" name="Text 177"/>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0" name="Text 178"/>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81" name="Shape 179"/>
          <p:cNvSpPr/>
          <p:nvPr/>
        </p:nvSpPr>
        <p:spPr>
          <a:xfrm>
            <a:off x="8558784" y="4638697"/>
            <a:ext cx="204414" cy="111880"/>
          </a:xfrm>
          <a:prstGeom prst="rect">
            <a:avLst/>
          </a:prstGeom>
          <a:solidFill>
            <a:srgbClr val="C2352F"/>
          </a:solidFill>
          <a:ln/>
        </p:spPr>
      </p:sp>
      <p:sp>
        <p:nvSpPr>
          <p:cNvPr id="182" name="Text 180"/>
          <p:cNvSpPr txBox="1"/>
          <p:nvPr/>
        </p:nvSpPr>
        <p:spPr>
          <a:xfrm>
            <a:off x="9098280" y="458275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66.7%</a:t>
            </a:r>
            <a:endParaRPr lang="en-US" sz="1200" dirty="0"/>
          </a:p>
        </p:txBody>
      </p:sp>
      <p:sp>
        <p:nvSpPr>
          <p:cNvPr id="183" name="Text 181"/>
          <p:cNvSpPr txBox="1"/>
          <p:nvPr/>
        </p:nvSpPr>
        <p:spPr>
          <a:xfrm>
            <a:off x="9774936"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$146.92</a:t>
            </a:r>
            <a:endParaRPr lang="en-US" sz="1200" dirty="0"/>
          </a:p>
        </p:txBody>
      </p:sp>
      <p:sp>
        <p:nvSpPr>
          <p:cNvPr id="184" name="Text 182"/>
          <p:cNvSpPr txBox="1"/>
          <p:nvPr/>
        </p:nvSpPr>
        <p:spPr>
          <a:xfrm>
            <a:off x="10561320"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$220.00</a:t>
            </a:r>
            <a:endParaRPr lang="en-US" sz="1200" dirty="0"/>
          </a:p>
        </p:txBody>
      </p:sp>
      <p:sp>
        <p:nvSpPr>
          <p:cNvPr id="185" name="Text 183"/>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6" name="Text 184"/>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87" name="Shape 185"/>
          <p:cNvSpPr/>
          <p:nvPr/>
        </p:nvSpPr>
        <p:spPr>
          <a:xfrm>
            <a:off x="8558784" y="4862456"/>
            <a:ext cx="202819" cy="111880"/>
          </a:xfrm>
          <a:prstGeom prst="rect">
            <a:avLst/>
          </a:prstGeom>
          <a:solidFill>
            <a:srgbClr val="C2352F"/>
          </a:solidFill>
          <a:ln/>
        </p:spPr>
      </p:sp>
      <p:sp>
        <p:nvSpPr>
          <p:cNvPr id="188" name="Text 186"/>
          <p:cNvSpPr txBox="1"/>
          <p:nvPr/>
        </p:nvSpPr>
        <p:spPr>
          <a:xfrm>
            <a:off x="9098280"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66.5%</a:t>
            </a:r>
            <a:endParaRPr lang="en-US" sz="1200" dirty="0"/>
          </a:p>
        </p:txBody>
      </p:sp>
      <p:sp>
        <p:nvSpPr>
          <p:cNvPr id="189" name="Text 187"/>
          <p:cNvSpPr txBox="1"/>
          <p:nvPr/>
        </p:nvSpPr>
        <p:spPr>
          <a:xfrm>
            <a:off x="9774936"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$139.81</a:t>
            </a:r>
            <a:endParaRPr lang="en-US" sz="1200" dirty="0"/>
          </a:p>
        </p:txBody>
      </p:sp>
      <p:sp>
        <p:nvSpPr>
          <p:cNvPr id="190" name="Text 188"/>
          <p:cNvSpPr txBox="1"/>
          <p:nvPr/>
        </p:nvSpPr>
        <p:spPr>
          <a:xfrm>
            <a:off x="10561320"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$210.00</a:t>
            </a:r>
            <a:endParaRPr lang="en-US" sz="1200" dirty="0"/>
          </a:p>
        </p:txBody>
      </p:sp>
      <p:sp>
        <p:nvSpPr>
          <p:cNvPr id="191" name="Text 189"/>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2" name="Text 190"/>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93" name="Shape 191"/>
          <p:cNvSpPr/>
          <p:nvPr/>
        </p:nvSpPr>
        <p:spPr>
          <a:xfrm>
            <a:off x="8558784" y="5086216"/>
            <a:ext cx="191075" cy="111880"/>
          </a:xfrm>
          <a:prstGeom prst="rect">
            <a:avLst/>
          </a:prstGeom>
          <a:solidFill>
            <a:srgbClr val="C2352F"/>
          </a:solidFill>
          <a:ln/>
        </p:spPr>
      </p:sp>
      <p:sp>
        <p:nvSpPr>
          <p:cNvPr id="194" name="Text 192"/>
          <p:cNvSpPr txBox="1"/>
          <p:nvPr/>
        </p:nvSpPr>
        <p:spPr>
          <a:xfrm>
            <a:off x="9098280"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65.0%</a:t>
            </a:r>
            <a:endParaRPr lang="en-US" sz="1200" dirty="0"/>
          </a:p>
        </p:txBody>
      </p:sp>
      <p:sp>
        <p:nvSpPr>
          <p:cNvPr id="195" name="Text 193"/>
          <p:cNvSpPr txBox="1"/>
          <p:nvPr/>
        </p:nvSpPr>
        <p:spPr>
          <a:xfrm>
            <a:off x="9774936"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$146.25</a:t>
            </a:r>
            <a:endParaRPr lang="en-US" sz="1200" dirty="0"/>
          </a:p>
        </p:txBody>
      </p:sp>
      <p:sp>
        <p:nvSpPr>
          <p:cNvPr id="196" name="Text 194"/>
          <p:cNvSpPr txBox="1"/>
          <p:nvPr/>
        </p:nvSpPr>
        <p:spPr>
          <a:xfrm>
            <a:off x="10561320"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$224.87</a:t>
            </a:r>
            <a:endParaRPr lang="en-US" sz="1200" dirty="0"/>
          </a:p>
        </p:txBody>
      </p:sp>
      <p:sp>
        <p:nvSpPr>
          <p:cNvPr id="197" name="Text 195"/>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8" name="Text 196"/>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99" name="Shape 197"/>
          <p:cNvSpPr/>
          <p:nvPr/>
        </p:nvSpPr>
        <p:spPr>
          <a:xfrm>
            <a:off x="8558784" y="5309975"/>
            <a:ext cx="189432" cy="111880"/>
          </a:xfrm>
          <a:prstGeom prst="rect">
            <a:avLst/>
          </a:prstGeom>
          <a:solidFill>
            <a:srgbClr val="C2352F"/>
          </a:solidFill>
          <a:ln/>
        </p:spPr>
      </p:sp>
      <p:sp>
        <p:nvSpPr>
          <p:cNvPr id="200" name="Text 198"/>
          <p:cNvSpPr txBox="1"/>
          <p:nvPr/>
        </p:nvSpPr>
        <p:spPr>
          <a:xfrm>
            <a:off x="9098280"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64.8%</a:t>
            </a:r>
            <a:endParaRPr lang="en-US" sz="1200" dirty="0"/>
          </a:p>
        </p:txBody>
      </p:sp>
      <p:sp>
        <p:nvSpPr>
          <p:cNvPr id="201" name="Text 199"/>
          <p:cNvSpPr txBox="1"/>
          <p:nvPr/>
        </p:nvSpPr>
        <p:spPr>
          <a:xfrm>
            <a:off x="9774936"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$136.12</a:t>
            </a:r>
            <a:endParaRPr lang="en-US" sz="1200" dirty="0"/>
          </a:p>
        </p:txBody>
      </p:sp>
      <p:sp>
        <p:nvSpPr>
          <p:cNvPr id="202" name="Text 200"/>
          <p:cNvSpPr txBox="1"/>
          <p:nvPr/>
        </p:nvSpPr>
        <p:spPr>
          <a:xfrm>
            <a:off x="10561320"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$210.00</a:t>
            </a:r>
            <a:endParaRPr lang="en-US" sz="1200" dirty="0"/>
          </a:p>
        </p:txBody>
      </p:sp>
      <p:sp>
        <p:nvSpPr>
          <p:cNvPr id="203" name="Text 201"/>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4" name="Text 202"/>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05" name="Shape 203"/>
          <p:cNvSpPr/>
          <p:nvPr/>
        </p:nvSpPr>
        <p:spPr>
          <a:xfrm>
            <a:off x="8558784" y="5533734"/>
            <a:ext cx="164625" cy="111880"/>
          </a:xfrm>
          <a:prstGeom prst="rect">
            <a:avLst/>
          </a:prstGeom>
          <a:solidFill>
            <a:srgbClr val="C2352F"/>
          </a:solidFill>
          <a:ln/>
        </p:spPr>
      </p:sp>
      <p:sp>
        <p:nvSpPr>
          <p:cNvPr id="206" name="Text 204"/>
          <p:cNvSpPr txBox="1"/>
          <p:nvPr/>
        </p:nvSpPr>
        <p:spPr>
          <a:xfrm>
            <a:off x="9098280"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61.5%</a:t>
            </a:r>
            <a:endParaRPr lang="en-US" sz="1200" dirty="0"/>
          </a:p>
        </p:txBody>
      </p:sp>
      <p:sp>
        <p:nvSpPr>
          <p:cNvPr id="207" name="Text 205"/>
          <p:cNvSpPr txBox="1"/>
          <p:nvPr/>
        </p:nvSpPr>
        <p:spPr>
          <a:xfrm>
            <a:off x="9774936"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$175.47</a:t>
            </a:r>
            <a:endParaRPr lang="en-US" sz="1200" dirty="0"/>
          </a:p>
        </p:txBody>
      </p:sp>
      <p:sp>
        <p:nvSpPr>
          <p:cNvPr id="208" name="Text 206"/>
          <p:cNvSpPr txBox="1"/>
          <p:nvPr/>
        </p:nvSpPr>
        <p:spPr>
          <a:xfrm>
            <a:off x="10561320"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$285.00</a:t>
            </a:r>
            <a:endParaRPr lang="en-US" sz="1200" dirty="0"/>
          </a:p>
        </p:txBody>
      </p:sp>
      <p:sp>
        <p:nvSpPr>
          <p:cNvPr id="209" name="Text 207"/>
          <p:cNvSpPr txBox="1"/>
          <p:nvPr/>
        </p:nvSpPr>
        <p:spPr>
          <a:xfrm>
            <a:off x="3547872"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210" name="Text 208"/>
          <p:cNvSpPr txBox="1"/>
          <p:nvPr/>
        </p:nvSpPr>
        <p:spPr>
          <a:xfrm>
            <a:off x="4224528"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211" name="Text 209"/>
          <p:cNvSpPr txBox="1"/>
          <p:nvPr/>
        </p:nvSpPr>
        <p:spPr>
          <a:xfrm>
            <a:off x="5010912"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212" name="Text 210"/>
          <p:cNvSpPr txBox="1"/>
          <p:nvPr/>
        </p:nvSpPr>
        <p:spPr>
          <a:xfrm>
            <a:off x="9098280"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213" name="Text 211"/>
          <p:cNvSpPr txBox="1"/>
          <p:nvPr/>
        </p:nvSpPr>
        <p:spPr>
          <a:xfrm>
            <a:off x="9774936"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214" name="Text 212"/>
          <p:cNvSpPr txBox="1"/>
          <p:nvPr/>
        </p:nvSpPr>
        <p:spPr>
          <a:xfrm>
            <a:off x="10561320"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215" name="Shape 213"/>
          <p:cNvSpPr/>
          <p:nvPr/>
        </p:nvSpPr>
        <p:spPr>
          <a:xfrm>
            <a:off x="3230026" y="2121408"/>
            <a:ext cx="14630" cy="3803904"/>
          </a:xfrm>
          <a:prstGeom prst="rect">
            <a:avLst/>
          </a:prstGeom>
          <a:solidFill>
            <a:srgbClr val="0B2C4A"/>
          </a:solidFill>
          <a:ln/>
        </p:spPr>
      </p:sp>
      <p:sp>
        <p:nvSpPr>
          <p:cNvPr id="216" name="Shape 214"/>
          <p:cNvSpPr/>
          <p:nvPr/>
        </p:nvSpPr>
        <p:spPr>
          <a:xfrm>
            <a:off x="8780434" y="2121408"/>
            <a:ext cx="14630" cy="3803904"/>
          </a:xfrm>
          <a:prstGeom prst="rect">
            <a:avLst/>
          </a:prstGeom>
          <a:solidFill>
            <a:srgbClr val="0B2C4A"/>
          </a:solidFill>
          <a:ln/>
        </p:spPr>
      </p:sp>
      <p:sp>
        <p:nvSpPr>
          <p:cNvPr id="217" name="Shape 215"/>
          <p:cNvSpPr/>
          <p:nvPr/>
        </p:nvSpPr>
        <p:spPr>
          <a:xfrm>
            <a:off x="6085332" y="2121408"/>
            <a:ext cx="10973" cy="3803904"/>
          </a:xfrm>
          <a:prstGeom prst="rect">
            <a:avLst/>
          </a:prstGeom>
          <a:solidFill>
            <a:srgbClr val="D9D9D9"/>
          </a:solidFill>
          <a:ln/>
        </p:spPr>
      </p:sp>
      <p:sp>
        <p:nvSpPr>
          <p:cNvPr id="218" name="Shape 216"/>
          <p:cNvSpPr/>
          <p:nvPr/>
        </p:nvSpPr>
        <p:spPr>
          <a:xfrm>
            <a:off x="457200" y="6126480"/>
            <a:ext cx="11274552" cy="341376"/>
          </a:xfrm>
          <a:prstGeom prst="rect">
            <a:avLst/>
          </a:prstGeom>
          <a:solidFill>
            <a:srgbClr val="EDF4FA"/>
          </a:solidFill>
          <a:ln/>
        </p:spPr>
      </p:sp>
      <p:sp>
        <p:nvSpPr>
          <p:cNvPr id="219" name="Text 217"/>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Jul–Sep: 25 of 33 stores realize at least 70% of door rate; the group is at 74.7%. Cadillac is lowest at 61.5%.</a:t>
            </a:r>
            <a:endParaRPr lang="en-US" sz="1400" dirty="0"/>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$181.59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$222.12</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+$40.53</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$139.55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$167.64</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+$28.08</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$117.05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$143.89</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+$26.84</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$153.87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$175.90</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+$22.02</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$217.14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$234.55</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+$17.41</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$184.36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$149.23</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−$35.13</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$278.97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$266.32</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−$12.64</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$221.78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$210.50</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−$11.28</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$148.84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$138.48</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−$10.35</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$136.71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$130.46</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−$6.26</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$227.34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$244.12</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+$16.78</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$128.27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$141.89</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+$13.62</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$216.72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$225.50</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+$8.78</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$139.40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$147.93</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+$8.53</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$142.56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$150.72</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+$8.17</a:t>
            </a:r>
            <a:endParaRPr lang="en-US" sz="1600" dirty="0"/>
          </a:p>
        </p:txBody>
      </p:sp>
      <p:sp>
        <p:nvSpPr>
          <p:cNvPr id="69" name="Shape 67"/>
          <p:cNvSpPr/>
          <p:nvPr/>
        </p:nvSpPr>
        <p:spPr>
          <a:xfrm>
            <a:off x="457200" y="6126480"/>
            <a:ext cx="11274552" cy="615696"/>
          </a:xfrm>
          <a:prstGeom prst="rect">
            <a:avLst/>
          </a:prstGeom>
          <a:solidFill>
            <a:srgbClr val="EDF4FA"/>
          </a:solidFill>
          <a:ln/>
        </p:spPr>
      </p:sp>
      <p:sp>
        <p:nvSpPr>
          <p:cNvPr id="70"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Volvo, Lincoln and Honda Spokane what changed. Ask Kia LV, Audi Henderson and Acura what got in the way. Ask Audi Reno, VW St George and Volvo what they started this year.</a:t>
            </a:r>
            <a:endParaRPr lang="en-US" sz="1600" dirty="0"/>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CP Labor $ per RO?</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CP labor $ per RO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hours per RO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ELR</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Customer-pay labor sale divided by CP RO count. It combines how much we sell with what we collect for it.</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OUR NUMBERS</a:t>
            </a:r>
            <a:endParaRPr lang="en-US" sz="1400" dirty="0"/>
          </a:p>
        </p:txBody>
      </p:sp>
      <p:sp>
        <p:nvSpPr>
          <p:cNvPr id="9" name="Shape 7"/>
          <p:cNvSpPr/>
          <p:nvPr/>
        </p:nvSpPr>
        <p:spPr>
          <a:xfrm>
            <a:off x="2286000" y="2340864"/>
            <a:ext cx="466801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1.87 hours per RO  </a:t>
            </a:r>
            <a:pPr algn="ctr" indent="0" marL="0">
              <a:buNone/>
            </a:pPr>
            <a:r>
              <a:rPr lang="en-US" sz="1400" b="1" dirty="0">
                <a:solidFill>
                  <a:srgbClr val="0B2C4A"/>
                </a:solidFill>
                <a:latin typeface="Inter" pitchFamily="34" charset="0"/>
                <a:ea typeface="Inter" pitchFamily="34" charset="-122"/>
                <a:cs typeface="Inter" pitchFamily="34" charset="-120"/>
              </a:rPr>
              <a:t>× $162.42</a:t>
            </a:r>
            <a:endParaRPr lang="en-US" sz="1400" dirty="0"/>
          </a:p>
        </p:txBody>
      </p:sp>
      <p:sp>
        <p:nvSpPr>
          <p:cNvPr id="11" name="Shape 9"/>
          <p:cNvSpPr/>
          <p:nvPr/>
        </p:nvSpPr>
        <p:spPr>
          <a:xfrm>
            <a:off x="7063740" y="2340864"/>
            <a:ext cx="4668012" cy="457200"/>
          </a:xfrm>
          <a:prstGeom prst="rect">
            <a:avLst/>
          </a:prstGeom>
          <a:solidFill>
            <a:srgbClr val="FFFFFF"/>
          </a:solidFill>
          <a:ln w="9525">
            <a:solidFill>
              <a:srgbClr val="D9D9D9"/>
            </a:solidFill>
            <a:prstDash val="solid"/>
          </a:ln>
        </p:spPr>
      </p:sp>
      <p:sp>
        <p:nvSpPr>
          <p:cNvPr id="12" name="Text 10"/>
          <p:cNvSpPr txBox="1"/>
          <p:nvPr/>
        </p:nvSpPr>
        <p:spPr>
          <a:xfrm>
            <a:off x="713689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 CP labor per RO  </a:t>
            </a:r>
            <a:pPr algn="ctr" indent="0" marL="0">
              <a:buNone/>
            </a:pPr>
            <a:r>
              <a:rPr lang="en-US" sz="1400" b="1" dirty="0">
                <a:solidFill>
                  <a:srgbClr val="0B2C4A"/>
                </a:solidFill>
                <a:latin typeface="Inter" pitchFamily="34" charset="0"/>
                <a:ea typeface="Inter" pitchFamily="34" charset="-122"/>
                <a:cs typeface="Inter" pitchFamily="34" charset="-120"/>
              </a:rPr>
              <a:t>$304</a:t>
            </a:r>
            <a:endParaRPr lang="en-US" sz="1400" dirty="0"/>
          </a:p>
        </p:txBody>
      </p:sp>
      <p:sp>
        <p:nvSpPr>
          <p:cNvPr id="13" name="Shape 11"/>
          <p:cNvSpPr/>
          <p:nvPr/>
        </p:nvSpPr>
        <p:spPr>
          <a:xfrm>
            <a:off x="457200" y="2907792"/>
            <a:ext cx="4343400" cy="3081528"/>
          </a:xfrm>
          <a:prstGeom prst="rect">
            <a:avLst/>
          </a:prstGeom>
          <a:solidFill>
            <a:srgbClr val="FFFFFF"/>
          </a:solidFill>
          <a:ln/>
        </p:spPr>
      </p:sp>
      <p:sp>
        <p:nvSpPr>
          <p:cNvPr id="14" name="Shape 12"/>
          <p:cNvSpPr/>
          <p:nvPr/>
        </p:nvSpPr>
        <p:spPr>
          <a:xfrm>
            <a:off x="4937760" y="2907792"/>
            <a:ext cx="6793992" cy="3081528"/>
          </a:xfrm>
          <a:prstGeom prst="rect">
            <a:avLst/>
          </a:prstGeom>
          <a:solidFill>
            <a:srgbClr val="FFFFFF"/>
          </a:solidFill>
          <a:ln/>
        </p:spPr>
      </p:sp>
      <p:sp>
        <p:nvSpPr>
          <p:cNvPr id="15" name="Text 13"/>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6" name="Text 14"/>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7" name="Text 15"/>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Total dollars per RO matters more than any single measure. It's what we sell.</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With additional labor sales come additional parts sales.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the single best metric to measure a service advisor's performance.</a:t>
            </a:r>
            <a:endParaRPr lang="en-US" sz="1500" dirty="0"/>
          </a:p>
        </p:txBody>
      </p:sp>
      <p:sp>
        <p:nvSpPr>
          <p:cNvPr id="18" name="Shape 16"/>
          <p:cNvSpPr/>
          <p:nvPr/>
        </p:nvSpPr>
        <p:spPr>
          <a:xfrm>
            <a:off x="5138928" y="3410712"/>
            <a:ext cx="45720" cy="1133856"/>
          </a:xfrm>
          <a:prstGeom prst="rect">
            <a:avLst/>
          </a:prstGeom>
          <a:solidFill>
            <a:srgbClr val="2587C5"/>
          </a:solidFill>
          <a:ln/>
        </p:spPr>
      </p:sp>
      <p:sp>
        <p:nvSpPr>
          <p:cNvPr id="19" name="Text 17"/>
          <p:cNvSpPr txBox="1"/>
          <p:nvPr/>
        </p:nvSpPr>
        <p:spPr>
          <a:xfrm>
            <a:off x="5266944"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Hours per RO</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lever on the hours slide: MPI, menu, Road to the Sale</a:t>
            </a:r>
            <a:endParaRPr lang="en-US" sz="1400" dirty="0"/>
          </a:p>
        </p:txBody>
      </p:sp>
      <p:sp>
        <p:nvSpPr>
          <p:cNvPr id="20" name="Shape 18"/>
          <p:cNvSpPr/>
          <p:nvPr/>
        </p:nvSpPr>
        <p:spPr>
          <a:xfrm>
            <a:off x="8394192" y="3410712"/>
            <a:ext cx="45720" cy="1133856"/>
          </a:xfrm>
          <a:prstGeom prst="rect">
            <a:avLst/>
          </a:prstGeom>
          <a:solidFill>
            <a:srgbClr val="2587C5"/>
          </a:solidFill>
          <a:ln/>
        </p:spPr>
      </p:sp>
      <p:sp>
        <p:nvSpPr>
          <p:cNvPr id="21" name="Text 19"/>
          <p:cNvSpPr txBox="1"/>
          <p:nvPr/>
        </p:nvSpPr>
        <p:spPr>
          <a:xfrm>
            <a:off x="8522208"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Advisor presentation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customer, every time, from an accurate menu</a:t>
            </a:r>
            <a:endParaRPr lang="en-US" sz="1400" dirty="0"/>
          </a:p>
        </p:txBody>
      </p:sp>
      <p:sp>
        <p:nvSpPr>
          <p:cNvPr id="22" name="Shape 20"/>
          <p:cNvSpPr/>
          <p:nvPr/>
        </p:nvSpPr>
        <p:spPr>
          <a:xfrm>
            <a:off x="5138928" y="4654296"/>
            <a:ext cx="45720" cy="1133856"/>
          </a:xfrm>
          <a:prstGeom prst="rect">
            <a:avLst/>
          </a:prstGeom>
          <a:solidFill>
            <a:srgbClr val="2587C5"/>
          </a:solidFill>
          <a:ln/>
        </p:spPr>
      </p:sp>
      <p:sp>
        <p:nvSpPr>
          <p:cNvPr id="23" name="Text 21"/>
          <p:cNvSpPr txBox="1"/>
          <p:nvPr/>
        </p:nvSpPr>
        <p:spPr>
          <a:xfrm>
            <a:off x="5266944"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Pay plans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Pay advisors on CP labor or gross per RO</a:t>
            </a:r>
            <a:endParaRPr lang="en-US" sz="1400" dirty="0"/>
          </a:p>
        </p:txBody>
      </p:sp>
      <p:sp>
        <p:nvSpPr>
          <p:cNvPr id="24" name="Shape 22"/>
          <p:cNvSpPr/>
          <p:nvPr/>
        </p:nvSpPr>
        <p:spPr>
          <a:xfrm>
            <a:off x="8394192" y="4654296"/>
            <a:ext cx="45720" cy="1133856"/>
          </a:xfrm>
          <a:prstGeom prst="rect">
            <a:avLst/>
          </a:prstGeom>
          <a:solidFill>
            <a:srgbClr val="2587C5"/>
          </a:solidFill>
          <a:ln/>
        </p:spPr>
      </p:sp>
      <p:sp>
        <p:nvSpPr>
          <p:cNvPr id="25" name="Text 23"/>
          <p:cNvSpPr txBox="1"/>
          <p:nvPr/>
        </p:nvSpPr>
        <p:spPr>
          <a:xfrm>
            <a:off x="8522208"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Tracking and accountability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What gets tracked gets improved: accountability through visibility</a:t>
            </a:r>
            <a:endParaRPr lang="en-US" sz="1400" dirty="0"/>
          </a:p>
        </p:txBody>
      </p:sp>
      <p:sp>
        <p:nvSpPr>
          <p:cNvPr id="26" name="Shape 24"/>
          <p:cNvSpPr/>
          <p:nvPr/>
        </p:nvSpPr>
        <p:spPr>
          <a:xfrm>
            <a:off x="457200" y="6126480"/>
            <a:ext cx="11274552" cy="341376"/>
          </a:xfrm>
          <a:prstGeom prst="rect">
            <a:avLst/>
          </a:prstGeom>
          <a:solidFill>
            <a:srgbClr val="E6F6EE"/>
          </a:solidFill>
          <a:ln/>
        </p:spPr>
      </p:sp>
      <p:sp>
        <p:nvSpPr>
          <p:cNvPr id="27" name="Text 25"/>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Group: $304 CP labor per RO, up $17. With ROs flat, the $4,899,376 labor gain came from selling more per visit.</a:t>
            </a:r>
            <a:endParaRPr lang="en-US" sz="1400" dirty="0"/>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$287</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$304</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+5.9%</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Labor $ per RO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615696"/>
          </a:xfrm>
          <a:prstGeom prst="rect">
            <a:avLst/>
          </a:prstGeom>
          <a:solidFill>
            <a:srgbClr val="E6F6EE"/>
          </a:solidFill>
          <a:ln/>
        </p:spPr>
      </p:sp>
      <p:sp>
        <p:nvSpPr>
          <p:cNvPr id="28"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$17 to $304, ahead of 2025 in all nine months. ROs were flat, so the $4,899,376 labor gain came from selling more per visit.</a:t>
            </a:r>
            <a:endParaRPr lang="en-US" sz="1600" dirty="0"/>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$304</a:t>
            </a:r>
            <a:endParaRPr lang="en-US" sz="2000" dirty="0"/>
          </a:p>
        </p:txBody>
      </p:sp>
      <p:sp>
        <p:nvSpPr>
          <p:cNvPr id="11" name="Text 9"/>
          <p:cNvSpPr txBox="1"/>
          <p:nvPr/>
        </p:nvSpPr>
        <p:spPr>
          <a:xfrm>
            <a:off x="859536" y="1847088"/>
            <a:ext cx="10607040"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Each segment ranked on its own. Navy line = each segment's average; green at or above it.</a:t>
            </a:r>
            <a:endParaRPr lang="en-US" sz="1400" dirty="0"/>
          </a:p>
        </p:txBody>
      </p:sp>
      <p:sp>
        <p:nvSpPr>
          <p:cNvPr id="12" name="Text 10"/>
          <p:cNvSpPr txBox="1"/>
          <p:nvPr/>
        </p:nvSpPr>
        <p:spPr>
          <a:xfrm>
            <a:off x="658368" y="2176272"/>
            <a:ext cx="5303520" cy="208280"/>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$632</a:t>
            </a:r>
            <a:endParaRPr lang="en-US" sz="1300" dirty="0"/>
          </a:p>
        </p:txBody>
      </p:sp>
      <p:sp>
        <p:nvSpPr>
          <p:cNvPr id="13" name="Shape 11"/>
          <p:cNvSpPr/>
          <p:nvPr/>
        </p:nvSpPr>
        <p:spPr>
          <a:xfrm>
            <a:off x="658368" y="2366264"/>
            <a:ext cx="5303520" cy="18288"/>
          </a:xfrm>
          <a:prstGeom prst="rect">
            <a:avLst/>
          </a:prstGeom>
          <a:solidFill>
            <a:srgbClr val="0B2C4A"/>
          </a:solidFill>
          <a:ln/>
        </p:spPr>
      </p:sp>
      <p:sp>
        <p:nvSpPr>
          <p:cNvPr id="14" name="Text 12"/>
          <p:cNvSpPr txBox="1"/>
          <p:nvPr/>
        </p:nvSpPr>
        <p:spPr>
          <a:xfrm>
            <a:off x="658368" y="23845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5" name="Text 13"/>
          <p:cNvSpPr txBox="1"/>
          <p:nvPr/>
        </p:nvSpPr>
        <p:spPr>
          <a:xfrm>
            <a:off x="1014984" y="23845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6" name="Shape 14"/>
          <p:cNvSpPr/>
          <p:nvPr/>
        </p:nvSpPr>
        <p:spPr>
          <a:xfrm>
            <a:off x="3008376" y="2436622"/>
            <a:ext cx="1658471" cy="104140"/>
          </a:xfrm>
          <a:prstGeom prst="rect">
            <a:avLst/>
          </a:prstGeom>
          <a:solidFill>
            <a:srgbClr val="12A566"/>
          </a:solidFill>
          <a:ln/>
        </p:spPr>
      </p:sp>
      <p:sp>
        <p:nvSpPr>
          <p:cNvPr id="17" name="Text 15"/>
          <p:cNvSpPr txBox="1"/>
          <p:nvPr/>
        </p:nvSpPr>
        <p:spPr>
          <a:xfrm>
            <a:off x="4754880" y="238455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$933</a:t>
            </a:r>
            <a:endParaRPr lang="en-US" sz="1200" dirty="0"/>
          </a:p>
        </p:txBody>
      </p:sp>
      <p:sp>
        <p:nvSpPr>
          <p:cNvPr id="18" name="Text 16"/>
          <p:cNvSpPr txBox="1"/>
          <p:nvPr/>
        </p:nvSpPr>
        <p:spPr>
          <a:xfrm>
            <a:off x="658368" y="25928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25928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0" name="Shape 18"/>
          <p:cNvSpPr/>
          <p:nvPr/>
        </p:nvSpPr>
        <p:spPr>
          <a:xfrm>
            <a:off x="3008376" y="2644902"/>
            <a:ext cx="1654662" cy="104140"/>
          </a:xfrm>
          <a:prstGeom prst="rect">
            <a:avLst/>
          </a:prstGeom>
          <a:solidFill>
            <a:srgbClr val="12A566"/>
          </a:solidFill>
          <a:ln/>
        </p:spPr>
      </p:sp>
      <p:sp>
        <p:nvSpPr>
          <p:cNvPr id="21" name="Text 19"/>
          <p:cNvSpPr txBox="1"/>
          <p:nvPr/>
        </p:nvSpPr>
        <p:spPr>
          <a:xfrm>
            <a:off x="4754880" y="259283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$931</a:t>
            </a:r>
            <a:endParaRPr lang="en-US" sz="1200" dirty="0"/>
          </a:p>
        </p:txBody>
      </p:sp>
      <p:sp>
        <p:nvSpPr>
          <p:cNvPr id="22" name="Text 20"/>
          <p:cNvSpPr txBox="1"/>
          <p:nvPr/>
        </p:nvSpPr>
        <p:spPr>
          <a:xfrm>
            <a:off x="658368" y="28011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3" name="Text 21"/>
          <p:cNvSpPr txBox="1"/>
          <p:nvPr/>
        </p:nvSpPr>
        <p:spPr>
          <a:xfrm>
            <a:off x="1014984" y="28011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4" name="Shape 22"/>
          <p:cNvSpPr/>
          <p:nvPr/>
        </p:nvSpPr>
        <p:spPr>
          <a:xfrm>
            <a:off x="3008376" y="2853182"/>
            <a:ext cx="1649321" cy="104140"/>
          </a:xfrm>
          <a:prstGeom prst="rect">
            <a:avLst/>
          </a:prstGeom>
          <a:solidFill>
            <a:srgbClr val="12A566"/>
          </a:solidFill>
          <a:ln/>
        </p:spPr>
      </p:sp>
      <p:sp>
        <p:nvSpPr>
          <p:cNvPr id="25" name="Text 23"/>
          <p:cNvSpPr txBox="1"/>
          <p:nvPr/>
        </p:nvSpPr>
        <p:spPr>
          <a:xfrm>
            <a:off x="4754880" y="280111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$928</a:t>
            </a:r>
            <a:endParaRPr lang="en-US" sz="1200" dirty="0"/>
          </a:p>
        </p:txBody>
      </p:sp>
      <p:sp>
        <p:nvSpPr>
          <p:cNvPr id="26" name="Text 24"/>
          <p:cNvSpPr txBox="1"/>
          <p:nvPr/>
        </p:nvSpPr>
        <p:spPr>
          <a:xfrm>
            <a:off x="658368" y="30093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7" name="Text 25"/>
          <p:cNvSpPr txBox="1"/>
          <p:nvPr/>
        </p:nvSpPr>
        <p:spPr>
          <a:xfrm>
            <a:off x="1014984" y="30093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8" name="Shape 26"/>
          <p:cNvSpPr/>
          <p:nvPr/>
        </p:nvSpPr>
        <p:spPr>
          <a:xfrm>
            <a:off x="3008376" y="3061462"/>
            <a:ext cx="1452099" cy="104140"/>
          </a:xfrm>
          <a:prstGeom prst="rect">
            <a:avLst/>
          </a:prstGeom>
          <a:solidFill>
            <a:srgbClr val="12A566"/>
          </a:solidFill>
          <a:ln/>
        </p:spPr>
      </p:sp>
      <p:sp>
        <p:nvSpPr>
          <p:cNvPr id="29" name="Text 27"/>
          <p:cNvSpPr txBox="1"/>
          <p:nvPr/>
        </p:nvSpPr>
        <p:spPr>
          <a:xfrm>
            <a:off x="4754880" y="300939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$817</a:t>
            </a:r>
            <a:endParaRPr lang="en-US" sz="1200" dirty="0"/>
          </a:p>
        </p:txBody>
      </p:sp>
      <p:sp>
        <p:nvSpPr>
          <p:cNvPr id="30" name="Text 28"/>
          <p:cNvSpPr txBox="1"/>
          <p:nvPr/>
        </p:nvSpPr>
        <p:spPr>
          <a:xfrm>
            <a:off x="658368" y="32176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1" name="Text 29"/>
          <p:cNvSpPr txBox="1"/>
          <p:nvPr/>
        </p:nvSpPr>
        <p:spPr>
          <a:xfrm>
            <a:off x="1014984" y="32176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32" name="Shape 30"/>
          <p:cNvSpPr/>
          <p:nvPr/>
        </p:nvSpPr>
        <p:spPr>
          <a:xfrm>
            <a:off x="3008376" y="3269742"/>
            <a:ext cx="1139643" cy="104140"/>
          </a:xfrm>
          <a:prstGeom prst="rect">
            <a:avLst/>
          </a:prstGeom>
          <a:solidFill>
            <a:srgbClr val="12A566"/>
          </a:solidFill>
          <a:ln/>
        </p:spPr>
      </p:sp>
      <p:sp>
        <p:nvSpPr>
          <p:cNvPr id="33" name="Text 31"/>
          <p:cNvSpPr txBox="1"/>
          <p:nvPr/>
        </p:nvSpPr>
        <p:spPr>
          <a:xfrm>
            <a:off x="4754880" y="321767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$641</a:t>
            </a:r>
            <a:endParaRPr lang="en-US" sz="1200" dirty="0"/>
          </a:p>
        </p:txBody>
      </p:sp>
      <p:sp>
        <p:nvSpPr>
          <p:cNvPr id="34" name="Text 32"/>
          <p:cNvSpPr txBox="1"/>
          <p:nvPr/>
        </p:nvSpPr>
        <p:spPr>
          <a:xfrm>
            <a:off x="658368" y="34259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5" name="Text 33"/>
          <p:cNvSpPr txBox="1"/>
          <p:nvPr/>
        </p:nvSpPr>
        <p:spPr>
          <a:xfrm>
            <a:off x="1014984" y="34259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6" name="Shape 34"/>
          <p:cNvSpPr/>
          <p:nvPr/>
        </p:nvSpPr>
        <p:spPr>
          <a:xfrm>
            <a:off x="3008376" y="3478022"/>
            <a:ext cx="899356" cy="104140"/>
          </a:xfrm>
          <a:prstGeom prst="rect">
            <a:avLst/>
          </a:prstGeom>
          <a:solidFill>
            <a:srgbClr val="C2352F"/>
          </a:solidFill>
          <a:ln/>
        </p:spPr>
      </p:sp>
      <p:sp>
        <p:nvSpPr>
          <p:cNvPr id="37" name="Text 35"/>
          <p:cNvSpPr txBox="1"/>
          <p:nvPr/>
        </p:nvSpPr>
        <p:spPr>
          <a:xfrm>
            <a:off x="4754880" y="342595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$506</a:t>
            </a:r>
            <a:endParaRPr lang="en-US" sz="1200" dirty="0"/>
          </a:p>
        </p:txBody>
      </p:sp>
      <p:sp>
        <p:nvSpPr>
          <p:cNvPr id="38" name="Text 36"/>
          <p:cNvSpPr txBox="1"/>
          <p:nvPr/>
        </p:nvSpPr>
        <p:spPr>
          <a:xfrm>
            <a:off x="658368" y="36342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9" name="Text 37"/>
          <p:cNvSpPr txBox="1"/>
          <p:nvPr/>
        </p:nvSpPr>
        <p:spPr>
          <a:xfrm>
            <a:off x="1014984" y="36342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0" name="Shape 38"/>
          <p:cNvSpPr/>
          <p:nvPr/>
        </p:nvSpPr>
        <p:spPr>
          <a:xfrm>
            <a:off x="3008376" y="3686302"/>
            <a:ext cx="825155" cy="104140"/>
          </a:xfrm>
          <a:prstGeom prst="rect">
            <a:avLst/>
          </a:prstGeom>
          <a:solidFill>
            <a:srgbClr val="C2352F"/>
          </a:solidFill>
          <a:ln/>
        </p:spPr>
      </p:sp>
      <p:sp>
        <p:nvSpPr>
          <p:cNvPr id="41" name="Text 39"/>
          <p:cNvSpPr txBox="1"/>
          <p:nvPr/>
        </p:nvSpPr>
        <p:spPr>
          <a:xfrm>
            <a:off x="4754880" y="363423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$464</a:t>
            </a:r>
            <a:endParaRPr lang="en-US" sz="1200" dirty="0"/>
          </a:p>
        </p:txBody>
      </p:sp>
      <p:sp>
        <p:nvSpPr>
          <p:cNvPr id="42" name="Text 40"/>
          <p:cNvSpPr txBox="1"/>
          <p:nvPr/>
        </p:nvSpPr>
        <p:spPr>
          <a:xfrm>
            <a:off x="658368" y="38425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3" name="Text 41"/>
          <p:cNvSpPr txBox="1"/>
          <p:nvPr/>
        </p:nvSpPr>
        <p:spPr>
          <a:xfrm>
            <a:off x="1014984" y="38425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4" name="Shape 42"/>
          <p:cNvSpPr/>
          <p:nvPr/>
        </p:nvSpPr>
        <p:spPr>
          <a:xfrm>
            <a:off x="3008376" y="3894582"/>
            <a:ext cx="740306" cy="104140"/>
          </a:xfrm>
          <a:prstGeom prst="rect">
            <a:avLst/>
          </a:prstGeom>
          <a:solidFill>
            <a:srgbClr val="C2352F"/>
          </a:solidFill>
          <a:ln/>
        </p:spPr>
      </p:sp>
      <p:sp>
        <p:nvSpPr>
          <p:cNvPr id="45" name="Text 43"/>
          <p:cNvSpPr txBox="1"/>
          <p:nvPr/>
        </p:nvSpPr>
        <p:spPr>
          <a:xfrm>
            <a:off x="4754880" y="384251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$416</a:t>
            </a:r>
            <a:endParaRPr lang="en-US" sz="1200" dirty="0"/>
          </a:p>
        </p:txBody>
      </p:sp>
      <p:sp>
        <p:nvSpPr>
          <p:cNvPr id="46" name="Text 44"/>
          <p:cNvSpPr txBox="1"/>
          <p:nvPr/>
        </p:nvSpPr>
        <p:spPr>
          <a:xfrm>
            <a:off x="658368" y="40507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7" name="Text 45"/>
          <p:cNvSpPr txBox="1"/>
          <p:nvPr/>
        </p:nvSpPr>
        <p:spPr>
          <a:xfrm>
            <a:off x="1014984" y="40507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8" name="Shape 46"/>
          <p:cNvSpPr/>
          <p:nvPr/>
        </p:nvSpPr>
        <p:spPr>
          <a:xfrm>
            <a:off x="3008376" y="4102862"/>
            <a:ext cx="715741" cy="104140"/>
          </a:xfrm>
          <a:prstGeom prst="rect">
            <a:avLst/>
          </a:prstGeom>
          <a:solidFill>
            <a:srgbClr val="C2352F"/>
          </a:solidFill>
          <a:ln/>
        </p:spPr>
      </p:sp>
      <p:sp>
        <p:nvSpPr>
          <p:cNvPr id="49" name="Text 47"/>
          <p:cNvSpPr txBox="1"/>
          <p:nvPr/>
        </p:nvSpPr>
        <p:spPr>
          <a:xfrm>
            <a:off x="4754880" y="405079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$403</a:t>
            </a:r>
            <a:endParaRPr lang="en-US" sz="1200" dirty="0"/>
          </a:p>
        </p:txBody>
      </p:sp>
      <p:sp>
        <p:nvSpPr>
          <p:cNvPr id="50" name="Text 48"/>
          <p:cNvSpPr txBox="1"/>
          <p:nvPr/>
        </p:nvSpPr>
        <p:spPr>
          <a:xfrm>
            <a:off x="658368" y="4259072"/>
            <a:ext cx="5303520" cy="208280"/>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$264</a:t>
            </a:r>
            <a:endParaRPr lang="en-US" sz="1300" dirty="0"/>
          </a:p>
        </p:txBody>
      </p:sp>
      <p:sp>
        <p:nvSpPr>
          <p:cNvPr id="51" name="Shape 49"/>
          <p:cNvSpPr/>
          <p:nvPr/>
        </p:nvSpPr>
        <p:spPr>
          <a:xfrm>
            <a:off x="658368" y="4449064"/>
            <a:ext cx="5303520" cy="18288"/>
          </a:xfrm>
          <a:prstGeom prst="rect">
            <a:avLst/>
          </a:prstGeom>
          <a:solidFill>
            <a:srgbClr val="0B2C4A"/>
          </a:solidFill>
          <a:ln/>
        </p:spPr>
      </p:sp>
      <p:sp>
        <p:nvSpPr>
          <p:cNvPr id="52" name="Text 50"/>
          <p:cNvSpPr txBox="1"/>
          <p:nvPr/>
        </p:nvSpPr>
        <p:spPr>
          <a:xfrm>
            <a:off x="658368" y="44673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4673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4" name="Shape 52"/>
          <p:cNvSpPr/>
          <p:nvPr/>
        </p:nvSpPr>
        <p:spPr>
          <a:xfrm>
            <a:off x="3008376" y="4519422"/>
            <a:ext cx="1653705" cy="104140"/>
          </a:xfrm>
          <a:prstGeom prst="rect">
            <a:avLst/>
          </a:prstGeom>
          <a:solidFill>
            <a:srgbClr val="12A566"/>
          </a:solidFill>
          <a:ln/>
        </p:spPr>
      </p:sp>
      <p:sp>
        <p:nvSpPr>
          <p:cNvPr id="55" name="Text 53"/>
          <p:cNvSpPr txBox="1"/>
          <p:nvPr/>
        </p:nvSpPr>
        <p:spPr>
          <a:xfrm>
            <a:off x="4754880" y="446735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$389</a:t>
            </a:r>
            <a:endParaRPr lang="en-US" sz="1200" dirty="0"/>
          </a:p>
        </p:txBody>
      </p:sp>
      <p:sp>
        <p:nvSpPr>
          <p:cNvPr id="56" name="Text 54"/>
          <p:cNvSpPr txBox="1"/>
          <p:nvPr/>
        </p:nvSpPr>
        <p:spPr>
          <a:xfrm>
            <a:off x="658368" y="46756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6756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8" name="Shape 56"/>
          <p:cNvSpPr/>
          <p:nvPr/>
        </p:nvSpPr>
        <p:spPr>
          <a:xfrm>
            <a:off x="3008376" y="4727702"/>
            <a:ext cx="1577968" cy="104140"/>
          </a:xfrm>
          <a:prstGeom prst="rect">
            <a:avLst/>
          </a:prstGeom>
          <a:solidFill>
            <a:srgbClr val="12A566"/>
          </a:solidFill>
          <a:ln/>
        </p:spPr>
      </p:sp>
      <p:sp>
        <p:nvSpPr>
          <p:cNvPr id="59" name="Text 57"/>
          <p:cNvSpPr txBox="1"/>
          <p:nvPr/>
        </p:nvSpPr>
        <p:spPr>
          <a:xfrm>
            <a:off x="4754880" y="467563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$371</a:t>
            </a:r>
            <a:endParaRPr lang="en-US" sz="1200" dirty="0"/>
          </a:p>
        </p:txBody>
      </p:sp>
      <p:sp>
        <p:nvSpPr>
          <p:cNvPr id="60" name="Text 58"/>
          <p:cNvSpPr txBox="1"/>
          <p:nvPr/>
        </p:nvSpPr>
        <p:spPr>
          <a:xfrm>
            <a:off x="658368" y="48839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48839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2" name="Shape 60"/>
          <p:cNvSpPr/>
          <p:nvPr/>
        </p:nvSpPr>
        <p:spPr>
          <a:xfrm>
            <a:off x="3008376" y="4935982"/>
            <a:ext cx="1503381" cy="104140"/>
          </a:xfrm>
          <a:prstGeom prst="rect">
            <a:avLst/>
          </a:prstGeom>
          <a:solidFill>
            <a:srgbClr val="12A566"/>
          </a:solidFill>
          <a:ln/>
        </p:spPr>
      </p:sp>
      <p:sp>
        <p:nvSpPr>
          <p:cNvPr id="63" name="Text 61"/>
          <p:cNvSpPr txBox="1"/>
          <p:nvPr/>
        </p:nvSpPr>
        <p:spPr>
          <a:xfrm>
            <a:off x="4754880" y="488391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$354</a:t>
            </a:r>
            <a:endParaRPr lang="en-US" sz="1200" dirty="0"/>
          </a:p>
        </p:txBody>
      </p:sp>
      <p:sp>
        <p:nvSpPr>
          <p:cNvPr id="64" name="Text 62"/>
          <p:cNvSpPr txBox="1"/>
          <p:nvPr/>
        </p:nvSpPr>
        <p:spPr>
          <a:xfrm>
            <a:off x="658368" y="50921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0921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66" name="Shape 64"/>
          <p:cNvSpPr/>
          <p:nvPr/>
        </p:nvSpPr>
        <p:spPr>
          <a:xfrm>
            <a:off x="3008376" y="5144262"/>
            <a:ext cx="1412321" cy="104140"/>
          </a:xfrm>
          <a:prstGeom prst="rect">
            <a:avLst/>
          </a:prstGeom>
          <a:solidFill>
            <a:srgbClr val="12A566"/>
          </a:solidFill>
          <a:ln/>
        </p:spPr>
      </p:sp>
      <p:sp>
        <p:nvSpPr>
          <p:cNvPr id="67" name="Text 65"/>
          <p:cNvSpPr txBox="1"/>
          <p:nvPr/>
        </p:nvSpPr>
        <p:spPr>
          <a:xfrm>
            <a:off x="4754880" y="509219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$332</a:t>
            </a:r>
            <a:endParaRPr lang="en-US" sz="1200" dirty="0"/>
          </a:p>
        </p:txBody>
      </p:sp>
      <p:sp>
        <p:nvSpPr>
          <p:cNvPr id="68" name="Text 66"/>
          <p:cNvSpPr txBox="1"/>
          <p:nvPr/>
        </p:nvSpPr>
        <p:spPr>
          <a:xfrm>
            <a:off x="658368" y="53004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3004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0" name="Shape 68"/>
          <p:cNvSpPr/>
          <p:nvPr/>
        </p:nvSpPr>
        <p:spPr>
          <a:xfrm>
            <a:off x="3008376" y="5352542"/>
            <a:ext cx="1353340" cy="104140"/>
          </a:xfrm>
          <a:prstGeom prst="rect">
            <a:avLst/>
          </a:prstGeom>
          <a:solidFill>
            <a:srgbClr val="12A566"/>
          </a:solidFill>
          <a:ln/>
        </p:spPr>
      </p:sp>
      <p:sp>
        <p:nvSpPr>
          <p:cNvPr id="71" name="Text 69"/>
          <p:cNvSpPr txBox="1"/>
          <p:nvPr/>
        </p:nvSpPr>
        <p:spPr>
          <a:xfrm>
            <a:off x="4754880" y="530047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$318</a:t>
            </a:r>
            <a:endParaRPr lang="en-US" sz="1200" dirty="0"/>
          </a:p>
        </p:txBody>
      </p:sp>
      <p:sp>
        <p:nvSpPr>
          <p:cNvPr id="72" name="Text 70"/>
          <p:cNvSpPr txBox="1"/>
          <p:nvPr/>
        </p:nvSpPr>
        <p:spPr>
          <a:xfrm>
            <a:off x="658368" y="55087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5087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4" name="Shape 72"/>
          <p:cNvSpPr/>
          <p:nvPr/>
        </p:nvSpPr>
        <p:spPr>
          <a:xfrm>
            <a:off x="3008376" y="5560822"/>
            <a:ext cx="1320726" cy="104140"/>
          </a:xfrm>
          <a:prstGeom prst="rect">
            <a:avLst/>
          </a:prstGeom>
          <a:solidFill>
            <a:srgbClr val="12A566"/>
          </a:solidFill>
          <a:ln/>
        </p:spPr>
      </p:sp>
      <p:sp>
        <p:nvSpPr>
          <p:cNvPr id="75" name="Text 73"/>
          <p:cNvSpPr txBox="1"/>
          <p:nvPr/>
        </p:nvSpPr>
        <p:spPr>
          <a:xfrm>
            <a:off x="4754880" y="550875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$311</a:t>
            </a:r>
            <a:endParaRPr lang="en-US" sz="1200" dirty="0"/>
          </a:p>
        </p:txBody>
      </p:sp>
      <p:sp>
        <p:nvSpPr>
          <p:cNvPr id="76" name="Text 74"/>
          <p:cNvSpPr txBox="1"/>
          <p:nvPr/>
        </p:nvSpPr>
        <p:spPr>
          <a:xfrm>
            <a:off x="658368" y="57170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57170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8" name="Shape 76"/>
          <p:cNvSpPr/>
          <p:nvPr/>
        </p:nvSpPr>
        <p:spPr>
          <a:xfrm>
            <a:off x="3008376" y="5769102"/>
            <a:ext cx="1282619" cy="104140"/>
          </a:xfrm>
          <a:prstGeom prst="rect">
            <a:avLst/>
          </a:prstGeom>
          <a:solidFill>
            <a:srgbClr val="12A566"/>
          </a:solidFill>
          <a:ln/>
        </p:spPr>
      </p:sp>
      <p:sp>
        <p:nvSpPr>
          <p:cNvPr id="79" name="Text 77"/>
          <p:cNvSpPr txBox="1"/>
          <p:nvPr/>
        </p:nvSpPr>
        <p:spPr>
          <a:xfrm>
            <a:off x="4754880" y="571703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$302</a:t>
            </a:r>
            <a:endParaRPr lang="en-US" sz="1200" dirty="0"/>
          </a:p>
        </p:txBody>
      </p:sp>
      <p:sp>
        <p:nvSpPr>
          <p:cNvPr id="80" name="Text 78"/>
          <p:cNvSpPr txBox="1"/>
          <p:nvPr/>
        </p:nvSpPr>
        <p:spPr>
          <a:xfrm>
            <a:off x="6208776" y="21762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1" name="Text 79"/>
          <p:cNvSpPr txBox="1"/>
          <p:nvPr/>
        </p:nvSpPr>
        <p:spPr>
          <a:xfrm>
            <a:off x="6565392" y="21762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2" name="Shape 80"/>
          <p:cNvSpPr/>
          <p:nvPr/>
        </p:nvSpPr>
        <p:spPr>
          <a:xfrm>
            <a:off x="8558784" y="2228342"/>
            <a:ext cx="1272990" cy="104140"/>
          </a:xfrm>
          <a:prstGeom prst="rect">
            <a:avLst/>
          </a:prstGeom>
          <a:solidFill>
            <a:srgbClr val="12A566"/>
          </a:solidFill>
          <a:ln/>
        </p:spPr>
      </p:sp>
      <p:sp>
        <p:nvSpPr>
          <p:cNvPr id="83" name="Text 81"/>
          <p:cNvSpPr txBox="1"/>
          <p:nvPr/>
        </p:nvSpPr>
        <p:spPr>
          <a:xfrm>
            <a:off x="10305288" y="217627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$299</a:t>
            </a:r>
            <a:endParaRPr lang="en-US" sz="1200" dirty="0"/>
          </a:p>
        </p:txBody>
      </p:sp>
      <p:sp>
        <p:nvSpPr>
          <p:cNvPr id="84" name="Text 82"/>
          <p:cNvSpPr txBox="1"/>
          <p:nvPr/>
        </p:nvSpPr>
        <p:spPr>
          <a:xfrm>
            <a:off x="6208776" y="23845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5" name="Text 83"/>
          <p:cNvSpPr txBox="1"/>
          <p:nvPr/>
        </p:nvSpPr>
        <p:spPr>
          <a:xfrm>
            <a:off x="6565392" y="23845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6" name="Shape 84"/>
          <p:cNvSpPr/>
          <p:nvPr/>
        </p:nvSpPr>
        <p:spPr>
          <a:xfrm>
            <a:off x="8558784" y="2436622"/>
            <a:ext cx="1270673" cy="104140"/>
          </a:xfrm>
          <a:prstGeom prst="rect">
            <a:avLst/>
          </a:prstGeom>
          <a:solidFill>
            <a:srgbClr val="12A566"/>
          </a:solidFill>
          <a:ln/>
        </p:spPr>
      </p:sp>
      <p:sp>
        <p:nvSpPr>
          <p:cNvPr id="87" name="Text 85"/>
          <p:cNvSpPr txBox="1"/>
          <p:nvPr/>
        </p:nvSpPr>
        <p:spPr>
          <a:xfrm>
            <a:off x="10305288" y="238455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$299</a:t>
            </a:r>
            <a:endParaRPr lang="en-US" sz="1200" dirty="0"/>
          </a:p>
        </p:txBody>
      </p:sp>
      <p:sp>
        <p:nvSpPr>
          <p:cNvPr id="88" name="Text 86"/>
          <p:cNvSpPr txBox="1"/>
          <p:nvPr/>
        </p:nvSpPr>
        <p:spPr>
          <a:xfrm>
            <a:off x="6208776" y="25928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89" name="Text 87"/>
          <p:cNvSpPr txBox="1"/>
          <p:nvPr/>
        </p:nvSpPr>
        <p:spPr>
          <a:xfrm>
            <a:off x="6565392" y="25928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0" name="Shape 88"/>
          <p:cNvSpPr/>
          <p:nvPr/>
        </p:nvSpPr>
        <p:spPr>
          <a:xfrm>
            <a:off x="8558784" y="2644902"/>
            <a:ext cx="1227837" cy="104140"/>
          </a:xfrm>
          <a:prstGeom prst="rect">
            <a:avLst/>
          </a:prstGeom>
          <a:solidFill>
            <a:srgbClr val="12A566"/>
          </a:solidFill>
          <a:ln/>
        </p:spPr>
      </p:sp>
      <p:sp>
        <p:nvSpPr>
          <p:cNvPr id="91" name="Text 89"/>
          <p:cNvSpPr txBox="1"/>
          <p:nvPr/>
        </p:nvSpPr>
        <p:spPr>
          <a:xfrm>
            <a:off x="10305288" y="259283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$289</a:t>
            </a:r>
            <a:endParaRPr lang="en-US" sz="1200" dirty="0"/>
          </a:p>
        </p:txBody>
      </p:sp>
      <p:sp>
        <p:nvSpPr>
          <p:cNvPr id="92" name="Text 90"/>
          <p:cNvSpPr txBox="1"/>
          <p:nvPr/>
        </p:nvSpPr>
        <p:spPr>
          <a:xfrm>
            <a:off x="6208776" y="28011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3" name="Text 91"/>
          <p:cNvSpPr txBox="1"/>
          <p:nvPr/>
        </p:nvSpPr>
        <p:spPr>
          <a:xfrm>
            <a:off x="6565392" y="28011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4" name="Shape 92"/>
          <p:cNvSpPr/>
          <p:nvPr/>
        </p:nvSpPr>
        <p:spPr>
          <a:xfrm>
            <a:off x="8558784" y="2853182"/>
            <a:ext cx="1190170" cy="104140"/>
          </a:xfrm>
          <a:prstGeom prst="rect">
            <a:avLst/>
          </a:prstGeom>
          <a:solidFill>
            <a:srgbClr val="12A566"/>
          </a:solidFill>
          <a:ln/>
        </p:spPr>
      </p:sp>
      <p:sp>
        <p:nvSpPr>
          <p:cNvPr id="95" name="Text 93"/>
          <p:cNvSpPr txBox="1"/>
          <p:nvPr/>
        </p:nvSpPr>
        <p:spPr>
          <a:xfrm>
            <a:off x="10305288" y="280111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$280</a:t>
            </a:r>
            <a:endParaRPr lang="en-US" sz="1200" dirty="0"/>
          </a:p>
        </p:txBody>
      </p:sp>
      <p:sp>
        <p:nvSpPr>
          <p:cNvPr id="96" name="Text 94"/>
          <p:cNvSpPr txBox="1"/>
          <p:nvPr/>
        </p:nvSpPr>
        <p:spPr>
          <a:xfrm>
            <a:off x="6208776" y="30093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7" name="Text 95"/>
          <p:cNvSpPr txBox="1"/>
          <p:nvPr/>
        </p:nvSpPr>
        <p:spPr>
          <a:xfrm>
            <a:off x="6565392" y="30093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8" name="Shape 96"/>
          <p:cNvSpPr/>
          <p:nvPr/>
        </p:nvSpPr>
        <p:spPr>
          <a:xfrm>
            <a:off x="8558784" y="3061462"/>
            <a:ext cx="1165364" cy="104140"/>
          </a:xfrm>
          <a:prstGeom prst="rect">
            <a:avLst/>
          </a:prstGeom>
          <a:solidFill>
            <a:srgbClr val="12A566"/>
          </a:solidFill>
          <a:ln/>
        </p:spPr>
      </p:sp>
      <p:sp>
        <p:nvSpPr>
          <p:cNvPr id="99" name="Text 97"/>
          <p:cNvSpPr txBox="1"/>
          <p:nvPr/>
        </p:nvSpPr>
        <p:spPr>
          <a:xfrm>
            <a:off x="10305288" y="300939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$274</a:t>
            </a:r>
            <a:endParaRPr lang="en-US" sz="1200" dirty="0"/>
          </a:p>
        </p:txBody>
      </p:sp>
      <p:sp>
        <p:nvSpPr>
          <p:cNvPr id="100" name="Text 98"/>
          <p:cNvSpPr txBox="1"/>
          <p:nvPr/>
        </p:nvSpPr>
        <p:spPr>
          <a:xfrm>
            <a:off x="6208776" y="32176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1" name="Text 99"/>
          <p:cNvSpPr txBox="1"/>
          <p:nvPr/>
        </p:nvSpPr>
        <p:spPr>
          <a:xfrm>
            <a:off x="6565392" y="32176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2" name="Shape 100"/>
          <p:cNvSpPr/>
          <p:nvPr/>
        </p:nvSpPr>
        <p:spPr>
          <a:xfrm>
            <a:off x="8558784" y="3269742"/>
            <a:ext cx="1152802" cy="104140"/>
          </a:xfrm>
          <a:prstGeom prst="rect">
            <a:avLst/>
          </a:prstGeom>
          <a:solidFill>
            <a:srgbClr val="12A566"/>
          </a:solidFill>
          <a:ln/>
        </p:spPr>
      </p:sp>
      <p:sp>
        <p:nvSpPr>
          <p:cNvPr id="103" name="Text 101"/>
          <p:cNvSpPr txBox="1"/>
          <p:nvPr/>
        </p:nvSpPr>
        <p:spPr>
          <a:xfrm>
            <a:off x="10305288" y="321767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$271</a:t>
            </a:r>
            <a:endParaRPr lang="en-US" sz="1200" dirty="0"/>
          </a:p>
        </p:txBody>
      </p:sp>
      <p:sp>
        <p:nvSpPr>
          <p:cNvPr id="104" name="Text 102"/>
          <p:cNvSpPr txBox="1"/>
          <p:nvPr/>
        </p:nvSpPr>
        <p:spPr>
          <a:xfrm>
            <a:off x="6208776" y="34259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5" name="Text 103"/>
          <p:cNvSpPr txBox="1"/>
          <p:nvPr/>
        </p:nvSpPr>
        <p:spPr>
          <a:xfrm>
            <a:off x="6565392" y="34259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6" name="Shape 104"/>
          <p:cNvSpPr/>
          <p:nvPr/>
        </p:nvSpPr>
        <p:spPr>
          <a:xfrm>
            <a:off x="8558784" y="3478022"/>
            <a:ext cx="1012530" cy="104140"/>
          </a:xfrm>
          <a:prstGeom prst="rect">
            <a:avLst/>
          </a:prstGeom>
          <a:solidFill>
            <a:srgbClr val="C2352F"/>
          </a:solidFill>
          <a:ln/>
        </p:spPr>
      </p:sp>
      <p:sp>
        <p:nvSpPr>
          <p:cNvPr id="107" name="Text 105"/>
          <p:cNvSpPr txBox="1"/>
          <p:nvPr/>
        </p:nvSpPr>
        <p:spPr>
          <a:xfrm>
            <a:off x="10305288" y="342595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$238</a:t>
            </a:r>
            <a:endParaRPr lang="en-US" sz="1200" dirty="0"/>
          </a:p>
        </p:txBody>
      </p:sp>
      <p:sp>
        <p:nvSpPr>
          <p:cNvPr id="108" name="Text 106"/>
          <p:cNvSpPr txBox="1"/>
          <p:nvPr/>
        </p:nvSpPr>
        <p:spPr>
          <a:xfrm>
            <a:off x="6208776" y="36342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09" name="Text 107"/>
          <p:cNvSpPr txBox="1"/>
          <p:nvPr/>
        </p:nvSpPr>
        <p:spPr>
          <a:xfrm>
            <a:off x="6565392" y="36342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0" name="Shape 108"/>
          <p:cNvSpPr/>
          <p:nvPr/>
        </p:nvSpPr>
        <p:spPr>
          <a:xfrm>
            <a:off x="8558784" y="3686302"/>
            <a:ext cx="1010719" cy="104140"/>
          </a:xfrm>
          <a:prstGeom prst="rect">
            <a:avLst/>
          </a:prstGeom>
          <a:solidFill>
            <a:srgbClr val="C2352F"/>
          </a:solidFill>
          <a:ln/>
        </p:spPr>
      </p:sp>
      <p:sp>
        <p:nvSpPr>
          <p:cNvPr id="111" name="Text 109"/>
          <p:cNvSpPr txBox="1"/>
          <p:nvPr/>
        </p:nvSpPr>
        <p:spPr>
          <a:xfrm>
            <a:off x="10305288" y="363423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$238</a:t>
            </a:r>
            <a:endParaRPr lang="en-US" sz="1200" dirty="0"/>
          </a:p>
        </p:txBody>
      </p:sp>
      <p:sp>
        <p:nvSpPr>
          <p:cNvPr id="112" name="Text 110"/>
          <p:cNvSpPr txBox="1"/>
          <p:nvPr/>
        </p:nvSpPr>
        <p:spPr>
          <a:xfrm>
            <a:off x="6208776" y="38425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3" name="Text 111"/>
          <p:cNvSpPr txBox="1"/>
          <p:nvPr/>
        </p:nvSpPr>
        <p:spPr>
          <a:xfrm>
            <a:off x="6565392" y="38425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4" name="Shape 112"/>
          <p:cNvSpPr/>
          <p:nvPr/>
        </p:nvSpPr>
        <p:spPr>
          <a:xfrm>
            <a:off x="8558784" y="3894582"/>
            <a:ext cx="995064" cy="104140"/>
          </a:xfrm>
          <a:prstGeom prst="rect">
            <a:avLst/>
          </a:prstGeom>
          <a:solidFill>
            <a:srgbClr val="C2352F"/>
          </a:solidFill>
          <a:ln/>
        </p:spPr>
      </p:sp>
      <p:sp>
        <p:nvSpPr>
          <p:cNvPr id="115" name="Text 113"/>
          <p:cNvSpPr txBox="1"/>
          <p:nvPr/>
        </p:nvSpPr>
        <p:spPr>
          <a:xfrm>
            <a:off x="10305288" y="384251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$234</a:t>
            </a:r>
            <a:endParaRPr lang="en-US" sz="1200" dirty="0"/>
          </a:p>
        </p:txBody>
      </p:sp>
      <p:sp>
        <p:nvSpPr>
          <p:cNvPr id="116" name="Text 114"/>
          <p:cNvSpPr txBox="1"/>
          <p:nvPr/>
        </p:nvSpPr>
        <p:spPr>
          <a:xfrm>
            <a:off x="6208776" y="40507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7" name="Text 115"/>
          <p:cNvSpPr txBox="1"/>
          <p:nvPr/>
        </p:nvSpPr>
        <p:spPr>
          <a:xfrm>
            <a:off x="6565392" y="40507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8" name="Shape 116"/>
          <p:cNvSpPr/>
          <p:nvPr/>
        </p:nvSpPr>
        <p:spPr>
          <a:xfrm>
            <a:off x="8558784" y="4102862"/>
            <a:ext cx="980911" cy="104140"/>
          </a:xfrm>
          <a:prstGeom prst="rect">
            <a:avLst/>
          </a:prstGeom>
          <a:solidFill>
            <a:srgbClr val="C2352F"/>
          </a:solidFill>
          <a:ln/>
        </p:spPr>
      </p:sp>
      <p:sp>
        <p:nvSpPr>
          <p:cNvPr id="119" name="Text 117"/>
          <p:cNvSpPr txBox="1"/>
          <p:nvPr/>
        </p:nvSpPr>
        <p:spPr>
          <a:xfrm>
            <a:off x="10305288" y="405079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$231</a:t>
            </a:r>
            <a:endParaRPr lang="en-US" sz="1200" dirty="0"/>
          </a:p>
        </p:txBody>
      </p:sp>
      <p:sp>
        <p:nvSpPr>
          <p:cNvPr id="120" name="Text 118"/>
          <p:cNvSpPr txBox="1"/>
          <p:nvPr/>
        </p:nvSpPr>
        <p:spPr>
          <a:xfrm>
            <a:off x="6208776" y="42590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1" name="Text 119"/>
          <p:cNvSpPr txBox="1"/>
          <p:nvPr/>
        </p:nvSpPr>
        <p:spPr>
          <a:xfrm>
            <a:off x="6565392" y="42590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22" name="Shape 120"/>
          <p:cNvSpPr/>
          <p:nvPr/>
        </p:nvSpPr>
        <p:spPr>
          <a:xfrm>
            <a:off x="8558784" y="4311142"/>
            <a:ext cx="966604" cy="104140"/>
          </a:xfrm>
          <a:prstGeom prst="rect">
            <a:avLst/>
          </a:prstGeom>
          <a:solidFill>
            <a:srgbClr val="C2352F"/>
          </a:solidFill>
          <a:ln/>
        </p:spPr>
      </p:sp>
      <p:sp>
        <p:nvSpPr>
          <p:cNvPr id="123" name="Text 121"/>
          <p:cNvSpPr txBox="1"/>
          <p:nvPr/>
        </p:nvSpPr>
        <p:spPr>
          <a:xfrm>
            <a:off x="10305288" y="425907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$227</a:t>
            </a:r>
            <a:endParaRPr lang="en-US" sz="1200" dirty="0"/>
          </a:p>
        </p:txBody>
      </p:sp>
      <p:sp>
        <p:nvSpPr>
          <p:cNvPr id="124" name="Text 122"/>
          <p:cNvSpPr txBox="1"/>
          <p:nvPr/>
        </p:nvSpPr>
        <p:spPr>
          <a:xfrm>
            <a:off x="6208776" y="44673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5" name="Text 123"/>
          <p:cNvSpPr txBox="1"/>
          <p:nvPr/>
        </p:nvSpPr>
        <p:spPr>
          <a:xfrm>
            <a:off x="6565392" y="44673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6" name="Shape 124"/>
          <p:cNvSpPr/>
          <p:nvPr/>
        </p:nvSpPr>
        <p:spPr>
          <a:xfrm>
            <a:off x="8558784" y="4519422"/>
            <a:ext cx="944704" cy="104140"/>
          </a:xfrm>
          <a:prstGeom prst="rect">
            <a:avLst/>
          </a:prstGeom>
          <a:solidFill>
            <a:srgbClr val="C2352F"/>
          </a:solidFill>
          <a:ln/>
        </p:spPr>
      </p:sp>
      <p:sp>
        <p:nvSpPr>
          <p:cNvPr id="127" name="Text 125"/>
          <p:cNvSpPr txBox="1"/>
          <p:nvPr/>
        </p:nvSpPr>
        <p:spPr>
          <a:xfrm>
            <a:off x="10305288" y="446735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$222</a:t>
            </a:r>
            <a:endParaRPr lang="en-US" sz="1200" dirty="0"/>
          </a:p>
        </p:txBody>
      </p:sp>
      <p:sp>
        <p:nvSpPr>
          <p:cNvPr id="128" name="Text 126"/>
          <p:cNvSpPr txBox="1"/>
          <p:nvPr/>
        </p:nvSpPr>
        <p:spPr>
          <a:xfrm>
            <a:off x="6208776" y="46756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9" name="Text 127"/>
          <p:cNvSpPr txBox="1"/>
          <p:nvPr/>
        </p:nvSpPr>
        <p:spPr>
          <a:xfrm>
            <a:off x="6565392" y="46756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30" name="Shape 128"/>
          <p:cNvSpPr/>
          <p:nvPr/>
        </p:nvSpPr>
        <p:spPr>
          <a:xfrm>
            <a:off x="8558784" y="4727702"/>
            <a:ext cx="936986" cy="104140"/>
          </a:xfrm>
          <a:prstGeom prst="rect">
            <a:avLst/>
          </a:prstGeom>
          <a:solidFill>
            <a:srgbClr val="C2352F"/>
          </a:solidFill>
          <a:ln/>
        </p:spPr>
      </p:sp>
      <p:sp>
        <p:nvSpPr>
          <p:cNvPr id="131" name="Text 129"/>
          <p:cNvSpPr txBox="1"/>
          <p:nvPr/>
        </p:nvSpPr>
        <p:spPr>
          <a:xfrm>
            <a:off x="10305288" y="467563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$220</a:t>
            </a:r>
            <a:endParaRPr lang="en-US" sz="1200" dirty="0"/>
          </a:p>
        </p:txBody>
      </p:sp>
      <p:sp>
        <p:nvSpPr>
          <p:cNvPr id="132" name="Text 130"/>
          <p:cNvSpPr txBox="1"/>
          <p:nvPr/>
        </p:nvSpPr>
        <p:spPr>
          <a:xfrm>
            <a:off x="6208776" y="48839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3" name="Text 131"/>
          <p:cNvSpPr txBox="1"/>
          <p:nvPr/>
        </p:nvSpPr>
        <p:spPr>
          <a:xfrm>
            <a:off x="6565392" y="48839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4" name="Shape 132"/>
          <p:cNvSpPr/>
          <p:nvPr/>
        </p:nvSpPr>
        <p:spPr>
          <a:xfrm>
            <a:off x="8558784" y="4935982"/>
            <a:ext cx="906947" cy="104140"/>
          </a:xfrm>
          <a:prstGeom prst="rect">
            <a:avLst/>
          </a:prstGeom>
          <a:solidFill>
            <a:srgbClr val="C2352F"/>
          </a:solidFill>
          <a:ln/>
        </p:spPr>
      </p:sp>
      <p:sp>
        <p:nvSpPr>
          <p:cNvPr id="135" name="Text 133"/>
          <p:cNvSpPr txBox="1"/>
          <p:nvPr/>
        </p:nvSpPr>
        <p:spPr>
          <a:xfrm>
            <a:off x="10305288" y="488391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$213</a:t>
            </a:r>
            <a:endParaRPr lang="en-US" sz="1200" dirty="0"/>
          </a:p>
        </p:txBody>
      </p:sp>
      <p:sp>
        <p:nvSpPr>
          <p:cNvPr id="136" name="Text 134"/>
          <p:cNvSpPr txBox="1"/>
          <p:nvPr/>
        </p:nvSpPr>
        <p:spPr>
          <a:xfrm>
            <a:off x="6208776" y="50921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7" name="Text 135"/>
          <p:cNvSpPr txBox="1"/>
          <p:nvPr/>
        </p:nvSpPr>
        <p:spPr>
          <a:xfrm>
            <a:off x="6565392" y="50921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38" name="Shape 136"/>
          <p:cNvSpPr/>
          <p:nvPr/>
        </p:nvSpPr>
        <p:spPr>
          <a:xfrm>
            <a:off x="8558784" y="5144262"/>
            <a:ext cx="852977" cy="104140"/>
          </a:xfrm>
          <a:prstGeom prst="rect">
            <a:avLst/>
          </a:prstGeom>
          <a:solidFill>
            <a:srgbClr val="C2352F"/>
          </a:solidFill>
          <a:ln/>
        </p:spPr>
      </p:sp>
      <p:sp>
        <p:nvSpPr>
          <p:cNvPr id="139" name="Text 137"/>
          <p:cNvSpPr txBox="1"/>
          <p:nvPr/>
        </p:nvSpPr>
        <p:spPr>
          <a:xfrm>
            <a:off x="10305288" y="509219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$201</a:t>
            </a:r>
            <a:endParaRPr lang="en-US" sz="1200" dirty="0"/>
          </a:p>
        </p:txBody>
      </p:sp>
      <p:sp>
        <p:nvSpPr>
          <p:cNvPr id="140" name="Text 138"/>
          <p:cNvSpPr txBox="1"/>
          <p:nvPr/>
        </p:nvSpPr>
        <p:spPr>
          <a:xfrm>
            <a:off x="6208776" y="53004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1" name="Text 139"/>
          <p:cNvSpPr txBox="1"/>
          <p:nvPr/>
        </p:nvSpPr>
        <p:spPr>
          <a:xfrm>
            <a:off x="6565392" y="53004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42" name="Shape 140"/>
          <p:cNvSpPr/>
          <p:nvPr/>
        </p:nvSpPr>
        <p:spPr>
          <a:xfrm>
            <a:off x="8558784" y="5352542"/>
            <a:ext cx="794261" cy="104140"/>
          </a:xfrm>
          <a:prstGeom prst="rect">
            <a:avLst/>
          </a:prstGeom>
          <a:solidFill>
            <a:srgbClr val="C2352F"/>
          </a:solidFill>
          <a:ln/>
        </p:spPr>
      </p:sp>
      <p:sp>
        <p:nvSpPr>
          <p:cNvPr id="143" name="Text 141"/>
          <p:cNvSpPr txBox="1"/>
          <p:nvPr/>
        </p:nvSpPr>
        <p:spPr>
          <a:xfrm>
            <a:off x="10305288" y="530047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$187</a:t>
            </a:r>
            <a:endParaRPr lang="en-US" sz="1200" dirty="0"/>
          </a:p>
        </p:txBody>
      </p:sp>
      <p:sp>
        <p:nvSpPr>
          <p:cNvPr id="144" name="Text 142"/>
          <p:cNvSpPr txBox="1"/>
          <p:nvPr/>
        </p:nvSpPr>
        <p:spPr>
          <a:xfrm>
            <a:off x="6208776" y="55087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5" name="Text 143"/>
          <p:cNvSpPr txBox="1"/>
          <p:nvPr/>
        </p:nvSpPr>
        <p:spPr>
          <a:xfrm>
            <a:off x="6565392" y="55087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46" name="Shape 144"/>
          <p:cNvSpPr/>
          <p:nvPr/>
        </p:nvSpPr>
        <p:spPr>
          <a:xfrm>
            <a:off x="8558784" y="5560822"/>
            <a:ext cx="773488" cy="104140"/>
          </a:xfrm>
          <a:prstGeom prst="rect">
            <a:avLst/>
          </a:prstGeom>
          <a:solidFill>
            <a:srgbClr val="C2352F"/>
          </a:solidFill>
          <a:ln/>
        </p:spPr>
      </p:sp>
      <p:sp>
        <p:nvSpPr>
          <p:cNvPr id="147" name="Text 145"/>
          <p:cNvSpPr txBox="1"/>
          <p:nvPr/>
        </p:nvSpPr>
        <p:spPr>
          <a:xfrm>
            <a:off x="10305288" y="550875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$182</a:t>
            </a:r>
            <a:endParaRPr lang="en-US" sz="1200" dirty="0"/>
          </a:p>
        </p:txBody>
      </p:sp>
      <p:sp>
        <p:nvSpPr>
          <p:cNvPr id="148" name="Shape 146"/>
          <p:cNvSpPr/>
          <p:nvPr/>
        </p:nvSpPr>
        <p:spPr>
          <a:xfrm>
            <a:off x="4123939" y="2176272"/>
            <a:ext cx="14630" cy="3749040"/>
          </a:xfrm>
          <a:prstGeom prst="rect">
            <a:avLst/>
          </a:prstGeom>
          <a:solidFill>
            <a:srgbClr val="0B2C4A"/>
          </a:solidFill>
          <a:ln/>
        </p:spPr>
      </p:sp>
      <p:sp>
        <p:nvSpPr>
          <p:cNvPr id="149" name="Shape 147"/>
          <p:cNvSpPr/>
          <p:nvPr/>
        </p:nvSpPr>
        <p:spPr>
          <a:xfrm>
            <a:off x="9674347" y="2176272"/>
            <a:ext cx="14630" cy="3749040"/>
          </a:xfrm>
          <a:prstGeom prst="rect">
            <a:avLst/>
          </a:prstGeom>
          <a:solidFill>
            <a:srgbClr val="0B2C4A"/>
          </a:solidFill>
          <a:ln/>
        </p:spPr>
      </p:sp>
      <p:sp>
        <p:nvSpPr>
          <p:cNvPr id="150" name="Shape 148"/>
          <p:cNvSpPr/>
          <p:nvPr/>
        </p:nvSpPr>
        <p:spPr>
          <a:xfrm>
            <a:off x="6085332" y="2176272"/>
            <a:ext cx="10973" cy="3749040"/>
          </a:xfrm>
          <a:prstGeom prst="rect">
            <a:avLst/>
          </a:prstGeom>
          <a:solidFill>
            <a:srgbClr val="D9D9D9"/>
          </a:solidFill>
          <a:ln/>
        </p:spPr>
      </p:sp>
      <p:sp>
        <p:nvSpPr>
          <p:cNvPr id="151" name="Shape 149"/>
          <p:cNvSpPr/>
          <p:nvPr/>
        </p:nvSpPr>
        <p:spPr>
          <a:xfrm>
            <a:off x="457200" y="6126480"/>
            <a:ext cx="11274552" cy="615696"/>
          </a:xfrm>
          <a:prstGeom prst="rect">
            <a:avLst/>
          </a:prstGeom>
          <a:solidFill>
            <a:srgbClr val="EDF4FA"/>
          </a:solidFill>
          <a:ln/>
        </p:spPr>
      </p:sp>
      <p:sp>
        <p:nvSpPr>
          <p:cNvPr id="152" name="Text 15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Against their own segment, 5 of 9 luxury stores beat $632 and 13 of 24 others beat $264. VW Henderson leads non-luxury at $389.</a:t>
            </a:r>
            <a:endParaRPr lang="en-US" sz="1600" dirty="0"/>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+$111</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7" name="Shape 15"/>
          <p:cNvSpPr/>
          <p:nvPr/>
        </p:nvSpPr>
        <p:spPr>
          <a:xfrm>
            <a:off x="3785616" y="2151755"/>
            <a:ext cx="575943"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1" name="Shape 19"/>
          <p:cNvSpPr/>
          <p:nvPr/>
        </p:nvSpPr>
        <p:spPr>
          <a:xfrm>
            <a:off x="3785616" y="2391651"/>
            <a:ext cx="55269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5" name="Shape 23"/>
          <p:cNvSpPr/>
          <p:nvPr/>
        </p:nvSpPr>
        <p:spPr>
          <a:xfrm>
            <a:off x="3785616" y="2631546"/>
            <a:ext cx="463787"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+$66</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9" name="Shape 27"/>
          <p:cNvSpPr/>
          <p:nvPr/>
        </p:nvSpPr>
        <p:spPr>
          <a:xfrm>
            <a:off x="3785616" y="2871442"/>
            <a:ext cx="456716"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+$65</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3" name="Shape 31"/>
          <p:cNvSpPr/>
          <p:nvPr/>
        </p:nvSpPr>
        <p:spPr>
          <a:xfrm>
            <a:off x="3785616" y="3111337"/>
            <a:ext cx="414355"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+$59</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7" name="Shape 35"/>
          <p:cNvSpPr/>
          <p:nvPr/>
        </p:nvSpPr>
        <p:spPr>
          <a:xfrm>
            <a:off x="3785616" y="3351233"/>
            <a:ext cx="412769"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+$59</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1" name="Shape 39"/>
          <p:cNvSpPr/>
          <p:nvPr/>
        </p:nvSpPr>
        <p:spPr>
          <a:xfrm>
            <a:off x="3785616" y="3591128"/>
            <a:ext cx="406247"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+$58</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45" name="Shape 43"/>
          <p:cNvSpPr/>
          <p:nvPr/>
        </p:nvSpPr>
        <p:spPr>
          <a:xfrm>
            <a:off x="3785616" y="3831024"/>
            <a:ext cx="288052"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9" name="Shape 47"/>
          <p:cNvSpPr/>
          <p:nvPr/>
        </p:nvSpPr>
        <p:spPr>
          <a:xfrm>
            <a:off x="3785616" y="4070920"/>
            <a:ext cx="263047"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3" name="Shape 51"/>
          <p:cNvSpPr/>
          <p:nvPr/>
        </p:nvSpPr>
        <p:spPr>
          <a:xfrm>
            <a:off x="3785616" y="4310815"/>
            <a:ext cx="242490"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7" name="Shape 55"/>
          <p:cNvSpPr/>
          <p:nvPr/>
        </p:nvSpPr>
        <p:spPr>
          <a:xfrm>
            <a:off x="3785616" y="4550711"/>
            <a:ext cx="235020"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1" name="Shape 59"/>
          <p:cNvSpPr/>
          <p:nvPr/>
        </p:nvSpPr>
        <p:spPr>
          <a:xfrm>
            <a:off x="3785616" y="4790606"/>
            <a:ext cx="215884"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5" name="Shape 63"/>
          <p:cNvSpPr/>
          <p:nvPr/>
        </p:nvSpPr>
        <p:spPr>
          <a:xfrm>
            <a:off x="3785616" y="5030502"/>
            <a:ext cx="178374"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9" name="Shape 67"/>
          <p:cNvSpPr/>
          <p:nvPr/>
        </p:nvSpPr>
        <p:spPr>
          <a:xfrm>
            <a:off x="3785616" y="5270397"/>
            <a:ext cx="173516"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73" name="Shape 71"/>
          <p:cNvSpPr/>
          <p:nvPr/>
        </p:nvSpPr>
        <p:spPr>
          <a:xfrm>
            <a:off x="3785616" y="5510293"/>
            <a:ext cx="162620"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7" name="Shape 75"/>
          <p:cNvSpPr/>
          <p:nvPr/>
        </p:nvSpPr>
        <p:spPr>
          <a:xfrm>
            <a:off x="3785616" y="5750188"/>
            <a:ext cx="157046"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1" name="Shape 79"/>
          <p:cNvSpPr/>
          <p:nvPr/>
        </p:nvSpPr>
        <p:spPr>
          <a:xfrm>
            <a:off x="9336024" y="1911860"/>
            <a:ext cx="119398"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85" name="Shape 83"/>
          <p:cNvSpPr/>
          <p:nvPr/>
        </p:nvSpPr>
        <p:spPr>
          <a:xfrm>
            <a:off x="9336024" y="2151755"/>
            <a:ext cx="117460"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9" name="Shape 87"/>
          <p:cNvSpPr/>
          <p:nvPr/>
        </p:nvSpPr>
        <p:spPr>
          <a:xfrm>
            <a:off x="9336024" y="2391651"/>
            <a:ext cx="114434"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3" name="Shape 91"/>
          <p:cNvSpPr/>
          <p:nvPr/>
        </p:nvSpPr>
        <p:spPr>
          <a:xfrm>
            <a:off x="9336024" y="2631546"/>
            <a:ext cx="101539"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97" name="Shape 95"/>
          <p:cNvSpPr/>
          <p:nvPr/>
        </p:nvSpPr>
        <p:spPr>
          <a:xfrm>
            <a:off x="9336024" y="2871442"/>
            <a:ext cx="97831"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1" name="Shape 99"/>
          <p:cNvSpPr/>
          <p:nvPr/>
        </p:nvSpPr>
        <p:spPr>
          <a:xfrm>
            <a:off x="9336024" y="3111337"/>
            <a:ext cx="90948"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5" name="Shape 103"/>
          <p:cNvSpPr/>
          <p:nvPr/>
        </p:nvSpPr>
        <p:spPr>
          <a:xfrm>
            <a:off x="9336024" y="3351233"/>
            <a:ext cx="55339"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09" name="Shape 107"/>
          <p:cNvSpPr/>
          <p:nvPr/>
        </p:nvSpPr>
        <p:spPr>
          <a:xfrm>
            <a:off x="9336024" y="3591128"/>
            <a:ext cx="49679" cy="110352"/>
          </a:xfrm>
          <a:prstGeom prst="rect">
            <a:avLst/>
          </a:prstGeom>
          <a:solidFill>
            <a:srgbClr val="12A566"/>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13" name="Shape 111"/>
          <p:cNvSpPr/>
          <p:nvPr/>
        </p:nvSpPr>
        <p:spPr>
          <a:xfrm>
            <a:off x="9336024" y="3831024"/>
            <a:ext cx="30084" cy="110352"/>
          </a:xfrm>
          <a:prstGeom prst="rect">
            <a:avLst/>
          </a:prstGeom>
          <a:solidFill>
            <a:srgbClr val="12A566"/>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7" name="Shape 115"/>
          <p:cNvSpPr/>
          <p:nvPr/>
        </p:nvSpPr>
        <p:spPr>
          <a:xfrm>
            <a:off x="9295589" y="4070920"/>
            <a:ext cx="40435"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21" name="Shape 119"/>
          <p:cNvSpPr/>
          <p:nvPr/>
        </p:nvSpPr>
        <p:spPr>
          <a:xfrm>
            <a:off x="9290140" y="4310815"/>
            <a:ext cx="45884"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5" name="Shape 123"/>
          <p:cNvSpPr/>
          <p:nvPr/>
        </p:nvSpPr>
        <p:spPr>
          <a:xfrm>
            <a:off x="9274808" y="4550711"/>
            <a:ext cx="61216"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29" name="Shape 127"/>
          <p:cNvSpPr/>
          <p:nvPr/>
        </p:nvSpPr>
        <p:spPr>
          <a:xfrm>
            <a:off x="9269533" y="4790606"/>
            <a:ext cx="66491"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3" name="Shape 131"/>
          <p:cNvSpPr/>
          <p:nvPr/>
        </p:nvSpPr>
        <p:spPr>
          <a:xfrm>
            <a:off x="9197430" y="5030502"/>
            <a:ext cx="138594"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9075430" y="5270397"/>
            <a:ext cx="260594"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41" name="Shape 139"/>
          <p:cNvSpPr/>
          <p:nvPr/>
        </p:nvSpPr>
        <p:spPr>
          <a:xfrm>
            <a:off x="8917914" y="5510293"/>
            <a:ext cx="41811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48996"/>
          </a:xfrm>
          <a:prstGeom prst="rect">
            <a:avLst/>
          </a:prstGeom>
          <a:solidFill>
            <a:srgbClr val="E6F6EE"/>
          </a:solidFill>
          <a:ln/>
        </p:spPr>
      </p:sp>
      <p:sp>
        <p:nvSpPr>
          <p:cNvPr id="147" name="Text 145"/>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7A4A"/>
                </a:solidFill>
                <a:latin typeface="Inter" pitchFamily="34" charset="0"/>
                <a:ea typeface="Inter" pitchFamily="34" charset="-122"/>
                <a:cs typeface="Inter" pitchFamily="34" charset="-120"/>
              </a:rPr>
              <a:t>26 of 33 stores grew CP labor per RO, led by Lincoln at +$111 to $416. 7 declined; LR Reno fell most at −$59.</a:t>
            </a:r>
            <a:endParaRPr lang="en-US" sz="1450" dirty="0"/>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$306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$416</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+$111</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$371</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+$82</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$324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$403</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+$79</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$238</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+$66</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$866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$931</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+$65</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$876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$817</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−$59</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$231</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−$37</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$948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$928</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−$20</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$234</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−$9</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$271</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−$9</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$591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$666</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+$75</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$759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$813</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+$54</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$273</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+$49</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$240</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$290</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a:t>
            </a:r>
            <a:endParaRPr lang="en-US" sz="1600" dirty="0"/>
          </a:p>
        </p:txBody>
      </p:sp>
      <p:sp>
        <p:nvSpPr>
          <p:cNvPr id="69" name="Shape 67"/>
          <p:cNvSpPr/>
          <p:nvPr/>
        </p:nvSpPr>
        <p:spPr>
          <a:xfrm>
            <a:off x="457200" y="6126480"/>
            <a:ext cx="11274552" cy="615696"/>
          </a:xfrm>
          <a:prstGeom prst="rect">
            <a:avLst/>
          </a:prstGeom>
          <a:solidFill>
            <a:srgbClr val="EDF4FA"/>
          </a:solidFill>
          <a:ln/>
        </p:spPr>
      </p:sp>
      <p:sp>
        <p:nvSpPr>
          <p:cNvPr id="70"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Lincoln, Nissan and Lexus what changed. Ask LR Reno, VW St George and Audi Henderson what got in the way. Ask Audi Reno, LR Reno and Mazda what they started this year.</a:t>
            </a:r>
            <a:endParaRPr lang="en-US" sz="1600" dirty="0"/>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Labor Gross Profit %?</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Labor GP %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labor sale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tech cost)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labor sale</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share of each labor dollar we keep after paying the technician.</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ONE HOUR SOLD</a:t>
            </a:r>
            <a:endParaRPr lang="en-US" sz="1400" dirty="0"/>
          </a:p>
        </p:txBody>
      </p:sp>
      <p:sp>
        <p:nvSpPr>
          <p:cNvPr id="9" name="Shape 7"/>
          <p:cNvSpPr/>
          <p:nvPr/>
        </p:nvSpPr>
        <p:spPr>
          <a:xfrm>
            <a:off x="2286000" y="2340864"/>
            <a:ext cx="227914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Sell 1 hour at  </a:t>
            </a:r>
            <a:pPr algn="ctr" indent="0" marL="0">
              <a:buNone/>
            </a:pPr>
            <a:r>
              <a:rPr lang="en-US" sz="1400" b="1" dirty="0">
                <a:solidFill>
                  <a:srgbClr val="0B2C4A"/>
                </a:solidFill>
                <a:latin typeface="Inter" pitchFamily="34" charset="0"/>
                <a:ea typeface="Inter" pitchFamily="34" charset="-122"/>
                <a:cs typeface="Inter" pitchFamily="34" charset="-120"/>
              </a:rPr>
              <a:t>$162</a:t>
            </a:r>
            <a:endParaRPr lang="en-US" sz="1400" dirty="0"/>
          </a:p>
        </p:txBody>
      </p:sp>
      <p:sp>
        <p:nvSpPr>
          <p:cNvPr id="11" name="Shape 9"/>
          <p:cNvSpPr/>
          <p:nvPr/>
        </p:nvSpPr>
        <p:spPr>
          <a:xfrm>
            <a:off x="4674870" y="2340864"/>
            <a:ext cx="2279142" cy="457200"/>
          </a:xfrm>
          <a:prstGeom prst="rect">
            <a:avLst/>
          </a:prstGeom>
          <a:solidFill>
            <a:srgbClr val="FFFFFF"/>
          </a:solidFill>
          <a:ln w="9525">
            <a:solidFill>
              <a:srgbClr val="D9D9D9"/>
            </a:solidFill>
            <a:prstDash val="solid"/>
          </a:ln>
        </p:spPr>
      </p:sp>
      <p:sp>
        <p:nvSpPr>
          <p:cNvPr id="12" name="Text 10"/>
          <p:cNvSpPr txBox="1"/>
          <p:nvPr/>
        </p:nvSpPr>
        <p:spPr>
          <a:xfrm>
            <a:off x="474802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Pay the tech  </a:t>
            </a:r>
            <a:pPr algn="ctr" indent="0" marL="0">
              <a:buNone/>
            </a:pPr>
            <a:r>
              <a:rPr lang="en-US" sz="1400" b="1" dirty="0">
                <a:solidFill>
                  <a:srgbClr val="0B2C4A"/>
                </a:solidFill>
                <a:latin typeface="Inter" pitchFamily="34" charset="0"/>
                <a:ea typeface="Inter" pitchFamily="34" charset="-122"/>
                <a:cs typeface="Inter" pitchFamily="34" charset="-120"/>
              </a:rPr>
              <a:t>$31</a:t>
            </a:r>
            <a:endParaRPr lang="en-US" sz="1400" dirty="0"/>
          </a:p>
        </p:txBody>
      </p:sp>
      <p:sp>
        <p:nvSpPr>
          <p:cNvPr id="13" name="Shape 11"/>
          <p:cNvSpPr/>
          <p:nvPr/>
        </p:nvSpPr>
        <p:spPr>
          <a:xfrm>
            <a:off x="7063740" y="2340864"/>
            <a:ext cx="2279142" cy="457200"/>
          </a:xfrm>
          <a:prstGeom prst="rect">
            <a:avLst/>
          </a:prstGeom>
          <a:solidFill>
            <a:srgbClr val="FFFFFF"/>
          </a:solidFill>
          <a:ln w="9525">
            <a:solidFill>
              <a:srgbClr val="D9D9D9"/>
            </a:solidFill>
            <a:prstDash val="solid"/>
          </a:ln>
        </p:spPr>
      </p:sp>
      <p:sp>
        <p:nvSpPr>
          <p:cNvPr id="14" name="Text 12"/>
          <p:cNvSpPr txBox="1"/>
          <p:nvPr/>
        </p:nvSpPr>
        <p:spPr>
          <a:xfrm>
            <a:off x="713689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We keep  </a:t>
            </a:r>
            <a:pPr algn="ctr" indent="0" marL="0">
              <a:buNone/>
            </a:pPr>
            <a:r>
              <a:rPr lang="en-US" sz="1400" b="1" dirty="0">
                <a:solidFill>
                  <a:srgbClr val="0B2C4A"/>
                </a:solidFill>
                <a:latin typeface="Inter" pitchFamily="34" charset="0"/>
                <a:ea typeface="Inter" pitchFamily="34" charset="-122"/>
                <a:cs typeface="Inter" pitchFamily="34" charset="-120"/>
              </a:rPr>
              <a:t>$131</a:t>
            </a:r>
            <a:endParaRPr lang="en-US" sz="1400" dirty="0"/>
          </a:p>
        </p:txBody>
      </p:sp>
      <p:sp>
        <p:nvSpPr>
          <p:cNvPr id="15" name="Shape 13"/>
          <p:cNvSpPr/>
          <p:nvPr/>
        </p:nvSpPr>
        <p:spPr>
          <a:xfrm>
            <a:off x="9452610" y="2340864"/>
            <a:ext cx="2279142" cy="457200"/>
          </a:xfrm>
          <a:prstGeom prst="rect">
            <a:avLst/>
          </a:prstGeom>
          <a:solidFill>
            <a:srgbClr val="FFFFFF"/>
          </a:solidFill>
          <a:ln w="9525">
            <a:solidFill>
              <a:srgbClr val="D9D9D9"/>
            </a:solidFill>
            <a:prstDash val="solid"/>
          </a:ln>
        </p:spPr>
      </p:sp>
      <p:sp>
        <p:nvSpPr>
          <p:cNvPr id="16" name="Text 14"/>
          <p:cNvSpPr txBox="1"/>
          <p:nvPr/>
        </p:nvSpPr>
        <p:spPr>
          <a:xfrm>
            <a:off x="952576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$131 ÷ $162  </a:t>
            </a:r>
            <a:pPr algn="ctr" indent="0" marL="0">
              <a:buNone/>
            </a:pPr>
            <a:r>
              <a:rPr lang="en-US" sz="1400" b="1" dirty="0">
                <a:solidFill>
                  <a:srgbClr val="0B2C4A"/>
                </a:solidFill>
                <a:latin typeface="Inter" pitchFamily="34" charset="0"/>
                <a:ea typeface="Inter" pitchFamily="34" charset="-122"/>
                <a:cs typeface="Inter" pitchFamily="34" charset="-120"/>
              </a:rPr>
              <a:t>81%</a:t>
            </a:r>
            <a:endParaRPr lang="en-US" sz="1400" dirty="0"/>
          </a:p>
        </p:txBody>
      </p:sp>
      <p:sp>
        <p:nvSpPr>
          <p:cNvPr id="17" name="Shape 15"/>
          <p:cNvSpPr/>
          <p:nvPr/>
        </p:nvSpPr>
        <p:spPr>
          <a:xfrm>
            <a:off x="457200" y="2907792"/>
            <a:ext cx="4343400" cy="3081528"/>
          </a:xfrm>
          <a:prstGeom prst="rect">
            <a:avLst/>
          </a:prstGeom>
          <a:solidFill>
            <a:srgbClr val="FFFFFF"/>
          </a:solidFill>
          <a:ln/>
        </p:spPr>
      </p:sp>
      <p:sp>
        <p:nvSpPr>
          <p:cNvPr id="18" name="Shape 16"/>
          <p:cNvSpPr/>
          <p:nvPr/>
        </p:nvSpPr>
        <p:spPr>
          <a:xfrm>
            <a:off x="4937760" y="2907792"/>
            <a:ext cx="6793992" cy="3081528"/>
          </a:xfrm>
          <a:prstGeom prst="rect">
            <a:avLst/>
          </a:prstGeom>
          <a:solidFill>
            <a:srgbClr val="FFFFFF"/>
          </a:solidFill>
          <a:ln/>
        </p:spPr>
      </p:sp>
      <p:sp>
        <p:nvSpPr>
          <p:cNvPr id="19" name="Text 17"/>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20" name="Text 18"/>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21" name="Text 19"/>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The target range is 78% to 80%: not too high, not too low. Hold it by matching the tech to the job, not by squeezing tech pay.</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Too low means tech cost is out of line with what the job sells for.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Too high can mean techs are underpaid on the work they do, which costs us techs.</a:t>
            </a:r>
            <a:endParaRPr lang="en-US" sz="1500" dirty="0"/>
          </a:p>
        </p:txBody>
      </p:sp>
      <p:sp>
        <p:nvSpPr>
          <p:cNvPr id="22" name="Shape 20"/>
          <p:cNvSpPr/>
          <p:nvPr/>
        </p:nvSpPr>
        <p:spPr>
          <a:xfrm>
            <a:off x="5138928" y="3410712"/>
            <a:ext cx="45720" cy="1133856"/>
          </a:xfrm>
          <a:prstGeom prst="rect">
            <a:avLst/>
          </a:prstGeom>
          <a:solidFill>
            <a:srgbClr val="2587C5"/>
          </a:solidFill>
          <a:ln/>
        </p:spPr>
      </p:sp>
      <p:sp>
        <p:nvSpPr>
          <p:cNvPr id="23" name="Text 21"/>
          <p:cNvSpPr txBox="1"/>
          <p:nvPr/>
        </p:nvSpPr>
        <p:spPr>
          <a:xfrm>
            <a:off x="5266944"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Effective labor rate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Same tech cost, higher ELR = higher margin</a:t>
            </a:r>
            <a:endParaRPr lang="en-US" sz="1400" dirty="0"/>
          </a:p>
        </p:txBody>
      </p:sp>
      <p:sp>
        <p:nvSpPr>
          <p:cNvPr id="24" name="Shape 22"/>
          <p:cNvSpPr/>
          <p:nvPr/>
        </p:nvSpPr>
        <p:spPr>
          <a:xfrm>
            <a:off x="7309104" y="3410712"/>
            <a:ext cx="45720" cy="1133856"/>
          </a:xfrm>
          <a:prstGeom prst="rect">
            <a:avLst/>
          </a:prstGeom>
          <a:solidFill>
            <a:srgbClr val="2587C5"/>
          </a:solidFill>
          <a:ln/>
        </p:spPr>
      </p:sp>
      <p:sp>
        <p:nvSpPr>
          <p:cNvPr id="25" name="Text 23"/>
          <p:cNvSpPr txBox="1"/>
          <p:nvPr/>
        </p:nvSpPr>
        <p:spPr>
          <a:xfrm>
            <a:off x="7437120"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Tech pay rate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Flat-rate pay per hour against the rate we sell</a:t>
            </a:r>
            <a:endParaRPr lang="en-US" sz="1400" dirty="0"/>
          </a:p>
        </p:txBody>
      </p:sp>
      <p:sp>
        <p:nvSpPr>
          <p:cNvPr id="26" name="Shape 24"/>
          <p:cNvSpPr/>
          <p:nvPr/>
        </p:nvSpPr>
        <p:spPr>
          <a:xfrm>
            <a:off x="9479280" y="3410712"/>
            <a:ext cx="45720" cy="1133856"/>
          </a:xfrm>
          <a:prstGeom prst="rect">
            <a:avLst/>
          </a:prstGeom>
          <a:solidFill>
            <a:srgbClr val="2587C5"/>
          </a:solidFill>
          <a:ln/>
        </p:spPr>
      </p:sp>
      <p:sp>
        <p:nvSpPr>
          <p:cNvPr id="27" name="Text 25"/>
          <p:cNvSpPr txBox="1"/>
          <p:nvPr/>
        </p:nvSpPr>
        <p:spPr>
          <a:xfrm>
            <a:off x="9607296"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Right tech, right job</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Skill-code costing: don't pay a master-tech rate on an oil change</a:t>
            </a:r>
            <a:endParaRPr lang="en-US" sz="1400" dirty="0"/>
          </a:p>
        </p:txBody>
      </p:sp>
      <p:sp>
        <p:nvSpPr>
          <p:cNvPr id="28" name="Shape 26"/>
          <p:cNvSpPr/>
          <p:nvPr/>
        </p:nvSpPr>
        <p:spPr>
          <a:xfrm>
            <a:off x="5138928" y="4654296"/>
            <a:ext cx="45720" cy="1133856"/>
          </a:xfrm>
          <a:prstGeom prst="rect">
            <a:avLst/>
          </a:prstGeom>
          <a:solidFill>
            <a:srgbClr val="2587C5"/>
          </a:solidFill>
          <a:ln/>
        </p:spPr>
      </p:sp>
      <p:sp>
        <p:nvSpPr>
          <p:cNvPr id="29" name="Text 27"/>
          <p:cNvSpPr txBox="1"/>
          <p:nvPr/>
        </p:nvSpPr>
        <p:spPr>
          <a:xfrm>
            <a:off x="5266944"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Work mix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Quick maintenance runs lower margin than repair</a:t>
            </a:r>
            <a:endParaRPr lang="en-US" sz="1400" dirty="0"/>
          </a:p>
        </p:txBody>
      </p:sp>
      <p:sp>
        <p:nvSpPr>
          <p:cNvPr id="30" name="Shape 28"/>
          <p:cNvSpPr/>
          <p:nvPr/>
        </p:nvSpPr>
        <p:spPr>
          <a:xfrm>
            <a:off x="7309104" y="4654296"/>
            <a:ext cx="45720" cy="1133856"/>
          </a:xfrm>
          <a:prstGeom prst="rect">
            <a:avLst/>
          </a:prstGeom>
          <a:solidFill>
            <a:srgbClr val="2587C5"/>
          </a:solidFill>
          <a:ln/>
        </p:spPr>
      </p:sp>
      <p:sp>
        <p:nvSpPr>
          <p:cNvPr id="31" name="Text 29"/>
          <p:cNvSpPr txBox="1"/>
          <p:nvPr/>
        </p:nvSpPr>
        <p:spPr>
          <a:xfrm>
            <a:off x="7437120"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Comebacks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Paying twice for the same job</a:t>
            </a:r>
            <a:endParaRPr lang="en-US" sz="1400" dirty="0"/>
          </a:p>
        </p:txBody>
      </p:sp>
      <p:sp>
        <p:nvSpPr>
          <p:cNvPr id="32" name="Shape 30"/>
          <p:cNvSpPr/>
          <p:nvPr/>
        </p:nvSpPr>
        <p:spPr>
          <a:xfrm>
            <a:off x="457200" y="6126480"/>
            <a:ext cx="11274552" cy="371856"/>
          </a:xfrm>
          <a:prstGeom prst="rect">
            <a:avLst/>
          </a:prstGeom>
          <a:solidFill>
            <a:srgbClr val="EDF4FA"/>
          </a:solidFill>
          <a:ln/>
        </p:spPr>
      </p:sp>
      <p:sp>
        <p:nvSpPr>
          <p:cNvPr id="33" name="Text 31"/>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80.8% CP labor gross profit, down 0.1 pts and just above the 78-80% target.</a:t>
            </a:r>
            <a:endParaRPr lang="en-US" sz="1600" dirty="0"/>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80.9%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80.8%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−0.1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−0.1%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Labor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FBEBEA"/>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Down 0.1 pts to 80.8%, behind 2025 in six of nine months. The target range is 78–80%.</a:t>
            </a:r>
            <a:endParaRPr lang="en-US" sz="1600" dirty="0"/>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80.8%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88.6%</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543109"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86.1%</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1" name="Shape 19"/>
          <p:cNvSpPr/>
          <p:nvPr/>
        </p:nvSpPr>
        <p:spPr>
          <a:xfrm>
            <a:off x="3008376" y="2386853"/>
            <a:ext cx="1535636"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86.0%</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5" name="Shape 23"/>
          <p:cNvSpPr/>
          <p:nvPr/>
        </p:nvSpPr>
        <p:spPr>
          <a:xfrm>
            <a:off x="3008376" y="2626748"/>
            <a:ext cx="1476876"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85.0%</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29" name="Shape 27"/>
          <p:cNvSpPr/>
          <p:nvPr/>
        </p:nvSpPr>
        <p:spPr>
          <a:xfrm>
            <a:off x="3008376" y="2866644"/>
            <a:ext cx="1445114"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84.4%</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3" name="Shape 31"/>
          <p:cNvSpPr/>
          <p:nvPr/>
        </p:nvSpPr>
        <p:spPr>
          <a:xfrm>
            <a:off x="3008376" y="3106540"/>
            <a:ext cx="1444915"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84.4%</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7" name="Shape 35"/>
          <p:cNvSpPr/>
          <p:nvPr/>
        </p:nvSpPr>
        <p:spPr>
          <a:xfrm>
            <a:off x="3008376" y="3346435"/>
            <a:ext cx="1435635"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3008376" y="3586331"/>
            <a:ext cx="1413246"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83.9%</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5" name="Shape 43"/>
          <p:cNvSpPr/>
          <p:nvPr/>
        </p:nvSpPr>
        <p:spPr>
          <a:xfrm>
            <a:off x="3008376" y="3826226"/>
            <a:ext cx="1388776"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83.5%</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9" name="Shape 47"/>
          <p:cNvSpPr/>
          <p:nvPr/>
        </p:nvSpPr>
        <p:spPr>
          <a:xfrm>
            <a:off x="3008376" y="4066122"/>
            <a:ext cx="1369844"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83.2%</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53" name="Shape 51"/>
          <p:cNvSpPr/>
          <p:nvPr/>
        </p:nvSpPr>
        <p:spPr>
          <a:xfrm>
            <a:off x="3008376" y="4306017"/>
            <a:ext cx="1354414"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82.9%</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57" name="Shape 55"/>
          <p:cNvSpPr/>
          <p:nvPr/>
        </p:nvSpPr>
        <p:spPr>
          <a:xfrm>
            <a:off x="3008376" y="4545913"/>
            <a:ext cx="1325994"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82.4%</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61" name="Shape 59"/>
          <p:cNvSpPr/>
          <p:nvPr/>
        </p:nvSpPr>
        <p:spPr>
          <a:xfrm>
            <a:off x="3008376" y="4785808"/>
            <a:ext cx="1299309"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82.0%</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5" name="Shape 63"/>
          <p:cNvSpPr/>
          <p:nvPr/>
        </p:nvSpPr>
        <p:spPr>
          <a:xfrm>
            <a:off x="3008376" y="5025704"/>
            <a:ext cx="1172081"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79.8%</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9" name="Shape 67"/>
          <p:cNvSpPr/>
          <p:nvPr/>
        </p:nvSpPr>
        <p:spPr>
          <a:xfrm>
            <a:off x="3008376" y="5265599"/>
            <a:ext cx="1154510"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79.5%</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73" name="Shape 71"/>
          <p:cNvSpPr/>
          <p:nvPr/>
        </p:nvSpPr>
        <p:spPr>
          <a:xfrm>
            <a:off x="3008376" y="5505495"/>
            <a:ext cx="1151855"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79.5%</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77" name="Shape 75"/>
          <p:cNvSpPr/>
          <p:nvPr/>
        </p:nvSpPr>
        <p:spPr>
          <a:xfrm>
            <a:off x="3008376" y="5745390"/>
            <a:ext cx="1150751"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79.4%</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1" name="Shape 79"/>
          <p:cNvSpPr/>
          <p:nvPr/>
        </p:nvSpPr>
        <p:spPr>
          <a:xfrm>
            <a:off x="8558784" y="1907062"/>
            <a:ext cx="1147529"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8558784" y="2146957"/>
            <a:ext cx="1147141"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79.4%</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9" name="Shape 87"/>
          <p:cNvSpPr/>
          <p:nvPr/>
        </p:nvSpPr>
        <p:spPr>
          <a:xfrm>
            <a:off x="8558784" y="2386853"/>
            <a:ext cx="1142346"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79.3%</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1130994"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7" name="Shape 95"/>
          <p:cNvSpPr/>
          <p:nvPr/>
        </p:nvSpPr>
        <p:spPr>
          <a:xfrm>
            <a:off x="8558784" y="2866644"/>
            <a:ext cx="1110612"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01" name="Shape 99"/>
          <p:cNvSpPr/>
          <p:nvPr/>
        </p:nvSpPr>
        <p:spPr>
          <a:xfrm>
            <a:off x="8558784" y="3106540"/>
            <a:ext cx="1103937"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78.7%</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05" name="Shape 103"/>
          <p:cNvSpPr/>
          <p:nvPr/>
        </p:nvSpPr>
        <p:spPr>
          <a:xfrm>
            <a:off x="8558784" y="3346435"/>
            <a:ext cx="1099378"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78.6%</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09" name="Shape 107"/>
          <p:cNvSpPr/>
          <p:nvPr/>
        </p:nvSpPr>
        <p:spPr>
          <a:xfrm>
            <a:off x="8558784" y="3586331"/>
            <a:ext cx="1097173"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78.5%</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3" name="Shape 111"/>
          <p:cNvSpPr/>
          <p:nvPr/>
        </p:nvSpPr>
        <p:spPr>
          <a:xfrm>
            <a:off x="8558784" y="3826226"/>
            <a:ext cx="1092233"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7" name="Shape 115"/>
          <p:cNvSpPr/>
          <p:nvPr/>
        </p:nvSpPr>
        <p:spPr>
          <a:xfrm>
            <a:off x="8558784" y="4066122"/>
            <a:ext cx="1054627"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77.8%</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1" name="Shape 119"/>
          <p:cNvSpPr/>
          <p:nvPr/>
        </p:nvSpPr>
        <p:spPr>
          <a:xfrm>
            <a:off x="8558784" y="4306017"/>
            <a:ext cx="1021487"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77.3%</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5" name="Shape 123"/>
          <p:cNvSpPr/>
          <p:nvPr/>
        </p:nvSpPr>
        <p:spPr>
          <a:xfrm>
            <a:off x="8558784" y="4545913"/>
            <a:ext cx="926038"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75.7%</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8558784" y="4785808"/>
            <a:ext cx="836435"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74.1%</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3" name="Shape 131"/>
          <p:cNvSpPr/>
          <p:nvPr/>
        </p:nvSpPr>
        <p:spPr>
          <a:xfrm>
            <a:off x="8558784" y="5025704"/>
            <a:ext cx="819481"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7" name="Shape 135"/>
          <p:cNvSpPr/>
          <p:nvPr/>
        </p:nvSpPr>
        <p:spPr>
          <a:xfrm>
            <a:off x="8558784" y="5265599"/>
            <a:ext cx="722210"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05495"/>
            <a:ext cx="457124"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67.7%</a:t>
            </a:r>
            <a:endParaRPr lang="en-US" sz="1200" dirty="0"/>
          </a:p>
        </p:txBody>
      </p:sp>
      <p:sp>
        <p:nvSpPr>
          <p:cNvPr id="143" name="Shape 141"/>
          <p:cNvSpPr/>
          <p:nvPr/>
        </p:nvSpPr>
        <p:spPr>
          <a:xfrm>
            <a:off x="4230890" y="1847088"/>
            <a:ext cx="14630" cy="4078224"/>
          </a:xfrm>
          <a:prstGeom prst="rect">
            <a:avLst/>
          </a:prstGeom>
          <a:solidFill>
            <a:srgbClr val="0B2C4A"/>
          </a:solidFill>
          <a:ln/>
        </p:spPr>
      </p:sp>
      <p:sp>
        <p:nvSpPr>
          <p:cNvPr id="144" name="Shape 142"/>
          <p:cNvSpPr/>
          <p:nvPr/>
        </p:nvSpPr>
        <p:spPr>
          <a:xfrm>
            <a:off x="9781298"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56616"/>
          </a:xfrm>
          <a:prstGeom prst="rect">
            <a:avLst/>
          </a:prstGeom>
          <a:solidFill>
            <a:srgbClr val="EDF4FA"/>
          </a:solidFill>
          <a:ln/>
        </p:spPr>
      </p:sp>
      <p:sp>
        <p:nvSpPr>
          <p:cNvPr id="147" name="Text 145"/>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13 of 33 stores at or above the 80.8% group, led by Volvo at 88.6%. Hyundai Prescott is lowest at 67.7%.</a:t>
            </a:r>
            <a:endParaRPr lang="en-US" sz="1500" dirty="0"/>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A82B26"/>
                </a:solidFill>
                <a:latin typeface="Inter" pitchFamily="34" charset="0"/>
                <a:ea typeface="Inter" pitchFamily="34" charset="-122"/>
                <a:cs typeface="Inter" pitchFamily="34" charset="-120"/>
              </a:rPr>
              <a:t>−0.1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3" name="Shape 11"/>
          <p:cNvSpPr/>
          <p:nvPr/>
        </p:nvSpPr>
        <p:spPr>
          <a:xfrm>
            <a:off x="3785616" y="1911860"/>
            <a:ext cx="691707"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+4.6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 name="Shape 15"/>
          <p:cNvSpPr/>
          <p:nvPr/>
        </p:nvSpPr>
        <p:spPr>
          <a:xfrm>
            <a:off x="3785616" y="2151755"/>
            <a:ext cx="676962"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21" name="Shape 19"/>
          <p:cNvSpPr/>
          <p:nvPr/>
        </p:nvSpPr>
        <p:spPr>
          <a:xfrm>
            <a:off x="3785616" y="2391651"/>
            <a:ext cx="441336"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5" name="Shape 23"/>
          <p:cNvSpPr/>
          <p:nvPr/>
        </p:nvSpPr>
        <p:spPr>
          <a:xfrm>
            <a:off x="3785616" y="2631546"/>
            <a:ext cx="401674"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9" name="Shape 27"/>
          <p:cNvSpPr/>
          <p:nvPr/>
        </p:nvSpPr>
        <p:spPr>
          <a:xfrm>
            <a:off x="3785616" y="2871442"/>
            <a:ext cx="221069"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3" name="Shape 31"/>
          <p:cNvSpPr/>
          <p:nvPr/>
        </p:nvSpPr>
        <p:spPr>
          <a:xfrm>
            <a:off x="3785616" y="3111337"/>
            <a:ext cx="215430"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7" name="Shape 35"/>
          <p:cNvSpPr/>
          <p:nvPr/>
        </p:nvSpPr>
        <p:spPr>
          <a:xfrm>
            <a:off x="3785616" y="3351233"/>
            <a:ext cx="187291"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1" name="Shape 39"/>
          <p:cNvSpPr/>
          <p:nvPr/>
        </p:nvSpPr>
        <p:spPr>
          <a:xfrm>
            <a:off x="3785616" y="3591128"/>
            <a:ext cx="180791"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3785616" y="3831024"/>
            <a:ext cx="153665"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49" name="Shape 47"/>
          <p:cNvSpPr/>
          <p:nvPr/>
        </p:nvSpPr>
        <p:spPr>
          <a:xfrm>
            <a:off x="3785616" y="4070920"/>
            <a:ext cx="142638"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+0.9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53" name="Shape 51"/>
          <p:cNvSpPr/>
          <p:nvPr/>
        </p:nvSpPr>
        <p:spPr>
          <a:xfrm>
            <a:off x="3785616" y="4310815"/>
            <a:ext cx="117720"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+0.8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7" name="Shape 55"/>
          <p:cNvSpPr/>
          <p:nvPr/>
        </p:nvSpPr>
        <p:spPr>
          <a:xfrm>
            <a:off x="3785616" y="4550711"/>
            <a:ext cx="83963"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+0.6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1" name="Shape 59"/>
          <p:cNvSpPr/>
          <p:nvPr/>
        </p:nvSpPr>
        <p:spPr>
          <a:xfrm>
            <a:off x="3785616" y="4790606"/>
            <a:ext cx="57218"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5" name="Shape 63"/>
          <p:cNvSpPr/>
          <p:nvPr/>
        </p:nvSpPr>
        <p:spPr>
          <a:xfrm>
            <a:off x="3785616" y="5030502"/>
            <a:ext cx="57154"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69" name="Shape 67"/>
          <p:cNvSpPr/>
          <p:nvPr/>
        </p:nvSpPr>
        <p:spPr>
          <a:xfrm>
            <a:off x="3785616" y="5270397"/>
            <a:ext cx="5202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3" name="Shape 71"/>
          <p:cNvSpPr/>
          <p:nvPr/>
        </p:nvSpPr>
        <p:spPr>
          <a:xfrm>
            <a:off x="3785616" y="5510293"/>
            <a:ext cx="45633"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77" name="Shape 75"/>
          <p:cNvSpPr/>
          <p:nvPr/>
        </p:nvSpPr>
        <p:spPr>
          <a:xfrm>
            <a:off x="3785616" y="5750188"/>
            <a:ext cx="32937"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1" name="Shape 79"/>
          <p:cNvSpPr/>
          <p:nvPr/>
        </p:nvSpPr>
        <p:spPr>
          <a:xfrm>
            <a:off x="9336024" y="1911860"/>
            <a:ext cx="29184"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5" name="Shape 83"/>
          <p:cNvSpPr/>
          <p:nvPr/>
        </p:nvSpPr>
        <p:spPr>
          <a:xfrm>
            <a:off x="9336024" y="2151755"/>
            <a:ext cx="28495"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9336024" y="2391651"/>
            <a:ext cx="17499"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3" name="Shape 91"/>
          <p:cNvSpPr/>
          <p:nvPr/>
        </p:nvSpPr>
        <p:spPr>
          <a:xfrm>
            <a:off x="9297900" y="2631546"/>
            <a:ext cx="38124"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−0.3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9284469" y="2871442"/>
            <a:ext cx="51555"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−0.3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01" name="Shape 99"/>
          <p:cNvSpPr/>
          <p:nvPr/>
        </p:nvSpPr>
        <p:spPr>
          <a:xfrm>
            <a:off x="9266787" y="3111337"/>
            <a:ext cx="69237"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−0.5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5" name="Shape 103"/>
          <p:cNvSpPr/>
          <p:nvPr/>
        </p:nvSpPr>
        <p:spPr>
          <a:xfrm>
            <a:off x="9218285" y="3351233"/>
            <a:ext cx="117739"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−0.8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9" name="Shape 107"/>
          <p:cNvSpPr/>
          <p:nvPr/>
        </p:nvSpPr>
        <p:spPr>
          <a:xfrm>
            <a:off x="9176624" y="3591128"/>
            <a:ext cx="159400"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13" name="Shape 111"/>
          <p:cNvSpPr/>
          <p:nvPr/>
        </p:nvSpPr>
        <p:spPr>
          <a:xfrm>
            <a:off x="9124906" y="3831024"/>
            <a:ext cx="211118"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17" name="Shape 115"/>
          <p:cNvSpPr/>
          <p:nvPr/>
        </p:nvSpPr>
        <p:spPr>
          <a:xfrm>
            <a:off x="9120348" y="4070920"/>
            <a:ext cx="215676"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21" name="Shape 119"/>
          <p:cNvSpPr/>
          <p:nvPr/>
        </p:nvSpPr>
        <p:spPr>
          <a:xfrm>
            <a:off x="9112792" y="4310815"/>
            <a:ext cx="223232"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5" name="Shape 123"/>
          <p:cNvSpPr/>
          <p:nvPr/>
        </p:nvSpPr>
        <p:spPr>
          <a:xfrm>
            <a:off x="9036343" y="4550711"/>
            <a:ext cx="299681"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9" name="Shape 127"/>
          <p:cNvSpPr/>
          <p:nvPr/>
        </p:nvSpPr>
        <p:spPr>
          <a:xfrm>
            <a:off x="9033651" y="4790606"/>
            <a:ext cx="302373"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3" name="Shape 131"/>
          <p:cNvSpPr/>
          <p:nvPr/>
        </p:nvSpPr>
        <p:spPr>
          <a:xfrm>
            <a:off x="8896902" y="5030502"/>
            <a:ext cx="439122"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7" name="Shape 135"/>
          <p:cNvSpPr/>
          <p:nvPr/>
        </p:nvSpPr>
        <p:spPr>
          <a:xfrm>
            <a:off x="8634430" y="5270397"/>
            <a:ext cx="701594"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−4.7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FBEBE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20 of 33 stores improved labor margin, led by Toyota Prescott at +4.6 pts to 78.5%. 13 declined; Hyundai Prescott fell most at −5.2 pts.</a:t>
            </a:r>
            <a:endParaRPr lang="en-US" sz="1600" dirty="0"/>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73.9%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78.5%</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79.8%</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+4.5 pts</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79.4%</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 pts</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80.5%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83.2%</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 pts</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77.8%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79.3%</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 pts</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72.9%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67.7%</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−5.2 pts</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72.2%</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−4.7 pts</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81.7%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78.8%</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−2.9 pts</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75.9%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73.9%</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−2.0 pts</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84.9%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82.9%</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−2.0 pts</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81.0%</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+4.1 pts</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77.2%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80.9%</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+3.7 pts</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77.8%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80.5%</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 pts</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77.9%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79.7%</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 pts</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85.4%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86.8%</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 pts</a:t>
            </a:r>
            <a:endParaRPr lang="en-US" sz="1600" dirty="0"/>
          </a:p>
        </p:txBody>
      </p:sp>
      <p:sp>
        <p:nvSpPr>
          <p:cNvPr id="69" name="Shape 67"/>
          <p:cNvSpPr/>
          <p:nvPr/>
        </p:nvSpPr>
        <p:spPr>
          <a:xfrm>
            <a:off x="457200" y="6126480"/>
            <a:ext cx="11274552" cy="600456"/>
          </a:xfrm>
          <a:prstGeom prst="rect">
            <a:avLst/>
          </a:prstGeom>
          <a:solidFill>
            <a:srgbClr val="EDF4FA"/>
          </a:solidFill>
          <a:ln/>
        </p:spPr>
      </p:sp>
      <p:sp>
        <p:nvSpPr>
          <p:cNvPr id="70" name="Text 68"/>
          <p:cNvSpPr txBox="1"/>
          <p:nvPr/>
        </p:nvSpPr>
        <p:spPr>
          <a:xfrm>
            <a:off x="658368" y="6144768"/>
            <a:ext cx="10927080" cy="56388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Ask Toyota Prescott, Honda Spokane and VW St George what changed. Ask Hyundai Prescott, GMC Prescott and Audi Reno what got in the way. Ask Kia St George, Acura and Cadillac what they started this year.</a:t>
            </a:r>
            <a:endParaRPr lang="en-US" sz="1550" dirty="0"/>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Parts Gross Profit %?</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Parts GP %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parts sale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parts cost)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parts sale</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share of each customer-pay parts dollar we keep after the cost of the part.</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is the other half of the gross on every RO.</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Small changes add up across every RO in the group.</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shows whether pricing and discounting are under control.</a:t>
            </a:r>
            <a:endParaRPr lang="en-US" sz="1600" dirty="0"/>
          </a:p>
        </p:txBody>
      </p:sp>
      <p:sp>
        <p:nvSpPr>
          <p:cNvPr id="13" name="Shape 11"/>
          <p:cNvSpPr/>
          <p:nvPr/>
        </p:nvSpPr>
        <p:spPr>
          <a:xfrm>
            <a:off x="5138928" y="2843784"/>
            <a:ext cx="45720" cy="1417320"/>
          </a:xfrm>
          <a:prstGeom prst="rect">
            <a:avLst/>
          </a:prstGeom>
          <a:solidFill>
            <a:srgbClr val="2587C5"/>
          </a:solidFill>
          <a:ln/>
        </p:spPr>
      </p:sp>
      <p:sp>
        <p:nvSpPr>
          <p:cNvPr id="14" name="Text 12"/>
          <p:cNvSpPr txBox="1"/>
          <p:nvPr/>
        </p:nvSpPr>
        <p:spPr>
          <a:xfrm>
            <a:off x="5266944" y="2843784"/>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pricing matrix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Markup by cost band; set and reviewed</a:t>
            </a:r>
            <a:endParaRPr lang="en-US" sz="1400" dirty="0"/>
          </a:p>
        </p:txBody>
      </p:sp>
      <p:sp>
        <p:nvSpPr>
          <p:cNvPr id="15" name="Shape 13"/>
          <p:cNvSpPr/>
          <p:nvPr/>
        </p:nvSpPr>
        <p:spPr>
          <a:xfrm>
            <a:off x="8394192" y="2843784"/>
            <a:ext cx="45720" cy="1417320"/>
          </a:xfrm>
          <a:prstGeom prst="rect">
            <a:avLst/>
          </a:prstGeom>
          <a:solidFill>
            <a:srgbClr val="2587C5"/>
          </a:solidFill>
          <a:ln/>
        </p:spPr>
      </p:sp>
      <p:sp>
        <p:nvSpPr>
          <p:cNvPr id="16" name="Text 14"/>
          <p:cNvSpPr txBox="1"/>
          <p:nvPr/>
        </p:nvSpPr>
        <p:spPr>
          <a:xfrm>
            <a:off x="8522208" y="2843784"/>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Discounts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No direct price changes. ADC-controlled discounting only.</a:t>
            </a:r>
            <a:endParaRPr lang="en-US" sz="1400" dirty="0"/>
          </a:p>
        </p:txBody>
      </p:sp>
      <p:sp>
        <p:nvSpPr>
          <p:cNvPr id="17" name="Shape 15"/>
          <p:cNvSpPr/>
          <p:nvPr/>
        </p:nvSpPr>
        <p:spPr>
          <a:xfrm>
            <a:off x="5138928" y="4370832"/>
            <a:ext cx="45720" cy="1417320"/>
          </a:xfrm>
          <a:prstGeom prst="rect">
            <a:avLst/>
          </a:prstGeom>
          <a:solidFill>
            <a:srgbClr val="2587C5"/>
          </a:solidFill>
          <a:ln/>
        </p:spPr>
      </p:sp>
      <p:sp>
        <p:nvSpPr>
          <p:cNvPr id="18" name="Text 16"/>
          <p:cNvSpPr txBox="1"/>
          <p:nvPr/>
        </p:nvSpPr>
        <p:spPr>
          <a:xfrm>
            <a:off x="5266944" y="4370832"/>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Tires and competitive items carry thinner margins</a:t>
            </a:r>
            <a:endParaRPr lang="en-US" sz="1400" dirty="0"/>
          </a:p>
        </p:txBody>
      </p:sp>
      <p:sp>
        <p:nvSpPr>
          <p:cNvPr id="19" name="Shape 17"/>
          <p:cNvSpPr/>
          <p:nvPr/>
        </p:nvSpPr>
        <p:spPr>
          <a:xfrm>
            <a:off x="8394192" y="4370832"/>
            <a:ext cx="45720" cy="1417320"/>
          </a:xfrm>
          <a:prstGeom prst="rect">
            <a:avLst/>
          </a:prstGeom>
          <a:solidFill>
            <a:srgbClr val="2587C5"/>
          </a:solidFill>
          <a:ln/>
        </p:spPr>
      </p:sp>
      <p:sp>
        <p:nvSpPr>
          <p:cNvPr id="20" name="Text 18"/>
          <p:cNvSpPr txBox="1"/>
          <p:nvPr/>
        </p:nvSpPr>
        <p:spPr>
          <a:xfrm>
            <a:off x="8522208" y="4370832"/>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Menu pricing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Bundled maintenance parts priced to protect margin</a:t>
            </a:r>
            <a:endParaRPr lang="en-US" sz="1400" dirty="0"/>
          </a:p>
        </p:txBody>
      </p:sp>
      <p:sp>
        <p:nvSpPr>
          <p:cNvPr id="21" name="Shape 19"/>
          <p:cNvSpPr/>
          <p:nvPr/>
        </p:nvSpPr>
        <p:spPr>
          <a:xfrm>
            <a:off x="457200" y="6126480"/>
            <a:ext cx="11274552" cy="371856"/>
          </a:xfrm>
          <a:prstGeom prst="rect">
            <a:avLst/>
          </a:prstGeom>
          <a:solidFill>
            <a:srgbClr val="E6F6EE"/>
          </a:solidFill>
          <a:ln/>
        </p:spPr>
      </p:sp>
      <p:sp>
        <p:nvSpPr>
          <p:cNvPr id="22" name="Text 2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40.7% CP parts gross profit, up 1.2 pts and ahead of 2025 in all nine months.</a:t>
            </a:r>
            <a:endParaRPr lang="en-US" sz="1600" dirty="0"/>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39.4%</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40.7%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+1.2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Parts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371856"/>
          </a:xfrm>
          <a:prstGeom prst="rect">
            <a:avLst/>
          </a:prstGeom>
          <a:solidFill>
            <a:srgbClr val="E6F6EE"/>
          </a:solidFill>
          <a:ln/>
        </p:spPr>
      </p:sp>
      <p:sp>
        <p:nvSpPr>
          <p:cNvPr id="28"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1.2 pts to 40.7%, ahead of 2025 in all nine months.</a:t>
            </a:r>
            <a:endParaRPr lang="en-US" sz="1600" dirty="0"/>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PARTS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40.7%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 name="Shape 15"/>
          <p:cNvSpPr/>
          <p:nvPr/>
        </p:nvSpPr>
        <p:spPr>
          <a:xfrm>
            <a:off x="3008376" y="2146957"/>
            <a:ext cx="1546178"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21" name="Shape 19"/>
          <p:cNvSpPr/>
          <p:nvPr/>
        </p:nvSpPr>
        <p:spPr>
          <a:xfrm>
            <a:off x="3008376" y="2386853"/>
            <a:ext cx="1415979"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45.1%</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5" name="Shape 23"/>
          <p:cNvSpPr/>
          <p:nvPr/>
        </p:nvSpPr>
        <p:spPr>
          <a:xfrm>
            <a:off x="3008376" y="2626748"/>
            <a:ext cx="1398122"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008376" y="2866644"/>
            <a:ext cx="1380211"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44.6%</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3" name="Shape 31"/>
          <p:cNvSpPr/>
          <p:nvPr/>
        </p:nvSpPr>
        <p:spPr>
          <a:xfrm>
            <a:off x="3008376" y="3106540"/>
            <a:ext cx="1369862"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44.5%</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7" name="Shape 35"/>
          <p:cNvSpPr/>
          <p:nvPr/>
        </p:nvSpPr>
        <p:spPr>
          <a:xfrm>
            <a:off x="3008376" y="3346435"/>
            <a:ext cx="1307689"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1" name="Shape 39"/>
          <p:cNvSpPr/>
          <p:nvPr/>
        </p:nvSpPr>
        <p:spPr>
          <a:xfrm>
            <a:off x="3008376" y="3586331"/>
            <a:ext cx="1298606"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43.4%</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5" name="Shape 43"/>
          <p:cNvSpPr/>
          <p:nvPr/>
        </p:nvSpPr>
        <p:spPr>
          <a:xfrm>
            <a:off x="3008376" y="3826226"/>
            <a:ext cx="129442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43.4%</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49" name="Shape 47"/>
          <p:cNvSpPr/>
          <p:nvPr/>
        </p:nvSpPr>
        <p:spPr>
          <a:xfrm>
            <a:off x="3008376" y="4066122"/>
            <a:ext cx="1271456"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43.1%</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3" name="Shape 51"/>
          <p:cNvSpPr/>
          <p:nvPr/>
        </p:nvSpPr>
        <p:spPr>
          <a:xfrm>
            <a:off x="3008376" y="4306017"/>
            <a:ext cx="1251777"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7" name="Shape 55"/>
          <p:cNvSpPr/>
          <p:nvPr/>
        </p:nvSpPr>
        <p:spPr>
          <a:xfrm>
            <a:off x="3008376" y="4545913"/>
            <a:ext cx="1245672"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42.7%</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61" name="Shape 59"/>
          <p:cNvSpPr/>
          <p:nvPr/>
        </p:nvSpPr>
        <p:spPr>
          <a:xfrm>
            <a:off x="3008376" y="4785808"/>
            <a:ext cx="1233197"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42.5%</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5" name="Shape 63"/>
          <p:cNvSpPr/>
          <p:nvPr/>
        </p:nvSpPr>
        <p:spPr>
          <a:xfrm>
            <a:off x="3008376" y="5025704"/>
            <a:ext cx="1232878"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9" name="Shape 67"/>
          <p:cNvSpPr/>
          <p:nvPr/>
        </p:nvSpPr>
        <p:spPr>
          <a:xfrm>
            <a:off x="3008376" y="5265599"/>
            <a:ext cx="1203401"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42.1%</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3" name="Shape 71"/>
          <p:cNvSpPr/>
          <p:nvPr/>
        </p:nvSpPr>
        <p:spPr>
          <a:xfrm>
            <a:off x="3008376" y="5505495"/>
            <a:ext cx="1188908"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41.9%</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77" name="Shape 75"/>
          <p:cNvSpPr/>
          <p:nvPr/>
        </p:nvSpPr>
        <p:spPr>
          <a:xfrm>
            <a:off x="3008376" y="5745390"/>
            <a:ext cx="1188871"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41.9%</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8558784" y="1907062"/>
            <a:ext cx="1173558"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41.7%</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5" name="Shape 83"/>
          <p:cNvSpPr/>
          <p:nvPr/>
        </p:nvSpPr>
        <p:spPr>
          <a:xfrm>
            <a:off x="8558784" y="2146957"/>
            <a:ext cx="1128234"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9" name="Shape 87"/>
          <p:cNvSpPr/>
          <p:nvPr/>
        </p:nvSpPr>
        <p:spPr>
          <a:xfrm>
            <a:off x="8558784" y="2386853"/>
            <a:ext cx="1079577"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40.3%</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93" name="Shape 91"/>
          <p:cNvSpPr/>
          <p:nvPr/>
        </p:nvSpPr>
        <p:spPr>
          <a:xfrm>
            <a:off x="8558784" y="2626748"/>
            <a:ext cx="1071834"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40.2%</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97" name="Shape 95"/>
          <p:cNvSpPr/>
          <p:nvPr/>
        </p:nvSpPr>
        <p:spPr>
          <a:xfrm>
            <a:off x="8558784" y="2866644"/>
            <a:ext cx="1067637"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40.2%</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1" name="Shape 99"/>
          <p:cNvSpPr/>
          <p:nvPr/>
        </p:nvSpPr>
        <p:spPr>
          <a:xfrm>
            <a:off x="8558784" y="3106540"/>
            <a:ext cx="1016963"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39.4%</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5" name="Shape 103"/>
          <p:cNvSpPr/>
          <p:nvPr/>
        </p:nvSpPr>
        <p:spPr>
          <a:xfrm>
            <a:off x="8558784" y="3346435"/>
            <a:ext cx="1011567"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39.4%</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9" name="Shape 107"/>
          <p:cNvSpPr/>
          <p:nvPr/>
        </p:nvSpPr>
        <p:spPr>
          <a:xfrm>
            <a:off x="8558784" y="3586331"/>
            <a:ext cx="855582"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37.2%</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3" name="Shape 111"/>
          <p:cNvSpPr/>
          <p:nvPr/>
        </p:nvSpPr>
        <p:spPr>
          <a:xfrm>
            <a:off x="8558784" y="3826226"/>
            <a:ext cx="845078"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37.0%</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8558784" y="4066122"/>
            <a:ext cx="84362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37.0%</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1" name="Shape 119"/>
          <p:cNvSpPr/>
          <p:nvPr/>
        </p:nvSpPr>
        <p:spPr>
          <a:xfrm>
            <a:off x="8558784" y="4306017"/>
            <a:ext cx="83846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36.9%</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5" name="Shape 123"/>
          <p:cNvSpPr/>
          <p:nvPr/>
        </p:nvSpPr>
        <p:spPr>
          <a:xfrm>
            <a:off x="8558784" y="4545913"/>
            <a:ext cx="837243"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9" name="Shape 127"/>
          <p:cNvSpPr/>
          <p:nvPr/>
        </p:nvSpPr>
        <p:spPr>
          <a:xfrm>
            <a:off x="8558784" y="4785808"/>
            <a:ext cx="785861"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33" name="Shape 131"/>
          <p:cNvSpPr/>
          <p:nvPr/>
        </p:nvSpPr>
        <p:spPr>
          <a:xfrm>
            <a:off x="8558784" y="5025704"/>
            <a:ext cx="749122"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35.6%</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37" name="Shape 135"/>
          <p:cNvSpPr/>
          <p:nvPr/>
        </p:nvSpPr>
        <p:spPr>
          <a:xfrm>
            <a:off x="8558784" y="5265599"/>
            <a:ext cx="686949"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41" name="Shape 139"/>
          <p:cNvSpPr/>
          <p:nvPr/>
        </p:nvSpPr>
        <p:spPr>
          <a:xfrm>
            <a:off x="8558784" y="5505495"/>
            <a:ext cx="608467"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33.6%</a:t>
            </a:r>
            <a:endParaRPr lang="en-US" sz="1200" dirty="0"/>
          </a:p>
        </p:txBody>
      </p:sp>
      <p:sp>
        <p:nvSpPr>
          <p:cNvPr id="143" name="Shape 141"/>
          <p:cNvSpPr/>
          <p:nvPr/>
        </p:nvSpPr>
        <p:spPr>
          <a:xfrm>
            <a:off x="4104295" y="1847088"/>
            <a:ext cx="14630" cy="4078224"/>
          </a:xfrm>
          <a:prstGeom prst="rect">
            <a:avLst/>
          </a:prstGeom>
          <a:solidFill>
            <a:srgbClr val="0B2C4A"/>
          </a:solidFill>
          <a:ln/>
        </p:spPr>
      </p:sp>
      <p:sp>
        <p:nvSpPr>
          <p:cNvPr id="144" name="Shape 142"/>
          <p:cNvSpPr/>
          <p:nvPr/>
        </p:nvSpPr>
        <p:spPr>
          <a:xfrm>
            <a:off x="9654703"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64236"/>
          </a:xfrm>
          <a:prstGeom prst="rect">
            <a:avLst/>
          </a:prstGeom>
          <a:solidFill>
            <a:srgbClr val="EDF4FA"/>
          </a:solidFill>
          <a:ln/>
        </p:spPr>
      </p:sp>
      <p:sp>
        <p:nvSpPr>
          <p:cNvPr id="147" name="Text 145"/>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19 of 33 stores at or above the 40.7% group, led by Lexus at 49.0%. Audi Henderson is lowest at 33.6%.</a:t>
            </a:r>
            <a:endParaRPr lang="en-US" sz="1550" dirty="0"/>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PARTS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+1.2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+6.1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7" name="Shape 15"/>
          <p:cNvSpPr/>
          <p:nvPr/>
        </p:nvSpPr>
        <p:spPr>
          <a:xfrm>
            <a:off x="3785616" y="2151755"/>
            <a:ext cx="573132"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1" name="Shape 19"/>
          <p:cNvSpPr/>
          <p:nvPr/>
        </p:nvSpPr>
        <p:spPr>
          <a:xfrm>
            <a:off x="3785616" y="2391651"/>
            <a:ext cx="483678"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5" name="Shape 23"/>
          <p:cNvSpPr/>
          <p:nvPr/>
        </p:nvSpPr>
        <p:spPr>
          <a:xfrm>
            <a:off x="3785616" y="2631546"/>
            <a:ext cx="420710"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785616" y="2871442"/>
            <a:ext cx="417523"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3" name="Shape 31"/>
          <p:cNvSpPr/>
          <p:nvPr/>
        </p:nvSpPr>
        <p:spPr>
          <a:xfrm>
            <a:off x="3785616" y="3111337"/>
            <a:ext cx="39596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37" name="Shape 35"/>
          <p:cNvSpPr/>
          <p:nvPr/>
        </p:nvSpPr>
        <p:spPr>
          <a:xfrm>
            <a:off x="3785616" y="3351233"/>
            <a:ext cx="371787"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785616" y="3591128"/>
            <a:ext cx="35362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45" name="Shape 43"/>
          <p:cNvSpPr/>
          <p:nvPr/>
        </p:nvSpPr>
        <p:spPr>
          <a:xfrm>
            <a:off x="3785616" y="3831024"/>
            <a:ext cx="313112"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9" name="Shape 47"/>
          <p:cNvSpPr/>
          <p:nvPr/>
        </p:nvSpPr>
        <p:spPr>
          <a:xfrm>
            <a:off x="3785616" y="4070920"/>
            <a:ext cx="287712"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53" name="Shape 51"/>
          <p:cNvSpPr/>
          <p:nvPr/>
        </p:nvSpPr>
        <p:spPr>
          <a:xfrm>
            <a:off x="3785616" y="4310815"/>
            <a:ext cx="242579"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57" name="Shape 55"/>
          <p:cNvSpPr/>
          <p:nvPr/>
        </p:nvSpPr>
        <p:spPr>
          <a:xfrm>
            <a:off x="3785616" y="4550711"/>
            <a:ext cx="227731"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1" name="Shape 59"/>
          <p:cNvSpPr/>
          <p:nvPr/>
        </p:nvSpPr>
        <p:spPr>
          <a:xfrm>
            <a:off x="3785616" y="4790606"/>
            <a:ext cx="221497"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785616" y="5030502"/>
            <a:ext cx="165406"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9" name="Shape 67"/>
          <p:cNvSpPr/>
          <p:nvPr/>
        </p:nvSpPr>
        <p:spPr>
          <a:xfrm>
            <a:off x="3785616" y="5270397"/>
            <a:ext cx="157298"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3" name="Shape 71"/>
          <p:cNvSpPr/>
          <p:nvPr/>
        </p:nvSpPr>
        <p:spPr>
          <a:xfrm>
            <a:off x="3785616" y="5510293"/>
            <a:ext cx="131996"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7" name="Shape 75"/>
          <p:cNvSpPr/>
          <p:nvPr/>
        </p:nvSpPr>
        <p:spPr>
          <a:xfrm>
            <a:off x="3785616" y="5750188"/>
            <a:ext cx="122499"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1" name="Shape 79"/>
          <p:cNvSpPr/>
          <p:nvPr/>
        </p:nvSpPr>
        <p:spPr>
          <a:xfrm>
            <a:off x="9336024" y="1911860"/>
            <a:ext cx="121330"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5" name="Shape 83"/>
          <p:cNvSpPr/>
          <p:nvPr/>
        </p:nvSpPr>
        <p:spPr>
          <a:xfrm>
            <a:off x="9336024" y="2151755"/>
            <a:ext cx="105056"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+0.8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9" name="Shape 87"/>
          <p:cNvSpPr/>
          <p:nvPr/>
        </p:nvSpPr>
        <p:spPr>
          <a:xfrm>
            <a:off x="9336024" y="2391651"/>
            <a:ext cx="97329"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+0.8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3" name="Shape 91"/>
          <p:cNvSpPr/>
          <p:nvPr/>
        </p:nvSpPr>
        <p:spPr>
          <a:xfrm>
            <a:off x="9336024" y="2631546"/>
            <a:ext cx="86662"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+0.7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7" name="Shape 95"/>
          <p:cNvSpPr/>
          <p:nvPr/>
        </p:nvSpPr>
        <p:spPr>
          <a:xfrm>
            <a:off x="9336024" y="2871442"/>
            <a:ext cx="7544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+0.6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1" name="Shape 99"/>
          <p:cNvSpPr/>
          <p:nvPr/>
        </p:nvSpPr>
        <p:spPr>
          <a:xfrm>
            <a:off x="9336024" y="3111337"/>
            <a:ext cx="64416"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+0.5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5" name="Shape 103"/>
          <p:cNvSpPr/>
          <p:nvPr/>
        </p:nvSpPr>
        <p:spPr>
          <a:xfrm>
            <a:off x="9336024" y="3351233"/>
            <a:ext cx="63134"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+0.5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9" name="Shape 107"/>
          <p:cNvSpPr/>
          <p:nvPr/>
        </p:nvSpPr>
        <p:spPr>
          <a:xfrm>
            <a:off x="9336024" y="3591128"/>
            <a:ext cx="32600" cy="110352"/>
          </a:xfrm>
          <a:prstGeom prst="rect">
            <a:avLst/>
          </a:prstGeom>
          <a:solidFill>
            <a:srgbClr val="12A566"/>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3" name="Shape 111"/>
          <p:cNvSpPr/>
          <p:nvPr/>
        </p:nvSpPr>
        <p:spPr>
          <a:xfrm>
            <a:off x="9336024" y="3831024"/>
            <a:ext cx="28643" cy="110352"/>
          </a:xfrm>
          <a:prstGeom prst="rect">
            <a:avLst/>
          </a:prstGeom>
          <a:solidFill>
            <a:srgbClr val="12A566"/>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17" name="Shape 115"/>
          <p:cNvSpPr/>
          <p:nvPr/>
        </p:nvSpPr>
        <p:spPr>
          <a:xfrm>
            <a:off x="9336024" y="4070920"/>
            <a:ext cx="27188" cy="110352"/>
          </a:xfrm>
          <a:prstGeom prst="rect">
            <a:avLst/>
          </a:prstGeom>
          <a:solidFill>
            <a:srgbClr val="12A566"/>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21" name="Shape 119"/>
          <p:cNvSpPr/>
          <p:nvPr/>
        </p:nvSpPr>
        <p:spPr>
          <a:xfrm>
            <a:off x="9336024" y="4310815"/>
            <a:ext cx="12802" cy="110352"/>
          </a:xfrm>
          <a:prstGeom prst="rect">
            <a:avLst/>
          </a:prstGeom>
          <a:solidFill>
            <a:srgbClr val="12A566"/>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5" name="Shape 123"/>
          <p:cNvSpPr/>
          <p:nvPr/>
        </p:nvSpPr>
        <p:spPr>
          <a:xfrm>
            <a:off x="9327684" y="4550711"/>
            <a:ext cx="12802"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9" name="Shape 127"/>
          <p:cNvSpPr/>
          <p:nvPr/>
        </p:nvSpPr>
        <p:spPr>
          <a:xfrm>
            <a:off x="9276212" y="4790606"/>
            <a:ext cx="59812"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−0.5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3" name="Shape 131"/>
          <p:cNvSpPr/>
          <p:nvPr/>
        </p:nvSpPr>
        <p:spPr>
          <a:xfrm>
            <a:off x="9272059" y="5030502"/>
            <a:ext cx="63965"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−0.5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37" name="Shape 135"/>
          <p:cNvSpPr/>
          <p:nvPr/>
        </p:nvSpPr>
        <p:spPr>
          <a:xfrm>
            <a:off x="9223329" y="5270397"/>
            <a:ext cx="112695"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−0.9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41" name="Shape 139"/>
          <p:cNvSpPr/>
          <p:nvPr/>
        </p:nvSpPr>
        <p:spPr>
          <a:xfrm>
            <a:off x="9065477" y="5510293"/>
            <a:ext cx="270547"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28 of 33 stores improved parts margin, led by Acura at +6.1 pts to 44.9%. 5 declined; Audi Henderson fell most at −2.1 pts.</a:t>
            </a:r>
            <a:endParaRPr lang="en-US" sz="1600" dirty="0"/>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38.7%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44.9%</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+6.1 pts</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38.2%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42.7%</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+4.5 pts</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31.0%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34.8%</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 pts</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37.0%</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44.6%</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33.6%</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−2.1 pts</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45.3%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44.5%</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−0.9 pts</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39.4%</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36.9%</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42.2%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42.1%</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−0.1 pts</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46.6%</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+7.2 pts</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43.8%</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39.2%</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 pts</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44.0%</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 pts</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41.7%</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 pts</a:t>
            </a:r>
            <a:endParaRPr lang="en-US" sz="1600" dirty="0"/>
          </a:p>
        </p:txBody>
      </p:sp>
      <p:sp>
        <p:nvSpPr>
          <p:cNvPr id="69" name="Shape 67"/>
          <p:cNvSpPr/>
          <p:nvPr/>
        </p:nvSpPr>
        <p:spPr>
          <a:xfrm>
            <a:off x="457200" y="6126480"/>
            <a:ext cx="11274552" cy="615696"/>
          </a:xfrm>
          <a:prstGeom prst="rect">
            <a:avLst/>
          </a:prstGeom>
          <a:solidFill>
            <a:srgbClr val="EDF4FA"/>
          </a:solidFill>
          <a:ln/>
        </p:spPr>
      </p:sp>
      <p:sp>
        <p:nvSpPr>
          <p:cNvPr id="70"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Acura, Nissan and Subaru Prescott what changed. Ask Audi Henderson, Toyota Spokane and Hyundai Prescott what got in the way. Ask Acura, VW St George and GMC Prescott what they started this year.</a:t>
            </a:r>
            <a:endParaRPr lang="en-US" sz="1600" dirty="0"/>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Road To The Sale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Every advisor, every customer: timely meet and greet at the vehicle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Walk-around with the customer: hood, tires and wipers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Review history and previously declined items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Time and mileage recommendations from an accurate, available menu</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MPI mandate: every car, every time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Consistency is key: trained, documented and actively managed</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Up in all four</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Alignment, balance, brake fluid and fuel service each rose 1.2-1.4 pts and beat 2025 every month.</a:t>
            </a:r>
            <a:endParaRPr lang="en-US" sz="1400" dirty="0"/>
          </a:p>
        </p:txBody>
      </p:sp>
      <p:sp>
        <p:nvSpPr>
          <p:cNvPr id="13" name="Shape 11"/>
          <p:cNvSpPr/>
          <p:nvPr/>
        </p:nvSpPr>
        <p:spPr>
          <a:xfrm>
            <a:off x="7269480" y="3261360"/>
            <a:ext cx="54864" cy="1112520"/>
          </a:xfrm>
          <a:prstGeom prst="rect">
            <a:avLst/>
          </a:prstGeom>
          <a:solidFill>
            <a:srgbClr val="C2352F"/>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18,493</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Balances short of the 15% benchmark. The group is at 8.3%.</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4,821</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Alignments short of 15%; the group is at 13.2%. Brake fluid is 0.7 pts from its 10%.</a:t>
            </a:r>
            <a:endParaRPr lang="en-US" sz="1400" dirty="0"/>
          </a:p>
        </p:txBody>
      </p:sp>
      <p:sp>
        <p:nvSpPr>
          <p:cNvPr id="19" name="Shape 17"/>
          <p:cNvSpPr/>
          <p:nvPr/>
        </p:nvSpPr>
        <p:spPr>
          <a:xfrm>
            <a:off x="457200" y="6126480"/>
            <a:ext cx="11274552" cy="371856"/>
          </a:xfrm>
          <a:prstGeom prst="rect">
            <a:avLst/>
          </a:prstGeom>
          <a:solidFill>
            <a:srgbClr val="EDF4FA"/>
          </a:solidFill>
          <a:ln/>
        </p:spPr>
      </p:sp>
      <p:sp>
        <p:nvSpPr>
          <p:cNvPr id="20" name="Text 1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every car gets the walk-around and the menu. The benchmarks are where that process lands.</a:t>
            </a:r>
            <a:endParaRPr lang="en-US" sz="1600" dirty="0"/>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Express Service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Express service is the #1 retention driver and business builder</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75% of your business includes some type of maintenance work</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Express bays are simply MPI bays. Unknown dollars are worth 2.5 times the known.</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Minimize labor costs for lower-skilled work</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If you don't help them, someone else will</a:t>
            </a:r>
            <a:endParaRPr lang="en-US" sz="1800" dirty="0"/>
          </a:p>
        </p:txBody>
      </p:sp>
      <p:sp>
        <p:nvSpPr>
          <p:cNvPr id="10" name="Shape 8"/>
          <p:cNvSpPr/>
          <p:nvPr/>
        </p:nvSpPr>
        <p:spPr>
          <a:xfrm>
            <a:off x="7269480" y="1920240"/>
            <a:ext cx="54864" cy="178308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54.3%</a:t>
            </a:r>
            <a:endParaRPr lang="en-US" sz="3000" dirty="0"/>
          </a:p>
        </p:txBody>
      </p:sp>
      <p:sp>
        <p:nvSpPr>
          <p:cNvPr id="12" name="Text 10"/>
          <p:cNvSpPr txBox="1"/>
          <p:nvPr/>
        </p:nvSpPr>
        <p:spPr>
          <a:xfrm>
            <a:off x="7452360" y="244144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Maintenance share of customer-pay labor; repair 30.5%.</a:t>
            </a:r>
            <a:endParaRPr lang="en-US" sz="1400" dirty="0"/>
          </a:p>
        </p:txBody>
      </p:sp>
      <p:sp>
        <p:nvSpPr>
          <p:cNvPr id="13" name="Shape 11"/>
          <p:cNvSpPr/>
          <p:nvPr/>
        </p:nvSpPr>
        <p:spPr>
          <a:xfrm>
            <a:off x="7269480" y="3931920"/>
            <a:ext cx="54864" cy="1783080"/>
          </a:xfrm>
          <a:prstGeom prst="rect">
            <a:avLst/>
          </a:prstGeom>
          <a:solidFill>
            <a:srgbClr val="2587C5"/>
          </a:solidFill>
          <a:ln/>
        </p:spPr>
      </p:sp>
      <p:sp>
        <p:nvSpPr>
          <p:cNvPr id="14" name="Text 12"/>
          <p:cNvSpPr txBox="1"/>
          <p:nvPr/>
        </p:nvSpPr>
        <p:spPr>
          <a:xfrm>
            <a:off x="7452360" y="388620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52.5%</a:t>
            </a:r>
            <a:endParaRPr lang="en-US" sz="3000" dirty="0"/>
          </a:p>
        </p:txBody>
      </p:sp>
      <p:sp>
        <p:nvSpPr>
          <p:cNvPr id="15" name="Text 13"/>
          <p:cNvSpPr txBox="1"/>
          <p:nvPr/>
        </p:nvSpPr>
        <p:spPr>
          <a:xfrm>
            <a:off x="7452360" y="445312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Customer pay as a share of labor sale, down 0.3 pts. Warranty labor rose 8.8%, internal 5.8%.</a:t>
            </a:r>
            <a:endParaRPr lang="en-US" sz="1400" dirty="0"/>
          </a:p>
        </p:txBody>
      </p:sp>
      <p:sp>
        <p:nvSpPr>
          <p:cNvPr id="16" name="Shape 14"/>
          <p:cNvSpPr/>
          <p:nvPr/>
        </p:nvSpPr>
        <p:spPr>
          <a:xfrm>
            <a:off x="457200" y="6126480"/>
            <a:ext cx="11274552" cy="371856"/>
          </a:xfrm>
          <a:prstGeom prst="rect">
            <a:avLst/>
          </a:prstGeom>
          <a:solidFill>
            <a:srgbClr val="EDF4FA"/>
          </a:solidFill>
          <a:ln/>
        </p:spPr>
      </p:sp>
      <p:sp>
        <p:nvSpPr>
          <p:cNvPr id="17" name="Text 1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treat every express visit as an inspection: fast in, inspected, and sold the next service.</a:t>
            </a:r>
            <a:endParaRPr lang="en-US" sz="1600" dirty="0"/>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MPI Completion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MPI COMPLETION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90.0%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81.3%</a:t>
            </a:r>
            <a:endParaRPr lang="en-US" sz="2000" dirty="0"/>
          </a:p>
        </p:txBody>
      </p:sp>
      <p:sp>
        <p:nvSpPr>
          <p:cNvPr id="11" name="Text 9"/>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3" name="Shape 11"/>
          <p:cNvSpPr/>
          <p:nvPr/>
        </p:nvSpPr>
        <p:spPr>
          <a:xfrm>
            <a:off x="3008376" y="2177348"/>
            <a:ext cx="868680" cy="111880"/>
          </a:xfrm>
          <a:prstGeom prst="rect">
            <a:avLst/>
          </a:prstGeom>
          <a:solidFill>
            <a:srgbClr val="12A566"/>
          </a:solidFill>
          <a:ln/>
        </p:spPr>
      </p:sp>
      <p:sp>
        <p:nvSpPr>
          <p:cNvPr id="14" name="Text 12"/>
          <p:cNvSpPr txBox="1"/>
          <p:nvPr/>
        </p:nvSpPr>
        <p:spPr>
          <a:xfrm>
            <a:off x="3931920"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99.0%</a:t>
            </a:r>
            <a:endParaRPr lang="en-US" sz="1200" dirty="0"/>
          </a:p>
        </p:txBody>
      </p:sp>
      <p:sp>
        <p:nvSpPr>
          <p:cNvPr id="15" name="Text 13"/>
          <p:cNvSpPr txBox="1"/>
          <p:nvPr/>
        </p:nvSpPr>
        <p:spPr>
          <a:xfrm>
            <a:off x="4608576" y="212140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16" name="Text 14"/>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7" name="Text 15"/>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8" name="Shape 16"/>
          <p:cNvSpPr/>
          <p:nvPr/>
        </p:nvSpPr>
        <p:spPr>
          <a:xfrm>
            <a:off x="3008376" y="2401107"/>
            <a:ext cx="868680" cy="111880"/>
          </a:xfrm>
          <a:prstGeom prst="rect">
            <a:avLst/>
          </a:prstGeom>
          <a:solidFill>
            <a:srgbClr val="12A566"/>
          </a:solidFill>
          <a:ln/>
        </p:spPr>
      </p:sp>
      <p:sp>
        <p:nvSpPr>
          <p:cNvPr id="19" name="Text 17"/>
          <p:cNvSpPr txBox="1"/>
          <p:nvPr/>
        </p:nvSpPr>
        <p:spPr>
          <a:xfrm>
            <a:off x="3931920"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99.0%</a:t>
            </a:r>
            <a:endParaRPr lang="en-US" sz="1200" dirty="0"/>
          </a:p>
        </p:txBody>
      </p:sp>
      <p:sp>
        <p:nvSpPr>
          <p:cNvPr id="20" name="Text 18"/>
          <p:cNvSpPr txBox="1"/>
          <p:nvPr/>
        </p:nvSpPr>
        <p:spPr>
          <a:xfrm>
            <a:off x="4608576" y="234516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21" name="Text 19"/>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3" name="Shape 21"/>
          <p:cNvSpPr/>
          <p:nvPr/>
        </p:nvSpPr>
        <p:spPr>
          <a:xfrm>
            <a:off x="3008376" y="2624866"/>
            <a:ext cx="861660" cy="111880"/>
          </a:xfrm>
          <a:prstGeom prst="rect">
            <a:avLst/>
          </a:prstGeom>
          <a:solidFill>
            <a:srgbClr val="12A566"/>
          </a:solidFill>
          <a:ln/>
        </p:spPr>
      </p:sp>
      <p:sp>
        <p:nvSpPr>
          <p:cNvPr id="24" name="Text 22"/>
          <p:cNvSpPr txBox="1"/>
          <p:nvPr/>
        </p:nvSpPr>
        <p:spPr>
          <a:xfrm>
            <a:off x="3931920"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98.2%</a:t>
            </a:r>
            <a:endParaRPr lang="en-US" sz="1200" dirty="0"/>
          </a:p>
        </p:txBody>
      </p:sp>
      <p:sp>
        <p:nvSpPr>
          <p:cNvPr id="25" name="Text 23"/>
          <p:cNvSpPr txBox="1"/>
          <p:nvPr/>
        </p:nvSpPr>
        <p:spPr>
          <a:xfrm>
            <a:off x="4608576" y="256892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Service</a:t>
            </a:r>
            <a:endParaRPr lang="en-US" sz="1200" dirty="0"/>
          </a:p>
        </p:txBody>
      </p:sp>
      <p:sp>
        <p:nvSpPr>
          <p:cNvPr id="26" name="Text 24"/>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7" name="Text 25"/>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8" name="Shape 26"/>
          <p:cNvSpPr/>
          <p:nvPr/>
        </p:nvSpPr>
        <p:spPr>
          <a:xfrm>
            <a:off x="3008376" y="2848625"/>
            <a:ext cx="859905" cy="111880"/>
          </a:xfrm>
          <a:prstGeom prst="rect">
            <a:avLst/>
          </a:prstGeom>
          <a:solidFill>
            <a:srgbClr val="12A566"/>
          </a:solidFill>
          <a:ln/>
        </p:spPr>
      </p:sp>
      <p:sp>
        <p:nvSpPr>
          <p:cNvPr id="29" name="Text 27"/>
          <p:cNvSpPr txBox="1"/>
          <p:nvPr/>
        </p:nvSpPr>
        <p:spPr>
          <a:xfrm>
            <a:off x="3931920"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98.0%</a:t>
            </a:r>
            <a:endParaRPr lang="en-US" sz="1200" dirty="0"/>
          </a:p>
        </p:txBody>
      </p:sp>
      <p:sp>
        <p:nvSpPr>
          <p:cNvPr id="30" name="Text 28"/>
          <p:cNvSpPr txBox="1"/>
          <p:nvPr/>
        </p:nvSpPr>
        <p:spPr>
          <a:xfrm>
            <a:off x="4608576" y="279268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31" name="Text 29"/>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2" name="Text 30"/>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3" name="Shape 31"/>
          <p:cNvSpPr/>
          <p:nvPr/>
        </p:nvSpPr>
        <p:spPr>
          <a:xfrm>
            <a:off x="3008376" y="3072384"/>
            <a:ext cx="851131" cy="111880"/>
          </a:xfrm>
          <a:prstGeom prst="rect">
            <a:avLst/>
          </a:prstGeom>
          <a:solidFill>
            <a:srgbClr val="12A566"/>
          </a:solidFill>
          <a:ln/>
        </p:spPr>
      </p:sp>
      <p:sp>
        <p:nvSpPr>
          <p:cNvPr id="34" name="Text 32"/>
          <p:cNvSpPr txBox="1"/>
          <p:nvPr/>
        </p:nvSpPr>
        <p:spPr>
          <a:xfrm>
            <a:off x="3931920"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97.0%</a:t>
            </a:r>
            <a:endParaRPr lang="en-US" sz="1200" dirty="0"/>
          </a:p>
        </p:txBody>
      </p:sp>
      <p:sp>
        <p:nvSpPr>
          <p:cNvPr id="35" name="Text 33"/>
          <p:cNvSpPr txBox="1"/>
          <p:nvPr/>
        </p:nvSpPr>
        <p:spPr>
          <a:xfrm>
            <a:off x="4608576" y="301644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36" name="Text 34"/>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7" name="Text 35"/>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8" name="Shape 36"/>
          <p:cNvSpPr/>
          <p:nvPr/>
        </p:nvSpPr>
        <p:spPr>
          <a:xfrm>
            <a:off x="3008376" y="3296143"/>
            <a:ext cx="851131" cy="111880"/>
          </a:xfrm>
          <a:prstGeom prst="rect">
            <a:avLst/>
          </a:prstGeom>
          <a:solidFill>
            <a:srgbClr val="12A566"/>
          </a:solidFill>
          <a:ln/>
        </p:spPr>
      </p:sp>
      <p:sp>
        <p:nvSpPr>
          <p:cNvPr id="39" name="Text 37"/>
          <p:cNvSpPr txBox="1"/>
          <p:nvPr/>
        </p:nvSpPr>
        <p:spPr>
          <a:xfrm>
            <a:off x="3931920"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97.0%</a:t>
            </a:r>
            <a:endParaRPr lang="en-US" sz="1200" dirty="0"/>
          </a:p>
        </p:txBody>
      </p:sp>
      <p:sp>
        <p:nvSpPr>
          <p:cNvPr id="40" name="Text 38"/>
          <p:cNvSpPr txBox="1"/>
          <p:nvPr/>
        </p:nvSpPr>
        <p:spPr>
          <a:xfrm>
            <a:off x="4608576" y="324020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41" name="Text 39"/>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2" name="Text 40"/>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3" name="Shape 41"/>
          <p:cNvSpPr/>
          <p:nvPr/>
        </p:nvSpPr>
        <p:spPr>
          <a:xfrm>
            <a:off x="3008376" y="3519902"/>
            <a:ext cx="843234" cy="111880"/>
          </a:xfrm>
          <a:prstGeom prst="rect">
            <a:avLst/>
          </a:prstGeom>
          <a:solidFill>
            <a:srgbClr val="12A566"/>
          </a:solidFill>
          <a:ln/>
        </p:spPr>
      </p:sp>
      <p:sp>
        <p:nvSpPr>
          <p:cNvPr id="44" name="Text 42"/>
          <p:cNvSpPr txBox="1"/>
          <p:nvPr/>
        </p:nvSpPr>
        <p:spPr>
          <a:xfrm>
            <a:off x="3931920"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96.1%</a:t>
            </a:r>
            <a:endParaRPr lang="en-US" sz="1200" dirty="0"/>
          </a:p>
        </p:txBody>
      </p:sp>
      <p:sp>
        <p:nvSpPr>
          <p:cNvPr id="45" name="Text 43"/>
          <p:cNvSpPr txBox="1"/>
          <p:nvPr/>
        </p:nvSpPr>
        <p:spPr>
          <a:xfrm>
            <a:off x="4608576" y="3463962"/>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46" name="Text 44"/>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7" name="Text 45"/>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48" name="Shape 46"/>
          <p:cNvSpPr/>
          <p:nvPr/>
        </p:nvSpPr>
        <p:spPr>
          <a:xfrm>
            <a:off x="3008376" y="3743661"/>
            <a:ext cx="830949" cy="111880"/>
          </a:xfrm>
          <a:prstGeom prst="rect">
            <a:avLst/>
          </a:prstGeom>
          <a:solidFill>
            <a:srgbClr val="12A566"/>
          </a:solidFill>
          <a:ln/>
        </p:spPr>
      </p:sp>
      <p:sp>
        <p:nvSpPr>
          <p:cNvPr id="49" name="Text 47"/>
          <p:cNvSpPr txBox="1"/>
          <p:nvPr/>
        </p:nvSpPr>
        <p:spPr>
          <a:xfrm>
            <a:off x="3931920"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94.7%</a:t>
            </a:r>
            <a:endParaRPr lang="en-US" sz="1200" dirty="0"/>
          </a:p>
        </p:txBody>
      </p:sp>
      <p:sp>
        <p:nvSpPr>
          <p:cNvPr id="50" name="Text 48"/>
          <p:cNvSpPr txBox="1"/>
          <p:nvPr/>
        </p:nvSpPr>
        <p:spPr>
          <a:xfrm>
            <a:off x="4608576" y="3687721"/>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51" name="Text 49"/>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2" name="Text 50"/>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3" name="Shape 51"/>
          <p:cNvSpPr/>
          <p:nvPr/>
        </p:nvSpPr>
        <p:spPr>
          <a:xfrm>
            <a:off x="3008376" y="3967420"/>
            <a:ext cx="822175" cy="111880"/>
          </a:xfrm>
          <a:prstGeom prst="rect">
            <a:avLst/>
          </a:prstGeom>
          <a:solidFill>
            <a:srgbClr val="12A566"/>
          </a:solidFill>
          <a:ln/>
        </p:spPr>
      </p:sp>
      <p:sp>
        <p:nvSpPr>
          <p:cNvPr id="54" name="Text 52"/>
          <p:cNvSpPr txBox="1"/>
          <p:nvPr/>
        </p:nvSpPr>
        <p:spPr>
          <a:xfrm>
            <a:off x="3931920" y="391148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93.7%</a:t>
            </a:r>
            <a:endParaRPr lang="en-US" sz="1200" dirty="0"/>
          </a:p>
        </p:txBody>
      </p:sp>
      <p:sp>
        <p:nvSpPr>
          <p:cNvPr id="55" name="Text 53"/>
          <p:cNvSpPr txBox="1"/>
          <p:nvPr/>
        </p:nvSpPr>
        <p:spPr>
          <a:xfrm>
            <a:off x="4608576" y="391148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UpdatePromise</a:t>
            </a:r>
            <a:endParaRPr lang="en-US" sz="1200" dirty="0"/>
          </a:p>
        </p:txBody>
      </p:sp>
      <p:sp>
        <p:nvSpPr>
          <p:cNvPr id="56" name="Text 54"/>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57" name="Text 55"/>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8" name="Shape 56"/>
          <p:cNvSpPr/>
          <p:nvPr/>
        </p:nvSpPr>
        <p:spPr>
          <a:xfrm>
            <a:off x="3008376" y="4191179"/>
            <a:ext cx="817788" cy="111880"/>
          </a:xfrm>
          <a:prstGeom prst="rect">
            <a:avLst/>
          </a:prstGeom>
          <a:solidFill>
            <a:srgbClr val="12A566"/>
          </a:solidFill>
          <a:ln/>
        </p:spPr>
      </p:sp>
      <p:sp>
        <p:nvSpPr>
          <p:cNvPr id="59" name="Text 57"/>
          <p:cNvSpPr txBox="1"/>
          <p:nvPr/>
        </p:nvSpPr>
        <p:spPr>
          <a:xfrm>
            <a:off x="3931920" y="413524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93.2%</a:t>
            </a:r>
            <a:endParaRPr lang="en-US" sz="1200" dirty="0"/>
          </a:p>
        </p:txBody>
      </p:sp>
      <p:sp>
        <p:nvSpPr>
          <p:cNvPr id="60" name="Text 58"/>
          <p:cNvSpPr txBox="1"/>
          <p:nvPr/>
        </p:nvSpPr>
        <p:spPr>
          <a:xfrm>
            <a:off x="4608576" y="413524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61" name="Text 59"/>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2" name="Text 60"/>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3" name="Shape 61"/>
          <p:cNvSpPr/>
          <p:nvPr/>
        </p:nvSpPr>
        <p:spPr>
          <a:xfrm>
            <a:off x="3008376" y="4414938"/>
            <a:ext cx="805503" cy="111880"/>
          </a:xfrm>
          <a:prstGeom prst="rect">
            <a:avLst/>
          </a:prstGeom>
          <a:solidFill>
            <a:srgbClr val="12A566"/>
          </a:solidFill>
          <a:ln/>
        </p:spPr>
      </p:sp>
      <p:sp>
        <p:nvSpPr>
          <p:cNvPr id="64" name="Text 62"/>
          <p:cNvSpPr txBox="1"/>
          <p:nvPr/>
        </p:nvSpPr>
        <p:spPr>
          <a:xfrm>
            <a:off x="3931920" y="4358999"/>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91.8%</a:t>
            </a:r>
            <a:endParaRPr lang="en-US" sz="1200" dirty="0"/>
          </a:p>
        </p:txBody>
      </p:sp>
      <p:sp>
        <p:nvSpPr>
          <p:cNvPr id="65" name="Text 63"/>
          <p:cNvSpPr txBox="1"/>
          <p:nvPr/>
        </p:nvSpPr>
        <p:spPr>
          <a:xfrm>
            <a:off x="4608576" y="4358999"/>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66" name="Text 64"/>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67" name="Text 65"/>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8" name="Shape 66"/>
          <p:cNvSpPr/>
          <p:nvPr/>
        </p:nvSpPr>
        <p:spPr>
          <a:xfrm>
            <a:off x="3008376" y="4638697"/>
            <a:ext cx="804626" cy="111880"/>
          </a:xfrm>
          <a:prstGeom prst="rect">
            <a:avLst/>
          </a:prstGeom>
          <a:solidFill>
            <a:srgbClr val="12A566"/>
          </a:solidFill>
          <a:ln/>
        </p:spPr>
      </p:sp>
      <p:sp>
        <p:nvSpPr>
          <p:cNvPr id="69" name="Text 67"/>
          <p:cNvSpPr txBox="1"/>
          <p:nvPr/>
        </p:nvSpPr>
        <p:spPr>
          <a:xfrm>
            <a:off x="3931920" y="458275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91.7%</a:t>
            </a:r>
            <a:endParaRPr lang="en-US" sz="1200" dirty="0"/>
          </a:p>
        </p:txBody>
      </p:sp>
      <p:sp>
        <p:nvSpPr>
          <p:cNvPr id="70" name="Text 68"/>
          <p:cNvSpPr txBox="1"/>
          <p:nvPr/>
        </p:nvSpPr>
        <p:spPr>
          <a:xfrm>
            <a:off x="4608576" y="458275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71" name="Text 69"/>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2" name="Text 70"/>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3" name="Shape 71"/>
          <p:cNvSpPr/>
          <p:nvPr/>
        </p:nvSpPr>
        <p:spPr>
          <a:xfrm>
            <a:off x="3008376" y="4862456"/>
            <a:ext cx="780935" cy="111880"/>
          </a:xfrm>
          <a:prstGeom prst="rect">
            <a:avLst/>
          </a:prstGeom>
          <a:solidFill>
            <a:srgbClr val="C2352F"/>
          </a:solidFill>
          <a:ln/>
        </p:spPr>
      </p:sp>
      <p:sp>
        <p:nvSpPr>
          <p:cNvPr id="74" name="Text 72"/>
          <p:cNvSpPr txBox="1"/>
          <p:nvPr/>
        </p:nvSpPr>
        <p:spPr>
          <a:xfrm>
            <a:off x="3931920"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89.0%</a:t>
            </a:r>
            <a:endParaRPr lang="en-US" sz="1200" dirty="0"/>
          </a:p>
        </p:txBody>
      </p:sp>
      <p:sp>
        <p:nvSpPr>
          <p:cNvPr id="75" name="Text 73"/>
          <p:cNvSpPr txBox="1"/>
          <p:nvPr/>
        </p:nvSpPr>
        <p:spPr>
          <a:xfrm>
            <a:off x="4608576" y="480651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76" name="Text 74"/>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77" name="Text 75"/>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78" name="Shape 76"/>
          <p:cNvSpPr/>
          <p:nvPr/>
        </p:nvSpPr>
        <p:spPr>
          <a:xfrm>
            <a:off x="3008376" y="5086216"/>
            <a:ext cx="768650" cy="111880"/>
          </a:xfrm>
          <a:prstGeom prst="rect">
            <a:avLst/>
          </a:prstGeom>
          <a:solidFill>
            <a:srgbClr val="C2352F"/>
          </a:solidFill>
          <a:ln/>
        </p:spPr>
      </p:sp>
      <p:sp>
        <p:nvSpPr>
          <p:cNvPr id="79" name="Text 77"/>
          <p:cNvSpPr txBox="1"/>
          <p:nvPr/>
        </p:nvSpPr>
        <p:spPr>
          <a:xfrm>
            <a:off x="3931920"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87.6%</a:t>
            </a:r>
            <a:endParaRPr lang="en-US" sz="1200" dirty="0"/>
          </a:p>
        </p:txBody>
      </p:sp>
      <p:sp>
        <p:nvSpPr>
          <p:cNvPr id="80" name="Text 78"/>
          <p:cNvSpPr txBox="1"/>
          <p:nvPr/>
        </p:nvSpPr>
        <p:spPr>
          <a:xfrm>
            <a:off x="4608576" y="503027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1" name="Text 79"/>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2" name="Text 80"/>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3" name="Shape 81"/>
          <p:cNvSpPr/>
          <p:nvPr/>
        </p:nvSpPr>
        <p:spPr>
          <a:xfrm>
            <a:off x="3008376" y="5309975"/>
            <a:ext cx="757243" cy="111880"/>
          </a:xfrm>
          <a:prstGeom prst="rect">
            <a:avLst/>
          </a:prstGeom>
          <a:solidFill>
            <a:srgbClr val="C2352F"/>
          </a:solidFill>
          <a:ln/>
        </p:spPr>
      </p:sp>
      <p:sp>
        <p:nvSpPr>
          <p:cNvPr id="84" name="Text 82"/>
          <p:cNvSpPr txBox="1"/>
          <p:nvPr/>
        </p:nvSpPr>
        <p:spPr>
          <a:xfrm>
            <a:off x="3931920"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86.3%</a:t>
            </a:r>
            <a:endParaRPr lang="en-US" sz="1200" dirty="0"/>
          </a:p>
        </p:txBody>
      </p:sp>
      <p:sp>
        <p:nvSpPr>
          <p:cNvPr id="85" name="Text 83"/>
          <p:cNvSpPr txBox="1"/>
          <p:nvPr/>
        </p:nvSpPr>
        <p:spPr>
          <a:xfrm>
            <a:off x="4608576" y="525403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6" name="Text 84"/>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87" name="Text 85"/>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8" name="Shape 86"/>
          <p:cNvSpPr/>
          <p:nvPr/>
        </p:nvSpPr>
        <p:spPr>
          <a:xfrm>
            <a:off x="3008376" y="5533734"/>
            <a:ext cx="741449" cy="111880"/>
          </a:xfrm>
          <a:prstGeom prst="rect">
            <a:avLst/>
          </a:prstGeom>
          <a:solidFill>
            <a:srgbClr val="C2352F"/>
          </a:solidFill>
          <a:ln/>
        </p:spPr>
      </p:sp>
      <p:sp>
        <p:nvSpPr>
          <p:cNvPr id="89" name="Text 87"/>
          <p:cNvSpPr txBox="1"/>
          <p:nvPr/>
        </p:nvSpPr>
        <p:spPr>
          <a:xfrm>
            <a:off x="3931920"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84.5%</a:t>
            </a:r>
            <a:endParaRPr lang="en-US" sz="1200" dirty="0"/>
          </a:p>
        </p:txBody>
      </p:sp>
      <p:sp>
        <p:nvSpPr>
          <p:cNvPr id="90" name="Text 88"/>
          <p:cNvSpPr txBox="1"/>
          <p:nvPr/>
        </p:nvSpPr>
        <p:spPr>
          <a:xfrm>
            <a:off x="4608576" y="547779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91" name="Text 89"/>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2" name="Text 90"/>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3" name="Shape 91"/>
          <p:cNvSpPr/>
          <p:nvPr/>
        </p:nvSpPr>
        <p:spPr>
          <a:xfrm>
            <a:off x="3008376" y="5757493"/>
            <a:ext cx="731797" cy="111880"/>
          </a:xfrm>
          <a:prstGeom prst="rect">
            <a:avLst/>
          </a:prstGeom>
          <a:solidFill>
            <a:srgbClr val="C2352F"/>
          </a:solidFill>
          <a:ln/>
        </p:spPr>
      </p:sp>
      <p:sp>
        <p:nvSpPr>
          <p:cNvPr id="94" name="Text 92"/>
          <p:cNvSpPr txBox="1"/>
          <p:nvPr/>
        </p:nvSpPr>
        <p:spPr>
          <a:xfrm>
            <a:off x="3931920" y="5701553"/>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83.4%</a:t>
            </a:r>
            <a:endParaRPr lang="en-US" sz="1200" dirty="0"/>
          </a:p>
        </p:txBody>
      </p:sp>
      <p:sp>
        <p:nvSpPr>
          <p:cNvPr id="95" name="Text 93"/>
          <p:cNvSpPr txBox="1"/>
          <p:nvPr/>
        </p:nvSpPr>
        <p:spPr>
          <a:xfrm>
            <a:off x="4608576" y="570155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96" name="Text 94"/>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97" name="Text 95"/>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98" name="Shape 96"/>
          <p:cNvSpPr/>
          <p:nvPr/>
        </p:nvSpPr>
        <p:spPr>
          <a:xfrm>
            <a:off x="8558784" y="2177348"/>
            <a:ext cx="723900" cy="111880"/>
          </a:xfrm>
          <a:prstGeom prst="rect">
            <a:avLst/>
          </a:prstGeom>
          <a:solidFill>
            <a:srgbClr val="C2352F"/>
          </a:solidFill>
          <a:ln/>
        </p:spPr>
      </p:sp>
      <p:sp>
        <p:nvSpPr>
          <p:cNvPr id="99" name="Text 97"/>
          <p:cNvSpPr txBox="1"/>
          <p:nvPr/>
        </p:nvSpPr>
        <p:spPr>
          <a:xfrm>
            <a:off x="9482328" y="212140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82.5%</a:t>
            </a:r>
            <a:endParaRPr lang="en-US" sz="1200" dirty="0"/>
          </a:p>
        </p:txBody>
      </p:sp>
      <p:sp>
        <p:nvSpPr>
          <p:cNvPr id="100" name="Text 98"/>
          <p:cNvSpPr txBox="1"/>
          <p:nvPr/>
        </p:nvSpPr>
        <p:spPr>
          <a:xfrm>
            <a:off x="10158984" y="212140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01" name="Text 99"/>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2" name="Text 100"/>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3" name="Shape 101"/>
          <p:cNvSpPr/>
          <p:nvPr/>
        </p:nvSpPr>
        <p:spPr>
          <a:xfrm>
            <a:off x="8558784" y="2401107"/>
            <a:ext cx="716880" cy="111880"/>
          </a:xfrm>
          <a:prstGeom prst="rect">
            <a:avLst/>
          </a:prstGeom>
          <a:solidFill>
            <a:srgbClr val="C2352F"/>
          </a:solidFill>
          <a:ln/>
        </p:spPr>
      </p:sp>
      <p:sp>
        <p:nvSpPr>
          <p:cNvPr id="104" name="Text 102"/>
          <p:cNvSpPr txBox="1"/>
          <p:nvPr/>
        </p:nvSpPr>
        <p:spPr>
          <a:xfrm>
            <a:off x="9482328" y="234516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81.7%</a:t>
            </a:r>
            <a:endParaRPr lang="en-US" sz="1200" dirty="0"/>
          </a:p>
        </p:txBody>
      </p:sp>
      <p:sp>
        <p:nvSpPr>
          <p:cNvPr id="105" name="Text 103"/>
          <p:cNvSpPr txBox="1"/>
          <p:nvPr/>
        </p:nvSpPr>
        <p:spPr>
          <a:xfrm>
            <a:off x="10158984" y="234516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WiAdvisor</a:t>
            </a:r>
            <a:endParaRPr lang="en-US" sz="1200" dirty="0"/>
          </a:p>
        </p:txBody>
      </p:sp>
      <p:sp>
        <p:nvSpPr>
          <p:cNvPr id="106" name="Text 104"/>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07" name="Text 105"/>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08" name="Shape 106"/>
          <p:cNvSpPr/>
          <p:nvPr/>
        </p:nvSpPr>
        <p:spPr>
          <a:xfrm>
            <a:off x="8558784" y="2624866"/>
            <a:ext cx="715125" cy="111880"/>
          </a:xfrm>
          <a:prstGeom prst="rect">
            <a:avLst/>
          </a:prstGeom>
          <a:solidFill>
            <a:srgbClr val="C2352F"/>
          </a:solidFill>
          <a:ln/>
        </p:spPr>
      </p:sp>
      <p:sp>
        <p:nvSpPr>
          <p:cNvPr id="109" name="Text 107"/>
          <p:cNvSpPr txBox="1"/>
          <p:nvPr/>
        </p:nvSpPr>
        <p:spPr>
          <a:xfrm>
            <a:off x="9482328" y="256892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81.5%</a:t>
            </a:r>
            <a:endParaRPr lang="en-US" sz="1200" dirty="0"/>
          </a:p>
        </p:txBody>
      </p:sp>
      <p:sp>
        <p:nvSpPr>
          <p:cNvPr id="110" name="Text 108"/>
          <p:cNvSpPr txBox="1"/>
          <p:nvPr/>
        </p:nvSpPr>
        <p:spPr>
          <a:xfrm>
            <a:off x="10158984" y="256892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11" name="Text 109"/>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2" name="Text 110"/>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13" name="Shape 111"/>
          <p:cNvSpPr/>
          <p:nvPr/>
        </p:nvSpPr>
        <p:spPr>
          <a:xfrm>
            <a:off x="8558784" y="2848625"/>
            <a:ext cx="714248" cy="111880"/>
          </a:xfrm>
          <a:prstGeom prst="rect">
            <a:avLst/>
          </a:prstGeom>
          <a:solidFill>
            <a:srgbClr val="C2352F"/>
          </a:solidFill>
          <a:ln/>
        </p:spPr>
      </p:sp>
      <p:sp>
        <p:nvSpPr>
          <p:cNvPr id="114" name="Text 112"/>
          <p:cNvSpPr txBox="1"/>
          <p:nvPr/>
        </p:nvSpPr>
        <p:spPr>
          <a:xfrm>
            <a:off x="9482328" y="279268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81.4%</a:t>
            </a:r>
            <a:endParaRPr lang="en-US" sz="1200" dirty="0"/>
          </a:p>
        </p:txBody>
      </p:sp>
      <p:sp>
        <p:nvSpPr>
          <p:cNvPr id="115" name="Text 113"/>
          <p:cNvSpPr txBox="1"/>
          <p:nvPr/>
        </p:nvSpPr>
        <p:spPr>
          <a:xfrm>
            <a:off x="10158984" y="279268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16" name="Text 114"/>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17" name="Text 115"/>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8" name="Shape 116"/>
          <p:cNvSpPr/>
          <p:nvPr/>
        </p:nvSpPr>
        <p:spPr>
          <a:xfrm>
            <a:off x="8558784" y="3072384"/>
            <a:ext cx="713371" cy="111880"/>
          </a:xfrm>
          <a:prstGeom prst="rect">
            <a:avLst/>
          </a:prstGeom>
          <a:solidFill>
            <a:srgbClr val="C2352F"/>
          </a:solidFill>
          <a:ln/>
        </p:spPr>
      </p:sp>
      <p:sp>
        <p:nvSpPr>
          <p:cNvPr id="119" name="Text 117"/>
          <p:cNvSpPr txBox="1"/>
          <p:nvPr/>
        </p:nvSpPr>
        <p:spPr>
          <a:xfrm>
            <a:off x="9482328" y="301644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81.3%</a:t>
            </a:r>
            <a:endParaRPr lang="en-US" sz="1200" dirty="0"/>
          </a:p>
        </p:txBody>
      </p:sp>
      <p:sp>
        <p:nvSpPr>
          <p:cNvPr id="120" name="Text 118"/>
          <p:cNvSpPr txBox="1"/>
          <p:nvPr/>
        </p:nvSpPr>
        <p:spPr>
          <a:xfrm>
            <a:off x="10158984" y="301644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Service</a:t>
            </a:r>
            <a:endParaRPr lang="en-US" sz="1200" dirty="0"/>
          </a:p>
        </p:txBody>
      </p:sp>
      <p:sp>
        <p:nvSpPr>
          <p:cNvPr id="121" name="Text 119"/>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2" name="Text 120"/>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23" name="Shape 121"/>
          <p:cNvSpPr/>
          <p:nvPr/>
        </p:nvSpPr>
        <p:spPr>
          <a:xfrm>
            <a:off x="8558784" y="3296143"/>
            <a:ext cx="693189" cy="111880"/>
          </a:xfrm>
          <a:prstGeom prst="rect">
            <a:avLst/>
          </a:prstGeom>
          <a:solidFill>
            <a:srgbClr val="C2352F"/>
          </a:solidFill>
          <a:ln/>
        </p:spPr>
      </p:sp>
      <p:sp>
        <p:nvSpPr>
          <p:cNvPr id="124" name="Text 122"/>
          <p:cNvSpPr txBox="1"/>
          <p:nvPr/>
        </p:nvSpPr>
        <p:spPr>
          <a:xfrm>
            <a:off x="9482328" y="3240203"/>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79.0%</a:t>
            </a:r>
            <a:endParaRPr lang="en-US" sz="1200" dirty="0"/>
          </a:p>
        </p:txBody>
      </p:sp>
      <p:sp>
        <p:nvSpPr>
          <p:cNvPr id="125" name="Text 123"/>
          <p:cNvSpPr txBox="1"/>
          <p:nvPr/>
        </p:nvSpPr>
        <p:spPr>
          <a:xfrm>
            <a:off x="10158984" y="324020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26" name="Text 124"/>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27" name="Text 125"/>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28" name="Shape 126"/>
          <p:cNvSpPr/>
          <p:nvPr/>
        </p:nvSpPr>
        <p:spPr>
          <a:xfrm>
            <a:off x="8558784" y="3519902"/>
            <a:ext cx="667743" cy="111880"/>
          </a:xfrm>
          <a:prstGeom prst="rect">
            <a:avLst/>
          </a:prstGeom>
          <a:solidFill>
            <a:srgbClr val="C2352F"/>
          </a:solidFill>
          <a:ln/>
        </p:spPr>
      </p:sp>
      <p:sp>
        <p:nvSpPr>
          <p:cNvPr id="129" name="Text 127"/>
          <p:cNvSpPr txBox="1"/>
          <p:nvPr/>
        </p:nvSpPr>
        <p:spPr>
          <a:xfrm>
            <a:off x="9482328" y="3463962"/>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76.1%</a:t>
            </a:r>
            <a:endParaRPr lang="en-US" sz="1200" dirty="0"/>
          </a:p>
        </p:txBody>
      </p:sp>
      <p:sp>
        <p:nvSpPr>
          <p:cNvPr id="130" name="Text 128"/>
          <p:cNvSpPr txBox="1"/>
          <p:nvPr/>
        </p:nvSpPr>
        <p:spPr>
          <a:xfrm>
            <a:off x="10158984" y="3463962"/>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1" name="Text 129"/>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2" name="Text 130"/>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3" name="Shape 131"/>
          <p:cNvSpPr/>
          <p:nvPr/>
        </p:nvSpPr>
        <p:spPr>
          <a:xfrm>
            <a:off x="8558784" y="3743661"/>
            <a:ext cx="640542" cy="111880"/>
          </a:xfrm>
          <a:prstGeom prst="rect">
            <a:avLst/>
          </a:prstGeom>
          <a:solidFill>
            <a:srgbClr val="C2352F"/>
          </a:solidFill>
          <a:ln/>
        </p:spPr>
      </p:sp>
      <p:sp>
        <p:nvSpPr>
          <p:cNvPr id="134" name="Text 132"/>
          <p:cNvSpPr txBox="1"/>
          <p:nvPr/>
        </p:nvSpPr>
        <p:spPr>
          <a:xfrm>
            <a:off x="9482328" y="3687721"/>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73.0%</a:t>
            </a:r>
            <a:endParaRPr lang="en-US" sz="1200" dirty="0"/>
          </a:p>
        </p:txBody>
      </p:sp>
      <p:sp>
        <p:nvSpPr>
          <p:cNvPr id="135" name="Text 133"/>
          <p:cNvSpPr txBox="1"/>
          <p:nvPr/>
        </p:nvSpPr>
        <p:spPr>
          <a:xfrm>
            <a:off x="10158984" y="3687721"/>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6" name="Text 134"/>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37" name="Text 135"/>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38" name="Shape 136"/>
          <p:cNvSpPr/>
          <p:nvPr/>
        </p:nvSpPr>
        <p:spPr>
          <a:xfrm>
            <a:off x="8558784" y="3967420"/>
            <a:ext cx="624748" cy="111880"/>
          </a:xfrm>
          <a:prstGeom prst="rect">
            <a:avLst/>
          </a:prstGeom>
          <a:solidFill>
            <a:srgbClr val="C2352F"/>
          </a:solidFill>
          <a:ln/>
        </p:spPr>
      </p:sp>
      <p:sp>
        <p:nvSpPr>
          <p:cNvPr id="139" name="Text 137"/>
          <p:cNvSpPr txBox="1"/>
          <p:nvPr/>
        </p:nvSpPr>
        <p:spPr>
          <a:xfrm>
            <a:off x="9482328" y="391148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71.2%</a:t>
            </a:r>
            <a:endParaRPr lang="en-US" sz="1200" dirty="0"/>
          </a:p>
        </p:txBody>
      </p:sp>
      <p:sp>
        <p:nvSpPr>
          <p:cNvPr id="140" name="Text 138"/>
          <p:cNvSpPr txBox="1"/>
          <p:nvPr/>
        </p:nvSpPr>
        <p:spPr>
          <a:xfrm>
            <a:off x="10158984" y="391148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41" name="Text 139"/>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2" name="Text 140"/>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43" name="Shape 141"/>
          <p:cNvSpPr/>
          <p:nvPr/>
        </p:nvSpPr>
        <p:spPr>
          <a:xfrm>
            <a:off x="8558784" y="4191179"/>
            <a:ext cx="623870" cy="111880"/>
          </a:xfrm>
          <a:prstGeom prst="rect">
            <a:avLst/>
          </a:prstGeom>
          <a:solidFill>
            <a:srgbClr val="C2352F"/>
          </a:solidFill>
          <a:ln/>
        </p:spPr>
      </p:sp>
      <p:sp>
        <p:nvSpPr>
          <p:cNvPr id="144" name="Text 142"/>
          <p:cNvSpPr txBox="1"/>
          <p:nvPr/>
        </p:nvSpPr>
        <p:spPr>
          <a:xfrm>
            <a:off x="9482328" y="413524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71.1%</a:t>
            </a:r>
            <a:endParaRPr lang="en-US" sz="1200" dirty="0"/>
          </a:p>
        </p:txBody>
      </p:sp>
      <p:sp>
        <p:nvSpPr>
          <p:cNvPr id="145" name="Text 143"/>
          <p:cNvSpPr txBox="1"/>
          <p:nvPr/>
        </p:nvSpPr>
        <p:spPr>
          <a:xfrm>
            <a:off x="10158984" y="413524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46" name="Text 144"/>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47" name="Text 145"/>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48" name="Shape 146"/>
          <p:cNvSpPr/>
          <p:nvPr/>
        </p:nvSpPr>
        <p:spPr>
          <a:xfrm>
            <a:off x="8558784" y="4414938"/>
            <a:ext cx="601056" cy="111880"/>
          </a:xfrm>
          <a:prstGeom prst="rect">
            <a:avLst/>
          </a:prstGeom>
          <a:solidFill>
            <a:srgbClr val="C2352F"/>
          </a:solidFill>
          <a:ln/>
        </p:spPr>
      </p:sp>
      <p:sp>
        <p:nvSpPr>
          <p:cNvPr id="149" name="Text 147"/>
          <p:cNvSpPr txBox="1"/>
          <p:nvPr/>
        </p:nvSpPr>
        <p:spPr>
          <a:xfrm>
            <a:off x="9482328" y="4358999"/>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68.5%</a:t>
            </a:r>
            <a:endParaRPr lang="en-US" sz="1200" dirty="0"/>
          </a:p>
        </p:txBody>
      </p:sp>
      <p:sp>
        <p:nvSpPr>
          <p:cNvPr id="150" name="Text 148"/>
          <p:cNvSpPr txBox="1"/>
          <p:nvPr/>
        </p:nvSpPr>
        <p:spPr>
          <a:xfrm>
            <a:off x="10158984" y="4358999"/>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51" name="Text 149"/>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2" name="Text 150"/>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53" name="Shape 151"/>
          <p:cNvSpPr/>
          <p:nvPr/>
        </p:nvSpPr>
        <p:spPr>
          <a:xfrm>
            <a:off x="8558784" y="4638697"/>
            <a:ext cx="550164" cy="111880"/>
          </a:xfrm>
          <a:prstGeom prst="rect">
            <a:avLst/>
          </a:prstGeom>
          <a:solidFill>
            <a:srgbClr val="C2352F"/>
          </a:solidFill>
          <a:ln/>
        </p:spPr>
      </p:sp>
      <p:sp>
        <p:nvSpPr>
          <p:cNvPr id="154" name="Text 152"/>
          <p:cNvSpPr txBox="1"/>
          <p:nvPr/>
        </p:nvSpPr>
        <p:spPr>
          <a:xfrm>
            <a:off x="9482328" y="458275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62.7%</a:t>
            </a:r>
            <a:endParaRPr lang="en-US" sz="1200" dirty="0"/>
          </a:p>
        </p:txBody>
      </p:sp>
      <p:sp>
        <p:nvSpPr>
          <p:cNvPr id="155" name="Text 153"/>
          <p:cNvSpPr txBox="1"/>
          <p:nvPr/>
        </p:nvSpPr>
        <p:spPr>
          <a:xfrm>
            <a:off x="10158984" y="458275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56" name="Text 154"/>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57" name="Text 155"/>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58" name="Shape 156"/>
          <p:cNvSpPr/>
          <p:nvPr/>
        </p:nvSpPr>
        <p:spPr>
          <a:xfrm>
            <a:off x="8558784" y="4862456"/>
            <a:ext cx="534370" cy="111880"/>
          </a:xfrm>
          <a:prstGeom prst="rect">
            <a:avLst/>
          </a:prstGeom>
          <a:solidFill>
            <a:srgbClr val="C2352F"/>
          </a:solidFill>
          <a:ln/>
        </p:spPr>
      </p:sp>
      <p:sp>
        <p:nvSpPr>
          <p:cNvPr id="159" name="Text 157"/>
          <p:cNvSpPr txBox="1"/>
          <p:nvPr/>
        </p:nvSpPr>
        <p:spPr>
          <a:xfrm>
            <a:off x="9482328"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60.9%</a:t>
            </a:r>
            <a:endParaRPr lang="en-US" sz="1200" dirty="0"/>
          </a:p>
        </p:txBody>
      </p:sp>
      <p:sp>
        <p:nvSpPr>
          <p:cNvPr id="160" name="Text 158"/>
          <p:cNvSpPr txBox="1"/>
          <p:nvPr/>
        </p:nvSpPr>
        <p:spPr>
          <a:xfrm>
            <a:off x="10158984" y="480651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61" name="Text 159"/>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2" name="Text 160"/>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63" name="Shape 161"/>
          <p:cNvSpPr/>
          <p:nvPr/>
        </p:nvSpPr>
        <p:spPr>
          <a:xfrm>
            <a:off x="8558784" y="5086216"/>
            <a:ext cx="435217" cy="111880"/>
          </a:xfrm>
          <a:prstGeom prst="rect">
            <a:avLst/>
          </a:prstGeom>
          <a:solidFill>
            <a:srgbClr val="C2352F"/>
          </a:solidFill>
          <a:ln/>
        </p:spPr>
      </p:sp>
      <p:sp>
        <p:nvSpPr>
          <p:cNvPr id="164" name="Text 162"/>
          <p:cNvSpPr txBox="1"/>
          <p:nvPr/>
        </p:nvSpPr>
        <p:spPr>
          <a:xfrm>
            <a:off x="9482328"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49.6%</a:t>
            </a:r>
            <a:endParaRPr lang="en-US" sz="1200" dirty="0"/>
          </a:p>
        </p:txBody>
      </p:sp>
      <p:sp>
        <p:nvSpPr>
          <p:cNvPr id="165" name="Text 163"/>
          <p:cNvSpPr txBox="1"/>
          <p:nvPr/>
        </p:nvSpPr>
        <p:spPr>
          <a:xfrm>
            <a:off x="10158984" y="503027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Service</a:t>
            </a:r>
            <a:endParaRPr lang="en-US" sz="1200" dirty="0"/>
          </a:p>
        </p:txBody>
      </p:sp>
      <p:sp>
        <p:nvSpPr>
          <p:cNvPr id="166" name="Text 164"/>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67" name="Text 165"/>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68" name="Shape 166"/>
          <p:cNvSpPr/>
          <p:nvPr/>
        </p:nvSpPr>
        <p:spPr>
          <a:xfrm>
            <a:off x="8558784" y="5309975"/>
            <a:ext cx="400997" cy="111880"/>
          </a:xfrm>
          <a:prstGeom prst="rect">
            <a:avLst/>
          </a:prstGeom>
          <a:solidFill>
            <a:srgbClr val="C2352F"/>
          </a:solidFill>
          <a:ln/>
        </p:spPr>
      </p:sp>
      <p:sp>
        <p:nvSpPr>
          <p:cNvPr id="169" name="Text 167"/>
          <p:cNvSpPr txBox="1"/>
          <p:nvPr/>
        </p:nvSpPr>
        <p:spPr>
          <a:xfrm>
            <a:off x="9482328"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45.7%</a:t>
            </a:r>
            <a:endParaRPr lang="en-US" sz="1200" dirty="0"/>
          </a:p>
        </p:txBody>
      </p:sp>
      <p:sp>
        <p:nvSpPr>
          <p:cNvPr id="170" name="Text 168"/>
          <p:cNvSpPr txBox="1"/>
          <p:nvPr/>
        </p:nvSpPr>
        <p:spPr>
          <a:xfrm>
            <a:off x="10158984" y="525403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71" name="Text 169"/>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2" name="Text 170"/>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73" name="Shape 171"/>
          <p:cNvSpPr/>
          <p:nvPr/>
        </p:nvSpPr>
        <p:spPr>
          <a:xfrm>
            <a:off x="8558784" y="5533734"/>
            <a:ext cx="355369" cy="111880"/>
          </a:xfrm>
          <a:prstGeom prst="rect">
            <a:avLst/>
          </a:prstGeom>
          <a:solidFill>
            <a:srgbClr val="C2352F"/>
          </a:solidFill>
          <a:ln/>
        </p:spPr>
      </p:sp>
      <p:sp>
        <p:nvSpPr>
          <p:cNvPr id="174" name="Text 172"/>
          <p:cNvSpPr txBox="1"/>
          <p:nvPr/>
        </p:nvSpPr>
        <p:spPr>
          <a:xfrm>
            <a:off x="9482328"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40.5%</a:t>
            </a:r>
            <a:endParaRPr lang="en-US" sz="1200" dirty="0"/>
          </a:p>
        </p:txBody>
      </p:sp>
      <p:sp>
        <p:nvSpPr>
          <p:cNvPr id="175" name="Text 173"/>
          <p:cNvSpPr txBox="1"/>
          <p:nvPr/>
        </p:nvSpPr>
        <p:spPr>
          <a:xfrm>
            <a:off x="10158984" y="547779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76" name="Text 174"/>
          <p:cNvSpPr txBox="1"/>
          <p:nvPr/>
        </p:nvSpPr>
        <p:spPr>
          <a:xfrm>
            <a:off x="3931920"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77" name="Text 175"/>
          <p:cNvSpPr txBox="1"/>
          <p:nvPr/>
        </p:nvSpPr>
        <p:spPr>
          <a:xfrm>
            <a:off x="4608576"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78" name="Text 176"/>
          <p:cNvSpPr txBox="1"/>
          <p:nvPr/>
        </p:nvSpPr>
        <p:spPr>
          <a:xfrm>
            <a:off x="9482328"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79" name="Text 177"/>
          <p:cNvSpPr txBox="1"/>
          <p:nvPr/>
        </p:nvSpPr>
        <p:spPr>
          <a:xfrm>
            <a:off x="10158984"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80" name="Shape 178"/>
          <p:cNvSpPr/>
          <p:nvPr/>
        </p:nvSpPr>
        <p:spPr>
          <a:xfrm>
            <a:off x="3790770" y="2121408"/>
            <a:ext cx="14630" cy="3803904"/>
          </a:xfrm>
          <a:prstGeom prst="rect">
            <a:avLst/>
          </a:prstGeom>
          <a:solidFill>
            <a:srgbClr val="0B2C4A"/>
          </a:solidFill>
          <a:ln/>
        </p:spPr>
      </p:sp>
      <p:sp>
        <p:nvSpPr>
          <p:cNvPr id="181" name="Shape 179"/>
          <p:cNvSpPr/>
          <p:nvPr/>
        </p:nvSpPr>
        <p:spPr>
          <a:xfrm>
            <a:off x="9341178" y="2121408"/>
            <a:ext cx="14630" cy="3803904"/>
          </a:xfrm>
          <a:prstGeom prst="rect">
            <a:avLst/>
          </a:prstGeom>
          <a:solidFill>
            <a:srgbClr val="0B2C4A"/>
          </a:solidFill>
          <a:ln/>
        </p:spPr>
      </p:sp>
      <p:sp>
        <p:nvSpPr>
          <p:cNvPr id="182" name="Shape 180"/>
          <p:cNvSpPr/>
          <p:nvPr/>
        </p:nvSpPr>
        <p:spPr>
          <a:xfrm>
            <a:off x="6085332" y="2121408"/>
            <a:ext cx="10973" cy="3803904"/>
          </a:xfrm>
          <a:prstGeom prst="rect">
            <a:avLst/>
          </a:prstGeom>
          <a:solidFill>
            <a:srgbClr val="D9D9D9"/>
          </a:solidFill>
          <a:ln/>
        </p:spPr>
      </p:sp>
      <p:sp>
        <p:nvSpPr>
          <p:cNvPr id="183" name="Shape 181"/>
          <p:cNvSpPr/>
          <p:nvPr/>
        </p:nvSpPr>
        <p:spPr>
          <a:xfrm>
            <a:off x="457200" y="6126480"/>
            <a:ext cx="11274552" cy="615696"/>
          </a:xfrm>
          <a:prstGeom prst="rect">
            <a:avLst/>
          </a:prstGeom>
          <a:solidFill>
            <a:srgbClr val="EDF4FA"/>
          </a:solidFill>
          <a:ln/>
        </p:spPr>
      </p:sp>
      <p:sp>
        <p:nvSpPr>
          <p:cNvPr id="184" name="Text 18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12 of 33 stores at or above the 90.0% benchmark; the group is at 81.3%. LR Reno and VW Henderson lead at 99.0%; Cadillac is lowest at 40.5%.</a:t>
            </a:r>
            <a:endParaRPr lang="en-US" sz="1600" dirty="0"/>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Video Completion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VIDEO COMPLETION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JULY–SEPTEMBER 2026</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57.8%</a:t>
            </a:r>
            <a:endParaRPr lang="en-US" sz="2000" dirty="0"/>
          </a:p>
        </p:txBody>
      </p:sp>
      <p:sp>
        <p:nvSpPr>
          <p:cNvPr id="11" name="Text 9"/>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 name="Shape 11"/>
          <p:cNvSpPr/>
          <p:nvPr/>
        </p:nvSpPr>
        <p:spPr>
          <a:xfrm>
            <a:off x="3008376" y="2177348"/>
            <a:ext cx="868680" cy="111880"/>
          </a:xfrm>
          <a:prstGeom prst="rect">
            <a:avLst/>
          </a:prstGeom>
          <a:solidFill>
            <a:srgbClr val="12A566"/>
          </a:solidFill>
          <a:ln/>
        </p:spPr>
      </p:sp>
      <p:sp>
        <p:nvSpPr>
          <p:cNvPr id="14" name="Text 12"/>
          <p:cNvSpPr txBox="1"/>
          <p:nvPr/>
        </p:nvSpPr>
        <p:spPr>
          <a:xfrm>
            <a:off x="3931920"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96.0%</a:t>
            </a:r>
            <a:endParaRPr lang="en-US" sz="1200" dirty="0"/>
          </a:p>
        </p:txBody>
      </p:sp>
      <p:sp>
        <p:nvSpPr>
          <p:cNvPr id="15" name="Text 13"/>
          <p:cNvSpPr txBox="1"/>
          <p:nvPr/>
        </p:nvSpPr>
        <p:spPr>
          <a:xfrm>
            <a:off x="4608576" y="212140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16" name="Text 14"/>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7" name="Text 15"/>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8" name="Shape 16"/>
          <p:cNvSpPr/>
          <p:nvPr/>
        </p:nvSpPr>
        <p:spPr>
          <a:xfrm>
            <a:off x="3008376" y="2401107"/>
            <a:ext cx="832485" cy="111880"/>
          </a:xfrm>
          <a:prstGeom prst="rect">
            <a:avLst/>
          </a:prstGeom>
          <a:solidFill>
            <a:srgbClr val="12A566"/>
          </a:solidFill>
          <a:ln/>
        </p:spPr>
      </p:sp>
      <p:sp>
        <p:nvSpPr>
          <p:cNvPr id="19" name="Text 17"/>
          <p:cNvSpPr txBox="1"/>
          <p:nvPr/>
        </p:nvSpPr>
        <p:spPr>
          <a:xfrm>
            <a:off x="3931920"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92.0%</a:t>
            </a:r>
            <a:endParaRPr lang="en-US" sz="1200" dirty="0"/>
          </a:p>
        </p:txBody>
      </p:sp>
      <p:sp>
        <p:nvSpPr>
          <p:cNvPr id="20" name="Text 18"/>
          <p:cNvSpPr txBox="1"/>
          <p:nvPr/>
        </p:nvSpPr>
        <p:spPr>
          <a:xfrm>
            <a:off x="4608576" y="234516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21" name="Text 19"/>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23" name="Shape 21"/>
          <p:cNvSpPr/>
          <p:nvPr/>
        </p:nvSpPr>
        <p:spPr>
          <a:xfrm>
            <a:off x="3008376" y="2624866"/>
            <a:ext cx="825246" cy="111880"/>
          </a:xfrm>
          <a:prstGeom prst="rect">
            <a:avLst/>
          </a:prstGeom>
          <a:solidFill>
            <a:srgbClr val="12A566"/>
          </a:solidFill>
          <a:ln/>
        </p:spPr>
      </p:sp>
      <p:sp>
        <p:nvSpPr>
          <p:cNvPr id="24" name="Text 22"/>
          <p:cNvSpPr txBox="1"/>
          <p:nvPr/>
        </p:nvSpPr>
        <p:spPr>
          <a:xfrm>
            <a:off x="3931920"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91.2%</a:t>
            </a:r>
            <a:endParaRPr lang="en-US" sz="1200" dirty="0"/>
          </a:p>
        </p:txBody>
      </p:sp>
      <p:sp>
        <p:nvSpPr>
          <p:cNvPr id="25" name="Text 23"/>
          <p:cNvSpPr txBox="1"/>
          <p:nvPr/>
        </p:nvSpPr>
        <p:spPr>
          <a:xfrm>
            <a:off x="4608576" y="256892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26" name="Text 24"/>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7" name="Text 25"/>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8" name="Shape 26"/>
          <p:cNvSpPr/>
          <p:nvPr/>
        </p:nvSpPr>
        <p:spPr>
          <a:xfrm>
            <a:off x="3008376" y="2848625"/>
            <a:ext cx="805339" cy="111880"/>
          </a:xfrm>
          <a:prstGeom prst="rect">
            <a:avLst/>
          </a:prstGeom>
          <a:solidFill>
            <a:srgbClr val="12A566"/>
          </a:solidFill>
          <a:ln/>
        </p:spPr>
      </p:sp>
      <p:sp>
        <p:nvSpPr>
          <p:cNvPr id="29" name="Text 27"/>
          <p:cNvSpPr txBox="1"/>
          <p:nvPr/>
        </p:nvSpPr>
        <p:spPr>
          <a:xfrm>
            <a:off x="3931920"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89.0%</a:t>
            </a:r>
            <a:endParaRPr lang="en-US" sz="1200" dirty="0"/>
          </a:p>
        </p:txBody>
      </p:sp>
      <p:sp>
        <p:nvSpPr>
          <p:cNvPr id="30" name="Text 28"/>
          <p:cNvSpPr txBox="1"/>
          <p:nvPr/>
        </p:nvSpPr>
        <p:spPr>
          <a:xfrm>
            <a:off x="4608576" y="279268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31" name="Text 29"/>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2" name="Text 30"/>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3" name="Shape 31"/>
          <p:cNvSpPr/>
          <p:nvPr/>
        </p:nvSpPr>
        <p:spPr>
          <a:xfrm>
            <a:off x="3008376" y="3072384"/>
            <a:ext cx="805339" cy="111880"/>
          </a:xfrm>
          <a:prstGeom prst="rect">
            <a:avLst/>
          </a:prstGeom>
          <a:solidFill>
            <a:srgbClr val="12A566"/>
          </a:solidFill>
          <a:ln/>
        </p:spPr>
      </p:sp>
      <p:sp>
        <p:nvSpPr>
          <p:cNvPr id="34" name="Text 32"/>
          <p:cNvSpPr txBox="1"/>
          <p:nvPr/>
        </p:nvSpPr>
        <p:spPr>
          <a:xfrm>
            <a:off x="3931920"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89.0%</a:t>
            </a:r>
            <a:endParaRPr lang="en-US" sz="1200" dirty="0"/>
          </a:p>
        </p:txBody>
      </p:sp>
      <p:sp>
        <p:nvSpPr>
          <p:cNvPr id="35" name="Text 33"/>
          <p:cNvSpPr txBox="1"/>
          <p:nvPr/>
        </p:nvSpPr>
        <p:spPr>
          <a:xfrm>
            <a:off x="4608576" y="301644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36" name="Text 34"/>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7" name="Text 35"/>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8" name="Shape 36"/>
          <p:cNvSpPr/>
          <p:nvPr/>
        </p:nvSpPr>
        <p:spPr>
          <a:xfrm>
            <a:off x="3008376" y="3296143"/>
            <a:ext cx="805339" cy="111880"/>
          </a:xfrm>
          <a:prstGeom prst="rect">
            <a:avLst/>
          </a:prstGeom>
          <a:solidFill>
            <a:srgbClr val="12A566"/>
          </a:solidFill>
          <a:ln/>
        </p:spPr>
      </p:sp>
      <p:sp>
        <p:nvSpPr>
          <p:cNvPr id="39" name="Text 37"/>
          <p:cNvSpPr txBox="1"/>
          <p:nvPr/>
        </p:nvSpPr>
        <p:spPr>
          <a:xfrm>
            <a:off x="3931920"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89.0%</a:t>
            </a:r>
            <a:endParaRPr lang="en-US" sz="1200" dirty="0"/>
          </a:p>
        </p:txBody>
      </p:sp>
      <p:sp>
        <p:nvSpPr>
          <p:cNvPr id="40" name="Text 38"/>
          <p:cNvSpPr txBox="1"/>
          <p:nvPr/>
        </p:nvSpPr>
        <p:spPr>
          <a:xfrm>
            <a:off x="4608576" y="324020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41" name="Text 39"/>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2" name="Text 40"/>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3" name="Shape 41"/>
          <p:cNvSpPr/>
          <p:nvPr/>
        </p:nvSpPr>
        <p:spPr>
          <a:xfrm>
            <a:off x="3008376" y="3519902"/>
            <a:ext cx="786336" cy="111880"/>
          </a:xfrm>
          <a:prstGeom prst="rect">
            <a:avLst/>
          </a:prstGeom>
          <a:solidFill>
            <a:srgbClr val="12A566"/>
          </a:solidFill>
          <a:ln/>
        </p:spPr>
      </p:sp>
      <p:sp>
        <p:nvSpPr>
          <p:cNvPr id="44" name="Text 42"/>
          <p:cNvSpPr txBox="1"/>
          <p:nvPr/>
        </p:nvSpPr>
        <p:spPr>
          <a:xfrm>
            <a:off x="3931920"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86.9%</a:t>
            </a:r>
            <a:endParaRPr lang="en-US" sz="1200" dirty="0"/>
          </a:p>
        </p:txBody>
      </p:sp>
      <p:sp>
        <p:nvSpPr>
          <p:cNvPr id="45" name="Text 43"/>
          <p:cNvSpPr txBox="1"/>
          <p:nvPr/>
        </p:nvSpPr>
        <p:spPr>
          <a:xfrm>
            <a:off x="4608576" y="3463962"/>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46" name="Text 44"/>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7" name="Text 45"/>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48" name="Shape 46"/>
          <p:cNvSpPr/>
          <p:nvPr/>
        </p:nvSpPr>
        <p:spPr>
          <a:xfrm>
            <a:off x="3008376" y="3743661"/>
            <a:ext cx="773668" cy="111880"/>
          </a:xfrm>
          <a:prstGeom prst="rect">
            <a:avLst/>
          </a:prstGeom>
          <a:solidFill>
            <a:srgbClr val="12A566"/>
          </a:solidFill>
          <a:ln/>
        </p:spPr>
      </p:sp>
      <p:sp>
        <p:nvSpPr>
          <p:cNvPr id="49" name="Text 47"/>
          <p:cNvSpPr txBox="1"/>
          <p:nvPr/>
        </p:nvSpPr>
        <p:spPr>
          <a:xfrm>
            <a:off x="3931920"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85.5%</a:t>
            </a:r>
            <a:endParaRPr lang="en-US" sz="1200" dirty="0"/>
          </a:p>
        </p:txBody>
      </p:sp>
      <p:sp>
        <p:nvSpPr>
          <p:cNvPr id="50" name="Text 48"/>
          <p:cNvSpPr txBox="1"/>
          <p:nvPr/>
        </p:nvSpPr>
        <p:spPr>
          <a:xfrm>
            <a:off x="4608576" y="3687721"/>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51" name="Text 49"/>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2" name="Text 50"/>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008376" y="3967420"/>
            <a:ext cx="740188" cy="111880"/>
          </a:xfrm>
          <a:prstGeom prst="rect">
            <a:avLst/>
          </a:prstGeom>
          <a:solidFill>
            <a:srgbClr val="12A566"/>
          </a:solidFill>
          <a:ln/>
        </p:spPr>
      </p:sp>
      <p:sp>
        <p:nvSpPr>
          <p:cNvPr id="54" name="Text 52"/>
          <p:cNvSpPr txBox="1"/>
          <p:nvPr/>
        </p:nvSpPr>
        <p:spPr>
          <a:xfrm>
            <a:off x="3931920" y="391148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81.8%</a:t>
            </a:r>
            <a:endParaRPr lang="en-US" sz="1200" dirty="0"/>
          </a:p>
        </p:txBody>
      </p:sp>
      <p:sp>
        <p:nvSpPr>
          <p:cNvPr id="55" name="Text 53"/>
          <p:cNvSpPr txBox="1"/>
          <p:nvPr/>
        </p:nvSpPr>
        <p:spPr>
          <a:xfrm>
            <a:off x="4608576" y="391148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56" name="Text 54"/>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57" name="Text 55"/>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58" name="Shape 56"/>
          <p:cNvSpPr/>
          <p:nvPr/>
        </p:nvSpPr>
        <p:spPr>
          <a:xfrm>
            <a:off x="3008376" y="4191179"/>
            <a:ext cx="735663" cy="111880"/>
          </a:xfrm>
          <a:prstGeom prst="rect">
            <a:avLst/>
          </a:prstGeom>
          <a:solidFill>
            <a:srgbClr val="12A566"/>
          </a:solidFill>
          <a:ln/>
        </p:spPr>
      </p:sp>
      <p:sp>
        <p:nvSpPr>
          <p:cNvPr id="59" name="Text 57"/>
          <p:cNvSpPr txBox="1"/>
          <p:nvPr/>
        </p:nvSpPr>
        <p:spPr>
          <a:xfrm>
            <a:off x="3931920" y="413524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81.3%</a:t>
            </a:r>
            <a:endParaRPr lang="en-US" sz="1200" dirty="0"/>
          </a:p>
        </p:txBody>
      </p:sp>
      <p:sp>
        <p:nvSpPr>
          <p:cNvPr id="60" name="Text 58"/>
          <p:cNvSpPr txBox="1"/>
          <p:nvPr/>
        </p:nvSpPr>
        <p:spPr>
          <a:xfrm>
            <a:off x="4608576" y="413524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 TruVideo</a:t>
            </a:r>
            <a:endParaRPr lang="en-US" sz="1200" dirty="0"/>
          </a:p>
        </p:txBody>
      </p:sp>
      <p:sp>
        <p:nvSpPr>
          <p:cNvPr id="61" name="Text 59"/>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2" name="Text 60"/>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3" name="Shape 61"/>
          <p:cNvSpPr/>
          <p:nvPr/>
        </p:nvSpPr>
        <p:spPr>
          <a:xfrm>
            <a:off x="3008376" y="4414938"/>
            <a:ext cx="718471" cy="111880"/>
          </a:xfrm>
          <a:prstGeom prst="rect">
            <a:avLst/>
          </a:prstGeom>
          <a:solidFill>
            <a:srgbClr val="12A566"/>
          </a:solidFill>
          <a:ln/>
        </p:spPr>
      </p:sp>
      <p:sp>
        <p:nvSpPr>
          <p:cNvPr id="64" name="Text 62"/>
          <p:cNvSpPr txBox="1"/>
          <p:nvPr/>
        </p:nvSpPr>
        <p:spPr>
          <a:xfrm>
            <a:off x="3931920" y="4358999"/>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79.4%</a:t>
            </a:r>
            <a:endParaRPr lang="en-US" sz="1200" dirty="0"/>
          </a:p>
        </p:txBody>
      </p:sp>
      <p:sp>
        <p:nvSpPr>
          <p:cNvPr id="65" name="Text 63"/>
          <p:cNvSpPr txBox="1"/>
          <p:nvPr/>
        </p:nvSpPr>
        <p:spPr>
          <a:xfrm>
            <a:off x="4608576" y="4358999"/>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66" name="Text 64"/>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67" name="Text 65"/>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8" name="Shape 66"/>
          <p:cNvSpPr/>
          <p:nvPr/>
        </p:nvSpPr>
        <p:spPr>
          <a:xfrm>
            <a:off x="3008376" y="4638697"/>
            <a:ext cx="713946" cy="111880"/>
          </a:xfrm>
          <a:prstGeom prst="rect">
            <a:avLst/>
          </a:prstGeom>
          <a:solidFill>
            <a:srgbClr val="12A566"/>
          </a:solidFill>
          <a:ln/>
        </p:spPr>
      </p:sp>
      <p:sp>
        <p:nvSpPr>
          <p:cNvPr id="69" name="Text 67"/>
          <p:cNvSpPr txBox="1"/>
          <p:nvPr/>
        </p:nvSpPr>
        <p:spPr>
          <a:xfrm>
            <a:off x="3931920" y="458275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70" name="Text 68"/>
          <p:cNvSpPr txBox="1"/>
          <p:nvPr/>
        </p:nvSpPr>
        <p:spPr>
          <a:xfrm>
            <a:off x="4608576" y="458275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UpdatePromise</a:t>
            </a:r>
            <a:endParaRPr lang="en-US" sz="1200" dirty="0"/>
          </a:p>
        </p:txBody>
      </p:sp>
      <p:sp>
        <p:nvSpPr>
          <p:cNvPr id="71" name="Text 69"/>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2" name="Text 70"/>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73" name="Shape 71"/>
          <p:cNvSpPr/>
          <p:nvPr/>
        </p:nvSpPr>
        <p:spPr>
          <a:xfrm>
            <a:off x="3008376" y="4862456"/>
            <a:ext cx="702183" cy="111880"/>
          </a:xfrm>
          <a:prstGeom prst="rect">
            <a:avLst/>
          </a:prstGeom>
          <a:solidFill>
            <a:srgbClr val="12A566"/>
          </a:solidFill>
          <a:ln/>
        </p:spPr>
      </p:sp>
      <p:sp>
        <p:nvSpPr>
          <p:cNvPr id="74" name="Text 72"/>
          <p:cNvSpPr txBox="1"/>
          <p:nvPr/>
        </p:nvSpPr>
        <p:spPr>
          <a:xfrm>
            <a:off x="3931920" y="480651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77.6%</a:t>
            </a:r>
            <a:endParaRPr lang="en-US" sz="1200" dirty="0"/>
          </a:p>
        </p:txBody>
      </p:sp>
      <p:sp>
        <p:nvSpPr>
          <p:cNvPr id="75" name="Text 73"/>
          <p:cNvSpPr txBox="1"/>
          <p:nvPr/>
        </p:nvSpPr>
        <p:spPr>
          <a:xfrm>
            <a:off x="4608576" y="480651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76" name="Text 74"/>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77" name="Text 75"/>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8" name="Shape 76"/>
          <p:cNvSpPr/>
          <p:nvPr/>
        </p:nvSpPr>
        <p:spPr>
          <a:xfrm>
            <a:off x="3008376" y="5086216"/>
            <a:ext cx="668703" cy="111880"/>
          </a:xfrm>
          <a:prstGeom prst="rect">
            <a:avLst/>
          </a:prstGeom>
          <a:solidFill>
            <a:srgbClr val="12A566"/>
          </a:solidFill>
          <a:ln/>
        </p:spPr>
      </p:sp>
      <p:sp>
        <p:nvSpPr>
          <p:cNvPr id="79" name="Text 77"/>
          <p:cNvSpPr txBox="1"/>
          <p:nvPr/>
        </p:nvSpPr>
        <p:spPr>
          <a:xfrm>
            <a:off x="3931920" y="503027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73.9%</a:t>
            </a:r>
            <a:endParaRPr lang="en-US" sz="1200" dirty="0"/>
          </a:p>
        </p:txBody>
      </p:sp>
      <p:sp>
        <p:nvSpPr>
          <p:cNvPr id="80" name="Text 78"/>
          <p:cNvSpPr txBox="1"/>
          <p:nvPr/>
        </p:nvSpPr>
        <p:spPr>
          <a:xfrm>
            <a:off x="4608576" y="503027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1" name="Text 79"/>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2" name="Text 80"/>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3" name="Shape 81"/>
          <p:cNvSpPr/>
          <p:nvPr/>
        </p:nvSpPr>
        <p:spPr>
          <a:xfrm>
            <a:off x="3008376" y="5309975"/>
            <a:ext cx="637937" cy="111880"/>
          </a:xfrm>
          <a:prstGeom prst="rect">
            <a:avLst/>
          </a:prstGeom>
          <a:solidFill>
            <a:srgbClr val="12A566"/>
          </a:solidFill>
          <a:ln/>
        </p:spPr>
      </p:sp>
      <p:sp>
        <p:nvSpPr>
          <p:cNvPr id="84" name="Text 82"/>
          <p:cNvSpPr txBox="1"/>
          <p:nvPr/>
        </p:nvSpPr>
        <p:spPr>
          <a:xfrm>
            <a:off x="3931920" y="525403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70.5%</a:t>
            </a:r>
            <a:endParaRPr lang="en-US" sz="1200" dirty="0"/>
          </a:p>
        </p:txBody>
      </p:sp>
      <p:sp>
        <p:nvSpPr>
          <p:cNvPr id="85" name="Text 83"/>
          <p:cNvSpPr txBox="1"/>
          <p:nvPr/>
        </p:nvSpPr>
        <p:spPr>
          <a:xfrm>
            <a:off x="4608576" y="525403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6" name="Text 84"/>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87" name="Text 85"/>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88" name="Shape 86"/>
          <p:cNvSpPr/>
          <p:nvPr/>
        </p:nvSpPr>
        <p:spPr>
          <a:xfrm>
            <a:off x="3008376" y="5533734"/>
            <a:ext cx="606266" cy="111880"/>
          </a:xfrm>
          <a:prstGeom prst="rect">
            <a:avLst/>
          </a:prstGeom>
          <a:solidFill>
            <a:srgbClr val="12A566"/>
          </a:solidFill>
          <a:ln/>
        </p:spPr>
      </p:sp>
      <p:sp>
        <p:nvSpPr>
          <p:cNvPr id="89" name="Text 87"/>
          <p:cNvSpPr txBox="1"/>
          <p:nvPr/>
        </p:nvSpPr>
        <p:spPr>
          <a:xfrm>
            <a:off x="3931920" y="547779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67.0%</a:t>
            </a:r>
            <a:endParaRPr lang="en-US" sz="1200" dirty="0"/>
          </a:p>
        </p:txBody>
      </p:sp>
      <p:sp>
        <p:nvSpPr>
          <p:cNvPr id="90" name="Text 88"/>
          <p:cNvSpPr txBox="1"/>
          <p:nvPr/>
        </p:nvSpPr>
        <p:spPr>
          <a:xfrm>
            <a:off x="4608576" y="547779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91" name="Text 89"/>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2" name="Text 90"/>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93" name="Shape 91"/>
          <p:cNvSpPr/>
          <p:nvPr/>
        </p:nvSpPr>
        <p:spPr>
          <a:xfrm>
            <a:off x="3008376" y="5757493"/>
            <a:ext cx="602647" cy="111880"/>
          </a:xfrm>
          <a:prstGeom prst="rect">
            <a:avLst/>
          </a:prstGeom>
          <a:solidFill>
            <a:srgbClr val="12A566"/>
          </a:solidFill>
          <a:ln/>
        </p:spPr>
      </p:sp>
      <p:sp>
        <p:nvSpPr>
          <p:cNvPr id="94" name="Text 92"/>
          <p:cNvSpPr txBox="1"/>
          <p:nvPr/>
        </p:nvSpPr>
        <p:spPr>
          <a:xfrm>
            <a:off x="3931920" y="570155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66.6%</a:t>
            </a:r>
            <a:endParaRPr lang="en-US" sz="1200" dirty="0"/>
          </a:p>
        </p:txBody>
      </p:sp>
      <p:sp>
        <p:nvSpPr>
          <p:cNvPr id="95" name="Text 93"/>
          <p:cNvSpPr txBox="1"/>
          <p:nvPr/>
        </p:nvSpPr>
        <p:spPr>
          <a:xfrm>
            <a:off x="4608576" y="570155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96" name="Text 94"/>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97" name="Text 95"/>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98" name="Shape 96"/>
          <p:cNvSpPr/>
          <p:nvPr/>
        </p:nvSpPr>
        <p:spPr>
          <a:xfrm>
            <a:off x="8558784" y="2177348"/>
            <a:ext cx="490442" cy="111880"/>
          </a:xfrm>
          <a:prstGeom prst="rect">
            <a:avLst/>
          </a:prstGeom>
          <a:solidFill>
            <a:srgbClr val="C2352F"/>
          </a:solidFill>
          <a:ln/>
        </p:spPr>
      </p:sp>
      <p:sp>
        <p:nvSpPr>
          <p:cNvPr id="99" name="Text 97"/>
          <p:cNvSpPr txBox="1"/>
          <p:nvPr/>
        </p:nvSpPr>
        <p:spPr>
          <a:xfrm>
            <a:off x="9482328" y="212140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54.2%</a:t>
            </a:r>
            <a:endParaRPr lang="en-US" sz="1200" dirty="0"/>
          </a:p>
        </p:txBody>
      </p:sp>
      <p:sp>
        <p:nvSpPr>
          <p:cNvPr id="100" name="Text 98"/>
          <p:cNvSpPr txBox="1"/>
          <p:nvPr/>
        </p:nvSpPr>
        <p:spPr>
          <a:xfrm>
            <a:off x="10158984" y="212140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01" name="Text 99"/>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2" name="Text 100"/>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3" name="Shape 101"/>
          <p:cNvSpPr/>
          <p:nvPr/>
        </p:nvSpPr>
        <p:spPr>
          <a:xfrm>
            <a:off x="8558784" y="2401107"/>
            <a:ext cx="480489" cy="111880"/>
          </a:xfrm>
          <a:prstGeom prst="rect">
            <a:avLst/>
          </a:prstGeom>
          <a:solidFill>
            <a:srgbClr val="C2352F"/>
          </a:solidFill>
          <a:ln/>
        </p:spPr>
      </p:sp>
      <p:sp>
        <p:nvSpPr>
          <p:cNvPr id="104" name="Text 102"/>
          <p:cNvSpPr txBox="1"/>
          <p:nvPr/>
        </p:nvSpPr>
        <p:spPr>
          <a:xfrm>
            <a:off x="9482328" y="234516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53.1%</a:t>
            </a:r>
            <a:endParaRPr lang="en-US" sz="1200" dirty="0"/>
          </a:p>
        </p:txBody>
      </p:sp>
      <p:sp>
        <p:nvSpPr>
          <p:cNvPr id="105" name="Text 103"/>
          <p:cNvSpPr txBox="1"/>
          <p:nvPr/>
        </p:nvSpPr>
        <p:spPr>
          <a:xfrm>
            <a:off x="10158984" y="234516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06" name="Text 104"/>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07" name="Text 105"/>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8" name="Shape 106"/>
          <p:cNvSpPr/>
          <p:nvPr/>
        </p:nvSpPr>
        <p:spPr>
          <a:xfrm>
            <a:off x="8558784" y="2624866"/>
            <a:ext cx="475059" cy="111880"/>
          </a:xfrm>
          <a:prstGeom prst="rect">
            <a:avLst/>
          </a:prstGeom>
          <a:solidFill>
            <a:srgbClr val="C2352F"/>
          </a:solidFill>
          <a:ln/>
        </p:spPr>
      </p:sp>
      <p:sp>
        <p:nvSpPr>
          <p:cNvPr id="109" name="Text 107"/>
          <p:cNvSpPr txBox="1"/>
          <p:nvPr/>
        </p:nvSpPr>
        <p:spPr>
          <a:xfrm>
            <a:off x="9482328" y="256892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52.5%</a:t>
            </a:r>
            <a:endParaRPr lang="en-US" sz="1200" dirty="0"/>
          </a:p>
        </p:txBody>
      </p:sp>
      <p:sp>
        <p:nvSpPr>
          <p:cNvPr id="110" name="Text 108"/>
          <p:cNvSpPr txBox="1"/>
          <p:nvPr/>
        </p:nvSpPr>
        <p:spPr>
          <a:xfrm>
            <a:off x="10158984" y="256892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 TruVideo</a:t>
            </a:r>
            <a:endParaRPr lang="en-US" sz="1200" dirty="0"/>
          </a:p>
        </p:txBody>
      </p:sp>
      <p:sp>
        <p:nvSpPr>
          <p:cNvPr id="111" name="Text 109"/>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2" name="Text 110"/>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3" name="Shape 111"/>
          <p:cNvSpPr/>
          <p:nvPr/>
        </p:nvSpPr>
        <p:spPr>
          <a:xfrm>
            <a:off x="8558784" y="2848625"/>
            <a:ext cx="452437" cy="111880"/>
          </a:xfrm>
          <a:prstGeom prst="rect">
            <a:avLst/>
          </a:prstGeom>
          <a:solidFill>
            <a:srgbClr val="C2352F"/>
          </a:solidFill>
          <a:ln/>
        </p:spPr>
      </p:sp>
      <p:sp>
        <p:nvSpPr>
          <p:cNvPr id="114" name="Text 112"/>
          <p:cNvSpPr txBox="1"/>
          <p:nvPr/>
        </p:nvSpPr>
        <p:spPr>
          <a:xfrm>
            <a:off x="9482328" y="279268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50.0%</a:t>
            </a:r>
            <a:endParaRPr lang="en-US" sz="1200" dirty="0"/>
          </a:p>
        </p:txBody>
      </p:sp>
      <p:sp>
        <p:nvSpPr>
          <p:cNvPr id="115" name="Text 113"/>
          <p:cNvSpPr txBox="1"/>
          <p:nvPr/>
        </p:nvSpPr>
        <p:spPr>
          <a:xfrm>
            <a:off x="10158984" y="279268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16" name="Text 114"/>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17" name="Text 115"/>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8" name="Shape 116"/>
          <p:cNvSpPr/>
          <p:nvPr/>
        </p:nvSpPr>
        <p:spPr>
          <a:xfrm>
            <a:off x="8558784" y="3072384"/>
            <a:ext cx="448818" cy="111880"/>
          </a:xfrm>
          <a:prstGeom prst="rect">
            <a:avLst/>
          </a:prstGeom>
          <a:solidFill>
            <a:srgbClr val="C2352F"/>
          </a:solidFill>
          <a:ln/>
        </p:spPr>
      </p:sp>
      <p:sp>
        <p:nvSpPr>
          <p:cNvPr id="119" name="Text 117"/>
          <p:cNvSpPr txBox="1"/>
          <p:nvPr/>
        </p:nvSpPr>
        <p:spPr>
          <a:xfrm>
            <a:off x="9482328" y="301644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49.6%</a:t>
            </a:r>
            <a:endParaRPr lang="en-US" sz="1200" dirty="0"/>
          </a:p>
        </p:txBody>
      </p:sp>
      <p:sp>
        <p:nvSpPr>
          <p:cNvPr id="120" name="Text 118"/>
          <p:cNvSpPr txBox="1"/>
          <p:nvPr/>
        </p:nvSpPr>
        <p:spPr>
          <a:xfrm>
            <a:off x="10158984" y="301644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 TruVideo</a:t>
            </a:r>
            <a:endParaRPr lang="en-US" sz="1200" dirty="0"/>
          </a:p>
        </p:txBody>
      </p:sp>
      <p:sp>
        <p:nvSpPr>
          <p:cNvPr id="121" name="Text 119"/>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2" name="Text 120"/>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3" name="Shape 121"/>
          <p:cNvSpPr/>
          <p:nvPr/>
        </p:nvSpPr>
        <p:spPr>
          <a:xfrm>
            <a:off x="8558784" y="3296143"/>
            <a:ext cx="438864" cy="111880"/>
          </a:xfrm>
          <a:prstGeom prst="rect">
            <a:avLst/>
          </a:prstGeom>
          <a:solidFill>
            <a:srgbClr val="C2352F"/>
          </a:solidFill>
          <a:ln/>
        </p:spPr>
      </p:sp>
      <p:sp>
        <p:nvSpPr>
          <p:cNvPr id="124" name="Text 122"/>
          <p:cNvSpPr txBox="1"/>
          <p:nvPr/>
        </p:nvSpPr>
        <p:spPr>
          <a:xfrm>
            <a:off x="9482328" y="3240203"/>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48.5%</a:t>
            </a:r>
            <a:endParaRPr lang="en-US" sz="1200" dirty="0"/>
          </a:p>
        </p:txBody>
      </p:sp>
      <p:sp>
        <p:nvSpPr>
          <p:cNvPr id="125" name="Text 123"/>
          <p:cNvSpPr txBox="1"/>
          <p:nvPr/>
        </p:nvSpPr>
        <p:spPr>
          <a:xfrm>
            <a:off x="10158984" y="324020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26" name="Text 124"/>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27" name="Text 125"/>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8" name="Shape 126"/>
          <p:cNvSpPr/>
          <p:nvPr/>
        </p:nvSpPr>
        <p:spPr>
          <a:xfrm>
            <a:off x="8558784" y="3519902"/>
            <a:ext cx="386382" cy="111880"/>
          </a:xfrm>
          <a:prstGeom prst="rect">
            <a:avLst/>
          </a:prstGeom>
          <a:solidFill>
            <a:srgbClr val="C2352F"/>
          </a:solidFill>
          <a:ln/>
        </p:spPr>
      </p:sp>
      <p:sp>
        <p:nvSpPr>
          <p:cNvPr id="129" name="Text 127"/>
          <p:cNvSpPr txBox="1"/>
          <p:nvPr/>
        </p:nvSpPr>
        <p:spPr>
          <a:xfrm>
            <a:off x="9482328" y="3463962"/>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42.7%</a:t>
            </a:r>
            <a:endParaRPr lang="en-US" sz="1200" dirty="0"/>
          </a:p>
        </p:txBody>
      </p:sp>
      <p:sp>
        <p:nvSpPr>
          <p:cNvPr id="130" name="Text 128"/>
          <p:cNvSpPr txBox="1"/>
          <p:nvPr/>
        </p:nvSpPr>
        <p:spPr>
          <a:xfrm>
            <a:off x="10158984" y="3463962"/>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1" name="Text 129"/>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2" name="Text 130"/>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3" name="Shape 131"/>
          <p:cNvSpPr/>
          <p:nvPr/>
        </p:nvSpPr>
        <p:spPr>
          <a:xfrm>
            <a:off x="8558784" y="3743661"/>
            <a:ext cx="386382" cy="111880"/>
          </a:xfrm>
          <a:prstGeom prst="rect">
            <a:avLst/>
          </a:prstGeom>
          <a:solidFill>
            <a:srgbClr val="C2352F"/>
          </a:solidFill>
          <a:ln/>
        </p:spPr>
      </p:sp>
      <p:sp>
        <p:nvSpPr>
          <p:cNvPr id="134" name="Text 132"/>
          <p:cNvSpPr txBox="1"/>
          <p:nvPr/>
        </p:nvSpPr>
        <p:spPr>
          <a:xfrm>
            <a:off x="9482328" y="3687721"/>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42.7%</a:t>
            </a:r>
            <a:endParaRPr lang="en-US" sz="1200" dirty="0"/>
          </a:p>
        </p:txBody>
      </p:sp>
      <p:sp>
        <p:nvSpPr>
          <p:cNvPr id="135" name="Text 133"/>
          <p:cNvSpPr txBox="1"/>
          <p:nvPr/>
        </p:nvSpPr>
        <p:spPr>
          <a:xfrm>
            <a:off x="10158984" y="3687721"/>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6" name="Text 134"/>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37" name="Text 135"/>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8" name="Shape 136"/>
          <p:cNvSpPr/>
          <p:nvPr/>
        </p:nvSpPr>
        <p:spPr>
          <a:xfrm>
            <a:off x="8558784" y="3967420"/>
            <a:ext cx="379143" cy="111880"/>
          </a:xfrm>
          <a:prstGeom prst="rect">
            <a:avLst/>
          </a:prstGeom>
          <a:solidFill>
            <a:srgbClr val="C2352F"/>
          </a:solidFill>
          <a:ln/>
        </p:spPr>
      </p:sp>
      <p:sp>
        <p:nvSpPr>
          <p:cNvPr id="139" name="Text 137"/>
          <p:cNvSpPr txBox="1"/>
          <p:nvPr/>
        </p:nvSpPr>
        <p:spPr>
          <a:xfrm>
            <a:off x="9482328" y="391148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41.9%</a:t>
            </a:r>
            <a:endParaRPr lang="en-US" sz="1200" dirty="0"/>
          </a:p>
        </p:txBody>
      </p:sp>
      <p:sp>
        <p:nvSpPr>
          <p:cNvPr id="140" name="Text 138"/>
          <p:cNvSpPr txBox="1"/>
          <p:nvPr/>
        </p:nvSpPr>
        <p:spPr>
          <a:xfrm>
            <a:off x="10158984" y="391148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41" name="Text 139"/>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2" name="Text 140"/>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43" name="Shape 141"/>
          <p:cNvSpPr/>
          <p:nvPr/>
        </p:nvSpPr>
        <p:spPr>
          <a:xfrm>
            <a:off x="8558784" y="4191179"/>
            <a:ext cx="363760" cy="111880"/>
          </a:xfrm>
          <a:prstGeom prst="rect">
            <a:avLst/>
          </a:prstGeom>
          <a:solidFill>
            <a:srgbClr val="C2352F"/>
          </a:solidFill>
          <a:ln/>
        </p:spPr>
      </p:sp>
      <p:sp>
        <p:nvSpPr>
          <p:cNvPr id="144" name="Text 142"/>
          <p:cNvSpPr txBox="1"/>
          <p:nvPr/>
        </p:nvSpPr>
        <p:spPr>
          <a:xfrm>
            <a:off x="9482328" y="413524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40.2%</a:t>
            </a:r>
            <a:endParaRPr lang="en-US" sz="1200" dirty="0"/>
          </a:p>
        </p:txBody>
      </p:sp>
      <p:sp>
        <p:nvSpPr>
          <p:cNvPr id="145" name="Text 143"/>
          <p:cNvSpPr txBox="1"/>
          <p:nvPr/>
        </p:nvSpPr>
        <p:spPr>
          <a:xfrm>
            <a:off x="10158984" y="413524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46" name="Text 144"/>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47" name="Text 145"/>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8" name="Shape 146"/>
          <p:cNvSpPr/>
          <p:nvPr/>
        </p:nvSpPr>
        <p:spPr>
          <a:xfrm>
            <a:off x="8558784" y="4414938"/>
            <a:ext cx="317611" cy="111880"/>
          </a:xfrm>
          <a:prstGeom prst="rect">
            <a:avLst/>
          </a:prstGeom>
          <a:solidFill>
            <a:srgbClr val="C2352F"/>
          </a:solidFill>
          <a:ln/>
        </p:spPr>
      </p:sp>
      <p:sp>
        <p:nvSpPr>
          <p:cNvPr id="149" name="Text 147"/>
          <p:cNvSpPr txBox="1"/>
          <p:nvPr/>
        </p:nvSpPr>
        <p:spPr>
          <a:xfrm>
            <a:off x="9482328" y="4358999"/>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35.1%</a:t>
            </a:r>
            <a:endParaRPr lang="en-US" sz="1200" dirty="0"/>
          </a:p>
        </p:txBody>
      </p:sp>
      <p:sp>
        <p:nvSpPr>
          <p:cNvPr id="150" name="Text 148"/>
          <p:cNvSpPr txBox="1"/>
          <p:nvPr/>
        </p:nvSpPr>
        <p:spPr>
          <a:xfrm>
            <a:off x="10158984" y="4358999"/>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51" name="Text 149"/>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2" name="Text 150"/>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53" name="Shape 151"/>
          <p:cNvSpPr/>
          <p:nvPr/>
        </p:nvSpPr>
        <p:spPr>
          <a:xfrm>
            <a:off x="8558784" y="4638697"/>
            <a:ext cx="286845" cy="111880"/>
          </a:xfrm>
          <a:prstGeom prst="rect">
            <a:avLst/>
          </a:prstGeom>
          <a:solidFill>
            <a:srgbClr val="C2352F"/>
          </a:solidFill>
          <a:ln/>
        </p:spPr>
      </p:sp>
      <p:sp>
        <p:nvSpPr>
          <p:cNvPr id="154" name="Text 152"/>
          <p:cNvSpPr txBox="1"/>
          <p:nvPr/>
        </p:nvSpPr>
        <p:spPr>
          <a:xfrm>
            <a:off x="9482328" y="458275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31.7%</a:t>
            </a:r>
            <a:endParaRPr lang="en-US" sz="1200" dirty="0"/>
          </a:p>
        </p:txBody>
      </p:sp>
      <p:sp>
        <p:nvSpPr>
          <p:cNvPr id="155" name="Text 153"/>
          <p:cNvSpPr txBox="1"/>
          <p:nvPr/>
        </p:nvSpPr>
        <p:spPr>
          <a:xfrm>
            <a:off x="10158984" y="458275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56" name="Text 154"/>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57" name="Text 155"/>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58" name="Shape 156"/>
          <p:cNvSpPr/>
          <p:nvPr/>
        </p:nvSpPr>
        <p:spPr>
          <a:xfrm>
            <a:off x="8558784" y="4862456"/>
            <a:ext cx="285036" cy="111880"/>
          </a:xfrm>
          <a:prstGeom prst="rect">
            <a:avLst/>
          </a:prstGeom>
          <a:solidFill>
            <a:srgbClr val="C2352F"/>
          </a:solidFill>
          <a:ln/>
        </p:spPr>
      </p:sp>
      <p:sp>
        <p:nvSpPr>
          <p:cNvPr id="159" name="Text 157"/>
          <p:cNvSpPr txBox="1"/>
          <p:nvPr/>
        </p:nvSpPr>
        <p:spPr>
          <a:xfrm>
            <a:off x="9482328"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31.5%</a:t>
            </a:r>
            <a:endParaRPr lang="en-US" sz="1200" dirty="0"/>
          </a:p>
        </p:txBody>
      </p:sp>
      <p:sp>
        <p:nvSpPr>
          <p:cNvPr id="160" name="Text 158"/>
          <p:cNvSpPr txBox="1"/>
          <p:nvPr/>
        </p:nvSpPr>
        <p:spPr>
          <a:xfrm>
            <a:off x="10158984" y="480651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61" name="Text 159"/>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2" name="Text 160"/>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63" name="Shape 161"/>
          <p:cNvSpPr/>
          <p:nvPr/>
        </p:nvSpPr>
        <p:spPr>
          <a:xfrm>
            <a:off x="8558784" y="5086216"/>
            <a:ext cx="197263" cy="111880"/>
          </a:xfrm>
          <a:prstGeom prst="rect">
            <a:avLst/>
          </a:prstGeom>
          <a:solidFill>
            <a:srgbClr val="C2352F"/>
          </a:solidFill>
          <a:ln/>
        </p:spPr>
      </p:sp>
      <p:sp>
        <p:nvSpPr>
          <p:cNvPr id="164" name="Text 162"/>
          <p:cNvSpPr txBox="1"/>
          <p:nvPr/>
        </p:nvSpPr>
        <p:spPr>
          <a:xfrm>
            <a:off x="9482328"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21.8%</a:t>
            </a:r>
            <a:endParaRPr lang="en-US" sz="1200" dirty="0"/>
          </a:p>
        </p:txBody>
      </p:sp>
      <p:sp>
        <p:nvSpPr>
          <p:cNvPr id="165" name="Text 163"/>
          <p:cNvSpPr txBox="1"/>
          <p:nvPr/>
        </p:nvSpPr>
        <p:spPr>
          <a:xfrm>
            <a:off x="10158984" y="503027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66" name="Text 164"/>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67" name="Text 165"/>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68" name="Shape 166"/>
          <p:cNvSpPr/>
          <p:nvPr/>
        </p:nvSpPr>
        <p:spPr>
          <a:xfrm>
            <a:off x="8558784" y="5309975"/>
            <a:ext cx="144780" cy="111880"/>
          </a:xfrm>
          <a:prstGeom prst="rect">
            <a:avLst/>
          </a:prstGeom>
          <a:solidFill>
            <a:srgbClr val="C2352F"/>
          </a:solidFill>
          <a:ln/>
        </p:spPr>
      </p:sp>
      <p:sp>
        <p:nvSpPr>
          <p:cNvPr id="169" name="Text 167"/>
          <p:cNvSpPr txBox="1"/>
          <p:nvPr/>
        </p:nvSpPr>
        <p:spPr>
          <a:xfrm>
            <a:off x="9482328"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16.0%</a:t>
            </a:r>
            <a:endParaRPr lang="en-US" sz="1200" dirty="0"/>
          </a:p>
        </p:txBody>
      </p:sp>
      <p:sp>
        <p:nvSpPr>
          <p:cNvPr id="170" name="Text 168"/>
          <p:cNvSpPr txBox="1"/>
          <p:nvPr/>
        </p:nvSpPr>
        <p:spPr>
          <a:xfrm>
            <a:off x="10158984" y="525403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WiAdvisor</a:t>
            </a:r>
            <a:endParaRPr lang="en-US" sz="1200" dirty="0"/>
          </a:p>
        </p:txBody>
      </p:sp>
      <p:sp>
        <p:nvSpPr>
          <p:cNvPr id="171" name="Text 169"/>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2" name="Text 170"/>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73" name="Shape 171"/>
          <p:cNvSpPr/>
          <p:nvPr/>
        </p:nvSpPr>
        <p:spPr>
          <a:xfrm>
            <a:off x="8558784" y="5533734"/>
            <a:ext cx="47053" cy="111880"/>
          </a:xfrm>
          <a:prstGeom prst="rect">
            <a:avLst/>
          </a:prstGeom>
          <a:solidFill>
            <a:srgbClr val="C2352F"/>
          </a:solidFill>
          <a:ln/>
        </p:spPr>
      </p:sp>
      <p:sp>
        <p:nvSpPr>
          <p:cNvPr id="174" name="Text 172"/>
          <p:cNvSpPr txBox="1"/>
          <p:nvPr/>
        </p:nvSpPr>
        <p:spPr>
          <a:xfrm>
            <a:off x="9482328"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175" name="Text 173"/>
          <p:cNvSpPr txBox="1"/>
          <p:nvPr/>
        </p:nvSpPr>
        <p:spPr>
          <a:xfrm>
            <a:off x="10158984" y="547779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76" name="Text 174"/>
          <p:cNvSpPr txBox="1"/>
          <p:nvPr/>
        </p:nvSpPr>
        <p:spPr>
          <a:xfrm>
            <a:off x="3931920"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77" name="Text 175"/>
          <p:cNvSpPr txBox="1"/>
          <p:nvPr/>
        </p:nvSpPr>
        <p:spPr>
          <a:xfrm>
            <a:off x="4608576"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78" name="Text 176"/>
          <p:cNvSpPr txBox="1"/>
          <p:nvPr/>
        </p:nvSpPr>
        <p:spPr>
          <a:xfrm>
            <a:off x="9482328"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79" name="Text 177"/>
          <p:cNvSpPr txBox="1"/>
          <p:nvPr/>
        </p:nvSpPr>
        <p:spPr>
          <a:xfrm>
            <a:off x="10158984"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80" name="Shape 178"/>
          <p:cNvSpPr/>
          <p:nvPr/>
        </p:nvSpPr>
        <p:spPr>
          <a:xfrm>
            <a:off x="3524446" y="2121408"/>
            <a:ext cx="14630" cy="3803904"/>
          </a:xfrm>
          <a:prstGeom prst="rect">
            <a:avLst/>
          </a:prstGeom>
          <a:solidFill>
            <a:srgbClr val="0B2C4A"/>
          </a:solidFill>
          <a:ln/>
        </p:spPr>
      </p:sp>
      <p:sp>
        <p:nvSpPr>
          <p:cNvPr id="181" name="Shape 179"/>
          <p:cNvSpPr/>
          <p:nvPr/>
        </p:nvSpPr>
        <p:spPr>
          <a:xfrm>
            <a:off x="9074854" y="2121408"/>
            <a:ext cx="14630" cy="3803904"/>
          </a:xfrm>
          <a:prstGeom prst="rect">
            <a:avLst/>
          </a:prstGeom>
          <a:solidFill>
            <a:srgbClr val="0B2C4A"/>
          </a:solidFill>
          <a:ln/>
        </p:spPr>
      </p:sp>
      <p:sp>
        <p:nvSpPr>
          <p:cNvPr id="182" name="Shape 180"/>
          <p:cNvSpPr/>
          <p:nvPr/>
        </p:nvSpPr>
        <p:spPr>
          <a:xfrm>
            <a:off x="6085332" y="2121408"/>
            <a:ext cx="10973" cy="3803904"/>
          </a:xfrm>
          <a:prstGeom prst="rect">
            <a:avLst/>
          </a:prstGeom>
          <a:solidFill>
            <a:srgbClr val="D9D9D9"/>
          </a:solidFill>
          <a:ln/>
        </p:spPr>
      </p:sp>
      <p:sp>
        <p:nvSpPr>
          <p:cNvPr id="183" name="Shape 181"/>
          <p:cNvSpPr/>
          <p:nvPr/>
        </p:nvSpPr>
        <p:spPr>
          <a:xfrm>
            <a:off x="457200" y="6126480"/>
            <a:ext cx="11274552" cy="356616"/>
          </a:xfrm>
          <a:prstGeom prst="rect">
            <a:avLst/>
          </a:prstGeom>
          <a:solidFill>
            <a:srgbClr val="EDF4FA"/>
          </a:solidFill>
          <a:ln/>
        </p:spPr>
      </p:sp>
      <p:sp>
        <p:nvSpPr>
          <p:cNvPr id="184" name="Text 182"/>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17 of 33 stores at or above the 57.8% group. VW Henderson leads at 96.0%; Kia St George is lowest at 5.2%.</a:t>
            </a:r>
            <a:endParaRPr lang="en-US" sz="1500" dirty="0"/>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Tracking &amp; Accountability</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Daily review of the Viz 'Op Code' and 'Performance Report'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Give feedback quickly and often. Trends start early: don't wait until the 15th.</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Tracked metrics improve performance; we are responsible for the knowing</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Scoreboard techs and advisors: CP $ per RO, ELR, MPI completion, closing %, key op codes</a:t>
            </a:r>
            <a:endParaRPr lang="en-US" sz="1800" dirty="0"/>
          </a:p>
        </p:txBody>
      </p:sp>
      <p:sp>
        <p:nvSpPr>
          <p:cNvPr id="10" name="Shape 8"/>
          <p:cNvSpPr/>
          <p:nvPr/>
        </p:nvSpPr>
        <p:spPr>
          <a:xfrm>
            <a:off x="7269480" y="1920240"/>
            <a:ext cx="54864" cy="3794760"/>
          </a:xfrm>
          <a:prstGeom prst="rect">
            <a:avLst/>
          </a:prstGeom>
          <a:solidFill>
            <a:srgbClr val="C2352F"/>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81.3%</a:t>
            </a:r>
            <a:endParaRPr lang="en-US" sz="3000" dirty="0"/>
          </a:p>
        </p:txBody>
      </p:sp>
      <p:sp>
        <p:nvSpPr>
          <p:cNvPr id="12" name="Text 10"/>
          <p:cNvSpPr txBox="1"/>
          <p:nvPr/>
        </p:nvSpPr>
        <p:spPr>
          <a:xfrm>
            <a:off x="7452360" y="2441448"/>
            <a:ext cx="4023360" cy="329184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MPI completion, July to September (store-reported). 12 of 33 stores at the 90% benchmark.</a:t>
            </a:r>
            <a:endParaRPr lang="en-US" sz="1400" dirty="0"/>
          </a:p>
        </p:txBody>
      </p:sp>
      <p:sp>
        <p:nvSpPr>
          <p:cNvPr id="13" name="Shape 11"/>
          <p:cNvSpPr/>
          <p:nvPr/>
        </p:nvSpPr>
        <p:spPr>
          <a:xfrm>
            <a:off x="457200" y="6126480"/>
            <a:ext cx="11274552" cy="615696"/>
          </a:xfrm>
          <a:prstGeom prst="rect">
            <a:avLst/>
          </a:prstGeom>
          <a:solidFill>
            <a:srgbClr val="EDF4FA"/>
          </a:solidFill>
          <a:ln/>
        </p:spPr>
      </p:sp>
      <p:sp>
        <p:nvSpPr>
          <p:cNvPr id="14" name="Text 1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if it isn't described, it can't be tracked. Clean up op code descriptions so the reports show what you sell.</a:t>
            </a:r>
            <a:endParaRPr lang="en-US" sz="1600" dirty="0"/>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an Op Code Closing %?</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Closing %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ROs with the service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all CP ROs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often a customer-pay visit includes the service.</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BENCHMARKS</a:t>
            </a:r>
            <a:endParaRPr lang="en-US" sz="1400" dirty="0"/>
          </a:p>
        </p:txBody>
      </p:sp>
      <p:sp>
        <p:nvSpPr>
          <p:cNvPr id="9" name="Shape 7"/>
          <p:cNvSpPr/>
          <p:nvPr/>
        </p:nvSpPr>
        <p:spPr>
          <a:xfrm>
            <a:off x="2286000" y="2340864"/>
            <a:ext cx="227914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Alignment  </a:t>
            </a:r>
            <a:pPr algn="ctr" indent="0" marL="0">
              <a:buNone/>
            </a:pPr>
            <a:r>
              <a:rPr lang="en-US" sz="1400" b="1" dirty="0">
                <a:solidFill>
                  <a:srgbClr val="0B2C4A"/>
                </a:solidFill>
                <a:latin typeface="Inter" pitchFamily="34" charset="0"/>
                <a:ea typeface="Inter" pitchFamily="34" charset="-122"/>
                <a:cs typeface="Inter" pitchFamily="34" charset="-120"/>
              </a:rPr>
              <a:t>15%</a:t>
            </a:r>
            <a:endParaRPr lang="en-US" sz="1400" dirty="0"/>
          </a:p>
        </p:txBody>
      </p:sp>
      <p:sp>
        <p:nvSpPr>
          <p:cNvPr id="11" name="Shape 9"/>
          <p:cNvSpPr/>
          <p:nvPr/>
        </p:nvSpPr>
        <p:spPr>
          <a:xfrm>
            <a:off x="4674870" y="2340864"/>
            <a:ext cx="2279142" cy="457200"/>
          </a:xfrm>
          <a:prstGeom prst="rect">
            <a:avLst/>
          </a:prstGeom>
          <a:solidFill>
            <a:srgbClr val="FFFFFF"/>
          </a:solidFill>
          <a:ln w="9525">
            <a:solidFill>
              <a:srgbClr val="D9D9D9"/>
            </a:solidFill>
            <a:prstDash val="solid"/>
          </a:ln>
        </p:spPr>
      </p:sp>
      <p:sp>
        <p:nvSpPr>
          <p:cNvPr id="12" name="Text 10"/>
          <p:cNvSpPr txBox="1"/>
          <p:nvPr/>
        </p:nvSpPr>
        <p:spPr>
          <a:xfrm>
            <a:off x="474802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Tire balance  </a:t>
            </a:r>
            <a:pPr algn="ctr" indent="0" marL="0">
              <a:buNone/>
            </a:pPr>
            <a:r>
              <a:rPr lang="en-US" sz="1400" b="1" dirty="0">
                <a:solidFill>
                  <a:srgbClr val="0B2C4A"/>
                </a:solidFill>
                <a:latin typeface="Inter" pitchFamily="34" charset="0"/>
                <a:ea typeface="Inter" pitchFamily="34" charset="-122"/>
                <a:cs typeface="Inter" pitchFamily="34" charset="-120"/>
              </a:rPr>
              <a:t>15%</a:t>
            </a:r>
            <a:endParaRPr lang="en-US" sz="1400" dirty="0"/>
          </a:p>
        </p:txBody>
      </p:sp>
      <p:sp>
        <p:nvSpPr>
          <p:cNvPr id="13" name="Shape 11"/>
          <p:cNvSpPr/>
          <p:nvPr/>
        </p:nvSpPr>
        <p:spPr>
          <a:xfrm>
            <a:off x="7063740" y="2340864"/>
            <a:ext cx="2279142" cy="457200"/>
          </a:xfrm>
          <a:prstGeom prst="rect">
            <a:avLst/>
          </a:prstGeom>
          <a:solidFill>
            <a:srgbClr val="FFFFFF"/>
          </a:solidFill>
          <a:ln w="9525">
            <a:solidFill>
              <a:srgbClr val="D9D9D9"/>
            </a:solidFill>
            <a:prstDash val="solid"/>
          </a:ln>
        </p:spPr>
      </p:sp>
      <p:sp>
        <p:nvSpPr>
          <p:cNvPr id="14" name="Text 12"/>
          <p:cNvSpPr txBox="1"/>
          <p:nvPr/>
        </p:nvSpPr>
        <p:spPr>
          <a:xfrm>
            <a:off x="713689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Brake fluid  </a:t>
            </a:r>
            <a:pPr algn="ctr" indent="0" marL="0">
              <a:buNone/>
            </a:pPr>
            <a:r>
              <a:rPr lang="en-US" sz="1400" b="1" dirty="0">
                <a:solidFill>
                  <a:srgbClr val="0B2C4A"/>
                </a:solidFill>
                <a:latin typeface="Inter" pitchFamily="34" charset="0"/>
                <a:ea typeface="Inter" pitchFamily="34" charset="-122"/>
                <a:cs typeface="Inter" pitchFamily="34" charset="-120"/>
              </a:rPr>
              <a:t>10%</a:t>
            </a:r>
            <a:endParaRPr lang="en-US" sz="1400" dirty="0"/>
          </a:p>
        </p:txBody>
      </p:sp>
      <p:sp>
        <p:nvSpPr>
          <p:cNvPr id="15" name="Shape 13"/>
          <p:cNvSpPr/>
          <p:nvPr/>
        </p:nvSpPr>
        <p:spPr>
          <a:xfrm>
            <a:off x="9452610" y="2340864"/>
            <a:ext cx="2279142" cy="457200"/>
          </a:xfrm>
          <a:prstGeom prst="rect">
            <a:avLst/>
          </a:prstGeom>
          <a:solidFill>
            <a:srgbClr val="FFFFFF"/>
          </a:solidFill>
          <a:ln w="9525">
            <a:solidFill>
              <a:srgbClr val="D9D9D9"/>
            </a:solidFill>
            <a:prstDash val="solid"/>
          </a:ln>
        </p:spPr>
      </p:sp>
      <p:sp>
        <p:nvSpPr>
          <p:cNvPr id="16" name="Text 14"/>
          <p:cNvSpPr txBox="1"/>
          <p:nvPr/>
        </p:nvSpPr>
        <p:spPr>
          <a:xfrm>
            <a:off x="952576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Fuel service  </a:t>
            </a:r>
            <a:pPr algn="ctr" indent="0" marL="0">
              <a:buNone/>
            </a:pPr>
            <a:r>
              <a:rPr lang="en-US" sz="1400" b="1" dirty="0">
                <a:solidFill>
                  <a:srgbClr val="0B2C4A"/>
                </a:solidFill>
                <a:latin typeface="Inter" pitchFamily="34" charset="0"/>
                <a:ea typeface="Inter" pitchFamily="34" charset="-122"/>
                <a:cs typeface="Inter" pitchFamily="34" charset="-120"/>
              </a:rPr>
              <a:t>7.5%</a:t>
            </a:r>
            <a:endParaRPr lang="en-US" sz="1400" dirty="0"/>
          </a:p>
        </p:txBody>
      </p:sp>
      <p:sp>
        <p:nvSpPr>
          <p:cNvPr id="17" name="Shape 15"/>
          <p:cNvSpPr/>
          <p:nvPr/>
        </p:nvSpPr>
        <p:spPr>
          <a:xfrm>
            <a:off x="457200" y="2907792"/>
            <a:ext cx="4343400" cy="3081528"/>
          </a:xfrm>
          <a:prstGeom prst="rect">
            <a:avLst/>
          </a:prstGeom>
          <a:solidFill>
            <a:srgbClr val="FFFFFF"/>
          </a:solidFill>
          <a:ln/>
        </p:spPr>
      </p:sp>
      <p:sp>
        <p:nvSpPr>
          <p:cNvPr id="18" name="Shape 16"/>
          <p:cNvSpPr/>
          <p:nvPr/>
        </p:nvSpPr>
        <p:spPr>
          <a:xfrm>
            <a:off x="4937760" y="2907792"/>
            <a:ext cx="6793992" cy="3081528"/>
          </a:xfrm>
          <a:prstGeom prst="rect">
            <a:avLst/>
          </a:prstGeom>
          <a:solidFill>
            <a:srgbClr val="FFFFFF"/>
          </a:solidFill>
          <a:ln/>
        </p:spPr>
      </p:sp>
      <p:sp>
        <p:nvSpPr>
          <p:cNvPr id="19" name="Text 17"/>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20" name="Text 18"/>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21" name="Text 19"/>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These are the services every car eventually needs.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The rate shows whether the inspection and the menu are happening on every car.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Each point is worth thousands of jobs across the group.</a:t>
            </a:r>
            <a:endParaRPr lang="en-US" sz="1500" dirty="0"/>
          </a:p>
        </p:txBody>
      </p:sp>
      <p:sp>
        <p:nvSpPr>
          <p:cNvPr id="22" name="Shape 20"/>
          <p:cNvSpPr/>
          <p:nvPr/>
        </p:nvSpPr>
        <p:spPr>
          <a:xfrm>
            <a:off x="5138928" y="3410712"/>
            <a:ext cx="45720" cy="1133856"/>
          </a:xfrm>
          <a:prstGeom prst="rect">
            <a:avLst/>
          </a:prstGeom>
          <a:solidFill>
            <a:srgbClr val="2587C5"/>
          </a:solidFill>
          <a:ln/>
        </p:spPr>
      </p:sp>
      <p:sp>
        <p:nvSpPr>
          <p:cNvPr id="23" name="Text 21"/>
          <p:cNvSpPr txBox="1"/>
          <p:nvPr/>
        </p:nvSpPr>
        <p:spPr>
          <a:xfrm>
            <a:off x="5266944"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MPI on every car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Find the need and show the customer</a:t>
            </a:r>
            <a:endParaRPr lang="en-US" sz="1400" dirty="0"/>
          </a:p>
        </p:txBody>
      </p:sp>
      <p:sp>
        <p:nvSpPr>
          <p:cNvPr id="24" name="Shape 22"/>
          <p:cNvSpPr/>
          <p:nvPr/>
        </p:nvSpPr>
        <p:spPr>
          <a:xfrm>
            <a:off x="8394192" y="3410712"/>
            <a:ext cx="45720" cy="1133856"/>
          </a:xfrm>
          <a:prstGeom prst="rect">
            <a:avLst/>
          </a:prstGeom>
          <a:solidFill>
            <a:srgbClr val="2587C5"/>
          </a:solidFill>
          <a:ln/>
        </p:spPr>
      </p:sp>
      <p:sp>
        <p:nvSpPr>
          <p:cNvPr id="25" name="Text 23"/>
          <p:cNvSpPr txBox="1"/>
          <p:nvPr/>
        </p:nvSpPr>
        <p:spPr>
          <a:xfrm>
            <a:off x="8522208"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Menu at write-up</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Time and mileage recommendations, every customer</a:t>
            </a:r>
            <a:endParaRPr lang="en-US" sz="1400" dirty="0"/>
          </a:p>
        </p:txBody>
      </p:sp>
      <p:sp>
        <p:nvSpPr>
          <p:cNvPr id="26" name="Shape 24"/>
          <p:cNvSpPr/>
          <p:nvPr/>
        </p:nvSpPr>
        <p:spPr>
          <a:xfrm>
            <a:off x="5138928" y="4654296"/>
            <a:ext cx="45720" cy="1133856"/>
          </a:xfrm>
          <a:prstGeom prst="rect">
            <a:avLst/>
          </a:prstGeom>
          <a:solidFill>
            <a:srgbClr val="2587C5"/>
          </a:solidFill>
          <a:ln/>
        </p:spPr>
      </p:sp>
      <p:sp>
        <p:nvSpPr>
          <p:cNvPr id="27" name="Text 25"/>
          <p:cNvSpPr txBox="1"/>
          <p:nvPr/>
        </p:nvSpPr>
        <p:spPr>
          <a:xfrm>
            <a:off x="5266944"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Advisor presentation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Present it, price it, ask for it</a:t>
            </a:r>
            <a:endParaRPr lang="en-US" sz="1400" dirty="0"/>
          </a:p>
        </p:txBody>
      </p:sp>
      <p:sp>
        <p:nvSpPr>
          <p:cNvPr id="28" name="Shape 26"/>
          <p:cNvSpPr/>
          <p:nvPr/>
        </p:nvSpPr>
        <p:spPr>
          <a:xfrm>
            <a:off x="8394192" y="4654296"/>
            <a:ext cx="45720" cy="1133856"/>
          </a:xfrm>
          <a:prstGeom prst="rect">
            <a:avLst/>
          </a:prstGeom>
          <a:solidFill>
            <a:srgbClr val="2587C5"/>
          </a:solidFill>
          <a:ln/>
        </p:spPr>
      </p:sp>
      <p:sp>
        <p:nvSpPr>
          <p:cNvPr id="29" name="Text 27"/>
          <p:cNvSpPr txBox="1"/>
          <p:nvPr/>
        </p:nvSpPr>
        <p:spPr>
          <a:xfrm>
            <a:off x="8522208"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Tracking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Daily Viz Op Code report; feedback before the 15th</a:t>
            </a:r>
            <a:endParaRPr lang="en-US" sz="1400" dirty="0"/>
          </a:p>
        </p:txBody>
      </p:sp>
      <p:sp>
        <p:nvSpPr>
          <p:cNvPr id="30" name="Shape 28"/>
          <p:cNvSpPr/>
          <p:nvPr/>
        </p:nvSpPr>
        <p:spPr>
          <a:xfrm>
            <a:off x="457200" y="6126480"/>
            <a:ext cx="11274552" cy="348996"/>
          </a:xfrm>
          <a:prstGeom prst="rect">
            <a:avLst/>
          </a:prstGeom>
          <a:solidFill>
            <a:srgbClr val="EDF4FA"/>
          </a:solidFill>
          <a:ln/>
        </p:spPr>
      </p:sp>
      <p:sp>
        <p:nvSpPr>
          <p:cNvPr id="31" name="Text 29"/>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2C4A"/>
                </a:solidFill>
                <a:latin typeface="Inter" pitchFamily="34" charset="0"/>
                <a:ea typeface="Inter" pitchFamily="34" charset="-122"/>
                <a:cs typeface="Inter" pitchFamily="34" charset="-120"/>
              </a:rPr>
              <a:t>All four rose 1.2-1.4 pts and beat 2025 every month. Balance is furthest off, at 8.3%: 18,493 short of 15%.</a:t>
            </a:r>
            <a:endParaRPr lang="en-US" sz="1450" dirty="0"/>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Alignment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11.9%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13.2%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+1.4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+11.4%</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Alignment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615696"/>
          </a:xfrm>
          <a:prstGeom prst="rect">
            <a:avLst/>
          </a:prstGeom>
          <a:solidFill>
            <a:srgbClr val="E6F6EE"/>
          </a:solidFill>
          <a:ln/>
        </p:spPr>
      </p:sp>
      <p:sp>
        <p:nvSpPr>
          <p:cNvPr id="28"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1.4 pts to 13.2%, ahead of 2025 in all nine months, but 1.7 pts under the 15% benchmark — 4,821 alignments short.</a:t>
            </a:r>
            <a:endParaRPr lang="en-US" sz="1600" dirty="0"/>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Alignment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ALIGNMENT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15.0%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13.2%</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7" name="Shape 15"/>
          <p:cNvSpPr/>
          <p:nvPr/>
        </p:nvSpPr>
        <p:spPr>
          <a:xfrm>
            <a:off x="3008376" y="2146957"/>
            <a:ext cx="1502209"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24.4%</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21" name="Shape 19"/>
          <p:cNvSpPr/>
          <p:nvPr/>
        </p:nvSpPr>
        <p:spPr>
          <a:xfrm>
            <a:off x="3008376" y="2386853"/>
            <a:ext cx="1339459"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5" name="Shape 23"/>
          <p:cNvSpPr/>
          <p:nvPr/>
        </p:nvSpPr>
        <p:spPr>
          <a:xfrm>
            <a:off x="3008376" y="2626748"/>
            <a:ext cx="1310026"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9" name="Shape 27"/>
          <p:cNvSpPr/>
          <p:nvPr/>
        </p:nvSpPr>
        <p:spPr>
          <a:xfrm>
            <a:off x="3008376" y="2866644"/>
            <a:ext cx="1076659"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17.5%</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3" name="Shape 31"/>
          <p:cNvSpPr/>
          <p:nvPr/>
        </p:nvSpPr>
        <p:spPr>
          <a:xfrm>
            <a:off x="3008376" y="3106540"/>
            <a:ext cx="1069015"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7" name="Shape 35"/>
          <p:cNvSpPr/>
          <p:nvPr/>
        </p:nvSpPr>
        <p:spPr>
          <a:xfrm>
            <a:off x="3008376" y="3346435"/>
            <a:ext cx="1026449"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1" name="Shape 39"/>
          <p:cNvSpPr/>
          <p:nvPr/>
        </p:nvSpPr>
        <p:spPr>
          <a:xfrm>
            <a:off x="3008376" y="3586331"/>
            <a:ext cx="995062"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16.1%</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45" name="Shape 43"/>
          <p:cNvSpPr/>
          <p:nvPr/>
        </p:nvSpPr>
        <p:spPr>
          <a:xfrm>
            <a:off x="3008376" y="3826226"/>
            <a:ext cx="912206" cy="119948"/>
          </a:xfrm>
          <a:prstGeom prst="rect">
            <a:avLst/>
          </a:prstGeom>
          <a:solidFill>
            <a:srgbClr val="C2352F"/>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14.8%</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9" name="Shape 47"/>
          <p:cNvSpPr/>
          <p:nvPr/>
        </p:nvSpPr>
        <p:spPr>
          <a:xfrm>
            <a:off x="3008376" y="4066122"/>
            <a:ext cx="895065" cy="119948"/>
          </a:xfrm>
          <a:prstGeom prst="rect">
            <a:avLst/>
          </a:prstGeom>
          <a:solidFill>
            <a:srgbClr val="C2352F"/>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14.5%</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3" name="Shape 51"/>
          <p:cNvSpPr/>
          <p:nvPr/>
        </p:nvSpPr>
        <p:spPr>
          <a:xfrm>
            <a:off x="3008376" y="4306017"/>
            <a:ext cx="893702" cy="119948"/>
          </a:xfrm>
          <a:prstGeom prst="rect">
            <a:avLst/>
          </a:prstGeom>
          <a:solidFill>
            <a:srgbClr val="C2352F"/>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57" name="Shape 55"/>
          <p:cNvSpPr/>
          <p:nvPr/>
        </p:nvSpPr>
        <p:spPr>
          <a:xfrm>
            <a:off x="3008376" y="4545913"/>
            <a:ext cx="853471" cy="119948"/>
          </a:xfrm>
          <a:prstGeom prst="rect">
            <a:avLst/>
          </a:prstGeom>
          <a:solidFill>
            <a:srgbClr val="C2352F"/>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61" name="Shape 59"/>
          <p:cNvSpPr/>
          <p:nvPr/>
        </p:nvSpPr>
        <p:spPr>
          <a:xfrm>
            <a:off x="3008376" y="4785808"/>
            <a:ext cx="852824"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008376" y="5025704"/>
            <a:ext cx="836304"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69" name="Shape 67"/>
          <p:cNvSpPr/>
          <p:nvPr/>
        </p:nvSpPr>
        <p:spPr>
          <a:xfrm>
            <a:off x="3008376" y="5265599"/>
            <a:ext cx="791605"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73" name="Shape 71"/>
          <p:cNvSpPr/>
          <p:nvPr/>
        </p:nvSpPr>
        <p:spPr>
          <a:xfrm>
            <a:off x="3008376" y="5505495"/>
            <a:ext cx="790712"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7" name="Shape 75"/>
          <p:cNvSpPr/>
          <p:nvPr/>
        </p:nvSpPr>
        <p:spPr>
          <a:xfrm>
            <a:off x="3008376" y="5745390"/>
            <a:ext cx="773020"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1" name="Shape 79"/>
          <p:cNvSpPr/>
          <p:nvPr/>
        </p:nvSpPr>
        <p:spPr>
          <a:xfrm>
            <a:off x="8558784" y="1907062"/>
            <a:ext cx="770247"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5" name="Shape 83"/>
          <p:cNvSpPr/>
          <p:nvPr/>
        </p:nvSpPr>
        <p:spPr>
          <a:xfrm>
            <a:off x="8558784" y="2146957"/>
            <a:ext cx="758672"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9" name="Shape 87"/>
          <p:cNvSpPr/>
          <p:nvPr/>
        </p:nvSpPr>
        <p:spPr>
          <a:xfrm>
            <a:off x="8558784" y="2386853"/>
            <a:ext cx="726142"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3" name="Shape 91"/>
          <p:cNvSpPr/>
          <p:nvPr/>
        </p:nvSpPr>
        <p:spPr>
          <a:xfrm>
            <a:off x="8558784" y="2626748"/>
            <a:ext cx="722110"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11.7%</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8558784" y="2866644"/>
            <a:ext cx="698534"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1" name="Shape 99"/>
          <p:cNvSpPr/>
          <p:nvPr/>
        </p:nvSpPr>
        <p:spPr>
          <a:xfrm>
            <a:off x="8558784" y="3106540"/>
            <a:ext cx="68493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5" name="Shape 103"/>
          <p:cNvSpPr/>
          <p:nvPr/>
        </p:nvSpPr>
        <p:spPr>
          <a:xfrm>
            <a:off x="8558784" y="3346435"/>
            <a:ext cx="681795"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09" name="Shape 107"/>
          <p:cNvSpPr/>
          <p:nvPr/>
        </p:nvSpPr>
        <p:spPr>
          <a:xfrm>
            <a:off x="8558784" y="3586331"/>
            <a:ext cx="680768"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11.0%</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3" name="Shape 111"/>
          <p:cNvSpPr/>
          <p:nvPr/>
        </p:nvSpPr>
        <p:spPr>
          <a:xfrm>
            <a:off x="8558784" y="3826226"/>
            <a:ext cx="600097"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17" name="Shape 115"/>
          <p:cNvSpPr/>
          <p:nvPr/>
        </p:nvSpPr>
        <p:spPr>
          <a:xfrm>
            <a:off x="8558784" y="4066122"/>
            <a:ext cx="597592"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9.7%</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1" name="Shape 119"/>
          <p:cNvSpPr/>
          <p:nvPr/>
        </p:nvSpPr>
        <p:spPr>
          <a:xfrm>
            <a:off x="8558784" y="4306017"/>
            <a:ext cx="518858"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5" name="Shape 123"/>
          <p:cNvSpPr/>
          <p:nvPr/>
        </p:nvSpPr>
        <p:spPr>
          <a:xfrm>
            <a:off x="8558784" y="4545913"/>
            <a:ext cx="491810"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8.0%</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9" name="Shape 127"/>
          <p:cNvSpPr/>
          <p:nvPr/>
        </p:nvSpPr>
        <p:spPr>
          <a:xfrm>
            <a:off x="8558784" y="4785808"/>
            <a:ext cx="459272"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58784" y="5025704"/>
            <a:ext cx="345940"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5.6%</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37" name="Shape 135"/>
          <p:cNvSpPr/>
          <p:nvPr/>
        </p:nvSpPr>
        <p:spPr>
          <a:xfrm>
            <a:off x="8558784" y="5265599"/>
            <a:ext cx="261424"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41" name="Shape 139"/>
          <p:cNvSpPr/>
          <p:nvPr/>
        </p:nvSpPr>
        <p:spPr>
          <a:xfrm>
            <a:off x="8558784" y="5505495"/>
            <a:ext cx="259273"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143" name="Shape 141"/>
          <p:cNvSpPr/>
          <p:nvPr/>
        </p:nvSpPr>
        <p:spPr>
          <a:xfrm>
            <a:off x="3923086" y="1847088"/>
            <a:ext cx="14630" cy="4078224"/>
          </a:xfrm>
          <a:prstGeom prst="rect">
            <a:avLst/>
          </a:prstGeom>
          <a:solidFill>
            <a:srgbClr val="0B2C4A"/>
          </a:solidFill>
          <a:ln/>
        </p:spPr>
      </p:sp>
      <p:sp>
        <p:nvSpPr>
          <p:cNvPr id="144" name="Shape 142"/>
          <p:cNvSpPr/>
          <p:nvPr/>
        </p:nvSpPr>
        <p:spPr>
          <a:xfrm>
            <a:off x="9473494"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71856"/>
          </a:xfrm>
          <a:prstGeom prst="rect">
            <a:avLst/>
          </a:prstGeom>
          <a:solidFill>
            <a:srgbClr val="EDF4FA"/>
          </a:solidFill>
          <a:ln/>
        </p:spPr>
      </p:sp>
      <p:sp>
        <p:nvSpPr>
          <p:cNvPr id="147"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8 of 33 stores at or above 15%, led by Audi Henderson at 27.5%. The group sits at 13.2%.</a:t>
            </a:r>
            <a:endParaRPr lang="en-US" sz="1600" dirty="0"/>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Alignment Missed Opportunity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602736"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425696" y="1316736"/>
            <a:ext cx="5669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8" name="Text 6"/>
          <p:cNvSpPr txBox="1"/>
          <p:nvPr/>
        </p:nvSpPr>
        <p:spPr>
          <a:xfrm>
            <a:off x="4992624" y="1316736"/>
            <a:ext cx="87782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Services</a:t>
            </a:r>
            <a:endParaRPr lang="en-US" sz="1400" dirty="0"/>
          </a:p>
        </p:txBody>
      </p:sp>
      <p:sp>
        <p:nvSpPr>
          <p:cNvPr id="9" name="Text 7"/>
          <p:cNvSpPr txBox="1"/>
          <p:nvPr/>
        </p:nvSpPr>
        <p:spPr>
          <a:xfrm>
            <a:off x="9153144"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76104" y="1316736"/>
            <a:ext cx="5669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1" name="Text 9"/>
          <p:cNvSpPr txBox="1"/>
          <p:nvPr/>
        </p:nvSpPr>
        <p:spPr>
          <a:xfrm>
            <a:off x="10543032" y="1316736"/>
            <a:ext cx="87782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Services</a:t>
            </a:r>
            <a:endParaRPr lang="en-US" sz="1400" dirty="0"/>
          </a:p>
        </p:txBody>
      </p:sp>
      <p:sp>
        <p:nvSpPr>
          <p:cNvPr id="12" name="Text 10"/>
          <p:cNvSpPr txBox="1"/>
          <p:nvPr/>
        </p:nvSpPr>
        <p:spPr>
          <a:xfrm>
            <a:off x="658368" y="1700784"/>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3" name="Shape 11"/>
          <p:cNvSpPr/>
          <p:nvPr/>
        </p:nvSpPr>
        <p:spPr>
          <a:xfrm>
            <a:off x="2670048" y="1773901"/>
            <a:ext cx="877824" cy="178730"/>
          </a:xfrm>
          <a:prstGeom prst="rect">
            <a:avLst/>
          </a:prstGeom>
          <a:solidFill>
            <a:srgbClr val="C2352F"/>
          </a:solidFill>
          <a:ln/>
        </p:spPr>
      </p:sp>
      <p:sp>
        <p:nvSpPr>
          <p:cNvPr id="14" name="Text 12"/>
          <p:cNvSpPr txBox="1"/>
          <p:nvPr/>
        </p:nvSpPr>
        <p:spPr>
          <a:xfrm>
            <a:off x="3602736" y="1700784"/>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$225K</a:t>
            </a:r>
            <a:endParaRPr lang="en-US" sz="1300" dirty="0"/>
          </a:p>
        </p:txBody>
      </p:sp>
      <p:sp>
        <p:nvSpPr>
          <p:cNvPr id="15" name="Text 13"/>
          <p:cNvSpPr txBox="1"/>
          <p:nvPr/>
        </p:nvSpPr>
        <p:spPr>
          <a:xfrm>
            <a:off x="4425696" y="1700784"/>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16" name="Text 14"/>
          <p:cNvSpPr txBox="1"/>
          <p:nvPr/>
        </p:nvSpPr>
        <p:spPr>
          <a:xfrm>
            <a:off x="4992624" y="1700784"/>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2,490</a:t>
            </a:r>
            <a:endParaRPr lang="en-US" sz="1300" dirty="0"/>
          </a:p>
        </p:txBody>
      </p:sp>
      <p:sp>
        <p:nvSpPr>
          <p:cNvPr id="17" name="Text 15"/>
          <p:cNvSpPr txBox="1"/>
          <p:nvPr/>
        </p:nvSpPr>
        <p:spPr>
          <a:xfrm>
            <a:off x="658368" y="2025748"/>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8" name="Shape 16"/>
          <p:cNvSpPr/>
          <p:nvPr/>
        </p:nvSpPr>
        <p:spPr>
          <a:xfrm>
            <a:off x="2670048" y="2098865"/>
            <a:ext cx="350494" cy="178730"/>
          </a:xfrm>
          <a:prstGeom prst="rect">
            <a:avLst/>
          </a:prstGeom>
          <a:solidFill>
            <a:srgbClr val="C2352F"/>
          </a:solidFill>
          <a:ln/>
        </p:spPr>
      </p:sp>
      <p:sp>
        <p:nvSpPr>
          <p:cNvPr id="19" name="Text 17"/>
          <p:cNvSpPr txBox="1"/>
          <p:nvPr/>
        </p:nvSpPr>
        <p:spPr>
          <a:xfrm>
            <a:off x="3602736" y="2025748"/>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$90K</a:t>
            </a:r>
            <a:endParaRPr lang="en-US" sz="1300" dirty="0"/>
          </a:p>
        </p:txBody>
      </p:sp>
      <p:sp>
        <p:nvSpPr>
          <p:cNvPr id="20" name="Text 18"/>
          <p:cNvSpPr txBox="1"/>
          <p:nvPr/>
        </p:nvSpPr>
        <p:spPr>
          <a:xfrm>
            <a:off x="4425696" y="2025748"/>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a:t>
            </a:r>
            <a:endParaRPr lang="en-US" sz="1300" dirty="0"/>
          </a:p>
        </p:txBody>
      </p:sp>
      <p:sp>
        <p:nvSpPr>
          <p:cNvPr id="21" name="Text 19"/>
          <p:cNvSpPr txBox="1"/>
          <p:nvPr/>
        </p:nvSpPr>
        <p:spPr>
          <a:xfrm>
            <a:off x="4992624" y="2025748"/>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1,066</a:t>
            </a:r>
            <a:endParaRPr lang="en-US" sz="1300" dirty="0"/>
          </a:p>
        </p:txBody>
      </p:sp>
      <p:sp>
        <p:nvSpPr>
          <p:cNvPr id="22" name="Text 20"/>
          <p:cNvSpPr txBox="1"/>
          <p:nvPr/>
        </p:nvSpPr>
        <p:spPr>
          <a:xfrm>
            <a:off x="658368" y="2350711"/>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23" name="Shape 21"/>
          <p:cNvSpPr/>
          <p:nvPr/>
        </p:nvSpPr>
        <p:spPr>
          <a:xfrm>
            <a:off x="2670048" y="2423828"/>
            <a:ext cx="323881" cy="178730"/>
          </a:xfrm>
          <a:prstGeom prst="rect">
            <a:avLst/>
          </a:prstGeom>
          <a:solidFill>
            <a:srgbClr val="C2352F"/>
          </a:solidFill>
          <a:ln/>
        </p:spPr>
      </p:sp>
      <p:sp>
        <p:nvSpPr>
          <p:cNvPr id="24" name="Text 22"/>
          <p:cNvSpPr txBox="1"/>
          <p:nvPr/>
        </p:nvSpPr>
        <p:spPr>
          <a:xfrm>
            <a:off x="3602736" y="2350711"/>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$83K</a:t>
            </a:r>
            <a:endParaRPr lang="en-US" sz="1300" dirty="0"/>
          </a:p>
        </p:txBody>
      </p:sp>
      <p:sp>
        <p:nvSpPr>
          <p:cNvPr id="25" name="Text 23"/>
          <p:cNvSpPr txBox="1"/>
          <p:nvPr/>
        </p:nvSpPr>
        <p:spPr>
          <a:xfrm>
            <a:off x="4425696" y="2350711"/>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7.4%</a:t>
            </a:r>
            <a:endParaRPr lang="en-US" sz="1300" dirty="0"/>
          </a:p>
        </p:txBody>
      </p:sp>
      <p:sp>
        <p:nvSpPr>
          <p:cNvPr id="26" name="Text 24"/>
          <p:cNvSpPr txBox="1"/>
          <p:nvPr/>
        </p:nvSpPr>
        <p:spPr>
          <a:xfrm>
            <a:off x="4992624" y="2350711"/>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700</a:t>
            </a:r>
            <a:endParaRPr lang="en-US" sz="1300" dirty="0"/>
          </a:p>
        </p:txBody>
      </p:sp>
      <p:sp>
        <p:nvSpPr>
          <p:cNvPr id="27" name="Text 25"/>
          <p:cNvSpPr txBox="1"/>
          <p:nvPr/>
        </p:nvSpPr>
        <p:spPr>
          <a:xfrm>
            <a:off x="658368" y="2675675"/>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28" name="Shape 26"/>
          <p:cNvSpPr/>
          <p:nvPr/>
        </p:nvSpPr>
        <p:spPr>
          <a:xfrm>
            <a:off x="2670048" y="2748792"/>
            <a:ext cx="299199" cy="178730"/>
          </a:xfrm>
          <a:prstGeom prst="rect">
            <a:avLst/>
          </a:prstGeom>
          <a:solidFill>
            <a:srgbClr val="C2352F"/>
          </a:solidFill>
          <a:ln/>
        </p:spPr>
      </p:sp>
      <p:sp>
        <p:nvSpPr>
          <p:cNvPr id="29" name="Text 27"/>
          <p:cNvSpPr txBox="1"/>
          <p:nvPr/>
        </p:nvSpPr>
        <p:spPr>
          <a:xfrm>
            <a:off x="3602736" y="2675675"/>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$77K</a:t>
            </a:r>
            <a:endParaRPr lang="en-US" sz="1300" dirty="0"/>
          </a:p>
        </p:txBody>
      </p:sp>
      <p:sp>
        <p:nvSpPr>
          <p:cNvPr id="30" name="Text 28"/>
          <p:cNvSpPr txBox="1"/>
          <p:nvPr/>
        </p:nvSpPr>
        <p:spPr>
          <a:xfrm>
            <a:off x="4425696" y="2675675"/>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a:t>
            </a:r>
            <a:endParaRPr lang="en-US" sz="1300" dirty="0"/>
          </a:p>
        </p:txBody>
      </p:sp>
      <p:sp>
        <p:nvSpPr>
          <p:cNvPr id="31" name="Text 29"/>
          <p:cNvSpPr txBox="1"/>
          <p:nvPr/>
        </p:nvSpPr>
        <p:spPr>
          <a:xfrm>
            <a:off x="4992624" y="2675675"/>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568</a:t>
            </a:r>
            <a:endParaRPr lang="en-US" sz="1300" dirty="0"/>
          </a:p>
        </p:txBody>
      </p:sp>
      <p:sp>
        <p:nvSpPr>
          <p:cNvPr id="32" name="Text 30"/>
          <p:cNvSpPr txBox="1"/>
          <p:nvPr/>
        </p:nvSpPr>
        <p:spPr>
          <a:xfrm>
            <a:off x="658368" y="3000639"/>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33" name="Shape 31"/>
          <p:cNvSpPr/>
          <p:nvPr/>
        </p:nvSpPr>
        <p:spPr>
          <a:xfrm>
            <a:off x="2670048" y="3073756"/>
            <a:ext cx="294028" cy="178730"/>
          </a:xfrm>
          <a:prstGeom prst="rect">
            <a:avLst/>
          </a:prstGeom>
          <a:solidFill>
            <a:srgbClr val="C2352F"/>
          </a:solidFill>
          <a:ln/>
        </p:spPr>
      </p:sp>
      <p:sp>
        <p:nvSpPr>
          <p:cNvPr id="34" name="Text 32"/>
          <p:cNvSpPr txBox="1"/>
          <p:nvPr/>
        </p:nvSpPr>
        <p:spPr>
          <a:xfrm>
            <a:off x="3602736" y="3000639"/>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$75K</a:t>
            </a:r>
            <a:endParaRPr lang="en-US" sz="1300" dirty="0"/>
          </a:p>
        </p:txBody>
      </p:sp>
      <p:sp>
        <p:nvSpPr>
          <p:cNvPr id="35" name="Text 33"/>
          <p:cNvSpPr txBox="1"/>
          <p:nvPr/>
        </p:nvSpPr>
        <p:spPr>
          <a:xfrm>
            <a:off x="4425696" y="3000639"/>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12.8%</a:t>
            </a:r>
            <a:endParaRPr lang="en-US" sz="1300" dirty="0"/>
          </a:p>
        </p:txBody>
      </p:sp>
      <p:sp>
        <p:nvSpPr>
          <p:cNvPr id="36" name="Text 34"/>
          <p:cNvSpPr txBox="1"/>
          <p:nvPr/>
        </p:nvSpPr>
        <p:spPr>
          <a:xfrm>
            <a:off x="4992624" y="3000639"/>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556</a:t>
            </a:r>
            <a:endParaRPr lang="en-US" sz="1300" dirty="0"/>
          </a:p>
        </p:txBody>
      </p:sp>
      <p:sp>
        <p:nvSpPr>
          <p:cNvPr id="37" name="Text 35"/>
          <p:cNvSpPr txBox="1"/>
          <p:nvPr/>
        </p:nvSpPr>
        <p:spPr>
          <a:xfrm>
            <a:off x="658368" y="3325602"/>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38" name="Shape 36"/>
          <p:cNvSpPr/>
          <p:nvPr/>
        </p:nvSpPr>
        <p:spPr>
          <a:xfrm>
            <a:off x="2670048" y="3398719"/>
            <a:ext cx="222710" cy="178730"/>
          </a:xfrm>
          <a:prstGeom prst="rect">
            <a:avLst/>
          </a:prstGeom>
          <a:solidFill>
            <a:srgbClr val="C2352F"/>
          </a:solidFill>
          <a:ln/>
        </p:spPr>
      </p:sp>
      <p:sp>
        <p:nvSpPr>
          <p:cNvPr id="39" name="Text 37"/>
          <p:cNvSpPr txBox="1"/>
          <p:nvPr/>
        </p:nvSpPr>
        <p:spPr>
          <a:xfrm>
            <a:off x="3602736" y="3325602"/>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$57K</a:t>
            </a:r>
            <a:endParaRPr lang="en-US" sz="1300" dirty="0"/>
          </a:p>
        </p:txBody>
      </p:sp>
      <p:sp>
        <p:nvSpPr>
          <p:cNvPr id="40" name="Text 38"/>
          <p:cNvSpPr txBox="1"/>
          <p:nvPr/>
        </p:nvSpPr>
        <p:spPr>
          <a:xfrm>
            <a:off x="4425696" y="3325602"/>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41" name="Text 39"/>
          <p:cNvSpPr txBox="1"/>
          <p:nvPr/>
        </p:nvSpPr>
        <p:spPr>
          <a:xfrm>
            <a:off x="4992624" y="3325602"/>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770</a:t>
            </a:r>
            <a:endParaRPr lang="en-US" sz="1300" dirty="0"/>
          </a:p>
        </p:txBody>
      </p:sp>
      <p:sp>
        <p:nvSpPr>
          <p:cNvPr id="42" name="Text 40"/>
          <p:cNvSpPr txBox="1"/>
          <p:nvPr/>
        </p:nvSpPr>
        <p:spPr>
          <a:xfrm>
            <a:off x="658368" y="3650566"/>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43" name="Shape 41"/>
          <p:cNvSpPr/>
          <p:nvPr/>
        </p:nvSpPr>
        <p:spPr>
          <a:xfrm>
            <a:off x="2670048" y="3723683"/>
            <a:ext cx="192423" cy="178730"/>
          </a:xfrm>
          <a:prstGeom prst="rect">
            <a:avLst/>
          </a:prstGeom>
          <a:solidFill>
            <a:srgbClr val="C2352F"/>
          </a:solidFill>
          <a:ln/>
        </p:spPr>
      </p:sp>
      <p:sp>
        <p:nvSpPr>
          <p:cNvPr id="44" name="Text 42"/>
          <p:cNvSpPr txBox="1"/>
          <p:nvPr/>
        </p:nvSpPr>
        <p:spPr>
          <a:xfrm>
            <a:off x="3602736" y="3650566"/>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$49K</a:t>
            </a:r>
            <a:endParaRPr lang="en-US" sz="1300" dirty="0"/>
          </a:p>
        </p:txBody>
      </p:sp>
      <p:sp>
        <p:nvSpPr>
          <p:cNvPr id="45" name="Text 43"/>
          <p:cNvSpPr txBox="1"/>
          <p:nvPr/>
        </p:nvSpPr>
        <p:spPr>
          <a:xfrm>
            <a:off x="4425696" y="3650566"/>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12.3%</a:t>
            </a:r>
            <a:endParaRPr lang="en-US" sz="1300" dirty="0"/>
          </a:p>
        </p:txBody>
      </p:sp>
      <p:sp>
        <p:nvSpPr>
          <p:cNvPr id="46" name="Text 44"/>
          <p:cNvSpPr txBox="1"/>
          <p:nvPr/>
        </p:nvSpPr>
        <p:spPr>
          <a:xfrm>
            <a:off x="4992624" y="3650566"/>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478</a:t>
            </a:r>
            <a:endParaRPr lang="en-US" sz="1300" dirty="0"/>
          </a:p>
        </p:txBody>
      </p:sp>
      <p:sp>
        <p:nvSpPr>
          <p:cNvPr id="47" name="Text 45"/>
          <p:cNvSpPr txBox="1"/>
          <p:nvPr/>
        </p:nvSpPr>
        <p:spPr>
          <a:xfrm>
            <a:off x="658368" y="3975530"/>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48" name="Shape 46"/>
          <p:cNvSpPr/>
          <p:nvPr/>
        </p:nvSpPr>
        <p:spPr>
          <a:xfrm>
            <a:off x="2670048" y="4048647"/>
            <a:ext cx="148892" cy="178730"/>
          </a:xfrm>
          <a:prstGeom prst="rect">
            <a:avLst/>
          </a:prstGeom>
          <a:solidFill>
            <a:srgbClr val="C2352F"/>
          </a:solidFill>
          <a:ln/>
        </p:spPr>
      </p:sp>
      <p:sp>
        <p:nvSpPr>
          <p:cNvPr id="49" name="Text 47"/>
          <p:cNvSpPr txBox="1"/>
          <p:nvPr/>
        </p:nvSpPr>
        <p:spPr>
          <a:xfrm>
            <a:off x="3602736" y="3975530"/>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$38K</a:t>
            </a:r>
            <a:endParaRPr lang="en-US" sz="1300" dirty="0"/>
          </a:p>
        </p:txBody>
      </p:sp>
      <p:sp>
        <p:nvSpPr>
          <p:cNvPr id="50" name="Text 48"/>
          <p:cNvSpPr txBox="1"/>
          <p:nvPr/>
        </p:nvSpPr>
        <p:spPr>
          <a:xfrm>
            <a:off x="4425696" y="3975530"/>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8.0%</a:t>
            </a:r>
            <a:endParaRPr lang="en-US" sz="1300" dirty="0"/>
          </a:p>
        </p:txBody>
      </p:sp>
      <p:sp>
        <p:nvSpPr>
          <p:cNvPr id="51" name="Text 49"/>
          <p:cNvSpPr txBox="1"/>
          <p:nvPr/>
        </p:nvSpPr>
        <p:spPr>
          <a:xfrm>
            <a:off x="4992624" y="3975530"/>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365</a:t>
            </a:r>
            <a:endParaRPr lang="en-US" sz="1300" dirty="0"/>
          </a:p>
        </p:txBody>
      </p:sp>
      <p:sp>
        <p:nvSpPr>
          <p:cNvPr id="52" name="Text 50"/>
          <p:cNvSpPr txBox="1"/>
          <p:nvPr/>
        </p:nvSpPr>
        <p:spPr>
          <a:xfrm>
            <a:off x="658368" y="4300494"/>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53" name="Shape 51"/>
          <p:cNvSpPr/>
          <p:nvPr/>
        </p:nvSpPr>
        <p:spPr>
          <a:xfrm>
            <a:off x="2670048" y="4373610"/>
            <a:ext cx="141539" cy="178730"/>
          </a:xfrm>
          <a:prstGeom prst="rect">
            <a:avLst/>
          </a:prstGeom>
          <a:solidFill>
            <a:srgbClr val="C2352F"/>
          </a:solidFill>
          <a:ln/>
        </p:spPr>
      </p:sp>
      <p:sp>
        <p:nvSpPr>
          <p:cNvPr id="54" name="Text 52"/>
          <p:cNvSpPr txBox="1"/>
          <p:nvPr/>
        </p:nvSpPr>
        <p:spPr>
          <a:xfrm>
            <a:off x="3602736" y="4300494"/>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$36K</a:t>
            </a:r>
            <a:endParaRPr lang="en-US" sz="1300" dirty="0"/>
          </a:p>
        </p:txBody>
      </p:sp>
      <p:sp>
        <p:nvSpPr>
          <p:cNvPr id="55" name="Text 53"/>
          <p:cNvSpPr txBox="1"/>
          <p:nvPr/>
        </p:nvSpPr>
        <p:spPr>
          <a:xfrm>
            <a:off x="4425696" y="4300494"/>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a:t>
            </a:r>
            <a:endParaRPr lang="en-US" sz="1300" dirty="0"/>
          </a:p>
        </p:txBody>
      </p:sp>
      <p:sp>
        <p:nvSpPr>
          <p:cNvPr id="56" name="Text 54"/>
          <p:cNvSpPr txBox="1"/>
          <p:nvPr/>
        </p:nvSpPr>
        <p:spPr>
          <a:xfrm>
            <a:off x="4992624" y="4300494"/>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294</a:t>
            </a:r>
            <a:endParaRPr lang="en-US" sz="1300" dirty="0"/>
          </a:p>
        </p:txBody>
      </p:sp>
      <p:sp>
        <p:nvSpPr>
          <p:cNvPr id="57" name="Text 55"/>
          <p:cNvSpPr txBox="1"/>
          <p:nvPr/>
        </p:nvSpPr>
        <p:spPr>
          <a:xfrm>
            <a:off x="658368" y="4625457"/>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58" name="Shape 56"/>
          <p:cNvSpPr/>
          <p:nvPr/>
        </p:nvSpPr>
        <p:spPr>
          <a:xfrm>
            <a:off x="2670048" y="4698574"/>
            <a:ext cx="133799" cy="178730"/>
          </a:xfrm>
          <a:prstGeom prst="rect">
            <a:avLst/>
          </a:prstGeom>
          <a:solidFill>
            <a:srgbClr val="C2352F"/>
          </a:solidFill>
          <a:ln/>
        </p:spPr>
      </p:sp>
      <p:sp>
        <p:nvSpPr>
          <p:cNvPr id="59" name="Text 57"/>
          <p:cNvSpPr txBox="1"/>
          <p:nvPr/>
        </p:nvSpPr>
        <p:spPr>
          <a:xfrm>
            <a:off x="3602736" y="4625457"/>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$34K</a:t>
            </a:r>
            <a:endParaRPr lang="en-US" sz="1300" dirty="0"/>
          </a:p>
        </p:txBody>
      </p:sp>
      <p:sp>
        <p:nvSpPr>
          <p:cNvPr id="60" name="Text 58"/>
          <p:cNvSpPr txBox="1"/>
          <p:nvPr/>
        </p:nvSpPr>
        <p:spPr>
          <a:xfrm>
            <a:off x="4425696" y="4625457"/>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11.8%</a:t>
            </a:r>
            <a:endParaRPr lang="en-US" sz="1300" dirty="0"/>
          </a:p>
        </p:txBody>
      </p:sp>
      <p:sp>
        <p:nvSpPr>
          <p:cNvPr id="61" name="Text 59"/>
          <p:cNvSpPr txBox="1"/>
          <p:nvPr/>
        </p:nvSpPr>
        <p:spPr>
          <a:xfrm>
            <a:off x="4992624" y="4625457"/>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a:t>
            </a:r>
            <a:endParaRPr lang="en-US" sz="1300" dirty="0"/>
          </a:p>
        </p:txBody>
      </p:sp>
      <p:sp>
        <p:nvSpPr>
          <p:cNvPr id="62" name="Text 60"/>
          <p:cNvSpPr txBox="1"/>
          <p:nvPr/>
        </p:nvSpPr>
        <p:spPr>
          <a:xfrm>
            <a:off x="658368" y="4950421"/>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63" name="Shape 61"/>
          <p:cNvSpPr/>
          <p:nvPr/>
        </p:nvSpPr>
        <p:spPr>
          <a:xfrm>
            <a:off x="2670048" y="5023538"/>
            <a:ext cx="129160" cy="178730"/>
          </a:xfrm>
          <a:prstGeom prst="rect">
            <a:avLst/>
          </a:prstGeom>
          <a:solidFill>
            <a:srgbClr val="C2352F"/>
          </a:solidFill>
          <a:ln/>
        </p:spPr>
      </p:sp>
      <p:sp>
        <p:nvSpPr>
          <p:cNvPr id="64" name="Text 62"/>
          <p:cNvSpPr txBox="1"/>
          <p:nvPr/>
        </p:nvSpPr>
        <p:spPr>
          <a:xfrm>
            <a:off x="3602736" y="4950421"/>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$33K</a:t>
            </a:r>
            <a:endParaRPr lang="en-US" sz="1300" dirty="0"/>
          </a:p>
        </p:txBody>
      </p:sp>
      <p:sp>
        <p:nvSpPr>
          <p:cNvPr id="65" name="Text 63"/>
          <p:cNvSpPr txBox="1"/>
          <p:nvPr/>
        </p:nvSpPr>
        <p:spPr>
          <a:xfrm>
            <a:off x="4425696" y="4950421"/>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14.5%</a:t>
            </a:r>
            <a:endParaRPr lang="en-US" sz="1300" dirty="0"/>
          </a:p>
        </p:txBody>
      </p:sp>
      <p:sp>
        <p:nvSpPr>
          <p:cNvPr id="66" name="Text 64"/>
          <p:cNvSpPr txBox="1"/>
          <p:nvPr/>
        </p:nvSpPr>
        <p:spPr>
          <a:xfrm>
            <a:off x="4992624" y="4950421"/>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326</a:t>
            </a:r>
            <a:endParaRPr lang="en-US" sz="1300" dirty="0"/>
          </a:p>
        </p:txBody>
      </p:sp>
      <p:sp>
        <p:nvSpPr>
          <p:cNvPr id="67" name="Text 65"/>
          <p:cNvSpPr txBox="1"/>
          <p:nvPr/>
        </p:nvSpPr>
        <p:spPr>
          <a:xfrm>
            <a:off x="658368" y="5275385"/>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68" name="Shape 66"/>
          <p:cNvSpPr/>
          <p:nvPr/>
        </p:nvSpPr>
        <p:spPr>
          <a:xfrm>
            <a:off x="2670048" y="5348501"/>
            <a:ext cx="127194" cy="178730"/>
          </a:xfrm>
          <a:prstGeom prst="rect">
            <a:avLst/>
          </a:prstGeom>
          <a:solidFill>
            <a:srgbClr val="C2352F"/>
          </a:solidFill>
          <a:ln/>
        </p:spPr>
      </p:sp>
      <p:sp>
        <p:nvSpPr>
          <p:cNvPr id="69" name="Text 67"/>
          <p:cNvSpPr txBox="1"/>
          <p:nvPr/>
        </p:nvSpPr>
        <p:spPr>
          <a:xfrm>
            <a:off x="3602736" y="5275385"/>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$33K</a:t>
            </a:r>
            <a:endParaRPr lang="en-US" sz="1300" dirty="0"/>
          </a:p>
        </p:txBody>
      </p:sp>
      <p:sp>
        <p:nvSpPr>
          <p:cNvPr id="70" name="Text 68"/>
          <p:cNvSpPr txBox="1"/>
          <p:nvPr/>
        </p:nvSpPr>
        <p:spPr>
          <a:xfrm>
            <a:off x="4425696" y="5275385"/>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11.3%</a:t>
            </a:r>
            <a:endParaRPr lang="en-US" sz="1300" dirty="0"/>
          </a:p>
        </p:txBody>
      </p:sp>
      <p:sp>
        <p:nvSpPr>
          <p:cNvPr id="71" name="Text 69"/>
          <p:cNvSpPr txBox="1"/>
          <p:nvPr/>
        </p:nvSpPr>
        <p:spPr>
          <a:xfrm>
            <a:off x="4992624" y="5275385"/>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221</a:t>
            </a:r>
            <a:endParaRPr lang="en-US" sz="1300" dirty="0"/>
          </a:p>
        </p:txBody>
      </p:sp>
      <p:sp>
        <p:nvSpPr>
          <p:cNvPr id="72" name="Text 70"/>
          <p:cNvSpPr txBox="1"/>
          <p:nvPr/>
        </p:nvSpPr>
        <p:spPr>
          <a:xfrm>
            <a:off x="658368" y="5600348"/>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73" name="Shape 71"/>
          <p:cNvSpPr/>
          <p:nvPr/>
        </p:nvSpPr>
        <p:spPr>
          <a:xfrm>
            <a:off x="2670048" y="5673465"/>
            <a:ext cx="102484" cy="178730"/>
          </a:xfrm>
          <a:prstGeom prst="rect">
            <a:avLst/>
          </a:prstGeom>
          <a:solidFill>
            <a:srgbClr val="C2352F"/>
          </a:solidFill>
          <a:ln/>
        </p:spPr>
      </p:sp>
      <p:sp>
        <p:nvSpPr>
          <p:cNvPr id="74" name="Text 72"/>
          <p:cNvSpPr txBox="1"/>
          <p:nvPr/>
        </p:nvSpPr>
        <p:spPr>
          <a:xfrm>
            <a:off x="3602736" y="5600348"/>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$26K</a:t>
            </a:r>
            <a:endParaRPr lang="en-US" sz="1300" dirty="0"/>
          </a:p>
        </p:txBody>
      </p:sp>
      <p:sp>
        <p:nvSpPr>
          <p:cNvPr id="75" name="Text 73"/>
          <p:cNvSpPr txBox="1"/>
          <p:nvPr/>
        </p:nvSpPr>
        <p:spPr>
          <a:xfrm>
            <a:off x="4425696" y="5600348"/>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8.4%</a:t>
            </a:r>
            <a:endParaRPr lang="en-US" sz="1300" dirty="0"/>
          </a:p>
        </p:txBody>
      </p:sp>
      <p:sp>
        <p:nvSpPr>
          <p:cNvPr id="76" name="Text 74"/>
          <p:cNvSpPr txBox="1"/>
          <p:nvPr/>
        </p:nvSpPr>
        <p:spPr>
          <a:xfrm>
            <a:off x="4992624" y="5600348"/>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230</a:t>
            </a:r>
            <a:endParaRPr lang="en-US" sz="1300" dirty="0"/>
          </a:p>
        </p:txBody>
      </p:sp>
      <p:sp>
        <p:nvSpPr>
          <p:cNvPr id="77" name="Text 75"/>
          <p:cNvSpPr txBox="1"/>
          <p:nvPr/>
        </p:nvSpPr>
        <p:spPr>
          <a:xfrm>
            <a:off x="6208776" y="1700784"/>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78" name="Shape 76"/>
          <p:cNvSpPr/>
          <p:nvPr/>
        </p:nvSpPr>
        <p:spPr>
          <a:xfrm>
            <a:off x="8220456" y="1773901"/>
            <a:ext cx="98792" cy="178730"/>
          </a:xfrm>
          <a:prstGeom prst="rect">
            <a:avLst/>
          </a:prstGeom>
          <a:solidFill>
            <a:srgbClr val="C2352F"/>
          </a:solidFill>
          <a:ln/>
        </p:spPr>
      </p:sp>
      <p:sp>
        <p:nvSpPr>
          <p:cNvPr id="79" name="Text 77"/>
          <p:cNvSpPr txBox="1"/>
          <p:nvPr/>
        </p:nvSpPr>
        <p:spPr>
          <a:xfrm>
            <a:off x="9153144" y="1700784"/>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$25K</a:t>
            </a:r>
            <a:endParaRPr lang="en-US" sz="1300" dirty="0"/>
          </a:p>
        </p:txBody>
      </p:sp>
      <p:sp>
        <p:nvSpPr>
          <p:cNvPr id="80" name="Text 78"/>
          <p:cNvSpPr txBox="1"/>
          <p:nvPr/>
        </p:nvSpPr>
        <p:spPr>
          <a:xfrm>
            <a:off x="9976104" y="1700784"/>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11.1%</a:t>
            </a:r>
            <a:endParaRPr lang="en-US" sz="1300" dirty="0"/>
          </a:p>
        </p:txBody>
      </p:sp>
      <p:sp>
        <p:nvSpPr>
          <p:cNvPr id="81" name="Text 79"/>
          <p:cNvSpPr txBox="1"/>
          <p:nvPr/>
        </p:nvSpPr>
        <p:spPr>
          <a:xfrm>
            <a:off x="10543032" y="1700784"/>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324</a:t>
            </a:r>
            <a:endParaRPr lang="en-US" sz="1300" dirty="0"/>
          </a:p>
        </p:txBody>
      </p:sp>
      <p:sp>
        <p:nvSpPr>
          <p:cNvPr id="82" name="Text 80"/>
          <p:cNvSpPr txBox="1"/>
          <p:nvPr/>
        </p:nvSpPr>
        <p:spPr>
          <a:xfrm>
            <a:off x="6208776" y="2025748"/>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83" name="Shape 81"/>
          <p:cNvSpPr/>
          <p:nvPr/>
        </p:nvSpPr>
        <p:spPr>
          <a:xfrm>
            <a:off x="8220456" y="2098865"/>
            <a:ext cx="91358" cy="178730"/>
          </a:xfrm>
          <a:prstGeom prst="rect">
            <a:avLst/>
          </a:prstGeom>
          <a:solidFill>
            <a:srgbClr val="C2352F"/>
          </a:solidFill>
          <a:ln/>
        </p:spPr>
      </p:sp>
      <p:sp>
        <p:nvSpPr>
          <p:cNvPr id="84" name="Text 82"/>
          <p:cNvSpPr txBox="1"/>
          <p:nvPr/>
        </p:nvSpPr>
        <p:spPr>
          <a:xfrm>
            <a:off x="9153144" y="2025748"/>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$23K</a:t>
            </a:r>
            <a:endParaRPr lang="en-US" sz="1300" dirty="0"/>
          </a:p>
        </p:txBody>
      </p:sp>
      <p:sp>
        <p:nvSpPr>
          <p:cNvPr id="85" name="Text 83"/>
          <p:cNvSpPr txBox="1"/>
          <p:nvPr/>
        </p:nvSpPr>
        <p:spPr>
          <a:xfrm>
            <a:off x="9976104" y="2025748"/>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13.6%</a:t>
            </a:r>
            <a:endParaRPr lang="en-US" sz="1300" dirty="0"/>
          </a:p>
        </p:txBody>
      </p:sp>
      <p:sp>
        <p:nvSpPr>
          <p:cNvPr id="86" name="Text 84"/>
          <p:cNvSpPr txBox="1"/>
          <p:nvPr/>
        </p:nvSpPr>
        <p:spPr>
          <a:xfrm>
            <a:off x="10543032" y="2025748"/>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96</a:t>
            </a:r>
            <a:endParaRPr lang="en-US" sz="1300" dirty="0"/>
          </a:p>
        </p:txBody>
      </p:sp>
      <p:sp>
        <p:nvSpPr>
          <p:cNvPr id="87" name="Text 85"/>
          <p:cNvSpPr txBox="1"/>
          <p:nvPr/>
        </p:nvSpPr>
        <p:spPr>
          <a:xfrm>
            <a:off x="6208776" y="2350711"/>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88" name="Shape 86"/>
          <p:cNvSpPr/>
          <p:nvPr/>
        </p:nvSpPr>
        <p:spPr>
          <a:xfrm>
            <a:off x="8220456" y="2423828"/>
            <a:ext cx="88193" cy="178730"/>
          </a:xfrm>
          <a:prstGeom prst="rect">
            <a:avLst/>
          </a:prstGeom>
          <a:solidFill>
            <a:srgbClr val="C2352F"/>
          </a:solidFill>
          <a:ln/>
        </p:spPr>
      </p:sp>
      <p:sp>
        <p:nvSpPr>
          <p:cNvPr id="89" name="Text 87"/>
          <p:cNvSpPr txBox="1"/>
          <p:nvPr/>
        </p:nvSpPr>
        <p:spPr>
          <a:xfrm>
            <a:off x="9153144" y="2350711"/>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$23K</a:t>
            </a:r>
            <a:endParaRPr lang="en-US" sz="1300" dirty="0"/>
          </a:p>
        </p:txBody>
      </p:sp>
      <p:sp>
        <p:nvSpPr>
          <p:cNvPr id="90" name="Text 88"/>
          <p:cNvSpPr txBox="1"/>
          <p:nvPr/>
        </p:nvSpPr>
        <p:spPr>
          <a:xfrm>
            <a:off x="9976104" y="2350711"/>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a:t>
            </a:r>
            <a:endParaRPr lang="en-US" sz="1300" dirty="0"/>
          </a:p>
        </p:txBody>
      </p:sp>
      <p:sp>
        <p:nvSpPr>
          <p:cNvPr id="91" name="Text 89"/>
          <p:cNvSpPr txBox="1"/>
          <p:nvPr/>
        </p:nvSpPr>
        <p:spPr>
          <a:xfrm>
            <a:off x="10543032" y="2350711"/>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291</a:t>
            </a:r>
            <a:endParaRPr lang="en-US" sz="1300" dirty="0"/>
          </a:p>
        </p:txBody>
      </p:sp>
      <p:sp>
        <p:nvSpPr>
          <p:cNvPr id="92" name="Text 90"/>
          <p:cNvSpPr txBox="1"/>
          <p:nvPr/>
        </p:nvSpPr>
        <p:spPr>
          <a:xfrm>
            <a:off x="6208776" y="2675675"/>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93" name="Shape 91"/>
          <p:cNvSpPr/>
          <p:nvPr/>
        </p:nvSpPr>
        <p:spPr>
          <a:xfrm>
            <a:off x="8220456" y="2748792"/>
            <a:ext cx="81609" cy="178730"/>
          </a:xfrm>
          <a:prstGeom prst="rect">
            <a:avLst/>
          </a:prstGeom>
          <a:solidFill>
            <a:srgbClr val="C2352F"/>
          </a:solidFill>
          <a:ln/>
        </p:spPr>
      </p:sp>
      <p:sp>
        <p:nvSpPr>
          <p:cNvPr id="94" name="Text 92"/>
          <p:cNvSpPr txBox="1"/>
          <p:nvPr/>
        </p:nvSpPr>
        <p:spPr>
          <a:xfrm>
            <a:off x="9153144" y="2675675"/>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95" name="Text 93"/>
          <p:cNvSpPr txBox="1"/>
          <p:nvPr/>
        </p:nvSpPr>
        <p:spPr>
          <a:xfrm>
            <a:off x="9976104" y="2675675"/>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a:t>
            </a:r>
            <a:endParaRPr lang="en-US" sz="1300" dirty="0"/>
          </a:p>
        </p:txBody>
      </p:sp>
      <p:sp>
        <p:nvSpPr>
          <p:cNvPr id="96" name="Text 94"/>
          <p:cNvSpPr txBox="1"/>
          <p:nvPr/>
        </p:nvSpPr>
        <p:spPr>
          <a:xfrm>
            <a:off x="10543032" y="2675675"/>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210</a:t>
            </a:r>
            <a:endParaRPr lang="en-US" sz="1300" dirty="0"/>
          </a:p>
        </p:txBody>
      </p:sp>
      <p:sp>
        <p:nvSpPr>
          <p:cNvPr id="97" name="Text 95"/>
          <p:cNvSpPr txBox="1"/>
          <p:nvPr/>
        </p:nvSpPr>
        <p:spPr>
          <a:xfrm>
            <a:off x="6208776" y="3000639"/>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98" name="Shape 96"/>
          <p:cNvSpPr/>
          <p:nvPr/>
        </p:nvSpPr>
        <p:spPr>
          <a:xfrm>
            <a:off x="8220456" y="3073756"/>
            <a:ext cx="69229" cy="178730"/>
          </a:xfrm>
          <a:prstGeom prst="rect">
            <a:avLst/>
          </a:prstGeom>
          <a:solidFill>
            <a:srgbClr val="C2352F"/>
          </a:solidFill>
          <a:ln/>
        </p:spPr>
      </p:sp>
      <p:sp>
        <p:nvSpPr>
          <p:cNvPr id="99" name="Text 97"/>
          <p:cNvSpPr txBox="1"/>
          <p:nvPr/>
        </p:nvSpPr>
        <p:spPr>
          <a:xfrm>
            <a:off x="9153144" y="3000639"/>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$18K</a:t>
            </a:r>
            <a:endParaRPr lang="en-US" sz="1300" dirty="0"/>
          </a:p>
        </p:txBody>
      </p:sp>
      <p:sp>
        <p:nvSpPr>
          <p:cNvPr id="100" name="Text 98"/>
          <p:cNvSpPr txBox="1"/>
          <p:nvPr/>
        </p:nvSpPr>
        <p:spPr>
          <a:xfrm>
            <a:off x="9976104" y="3000639"/>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5.6%</a:t>
            </a:r>
            <a:endParaRPr lang="en-US" sz="1300" dirty="0"/>
          </a:p>
        </p:txBody>
      </p:sp>
      <p:sp>
        <p:nvSpPr>
          <p:cNvPr id="101" name="Text 99"/>
          <p:cNvSpPr txBox="1"/>
          <p:nvPr/>
        </p:nvSpPr>
        <p:spPr>
          <a:xfrm>
            <a:off x="10543032" y="3000639"/>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240</a:t>
            </a:r>
            <a:endParaRPr lang="en-US" sz="1300" dirty="0"/>
          </a:p>
        </p:txBody>
      </p:sp>
      <p:sp>
        <p:nvSpPr>
          <p:cNvPr id="102" name="Text 100"/>
          <p:cNvSpPr txBox="1"/>
          <p:nvPr/>
        </p:nvSpPr>
        <p:spPr>
          <a:xfrm>
            <a:off x="6208776" y="3325602"/>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03" name="Shape 101"/>
          <p:cNvSpPr/>
          <p:nvPr/>
        </p:nvSpPr>
        <p:spPr>
          <a:xfrm>
            <a:off x="8220456" y="3398719"/>
            <a:ext cx="47082" cy="178730"/>
          </a:xfrm>
          <a:prstGeom prst="rect">
            <a:avLst/>
          </a:prstGeom>
          <a:solidFill>
            <a:srgbClr val="C2352F"/>
          </a:solidFill>
          <a:ln/>
        </p:spPr>
      </p:sp>
      <p:sp>
        <p:nvSpPr>
          <p:cNvPr id="104" name="Text 102"/>
          <p:cNvSpPr txBox="1"/>
          <p:nvPr/>
        </p:nvSpPr>
        <p:spPr>
          <a:xfrm>
            <a:off x="9153144" y="3325602"/>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$12K</a:t>
            </a:r>
            <a:endParaRPr lang="en-US" sz="1300" dirty="0"/>
          </a:p>
        </p:txBody>
      </p:sp>
      <p:sp>
        <p:nvSpPr>
          <p:cNvPr id="105" name="Text 103"/>
          <p:cNvSpPr txBox="1"/>
          <p:nvPr/>
        </p:nvSpPr>
        <p:spPr>
          <a:xfrm>
            <a:off x="9976104" y="3325602"/>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a:t>
            </a:r>
            <a:endParaRPr lang="en-US" sz="1300" dirty="0"/>
          </a:p>
        </p:txBody>
      </p:sp>
      <p:sp>
        <p:nvSpPr>
          <p:cNvPr id="106" name="Text 104"/>
          <p:cNvSpPr txBox="1"/>
          <p:nvPr/>
        </p:nvSpPr>
        <p:spPr>
          <a:xfrm>
            <a:off x="10543032" y="3325602"/>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165</a:t>
            </a:r>
            <a:endParaRPr lang="en-US" sz="1300" dirty="0"/>
          </a:p>
        </p:txBody>
      </p:sp>
      <p:sp>
        <p:nvSpPr>
          <p:cNvPr id="107" name="Text 105"/>
          <p:cNvSpPr txBox="1"/>
          <p:nvPr/>
        </p:nvSpPr>
        <p:spPr>
          <a:xfrm>
            <a:off x="6208776" y="3650566"/>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08" name="Shape 106"/>
          <p:cNvSpPr/>
          <p:nvPr/>
        </p:nvSpPr>
        <p:spPr>
          <a:xfrm>
            <a:off x="8220456" y="3723683"/>
            <a:ext cx="44786" cy="178730"/>
          </a:xfrm>
          <a:prstGeom prst="rect">
            <a:avLst/>
          </a:prstGeom>
          <a:solidFill>
            <a:srgbClr val="C2352F"/>
          </a:solidFill>
          <a:ln/>
        </p:spPr>
      </p:sp>
      <p:sp>
        <p:nvSpPr>
          <p:cNvPr id="109" name="Text 107"/>
          <p:cNvSpPr txBox="1"/>
          <p:nvPr/>
        </p:nvSpPr>
        <p:spPr>
          <a:xfrm>
            <a:off x="9153144" y="3650566"/>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$11K</a:t>
            </a:r>
            <a:endParaRPr lang="en-US" sz="1300" dirty="0"/>
          </a:p>
        </p:txBody>
      </p:sp>
      <p:sp>
        <p:nvSpPr>
          <p:cNvPr id="110" name="Text 108"/>
          <p:cNvSpPr txBox="1"/>
          <p:nvPr/>
        </p:nvSpPr>
        <p:spPr>
          <a:xfrm>
            <a:off x="9976104" y="3650566"/>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a:t>
            </a:r>
            <a:endParaRPr lang="en-US" sz="1300" dirty="0"/>
          </a:p>
        </p:txBody>
      </p:sp>
      <p:sp>
        <p:nvSpPr>
          <p:cNvPr id="111" name="Text 109"/>
          <p:cNvSpPr txBox="1"/>
          <p:nvPr/>
        </p:nvSpPr>
        <p:spPr>
          <a:xfrm>
            <a:off x="10543032" y="3650566"/>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135</a:t>
            </a:r>
            <a:endParaRPr lang="en-US" sz="1300" dirty="0"/>
          </a:p>
        </p:txBody>
      </p:sp>
      <p:sp>
        <p:nvSpPr>
          <p:cNvPr id="112" name="Text 110"/>
          <p:cNvSpPr txBox="1"/>
          <p:nvPr/>
        </p:nvSpPr>
        <p:spPr>
          <a:xfrm>
            <a:off x="6208776" y="3975530"/>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13" name="Shape 111"/>
          <p:cNvSpPr/>
          <p:nvPr/>
        </p:nvSpPr>
        <p:spPr>
          <a:xfrm>
            <a:off x="8220456" y="4048647"/>
            <a:ext cx="40558" cy="178730"/>
          </a:xfrm>
          <a:prstGeom prst="rect">
            <a:avLst/>
          </a:prstGeom>
          <a:solidFill>
            <a:srgbClr val="C2352F"/>
          </a:solidFill>
          <a:ln/>
        </p:spPr>
      </p:sp>
      <p:sp>
        <p:nvSpPr>
          <p:cNvPr id="114" name="Text 112"/>
          <p:cNvSpPr txBox="1"/>
          <p:nvPr/>
        </p:nvSpPr>
        <p:spPr>
          <a:xfrm>
            <a:off x="9153144" y="3975530"/>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$10K</a:t>
            </a:r>
            <a:endParaRPr lang="en-US" sz="1300" dirty="0"/>
          </a:p>
        </p:txBody>
      </p:sp>
      <p:sp>
        <p:nvSpPr>
          <p:cNvPr id="115" name="Text 113"/>
          <p:cNvSpPr txBox="1"/>
          <p:nvPr/>
        </p:nvSpPr>
        <p:spPr>
          <a:xfrm>
            <a:off x="9976104" y="3975530"/>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12.8%</a:t>
            </a:r>
            <a:endParaRPr lang="en-US" sz="1300" dirty="0"/>
          </a:p>
        </p:txBody>
      </p:sp>
      <p:sp>
        <p:nvSpPr>
          <p:cNvPr id="116" name="Text 114"/>
          <p:cNvSpPr txBox="1"/>
          <p:nvPr/>
        </p:nvSpPr>
        <p:spPr>
          <a:xfrm>
            <a:off x="10543032" y="3975530"/>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a:t>
            </a:r>
            <a:endParaRPr lang="en-US" sz="1300" dirty="0"/>
          </a:p>
        </p:txBody>
      </p:sp>
      <p:sp>
        <p:nvSpPr>
          <p:cNvPr id="117" name="Text 115"/>
          <p:cNvSpPr txBox="1"/>
          <p:nvPr/>
        </p:nvSpPr>
        <p:spPr>
          <a:xfrm>
            <a:off x="6208776" y="4300494"/>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18" name="Shape 116"/>
          <p:cNvSpPr/>
          <p:nvPr/>
        </p:nvSpPr>
        <p:spPr>
          <a:xfrm>
            <a:off x="8220456" y="4373610"/>
            <a:ext cx="38064" cy="178730"/>
          </a:xfrm>
          <a:prstGeom prst="rect">
            <a:avLst/>
          </a:prstGeom>
          <a:solidFill>
            <a:srgbClr val="C2352F"/>
          </a:solidFill>
          <a:ln/>
        </p:spPr>
      </p:sp>
      <p:sp>
        <p:nvSpPr>
          <p:cNvPr id="119" name="Text 117"/>
          <p:cNvSpPr txBox="1"/>
          <p:nvPr/>
        </p:nvSpPr>
        <p:spPr>
          <a:xfrm>
            <a:off x="9153144" y="4300494"/>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$10K</a:t>
            </a:r>
            <a:endParaRPr lang="en-US" sz="1300" dirty="0"/>
          </a:p>
        </p:txBody>
      </p:sp>
      <p:sp>
        <p:nvSpPr>
          <p:cNvPr id="120" name="Text 118"/>
          <p:cNvSpPr txBox="1"/>
          <p:nvPr/>
        </p:nvSpPr>
        <p:spPr>
          <a:xfrm>
            <a:off x="9976104" y="4300494"/>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14.5%</a:t>
            </a:r>
            <a:endParaRPr lang="en-US" sz="1300" dirty="0"/>
          </a:p>
        </p:txBody>
      </p:sp>
      <p:sp>
        <p:nvSpPr>
          <p:cNvPr id="121" name="Text 119"/>
          <p:cNvSpPr txBox="1"/>
          <p:nvPr/>
        </p:nvSpPr>
        <p:spPr>
          <a:xfrm>
            <a:off x="10543032" y="4300494"/>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83</a:t>
            </a:r>
            <a:endParaRPr lang="en-US" sz="1300" dirty="0"/>
          </a:p>
        </p:txBody>
      </p:sp>
      <p:sp>
        <p:nvSpPr>
          <p:cNvPr id="122" name="Text 120"/>
          <p:cNvSpPr txBox="1"/>
          <p:nvPr/>
        </p:nvSpPr>
        <p:spPr>
          <a:xfrm>
            <a:off x="6208776" y="4625457"/>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23" name="Shape 121"/>
          <p:cNvSpPr/>
          <p:nvPr/>
        </p:nvSpPr>
        <p:spPr>
          <a:xfrm>
            <a:off x="8220456" y="4698574"/>
            <a:ext cx="35579" cy="178730"/>
          </a:xfrm>
          <a:prstGeom prst="rect">
            <a:avLst/>
          </a:prstGeom>
          <a:solidFill>
            <a:srgbClr val="C2352F"/>
          </a:solidFill>
          <a:ln/>
        </p:spPr>
      </p:sp>
      <p:sp>
        <p:nvSpPr>
          <p:cNvPr id="124" name="Text 122"/>
          <p:cNvSpPr txBox="1"/>
          <p:nvPr/>
        </p:nvSpPr>
        <p:spPr>
          <a:xfrm>
            <a:off x="9153144" y="4625457"/>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$9K</a:t>
            </a:r>
            <a:endParaRPr lang="en-US" sz="1300" dirty="0"/>
          </a:p>
        </p:txBody>
      </p:sp>
      <p:sp>
        <p:nvSpPr>
          <p:cNvPr id="125" name="Text 123"/>
          <p:cNvSpPr txBox="1"/>
          <p:nvPr/>
        </p:nvSpPr>
        <p:spPr>
          <a:xfrm>
            <a:off x="9976104" y="4625457"/>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13.8%</a:t>
            </a:r>
            <a:endParaRPr lang="en-US" sz="1300" dirty="0"/>
          </a:p>
        </p:txBody>
      </p:sp>
      <p:sp>
        <p:nvSpPr>
          <p:cNvPr id="126" name="Text 124"/>
          <p:cNvSpPr txBox="1"/>
          <p:nvPr/>
        </p:nvSpPr>
        <p:spPr>
          <a:xfrm>
            <a:off x="10543032" y="4625457"/>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79</a:t>
            </a:r>
            <a:endParaRPr lang="en-US" sz="1300" dirty="0"/>
          </a:p>
        </p:txBody>
      </p:sp>
      <p:sp>
        <p:nvSpPr>
          <p:cNvPr id="127" name="Text 125"/>
          <p:cNvSpPr txBox="1"/>
          <p:nvPr/>
        </p:nvSpPr>
        <p:spPr>
          <a:xfrm>
            <a:off x="6208776" y="4950421"/>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28" name="Shape 126"/>
          <p:cNvSpPr/>
          <p:nvPr/>
        </p:nvSpPr>
        <p:spPr>
          <a:xfrm>
            <a:off x="8220456" y="5023538"/>
            <a:ext cx="28280" cy="178730"/>
          </a:xfrm>
          <a:prstGeom prst="rect">
            <a:avLst/>
          </a:prstGeom>
          <a:solidFill>
            <a:srgbClr val="C2352F"/>
          </a:solidFill>
          <a:ln/>
        </p:spPr>
      </p:sp>
      <p:sp>
        <p:nvSpPr>
          <p:cNvPr id="129" name="Text 127"/>
          <p:cNvSpPr txBox="1"/>
          <p:nvPr/>
        </p:nvSpPr>
        <p:spPr>
          <a:xfrm>
            <a:off x="9153144" y="4950421"/>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$7K</a:t>
            </a:r>
            <a:endParaRPr lang="en-US" sz="1300" dirty="0"/>
          </a:p>
        </p:txBody>
      </p:sp>
      <p:sp>
        <p:nvSpPr>
          <p:cNvPr id="130" name="Text 128"/>
          <p:cNvSpPr txBox="1"/>
          <p:nvPr/>
        </p:nvSpPr>
        <p:spPr>
          <a:xfrm>
            <a:off x="9976104" y="4950421"/>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13.8%</a:t>
            </a:r>
            <a:endParaRPr lang="en-US" sz="1300" dirty="0"/>
          </a:p>
        </p:txBody>
      </p:sp>
      <p:sp>
        <p:nvSpPr>
          <p:cNvPr id="131" name="Text 129"/>
          <p:cNvSpPr txBox="1"/>
          <p:nvPr/>
        </p:nvSpPr>
        <p:spPr>
          <a:xfrm>
            <a:off x="10543032" y="4950421"/>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a:t>
            </a:r>
            <a:endParaRPr lang="en-US" sz="1300" dirty="0"/>
          </a:p>
        </p:txBody>
      </p:sp>
      <p:sp>
        <p:nvSpPr>
          <p:cNvPr id="132" name="Text 130"/>
          <p:cNvSpPr txBox="1"/>
          <p:nvPr/>
        </p:nvSpPr>
        <p:spPr>
          <a:xfrm>
            <a:off x="6208776" y="5275385"/>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33" name="Shape 131"/>
          <p:cNvSpPr/>
          <p:nvPr/>
        </p:nvSpPr>
        <p:spPr>
          <a:xfrm>
            <a:off x="8220456" y="5348501"/>
            <a:ext cx="18288" cy="178730"/>
          </a:xfrm>
          <a:prstGeom prst="rect">
            <a:avLst/>
          </a:prstGeom>
          <a:solidFill>
            <a:srgbClr val="C2352F"/>
          </a:solidFill>
          <a:ln/>
        </p:spPr>
      </p:sp>
      <p:sp>
        <p:nvSpPr>
          <p:cNvPr id="134" name="Text 132"/>
          <p:cNvSpPr txBox="1"/>
          <p:nvPr/>
        </p:nvSpPr>
        <p:spPr>
          <a:xfrm>
            <a:off x="9153144" y="5275385"/>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$865</a:t>
            </a:r>
            <a:endParaRPr lang="en-US" sz="1300" dirty="0"/>
          </a:p>
        </p:txBody>
      </p:sp>
      <p:sp>
        <p:nvSpPr>
          <p:cNvPr id="135" name="Text 133"/>
          <p:cNvSpPr txBox="1"/>
          <p:nvPr/>
        </p:nvSpPr>
        <p:spPr>
          <a:xfrm>
            <a:off x="9976104" y="5275385"/>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14.8%</a:t>
            </a:r>
            <a:endParaRPr lang="en-US" sz="1300" dirty="0"/>
          </a:p>
        </p:txBody>
      </p:sp>
      <p:sp>
        <p:nvSpPr>
          <p:cNvPr id="136" name="Text 134"/>
          <p:cNvSpPr txBox="1"/>
          <p:nvPr/>
        </p:nvSpPr>
        <p:spPr>
          <a:xfrm>
            <a:off x="10543032" y="5275385"/>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a:t>
            </a:r>
            <a:endParaRPr lang="en-US" sz="1300" dirty="0"/>
          </a:p>
        </p:txBody>
      </p:sp>
      <p:sp>
        <p:nvSpPr>
          <p:cNvPr id="137" name="Shape 135"/>
          <p:cNvSpPr/>
          <p:nvPr/>
        </p:nvSpPr>
        <p:spPr>
          <a:xfrm>
            <a:off x="457200" y="6126480"/>
            <a:ext cx="11274552" cy="364236"/>
          </a:xfrm>
          <a:prstGeom prst="rect">
            <a:avLst/>
          </a:prstGeom>
          <a:solidFill>
            <a:srgbClr val="FBEBEA"/>
          </a:solidFill>
          <a:ln/>
        </p:spPr>
      </p:sp>
      <p:sp>
        <p:nvSpPr>
          <p:cNvPr id="138" name="Text 136"/>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A82B26"/>
                </a:solidFill>
                <a:latin typeface="Inter" pitchFamily="34" charset="0"/>
                <a:ea typeface="Inter" pitchFamily="34" charset="-122"/>
                <a:cs typeface="Inter" pitchFamily="34" charset="-120"/>
              </a:rPr>
              <a:t>25 stores under 15% leave $1,029,276 a year: 9,935 services. Toyota Spokane has the most at $225,288.</a:t>
            </a:r>
            <a:endParaRPr lang="en-US" sz="1550" dirty="0"/>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Alignment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14.8%</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+9.7 pts</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21.7%</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+6.8 pts</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11.7%</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+6.8 pts</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16.6%</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+6.7 pts</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17.3%</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+5.9 pts</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12.8%</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−4.9 pts</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9.7%</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−3.5 pts</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14.5%</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−1.5 pts</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11.0%</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−0.8 pts</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14.5%</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31.7%</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+10.7 pts</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22.8%</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+10.2 pts</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11.7%</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+7.7 pts</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25.7%</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+7.4 pts</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19.3%</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+6.5 pts</a:t>
            </a:r>
            <a:endParaRPr lang="en-US" sz="1600" dirty="0"/>
          </a:p>
        </p:txBody>
      </p:sp>
      <p:sp>
        <p:nvSpPr>
          <p:cNvPr id="69" name="Shape 67"/>
          <p:cNvSpPr/>
          <p:nvPr/>
        </p:nvSpPr>
        <p:spPr>
          <a:xfrm>
            <a:off x="457200" y="6126480"/>
            <a:ext cx="11274552" cy="615696"/>
          </a:xfrm>
          <a:prstGeom prst="rect">
            <a:avLst/>
          </a:prstGeom>
          <a:solidFill>
            <a:srgbClr val="EDF4FA"/>
          </a:solidFill>
          <a:ln/>
        </p:spPr>
      </p:sp>
      <p:sp>
        <p:nvSpPr>
          <p:cNvPr id="70"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Hyundai St George, Hyundai Prescott and GMC Prescott what changed. Ask LR Reno, Kia LV and Subaru LV what got in the way. Ask Audi Henderson, Mazda and Kia St George what they started this year.</a:t>
            </a:r>
            <a:endParaRPr lang="en-US" sz="1600" dirty="0"/>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Balance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6.9%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8.3%</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+1.4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+20.0%</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Balance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615696"/>
          </a:xfrm>
          <a:prstGeom prst="rect">
            <a:avLst/>
          </a:prstGeom>
          <a:solidFill>
            <a:srgbClr val="E6F6EE"/>
          </a:solidFill>
          <a:ln/>
        </p:spPr>
      </p:sp>
      <p:sp>
        <p:nvSpPr>
          <p:cNvPr id="28"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1.4 pts to 8.3%, ahead of 2025 in all nine months, but 6.6 pts under the 15% benchmark — 18,493 balances short.</a:t>
            </a:r>
            <a:endParaRPr lang="en-US" sz="1600" dirty="0"/>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Balance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BALANCE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15.0%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8.3%</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153473"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18.4%</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1" name="Shape 19"/>
          <p:cNvSpPr/>
          <p:nvPr/>
        </p:nvSpPr>
        <p:spPr>
          <a:xfrm>
            <a:off x="3008376" y="2386853"/>
            <a:ext cx="1064356"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5" name="Shape 23"/>
          <p:cNvSpPr/>
          <p:nvPr/>
        </p:nvSpPr>
        <p:spPr>
          <a:xfrm>
            <a:off x="3008376" y="2626748"/>
            <a:ext cx="1062417"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9" name="Shape 27"/>
          <p:cNvSpPr/>
          <p:nvPr/>
        </p:nvSpPr>
        <p:spPr>
          <a:xfrm>
            <a:off x="3008376" y="2866644"/>
            <a:ext cx="938723" cy="119948"/>
          </a:xfrm>
          <a:prstGeom prst="rect">
            <a:avLst/>
          </a:prstGeom>
          <a:solidFill>
            <a:srgbClr val="C2352F"/>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33" name="Shape 31"/>
          <p:cNvSpPr/>
          <p:nvPr/>
        </p:nvSpPr>
        <p:spPr>
          <a:xfrm>
            <a:off x="3008376" y="3106540"/>
            <a:ext cx="883929" cy="119948"/>
          </a:xfrm>
          <a:prstGeom prst="rect">
            <a:avLst/>
          </a:prstGeom>
          <a:solidFill>
            <a:srgbClr val="C2352F"/>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14.1%</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37" name="Shape 35"/>
          <p:cNvSpPr/>
          <p:nvPr/>
        </p:nvSpPr>
        <p:spPr>
          <a:xfrm>
            <a:off x="3008376" y="3346435"/>
            <a:ext cx="847705" cy="119948"/>
          </a:xfrm>
          <a:prstGeom prst="rect">
            <a:avLst/>
          </a:prstGeom>
          <a:solidFill>
            <a:srgbClr val="C2352F"/>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13.5%</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008376" y="3586331"/>
            <a:ext cx="826302" cy="119948"/>
          </a:xfrm>
          <a:prstGeom prst="rect">
            <a:avLst/>
          </a:prstGeom>
          <a:solidFill>
            <a:srgbClr val="C2352F"/>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13.1%</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5" name="Shape 43"/>
          <p:cNvSpPr/>
          <p:nvPr/>
        </p:nvSpPr>
        <p:spPr>
          <a:xfrm>
            <a:off x="3008376" y="3826226"/>
            <a:ext cx="752231" cy="119948"/>
          </a:xfrm>
          <a:prstGeom prst="rect">
            <a:avLst/>
          </a:prstGeom>
          <a:solidFill>
            <a:srgbClr val="C2352F"/>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9" name="Shape 47"/>
          <p:cNvSpPr/>
          <p:nvPr/>
        </p:nvSpPr>
        <p:spPr>
          <a:xfrm>
            <a:off x="3008376" y="4066122"/>
            <a:ext cx="734701" cy="119948"/>
          </a:xfrm>
          <a:prstGeom prst="rect">
            <a:avLst/>
          </a:prstGeom>
          <a:solidFill>
            <a:srgbClr val="C2352F"/>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11.7%</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3" name="Shape 51"/>
          <p:cNvSpPr/>
          <p:nvPr/>
        </p:nvSpPr>
        <p:spPr>
          <a:xfrm>
            <a:off x="3008376" y="4306017"/>
            <a:ext cx="703205" cy="119948"/>
          </a:xfrm>
          <a:prstGeom prst="rect">
            <a:avLst/>
          </a:prstGeom>
          <a:solidFill>
            <a:srgbClr val="C2352F"/>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11.2%</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57" name="Shape 55"/>
          <p:cNvSpPr/>
          <p:nvPr/>
        </p:nvSpPr>
        <p:spPr>
          <a:xfrm>
            <a:off x="3008376" y="4545913"/>
            <a:ext cx="640057" cy="119948"/>
          </a:xfrm>
          <a:prstGeom prst="rect">
            <a:avLst/>
          </a:prstGeom>
          <a:solidFill>
            <a:srgbClr val="C2352F"/>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10.2%</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1" name="Shape 59"/>
          <p:cNvSpPr/>
          <p:nvPr/>
        </p:nvSpPr>
        <p:spPr>
          <a:xfrm>
            <a:off x="3008376" y="4785808"/>
            <a:ext cx="569932"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9.0%</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008376" y="5025704"/>
            <a:ext cx="519894"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8.2%</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9" name="Shape 67"/>
          <p:cNvSpPr/>
          <p:nvPr/>
        </p:nvSpPr>
        <p:spPr>
          <a:xfrm>
            <a:off x="3008376" y="5265599"/>
            <a:ext cx="485901"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3" name="Shape 71"/>
          <p:cNvSpPr/>
          <p:nvPr/>
        </p:nvSpPr>
        <p:spPr>
          <a:xfrm>
            <a:off x="3008376" y="5505495"/>
            <a:ext cx="483593"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77" name="Shape 75"/>
          <p:cNvSpPr/>
          <p:nvPr/>
        </p:nvSpPr>
        <p:spPr>
          <a:xfrm>
            <a:off x="3008376" y="5745390"/>
            <a:ext cx="457948"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8558784" y="1907062"/>
            <a:ext cx="385888"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5" name="Shape 83"/>
          <p:cNvSpPr/>
          <p:nvPr/>
        </p:nvSpPr>
        <p:spPr>
          <a:xfrm>
            <a:off x="8558784" y="2146957"/>
            <a:ext cx="373935"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89" name="Shape 87"/>
          <p:cNvSpPr/>
          <p:nvPr/>
        </p:nvSpPr>
        <p:spPr>
          <a:xfrm>
            <a:off x="8558784" y="2386853"/>
            <a:ext cx="328119"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309470"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4.9%</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7" name="Shape 95"/>
          <p:cNvSpPr/>
          <p:nvPr/>
        </p:nvSpPr>
        <p:spPr>
          <a:xfrm>
            <a:off x="8558784" y="2866644"/>
            <a:ext cx="231259"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01" name="Shape 99"/>
          <p:cNvSpPr/>
          <p:nvPr/>
        </p:nvSpPr>
        <p:spPr>
          <a:xfrm>
            <a:off x="8558784" y="3106540"/>
            <a:ext cx="13679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5" name="Shape 103"/>
          <p:cNvSpPr/>
          <p:nvPr/>
        </p:nvSpPr>
        <p:spPr>
          <a:xfrm>
            <a:off x="8558784" y="3346435"/>
            <a:ext cx="104802"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9" name="Shape 107"/>
          <p:cNvSpPr/>
          <p:nvPr/>
        </p:nvSpPr>
        <p:spPr>
          <a:xfrm>
            <a:off x="8558784" y="3586331"/>
            <a:ext cx="82384"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3" name="Shape 111"/>
          <p:cNvSpPr/>
          <p:nvPr/>
        </p:nvSpPr>
        <p:spPr>
          <a:xfrm>
            <a:off x="8558784" y="3826226"/>
            <a:ext cx="79502"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8558784" y="4066122"/>
            <a:ext cx="76690"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1" name="Shape 119"/>
          <p:cNvSpPr/>
          <p:nvPr/>
        </p:nvSpPr>
        <p:spPr>
          <a:xfrm>
            <a:off x="8558784" y="4306017"/>
            <a:ext cx="66479"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5" name="Shape 123"/>
          <p:cNvSpPr/>
          <p:nvPr/>
        </p:nvSpPr>
        <p:spPr>
          <a:xfrm>
            <a:off x="8558784" y="4545913"/>
            <a:ext cx="31004"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0.4%</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9" name="Shape 127"/>
          <p:cNvSpPr/>
          <p:nvPr/>
        </p:nvSpPr>
        <p:spPr>
          <a:xfrm>
            <a:off x="8558784" y="4785808"/>
            <a:ext cx="26115"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3" name="Shape 131"/>
          <p:cNvSpPr/>
          <p:nvPr/>
        </p:nvSpPr>
        <p:spPr>
          <a:xfrm>
            <a:off x="8558784" y="5025704"/>
            <a:ext cx="18288"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37" name="Shape 135"/>
          <p:cNvSpPr/>
          <p:nvPr/>
        </p:nvSpPr>
        <p:spPr>
          <a:xfrm>
            <a:off x="8558784" y="5265599"/>
            <a:ext cx="18288"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41" name="Shape 139"/>
          <p:cNvSpPr/>
          <p:nvPr/>
        </p:nvSpPr>
        <p:spPr>
          <a:xfrm>
            <a:off x="8558784" y="5505495"/>
            <a:ext cx="18288"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43" name="Shape 141"/>
          <p:cNvSpPr/>
          <p:nvPr/>
        </p:nvSpPr>
        <p:spPr>
          <a:xfrm>
            <a:off x="3940705" y="1847088"/>
            <a:ext cx="14630" cy="4078224"/>
          </a:xfrm>
          <a:prstGeom prst="rect">
            <a:avLst/>
          </a:prstGeom>
          <a:solidFill>
            <a:srgbClr val="0B2C4A"/>
          </a:solidFill>
          <a:ln/>
        </p:spPr>
      </p:sp>
      <p:sp>
        <p:nvSpPr>
          <p:cNvPr id="144" name="Shape 142"/>
          <p:cNvSpPr/>
          <p:nvPr/>
        </p:nvSpPr>
        <p:spPr>
          <a:xfrm>
            <a:off x="9491113"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71856"/>
          </a:xfrm>
          <a:prstGeom prst="rect">
            <a:avLst/>
          </a:prstGeom>
          <a:solidFill>
            <a:srgbClr val="EDF4FA"/>
          </a:solidFill>
          <a:ln/>
        </p:spPr>
      </p:sp>
      <p:sp>
        <p:nvSpPr>
          <p:cNvPr id="147"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4 of 33 stores at or above 15%, led by LR Henderson at 27.0%. The group sits at 8.3%.</a:t>
            </a:r>
            <a:endParaRPr lang="en-US" sz="1600" dirty="0"/>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Tire Balance Missed Opportunity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602736"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425696" y="1316736"/>
            <a:ext cx="5669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8" name="Text 6"/>
          <p:cNvSpPr txBox="1"/>
          <p:nvPr/>
        </p:nvSpPr>
        <p:spPr>
          <a:xfrm>
            <a:off x="4992624" y="1316736"/>
            <a:ext cx="87782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Services</a:t>
            </a:r>
            <a:endParaRPr lang="en-US" sz="1400" dirty="0"/>
          </a:p>
        </p:txBody>
      </p:sp>
      <p:sp>
        <p:nvSpPr>
          <p:cNvPr id="9" name="Text 7"/>
          <p:cNvSpPr txBox="1"/>
          <p:nvPr/>
        </p:nvSpPr>
        <p:spPr>
          <a:xfrm>
            <a:off x="9153144"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76104" y="1316736"/>
            <a:ext cx="5669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1" name="Text 9"/>
          <p:cNvSpPr txBox="1"/>
          <p:nvPr/>
        </p:nvSpPr>
        <p:spPr>
          <a:xfrm>
            <a:off x="10543032" y="1316736"/>
            <a:ext cx="87782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Services</a:t>
            </a:r>
            <a:endParaRPr lang="en-US" sz="1400" dirty="0"/>
          </a:p>
        </p:txBody>
      </p:sp>
      <p:sp>
        <p:nvSpPr>
          <p:cNvPr id="12" name="Text 10"/>
          <p:cNvSpPr txBox="1"/>
          <p:nvPr/>
        </p:nvSpPr>
        <p:spPr>
          <a:xfrm>
            <a:off x="658368" y="1700784"/>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3" name="Shape 11"/>
          <p:cNvSpPr/>
          <p:nvPr/>
        </p:nvSpPr>
        <p:spPr>
          <a:xfrm>
            <a:off x="2670048" y="1764152"/>
            <a:ext cx="877824" cy="154899"/>
          </a:xfrm>
          <a:prstGeom prst="rect">
            <a:avLst/>
          </a:prstGeom>
          <a:solidFill>
            <a:srgbClr val="C2352F"/>
          </a:solidFill>
          <a:ln/>
        </p:spPr>
      </p:sp>
      <p:sp>
        <p:nvSpPr>
          <p:cNvPr id="14" name="Text 12"/>
          <p:cNvSpPr txBox="1"/>
          <p:nvPr/>
        </p:nvSpPr>
        <p:spPr>
          <a:xfrm>
            <a:off x="3602736" y="1700784"/>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$180K</a:t>
            </a:r>
            <a:endParaRPr lang="en-US" sz="1300" dirty="0"/>
          </a:p>
        </p:txBody>
      </p:sp>
      <p:sp>
        <p:nvSpPr>
          <p:cNvPr id="15" name="Text 13"/>
          <p:cNvSpPr txBox="1"/>
          <p:nvPr/>
        </p:nvSpPr>
        <p:spPr>
          <a:xfrm>
            <a:off x="4425696" y="1700784"/>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0.4%</a:t>
            </a:r>
            <a:endParaRPr lang="en-US" sz="1300" dirty="0"/>
          </a:p>
        </p:txBody>
      </p:sp>
      <p:sp>
        <p:nvSpPr>
          <p:cNvPr id="16" name="Text 14"/>
          <p:cNvSpPr txBox="1"/>
          <p:nvPr/>
        </p:nvSpPr>
        <p:spPr>
          <a:xfrm>
            <a:off x="4992624" y="1700784"/>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3,361</a:t>
            </a:r>
            <a:endParaRPr lang="en-US" sz="1300" dirty="0"/>
          </a:p>
        </p:txBody>
      </p:sp>
      <p:sp>
        <p:nvSpPr>
          <p:cNvPr id="17" name="Text 15"/>
          <p:cNvSpPr txBox="1"/>
          <p:nvPr/>
        </p:nvSpPr>
        <p:spPr>
          <a:xfrm>
            <a:off x="658368" y="1982419"/>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8" name="Shape 16"/>
          <p:cNvSpPr/>
          <p:nvPr/>
        </p:nvSpPr>
        <p:spPr>
          <a:xfrm>
            <a:off x="2670048" y="2045787"/>
            <a:ext cx="719796" cy="154899"/>
          </a:xfrm>
          <a:prstGeom prst="rect">
            <a:avLst/>
          </a:prstGeom>
          <a:solidFill>
            <a:srgbClr val="C2352F"/>
          </a:solidFill>
          <a:ln/>
        </p:spPr>
      </p:sp>
      <p:sp>
        <p:nvSpPr>
          <p:cNvPr id="19" name="Text 17"/>
          <p:cNvSpPr txBox="1"/>
          <p:nvPr/>
        </p:nvSpPr>
        <p:spPr>
          <a:xfrm>
            <a:off x="3602736" y="1982419"/>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$147K</a:t>
            </a:r>
            <a:endParaRPr lang="en-US" sz="1300" dirty="0"/>
          </a:p>
        </p:txBody>
      </p:sp>
      <p:sp>
        <p:nvSpPr>
          <p:cNvPr id="20" name="Text 18"/>
          <p:cNvSpPr txBox="1"/>
          <p:nvPr/>
        </p:nvSpPr>
        <p:spPr>
          <a:xfrm>
            <a:off x="4425696" y="1982419"/>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11.2%</a:t>
            </a:r>
            <a:endParaRPr lang="en-US" sz="1300" dirty="0"/>
          </a:p>
        </p:txBody>
      </p:sp>
      <p:sp>
        <p:nvSpPr>
          <p:cNvPr id="21" name="Text 19"/>
          <p:cNvSpPr txBox="1"/>
          <p:nvPr/>
        </p:nvSpPr>
        <p:spPr>
          <a:xfrm>
            <a:off x="4992624" y="1982419"/>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2,671</a:t>
            </a:r>
            <a:endParaRPr lang="en-US" sz="1300" dirty="0"/>
          </a:p>
        </p:txBody>
      </p:sp>
      <p:sp>
        <p:nvSpPr>
          <p:cNvPr id="22" name="Text 20"/>
          <p:cNvSpPr txBox="1"/>
          <p:nvPr/>
        </p:nvSpPr>
        <p:spPr>
          <a:xfrm>
            <a:off x="658368" y="2264054"/>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23" name="Shape 21"/>
          <p:cNvSpPr/>
          <p:nvPr/>
        </p:nvSpPr>
        <p:spPr>
          <a:xfrm>
            <a:off x="2670048" y="2327422"/>
            <a:ext cx="646349" cy="154899"/>
          </a:xfrm>
          <a:prstGeom prst="rect">
            <a:avLst/>
          </a:prstGeom>
          <a:solidFill>
            <a:srgbClr val="C2352F"/>
          </a:solidFill>
          <a:ln/>
        </p:spPr>
      </p:sp>
      <p:sp>
        <p:nvSpPr>
          <p:cNvPr id="24" name="Text 22"/>
          <p:cNvSpPr txBox="1"/>
          <p:nvPr/>
        </p:nvSpPr>
        <p:spPr>
          <a:xfrm>
            <a:off x="3602736" y="2264054"/>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$132K</a:t>
            </a:r>
            <a:endParaRPr lang="en-US" sz="1300" dirty="0"/>
          </a:p>
        </p:txBody>
      </p:sp>
      <p:sp>
        <p:nvSpPr>
          <p:cNvPr id="25" name="Text 23"/>
          <p:cNvSpPr txBox="1"/>
          <p:nvPr/>
        </p:nvSpPr>
        <p:spPr>
          <a:xfrm>
            <a:off x="4425696" y="2264054"/>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6.1%</a:t>
            </a:r>
            <a:endParaRPr lang="en-US" sz="1300" dirty="0"/>
          </a:p>
        </p:txBody>
      </p:sp>
      <p:sp>
        <p:nvSpPr>
          <p:cNvPr id="26" name="Text 24"/>
          <p:cNvSpPr txBox="1"/>
          <p:nvPr/>
        </p:nvSpPr>
        <p:spPr>
          <a:xfrm>
            <a:off x="4992624" y="2264054"/>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1,590</a:t>
            </a:r>
            <a:endParaRPr lang="en-US" sz="1300" dirty="0"/>
          </a:p>
        </p:txBody>
      </p:sp>
      <p:sp>
        <p:nvSpPr>
          <p:cNvPr id="27" name="Text 25"/>
          <p:cNvSpPr txBox="1"/>
          <p:nvPr/>
        </p:nvSpPr>
        <p:spPr>
          <a:xfrm>
            <a:off x="658368" y="2545690"/>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28" name="Shape 26"/>
          <p:cNvSpPr/>
          <p:nvPr/>
        </p:nvSpPr>
        <p:spPr>
          <a:xfrm>
            <a:off x="2670048" y="2609058"/>
            <a:ext cx="610140" cy="154899"/>
          </a:xfrm>
          <a:prstGeom prst="rect">
            <a:avLst/>
          </a:prstGeom>
          <a:solidFill>
            <a:srgbClr val="C2352F"/>
          </a:solidFill>
          <a:ln/>
        </p:spPr>
      </p:sp>
      <p:sp>
        <p:nvSpPr>
          <p:cNvPr id="29" name="Text 27"/>
          <p:cNvSpPr txBox="1"/>
          <p:nvPr/>
        </p:nvSpPr>
        <p:spPr>
          <a:xfrm>
            <a:off x="3602736" y="2545690"/>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$125K</a:t>
            </a:r>
            <a:endParaRPr lang="en-US" sz="1300" dirty="0"/>
          </a:p>
        </p:txBody>
      </p:sp>
      <p:sp>
        <p:nvSpPr>
          <p:cNvPr id="30" name="Text 28"/>
          <p:cNvSpPr txBox="1"/>
          <p:nvPr/>
        </p:nvSpPr>
        <p:spPr>
          <a:xfrm>
            <a:off x="4425696" y="2545690"/>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a:t>
            </a:r>
            <a:endParaRPr lang="en-US" sz="1300" dirty="0"/>
          </a:p>
        </p:txBody>
      </p:sp>
      <p:sp>
        <p:nvSpPr>
          <p:cNvPr id="31" name="Text 29"/>
          <p:cNvSpPr txBox="1"/>
          <p:nvPr/>
        </p:nvSpPr>
        <p:spPr>
          <a:xfrm>
            <a:off x="4992624" y="2545690"/>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837</a:t>
            </a:r>
            <a:endParaRPr lang="en-US" sz="1300" dirty="0"/>
          </a:p>
        </p:txBody>
      </p:sp>
      <p:sp>
        <p:nvSpPr>
          <p:cNvPr id="32" name="Text 30"/>
          <p:cNvSpPr txBox="1"/>
          <p:nvPr/>
        </p:nvSpPr>
        <p:spPr>
          <a:xfrm>
            <a:off x="658368" y="2827325"/>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33" name="Shape 31"/>
          <p:cNvSpPr/>
          <p:nvPr/>
        </p:nvSpPr>
        <p:spPr>
          <a:xfrm>
            <a:off x="2670048" y="2890693"/>
            <a:ext cx="532718" cy="154899"/>
          </a:xfrm>
          <a:prstGeom prst="rect">
            <a:avLst/>
          </a:prstGeom>
          <a:solidFill>
            <a:srgbClr val="C2352F"/>
          </a:solidFill>
          <a:ln/>
        </p:spPr>
      </p:sp>
      <p:sp>
        <p:nvSpPr>
          <p:cNvPr id="34" name="Text 32"/>
          <p:cNvSpPr txBox="1"/>
          <p:nvPr/>
        </p:nvSpPr>
        <p:spPr>
          <a:xfrm>
            <a:off x="3602736" y="2827325"/>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$109K</a:t>
            </a:r>
            <a:endParaRPr lang="en-US" sz="1300" dirty="0"/>
          </a:p>
        </p:txBody>
      </p:sp>
      <p:sp>
        <p:nvSpPr>
          <p:cNvPr id="35" name="Text 33"/>
          <p:cNvSpPr txBox="1"/>
          <p:nvPr/>
        </p:nvSpPr>
        <p:spPr>
          <a:xfrm>
            <a:off x="4425696" y="2827325"/>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36" name="Text 34"/>
          <p:cNvSpPr txBox="1"/>
          <p:nvPr/>
        </p:nvSpPr>
        <p:spPr>
          <a:xfrm>
            <a:off x="4992624" y="2827325"/>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2,031</a:t>
            </a:r>
            <a:endParaRPr lang="en-US" sz="1300" dirty="0"/>
          </a:p>
        </p:txBody>
      </p:sp>
      <p:sp>
        <p:nvSpPr>
          <p:cNvPr id="37" name="Text 35"/>
          <p:cNvSpPr txBox="1"/>
          <p:nvPr/>
        </p:nvSpPr>
        <p:spPr>
          <a:xfrm>
            <a:off x="658368" y="3108960"/>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38" name="Shape 36"/>
          <p:cNvSpPr/>
          <p:nvPr/>
        </p:nvSpPr>
        <p:spPr>
          <a:xfrm>
            <a:off x="2670048" y="3172328"/>
            <a:ext cx="519232" cy="154899"/>
          </a:xfrm>
          <a:prstGeom prst="rect">
            <a:avLst/>
          </a:prstGeom>
          <a:solidFill>
            <a:srgbClr val="C2352F"/>
          </a:solidFill>
          <a:ln/>
        </p:spPr>
      </p:sp>
      <p:sp>
        <p:nvSpPr>
          <p:cNvPr id="39" name="Text 37"/>
          <p:cNvSpPr txBox="1"/>
          <p:nvPr/>
        </p:nvSpPr>
        <p:spPr>
          <a:xfrm>
            <a:off x="3602736" y="3108960"/>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$106K</a:t>
            </a:r>
            <a:endParaRPr lang="en-US" sz="1300" dirty="0"/>
          </a:p>
        </p:txBody>
      </p:sp>
      <p:sp>
        <p:nvSpPr>
          <p:cNvPr id="40" name="Text 38"/>
          <p:cNvSpPr txBox="1"/>
          <p:nvPr/>
        </p:nvSpPr>
        <p:spPr>
          <a:xfrm>
            <a:off x="4425696" y="3108960"/>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7.3%</a:t>
            </a:r>
            <a:endParaRPr lang="en-US" sz="1300" dirty="0"/>
          </a:p>
        </p:txBody>
      </p:sp>
      <p:sp>
        <p:nvSpPr>
          <p:cNvPr id="41" name="Text 39"/>
          <p:cNvSpPr txBox="1"/>
          <p:nvPr/>
        </p:nvSpPr>
        <p:spPr>
          <a:xfrm>
            <a:off x="4992624" y="3108960"/>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2,001</a:t>
            </a:r>
            <a:endParaRPr lang="en-US" sz="1300" dirty="0"/>
          </a:p>
        </p:txBody>
      </p:sp>
      <p:sp>
        <p:nvSpPr>
          <p:cNvPr id="42" name="Text 40"/>
          <p:cNvSpPr txBox="1"/>
          <p:nvPr/>
        </p:nvSpPr>
        <p:spPr>
          <a:xfrm>
            <a:off x="658368" y="3390595"/>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43" name="Shape 41"/>
          <p:cNvSpPr/>
          <p:nvPr/>
        </p:nvSpPr>
        <p:spPr>
          <a:xfrm>
            <a:off x="2670048" y="3453963"/>
            <a:ext cx="391085" cy="154899"/>
          </a:xfrm>
          <a:prstGeom prst="rect">
            <a:avLst/>
          </a:prstGeom>
          <a:solidFill>
            <a:srgbClr val="C2352F"/>
          </a:solidFill>
          <a:ln/>
        </p:spPr>
      </p:sp>
      <p:sp>
        <p:nvSpPr>
          <p:cNvPr id="44" name="Text 42"/>
          <p:cNvSpPr txBox="1"/>
          <p:nvPr/>
        </p:nvSpPr>
        <p:spPr>
          <a:xfrm>
            <a:off x="3602736" y="3390595"/>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$80K</a:t>
            </a:r>
            <a:endParaRPr lang="en-US" sz="1300" dirty="0"/>
          </a:p>
        </p:txBody>
      </p:sp>
      <p:sp>
        <p:nvSpPr>
          <p:cNvPr id="45" name="Text 43"/>
          <p:cNvSpPr txBox="1"/>
          <p:nvPr/>
        </p:nvSpPr>
        <p:spPr>
          <a:xfrm>
            <a:off x="4425696" y="3390595"/>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a:t>
            </a:r>
            <a:endParaRPr lang="en-US" sz="1300" dirty="0"/>
          </a:p>
        </p:txBody>
      </p:sp>
      <p:sp>
        <p:nvSpPr>
          <p:cNvPr id="46" name="Text 44"/>
          <p:cNvSpPr txBox="1"/>
          <p:nvPr/>
        </p:nvSpPr>
        <p:spPr>
          <a:xfrm>
            <a:off x="4992624" y="3390595"/>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1,526</a:t>
            </a:r>
            <a:endParaRPr lang="en-US" sz="1300" dirty="0"/>
          </a:p>
        </p:txBody>
      </p:sp>
      <p:sp>
        <p:nvSpPr>
          <p:cNvPr id="47" name="Text 45"/>
          <p:cNvSpPr txBox="1"/>
          <p:nvPr/>
        </p:nvSpPr>
        <p:spPr>
          <a:xfrm>
            <a:off x="658368" y="3672230"/>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48" name="Shape 46"/>
          <p:cNvSpPr/>
          <p:nvPr/>
        </p:nvSpPr>
        <p:spPr>
          <a:xfrm>
            <a:off x="2670048" y="3735598"/>
            <a:ext cx="374515" cy="154899"/>
          </a:xfrm>
          <a:prstGeom prst="rect">
            <a:avLst/>
          </a:prstGeom>
          <a:solidFill>
            <a:srgbClr val="C2352F"/>
          </a:solidFill>
          <a:ln/>
        </p:spPr>
      </p:sp>
      <p:sp>
        <p:nvSpPr>
          <p:cNvPr id="49" name="Text 47"/>
          <p:cNvSpPr txBox="1"/>
          <p:nvPr/>
        </p:nvSpPr>
        <p:spPr>
          <a:xfrm>
            <a:off x="3602736" y="3672230"/>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$77K</a:t>
            </a:r>
            <a:endParaRPr lang="en-US" sz="1300" dirty="0"/>
          </a:p>
        </p:txBody>
      </p:sp>
      <p:sp>
        <p:nvSpPr>
          <p:cNvPr id="50" name="Text 48"/>
          <p:cNvSpPr txBox="1"/>
          <p:nvPr/>
        </p:nvSpPr>
        <p:spPr>
          <a:xfrm>
            <a:off x="4425696" y="3672230"/>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a:t>
            </a:r>
            <a:endParaRPr lang="en-US" sz="1300" dirty="0"/>
          </a:p>
        </p:txBody>
      </p:sp>
      <p:sp>
        <p:nvSpPr>
          <p:cNvPr id="51" name="Text 49"/>
          <p:cNvSpPr txBox="1"/>
          <p:nvPr/>
        </p:nvSpPr>
        <p:spPr>
          <a:xfrm>
            <a:off x="4992624" y="3672230"/>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1,296</a:t>
            </a:r>
            <a:endParaRPr lang="en-US" sz="1300" dirty="0"/>
          </a:p>
        </p:txBody>
      </p:sp>
      <p:sp>
        <p:nvSpPr>
          <p:cNvPr id="52" name="Text 50"/>
          <p:cNvSpPr txBox="1"/>
          <p:nvPr/>
        </p:nvSpPr>
        <p:spPr>
          <a:xfrm>
            <a:off x="658368" y="3953866"/>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53" name="Shape 51"/>
          <p:cNvSpPr/>
          <p:nvPr/>
        </p:nvSpPr>
        <p:spPr>
          <a:xfrm>
            <a:off x="2670048" y="4017234"/>
            <a:ext cx="358021" cy="154899"/>
          </a:xfrm>
          <a:prstGeom prst="rect">
            <a:avLst/>
          </a:prstGeom>
          <a:solidFill>
            <a:srgbClr val="C2352F"/>
          </a:solidFill>
          <a:ln/>
        </p:spPr>
      </p:sp>
      <p:sp>
        <p:nvSpPr>
          <p:cNvPr id="54" name="Text 52"/>
          <p:cNvSpPr txBox="1"/>
          <p:nvPr/>
        </p:nvSpPr>
        <p:spPr>
          <a:xfrm>
            <a:off x="3602736" y="3953866"/>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$73K</a:t>
            </a:r>
            <a:endParaRPr lang="en-US" sz="1300" dirty="0"/>
          </a:p>
        </p:txBody>
      </p:sp>
      <p:sp>
        <p:nvSpPr>
          <p:cNvPr id="55" name="Text 53"/>
          <p:cNvSpPr txBox="1"/>
          <p:nvPr/>
        </p:nvSpPr>
        <p:spPr>
          <a:xfrm>
            <a:off x="4425696" y="3953866"/>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56" name="Text 54"/>
          <p:cNvSpPr txBox="1"/>
          <p:nvPr/>
        </p:nvSpPr>
        <p:spPr>
          <a:xfrm>
            <a:off x="4992624" y="3953866"/>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981</a:t>
            </a:r>
            <a:endParaRPr lang="en-US" sz="1300" dirty="0"/>
          </a:p>
        </p:txBody>
      </p:sp>
      <p:sp>
        <p:nvSpPr>
          <p:cNvPr id="57" name="Text 55"/>
          <p:cNvSpPr txBox="1"/>
          <p:nvPr/>
        </p:nvSpPr>
        <p:spPr>
          <a:xfrm>
            <a:off x="658368" y="4235501"/>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58" name="Shape 56"/>
          <p:cNvSpPr/>
          <p:nvPr/>
        </p:nvSpPr>
        <p:spPr>
          <a:xfrm>
            <a:off x="2670048" y="4298869"/>
            <a:ext cx="350574" cy="154899"/>
          </a:xfrm>
          <a:prstGeom prst="rect">
            <a:avLst/>
          </a:prstGeom>
          <a:solidFill>
            <a:srgbClr val="C2352F"/>
          </a:solidFill>
          <a:ln/>
        </p:spPr>
      </p:sp>
      <p:sp>
        <p:nvSpPr>
          <p:cNvPr id="59" name="Text 57"/>
          <p:cNvSpPr txBox="1"/>
          <p:nvPr/>
        </p:nvSpPr>
        <p:spPr>
          <a:xfrm>
            <a:off x="3602736" y="4235501"/>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$72K</a:t>
            </a:r>
            <a:endParaRPr lang="en-US" sz="1300" dirty="0"/>
          </a:p>
        </p:txBody>
      </p:sp>
      <p:sp>
        <p:nvSpPr>
          <p:cNvPr id="60" name="Text 58"/>
          <p:cNvSpPr txBox="1"/>
          <p:nvPr/>
        </p:nvSpPr>
        <p:spPr>
          <a:xfrm>
            <a:off x="4425696" y="4235501"/>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61" name="Text 59"/>
          <p:cNvSpPr txBox="1"/>
          <p:nvPr/>
        </p:nvSpPr>
        <p:spPr>
          <a:xfrm>
            <a:off x="4992624" y="4235501"/>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1,059</a:t>
            </a:r>
            <a:endParaRPr lang="en-US" sz="1300" dirty="0"/>
          </a:p>
        </p:txBody>
      </p:sp>
      <p:sp>
        <p:nvSpPr>
          <p:cNvPr id="62" name="Text 60"/>
          <p:cNvSpPr txBox="1"/>
          <p:nvPr/>
        </p:nvSpPr>
        <p:spPr>
          <a:xfrm>
            <a:off x="658368" y="4517136"/>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63" name="Shape 61"/>
          <p:cNvSpPr/>
          <p:nvPr/>
        </p:nvSpPr>
        <p:spPr>
          <a:xfrm>
            <a:off x="2670048" y="4580504"/>
            <a:ext cx="331353" cy="154899"/>
          </a:xfrm>
          <a:prstGeom prst="rect">
            <a:avLst/>
          </a:prstGeom>
          <a:solidFill>
            <a:srgbClr val="C2352F"/>
          </a:solidFill>
          <a:ln/>
        </p:spPr>
      </p:sp>
      <p:sp>
        <p:nvSpPr>
          <p:cNvPr id="64" name="Text 62"/>
          <p:cNvSpPr txBox="1"/>
          <p:nvPr/>
        </p:nvSpPr>
        <p:spPr>
          <a:xfrm>
            <a:off x="3602736" y="4517136"/>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$68K</a:t>
            </a:r>
            <a:endParaRPr lang="en-US" sz="1300" dirty="0"/>
          </a:p>
        </p:txBody>
      </p:sp>
      <p:sp>
        <p:nvSpPr>
          <p:cNvPr id="65" name="Text 63"/>
          <p:cNvSpPr txBox="1"/>
          <p:nvPr/>
        </p:nvSpPr>
        <p:spPr>
          <a:xfrm>
            <a:off x="4425696" y="4517136"/>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66" name="Text 64"/>
          <p:cNvSpPr txBox="1"/>
          <p:nvPr/>
        </p:nvSpPr>
        <p:spPr>
          <a:xfrm>
            <a:off x="4992624" y="4517136"/>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909</a:t>
            </a:r>
            <a:endParaRPr lang="en-US" sz="1300" dirty="0"/>
          </a:p>
        </p:txBody>
      </p:sp>
      <p:sp>
        <p:nvSpPr>
          <p:cNvPr id="67" name="Text 65"/>
          <p:cNvSpPr txBox="1"/>
          <p:nvPr/>
        </p:nvSpPr>
        <p:spPr>
          <a:xfrm>
            <a:off x="658368" y="4798771"/>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68" name="Shape 66"/>
          <p:cNvSpPr/>
          <p:nvPr/>
        </p:nvSpPr>
        <p:spPr>
          <a:xfrm>
            <a:off x="2670048" y="4862139"/>
            <a:ext cx="331235" cy="154899"/>
          </a:xfrm>
          <a:prstGeom prst="rect">
            <a:avLst/>
          </a:prstGeom>
          <a:solidFill>
            <a:srgbClr val="C2352F"/>
          </a:solidFill>
          <a:ln/>
        </p:spPr>
      </p:sp>
      <p:sp>
        <p:nvSpPr>
          <p:cNvPr id="69" name="Text 67"/>
          <p:cNvSpPr txBox="1"/>
          <p:nvPr/>
        </p:nvSpPr>
        <p:spPr>
          <a:xfrm>
            <a:off x="3602736" y="4798771"/>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$68K</a:t>
            </a:r>
            <a:endParaRPr lang="en-US" sz="1300" dirty="0"/>
          </a:p>
        </p:txBody>
      </p:sp>
      <p:sp>
        <p:nvSpPr>
          <p:cNvPr id="70" name="Text 68"/>
          <p:cNvSpPr txBox="1"/>
          <p:nvPr/>
        </p:nvSpPr>
        <p:spPr>
          <a:xfrm>
            <a:off x="4425696" y="4798771"/>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10.2%</a:t>
            </a:r>
            <a:endParaRPr lang="en-US" sz="1300" dirty="0"/>
          </a:p>
        </p:txBody>
      </p:sp>
      <p:sp>
        <p:nvSpPr>
          <p:cNvPr id="71" name="Text 69"/>
          <p:cNvSpPr txBox="1"/>
          <p:nvPr/>
        </p:nvSpPr>
        <p:spPr>
          <a:xfrm>
            <a:off x="4992624" y="4798771"/>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909</a:t>
            </a:r>
            <a:endParaRPr lang="en-US" sz="1300" dirty="0"/>
          </a:p>
        </p:txBody>
      </p:sp>
      <p:sp>
        <p:nvSpPr>
          <p:cNvPr id="72" name="Text 70"/>
          <p:cNvSpPr txBox="1"/>
          <p:nvPr/>
        </p:nvSpPr>
        <p:spPr>
          <a:xfrm>
            <a:off x="658368" y="5080406"/>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73" name="Shape 71"/>
          <p:cNvSpPr/>
          <p:nvPr/>
        </p:nvSpPr>
        <p:spPr>
          <a:xfrm>
            <a:off x="2670048" y="5143774"/>
            <a:ext cx="274901" cy="154899"/>
          </a:xfrm>
          <a:prstGeom prst="rect">
            <a:avLst/>
          </a:prstGeom>
          <a:solidFill>
            <a:srgbClr val="C2352F"/>
          </a:solidFill>
          <a:ln/>
        </p:spPr>
      </p:sp>
      <p:sp>
        <p:nvSpPr>
          <p:cNvPr id="74" name="Text 72"/>
          <p:cNvSpPr txBox="1"/>
          <p:nvPr/>
        </p:nvSpPr>
        <p:spPr>
          <a:xfrm>
            <a:off x="3602736" y="5080406"/>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$56K</a:t>
            </a:r>
            <a:endParaRPr lang="en-US" sz="1300" dirty="0"/>
          </a:p>
        </p:txBody>
      </p:sp>
      <p:sp>
        <p:nvSpPr>
          <p:cNvPr id="75" name="Text 73"/>
          <p:cNvSpPr txBox="1"/>
          <p:nvPr/>
        </p:nvSpPr>
        <p:spPr>
          <a:xfrm>
            <a:off x="4425696" y="5080406"/>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76" name="Text 74"/>
          <p:cNvSpPr txBox="1"/>
          <p:nvPr/>
        </p:nvSpPr>
        <p:spPr>
          <a:xfrm>
            <a:off x="4992624" y="5080406"/>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754</a:t>
            </a:r>
            <a:endParaRPr lang="en-US" sz="1300" dirty="0"/>
          </a:p>
        </p:txBody>
      </p:sp>
      <p:sp>
        <p:nvSpPr>
          <p:cNvPr id="77" name="Text 75"/>
          <p:cNvSpPr txBox="1"/>
          <p:nvPr/>
        </p:nvSpPr>
        <p:spPr>
          <a:xfrm>
            <a:off x="658368" y="5362042"/>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78" name="Shape 76"/>
          <p:cNvSpPr/>
          <p:nvPr/>
        </p:nvSpPr>
        <p:spPr>
          <a:xfrm>
            <a:off x="2670048" y="5425410"/>
            <a:ext cx="253573" cy="154899"/>
          </a:xfrm>
          <a:prstGeom prst="rect">
            <a:avLst/>
          </a:prstGeom>
          <a:solidFill>
            <a:srgbClr val="C2352F"/>
          </a:solidFill>
          <a:ln/>
        </p:spPr>
      </p:sp>
      <p:sp>
        <p:nvSpPr>
          <p:cNvPr id="79" name="Text 77"/>
          <p:cNvSpPr txBox="1"/>
          <p:nvPr/>
        </p:nvSpPr>
        <p:spPr>
          <a:xfrm>
            <a:off x="3602736" y="5362042"/>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$52K</a:t>
            </a:r>
            <a:endParaRPr lang="en-US" sz="1300" dirty="0"/>
          </a:p>
        </p:txBody>
      </p:sp>
      <p:sp>
        <p:nvSpPr>
          <p:cNvPr id="80" name="Text 78"/>
          <p:cNvSpPr txBox="1"/>
          <p:nvPr/>
        </p:nvSpPr>
        <p:spPr>
          <a:xfrm>
            <a:off x="4425696" y="5362042"/>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0.1%</a:t>
            </a:r>
            <a:endParaRPr lang="en-US" sz="1300" dirty="0"/>
          </a:p>
        </p:txBody>
      </p:sp>
      <p:sp>
        <p:nvSpPr>
          <p:cNvPr id="81" name="Text 79"/>
          <p:cNvSpPr txBox="1"/>
          <p:nvPr/>
        </p:nvSpPr>
        <p:spPr>
          <a:xfrm>
            <a:off x="4992624" y="5362042"/>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696</a:t>
            </a:r>
            <a:endParaRPr lang="en-US" sz="1300" dirty="0"/>
          </a:p>
        </p:txBody>
      </p:sp>
      <p:sp>
        <p:nvSpPr>
          <p:cNvPr id="82" name="Text 80"/>
          <p:cNvSpPr txBox="1"/>
          <p:nvPr/>
        </p:nvSpPr>
        <p:spPr>
          <a:xfrm>
            <a:off x="658368" y="5643677"/>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83" name="Shape 81"/>
          <p:cNvSpPr/>
          <p:nvPr/>
        </p:nvSpPr>
        <p:spPr>
          <a:xfrm>
            <a:off x="2670048" y="5707045"/>
            <a:ext cx="252810" cy="154899"/>
          </a:xfrm>
          <a:prstGeom prst="rect">
            <a:avLst/>
          </a:prstGeom>
          <a:solidFill>
            <a:srgbClr val="C2352F"/>
          </a:solidFill>
          <a:ln/>
        </p:spPr>
      </p:sp>
      <p:sp>
        <p:nvSpPr>
          <p:cNvPr id="84" name="Text 82"/>
          <p:cNvSpPr txBox="1"/>
          <p:nvPr/>
        </p:nvSpPr>
        <p:spPr>
          <a:xfrm>
            <a:off x="3602736" y="5643677"/>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$52K</a:t>
            </a:r>
            <a:endParaRPr lang="en-US" sz="1300" dirty="0"/>
          </a:p>
        </p:txBody>
      </p:sp>
      <p:sp>
        <p:nvSpPr>
          <p:cNvPr id="85" name="Text 83"/>
          <p:cNvSpPr txBox="1"/>
          <p:nvPr/>
        </p:nvSpPr>
        <p:spPr>
          <a:xfrm>
            <a:off x="4425696" y="5643677"/>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a:t>
            </a:r>
            <a:endParaRPr lang="en-US" sz="1300" dirty="0"/>
          </a:p>
        </p:txBody>
      </p:sp>
      <p:sp>
        <p:nvSpPr>
          <p:cNvPr id="86" name="Text 84"/>
          <p:cNvSpPr txBox="1"/>
          <p:nvPr/>
        </p:nvSpPr>
        <p:spPr>
          <a:xfrm>
            <a:off x="4992624" y="5643677"/>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735</a:t>
            </a:r>
            <a:endParaRPr lang="en-US" sz="1300" dirty="0"/>
          </a:p>
        </p:txBody>
      </p:sp>
      <p:sp>
        <p:nvSpPr>
          <p:cNvPr id="87" name="Text 85"/>
          <p:cNvSpPr txBox="1"/>
          <p:nvPr/>
        </p:nvSpPr>
        <p:spPr>
          <a:xfrm>
            <a:off x="6208776" y="1700784"/>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88" name="Shape 86"/>
          <p:cNvSpPr/>
          <p:nvPr/>
        </p:nvSpPr>
        <p:spPr>
          <a:xfrm>
            <a:off x="8220456" y="1764152"/>
            <a:ext cx="186928" cy="154899"/>
          </a:xfrm>
          <a:prstGeom prst="rect">
            <a:avLst/>
          </a:prstGeom>
          <a:solidFill>
            <a:srgbClr val="C2352F"/>
          </a:solidFill>
          <a:ln/>
        </p:spPr>
      </p:sp>
      <p:sp>
        <p:nvSpPr>
          <p:cNvPr id="89" name="Text 87"/>
          <p:cNvSpPr txBox="1"/>
          <p:nvPr/>
        </p:nvSpPr>
        <p:spPr>
          <a:xfrm>
            <a:off x="9153144" y="1700784"/>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$38K</a:t>
            </a:r>
            <a:endParaRPr lang="en-US" sz="1300" dirty="0"/>
          </a:p>
        </p:txBody>
      </p:sp>
      <p:sp>
        <p:nvSpPr>
          <p:cNvPr id="90" name="Text 88"/>
          <p:cNvSpPr txBox="1"/>
          <p:nvPr/>
        </p:nvSpPr>
        <p:spPr>
          <a:xfrm>
            <a:off x="9976104" y="1700784"/>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a:t>
            </a:r>
            <a:endParaRPr lang="en-US" sz="1300" dirty="0"/>
          </a:p>
        </p:txBody>
      </p:sp>
      <p:sp>
        <p:nvSpPr>
          <p:cNvPr id="91" name="Text 89"/>
          <p:cNvSpPr txBox="1"/>
          <p:nvPr/>
        </p:nvSpPr>
        <p:spPr>
          <a:xfrm>
            <a:off x="10543032" y="1700784"/>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600</a:t>
            </a:r>
            <a:endParaRPr lang="en-US" sz="1300" dirty="0"/>
          </a:p>
        </p:txBody>
      </p:sp>
      <p:sp>
        <p:nvSpPr>
          <p:cNvPr id="92" name="Text 90"/>
          <p:cNvSpPr txBox="1"/>
          <p:nvPr/>
        </p:nvSpPr>
        <p:spPr>
          <a:xfrm>
            <a:off x="6208776" y="1982419"/>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93" name="Shape 91"/>
          <p:cNvSpPr/>
          <p:nvPr/>
        </p:nvSpPr>
        <p:spPr>
          <a:xfrm>
            <a:off x="8220456" y="2045787"/>
            <a:ext cx="174312" cy="154899"/>
          </a:xfrm>
          <a:prstGeom prst="rect">
            <a:avLst/>
          </a:prstGeom>
          <a:solidFill>
            <a:srgbClr val="C2352F"/>
          </a:solidFill>
          <a:ln/>
        </p:spPr>
      </p:sp>
      <p:sp>
        <p:nvSpPr>
          <p:cNvPr id="94" name="Text 92"/>
          <p:cNvSpPr txBox="1"/>
          <p:nvPr/>
        </p:nvSpPr>
        <p:spPr>
          <a:xfrm>
            <a:off x="9153144" y="1982419"/>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$36K</a:t>
            </a:r>
            <a:endParaRPr lang="en-US" sz="1300" dirty="0"/>
          </a:p>
        </p:txBody>
      </p:sp>
      <p:sp>
        <p:nvSpPr>
          <p:cNvPr id="95" name="Text 93"/>
          <p:cNvSpPr txBox="1"/>
          <p:nvPr/>
        </p:nvSpPr>
        <p:spPr>
          <a:xfrm>
            <a:off x="9976104" y="1982419"/>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96" name="Text 94"/>
          <p:cNvSpPr txBox="1"/>
          <p:nvPr/>
        </p:nvSpPr>
        <p:spPr>
          <a:xfrm>
            <a:off x="10543032" y="1982419"/>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615</a:t>
            </a:r>
            <a:endParaRPr lang="en-US" sz="1300" dirty="0"/>
          </a:p>
        </p:txBody>
      </p:sp>
      <p:sp>
        <p:nvSpPr>
          <p:cNvPr id="97" name="Text 95"/>
          <p:cNvSpPr txBox="1"/>
          <p:nvPr/>
        </p:nvSpPr>
        <p:spPr>
          <a:xfrm>
            <a:off x="6208776" y="2264054"/>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98" name="Shape 96"/>
          <p:cNvSpPr/>
          <p:nvPr/>
        </p:nvSpPr>
        <p:spPr>
          <a:xfrm>
            <a:off x="8220456" y="2327422"/>
            <a:ext cx="150632" cy="154899"/>
          </a:xfrm>
          <a:prstGeom prst="rect">
            <a:avLst/>
          </a:prstGeom>
          <a:solidFill>
            <a:srgbClr val="C2352F"/>
          </a:solidFill>
          <a:ln/>
        </p:spPr>
      </p:sp>
      <p:sp>
        <p:nvSpPr>
          <p:cNvPr id="99" name="Text 97"/>
          <p:cNvSpPr txBox="1"/>
          <p:nvPr/>
        </p:nvSpPr>
        <p:spPr>
          <a:xfrm>
            <a:off x="9153144" y="2264054"/>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$31K</a:t>
            </a:r>
            <a:endParaRPr lang="en-US" sz="1300" dirty="0"/>
          </a:p>
        </p:txBody>
      </p:sp>
      <p:sp>
        <p:nvSpPr>
          <p:cNvPr id="100" name="Text 98"/>
          <p:cNvSpPr txBox="1"/>
          <p:nvPr/>
        </p:nvSpPr>
        <p:spPr>
          <a:xfrm>
            <a:off x="9976104" y="2264054"/>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101" name="Text 99"/>
          <p:cNvSpPr txBox="1"/>
          <p:nvPr/>
        </p:nvSpPr>
        <p:spPr>
          <a:xfrm>
            <a:off x="10543032" y="2264054"/>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467</a:t>
            </a:r>
            <a:endParaRPr lang="en-US" sz="1300" dirty="0"/>
          </a:p>
        </p:txBody>
      </p:sp>
      <p:sp>
        <p:nvSpPr>
          <p:cNvPr id="102" name="Text 100"/>
          <p:cNvSpPr txBox="1"/>
          <p:nvPr/>
        </p:nvSpPr>
        <p:spPr>
          <a:xfrm>
            <a:off x="6208776" y="2545690"/>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03" name="Shape 101"/>
          <p:cNvSpPr/>
          <p:nvPr/>
        </p:nvSpPr>
        <p:spPr>
          <a:xfrm>
            <a:off x="8220456" y="2609058"/>
            <a:ext cx="135957" cy="154899"/>
          </a:xfrm>
          <a:prstGeom prst="rect">
            <a:avLst/>
          </a:prstGeom>
          <a:solidFill>
            <a:srgbClr val="C2352F"/>
          </a:solidFill>
          <a:ln/>
        </p:spPr>
      </p:sp>
      <p:sp>
        <p:nvSpPr>
          <p:cNvPr id="104" name="Text 102"/>
          <p:cNvSpPr txBox="1"/>
          <p:nvPr/>
        </p:nvSpPr>
        <p:spPr>
          <a:xfrm>
            <a:off x="9153144" y="2545690"/>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$28K</a:t>
            </a:r>
            <a:endParaRPr lang="en-US" sz="1300" dirty="0"/>
          </a:p>
        </p:txBody>
      </p:sp>
      <p:sp>
        <p:nvSpPr>
          <p:cNvPr id="105" name="Text 103"/>
          <p:cNvSpPr txBox="1"/>
          <p:nvPr/>
        </p:nvSpPr>
        <p:spPr>
          <a:xfrm>
            <a:off x="9976104" y="2545690"/>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0.4%</a:t>
            </a:r>
            <a:endParaRPr lang="en-US" sz="1300" dirty="0"/>
          </a:p>
        </p:txBody>
      </p:sp>
      <p:sp>
        <p:nvSpPr>
          <p:cNvPr id="106" name="Text 104"/>
          <p:cNvSpPr txBox="1"/>
          <p:nvPr/>
        </p:nvSpPr>
        <p:spPr>
          <a:xfrm>
            <a:off x="10543032" y="2545690"/>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373</a:t>
            </a:r>
            <a:endParaRPr lang="en-US" sz="1300" dirty="0"/>
          </a:p>
        </p:txBody>
      </p:sp>
      <p:sp>
        <p:nvSpPr>
          <p:cNvPr id="107" name="Text 105"/>
          <p:cNvSpPr txBox="1"/>
          <p:nvPr/>
        </p:nvSpPr>
        <p:spPr>
          <a:xfrm>
            <a:off x="6208776" y="2827325"/>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08" name="Shape 106"/>
          <p:cNvSpPr/>
          <p:nvPr/>
        </p:nvSpPr>
        <p:spPr>
          <a:xfrm>
            <a:off x="8220456" y="2890693"/>
            <a:ext cx="133724" cy="154899"/>
          </a:xfrm>
          <a:prstGeom prst="rect">
            <a:avLst/>
          </a:prstGeom>
          <a:solidFill>
            <a:srgbClr val="C2352F"/>
          </a:solidFill>
          <a:ln/>
        </p:spPr>
      </p:sp>
      <p:sp>
        <p:nvSpPr>
          <p:cNvPr id="109" name="Text 107"/>
          <p:cNvSpPr txBox="1"/>
          <p:nvPr/>
        </p:nvSpPr>
        <p:spPr>
          <a:xfrm>
            <a:off x="9153144" y="2827325"/>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$27K</a:t>
            </a:r>
            <a:endParaRPr lang="en-US" sz="1300" dirty="0"/>
          </a:p>
        </p:txBody>
      </p:sp>
      <p:sp>
        <p:nvSpPr>
          <p:cNvPr id="110" name="Text 108"/>
          <p:cNvSpPr txBox="1"/>
          <p:nvPr/>
        </p:nvSpPr>
        <p:spPr>
          <a:xfrm>
            <a:off x="9976104" y="2827325"/>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8.2%</a:t>
            </a:r>
            <a:endParaRPr lang="en-US" sz="1300" dirty="0"/>
          </a:p>
        </p:txBody>
      </p:sp>
      <p:sp>
        <p:nvSpPr>
          <p:cNvPr id="111" name="Text 109"/>
          <p:cNvSpPr txBox="1"/>
          <p:nvPr/>
        </p:nvSpPr>
        <p:spPr>
          <a:xfrm>
            <a:off x="10543032" y="2827325"/>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460</a:t>
            </a:r>
            <a:endParaRPr lang="en-US" sz="1300" dirty="0"/>
          </a:p>
        </p:txBody>
      </p:sp>
      <p:sp>
        <p:nvSpPr>
          <p:cNvPr id="112" name="Text 110"/>
          <p:cNvSpPr txBox="1"/>
          <p:nvPr/>
        </p:nvSpPr>
        <p:spPr>
          <a:xfrm>
            <a:off x="6208776" y="3108960"/>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13" name="Shape 111"/>
          <p:cNvSpPr/>
          <p:nvPr/>
        </p:nvSpPr>
        <p:spPr>
          <a:xfrm>
            <a:off x="8220456" y="3172328"/>
            <a:ext cx="131190" cy="154899"/>
          </a:xfrm>
          <a:prstGeom prst="rect">
            <a:avLst/>
          </a:prstGeom>
          <a:solidFill>
            <a:srgbClr val="C2352F"/>
          </a:solidFill>
          <a:ln/>
        </p:spPr>
      </p:sp>
      <p:sp>
        <p:nvSpPr>
          <p:cNvPr id="114" name="Text 112"/>
          <p:cNvSpPr txBox="1"/>
          <p:nvPr/>
        </p:nvSpPr>
        <p:spPr>
          <a:xfrm>
            <a:off x="9153144" y="3108960"/>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$27K</a:t>
            </a:r>
            <a:endParaRPr lang="en-US" sz="1300" dirty="0"/>
          </a:p>
        </p:txBody>
      </p:sp>
      <p:sp>
        <p:nvSpPr>
          <p:cNvPr id="115" name="Text 113"/>
          <p:cNvSpPr txBox="1"/>
          <p:nvPr/>
        </p:nvSpPr>
        <p:spPr>
          <a:xfrm>
            <a:off x="9976104" y="3108960"/>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a:t>
            </a:r>
            <a:endParaRPr lang="en-US" sz="1300" dirty="0"/>
          </a:p>
        </p:txBody>
      </p:sp>
      <p:sp>
        <p:nvSpPr>
          <p:cNvPr id="116" name="Text 114"/>
          <p:cNvSpPr txBox="1"/>
          <p:nvPr/>
        </p:nvSpPr>
        <p:spPr>
          <a:xfrm>
            <a:off x="10543032" y="3108960"/>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300</a:t>
            </a:r>
            <a:endParaRPr lang="en-US" sz="1300" dirty="0"/>
          </a:p>
        </p:txBody>
      </p:sp>
      <p:sp>
        <p:nvSpPr>
          <p:cNvPr id="117" name="Text 115"/>
          <p:cNvSpPr txBox="1"/>
          <p:nvPr/>
        </p:nvSpPr>
        <p:spPr>
          <a:xfrm>
            <a:off x="6208776" y="3390595"/>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18" name="Shape 116"/>
          <p:cNvSpPr/>
          <p:nvPr/>
        </p:nvSpPr>
        <p:spPr>
          <a:xfrm>
            <a:off x="8220456" y="3453963"/>
            <a:ext cx="101915" cy="154899"/>
          </a:xfrm>
          <a:prstGeom prst="rect">
            <a:avLst/>
          </a:prstGeom>
          <a:solidFill>
            <a:srgbClr val="C2352F"/>
          </a:solidFill>
          <a:ln/>
        </p:spPr>
      </p:sp>
      <p:sp>
        <p:nvSpPr>
          <p:cNvPr id="119" name="Text 117"/>
          <p:cNvSpPr txBox="1"/>
          <p:nvPr/>
        </p:nvSpPr>
        <p:spPr>
          <a:xfrm>
            <a:off x="9153144" y="3390595"/>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120" name="Text 118"/>
          <p:cNvSpPr txBox="1"/>
          <p:nvPr/>
        </p:nvSpPr>
        <p:spPr>
          <a:xfrm>
            <a:off x="9976104" y="3390595"/>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9.0%</a:t>
            </a:r>
            <a:endParaRPr lang="en-US" sz="1300" dirty="0"/>
          </a:p>
        </p:txBody>
      </p:sp>
      <p:sp>
        <p:nvSpPr>
          <p:cNvPr id="121" name="Text 119"/>
          <p:cNvSpPr txBox="1"/>
          <p:nvPr/>
        </p:nvSpPr>
        <p:spPr>
          <a:xfrm>
            <a:off x="10543032" y="3390595"/>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496</a:t>
            </a:r>
            <a:endParaRPr lang="en-US" sz="1300" dirty="0"/>
          </a:p>
        </p:txBody>
      </p:sp>
      <p:sp>
        <p:nvSpPr>
          <p:cNvPr id="122" name="Text 120"/>
          <p:cNvSpPr txBox="1"/>
          <p:nvPr/>
        </p:nvSpPr>
        <p:spPr>
          <a:xfrm>
            <a:off x="6208776" y="3672230"/>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23" name="Shape 121"/>
          <p:cNvSpPr/>
          <p:nvPr/>
        </p:nvSpPr>
        <p:spPr>
          <a:xfrm>
            <a:off x="8220456" y="3735598"/>
            <a:ext cx="89733" cy="154899"/>
          </a:xfrm>
          <a:prstGeom prst="rect">
            <a:avLst/>
          </a:prstGeom>
          <a:solidFill>
            <a:srgbClr val="C2352F"/>
          </a:solidFill>
          <a:ln/>
        </p:spPr>
      </p:sp>
      <p:sp>
        <p:nvSpPr>
          <p:cNvPr id="124" name="Text 122"/>
          <p:cNvSpPr txBox="1"/>
          <p:nvPr/>
        </p:nvSpPr>
        <p:spPr>
          <a:xfrm>
            <a:off x="9153144" y="3672230"/>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$18K</a:t>
            </a:r>
            <a:endParaRPr lang="en-US" sz="1300" dirty="0"/>
          </a:p>
        </p:txBody>
      </p:sp>
      <p:sp>
        <p:nvSpPr>
          <p:cNvPr id="125" name="Text 123"/>
          <p:cNvSpPr txBox="1"/>
          <p:nvPr/>
        </p:nvSpPr>
        <p:spPr>
          <a:xfrm>
            <a:off x="9976104" y="3672230"/>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a:t>
            </a:r>
            <a:endParaRPr lang="en-US" sz="1300" dirty="0"/>
          </a:p>
        </p:txBody>
      </p:sp>
      <p:sp>
        <p:nvSpPr>
          <p:cNvPr id="126" name="Text 124"/>
          <p:cNvSpPr txBox="1"/>
          <p:nvPr/>
        </p:nvSpPr>
        <p:spPr>
          <a:xfrm>
            <a:off x="10543032" y="3672230"/>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380</a:t>
            </a:r>
            <a:endParaRPr lang="en-US" sz="1300" dirty="0"/>
          </a:p>
        </p:txBody>
      </p:sp>
      <p:sp>
        <p:nvSpPr>
          <p:cNvPr id="127" name="Text 125"/>
          <p:cNvSpPr txBox="1"/>
          <p:nvPr/>
        </p:nvSpPr>
        <p:spPr>
          <a:xfrm>
            <a:off x="6208776" y="3953866"/>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28" name="Shape 126"/>
          <p:cNvSpPr/>
          <p:nvPr/>
        </p:nvSpPr>
        <p:spPr>
          <a:xfrm>
            <a:off x="8220456" y="4017234"/>
            <a:ext cx="69731" cy="154899"/>
          </a:xfrm>
          <a:prstGeom prst="rect">
            <a:avLst/>
          </a:prstGeom>
          <a:solidFill>
            <a:srgbClr val="C2352F"/>
          </a:solidFill>
          <a:ln/>
        </p:spPr>
      </p:sp>
      <p:sp>
        <p:nvSpPr>
          <p:cNvPr id="129" name="Text 127"/>
          <p:cNvSpPr txBox="1"/>
          <p:nvPr/>
        </p:nvSpPr>
        <p:spPr>
          <a:xfrm>
            <a:off x="9153144" y="3953866"/>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$14K</a:t>
            </a:r>
            <a:endParaRPr lang="en-US" sz="1300" dirty="0"/>
          </a:p>
        </p:txBody>
      </p:sp>
      <p:sp>
        <p:nvSpPr>
          <p:cNvPr id="130" name="Text 128"/>
          <p:cNvSpPr txBox="1"/>
          <p:nvPr/>
        </p:nvSpPr>
        <p:spPr>
          <a:xfrm>
            <a:off x="9976104" y="3953866"/>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131" name="Text 129"/>
          <p:cNvSpPr txBox="1"/>
          <p:nvPr/>
        </p:nvSpPr>
        <p:spPr>
          <a:xfrm>
            <a:off x="10543032" y="3953866"/>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643</a:t>
            </a:r>
            <a:endParaRPr lang="en-US" sz="1300" dirty="0"/>
          </a:p>
        </p:txBody>
      </p:sp>
      <p:sp>
        <p:nvSpPr>
          <p:cNvPr id="132" name="Text 130"/>
          <p:cNvSpPr txBox="1"/>
          <p:nvPr/>
        </p:nvSpPr>
        <p:spPr>
          <a:xfrm>
            <a:off x="6208776" y="4235501"/>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33" name="Shape 131"/>
          <p:cNvSpPr/>
          <p:nvPr/>
        </p:nvSpPr>
        <p:spPr>
          <a:xfrm>
            <a:off x="8220456" y="4298869"/>
            <a:ext cx="53100" cy="154899"/>
          </a:xfrm>
          <a:prstGeom prst="rect">
            <a:avLst/>
          </a:prstGeom>
          <a:solidFill>
            <a:srgbClr val="C2352F"/>
          </a:solidFill>
          <a:ln/>
        </p:spPr>
      </p:sp>
      <p:sp>
        <p:nvSpPr>
          <p:cNvPr id="134" name="Text 132"/>
          <p:cNvSpPr txBox="1"/>
          <p:nvPr/>
        </p:nvSpPr>
        <p:spPr>
          <a:xfrm>
            <a:off x="9153144" y="4235501"/>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$11K</a:t>
            </a:r>
            <a:endParaRPr lang="en-US" sz="1300" dirty="0"/>
          </a:p>
        </p:txBody>
      </p:sp>
      <p:sp>
        <p:nvSpPr>
          <p:cNvPr id="135" name="Text 133"/>
          <p:cNvSpPr txBox="1"/>
          <p:nvPr/>
        </p:nvSpPr>
        <p:spPr>
          <a:xfrm>
            <a:off x="9976104" y="4235501"/>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13.1%</a:t>
            </a:r>
            <a:endParaRPr lang="en-US" sz="1300" dirty="0"/>
          </a:p>
        </p:txBody>
      </p:sp>
      <p:sp>
        <p:nvSpPr>
          <p:cNvPr id="136" name="Text 134"/>
          <p:cNvSpPr txBox="1"/>
          <p:nvPr/>
        </p:nvSpPr>
        <p:spPr>
          <a:xfrm>
            <a:off x="10543032" y="4235501"/>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138</a:t>
            </a:r>
            <a:endParaRPr lang="en-US" sz="1300" dirty="0"/>
          </a:p>
        </p:txBody>
      </p:sp>
      <p:sp>
        <p:nvSpPr>
          <p:cNvPr id="137" name="Text 135"/>
          <p:cNvSpPr txBox="1"/>
          <p:nvPr/>
        </p:nvSpPr>
        <p:spPr>
          <a:xfrm>
            <a:off x="6208776" y="4517136"/>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38" name="Shape 136"/>
          <p:cNvSpPr/>
          <p:nvPr/>
        </p:nvSpPr>
        <p:spPr>
          <a:xfrm>
            <a:off x="8220456" y="4580504"/>
            <a:ext cx="36692" cy="154899"/>
          </a:xfrm>
          <a:prstGeom prst="rect">
            <a:avLst/>
          </a:prstGeom>
          <a:solidFill>
            <a:srgbClr val="C2352F"/>
          </a:solidFill>
          <a:ln/>
        </p:spPr>
      </p:sp>
      <p:sp>
        <p:nvSpPr>
          <p:cNvPr id="139" name="Text 137"/>
          <p:cNvSpPr txBox="1"/>
          <p:nvPr/>
        </p:nvSpPr>
        <p:spPr>
          <a:xfrm>
            <a:off x="9153144" y="4517136"/>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$8K</a:t>
            </a:r>
            <a:endParaRPr lang="en-US" sz="1300" dirty="0"/>
          </a:p>
        </p:txBody>
      </p:sp>
      <p:sp>
        <p:nvSpPr>
          <p:cNvPr id="140" name="Text 138"/>
          <p:cNvSpPr txBox="1"/>
          <p:nvPr/>
        </p:nvSpPr>
        <p:spPr>
          <a:xfrm>
            <a:off x="9976104" y="4517136"/>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a:t>
            </a:r>
            <a:endParaRPr lang="en-US" sz="1300" dirty="0"/>
          </a:p>
        </p:txBody>
      </p:sp>
      <p:sp>
        <p:nvSpPr>
          <p:cNvPr id="141" name="Text 139"/>
          <p:cNvSpPr txBox="1"/>
          <p:nvPr/>
        </p:nvSpPr>
        <p:spPr>
          <a:xfrm>
            <a:off x="10543032" y="4517136"/>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148</a:t>
            </a:r>
            <a:endParaRPr lang="en-US" sz="1300" dirty="0"/>
          </a:p>
        </p:txBody>
      </p:sp>
      <p:sp>
        <p:nvSpPr>
          <p:cNvPr id="142" name="Text 140"/>
          <p:cNvSpPr txBox="1"/>
          <p:nvPr/>
        </p:nvSpPr>
        <p:spPr>
          <a:xfrm>
            <a:off x="6208776" y="4798771"/>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43" name="Shape 141"/>
          <p:cNvSpPr/>
          <p:nvPr/>
        </p:nvSpPr>
        <p:spPr>
          <a:xfrm>
            <a:off x="8220456" y="4862139"/>
            <a:ext cx="28663" cy="154899"/>
          </a:xfrm>
          <a:prstGeom prst="rect">
            <a:avLst/>
          </a:prstGeom>
          <a:solidFill>
            <a:srgbClr val="C2352F"/>
          </a:solidFill>
          <a:ln/>
        </p:spPr>
      </p:sp>
      <p:sp>
        <p:nvSpPr>
          <p:cNvPr id="144" name="Text 142"/>
          <p:cNvSpPr txBox="1"/>
          <p:nvPr/>
        </p:nvSpPr>
        <p:spPr>
          <a:xfrm>
            <a:off x="9153144" y="4798771"/>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$6K</a:t>
            </a:r>
            <a:endParaRPr lang="en-US" sz="1300" dirty="0"/>
          </a:p>
        </p:txBody>
      </p:sp>
      <p:sp>
        <p:nvSpPr>
          <p:cNvPr id="145" name="Text 143"/>
          <p:cNvSpPr txBox="1"/>
          <p:nvPr/>
        </p:nvSpPr>
        <p:spPr>
          <a:xfrm>
            <a:off x="9976104" y="4798771"/>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13.5%</a:t>
            </a:r>
            <a:endParaRPr lang="en-US" sz="1300" dirty="0"/>
          </a:p>
        </p:txBody>
      </p:sp>
      <p:sp>
        <p:nvSpPr>
          <p:cNvPr id="146" name="Text 144"/>
          <p:cNvSpPr txBox="1"/>
          <p:nvPr/>
        </p:nvSpPr>
        <p:spPr>
          <a:xfrm>
            <a:off x="10543032" y="4798771"/>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a:t>
            </a:r>
            <a:endParaRPr lang="en-US" sz="1300" dirty="0"/>
          </a:p>
        </p:txBody>
      </p:sp>
      <p:sp>
        <p:nvSpPr>
          <p:cNvPr id="147" name="Text 145"/>
          <p:cNvSpPr txBox="1"/>
          <p:nvPr/>
        </p:nvSpPr>
        <p:spPr>
          <a:xfrm>
            <a:off x="6208776" y="5080406"/>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48" name="Shape 146"/>
          <p:cNvSpPr/>
          <p:nvPr/>
        </p:nvSpPr>
        <p:spPr>
          <a:xfrm>
            <a:off x="8220456" y="5143774"/>
            <a:ext cx="18288" cy="154899"/>
          </a:xfrm>
          <a:prstGeom prst="rect">
            <a:avLst/>
          </a:prstGeom>
          <a:solidFill>
            <a:srgbClr val="C2352F"/>
          </a:solidFill>
          <a:ln/>
        </p:spPr>
      </p:sp>
      <p:sp>
        <p:nvSpPr>
          <p:cNvPr id="149" name="Text 147"/>
          <p:cNvSpPr txBox="1"/>
          <p:nvPr/>
        </p:nvSpPr>
        <p:spPr>
          <a:xfrm>
            <a:off x="9153144" y="5080406"/>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$3K</a:t>
            </a:r>
            <a:endParaRPr lang="en-US" sz="1300" dirty="0"/>
          </a:p>
        </p:txBody>
      </p:sp>
      <p:sp>
        <p:nvSpPr>
          <p:cNvPr id="150" name="Text 148"/>
          <p:cNvSpPr txBox="1"/>
          <p:nvPr/>
        </p:nvSpPr>
        <p:spPr>
          <a:xfrm>
            <a:off x="9976104" y="5080406"/>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14.1%</a:t>
            </a:r>
            <a:endParaRPr lang="en-US" sz="1300" dirty="0"/>
          </a:p>
        </p:txBody>
      </p:sp>
      <p:sp>
        <p:nvSpPr>
          <p:cNvPr id="151" name="Text 149"/>
          <p:cNvSpPr txBox="1"/>
          <p:nvPr/>
        </p:nvSpPr>
        <p:spPr>
          <a:xfrm>
            <a:off x="10543032" y="5080406"/>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44</a:t>
            </a:r>
            <a:endParaRPr lang="en-US" sz="1300" dirty="0"/>
          </a:p>
        </p:txBody>
      </p:sp>
      <p:sp>
        <p:nvSpPr>
          <p:cNvPr id="152" name="Text 150"/>
          <p:cNvSpPr txBox="1"/>
          <p:nvPr/>
        </p:nvSpPr>
        <p:spPr>
          <a:xfrm>
            <a:off x="6208776" y="5362042"/>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53" name="Shape 151"/>
          <p:cNvSpPr/>
          <p:nvPr/>
        </p:nvSpPr>
        <p:spPr>
          <a:xfrm>
            <a:off x="8220456" y="5425410"/>
            <a:ext cx="18288" cy="154899"/>
          </a:xfrm>
          <a:prstGeom prst="rect">
            <a:avLst/>
          </a:prstGeom>
          <a:solidFill>
            <a:srgbClr val="C2352F"/>
          </a:solidFill>
          <a:ln/>
        </p:spPr>
      </p:sp>
      <p:sp>
        <p:nvSpPr>
          <p:cNvPr id="154" name="Text 152"/>
          <p:cNvSpPr txBox="1"/>
          <p:nvPr/>
        </p:nvSpPr>
        <p:spPr>
          <a:xfrm>
            <a:off x="9153144" y="5362042"/>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a:t>
            </a:r>
            <a:endParaRPr lang="en-US" sz="1300" dirty="0"/>
          </a:p>
        </p:txBody>
      </p:sp>
      <p:sp>
        <p:nvSpPr>
          <p:cNvPr id="155" name="Text 153"/>
          <p:cNvSpPr txBox="1"/>
          <p:nvPr/>
        </p:nvSpPr>
        <p:spPr>
          <a:xfrm>
            <a:off x="9976104" y="5362042"/>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a:t>
            </a:r>
            <a:endParaRPr lang="en-US" sz="1300" dirty="0"/>
          </a:p>
        </p:txBody>
      </p:sp>
      <p:sp>
        <p:nvSpPr>
          <p:cNvPr id="156" name="Text 154"/>
          <p:cNvSpPr txBox="1"/>
          <p:nvPr/>
        </p:nvSpPr>
        <p:spPr>
          <a:xfrm>
            <a:off x="10543032" y="5362042"/>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57" name="Shape 155"/>
          <p:cNvSpPr/>
          <p:nvPr/>
        </p:nvSpPr>
        <p:spPr>
          <a:xfrm>
            <a:off x="457200" y="6126480"/>
            <a:ext cx="11274552" cy="364236"/>
          </a:xfrm>
          <a:prstGeom prst="rect">
            <a:avLst/>
          </a:prstGeom>
          <a:solidFill>
            <a:srgbClr val="FBEBEA"/>
          </a:solidFill>
          <a:ln/>
        </p:spPr>
      </p:sp>
      <p:sp>
        <p:nvSpPr>
          <p:cNvPr id="158" name="Text 156"/>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A82B26"/>
                </a:solidFill>
                <a:latin typeface="Inter" pitchFamily="34" charset="0"/>
                <a:ea typeface="Inter" pitchFamily="34" charset="-122"/>
                <a:cs typeface="Inter" pitchFamily="34" charset="-120"/>
              </a:rPr>
              <a:t>29 stores under 15% leave $1,664,385 a year: 26,062 services. Toyota Spokane has the most at $179,701.</a:t>
            </a:r>
            <a:endParaRPr lang="en-US" sz="1550" dirty="0"/>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Balance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14.9%</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+14.9 pts</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16.9%</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+13.6 pts</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13.1%</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+6.7 pts</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7.7%</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+6.6 pts</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7.7%</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+5.7 pts</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3.6%</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−1.6 pts</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−1.5 pts</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5.2%</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−1.4 pts</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10.2%</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 pts</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11.2%</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19.3%</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+9.2 pts</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16.0%</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+5.2 pts</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4.0%</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8.5%</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 pts</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12.2%</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+2.5 pts</a:t>
            </a:r>
            <a:endParaRPr lang="en-US" sz="1600" dirty="0"/>
          </a:p>
        </p:txBody>
      </p:sp>
      <p:sp>
        <p:nvSpPr>
          <p:cNvPr id="69" name="Shape 67"/>
          <p:cNvSpPr/>
          <p:nvPr/>
        </p:nvSpPr>
        <p:spPr>
          <a:xfrm>
            <a:off x="457200" y="6126480"/>
            <a:ext cx="11274552" cy="615696"/>
          </a:xfrm>
          <a:prstGeom prst="rect">
            <a:avLst/>
          </a:prstGeom>
          <a:solidFill>
            <a:srgbClr val="EDF4FA"/>
          </a:solidFill>
          <a:ln/>
        </p:spPr>
      </p:sp>
      <p:sp>
        <p:nvSpPr>
          <p:cNvPr id="70"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Subaru Prescott, LR LV and Mazda what changed. Ask Subaru St George, Nissan and Kia LV what got in the way. Ask Mazda, Hyundai Prescott and Honda Spokane what they started this year.</a:t>
            </a:r>
            <a:endParaRPr lang="en-US" sz="1600" dirty="0"/>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Brake Fluid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9.2%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+1.4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+17.5%</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Brake Fluid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615696"/>
          </a:xfrm>
          <a:prstGeom prst="rect">
            <a:avLst/>
          </a:prstGeom>
          <a:solidFill>
            <a:srgbClr val="E6F6EE"/>
          </a:solidFill>
          <a:ln/>
        </p:spPr>
      </p:sp>
      <p:sp>
        <p:nvSpPr>
          <p:cNvPr id="28"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1.4 pts to 9.2%, ahead of 2025 in all nine months, but 0.7 pts under the 10% benchmark — 1,985 brake fluid services short.</a:t>
            </a:r>
            <a:endParaRPr lang="en-US" sz="1600" dirty="0"/>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Brake Fluid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BRAKE FLUID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10.0%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9.2%</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20.6%</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277371"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1" name="Shape 19"/>
          <p:cNvSpPr/>
          <p:nvPr/>
        </p:nvSpPr>
        <p:spPr>
          <a:xfrm>
            <a:off x="3008376" y="2386853"/>
            <a:ext cx="1171658"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14.3%</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5" name="Shape 23"/>
          <p:cNvSpPr/>
          <p:nvPr/>
        </p:nvSpPr>
        <p:spPr>
          <a:xfrm>
            <a:off x="3008376" y="2626748"/>
            <a:ext cx="1042017"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12.7%</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9" name="Shape 27"/>
          <p:cNvSpPr/>
          <p:nvPr/>
        </p:nvSpPr>
        <p:spPr>
          <a:xfrm>
            <a:off x="3008376" y="2866644"/>
            <a:ext cx="991227"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3" name="Shape 31"/>
          <p:cNvSpPr/>
          <p:nvPr/>
        </p:nvSpPr>
        <p:spPr>
          <a:xfrm>
            <a:off x="3008376" y="3106540"/>
            <a:ext cx="975131"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11.9%</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7" name="Shape 35"/>
          <p:cNvSpPr/>
          <p:nvPr/>
        </p:nvSpPr>
        <p:spPr>
          <a:xfrm>
            <a:off x="3008376" y="3346435"/>
            <a:ext cx="953847"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1" name="Shape 39"/>
          <p:cNvSpPr/>
          <p:nvPr/>
        </p:nvSpPr>
        <p:spPr>
          <a:xfrm>
            <a:off x="3008376" y="3586331"/>
            <a:ext cx="880621"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5" name="Shape 43"/>
          <p:cNvSpPr/>
          <p:nvPr/>
        </p:nvSpPr>
        <p:spPr>
          <a:xfrm>
            <a:off x="3008376" y="3826226"/>
            <a:ext cx="86965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9" name="Shape 47"/>
          <p:cNvSpPr/>
          <p:nvPr/>
        </p:nvSpPr>
        <p:spPr>
          <a:xfrm>
            <a:off x="3008376" y="4066122"/>
            <a:ext cx="846628"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53" name="Shape 51"/>
          <p:cNvSpPr/>
          <p:nvPr/>
        </p:nvSpPr>
        <p:spPr>
          <a:xfrm>
            <a:off x="3008376" y="4306017"/>
            <a:ext cx="830606"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7" name="Shape 55"/>
          <p:cNvSpPr/>
          <p:nvPr/>
        </p:nvSpPr>
        <p:spPr>
          <a:xfrm>
            <a:off x="3008376" y="4545913"/>
            <a:ext cx="824603"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1" name="Shape 59"/>
          <p:cNvSpPr/>
          <p:nvPr/>
        </p:nvSpPr>
        <p:spPr>
          <a:xfrm>
            <a:off x="3008376" y="4785808"/>
            <a:ext cx="790584"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008376" y="5025704"/>
            <a:ext cx="780105"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9" name="Shape 67"/>
          <p:cNvSpPr/>
          <p:nvPr/>
        </p:nvSpPr>
        <p:spPr>
          <a:xfrm>
            <a:off x="3008376" y="5265599"/>
            <a:ext cx="695403"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3" name="Shape 71"/>
          <p:cNvSpPr/>
          <p:nvPr/>
        </p:nvSpPr>
        <p:spPr>
          <a:xfrm>
            <a:off x="3008376" y="5505495"/>
            <a:ext cx="688562"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7" name="Shape 75"/>
          <p:cNvSpPr/>
          <p:nvPr/>
        </p:nvSpPr>
        <p:spPr>
          <a:xfrm>
            <a:off x="3008376" y="5745390"/>
            <a:ext cx="686926"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8.3%</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81" name="Shape 79"/>
          <p:cNvSpPr/>
          <p:nvPr/>
        </p:nvSpPr>
        <p:spPr>
          <a:xfrm>
            <a:off x="8558784" y="1907062"/>
            <a:ext cx="677808"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5" name="Shape 83"/>
          <p:cNvSpPr/>
          <p:nvPr/>
        </p:nvSpPr>
        <p:spPr>
          <a:xfrm>
            <a:off x="8558784" y="2146957"/>
            <a:ext cx="661087"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89" name="Shape 87"/>
          <p:cNvSpPr/>
          <p:nvPr/>
        </p:nvSpPr>
        <p:spPr>
          <a:xfrm>
            <a:off x="8558784" y="2386853"/>
            <a:ext cx="616668"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93" name="Shape 91"/>
          <p:cNvSpPr/>
          <p:nvPr/>
        </p:nvSpPr>
        <p:spPr>
          <a:xfrm>
            <a:off x="8558784" y="2626748"/>
            <a:ext cx="593725"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7" name="Shape 95"/>
          <p:cNvSpPr/>
          <p:nvPr/>
        </p:nvSpPr>
        <p:spPr>
          <a:xfrm>
            <a:off x="8558784" y="2866644"/>
            <a:ext cx="580349"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1" name="Shape 99"/>
          <p:cNvSpPr/>
          <p:nvPr/>
        </p:nvSpPr>
        <p:spPr>
          <a:xfrm>
            <a:off x="8558784" y="3106540"/>
            <a:ext cx="577469"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5" name="Shape 103"/>
          <p:cNvSpPr/>
          <p:nvPr/>
        </p:nvSpPr>
        <p:spPr>
          <a:xfrm>
            <a:off x="8558784" y="3346435"/>
            <a:ext cx="498268"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9" name="Shape 107"/>
          <p:cNvSpPr/>
          <p:nvPr/>
        </p:nvSpPr>
        <p:spPr>
          <a:xfrm>
            <a:off x="8558784" y="3586331"/>
            <a:ext cx="487865"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3" name="Shape 111"/>
          <p:cNvSpPr/>
          <p:nvPr/>
        </p:nvSpPr>
        <p:spPr>
          <a:xfrm>
            <a:off x="8558784" y="3826226"/>
            <a:ext cx="475017"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7" name="Shape 115"/>
          <p:cNvSpPr/>
          <p:nvPr/>
        </p:nvSpPr>
        <p:spPr>
          <a:xfrm>
            <a:off x="8558784" y="4066122"/>
            <a:ext cx="443916"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1" name="Shape 119"/>
          <p:cNvSpPr/>
          <p:nvPr/>
        </p:nvSpPr>
        <p:spPr>
          <a:xfrm>
            <a:off x="8558784" y="4306017"/>
            <a:ext cx="388888"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5" name="Shape 123"/>
          <p:cNvSpPr/>
          <p:nvPr/>
        </p:nvSpPr>
        <p:spPr>
          <a:xfrm>
            <a:off x="8558784" y="4545913"/>
            <a:ext cx="383191"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9" name="Shape 127"/>
          <p:cNvSpPr/>
          <p:nvPr/>
        </p:nvSpPr>
        <p:spPr>
          <a:xfrm>
            <a:off x="8558784" y="4785808"/>
            <a:ext cx="347029"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58784" y="5025704"/>
            <a:ext cx="260164"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7" name="Shape 135"/>
          <p:cNvSpPr/>
          <p:nvPr/>
        </p:nvSpPr>
        <p:spPr>
          <a:xfrm>
            <a:off x="8558784" y="5265599"/>
            <a:ext cx="201580"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41" name="Shape 139"/>
          <p:cNvSpPr/>
          <p:nvPr/>
        </p:nvSpPr>
        <p:spPr>
          <a:xfrm>
            <a:off x="8558784" y="5505495"/>
            <a:ext cx="158552"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a:t>
            </a:r>
            <a:endParaRPr lang="en-US" sz="1200" dirty="0"/>
          </a:p>
        </p:txBody>
      </p:sp>
      <p:sp>
        <p:nvSpPr>
          <p:cNvPr id="143" name="Shape 141"/>
          <p:cNvSpPr/>
          <p:nvPr/>
        </p:nvSpPr>
        <p:spPr>
          <a:xfrm>
            <a:off x="3820171" y="1847088"/>
            <a:ext cx="14630" cy="4078224"/>
          </a:xfrm>
          <a:prstGeom prst="rect">
            <a:avLst/>
          </a:prstGeom>
          <a:solidFill>
            <a:srgbClr val="0B2C4A"/>
          </a:solidFill>
          <a:ln/>
        </p:spPr>
      </p:sp>
      <p:sp>
        <p:nvSpPr>
          <p:cNvPr id="144" name="Shape 142"/>
          <p:cNvSpPr/>
          <p:nvPr/>
        </p:nvSpPr>
        <p:spPr>
          <a:xfrm>
            <a:off x="9370579"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71856"/>
          </a:xfrm>
          <a:prstGeom prst="rect">
            <a:avLst/>
          </a:prstGeom>
          <a:solidFill>
            <a:srgbClr val="EDF4FA"/>
          </a:solidFill>
          <a:ln/>
        </p:spPr>
      </p:sp>
      <p:sp>
        <p:nvSpPr>
          <p:cNvPr id="147"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12 of 33 stores at or above 10%, led by LR LV at 20.6%. The group sits at 9.2%.</a:t>
            </a:r>
            <a:endParaRPr lang="en-US" sz="1600" dirty="0"/>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Brake Fluid Missed Opportunity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602736"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425696" y="1316736"/>
            <a:ext cx="5669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8" name="Text 6"/>
          <p:cNvSpPr txBox="1"/>
          <p:nvPr/>
        </p:nvSpPr>
        <p:spPr>
          <a:xfrm>
            <a:off x="4992624" y="1316736"/>
            <a:ext cx="87782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Services</a:t>
            </a:r>
            <a:endParaRPr lang="en-US" sz="1400" dirty="0"/>
          </a:p>
        </p:txBody>
      </p:sp>
      <p:sp>
        <p:nvSpPr>
          <p:cNvPr id="9" name="Text 7"/>
          <p:cNvSpPr txBox="1"/>
          <p:nvPr/>
        </p:nvSpPr>
        <p:spPr>
          <a:xfrm>
            <a:off x="9153144"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76104" y="1316736"/>
            <a:ext cx="5669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1" name="Text 9"/>
          <p:cNvSpPr txBox="1"/>
          <p:nvPr/>
        </p:nvSpPr>
        <p:spPr>
          <a:xfrm>
            <a:off x="10543032" y="1316736"/>
            <a:ext cx="87782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Services</a:t>
            </a:r>
            <a:endParaRPr lang="en-US" sz="1400" dirty="0"/>
          </a:p>
        </p:txBody>
      </p:sp>
      <p:sp>
        <p:nvSpPr>
          <p:cNvPr id="12" name="Text 10"/>
          <p:cNvSpPr txBox="1"/>
          <p:nvPr/>
        </p:nvSpPr>
        <p:spPr>
          <a:xfrm>
            <a:off x="658368" y="1700784"/>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3" name="Shape 11"/>
          <p:cNvSpPr/>
          <p:nvPr/>
        </p:nvSpPr>
        <p:spPr>
          <a:xfrm>
            <a:off x="2670048" y="1787195"/>
            <a:ext cx="877824" cy="211226"/>
          </a:xfrm>
          <a:prstGeom prst="rect">
            <a:avLst/>
          </a:prstGeom>
          <a:solidFill>
            <a:srgbClr val="C2352F"/>
          </a:solidFill>
          <a:ln/>
        </p:spPr>
      </p:sp>
      <p:sp>
        <p:nvSpPr>
          <p:cNvPr id="14" name="Text 12"/>
          <p:cNvSpPr txBox="1"/>
          <p:nvPr/>
        </p:nvSpPr>
        <p:spPr>
          <a:xfrm>
            <a:off x="3602736" y="1700784"/>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$151K</a:t>
            </a:r>
            <a:endParaRPr lang="en-US" sz="1300" dirty="0"/>
          </a:p>
        </p:txBody>
      </p:sp>
      <p:sp>
        <p:nvSpPr>
          <p:cNvPr id="15" name="Text 13"/>
          <p:cNvSpPr txBox="1"/>
          <p:nvPr/>
        </p:nvSpPr>
        <p:spPr>
          <a:xfrm>
            <a:off x="4425696" y="1700784"/>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5.7%</a:t>
            </a:r>
            <a:endParaRPr lang="en-US" sz="1300" dirty="0"/>
          </a:p>
        </p:txBody>
      </p:sp>
      <p:sp>
        <p:nvSpPr>
          <p:cNvPr id="16" name="Text 14"/>
          <p:cNvSpPr txBox="1"/>
          <p:nvPr/>
        </p:nvSpPr>
        <p:spPr>
          <a:xfrm>
            <a:off x="4992624" y="1700784"/>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1,093</a:t>
            </a:r>
            <a:endParaRPr lang="en-US" sz="1300" dirty="0"/>
          </a:p>
        </p:txBody>
      </p:sp>
      <p:sp>
        <p:nvSpPr>
          <p:cNvPr id="17" name="Text 15"/>
          <p:cNvSpPr txBox="1"/>
          <p:nvPr/>
        </p:nvSpPr>
        <p:spPr>
          <a:xfrm>
            <a:off x="658368" y="2084832"/>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8" name="Shape 16"/>
          <p:cNvSpPr/>
          <p:nvPr/>
        </p:nvSpPr>
        <p:spPr>
          <a:xfrm>
            <a:off x="2670048" y="2171243"/>
            <a:ext cx="465371" cy="211226"/>
          </a:xfrm>
          <a:prstGeom prst="rect">
            <a:avLst/>
          </a:prstGeom>
          <a:solidFill>
            <a:srgbClr val="C2352F"/>
          </a:solidFill>
          <a:ln/>
        </p:spPr>
      </p:sp>
      <p:sp>
        <p:nvSpPr>
          <p:cNvPr id="19" name="Text 17"/>
          <p:cNvSpPr txBox="1"/>
          <p:nvPr/>
        </p:nvSpPr>
        <p:spPr>
          <a:xfrm>
            <a:off x="3602736" y="2084832"/>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$80K</a:t>
            </a:r>
            <a:endParaRPr lang="en-US" sz="1300" dirty="0"/>
          </a:p>
        </p:txBody>
      </p:sp>
      <p:sp>
        <p:nvSpPr>
          <p:cNvPr id="20" name="Text 18"/>
          <p:cNvSpPr txBox="1"/>
          <p:nvPr/>
        </p:nvSpPr>
        <p:spPr>
          <a:xfrm>
            <a:off x="4425696" y="2084832"/>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21" name="Text 19"/>
          <p:cNvSpPr txBox="1"/>
          <p:nvPr/>
        </p:nvSpPr>
        <p:spPr>
          <a:xfrm>
            <a:off x="4992624" y="2084832"/>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683</a:t>
            </a:r>
            <a:endParaRPr lang="en-US" sz="1300" dirty="0"/>
          </a:p>
        </p:txBody>
      </p:sp>
      <p:sp>
        <p:nvSpPr>
          <p:cNvPr id="22" name="Text 20"/>
          <p:cNvSpPr txBox="1"/>
          <p:nvPr/>
        </p:nvSpPr>
        <p:spPr>
          <a:xfrm>
            <a:off x="658368" y="2468880"/>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23" name="Shape 21"/>
          <p:cNvSpPr/>
          <p:nvPr/>
        </p:nvSpPr>
        <p:spPr>
          <a:xfrm>
            <a:off x="2670048" y="2555291"/>
            <a:ext cx="453423" cy="211226"/>
          </a:xfrm>
          <a:prstGeom prst="rect">
            <a:avLst/>
          </a:prstGeom>
          <a:solidFill>
            <a:srgbClr val="C2352F"/>
          </a:solidFill>
          <a:ln/>
        </p:spPr>
      </p:sp>
      <p:sp>
        <p:nvSpPr>
          <p:cNvPr id="24" name="Text 22"/>
          <p:cNvSpPr txBox="1"/>
          <p:nvPr/>
        </p:nvSpPr>
        <p:spPr>
          <a:xfrm>
            <a:off x="3602736" y="2468880"/>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$78K</a:t>
            </a:r>
            <a:endParaRPr lang="en-US" sz="1300" dirty="0"/>
          </a:p>
        </p:txBody>
      </p:sp>
      <p:sp>
        <p:nvSpPr>
          <p:cNvPr id="25" name="Text 23"/>
          <p:cNvSpPr txBox="1"/>
          <p:nvPr/>
        </p:nvSpPr>
        <p:spPr>
          <a:xfrm>
            <a:off x="4425696" y="2468880"/>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a:t>
            </a:r>
            <a:endParaRPr lang="en-US" sz="1300" dirty="0"/>
          </a:p>
        </p:txBody>
      </p:sp>
      <p:sp>
        <p:nvSpPr>
          <p:cNvPr id="26" name="Text 24"/>
          <p:cNvSpPr txBox="1"/>
          <p:nvPr/>
        </p:nvSpPr>
        <p:spPr>
          <a:xfrm>
            <a:off x="4992624" y="2468880"/>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378</a:t>
            </a:r>
            <a:endParaRPr lang="en-US" sz="1300" dirty="0"/>
          </a:p>
        </p:txBody>
      </p:sp>
      <p:sp>
        <p:nvSpPr>
          <p:cNvPr id="27" name="Text 25"/>
          <p:cNvSpPr txBox="1"/>
          <p:nvPr/>
        </p:nvSpPr>
        <p:spPr>
          <a:xfrm>
            <a:off x="658368" y="2852928"/>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28" name="Shape 26"/>
          <p:cNvSpPr/>
          <p:nvPr/>
        </p:nvSpPr>
        <p:spPr>
          <a:xfrm>
            <a:off x="2670048" y="2939339"/>
            <a:ext cx="433190" cy="211226"/>
          </a:xfrm>
          <a:prstGeom prst="rect">
            <a:avLst/>
          </a:prstGeom>
          <a:solidFill>
            <a:srgbClr val="C2352F"/>
          </a:solidFill>
          <a:ln/>
        </p:spPr>
      </p:sp>
      <p:sp>
        <p:nvSpPr>
          <p:cNvPr id="29" name="Text 27"/>
          <p:cNvSpPr txBox="1"/>
          <p:nvPr/>
        </p:nvSpPr>
        <p:spPr>
          <a:xfrm>
            <a:off x="3602736" y="2852928"/>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$74K</a:t>
            </a:r>
            <a:endParaRPr lang="en-US" sz="1300" dirty="0"/>
          </a:p>
        </p:txBody>
      </p:sp>
      <p:sp>
        <p:nvSpPr>
          <p:cNvPr id="30" name="Text 28"/>
          <p:cNvSpPr txBox="1"/>
          <p:nvPr/>
        </p:nvSpPr>
        <p:spPr>
          <a:xfrm>
            <a:off x="4425696" y="2852928"/>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a:t>
            </a:r>
            <a:endParaRPr lang="en-US" sz="1300" dirty="0"/>
          </a:p>
        </p:txBody>
      </p:sp>
      <p:sp>
        <p:nvSpPr>
          <p:cNvPr id="31" name="Text 29"/>
          <p:cNvSpPr txBox="1"/>
          <p:nvPr/>
        </p:nvSpPr>
        <p:spPr>
          <a:xfrm>
            <a:off x="4992624" y="2852928"/>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380</a:t>
            </a:r>
            <a:endParaRPr lang="en-US" sz="1300" dirty="0"/>
          </a:p>
        </p:txBody>
      </p:sp>
      <p:sp>
        <p:nvSpPr>
          <p:cNvPr id="32" name="Text 30"/>
          <p:cNvSpPr txBox="1"/>
          <p:nvPr/>
        </p:nvSpPr>
        <p:spPr>
          <a:xfrm>
            <a:off x="658368" y="3236976"/>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33" name="Shape 31"/>
          <p:cNvSpPr/>
          <p:nvPr/>
        </p:nvSpPr>
        <p:spPr>
          <a:xfrm>
            <a:off x="2670048" y="3323387"/>
            <a:ext cx="391906" cy="211226"/>
          </a:xfrm>
          <a:prstGeom prst="rect">
            <a:avLst/>
          </a:prstGeom>
          <a:solidFill>
            <a:srgbClr val="C2352F"/>
          </a:solidFill>
          <a:ln/>
        </p:spPr>
      </p:sp>
      <p:sp>
        <p:nvSpPr>
          <p:cNvPr id="34" name="Text 32"/>
          <p:cNvSpPr txBox="1"/>
          <p:nvPr/>
        </p:nvSpPr>
        <p:spPr>
          <a:xfrm>
            <a:off x="3602736" y="3236976"/>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$67K</a:t>
            </a:r>
            <a:endParaRPr lang="en-US" sz="1300" dirty="0"/>
          </a:p>
        </p:txBody>
      </p:sp>
      <p:sp>
        <p:nvSpPr>
          <p:cNvPr id="35" name="Text 33"/>
          <p:cNvSpPr txBox="1"/>
          <p:nvPr/>
        </p:nvSpPr>
        <p:spPr>
          <a:xfrm>
            <a:off x="4425696" y="3236976"/>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a:t>
            </a:r>
            <a:endParaRPr lang="en-US" sz="1300" dirty="0"/>
          </a:p>
        </p:txBody>
      </p:sp>
      <p:sp>
        <p:nvSpPr>
          <p:cNvPr id="36" name="Text 34"/>
          <p:cNvSpPr txBox="1"/>
          <p:nvPr/>
        </p:nvSpPr>
        <p:spPr>
          <a:xfrm>
            <a:off x="4992624" y="3236976"/>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367</a:t>
            </a:r>
            <a:endParaRPr lang="en-US" sz="1300" dirty="0"/>
          </a:p>
        </p:txBody>
      </p:sp>
      <p:sp>
        <p:nvSpPr>
          <p:cNvPr id="37" name="Text 35"/>
          <p:cNvSpPr txBox="1"/>
          <p:nvPr/>
        </p:nvSpPr>
        <p:spPr>
          <a:xfrm>
            <a:off x="658368" y="3621024"/>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38" name="Shape 36"/>
          <p:cNvSpPr/>
          <p:nvPr/>
        </p:nvSpPr>
        <p:spPr>
          <a:xfrm>
            <a:off x="2670048" y="3707435"/>
            <a:ext cx="330070" cy="211226"/>
          </a:xfrm>
          <a:prstGeom prst="rect">
            <a:avLst/>
          </a:prstGeom>
          <a:solidFill>
            <a:srgbClr val="C2352F"/>
          </a:solidFill>
          <a:ln/>
        </p:spPr>
      </p:sp>
      <p:sp>
        <p:nvSpPr>
          <p:cNvPr id="39" name="Text 37"/>
          <p:cNvSpPr txBox="1"/>
          <p:nvPr/>
        </p:nvSpPr>
        <p:spPr>
          <a:xfrm>
            <a:off x="3602736" y="3621024"/>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$57K</a:t>
            </a:r>
            <a:endParaRPr lang="en-US" sz="1300" dirty="0"/>
          </a:p>
        </p:txBody>
      </p:sp>
      <p:sp>
        <p:nvSpPr>
          <p:cNvPr id="40" name="Text 38"/>
          <p:cNvSpPr txBox="1"/>
          <p:nvPr/>
        </p:nvSpPr>
        <p:spPr>
          <a:xfrm>
            <a:off x="4425696" y="3621024"/>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a:t>
            </a:r>
            <a:endParaRPr lang="en-US" sz="1300" dirty="0"/>
          </a:p>
        </p:txBody>
      </p:sp>
      <p:sp>
        <p:nvSpPr>
          <p:cNvPr id="41" name="Text 39"/>
          <p:cNvSpPr txBox="1"/>
          <p:nvPr/>
        </p:nvSpPr>
        <p:spPr>
          <a:xfrm>
            <a:off x="4992624" y="3621024"/>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379</a:t>
            </a:r>
            <a:endParaRPr lang="en-US" sz="1300" dirty="0"/>
          </a:p>
        </p:txBody>
      </p:sp>
      <p:sp>
        <p:nvSpPr>
          <p:cNvPr id="42" name="Text 40"/>
          <p:cNvSpPr txBox="1"/>
          <p:nvPr/>
        </p:nvSpPr>
        <p:spPr>
          <a:xfrm>
            <a:off x="658368" y="4005072"/>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43" name="Shape 41"/>
          <p:cNvSpPr/>
          <p:nvPr/>
        </p:nvSpPr>
        <p:spPr>
          <a:xfrm>
            <a:off x="2670048" y="4091483"/>
            <a:ext cx="305680" cy="211226"/>
          </a:xfrm>
          <a:prstGeom prst="rect">
            <a:avLst/>
          </a:prstGeom>
          <a:solidFill>
            <a:srgbClr val="C2352F"/>
          </a:solidFill>
          <a:ln/>
        </p:spPr>
      </p:sp>
      <p:sp>
        <p:nvSpPr>
          <p:cNvPr id="44" name="Text 42"/>
          <p:cNvSpPr txBox="1"/>
          <p:nvPr/>
        </p:nvSpPr>
        <p:spPr>
          <a:xfrm>
            <a:off x="3602736" y="4005072"/>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$53K</a:t>
            </a:r>
            <a:endParaRPr lang="en-US" sz="1300" dirty="0"/>
          </a:p>
        </p:txBody>
      </p:sp>
      <p:sp>
        <p:nvSpPr>
          <p:cNvPr id="45" name="Text 43"/>
          <p:cNvSpPr txBox="1"/>
          <p:nvPr/>
        </p:nvSpPr>
        <p:spPr>
          <a:xfrm>
            <a:off x="4425696" y="4005072"/>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46" name="Text 44"/>
          <p:cNvSpPr txBox="1"/>
          <p:nvPr/>
        </p:nvSpPr>
        <p:spPr>
          <a:xfrm>
            <a:off x="4992624" y="4005072"/>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412</a:t>
            </a:r>
            <a:endParaRPr lang="en-US" sz="1300" dirty="0"/>
          </a:p>
        </p:txBody>
      </p:sp>
      <p:sp>
        <p:nvSpPr>
          <p:cNvPr id="47" name="Text 45"/>
          <p:cNvSpPr txBox="1"/>
          <p:nvPr/>
        </p:nvSpPr>
        <p:spPr>
          <a:xfrm>
            <a:off x="658368" y="4389120"/>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48" name="Shape 46"/>
          <p:cNvSpPr/>
          <p:nvPr/>
        </p:nvSpPr>
        <p:spPr>
          <a:xfrm>
            <a:off x="2670048" y="4475531"/>
            <a:ext cx="278002" cy="211226"/>
          </a:xfrm>
          <a:prstGeom prst="rect">
            <a:avLst/>
          </a:prstGeom>
          <a:solidFill>
            <a:srgbClr val="C2352F"/>
          </a:solidFill>
          <a:ln/>
        </p:spPr>
      </p:sp>
      <p:sp>
        <p:nvSpPr>
          <p:cNvPr id="49" name="Text 47"/>
          <p:cNvSpPr txBox="1"/>
          <p:nvPr/>
        </p:nvSpPr>
        <p:spPr>
          <a:xfrm>
            <a:off x="3602736" y="4389120"/>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$48K</a:t>
            </a:r>
            <a:endParaRPr lang="en-US" sz="1300" dirty="0"/>
          </a:p>
        </p:txBody>
      </p:sp>
      <p:sp>
        <p:nvSpPr>
          <p:cNvPr id="50" name="Text 48"/>
          <p:cNvSpPr txBox="1"/>
          <p:nvPr/>
        </p:nvSpPr>
        <p:spPr>
          <a:xfrm>
            <a:off x="4425696" y="4389120"/>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8.0%</a:t>
            </a:r>
            <a:endParaRPr lang="en-US" sz="1300" dirty="0"/>
          </a:p>
        </p:txBody>
      </p:sp>
      <p:sp>
        <p:nvSpPr>
          <p:cNvPr id="51" name="Text 49"/>
          <p:cNvSpPr txBox="1"/>
          <p:nvPr/>
        </p:nvSpPr>
        <p:spPr>
          <a:xfrm>
            <a:off x="4992624" y="4389120"/>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389</a:t>
            </a:r>
            <a:endParaRPr lang="en-US" sz="1300" dirty="0"/>
          </a:p>
        </p:txBody>
      </p:sp>
      <p:sp>
        <p:nvSpPr>
          <p:cNvPr id="52" name="Text 50"/>
          <p:cNvSpPr txBox="1"/>
          <p:nvPr/>
        </p:nvSpPr>
        <p:spPr>
          <a:xfrm>
            <a:off x="658368" y="4773168"/>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53" name="Shape 51"/>
          <p:cNvSpPr/>
          <p:nvPr/>
        </p:nvSpPr>
        <p:spPr>
          <a:xfrm>
            <a:off x="2670048" y="4859579"/>
            <a:ext cx="187016" cy="211226"/>
          </a:xfrm>
          <a:prstGeom prst="rect">
            <a:avLst/>
          </a:prstGeom>
          <a:solidFill>
            <a:srgbClr val="C2352F"/>
          </a:solidFill>
          <a:ln/>
        </p:spPr>
      </p:sp>
      <p:sp>
        <p:nvSpPr>
          <p:cNvPr id="54" name="Text 52"/>
          <p:cNvSpPr txBox="1"/>
          <p:nvPr/>
        </p:nvSpPr>
        <p:spPr>
          <a:xfrm>
            <a:off x="3602736" y="4773168"/>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$32K</a:t>
            </a:r>
            <a:endParaRPr lang="en-US" sz="1300" dirty="0"/>
          </a:p>
        </p:txBody>
      </p:sp>
      <p:sp>
        <p:nvSpPr>
          <p:cNvPr id="55" name="Text 53"/>
          <p:cNvSpPr txBox="1"/>
          <p:nvPr/>
        </p:nvSpPr>
        <p:spPr>
          <a:xfrm>
            <a:off x="4425696" y="4773168"/>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8.4%</a:t>
            </a:r>
            <a:endParaRPr lang="en-US" sz="1300" dirty="0"/>
          </a:p>
        </p:txBody>
      </p:sp>
      <p:sp>
        <p:nvSpPr>
          <p:cNvPr id="56" name="Text 54"/>
          <p:cNvSpPr txBox="1"/>
          <p:nvPr/>
        </p:nvSpPr>
        <p:spPr>
          <a:xfrm>
            <a:off x="4992624" y="4773168"/>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287</a:t>
            </a:r>
            <a:endParaRPr lang="en-US" sz="1300" dirty="0"/>
          </a:p>
        </p:txBody>
      </p:sp>
      <p:sp>
        <p:nvSpPr>
          <p:cNvPr id="57" name="Text 55"/>
          <p:cNvSpPr txBox="1"/>
          <p:nvPr/>
        </p:nvSpPr>
        <p:spPr>
          <a:xfrm>
            <a:off x="658368" y="5157216"/>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8" name="Shape 56"/>
          <p:cNvSpPr/>
          <p:nvPr/>
        </p:nvSpPr>
        <p:spPr>
          <a:xfrm>
            <a:off x="2670048" y="5243627"/>
            <a:ext cx="183429" cy="211226"/>
          </a:xfrm>
          <a:prstGeom prst="rect">
            <a:avLst/>
          </a:prstGeom>
          <a:solidFill>
            <a:srgbClr val="C2352F"/>
          </a:solidFill>
          <a:ln/>
        </p:spPr>
      </p:sp>
      <p:sp>
        <p:nvSpPr>
          <p:cNvPr id="59" name="Text 57"/>
          <p:cNvSpPr txBox="1"/>
          <p:nvPr/>
        </p:nvSpPr>
        <p:spPr>
          <a:xfrm>
            <a:off x="3602736" y="5157216"/>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$32K</a:t>
            </a:r>
            <a:endParaRPr lang="en-US" sz="1300" dirty="0"/>
          </a:p>
        </p:txBody>
      </p:sp>
      <p:sp>
        <p:nvSpPr>
          <p:cNvPr id="60" name="Text 58"/>
          <p:cNvSpPr txBox="1"/>
          <p:nvPr/>
        </p:nvSpPr>
        <p:spPr>
          <a:xfrm>
            <a:off x="4425696" y="5157216"/>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4.7%</a:t>
            </a:r>
            <a:endParaRPr lang="en-US" sz="1300" dirty="0"/>
          </a:p>
        </p:txBody>
      </p:sp>
      <p:sp>
        <p:nvSpPr>
          <p:cNvPr id="61" name="Text 59"/>
          <p:cNvSpPr txBox="1"/>
          <p:nvPr/>
        </p:nvSpPr>
        <p:spPr>
          <a:xfrm>
            <a:off x="4992624" y="5157216"/>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235</a:t>
            </a:r>
            <a:endParaRPr lang="en-US" sz="1300" dirty="0"/>
          </a:p>
        </p:txBody>
      </p:sp>
      <p:sp>
        <p:nvSpPr>
          <p:cNvPr id="62" name="Text 60"/>
          <p:cNvSpPr txBox="1"/>
          <p:nvPr/>
        </p:nvSpPr>
        <p:spPr>
          <a:xfrm>
            <a:off x="658368" y="5541264"/>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63" name="Shape 61"/>
          <p:cNvSpPr/>
          <p:nvPr/>
        </p:nvSpPr>
        <p:spPr>
          <a:xfrm>
            <a:off x="2670048" y="5627675"/>
            <a:ext cx="145711" cy="211226"/>
          </a:xfrm>
          <a:prstGeom prst="rect">
            <a:avLst/>
          </a:prstGeom>
          <a:solidFill>
            <a:srgbClr val="C2352F"/>
          </a:solidFill>
          <a:ln/>
        </p:spPr>
      </p:sp>
      <p:sp>
        <p:nvSpPr>
          <p:cNvPr id="64" name="Text 62"/>
          <p:cNvSpPr txBox="1"/>
          <p:nvPr/>
        </p:nvSpPr>
        <p:spPr>
          <a:xfrm>
            <a:off x="3602736" y="5541264"/>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$25K</a:t>
            </a:r>
            <a:endParaRPr lang="en-US" sz="1300" dirty="0"/>
          </a:p>
        </p:txBody>
      </p:sp>
      <p:sp>
        <p:nvSpPr>
          <p:cNvPr id="65" name="Text 63"/>
          <p:cNvSpPr txBox="1"/>
          <p:nvPr/>
        </p:nvSpPr>
        <p:spPr>
          <a:xfrm>
            <a:off x="4425696" y="5541264"/>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66" name="Text 64"/>
          <p:cNvSpPr txBox="1"/>
          <p:nvPr/>
        </p:nvSpPr>
        <p:spPr>
          <a:xfrm>
            <a:off x="4992624" y="5541264"/>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211</a:t>
            </a:r>
            <a:endParaRPr lang="en-US" sz="1300" dirty="0"/>
          </a:p>
        </p:txBody>
      </p:sp>
      <p:sp>
        <p:nvSpPr>
          <p:cNvPr id="67" name="Text 65"/>
          <p:cNvSpPr txBox="1"/>
          <p:nvPr/>
        </p:nvSpPr>
        <p:spPr>
          <a:xfrm>
            <a:off x="6208776" y="1700784"/>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68" name="Shape 66"/>
          <p:cNvSpPr/>
          <p:nvPr/>
        </p:nvSpPr>
        <p:spPr>
          <a:xfrm>
            <a:off x="8220456" y="1787195"/>
            <a:ext cx="130420" cy="211226"/>
          </a:xfrm>
          <a:prstGeom prst="rect">
            <a:avLst/>
          </a:prstGeom>
          <a:solidFill>
            <a:srgbClr val="C2352F"/>
          </a:solidFill>
          <a:ln/>
        </p:spPr>
      </p:sp>
      <p:sp>
        <p:nvSpPr>
          <p:cNvPr id="69" name="Text 67"/>
          <p:cNvSpPr txBox="1"/>
          <p:nvPr/>
        </p:nvSpPr>
        <p:spPr>
          <a:xfrm>
            <a:off x="9153144" y="1700784"/>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$22K</a:t>
            </a:r>
            <a:endParaRPr lang="en-US" sz="1300" dirty="0"/>
          </a:p>
        </p:txBody>
      </p:sp>
      <p:sp>
        <p:nvSpPr>
          <p:cNvPr id="70" name="Text 68"/>
          <p:cNvSpPr txBox="1"/>
          <p:nvPr/>
        </p:nvSpPr>
        <p:spPr>
          <a:xfrm>
            <a:off x="9976104" y="1700784"/>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8.2%</a:t>
            </a:r>
            <a:endParaRPr lang="en-US" sz="1300" dirty="0"/>
          </a:p>
        </p:txBody>
      </p:sp>
      <p:sp>
        <p:nvSpPr>
          <p:cNvPr id="71" name="Text 69"/>
          <p:cNvSpPr txBox="1"/>
          <p:nvPr/>
        </p:nvSpPr>
        <p:spPr>
          <a:xfrm>
            <a:off x="10543032" y="1700784"/>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187</a:t>
            </a:r>
            <a:endParaRPr lang="en-US" sz="1300" dirty="0"/>
          </a:p>
        </p:txBody>
      </p:sp>
      <p:sp>
        <p:nvSpPr>
          <p:cNvPr id="72" name="Text 70"/>
          <p:cNvSpPr txBox="1"/>
          <p:nvPr/>
        </p:nvSpPr>
        <p:spPr>
          <a:xfrm>
            <a:off x="6208776" y="2084832"/>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73" name="Shape 71"/>
          <p:cNvSpPr/>
          <p:nvPr/>
        </p:nvSpPr>
        <p:spPr>
          <a:xfrm>
            <a:off x="8220456" y="2171243"/>
            <a:ext cx="124044" cy="211226"/>
          </a:xfrm>
          <a:prstGeom prst="rect">
            <a:avLst/>
          </a:prstGeom>
          <a:solidFill>
            <a:srgbClr val="C2352F"/>
          </a:solidFill>
          <a:ln/>
        </p:spPr>
      </p:sp>
      <p:sp>
        <p:nvSpPr>
          <p:cNvPr id="74" name="Text 72"/>
          <p:cNvSpPr txBox="1"/>
          <p:nvPr/>
        </p:nvSpPr>
        <p:spPr>
          <a:xfrm>
            <a:off x="9153144" y="2084832"/>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75" name="Text 73"/>
          <p:cNvSpPr txBox="1"/>
          <p:nvPr/>
        </p:nvSpPr>
        <p:spPr>
          <a:xfrm>
            <a:off x="9976104" y="2084832"/>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76" name="Text 74"/>
          <p:cNvSpPr txBox="1"/>
          <p:nvPr/>
        </p:nvSpPr>
        <p:spPr>
          <a:xfrm>
            <a:off x="10543032" y="2084832"/>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245</a:t>
            </a:r>
            <a:endParaRPr lang="en-US" sz="1300" dirty="0"/>
          </a:p>
        </p:txBody>
      </p:sp>
      <p:sp>
        <p:nvSpPr>
          <p:cNvPr id="77" name="Text 75"/>
          <p:cNvSpPr txBox="1"/>
          <p:nvPr/>
        </p:nvSpPr>
        <p:spPr>
          <a:xfrm>
            <a:off x="6208776" y="2468880"/>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78" name="Shape 76"/>
          <p:cNvSpPr/>
          <p:nvPr/>
        </p:nvSpPr>
        <p:spPr>
          <a:xfrm>
            <a:off x="8220456" y="2555291"/>
            <a:ext cx="119989" cy="211226"/>
          </a:xfrm>
          <a:prstGeom prst="rect">
            <a:avLst/>
          </a:prstGeom>
          <a:solidFill>
            <a:srgbClr val="C2352F"/>
          </a:solidFill>
          <a:ln/>
        </p:spPr>
      </p:sp>
      <p:sp>
        <p:nvSpPr>
          <p:cNvPr id="79" name="Text 77"/>
          <p:cNvSpPr txBox="1"/>
          <p:nvPr/>
        </p:nvSpPr>
        <p:spPr>
          <a:xfrm>
            <a:off x="9153144" y="2468880"/>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80" name="Text 78"/>
          <p:cNvSpPr txBox="1"/>
          <p:nvPr/>
        </p:nvSpPr>
        <p:spPr>
          <a:xfrm>
            <a:off x="9976104" y="2468880"/>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a:t>
            </a:r>
            <a:endParaRPr lang="en-US" sz="1300" dirty="0"/>
          </a:p>
        </p:txBody>
      </p:sp>
      <p:sp>
        <p:nvSpPr>
          <p:cNvPr id="81" name="Text 79"/>
          <p:cNvSpPr txBox="1"/>
          <p:nvPr/>
        </p:nvSpPr>
        <p:spPr>
          <a:xfrm>
            <a:off x="10543032" y="2468880"/>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162</a:t>
            </a:r>
            <a:endParaRPr lang="en-US" sz="1300" dirty="0"/>
          </a:p>
        </p:txBody>
      </p:sp>
      <p:sp>
        <p:nvSpPr>
          <p:cNvPr id="82" name="Text 80"/>
          <p:cNvSpPr txBox="1"/>
          <p:nvPr/>
        </p:nvSpPr>
        <p:spPr>
          <a:xfrm>
            <a:off x="6208776" y="2852928"/>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83" name="Shape 81"/>
          <p:cNvSpPr/>
          <p:nvPr/>
        </p:nvSpPr>
        <p:spPr>
          <a:xfrm>
            <a:off x="8220456" y="2939339"/>
            <a:ext cx="114513" cy="211226"/>
          </a:xfrm>
          <a:prstGeom prst="rect">
            <a:avLst/>
          </a:prstGeom>
          <a:solidFill>
            <a:srgbClr val="C2352F"/>
          </a:solidFill>
          <a:ln/>
        </p:spPr>
      </p:sp>
      <p:sp>
        <p:nvSpPr>
          <p:cNvPr id="84" name="Text 82"/>
          <p:cNvSpPr txBox="1"/>
          <p:nvPr/>
        </p:nvSpPr>
        <p:spPr>
          <a:xfrm>
            <a:off x="9153144" y="2852928"/>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$20K</a:t>
            </a:r>
            <a:endParaRPr lang="en-US" sz="1300" dirty="0"/>
          </a:p>
        </p:txBody>
      </p:sp>
      <p:sp>
        <p:nvSpPr>
          <p:cNvPr id="85" name="Text 83"/>
          <p:cNvSpPr txBox="1"/>
          <p:nvPr/>
        </p:nvSpPr>
        <p:spPr>
          <a:xfrm>
            <a:off x="9976104" y="2852928"/>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7.2%</a:t>
            </a:r>
            <a:endParaRPr lang="en-US" sz="1300" dirty="0"/>
          </a:p>
        </p:txBody>
      </p:sp>
      <p:sp>
        <p:nvSpPr>
          <p:cNvPr id="86" name="Text 84"/>
          <p:cNvSpPr txBox="1"/>
          <p:nvPr/>
        </p:nvSpPr>
        <p:spPr>
          <a:xfrm>
            <a:off x="10543032" y="2852928"/>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87" name="Text 85"/>
          <p:cNvSpPr txBox="1"/>
          <p:nvPr/>
        </p:nvSpPr>
        <p:spPr>
          <a:xfrm>
            <a:off x="6208776" y="3236976"/>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88" name="Shape 86"/>
          <p:cNvSpPr/>
          <p:nvPr/>
        </p:nvSpPr>
        <p:spPr>
          <a:xfrm>
            <a:off x="8220456" y="3323387"/>
            <a:ext cx="102926" cy="211226"/>
          </a:xfrm>
          <a:prstGeom prst="rect">
            <a:avLst/>
          </a:prstGeom>
          <a:solidFill>
            <a:srgbClr val="C2352F"/>
          </a:solidFill>
          <a:ln/>
        </p:spPr>
      </p:sp>
      <p:sp>
        <p:nvSpPr>
          <p:cNvPr id="89" name="Text 87"/>
          <p:cNvSpPr txBox="1"/>
          <p:nvPr/>
        </p:nvSpPr>
        <p:spPr>
          <a:xfrm>
            <a:off x="9153144" y="3236976"/>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$18K</a:t>
            </a:r>
            <a:endParaRPr lang="en-US" sz="1300" dirty="0"/>
          </a:p>
        </p:txBody>
      </p:sp>
      <p:sp>
        <p:nvSpPr>
          <p:cNvPr id="90" name="Text 88"/>
          <p:cNvSpPr txBox="1"/>
          <p:nvPr/>
        </p:nvSpPr>
        <p:spPr>
          <a:xfrm>
            <a:off x="9976104" y="3236976"/>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8.4%</a:t>
            </a:r>
            <a:endParaRPr lang="en-US" sz="1300" dirty="0"/>
          </a:p>
        </p:txBody>
      </p:sp>
      <p:sp>
        <p:nvSpPr>
          <p:cNvPr id="91" name="Text 89"/>
          <p:cNvSpPr txBox="1"/>
          <p:nvPr/>
        </p:nvSpPr>
        <p:spPr>
          <a:xfrm>
            <a:off x="10543032" y="3236976"/>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a:t>
            </a:r>
            <a:endParaRPr lang="en-US" sz="1300" dirty="0"/>
          </a:p>
        </p:txBody>
      </p:sp>
      <p:sp>
        <p:nvSpPr>
          <p:cNvPr id="92" name="Text 90"/>
          <p:cNvSpPr txBox="1"/>
          <p:nvPr/>
        </p:nvSpPr>
        <p:spPr>
          <a:xfrm>
            <a:off x="6208776" y="3621024"/>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93" name="Shape 91"/>
          <p:cNvSpPr/>
          <p:nvPr/>
        </p:nvSpPr>
        <p:spPr>
          <a:xfrm>
            <a:off x="8220456" y="3707435"/>
            <a:ext cx="87970" cy="211226"/>
          </a:xfrm>
          <a:prstGeom prst="rect">
            <a:avLst/>
          </a:prstGeom>
          <a:solidFill>
            <a:srgbClr val="C2352F"/>
          </a:solidFill>
          <a:ln/>
        </p:spPr>
      </p:sp>
      <p:sp>
        <p:nvSpPr>
          <p:cNvPr id="94" name="Text 92"/>
          <p:cNvSpPr txBox="1"/>
          <p:nvPr/>
        </p:nvSpPr>
        <p:spPr>
          <a:xfrm>
            <a:off x="9153144" y="3621024"/>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$15K</a:t>
            </a:r>
            <a:endParaRPr lang="en-US" sz="1300" dirty="0"/>
          </a:p>
        </p:txBody>
      </p:sp>
      <p:sp>
        <p:nvSpPr>
          <p:cNvPr id="95" name="Text 93"/>
          <p:cNvSpPr txBox="1"/>
          <p:nvPr/>
        </p:nvSpPr>
        <p:spPr>
          <a:xfrm>
            <a:off x="9976104" y="3621024"/>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8.3%</a:t>
            </a:r>
            <a:endParaRPr lang="en-US" sz="1300" dirty="0"/>
          </a:p>
        </p:txBody>
      </p:sp>
      <p:sp>
        <p:nvSpPr>
          <p:cNvPr id="96" name="Text 94"/>
          <p:cNvSpPr txBox="1"/>
          <p:nvPr/>
        </p:nvSpPr>
        <p:spPr>
          <a:xfrm>
            <a:off x="10543032" y="3621024"/>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98</a:t>
            </a:r>
            <a:endParaRPr lang="en-US" sz="1300" dirty="0"/>
          </a:p>
        </p:txBody>
      </p:sp>
      <p:sp>
        <p:nvSpPr>
          <p:cNvPr id="97" name="Text 95"/>
          <p:cNvSpPr txBox="1"/>
          <p:nvPr/>
        </p:nvSpPr>
        <p:spPr>
          <a:xfrm>
            <a:off x="6208776" y="4005072"/>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98" name="Shape 96"/>
          <p:cNvSpPr/>
          <p:nvPr/>
        </p:nvSpPr>
        <p:spPr>
          <a:xfrm>
            <a:off x="8220456" y="4091483"/>
            <a:ext cx="75941" cy="211226"/>
          </a:xfrm>
          <a:prstGeom prst="rect">
            <a:avLst/>
          </a:prstGeom>
          <a:solidFill>
            <a:srgbClr val="C2352F"/>
          </a:solidFill>
          <a:ln/>
        </p:spPr>
      </p:sp>
      <p:sp>
        <p:nvSpPr>
          <p:cNvPr id="99" name="Text 97"/>
          <p:cNvSpPr txBox="1"/>
          <p:nvPr/>
        </p:nvSpPr>
        <p:spPr>
          <a:xfrm>
            <a:off x="9153144" y="4005072"/>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$13K</a:t>
            </a:r>
            <a:endParaRPr lang="en-US" sz="1300" dirty="0"/>
          </a:p>
        </p:txBody>
      </p:sp>
      <p:sp>
        <p:nvSpPr>
          <p:cNvPr id="100" name="Text 98"/>
          <p:cNvSpPr txBox="1"/>
          <p:nvPr/>
        </p:nvSpPr>
        <p:spPr>
          <a:xfrm>
            <a:off x="9976104" y="4005072"/>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5.4%</a:t>
            </a:r>
            <a:endParaRPr lang="en-US" sz="1300" dirty="0"/>
          </a:p>
        </p:txBody>
      </p:sp>
      <p:sp>
        <p:nvSpPr>
          <p:cNvPr id="101" name="Text 99"/>
          <p:cNvSpPr txBox="1"/>
          <p:nvPr/>
        </p:nvSpPr>
        <p:spPr>
          <a:xfrm>
            <a:off x="10543032" y="4005072"/>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a:t>
            </a:r>
            <a:endParaRPr lang="en-US" sz="1300" dirty="0"/>
          </a:p>
        </p:txBody>
      </p:sp>
      <p:sp>
        <p:nvSpPr>
          <p:cNvPr id="102" name="Text 100"/>
          <p:cNvSpPr txBox="1"/>
          <p:nvPr/>
        </p:nvSpPr>
        <p:spPr>
          <a:xfrm>
            <a:off x="6208776" y="4389120"/>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03" name="Shape 101"/>
          <p:cNvSpPr/>
          <p:nvPr/>
        </p:nvSpPr>
        <p:spPr>
          <a:xfrm>
            <a:off x="8220456" y="4475531"/>
            <a:ext cx="63505" cy="211226"/>
          </a:xfrm>
          <a:prstGeom prst="rect">
            <a:avLst/>
          </a:prstGeom>
          <a:solidFill>
            <a:srgbClr val="C2352F"/>
          </a:solidFill>
          <a:ln/>
        </p:spPr>
      </p:sp>
      <p:sp>
        <p:nvSpPr>
          <p:cNvPr id="104" name="Text 102"/>
          <p:cNvSpPr txBox="1"/>
          <p:nvPr/>
        </p:nvSpPr>
        <p:spPr>
          <a:xfrm>
            <a:off x="9153144" y="4389120"/>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$11K</a:t>
            </a:r>
            <a:endParaRPr lang="en-US" sz="1300" dirty="0"/>
          </a:p>
        </p:txBody>
      </p:sp>
      <p:sp>
        <p:nvSpPr>
          <p:cNvPr id="105" name="Text 103"/>
          <p:cNvSpPr txBox="1"/>
          <p:nvPr/>
        </p:nvSpPr>
        <p:spPr>
          <a:xfrm>
            <a:off x="9976104" y="4389120"/>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7.5%</a:t>
            </a:r>
            <a:endParaRPr lang="en-US" sz="1300" dirty="0"/>
          </a:p>
        </p:txBody>
      </p:sp>
      <p:sp>
        <p:nvSpPr>
          <p:cNvPr id="106" name="Text 104"/>
          <p:cNvSpPr txBox="1"/>
          <p:nvPr/>
        </p:nvSpPr>
        <p:spPr>
          <a:xfrm>
            <a:off x="10543032" y="4389120"/>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87</a:t>
            </a:r>
            <a:endParaRPr lang="en-US" sz="1300" dirty="0"/>
          </a:p>
        </p:txBody>
      </p:sp>
      <p:sp>
        <p:nvSpPr>
          <p:cNvPr id="107" name="Text 105"/>
          <p:cNvSpPr txBox="1"/>
          <p:nvPr/>
        </p:nvSpPr>
        <p:spPr>
          <a:xfrm>
            <a:off x="6208776" y="4773168"/>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08" name="Shape 106"/>
          <p:cNvSpPr/>
          <p:nvPr/>
        </p:nvSpPr>
        <p:spPr>
          <a:xfrm>
            <a:off x="8220456" y="4859579"/>
            <a:ext cx="25502" cy="211226"/>
          </a:xfrm>
          <a:prstGeom prst="rect">
            <a:avLst/>
          </a:prstGeom>
          <a:solidFill>
            <a:srgbClr val="C2352F"/>
          </a:solidFill>
          <a:ln/>
        </p:spPr>
      </p:sp>
      <p:sp>
        <p:nvSpPr>
          <p:cNvPr id="109" name="Text 107"/>
          <p:cNvSpPr txBox="1"/>
          <p:nvPr/>
        </p:nvSpPr>
        <p:spPr>
          <a:xfrm>
            <a:off x="9153144" y="4773168"/>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$4K</a:t>
            </a:r>
            <a:endParaRPr lang="en-US" sz="1300" dirty="0"/>
          </a:p>
        </p:txBody>
      </p:sp>
      <p:sp>
        <p:nvSpPr>
          <p:cNvPr id="110" name="Text 108"/>
          <p:cNvSpPr txBox="1"/>
          <p:nvPr/>
        </p:nvSpPr>
        <p:spPr>
          <a:xfrm>
            <a:off x="9976104" y="4773168"/>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9.5%</a:t>
            </a:r>
            <a:endParaRPr lang="en-US" sz="1300" dirty="0"/>
          </a:p>
        </p:txBody>
      </p:sp>
      <p:sp>
        <p:nvSpPr>
          <p:cNvPr id="111" name="Text 109"/>
          <p:cNvSpPr txBox="1"/>
          <p:nvPr/>
        </p:nvSpPr>
        <p:spPr>
          <a:xfrm>
            <a:off x="10543032" y="4773168"/>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a:t>
            </a:r>
            <a:endParaRPr lang="en-US" sz="1300" dirty="0"/>
          </a:p>
        </p:txBody>
      </p:sp>
      <p:sp>
        <p:nvSpPr>
          <p:cNvPr id="112" name="Text 110"/>
          <p:cNvSpPr txBox="1"/>
          <p:nvPr/>
        </p:nvSpPr>
        <p:spPr>
          <a:xfrm>
            <a:off x="6208776" y="5157216"/>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13" name="Shape 111"/>
          <p:cNvSpPr/>
          <p:nvPr/>
        </p:nvSpPr>
        <p:spPr>
          <a:xfrm>
            <a:off x="8220456" y="5243627"/>
            <a:ext cx="19240" cy="211226"/>
          </a:xfrm>
          <a:prstGeom prst="rect">
            <a:avLst/>
          </a:prstGeom>
          <a:solidFill>
            <a:srgbClr val="C2352F"/>
          </a:solidFill>
          <a:ln/>
        </p:spPr>
      </p:sp>
      <p:sp>
        <p:nvSpPr>
          <p:cNvPr id="114" name="Text 112"/>
          <p:cNvSpPr txBox="1"/>
          <p:nvPr/>
        </p:nvSpPr>
        <p:spPr>
          <a:xfrm>
            <a:off x="9153144" y="5157216"/>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$3K</a:t>
            </a:r>
            <a:endParaRPr lang="en-US" sz="1300" dirty="0"/>
          </a:p>
        </p:txBody>
      </p:sp>
      <p:sp>
        <p:nvSpPr>
          <p:cNvPr id="115" name="Text 113"/>
          <p:cNvSpPr txBox="1"/>
          <p:nvPr/>
        </p:nvSpPr>
        <p:spPr>
          <a:xfrm>
            <a:off x="9976104" y="5157216"/>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9.6%</a:t>
            </a:r>
            <a:endParaRPr lang="en-US" sz="1300" dirty="0"/>
          </a:p>
        </p:txBody>
      </p:sp>
      <p:sp>
        <p:nvSpPr>
          <p:cNvPr id="116" name="Text 114"/>
          <p:cNvSpPr txBox="1"/>
          <p:nvPr/>
        </p:nvSpPr>
        <p:spPr>
          <a:xfrm>
            <a:off x="10543032" y="5157216"/>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117" name="Shape 115"/>
          <p:cNvSpPr/>
          <p:nvPr/>
        </p:nvSpPr>
        <p:spPr>
          <a:xfrm>
            <a:off x="457200" y="6126480"/>
            <a:ext cx="11274552" cy="371856"/>
          </a:xfrm>
          <a:prstGeom prst="rect">
            <a:avLst/>
          </a:prstGeom>
          <a:solidFill>
            <a:srgbClr val="FBEBEA"/>
          </a:solidFill>
          <a:ln/>
        </p:spPr>
      </p:sp>
      <p:sp>
        <p:nvSpPr>
          <p:cNvPr id="118" name="Text 116"/>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21 stores under 10% leave $844,657 a year: 5,919 services. Chevy LV has the most at $150,836.</a:t>
            </a:r>
            <a:endParaRPr lang="en-US" sz="1600" dirty="0"/>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Brake Fluid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11.6%</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+7.9 pts</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20.6%</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+5.5 pts</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14.3%</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+5.3 pts</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7.5%</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+5.1 pts</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7.2%</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 pts</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4.2%</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−1.8 pts</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12.1%</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 pts</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10.7%</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−0.3 pts</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11.9%</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−0.2 pts</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7.0%</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+0.2 pts</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14.1%</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+9.0 pts</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5.3%</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 pts</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7.8%</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 pts</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11.7%</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 pts</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10.2%</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 pts</a:t>
            </a:r>
            <a:endParaRPr lang="en-US" sz="1600" dirty="0"/>
          </a:p>
        </p:txBody>
      </p:sp>
      <p:sp>
        <p:nvSpPr>
          <p:cNvPr id="69" name="Shape 67"/>
          <p:cNvSpPr/>
          <p:nvPr/>
        </p:nvSpPr>
        <p:spPr>
          <a:xfrm>
            <a:off x="457200" y="6126480"/>
            <a:ext cx="11274552" cy="615696"/>
          </a:xfrm>
          <a:prstGeom prst="rect">
            <a:avLst/>
          </a:prstGeom>
          <a:solidFill>
            <a:srgbClr val="EDF4FA"/>
          </a:solidFill>
          <a:ln/>
        </p:spPr>
      </p:sp>
      <p:sp>
        <p:nvSpPr>
          <p:cNvPr id="70"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Nissan, LR LV and LR Henderson what changed. Ask CDJR Post Falls, Honda North and Subaru St George what got in the way. Ask Mazda, Audi Reno and Kia St George what they started this year.</a:t>
            </a:r>
            <a:endParaRPr lang="en-US" sz="1600" dirty="0"/>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Fuel Service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4.5%</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+1.2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+27.3%</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Fuel Service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615696"/>
          </a:xfrm>
          <a:prstGeom prst="rect">
            <a:avLst/>
          </a:prstGeom>
          <a:solidFill>
            <a:srgbClr val="E6F6EE"/>
          </a:solidFill>
          <a:ln/>
        </p:spPr>
      </p:sp>
      <p:sp>
        <p:nvSpPr>
          <p:cNvPr id="28"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1.2 pts to 5.8%, ahead of 2025 in all nine months, but 1.7 pts under the 7.5% benchmark — 4,731 fuel services short.</a:t>
            </a:r>
            <a:endParaRPr lang="en-US" sz="1600" dirty="0"/>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Fuel Service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FUEL SERVICE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7.5%</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5.8%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13.8%</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471688"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1" name="Shape 19"/>
          <p:cNvSpPr/>
          <p:nvPr/>
        </p:nvSpPr>
        <p:spPr>
          <a:xfrm>
            <a:off x="3008376" y="2386853"/>
            <a:ext cx="1196420"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5" name="Shape 23"/>
          <p:cNvSpPr/>
          <p:nvPr/>
        </p:nvSpPr>
        <p:spPr>
          <a:xfrm>
            <a:off x="3008376" y="2626748"/>
            <a:ext cx="1144678"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9" name="Shape 27"/>
          <p:cNvSpPr/>
          <p:nvPr/>
        </p:nvSpPr>
        <p:spPr>
          <a:xfrm>
            <a:off x="3008376" y="2866644"/>
            <a:ext cx="1092895"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3" name="Shape 31"/>
          <p:cNvSpPr/>
          <p:nvPr/>
        </p:nvSpPr>
        <p:spPr>
          <a:xfrm>
            <a:off x="3008376" y="3106540"/>
            <a:ext cx="1003246"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3008376" y="3346435"/>
            <a:ext cx="936777"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41" name="Shape 39"/>
          <p:cNvSpPr/>
          <p:nvPr/>
        </p:nvSpPr>
        <p:spPr>
          <a:xfrm>
            <a:off x="3008376" y="3586331"/>
            <a:ext cx="899446" cy="119948"/>
          </a:xfrm>
          <a:prstGeom prst="rect">
            <a:avLst/>
          </a:prstGeom>
          <a:solidFill>
            <a:srgbClr val="C2352F"/>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5" name="Shape 43"/>
          <p:cNvSpPr/>
          <p:nvPr/>
        </p:nvSpPr>
        <p:spPr>
          <a:xfrm>
            <a:off x="3008376" y="3826226"/>
            <a:ext cx="865796" cy="119948"/>
          </a:xfrm>
          <a:prstGeom prst="rect">
            <a:avLst/>
          </a:prstGeom>
          <a:solidFill>
            <a:srgbClr val="C2352F"/>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9" name="Shape 47"/>
          <p:cNvSpPr/>
          <p:nvPr/>
        </p:nvSpPr>
        <p:spPr>
          <a:xfrm>
            <a:off x="3008376" y="4066122"/>
            <a:ext cx="789612" cy="119948"/>
          </a:xfrm>
          <a:prstGeom prst="rect">
            <a:avLst/>
          </a:prstGeom>
          <a:solidFill>
            <a:srgbClr val="C2352F"/>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3" name="Shape 51"/>
          <p:cNvSpPr/>
          <p:nvPr/>
        </p:nvSpPr>
        <p:spPr>
          <a:xfrm>
            <a:off x="3008376" y="4306017"/>
            <a:ext cx="733838" cy="119948"/>
          </a:xfrm>
          <a:prstGeom prst="rect">
            <a:avLst/>
          </a:prstGeom>
          <a:solidFill>
            <a:srgbClr val="C2352F"/>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57" name="Shape 55"/>
          <p:cNvSpPr/>
          <p:nvPr/>
        </p:nvSpPr>
        <p:spPr>
          <a:xfrm>
            <a:off x="3008376" y="4545913"/>
            <a:ext cx="718556" cy="119948"/>
          </a:xfrm>
          <a:prstGeom prst="rect">
            <a:avLst/>
          </a:prstGeom>
          <a:solidFill>
            <a:srgbClr val="C2352F"/>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1" name="Shape 59"/>
          <p:cNvSpPr/>
          <p:nvPr/>
        </p:nvSpPr>
        <p:spPr>
          <a:xfrm>
            <a:off x="3008376" y="4785808"/>
            <a:ext cx="712146"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5" name="Shape 63"/>
          <p:cNvSpPr/>
          <p:nvPr/>
        </p:nvSpPr>
        <p:spPr>
          <a:xfrm>
            <a:off x="3008376" y="5025704"/>
            <a:ext cx="674365"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69" name="Shape 67"/>
          <p:cNvSpPr/>
          <p:nvPr/>
        </p:nvSpPr>
        <p:spPr>
          <a:xfrm>
            <a:off x="3008376" y="5265599"/>
            <a:ext cx="641436"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73" name="Shape 71"/>
          <p:cNvSpPr/>
          <p:nvPr/>
        </p:nvSpPr>
        <p:spPr>
          <a:xfrm>
            <a:off x="3008376" y="5505495"/>
            <a:ext cx="636377"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7" name="Shape 75"/>
          <p:cNvSpPr/>
          <p:nvPr/>
        </p:nvSpPr>
        <p:spPr>
          <a:xfrm>
            <a:off x="3008376" y="5745390"/>
            <a:ext cx="624030"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81" name="Shape 79"/>
          <p:cNvSpPr/>
          <p:nvPr/>
        </p:nvSpPr>
        <p:spPr>
          <a:xfrm>
            <a:off x="8558784" y="1907062"/>
            <a:ext cx="558764"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5" name="Shape 83"/>
          <p:cNvSpPr/>
          <p:nvPr/>
        </p:nvSpPr>
        <p:spPr>
          <a:xfrm>
            <a:off x="8558784" y="2146957"/>
            <a:ext cx="524245"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9" name="Shape 87"/>
          <p:cNvSpPr/>
          <p:nvPr/>
        </p:nvSpPr>
        <p:spPr>
          <a:xfrm>
            <a:off x="8558784" y="2386853"/>
            <a:ext cx="511532"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3" name="Shape 91"/>
          <p:cNvSpPr/>
          <p:nvPr/>
        </p:nvSpPr>
        <p:spPr>
          <a:xfrm>
            <a:off x="8558784" y="2626748"/>
            <a:ext cx="444269"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7" name="Shape 95"/>
          <p:cNvSpPr/>
          <p:nvPr/>
        </p:nvSpPr>
        <p:spPr>
          <a:xfrm>
            <a:off x="8558784" y="2866644"/>
            <a:ext cx="393958"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1" name="Shape 99"/>
          <p:cNvSpPr/>
          <p:nvPr/>
        </p:nvSpPr>
        <p:spPr>
          <a:xfrm>
            <a:off x="8558784" y="3106540"/>
            <a:ext cx="393514"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5" name="Shape 103"/>
          <p:cNvSpPr/>
          <p:nvPr/>
        </p:nvSpPr>
        <p:spPr>
          <a:xfrm>
            <a:off x="8558784" y="3346435"/>
            <a:ext cx="367056"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9" name="Shape 107"/>
          <p:cNvSpPr/>
          <p:nvPr/>
        </p:nvSpPr>
        <p:spPr>
          <a:xfrm>
            <a:off x="8558784" y="3586331"/>
            <a:ext cx="334961"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3" name="Shape 111"/>
          <p:cNvSpPr/>
          <p:nvPr/>
        </p:nvSpPr>
        <p:spPr>
          <a:xfrm>
            <a:off x="8558784" y="3826226"/>
            <a:ext cx="331007"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7" name="Shape 115"/>
          <p:cNvSpPr/>
          <p:nvPr/>
        </p:nvSpPr>
        <p:spPr>
          <a:xfrm>
            <a:off x="8558784" y="4066122"/>
            <a:ext cx="313417"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1" name="Shape 119"/>
          <p:cNvSpPr/>
          <p:nvPr/>
        </p:nvSpPr>
        <p:spPr>
          <a:xfrm>
            <a:off x="8558784" y="4306017"/>
            <a:ext cx="206535"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5" name="Shape 123"/>
          <p:cNvSpPr/>
          <p:nvPr/>
        </p:nvSpPr>
        <p:spPr>
          <a:xfrm>
            <a:off x="8558784" y="4545913"/>
            <a:ext cx="100839"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0.8%</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9" name="Shape 127"/>
          <p:cNvSpPr/>
          <p:nvPr/>
        </p:nvSpPr>
        <p:spPr>
          <a:xfrm>
            <a:off x="8558784" y="4785808"/>
            <a:ext cx="87903"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0.7%</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3" name="Shape 131"/>
          <p:cNvSpPr/>
          <p:nvPr/>
        </p:nvSpPr>
        <p:spPr>
          <a:xfrm>
            <a:off x="8558784" y="5025704"/>
            <a:ext cx="18288"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7" name="Shape 135"/>
          <p:cNvSpPr/>
          <p:nvPr/>
        </p:nvSpPr>
        <p:spPr>
          <a:xfrm>
            <a:off x="8558784" y="5265599"/>
            <a:ext cx="18288"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41" name="Shape 139"/>
          <p:cNvSpPr/>
          <p:nvPr/>
        </p:nvSpPr>
        <p:spPr>
          <a:xfrm>
            <a:off x="8558784" y="5505495"/>
            <a:ext cx="18288"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43" name="Shape 141"/>
          <p:cNvSpPr/>
          <p:nvPr/>
        </p:nvSpPr>
        <p:spPr>
          <a:xfrm>
            <a:off x="3917219" y="1847088"/>
            <a:ext cx="14630" cy="4078224"/>
          </a:xfrm>
          <a:prstGeom prst="rect">
            <a:avLst/>
          </a:prstGeom>
          <a:solidFill>
            <a:srgbClr val="0B2C4A"/>
          </a:solidFill>
          <a:ln/>
        </p:spPr>
      </p:sp>
      <p:sp>
        <p:nvSpPr>
          <p:cNvPr id="144" name="Shape 142"/>
          <p:cNvSpPr/>
          <p:nvPr/>
        </p:nvSpPr>
        <p:spPr>
          <a:xfrm>
            <a:off x="9467627"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71856"/>
          </a:xfrm>
          <a:prstGeom prst="rect">
            <a:avLst/>
          </a:prstGeom>
          <a:solidFill>
            <a:srgbClr val="EDF4FA"/>
          </a:solidFill>
          <a:ln/>
        </p:spPr>
      </p:sp>
      <p:sp>
        <p:nvSpPr>
          <p:cNvPr id="147"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7 of 33 stores at or above 7.5%, led by Subaru St George at 13.8%. The group sits at 5.8%.</a:t>
            </a:r>
            <a:endParaRPr lang="en-US" sz="1600" dirty="0"/>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Fuel System Service Missed Opportunity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602736"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425696" y="1316736"/>
            <a:ext cx="5669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8" name="Text 6"/>
          <p:cNvSpPr txBox="1"/>
          <p:nvPr/>
        </p:nvSpPr>
        <p:spPr>
          <a:xfrm>
            <a:off x="4992624" y="1316736"/>
            <a:ext cx="87782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Services</a:t>
            </a:r>
            <a:endParaRPr lang="en-US" sz="1400" dirty="0"/>
          </a:p>
        </p:txBody>
      </p:sp>
      <p:sp>
        <p:nvSpPr>
          <p:cNvPr id="9" name="Text 7"/>
          <p:cNvSpPr txBox="1"/>
          <p:nvPr/>
        </p:nvSpPr>
        <p:spPr>
          <a:xfrm>
            <a:off x="9153144"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76104" y="1316736"/>
            <a:ext cx="5669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1" name="Text 9"/>
          <p:cNvSpPr txBox="1"/>
          <p:nvPr/>
        </p:nvSpPr>
        <p:spPr>
          <a:xfrm>
            <a:off x="10543032" y="1316736"/>
            <a:ext cx="87782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Services</a:t>
            </a:r>
            <a:endParaRPr lang="en-US" sz="1400" dirty="0"/>
          </a:p>
        </p:txBody>
      </p:sp>
      <p:sp>
        <p:nvSpPr>
          <p:cNvPr id="12" name="Text 10"/>
          <p:cNvSpPr txBox="1"/>
          <p:nvPr/>
        </p:nvSpPr>
        <p:spPr>
          <a:xfrm>
            <a:off x="658368" y="1700784"/>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3" name="Shape 11"/>
          <p:cNvSpPr/>
          <p:nvPr/>
        </p:nvSpPr>
        <p:spPr>
          <a:xfrm>
            <a:off x="2670048" y="1773901"/>
            <a:ext cx="877824" cy="178730"/>
          </a:xfrm>
          <a:prstGeom prst="rect">
            <a:avLst/>
          </a:prstGeom>
          <a:solidFill>
            <a:srgbClr val="C2352F"/>
          </a:solidFill>
          <a:ln/>
        </p:spPr>
      </p:sp>
      <p:sp>
        <p:nvSpPr>
          <p:cNvPr id="14" name="Text 12"/>
          <p:cNvSpPr txBox="1"/>
          <p:nvPr/>
        </p:nvSpPr>
        <p:spPr>
          <a:xfrm>
            <a:off x="3602736" y="1700784"/>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$142K</a:t>
            </a:r>
            <a:endParaRPr lang="en-US" sz="1300" dirty="0"/>
          </a:p>
        </p:txBody>
      </p:sp>
      <p:sp>
        <p:nvSpPr>
          <p:cNvPr id="15" name="Text 13"/>
          <p:cNvSpPr txBox="1"/>
          <p:nvPr/>
        </p:nvSpPr>
        <p:spPr>
          <a:xfrm>
            <a:off x="4425696" y="1700784"/>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16" name="Text 14"/>
          <p:cNvSpPr txBox="1"/>
          <p:nvPr/>
        </p:nvSpPr>
        <p:spPr>
          <a:xfrm>
            <a:off x="4992624" y="1700784"/>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585</a:t>
            </a:r>
            <a:endParaRPr lang="en-US" sz="1300" dirty="0"/>
          </a:p>
        </p:txBody>
      </p:sp>
      <p:sp>
        <p:nvSpPr>
          <p:cNvPr id="17" name="Text 15"/>
          <p:cNvSpPr txBox="1"/>
          <p:nvPr/>
        </p:nvSpPr>
        <p:spPr>
          <a:xfrm>
            <a:off x="658368" y="2025748"/>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8" name="Shape 16"/>
          <p:cNvSpPr/>
          <p:nvPr/>
        </p:nvSpPr>
        <p:spPr>
          <a:xfrm>
            <a:off x="2670048" y="2098865"/>
            <a:ext cx="793178" cy="178730"/>
          </a:xfrm>
          <a:prstGeom prst="rect">
            <a:avLst/>
          </a:prstGeom>
          <a:solidFill>
            <a:srgbClr val="C2352F"/>
          </a:solidFill>
          <a:ln/>
        </p:spPr>
      </p:sp>
      <p:sp>
        <p:nvSpPr>
          <p:cNvPr id="19" name="Text 17"/>
          <p:cNvSpPr txBox="1"/>
          <p:nvPr/>
        </p:nvSpPr>
        <p:spPr>
          <a:xfrm>
            <a:off x="3602736" y="2025748"/>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$129K</a:t>
            </a:r>
            <a:endParaRPr lang="en-US" sz="1300" dirty="0"/>
          </a:p>
        </p:txBody>
      </p:sp>
      <p:sp>
        <p:nvSpPr>
          <p:cNvPr id="20" name="Text 18"/>
          <p:cNvSpPr txBox="1"/>
          <p:nvPr/>
        </p:nvSpPr>
        <p:spPr>
          <a:xfrm>
            <a:off x="4425696" y="2025748"/>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a:t>
            </a:r>
            <a:endParaRPr lang="en-US" sz="1300" dirty="0"/>
          </a:p>
        </p:txBody>
      </p:sp>
      <p:sp>
        <p:nvSpPr>
          <p:cNvPr id="21" name="Text 19"/>
          <p:cNvSpPr txBox="1"/>
          <p:nvPr/>
        </p:nvSpPr>
        <p:spPr>
          <a:xfrm>
            <a:off x="4992624" y="2025748"/>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1,056</a:t>
            </a:r>
            <a:endParaRPr lang="en-US" sz="1300" dirty="0"/>
          </a:p>
        </p:txBody>
      </p:sp>
      <p:sp>
        <p:nvSpPr>
          <p:cNvPr id="22" name="Text 20"/>
          <p:cNvSpPr txBox="1"/>
          <p:nvPr/>
        </p:nvSpPr>
        <p:spPr>
          <a:xfrm>
            <a:off x="658368" y="2350711"/>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23" name="Shape 21"/>
          <p:cNvSpPr/>
          <p:nvPr/>
        </p:nvSpPr>
        <p:spPr>
          <a:xfrm>
            <a:off x="2670048" y="2423828"/>
            <a:ext cx="671699" cy="178730"/>
          </a:xfrm>
          <a:prstGeom prst="rect">
            <a:avLst/>
          </a:prstGeom>
          <a:solidFill>
            <a:srgbClr val="C2352F"/>
          </a:solidFill>
          <a:ln/>
        </p:spPr>
      </p:sp>
      <p:sp>
        <p:nvSpPr>
          <p:cNvPr id="24" name="Text 22"/>
          <p:cNvSpPr txBox="1"/>
          <p:nvPr/>
        </p:nvSpPr>
        <p:spPr>
          <a:xfrm>
            <a:off x="3602736" y="2350711"/>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$109K</a:t>
            </a:r>
            <a:endParaRPr lang="en-US" sz="1300" dirty="0"/>
          </a:p>
        </p:txBody>
      </p:sp>
      <p:sp>
        <p:nvSpPr>
          <p:cNvPr id="25" name="Text 23"/>
          <p:cNvSpPr txBox="1"/>
          <p:nvPr/>
        </p:nvSpPr>
        <p:spPr>
          <a:xfrm>
            <a:off x="4425696" y="2350711"/>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26" name="Text 24"/>
          <p:cNvSpPr txBox="1"/>
          <p:nvPr/>
        </p:nvSpPr>
        <p:spPr>
          <a:xfrm>
            <a:off x="4992624" y="2350711"/>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1,173</a:t>
            </a:r>
            <a:endParaRPr lang="en-US" sz="1300" dirty="0"/>
          </a:p>
        </p:txBody>
      </p:sp>
      <p:sp>
        <p:nvSpPr>
          <p:cNvPr id="27" name="Text 25"/>
          <p:cNvSpPr txBox="1"/>
          <p:nvPr/>
        </p:nvSpPr>
        <p:spPr>
          <a:xfrm>
            <a:off x="658368" y="2675675"/>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28" name="Shape 26"/>
          <p:cNvSpPr/>
          <p:nvPr/>
        </p:nvSpPr>
        <p:spPr>
          <a:xfrm>
            <a:off x="2670048" y="2748792"/>
            <a:ext cx="522143" cy="178730"/>
          </a:xfrm>
          <a:prstGeom prst="rect">
            <a:avLst/>
          </a:prstGeom>
          <a:solidFill>
            <a:srgbClr val="C2352F"/>
          </a:solidFill>
          <a:ln/>
        </p:spPr>
      </p:sp>
      <p:sp>
        <p:nvSpPr>
          <p:cNvPr id="29" name="Text 27"/>
          <p:cNvSpPr txBox="1"/>
          <p:nvPr/>
        </p:nvSpPr>
        <p:spPr>
          <a:xfrm>
            <a:off x="3602736" y="2675675"/>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$85K</a:t>
            </a:r>
            <a:endParaRPr lang="en-US" sz="1300" dirty="0"/>
          </a:p>
        </p:txBody>
      </p:sp>
      <p:sp>
        <p:nvSpPr>
          <p:cNvPr id="30" name="Text 28"/>
          <p:cNvSpPr txBox="1"/>
          <p:nvPr/>
        </p:nvSpPr>
        <p:spPr>
          <a:xfrm>
            <a:off x="4425696" y="2675675"/>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31" name="Text 29"/>
          <p:cNvSpPr txBox="1"/>
          <p:nvPr/>
        </p:nvSpPr>
        <p:spPr>
          <a:xfrm>
            <a:off x="4992624" y="2675675"/>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515</a:t>
            </a:r>
            <a:endParaRPr lang="en-US" sz="1300" dirty="0"/>
          </a:p>
        </p:txBody>
      </p:sp>
      <p:sp>
        <p:nvSpPr>
          <p:cNvPr id="32" name="Text 30"/>
          <p:cNvSpPr txBox="1"/>
          <p:nvPr/>
        </p:nvSpPr>
        <p:spPr>
          <a:xfrm>
            <a:off x="658368" y="3000639"/>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33" name="Shape 31"/>
          <p:cNvSpPr/>
          <p:nvPr/>
        </p:nvSpPr>
        <p:spPr>
          <a:xfrm>
            <a:off x="2670048" y="3073756"/>
            <a:ext cx="466364" cy="178730"/>
          </a:xfrm>
          <a:prstGeom prst="rect">
            <a:avLst/>
          </a:prstGeom>
          <a:solidFill>
            <a:srgbClr val="C2352F"/>
          </a:solidFill>
          <a:ln/>
        </p:spPr>
      </p:sp>
      <p:sp>
        <p:nvSpPr>
          <p:cNvPr id="34" name="Text 32"/>
          <p:cNvSpPr txBox="1"/>
          <p:nvPr/>
        </p:nvSpPr>
        <p:spPr>
          <a:xfrm>
            <a:off x="3602736" y="3000639"/>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$76K</a:t>
            </a:r>
            <a:endParaRPr lang="en-US" sz="1300" dirty="0"/>
          </a:p>
        </p:txBody>
      </p:sp>
      <p:sp>
        <p:nvSpPr>
          <p:cNvPr id="35" name="Text 33"/>
          <p:cNvSpPr txBox="1"/>
          <p:nvPr/>
        </p:nvSpPr>
        <p:spPr>
          <a:xfrm>
            <a:off x="4425696" y="3000639"/>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a:t>
            </a:r>
            <a:endParaRPr lang="en-US" sz="1300" dirty="0"/>
          </a:p>
        </p:txBody>
      </p:sp>
      <p:sp>
        <p:nvSpPr>
          <p:cNvPr id="36" name="Text 34"/>
          <p:cNvSpPr txBox="1"/>
          <p:nvPr/>
        </p:nvSpPr>
        <p:spPr>
          <a:xfrm>
            <a:off x="4992624" y="3000639"/>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464</a:t>
            </a:r>
            <a:endParaRPr lang="en-US" sz="1300" dirty="0"/>
          </a:p>
        </p:txBody>
      </p:sp>
      <p:sp>
        <p:nvSpPr>
          <p:cNvPr id="37" name="Text 35"/>
          <p:cNvSpPr txBox="1"/>
          <p:nvPr/>
        </p:nvSpPr>
        <p:spPr>
          <a:xfrm>
            <a:off x="658368" y="3325602"/>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38" name="Shape 36"/>
          <p:cNvSpPr/>
          <p:nvPr/>
        </p:nvSpPr>
        <p:spPr>
          <a:xfrm>
            <a:off x="2670048" y="3398719"/>
            <a:ext cx="463132" cy="178730"/>
          </a:xfrm>
          <a:prstGeom prst="rect">
            <a:avLst/>
          </a:prstGeom>
          <a:solidFill>
            <a:srgbClr val="C2352F"/>
          </a:solidFill>
          <a:ln/>
        </p:spPr>
      </p:sp>
      <p:sp>
        <p:nvSpPr>
          <p:cNvPr id="39" name="Text 37"/>
          <p:cNvSpPr txBox="1"/>
          <p:nvPr/>
        </p:nvSpPr>
        <p:spPr>
          <a:xfrm>
            <a:off x="3602736" y="3325602"/>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$75K</a:t>
            </a:r>
            <a:endParaRPr lang="en-US" sz="1300" dirty="0"/>
          </a:p>
        </p:txBody>
      </p:sp>
      <p:sp>
        <p:nvSpPr>
          <p:cNvPr id="40" name="Text 38"/>
          <p:cNvSpPr txBox="1"/>
          <p:nvPr/>
        </p:nvSpPr>
        <p:spPr>
          <a:xfrm>
            <a:off x="4425696" y="3325602"/>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a:t>
            </a:r>
            <a:endParaRPr lang="en-US" sz="1300" dirty="0"/>
          </a:p>
        </p:txBody>
      </p:sp>
      <p:sp>
        <p:nvSpPr>
          <p:cNvPr id="41" name="Text 39"/>
          <p:cNvSpPr txBox="1"/>
          <p:nvPr/>
        </p:nvSpPr>
        <p:spPr>
          <a:xfrm>
            <a:off x="4992624" y="3325602"/>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509</a:t>
            </a:r>
            <a:endParaRPr lang="en-US" sz="1300" dirty="0"/>
          </a:p>
        </p:txBody>
      </p:sp>
      <p:sp>
        <p:nvSpPr>
          <p:cNvPr id="42" name="Text 40"/>
          <p:cNvSpPr txBox="1"/>
          <p:nvPr/>
        </p:nvSpPr>
        <p:spPr>
          <a:xfrm>
            <a:off x="658368" y="3650566"/>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43" name="Shape 41"/>
          <p:cNvSpPr/>
          <p:nvPr/>
        </p:nvSpPr>
        <p:spPr>
          <a:xfrm>
            <a:off x="2670048" y="3723683"/>
            <a:ext cx="402170" cy="178730"/>
          </a:xfrm>
          <a:prstGeom prst="rect">
            <a:avLst/>
          </a:prstGeom>
          <a:solidFill>
            <a:srgbClr val="C2352F"/>
          </a:solidFill>
          <a:ln/>
        </p:spPr>
      </p:sp>
      <p:sp>
        <p:nvSpPr>
          <p:cNvPr id="44" name="Text 42"/>
          <p:cNvSpPr txBox="1"/>
          <p:nvPr/>
        </p:nvSpPr>
        <p:spPr>
          <a:xfrm>
            <a:off x="3602736" y="3650566"/>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$65K</a:t>
            </a:r>
            <a:endParaRPr lang="en-US" sz="1300" dirty="0"/>
          </a:p>
        </p:txBody>
      </p:sp>
      <p:sp>
        <p:nvSpPr>
          <p:cNvPr id="45" name="Text 43"/>
          <p:cNvSpPr txBox="1"/>
          <p:nvPr/>
        </p:nvSpPr>
        <p:spPr>
          <a:xfrm>
            <a:off x="4425696" y="3650566"/>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46" name="Text 44"/>
          <p:cNvSpPr txBox="1"/>
          <p:nvPr/>
        </p:nvSpPr>
        <p:spPr>
          <a:xfrm>
            <a:off x="4992624" y="3650566"/>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400</a:t>
            </a:r>
            <a:endParaRPr lang="en-US" sz="1300" dirty="0"/>
          </a:p>
        </p:txBody>
      </p:sp>
      <p:sp>
        <p:nvSpPr>
          <p:cNvPr id="47" name="Text 45"/>
          <p:cNvSpPr txBox="1"/>
          <p:nvPr/>
        </p:nvSpPr>
        <p:spPr>
          <a:xfrm>
            <a:off x="658368" y="3975530"/>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48" name="Shape 46"/>
          <p:cNvSpPr/>
          <p:nvPr/>
        </p:nvSpPr>
        <p:spPr>
          <a:xfrm>
            <a:off x="2670048" y="4048647"/>
            <a:ext cx="392196" cy="178730"/>
          </a:xfrm>
          <a:prstGeom prst="rect">
            <a:avLst/>
          </a:prstGeom>
          <a:solidFill>
            <a:srgbClr val="C2352F"/>
          </a:solidFill>
          <a:ln/>
        </p:spPr>
      </p:sp>
      <p:sp>
        <p:nvSpPr>
          <p:cNvPr id="49" name="Text 47"/>
          <p:cNvSpPr txBox="1"/>
          <p:nvPr/>
        </p:nvSpPr>
        <p:spPr>
          <a:xfrm>
            <a:off x="3602736" y="3975530"/>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$64K</a:t>
            </a:r>
            <a:endParaRPr lang="en-US" sz="1300" dirty="0"/>
          </a:p>
        </p:txBody>
      </p:sp>
      <p:sp>
        <p:nvSpPr>
          <p:cNvPr id="50" name="Text 48"/>
          <p:cNvSpPr txBox="1"/>
          <p:nvPr/>
        </p:nvSpPr>
        <p:spPr>
          <a:xfrm>
            <a:off x="4425696" y="3975530"/>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a:t>
            </a:r>
            <a:endParaRPr lang="en-US" sz="1300" dirty="0"/>
          </a:p>
        </p:txBody>
      </p:sp>
      <p:sp>
        <p:nvSpPr>
          <p:cNvPr id="51" name="Text 49"/>
          <p:cNvSpPr txBox="1"/>
          <p:nvPr/>
        </p:nvSpPr>
        <p:spPr>
          <a:xfrm>
            <a:off x="4992624" y="3975530"/>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308</a:t>
            </a:r>
            <a:endParaRPr lang="en-US" sz="1300" dirty="0"/>
          </a:p>
        </p:txBody>
      </p:sp>
      <p:sp>
        <p:nvSpPr>
          <p:cNvPr id="52" name="Text 50"/>
          <p:cNvSpPr txBox="1"/>
          <p:nvPr/>
        </p:nvSpPr>
        <p:spPr>
          <a:xfrm>
            <a:off x="658368" y="4300494"/>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53" name="Shape 51"/>
          <p:cNvSpPr/>
          <p:nvPr/>
        </p:nvSpPr>
        <p:spPr>
          <a:xfrm>
            <a:off x="2670048" y="4373610"/>
            <a:ext cx="383514" cy="178730"/>
          </a:xfrm>
          <a:prstGeom prst="rect">
            <a:avLst/>
          </a:prstGeom>
          <a:solidFill>
            <a:srgbClr val="C2352F"/>
          </a:solidFill>
          <a:ln/>
        </p:spPr>
      </p:sp>
      <p:sp>
        <p:nvSpPr>
          <p:cNvPr id="54" name="Text 52"/>
          <p:cNvSpPr txBox="1"/>
          <p:nvPr/>
        </p:nvSpPr>
        <p:spPr>
          <a:xfrm>
            <a:off x="3602736" y="4300494"/>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$62K</a:t>
            </a:r>
            <a:endParaRPr lang="en-US" sz="1300" dirty="0"/>
          </a:p>
        </p:txBody>
      </p:sp>
      <p:sp>
        <p:nvSpPr>
          <p:cNvPr id="55" name="Text 53"/>
          <p:cNvSpPr txBox="1"/>
          <p:nvPr/>
        </p:nvSpPr>
        <p:spPr>
          <a:xfrm>
            <a:off x="4425696" y="4300494"/>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56" name="Text 54"/>
          <p:cNvSpPr txBox="1"/>
          <p:nvPr/>
        </p:nvSpPr>
        <p:spPr>
          <a:xfrm>
            <a:off x="4992624" y="4300494"/>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378</a:t>
            </a:r>
            <a:endParaRPr lang="en-US" sz="1300" dirty="0"/>
          </a:p>
        </p:txBody>
      </p:sp>
      <p:sp>
        <p:nvSpPr>
          <p:cNvPr id="57" name="Text 55"/>
          <p:cNvSpPr txBox="1"/>
          <p:nvPr/>
        </p:nvSpPr>
        <p:spPr>
          <a:xfrm>
            <a:off x="658368" y="4625457"/>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58" name="Shape 56"/>
          <p:cNvSpPr/>
          <p:nvPr/>
        </p:nvSpPr>
        <p:spPr>
          <a:xfrm>
            <a:off x="2670048" y="4698574"/>
            <a:ext cx="381003" cy="178730"/>
          </a:xfrm>
          <a:prstGeom prst="rect">
            <a:avLst/>
          </a:prstGeom>
          <a:solidFill>
            <a:srgbClr val="C2352F"/>
          </a:solidFill>
          <a:ln/>
        </p:spPr>
      </p:sp>
      <p:sp>
        <p:nvSpPr>
          <p:cNvPr id="59" name="Text 57"/>
          <p:cNvSpPr txBox="1"/>
          <p:nvPr/>
        </p:nvSpPr>
        <p:spPr>
          <a:xfrm>
            <a:off x="3602736" y="4625457"/>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$62K</a:t>
            </a:r>
            <a:endParaRPr lang="en-US" sz="1300" dirty="0"/>
          </a:p>
        </p:txBody>
      </p:sp>
      <p:sp>
        <p:nvSpPr>
          <p:cNvPr id="60" name="Text 58"/>
          <p:cNvSpPr txBox="1"/>
          <p:nvPr/>
        </p:nvSpPr>
        <p:spPr>
          <a:xfrm>
            <a:off x="4425696" y="4625457"/>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61" name="Text 59"/>
          <p:cNvSpPr txBox="1"/>
          <p:nvPr/>
        </p:nvSpPr>
        <p:spPr>
          <a:xfrm>
            <a:off x="4992624" y="4625457"/>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321</a:t>
            </a:r>
            <a:endParaRPr lang="en-US" sz="1300" dirty="0"/>
          </a:p>
        </p:txBody>
      </p:sp>
      <p:sp>
        <p:nvSpPr>
          <p:cNvPr id="62" name="Text 60"/>
          <p:cNvSpPr txBox="1"/>
          <p:nvPr/>
        </p:nvSpPr>
        <p:spPr>
          <a:xfrm>
            <a:off x="658368" y="4950421"/>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63" name="Shape 61"/>
          <p:cNvSpPr/>
          <p:nvPr/>
        </p:nvSpPr>
        <p:spPr>
          <a:xfrm>
            <a:off x="2670048" y="5023538"/>
            <a:ext cx="369746" cy="178730"/>
          </a:xfrm>
          <a:prstGeom prst="rect">
            <a:avLst/>
          </a:prstGeom>
          <a:solidFill>
            <a:srgbClr val="C2352F"/>
          </a:solidFill>
          <a:ln/>
        </p:spPr>
      </p:sp>
      <p:sp>
        <p:nvSpPr>
          <p:cNvPr id="64" name="Text 62"/>
          <p:cNvSpPr txBox="1"/>
          <p:nvPr/>
        </p:nvSpPr>
        <p:spPr>
          <a:xfrm>
            <a:off x="3602736" y="4950421"/>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$60K</a:t>
            </a:r>
            <a:endParaRPr lang="en-US" sz="1300" dirty="0"/>
          </a:p>
        </p:txBody>
      </p:sp>
      <p:sp>
        <p:nvSpPr>
          <p:cNvPr id="65" name="Text 63"/>
          <p:cNvSpPr txBox="1"/>
          <p:nvPr/>
        </p:nvSpPr>
        <p:spPr>
          <a:xfrm>
            <a:off x="4425696" y="4950421"/>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0.7%</a:t>
            </a:r>
            <a:endParaRPr lang="en-US" sz="1300" dirty="0"/>
          </a:p>
        </p:txBody>
      </p:sp>
      <p:sp>
        <p:nvSpPr>
          <p:cNvPr id="66" name="Text 64"/>
          <p:cNvSpPr txBox="1"/>
          <p:nvPr/>
        </p:nvSpPr>
        <p:spPr>
          <a:xfrm>
            <a:off x="4992624" y="4950421"/>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364</a:t>
            </a:r>
            <a:endParaRPr lang="en-US" sz="1300" dirty="0"/>
          </a:p>
        </p:txBody>
      </p:sp>
      <p:sp>
        <p:nvSpPr>
          <p:cNvPr id="67" name="Text 65"/>
          <p:cNvSpPr txBox="1"/>
          <p:nvPr/>
        </p:nvSpPr>
        <p:spPr>
          <a:xfrm>
            <a:off x="658368" y="5275385"/>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68" name="Shape 66"/>
          <p:cNvSpPr/>
          <p:nvPr/>
        </p:nvSpPr>
        <p:spPr>
          <a:xfrm>
            <a:off x="2670048" y="5348501"/>
            <a:ext cx="346004" cy="178730"/>
          </a:xfrm>
          <a:prstGeom prst="rect">
            <a:avLst/>
          </a:prstGeom>
          <a:solidFill>
            <a:srgbClr val="C2352F"/>
          </a:solidFill>
          <a:ln/>
        </p:spPr>
      </p:sp>
      <p:sp>
        <p:nvSpPr>
          <p:cNvPr id="69" name="Text 67"/>
          <p:cNvSpPr txBox="1"/>
          <p:nvPr/>
        </p:nvSpPr>
        <p:spPr>
          <a:xfrm>
            <a:off x="3602736" y="5275385"/>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$56K</a:t>
            </a:r>
            <a:endParaRPr lang="en-US" sz="1300" dirty="0"/>
          </a:p>
        </p:txBody>
      </p:sp>
      <p:sp>
        <p:nvSpPr>
          <p:cNvPr id="70" name="Text 68"/>
          <p:cNvSpPr txBox="1"/>
          <p:nvPr/>
        </p:nvSpPr>
        <p:spPr>
          <a:xfrm>
            <a:off x="4425696" y="5275385"/>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5.8%</a:t>
            </a:r>
            <a:endParaRPr lang="en-US" sz="1300" dirty="0"/>
          </a:p>
        </p:txBody>
      </p:sp>
      <p:sp>
        <p:nvSpPr>
          <p:cNvPr id="71" name="Text 69"/>
          <p:cNvSpPr txBox="1"/>
          <p:nvPr/>
        </p:nvSpPr>
        <p:spPr>
          <a:xfrm>
            <a:off x="4992624" y="5275385"/>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387</a:t>
            </a:r>
            <a:endParaRPr lang="en-US" sz="1300" dirty="0"/>
          </a:p>
        </p:txBody>
      </p:sp>
      <p:sp>
        <p:nvSpPr>
          <p:cNvPr id="72" name="Text 70"/>
          <p:cNvSpPr txBox="1"/>
          <p:nvPr/>
        </p:nvSpPr>
        <p:spPr>
          <a:xfrm>
            <a:off x="658368" y="5600348"/>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73" name="Shape 71"/>
          <p:cNvSpPr/>
          <p:nvPr/>
        </p:nvSpPr>
        <p:spPr>
          <a:xfrm>
            <a:off x="2670048" y="5673465"/>
            <a:ext cx="345254" cy="178730"/>
          </a:xfrm>
          <a:prstGeom prst="rect">
            <a:avLst/>
          </a:prstGeom>
          <a:solidFill>
            <a:srgbClr val="C2352F"/>
          </a:solidFill>
          <a:ln/>
        </p:spPr>
      </p:sp>
      <p:sp>
        <p:nvSpPr>
          <p:cNvPr id="74" name="Text 72"/>
          <p:cNvSpPr txBox="1"/>
          <p:nvPr/>
        </p:nvSpPr>
        <p:spPr>
          <a:xfrm>
            <a:off x="3602736" y="5600348"/>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$56K</a:t>
            </a:r>
            <a:endParaRPr lang="en-US" sz="1300" dirty="0"/>
          </a:p>
        </p:txBody>
      </p:sp>
      <p:sp>
        <p:nvSpPr>
          <p:cNvPr id="75" name="Text 73"/>
          <p:cNvSpPr txBox="1"/>
          <p:nvPr/>
        </p:nvSpPr>
        <p:spPr>
          <a:xfrm>
            <a:off x="4425696" y="5600348"/>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76" name="Text 74"/>
          <p:cNvSpPr txBox="1"/>
          <p:nvPr/>
        </p:nvSpPr>
        <p:spPr>
          <a:xfrm>
            <a:off x="4992624" y="5600348"/>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340</a:t>
            </a:r>
            <a:endParaRPr lang="en-US" sz="1300" dirty="0"/>
          </a:p>
        </p:txBody>
      </p:sp>
      <p:sp>
        <p:nvSpPr>
          <p:cNvPr id="77" name="Text 75"/>
          <p:cNvSpPr txBox="1"/>
          <p:nvPr/>
        </p:nvSpPr>
        <p:spPr>
          <a:xfrm>
            <a:off x="6208776" y="1700784"/>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78" name="Shape 76"/>
          <p:cNvSpPr/>
          <p:nvPr/>
        </p:nvSpPr>
        <p:spPr>
          <a:xfrm>
            <a:off x="8220456" y="1773901"/>
            <a:ext cx="317278" cy="178730"/>
          </a:xfrm>
          <a:prstGeom prst="rect">
            <a:avLst/>
          </a:prstGeom>
          <a:solidFill>
            <a:srgbClr val="C2352F"/>
          </a:solidFill>
          <a:ln/>
        </p:spPr>
      </p:sp>
      <p:sp>
        <p:nvSpPr>
          <p:cNvPr id="79" name="Text 77"/>
          <p:cNvSpPr txBox="1"/>
          <p:nvPr/>
        </p:nvSpPr>
        <p:spPr>
          <a:xfrm>
            <a:off x="9153144" y="1700784"/>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$51K</a:t>
            </a:r>
            <a:endParaRPr lang="en-US" sz="1300" dirty="0"/>
          </a:p>
        </p:txBody>
      </p:sp>
      <p:sp>
        <p:nvSpPr>
          <p:cNvPr id="80" name="Text 78"/>
          <p:cNvSpPr txBox="1"/>
          <p:nvPr/>
        </p:nvSpPr>
        <p:spPr>
          <a:xfrm>
            <a:off x="9976104" y="1700784"/>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0.8%</a:t>
            </a:r>
            <a:endParaRPr lang="en-US" sz="1300" dirty="0"/>
          </a:p>
        </p:txBody>
      </p:sp>
      <p:sp>
        <p:nvSpPr>
          <p:cNvPr id="81" name="Text 79"/>
          <p:cNvSpPr txBox="1"/>
          <p:nvPr/>
        </p:nvSpPr>
        <p:spPr>
          <a:xfrm>
            <a:off x="10543032" y="1700784"/>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313</a:t>
            </a:r>
            <a:endParaRPr lang="en-US" sz="1300" dirty="0"/>
          </a:p>
        </p:txBody>
      </p:sp>
      <p:sp>
        <p:nvSpPr>
          <p:cNvPr id="82" name="Text 80"/>
          <p:cNvSpPr txBox="1"/>
          <p:nvPr/>
        </p:nvSpPr>
        <p:spPr>
          <a:xfrm>
            <a:off x="6208776" y="2025748"/>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83" name="Shape 81"/>
          <p:cNvSpPr/>
          <p:nvPr/>
        </p:nvSpPr>
        <p:spPr>
          <a:xfrm>
            <a:off x="8220456" y="2098865"/>
            <a:ext cx="282708" cy="178730"/>
          </a:xfrm>
          <a:prstGeom prst="rect">
            <a:avLst/>
          </a:prstGeom>
          <a:solidFill>
            <a:srgbClr val="C2352F"/>
          </a:solidFill>
          <a:ln/>
        </p:spPr>
      </p:sp>
      <p:sp>
        <p:nvSpPr>
          <p:cNvPr id="84" name="Text 82"/>
          <p:cNvSpPr txBox="1"/>
          <p:nvPr/>
        </p:nvSpPr>
        <p:spPr>
          <a:xfrm>
            <a:off x="9153144" y="2025748"/>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$46K</a:t>
            </a:r>
            <a:endParaRPr lang="en-US" sz="1300" dirty="0"/>
          </a:p>
        </p:txBody>
      </p:sp>
      <p:sp>
        <p:nvSpPr>
          <p:cNvPr id="85" name="Text 83"/>
          <p:cNvSpPr txBox="1"/>
          <p:nvPr/>
        </p:nvSpPr>
        <p:spPr>
          <a:xfrm>
            <a:off x="9976104" y="2025748"/>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a:t>
            </a:r>
            <a:endParaRPr lang="en-US" sz="1300" dirty="0"/>
          </a:p>
        </p:txBody>
      </p:sp>
      <p:sp>
        <p:nvSpPr>
          <p:cNvPr id="86" name="Text 84"/>
          <p:cNvSpPr txBox="1"/>
          <p:nvPr/>
        </p:nvSpPr>
        <p:spPr>
          <a:xfrm>
            <a:off x="10543032" y="2025748"/>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170</a:t>
            </a:r>
            <a:endParaRPr lang="en-US" sz="1300" dirty="0"/>
          </a:p>
        </p:txBody>
      </p:sp>
      <p:sp>
        <p:nvSpPr>
          <p:cNvPr id="87" name="Text 85"/>
          <p:cNvSpPr txBox="1"/>
          <p:nvPr/>
        </p:nvSpPr>
        <p:spPr>
          <a:xfrm>
            <a:off x="6208776" y="2350711"/>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88" name="Shape 86"/>
          <p:cNvSpPr/>
          <p:nvPr/>
        </p:nvSpPr>
        <p:spPr>
          <a:xfrm>
            <a:off x="8220456" y="2423828"/>
            <a:ext cx="208181" cy="178730"/>
          </a:xfrm>
          <a:prstGeom prst="rect">
            <a:avLst/>
          </a:prstGeom>
          <a:solidFill>
            <a:srgbClr val="C2352F"/>
          </a:solidFill>
          <a:ln/>
        </p:spPr>
      </p:sp>
      <p:sp>
        <p:nvSpPr>
          <p:cNvPr id="89" name="Text 87"/>
          <p:cNvSpPr txBox="1"/>
          <p:nvPr/>
        </p:nvSpPr>
        <p:spPr>
          <a:xfrm>
            <a:off x="9153144" y="2350711"/>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$34K</a:t>
            </a:r>
            <a:endParaRPr lang="en-US" sz="1300" dirty="0"/>
          </a:p>
        </p:txBody>
      </p:sp>
      <p:sp>
        <p:nvSpPr>
          <p:cNvPr id="90" name="Text 88"/>
          <p:cNvSpPr txBox="1"/>
          <p:nvPr/>
        </p:nvSpPr>
        <p:spPr>
          <a:xfrm>
            <a:off x="9976104" y="2350711"/>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a:t>
            </a:r>
            <a:endParaRPr lang="en-US" sz="1300" dirty="0"/>
          </a:p>
        </p:txBody>
      </p:sp>
      <p:sp>
        <p:nvSpPr>
          <p:cNvPr id="91" name="Text 89"/>
          <p:cNvSpPr txBox="1"/>
          <p:nvPr/>
        </p:nvSpPr>
        <p:spPr>
          <a:xfrm>
            <a:off x="10543032" y="2350711"/>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a:t>
            </a:r>
            <a:endParaRPr lang="en-US" sz="1300" dirty="0"/>
          </a:p>
        </p:txBody>
      </p:sp>
      <p:sp>
        <p:nvSpPr>
          <p:cNvPr id="92" name="Text 90"/>
          <p:cNvSpPr txBox="1"/>
          <p:nvPr/>
        </p:nvSpPr>
        <p:spPr>
          <a:xfrm>
            <a:off x="6208776" y="2675675"/>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93" name="Shape 91"/>
          <p:cNvSpPr/>
          <p:nvPr/>
        </p:nvSpPr>
        <p:spPr>
          <a:xfrm>
            <a:off x="8220456" y="2748792"/>
            <a:ext cx="178106" cy="178730"/>
          </a:xfrm>
          <a:prstGeom prst="rect">
            <a:avLst/>
          </a:prstGeom>
          <a:solidFill>
            <a:srgbClr val="C2352F"/>
          </a:solidFill>
          <a:ln/>
        </p:spPr>
      </p:sp>
      <p:sp>
        <p:nvSpPr>
          <p:cNvPr id="94" name="Text 92"/>
          <p:cNvSpPr txBox="1"/>
          <p:nvPr/>
        </p:nvSpPr>
        <p:spPr>
          <a:xfrm>
            <a:off x="9153144" y="2675675"/>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$29K</a:t>
            </a:r>
            <a:endParaRPr lang="en-US" sz="1300" dirty="0"/>
          </a:p>
        </p:txBody>
      </p:sp>
      <p:sp>
        <p:nvSpPr>
          <p:cNvPr id="95" name="Text 93"/>
          <p:cNvSpPr txBox="1"/>
          <p:nvPr/>
        </p:nvSpPr>
        <p:spPr>
          <a:xfrm>
            <a:off x="9976104" y="2675675"/>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96" name="Text 94"/>
          <p:cNvSpPr txBox="1"/>
          <p:nvPr/>
        </p:nvSpPr>
        <p:spPr>
          <a:xfrm>
            <a:off x="10543032" y="2675675"/>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123</a:t>
            </a:r>
            <a:endParaRPr lang="en-US" sz="1300" dirty="0"/>
          </a:p>
        </p:txBody>
      </p:sp>
      <p:sp>
        <p:nvSpPr>
          <p:cNvPr id="97" name="Text 95"/>
          <p:cNvSpPr txBox="1"/>
          <p:nvPr/>
        </p:nvSpPr>
        <p:spPr>
          <a:xfrm>
            <a:off x="6208776" y="3000639"/>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98" name="Shape 96"/>
          <p:cNvSpPr/>
          <p:nvPr/>
        </p:nvSpPr>
        <p:spPr>
          <a:xfrm>
            <a:off x="8220456" y="3073756"/>
            <a:ext cx="160825" cy="178730"/>
          </a:xfrm>
          <a:prstGeom prst="rect">
            <a:avLst/>
          </a:prstGeom>
          <a:solidFill>
            <a:srgbClr val="C2352F"/>
          </a:solidFill>
          <a:ln/>
        </p:spPr>
      </p:sp>
      <p:sp>
        <p:nvSpPr>
          <p:cNvPr id="99" name="Text 97"/>
          <p:cNvSpPr txBox="1"/>
          <p:nvPr/>
        </p:nvSpPr>
        <p:spPr>
          <a:xfrm>
            <a:off x="9153144" y="3000639"/>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$26K</a:t>
            </a:r>
            <a:endParaRPr lang="en-US" sz="1300" dirty="0"/>
          </a:p>
        </p:txBody>
      </p:sp>
      <p:sp>
        <p:nvSpPr>
          <p:cNvPr id="100" name="Text 98"/>
          <p:cNvSpPr txBox="1"/>
          <p:nvPr/>
        </p:nvSpPr>
        <p:spPr>
          <a:xfrm>
            <a:off x="9976104" y="3000639"/>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101" name="Text 99"/>
          <p:cNvSpPr txBox="1"/>
          <p:nvPr/>
        </p:nvSpPr>
        <p:spPr>
          <a:xfrm>
            <a:off x="10543032" y="3000639"/>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174</a:t>
            </a:r>
            <a:endParaRPr lang="en-US" sz="1300" dirty="0"/>
          </a:p>
        </p:txBody>
      </p:sp>
      <p:sp>
        <p:nvSpPr>
          <p:cNvPr id="102" name="Text 100"/>
          <p:cNvSpPr txBox="1"/>
          <p:nvPr/>
        </p:nvSpPr>
        <p:spPr>
          <a:xfrm>
            <a:off x="6208776" y="3325602"/>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03" name="Shape 101"/>
          <p:cNvSpPr/>
          <p:nvPr/>
        </p:nvSpPr>
        <p:spPr>
          <a:xfrm>
            <a:off x="8220456" y="3398719"/>
            <a:ext cx="153735" cy="178730"/>
          </a:xfrm>
          <a:prstGeom prst="rect">
            <a:avLst/>
          </a:prstGeom>
          <a:solidFill>
            <a:srgbClr val="C2352F"/>
          </a:solidFill>
          <a:ln/>
        </p:spPr>
      </p:sp>
      <p:sp>
        <p:nvSpPr>
          <p:cNvPr id="104" name="Text 102"/>
          <p:cNvSpPr txBox="1"/>
          <p:nvPr/>
        </p:nvSpPr>
        <p:spPr>
          <a:xfrm>
            <a:off x="9153144" y="3325602"/>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$25K</a:t>
            </a:r>
            <a:endParaRPr lang="en-US" sz="1300" dirty="0"/>
          </a:p>
        </p:txBody>
      </p:sp>
      <p:sp>
        <p:nvSpPr>
          <p:cNvPr id="105" name="Text 103"/>
          <p:cNvSpPr txBox="1"/>
          <p:nvPr/>
        </p:nvSpPr>
        <p:spPr>
          <a:xfrm>
            <a:off x="9976104" y="3325602"/>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106" name="Text 104"/>
          <p:cNvSpPr txBox="1"/>
          <p:nvPr/>
        </p:nvSpPr>
        <p:spPr>
          <a:xfrm>
            <a:off x="10543032" y="3325602"/>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195</a:t>
            </a:r>
            <a:endParaRPr lang="en-US" sz="1300" dirty="0"/>
          </a:p>
        </p:txBody>
      </p:sp>
      <p:sp>
        <p:nvSpPr>
          <p:cNvPr id="107" name="Text 105"/>
          <p:cNvSpPr txBox="1"/>
          <p:nvPr/>
        </p:nvSpPr>
        <p:spPr>
          <a:xfrm>
            <a:off x="6208776" y="3650566"/>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08" name="Shape 106"/>
          <p:cNvSpPr/>
          <p:nvPr/>
        </p:nvSpPr>
        <p:spPr>
          <a:xfrm>
            <a:off x="8220456" y="3723683"/>
            <a:ext cx="147027" cy="178730"/>
          </a:xfrm>
          <a:prstGeom prst="rect">
            <a:avLst/>
          </a:prstGeom>
          <a:solidFill>
            <a:srgbClr val="C2352F"/>
          </a:solidFill>
          <a:ln/>
        </p:spPr>
      </p:sp>
      <p:sp>
        <p:nvSpPr>
          <p:cNvPr id="109" name="Text 107"/>
          <p:cNvSpPr txBox="1"/>
          <p:nvPr/>
        </p:nvSpPr>
        <p:spPr>
          <a:xfrm>
            <a:off x="9153144" y="3650566"/>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$24K</a:t>
            </a:r>
            <a:endParaRPr lang="en-US" sz="1300" dirty="0"/>
          </a:p>
        </p:txBody>
      </p:sp>
      <p:sp>
        <p:nvSpPr>
          <p:cNvPr id="110" name="Text 108"/>
          <p:cNvSpPr txBox="1"/>
          <p:nvPr/>
        </p:nvSpPr>
        <p:spPr>
          <a:xfrm>
            <a:off x="9976104" y="3650566"/>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5.5%</a:t>
            </a:r>
            <a:endParaRPr lang="en-US" sz="1300" dirty="0"/>
          </a:p>
        </p:txBody>
      </p:sp>
      <p:sp>
        <p:nvSpPr>
          <p:cNvPr id="111" name="Text 109"/>
          <p:cNvSpPr txBox="1"/>
          <p:nvPr/>
        </p:nvSpPr>
        <p:spPr>
          <a:xfrm>
            <a:off x="10543032" y="3650566"/>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92</a:t>
            </a:r>
            <a:endParaRPr lang="en-US" sz="1300" dirty="0"/>
          </a:p>
        </p:txBody>
      </p:sp>
      <p:sp>
        <p:nvSpPr>
          <p:cNvPr id="112" name="Text 110"/>
          <p:cNvSpPr txBox="1"/>
          <p:nvPr/>
        </p:nvSpPr>
        <p:spPr>
          <a:xfrm>
            <a:off x="6208776" y="3975530"/>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13" name="Shape 111"/>
          <p:cNvSpPr/>
          <p:nvPr/>
        </p:nvSpPr>
        <p:spPr>
          <a:xfrm>
            <a:off x="8220456" y="4048647"/>
            <a:ext cx="130926" cy="178730"/>
          </a:xfrm>
          <a:prstGeom prst="rect">
            <a:avLst/>
          </a:prstGeom>
          <a:solidFill>
            <a:srgbClr val="C2352F"/>
          </a:solidFill>
          <a:ln/>
        </p:spPr>
      </p:sp>
      <p:sp>
        <p:nvSpPr>
          <p:cNvPr id="114" name="Text 112"/>
          <p:cNvSpPr txBox="1"/>
          <p:nvPr/>
        </p:nvSpPr>
        <p:spPr>
          <a:xfrm>
            <a:off x="9153144" y="3975530"/>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115" name="Text 113"/>
          <p:cNvSpPr txBox="1"/>
          <p:nvPr/>
        </p:nvSpPr>
        <p:spPr>
          <a:xfrm>
            <a:off x="9976104" y="3975530"/>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a:t>
            </a:r>
            <a:endParaRPr lang="en-US" sz="1300" dirty="0"/>
          </a:p>
        </p:txBody>
      </p:sp>
      <p:sp>
        <p:nvSpPr>
          <p:cNvPr id="116" name="Text 114"/>
          <p:cNvSpPr txBox="1"/>
          <p:nvPr/>
        </p:nvSpPr>
        <p:spPr>
          <a:xfrm>
            <a:off x="10543032" y="3975530"/>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160</a:t>
            </a:r>
            <a:endParaRPr lang="en-US" sz="1300" dirty="0"/>
          </a:p>
        </p:txBody>
      </p:sp>
      <p:sp>
        <p:nvSpPr>
          <p:cNvPr id="117" name="Text 115"/>
          <p:cNvSpPr txBox="1"/>
          <p:nvPr/>
        </p:nvSpPr>
        <p:spPr>
          <a:xfrm>
            <a:off x="6208776" y="4300494"/>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18" name="Shape 116"/>
          <p:cNvSpPr/>
          <p:nvPr/>
        </p:nvSpPr>
        <p:spPr>
          <a:xfrm>
            <a:off x="8220456" y="4373610"/>
            <a:ext cx="116489" cy="178730"/>
          </a:xfrm>
          <a:prstGeom prst="rect">
            <a:avLst/>
          </a:prstGeom>
          <a:solidFill>
            <a:srgbClr val="C2352F"/>
          </a:solidFill>
          <a:ln/>
        </p:spPr>
      </p:sp>
      <p:sp>
        <p:nvSpPr>
          <p:cNvPr id="119" name="Text 117"/>
          <p:cNvSpPr txBox="1"/>
          <p:nvPr/>
        </p:nvSpPr>
        <p:spPr>
          <a:xfrm>
            <a:off x="9153144" y="4300494"/>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$19K</a:t>
            </a:r>
            <a:endParaRPr lang="en-US" sz="1300" dirty="0"/>
          </a:p>
        </p:txBody>
      </p:sp>
      <p:sp>
        <p:nvSpPr>
          <p:cNvPr id="120" name="Text 118"/>
          <p:cNvSpPr txBox="1"/>
          <p:nvPr/>
        </p:nvSpPr>
        <p:spPr>
          <a:xfrm>
            <a:off x="9976104" y="4300494"/>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6.4%</a:t>
            </a:r>
            <a:endParaRPr lang="en-US" sz="1300" dirty="0"/>
          </a:p>
        </p:txBody>
      </p:sp>
      <p:sp>
        <p:nvSpPr>
          <p:cNvPr id="121" name="Text 119"/>
          <p:cNvSpPr txBox="1"/>
          <p:nvPr/>
        </p:nvSpPr>
        <p:spPr>
          <a:xfrm>
            <a:off x="10543032" y="4300494"/>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186</a:t>
            </a:r>
            <a:endParaRPr lang="en-US" sz="1300" dirty="0"/>
          </a:p>
        </p:txBody>
      </p:sp>
      <p:sp>
        <p:nvSpPr>
          <p:cNvPr id="122" name="Text 120"/>
          <p:cNvSpPr txBox="1"/>
          <p:nvPr/>
        </p:nvSpPr>
        <p:spPr>
          <a:xfrm>
            <a:off x="6208776" y="4625457"/>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23" name="Shape 121"/>
          <p:cNvSpPr/>
          <p:nvPr/>
        </p:nvSpPr>
        <p:spPr>
          <a:xfrm>
            <a:off x="8220456" y="4698574"/>
            <a:ext cx="112514" cy="178730"/>
          </a:xfrm>
          <a:prstGeom prst="rect">
            <a:avLst/>
          </a:prstGeom>
          <a:solidFill>
            <a:srgbClr val="C2352F"/>
          </a:solidFill>
          <a:ln/>
        </p:spPr>
      </p:sp>
      <p:sp>
        <p:nvSpPr>
          <p:cNvPr id="124" name="Text 122"/>
          <p:cNvSpPr txBox="1"/>
          <p:nvPr/>
        </p:nvSpPr>
        <p:spPr>
          <a:xfrm>
            <a:off x="9153144" y="4625457"/>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$18K</a:t>
            </a:r>
            <a:endParaRPr lang="en-US" sz="1300" dirty="0"/>
          </a:p>
        </p:txBody>
      </p:sp>
      <p:sp>
        <p:nvSpPr>
          <p:cNvPr id="125" name="Text 123"/>
          <p:cNvSpPr txBox="1"/>
          <p:nvPr/>
        </p:nvSpPr>
        <p:spPr>
          <a:xfrm>
            <a:off x="9976104" y="4625457"/>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4.5%</a:t>
            </a:r>
            <a:endParaRPr lang="en-US" sz="1300" dirty="0"/>
          </a:p>
        </p:txBody>
      </p:sp>
      <p:sp>
        <p:nvSpPr>
          <p:cNvPr id="126" name="Text 124"/>
          <p:cNvSpPr txBox="1"/>
          <p:nvPr/>
        </p:nvSpPr>
        <p:spPr>
          <a:xfrm>
            <a:off x="10543032" y="4625457"/>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55</a:t>
            </a:r>
            <a:endParaRPr lang="en-US" sz="1300" dirty="0"/>
          </a:p>
        </p:txBody>
      </p:sp>
      <p:sp>
        <p:nvSpPr>
          <p:cNvPr id="127" name="Text 125"/>
          <p:cNvSpPr txBox="1"/>
          <p:nvPr/>
        </p:nvSpPr>
        <p:spPr>
          <a:xfrm>
            <a:off x="6208776" y="4950421"/>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28" name="Shape 126"/>
          <p:cNvSpPr/>
          <p:nvPr/>
        </p:nvSpPr>
        <p:spPr>
          <a:xfrm>
            <a:off x="8220456" y="5023538"/>
            <a:ext cx="78509" cy="178730"/>
          </a:xfrm>
          <a:prstGeom prst="rect">
            <a:avLst/>
          </a:prstGeom>
          <a:solidFill>
            <a:srgbClr val="C2352F"/>
          </a:solidFill>
          <a:ln/>
        </p:spPr>
      </p:sp>
      <p:sp>
        <p:nvSpPr>
          <p:cNvPr id="129" name="Text 127"/>
          <p:cNvSpPr txBox="1"/>
          <p:nvPr/>
        </p:nvSpPr>
        <p:spPr>
          <a:xfrm>
            <a:off x="9153144" y="4950421"/>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$13K</a:t>
            </a:r>
            <a:endParaRPr lang="en-US" sz="1300" dirty="0"/>
          </a:p>
        </p:txBody>
      </p:sp>
      <p:sp>
        <p:nvSpPr>
          <p:cNvPr id="130" name="Text 128"/>
          <p:cNvSpPr txBox="1"/>
          <p:nvPr/>
        </p:nvSpPr>
        <p:spPr>
          <a:xfrm>
            <a:off x="9976104" y="4950421"/>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5.8%</a:t>
            </a:r>
            <a:endParaRPr lang="en-US" sz="1300" dirty="0"/>
          </a:p>
        </p:txBody>
      </p:sp>
      <p:sp>
        <p:nvSpPr>
          <p:cNvPr id="131" name="Text 129"/>
          <p:cNvSpPr txBox="1"/>
          <p:nvPr/>
        </p:nvSpPr>
        <p:spPr>
          <a:xfrm>
            <a:off x="10543032" y="4950421"/>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72</a:t>
            </a:r>
            <a:endParaRPr lang="en-US" sz="1300" dirty="0"/>
          </a:p>
        </p:txBody>
      </p:sp>
      <p:sp>
        <p:nvSpPr>
          <p:cNvPr id="132" name="Text 130"/>
          <p:cNvSpPr txBox="1"/>
          <p:nvPr/>
        </p:nvSpPr>
        <p:spPr>
          <a:xfrm>
            <a:off x="6208776" y="5275385"/>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33" name="Shape 131"/>
          <p:cNvSpPr/>
          <p:nvPr/>
        </p:nvSpPr>
        <p:spPr>
          <a:xfrm>
            <a:off x="8220456" y="5348501"/>
            <a:ext cx="62960" cy="178730"/>
          </a:xfrm>
          <a:prstGeom prst="rect">
            <a:avLst/>
          </a:prstGeom>
          <a:solidFill>
            <a:srgbClr val="C2352F"/>
          </a:solidFill>
          <a:ln/>
        </p:spPr>
      </p:sp>
      <p:sp>
        <p:nvSpPr>
          <p:cNvPr id="134" name="Text 132"/>
          <p:cNvSpPr txBox="1"/>
          <p:nvPr/>
        </p:nvSpPr>
        <p:spPr>
          <a:xfrm>
            <a:off x="9153144" y="5275385"/>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$10K</a:t>
            </a:r>
            <a:endParaRPr lang="en-US" sz="1300" dirty="0"/>
          </a:p>
        </p:txBody>
      </p:sp>
      <p:sp>
        <p:nvSpPr>
          <p:cNvPr id="135" name="Text 133"/>
          <p:cNvSpPr txBox="1"/>
          <p:nvPr/>
        </p:nvSpPr>
        <p:spPr>
          <a:xfrm>
            <a:off x="9976104" y="5275385"/>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136" name="Text 134"/>
          <p:cNvSpPr txBox="1"/>
          <p:nvPr/>
        </p:nvSpPr>
        <p:spPr>
          <a:xfrm>
            <a:off x="10543032" y="5275385"/>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78</a:t>
            </a:r>
            <a:endParaRPr lang="en-US" sz="1300" dirty="0"/>
          </a:p>
        </p:txBody>
      </p:sp>
      <p:sp>
        <p:nvSpPr>
          <p:cNvPr id="137" name="Text 135"/>
          <p:cNvSpPr txBox="1"/>
          <p:nvPr/>
        </p:nvSpPr>
        <p:spPr>
          <a:xfrm>
            <a:off x="6208776" y="5600348"/>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38" name="Shape 136"/>
          <p:cNvSpPr/>
          <p:nvPr/>
        </p:nvSpPr>
        <p:spPr>
          <a:xfrm>
            <a:off x="8220456" y="5673465"/>
            <a:ext cx="18288" cy="178730"/>
          </a:xfrm>
          <a:prstGeom prst="rect">
            <a:avLst/>
          </a:prstGeom>
          <a:solidFill>
            <a:srgbClr val="C2352F"/>
          </a:solidFill>
          <a:ln/>
        </p:spPr>
      </p:sp>
      <p:sp>
        <p:nvSpPr>
          <p:cNvPr id="139" name="Text 137"/>
          <p:cNvSpPr txBox="1"/>
          <p:nvPr/>
        </p:nvSpPr>
        <p:spPr>
          <a:xfrm>
            <a:off x="9153144" y="5600348"/>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$1K</a:t>
            </a:r>
            <a:endParaRPr lang="en-US" sz="1300" dirty="0"/>
          </a:p>
        </p:txBody>
      </p:sp>
      <p:sp>
        <p:nvSpPr>
          <p:cNvPr id="140" name="Text 138"/>
          <p:cNvSpPr txBox="1"/>
          <p:nvPr/>
        </p:nvSpPr>
        <p:spPr>
          <a:xfrm>
            <a:off x="9976104" y="5600348"/>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7.3%</a:t>
            </a:r>
            <a:endParaRPr lang="en-US" sz="1300" dirty="0"/>
          </a:p>
        </p:txBody>
      </p:sp>
      <p:sp>
        <p:nvSpPr>
          <p:cNvPr id="141" name="Text 139"/>
          <p:cNvSpPr txBox="1"/>
          <p:nvPr/>
        </p:nvSpPr>
        <p:spPr>
          <a:xfrm>
            <a:off x="10543032" y="5600348"/>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a:t>
            </a:r>
            <a:endParaRPr lang="en-US" sz="1300" dirty="0"/>
          </a:p>
        </p:txBody>
      </p:sp>
      <p:sp>
        <p:nvSpPr>
          <p:cNvPr id="142" name="Shape 140"/>
          <p:cNvSpPr/>
          <p:nvPr/>
        </p:nvSpPr>
        <p:spPr>
          <a:xfrm>
            <a:off x="457200" y="6126480"/>
            <a:ext cx="11274552" cy="371856"/>
          </a:xfrm>
          <a:prstGeom prst="rect">
            <a:avLst/>
          </a:prstGeom>
          <a:solidFill>
            <a:srgbClr val="FBEBEA"/>
          </a:solidFill>
          <a:ln/>
        </p:spPr>
      </p:sp>
      <p:sp>
        <p:nvSpPr>
          <p:cNvPr id="143" name="Text 141"/>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26 stores under 7.5% leave $1,356,881 a year: 8,527 services. Chevy LV has the most at $142,290.</a:t>
            </a:r>
            <a:endParaRPr lang="en-US" sz="1600" dirty="0"/>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Fuel Service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13.8%</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+13.8 pts</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8.2%</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+6.1 pts</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5.5%</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+5.3 pts</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4.5%</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9.3%</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 pts</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7.0%</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 pts</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3.0%</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 pts</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5.8%</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−0.2 pts</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6.0%</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−0.1 pts</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0.0%</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−0.0 pts</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10.6%</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+8.1 pts</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 pts</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4.8%</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+3.7 pts</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10.0%</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 pts</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2.4%</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+2.5 pts</a:t>
            </a:r>
            <a:endParaRPr lang="en-US" sz="1600" dirty="0"/>
          </a:p>
        </p:txBody>
      </p:sp>
      <p:sp>
        <p:nvSpPr>
          <p:cNvPr id="69" name="Shape 67"/>
          <p:cNvSpPr/>
          <p:nvPr/>
        </p:nvSpPr>
        <p:spPr>
          <a:xfrm>
            <a:off x="457200" y="6126480"/>
            <a:ext cx="11274552" cy="600456"/>
          </a:xfrm>
          <a:prstGeom prst="rect">
            <a:avLst/>
          </a:prstGeom>
          <a:solidFill>
            <a:srgbClr val="EDF4FA"/>
          </a:solidFill>
          <a:ln/>
        </p:spPr>
      </p:sp>
      <p:sp>
        <p:nvSpPr>
          <p:cNvPr id="70" name="Text 68"/>
          <p:cNvSpPr txBox="1"/>
          <p:nvPr/>
        </p:nvSpPr>
        <p:spPr>
          <a:xfrm>
            <a:off x="658368" y="6144768"/>
            <a:ext cx="10927080" cy="56388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Ask Subaru St George, Lincoln and LR LV what changed. Ask Subaru LV, CDJR Post Falls and Toyota Spokane what got in the way. Ask Mazda, Hyundai St George and Honda Spokane what they started this year.</a:t>
            </a:r>
            <a:endParaRPr lang="en-US" sz="1550" dirty="0"/>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Missed Opportunity by Store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602736"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425696" y="1316736"/>
            <a:ext cx="60350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Below</a:t>
            </a:r>
            <a:endParaRPr lang="en-US" sz="1400" dirty="0"/>
          </a:p>
        </p:txBody>
      </p:sp>
      <p:sp>
        <p:nvSpPr>
          <p:cNvPr id="8" name="Text 6"/>
          <p:cNvSpPr txBox="1"/>
          <p:nvPr/>
        </p:nvSpPr>
        <p:spPr>
          <a:xfrm>
            <a:off x="5029200"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Services</a:t>
            </a:r>
            <a:endParaRPr lang="en-US" sz="1400" dirty="0"/>
          </a:p>
        </p:txBody>
      </p:sp>
      <p:sp>
        <p:nvSpPr>
          <p:cNvPr id="9" name="Text 7"/>
          <p:cNvSpPr txBox="1"/>
          <p:nvPr/>
        </p:nvSpPr>
        <p:spPr>
          <a:xfrm>
            <a:off x="9153144"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76104" y="1316736"/>
            <a:ext cx="60350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Below</a:t>
            </a:r>
            <a:endParaRPr lang="en-US" sz="1400" dirty="0"/>
          </a:p>
        </p:txBody>
      </p:sp>
      <p:sp>
        <p:nvSpPr>
          <p:cNvPr id="11" name="Text 9"/>
          <p:cNvSpPr txBox="1"/>
          <p:nvPr/>
        </p:nvSpPr>
        <p:spPr>
          <a:xfrm>
            <a:off x="10579608"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Services</a:t>
            </a:r>
            <a:endParaRPr lang="en-US" sz="1400" dirty="0"/>
          </a:p>
        </p:txBody>
      </p:sp>
      <p:sp>
        <p:nvSpPr>
          <p:cNvPr id="12" name="Text 10"/>
          <p:cNvSpPr txBox="1"/>
          <p:nvPr/>
        </p:nvSpPr>
        <p:spPr>
          <a:xfrm>
            <a:off x="658368" y="1700784"/>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3" name="Shape 11"/>
          <p:cNvSpPr/>
          <p:nvPr/>
        </p:nvSpPr>
        <p:spPr>
          <a:xfrm>
            <a:off x="2670048" y="1760191"/>
            <a:ext cx="877824" cy="145218"/>
          </a:xfrm>
          <a:prstGeom prst="rect">
            <a:avLst/>
          </a:prstGeom>
          <a:solidFill>
            <a:srgbClr val="C2352F"/>
          </a:solidFill>
          <a:ln/>
        </p:spPr>
      </p:sp>
      <p:sp>
        <p:nvSpPr>
          <p:cNvPr id="14" name="Text 12"/>
          <p:cNvSpPr txBox="1"/>
          <p:nvPr/>
        </p:nvSpPr>
        <p:spPr>
          <a:xfrm>
            <a:off x="3602736" y="1700784"/>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$541K</a:t>
            </a:r>
            <a:endParaRPr lang="en-US" sz="1300" dirty="0"/>
          </a:p>
        </p:txBody>
      </p:sp>
      <p:sp>
        <p:nvSpPr>
          <p:cNvPr id="15" name="Text 13"/>
          <p:cNvSpPr txBox="1"/>
          <p:nvPr/>
        </p:nvSpPr>
        <p:spPr>
          <a:xfrm>
            <a:off x="4425696" y="1700784"/>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16" name="Text 14"/>
          <p:cNvSpPr txBox="1"/>
          <p:nvPr/>
        </p:nvSpPr>
        <p:spPr>
          <a:xfrm>
            <a:off x="5029200" y="1700784"/>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6,921</a:t>
            </a:r>
            <a:endParaRPr lang="en-US" sz="1300" dirty="0"/>
          </a:p>
        </p:txBody>
      </p:sp>
      <p:sp>
        <p:nvSpPr>
          <p:cNvPr id="17" name="Text 15"/>
          <p:cNvSpPr txBox="1"/>
          <p:nvPr/>
        </p:nvSpPr>
        <p:spPr>
          <a:xfrm>
            <a:off x="658368" y="1964817"/>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8" name="Shape 16"/>
          <p:cNvSpPr/>
          <p:nvPr/>
        </p:nvSpPr>
        <p:spPr>
          <a:xfrm>
            <a:off x="2670048" y="2024224"/>
            <a:ext cx="770483" cy="145218"/>
          </a:xfrm>
          <a:prstGeom prst="rect">
            <a:avLst/>
          </a:prstGeom>
          <a:solidFill>
            <a:srgbClr val="C2352F"/>
          </a:solidFill>
          <a:ln/>
        </p:spPr>
      </p:sp>
      <p:sp>
        <p:nvSpPr>
          <p:cNvPr id="19" name="Text 17"/>
          <p:cNvSpPr txBox="1"/>
          <p:nvPr/>
        </p:nvSpPr>
        <p:spPr>
          <a:xfrm>
            <a:off x="3602736" y="1964817"/>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$475K</a:t>
            </a:r>
            <a:endParaRPr lang="en-US" sz="1300" dirty="0"/>
          </a:p>
        </p:txBody>
      </p:sp>
      <p:sp>
        <p:nvSpPr>
          <p:cNvPr id="20" name="Text 18"/>
          <p:cNvSpPr txBox="1"/>
          <p:nvPr/>
        </p:nvSpPr>
        <p:spPr>
          <a:xfrm>
            <a:off x="4425696" y="1964817"/>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21" name="Text 19"/>
          <p:cNvSpPr txBox="1"/>
          <p:nvPr/>
        </p:nvSpPr>
        <p:spPr>
          <a:xfrm>
            <a:off x="5029200" y="1964817"/>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4,236</a:t>
            </a:r>
            <a:endParaRPr lang="en-US" sz="1300" dirty="0"/>
          </a:p>
        </p:txBody>
      </p:sp>
      <p:sp>
        <p:nvSpPr>
          <p:cNvPr id="22" name="Text 20"/>
          <p:cNvSpPr txBox="1"/>
          <p:nvPr/>
        </p:nvSpPr>
        <p:spPr>
          <a:xfrm>
            <a:off x="658368" y="2228850"/>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23" name="Shape 21"/>
          <p:cNvSpPr/>
          <p:nvPr/>
        </p:nvSpPr>
        <p:spPr>
          <a:xfrm>
            <a:off x="2670048" y="2288257"/>
            <a:ext cx="577040" cy="145218"/>
          </a:xfrm>
          <a:prstGeom prst="rect">
            <a:avLst/>
          </a:prstGeom>
          <a:solidFill>
            <a:srgbClr val="C2352F"/>
          </a:solidFill>
          <a:ln/>
        </p:spPr>
      </p:sp>
      <p:sp>
        <p:nvSpPr>
          <p:cNvPr id="24" name="Text 22"/>
          <p:cNvSpPr txBox="1"/>
          <p:nvPr/>
        </p:nvSpPr>
        <p:spPr>
          <a:xfrm>
            <a:off x="3602736" y="2228850"/>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$356K</a:t>
            </a:r>
            <a:endParaRPr lang="en-US" sz="1300" dirty="0"/>
          </a:p>
        </p:txBody>
      </p:sp>
      <p:sp>
        <p:nvSpPr>
          <p:cNvPr id="25" name="Text 23"/>
          <p:cNvSpPr txBox="1"/>
          <p:nvPr/>
        </p:nvSpPr>
        <p:spPr>
          <a:xfrm>
            <a:off x="4425696" y="2228850"/>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26" name="Text 24"/>
          <p:cNvSpPr txBox="1"/>
          <p:nvPr/>
        </p:nvSpPr>
        <p:spPr>
          <a:xfrm>
            <a:off x="5029200" y="2228850"/>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4,659</a:t>
            </a:r>
            <a:endParaRPr lang="en-US" sz="1300" dirty="0"/>
          </a:p>
        </p:txBody>
      </p:sp>
      <p:sp>
        <p:nvSpPr>
          <p:cNvPr id="27" name="Text 25"/>
          <p:cNvSpPr txBox="1"/>
          <p:nvPr/>
        </p:nvSpPr>
        <p:spPr>
          <a:xfrm>
            <a:off x="658368" y="2492883"/>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28" name="Shape 26"/>
          <p:cNvSpPr/>
          <p:nvPr/>
        </p:nvSpPr>
        <p:spPr>
          <a:xfrm>
            <a:off x="2670048" y="2552290"/>
            <a:ext cx="501457" cy="145218"/>
          </a:xfrm>
          <a:prstGeom prst="rect">
            <a:avLst/>
          </a:prstGeom>
          <a:solidFill>
            <a:srgbClr val="C2352F"/>
          </a:solidFill>
          <a:ln/>
        </p:spPr>
      </p:sp>
      <p:sp>
        <p:nvSpPr>
          <p:cNvPr id="29" name="Text 27"/>
          <p:cNvSpPr txBox="1"/>
          <p:nvPr/>
        </p:nvSpPr>
        <p:spPr>
          <a:xfrm>
            <a:off x="3602736" y="2492883"/>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$309K</a:t>
            </a:r>
            <a:endParaRPr lang="en-US" sz="1300" dirty="0"/>
          </a:p>
        </p:txBody>
      </p:sp>
      <p:sp>
        <p:nvSpPr>
          <p:cNvPr id="30" name="Text 28"/>
          <p:cNvSpPr txBox="1"/>
          <p:nvPr/>
        </p:nvSpPr>
        <p:spPr>
          <a:xfrm>
            <a:off x="4425696" y="2492883"/>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31" name="Text 29"/>
          <p:cNvSpPr txBox="1"/>
          <p:nvPr/>
        </p:nvSpPr>
        <p:spPr>
          <a:xfrm>
            <a:off x="5029200" y="2492883"/>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4,054</a:t>
            </a:r>
            <a:endParaRPr lang="en-US" sz="1300" dirty="0"/>
          </a:p>
        </p:txBody>
      </p:sp>
      <p:sp>
        <p:nvSpPr>
          <p:cNvPr id="32" name="Text 30"/>
          <p:cNvSpPr txBox="1"/>
          <p:nvPr/>
        </p:nvSpPr>
        <p:spPr>
          <a:xfrm>
            <a:off x="658368" y="2756916"/>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33" name="Shape 31"/>
          <p:cNvSpPr/>
          <p:nvPr/>
        </p:nvSpPr>
        <p:spPr>
          <a:xfrm>
            <a:off x="2670048" y="2816323"/>
            <a:ext cx="400038" cy="145218"/>
          </a:xfrm>
          <a:prstGeom prst="rect">
            <a:avLst/>
          </a:prstGeom>
          <a:solidFill>
            <a:srgbClr val="C2352F"/>
          </a:solidFill>
          <a:ln/>
        </p:spPr>
      </p:sp>
      <p:sp>
        <p:nvSpPr>
          <p:cNvPr id="34" name="Text 32"/>
          <p:cNvSpPr txBox="1"/>
          <p:nvPr/>
        </p:nvSpPr>
        <p:spPr>
          <a:xfrm>
            <a:off x="3602736" y="2756916"/>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$247K</a:t>
            </a:r>
            <a:endParaRPr lang="en-US" sz="1300" dirty="0"/>
          </a:p>
        </p:txBody>
      </p:sp>
      <p:sp>
        <p:nvSpPr>
          <p:cNvPr id="35" name="Text 33"/>
          <p:cNvSpPr txBox="1"/>
          <p:nvPr/>
        </p:nvSpPr>
        <p:spPr>
          <a:xfrm>
            <a:off x="4425696" y="2756916"/>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36" name="Text 34"/>
          <p:cNvSpPr txBox="1"/>
          <p:nvPr/>
        </p:nvSpPr>
        <p:spPr>
          <a:xfrm>
            <a:off x="5029200" y="2756916"/>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2,278</a:t>
            </a:r>
            <a:endParaRPr lang="en-US" sz="1300" dirty="0"/>
          </a:p>
        </p:txBody>
      </p:sp>
      <p:sp>
        <p:nvSpPr>
          <p:cNvPr id="37" name="Text 35"/>
          <p:cNvSpPr txBox="1"/>
          <p:nvPr/>
        </p:nvSpPr>
        <p:spPr>
          <a:xfrm>
            <a:off x="658368" y="3020949"/>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38" name="Shape 36"/>
          <p:cNvSpPr/>
          <p:nvPr/>
        </p:nvSpPr>
        <p:spPr>
          <a:xfrm>
            <a:off x="2670048" y="3080356"/>
            <a:ext cx="397072" cy="145218"/>
          </a:xfrm>
          <a:prstGeom prst="rect">
            <a:avLst/>
          </a:prstGeom>
          <a:solidFill>
            <a:srgbClr val="C2352F"/>
          </a:solidFill>
          <a:ln/>
        </p:spPr>
      </p:sp>
      <p:sp>
        <p:nvSpPr>
          <p:cNvPr id="39" name="Text 37"/>
          <p:cNvSpPr txBox="1"/>
          <p:nvPr/>
        </p:nvSpPr>
        <p:spPr>
          <a:xfrm>
            <a:off x="3602736" y="3020949"/>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$245K</a:t>
            </a:r>
            <a:endParaRPr lang="en-US" sz="1300" dirty="0"/>
          </a:p>
        </p:txBody>
      </p:sp>
      <p:sp>
        <p:nvSpPr>
          <p:cNvPr id="40" name="Text 38"/>
          <p:cNvSpPr txBox="1"/>
          <p:nvPr/>
        </p:nvSpPr>
        <p:spPr>
          <a:xfrm>
            <a:off x="4425696" y="3020949"/>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41" name="Text 39"/>
          <p:cNvSpPr txBox="1"/>
          <p:nvPr/>
        </p:nvSpPr>
        <p:spPr>
          <a:xfrm>
            <a:off x="5029200" y="3020949"/>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2,484</a:t>
            </a:r>
            <a:endParaRPr lang="en-US" sz="1300" dirty="0"/>
          </a:p>
        </p:txBody>
      </p:sp>
      <p:sp>
        <p:nvSpPr>
          <p:cNvPr id="42" name="Text 40"/>
          <p:cNvSpPr txBox="1"/>
          <p:nvPr/>
        </p:nvSpPr>
        <p:spPr>
          <a:xfrm>
            <a:off x="658368" y="3284982"/>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43" name="Shape 41"/>
          <p:cNvSpPr/>
          <p:nvPr/>
        </p:nvSpPr>
        <p:spPr>
          <a:xfrm>
            <a:off x="2670048" y="3344389"/>
            <a:ext cx="377578" cy="145218"/>
          </a:xfrm>
          <a:prstGeom prst="rect">
            <a:avLst/>
          </a:prstGeom>
          <a:solidFill>
            <a:srgbClr val="C2352F"/>
          </a:solidFill>
          <a:ln/>
        </p:spPr>
      </p:sp>
      <p:sp>
        <p:nvSpPr>
          <p:cNvPr id="44" name="Text 42"/>
          <p:cNvSpPr txBox="1"/>
          <p:nvPr/>
        </p:nvSpPr>
        <p:spPr>
          <a:xfrm>
            <a:off x="3602736" y="3284982"/>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$233K</a:t>
            </a:r>
            <a:endParaRPr lang="en-US" sz="1300" dirty="0"/>
          </a:p>
        </p:txBody>
      </p:sp>
      <p:sp>
        <p:nvSpPr>
          <p:cNvPr id="45" name="Text 43"/>
          <p:cNvSpPr txBox="1"/>
          <p:nvPr/>
        </p:nvSpPr>
        <p:spPr>
          <a:xfrm>
            <a:off x="4425696" y="3284982"/>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46" name="Text 44"/>
          <p:cNvSpPr txBox="1"/>
          <p:nvPr/>
        </p:nvSpPr>
        <p:spPr>
          <a:xfrm>
            <a:off x="5029200" y="3284982"/>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2,541</a:t>
            </a:r>
            <a:endParaRPr lang="en-US" sz="1300" dirty="0"/>
          </a:p>
        </p:txBody>
      </p:sp>
      <p:sp>
        <p:nvSpPr>
          <p:cNvPr id="47" name="Text 45"/>
          <p:cNvSpPr txBox="1"/>
          <p:nvPr/>
        </p:nvSpPr>
        <p:spPr>
          <a:xfrm>
            <a:off x="658368" y="3549015"/>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48" name="Shape 46"/>
          <p:cNvSpPr/>
          <p:nvPr/>
        </p:nvSpPr>
        <p:spPr>
          <a:xfrm>
            <a:off x="2670048" y="3608422"/>
            <a:ext cx="362401" cy="145218"/>
          </a:xfrm>
          <a:prstGeom prst="rect">
            <a:avLst/>
          </a:prstGeom>
          <a:solidFill>
            <a:srgbClr val="C2352F"/>
          </a:solidFill>
          <a:ln/>
        </p:spPr>
      </p:sp>
      <p:sp>
        <p:nvSpPr>
          <p:cNvPr id="49" name="Text 47"/>
          <p:cNvSpPr txBox="1"/>
          <p:nvPr/>
        </p:nvSpPr>
        <p:spPr>
          <a:xfrm>
            <a:off x="3602736" y="3549015"/>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$223K</a:t>
            </a:r>
            <a:endParaRPr lang="en-US" sz="1300" dirty="0"/>
          </a:p>
        </p:txBody>
      </p:sp>
      <p:sp>
        <p:nvSpPr>
          <p:cNvPr id="50" name="Text 48"/>
          <p:cNvSpPr txBox="1"/>
          <p:nvPr/>
        </p:nvSpPr>
        <p:spPr>
          <a:xfrm>
            <a:off x="4425696" y="3549015"/>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51" name="Text 49"/>
          <p:cNvSpPr txBox="1"/>
          <p:nvPr/>
        </p:nvSpPr>
        <p:spPr>
          <a:xfrm>
            <a:off x="5029200" y="3549015"/>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2,304</a:t>
            </a:r>
            <a:endParaRPr lang="en-US" sz="1300" dirty="0"/>
          </a:p>
        </p:txBody>
      </p:sp>
      <p:sp>
        <p:nvSpPr>
          <p:cNvPr id="52" name="Text 50"/>
          <p:cNvSpPr txBox="1"/>
          <p:nvPr/>
        </p:nvSpPr>
        <p:spPr>
          <a:xfrm>
            <a:off x="658368" y="3813048"/>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53" name="Shape 51"/>
          <p:cNvSpPr/>
          <p:nvPr/>
        </p:nvSpPr>
        <p:spPr>
          <a:xfrm>
            <a:off x="2670048" y="3872455"/>
            <a:ext cx="349788" cy="145218"/>
          </a:xfrm>
          <a:prstGeom prst="rect">
            <a:avLst/>
          </a:prstGeom>
          <a:solidFill>
            <a:srgbClr val="C2352F"/>
          </a:solidFill>
          <a:ln/>
        </p:spPr>
      </p:sp>
      <p:sp>
        <p:nvSpPr>
          <p:cNvPr id="54" name="Text 52"/>
          <p:cNvSpPr txBox="1"/>
          <p:nvPr/>
        </p:nvSpPr>
        <p:spPr>
          <a:xfrm>
            <a:off x="3602736" y="3813048"/>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$216K</a:t>
            </a:r>
            <a:endParaRPr lang="en-US" sz="1300" dirty="0"/>
          </a:p>
        </p:txBody>
      </p:sp>
      <p:sp>
        <p:nvSpPr>
          <p:cNvPr id="55" name="Text 53"/>
          <p:cNvSpPr txBox="1"/>
          <p:nvPr/>
        </p:nvSpPr>
        <p:spPr>
          <a:xfrm>
            <a:off x="4425696" y="3813048"/>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56" name="Text 54"/>
          <p:cNvSpPr txBox="1"/>
          <p:nvPr/>
        </p:nvSpPr>
        <p:spPr>
          <a:xfrm>
            <a:off x="5029200" y="3813048"/>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1,536</a:t>
            </a:r>
            <a:endParaRPr lang="en-US" sz="1300" dirty="0"/>
          </a:p>
        </p:txBody>
      </p:sp>
      <p:sp>
        <p:nvSpPr>
          <p:cNvPr id="57" name="Text 55"/>
          <p:cNvSpPr txBox="1"/>
          <p:nvPr/>
        </p:nvSpPr>
        <p:spPr>
          <a:xfrm>
            <a:off x="658368" y="4077081"/>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58" name="Shape 56"/>
          <p:cNvSpPr/>
          <p:nvPr/>
        </p:nvSpPr>
        <p:spPr>
          <a:xfrm>
            <a:off x="2670048" y="4136488"/>
            <a:ext cx="324451" cy="145218"/>
          </a:xfrm>
          <a:prstGeom prst="rect">
            <a:avLst/>
          </a:prstGeom>
          <a:solidFill>
            <a:srgbClr val="C2352F"/>
          </a:solidFill>
          <a:ln/>
        </p:spPr>
      </p:sp>
      <p:sp>
        <p:nvSpPr>
          <p:cNvPr id="59" name="Text 57"/>
          <p:cNvSpPr txBox="1"/>
          <p:nvPr/>
        </p:nvSpPr>
        <p:spPr>
          <a:xfrm>
            <a:off x="3602736" y="4077081"/>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$200K</a:t>
            </a:r>
            <a:endParaRPr lang="en-US" sz="1300" dirty="0"/>
          </a:p>
        </p:txBody>
      </p:sp>
      <p:sp>
        <p:nvSpPr>
          <p:cNvPr id="60" name="Text 58"/>
          <p:cNvSpPr txBox="1"/>
          <p:nvPr/>
        </p:nvSpPr>
        <p:spPr>
          <a:xfrm>
            <a:off x="4425696" y="4077081"/>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61" name="Text 59"/>
          <p:cNvSpPr txBox="1"/>
          <p:nvPr/>
        </p:nvSpPr>
        <p:spPr>
          <a:xfrm>
            <a:off x="5029200" y="4077081"/>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1,676</a:t>
            </a:r>
            <a:endParaRPr lang="en-US" sz="1300" dirty="0"/>
          </a:p>
        </p:txBody>
      </p:sp>
      <p:sp>
        <p:nvSpPr>
          <p:cNvPr id="62" name="Text 60"/>
          <p:cNvSpPr txBox="1"/>
          <p:nvPr/>
        </p:nvSpPr>
        <p:spPr>
          <a:xfrm>
            <a:off x="658368" y="4341114"/>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63" name="Shape 61"/>
          <p:cNvSpPr/>
          <p:nvPr/>
        </p:nvSpPr>
        <p:spPr>
          <a:xfrm>
            <a:off x="2670048" y="4400521"/>
            <a:ext cx="312937" cy="145218"/>
          </a:xfrm>
          <a:prstGeom prst="rect">
            <a:avLst/>
          </a:prstGeom>
          <a:solidFill>
            <a:srgbClr val="C2352F"/>
          </a:solidFill>
          <a:ln/>
        </p:spPr>
      </p:sp>
      <p:sp>
        <p:nvSpPr>
          <p:cNvPr id="64" name="Text 62"/>
          <p:cNvSpPr txBox="1"/>
          <p:nvPr/>
        </p:nvSpPr>
        <p:spPr>
          <a:xfrm>
            <a:off x="3602736" y="4341114"/>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$193K</a:t>
            </a:r>
            <a:endParaRPr lang="en-US" sz="1300" dirty="0"/>
          </a:p>
        </p:txBody>
      </p:sp>
      <p:sp>
        <p:nvSpPr>
          <p:cNvPr id="65" name="Text 63"/>
          <p:cNvSpPr txBox="1"/>
          <p:nvPr/>
        </p:nvSpPr>
        <p:spPr>
          <a:xfrm>
            <a:off x="4425696" y="4341114"/>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66" name="Text 64"/>
          <p:cNvSpPr txBox="1"/>
          <p:nvPr/>
        </p:nvSpPr>
        <p:spPr>
          <a:xfrm>
            <a:off x="5029200" y="4341114"/>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1,512</a:t>
            </a:r>
            <a:endParaRPr lang="en-US" sz="1300" dirty="0"/>
          </a:p>
        </p:txBody>
      </p:sp>
      <p:sp>
        <p:nvSpPr>
          <p:cNvPr id="67" name="Text 65"/>
          <p:cNvSpPr txBox="1"/>
          <p:nvPr/>
        </p:nvSpPr>
        <p:spPr>
          <a:xfrm>
            <a:off x="658368" y="4605147"/>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68" name="Shape 66"/>
          <p:cNvSpPr/>
          <p:nvPr/>
        </p:nvSpPr>
        <p:spPr>
          <a:xfrm>
            <a:off x="2670048" y="4664554"/>
            <a:ext cx="310634" cy="145218"/>
          </a:xfrm>
          <a:prstGeom prst="rect">
            <a:avLst/>
          </a:prstGeom>
          <a:solidFill>
            <a:srgbClr val="C2352F"/>
          </a:solidFill>
          <a:ln/>
        </p:spPr>
      </p:sp>
      <p:sp>
        <p:nvSpPr>
          <p:cNvPr id="69" name="Text 67"/>
          <p:cNvSpPr txBox="1"/>
          <p:nvPr/>
        </p:nvSpPr>
        <p:spPr>
          <a:xfrm>
            <a:off x="3602736" y="4605147"/>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$191K</a:t>
            </a:r>
            <a:endParaRPr lang="en-US" sz="1300" dirty="0"/>
          </a:p>
        </p:txBody>
      </p:sp>
      <p:sp>
        <p:nvSpPr>
          <p:cNvPr id="70" name="Text 68"/>
          <p:cNvSpPr txBox="1"/>
          <p:nvPr/>
        </p:nvSpPr>
        <p:spPr>
          <a:xfrm>
            <a:off x="4425696" y="4605147"/>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71" name="Text 69"/>
          <p:cNvSpPr txBox="1"/>
          <p:nvPr/>
        </p:nvSpPr>
        <p:spPr>
          <a:xfrm>
            <a:off x="5029200" y="4605147"/>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2,329</a:t>
            </a:r>
            <a:endParaRPr lang="en-US" sz="1300" dirty="0"/>
          </a:p>
        </p:txBody>
      </p:sp>
      <p:sp>
        <p:nvSpPr>
          <p:cNvPr id="72" name="Text 70"/>
          <p:cNvSpPr txBox="1"/>
          <p:nvPr/>
        </p:nvSpPr>
        <p:spPr>
          <a:xfrm>
            <a:off x="658368" y="4869180"/>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73" name="Shape 71"/>
          <p:cNvSpPr/>
          <p:nvPr/>
        </p:nvSpPr>
        <p:spPr>
          <a:xfrm>
            <a:off x="2670048" y="4928587"/>
            <a:ext cx="239376" cy="145218"/>
          </a:xfrm>
          <a:prstGeom prst="rect">
            <a:avLst/>
          </a:prstGeom>
          <a:solidFill>
            <a:srgbClr val="C2352F"/>
          </a:solidFill>
          <a:ln/>
        </p:spPr>
      </p:sp>
      <p:sp>
        <p:nvSpPr>
          <p:cNvPr id="74" name="Text 72"/>
          <p:cNvSpPr txBox="1"/>
          <p:nvPr/>
        </p:nvSpPr>
        <p:spPr>
          <a:xfrm>
            <a:off x="3602736" y="4869180"/>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$148K</a:t>
            </a:r>
            <a:endParaRPr lang="en-US" sz="1300" dirty="0"/>
          </a:p>
        </p:txBody>
      </p:sp>
      <p:sp>
        <p:nvSpPr>
          <p:cNvPr id="75" name="Text 73"/>
          <p:cNvSpPr txBox="1"/>
          <p:nvPr/>
        </p:nvSpPr>
        <p:spPr>
          <a:xfrm>
            <a:off x="4425696" y="4869180"/>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 of 4</a:t>
            </a:r>
            <a:endParaRPr lang="en-US" sz="1300" dirty="0"/>
          </a:p>
        </p:txBody>
      </p:sp>
      <p:sp>
        <p:nvSpPr>
          <p:cNvPr id="76" name="Text 74"/>
          <p:cNvSpPr txBox="1"/>
          <p:nvPr/>
        </p:nvSpPr>
        <p:spPr>
          <a:xfrm>
            <a:off x="5029200" y="4869180"/>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1,128</a:t>
            </a:r>
            <a:endParaRPr lang="en-US" sz="1300" dirty="0"/>
          </a:p>
        </p:txBody>
      </p:sp>
      <p:sp>
        <p:nvSpPr>
          <p:cNvPr id="77" name="Text 75"/>
          <p:cNvSpPr txBox="1"/>
          <p:nvPr/>
        </p:nvSpPr>
        <p:spPr>
          <a:xfrm>
            <a:off x="658368" y="5133213"/>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78" name="Shape 76"/>
          <p:cNvSpPr/>
          <p:nvPr/>
        </p:nvSpPr>
        <p:spPr>
          <a:xfrm>
            <a:off x="2670048" y="5192620"/>
            <a:ext cx="227976" cy="145218"/>
          </a:xfrm>
          <a:prstGeom prst="rect">
            <a:avLst/>
          </a:prstGeom>
          <a:solidFill>
            <a:srgbClr val="C2352F"/>
          </a:solidFill>
          <a:ln/>
        </p:spPr>
      </p:sp>
      <p:sp>
        <p:nvSpPr>
          <p:cNvPr id="79" name="Text 77"/>
          <p:cNvSpPr txBox="1"/>
          <p:nvPr/>
        </p:nvSpPr>
        <p:spPr>
          <a:xfrm>
            <a:off x="3602736" y="5133213"/>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$141K</a:t>
            </a:r>
            <a:endParaRPr lang="en-US" sz="1300" dirty="0"/>
          </a:p>
        </p:txBody>
      </p:sp>
      <p:sp>
        <p:nvSpPr>
          <p:cNvPr id="80" name="Text 78"/>
          <p:cNvSpPr txBox="1"/>
          <p:nvPr/>
        </p:nvSpPr>
        <p:spPr>
          <a:xfrm>
            <a:off x="4425696" y="5133213"/>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81" name="Text 79"/>
          <p:cNvSpPr txBox="1"/>
          <p:nvPr/>
        </p:nvSpPr>
        <p:spPr>
          <a:xfrm>
            <a:off x="5029200" y="5133213"/>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1,424</a:t>
            </a:r>
            <a:endParaRPr lang="en-US" sz="1300" dirty="0"/>
          </a:p>
        </p:txBody>
      </p:sp>
      <p:sp>
        <p:nvSpPr>
          <p:cNvPr id="82" name="Text 80"/>
          <p:cNvSpPr txBox="1"/>
          <p:nvPr/>
        </p:nvSpPr>
        <p:spPr>
          <a:xfrm>
            <a:off x="658368" y="5397246"/>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83" name="Shape 81"/>
          <p:cNvSpPr/>
          <p:nvPr/>
        </p:nvSpPr>
        <p:spPr>
          <a:xfrm>
            <a:off x="2670048" y="5456653"/>
            <a:ext cx="226887" cy="145218"/>
          </a:xfrm>
          <a:prstGeom prst="rect">
            <a:avLst/>
          </a:prstGeom>
          <a:solidFill>
            <a:srgbClr val="C2352F"/>
          </a:solidFill>
          <a:ln/>
        </p:spPr>
      </p:sp>
      <p:sp>
        <p:nvSpPr>
          <p:cNvPr id="84" name="Text 82"/>
          <p:cNvSpPr txBox="1"/>
          <p:nvPr/>
        </p:nvSpPr>
        <p:spPr>
          <a:xfrm>
            <a:off x="3602736" y="5397246"/>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$140K</a:t>
            </a:r>
            <a:endParaRPr lang="en-US" sz="1300" dirty="0"/>
          </a:p>
        </p:txBody>
      </p:sp>
      <p:sp>
        <p:nvSpPr>
          <p:cNvPr id="85" name="Text 83"/>
          <p:cNvSpPr txBox="1"/>
          <p:nvPr/>
        </p:nvSpPr>
        <p:spPr>
          <a:xfrm>
            <a:off x="4425696" y="5397246"/>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86" name="Text 84"/>
          <p:cNvSpPr txBox="1"/>
          <p:nvPr/>
        </p:nvSpPr>
        <p:spPr>
          <a:xfrm>
            <a:off x="5029200" y="5397246"/>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1,103</a:t>
            </a:r>
            <a:endParaRPr lang="en-US" sz="1300" dirty="0"/>
          </a:p>
        </p:txBody>
      </p:sp>
      <p:sp>
        <p:nvSpPr>
          <p:cNvPr id="87" name="Text 85"/>
          <p:cNvSpPr txBox="1"/>
          <p:nvPr/>
        </p:nvSpPr>
        <p:spPr>
          <a:xfrm>
            <a:off x="658368" y="5661279"/>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88" name="Shape 86"/>
          <p:cNvSpPr/>
          <p:nvPr/>
        </p:nvSpPr>
        <p:spPr>
          <a:xfrm>
            <a:off x="2670048" y="5720686"/>
            <a:ext cx="215338" cy="145218"/>
          </a:xfrm>
          <a:prstGeom prst="rect">
            <a:avLst/>
          </a:prstGeom>
          <a:solidFill>
            <a:srgbClr val="C2352F"/>
          </a:solidFill>
          <a:ln/>
        </p:spPr>
      </p:sp>
      <p:sp>
        <p:nvSpPr>
          <p:cNvPr id="89" name="Text 87"/>
          <p:cNvSpPr txBox="1"/>
          <p:nvPr/>
        </p:nvSpPr>
        <p:spPr>
          <a:xfrm>
            <a:off x="3602736" y="5661279"/>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$133K</a:t>
            </a:r>
            <a:endParaRPr lang="en-US" sz="1300" dirty="0"/>
          </a:p>
        </p:txBody>
      </p:sp>
      <p:sp>
        <p:nvSpPr>
          <p:cNvPr id="90" name="Text 88"/>
          <p:cNvSpPr txBox="1"/>
          <p:nvPr/>
        </p:nvSpPr>
        <p:spPr>
          <a:xfrm>
            <a:off x="4425696" y="5661279"/>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91" name="Text 89"/>
          <p:cNvSpPr txBox="1"/>
          <p:nvPr/>
        </p:nvSpPr>
        <p:spPr>
          <a:xfrm>
            <a:off x="5029200" y="5661279"/>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1,466</a:t>
            </a:r>
            <a:endParaRPr lang="en-US" sz="1300" dirty="0"/>
          </a:p>
        </p:txBody>
      </p:sp>
      <p:sp>
        <p:nvSpPr>
          <p:cNvPr id="92" name="Text 90"/>
          <p:cNvSpPr txBox="1"/>
          <p:nvPr/>
        </p:nvSpPr>
        <p:spPr>
          <a:xfrm>
            <a:off x="6208776" y="1700784"/>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93" name="Shape 91"/>
          <p:cNvSpPr/>
          <p:nvPr/>
        </p:nvSpPr>
        <p:spPr>
          <a:xfrm>
            <a:off x="8220456" y="1760191"/>
            <a:ext cx="204347" cy="145218"/>
          </a:xfrm>
          <a:prstGeom prst="rect">
            <a:avLst/>
          </a:prstGeom>
          <a:solidFill>
            <a:srgbClr val="C2352F"/>
          </a:solidFill>
          <a:ln/>
        </p:spPr>
      </p:sp>
      <p:sp>
        <p:nvSpPr>
          <p:cNvPr id="94" name="Text 92"/>
          <p:cNvSpPr txBox="1"/>
          <p:nvPr/>
        </p:nvSpPr>
        <p:spPr>
          <a:xfrm>
            <a:off x="9153144" y="1700784"/>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$126K</a:t>
            </a:r>
            <a:endParaRPr lang="en-US" sz="1300" dirty="0"/>
          </a:p>
        </p:txBody>
      </p:sp>
      <p:sp>
        <p:nvSpPr>
          <p:cNvPr id="95" name="Text 93"/>
          <p:cNvSpPr txBox="1"/>
          <p:nvPr/>
        </p:nvSpPr>
        <p:spPr>
          <a:xfrm>
            <a:off x="9976104" y="1700784"/>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96" name="Text 94"/>
          <p:cNvSpPr txBox="1"/>
          <p:nvPr/>
        </p:nvSpPr>
        <p:spPr>
          <a:xfrm>
            <a:off x="10579608" y="1700784"/>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1,273</a:t>
            </a:r>
            <a:endParaRPr lang="en-US" sz="1300" dirty="0"/>
          </a:p>
        </p:txBody>
      </p:sp>
      <p:sp>
        <p:nvSpPr>
          <p:cNvPr id="97" name="Text 95"/>
          <p:cNvSpPr txBox="1"/>
          <p:nvPr/>
        </p:nvSpPr>
        <p:spPr>
          <a:xfrm>
            <a:off x="6208776" y="1964817"/>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98" name="Shape 96"/>
          <p:cNvSpPr/>
          <p:nvPr/>
        </p:nvSpPr>
        <p:spPr>
          <a:xfrm>
            <a:off x="8220456" y="2024224"/>
            <a:ext cx="142425" cy="145218"/>
          </a:xfrm>
          <a:prstGeom prst="rect">
            <a:avLst/>
          </a:prstGeom>
          <a:solidFill>
            <a:srgbClr val="C2352F"/>
          </a:solidFill>
          <a:ln/>
        </p:spPr>
      </p:sp>
      <p:sp>
        <p:nvSpPr>
          <p:cNvPr id="99" name="Text 97"/>
          <p:cNvSpPr txBox="1"/>
          <p:nvPr/>
        </p:nvSpPr>
        <p:spPr>
          <a:xfrm>
            <a:off x="9153144" y="1964817"/>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$88K</a:t>
            </a:r>
            <a:endParaRPr lang="en-US" sz="1300" dirty="0"/>
          </a:p>
        </p:txBody>
      </p:sp>
      <p:sp>
        <p:nvSpPr>
          <p:cNvPr id="100" name="Text 98"/>
          <p:cNvSpPr txBox="1"/>
          <p:nvPr/>
        </p:nvSpPr>
        <p:spPr>
          <a:xfrm>
            <a:off x="9976104" y="1964817"/>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101" name="Text 99"/>
          <p:cNvSpPr txBox="1"/>
          <p:nvPr/>
        </p:nvSpPr>
        <p:spPr>
          <a:xfrm>
            <a:off x="10579608" y="1964817"/>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1,070</a:t>
            </a:r>
            <a:endParaRPr lang="en-US" sz="1300" dirty="0"/>
          </a:p>
        </p:txBody>
      </p:sp>
      <p:sp>
        <p:nvSpPr>
          <p:cNvPr id="102" name="Text 100"/>
          <p:cNvSpPr txBox="1"/>
          <p:nvPr/>
        </p:nvSpPr>
        <p:spPr>
          <a:xfrm>
            <a:off x="6208776" y="2228850"/>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03" name="Shape 101"/>
          <p:cNvSpPr/>
          <p:nvPr/>
        </p:nvSpPr>
        <p:spPr>
          <a:xfrm>
            <a:off x="8220456" y="2288257"/>
            <a:ext cx="141996" cy="145218"/>
          </a:xfrm>
          <a:prstGeom prst="rect">
            <a:avLst/>
          </a:prstGeom>
          <a:solidFill>
            <a:srgbClr val="C2352F"/>
          </a:solidFill>
          <a:ln/>
        </p:spPr>
      </p:sp>
      <p:sp>
        <p:nvSpPr>
          <p:cNvPr id="104" name="Text 102"/>
          <p:cNvSpPr txBox="1"/>
          <p:nvPr/>
        </p:nvSpPr>
        <p:spPr>
          <a:xfrm>
            <a:off x="9153144" y="2228850"/>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$88K</a:t>
            </a:r>
            <a:endParaRPr lang="en-US" sz="1300" dirty="0"/>
          </a:p>
        </p:txBody>
      </p:sp>
      <p:sp>
        <p:nvSpPr>
          <p:cNvPr id="105" name="Text 103"/>
          <p:cNvSpPr txBox="1"/>
          <p:nvPr/>
        </p:nvSpPr>
        <p:spPr>
          <a:xfrm>
            <a:off x="9976104" y="2228850"/>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106" name="Text 104"/>
          <p:cNvSpPr txBox="1"/>
          <p:nvPr/>
        </p:nvSpPr>
        <p:spPr>
          <a:xfrm>
            <a:off x="10579608" y="2228850"/>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853</a:t>
            </a:r>
            <a:endParaRPr lang="en-US" sz="1300" dirty="0"/>
          </a:p>
        </p:txBody>
      </p:sp>
      <p:sp>
        <p:nvSpPr>
          <p:cNvPr id="107" name="Text 105"/>
          <p:cNvSpPr txBox="1"/>
          <p:nvPr/>
        </p:nvSpPr>
        <p:spPr>
          <a:xfrm>
            <a:off x="6208776" y="2492883"/>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08" name="Shape 106"/>
          <p:cNvSpPr/>
          <p:nvPr/>
        </p:nvSpPr>
        <p:spPr>
          <a:xfrm>
            <a:off x="8220456" y="2552290"/>
            <a:ext cx="132425" cy="145218"/>
          </a:xfrm>
          <a:prstGeom prst="rect">
            <a:avLst/>
          </a:prstGeom>
          <a:solidFill>
            <a:srgbClr val="C2352F"/>
          </a:solidFill>
          <a:ln/>
        </p:spPr>
      </p:sp>
      <p:sp>
        <p:nvSpPr>
          <p:cNvPr id="109" name="Text 107"/>
          <p:cNvSpPr txBox="1"/>
          <p:nvPr/>
        </p:nvSpPr>
        <p:spPr>
          <a:xfrm>
            <a:off x="9153144" y="2492883"/>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$82K</a:t>
            </a:r>
            <a:endParaRPr lang="en-US" sz="1300" dirty="0"/>
          </a:p>
        </p:txBody>
      </p:sp>
      <p:sp>
        <p:nvSpPr>
          <p:cNvPr id="110" name="Text 108"/>
          <p:cNvSpPr txBox="1"/>
          <p:nvPr/>
        </p:nvSpPr>
        <p:spPr>
          <a:xfrm>
            <a:off x="9976104" y="2492883"/>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111" name="Text 109"/>
          <p:cNvSpPr txBox="1"/>
          <p:nvPr/>
        </p:nvSpPr>
        <p:spPr>
          <a:xfrm>
            <a:off x="10579608" y="2492883"/>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956</a:t>
            </a:r>
            <a:endParaRPr lang="en-US" sz="1300" dirty="0"/>
          </a:p>
        </p:txBody>
      </p:sp>
      <p:sp>
        <p:nvSpPr>
          <p:cNvPr id="112" name="Text 110"/>
          <p:cNvSpPr txBox="1"/>
          <p:nvPr/>
        </p:nvSpPr>
        <p:spPr>
          <a:xfrm>
            <a:off x="6208776" y="2756916"/>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13" name="Shape 111"/>
          <p:cNvSpPr/>
          <p:nvPr/>
        </p:nvSpPr>
        <p:spPr>
          <a:xfrm>
            <a:off x="8220456" y="2816323"/>
            <a:ext cx="131085" cy="145218"/>
          </a:xfrm>
          <a:prstGeom prst="rect">
            <a:avLst/>
          </a:prstGeom>
          <a:solidFill>
            <a:srgbClr val="C2352F"/>
          </a:solidFill>
          <a:ln/>
        </p:spPr>
      </p:sp>
      <p:sp>
        <p:nvSpPr>
          <p:cNvPr id="114" name="Text 112"/>
          <p:cNvSpPr txBox="1"/>
          <p:nvPr/>
        </p:nvSpPr>
        <p:spPr>
          <a:xfrm>
            <a:off x="9153144" y="2756916"/>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$81K</a:t>
            </a:r>
            <a:endParaRPr lang="en-US" sz="1300" dirty="0"/>
          </a:p>
        </p:txBody>
      </p:sp>
      <p:sp>
        <p:nvSpPr>
          <p:cNvPr id="115" name="Text 113"/>
          <p:cNvSpPr txBox="1"/>
          <p:nvPr/>
        </p:nvSpPr>
        <p:spPr>
          <a:xfrm>
            <a:off x="9976104" y="2756916"/>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116" name="Text 114"/>
          <p:cNvSpPr txBox="1"/>
          <p:nvPr/>
        </p:nvSpPr>
        <p:spPr>
          <a:xfrm>
            <a:off x="10579608" y="2756916"/>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929</a:t>
            </a:r>
            <a:endParaRPr lang="en-US" sz="1300" dirty="0"/>
          </a:p>
        </p:txBody>
      </p:sp>
      <p:sp>
        <p:nvSpPr>
          <p:cNvPr id="117" name="Text 115"/>
          <p:cNvSpPr txBox="1"/>
          <p:nvPr/>
        </p:nvSpPr>
        <p:spPr>
          <a:xfrm>
            <a:off x="6208776" y="3020949"/>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18" name="Shape 116"/>
          <p:cNvSpPr/>
          <p:nvPr/>
        </p:nvSpPr>
        <p:spPr>
          <a:xfrm>
            <a:off x="8220456" y="3080356"/>
            <a:ext cx="130107" cy="145218"/>
          </a:xfrm>
          <a:prstGeom prst="rect">
            <a:avLst/>
          </a:prstGeom>
          <a:solidFill>
            <a:srgbClr val="C2352F"/>
          </a:solidFill>
          <a:ln/>
        </p:spPr>
      </p:sp>
      <p:sp>
        <p:nvSpPr>
          <p:cNvPr id="119" name="Text 117"/>
          <p:cNvSpPr txBox="1"/>
          <p:nvPr/>
        </p:nvSpPr>
        <p:spPr>
          <a:xfrm>
            <a:off x="9153144" y="3020949"/>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$80K</a:t>
            </a:r>
            <a:endParaRPr lang="en-US" sz="1300" dirty="0"/>
          </a:p>
        </p:txBody>
      </p:sp>
      <p:sp>
        <p:nvSpPr>
          <p:cNvPr id="120" name="Text 118"/>
          <p:cNvSpPr txBox="1"/>
          <p:nvPr/>
        </p:nvSpPr>
        <p:spPr>
          <a:xfrm>
            <a:off x="9976104" y="3020949"/>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121" name="Text 119"/>
          <p:cNvSpPr txBox="1"/>
          <p:nvPr/>
        </p:nvSpPr>
        <p:spPr>
          <a:xfrm>
            <a:off x="10579608" y="3020949"/>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757</a:t>
            </a:r>
            <a:endParaRPr lang="en-US" sz="1300" dirty="0"/>
          </a:p>
        </p:txBody>
      </p:sp>
      <p:sp>
        <p:nvSpPr>
          <p:cNvPr id="122" name="Text 120"/>
          <p:cNvSpPr txBox="1"/>
          <p:nvPr/>
        </p:nvSpPr>
        <p:spPr>
          <a:xfrm>
            <a:off x="6208776" y="3284982"/>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23" name="Shape 121"/>
          <p:cNvSpPr/>
          <p:nvPr/>
        </p:nvSpPr>
        <p:spPr>
          <a:xfrm>
            <a:off x="8220456" y="3344389"/>
            <a:ext cx="114763" cy="145218"/>
          </a:xfrm>
          <a:prstGeom prst="rect">
            <a:avLst/>
          </a:prstGeom>
          <a:solidFill>
            <a:srgbClr val="C2352F"/>
          </a:solidFill>
          <a:ln/>
        </p:spPr>
      </p:sp>
      <p:sp>
        <p:nvSpPr>
          <p:cNvPr id="124" name="Text 122"/>
          <p:cNvSpPr txBox="1"/>
          <p:nvPr/>
        </p:nvSpPr>
        <p:spPr>
          <a:xfrm>
            <a:off x="9153144" y="3284982"/>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$71K</a:t>
            </a:r>
            <a:endParaRPr lang="en-US" sz="1300" dirty="0"/>
          </a:p>
        </p:txBody>
      </p:sp>
      <p:sp>
        <p:nvSpPr>
          <p:cNvPr id="125" name="Text 123"/>
          <p:cNvSpPr txBox="1"/>
          <p:nvPr/>
        </p:nvSpPr>
        <p:spPr>
          <a:xfrm>
            <a:off x="9976104" y="3284982"/>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126" name="Text 124"/>
          <p:cNvSpPr txBox="1"/>
          <p:nvPr/>
        </p:nvSpPr>
        <p:spPr>
          <a:xfrm>
            <a:off x="10579608" y="3284982"/>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540</a:t>
            </a:r>
            <a:endParaRPr lang="en-US" sz="1300" dirty="0"/>
          </a:p>
        </p:txBody>
      </p:sp>
      <p:sp>
        <p:nvSpPr>
          <p:cNvPr id="127" name="Text 125"/>
          <p:cNvSpPr txBox="1"/>
          <p:nvPr/>
        </p:nvSpPr>
        <p:spPr>
          <a:xfrm>
            <a:off x="6208776" y="3549015"/>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28" name="Shape 126"/>
          <p:cNvSpPr/>
          <p:nvPr/>
        </p:nvSpPr>
        <p:spPr>
          <a:xfrm>
            <a:off x="8220456" y="3608422"/>
            <a:ext cx="110410" cy="145218"/>
          </a:xfrm>
          <a:prstGeom prst="rect">
            <a:avLst/>
          </a:prstGeom>
          <a:solidFill>
            <a:srgbClr val="C2352F"/>
          </a:solidFill>
          <a:ln/>
        </p:spPr>
      </p:sp>
      <p:sp>
        <p:nvSpPr>
          <p:cNvPr id="129" name="Text 127"/>
          <p:cNvSpPr txBox="1"/>
          <p:nvPr/>
        </p:nvSpPr>
        <p:spPr>
          <a:xfrm>
            <a:off x="9153144" y="3549015"/>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$68K</a:t>
            </a:r>
            <a:endParaRPr lang="en-US" sz="1300" dirty="0"/>
          </a:p>
        </p:txBody>
      </p:sp>
      <p:sp>
        <p:nvSpPr>
          <p:cNvPr id="130" name="Text 128"/>
          <p:cNvSpPr txBox="1"/>
          <p:nvPr/>
        </p:nvSpPr>
        <p:spPr>
          <a:xfrm>
            <a:off x="9976104" y="3549015"/>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131" name="Text 129"/>
          <p:cNvSpPr txBox="1"/>
          <p:nvPr/>
        </p:nvSpPr>
        <p:spPr>
          <a:xfrm>
            <a:off x="10579608" y="3549015"/>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784</a:t>
            </a:r>
            <a:endParaRPr lang="en-US" sz="1300" dirty="0"/>
          </a:p>
        </p:txBody>
      </p:sp>
      <p:sp>
        <p:nvSpPr>
          <p:cNvPr id="132" name="Text 130"/>
          <p:cNvSpPr txBox="1"/>
          <p:nvPr/>
        </p:nvSpPr>
        <p:spPr>
          <a:xfrm>
            <a:off x="6208776" y="3813048"/>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33" name="Shape 131"/>
          <p:cNvSpPr/>
          <p:nvPr/>
        </p:nvSpPr>
        <p:spPr>
          <a:xfrm>
            <a:off x="8220456" y="3872455"/>
            <a:ext cx="88627" cy="145218"/>
          </a:xfrm>
          <a:prstGeom prst="rect">
            <a:avLst/>
          </a:prstGeom>
          <a:solidFill>
            <a:srgbClr val="C2352F"/>
          </a:solidFill>
          <a:ln/>
        </p:spPr>
      </p:sp>
      <p:sp>
        <p:nvSpPr>
          <p:cNvPr id="134" name="Text 132"/>
          <p:cNvSpPr txBox="1"/>
          <p:nvPr/>
        </p:nvSpPr>
        <p:spPr>
          <a:xfrm>
            <a:off x="9153144" y="3813048"/>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$55K</a:t>
            </a:r>
            <a:endParaRPr lang="en-US" sz="1300" dirty="0"/>
          </a:p>
        </p:txBody>
      </p:sp>
      <p:sp>
        <p:nvSpPr>
          <p:cNvPr id="135" name="Text 133"/>
          <p:cNvSpPr txBox="1"/>
          <p:nvPr/>
        </p:nvSpPr>
        <p:spPr>
          <a:xfrm>
            <a:off x="9976104" y="3813048"/>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136" name="Text 134"/>
          <p:cNvSpPr txBox="1"/>
          <p:nvPr/>
        </p:nvSpPr>
        <p:spPr>
          <a:xfrm>
            <a:off x="10579608" y="3813048"/>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426</a:t>
            </a:r>
            <a:endParaRPr lang="en-US" sz="1300" dirty="0"/>
          </a:p>
        </p:txBody>
      </p:sp>
      <p:sp>
        <p:nvSpPr>
          <p:cNvPr id="137" name="Text 135"/>
          <p:cNvSpPr txBox="1"/>
          <p:nvPr/>
        </p:nvSpPr>
        <p:spPr>
          <a:xfrm>
            <a:off x="6208776" y="4077081"/>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38" name="Shape 136"/>
          <p:cNvSpPr/>
          <p:nvPr/>
        </p:nvSpPr>
        <p:spPr>
          <a:xfrm>
            <a:off x="8220456" y="4136488"/>
            <a:ext cx="78404" cy="145218"/>
          </a:xfrm>
          <a:prstGeom prst="rect">
            <a:avLst/>
          </a:prstGeom>
          <a:solidFill>
            <a:srgbClr val="C2352F"/>
          </a:solidFill>
          <a:ln/>
        </p:spPr>
      </p:sp>
      <p:sp>
        <p:nvSpPr>
          <p:cNvPr id="139" name="Text 137"/>
          <p:cNvSpPr txBox="1"/>
          <p:nvPr/>
        </p:nvSpPr>
        <p:spPr>
          <a:xfrm>
            <a:off x="9153144" y="4077081"/>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$48K</a:t>
            </a:r>
            <a:endParaRPr lang="en-US" sz="1300" dirty="0"/>
          </a:p>
        </p:txBody>
      </p:sp>
      <p:sp>
        <p:nvSpPr>
          <p:cNvPr id="140" name="Text 138"/>
          <p:cNvSpPr txBox="1"/>
          <p:nvPr/>
        </p:nvSpPr>
        <p:spPr>
          <a:xfrm>
            <a:off x="9976104" y="4077081"/>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141" name="Text 139"/>
          <p:cNvSpPr txBox="1"/>
          <p:nvPr/>
        </p:nvSpPr>
        <p:spPr>
          <a:xfrm>
            <a:off x="10579608" y="4077081"/>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148</a:t>
            </a:r>
            <a:endParaRPr lang="en-US" sz="1300" dirty="0"/>
          </a:p>
        </p:txBody>
      </p:sp>
      <p:sp>
        <p:nvSpPr>
          <p:cNvPr id="142" name="Text 140"/>
          <p:cNvSpPr txBox="1"/>
          <p:nvPr/>
        </p:nvSpPr>
        <p:spPr>
          <a:xfrm>
            <a:off x="6208776" y="4341114"/>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143" name="Shape 141"/>
          <p:cNvSpPr/>
          <p:nvPr/>
        </p:nvSpPr>
        <p:spPr>
          <a:xfrm>
            <a:off x="8220456" y="4400521"/>
            <a:ext cx="62086" cy="145218"/>
          </a:xfrm>
          <a:prstGeom prst="rect">
            <a:avLst/>
          </a:prstGeom>
          <a:solidFill>
            <a:srgbClr val="C2352F"/>
          </a:solidFill>
          <a:ln/>
        </p:spPr>
      </p:sp>
      <p:sp>
        <p:nvSpPr>
          <p:cNvPr id="144" name="Text 142"/>
          <p:cNvSpPr txBox="1"/>
          <p:nvPr/>
        </p:nvSpPr>
        <p:spPr>
          <a:xfrm>
            <a:off x="9153144" y="4341114"/>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$38K</a:t>
            </a:r>
            <a:endParaRPr lang="en-US" sz="1300" dirty="0"/>
          </a:p>
        </p:txBody>
      </p:sp>
      <p:sp>
        <p:nvSpPr>
          <p:cNvPr id="145" name="Text 143"/>
          <p:cNvSpPr txBox="1"/>
          <p:nvPr/>
        </p:nvSpPr>
        <p:spPr>
          <a:xfrm>
            <a:off x="9976104" y="4341114"/>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 of 4</a:t>
            </a:r>
            <a:endParaRPr lang="en-US" sz="1300" dirty="0"/>
          </a:p>
        </p:txBody>
      </p:sp>
      <p:sp>
        <p:nvSpPr>
          <p:cNvPr id="146" name="Text 144"/>
          <p:cNvSpPr txBox="1"/>
          <p:nvPr/>
        </p:nvSpPr>
        <p:spPr>
          <a:xfrm>
            <a:off x="10579608" y="4341114"/>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600</a:t>
            </a:r>
            <a:endParaRPr lang="en-US" sz="1300" dirty="0"/>
          </a:p>
        </p:txBody>
      </p:sp>
      <p:sp>
        <p:nvSpPr>
          <p:cNvPr id="147" name="Text 145"/>
          <p:cNvSpPr txBox="1"/>
          <p:nvPr/>
        </p:nvSpPr>
        <p:spPr>
          <a:xfrm>
            <a:off x="6208776" y="4605147"/>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48" name="Shape 146"/>
          <p:cNvSpPr/>
          <p:nvPr/>
        </p:nvSpPr>
        <p:spPr>
          <a:xfrm>
            <a:off x="8220456" y="4664554"/>
            <a:ext cx="54750" cy="145218"/>
          </a:xfrm>
          <a:prstGeom prst="rect">
            <a:avLst/>
          </a:prstGeom>
          <a:solidFill>
            <a:srgbClr val="C2352F"/>
          </a:solidFill>
          <a:ln/>
        </p:spPr>
      </p:sp>
      <p:sp>
        <p:nvSpPr>
          <p:cNvPr id="149" name="Text 147"/>
          <p:cNvSpPr txBox="1"/>
          <p:nvPr/>
        </p:nvSpPr>
        <p:spPr>
          <a:xfrm>
            <a:off x="9153144" y="4605147"/>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$34K</a:t>
            </a:r>
            <a:endParaRPr lang="en-US" sz="1300" dirty="0"/>
          </a:p>
        </p:txBody>
      </p:sp>
      <p:sp>
        <p:nvSpPr>
          <p:cNvPr id="150" name="Text 148"/>
          <p:cNvSpPr txBox="1"/>
          <p:nvPr/>
        </p:nvSpPr>
        <p:spPr>
          <a:xfrm>
            <a:off x="9976104" y="4605147"/>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 of 4</a:t>
            </a:r>
            <a:endParaRPr lang="en-US" sz="1300" dirty="0"/>
          </a:p>
        </p:txBody>
      </p:sp>
      <p:sp>
        <p:nvSpPr>
          <p:cNvPr id="151" name="Text 149"/>
          <p:cNvSpPr txBox="1"/>
          <p:nvPr/>
        </p:nvSpPr>
        <p:spPr>
          <a:xfrm>
            <a:off x="10579608" y="4605147"/>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a:t>
            </a:r>
            <a:endParaRPr lang="en-US" sz="1300" dirty="0"/>
          </a:p>
        </p:txBody>
      </p:sp>
      <p:sp>
        <p:nvSpPr>
          <p:cNvPr id="152" name="Text 150"/>
          <p:cNvSpPr txBox="1"/>
          <p:nvPr/>
        </p:nvSpPr>
        <p:spPr>
          <a:xfrm>
            <a:off x="6208776" y="4869180"/>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53" name="Shape 151"/>
          <p:cNvSpPr/>
          <p:nvPr/>
        </p:nvSpPr>
        <p:spPr>
          <a:xfrm>
            <a:off x="8220456" y="4928587"/>
            <a:ext cx="38667" cy="145218"/>
          </a:xfrm>
          <a:prstGeom prst="rect">
            <a:avLst/>
          </a:prstGeom>
          <a:solidFill>
            <a:srgbClr val="C2352F"/>
          </a:solidFill>
          <a:ln/>
        </p:spPr>
      </p:sp>
      <p:sp>
        <p:nvSpPr>
          <p:cNvPr id="154" name="Text 152"/>
          <p:cNvSpPr txBox="1"/>
          <p:nvPr/>
        </p:nvSpPr>
        <p:spPr>
          <a:xfrm>
            <a:off x="9153144" y="4869180"/>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$24K</a:t>
            </a:r>
            <a:endParaRPr lang="en-US" sz="1300" dirty="0"/>
          </a:p>
        </p:txBody>
      </p:sp>
      <p:sp>
        <p:nvSpPr>
          <p:cNvPr id="155" name="Text 153"/>
          <p:cNvSpPr txBox="1"/>
          <p:nvPr/>
        </p:nvSpPr>
        <p:spPr>
          <a:xfrm>
            <a:off x="9976104" y="4869180"/>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 of 4</a:t>
            </a:r>
            <a:endParaRPr lang="en-US" sz="1300" dirty="0"/>
          </a:p>
        </p:txBody>
      </p:sp>
      <p:sp>
        <p:nvSpPr>
          <p:cNvPr id="156" name="Text 154"/>
          <p:cNvSpPr txBox="1"/>
          <p:nvPr/>
        </p:nvSpPr>
        <p:spPr>
          <a:xfrm>
            <a:off x="10579608" y="4869180"/>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92</a:t>
            </a:r>
            <a:endParaRPr lang="en-US" sz="1300" dirty="0"/>
          </a:p>
        </p:txBody>
      </p:sp>
      <p:sp>
        <p:nvSpPr>
          <p:cNvPr id="157" name="Text 155"/>
          <p:cNvSpPr txBox="1"/>
          <p:nvPr/>
        </p:nvSpPr>
        <p:spPr>
          <a:xfrm>
            <a:off x="6208776" y="5133213"/>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58" name="Shape 156"/>
          <p:cNvSpPr/>
          <p:nvPr/>
        </p:nvSpPr>
        <p:spPr>
          <a:xfrm>
            <a:off x="8220456" y="5192620"/>
            <a:ext cx="19661" cy="145218"/>
          </a:xfrm>
          <a:prstGeom prst="rect">
            <a:avLst/>
          </a:prstGeom>
          <a:solidFill>
            <a:srgbClr val="C2352F"/>
          </a:solidFill>
          <a:ln/>
        </p:spPr>
      </p:sp>
      <p:sp>
        <p:nvSpPr>
          <p:cNvPr id="159" name="Text 157"/>
          <p:cNvSpPr txBox="1"/>
          <p:nvPr/>
        </p:nvSpPr>
        <p:spPr>
          <a:xfrm>
            <a:off x="9153144" y="5133213"/>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$12K</a:t>
            </a:r>
            <a:endParaRPr lang="en-US" sz="1300" dirty="0"/>
          </a:p>
        </p:txBody>
      </p:sp>
      <p:sp>
        <p:nvSpPr>
          <p:cNvPr id="160" name="Text 158"/>
          <p:cNvSpPr txBox="1"/>
          <p:nvPr/>
        </p:nvSpPr>
        <p:spPr>
          <a:xfrm>
            <a:off x="9976104" y="5133213"/>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 of 4</a:t>
            </a:r>
            <a:endParaRPr lang="en-US" sz="1300" dirty="0"/>
          </a:p>
        </p:txBody>
      </p:sp>
      <p:sp>
        <p:nvSpPr>
          <p:cNvPr id="161" name="Text 159"/>
          <p:cNvSpPr txBox="1"/>
          <p:nvPr/>
        </p:nvSpPr>
        <p:spPr>
          <a:xfrm>
            <a:off x="10579608" y="5133213"/>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166</a:t>
            </a:r>
            <a:endParaRPr lang="en-US" sz="1300" dirty="0"/>
          </a:p>
        </p:txBody>
      </p:sp>
      <p:sp>
        <p:nvSpPr>
          <p:cNvPr id="162" name="Text 160"/>
          <p:cNvSpPr txBox="1"/>
          <p:nvPr/>
        </p:nvSpPr>
        <p:spPr>
          <a:xfrm>
            <a:off x="6208776" y="5397246"/>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63" name="Shape 161"/>
          <p:cNvSpPr/>
          <p:nvPr/>
        </p:nvSpPr>
        <p:spPr>
          <a:xfrm>
            <a:off x="8220456" y="5456653"/>
            <a:ext cx="18288" cy="145218"/>
          </a:xfrm>
          <a:prstGeom prst="rect">
            <a:avLst/>
          </a:prstGeom>
          <a:solidFill>
            <a:srgbClr val="C2352F"/>
          </a:solidFill>
          <a:ln/>
        </p:spPr>
      </p:sp>
      <p:sp>
        <p:nvSpPr>
          <p:cNvPr id="164" name="Text 162"/>
          <p:cNvSpPr txBox="1"/>
          <p:nvPr/>
        </p:nvSpPr>
        <p:spPr>
          <a:xfrm>
            <a:off x="9153144" y="5397246"/>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$10K</a:t>
            </a:r>
            <a:endParaRPr lang="en-US" sz="1300" dirty="0"/>
          </a:p>
        </p:txBody>
      </p:sp>
      <p:sp>
        <p:nvSpPr>
          <p:cNvPr id="165" name="Text 163"/>
          <p:cNvSpPr txBox="1"/>
          <p:nvPr/>
        </p:nvSpPr>
        <p:spPr>
          <a:xfrm>
            <a:off x="9976104" y="5397246"/>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166" name="Text 164"/>
          <p:cNvSpPr txBox="1"/>
          <p:nvPr/>
        </p:nvSpPr>
        <p:spPr>
          <a:xfrm>
            <a:off x="10579608" y="5397246"/>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167" name="Text 165"/>
          <p:cNvSpPr txBox="1"/>
          <p:nvPr/>
        </p:nvSpPr>
        <p:spPr>
          <a:xfrm>
            <a:off x="6208776" y="5661279"/>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68" name="Shape 166"/>
          <p:cNvSpPr/>
          <p:nvPr/>
        </p:nvSpPr>
        <p:spPr>
          <a:xfrm>
            <a:off x="8220456" y="5720686"/>
            <a:ext cx="18288" cy="145218"/>
          </a:xfrm>
          <a:prstGeom prst="rect">
            <a:avLst/>
          </a:prstGeom>
          <a:solidFill>
            <a:srgbClr val="C2352F"/>
          </a:solidFill>
          <a:ln/>
        </p:spPr>
      </p:sp>
      <p:sp>
        <p:nvSpPr>
          <p:cNvPr id="169" name="Text 167"/>
          <p:cNvSpPr txBox="1"/>
          <p:nvPr/>
        </p:nvSpPr>
        <p:spPr>
          <a:xfrm>
            <a:off x="9153144" y="5661279"/>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$3K</a:t>
            </a:r>
            <a:endParaRPr lang="en-US" sz="1300" dirty="0"/>
          </a:p>
        </p:txBody>
      </p:sp>
      <p:sp>
        <p:nvSpPr>
          <p:cNvPr id="170" name="Text 168"/>
          <p:cNvSpPr txBox="1"/>
          <p:nvPr/>
        </p:nvSpPr>
        <p:spPr>
          <a:xfrm>
            <a:off x="9976104" y="5661279"/>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 of 4</a:t>
            </a:r>
            <a:endParaRPr lang="en-US" sz="1300" dirty="0"/>
          </a:p>
        </p:txBody>
      </p:sp>
      <p:sp>
        <p:nvSpPr>
          <p:cNvPr id="171" name="Text 169"/>
          <p:cNvSpPr txBox="1"/>
          <p:nvPr/>
        </p:nvSpPr>
        <p:spPr>
          <a:xfrm>
            <a:off x="10579608" y="5661279"/>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44</a:t>
            </a:r>
            <a:endParaRPr lang="en-US" sz="1300" dirty="0"/>
          </a:p>
        </p:txBody>
      </p:sp>
      <p:sp>
        <p:nvSpPr>
          <p:cNvPr id="172" name="Shape 170"/>
          <p:cNvSpPr/>
          <p:nvPr/>
        </p:nvSpPr>
        <p:spPr>
          <a:xfrm>
            <a:off x="457200" y="6126480"/>
            <a:ext cx="11274552" cy="371856"/>
          </a:xfrm>
          <a:prstGeom prst="rect">
            <a:avLst/>
          </a:prstGeom>
          <a:solidFill>
            <a:srgbClr val="FBEBEA"/>
          </a:solidFill>
          <a:ln/>
        </p:spPr>
      </p:sp>
      <p:sp>
        <p:nvSpPr>
          <p:cNvPr id="173" name="Text 171"/>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Toyota Spokane leaves the most at $541,039 a year. 15 stores are under all four benchmarks.</a:t>
            </a:r>
            <a:endParaRPr lang="en-US" sz="1600" dirty="0"/>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Every Store at Benchmark</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31520" y="1481328"/>
            <a:ext cx="10725912" cy="329184"/>
          </a:xfrm>
          <a:prstGeom prst="rect">
            <a:avLst/>
          </a:prstGeom>
          <a:noFill/>
          <a:ln/>
        </p:spPr>
        <p:txBody>
          <a:bodyPr wrap="square" lIns="0" tIns="0" rIns="0" bIns="0" rtlCol="0" anchor="ctr"/>
          <a:lstStyle/>
          <a:p>
            <a:pPr algn="ctr" indent="0" marL="0">
              <a:buNone/>
            </a:pPr>
            <a:r>
              <a:rPr lang="en-US" sz="1600" b="1" spc="140" kern="0" dirty="0">
                <a:solidFill>
                  <a:srgbClr val="0B2C4A"/>
                </a:solidFill>
                <a:latin typeface="Inter" pitchFamily="34" charset="0"/>
                <a:ea typeface="Inter" pitchFamily="34" charset="-122"/>
                <a:cs typeface="Inter" pitchFamily="34" charset="-120"/>
              </a:rPr>
              <a:t>IF EVERY STORE REACHED ALL FOUR BENCHMARKS</a:t>
            </a:r>
            <a:endParaRPr lang="en-US" sz="1600" dirty="0"/>
          </a:p>
        </p:txBody>
      </p:sp>
      <p:sp>
        <p:nvSpPr>
          <p:cNvPr id="7" name="Text 5"/>
          <p:cNvSpPr txBox="1"/>
          <p:nvPr/>
        </p:nvSpPr>
        <p:spPr>
          <a:xfrm>
            <a:off x="731520" y="1874520"/>
            <a:ext cx="10725912" cy="1234440"/>
          </a:xfrm>
          <a:prstGeom prst="rect">
            <a:avLst/>
          </a:prstGeom>
          <a:noFill/>
          <a:ln/>
        </p:spPr>
        <p:txBody>
          <a:bodyPr wrap="square" lIns="0" tIns="0" rIns="0" bIns="0" rtlCol="0" anchor="ctr"/>
          <a:lstStyle/>
          <a:p>
            <a:pPr algn="ctr" indent="0" marL="0">
              <a:buNone/>
            </a:pPr>
            <a:r>
              <a:rPr lang="en-US" sz="8000" b="1" dirty="0">
                <a:solidFill>
                  <a:srgbClr val="0B7A4A"/>
                </a:solidFill>
                <a:latin typeface="Inter" pitchFamily="34" charset="0"/>
                <a:ea typeface="Inter" pitchFamily="34" charset="-122"/>
                <a:cs typeface="Inter" pitchFamily="34" charset="-120"/>
              </a:rPr>
              <a:t>$4,895,199</a:t>
            </a:r>
            <a:endParaRPr lang="en-US" sz="8000" dirty="0"/>
          </a:p>
        </p:txBody>
      </p:sp>
      <p:sp>
        <p:nvSpPr>
          <p:cNvPr id="8" name="Text 6"/>
          <p:cNvSpPr txBox="1"/>
          <p:nvPr/>
        </p:nvSpPr>
        <p:spPr>
          <a:xfrm>
            <a:off x="731520" y="3090672"/>
            <a:ext cx="10725912" cy="411480"/>
          </a:xfrm>
          <a:prstGeom prst="rect">
            <a:avLst/>
          </a:prstGeom>
          <a:noFill/>
          <a:ln/>
        </p:spPr>
        <p:txBody>
          <a:bodyPr wrap="square" lIns="0" tIns="0" rIns="0" bIns="0" rtlCol="0" anchor="ctr"/>
          <a:lstStyle/>
          <a:p>
            <a:pPr algn="ctr" indent="0" marL="0">
              <a:buNone/>
            </a:pPr>
            <a:r>
              <a:rPr lang="en-US" sz="2000" dirty="0">
                <a:solidFill>
                  <a:srgbClr val="595959"/>
                </a:solidFill>
                <a:latin typeface="Inter" pitchFamily="34" charset="0"/>
                <a:ea typeface="Inter" pitchFamily="34" charset="-122"/>
                <a:cs typeface="Inter" pitchFamily="34" charset="-120"/>
              </a:rPr>
              <a:t>a year in labor and parts gross · about $407,933 a month</a:t>
            </a:r>
            <a:endParaRPr lang="en-US" sz="2000" dirty="0"/>
          </a:p>
        </p:txBody>
      </p:sp>
      <p:sp>
        <p:nvSpPr>
          <p:cNvPr id="9" name="Shape 7"/>
          <p:cNvSpPr/>
          <p:nvPr/>
        </p:nvSpPr>
        <p:spPr>
          <a:xfrm>
            <a:off x="736092" y="3794760"/>
            <a:ext cx="2542032" cy="1691640"/>
          </a:xfrm>
          <a:prstGeom prst="rect">
            <a:avLst/>
          </a:prstGeom>
          <a:solidFill>
            <a:srgbClr val="F7F7F7"/>
          </a:solidFill>
          <a:ln/>
        </p:spPr>
      </p:sp>
      <p:sp>
        <p:nvSpPr>
          <p:cNvPr id="10" name="Shape 8"/>
          <p:cNvSpPr/>
          <p:nvPr/>
        </p:nvSpPr>
        <p:spPr>
          <a:xfrm>
            <a:off x="736092" y="3794760"/>
            <a:ext cx="2542032" cy="64008"/>
          </a:xfrm>
          <a:prstGeom prst="rect">
            <a:avLst/>
          </a:prstGeom>
          <a:solidFill>
            <a:srgbClr val="12A566"/>
          </a:solidFill>
          <a:ln/>
        </p:spPr>
      </p:sp>
      <p:sp>
        <p:nvSpPr>
          <p:cNvPr id="11" name="Text 9"/>
          <p:cNvSpPr txBox="1"/>
          <p:nvPr/>
        </p:nvSpPr>
        <p:spPr>
          <a:xfrm>
            <a:off x="827532" y="3950208"/>
            <a:ext cx="2359152" cy="329184"/>
          </a:xfrm>
          <a:prstGeom prst="rect">
            <a:avLst/>
          </a:prstGeom>
          <a:noFill/>
          <a:ln/>
        </p:spPr>
        <p:txBody>
          <a:bodyPr wrap="square" lIns="0" tIns="0" rIns="0" bIns="0" rtlCol="0" anchor="ctr"/>
          <a:lstStyle/>
          <a:p>
            <a:pPr algn="ctr" indent="0" marL="0">
              <a:buNone/>
            </a:pPr>
            <a:r>
              <a:rPr lang="en-US" sz="1400" b="1" spc="60" kern="0" dirty="0">
                <a:solidFill>
                  <a:srgbClr val="595959"/>
                </a:solidFill>
                <a:latin typeface="Inter" pitchFamily="34" charset="0"/>
                <a:ea typeface="Inter" pitchFamily="34" charset="-122"/>
                <a:cs typeface="Inter" pitchFamily="34" charset="-120"/>
              </a:rPr>
              <a:t>ALIGNMENT · 15%</a:t>
            </a:r>
            <a:endParaRPr lang="en-US" sz="1400" dirty="0"/>
          </a:p>
        </p:txBody>
      </p:sp>
      <p:sp>
        <p:nvSpPr>
          <p:cNvPr id="12" name="Text 10"/>
          <p:cNvSpPr txBox="1"/>
          <p:nvPr/>
        </p:nvSpPr>
        <p:spPr>
          <a:xfrm>
            <a:off x="827532" y="4315968"/>
            <a:ext cx="2359152" cy="548640"/>
          </a:xfrm>
          <a:prstGeom prst="rect">
            <a:avLst/>
          </a:prstGeom>
          <a:noFill/>
          <a:ln/>
        </p:spPr>
        <p:txBody>
          <a:bodyPr wrap="square" lIns="0" tIns="0" rIns="0" bIns="0" rtlCol="0" anchor="ctr"/>
          <a:lstStyle/>
          <a:p>
            <a:pPr algn="ctr" indent="0" marL="0">
              <a:buNone/>
            </a:pPr>
            <a:r>
              <a:rPr lang="en-US" sz="2600" b="1" dirty="0">
                <a:solidFill>
                  <a:srgbClr val="0B2C4A"/>
                </a:solidFill>
                <a:latin typeface="Inter" pitchFamily="34" charset="0"/>
                <a:ea typeface="Inter" pitchFamily="34" charset="-122"/>
                <a:cs typeface="Inter" pitchFamily="34" charset="-120"/>
              </a:rPr>
              <a:t>$1,029,276</a:t>
            </a:r>
            <a:endParaRPr lang="en-US" sz="2600" dirty="0"/>
          </a:p>
        </p:txBody>
      </p:sp>
      <p:sp>
        <p:nvSpPr>
          <p:cNvPr id="13" name="Text 11"/>
          <p:cNvSpPr txBox="1"/>
          <p:nvPr/>
        </p:nvSpPr>
        <p:spPr>
          <a:xfrm>
            <a:off x="827532" y="4892040"/>
            <a:ext cx="2359152" cy="365760"/>
          </a:xfrm>
          <a:prstGeom prst="rect">
            <a:avLst/>
          </a:prstGeom>
          <a:noFill/>
          <a:ln/>
        </p:spPr>
        <p:txBody>
          <a:bodyPr wrap="square" lIns="0" tIns="0" rIns="0" bIns="0" rtlCol="0" anchor="ctr"/>
          <a:lstStyle/>
          <a:p>
            <a:pPr algn="ctr" indent="0" marL="0">
              <a:buNone/>
            </a:pPr>
            <a:r>
              <a:rPr lang="en-US" sz="1400" dirty="0">
                <a:solidFill>
                  <a:srgbClr val="1A1A1A"/>
                </a:solidFill>
                <a:latin typeface="Inter" pitchFamily="34" charset="0"/>
                <a:ea typeface="Inter" pitchFamily="34" charset="-122"/>
                <a:cs typeface="Inter" pitchFamily="34" charset="-120"/>
              </a:rPr>
              <a:t>9,935 more services a year</a:t>
            </a:r>
            <a:endParaRPr lang="en-US" sz="1400" dirty="0"/>
          </a:p>
        </p:txBody>
      </p:sp>
      <p:sp>
        <p:nvSpPr>
          <p:cNvPr id="14" name="Shape 12"/>
          <p:cNvSpPr/>
          <p:nvPr/>
        </p:nvSpPr>
        <p:spPr>
          <a:xfrm>
            <a:off x="3461004" y="3794760"/>
            <a:ext cx="2542032" cy="1691640"/>
          </a:xfrm>
          <a:prstGeom prst="rect">
            <a:avLst/>
          </a:prstGeom>
          <a:solidFill>
            <a:srgbClr val="F7F7F7"/>
          </a:solidFill>
          <a:ln/>
        </p:spPr>
      </p:sp>
      <p:sp>
        <p:nvSpPr>
          <p:cNvPr id="15" name="Shape 13"/>
          <p:cNvSpPr/>
          <p:nvPr/>
        </p:nvSpPr>
        <p:spPr>
          <a:xfrm>
            <a:off x="3461004" y="3794760"/>
            <a:ext cx="2542032" cy="64008"/>
          </a:xfrm>
          <a:prstGeom prst="rect">
            <a:avLst/>
          </a:prstGeom>
          <a:solidFill>
            <a:srgbClr val="12A566"/>
          </a:solidFill>
          <a:ln/>
        </p:spPr>
      </p:sp>
      <p:sp>
        <p:nvSpPr>
          <p:cNvPr id="16" name="Text 14"/>
          <p:cNvSpPr txBox="1"/>
          <p:nvPr/>
        </p:nvSpPr>
        <p:spPr>
          <a:xfrm>
            <a:off x="3552444" y="3950208"/>
            <a:ext cx="2359152" cy="329184"/>
          </a:xfrm>
          <a:prstGeom prst="rect">
            <a:avLst/>
          </a:prstGeom>
          <a:noFill/>
          <a:ln/>
        </p:spPr>
        <p:txBody>
          <a:bodyPr wrap="square" lIns="0" tIns="0" rIns="0" bIns="0" rtlCol="0" anchor="ctr"/>
          <a:lstStyle/>
          <a:p>
            <a:pPr algn="ctr" indent="0" marL="0">
              <a:buNone/>
            </a:pPr>
            <a:r>
              <a:rPr lang="en-US" sz="1400" b="1" spc="60" kern="0" dirty="0">
                <a:solidFill>
                  <a:srgbClr val="595959"/>
                </a:solidFill>
                <a:latin typeface="Inter" pitchFamily="34" charset="0"/>
                <a:ea typeface="Inter" pitchFamily="34" charset="-122"/>
                <a:cs typeface="Inter" pitchFamily="34" charset="-120"/>
              </a:rPr>
              <a:t>TIRE BALANCE · 15%</a:t>
            </a:r>
            <a:endParaRPr lang="en-US" sz="1400" dirty="0"/>
          </a:p>
        </p:txBody>
      </p:sp>
      <p:sp>
        <p:nvSpPr>
          <p:cNvPr id="17" name="Text 15"/>
          <p:cNvSpPr txBox="1"/>
          <p:nvPr/>
        </p:nvSpPr>
        <p:spPr>
          <a:xfrm>
            <a:off x="3552444" y="4315968"/>
            <a:ext cx="2359152" cy="548640"/>
          </a:xfrm>
          <a:prstGeom prst="rect">
            <a:avLst/>
          </a:prstGeom>
          <a:noFill/>
          <a:ln/>
        </p:spPr>
        <p:txBody>
          <a:bodyPr wrap="square" lIns="0" tIns="0" rIns="0" bIns="0" rtlCol="0" anchor="ctr"/>
          <a:lstStyle/>
          <a:p>
            <a:pPr algn="ctr" indent="0" marL="0">
              <a:buNone/>
            </a:pPr>
            <a:r>
              <a:rPr lang="en-US" sz="2600" b="1" dirty="0">
                <a:solidFill>
                  <a:srgbClr val="0B2C4A"/>
                </a:solidFill>
                <a:latin typeface="Inter" pitchFamily="34" charset="0"/>
                <a:ea typeface="Inter" pitchFamily="34" charset="-122"/>
                <a:cs typeface="Inter" pitchFamily="34" charset="-120"/>
              </a:rPr>
              <a:t>$1,664,385</a:t>
            </a:r>
            <a:endParaRPr lang="en-US" sz="2600" dirty="0"/>
          </a:p>
        </p:txBody>
      </p:sp>
      <p:sp>
        <p:nvSpPr>
          <p:cNvPr id="18" name="Text 16"/>
          <p:cNvSpPr txBox="1"/>
          <p:nvPr/>
        </p:nvSpPr>
        <p:spPr>
          <a:xfrm>
            <a:off x="3552444" y="4892040"/>
            <a:ext cx="2359152" cy="365760"/>
          </a:xfrm>
          <a:prstGeom prst="rect">
            <a:avLst/>
          </a:prstGeom>
          <a:noFill/>
          <a:ln/>
        </p:spPr>
        <p:txBody>
          <a:bodyPr wrap="square" lIns="0" tIns="0" rIns="0" bIns="0" rtlCol="0" anchor="ctr"/>
          <a:lstStyle/>
          <a:p>
            <a:pPr algn="ctr" indent="0" marL="0">
              <a:buNone/>
            </a:pPr>
            <a:r>
              <a:rPr lang="en-US" sz="1400" dirty="0">
                <a:solidFill>
                  <a:srgbClr val="1A1A1A"/>
                </a:solidFill>
                <a:latin typeface="Inter" pitchFamily="34" charset="0"/>
                <a:ea typeface="Inter" pitchFamily="34" charset="-122"/>
                <a:cs typeface="Inter" pitchFamily="34" charset="-120"/>
              </a:rPr>
              <a:t>26,062 more services a year</a:t>
            </a:r>
            <a:endParaRPr lang="en-US" sz="1400" dirty="0"/>
          </a:p>
        </p:txBody>
      </p:sp>
      <p:sp>
        <p:nvSpPr>
          <p:cNvPr id="19" name="Shape 17"/>
          <p:cNvSpPr/>
          <p:nvPr/>
        </p:nvSpPr>
        <p:spPr>
          <a:xfrm>
            <a:off x="6185916" y="3794760"/>
            <a:ext cx="2542032" cy="1691640"/>
          </a:xfrm>
          <a:prstGeom prst="rect">
            <a:avLst/>
          </a:prstGeom>
          <a:solidFill>
            <a:srgbClr val="F7F7F7"/>
          </a:solidFill>
          <a:ln/>
        </p:spPr>
      </p:sp>
      <p:sp>
        <p:nvSpPr>
          <p:cNvPr id="20" name="Shape 18"/>
          <p:cNvSpPr/>
          <p:nvPr/>
        </p:nvSpPr>
        <p:spPr>
          <a:xfrm>
            <a:off x="6185916" y="3794760"/>
            <a:ext cx="2542032" cy="64008"/>
          </a:xfrm>
          <a:prstGeom prst="rect">
            <a:avLst/>
          </a:prstGeom>
          <a:solidFill>
            <a:srgbClr val="12A566"/>
          </a:solidFill>
          <a:ln/>
        </p:spPr>
      </p:sp>
      <p:sp>
        <p:nvSpPr>
          <p:cNvPr id="21" name="Text 19"/>
          <p:cNvSpPr txBox="1"/>
          <p:nvPr/>
        </p:nvSpPr>
        <p:spPr>
          <a:xfrm>
            <a:off x="6277356" y="3950208"/>
            <a:ext cx="2359152" cy="329184"/>
          </a:xfrm>
          <a:prstGeom prst="rect">
            <a:avLst/>
          </a:prstGeom>
          <a:noFill/>
          <a:ln/>
        </p:spPr>
        <p:txBody>
          <a:bodyPr wrap="square" lIns="0" tIns="0" rIns="0" bIns="0" rtlCol="0" anchor="ctr"/>
          <a:lstStyle/>
          <a:p>
            <a:pPr algn="ctr" indent="0" marL="0">
              <a:buNone/>
            </a:pPr>
            <a:r>
              <a:rPr lang="en-US" sz="1400" b="1" spc="60" kern="0" dirty="0">
                <a:solidFill>
                  <a:srgbClr val="595959"/>
                </a:solidFill>
                <a:latin typeface="Inter" pitchFamily="34" charset="0"/>
                <a:ea typeface="Inter" pitchFamily="34" charset="-122"/>
                <a:cs typeface="Inter" pitchFamily="34" charset="-120"/>
              </a:rPr>
              <a:t>BRAKE FLUID · 10%</a:t>
            </a:r>
            <a:endParaRPr lang="en-US" sz="1400" dirty="0"/>
          </a:p>
        </p:txBody>
      </p:sp>
      <p:sp>
        <p:nvSpPr>
          <p:cNvPr id="22" name="Text 20"/>
          <p:cNvSpPr txBox="1"/>
          <p:nvPr/>
        </p:nvSpPr>
        <p:spPr>
          <a:xfrm>
            <a:off x="6277356" y="4315968"/>
            <a:ext cx="2359152" cy="548640"/>
          </a:xfrm>
          <a:prstGeom prst="rect">
            <a:avLst/>
          </a:prstGeom>
          <a:noFill/>
          <a:ln/>
        </p:spPr>
        <p:txBody>
          <a:bodyPr wrap="square" lIns="0" tIns="0" rIns="0" bIns="0" rtlCol="0" anchor="ctr"/>
          <a:lstStyle/>
          <a:p>
            <a:pPr algn="ctr" indent="0" marL="0">
              <a:buNone/>
            </a:pPr>
            <a:r>
              <a:rPr lang="en-US" sz="2600" b="1" dirty="0">
                <a:solidFill>
                  <a:srgbClr val="0B2C4A"/>
                </a:solidFill>
                <a:latin typeface="Inter" pitchFamily="34" charset="0"/>
                <a:ea typeface="Inter" pitchFamily="34" charset="-122"/>
                <a:cs typeface="Inter" pitchFamily="34" charset="-120"/>
              </a:rPr>
              <a:t>$844,657</a:t>
            </a:r>
            <a:endParaRPr lang="en-US" sz="2600" dirty="0"/>
          </a:p>
        </p:txBody>
      </p:sp>
      <p:sp>
        <p:nvSpPr>
          <p:cNvPr id="23" name="Text 21"/>
          <p:cNvSpPr txBox="1"/>
          <p:nvPr/>
        </p:nvSpPr>
        <p:spPr>
          <a:xfrm>
            <a:off x="6277356" y="4892040"/>
            <a:ext cx="2359152" cy="365760"/>
          </a:xfrm>
          <a:prstGeom prst="rect">
            <a:avLst/>
          </a:prstGeom>
          <a:noFill/>
          <a:ln/>
        </p:spPr>
        <p:txBody>
          <a:bodyPr wrap="square" lIns="0" tIns="0" rIns="0" bIns="0" rtlCol="0" anchor="ctr"/>
          <a:lstStyle/>
          <a:p>
            <a:pPr algn="ctr" indent="0" marL="0">
              <a:buNone/>
            </a:pPr>
            <a:r>
              <a:rPr lang="en-US" sz="1400" dirty="0">
                <a:solidFill>
                  <a:srgbClr val="1A1A1A"/>
                </a:solidFill>
                <a:latin typeface="Inter" pitchFamily="34" charset="0"/>
                <a:ea typeface="Inter" pitchFamily="34" charset="-122"/>
                <a:cs typeface="Inter" pitchFamily="34" charset="-120"/>
              </a:rPr>
              <a:t>5,919 more services a year</a:t>
            </a:r>
            <a:endParaRPr lang="en-US" sz="1400" dirty="0"/>
          </a:p>
        </p:txBody>
      </p:sp>
      <p:sp>
        <p:nvSpPr>
          <p:cNvPr id="24" name="Shape 22"/>
          <p:cNvSpPr/>
          <p:nvPr/>
        </p:nvSpPr>
        <p:spPr>
          <a:xfrm>
            <a:off x="8910828" y="3794760"/>
            <a:ext cx="2542032" cy="1691640"/>
          </a:xfrm>
          <a:prstGeom prst="rect">
            <a:avLst/>
          </a:prstGeom>
          <a:solidFill>
            <a:srgbClr val="F7F7F7"/>
          </a:solidFill>
          <a:ln/>
        </p:spPr>
      </p:sp>
      <p:sp>
        <p:nvSpPr>
          <p:cNvPr id="25" name="Shape 23"/>
          <p:cNvSpPr/>
          <p:nvPr/>
        </p:nvSpPr>
        <p:spPr>
          <a:xfrm>
            <a:off x="8910828" y="3794760"/>
            <a:ext cx="2542032" cy="64008"/>
          </a:xfrm>
          <a:prstGeom prst="rect">
            <a:avLst/>
          </a:prstGeom>
          <a:solidFill>
            <a:srgbClr val="12A566"/>
          </a:solidFill>
          <a:ln/>
        </p:spPr>
      </p:sp>
      <p:sp>
        <p:nvSpPr>
          <p:cNvPr id="26" name="Text 24"/>
          <p:cNvSpPr txBox="1"/>
          <p:nvPr/>
        </p:nvSpPr>
        <p:spPr>
          <a:xfrm>
            <a:off x="9002268" y="3950208"/>
            <a:ext cx="2359152" cy="329184"/>
          </a:xfrm>
          <a:prstGeom prst="rect">
            <a:avLst/>
          </a:prstGeom>
          <a:noFill/>
          <a:ln/>
        </p:spPr>
        <p:txBody>
          <a:bodyPr wrap="square" lIns="0" tIns="0" rIns="0" bIns="0" rtlCol="0" anchor="ctr"/>
          <a:lstStyle/>
          <a:p>
            <a:pPr algn="ctr" indent="0" marL="0">
              <a:buNone/>
            </a:pPr>
            <a:r>
              <a:rPr lang="en-US" sz="1400" b="1" spc="60" kern="0" dirty="0">
                <a:solidFill>
                  <a:srgbClr val="595959"/>
                </a:solidFill>
                <a:latin typeface="Inter" pitchFamily="34" charset="0"/>
                <a:ea typeface="Inter" pitchFamily="34" charset="-122"/>
                <a:cs typeface="Inter" pitchFamily="34" charset="-120"/>
              </a:rPr>
              <a:t>FUEL SERVICE · 7.5%</a:t>
            </a:r>
            <a:endParaRPr lang="en-US" sz="1400" dirty="0"/>
          </a:p>
        </p:txBody>
      </p:sp>
      <p:sp>
        <p:nvSpPr>
          <p:cNvPr id="27" name="Text 25"/>
          <p:cNvSpPr txBox="1"/>
          <p:nvPr/>
        </p:nvSpPr>
        <p:spPr>
          <a:xfrm>
            <a:off x="9002268" y="4315968"/>
            <a:ext cx="2359152" cy="548640"/>
          </a:xfrm>
          <a:prstGeom prst="rect">
            <a:avLst/>
          </a:prstGeom>
          <a:noFill/>
          <a:ln/>
        </p:spPr>
        <p:txBody>
          <a:bodyPr wrap="square" lIns="0" tIns="0" rIns="0" bIns="0" rtlCol="0" anchor="ctr"/>
          <a:lstStyle/>
          <a:p>
            <a:pPr algn="ctr" indent="0" marL="0">
              <a:buNone/>
            </a:pPr>
            <a:r>
              <a:rPr lang="en-US" sz="2600" b="1" dirty="0">
                <a:solidFill>
                  <a:srgbClr val="0B2C4A"/>
                </a:solidFill>
                <a:latin typeface="Inter" pitchFamily="34" charset="0"/>
                <a:ea typeface="Inter" pitchFamily="34" charset="-122"/>
                <a:cs typeface="Inter" pitchFamily="34" charset="-120"/>
              </a:rPr>
              <a:t>$1,356,881</a:t>
            </a:r>
            <a:endParaRPr lang="en-US" sz="2600" dirty="0"/>
          </a:p>
        </p:txBody>
      </p:sp>
      <p:sp>
        <p:nvSpPr>
          <p:cNvPr id="28" name="Text 26"/>
          <p:cNvSpPr txBox="1"/>
          <p:nvPr/>
        </p:nvSpPr>
        <p:spPr>
          <a:xfrm>
            <a:off x="9002268" y="4892040"/>
            <a:ext cx="2359152" cy="365760"/>
          </a:xfrm>
          <a:prstGeom prst="rect">
            <a:avLst/>
          </a:prstGeom>
          <a:noFill/>
          <a:ln/>
        </p:spPr>
        <p:txBody>
          <a:bodyPr wrap="square" lIns="0" tIns="0" rIns="0" bIns="0" rtlCol="0" anchor="ctr"/>
          <a:lstStyle/>
          <a:p>
            <a:pPr algn="ctr" indent="0" marL="0">
              <a:buNone/>
            </a:pPr>
            <a:r>
              <a:rPr lang="en-US" sz="1400" dirty="0">
                <a:solidFill>
                  <a:srgbClr val="1A1A1A"/>
                </a:solidFill>
                <a:latin typeface="Inter" pitchFamily="34" charset="0"/>
                <a:ea typeface="Inter" pitchFamily="34" charset="-122"/>
                <a:cs typeface="Inter" pitchFamily="34" charset="-120"/>
              </a:rPr>
              <a:t>8,527 more services a year</a:t>
            </a:r>
            <a:endParaRPr lang="en-US" sz="1400" dirty="0"/>
          </a:p>
        </p:txBody>
      </p:sp>
      <p:sp>
        <p:nvSpPr>
          <p:cNvPr id="29" name="Shape 27"/>
          <p:cNvSpPr/>
          <p:nvPr/>
        </p:nvSpPr>
        <p:spPr>
          <a:xfrm>
            <a:off x="457200" y="6126480"/>
            <a:ext cx="11274552" cy="371856"/>
          </a:xfrm>
          <a:prstGeom prst="rect">
            <a:avLst/>
          </a:prstGeom>
          <a:solidFill>
            <a:srgbClr val="E6F6EE"/>
          </a:solidFill>
          <a:ln/>
        </p:spPr>
      </p:sp>
      <p:sp>
        <p:nvSpPr>
          <p:cNvPr id="30" name="Text 2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50,442 more services a year on cars already in our drives. No new customers needed.</a:t>
            </a:r>
            <a:endParaRPr lang="en-US" sz="1600" dirty="0"/>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ELR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$126.09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$129.84</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+$3.75</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+3.0%</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Internal ELR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$3.75 to $129.84, ahead of 2025 in seven of nine months.</a:t>
            </a:r>
            <a:endParaRPr lang="en-US" sz="1600" dirty="0"/>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$129.84</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$207.05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 name="Shape 15"/>
          <p:cNvSpPr/>
          <p:nvPr/>
        </p:nvSpPr>
        <p:spPr>
          <a:xfrm>
            <a:off x="3008376" y="2146957"/>
            <a:ext cx="1676174"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$205.15</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1" name="Shape 19"/>
          <p:cNvSpPr/>
          <p:nvPr/>
        </p:nvSpPr>
        <p:spPr>
          <a:xfrm>
            <a:off x="3008376" y="2386853"/>
            <a:ext cx="1535097"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$187.89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5" name="Shape 23"/>
          <p:cNvSpPr/>
          <p:nvPr/>
        </p:nvSpPr>
        <p:spPr>
          <a:xfrm>
            <a:off x="3008376" y="2626748"/>
            <a:ext cx="1440950"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$176.36</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9" name="Shape 27"/>
          <p:cNvSpPr/>
          <p:nvPr/>
        </p:nvSpPr>
        <p:spPr>
          <a:xfrm>
            <a:off x="3008376" y="2866644"/>
            <a:ext cx="1416843"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$173.41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3" name="Shape 31"/>
          <p:cNvSpPr/>
          <p:nvPr/>
        </p:nvSpPr>
        <p:spPr>
          <a:xfrm>
            <a:off x="3008376" y="3106540"/>
            <a:ext cx="1364170"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$166.97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7" name="Shape 35"/>
          <p:cNvSpPr/>
          <p:nvPr/>
        </p:nvSpPr>
        <p:spPr>
          <a:xfrm>
            <a:off x="3008376" y="3346435"/>
            <a:ext cx="1354753"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$165.81</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3008376" y="3586331"/>
            <a:ext cx="1334617"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$163.35</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45" name="Shape 43"/>
          <p:cNvSpPr/>
          <p:nvPr/>
        </p:nvSpPr>
        <p:spPr>
          <a:xfrm>
            <a:off x="3008376" y="3826226"/>
            <a:ext cx="132628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$162.33</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9" name="Shape 47"/>
          <p:cNvSpPr/>
          <p:nvPr/>
        </p:nvSpPr>
        <p:spPr>
          <a:xfrm>
            <a:off x="3008376" y="4066122"/>
            <a:ext cx="1298491"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$158.93</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008376" y="4306017"/>
            <a:ext cx="1265243"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$154.86</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57" name="Shape 55"/>
          <p:cNvSpPr/>
          <p:nvPr/>
        </p:nvSpPr>
        <p:spPr>
          <a:xfrm>
            <a:off x="3008376" y="4545913"/>
            <a:ext cx="1238047"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$151.53</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1" name="Shape 59"/>
          <p:cNvSpPr/>
          <p:nvPr/>
        </p:nvSpPr>
        <p:spPr>
          <a:xfrm>
            <a:off x="3008376" y="4785808"/>
            <a:ext cx="1199792"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$146.85</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5" name="Shape 63"/>
          <p:cNvSpPr/>
          <p:nvPr/>
        </p:nvSpPr>
        <p:spPr>
          <a:xfrm>
            <a:off x="3008376" y="5025704"/>
            <a:ext cx="1199589"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$146.82</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9" name="Shape 67"/>
          <p:cNvSpPr/>
          <p:nvPr/>
        </p:nvSpPr>
        <p:spPr>
          <a:xfrm>
            <a:off x="3008376" y="5265599"/>
            <a:ext cx="1158201"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$141.76</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3" name="Shape 71"/>
          <p:cNvSpPr/>
          <p:nvPr/>
        </p:nvSpPr>
        <p:spPr>
          <a:xfrm>
            <a:off x="3008376" y="5505495"/>
            <a:ext cx="1138632"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$139.36</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7" name="Shape 75"/>
          <p:cNvSpPr/>
          <p:nvPr/>
        </p:nvSpPr>
        <p:spPr>
          <a:xfrm>
            <a:off x="3008376" y="5745390"/>
            <a:ext cx="1122612"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$137.40</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1" name="Shape 79"/>
          <p:cNvSpPr/>
          <p:nvPr/>
        </p:nvSpPr>
        <p:spPr>
          <a:xfrm>
            <a:off x="8558784" y="1907062"/>
            <a:ext cx="1121023"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$137.21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5" name="Shape 83"/>
          <p:cNvSpPr/>
          <p:nvPr/>
        </p:nvSpPr>
        <p:spPr>
          <a:xfrm>
            <a:off x="8558784" y="2146957"/>
            <a:ext cx="1118529"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$136.90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89" name="Shape 87"/>
          <p:cNvSpPr/>
          <p:nvPr/>
        </p:nvSpPr>
        <p:spPr>
          <a:xfrm>
            <a:off x="8558784" y="2386853"/>
            <a:ext cx="1098819" cy="119948"/>
          </a:xfrm>
          <a:prstGeom prst="rect">
            <a:avLst/>
          </a:prstGeom>
          <a:solidFill>
            <a:srgbClr val="12A566"/>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$134.49</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3" name="Shape 91"/>
          <p:cNvSpPr/>
          <p:nvPr/>
        </p:nvSpPr>
        <p:spPr>
          <a:xfrm>
            <a:off x="8558784" y="2626748"/>
            <a:ext cx="1098580" cy="119948"/>
          </a:xfrm>
          <a:prstGeom prst="rect">
            <a:avLst/>
          </a:prstGeom>
          <a:solidFill>
            <a:srgbClr val="12A566"/>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$134.46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7" name="Shape 95"/>
          <p:cNvSpPr/>
          <p:nvPr/>
        </p:nvSpPr>
        <p:spPr>
          <a:xfrm>
            <a:off x="8558784" y="2866644"/>
            <a:ext cx="1047559"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$128.21</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1" name="Shape 99"/>
          <p:cNvSpPr/>
          <p:nvPr/>
        </p:nvSpPr>
        <p:spPr>
          <a:xfrm>
            <a:off x="8558784" y="3106540"/>
            <a:ext cx="1040989"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$127.41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5" name="Shape 103"/>
          <p:cNvSpPr/>
          <p:nvPr/>
        </p:nvSpPr>
        <p:spPr>
          <a:xfrm>
            <a:off x="8558784" y="3346435"/>
            <a:ext cx="1016832"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$124.45</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9" name="Shape 107"/>
          <p:cNvSpPr/>
          <p:nvPr/>
        </p:nvSpPr>
        <p:spPr>
          <a:xfrm>
            <a:off x="8558784" y="3586331"/>
            <a:ext cx="1002319"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$122.68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13" name="Shape 111"/>
          <p:cNvSpPr/>
          <p:nvPr/>
        </p:nvSpPr>
        <p:spPr>
          <a:xfrm>
            <a:off x="8558784" y="3826226"/>
            <a:ext cx="975333"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$119.37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7" name="Shape 115"/>
          <p:cNvSpPr/>
          <p:nvPr/>
        </p:nvSpPr>
        <p:spPr>
          <a:xfrm>
            <a:off x="8558784" y="4066122"/>
            <a:ext cx="95741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$117.18</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21" name="Shape 119"/>
          <p:cNvSpPr/>
          <p:nvPr/>
        </p:nvSpPr>
        <p:spPr>
          <a:xfrm>
            <a:off x="8558784" y="4306017"/>
            <a:ext cx="939310"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$114.97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5" name="Shape 123"/>
          <p:cNvSpPr/>
          <p:nvPr/>
        </p:nvSpPr>
        <p:spPr>
          <a:xfrm>
            <a:off x="8558784" y="4545913"/>
            <a:ext cx="892374"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$109.22</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29" name="Shape 127"/>
          <p:cNvSpPr/>
          <p:nvPr/>
        </p:nvSpPr>
        <p:spPr>
          <a:xfrm>
            <a:off x="8558784" y="4785808"/>
            <a:ext cx="857012"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$104.89</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3" name="Shape 131"/>
          <p:cNvSpPr/>
          <p:nvPr/>
        </p:nvSpPr>
        <p:spPr>
          <a:xfrm>
            <a:off x="8558784" y="5025704"/>
            <a:ext cx="838677"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$102.65</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37" name="Shape 135"/>
          <p:cNvSpPr/>
          <p:nvPr/>
        </p:nvSpPr>
        <p:spPr>
          <a:xfrm>
            <a:off x="8558784" y="5265599"/>
            <a:ext cx="815241"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$99.78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41" name="Shape 139"/>
          <p:cNvSpPr/>
          <p:nvPr/>
        </p:nvSpPr>
        <p:spPr>
          <a:xfrm>
            <a:off x="8558784" y="5505495"/>
            <a:ext cx="712528"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$87.21</a:t>
            </a:r>
            <a:endParaRPr lang="en-US" sz="1200" dirty="0"/>
          </a:p>
        </p:txBody>
      </p:sp>
      <p:sp>
        <p:nvSpPr>
          <p:cNvPr id="143" name="Shape 141"/>
          <p:cNvSpPr/>
          <p:nvPr/>
        </p:nvSpPr>
        <p:spPr>
          <a:xfrm>
            <a:off x="4061880" y="1847088"/>
            <a:ext cx="14630" cy="4078224"/>
          </a:xfrm>
          <a:prstGeom prst="rect">
            <a:avLst/>
          </a:prstGeom>
          <a:solidFill>
            <a:srgbClr val="0B2C4A"/>
          </a:solidFill>
          <a:ln/>
        </p:spPr>
      </p:sp>
      <p:sp>
        <p:nvSpPr>
          <p:cNvPr id="144" name="Shape 142"/>
          <p:cNvSpPr/>
          <p:nvPr/>
        </p:nvSpPr>
        <p:spPr>
          <a:xfrm>
            <a:off x="9612288"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64236"/>
          </a:xfrm>
          <a:prstGeom prst="rect">
            <a:avLst/>
          </a:prstGeom>
          <a:solidFill>
            <a:srgbClr val="EDF4FA"/>
          </a:solidFill>
          <a:ln/>
        </p:spPr>
      </p:sp>
      <p:sp>
        <p:nvSpPr>
          <p:cNvPr id="147" name="Text 145"/>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21 of 33 stores at or above the $129.84 group, led by LR Reno at $207.05. Nissan is lowest at $87.21.</a:t>
            </a:r>
            <a:endParaRPr lang="en-US" sz="1550" dirty="0"/>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+$3.75</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 name="Shape 11"/>
          <p:cNvSpPr/>
          <p:nvPr/>
        </p:nvSpPr>
        <p:spPr>
          <a:xfrm>
            <a:off x="3785616" y="1911860"/>
            <a:ext cx="60083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+$46.71</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7" name="Shape 15"/>
          <p:cNvSpPr/>
          <p:nvPr/>
        </p:nvSpPr>
        <p:spPr>
          <a:xfrm>
            <a:off x="3785616" y="2151755"/>
            <a:ext cx="509224"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+$39.59</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1" name="Shape 19"/>
          <p:cNvSpPr/>
          <p:nvPr/>
        </p:nvSpPr>
        <p:spPr>
          <a:xfrm>
            <a:off x="3785616" y="2391651"/>
            <a:ext cx="348786"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+$27.12</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25" name="Shape 23"/>
          <p:cNvSpPr/>
          <p:nvPr/>
        </p:nvSpPr>
        <p:spPr>
          <a:xfrm>
            <a:off x="3785616" y="2631546"/>
            <a:ext cx="267706"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+$20.81</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9" name="Shape 27"/>
          <p:cNvSpPr/>
          <p:nvPr/>
        </p:nvSpPr>
        <p:spPr>
          <a:xfrm>
            <a:off x="3785616" y="2871442"/>
            <a:ext cx="224364"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+$17.44</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3" name="Shape 31"/>
          <p:cNvSpPr/>
          <p:nvPr/>
        </p:nvSpPr>
        <p:spPr>
          <a:xfrm>
            <a:off x="3785616" y="3111337"/>
            <a:ext cx="163138"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+$12.68</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37" name="Shape 35"/>
          <p:cNvSpPr/>
          <p:nvPr/>
        </p:nvSpPr>
        <p:spPr>
          <a:xfrm>
            <a:off x="3785616" y="3351233"/>
            <a:ext cx="159860"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+$12.43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41" name="Shape 39"/>
          <p:cNvSpPr/>
          <p:nvPr/>
        </p:nvSpPr>
        <p:spPr>
          <a:xfrm>
            <a:off x="3785616" y="3591128"/>
            <a:ext cx="154838"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+$12.04</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45" name="Shape 43"/>
          <p:cNvSpPr/>
          <p:nvPr/>
        </p:nvSpPr>
        <p:spPr>
          <a:xfrm>
            <a:off x="3785616" y="3831024"/>
            <a:ext cx="143159"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+$11.13</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9" name="Shape 47"/>
          <p:cNvSpPr/>
          <p:nvPr/>
        </p:nvSpPr>
        <p:spPr>
          <a:xfrm>
            <a:off x="3785616" y="4070920"/>
            <a:ext cx="82257"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+$6.39</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53" name="Shape 51"/>
          <p:cNvSpPr/>
          <p:nvPr/>
        </p:nvSpPr>
        <p:spPr>
          <a:xfrm>
            <a:off x="3785616" y="4310815"/>
            <a:ext cx="80763"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+$6.28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57" name="Shape 55"/>
          <p:cNvSpPr/>
          <p:nvPr/>
        </p:nvSpPr>
        <p:spPr>
          <a:xfrm>
            <a:off x="3785616" y="4550711"/>
            <a:ext cx="73598"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+$5.72</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1" name="Shape 59"/>
          <p:cNvSpPr/>
          <p:nvPr/>
        </p:nvSpPr>
        <p:spPr>
          <a:xfrm>
            <a:off x="3785616" y="4790606"/>
            <a:ext cx="70341"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+$5.47</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5" name="Shape 63"/>
          <p:cNvSpPr/>
          <p:nvPr/>
        </p:nvSpPr>
        <p:spPr>
          <a:xfrm>
            <a:off x="3785616" y="5030502"/>
            <a:ext cx="66109"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+$5.14</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9" name="Shape 67"/>
          <p:cNvSpPr/>
          <p:nvPr/>
        </p:nvSpPr>
        <p:spPr>
          <a:xfrm>
            <a:off x="3785616" y="5270397"/>
            <a:ext cx="58016"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+$4.51</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73" name="Shape 71"/>
          <p:cNvSpPr/>
          <p:nvPr/>
        </p:nvSpPr>
        <p:spPr>
          <a:xfrm>
            <a:off x="3785616" y="5510293"/>
            <a:ext cx="49142"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+$3.82</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7" name="Shape 75"/>
          <p:cNvSpPr/>
          <p:nvPr/>
        </p:nvSpPr>
        <p:spPr>
          <a:xfrm>
            <a:off x="3785616" y="5750188"/>
            <a:ext cx="48226"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1" name="Shape 79"/>
          <p:cNvSpPr/>
          <p:nvPr/>
        </p:nvSpPr>
        <p:spPr>
          <a:xfrm>
            <a:off x="9336024" y="1911860"/>
            <a:ext cx="46014"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+$3.58</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85" name="Shape 83"/>
          <p:cNvSpPr/>
          <p:nvPr/>
        </p:nvSpPr>
        <p:spPr>
          <a:xfrm>
            <a:off x="9336024" y="2151755"/>
            <a:ext cx="24966"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+$1.94</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89" name="Shape 87"/>
          <p:cNvSpPr/>
          <p:nvPr/>
        </p:nvSpPr>
        <p:spPr>
          <a:xfrm>
            <a:off x="9336024" y="2391651"/>
            <a:ext cx="12802"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3" name="Shape 91"/>
          <p:cNvSpPr/>
          <p:nvPr/>
        </p:nvSpPr>
        <p:spPr>
          <a:xfrm>
            <a:off x="9324019" y="2631546"/>
            <a:ext cx="12802"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−$0.93</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7" name="Shape 95"/>
          <p:cNvSpPr/>
          <p:nvPr/>
        </p:nvSpPr>
        <p:spPr>
          <a:xfrm>
            <a:off x="9317348" y="2871442"/>
            <a:ext cx="18676"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−$1.45</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1" name="Shape 99"/>
          <p:cNvSpPr/>
          <p:nvPr/>
        </p:nvSpPr>
        <p:spPr>
          <a:xfrm>
            <a:off x="9313515" y="3111337"/>
            <a:ext cx="22509"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−$1.75</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5" name="Shape 103"/>
          <p:cNvSpPr/>
          <p:nvPr/>
        </p:nvSpPr>
        <p:spPr>
          <a:xfrm>
            <a:off x="9278246" y="3351233"/>
            <a:ext cx="57778"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−$4.49</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9" name="Shape 107"/>
          <p:cNvSpPr/>
          <p:nvPr/>
        </p:nvSpPr>
        <p:spPr>
          <a:xfrm>
            <a:off x="9273152" y="3591128"/>
            <a:ext cx="62872"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−$4.89</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3" name="Shape 111"/>
          <p:cNvSpPr/>
          <p:nvPr/>
        </p:nvSpPr>
        <p:spPr>
          <a:xfrm>
            <a:off x="9257842" y="3831024"/>
            <a:ext cx="78182"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−$6.08</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17" name="Shape 115"/>
          <p:cNvSpPr/>
          <p:nvPr/>
        </p:nvSpPr>
        <p:spPr>
          <a:xfrm>
            <a:off x="9253717" y="4070920"/>
            <a:ext cx="82307"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−$6.40</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1" name="Shape 119"/>
          <p:cNvSpPr/>
          <p:nvPr/>
        </p:nvSpPr>
        <p:spPr>
          <a:xfrm>
            <a:off x="9203894" y="4310815"/>
            <a:ext cx="132130"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−$10.27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5" name="Shape 123"/>
          <p:cNvSpPr/>
          <p:nvPr/>
        </p:nvSpPr>
        <p:spPr>
          <a:xfrm>
            <a:off x="9107808" y="4550711"/>
            <a:ext cx="228216"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−$17.74</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9" name="Shape 127"/>
          <p:cNvSpPr/>
          <p:nvPr/>
        </p:nvSpPr>
        <p:spPr>
          <a:xfrm>
            <a:off x="9069070" y="4790606"/>
            <a:ext cx="266954"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−$20.75</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3" name="Shape 131"/>
          <p:cNvSpPr/>
          <p:nvPr/>
        </p:nvSpPr>
        <p:spPr>
          <a:xfrm>
            <a:off x="8916687" y="5030502"/>
            <a:ext cx="419337"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−$32.60</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7" name="Shape 135"/>
          <p:cNvSpPr/>
          <p:nvPr/>
        </p:nvSpPr>
        <p:spPr>
          <a:xfrm>
            <a:off x="8809839" y="5270397"/>
            <a:ext cx="526185"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−$40.91</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−$60.43</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20 of 33 stores raised internal ELR, led by Hyundai St George at +$46.71 to $205.15. 13 declined; Kia LV fell most at −$60.43.</a:t>
            </a:r>
            <a:endParaRPr lang="en-US" sz="1600" dirty="0"/>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$158.44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$205.15</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+$46.71</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$167.46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$207.05</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+$39.59</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$138.70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$165.81</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+$27.12</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$113.65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$134.46</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+$20.81</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$97.52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$114.97</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+$17.44</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$227.39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$166.97</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−$60.43</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$182.66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$141.76</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−$40.91</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$119.81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$87.21</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−$32.60</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$172.28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$151.53</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−$20.75</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$157.10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$139.36</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−$17.74</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$176.79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$233.00</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+$56.21</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$134.35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$182.97</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+$48.61</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$159.34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$187.46</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+$28.12</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$102.71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$128.57</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+$25.85</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$96.74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$119.28</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+$22.54</a:t>
            </a:r>
            <a:endParaRPr lang="en-US" sz="1600" dirty="0"/>
          </a:p>
        </p:txBody>
      </p:sp>
      <p:sp>
        <p:nvSpPr>
          <p:cNvPr id="69" name="Shape 67"/>
          <p:cNvSpPr/>
          <p:nvPr/>
        </p:nvSpPr>
        <p:spPr>
          <a:xfrm>
            <a:off x="457200" y="6126480"/>
            <a:ext cx="11274552" cy="615696"/>
          </a:xfrm>
          <a:prstGeom prst="rect">
            <a:avLst/>
          </a:prstGeom>
          <a:solidFill>
            <a:srgbClr val="EDF4FA"/>
          </a:solidFill>
          <a:ln/>
        </p:spPr>
      </p:sp>
      <p:sp>
        <p:nvSpPr>
          <p:cNvPr id="70"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Hyundai St George, LR Reno and Lincoln what changed. Ask Kia LV, Mazda and Nissan what got in the way. Ask Hyundai St George, Acura and Audi Reno what they started this year.</a:t>
            </a:r>
            <a:endParaRPr lang="en-US" sz="1600" dirty="0"/>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Labor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77.9%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78.1%</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+0.3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+0.3%</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Internal Labor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0.3 pts to 78.1%, ahead of 2025 in six of nine months.</a:t>
            </a:r>
            <a:endParaRPr lang="en-US" sz="1600" dirty="0"/>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LABOR GROSS PROFIT %</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78.1%</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85.9%</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 name="Shape 15"/>
          <p:cNvSpPr/>
          <p:nvPr/>
        </p:nvSpPr>
        <p:spPr>
          <a:xfrm>
            <a:off x="3008376" y="2146957"/>
            <a:ext cx="1664906"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85.3%</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1" name="Shape 19"/>
          <p:cNvSpPr/>
          <p:nvPr/>
        </p:nvSpPr>
        <p:spPr>
          <a:xfrm>
            <a:off x="3008376" y="2386853"/>
            <a:ext cx="1641280"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84.8%</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25" name="Shape 23"/>
          <p:cNvSpPr/>
          <p:nvPr/>
        </p:nvSpPr>
        <p:spPr>
          <a:xfrm>
            <a:off x="3008376" y="2626748"/>
            <a:ext cx="1569988"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9" name="Shape 27"/>
          <p:cNvSpPr/>
          <p:nvPr/>
        </p:nvSpPr>
        <p:spPr>
          <a:xfrm>
            <a:off x="3008376" y="2866644"/>
            <a:ext cx="1546216"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82.8%</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3" name="Shape 31"/>
          <p:cNvSpPr/>
          <p:nvPr/>
        </p:nvSpPr>
        <p:spPr>
          <a:xfrm>
            <a:off x="3008376" y="3106540"/>
            <a:ext cx="1521776"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37" name="Shape 35"/>
          <p:cNvSpPr/>
          <p:nvPr/>
        </p:nvSpPr>
        <p:spPr>
          <a:xfrm>
            <a:off x="3008376" y="3346435"/>
            <a:ext cx="1517221"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1" name="Shape 39"/>
          <p:cNvSpPr/>
          <p:nvPr/>
        </p:nvSpPr>
        <p:spPr>
          <a:xfrm>
            <a:off x="3008376" y="3586331"/>
            <a:ext cx="1512092"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82.1%</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3008376" y="3826226"/>
            <a:ext cx="1502318"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81.9%</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9" name="Shape 47"/>
          <p:cNvSpPr/>
          <p:nvPr/>
        </p:nvSpPr>
        <p:spPr>
          <a:xfrm>
            <a:off x="3008376" y="4066122"/>
            <a:ext cx="1485717"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53" name="Shape 51"/>
          <p:cNvSpPr/>
          <p:nvPr/>
        </p:nvSpPr>
        <p:spPr>
          <a:xfrm>
            <a:off x="3008376" y="4306017"/>
            <a:ext cx="1450241"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7" name="Shape 55"/>
          <p:cNvSpPr/>
          <p:nvPr/>
        </p:nvSpPr>
        <p:spPr>
          <a:xfrm>
            <a:off x="3008376" y="4545913"/>
            <a:ext cx="1425422"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80.2%</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1" name="Shape 59"/>
          <p:cNvSpPr/>
          <p:nvPr/>
        </p:nvSpPr>
        <p:spPr>
          <a:xfrm>
            <a:off x="3008376" y="4785808"/>
            <a:ext cx="1402468"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79.8%</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5" name="Shape 63"/>
          <p:cNvSpPr/>
          <p:nvPr/>
        </p:nvSpPr>
        <p:spPr>
          <a:xfrm>
            <a:off x="3008376" y="5025704"/>
            <a:ext cx="1402095"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79.7%</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008376" y="5265599"/>
            <a:ext cx="1364813"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79.0%</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3" name="Shape 71"/>
          <p:cNvSpPr/>
          <p:nvPr/>
        </p:nvSpPr>
        <p:spPr>
          <a:xfrm>
            <a:off x="3008376" y="5505495"/>
            <a:ext cx="1327108"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78.2%</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77" name="Shape 75"/>
          <p:cNvSpPr/>
          <p:nvPr/>
        </p:nvSpPr>
        <p:spPr>
          <a:xfrm>
            <a:off x="3008376" y="5745390"/>
            <a:ext cx="1282160"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77.2%</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8558784" y="1907062"/>
            <a:ext cx="1241952"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76.4%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5" name="Shape 83"/>
          <p:cNvSpPr/>
          <p:nvPr/>
        </p:nvSpPr>
        <p:spPr>
          <a:xfrm>
            <a:off x="8558784" y="2146957"/>
            <a:ext cx="1223403"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76.0%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89" name="Shape 87"/>
          <p:cNvSpPr/>
          <p:nvPr/>
        </p:nvSpPr>
        <p:spPr>
          <a:xfrm>
            <a:off x="8558784" y="2386853"/>
            <a:ext cx="1215016"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75.8%</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3" name="Shape 91"/>
          <p:cNvSpPr/>
          <p:nvPr/>
        </p:nvSpPr>
        <p:spPr>
          <a:xfrm>
            <a:off x="8558784" y="2626748"/>
            <a:ext cx="1209791"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75.7%</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8558784" y="2866644"/>
            <a:ext cx="1201696"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75.5%</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1" name="Shape 99"/>
          <p:cNvSpPr/>
          <p:nvPr/>
        </p:nvSpPr>
        <p:spPr>
          <a:xfrm>
            <a:off x="8558784" y="3106540"/>
            <a:ext cx="1189467"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75.2%</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5" name="Shape 103"/>
          <p:cNvSpPr/>
          <p:nvPr/>
        </p:nvSpPr>
        <p:spPr>
          <a:xfrm>
            <a:off x="8558784" y="3346435"/>
            <a:ext cx="1139224"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74.2%</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09" name="Shape 107"/>
          <p:cNvSpPr/>
          <p:nvPr/>
        </p:nvSpPr>
        <p:spPr>
          <a:xfrm>
            <a:off x="8558784" y="3586331"/>
            <a:ext cx="1119486"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13" name="Shape 111"/>
          <p:cNvSpPr/>
          <p:nvPr/>
        </p:nvSpPr>
        <p:spPr>
          <a:xfrm>
            <a:off x="8558784" y="3826226"/>
            <a:ext cx="1061761"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7" name="Shape 115"/>
          <p:cNvSpPr/>
          <p:nvPr/>
        </p:nvSpPr>
        <p:spPr>
          <a:xfrm>
            <a:off x="8558784" y="4066122"/>
            <a:ext cx="1054105"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72.4%</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1" name="Shape 119"/>
          <p:cNvSpPr/>
          <p:nvPr/>
        </p:nvSpPr>
        <p:spPr>
          <a:xfrm>
            <a:off x="8558784" y="4306017"/>
            <a:ext cx="102057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71.7%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5" name="Shape 123"/>
          <p:cNvSpPr/>
          <p:nvPr/>
        </p:nvSpPr>
        <p:spPr>
          <a:xfrm>
            <a:off x="8558784" y="4545913"/>
            <a:ext cx="951834"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70.2%</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29" name="Shape 127"/>
          <p:cNvSpPr/>
          <p:nvPr/>
        </p:nvSpPr>
        <p:spPr>
          <a:xfrm>
            <a:off x="8558784" y="4785808"/>
            <a:ext cx="942987"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70.0%</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58784" y="5025704"/>
            <a:ext cx="887722"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68.8%</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7" name="Shape 135"/>
          <p:cNvSpPr/>
          <p:nvPr/>
        </p:nvSpPr>
        <p:spPr>
          <a:xfrm>
            <a:off x="8558784" y="5265599"/>
            <a:ext cx="837155"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41" name="Shape 139"/>
          <p:cNvSpPr/>
          <p:nvPr/>
        </p:nvSpPr>
        <p:spPr>
          <a:xfrm>
            <a:off x="8558784" y="5505495"/>
            <a:ext cx="41428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58.8%</a:t>
            </a:r>
            <a:endParaRPr lang="en-US" sz="1200" dirty="0"/>
          </a:p>
        </p:txBody>
      </p:sp>
      <p:sp>
        <p:nvSpPr>
          <p:cNvPr id="143" name="Shape 141"/>
          <p:cNvSpPr/>
          <p:nvPr/>
        </p:nvSpPr>
        <p:spPr>
          <a:xfrm>
            <a:off x="4326190" y="1847088"/>
            <a:ext cx="14630" cy="4078224"/>
          </a:xfrm>
          <a:prstGeom prst="rect">
            <a:avLst/>
          </a:prstGeom>
          <a:solidFill>
            <a:srgbClr val="0B2C4A"/>
          </a:solidFill>
          <a:ln/>
        </p:spPr>
      </p:sp>
      <p:sp>
        <p:nvSpPr>
          <p:cNvPr id="144" name="Shape 142"/>
          <p:cNvSpPr/>
          <p:nvPr/>
        </p:nvSpPr>
        <p:spPr>
          <a:xfrm>
            <a:off x="9876598"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48996"/>
          </a:xfrm>
          <a:prstGeom prst="rect">
            <a:avLst/>
          </a:prstGeom>
          <a:solidFill>
            <a:srgbClr val="EDF4FA"/>
          </a:solidFill>
          <a:ln/>
        </p:spPr>
      </p:sp>
      <p:sp>
        <p:nvSpPr>
          <p:cNvPr id="147" name="Text 145"/>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2C4A"/>
                </a:solidFill>
                <a:latin typeface="Inter" pitchFamily="34" charset="0"/>
                <a:ea typeface="Inter" pitchFamily="34" charset="-122"/>
                <a:cs typeface="Inter" pitchFamily="34" charset="-120"/>
              </a:rPr>
              <a:t>16 of 33 stores at or above the 78.1% group, led by Honda Henderson at 85.9%. Audi Reno is lowest at 58.8%.</a:t>
            </a:r>
            <a:endParaRPr lang="en-US" sz="1450" dirty="0"/>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LABOR GROSS PROFIT %</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+0.3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 name="Shape 11"/>
          <p:cNvSpPr/>
          <p:nvPr/>
        </p:nvSpPr>
        <p:spPr>
          <a:xfrm>
            <a:off x="3785616" y="1911860"/>
            <a:ext cx="495495"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+5.6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 name="Shape 15"/>
          <p:cNvSpPr/>
          <p:nvPr/>
        </p:nvSpPr>
        <p:spPr>
          <a:xfrm>
            <a:off x="3785616" y="2151755"/>
            <a:ext cx="322622"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1" name="Shape 19"/>
          <p:cNvSpPr/>
          <p:nvPr/>
        </p:nvSpPr>
        <p:spPr>
          <a:xfrm>
            <a:off x="3785616" y="2391651"/>
            <a:ext cx="30333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5" name="Shape 23"/>
          <p:cNvSpPr/>
          <p:nvPr/>
        </p:nvSpPr>
        <p:spPr>
          <a:xfrm>
            <a:off x="3785616" y="2631546"/>
            <a:ext cx="263778"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9" name="Shape 27"/>
          <p:cNvSpPr/>
          <p:nvPr/>
        </p:nvSpPr>
        <p:spPr>
          <a:xfrm>
            <a:off x="3785616" y="2871442"/>
            <a:ext cx="214318"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33" name="Shape 31"/>
          <p:cNvSpPr/>
          <p:nvPr/>
        </p:nvSpPr>
        <p:spPr>
          <a:xfrm>
            <a:off x="3785616" y="3111337"/>
            <a:ext cx="192096"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37" name="Shape 35"/>
          <p:cNvSpPr/>
          <p:nvPr/>
        </p:nvSpPr>
        <p:spPr>
          <a:xfrm>
            <a:off x="3785616" y="3351233"/>
            <a:ext cx="188815"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41" name="Shape 39"/>
          <p:cNvSpPr/>
          <p:nvPr/>
        </p:nvSpPr>
        <p:spPr>
          <a:xfrm>
            <a:off x="3785616" y="3591128"/>
            <a:ext cx="160577"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3785616" y="3831024"/>
            <a:ext cx="142780"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9" name="Shape 47"/>
          <p:cNvSpPr/>
          <p:nvPr/>
        </p:nvSpPr>
        <p:spPr>
          <a:xfrm>
            <a:off x="3785616" y="4070920"/>
            <a:ext cx="132169"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53" name="Shape 51"/>
          <p:cNvSpPr/>
          <p:nvPr/>
        </p:nvSpPr>
        <p:spPr>
          <a:xfrm>
            <a:off x="3785616" y="4310815"/>
            <a:ext cx="131489"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7" name="Shape 55"/>
          <p:cNvSpPr/>
          <p:nvPr/>
        </p:nvSpPr>
        <p:spPr>
          <a:xfrm>
            <a:off x="3785616" y="4550711"/>
            <a:ext cx="117300"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1" name="Shape 59"/>
          <p:cNvSpPr/>
          <p:nvPr/>
        </p:nvSpPr>
        <p:spPr>
          <a:xfrm>
            <a:off x="3785616" y="4790606"/>
            <a:ext cx="95080"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65" name="Shape 63"/>
          <p:cNvSpPr/>
          <p:nvPr/>
        </p:nvSpPr>
        <p:spPr>
          <a:xfrm>
            <a:off x="3785616" y="5030502"/>
            <a:ext cx="68825"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+0.8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9" name="Shape 67"/>
          <p:cNvSpPr/>
          <p:nvPr/>
        </p:nvSpPr>
        <p:spPr>
          <a:xfrm>
            <a:off x="3785616" y="5270397"/>
            <a:ext cx="36133"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73" name="Shape 71"/>
          <p:cNvSpPr/>
          <p:nvPr/>
        </p:nvSpPr>
        <p:spPr>
          <a:xfrm>
            <a:off x="3785616" y="5510293"/>
            <a:ext cx="34356"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7" name="Shape 75"/>
          <p:cNvSpPr/>
          <p:nvPr/>
        </p:nvSpPr>
        <p:spPr>
          <a:xfrm>
            <a:off x="3785616" y="5750188"/>
            <a:ext cx="26542"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9336024" y="1911860"/>
            <a:ext cx="1280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5" name="Shape 83"/>
          <p:cNvSpPr/>
          <p:nvPr/>
        </p:nvSpPr>
        <p:spPr>
          <a:xfrm>
            <a:off x="9336024" y="2151755"/>
            <a:ext cx="1280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9" name="Shape 87"/>
          <p:cNvSpPr/>
          <p:nvPr/>
        </p:nvSpPr>
        <p:spPr>
          <a:xfrm>
            <a:off x="9300490" y="2391651"/>
            <a:ext cx="35534"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−0.4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93" name="Shape 91"/>
          <p:cNvSpPr/>
          <p:nvPr/>
        </p:nvSpPr>
        <p:spPr>
          <a:xfrm>
            <a:off x="9251253" y="2631546"/>
            <a:ext cx="84771"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7" name="Shape 95"/>
          <p:cNvSpPr/>
          <p:nvPr/>
        </p:nvSpPr>
        <p:spPr>
          <a:xfrm>
            <a:off x="9226020" y="2871442"/>
            <a:ext cx="110004"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01" name="Shape 99"/>
          <p:cNvSpPr/>
          <p:nvPr/>
        </p:nvSpPr>
        <p:spPr>
          <a:xfrm>
            <a:off x="9211478" y="3111337"/>
            <a:ext cx="124546"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5" name="Shape 103"/>
          <p:cNvSpPr/>
          <p:nvPr/>
        </p:nvSpPr>
        <p:spPr>
          <a:xfrm>
            <a:off x="9201170" y="3351233"/>
            <a:ext cx="134854"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09" name="Shape 107"/>
          <p:cNvSpPr/>
          <p:nvPr/>
        </p:nvSpPr>
        <p:spPr>
          <a:xfrm>
            <a:off x="9108753" y="3591128"/>
            <a:ext cx="22727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13" name="Shape 111"/>
          <p:cNvSpPr/>
          <p:nvPr/>
        </p:nvSpPr>
        <p:spPr>
          <a:xfrm>
            <a:off x="9091564" y="3831024"/>
            <a:ext cx="244460"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17" name="Shape 115"/>
          <p:cNvSpPr/>
          <p:nvPr/>
        </p:nvSpPr>
        <p:spPr>
          <a:xfrm>
            <a:off x="9060005" y="4070920"/>
            <a:ext cx="276019"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1" name="Shape 119"/>
          <p:cNvSpPr/>
          <p:nvPr/>
        </p:nvSpPr>
        <p:spPr>
          <a:xfrm>
            <a:off x="9035101" y="4310815"/>
            <a:ext cx="300923"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5" name="Shape 123"/>
          <p:cNvSpPr/>
          <p:nvPr/>
        </p:nvSpPr>
        <p:spPr>
          <a:xfrm>
            <a:off x="8954892" y="4550711"/>
            <a:ext cx="381132"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−4.3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8929245" y="4790606"/>
            <a:ext cx="406779"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3" name="Shape 131"/>
          <p:cNvSpPr/>
          <p:nvPr/>
        </p:nvSpPr>
        <p:spPr>
          <a:xfrm>
            <a:off x="8865948" y="5030502"/>
            <a:ext cx="470076"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−5.3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7" name="Shape 135"/>
          <p:cNvSpPr/>
          <p:nvPr/>
        </p:nvSpPr>
        <p:spPr>
          <a:xfrm>
            <a:off x="8842326" y="5270397"/>
            <a:ext cx="493698"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−5.6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−8.8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19 of 33 stores raised internal labor GP%, led by Acura at +5.6 pts to 77.2%. 14 declined; Nissan fell most at −8.8 pts.</a:t>
            </a:r>
            <a:endParaRPr lang="en-US" sz="1600" dirty="0"/>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71.6%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77.2%</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+5.6 pts</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79.8%</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+3.7 pts</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78.8%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82.3%</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 pts</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82.3%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85.3%</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+3.0 pts</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80.4%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82.8%</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+2.4 pts</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67.8%</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−8.8 pts</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75.6%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70.0%</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−5.6 pts</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85.1%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79.7%</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−5.3 pts</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78.4%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73.8%</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−4.6 pts</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72.5%</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−4.3 pts</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66.2%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72.6%</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+6.4 pts</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82.0%</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+5.2 pts</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83.0%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87.1%</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+4.1 pts</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76.4%</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79.7%</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69" name="Shape 67"/>
          <p:cNvSpPr/>
          <p:nvPr/>
        </p:nvSpPr>
        <p:spPr>
          <a:xfrm>
            <a:off x="457200" y="6126480"/>
            <a:ext cx="11274552" cy="615696"/>
          </a:xfrm>
          <a:prstGeom prst="rect">
            <a:avLst/>
          </a:prstGeom>
          <a:solidFill>
            <a:srgbClr val="EDF4FA"/>
          </a:solidFill>
          <a:ln/>
        </p:spPr>
      </p:sp>
      <p:sp>
        <p:nvSpPr>
          <p:cNvPr id="70"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Acura, Honda Spokane and LR Reno what changed. Ask Nissan, LR LV and Mazda what got in the way. Ask LR Henderson, Kia St George and Hyundai St George what they started this year.</a:t>
            </a:r>
            <a:endParaRPr lang="en-US" sz="1600" dirty="0"/>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Parts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36.0%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36.5%</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+0.5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+1.4%</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Internal Parts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0.5 pts to 36.5%, ahead of 2025 in eight of nine months.</a:t>
            </a:r>
            <a:endParaRPr lang="en-US" sz="1600" dirty="0"/>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PARTS GROSS PROFIT %</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36.5%</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45.1%</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571389"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43.3%</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1" name="Shape 19"/>
          <p:cNvSpPr/>
          <p:nvPr/>
        </p:nvSpPr>
        <p:spPr>
          <a:xfrm>
            <a:off x="3008376" y="2386853"/>
            <a:ext cx="1526083"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5" name="Shape 23"/>
          <p:cNvSpPr/>
          <p:nvPr/>
        </p:nvSpPr>
        <p:spPr>
          <a:xfrm>
            <a:off x="3008376" y="2626748"/>
            <a:ext cx="1427052"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41.2%</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9" name="Shape 27"/>
          <p:cNvSpPr/>
          <p:nvPr/>
        </p:nvSpPr>
        <p:spPr>
          <a:xfrm>
            <a:off x="3008376" y="2866644"/>
            <a:ext cx="1404264"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40.9%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3" name="Shape 31"/>
          <p:cNvSpPr/>
          <p:nvPr/>
        </p:nvSpPr>
        <p:spPr>
          <a:xfrm>
            <a:off x="3008376" y="3106540"/>
            <a:ext cx="1329194"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7" name="Shape 35"/>
          <p:cNvSpPr/>
          <p:nvPr/>
        </p:nvSpPr>
        <p:spPr>
          <a:xfrm>
            <a:off x="3008376" y="3346435"/>
            <a:ext cx="1147637"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37.0%</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41" name="Shape 39"/>
          <p:cNvSpPr/>
          <p:nvPr/>
        </p:nvSpPr>
        <p:spPr>
          <a:xfrm>
            <a:off x="3008376" y="3586331"/>
            <a:ext cx="1143623"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37.0%</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5" name="Shape 43"/>
          <p:cNvSpPr/>
          <p:nvPr/>
        </p:nvSpPr>
        <p:spPr>
          <a:xfrm>
            <a:off x="3008376" y="3826226"/>
            <a:ext cx="113845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36.9%</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49" name="Shape 47"/>
          <p:cNvSpPr/>
          <p:nvPr/>
        </p:nvSpPr>
        <p:spPr>
          <a:xfrm>
            <a:off x="3008376" y="4066122"/>
            <a:ext cx="1133430"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36.8%</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3" name="Shape 51"/>
          <p:cNvSpPr/>
          <p:nvPr/>
        </p:nvSpPr>
        <p:spPr>
          <a:xfrm>
            <a:off x="3008376" y="4306017"/>
            <a:ext cx="1126165"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36.7%</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57" name="Shape 55"/>
          <p:cNvSpPr/>
          <p:nvPr/>
        </p:nvSpPr>
        <p:spPr>
          <a:xfrm>
            <a:off x="3008376" y="4545913"/>
            <a:ext cx="1120821"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36.6%</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1" name="Shape 59"/>
          <p:cNvSpPr/>
          <p:nvPr/>
        </p:nvSpPr>
        <p:spPr>
          <a:xfrm>
            <a:off x="3008376" y="4785808"/>
            <a:ext cx="1111196"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36.5%</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5" name="Shape 63"/>
          <p:cNvSpPr/>
          <p:nvPr/>
        </p:nvSpPr>
        <p:spPr>
          <a:xfrm>
            <a:off x="3008376" y="5025704"/>
            <a:ext cx="1097912"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36.3%</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9" name="Shape 67"/>
          <p:cNvSpPr/>
          <p:nvPr/>
        </p:nvSpPr>
        <p:spPr>
          <a:xfrm>
            <a:off x="3008376" y="5265599"/>
            <a:ext cx="1082615"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36.1%</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3" name="Shape 71"/>
          <p:cNvSpPr/>
          <p:nvPr/>
        </p:nvSpPr>
        <p:spPr>
          <a:xfrm>
            <a:off x="3008376" y="5505495"/>
            <a:ext cx="1017763"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77" name="Shape 75"/>
          <p:cNvSpPr/>
          <p:nvPr/>
        </p:nvSpPr>
        <p:spPr>
          <a:xfrm>
            <a:off x="3008376" y="5745390"/>
            <a:ext cx="975057"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81" name="Shape 79"/>
          <p:cNvSpPr/>
          <p:nvPr/>
        </p:nvSpPr>
        <p:spPr>
          <a:xfrm>
            <a:off x="8558784" y="1907062"/>
            <a:ext cx="973182"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5" name="Shape 83"/>
          <p:cNvSpPr/>
          <p:nvPr/>
        </p:nvSpPr>
        <p:spPr>
          <a:xfrm>
            <a:off x="8558784" y="2146957"/>
            <a:ext cx="944183"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89" name="Shape 87"/>
          <p:cNvSpPr/>
          <p:nvPr/>
        </p:nvSpPr>
        <p:spPr>
          <a:xfrm>
            <a:off x="8558784" y="2386853"/>
            <a:ext cx="900321"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33.4%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3" name="Shape 91"/>
          <p:cNvSpPr/>
          <p:nvPr/>
        </p:nvSpPr>
        <p:spPr>
          <a:xfrm>
            <a:off x="8558784" y="2626748"/>
            <a:ext cx="865365"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32.8%</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97" name="Shape 95"/>
          <p:cNvSpPr/>
          <p:nvPr/>
        </p:nvSpPr>
        <p:spPr>
          <a:xfrm>
            <a:off x="8558784" y="2866644"/>
            <a:ext cx="844338"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32.5%</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1" name="Shape 99"/>
          <p:cNvSpPr/>
          <p:nvPr/>
        </p:nvSpPr>
        <p:spPr>
          <a:xfrm>
            <a:off x="8558784" y="3106540"/>
            <a:ext cx="78883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31.7%</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5" name="Shape 103"/>
          <p:cNvSpPr/>
          <p:nvPr/>
        </p:nvSpPr>
        <p:spPr>
          <a:xfrm>
            <a:off x="8558784" y="3346435"/>
            <a:ext cx="763564"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31.3%</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09" name="Shape 107"/>
          <p:cNvSpPr/>
          <p:nvPr/>
        </p:nvSpPr>
        <p:spPr>
          <a:xfrm>
            <a:off x="8558784" y="3586331"/>
            <a:ext cx="727033"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13" name="Shape 111"/>
          <p:cNvSpPr/>
          <p:nvPr/>
        </p:nvSpPr>
        <p:spPr>
          <a:xfrm>
            <a:off x="8558784" y="3826226"/>
            <a:ext cx="709633"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17" name="Shape 115"/>
          <p:cNvSpPr/>
          <p:nvPr/>
        </p:nvSpPr>
        <p:spPr>
          <a:xfrm>
            <a:off x="8558784" y="4066122"/>
            <a:ext cx="67728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30.1%</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1" name="Shape 119"/>
          <p:cNvSpPr/>
          <p:nvPr/>
        </p:nvSpPr>
        <p:spPr>
          <a:xfrm>
            <a:off x="8558784" y="4306017"/>
            <a:ext cx="652252"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5" name="Shape 123"/>
          <p:cNvSpPr/>
          <p:nvPr/>
        </p:nvSpPr>
        <p:spPr>
          <a:xfrm>
            <a:off x="8558784" y="4545913"/>
            <a:ext cx="586483"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28.7%</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9" name="Shape 127"/>
          <p:cNvSpPr/>
          <p:nvPr/>
        </p:nvSpPr>
        <p:spPr>
          <a:xfrm>
            <a:off x="8558784" y="4785808"/>
            <a:ext cx="460386"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26.8%</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3" name="Shape 131"/>
          <p:cNvSpPr/>
          <p:nvPr/>
        </p:nvSpPr>
        <p:spPr>
          <a:xfrm>
            <a:off x="8558784" y="5025704"/>
            <a:ext cx="414612"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26.2%</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7" name="Shape 135"/>
          <p:cNvSpPr/>
          <p:nvPr/>
        </p:nvSpPr>
        <p:spPr>
          <a:xfrm>
            <a:off x="8558784" y="5265599"/>
            <a:ext cx="351368"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41" name="Shape 139"/>
          <p:cNvSpPr/>
          <p:nvPr/>
        </p:nvSpPr>
        <p:spPr>
          <a:xfrm>
            <a:off x="8558784" y="5505495"/>
            <a:ext cx="298886"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24.4%</a:t>
            </a:r>
            <a:endParaRPr lang="en-US" sz="1200" dirty="0"/>
          </a:p>
        </p:txBody>
      </p:sp>
      <p:sp>
        <p:nvSpPr>
          <p:cNvPr id="143" name="Shape 141"/>
          <p:cNvSpPr/>
          <p:nvPr/>
        </p:nvSpPr>
        <p:spPr>
          <a:xfrm>
            <a:off x="4109587" y="1847088"/>
            <a:ext cx="14630" cy="4078224"/>
          </a:xfrm>
          <a:prstGeom prst="rect">
            <a:avLst/>
          </a:prstGeom>
          <a:solidFill>
            <a:srgbClr val="0B2C4A"/>
          </a:solidFill>
          <a:ln/>
        </p:spPr>
      </p:sp>
      <p:sp>
        <p:nvSpPr>
          <p:cNvPr id="144" name="Shape 142"/>
          <p:cNvSpPr/>
          <p:nvPr/>
        </p:nvSpPr>
        <p:spPr>
          <a:xfrm>
            <a:off x="9659995"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13 of 33 stores at or above the 36.5% group, led by Toyota Henderson at 45.1%. CDJR Post Falls is lowest at 24.4%.</a:t>
            </a:r>
            <a:endParaRPr lang="en-US" sz="1600" dirty="0"/>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PARTS GROSS PROFIT %</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+0.5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+6.2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746935"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+6.0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21" name="Shape 19"/>
          <p:cNvSpPr/>
          <p:nvPr/>
        </p:nvSpPr>
        <p:spPr>
          <a:xfrm>
            <a:off x="3785616" y="2391651"/>
            <a:ext cx="544841"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25" name="Shape 23"/>
          <p:cNvSpPr/>
          <p:nvPr/>
        </p:nvSpPr>
        <p:spPr>
          <a:xfrm>
            <a:off x="3785616" y="2631546"/>
            <a:ext cx="411845"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9" name="Shape 27"/>
          <p:cNvSpPr/>
          <p:nvPr/>
        </p:nvSpPr>
        <p:spPr>
          <a:xfrm>
            <a:off x="3785616" y="2871442"/>
            <a:ext cx="410069"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3" name="Shape 31"/>
          <p:cNvSpPr/>
          <p:nvPr/>
        </p:nvSpPr>
        <p:spPr>
          <a:xfrm>
            <a:off x="3785616" y="3111337"/>
            <a:ext cx="366175"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7" name="Shape 35"/>
          <p:cNvSpPr/>
          <p:nvPr/>
        </p:nvSpPr>
        <p:spPr>
          <a:xfrm>
            <a:off x="3785616" y="3351233"/>
            <a:ext cx="321691"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1" name="Shape 39"/>
          <p:cNvSpPr/>
          <p:nvPr/>
        </p:nvSpPr>
        <p:spPr>
          <a:xfrm>
            <a:off x="3785616" y="3591128"/>
            <a:ext cx="314225"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5" name="Shape 43"/>
          <p:cNvSpPr/>
          <p:nvPr/>
        </p:nvSpPr>
        <p:spPr>
          <a:xfrm>
            <a:off x="3785616" y="3831024"/>
            <a:ext cx="301280"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9" name="Shape 47"/>
          <p:cNvSpPr/>
          <p:nvPr/>
        </p:nvSpPr>
        <p:spPr>
          <a:xfrm>
            <a:off x="3785616" y="4070920"/>
            <a:ext cx="260605"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785616" y="4310815"/>
            <a:ext cx="253666"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57" name="Shape 55"/>
          <p:cNvSpPr/>
          <p:nvPr/>
        </p:nvSpPr>
        <p:spPr>
          <a:xfrm>
            <a:off x="3785616" y="4550711"/>
            <a:ext cx="211088"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1" name="Shape 59"/>
          <p:cNvSpPr/>
          <p:nvPr/>
        </p:nvSpPr>
        <p:spPr>
          <a:xfrm>
            <a:off x="3785616" y="4790606"/>
            <a:ext cx="192231"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5" name="Shape 63"/>
          <p:cNvSpPr/>
          <p:nvPr/>
        </p:nvSpPr>
        <p:spPr>
          <a:xfrm>
            <a:off x="3785616" y="5030502"/>
            <a:ext cx="190854"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9" name="Shape 67"/>
          <p:cNvSpPr/>
          <p:nvPr/>
        </p:nvSpPr>
        <p:spPr>
          <a:xfrm>
            <a:off x="3785616" y="5270397"/>
            <a:ext cx="190842"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3" name="Shape 71"/>
          <p:cNvSpPr/>
          <p:nvPr/>
        </p:nvSpPr>
        <p:spPr>
          <a:xfrm>
            <a:off x="3785616" y="5510293"/>
            <a:ext cx="158978"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77" name="Shape 75"/>
          <p:cNvSpPr/>
          <p:nvPr/>
        </p:nvSpPr>
        <p:spPr>
          <a:xfrm>
            <a:off x="3785616" y="5750188"/>
            <a:ext cx="145538"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81" name="Shape 79"/>
          <p:cNvSpPr/>
          <p:nvPr/>
        </p:nvSpPr>
        <p:spPr>
          <a:xfrm>
            <a:off x="9336024" y="1911860"/>
            <a:ext cx="118014"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+0.9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5" name="Shape 83"/>
          <p:cNvSpPr/>
          <p:nvPr/>
        </p:nvSpPr>
        <p:spPr>
          <a:xfrm>
            <a:off x="9336024" y="2151755"/>
            <a:ext cx="112861"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+0.9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9" name="Shape 87"/>
          <p:cNvSpPr/>
          <p:nvPr/>
        </p:nvSpPr>
        <p:spPr>
          <a:xfrm>
            <a:off x="9336024" y="2391651"/>
            <a:ext cx="51131"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3" name="Shape 91"/>
          <p:cNvSpPr/>
          <p:nvPr/>
        </p:nvSpPr>
        <p:spPr>
          <a:xfrm>
            <a:off x="9336024" y="2631546"/>
            <a:ext cx="42573"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7" name="Shape 95"/>
          <p:cNvSpPr/>
          <p:nvPr/>
        </p:nvSpPr>
        <p:spPr>
          <a:xfrm>
            <a:off x="9306469" y="2871442"/>
            <a:ext cx="29555"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−0.2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1" name="Shape 99"/>
          <p:cNvSpPr/>
          <p:nvPr/>
        </p:nvSpPr>
        <p:spPr>
          <a:xfrm>
            <a:off x="9293325" y="3111337"/>
            <a:ext cx="42699"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−0.3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5" name="Shape 103"/>
          <p:cNvSpPr/>
          <p:nvPr/>
        </p:nvSpPr>
        <p:spPr>
          <a:xfrm>
            <a:off x="9214515" y="3351233"/>
            <a:ext cx="121509"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9" name="Shape 107"/>
          <p:cNvSpPr/>
          <p:nvPr/>
        </p:nvSpPr>
        <p:spPr>
          <a:xfrm>
            <a:off x="9050201" y="3591128"/>
            <a:ext cx="285823"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13" name="Shape 111"/>
          <p:cNvSpPr/>
          <p:nvPr/>
        </p:nvSpPr>
        <p:spPr>
          <a:xfrm>
            <a:off x="9011711" y="3831024"/>
            <a:ext cx="324313"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17" name="Shape 115"/>
          <p:cNvSpPr/>
          <p:nvPr/>
        </p:nvSpPr>
        <p:spPr>
          <a:xfrm>
            <a:off x="8964654" y="4070920"/>
            <a:ext cx="371370"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21" name="Shape 119"/>
          <p:cNvSpPr/>
          <p:nvPr/>
        </p:nvSpPr>
        <p:spPr>
          <a:xfrm>
            <a:off x="8964060" y="4310815"/>
            <a:ext cx="371964"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5" name="Shape 123"/>
          <p:cNvSpPr/>
          <p:nvPr/>
        </p:nvSpPr>
        <p:spPr>
          <a:xfrm>
            <a:off x="8958532" y="4550711"/>
            <a:ext cx="377492"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9" name="Shape 127"/>
          <p:cNvSpPr/>
          <p:nvPr/>
        </p:nvSpPr>
        <p:spPr>
          <a:xfrm>
            <a:off x="8881593" y="4790606"/>
            <a:ext cx="454431"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3" name="Shape 131"/>
          <p:cNvSpPr/>
          <p:nvPr/>
        </p:nvSpPr>
        <p:spPr>
          <a:xfrm>
            <a:off x="8875241" y="5030502"/>
            <a:ext cx="460783"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37" name="Shape 135"/>
          <p:cNvSpPr/>
          <p:nvPr/>
        </p:nvSpPr>
        <p:spPr>
          <a:xfrm>
            <a:off x="8760254" y="5270397"/>
            <a:ext cx="575770"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731990" y="5510293"/>
            <a:ext cx="604034"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−4.8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21 of 33 stores raised internal parts GP%, led by Acura at +6.2 pts to 34.0%. 12 declined; VW St George fell most at −4.8 pts.</a:t>
            </a:r>
            <a:endParaRPr lang="en-US" sz="1600" dirty="0"/>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27.8%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34.0%</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+6.2 pts</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27.4%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33.4%</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+6.0 pts</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29.7%</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+4.4 pts</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26.8%</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45.1%</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36.5%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31.7%</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−4.8 pts</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32.5%</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−4.6 pts</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25.2%</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−3.7 pts</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31.3%</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−3.6 pts</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30.8%</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−3.0 pts</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34.8%</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+11.9 pts</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26.4%</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+6.2 pts</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31.5%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35.6%</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+4.2 pts</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31.3%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34.5%</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 pts</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37.9%</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 pts</a:t>
            </a:r>
            <a:endParaRPr lang="en-US" sz="1600" dirty="0"/>
          </a:p>
        </p:txBody>
      </p:sp>
      <p:sp>
        <p:nvSpPr>
          <p:cNvPr id="69" name="Shape 67"/>
          <p:cNvSpPr/>
          <p:nvPr/>
        </p:nvSpPr>
        <p:spPr>
          <a:xfrm>
            <a:off x="457200" y="6126480"/>
            <a:ext cx="11274552" cy="615696"/>
          </a:xfrm>
          <a:prstGeom prst="rect">
            <a:avLst/>
          </a:prstGeom>
          <a:solidFill>
            <a:srgbClr val="EDF4FA"/>
          </a:solidFill>
          <a:ln/>
        </p:spPr>
      </p:sp>
      <p:sp>
        <p:nvSpPr>
          <p:cNvPr id="70"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Acura, Hyundai Prescott and Honda Flagstaff what changed. Ask VW St George, Kia LV and LR LV what got in the way. Ask LR Reno, CDJR Post Falls and LR Henderson what they started this year.</a:t>
            </a:r>
            <a:endParaRPr lang="en-US" sz="1600" dirty="0"/>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People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Our most valuable asset: this is what separates us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Invest in training and a defined career path. Be the best place to work.</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Grow your own: apprentice programs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What does being short-handed cost? Limited scheduling, lost opportunities, missed MPIs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Clear pay plans, job descriptions and expectations</a:t>
            </a:r>
            <a:endParaRPr lang="en-US" sz="1800" dirty="0"/>
          </a:p>
        </p:txBody>
      </p:sp>
      <p:sp>
        <p:nvSpPr>
          <p:cNvPr id="10" name="Shape 8"/>
          <p:cNvSpPr/>
          <p:nvPr/>
        </p:nvSpPr>
        <p:spPr>
          <a:xfrm>
            <a:off x="7269480" y="1920240"/>
            <a:ext cx="54864" cy="111252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−76</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ops staff, Sep to Sep, to 1,540 (−4.7%): technicians −17, advisors −7, managers −3.</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$13,617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gross per fixed employee a month, up $1,207. Gross grew 4.1% with 5.1% fewer people.</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−2.3%</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&amp; W ROs year to date. Fewer people and fewer cars: the next gain has to come from car count.</a:t>
            </a:r>
            <a:endParaRPr lang="en-US" sz="1400" dirty="0"/>
          </a:p>
        </p:txBody>
      </p:sp>
      <p:sp>
        <p:nvSpPr>
          <p:cNvPr id="19" name="Shape 17"/>
          <p:cNvSpPr/>
          <p:nvPr/>
        </p:nvSpPr>
        <p:spPr>
          <a:xfrm>
            <a:off x="457200" y="6126480"/>
            <a:ext cx="11274552" cy="615696"/>
          </a:xfrm>
          <a:prstGeom prst="rect">
            <a:avLst/>
          </a:prstGeom>
          <a:solidFill>
            <a:srgbClr val="EDF4FA"/>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keep every seat filled with someone who adds hours. Being short-handed costs appointments, MPIs and sold hours.</a:t>
            </a:r>
            <a:endParaRPr lang="en-US" sz="1600" dirty="0"/>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Pay Plans Are Work Instructions</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Clear and easily understood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Based on customer-pay performance: CP labor or gross per RO, maintenance penetration, total sales or gross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Drive the results you are looking for</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Base versus bonus: a 50/50 ratio</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Every system is perfectly designed to get the results it gets</a:t>
            </a:r>
            <a:endParaRPr lang="en-US" sz="1800" dirty="0"/>
          </a:p>
        </p:txBody>
      </p:sp>
      <p:sp>
        <p:nvSpPr>
          <p:cNvPr id="10" name="Shape 8"/>
          <p:cNvSpPr/>
          <p:nvPr/>
        </p:nvSpPr>
        <p:spPr>
          <a:xfrm>
            <a:off x="7269480" y="1920240"/>
            <a:ext cx="54864" cy="178308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$304</a:t>
            </a:r>
            <a:endParaRPr lang="en-US" sz="3000" dirty="0"/>
          </a:p>
        </p:txBody>
      </p:sp>
      <p:sp>
        <p:nvSpPr>
          <p:cNvPr id="12" name="Text 10"/>
          <p:cNvSpPr txBox="1"/>
          <p:nvPr/>
        </p:nvSpPr>
        <p:spPr>
          <a:xfrm>
            <a:off x="7452360" y="244144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labor per RO, the number the plans should pay on. Up $17.</a:t>
            </a:r>
            <a:endParaRPr lang="en-US" sz="1400" dirty="0"/>
          </a:p>
        </p:txBody>
      </p:sp>
      <p:sp>
        <p:nvSpPr>
          <p:cNvPr id="13" name="Shape 11"/>
          <p:cNvSpPr/>
          <p:nvPr/>
        </p:nvSpPr>
        <p:spPr>
          <a:xfrm>
            <a:off x="7269480" y="3931920"/>
            <a:ext cx="54864" cy="1783080"/>
          </a:xfrm>
          <a:prstGeom prst="rect">
            <a:avLst/>
          </a:prstGeom>
          <a:solidFill>
            <a:srgbClr val="C2352F"/>
          </a:solidFill>
          <a:ln/>
        </p:spPr>
      </p:sp>
      <p:sp>
        <p:nvSpPr>
          <p:cNvPr id="14" name="Text 12"/>
          <p:cNvSpPr txBox="1"/>
          <p:nvPr/>
        </p:nvSpPr>
        <p:spPr>
          <a:xfrm>
            <a:off x="7452360" y="388620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166</a:t>
            </a:r>
            <a:endParaRPr lang="en-US" sz="3000" dirty="0"/>
          </a:p>
        </p:txBody>
      </p:sp>
      <p:sp>
        <p:nvSpPr>
          <p:cNvPr id="15" name="Text 13"/>
          <p:cNvSpPr txBox="1"/>
          <p:nvPr/>
        </p:nvSpPr>
        <p:spPr>
          <a:xfrm>
            <a:off x="7452360" y="445312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&amp; W ROs per advisor a month, down 7. Advisors grew 1.5%; ROs fell 2.3%.</a:t>
            </a:r>
            <a:endParaRPr lang="en-US" sz="1400" dirty="0"/>
          </a:p>
        </p:txBody>
      </p:sp>
      <p:sp>
        <p:nvSpPr>
          <p:cNvPr id="16" name="Shape 14"/>
          <p:cNvSpPr/>
          <p:nvPr/>
        </p:nvSpPr>
        <p:spPr>
          <a:xfrm>
            <a:off x="457200" y="6126480"/>
            <a:ext cx="11274552" cy="371856"/>
          </a:xfrm>
          <a:prstGeom prst="rect">
            <a:avLst/>
          </a:prstGeom>
          <a:solidFill>
            <a:srgbClr val="EDF4FA"/>
          </a:solidFill>
          <a:ln/>
        </p:spPr>
      </p:sp>
      <p:sp>
        <p:nvSpPr>
          <p:cNvPr id="17" name="Text 1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check that every advisor and tech pay plan pays for the numbers on these slides.</a:t>
            </a:r>
            <a:endParaRPr lang="en-US" sz="1600" dirty="0"/>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$12,410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$13,617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+$1,207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+9.7%</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Gross per Fixed Employee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371856"/>
          </a:xfrm>
          <a:prstGeom prst="rect">
            <a:avLst/>
          </a:prstGeom>
          <a:solidFill>
            <a:srgbClr val="E6F6EE"/>
          </a:solidFill>
          <a:ln/>
        </p:spPr>
      </p:sp>
      <p:sp>
        <p:nvSpPr>
          <p:cNvPr id="28"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$1,207 to $13,617, ahead of 2025 in all nine months. Gross grew 4.1%; headcount fell 5.1%.</a:t>
            </a:r>
            <a:endParaRPr lang="en-US" sz="1600" dirty="0"/>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GROSS PER FIXED EMPLOYEE</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$13,617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$23,461</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7" name="Shape 15"/>
          <p:cNvSpPr/>
          <p:nvPr/>
        </p:nvSpPr>
        <p:spPr>
          <a:xfrm>
            <a:off x="3008376" y="2146957"/>
            <a:ext cx="1337457"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$18,549</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1" name="Shape 19"/>
          <p:cNvSpPr/>
          <p:nvPr/>
        </p:nvSpPr>
        <p:spPr>
          <a:xfrm>
            <a:off x="3008376" y="2386853"/>
            <a:ext cx="1317240"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$18,268</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5" name="Shape 23"/>
          <p:cNvSpPr/>
          <p:nvPr/>
        </p:nvSpPr>
        <p:spPr>
          <a:xfrm>
            <a:off x="3008376" y="2626748"/>
            <a:ext cx="1308608"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$18,148</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9" name="Shape 27"/>
          <p:cNvSpPr/>
          <p:nvPr/>
        </p:nvSpPr>
        <p:spPr>
          <a:xfrm>
            <a:off x="3008376" y="2866644"/>
            <a:ext cx="1219968"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$16,919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3" name="Shape 31"/>
          <p:cNvSpPr/>
          <p:nvPr/>
        </p:nvSpPr>
        <p:spPr>
          <a:xfrm>
            <a:off x="3008376" y="3106540"/>
            <a:ext cx="1158109"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$16,061</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7" name="Shape 35"/>
          <p:cNvSpPr/>
          <p:nvPr/>
        </p:nvSpPr>
        <p:spPr>
          <a:xfrm>
            <a:off x="3008376" y="3346435"/>
            <a:ext cx="1151261"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$15,966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1" name="Shape 39"/>
          <p:cNvSpPr/>
          <p:nvPr/>
        </p:nvSpPr>
        <p:spPr>
          <a:xfrm>
            <a:off x="3008376" y="3586331"/>
            <a:ext cx="1121653"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$15,556</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5" name="Shape 43"/>
          <p:cNvSpPr/>
          <p:nvPr/>
        </p:nvSpPr>
        <p:spPr>
          <a:xfrm>
            <a:off x="3008376" y="3826226"/>
            <a:ext cx="1097901"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$15,226</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9" name="Shape 47"/>
          <p:cNvSpPr/>
          <p:nvPr/>
        </p:nvSpPr>
        <p:spPr>
          <a:xfrm>
            <a:off x="3008376" y="4066122"/>
            <a:ext cx="1075517"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$14,916</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3" name="Shape 51"/>
          <p:cNvSpPr/>
          <p:nvPr/>
        </p:nvSpPr>
        <p:spPr>
          <a:xfrm>
            <a:off x="3008376" y="4306017"/>
            <a:ext cx="1053034"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$14,604</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57" name="Shape 55"/>
          <p:cNvSpPr/>
          <p:nvPr/>
        </p:nvSpPr>
        <p:spPr>
          <a:xfrm>
            <a:off x="3008376" y="4545913"/>
            <a:ext cx="1028227"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$14,260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61" name="Shape 59"/>
          <p:cNvSpPr/>
          <p:nvPr/>
        </p:nvSpPr>
        <p:spPr>
          <a:xfrm>
            <a:off x="3008376" y="4785808"/>
            <a:ext cx="1022027"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$14,174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5" name="Shape 63"/>
          <p:cNvSpPr/>
          <p:nvPr/>
        </p:nvSpPr>
        <p:spPr>
          <a:xfrm>
            <a:off x="3008376" y="5025704"/>
            <a:ext cx="958239"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$13,289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008376" y="5265599"/>
            <a:ext cx="928293"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$12,874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3" name="Shape 71"/>
          <p:cNvSpPr/>
          <p:nvPr/>
        </p:nvSpPr>
        <p:spPr>
          <a:xfrm>
            <a:off x="3008376" y="5505495"/>
            <a:ext cx="928044"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$12,871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7" name="Shape 75"/>
          <p:cNvSpPr/>
          <p:nvPr/>
        </p:nvSpPr>
        <p:spPr>
          <a:xfrm>
            <a:off x="3008376" y="5745390"/>
            <a:ext cx="901400"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$12,501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1" name="Shape 79"/>
          <p:cNvSpPr/>
          <p:nvPr/>
        </p:nvSpPr>
        <p:spPr>
          <a:xfrm>
            <a:off x="8558784" y="1907062"/>
            <a:ext cx="891506"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$12,364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8558784" y="2146957"/>
            <a:ext cx="872721"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$12,103</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9" name="Shape 87"/>
          <p:cNvSpPr/>
          <p:nvPr/>
        </p:nvSpPr>
        <p:spPr>
          <a:xfrm>
            <a:off x="8558784" y="2386853"/>
            <a:ext cx="868263"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$12,042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3" name="Shape 91"/>
          <p:cNvSpPr/>
          <p:nvPr/>
        </p:nvSpPr>
        <p:spPr>
          <a:xfrm>
            <a:off x="8558784" y="2626748"/>
            <a:ext cx="865684"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$12,006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97" name="Shape 95"/>
          <p:cNvSpPr/>
          <p:nvPr/>
        </p:nvSpPr>
        <p:spPr>
          <a:xfrm>
            <a:off x="8558784" y="2866644"/>
            <a:ext cx="862196"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$11,957</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1" name="Shape 99"/>
          <p:cNvSpPr/>
          <p:nvPr/>
        </p:nvSpPr>
        <p:spPr>
          <a:xfrm>
            <a:off x="8558784" y="3106540"/>
            <a:ext cx="83865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$11,631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5" name="Shape 103"/>
          <p:cNvSpPr/>
          <p:nvPr/>
        </p:nvSpPr>
        <p:spPr>
          <a:xfrm>
            <a:off x="8558784" y="3346435"/>
            <a:ext cx="832186"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$11,541</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9" name="Shape 107"/>
          <p:cNvSpPr/>
          <p:nvPr/>
        </p:nvSpPr>
        <p:spPr>
          <a:xfrm>
            <a:off x="8558784" y="3586331"/>
            <a:ext cx="802409"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$11,128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3" name="Shape 111"/>
          <p:cNvSpPr/>
          <p:nvPr/>
        </p:nvSpPr>
        <p:spPr>
          <a:xfrm>
            <a:off x="8558784" y="3826226"/>
            <a:ext cx="796340"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$11,044</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8558784" y="4066122"/>
            <a:ext cx="79051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$10,963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1" name="Shape 119"/>
          <p:cNvSpPr/>
          <p:nvPr/>
        </p:nvSpPr>
        <p:spPr>
          <a:xfrm>
            <a:off x="8558784" y="4306017"/>
            <a:ext cx="778288"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$10,794</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5" name="Shape 123"/>
          <p:cNvSpPr/>
          <p:nvPr/>
        </p:nvSpPr>
        <p:spPr>
          <a:xfrm>
            <a:off x="8558784" y="4545913"/>
            <a:ext cx="749257"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$10,391</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9" name="Shape 127"/>
          <p:cNvSpPr/>
          <p:nvPr/>
        </p:nvSpPr>
        <p:spPr>
          <a:xfrm>
            <a:off x="8558784" y="4785808"/>
            <a:ext cx="717653"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$9,953</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58784" y="5025704"/>
            <a:ext cx="712241"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$9,878</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7" name="Shape 135"/>
          <p:cNvSpPr/>
          <p:nvPr/>
        </p:nvSpPr>
        <p:spPr>
          <a:xfrm>
            <a:off x="8558784" y="5265599"/>
            <a:ext cx="684854"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$9,498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1" name="Shape 139"/>
          <p:cNvSpPr/>
          <p:nvPr/>
        </p:nvSpPr>
        <p:spPr>
          <a:xfrm>
            <a:off x="8558784" y="5505495"/>
            <a:ext cx="659710"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$9,149</a:t>
            </a:r>
            <a:endParaRPr lang="en-US" sz="1200" dirty="0"/>
          </a:p>
        </p:txBody>
      </p:sp>
      <p:sp>
        <p:nvSpPr>
          <p:cNvPr id="143" name="Shape 141"/>
          <p:cNvSpPr/>
          <p:nvPr/>
        </p:nvSpPr>
        <p:spPr>
          <a:xfrm>
            <a:off x="3982924" y="1847088"/>
            <a:ext cx="14630" cy="4078224"/>
          </a:xfrm>
          <a:prstGeom prst="rect">
            <a:avLst/>
          </a:prstGeom>
          <a:solidFill>
            <a:srgbClr val="0B2C4A"/>
          </a:solidFill>
          <a:ln/>
        </p:spPr>
      </p:sp>
      <p:sp>
        <p:nvSpPr>
          <p:cNvPr id="144" name="Shape 142"/>
          <p:cNvSpPr/>
          <p:nvPr/>
        </p:nvSpPr>
        <p:spPr>
          <a:xfrm>
            <a:off x="9533332"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13 of 33 stores at or above the $13,617 group, led by Audi Henderson at $23,461. Honda Flagstaff is lowest at $9,149.</a:t>
            </a:r>
            <a:endParaRPr lang="en-US" sz="1600" dirty="0"/>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GROSS PER FIXED EMPLOYEE</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+$1,207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+$4,158</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548170"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+$2,933</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1" name="Shape 19"/>
          <p:cNvSpPr/>
          <p:nvPr/>
        </p:nvSpPr>
        <p:spPr>
          <a:xfrm>
            <a:off x="3785616" y="2391651"/>
            <a:ext cx="475660"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+$2,545</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25" name="Shape 23"/>
          <p:cNvSpPr/>
          <p:nvPr/>
        </p:nvSpPr>
        <p:spPr>
          <a:xfrm>
            <a:off x="3785616" y="2631546"/>
            <a:ext cx="450223"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+$2,409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9" name="Shape 27"/>
          <p:cNvSpPr/>
          <p:nvPr/>
        </p:nvSpPr>
        <p:spPr>
          <a:xfrm>
            <a:off x="3785616" y="2871442"/>
            <a:ext cx="440887"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+$2,359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3" name="Shape 31"/>
          <p:cNvSpPr/>
          <p:nvPr/>
        </p:nvSpPr>
        <p:spPr>
          <a:xfrm>
            <a:off x="3785616" y="3111337"/>
            <a:ext cx="427536"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+$2,287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7" name="Shape 35"/>
          <p:cNvSpPr/>
          <p:nvPr/>
        </p:nvSpPr>
        <p:spPr>
          <a:xfrm>
            <a:off x="3785616" y="3351233"/>
            <a:ext cx="390960"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+$2,092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1" name="Shape 39"/>
          <p:cNvSpPr/>
          <p:nvPr/>
        </p:nvSpPr>
        <p:spPr>
          <a:xfrm>
            <a:off x="3785616" y="3591128"/>
            <a:ext cx="330873"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+$1,770</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45" name="Shape 43"/>
          <p:cNvSpPr/>
          <p:nvPr/>
        </p:nvSpPr>
        <p:spPr>
          <a:xfrm>
            <a:off x="3785616" y="3831024"/>
            <a:ext cx="319451"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+$1,709</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9" name="Shape 47"/>
          <p:cNvSpPr/>
          <p:nvPr/>
        </p:nvSpPr>
        <p:spPr>
          <a:xfrm>
            <a:off x="3785616" y="4070920"/>
            <a:ext cx="307782"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+$1,647</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53" name="Shape 51"/>
          <p:cNvSpPr/>
          <p:nvPr/>
        </p:nvSpPr>
        <p:spPr>
          <a:xfrm>
            <a:off x="3785616" y="4310815"/>
            <a:ext cx="299645"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+$1,603</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7" name="Shape 55"/>
          <p:cNvSpPr/>
          <p:nvPr/>
        </p:nvSpPr>
        <p:spPr>
          <a:xfrm>
            <a:off x="3785616" y="4550711"/>
            <a:ext cx="276949"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+$1,482</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1" name="Shape 59"/>
          <p:cNvSpPr/>
          <p:nvPr/>
        </p:nvSpPr>
        <p:spPr>
          <a:xfrm>
            <a:off x="3785616" y="4790606"/>
            <a:ext cx="274963"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+$1,471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5" name="Shape 63"/>
          <p:cNvSpPr/>
          <p:nvPr/>
        </p:nvSpPr>
        <p:spPr>
          <a:xfrm>
            <a:off x="3785616" y="5030502"/>
            <a:ext cx="236325"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+$1,264</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9" name="Shape 67"/>
          <p:cNvSpPr/>
          <p:nvPr/>
        </p:nvSpPr>
        <p:spPr>
          <a:xfrm>
            <a:off x="3785616" y="5270397"/>
            <a:ext cx="220225"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+$1,178</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73" name="Shape 71"/>
          <p:cNvSpPr/>
          <p:nvPr/>
        </p:nvSpPr>
        <p:spPr>
          <a:xfrm>
            <a:off x="3785616" y="5510293"/>
            <a:ext cx="205895"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+$1,101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7" name="Shape 75"/>
          <p:cNvSpPr/>
          <p:nvPr/>
        </p:nvSpPr>
        <p:spPr>
          <a:xfrm>
            <a:off x="3785616" y="5750188"/>
            <a:ext cx="201986"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+$1,081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1" name="Shape 79"/>
          <p:cNvSpPr/>
          <p:nvPr/>
        </p:nvSpPr>
        <p:spPr>
          <a:xfrm>
            <a:off x="9336024" y="1911860"/>
            <a:ext cx="19758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+$1,057</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5" name="Shape 83"/>
          <p:cNvSpPr/>
          <p:nvPr/>
        </p:nvSpPr>
        <p:spPr>
          <a:xfrm>
            <a:off x="9336024" y="2151755"/>
            <a:ext cx="184443"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+$987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9" name="Shape 87"/>
          <p:cNvSpPr/>
          <p:nvPr/>
        </p:nvSpPr>
        <p:spPr>
          <a:xfrm>
            <a:off x="9336024" y="2391651"/>
            <a:ext cx="173399"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+$928</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3" name="Shape 91"/>
          <p:cNvSpPr/>
          <p:nvPr/>
        </p:nvSpPr>
        <p:spPr>
          <a:xfrm>
            <a:off x="9336024" y="2631546"/>
            <a:ext cx="172997"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+$925</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7" name="Shape 95"/>
          <p:cNvSpPr/>
          <p:nvPr/>
        </p:nvSpPr>
        <p:spPr>
          <a:xfrm>
            <a:off x="9336024" y="2871442"/>
            <a:ext cx="17218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+$921</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1" name="Shape 99"/>
          <p:cNvSpPr/>
          <p:nvPr/>
        </p:nvSpPr>
        <p:spPr>
          <a:xfrm>
            <a:off x="9336024" y="3111337"/>
            <a:ext cx="16461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5" name="Shape 103"/>
          <p:cNvSpPr/>
          <p:nvPr/>
        </p:nvSpPr>
        <p:spPr>
          <a:xfrm>
            <a:off x="9336024" y="3351233"/>
            <a:ext cx="136163"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+$728</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9" name="Shape 107"/>
          <p:cNvSpPr/>
          <p:nvPr/>
        </p:nvSpPr>
        <p:spPr>
          <a:xfrm>
            <a:off x="9336024" y="3591128"/>
            <a:ext cx="126601" cy="110352"/>
          </a:xfrm>
          <a:prstGeom prst="rect">
            <a:avLst/>
          </a:prstGeom>
          <a:solidFill>
            <a:srgbClr val="12A566"/>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+$677</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336024" y="3831024"/>
            <a:ext cx="78291" cy="110352"/>
          </a:xfrm>
          <a:prstGeom prst="rect">
            <a:avLst/>
          </a:prstGeom>
          <a:solidFill>
            <a:srgbClr val="12A566"/>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17" name="Shape 115"/>
          <p:cNvSpPr/>
          <p:nvPr/>
        </p:nvSpPr>
        <p:spPr>
          <a:xfrm>
            <a:off x="9336024" y="4070920"/>
            <a:ext cx="34218" cy="110352"/>
          </a:xfrm>
          <a:prstGeom prst="rect">
            <a:avLst/>
          </a:prstGeom>
          <a:solidFill>
            <a:srgbClr val="12A566"/>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1" name="Shape 119"/>
          <p:cNvSpPr/>
          <p:nvPr/>
        </p:nvSpPr>
        <p:spPr>
          <a:xfrm>
            <a:off x="9333892" y="4310815"/>
            <a:ext cx="12802"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5" name="Shape 123"/>
          <p:cNvSpPr/>
          <p:nvPr/>
        </p:nvSpPr>
        <p:spPr>
          <a:xfrm>
            <a:off x="9313319" y="4550711"/>
            <a:ext cx="22705"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−$121</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9" name="Shape 127"/>
          <p:cNvSpPr/>
          <p:nvPr/>
        </p:nvSpPr>
        <p:spPr>
          <a:xfrm>
            <a:off x="9258696" y="4790606"/>
            <a:ext cx="77328"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33" name="Shape 131"/>
          <p:cNvSpPr/>
          <p:nvPr/>
        </p:nvSpPr>
        <p:spPr>
          <a:xfrm>
            <a:off x="9241624" y="5030502"/>
            <a:ext cx="94400"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−$505</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9106061" y="5270397"/>
            <a:ext cx="229963"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9089478" y="5510293"/>
            <a:ext cx="246546"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−$1,319</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27 of 33 stores raised gross per employee, led by Subaru St George at +$4,158 to $15,556. 6 declined; VW St George fell most at −$1,319.</a:t>
            </a:r>
            <a:endParaRPr lang="en-US" sz="1600" dirty="0"/>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$11,398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$15,556</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+$4,158</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$8,698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$11,631</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+$2,933</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$8,419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$10,963</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+$2,545</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$10,881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$13,289</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+$2,409</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$21,102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$23,461</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+$2,359</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$11,197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$9,878</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−$1,319</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$13,334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$12,103</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−$1,230</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$14,765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$14,260</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−$505</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$12,419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$12,006</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−$414</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$16,088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$15,966</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−$121</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$15,825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$20,761</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+$4,936</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$12,440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$17,296</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+$4,856</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$13,709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$17,296</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+$3,587</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$8,525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$12,004</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+$3,479</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$14,024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$16,995</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+$2,972</a:t>
            </a:r>
            <a:endParaRPr lang="en-US" sz="1600" dirty="0"/>
          </a:p>
        </p:txBody>
      </p:sp>
      <p:sp>
        <p:nvSpPr>
          <p:cNvPr id="69" name="Shape 67"/>
          <p:cNvSpPr/>
          <p:nvPr/>
        </p:nvSpPr>
        <p:spPr>
          <a:xfrm>
            <a:off x="457200" y="6126480"/>
            <a:ext cx="11274552" cy="585216"/>
          </a:xfrm>
          <a:prstGeom prst="rect">
            <a:avLst/>
          </a:prstGeom>
          <a:solidFill>
            <a:srgbClr val="EDF4FA"/>
          </a:solidFill>
          <a:ln/>
        </p:spPr>
      </p:sp>
      <p:sp>
        <p:nvSpPr>
          <p:cNvPr id="70" name="Text 68"/>
          <p:cNvSpPr txBox="1"/>
          <p:nvPr/>
        </p:nvSpPr>
        <p:spPr>
          <a:xfrm>
            <a:off x="658368" y="6144768"/>
            <a:ext cx="109270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Ask Subaru St George, Hyundai Prescott and Lincoln what changed. Ask VW St George, Kia St George and Cadillac what got in the way. Ask LR Henderson, Subaru St George and LR Reno what they started this year.</a:t>
            </a:r>
            <a:endParaRPr lang="en-US" sz="1500" dirty="0"/>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310128" y="1316736"/>
            <a:ext cx="10241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334256" y="1316736"/>
            <a:ext cx="76809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emp</a:t>
            </a:r>
            <a:endParaRPr lang="en-US" sz="1400" dirty="0"/>
          </a:p>
        </p:txBody>
      </p:sp>
      <p:sp>
        <p:nvSpPr>
          <p:cNvPr id="8" name="Text 6"/>
          <p:cNvSpPr txBox="1"/>
          <p:nvPr/>
        </p:nvSpPr>
        <p:spPr>
          <a:xfrm>
            <a:off x="5102352" y="1316736"/>
            <a:ext cx="76809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Seg avg</a:t>
            </a:r>
            <a:endParaRPr lang="en-US" sz="1400" dirty="0"/>
          </a:p>
        </p:txBody>
      </p:sp>
      <p:sp>
        <p:nvSpPr>
          <p:cNvPr id="9" name="Text 7"/>
          <p:cNvSpPr txBox="1"/>
          <p:nvPr/>
        </p:nvSpPr>
        <p:spPr>
          <a:xfrm>
            <a:off x="8860536" y="1316736"/>
            <a:ext cx="10241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884664" y="1316736"/>
            <a:ext cx="76809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emp</a:t>
            </a:r>
            <a:endParaRPr lang="en-US" sz="1400" dirty="0"/>
          </a:p>
        </p:txBody>
      </p:sp>
      <p:sp>
        <p:nvSpPr>
          <p:cNvPr id="11" name="Text 9"/>
          <p:cNvSpPr txBox="1"/>
          <p:nvPr/>
        </p:nvSpPr>
        <p:spPr>
          <a:xfrm>
            <a:off x="10652760" y="1316736"/>
            <a:ext cx="76809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Seg avg</a:t>
            </a:r>
            <a:endParaRPr lang="en-US" sz="1400" dirty="0"/>
          </a:p>
        </p:txBody>
      </p:sp>
      <p:sp>
        <p:nvSpPr>
          <p:cNvPr id="12" name="Text 10"/>
          <p:cNvSpPr txBox="1"/>
          <p:nvPr/>
        </p:nvSpPr>
        <p:spPr>
          <a:xfrm>
            <a:off x="658368" y="1700784"/>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3" name="Shape 11"/>
          <p:cNvSpPr/>
          <p:nvPr/>
        </p:nvSpPr>
        <p:spPr>
          <a:xfrm>
            <a:off x="2670048" y="1787195"/>
            <a:ext cx="585216" cy="211226"/>
          </a:xfrm>
          <a:prstGeom prst="rect">
            <a:avLst/>
          </a:prstGeom>
          <a:solidFill>
            <a:srgbClr val="C2352F"/>
          </a:solidFill>
          <a:ln/>
        </p:spPr>
      </p:sp>
      <p:sp>
        <p:nvSpPr>
          <p:cNvPr id="14" name="Text 12"/>
          <p:cNvSpPr txBox="1"/>
          <p:nvPr/>
        </p:nvSpPr>
        <p:spPr>
          <a:xfrm>
            <a:off x="3310128" y="170078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$2,456,862</a:t>
            </a:r>
            <a:endParaRPr lang="en-US" sz="1300" dirty="0"/>
          </a:p>
        </p:txBody>
      </p:sp>
      <p:sp>
        <p:nvSpPr>
          <p:cNvPr id="15" name="Text 13"/>
          <p:cNvSpPr txBox="1"/>
          <p:nvPr/>
        </p:nvSpPr>
        <p:spPr>
          <a:xfrm>
            <a:off x="4334256" y="170078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$14,260</a:t>
            </a:r>
            <a:endParaRPr lang="en-US" sz="1300" dirty="0"/>
          </a:p>
        </p:txBody>
      </p:sp>
      <p:sp>
        <p:nvSpPr>
          <p:cNvPr id="16" name="Text 14"/>
          <p:cNvSpPr txBox="1"/>
          <p:nvPr/>
        </p:nvSpPr>
        <p:spPr>
          <a:xfrm>
            <a:off x="5102352" y="170078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17" name="Text 15"/>
          <p:cNvSpPr txBox="1"/>
          <p:nvPr/>
        </p:nvSpPr>
        <p:spPr>
          <a:xfrm>
            <a:off x="658368" y="2084832"/>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8" name="Shape 16"/>
          <p:cNvSpPr/>
          <p:nvPr/>
        </p:nvSpPr>
        <p:spPr>
          <a:xfrm>
            <a:off x="2670048" y="2171243"/>
            <a:ext cx="521308" cy="211226"/>
          </a:xfrm>
          <a:prstGeom prst="rect">
            <a:avLst/>
          </a:prstGeom>
          <a:solidFill>
            <a:srgbClr val="C2352F"/>
          </a:solidFill>
          <a:ln/>
        </p:spPr>
      </p:sp>
      <p:sp>
        <p:nvSpPr>
          <p:cNvPr id="19" name="Text 17"/>
          <p:cNvSpPr txBox="1"/>
          <p:nvPr/>
        </p:nvSpPr>
        <p:spPr>
          <a:xfrm>
            <a:off x="3310128" y="2084832"/>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$2,188,561</a:t>
            </a:r>
            <a:endParaRPr lang="en-US" sz="1300" dirty="0"/>
          </a:p>
        </p:txBody>
      </p:sp>
      <p:sp>
        <p:nvSpPr>
          <p:cNvPr id="20" name="Text 18"/>
          <p:cNvSpPr txBox="1"/>
          <p:nvPr/>
        </p:nvSpPr>
        <p:spPr>
          <a:xfrm>
            <a:off x="4334256" y="208483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$10,963</a:t>
            </a:r>
            <a:endParaRPr lang="en-US" sz="1300" dirty="0"/>
          </a:p>
        </p:txBody>
      </p:sp>
      <p:sp>
        <p:nvSpPr>
          <p:cNvPr id="21" name="Text 19"/>
          <p:cNvSpPr txBox="1"/>
          <p:nvPr/>
        </p:nvSpPr>
        <p:spPr>
          <a:xfrm>
            <a:off x="5102352" y="208483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22" name="Text 20"/>
          <p:cNvSpPr txBox="1"/>
          <p:nvPr/>
        </p:nvSpPr>
        <p:spPr>
          <a:xfrm>
            <a:off x="658368" y="2468880"/>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23" name="Shape 21"/>
          <p:cNvSpPr/>
          <p:nvPr/>
        </p:nvSpPr>
        <p:spPr>
          <a:xfrm>
            <a:off x="2670048" y="2555291"/>
            <a:ext cx="321685" cy="211226"/>
          </a:xfrm>
          <a:prstGeom prst="rect">
            <a:avLst/>
          </a:prstGeom>
          <a:solidFill>
            <a:srgbClr val="C2352F"/>
          </a:solidFill>
          <a:ln/>
        </p:spPr>
      </p:sp>
      <p:sp>
        <p:nvSpPr>
          <p:cNvPr id="24" name="Text 22"/>
          <p:cNvSpPr txBox="1"/>
          <p:nvPr/>
        </p:nvSpPr>
        <p:spPr>
          <a:xfrm>
            <a:off x="3310128" y="2468880"/>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$1,350,504</a:t>
            </a:r>
            <a:endParaRPr lang="en-US" sz="1300" dirty="0"/>
          </a:p>
        </p:txBody>
      </p:sp>
      <p:sp>
        <p:nvSpPr>
          <p:cNvPr id="25" name="Text 23"/>
          <p:cNvSpPr txBox="1"/>
          <p:nvPr/>
        </p:nvSpPr>
        <p:spPr>
          <a:xfrm>
            <a:off x="4334256" y="246888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$10,391</a:t>
            </a:r>
            <a:endParaRPr lang="en-US" sz="1300" dirty="0"/>
          </a:p>
        </p:txBody>
      </p:sp>
      <p:sp>
        <p:nvSpPr>
          <p:cNvPr id="26" name="Text 24"/>
          <p:cNvSpPr txBox="1"/>
          <p:nvPr/>
        </p:nvSpPr>
        <p:spPr>
          <a:xfrm>
            <a:off x="5102352" y="246888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27" name="Text 25"/>
          <p:cNvSpPr txBox="1"/>
          <p:nvPr/>
        </p:nvSpPr>
        <p:spPr>
          <a:xfrm>
            <a:off x="658368" y="2852928"/>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28" name="Shape 26"/>
          <p:cNvSpPr/>
          <p:nvPr/>
        </p:nvSpPr>
        <p:spPr>
          <a:xfrm>
            <a:off x="2670048" y="2939339"/>
            <a:ext cx="313094" cy="211226"/>
          </a:xfrm>
          <a:prstGeom prst="rect">
            <a:avLst/>
          </a:prstGeom>
          <a:solidFill>
            <a:srgbClr val="C2352F"/>
          </a:solidFill>
          <a:ln/>
        </p:spPr>
      </p:sp>
      <p:sp>
        <p:nvSpPr>
          <p:cNvPr id="29" name="Text 27"/>
          <p:cNvSpPr txBox="1"/>
          <p:nvPr/>
        </p:nvSpPr>
        <p:spPr>
          <a:xfrm>
            <a:off x="3310128" y="2852928"/>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$1,314,435</a:t>
            </a:r>
            <a:endParaRPr lang="en-US" sz="1300" dirty="0"/>
          </a:p>
        </p:txBody>
      </p:sp>
      <p:sp>
        <p:nvSpPr>
          <p:cNvPr id="30" name="Text 28"/>
          <p:cNvSpPr txBox="1"/>
          <p:nvPr/>
        </p:nvSpPr>
        <p:spPr>
          <a:xfrm>
            <a:off x="4334256" y="285292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$9,953</a:t>
            </a:r>
            <a:endParaRPr lang="en-US" sz="1300" dirty="0"/>
          </a:p>
        </p:txBody>
      </p:sp>
      <p:sp>
        <p:nvSpPr>
          <p:cNvPr id="31" name="Text 29"/>
          <p:cNvSpPr txBox="1"/>
          <p:nvPr/>
        </p:nvSpPr>
        <p:spPr>
          <a:xfrm>
            <a:off x="5102352" y="285292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32" name="Text 30"/>
          <p:cNvSpPr txBox="1"/>
          <p:nvPr/>
        </p:nvSpPr>
        <p:spPr>
          <a:xfrm>
            <a:off x="658368" y="3236976"/>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33" name="Shape 31"/>
          <p:cNvSpPr/>
          <p:nvPr/>
        </p:nvSpPr>
        <p:spPr>
          <a:xfrm>
            <a:off x="2670048" y="3323387"/>
            <a:ext cx="293540" cy="211226"/>
          </a:xfrm>
          <a:prstGeom prst="rect">
            <a:avLst/>
          </a:prstGeom>
          <a:solidFill>
            <a:srgbClr val="C2352F"/>
          </a:solidFill>
          <a:ln/>
        </p:spPr>
      </p:sp>
      <p:sp>
        <p:nvSpPr>
          <p:cNvPr id="34" name="Text 32"/>
          <p:cNvSpPr txBox="1"/>
          <p:nvPr/>
        </p:nvSpPr>
        <p:spPr>
          <a:xfrm>
            <a:off x="3310128" y="3236976"/>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$1,232,343</a:t>
            </a:r>
            <a:endParaRPr lang="en-US" sz="1300" dirty="0"/>
          </a:p>
        </p:txBody>
      </p:sp>
      <p:sp>
        <p:nvSpPr>
          <p:cNvPr id="35" name="Text 33"/>
          <p:cNvSpPr txBox="1"/>
          <p:nvPr/>
        </p:nvSpPr>
        <p:spPr>
          <a:xfrm>
            <a:off x="4334256" y="323697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$12,042</a:t>
            </a:r>
            <a:endParaRPr lang="en-US" sz="1300" dirty="0"/>
          </a:p>
        </p:txBody>
      </p:sp>
      <p:sp>
        <p:nvSpPr>
          <p:cNvPr id="36" name="Text 34"/>
          <p:cNvSpPr txBox="1"/>
          <p:nvPr/>
        </p:nvSpPr>
        <p:spPr>
          <a:xfrm>
            <a:off x="5102352" y="323697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37" name="Text 35"/>
          <p:cNvSpPr txBox="1"/>
          <p:nvPr/>
        </p:nvSpPr>
        <p:spPr>
          <a:xfrm>
            <a:off x="658368" y="3621024"/>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38" name="Shape 36"/>
          <p:cNvSpPr/>
          <p:nvPr/>
        </p:nvSpPr>
        <p:spPr>
          <a:xfrm>
            <a:off x="2670048" y="3707435"/>
            <a:ext cx="268472" cy="211226"/>
          </a:xfrm>
          <a:prstGeom prst="rect">
            <a:avLst/>
          </a:prstGeom>
          <a:solidFill>
            <a:srgbClr val="C2352F"/>
          </a:solidFill>
          <a:ln/>
        </p:spPr>
      </p:sp>
      <p:sp>
        <p:nvSpPr>
          <p:cNvPr id="39" name="Text 37"/>
          <p:cNvSpPr txBox="1"/>
          <p:nvPr/>
        </p:nvSpPr>
        <p:spPr>
          <a:xfrm>
            <a:off x="3310128" y="362102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$1,127,104</a:t>
            </a:r>
            <a:endParaRPr lang="en-US" sz="1300" dirty="0"/>
          </a:p>
        </p:txBody>
      </p:sp>
      <p:sp>
        <p:nvSpPr>
          <p:cNvPr id="40" name="Text 38"/>
          <p:cNvSpPr txBox="1"/>
          <p:nvPr/>
        </p:nvSpPr>
        <p:spPr>
          <a:xfrm>
            <a:off x="4334256" y="362102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$11,128</a:t>
            </a:r>
            <a:endParaRPr lang="en-US" sz="1300" dirty="0"/>
          </a:p>
        </p:txBody>
      </p:sp>
      <p:sp>
        <p:nvSpPr>
          <p:cNvPr id="41" name="Text 39"/>
          <p:cNvSpPr txBox="1"/>
          <p:nvPr/>
        </p:nvSpPr>
        <p:spPr>
          <a:xfrm>
            <a:off x="5102352" y="362102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42" name="Text 40"/>
          <p:cNvSpPr txBox="1"/>
          <p:nvPr/>
        </p:nvSpPr>
        <p:spPr>
          <a:xfrm>
            <a:off x="658368" y="4005072"/>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43" name="Shape 41"/>
          <p:cNvSpPr/>
          <p:nvPr/>
        </p:nvSpPr>
        <p:spPr>
          <a:xfrm>
            <a:off x="2670048" y="4091483"/>
            <a:ext cx="252516" cy="211226"/>
          </a:xfrm>
          <a:prstGeom prst="rect">
            <a:avLst/>
          </a:prstGeom>
          <a:solidFill>
            <a:srgbClr val="C2352F"/>
          </a:solidFill>
          <a:ln/>
        </p:spPr>
      </p:sp>
      <p:sp>
        <p:nvSpPr>
          <p:cNvPr id="44" name="Text 42"/>
          <p:cNvSpPr txBox="1"/>
          <p:nvPr/>
        </p:nvSpPr>
        <p:spPr>
          <a:xfrm>
            <a:off x="3310128" y="4005072"/>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$1,060,118</a:t>
            </a:r>
            <a:endParaRPr lang="en-US" sz="1300" dirty="0"/>
          </a:p>
        </p:txBody>
      </p:sp>
      <p:sp>
        <p:nvSpPr>
          <p:cNvPr id="45" name="Text 43"/>
          <p:cNvSpPr txBox="1"/>
          <p:nvPr/>
        </p:nvSpPr>
        <p:spPr>
          <a:xfrm>
            <a:off x="4334256" y="400507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$10,794</a:t>
            </a:r>
            <a:endParaRPr lang="en-US" sz="1300" dirty="0"/>
          </a:p>
        </p:txBody>
      </p:sp>
      <p:sp>
        <p:nvSpPr>
          <p:cNvPr id="46" name="Text 44"/>
          <p:cNvSpPr txBox="1"/>
          <p:nvPr/>
        </p:nvSpPr>
        <p:spPr>
          <a:xfrm>
            <a:off x="5102352" y="400507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47" name="Text 45"/>
          <p:cNvSpPr txBox="1"/>
          <p:nvPr/>
        </p:nvSpPr>
        <p:spPr>
          <a:xfrm>
            <a:off x="658368" y="4389120"/>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48" name="Shape 46"/>
          <p:cNvSpPr/>
          <p:nvPr/>
        </p:nvSpPr>
        <p:spPr>
          <a:xfrm>
            <a:off x="2670048" y="4475531"/>
            <a:ext cx="244133" cy="211226"/>
          </a:xfrm>
          <a:prstGeom prst="rect">
            <a:avLst/>
          </a:prstGeom>
          <a:solidFill>
            <a:srgbClr val="C2352F"/>
          </a:solidFill>
          <a:ln/>
        </p:spPr>
      </p:sp>
      <p:sp>
        <p:nvSpPr>
          <p:cNvPr id="49" name="Text 47"/>
          <p:cNvSpPr txBox="1"/>
          <p:nvPr/>
        </p:nvSpPr>
        <p:spPr>
          <a:xfrm>
            <a:off x="3310128" y="4389120"/>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$1,024,925</a:t>
            </a:r>
            <a:endParaRPr lang="en-US" sz="1300" dirty="0"/>
          </a:p>
        </p:txBody>
      </p:sp>
      <p:sp>
        <p:nvSpPr>
          <p:cNvPr id="50" name="Text 48"/>
          <p:cNvSpPr txBox="1"/>
          <p:nvPr/>
        </p:nvSpPr>
        <p:spPr>
          <a:xfrm>
            <a:off x="4334256" y="438912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$9,498</a:t>
            </a:r>
            <a:endParaRPr lang="en-US" sz="1300" dirty="0"/>
          </a:p>
        </p:txBody>
      </p:sp>
      <p:sp>
        <p:nvSpPr>
          <p:cNvPr id="51" name="Text 49"/>
          <p:cNvSpPr txBox="1"/>
          <p:nvPr/>
        </p:nvSpPr>
        <p:spPr>
          <a:xfrm>
            <a:off x="5102352" y="438912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52" name="Text 50"/>
          <p:cNvSpPr txBox="1"/>
          <p:nvPr/>
        </p:nvSpPr>
        <p:spPr>
          <a:xfrm>
            <a:off x="658368" y="4773168"/>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53" name="Shape 51"/>
          <p:cNvSpPr/>
          <p:nvPr/>
        </p:nvSpPr>
        <p:spPr>
          <a:xfrm>
            <a:off x="2670048" y="4859579"/>
            <a:ext cx="243998" cy="211226"/>
          </a:xfrm>
          <a:prstGeom prst="rect">
            <a:avLst/>
          </a:prstGeom>
          <a:solidFill>
            <a:srgbClr val="C2352F"/>
          </a:solidFill>
          <a:ln/>
        </p:spPr>
      </p:sp>
      <p:sp>
        <p:nvSpPr>
          <p:cNvPr id="54" name="Text 52"/>
          <p:cNvSpPr txBox="1"/>
          <p:nvPr/>
        </p:nvSpPr>
        <p:spPr>
          <a:xfrm>
            <a:off x="3310128" y="4773168"/>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$1,024,357</a:t>
            </a:r>
            <a:endParaRPr lang="en-US" sz="1300" dirty="0"/>
          </a:p>
        </p:txBody>
      </p:sp>
      <p:sp>
        <p:nvSpPr>
          <p:cNvPr id="55" name="Text 53"/>
          <p:cNvSpPr txBox="1"/>
          <p:nvPr/>
        </p:nvSpPr>
        <p:spPr>
          <a:xfrm>
            <a:off x="4334256" y="477316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$11,044</a:t>
            </a:r>
            <a:endParaRPr lang="en-US" sz="1300" dirty="0"/>
          </a:p>
        </p:txBody>
      </p:sp>
      <p:sp>
        <p:nvSpPr>
          <p:cNvPr id="56" name="Text 54"/>
          <p:cNvSpPr txBox="1"/>
          <p:nvPr/>
        </p:nvSpPr>
        <p:spPr>
          <a:xfrm>
            <a:off x="5102352" y="477316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57" name="Text 55"/>
          <p:cNvSpPr txBox="1"/>
          <p:nvPr/>
        </p:nvSpPr>
        <p:spPr>
          <a:xfrm>
            <a:off x="658368" y="5157216"/>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58" name="Shape 56"/>
          <p:cNvSpPr/>
          <p:nvPr/>
        </p:nvSpPr>
        <p:spPr>
          <a:xfrm>
            <a:off x="2670048" y="5243627"/>
            <a:ext cx="197721" cy="211226"/>
          </a:xfrm>
          <a:prstGeom prst="rect">
            <a:avLst/>
          </a:prstGeom>
          <a:solidFill>
            <a:srgbClr val="C2352F"/>
          </a:solidFill>
          <a:ln/>
        </p:spPr>
      </p:sp>
      <p:sp>
        <p:nvSpPr>
          <p:cNvPr id="59" name="Text 57"/>
          <p:cNvSpPr txBox="1"/>
          <p:nvPr/>
        </p:nvSpPr>
        <p:spPr>
          <a:xfrm>
            <a:off x="3310128" y="5157216"/>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$830,073</a:t>
            </a:r>
            <a:endParaRPr lang="en-US" sz="1300" dirty="0"/>
          </a:p>
        </p:txBody>
      </p:sp>
      <p:sp>
        <p:nvSpPr>
          <p:cNvPr id="60" name="Text 58"/>
          <p:cNvSpPr txBox="1"/>
          <p:nvPr/>
        </p:nvSpPr>
        <p:spPr>
          <a:xfrm>
            <a:off x="4334256" y="515721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$14,916</a:t>
            </a:r>
            <a:endParaRPr lang="en-US" sz="1300" dirty="0"/>
          </a:p>
        </p:txBody>
      </p:sp>
      <p:sp>
        <p:nvSpPr>
          <p:cNvPr id="61" name="Text 59"/>
          <p:cNvSpPr txBox="1"/>
          <p:nvPr/>
        </p:nvSpPr>
        <p:spPr>
          <a:xfrm>
            <a:off x="5102352" y="515721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62" name="Text 60"/>
          <p:cNvSpPr txBox="1"/>
          <p:nvPr/>
        </p:nvSpPr>
        <p:spPr>
          <a:xfrm>
            <a:off x="658368" y="5541264"/>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63" name="Shape 61"/>
          <p:cNvSpPr/>
          <p:nvPr/>
        </p:nvSpPr>
        <p:spPr>
          <a:xfrm>
            <a:off x="2670048" y="5627675"/>
            <a:ext cx="197008" cy="211226"/>
          </a:xfrm>
          <a:prstGeom prst="rect">
            <a:avLst/>
          </a:prstGeom>
          <a:solidFill>
            <a:srgbClr val="C2352F"/>
          </a:solidFill>
          <a:ln/>
        </p:spPr>
      </p:sp>
      <p:sp>
        <p:nvSpPr>
          <p:cNvPr id="64" name="Text 62"/>
          <p:cNvSpPr txBox="1"/>
          <p:nvPr/>
        </p:nvSpPr>
        <p:spPr>
          <a:xfrm>
            <a:off x="3310128" y="554126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$827,082</a:t>
            </a:r>
            <a:endParaRPr lang="en-US" sz="1300" dirty="0"/>
          </a:p>
        </p:txBody>
      </p:sp>
      <p:sp>
        <p:nvSpPr>
          <p:cNvPr id="65" name="Text 63"/>
          <p:cNvSpPr txBox="1"/>
          <p:nvPr/>
        </p:nvSpPr>
        <p:spPr>
          <a:xfrm>
            <a:off x="4334256" y="554126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$9,149</a:t>
            </a:r>
            <a:endParaRPr lang="en-US" sz="1300" dirty="0"/>
          </a:p>
        </p:txBody>
      </p:sp>
      <p:sp>
        <p:nvSpPr>
          <p:cNvPr id="66" name="Text 64"/>
          <p:cNvSpPr txBox="1"/>
          <p:nvPr/>
        </p:nvSpPr>
        <p:spPr>
          <a:xfrm>
            <a:off x="5102352" y="554126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67" name="Text 65"/>
          <p:cNvSpPr txBox="1"/>
          <p:nvPr/>
        </p:nvSpPr>
        <p:spPr>
          <a:xfrm>
            <a:off x="6208776" y="1700784"/>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68" name="Shape 66"/>
          <p:cNvSpPr/>
          <p:nvPr/>
        </p:nvSpPr>
        <p:spPr>
          <a:xfrm>
            <a:off x="8220456" y="1787195"/>
            <a:ext cx="96145" cy="211226"/>
          </a:xfrm>
          <a:prstGeom prst="rect">
            <a:avLst/>
          </a:prstGeom>
          <a:solidFill>
            <a:srgbClr val="C2352F"/>
          </a:solidFill>
          <a:ln/>
        </p:spPr>
      </p:sp>
      <p:sp>
        <p:nvSpPr>
          <p:cNvPr id="69" name="Text 67"/>
          <p:cNvSpPr txBox="1"/>
          <p:nvPr/>
        </p:nvSpPr>
        <p:spPr>
          <a:xfrm>
            <a:off x="8860536" y="170078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$403,638</a:t>
            </a:r>
            <a:endParaRPr lang="en-US" sz="1300" dirty="0"/>
          </a:p>
        </p:txBody>
      </p:sp>
      <p:sp>
        <p:nvSpPr>
          <p:cNvPr id="70" name="Text 68"/>
          <p:cNvSpPr txBox="1"/>
          <p:nvPr/>
        </p:nvSpPr>
        <p:spPr>
          <a:xfrm>
            <a:off x="9884664" y="170078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$11,957</a:t>
            </a:r>
            <a:endParaRPr lang="en-US" sz="1300" dirty="0"/>
          </a:p>
        </p:txBody>
      </p:sp>
      <p:sp>
        <p:nvSpPr>
          <p:cNvPr id="71" name="Text 69"/>
          <p:cNvSpPr txBox="1"/>
          <p:nvPr/>
        </p:nvSpPr>
        <p:spPr>
          <a:xfrm>
            <a:off x="10652760" y="170078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72" name="Text 70"/>
          <p:cNvSpPr txBox="1"/>
          <p:nvPr/>
        </p:nvSpPr>
        <p:spPr>
          <a:xfrm>
            <a:off x="6208776" y="2084832"/>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73" name="Shape 71"/>
          <p:cNvSpPr/>
          <p:nvPr/>
        </p:nvSpPr>
        <p:spPr>
          <a:xfrm>
            <a:off x="8220456" y="2171243"/>
            <a:ext cx="89775" cy="211226"/>
          </a:xfrm>
          <a:prstGeom prst="rect">
            <a:avLst/>
          </a:prstGeom>
          <a:solidFill>
            <a:srgbClr val="C2352F"/>
          </a:solidFill>
          <a:ln/>
        </p:spPr>
      </p:sp>
      <p:sp>
        <p:nvSpPr>
          <p:cNvPr id="74" name="Text 72"/>
          <p:cNvSpPr txBox="1"/>
          <p:nvPr/>
        </p:nvSpPr>
        <p:spPr>
          <a:xfrm>
            <a:off x="8860536" y="2084832"/>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$376,895</a:t>
            </a:r>
            <a:endParaRPr lang="en-US" sz="1300" dirty="0"/>
          </a:p>
        </p:txBody>
      </p:sp>
      <p:sp>
        <p:nvSpPr>
          <p:cNvPr id="75" name="Text 73"/>
          <p:cNvSpPr txBox="1"/>
          <p:nvPr/>
        </p:nvSpPr>
        <p:spPr>
          <a:xfrm>
            <a:off x="9884664" y="208483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$12,006</a:t>
            </a:r>
            <a:endParaRPr lang="en-US" sz="1300" dirty="0"/>
          </a:p>
        </p:txBody>
      </p:sp>
      <p:sp>
        <p:nvSpPr>
          <p:cNvPr id="76" name="Text 74"/>
          <p:cNvSpPr txBox="1"/>
          <p:nvPr/>
        </p:nvSpPr>
        <p:spPr>
          <a:xfrm>
            <a:off x="10652760" y="208483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77" name="Text 75"/>
          <p:cNvSpPr txBox="1"/>
          <p:nvPr/>
        </p:nvSpPr>
        <p:spPr>
          <a:xfrm>
            <a:off x="6208776" y="2468880"/>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78" name="Shape 76"/>
          <p:cNvSpPr/>
          <p:nvPr/>
        </p:nvSpPr>
        <p:spPr>
          <a:xfrm>
            <a:off x="8220456" y="2555291"/>
            <a:ext cx="88284" cy="211226"/>
          </a:xfrm>
          <a:prstGeom prst="rect">
            <a:avLst/>
          </a:prstGeom>
          <a:solidFill>
            <a:srgbClr val="C2352F"/>
          </a:solidFill>
          <a:ln/>
        </p:spPr>
      </p:sp>
      <p:sp>
        <p:nvSpPr>
          <p:cNvPr id="79" name="Text 77"/>
          <p:cNvSpPr txBox="1"/>
          <p:nvPr/>
        </p:nvSpPr>
        <p:spPr>
          <a:xfrm>
            <a:off x="8860536" y="2468880"/>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$370,634</a:t>
            </a:r>
            <a:endParaRPr lang="en-US" sz="1300" dirty="0"/>
          </a:p>
        </p:txBody>
      </p:sp>
      <p:sp>
        <p:nvSpPr>
          <p:cNvPr id="80" name="Text 78"/>
          <p:cNvSpPr txBox="1"/>
          <p:nvPr/>
        </p:nvSpPr>
        <p:spPr>
          <a:xfrm>
            <a:off x="9884664" y="246888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$9,878</a:t>
            </a:r>
            <a:endParaRPr lang="en-US" sz="1300" dirty="0"/>
          </a:p>
        </p:txBody>
      </p:sp>
      <p:sp>
        <p:nvSpPr>
          <p:cNvPr id="81" name="Text 79"/>
          <p:cNvSpPr txBox="1"/>
          <p:nvPr/>
        </p:nvSpPr>
        <p:spPr>
          <a:xfrm>
            <a:off x="10652760" y="246888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82" name="Text 80"/>
          <p:cNvSpPr txBox="1"/>
          <p:nvPr/>
        </p:nvSpPr>
        <p:spPr>
          <a:xfrm>
            <a:off x="6208776" y="2852928"/>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83" name="Shape 81"/>
          <p:cNvSpPr/>
          <p:nvPr/>
        </p:nvSpPr>
        <p:spPr>
          <a:xfrm>
            <a:off x="8220456" y="2939339"/>
            <a:ext cx="81589" cy="211226"/>
          </a:xfrm>
          <a:prstGeom prst="rect">
            <a:avLst/>
          </a:prstGeom>
          <a:solidFill>
            <a:srgbClr val="C2352F"/>
          </a:solidFill>
          <a:ln/>
        </p:spPr>
      </p:sp>
      <p:sp>
        <p:nvSpPr>
          <p:cNvPr id="84" name="Text 82"/>
          <p:cNvSpPr txBox="1"/>
          <p:nvPr/>
        </p:nvSpPr>
        <p:spPr>
          <a:xfrm>
            <a:off x="8860536" y="2852928"/>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$342,526</a:t>
            </a:r>
            <a:endParaRPr lang="en-US" sz="1300" dirty="0"/>
          </a:p>
        </p:txBody>
      </p:sp>
      <p:sp>
        <p:nvSpPr>
          <p:cNvPr id="85" name="Text 83"/>
          <p:cNvSpPr txBox="1"/>
          <p:nvPr/>
        </p:nvSpPr>
        <p:spPr>
          <a:xfrm>
            <a:off x="9884664" y="285292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$15,226</a:t>
            </a:r>
            <a:endParaRPr lang="en-US" sz="1300" dirty="0"/>
          </a:p>
        </p:txBody>
      </p:sp>
      <p:sp>
        <p:nvSpPr>
          <p:cNvPr id="86" name="Text 84"/>
          <p:cNvSpPr txBox="1"/>
          <p:nvPr/>
        </p:nvSpPr>
        <p:spPr>
          <a:xfrm>
            <a:off x="10652760" y="285292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87" name="Text 85"/>
          <p:cNvSpPr txBox="1"/>
          <p:nvPr/>
        </p:nvSpPr>
        <p:spPr>
          <a:xfrm>
            <a:off x="6208776" y="3236976"/>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88" name="Shape 86"/>
          <p:cNvSpPr/>
          <p:nvPr/>
        </p:nvSpPr>
        <p:spPr>
          <a:xfrm>
            <a:off x="8220456" y="3323387"/>
            <a:ext cx="73764" cy="211226"/>
          </a:xfrm>
          <a:prstGeom prst="rect">
            <a:avLst/>
          </a:prstGeom>
          <a:solidFill>
            <a:srgbClr val="C2352F"/>
          </a:solidFill>
          <a:ln/>
        </p:spPr>
      </p:sp>
      <p:sp>
        <p:nvSpPr>
          <p:cNvPr id="89" name="Text 87"/>
          <p:cNvSpPr txBox="1"/>
          <p:nvPr/>
        </p:nvSpPr>
        <p:spPr>
          <a:xfrm>
            <a:off x="8860536" y="3236976"/>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$309,678</a:t>
            </a:r>
            <a:endParaRPr lang="en-US" sz="1300" dirty="0"/>
          </a:p>
        </p:txBody>
      </p:sp>
      <p:sp>
        <p:nvSpPr>
          <p:cNvPr id="90" name="Text 88"/>
          <p:cNvSpPr txBox="1"/>
          <p:nvPr/>
        </p:nvSpPr>
        <p:spPr>
          <a:xfrm>
            <a:off x="9884664" y="323697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$11,541</a:t>
            </a:r>
            <a:endParaRPr lang="en-US" sz="1300" dirty="0"/>
          </a:p>
        </p:txBody>
      </p:sp>
      <p:sp>
        <p:nvSpPr>
          <p:cNvPr id="91" name="Text 89"/>
          <p:cNvSpPr txBox="1"/>
          <p:nvPr/>
        </p:nvSpPr>
        <p:spPr>
          <a:xfrm>
            <a:off x="10652760" y="323697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92" name="Text 90"/>
          <p:cNvSpPr txBox="1"/>
          <p:nvPr/>
        </p:nvSpPr>
        <p:spPr>
          <a:xfrm>
            <a:off x="6208776" y="3621024"/>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93" name="Shape 91"/>
          <p:cNvSpPr/>
          <p:nvPr/>
        </p:nvSpPr>
        <p:spPr>
          <a:xfrm>
            <a:off x="8220456" y="3707435"/>
            <a:ext cx="45418" cy="211226"/>
          </a:xfrm>
          <a:prstGeom prst="rect">
            <a:avLst/>
          </a:prstGeom>
          <a:solidFill>
            <a:srgbClr val="C2352F"/>
          </a:solidFill>
          <a:ln/>
        </p:spPr>
      </p:sp>
      <p:sp>
        <p:nvSpPr>
          <p:cNvPr id="94" name="Text 92"/>
          <p:cNvSpPr txBox="1"/>
          <p:nvPr/>
        </p:nvSpPr>
        <p:spPr>
          <a:xfrm>
            <a:off x="8860536" y="362102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$190,674</a:t>
            </a:r>
            <a:endParaRPr lang="en-US" sz="1300" dirty="0"/>
          </a:p>
        </p:txBody>
      </p:sp>
      <p:sp>
        <p:nvSpPr>
          <p:cNvPr id="95" name="Text 93"/>
          <p:cNvSpPr txBox="1"/>
          <p:nvPr/>
        </p:nvSpPr>
        <p:spPr>
          <a:xfrm>
            <a:off x="9884664" y="362102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$11,631</a:t>
            </a:r>
            <a:endParaRPr lang="en-US" sz="1300" dirty="0"/>
          </a:p>
        </p:txBody>
      </p:sp>
      <p:sp>
        <p:nvSpPr>
          <p:cNvPr id="96" name="Text 94"/>
          <p:cNvSpPr txBox="1"/>
          <p:nvPr/>
        </p:nvSpPr>
        <p:spPr>
          <a:xfrm>
            <a:off x="10652760" y="362102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97" name="Text 95"/>
          <p:cNvSpPr txBox="1"/>
          <p:nvPr/>
        </p:nvSpPr>
        <p:spPr>
          <a:xfrm>
            <a:off x="6208776" y="4005072"/>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98" name="Shape 96"/>
          <p:cNvSpPr/>
          <p:nvPr/>
        </p:nvSpPr>
        <p:spPr>
          <a:xfrm>
            <a:off x="8220456" y="4091483"/>
            <a:ext cx="37443" cy="211226"/>
          </a:xfrm>
          <a:prstGeom prst="rect">
            <a:avLst/>
          </a:prstGeom>
          <a:solidFill>
            <a:srgbClr val="C2352F"/>
          </a:solidFill>
          <a:ln/>
        </p:spPr>
      </p:sp>
      <p:sp>
        <p:nvSpPr>
          <p:cNvPr id="99" name="Text 97"/>
          <p:cNvSpPr txBox="1"/>
          <p:nvPr/>
        </p:nvSpPr>
        <p:spPr>
          <a:xfrm>
            <a:off x="8860536" y="4005072"/>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$157,193</a:t>
            </a:r>
            <a:endParaRPr lang="en-US" sz="1300" dirty="0"/>
          </a:p>
        </p:txBody>
      </p:sp>
      <p:sp>
        <p:nvSpPr>
          <p:cNvPr id="100" name="Text 98"/>
          <p:cNvSpPr txBox="1"/>
          <p:nvPr/>
        </p:nvSpPr>
        <p:spPr>
          <a:xfrm>
            <a:off x="9884664" y="400507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$12,103</a:t>
            </a:r>
            <a:endParaRPr lang="en-US" sz="1300" dirty="0"/>
          </a:p>
        </p:txBody>
      </p:sp>
      <p:sp>
        <p:nvSpPr>
          <p:cNvPr id="101" name="Text 99"/>
          <p:cNvSpPr txBox="1"/>
          <p:nvPr/>
        </p:nvSpPr>
        <p:spPr>
          <a:xfrm>
            <a:off x="10652760" y="400507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102" name="Text 100"/>
          <p:cNvSpPr txBox="1"/>
          <p:nvPr/>
        </p:nvSpPr>
        <p:spPr>
          <a:xfrm>
            <a:off x="6208776" y="4389120"/>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03" name="Shape 101"/>
          <p:cNvSpPr/>
          <p:nvPr/>
        </p:nvSpPr>
        <p:spPr>
          <a:xfrm>
            <a:off x="8220456" y="4475531"/>
            <a:ext cx="26036" cy="211226"/>
          </a:xfrm>
          <a:prstGeom prst="rect">
            <a:avLst/>
          </a:prstGeom>
          <a:solidFill>
            <a:srgbClr val="C2352F"/>
          </a:solidFill>
          <a:ln/>
        </p:spPr>
      </p:sp>
      <p:sp>
        <p:nvSpPr>
          <p:cNvPr id="104" name="Text 102"/>
          <p:cNvSpPr txBox="1"/>
          <p:nvPr/>
        </p:nvSpPr>
        <p:spPr>
          <a:xfrm>
            <a:off x="8860536" y="4389120"/>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$109,303</a:t>
            </a:r>
            <a:endParaRPr lang="en-US" sz="1300" dirty="0"/>
          </a:p>
        </p:txBody>
      </p:sp>
      <p:sp>
        <p:nvSpPr>
          <p:cNvPr id="105" name="Text 103"/>
          <p:cNvSpPr txBox="1"/>
          <p:nvPr/>
        </p:nvSpPr>
        <p:spPr>
          <a:xfrm>
            <a:off x="9884664" y="438912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$12,364</a:t>
            </a:r>
            <a:endParaRPr lang="en-US" sz="1300" dirty="0"/>
          </a:p>
        </p:txBody>
      </p:sp>
      <p:sp>
        <p:nvSpPr>
          <p:cNvPr id="106" name="Text 104"/>
          <p:cNvSpPr txBox="1"/>
          <p:nvPr/>
        </p:nvSpPr>
        <p:spPr>
          <a:xfrm>
            <a:off x="10652760" y="438912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107" name="Text 105"/>
          <p:cNvSpPr txBox="1"/>
          <p:nvPr/>
        </p:nvSpPr>
        <p:spPr>
          <a:xfrm>
            <a:off x="6208776" y="4773168"/>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08" name="Shape 106"/>
          <p:cNvSpPr/>
          <p:nvPr/>
        </p:nvSpPr>
        <p:spPr>
          <a:xfrm>
            <a:off x="8220456" y="4859579"/>
            <a:ext cx="18288" cy="211226"/>
          </a:xfrm>
          <a:prstGeom prst="rect">
            <a:avLst/>
          </a:prstGeom>
          <a:solidFill>
            <a:srgbClr val="C2352F"/>
          </a:solidFill>
          <a:ln/>
        </p:spPr>
      </p:sp>
      <p:sp>
        <p:nvSpPr>
          <p:cNvPr id="109" name="Text 107"/>
          <p:cNvSpPr txBox="1"/>
          <p:nvPr/>
        </p:nvSpPr>
        <p:spPr>
          <a:xfrm>
            <a:off x="8860536" y="4773168"/>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$61,379</a:t>
            </a:r>
            <a:endParaRPr lang="en-US" sz="1300" dirty="0"/>
          </a:p>
        </p:txBody>
      </p:sp>
      <p:sp>
        <p:nvSpPr>
          <p:cNvPr id="110" name="Text 108"/>
          <p:cNvSpPr txBox="1"/>
          <p:nvPr/>
        </p:nvSpPr>
        <p:spPr>
          <a:xfrm>
            <a:off x="9884664" y="477316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$12,501</a:t>
            </a:r>
            <a:endParaRPr lang="en-US" sz="1300" dirty="0"/>
          </a:p>
        </p:txBody>
      </p:sp>
      <p:sp>
        <p:nvSpPr>
          <p:cNvPr id="111" name="Text 109"/>
          <p:cNvSpPr txBox="1"/>
          <p:nvPr/>
        </p:nvSpPr>
        <p:spPr>
          <a:xfrm>
            <a:off x="10652760" y="477316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112" name="Text 110"/>
          <p:cNvSpPr txBox="1"/>
          <p:nvPr/>
        </p:nvSpPr>
        <p:spPr>
          <a:xfrm>
            <a:off x="6208776" y="5157216"/>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13" name="Shape 111"/>
          <p:cNvSpPr/>
          <p:nvPr/>
        </p:nvSpPr>
        <p:spPr>
          <a:xfrm>
            <a:off x="8220456" y="5243627"/>
            <a:ext cx="18288" cy="211226"/>
          </a:xfrm>
          <a:prstGeom prst="rect">
            <a:avLst/>
          </a:prstGeom>
          <a:solidFill>
            <a:srgbClr val="C2352F"/>
          </a:solidFill>
          <a:ln/>
        </p:spPr>
      </p:sp>
      <p:sp>
        <p:nvSpPr>
          <p:cNvPr id="114" name="Text 112"/>
          <p:cNvSpPr txBox="1"/>
          <p:nvPr/>
        </p:nvSpPr>
        <p:spPr>
          <a:xfrm>
            <a:off x="8860536" y="5157216"/>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$25,739</a:t>
            </a:r>
            <a:endParaRPr lang="en-US" sz="1300" dirty="0"/>
          </a:p>
        </p:txBody>
      </p:sp>
      <p:sp>
        <p:nvSpPr>
          <p:cNvPr id="115" name="Text 113"/>
          <p:cNvSpPr txBox="1"/>
          <p:nvPr/>
        </p:nvSpPr>
        <p:spPr>
          <a:xfrm>
            <a:off x="9884664" y="515721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$16,919</a:t>
            </a:r>
            <a:endParaRPr lang="en-US" sz="1300" dirty="0"/>
          </a:p>
        </p:txBody>
      </p:sp>
      <p:sp>
        <p:nvSpPr>
          <p:cNvPr id="116" name="Text 114"/>
          <p:cNvSpPr txBox="1"/>
          <p:nvPr/>
        </p:nvSpPr>
        <p:spPr>
          <a:xfrm>
            <a:off x="10652760" y="515721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117" name="Shape 115"/>
          <p:cNvSpPr/>
          <p:nvPr/>
        </p:nvSpPr>
        <p:spPr>
          <a:xfrm>
            <a:off x="457200" y="6126480"/>
            <a:ext cx="11274552" cy="615696"/>
          </a:xfrm>
          <a:prstGeom prst="rect">
            <a:avLst/>
          </a:prstGeom>
          <a:solidFill>
            <a:srgbClr val="FBEBEA"/>
          </a:solidFill>
          <a:ln/>
        </p:spPr>
      </p:sp>
      <p:sp>
        <p:nvSpPr>
          <p:cNvPr id="118" name="Text 11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Luxury stores are compared with $16,998 a month, non-luxury with $12,714. 21 stores below their average leave $16,784,025 a year with the same staff.</a:t>
            </a:r>
            <a:endParaRPr lang="en-US" sz="1600" dirty="0"/>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5% More per Employee Is Worth</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456432" y="1316736"/>
            <a:ext cx="91440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370832"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Today</a:t>
            </a:r>
            <a:endParaRPr lang="en-US" sz="1400" dirty="0"/>
          </a:p>
        </p:txBody>
      </p:sp>
      <p:sp>
        <p:nvSpPr>
          <p:cNvPr id="8" name="Text 6"/>
          <p:cNvSpPr txBox="1"/>
          <p:nvPr/>
        </p:nvSpPr>
        <p:spPr>
          <a:xfrm>
            <a:off x="512064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Target</a:t>
            </a:r>
            <a:endParaRPr lang="en-US" sz="1400" dirty="0"/>
          </a:p>
        </p:txBody>
      </p:sp>
      <p:sp>
        <p:nvSpPr>
          <p:cNvPr id="9" name="Text 7"/>
          <p:cNvSpPr txBox="1"/>
          <p:nvPr/>
        </p:nvSpPr>
        <p:spPr>
          <a:xfrm>
            <a:off x="9006840" y="1316736"/>
            <a:ext cx="91440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2124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Today</a:t>
            </a:r>
            <a:endParaRPr lang="en-US" sz="1400" dirty="0"/>
          </a:p>
        </p:txBody>
      </p:sp>
      <p:sp>
        <p:nvSpPr>
          <p:cNvPr id="11" name="Text 9"/>
          <p:cNvSpPr txBox="1"/>
          <p:nvPr/>
        </p:nvSpPr>
        <p:spPr>
          <a:xfrm>
            <a:off x="10671048"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Target</a:t>
            </a:r>
            <a:endParaRPr lang="en-US" sz="1400" dirty="0"/>
          </a:p>
        </p:txBody>
      </p:sp>
      <p:sp>
        <p:nvSpPr>
          <p:cNvPr id="12" name="Text 10"/>
          <p:cNvSpPr txBox="1"/>
          <p:nvPr/>
        </p:nvSpPr>
        <p:spPr>
          <a:xfrm>
            <a:off x="658368"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3" name="Shape 11"/>
          <p:cNvSpPr/>
          <p:nvPr/>
        </p:nvSpPr>
        <p:spPr>
          <a:xfrm>
            <a:off x="2670048" y="1756697"/>
            <a:ext cx="731520" cy="136676"/>
          </a:xfrm>
          <a:prstGeom prst="rect">
            <a:avLst/>
          </a:prstGeom>
          <a:solidFill>
            <a:srgbClr val="2587C5"/>
          </a:solidFill>
          <a:ln/>
        </p:spPr>
      </p:sp>
      <p:sp>
        <p:nvSpPr>
          <p:cNvPr id="14" name="Text 12"/>
          <p:cNvSpPr txBox="1"/>
          <p:nvPr/>
        </p:nvSpPr>
        <p:spPr>
          <a:xfrm>
            <a:off x="3456432" y="170078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$1.51M</a:t>
            </a:r>
            <a:endParaRPr lang="en-US" sz="1300" dirty="0"/>
          </a:p>
        </p:txBody>
      </p:sp>
      <p:sp>
        <p:nvSpPr>
          <p:cNvPr id="15" name="Text 13"/>
          <p:cNvSpPr txBox="1"/>
          <p:nvPr/>
        </p:nvSpPr>
        <p:spPr>
          <a:xfrm>
            <a:off x="4370832"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$14.2K</a:t>
            </a:r>
            <a:endParaRPr lang="en-US" sz="1300" dirty="0"/>
          </a:p>
        </p:txBody>
      </p:sp>
      <p:sp>
        <p:nvSpPr>
          <p:cNvPr id="16" name="Text 14"/>
          <p:cNvSpPr txBox="1"/>
          <p:nvPr/>
        </p:nvSpPr>
        <p:spPr>
          <a:xfrm>
            <a:off x="5120640"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$14.9K</a:t>
            </a:r>
            <a:endParaRPr lang="en-US" sz="1300" dirty="0"/>
          </a:p>
        </p:txBody>
      </p:sp>
      <p:sp>
        <p:nvSpPr>
          <p:cNvPr id="17" name="Text 15"/>
          <p:cNvSpPr txBox="1"/>
          <p:nvPr/>
        </p:nvSpPr>
        <p:spPr>
          <a:xfrm>
            <a:off x="658368"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8" name="Shape 16"/>
          <p:cNvSpPr/>
          <p:nvPr/>
        </p:nvSpPr>
        <p:spPr>
          <a:xfrm>
            <a:off x="2670048" y="2005199"/>
            <a:ext cx="535690" cy="136676"/>
          </a:xfrm>
          <a:prstGeom prst="rect">
            <a:avLst/>
          </a:prstGeom>
          <a:solidFill>
            <a:srgbClr val="2587C5"/>
          </a:solidFill>
          <a:ln/>
        </p:spPr>
      </p:sp>
      <p:sp>
        <p:nvSpPr>
          <p:cNvPr id="19" name="Text 17"/>
          <p:cNvSpPr txBox="1"/>
          <p:nvPr/>
        </p:nvSpPr>
        <p:spPr>
          <a:xfrm>
            <a:off x="3456432" y="194928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$1.10M</a:t>
            </a:r>
            <a:endParaRPr lang="en-US" sz="1300" dirty="0"/>
          </a:p>
        </p:txBody>
      </p:sp>
      <p:sp>
        <p:nvSpPr>
          <p:cNvPr id="20" name="Text 18"/>
          <p:cNvSpPr txBox="1"/>
          <p:nvPr/>
        </p:nvSpPr>
        <p:spPr>
          <a:xfrm>
            <a:off x="4370832"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$12.0K</a:t>
            </a:r>
            <a:endParaRPr lang="en-US" sz="1300" dirty="0"/>
          </a:p>
        </p:txBody>
      </p:sp>
      <p:sp>
        <p:nvSpPr>
          <p:cNvPr id="21" name="Text 19"/>
          <p:cNvSpPr txBox="1"/>
          <p:nvPr/>
        </p:nvSpPr>
        <p:spPr>
          <a:xfrm>
            <a:off x="5120640"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$12.6K</a:t>
            </a:r>
            <a:endParaRPr lang="en-US" sz="1300" dirty="0"/>
          </a:p>
        </p:txBody>
      </p:sp>
      <p:sp>
        <p:nvSpPr>
          <p:cNvPr id="22" name="Text 20"/>
          <p:cNvSpPr txBox="1"/>
          <p:nvPr/>
        </p:nvSpPr>
        <p:spPr>
          <a:xfrm>
            <a:off x="658368"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23" name="Shape 21"/>
          <p:cNvSpPr/>
          <p:nvPr/>
        </p:nvSpPr>
        <p:spPr>
          <a:xfrm>
            <a:off x="2670048" y="2253700"/>
            <a:ext cx="466983" cy="136676"/>
          </a:xfrm>
          <a:prstGeom prst="rect">
            <a:avLst/>
          </a:prstGeom>
          <a:solidFill>
            <a:srgbClr val="2587C5"/>
          </a:solidFill>
          <a:ln/>
        </p:spPr>
      </p:sp>
      <p:sp>
        <p:nvSpPr>
          <p:cNvPr id="24" name="Text 22"/>
          <p:cNvSpPr txBox="1"/>
          <p:nvPr/>
        </p:nvSpPr>
        <p:spPr>
          <a:xfrm>
            <a:off x="3456432" y="219778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$962K</a:t>
            </a:r>
            <a:endParaRPr lang="en-US" sz="1300" dirty="0"/>
          </a:p>
        </p:txBody>
      </p:sp>
      <p:sp>
        <p:nvSpPr>
          <p:cNvPr id="25" name="Text 23"/>
          <p:cNvSpPr txBox="1"/>
          <p:nvPr/>
        </p:nvSpPr>
        <p:spPr>
          <a:xfrm>
            <a:off x="4370832"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$16.1K</a:t>
            </a:r>
            <a:endParaRPr lang="en-US" sz="1300" dirty="0"/>
          </a:p>
        </p:txBody>
      </p:sp>
      <p:sp>
        <p:nvSpPr>
          <p:cNvPr id="26" name="Text 24"/>
          <p:cNvSpPr txBox="1"/>
          <p:nvPr/>
        </p:nvSpPr>
        <p:spPr>
          <a:xfrm>
            <a:off x="5120640"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$16.9K</a:t>
            </a:r>
            <a:endParaRPr lang="en-US" sz="1300" dirty="0"/>
          </a:p>
        </p:txBody>
      </p:sp>
      <p:sp>
        <p:nvSpPr>
          <p:cNvPr id="27" name="Text 25"/>
          <p:cNvSpPr txBox="1"/>
          <p:nvPr/>
        </p:nvSpPr>
        <p:spPr>
          <a:xfrm>
            <a:off x="658368"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28" name="Shape 26"/>
          <p:cNvSpPr/>
          <p:nvPr/>
        </p:nvSpPr>
        <p:spPr>
          <a:xfrm>
            <a:off x="2670048" y="2502202"/>
            <a:ext cx="399548" cy="136676"/>
          </a:xfrm>
          <a:prstGeom prst="rect">
            <a:avLst/>
          </a:prstGeom>
          <a:solidFill>
            <a:srgbClr val="2587C5"/>
          </a:solidFill>
          <a:ln/>
        </p:spPr>
      </p:sp>
      <p:sp>
        <p:nvSpPr>
          <p:cNvPr id="29" name="Text 27"/>
          <p:cNvSpPr txBox="1"/>
          <p:nvPr/>
        </p:nvSpPr>
        <p:spPr>
          <a:xfrm>
            <a:off x="3456432" y="244628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$823K</a:t>
            </a:r>
            <a:endParaRPr lang="en-US" sz="1300" dirty="0"/>
          </a:p>
        </p:txBody>
      </p:sp>
      <p:sp>
        <p:nvSpPr>
          <p:cNvPr id="30" name="Text 28"/>
          <p:cNvSpPr txBox="1"/>
          <p:nvPr/>
        </p:nvSpPr>
        <p:spPr>
          <a:xfrm>
            <a:off x="4370832"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$23.5K</a:t>
            </a:r>
            <a:endParaRPr lang="en-US" sz="1300" dirty="0"/>
          </a:p>
        </p:txBody>
      </p:sp>
      <p:sp>
        <p:nvSpPr>
          <p:cNvPr id="31" name="Text 29"/>
          <p:cNvSpPr txBox="1"/>
          <p:nvPr/>
        </p:nvSpPr>
        <p:spPr>
          <a:xfrm>
            <a:off x="5120640"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$24.6K</a:t>
            </a:r>
            <a:endParaRPr lang="en-US" sz="1300" dirty="0"/>
          </a:p>
        </p:txBody>
      </p:sp>
      <p:sp>
        <p:nvSpPr>
          <p:cNvPr id="32" name="Text 30"/>
          <p:cNvSpPr txBox="1"/>
          <p:nvPr/>
        </p:nvSpPr>
        <p:spPr>
          <a:xfrm>
            <a:off x="658368"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33" name="Shape 31"/>
          <p:cNvSpPr/>
          <p:nvPr/>
        </p:nvSpPr>
        <p:spPr>
          <a:xfrm>
            <a:off x="2670048" y="2750703"/>
            <a:ext cx="326379" cy="136676"/>
          </a:xfrm>
          <a:prstGeom prst="rect">
            <a:avLst/>
          </a:prstGeom>
          <a:solidFill>
            <a:srgbClr val="2587C5"/>
          </a:solidFill>
          <a:ln/>
        </p:spPr>
      </p:sp>
      <p:sp>
        <p:nvSpPr>
          <p:cNvPr id="34" name="Text 32"/>
          <p:cNvSpPr txBox="1"/>
          <p:nvPr/>
        </p:nvSpPr>
        <p:spPr>
          <a:xfrm>
            <a:off x="3456432" y="2694791"/>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$672K</a:t>
            </a:r>
            <a:endParaRPr lang="en-US" sz="1300" dirty="0"/>
          </a:p>
        </p:txBody>
      </p:sp>
      <p:sp>
        <p:nvSpPr>
          <p:cNvPr id="35" name="Text 33"/>
          <p:cNvSpPr txBox="1"/>
          <p:nvPr/>
        </p:nvSpPr>
        <p:spPr>
          <a:xfrm>
            <a:off x="4370832"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$12.9K</a:t>
            </a:r>
            <a:endParaRPr lang="en-US" sz="1300" dirty="0"/>
          </a:p>
        </p:txBody>
      </p:sp>
      <p:sp>
        <p:nvSpPr>
          <p:cNvPr id="36" name="Text 34"/>
          <p:cNvSpPr txBox="1"/>
          <p:nvPr/>
        </p:nvSpPr>
        <p:spPr>
          <a:xfrm>
            <a:off x="5120640"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$13.5K</a:t>
            </a:r>
            <a:endParaRPr lang="en-US" sz="1300" dirty="0"/>
          </a:p>
        </p:txBody>
      </p:sp>
      <p:sp>
        <p:nvSpPr>
          <p:cNvPr id="37" name="Text 35"/>
          <p:cNvSpPr txBox="1"/>
          <p:nvPr/>
        </p:nvSpPr>
        <p:spPr>
          <a:xfrm>
            <a:off x="658368"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38" name="Shape 36"/>
          <p:cNvSpPr/>
          <p:nvPr/>
        </p:nvSpPr>
        <p:spPr>
          <a:xfrm>
            <a:off x="2670048" y="2999205"/>
            <a:ext cx="310728" cy="136676"/>
          </a:xfrm>
          <a:prstGeom prst="rect">
            <a:avLst/>
          </a:prstGeom>
          <a:solidFill>
            <a:srgbClr val="2587C5"/>
          </a:solidFill>
          <a:ln/>
        </p:spPr>
      </p:sp>
      <p:sp>
        <p:nvSpPr>
          <p:cNvPr id="39" name="Text 37"/>
          <p:cNvSpPr txBox="1"/>
          <p:nvPr/>
        </p:nvSpPr>
        <p:spPr>
          <a:xfrm>
            <a:off x="3456432" y="294329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$640K</a:t>
            </a:r>
            <a:endParaRPr lang="en-US" sz="1300" dirty="0"/>
          </a:p>
        </p:txBody>
      </p:sp>
      <p:sp>
        <p:nvSpPr>
          <p:cNvPr id="40" name="Text 38"/>
          <p:cNvSpPr txBox="1"/>
          <p:nvPr/>
        </p:nvSpPr>
        <p:spPr>
          <a:xfrm>
            <a:off x="4370832"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$14.3K</a:t>
            </a:r>
            <a:endParaRPr lang="en-US" sz="1300" dirty="0"/>
          </a:p>
        </p:txBody>
      </p:sp>
      <p:sp>
        <p:nvSpPr>
          <p:cNvPr id="41" name="Text 39"/>
          <p:cNvSpPr txBox="1"/>
          <p:nvPr/>
        </p:nvSpPr>
        <p:spPr>
          <a:xfrm>
            <a:off x="5120640"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$15.0K</a:t>
            </a:r>
            <a:endParaRPr lang="en-US" sz="1300" dirty="0"/>
          </a:p>
        </p:txBody>
      </p:sp>
      <p:sp>
        <p:nvSpPr>
          <p:cNvPr id="42" name="Text 40"/>
          <p:cNvSpPr txBox="1"/>
          <p:nvPr/>
        </p:nvSpPr>
        <p:spPr>
          <a:xfrm>
            <a:off x="658368"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43" name="Shape 41"/>
          <p:cNvSpPr/>
          <p:nvPr/>
        </p:nvSpPr>
        <p:spPr>
          <a:xfrm>
            <a:off x="2670048" y="3247707"/>
            <a:ext cx="278978" cy="136676"/>
          </a:xfrm>
          <a:prstGeom prst="rect">
            <a:avLst/>
          </a:prstGeom>
          <a:solidFill>
            <a:srgbClr val="2587C5"/>
          </a:solidFill>
          <a:ln/>
        </p:spPr>
      </p:sp>
      <p:sp>
        <p:nvSpPr>
          <p:cNvPr id="44" name="Text 42"/>
          <p:cNvSpPr txBox="1"/>
          <p:nvPr/>
        </p:nvSpPr>
        <p:spPr>
          <a:xfrm>
            <a:off x="3456432" y="319179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$574K</a:t>
            </a:r>
            <a:endParaRPr lang="en-US" sz="1300" dirty="0"/>
          </a:p>
        </p:txBody>
      </p:sp>
      <p:sp>
        <p:nvSpPr>
          <p:cNvPr id="45" name="Text 43"/>
          <p:cNvSpPr txBox="1"/>
          <p:nvPr/>
        </p:nvSpPr>
        <p:spPr>
          <a:xfrm>
            <a:off x="4370832"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$14.6K</a:t>
            </a:r>
            <a:endParaRPr lang="en-US" sz="1300" dirty="0"/>
          </a:p>
        </p:txBody>
      </p:sp>
      <p:sp>
        <p:nvSpPr>
          <p:cNvPr id="46" name="Text 44"/>
          <p:cNvSpPr txBox="1"/>
          <p:nvPr/>
        </p:nvSpPr>
        <p:spPr>
          <a:xfrm>
            <a:off x="5120640"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$15.3K</a:t>
            </a:r>
            <a:endParaRPr lang="en-US" sz="1300" dirty="0"/>
          </a:p>
        </p:txBody>
      </p:sp>
      <p:sp>
        <p:nvSpPr>
          <p:cNvPr id="47" name="Text 45"/>
          <p:cNvSpPr txBox="1"/>
          <p:nvPr/>
        </p:nvSpPr>
        <p:spPr>
          <a:xfrm>
            <a:off x="658368"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48" name="Shape 46"/>
          <p:cNvSpPr/>
          <p:nvPr/>
        </p:nvSpPr>
        <p:spPr>
          <a:xfrm>
            <a:off x="2670048" y="3496208"/>
            <a:ext cx="213888" cy="136676"/>
          </a:xfrm>
          <a:prstGeom prst="rect">
            <a:avLst/>
          </a:prstGeom>
          <a:solidFill>
            <a:srgbClr val="2587C5"/>
          </a:solidFill>
          <a:ln/>
        </p:spPr>
      </p:sp>
      <p:sp>
        <p:nvSpPr>
          <p:cNvPr id="49" name="Text 47"/>
          <p:cNvSpPr txBox="1"/>
          <p:nvPr/>
        </p:nvSpPr>
        <p:spPr>
          <a:xfrm>
            <a:off x="3456432" y="344029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$440K</a:t>
            </a:r>
            <a:endParaRPr lang="en-US" sz="1300" dirty="0"/>
          </a:p>
        </p:txBody>
      </p:sp>
      <p:sp>
        <p:nvSpPr>
          <p:cNvPr id="50" name="Text 48"/>
          <p:cNvSpPr txBox="1"/>
          <p:nvPr/>
        </p:nvSpPr>
        <p:spPr>
          <a:xfrm>
            <a:off x="4370832"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$18.1K</a:t>
            </a:r>
            <a:endParaRPr lang="en-US" sz="1300" dirty="0"/>
          </a:p>
        </p:txBody>
      </p:sp>
      <p:sp>
        <p:nvSpPr>
          <p:cNvPr id="51" name="Text 49"/>
          <p:cNvSpPr txBox="1"/>
          <p:nvPr/>
        </p:nvSpPr>
        <p:spPr>
          <a:xfrm>
            <a:off x="5120640"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$19.1K</a:t>
            </a:r>
            <a:endParaRPr lang="en-US" sz="1300" dirty="0"/>
          </a:p>
        </p:txBody>
      </p:sp>
      <p:sp>
        <p:nvSpPr>
          <p:cNvPr id="52" name="Text 50"/>
          <p:cNvSpPr txBox="1"/>
          <p:nvPr/>
        </p:nvSpPr>
        <p:spPr>
          <a:xfrm>
            <a:off x="658368"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53" name="Shape 51"/>
          <p:cNvSpPr/>
          <p:nvPr/>
        </p:nvSpPr>
        <p:spPr>
          <a:xfrm>
            <a:off x="2670048" y="3744710"/>
            <a:ext cx="199219" cy="136676"/>
          </a:xfrm>
          <a:prstGeom prst="rect">
            <a:avLst/>
          </a:prstGeom>
          <a:solidFill>
            <a:srgbClr val="2587C5"/>
          </a:solidFill>
          <a:ln/>
        </p:spPr>
      </p:sp>
      <p:sp>
        <p:nvSpPr>
          <p:cNvPr id="54" name="Text 52"/>
          <p:cNvSpPr txBox="1"/>
          <p:nvPr/>
        </p:nvSpPr>
        <p:spPr>
          <a:xfrm>
            <a:off x="3456432" y="368879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$410K</a:t>
            </a:r>
            <a:endParaRPr lang="en-US" sz="1300" dirty="0"/>
          </a:p>
        </p:txBody>
      </p:sp>
      <p:sp>
        <p:nvSpPr>
          <p:cNvPr id="55" name="Text 53"/>
          <p:cNvSpPr txBox="1"/>
          <p:nvPr/>
        </p:nvSpPr>
        <p:spPr>
          <a:xfrm>
            <a:off x="4370832"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$13.3K</a:t>
            </a:r>
            <a:endParaRPr lang="en-US" sz="1300" dirty="0"/>
          </a:p>
        </p:txBody>
      </p:sp>
      <p:sp>
        <p:nvSpPr>
          <p:cNvPr id="56" name="Text 54"/>
          <p:cNvSpPr txBox="1"/>
          <p:nvPr/>
        </p:nvSpPr>
        <p:spPr>
          <a:xfrm>
            <a:off x="5120640"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$14.0K</a:t>
            </a:r>
            <a:endParaRPr lang="en-US" sz="1300" dirty="0"/>
          </a:p>
        </p:txBody>
      </p:sp>
      <p:sp>
        <p:nvSpPr>
          <p:cNvPr id="57" name="Text 55"/>
          <p:cNvSpPr txBox="1"/>
          <p:nvPr/>
        </p:nvSpPr>
        <p:spPr>
          <a:xfrm>
            <a:off x="658368"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58" name="Shape 56"/>
          <p:cNvSpPr/>
          <p:nvPr/>
        </p:nvSpPr>
        <p:spPr>
          <a:xfrm>
            <a:off x="2670048" y="3993212"/>
            <a:ext cx="192043" cy="136676"/>
          </a:xfrm>
          <a:prstGeom prst="rect">
            <a:avLst/>
          </a:prstGeom>
          <a:solidFill>
            <a:srgbClr val="2587C5"/>
          </a:solidFill>
          <a:ln/>
        </p:spPr>
      </p:sp>
      <p:sp>
        <p:nvSpPr>
          <p:cNvPr id="59" name="Text 57"/>
          <p:cNvSpPr txBox="1"/>
          <p:nvPr/>
        </p:nvSpPr>
        <p:spPr>
          <a:xfrm>
            <a:off x="3456432" y="393729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$395K</a:t>
            </a:r>
            <a:endParaRPr lang="en-US" sz="1300" dirty="0"/>
          </a:p>
        </p:txBody>
      </p:sp>
      <p:sp>
        <p:nvSpPr>
          <p:cNvPr id="60" name="Text 58"/>
          <p:cNvSpPr txBox="1"/>
          <p:nvPr/>
        </p:nvSpPr>
        <p:spPr>
          <a:xfrm>
            <a:off x="4370832"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$11.1K</a:t>
            </a:r>
            <a:endParaRPr lang="en-US" sz="1300" dirty="0"/>
          </a:p>
        </p:txBody>
      </p:sp>
      <p:sp>
        <p:nvSpPr>
          <p:cNvPr id="61" name="Text 59"/>
          <p:cNvSpPr txBox="1"/>
          <p:nvPr/>
        </p:nvSpPr>
        <p:spPr>
          <a:xfrm>
            <a:off x="5120640"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$11.7K</a:t>
            </a:r>
            <a:endParaRPr lang="en-US" sz="1300" dirty="0"/>
          </a:p>
        </p:txBody>
      </p:sp>
      <p:sp>
        <p:nvSpPr>
          <p:cNvPr id="62" name="Text 60"/>
          <p:cNvSpPr txBox="1"/>
          <p:nvPr/>
        </p:nvSpPr>
        <p:spPr>
          <a:xfrm>
            <a:off x="658368"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63" name="Shape 61"/>
          <p:cNvSpPr/>
          <p:nvPr/>
        </p:nvSpPr>
        <p:spPr>
          <a:xfrm>
            <a:off x="2670048" y="4241713"/>
            <a:ext cx="164487" cy="136676"/>
          </a:xfrm>
          <a:prstGeom prst="rect">
            <a:avLst/>
          </a:prstGeom>
          <a:solidFill>
            <a:srgbClr val="2587C5"/>
          </a:solidFill>
          <a:ln/>
        </p:spPr>
      </p:sp>
      <p:sp>
        <p:nvSpPr>
          <p:cNvPr id="64" name="Text 62"/>
          <p:cNvSpPr txBox="1"/>
          <p:nvPr/>
        </p:nvSpPr>
        <p:spPr>
          <a:xfrm>
            <a:off x="3456432" y="418580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$339K</a:t>
            </a:r>
            <a:endParaRPr lang="en-US" sz="1300" dirty="0"/>
          </a:p>
        </p:txBody>
      </p:sp>
      <p:sp>
        <p:nvSpPr>
          <p:cNvPr id="65" name="Text 63"/>
          <p:cNvSpPr txBox="1"/>
          <p:nvPr/>
        </p:nvSpPr>
        <p:spPr>
          <a:xfrm>
            <a:off x="4370832"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$11.0K</a:t>
            </a:r>
            <a:endParaRPr lang="en-US" sz="1300" dirty="0"/>
          </a:p>
        </p:txBody>
      </p:sp>
      <p:sp>
        <p:nvSpPr>
          <p:cNvPr id="66" name="Text 64"/>
          <p:cNvSpPr txBox="1"/>
          <p:nvPr/>
        </p:nvSpPr>
        <p:spPr>
          <a:xfrm>
            <a:off x="5120640"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$11.6K</a:t>
            </a:r>
            <a:endParaRPr lang="en-US" sz="1300" dirty="0"/>
          </a:p>
        </p:txBody>
      </p:sp>
      <p:sp>
        <p:nvSpPr>
          <p:cNvPr id="67" name="Text 65"/>
          <p:cNvSpPr txBox="1"/>
          <p:nvPr/>
        </p:nvSpPr>
        <p:spPr>
          <a:xfrm>
            <a:off x="658368"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68" name="Shape 66"/>
          <p:cNvSpPr/>
          <p:nvPr/>
        </p:nvSpPr>
        <p:spPr>
          <a:xfrm>
            <a:off x="2670048" y="4490215"/>
            <a:ext cx="155099" cy="136676"/>
          </a:xfrm>
          <a:prstGeom prst="rect">
            <a:avLst/>
          </a:prstGeom>
          <a:solidFill>
            <a:srgbClr val="2587C5"/>
          </a:solidFill>
          <a:ln/>
        </p:spPr>
      </p:sp>
      <p:sp>
        <p:nvSpPr>
          <p:cNvPr id="69" name="Text 67"/>
          <p:cNvSpPr txBox="1"/>
          <p:nvPr/>
        </p:nvSpPr>
        <p:spPr>
          <a:xfrm>
            <a:off x="3456432" y="443430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$319K</a:t>
            </a:r>
            <a:endParaRPr lang="en-US" sz="1300" dirty="0"/>
          </a:p>
        </p:txBody>
      </p:sp>
      <p:sp>
        <p:nvSpPr>
          <p:cNvPr id="70" name="Text 68"/>
          <p:cNvSpPr txBox="1"/>
          <p:nvPr/>
        </p:nvSpPr>
        <p:spPr>
          <a:xfrm>
            <a:off x="4370832"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$12.0K</a:t>
            </a:r>
            <a:endParaRPr lang="en-US" sz="1300" dirty="0"/>
          </a:p>
        </p:txBody>
      </p:sp>
      <p:sp>
        <p:nvSpPr>
          <p:cNvPr id="71" name="Text 69"/>
          <p:cNvSpPr txBox="1"/>
          <p:nvPr/>
        </p:nvSpPr>
        <p:spPr>
          <a:xfrm>
            <a:off x="5120640"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$12.6K</a:t>
            </a:r>
            <a:endParaRPr lang="en-US" sz="1300" dirty="0"/>
          </a:p>
        </p:txBody>
      </p:sp>
      <p:sp>
        <p:nvSpPr>
          <p:cNvPr id="72" name="Text 70"/>
          <p:cNvSpPr txBox="1"/>
          <p:nvPr/>
        </p:nvSpPr>
        <p:spPr>
          <a:xfrm>
            <a:off x="658368"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73" name="Shape 71"/>
          <p:cNvSpPr/>
          <p:nvPr/>
        </p:nvSpPr>
        <p:spPr>
          <a:xfrm>
            <a:off x="2670048" y="4738717"/>
            <a:ext cx="154861" cy="136676"/>
          </a:xfrm>
          <a:prstGeom prst="rect">
            <a:avLst/>
          </a:prstGeom>
          <a:solidFill>
            <a:srgbClr val="2587C5"/>
          </a:solidFill>
          <a:ln/>
        </p:spPr>
      </p:sp>
      <p:sp>
        <p:nvSpPr>
          <p:cNvPr id="74" name="Text 72"/>
          <p:cNvSpPr txBox="1"/>
          <p:nvPr/>
        </p:nvSpPr>
        <p:spPr>
          <a:xfrm>
            <a:off x="3456432" y="468280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$319K</a:t>
            </a:r>
            <a:endParaRPr lang="en-US" sz="1300" dirty="0"/>
          </a:p>
        </p:txBody>
      </p:sp>
      <p:sp>
        <p:nvSpPr>
          <p:cNvPr id="75" name="Text 73"/>
          <p:cNvSpPr txBox="1"/>
          <p:nvPr/>
        </p:nvSpPr>
        <p:spPr>
          <a:xfrm>
            <a:off x="4370832"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$12.0K</a:t>
            </a:r>
            <a:endParaRPr lang="en-US" sz="1300" dirty="0"/>
          </a:p>
        </p:txBody>
      </p:sp>
      <p:sp>
        <p:nvSpPr>
          <p:cNvPr id="76" name="Text 74"/>
          <p:cNvSpPr txBox="1"/>
          <p:nvPr/>
        </p:nvSpPr>
        <p:spPr>
          <a:xfrm>
            <a:off x="5120640"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$12.6K</a:t>
            </a:r>
            <a:endParaRPr lang="en-US" sz="1300" dirty="0"/>
          </a:p>
        </p:txBody>
      </p:sp>
      <p:sp>
        <p:nvSpPr>
          <p:cNvPr id="77" name="Text 75"/>
          <p:cNvSpPr txBox="1"/>
          <p:nvPr/>
        </p:nvSpPr>
        <p:spPr>
          <a:xfrm>
            <a:off x="658368"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78" name="Shape 76"/>
          <p:cNvSpPr/>
          <p:nvPr/>
        </p:nvSpPr>
        <p:spPr>
          <a:xfrm>
            <a:off x="2670048" y="4987218"/>
            <a:ext cx="146688" cy="136676"/>
          </a:xfrm>
          <a:prstGeom prst="rect">
            <a:avLst/>
          </a:prstGeom>
          <a:solidFill>
            <a:srgbClr val="2587C5"/>
          </a:solidFill>
          <a:ln/>
        </p:spPr>
      </p:sp>
      <p:sp>
        <p:nvSpPr>
          <p:cNvPr id="79" name="Text 77"/>
          <p:cNvSpPr txBox="1"/>
          <p:nvPr/>
        </p:nvSpPr>
        <p:spPr>
          <a:xfrm>
            <a:off x="3456432" y="4931305"/>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$302K</a:t>
            </a:r>
            <a:endParaRPr lang="en-US" sz="1300" dirty="0"/>
          </a:p>
        </p:txBody>
      </p:sp>
      <p:sp>
        <p:nvSpPr>
          <p:cNvPr id="80" name="Text 78"/>
          <p:cNvSpPr txBox="1"/>
          <p:nvPr/>
        </p:nvSpPr>
        <p:spPr>
          <a:xfrm>
            <a:off x="4370832"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$10.4K</a:t>
            </a:r>
            <a:endParaRPr lang="en-US" sz="1300" dirty="0"/>
          </a:p>
        </p:txBody>
      </p:sp>
      <p:sp>
        <p:nvSpPr>
          <p:cNvPr id="81" name="Text 79"/>
          <p:cNvSpPr txBox="1"/>
          <p:nvPr/>
        </p:nvSpPr>
        <p:spPr>
          <a:xfrm>
            <a:off x="5120640"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$10.9K</a:t>
            </a:r>
            <a:endParaRPr lang="en-US" sz="1300" dirty="0"/>
          </a:p>
        </p:txBody>
      </p:sp>
      <p:sp>
        <p:nvSpPr>
          <p:cNvPr id="82" name="Text 80"/>
          <p:cNvSpPr txBox="1"/>
          <p:nvPr/>
        </p:nvSpPr>
        <p:spPr>
          <a:xfrm>
            <a:off x="658368"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83" name="Shape 81"/>
          <p:cNvSpPr/>
          <p:nvPr/>
        </p:nvSpPr>
        <p:spPr>
          <a:xfrm>
            <a:off x="2670048" y="5235720"/>
            <a:ext cx="144683" cy="136676"/>
          </a:xfrm>
          <a:prstGeom prst="rect">
            <a:avLst/>
          </a:prstGeom>
          <a:solidFill>
            <a:srgbClr val="2587C5"/>
          </a:solidFill>
          <a:ln/>
        </p:spPr>
      </p:sp>
      <p:sp>
        <p:nvSpPr>
          <p:cNvPr id="84" name="Text 82"/>
          <p:cNvSpPr txBox="1"/>
          <p:nvPr/>
        </p:nvSpPr>
        <p:spPr>
          <a:xfrm>
            <a:off x="3456432" y="517980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$298K</a:t>
            </a:r>
            <a:endParaRPr lang="en-US" sz="1300" dirty="0"/>
          </a:p>
        </p:txBody>
      </p:sp>
      <p:sp>
        <p:nvSpPr>
          <p:cNvPr id="85" name="Text 83"/>
          <p:cNvSpPr txBox="1"/>
          <p:nvPr/>
        </p:nvSpPr>
        <p:spPr>
          <a:xfrm>
            <a:off x="4370832"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$10.8K</a:t>
            </a:r>
            <a:endParaRPr lang="en-US" sz="1300" dirty="0"/>
          </a:p>
        </p:txBody>
      </p:sp>
      <p:sp>
        <p:nvSpPr>
          <p:cNvPr id="86" name="Text 84"/>
          <p:cNvSpPr txBox="1"/>
          <p:nvPr/>
        </p:nvSpPr>
        <p:spPr>
          <a:xfrm>
            <a:off x="5120640"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$11.3K</a:t>
            </a:r>
            <a:endParaRPr lang="en-US" sz="1300" dirty="0"/>
          </a:p>
        </p:txBody>
      </p:sp>
      <p:sp>
        <p:nvSpPr>
          <p:cNvPr id="87" name="Text 85"/>
          <p:cNvSpPr txBox="1"/>
          <p:nvPr/>
        </p:nvSpPr>
        <p:spPr>
          <a:xfrm>
            <a:off x="658368"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88" name="Shape 86"/>
          <p:cNvSpPr/>
          <p:nvPr/>
        </p:nvSpPr>
        <p:spPr>
          <a:xfrm>
            <a:off x="2670048" y="5484222"/>
            <a:ext cx="144399" cy="136676"/>
          </a:xfrm>
          <a:prstGeom prst="rect">
            <a:avLst/>
          </a:prstGeom>
          <a:solidFill>
            <a:srgbClr val="2587C5"/>
          </a:solidFill>
          <a:ln/>
        </p:spPr>
      </p:sp>
      <p:sp>
        <p:nvSpPr>
          <p:cNvPr id="89" name="Text 87"/>
          <p:cNvSpPr txBox="1"/>
          <p:nvPr/>
        </p:nvSpPr>
        <p:spPr>
          <a:xfrm>
            <a:off x="3456432" y="542830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$297K</a:t>
            </a:r>
            <a:endParaRPr lang="en-US" sz="1300" dirty="0"/>
          </a:p>
        </p:txBody>
      </p:sp>
      <p:sp>
        <p:nvSpPr>
          <p:cNvPr id="90" name="Text 88"/>
          <p:cNvSpPr txBox="1"/>
          <p:nvPr/>
        </p:nvSpPr>
        <p:spPr>
          <a:xfrm>
            <a:off x="4370832"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$14.9K</a:t>
            </a:r>
            <a:endParaRPr lang="en-US" sz="1300" dirty="0"/>
          </a:p>
        </p:txBody>
      </p:sp>
      <p:sp>
        <p:nvSpPr>
          <p:cNvPr id="91" name="Text 89"/>
          <p:cNvSpPr txBox="1"/>
          <p:nvPr/>
        </p:nvSpPr>
        <p:spPr>
          <a:xfrm>
            <a:off x="5120640"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$15.7K</a:t>
            </a:r>
            <a:endParaRPr lang="en-US" sz="1300" dirty="0"/>
          </a:p>
        </p:txBody>
      </p:sp>
      <p:sp>
        <p:nvSpPr>
          <p:cNvPr id="92" name="Text 90"/>
          <p:cNvSpPr txBox="1"/>
          <p:nvPr/>
        </p:nvSpPr>
        <p:spPr>
          <a:xfrm>
            <a:off x="658368" y="567681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93" name="Shape 91"/>
          <p:cNvSpPr/>
          <p:nvPr/>
        </p:nvSpPr>
        <p:spPr>
          <a:xfrm>
            <a:off x="2670048" y="5732723"/>
            <a:ext cx="135434" cy="136676"/>
          </a:xfrm>
          <a:prstGeom prst="rect">
            <a:avLst/>
          </a:prstGeom>
          <a:solidFill>
            <a:srgbClr val="2587C5"/>
          </a:solidFill>
          <a:ln/>
        </p:spPr>
      </p:sp>
      <p:sp>
        <p:nvSpPr>
          <p:cNvPr id="94" name="Text 92"/>
          <p:cNvSpPr txBox="1"/>
          <p:nvPr/>
        </p:nvSpPr>
        <p:spPr>
          <a:xfrm>
            <a:off x="3456432" y="567681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$279K</a:t>
            </a:r>
            <a:endParaRPr lang="en-US" sz="1300" dirty="0"/>
          </a:p>
        </p:txBody>
      </p:sp>
      <p:sp>
        <p:nvSpPr>
          <p:cNvPr id="95" name="Text 93"/>
          <p:cNvSpPr txBox="1"/>
          <p:nvPr/>
        </p:nvSpPr>
        <p:spPr>
          <a:xfrm>
            <a:off x="4370832" y="567681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$12.9K</a:t>
            </a:r>
            <a:endParaRPr lang="en-US" sz="1300" dirty="0"/>
          </a:p>
        </p:txBody>
      </p:sp>
      <p:sp>
        <p:nvSpPr>
          <p:cNvPr id="96" name="Text 94"/>
          <p:cNvSpPr txBox="1"/>
          <p:nvPr/>
        </p:nvSpPr>
        <p:spPr>
          <a:xfrm>
            <a:off x="5120640" y="567681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$13.5K</a:t>
            </a:r>
            <a:endParaRPr lang="en-US" sz="1300" dirty="0"/>
          </a:p>
        </p:txBody>
      </p:sp>
      <p:sp>
        <p:nvSpPr>
          <p:cNvPr id="97" name="Text 95"/>
          <p:cNvSpPr txBox="1"/>
          <p:nvPr/>
        </p:nvSpPr>
        <p:spPr>
          <a:xfrm>
            <a:off x="6208776"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98" name="Shape 96"/>
          <p:cNvSpPr/>
          <p:nvPr/>
        </p:nvSpPr>
        <p:spPr>
          <a:xfrm>
            <a:off x="8220456" y="1756697"/>
            <a:ext cx="134212" cy="136676"/>
          </a:xfrm>
          <a:prstGeom prst="rect">
            <a:avLst/>
          </a:prstGeom>
          <a:solidFill>
            <a:srgbClr val="2587C5"/>
          </a:solidFill>
          <a:ln/>
        </p:spPr>
      </p:sp>
      <p:sp>
        <p:nvSpPr>
          <p:cNvPr id="99" name="Text 97"/>
          <p:cNvSpPr txBox="1"/>
          <p:nvPr/>
        </p:nvSpPr>
        <p:spPr>
          <a:xfrm>
            <a:off x="9006840" y="170078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$276K</a:t>
            </a:r>
            <a:endParaRPr lang="en-US" sz="1300" dirty="0"/>
          </a:p>
        </p:txBody>
      </p:sp>
      <p:sp>
        <p:nvSpPr>
          <p:cNvPr id="100" name="Text 98"/>
          <p:cNvSpPr txBox="1"/>
          <p:nvPr/>
        </p:nvSpPr>
        <p:spPr>
          <a:xfrm>
            <a:off x="9921240"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$16.9K</a:t>
            </a:r>
            <a:endParaRPr lang="en-US" sz="1300" dirty="0"/>
          </a:p>
        </p:txBody>
      </p:sp>
      <p:sp>
        <p:nvSpPr>
          <p:cNvPr id="101" name="Text 99"/>
          <p:cNvSpPr txBox="1"/>
          <p:nvPr/>
        </p:nvSpPr>
        <p:spPr>
          <a:xfrm>
            <a:off x="10671048"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$17.8K</a:t>
            </a:r>
            <a:endParaRPr lang="en-US" sz="1300" dirty="0"/>
          </a:p>
        </p:txBody>
      </p:sp>
      <p:sp>
        <p:nvSpPr>
          <p:cNvPr id="102" name="Text 100"/>
          <p:cNvSpPr txBox="1"/>
          <p:nvPr/>
        </p:nvSpPr>
        <p:spPr>
          <a:xfrm>
            <a:off x="6208776"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03" name="Shape 101"/>
          <p:cNvSpPr/>
          <p:nvPr/>
        </p:nvSpPr>
        <p:spPr>
          <a:xfrm>
            <a:off x="8220456" y="2005199"/>
            <a:ext cx="126718" cy="136676"/>
          </a:xfrm>
          <a:prstGeom prst="rect">
            <a:avLst/>
          </a:prstGeom>
          <a:solidFill>
            <a:srgbClr val="2587C5"/>
          </a:solidFill>
          <a:ln/>
        </p:spPr>
      </p:sp>
      <p:sp>
        <p:nvSpPr>
          <p:cNvPr id="104" name="Text 102"/>
          <p:cNvSpPr txBox="1"/>
          <p:nvPr/>
        </p:nvSpPr>
        <p:spPr>
          <a:xfrm>
            <a:off x="9006840" y="194928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$261K</a:t>
            </a:r>
            <a:endParaRPr lang="en-US" sz="1300" dirty="0"/>
          </a:p>
        </p:txBody>
      </p:sp>
      <p:sp>
        <p:nvSpPr>
          <p:cNvPr id="105" name="Text 103"/>
          <p:cNvSpPr txBox="1"/>
          <p:nvPr/>
        </p:nvSpPr>
        <p:spPr>
          <a:xfrm>
            <a:off x="9921240"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$18.5K</a:t>
            </a:r>
            <a:endParaRPr lang="en-US" sz="1300" dirty="0"/>
          </a:p>
        </p:txBody>
      </p:sp>
      <p:sp>
        <p:nvSpPr>
          <p:cNvPr id="106" name="Text 104"/>
          <p:cNvSpPr txBox="1"/>
          <p:nvPr/>
        </p:nvSpPr>
        <p:spPr>
          <a:xfrm>
            <a:off x="10671048"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$19.5K</a:t>
            </a:r>
            <a:endParaRPr lang="en-US" sz="1300" dirty="0"/>
          </a:p>
        </p:txBody>
      </p:sp>
      <p:sp>
        <p:nvSpPr>
          <p:cNvPr id="107" name="Text 105"/>
          <p:cNvSpPr txBox="1"/>
          <p:nvPr/>
        </p:nvSpPr>
        <p:spPr>
          <a:xfrm>
            <a:off x="6208776"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08" name="Shape 106"/>
          <p:cNvSpPr/>
          <p:nvPr/>
        </p:nvSpPr>
        <p:spPr>
          <a:xfrm>
            <a:off x="8220456" y="2253700"/>
            <a:ext cx="115043" cy="136676"/>
          </a:xfrm>
          <a:prstGeom prst="rect">
            <a:avLst/>
          </a:prstGeom>
          <a:solidFill>
            <a:srgbClr val="2587C5"/>
          </a:solidFill>
          <a:ln/>
        </p:spPr>
      </p:sp>
      <p:sp>
        <p:nvSpPr>
          <p:cNvPr id="109" name="Text 107"/>
          <p:cNvSpPr txBox="1"/>
          <p:nvPr/>
        </p:nvSpPr>
        <p:spPr>
          <a:xfrm>
            <a:off x="9006840" y="219778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$237K</a:t>
            </a:r>
            <a:endParaRPr lang="en-US" sz="1300" dirty="0"/>
          </a:p>
        </p:txBody>
      </p:sp>
      <p:sp>
        <p:nvSpPr>
          <p:cNvPr id="110" name="Text 108"/>
          <p:cNvSpPr txBox="1"/>
          <p:nvPr/>
        </p:nvSpPr>
        <p:spPr>
          <a:xfrm>
            <a:off x="9921240"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$10.0K</a:t>
            </a:r>
            <a:endParaRPr lang="en-US" sz="1300" dirty="0"/>
          </a:p>
        </p:txBody>
      </p:sp>
      <p:sp>
        <p:nvSpPr>
          <p:cNvPr id="111" name="Text 109"/>
          <p:cNvSpPr txBox="1"/>
          <p:nvPr/>
        </p:nvSpPr>
        <p:spPr>
          <a:xfrm>
            <a:off x="10671048"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$10.5K</a:t>
            </a:r>
            <a:endParaRPr lang="en-US" sz="1300" dirty="0"/>
          </a:p>
        </p:txBody>
      </p:sp>
      <p:sp>
        <p:nvSpPr>
          <p:cNvPr id="112" name="Text 110"/>
          <p:cNvSpPr txBox="1"/>
          <p:nvPr/>
        </p:nvSpPr>
        <p:spPr>
          <a:xfrm>
            <a:off x="6208776"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13" name="Shape 111"/>
          <p:cNvSpPr/>
          <p:nvPr/>
        </p:nvSpPr>
        <p:spPr>
          <a:xfrm>
            <a:off x="8220456" y="2502202"/>
            <a:ext cx="113826" cy="136676"/>
          </a:xfrm>
          <a:prstGeom prst="rect">
            <a:avLst/>
          </a:prstGeom>
          <a:solidFill>
            <a:srgbClr val="2587C5"/>
          </a:solidFill>
          <a:ln/>
        </p:spPr>
      </p:sp>
      <p:sp>
        <p:nvSpPr>
          <p:cNvPr id="114" name="Text 112"/>
          <p:cNvSpPr txBox="1"/>
          <p:nvPr/>
        </p:nvSpPr>
        <p:spPr>
          <a:xfrm>
            <a:off x="9006840" y="244628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$234K</a:t>
            </a:r>
            <a:endParaRPr lang="en-US" sz="1300" dirty="0"/>
          </a:p>
        </p:txBody>
      </p:sp>
      <p:sp>
        <p:nvSpPr>
          <p:cNvPr id="115" name="Text 113"/>
          <p:cNvSpPr txBox="1"/>
          <p:nvPr/>
        </p:nvSpPr>
        <p:spPr>
          <a:xfrm>
            <a:off x="9921240"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$15.6K</a:t>
            </a:r>
            <a:endParaRPr lang="en-US" sz="1300" dirty="0"/>
          </a:p>
        </p:txBody>
      </p:sp>
      <p:sp>
        <p:nvSpPr>
          <p:cNvPr id="116" name="Text 114"/>
          <p:cNvSpPr txBox="1"/>
          <p:nvPr/>
        </p:nvSpPr>
        <p:spPr>
          <a:xfrm>
            <a:off x="10671048"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$16.3K</a:t>
            </a:r>
            <a:endParaRPr lang="en-US" sz="1300" dirty="0"/>
          </a:p>
        </p:txBody>
      </p:sp>
      <p:sp>
        <p:nvSpPr>
          <p:cNvPr id="117" name="Text 115"/>
          <p:cNvSpPr txBox="1"/>
          <p:nvPr/>
        </p:nvSpPr>
        <p:spPr>
          <a:xfrm>
            <a:off x="6208776"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18" name="Shape 116"/>
          <p:cNvSpPr/>
          <p:nvPr/>
        </p:nvSpPr>
        <p:spPr>
          <a:xfrm>
            <a:off x="8220456" y="2750703"/>
            <a:ext cx="110607" cy="136676"/>
          </a:xfrm>
          <a:prstGeom prst="rect">
            <a:avLst/>
          </a:prstGeom>
          <a:solidFill>
            <a:srgbClr val="2587C5"/>
          </a:solidFill>
          <a:ln/>
        </p:spPr>
      </p:sp>
      <p:sp>
        <p:nvSpPr>
          <p:cNvPr id="119" name="Text 117"/>
          <p:cNvSpPr txBox="1"/>
          <p:nvPr/>
        </p:nvSpPr>
        <p:spPr>
          <a:xfrm>
            <a:off x="9006840" y="2694791"/>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$228K</a:t>
            </a:r>
            <a:endParaRPr lang="en-US" sz="1300" dirty="0"/>
          </a:p>
        </p:txBody>
      </p:sp>
      <p:sp>
        <p:nvSpPr>
          <p:cNvPr id="120" name="Text 118"/>
          <p:cNvSpPr txBox="1"/>
          <p:nvPr/>
        </p:nvSpPr>
        <p:spPr>
          <a:xfrm>
            <a:off x="9921240"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$18.3K</a:t>
            </a:r>
            <a:endParaRPr lang="en-US" sz="1300" dirty="0"/>
          </a:p>
        </p:txBody>
      </p:sp>
      <p:sp>
        <p:nvSpPr>
          <p:cNvPr id="121" name="Text 119"/>
          <p:cNvSpPr txBox="1"/>
          <p:nvPr/>
        </p:nvSpPr>
        <p:spPr>
          <a:xfrm>
            <a:off x="10671048"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$19.2K</a:t>
            </a:r>
            <a:endParaRPr lang="en-US" sz="1300" dirty="0"/>
          </a:p>
        </p:txBody>
      </p:sp>
      <p:sp>
        <p:nvSpPr>
          <p:cNvPr id="122" name="Text 120"/>
          <p:cNvSpPr txBox="1"/>
          <p:nvPr/>
        </p:nvSpPr>
        <p:spPr>
          <a:xfrm>
            <a:off x="6208776"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23" name="Shape 121"/>
          <p:cNvSpPr/>
          <p:nvPr/>
        </p:nvSpPr>
        <p:spPr>
          <a:xfrm>
            <a:off x="8220456" y="2999205"/>
            <a:ext cx="107009" cy="136676"/>
          </a:xfrm>
          <a:prstGeom prst="rect">
            <a:avLst/>
          </a:prstGeom>
          <a:solidFill>
            <a:srgbClr val="2587C5"/>
          </a:solidFill>
          <a:ln/>
        </p:spPr>
      </p:sp>
      <p:sp>
        <p:nvSpPr>
          <p:cNvPr id="124" name="Text 122"/>
          <p:cNvSpPr txBox="1"/>
          <p:nvPr/>
        </p:nvSpPr>
        <p:spPr>
          <a:xfrm>
            <a:off x="9006840" y="294329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$220K</a:t>
            </a:r>
            <a:endParaRPr lang="en-US" sz="1300" dirty="0"/>
          </a:p>
        </p:txBody>
      </p:sp>
      <p:sp>
        <p:nvSpPr>
          <p:cNvPr id="125" name="Text 123"/>
          <p:cNvSpPr txBox="1"/>
          <p:nvPr/>
        </p:nvSpPr>
        <p:spPr>
          <a:xfrm>
            <a:off x="9921240"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$16.0K</a:t>
            </a:r>
            <a:endParaRPr lang="en-US" sz="1300" dirty="0"/>
          </a:p>
        </p:txBody>
      </p:sp>
      <p:sp>
        <p:nvSpPr>
          <p:cNvPr id="126" name="Text 124"/>
          <p:cNvSpPr txBox="1"/>
          <p:nvPr/>
        </p:nvSpPr>
        <p:spPr>
          <a:xfrm>
            <a:off x="10671048"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$16.8K</a:t>
            </a:r>
            <a:endParaRPr lang="en-US" sz="1300" dirty="0"/>
          </a:p>
        </p:txBody>
      </p:sp>
      <p:sp>
        <p:nvSpPr>
          <p:cNvPr id="127" name="Text 125"/>
          <p:cNvSpPr txBox="1"/>
          <p:nvPr/>
        </p:nvSpPr>
        <p:spPr>
          <a:xfrm>
            <a:off x="6208776"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28" name="Shape 126"/>
          <p:cNvSpPr/>
          <p:nvPr/>
        </p:nvSpPr>
        <p:spPr>
          <a:xfrm>
            <a:off x="8220456" y="3247707"/>
            <a:ext cx="96551" cy="136676"/>
          </a:xfrm>
          <a:prstGeom prst="rect">
            <a:avLst/>
          </a:prstGeom>
          <a:solidFill>
            <a:srgbClr val="2587C5"/>
          </a:solidFill>
          <a:ln/>
        </p:spPr>
      </p:sp>
      <p:sp>
        <p:nvSpPr>
          <p:cNvPr id="129" name="Text 127"/>
          <p:cNvSpPr txBox="1"/>
          <p:nvPr/>
        </p:nvSpPr>
        <p:spPr>
          <a:xfrm>
            <a:off x="9006840" y="319179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$199K</a:t>
            </a:r>
            <a:endParaRPr lang="en-US" sz="1300" dirty="0"/>
          </a:p>
        </p:txBody>
      </p:sp>
      <p:sp>
        <p:nvSpPr>
          <p:cNvPr id="130" name="Text 128"/>
          <p:cNvSpPr txBox="1"/>
          <p:nvPr/>
        </p:nvSpPr>
        <p:spPr>
          <a:xfrm>
            <a:off x="9921240"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$11.0K</a:t>
            </a:r>
            <a:endParaRPr lang="en-US" sz="1300" dirty="0"/>
          </a:p>
        </p:txBody>
      </p:sp>
      <p:sp>
        <p:nvSpPr>
          <p:cNvPr id="131" name="Text 129"/>
          <p:cNvSpPr txBox="1"/>
          <p:nvPr/>
        </p:nvSpPr>
        <p:spPr>
          <a:xfrm>
            <a:off x="10671048"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$11.5K</a:t>
            </a:r>
            <a:endParaRPr lang="en-US" sz="1300" dirty="0"/>
          </a:p>
        </p:txBody>
      </p:sp>
      <p:sp>
        <p:nvSpPr>
          <p:cNvPr id="132" name="Text 130"/>
          <p:cNvSpPr txBox="1"/>
          <p:nvPr/>
        </p:nvSpPr>
        <p:spPr>
          <a:xfrm>
            <a:off x="6208776"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33" name="Shape 131"/>
          <p:cNvSpPr/>
          <p:nvPr/>
        </p:nvSpPr>
        <p:spPr>
          <a:xfrm>
            <a:off x="8220456" y="3496208"/>
            <a:ext cx="93673" cy="136676"/>
          </a:xfrm>
          <a:prstGeom prst="rect">
            <a:avLst/>
          </a:prstGeom>
          <a:solidFill>
            <a:srgbClr val="2587C5"/>
          </a:solidFill>
          <a:ln/>
        </p:spPr>
      </p:sp>
      <p:sp>
        <p:nvSpPr>
          <p:cNvPr id="134" name="Text 132"/>
          <p:cNvSpPr txBox="1"/>
          <p:nvPr/>
        </p:nvSpPr>
        <p:spPr>
          <a:xfrm>
            <a:off x="9006840" y="344029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$193K</a:t>
            </a:r>
            <a:endParaRPr lang="en-US" sz="1300" dirty="0"/>
          </a:p>
        </p:txBody>
      </p:sp>
      <p:sp>
        <p:nvSpPr>
          <p:cNvPr id="135" name="Text 133"/>
          <p:cNvSpPr txBox="1"/>
          <p:nvPr/>
        </p:nvSpPr>
        <p:spPr>
          <a:xfrm>
            <a:off x="9921240"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$12.4K</a:t>
            </a:r>
            <a:endParaRPr lang="en-US" sz="1300" dirty="0"/>
          </a:p>
        </p:txBody>
      </p:sp>
      <p:sp>
        <p:nvSpPr>
          <p:cNvPr id="136" name="Text 134"/>
          <p:cNvSpPr txBox="1"/>
          <p:nvPr/>
        </p:nvSpPr>
        <p:spPr>
          <a:xfrm>
            <a:off x="10671048"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$13.0K</a:t>
            </a:r>
            <a:endParaRPr lang="en-US" sz="1300" dirty="0"/>
          </a:p>
        </p:txBody>
      </p:sp>
      <p:sp>
        <p:nvSpPr>
          <p:cNvPr id="137" name="Text 135"/>
          <p:cNvSpPr txBox="1"/>
          <p:nvPr/>
        </p:nvSpPr>
        <p:spPr>
          <a:xfrm>
            <a:off x="6208776"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38" name="Shape 136"/>
          <p:cNvSpPr/>
          <p:nvPr/>
        </p:nvSpPr>
        <p:spPr>
          <a:xfrm>
            <a:off x="8220456" y="3744710"/>
            <a:ext cx="87427" cy="136676"/>
          </a:xfrm>
          <a:prstGeom prst="rect">
            <a:avLst/>
          </a:prstGeom>
          <a:solidFill>
            <a:srgbClr val="2587C5"/>
          </a:solidFill>
          <a:ln/>
        </p:spPr>
      </p:sp>
      <p:sp>
        <p:nvSpPr>
          <p:cNvPr id="139" name="Text 137"/>
          <p:cNvSpPr txBox="1"/>
          <p:nvPr/>
        </p:nvSpPr>
        <p:spPr>
          <a:xfrm>
            <a:off x="9006840" y="368879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$180K</a:t>
            </a:r>
            <a:endParaRPr lang="en-US" sz="1300" dirty="0"/>
          </a:p>
        </p:txBody>
      </p:sp>
      <p:sp>
        <p:nvSpPr>
          <p:cNvPr id="140" name="Text 138"/>
          <p:cNvSpPr txBox="1"/>
          <p:nvPr/>
        </p:nvSpPr>
        <p:spPr>
          <a:xfrm>
            <a:off x="9921240"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$12.5K</a:t>
            </a:r>
            <a:endParaRPr lang="en-US" sz="1300" dirty="0"/>
          </a:p>
        </p:txBody>
      </p:sp>
      <p:sp>
        <p:nvSpPr>
          <p:cNvPr id="141" name="Text 139"/>
          <p:cNvSpPr txBox="1"/>
          <p:nvPr/>
        </p:nvSpPr>
        <p:spPr>
          <a:xfrm>
            <a:off x="10671048"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$13.1K</a:t>
            </a:r>
            <a:endParaRPr lang="en-US" sz="1300" dirty="0"/>
          </a:p>
        </p:txBody>
      </p:sp>
      <p:sp>
        <p:nvSpPr>
          <p:cNvPr id="142" name="Text 140"/>
          <p:cNvSpPr txBox="1"/>
          <p:nvPr/>
        </p:nvSpPr>
        <p:spPr>
          <a:xfrm>
            <a:off x="6208776"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43" name="Shape 141"/>
          <p:cNvSpPr/>
          <p:nvPr/>
        </p:nvSpPr>
        <p:spPr>
          <a:xfrm>
            <a:off x="8220456" y="3993212"/>
            <a:ext cx="75632" cy="136676"/>
          </a:xfrm>
          <a:prstGeom prst="rect">
            <a:avLst/>
          </a:prstGeom>
          <a:solidFill>
            <a:srgbClr val="2587C5"/>
          </a:solidFill>
          <a:ln/>
        </p:spPr>
      </p:sp>
      <p:sp>
        <p:nvSpPr>
          <p:cNvPr id="144" name="Text 142"/>
          <p:cNvSpPr txBox="1"/>
          <p:nvPr/>
        </p:nvSpPr>
        <p:spPr>
          <a:xfrm>
            <a:off x="9006840" y="393729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$156K</a:t>
            </a:r>
            <a:endParaRPr lang="en-US" sz="1300" dirty="0"/>
          </a:p>
        </p:txBody>
      </p:sp>
      <p:sp>
        <p:nvSpPr>
          <p:cNvPr id="145" name="Text 143"/>
          <p:cNvSpPr txBox="1"/>
          <p:nvPr/>
        </p:nvSpPr>
        <p:spPr>
          <a:xfrm>
            <a:off x="9921240"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$12.1K</a:t>
            </a:r>
            <a:endParaRPr lang="en-US" sz="1300" dirty="0"/>
          </a:p>
        </p:txBody>
      </p:sp>
      <p:sp>
        <p:nvSpPr>
          <p:cNvPr id="146" name="Text 144"/>
          <p:cNvSpPr txBox="1"/>
          <p:nvPr/>
        </p:nvSpPr>
        <p:spPr>
          <a:xfrm>
            <a:off x="10671048"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$12.7K</a:t>
            </a:r>
            <a:endParaRPr lang="en-US" sz="1300" dirty="0"/>
          </a:p>
        </p:txBody>
      </p:sp>
      <p:sp>
        <p:nvSpPr>
          <p:cNvPr id="147" name="Text 145"/>
          <p:cNvSpPr txBox="1"/>
          <p:nvPr/>
        </p:nvSpPr>
        <p:spPr>
          <a:xfrm>
            <a:off x="6208776"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48" name="Shape 146"/>
          <p:cNvSpPr/>
          <p:nvPr/>
        </p:nvSpPr>
        <p:spPr>
          <a:xfrm>
            <a:off x="8220456" y="4241713"/>
            <a:ext cx="73988" cy="136676"/>
          </a:xfrm>
          <a:prstGeom prst="rect">
            <a:avLst/>
          </a:prstGeom>
          <a:solidFill>
            <a:srgbClr val="2587C5"/>
          </a:solidFill>
          <a:ln/>
        </p:spPr>
      </p:sp>
      <p:sp>
        <p:nvSpPr>
          <p:cNvPr id="149" name="Text 147"/>
          <p:cNvSpPr txBox="1"/>
          <p:nvPr/>
        </p:nvSpPr>
        <p:spPr>
          <a:xfrm>
            <a:off x="9006840" y="418580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$152K</a:t>
            </a:r>
            <a:endParaRPr lang="en-US" sz="1300" dirty="0"/>
          </a:p>
        </p:txBody>
      </p:sp>
      <p:sp>
        <p:nvSpPr>
          <p:cNvPr id="150" name="Text 148"/>
          <p:cNvSpPr txBox="1"/>
          <p:nvPr/>
        </p:nvSpPr>
        <p:spPr>
          <a:xfrm>
            <a:off x="9921240"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$11.5K</a:t>
            </a:r>
            <a:endParaRPr lang="en-US" sz="1300" dirty="0"/>
          </a:p>
        </p:txBody>
      </p:sp>
      <p:sp>
        <p:nvSpPr>
          <p:cNvPr id="151" name="Text 149"/>
          <p:cNvSpPr txBox="1"/>
          <p:nvPr/>
        </p:nvSpPr>
        <p:spPr>
          <a:xfrm>
            <a:off x="10671048"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$12.1K</a:t>
            </a:r>
            <a:endParaRPr lang="en-US" sz="1300" dirty="0"/>
          </a:p>
        </p:txBody>
      </p:sp>
      <p:sp>
        <p:nvSpPr>
          <p:cNvPr id="152" name="Text 150"/>
          <p:cNvSpPr txBox="1"/>
          <p:nvPr/>
        </p:nvSpPr>
        <p:spPr>
          <a:xfrm>
            <a:off x="6208776"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53" name="Shape 151"/>
          <p:cNvSpPr/>
          <p:nvPr/>
        </p:nvSpPr>
        <p:spPr>
          <a:xfrm>
            <a:off x="8220456" y="4490215"/>
            <a:ext cx="73497" cy="136676"/>
          </a:xfrm>
          <a:prstGeom prst="rect">
            <a:avLst/>
          </a:prstGeom>
          <a:solidFill>
            <a:srgbClr val="2587C5"/>
          </a:solidFill>
          <a:ln/>
        </p:spPr>
      </p:sp>
      <p:sp>
        <p:nvSpPr>
          <p:cNvPr id="154" name="Text 152"/>
          <p:cNvSpPr txBox="1"/>
          <p:nvPr/>
        </p:nvSpPr>
        <p:spPr>
          <a:xfrm>
            <a:off x="9006840" y="443430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$151K</a:t>
            </a:r>
            <a:endParaRPr lang="en-US" sz="1300" dirty="0"/>
          </a:p>
        </p:txBody>
      </p:sp>
      <p:sp>
        <p:nvSpPr>
          <p:cNvPr id="155" name="Text 153"/>
          <p:cNvSpPr txBox="1"/>
          <p:nvPr/>
        </p:nvSpPr>
        <p:spPr>
          <a:xfrm>
            <a:off x="9921240"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$9.5K</a:t>
            </a:r>
            <a:endParaRPr lang="en-US" sz="1300" dirty="0"/>
          </a:p>
        </p:txBody>
      </p:sp>
      <p:sp>
        <p:nvSpPr>
          <p:cNvPr id="156" name="Text 154"/>
          <p:cNvSpPr txBox="1"/>
          <p:nvPr/>
        </p:nvSpPr>
        <p:spPr>
          <a:xfrm>
            <a:off x="10671048"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$10.0K</a:t>
            </a:r>
            <a:endParaRPr lang="en-US" sz="1300" dirty="0"/>
          </a:p>
        </p:txBody>
      </p:sp>
      <p:sp>
        <p:nvSpPr>
          <p:cNvPr id="157" name="Text 155"/>
          <p:cNvSpPr txBox="1"/>
          <p:nvPr/>
        </p:nvSpPr>
        <p:spPr>
          <a:xfrm>
            <a:off x="6208776"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58" name="Shape 156"/>
          <p:cNvSpPr/>
          <p:nvPr/>
        </p:nvSpPr>
        <p:spPr>
          <a:xfrm>
            <a:off x="8220456" y="4738717"/>
            <a:ext cx="71484" cy="136676"/>
          </a:xfrm>
          <a:prstGeom prst="rect">
            <a:avLst/>
          </a:prstGeom>
          <a:solidFill>
            <a:srgbClr val="2587C5"/>
          </a:solidFill>
          <a:ln/>
        </p:spPr>
      </p:sp>
      <p:sp>
        <p:nvSpPr>
          <p:cNvPr id="159" name="Text 157"/>
          <p:cNvSpPr txBox="1"/>
          <p:nvPr/>
        </p:nvSpPr>
        <p:spPr>
          <a:xfrm>
            <a:off x="9006840" y="468280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$147K</a:t>
            </a:r>
            <a:endParaRPr lang="en-US" sz="1300" dirty="0"/>
          </a:p>
        </p:txBody>
      </p:sp>
      <p:sp>
        <p:nvSpPr>
          <p:cNvPr id="160" name="Text 158"/>
          <p:cNvSpPr txBox="1"/>
          <p:nvPr/>
        </p:nvSpPr>
        <p:spPr>
          <a:xfrm>
            <a:off x="9921240"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$15.2K</a:t>
            </a:r>
            <a:endParaRPr lang="en-US" sz="1300" dirty="0"/>
          </a:p>
        </p:txBody>
      </p:sp>
      <p:sp>
        <p:nvSpPr>
          <p:cNvPr id="161" name="Text 159"/>
          <p:cNvSpPr txBox="1"/>
          <p:nvPr/>
        </p:nvSpPr>
        <p:spPr>
          <a:xfrm>
            <a:off x="10671048"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$16.0K</a:t>
            </a:r>
            <a:endParaRPr lang="en-US" sz="1300" dirty="0"/>
          </a:p>
        </p:txBody>
      </p:sp>
      <p:sp>
        <p:nvSpPr>
          <p:cNvPr id="162" name="Text 160"/>
          <p:cNvSpPr txBox="1"/>
          <p:nvPr/>
        </p:nvSpPr>
        <p:spPr>
          <a:xfrm>
            <a:off x="6208776"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63" name="Shape 161"/>
          <p:cNvSpPr/>
          <p:nvPr/>
        </p:nvSpPr>
        <p:spPr>
          <a:xfrm>
            <a:off x="8220456" y="4987218"/>
            <a:ext cx="51544" cy="136676"/>
          </a:xfrm>
          <a:prstGeom prst="rect">
            <a:avLst/>
          </a:prstGeom>
          <a:solidFill>
            <a:srgbClr val="2587C5"/>
          </a:solidFill>
          <a:ln/>
        </p:spPr>
      </p:sp>
      <p:sp>
        <p:nvSpPr>
          <p:cNvPr id="164" name="Text 162"/>
          <p:cNvSpPr txBox="1"/>
          <p:nvPr/>
        </p:nvSpPr>
        <p:spPr>
          <a:xfrm>
            <a:off x="9006840" y="4931305"/>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$106K</a:t>
            </a:r>
            <a:endParaRPr lang="en-US" sz="1300" dirty="0"/>
          </a:p>
        </p:txBody>
      </p:sp>
      <p:sp>
        <p:nvSpPr>
          <p:cNvPr id="165" name="Text 163"/>
          <p:cNvSpPr txBox="1"/>
          <p:nvPr/>
        </p:nvSpPr>
        <p:spPr>
          <a:xfrm>
            <a:off x="9921240"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$9.1K</a:t>
            </a:r>
            <a:endParaRPr lang="en-US" sz="1300" dirty="0"/>
          </a:p>
        </p:txBody>
      </p:sp>
      <p:sp>
        <p:nvSpPr>
          <p:cNvPr id="166" name="Text 164"/>
          <p:cNvSpPr txBox="1"/>
          <p:nvPr/>
        </p:nvSpPr>
        <p:spPr>
          <a:xfrm>
            <a:off x="10671048"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$9.6K</a:t>
            </a:r>
            <a:endParaRPr lang="en-US" sz="1300" dirty="0"/>
          </a:p>
        </p:txBody>
      </p:sp>
      <p:sp>
        <p:nvSpPr>
          <p:cNvPr id="167" name="Text 165"/>
          <p:cNvSpPr txBox="1"/>
          <p:nvPr/>
        </p:nvSpPr>
        <p:spPr>
          <a:xfrm>
            <a:off x="6208776"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68" name="Shape 166"/>
          <p:cNvSpPr/>
          <p:nvPr/>
        </p:nvSpPr>
        <p:spPr>
          <a:xfrm>
            <a:off x="8220456" y="5235720"/>
            <a:ext cx="49708" cy="136676"/>
          </a:xfrm>
          <a:prstGeom prst="rect">
            <a:avLst/>
          </a:prstGeom>
          <a:solidFill>
            <a:srgbClr val="2587C5"/>
          </a:solidFill>
          <a:ln/>
        </p:spPr>
      </p:sp>
      <p:sp>
        <p:nvSpPr>
          <p:cNvPr id="169" name="Text 167"/>
          <p:cNvSpPr txBox="1"/>
          <p:nvPr/>
        </p:nvSpPr>
        <p:spPr>
          <a:xfrm>
            <a:off x="9006840" y="517980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$102K</a:t>
            </a:r>
            <a:endParaRPr lang="en-US" sz="1300" dirty="0"/>
          </a:p>
        </p:txBody>
      </p:sp>
      <p:sp>
        <p:nvSpPr>
          <p:cNvPr id="170" name="Text 168"/>
          <p:cNvSpPr txBox="1"/>
          <p:nvPr/>
        </p:nvSpPr>
        <p:spPr>
          <a:xfrm>
            <a:off x="9921240"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$11.6K</a:t>
            </a:r>
            <a:endParaRPr lang="en-US" sz="1300" dirty="0"/>
          </a:p>
        </p:txBody>
      </p:sp>
      <p:sp>
        <p:nvSpPr>
          <p:cNvPr id="171" name="Text 169"/>
          <p:cNvSpPr txBox="1"/>
          <p:nvPr/>
        </p:nvSpPr>
        <p:spPr>
          <a:xfrm>
            <a:off x="10671048"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$12.2K</a:t>
            </a:r>
            <a:endParaRPr lang="en-US" sz="1300" dirty="0"/>
          </a:p>
        </p:txBody>
      </p:sp>
      <p:sp>
        <p:nvSpPr>
          <p:cNvPr id="172" name="Text 170"/>
          <p:cNvSpPr txBox="1"/>
          <p:nvPr/>
        </p:nvSpPr>
        <p:spPr>
          <a:xfrm>
            <a:off x="6208776"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73" name="Shape 171"/>
          <p:cNvSpPr/>
          <p:nvPr/>
        </p:nvSpPr>
        <p:spPr>
          <a:xfrm>
            <a:off x="8220456" y="5484222"/>
            <a:ext cx="31342" cy="136676"/>
          </a:xfrm>
          <a:prstGeom prst="rect">
            <a:avLst/>
          </a:prstGeom>
          <a:solidFill>
            <a:srgbClr val="2587C5"/>
          </a:solidFill>
          <a:ln/>
        </p:spPr>
      </p:sp>
      <p:sp>
        <p:nvSpPr>
          <p:cNvPr id="174" name="Text 172"/>
          <p:cNvSpPr txBox="1"/>
          <p:nvPr/>
        </p:nvSpPr>
        <p:spPr>
          <a:xfrm>
            <a:off x="9006840" y="542830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$65K</a:t>
            </a:r>
            <a:endParaRPr lang="en-US" sz="1300" dirty="0"/>
          </a:p>
        </p:txBody>
      </p:sp>
      <p:sp>
        <p:nvSpPr>
          <p:cNvPr id="175" name="Text 173"/>
          <p:cNvSpPr txBox="1"/>
          <p:nvPr/>
        </p:nvSpPr>
        <p:spPr>
          <a:xfrm>
            <a:off x="9921240"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$9.9K</a:t>
            </a:r>
            <a:endParaRPr lang="en-US" sz="1300" dirty="0"/>
          </a:p>
        </p:txBody>
      </p:sp>
      <p:sp>
        <p:nvSpPr>
          <p:cNvPr id="176" name="Text 174"/>
          <p:cNvSpPr txBox="1"/>
          <p:nvPr/>
        </p:nvSpPr>
        <p:spPr>
          <a:xfrm>
            <a:off x="10671048"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$10.4K</a:t>
            </a:r>
            <a:endParaRPr lang="en-US" sz="1300" dirty="0"/>
          </a:p>
        </p:txBody>
      </p:sp>
      <p:sp>
        <p:nvSpPr>
          <p:cNvPr id="177" name="Shape 175"/>
          <p:cNvSpPr/>
          <p:nvPr/>
        </p:nvSpPr>
        <p:spPr>
          <a:xfrm>
            <a:off x="457200" y="6126480"/>
            <a:ext cx="11274552" cy="615696"/>
          </a:xfrm>
          <a:prstGeom prst="rect">
            <a:avLst/>
          </a:prstGeom>
          <a:solidFill>
            <a:srgbClr val="E6F6EE"/>
          </a:solidFill>
          <a:ln/>
        </p:spPr>
      </p:sp>
      <p:sp>
        <p:nvSpPr>
          <p:cNvPr id="178" name="Text 17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5% more gross from the people already on staff is worth $12,586,648 a year. For the average employee that is $681 more a month, about $27 a working day.</a:t>
            </a:r>
            <a:endParaRPr lang="en-US" sz="1600" dirty="0"/>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Service Advisor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173</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166</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−3.8%</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&amp; W ROs per Service Advisor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FBEBEA"/>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Down 7 to 166, behind 2025 in six of nine months. Advisors grew 1.5%; ROs fell 2.3%.</a:t>
            </a:r>
            <a:endParaRPr lang="en-US" sz="1600" dirty="0"/>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Service Advisor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SERVICE ADVISOR</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166</a:t>
            </a:r>
            <a:endParaRPr lang="en-US" sz="2000" dirty="0"/>
          </a:p>
        </p:txBody>
      </p:sp>
      <p:sp>
        <p:nvSpPr>
          <p:cNvPr id="11" name="Text 9"/>
          <p:cNvSpPr txBox="1"/>
          <p:nvPr/>
        </p:nvSpPr>
        <p:spPr>
          <a:xfrm>
            <a:off x="859536" y="1847088"/>
            <a:ext cx="10607040"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Each segment ranked on its own. Navy line = each segment's average; green at or above it.</a:t>
            </a:r>
            <a:endParaRPr lang="en-US" sz="1400" dirty="0"/>
          </a:p>
        </p:txBody>
      </p:sp>
      <p:sp>
        <p:nvSpPr>
          <p:cNvPr id="12" name="Text 10"/>
          <p:cNvSpPr txBox="1"/>
          <p:nvPr/>
        </p:nvSpPr>
        <p:spPr>
          <a:xfrm>
            <a:off x="658368" y="2176272"/>
            <a:ext cx="5303520" cy="208280"/>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123</a:t>
            </a:r>
            <a:endParaRPr lang="en-US" sz="1300" dirty="0"/>
          </a:p>
        </p:txBody>
      </p:sp>
      <p:sp>
        <p:nvSpPr>
          <p:cNvPr id="13" name="Shape 11"/>
          <p:cNvSpPr/>
          <p:nvPr/>
        </p:nvSpPr>
        <p:spPr>
          <a:xfrm>
            <a:off x="658368" y="2366264"/>
            <a:ext cx="5303520" cy="18288"/>
          </a:xfrm>
          <a:prstGeom prst="rect">
            <a:avLst/>
          </a:prstGeom>
          <a:solidFill>
            <a:srgbClr val="0B2C4A"/>
          </a:solidFill>
          <a:ln/>
        </p:spPr>
      </p:sp>
      <p:sp>
        <p:nvSpPr>
          <p:cNvPr id="14" name="Text 12"/>
          <p:cNvSpPr txBox="1"/>
          <p:nvPr/>
        </p:nvSpPr>
        <p:spPr>
          <a:xfrm>
            <a:off x="658368" y="23845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5" name="Text 13"/>
          <p:cNvSpPr txBox="1"/>
          <p:nvPr/>
        </p:nvSpPr>
        <p:spPr>
          <a:xfrm>
            <a:off x="1014984" y="23845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6" name="Shape 14"/>
          <p:cNvSpPr/>
          <p:nvPr/>
        </p:nvSpPr>
        <p:spPr>
          <a:xfrm>
            <a:off x="3008376" y="2436622"/>
            <a:ext cx="1658471" cy="104140"/>
          </a:xfrm>
          <a:prstGeom prst="rect">
            <a:avLst/>
          </a:prstGeom>
          <a:solidFill>
            <a:srgbClr val="12A566"/>
          </a:solidFill>
          <a:ln/>
        </p:spPr>
      </p:sp>
      <p:sp>
        <p:nvSpPr>
          <p:cNvPr id="17" name="Text 15"/>
          <p:cNvSpPr txBox="1"/>
          <p:nvPr/>
        </p:nvSpPr>
        <p:spPr>
          <a:xfrm>
            <a:off x="4754880" y="238455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194</a:t>
            </a:r>
            <a:endParaRPr lang="en-US" sz="1200" dirty="0"/>
          </a:p>
        </p:txBody>
      </p:sp>
      <p:sp>
        <p:nvSpPr>
          <p:cNvPr id="18" name="Text 16"/>
          <p:cNvSpPr txBox="1"/>
          <p:nvPr/>
        </p:nvSpPr>
        <p:spPr>
          <a:xfrm>
            <a:off x="658368" y="25928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25928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0" name="Shape 18"/>
          <p:cNvSpPr/>
          <p:nvPr/>
        </p:nvSpPr>
        <p:spPr>
          <a:xfrm>
            <a:off x="3008376" y="2644902"/>
            <a:ext cx="1636341" cy="104140"/>
          </a:xfrm>
          <a:prstGeom prst="rect">
            <a:avLst/>
          </a:prstGeom>
          <a:solidFill>
            <a:srgbClr val="12A566"/>
          </a:solidFill>
          <a:ln/>
        </p:spPr>
      </p:sp>
      <p:sp>
        <p:nvSpPr>
          <p:cNvPr id="21" name="Text 19"/>
          <p:cNvSpPr txBox="1"/>
          <p:nvPr/>
        </p:nvSpPr>
        <p:spPr>
          <a:xfrm>
            <a:off x="4754880" y="259283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192</a:t>
            </a:r>
            <a:endParaRPr lang="en-US" sz="1200" dirty="0"/>
          </a:p>
        </p:txBody>
      </p:sp>
      <p:sp>
        <p:nvSpPr>
          <p:cNvPr id="22" name="Text 20"/>
          <p:cNvSpPr txBox="1"/>
          <p:nvPr/>
        </p:nvSpPr>
        <p:spPr>
          <a:xfrm>
            <a:off x="658368" y="28011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3" name="Text 21"/>
          <p:cNvSpPr txBox="1"/>
          <p:nvPr/>
        </p:nvSpPr>
        <p:spPr>
          <a:xfrm>
            <a:off x="1014984" y="28011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4" name="Shape 22"/>
          <p:cNvSpPr/>
          <p:nvPr/>
        </p:nvSpPr>
        <p:spPr>
          <a:xfrm>
            <a:off x="3008376" y="2853182"/>
            <a:ext cx="1373312" cy="104140"/>
          </a:xfrm>
          <a:prstGeom prst="rect">
            <a:avLst/>
          </a:prstGeom>
          <a:solidFill>
            <a:srgbClr val="12A566"/>
          </a:solidFill>
          <a:ln/>
        </p:spPr>
      </p:sp>
      <p:sp>
        <p:nvSpPr>
          <p:cNvPr id="25" name="Text 23"/>
          <p:cNvSpPr txBox="1"/>
          <p:nvPr/>
        </p:nvSpPr>
        <p:spPr>
          <a:xfrm>
            <a:off x="4754880" y="280111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161</a:t>
            </a:r>
            <a:endParaRPr lang="en-US" sz="1200" dirty="0"/>
          </a:p>
        </p:txBody>
      </p:sp>
      <p:sp>
        <p:nvSpPr>
          <p:cNvPr id="26" name="Text 24"/>
          <p:cNvSpPr txBox="1"/>
          <p:nvPr/>
        </p:nvSpPr>
        <p:spPr>
          <a:xfrm>
            <a:off x="658368" y="30093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7" name="Text 25"/>
          <p:cNvSpPr txBox="1"/>
          <p:nvPr/>
        </p:nvSpPr>
        <p:spPr>
          <a:xfrm>
            <a:off x="1014984" y="30093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8" name="Shape 26"/>
          <p:cNvSpPr/>
          <p:nvPr/>
        </p:nvSpPr>
        <p:spPr>
          <a:xfrm>
            <a:off x="3008376" y="3061462"/>
            <a:ext cx="1136397" cy="104140"/>
          </a:xfrm>
          <a:prstGeom prst="rect">
            <a:avLst/>
          </a:prstGeom>
          <a:solidFill>
            <a:srgbClr val="12A566"/>
          </a:solidFill>
          <a:ln/>
        </p:spPr>
      </p:sp>
      <p:sp>
        <p:nvSpPr>
          <p:cNvPr id="29" name="Text 27"/>
          <p:cNvSpPr txBox="1"/>
          <p:nvPr/>
        </p:nvSpPr>
        <p:spPr>
          <a:xfrm>
            <a:off x="4754880" y="300939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133</a:t>
            </a:r>
            <a:endParaRPr lang="en-US" sz="1200" dirty="0"/>
          </a:p>
        </p:txBody>
      </p:sp>
      <p:sp>
        <p:nvSpPr>
          <p:cNvPr id="30" name="Text 28"/>
          <p:cNvSpPr txBox="1"/>
          <p:nvPr/>
        </p:nvSpPr>
        <p:spPr>
          <a:xfrm>
            <a:off x="658368" y="32176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1" name="Text 29"/>
          <p:cNvSpPr txBox="1"/>
          <p:nvPr/>
        </p:nvSpPr>
        <p:spPr>
          <a:xfrm>
            <a:off x="1014984" y="32176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2" name="Shape 30"/>
          <p:cNvSpPr/>
          <p:nvPr/>
        </p:nvSpPr>
        <p:spPr>
          <a:xfrm>
            <a:off x="3008376" y="3269742"/>
            <a:ext cx="1062404" cy="104140"/>
          </a:xfrm>
          <a:prstGeom prst="rect">
            <a:avLst/>
          </a:prstGeom>
          <a:solidFill>
            <a:srgbClr val="12A566"/>
          </a:solidFill>
          <a:ln/>
        </p:spPr>
      </p:sp>
      <p:sp>
        <p:nvSpPr>
          <p:cNvPr id="33" name="Text 31"/>
          <p:cNvSpPr txBox="1"/>
          <p:nvPr/>
        </p:nvSpPr>
        <p:spPr>
          <a:xfrm>
            <a:off x="4754880" y="321767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124</a:t>
            </a:r>
            <a:endParaRPr lang="en-US" sz="1200" dirty="0"/>
          </a:p>
        </p:txBody>
      </p:sp>
      <p:sp>
        <p:nvSpPr>
          <p:cNvPr id="34" name="Text 32"/>
          <p:cNvSpPr txBox="1"/>
          <p:nvPr/>
        </p:nvSpPr>
        <p:spPr>
          <a:xfrm>
            <a:off x="658368" y="34259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5" name="Text 33"/>
          <p:cNvSpPr txBox="1"/>
          <p:nvPr/>
        </p:nvSpPr>
        <p:spPr>
          <a:xfrm>
            <a:off x="1014984" y="34259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6" name="Shape 34"/>
          <p:cNvSpPr/>
          <p:nvPr/>
        </p:nvSpPr>
        <p:spPr>
          <a:xfrm>
            <a:off x="3008376" y="3478022"/>
            <a:ext cx="949294" cy="104140"/>
          </a:xfrm>
          <a:prstGeom prst="rect">
            <a:avLst/>
          </a:prstGeom>
          <a:solidFill>
            <a:srgbClr val="C2352F"/>
          </a:solidFill>
          <a:ln/>
        </p:spPr>
      </p:sp>
      <p:sp>
        <p:nvSpPr>
          <p:cNvPr id="37" name="Text 35"/>
          <p:cNvSpPr txBox="1"/>
          <p:nvPr/>
        </p:nvSpPr>
        <p:spPr>
          <a:xfrm>
            <a:off x="4754880" y="342595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111</a:t>
            </a:r>
            <a:endParaRPr lang="en-US" sz="1200" dirty="0"/>
          </a:p>
        </p:txBody>
      </p:sp>
      <p:sp>
        <p:nvSpPr>
          <p:cNvPr id="38" name="Text 36"/>
          <p:cNvSpPr txBox="1"/>
          <p:nvPr/>
        </p:nvSpPr>
        <p:spPr>
          <a:xfrm>
            <a:off x="658368" y="36342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9" name="Text 37"/>
          <p:cNvSpPr txBox="1"/>
          <p:nvPr/>
        </p:nvSpPr>
        <p:spPr>
          <a:xfrm>
            <a:off x="1014984" y="36342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0" name="Shape 38"/>
          <p:cNvSpPr/>
          <p:nvPr/>
        </p:nvSpPr>
        <p:spPr>
          <a:xfrm>
            <a:off x="3008376" y="3686302"/>
            <a:ext cx="762245" cy="104140"/>
          </a:xfrm>
          <a:prstGeom prst="rect">
            <a:avLst/>
          </a:prstGeom>
          <a:solidFill>
            <a:srgbClr val="C2352F"/>
          </a:solidFill>
          <a:ln/>
        </p:spPr>
      </p:sp>
      <p:sp>
        <p:nvSpPr>
          <p:cNvPr id="41" name="Text 39"/>
          <p:cNvSpPr txBox="1"/>
          <p:nvPr/>
        </p:nvSpPr>
        <p:spPr>
          <a:xfrm>
            <a:off x="4754880" y="363423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89</a:t>
            </a:r>
            <a:endParaRPr lang="en-US" sz="1200" dirty="0"/>
          </a:p>
        </p:txBody>
      </p:sp>
      <p:sp>
        <p:nvSpPr>
          <p:cNvPr id="42" name="Text 40"/>
          <p:cNvSpPr txBox="1"/>
          <p:nvPr/>
        </p:nvSpPr>
        <p:spPr>
          <a:xfrm>
            <a:off x="658368" y="38425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3" name="Text 41"/>
          <p:cNvSpPr txBox="1"/>
          <p:nvPr/>
        </p:nvSpPr>
        <p:spPr>
          <a:xfrm>
            <a:off x="1014984" y="38425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4" name="Shape 42"/>
          <p:cNvSpPr/>
          <p:nvPr/>
        </p:nvSpPr>
        <p:spPr>
          <a:xfrm>
            <a:off x="3008376" y="3894582"/>
            <a:ext cx="728956" cy="104140"/>
          </a:xfrm>
          <a:prstGeom prst="rect">
            <a:avLst/>
          </a:prstGeom>
          <a:solidFill>
            <a:srgbClr val="C2352F"/>
          </a:solidFill>
          <a:ln/>
        </p:spPr>
      </p:sp>
      <p:sp>
        <p:nvSpPr>
          <p:cNvPr id="45" name="Text 43"/>
          <p:cNvSpPr txBox="1"/>
          <p:nvPr/>
        </p:nvSpPr>
        <p:spPr>
          <a:xfrm>
            <a:off x="4754880" y="384251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85</a:t>
            </a:r>
            <a:endParaRPr lang="en-US" sz="1200" dirty="0"/>
          </a:p>
        </p:txBody>
      </p:sp>
      <p:sp>
        <p:nvSpPr>
          <p:cNvPr id="46" name="Text 44"/>
          <p:cNvSpPr txBox="1"/>
          <p:nvPr/>
        </p:nvSpPr>
        <p:spPr>
          <a:xfrm>
            <a:off x="658368" y="40507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7" name="Text 45"/>
          <p:cNvSpPr txBox="1"/>
          <p:nvPr/>
        </p:nvSpPr>
        <p:spPr>
          <a:xfrm>
            <a:off x="1014984" y="40507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48" name="Shape 46"/>
          <p:cNvSpPr/>
          <p:nvPr/>
        </p:nvSpPr>
        <p:spPr>
          <a:xfrm>
            <a:off x="3008376" y="4102862"/>
            <a:ext cx="605092" cy="104140"/>
          </a:xfrm>
          <a:prstGeom prst="rect">
            <a:avLst/>
          </a:prstGeom>
          <a:solidFill>
            <a:srgbClr val="C2352F"/>
          </a:solidFill>
          <a:ln/>
        </p:spPr>
      </p:sp>
      <p:sp>
        <p:nvSpPr>
          <p:cNvPr id="49" name="Text 47"/>
          <p:cNvSpPr txBox="1"/>
          <p:nvPr/>
        </p:nvSpPr>
        <p:spPr>
          <a:xfrm>
            <a:off x="4754880" y="405079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71</a:t>
            </a:r>
            <a:endParaRPr lang="en-US" sz="1200" dirty="0"/>
          </a:p>
        </p:txBody>
      </p:sp>
      <p:sp>
        <p:nvSpPr>
          <p:cNvPr id="50" name="Text 48"/>
          <p:cNvSpPr txBox="1"/>
          <p:nvPr/>
        </p:nvSpPr>
        <p:spPr>
          <a:xfrm>
            <a:off x="658368" y="4259072"/>
            <a:ext cx="5303520" cy="208280"/>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176</a:t>
            </a:r>
            <a:endParaRPr lang="en-US" sz="1300" dirty="0"/>
          </a:p>
        </p:txBody>
      </p:sp>
      <p:sp>
        <p:nvSpPr>
          <p:cNvPr id="51" name="Shape 49"/>
          <p:cNvSpPr/>
          <p:nvPr/>
        </p:nvSpPr>
        <p:spPr>
          <a:xfrm>
            <a:off x="658368" y="4449064"/>
            <a:ext cx="5303520" cy="18288"/>
          </a:xfrm>
          <a:prstGeom prst="rect">
            <a:avLst/>
          </a:prstGeom>
          <a:solidFill>
            <a:srgbClr val="0B2C4A"/>
          </a:solidFill>
          <a:ln/>
        </p:spPr>
      </p:sp>
      <p:sp>
        <p:nvSpPr>
          <p:cNvPr id="52" name="Text 50"/>
          <p:cNvSpPr txBox="1"/>
          <p:nvPr/>
        </p:nvSpPr>
        <p:spPr>
          <a:xfrm>
            <a:off x="658368" y="44673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4673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4" name="Shape 52"/>
          <p:cNvSpPr/>
          <p:nvPr/>
        </p:nvSpPr>
        <p:spPr>
          <a:xfrm>
            <a:off x="3008376" y="4519422"/>
            <a:ext cx="1503240" cy="104140"/>
          </a:xfrm>
          <a:prstGeom prst="rect">
            <a:avLst/>
          </a:prstGeom>
          <a:solidFill>
            <a:srgbClr val="12A566"/>
          </a:solidFill>
          <a:ln/>
        </p:spPr>
      </p:sp>
      <p:sp>
        <p:nvSpPr>
          <p:cNvPr id="55" name="Text 53"/>
          <p:cNvSpPr txBox="1"/>
          <p:nvPr/>
        </p:nvSpPr>
        <p:spPr>
          <a:xfrm>
            <a:off x="4754880" y="446735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253</a:t>
            </a:r>
            <a:endParaRPr lang="en-US" sz="1200" dirty="0"/>
          </a:p>
        </p:txBody>
      </p:sp>
      <p:sp>
        <p:nvSpPr>
          <p:cNvPr id="56" name="Text 54"/>
          <p:cNvSpPr txBox="1"/>
          <p:nvPr/>
        </p:nvSpPr>
        <p:spPr>
          <a:xfrm>
            <a:off x="658368" y="46756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6756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58" name="Shape 56"/>
          <p:cNvSpPr/>
          <p:nvPr/>
        </p:nvSpPr>
        <p:spPr>
          <a:xfrm>
            <a:off x="3008376" y="4727702"/>
            <a:ext cx="1447357" cy="104140"/>
          </a:xfrm>
          <a:prstGeom prst="rect">
            <a:avLst/>
          </a:prstGeom>
          <a:solidFill>
            <a:srgbClr val="12A566"/>
          </a:solidFill>
          <a:ln/>
        </p:spPr>
      </p:sp>
      <p:sp>
        <p:nvSpPr>
          <p:cNvPr id="59" name="Text 57"/>
          <p:cNvSpPr txBox="1"/>
          <p:nvPr/>
        </p:nvSpPr>
        <p:spPr>
          <a:xfrm>
            <a:off x="4754880" y="467563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244</a:t>
            </a:r>
            <a:endParaRPr lang="en-US" sz="1200" dirty="0"/>
          </a:p>
        </p:txBody>
      </p:sp>
      <p:sp>
        <p:nvSpPr>
          <p:cNvPr id="60" name="Text 58"/>
          <p:cNvSpPr txBox="1"/>
          <p:nvPr/>
        </p:nvSpPr>
        <p:spPr>
          <a:xfrm>
            <a:off x="658368" y="48839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48839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2" name="Shape 60"/>
          <p:cNvSpPr/>
          <p:nvPr/>
        </p:nvSpPr>
        <p:spPr>
          <a:xfrm>
            <a:off x="3008376" y="4935982"/>
            <a:ext cx="1373578" cy="104140"/>
          </a:xfrm>
          <a:prstGeom prst="rect">
            <a:avLst/>
          </a:prstGeom>
          <a:solidFill>
            <a:srgbClr val="12A566"/>
          </a:solidFill>
          <a:ln/>
        </p:spPr>
      </p:sp>
      <p:sp>
        <p:nvSpPr>
          <p:cNvPr id="63" name="Text 61"/>
          <p:cNvSpPr txBox="1"/>
          <p:nvPr/>
        </p:nvSpPr>
        <p:spPr>
          <a:xfrm>
            <a:off x="4754880" y="488391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231</a:t>
            </a:r>
            <a:endParaRPr lang="en-US" sz="1200" dirty="0"/>
          </a:p>
        </p:txBody>
      </p:sp>
      <p:sp>
        <p:nvSpPr>
          <p:cNvPr id="64" name="Text 62"/>
          <p:cNvSpPr txBox="1"/>
          <p:nvPr/>
        </p:nvSpPr>
        <p:spPr>
          <a:xfrm>
            <a:off x="658368" y="50921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0921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6" name="Shape 64"/>
          <p:cNvSpPr/>
          <p:nvPr/>
        </p:nvSpPr>
        <p:spPr>
          <a:xfrm>
            <a:off x="3008376" y="5144262"/>
            <a:ext cx="1343443" cy="104140"/>
          </a:xfrm>
          <a:prstGeom prst="rect">
            <a:avLst/>
          </a:prstGeom>
          <a:solidFill>
            <a:srgbClr val="12A566"/>
          </a:solidFill>
          <a:ln/>
        </p:spPr>
      </p:sp>
      <p:sp>
        <p:nvSpPr>
          <p:cNvPr id="67" name="Text 65"/>
          <p:cNvSpPr txBox="1"/>
          <p:nvPr/>
        </p:nvSpPr>
        <p:spPr>
          <a:xfrm>
            <a:off x="4754880" y="509219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226</a:t>
            </a:r>
            <a:endParaRPr lang="en-US" sz="1200" dirty="0"/>
          </a:p>
        </p:txBody>
      </p:sp>
      <p:sp>
        <p:nvSpPr>
          <p:cNvPr id="68" name="Text 66"/>
          <p:cNvSpPr txBox="1"/>
          <p:nvPr/>
        </p:nvSpPr>
        <p:spPr>
          <a:xfrm>
            <a:off x="658368" y="53004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3004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0" name="Shape 68"/>
          <p:cNvSpPr/>
          <p:nvPr/>
        </p:nvSpPr>
        <p:spPr>
          <a:xfrm>
            <a:off x="3008376" y="5352542"/>
            <a:ext cx="1341602" cy="104140"/>
          </a:xfrm>
          <a:prstGeom prst="rect">
            <a:avLst/>
          </a:prstGeom>
          <a:solidFill>
            <a:srgbClr val="12A566"/>
          </a:solidFill>
          <a:ln/>
        </p:spPr>
      </p:sp>
      <p:sp>
        <p:nvSpPr>
          <p:cNvPr id="71" name="Text 69"/>
          <p:cNvSpPr txBox="1"/>
          <p:nvPr/>
        </p:nvSpPr>
        <p:spPr>
          <a:xfrm>
            <a:off x="4754880" y="530047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226</a:t>
            </a:r>
            <a:endParaRPr lang="en-US" sz="1200" dirty="0"/>
          </a:p>
        </p:txBody>
      </p:sp>
      <p:sp>
        <p:nvSpPr>
          <p:cNvPr id="72" name="Text 70"/>
          <p:cNvSpPr txBox="1"/>
          <p:nvPr/>
        </p:nvSpPr>
        <p:spPr>
          <a:xfrm>
            <a:off x="658368" y="55087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5087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4" name="Shape 72"/>
          <p:cNvSpPr/>
          <p:nvPr/>
        </p:nvSpPr>
        <p:spPr>
          <a:xfrm>
            <a:off x="3008376" y="5560822"/>
            <a:ext cx="1333815" cy="104140"/>
          </a:xfrm>
          <a:prstGeom prst="rect">
            <a:avLst/>
          </a:prstGeom>
          <a:solidFill>
            <a:srgbClr val="12A566"/>
          </a:solidFill>
          <a:ln/>
        </p:spPr>
      </p:sp>
      <p:sp>
        <p:nvSpPr>
          <p:cNvPr id="75" name="Text 73"/>
          <p:cNvSpPr txBox="1"/>
          <p:nvPr/>
        </p:nvSpPr>
        <p:spPr>
          <a:xfrm>
            <a:off x="4754880" y="550875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225</a:t>
            </a:r>
            <a:endParaRPr lang="en-US" sz="1200" dirty="0"/>
          </a:p>
        </p:txBody>
      </p:sp>
      <p:sp>
        <p:nvSpPr>
          <p:cNvPr id="76" name="Text 74"/>
          <p:cNvSpPr txBox="1"/>
          <p:nvPr/>
        </p:nvSpPr>
        <p:spPr>
          <a:xfrm>
            <a:off x="658368" y="57170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57170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8" name="Shape 76"/>
          <p:cNvSpPr/>
          <p:nvPr/>
        </p:nvSpPr>
        <p:spPr>
          <a:xfrm>
            <a:off x="3008376" y="5769102"/>
            <a:ext cx="1164283" cy="104140"/>
          </a:xfrm>
          <a:prstGeom prst="rect">
            <a:avLst/>
          </a:prstGeom>
          <a:solidFill>
            <a:srgbClr val="12A566"/>
          </a:solidFill>
          <a:ln/>
        </p:spPr>
      </p:sp>
      <p:sp>
        <p:nvSpPr>
          <p:cNvPr id="79" name="Text 77"/>
          <p:cNvSpPr txBox="1"/>
          <p:nvPr/>
        </p:nvSpPr>
        <p:spPr>
          <a:xfrm>
            <a:off x="4754880" y="571703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196</a:t>
            </a:r>
            <a:endParaRPr lang="en-US" sz="1200" dirty="0"/>
          </a:p>
        </p:txBody>
      </p:sp>
      <p:sp>
        <p:nvSpPr>
          <p:cNvPr id="80" name="Text 78"/>
          <p:cNvSpPr txBox="1"/>
          <p:nvPr/>
        </p:nvSpPr>
        <p:spPr>
          <a:xfrm>
            <a:off x="6208776" y="21762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1" name="Text 79"/>
          <p:cNvSpPr txBox="1"/>
          <p:nvPr/>
        </p:nvSpPr>
        <p:spPr>
          <a:xfrm>
            <a:off x="6565392" y="21762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2" name="Shape 80"/>
          <p:cNvSpPr/>
          <p:nvPr/>
        </p:nvSpPr>
        <p:spPr>
          <a:xfrm>
            <a:off x="8558784" y="2228342"/>
            <a:ext cx="1134268" cy="104140"/>
          </a:xfrm>
          <a:prstGeom prst="rect">
            <a:avLst/>
          </a:prstGeom>
          <a:solidFill>
            <a:srgbClr val="12A566"/>
          </a:solidFill>
          <a:ln/>
        </p:spPr>
      </p:sp>
      <p:sp>
        <p:nvSpPr>
          <p:cNvPr id="83" name="Text 81"/>
          <p:cNvSpPr txBox="1"/>
          <p:nvPr/>
        </p:nvSpPr>
        <p:spPr>
          <a:xfrm>
            <a:off x="10305288" y="217627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191</a:t>
            </a:r>
            <a:endParaRPr lang="en-US" sz="1200" dirty="0"/>
          </a:p>
        </p:txBody>
      </p:sp>
      <p:sp>
        <p:nvSpPr>
          <p:cNvPr id="84" name="Text 82"/>
          <p:cNvSpPr txBox="1"/>
          <p:nvPr/>
        </p:nvSpPr>
        <p:spPr>
          <a:xfrm>
            <a:off x="6208776" y="23845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5" name="Text 83"/>
          <p:cNvSpPr txBox="1"/>
          <p:nvPr/>
        </p:nvSpPr>
        <p:spPr>
          <a:xfrm>
            <a:off x="6565392" y="23845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6" name="Shape 84"/>
          <p:cNvSpPr/>
          <p:nvPr/>
        </p:nvSpPr>
        <p:spPr>
          <a:xfrm>
            <a:off x="8558784" y="2436622"/>
            <a:ext cx="1095681" cy="104140"/>
          </a:xfrm>
          <a:prstGeom prst="rect">
            <a:avLst/>
          </a:prstGeom>
          <a:solidFill>
            <a:srgbClr val="12A566"/>
          </a:solidFill>
          <a:ln/>
        </p:spPr>
      </p:sp>
      <p:sp>
        <p:nvSpPr>
          <p:cNvPr id="87" name="Text 85"/>
          <p:cNvSpPr txBox="1"/>
          <p:nvPr/>
        </p:nvSpPr>
        <p:spPr>
          <a:xfrm>
            <a:off x="10305288" y="238455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184</a:t>
            </a:r>
            <a:endParaRPr lang="en-US" sz="1200" dirty="0"/>
          </a:p>
        </p:txBody>
      </p:sp>
      <p:sp>
        <p:nvSpPr>
          <p:cNvPr id="88" name="Text 86"/>
          <p:cNvSpPr txBox="1"/>
          <p:nvPr/>
        </p:nvSpPr>
        <p:spPr>
          <a:xfrm>
            <a:off x="6208776" y="25928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89" name="Text 87"/>
          <p:cNvSpPr txBox="1"/>
          <p:nvPr/>
        </p:nvSpPr>
        <p:spPr>
          <a:xfrm>
            <a:off x="6565392" y="25928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0" name="Shape 88"/>
          <p:cNvSpPr/>
          <p:nvPr/>
        </p:nvSpPr>
        <p:spPr>
          <a:xfrm>
            <a:off x="8558784" y="2644902"/>
            <a:ext cx="1073173" cy="104140"/>
          </a:xfrm>
          <a:prstGeom prst="rect">
            <a:avLst/>
          </a:prstGeom>
          <a:solidFill>
            <a:srgbClr val="12A566"/>
          </a:solidFill>
          <a:ln/>
        </p:spPr>
      </p:sp>
      <p:sp>
        <p:nvSpPr>
          <p:cNvPr id="91" name="Text 89"/>
          <p:cNvSpPr txBox="1"/>
          <p:nvPr/>
        </p:nvSpPr>
        <p:spPr>
          <a:xfrm>
            <a:off x="10305288" y="259283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181</a:t>
            </a:r>
            <a:endParaRPr lang="en-US" sz="1200" dirty="0"/>
          </a:p>
        </p:txBody>
      </p:sp>
      <p:sp>
        <p:nvSpPr>
          <p:cNvPr id="92" name="Text 90"/>
          <p:cNvSpPr txBox="1"/>
          <p:nvPr/>
        </p:nvSpPr>
        <p:spPr>
          <a:xfrm>
            <a:off x="6208776" y="28011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3" name="Text 91"/>
          <p:cNvSpPr txBox="1"/>
          <p:nvPr/>
        </p:nvSpPr>
        <p:spPr>
          <a:xfrm>
            <a:off x="6565392" y="28011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4" name="Shape 92"/>
          <p:cNvSpPr/>
          <p:nvPr/>
        </p:nvSpPr>
        <p:spPr>
          <a:xfrm>
            <a:off x="8558784" y="2853182"/>
            <a:ext cx="1070012" cy="104140"/>
          </a:xfrm>
          <a:prstGeom prst="rect">
            <a:avLst/>
          </a:prstGeom>
          <a:solidFill>
            <a:srgbClr val="12A566"/>
          </a:solidFill>
          <a:ln/>
        </p:spPr>
      </p:sp>
      <p:sp>
        <p:nvSpPr>
          <p:cNvPr id="95" name="Text 93"/>
          <p:cNvSpPr txBox="1"/>
          <p:nvPr/>
        </p:nvSpPr>
        <p:spPr>
          <a:xfrm>
            <a:off x="10305288" y="280111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180</a:t>
            </a:r>
            <a:endParaRPr lang="en-US" sz="1200" dirty="0"/>
          </a:p>
        </p:txBody>
      </p:sp>
      <p:sp>
        <p:nvSpPr>
          <p:cNvPr id="96" name="Text 94"/>
          <p:cNvSpPr txBox="1"/>
          <p:nvPr/>
        </p:nvSpPr>
        <p:spPr>
          <a:xfrm>
            <a:off x="6208776" y="30093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7" name="Text 95"/>
          <p:cNvSpPr txBox="1"/>
          <p:nvPr/>
        </p:nvSpPr>
        <p:spPr>
          <a:xfrm>
            <a:off x="6565392" y="30093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98" name="Shape 96"/>
          <p:cNvSpPr/>
          <p:nvPr/>
        </p:nvSpPr>
        <p:spPr>
          <a:xfrm>
            <a:off x="8558784" y="3061462"/>
            <a:ext cx="1057284" cy="104140"/>
          </a:xfrm>
          <a:prstGeom prst="rect">
            <a:avLst/>
          </a:prstGeom>
          <a:solidFill>
            <a:srgbClr val="12A566"/>
          </a:solidFill>
          <a:ln/>
        </p:spPr>
      </p:sp>
      <p:sp>
        <p:nvSpPr>
          <p:cNvPr id="99" name="Text 97"/>
          <p:cNvSpPr txBox="1"/>
          <p:nvPr/>
        </p:nvSpPr>
        <p:spPr>
          <a:xfrm>
            <a:off x="10305288" y="300939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178</a:t>
            </a:r>
            <a:endParaRPr lang="en-US" sz="1200" dirty="0"/>
          </a:p>
        </p:txBody>
      </p:sp>
      <p:sp>
        <p:nvSpPr>
          <p:cNvPr id="100" name="Text 98"/>
          <p:cNvSpPr txBox="1"/>
          <p:nvPr/>
        </p:nvSpPr>
        <p:spPr>
          <a:xfrm>
            <a:off x="6208776" y="32176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1" name="Text 99"/>
          <p:cNvSpPr txBox="1"/>
          <p:nvPr/>
        </p:nvSpPr>
        <p:spPr>
          <a:xfrm>
            <a:off x="6565392" y="32176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2" name="Shape 100"/>
          <p:cNvSpPr/>
          <p:nvPr/>
        </p:nvSpPr>
        <p:spPr>
          <a:xfrm>
            <a:off x="8558784" y="3269742"/>
            <a:ext cx="1042010" cy="104140"/>
          </a:xfrm>
          <a:prstGeom prst="rect">
            <a:avLst/>
          </a:prstGeom>
          <a:solidFill>
            <a:srgbClr val="C2352F"/>
          </a:solidFill>
          <a:ln/>
        </p:spPr>
      </p:sp>
      <p:sp>
        <p:nvSpPr>
          <p:cNvPr id="103" name="Text 101"/>
          <p:cNvSpPr txBox="1"/>
          <p:nvPr/>
        </p:nvSpPr>
        <p:spPr>
          <a:xfrm>
            <a:off x="10305288" y="321767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175</a:t>
            </a:r>
            <a:endParaRPr lang="en-US" sz="1200" dirty="0"/>
          </a:p>
        </p:txBody>
      </p:sp>
      <p:sp>
        <p:nvSpPr>
          <p:cNvPr id="104" name="Text 102"/>
          <p:cNvSpPr txBox="1"/>
          <p:nvPr/>
        </p:nvSpPr>
        <p:spPr>
          <a:xfrm>
            <a:off x="6208776" y="34259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5" name="Text 103"/>
          <p:cNvSpPr txBox="1"/>
          <p:nvPr/>
        </p:nvSpPr>
        <p:spPr>
          <a:xfrm>
            <a:off x="6565392" y="34259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6" name="Shape 104"/>
          <p:cNvSpPr/>
          <p:nvPr/>
        </p:nvSpPr>
        <p:spPr>
          <a:xfrm>
            <a:off x="8558784" y="3478022"/>
            <a:ext cx="1021645" cy="104140"/>
          </a:xfrm>
          <a:prstGeom prst="rect">
            <a:avLst/>
          </a:prstGeom>
          <a:solidFill>
            <a:srgbClr val="C2352F"/>
          </a:solidFill>
          <a:ln/>
        </p:spPr>
      </p:sp>
      <p:sp>
        <p:nvSpPr>
          <p:cNvPr id="107" name="Text 105"/>
          <p:cNvSpPr txBox="1"/>
          <p:nvPr/>
        </p:nvSpPr>
        <p:spPr>
          <a:xfrm>
            <a:off x="10305288" y="342595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172</a:t>
            </a:r>
            <a:endParaRPr lang="en-US" sz="1200" dirty="0"/>
          </a:p>
        </p:txBody>
      </p:sp>
      <p:sp>
        <p:nvSpPr>
          <p:cNvPr id="108" name="Text 106"/>
          <p:cNvSpPr txBox="1"/>
          <p:nvPr/>
        </p:nvSpPr>
        <p:spPr>
          <a:xfrm>
            <a:off x="6208776" y="36342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09" name="Text 107"/>
          <p:cNvSpPr txBox="1"/>
          <p:nvPr/>
        </p:nvSpPr>
        <p:spPr>
          <a:xfrm>
            <a:off x="6565392" y="36342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0" name="Shape 108"/>
          <p:cNvSpPr/>
          <p:nvPr/>
        </p:nvSpPr>
        <p:spPr>
          <a:xfrm>
            <a:off x="8558784" y="3686302"/>
            <a:ext cx="981754" cy="104140"/>
          </a:xfrm>
          <a:prstGeom prst="rect">
            <a:avLst/>
          </a:prstGeom>
          <a:solidFill>
            <a:srgbClr val="C2352F"/>
          </a:solidFill>
          <a:ln/>
        </p:spPr>
      </p:sp>
      <p:sp>
        <p:nvSpPr>
          <p:cNvPr id="111" name="Text 109"/>
          <p:cNvSpPr txBox="1"/>
          <p:nvPr/>
        </p:nvSpPr>
        <p:spPr>
          <a:xfrm>
            <a:off x="10305288" y="363423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165</a:t>
            </a:r>
            <a:endParaRPr lang="en-US" sz="1200" dirty="0"/>
          </a:p>
        </p:txBody>
      </p:sp>
      <p:sp>
        <p:nvSpPr>
          <p:cNvPr id="112" name="Text 110"/>
          <p:cNvSpPr txBox="1"/>
          <p:nvPr/>
        </p:nvSpPr>
        <p:spPr>
          <a:xfrm>
            <a:off x="6208776" y="38425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3" name="Text 111"/>
          <p:cNvSpPr txBox="1"/>
          <p:nvPr/>
        </p:nvSpPr>
        <p:spPr>
          <a:xfrm>
            <a:off x="6565392" y="38425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4" name="Shape 112"/>
          <p:cNvSpPr/>
          <p:nvPr/>
        </p:nvSpPr>
        <p:spPr>
          <a:xfrm>
            <a:off x="8558784" y="3894582"/>
            <a:ext cx="943933" cy="104140"/>
          </a:xfrm>
          <a:prstGeom prst="rect">
            <a:avLst/>
          </a:prstGeom>
          <a:solidFill>
            <a:srgbClr val="C2352F"/>
          </a:solidFill>
          <a:ln/>
        </p:spPr>
      </p:sp>
      <p:sp>
        <p:nvSpPr>
          <p:cNvPr id="115" name="Text 113"/>
          <p:cNvSpPr txBox="1"/>
          <p:nvPr/>
        </p:nvSpPr>
        <p:spPr>
          <a:xfrm>
            <a:off x="10305288" y="384251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159</a:t>
            </a:r>
            <a:endParaRPr lang="en-US" sz="1200" dirty="0"/>
          </a:p>
        </p:txBody>
      </p:sp>
      <p:sp>
        <p:nvSpPr>
          <p:cNvPr id="116" name="Text 114"/>
          <p:cNvSpPr txBox="1"/>
          <p:nvPr/>
        </p:nvSpPr>
        <p:spPr>
          <a:xfrm>
            <a:off x="6208776" y="40507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7" name="Text 115"/>
          <p:cNvSpPr txBox="1"/>
          <p:nvPr/>
        </p:nvSpPr>
        <p:spPr>
          <a:xfrm>
            <a:off x="6565392" y="40507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18" name="Shape 116"/>
          <p:cNvSpPr/>
          <p:nvPr/>
        </p:nvSpPr>
        <p:spPr>
          <a:xfrm>
            <a:off x="8558784" y="4102862"/>
            <a:ext cx="912089" cy="104140"/>
          </a:xfrm>
          <a:prstGeom prst="rect">
            <a:avLst/>
          </a:prstGeom>
          <a:solidFill>
            <a:srgbClr val="C2352F"/>
          </a:solidFill>
          <a:ln/>
        </p:spPr>
      </p:sp>
      <p:sp>
        <p:nvSpPr>
          <p:cNvPr id="119" name="Text 117"/>
          <p:cNvSpPr txBox="1"/>
          <p:nvPr/>
        </p:nvSpPr>
        <p:spPr>
          <a:xfrm>
            <a:off x="10305288" y="405079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154</a:t>
            </a:r>
            <a:endParaRPr lang="en-US" sz="1200" dirty="0"/>
          </a:p>
        </p:txBody>
      </p:sp>
      <p:sp>
        <p:nvSpPr>
          <p:cNvPr id="120" name="Text 118"/>
          <p:cNvSpPr txBox="1"/>
          <p:nvPr/>
        </p:nvSpPr>
        <p:spPr>
          <a:xfrm>
            <a:off x="6208776" y="42590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1" name="Text 119"/>
          <p:cNvSpPr txBox="1"/>
          <p:nvPr/>
        </p:nvSpPr>
        <p:spPr>
          <a:xfrm>
            <a:off x="6565392" y="42590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2" name="Shape 120"/>
          <p:cNvSpPr/>
          <p:nvPr/>
        </p:nvSpPr>
        <p:spPr>
          <a:xfrm>
            <a:off x="8558784" y="4311142"/>
            <a:ext cx="848886" cy="104140"/>
          </a:xfrm>
          <a:prstGeom prst="rect">
            <a:avLst/>
          </a:prstGeom>
          <a:solidFill>
            <a:srgbClr val="C2352F"/>
          </a:solidFill>
          <a:ln/>
        </p:spPr>
      </p:sp>
      <p:sp>
        <p:nvSpPr>
          <p:cNvPr id="123" name="Text 121"/>
          <p:cNvSpPr txBox="1"/>
          <p:nvPr/>
        </p:nvSpPr>
        <p:spPr>
          <a:xfrm>
            <a:off x="10305288" y="425907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a:t>
            </a:r>
            <a:endParaRPr lang="en-US" sz="1200" dirty="0"/>
          </a:p>
        </p:txBody>
      </p:sp>
      <p:sp>
        <p:nvSpPr>
          <p:cNvPr id="124" name="Text 122"/>
          <p:cNvSpPr txBox="1"/>
          <p:nvPr/>
        </p:nvSpPr>
        <p:spPr>
          <a:xfrm>
            <a:off x="6208776" y="44673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5" name="Text 123"/>
          <p:cNvSpPr txBox="1"/>
          <p:nvPr/>
        </p:nvSpPr>
        <p:spPr>
          <a:xfrm>
            <a:off x="6565392" y="44673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6" name="Shape 124"/>
          <p:cNvSpPr/>
          <p:nvPr/>
        </p:nvSpPr>
        <p:spPr>
          <a:xfrm>
            <a:off x="8558784" y="4519422"/>
            <a:ext cx="823202" cy="104140"/>
          </a:xfrm>
          <a:prstGeom prst="rect">
            <a:avLst/>
          </a:prstGeom>
          <a:solidFill>
            <a:srgbClr val="C2352F"/>
          </a:solidFill>
          <a:ln/>
        </p:spPr>
      </p:sp>
      <p:sp>
        <p:nvSpPr>
          <p:cNvPr id="127" name="Text 125"/>
          <p:cNvSpPr txBox="1"/>
          <p:nvPr/>
        </p:nvSpPr>
        <p:spPr>
          <a:xfrm>
            <a:off x="10305288" y="446735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139</a:t>
            </a:r>
            <a:endParaRPr lang="en-US" sz="1200" dirty="0"/>
          </a:p>
        </p:txBody>
      </p:sp>
      <p:sp>
        <p:nvSpPr>
          <p:cNvPr id="128" name="Text 126"/>
          <p:cNvSpPr txBox="1"/>
          <p:nvPr/>
        </p:nvSpPr>
        <p:spPr>
          <a:xfrm>
            <a:off x="6208776" y="46756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9" name="Text 127"/>
          <p:cNvSpPr txBox="1"/>
          <p:nvPr/>
        </p:nvSpPr>
        <p:spPr>
          <a:xfrm>
            <a:off x="6565392" y="46756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30" name="Shape 128"/>
          <p:cNvSpPr/>
          <p:nvPr/>
        </p:nvSpPr>
        <p:spPr>
          <a:xfrm>
            <a:off x="8558784" y="4727702"/>
            <a:ext cx="759533" cy="104140"/>
          </a:xfrm>
          <a:prstGeom prst="rect">
            <a:avLst/>
          </a:prstGeom>
          <a:solidFill>
            <a:srgbClr val="C2352F"/>
          </a:solidFill>
          <a:ln/>
        </p:spPr>
      </p:sp>
      <p:sp>
        <p:nvSpPr>
          <p:cNvPr id="131" name="Text 129"/>
          <p:cNvSpPr txBox="1"/>
          <p:nvPr/>
        </p:nvSpPr>
        <p:spPr>
          <a:xfrm>
            <a:off x="10305288" y="467563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a:t>
            </a:r>
            <a:endParaRPr lang="en-US" sz="1200" dirty="0"/>
          </a:p>
        </p:txBody>
      </p:sp>
      <p:sp>
        <p:nvSpPr>
          <p:cNvPr id="132" name="Text 130"/>
          <p:cNvSpPr txBox="1"/>
          <p:nvPr/>
        </p:nvSpPr>
        <p:spPr>
          <a:xfrm>
            <a:off x="6208776" y="48839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3" name="Text 131"/>
          <p:cNvSpPr txBox="1"/>
          <p:nvPr/>
        </p:nvSpPr>
        <p:spPr>
          <a:xfrm>
            <a:off x="6565392" y="48839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4" name="Shape 132"/>
          <p:cNvSpPr/>
          <p:nvPr/>
        </p:nvSpPr>
        <p:spPr>
          <a:xfrm>
            <a:off x="8558784" y="4935982"/>
            <a:ext cx="729747" cy="104140"/>
          </a:xfrm>
          <a:prstGeom prst="rect">
            <a:avLst/>
          </a:prstGeom>
          <a:solidFill>
            <a:srgbClr val="C2352F"/>
          </a:solidFill>
          <a:ln/>
        </p:spPr>
      </p:sp>
      <p:sp>
        <p:nvSpPr>
          <p:cNvPr id="135" name="Text 133"/>
          <p:cNvSpPr txBox="1"/>
          <p:nvPr/>
        </p:nvSpPr>
        <p:spPr>
          <a:xfrm>
            <a:off x="10305288" y="488391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a:t>
            </a:r>
            <a:endParaRPr lang="en-US" sz="1200" dirty="0"/>
          </a:p>
        </p:txBody>
      </p:sp>
      <p:sp>
        <p:nvSpPr>
          <p:cNvPr id="136" name="Text 134"/>
          <p:cNvSpPr txBox="1"/>
          <p:nvPr/>
        </p:nvSpPr>
        <p:spPr>
          <a:xfrm>
            <a:off x="6208776" y="50921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7" name="Text 135"/>
          <p:cNvSpPr txBox="1"/>
          <p:nvPr/>
        </p:nvSpPr>
        <p:spPr>
          <a:xfrm>
            <a:off x="6565392" y="50921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38" name="Shape 136"/>
          <p:cNvSpPr/>
          <p:nvPr/>
        </p:nvSpPr>
        <p:spPr>
          <a:xfrm>
            <a:off x="8558784" y="5144262"/>
            <a:ext cx="709976" cy="104140"/>
          </a:xfrm>
          <a:prstGeom prst="rect">
            <a:avLst/>
          </a:prstGeom>
          <a:solidFill>
            <a:srgbClr val="C2352F"/>
          </a:solidFill>
          <a:ln/>
        </p:spPr>
      </p:sp>
      <p:sp>
        <p:nvSpPr>
          <p:cNvPr id="139" name="Text 137"/>
          <p:cNvSpPr txBox="1"/>
          <p:nvPr/>
        </p:nvSpPr>
        <p:spPr>
          <a:xfrm>
            <a:off x="10305288" y="509219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a:t>
            </a:r>
            <a:endParaRPr lang="en-US" sz="1200" dirty="0"/>
          </a:p>
        </p:txBody>
      </p:sp>
      <p:sp>
        <p:nvSpPr>
          <p:cNvPr id="140" name="Text 138"/>
          <p:cNvSpPr txBox="1"/>
          <p:nvPr/>
        </p:nvSpPr>
        <p:spPr>
          <a:xfrm>
            <a:off x="6208776" y="53004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1" name="Text 139"/>
          <p:cNvSpPr txBox="1"/>
          <p:nvPr/>
        </p:nvSpPr>
        <p:spPr>
          <a:xfrm>
            <a:off x="6565392" y="53004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2" name="Shape 140"/>
          <p:cNvSpPr/>
          <p:nvPr/>
        </p:nvSpPr>
        <p:spPr>
          <a:xfrm>
            <a:off x="8558784" y="5352542"/>
            <a:ext cx="703612" cy="104140"/>
          </a:xfrm>
          <a:prstGeom prst="rect">
            <a:avLst/>
          </a:prstGeom>
          <a:solidFill>
            <a:srgbClr val="C2352F"/>
          </a:solidFill>
          <a:ln/>
        </p:spPr>
      </p:sp>
      <p:sp>
        <p:nvSpPr>
          <p:cNvPr id="143" name="Text 141"/>
          <p:cNvSpPr txBox="1"/>
          <p:nvPr/>
        </p:nvSpPr>
        <p:spPr>
          <a:xfrm>
            <a:off x="10305288" y="530047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a:t>
            </a:r>
            <a:endParaRPr lang="en-US" sz="1200" dirty="0"/>
          </a:p>
        </p:txBody>
      </p:sp>
      <p:sp>
        <p:nvSpPr>
          <p:cNvPr id="144" name="Text 142"/>
          <p:cNvSpPr txBox="1"/>
          <p:nvPr/>
        </p:nvSpPr>
        <p:spPr>
          <a:xfrm>
            <a:off x="6208776" y="55087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5" name="Text 143"/>
          <p:cNvSpPr txBox="1"/>
          <p:nvPr/>
        </p:nvSpPr>
        <p:spPr>
          <a:xfrm>
            <a:off x="6565392" y="55087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46" name="Shape 144"/>
          <p:cNvSpPr/>
          <p:nvPr/>
        </p:nvSpPr>
        <p:spPr>
          <a:xfrm>
            <a:off x="8558784" y="5560822"/>
            <a:ext cx="692411" cy="104140"/>
          </a:xfrm>
          <a:prstGeom prst="rect">
            <a:avLst/>
          </a:prstGeom>
          <a:solidFill>
            <a:srgbClr val="C2352F"/>
          </a:solidFill>
          <a:ln/>
        </p:spPr>
      </p:sp>
      <p:sp>
        <p:nvSpPr>
          <p:cNvPr id="147" name="Text 145"/>
          <p:cNvSpPr txBox="1"/>
          <p:nvPr/>
        </p:nvSpPr>
        <p:spPr>
          <a:xfrm>
            <a:off x="10305288" y="550875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117</a:t>
            </a:r>
            <a:endParaRPr lang="en-US" sz="1200" dirty="0"/>
          </a:p>
        </p:txBody>
      </p:sp>
      <p:sp>
        <p:nvSpPr>
          <p:cNvPr id="148" name="Shape 146"/>
          <p:cNvSpPr/>
          <p:nvPr/>
        </p:nvSpPr>
        <p:spPr>
          <a:xfrm>
            <a:off x="4047207" y="2176272"/>
            <a:ext cx="14630" cy="3749040"/>
          </a:xfrm>
          <a:prstGeom prst="rect">
            <a:avLst/>
          </a:prstGeom>
          <a:solidFill>
            <a:srgbClr val="0B2C4A"/>
          </a:solidFill>
          <a:ln/>
        </p:spPr>
      </p:sp>
      <p:sp>
        <p:nvSpPr>
          <p:cNvPr id="149" name="Shape 147"/>
          <p:cNvSpPr/>
          <p:nvPr/>
        </p:nvSpPr>
        <p:spPr>
          <a:xfrm>
            <a:off x="9597615" y="2176272"/>
            <a:ext cx="14630" cy="3749040"/>
          </a:xfrm>
          <a:prstGeom prst="rect">
            <a:avLst/>
          </a:prstGeom>
          <a:solidFill>
            <a:srgbClr val="0B2C4A"/>
          </a:solidFill>
          <a:ln/>
        </p:spPr>
      </p:sp>
      <p:sp>
        <p:nvSpPr>
          <p:cNvPr id="150" name="Shape 148"/>
          <p:cNvSpPr/>
          <p:nvPr/>
        </p:nvSpPr>
        <p:spPr>
          <a:xfrm>
            <a:off x="6085332" y="2176272"/>
            <a:ext cx="10973" cy="3749040"/>
          </a:xfrm>
          <a:prstGeom prst="rect">
            <a:avLst/>
          </a:prstGeom>
          <a:solidFill>
            <a:srgbClr val="D9D9D9"/>
          </a:solidFill>
          <a:ln/>
        </p:spPr>
      </p:sp>
      <p:sp>
        <p:nvSpPr>
          <p:cNvPr id="151" name="Shape 149"/>
          <p:cNvSpPr/>
          <p:nvPr/>
        </p:nvSpPr>
        <p:spPr>
          <a:xfrm>
            <a:off x="457200" y="6126480"/>
            <a:ext cx="11274552" cy="615696"/>
          </a:xfrm>
          <a:prstGeom prst="rect">
            <a:avLst/>
          </a:prstGeom>
          <a:solidFill>
            <a:srgbClr val="EDF4FA"/>
          </a:solidFill>
          <a:ln/>
        </p:spPr>
      </p:sp>
      <p:sp>
        <p:nvSpPr>
          <p:cNvPr id="152" name="Text 15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Against their own segment, 5 of 9 luxury stores beat 123 and 12 of 24 others beat 176. Toyota Flagstaff leads non-luxury at 253.</a:t>
            </a:r>
            <a:endParaRPr lang="en-US" sz="1600" dirty="0"/>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Service Advisor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SERVICE ADVISOR</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A82B26"/>
                </a:solidFill>
                <a:latin typeface="Inter" pitchFamily="34" charset="0"/>
                <a:ea typeface="Inter" pitchFamily="34" charset="-122"/>
                <a:cs typeface="Inter" pitchFamily="34" charset="-120"/>
              </a:rPr>
              <a:t>−7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 name="Shape 11"/>
          <p:cNvSpPr/>
          <p:nvPr/>
        </p:nvSpPr>
        <p:spPr>
          <a:xfrm>
            <a:off x="3785616" y="1911860"/>
            <a:ext cx="525241"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467524"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1" name="Shape 19"/>
          <p:cNvSpPr/>
          <p:nvPr/>
        </p:nvSpPr>
        <p:spPr>
          <a:xfrm>
            <a:off x="3785616" y="2391651"/>
            <a:ext cx="415619"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5" name="Shape 23"/>
          <p:cNvSpPr/>
          <p:nvPr/>
        </p:nvSpPr>
        <p:spPr>
          <a:xfrm>
            <a:off x="3785616" y="2631546"/>
            <a:ext cx="265194"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29" name="Shape 27"/>
          <p:cNvSpPr/>
          <p:nvPr/>
        </p:nvSpPr>
        <p:spPr>
          <a:xfrm>
            <a:off x="3785616" y="2871442"/>
            <a:ext cx="190549"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3" name="Shape 31"/>
          <p:cNvSpPr/>
          <p:nvPr/>
        </p:nvSpPr>
        <p:spPr>
          <a:xfrm>
            <a:off x="3785616" y="3111337"/>
            <a:ext cx="17953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7" name="Shape 35"/>
          <p:cNvSpPr/>
          <p:nvPr/>
        </p:nvSpPr>
        <p:spPr>
          <a:xfrm>
            <a:off x="3785616" y="3351233"/>
            <a:ext cx="174904"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41" name="Shape 39"/>
          <p:cNvSpPr/>
          <p:nvPr/>
        </p:nvSpPr>
        <p:spPr>
          <a:xfrm>
            <a:off x="3785616" y="3591128"/>
            <a:ext cx="157180"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45" name="Shape 43"/>
          <p:cNvSpPr/>
          <p:nvPr/>
        </p:nvSpPr>
        <p:spPr>
          <a:xfrm>
            <a:off x="3785616" y="3831024"/>
            <a:ext cx="146799"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49" name="Shape 47"/>
          <p:cNvSpPr/>
          <p:nvPr/>
        </p:nvSpPr>
        <p:spPr>
          <a:xfrm>
            <a:off x="3785616" y="4070920"/>
            <a:ext cx="136967"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53" name="Shape 51"/>
          <p:cNvSpPr/>
          <p:nvPr/>
        </p:nvSpPr>
        <p:spPr>
          <a:xfrm>
            <a:off x="3785616" y="4310815"/>
            <a:ext cx="76979"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7" name="Shape 55"/>
          <p:cNvSpPr/>
          <p:nvPr/>
        </p:nvSpPr>
        <p:spPr>
          <a:xfrm>
            <a:off x="3785616" y="4550711"/>
            <a:ext cx="75062"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1" name="Shape 59"/>
          <p:cNvSpPr/>
          <p:nvPr/>
        </p:nvSpPr>
        <p:spPr>
          <a:xfrm>
            <a:off x="3785616" y="4790606"/>
            <a:ext cx="60320"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5" name="Shape 63"/>
          <p:cNvSpPr/>
          <p:nvPr/>
        </p:nvSpPr>
        <p:spPr>
          <a:xfrm>
            <a:off x="3785616" y="5030502"/>
            <a:ext cx="35578"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785616" y="5270397"/>
            <a:ext cx="21435"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73" name="Shape 71"/>
          <p:cNvSpPr/>
          <p:nvPr/>
        </p:nvSpPr>
        <p:spPr>
          <a:xfrm>
            <a:off x="3785616" y="5510293"/>
            <a:ext cx="12802"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77" name="Shape 75"/>
          <p:cNvSpPr/>
          <p:nvPr/>
        </p:nvSpPr>
        <p:spPr>
          <a:xfrm>
            <a:off x="3785616" y="5750188"/>
            <a:ext cx="12802"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1" name="Shape 79"/>
          <p:cNvSpPr/>
          <p:nvPr/>
        </p:nvSpPr>
        <p:spPr>
          <a:xfrm>
            <a:off x="9306884" y="1911860"/>
            <a:ext cx="29140" cy="110352"/>
          </a:xfrm>
          <a:prstGeom prst="rect">
            <a:avLst/>
          </a:prstGeom>
          <a:solidFill>
            <a:srgbClr val="C2352F"/>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5" name="Shape 83"/>
          <p:cNvSpPr/>
          <p:nvPr/>
        </p:nvSpPr>
        <p:spPr>
          <a:xfrm>
            <a:off x="9216705" y="2151755"/>
            <a:ext cx="119319" cy="110352"/>
          </a:xfrm>
          <a:prstGeom prst="rect">
            <a:avLst/>
          </a:prstGeom>
          <a:solidFill>
            <a:srgbClr val="C2352F"/>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9" name="Shape 87"/>
          <p:cNvSpPr/>
          <p:nvPr/>
        </p:nvSpPr>
        <p:spPr>
          <a:xfrm>
            <a:off x="9155707" y="2391651"/>
            <a:ext cx="180317"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93" name="Shape 91"/>
          <p:cNvSpPr/>
          <p:nvPr/>
        </p:nvSpPr>
        <p:spPr>
          <a:xfrm>
            <a:off x="9144900" y="2631546"/>
            <a:ext cx="191124"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7" name="Shape 95"/>
          <p:cNvSpPr/>
          <p:nvPr/>
        </p:nvSpPr>
        <p:spPr>
          <a:xfrm>
            <a:off x="9113369" y="2871442"/>
            <a:ext cx="222655"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01" name="Shape 99"/>
          <p:cNvSpPr/>
          <p:nvPr/>
        </p:nvSpPr>
        <p:spPr>
          <a:xfrm>
            <a:off x="9069301" y="3111337"/>
            <a:ext cx="266723"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5" name="Shape 103"/>
          <p:cNvSpPr/>
          <p:nvPr/>
        </p:nvSpPr>
        <p:spPr>
          <a:xfrm>
            <a:off x="9051012" y="3351233"/>
            <a:ext cx="285012"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9" name="Shape 107"/>
          <p:cNvSpPr/>
          <p:nvPr/>
        </p:nvSpPr>
        <p:spPr>
          <a:xfrm>
            <a:off x="8963630" y="3591128"/>
            <a:ext cx="372394"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13" name="Shape 111"/>
          <p:cNvSpPr/>
          <p:nvPr/>
        </p:nvSpPr>
        <p:spPr>
          <a:xfrm>
            <a:off x="8947862" y="3831024"/>
            <a:ext cx="388162"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7" name="Shape 115"/>
          <p:cNvSpPr/>
          <p:nvPr/>
        </p:nvSpPr>
        <p:spPr>
          <a:xfrm>
            <a:off x="8941405" y="4070920"/>
            <a:ext cx="394619"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1" name="Shape 119"/>
          <p:cNvSpPr/>
          <p:nvPr/>
        </p:nvSpPr>
        <p:spPr>
          <a:xfrm>
            <a:off x="8905154" y="4310815"/>
            <a:ext cx="430870"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−33</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5" name="Shape 123"/>
          <p:cNvSpPr/>
          <p:nvPr/>
        </p:nvSpPr>
        <p:spPr>
          <a:xfrm>
            <a:off x="8863913" y="4550711"/>
            <a:ext cx="472111"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9" name="Shape 127"/>
          <p:cNvSpPr/>
          <p:nvPr/>
        </p:nvSpPr>
        <p:spPr>
          <a:xfrm>
            <a:off x="8798725" y="4790606"/>
            <a:ext cx="537299"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3" name="Shape 131"/>
          <p:cNvSpPr/>
          <p:nvPr/>
        </p:nvSpPr>
        <p:spPr>
          <a:xfrm>
            <a:off x="8761661" y="5030502"/>
            <a:ext cx="574363"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−43</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8566984" y="5270397"/>
            <a:ext cx="769040"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FBEBE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17 of 33 stores raised ROs per advisor, led by Honda Flagstaff at +40 to 175. 16 declined; Toyota Spokane fell most at −59.</a:t>
            </a:r>
            <a:endParaRPr lang="en-US" sz="1600" dirty="0"/>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Service Advisor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175</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154</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253</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194</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180</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303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244</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−59</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139</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−58</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123</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−43</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161</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−41</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225</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−36</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175</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+57</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203</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237</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186</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187</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a:t>
            </a:r>
            <a:endParaRPr lang="en-US" sz="1600" dirty="0"/>
          </a:p>
        </p:txBody>
      </p:sp>
      <p:sp>
        <p:nvSpPr>
          <p:cNvPr id="69" name="Shape 67"/>
          <p:cNvSpPr/>
          <p:nvPr/>
        </p:nvSpPr>
        <p:spPr>
          <a:xfrm>
            <a:off x="457200" y="6126480"/>
            <a:ext cx="11274552" cy="585216"/>
          </a:xfrm>
          <a:prstGeom prst="rect">
            <a:avLst/>
          </a:prstGeom>
          <a:solidFill>
            <a:srgbClr val="EDF4FA"/>
          </a:solidFill>
          <a:ln/>
        </p:spPr>
      </p:sp>
      <p:sp>
        <p:nvSpPr>
          <p:cNvPr id="70" name="Text 68"/>
          <p:cNvSpPr txBox="1"/>
          <p:nvPr/>
        </p:nvSpPr>
        <p:spPr>
          <a:xfrm>
            <a:off x="658368" y="6144768"/>
            <a:ext cx="109270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Ask Honda Flagstaff, Hyundai Prescott and Toyota Flagstaff what changed. Ask Toyota Spokane, VW St George and Nissan what got in the way. Ask Mazda, Honda North and Honda Spokane what they started this year.</a:t>
            </a:r>
            <a:endParaRPr lang="en-US" sz="1500" dirty="0"/>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Employee</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26.0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26.8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+0.8</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+3.0%</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&amp; W ROs per Fixed Employee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0.8 to 26.8, ahead of 2025 in eight of nine months. Headcount fell 5.1%; ROs fell 2.3%.</a:t>
            </a:r>
            <a:endParaRPr lang="en-US" sz="1600" dirty="0"/>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FIXED EMPLOYEE</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26.8</a:t>
            </a:r>
            <a:endParaRPr lang="en-US" sz="2000" dirty="0"/>
          </a:p>
        </p:txBody>
      </p:sp>
      <p:sp>
        <p:nvSpPr>
          <p:cNvPr id="11" name="Text 9"/>
          <p:cNvSpPr txBox="1"/>
          <p:nvPr/>
        </p:nvSpPr>
        <p:spPr>
          <a:xfrm>
            <a:off x="859536" y="1847088"/>
            <a:ext cx="10607040"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Each segment ranked on its own. Navy line = each segment's average; green at or above it.</a:t>
            </a:r>
            <a:endParaRPr lang="en-US" sz="1400" dirty="0"/>
          </a:p>
        </p:txBody>
      </p:sp>
      <p:sp>
        <p:nvSpPr>
          <p:cNvPr id="12" name="Text 10"/>
          <p:cNvSpPr txBox="1"/>
          <p:nvPr/>
        </p:nvSpPr>
        <p:spPr>
          <a:xfrm>
            <a:off x="658368" y="2176272"/>
            <a:ext cx="5303520" cy="208280"/>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17.4</a:t>
            </a:r>
            <a:endParaRPr lang="en-US" sz="1300" dirty="0"/>
          </a:p>
        </p:txBody>
      </p:sp>
      <p:sp>
        <p:nvSpPr>
          <p:cNvPr id="13" name="Shape 11"/>
          <p:cNvSpPr/>
          <p:nvPr/>
        </p:nvSpPr>
        <p:spPr>
          <a:xfrm>
            <a:off x="658368" y="2366264"/>
            <a:ext cx="5303520" cy="18288"/>
          </a:xfrm>
          <a:prstGeom prst="rect">
            <a:avLst/>
          </a:prstGeom>
          <a:solidFill>
            <a:srgbClr val="0B2C4A"/>
          </a:solidFill>
          <a:ln/>
        </p:spPr>
      </p:sp>
      <p:sp>
        <p:nvSpPr>
          <p:cNvPr id="14" name="Text 12"/>
          <p:cNvSpPr txBox="1"/>
          <p:nvPr/>
        </p:nvSpPr>
        <p:spPr>
          <a:xfrm>
            <a:off x="658368" y="23845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5" name="Text 13"/>
          <p:cNvSpPr txBox="1"/>
          <p:nvPr/>
        </p:nvSpPr>
        <p:spPr>
          <a:xfrm>
            <a:off x="1014984" y="23845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6" name="Shape 14"/>
          <p:cNvSpPr/>
          <p:nvPr/>
        </p:nvSpPr>
        <p:spPr>
          <a:xfrm>
            <a:off x="3008376" y="2436622"/>
            <a:ext cx="1658471" cy="104140"/>
          </a:xfrm>
          <a:prstGeom prst="rect">
            <a:avLst/>
          </a:prstGeom>
          <a:solidFill>
            <a:srgbClr val="12A566"/>
          </a:solidFill>
          <a:ln/>
        </p:spPr>
      </p:sp>
      <p:sp>
        <p:nvSpPr>
          <p:cNvPr id="17" name="Text 15"/>
          <p:cNvSpPr txBox="1"/>
          <p:nvPr/>
        </p:nvSpPr>
        <p:spPr>
          <a:xfrm>
            <a:off x="4754880" y="238455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24.9</a:t>
            </a:r>
            <a:endParaRPr lang="en-US" sz="1200" dirty="0"/>
          </a:p>
        </p:txBody>
      </p:sp>
      <p:sp>
        <p:nvSpPr>
          <p:cNvPr id="18" name="Text 16"/>
          <p:cNvSpPr txBox="1"/>
          <p:nvPr/>
        </p:nvSpPr>
        <p:spPr>
          <a:xfrm>
            <a:off x="658368" y="25928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25928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0" name="Shape 18"/>
          <p:cNvSpPr/>
          <p:nvPr/>
        </p:nvSpPr>
        <p:spPr>
          <a:xfrm>
            <a:off x="3008376" y="2644902"/>
            <a:ext cx="1631155" cy="104140"/>
          </a:xfrm>
          <a:prstGeom prst="rect">
            <a:avLst/>
          </a:prstGeom>
          <a:solidFill>
            <a:srgbClr val="12A566"/>
          </a:solidFill>
          <a:ln/>
        </p:spPr>
      </p:sp>
      <p:sp>
        <p:nvSpPr>
          <p:cNvPr id="21" name="Text 19"/>
          <p:cNvSpPr txBox="1"/>
          <p:nvPr/>
        </p:nvSpPr>
        <p:spPr>
          <a:xfrm>
            <a:off x="4754880" y="259283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24.5</a:t>
            </a:r>
            <a:endParaRPr lang="en-US" sz="1200" dirty="0"/>
          </a:p>
        </p:txBody>
      </p:sp>
      <p:sp>
        <p:nvSpPr>
          <p:cNvPr id="22" name="Text 20"/>
          <p:cNvSpPr txBox="1"/>
          <p:nvPr/>
        </p:nvSpPr>
        <p:spPr>
          <a:xfrm>
            <a:off x="658368" y="28011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3" name="Text 21"/>
          <p:cNvSpPr txBox="1"/>
          <p:nvPr/>
        </p:nvSpPr>
        <p:spPr>
          <a:xfrm>
            <a:off x="1014984" y="28011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4" name="Shape 22"/>
          <p:cNvSpPr/>
          <p:nvPr/>
        </p:nvSpPr>
        <p:spPr>
          <a:xfrm>
            <a:off x="3008376" y="2853182"/>
            <a:ext cx="1292169" cy="104140"/>
          </a:xfrm>
          <a:prstGeom prst="rect">
            <a:avLst/>
          </a:prstGeom>
          <a:solidFill>
            <a:srgbClr val="12A566"/>
          </a:solidFill>
          <a:ln/>
        </p:spPr>
      </p:sp>
      <p:sp>
        <p:nvSpPr>
          <p:cNvPr id="25" name="Text 23"/>
          <p:cNvSpPr txBox="1"/>
          <p:nvPr/>
        </p:nvSpPr>
        <p:spPr>
          <a:xfrm>
            <a:off x="4754880" y="280111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19.4</a:t>
            </a:r>
            <a:endParaRPr lang="en-US" sz="1200" dirty="0"/>
          </a:p>
        </p:txBody>
      </p:sp>
      <p:sp>
        <p:nvSpPr>
          <p:cNvPr id="26" name="Text 24"/>
          <p:cNvSpPr txBox="1"/>
          <p:nvPr/>
        </p:nvSpPr>
        <p:spPr>
          <a:xfrm>
            <a:off x="658368" y="30093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7" name="Text 25"/>
          <p:cNvSpPr txBox="1"/>
          <p:nvPr/>
        </p:nvSpPr>
        <p:spPr>
          <a:xfrm>
            <a:off x="1014984" y="30093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8" name="Shape 26"/>
          <p:cNvSpPr/>
          <p:nvPr/>
        </p:nvSpPr>
        <p:spPr>
          <a:xfrm>
            <a:off x="3008376" y="3061462"/>
            <a:ext cx="1269367" cy="104140"/>
          </a:xfrm>
          <a:prstGeom prst="rect">
            <a:avLst/>
          </a:prstGeom>
          <a:solidFill>
            <a:srgbClr val="12A566"/>
          </a:solidFill>
          <a:ln/>
        </p:spPr>
      </p:sp>
      <p:sp>
        <p:nvSpPr>
          <p:cNvPr id="29" name="Text 27"/>
          <p:cNvSpPr txBox="1"/>
          <p:nvPr/>
        </p:nvSpPr>
        <p:spPr>
          <a:xfrm>
            <a:off x="4754880" y="300939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19.0</a:t>
            </a:r>
            <a:endParaRPr lang="en-US" sz="1200" dirty="0"/>
          </a:p>
        </p:txBody>
      </p:sp>
      <p:sp>
        <p:nvSpPr>
          <p:cNvPr id="30" name="Text 28"/>
          <p:cNvSpPr txBox="1"/>
          <p:nvPr/>
        </p:nvSpPr>
        <p:spPr>
          <a:xfrm>
            <a:off x="658368" y="32176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1" name="Text 29"/>
          <p:cNvSpPr txBox="1"/>
          <p:nvPr/>
        </p:nvSpPr>
        <p:spPr>
          <a:xfrm>
            <a:off x="1014984" y="32176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2" name="Shape 30"/>
          <p:cNvSpPr/>
          <p:nvPr/>
        </p:nvSpPr>
        <p:spPr>
          <a:xfrm>
            <a:off x="3008376" y="3269742"/>
            <a:ext cx="1120679" cy="104140"/>
          </a:xfrm>
          <a:prstGeom prst="rect">
            <a:avLst/>
          </a:prstGeom>
          <a:solidFill>
            <a:srgbClr val="C2352F"/>
          </a:solidFill>
          <a:ln/>
        </p:spPr>
      </p:sp>
      <p:sp>
        <p:nvSpPr>
          <p:cNvPr id="33" name="Text 31"/>
          <p:cNvSpPr txBox="1"/>
          <p:nvPr/>
        </p:nvSpPr>
        <p:spPr>
          <a:xfrm>
            <a:off x="4754880" y="321767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16.8</a:t>
            </a:r>
            <a:endParaRPr lang="en-US" sz="1200" dirty="0"/>
          </a:p>
        </p:txBody>
      </p:sp>
      <p:sp>
        <p:nvSpPr>
          <p:cNvPr id="34" name="Text 32"/>
          <p:cNvSpPr txBox="1"/>
          <p:nvPr/>
        </p:nvSpPr>
        <p:spPr>
          <a:xfrm>
            <a:off x="658368" y="34259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5" name="Text 33"/>
          <p:cNvSpPr txBox="1"/>
          <p:nvPr/>
        </p:nvSpPr>
        <p:spPr>
          <a:xfrm>
            <a:off x="1014984" y="34259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6" name="Shape 34"/>
          <p:cNvSpPr/>
          <p:nvPr/>
        </p:nvSpPr>
        <p:spPr>
          <a:xfrm>
            <a:off x="3008376" y="3478022"/>
            <a:ext cx="982182" cy="104140"/>
          </a:xfrm>
          <a:prstGeom prst="rect">
            <a:avLst/>
          </a:prstGeom>
          <a:solidFill>
            <a:srgbClr val="C2352F"/>
          </a:solidFill>
          <a:ln/>
        </p:spPr>
      </p:sp>
      <p:sp>
        <p:nvSpPr>
          <p:cNvPr id="37" name="Text 35"/>
          <p:cNvSpPr txBox="1"/>
          <p:nvPr/>
        </p:nvSpPr>
        <p:spPr>
          <a:xfrm>
            <a:off x="4754880" y="342595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38" name="Text 36"/>
          <p:cNvSpPr txBox="1"/>
          <p:nvPr/>
        </p:nvSpPr>
        <p:spPr>
          <a:xfrm>
            <a:off x="658368" y="36342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9" name="Text 37"/>
          <p:cNvSpPr txBox="1"/>
          <p:nvPr/>
        </p:nvSpPr>
        <p:spPr>
          <a:xfrm>
            <a:off x="1014984" y="36342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0" name="Shape 38"/>
          <p:cNvSpPr/>
          <p:nvPr/>
        </p:nvSpPr>
        <p:spPr>
          <a:xfrm>
            <a:off x="3008376" y="3686302"/>
            <a:ext cx="981891" cy="104140"/>
          </a:xfrm>
          <a:prstGeom prst="rect">
            <a:avLst/>
          </a:prstGeom>
          <a:solidFill>
            <a:srgbClr val="C2352F"/>
          </a:solidFill>
          <a:ln/>
        </p:spPr>
      </p:sp>
      <p:sp>
        <p:nvSpPr>
          <p:cNvPr id="41" name="Text 39"/>
          <p:cNvSpPr txBox="1"/>
          <p:nvPr/>
        </p:nvSpPr>
        <p:spPr>
          <a:xfrm>
            <a:off x="4754880" y="363423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42" name="Text 40"/>
          <p:cNvSpPr txBox="1"/>
          <p:nvPr/>
        </p:nvSpPr>
        <p:spPr>
          <a:xfrm>
            <a:off x="658368" y="38425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3" name="Text 41"/>
          <p:cNvSpPr txBox="1"/>
          <p:nvPr/>
        </p:nvSpPr>
        <p:spPr>
          <a:xfrm>
            <a:off x="1014984" y="38425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4" name="Shape 42"/>
          <p:cNvSpPr/>
          <p:nvPr/>
        </p:nvSpPr>
        <p:spPr>
          <a:xfrm>
            <a:off x="3008376" y="3894582"/>
            <a:ext cx="981057" cy="104140"/>
          </a:xfrm>
          <a:prstGeom prst="rect">
            <a:avLst/>
          </a:prstGeom>
          <a:solidFill>
            <a:srgbClr val="C2352F"/>
          </a:solidFill>
          <a:ln/>
        </p:spPr>
      </p:sp>
      <p:sp>
        <p:nvSpPr>
          <p:cNvPr id="45" name="Text 43"/>
          <p:cNvSpPr txBox="1"/>
          <p:nvPr/>
        </p:nvSpPr>
        <p:spPr>
          <a:xfrm>
            <a:off x="4754880" y="384251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46" name="Text 44"/>
          <p:cNvSpPr txBox="1"/>
          <p:nvPr/>
        </p:nvSpPr>
        <p:spPr>
          <a:xfrm>
            <a:off x="658368" y="40507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7" name="Text 45"/>
          <p:cNvSpPr txBox="1"/>
          <p:nvPr/>
        </p:nvSpPr>
        <p:spPr>
          <a:xfrm>
            <a:off x="1014984" y="40507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48" name="Shape 46"/>
          <p:cNvSpPr/>
          <p:nvPr/>
        </p:nvSpPr>
        <p:spPr>
          <a:xfrm>
            <a:off x="3008376" y="4102862"/>
            <a:ext cx="910335" cy="104140"/>
          </a:xfrm>
          <a:prstGeom prst="rect">
            <a:avLst/>
          </a:prstGeom>
          <a:solidFill>
            <a:srgbClr val="C2352F"/>
          </a:solidFill>
          <a:ln/>
        </p:spPr>
      </p:sp>
      <p:sp>
        <p:nvSpPr>
          <p:cNvPr id="49" name="Text 47"/>
          <p:cNvSpPr txBox="1"/>
          <p:nvPr/>
        </p:nvSpPr>
        <p:spPr>
          <a:xfrm>
            <a:off x="4754880" y="405079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13.6</a:t>
            </a:r>
            <a:endParaRPr lang="en-US" sz="1200" dirty="0"/>
          </a:p>
        </p:txBody>
      </p:sp>
      <p:sp>
        <p:nvSpPr>
          <p:cNvPr id="50" name="Text 48"/>
          <p:cNvSpPr txBox="1"/>
          <p:nvPr/>
        </p:nvSpPr>
        <p:spPr>
          <a:xfrm>
            <a:off x="658368" y="4259072"/>
            <a:ext cx="5303520" cy="208280"/>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29.3</a:t>
            </a:r>
            <a:endParaRPr lang="en-US" sz="1300" dirty="0"/>
          </a:p>
        </p:txBody>
      </p:sp>
      <p:sp>
        <p:nvSpPr>
          <p:cNvPr id="51" name="Shape 49"/>
          <p:cNvSpPr/>
          <p:nvPr/>
        </p:nvSpPr>
        <p:spPr>
          <a:xfrm>
            <a:off x="658368" y="4449064"/>
            <a:ext cx="5303520" cy="18288"/>
          </a:xfrm>
          <a:prstGeom prst="rect">
            <a:avLst/>
          </a:prstGeom>
          <a:solidFill>
            <a:srgbClr val="0B2C4A"/>
          </a:solidFill>
          <a:ln/>
        </p:spPr>
      </p:sp>
      <p:sp>
        <p:nvSpPr>
          <p:cNvPr id="52" name="Text 50"/>
          <p:cNvSpPr txBox="1"/>
          <p:nvPr/>
        </p:nvSpPr>
        <p:spPr>
          <a:xfrm>
            <a:off x="658368" y="44673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4673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4" name="Shape 52"/>
          <p:cNvSpPr/>
          <p:nvPr/>
        </p:nvSpPr>
        <p:spPr>
          <a:xfrm>
            <a:off x="3008376" y="4519422"/>
            <a:ext cx="1584948" cy="104140"/>
          </a:xfrm>
          <a:prstGeom prst="rect">
            <a:avLst/>
          </a:prstGeom>
          <a:solidFill>
            <a:srgbClr val="12A566"/>
          </a:solidFill>
          <a:ln/>
        </p:spPr>
      </p:sp>
      <p:sp>
        <p:nvSpPr>
          <p:cNvPr id="55" name="Text 53"/>
          <p:cNvSpPr txBox="1"/>
          <p:nvPr/>
        </p:nvSpPr>
        <p:spPr>
          <a:xfrm>
            <a:off x="4754880" y="446735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39.8</a:t>
            </a:r>
            <a:endParaRPr lang="en-US" sz="1200" dirty="0"/>
          </a:p>
        </p:txBody>
      </p:sp>
      <p:sp>
        <p:nvSpPr>
          <p:cNvPr id="56" name="Text 54"/>
          <p:cNvSpPr txBox="1"/>
          <p:nvPr/>
        </p:nvSpPr>
        <p:spPr>
          <a:xfrm>
            <a:off x="658368" y="46756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6756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8" name="Shape 56"/>
          <p:cNvSpPr/>
          <p:nvPr/>
        </p:nvSpPr>
        <p:spPr>
          <a:xfrm>
            <a:off x="3008376" y="4727702"/>
            <a:ext cx="1531944" cy="104140"/>
          </a:xfrm>
          <a:prstGeom prst="rect">
            <a:avLst/>
          </a:prstGeom>
          <a:solidFill>
            <a:srgbClr val="12A566"/>
          </a:solidFill>
          <a:ln/>
        </p:spPr>
      </p:sp>
      <p:sp>
        <p:nvSpPr>
          <p:cNvPr id="59" name="Text 57"/>
          <p:cNvSpPr txBox="1"/>
          <p:nvPr/>
        </p:nvSpPr>
        <p:spPr>
          <a:xfrm>
            <a:off x="4754880" y="467563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38.5</a:t>
            </a:r>
            <a:endParaRPr lang="en-US" sz="1200" dirty="0"/>
          </a:p>
        </p:txBody>
      </p:sp>
      <p:sp>
        <p:nvSpPr>
          <p:cNvPr id="60" name="Text 58"/>
          <p:cNvSpPr txBox="1"/>
          <p:nvPr/>
        </p:nvSpPr>
        <p:spPr>
          <a:xfrm>
            <a:off x="658368" y="48839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48839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2" name="Shape 60"/>
          <p:cNvSpPr/>
          <p:nvPr/>
        </p:nvSpPr>
        <p:spPr>
          <a:xfrm>
            <a:off x="3008376" y="4935982"/>
            <a:ext cx="1488739" cy="104140"/>
          </a:xfrm>
          <a:prstGeom prst="rect">
            <a:avLst/>
          </a:prstGeom>
          <a:solidFill>
            <a:srgbClr val="12A566"/>
          </a:solidFill>
          <a:ln/>
        </p:spPr>
      </p:sp>
      <p:sp>
        <p:nvSpPr>
          <p:cNvPr id="63" name="Text 61"/>
          <p:cNvSpPr txBox="1"/>
          <p:nvPr/>
        </p:nvSpPr>
        <p:spPr>
          <a:xfrm>
            <a:off x="4754880" y="488391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37.4</a:t>
            </a:r>
            <a:endParaRPr lang="en-US" sz="1200" dirty="0"/>
          </a:p>
        </p:txBody>
      </p:sp>
      <p:sp>
        <p:nvSpPr>
          <p:cNvPr id="64" name="Text 62"/>
          <p:cNvSpPr txBox="1"/>
          <p:nvPr/>
        </p:nvSpPr>
        <p:spPr>
          <a:xfrm>
            <a:off x="658368" y="50921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0921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6" name="Shape 64"/>
          <p:cNvSpPr/>
          <p:nvPr/>
        </p:nvSpPr>
        <p:spPr>
          <a:xfrm>
            <a:off x="3008376" y="5144262"/>
            <a:ext cx="1465284" cy="104140"/>
          </a:xfrm>
          <a:prstGeom prst="rect">
            <a:avLst/>
          </a:prstGeom>
          <a:solidFill>
            <a:srgbClr val="12A566"/>
          </a:solidFill>
          <a:ln/>
        </p:spPr>
      </p:sp>
      <p:sp>
        <p:nvSpPr>
          <p:cNvPr id="67" name="Text 65"/>
          <p:cNvSpPr txBox="1"/>
          <p:nvPr/>
        </p:nvSpPr>
        <p:spPr>
          <a:xfrm>
            <a:off x="4754880" y="509219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36.8</a:t>
            </a:r>
            <a:endParaRPr lang="en-US" sz="1200" dirty="0"/>
          </a:p>
        </p:txBody>
      </p:sp>
      <p:sp>
        <p:nvSpPr>
          <p:cNvPr id="68" name="Text 66"/>
          <p:cNvSpPr txBox="1"/>
          <p:nvPr/>
        </p:nvSpPr>
        <p:spPr>
          <a:xfrm>
            <a:off x="658368" y="53004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3004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0" name="Shape 68"/>
          <p:cNvSpPr/>
          <p:nvPr/>
        </p:nvSpPr>
        <p:spPr>
          <a:xfrm>
            <a:off x="3008376" y="5352542"/>
            <a:ext cx="1453454" cy="104140"/>
          </a:xfrm>
          <a:prstGeom prst="rect">
            <a:avLst/>
          </a:prstGeom>
          <a:solidFill>
            <a:srgbClr val="12A566"/>
          </a:solidFill>
          <a:ln/>
        </p:spPr>
      </p:sp>
      <p:sp>
        <p:nvSpPr>
          <p:cNvPr id="71" name="Text 69"/>
          <p:cNvSpPr txBox="1"/>
          <p:nvPr/>
        </p:nvSpPr>
        <p:spPr>
          <a:xfrm>
            <a:off x="4754880" y="530047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36.5</a:t>
            </a:r>
            <a:endParaRPr lang="en-US" sz="1200" dirty="0"/>
          </a:p>
        </p:txBody>
      </p:sp>
      <p:sp>
        <p:nvSpPr>
          <p:cNvPr id="72" name="Text 70"/>
          <p:cNvSpPr txBox="1"/>
          <p:nvPr/>
        </p:nvSpPr>
        <p:spPr>
          <a:xfrm>
            <a:off x="658368" y="55087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5087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74" name="Shape 72"/>
          <p:cNvSpPr/>
          <p:nvPr/>
        </p:nvSpPr>
        <p:spPr>
          <a:xfrm>
            <a:off x="3008376" y="5560822"/>
            <a:ext cx="1392914" cy="104140"/>
          </a:xfrm>
          <a:prstGeom prst="rect">
            <a:avLst/>
          </a:prstGeom>
          <a:solidFill>
            <a:srgbClr val="12A566"/>
          </a:solidFill>
          <a:ln/>
        </p:spPr>
      </p:sp>
      <p:sp>
        <p:nvSpPr>
          <p:cNvPr id="75" name="Text 73"/>
          <p:cNvSpPr txBox="1"/>
          <p:nvPr/>
        </p:nvSpPr>
        <p:spPr>
          <a:xfrm>
            <a:off x="4754880" y="550875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35.0</a:t>
            </a:r>
            <a:endParaRPr lang="en-US" sz="1200" dirty="0"/>
          </a:p>
        </p:txBody>
      </p:sp>
      <p:sp>
        <p:nvSpPr>
          <p:cNvPr id="76" name="Text 74"/>
          <p:cNvSpPr txBox="1"/>
          <p:nvPr/>
        </p:nvSpPr>
        <p:spPr>
          <a:xfrm>
            <a:off x="658368" y="57170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57170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78" name="Shape 76"/>
          <p:cNvSpPr/>
          <p:nvPr/>
        </p:nvSpPr>
        <p:spPr>
          <a:xfrm>
            <a:off x="3008376" y="5769102"/>
            <a:ext cx="1382090" cy="104140"/>
          </a:xfrm>
          <a:prstGeom prst="rect">
            <a:avLst/>
          </a:prstGeom>
          <a:solidFill>
            <a:srgbClr val="12A566"/>
          </a:solidFill>
          <a:ln/>
        </p:spPr>
      </p:sp>
      <p:sp>
        <p:nvSpPr>
          <p:cNvPr id="79" name="Text 77"/>
          <p:cNvSpPr txBox="1"/>
          <p:nvPr/>
        </p:nvSpPr>
        <p:spPr>
          <a:xfrm>
            <a:off x="4754880" y="571703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34.7</a:t>
            </a:r>
            <a:endParaRPr lang="en-US" sz="1200" dirty="0"/>
          </a:p>
        </p:txBody>
      </p:sp>
      <p:sp>
        <p:nvSpPr>
          <p:cNvPr id="80" name="Text 78"/>
          <p:cNvSpPr txBox="1"/>
          <p:nvPr/>
        </p:nvSpPr>
        <p:spPr>
          <a:xfrm>
            <a:off x="6208776" y="21762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1" name="Text 79"/>
          <p:cNvSpPr txBox="1"/>
          <p:nvPr/>
        </p:nvSpPr>
        <p:spPr>
          <a:xfrm>
            <a:off x="6565392" y="21762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2" name="Shape 80"/>
          <p:cNvSpPr/>
          <p:nvPr/>
        </p:nvSpPr>
        <p:spPr>
          <a:xfrm>
            <a:off x="8558784" y="2228342"/>
            <a:ext cx="1290776" cy="104140"/>
          </a:xfrm>
          <a:prstGeom prst="rect">
            <a:avLst/>
          </a:prstGeom>
          <a:solidFill>
            <a:srgbClr val="12A566"/>
          </a:solidFill>
          <a:ln/>
        </p:spPr>
      </p:sp>
      <p:sp>
        <p:nvSpPr>
          <p:cNvPr id="83" name="Text 81"/>
          <p:cNvSpPr txBox="1"/>
          <p:nvPr/>
        </p:nvSpPr>
        <p:spPr>
          <a:xfrm>
            <a:off x="10305288" y="217627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32.4</a:t>
            </a:r>
            <a:endParaRPr lang="en-US" sz="1200" dirty="0"/>
          </a:p>
        </p:txBody>
      </p:sp>
      <p:sp>
        <p:nvSpPr>
          <p:cNvPr id="84" name="Text 82"/>
          <p:cNvSpPr txBox="1"/>
          <p:nvPr/>
        </p:nvSpPr>
        <p:spPr>
          <a:xfrm>
            <a:off x="6208776" y="23845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5" name="Text 83"/>
          <p:cNvSpPr txBox="1"/>
          <p:nvPr/>
        </p:nvSpPr>
        <p:spPr>
          <a:xfrm>
            <a:off x="6565392" y="23845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6" name="Shape 84"/>
          <p:cNvSpPr/>
          <p:nvPr/>
        </p:nvSpPr>
        <p:spPr>
          <a:xfrm>
            <a:off x="8558784" y="2436622"/>
            <a:ext cx="1250314" cy="104140"/>
          </a:xfrm>
          <a:prstGeom prst="rect">
            <a:avLst/>
          </a:prstGeom>
          <a:solidFill>
            <a:srgbClr val="12A566"/>
          </a:solidFill>
          <a:ln/>
        </p:spPr>
      </p:sp>
      <p:sp>
        <p:nvSpPr>
          <p:cNvPr id="87" name="Text 85"/>
          <p:cNvSpPr txBox="1"/>
          <p:nvPr/>
        </p:nvSpPr>
        <p:spPr>
          <a:xfrm>
            <a:off x="10305288" y="238455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31.4</a:t>
            </a:r>
            <a:endParaRPr lang="en-US" sz="1200" dirty="0"/>
          </a:p>
        </p:txBody>
      </p:sp>
      <p:sp>
        <p:nvSpPr>
          <p:cNvPr id="88" name="Text 86"/>
          <p:cNvSpPr txBox="1"/>
          <p:nvPr/>
        </p:nvSpPr>
        <p:spPr>
          <a:xfrm>
            <a:off x="6208776" y="25928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89" name="Text 87"/>
          <p:cNvSpPr txBox="1"/>
          <p:nvPr/>
        </p:nvSpPr>
        <p:spPr>
          <a:xfrm>
            <a:off x="6565392" y="25928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0" name="Shape 88"/>
          <p:cNvSpPr/>
          <p:nvPr/>
        </p:nvSpPr>
        <p:spPr>
          <a:xfrm>
            <a:off x="8558784" y="2644902"/>
            <a:ext cx="1249903" cy="104140"/>
          </a:xfrm>
          <a:prstGeom prst="rect">
            <a:avLst/>
          </a:prstGeom>
          <a:solidFill>
            <a:srgbClr val="12A566"/>
          </a:solidFill>
          <a:ln/>
        </p:spPr>
      </p:sp>
      <p:sp>
        <p:nvSpPr>
          <p:cNvPr id="91" name="Text 89"/>
          <p:cNvSpPr txBox="1"/>
          <p:nvPr/>
        </p:nvSpPr>
        <p:spPr>
          <a:xfrm>
            <a:off x="10305288" y="259283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31.4</a:t>
            </a:r>
            <a:endParaRPr lang="en-US" sz="1200" dirty="0"/>
          </a:p>
        </p:txBody>
      </p:sp>
      <p:sp>
        <p:nvSpPr>
          <p:cNvPr id="92" name="Text 90"/>
          <p:cNvSpPr txBox="1"/>
          <p:nvPr/>
        </p:nvSpPr>
        <p:spPr>
          <a:xfrm>
            <a:off x="6208776" y="28011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3" name="Text 91"/>
          <p:cNvSpPr txBox="1"/>
          <p:nvPr/>
        </p:nvSpPr>
        <p:spPr>
          <a:xfrm>
            <a:off x="6565392" y="28011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94" name="Shape 92"/>
          <p:cNvSpPr/>
          <p:nvPr/>
        </p:nvSpPr>
        <p:spPr>
          <a:xfrm>
            <a:off x="8558784" y="2853182"/>
            <a:ext cx="1249400" cy="104140"/>
          </a:xfrm>
          <a:prstGeom prst="rect">
            <a:avLst/>
          </a:prstGeom>
          <a:solidFill>
            <a:srgbClr val="12A566"/>
          </a:solidFill>
          <a:ln/>
        </p:spPr>
      </p:sp>
      <p:sp>
        <p:nvSpPr>
          <p:cNvPr id="95" name="Text 93"/>
          <p:cNvSpPr txBox="1"/>
          <p:nvPr/>
        </p:nvSpPr>
        <p:spPr>
          <a:xfrm>
            <a:off x="10305288" y="280111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31.4</a:t>
            </a:r>
            <a:endParaRPr lang="en-US" sz="1200" dirty="0"/>
          </a:p>
        </p:txBody>
      </p:sp>
      <p:sp>
        <p:nvSpPr>
          <p:cNvPr id="96" name="Text 94"/>
          <p:cNvSpPr txBox="1"/>
          <p:nvPr/>
        </p:nvSpPr>
        <p:spPr>
          <a:xfrm>
            <a:off x="6208776" y="30093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7" name="Text 95"/>
          <p:cNvSpPr txBox="1"/>
          <p:nvPr/>
        </p:nvSpPr>
        <p:spPr>
          <a:xfrm>
            <a:off x="6565392" y="30093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8" name="Shape 96"/>
          <p:cNvSpPr/>
          <p:nvPr/>
        </p:nvSpPr>
        <p:spPr>
          <a:xfrm>
            <a:off x="8558784" y="3061462"/>
            <a:ext cx="1244020" cy="104140"/>
          </a:xfrm>
          <a:prstGeom prst="rect">
            <a:avLst/>
          </a:prstGeom>
          <a:solidFill>
            <a:srgbClr val="12A566"/>
          </a:solidFill>
          <a:ln/>
        </p:spPr>
      </p:sp>
      <p:sp>
        <p:nvSpPr>
          <p:cNvPr id="99" name="Text 97"/>
          <p:cNvSpPr txBox="1"/>
          <p:nvPr/>
        </p:nvSpPr>
        <p:spPr>
          <a:xfrm>
            <a:off x="10305288" y="300939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31.3</a:t>
            </a:r>
            <a:endParaRPr lang="en-US" sz="1200" dirty="0"/>
          </a:p>
        </p:txBody>
      </p:sp>
      <p:sp>
        <p:nvSpPr>
          <p:cNvPr id="100" name="Text 98"/>
          <p:cNvSpPr txBox="1"/>
          <p:nvPr/>
        </p:nvSpPr>
        <p:spPr>
          <a:xfrm>
            <a:off x="6208776" y="32176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1" name="Text 99"/>
          <p:cNvSpPr txBox="1"/>
          <p:nvPr/>
        </p:nvSpPr>
        <p:spPr>
          <a:xfrm>
            <a:off x="6565392" y="32176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2" name="Shape 100"/>
          <p:cNvSpPr/>
          <p:nvPr/>
        </p:nvSpPr>
        <p:spPr>
          <a:xfrm>
            <a:off x="8558784" y="3269742"/>
            <a:ext cx="1237592" cy="104140"/>
          </a:xfrm>
          <a:prstGeom prst="rect">
            <a:avLst/>
          </a:prstGeom>
          <a:solidFill>
            <a:srgbClr val="12A566"/>
          </a:solidFill>
          <a:ln/>
        </p:spPr>
      </p:sp>
      <p:sp>
        <p:nvSpPr>
          <p:cNvPr id="103" name="Text 101"/>
          <p:cNvSpPr txBox="1"/>
          <p:nvPr/>
        </p:nvSpPr>
        <p:spPr>
          <a:xfrm>
            <a:off x="10305288" y="321767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31.1</a:t>
            </a:r>
            <a:endParaRPr lang="en-US" sz="1200" dirty="0"/>
          </a:p>
        </p:txBody>
      </p:sp>
      <p:sp>
        <p:nvSpPr>
          <p:cNvPr id="104" name="Text 102"/>
          <p:cNvSpPr txBox="1"/>
          <p:nvPr/>
        </p:nvSpPr>
        <p:spPr>
          <a:xfrm>
            <a:off x="6208776" y="34259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5" name="Text 103"/>
          <p:cNvSpPr txBox="1"/>
          <p:nvPr/>
        </p:nvSpPr>
        <p:spPr>
          <a:xfrm>
            <a:off x="6565392" y="34259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6" name="Shape 104"/>
          <p:cNvSpPr/>
          <p:nvPr/>
        </p:nvSpPr>
        <p:spPr>
          <a:xfrm>
            <a:off x="8558784" y="3478022"/>
            <a:ext cx="1215849" cy="104140"/>
          </a:xfrm>
          <a:prstGeom prst="rect">
            <a:avLst/>
          </a:prstGeom>
          <a:solidFill>
            <a:srgbClr val="12A566"/>
          </a:solidFill>
          <a:ln/>
        </p:spPr>
      </p:sp>
      <p:sp>
        <p:nvSpPr>
          <p:cNvPr id="107" name="Text 105"/>
          <p:cNvSpPr txBox="1"/>
          <p:nvPr/>
        </p:nvSpPr>
        <p:spPr>
          <a:xfrm>
            <a:off x="10305288" y="342595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30.6</a:t>
            </a:r>
            <a:endParaRPr lang="en-US" sz="1200" dirty="0"/>
          </a:p>
        </p:txBody>
      </p:sp>
      <p:sp>
        <p:nvSpPr>
          <p:cNvPr id="108" name="Text 106"/>
          <p:cNvSpPr txBox="1"/>
          <p:nvPr/>
        </p:nvSpPr>
        <p:spPr>
          <a:xfrm>
            <a:off x="6208776" y="36342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09" name="Text 107"/>
          <p:cNvSpPr txBox="1"/>
          <p:nvPr/>
        </p:nvSpPr>
        <p:spPr>
          <a:xfrm>
            <a:off x="6565392" y="36342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0" name="Shape 108"/>
          <p:cNvSpPr/>
          <p:nvPr/>
        </p:nvSpPr>
        <p:spPr>
          <a:xfrm>
            <a:off x="8558784" y="3686302"/>
            <a:ext cx="1146869" cy="104140"/>
          </a:xfrm>
          <a:prstGeom prst="rect">
            <a:avLst/>
          </a:prstGeom>
          <a:solidFill>
            <a:srgbClr val="C2352F"/>
          </a:solidFill>
          <a:ln/>
        </p:spPr>
      </p:sp>
      <p:sp>
        <p:nvSpPr>
          <p:cNvPr id="111" name="Text 109"/>
          <p:cNvSpPr txBox="1"/>
          <p:nvPr/>
        </p:nvSpPr>
        <p:spPr>
          <a:xfrm>
            <a:off x="10305288" y="363423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28.8</a:t>
            </a:r>
            <a:endParaRPr lang="en-US" sz="1200" dirty="0"/>
          </a:p>
        </p:txBody>
      </p:sp>
      <p:sp>
        <p:nvSpPr>
          <p:cNvPr id="112" name="Text 110"/>
          <p:cNvSpPr txBox="1"/>
          <p:nvPr/>
        </p:nvSpPr>
        <p:spPr>
          <a:xfrm>
            <a:off x="6208776" y="38425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3" name="Text 111"/>
          <p:cNvSpPr txBox="1"/>
          <p:nvPr/>
        </p:nvSpPr>
        <p:spPr>
          <a:xfrm>
            <a:off x="6565392" y="38425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4" name="Shape 112"/>
          <p:cNvSpPr/>
          <p:nvPr/>
        </p:nvSpPr>
        <p:spPr>
          <a:xfrm>
            <a:off x="8558784" y="3894582"/>
            <a:ext cx="1122936" cy="104140"/>
          </a:xfrm>
          <a:prstGeom prst="rect">
            <a:avLst/>
          </a:prstGeom>
          <a:solidFill>
            <a:srgbClr val="C2352F"/>
          </a:solidFill>
          <a:ln/>
        </p:spPr>
      </p:sp>
      <p:sp>
        <p:nvSpPr>
          <p:cNvPr id="115" name="Text 113"/>
          <p:cNvSpPr txBox="1"/>
          <p:nvPr/>
        </p:nvSpPr>
        <p:spPr>
          <a:xfrm>
            <a:off x="10305288" y="384251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28.2</a:t>
            </a:r>
            <a:endParaRPr lang="en-US" sz="1200" dirty="0"/>
          </a:p>
        </p:txBody>
      </p:sp>
      <p:sp>
        <p:nvSpPr>
          <p:cNvPr id="116" name="Text 114"/>
          <p:cNvSpPr txBox="1"/>
          <p:nvPr/>
        </p:nvSpPr>
        <p:spPr>
          <a:xfrm>
            <a:off x="6208776" y="40507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7" name="Text 115"/>
          <p:cNvSpPr txBox="1"/>
          <p:nvPr/>
        </p:nvSpPr>
        <p:spPr>
          <a:xfrm>
            <a:off x="6565392" y="40507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18" name="Shape 116"/>
          <p:cNvSpPr/>
          <p:nvPr/>
        </p:nvSpPr>
        <p:spPr>
          <a:xfrm>
            <a:off x="8558784" y="4102862"/>
            <a:ext cx="1013406" cy="104140"/>
          </a:xfrm>
          <a:prstGeom prst="rect">
            <a:avLst/>
          </a:prstGeom>
          <a:solidFill>
            <a:srgbClr val="C2352F"/>
          </a:solidFill>
          <a:ln/>
        </p:spPr>
      </p:sp>
      <p:sp>
        <p:nvSpPr>
          <p:cNvPr id="119" name="Text 117"/>
          <p:cNvSpPr txBox="1"/>
          <p:nvPr/>
        </p:nvSpPr>
        <p:spPr>
          <a:xfrm>
            <a:off x="10305288" y="405079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25.5</a:t>
            </a:r>
            <a:endParaRPr lang="en-US" sz="1200" dirty="0"/>
          </a:p>
        </p:txBody>
      </p:sp>
      <p:sp>
        <p:nvSpPr>
          <p:cNvPr id="120" name="Text 118"/>
          <p:cNvSpPr txBox="1"/>
          <p:nvPr/>
        </p:nvSpPr>
        <p:spPr>
          <a:xfrm>
            <a:off x="6208776" y="42590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1" name="Text 119"/>
          <p:cNvSpPr txBox="1"/>
          <p:nvPr/>
        </p:nvSpPr>
        <p:spPr>
          <a:xfrm>
            <a:off x="6565392" y="42590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2" name="Shape 120"/>
          <p:cNvSpPr/>
          <p:nvPr/>
        </p:nvSpPr>
        <p:spPr>
          <a:xfrm>
            <a:off x="8558784" y="4311142"/>
            <a:ext cx="940756" cy="104140"/>
          </a:xfrm>
          <a:prstGeom prst="rect">
            <a:avLst/>
          </a:prstGeom>
          <a:solidFill>
            <a:srgbClr val="C2352F"/>
          </a:solidFill>
          <a:ln/>
        </p:spPr>
      </p:sp>
      <p:sp>
        <p:nvSpPr>
          <p:cNvPr id="123" name="Text 121"/>
          <p:cNvSpPr txBox="1"/>
          <p:nvPr/>
        </p:nvSpPr>
        <p:spPr>
          <a:xfrm>
            <a:off x="10305288" y="425907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23.6</a:t>
            </a:r>
            <a:endParaRPr lang="en-US" sz="1200" dirty="0"/>
          </a:p>
        </p:txBody>
      </p:sp>
      <p:sp>
        <p:nvSpPr>
          <p:cNvPr id="124" name="Text 122"/>
          <p:cNvSpPr txBox="1"/>
          <p:nvPr/>
        </p:nvSpPr>
        <p:spPr>
          <a:xfrm>
            <a:off x="6208776" y="44673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5" name="Text 123"/>
          <p:cNvSpPr txBox="1"/>
          <p:nvPr/>
        </p:nvSpPr>
        <p:spPr>
          <a:xfrm>
            <a:off x="6565392" y="44673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6" name="Shape 124"/>
          <p:cNvSpPr/>
          <p:nvPr/>
        </p:nvSpPr>
        <p:spPr>
          <a:xfrm>
            <a:off x="8558784" y="4519422"/>
            <a:ext cx="900750" cy="104140"/>
          </a:xfrm>
          <a:prstGeom prst="rect">
            <a:avLst/>
          </a:prstGeom>
          <a:solidFill>
            <a:srgbClr val="C2352F"/>
          </a:solidFill>
          <a:ln/>
        </p:spPr>
      </p:sp>
      <p:sp>
        <p:nvSpPr>
          <p:cNvPr id="127" name="Text 125"/>
          <p:cNvSpPr txBox="1"/>
          <p:nvPr/>
        </p:nvSpPr>
        <p:spPr>
          <a:xfrm>
            <a:off x="10305288" y="446735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22.6</a:t>
            </a:r>
            <a:endParaRPr lang="en-US" sz="1200" dirty="0"/>
          </a:p>
        </p:txBody>
      </p:sp>
      <p:sp>
        <p:nvSpPr>
          <p:cNvPr id="128" name="Text 126"/>
          <p:cNvSpPr txBox="1"/>
          <p:nvPr/>
        </p:nvSpPr>
        <p:spPr>
          <a:xfrm>
            <a:off x="6208776" y="46756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9" name="Text 127"/>
          <p:cNvSpPr txBox="1"/>
          <p:nvPr/>
        </p:nvSpPr>
        <p:spPr>
          <a:xfrm>
            <a:off x="6565392" y="46756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0" name="Shape 128"/>
          <p:cNvSpPr/>
          <p:nvPr/>
        </p:nvSpPr>
        <p:spPr>
          <a:xfrm>
            <a:off x="8558784" y="4727702"/>
            <a:ext cx="880007" cy="104140"/>
          </a:xfrm>
          <a:prstGeom prst="rect">
            <a:avLst/>
          </a:prstGeom>
          <a:solidFill>
            <a:srgbClr val="C2352F"/>
          </a:solidFill>
          <a:ln/>
        </p:spPr>
      </p:sp>
      <p:sp>
        <p:nvSpPr>
          <p:cNvPr id="131" name="Text 129"/>
          <p:cNvSpPr txBox="1"/>
          <p:nvPr/>
        </p:nvSpPr>
        <p:spPr>
          <a:xfrm>
            <a:off x="10305288" y="467563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22.1</a:t>
            </a:r>
            <a:endParaRPr lang="en-US" sz="1200" dirty="0"/>
          </a:p>
        </p:txBody>
      </p:sp>
      <p:sp>
        <p:nvSpPr>
          <p:cNvPr id="132" name="Text 130"/>
          <p:cNvSpPr txBox="1"/>
          <p:nvPr/>
        </p:nvSpPr>
        <p:spPr>
          <a:xfrm>
            <a:off x="6208776" y="48839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3" name="Text 131"/>
          <p:cNvSpPr txBox="1"/>
          <p:nvPr/>
        </p:nvSpPr>
        <p:spPr>
          <a:xfrm>
            <a:off x="6565392" y="48839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4" name="Shape 132"/>
          <p:cNvSpPr/>
          <p:nvPr/>
        </p:nvSpPr>
        <p:spPr>
          <a:xfrm>
            <a:off x="8558784" y="4935982"/>
            <a:ext cx="832284" cy="104140"/>
          </a:xfrm>
          <a:prstGeom prst="rect">
            <a:avLst/>
          </a:prstGeom>
          <a:solidFill>
            <a:srgbClr val="C2352F"/>
          </a:solidFill>
          <a:ln/>
        </p:spPr>
      </p:sp>
      <p:sp>
        <p:nvSpPr>
          <p:cNvPr id="135" name="Text 133"/>
          <p:cNvSpPr txBox="1"/>
          <p:nvPr/>
        </p:nvSpPr>
        <p:spPr>
          <a:xfrm>
            <a:off x="10305288" y="488391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20.9</a:t>
            </a:r>
            <a:endParaRPr lang="en-US" sz="1200" dirty="0"/>
          </a:p>
        </p:txBody>
      </p:sp>
      <p:sp>
        <p:nvSpPr>
          <p:cNvPr id="136" name="Text 134"/>
          <p:cNvSpPr txBox="1"/>
          <p:nvPr/>
        </p:nvSpPr>
        <p:spPr>
          <a:xfrm>
            <a:off x="6208776" y="50921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7" name="Text 135"/>
          <p:cNvSpPr txBox="1"/>
          <p:nvPr/>
        </p:nvSpPr>
        <p:spPr>
          <a:xfrm>
            <a:off x="6565392" y="50921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38" name="Shape 136"/>
          <p:cNvSpPr/>
          <p:nvPr/>
        </p:nvSpPr>
        <p:spPr>
          <a:xfrm>
            <a:off x="8558784" y="5144262"/>
            <a:ext cx="808680" cy="104140"/>
          </a:xfrm>
          <a:prstGeom prst="rect">
            <a:avLst/>
          </a:prstGeom>
          <a:solidFill>
            <a:srgbClr val="C2352F"/>
          </a:solidFill>
          <a:ln/>
        </p:spPr>
      </p:sp>
      <p:sp>
        <p:nvSpPr>
          <p:cNvPr id="139" name="Text 137"/>
          <p:cNvSpPr txBox="1"/>
          <p:nvPr/>
        </p:nvSpPr>
        <p:spPr>
          <a:xfrm>
            <a:off x="10305288" y="509219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20.3</a:t>
            </a:r>
            <a:endParaRPr lang="en-US" sz="1200" dirty="0"/>
          </a:p>
        </p:txBody>
      </p:sp>
      <p:sp>
        <p:nvSpPr>
          <p:cNvPr id="140" name="Text 138"/>
          <p:cNvSpPr txBox="1"/>
          <p:nvPr/>
        </p:nvSpPr>
        <p:spPr>
          <a:xfrm>
            <a:off x="6208776" y="53004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1" name="Text 139"/>
          <p:cNvSpPr txBox="1"/>
          <p:nvPr/>
        </p:nvSpPr>
        <p:spPr>
          <a:xfrm>
            <a:off x="6565392" y="53004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42" name="Shape 140"/>
          <p:cNvSpPr/>
          <p:nvPr/>
        </p:nvSpPr>
        <p:spPr>
          <a:xfrm>
            <a:off x="8558784" y="5352542"/>
            <a:ext cx="763360" cy="104140"/>
          </a:xfrm>
          <a:prstGeom prst="rect">
            <a:avLst/>
          </a:prstGeom>
          <a:solidFill>
            <a:srgbClr val="C2352F"/>
          </a:solidFill>
          <a:ln/>
        </p:spPr>
      </p:sp>
      <p:sp>
        <p:nvSpPr>
          <p:cNvPr id="143" name="Text 141"/>
          <p:cNvSpPr txBox="1"/>
          <p:nvPr/>
        </p:nvSpPr>
        <p:spPr>
          <a:xfrm>
            <a:off x="10305288" y="530047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19.2</a:t>
            </a:r>
            <a:endParaRPr lang="en-US" sz="1200" dirty="0"/>
          </a:p>
        </p:txBody>
      </p:sp>
      <p:sp>
        <p:nvSpPr>
          <p:cNvPr id="144" name="Text 142"/>
          <p:cNvSpPr txBox="1"/>
          <p:nvPr/>
        </p:nvSpPr>
        <p:spPr>
          <a:xfrm>
            <a:off x="6208776" y="55087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5" name="Text 143"/>
          <p:cNvSpPr txBox="1"/>
          <p:nvPr/>
        </p:nvSpPr>
        <p:spPr>
          <a:xfrm>
            <a:off x="6565392" y="55087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6" name="Shape 144"/>
          <p:cNvSpPr/>
          <p:nvPr/>
        </p:nvSpPr>
        <p:spPr>
          <a:xfrm>
            <a:off x="8558784" y="5560822"/>
            <a:ext cx="690045" cy="104140"/>
          </a:xfrm>
          <a:prstGeom prst="rect">
            <a:avLst/>
          </a:prstGeom>
          <a:solidFill>
            <a:srgbClr val="C2352F"/>
          </a:solidFill>
          <a:ln/>
        </p:spPr>
      </p:sp>
      <p:sp>
        <p:nvSpPr>
          <p:cNvPr id="147" name="Text 145"/>
          <p:cNvSpPr txBox="1"/>
          <p:nvPr/>
        </p:nvSpPr>
        <p:spPr>
          <a:xfrm>
            <a:off x="10305288" y="550875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17.3</a:t>
            </a:r>
            <a:endParaRPr lang="en-US" sz="1200" dirty="0"/>
          </a:p>
        </p:txBody>
      </p:sp>
      <p:sp>
        <p:nvSpPr>
          <p:cNvPr id="148" name="Shape 146"/>
          <p:cNvSpPr/>
          <p:nvPr/>
        </p:nvSpPr>
        <p:spPr>
          <a:xfrm>
            <a:off x="4164984" y="2176272"/>
            <a:ext cx="14630" cy="3749040"/>
          </a:xfrm>
          <a:prstGeom prst="rect">
            <a:avLst/>
          </a:prstGeom>
          <a:solidFill>
            <a:srgbClr val="0B2C4A"/>
          </a:solidFill>
          <a:ln/>
        </p:spPr>
      </p:sp>
      <p:sp>
        <p:nvSpPr>
          <p:cNvPr id="149" name="Shape 147"/>
          <p:cNvSpPr/>
          <p:nvPr/>
        </p:nvSpPr>
        <p:spPr>
          <a:xfrm>
            <a:off x="9715392" y="2176272"/>
            <a:ext cx="14630" cy="3749040"/>
          </a:xfrm>
          <a:prstGeom prst="rect">
            <a:avLst/>
          </a:prstGeom>
          <a:solidFill>
            <a:srgbClr val="0B2C4A"/>
          </a:solidFill>
          <a:ln/>
        </p:spPr>
      </p:sp>
      <p:sp>
        <p:nvSpPr>
          <p:cNvPr id="150" name="Shape 148"/>
          <p:cNvSpPr/>
          <p:nvPr/>
        </p:nvSpPr>
        <p:spPr>
          <a:xfrm>
            <a:off x="6085332" y="2176272"/>
            <a:ext cx="10973" cy="3749040"/>
          </a:xfrm>
          <a:prstGeom prst="rect">
            <a:avLst/>
          </a:prstGeom>
          <a:solidFill>
            <a:srgbClr val="D9D9D9"/>
          </a:solidFill>
          <a:ln/>
        </p:spPr>
      </p:sp>
      <p:sp>
        <p:nvSpPr>
          <p:cNvPr id="151" name="Shape 149"/>
          <p:cNvSpPr/>
          <p:nvPr/>
        </p:nvSpPr>
        <p:spPr>
          <a:xfrm>
            <a:off x="457200" y="6126480"/>
            <a:ext cx="11274552" cy="615696"/>
          </a:xfrm>
          <a:prstGeom prst="rect">
            <a:avLst/>
          </a:prstGeom>
          <a:solidFill>
            <a:srgbClr val="EDF4FA"/>
          </a:solidFill>
          <a:ln/>
        </p:spPr>
      </p:sp>
      <p:sp>
        <p:nvSpPr>
          <p:cNvPr id="152" name="Text 15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Against their own segment, 4 of 9 luxury stores beat 17.4 and 14 of 24 others beat 29.3. Kia St George leads non-luxury at 39.8.</a:t>
            </a:r>
            <a:endParaRPr lang="en-US" sz="1600" dirty="0"/>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FIXED EMPLOYEE</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+6.9</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7" name="Shape 15"/>
          <p:cNvSpPr/>
          <p:nvPr/>
        </p:nvSpPr>
        <p:spPr>
          <a:xfrm>
            <a:off x="3785616" y="2151755"/>
            <a:ext cx="544934"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+4.8</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1" name="Shape 19"/>
          <p:cNvSpPr/>
          <p:nvPr/>
        </p:nvSpPr>
        <p:spPr>
          <a:xfrm>
            <a:off x="3785616" y="2391651"/>
            <a:ext cx="43004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5" name="Shape 23"/>
          <p:cNvSpPr/>
          <p:nvPr/>
        </p:nvSpPr>
        <p:spPr>
          <a:xfrm>
            <a:off x="3785616" y="2631546"/>
            <a:ext cx="412371"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9" name="Shape 27"/>
          <p:cNvSpPr/>
          <p:nvPr/>
        </p:nvSpPr>
        <p:spPr>
          <a:xfrm>
            <a:off x="3785616" y="2871442"/>
            <a:ext cx="368727"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33" name="Shape 31"/>
          <p:cNvSpPr/>
          <p:nvPr/>
        </p:nvSpPr>
        <p:spPr>
          <a:xfrm>
            <a:off x="3785616" y="3111337"/>
            <a:ext cx="31398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37" name="Shape 35"/>
          <p:cNvSpPr/>
          <p:nvPr/>
        </p:nvSpPr>
        <p:spPr>
          <a:xfrm>
            <a:off x="3785616" y="3351233"/>
            <a:ext cx="246169"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1" name="Shape 39"/>
          <p:cNvSpPr/>
          <p:nvPr/>
        </p:nvSpPr>
        <p:spPr>
          <a:xfrm>
            <a:off x="3785616" y="3591128"/>
            <a:ext cx="24324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5" name="Shape 43"/>
          <p:cNvSpPr/>
          <p:nvPr/>
        </p:nvSpPr>
        <p:spPr>
          <a:xfrm>
            <a:off x="3785616" y="3831024"/>
            <a:ext cx="202065"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9" name="Shape 47"/>
          <p:cNvSpPr/>
          <p:nvPr/>
        </p:nvSpPr>
        <p:spPr>
          <a:xfrm>
            <a:off x="3785616" y="4070920"/>
            <a:ext cx="178519"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3" name="Shape 51"/>
          <p:cNvSpPr/>
          <p:nvPr/>
        </p:nvSpPr>
        <p:spPr>
          <a:xfrm>
            <a:off x="3785616" y="4310815"/>
            <a:ext cx="170934"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7" name="Shape 55"/>
          <p:cNvSpPr/>
          <p:nvPr/>
        </p:nvSpPr>
        <p:spPr>
          <a:xfrm>
            <a:off x="3785616" y="4550711"/>
            <a:ext cx="116180"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61" name="Shape 59"/>
          <p:cNvSpPr/>
          <p:nvPr/>
        </p:nvSpPr>
        <p:spPr>
          <a:xfrm>
            <a:off x="3785616" y="4790606"/>
            <a:ext cx="109258"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5" name="Shape 63"/>
          <p:cNvSpPr/>
          <p:nvPr/>
        </p:nvSpPr>
        <p:spPr>
          <a:xfrm>
            <a:off x="3785616" y="5030502"/>
            <a:ext cx="99898"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9" name="Shape 67"/>
          <p:cNvSpPr/>
          <p:nvPr/>
        </p:nvSpPr>
        <p:spPr>
          <a:xfrm>
            <a:off x="3785616" y="5270397"/>
            <a:ext cx="89782"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+0.8</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3" name="Shape 71"/>
          <p:cNvSpPr/>
          <p:nvPr/>
        </p:nvSpPr>
        <p:spPr>
          <a:xfrm>
            <a:off x="3785616" y="5510293"/>
            <a:ext cx="81310"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7" name="Shape 75"/>
          <p:cNvSpPr/>
          <p:nvPr/>
        </p:nvSpPr>
        <p:spPr>
          <a:xfrm>
            <a:off x="3785616" y="5750188"/>
            <a:ext cx="73463"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+0.6</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81" name="Shape 79"/>
          <p:cNvSpPr/>
          <p:nvPr/>
        </p:nvSpPr>
        <p:spPr>
          <a:xfrm>
            <a:off x="9336024" y="1911860"/>
            <a:ext cx="61540"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85" name="Shape 83"/>
          <p:cNvSpPr/>
          <p:nvPr/>
        </p:nvSpPr>
        <p:spPr>
          <a:xfrm>
            <a:off x="9336024" y="2151755"/>
            <a:ext cx="55474"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+0.5</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9" name="Shape 87"/>
          <p:cNvSpPr/>
          <p:nvPr/>
        </p:nvSpPr>
        <p:spPr>
          <a:xfrm>
            <a:off x="9336024" y="2391651"/>
            <a:ext cx="45730"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93" name="Shape 91"/>
          <p:cNvSpPr/>
          <p:nvPr/>
        </p:nvSpPr>
        <p:spPr>
          <a:xfrm>
            <a:off x="9336024" y="2631546"/>
            <a:ext cx="33279"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9336024" y="2871442"/>
            <a:ext cx="2831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1" name="Shape 99"/>
          <p:cNvSpPr/>
          <p:nvPr/>
        </p:nvSpPr>
        <p:spPr>
          <a:xfrm>
            <a:off x="9331623" y="3111337"/>
            <a:ext cx="12802"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5" name="Shape 103"/>
          <p:cNvSpPr/>
          <p:nvPr/>
        </p:nvSpPr>
        <p:spPr>
          <a:xfrm>
            <a:off x="9320203" y="3351233"/>
            <a:ext cx="15821"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9" name="Shape 107"/>
          <p:cNvSpPr/>
          <p:nvPr/>
        </p:nvSpPr>
        <p:spPr>
          <a:xfrm>
            <a:off x="9316313" y="3591128"/>
            <a:ext cx="1971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−0.2</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13" name="Shape 111"/>
          <p:cNvSpPr/>
          <p:nvPr/>
        </p:nvSpPr>
        <p:spPr>
          <a:xfrm>
            <a:off x="9221677" y="3831024"/>
            <a:ext cx="114347"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7" name="Shape 115"/>
          <p:cNvSpPr/>
          <p:nvPr/>
        </p:nvSpPr>
        <p:spPr>
          <a:xfrm>
            <a:off x="9212713" y="4070920"/>
            <a:ext cx="123311"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1" name="Shape 119"/>
          <p:cNvSpPr/>
          <p:nvPr/>
        </p:nvSpPr>
        <p:spPr>
          <a:xfrm>
            <a:off x="9201004" y="4310815"/>
            <a:ext cx="135020"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25" name="Shape 123"/>
          <p:cNvSpPr/>
          <p:nvPr/>
        </p:nvSpPr>
        <p:spPr>
          <a:xfrm>
            <a:off x="9180928" y="4550711"/>
            <a:ext cx="155096"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9" name="Shape 127"/>
          <p:cNvSpPr/>
          <p:nvPr/>
        </p:nvSpPr>
        <p:spPr>
          <a:xfrm>
            <a:off x="9011951" y="4790606"/>
            <a:ext cx="324073"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887261" y="5030502"/>
            <a:ext cx="448763"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7" name="Shape 135"/>
          <p:cNvSpPr/>
          <p:nvPr/>
        </p:nvSpPr>
        <p:spPr>
          <a:xfrm>
            <a:off x="8683531" y="5270397"/>
            <a:ext cx="652493"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41" name="Shape 139"/>
          <p:cNvSpPr/>
          <p:nvPr/>
        </p:nvSpPr>
        <p:spPr>
          <a:xfrm>
            <a:off x="8594867" y="5510293"/>
            <a:ext cx="741157"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 of 33 stores raised ROs per fixed employee, led by Hyundai Prescott at +6.9 to 31.4. 11 declined; Kia St George fell most at −6.6.</a:t>
            </a:r>
            <a:endParaRPr lang="en-US" sz="1600" dirty="0"/>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31.4</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+6.9</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28.8</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30.6</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36.8</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+3.6</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19.2</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46.4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39.8</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−6.6</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38.2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32.4</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−5.8</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31.1</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−4.0</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34.3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31.4</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−2.9</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24.5</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−1.4</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29.9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40.3</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+10.4</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28.3</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+9.4</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27.1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33.1</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+6.0</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32.9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37.4</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+4.5</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17.2</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a:t>
            </a:r>
            <a:endParaRPr lang="en-US" sz="1600" dirty="0"/>
          </a:p>
        </p:txBody>
      </p:sp>
      <p:sp>
        <p:nvSpPr>
          <p:cNvPr id="69" name="Shape 67"/>
          <p:cNvSpPr/>
          <p:nvPr/>
        </p:nvSpPr>
        <p:spPr>
          <a:xfrm>
            <a:off x="457200" y="6126480"/>
            <a:ext cx="11274552" cy="569976"/>
          </a:xfrm>
          <a:prstGeom prst="rect">
            <a:avLst/>
          </a:prstGeom>
          <a:solidFill>
            <a:srgbClr val="EDF4FA"/>
          </a:solidFill>
          <a:ln/>
        </p:spPr>
      </p:sp>
      <p:sp>
        <p:nvSpPr>
          <p:cNvPr id="70" name="Text 68"/>
          <p:cNvSpPr txBox="1"/>
          <p:nvPr/>
        </p:nvSpPr>
        <p:spPr>
          <a:xfrm>
            <a:off x="658368" y="6144768"/>
            <a:ext cx="10927080" cy="533400"/>
          </a:xfrm>
          <a:prstGeom prst="rect">
            <a:avLst/>
          </a:prstGeom>
          <a:noFill/>
          <a:ln/>
        </p:spPr>
        <p:txBody>
          <a:bodyPr wrap="square" lIns="0" tIns="0" rIns="0" bIns="0" rtlCol="0" anchor="ctr"/>
          <a:lstStyle/>
          <a:p>
            <a:pPr indent="0" marL="0">
              <a:buNone/>
            </a:pPr>
            <a:r>
              <a:rPr lang="en-US" sz="1450" b="1" dirty="0">
                <a:solidFill>
                  <a:srgbClr val="0B2C4A"/>
                </a:solidFill>
                <a:latin typeface="Inter" pitchFamily="34" charset="0"/>
                <a:ea typeface="Inter" pitchFamily="34" charset="-122"/>
                <a:cs typeface="Inter" pitchFamily="34" charset="-120"/>
              </a:rPr>
              <a:t>Ask Hyundai Prescott, Kia LV and Hyundai St George what changed. Ask Kia St George, Mazda and VW St George what got in the way. Ask Subaru St George, CDJR Post Falls and Hyundai Prescott what they started this year.</a:t>
            </a:r>
            <a:endParaRPr lang="en-US" sz="1450" dirty="0"/>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Manager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377</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390</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+13</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+3.5%</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&amp; W ROs per Fixed Manager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13 to 390, ahead of 2025 in eight of nine months. Managers fell 5.6%.</a:t>
            </a:r>
            <a:endParaRPr lang="en-US" sz="1600" dirty="0"/>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Manager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4442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FIXED MANAGER</a:t>
            </a:r>
            <a:endParaRPr lang="en-US" sz="1500" dirty="0"/>
          </a:p>
        </p:txBody>
      </p:sp>
      <p:sp>
        <p:nvSpPr>
          <p:cNvPr id="9" name="Text 7"/>
          <p:cNvSpPr txBox="1"/>
          <p:nvPr/>
        </p:nvSpPr>
        <p:spPr>
          <a:xfrm>
            <a:off x="4358640" y="1335024"/>
            <a:ext cx="36880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390</a:t>
            </a:r>
            <a:endParaRPr lang="en-US" sz="2000" dirty="0"/>
          </a:p>
        </p:txBody>
      </p:sp>
      <p:sp>
        <p:nvSpPr>
          <p:cNvPr id="11" name="Text 9"/>
          <p:cNvSpPr txBox="1"/>
          <p:nvPr/>
        </p:nvSpPr>
        <p:spPr>
          <a:xfrm>
            <a:off x="859536" y="1847088"/>
            <a:ext cx="10607040"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Each segment ranked on its own. Navy line = each segment's average; green at or above it.</a:t>
            </a:r>
            <a:endParaRPr lang="en-US" sz="1400" dirty="0"/>
          </a:p>
        </p:txBody>
      </p:sp>
      <p:sp>
        <p:nvSpPr>
          <p:cNvPr id="12" name="Text 10"/>
          <p:cNvSpPr txBox="1"/>
          <p:nvPr/>
        </p:nvSpPr>
        <p:spPr>
          <a:xfrm>
            <a:off x="658368" y="2176272"/>
            <a:ext cx="5303520" cy="208280"/>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276</a:t>
            </a:r>
            <a:endParaRPr lang="en-US" sz="1300" dirty="0"/>
          </a:p>
        </p:txBody>
      </p:sp>
      <p:sp>
        <p:nvSpPr>
          <p:cNvPr id="13" name="Shape 11"/>
          <p:cNvSpPr/>
          <p:nvPr/>
        </p:nvSpPr>
        <p:spPr>
          <a:xfrm>
            <a:off x="658368" y="2366264"/>
            <a:ext cx="5303520" cy="18288"/>
          </a:xfrm>
          <a:prstGeom prst="rect">
            <a:avLst/>
          </a:prstGeom>
          <a:solidFill>
            <a:srgbClr val="0B2C4A"/>
          </a:solidFill>
          <a:ln/>
        </p:spPr>
      </p:sp>
      <p:sp>
        <p:nvSpPr>
          <p:cNvPr id="14" name="Text 12"/>
          <p:cNvSpPr txBox="1"/>
          <p:nvPr/>
        </p:nvSpPr>
        <p:spPr>
          <a:xfrm>
            <a:off x="658368" y="23845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5" name="Text 13"/>
          <p:cNvSpPr txBox="1"/>
          <p:nvPr/>
        </p:nvSpPr>
        <p:spPr>
          <a:xfrm>
            <a:off x="1014984" y="23845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6" name="Shape 14"/>
          <p:cNvSpPr/>
          <p:nvPr/>
        </p:nvSpPr>
        <p:spPr>
          <a:xfrm>
            <a:off x="3008376" y="2436622"/>
            <a:ext cx="1208610" cy="104140"/>
          </a:xfrm>
          <a:prstGeom prst="rect">
            <a:avLst/>
          </a:prstGeom>
          <a:solidFill>
            <a:srgbClr val="12A566"/>
          </a:solidFill>
          <a:ln/>
        </p:spPr>
      </p:sp>
      <p:sp>
        <p:nvSpPr>
          <p:cNvPr id="17" name="Text 15"/>
          <p:cNvSpPr txBox="1"/>
          <p:nvPr/>
        </p:nvSpPr>
        <p:spPr>
          <a:xfrm>
            <a:off x="4754880" y="238455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491</a:t>
            </a:r>
            <a:endParaRPr lang="en-US" sz="1200" dirty="0"/>
          </a:p>
        </p:txBody>
      </p:sp>
      <p:sp>
        <p:nvSpPr>
          <p:cNvPr id="18" name="Text 16"/>
          <p:cNvSpPr txBox="1"/>
          <p:nvPr/>
        </p:nvSpPr>
        <p:spPr>
          <a:xfrm>
            <a:off x="658368" y="25928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25928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0" name="Shape 18"/>
          <p:cNvSpPr/>
          <p:nvPr/>
        </p:nvSpPr>
        <p:spPr>
          <a:xfrm>
            <a:off x="3008376" y="2644902"/>
            <a:ext cx="902480" cy="104140"/>
          </a:xfrm>
          <a:prstGeom prst="rect">
            <a:avLst/>
          </a:prstGeom>
          <a:solidFill>
            <a:srgbClr val="12A566"/>
          </a:solidFill>
          <a:ln/>
        </p:spPr>
      </p:sp>
      <p:sp>
        <p:nvSpPr>
          <p:cNvPr id="21" name="Text 19"/>
          <p:cNvSpPr txBox="1"/>
          <p:nvPr/>
        </p:nvSpPr>
        <p:spPr>
          <a:xfrm>
            <a:off x="4754880" y="259283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367</a:t>
            </a:r>
            <a:endParaRPr lang="en-US" sz="1200" dirty="0"/>
          </a:p>
        </p:txBody>
      </p:sp>
      <p:sp>
        <p:nvSpPr>
          <p:cNvPr id="22" name="Text 20"/>
          <p:cNvSpPr txBox="1"/>
          <p:nvPr/>
        </p:nvSpPr>
        <p:spPr>
          <a:xfrm>
            <a:off x="658368" y="28011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3" name="Text 21"/>
          <p:cNvSpPr txBox="1"/>
          <p:nvPr/>
        </p:nvSpPr>
        <p:spPr>
          <a:xfrm>
            <a:off x="1014984" y="28011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4" name="Shape 22"/>
          <p:cNvSpPr/>
          <p:nvPr/>
        </p:nvSpPr>
        <p:spPr>
          <a:xfrm>
            <a:off x="3008376" y="2853182"/>
            <a:ext cx="819371" cy="104140"/>
          </a:xfrm>
          <a:prstGeom prst="rect">
            <a:avLst/>
          </a:prstGeom>
          <a:solidFill>
            <a:srgbClr val="12A566"/>
          </a:solidFill>
          <a:ln/>
        </p:spPr>
      </p:sp>
      <p:sp>
        <p:nvSpPr>
          <p:cNvPr id="25" name="Text 23"/>
          <p:cNvSpPr txBox="1"/>
          <p:nvPr/>
        </p:nvSpPr>
        <p:spPr>
          <a:xfrm>
            <a:off x="4754880" y="280111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333</a:t>
            </a:r>
            <a:endParaRPr lang="en-US" sz="1200" dirty="0"/>
          </a:p>
        </p:txBody>
      </p:sp>
      <p:sp>
        <p:nvSpPr>
          <p:cNvPr id="26" name="Text 24"/>
          <p:cNvSpPr txBox="1"/>
          <p:nvPr/>
        </p:nvSpPr>
        <p:spPr>
          <a:xfrm>
            <a:off x="658368" y="30093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7" name="Text 25"/>
          <p:cNvSpPr txBox="1"/>
          <p:nvPr/>
        </p:nvSpPr>
        <p:spPr>
          <a:xfrm>
            <a:off x="1014984" y="30093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8" name="Shape 26"/>
          <p:cNvSpPr/>
          <p:nvPr/>
        </p:nvSpPr>
        <p:spPr>
          <a:xfrm>
            <a:off x="3008376" y="3061462"/>
            <a:ext cx="717480" cy="104140"/>
          </a:xfrm>
          <a:prstGeom prst="rect">
            <a:avLst/>
          </a:prstGeom>
          <a:solidFill>
            <a:srgbClr val="12A566"/>
          </a:solidFill>
          <a:ln/>
        </p:spPr>
      </p:sp>
      <p:sp>
        <p:nvSpPr>
          <p:cNvPr id="29" name="Text 27"/>
          <p:cNvSpPr txBox="1"/>
          <p:nvPr/>
        </p:nvSpPr>
        <p:spPr>
          <a:xfrm>
            <a:off x="4754880" y="300939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291</a:t>
            </a:r>
            <a:endParaRPr lang="en-US" sz="1200" dirty="0"/>
          </a:p>
        </p:txBody>
      </p:sp>
      <p:sp>
        <p:nvSpPr>
          <p:cNvPr id="30" name="Text 28"/>
          <p:cNvSpPr txBox="1"/>
          <p:nvPr/>
        </p:nvSpPr>
        <p:spPr>
          <a:xfrm>
            <a:off x="658368" y="32176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1" name="Text 29"/>
          <p:cNvSpPr txBox="1"/>
          <p:nvPr/>
        </p:nvSpPr>
        <p:spPr>
          <a:xfrm>
            <a:off x="1014984" y="32176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2" name="Shape 30"/>
          <p:cNvSpPr/>
          <p:nvPr/>
        </p:nvSpPr>
        <p:spPr>
          <a:xfrm>
            <a:off x="3008376" y="3269742"/>
            <a:ext cx="707906" cy="104140"/>
          </a:xfrm>
          <a:prstGeom prst="rect">
            <a:avLst/>
          </a:prstGeom>
          <a:solidFill>
            <a:srgbClr val="12A566"/>
          </a:solidFill>
          <a:ln/>
        </p:spPr>
      </p:sp>
      <p:sp>
        <p:nvSpPr>
          <p:cNvPr id="33" name="Text 31"/>
          <p:cNvSpPr txBox="1"/>
          <p:nvPr/>
        </p:nvSpPr>
        <p:spPr>
          <a:xfrm>
            <a:off x="4754880" y="321767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288</a:t>
            </a:r>
            <a:endParaRPr lang="en-US" sz="1200" dirty="0"/>
          </a:p>
        </p:txBody>
      </p:sp>
      <p:sp>
        <p:nvSpPr>
          <p:cNvPr id="34" name="Text 32"/>
          <p:cNvSpPr txBox="1"/>
          <p:nvPr/>
        </p:nvSpPr>
        <p:spPr>
          <a:xfrm>
            <a:off x="658368" y="34259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5" name="Text 33"/>
          <p:cNvSpPr txBox="1"/>
          <p:nvPr/>
        </p:nvSpPr>
        <p:spPr>
          <a:xfrm>
            <a:off x="1014984" y="34259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36" name="Shape 34"/>
          <p:cNvSpPr/>
          <p:nvPr/>
        </p:nvSpPr>
        <p:spPr>
          <a:xfrm>
            <a:off x="3008376" y="3478022"/>
            <a:ext cx="619947" cy="104140"/>
          </a:xfrm>
          <a:prstGeom prst="rect">
            <a:avLst/>
          </a:prstGeom>
          <a:solidFill>
            <a:srgbClr val="C2352F"/>
          </a:solidFill>
          <a:ln/>
        </p:spPr>
      </p:sp>
      <p:sp>
        <p:nvSpPr>
          <p:cNvPr id="37" name="Text 35"/>
          <p:cNvSpPr txBox="1"/>
          <p:nvPr/>
        </p:nvSpPr>
        <p:spPr>
          <a:xfrm>
            <a:off x="4754880" y="342595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252</a:t>
            </a:r>
            <a:endParaRPr lang="en-US" sz="1200" dirty="0"/>
          </a:p>
        </p:txBody>
      </p:sp>
      <p:sp>
        <p:nvSpPr>
          <p:cNvPr id="38" name="Text 36"/>
          <p:cNvSpPr txBox="1"/>
          <p:nvPr/>
        </p:nvSpPr>
        <p:spPr>
          <a:xfrm>
            <a:off x="658368" y="36342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9" name="Text 37"/>
          <p:cNvSpPr txBox="1"/>
          <p:nvPr/>
        </p:nvSpPr>
        <p:spPr>
          <a:xfrm>
            <a:off x="1014984" y="36342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0" name="Shape 38"/>
          <p:cNvSpPr/>
          <p:nvPr/>
        </p:nvSpPr>
        <p:spPr>
          <a:xfrm>
            <a:off x="3008376" y="3686302"/>
            <a:ext cx="488532" cy="104140"/>
          </a:xfrm>
          <a:prstGeom prst="rect">
            <a:avLst/>
          </a:prstGeom>
          <a:solidFill>
            <a:srgbClr val="C2352F"/>
          </a:solidFill>
          <a:ln/>
        </p:spPr>
      </p:sp>
      <p:sp>
        <p:nvSpPr>
          <p:cNvPr id="41" name="Text 39"/>
          <p:cNvSpPr txBox="1"/>
          <p:nvPr/>
        </p:nvSpPr>
        <p:spPr>
          <a:xfrm>
            <a:off x="4754880" y="363423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198</a:t>
            </a:r>
            <a:endParaRPr lang="en-US" sz="1200" dirty="0"/>
          </a:p>
        </p:txBody>
      </p:sp>
      <p:sp>
        <p:nvSpPr>
          <p:cNvPr id="42" name="Text 40"/>
          <p:cNvSpPr txBox="1"/>
          <p:nvPr/>
        </p:nvSpPr>
        <p:spPr>
          <a:xfrm>
            <a:off x="658368" y="38425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3" name="Text 41"/>
          <p:cNvSpPr txBox="1"/>
          <p:nvPr/>
        </p:nvSpPr>
        <p:spPr>
          <a:xfrm>
            <a:off x="1014984" y="38425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44" name="Shape 42"/>
          <p:cNvSpPr/>
          <p:nvPr/>
        </p:nvSpPr>
        <p:spPr>
          <a:xfrm>
            <a:off x="3008376" y="3894582"/>
            <a:ext cx="349030" cy="104140"/>
          </a:xfrm>
          <a:prstGeom prst="rect">
            <a:avLst/>
          </a:prstGeom>
          <a:solidFill>
            <a:srgbClr val="C2352F"/>
          </a:solidFill>
          <a:ln/>
        </p:spPr>
      </p:sp>
      <p:sp>
        <p:nvSpPr>
          <p:cNvPr id="45" name="Text 43"/>
          <p:cNvSpPr txBox="1"/>
          <p:nvPr/>
        </p:nvSpPr>
        <p:spPr>
          <a:xfrm>
            <a:off x="4754880" y="384251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a:t>
            </a:r>
            <a:endParaRPr lang="en-US" sz="1200" dirty="0"/>
          </a:p>
        </p:txBody>
      </p:sp>
      <p:sp>
        <p:nvSpPr>
          <p:cNvPr id="46" name="Text 44"/>
          <p:cNvSpPr txBox="1"/>
          <p:nvPr/>
        </p:nvSpPr>
        <p:spPr>
          <a:xfrm>
            <a:off x="658368" y="40507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7" name="Text 45"/>
          <p:cNvSpPr txBox="1"/>
          <p:nvPr/>
        </p:nvSpPr>
        <p:spPr>
          <a:xfrm>
            <a:off x="1014984" y="40507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8" name="Shape 46"/>
          <p:cNvSpPr/>
          <p:nvPr/>
        </p:nvSpPr>
        <p:spPr>
          <a:xfrm>
            <a:off x="3008376" y="4102862"/>
            <a:ext cx="291998" cy="104140"/>
          </a:xfrm>
          <a:prstGeom prst="rect">
            <a:avLst/>
          </a:prstGeom>
          <a:solidFill>
            <a:srgbClr val="C2352F"/>
          </a:solidFill>
          <a:ln/>
        </p:spPr>
      </p:sp>
      <p:sp>
        <p:nvSpPr>
          <p:cNvPr id="49" name="Text 47"/>
          <p:cNvSpPr txBox="1"/>
          <p:nvPr/>
        </p:nvSpPr>
        <p:spPr>
          <a:xfrm>
            <a:off x="4754880" y="405079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119</a:t>
            </a:r>
            <a:endParaRPr lang="en-US" sz="1200" dirty="0"/>
          </a:p>
        </p:txBody>
      </p:sp>
      <p:sp>
        <p:nvSpPr>
          <p:cNvPr id="50" name="Text 48"/>
          <p:cNvSpPr txBox="1"/>
          <p:nvPr/>
        </p:nvSpPr>
        <p:spPr>
          <a:xfrm>
            <a:off x="658368" y="4259072"/>
            <a:ext cx="5303520" cy="208280"/>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418</a:t>
            </a:r>
            <a:endParaRPr lang="en-US" sz="1300" dirty="0"/>
          </a:p>
        </p:txBody>
      </p:sp>
      <p:sp>
        <p:nvSpPr>
          <p:cNvPr id="51" name="Shape 49"/>
          <p:cNvSpPr/>
          <p:nvPr/>
        </p:nvSpPr>
        <p:spPr>
          <a:xfrm>
            <a:off x="658368" y="4449064"/>
            <a:ext cx="5303520" cy="18288"/>
          </a:xfrm>
          <a:prstGeom prst="rect">
            <a:avLst/>
          </a:prstGeom>
          <a:solidFill>
            <a:srgbClr val="0B2C4A"/>
          </a:solidFill>
          <a:ln/>
        </p:spPr>
      </p:sp>
      <p:sp>
        <p:nvSpPr>
          <p:cNvPr id="52" name="Text 50"/>
          <p:cNvSpPr txBox="1"/>
          <p:nvPr/>
        </p:nvSpPr>
        <p:spPr>
          <a:xfrm>
            <a:off x="658368" y="44673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4673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4" name="Shape 52"/>
          <p:cNvSpPr/>
          <p:nvPr/>
        </p:nvSpPr>
        <p:spPr>
          <a:xfrm>
            <a:off x="3008376" y="4519422"/>
            <a:ext cx="1658471" cy="104140"/>
          </a:xfrm>
          <a:prstGeom prst="rect">
            <a:avLst/>
          </a:prstGeom>
          <a:solidFill>
            <a:srgbClr val="12A566"/>
          </a:solidFill>
          <a:ln/>
        </p:spPr>
      </p:sp>
      <p:sp>
        <p:nvSpPr>
          <p:cNvPr id="55" name="Text 53"/>
          <p:cNvSpPr txBox="1"/>
          <p:nvPr/>
        </p:nvSpPr>
        <p:spPr>
          <a:xfrm>
            <a:off x="4754880" y="446735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1,022</a:t>
            </a:r>
            <a:endParaRPr lang="en-US" sz="1200" dirty="0"/>
          </a:p>
        </p:txBody>
      </p:sp>
      <p:sp>
        <p:nvSpPr>
          <p:cNvPr id="56" name="Text 54"/>
          <p:cNvSpPr txBox="1"/>
          <p:nvPr/>
        </p:nvSpPr>
        <p:spPr>
          <a:xfrm>
            <a:off x="658368" y="46756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6756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8" name="Shape 56"/>
          <p:cNvSpPr/>
          <p:nvPr/>
        </p:nvSpPr>
        <p:spPr>
          <a:xfrm>
            <a:off x="3008376" y="4727702"/>
            <a:ext cx="1241954" cy="104140"/>
          </a:xfrm>
          <a:prstGeom prst="rect">
            <a:avLst/>
          </a:prstGeom>
          <a:solidFill>
            <a:srgbClr val="12A566"/>
          </a:solidFill>
          <a:ln/>
        </p:spPr>
      </p:sp>
      <p:sp>
        <p:nvSpPr>
          <p:cNvPr id="59" name="Text 57"/>
          <p:cNvSpPr txBox="1"/>
          <p:nvPr/>
        </p:nvSpPr>
        <p:spPr>
          <a:xfrm>
            <a:off x="4754880" y="467563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765</a:t>
            </a:r>
            <a:endParaRPr lang="en-US" sz="1200" dirty="0"/>
          </a:p>
        </p:txBody>
      </p:sp>
      <p:sp>
        <p:nvSpPr>
          <p:cNvPr id="60" name="Text 58"/>
          <p:cNvSpPr txBox="1"/>
          <p:nvPr/>
        </p:nvSpPr>
        <p:spPr>
          <a:xfrm>
            <a:off x="658368" y="48839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48839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2" name="Shape 60"/>
          <p:cNvSpPr/>
          <p:nvPr/>
        </p:nvSpPr>
        <p:spPr>
          <a:xfrm>
            <a:off x="3008376" y="4935982"/>
            <a:ext cx="1113250" cy="104140"/>
          </a:xfrm>
          <a:prstGeom prst="rect">
            <a:avLst/>
          </a:prstGeom>
          <a:solidFill>
            <a:srgbClr val="12A566"/>
          </a:solidFill>
          <a:ln/>
        </p:spPr>
      </p:sp>
      <p:sp>
        <p:nvSpPr>
          <p:cNvPr id="63" name="Text 61"/>
          <p:cNvSpPr txBox="1"/>
          <p:nvPr/>
        </p:nvSpPr>
        <p:spPr>
          <a:xfrm>
            <a:off x="4754880" y="488391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686</a:t>
            </a:r>
            <a:endParaRPr lang="en-US" sz="1200" dirty="0"/>
          </a:p>
        </p:txBody>
      </p:sp>
      <p:sp>
        <p:nvSpPr>
          <p:cNvPr id="64" name="Text 62"/>
          <p:cNvSpPr txBox="1"/>
          <p:nvPr/>
        </p:nvSpPr>
        <p:spPr>
          <a:xfrm>
            <a:off x="658368" y="50921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0921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6" name="Shape 64"/>
          <p:cNvSpPr/>
          <p:nvPr/>
        </p:nvSpPr>
        <p:spPr>
          <a:xfrm>
            <a:off x="3008376" y="5144262"/>
            <a:ext cx="1066361" cy="104140"/>
          </a:xfrm>
          <a:prstGeom prst="rect">
            <a:avLst/>
          </a:prstGeom>
          <a:solidFill>
            <a:srgbClr val="12A566"/>
          </a:solidFill>
          <a:ln/>
        </p:spPr>
      </p:sp>
      <p:sp>
        <p:nvSpPr>
          <p:cNvPr id="67" name="Text 65"/>
          <p:cNvSpPr txBox="1"/>
          <p:nvPr/>
        </p:nvSpPr>
        <p:spPr>
          <a:xfrm>
            <a:off x="4754880" y="509219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657</a:t>
            </a:r>
            <a:endParaRPr lang="en-US" sz="1200" dirty="0"/>
          </a:p>
        </p:txBody>
      </p:sp>
      <p:sp>
        <p:nvSpPr>
          <p:cNvPr id="68" name="Text 66"/>
          <p:cNvSpPr txBox="1"/>
          <p:nvPr/>
        </p:nvSpPr>
        <p:spPr>
          <a:xfrm>
            <a:off x="658368" y="53004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3004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0" name="Shape 68"/>
          <p:cNvSpPr/>
          <p:nvPr/>
        </p:nvSpPr>
        <p:spPr>
          <a:xfrm>
            <a:off x="3008376" y="5352542"/>
            <a:ext cx="958457" cy="104140"/>
          </a:xfrm>
          <a:prstGeom prst="rect">
            <a:avLst/>
          </a:prstGeom>
          <a:solidFill>
            <a:srgbClr val="12A566"/>
          </a:solidFill>
          <a:ln/>
        </p:spPr>
      </p:sp>
      <p:sp>
        <p:nvSpPr>
          <p:cNvPr id="71" name="Text 69"/>
          <p:cNvSpPr txBox="1"/>
          <p:nvPr/>
        </p:nvSpPr>
        <p:spPr>
          <a:xfrm>
            <a:off x="4754880" y="530047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591</a:t>
            </a:r>
            <a:endParaRPr lang="en-US" sz="1200" dirty="0"/>
          </a:p>
        </p:txBody>
      </p:sp>
      <p:sp>
        <p:nvSpPr>
          <p:cNvPr id="72" name="Text 70"/>
          <p:cNvSpPr txBox="1"/>
          <p:nvPr/>
        </p:nvSpPr>
        <p:spPr>
          <a:xfrm>
            <a:off x="658368" y="55087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5087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74" name="Shape 72"/>
          <p:cNvSpPr/>
          <p:nvPr/>
        </p:nvSpPr>
        <p:spPr>
          <a:xfrm>
            <a:off x="3008376" y="5560822"/>
            <a:ext cx="908517" cy="104140"/>
          </a:xfrm>
          <a:prstGeom prst="rect">
            <a:avLst/>
          </a:prstGeom>
          <a:solidFill>
            <a:srgbClr val="12A566"/>
          </a:solidFill>
          <a:ln/>
        </p:spPr>
      </p:sp>
      <p:sp>
        <p:nvSpPr>
          <p:cNvPr id="75" name="Text 73"/>
          <p:cNvSpPr txBox="1"/>
          <p:nvPr/>
        </p:nvSpPr>
        <p:spPr>
          <a:xfrm>
            <a:off x="4754880" y="550875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560</a:t>
            </a:r>
            <a:endParaRPr lang="en-US" sz="1200" dirty="0"/>
          </a:p>
        </p:txBody>
      </p:sp>
      <p:sp>
        <p:nvSpPr>
          <p:cNvPr id="76" name="Text 74"/>
          <p:cNvSpPr txBox="1"/>
          <p:nvPr/>
        </p:nvSpPr>
        <p:spPr>
          <a:xfrm>
            <a:off x="658368" y="57170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57170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8" name="Shape 76"/>
          <p:cNvSpPr/>
          <p:nvPr/>
        </p:nvSpPr>
        <p:spPr>
          <a:xfrm>
            <a:off x="3008376" y="5769102"/>
            <a:ext cx="693414" cy="104140"/>
          </a:xfrm>
          <a:prstGeom prst="rect">
            <a:avLst/>
          </a:prstGeom>
          <a:solidFill>
            <a:srgbClr val="12A566"/>
          </a:solidFill>
          <a:ln/>
        </p:spPr>
      </p:sp>
      <p:sp>
        <p:nvSpPr>
          <p:cNvPr id="79" name="Text 77"/>
          <p:cNvSpPr txBox="1"/>
          <p:nvPr/>
        </p:nvSpPr>
        <p:spPr>
          <a:xfrm>
            <a:off x="4754880" y="571703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427</a:t>
            </a:r>
            <a:endParaRPr lang="en-US" sz="1200" dirty="0"/>
          </a:p>
        </p:txBody>
      </p:sp>
      <p:sp>
        <p:nvSpPr>
          <p:cNvPr id="80" name="Text 78"/>
          <p:cNvSpPr txBox="1"/>
          <p:nvPr/>
        </p:nvSpPr>
        <p:spPr>
          <a:xfrm>
            <a:off x="6208776" y="21762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1" name="Text 79"/>
          <p:cNvSpPr txBox="1"/>
          <p:nvPr/>
        </p:nvSpPr>
        <p:spPr>
          <a:xfrm>
            <a:off x="6565392" y="21762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2" name="Shape 80"/>
          <p:cNvSpPr/>
          <p:nvPr/>
        </p:nvSpPr>
        <p:spPr>
          <a:xfrm>
            <a:off x="8558784" y="2228342"/>
            <a:ext cx="647677" cy="104140"/>
          </a:xfrm>
          <a:prstGeom prst="rect">
            <a:avLst/>
          </a:prstGeom>
          <a:solidFill>
            <a:srgbClr val="C2352F"/>
          </a:solidFill>
          <a:ln/>
        </p:spPr>
      </p:sp>
      <p:sp>
        <p:nvSpPr>
          <p:cNvPr id="83" name="Text 81"/>
          <p:cNvSpPr txBox="1"/>
          <p:nvPr/>
        </p:nvSpPr>
        <p:spPr>
          <a:xfrm>
            <a:off x="10305288" y="217627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399</a:t>
            </a:r>
            <a:endParaRPr lang="en-US" sz="1200" dirty="0"/>
          </a:p>
        </p:txBody>
      </p:sp>
      <p:sp>
        <p:nvSpPr>
          <p:cNvPr id="84" name="Text 82"/>
          <p:cNvSpPr txBox="1"/>
          <p:nvPr/>
        </p:nvSpPr>
        <p:spPr>
          <a:xfrm>
            <a:off x="6208776" y="23845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5" name="Text 83"/>
          <p:cNvSpPr txBox="1"/>
          <p:nvPr/>
        </p:nvSpPr>
        <p:spPr>
          <a:xfrm>
            <a:off x="6565392" y="23845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6" name="Shape 84"/>
          <p:cNvSpPr/>
          <p:nvPr/>
        </p:nvSpPr>
        <p:spPr>
          <a:xfrm>
            <a:off x="8558784" y="2436622"/>
            <a:ext cx="636291" cy="104140"/>
          </a:xfrm>
          <a:prstGeom prst="rect">
            <a:avLst/>
          </a:prstGeom>
          <a:solidFill>
            <a:srgbClr val="C2352F"/>
          </a:solidFill>
          <a:ln/>
        </p:spPr>
      </p:sp>
      <p:sp>
        <p:nvSpPr>
          <p:cNvPr id="87" name="Text 85"/>
          <p:cNvSpPr txBox="1"/>
          <p:nvPr/>
        </p:nvSpPr>
        <p:spPr>
          <a:xfrm>
            <a:off x="10305288" y="238455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392</a:t>
            </a:r>
            <a:endParaRPr lang="en-US" sz="1200" dirty="0"/>
          </a:p>
        </p:txBody>
      </p:sp>
      <p:sp>
        <p:nvSpPr>
          <p:cNvPr id="88" name="Text 86"/>
          <p:cNvSpPr txBox="1"/>
          <p:nvPr/>
        </p:nvSpPr>
        <p:spPr>
          <a:xfrm>
            <a:off x="6208776" y="25928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89" name="Text 87"/>
          <p:cNvSpPr txBox="1"/>
          <p:nvPr/>
        </p:nvSpPr>
        <p:spPr>
          <a:xfrm>
            <a:off x="6565392" y="25928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0" name="Shape 88"/>
          <p:cNvSpPr/>
          <p:nvPr/>
        </p:nvSpPr>
        <p:spPr>
          <a:xfrm>
            <a:off x="8558784" y="2644902"/>
            <a:ext cx="610998" cy="104140"/>
          </a:xfrm>
          <a:prstGeom prst="rect">
            <a:avLst/>
          </a:prstGeom>
          <a:solidFill>
            <a:srgbClr val="C2352F"/>
          </a:solidFill>
          <a:ln/>
        </p:spPr>
      </p:sp>
      <p:sp>
        <p:nvSpPr>
          <p:cNvPr id="91" name="Text 89"/>
          <p:cNvSpPr txBox="1"/>
          <p:nvPr/>
        </p:nvSpPr>
        <p:spPr>
          <a:xfrm>
            <a:off x="10305288" y="259283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376</a:t>
            </a:r>
            <a:endParaRPr lang="en-US" sz="1200" dirty="0"/>
          </a:p>
        </p:txBody>
      </p:sp>
      <p:sp>
        <p:nvSpPr>
          <p:cNvPr id="92" name="Text 90"/>
          <p:cNvSpPr txBox="1"/>
          <p:nvPr/>
        </p:nvSpPr>
        <p:spPr>
          <a:xfrm>
            <a:off x="6208776" y="28011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3" name="Text 91"/>
          <p:cNvSpPr txBox="1"/>
          <p:nvPr/>
        </p:nvSpPr>
        <p:spPr>
          <a:xfrm>
            <a:off x="6565392" y="28011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94" name="Shape 92"/>
          <p:cNvSpPr/>
          <p:nvPr/>
        </p:nvSpPr>
        <p:spPr>
          <a:xfrm>
            <a:off x="8558784" y="2853182"/>
            <a:ext cx="599576" cy="104140"/>
          </a:xfrm>
          <a:prstGeom prst="rect">
            <a:avLst/>
          </a:prstGeom>
          <a:solidFill>
            <a:srgbClr val="C2352F"/>
          </a:solidFill>
          <a:ln/>
        </p:spPr>
      </p:sp>
      <p:sp>
        <p:nvSpPr>
          <p:cNvPr id="95" name="Text 93"/>
          <p:cNvSpPr txBox="1"/>
          <p:nvPr/>
        </p:nvSpPr>
        <p:spPr>
          <a:xfrm>
            <a:off x="10305288" y="280111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369</a:t>
            </a:r>
            <a:endParaRPr lang="en-US" sz="1200" dirty="0"/>
          </a:p>
        </p:txBody>
      </p:sp>
      <p:sp>
        <p:nvSpPr>
          <p:cNvPr id="96" name="Text 94"/>
          <p:cNvSpPr txBox="1"/>
          <p:nvPr/>
        </p:nvSpPr>
        <p:spPr>
          <a:xfrm>
            <a:off x="6208776" y="30093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7" name="Text 95"/>
          <p:cNvSpPr txBox="1"/>
          <p:nvPr/>
        </p:nvSpPr>
        <p:spPr>
          <a:xfrm>
            <a:off x="6565392" y="30093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98" name="Shape 96"/>
          <p:cNvSpPr/>
          <p:nvPr/>
        </p:nvSpPr>
        <p:spPr>
          <a:xfrm>
            <a:off x="8558784" y="3061462"/>
            <a:ext cx="577815" cy="104140"/>
          </a:xfrm>
          <a:prstGeom prst="rect">
            <a:avLst/>
          </a:prstGeom>
          <a:solidFill>
            <a:srgbClr val="C2352F"/>
          </a:solidFill>
          <a:ln/>
        </p:spPr>
      </p:sp>
      <p:sp>
        <p:nvSpPr>
          <p:cNvPr id="99" name="Text 97"/>
          <p:cNvSpPr txBox="1"/>
          <p:nvPr/>
        </p:nvSpPr>
        <p:spPr>
          <a:xfrm>
            <a:off x="10305288" y="300939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356</a:t>
            </a:r>
            <a:endParaRPr lang="en-US" sz="1200" dirty="0"/>
          </a:p>
        </p:txBody>
      </p:sp>
      <p:sp>
        <p:nvSpPr>
          <p:cNvPr id="100" name="Text 98"/>
          <p:cNvSpPr txBox="1"/>
          <p:nvPr/>
        </p:nvSpPr>
        <p:spPr>
          <a:xfrm>
            <a:off x="6208776" y="32176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1" name="Text 99"/>
          <p:cNvSpPr txBox="1"/>
          <p:nvPr/>
        </p:nvSpPr>
        <p:spPr>
          <a:xfrm>
            <a:off x="6565392" y="32176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2" name="Shape 100"/>
          <p:cNvSpPr/>
          <p:nvPr/>
        </p:nvSpPr>
        <p:spPr>
          <a:xfrm>
            <a:off x="8558784" y="3269742"/>
            <a:ext cx="570170" cy="104140"/>
          </a:xfrm>
          <a:prstGeom prst="rect">
            <a:avLst/>
          </a:prstGeom>
          <a:solidFill>
            <a:srgbClr val="C2352F"/>
          </a:solidFill>
          <a:ln/>
        </p:spPr>
      </p:sp>
      <p:sp>
        <p:nvSpPr>
          <p:cNvPr id="103" name="Text 101"/>
          <p:cNvSpPr txBox="1"/>
          <p:nvPr/>
        </p:nvSpPr>
        <p:spPr>
          <a:xfrm>
            <a:off x="10305288" y="321767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351</a:t>
            </a:r>
            <a:endParaRPr lang="en-US" sz="1200" dirty="0"/>
          </a:p>
        </p:txBody>
      </p:sp>
      <p:sp>
        <p:nvSpPr>
          <p:cNvPr id="104" name="Text 102"/>
          <p:cNvSpPr txBox="1"/>
          <p:nvPr/>
        </p:nvSpPr>
        <p:spPr>
          <a:xfrm>
            <a:off x="6208776" y="34259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5" name="Text 103"/>
          <p:cNvSpPr txBox="1"/>
          <p:nvPr/>
        </p:nvSpPr>
        <p:spPr>
          <a:xfrm>
            <a:off x="6565392" y="34259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06" name="Shape 104"/>
          <p:cNvSpPr/>
          <p:nvPr/>
        </p:nvSpPr>
        <p:spPr>
          <a:xfrm>
            <a:off x="8558784" y="3478022"/>
            <a:ext cx="530626" cy="104140"/>
          </a:xfrm>
          <a:prstGeom prst="rect">
            <a:avLst/>
          </a:prstGeom>
          <a:solidFill>
            <a:srgbClr val="C2352F"/>
          </a:solidFill>
          <a:ln/>
        </p:spPr>
      </p:sp>
      <p:sp>
        <p:nvSpPr>
          <p:cNvPr id="107" name="Text 105"/>
          <p:cNvSpPr txBox="1"/>
          <p:nvPr/>
        </p:nvSpPr>
        <p:spPr>
          <a:xfrm>
            <a:off x="10305288" y="342595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327</a:t>
            </a:r>
            <a:endParaRPr lang="en-US" sz="1200" dirty="0"/>
          </a:p>
        </p:txBody>
      </p:sp>
      <p:sp>
        <p:nvSpPr>
          <p:cNvPr id="108" name="Text 106"/>
          <p:cNvSpPr txBox="1"/>
          <p:nvPr/>
        </p:nvSpPr>
        <p:spPr>
          <a:xfrm>
            <a:off x="6208776" y="36342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09" name="Text 107"/>
          <p:cNvSpPr txBox="1"/>
          <p:nvPr/>
        </p:nvSpPr>
        <p:spPr>
          <a:xfrm>
            <a:off x="6565392" y="36342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10" name="Shape 108"/>
          <p:cNvSpPr/>
          <p:nvPr/>
        </p:nvSpPr>
        <p:spPr>
          <a:xfrm>
            <a:off x="8558784" y="3686302"/>
            <a:ext cx="500448" cy="104140"/>
          </a:xfrm>
          <a:prstGeom prst="rect">
            <a:avLst/>
          </a:prstGeom>
          <a:solidFill>
            <a:srgbClr val="C2352F"/>
          </a:solidFill>
          <a:ln/>
        </p:spPr>
      </p:sp>
      <p:sp>
        <p:nvSpPr>
          <p:cNvPr id="111" name="Text 109"/>
          <p:cNvSpPr txBox="1"/>
          <p:nvPr/>
        </p:nvSpPr>
        <p:spPr>
          <a:xfrm>
            <a:off x="10305288" y="363423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308</a:t>
            </a:r>
            <a:endParaRPr lang="en-US" sz="1200" dirty="0"/>
          </a:p>
        </p:txBody>
      </p:sp>
      <p:sp>
        <p:nvSpPr>
          <p:cNvPr id="112" name="Text 110"/>
          <p:cNvSpPr txBox="1"/>
          <p:nvPr/>
        </p:nvSpPr>
        <p:spPr>
          <a:xfrm>
            <a:off x="6208776" y="38425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3" name="Text 111"/>
          <p:cNvSpPr txBox="1"/>
          <p:nvPr/>
        </p:nvSpPr>
        <p:spPr>
          <a:xfrm>
            <a:off x="6565392" y="38425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4" name="Shape 112"/>
          <p:cNvSpPr/>
          <p:nvPr/>
        </p:nvSpPr>
        <p:spPr>
          <a:xfrm>
            <a:off x="8558784" y="3894582"/>
            <a:ext cx="485961" cy="104140"/>
          </a:xfrm>
          <a:prstGeom prst="rect">
            <a:avLst/>
          </a:prstGeom>
          <a:solidFill>
            <a:srgbClr val="C2352F"/>
          </a:solidFill>
          <a:ln/>
        </p:spPr>
      </p:sp>
      <p:sp>
        <p:nvSpPr>
          <p:cNvPr id="115" name="Text 113"/>
          <p:cNvSpPr txBox="1"/>
          <p:nvPr/>
        </p:nvSpPr>
        <p:spPr>
          <a:xfrm>
            <a:off x="10305288" y="384251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299</a:t>
            </a:r>
            <a:endParaRPr lang="en-US" sz="1200" dirty="0"/>
          </a:p>
        </p:txBody>
      </p:sp>
      <p:sp>
        <p:nvSpPr>
          <p:cNvPr id="116" name="Text 114"/>
          <p:cNvSpPr txBox="1"/>
          <p:nvPr/>
        </p:nvSpPr>
        <p:spPr>
          <a:xfrm>
            <a:off x="6208776" y="40507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7" name="Text 115"/>
          <p:cNvSpPr txBox="1"/>
          <p:nvPr/>
        </p:nvSpPr>
        <p:spPr>
          <a:xfrm>
            <a:off x="6565392" y="40507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8" name="Shape 116"/>
          <p:cNvSpPr/>
          <p:nvPr/>
        </p:nvSpPr>
        <p:spPr>
          <a:xfrm>
            <a:off x="8558784" y="4102862"/>
            <a:ext cx="442919" cy="104140"/>
          </a:xfrm>
          <a:prstGeom prst="rect">
            <a:avLst/>
          </a:prstGeom>
          <a:solidFill>
            <a:srgbClr val="C2352F"/>
          </a:solidFill>
          <a:ln/>
        </p:spPr>
      </p:sp>
      <p:sp>
        <p:nvSpPr>
          <p:cNvPr id="119" name="Text 117"/>
          <p:cNvSpPr txBox="1"/>
          <p:nvPr/>
        </p:nvSpPr>
        <p:spPr>
          <a:xfrm>
            <a:off x="10305288" y="405079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273</a:t>
            </a:r>
            <a:endParaRPr lang="en-US" sz="1200" dirty="0"/>
          </a:p>
        </p:txBody>
      </p:sp>
      <p:sp>
        <p:nvSpPr>
          <p:cNvPr id="120" name="Text 118"/>
          <p:cNvSpPr txBox="1"/>
          <p:nvPr/>
        </p:nvSpPr>
        <p:spPr>
          <a:xfrm>
            <a:off x="6208776" y="42590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1" name="Text 119"/>
          <p:cNvSpPr txBox="1"/>
          <p:nvPr/>
        </p:nvSpPr>
        <p:spPr>
          <a:xfrm>
            <a:off x="6565392" y="42590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2" name="Shape 120"/>
          <p:cNvSpPr/>
          <p:nvPr/>
        </p:nvSpPr>
        <p:spPr>
          <a:xfrm>
            <a:off x="8558784" y="4311142"/>
            <a:ext cx="441477" cy="104140"/>
          </a:xfrm>
          <a:prstGeom prst="rect">
            <a:avLst/>
          </a:prstGeom>
          <a:solidFill>
            <a:srgbClr val="C2352F"/>
          </a:solidFill>
          <a:ln/>
        </p:spPr>
      </p:sp>
      <p:sp>
        <p:nvSpPr>
          <p:cNvPr id="123" name="Text 121"/>
          <p:cNvSpPr txBox="1"/>
          <p:nvPr/>
        </p:nvSpPr>
        <p:spPr>
          <a:xfrm>
            <a:off x="10305288" y="425907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272</a:t>
            </a:r>
            <a:endParaRPr lang="en-US" sz="1200" dirty="0"/>
          </a:p>
        </p:txBody>
      </p:sp>
      <p:sp>
        <p:nvSpPr>
          <p:cNvPr id="124" name="Text 122"/>
          <p:cNvSpPr txBox="1"/>
          <p:nvPr/>
        </p:nvSpPr>
        <p:spPr>
          <a:xfrm>
            <a:off x="6208776" y="44673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5" name="Text 123"/>
          <p:cNvSpPr txBox="1"/>
          <p:nvPr/>
        </p:nvSpPr>
        <p:spPr>
          <a:xfrm>
            <a:off x="6565392" y="44673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6" name="Shape 124"/>
          <p:cNvSpPr/>
          <p:nvPr/>
        </p:nvSpPr>
        <p:spPr>
          <a:xfrm>
            <a:off x="8558784" y="4519422"/>
            <a:ext cx="377230" cy="104140"/>
          </a:xfrm>
          <a:prstGeom prst="rect">
            <a:avLst/>
          </a:prstGeom>
          <a:solidFill>
            <a:srgbClr val="C2352F"/>
          </a:solidFill>
          <a:ln/>
        </p:spPr>
      </p:sp>
      <p:sp>
        <p:nvSpPr>
          <p:cNvPr id="127" name="Text 125"/>
          <p:cNvSpPr txBox="1"/>
          <p:nvPr/>
        </p:nvSpPr>
        <p:spPr>
          <a:xfrm>
            <a:off x="10305288" y="446735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232</a:t>
            </a:r>
            <a:endParaRPr lang="en-US" sz="1200" dirty="0"/>
          </a:p>
        </p:txBody>
      </p:sp>
      <p:sp>
        <p:nvSpPr>
          <p:cNvPr id="128" name="Text 126"/>
          <p:cNvSpPr txBox="1"/>
          <p:nvPr/>
        </p:nvSpPr>
        <p:spPr>
          <a:xfrm>
            <a:off x="6208776" y="46756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9" name="Text 127"/>
          <p:cNvSpPr txBox="1"/>
          <p:nvPr/>
        </p:nvSpPr>
        <p:spPr>
          <a:xfrm>
            <a:off x="6565392" y="46756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0" name="Shape 128"/>
          <p:cNvSpPr/>
          <p:nvPr/>
        </p:nvSpPr>
        <p:spPr>
          <a:xfrm>
            <a:off x="8558784" y="4727702"/>
            <a:ext cx="373849" cy="104140"/>
          </a:xfrm>
          <a:prstGeom prst="rect">
            <a:avLst/>
          </a:prstGeom>
          <a:solidFill>
            <a:srgbClr val="C2352F"/>
          </a:solidFill>
          <a:ln/>
        </p:spPr>
      </p:sp>
      <p:sp>
        <p:nvSpPr>
          <p:cNvPr id="131" name="Text 129"/>
          <p:cNvSpPr txBox="1"/>
          <p:nvPr/>
        </p:nvSpPr>
        <p:spPr>
          <a:xfrm>
            <a:off x="10305288" y="467563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230</a:t>
            </a:r>
            <a:endParaRPr lang="en-US" sz="1200" dirty="0"/>
          </a:p>
        </p:txBody>
      </p:sp>
      <p:sp>
        <p:nvSpPr>
          <p:cNvPr id="132" name="Text 130"/>
          <p:cNvSpPr txBox="1"/>
          <p:nvPr/>
        </p:nvSpPr>
        <p:spPr>
          <a:xfrm>
            <a:off x="6208776" y="48839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3" name="Text 131"/>
          <p:cNvSpPr txBox="1"/>
          <p:nvPr/>
        </p:nvSpPr>
        <p:spPr>
          <a:xfrm>
            <a:off x="6565392" y="48839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4" name="Shape 132"/>
          <p:cNvSpPr/>
          <p:nvPr/>
        </p:nvSpPr>
        <p:spPr>
          <a:xfrm>
            <a:off x="8558784" y="4935982"/>
            <a:ext cx="357077" cy="104140"/>
          </a:xfrm>
          <a:prstGeom prst="rect">
            <a:avLst/>
          </a:prstGeom>
          <a:solidFill>
            <a:srgbClr val="C2352F"/>
          </a:solidFill>
          <a:ln/>
        </p:spPr>
      </p:sp>
      <p:sp>
        <p:nvSpPr>
          <p:cNvPr id="135" name="Text 133"/>
          <p:cNvSpPr txBox="1"/>
          <p:nvPr/>
        </p:nvSpPr>
        <p:spPr>
          <a:xfrm>
            <a:off x="10305288" y="488391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220</a:t>
            </a:r>
            <a:endParaRPr lang="en-US" sz="1200" dirty="0"/>
          </a:p>
        </p:txBody>
      </p:sp>
      <p:sp>
        <p:nvSpPr>
          <p:cNvPr id="136" name="Text 134"/>
          <p:cNvSpPr txBox="1"/>
          <p:nvPr/>
        </p:nvSpPr>
        <p:spPr>
          <a:xfrm>
            <a:off x="6208776" y="50921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7" name="Text 135"/>
          <p:cNvSpPr txBox="1"/>
          <p:nvPr/>
        </p:nvSpPr>
        <p:spPr>
          <a:xfrm>
            <a:off x="6565392" y="50921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8" name="Shape 136"/>
          <p:cNvSpPr/>
          <p:nvPr/>
        </p:nvSpPr>
        <p:spPr>
          <a:xfrm>
            <a:off x="8558784" y="5144262"/>
            <a:ext cx="329917" cy="104140"/>
          </a:xfrm>
          <a:prstGeom prst="rect">
            <a:avLst/>
          </a:prstGeom>
          <a:solidFill>
            <a:srgbClr val="C2352F"/>
          </a:solidFill>
          <a:ln/>
        </p:spPr>
      </p:sp>
      <p:sp>
        <p:nvSpPr>
          <p:cNvPr id="139" name="Text 137"/>
          <p:cNvSpPr txBox="1"/>
          <p:nvPr/>
        </p:nvSpPr>
        <p:spPr>
          <a:xfrm>
            <a:off x="10305288" y="509219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203</a:t>
            </a:r>
            <a:endParaRPr lang="en-US" sz="1200" dirty="0"/>
          </a:p>
        </p:txBody>
      </p:sp>
      <p:sp>
        <p:nvSpPr>
          <p:cNvPr id="140" name="Text 138"/>
          <p:cNvSpPr txBox="1"/>
          <p:nvPr/>
        </p:nvSpPr>
        <p:spPr>
          <a:xfrm>
            <a:off x="6208776" y="53004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1" name="Text 139"/>
          <p:cNvSpPr txBox="1"/>
          <p:nvPr/>
        </p:nvSpPr>
        <p:spPr>
          <a:xfrm>
            <a:off x="6565392" y="53004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42" name="Shape 140"/>
          <p:cNvSpPr/>
          <p:nvPr/>
        </p:nvSpPr>
        <p:spPr>
          <a:xfrm>
            <a:off x="8558784" y="5352542"/>
            <a:ext cx="312404" cy="104140"/>
          </a:xfrm>
          <a:prstGeom prst="rect">
            <a:avLst/>
          </a:prstGeom>
          <a:solidFill>
            <a:srgbClr val="C2352F"/>
          </a:solidFill>
          <a:ln/>
        </p:spPr>
      </p:sp>
      <p:sp>
        <p:nvSpPr>
          <p:cNvPr id="143" name="Text 141"/>
          <p:cNvSpPr txBox="1"/>
          <p:nvPr/>
        </p:nvSpPr>
        <p:spPr>
          <a:xfrm>
            <a:off x="10305288" y="530047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192</a:t>
            </a:r>
            <a:endParaRPr lang="en-US" sz="1200" dirty="0"/>
          </a:p>
        </p:txBody>
      </p:sp>
      <p:sp>
        <p:nvSpPr>
          <p:cNvPr id="144" name="Text 142"/>
          <p:cNvSpPr txBox="1"/>
          <p:nvPr/>
        </p:nvSpPr>
        <p:spPr>
          <a:xfrm>
            <a:off x="6208776" y="55087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5" name="Text 143"/>
          <p:cNvSpPr txBox="1"/>
          <p:nvPr/>
        </p:nvSpPr>
        <p:spPr>
          <a:xfrm>
            <a:off x="6565392" y="55087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6" name="Shape 144"/>
          <p:cNvSpPr/>
          <p:nvPr/>
        </p:nvSpPr>
        <p:spPr>
          <a:xfrm>
            <a:off x="8558784" y="5560822"/>
            <a:ext cx="249232" cy="104140"/>
          </a:xfrm>
          <a:prstGeom prst="rect">
            <a:avLst/>
          </a:prstGeom>
          <a:solidFill>
            <a:srgbClr val="C2352F"/>
          </a:solidFill>
          <a:ln/>
        </p:spPr>
      </p:sp>
      <p:sp>
        <p:nvSpPr>
          <p:cNvPr id="147" name="Text 145"/>
          <p:cNvSpPr txBox="1"/>
          <p:nvPr/>
        </p:nvSpPr>
        <p:spPr>
          <a:xfrm>
            <a:off x="10305288" y="550875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154</a:t>
            </a:r>
            <a:endParaRPr lang="en-US" sz="1200" dirty="0"/>
          </a:p>
        </p:txBody>
      </p:sp>
      <p:sp>
        <p:nvSpPr>
          <p:cNvPr id="148" name="Shape 146"/>
          <p:cNvSpPr/>
          <p:nvPr/>
        </p:nvSpPr>
        <p:spPr>
          <a:xfrm>
            <a:off x="3679521" y="2176272"/>
            <a:ext cx="14630" cy="3749040"/>
          </a:xfrm>
          <a:prstGeom prst="rect">
            <a:avLst/>
          </a:prstGeom>
          <a:solidFill>
            <a:srgbClr val="0B2C4A"/>
          </a:solidFill>
          <a:ln/>
        </p:spPr>
      </p:sp>
      <p:sp>
        <p:nvSpPr>
          <p:cNvPr id="149" name="Shape 147"/>
          <p:cNvSpPr/>
          <p:nvPr/>
        </p:nvSpPr>
        <p:spPr>
          <a:xfrm>
            <a:off x="9229929" y="2176272"/>
            <a:ext cx="14630" cy="3749040"/>
          </a:xfrm>
          <a:prstGeom prst="rect">
            <a:avLst/>
          </a:prstGeom>
          <a:solidFill>
            <a:srgbClr val="0B2C4A"/>
          </a:solidFill>
          <a:ln/>
        </p:spPr>
      </p:sp>
      <p:sp>
        <p:nvSpPr>
          <p:cNvPr id="150" name="Shape 148"/>
          <p:cNvSpPr/>
          <p:nvPr/>
        </p:nvSpPr>
        <p:spPr>
          <a:xfrm>
            <a:off x="6085332" y="2176272"/>
            <a:ext cx="10973" cy="3749040"/>
          </a:xfrm>
          <a:prstGeom prst="rect">
            <a:avLst/>
          </a:prstGeom>
          <a:solidFill>
            <a:srgbClr val="D9D9D9"/>
          </a:solidFill>
          <a:ln/>
        </p:spPr>
      </p:sp>
      <p:sp>
        <p:nvSpPr>
          <p:cNvPr id="151" name="Shape 149"/>
          <p:cNvSpPr/>
          <p:nvPr/>
        </p:nvSpPr>
        <p:spPr>
          <a:xfrm>
            <a:off x="457200" y="6126480"/>
            <a:ext cx="11274552" cy="615696"/>
          </a:xfrm>
          <a:prstGeom prst="rect">
            <a:avLst/>
          </a:prstGeom>
          <a:solidFill>
            <a:srgbClr val="EDF4FA"/>
          </a:solidFill>
          <a:ln/>
        </p:spPr>
      </p:sp>
      <p:sp>
        <p:nvSpPr>
          <p:cNvPr id="152" name="Text 15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Against their own segment, 5 of 9 luxury stores beat 276 and 7 of 24 others beat 418. Toyota Henderson leads non-luxury at 1,022.</a:t>
            </a:r>
            <a:endParaRPr lang="en-US" sz="1600" dirty="0"/>
          </a:p>
        </p:txBody>
      </p:sp>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Manager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4442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FIXED MANAGER</a:t>
            </a:r>
            <a:endParaRPr lang="en-US" sz="1500" dirty="0"/>
          </a:p>
        </p:txBody>
      </p:sp>
      <p:sp>
        <p:nvSpPr>
          <p:cNvPr id="9" name="Text 7"/>
          <p:cNvSpPr txBox="1"/>
          <p:nvPr/>
        </p:nvSpPr>
        <p:spPr>
          <a:xfrm>
            <a:off x="4358640" y="1335024"/>
            <a:ext cx="36880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+13</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3785616" y="1911860"/>
            <a:ext cx="503191"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+182</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7" name="Shape 15"/>
          <p:cNvSpPr/>
          <p:nvPr/>
        </p:nvSpPr>
        <p:spPr>
          <a:xfrm>
            <a:off x="3785616" y="2151755"/>
            <a:ext cx="469619"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21" name="Shape 19"/>
          <p:cNvSpPr/>
          <p:nvPr/>
        </p:nvSpPr>
        <p:spPr>
          <a:xfrm>
            <a:off x="3785616" y="2391651"/>
            <a:ext cx="335572"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+121</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5" name="Shape 23"/>
          <p:cNvSpPr/>
          <p:nvPr/>
        </p:nvSpPr>
        <p:spPr>
          <a:xfrm>
            <a:off x="3785616" y="2631546"/>
            <a:ext cx="330812"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+120</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9" name="Shape 27"/>
          <p:cNvSpPr/>
          <p:nvPr/>
        </p:nvSpPr>
        <p:spPr>
          <a:xfrm>
            <a:off x="3785616" y="2871442"/>
            <a:ext cx="322124"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+116</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33" name="Shape 31"/>
          <p:cNvSpPr/>
          <p:nvPr/>
        </p:nvSpPr>
        <p:spPr>
          <a:xfrm>
            <a:off x="3785616" y="3111337"/>
            <a:ext cx="146890"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7" name="Shape 35"/>
          <p:cNvSpPr/>
          <p:nvPr/>
        </p:nvSpPr>
        <p:spPr>
          <a:xfrm>
            <a:off x="3785616" y="3351233"/>
            <a:ext cx="132129"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+48</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1" name="Shape 39"/>
          <p:cNvSpPr/>
          <p:nvPr/>
        </p:nvSpPr>
        <p:spPr>
          <a:xfrm>
            <a:off x="3785616" y="3591128"/>
            <a:ext cx="129359"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5" name="Shape 43"/>
          <p:cNvSpPr/>
          <p:nvPr/>
        </p:nvSpPr>
        <p:spPr>
          <a:xfrm>
            <a:off x="3785616" y="3831024"/>
            <a:ext cx="122411"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49" name="Shape 47"/>
          <p:cNvSpPr/>
          <p:nvPr/>
        </p:nvSpPr>
        <p:spPr>
          <a:xfrm>
            <a:off x="3785616" y="4070920"/>
            <a:ext cx="105953"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785616" y="4310815"/>
            <a:ext cx="63458"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7" name="Shape 55"/>
          <p:cNvSpPr/>
          <p:nvPr/>
        </p:nvSpPr>
        <p:spPr>
          <a:xfrm>
            <a:off x="3785616" y="4550711"/>
            <a:ext cx="48093"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61" name="Shape 59"/>
          <p:cNvSpPr/>
          <p:nvPr/>
        </p:nvSpPr>
        <p:spPr>
          <a:xfrm>
            <a:off x="3785616" y="4790606"/>
            <a:ext cx="39795"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65" name="Shape 63"/>
          <p:cNvSpPr/>
          <p:nvPr/>
        </p:nvSpPr>
        <p:spPr>
          <a:xfrm>
            <a:off x="3785616" y="5030502"/>
            <a:ext cx="29040"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9" name="Shape 67"/>
          <p:cNvSpPr/>
          <p:nvPr/>
        </p:nvSpPr>
        <p:spPr>
          <a:xfrm>
            <a:off x="3785616" y="5270397"/>
            <a:ext cx="28477"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3" name="Shape 71"/>
          <p:cNvSpPr/>
          <p:nvPr/>
        </p:nvSpPr>
        <p:spPr>
          <a:xfrm>
            <a:off x="3785616" y="5510293"/>
            <a:ext cx="14904"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77" name="Shape 75"/>
          <p:cNvSpPr/>
          <p:nvPr/>
        </p:nvSpPr>
        <p:spPr>
          <a:xfrm>
            <a:off x="3785616" y="5750188"/>
            <a:ext cx="12802"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1" name="Shape 79"/>
          <p:cNvSpPr/>
          <p:nvPr/>
        </p:nvSpPr>
        <p:spPr>
          <a:xfrm>
            <a:off x="9336024" y="1911860"/>
            <a:ext cx="1280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5" name="Shape 83"/>
          <p:cNvSpPr/>
          <p:nvPr/>
        </p:nvSpPr>
        <p:spPr>
          <a:xfrm>
            <a:off x="9336024" y="2151755"/>
            <a:ext cx="1280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89" name="Shape 87"/>
          <p:cNvSpPr/>
          <p:nvPr/>
        </p:nvSpPr>
        <p:spPr>
          <a:xfrm>
            <a:off x="9336024" y="2391651"/>
            <a:ext cx="12802"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93" name="Shape 91"/>
          <p:cNvSpPr/>
          <p:nvPr/>
        </p:nvSpPr>
        <p:spPr>
          <a:xfrm>
            <a:off x="9336024" y="2631546"/>
            <a:ext cx="12802"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7" name="Shape 95"/>
          <p:cNvSpPr/>
          <p:nvPr/>
        </p:nvSpPr>
        <p:spPr>
          <a:xfrm>
            <a:off x="9336024" y="2871442"/>
            <a:ext cx="12802"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1" name="Shape 99"/>
          <p:cNvSpPr/>
          <p:nvPr/>
        </p:nvSpPr>
        <p:spPr>
          <a:xfrm>
            <a:off x="9321794" y="3111337"/>
            <a:ext cx="14230"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5" name="Shape 103"/>
          <p:cNvSpPr/>
          <p:nvPr/>
        </p:nvSpPr>
        <p:spPr>
          <a:xfrm>
            <a:off x="9260296" y="3351233"/>
            <a:ext cx="75728"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9" name="Shape 107"/>
          <p:cNvSpPr/>
          <p:nvPr/>
        </p:nvSpPr>
        <p:spPr>
          <a:xfrm>
            <a:off x="9258738" y="3591128"/>
            <a:ext cx="77286"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3" name="Shape 111"/>
          <p:cNvSpPr/>
          <p:nvPr/>
        </p:nvSpPr>
        <p:spPr>
          <a:xfrm>
            <a:off x="9257048" y="3831024"/>
            <a:ext cx="78976"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17" name="Shape 115"/>
          <p:cNvSpPr/>
          <p:nvPr/>
        </p:nvSpPr>
        <p:spPr>
          <a:xfrm>
            <a:off x="9246915" y="4070920"/>
            <a:ext cx="89109"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1" name="Shape 119"/>
          <p:cNvSpPr/>
          <p:nvPr/>
        </p:nvSpPr>
        <p:spPr>
          <a:xfrm>
            <a:off x="9238712" y="4310815"/>
            <a:ext cx="97312"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25" name="Shape 123"/>
          <p:cNvSpPr/>
          <p:nvPr/>
        </p:nvSpPr>
        <p:spPr>
          <a:xfrm>
            <a:off x="9192589" y="4550711"/>
            <a:ext cx="143435"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9" name="Shape 127"/>
          <p:cNvSpPr/>
          <p:nvPr/>
        </p:nvSpPr>
        <p:spPr>
          <a:xfrm>
            <a:off x="9181874" y="4790606"/>
            <a:ext cx="154150"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−56</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33" name="Shape 131"/>
          <p:cNvSpPr/>
          <p:nvPr/>
        </p:nvSpPr>
        <p:spPr>
          <a:xfrm>
            <a:off x="9137803" y="5030502"/>
            <a:ext cx="198221"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7" name="Shape 135"/>
          <p:cNvSpPr/>
          <p:nvPr/>
        </p:nvSpPr>
        <p:spPr>
          <a:xfrm>
            <a:off x="9074707" y="5270397"/>
            <a:ext cx="261317"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−281</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 of 33 stores raised ROs per manager, led by Toyota Henderson at +182 to 1,022. 11 declined; Mazda fell most at −281.</a:t>
            </a:r>
            <a:endParaRPr lang="en-US" sz="1600" dirty="0"/>
          </a:p>
        </p:txBody>
      </p:sp>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Manager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840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1,022</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+182</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686</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+170</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536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657</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+121</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471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591</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+120</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649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765</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+116</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841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560</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−281</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403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308</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−94</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448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376</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−72</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448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392</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−56</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403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351</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−52</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854</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+339</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899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1,134</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+235</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326</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+168</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264</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+122</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717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814</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+97</a:t>
            </a:r>
            <a:endParaRPr lang="en-US" sz="1600" dirty="0"/>
          </a:p>
        </p:txBody>
      </p:sp>
      <p:sp>
        <p:nvSpPr>
          <p:cNvPr id="69" name="Shape 67"/>
          <p:cNvSpPr/>
          <p:nvPr/>
        </p:nvSpPr>
        <p:spPr>
          <a:xfrm>
            <a:off x="457200" y="6126480"/>
            <a:ext cx="11274552" cy="554736"/>
          </a:xfrm>
          <a:prstGeom prst="rect">
            <a:avLst/>
          </a:prstGeom>
          <a:solidFill>
            <a:srgbClr val="EDF4FA"/>
          </a:solidFill>
          <a:ln/>
        </p:spPr>
      </p:sp>
      <p:sp>
        <p:nvSpPr>
          <p:cNvPr id="70" name="Text 68"/>
          <p:cNvSpPr txBox="1"/>
          <p:nvPr/>
        </p:nvSpPr>
        <p:spPr>
          <a:xfrm>
            <a:off x="658368" y="6144768"/>
            <a:ext cx="10927080" cy="51816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Ask Toyota Henderson, Toyota Spokane and Toyota Prescott what changed. Ask Mazda, Subaru St George and Honda Spokane what got in the way. Ask Toyota Prescott, Toyota Henderson and VW St George what they started this year.</a:t>
            </a:r>
            <a:endParaRPr lang="en-US" sz="1400" dirty="0"/>
          </a:p>
        </p:txBody>
      </p:sp>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Headcount</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1,624</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1,541</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2C4A"/>
                </a:solidFill>
                <a:latin typeface="Inter" pitchFamily="34" charset="0"/>
                <a:ea typeface="Inter" pitchFamily="34" charset="-122"/>
                <a:cs typeface="Inter" pitchFamily="34" charset="-120"/>
              </a:rPr>
              <a:t>−83</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2C4A"/>
                </a:solidFill>
                <a:latin typeface="Inter" pitchFamily="34" charset="0"/>
                <a:ea typeface="Inter" pitchFamily="34" charset="-122"/>
                <a:cs typeface="Inter" pitchFamily="34" charset="-120"/>
              </a:rPr>
              <a:t>−5.1%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employees at month end,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371856"/>
          </a:xfrm>
          <a:prstGeom prst="rect">
            <a:avLst/>
          </a:prstGeom>
          <a:solidFill>
            <a:srgbClr val="EDF4FA"/>
          </a:solidFill>
          <a:ln/>
        </p:spPr>
      </p:sp>
      <p:sp>
        <p:nvSpPr>
          <p:cNvPr id="28"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Fixed ops headcount fell 76 to 1,540 (−4.7%), Sep to Sep; CP &amp; W ROs fell 2.3% year to date.</a:t>
            </a:r>
            <a:endParaRPr lang="en-US" sz="1600" dirty="0"/>
          </a:p>
        </p:txBody>
      </p:sp>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Headcount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812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HEADCOUNT</a:t>
            </a:r>
            <a:endParaRPr lang="en-US" sz="1500" dirty="0"/>
          </a:p>
        </p:txBody>
      </p:sp>
      <p:sp>
        <p:nvSpPr>
          <p:cNvPr id="9" name="Text 7"/>
          <p:cNvSpPr txBox="1"/>
          <p:nvPr/>
        </p:nvSpPr>
        <p:spPr>
          <a:xfrm>
            <a:off x="3295650" y="1335024"/>
            <a:ext cx="475107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 2026 VS SEP 2025</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−76</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 name="Shape 11"/>
          <p:cNvSpPr/>
          <p:nvPr/>
        </p:nvSpPr>
        <p:spPr>
          <a:xfrm>
            <a:off x="3785616" y="1911860"/>
            <a:ext cx="185057" cy="110352"/>
          </a:xfrm>
          <a:prstGeom prst="rect">
            <a:avLst/>
          </a:prstGeom>
          <a:solidFill>
            <a:srgbClr val="2587C5"/>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7" name="Shape 15"/>
          <p:cNvSpPr/>
          <p:nvPr/>
        </p:nvSpPr>
        <p:spPr>
          <a:xfrm>
            <a:off x="3785616" y="2151755"/>
            <a:ext cx="148046" cy="110352"/>
          </a:xfrm>
          <a:prstGeom prst="rect">
            <a:avLst/>
          </a:prstGeom>
          <a:solidFill>
            <a:srgbClr val="2587C5"/>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1" name="Shape 19"/>
          <p:cNvSpPr/>
          <p:nvPr/>
        </p:nvSpPr>
        <p:spPr>
          <a:xfrm>
            <a:off x="3785616" y="2391651"/>
            <a:ext cx="148046" cy="110352"/>
          </a:xfrm>
          <a:prstGeom prst="rect">
            <a:avLst/>
          </a:prstGeom>
          <a:solidFill>
            <a:srgbClr val="2587C5"/>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5" name="Shape 23"/>
          <p:cNvSpPr/>
          <p:nvPr/>
        </p:nvSpPr>
        <p:spPr>
          <a:xfrm>
            <a:off x="3785616" y="2631546"/>
            <a:ext cx="111034" cy="110352"/>
          </a:xfrm>
          <a:prstGeom prst="rect">
            <a:avLst/>
          </a:prstGeom>
          <a:solidFill>
            <a:srgbClr val="2587C5"/>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9" name="Shape 27"/>
          <p:cNvSpPr/>
          <p:nvPr/>
        </p:nvSpPr>
        <p:spPr>
          <a:xfrm>
            <a:off x="3785616" y="2871442"/>
            <a:ext cx="111034" cy="110352"/>
          </a:xfrm>
          <a:prstGeom prst="rect">
            <a:avLst/>
          </a:prstGeom>
          <a:solidFill>
            <a:srgbClr val="2587C5"/>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33" name="Shape 31"/>
          <p:cNvSpPr/>
          <p:nvPr/>
        </p:nvSpPr>
        <p:spPr>
          <a:xfrm>
            <a:off x="3785616" y="3111337"/>
            <a:ext cx="74023" cy="110352"/>
          </a:xfrm>
          <a:prstGeom prst="rect">
            <a:avLst/>
          </a:prstGeom>
          <a:solidFill>
            <a:srgbClr val="2587C5"/>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7" name="Shape 35"/>
          <p:cNvSpPr/>
          <p:nvPr/>
        </p:nvSpPr>
        <p:spPr>
          <a:xfrm>
            <a:off x="3785616" y="3351233"/>
            <a:ext cx="37011" cy="110352"/>
          </a:xfrm>
          <a:prstGeom prst="rect">
            <a:avLst/>
          </a:prstGeom>
          <a:solidFill>
            <a:srgbClr val="2587C5"/>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1" name="Shape 39"/>
          <p:cNvSpPr/>
          <p:nvPr/>
        </p:nvSpPr>
        <p:spPr>
          <a:xfrm>
            <a:off x="3785616" y="3591128"/>
            <a:ext cx="37011" cy="110352"/>
          </a:xfrm>
          <a:prstGeom prst="rect">
            <a:avLst/>
          </a:prstGeom>
          <a:solidFill>
            <a:srgbClr val="2587C5"/>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5" name="Shape 43"/>
          <p:cNvSpPr/>
          <p:nvPr/>
        </p:nvSpPr>
        <p:spPr>
          <a:xfrm>
            <a:off x="3785616" y="3831024"/>
            <a:ext cx="37011" cy="110352"/>
          </a:xfrm>
          <a:prstGeom prst="rect">
            <a:avLst/>
          </a:prstGeom>
          <a:solidFill>
            <a:srgbClr val="2587C5"/>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49" name="Shape 47"/>
          <p:cNvSpPr/>
          <p:nvPr/>
        </p:nvSpPr>
        <p:spPr>
          <a:xfrm>
            <a:off x="3785616" y="4070920"/>
            <a:ext cx="37011" cy="110352"/>
          </a:xfrm>
          <a:prstGeom prst="rect">
            <a:avLst/>
          </a:prstGeom>
          <a:solidFill>
            <a:srgbClr val="2587C5"/>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53" name="Shape 51"/>
          <p:cNvSpPr/>
          <p:nvPr/>
        </p:nvSpPr>
        <p:spPr>
          <a:xfrm>
            <a:off x="3748605" y="4310815"/>
            <a:ext cx="37011" cy="110352"/>
          </a:xfrm>
          <a:prstGeom prst="rect">
            <a:avLst/>
          </a:prstGeom>
          <a:solidFill>
            <a:srgbClr val="2587C5"/>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7" name="Shape 55"/>
          <p:cNvSpPr/>
          <p:nvPr/>
        </p:nvSpPr>
        <p:spPr>
          <a:xfrm>
            <a:off x="3748605" y="4550711"/>
            <a:ext cx="37011" cy="110352"/>
          </a:xfrm>
          <a:prstGeom prst="rect">
            <a:avLst/>
          </a:prstGeom>
          <a:solidFill>
            <a:srgbClr val="2587C5"/>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1" name="Shape 59"/>
          <p:cNvSpPr/>
          <p:nvPr/>
        </p:nvSpPr>
        <p:spPr>
          <a:xfrm>
            <a:off x="3748605" y="4790606"/>
            <a:ext cx="37011" cy="110352"/>
          </a:xfrm>
          <a:prstGeom prst="rect">
            <a:avLst/>
          </a:prstGeom>
          <a:solidFill>
            <a:srgbClr val="2587C5"/>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5" name="Shape 63"/>
          <p:cNvSpPr/>
          <p:nvPr/>
        </p:nvSpPr>
        <p:spPr>
          <a:xfrm>
            <a:off x="3748605" y="5030502"/>
            <a:ext cx="37011" cy="110352"/>
          </a:xfrm>
          <a:prstGeom prst="rect">
            <a:avLst/>
          </a:prstGeom>
          <a:solidFill>
            <a:srgbClr val="2587C5"/>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9" name="Shape 67"/>
          <p:cNvSpPr/>
          <p:nvPr/>
        </p:nvSpPr>
        <p:spPr>
          <a:xfrm>
            <a:off x="3748605" y="5270397"/>
            <a:ext cx="37011" cy="110352"/>
          </a:xfrm>
          <a:prstGeom prst="rect">
            <a:avLst/>
          </a:prstGeom>
          <a:solidFill>
            <a:srgbClr val="2587C5"/>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3" name="Shape 71"/>
          <p:cNvSpPr/>
          <p:nvPr/>
        </p:nvSpPr>
        <p:spPr>
          <a:xfrm>
            <a:off x="3748605" y="5510293"/>
            <a:ext cx="37011" cy="110352"/>
          </a:xfrm>
          <a:prstGeom prst="rect">
            <a:avLst/>
          </a:prstGeom>
          <a:solidFill>
            <a:srgbClr val="2587C5"/>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77" name="Shape 75"/>
          <p:cNvSpPr/>
          <p:nvPr/>
        </p:nvSpPr>
        <p:spPr>
          <a:xfrm>
            <a:off x="3748605" y="5750188"/>
            <a:ext cx="37011" cy="110352"/>
          </a:xfrm>
          <a:prstGeom prst="rect">
            <a:avLst/>
          </a:prstGeom>
          <a:solidFill>
            <a:srgbClr val="2587C5"/>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1" name="Shape 79"/>
          <p:cNvSpPr/>
          <p:nvPr/>
        </p:nvSpPr>
        <p:spPr>
          <a:xfrm>
            <a:off x="9299013" y="1911860"/>
            <a:ext cx="37011" cy="110352"/>
          </a:xfrm>
          <a:prstGeom prst="rect">
            <a:avLst/>
          </a:prstGeom>
          <a:solidFill>
            <a:srgbClr val="2587C5"/>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85" name="Shape 83"/>
          <p:cNvSpPr/>
          <p:nvPr/>
        </p:nvSpPr>
        <p:spPr>
          <a:xfrm>
            <a:off x="9299013" y="2151755"/>
            <a:ext cx="37011" cy="110352"/>
          </a:xfrm>
          <a:prstGeom prst="rect">
            <a:avLst/>
          </a:prstGeom>
          <a:solidFill>
            <a:srgbClr val="2587C5"/>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9" name="Shape 87"/>
          <p:cNvSpPr/>
          <p:nvPr/>
        </p:nvSpPr>
        <p:spPr>
          <a:xfrm>
            <a:off x="9262001" y="2391651"/>
            <a:ext cx="74023" cy="110352"/>
          </a:xfrm>
          <a:prstGeom prst="rect">
            <a:avLst/>
          </a:prstGeom>
          <a:solidFill>
            <a:srgbClr val="2587C5"/>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93" name="Shape 91"/>
          <p:cNvSpPr/>
          <p:nvPr/>
        </p:nvSpPr>
        <p:spPr>
          <a:xfrm>
            <a:off x="9262001" y="2631546"/>
            <a:ext cx="74023" cy="110352"/>
          </a:xfrm>
          <a:prstGeom prst="rect">
            <a:avLst/>
          </a:prstGeom>
          <a:solidFill>
            <a:srgbClr val="2587C5"/>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97" name="Shape 95"/>
          <p:cNvSpPr/>
          <p:nvPr/>
        </p:nvSpPr>
        <p:spPr>
          <a:xfrm>
            <a:off x="9224990" y="2871442"/>
            <a:ext cx="111034" cy="110352"/>
          </a:xfrm>
          <a:prstGeom prst="rect">
            <a:avLst/>
          </a:prstGeom>
          <a:solidFill>
            <a:srgbClr val="2587C5"/>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1" name="Shape 99"/>
          <p:cNvSpPr/>
          <p:nvPr/>
        </p:nvSpPr>
        <p:spPr>
          <a:xfrm>
            <a:off x="9224990" y="3111337"/>
            <a:ext cx="111034" cy="110352"/>
          </a:xfrm>
          <a:prstGeom prst="rect">
            <a:avLst/>
          </a:prstGeom>
          <a:solidFill>
            <a:srgbClr val="2587C5"/>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5" name="Shape 103"/>
          <p:cNvSpPr/>
          <p:nvPr/>
        </p:nvSpPr>
        <p:spPr>
          <a:xfrm>
            <a:off x="9224990" y="3351233"/>
            <a:ext cx="111034" cy="110352"/>
          </a:xfrm>
          <a:prstGeom prst="rect">
            <a:avLst/>
          </a:prstGeom>
          <a:solidFill>
            <a:srgbClr val="2587C5"/>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9" name="Shape 107"/>
          <p:cNvSpPr/>
          <p:nvPr/>
        </p:nvSpPr>
        <p:spPr>
          <a:xfrm>
            <a:off x="9187978" y="3591128"/>
            <a:ext cx="148046" cy="110352"/>
          </a:xfrm>
          <a:prstGeom prst="rect">
            <a:avLst/>
          </a:prstGeom>
          <a:solidFill>
            <a:srgbClr val="2587C5"/>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13" name="Shape 111"/>
          <p:cNvSpPr/>
          <p:nvPr/>
        </p:nvSpPr>
        <p:spPr>
          <a:xfrm>
            <a:off x="9187978" y="3831024"/>
            <a:ext cx="148046" cy="110352"/>
          </a:xfrm>
          <a:prstGeom prst="rect">
            <a:avLst/>
          </a:prstGeom>
          <a:solidFill>
            <a:srgbClr val="2587C5"/>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7" name="Shape 115"/>
          <p:cNvSpPr/>
          <p:nvPr/>
        </p:nvSpPr>
        <p:spPr>
          <a:xfrm>
            <a:off x="9113955" y="4070920"/>
            <a:ext cx="222069" cy="110352"/>
          </a:xfrm>
          <a:prstGeom prst="rect">
            <a:avLst/>
          </a:prstGeom>
          <a:solidFill>
            <a:srgbClr val="2587C5"/>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1" name="Shape 119"/>
          <p:cNvSpPr/>
          <p:nvPr/>
        </p:nvSpPr>
        <p:spPr>
          <a:xfrm>
            <a:off x="9076944" y="4310815"/>
            <a:ext cx="259080" cy="110352"/>
          </a:xfrm>
          <a:prstGeom prst="rect">
            <a:avLst/>
          </a:prstGeom>
          <a:solidFill>
            <a:srgbClr val="2587C5"/>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5" name="Shape 123"/>
          <p:cNvSpPr/>
          <p:nvPr/>
        </p:nvSpPr>
        <p:spPr>
          <a:xfrm>
            <a:off x="9039933" y="4550711"/>
            <a:ext cx="296091" cy="110352"/>
          </a:xfrm>
          <a:prstGeom prst="rect">
            <a:avLst/>
          </a:prstGeom>
          <a:solidFill>
            <a:srgbClr val="2587C5"/>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9" name="Shape 127"/>
          <p:cNvSpPr/>
          <p:nvPr/>
        </p:nvSpPr>
        <p:spPr>
          <a:xfrm>
            <a:off x="9039933" y="4790606"/>
            <a:ext cx="296091" cy="110352"/>
          </a:xfrm>
          <a:prstGeom prst="rect">
            <a:avLst/>
          </a:prstGeom>
          <a:solidFill>
            <a:srgbClr val="2587C5"/>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33" name="Shape 131"/>
          <p:cNvSpPr/>
          <p:nvPr/>
        </p:nvSpPr>
        <p:spPr>
          <a:xfrm>
            <a:off x="9002921" y="5030502"/>
            <a:ext cx="333103" cy="110352"/>
          </a:xfrm>
          <a:prstGeom prst="rect">
            <a:avLst/>
          </a:prstGeom>
          <a:solidFill>
            <a:srgbClr val="2587C5"/>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37" name="Shape 135"/>
          <p:cNvSpPr/>
          <p:nvPr/>
        </p:nvSpPr>
        <p:spPr>
          <a:xfrm>
            <a:off x="8891887" y="5270397"/>
            <a:ext cx="444137" cy="110352"/>
          </a:xfrm>
          <a:prstGeom prst="rect">
            <a:avLst/>
          </a:prstGeom>
          <a:solidFill>
            <a:srgbClr val="2587C5"/>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41" name="Shape 139"/>
          <p:cNvSpPr/>
          <p:nvPr/>
        </p:nvSpPr>
        <p:spPr>
          <a:xfrm>
            <a:off x="8558784" y="5510293"/>
            <a:ext cx="777240" cy="110352"/>
          </a:xfrm>
          <a:prstGeom prst="rect">
            <a:avLst/>
          </a:prstGeom>
          <a:solidFill>
            <a:srgbClr val="2587C5"/>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71856"/>
          </a:xfrm>
          <a:prstGeom prst="rect">
            <a:avLst/>
          </a:prstGeom>
          <a:solidFill>
            <a:srgbClr val="EDF4FA"/>
          </a:solidFill>
          <a:ln/>
        </p:spPr>
      </p:sp>
      <p:sp>
        <p:nvSpPr>
          <p:cNvPr id="147"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10 stores added fixed staff, led by Mazda (+5); 23 reduced, led by Chevy LV (−21).</a:t>
            </a:r>
            <a:endParaRPr lang="en-US" sz="1600" dirty="0"/>
          </a:p>
        </p:txBody>
      </p:sp>
    </p:spTree>
  </p:cSld>
  <p:clrMapOvr>
    <a:masterClrMapping/>
  </p:clrMapOvr>
</p:sld>
</file>

<file path=ppt/slides/slide14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Technicians &amp; Stalls</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1:1 tech to stall unless you run on-demand appointments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Tech level in line with job skill: right tech, right job</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5/6 of staff on schedule at all times, Saturdays included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90%+ MPI completion; track and report technician efficiency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Use scoreboarding and Teams to show techs where they stand</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94.7%</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Group technician proficiency (sold hours / worked hours). 20 of 33 stores at or above 85%.</a:t>
            </a:r>
            <a:endParaRPr lang="en-US" sz="1400" dirty="0"/>
          </a:p>
        </p:txBody>
      </p:sp>
      <p:sp>
        <p:nvSpPr>
          <p:cNvPr id="13" name="Shape 11"/>
          <p:cNvSpPr/>
          <p:nvPr/>
        </p:nvSpPr>
        <p:spPr>
          <a:xfrm>
            <a:off x="7269480" y="3261360"/>
            <a:ext cx="54864" cy="1112520"/>
          </a:xfrm>
          <a:prstGeom prst="rect">
            <a:avLst/>
          </a:prstGeom>
          <a:solidFill>
            <a:srgbClr val="C2352F"/>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262 of 583</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Counted technicians under 85%. Every store has at least one.</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$1.65M a month</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Gross missed if each of them reached 85%: no extra hours, techs or bays.</a:t>
            </a:r>
            <a:endParaRPr lang="en-US" sz="1400" dirty="0"/>
          </a:p>
        </p:txBody>
      </p:sp>
      <p:sp>
        <p:nvSpPr>
          <p:cNvPr id="19" name="Shape 17"/>
          <p:cNvSpPr/>
          <p:nvPr/>
        </p:nvSpPr>
        <p:spPr>
          <a:xfrm>
            <a:off x="457200" y="6126480"/>
            <a:ext cx="11274552" cy="615696"/>
          </a:xfrm>
          <a:prstGeom prst="rect">
            <a:avLst/>
          </a:prstGeom>
          <a:solidFill>
            <a:srgbClr val="EDF4FA"/>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show every tech their own proficiency every week. The best techs in each store already prove 85% is possible.</a:t>
            </a:r>
            <a:endParaRPr lang="en-US" sz="1600" dirty="0"/>
          </a:p>
        </p:txBody>
      </p:sp>
    </p:spTree>
  </p:cSld>
  <p:clrMapOvr>
    <a:masterClrMapping/>
  </p:clrMapOvr>
</p:sld>
</file>

<file path=ppt/slides/slide14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Technician Proficiency?</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Proficiency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hours sold (flagged)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hours worked (clocked)</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many hours a technician produces for every hour they are on the clock. 85% is on target; 100% or more is above.</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 40-HOUR WEEK</a:t>
            </a:r>
            <a:endParaRPr lang="en-US" sz="1400" dirty="0"/>
          </a:p>
        </p:txBody>
      </p:sp>
      <p:sp>
        <p:nvSpPr>
          <p:cNvPr id="9" name="Shape 7"/>
          <p:cNvSpPr/>
          <p:nvPr/>
        </p:nvSpPr>
        <p:spPr>
          <a:xfrm>
            <a:off x="2286000" y="2340864"/>
            <a:ext cx="307543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Works 40 hours  </a:t>
            </a:r>
            <a:pPr algn="ctr" indent="0" marL="0">
              <a:buNone/>
            </a:pPr>
            <a:r>
              <a:rPr lang="en-US" sz="1400" b="1" dirty="0">
                <a:solidFill>
                  <a:srgbClr val="0B2C4A"/>
                </a:solidFill>
                <a:latin typeface="Inter" pitchFamily="34" charset="0"/>
                <a:ea typeface="Inter" pitchFamily="34" charset="-122"/>
                <a:cs typeface="Inter" pitchFamily="34" charset="-120"/>
              </a:rPr>
              <a:t>sells 34</a:t>
            </a:r>
            <a:endParaRPr lang="en-US" sz="1400" dirty="0"/>
          </a:p>
        </p:txBody>
      </p:sp>
      <p:sp>
        <p:nvSpPr>
          <p:cNvPr id="11" name="Shape 9"/>
          <p:cNvSpPr/>
          <p:nvPr/>
        </p:nvSpPr>
        <p:spPr>
          <a:xfrm>
            <a:off x="5471160" y="2340864"/>
            <a:ext cx="3075432" cy="457200"/>
          </a:xfrm>
          <a:prstGeom prst="rect">
            <a:avLst/>
          </a:prstGeom>
          <a:solidFill>
            <a:srgbClr val="FFFFFF"/>
          </a:solidFill>
          <a:ln w="9525">
            <a:solidFill>
              <a:srgbClr val="D9D9D9"/>
            </a:solidFill>
            <a:prstDash val="solid"/>
          </a:ln>
        </p:spPr>
      </p:sp>
      <p:sp>
        <p:nvSpPr>
          <p:cNvPr id="12" name="Text 10"/>
          <p:cNvSpPr txBox="1"/>
          <p:nvPr/>
        </p:nvSpPr>
        <p:spPr>
          <a:xfrm>
            <a:off x="554431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Proficiency  </a:t>
            </a:r>
            <a:pPr algn="ctr" indent="0" marL="0">
              <a:buNone/>
            </a:pPr>
            <a:r>
              <a:rPr lang="en-US" sz="1400" b="1" dirty="0">
                <a:solidFill>
                  <a:srgbClr val="0B2C4A"/>
                </a:solidFill>
                <a:latin typeface="Inter" pitchFamily="34" charset="0"/>
                <a:ea typeface="Inter" pitchFamily="34" charset="-122"/>
                <a:cs typeface="Inter" pitchFamily="34" charset="-120"/>
              </a:rPr>
              <a:t>85%</a:t>
            </a:r>
            <a:endParaRPr lang="en-US" sz="1400" dirty="0"/>
          </a:p>
        </p:txBody>
      </p:sp>
      <p:sp>
        <p:nvSpPr>
          <p:cNvPr id="13" name="Shape 11"/>
          <p:cNvSpPr/>
          <p:nvPr/>
        </p:nvSpPr>
        <p:spPr>
          <a:xfrm>
            <a:off x="8656320" y="2340864"/>
            <a:ext cx="3075432" cy="457200"/>
          </a:xfrm>
          <a:prstGeom prst="rect">
            <a:avLst/>
          </a:prstGeom>
          <a:solidFill>
            <a:srgbClr val="FFFFFF"/>
          </a:solidFill>
          <a:ln w="9525">
            <a:solidFill>
              <a:srgbClr val="D9D9D9"/>
            </a:solidFill>
            <a:prstDash val="solid"/>
          </a:ln>
        </p:spPr>
      </p:sp>
      <p:sp>
        <p:nvSpPr>
          <p:cNvPr id="14" name="Text 12"/>
          <p:cNvSpPr txBox="1"/>
          <p:nvPr/>
        </p:nvSpPr>
        <p:spPr>
          <a:xfrm>
            <a:off x="872947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Sells 40  </a:t>
            </a:r>
            <a:pPr algn="ctr" indent="0" marL="0">
              <a:buNone/>
            </a:pPr>
            <a:r>
              <a:rPr lang="en-US" sz="1400" b="1" dirty="0">
                <a:solidFill>
                  <a:srgbClr val="0B2C4A"/>
                </a:solidFill>
                <a:latin typeface="Inter" pitchFamily="34" charset="0"/>
                <a:ea typeface="Inter" pitchFamily="34" charset="-122"/>
                <a:cs typeface="Inter" pitchFamily="34" charset="-120"/>
              </a:rPr>
              <a:t>100%</a:t>
            </a:r>
            <a:endParaRPr lang="en-US" sz="1400" dirty="0"/>
          </a:p>
        </p:txBody>
      </p:sp>
      <p:sp>
        <p:nvSpPr>
          <p:cNvPr id="15" name="Shape 13"/>
          <p:cNvSpPr/>
          <p:nvPr/>
        </p:nvSpPr>
        <p:spPr>
          <a:xfrm>
            <a:off x="457200" y="2907792"/>
            <a:ext cx="4343400" cy="3081528"/>
          </a:xfrm>
          <a:prstGeom prst="rect">
            <a:avLst/>
          </a:prstGeom>
          <a:solidFill>
            <a:srgbClr val="FFFFFF"/>
          </a:solidFill>
          <a:ln/>
        </p:spPr>
      </p:sp>
      <p:sp>
        <p:nvSpPr>
          <p:cNvPr id="16" name="Shape 14"/>
          <p:cNvSpPr/>
          <p:nvPr/>
        </p:nvSpPr>
        <p:spPr>
          <a:xfrm>
            <a:off x="4937760" y="2907792"/>
            <a:ext cx="6793992" cy="3081528"/>
          </a:xfrm>
          <a:prstGeom prst="rect">
            <a:avLst/>
          </a:prstGeom>
          <a:solidFill>
            <a:srgbClr val="FFFFFF"/>
          </a:solidFill>
          <a:ln/>
        </p:spPr>
      </p:sp>
      <p:sp>
        <p:nvSpPr>
          <p:cNvPr id="17" name="Text 15"/>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8" name="Text 16"/>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9" name="Text 17"/>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The tech, bay and lift are already here; an unflagged hour can't be sold tomorrow.</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Flat-rate techs earn more as they produce more.</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shows where workflow, not effort, is the problem.</a:t>
            </a:r>
            <a:endParaRPr lang="en-US" sz="1500" dirty="0"/>
          </a:p>
        </p:txBody>
      </p:sp>
      <p:sp>
        <p:nvSpPr>
          <p:cNvPr id="20" name="Shape 18"/>
          <p:cNvSpPr/>
          <p:nvPr/>
        </p:nvSpPr>
        <p:spPr>
          <a:xfrm>
            <a:off x="5138928" y="3410712"/>
            <a:ext cx="45720" cy="1133856"/>
          </a:xfrm>
          <a:prstGeom prst="rect">
            <a:avLst/>
          </a:prstGeom>
          <a:solidFill>
            <a:srgbClr val="2587C5"/>
          </a:solidFill>
          <a:ln/>
        </p:spPr>
      </p:sp>
      <p:sp>
        <p:nvSpPr>
          <p:cNvPr id="21" name="Text 19"/>
          <p:cNvSpPr txBox="1"/>
          <p:nvPr/>
        </p:nvSpPr>
        <p:spPr>
          <a:xfrm>
            <a:off x="5266944"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Dispatch</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Work waiting at the bay; the right job to the right tech</a:t>
            </a:r>
            <a:endParaRPr lang="en-US" sz="1400" dirty="0"/>
          </a:p>
        </p:txBody>
      </p:sp>
      <p:sp>
        <p:nvSpPr>
          <p:cNvPr id="22" name="Shape 20"/>
          <p:cNvSpPr/>
          <p:nvPr/>
        </p:nvSpPr>
        <p:spPr>
          <a:xfrm>
            <a:off x="7309104" y="3410712"/>
            <a:ext cx="45720" cy="1133856"/>
          </a:xfrm>
          <a:prstGeom prst="rect">
            <a:avLst/>
          </a:prstGeom>
          <a:solidFill>
            <a:srgbClr val="2587C5"/>
          </a:solidFill>
          <a:ln/>
        </p:spPr>
      </p:sp>
      <p:sp>
        <p:nvSpPr>
          <p:cNvPr id="23" name="Text 21"/>
          <p:cNvSpPr txBox="1"/>
          <p:nvPr/>
        </p:nvSpPr>
        <p:spPr>
          <a:xfrm>
            <a:off x="7437120"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Car count</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Not enough work leaves techs waiting</a:t>
            </a:r>
            <a:endParaRPr lang="en-US" sz="1400" dirty="0"/>
          </a:p>
        </p:txBody>
      </p:sp>
      <p:sp>
        <p:nvSpPr>
          <p:cNvPr id="24" name="Shape 22"/>
          <p:cNvSpPr/>
          <p:nvPr/>
        </p:nvSpPr>
        <p:spPr>
          <a:xfrm>
            <a:off x="9479280" y="3410712"/>
            <a:ext cx="45720" cy="1133856"/>
          </a:xfrm>
          <a:prstGeom prst="rect">
            <a:avLst/>
          </a:prstGeom>
          <a:solidFill>
            <a:srgbClr val="2587C5"/>
          </a:solidFill>
          <a:ln/>
        </p:spPr>
      </p:sp>
      <p:sp>
        <p:nvSpPr>
          <p:cNvPr id="25" name="Text 23"/>
          <p:cNvSpPr txBox="1"/>
          <p:nvPr/>
        </p:nvSpPr>
        <p:spPr>
          <a:xfrm>
            <a:off x="9607296"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staging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Parts at the bay before the tech needs them</a:t>
            </a:r>
            <a:endParaRPr lang="en-US" sz="1400" dirty="0"/>
          </a:p>
        </p:txBody>
      </p:sp>
      <p:sp>
        <p:nvSpPr>
          <p:cNvPr id="26" name="Shape 24"/>
          <p:cNvSpPr/>
          <p:nvPr/>
        </p:nvSpPr>
        <p:spPr>
          <a:xfrm>
            <a:off x="5138928" y="4654296"/>
            <a:ext cx="45720" cy="1133856"/>
          </a:xfrm>
          <a:prstGeom prst="rect">
            <a:avLst/>
          </a:prstGeom>
          <a:solidFill>
            <a:srgbClr val="2587C5"/>
          </a:solidFill>
          <a:ln/>
        </p:spPr>
      </p:sp>
      <p:sp>
        <p:nvSpPr>
          <p:cNvPr id="27" name="Text 25"/>
          <p:cNvSpPr txBox="1"/>
          <p:nvPr/>
        </p:nvSpPr>
        <p:spPr>
          <a:xfrm>
            <a:off x="5266944"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Approvals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Fast customer approval on the inspection</a:t>
            </a:r>
            <a:endParaRPr lang="en-US" sz="1400" dirty="0"/>
          </a:p>
        </p:txBody>
      </p:sp>
      <p:sp>
        <p:nvSpPr>
          <p:cNvPr id="28" name="Shape 26"/>
          <p:cNvSpPr/>
          <p:nvPr/>
        </p:nvSpPr>
        <p:spPr>
          <a:xfrm>
            <a:off x="7309104" y="4654296"/>
            <a:ext cx="45720" cy="1133856"/>
          </a:xfrm>
          <a:prstGeom prst="rect">
            <a:avLst/>
          </a:prstGeom>
          <a:solidFill>
            <a:srgbClr val="2587C5"/>
          </a:solidFill>
          <a:ln/>
        </p:spPr>
      </p:sp>
      <p:sp>
        <p:nvSpPr>
          <p:cNvPr id="29" name="Text 27"/>
          <p:cNvSpPr txBox="1"/>
          <p:nvPr/>
        </p:nvSpPr>
        <p:spPr>
          <a:xfrm>
            <a:off x="7437120"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Skill and training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Tech level in line with job skill</a:t>
            </a:r>
            <a:endParaRPr lang="en-US" sz="1400" dirty="0"/>
          </a:p>
        </p:txBody>
      </p:sp>
      <p:sp>
        <p:nvSpPr>
          <p:cNvPr id="30" name="Shape 28"/>
          <p:cNvSpPr/>
          <p:nvPr/>
        </p:nvSpPr>
        <p:spPr>
          <a:xfrm>
            <a:off x="9479280" y="4654296"/>
            <a:ext cx="45720" cy="1133856"/>
          </a:xfrm>
          <a:prstGeom prst="rect">
            <a:avLst/>
          </a:prstGeom>
          <a:solidFill>
            <a:srgbClr val="2587C5"/>
          </a:solidFill>
          <a:ln/>
        </p:spPr>
      </p:sp>
      <p:sp>
        <p:nvSpPr>
          <p:cNvPr id="31" name="Text 29"/>
          <p:cNvSpPr txBox="1"/>
          <p:nvPr/>
        </p:nvSpPr>
        <p:spPr>
          <a:xfrm>
            <a:off x="9607296"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Proficiency vs efficiency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Efficiency divides by time clocked on ROs, not all hours worked</a:t>
            </a:r>
            <a:endParaRPr lang="en-US" sz="1400" dirty="0"/>
          </a:p>
        </p:txBody>
      </p:sp>
      <p:sp>
        <p:nvSpPr>
          <p:cNvPr id="32" name="Shape 30"/>
          <p:cNvSpPr/>
          <p:nvPr/>
        </p:nvSpPr>
        <p:spPr>
          <a:xfrm>
            <a:off x="457200" y="6126480"/>
            <a:ext cx="11274552" cy="371856"/>
          </a:xfrm>
          <a:prstGeom prst="rect">
            <a:avLst/>
          </a:prstGeom>
          <a:solidFill>
            <a:srgbClr val="EDF4FA"/>
          </a:solidFill>
          <a:ln/>
        </p:spPr>
      </p:sp>
      <p:sp>
        <p:nvSpPr>
          <p:cNvPr id="33" name="Text 31"/>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94.7%. 20 of 33 stores at or above 85%; 262 of 583 counted techs below it.</a:t>
            </a:r>
            <a:endParaRPr lang="en-US" sz="1600" dirty="0"/>
          </a:p>
        </p:txBody>
      </p:sp>
    </p:spTree>
  </p:cSld>
  <p:clrMapOvr>
    <a:masterClrMapping/>
  </p:clrMapOvr>
</p:sld>
</file>

<file path=ppt/slides/slide14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How We Measured It</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200" b="1" dirty="0">
                <a:solidFill>
                  <a:srgbClr val="0B2C4A"/>
                </a:solidFill>
                <a:latin typeface="Inter" pitchFamily="34" charset="0"/>
                <a:ea typeface="Inter" pitchFamily="34" charset="-122"/>
                <a:cs typeface="Inter" pitchFamily="34" charset="-120"/>
              </a:rPr>
              <a:t>Sold hours (Qlik)  </a:t>
            </a:r>
            <a:pPr indent="0" marL="0">
              <a:buNone/>
            </a:pPr>
            <a:r>
              <a:rPr lang="en-US" sz="2200" b="1" dirty="0">
                <a:solidFill>
                  <a:srgbClr val="2587C5"/>
                </a:solidFill>
                <a:latin typeface="Inter" pitchFamily="34" charset="0"/>
                <a:ea typeface="Inter" pitchFamily="34" charset="-122"/>
                <a:cs typeface="Inter" pitchFamily="34" charset="-120"/>
              </a:rPr>
              <a:t>÷  </a:t>
            </a:r>
            <a:pPr indent="0" marL="0">
              <a:buNone/>
            </a:pPr>
            <a:r>
              <a:rPr lang="en-US" sz="2200" b="1" dirty="0">
                <a:solidFill>
                  <a:srgbClr val="0B2C4A"/>
                </a:solidFill>
                <a:latin typeface="Inter" pitchFamily="34" charset="0"/>
                <a:ea typeface="Inter" pitchFamily="34" charset="-122"/>
                <a:cs typeface="Inter" pitchFamily="34" charset="-120"/>
              </a:rPr>
              <a:t>worked hours (ADP, regular + overtime)</a:t>
            </a:r>
            <a:endParaRPr lang="en-US" sz="22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Matched by tech number, all pay types, Dec 25, 2025 to Oct 9, 2026. Store = total sold hours / total worked hours.</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WHO COUNTS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THE RULES</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Service technicians, express technicians, service team leaders and shop foremen: everyone whose job is to flag hours on the line</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Not counted: body shop, detail and tint</a:t>
            </a:r>
            <a:endParaRPr lang="en-US" sz="1600" dirty="0"/>
          </a:p>
        </p:txBody>
      </p:sp>
      <p:sp>
        <p:nvSpPr>
          <p:cNvPr id="13" name="Shape 11"/>
          <p:cNvSpPr/>
          <p:nvPr/>
        </p:nvSpPr>
        <p:spPr>
          <a:xfrm>
            <a:off x="5138928" y="2843784"/>
            <a:ext cx="45720" cy="908304"/>
          </a:xfrm>
          <a:prstGeom prst="rect">
            <a:avLst/>
          </a:prstGeom>
          <a:solidFill>
            <a:srgbClr val="2587C5"/>
          </a:solidFill>
          <a:ln/>
        </p:spPr>
      </p:sp>
      <p:sp>
        <p:nvSpPr>
          <p:cNvPr id="14" name="Text 12"/>
          <p:cNvSpPr txBox="1"/>
          <p:nvPr/>
        </p:nvSpPr>
        <p:spPr>
          <a:xfrm>
            <a:off x="5266944" y="2843784"/>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Shop foremen above 30%</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Below that, a foreman is mainly dispatching</a:t>
            </a:r>
            <a:endParaRPr lang="en-US" sz="1400" dirty="0"/>
          </a:p>
        </p:txBody>
      </p:sp>
      <p:sp>
        <p:nvSpPr>
          <p:cNvPr id="15" name="Shape 13"/>
          <p:cNvSpPr/>
          <p:nvPr/>
        </p:nvSpPr>
        <p:spPr>
          <a:xfrm>
            <a:off x="8394192" y="2843784"/>
            <a:ext cx="45720" cy="908304"/>
          </a:xfrm>
          <a:prstGeom prst="rect">
            <a:avLst/>
          </a:prstGeom>
          <a:solidFill>
            <a:srgbClr val="2587C5"/>
          </a:solidFill>
          <a:ln/>
        </p:spPr>
      </p:sp>
      <p:sp>
        <p:nvSpPr>
          <p:cNvPr id="16" name="Text 14"/>
          <p:cNvSpPr txBox="1"/>
          <p:nvPr/>
        </p:nvSpPr>
        <p:spPr>
          <a:xfrm>
            <a:off x="8522208" y="2843784"/>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Techs above 10%</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Below that, they are not working as a line tech</a:t>
            </a:r>
            <a:endParaRPr lang="en-US" sz="1400" dirty="0"/>
          </a:p>
        </p:txBody>
      </p:sp>
      <p:sp>
        <p:nvSpPr>
          <p:cNvPr id="17" name="Shape 15"/>
          <p:cNvSpPr/>
          <p:nvPr/>
        </p:nvSpPr>
        <p:spPr>
          <a:xfrm>
            <a:off x="5138928" y="3861816"/>
            <a:ext cx="45720" cy="908304"/>
          </a:xfrm>
          <a:prstGeom prst="rect">
            <a:avLst/>
          </a:prstGeom>
          <a:solidFill>
            <a:srgbClr val="2587C5"/>
          </a:solidFill>
          <a:ln/>
        </p:spPr>
      </p:sp>
      <p:sp>
        <p:nvSpPr>
          <p:cNvPr id="18" name="Text 16"/>
          <p:cNvSpPr txBox="1"/>
          <p:nvPr/>
        </p:nvSpPr>
        <p:spPr>
          <a:xfrm>
            <a:off x="5266944" y="3861816"/>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Role changes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Worked hours trimmed to the months a tech actually flagged</a:t>
            </a:r>
            <a:endParaRPr lang="en-US" sz="1400" dirty="0"/>
          </a:p>
        </p:txBody>
      </p:sp>
      <p:sp>
        <p:nvSpPr>
          <p:cNvPr id="19" name="Shape 17"/>
          <p:cNvSpPr/>
          <p:nvPr/>
        </p:nvSpPr>
        <p:spPr>
          <a:xfrm>
            <a:off x="8394192" y="3861816"/>
            <a:ext cx="45720" cy="908304"/>
          </a:xfrm>
          <a:prstGeom prst="rect">
            <a:avLst/>
          </a:prstGeom>
          <a:solidFill>
            <a:srgbClr val="2587C5"/>
          </a:solidFill>
          <a:ln/>
        </p:spPr>
      </p:sp>
      <p:sp>
        <p:nvSpPr>
          <p:cNvPr id="20" name="Text 18"/>
          <p:cNvSpPr txBox="1"/>
          <p:nvPr/>
        </p:nvSpPr>
        <p:spPr>
          <a:xfrm>
            <a:off x="8522208" y="3861816"/>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Keying errors removed</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45 lines, such as 940 hours keyed on one $0 line</a:t>
            </a:r>
            <a:endParaRPr lang="en-US" sz="1400" dirty="0"/>
          </a:p>
        </p:txBody>
      </p:sp>
      <p:sp>
        <p:nvSpPr>
          <p:cNvPr id="21" name="Shape 19"/>
          <p:cNvSpPr/>
          <p:nvPr/>
        </p:nvSpPr>
        <p:spPr>
          <a:xfrm>
            <a:off x="5138928" y="4879848"/>
            <a:ext cx="45720" cy="908304"/>
          </a:xfrm>
          <a:prstGeom prst="rect">
            <a:avLst/>
          </a:prstGeom>
          <a:solidFill>
            <a:srgbClr val="2587C5"/>
          </a:solidFill>
          <a:ln/>
        </p:spPr>
      </p:sp>
      <p:sp>
        <p:nvSpPr>
          <p:cNvPr id="22" name="Text 20"/>
          <p:cNvSpPr txBox="1"/>
          <p:nvPr/>
        </p:nvSpPr>
        <p:spPr>
          <a:xfrm>
            <a:off x="5266944" y="4879848"/>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Shared codes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Pooled codes (MULT, 999, 77777) aren't credited to anyone</a:t>
            </a:r>
            <a:endParaRPr lang="en-US" sz="1400" dirty="0"/>
          </a:p>
        </p:txBody>
      </p:sp>
      <p:sp>
        <p:nvSpPr>
          <p:cNvPr id="23" name="Shape 21"/>
          <p:cNvSpPr/>
          <p:nvPr/>
        </p:nvSpPr>
        <p:spPr>
          <a:xfrm>
            <a:off x="8394192" y="4879848"/>
            <a:ext cx="45720" cy="908304"/>
          </a:xfrm>
          <a:prstGeom prst="rect">
            <a:avLst/>
          </a:prstGeom>
          <a:solidFill>
            <a:srgbClr val="2587C5"/>
          </a:solidFill>
          <a:ln/>
        </p:spPr>
      </p:sp>
      <p:sp>
        <p:nvSpPr>
          <p:cNvPr id="24" name="Text 22"/>
          <p:cNvSpPr txBox="1"/>
          <p:nvPr/>
        </p:nvSpPr>
        <p:spPr>
          <a:xfrm>
            <a:off x="8522208" y="4879848"/>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Opportunity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Each tech under 85% raised to 85% of their own worked hours</a:t>
            </a:r>
            <a:endParaRPr lang="en-US" sz="1400" dirty="0"/>
          </a:p>
        </p:txBody>
      </p:sp>
      <p:sp>
        <p:nvSpPr>
          <p:cNvPr id="25" name="Shape 23"/>
          <p:cNvSpPr/>
          <p:nvPr/>
        </p:nvSpPr>
        <p:spPr>
          <a:xfrm>
            <a:off x="457200" y="6126480"/>
            <a:ext cx="11274552" cy="356616"/>
          </a:xfrm>
          <a:prstGeom prst="rect">
            <a:avLst/>
          </a:prstGeom>
          <a:solidFill>
            <a:srgbClr val="EDF4FA"/>
          </a:solidFill>
          <a:ln/>
        </p:spPr>
      </p:sp>
      <p:sp>
        <p:nvSpPr>
          <p:cNvPr id="26" name="Text 24"/>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The rules keep non-tech time and data errors out of the numbers, and every store is measured the same way.</a:t>
            </a:r>
            <a:endParaRPr lang="en-US" sz="1500" dirty="0"/>
          </a:p>
        </p:txBody>
      </p:sp>
    </p:spTree>
  </p:cSld>
  <p:clrMapOvr>
    <a:masterClrMapping/>
  </p:clrMapOvr>
</p:sld>
</file>

<file path=ppt/slides/slide14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Technician Proficiency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TECHNICIAN PROFICIENCY</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85.0%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94.7%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118.5%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7" name="Shape 15"/>
          <p:cNvSpPr/>
          <p:nvPr/>
        </p:nvSpPr>
        <p:spPr>
          <a:xfrm>
            <a:off x="3008376" y="2146957"/>
            <a:ext cx="1663031"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117.1%</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1" name="Shape 19"/>
          <p:cNvSpPr/>
          <p:nvPr/>
        </p:nvSpPr>
        <p:spPr>
          <a:xfrm>
            <a:off x="3008376" y="2386853"/>
            <a:ext cx="1503694"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109.7%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5" name="Shape 23"/>
          <p:cNvSpPr/>
          <p:nvPr/>
        </p:nvSpPr>
        <p:spPr>
          <a:xfrm>
            <a:off x="3008376" y="2626748"/>
            <a:ext cx="1493335"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109.3%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29" name="Shape 27"/>
          <p:cNvSpPr/>
          <p:nvPr/>
        </p:nvSpPr>
        <p:spPr>
          <a:xfrm>
            <a:off x="3008376" y="2866644"/>
            <a:ext cx="1488550"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109.0%</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3" name="Shape 31"/>
          <p:cNvSpPr/>
          <p:nvPr/>
        </p:nvSpPr>
        <p:spPr>
          <a:xfrm>
            <a:off x="3008376" y="3106540"/>
            <a:ext cx="1465805"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108.0%</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7" name="Shape 35"/>
          <p:cNvSpPr/>
          <p:nvPr/>
        </p:nvSpPr>
        <p:spPr>
          <a:xfrm>
            <a:off x="3008376" y="3346435"/>
            <a:ext cx="1423787"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106.0%</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1" name="Shape 39"/>
          <p:cNvSpPr/>
          <p:nvPr/>
        </p:nvSpPr>
        <p:spPr>
          <a:xfrm>
            <a:off x="3008376" y="3586331"/>
            <a:ext cx="1394590"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104.7%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5" name="Shape 43"/>
          <p:cNvSpPr/>
          <p:nvPr/>
        </p:nvSpPr>
        <p:spPr>
          <a:xfrm>
            <a:off x="3008376" y="3826226"/>
            <a:ext cx="1387136"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104.3%</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49" name="Shape 47"/>
          <p:cNvSpPr/>
          <p:nvPr/>
        </p:nvSpPr>
        <p:spPr>
          <a:xfrm>
            <a:off x="3008376" y="4066122"/>
            <a:ext cx="1366169"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103.4%</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3" name="Shape 51"/>
          <p:cNvSpPr/>
          <p:nvPr/>
        </p:nvSpPr>
        <p:spPr>
          <a:xfrm>
            <a:off x="3008376" y="4306017"/>
            <a:ext cx="1345338"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102.4%</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7" name="Shape 55"/>
          <p:cNvSpPr/>
          <p:nvPr/>
        </p:nvSpPr>
        <p:spPr>
          <a:xfrm>
            <a:off x="3008376" y="4545913"/>
            <a:ext cx="1328569"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101.6%</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1" name="Shape 59"/>
          <p:cNvSpPr/>
          <p:nvPr/>
        </p:nvSpPr>
        <p:spPr>
          <a:xfrm>
            <a:off x="3008376" y="4785808"/>
            <a:ext cx="1259696"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98.4%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5" name="Shape 63"/>
          <p:cNvSpPr/>
          <p:nvPr/>
        </p:nvSpPr>
        <p:spPr>
          <a:xfrm>
            <a:off x="3008376" y="5025704"/>
            <a:ext cx="1227504"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96.9%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69" name="Shape 67"/>
          <p:cNvSpPr/>
          <p:nvPr/>
        </p:nvSpPr>
        <p:spPr>
          <a:xfrm>
            <a:off x="3008376" y="5265599"/>
            <a:ext cx="1183546"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94.9%</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3" name="Shape 71"/>
          <p:cNvSpPr/>
          <p:nvPr/>
        </p:nvSpPr>
        <p:spPr>
          <a:xfrm>
            <a:off x="3008376" y="5505495"/>
            <a:ext cx="1125838"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92.2%</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77" name="Shape 75"/>
          <p:cNvSpPr/>
          <p:nvPr/>
        </p:nvSpPr>
        <p:spPr>
          <a:xfrm>
            <a:off x="3008376" y="5745390"/>
            <a:ext cx="1103246"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91.2%</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1" name="Shape 79"/>
          <p:cNvSpPr/>
          <p:nvPr/>
        </p:nvSpPr>
        <p:spPr>
          <a:xfrm>
            <a:off x="8558784" y="1907062"/>
            <a:ext cx="1102256"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5" name="Shape 83"/>
          <p:cNvSpPr/>
          <p:nvPr/>
        </p:nvSpPr>
        <p:spPr>
          <a:xfrm>
            <a:off x="8558784" y="2146957"/>
            <a:ext cx="1100233"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9" name="Shape 87"/>
          <p:cNvSpPr/>
          <p:nvPr/>
        </p:nvSpPr>
        <p:spPr>
          <a:xfrm>
            <a:off x="8558784" y="2386853"/>
            <a:ext cx="1028587" cy="119948"/>
          </a:xfrm>
          <a:prstGeom prst="rect">
            <a:avLst/>
          </a:prstGeom>
          <a:solidFill>
            <a:srgbClr val="12A566"/>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87.7%</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3" name="Shape 91"/>
          <p:cNvSpPr/>
          <p:nvPr/>
        </p:nvSpPr>
        <p:spPr>
          <a:xfrm>
            <a:off x="8558784" y="2626748"/>
            <a:ext cx="940185"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83.6%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97" name="Shape 95"/>
          <p:cNvSpPr/>
          <p:nvPr/>
        </p:nvSpPr>
        <p:spPr>
          <a:xfrm>
            <a:off x="8558784" y="2866644"/>
            <a:ext cx="892570"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81.4%</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1" name="Shape 99"/>
          <p:cNvSpPr/>
          <p:nvPr/>
        </p:nvSpPr>
        <p:spPr>
          <a:xfrm>
            <a:off x="8558784" y="3106540"/>
            <a:ext cx="83655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78.8%</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5" name="Shape 103"/>
          <p:cNvSpPr/>
          <p:nvPr/>
        </p:nvSpPr>
        <p:spPr>
          <a:xfrm>
            <a:off x="8558784" y="3346435"/>
            <a:ext cx="830598"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78.5%</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9" name="Shape 107"/>
          <p:cNvSpPr/>
          <p:nvPr/>
        </p:nvSpPr>
        <p:spPr>
          <a:xfrm>
            <a:off x="8558784" y="3586331"/>
            <a:ext cx="794181"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76.8%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3" name="Shape 111"/>
          <p:cNvSpPr/>
          <p:nvPr/>
        </p:nvSpPr>
        <p:spPr>
          <a:xfrm>
            <a:off x="8558784" y="3826226"/>
            <a:ext cx="724094"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73.6%</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17" name="Shape 115"/>
          <p:cNvSpPr/>
          <p:nvPr/>
        </p:nvSpPr>
        <p:spPr>
          <a:xfrm>
            <a:off x="8558784" y="4066122"/>
            <a:ext cx="69790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1" name="Shape 119"/>
          <p:cNvSpPr/>
          <p:nvPr/>
        </p:nvSpPr>
        <p:spPr>
          <a:xfrm>
            <a:off x="8558784" y="4306017"/>
            <a:ext cx="672256"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71.2%</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5" name="Shape 123"/>
          <p:cNvSpPr/>
          <p:nvPr/>
        </p:nvSpPr>
        <p:spPr>
          <a:xfrm>
            <a:off x="8558784" y="4545913"/>
            <a:ext cx="647056"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70.0%</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9" name="Shape 127"/>
          <p:cNvSpPr/>
          <p:nvPr/>
        </p:nvSpPr>
        <p:spPr>
          <a:xfrm>
            <a:off x="8558784" y="4785808"/>
            <a:ext cx="625345"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69.0%</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33" name="Shape 131"/>
          <p:cNvSpPr/>
          <p:nvPr/>
        </p:nvSpPr>
        <p:spPr>
          <a:xfrm>
            <a:off x="8558784" y="5025704"/>
            <a:ext cx="612255"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68.4%</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8558784" y="5265599"/>
            <a:ext cx="592803"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67.5%</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41" name="Shape 139"/>
          <p:cNvSpPr/>
          <p:nvPr/>
        </p:nvSpPr>
        <p:spPr>
          <a:xfrm>
            <a:off x="8558784" y="5505495"/>
            <a:ext cx="591028"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67.4%</a:t>
            </a:r>
            <a:endParaRPr lang="en-US" sz="1200" dirty="0"/>
          </a:p>
        </p:txBody>
      </p:sp>
      <p:sp>
        <p:nvSpPr>
          <p:cNvPr id="143" name="Shape 141"/>
          <p:cNvSpPr/>
          <p:nvPr/>
        </p:nvSpPr>
        <p:spPr>
          <a:xfrm>
            <a:off x="3970620" y="1847088"/>
            <a:ext cx="14630" cy="4078224"/>
          </a:xfrm>
          <a:prstGeom prst="rect">
            <a:avLst/>
          </a:prstGeom>
          <a:solidFill>
            <a:srgbClr val="0B2C4A"/>
          </a:solidFill>
          <a:ln/>
        </p:spPr>
      </p:sp>
      <p:sp>
        <p:nvSpPr>
          <p:cNvPr id="144" name="Shape 142"/>
          <p:cNvSpPr/>
          <p:nvPr/>
        </p:nvSpPr>
        <p:spPr>
          <a:xfrm>
            <a:off x="9521028"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20 of 33 stores at or above the 85% target and 12 above 100%. Group 94.7%, led by Honda Henderson at 118.5%; Acura lowest at 67.4%.</a:t>
            </a:r>
            <a:endParaRPr lang="en-US" sz="1600" dirty="0"/>
          </a:p>
        </p:txBody>
      </p:sp>
    </p:spTree>
  </p:cSld>
  <p:clrMapOvr>
    <a:masterClrMapping/>
  </p:clrMapOvr>
</p:sld>
</file>

<file path=ppt/slides/slide14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Technician Proficiency Status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201168" cy="201168"/>
          </a:xfrm>
          <a:prstGeom prst="rect">
            <a:avLst/>
          </a:prstGeom>
          <a:solidFill>
            <a:srgbClr val="12A566"/>
          </a:solidFill>
          <a:ln/>
        </p:spPr>
      </p:sp>
      <p:sp>
        <p:nvSpPr>
          <p:cNvPr id="7" name="Text 5"/>
          <p:cNvSpPr txBox="1"/>
          <p:nvPr/>
        </p:nvSpPr>
        <p:spPr>
          <a:xfrm>
            <a:off x="93268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Above 100 %</a:t>
            </a:r>
            <a:endParaRPr lang="en-US" sz="1400" dirty="0"/>
          </a:p>
        </p:txBody>
      </p:sp>
      <p:sp>
        <p:nvSpPr>
          <p:cNvPr id="8" name="Shape 6"/>
          <p:cNvSpPr/>
          <p:nvPr/>
        </p:nvSpPr>
        <p:spPr>
          <a:xfrm>
            <a:off x="2624328" y="1371600"/>
            <a:ext cx="201168" cy="201168"/>
          </a:xfrm>
          <a:prstGeom prst="rect">
            <a:avLst/>
          </a:prstGeom>
          <a:solidFill>
            <a:srgbClr val="5B9BD5"/>
          </a:solidFill>
          <a:ln/>
        </p:spPr>
      </p:sp>
      <p:sp>
        <p:nvSpPr>
          <p:cNvPr id="9" name="Text 7"/>
          <p:cNvSpPr txBox="1"/>
          <p:nvPr/>
        </p:nvSpPr>
        <p:spPr>
          <a:xfrm>
            <a:off x="289864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85 to 99.9 %</a:t>
            </a:r>
            <a:endParaRPr lang="en-US" sz="1400" dirty="0"/>
          </a:p>
        </p:txBody>
      </p:sp>
      <p:sp>
        <p:nvSpPr>
          <p:cNvPr id="10" name="Shape 8"/>
          <p:cNvSpPr/>
          <p:nvPr/>
        </p:nvSpPr>
        <p:spPr>
          <a:xfrm>
            <a:off x="4590288" y="1371600"/>
            <a:ext cx="201168" cy="201168"/>
          </a:xfrm>
          <a:prstGeom prst="rect">
            <a:avLst/>
          </a:prstGeom>
          <a:solidFill>
            <a:srgbClr val="C2352F"/>
          </a:solidFill>
          <a:ln/>
        </p:spPr>
      </p:sp>
      <p:sp>
        <p:nvSpPr>
          <p:cNvPr id="11" name="Text 9"/>
          <p:cNvSpPr txBox="1"/>
          <p:nvPr/>
        </p:nvSpPr>
        <p:spPr>
          <a:xfrm>
            <a:off x="486460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Under 85 %</a:t>
            </a:r>
            <a:endParaRPr lang="en-US" sz="1400" dirty="0"/>
          </a:p>
        </p:txBody>
      </p:sp>
      <p:sp>
        <p:nvSpPr>
          <p:cNvPr id="12" name="Shape 10"/>
          <p:cNvSpPr/>
          <p:nvPr/>
        </p:nvSpPr>
        <p:spPr>
          <a:xfrm>
            <a:off x="6675120" y="1298448"/>
            <a:ext cx="4855464" cy="384048"/>
          </a:xfrm>
          <a:prstGeom prst="rect">
            <a:avLst/>
          </a:prstGeom>
          <a:solidFill>
            <a:srgbClr val="EDF4FA"/>
          </a:solidFill>
          <a:ln/>
        </p:spPr>
      </p:sp>
      <p:sp>
        <p:nvSpPr>
          <p:cNvPr id="13" name="Text 11"/>
          <p:cNvSpPr txBox="1"/>
          <p:nvPr/>
        </p:nvSpPr>
        <p:spPr>
          <a:xfrm>
            <a:off x="6766560" y="1298448"/>
            <a:ext cx="91440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endParaRPr lang="en-US" sz="1500" dirty="0"/>
          </a:p>
        </p:txBody>
      </p:sp>
      <p:sp>
        <p:nvSpPr>
          <p:cNvPr id="14" name="Shape 12"/>
          <p:cNvSpPr/>
          <p:nvPr/>
        </p:nvSpPr>
        <p:spPr>
          <a:xfrm>
            <a:off x="7726680" y="1344168"/>
            <a:ext cx="1260837" cy="292608"/>
          </a:xfrm>
          <a:prstGeom prst="rect">
            <a:avLst/>
          </a:prstGeom>
          <a:solidFill>
            <a:srgbClr val="12A566"/>
          </a:solidFill>
          <a:ln w="6350">
            <a:solidFill>
              <a:srgbClr val="FFFFFF"/>
            </a:solidFill>
            <a:prstDash val="solid"/>
          </a:ln>
        </p:spPr>
      </p:sp>
      <p:sp>
        <p:nvSpPr>
          <p:cNvPr id="15" name="Text 13"/>
          <p:cNvSpPr txBox="1"/>
          <p:nvPr/>
        </p:nvSpPr>
        <p:spPr>
          <a:xfrm>
            <a:off x="7726680" y="1344168"/>
            <a:ext cx="1260837"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34</a:t>
            </a:r>
            <a:endParaRPr lang="en-US" sz="1400" dirty="0"/>
          </a:p>
        </p:txBody>
      </p:sp>
      <p:sp>
        <p:nvSpPr>
          <p:cNvPr id="16" name="Shape 14"/>
          <p:cNvSpPr/>
          <p:nvPr/>
        </p:nvSpPr>
        <p:spPr>
          <a:xfrm>
            <a:off x="8987517" y="1344168"/>
            <a:ext cx="783247" cy="292608"/>
          </a:xfrm>
          <a:prstGeom prst="rect">
            <a:avLst/>
          </a:prstGeom>
          <a:solidFill>
            <a:srgbClr val="5B9BD5"/>
          </a:solidFill>
          <a:ln w="6350">
            <a:solidFill>
              <a:srgbClr val="FFFFFF"/>
            </a:solidFill>
            <a:prstDash val="solid"/>
          </a:ln>
        </p:spPr>
      </p:sp>
      <p:sp>
        <p:nvSpPr>
          <p:cNvPr id="17" name="Text 15"/>
          <p:cNvSpPr txBox="1"/>
          <p:nvPr/>
        </p:nvSpPr>
        <p:spPr>
          <a:xfrm>
            <a:off x="8987517" y="1344168"/>
            <a:ext cx="783247"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21</a:t>
            </a:r>
            <a:endParaRPr lang="en-US" sz="1400" dirty="0"/>
          </a:p>
        </p:txBody>
      </p:sp>
      <p:sp>
        <p:nvSpPr>
          <p:cNvPr id="18" name="Shape 16"/>
          <p:cNvSpPr/>
          <p:nvPr/>
        </p:nvSpPr>
        <p:spPr>
          <a:xfrm>
            <a:off x="9770764" y="1344168"/>
            <a:ext cx="1668380" cy="292608"/>
          </a:xfrm>
          <a:prstGeom prst="rect">
            <a:avLst/>
          </a:prstGeom>
          <a:solidFill>
            <a:srgbClr val="C2352F"/>
          </a:solidFill>
          <a:ln w="6350">
            <a:solidFill>
              <a:srgbClr val="FFFFFF"/>
            </a:solidFill>
            <a:prstDash val="solid"/>
          </a:ln>
        </p:spPr>
      </p:sp>
      <p:sp>
        <p:nvSpPr>
          <p:cNvPr id="19" name="Text 17"/>
          <p:cNvSpPr txBox="1"/>
          <p:nvPr/>
        </p:nvSpPr>
        <p:spPr>
          <a:xfrm>
            <a:off x="9770764" y="1344168"/>
            <a:ext cx="1668380"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45</a:t>
            </a:r>
            <a:endParaRPr lang="en-US" sz="1400" dirty="0"/>
          </a:p>
        </p:txBody>
      </p:sp>
      <p:sp>
        <p:nvSpPr>
          <p:cNvPr id="20" name="Text 18"/>
          <p:cNvSpPr txBox="1"/>
          <p:nvPr/>
        </p:nvSpPr>
        <p:spPr>
          <a:xfrm>
            <a:off x="658368"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21" name="Shape 19"/>
          <p:cNvSpPr/>
          <p:nvPr/>
        </p:nvSpPr>
        <p:spPr>
          <a:xfrm>
            <a:off x="2807208" y="1857717"/>
            <a:ext cx="2366010" cy="183138"/>
          </a:xfrm>
          <a:prstGeom prst="rect">
            <a:avLst/>
          </a:prstGeom>
          <a:solidFill>
            <a:srgbClr val="12A566"/>
          </a:solidFill>
          <a:ln w="6350">
            <a:solidFill>
              <a:srgbClr val="FFFFFF"/>
            </a:solidFill>
            <a:prstDash val="solid"/>
          </a:ln>
        </p:spPr>
      </p:sp>
      <p:sp>
        <p:nvSpPr>
          <p:cNvPr id="22" name="Text 20"/>
          <p:cNvSpPr txBox="1"/>
          <p:nvPr/>
        </p:nvSpPr>
        <p:spPr>
          <a:xfrm>
            <a:off x="2807208" y="1857717"/>
            <a:ext cx="236601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75</a:t>
            </a:r>
            <a:endParaRPr lang="en-US" sz="1300" dirty="0"/>
          </a:p>
        </p:txBody>
      </p:sp>
      <p:sp>
        <p:nvSpPr>
          <p:cNvPr id="23" name="Shape 21"/>
          <p:cNvSpPr/>
          <p:nvPr/>
        </p:nvSpPr>
        <p:spPr>
          <a:xfrm>
            <a:off x="5173218" y="1857717"/>
            <a:ext cx="914" cy="183138"/>
          </a:xfrm>
          <a:prstGeom prst="rect">
            <a:avLst/>
          </a:prstGeom>
          <a:solidFill>
            <a:srgbClr val="5B9BD5"/>
          </a:solidFill>
          <a:ln w="6350">
            <a:solidFill>
              <a:srgbClr val="FFFFFF"/>
            </a:solidFill>
            <a:prstDash val="solid"/>
          </a:ln>
        </p:spPr>
      </p:sp>
      <p:sp>
        <p:nvSpPr>
          <p:cNvPr id="24" name="Shape 22"/>
          <p:cNvSpPr/>
          <p:nvPr/>
        </p:nvSpPr>
        <p:spPr>
          <a:xfrm>
            <a:off x="5173218" y="1857717"/>
            <a:ext cx="788670" cy="183138"/>
          </a:xfrm>
          <a:prstGeom prst="rect">
            <a:avLst/>
          </a:prstGeom>
          <a:solidFill>
            <a:srgbClr val="C2352F"/>
          </a:solidFill>
          <a:ln w="6350">
            <a:solidFill>
              <a:srgbClr val="FFFFFF"/>
            </a:solidFill>
            <a:prstDash val="solid"/>
          </a:ln>
        </p:spPr>
      </p:sp>
      <p:sp>
        <p:nvSpPr>
          <p:cNvPr id="25" name="Text 23"/>
          <p:cNvSpPr txBox="1"/>
          <p:nvPr/>
        </p:nvSpPr>
        <p:spPr>
          <a:xfrm>
            <a:off x="5173218" y="1857717"/>
            <a:ext cx="78867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26" name="Text 24"/>
          <p:cNvSpPr txBox="1"/>
          <p:nvPr/>
        </p:nvSpPr>
        <p:spPr>
          <a:xfrm>
            <a:off x="658368"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27" name="Shape 25"/>
          <p:cNvSpPr/>
          <p:nvPr/>
        </p:nvSpPr>
        <p:spPr>
          <a:xfrm>
            <a:off x="2807208" y="2098688"/>
            <a:ext cx="2103120" cy="183138"/>
          </a:xfrm>
          <a:prstGeom prst="rect">
            <a:avLst/>
          </a:prstGeom>
          <a:solidFill>
            <a:srgbClr val="12A566"/>
          </a:solidFill>
          <a:ln w="6350">
            <a:solidFill>
              <a:srgbClr val="FFFFFF"/>
            </a:solidFill>
            <a:prstDash val="solid"/>
          </a:ln>
        </p:spPr>
      </p:sp>
      <p:sp>
        <p:nvSpPr>
          <p:cNvPr id="28" name="Text 26"/>
          <p:cNvSpPr txBox="1"/>
          <p:nvPr/>
        </p:nvSpPr>
        <p:spPr>
          <a:xfrm>
            <a:off x="2807208" y="2098688"/>
            <a:ext cx="21031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67</a:t>
            </a:r>
            <a:endParaRPr lang="en-US" sz="1300" dirty="0"/>
          </a:p>
        </p:txBody>
      </p:sp>
      <p:sp>
        <p:nvSpPr>
          <p:cNvPr id="29" name="Shape 27"/>
          <p:cNvSpPr/>
          <p:nvPr/>
        </p:nvSpPr>
        <p:spPr>
          <a:xfrm>
            <a:off x="4910328" y="2098688"/>
            <a:ext cx="630936" cy="183138"/>
          </a:xfrm>
          <a:prstGeom prst="rect">
            <a:avLst/>
          </a:prstGeom>
          <a:solidFill>
            <a:srgbClr val="5B9BD5"/>
          </a:solidFill>
          <a:ln w="6350">
            <a:solidFill>
              <a:srgbClr val="FFFFFF"/>
            </a:solidFill>
            <a:prstDash val="solid"/>
          </a:ln>
        </p:spPr>
      </p:sp>
      <p:sp>
        <p:nvSpPr>
          <p:cNvPr id="30" name="Text 28"/>
          <p:cNvSpPr txBox="1"/>
          <p:nvPr/>
        </p:nvSpPr>
        <p:spPr>
          <a:xfrm>
            <a:off x="4910328" y="2098688"/>
            <a:ext cx="63093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20</a:t>
            </a:r>
            <a:endParaRPr lang="en-US" sz="1300" dirty="0"/>
          </a:p>
        </p:txBody>
      </p:sp>
      <p:sp>
        <p:nvSpPr>
          <p:cNvPr id="31" name="Shape 29"/>
          <p:cNvSpPr/>
          <p:nvPr/>
        </p:nvSpPr>
        <p:spPr>
          <a:xfrm>
            <a:off x="5541264" y="2098688"/>
            <a:ext cx="420624" cy="183138"/>
          </a:xfrm>
          <a:prstGeom prst="rect">
            <a:avLst/>
          </a:prstGeom>
          <a:solidFill>
            <a:srgbClr val="C2352F"/>
          </a:solidFill>
          <a:ln w="6350">
            <a:solidFill>
              <a:srgbClr val="FFFFFF"/>
            </a:solidFill>
            <a:prstDash val="solid"/>
          </a:ln>
        </p:spPr>
      </p:sp>
      <p:sp>
        <p:nvSpPr>
          <p:cNvPr id="32" name="Text 30"/>
          <p:cNvSpPr txBox="1"/>
          <p:nvPr/>
        </p:nvSpPr>
        <p:spPr>
          <a:xfrm>
            <a:off x="5541264" y="2098688"/>
            <a:ext cx="42062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13</a:t>
            </a:r>
            <a:endParaRPr lang="en-US" sz="1300" dirty="0"/>
          </a:p>
        </p:txBody>
      </p:sp>
      <p:sp>
        <p:nvSpPr>
          <p:cNvPr id="33" name="Text 31"/>
          <p:cNvSpPr txBox="1"/>
          <p:nvPr/>
        </p:nvSpPr>
        <p:spPr>
          <a:xfrm>
            <a:off x="658368"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34" name="Shape 32"/>
          <p:cNvSpPr/>
          <p:nvPr/>
        </p:nvSpPr>
        <p:spPr>
          <a:xfrm>
            <a:off x="2807208" y="2339659"/>
            <a:ext cx="1892808" cy="183138"/>
          </a:xfrm>
          <a:prstGeom prst="rect">
            <a:avLst/>
          </a:prstGeom>
          <a:solidFill>
            <a:srgbClr val="12A566"/>
          </a:solidFill>
          <a:ln w="6350">
            <a:solidFill>
              <a:srgbClr val="FFFFFF"/>
            </a:solidFill>
            <a:prstDash val="solid"/>
          </a:ln>
        </p:spPr>
      </p:sp>
      <p:sp>
        <p:nvSpPr>
          <p:cNvPr id="35" name="Text 33"/>
          <p:cNvSpPr txBox="1"/>
          <p:nvPr/>
        </p:nvSpPr>
        <p:spPr>
          <a:xfrm>
            <a:off x="2807208" y="2339659"/>
            <a:ext cx="18928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36" name="Shape 34"/>
          <p:cNvSpPr/>
          <p:nvPr/>
        </p:nvSpPr>
        <p:spPr>
          <a:xfrm>
            <a:off x="4700016" y="2339659"/>
            <a:ext cx="914" cy="183138"/>
          </a:xfrm>
          <a:prstGeom prst="rect">
            <a:avLst/>
          </a:prstGeom>
          <a:solidFill>
            <a:srgbClr val="5B9BD5"/>
          </a:solidFill>
          <a:ln w="6350">
            <a:solidFill>
              <a:srgbClr val="FFFFFF"/>
            </a:solidFill>
            <a:prstDash val="solid"/>
          </a:ln>
        </p:spPr>
      </p:sp>
      <p:sp>
        <p:nvSpPr>
          <p:cNvPr id="37" name="Shape 35"/>
          <p:cNvSpPr/>
          <p:nvPr/>
        </p:nvSpPr>
        <p:spPr>
          <a:xfrm>
            <a:off x="4700016" y="2339659"/>
            <a:ext cx="1261872" cy="183138"/>
          </a:xfrm>
          <a:prstGeom prst="rect">
            <a:avLst/>
          </a:prstGeom>
          <a:solidFill>
            <a:srgbClr val="C2352F"/>
          </a:solidFill>
          <a:ln w="6350">
            <a:solidFill>
              <a:srgbClr val="FFFFFF"/>
            </a:solidFill>
            <a:prstDash val="solid"/>
          </a:ln>
        </p:spPr>
      </p:sp>
      <p:sp>
        <p:nvSpPr>
          <p:cNvPr id="38" name="Text 36"/>
          <p:cNvSpPr txBox="1"/>
          <p:nvPr/>
        </p:nvSpPr>
        <p:spPr>
          <a:xfrm>
            <a:off x="4700016" y="2339659"/>
            <a:ext cx="126187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40</a:t>
            </a:r>
            <a:endParaRPr lang="en-US" sz="1300" dirty="0"/>
          </a:p>
        </p:txBody>
      </p:sp>
      <p:sp>
        <p:nvSpPr>
          <p:cNvPr id="39" name="Text 37"/>
          <p:cNvSpPr txBox="1"/>
          <p:nvPr/>
        </p:nvSpPr>
        <p:spPr>
          <a:xfrm>
            <a:off x="658368"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40" name="Shape 38"/>
          <p:cNvSpPr/>
          <p:nvPr/>
        </p:nvSpPr>
        <p:spPr>
          <a:xfrm>
            <a:off x="2807208" y="2580630"/>
            <a:ext cx="1802674" cy="183138"/>
          </a:xfrm>
          <a:prstGeom prst="rect">
            <a:avLst/>
          </a:prstGeom>
          <a:solidFill>
            <a:srgbClr val="12A566"/>
          </a:solidFill>
          <a:ln w="6350">
            <a:solidFill>
              <a:srgbClr val="FFFFFF"/>
            </a:solidFill>
            <a:prstDash val="solid"/>
          </a:ln>
        </p:spPr>
      </p:sp>
      <p:sp>
        <p:nvSpPr>
          <p:cNvPr id="41" name="Text 39"/>
          <p:cNvSpPr txBox="1"/>
          <p:nvPr/>
        </p:nvSpPr>
        <p:spPr>
          <a:xfrm>
            <a:off x="2807208" y="2580630"/>
            <a:ext cx="180267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42" name="Shape 40"/>
          <p:cNvSpPr/>
          <p:nvPr/>
        </p:nvSpPr>
        <p:spPr>
          <a:xfrm>
            <a:off x="4609882" y="2580630"/>
            <a:ext cx="788670" cy="183138"/>
          </a:xfrm>
          <a:prstGeom prst="rect">
            <a:avLst/>
          </a:prstGeom>
          <a:solidFill>
            <a:srgbClr val="5B9BD5"/>
          </a:solidFill>
          <a:ln w="6350">
            <a:solidFill>
              <a:srgbClr val="FFFFFF"/>
            </a:solidFill>
            <a:prstDash val="solid"/>
          </a:ln>
        </p:spPr>
      </p:sp>
      <p:sp>
        <p:nvSpPr>
          <p:cNvPr id="43" name="Text 41"/>
          <p:cNvSpPr txBox="1"/>
          <p:nvPr/>
        </p:nvSpPr>
        <p:spPr>
          <a:xfrm>
            <a:off x="4609882" y="2580630"/>
            <a:ext cx="78867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44" name="Shape 42"/>
          <p:cNvSpPr/>
          <p:nvPr/>
        </p:nvSpPr>
        <p:spPr>
          <a:xfrm>
            <a:off x="5398552" y="2580630"/>
            <a:ext cx="563336" cy="183138"/>
          </a:xfrm>
          <a:prstGeom prst="rect">
            <a:avLst/>
          </a:prstGeom>
          <a:solidFill>
            <a:srgbClr val="C2352F"/>
          </a:solidFill>
          <a:ln w="6350">
            <a:solidFill>
              <a:srgbClr val="FFFFFF"/>
            </a:solidFill>
            <a:prstDash val="solid"/>
          </a:ln>
        </p:spPr>
      </p:sp>
      <p:sp>
        <p:nvSpPr>
          <p:cNvPr id="45" name="Text 43"/>
          <p:cNvSpPr txBox="1"/>
          <p:nvPr/>
        </p:nvSpPr>
        <p:spPr>
          <a:xfrm>
            <a:off x="5398552" y="2580630"/>
            <a:ext cx="56333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46" name="Text 44"/>
          <p:cNvSpPr txBox="1"/>
          <p:nvPr/>
        </p:nvSpPr>
        <p:spPr>
          <a:xfrm>
            <a:off x="658368"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47" name="Shape 45"/>
          <p:cNvSpPr/>
          <p:nvPr/>
        </p:nvSpPr>
        <p:spPr>
          <a:xfrm>
            <a:off x="2807208" y="2821602"/>
            <a:ext cx="1690007" cy="183138"/>
          </a:xfrm>
          <a:prstGeom prst="rect">
            <a:avLst/>
          </a:prstGeom>
          <a:solidFill>
            <a:srgbClr val="12A566"/>
          </a:solidFill>
          <a:ln w="6350">
            <a:solidFill>
              <a:srgbClr val="FFFFFF"/>
            </a:solidFill>
            <a:prstDash val="solid"/>
          </a:ln>
        </p:spPr>
      </p:sp>
      <p:sp>
        <p:nvSpPr>
          <p:cNvPr id="48" name="Text 46"/>
          <p:cNvSpPr txBox="1"/>
          <p:nvPr/>
        </p:nvSpPr>
        <p:spPr>
          <a:xfrm>
            <a:off x="2807208" y="2821602"/>
            <a:ext cx="169000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54</a:t>
            </a:r>
            <a:endParaRPr lang="en-US" sz="1300" dirty="0"/>
          </a:p>
        </p:txBody>
      </p:sp>
      <p:sp>
        <p:nvSpPr>
          <p:cNvPr id="49" name="Shape 47"/>
          <p:cNvSpPr/>
          <p:nvPr/>
        </p:nvSpPr>
        <p:spPr>
          <a:xfrm>
            <a:off x="4497215" y="2821602"/>
            <a:ext cx="1014004" cy="183138"/>
          </a:xfrm>
          <a:prstGeom prst="rect">
            <a:avLst/>
          </a:prstGeom>
          <a:solidFill>
            <a:srgbClr val="5B9BD5"/>
          </a:solidFill>
          <a:ln w="6350">
            <a:solidFill>
              <a:srgbClr val="FFFFFF"/>
            </a:solidFill>
            <a:prstDash val="solid"/>
          </a:ln>
        </p:spPr>
      </p:sp>
      <p:sp>
        <p:nvSpPr>
          <p:cNvPr id="50" name="Text 48"/>
          <p:cNvSpPr txBox="1"/>
          <p:nvPr/>
        </p:nvSpPr>
        <p:spPr>
          <a:xfrm>
            <a:off x="4497215" y="2821602"/>
            <a:ext cx="101400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51" name="Shape 49"/>
          <p:cNvSpPr/>
          <p:nvPr/>
        </p:nvSpPr>
        <p:spPr>
          <a:xfrm>
            <a:off x="5511219" y="2821602"/>
            <a:ext cx="450669" cy="183138"/>
          </a:xfrm>
          <a:prstGeom prst="rect">
            <a:avLst/>
          </a:prstGeom>
          <a:solidFill>
            <a:srgbClr val="C2352F"/>
          </a:solidFill>
          <a:ln w="6350">
            <a:solidFill>
              <a:srgbClr val="FFFFFF"/>
            </a:solidFill>
            <a:prstDash val="solid"/>
          </a:ln>
        </p:spPr>
      </p:sp>
      <p:sp>
        <p:nvSpPr>
          <p:cNvPr id="52" name="Text 50"/>
          <p:cNvSpPr txBox="1"/>
          <p:nvPr/>
        </p:nvSpPr>
        <p:spPr>
          <a:xfrm>
            <a:off x="5511219" y="2821602"/>
            <a:ext cx="4506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14</a:t>
            </a:r>
            <a:endParaRPr lang="en-US" sz="1300" dirty="0"/>
          </a:p>
        </p:txBody>
      </p:sp>
      <p:sp>
        <p:nvSpPr>
          <p:cNvPr id="53" name="Text 51"/>
          <p:cNvSpPr txBox="1"/>
          <p:nvPr/>
        </p:nvSpPr>
        <p:spPr>
          <a:xfrm>
            <a:off x="658368"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54" name="Shape 52"/>
          <p:cNvSpPr/>
          <p:nvPr/>
        </p:nvSpPr>
        <p:spPr>
          <a:xfrm>
            <a:off x="2807208" y="3062573"/>
            <a:ext cx="1577340" cy="183138"/>
          </a:xfrm>
          <a:prstGeom prst="rect">
            <a:avLst/>
          </a:prstGeom>
          <a:solidFill>
            <a:srgbClr val="12A566"/>
          </a:solidFill>
          <a:ln w="6350">
            <a:solidFill>
              <a:srgbClr val="FFFFFF"/>
            </a:solidFill>
            <a:prstDash val="solid"/>
          </a:ln>
        </p:spPr>
      </p:sp>
      <p:sp>
        <p:nvSpPr>
          <p:cNvPr id="55" name="Text 53"/>
          <p:cNvSpPr txBox="1"/>
          <p:nvPr/>
        </p:nvSpPr>
        <p:spPr>
          <a:xfrm>
            <a:off x="2807208" y="3062573"/>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56" name="Shape 54"/>
          <p:cNvSpPr/>
          <p:nvPr/>
        </p:nvSpPr>
        <p:spPr>
          <a:xfrm>
            <a:off x="4384548" y="3062573"/>
            <a:ext cx="914" cy="183138"/>
          </a:xfrm>
          <a:prstGeom prst="rect">
            <a:avLst/>
          </a:prstGeom>
          <a:solidFill>
            <a:srgbClr val="5B9BD5"/>
          </a:solidFill>
          <a:ln w="6350">
            <a:solidFill>
              <a:srgbClr val="FFFFFF"/>
            </a:solidFill>
            <a:prstDash val="solid"/>
          </a:ln>
        </p:spPr>
      </p:sp>
      <p:sp>
        <p:nvSpPr>
          <p:cNvPr id="57" name="Shape 55"/>
          <p:cNvSpPr/>
          <p:nvPr/>
        </p:nvSpPr>
        <p:spPr>
          <a:xfrm>
            <a:off x="4384548" y="3062573"/>
            <a:ext cx="1577340" cy="183138"/>
          </a:xfrm>
          <a:prstGeom prst="rect">
            <a:avLst/>
          </a:prstGeom>
          <a:solidFill>
            <a:srgbClr val="C2352F"/>
          </a:solidFill>
          <a:ln w="6350">
            <a:solidFill>
              <a:srgbClr val="FFFFFF"/>
            </a:solidFill>
            <a:prstDash val="solid"/>
          </a:ln>
        </p:spPr>
      </p:sp>
      <p:sp>
        <p:nvSpPr>
          <p:cNvPr id="58" name="Text 56"/>
          <p:cNvSpPr txBox="1"/>
          <p:nvPr/>
        </p:nvSpPr>
        <p:spPr>
          <a:xfrm>
            <a:off x="4384548" y="3062573"/>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59" name="Text 57"/>
          <p:cNvSpPr txBox="1"/>
          <p:nvPr/>
        </p:nvSpPr>
        <p:spPr>
          <a:xfrm>
            <a:off x="658368"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60" name="Shape 58"/>
          <p:cNvSpPr/>
          <p:nvPr/>
        </p:nvSpPr>
        <p:spPr>
          <a:xfrm>
            <a:off x="2807208" y="3303544"/>
            <a:ext cx="1433945" cy="183138"/>
          </a:xfrm>
          <a:prstGeom prst="rect">
            <a:avLst/>
          </a:prstGeom>
          <a:solidFill>
            <a:srgbClr val="12A566"/>
          </a:solidFill>
          <a:ln w="6350">
            <a:solidFill>
              <a:srgbClr val="FFFFFF"/>
            </a:solidFill>
            <a:prstDash val="solid"/>
          </a:ln>
        </p:spPr>
      </p:sp>
      <p:sp>
        <p:nvSpPr>
          <p:cNvPr id="61" name="Text 59"/>
          <p:cNvSpPr txBox="1"/>
          <p:nvPr/>
        </p:nvSpPr>
        <p:spPr>
          <a:xfrm>
            <a:off x="2807208" y="3303544"/>
            <a:ext cx="143394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62" name="Shape 60"/>
          <p:cNvSpPr/>
          <p:nvPr/>
        </p:nvSpPr>
        <p:spPr>
          <a:xfrm>
            <a:off x="4241153" y="3303544"/>
            <a:ext cx="1147156" cy="183138"/>
          </a:xfrm>
          <a:prstGeom prst="rect">
            <a:avLst/>
          </a:prstGeom>
          <a:solidFill>
            <a:srgbClr val="5B9BD5"/>
          </a:solidFill>
          <a:ln w="6350">
            <a:solidFill>
              <a:srgbClr val="FFFFFF"/>
            </a:solidFill>
            <a:prstDash val="solid"/>
          </a:ln>
        </p:spPr>
      </p:sp>
      <p:sp>
        <p:nvSpPr>
          <p:cNvPr id="63" name="Text 61"/>
          <p:cNvSpPr txBox="1"/>
          <p:nvPr/>
        </p:nvSpPr>
        <p:spPr>
          <a:xfrm>
            <a:off x="4241153" y="3303544"/>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64" name="Shape 62"/>
          <p:cNvSpPr/>
          <p:nvPr/>
        </p:nvSpPr>
        <p:spPr>
          <a:xfrm>
            <a:off x="5388310" y="3303544"/>
            <a:ext cx="573578" cy="183138"/>
          </a:xfrm>
          <a:prstGeom prst="rect">
            <a:avLst/>
          </a:prstGeom>
          <a:solidFill>
            <a:srgbClr val="C2352F"/>
          </a:solidFill>
          <a:ln w="6350">
            <a:solidFill>
              <a:srgbClr val="FFFFFF"/>
            </a:solidFill>
            <a:prstDash val="solid"/>
          </a:ln>
        </p:spPr>
      </p:sp>
      <p:sp>
        <p:nvSpPr>
          <p:cNvPr id="65" name="Text 63"/>
          <p:cNvSpPr txBox="1"/>
          <p:nvPr/>
        </p:nvSpPr>
        <p:spPr>
          <a:xfrm>
            <a:off x="5388310" y="3303544"/>
            <a:ext cx="57357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66" name="Text 64"/>
          <p:cNvSpPr txBox="1"/>
          <p:nvPr/>
        </p:nvSpPr>
        <p:spPr>
          <a:xfrm>
            <a:off x="658368"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67" name="Shape 65"/>
          <p:cNvSpPr/>
          <p:nvPr/>
        </p:nvSpPr>
        <p:spPr>
          <a:xfrm>
            <a:off x="2807208" y="3544516"/>
            <a:ext cx="1433945" cy="183138"/>
          </a:xfrm>
          <a:prstGeom prst="rect">
            <a:avLst/>
          </a:prstGeom>
          <a:solidFill>
            <a:srgbClr val="12A566"/>
          </a:solidFill>
          <a:ln w="6350">
            <a:solidFill>
              <a:srgbClr val="FFFFFF"/>
            </a:solidFill>
            <a:prstDash val="solid"/>
          </a:ln>
        </p:spPr>
      </p:sp>
      <p:sp>
        <p:nvSpPr>
          <p:cNvPr id="68" name="Text 66"/>
          <p:cNvSpPr txBox="1"/>
          <p:nvPr/>
        </p:nvSpPr>
        <p:spPr>
          <a:xfrm>
            <a:off x="2807208" y="3544516"/>
            <a:ext cx="143394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69" name="Shape 67"/>
          <p:cNvSpPr/>
          <p:nvPr/>
        </p:nvSpPr>
        <p:spPr>
          <a:xfrm>
            <a:off x="4241153" y="3544516"/>
            <a:ext cx="573578" cy="183138"/>
          </a:xfrm>
          <a:prstGeom prst="rect">
            <a:avLst/>
          </a:prstGeom>
          <a:solidFill>
            <a:srgbClr val="5B9BD5"/>
          </a:solidFill>
          <a:ln w="6350">
            <a:solidFill>
              <a:srgbClr val="FFFFFF"/>
            </a:solidFill>
            <a:prstDash val="solid"/>
          </a:ln>
        </p:spPr>
      </p:sp>
      <p:sp>
        <p:nvSpPr>
          <p:cNvPr id="70" name="Text 68"/>
          <p:cNvSpPr txBox="1"/>
          <p:nvPr/>
        </p:nvSpPr>
        <p:spPr>
          <a:xfrm>
            <a:off x="4241153" y="3544516"/>
            <a:ext cx="57357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71" name="Shape 69"/>
          <p:cNvSpPr/>
          <p:nvPr/>
        </p:nvSpPr>
        <p:spPr>
          <a:xfrm>
            <a:off x="4814732" y="3544516"/>
            <a:ext cx="1147156" cy="183138"/>
          </a:xfrm>
          <a:prstGeom prst="rect">
            <a:avLst/>
          </a:prstGeom>
          <a:solidFill>
            <a:srgbClr val="C2352F"/>
          </a:solidFill>
          <a:ln w="6350">
            <a:solidFill>
              <a:srgbClr val="FFFFFF"/>
            </a:solidFill>
            <a:prstDash val="solid"/>
          </a:ln>
        </p:spPr>
      </p:sp>
      <p:sp>
        <p:nvSpPr>
          <p:cNvPr id="72" name="Text 70"/>
          <p:cNvSpPr txBox="1"/>
          <p:nvPr/>
        </p:nvSpPr>
        <p:spPr>
          <a:xfrm>
            <a:off x="4814732" y="3544516"/>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73" name="Text 71"/>
          <p:cNvSpPr txBox="1"/>
          <p:nvPr/>
        </p:nvSpPr>
        <p:spPr>
          <a:xfrm>
            <a:off x="658368"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74" name="Shape 72"/>
          <p:cNvSpPr/>
          <p:nvPr/>
        </p:nvSpPr>
        <p:spPr>
          <a:xfrm>
            <a:off x="2807208" y="3785487"/>
            <a:ext cx="1352006" cy="183138"/>
          </a:xfrm>
          <a:prstGeom prst="rect">
            <a:avLst/>
          </a:prstGeom>
          <a:solidFill>
            <a:srgbClr val="12A566"/>
          </a:solidFill>
          <a:ln w="6350">
            <a:solidFill>
              <a:srgbClr val="FFFFFF"/>
            </a:solidFill>
            <a:prstDash val="solid"/>
          </a:ln>
        </p:spPr>
      </p:sp>
      <p:sp>
        <p:nvSpPr>
          <p:cNvPr id="75" name="Text 73"/>
          <p:cNvSpPr txBox="1"/>
          <p:nvPr/>
        </p:nvSpPr>
        <p:spPr>
          <a:xfrm>
            <a:off x="2807208" y="3785487"/>
            <a:ext cx="135200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43</a:t>
            </a:r>
            <a:endParaRPr lang="en-US" sz="1300" dirty="0"/>
          </a:p>
        </p:txBody>
      </p:sp>
      <p:sp>
        <p:nvSpPr>
          <p:cNvPr id="76" name="Shape 74"/>
          <p:cNvSpPr/>
          <p:nvPr/>
        </p:nvSpPr>
        <p:spPr>
          <a:xfrm>
            <a:off x="4159214" y="3785487"/>
            <a:ext cx="450669" cy="183138"/>
          </a:xfrm>
          <a:prstGeom prst="rect">
            <a:avLst/>
          </a:prstGeom>
          <a:solidFill>
            <a:srgbClr val="5B9BD5"/>
          </a:solidFill>
          <a:ln w="6350">
            <a:solidFill>
              <a:srgbClr val="FFFFFF"/>
            </a:solidFill>
            <a:prstDash val="solid"/>
          </a:ln>
        </p:spPr>
      </p:sp>
      <p:sp>
        <p:nvSpPr>
          <p:cNvPr id="77" name="Text 75"/>
          <p:cNvSpPr txBox="1"/>
          <p:nvPr/>
        </p:nvSpPr>
        <p:spPr>
          <a:xfrm>
            <a:off x="4159214" y="3785487"/>
            <a:ext cx="4506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14</a:t>
            </a:r>
            <a:endParaRPr lang="en-US" sz="1300" dirty="0"/>
          </a:p>
        </p:txBody>
      </p:sp>
      <p:sp>
        <p:nvSpPr>
          <p:cNvPr id="78" name="Shape 76"/>
          <p:cNvSpPr/>
          <p:nvPr/>
        </p:nvSpPr>
        <p:spPr>
          <a:xfrm>
            <a:off x="4609882" y="3785487"/>
            <a:ext cx="1352006" cy="183138"/>
          </a:xfrm>
          <a:prstGeom prst="rect">
            <a:avLst/>
          </a:prstGeom>
          <a:solidFill>
            <a:srgbClr val="C2352F"/>
          </a:solidFill>
          <a:ln w="6350">
            <a:solidFill>
              <a:srgbClr val="FFFFFF"/>
            </a:solidFill>
            <a:prstDash val="solid"/>
          </a:ln>
        </p:spPr>
      </p:sp>
      <p:sp>
        <p:nvSpPr>
          <p:cNvPr id="79" name="Text 77"/>
          <p:cNvSpPr txBox="1"/>
          <p:nvPr/>
        </p:nvSpPr>
        <p:spPr>
          <a:xfrm>
            <a:off x="4609882" y="3785487"/>
            <a:ext cx="135200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43</a:t>
            </a:r>
            <a:endParaRPr lang="en-US" sz="1300" dirty="0"/>
          </a:p>
        </p:txBody>
      </p:sp>
      <p:sp>
        <p:nvSpPr>
          <p:cNvPr id="80" name="Text 78"/>
          <p:cNvSpPr txBox="1"/>
          <p:nvPr/>
        </p:nvSpPr>
        <p:spPr>
          <a:xfrm>
            <a:off x="658368"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81" name="Shape 79"/>
          <p:cNvSpPr/>
          <p:nvPr/>
        </p:nvSpPr>
        <p:spPr>
          <a:xfrm>
            <a:off x="2807208" y="4026458"/>
            <a:ext cx="1298986" cy="183138"/>
          </a:xfrm>
          <a:prstGeom prst="rect">
            <a:avLst/>
          </a:prstGeom>
          <a:solidFill>
            <a:srgbClr val="12A566"/>
          </a:solidFill>
          <a:ln w="6350">
            <a:solidFill>
              <a:srgbClr val="FFFFFF"/>
            </a:solidFill>
            <a:prstDash val="solid"/>
          </a:ln>
        </p:spPr>
      </p:sp>
      <p:sp>
        <p:nvSpPr>
          <p:cNvPr id="82" name="Text 80"/>
          <p:cNvSpPr txBox="1"/>
          <p:nvPr/>
        </p:nvSpPr>
        <p:spPr>
          <a:xfrm>
            <a:off x="2807208" y="4026458"/>
            <a:ext cx="129898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83" name="Shape 81"/>
          <p:cNvSpPr/>
          <p:nvPr/>
        </p:nvSpPr>
        <p:spPr>
          <a:xfrm>
            <a:off x="4106194" y="4026458"/>
            <a:ext cx="865991" cy="183138"/>
          </a:xfrm>
          <a:prstGeom prst="rect">
            <a:avLst/>
          </a:prstGeom>
          <a:solidFill>
            <a:srgbClr val="5B9BD5"/>
          </a:solidFill>
          <a:ln w="6350">
            <a:solidFill>
              <a:srgbClr val="FFFFFF"/>
            </a:solidFill>
            <a:prstDash val="solid"/>
          </a:ln>
        </p:spPr>
      </p:sp>
      <p:sp>
        <p:nvSpPr>
          <p:cNvPr id="84" name="Text 82"/>
          <p:cNvSpPr txBox="1"/>
          <p:nvPr/>
        </p:nvSpPr>
        <p:spPr>
          <a:xfrm>
            <a:off x="4106194" y="4026458"/>
            <a:ext cx="86599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85" name="Shape 83"/>
          <p:cNvSpPr/>
          <p:nvPr/>
        </p:nvSpPr>
        <p:spPr>
          <a:xfrm>
            <a:off x="4972184" y="4026458"/>
            <a:ext cx="989704" cy="183138"/>
          </a:xfrm>
          <a:prstGeom prst="rect">
            <a:avLst/>
          </a:prstGeom>
          <a:solidFill>
            <a:srgbClr val="C2352F"/>
          </a:solidFill>
          <a:ln w="6350">
            <a:solidFill>
              <a:srgbClr val="FFFFFF"/>
            </a:solidFill>
            <a:prstDash val="solid"/>
          </a:ln>
        </p:spPr>
      </p:sp>
      <p:sp>
        <p:nvSpPr>
          <p:cNvPr id="86" name="Text 84"/>
          <p:cNvSpPr txBox="1"/>
          <p:nvPr/>
        </p:nvSpPr>
        <p:spPr>
          <a:xfrm>
            <a:off x="4972184" y="4026458"/>
            <a:ext cx="98970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31</a:t>
            </a:r>
            <a:endParaRPr lang="en-US" sz="1300" dirty="0"/>
          </a:p>
        </p:txBody>
      </p:sp>
      <p:sp>
        <p:nvSpPr>
          <p:cNvPr id="87" name="Text 85"/>
          <p:cNvSpPr txBox="1"/>
          <p:nvPr/>
        </p:nvSpPr>
        <p:spPr>
          <a:xfrm>
            <a:off x="658368"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88" name="Shape 86"/>
          <p:cNvSpPr/>
          <p:nvPr/>
        </p:nvSpPr>
        <p:spPr>
          <a:xfrm>
            <a:off x="2807208" y="4267429"/>
            <a:ext cx="1226820" cy="183138"/>
          </a:xfrm>
          <a:prstGeom prst="rect">
            <a:avLst/>
          </a:prstGeom>
          <a:solidFill>
            <a:srgbClr val="12A566"/>
          </a:solidFill>
          <a:ln w="6350">
            <a:solidFill>
              <a:srgbClr val="FFFFFF"/>
            </a:solidFill>
            <a:prstDash val="solid"/>
          </a:ln>
        </p:spPr>
      </p:sp>
      <p:sp>
        <p:nvSpPr>
          <p:cNvPr id="89" name="Text 87"/>
          <p:cNvSpPr txBox="1"/>
          <p:nvPr/>
        </p:nvSpPr>
        <p:spPr>
          <a:xfrm>
            <a:off x="2807208" y="4267429"/>
            <a:ext cx="12268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39</a:t>
            </a:r>
            <a:endParaRPr lang="en-US" sz="1300" dirty="0"/>
          </a:p>
        </p:txBody>
      </p:sp>
      <p:sp>
        <p:nvSpPr>
          <p:cNvPr id="90" name="Shape 88"/>
          <p:cNvSpPr/>
          <p:nvPr/>
        </p:nvSpPr>
        <p:spPr>
          <a:xfrm>
            <a:off x="4034028" y="4267429"/>
            <a:ext cx="876300" cy="183138"/>
          </a:xfrm>
          <a:prstGeom prst="rect">
            <a:avLst/>
          </a:prstGeom>
          <a:solidFill>
            <a:srgbClr val="5B9BD5"/>
          </a:solidFill>
          <a:ln w="6350">
            <a:solidFill>
              <a:srgbClr val="FFFFFF"/>
            </a:solidFill>
            <a:prstDash val="solid"/>
          </a:ln>
        </p:spPr>
      </p:sp>
      <p:sp>
        <p:nvSpPr>
          <p:cNvPr id="91" name="Text 89"/>
          <p:cNvSpPr txBox="1"/>
          <p:nvPr/>
        </p:nvSpPr>
        <p:spPr>
          <a:xfrm>
            <a:off x="4034028" y="4267429"/>
            <a:ext cx="87630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92" name="Shape 90"/>
          <p:cNvSpPr/>
          <p:nvPr/>
        </p:nvSpPr>
        <p:spPr>
          <a:xfrm>
            <a:off x="4910328" y="4267429"/>
            <a:ext cx="1051560" cy="183138"/>
          </a:xfrm>
          <a:prstGeom prst="rect">
            <a:avLst/>
          </a:prstGeom>
          <a:solidFill>
            <a:srgbClr val="C2352F"/>
          </a:solidFill>
          <a:ln w="6350">
            <a:solidFill>
              <a:srgbClr val="FFFFFF"/>
            </a:solidFill>
            <a:prstDash val="solid"/>
          </a:ln>
        </p:spPr>
      </p:sp>
      <p:sp>
        <p:nvSpPr>
          <p:cNvPr id="93" name="Text 91"/>
          <p:cNvSpPr txBox="1"/>
          <p:nvPr/>
        </p:nvSpPr>
        <p:spPr>
          <a:xfrm>
            <a:off x="4910328" y="4267429"/>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94" name="Text 92"/>
          <p:cNvSpPr txBox="1"/>
          <p:nvPr/>
        </p:nvSpPr>
        <p:spPr>
          <a:xfrm>
            <a:off x="658368"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95" name="Shape 93"/>
          <p:cNvSpPr/>
          <p:nvPr/>
        </p:nvSpPr>
        <p:spPr>
          <a:xfrm>
            <a:off x="2807208" y="4508401"/>
            <a:ext cx="1176321" cy="183138"/>
          </a:xfrm>
          <a:prstGeom prst="rect">
            <a:avLst/>
          </a:prstGeom>
          <a:solidFill>
            <a:srgbClr val="12A566"/>
          </a:solidFill>
          <a:ln w="6350">
            <a:solidFill>
              <a:srgbClr val="FFFFFF"/>
            </a:solidFill>
            <a:prstDash val="solid"/>
          </a:ln>
        </p:spPr>
      </p:sp>
      <p:sp>
        <p:nvSpPr>
          <p:cNvPr id="96" name="Text 94"/>
          <p:cNvSpPr txBox="1"/>
          <p:nvPr/>
        </p:nvSpPr>
        <p:spPr>
          <a:xfrm>
            <a:off x="2807208" y="4508401"/>
            <a:ext cx="117632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37</a:t>
            </a:r>
            <a:endParaRPr lang="en-US" sz="1300" dirty="0"/>
          </a:p>
        </p:txBody>
      </p:sp>
      <p:sp>
        <p:nvSpPr>
          <p:cNvPr id="97" name="Shape 95"/>
          <p:cNvSpPr/>
          <p:nvPr/>
        </p:nvSpPr>
        <p:spPr>
          <a:xfrm>
            <a:off x="3983529" y="4508401"/>
            <a:ext cx="908976" cy="183138"/>
          </a:xfrm>
          <a:prstGeom prst="rect">
            <a:avLst/>
          </a:prstGeom>
          <a:solidFill>
            <a:srgbClr val="5B9BD5"/>
          </a:solidFill>
          <a:ln w="6350">
            <a:solidFill>
              <a:srgbClr val="FFFFFF"/>
            </a:solidFill>
            <a:prstDash val="solid"/>
          </a:ln>
        </p:spPr>
      </p:sp>
      <p:sp>
        <p:nvSpPr>
          <p:cNvPr id="98" name="Text 96"/>
          <p:cNvSpPr txBox="1"/>
          <p:nvPr/>
        </p:nvSpPr>
        <p:spPr>
          <a:xfrm>
            <a:off x="3983529" y="4508401"/>
            <a:ext cx="90897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29</a:t>
            </a:r>
            <a:endParaRPr lang="en-US" sz="1300" dirty="0"/>
          </a:p>
        </p:txBody>
      </p:sp>
      <p:sp>
        <p:nvSpPr>
          <p:cNvPr id="99" name="Shape 97"/>
          <p:cNvSpPr/>
          <p:nvPr/>
        </p:nvSpPr>
        <p:spPr>
          <a:xfrm>
            <a:off x="4892505" y="4508401"/>
            <a:ext cx="1069383" cy="183138"/>
          </a:xfrm>
          <a:prstGeom prst="rect">
            <a:avLst/>
          </a:prstGeom>
          <a:solidFill>
            <a:srgbClr val="C2352F"/>
          </a:solidFill>
          <a:ln w="6350">
            <a:solidFill>
              <a:srgbClr val="FFFFFF"/>
            </a:solidFill>
            <a:prstDash val="solid"/>
          </a:ln>
        </p:spPr>
      </p:sp>
      <p:sp>
        <p:nvSpPr>
          <p:cNvPr id="100" name="Text 98"/>
          <p:cNvSpPr txBox="1"/>
          <p:nvPr/>
        </p:nvSpPr>
        <p:spPr>
          <a:xfrm>
            <a:off x="4892505" y="4508401"/>
            <a:ext cx="106938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34</a:t>
            </a:r>
            <a:endParaRPr lang="en-US" sz="1300" dirty="0"/>
          </a:p>
        </p:txBody>
      </p:sp>
      <p:sp>
        <p:nvSpPr>
          <p:cNvPr id="101" name="Text 99"/>
          <p:cNvSpPr txBox="1"/>
          <p:nvPr/>
        </p:nvSpPr>
        <p:spPr>
          <a:xfrm>
            <a:off x="658368"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02" name="Shape 100"/>
          <p:cNvSpPr/>
          <p:nvPr/>
        </p:nvSpPr>
        <p:spPr>
          <a:xfrm>
            <a:off x="2807208" y="4749372"/>
            <a:ext cx="1147156" cy="183138"/>
          </a:xfrm>
          <a:prstGeom prst="rect">
            <a:avLst/>
          </a:prstGeom>
          <a:solidFill>
            <a:srgbClr val="12A566"/>
          </a:solidFill>
          <a:ln w="6350">
            <a:solidFill>
              <a:srgbClr val="FFFFFF"/>
            </a:solidFill>
            <a:prstDash val="solid"/>
          </a:ln>
        </p:spPr>
      </p:sp>
      <p:sp>
        <p:nvSpPr>
          <p:cNvPr id="103" name="Text 101"/>
          <p:cNvSpPr txBox="1"/>
          <p:nvPr/>
        </p:nvSpPr>
        <p:spPr>
          <a:xfrm>
            <a:off x="2807208" y="4749372"/>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104" name="Shape 102"/>
          <p:cNvSpPr/>
          <p:nvPr/>
        </p:nvSpPr>
        <p:spPr>
          <a:xfrm>
            <a:off x="3954364" y="4749372"/>
            <a:ext cx="286789" cy="183138"/>
          </a:xfrm>
          <a:prstGeom prst="rect">
            <a:avLst/>
          </a:prstGeom>
          <a:solidFill>
            <a:srgbClr val="5B9BD5"/>
          </a:solidFill>
          <a:ln w="6350">
            <a:solidFill>
              <a:srgbClr val="FFFFFF"/>
            </a:solidFill>
            <a:prstDash val="solid"/>
          </a:ln>
        </p:spPr>
      </p:sp>
      <p:sp>
        <p:nvSpPr>
          <p:cNvPr id="105" name="Text 103"/>
          <p:cNvSpPr txBox="1"/>
          <p:nvPr/>
        </p:nvSpPr>
        <p:spPr>
          <a:xfrm>
            <a:off x="3954364" y="4749372"/>
            <a:ext cx="28678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9</a:t>
            </a:r>
            <a:endParaRPr lang="en-US" sz="1300" dirty="0"/>
          </a:p>
        </p:txBody>
      </p:sp>
      <p:sp>
        <p:nvSpPr>
          <p:cNvPr id="106" name="Shape 104"/>
          <p:cNvSpPr/>
          <p:nvPr/>
        </p:nvSpPr>
        <p:spPr>
          <a:xfrm>
            <a:off x="4241153" y="4749372"/>
            <a:ext cx="1720735" cy="183138"/>
          </a:xfrm>
          <a:prstGeom prst="rect">
            <a:avLst/>
          </a:prstGeom>
          <a:solidFill>
            <a:srgbClr val="C2352F"/>
          </a:solidFill>
          <a:ln w="6350">
            <a:solidFill>
              <a:srgbClr val="FFFFFF"/>
            </a:solidFill>
            <a:prstDash val="solid"/>
          </a:ln>
        </p:spPr>
      </p:sp>
      <p:sp>
        <p:nvSpPr>
          <p:cNvPr id="107" name="Text 105"/>
          <p:cNvSpPr txBox="1"/>
          <p:nvPr/>
        </p:nvSpPr>
        <p:spPr>
          <a:xfrm>
            <a:off x="4241153" y="4749372"/>
            <a:ext cx="172073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08" name="Text 106"/>
          <p:cNvSpPr txBox="1"/>
          <p:nvPr/>
        </p:nvSpPr>
        <p:spPr>
          <a:xfrm>
            <a:off x="658368"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09" name="Shape 107"/>
          <p:cNvSpPr/>
          <p:nvPr/>
        </p:nvSpPr>
        <p:spPr>
          <a:xfrm>
            <a:off x="2807208" y="4990343"/>
            <a:ext cx="1147156" cy="183138"/>
          </a:xfrm>
          <a:prstGeom prst="rect">
            <a:avLst/>
          </a:prstGeom>
          <a:solidFill>
            <a:srgbClr val="12A566"/>
          </a:solidFill>
          <a:ln w="6350">
            <a:solidFill>
              <a:srgbClr val="FFFFFF"/>
            </a:solidFill>
            <a:prstDash val="solid"/>
          </a:ln>
        </p:spPr>
      </p:sp>
      <p:sp>
        <p:nvSpPr>
          <p:cNvPr id="110" name="Text 108"/>
          <p:cNvSpPr txBox="1"/>
          <p:nvPr/>
        </p:nvSpPr>
        <p:spPr>
          <a:xfrm>
            <a:off x="2807208" y="4990343"/>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111" name="Shape 109"/>
          <p:cNvSpPr/>
          <p:nvPr/>
        </p:nvSpPr>
        <p:spPr>
          <a:xfrm>
            <a:off x="3954364" y="4990343"/>
            <a:ext cx="573578" cy="183138"/>
          </a:xfrm>
          <a:prstGeom prst="rect">
            <a:avLst/>
          </a:prstGeom>
          <a:solidFill>
            <a:srgbClr val="5B9BD5"/>
          </a:solidFill>
          <a:ln w="6350">
            <a:solidFill>
              <a:srgbClr val="FFFFFF"/>
            </a:solidFill>
            <a:prstDash val="solid"/>
          </a:ln>
        </p:spPr>
      </p:sp>
      <p:sp>
        <p:nvSpPr>
          <p:cNvPr id="112" name="Text 110"/>
          <p:cNvSpPr txBox="1"/>
          <p:nvPr/>
        </p:nvSpPr>
        <p:spPr>
          <a:xfrm>
            <a:off x="3954364" y="4990343"/>
            <a:ext cx="57357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113" name="Shape 111"/>
          <p:cNvSpPr/>
          <p:nvPr/>
        </p:nvSpPr>
        <p:spPr>
          <a:xfrm>
            <a:off x="4527943" y="4990343"/>
            <a:ext cx="1433945" cy="183138"/>
          </a:xfrm>
          <a:prstGeom prst="rect">
            <a:avLst/>
          </a:prstGeom>
          <a:solidFill>
            <a:srgbClr val="C2352F"/>
          </a:solidFill>
          <a:ln w="6350">
            <a:solidFill>
              <a:srgbClr val="FFFFFF"/>
            </a:solidFill>
            <a:prstDash val="solid"/>
          </a:ln>
        </p:spPr>
      </p:sp>
      <p:sp>
        <p:nvSpPr>
          <p:cNvPr id="114" name="Text 112"/>
          <p:cNvSpPr txBox="1"/>
          <p:nvPr/>
        </p:nvSpPr>
        <p:spPr>
          <a:xfrm>
            <a:off x="4527943" y="4990343"/>
            <a:ext cx="143394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115" name="Text 113"/>
          <p:cNvSpPr txBox="1"/>
          <p:nvPr/>
        </p:nvSpPr>
        <p:spPr>
          <a:xfrm>
            <a:off x="658368"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16" name="Shape 114"/>
          <p:cNvSpPr/>
          <p:nvPr/>
        </p:nvSpPr>
        <p:spPr>
          <a:xfrm>
            <a:off x="2807208" y="5231315"/>
            <a:ext cx="1051560" cy="183138"/>
          </a:xfrm>
          <a:prstGeom prst="rect">
            <a:avLst/>
          </a:prstGeom>
          <a:solidFill>
            <a:srgbClr val="12A566"/>
          </a:solidFill>
          <a:ln w="6350">
            <a:solidFill>
              <a:srgbClr val="FFFFFF"/>
            </a:solidFill>
            <a:prstDash val="solid"/>
          </a:ln>
        </p:spPr>
      </p:sp>
      <p:sp>
        <p:nvSpPr>
          <p:cNvPr id="117" name="Text 115"/>
          <p:cNvSpPr txBox="1"/>
          <p:nvPr/>
        </p:nvSpPr>
        <p:spPr>
          <a:xfrm>
            <a:off x="2807208" y="5231315"/>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118" name="Shape 116"/>
          <p:cNvSpPr/>
          <p:nvPr/>
        </p:nvSpPr>
        <p:spPr>
          <a:xfrm>
            <a:off x="3858768" y="5231315"/>
            <a:ext cx="914" cy="183138"/>
          </a:xfrm>
          <a:prstGeom prst="rect">
            <a:avLst/>
          </a:prstGeom>
          <a:solidFill>
            <a:srgbClr val="5B9BD5"/>
          </a:solidFill>
          <a:ln w="6350">
            <a:solidFill>
              <a:srgbClr val="FFFFFF"/>
            </a:solidFill>
            <a:prstDash val="solid"/>
          </a:ln>
        </p:spPr>
      </p:sp>
      <p:sp>
        <p:nvSpPr>
          <p:cNvPr id="119" name="Shape 117"/>
          <p:cNvSpPr/>
          <p:nvPr/>
        </p:nvSpPr>
        <p:spPr>
          <a:xfrm>
            <a:off x="3858768" y="5231315"/>
            <a:ext cx="2103120" cy="183138"/>
          </a:xfrm>
          <a:prstGeom prst="rect">
            <a:avLst/>
          </a:prstGeom>
          <a:solidFill>
            <a:srgbClr val="C2352F"/>
          </a:solidFill>
          <a:ln w="6350">
            <a:solidFill>
              <a:srgbClr val="FFFFFF"/>
            </a:solidFill>
            <a:prstDash val="solid"/>
          </a:ln>
        </p:spPr>
      </p:sp>
      <p:sp>
        <p:nvSpPr>
          <p:cNvPr id="120" name="Text 118"/>
          <p:cNvSpPr txBox="1"/>
          <p:nvPr/>
        </p:nvSpPr>
        <p:spPr>
          <a:xfrm>
            <a:off x="3858768" y="5231315"/>
            <a:ext cx="21031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67</a:t>
            </a:r>
            <a:endParaRPr lang="en-US" sz="1300" dirty="0"/>
          </a:p>
        </p:txBody>
      </p:sp>
      <p:sp>
        <p:nvSpPr>
          <p:cNvPr id="121" name="Text 119"/>
          <p:cNvSpPr txBox="1"/>
          <p:nvPr/>
        </p:nvSpPr>
        <p:spPr>
          <a:xfrm>
            <a:off x="658368"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22" name="Shape 120"/>
          <p:cNvSpPr/>
          <p:nvPr/>
        </p:nvSpPr>
        <p:spPr>
          <a:xfrm>
            <a:off x="2807208" y="5472286"/>
            <a:ext cx="1051560" cy="183138"/>
          </a:xfrm>
          <a:prstGeom prst="rect">
            <a:avLst/>
          </a:prstGeom>
          <a:solidFill>
            <a:srgbClr val="12A566"/>
          </a:solidFill>
          <a:ln w="6350">
            <a:solidFill>
              <a:srgbClr val="FFFFFF"/>
            </a:solidFill>
            <a:prstDash val="solid"/>
          </a:ln>
        </p:spPr>
      </p:sp>
      <p:sp>
        <p:nvSpPr>
          <p:cNvPr id="123" name="Text 121"/>
          <p:cNvSpPr txBox="1"/>
          <p:nvPr/>
        </p:nvSpPr>
        <p:spPr>
          <a:xfrm>
            <a:off x="2807208" y="5472286"/>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124" name="Shape 122"/>
          <p:cNvSpPr/>
          <p:nvPr/>
        </p:nvSpPr>
        <p:spPr>
          <a:xfrm>
            <a:off x="3858768" y="5472286"/>
            <a:ext cx="817880" cy="183138"/>
          </a:xfrm>
          <a:prstGeom prst="rect">
            <a:avLst/>
          </a:prstGeom>
          <a:solidFill>
            <a:srgbClr val="5B9BD5"/>
          </a:solidFill>
          <a:ln w="6350">
            <a:solidFill>
              <a:srgbClr val="FFFFFF"/>
            </a:solidFill>
            <a:prstDash val="solid"/>
          </a:ln>
        </p:spPr>
      </p:sp>
      <p:sp>
        <p:nvSpPr>
          <p:cNvPr id="125" name="Text 123"/>
          <p:cNvSpPr txBox="1"/>
          <p:nvPr/>
        </p:nvSpPr>
        <p:spPr>
          <a:xfrm>
            <a:off x="3858768" y="5472286"/>
            <a:ext cx="8178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126" name="Shape 124"/>
          <p:cNvSpPr/>
          <p:nvPr/>
        </p:nvSpPr>
        <p:spPr>
          <a:xfrm>
            <a:off x="4676648" y="5472286"/>
            <a:ext cx="1285240" cy="183138"/>
          </a:xfrm>
          <a:prstGeom prst="rect">
            <a:avLst/>
          </a:prstGeom>
          <a:solidFill>
            <a:srgbClr val="C2352F"/>
          </a:solidFill>
          <a:ln w="6350">
            <a:solidFill>
              <a:srgbClr val="FFFFFF"/>
            </a:solidFill>
            <a:prstDash val="solid"/>
          </a:ln>
        </p:spPr>
      </p:sp>
      <p:sp>
        <p:nvSpPr>
          <p:cNvPr id="127" name="Text 125"/>
          <p:cNvSpPr txBox="1"/>
          <p:nvPr/>
        </p:nvSpPr>
        <p:spPr>
          <a:xfrm>
            <a:off x="4676648" y="5472286"/>
            <a:ext cx="12852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128" name="Text 126"/>
          <p:cNvSpPr txBox="1"/>
          <p:nvPr/>
        </p:nvSpPr>
        <p:spPr>
          <a:xfrm>
            <a:off x="658368" y="568434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29" name="Shape 127"/>
          <p:cNvSpPr/>
          <p:nvPr/>
        </p:nvSpPr>
        <p:spPr>
          <a:xfrm>
            <a:off x="2807208" y="5713257"/>
            <a:ext cx="996215" cy="183138"/>
          </a:xfrm>
          <a:prstGeom prst="rect">
            <a:avLst/>
          </a:prstGeom>
          <a:solidFill>
            <a:srgbClr val="12A566"/>
          </a:solidFill>
          <a:ln w="6350">
            <a:solidFill>
              <a:srgbClr val="FFFFFF"/>
            </a:solidFill>
            <a:prstDash val="solid"/>
          </a:ln>
        </p:spPr>
      </p:sp>
      <p:sp>
        <p:nvSpPr>
          <p:cNvPr id="130" name="Text 128"/>
          <p:cNvSpPr txBox="1"/>
          <p:nvPr/>
        </p:nvSpPr>
        <p:spPr>
          <a:xfrm>
            <a:off x="2807208" y="5713257"/>
            <a:ext cx="99621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131" name="Shape 129"/>
          <p:cNvSpPr/>
          <p:nvPr/>
        </p:nvSpPr>
        <p:spPr>
          <a:xfrm>
            <a:off x="3803423" y="5713257"/>
            <a:ext cx="1162251" cy="183138"/>
          </a:xfrm>
          <a:prstGeom prst="rect">
            <a:avLst/>
          </a:prstGeom>
          <a:solidFill>
            <a:srgbClr val="5B9BD5"/>
          </a:solidFill>
          <a:ln w="6350">
            <a:solidFill>
              <a:srgbClr val="FFFFFF"/>
            </a:solidFill>
            <a:prstDash val="solid"/>
          </a:ln>
        </p:spPr>
      </p:sp>
      <p:sp>
        <p:nvSpPr>
          <p:cNvPr id="132" name="Text 130"/>
          <p:cNvSpPr txBox="1"/>
          <p:nvPr/>
        </p:nvSpPr>
        <p:spPr>
          <a:xfrm>
            <a:off x="3803423" y="5713257"/>
            <a:ext cx="116225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37</a:t>
            </a:r>
            <a:endParaRPr lang="en-US" sz="1300" dirty="0"/>
          </a:p>
        </p:txBody>
      </p:sp>
      <p:sp>
        <p:nvSpPr>
          <p:cNvPr id="133" name="Shape 131"/>
          <p:cNvSpPr/>
          <p:nvPr/>
        </p:nvSpPr>
        <p:spPr>
          <a:xfrm>
            <a:off x="4965673" y="5713257"/>
            <a:ext cx="996215" cy="183138"/>
          </a:xfrm>
          <a:prstGeom prst="rect">
            <a:avLst/>
          </a:prstGeom>
          <a:solidFill>
            <a:srgbClr val="C2352F"/>
          </a:solidFill>
          <a:ln w="6350">
            <a:solidFill>
              <a:srgbClr val="FFFFFF"/>
            </a:solidFill>
            <a:prstDash val="solid"/>
          </a:ln>
        </p:spPr>
      </p:sp>
      <p:sp>
        <p:nvSpPr>
          <p:cNvPr id="134" name="Text 132"/>
          <p:cNvSpPr txBox="1"/>
          <p:nvPr/>
        </p:nvSpPr>
        <p:spPr>
          <a:xfrm>
            <a:off x="4965673" y="5713257"/>
            <a:ext cx="99621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135" name="Text 133"/>
          <p:cNvSpPr txBox="1"/>
          <p:nvPr/>
        </p:nvSpPr>
        <p:spPr>
          <a:xfrm>
            <a:off x="6208776"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36" name="Shape 134"/>
          <p:cNvSpPr/>
          <p:nvPr/>
        </p:nvSpPr>
        <p:spPr>
          <a:xfrm>
            <a:off x="8357616" y="1857717"/>
            <a:ext cx="985838" cy="183138"/>
          </a:xfrm>
          <a:prstGeom prst="rect">
            <a:avLst/>
          </a:prstGeom>
          <a:solidFill>
            <a:srgbClr val="12A566"/>
          </a:solidFill>
          <a:ln w="6350">
            <a:solidFill>
              <a:srgbClr val="FFFFFF"/>
            </a:solidFill>
            <a:prstDash val="solid"/>
          </a:ln>
        </p:spPr>
      </p:sp>
      <p:sp>
        <p:nvSpPr>
          <p:cNvPr id="137" name="Text 135"/>
          <p:cNvSpPr txBox="1"/>
          <p:nvPr/>
        </p:nvSpPr>
        <p:spPr>
          <a:xfrm>
            <a:off x="8357616" y="1857717"/>
            <a:ext cx="98583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31</a:t>
            </a:r>
            <a:endParaRPr lang="en-US" sz="1300" dirty="0"/>
          </a:p>
        </p:txBody>
      </p:sp>
      <p:sp>
        <p:nvSpPr>
          <p:cNvPr id="138" name="Shape 136"/>
          <p:cNvSpPr/>
          <p:nvPr/>
        </p:nvSpPr>
        <p:spPr>
          <a:xfrm>
            <a:off x="9343454" y="1857717"/>
            <a:ext cx="591503" cy="183138"/>
          </a:xfrm>
          <a:prstGeom prst="rect">
            <a:avLst/>
          </a:prstGeom>
          <a:solidFill>
            <a:srgbClr val="5B9BD5"/>
          </a:solidFill>
          <a:ln w="6350">
            <a:solidFill>
              <a:srgbClr val="FFFFFF"/>
            </a:solidFill>
            <a:prstDash val="solid"/>
          </a:ln>
        </p:spPr>
      </p:sp>
      <p:sp>
        <p:nvSpPr>
          <p:cNvPr id="139" name="Text 137"/>
          <p:cNvSpPr txBox="1"/>
          <p:nvPr/>
        </p:nvSpPr>
        <p:spPr>
          <a:xfrm>
            <a:off x="9343454" y="1857717"/>
            <a:ext cx="59150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19</a:t>
            </a:r>
            <a:endParaRPr lang="en-US" sz="1300" dirty="0"/>
          </a:p>
        </p:txBody>
      </p:sp>
      <p:sp>
        <p:nvSpPr>
          <p:cNvPr id="140" name="Shape 138"/>
          <p:cNvSpPr/>
          <p:nvPr/>
        </p:nvSpPr>
        <p:spPr>
          <a:xfrm>
            <a:off x="9934956" y="1857717"/>
            <a:ext cx="1577340" cy="183138"/>
          </a:xfrm>
          <a:prstGeom prst="rect">
            <a:avLst/>
          </a:prstGeom>
          <a:solidFill>
            <a:srgbClr val="C2352F"/>
          </a:solidFill>
          <a:ln w="6350">
            <a:solidFill>
              <a:srgbClr val="FFFFFF"/>
            </a:solidFill>
            <a:prstDash val="solid"/>
          </a:ln>
        </p:spPr>
      </p:sp>
      <p:sp>
        <p:nvSpPr>
          <p:cNvPr id="141" name="Text 139"/>
          <p:cNvSpPr txBox="1"/>
          <p:nvPr/>
        </p:nvSpPr>
        <p:spPr>
          <a:xfrm>
            <a:off x="9934956" y="1857717"/>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142" name="Text 140"/>
          <p:cNvSpPr txBox="1"/>
          <p:nvPr/>
        </p:nvSpPr>
        <p:spPr>
          <a:xfrm>
            <a:off x="6208776"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43" name="Shape 141"/>
          <p:cNvSpPr/>
          <p:nvPr/>
        </p:nvSpPr>
        <p:spPr>
          <a:xfrm>
            <a:off x="8357616" y="2098688"/>
            <a:ext cx="901337" cy="183138"/>
          </a:xfrm>
          <a:prstGeom prst="rect">
            <a:avLst/>
          </a:prstGeom>
          <a:solidFill>
            <a:srgbClr val="12A566"/>
          </a:solidFill>
          <a:ln w="6350">
            <a:solidFill>
              <a:srgbClr val="FFFFFF"/>
            </a:solidFill>
            <a:prstDash val="solid"/>
          </a:ln>
        </p:spPr>
      </p:sp>
      <p:sp>
        <p:nvSpPr>
          <p:cNvPr id="144" name="Text 142"/>
          <p:cNvSpPr txBox="1"/>
          <p:nvPr/>
        </p:nvSpPr>
        <p:spPr>
          <a:xfrm>
            <a:off x="8357616" y="2098688"/>
            <a:ext cx="90133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29</a:t>
            </a:r>
            <a:endParaRPr lang="en-US" sz="1300" dirty="0"/>
          </a:p>
        </p:txBody>
      </p:sp>
      <p:sp>
        <p:nvSpPr>
          <p:cNvPr id="145" name="Shape 143"/>
          <p:cNvSpPr/>
          <p:nvPr/>
        </p:nvSpPr>
        <p:spPr>
          <a:xfrm>
            <a:off x="9258953" y="2098688"/>
            <a:ext cx="225334" cy="183138"/>
          </a:xfrm>
          <a:prstGeom prst="rect">
            <a:avLst/>
          </a:prstGeom>
          <a:solidFill>
            <a:srgbClr val="5B9BD5"/>
          </a:solidFill>
          <a:ln w="6350">
            <a:solidFill>
              <a:srgbClr val="FFFFFF"/>
            </a:solidFill>
            <a:prstDash val="solid"/>
          </a:ln>
        </p:spPr>
      </p:sp>
      <p:sp>
        <p:nvSpPr>
          <p:cNvPr id="146" name="Text 144"/>
          <p:cNvSpPr txBox="1"/>
          <p:nvPr/>
        </p:nvSpPr>
        <p:spPr>
          <a:xfrm>
            <a:off x="9258953" y="2098688"/>
            <a:ext cx="22533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a:t>
            </a:r>
            <a:endParaRPr lang="en-US" sz="1300" dirty="0"/>
          </a:p>
        </p:txBody>
      </p:sp>
      <p:sp>
        <p:nvSpPr>
          <p:cNvPr id="147" name="Shape 145"/>
          <p:cNvSpPr/>
          <p:nvPr/>
        </p:nvSpPr>
        <p:spPr>
          <a:xfrm>
            <a:off x="9484287" y="2098688"/>
            <a:ext cx="2028009" cy="183138"/>
          </a:xfrm>
          <a:prstGeom prst="rect">
            <a:avLst/>
          </a:prstGeom>
          <a:solidFill>
            <a:srgbClr val="C2352F"/>
          </a:solidFill>
          <a:ln w="6350">
            <a:solidFill>
              <a:srgbClr val="FFFFFF"/>
            </a:solidFill>
            <a:prstDash val="solid"/>
          </a:ln>
        </p:spPr>
      </p:sp>
      <p:sp>
        <p:nvSpPr>
          <p:cNvPr id="148" name="Text 146"/>
          <p:cNvSpPr txBox="1"/>
          <p:nvPr/>
        </p:nvSpPr>
        <p:spPr>
          <a:xfrm>
            <a:off x="9484287" y="2098688"/>
            <a:ext cx="202800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64</a:t>
            </a:r>
            <a:endParaRPr lang="en-US" sz="1300" dirty="0"/>
          </a:p>
        </p:txBody>
      </p:sp>
      <p:sp>
        <p:nvSpPr>
          <p:cNvPr id="149" name="Text 147"/>
          <p:cNvSpPr txBox="1"/>
          <p:nvPr/>
        </p:nvSpPr>
        <p:spPr>
          <a:xfrm>
            <a:off x="6208776"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50" name="Shape 148"/>
          <p:cNvSpPr/>
          <p:nvPr/>
        </p:nvSpPr>
        <p:spPr>
          <a:xfrm>
            <a:off x="8357616" y="2339659"/>
            <a:ext cx="870257" cy="183138"/>
          </a:xfrm>
          <a:prstGeom prst="rect">
            <a:avLst/>
          </a:prstGeom>
          <a:solidFill>
            <a:srgbClr val="12A566"/>
          </a:solidFill>
          <a:ln w="6350">
            <a:solidFill>
              <a:srgbClr val="FFFFFF"/>
            </a:solidFill>
            <a:prstDash val="solid"/>
          </a:ln>
        </p:spPr>
      </p:sp>
      <p:sp>
        <p:nvSpPr>
          <p:cNvPr id="151" name="Text 149"/>
          <p:cNvSpPr txBox="1"/>
          <p:nvPr/>
        </p:nvSpPr>
        <p:spPr>
          <a:xfrm>
            <a:off x="8357616" y="2339659"/>
            <a:ext cx="87025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152" name="Shape 150"/>
          <p:cNvSpPr/>
          <p:nvPr/>
        </p:nvSpPr>
        <p:spPr>
          <a:xfrm>
            <a:off x="9227873" y="2339659"/>
            <a:ext cx="543910" cy="183138"/>
          </a:xfrm>
          <a:prstGeom prst="rect">
            <a:avLst/>
          </a:prstGeom>
          <a:solidFill>
            <a:srgbClr val="5B9BD5"/>
          </a:solidFill>
          <a:ln w="6350">
            <a:solidFill>
              <a:srgbClr val="FFFFFF"/>
            </a:solidFill>
            <a:prstDash val="solid"/>
          </a:ln>
        </p:spPr>
      </p:sp>
      <p:sp>
        <p:nvSpPr>
          <p:cNvPr id="153" name="Text 151"/>
          <p:cNvSpPr txBox="1"/>
          <p:nvPr/>
        </p:nvSpPr>
        <p:spPr>
          <a:xfrm>
            <a:off x="9227873" y="2339659"/>
            <a:ext cx="54391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154" name="Shape 152"/>
          <p:cNvSpPr/>
          <p:nvPr/>
        </p:nvSpPr>
        <p:spPr>
          <a:xfrm>
            <a:off x="9771783" y="2339659"/>
            <a:ext cx="1740513" cy="183138"/>
          </a:xfrm>
          <a:prstGeom prst="rect">
            <a:avLst/>
          </a:prstGeom>
          <a:solidFill>
            <a:srgbClr val="C2352F"/>
          </a:solidFill>
          <a:ln w="6350">
            <a:solidFill>
              <a:srgbClr val="FFFFFF"/>
            </a:solidFill>
            <a:prstDash val="solid"/>
          </a:ln>
        </p:spPr>
      </p:sp>
      <p:sp>
        <p:nvSpPr>
          <p:cNvPr id="155" name="Text 153"/>
          <p:cNvSpPr txBox="1"/>
          <p:nvPr/>
        </p:nvSpPr>
        <p:spPr>
          <a:xfrm>
            <a:off x="9771783" y="2339659"/>
            <a:ext cx="174051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56" name="Text 154"/>
          <p:cNvSpPr txBox="1"/>
          <p:nvPr/>
        </p:nvSpPr>
        <p:spPr>
          <a:xfrm>
            <a:off x="6208776"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57" name="Shape 155"/>
          <p:cNvSpPr/>
          <p:nvPr/>
        </p:nvSpPr>
        <p:spPr>
          <a:xfrm>
            <a:off x="8357616" y="2580630"/>
            <a:ext cx="860367" cy="183138"/>
          </a:xfrm>
          <a:prstGeom prst="rect">
            <a:avLst/>
          </a:prstGeom>
          <a:solidFill>
            <a:srgbClr val="12A566"/>
          </a:solidFill>
          <a:ln w="6350">
            <a:solidFill>
              <a:srgbClr val="FFFFFF"/>
            </a:solidFill>
            <a:prstDash val="solid"/>
          </a:ln>
        </p:spPr>
      </p:sp>
      <p:sp>
        <p:nvSpPr>
          <p:cNvPr id="158" name="Text 156"/>
          <p:cNvSpPr txBox="1"/>
          <p:nvPr/>
        </p:nvSpPr>
        <p:spPr>
          <a:xfrm>
            <a:off x="8357616" y="2580630"/>
            <a:ext cx="86036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159" name="Shape 157"/>
          <p:cNvSpPr/>
          <p:nvPr/>
        </p:nvSpPr>
        <p:spPr>
          <a:xfrm>
            <a:off x="9217983" y="2580630"/>
            <a:ext cx="914" cy="183138"/>
          </a:xfrm>
          <a:prstGeom prst="rect">
            <a:avLst/>
          </a:prstGeom>
          <a:solidFill>
            <a:srgbClr val="5B9BD5"/>
          </a:solidFill>
          <a:ln w="6350">
            <a:solidFill>
              <a:srgbClr val="FFFFFF"/>
            </a:solidFill>
            <a:prstDash val="solid"/>
          </a:ln>
        </p:spPr>
      </p:sp>
      <p:sp>
        <p:nvSpPr>
          <p:cNvPr id="160" name="Shape 158"/>
          <p:cNvSpPr/>
          <p:nvPr/>
        </p:nvSpPr>
        <p:spPr>
          <a:xfrm>
            <a:off x="9217983" y="2580630"/>
            <a:ext cx="2294313" cy="183138"/>
          </a:xfrm>
          <a:prstGeom prst="rect">
            <a:avLst/>
          </a:prstGeom>
          <a:solidFill>
            <a:srgbClr val="C2352F"/>
          </a:solidFill>
          <a:ln w="6350">
            <a:solidFill>
              <a:srgbClr val="FFFFFF"/>
            </a:solidFill>
            <a:prstDash val="solid"/>
          </a:ln>
        </p:spPr>
      </p:sp>
      <p:sp>
        <p:nvSpPr>
          <p:cNvPr id="161" name="Text 159"/>
          <p:cNvSpPr txBox="1"/>
          <p:nvPr/>
        </p:nvSpPr>
        <p:spPr>
          <a:xfrm>
            <a:off x="9217983" y="2580630"/>
            <a:ext cx="229431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73</a:t>
            </a:r>
            <a:endParaRPr lang="en-US" sz="1300" dirty="0"/>
          </a:p>
        </p:txBody>
      </p:sp>
      <p:sp>
        <p:nvSpPr>
          <p:cNvPr id="162" name="Text 160"/>
          <p:cNvSpPr txBox="1"/>
          <p:nvPr/>
        </p:nvSpPr>
        <p:spPr>
          <a:xfrm>
            <a:off x="6208776"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63" name="Shape 161"/>
          <p:cNvSpPr/>
          <p:nvPr/>
        </p:nvSpPr>
        <p:spPr>
          <a:xfrm>
            <a:off x="8357616" y="2821602"/>
            <a:ext cx="860367" cy="183138"/>
          </a:xfrm>
          <a:prstGeom prst="rect">
            <a:avLst/>
          </a:prstGeom>
          <a:solidFill>
            <a:srgbClr val="12A566"/>
          </a:solidFill>
          <a:ln w="6350">
            <a:solidFill>
              <a:srgbClr val="FFFFFF"/>
            </a:solidFill>
            <a:prstDash val="solid"/>
          </a:ln>
        </p:spPr>
      </p:sp>
      <p:sp>
        <p:nvSpPr>
          <p:cNvPr id="164" name="Text 162"/>
          <p:cNvSpPr txBox="1"/>
          <p:nvPr/>
        </p:nvSpPr>
        <p:spPr>
          <a:xfrm>
            <a:off x="8357616" y="2821602"/>
            <a:ext cx="86036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165" name="Shape 163"/>
          <p:cNvSpPr/>
          <p:nvPr/>
        </p:nvSpPr>
        <p:spPr>
          <a:xfrm>
            <a:off x="9217983" y="2821602"/>
            <a:ext cx="716973" cy="183138"/>
          </a:xfrm>
          <a:prstGeom prst="rect">
            <a:avLst/>
          </a:prstGeom>
          <a:solidFill>
            <a:srgbClr val="5B9BD5"/>
          </a:solidFill>
          <a:ln w="6350">
            <a:solidFill>
              <a:srgbClr val="FFFFFF"/>
            </a:solidFill>
            <a:prstDash val="solid"/>
          </a:ln>
        </p:spPr>
      </p:sp>
      <p:sp>
        <p:nvSpPr>
          <p:cNvPr id="166" name="Text 164"/>
          <p:cNvSpPr txBox="1"/>
          <p:nvPr/>
        </p:nvSpPr>
        <p:spPr>
          <a:xfrm>
            <a:off x="9217983" y="2821602"/>
            <a:ext cx="71697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23</a:t>
            </a:r>
            <a:endParaRPr lang="en-US" sz="1300" dirty="0"/>
          </a:p>
        </p:txBody>
      </p:sp>
      <p:sp>
        <p:nvSpPr>
          <p:cNvPr id="167" name="Shape 165"/>
          <p:cNvSpPr/>
          <p:nvPr/>
        </p:nvSpPr>
        <p:spPr>
          <a:xfrm>
            <a:off x="9934956" y="2821602"/>
            <a:ext cx="1577340" cy="183138"/>
          </a:xfrm>
          <a:prstGeom prst="rect">
            <a:avLst/>
          </a:prstGeom>
          <a:solidFill>
            <a:srgbClr val="C2352F"/>
          </a:solidFill>
          <a:ln w="6350">
            <a:solidFill>
              <a:srgbClr val="FFFFFF"/>
            </a:solidFill>
            <a:prstDash val="solid"/>
          </a:ln>
        </p:spPr>
      </p:sp>
      <p:sp>
        <p:nvSpPr>
          <p:cNvPr id="168" name="Text 166"/>
          <p:cNvSpPr txBox="1"/>
          <p:nvPr/>
        </p:nvSpPr>
        <p:spPr>
          <a:xfrm>
            <a:off x="9934956" y="2821602"/>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169" name="Text 167"/>
          <p:cNvSpPr txBox="1"/>
          <p:nvPr/>
        </p:nvSpPr>
        <p:spPr>
          <a:xfrm>
            <a:off x="6208776"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70" name="Shape 168"/>
          <p:cNvSpPr/>
          <p:nvPr/>
        </p:nvSpPr>
        <p:spPr>
          <a:xfrm>
            <a:off x="8357616" y="3062573"/>
            <a:ext cx="822960" cy="183138"/>
          </a:xfrm>
          <a:prstGeom prst="rect">
            <a:avLst/>
          </a:prstGeom>
          <a:solidFill>
            <a:srgbClr val="12A566"/>
          </a:solidFill>
          <a:ln w="6350">
            <a:solidFill>
              <a:srgbClr val="FFFFFF"/>
            </a:solidFill>
            <a:prstDash val="solid"/>
          </a:ln>
        </p:spPr>
      </p:sp>
      <p:sp>
        <p:nvSpPr>
          <p:cNvPr id="171" name="Text 169"/>
          <p:cNvSpPr txBox="1"/>
          <p:nvPr/>
        </p:nvSpPr>
        <p:spPr>
          <a:xfrm>
            <a:off x="8357616" y="3062573"/>
            <a:ext cx="8229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172" name="Shape 170"/>
          <p:cNvSpPr/>
          <p:nvPr/>
        </p:nvSpPr>
        <p:spPr>
          <a:xfrm>
            <a:off x="9180576" y="3062573"/>
            <a:ext cx="548640" cy="183138"/>
          </a:xfrm>
          <a:prstGeom prst="rect">
            <a:avLst/>
          </a:prstGeom>
          <a:solidFill>
            <a:srgbClr val="5B9BD5"/>
          </a:solidFill>
          <a:ln w="6350">
            <a:solidFill>
              <a:srgbClr val="FFFFFF"/>
            </a:solidFill>
            <a:prstDash val="solid"/>
          </a:ln>
        </p:spPr>
      </p:sp>
      <p:sp>
        <p:nvSpPr>
          <p:cNvPr id="173" name="Text 171"/>
          <p:cNvSpPr txBox="1"/>
          <p:nvPr/>
        </p:nvSpPr>
        <p:spPr>
          <a:xfrm>
            <a:off x="9180576" y="3062573"/>
            <a:ext cx="5486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174" name="Shape 172"/>
          <p:cNvSpPr/>
          <p:nvPr/>
        </p:nvSpPr>
        <p:spPr>
          <a:xfrm>
            <a:off x="9729216" y="3062573"/>
            <a:ext cx="1783080" cy="183138"/>
          </a:xfrm>
          <a:prstGeom prst="rect">
            <a:avLst/>
          </a:prstGeom>
          <a:solidFill>
            <a:srgbClr val="C2352F"/>
          </a:solidFill>
          <a:ln w="6350">
            <a:solidFill>
              <a:srgbClr val="FFFFFF"/>
            </a:solidFill>
            <a:prstDash val="solid"/>
          </a:ln>
        </p:spPr>
      </p:sp>
      <p:sp>
        <p:nvSpPr>
          <p:cNvPr id="175" name="Text 173"/>
          <p:cNvSpPr txBox="1"/>
          <p:nvPr/>
        </p:nvSpPr>
        <p:spPr>
          <a:xfrm>
            <a:off x="9729216" y="3062573"/>
            <a:ext cx="17830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76" name="Text 174"/>
          <p:cNvSpPr txBox="1"/>
          <p:nvPr/>
        </p:nvSpPr>
        <p:spPr>
          <a:xfrm>
            <a:off x="6208776"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77" name="Shape 175"/>
          <p:cNvSpPr/>
          <p:nvPr/>
        </p:nvSpPr>
        <p:spPr>
          <a:xfrm>
            <a:off x="8357616" y="3303544"/>
            <a:ext cx="556708" cy="183138"/>
          </a:xfrm>
          <a:prstGeom prst="rect">
            <a:avLst/>
          </a:prstGeom>
          <a:solidFill>
            <a:srgbClr val="12A566"/>
          </a:solidFill>
          <a:ln w="6350">
            <a:solidFill>
              <a:srgbClr val="FFFFFF"/>
            </a:solidFill>
            <a:prstDash val="solid"/>
          </a:ln>
        </p:spPr>
      </p:sp>
      <p:sp>
        <p:nvSpPr>
          <p:cNvPr id="178" name="Text 176"/>
          <p:cNvSpPr txBox="1"/>
          <p:nvPr/>
        </p:nvSpPr>
        <p:spPr>
          <a:xfrm>
            <a:off x="8357616" y="3303544"/>
            <a:ext cx="5567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179" name="Shape 177"/>
          <p:cNvSpPr/>
          <p:nvPr/>
        </p:nvSpPr>
        <p:spPr>
          <a:xfrm>
            <a:off x="8914324" y="3303544"/>
            <a:ext cx="1113416" cy="183138"/>
          </a:xfrm>
          <a:prstGeom prst="rect">
            <a:avLst/>
          </a:prstGeom>
          <a:solidFill>
            <a:srgbClr val="5B9BD5"/>
          </a:solidFill>
          <a:ln w="6350">
            <a:solidFill>
              <a:srgbClr val="FFFFFF"/>
            </a:solidFill>
            <a:prstDash val="solid"/>
          </a:ln>
        </p:spPr>
      </p:sp>
      <p:sp>
        <p:nvSpPr>
          <p:cNvPr id="180" name="Text 178"/>
          <p:cNvSpPr txBox="1"/>
          <p:nvPr/>
        </p:nvSpPr>
        <p:spPr>
          <a:xfrm>
            <a:off x="8914324" y="3303544"/>
            <a:ext cx="111341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35</a:t>
            </a:r>
            <a:endParaRPr lang="en-US" sz="1300" dirty="0"/>
          </a:p>
        </p:txBody>
      </p:sp>
      <p:sp>
        <p:nvSpPr>
          <p:cNvPr id="181" name="Shape 179"/>
          <p:cNvSpPr/>
          <p:nvPr/>
        </p:nvSpPr>
        <p:spPr>
          <a:xfrm>
            <a:off x="10027741" y="3303544"/>
            <a:ext cx="1484555" cy="183138"/>
          </a:xfrm>
          <a:prstGeom prst="rect">
            <a:avLst/>
          </a:prstGeom>
          <a:solidFill>
            <a:srgbClr val="C2352F"/>
          </a:solidFill>
          <a:ln w="6350">
            <a:solidFill>
              <a:srgbClr val="FFFFFF"/>
            </a:solidFill>
            <a:prstDash val="solid"/>
          </a:ln>
        </p:spPr>
      </p:sp>
      <p:sp>
        <p:nvSpPr>
          <p:cNvPr id="182" name="Text 180"/>
          <p:cNvSpPr txBox="1"/>
          <p:nvPr/>
        </p:nvSpPr>
        <p:spPr>
          <a:xfrm>
            <a:off x="10027741" y="3303544"/>
            <a:ext cx="148455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47</a:t>
            </a:r>
            <a:endParaRPr lang="en-US" sz="1300" dirty="0"/>
          </a:p>
        </p:txBody>
      </p:sp>
      <p:sp>
        <p:nvSpPr>
          <p:cNvPr id="183" name="Text 181"/>
          <p:cNvSpPr txBox="1"/>
          <p:nvPr/>
        </p:nvSpPr>
        <p:spPr>
          <a:xfrm>
            <a:off x="6208776"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84" name="Shape 182"/>
          <p:cNvSpPr/>
          <p:nvPr/>
        </p:nvSpPr>
        <p:spPr>
          <a:xfrm>
            <a:off x="8357616" y="3544516"/>
            <a:ext cx="525780" cy="183138"/>
          </a:xfrm>
          <a:prstGeom prst="rect">
            <a:avLst/>
          </a:prstGeom>
          <a:solidFill>
            <a:srgbClr val="12A566"/>
          </a:solidFill>
          <a:ln w="6350">
            <a:solidFill>
              <a:srgbClr val="FFFFFF"/>
            </a:solidFill>
            <a:prstDash val="solid"/>
          </a:ln>
        </p:spPr>
      </p:sp>
      <p:sp>
        <p:nvSpPr>
          <p:cNvPr id="185" name="Text 183"/>
          <p:cNvSpPr txBox="1"/>
          <p:nvPr/>
        </p:nvSpPr>
        <p:spPr>
          <a:xfrm>
            <a:off x="8357616" y="3544516"/>
            <a:ext cx="5257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186" name="Shape 184"/>
          <p:cNvSpPr/>
          <p:nvPr/>
        </p:nvSpPr>
        <p:spPr>
          <a:xfrm>
            <a:off x="8883396" y="3544516"/>
            <a:ext cx="1577340" cy="183138"/>
          </a:xfrm>
          <a:prstGeom prst="rect">
            <a:avLst/>
          </a:prstGeom>
          <a:solidFill>
            <a:srgbClr val="5B9BD5"/>
          </a:solidFill>
          <a:ln w="6350">
            <a:solidFill>
              <a:srgbClr val="FFFFFF"/>
            </a:solidFill>
            <a:prstDash val="solid"/>
          </a:ln>
        </p:spPr>
      </p:sp>
      <p:sp>
        <p:nvSpPr>
          <p:cNvPr id="187" name="Text 185"/>
          <p:cNvSpPr txBox="1"/>
          <p:nvPr/>
        </p:nvSpPr>
        <p:spPr>
          <a:xfrm>
            <a:off x="8883396" y="3544516"/>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188" name="Shape 186"/>
          <p:cNvSpPr/>
          <p:nvPr/>
        </p:nvSpPr>
        <p:spPr>
          <a:xfrm>
            <a:off x="10460736" y="3544516"/>
            <a:ext cx="1051560" cy="183138"/>
          </a:xfrm>
          <a:prstGeom prst="rect">
            <a:avLst/>
          </a:prstGeom>
          <a:solidFill>
            <a:srgbClr val="C2352F"/>
          </a:solidFill>
          <a:ln w="6350">
            <a:solidFill>
              <a:srgbClr val="FFFFFF"/>
            </a:solidFill>
            <a:prstDash val="solid"/>
          </a:ln>
        </p:spPr>
      </p:sp>
      <p:sp>
        <p:nvSpPr>
          <p:cNvPr id="189" name="Text 187"/>
          <p:cNvSpPr txBox="1"/>
          <p:nvPr/>
        </p:nvSpPr>
        <p:spPr>
          <a:xfrm>
            <a:off x="10460736" y="3544516"/>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190" name="Text 188"/>
          <p:cNvSpPr txBox="1"/>
          <p:nvPr/>
        </p:nvSpPr>
        <p:spPr>
          <a:xfrm>
            <a:off x="6208776"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91" name="Shape 189"/>
          <p:cNvSpPr/>
          <p:nvPr/>
        </p:nvSpPr>
        <p:spPr>
          <a:xfrm>
            <a:off x="8357616" y="3785487"/>
            <a:ext cx="350520" cy="183138"/>
          </a:xfrm>
          <a:prstGeom prst="rect">
            <a:avLst/>
          </a:prstGeom>
          <a:solidFill>
            <a:srgbClr val="12A566"/>
          </a:solidFill>
          <a:ln w="6350">
            <a:solidFill>
              <a:srgbClr val="FFFFFF"/>
            </a:solidFill>
            <a:prstDash val="solid"/>
          </a:ln>
        </p:spPr>
      </p:sp>
      <p:sp>
        <p:nvSpPr>
          <p:cNvPr id="192" name="Text 190"/>
          <p:cNvSpPr txBox="1"/>
          <p:nvPr/>
        </p:nvSpPr>
        <p:spPr>
          <a:xfrm>
            <a:off x="8357616" y="3785487"/>
            <a:ext cx="3505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11</a:t>
            </a:r>
            <a:endParaRPr lang="en-US" sz="1300" dirty="0"/>
          </a:p>
        </p:txBody>
      </p:sp>
      <p:sp>
        <p:nvSpPr>
          <p:cNvPr id="193" name="Shape 191"/>
          <p:cNvSpPr/>
          <p:nvPr/>
        </p:nvSpPr>
        <p:spPr>
          <a:xfrm>
            <a:off x="8708136" y="3785487"/>
            <a:ext cx="701040" cy="183138"/>
          </a:xfrm>
          <a:prstGeom prst="rect">
            <a:avLst/>
          </a:prstGeom>
          <a:solidFill>
            <a:srgbClr val="5B9BD5"/>
          </a:solidFill>
          <a:ln w="6350">
            <a:solidFill>
              <a:srgbClr val="FFFFFF"/>
            </a:solidFill>
            <a:prstDash val="solid"/>
          </a:ln>
        </p:spPr>
      </p:sp>
      <p:sp>
        <p:nvSpPr>
          <p:cNvPr id="194" name="Text 192"/>
          <p:cNvSpPr txBox="1"/>
          <p:nvPr/>
        </p:nvSpPr>
        <p:spPr>
          <a:xfrm>
            <a:off x="8708136" y="3785487"/>
            <a:ext cx="7010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22</a:t>
            </a:r>
            <a:endParaRPr lang="en-US" sz="1300" dirty="0"/>
          </a:p>
        </p:txBody>
      </p:sp>
      <p:sp>
        <p:nvSpPr>
          <p:cNvPr id="195" name="Shape 193"/>
          <p:cNvSpPr/>
          <p:nvPr/>
        </p:nvSpPr>
        <p:spPr>
          <a:xfrm>
            <a:off x="9409176" y="3785487"/>
            <a:ext cx="2103120" cy="183138"/>
          </a:xfrm>
          <a:prstGeom prst="rect">
            <a:avLst/>
          </a:prstGeom>
          <a:solidFill>
            <a:srgbClr val="C2352F"/>
          </a:solidFill>
          <a:ln w="6350">
            <a:solidFill>
              <a:srgbClr val="FFFFFF"/>
            </a:solidFill>
            <a:prstDash val="solid"/>
          </a:ln>
        </p:spPr>
      </p:sp>
      <p:sp>
        <p:nvSpPr>
          <p:cNvPr id="196" name="Text 194"/>
          <p:cNvSpPr txBox="1"/>
          <p:nvPr/>
        </p:nvSpPr>
        <p:spPr>
          <a:xfrm>
            <a:off x="9409176" y="3785487"/>
            <a:ext cx="21031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67</a:t>
            </a:r>
            <a:endParaRPr lang="en-US" sz="1300" dirty="0"/>
          </a:p>
        </p:txBody>
      </p:sp>
      <p:sp>
        <p:nvSpPr>
          <p:cNvPr id="197" name="Text 195"/>
          <p:cNvSpPr txBox="1"/>
          <p:nvPr/>
        </p:nvSpPr>
        <p:spPr>
          <a:xfrm>
            <a:off x="6208776"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98" name="Shape 196"/>
          <p:cNvSpPr/>
          <p:nvPr/>
        </p:nvSpPr>
        <p:spPr>
          <a:xfrm>
            <a:off x="8357616" y="4026458"/>
            <a:ext cx="315468" cy="183138"/>
          </a:xfrm>
          <a:prstGeom prst="rect">
            <a:avLst/>
          </a:prstGeom>
          <a:solidFill>
            <a:srgbClr val="12A566"/>
          </a:solidFill>
          <a:ln w="6350">
            <a:solidFill>
              <a:srgbClr val="FFFFFF"/>
            </a:solidFill>
            <a:prstDash val="solid"/>
          </a:ln>
        </p:spPr>
      </p:sp>
      <p:sp>
        <p:nvSpPr>
          <p:cNvPr id="199" name="Text 197"/>
          <p:cNvSpPr txBox="1"/>
          <p:nvPr/>
        </p:nvSpPr>
        <p:spPr>
          <a:xfrm>
            <a:off x="8357616" y="4026458"/>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0" name="Shape 198"/>
          <p:cNvSpPr/>
          <p:nvPr/>
        </p:nvSpPr>
        <p:spPr>
          <a:xfrm>
            <a:off x="8673084" y="4026458"/>
            <a:ext cx="315468" cy="183138"/>
          </a:xfrm>
          <a:prstGeom prst="rect">
            <a:avLst/>
          </a:prstGeom>
          <a:solidFill>
            <a:srgbClr val="5B9BD5"/>
          </a:solidFill>
          <a:ln w="6350">
            <a:solidFill>
              <a:srgbClr val="FFFFFF"/>
            </a:solidFill>
            <a:prstDash val="solid"/>
          </a:ln>
        </p:spPr>
      </p:sp>
      <p:sp>
        <p:nvSpPr>
          <p:cNvPr id="201" name="Text 199"/>
          <p:cNvSpPr txBox="1"/>
          <p:nvPr/>
        </p:nvSpPr>
        <p:spPr>
          <a:xfrm>
            <a:off x="8673084" y="4026458"/>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2" name="Shape 200"/>
          <p:cNvSpPr/>
          <p:nvPr/>
        </p:nvSpPr>
        <p:spPr>
          <a:xfrm>
            <a:off x="8988552" y="4026458"/>
            <a:ext cx="2523744" cy="183138"/>
          </a:xfrm>
          <a:prstGeom prst="rect">
            <a:avLst/>
          </a:prstGeom>
          <a:solidFill>
            <a:srgbClr val="C2352F"/>
          </a:solidFill>
          <a:ln w="6350">
            <a:solidFill>
              <a:srgbClr val="FFFFFF"/>
            </a:solidFill>
            <a:prstDash val="solid"/>
          </a:ln>
        </p:spPr>
      </p:sp>
      <p:sp>
        <p:nvSpPr>
          <p:cNvPr id="203" name="Text 201"/>
          <p:cNvSpPr txBox="1"/>
          <p:nvPr/>
        </p:nvSpPr>
        <p:spPr>
          <a:xfrm>
            <a:off x="8988552" y="4026458"/>
            <a:ext cx="252374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80</a:t>
            </a:r>
            <a:endParaRPr lang="en-US" sz="1300" dirty="0"/>
          </a:p>
        </p:txBody>
      </p:sp>
      <p:sp>
        <p:nvSpPr>
          <p:cNvPr id="204" name="Text 202"/>
          <p:cNvSpPr txBox="1"/>
          <p:nvPr/>
        </p:nvSpPr>
        <p:spPr>
          <a:xfrm>
            <a:off x="6208776"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205" name="Shape 203"/>
          <p:cNvSpPr/>
          <p:nvPr/>
        </p:nvSpPr>
        <p:spPr>
          <a:xfrm>
            <a:off x="8357616" y="4267429"/>
            <a:ext cx="315468" cy="183138"/>
          </a:xfrm>
          <a:prstGeom prst="rect">
            <a:avLst/>
          </a:prstGeom>
          <a:solidFill>
            <a:srgbClr val="12A566"/>
          </a:solidFill>
          <a:ln w="6350">
            <a:solidFill>
              <a:srgbClr val="FFFFFF"/>
            </a:solidFill>
            <a:prstDash val="solid"/>
          </a:ln>
        </p:spPr>
      </p:sp>
      <p:sp>
        <p:nvSpPr>
          <p:cNvPr id="206" name="Text 204"/>
          <p:cNvSpPr txBox="1"/>
          <p:nvPr/>
        </p:nvSpPr>
        <p:spPr>
          <a:xfrm>
            <a:off x="8357616" y="4267429"/>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7" name="Shape 205"/>
          <p:cNvSpPr/>
          <p:nvPr/>
        </p:nvSpPr>
        <p:spPr>
          <a:xfrm>
            <a:off x="8673084" y="4267429"/>
            <a:ext cx="315468" cy="183138"/>
          </a:xfrm>
          <a:prstGeom prst="rect">
            <a:avLst/>
          </a:prstGeom>
          <a:solidFill>
            <a:srgbClr val="5B9BD5"/>
          </a:solidFill>
          <a:ln w="6350">
            <a:solidFill>
              <a:srgbClr val="FFFFFF"/>
            </a:solidFill>
            <a:prstDash val="solid"/>
          </a:ln>
        </p:spPr>
      </p:sp>
      <p:sp>
        <p:nvSpPr>
          <p:cNvPr id="208" name="Text 206"/>
          <p:cNvSpPr txBox="1"/>
          <p:nvPr/>
        </p:nvSpPr>
        <p:spPr>
          <a:xfrm>
            <a:off x="8673084" y="4267429"/>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9" name="Shape 207"/>
          <p:cNvSpPr/>
          <p:nvPr/>
        </p:nvSpPr>
        <p:spPr>
          <a:xfrm>
            <a:off x="8988552" y="4267429"/>
            <a:ext cx="2523744" cy="183138"/>
          </a:xfrm>
          <a:prstGeom prst="rect">
            <a:avLst/>
          </a:prstGeom>
          <a:solidFill>
            <a:srgbClr val="C2352F"/>
          </a:solidFill>
          <a:ln w="6350">
            <a:solidFill>
              <a:srgbClr val="FFFFFF"/>
            </a:solidFill>
            <a:prstDash val="solid"/>
          </a:ln>
        </p:spPr>
      </p:sp>
      <p:sp>
        <p:nvSpPr>
          <p:cNvPr id="210" name="Text 208"/>
          <p:cNvSpPr txBox="1"/>
          <p:nvPr/>
        </p:nvSpPr>
        <p:spPr>
          <a:xfrm>
            <a:off x="8988552" y="4267429"/>
            <a:ext cx="252374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80</a:t>
            </a:r>
            <a:endParaRPr lang="en-US" sz="1300" dirty="0"/>
          </a:p>
        </p:txBody>
      </p:sp>
      <p:sp>
        <p:nvSpPr>
          <p:cNvPr id="211" name="Text 209"/>
          <p:cNvSpPr txBox="1"/>
          <p:nvPr/>
        </p:nvSpPr>
        <p:spPr>
          <a:xfrm>
            <a:off x="6208776"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212" name="Shape 210"/>
          <p:cNvSpPr/>
          <p:nvPr/>
        </p:nvSpPr>
        <p:spPr>
          <a:xfrm>
            <a:off x="8357616" y="4508401"/>
            <a:ext cx="262890" cy="183138"/>
          </a:xfrm>
          <a:prstGeom prst="rect">
            <a:avLst/>
          </a:prstGeom>
          <a:solidFill>
            <a:srgbClr val="12A566"/>
          </a:solidFill>
          <a:ln w="6350">
            <a:solidFill>
              <a:srgbClr val="FFFFFF"/>
            </a:solidFill>
            <a:prstDash val="solid"/>
          </a:ln>
        </p:spPr>
      </p:sp>
      <p:sp>
        <p:nvSpPr>
          <p:cNvPr id="213" name="Text 211"/>
          <p:cNvSpPr txBox="1"/>
          <p:nvPr/>
        </p:nvSpPr>
        <p:spPr>
          <a:xfrm>
            <a:off x="8357616" y="4508401"/>
            <a:ext cx="26289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a:t>
            </a:r>
            <a:endParaRPr lang="en-US" sz="1300" dirty="0"/>
          </a:p>
        </p:txBody>
      </p:sp>
      <p:sp>
        <p:nvSpPr>
          <p:cNvPr id="214" name="Shape 212"/>
          <p:cNvSpPr/>
          <p:nvPr/>
        </p:nvSpPr>
        <p:spPr>
          <a:xfrm>
            <a:off x="8620506" y="4508401"/>
            <a:ext cx="1051560" cy="183138"/>
          </a:xfrm>
          <a:prstGeom prst="rect">
            <a:avLst/>
          </a:prstGeom>
          <a:solidFill>
            <a:srgbClr val="5B9BD5"/>
          </a:solidFill>
          <a:ln w="6350">
            <a:solidFill>
              <a:srgbClr val="FFFFFF"/>
            </a:solidFill>
            <a:prstDash val="solid"/>
          </a:ln>
        </p:spPr>
      </p:sp>
      <p:sp>
        <p:nvSpPr>
          <p:cNvPr id="215" name="Text 213"/>
          <p:cNvSpPr txBox="1"/>
          <p:nvPr/>
        </p:nvSpPr>
        <p:spPr>
          <a:xfrm>
            <a:off x="8620506" y="4508401"/>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216" name="Shape 214"/>
          <p:cNvSpPr/>
          <p:nvPr/>
        </p:nvSpPr>
        <p:spPr>
          <a:xfrm>
            <a:off x="9672066" y="4508401"/>
            <a:ext cx="1840230" cy="183138"/>
          </a:xfrm>
          <a:prstGeom prst="rect">
            <a:avLst/>
          </a:prstGeom>
          <a:solidFill>
            <a:srgbClr val="C2352F"/>
          </a:solidFill>
          <a:ln w="6350">
            <a:solidFill>
              <a:srgbClr val="FFFFFF"/>
            </a:solidFill>
            <a:prstDash val="solid"/>
          </a:ln>
        </p:spPr>
      </p:sp>
      <p:sp>
        <p:nvSpPr>
          <p:cNvPr id="217" name="Text 215"/>
          <p:cNvSpPr txBox="1"/>
          <p:nvPr/>
        </p:nvSpPr>
        <p:spPr>
          <a:xfrm>
            <a:off x="9672066" y="4508401"/>
            <a:ext cx="184023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58</a:t>
            </a:r>
            <a:endParaRPr lang="en-US" sz="1300" dirty="0"/>
          </a:p>
        </p:txBody>
      </p:sp>
      <p:sp>
        <p:nvSpPr>
          <p:cNvPr id="218" name="Text 216"/>
          <p:cNvSpPr txBox="1"/>
          <p:nvPr/>
        </p:nvSpPr>
        <p:spPr>
          <a:xfrm>
            <a:off x="6208776"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219" name="Shape 217"/>
          <p:cNvSpPr/>
          <p:nvPr/>
        </p:nvSpPr>
        <p:spPr>
          <a:xfrm>
            <a:off x="8357616" y="4749372"/>
            <a:ext cx="262890" cy="183138"/>
          </a:xfrm>
          <a:prstGeom prst="rect">
            <a:avLst/>
          </a:prstGeom>
          <a:solidFill>
            <a:srgbClr val="12A566"/>
          </a:solidFill>
          <a:ln w="6350">
            <a:solidFill>
              <a:srgbClr val="FFFFFF"/>
            </a:solidFill>
            <a:prstDash val="solid"/>
          </a:ln>
        </p:spPr>
      </p:sp>
      <p:sp>
        <p:nvSpPr>
          <p:cNvPr id="220" name="Text 218"/>
          <p:cNvSpPr txBox="1"/>
          <p:nvPr/>
        </p:nvSpPr>
        <p:spPr>
          <a:xfrm>
            <a:off x="8357616" y="4749372"/>
            <a:ext cx="26289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a:t>
            </a:r>
            <a:endParaRPr lang="en-US" sz="1300" dirty="0"/>
          </a:p>
        </p:txBody>
      </p:sp>
      <p:sp>
        <p:nvSpPr>
          <p:cNvPr id="221" name="Shape 219"/>
          <p:cNvSpPr/>
          <p:nvPr/>
        </p:nvSpPr>
        <p:spPr>
          <a:xfrm>
            <a:off x="8620506" y="4749372"/>
            <a:ext cx="525780" cy="183138"/>
          </a:xfrm>
          <a:prstGeom prst="rect">
            <a:avLst/>
          </a:prstGeom>
          <a:solidFill>
            <a:srgbClr val="5B9BD5"/>
          </a:solidFill>
          <a:ln w="6350">
            <a:solidFill>
              <a:srgbClr val="FFFFFF"/>
            </a:solidFill>
            <a:prstDash val="solid"/>
          </a:ln>
        </p:spPr>
      </p:sp>
      <p:sp>
        <p:nvSpPr>
          <p:cNvPr id="222" name="Text 220"/>
          <p:cNvSpPr txBox="1"/>
          <p:nvPr/>
        </p:nvSpPr>
        <p:spPr>
          <a:xfrm>
            <a:off x="8620506" y="4749372"/>
            <a:ext cx="5257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223" name="Shape 221"/>
          <p:cNvSpPr/>
          <p:nvPr/>
        </p:nvSpPr>
        <p:spPr>
          <a:xfrm>
            <a:off x="9146286" y="4749372"/>
            <a:ext cx="2366010" cy="183138"/>
          </a:xfrm>
          <a:prstGeom prst="rect">
            <a:avLst/>
          </a:prstGeom>
          <a:solidFill>
            <a:srgbClr val="C2352F"/>
          </a:solidFill>
          <a:ln w="6350">
            <a:solidFill>
              <a:srgbClr val="FFFFFF"/>
            </a:solidFill>
            <a:prstDash val="solid"/>
          </a:ln>
        </p:spPr>
      </p:sp>
      <p:sp>
        <p:nvSpPr>
          <p:cNvPr id="224" name="Text 222"/>
          <p:cNvSpPr txBox="1"/>
          <p:nvPr/>
        </p:nvSpPr>
        <p:spPr>
          <a:xfrm>
            <a:off x="9146286" y="4749372"/>
            <a:ext cx="236601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75</a:t>
            </a:r>
            <a:endParaRPr lang="en-US" sz="1300" dirty="0"/>
          </a:p>
        </p:txBody>
      </p:sp>
      <p:sp>
        <p:nvSpPr>
          <p:cNvPr id="225" name="Text 223"/>
          <p:cNvSpPr txBox="1"/>
          <p:nvPr/>
        </p:nvSpPr>
        <p:spPr>
          <a:xfrm>
            <a:off x="6208776"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226" name="Shape 224"/>
          <p:cNvSpPr/>
          <p:nvPr/>
        </p:nvSpPr>
        <p:spPr>
          <a:xfrm>
            <a:off x="8357616" y="4990343"/>
            <a:ext cx="914" cy="183138"/>
          </a:xfrm>
          <a:prstGeom prst="rect">
            <a:avLst/>
          </a:prstGeom>
          <a:solidFill>
            <a:srgbClr val="12A566"/>
          </a:solidFill>
          <a:ln w="6350">
            <a:solidFill>
              <a:srgbClr val="FFFFFF"/>
            </a:solidFill>
            <a:prstDash val="solid"/>
          </a:ln>
        </p:spPr>
      </p:sp>
      <p:sp>
        <p:nvSpPr>
          <p:cNvPr id="227" name="Shape 225"/>
          <p:cNvSpPr/>
          <p:nvPr/>
        </p:nvSpPr>
        <p:spPr>
          <a:xfrm>
            <a:off x="8357616" y="4990343"/>
            <a:ext cx="914" cy="183138"/>
          </a:xfrm>
          <a:prstGeom prst="rect">
            <a:avLst/>
          </a:prstGeom>
          <a:solidFill>
            <a:srgbClr val="5B9BD5"/>
          </a:solidFill>
          <a:ln w="6350">
            <a:solidFill>
              <a:srgbClr val="FFFFFF"/>
            </a:solidFill>
            <a:prstDash val="solid"/>
          </a:ln>
        </p:spPr>
      </p:sp>
      <p:sp>
        <p:nvSpPr>
          <p:cNvPr id="228" name="Shape 226"/>
          <p:cNvSpPr/>
          <p:nvPr/>
        </p:nvSpPr>
        <p:spPr>
          <a:xfrm>
            <a:off x="8357616" y="4990343"/>
            <a:ext cx="3154680" cy="183138"/>
          </a:xfrm>
          <a:prstGeom prst="rect">
            <a:avLst/>
          </a:prstGeom>
          <a:solidFill>
            <a:srgbClr val="C2352F"/>
          </a:solidFill>
          <a:ln w="6350">
            <a:solidFill>
              <a:srgbClr val="FFFFFF"/>
            </a:solidFill>
            <a:prstDash val="solid"/>
          </a:ln>
        </p:spPr>
      </p:sp>
      <p:sp>
        <p:nvSpPr>
          <p:cNvPr id="229" name="Text 227"/>
          <p:cNvSpPr txBox="1"/>
          <p:nvPr/>
        </p:nvSpPr>
        <p:spPr>
          <a:xfrm>
            <a:off x="8357616" y="4990343"/>
            <a:ext cx="31546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100</a:t>
            </a:r>
            <a:endParaRPr lang="en-US" sz="1300" dirty="0"/>
          </a:p>
        </p:txBody>
      </p:sp>
      <p:sp>
        <p:nvSpPr>
          <p:cNvPr id="230" name="Text 228"/>
          <p:cNvSpPr txBox="1"/>
          <p:nvPr/>
        </p:nvSpPr>
        <p:spPr>
          <a:xfrm>
            <a:off x="6208776"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231" name="Shape 229"/>
          <p:cNvSpPr/>
          <p:nvPr/>
        </p:nvSpPr>
        <p:spPr>
          <a:xfrm>
            <a:off x="8357616" y="5231315"/>
            <a:ext cx="914" cy="183138"/>
          </a:xfrm>
          <a:prstGeom prst="rect">
            <a:avLst/>
          </a:prstGeom>
          <a:solidFill>
            <a:srgbClr val="12A566"/>
          </a:solidFill>
          <a:ln w="6350">
            <a:solidFill>
              <a:srgbClr val="FFFFFF"/>
            </a:solidFill>
            <a:prstDash val="solid"/>
          </a:ln>
        </p:spPr>
      </p:sp>
      <p:sp>
        <p:nvSpPr>
          <p:cNvPr id="232" name="Shape 230"/>
          <p:cNvSpPr/>
          <p:nvPr/>
        </p:nvSpPr>
        <p:spPr>
          <a:xfrm>
            <a:off x="8357616" y="5231315"/>
            <a:ext cx="350520" cy="183138"/>
          </a:xfrm>
          <a:prstGeom prst="rect">
            <a:avLst/>
          </a:prstGeom>
          <a:solidFill>
            <a:srgbClr val="5B9BD5"/>
          </a:solidFill>
          <a:ln w="6350">
            <a:solidFill>
              <a:srgbClr val="FFFFFF"/>
            </a:solidFill>
            <a:prstDash val="solid"/>
          </a:ln>
        </p:spPr>
      </p:sp>
      <p:sp>
        <p:nvSpPr>
          <p:cNvPr id="233" name="Text 231"/>
          <p:cNvSpPr txBox="1"/>
          <p:nvPr/>
        </p:nvSpPr>
        <p:spPr>
          <a:xfrm>
            <a:off x="8357616" y="5231315"/>
            <a:ext cx="3505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11</a:t>
            </a:r>
            <a:endParaRPr lang="en-US" sz="1300" dirty="0"/>
          </a:p>
        </p:txBody>
      </p:sp>
      <p:sp>
        <p:nvSpPr>
          <p:cNvPr id="234" name="Shape 232"/>
          <p:cNvSpPr/>
          <p:nvPr/>
        </p:nvSpPr>
        <p:spPr>
          <a:xfrm>
            <a:off x="8708136" y="5231315"/>
            <a:ext cx="2804160" cy="183138"/>
          </a:xfrm>
          <a:prstGeom prst="rect">
            <a:avLst/>
          </a:prstGeom>
          <a:solidFill>
            <a:srgbClr val="C2352F"/>
          </a:solidFill>
          <a:ln w="6350">
            <a:solidFill>
              <a:srgbClr val="FFFFFF"/>
            </a:solidFill>
            <a:prstDash val="solid"/>
          </a:ln>
        </p:spPr>
      </p:sp>
      <p:sp>
        <p:nvSpPr>
          <p:cNvPr id="235" name="Text 233"/>
          <p:cNvSpPr txBox="1"/>
          <p:nvPr/>
        </p:nvSpPr>
        <p:spPr>
          <a:xfrm>
            <a:off x="8708136" y="5231315"/>
            <a:ext cx="28041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89</a:t>
            </a:r>
            <a:endParaRPr lang="en-US" sz="1300" dirty="0"/>
          </a:p>
        </p:txBody>
      </p:sp>
      <p:sp>
        <p:nvSpPr>
          <p:cNvPr id="236" name="Text 234"/>
          <p:cNvSpPr txBox="1"/>
          <p:nvPr/>
        </p:nvSpPr>
        <p:spPr>
          <a:xfrm>
            <a:off x="6208776"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237" name="Shape 235"/>
          <p:cNvSpPr/>
          <p:nvPr/>
        </p:nvSpPr>
        <p:spPr>
          <a:xfrm>
            <a:off x="8357616" y="5472286"/>
            <a:ext cx="914" cy="183138"/>
          </a:xfrm>
          <a:prstGeom prst="rect">
            <a:avLst/>
          </a:prstGeom>
          <a:solidFill>
            <a:srgbClr val="12A566"/>
          </a:solidFill>
          <a:ln w="6350">
            <a:solidFill>
              <a:srgbClr val="FFFFFF"/>
            </a:solidFill>
            <a:prstDash val="solid"/>
          </a:ln>
        </p:spPr>
      </p:sp>
      <p:sp>
        <p:nvSpPr>
          <p:cNvPr id="238" name="Shape 236"/>
          <p:cNvSpPr/>
          <p:nvPr/>
        </p:nvSpPr>
        <p:spPr>
          <a:xfrm>
            <a:off x="8357616" y="5472286"/>
            <a:ext cx="914" cy="183138"/>
          </a:xfrm>
          <a:prstGeom prst="rect">
            <a:avLst/>
          </a:prstGeom>
          <a:solidFill>
            <a:srgbClr val="5B9BD5"/>
          </a:solidFill>
          <a:ln w="6350">
            <a:solidFill>
              <a:srgbClr val="FFFFFF"/>
            </a:solidFill>
            <a:prstDash val="solid"/>
          </a:ln>
        </p:spPr>
      </p:sp>
      <p:sp>
        <p:nvSpPr>
          <p:cNvPr id="239" name="Shape 237"/>
          <p:cNvSpPr/>
          <p:nvPr/>
        </p:nvSpPr>
        <p:spPr>
          <a:xfrm>
            <a:off x="8357616" y="5472286"/>
            <a:ext cx="3154680" cy="183138"/>
          </a:xfrm>
          <a:prstGeom prst="rect">
            <a:avLst/>
          </a:prstGeom>
          <a:solidFill>
            <a:srgbClr val="C2352F"/>
          </a:solidFill>
          <a:ln w="6350">
            <a:solidFill>
              <a:srgbClr val="FFFFFF"/>
            </a:solidFill>
            <a:prstDash val="solid"/>
          </a:ln>
        </p:spPr>
      </p:sp>
      <p:sp>
        <p:nvSpPr>
          <p:cNvPr id="240" name="Text 238"/>
          <p:cNvSpPr txBox="1"/>
          <p:nvPr/>
        </p:nvSpPr>
        <p:spPr>
          <a:xfrm>
            <a:off x="8357616" y="5472286"/>
            <a:ext cx="31546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100</a:t>
            </a:r>
            <a:endParaRPr lang="en-US" sz="1300" dirty="0"/>
          </a:p>
        </p:txBody>
      </p:sp>
      <p:sp>
        <p:nvSpPr>
          <p:cNvPr id="241" name="Shape 239"/>
          <p:cNvSpPr/>
          <p:nvPr/>
        </p:nvSpPr>
        <p:spPr>
          <a:xfrm>
            <a:off x="457200" y="6126480"/>
            <a:ext cx="11274552" cy="615696"/>
          </a:xfrm>
          <a:prstGeom prst="rect">
            <a:avLst/>
          </a:prstGeom>
          <a:solidFill>
            <a:srgbClr val="EDF4FA"/>
          </a:solidFill>
          <a:ln/>
        </p:spPr>
      </p:sp>
      <p:sp>
        <p:nvSpPr>
          <p:cNvPr id="242" name="Text 24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Of 583 technicians, 198 are above 100% and 262 (45%) are under 85%. 14 stores have more than half their technicians under target.</a:t>
            </a:r>
            <a:endParaRPr lang="en-US" sz="1600" dirty="0"/>
          </a:p>
        </p:txBody>
      </p:sp>
    </p:spTree>
  </p:cSld>
  <p:clrMapOvr>
    <a:masterClrMapping/>
  </p:clrMapOvr>
</p:sld>
</file>

<file path=ppt/slides/slide14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The Proficiency Opportunity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713232" y="1481328"/>
            <a:ext cx="2539746" cy="3017520"/>
          </a:xfrm>
          <a:prstGeom prst="rect">
            <a:avLst/>
          </a:prstGeom>
          <a:solidFill>
            <a:srgbClr val="F7F7F7"/>
          </a:solidFill>
          <a:ln/>
        </p:spPr>
      </p:sp>
      <p:sp>
        <p:nvSpPr>
          <p:cNvPr id="7" name="Shape 5"/>
          <p:cNvSpPr/>
          <p:nvPr/>
        </p:nvSpPr>
        <p:spPr>
          <a:xfrm>
            <a:off x="713232" y="1481328"/>
            <a:ext cx="2539746" cy="64008"/>
          </a:xfrm>
          <a:prstGeom prst="rect">
            <a:avLst/>
          </a:prstGeom>
          <a:solidFill>
            <a:srgbClr val="C2352F"/>
          </a:solidFill>
          <a:ln/>
        </p:spPr>
      </p:sp>
      <p:sp>
        <p:nvSpPr>
          <p:cNvPr id="8" name="Text 6"/>
          <p:cNvSpPr txBox="1"/>
          <p:nvPr/>
        </p:nvSpPr>
        <p:spPr>
          <a:xfrm>
            <a:off x="896112"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GROSS MISSED A MONTH</a:t>
            </a:r>
            <a:endParaRPr lang="en-US" sz="1400" dirty="0"/>
          </a:p>
        </p:txBody>
      </p:sp>
      <p:sp>
        <p:nvSpPr>
          <p:cNvPr id="9" name="Text 7"/>
          <p:cNvSpPr txBox="1"/>
          <p:nvPr/>
        </p:nvSpPr>
        <p:spPr>
          <a:xfrm>
            <a:off x="896112"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A82B26"/>
                </a:solidFill>
                <a:latin typeface="Inter" pitchFamily="34" charset="0"/>
                <a:ea typeface="Inter" pitchFamily="34" charset="-122"/>
                <a:cs typeface="Inter" pitchFamily="34" charset="-120"/>
              </a:rPr>
              <a:t>$1.65M</a:t>
            </a:r>
            <a:endParaRPr lang="en-US" sz="4000" dirty="0"/>
          </a:p>
        </p:txBody>
      </p:sp>
      <p:sp>
        <p:nvSpPr>
          <p:cNvPr id="10" name="Text 8"/>
          <p:cNvSpPr txBox="1"/>
          <p:nvPr/>
        </p:nvSpPr>
        <p:spPr>
          <a:xfrm>
            <a:off x="896112"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Labor $1.13M + parts $514K: 8.1% of the $20.44M a month our ROs generate.</a:t>
            </a:r>
            <a:endParaRPr lang="en-US" sz="1500" dirty="0"/>
          </a:p>
        </p:txBody>
      </p:sp>
      <p:sp>
        <p:nvSpPr>
          <p:cNvPr id="11" name="Shape 9"/>
          <p:cNvSpPr/>
          <p:nvPr/>
        </p:nvSpPr>
        <p:spPr>
          <a:xfrm>
            <a:off x="3454146" y="1481328"/>
            <a:ext cx="2539746" cy="3017520"/>
          </a:xfrm>
          <a:prstGeom prst="rect">
            <a:avLst/>
          </a:prstGeom>
          <a:solidFill>
            <a:srgbClr val="F7F7F7"/>
          </a:solidFill>
          <a:ln/>
        </p:spPr>
      </p:sp>
      <p:sp>
        <p:nvSpPr>
          <p:cNvPr id="12" name="Shape 10"/>
          <p:cNvSpPr/>
          <p:nvPr/>
        </p:nvSpPr>
        <p:spPr>
          <a:xfrm>
            <a:off x="3454146" y="1481328"/>
            <a:ext cx="2539746" cy="64008"/>
          </a:xfrm>
          <a:prstGeom prst="rect">
            <a:avLst/>
          </a:prstGeom>
          <a:solidFill>
            <a:srgbClr val="C2352F"/>
          </a:solidFill>
          <a:ln/>
        </p:spPr>
      </p:sp>
      <p:sp>
        <p:nvSpPr>
          <p:cNvPr id="13" name="Text 11"/>
          <p:cNvSpPr txBox="1"/>
          <p:nvPr/>
        </p:nvSpPr>
        <p:spPr>
          <a:xfrm>
            <a:off x="3637026"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TECH PAY MISSED A MONTH</a:t>
            </a:r>
            <a:endParaRPr lang="en-US" sz="1400" dirty="0"/>
          </a:p>
        </p:txBody>
      </p:sp>
      <p:sp>
        <p:nvSpPr>
          <p:cNvPr id="14" name="Text 12"/>
          <p:cNvSpPr txBox="1"/>
          <p:nvPr/>
        </p:nvSpPr>
        <p:spPr>
          <a:xfrm>
            <a:off x="3637026"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A82B26"/>
                </a:solidFill>
                <a:latin typeface="Inter" pitchFamily="34" charset="0"/>
                <a:ea typeface="Inter" pitchFamily="34" charset="-122"/>
                <a:cs typeface="Inter" pitchFamily="34" charset="-120"/>
              </a:rPr>
              <a:t>$282K</a:t>
            </a:r>
            <a:endParaRPr lang="en-US" sz="4000" dirty="0"/>
          </a:p>
        </p:txBody>
      </p:sp>
      <p:sp>
        <p:nvSpPr>
          <p:cNvPr id="15" name="Text 13"/>
          <p:cNvSpPr txBox="1"/>
          <p:nvPr/>
        </p:nvSpPr>
        <p:spPr>
          <a:xfrm>
            <a:off x="3637026"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About $1,080 a month for each tech under 85%. Same hours, bigger checks.</a:t>
            </a:r>
            <a:endParaRPr lang="en-US" sz="1500" dirty="0"/>
          </a:p>
        </p:txBody>
      </p:sp>
      <p:sp>
        <p:nvSpPr>
          <p:cNvPr id="16" name="Shape 14"/>
          <p:cNvSpPr/>
          <p:nvPr/>
        </p:nvSpPr>
        <p:spPr>
          <a:xfrm>
            <a:off x="6195060" y="1481328"/>
            <a:ext cx="2539746" cy="3017520"/>
          </a:xfrm>
          <a:prstGeom prst="rect">
            <a:avLst/>
          </a:prstGeom>
          <a:solidFill>
            <a:srgbClr val="F7F7F7"/>
          </a:solidFill>
          <a:ln/>
        </p:spPr>
      </p:sp>
      <p:sp>
        <p:nvSpPr>
          <p:cNvPr id="17" name="Shape 15"/>
          <p:cNvSpPr/>
          <p:nvPr/>
        </p:nvSpPr>
        <p:spPr>
          <a:xfrm>
            <a:off x="6195060" y="1481328"/>
            <a:ext cx="2539746" cy="64008"/>
          </a:xfrm>
          <a:prstGeom prst="rect">
            <a:avLst/>
          </a:prstGeom>
          <a:solidFill>
            <a:srgbClr val="C2352F"/>
          </a:solidFill>
          <a:ln/>
        </p:spPr>
      </p:sp>
      <p:sp>
        <p:nvSpPr>
          <p:cNvPr id="18" name="Text 16"/>
          <p:cNvSpPr txBox="1"/>
          <p:nvPr/>
        </p:nvSpPr>
        <p:spPr>
          <a:xfrm>
            <a:off x="6377940"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HOURS NOT PRODUCED YTD</a:t>
            </a:r>
            <a:endParaRPr lang="en-US" sz="1400" dirty="0"/>
          </a:p>
        </p:txBody>
      </p:sp>
      <p:sp>
        <p:nvSpPr>
          <p:cNvPr id="19" name="Text 17"/>
          <p:cNvSpPr txBox="1"/>
          <p:nvPr/>
        </p:nvSpPr>
        <p:spPr>
          <a:xfrm>
            <a:off x="6377940"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A82B26"/>
                </a:solidFill>
                <a:latin typeface="Inter" pitchFamily="34" charset="0"/>
                <a:ea typeface="Inter" pitchFamily="34" charset="-122"/>
                <a:cs typeface="Inter" pitchFamily="34" charset="-120"/>
              </a:rPr>
              <a:t>79K</a:t>
            </a:r>
            <a:endParaRPr lang="en-US" sz="4000" dirty="0"/>
          </a:p>
        </p:txBody>
      </p:sp>
      <p:sp>
        <p:nvSpPr>
          <p:cNvPr id="20" name="Text 18"/>
          <p:cNvSpPr txBox="1"/>
          <p:nvPr/>
        </p:nvSpPr>
        <p:spPr>
          <a:xfrm>
            <a:off x="6377940"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About 8.3K hours a month on the clock and not flagged, below the 85% line alone. 48 full-time techs of capacity.</a:t>
            </a:r>
            <a:endParaRPr lang="en-US" sz="1500" dirty="0"/>
          </a:p>
        </p:txBody>
      </p:sp>
      <p:sp>
        <p:nvSpPr>
          <p:cNvPr id="21" name="Shape 19"/>
          <p:cNvSpPr/>
          <p:nvPr/>
        </p:nvSpPr>
        <p:spPr>
          <a:xfrm>
            <a:off x="8935974" y="1481328"/>
            <a:ext cx="2539746" cy="3017520"/>
          </a:xfrm>
          <a:prstGeom prst="rect">
            <a:avLst/>
          </a:prstGeom>
          <a:solidFill>
            <a:srgbClr val="F7F7F7"/>
          </a:solidFill>
          <a:ln/>
        </p:spPr>
      </p:sp>
      <p:sp>
        <p:nvSpPr>
          <p:cNvPr id="22" name="Shape 20"/>
          <p:cNvSpPr/>
          <p:nvPr/>
        </p:nvSpPr>
        <p:spPr>
          <a:xfrm>
            <a:off x="8935974" y="1481328"/>
            <a:ext cx="2539746" cy="64008"/>
          </a:xfrm>
          <a:prstGeom prst="rect">
            <a:avLst/>
          </a:prstGeom>
          <a:solidFill>
            <a:srgbClr val="2587C5"/>
          </a:solidFill>
          <a:ln/>
        </p:spPr>
      </p:sp>
      <p:sp>
        <p:nvSpPr>
          <p:cNvPr id="23" name="Text 21"/>
          <p:cNvSpPr txBox="1"/>
          <p:nvPr/>
        </p:nvSpPr>
        <p:spPr>
          <a:xfrm>
            <a:off x="9118854"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TECHS UNDER 85%</a:t>
            </a:r>
            <a:endParaRPr lang="en-US" sz="1400" dirty="0"/>
          </a:p>
        </p:txBody>
      </p:sp>
      <p:sp>
        <p:nvSpPr>
          <p:cNvPr id="24" name="Text 22"/>
          <p:cNvSpPr txBox="1"/>
          <p:nvPr/>
        </p:nvSpPr>
        <p:spPr>
          <a:xfrm>
            <a:off x="9118854"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2C4A"/>
                </a:solidFill>
                <a:latin typeface="Inter" pitchFamily="34" charset="0"/>
                <a:ea typeface="Inter" pitchFamily="34" charset="-122"/>
                <a:cs typeface="Inter" pitchFamily="34" charset="-120"/>
              </a:rPr>
              <a:t>262</a:t>
            </a:r>
            <a:endParaRPr lang="en-US" sz="4000" dirty="0"/>
          </a:p>
        </p:txBody>
      </p:sp>
      <p:sp>
        <p:nvSpPr>
          <p:cNvPr id="25" name="Text 23"/>
          <p:cNvSpPr txBox="1"/>
          <p:nvPr/>
        </p:nvSpPr>
        <p:spPr>
          <a:xfrm>
            <a:off x="9118854"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Of 583 technicians (45%). Every store has at least one.</a:t>
            </a:r>
            <a:endParaRPr lang="en-US" sz="1500" dirty="0"/>
          </a:p>
        </p:txBody>
      </p:sp>
      <p:sp>
        <p:nvSpPr>
          <p:cNvPr id="26" name="Text 24"/>
          <p:cNvSpPr txBox="1"/>
          <p:nvPr/>
        </p:nvSpPr>
        <p:spPr>
          <a:xfrm>
            <a:off x="713232" y="4709160"/>
            <a:ext cx="10762488" cy="914400"/>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No extra hours, no extra techs, no extra bays. The techs, bays and lifts are already here; the hour is spent whether it is flagged or not. An hour not produced today cannot be sold tomorrow.</a:t>
            </a:r>
            <a:endParaRPr lang="en-US" sz="1700" dirty="0"/>
          </a:p>
        </p:txBody>
      </p:sp>
      <p:sp>
        <p:nvSpPr>
          <p:cNvPr id="27" name="Shape 25"/>
          <p:cNvSpPr/>
          <p:nvPr/>
        </p:nvSpPr>
        <p:spPr>
          <a:xfrm>
            <a:off x="457200" y="6126480"/>
            <a:ext cx="11274552" cy="371856"/>
          </a:xfrm>
          <a:prstGeom prst="rect">
            <a:avLst/>
          </a:prstGeom>
          <a:solidFill>
            <a:srgbClr val="FBEBEA"/>
          </a:solidFill>
          <a:ln/>
        </p:spPr>
      </p:sp>
      <p:sp>
        <p:nvSpPr>
          <p:cNvPr id="28" name="Text 26"/>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Lifting each tech under 85% to 85% is worth $1.65M a month in gross and $282K a month in tech pay.</a:t>
            </a:r>
            <a:endParaRPr lang="en-US" sz="1600" dirty="0"/>
          </a:p>
        </p:txBody>
      </p:sp>
    </p:spTree>
  </p:cSld>
  <p:clrMapOvr>
    <a:masterClrMapping/>
  </p:clrMapOvr>
</p:sld>
</file>

<file path=ppt/slides/slide14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Proficiency Opportunity by Store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474720"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mo</a:t>
            </a:r>
            <a:endParaRPr lang="en-US" sz="1400" dirty="0"/>
          </a:p>
        </p:txBody>
      </p:sp>
      <p:sp>
        <p:nvSpPr>
          <p:cNvPr id="7" name="Text 5"/>
          <p:cNvSpPr txBox="1"/>
          <p:nvPr/>
        </p:nvSpPr>
        <p:spPr>
          <a:xfrm>
            <a:off x="4261104" y="1316736"/>
            <a:ext cx="93268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Under 85%</a:t>
            </a:r>
            <a:endParaRPr lang="en-US" sz="1400" dirty="0"/>
          </a:p>
        </p:txBody>
      </p:sp>
      <p:sp>
        <p:nvSpPr>
          <p:cNvPr id="8" name="Text 6"/>
          <p:cNvSpPr txBox="1"/>
          <p:nvPr/>
        </p:nvSpPr>
        <p:spPr>
          <a:xfrm>
            <a:off x="5193792" y="1316736"/>
            <a:ext cx="67665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Store</a:t>
            </a:r>
            <a:endParaRPr lang="en-US" sz="1400" dirty="0"/>
          </a:p>
        </p:txBody>
      </p:sp>
      <p:sp>
        <p:nvSpPr>
          <p:cNvPr id="9" name="Text 7"/>
          <p:cNvSpPr txBox="1"/>
          <p:nvPr/>
        </p:nvSpPr>
        <p:spPr>
          <a:xfrm>
            <a:off x="9025128"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mo</a:t>
            </a:r>
            <a:endParaRPr lang="en-US" sz="1400" dirty="0"/>
          </a:p>
        </p:txBody>
      </p:sp>
      <p:sp>
        <p:nvSpPr>
          <p:cNvPr id="10" name="Text 8"/>
          <p:cNvSpPr txBox="1"/>
          <p:nvPr/>
        </p:nvSpPr>
        <p:spPr>
          <a:xfrm>
            <a:off x="9811512" y="1316736"/>
            <a:ext cx="93268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Under 85%</a:t>
            </a:r>
            <a:endParaRPr lang="en-US" sz="1400" dirty="0"/>
          </a:p>
        </p:txBody>
      </p:sp>
      <p:sp>
        <p:nvSpPr>
          <p:cNvPr id="11" name="Text 9"/>
          <p:cNvSpPr txBox="1"/>
          <p:nvPr/>
        </p:nvSpPr>
        <p:spPr>
          <a:xfrm>
            <a:off x="10744200" y="1316736"/>
            <a:ext cx="67665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Store</a:t>
            </a:r>
            <a:endParaRPr lang="en-US" sz="1400" dirty="0"/>
          </a:p>
        </p:txBody>
      </p:sp>
      <p:sp>
        <p:nvSpPr>
          <p:cNvPr id="12" name="Text 10"/>
          <p:cNvSpPr txBox="1"/>
          <p:nvPr/>
        </p:nvSpPr>
        <p:spPr>
          <a:xfrm>
            <a:off x="658368"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3" name="Shape 11"/>
          <p:cNvSpPr/>
          <p:nvPr/>
        </p:nvSpPr>
        <p:spPr>
          <a:xfrm>
            <a:off x="2670048" y="1756697"/>
            <a:ext cx="749808" cy="136676"/>
          </a:xfrm>
          <a:prstGeom prst="rect">
            <a:avLst/>
          </a:prstGeom>
          <a:solidFill>
            <a:srgbClr val="C2352F"/>
          </a:solidFill>
          <a:ln/>
        </p:spPr>
      </p:sp>
      <p:sp>
        <p:nvSpPr>
          <p:cNvPr id="14" name="Text 12"/>
          <p:cNvSpPr txBox="1"/>
          <p:nvPr/>
        </p:nvSpPr>
        <p:spPr>
          <a:xfrm>
            <a:off x="3474720" y="170078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$158K</a:t>
            </a:r>
            <a:endParaRPr lang="en-US" sz="1300" dirty="0"/>
          </a:p>
        </p:txBody>
      </p:sp>
      <p:sp>
        <p:nvSpPr>
          <p:cNvPr id="15" name="Text 13"/>
          <p:cNvSpPr txBox="1"/>
          <p:nvPr/>
        </p:nvSpPr>
        <p:spPr>
          <a:xfrm>
            <a:off x="4261104" y="170078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29</a:t>
            </a:r>
            <a:endParaRPr lang="en-US" sz="1300" dirty="0"/>
          </a:p>
        </p:txBody>
      </p:sp>
      <p:sp>
        <p:nvSpPr>
          <p:cNvPr id="16" name="Text 14"/>
          <p:cNvSpPr txBox="1"/>
          <p:nvPr/>
        </p:nvSpPr>
        <p:spPr>
          <a:xfrm>
            <a:off x="5193792" y="170078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87.7%</a:t>
            </a:r>
            <a:endParaRPr lang="en-US" sz="1300" dirty="0"/>
          </a:p>
        </p:txBody>
      </p:sp>
      <p:sp>
        <p:nvSpPr>
          <p:cNvPr id="17" name="Text 15"/>
          <p:cNvSpPr txBox="1"/>
          <p:nvPr/>
        </p:nvSpPr>
        <p:spPr>
          <a:xfrm>
            <a:off x="658368"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8" name="Shape 16"/>
          <p:cNvSpPr/>
          <p:nvPr/>
        </p:nvSpPr>
        <p:spPr>
          <a:xfrm>
            <a:off x="2670048" y="2005199"/>
            <a:ext cx="533948" cy="136676"/>
          </a:xfrm>
          <a:prstGeom prst="rect">
            <a:avLst/>
          </a:prstGeom>
          <a:solidFill>
            <a:srgbClr val="C2352F"/>
          </a:solidFill>
          <a:ln/>
        </p:spPr>
      </p:sp>
      <p:sp>
        <p:nvSpPr>
          <p:cNvPr id="19" name="Text 17"/>
          <p:cNvSpPr txBox="1"/>
          <p:nvPr/>
        </p:nvSpPr>
        <p:spPr>
          <a:xfrm>
            <a:off x="3474720" y="194928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$112K</a:t>
            </a:r>
            <a:endParaRPr lang="en-US" sz="1300" dirty="0"/>
          </a:p>
        </p:txBody>
      </p:sp>
      <p:sp>
        <p:nvSpPr>
          <p:cNvPr id="20" name="Text 18"/>
          <p:cNvSpPr txBox="1"/>
          <p:nvPr/>
        </p:nvSpPr>
        <p:spPr>
          <a:xfrm>
            <a:off x="4261104" y="1949286"/>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20</a:t>
            </a:r>
            <a:endParaRPr lang="en-US" sz="1300" dirty="0"/>
          </a:p>
        </p:txBody>
      </p:sp>
      <p:sp>
        <p:nvSpPr>
          <p:cNvPr id="21" name="Text 19"/>
          <p:cNvSpPr txBox="1"/>
          <p:nvPr/>
        </p:nvSpPr>
        <p:spPr>
          <a:xfrm>
            <a:off x="5193792" y="1949286"/>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68.4%</a:t>
            </a:r>
            <a:endParaRPr lang="en-US" sz="1300" dirty="0"/>
          </a:p>
        </p:txBody>
      </p:sp>
      <p:sp>
        <p:nvSpPr>
          <p:cNvPr id="22" name="Text 20"/>
          <p:cNvSpPr txBox="1"/>
          <p:nvPr/>
        </p:nvSpPr>
        <p:spPr>
          <a:xfrm>
            <a:off x="658368"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23" name="Shape 21"/>
          <p:cNvSpPr/>
          <p:nvPr/>
        </p:nvSpPr>
        <p:spPr>
          <a:xfrm>
            <a:off x="2670048" y="2253700"/>
            <a:ext cx="483297" cy="136676"/>
          </a:xfrm>
          <a:prstGeom prst="rect">
            <a:avLst/>
          </a:prstGeom>
          <a:solidFill>
            <a:srgbClr val="C2352F"/>
          </a:solidFill>
          <a:ln/>
        </p:spPr>
      </p:sp>
      <p:sp>
        <p:nvSpPr>
          <p:cNvPr id="24" name="Text 22"/>
          <p:cNvSpPr txBox="1"/>
          <p:nvPr/>
        </p:nvSpPr>
        <p:spPr>
          <a:xfrm>
            <a:off x="3474720" y="219778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$102K</a:t>
            </a:r>
            <a:endParaRPr lang="en-US" sz="1300" dirty="0"/>
          </a:p>
        </p:txBody>
      </p:sp>
      <p:sp>
        <p:nvSpPr>
          <p:cNvPr id="25" name="Text 23"/>
          <p:cNvSpPr txBox="1"/>
          <p:nvPr/>
        </p:nvSpPr>
        <p:spPr>
          <a:xfrm>
            <a:off x="4261104" y="219778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 of 23</a:t>
            </a:r>
            <a:endParaRPr lang="en-US" sz="1300" dirty="0"/>
          </a:p>
        </p:txBody>
      </p:sp>
      <p:sp>
        <p:nvSpPr>
          <p:cNvPr id="26" name="Text 24"/>
          <p:cNvSpPr txBox="1"/>
          <p:nvPr/>
        </p:nvSpPr>
        <p:spPr>
          <a:xfrm>
            <a:off x="5193792" y="219778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91.0%</a:t>
            </a:r>
            <a:endParaRPr lang="en-US" sz="1300" dirty="0"/>
          </a:p>
        </p:txBody>
      </p:sp>
      <p:sp>
        <p:nvSpPr>
          <p:cNvPr id="27" name="Text 25"/>
          <p:cNvSpPr txBox="1"/>
          <p:nvPr/>
        </p:nvSpPr>
        <p:spPr>
          <a:xfrm>
            <a:off x="658368"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28" name="Shape 26"/>
          <p:cNvSpPr/>
          <p:nvPr/>
        </p:nvSpPr>
        <p:spPr>
          <a:xfrm>
            <a:off x="2670048" y="2502202"/>
            <a:ext cx="476411" cy="136676"/>
          </a:xfrm>
          <a:prstGeom prst="rect">
            <a:avLst/>
          </a:prstGeom>
          <a:solidFill>
            <a:srgbClr val="C2352F"/>
          </a:solidFill>
          <a:ln/>
        </p:spPr>
      </p:sp>
      <p:sp>
        <p:nvSpPr>
          <p:cNvPr id="29" name="Text 27"/>
          <p:cNvSpPr txBox="1"/>
          <p:nvPr/>
        </p:nvSpPr>
        <p:spPr>
          <a:xfrm>
            <a:off x="3474720" y="244628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$100K</a:t>
            </a:r>
            <a:endParaRPr lang="en-US" sz="1300" dirty="0"/>
          </a:p>
        </p:txBody>
      </p:sp>
      <p:sp>
        <p:nvSpPr>
          <p:cNvPr id="30" name="Text 28"/>
          <p:cNvSpPr txBox="1"/>
          <p:nvPr/>
        </p:nvSpPr>
        <p:spPr>
          <a:xfrm>
            <a:off x="4261104" y="244628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 of 14</a:t>
            </a:r>
            <a:endParaRPr lang="en-US" sz="1300" dirty="0"/>
          </a:p>
        </p:txBody>
      </p:sp>
      <p:sp>
        <p:nvSpPr>
          <p:cNvPr id="31" name="Text 29"/>
          <p:cNvSpPr txBox="1"/>
          <p:nvPr/>
        </p:nvSpPr>
        <p:spPr>
          <a:xfrm>
            <a:off x="5193792" y="244628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71.2%</a:t>
            </a:r>
            <a:endParaRPr lang="en-US" sz="1300" dirty="0"/>
          </a:p>
        </p:txBody>
      </p:sp>
      <p:sp>
        <p:nvSpPr>
          <p:cNvPr id="32" name="Text 30"/>
          <p:cNvSpPr txBox="1"/>
          <p:nvPr/>
        </p:nvSpPr>
        <p:spPr>
          <a:xfrm>
            <a:off x="658368"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33" name="Shape 31"/>
          <p:cNvSpPr/>
          <p:nvPr/>
        </p:nvSpPr>
        <p:spPr>
          <a:xfrm>
            <a:off x="2670048" y="2750703"/>
            <a:ext cx="419972" cy="136676"/>
          </a:xfrm>
          <a:prstGeom prst="rect">
            <a:avLst/>
          </a:prstGeom>
          <a:solidFill>
            <a:srgbClr val="C2352F"/>
          </a:solidFill>
          <a:ln/>
        </p:spPr>
      </p:sp>
      <p:sp>
        <p:nvSpPr>
          <p:cNvPr id="34" name="Text 32"/>
          <p:cNvSpPr txBox="1"/>
          <p:nvPr/>
        </p:nvSpPr>
        <p:spPr>
          <a:xfrm>
            <a:off x="3474720" y="2694791"/>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$88K</a:t>
            </a:r>
            <a:endParaRPr lang="en-US" sz="1300" dirty="0"/>
          </a:p>
        </p:txBody>
      </p:sp>
      <p:sp>
        <p:nvSpPr>
          <p:cNvPr id="35" name="Text 33"/>
          <p:cNvSpPr txBox="1"/>
          <p:nvPr/>
        </p:nvSpPr>
        <p:spPr>
          <a:xfrm>
            <a:off x="4261104" y="2694791"/>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11</a:t>
            </a:r>
            <a:endParaRPr lang="en-US" sz="1300" dirty="0"/>
          </a:p>
        </p:txBody>
      </p:sp>
      <p:sp>
        <p:nvSpPr>
          <p:cNvPr id="36" name="Text 34"/>
          <p:cNvSpPr txBox="1"/>
          <p:nvPr/>
        </p:nvSpPr>
        <p:spPr>
          <a:xfrm>
            <a:off x="5193792" y="2694791"/>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69.0%</a:t>
            </a:r>
            <a:endParaRPr lang="en-US" sz="1300" dirty="0"/>
          </a:p>
        </p:txBody>
      </p:sp>
      <p:sp>
        <p:nvSpPr>
          <p:cNvPr id="37" name="Text 35"/>
          <p:cNvSpPr txBox="1"/>
          <p:nvPr/>
        </p:nvSpPr>
        <p:spPr>
          <a:xfrm>
            <a:off x="658368"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38" name="Shape 36"/>
          <p:cNvSpPr/>
          <p:nvPr/>
        </p:nvSpPr>
        <p:spPr>
          <a:xfrm>
            <a:off x="2670048" y="2999205"/>
            <a:ext cx="415094" cy="136676"/>
          </a:xfrm>
          <a:prstGeom prst="rect">
            <a:avLst/>
          </a:prstGeom>
          <a:solidFill>
            <a:srgbClr val="C2352F"/>
          </a:solidFill>
          <a:ln/>
        </p:spPr>
      </p:sp>
      <p:sp>
        <p:nvSpPr>
          <p:cNvPr id="39" name="Text 37"/>
          <p:cNvSpPr txBox="1"/>
          <p:nvPr/>
        </p:nvSpPr>
        <p:spPr>
          <a:xfrm>
            <a:off x="3474720" y="294329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$87K</a:t>
            </a:r>
            <a:endParaRPr lang="en-US" sz="1300" dirty="0"/>
          </a:p>
        </p:txBody>
      </p:sp>
      <p:sp>
        <p:nvSpPr>
          <p:cNvPr id="40" name="Text 38"/>
          <p:cNvSpPr txBox="1"/>
          <p:nvPr/>
        </p:nvSpPr>
        <p:spPr>
          <a:xfrm>
            <a:off x="4261104" y="2943292"/>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51</a:t>
            </a:r>
            <a:endParaRPr lang="en-US" sz="1300" dirty="0"/>
          </a:p>
        </p:txBody>
      </p:sp>
      <p:sp>
        <p:nvSpPr>
          <p:cNvPr id="41" name="Text 39"/>
          <p:cNvSpPr txBox="1"/>
          <p:nvPr/>
        </p:nvSpPr>
        <p:spPr>
          <a:xfrm>
            <a:off x="5193792" y="2943292"/>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103.4%</a:t>
            </a:r>
            <a:endParaRPr lang="en-US" sz="1300" dirty="0"/>
          </a:p>
        </p:txBody>
      </p:sp>
      <p:sp>
        <p:nvSpPr>
          <p:cNvPr id="42" name="Text 40"/>
          <p:cNvSpPr txBox="1"/>
          <p:nvPr/>
        </p:nvSpPr>
        <p:spPr>
          <a:xfrm>
            <a:off x="658368"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43" name="Shape 41"/>
          <p:cNvSpPr/>
          <p:nvPr/>
        </p:nvSpPr>
        <p:spPr>
          <a:xfrm>
            <a:off x="2670048" y="3247707"/>
            <a:ext cx="367707" cy="136676"/>
          </a:xfrm>
          <a:prstGeom prst="rect">
            <a:avLst/>
          </a:prstGeom>
          <a:solidFill>
            <a:srgbClr val="C2352F"/>
          </a:solidFill>
          <a:ln/>
        </p:spPr>
      </p:sp>
      <p:sp>
        <p:nvSpPr>
          <p:cNvPr id="44" name="Text 42"/>
          <p:cNvSpPr txBox="1"/>
          <p:nvPr/>
        </p:nvSpPr>
        <p:spPr>
          <a:xfrm>
            <a:off x="3474720" y="319179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$77K</a:t>
            </a:r>
            <a:endParaRPr lang="en-US" sz="1300" dirty="0"/>
          </a:p>
        </p:txBody>
      </p:sp>
      <p:sp>
        <p:nvSpPr>
          <p:cNvPr id="45" name="Text 43"/>
          <p:cNvSpPr txBox="1"/>
          <p:nvPr/>
        </p:nvSpPr>
        <p:spPr>
          <a:xfrm>
            <a:off x="4261104" y="319179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 of 22</a:t>
            </a:r>
            <a:endParaRPr lang="en-US" sz="1300" dirty="0"/>
          </a:p>
        </p:txBody>
      </p:sp>
      <p:sp>
        <p:nvSpPr>
          <p:cNvPr id="46" name="Text 44"/>
          <p:cNvSpPr txBox="1"/>
          <p:nvPr/>
        </p:nvSpPr>
        <p:spPr>
          <a:xfrm>
            <a:off x="5193792" y="319179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83.6%</a:t>
            </a:r>
            <a:endParaRPr lang="en-US" sz="1300" dirty="0"/>
          </a:p>
        </p:txBody>
      </p:sp>
      <p:sp>
        <p:nvSpPr>
          <p:cNvPr id="47" name="Text 45"/>
          <p:cNvSpPr txBox="1"/>
          <p:nvPr/>
        </p:nvSpPr>
        <p:spPr>
          <a:xfrm>
            <a:off x="658368"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48" name="Shape 46"/>
          <p:cNvSpPr/>
          <p:nvPr/>
        </p:nvSpPr>
        <p:spPr>
          <a:xfrm>
            <a:off x="2670048" y="3496208"/>
            <a:ext cx="364470" cy="136676"/>
          </a:xfrm>
          <a:prstGeom prst="rect">
            <a:avLst/>
          </a:prstGeom>
          <a:solidFill>
            <a:srgbClr val="C2352F"/>
          </a:solidFill>
          <a:ln/>
        </p:spPr>
      </p:sp>
      <p:sp>
        <p:nvSpPr>
          <p:cNvPr id="49" name="Text 47"/>
          <p:cNvSpPr txBox="1"/>
          <p:nvPr/>
        </p:nvSpPr>
        <p:spPr>
          <a:xfrm>
            <a:off x="3474720" y="344029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$77K</a:t>
            </a:r>
            <a:endParaRPr lang="en-US" sz="1300" dirty="0"/>
          </a:p>
        </p:txBody>
      </p:sp>
      <p:sp>
        <p:nvSpPr>
          <p:cNvPr id="50" name="Text 48"/>
          <p:cNvSpPr txBox="1"/>
          <p:nvPr/>
        </p:nvSpPr>
        <p:spPr>
          <a:xfrm>
            <a:off x="4261104" y="3440296"/>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 of 12</a:t>
            </a:r>
            <a:endParaRPr lang="en-US" sz="1300" dirty="0"/>
          </a:p>
        </p:txBody>
      </p:sp>
      <p:sp>
        <p:nvSpPr>
          <p:cNvPr id="51" name="Text 49"/>
          <p:cNvSpPr txBox="1"/>
          <p:nvPr/>
        </p:nvSpPr>
        <p:spPr>
          <a:xfrm>
            <a:off x="5193792" y="3440296"/>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67.5%</a:t>
            </a:r>
            <a:endParaRPr lang="en-US" sz="1300" dirty="0"/>
          </a:p>
        </p:txBody>
      </p:sp>
      <p:sp>
        <p:nvSpPr>
          <p:cNvPr id="52" name="Text 50"/>
          <p:cNvSpPr txBox="1"/>
          <p:nvPr/>
        </p:nvSpPr>
        <p:spPr>
          <a:xfrm>
            <a:off x="658368"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53" name="Shape 51"/>
          <p:cNvSpPr/>
          <p:nvPr/>
        </p:nvSpPr>
        <p:spPr>
          <a:xfrm>
            <a:off x="2670048" y="3744710"/>
            <a:ext cx="361005" cy="136676"/>
          </a:xfrm>
          <a:prstGeom prst="rect">
            <a:avLst/>
          </a:prstGeom>
          <a:solidFill>
            <a:srgbClr val="C2352F"/>
          </a:solidFill>
          <a:ln/>
        </p:spPr>
      </p:sp>
      <p:sp>
        <p:nvSpPr>
          <p:cNvPr id="54" name="Text 52"/>
          <p:cNvSpPr txBox="1"/>
          <p:nvPr/>
        </p:nvSpPr>
        <p:spPr>
          <a:xfrm>
            <a:off x="3474720" y="368879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$76K</a:t>
            </a:r>
            <a:endParaRPr lang="en-US" sz="1300" dirty="0"/>
          </a:p>
        </p:txBody>
      </p:sp>
      <p:sp>
        <p:nvSpPr>
          <p:cNvPr id="55" name="Text 53"/>
          <p:cNvSpPr txBox="1"/>
          <p:nvPr/>
        </p:nvSpPr>
        <p:spPr>
          <a:xfrm>
            <a:off x="4261104" y="368879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 of 11</a:t>
            </a:r>
            <a:endParaRPr lang="en-US" sz="1300" dirty="0"/>
          </a:p>
        </p:txBody>
      </p:sp>
      <p:sp>
        <p:nvSpPr>
          <p:cNvPr id="56" name="Text 54"/>
          <p:cNvSpPr txBox="1"/>
          <p:nvPr/>
        </p:nvSpPr>
        <p:spPr>
          <a:xfrm>
            <a:off x="5193792" y="368879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67.4%</a:t>
            </a:r>
            <a:endParaRPr lang="en-US" sz="1300" dirty="0"/>
          </a:p>
        </p:txBody>
      </p:sp>
      <p:sp>
        <p:nvSpPr>
          <p:cNvPr id="57" name="Text 55"/>
          <p:cNvSpPr txBox="1"/>
          <p:nvPr/>
        </p:nvSpPr>
        <p:spPr>
          <a:xfrm>
            <a:off x="658368"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58" name="Shape 56"/>
          <p:cNvSpPr/>
          <p:nvPr/>
        </p:nvSpPr>
        <p:spPr>
          <a:xfrm>
            <a:off x="2670048" y="3993212"/>
            <a:ext cx="353265" cy="136676"/>
          </a:xfrm>
          <a:prstGeom prst="rect">
            <a:avLst/>
          </a:prstGeom>
          <a:solidFill>
            <a:srgbClr val="C2352F"/>
          </a:solidFill>
          <a:ln/>
        </p:spPr>
      </p:sp>
      <p:sp>
        <p:nvSpPr>
          <p:cNvPr id="59" name="Text 57"/>
          <p:cNvSpPr txBox="1"/>
          <p:nvPr/>
        </p:nvSpPr>
        <p:spPr>
          <a:xfrm>
            <a:off x="3474720" y="393729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$74K</a:t>
            </a:r>
            <a:endParaRPr lang="en-US" sz="1300" dirty="0"/>
          </a:p>
        </p:txBody>
      </p:sp>
      <p:sp>
        <p:nvSpPr>
          <p:cNvPr id="60" name="Text 58"/>
          <p:cNvSpPr txBox="1"/>
          <p:nvPr/>
        </p:nvSpPr>
        <p:spPr>
          <a:xfrm>
            <a:off x="4261104" y="393729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20</a:t>
            </a:r>
            <a:endParaRPr lang="en-US" sz="1300" dirty="0"/>
          </a:p>
        </p:txBody>
      </p:sp>
      <p:sp>
        <p:nvSpPr>
          <p:cNvPr id="61" name="Text 59"/>
          <p:cNvSpPr txBox="1"/>
          <p:nvPr/>
        </p:nvSpPr>
        <p:spPr>
          <a:xfrm>
            <a:off x="5193792" y="393729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76.8%</a:t>
            </a:r>
            <a:endParaRPr lang="en-US" sz="1300" dirty="0"/>
          </a:p>
        </p:txBody>
      </p:sp>
      <p:sp>
        <p:nvSpPr>
          <p:cNvPr id="62" name="Text 60"/>
          <p:cNvSpPr txBox="1"/>
          <p:nvPr/>
        </p:nvSpPr>
        <p:spPr>
          <a:xfrm>
            <a:off x="658368"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63" name="Shape 61"/>
          <p:cNvSpPr/>
          <p:nvPr/>
        </p:nvSpPr>
        <p:spPr>
          <a:xfrm>
            <a:off x="2670048" y="4241713"/>
            <a:ext cx="333730" cy="136676"/>
          </a:xfrm>
          <a:prstGeom prst="rect">
            <a:avLst/>
          </a:prstGeom>
          <a:solidFill>
            <a:srgbClr val="C2352F"/>
          </a:solidFill>
          <a:ln/>
        </p:spPr>
      </p:sp>
      <p:sp>
        <p:nvSpPr>
          <p:cNvPr id="64" name="Text 62"/>
          <p:cNvSpPr txBox="1"/>
          <p:nvPr/>
        </p:nvSpPr>
        <p:spPr>
          <a:xfrm>
            <a:off x="3474720" y="418580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$70K</a:t>
            </a:r>
            <a:endParaRPr lang="en-US" sz="1300" dirty="0"/>
          </a:p>
        </p:txBody>
      </p:sp>
      <p:sp>
        <p:nvSpPr>
          <p:cNvPr id="65" name="Text 63"/>
          <p:cNvSpPr txBox="1"/>
          <p:nvPr/>
        </p:nvSpPr>
        <p:spPr>
          <a:xfrm>
            <a:off x="4261104" y="4185800"/>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 of 59</a:t>
            </a:r>
            <a:endParaRPr lang="en-US" sz="1300" dirty="0"/>
          </a:p>
        </p:txBody>
      </p:sp>
      <p:sp>
        <p:nvSpPr>
          <p:cNvPr id="66" name="Text 64"/>
          <p:cNvSpPr txBox="1"/>
          <p:nvPr/>
        </p:nvSpPr>
        <p:spPr>
          <a:xfrm>
            <a:off x="5193792" y="4185800"/>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104.3%</a:t>
            </a:r>
            <a:endParaRPr lang="en-US" sz="1300" dirty="0"/>
          </a:p>
        </p:txBody>
      </p:sp>
      <p:sp>
        <p:nvSpPr>
          <p:cNvPr id="67" name="Text 65"/>
          <p:cNvSpPr txBox="1"/>
          <p:nvPr/>
        </p:nvSpPr>
        <p:spPr>
          <a:xfrm>
            <a:off x="658368"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68" name="Shape 66"/>
          <p:cNvSpPr/>
          <p:nvPr/>
        </p:nvSpPr>
        <p:spPr>
          <a:xfrm>
            <a:off x="2670048" y="4490215"/>
            <a:ext cx="300431" cy="136676"/>
          </a:xfrm>
          <a:prstGeom prst="rect">
            <a:avLst/>
          </a:prstGeom>
          <a:solidFill>
            <a:srgbClr val="C2352F"/>
          </a:solidFill>
          <a:ln/>
        </p:spPr>
      </p:sp>
      <p:sp>
        <p:nvSpPr>
          <p:cNvPr id="69" name="Text 67"/>
          <p:cNvSpPr txBox="1"/>
          <p:nvPr/>
        </p:nvSpPr>
        <p:spPr>
          <a:xfrm>
            <a:off x="3474720" y="443430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$63K</a:t>
            </a:r>
            <a:endParaRPr lang="en-US" sz="1300" dirty="0"/>
          </a:p>
        </p:txBody>
      </p:sp>
      <p:sp>
        <p:nvSpPr>
          <p:cNvPr id="70" name="Text 68"/>
          <p:cNvSpPr txBox="1"/>
          <p:nvPr/>
        </p:nvSpPr>
        <p:spPr>
          <a:xfrm>
            <a:off x="4261104" y="4434302"/>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16</a:t>
            </a:r>
            <a:endParaRPr lang="en-US" sz="1300" dirty="0"/>
          </a:p>
        </p:txBody>
      </p:sp>
      <p:sp>
        <p:nvSpPr>
          <p:cNvPr id="71" name="Text 69"/>
          <p:cNvSpPr txBox="1"/>
          <p:nvPr/>
        </p:nvSpPr>
        <p:spPr>
          <a:xfrm>
            <a:off x="5193792" y="4434302"/>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91.2%</a:t>
            </a:r>
            <a:endParaRPr lang="en-US" sz="1300" dirty="0"/>
          </a:p>
        </p:txBody>
      </p:sp>
      <p:sp>
        <p:nvSpPr>
          <p:cNvPr id="72" name="Text 70"/>
          <p:cNvSpPr txBox="1"/>
          <p:nvPr/>
        </p:nvSpPr>
        <p:spPr>
          <a:xfrm>
            <a:off x="658368"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73" name="Shape 71"/>
          <p:cNvSpPr/>
          <p:nvPr/>
        </p:nvSpPr>
        <p:spPr>
          <a:xfrm>
            <a:off x="2670048" y="4738717"/>
            <a:ext cx="294453" cy="136676"/>
          </a:xfrm>
          <a:prstGeom prst="rect">
            <a:avLst/>
          </a:prstGeom>
          <a:solidFill>
            <a:srgbClr val="C2352F"/>
          </a:solidFill>
          <a:ln/>
        </p:spPr>
      </p:sp>
      <p:sp>
        <p:nvSpPr>
          <p:cNvPr id="74" name="Text 72"/>
          <p:cNvSpPr txBox="1"/>
          <p:nvPr/>
        </p:nvSpPr>
        <p:spPr>
          <a:xfrm>
            <a:off x="3474720" y="468280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$62K</a:t>
            </a:r>
            <a:endParaRPr lang="en-US" sz="1300" dirty="0"/>
          </a:p>
        </p:txBody>
      </p:sp>
      <p:sp>
        <p:nvSpPr>
          <p:cNvPr id="75" name="Text 73"/>
          <p:cNvSpPr txBox="1"/>
          <p:nvPr/>
        </p:nvSpPr>
        <p:spPr>
          <a:xfrm>
            <a:off x="4261104" y="468280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9</a:t>
            </a:r>
            <a:endParaRPr lang="en-US" sz="1300" dirty="0"/>
          </a:p>
        </p:txBody>
      </p:sp>
      <p:sp>
        <p:nvSpPr>
          <p:cNvPr id="76" name="Text 74"/>
          <p:cNvSpPr txBox="1"/>
          <p:nvPr/>
        </p:nvSpPr>
        <p:spPr>
          <a:xfrm>
            <a:off x="5193792" y="468280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72.3%</a:t>
            </a:r>
            <a:endParaRPr lang="en-US" sz="1300" dirty="0"/>
          </a:p>
        </p:txBody>
      </p:sp>
      <p:sp>
        <p:nvSpPr>
          <p:cNvPr id="77" name="Text 75"/>
          <p:cNvSpPr txBox="1"/>
          <p:nvPr/>
        </p:nvSpPr>
        <p:spPr>
          <a:xfrm>
            <a:off x="658368"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78" name="Shape 76"/>
          <p:cNvSpPr/>
          <p:nvPr/>
        </p:nvSpPr>
        <p:spPr>
          <a:xfrm>
            <a:off x="2670048" y="4987218"/>
            <a:ext cx="273826" cy="136676"/>
          </a:xfrm>
          <a:prstGeom prst="rect">
            <a:avLst/>
          </a:prstGeom>
          <a:solidFill>
            <a:srgbClr val="C2352F"/>
          </a:solidFill>
          <a:ln/>
        </p:spPr>
      </p:sp>
      <p:sp>
        <p:nvSpPr>
          <p:cNvPr id="79" name="Text 77"/>
          <p:cNvSpPr txBox="1"/>
          <p:nvPr/>
        </p:nvSpPr>
        <p:spPr>
          <a:xfrm>
            <a:off x="3474720" y="4931305"/>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$58K</a:t>
            </a:r>
            <a:endParaRPr lang="en-US" sz="1300" dirty="0"/>
          </a:p>
        </p:txBody>
      </p:sp>
      <p:sp>
        <p:nvSpPr>
          <p:cNvPr id="80" name="Text 78"/>
          <p:cNvSpPr txBox="1"/>
          <p:nvPr/>
        </p:nvSpPr>
        <p:spPr>
          <a:xfrm>
            <a:off x="4261104" y="4931305"/>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12</a:t>
            </a:r>
            <a:endParaRPr lang="en-US" sz="1300" dirty="0"/>
          </a:p>
        </p:txBody>
      </p:sp>
      <p:sp>
        <p:nvSpPr>
          <p:cNvPr id="81" name="Text 79"/>
          <p:cNvSpPr txBox="1"/>
          <p:nvPr/>
        </p:nvSpPr>
        <p:spPr>
          <a:xfrm>
            <a:off x="5193792" y="4931305"/>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98.4%</a:t>
            </a:r>
            <a:endParaRPr lang="en-US" sz="1300" dirty="0"/>
          </a:p>
        </p:txBody>
      </p:sp>
      <p:sp>
        <p:nvSpPr>
          <p:cNvPr id="82" name="Text 80"/>
          <p:cNvSpPr txBox="1"/>
          <p:nvPr/>
        </p:nvSpPr>
        <p:spPr>
          <a:xfrm>
            <a:off x="658368"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83" name="Shape 81"/>
          <p:cNvSpPr/>
          <p:nvPr/>
        </p:nvSpPr>
        <p:spPr>
          <a:xfrm>
            <a:off x="2670048" y="5235720"/>
            <a:ext cx="227614" cy="136676"/>
          </a:xfrm>
          <a:prstGeom prst="rect">
            <a:avLst/>
          </a:prstGeom>
          <a:solidFill>
            <a:srgbClr val="C2352F"/>
          </a:solidFill>
          <a:ln/>
        </p:spPr>
      </p:sp>
      <p:sp>
        <p:nvSpPr>
          <p:cNvPr id="84" name="Text 82"/>
          <p:cNvSpPr txBox="1"/>
          <p:nvPr/>
        </p:nvSpPr>
        <p:spPr>
          <a:xfrm>
            <a:off x="3474720" y="517980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$48K</a:t>
            </a:r>
            <a:endParaRPr lang="en-US" sz="1300" dirty="0"/>
          </a:p>
        </p:txBody>
      </p:sp>
      <p:sp>
        <p:nvSpPr>
          <p:cNvPr id="85" name="Text 83"/>
          <p:cNvSpPr txBox="1"/>
          <p:nvPr/>
        </p:nvSpPr>
        <p:spPr>
          <a:xfrm>
            <a:off x="4261104" y="517980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 of 12</a:t>
            </a:r>
            <a:endParaRPr lang="en-US" sz="1300" dirty="0"/>
          </a:p>
        </p:txBody>
      </p:sp>
      <p:sp>
        <p:nvSpPr>
          <p:cNvPr id="86" name="Text 84"/>
          <p:cNvSpPr txBox="1"/>
          <p:nvPr/>
        </p:nvSpPr>
        <p:spPr>
          <a:xfrm>
            <a:off x="5193792" y="517980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73.6%</a:t>
            </a:r>
            <a:endParaRPr lang="en-US" sz="1300" dirty="0"/>
          </a:p>
        </p:txBody>
      </p:sp>
      <p:sp>
        <p:nvSpPr>
          <p:cNvPr id="87" name="Text 85"/>
          <p:cNvSpPr txBox="1"/>
          <p:nvPr/>
        </p:nvSpPr>
        <p:spPr>
          <a:xfrm>
            <a:off x="658368"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88" name="Shape 86"/>
          <p:cNvSpPr/>
          <p:nvPr/>
        </p:nvSpPr>
        <p:spPr>
          <a:xfrm>
            <a:off x="2670048" y="5484222"/>
            <a:ext cx="207650" cy="136676"/>
          </a:xfrm>
          <a:prstGeom prst="rect">
            <a:avLst/>
          </a:prstGeom>
          <a:solidFill>
            <a:srgbClr val="C2352F"/>
          </a:solidFill>
          <a:ln/>
        </p:spPr>
      </p:sp>
      <p:sp>
        <p:nvSpPr>
          <p:cNvPr id="89" name="Text 87"/>
          <p:cNvSpPr txBox="1"/>
          <p:nvPr/>
        </p:nvSpPr>
        <p:spPr>
          <a:xfrm>
            <a:off x="3474720" y="542830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$44K</a:t>
            </a:r>
            <a:endParaRPr lang="en-US" sz="1300" dirty="0"/>
          </a:p>
        </p:txBody>
      </p:sp>
      <p:sp>
        <p:nvSpPr>
          <p:cNvPr id="90" name="Text 88"/>
          <p:cNvSpPr txBox="1"/>
          <p:nvPr/>
        </p:nvSpPr>
        <p:spPr>
          <a:xfrm>
            <a:off x="4261104" y="542830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 of 27</a:t>
            </a:r>
            <a:endParaRPr lang="en-US" sz="1300" dirty="0"/>
          </a:p>
        </p:txBody>
      </p:sp>
      <p:sp>
        <p:nvSpPr>
          <p:cNvPr id="91" name="Text 89"/>
          <p:cNvSpPr txBox="1"/>
          <p:nvPr/>
        </p:nvSpPr>
        <p:spPr>
          <a:xfrm>
            <a:off x="5193792" y="542830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96.9%</a:t>
            </a:r>
            <a:endParaRPr lang="en-US" sz="1300" dirty="0"/>
          </a:p>
        </p:txBody>
      </p:sp>
      <p:sp>
        <p:nvSpPr>
          <p:cNvPr id="92" name="Text 90"/>
          <p:cNvSpPr txBox="1"/>
          <p:nvPr/>
        </p:nvSpPr>
        <p:spPr>
          <a:xfrm>
            <a:off x="658368" y="567681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93" name="Shape 91"/>
          <p:cNvSpPr/>
          <p:nvPr/>
        </p:nvSpPr>
        <p:spPr>
          <a:xfrm>
            <a:off x="2670048" y="5732723"/>
            <a:ext cx="201603" cy="136676"/>
          </a:xfrm>
          <a:prstGeom prst="rect">
            <a:avLst/>
          </a:prstGeom>
          <a:solidFill>
            <a:srgbClr val="C2352F"/>
          </a:solidFill>
          <a:ln/>
        </p:spPr>
      </p:sp>
      <p:sp>
        <p:nvSpPr>
          <p:cNvPr id="94" name="Text 92"/>
          <p:cNvSpPr txBox="1"/>
          <p:nvPr/>
        </p:nvSpPr>
        <p:spPr>
          <a:xfrm>
            <a:off x="3474720" y="567681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$42K</a:t>
            </a:r>
            <a:endParaRPr lang="en-US" sz="1300" dirty="0"/>
          </a:p>
        </p:txBody>
      </p:sp>
      <p:sp>
        <p:nvSpPr>
          <p:cNvPr id="95" name="Text 93"/>
          <p:cNvSpPr txBox="1"/>
          <p:nvPr/>
        </p:nvSpPr>
        <p:spPr>
          <a:xfrm>
            <a:off x="4261104" y="5676810"/>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17</a:t>
            </a:r>
            <a:endParaRPr lang="en-US" sz="1300" dirty="0"/>
          </a:p>
        </p:txBody>
      </p:sp>
      <p:sp>
        <p:nvSpPr>
          <p:cNvPr id="96" name="Text 94"/>
          <p:cNvSpPr txBox="1"/>
          <p:nvPr/>
        </p:nvSpPr>
        <p:spPr>
          <a:xfrm>
            <a:off x="5193792" y="5676810"/>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91.1%</a:t>
            </a:r>
            <a:endParaRPr lang="en-US" sz="1300" dirty="0"/>
          </a:p>
        </p:txBody>
      </p:sp>
      <p:sp>
        <p:nvSpPr>
          <p:cNvPr id="97" name="Text 95"/>
          <p:cNvSpPr txBox="1"/>
          <p:nvPr/>
        </p:nvSpPr>
        <p:spPr>
          <a:xfrm>
            <a:off x="6208776"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98" name="Shape 96"/>
          <p:cNvSpPr/>
          <p:nvPr/>
        </p:nvSpPr>
        <p:spPr>
          <a:xfrm>
            <a:off x="8220456" y="1756697"/>
            <a:ext cx="187634" cy="136676"/>
          </a:xfrm>
          <a:prstGeom prst="rect">
            <a:avLst/>
          </a:prstGeom>
          <a:solidFill>
            <a:srgbClr val="C2352F"/>
          </a:solidFill>
          <a:ln/>
        </p:spPr>
      </p:sp>
      <p:sp>
        <p:nvSpPr>
          <p:cNvPr id="99" name="Text 97"/>
          <p:cNvSpPr txBox="1"/>
          <p:nvPr/>
        </p:nvSpPr>
        <p:spPr>
          <a:xfrm>
            <a:off x="9025128" y="170078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$39K</a:t>
            </a:r>
            <a:endParaRPr lang="en-US" sz="1300" dirty="0"/>
          </a:p>
        </p:txBody>
      </p:sp>
      <p:sp>
        <p:nvSpPr>
          <p:cNvPr id="100" name="Text 98"/>
          <p:cNvSpPr txBox="1"/>
          <p:nvPr/>
        </p:nvSpPr>
        <p:spPr>
          <a:xfrm>
            <a:off x="9811512" y="170078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6</a:t>
            </a:r>
            <a:endParaRPr lang="en-US" sz="1300" dirty="0"/>
          </a:p>
        </p:txBody>
      </p:sp>
      <p:sp>
        <p:nvSpPr>
          <p:cNvPr id="101" name="Text 99"/>
          <p:cNvSpPr txBox="1"/>
          <p:nvPr/>
        </p:nvSpPr>
        <p:spPr>
          <a:xfrm>
            <a:off x="10744200" y="170078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78.5%</a:t>
            </a:r>
            <a:endParaRPr lang="en-US" sz="1300" dirty="0"/>
          </a:p>
        </p:txBody>
      </p:sp>
      <p:sp>
        <p:nvSpPr>
          <p:cNvPr id="102" name="Text 100"/>
          <p:cNvSpPr txBox="1"/>
          <p:nvPr/>
        </p:nvSpPr>
        <p:spPr>
          <a:xfrm>
            <a:off x="6208776"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03" name="Shape 101"/>
          <p:cNvSpPr/>
          <p:nvPr/>
        </p:nvSpPr>
        <p:spPr>
          <a:xfrm>
            <a:off x="8220456" y="2005199"/>
            <a:ext cx="163154" cy="136676"/>
          </a:xfrm>
          <a:prstGeom prst="rect">
            <a:avLst/>
          </a:prstGeom>
          <a:solidFill>
            <a:srgbClr val="C2352F"/>
          </a:solidFill>
          <a:ln/>
        </p:spPr>
      </p:sp>
      <p:sp>
        <p:nvSpPr>
          <p:cNvPr id="104" name="Text 102"/>
          <p:cNvSpPr txBox="1"/>
          <p:nvPr/>
        </p:nvSpPr>
        <p:spPr>
          <a:xfrm>
            <a:off x="9025128" y="194928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$34K</a:t>
            </a:r>
            <a:endParaRPr lang="en-US" sz="1300" dirty="0"/>
          </a:p>
        </p:txBody>
      </p:sp>
      <p:sp>
        <p:nvSpPr>
          <p:cNvPr id="105" name="Text 103"/>
          <p:cNvSpPr txBox="1"/>
          <p:nvPr/>
        </p:nvSpPr>
        <p:spPr>
          <a:xfrm>
            <a:off x="9811512" y="1949286"/>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9</a:t>
            </a:r>
            <a:endParaRPr lang="en-US" sz="1300" dirty="0"/>
          </a:p>
        </p:txBody>
      </p:sp>
      <p:sp>
        <p:nvSpPr>
          <p:cNvPr id="106" name="Text 104"/>
          <p:cNvSpPr txBox="1"/>
          <p:nvPr/>
        </p:nvSpPr>
        <p:spPr>
          <a:xfrm>
            <a:off x="10744200" y="1949286"/>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78.8%</a:t>
            </a:r>
            <a:endParaRPr lang="en-US" sz="1300" dirty="0"/>
          </a:p>
        </p:txBody>
      </p:sp>
      <p:sp>
        <p:nvSpPr>
          <p:cNvPr id="107" name="Text 105"/>
          <p:cNvSpPr txBox="1"/>
          <p:nvPr/>
        </p:nvSpPr>
        <p:spPr>
          <a:xfrm>
            <a:off x="6208776"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08" name="Shape 106"/>
          <p:cNvSpPr/>
          <p:nvPr/>
        </p:nvSpPr>
        <p:spPr>
          <a:xfrm>
            <a:off x="8220456" y="2253700"/>
            <a:ext cx="150261" cy="136676"/>
          </a:xfrm>
          <a:prstGeom prst="rect">
            <a:avLst/>
          </a:prstGeom>
          <a:solidFill>
            <a:srgbClr val="C2352F"/>
          </a:solidFill>
          <a:ln/>
        </p:spPr>
      </p:sp>
      <p:sp>
        <p:nvSpPr>
          <p:cNvPr id="109" name="Text 107"/>
          <p:cNvSpPr txBox="1"/>
          <p:nvPr/>
        </p:nvSpPr>
        <p:spPr>
          <a:xfrm>
            <a:off x="9025128" y="219778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$32K</a:t>
            </a:r>
            <a:endParaRPr lang="en-US" sz="1300" dirty="0"/>
          </a:p>
        </p:txBody>
      </p:sp>
      <p:sp>
        <p:nvSpPr>
          <p:cNvPr id="110" name="Text 108"/>
          <p:cNvSpPr txBox="1"/>
          <p:nvPr/>
        </p:nvSpPr>
        <p:spPr>
          <a:xfrm>
            <a:off x="9811512" y="219778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11</a:t>
            </a:r>
            <a:endParaRPr lang="en-US" sz="1300" dirty="0"/>
          </a:p>
        </p:txBody>
      </p:sp>
      <p:sp>
        <p:nvSpPr>
          <p:cNvPr id="111" name="Text 109"/>
          <p:cNvSpPr txBox="1"/>
          <p:nvPr/>
        </p:nvSpPr>
        <p:spPr>
          <a:xfrm>
            <a:off x="10744200" y="219778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104.7%</a:t>
            </a:r>
            <a:endParaRPr lang="en-US" sz="1300" dirty="0"/>
          </a:p>
        </p:txBody>
      </p:sp>
      <p:sp>
        <p:nvSpPr>
          <p:cNvPr id="112" name="Text 110"/>
          <p:cNvSpPr txBox="1"/>
          <p:nvPr/>
        </p:nvSpPr>
        <p:spPr>
          <a:xfrm>
            <a:off x="6208776"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13" name="Shape 111"/>
          <p:cNvSpPr/>
          <p:nvPr/>
        </p:nvSpPr>
        <p:spPr>
          <a:xfrm>
            <a:off x="8220456" y="2502202"/>
            <a:ext cx="116946" cy="136676"/>
          </a:xfrm>
          <a:prstGeom prst="rect">
            <a:avLst/>
          </a:prstGeom>
          <a:solidFill>
            <a:srgbClr val="C2352F"/>
          </a:solidFill>
          <a:ln/>
        </p:spPr>
      </p:sp>
      <p:sp>
        <p:nvSpPr>
          <p:cNvPr id="114" name="Text 112"/>
          <p:cNvSpPr txBox="1"/>
          <p:nvPr/>
        </p:nvSpPr>
        <p:spPr>
          <a:xfrm>
            <a:off x="9025128" y="244628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$25K</a:t>
            </a:r>
            <a:endParaRPr lang="en-US" sz="1300" dirty="0"/>
          </a:p>
        </p:txBody>
      </p:sp>
      <p:sp>
        <p:nvSpPr>
          <p:cNvPr id="115" name="Text 113"/>
          <p:cNvSpPr txBox="1"/>
          <p:nvPr/>
        </p:nvSpPr>
        <p:spPr>
          <a:xfrm>
            <a:off x="9811512" y="244628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19</a:t>
            </a:r>
            <a:endParaRPr lang="en-US" sz="1300" dirty="0"/>
          </a:p>
        </p:txBody>
      </p:sp>
      <p:sp>
        <p:nvSpPr>
          <p:cNvPr id="116" name="Text 114"/>
          <p:cNvSpPr txBox="1"/>
          <p:nvPr/>
        </p:nvSpPr>
        <p:spPr>
          <a:xfrm>
            <a:off x="10744200" y="244628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92.2%</a:t>
            </a:r>
            <a:endParaRPr lang="en-US" sz="1300" dirty="0"/>
          </a:p>
        </p:txBody>
      </p:sp>
      <p:sp>
        <p:nvSpPr>
          <p:cNvPr id="117" name="Text 115"/>
          <p:cNvSpPr txBox="1"/>
          <p:nvPr/>
        </p:nvSpPr>
        <p:spPr>
          <a:xfrm>
            <a:off x="6208776"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18" name="Shape 116"/>
          <p:cNvSpPr/>
          <p:nvPr/>
        </p:nvSpPr>
        <p:spPr>
          <a:xfrm>
            <a:off x="8220456" y="2750703"/>
            <a:ext cx="112759" cy="136676"/>
          </a:xfrm>
          <a:prstGeom prst="rect">
            <a:avLst/>
          </a:prstGeom>
          <a:solidFill>
            <a:srgbClr val="C2352F"/>
          </a:solidFill>
          <a:ln/>
        </p:spPr>
      </p:sp>
      <p:sp>
        <p:nvSpPr>
          <p:cNvPr id="119" name="Text 117"/>
          <p:cNvSpPr txBox="1"/>
          <p:nvPr/>
        </p:nvSpPr>
        <p:spPr>
          <a:xfrm>
            <a:off x="9025128" y="2694791"/>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$24K</a:t>
            </a:r>
            <a:endParaRPr lang="en-US" sz="1300" dirty="0"/>
          </a:p>
        </p:txBody>
      </p:sp>
      <p:sp>
        <p:nvSpPr>
          <p:cNvPr id="120" name="Text 118"/>
          <p:cNvSpPr txBox="1"/>
          <p:nvPr/>
        </p:nvSpPr>
        <p:spPr>
          <a:xfrm>
            <a:off x="9811512" y="2694791"/>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 of 11</a:t>
            </a:r>
            <a:endParaRPr lang="en-US" sz="1300" dirty="0"/>
          </a:p>
        </p:txBody>
      </p:sp>
      <p:sp>
        <p:nvSpPr>
          <p:cNvPr id="121" name="Text 119"/>
          <p:cNvSpPr txBox="1"/>
          <p:nvPr/>
        </p:nvSpPr>
        <p:spPr>
          <a:xfrm>
            <a:off x="10744200" y="2694791"/>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94.9%</a:t>
            </a:r>
            <a:endParaRPr lang="en-US" sz="1300" dirty="0"/>
          </a:p>
        </p:txBody>
      </p:sp>
      <p:sp>
        <p:nvSpPr>
          <p:cNvPr id="122" name="Text 120"/>
          <p:cNvSpPr txBox="1"/>
          <p:nvPr/>
        </p:nvSpPr>
        <p:spPr>
          <a:xfrm>
            <a:off x="6208776"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23" name="Shape 121"/>
          <p:cNvSpPr/>
          <p:nvPr/>
        </p:nvSpPr>
        <p:spPr>
          <a:xfrm>
            <a:off x="8220456" y="2999205"/>
            <a:ext cx="105168" cy="136676"/>
          </a:xfrm>
          <a:prstGeom prst="rect">
            <a:avLst/>
          </a:prstGeom>
          <a:solidFill>
            <a:srgbClr val="C2352F"/>
          </a:solidFill>
          <a:ln/>
        </p:spPr>
      </p:sp>
      <p:sp>
        <p:nvSpPr>
          <p:cNvPr id="124" name="Text 122"/>
          <p:cNvSpPr txBox="1"/>
          <p:nvPr/>
        </p:nvSpPr>
        <p:spPr>
          <a:xfrm>
            <a:off x="9025128" y="294329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$22K</a:t>
            </a:r>
            <a:endParaRPr lang="en-US" sz="1300" dirty="0"/>
          </a:p>
        </p:txBody>
      </p:sp>
      <p:sp>
        <p:nvSpPr>
          <p:cNvPr id="125" name="Text 123"/>
          <p:cNvSpPr txBox="1"/>
          <p:nvPr/>
        </p:nvSpPr>
        <p:spPr>
          <a:xfrm>
            <a:off x="9811512" y="2943292"/>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12</a:t>
            </a:r>
            <a:endParaRPr lang="en-US" sz="1300" dirty="0"/>
          </a:p>
        </p:txBody>
      </p:sp>
      <p:sp>
        <p:nvSpPr>
          <p:cNvPr id="126" name="Text 124"/>
          <p:cNvSpPr txBox="1"/>
          <p:nvPr/>
        </p:nvSpPr>
        <p:spPr>
          <a:xfrm>
            <a:off x="10744200" y="2943292"/>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109.7%</a:t>
            </a:r>
            <a:endParaRPr lang="en-US" sz="1300" dirty="0"/>
          </a:p>
        </p:txBody>
      </p:sp>
      <p:sp>
        <p:nvSpPr>
          <p:cNvPr id="127" name="Text 125"/>
          <p:cNvSpPr txBox="1"/>
          <p:nvPr/>
        </p:nvSpPr>
        <p:spPr>
          <a:xfrm>
            <a:off x="6208776"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28" name="Shape 126"/>
          <p:cNvSpPr/>
          <p:nvPr/>
        </p:nvSpPr>
        <p:spPr>
          <a:xfrm>
            <a:off x="8220456" y="3247707"/>
            <a:ext cx="98507" cy="136676"/>
          </a:xfrm>
          <a:prstGeom prst="rect">
            <a:avLst/>
          </a:prstGeom>
          <a:solidFill>
            <a:srgbClr val="C2352F"/>
          </a:solidFill>
          <a:ln/>
        </p:spPr>
      </p:sp>
      <p:sp>
        <p:nvSpPr>
          <p:cNvPr id="129" name="Text 127"/>
          <p:cNvSpPr txBox="1"/>
          <p:nvPr/>
        </p:nvSpPr>
        <p:spPr>
          <a:xfrm>
            <a:off x="9025128" y="319179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130" name="Text 128"/>
          <p:cNvSpPr txBox="1"/>
          <p:nvPr/>
        </p:nvSpPr>
        <p:spPr>
          <a:xfrm>
            <a:off x="9811512" y="319179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 of 5</a:t>
            </a:r>
            <a:endParaRPr lang="en-US" sz="1300" dirty="0"/>
          </a:p>
        </p:txBody>
      </p:sp>
      <p:sp>
        <p:nvSpPr>
          <p:cNvPr id="131" name="Text 129"/>
          <p:cNvSpPr txBox="1"/>
          <p:nvPr/>
        </p:nvSpPr>
        <p:spPr>
          <a:xfrm>
            <a:off x="10744200" y="319179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70.0%</a:t>
            </a:r>
            <a:endParaRPr lang="en-US" sz="1300" dirty="0"/>
          </a:p>
        </p:txBody>
      </p:sp>
      <p:sp>
        <p:nvSpPr>
          <p:cNvPr id="132" name="Text 130"/>
          <p:cNvSpPr txBox="1"/>
          <p:nvPr/>
        </p:nvSpPr>
        <p:spPr>
          <a:xfrm>
            <a:off x="6208776"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33" name="Shape 131"/>
          <p:cNvSpPr/>
          <p:nvPr/>
        </p:nvSpPr>
        <p:spPr>
          <a:xfrm>
            <a:off x="8220456" y="3496208"/>
            <a:ext cx="97766" cy="136676"/>
          </a:xfrm>
          <a:prstGeom prst="rect">
            <a:avLst/>
          </a:prstGeom>
          <a:solidFill>
            <a:srgbClr val="C2352F"/>
          </a:solidFill>
          <a:ln/>
        </p:spPr>
      </p:sp>
      <p:sp>
        <p:nvSpPr>
          <p:cNvPr id="134" name="Text 132"/>
          <p:cNvSpPr txBox="1"/>
          <p:nvPr/>
        </p:nvSpPr>
        <p:spPr>
          <a:xfrm>
            <a:off x="9025128" y="344029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135" name="Text 133"/>
          <p:cNvSpPr txBox="1"/>
          <p:nvPr/>
        </p:nvSpPr>
        <p:spPr>
          <a:xfrm>
            <a:off x="9811512" y="3440296"/>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 of 6</a:t>
            </a:r>
            <a:endParaRPr lang="en-US" sz="1300" dirty="0"/>
          </a:p>
        </p:txBody>
      </p:sp>
      <p:sp>
        <p:nvSpPr>
          <p:cNvPr id="136" name="Text 134"/>
          <p:cNvSpPr txBox="1"/>
          <p:nvPr/>
        </p:nvSpPr>
        <p:spPr>
          <a:xfrm>
            <a:off x="10744200" y="3440296"/>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81.4%</a:t>
            </a:r>
            <a:endParaRPr lang="en-US" sz="1300" dirty="0"/>
          </a:p>
        </p:txBody>
      </p:sp>
      <p:sp>
        <p:nvSpPr>
          <p:cNvPr id="137" name="Text 135"/>
          <p:cNvSpPr txBox="1"/>
          <p:nvPr/>
        </p:nvSpPr>
        <p:spPr>
          <a:xfrm>
            <a:off x="6208776"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38" name="Shape 136"/>
          <p:cNvSpPr/>
          <p:nvPr/>
        </p:nvSpPr>
        <p:spPr>
          <a:xfrm>
            <a:off x="8220456" y="3744710"/>
            <a:ext cx="95452" cy="136676"/>
          </a:xfrm>
          <a:prstGeom prst="rect">
            <a:avLst/>
          </a:prstGeom>
          <a:solidFill>
            <a:srgbClr val="C2352F"/>
          </a:solidFill>
          <a:ln/>
        </p:spPr>
      </p:sp>
      <p:sp>
        <p:nvSpPr>
          <p:cNvPr id="139" name="Text 137"/>
          <p:cNvSpPr txBox="1"/>
          <p:nvPr/>
        </p:nvSpPr>
        <p:spPr>
          <a:xfrm>
            <a:off x="9025128" y="368879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$20K</a:t>
            </a:r>
            <a:endParaRPr lang="en-US" sz="1300" dirty="0"/>
          </a:p>
        </p:txBody>
      </p:sp>
      <p:sp>
        <p:nvSpPr>
          <p:cNvPr id="140" name="Text 138"/>
          <p:cNvSpPr txBox="1"/>
          <p:nvPr/>
        </p:nvSpPr>
        <p:spPr>
          <a:xfrm>
            <a:off x="9811512" y="368879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10</a:t>
            </a:r>
            <a:endParaRPr lang="en-US" sz="1300" dirty="0"/>
          </a:p>
        </p:txBody>
      </p:sp>
      <p:sp>
        <p:nvSpPr>
          <p:cNvPr id="141" name="Text 139"/>
          <p:cNvSpPr txBox="1"/>
          <p:nvPr/>
        </p:nvSpPr>
        <p:spPr>
          <a:xfrm>
            <a:off x="10744200" y="368879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117.1%</a:t>
            </a:r>
            <a:endParaRPr lang="en-US" sz="1300" dirty="0"/>
          </a:p>
        </p:txBody>
      </p:sp>
      <p:sp>
        <p:nvSpPr>
          <p:cNvPr id="142" name="Text 140"/>
          <p:cNvSpPr txBox="1"/>
          <p:nvPr/>
        </p:nvSpPr>
        <p:spPr>
          <a:xfrm>
            <a:off x="6208776"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43" name="Shape 141"/>
          <p:cNvSpPr/>
          <p:nvPr/>
        </p:nvSpPr>
        <p:spPr>
          <a:xfrm>
            <a:off x="8220456" y="3993212"/>
            <a:ext cx="71097" cy="136676"/>
          </a:xfrm>
          <a:prstGeom prst="rect">
            <a:avLst/>
          </a:prstGeom>
          <a:solidFill>
            <a:srgbClr val="C2352F"/>
          </a:solidFill>
          <a:ln/>
        </p:spPr>
      </p:sp>
      <p:sp>
        <p:nvSpPr>
          <p:cNvPr id="144" name="Text 142"/>
          <p:cNvSpPr txBox="1"/>
          <p:nvPr/>
        </p:nvSpPr>
        <p:spPr>
          <a:xfrm>
            <a:off x="9025128" y="393729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$15K</a:t>
            </a:r>
            <a:endParaRPr lang="en-US" sz="1300" dirty="0"/>
          </a:p>
        </p:txBody>
      </p:sp>
      <p:sp>
        <p:nvSpPr>
          <p:cNvPr id="145" name="Text 143"/>
          <p:cNvSpPr txBox="1"/>
          <p:nvPr/>
        </p:nvSpPr>
        <p:spPr>
          <a:xfrm>
            <a:off x="9811512" y="393729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7</a:t>
            </a:r>
            <a:endParaRPr lang="en-US" sz="1300" dirty="0"/>
          </a:p>
        </p:txBody>
      </p:sp>
      <p:sp>
        <p:nvSpPr>
          <p:cNvPr id="146" name="Text 144"/>
          <p:cNvSpPr txBox="1"/>
          <p:nvPr/>
        </p:nvSpPr>
        <p:spPr>
          <a:xfrm>
            <a:off x="10744200" y="393729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106.0%</a:t>
            </a:r>
            <a:endParaRPr lang="en-US" sz="1300" dirty="0"/>
          </a:p>
        </p:txBody>
      </p:sp>
      <p:sp>
        <p:nvSpPr>
          <p:cNvPr id="147" name="Text 145"/>
          <p:cNvSpPr txBox="1"/>
          <p:nvPr/>
        </p:nvSpPr>
        <p:spPr>
          <a:xfrm>
            <a:off x="6208776"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48" name="Shape 146"/>
          <p:cNvSpPr/>
          <p:nvPr/>
        </p:nvSpPr>
        <p:spPr>
          <a:xfrm>
            <a:off x="8220456" y="4241713"/>
            <a:ext cx="61565" cy="136676"/>
          </a:xfrm>
          <a:prstGeom prst="rect">
            <a:avLst/>
          </a:prstGeom>
          <a:solidFill>
            <a:srgbClr val="C2352F"/>
          </a:solidFill>
          <a:ln/>
        </p:spPr>
      </p:sp>
      <p:sp>
        <p:nvSpPr>
          <p:cNvPr id="149" name="Text 147"/>
          <p:cNvSpPr txBox="1"/>
          <p:nvPr/>
        </p:nvSpPr>
        <p:spPr>
          <a:xfrm>
            <a:off x="9025128" y="418580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$13K</a:t>
            </a:r>
            <a:endParaRPr lang="en-US" sz="1300" dirty="0"/>
          </a:p>
        </p:txBody>
      </p:sp>
      <p:sp>
        <p:nvSpPr>
          <p:cNvPr id="150" name="Text 148"/>
          <p:cNvSpPr txBox="1"/>
          <p:nvPr/>
        </p:nvSpPr>
        <p:spPr>
          <a:xfrm>
            <a:off x="9811512" y="4185800"/>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 of 28</a:t>
            </a:r>
            <a:endParaRPr lang="en-US" sz="1300" dirty="0"/>
          </a:p>
        </p:txBody>
      </p:sp>
      <p:sp>
        <p:nvSpPr>
          <p:cNvPr id="151" name="Text 149"/>
          <p:cNvSpPr txBox="1"/>
          <p:nvPr/>
        </p:nvSpPr>
        <p:spPr>
          <a:xfrm>
            <a:off x="10744200" y="4185800"/>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118.5%</a:t>
            </a:r>
            <a:endParaRPr lang="en-US" sz="1300" dirty="0"/>
          </a:p>
        </p:txBody>
      </p:sp>
      <p:sp>
        <p:nvSpPr>
          <p:cNvPr id="152" name="Text 150"/>
          <p:cNvSpPr txBox="1"/>
          <p:nvPr/>
        </p:nvSpPr>
        <p:spPr>
          <a:xfrm>
            <a:off x="6208776"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153" name="Shape 151"/>
          <p:cNvSpPr/>
          <p:nvPr/>
        </p:nvSpPr>
        <p:spPr>
          <a:xfrm>
            <a:off x="8220456" y="4490215"/>
            <a:ext cx="61457" cy="136676"/>
          </a:xfrm>
          <a:prstGeom prst="rect">
            <a:avLst/>
          </a:prstGeom>
          <a:solidFill>
            <a:srgbClr val="C2352F"/>
          </a:solidFill>
          <a:ln/>
        </p:spPr>
      </p:sp>
      <p:sp>
        <p:nvSpPr>
          <p:cNvPr id="154" name="Text 152"/>
          <p:cNvSpPr txBox="1"/>
          <p:nvPr/>
        </p:nvSpPr>
        <p:spPr>
          <a:xfrm>
            <a:off x="9025128" y="443430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$13K</a:t>
            </a:r>
            <a:endParaRPr lang="en-US" sz="1300" dirty="0"/>
          </a:p>
        </p:txBody>
      </p:sp>
      <p:sp>
        <p:nvSpPr>
          <p:cNvPr id="155" name="Text 153"/>
          <p:cNvSpPr txBox="1"/>
          <p:nvPr/>
        </p:nvSpPr>
        <p:spPr>
          <a:xfrm>
            <a:off x="9811512" y="4434302"/>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22</a:t>
            </a:r>
            <a:endParaRPr lang="en-US" sz="1300" dirty="0"/>
          </a:p>
        </p:txBody>
      </p:sp>
      <p:sp>
        <p:nvSpPr>
          <p:cNvPr id="156" name="Text 154"/>
          <p:cNvSpPr txBox="1"/>
          <p:nvPr/>
        </p:nvSpPr>
        <p:spPr>
          <a:xfrm>
            <a:off x="10744200" y="4434302"/>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109.3%</a:t>
            </a:r>
            <a:endParaRPr lang="en-US" sz="1300" dirty="0"/>
          </a:p>
        </p:txBody>
      </p:sp>
      <p:sp>
        <p:nvSpPr>
          <p:cNvPr id="157" name="Text 155"/>
          <p:cNvSpPr txBox="1"/>
          <p:nvPr/>
        </p:nvSpPr>
        <p:spPr>
          <a:xfrm>
            <a:off x="6208776"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58" name="Shape 156"/>
          <p:cNvSpPr/>
          <p:nvPr/>
        </p:nvSpPr>
        <p:spPr>
          <a:xfrm>
            <a:off x="8220456" y="4738717"/>
            <a:ext cx="54038" cy="136676"/>
          </a:xfrm>
          <a:prstGeom prst="rect">
            <a:avLst/>
          </a:prstGeom>
          <a:solidFill>
            <a:srgbClr val="C2352F"/>
          </a:solidFill>
          <a:ln/>
        </p:spPr>
      </p:sp>
      <p:sp>
        <p:nvSpPr>
          <p:cNvPr id="159" name="Text 157"/>
          <p:cNvSpPr txBox="1"/>
          <p:nvPr/>
        </p:nvSpPr>
        <p:spPr>
          <a:xfrm>
            <a:off x="9025128" y="468280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$11K</a:t>
            </a:r>
            <a:endParaRPr lang="en-US" sz="1300" dirty="0"/>
          </a:p>
        </p:txBody>
      </p:sp>
      <p:sp>
        <p:nvSpPr>
          <p:cNvPr id="160" name="Text 158"/>
          <p:cNvSpPr txBox="1"/>
          <p:nvPr/>
        </p:nvSpPr>
        <p:spPr>
          <a:xfrm>
            <a:off x="9811512" y="468280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28</a:t>
            </a:r>
            <a:endParaRPr lang="en-US" sz="1300" dirty="0"/>
          </a:p>
        </p:txBody>
      </p:sp>
      <p:sp>
        <p:nvSpPr>
          <p:cNvPr id="161" name="Text 159"/>
          <p:cNvSpPr txBox="1"/>
          <p:nvPr/>
        </p:nvSpPr>
        <p:spPr>
          <a:xfrm>
            <a:off x="10744200" y="468280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108.0%</a:t>
            </a:r>
            <a:endParaRPr lang="en-US" sz="1300" dirty="0"/>
          </a:p>
        </p:txBody>
      </p:sp>
      <p:sp>
        <p:nvSpPr>
          <p:cNvPr id="162" name="Text 160"/>
          <p:cNvSpPr txBox="1"/>
          <p:nvPr/>
        </p:nvSpPr>
        <p:spPr>
          <a:xfrm>
            <a:off x="6208776"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63" name="Shape 161"/>
          <p:cNvSpPr/>
          <p:nvPr/>
        </p:nvSpPr>
        <p:spPr>
          <a:xfrm>
            <a:off x="8220456" y="4987218"/>
            <a:ext cx="49766" cy="136676"/>
          </a:xfrm>
          <a:prstGeom prst="rect">
            <a:avLst/>
          </a:prstGeom>
          <a:solidFill>
            <a:srgbClr val="C2352F"/>
          </a:solidFill>
          <a:ln/>
        </p:spPr>
      </p:sp>
      <p:sp>
        <p:nvSpPr>
          <p:cNvPr id="164" name="Text 162"/>
          <p:cNvSpPr txBox="1"/>
          <p:nvPr/>
        </p:nvSpPr>
        <p:spPr>
          <a:xfrm>
            <a:off x="9025128" y="4931305"/>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$10K</a:t>
            </a:r>
            <a:endParaRPr lang="en-US" sz="1300" dirty="0"/>
          </a:p>
        </p:txBody>
      </p:sp>
      <p:sp>
        <p:nvSpPr>
          <p:cNvPr id="165" name="Text 163"/>
          <p:cNvSpPr txBox="1"/>
          <p:nvPr/>
        </p:nvSpPr>
        <p:spPr>
          <a:xfrm>
            <a:off x="9811512" y="4931305"/>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18</a:t>
            </a:r>
            <a:endParaRPr lang="en-US" sz="1300" dirty="0"/>
          </a:p>
        </p:txBody>
      </p:sp>
      <p:sp>
        <p:nvSpPr>
          <p:cNvPr id="166" name="Text 164"/>
          <p:cNvSpPr txBox="1"/>
          <p:nvPr/>
        </p:nvSpPr>
        <p:spPr>
          <a:xfrm>
            <a:off x="10744200" y="4931305"/>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102.4%</a:t>
            </a:r>
            <a:endParaRPr lang="en-US" sz="1300" dirty="0"/>
          </a:p>
        </p:txBody>
      </p:sp>
      <p:sp>
        <p:nvSpPr>
          <p:cNvPr id="167" name="Text 165"/>
          <p:cNvSpPr txBox="1"/>
          <p:nvPr/>
        </p:nvSpPr>
        <p:spPr>
          <a:xfrm>
            <a:off x="6208776"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68" name="Shape 166"/>
          <p:cNvSpPr/>
          <p:nvPr/>
        </p:nvSpPr>
        <p:spPr>
          <a:xfrm>
            <a:off x="8220456" y="5235720"/>
            <a:ext cx="40736" cy="136676"/>
          </a:xfrm>
          <a:prstGeom prst="rect">
            <a:avLst/>
          </a:prstGeom>
          <a:solidFill>
            <a:srgbClr val="C2352F"/>
          </a:solidFill>
          <a:ln/>
        </p:spPr>
      </p:sp>
      <p:sp>
        <p:nvSpPr>
          <p:cNvPr id="169" name="Text 167"/>
          <p:cNvSpPr txBox="1"/>
          <p:nvPr/>
        </p:nvSpPr>
        <p:spPr>
          <a:xfrm>
            <a:off x="9025128" y="517980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$9K</a:t>
            </a:r>
            <a:endParaRPr lang="en-US" sz="1300" dirty="0"/>
          </a:p>
        </p:txBody>
      </p:sp>
      <p:sp>
        <p:nvSpPr>
          <p:cNvPr id="170" name="Text 168"/>
          <p:cNvSpPr txBox="1"/>
          <p:nvPr/>
        </p:nvSpPr>
        <p:spPr>
          <a:xfrm>
            <a:off x="9811512" y="517980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11</a:t>
            </a:r>
            <a:endParaRPr lang="en-US" sz="1300" dirty="0"/>
          </a:p>
        </p:txBody>
      </p:sp>
      <p:sp>
        <p:nvSpPr>
          <p:cNvPr id="171" name="Text 169"/>
          <p:cNvSpPr txBox="1"/>
          <p:nvPr/>
        </p:nvSpPr>
        <p:spPr>
          <a:xfrm>
            <a:off x="10744200" y="517980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101.6%</a:t>
            </a:r>
            <a:endParaRPr lang="en-US" sz="1300" dirty="0"/>
          </a:p>
        </p:txBody>
      </p:sp>
      <p:sp>
        <p:nvSpPr>
          <p:cNvPr id="172" name="Text 170"/>
          <p:cNvSpPr txBox="1"/>
          <p:nvPr/>
        </p:nvSpPr>
        <p:spPr>
          <a:xfrm>
            <a:off x="6208776"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73" name="Shape 171"/>
          <p:cNvSpPr/>
          <p:nvPr/>
        </p:nvSpPr>
        <p:spPr>
          <a:xfrm>
            <a:off x="8220456" y="5484222"/>
            <a:ext cx="18288" cy="136676"/>
          </a:xfrm>
          <a:prstGeom prst="rect">
            <a:avLst/>
          </a:prstGeom>
          <a:solidFill>
            <a:srgbClr val="C2352F"/>
          </a:solidFill>
          <a:ln/>
        </p:spPr>
      </p:sp>
      <p:sp>
        <p:nvSpPr>
          <p:cNvPr id="174" name="Text 172"/>
          <p:cNvSpPr txBox="1"/>
          <p:nvPr/>
        </p:nvSpPr>
        <p:spPr>
          <a:xfrm>
            <a:off x="9025128" y="542830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$1K</a:t>
            </a:r>
            <a:endParaRPr lang="en-US" sz="1300" dirty="0"/>
          </a:p>
        </p:txBody>
      </p:sp>
      <p:sp>
        <p:nvSpPr>
          <p:cNvPr id="175" name="Text 173"/>
          <p:cNvSpPr txBox="1"/>
          <p:nvPr/>
        </p:nvSpPr>
        <p:spPr>
          <a:xfrm>
            <a:off x="9811512" y="542830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 of 15</a:t>
            </a:r>
            <a:endParaRPr lang="en-US" sz="1300" dirty="0"/>
          </a:p>
        </p:txBody>
      </p:sp>
      <p:sp>
        <p:nvSpPr>
          <p:cNvPr id="176" name="Text 174"/>
          <p:cNvSpPr txBox="1"/>
          <p:nvPr/>
        </p:nvSpPr>
        <p:spPr>
          <a:xfrm>
            <a:off x="10744200" y="542830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109.0%</a:t>
            </a:r>
            <a:endParaRPr lang="en-US" sz="1300" dirty="0"/>
          </a:p>
        </p:txBody>
      </p:sp>
      <p:sp>
        <p:nvSpPr>
          <p:cNvPr id="177" name="Shape 175"/>
          <p:cNvSpPr/>
          <p:nvPr/>
        </p:nvSpPr>
        <p:spPr>
          <a:xfrm>
            <a:off x="457200" y="6126480"/>
            <a:ext cx="11274552" cy="348996"/>
          </a:xfrm>
          <a:prstGeom prst="rect">
            <a:avLst/>
          </a:prstGeom>
          <a:solidFill>
            <a:srgbClr val="FBEBEA"/>
          </a:solidFill>
          <a:ln/>
        </p:spPr>
      </p:sp>
      <p:sp>
        <p:nvSpPr>
          <p:cNvPr id="178" name="Text 176"/>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A82B26"/>
                </a:solidFill>
                <a:latin typeface="Inter" pitchFamily="34" charset="0"/>
                <a:ea typeface="Inter" pitchFamily="34" charset="-122"/>
                <a:cs typeface="Inter" pitchFamily="34" charset="-120"/>
              </a:rPr>
              <a:t>Six stores hold $647K a month, led by Cadillac at $158K. 6 stores at or above 85% still leave $537K a month.</a:t>
            </a:r>
            <a:endParaRPr lang="en-US" sz="1450" dirty="0"/>
          </a:p>
        </p:txBody>
      </p:sp>
    </p:spTree>
  </p:cSld>
  <p:clrMapOvr>
    <a:masterClrMapping/>
  </p:clrMapOvr>
</p:sld>
</file>

<file path=ppt/slides/slide14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Opportunity as a Share of Gross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346704"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Share</a:t>
            </a:r>
            <a:endParaRPr lang="en-US" sz="1400" dirty="0"/>
          </a:p>
        </p:txBody>
      </p:sp>
      <p:sp>
        <p:nvSpPr>
          <p:cNvPr id="7" name="Text 5"/>
          <p:cNvSpPr txBox="1"/>
          <p:nvPr/>
        </p:nvSpPr>
        <p:spPr>
          <a:xfrm>
            <a:off x="413308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Missed</a:t>
            </a:r>
            <a:endParaRPr lang="en-US" sz="1400" dirty="0"/>
          </a:p>
        </p:txBody>
      </p:sp>
      <p:sp>
        <p:nvSpPr>
          <p:cNvPr id="8" name="Text 6"/>
          <p:cNvSpPr txBox="1"/>
          <p:nvPr/>
        </p:nvSpPr>
        <p:spPr>
          <a:xfrm>
            <a:off x="500176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a:t>
            </a:r>
            <a:endParaRPr lang="en-US" sz="1400" dirty="0"/>
          </a:p>
        </p:txBody>
      </p:sp>
      <p:sp>
        <p:nvSpPr>
          <p:cNvPr id="9" name="Text 7"/>
          <p:cNvSpPr txBox="1"/>
          <p:nvPr/>
        </p:nvSpPr>
        <p:spPr>
          <a:xfrm>
            <a:off x="8897112"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Share</a:t>
            </a:r>
            <a:endParaRPr lang="en-US" sz="1400" dirty="0"/>
          </a:p>
        </p:txBody>
      </p:sp>
      <p:sp>
        <p:nvSpPr>
          <p:cNvPr id="10" name="Text 8"/>
          <p:cNvSpPr txBox="1"/>
          <p:nvPr/>
        </p:nvSpPr>
        <p:spPr>
          <a:xfrm>
            <a:off x="968349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Missed</a:t>
            </a:r>
            <a:endParaRPr lang="en-US" sz="1400" dirty="0"/>
          </a:p>
        </p:txBody>
      </p:sp>
      <p:sp>
        <p:nvSpPr>
          <p:cNvPr id="11" name="Text 9"/>
          <p:cNvSpPr txBox="1"/>
          <p:nvPr/>
        </p:nvSpPr>
        <p:spPr>
          <a:xfrm>
            <a:off x="1055217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a:t>
            </a:r>
            <a:endParaRPr lang="en-US" sz="1400" dirty="0"/>
          </a:p>
        </p:txBody>
      </p:sp>
      <p:sp>
        <p:nvSpPr>
          <p:cNvPr id="12" name="Text 10"/>
          <p:cNvSpPr txBox="1"/>
          <p:nvPr/>
        </p:nvSpPr>
        <p:spPr>
          <a:xfrm>
            <a:off x="658368"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3" name="Shape 11"/>
          <p:cNvSpPr/>
          <p:nvPr/>
        </p:nvSpPr>
        <p:spPr>
          <a:xfrm>
            <a:off x="2670048" y="1756697"/>
            <a:ext cx="621792" cy="136676"/>
          </a:xfrm>
          <a:prstGeom prst="rect">
            <a:avLst/>
          </a:prstGeom>
          <a:solidFill>
            <a:srgbClr val="C2352F"/>
          </a:solidFill>
          <a:ln/>
        </p:spPr>
      </p:sp>
      <p:sp>
        <p:nvSpPr>
          <p:cNvPr id="14" name="Text 12"/>
          <p:cNvSpPr txBox="1"/>
          <p:nvPr/>
        </p:nvSpPr>
        <p:spPr>
          <a:xfrm>
            <a:off x="3346704" y="170078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31.9%</a:t>
            </a:r>
            <a:endParaRPr lang="en-US" sz="1300" dirty="0"/>
          </a:p>
        </p:txBody>
      </p:sp>
      <p:sp>
        <p:nvSpPr>
          <p:cNvPr id="15" name="Text 13"/>
          <p:cNvSpPr txBox="1"/>
          <p:nvPr/>
        </p:nvSpPr>
        <p:spPr>
          <a:xfrm>
            <a:off x="413308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$88K</a:t>
            </a:r>
            <a:endParaRPr lang="en-US" sz="1300" dirty="0"/>
          </a:p>
        </p:txBody>
      </p:sp>
      <p:sp>
        <p:nvSpPr>
          <p:cNvPr id="16" name="Text 14"/>
          <p:cNvSpPr txBox="1"/>
          <p:nvPr/>
        </p:nvSpPr>
        <p:spPr>
          <a:xfrm>
            <a:off x="500176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$277K</a:t>
            </a:r>
            <a:endParaRPr lang="en-US" sz="1300" dirty="0"/>
          </a:p>
        </p:txBody>
      </p:sp>
      <p:sp>
        <p:nvSpPr>
          <p:cNvPr id="17" name="Text 15"/>
          <p:cNvSpPr txBox="1"/>
          <p:nvPr/>
        </p:nvSpPr>
        <p:spPr>
          <a:xfrm>
            <a:off x="658368"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8" name="Shape 16"/>
          <p:cNvSpPr/>
          <p:nvPr/>
        </p:nvSpPr>
        <p:spPr>
          <a:xfrm>
            <a:off x="2670048" y="2005199"/>
            <a:ext cx="580151" cy="136676"/>
          </a:xfrm>
          <a:prstGeom prst="rect">
            <a:avLst/>
          </a:prstGeom>
          <a:solidFill>
            <a:srgbClr val="C2352F"/>
          </a:solidFill>
          <a:ln/>
        </p:spPr>
      </p:sp>
      <p:sp>
        <p:nvSpPr>
          <p:cNvPr id="19" name="Text 17"/>
          <p:cNvSpPr txBox="1"/>
          <p:nvPr/>
        </p:nvSpPr>
        <p:spPr>
          <a:xfrm>
            <a:off x="3346704" y="194928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29.7%</a:t>
            </a:r>
            <a:endParaRPr lang="en-US" sz="1300" dirty="0"/>
          </a:p>
        </p:txBody>
      </p:sp>
      <p:sp>
        <p:nvSpPr>
          <p:cNvPr id="20" name="Text 18"/>
          <p:cNvSpPr txBox="1"/>
          <p:nvPr/>
        </p:nvSpPr>
        <p:spPr>
          <a:xfrm>
            <a:off x="413308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$77K</a:t>
            </a:r>
            <a:endParaRPr lang="en-US" sz="1300" dirty="0"/>
          </a:p>
        </p:txBody>
      </p:sp>
      <p:sp>
        <p:nvSpPr>
          <p:cNvPr id="21" name="Text 19"/>
          <p:cNvSpPr txBox="1"/>
          <p:nvPr/>
        </p:nvSpPr>
        <p:spPr>
          <a:xfrm>
            <a:off x="500176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$258K</a:t>
            </a:r>
            <a:endParaRPr lang="en-US" sz="1300" dirty="0"/>
          </a:p>
        </p:txBody>
      </p:sp>
      <p:sp>
        <p:nvSpPr>
          <p:cNvPr id="22" name="Text 20"/>
          <p:cNvSpPr txBox="1"/>
          <p:nvPr/>
        </p:nvSpPr>
        <p:spPr>
          <a:xfrm>
            <a:off x="658368"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23" name="Shape 21"/>
          <p:cNvSpPr/>
          <p:nvPr/>
        </p:nvSpPr>
        <p:spPr>
          <a:xfrm>
            <a:off x="2670048" y="2253700"/>
            <a:ext cx="495930" cy="136676"/>
          </a:xfrm>
          <a:prstGeom prst="rect">
            <a:avLst/>
          </a:prstGeom>
          <a:solidFill>
            <a:srgbClr val="C2352F"/>
          </a:solidFill>
          <a:ln/>
        </p:spPr>
      </p:sp>
      <p:sp>
        <p:nvSpPr>
          <p:cNvPr id="24" name="Text 22"/>
          <p:cNvSpPr txBox="1"/>
          <p:nvPr/>
        </p:nvSpPr>
        <p:spPr>
          <a:xfrm>
            <a:off x="3346704" y="219778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25.4%</a:t>
            </a:r>
            <a:endParaRPr lang="en-US" sz="1300" dirty="0"/>
          </a:p>
        </p:txBody>
      </p:sp>
      <p:sp>
        <p:nvSpPr>
          <p:cNvPr id="25" name="Text 23"/>
          <p:cNvSpPr txBox="1"/>
          <p:nvPr/>
        </p:nvSpPr>
        <p:spPr>
          <a:xfrm>
            <a:off x="413308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$76K</a:t>
            </a:r>
            <a:endParaRPr lang="en-US" sz="1300" dirty="0"/>
          </a:p>
        </p:txBody>
      </p:sp>
      <p:sp>
        <p:nvSpPr>
          <p:cNvPr id="26" name="Text 24"/>
          <p:cNvSpPr txBox="1"/>
          <p:nvPr/>
        </p:nvSpPr>
        <p:spPr>
          <a:xfrm>
            <a:off x="500176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$299K</a:t>
            </a:r>
            <a:endParaRPr lang="en-US" sz="1300" dirty="0"/>
          </a:p>
        </p:txBody>
      </p:sp>
      <p:sp>
        <p:nvSpPr>
          <p:cNvPr id="27" name="Text 25"/>
          <p:cNvSpPr txBox="1"/>
          <p:nvPr/>
        </p:nvSpPr>
        <p:spPr>
          <a:xfrm>
            <a:off x="658368"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28" name="Shape 26"/>
          <p:cNvSpPr/>
          <p:nvPr/>
        </p:nvSpPr>
        <p:spPr>
          <a:xfrm>
            <a:off x="2670048" y="2502202"/>
            <a:ext cx="479181" cy="136676"/>
          </a:xfrm>
          <a:prstGeom prst="rect">
            <a:avLst/>
          </a:prstGeom>
          <a:solidFill>
            <a:srgbClr val="C2352F"/>
          </a:solidFill>
          <a:ln/>
        </p:spPr>
      </p:sp>
      <p:sp>
        <p:nvSpPr>
          <p:cNvPr id="29" name="Text 27"/>
          <p:cNvSpPr txBox="1"/>
          <p:nvPr/>
        </p:nvSpPr>
        <p:spPr>
          <a:xfrm>
            <a:off x="3346704" y="244628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24.6%</a:t>
            </a:r>
            <a:endParaRPr lang="en-US" sz="1300" dirty="0"/>
          </a:p>
        </p:txBody>
      </p:sp>
      <p:sp>
        <p:nvSpPr>
          <p:cNvPr id="30" name="Text 28"/>
          <p:cNvSpPr txBox="1"/>
          <p:nvPr/>
        </p:nvSpPr>
        <p:spPr>
          <a:xfrm>
            <a:off x="413308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$100K</a:t>
            </a:r>
            <a:endParaRPr lang="en-US" sz="1300" dirty="0"/>
          </a:p>
        </p:txBody>
      </p:sp>
      <p:sp>
        <p:nvSpPr>
          <p:cNvPr id="31" name="Text 29"/>
          <p:cNvSpPr txBox="1"/>
          <p:nvPr/>
        </p:nvSpPr>
        <p:spPr>
          <a:xfrm>
            <a:off x="500176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$408K</a:t>
            </a:r>
            <a:endParaRPr lang="en-US" sz="1300" dirty="0"/>
          </a:p>
        </p:txBody>
      </p:sp>
      <p:sp>
        <p:nvSpPr>
          <p:cNvPr id="32" name="Text 30"/>
          <p:cNvSpPr txBox="1"/>
          <p:nvPr/>
        </p:nvSpPr>
        <p:spPr>
          <a:xfrm>
            <a:off x="658368"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33" name="Shape 31"/>
          <p:cNvSpPr/>
          <p:nvPr/>
        </p:nvSpPr>
        <p:spPr>
          <a:xfrm>
            <a:off x="2670048" y="2750703"/>
            <a:ext cx="453006" cy="136676"/>
          </a:xfrm>
          <a:prstGeom prst="rect">
            <a:avLst/>
          </a:prstGeom>
          <a:solidFill>
            <a:srgbClr val="C2352F"/>
          </a:solidFill>
          <a:ln/>
        </p:spPr>
      </p:sp>
      <p:sp>
        <p:nvSpPr>
          <p:cNvPr id="34" name="Text 32"/>
          <p:cNvSpPr txBox="1"/>
          <p:nvPr/>
        </p:nvSpPr>
        <p:spPr>
          <a:xfrm>
            <a:off x="3346704" y="2694791"/>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23.2%</a:t>
            </a:r>
            <a:endParaRPr lang="en-US" sz="1300" dirty="0"/>
          </a:p>
        </p:txBody>
      </p:sp>
      <p:sp>
        <p:nvSpPr>
          <p:cNvPr id="35" name="Text 33"/>
          <p:cNvSpPr txBox="1"/>
          <p:nvPr/>
        </p:nvSpPr>
        <p:spPr>
          <a:xfrm>
            <a:off x="413308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$112K</a:t>
            </a:r>
            <a:endParaRPr lang="en-US" sz="1300" dirty="0"/>
          </a:p>
        </p:txBody>
      </p:sp>
      <p:sp>
        <p:nvSpPr>
          <p:cNvPr id="36" name="Text 34"/>
          <p:cNvSpPr txBox="1"/>
          <p:nvPr/>
        </p:nvSpPr>
        <p:spPr>
          <a:xfrm>
            <a:off x="500176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$483K</a:t>
            </a:r>
            <a:endParaRPr lang="en-US" sz="1300" dirty="0"/>
          </a:p>
        </p:txBody>
      </p:sp>
      <p:sp>
        <p:nvSpPr>
          <p:cNvPr id="37" name="Text 35"/>
          <p:cNvSpPr txBox="1"/>
          <p:nvPr/>
        </p:nvSpPr>
        <p:spPr>
          <a:xfrm>
            <a:off x="658368"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38" name="Shape 36"/>
          <p:cNvSpPr/>
          <p:nvPr/>
        </p:nvSpPr>
        <p:spPr>
          <a:xfrm>
            <a:off x="2670048" y="2999205"/>
            <a:ext cx="389713" cy="136676"/>
          </a:xfrm>
          <a:prstGeom prst="rect">
            <a:avLst/>
          </a:prstGeom>
          <a:solidFill>
            <a:srgbClr val="C2352F"/>
          </a:solidFill>
          <a:ln/>
        </p:spPr>
      </p:sp>
      <p:sp>
        <p:nvSpPr>
          <p:cNvPr id="39" name="Text 37"/>
          <p:cNvSpPr txBox="1"/>
          <p:nvPr/>
        </p:nvSpPr>
        <p:spPr>
          <a:xfrm>
            <a:off x="3346704" y="294329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20.0%</a:t>
            </a:r>
            <a:endParaRPr lang="en-US" sz="1300" dirty="0"/>
          </a:p>
        </p:txBody>
      </p:sp>
      <p:sp>
        <p:nvSpPr>
          <p:cNvPr id="40" name="Text 38"/>
          <p:cNvSpPr txBox="1"/>
          <p:nvPr/>
        </p:nvSpPr>
        <p:spPr>
          <a:xfrm>
            <a:off x="413308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$58K</a:t>
            </a:r>
            <a:endParaRPr lang="en-US" sz="1300" dirty="0"/>
          </a:p>
        </p:txBody>
      </p:sp>
      <p:sp>
        <p:nvSpPr>
          <p:cNvPr id="41" name="Text 39"/>
          <p:cNvSpPr txBox="1"/>
          <p:nvPr/>
        </p:nvSpPr>
        <p:spPr>
          <a:xfrm>
            <a:off x="500176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$288K</a:t>
            </a:r>
            <a:endParaRPr lang="en-US" sz="1300" dirty="0"/>
          </a:p>
        </p:txBody>
      </p:sp>
      <p:sp>
        <p:nvSpPr>
          <p:cNvPr id="42" name="Text 40"/>
          <p:cNvSpPr txBox="1"/>
          <p:nvPr/>
        </p:nvSpPr>
        <p:spPr>
          <a:xfrm>
            <a:off x="658368"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43" name="Shape 41"/>
          <p:cNvSpPr/>
          <p:nvPr/>
        </p:nvSpPr>
        <p:spPr>
          <a:xfrm>
            <a:off x="2670048" y="3247707"/>
            <a:ext cx="381884" cy="136676"/>
          </a:xfrm>
          <a:prstGeom prst="rect">
            <a:avLst/>
          </a:prstGeom>
          <a:solidFill>
            <a:srgbClr val="C2352F"/>
          </a:solidFill>
          <a:ln/>
        </p:spPr>
      </p:sp>
      <p:sp>
        <p:nvSpPr>
          <p:cNvPr id="44" name="Text 42"/>
          <p:cNvSpPr txBox="1"/>
          <p:nvPr/>
        </p:nvSpPr>
        <p:spPr>
          <a:xfrm>
            <a:off x="3346704" y="319179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19.6%</a:t>
            </a:r>
            <a:endParaRPr lang="en-US" sz="1300" dirty="0"/>
          </a:p>
        </p:txBody>
      </p:sp>
      <p:sp>
        <p:nvSpPr>
          <p:cNvPr id="45" name="Text 43"/>
          <p:cNvSpPr txBox="1"/>
          <p:nvPr/>
        </p:nvSpPr>
        <p:spPr>
          <a:xfrm>
            <a:off x="413308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$39K</a:t>
            </a:r>
            <a:endParaRPr lang="en-US" sz="1300" dirty="0"/>
          </a:p>
        </p:txBody>
      </p:sp>
      <p:sp>
        <p:nvSpPr>
          <p:cNvPr id="46" name="Text 44"/>
          <p:cNvSpPr txBox="1"/>
          <p:nvPr/>
        </p:nvSpPr>
        <p:spPr>
          <a:xfrm>
            <a:off x="500176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$202K</a:t>
            </a:r>
            <a:endParaRPr lang="en-US" sz="1300" dirty="0"/>
          </a:p>
        </p:txBody>
      </p:sp>
      <p:sp>
        <p:nvSpPr>
          <p:cNvPr id="47" name="Text 45"/>
          <p:cNvSpPr txBox="1"/>
          <p:nvPr/>
        </p:nvSpPr>
        <p:spPr>
          <a:xfrm>
            <a:off x="658368"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48" name="Shape 46"/>
          <p:cNvSpPr/>
          <p:nvPr/>
        </p:nvSpPr>
        <p:spPr>
          <a:xfrm>
            <a:off x="2670048" y="3496208"/>
            <a:ext cx="370032" cy="136676"/>
          </a:xfrm>
          <a:prstGeom prst="rect">
            <a:avLst/>
          </a:prstGeom>
          <a:solidFill>
            <a:srgbClr val="C2352F"/>
          </a:solidFill>
          <a:ln/>
        </p:spPr>
      </p:sp>
      <p:sp>
        <p:nvSpPr>
          <p:cNvPr id="49" name="Text 47"/>
          <p:cNvSpPr txBox="1"/>
          <p:nvPr/>
        </p:nvSpPr>
        <p:spPr>
          <a:xfrm>
            <a:off x="3346704" y="344029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19.0%</a:t>
            </a:r>
            <a:endParaRPr lang="en-US" sz="1300" dirty="0"/>
          </a:p>
        </p:txBody>
      </p:sp>
      <p:sp>
        <p:nvSpPr>
          <p:cNvPr id="50" name="Text 48"/>
          <p:cNvSpPr txBox="1"/>
          <p:nvPr/>
        </p:nvSpPr>
        <p:spPr>
          <a:xfrm>
            <a:off x="413308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$21K</a:t>
            </a:r>
            <a:endParaRPr lang="en-US" sz="1300" dirty="0"/>
          </a:p>
        </p:txBody>
      </p:sp>
      <p:sp>
        <p:nvSpPr>
          <p:cNvPr id="51" name="Text 49"/>
          <p:cNvSpPr txBox="1"/>
          <p:nvPr/>
        </p:nvSpPr>
        <p:spPr>
          <a:xfrm>
            <a:off x="500176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$109K</a:t>
            </a:r>
            <a:endParaRPr lang="en-US" sz="1300" dirty="0"/>
          </a:p>
        </p:txBody>
      </p:sp>
      <p:sp>
        <p:nvSpPr>
          <p:cNvPr id="52" name="Text 50"/>
          <p:cNvSpPr txBox="1"/>
          <p:nvPr/>
        </p:nvSpPr>
        <p:spPr>
          <a:xfrm>
            <a:off x="658368"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53" name="Shape 51"/>
          <p:cNvSpPr/>
          <p:nvPr/>
        </p:nvSpPr>
        <p:spPr>
          <a:xfrm>
            <a:off x="2670048" y="3744710"/>
            <a:ext cx="361163" cy="136676"/>
          </a:xfrm>
          <a:prstGeom prst="rect">
            <a:avLst/>
          </a:prstGeom>
          <a:solidFill>
            <a:srgbClr val="C2352F"/>
          </a:solidFill>
          <a:ln/>
        </p:spPr>
      </p:sp>
      <p:sp>
        <p:nvSpPr>
          <p:cNvPr id="54" name="Text 52"/>
          <p:cNvSpPr txBox="1"/>
          <p:nvPr/>
        </p:nvSpPr>
        <p:spPr>
          <a:xfrm>
            <a:off x="3346704" y="368879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18.5%</a:t>
            </a:r>
            <a:endParaRPr lang="en-US" sz="1300" dirty="0"/>
          </a:p>
        </p:txBody>
      </p:sp>
      <p:sp>
        <p:nvSpPr>
          <p:cNvPr id="55" name="Text 53"/>
          <p:cNvSpPr txBox="1"/>
          <p:nvPr/>
        </p:nvSpPr>
        <p:spPr>
          <a:xfrm>
            <a:off x="413308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$34K</a:t>
            </a:r>
            <a:endParaRPr lang="en-US" sz="1300" dirty="0"/>
          </a:p>
        </p:txBody>
      </p:sp>
      <p:sp>
        <p:nvSpPr>
          <p:cNvPr id="56" name="Text 54"/>
          <p:cNvSpPr txBox="1"/>
          <p:nvPr/>
        </p:nvSpPr>
        <p:spPr>
          <a:xfrm>
            <a:off x="500176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$185K</a:t>
            </a:r>
            <a:endParaRPr lang="en-US" sz="1300" dirty="0"/>
          </a:p>
        </p:txBody>
      </p:sp>
      <p:sp>
        <p:nvSpPr>
          <p:cNvPr id="57" name="Text 55"/>
          <p:cNvSpPr txBox="1"/>
          <p:nvPr/>
        </p:nvSpPr>
        <p:spPr>
          <a:xfrm>
            <a:off x="658368"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58" name="Shape 56"/>
          <p:cNvSpPr/>
          <p:nvPr/>
        </p:nvSpPr>
        <p:spPr>
          <a:xfrm>
            <a:off x="2670048" y="3993212"/>
            <a:ext cx="289514" cy="136676"/>
          </a:xfrm>
          <a:prstGeom prst="rect">
            <a:avLst/>
          </a:prstGeom>
          <a:solidFill>
            <a:srgbClr val="C2352F"/>
          </a:solidFill>
          <a:ln/>
        </p:spPr>
      </p:sp>
      <p:sp>
        <p:nvSpPr>
          <p:cNvPr id="59" name="Text 57"/>
          <p:cNvSpPr txBox="1"/>
          <p:nvPr/>
        </p:nvSpPr>
        <p:spPr>
          <a:xfrm>
            <a:off x="3346704" y="393729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14.8%</a:t>
            </a:r>
            <a:endParaRPr lang="en-US" sz="1300" dirty="0"/>
          </a:p>
        </p:txBody>
      </p:sp>
      <p:sp>
        <p:nvSpPr>
          <p:cNvPr id="60" name="Text 58"/>
          <p:cNvSpPr txBox="1"/>
          <p:nvPr/>
        </p:nvSpPr>
        <p:spPr>
          <a:xfrm>
            <a:off x="413308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$62K</a:t>
            </a:r>
            <a:endParaRPr lang="en-US" sz="1300" dirty="0"/>
          </a:p>
        </p:txBody>
      </p:sp>
      <p:sp>
        <p:nvSpPr>
          <p:cNvPr id="61" name="Text 59"/>
          <p:cNvSpPr txBox="1"/>
          <p:nvPr/>
        </p:nvSpPr>
        <p:spPr>
          <a:xfrm>
            <a:off x="500176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$417K</a:t>
            </a:r>
            <a:endParaRPr lang="en-US" sz="1300" dirty="0"/>
          </a:p>
        </p:txBody>
      </p:sp>
      <p:sp>
        <p:nvSpPr>
          <p:cNvPr id="62" name="Text 60"/>
          <p:cNvSpPr txBox="1"/>
          <p:nvPr/>
        </p:nvSpPr>
        <p:spPr>
          <a:xfrm>
            <a:off x="658368"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63" name="Shape 61"/>
          <p:cNvSpPr/>
          <p:nvPr/>
        </p:nvSpPr>
        <p:spPr>
          <a:xfrm>
            <a:off x="2670048" y="4241713"/>
            <a:ext cx="280378" cy="136676"/>
          </a:xfrm>
          <a:prstGeom prst="rect">
            <a:avLst/>
          </a:prstGeom>
          <a:solidFill>
            <a:srgbClr val="C2352F"/>
          </a:solidFill>
          <a:ln/>
        </p:spPr>
      </p:sp>
      <p:sp>
        <p:nvSpPr>
          <p:cNvPr id="64" name="Text 62"/>
          <p:cNvSpPr txBox="1"/>
          <p:nvPr/>
        </p:nvSpPr>
        <p:spPr>
          <a:xfrm>
            <a:off x="3346704" y="418580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14.4%</a:t>
            </a:r>
            <a:endParaRPr lang="en-US" sz="1300" dirty="0"/>
          </a:p>
        </p:txBody>
      </p:sp>
      <p:sp>
        <p:nvSpPr>
          <p:cNvPr id="65" name="Text 63"/>
          <p:cNvSpPr txBox="1"/>
          <p:nvPr/>
        </p:nvSpPr>
        <p:spPr>
          <a:xfrm>
            <a:off x="413308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$48K</a:t>
            </a:r>
            <a:endParaRPr lang="en-US" sz="1300" dirty="0"/>
          </a:p>
        </p:txBody>
      </p:sp>
      <p:sp>
        <p:nvSpPr>
          <p:cNvPr id="66" name="Text 64"/>
          <p:cNvSpPr txBox="1"/>
          <p:nvPr/>
        </p:nvSpPr>
        <p:spPr>
          <a:xfrm>
            <a:off x="500176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$333K</a:t>
            </a:r>
            <a:endParaRPr lang="en-US" sz="1300" dirty="0"/>
          </a:p>
        </p:txBody>
      </p:sp>
      <p:sp>
        <p:nvSpPr>
          <p:cNvPr id="67" name="Text 65"/>
          <p:cNvSpPr txBox="1"/>
          <p:nvPr/>
        </p:nvSpPr>
        <p:spPr>
          <a:xfrm>
            <a:off x="658368"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68" name="Shape 66"/>
          <p:cNvSpPr/>
          <p:nvPr/>
        </p:nvSpPr>
        <p:spPr>
          <a:xfrm>
            <a:off x="2670048" y="4490215"/>
            <a:ext cx="265831" cy="136676"/>
          </a:xfrm>
          <a:prstGeom prst="rect">
            <a:avLst/>
          </a:prstGeom>
          <a:solidFill>
            <a:srgbClr val="C2352F"/>
          </a:solidFill>
          <a:ln/>
        </p:spPr>
      </p:sp>
      <p:sp>
        <p:nvSpPr>
          <p:cNvPr id="69" name="Text 67"/>
          <p:cNvSpPr txBox="1"/>
          <p:nvPr/>
        </p:nvSpPr>
        <p:spPr>
          <a:xfrm>
            <a:off x="3346704" y="443430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13.6%</a:t>
            </a:r>
            <a:endParaRPr lang="en-US" sz="1300" dirty="0"/>
          </a:p>
        </p:txBody>
      </p:sp>
      <p:sp>
        <p:nvSpPr>
          <p:cNvPr id="70" name="Text 68"/>
          <p:cNvSpPr txBox="1"/>
          <p:nvPr/>
        </p:nvSpPr>
        <p:spPr>
          <a:xfrm>
            <a:off x="413308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$158K</a:t>
            </a:r>
            <a:endParaRPr lang="en-US" sz="1300" dirty="0"/>
          </a:p>
        </p:txBody>
      </p:sp>
      <p:sp>
        <p:nvSpPr>
          <p:cNvPr id="71" name="Text 69"/>
          <p:cNvSpPr txBox="1"/>
          <p:nvPr/>
        </p:nvSpPr>
        <p:spPr>
          <a:xfrm>
            <a:off x="500176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$1.16M</a:t>
            </a:r>
            <a:endParaRPr lang="en-US" sz="1300" dirty="0"/>
          </a:p>
        </p:txBody>
      </p:sp>
      <p:sp>
        <p:nvSpPr>
          <p:cNvPr id="72" name="Text 70"/>
          <p:cNvSpPr txBox="1"/>
          <p:nvPr/>
        </p:nvSpPr>
        <p:spPr>
          <a:xfrm>
            <a:off x="658368"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73" name="Shape 71"/>
          <p:cNvSpPr/>
          <p:nvPr/>
        </p:nvSpPr>
        <p:spPr>
          <a:xfrm>
            <a:off x="2670048" y="4738717"/>
            <a:ext cx="263180" cy="136676"/>
          </a:xfrm>
          <a:prstGeom prst="rect">
            <a:avLst/>
          </a:prstGeom>
          <a:solidFill>
            <a:srgbClr val="C2352F"/>
          </a:solidFill>
          <a:ln/>
        </p:spPr>
      </p:sp>
      <p:sp>
        <p:nvSpPr>
          <p:cNvPr id="74" name="Text 72"/>
          <p:cNvSpPr txBox="1"/>
          <p:nvPr/>
        </p:nvSpPr>
        <p:spPr>
          <a:xfrm>
            <a:off x="3346704" y="468280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13.5%</a:t>
            </a:r>
            <a:endParaRPr lang="en-US" sz="1300" dirty="0"/>
          </a:p>
        </p:txBody>
      </p:sp>
      <p:sp>
        <p:nvSpPr>
          <p:cNvPr id="75" name="Text 73"/>
          <p:cNvSpPr txBox="1"/>
          <p:nvPr/>
        </p:nvSpPr>
        <p:spPr>
          <a:xfrm>
            <a:off x="413308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$77K</a:t>
            </a:r>
            <a:endParaRPr lang="en-US" sz="1300" dirty="0"/>
          </a:p>
        </p:txBody>
      </p:sp>
      <p:sp>
        <p:nvSpPr>
          <p:cNvPr id="76" name="Text 74"/>
          <p:cNvSpPr txBox="1"/>
          <p:nvPr/>
        </p:nvSpPr>
        <p:spPr>
          <a:xfrm>
            <a:off x="500176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$573K</a:t>
            </a:r>
            <a:endParaRPr lang="en-US" sz="1300" dirty="0"/>
          </a:p>
        </p:txBody>
      </p:sp>
      <p:sp>
        <p:nvSpPr>
          <p:cNvPr id="77" name="Text 75"/>
          <p:cNvSpPr txBox="1"/>
          <p:nvPr/>
        </p:nvSpPr>
        <p:spPr>
          <a:xfrm>
            <a:off x="658368"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78" name="Shape 76"/>
          <p:cNvSpPr/>
          <p:nvPr/>
        </p:nvSpPr>
        <p:spPr>
          <a:xfrm>
            <a:off x="2670048" y="4987218"/>
            <a:ext cx="225366" cy="136676"/>
          </a:xfrm>
          <a:prstGeom prst="rect">
            <a:avLst/>
          </a:prstGeom>
          <a:solidFill>
            <a:srgbClr val="C2352F"/>
          </a:solidFill>
          <a:ln/>
        </p:spPr>
      </p:sp>
      <p:sp>
        <p:nvSpPr>
          <p:cNvPr id="79" name="Text 77"/>
          <p:cNvSpPr txBox="1"/>
          <p:nvPr/>
        </p:nvSpPr>
        <p:spPr>
          <a:xfrm>
            <a:off x="3346704" y="4931305"/>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11.6%</a:t>
            </a:r>
            <a:endParaRPr lang="en-US" sz="1300" dirty="0"/>
          </a:p>
        </p:txBody>
      </p:sp>
      <p:sp>
        <p:nvSpPr>
          <p:cNvPr id="80" name="Text 78"/>
          <p:cNvSpPr txBox="1"/>
          <p:nvPr/>
        </p:nvSpPr>
        <p:spPr>
          <a:xfrm>
            <a:off x="413308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$74K</a:t>
            </a:r>
            <a:endParaRPr lang="en-US" sz="1300" dirty="0"/>
          </a:p>
        </p:txBody>
      </p:sp>
      <p:sp>
        <p:nvSpPr>
          <p:cNvPr id="81" name="Text 79"/>
          <p:cNvSpPr txBox="1"/>
          <p:nvPr/>
        </p:nvSpPr>
        <p:spPr>
          <a:xfrm>
            <a:off x="500176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$643K</a:t>
            </a:r>
            <a:endParaRPr lang="en-US" sz="1300" dirty="0"/>
          </a:p>
        </p:txBody>
      </p:sp>
      <p:sp>
        <p:nvSpPr>
          <p:cNvPr id="82" name="Text 80"/>
          <p:cNvSpPr txBox="1"/>
          <p:nvPr/>
        </p:nvSpPr>
        <p:spPr>
          <a:xfrm>
            <a:off x="658368"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83" name="Shape 81"/>
          <p:cNvSpPr/>
          <p:nvPr/>
        </p:nvSpPr>
        <p:spPr>
          <a:xfrm>
            <a:off x="2670048" y="5235720"/>
            <a:ext cx="175448" cy="136676"/>
          </a:xfrm>
          <a:prstGeom prst="rect">
            <a:avLst/>
          </a:prstGeom>
          <a:solidFill>
            <a:srgbClr val="C2352F"/>
          </a:solidFill>
          <a:ln/>
        </p:spPr>
      </p:sp>
      <p:sp>
        <p:nvSpPr>
          <p:cNvPr id="84" name="Text 82"/>
          <p:cNvSpPr txBox="1"/>
          <p:nvPr/>
        </p:nvSpPr>
        <p:spPr>
          <a:xfrm>
            <a:off x="3346704" y="517980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9.0%</a:t>
            </a:r>
            <a:endParaRPr lang="en-US" sz="1300" dirty="0"/>
          </a:p>
        </p:txBody>
      </p:sp>
      <p:sp>
        <p:nvSpPr>
          <p:cNvPr id="85" name="Text 83"/>
          <p:cNvSpPr txBox="1"/>
          <p:nvPr/>
        </p:nvSpPr>
        <p:spPr>
          <a:xfrm>
            <a:off x="413308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$63K</a:t>
            </a:r>
            <a:endParaRPr lang="en-US" sz="1300" dirty="0"/>
          </a:p>
        </p:txBody>
      </p:sp>
      <p:sp>
        <p:nvSpPr>
          <p:cNvPr id="86" name="Text 84"/>
          <p:cNvSpPr txBox="1"/>
          <p:nvPr/>
        </p:nvSpPr>
        <p:spPr>
          <a:xfrm>
            <a:off x="500176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$702K</a:t>
            </a:r>
            <a:endParaRPr lang="en-US" sz="1300" dirty="0"/>
          </a:p>
        </p:txBody>
      </p:sp>
      <p:sp>
        <p:nvSpPr>
          <p:cNvPr id="87" name="Text 85"/>
          <p:cNvSpPr txBox="1"/>
          <p:nvPr/>
        </p:nvSpPr>
        <p:spPr>
          <a:xfrm>
            <a:off x="658368"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88" name="Shape 86"/>
          <p:cNvSpPr/>
          <p:nvPr/>
        </p:nvSpPr>
        <p:spPr>
          <a:xfrm>
            <a:off x="2670048" y="5484222"/>
            <a:ext cx="161118" cy="136676"/>
          </a:xfrm>
          <a:prstGeom prst="rect">
            <a:avLst/>
          </a:prstGeom>
          <a:solidFill>
            <a:srgbClr val="C2352F"/>
          </a:solidFill>
          <a:ln/>
        </p:spPr>
      </p:sp>
      <p:sp>
        <p:nvSpPr>
          <p:cNvPr id="89" name="Text 87"/>
          <p:cNvSpPr txBox="1"/>
          <p:nvPr/>
        </p:nvSpPr>
        <p:spPr>
          <a:xfrm>
            <a:off x="3346704" y="542830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8.3%</a:t>
            </a:r>
            <a:endParaRPr lang="en-US" sz="1300" dirty="0"/>
          </a:p>
        </p:txBody>
      </p:sp>
      <p:sp>
        <p:nvSpPr>
          <p:cNvPr id="90" name="Text 88"/>
          <p:cNvSpPr txBox="1"/>
          <p:nvPr/>
        </p:nvSpPr>
        <p:spPr>
          <a:xfrm>
            <a:off x="413308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$102K</a:t>
            </a:r>
            <a:endParaRPr lang="en-US" sz="1300" dirty="0"/>
          </a:p>
        </p:txBody>
      </p:sp>
      <p:sp>
        <p:nvSpPr>
          <p:cNvPr id="91" name="Text 89"/>
          <p:cNvSpPr txBox="1"/>
          <p:nvPr/>
        </p:nvSpPr>
        <p:spPr>
          <a:xfrm>
            <a:off x="500176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$1.23M</a:t>
            </a:r>
            <a:endParaRPr lang="en-US" sz="1300" dirty="0"/>
          </a:p>
        </p:txBody>
      </p:sp>
      <p:sp>
        <p:nvSpPr>
          <p:cNvPr id="92" name="Text 90"/>
          <p:cNvSpPr txBox="1"/>
          <p:nvPr/>
        </p:nvSpPr>
        <p:spPr>
          <a:xfrm>
            <a:off x="658368" y="567681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93" name="Shape 91"/>
          <p:cNvSpPr/>
          <p:nvPr/>
        </p:nvSpPr>
        <p:spPr>
          <a:xfrm>
            <a:off x="2670048" y="5732723"/>
            <a:ext cx="155810" cy="136676"/>
          </a:xfrm>
          <a:prstGeom prst="rect">
            <a:avLst/>
          </a:prstGeom>
          <a:solidFill>
            <a:srgbClr val="C2352F"/>
          </a:solidFill>
          <a:ln/>
        </p:spPr>
      </p:sp>
      <p:sp>
        <p:nvSpPr>
          <p:cNvPr id="94" name="Text 92"/>
          <p:cNvSpPr txBox="1"/>
          <p:nvPr/>
        </p:nvSpPr>
        <p:spPr>
          <a:xfrm>
            <a:off x="3346704" y="567681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a:t>
            </a:r>
            <a:endParaRPr lang="en-US" sz="1300" dirty="0"/>
          </a:p>
        </p:txBody>
      </p:sp>
      <p:sp>
        <p:nvSpPr>
          <p:cNvPr id="95" name="Text 93"/>
          <p:cNvSpPr txBox="1"/>
          <p:nvPr/>
        </p:nvSpPr>
        <p:spPr>
          <a:xfrm>
            <a:off x="413308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$21K</a:t>
            </a:r>
            <a:endParaRPr lang="en-US" sz="1300" dirty="0"/>
          </a:p>
        </p:txBody>
      </p:sp>
      <p:sp>
        <p:nvSpPr>
          <p:cNvPr id="96" name="Text 94"/>
          <p:cNvSpPr txBox="1"/>
          <p:nvPr/>
        </p:nvSpPr>
        <p:spPr>
          <a:xfrm>
            <a:off x="500176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$257K</a:t>
            </a:r>
            <a:endParaRPr lang="en-US" sz="1300" dirty="0"/>
          </a:p>
        </p:txBody>
      </p:sp>
      <p:sp>
        <p:nvSpPr>
          <p:cNvPr id="97" name="Text 95"/>
          <p:cNvSpPr txBox="1"/>
          <p:nvPr/>
        </p:nvSpPr>
        <p:spPr>
          <a:xfrm>
            <a:off x="6208776"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98" name="Shape 96"/>
          <p:cNvSpPr/>
          <p:nvPr/>
        </p:nvSpPr>
        <p:spPr>
          <a:xfrm>
            <a:off x="8220456" y="1756697"/>
            <a:ext cx="155313" cy="136676"/>
          </a:xfrm>
          <a:prstGeom prst="rect">
            <a:avLst/>
          </a:prstGeom>
          <a:solidFill>
            <a:srgbClr val="C2352F"/>
          </a:solidFill>
          <a:ln/>
        </p:spPr>
      </p:sp>
      <p:sp>
        <p:nvSpPr>
          <p:cNvPr id="99" name="Text 97"/>
          <p:cNvSpPr txBox="1"/>
          <p:nvPr/>
        </p:nvSpPr>
        <p:spPr>
          <a:xfrm>
            <a:off x="8897112" y="170078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a:t>
            </a:r>
            <a:endParaRPr lang="en-US" sz="1300" dirty="0"/>
          </a:p>
        </p:txBody>
      </p:sp>
      <p:sp>
        <p:nvSpPr>
          <p:cNvPr id="100" name="Text 98"/>
          <p:cNvSpPr txBox="1"/>
          <p:nvPr/>
        </p:nvSpPr>
        <p:spPr>
          <a:xfrm>
            <a:off x="968349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$42K</a:t>
            </a:r>
            <a:endParaRPr lang="en-US" sz="1300" dirty="0"/>
          </a:p>
        </p:txBody>
      </p:sp>
      <p:sp>
        <p:nvSpPr>
          <p:cNvPr id="101" name="Text 99"/>
          <p:cNvSpPr txBox="1"/>
          <p:nvPr/>
        </p:nvSpPr>
        <p:spPr>
          <a:xfrm>
            <a:off x="1055217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$532K</a:t>
            </a:r>
            <a:endParaRPr lang="en-US" sz="1300" dirty="0"/>
          </a:p>
        </p:txBody>
      </p:sp>
      <p:sp>
        <p:nvSpPr>
          <p:cNvPr id="102" name="Text 100"/>
          <p:cNvSpPr txBox="1"/>
          <p:nvPr/>
        </p:nvSpPr>
        <p:spPr>
          <a:xfrm>
            <a:off x="6208776"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03" name="Shape 101"/>
          <p:cNvSpPr/>
          <p:nvPr/>
        </p:nvSpPr>
        <p:spPr>
          <a:xfrm>
            <a:off x="8220456" y="2005199"/>
            <a:ext cx="154055" cy="136676"/>
          </a:xfrm>
          <a:prstGeom prst="rect">
            <a:avLst/>
          </a:prstGeom>
          <a:solidFill>
            <a:srgbClr val="C2352F"/>
          </a:solidFill>
          <a:ln/>
        </p:spPr>
      </p:sp>
      <p:sp>
        <p:nvSpPr>
          <p:cNvPr id="104" name="Text 102"/>
          <p:cNvSpPr txBox="1"/>
          <p:nvPr/>
        </p:nvSpPr>
        <p:spPr>
          <a:xfrm>
            <a:off x="8897112" y="194928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7.9%</a:t>
            </a:r>
            <a:endParaRPr lang="en-US" sz="1300" dirty="0"/>
          </a:p>
        </p:txBody>
      </p:sp>
      <p:sp>
        <p:nvSpPr>
          <p:cNvPr id="105" name="Text 103"/>
          <p:cNvSpPr txBox="1"/>
          <p:nvPr/>
        </p:nvSpPr>
        <p:spPr>
          <a:xfrm>
            <a:off x="968349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$32K</a:t>
            </a:r>
            <a:endParaRPr lang="en-US" sz="1300" dirty="0"/>
          </a:p>
        </p:txBody>
      </p:sp>
      <p:sp>
        <p:nvSpPr>
          <p:cNvPr id="106" name="Text 104"/>
          <p:cNvSpPr txBox="1"/>
          <p:nvPr/>
        </p:nvSpPr>
        <p:spPr>
          <a:xfrm>
            <a:off x="1055217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$400K</a:t>
            </a:r>
            <a:endParaRPr lang="en-US" sz="1300" dirty="0"/>
          </a:p>
        </p:txBody>
      </p:sp>
      <p:sp>
        <p:nvSpPr>
          <p:cNvPr id="107" name="Text 105"/>
          <p:cNvSpPr txBox="1"/>
          <p:nvPr/>
        </p:nvSpPr>
        <p:spPr>
          <a:xfrm>
            <a:off x="6208776"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08" name="Shape 106"/>
          <p:cNvSpPr/>
          <p:nvPr/>
        </p:nvSpPr>
        <p:spPr>
          <a:xfrm>
            <a:off x="8220456" y="2253700"/>
            <a:ext cx="148215" cy="136676"/>
          </a:xfrm>
          <a:prstGeom prst="rect">
            <a:avLst/>
          </a:prstGeom>
          <a:solidFill>
            <a:srgbClr val="C2352F"/>
          </a:solidFill>
          <a:ln/>
        </p:spPr>
      </p:sp>
      <p:sp>
        <p:nvSpPr>
          <p:cNvPr id="109" name="Text 107"/>
          <p:cNvSpPr txBox="1"/>
          <p:nvPr/>
        </p:nvSpPr>
        <p:spPr>
          <a:xfrm>
            <a:off x="8897112" y="219778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7.6%</a:t>
            </a:r>
            <a:endParaRPr lang="en-US" sz="1300" dirty="0"/>
          </a:p>
        </p:txBody>
      </p:sp>
      <p:sp>
        <p:nvSpPr>
          <p:cNvPr id="110" name="Text 108"/>
          <p:cNvSpPr txBox="1"/>
          <p:nvPr/>
        </p:nvSpPr>
        <p:spPr>
          <a:xfrm>
            <a:off x="968349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$24K</a:t>
            </a:r>
            <a:endParaRPr lang="en-US" sz="1300" dirty="0"/>
          </a:p>
        </p:txBody>
      </p:sp>
      <p:sp>
        <p:nvSpPr>
          <p:cNvPr id="111" name="Text 109"/>
          <p:cNvSpPr txBox="1"/>
          <p:nvPr/>
        </p:nvSpPr>
        <p:spPr>
          <a:xfrm>
            <a:off x="1055217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$312K</a:t>
            </a:r>
            <a:endParaRPr lang="en-US" sz="1300" dirty="0"/>
          </a:p>
        </p:txBody>
      </p:sp>
      <p:sp>
        <p:nvSpPr>
          <p:cNvPr id="112" name="Text 110"/>
          <p:cNvSpPr txBox="1"/>
          <p:nvPr/>
        </p:nvSpPr>
        <p:spPr>
          <a:xfrm>
            <a:off x="6208776"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13" name="Shape 111"/>
          <p:cNvSpPr/>
          <p:nvPr/>
        </p:nvSpPr>
        <p:spPr>
          <a:xfrm>
            <a:off x="8220456" y="2502202"/>
            <a:ext cx="113006" cy="136676"/>
          </a:xfrm>
          <a:prstGeom prst="rect">
            <a:avLst/>
          </a:prstGeom>
          <a:solidFill>
            <a:srgbClr val="C2352F"/>
          </a:solidFill>
          <a:ln/>
        </p:spPr>
      </p:sp>
      <p:sp>
        <p:nvSpPr>
          <p:cNvPr id="114" name="Text 112"/>
          <p:cNvSpPr txBox="1"/>
          <p:nvPr/>
        </p:nvSpPr>
        <p:spPr>
          <a:xfrm>
            <a:off x="8897112" y="244628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a:t>
            </a:r>
            <a:endParaRPr lang="en-US" sz="1300" dirty="0"/>
          </a:p>
        </p:txBody>
      </p:sp>
      <p:sp>
        <p:nvSpPr>
          <p:cNvPr id="115" name="Text 113"/>
          <p:cNvSpPr txBox="1"/>
          <p:nvPr/>
        </p:nvSpPr>
        <p:spPr>
          <a:xfrm>
            <a:off x="968349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$22K</a:t>
            </a:r>
            <a:endParaRPr lang="en-US" sz="1300" dirty="0"/>
          </a:p>
        </p:txBody>
      </p:sp>
      <p:sp>
        <p:nvSpPr>
          <p:cNvPr id="116" name="Text 114"/>
          <p:cNvSpPr txBox="1"/>
          <p:nvPr/>
        </p:nvSpPr>
        <p:spPr>
          <a:xfrm>
            <a:off x="1055217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$382K</a:t>
            </a:r>
            <a:endParaRPr lang="en-US" sz="1300" dirty="0"/>
          </a:p>
        </p:txBody>
      </p:sp>
      <p:sp>
        <p:nvSpPr>
          <p:cNvPr id="117" name="Text 115"/>
          <p:cNvSpPr txBox="1"/>
          <p:nvPr/>
        </p:nvSpPr>
        <p:spPr>
          <a:xfrm>
            <a:off x="6208776"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18" name="Shape 116"/>
          <p:cNvSpPr/>
          <p:nvPr/>
        </p:nvSpPr>
        <p:spPr>
          <a:xfrm>
            <a:off x="8220456" y="2750703"/>
            <a:ext cx="100935" cy="136676"/>
          </a:xfrm>
          <a:prstGeom prst="rect">
            <a:avLst/>
          </a:prstGeom>
          <a:solidFill>
            <a:srgbClr val="C2352F"/>
          </a:solidFill>
          <a:ln/>
        </p:spPr>
      </p:sp>
      <p:sp>
        <p:nvSpPr>
          <p:cNvPr id="119" name="Text 117"/>
          <p:cNvSpPr txBox="1"/>
          <p:nvPr/>
        </p:nvSpPr>
        <p:spPr>
          <a:xfrm>
            <a:off x="8897112" y="2694791"/>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5.2%</a:t>
            </a:r>
            <a:endParaRPr lang="en-US" sz="1300" dirty="0"/>
          </a:p>
        </p:txBody>
      </p:sp>
      <p:sp>
        <p:nvSpPr>
          <p:cNvPr id="120" name="Text 118"/>
          <p:cNvSpPr txBox="1"/>
          <p:nvPr/>
        </p:nvSpPr>
        <p:spPr>
          <a:xfrm>
            <a:off x="968349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$87K</a:t>
            </a:r>
            <a:endParaRPr lang="en-US" sz="1300" dirty="0"/>
          </a:p>
        </p:txBody>
      </p:sp>
      <p:sp>
        <p:nvSpPr>
          <p:cNvPr id="121" name="Text 119"/>
          <p:cNvSpPr txBox="1"/>
          <p:nvPr/>
        </p:nvSpPr>
        <p:spPr>
          <a:xfrm>
            <a:off x="1055217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$1.69M</a:t>
            </a:r>
            <a:endParaRPr lang="en-US" sz="1300" dirty="0"/>
          </a:p>
        </p:txBody>
      </p:sp>
      <p:sp>
        <p:nvSpPr>
          <p:cNvPr id="122" name="Text 120"/>
          <p:cNvSpPr txBox="1"/>
          <p:nvPr/>
        </p:nvSpPr>
        <p:spPr>
          <a:xfrm>
            <a:off x="6208776"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23" name="Shape 121"/>
          <p:cNvSpPr/>
          <p:nvPr/>
        </p:nvSpPr>
        <p:spPr>
          <a:xfrm>
            <a:off x="8220456" y="2999205"/>
            <a:ext cx="93000" cy="136676"/>
          </a:xfrm>
          <a:prstGeom prst="rect">
            <a:avLst/>
          </a:prstGeom>
          <a:solidFill>
            <a:srgbClr val="C2352F"/>
          </a:solidFill>
          <a:ln/>
        </p:spPr>
      </p:sp>
      <p:sp>
        <p:nvSpPr>
          <p:cNvPr id="124" name="Text 122"/>
          <p:cNvSpPr txBox="1"/>
          <p:nvPr/>
        </p:nvSpPr>
        <p:spPr>
          <a:xfrm>
            <a:off x="8897112" y="294329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4.8%</a:t>
            </a:r>
            <a:endParaRPr lang="en-US" sz="1300" dirty="0"/>
          </a:p>
        </p:txBody>
      </p:sp>
      <p:sp>
        <p:nvSpPr>
          <p:cNvPr id="125" name="Text 123"/>
          <p:cNvSpPr txBox="1"/>
          <p:nvPr/>
        </p:nvSpPr>
        <p:spPr>
          <a:xfrm>
            <a:off x="968349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$25K</a:t>
            </a:r>
            <a:endParaRPr lang="en-US" sz="1300" dirty="0"/>
          </a:p>
        </p:txBody>
      </p:sp>
      <p:sp>
        <p:nvSpPr>
          <p:cNvPr id="126" name="Text 124"/>
          <p:cNvSpPr txBox="1"/>
          <p:nvPr/>
        </p:nvSpPr>
        <p:spPr>
          <a:xfrm>
            <a:off x="1055217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$516K</a:t>
            </a:r>
            <a:endParaRPr lang="en-US" sz="1300" dirty="0"/>
          </a:p>
        </p:txBody>
      </p:sp>
      <p:sp>
        <p:nvSpPr>
          <p:cNvPr id="127" name="Text 125"/>
          <p:cNvSpPr txBox="1"/>
          <p:nvPr/>
        </p:nvSpPr>
        <p:spPr>
          <a:xfrm>
            <a:off x="6208776"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28" name="Shape 126"/>
          <p:cNvSpPr/>
          <p:nvPr/>
        </p:nvSpPr>
        <p:spPr>
          <a:xfrm>
            <a:off x="8220456" y="3247707"/>
            <a:ext cx="81778" cy="136676"/>
          </a:xfrm>
          <a:prstGeom prst="rect">
            <a:avLst/>
          </a:prstGeom>
          <a:solidFill>
            <a:srgbClr val="C2352F"/>
          </a:solidFill>
          <a:ln/>
        </p:spPr>
      </p:sp>
      <p:sp>
        <p:nvSpPr>
          <p:cNvPr id="129" name="Text 127"/>
          <p:cNvSpPr txBox="1"/>
          <p:nvPr/>
        </p:nvSpPr>
        <p:spPr>
          <a:xfrm>
            <a:off x="8897112" y="319179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4.2%</a:t>
            </a:r>
            <a:endParaRPr lang="en-US" sz="1300" dirty="0"/>
          </a:p>
        </p:txBody>
      </p:sp>
      <p:sp>
        <p:nvSpPr>
          <p:cNvPr id="130" name="Text 128"/>
          <p:cNvSpPr txBox="1"/>
          <p:nvPr/>
        </p:nvSpPr>
        <p:spPr>
          <a:xfrm>
            <a:off x="968349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$15K</a:t>
            </a:r>
            <a:endParaRPr lang="en-US" sz="1300" dirty="0"/>
          </a:p>
        </p:txBody>
      </p:sp>
      <p:sp>
        <p:nvSpPr>
          <p:cNvPr id="131" name="Text 129"/>
          <p:cNvSpPr txBox="1"/>
          <p:nvPr/>
        </p:nvSpPr>
        <p:spPr>
          <a:xfrm>
            <a:off x="1055217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$357K</a:t>
            </a:r>
            <a:endParaRPr lang="en-US" sz="1300" dirty="0"/>
          </a:p>
        </p:txBody>
      </p:sp>
      <p:sp>
        <p:nvSpPr>
          <p:cNvPr id="132" name="Text 130"/>
          <p:cNvSpPr txBox="1"/>
          <p:nvPr/>
        </p:nvSpPr>
        <p:spPr>
          <a:xfrm>
            <a:off x="6208776"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33" name="Shape 131"/>
          <p:cNvSpPr/>
          <p:nvPr/>
        </p:nvSpPr>
        <p:spPr>
          <a:xfrm>
            <a:off x="8220456" y="3496208"/>
            <a:ext cx="79315" cy="136676"/>
          </a:xfrm>
          <a:prstGeom prst="rect">
            <a:avLst/>
          </a:prstGeom>
          <a:solidFill>
            <a:srgbClr val="C2352F"/>
          </a:solidFill>
          <a:ln/>
        </p:spPr>
      </p:sp>
      <p:sp>
        <p:nvSpPr>
          <p:cNvPr id="134" name="Text 132"/>
          <p:cNvSpPr txBox="1"/>
          <p:nvPr/>
        </p:nvSpPr>
        <p:spPr>
          <a:xfrm>
            <a:off x="8897112" y="344029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4.1%</a:t>
            </a:r>
            <a:endParaRPr lang="en-US" sz="1300" dirty="0"/>
          </a:p>
        </p:txBody>
      </p:sp>
      <p:sp>
        <p:nvSpPr>
          <p:cNvPr id="135" name="Text 133"/>
          <p:cNvSpPr txBox="1"/>
          <p:nvPr/>
        </p:nvSpPr>
        <p:spPr>
          <a:xfrm>
            <a:off x="968349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$44K</a:t>
            </a:r>
            <a:endParaRPr lang="en-US" sz="1300" dirty="0"/>
          </a:p>
        </p:txBody>
      </p:sp>
      <p:sp>
        <p:nvSpPr>
          <p:cNvPr id="136" name="Text 134"/>
          <p:cNvSpPr txBox="1"/>
          <p:nvPr/>
        </p:nvSpPr>
        <p:spPr>
          <a:xfrm>
            <a:off x="1055217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$1.07M</a:t>
            </a:r>
            <a:endParaRPr lang="en-US" sz="1300" dirty="0"/>
          </a:p>
        </p:txBody>
      </p:sp>
      <p:sp>
        <p:nvSpPr>
          <p:cNvPr id="137" name="Text 135"/>
          <p:cNvSpPr txBox="1"/>
          <p:nvPr/>
        </p:nvSpPr>
        <p:spPr>
          <a:xfrm>
            <a:off x="6208776"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38" name="Shape 136"/>
          <p:cNvSpPr/>
          <p:nvPr/>
        </p:nvSpPr>
        <p:spPr>
          <a:xfrm>
            <a:off x="8220456" y="3744710"/>
            <a:ext cx="77721" cy="136676"/>
          </a:xfrm>
          <a:prstGeom prst="rect">
            <a:avLst/>
          </a:prstGeom>
          <a:solidFill>
            <a:srgbClr val="C2352F"/>
          </a:solidFill>
          <a:ln/>
        </p:spPr>
      </p:sp>
      <p:sp>
        <p:nvSpPr>
          <p:cNvPr id="139" name="Text 137"/>
          <p:cNvSpPr txBox="1"/>
          <p:nvPr/>
        </p:nvSpPr>
        <p:spPr>
          <a:xfrm>
            <a:off x="8897112" y="368879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4.0%</a:t>
            </a:r>
            <a:endParaRPr lang="en-US" sz="1300" dirty="0"/>
          </a:p>
        </p:txBody>
      </p:sp>
      <p:sp>
        <p:nvSpPr>
          <p:cNvPr id="140" name="Text 138"/>
          <p:cNvSpPr txBox="1"/>
          <p:nvPr/>
        </p:nvSpPr>
        <p:spPr>
          <a:xfrm>
            <a:off x="968349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$20K</a:t>
            </a:r>
            <a:endParaRPr lang="en-US" sz="1300" dirty="0"/>
          </a:p>
        </p:txBody>
      </p:sp>
      <p:sp>
        <p:nvSpPr>
          <p:cNvPr id="141" name="Text 139"/>
          <p:cNvSpPr txBox="1"/>
          <p:nvPr/>
        </p:nvSpPr>
        <p:spPr>
          <a:xfrm>
            <a:off x="1055217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$504K</a:t>
            </a:r>
            <a:endParaRPr lang="en-US" sz="1300" dirty="0"/>
          </a:p>
        </p:txBody>
      </p:sp>
      <p:sp>
        <p:nvSpPr>
          <p:cNvPr id="142" name="Text 140"/>
          <p:cNvSpPr txBox="1"/>
          <p:nvPr/>
        </p:nvSpPr>
        <p:spPr>
          <a:xfrm>
            <a:off x="6208776"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43" name="Shape 141"/>
          <p:cNvSpPr/>
          <p:nvPr/>
        </p:nvSpPr>
        <p:spPr>
          <a:xfrm>
            <a:off x="8220456" y="3993212"/>
            <a:ext cx="56042" cy="136676"/>
          </a:xfrm>
          <a:prstGeom prst="rect">
            <a:avLst/>
          </a:prstGeom>
          <a:solidFill>
            <a:srgbClr val="C2352F"/>
          </a:solidFill>
          <a:ln/>
        </p:spPr>
      </p:sp>
      <p:sp>
        <p:nvSpPr>
          <p:cNvPr id="144" name="Text 142"/>
          <p:cNvSpPr txBox="1"/>
          <p:nvPr/>
        </p:nvSpPr>
        <p:spPr>
          <a:xfrm>
            <a:off x="8897112" y="393729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2.9%</a:t>
            </a:r>
            <a:endParaRPr lang="en-US" sz="1300" dirty="0"/>
          </a:p>
        </p:txBody>
      </p:sp>
      <p:sp>
        <p:nvSpPr>
          <p:cNvPr id="145" name="Text 143"/>
          <p:cNvSpPr txBox="1"/>
          <p:nvPr/>
        </p:nvSpPr>
        <p:spPr>
          <a:xfrm>
            <a:off x="968349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$70K</a:t>
            </a:r>
            <a:endParaRPr lang="en-US" sz="1300" dirty="0"/>
          </a:p>
        </p:txBody>
      </p:sp>
      <p:sp>
        <p:nvSpPr>
          <p:cNvPr id="146" name="Text 144"/>
          <p:cNvSpPr txBox="1"/>
          <p:nvPr/>
        </p:nvSpPr>
        <p:spPr>
          <a:xfrm>
            <a:off x="1055217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$2.44M</a:t>
            </a:r>
            <a:endParaRPr lang="en-US" sz="1300" dirty="0"/>
          </a:p>
        </p:txBody>
      </p:sp>
      <p:sp>
        <p:nvSpPr>
          <p:cNvPr id="147" name="Text 145"/>
          <p:cNvSpPr txBox="1"/>
          <p:nvPr/>
        </p:nvSpPr>
        <p:spPr>
          <a:xfrm>
            <a:off x="6208776"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48" name="Shape 146"/>
          <p:cNvSpPr/>
          <p:nvPr/>
        </p:nvSpPr>
        <p:spPr>
          <a:xfrm>
            <a:off x="8220456" y="4241713"/>
            <a:ext cx="51888" cy="136676"/>
          </a:xfrm>
          <a:prstGeom prst="rect">
            <a:avLst/>
          </a:prstGeom>
          <a:solidFill>
            <a:srgbClr val="C2352F"/>
          </a:solidFill>
          <a:ln/>
        </p:spPr>
      </p:sp>
      <p:sp>
        <p:nvSpPr>
          <p:cNvPr id="149" name="Text 147"/>
          <p:cNvSpPr txBox="1"/>
          <p:nvPr/>
        </p:nvSpPr>
        <p:spPr>
          <a:xfrm>
            <a:off x="8897112" y="418580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a:t>
            </a:r>
            <a:endParaRPr lang="en-US" sz="1300" dirty="0"/>
          </a:p>
        </p:txBody>
      </p:sp>
      <p:sp>
        <p:nvSpPr>
          <p:cNvPr id="150" name="Text 148"/>
          <p:cNvSpPr txBox="1"/>
          <p:nvPr/>
        </p:nvSpPr>
        <p:spPr>
          <a:xfrm>
            <a:off x="968349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$9K</a:t>
            </a:r>
            <a:endParaRPr lang="en-US" sz="1300" dirty="0"/>
          </a:p>
        </p:txBody>
      </p:sp>
      <p:sp>
        <p:nvSpPr>
          <p:cNvPr id="151" name="Text 149"/>
          <p:cNvSpPr txBox="1"/>
          <p:nvPr/>
        </p:nvSpPr>
        <p:spPr>
          <a:xfrm>
            <a:off x="1055217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$322K</a:t>
            </a:r>
            <a:endParaRPr lang="en-US" sz="1300" dirty="0"/>
          </a:p>
        </p:txBody>
      </p:sp>
      <p:sp>
        <p:nvSpPr>
          <p:cNvPr id="152" name="Text 150"/>
          <p:cNvSpPr txBox="1"/>
          <p:nvPr/>
        </p:nvSpPr>
        <p:spPr>
          <a:xfrm>
            <a:off x="6208776"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53" name="Shape 151"/>
          <p:cNvSpPr/>
          <p:nvPr/>
        </p:nvSpPr>
        <p:spPr>
          <a:xfrm>
            <a:off x="8220456" y="4490215"/>
            <a:ext cx="37656" cy="136676"/>
          </a:xfrm>
          <a:prstGeom prst="rect">
            <a:avLst/>
          </a:prstGeom>
          <a:solidFill>
            <a:srgbClr val="C2352F"/>
          </a:solidFill>
          <a:ln/>
        </p:spPr>
      </p:sp>
      <p:sp>
        <p:nvSpPr>
          <p:cNvPr id="154" name="Text 152"/>
          <p:cNvSpPr txBox="1"/>
          <p:nvPr/>
        </p:nvSpPr>
        <p:spPr>
          <a:xfrm>
            <a:off x="8897112" y="443430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a:t>
            </a:r>
            <a:endParaRPr lang="en-US" sz="1300" dirty="0"/>
          </a:p>
        </p:txBody>
      </p:sp>
      <p:sp>
        <p:nvSpPr>
          <p:cNvPr id="155" name="Text 153"/>
          <p:cNvSpPr txBox="1"/>
          <p:nvPr/>
        </p:nvSpPr>
        <p:spPr>
          <a:xfrm>
            <a:off x="968349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$10K</a:t>
            </a:r>
            <a:endParaRPr lang="en-US" sz="1300" dirty="0"/>
          </a:p>
        </p:txBody>
      </p:sp>
      <p:sp>
        <p:nvSpPr>
          <p:cNvPr id="156" name="Text 154"/>
          <p:cNvSpPr txBox="1"/>
          <p:nvPr/>
        </p:nvSpPr>
        <p:spPr>
          <a:xfrm>
            <a:off x="1055217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$542K</a:t>
            </a:r>
            <a:endParaRPr lang="en-US" sz="1300" dirty="0"/>
          </a:p>
        </p:txBody>
      </p:sp>
      <p:sp>
        <p:nvSpPr>
          <p:cNvPr id="157" name="Text 155"/>
          <p:cNvSpPr txBox="1"/>
          <p:nvPr/>
        </p:nvSpPr>
        <p:spPr>
          <a:xfrm>
            <a:off x="6208776"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58" name="Shape 156"/>
          <p:cNvSpPr/>
          <p:nvPr/>
        </p:nvSpPr>
        <p:spPr>
          <a:xfrm>
            <a:off x="8220456" y="4738717"/>
            <a:ext cx="36383" cy="136676"/>
          </a:xfrm>
          <a:prstGeom prst="rect">
            <a:avLst/>
          </a:prstGeom>
          <a:solidFill>
            <a:srgbClr val="C2352F"/>
          </a:solidFill>
          <a:ln/>
        </p:spPr>
      </p:sp>
      <p:sp>
        <p:nvSpPr>
          <p:cNvPr id="159" name="Text 157"/>
          <p:cNvSpPr txBox="1"/>
          <p:nvPr/>
        </p:nvSpPr>
        <p:spPr>
          <a:xfrm>
            <a:off x="8897112" y="468280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a:t>
            </a:r>
            <a:endParaRPr lang="en-US" sz="1300" dirty="0"/>
          </a:p>
        </p:txBody>
      </p:sp>
      <p:sp>
        <p:nvSpPr>
          <p:cNvPr id="160" name="Text 158"/>
          <p:cNvSpPr txBox="1"/>
          <p:nvPr/>
        </p:nvSpPr>
        <p:spPr>
          <a:xfrm>
            <a:off x="968349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$11K</a:t>
            </a:r>
            <a:endParaRPr lang="en-US" sz="1300" dirty="0"/>
          </a:p>
        </p:txBody>
      </p:sp>
      <p:sp>
        <p:nvSpPr>
          <p:cNvPr id="161" name="Text 159"/>
          <p:cNvSpPr txBox="1"/>
          <p:nvPr/>
        </p:nvSpPr>
        <p:spPr>
          <a:xfrm>
            <a:off x="1055217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$609K</a:t>
            </a:r>
            <a:endParaRPr lang="en-US" sz="1300" dirty="0"/>
          </a:p>
        </p:txBody>
      </p:sp>
      <p:sp>
        <p:nvSpPr>
          <p:cNvPr id="162" name="Text 160"/>
          <p:cNvSpPr txBox="1"/>
          <p:nvPr/>
        </p:nvSpPr>
        <p:spPr>
          <a:xfrm>
            <a:off x="6208776"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163" name="Shape 161"/>
          <p:cNvSpPr/>
          <p:nvPr/>
        </p:nvSpPr>
        <p:spPr>
          <a:xfrm>
            <a:off x="8220456" y="4987218"/>
            <a:ext cx="26547" cy="136676"/>
          </a:xfrm>
          <a:prstGeom prst="rect">
            <a:avLst/>
          </a:prstGeom>
          <a:solidFill>
            <a:srgbClr val="C2352F"/>
          </a:solidFill>
          <a:ln/>
        </p:spPr>
      </p:sp>
      <p:sp>
        <p:nvSpPr>
          <p:cNvPr id="164" name="Text 162"/>
          <p:cNvSpPr txBox="1"/>
          <p:nvPr/>
        </p:nvSpPr>
        <p:spPr>
          <a:xfrm>
            <a:off x="8897112" y="4931305"/>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a:t>
            </a:r>
            <a:endParaRPr lang="en-US" sz="1300" dirty="0"/>
          </a:p>
        </p:txBody>
      </p:sp>
      <p:sp>
        <p:nvSpPr>
          <p:cNvPr id="165" name="Text 163"/>
          <p:cNvSpPr txBox="1"/>
          <p:nvPr/>
        </p:nvSpPr>
        <p:spPr>
          <a:xfrm>
            <a:off x="968349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$13K</a:t>
            </a:r>
            <a:endParaRPr lang="en-US" sz="1300" dirty="0"/>
          </a:p>
        </p:txBody>
      </p:sp>
      <p:sp>
        <p:nvSpPr>
          <p:cNvPr id="166" name="Text 164"/>
          <p:cNvSpPr txBox="1"/>
          <p:nvPr/>
        </p:nvSpPr>
        <p:spPr>
          <a:xfrm>
            <a:off x="1055217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$949K</a:t>
            </a:r>
            <a:endParaRPr lang="en-US" sz="1300" dirty="0"/>
          </a:p>
        </p:txBody>
      </p:sp>
      <p:sp>
        <p:nvSpPr>
          <p:cNvPr id="167" name="Text 165"/>
          <p:cNvSpPr txBox="1"/>
          <p:nvPr/>
        </p:nvSpPr>
        <p:spPr>
          <a:xfrm>
            <a:off x="6208776"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68" name="Shape 166"/>
          <p:cNvSpPr/>
          <p:nvPr/>
        </p:nvSpPr>
        <p:spPr>
          <a:xfrm>
            <a:off x="8220456" y="5235720"/>
            <a:ext cx="18288" cy="136676"/>
          </a:xfrm>
          <a:prstGeom prst="rect">
            <a:avLst/>
          </a:prstGeom>
          <a:solidFill>
            <a:srgbClr val="C2352F"/>
          </a:solidFill>
          <a:ln/>
        </p:spPr>
      </p:sp>
      <p:sp>
        <p:nvSpPr>
          <p:cNvPr id="169" name="Text 167"/>
          <p:cNvSpPr txBox="1"/>
          <p:nvPr/>
        </p:nvSpPr>
        <p:spPr>
          <a:xfrm>
            <a:off x="8897112" y="517980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0.8%</a:t>
            </a:r>
            <a:endParaRPr lang="en-US" sz="1300" dirty="0"/>
          </a:p>
        </p:txBody>
      </p:sp>
      <p:sp>
        <p:nvSpPr>
          <p:cNvPr id="170" name="Text 168"/>
          <p:cNvSpPr txBox="1"/>
          <p:nvPr/>
        </p:nvSpPr>
        <p:spPr>
          <a:xfrm>
            <a:off x="968349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$13K</a:t>
            </a:r>
            <a:endParaRPr lang="en-US" sz="1300" dirty="0"/>
          </a:p>
        </p:txBody>
      </p:sp>
      <p:sp>
        <p:nvSpPr>
          <p:cNvPr id="171" name="Text 169"/>
          <p:cNvSpPr txBox="1"/>
          <p:nvPr/>
        </p:nvSpPr>
        <p:spPr>
          <a:xfrm>
            <a:off x="1055217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$1.54M</a:t>
            </a:r>
            <a:endParaRPr lang="en-US" sz="1300" dirty="0"/>
          </a:p>
        </p:txBody>
      </p:sp>
      <p:sp>
        <p:nvSpPr>
          <p:cNvPr id="172" name="Text 170"/>
          <p:cNvSpPr txBox="1"/>
          <p:nvPr/>
        </p:nvSpPr>
        <p:spPr>
          <a:xfrm>
            <a:off x="6208776"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73" name="Shape 171"/>
          <p:cNvSpPr/>
          <p:nvPr/>
        </p:nvSpPr>
        <p:spPr>
          <a:xfrm>
            <a:off x="8220456" y="5484222"/>
            <a:ext cx="18288" cy="136676"/>
          </a:xfrm>
          <a:prstGeom prst="rect">
            <a:avLst/>
          </a:prstGeom>
          <a:solidFill>
            <a:srgbClr val="C2352F"/>
          </a:solidFill>
          <a:ln/>
        </p:spPr>
      </p:sp>
      <p:sp>
        <p:nvSpPr>
          <p:cNvPr id="174" name="Text 172"/>
          <p:cNvSpPr txBox="1"/>
          <p:nvPr/>
        </p:nvSpPr>
        <p:spPr>
          <a:xfrm>
            <a:off x="8897112" y="542830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0.2%</a:t>
            </a:r>
            <a:endParaRPr lang="en-US" sz="1300" dirty="0"/>
          </a:p>
        </p:txBody>
      </p:sp>
      <p:sp>
        <p:nvSpPr>
          <p:cNvPr id="175" name="Text 173"/>
          <p:cNvSpPr txBox="1"/>
          <p:nvPr/>
        </p:nvSpPr>
        <p:spPr>
          <a:xfrm>
            <a:off x="968349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$1K</a:t>
            </a:r>
            <a:endParaRPr lang="en-US" sz="1300" dirty="0"/>
          </a:p>
        </p:txBody>
      </p:sp>
      <p:sp>
        <p:nvSpPr>
          <p:cNvPr id="176" name="Text 174"/>
          <p:cNvSpPr txBox="1"/>
          <p:nvPr/>
        </p:nvSpPr>
        <p:spPr>
          <a:xfrm>
            <a:off x="1055217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$453K</a:t>
            </a:r>
            <a:endParaRPr lang="en-US" sz="1300" dirty="0"/>
          </a:p>
        </p:txBody>
      </p:sp>
      <p:sp>
        <p:nvSpPr>
          <p:cNvPr id="177" name="Shape 175"/>
          <p:cNvSpPr/>
          <p:nvPr/>
        </p:nvSpPr>
        <p:spPr>
          <a:xfrm>
            <a:off x="457200" y="6126480"/>
            <a:ext cx="11274552" cy="615696"/>
          </a:xfrm>
          <a:prstGeom prst="rect">
            <a:avLst/>
          </a:prstGeom>
          <a:solidFill>
            <a:srgbClr val="FBEBEA"/>
          </a:solidFill>
          <a:ln/>
        </p:spPr>
      </p:sp>
      <p:sp>
        <p:nvSpPr>
          <p:cNvPr id="178" name="Text 17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Group-wide the gap is 8.1% of RO gross. 5 stores are missing a fifth or more, led by Hyundai St George at 32% ($88K of $277K a month).</a:t>
            </a:r>
            <a:endParaRPr lang="en-US" sz="1600" dirty="0"/>
          </a:p>
        </p:txBody>
      </p:sp>
    </p:spTree>
  </p:cSld>
  <p:clrMapOvr>
    <a:masterClrMapping/>
  </p:clrMapOvr>
</p:sld>
</file>

<file path=ppt/slides/slide15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Your Best Techs Prove It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182880" cy="182880"/>
          </a:xfrm>
          <a:prstGeom prst="ellipse">
            <a:avLst/>
          </a:prstGeom>
          <a:solidFill>
            <a:srgbClr val="C2352F"/>
          </a:solidFill>
          <a:ln/>
        </p:spPr>
      </p:sp>
      <p:sp>
        <p:nvSpPr>
          <p:cNvPr id="7" name="Text 5"/>
          <p:cNvSpPr txBox="1"/>
          <p:nvPr/>
        </p:nvSpPr>
        <p:spPr>
          <a:xfrm>
            <a:off x="932688" y="1298448"/>
            <a:ext cx="5120640"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Store proficiency (green at or above 85%)</a:t>
            </a:r>
            <a:endParaRPr lang="en-US" sz="1400" dirty="0"/>
          </a:p>
        </p:txBody>
      </p:sp>
      <p:sp>
        <p:nvSpPr>
          <p:cNvPr id="8" name="Shape 6"/>
          <p:cNvSpPr/>
          <p:nvPr/>
        </p:nvSpPr>
        <p:spPr>
          <a:xfrm>
            <a:off x="6208776" y="1371600"/>
            <a:ext cx="182880" cy="182880"/>
          </a:xfrm>
          <a:prstGeom prst="ellipse">
            <a:avLst/>
          </a:prstGeom>
          <a:solidFill>
            <a:srgbClr val="0B2C4A"/>
          </a:solidFill>
          <a:ln/>
        </p:spPr>
      </p:sp>
      <p:sp>
        <p:nvSpPr>
          <p:cNvPr id="9" name="Text 7"/>
          <p:cNvSpPr txBox="1"/>
          <p:nvPr/>
        </p:nvSpPr>
        <p:spPr>
          <a:xfrm>
            <a:off x="6483096" y="1298448"/>
            <a:ext cx="5120640"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Top quarter of that store's techs</a:t>
            </a:r>
            <a:endParaRPr lang="en-US" sz="1400" dirty="0"/>
          </a:p>
        </p:txBody>
      </p:sp>
      <p:sp>
        <p:nvSpPr>
          <p:cNvPr id="10" name="Shape 8"/>
          <p:cNvSpPr/>
          <p:nvPr/>
        </p:nvSpPr>
        <p:spPr>
          <a:xfrm>
            <a:off x="3099359" y="1737360"/>
            <a:ext cx="14630" cy="4187952"/>
          </a:xfrm>
          <a:prstGeom prst="rect">
            <a:avLst/>
          </a:prstGeom>
          <a:solidFill>
            <a:srgbClr val="9AA3AD"/>
          </a:solidFill>
          <a:ln/>
        </p:spPr>
      </p:sp>
      <p:sp>
        <p:nvSpPr>
          <p:cNvPr id="11" name="Shape 9"/>
          <p:cNvSpPr/>
          <p:nvPr/>
        </p:nvSpPr>
        <p:spPr>
          <a:xfrm>
            <a:off x="8649767" y="1737360"/>
            <a:ext cx="14630" cy="3941602"/>
          </a:xfrm>
          <a:prstGeom prst="rect">
            <a:avLst/>
          </a:prstGeom>
          <a:solidFill>
            <a:srgbClr val="9AA3AD"/>
          </a:solidFill>
          <a:ln/>
        </p:spPr>
      </p:sp>
      <p:sp>
        <p:nvSpPr>
          <p:cNvPr id="12" name="Text 10"/>
          <p:cNvSpPr txBox="1"/>
          <p:nvPr/>
        </p:nvSpPr>
        <p:spPr>
          <a:xfrm>
            <a:off x="658368" y="17373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3" name="Shape 11"/>
          <p:cNvSpPr/>
          <p:nvPr/>
        </p:nvSpPr>
        <p:spPr>
          <a:xfrm>
            <a:off x="3507248" y="1846819"/>
            <a:ext cx="645269" cy="27432"/>
          </a:xfrm>
          <a:prstGeom prst="rect">
            <a:avLst/>
          </a:prstGeom>
          <a:solidFill>
            <a:srgbClr val="D9D9D9"/>
          </a:solidFill>
          <a:ln/>
        </p:spPr>
      </p:sp>
      <p:sp>
        <p:nvSpPr>
          <p:cNvPr id="14" name="Shape 12"/>
          <p:cNvSpPr/>
          <p:nvPr/>
        </p:nvSpPr>
        <p:spPr>
          <a:xfrm>
            <a:off x="4074793" y="1782811"/>
            <a:ext cx="155448" cy="155448"/>
          </a:xfrm>
          <a:prstGeom prst="ellipse">
            <a:avLst/>
          </a:prstGeom>
          <a:solidFill>
            <a:srgbClr val="0B2C4A"/>
          </a:solidFill>
          <a:ln/>
        </p:spPr>
      </p:sp>
      <p:sp>
        <p:nvSpPr>
          <p:cNvPr id="15" name="Shape 13"/>
          <p:cNvSpPr/>
          <p:nvPr/>
        </p:nvSpPr>
        <p:spPr>
          <a:xfrm>
            <a:off x="3429524" y="1782811"/>
            <a:ext cx="155448" cy="155448"/>
          </a:xfrm>
          <a:prstGeom prst="ellipse">
            <a:avLst/>
          </a:prstGeom>
          <a:solidFill>
            <a:srgbClr val="12A566"/>
          </a:solidFill>
          <a:ln/>
        </p:spPr>
      </p:sp>
      <p:sp>
        <p:nvSpPr>
          <p:cNvPr id="16" name="Text 14"/>
          <p:cNvSpPr txBox="1"/>
          <p:nvPr/>
        </p:nvSpPr>
        <p:spPr>
          <a:xfrm>
            <a:off x="4498848" y="17373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119%</a:t>
            </a:r>
            <a:pPr algn="r" indent="0" marL="0">
              <a:buNone/>
            </a:pPr>
            <a:r>
              <a:rPr lang="en-US" sz="1300" dirty="0">
                <a:solidFill>
                  <a:srgbClr val="0B2C4A"/>
                </a:solidFill>
                <a:latin typeface="Inter" pitchFamily="34" charset="0"/>
                <a:ea typeface="Inter" pitchFamily="34" charset="-122"/>
                <a:cs typeface="Inter" pitchFamily="34" charset="-120"/>
              </a:rPr>
              <a:t>  172%</a:t>
            </a:r>
            <a:endParaRPr lang="en-US" sz="1300" dirty="0"/>
          </a:p>
        </p:txBody>
      </p:sp>
      <p:sp>
        <p:nvSpPr>
          <p:cNvPr id="17" name="Text 15"/>
          <p:cNvSpPr txBox="1"/>
          <p:nvPr/>
        </p:nvSpPr>
        <p:spPr>
          <a:xfrm>
            <a:off x="658368" y="198371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8" name="Shape 16"/>
          <p:cNvSpPr/>
          <p:nvPr/>
        </p:nvSpPr>
        <p:spPr>
          <a:xfrm>
            <a:off x="3491377" y="2093169"/>
            <a:ext cx="870311" cy="27432"/>
          </a:xfrm>
          <a:prstGeom prst="rect">
            <a:avLst/>
          </a:prstGeom>
          <a:solidFill>
            <a:srgbClr val="D9D9D9"/>
          </a:solidFill>
          <a:ln/>
        </p:spPr>
      </p:sp>
      <p:sp>
        <p:nvSpPr>
          <p:cNvPr id="19" name="Shape 17"/>
          <p:cNvSpPr/>
          <p:nvPr/>
        </p:nvSpPr>
        <p:spPr>
          <a:xfrm>
            <a:off x="4283964" y="2029161"/>
            <a:ext cx="155448" cy="155448"/>
          </a:xfrm>
          <a:prstGeom prst="ellipse">
            <a:avLst/>
          </a:prstGeom>
          <a:solidFill>
            <a:srgbClr val="0B2C4A"/>
          </a:solidFill>
          <a:ln/>
        </p:spPr>
      </p:sp>
      <p:sp>
        <p:nvSpPr>
          <p:cNvPr id="20" name="Shape 18"/>
          <p:cNvSpPr/>
          <p:nvPr/>
        </p:nvSpPr>
        <p:spPr>
          <a:xfrm>
            <a:off x="3413653" y="2029161"/>
            <a:ext cx="155448" cy="155448"/>
          </a:xfrm>
          <a:prstGeom prst="ellipse">
            <a:avLst/>
          </a:prstGeom>
          <a:solidFill>
            <a:srgbClr val="12A566"/>
          </a:solidFill>
          <a:ln/>
        </p:spPr>
      </p:sp>
      <p:sp>
        <p:nvSpPr>
          <p:cNvPr id="21" name="Text 19"/>
          <p:cNvSpPr txBox="1"/>
          <p:nvPr/>
        </p:nvSpPr>
        <p:spPr>
          <a:xfrm>
            <a:off x="4498848" y="198371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117%</a:t>
            </a:r>
            <a:pPr algn="r" indent="0" marL="0">
              <a:buNone/>
            </a:pPr>
            <a:r>
              <a:rPr lang="en-US" sz="1300" dirty="0">
                <a:solidFill>
                  <a:srgbClr val="0B2C4A"/>
                </a:solidFill>
                <a:latin typeface="Inter" pitchFamily="34" charset="0"/>
                <a:ea typeface="Inter" pitchFamily="34" charset="-122"/>
                <a:cs typeface="Inter" pitchFamily="34" charset="-120"/>
              </a:rPr>
              <a:t>  194%</a:t>
            </a:r>
            <a:endParaRPr lang="en-US" sz="1300" dirty="0"/>
          </a:p>
        </p:txBody>
      </p:sp>
      <p:sp>
        <p:nvSpPr>
          <p:cNvPr id="22" name="Text 20"/>
          <p:cNvSpPr txBox="1"/>
          <p:nvPr/>
        </p:nvSpPr>
        <p:spPr>
          <a:xfrm>
            <a:off x="658368" y="22300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23" name="Shape 21"/>
          <p:cNvSpPr/>
          <p:nvPr/>
        </p:nvSpPr>
        <p:spPr>
          <a:xfrm>
            <a:off x="3402985" y="2339519"/>
            <a:ext cx="434135" cy="27432"/>
          </a:xfrm>
          <a:prstGeom prst="rect">
            <a:avLst/>
          </a:prstGeom>
          <a:solidFill>
            <a:srgbClr val="D9D9D9"/>
          </a:solidFill>
          <a:ln/>
        </p:spPr>
      </p:sp>
      <p:sp>
        <p:nvSpPr>
          <p:cNvPr id="24" name="Shape 22"/>
          <p:cNvSpPr/>
          <p:nvPr/>
        </p:nvSpPr>
        <p:spPr>
          <a:xfrm>
            <a:off x="3759396" y="2275511"/>
            <a:ext cx="155448" cy="155448"/>
          </a:xfrm>
          <a:prstGeom prst="ellipse">
            <a:avLst/>
          </a:prstGeom>
          <a:solidFill>
            <a:srgbClr val="0B2C4A"/>
          </a:solidFill>
          <a:ln/>
        </p:spPr>
      </p:sp>
      <p:sp>
        <p:nvSpPr>
          <p:cNvPr id="25" name="Shape 23"/>
          <p:cNvSpPr/>
          <p:nvPr/>
        </p:nvSpPr>
        <p:spPr>
          <a:xfrm>
            <a:off x="3325261" y="2275511"/>
            <a:ext cx="155448" cy="155448"/>
          </a:xfrm>
          <a:prstGeom prst="ellipse">
            <a:avLst/>
          </a:prstGeom>
          <a:solidFill>
            <a:srgbClr val="12A566"/>
          </a:solidFill>
          <a:ln/>
        </p:spPr>
      </p:sp>
      <p:sp>
        <p:nvSpPr>
          <p:cNvPr id="26" name="Text 24"/>
          <p:cNvSpPr txBox="1"/>
          <p:nvPr/>
        </p:nvSpPr>
        <p:spPr>
          <a:xfrm>
            <a:off x="4498848" y="22300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110%</a:t>
            </a:r>
            <a:pPr algn="r" indent="0" marL="0">
              <a:buNone/>
            </a:pPr>
            <a:r>
              <a:rPr lang="en-US" sz="1300" dirty="0">
                <a:solidFill>
                  <a:srgbClr val="0B2C4A"/>
                </a:solidFill>
                <a:latin typeface="Inter" pitchFamily="34" charset="0"/>
                <a:ea typeface="Inter" pitchFamily="34" charset="-122"/>
                <a:cs typeface="Inter" pitchFamily="34" charset="-120"/>
              </a:rPr>
              <a:t>  146%</a:t>
            </a:r>
            <a:endParaRPr lang="en-US" sz="1300" dirty="0"/>
          </a:p>
        </p:txBody>
      </p:sp>
      <p:sp>
        <p:nvSpPr>
          <p:cNvPr id="27" name="Text 25"/>
          <p:cNvSpPr txBox="1"/>
          <p:nvPr/>
        </p:nvSpPr>
        <p:spPr>
          <a:xfrm>
            <a:off x="658368" y="247641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28" name="Shape 26"/>
          <p:cNvSpPr/>
          <p:nvPr/>
        </p:nvSpPr>
        <p:spPr>
          <a:xfrm>
            <a:off x="3397238" y="2585869"/>
            <a:ext cx="510500" cy="27432"/>
          </a:xfrm>
          <a:prstGeom prst="rect">
            <a:avLst/>
          </a:prstGeom>
          <a:solidFill>
            <a:srgbClr val="D9D9D9"/>
          </a:solidFill>
          <a:ln/>
        </p:spPr>
      </p:sp>
      <p:sp>
        <p:nvSpPr>
          <p:cNvPr id="29" name="Shape 27"/>
          <p:cNvSpPr/>
          <p:nvPr/>
        </p:nvSpPr>
        <p:spPr>
          <a:xfrm>
            <a:off x="3830014" y="2521861"/>
            <a:ext cx="155448" cy="155448"/>
          </a:xfrm>
          <a:prstGeom prst="ellipse">
            <a:avLst/>
          </a:prstGeom>
          <a:solidFill>
            <a:srgbClr val="0B2C4A"/>
          </a:solidFill>
          <a:ln/>
        </p:spPr>
      </p:sp>
      <p:sp>
        <p:nvSpPr>
          <p:cNvPr id="30" name="Shape 28"/>
          <p:cNvSpPr/>
          <p:nvPr/>
        </p:nvSpPr>
        <p:spPr>
          <a:xfrm>
            <a:off x="3319514" y="2521861"/>
            <a:ext cx="155448" cy="155448"/>
          </a:xfrm>
          <a:prstGeom prst="ellipse">
            <a:avLst/>
          </a:prstGeom>
          <a:solidFill>
            <a:srgbClr val="12A566"/>
          </a:solidFill>
          <a:ln/>
        </p:spPr>
      </p:sp>
      <p:sp>
        <p:nvSpPr>
          <p:cNvPr id="31" name="Text 29"/>
          <p:cNvSpPr txBox="1"/>
          <p:nvPr/>
        </p:nvSpPr>
        <p:spPr>
          <a:xfrm>
            <a:off x="4498848" y="247641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109%</a:t>
            </a:r>
            <a:pPr algn="r" indent="0" marL="0">
              <a:buNone/>
            </a:pPr>
            <a:r>
              <a:rPr lang="en-US" sz="1300" dirty="0">
                <a:solidFill>
                  <a:srgbClr val="0B2C4A"/>
                </a:solidFill>
                <a:latin typeface="Inter" pitchFamily="34" charset="0"/>
                <a:ea typeface="Inter" pitchFamily="34" charset="-122"/>
                <a:cs typeface="Inter" pitchFamily="34" charset="-120"/>
              </a:rPr>
              <a:t>  152%</a:t>
            </a:r>
            <a:endParaRPr lang="en-US" sz="1300" dirty="0"/>
          </a:p>
        </p:txBody>
      </p:sp>
      <p:sp>
        <p:nvSpPr>
          <p:cNvPr id="32" name="Text 30"/>
          <p:cNvSpPr txBox="1"/>
          <p:nvPr/>
        </p:nvSpPr>
        <p:spPr>
          <a:xfrm>
            <a:off x="658368" y="27227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33" name="Shape 31"/>
          <p:cNvSpPr/>
          <p:nvPr/>
        </p:nvSpPr>
        <p:spPr>
          <a:xfrm>
            <a:off x="3394584" y="2832220"/>
            <a:ext cx="248054" cy="27432"/>
          </a:xfrm>
          <a:prstGeom prst="rect">
            <a:avLst/>
          </a:prstGeom>
          <a:solidFill>
            <a:srgbClr val="D9D9D9"/>
          </a:solidFill>
          <a:ln/>
        </p:spPr>
      </p:sp>
      <p:sp>
        <p:nvSpPr>
          <p:cNvPr id="34" name="Shape 32"/>
          <p:cNvSpPr/>
          <p:nvPr/>
        </p:nvSpPr>
        <p:spPr>
          <a:xfrm>
            <a:off x="3564914" y="2768212"/>
            <a:ext cx="155448" cy="155448"/>
          </a:xfrm>
          <a:prstGeom prst="ellipse">
            <a:avLst/>
          </a:prstGeom>
          <a:solidFill>
            <a:srgbClr val="0B2C4A"/>
          </a:solidFill>
          <a:ln/>
        </p:spPr>
      </p:sp>
      <p:sp>
        <p:nvSpPr>
          <p:cNvPr id="35" name="Shape 33"/>
          <p:cNvSpPr/>
          <p:nvPr/>
        </p:nvSpPr>
        <p:spPr>
          <a:xfrm>
            <a:off x="3316860" y="2768212"/>
            <a:ext cx="155448" cy="155448"/>
          </a:xfrm>
          <a:prstGeom prst="ellipse">
            <a:avLst/>
          </a:prstGeom>
          <a:solidFill>
            <a:srgbClr val="12A566"/>
          </a:solidFill>
          <a:ln/>
        </p:spPr>
      </p:sp>
      <p:sp>
        <p:nvSpPr>
          <p:cNvPr id="36" name="Text 34"/>
          <p:cNvSpPr txBox="1"/>
          <p:nvPr/>
        </p:nvSpPr>
        <p:spPr>
          <a:xfrm>
            <a:off x="4498848" y="27227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109%</a:t>
            </a:r>
            <a:pPr algn="r" indent="0" marL="0">
              <a:buNone/>
            </a:pPr>
            <a:r>
              <a:rPr lang="en-US" sz="1300" dirty="0">
                <a:solidFill>
                  <a:srgbClr val="0B2C4A"/>
                </a:solidFill>
                <a:latin typeface="Inter" pitchFamily="34" charset="0"/>
                <a:ea typeface="Inter" pitchFamily="34" charset="-122"/>
                <a:cs typeface="Inter" pitchFamily="34" charset="-120"/>
              </a:rPr>
              <a:t>  130%</a:t>
            </a:r>
            <a:endParaRPr lang="en-US" sz="1300" dirty="0"/>
          </a:p>
        </p:txBody>
      </p:sp>
      <p:sp>
        <p:nvSpPr>
          <p:cNvPr id="37" name="Text 35"/>
          <p:cNvSpPr txBox="1"/>
          <p:nvPr/>
        </p:nvSpPr>
        <p:spPr>
          <a:xfrm>
            <a:off x="658368" y="29691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38" name="Shape 36"/>
          <p:cNvSpPr/>
          <p:nvPr/>
        </p:nvSpPr>
        <p:spPr>
          <a:xfrm>
            <a:off x="3381966" y="3078570"/>
            <a:ext cx="305207" cy="27432"/>
          </a:xfrm>
          <a:prstGeom prst="rect">
            <a:avLst/>
          </a:prstGeom>
          <a:solidFill>
            <a:srgbClr val="D9D9D9"/>
          </a:solidFill>
          <a:ln/>
        </p:spPr>
      </p:sp>
      <p:sp>
        <p:nvSpPr>
          <p:cNvPr id="39" name="Shape 37"/>
          <p:cNvSpPr/>
          <p:nvPr/>
        </p:nvSpPr>
        <p:spPr>
          <a:xfrm>
            <a:off x="3609449" y="3014562"/>
            <a:ext cx="155448" cy="155448"/>
          </a:xfrm>
          <a:prstGeom prst="ellipse">
            <a:avLst/>
          </a:prstGeom>
          <a:solidFill>
            <a:srgbClr val="0B2C4A"/>
          </a:solidFill>
          <a:ln/>
        </p:spPr>
      </p:sp>
      <p:sp>
        <p:nvSpPr>
          <p:cNvPr id="40" name="Shape 38"/>
          <p:cNvSpPr/>
          <p:nvPr/>
        </p:nvSpPr>
        <p:spPr>
          <a:xfrm>
            <a:off x="3304242" y="3014562"/>
            <a:ext cx="155448" cy="155448"/>
          </a:xfrm>
          <a:prstGeom prst="ellipse">
            <a:avLst/>
          </a:prstGeom>
          <a:solidFill>
            <a:srgbClr val="12A566"/>
          </a:solidFill>
          <a:ln/>
        </p:spPr>
      </p:sp>
      <p:sp>
        <p:nvSpPr>
          <p:cNvPr id="41" name="Text 39"/>
          <p:cNvSpPr txBox="1"/>
          <p:nvPr/>
        </p:nvSpPr>
        <p:spPr>
          <a:xfrm>
            <a:off x="4498848" y="296911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108%</a:t>
            </a:r>
            <a:pPr algn="r" indent="0" marL="0">
              <a:buNone/>
            </a:pPr>
            <a:r>
              <a:rPr lang="en-US" sz="1300" dirty="0">
                <a:solidFill>
                  <a:srgbClr val="0B2C4A"/>
                </a:solidFill>
                <a:latin typeface="Inter" pitchFamily="34" charset="0"/>
                <a:ea typeface="Inter" pitchFamily="34" charset="-122"/>
                <a:cs typeface="Inter" pitchFamily="34" charset="-120"/>
              </a:rPr>
              <a:t>  134%</a:t>
            </a:r>
            <a:endParaRPr lang="en-US" sz="1300" dirty="0"/>
          </a:p>
        </p:txBody>
      </p:sp>
      <p:sp>
        <p:nvSpPr>
          <p:cNvPr id="42" name="Text 40"/>
          <p:cNvSpPr txBox="1"/>
          <p:nvPr/>
        </p:nvSpPr>
        <p:spPr>
          <a:xfrm>
            <a:off x="658368" y="32154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43" name="Shape 41"/>
          <p:cNvSpPr/>
          <p:nvPr/>
        </p:nvSpPr>
        <p:spPr>
          <a:xfrm>
            <a:off x="3358657" y="3324920"/>
            <a:ext cx="461897" cy="27432"/>
          </a:xfrm>
          <a:prstGeom prst="rect">
            <a:avLst/>
          </a:prstGeom>
          <a:solidFill>
            <a:srgbClr val="D9D9D9"/>
          </a:solidFill>
          <a:ln/>
        </p:spPr>
      </p:sp>
      <p:sp>
        <p:nvSpPr>
          <p:cNvPr id="44" name="Shape 42"/>
          <p:cNvSpPr/>
          <p:nvPr/>
        </p:nvSpPr>
        <p:spPr>
          <a:xfrm>
            <a:off x="3742830" y="3260912"/>
            <a:ext cx="155448" cy="155448"/>
          </a:xfrm>
          <a:prstGeom prst="ellipse">
            <a:avLst/>
          </a:prstGeom>
          <a:solidFill>
            <a:srgbClr val="0B2C4A"/>
          </a:solidFill>
          <a:ln/>
        </p:spPr>
      </p:sp>
      <p:sp>
        <p:nvSpPr>
          <p:cNvPr id="45" name="Shape 43"/>
          <p:cNvSpPr/>
          <p:nvPr/>
        </p:nvSpPr>
        <p:spPr>
          <a:xfrm>
            <a:off x="3280933" y="3260912"/>
            <a:ext cx="155448" cy="155448"/>
          </a:xfrm>
          <a:prstGeom prst="ellipse">
            <a:avLst/>
          </a:prstGeom>
          <a:solidFill>
            <a:srgbClr val="12A566"/>
          </a:solidFill>
          <a:ln/>
        </p:spPr>
      </p:sp>
      <p:sp>
        <p:nvSpPr>
          <p:cNvPr id="46" name="Text 44"/>
          <p:cNvSpPr txBox="1"/>
          <p:nvPr/>
        </p:nvSpPr>
        <p:spPr>
          <a:xfrm>
            <a:off x="4498848" y="321546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106%</a:t>
            </a:r>
            <a:pPr algn="r" indent="0" marL="0">
              <a:buNone/>
            </a:pPr>
            <a:r>
              <a:rPr lang="en-US" sz="1300" dirty="0">
                <a:solidFill>
                  <a:srgbClr val="0B2C4A"/>
                </a:solidFill>
                <a:latin typeface="Inter" pitchFamily="34" charset="0"/>
                <a:ea typeface="Inter" pitchFamily="34" charset="-122"/>
                <a:cs typeface="Inter" pitchFamily="34" charset="-120"/>
              </a:rPr>
              <a:t>  145%</a:t>
            </a:r>
            <a:endParaRPr lang="en-US" sz="1300" dirty="0"/>
          </a:p>
        </p:txBody>
      </p:sp>
      <p:sp>
        <p:nvSpPr>
          <p:cNvPr id="47" name="Text 45"/>
          <p:cNvSpPr txBox="1"/>
          <p:nvPr/>
        </p:nvSpPr>
        <p:spPr>
          <a:xfrm>
            <a:off x="658368" y="34618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48" name="Shape 46"/>
          <p:cNvSpPr/>
          <p:nvPr/>
        </p:nvSpPr>
        <p:spPr>
          <a:xfrm>
            <a:off x="3342460" y="3571270"/>
            <a:ext cx="879840" cy="27432"/>
          </a:xfrm>
          <a:prstGeom prst="rect">
            <a:avLst/>
          </a:prstGeom>
          <a:solidFill>
            <a:srgbClr val="D9D9D9"/>
          </a:solidFill>
          <a:ln/>
        </p:spPr>
      </p:sp>
      <p:sp>
        <p:nvSpPr>
          <p:cNvPr id="49" name="Shape 47"/>
          <p:cNvSpPr/>
          <p:nvPr/>
        </p:nvSpPr>
        <p:spPr>
          <a:xfrm>
            <a:off x="4144576" y="3507262"/>
            <a:ext cx="155448" cy="155448"/>
          </a:xfrm>
          <a:prstGeom prst="ellipse">
            <a:avLst/>
          </a:prstGeom>
          <a:solidFill>
            <a:srgbClr val="0B2C4A"/>
          </a:solidFill>
          <a:ln/>
        </p:spPr>
      </p:sp>
      <p:sp>
        <p:nvSpPr>
          <p:cNvPr id="50" name="Shape 48"/>
          <p:cNvSpPr/>
          <p:nvPr/>
        </p:nvSpPr>
        <p:spPr>
          <a:xfrm>
            <a:off x="3264736" y="3507262"/>
            <a:ext cx="155448" cy="155448"/>
          </a:xfrm>
          <a:prstGeom prst="ellipse">
            <a:avLst/>
          </a:prstGeom>
          <a:solidFill>
            <a:srgbClr val="12A566"/>
          </a:solidFill>
          <a:ln/>
        </p:spPr>
      </p:sp>
      <p:sp>
        <p:nvSpPr>
          <p:cNvPr id="51" name="Text 49"/>
          <p:cNvSpPr txBox="1"/>
          <p:nvPr/>
        </p:nvSpPr>
        <p:spPr>
          <a:xfrm>
            <a:off x="4498848" y="346181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105%</a:t>
            </a:r>
            <a:pPr algn="r" indent="0" marL="0">
              <a:buNone/>
            </a:pPr>
            <a:r>
              <a:rPr lang="en-US" sz="1300" dirty="0">
                <a:solidFill>
                  <a:srgbClr val="0B2C4A"/>
                </a:solidFill>
                <a:latin typeface="Inter" pitchFamily="34" charset="0"/>
                <a:ea typeface="Inter" pitchFamily="34" charset="-122"/>
                <a:cs typeface="Inter" pitchFamily="34" charset="-120"/>
              </a:rPr>
              <a:t>  178%</a:t>
            </a:r>
            <a:endParaRPr lang="en-US" sz="1300" dirty="0"/>
          </a:p>
        </p:txBody>
      </p:sp>
      <p:sp>
        <p:nvSpPr>
          <p:cNvPr id="52" name="Text 50"/>
          <p:cNvSpPr txBox="1"/>
          <p:nvPr/>
        </p:nvSpPr>
        <p:spPr>
          <a:xfrm>
            <a:off x="658368" y="37081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53" name="Shape 51"/>
          <p:cNvSpPr/>
          <p:nvPr/>
        </p:nvSpPr>
        <p:spPr>
          <a:xfrm>
            <a:off x="3338325" y="3817620"/>
            <a:ext cx="578029" cy="27432"/>
          </a:xfrm>
          <a:prstGeom prst="rect">
            <a:avLst/>
          </a:prstGeom>
          <a:solidFill>
            <a:srgbClr val="D9D9D9"/>
          </a:solidFill>
          <a:ln/>
        </p:spPr>
      </p:sp>
      <p:sp>
        <p:nvSpPr>
          <p:cNvPr id="54" name="Shape 52"/>
          <p:cNvSpPr/>
          <p:nvPr/>
        </p:nvSpPr>
        <p:spPr>
          <a:xfrm>
            <a:off x="3838629" y="3753612"/>
            <a:ext cx="155448" cy="155448"/>
          </a:xfrm>
          <a:prstGeom prst="ellipse">
            <a:avLst/>
          </a:prstGeom>
          <a:solidFill>
            <a:srgbClr val="0B2C4A"/>
          </a:solidFill>
          <a:ln/>
        </p:spPr>
      </p:sp>
      <p:sp>
        <p:nvSpPr>
          <p:cNvPr id="55" name="Shape 53"/>
          <p:cNvSpPr/>
          <p:nvPr/>
        </p:nvSpPr>
        <p:spPr>
          <a:xfrm>
            <a:off x="3260601" y="3753612"/>
            <a:ext cx="155448" cy="155448"/>
          </a:xfrm>
          <a:prstGeom prst="ellipse">
            <a:avLst/>
          </a:prstGeom>
          <a:solidFill>
            <a:srgbClr val="12A566"/>
          </a:solidFill>
          <a:ln/>
        </p:spPr>
      </p:sp>
      <p:sp>
        <p:nvSpPr>
          <p:cNvPr id="56" name="Text 54"/>
          <p:cNvSpPr txBox="1"/>
          <p:nvPr/>
        </p:nvSpPr>
        <p:spPr>
          <a:xfrm>
            <a:off x="4498848" y="370816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104%</a:t>
            </a:r>
            <a:pPr algn="r" indent="0" marL="0">
              <a:buNone/>
            </a:pPr>
            <a:r>
              <a:rPr lang="en-US" sz="1300" dirty="0">
                <a:solidFill>
                  <a:srgbClr val="0B2C4A"/>
                </a:solidFill>
                <a:latin typeface="Inter" pitchFamily="34" charset="0"/>
                <a:ea typeface="Inter" pitchFamily="34" charset="-122"/>
                <a:cs typeface="Inter" pitchFamily="34" charset="-120"/>
              </a:rPr>
              <a:t>  153%</a:t>
            </a:r>
            <a:endParaRPr lang="en-US" sz="1300" dirty="0"/>
          </a:p>
        </p:txBody>
      </p:sp>
      <p:sp>
        <p:nvSpPr>
          <p:cNvPr id="57" name="Text 55"/>
          <p:cNvSpPr txBox="1"/>
          <p:nvPr/>
        </p:nvSpPr>
        <p:spPr>
          <a:xfrm>
            <a:off x="658368" y="39545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58" name="Shape 56"/>
          <p:cNvSpPr/>
          <p:nvPr/>
        </p:nvSpPr>
        <p:spPr>
          <a:xfrm>
            <a:off x="3326693" y="4063970"/>
            <a:ext cx="718840" cy="27432"/>
          </a:xfrm>
          <a:prstGeom prst="rect">
            <a:avLst/>
          </a:prstGeom>
          <a:solidFill>
            <a:srgbClr val="D9D9D9"/>
          </a:solidFill>
          <a:ln/>
        </p:spPr>
      </p:sp>
      <p:sp>
        <p:nvSpPr>
          <p:cNvPr id="59" name="Shape 57"/>
          <p:cNvSpPr/>
          <p:nvPr/>
        </p:nvSpPr>
        <p:spPr>
          <a:xfrm>
            <a:off x="3967809" y="3999962"/>
            <a:ext cx="155448" cy="155448"/>
          </a:xfrm>
          <a:prstGeom prst="ellipse">
            <a:avLst/>
          </a:prstGeom>
          <a:solidFill>
            <a:srgbClr val="0B2C4A"/>
          </a:solidFill>
          <a:ln/>
        </p:spPr>
      </p:sp>
      <p:sp>
        <p:nvSpPr>
          <p:cNvPr id="60" name="Shape 58"/>
          <p:cNvSpPr/>
          <p:nvPr/>
        </p:nvSpPr>
        <p:spPr>
          <a:xfrm>
            <a:off x="3248969" y="3999962"/>
            <a:ext cx="155448" cy="155448"/>
          </a:xfrm>
          <a:prstGeom prst="ellipse">
            <a:avLst/>
          </a:prstGeom>
          <a:solidFill>
            <a:srgbClr val="12A566"/>
          </a:solidFill>
          <a:ln/>
        </p:spPr>
      </p:sp>
      <p:sp>
        <p:nvSpPr>
          <p:cNvPr id="61" name="Text 59"/>
          <p:cNvSpPr txBox="1"/>
          <p:nvPr/>
        </p:nvSpPr>
        <p:spPr>
          <a:xfrm>
            <a:off x="4498848" y="395451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103%</a:t>
            </a:r>
            <a:pPr algn="r" indent="0" marL="0">
              <a:buNone/>
            </a:pPr>
            <a:r>
              <a:rPr lang="en-US" sz="1300" dirty="0">
                <a:solidFill>
                  <a:srgbClr val="0B2C4A"/>
                </a:solidFill>
                <a:latin typeface="Inter" pitchFamily="34" charset="0"/>
                <a:ea typeface="Inter" pitchFamily="34" charset="-122"/>
                <a:cs typeface="Inter" pitchFamily="34" charset="-120"/>
              </a:rPr>
              <a:t>  164%</a:t>
            </a:r>
            <a:endParaRPr lang="en-US" sz="1300" dirty="0"/>
          </a:p>
        </p:txBody>
      </p:sp>
      <p:sp>
        <p:nvSpPr>
          <p:cNvPr id="62" name="Text 60"/>
          <p:cNvSpPr txBox="1"/>
          <p:nvPr/>
        </p:nvSpPr>
        <p:spPr>
          <a:xfrm>
            <a:off x="658368" y="42008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63" name="Shape 61"/>
          <p:cNvSpPr/>
          <p:nvPr/>
        </p:nvSpPr>
        <p:spPr>
          <a:xfrm>
            <a:off x="3315137" y="4310320"/>
            <a:ext cx="576560" cy="27432"/>
          </a:xfrm>
          <a:prstGeom prst="rect">
            <a:avLst/>
          </a:prstGeom>
          <a:solidFill>
            <a:srgbClr val="D9D9D9"/>
          </a:solidFill>
          <a:ln/>
        </p:spPr>
      </p:sp>
      <p:sp>
        <p:nvSpPr>
          <p:cNvPr id="64" name="Shape 62"/>
          <p:cNvSpPr/>
          <p:nvPr/>
        </p:nvSpPr>
        <p:spPr>
          <a:xfrm>
            <a:off x="3813973" y="4246312"/>
            <a:ext cx="155448" cy="155448"/>
          </a:xfrm>
          <a:prstGeom prst="ellipse">
            <a:avLst/>
          </a:prstGeom>
          <a:solidFill>
            <a:srgbClr val="0B2C4A"/>
          </a:solidFill>
          <a:ln/>
        </p:spPr>
      </p:sp>
      <p:sp>
        <p:nvSpPr>
          <p:cNvPr id="65" name="Shape 63"/>
          <p:cNvSpPr/>
          <p:nvPr/>
        </p:nvSpPr>
        <p:spPr>
          <a:xfrm>
            <a:off x="3237413" y="4246312"/>
            <a:ext cx="155448" cy="155448"/>
          </a:xfrm>
          <a:prstGeom prst="ellipse">
            <a:avLst/>
          </a:prstGeom>
          <a:solidFill>
            <a:srgbClr val="12A566"/>
          </a:solidFill>
          <a:ln/>
        </p:spPr>
      </p:sp>
      <p:sp>
        <p:nvSpPr>
          <p:cNvPr id="66" name="Text 64"/>
          <p:cNvSpPr txBox="1"/>
          <p:nvPr/>
        </p:nvSpPr>
        <p:spPr>
          <a:xfrm>
            <a:off x="4498848" y="420086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102%</a:t>
            </a:r>
            <a:pPr algn="r" indent="0" marL="0">
              <a:buNone/>
            </a:pPr>
            <a:r>
              <a:rPr lang="en-US" sz="1300" dirty="0">
                <a:solidFill>
                  <a:srgbClr val="0B2C4A"/>
                </a:solidFill>
                <a:latin typeface="Inter" pitchFamily="34" charset="0"/>
                <a:ea typeface="Inter" pitchFamily="34" charset="-122"/>
                <a:cs typeface="Inter" pitchFamily="34" charset="-120"/>
              </a:rPr>
              <a:t>  151%</a:t>
            </a:r>
            <a:endParaRPr lang="en-US" sz="1300" dirty="0"/>
          </a:p>
        </p:txBody>
      </p:sp>
      <p:sp>
        <p:nvSpPr>
          <p:cNvPr id="67" name="Text 65"/>
          <p:cNvSpPr txBox="1"/>
          <p:nvPr/>
        </p:nvSpPr>
        <p:spPr>
          <a:xfrm>
            <a:off x="658368" y="44472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68" name="Shape 66"/>
          <p:cNvSpPr/>
          <p:nvPr/>
        </p:nvSpPr>
        <p:spPr>
          <a:xfrm>
            <a:off x="3305834" y="4556670"/>
            <a:ext cx="253206" cy="27432"/>
          </a:xfrm>
          <a:prstGeom prst="rect">
            <a:avLst/>
          </a:prstGeom>
          <a:solidFill>
            <a:srgbClr val="D9D9D9"/>
          </a:solidFill>
          <a:ln/>
        </p:spPr>
      </p:sp>
      <p:sp>
        <p:nvSpPr>
          <p:cNvPr id="69" name="Shape 67"/>
          <p:cNvSpPr/>
          <p:nvPr/>
        </p:nvSpPr>
        <p:spPr>
          <a:xfrm>
            <a:off x="3481317" y="4492662"/>
            <a:ext cx="155448" cy="155448"/>
          </a:xfrm>
          <a:prstGeom prst="ellipse">
            <a:avLst/>
          </a:prstGeom>
          <a:solidFill>
            <a:srgbClr val="0B2C4A"/>
          </a:solidFill>
          <a:ln/>
        </p:spPr>
      </p:sp>
      <p:sp>
        <p:nvSpPr>
          <p:cNvPr id="70" name="Shape 68"/>
          <p:cNvSpPr/>
          <p:nvPr/>
        </p:nvSpPr>
        <p:spPr>
          <a:xfrm>
            <a:off x="3228110" y="4492662"/>
            <a:ext cx="155448" cy="155448"/>
          </a:xfrm>
          <a:prstGeom prst="ellipse">
            <a:avLst/>
          </a:prstGeom>
          <a:solidFill>
            <a:srgbClr val="12A566"/>
          </a:solidFill>
          <a:ln/>
        </p:spPr>
      </p:sp>
      <p:sp>
        <p:nvSpPr>
          <p:cNvPr id="71" name="Text 69"/>
          <p:cNvSpPr txBox="1"/>
          <p:nvPr/>
        </p:nvSpPr>
        <p:spPr>
          <a:xfrm>
            <a:off x="4498848" y="444721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102%</a:t>
            </a:r>
            <a:pPr algn="r" indent="0" marL="0">
              <a:buNone/>
            </a:pPr>
            <a:r>
              <a:rPr lang="en-US" sz="1300" dirty="0">
                <a:solidFill>
                  <a:srgbClr val="0B2C4A"/>
                </a:solidFill>
                <a:latin typeface="Inter" pitchFamily="34" charset="0"/>
                <a:ea typeface="Inter" pitchFamily="34" charset="-122"/>
                <a:cs typeface="Inter" pitchFamily="34" charset="-120"/>
              </a:rPr>
              <a:t>  123%</a:t>
            </a:r>
            <a:endParaRPr lang="en-US" sz="1300" dirty="0"/>
          </a:p>
        </p:txBody>
      </p:sp>
      <p:sp>
        <p:nvSpPr>
          <p:cNvPr id="72" name="Text 70"/>
          <p:cNvSpPr txBox="1"/>
          <p:nvPr/>
        </p:nvSpPr>
        <p:spPr>
          <a:xfrm>
            <a:off x="658368" y="46935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73" name="Shape 71"/>
          <p:cNvSpPr/>
          <p:nvPr/>
        </p:nvSpPr>
        <p:spPr>
          <a:xfrm>
            <a:off x="3267627" y="4803020"/>
            <a:ext cx="968031" cy="27432"/>
          </a:xfrm>
          <a:prstGeom prst="rect">
            <a:avLst/>
          </a:prstGeom>
          <a:solidFill>
            <a:srgbClr val="D9D9D9"/>
          </a:solidFill>
          <a:ln/>
        </p:spPr>
      </p:sp>
      <p:sp>
        <p:nvSpPr>
          <p:cNvPr id="74" name="Shape 72"/>
          <p:cNvSpPr/>
          <p:nvPr/>
        </p:nvSpPr>
        <p:spPr>
          <a:xfrm>
            <a:off x="4157934" y="4739012"/>
            <a:ext cx="155448" cy="155448"/>
          </a:xfrm>
          <a:prstGeom prst="ellipse">
            <a:avLst/>
          </a:prstGeom>
          <a:solidFill>
            <a:srgbClr val="0B2C4A"/>
          </a:solidFill>
          <a:ln/>
        </p:spPr>
      </p:sp>
      <p:sp>
        <p:nvSpPr>
          <p:cNvPr id="75" name="Shape 73"/>
          <p:cNvSpPr/>
          <p:nvPr/>
        </p:nvSpPr>
        <p:spPr>
          <a:xfrm>
            <a:off x="3189903" y="4739012"/>
            <a:ext cx="155448" cy="155448"/>
          </a:xfrm>
          <a:prstGeom prst="ellipse">
            <a:avLst/>
          </a:prstGeom>
          <a:solidFill>
            <a:srgbClr val="12A566"/>
          </a:solidFill>
          <a:ln/>
        </p:spPr>
      </p:sp>
      <p:sp>
        <p:nvSpPr>
          <p:cNvPr id="76" name="Text 74"/>
          <p:cNvSpPr txBox="1"/>
          <p:nvPr/>
        </p:nvSpPr>
        <p:spPr>
          <a:xfrm>
            <a:off x="4498848" y="469356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98%</a:t>
            </a:r>
            <a:pPr algn="r" indent="0" marL="0">
              <a:buNone/>
            </a:pPr>
            <a:r>
              <a:rPr lang="en-US" sz="1300" dirty="0">
                <a:solidFill>
                  <a:srgbClr val="0B2C4A"/>
                </a:solidFill>
                <a:latin typeface="Inter" pitchFamily="34" charset="0"/>
                <a:ea typeface="Inter" pitchFamily="34" charset="-122"/>
                <a:cs typeface="Inter" pitchFamily="34" charset="-120"/>
              </a:rPr>
              <a:t>  179%</a:t>
            </a:r>
            <a:endParaRPr lang="en-US" sz="1300" dirty="0"/>
          </a:p>
        </p:txBody>
      </p:sp>
      <p:sp>
        <p:nvSpPr>
          <p:cNvPr id="77" name="Text 75"/>
          <p:cNvSpPr txBox="1"/>
          <p:nvPr/>
        </p:nvSpPr>
        <p:spPr>
          <a:xfrm>
            <a:off x="658368" y="493991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78" name="Shape 76"/>
          <p:cNvSpPr/>
          <p:nvPr/>
        </p:nvSpPr>
        <p:spPr>
          <a:xfrm>
            <a:off x="3249769" y="5049371"/>
            <a:ext cx="416296" cy="27432"/>
          </a:xfrm>
          <a:prstGeom prst="rect">
            <a:avLst/>
          </a:prstGeom>
          <a:solidFill>
            <a:srgbClr val="D9D9D9"/>
          </a:solidFill>
          <a:ln/>
        </p:spPr>
      </p:sp>
      <p:sp>
        <p:nvSpPr>
          <p:cNvPr id="79" name="Shape 77"/>
          <p:cNvSpPr/>
          <p:nvPr/>
        </p:nvSpPr>
        <p:spPr>
          <a:xfrm>
            <a:off x="3588341" y="4985363"/>
            <a:ext cx="155448" cy="155448"/>
          </a:xfrm>
          <a:prstGeom prst="ellipse">
            <a:avLst/>
          </a:prstGeom>
          <a:solidFill>
            <a:srgbClr val="0B2C4A"/>
          </a:solidFill>
          <a:ln/>
        </p:spPr>
      </p:sp>
      <p:sp>
        <p:nvSpPr>
          <p:cNvPr id="80" name="Shape 78"/>
          <p:cNvSpPr/>
          <p:nvPr/>
        </p:nvSpPr>
        <p:spPr>
          <a:xfrm>
            <a:off x="3172045" y="4985363"/>
            <a:ext cx="155448" cy="155448"/>
          </a:xfrm>
          <a:prstGeom prst="ellipse">
            <a:avLst/>
          </a:prstGeom>
          <a:solidFill>
            <a:srgbClr val="12A566"/>
          </a:solidFill>
          <a:ln/>
        </p:spPr>
      </p:sp>
      <p:sp>
        <p:nvSpPr>
          <p:cNvPr id="81" name="Text 79"/>
          <p:cNvSpPr txBox="1"/>
          <p:nvPr/>
        </p:nvSpPr>
        <p:spPr>
          <a:xfrm>
            <a:off x="4498848" y="4939912"/>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97%</a:t>
            </a:r>
            <a:pPr algn="r" indent="0" marL="0">
              <a:buNone/>
            </a:pPr>
            <a:r>
              <a:rPr lang="en-US" sz="1300" dirty="0">
                <a:solidFill>
                  <a:srgbClr val="0B2C4A"/>
                </a:solidFill>
                <a:latin typeface="Inter" pitchFamily="34" charset="0"/>
                <a:ea typeface="Inter" pitchFamily="34" charset="-122"/>
                <a:cs typeface="Inter" pitchFamily="34" charset="-120"/>
              </a:rPr>
              <a:t>  132%</a:t>
            </a:r>
            <a:endParaRPr lang="en-US" sz="1300" dirty="0"/>
          </a:p>
        </p:txBody>
      </p:sp>
      <p:sp>
        <p:nvSpPr>
          <p:cNvPr id="82" name="Text 80"/>
          <p:cNvSpPr txBox="1"/>
          <p:nvPr/>
        </p:nvSpPr>
        <p:spPr>
          <a:xfrm>
            <a:off x="658368" y="518626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83" name="Shape 81"/>
          <p:cNvSpPr/>
          <p:nvPr/>
        </p:nvSpPr>
        <p:spPr>
          <a:xfrm>
            <a:off x="3225383" y="5295721"/>
            <a:ext cx="363571" cy="27432"/>
          </a:xfrm>
          <a:prstGeom prst="rect">
            <a:avLst/>
          </a:prstGeom>
          <a:solidFill>
            <a:srgbClr val="D9D9D9"/>
          </a:solidFill>
          <a:ln/>
        </p:spPr>
      </p:sp>
      <p:sp>
        <p:nvSpPr>
          <p:cNvPr id="84" name="Shape 82"/>
          <p:cNvSpPr/>
          <p:nvPr/>
        </p:nvSpPr>
        <p:spPr>
          <a:xfrm>
            <a:off x="3511230" y="5231713"/>
            <a:ext cx="155448" cy="155448"/>
          </a:xfrm>
          <a:prstGeom prst="ellipse">
            <a:avLst/>
          </a:prstGeom>
          <a:solidFill>
            <a:srgbClr val="0B2C4A"/>
          </a:solidFill>
          <a:ln/>
        </p:spPr>
      </p:sp>
      <p:sp>
        <p:nvSpPr>
          <p:cNvPr id="85" name="Shape 83"/>
          <p:cNvSpPr/>
          <p:nvPr/>
        </p:nvSpPr>
        <p:spPr>
          <a:xfrm>
            <a:off x="3147659" y="5231713"/>
            <a:ext cx="155448" cy="155448"/>
          </a:xfrm>
          <a:prstGeom prst="ellipse">
            <a:avLst/>
          </a:prstGeom>
          <a:solidFill>
            <a:srgbClr val="12A566"/>
          </a:solidFill>
          <a:ln/>
        </p:spPr>
      </p:sp>
      <p:sp>
        <p:nvSpPr>
          <p:cNvPr id="86" name="Text 84"/>
          <p:cNvSpPr txBox="1"/>
          <p:nvPr/>
        </p:nvSpPr>
        <p:spPr>
          <a:xfrm>
            <a:off x="4498848" y="5186262"/>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95%</a:t>
            </a:r>
            <a:pPr algn="r" indent="0" marL="0">
              <a:buNone/>
            </a:pPr>
            <a:r>
              <a:rPr lang="en-US" sz="1300" dirty="0">
                <a:solidFill>
                  <a:srgbClr val="0B2C4A"/>
                </a:solidFill>
                <a:latin typeface="Inter" pitchFamily="34" charset="0"/>
                <a:ea typeface="Inter" pitchFamily="34" charset="-122"/>
                <a:cs typeface="Inter" pitchFamily="34" charset="-120"/>
              </a:rPr>
              <a:t>  125%</a:t>
            </a:r>
            <a:endParaRPr lang="en-US" sz="1300" dirty="0"/>
          </a:p>
        </p:txBody>
      </p:sp>
      <p:sp>
        <p:nvSpPr>
          <p:cNvPr id="87" name="Text 85"/>
          <p:cNvSpPr txBox="1"/>
          <p:nvPr/>
        </p:nvSpPr>
        <p:spPr>
          <a:xfrm>
            <a:off x="658368" y="543261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88" name="Shape 86"/>
          <p:cNvSpPr/>
          <p:nvPr/>
        </p:nvSpPr>
        <p:spPr>
          <a:xfrm>
            <a:off x="3193370" y="5542071"/>
            <a:ext cx="267102" cy="27432"/>
          </a:xfrm>
          <a:prstGeom prst="rect">
            <a:avLst/>
          </a:prstGeom>
          <a:solidFill>
            <a:srgbClr val="D9D9D9"/>
          </a:solidFill>
          <a:ln/>
        </p:spPr>
      </p:sp>
      <p:sp>
        <p:nvSpPr>
          <p:cNvPr id="89" name="Shape 87"/>
          <p:cNvSpPr/>
          <p:nvPr/>
        </p:nvSpPr>
        <p:spPr>
          <a:xfrm>
            <a:off x="3382748" y="5478063"/>
            <a:ext cx="155448" cy="155448"/>
          </a:xfrm>
          <a:prstGeom prst="ellipse">
            <a:avLst/>
          </a:prstGeom>
          <a:solidFill>
            <a:srgbClr val="0B2C4A"/>
          </a:solidFill>
          <a:ln/>
        </p:spPr>
      </p:sp>
      <p:sp>
        <p:nvSpPr>
          <p:cNvPr id="90" name="Shape 88"/>
          <p:cNvSpPr/>
          <p:nvPr/>
        </p:nvSpPr>
        <p:spPr>
          <a:xfrm>
            <a:off x="3115646" y="5478063"/>
            <a:ext cx="155448" cy="155448"/>
          </a:xfrm>
          <a:prstGeom prst="ellipse">
            <a:avLst/>
          </a:prstGeom>
          <a:solidFill>
            <a:srgbClr val="12A566"/>
          </a:solidFill>
          <a:ln/>
        </p:spPr>
      </p:sp>
      <p:sp>
        <p:nvSpPr>
          <p:cNvPr id="91" name="Text 89"/>
          <p:cNvSpPr txBox="1"/>
          <p:nvPr/>
        </p:nvSpPr>
        <p:spPr>
          <a:xfrm>
            <a:off x="4498848" y="5432612"/>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92%</a:t>
            </a:r>
            <a:pPr algn="r" indent="0" marL="0">
              <a:buNone/>
            </a:pPr>
            <a:r>
              <a:rPr lang="en-US" sz="1300" dirty="0">
                <a:solidFill>
                  <a:srgbClr val="0B2C4A"/>
                </a:solidFill>
                <a:latin typeface="Inter" pitchFamily="34" charset="0"/>
                <a:ea typeface="Inter" pitchFamily="34" charset="-122"/>
                <a:cs typeface="Inter" pitchFamily="34" charset="-120"/>
              </a:rPr>
              <a:t>  115%</a:t>
            </a:r>
            <a:endParaRPr lang="en-US" sz="1300" dirty="0"/>
          </a:p>
        </p:txBody>
      </p:sp>
      <p:sp>
        <p:nvSpPr>
          <p:cNvPr id="92" name="Text 90"/>
          <p:cNvSpPr txBox="1"/>
          <p:nvPr/>
        </p:nvSpPr>
        <p:spPr>
          <a:xfrm>
            <a:off x="658368" y="567896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93" name="Shape 91"/>
          <p:cNvSpPr/>
          <p:nvPr/>
        </p:nvSpPr>
        <p:spPr>
          <a:xfrm>
            <a:off x="3180836" y="5788421"/>
            <a:ext cx="479504" cy="27432"/>
          </a:xfrm>
          <a:prstGeom prst="rect">
            <a:avLst/>
          </a:prstGeom>
          <a:solidFill>
            <a:srgbClr val="D9D9D9"/>
          </a:solidFill>
          <a:ln/>
        </p:spPr>
      </p:sp>
      <p:sp>
        <p:nvSpPr>
          <p:cNvPr id="94" name="Shape 92"/>
          <p:cNvSpPr/>
          <p:nvPr/>
        </p:nvSpPr>
        <p:spPr>
          <a:xfrm>
            <a:off x="3582616" y="5724413"/>
            <a:ext cx="155448" cy="155448"/>
          </a:xfrm>
          <a:prstGeom prst="ellipse">
            <a:avLst/>
          </a:prstGeom>
          <a:solidFill>
            <a:srgbClr val="0B2C4A"/>
          </a:solidFill>
          <a:ln/>
        </p:spPr>
      </p:sp>
      <p:sp>
        <p:nvSpPr>
          <p:cNvPr id="95" name="Shape 93"/>
          <p:cNvSpPr/>
          <p:nvPr/>
        </p:nvSpPr>
        <p:spPr>
          <a:xfrm>
            <a:off x="3103112" y="5724413"/>
            <a:ext cx="155448" cy="155448"/>
          </a:xfrm>
          <a:prstGeom prst="ellipse">
            <a:avLst/>
          </a:prstGeom>
          <a:solidFill>
            <a:srgbClr val="12A566"/>
          </a:solidFill>
          <a:ln/>
        </p:spPr>
      </p:sp>
      <p:sp>
        <p:nvSpPr>
          <p:cNvPr id="96" name="Text 94"/>
          <p:cNvSpPr txBox="1"/>
          <p:nvPr/>
        </p:nvSpPr>
        <p:spPr>
          <a:xfrm>
            <a:off x="4498848" y="5678962"/>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91%</a:t>
            </a:r>
            <a:pPr algn="r" indent="0" marL="0">
              <a:buNone/>
            </a:pPr>
            <a:r>
              <a:rPr lang="en-US" sz="1300" dirty="0">
                <a:solidFill>
                  <a:srgbClr val="0B2C4A"/>
                </a:solidFill>
                <a:latin typeface="Inter" pitchFamily="34" charset="0"/>
                <a:ea typeface="Inter" pitchFamily="34" charset="-122"/>
                <a:cs typeface="Inter" pitchFamily="34" charset="-120"/>
              </a:rPr>
              <a:t>  131%</a:t>
            </a:r>
            <a:endParaRPr lang="en-US" sz="1300" dirty="0"/>
          </a:p>
        </p:txBody>
      </p:sp>
      <p:sp>
        <p:nvSpPr>
          <p:cNvPr id="97" name="Text 95"/>
          <p:cNvSpPr txBox="1"/>
          <p:nvPr/>
        </p:nvSpPr>
        <p:spPr>
          <a:xfrm>
            <a:off x="6208776" y="17373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98" name="Shape 96"/>
          <p:cNvSpPr/>
          <p:nvPr/>
        </p:nvSpPr>
        <p:spPr>
          <a:xfrm>
            <a:off x="8730696" y="1846819"/>
            <a:ext cx="492337" cy="27432"/>
          </a:xfrm>
          <a:prstGeom prst="rect">
            <a:avLst/>
          </a:prstGeom>
          <a:solidFill>
            <a:srgbClr val="D9D9D9"/>
          </a:solidFill>
          <a:ln/>
        </p:spPr>
      </p:sp>
      <p:sp>
        <p:nvSpPr>
          <p:cNvPr id="99" name="Shape 97"/>
          <p:cNvSpPr/>
          <p:nvPr/>
        </p:nvSpPr>
        <p:spPr>
          <a:xfrm>
            <a:off x="9145308" y="1782811"/>
            <a:ext cx="155448" cy="155448"/>
          </a:xfrm>
          <a:prstGeom prst="ellipse">
            <a:avLst/>
          </a:prstGeom>
          <a:solidFill>
            <a:srgbClr val="0B2C4A"/>
          </a:solidFill>
          <a:ln/>
        </p:spPr>
      </p:sp>
      <p:sp>
        <p:nvSpPr>
          <p:cNvPr id="100" name="Shape 98"/>
          <p:cNvSpPr/>
          <p:nvPr/>
        </p:nvSpPr>
        <p:spPr>
          <a:xfrm>
            <a:off x="8652972" y="1782811"/>
            <a:ext cx="155448" cy="155448"/>
          </a:xfrm>
          <a:prstGeom prst="ellipse">
            <a:avLst/>
          </a:prstGeom>
          <a:solidFill>
            <a:srgbClr val="12A566"/>
          </a:solidFill>
          <a:ln/>
        </p:spPr>
      </p:sp>
      <p:sp>
        <p:nvSpPr>
          <p:cNvPr id="101" name="Text 99"/>
          <p:cNvSpPr txBox="1"/>
          <p:nvPr/>
        </p:nvSpPr>
        <p:spPr>
          <a:xfrm>
            <a:off x="10049256" y="17373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91%</a:t>
            </a:r>
            <a:pPr algn="r" indent="0" marL="0">
              <a:buNone/>
            </a:pPr>
            <a:r>
              <a:rPr lang="en-US" sz="1300" dirty="0">
                <a:solidFill>
                  <a:srgbClr val="0B2C4A"/>
                </a:solidFill>
                <a:latin typeface="Inter" pitchFamily="34" charset="0"/>
                <a:ea typeface="Inter" pitchFamily="34" charset="-122"/>
                <a:cs typeface="Inter" pitchFamily="34" charset="-120"/>
              </a:rPr>
              <a:t>  132%</a:t>
            </a:r>
            <a:endParaRPr lang="en-US" sz="1300" dirty="0"/>
          </a:p>
        </p:txBody>
      </p:sp>
      <p:sp>
        <p:nvSpPr>
          <p:cNvPr id="102" name="Text 100"/>
          <p:cNvSpPr txBox="1"/>
          <p:nvPr/>
        </p:nvSpPr>
        <p:spPr>
          <a:xfrm>
            <a:off x="6208776" y="198371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03" name="Shape 101"/>
          <p:cNvSpPr/>
          <p:nvPr/>
        </p:nvSpPr>
        <p:spPr>
          <a:xfrm>
            <a:off x="8729573" y="2093169"/>
            <a:ext cx="521449" cy="27432"/>
          </a:xfrm>
          <a:prstGeom prst="rect">
            <a:avLst/>
          </a:prstGeom>
          <a:solidFill>
            <a:srgbClr val="D9D9D9"/>
          </a:solidFill>
          <a:ln/>
        </p:spPr>
      </p:sp>
      <p:sp>
        <p:nvSpPr>
          <p:cNvPr id="104" name="Shape 102"/>
          <p:cNvSpPr/>
          <p:nvPr/>
        </p:nvSpPr>
        <p:spPr>
          <a:xfrm>
            <a:off x="9173299" y="2029161"/>
            <a:ext cx="155448" cy="155448"/>
          </a:xfrm>
          <a:prstGeom prst="ellipse">
            <a:avLst/>
          </a:prstGeom>
          <a:solidFill>
            <a:srgbClr val="0B2C4A"/>
          </a:solidFill>
          <a:ln/>
        </p:spPr>
      </p:sp>
      <p:sp>
        <p:nvSpPr>
          <p:cNvPr id="105" name="Shape 103"/>
          <p:cNvSpPr/>
          <p:nvPr/>
        </p:nvSpPr>
        <p:spPr>
          <a:xfrm>
            <a:off x="8651849" y="2029161"/>
            <a:ext cx="155448" cy="155448"/>
          </a:xfrm>
          <a:prstGeom prst="ellipse">
            <a:avLst/>
          </a:prstGeom>
          <a:solidFill>
            <a:srgbClr val="12A566"/>
          </a:solidFill>
          <a:ln/>
        </p:spPr>
      </p:sp>
      <p:sp>
        <p:nvSpPr>
          <p:cNvPr id="106" name="Text 104"/>
          <p:cNvSpPr txBox="1"/>
          <p:nvPr/>
        </p:nvSpPr>
        <p:spPr>
          <a:xfrm>
            <a:off x="10049256" y="198371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91%</a:t>
            </a:r>
            <a:pPr algn="r" indent="0" marL="0">
              <a:buNone/>
            </a:pPr>
            <a:r>
              <a:rPr lang="en-US" sz="1300" dirty="0">
                <a:solidFill>
                  <a:srgbClr val="0B2C4A"/>
                </a:solidFill>
                <a:latin typeface="Inter" pitchFamily="34" charset="0"/>
                <a:ea typeface="Inter" pitchFamily="34" charset="-122"/>
                <a:cs typeface="Inter" pitchFamily="34" charset="-120"/>
              </a:rPr>
              <a:t>  135%</a:t>
            </a:r>
            <a:endParaRPr lang="en-US" sz="1300" dirty="0"/>
          </a:p>
        </p:txBody>
      </p:sp>
      <p:sp>
        <p:nvSpPr>
          <p:cNvPr id="107" name="Text 105"/>
          <p:cNvSpPr txBox="1"/>
          <p:nvPr/>
        </p:nvSpPr>
        <p:spPr>
          <a:xfrm>
            <a:off x="6208776" y="22300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08" name="Shape 106"/>
          <p:cNvSpPr/>
          <p:nvPr/>
        </p:nvSpPr>
        <p:spPr>
          <a:xfrm>
            <a:off x="8689828" y="2339519"/>
            <a:ext cx="659446" cy="27432"/>
          </a:xfrm>
          <a:prstGeom prst="rect">
            <a:avLst/>
          </a:prstGeom>
          <a:solidFill>
            <a:srgbClr val="D9D9D9"/>
          </a:solidFill>
          <a:ln/>
        </p:spPr>
      </p:sp>
      <p:sp>
        <p:nvSpPr>
          <p:cNvPr id="109" name="Shape 107"/>
          <p:cNvSpPr/>
          <p:nvPr/>
        </p:nvSpPr>
        <p:spPr>
          <a:xfrm>
            <a:off x="9271550" y="2275511"/>
            <a:ext cx="155448" cy="155448"/>
          </a:xfrm>
          <a:prstGeom prst="ellipse">
            <a:avLst/>
          </a:prstGeom>
          <a:solidFill>
            <a:srgbClr val="0B2C4A"/>
          </a:solidFill>
          <a:ln/>
        </p:spPr>
      </p:sp>
      <p:sp>
        <p:nvSpPr>
          <p:cNvPr id="110" name="Shape 108"/>
          <p:cNvSpPr/>
          <p:nvPr/>
        </p:nvSpPr>
        <p:spPr>
          <a:xfrm>
            <a:off x="8612104" y="2275511"/>
            <a:ext cx="155448" cy="155448"/>
          </a:xfrm>
          <a:prstGeom prst="ellipse">
            <a:avLst/>
          </a:prstGeom>
          <a:solidFill>
            <a:srgbClr val="12A566"/>
          </a:solidFill>
          <a:ln/>
        </p:spPr>
      </p:sp>
      <p:sp>
        <p:nvSpPr>
          <p:cNvPr id="111" name="Text 109"/>
          <p:cNvSpPr txBox="1"/>
          <p:nvPr/>
        </p:nvSpPr>
        <p:spPr>
          <a:xfrm>
            <a:off x="10049256" y="22300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88%</a:t>
            </a:r>
            <a:pPr algn="r" indent="0" marL="0">
              <a:buNone/>
            </a:pPr>
            <a:r>
              <a:rPr lang="en-US" sz="1300" dirty="0">
                <a:solidFill>
                  <a:srgbClr val="0B2C4A"/>
                </a:solidFill>
                <a:latin typeface="Inter" pitchFamily="34" charset="0"/>
                <a:ea typeface="Inter" pitchFamily="34" charset="-122"/>
                <a:cs typeface="Inter" pitchFamily="34" charset="-120"/>
              </a:rPr>
              <a:t>  143%</a:t>
            </a:r>
            <a:endParaRPr lang="en-US" sz="1300" dirty="0"/>
          </a:p>
        </p:txBody>
      </p:sp>
      <p:sp>
        <p:nvSpPr>
          <p:cNvPr id="112" name="Text 110"/>
          <p:cNvSpPr txBox="1"/>
          <p:nvPr/>
        </p:nvSpPr>
        <p:spPr>
          <a:xfrm>
            <a:off x="6208776" y="247641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13" name="Shape 111"/>
          <p:cNvSpPr/>
          <p:nvPr/>
        </p:nvSpPr>
        <p:spPr>
          <a:xfrm>
            <a:off x="8640786" y="2585869"/>
            <a:ext cx="406163" cy="27432"/>
          </a:xfrm>
          <a:prstGeom prst="rect">
            <a:avLst/>
          </a:prstGeom>
          <a:solidFill>
            <a:srgbClr val="D9D9D9"/>
          </a:solidFill>
          <a:ln/>
        </p:spPr>
      </p:sp>
      <p:sp>
        <p:nvSpPr>
          <p:cNvPr id="114" name="Shape 112"/>
          <p:cNvSpPr/>
          <p:nvPr/>
        </p:nvSpPr>
        <p:spPr>
          <a:xfrm>
            <a:off x="8969225" y="2521861"/>
            <a:ext cx="155448" cy="155448"/>
          </a:xfrm>
          <a:prstGeom prst="ellipse">
            <a:avLst/>
          </a:prstGeom>
          <a:solidFill>
            <a:srgbClr val="0B2C4A"/>
          </a:solidFill>
          <a:ln/>
        </p:spPr>
      </p:sp>
      <p:sp>
        <p:nvSpPr>
          <p:cNvPr id="115" name="Shape 113"/>
          <p:cNvSpPr/>
          <p:nvPr/>
        </p:nvSpPr>
        <p:spPr>
          <a:xfrm>
            <a:off x="8563062" y="2521861"/>
            <a:ext cx="155448" cy="155448"/>
          </a:xfrm>
          <a:prstGeom prst="ellipse">
            <a:avLst/>
          </a:prstGeom>
          <a:solidFill>
            <a:srgbClr val="C2352F"/>
          </a:solidFill>
          <a:ln/>
        </p:spPr>
      </p:sp>
      <p:sp>
        <p:nvSpPr>
          <p:cNvPr id="116" name="Text 114"/>
          <p:cNvSpPr txBox="1"/>
          <p:nvPr/>
        </p:nvSpPr>
        <p:spPr>
          <a:xfrm>
            <a:off x="10049256" y="2476410"/>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84%</a:t>
            </a:r>
            <a:pPr algn="r" indent="0" marL="0">
              <a:buNone/>
            </a:pPr>
            <a:r>
              <a:rPr lang="en-US" sz="1300" dirty="0">
                <a:solidFill>
                  <a:srgbClr val="0B2C4A"/>
                </a:solidFill>
                <a:latin typeface="Inter" pitchFamily="34" charset="0"/>
                <a:ea typeface="Inter" pitchFamily="34" charset="-122"/>
                <a:cs typeface="Inter" pitchFamily="34" charset="-120"/>
              </a:rPr>
              <a:t>  118%</a:t>
            </a:r>
            <a:endParaRPr lang="en-US" sz="1300" dirty="0"/>
          </a:p>
        </p:txBody>
      </p:sp>
      <p:sp>
        <p:nvSpPr>
          <p:cNvPr id="117" name="Text 115"/>
          <p:cNvSpPr txBox="1"/>
          <p:nvPr/>
        </p:nvSpPr>
        <p:spPr>
          <a:xfrm>
            <a:off x="6208776" y="27227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18" name="Shape 116"/>
          <p:cNvSpPr/>
          <p:nvPr/>
        </p:nvSpPr>
        <p:spPr>
          <a:xfrm>
            <a:off x="8614372" y="2832220"/>
            <a:ext cx="174890" cy="27432"/>
          </a:xfrm>
          <a:prstGeom prst="rect">
            <a:avLst/>
          </a:prstGeom>
          <a:solidFill>
            <a:srgbClr val="D9D9D9"/>
          </a:solidFill>
          <a:ln/>
        </p:spPr>
      </p:sp>
      <p:sp>
        <p:nvSpPr>
          <p:cNvPr id="119" name="Shape 117"/>
          <p:cNvSpPr/>
          <p:nvPr/>
        </p:nvSpPr>
        <p:spPr>
          <a:xfrm>
            <a:off x="8711538" y="2768212"/>
            <a:ext cx="155448" cy="155448"/>
          </a:xfrm>
          <a:prstGeom prst="ellipse">
            <a:avLst/>
          </a:prstGeom>
          <a:solidFill>
            <a:srgbClr val="0B2C4A"/>
          </a:solidFill>
          <a:ln/>
        </p:spPr>
      </p:sp>
      <p:sp>
        <p:nvSpPr>
          <p:cNvPr id="120" name="Shape 118"/>
          <p:cNvSpPr/>
          <p:nvPr/>
        </p:nvSpPr>
        <p:spPr>
          <a:xfrm>
            <a:off x="8536648" y="2768212"/>
            <a:ext cx="155448" cy="155448"/>
          </a:xfrm>
          <a:prstGeom prst="ellipse">
            <a:avLst/>
          </a:prstGeom>
          <a:solidFill>
            <a:srgbClr val="C2352F"/>
          </a:solidFill>
          <a:ln/>
        </p:spPr>
      </p:sp>
      <p:sp>
        <p:nvSpPr>
          <p:cNvPr id="121" name="Text 119"/>
          <p:cNvSpPr txBox="1"/>
          <p:nvPr/>
        </p:nvSpPr>
        <p:spPr>
          <a:xfrm>
            <a:off x="10049256" y="2722760"/>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81%</a:t>
            </a:r>
            <a:pPr algn="r" indent="0" marL="0">
              <a:buNone/>
            </a:pPr>
            <a:r>
              <a:rPr lang="en-US" sz="1300" dirty="0">
                <a:solidFill>
                  <a:srgbClr val="0B2C4A"/>
                </a:solidFill>
                <a:latin typeface="Inter" pitchFamily="34" charset="0"/>
                <a:ea typeface="Inter" pitchFamily="34" charset="-122"/>
                <a:cs typeface="Inter" pitchFamily="34" charset="-120"/>
              </a:rPr>
              <a:t>  96%</a:t>
            </a:r>
            <a:endParaRPr lang="en-US" sz="1300" dirty="0"/>
          </a:p>
        </p:txBody>
      </p:sp>
      <p:sp>
        <p:nvSpPr>
          <p:cNvPr id="122" name="Text 120"/>
          <p:cNvSpPr txBox="1"/>
          <p:nvPr/>
        </p:nvSpPr>
        <p:spPr>
          <a:xfrm>
            <a:off x="6208776" y="29691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23" name="Shape 121"/>
          <p:cNvSpPr/>
          <p:nvPr/>
        </p:nvSpPr>
        <p:spPr>
          <a:xfrm>
            <a:off x="8583295" y="3078570"/>
            <a:ext cx="403087" cy="27432"/>
          </a:xfrm>
          <a:prstGeom prst="rect">
            <a:avLst/>
          </a:prstGeom>
          <a:solidFill>
            <a:srgbClr val="D9D9D9"/>
          </a:solidFill>
          <a:ln/>
        </p:spPr>
      </p:sp>
      <p:sp>
        <p:nvSpPr>
          <p:cNvPr id="124" name="Shape 122"/>
          <p:cNvSpPr/>
          <p:nvPr/>
        </p:nvSpPr>
        <p:spPr>
          <a:xfrm>
            <a:off x="8908658" y="3014562"/>
            <a:ext cx="155448" cy="155448"/>
          </a:xfrm>
          <a:prstGeom prst="ellipse">
            <a:avLst/>
          </a:prstGeom>
          <a:solidFill>
            <a:srgbClr val="0B2C4A"/>
          </a:solidFill>
          <a:ln/>
        </p:spPr>
      </p:sp>
      <p:sp>
        <p:nvSpPr>
          <p:cNvPr id="125" name="Shape 123"/>
          <p:cNvSpPr/>
          <p:nvPr/>
        </p:nvSpPr>
        <p:spPr>
          <a:xfrm>
            <a:off x="8505571" y="3014562"/>
            <a:ext cx="155448" cy="155448"/>
          </a:xfrm>
          <a:prstGeom prst="ellipse">
            <a:avLst/>
          </a:prstGeom>
          <a:solidFill>
            <a:srgbClr val="C2352F"/>
          </a:solidFill>
          <a:ln/>
        </p:spPr>
      </p:sp>
      <p:sp>
        <p:nvSpPr>
          <p:cNvPr id="126" name="Text 124"/>
          <p:cNvSpPr txBox="1"/>
          <p:nvPr/>
        </p:nvSpPr>
        <p:spPr>
          <a:xfrm>
            <a:off x="10049256" y="296911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79%</a:t>
            </a:r>
            <a:pPr algn="r" indent="0" marL="0">
              <a:buNone/>
            </a:pPr>
            <a:r>
              <a:rPr lang="en-US" sz="1300" dirty="0">
                <a:solidFill>
                  <a:srgbClr val="0B2C4A"/>
                </a:solidFill>
                <a:latin typeface="Inter" pitchFamily="34" charset="0"/>
                <a:ea typeface="Inter" pitchFamily="34" charset="-122"/>
                <a:cs typeface="Inter" pitchFamily="34" charset="-120"/>
              </a:rPr>
              <a:t>  113%</a:t>
            </a:r>
            <a:endParaRPr lang="en-US" sz="1300" dirty="0"/>
          </a:p>
        </p:txBody>
      </p:sp>
      <p:sp>
        <p:nvSpPr>
          <p:cNvPr id="127" name="Text 125"/>
          <p:cNvSpPr txBox="1"/>
          <p:nvPr/>
        </p:nvSpPr>
        <p:spPr>
          <a:xfrm>
            <a:off x="6208776" y="32154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28" name="Shape 126"/>
          <p:cNvSpPr/>
          <p:nvPr/>
        </p:nvSpPr>
        <p:spPr>
          <a:xfrm>
            <a:off x="8579993" y="3324920"/>
            <a:ext cx="626069" cy="27432"/>
          </a:xfrm>
          <a:prstGeom prst="rect">
            <a:avLst/>
          </a:prstGeom>
          <a:solidFill>
            <a:srgbClr val="D9D9D9"/>
          </a:solidFill>
          <a:ln/>
        </p:spPr>
      </p:sp>
      <p:sp>
        <p:nvSpPr>
          <p:cNvPr id="129" name="Shape 127"/>
          <p:cNvSpPr/>
          <p:nvPr/>
        </p:nvSpPr>
        <p:spPr>
          <a:xfrm>
            <a:off x="9128338" y="3260912"/>
            <a:ext cx="155448" cy="155448"/>
          </a:xfrm>
          <a:prstGeom prst="ellipse">
            <a:avLst/>
          </a:prstGeom>
          <a:solidFill>
            <a:srgbClr val="0B2C4A"/>
          </a:solidFill>
          <a:ln/>
        </p:spPr>
      </p:sp>
      <p:sp>
        <p:nvSpPr>
          <p:cNvPr id="130" name="Shape 128"/>
          <p:cNvSpPr/>
          <p:nvPr/>
        </p:nvSpPr>
        <p:spPr>
          <a:xfrm>
            <a:off x="8502269" y="3260912"/>
            <a:ext cx="155448" cy="155448"/>
          </a:xfrm>
          <a:prstGeom prst="ellipse">
            <a:avLst/>
          </a:prstGeom>
          <a:solidFill>
            <a:srgbClr val="C2352F"/>
          </a:solidFill>
          <a:ln/>
        </p:spPr>
      </p:sp>
      <p:sp>
        <p:nvSpPr>
          <p:cNvPr id="131" name="Text 129"/>
          <p:cNvSpPr txBox="1"/>
          <p:nvPr/>
        </p:nvSpPr>
        <p:spPr>
          <a:xfrm>
            <a:off x="10049256" y="321546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79%</a:t>
            </a:r>
            <a:pPr algn="r" indent="0" marL="0">
              <a:buNone/>
            </a:pPr>
            <a:r>
              <a:rPr lang="en-US" sz="1300" dirty="0">
                <a:solidFill>
                  <a:srgbClr val="0B2C4A"/>
                </a:solidFill>
                <a:latin typeface="Inter" pitchFamily="34" charset="0"/>
                <a:ea typeface="Inter" pitchFamily="34" charset="-122"/>
                <a:cs typeface="Inter" pitchFamily="34" charset="-120"/>
              </a:rPr>
              <a:t>  131%</a:t>
            </a:r>
            <a:endParaRPr lang="en-US" sz="1300" dirty="0"/>
          </a:p>
        </p:txBody>
      </p:sp>
      <p:sp>
        <p:nvSpPr>
          <p:cNvPr id="132" name="Text 130"/>
          <p:cNvSpPr txBox="1"/>
          <p:nvPr/>
        </p:nvSpPr>
        <p:spPr>
          <a:xfrm>
            <a:off x="6208776" y="34618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33" name="Shape 131"/>
          <p:cNvSpPr/>
          <p:nvPr/>
        </p:nvSpPr>
        <p:spPr>
          <a:xfrm>
            <a:off x="8559791" y="3571270"/>
            <a:ext cx="285552" cy="27432"/>
          </a:xfrm>
          <a:prstGeom prst="rect">
            <a:avLst/>
          </a:prstGeom>
          <a:solidFill>
            <a:srgbClr val="D9D9D9"/>
          </a:solidFill>
          <a:ln/>
        </p:spPr>
      </p:sp>
      <p:sp>
        <p:nvSpPr>
          <p:cNvPr id="134" name="Shape 132"/>
          <p:cNvSpPr/>
          <p:nvPr/>
        </p:nvSpPr>
        <p:spPr>
          <a:xfrm>
            <a:off x="8767619" y="3507262"/>
            <a:ext cx="155448" cy="155448"/>
          </a:xfrm>
          <a:prstGeom prst="ellipse">
            <a:avLst/>
          </a:prstGeom>
          <a:solidFill>
            <a:srgbClr val="0B2C4A"/>
          </a:solidFill>
          <a:ln/>
        </p:spPr>
      </p:sp>
      <p:sp>
        <p:nvSpPr>
          <p:cNvPr id="135" name="Shape 133"/>
          <p:cNvSpPr/>
          <p:nvPr/>
        </p:nvSpPr>
        <p:spPr>
          <a:xfrm>
            <a:off x="8482067" y="3507262"/>
            <a:ext cx="155448" cy="155448"/>
          </a:xfrm>
          <a:prstGeom prst="ellipse">
            <a:avLst/>
          </a:prstGeom>
          <a:solidFill>
            <a:srgbClr val="C2352F"/>
          </a:solidFill>
          <a:ln/>
        </p:spPr>
      </p:sp>
      <p:sp>
        <p:nvSpPr>
          <p:cNvPr id="136" name="Text 134"/>
          <p:cNvSpPr txBox="1"/>
          <p:nvPr/>
        </p:nvSpPr>
        <p:spPr>
          <a:xfrm>
            <a:off x="10049256" y="346181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77%</a:t>
            </a:r>
            <a:pPr algn="r" indent="0" marL="0">
              <a:buNone/>
            </a:pPr>
            <a:r>
              <a:rPr lang="en-US" sz="1300" dirty="0">
                <a:solidFill>
                  <a:srgbClr val="0B2C4A"/>
                </a:solidFill>
                <a:latin typeface="Inter" pitchFamily="34" charset="0"/>
                <a:ea typeface="Inter" pitchFamily="34" charset="-122"/>
                <a:cs typeface="Inter" pitchFamily="34" charset="-120"/>
              </a:rPr>
              <a:t>  101%</a:t>
            </a:r>
            <a:endParaRPr lang="en-US" sz="1300" dirty="0"/>
          </a:p>
        </p:txBody>
      </p:sp>
      <p:sp>
        <p:nvSpPr>
          <p:cNvPr id="137" name="Text 135"/>
          <p:cNvSpPr txBox="1"/>
          <p:nvPr/>
        </p:nvSpPr>
        <p:spPr>
          <a:xfrm>
            <a:off x="6208776" y="37081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38" name="Shape 136"/>
          <p:cNvSpPr/>
          <p:nvPr/>
        </p:nvSpPr>
        <p:spPr>
          <a:xfrm>
            <a:off x="8520910" y="3817620"/>
            <a:ext cx="360320" cy="27432"/>
          </a:xfrm>
          <a:prstGeom prst="rect">
            <a:avLst/>
          </a:prstGeom>
          <a:solidFill>
            <a:srgbClr val="D9D9D9"/>
          </a:solidFill>
          <a:ln/>
        </p:spPr>
      </p:sp>
      <p:sp>
        <p:nvSpPr>
          <p:cNvPr id="139" name="Shape 137"/>
          <p:cNvSpPr/>
          <p:nvPr/>
        </p:nvSpPr>
        <p:spPr>
          <a:xfrm>
            <a:off x="8803506" y="3753612"/>
            <a:ext cx="155448" cy="155448"/>
          </a:xfrm>
          <a:prstGeom prst="ellipse">
            <a:avLst/>
          </a:prstGeom>
          <a:solidFill>
            <a:srgbClr val="0B2C4A"/>
          </a:solidFill>
          <a:ln/>
        </p:spPr>
      </p:sp>
      <p:sp>
        <p:nvSpPr>
          <p:cNvPr id="140" name="Shape 138"/>
          <p:cNvSpPr/>
          <p:nvPr/>
        </p:nvSpPr>
        <p:spPr>
          <a:xfrm>
            <a:off x="8443186" y="3753612"/>
            <a:ext cx="155448" cy="155448"/>
          </a:xfrm>
          <a:prstGeom prst="ellipse">
            <a:avLst/>
          </a:prstGeom>
          <a:solidFill>
            <a:srgbClr val="C2352F"/>
          </a:solidFill>
          <a:ln/>
        </p:spPr>
      </p:sp>
      <p:sp>
        <p:nvSpPr>
          <p:cNvPr id="141" name="Text 139"/>
          <p:cNvSpPr txBox="1"/>
          <p:nvPr/>
        </p:nvSpPr>
        <p:spPr>
          <a:xfrm>
            <a:off x="10049256" y="370816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74%</a:t>
            </a:r>
            <a:pPr algn="r" indent="0" marL="0">
              <a:buNone/>
            </a:pPr>
            <a:r>
              <a:rPr lang="en-US" sz="1300" dirty="0">
                <a:solidFill>
                  <a:srgbClr val="0B2C4A"/>
                </a:solidFill>
                <a:latin typeface="Inter" pitchFamily="34" charset="0"/>
                <a:ea typeface="Inter" pitchFamily="34" charset="-122"/>
                <a:cs typeface="Inter" pitchFamily="34" charset="-120"/>
              </a:rPr>
              <a:t>  104%</a:t>
            </a:r>
            <a:endParaRPr lang="en-US" sz="1300" dirty="0"/>
          </a:p>
        </p:txBody>
      </p:sp>
      <p:sp>
        <p:nvSpPr>
          <p:cNvPr id="142" name="Text 140"/>
          <p:cNvSpPr txBox="1"/>
          <p:nvPr/>
        </p:nvSpPr>
        <p:spPr>
          <a:xfrm>
            <a:off x="6208776" y="39545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43" name="Shape 141"/>
          <p:cNvSpPr/>
          <p:nvPr/>
        </p:nvSpPr>
        <p:spPr>
          <a:xfrm>
            <a:off x="8506383" y="4063970"/>
            <a:ext cx="198400" cy="27432"/>
          </a:xfrm>
          <a:prstGeom prst="rect">
            <a:avLst/>
          </a:prstGeom>
          <a:solidFill>
            <a:srgbClr val="D9D9D9"/>
          </a:solidFill>
          <a:ln/>
        </p:spPr>
      </p:sp>
      <p:sp>
        <p:nvSpPr>
          <p:cNvPr id="144" name="Shape 142"/>
          <p:cNvSpPr/>
          <p:nvPr/>
        </p:nvSpPr>
        <p:spPr>
          <a:xfrm>
            <a:off x="8627059" y="3999962"/>
            <a:ext cx="155448" cy="155448"/>
          </a:xfrm>
          <a:prstGeom prst="ellipse">
            <a:avLst/>
          </a:prstGeom>
          <a:solidFill>
            <a:srgbClr val="0B2C4A"/>
          </a:solidFill>
          <a:ln/>
        </p:spPr>
      </p:sp>
      <p:sp>
        <p:nvSpPr>
          <p:cNvPr id="145" name="Shape 143"/>
          <p:cNvSpPr/>
          <p:nvPr/>
        </p:nvSpPr>
        <p:spPr>
          <a:xfrm>
            <a:off x="8428659" y="3999962"/>
            <a:ext cx="155448" cy="155448"/>
          </a:xfrm>
          <a:prstGeom prst="ellipse">
            <a:avLst/>
          </a:prstGeom>
          <a:solidFill>
            <a:srgbClr val="C2352F"/>
          </a:solidFill>
          <a:ln/>
        </p:spPr>
      </p:sp>
      <p:sp>
        <p:nvSpPr>
          <p:cNvPr id="146" name="Text 144"/>
          <p:cNvSpPr txBox="1"/>
          <p:nvPr/>
        </p:nvSpPr>
        <p:spPr>
          <a:xfrm>
            <a:off x="10049256" y="395451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72%</a:t>
            </a:r>
            <a:pPr algn="r" indent="0" marL="0">
              <a:buNone/>
            </a:pPr>
            <a:r>
              <a:rPr lang="en-US" sz="1300" dirty="0">
                <a:solidFill>
                  <a:srgbClr val="0B2C4A"/>
                </a:solidFill>
                <a:latin typeface="Inter" pitchFamily="34" charset="0"/>
                <a:ea typeface="Inter" pitchFamily="34" charset="-122"/>
                <a:cs typeface="Inter" pitchFamily="34" charset="-120"/>
              </a:rPr>
              <a:t>  89%</a:t>
            </a:r>
            <a:endParaRPr lang="en-US" sz="1300" dirty="0"/>
          </a:p>
        </p:txBody>
      </p:sp>
      <p:sp>
        <p:nvSpPr>
          <p:cNvPr id="147" name="Text 145"/>
          <p:cNvSpPr txBox="1"/>
          <p:nvPr/>
        </p:nvSpPr>
        <p:spPr>
          <a:xfrm>
            <a:off x="6208776" y="42008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48" name="Shape 146"/>
          <p:cNvSpPr/>
          <p:nvPr/>
        </p:nvSpPr>
        <p:spPr>
          <a:xfrm>
            <a:off x="8492153" y="4310320"/>
            <a:ext cx="689844" cy="27432"/>
          </a:xfrm>
          <a:prstGeom prst="rect">
            <a:avLst/>
          </a:prstGeom>
          <a:solidFill>
            <a:srgbClr val="D9D9D9"/>
          </a:solidFill>
          <a:ln/>
        </p:spPr>
      </p:sp>
      <p:sp>
        <p:nvSpPr>
          <p:cNvPr id="149" name="Shape 147"/>
          <p:cNvSpPr/>
          <p:nvPr/>
        </p:nvSpPr>
        <p:spPr>
          <a:xfrm>
            <a:off x="9104273" y="4246312"/>
            <a:ext cx="155448" cy="155448"/>
          </a:xfrm>
          <a:prstGeom prst="ellipse">
            <a:avLst/>
          </a:prstGeom>
          <a:solidFill>
            <a:srgbClr val="0B2C4A"/>
          </a:solidFill>
          <a:ln/>
        </p:spPr>
      </p:sp>
      <p:sp>
        <p:nvSpPr>
          <p:cNvPr id="150" name="Shape 148"/>
          <p:cNvSpPr/>
          <p:nvPr/>
        </p:nvSpPr>
        <p:spPr>
          <a:xfrm>
            <a:off x="8414429" y="4246312"/>
            <a:ext cx="155448" cy="155448"/>
          </a:xfrm>
          <a:prstGeom prst="ellipse">
            <a:avLst/>
          </a:prstGeom>
          <a:solidFill>
            <a:srgbClr val="C2352F"/>
          </a:solidFill>
          <a:ln/>
        </p:spPr>
      </p:sp>
      <p:sp>
        <p:nvSpPr>
          <p:cNvPr id="151" name="Text 149"/>
          <p:cNvSpPr txBox="1"/>
          <p:nvPr/>
        </p:nvSpPr>
        <p:spPr>
          <a:xfrm>
            <a:off x="10049256" y="420086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71%</a:t>
            </a:r>
            <a:pPr algn="r" indent="0" marL="0">
              <a:buNone/>
            </a:pPr>
            <a:r>
              <a:rPr lang="en-US" sz="1300" dirty="0">
                <a:solidFill>
                  <a:srgbClr val="0B2C4A"/>
                </a:solidFill>
                <a:latin typeface="Inter" pitchFamily="34" charset="0"/>
                <a:ea typeface="Inter" pitchFamily="34" charset="-122"/>
                <a:cs typeface="Inter" pitchFamily="34" charset="-120"/>
              </a:rPr>
              <a:t>  129%</a:t>
            </a:r>
            <a:endParaRPr lang="en-US" sz="1300" dirty="0"/>
          </a:p>
        </p:txBody>
      </p:sp>
      <p:sp>
        <p:nvSpPr>
          <p:cNvPr id="152" name="Text 150"/>
          <p:cNvSpPr txBox="1"/>
          <p:nvPr/>
        </p:nvSpPr>
        <p:spPr>
          <a:xfrm>
            <a:off x="6208776" y="44472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53" name="Shape 151"/>
          <p:cNvSpPr/>
          <p:nvPr/>
        </p:nvSpPr>
        <p:spPr>
          <a:xfrm>
            <a:off x="8478173" y="4556670"/>
            <a:ext cx="73001" cy="27432"/>
          </a:xfrm>
          <a:prstGeom prst="rect">
            <a:avLst/>
          </a:prstGeom>
          <a:solidFill>
            <a:srgbClr val="D9D9D9"/>
          </a:solidFill>
          <a:ln/>
        </p:spPr>
      </p:sp>
      <p:sp>
        <p:nvSpPr>
          <p:cNvPr id="154" name="Shape 152"/>
          <p:cNvSpPr/>
          <p:nvPr/>
        </p:nvSpPr>
        <p:spPr>
          <a:xfrm>
            <a:off x="8473450" y="4492662"/>
            <a:ext cx="155448" cy="155448"/>
          </a:xfrm>
          <a:prstGeom prst="ellipse">
            <a:avLst/>
          </a:prstGeom>
          <a:solidFill>
            <a:srgbClr val="0B2C4A"/>
          </a:solidFill>
          <a:ln/>
        </p:spPr>
      </p:sp>
      <p:sp>
        <p:nvSpPr>
          <p:cNvPr id="155" name="Shape 153"/>
          <p:cNvSpPr/>
          <p:nvPr/>
        </p:nvSpPr>
        <p:spPr>
          <a:xfrm>
            <a:off x="8400449" y="4492662"/>
            <a:ext cx="155448" cy="155448"/>
          </a:xfrm>
          <a:prstGeom prst="ellipse">
            <a:avLst/>
          </a:prstGeom>
          <a:solidFill>
            <a:srgbClr val="C2352F"/>
          </a:solidFill>
          <a:ln/>
        </p:spPr>
      </p:sp>
      <p:sp>
        <p:nvSpPr>
          <p:cNvPr id="156" name="Text 154"/>
          <p:cNvSpPr txBox="1"/>
          <p:nvPr/>
        </p:nvSpPr>
        <p:spPr>
          <a:xfrm>
            <a:off x="10049256" y="444721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70%</a:t>
            </a:r>
            <a:pPr algn="r" indent="0" marL="0">
              <a:buNone/>
            </a:pPr>
            <a:r>
              <a:rPr lang="en-US" sz="1300" dirty="0">
                <a:solidFill>
                  <a:srgbClr val="0B2C4A"/>
                </a:solidFill>
                <a:latin typeface="Inter" pitchFamily="34" charset="0"/>
                <a:ea typeface="Inter" pitchFamily="34" charset="-122"/>
                <a:cs typeface="Inter" pitchFamily="34" charset="-120"/>
              </a:rPr>
              <a:t>  76%</a:t>
            </a:r>
            <a:endParaRPr lang="en-US" sz="1300" dirty="0"/>
          </a:p>
        </p:txBody>
      </p:sp>
      <p:sp>
        <p:nvSpPr>
          <p:cNvPr id="157" name="Text 155"/>
          <p:cNvSpPr txBox="1"/>
          <p:nvPr/>
        </p:nvSpPr>
        <p:spPr>
          <a:xfrm>
            <a:off x="6208776" y="46935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58" name="Shape 156"/>
          <p:cNvSpPr/>
          <p:nvPr/>
        </p:nvSpPr>
        <p:spPr>
          <a:xfrm>
            <a:off x="8466129" y="4803020"/>
            <a:ext cx="635814" cy="27432"/>
          </a:xfrm>
          <a:prstGeom prst="rect">
            <a:avLst/>
          </a:prstGeom>
          <a:solidFill>
            <a:srgbClr val="D9D9D9"/>
          </a:solidFill>
          <a:ln/>
        </p:spPr>
      </p:sp>
      <p:sp>
        <p:nvSpPr>
          <p:cNvPr id="159" name="Shape 157"/>
          <p:cNvSpPr/>
          <p:nvPr/>
        </p:nvSpPr>
        <p:spPr>
          <a:xfrm>
            <a:off x="9024219" y="4739012"/>
            <a:ext cx="155448" cy="155448"/>
          </a:xfrm>
          <a:prstGeom prst="ellipse">
            <a:avLst/>
          </a:prstGeom>
          <a:solidFill>
            <a:srgbClr val="0B2C4A"/>
          </a:solidFill>
          <a:ln/>
        </p:spPr>
      </p:sp>
      <p:sp>
        <p:nvSpPr>
          <p:cNvPr id="160" name="Shape 158"/>
          <p:cNvSpPr/>
          <p:nvPr/>
        </p:nvSpPr>
        <p:spPr>
          <a:xfrm>
            <a:off x="8388405" y="4739012"/>
            <a:ext cx="155448" cy="155448"/>
          </a:xfrm>
          <a:prstGeom prst="ellipse">
            <a:avLst/>
          </a:prstGeom>
          <a:solidFill>
            <a:srgbClr val="C2352F"/>
          </a:solidFill>
          <a:ln/>
        </p:spPr>
      </p:sp>
      <p:sp>
        <p:nvSpPr>
          <p:cNvPr id="161" name="Text 159"/>
          <p:cNvSpPr txBox="1"/>
          <p:nvPr/>
        </p:nvSpPr>
        <p:spPr>
          <a:xfrm>
            <a:off x="10049256" y="469356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69%</a:t>
            </a:r>
            <a:pPr algn="r" indent="0" marL="0">
              <a:buNone/>
            </a:pPr>
            <a:r>
              <a:rPr lang="en-US" sz="1300" dirty="0">
                <a:solidFill>
                  <a:srgbClr val="0B2C4A"/>
                </a:solidFill>
                <a:latin typeface="Inter" pitchFamily="34" charset="0"/>
                <a:ea typeface="Inter" pitchFamily="34" charset="-122"/>
                <a:cs typeface="Inter" pitchFamily="34" charset="-120"/>
              </a:rPr>
              <a:t>  122%</a:t>
            </a:r>
            <a:endParaRPr lang="en-US" sz="1300" dirty="0"/>
          </a:p>
        </p:txBody>
      </p:sp>
      <p:sp>
        <p:nvSpPr>
          <p:cNvPr id="162" name="Text 160"/>
          <p:cNvSpPr txBox="1"/>
          <p:nvPr/>
        </p:nvSpPr>
        <p:spPr>
          <a:xfrm>
            <a:off x="6208776" y="493991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63" name="Shape 161"/>
          <p:cNvSpPr/>
          <p:nvPr/>
        </p:nvSpPr>
        <p:spPr>
          <a:xfrm>
            <a:off x="8458867" y="5049371"/>
            <a:ext cx="335577" cy="27432"/>
          </a:xfrm>
          <a:prstGeom prst="rect">
            <a:avLst/>
          </a:prstGeom>
          <a:solidFill>
            <a:srgbClr val="D9D9D9"/>
          </a:solidFill>
          <a:ln/>
        </p:spPr>
      </p:sp>
      <p:sp>
        <p:nvSpPr>
          <p:cNvPr id="164" name="Shape 162"/>
          <p:cNvSpPr/>
          <p:nvPr/>
        </p:nvSpPr>
        <p:spPr>
          <a:xfrm>
            <a:off x="8716721" y="4985363"/>
            <a:ext cx="155448" cy="155448"/>
          </a:xfrm>
          <a:prstGeom prst="ellipse">
            <a:avLst/>
          </a:prstGeom>
          <a:solidFill>
            <a:srgbClr val="0B2C4A"/>
          </a:solidFill>
          <a:ln/>
        </p:spPr>
      </p:sp>
      <p:sp>
        <p:nvSpPr>
          <p:cNvPr id="165" name="Shape 163"/>
          <p:cNvSpPr/>
          <p:nvPr/>
        </p:nvSpPr>
        <p:spPr>
          <a:xfrm>
            <a:off x="8381143" y="4985363"/>
            <a:ext cx="155448" cy="155448"/>
          </a:xfrm>
          <a:prstGeom prst="ellipse">
            <a:avLst/>
          </a:prstGeom>
          <a:solidFill>
            <a:srgbClr val="C2352F"/>
          </a:solidFill>
          <a:ln/>
        </p:spPr>
      </p:sp>
      <p:sp>
        <p:nvSpPr>
          <p:cNvPr id="166" name="Text 164"/>
          <p:cNvSpPr txBox="1"/>
          <p:nvPr/>
        </p:nvSpPr>
        <p:spPr>
          <a:xfrm>
            <a:off x="10049256" y="4939912"/>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68%</a:t>
            </a:r>
            <a:pPr algn="r" indent="0" marL="0">
              <a:buNone/>
            </a:pPr>
            <a:r>
              <a:rPr lang="en-US" sz="1300" dirty="0">
                <a:solidFill>
                  <a:srgbClr val="0B2C4A"/>
                </a:solidFill>
                <a:latin typeface="Inter" pitchFamily="34" charset="0"/>
                <a:ea typeface="Inter" pitchFamily="34" charset="-122"/>
                <a:cs typeface="Inter" pitchFamily="34" charset="-120"/>
              </a:rPr>
              <a:t>  96%</a:t>
            </a:r>
            <a:endParaRPr lang="en-US" sz="1300" dirty="0"/>
          </a:p>
        </p:txBody>
      </p:sp>
      <p:sp>
        <p:nvSpPr>
          <p:cNvPr id="167" name="Text 165"/>
          <p:cNvSpPr txBox="1"/>
          <p:nvPr/>
        </p:nvSpPr>
        <p:spPr>
          <a:xfrm>
            <a:off x="6208776" y="518626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68" name="Shape 166"/>
          <p:cNvSpPr/>
          <p:nvPr/>
        </p:nvSpPr>
        <p:spPr>
          <a:xfrm>
            <a:off x="8448076" y="5295721"/>
            <a:ext cx="363217" cy="27432"/>
          </a:xfrm>
          <a:prstGeom prst="rect">
            <a:avLst/>
          </a:prstGeom>
          <a:solidFill>
            <a:srgbClr val="D9D9D9"/>
          </a:solidFill>
          <a:ln/>
        </p:spPr>
      </p:sp>
      <p:sp>
        <p:nvSpPr>
          <p:cNvPr id="169" name="Shape 167"/>
          <p:cNvSpPr/>
          <p:nvPr/>
        </p:nvSpPr>
        <p:spPr>
          <a:xfrm>
            <a:off x="8733569" y="5231713"/>
            <a:ext cx="155448" cy="155448"/>
          </a:xfrm>
          <a:prstGeom prst="ellipse">
            <a:avLst/>
          </a:prstGeom>
          <a:solidFill>
            <a:srgbClr val="0B2C4A"/>
          </a:solidFill>
          <a:ln/>
        </p:spPr>
      </p:sp>
      <p:sp>
        <p:nvSpPr>
          <p:cNvPr id="170" name="Shape 168"/>
          <p:cNvSpPr/>
          <p:nvPr/>
        </p:nvSpPr>
        <p:spPr>
          <a:xfrm>
            <a:off x="8370352" y="5231713"/>
            <a:ext cx="155448" cy="155448"/>
          </a:xfrm>
          <a:prstGeom prst="ellipse">
            <a:avLst/>
          </a:prstGeom>
          <a:solidFill>
            <a:srgbClr val="C2352F"/>
          </a:solidFill>
          <a:ln/>
        </p:spPr>
      </p:sp>
      <p:sp>
        <p:nvSpPr>
          <p:cNvPr id="171" name="Text 169"/>
          <p:cNvSpPr txBox="1"/>
          <p:nvPr/>
        </p:nvSpPr>
        <p:spPr>
          <a:xfrm>
            <a:off x="10049256" y="5186262"/>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68%</a:t>
            </a:r>
            <a:pPr algn="r" indent="0" marL="0">
              <a:buNone/>
            </a:pPr>
            <a:r>
              <a:rPr lang="en-US" sz="1300" dirty="0">
                <a:solidFill>
                  <a:srgbClr val="0B2C4A"/>
                </a:solidFill>
                <a:latin typeface="Inter" pitchFamily="34" charset="0"/>
                <a:ea typeface="Inter" pitchFamily="34" charset="-122"/>
                <a:cs typeface="Inter" pitchFamily="34" charset="-120"/>
              </a:rPr>
              <a:t>  98%</a:t>
            </a:r>
            <a:endParaRPr lang="en-US" sz="1300" dirty="0"/>
          </a:p>
        </p:txBody>
      </p:sp>
      <p:sp>
        <p:nvSpPr>
          <p:cNvPr id="172" name="Text 170"/>
          <p:cNvSpPr txBox="1"/>
          <p:nvPr/>
        </p:nvSpPr>
        <p:spPr>
          <a:xfrm>
            <a:off x="6208776" y="543261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73" name="Shape 171"/>
          <p:cNvSpPr/>
          <p:nvPr/>
        </p:nvSpPr>
        <p:spPr>
          <a:xfrm>
            <a:off x="8447091" y="5542071"/>
            <a:ext cx="75203" cy="27432"/>
          </a:xfrm>
          <a:prstGeom prst="rect">
            <a:avLst/>
          </a:prstGeom>
          <a:solidFill>
            <a:srgbClr val="D9D9D9"/>
          </a:solidFill>
          <a:ln/>
        </p:spPr>
      </p:sp>
      <p:sp>
        <p:nvSpPr>
          <p:cNvPr id="174" name="Shape 172"/>
          <p:cNvSpPr/>
          <p:nvPr/>
        </p:nvSpPr>
        <p:spPr>
          <a:xfrm>
            <a:off x="8444570" y="5478063"/>
            <a:ext cx="155448" cy="155448"/>
          </a:xfrm>
          <a:prstGeom prst="ellipse">
            <a:avLst/>
          </a:prstGeom>
          <a:solidFill>
            <a:srgbClr val="0B2C4A"/>
          </a:solidFill>
          <a:ln/>
        </p:spPr>
      </p:sp>
      <p:sp>
        <p:nvSpPr>
          <p:cNvPr id="175" name="Shape 173"/>
          <p:cNvSpPr/>
          <p:nvPr/>
        </p:nvSpPr>
        <p:spPr>
          <a:xfrm>
            <a:off x="8369367" y="5478063"/>
            <a:ext cx="155448" cy="155448"/>
          </a:xfrm>
          <a:prstGeom prst="ellipse">
            <a:avLst/>
          </a:prstGeom>
          <a:solidFill>
            <a:srgbClr val="C2352F"/>
          </a:solidFill>
          <a:ln/>
        </p:spPr>
      </p:sp>
      <p:sp>
        <p:nvSpPr>
          <p:cNvPr id="176" name="Text 174"/>
          <p:cNvSpPr txBox="1"/>
          <p:nvPr/>
        </p:nvSpPr>
        <p:spPr>
          <a:xfrm>
            <a:off x="10049256" y="5432612"/>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67%</a:t>
            </a:r>
            <a:pPr algn="r" indent="0" marL="0">
              <a:buNone/>
            </a:pPr>
            <a:r>
              <a:rPr lang="en-US" sz="1300" dirty="0">
                <a:solidFill>
                  <a:srgbClr val="0B2C4A"/>
                </a:solidFill>
                <a:latin typeface="Inter" pitchFamily="34" charset="0"/>
                <a:ea typeface="Inter" pitchFamily="34" charset="-122"/>
                <a:cs typeface="Inter" pitchFamily="34" charset="-120"/>
              </a:rPr>
              <a:t>  74%</a:t>
            </a:r>
            <a:endParaRPr lang="en-US" sz="1300" dirty="0"/>
          </a:p>
        </p:txBody>
      </p:sp>
      <p:sp>
        <p:nvSpPr>
          <p:cNvPr id="177" name="Shape 175"/>
          <p:cNvSpPr/>
          <p:nvPr/>
        </p:nvSpPr>
        <p:spPr>
          <a:xfrm>
            <a:off x="457200" y="6126480"/>
            <a:ext cx="11274552" cy="615696"/>
          </a:xfrm>
          <a:prstGeom prst="rect">
            <a:avLst/>
          </a:prstGeom>
          <a:solidFill>
            <a:srgbClr val="EDF4FA"/>
          </a:solidFill>
          <a:ln/>
        </p:spPr>
      </p:sp>
      <p:sp>
        <p:nvSpPr>
          <p:cNvPr id="178" name="Text 17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At 11 of the 13 stores under 85%, the top quarter of techs already run above 85%. Same bays, same dispatch, same car count.</a:t>
            </a:r>
            <a:endParaRPr lang="en-US" sz="1600" dirty="0"/>
          </a:p>
        </p:txBody>
      </p:sp>
    </p:spTree>
  </p:cSld>
  <p:clrMapOvr>
    <a:masterClrMapping/>
  </p:clrMapOvr>
</p:sld>
</file>

<file path=ppt/slides/slide15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a Tech Minute Is Worth</a:t>
            </a:r>
            <a:endParaRPr lang="en-US" sz="2800" dirty="0"/>
          </a:p>
        </p:txBody>
      </p:sp>
      <p:sp>
        <p:nvSpPr>
          <p:cNvPr id="5" name="Shape 3"/>
          <p:cNvSpPr/>
          <p:nvPr/>
        </p:nvSpPr>
        <p:spPr>
          <a:xfrm>
            <a:off x="457200" y="1207008"/>
            <a:ext cx="4572000" cy="4645152"/>
          </a:xfrm>
          <a:prstGeom prst="rect">
            <a:avLst/>
          </a:prstGeom>
          <a:solidFill>
            <a:srgbClr val="FFFFFF"/>
          </a:solidFill>
          <a:ln/>
        </p:spPr>
      </p:sp>
      <p:sp>
        <p:nvSpPr>
          <p:cNvPr id="6" name="Shape 4"/>
          <p:cNvSpPr/>
          <p:nvPr/>
        </p:nvSpPr>
        <p:spPr>
          <a:xfrm>
            <a:off x="5166360" y="1207008"/>
            <a:ext cx="6565392" cy="4645152"/>
          </a:xfrm>
          <a:prstGeom prst="rect">
            <a:avLst/>
          </a:prstGeom>
          <a:solidFill>
            <a:srgbClr val="FFFFFF"/>
          </a:solidFill>
          <a:ln/>
        </p:spPr>
      </p:sp>
      <p:sp>
        <p:nvSpPr>
          <p:cNvPr id="7" name="Text 5"/>
          <p:cNvSpPr txBox="1"/>
          <p:nvPr/>
        </p:nvSpPr>
        <p:spPr>
          <a:xfrm>
            <a:off x="713232" y="1417320"/>
            <a:ext cx="4114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ONE TECHNICIAN HOUR</a:t>
            </a:r>
            <a:endParaRPr lang="en-US" sz="1400" dirty="0"/>
          </a:p>
        </p:txBody>
      </p:sp>
      <p:sp>
        <p:nvSpPr>
          <p:cNvPr id="8" name="Text 6"/>
          <p:cNvSpPr txBox="1"/>
          <p:nvPr/>
        </p:nvSpPr>
        <p:spPr>
          <a:xfrm>
            <a:off x="713232" y="1737360"/>
            <a:ext cx="4114800" cy="822960"/>
          </a:xfrm>
          <a:prstGeom prst="rect">
            <a:avLst/>
          </a:prstGeom>
          <a:noFill/>
          <a:ln/>
        </p:spPr>
        <p:txBody>
          <a:bodyPr wrap="square" lIns="0" tIns="0" rIns="0" bIns="0" rtlCol="0" anchor="ctr"/>
          <a:lstStyle/>
          <a:p>
            <a:pPr indent="0" marL="0">
              <a:buNone/>
            </a:pPr>
            <a:r>
              <a:rPr lang="en-US" sz="5400" b="1" dirty="0">
                <a:solidFill>
                  <a:srgbClr val="0B2C4A"/>
                </a:solidFill>
                <a:latin typeface="Inter" pitchFamily="34" charset="0"/>
                <a:ea typeface="Inter" pitchFamily="34" charset="-122"/>
                <a:cs typeface="Inter" pitchFamily="34" charset="-120"/>
              </a:rPr>
              <a:t>$188</a:t>
            </a:r>
            <a:endParaRPr lang="en-US" sz="5400" dirty="0"/>
          </a:p>
        </p:txBody>
      </p:sp>
      <p:sp>
        <p:nvSpPr>
          <p:cNvPr id="9" name="Text 7"/>
          <p:cNvSpPr txBox="1"/>
          <p:nvPr/>
        </p:nvSpPr>
        <p:spPr>
          <a:xfrm>
            <a:off x="713232" y="2560320"/>
            <a:ext cx="4114800" cy="32918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in labor and parts gross, group average</a:t>
            </a:r>
            <a:endParaRPr lang="en-US" sz="1500" dirty="0"/>
          </a:p>
        </p:txBody>
      </p:sp>
      <p:sp>
        <p:nvSpPr>
          <p:cNvPr id="10" name="Shape 8"/>
          <p:cNvSpPr/>
          <p:nvPr/>
        </p:nvSpPr>
        <p:spPr>
          <a:xfrm>
            <a:off x="713232" y="3063240"/>
            <a:ext cx="4069080" cy="10973"/>
          </a:xfrm>
          <a:prstGeom prst="rect">
            <a:avLst/>
          </a:prstGeom>
          <a:solidFill>
            <a:srgbClr val="D9D9D9"/>
          </a:solidFill>
          <a:ln/>
        </p:spPr>
      </p:sp>
      <p:sp>
        <p:nvSpPr>
          <p:cNvPr id="11" name="Text 9"/>
          <p:cNvSpPr txBox="1"/>
          <p:nvPr/>
        </p:nvSpPr>
        <p:spPr>
          <a:xfrm>
            <a:off x="713232" y="3246120"/>
            <a:ext cx="4114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ONE TECHNICIAN MINUTE</a:t>
            </a:r>
            <a:endParaRPr lang="en-US" sz="1400" dirty="0"/>
          </a:p>
        </p:txBody>
      </p:sp>
      <p:sp>
        <p:nvSpPr>
          <p:cNvPr id="12" name="Text 10"/>
          <p:cNvSpPr txBox="1"/>
          <p:nvPr/>
        </p:nvSpPr>
        <p:spPr>
          <a:xfrm>
            <a:off x="713232" y="3566160"/>
            <a:ext cx="4114800" cy="822960"/>
          </a:xfrm>
          <a:prstGeom prst="rect">
            <a:avLst/>
          </a:prstGeom>
          <a:noFill/>
          <a:ln/>
        </p:spPr>
        <p:txBody>
          <a:bodyPr wrap="square" lIns="0" tIns="0" rIns="0" bIns="0" rtlCol="0" anchor="ctr"/>
          <a:lstStyle/>
          <a:p>
            <a:pPr indent="0" marL="0">
              <a:buNone/>
            </a:pPr>
            <a:r>
              <a:rPr lang="en-US" sz="5400" b="1" dirty="0">
                <a:solidFill>
                  <a:srgbClr val="0B7A4A"/>
                </a:solidFill>
                <a:latin typeface="Inter" pitchFamily="34" charset="0"/>
                <a:ea typeface="Inter" pitchFamily="34" charset="-122"/>
                <a:cs typeface="Inter" pitchFamily="34" charset="-120"/>
              </a:rPr>
              <a:t>$3.13</a:t>
            </a:r>
            <a:endParaRPr lang="en-US" sz="5400" dirty="0"/>
          </a:p>
        </p:txBody>
      </p:sp>
      <p:sp>
        <p:nvSpPr>
          <p:cNvPr id="13" name="Text 11"/>
          <p:cNvSpPr txBox="1"/>
          <p:nvPr/>
        </p:nvSpPr>
        <p:spPr>
          <a:xfrm>
            <a:off x="713232" y="4389120"/>
            <a:ext cx="4114800" cy="64008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About $762 a year for each tech, one minute a day</a:t>
            </a:r>
            <a:endParaRPr lang="en-US" sz="1500" dirty="0"/>
          </a:p>
        </p:txBody>
      </p:sp>
      <p:sp>
        <p:nvSpPr>
          <p:cNvPr id="14" name="Text 12"/>
          <p:cNvSpPr txBox="1"/>
          <p:nvPr/>
        </p:nvSpPr>
        <p:spPr>
          <a:xfrm>
            <a:off x="5422392" y="1417320"/>
            <a:ext cx="612648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MINUTES SAVED PER TECH, EVERY DAY · 583 TECHNICIANS</a:t>
            </a:r>
            <a:endParaRPr lang="en-US" sz="1400" dirty="0"/>
          </a:p>
        </p:txBody>
      </p:sp>
      <p:graphicFrame>
        <p:nvGraphicFramePr>
          <p:cNvPr id="2" name="Table 0"/>
          <p:cNvGraphicFramePr>
            <a:graphicFrameLocks noGrp="1"/>
          </p:cNvGraphicFramePr>
          <p:nvPr>
            <p:extLst>
              <p:ext uri="{D42A27DB-BD31-4B8C-83A1-F6EECF244321}">
                <p14:modId xmlns:p14="http://schemas.microsoft.com/office/powerpoint/2010/main" val="1579011935"/>
              </p:ext>
            </p:extLst>
          </p:nvPr>
        </p:nvGraphicFramePr>
        <p:xfrm>
          <a:off x="5422392" y="1828800"/>
          <a:ext cx="6053328" cy="914400"/>
        </p:xfrm>
        <a:graphic>
          <a:graphicData uri="http://schemas.openxmlformats.org/drawingml/2006/table">
            <a:tbl>
              <a:tblPr/>
              <a:tblGrid>
                <a:gridCol w="2212848"/>
                <a:gridCol w="1920240"/>
                <a:gridCol w="1920240"/>
              </a:tblGrid>
              <a:tr h="475488">
                <a:tc>
                  <a:txBody>
                    <a:bodyPr/>
                    <a:lstStyle/>
                    <a:p>
                      <a:pPr algn="l" indent="0" marL="0">
                        <a:buNone/>
                      </a:pPr>
                      <a:r>
                        <a:rPr lang="en-US" sz="2000" b="1" dirty="0">
                          <a:solidFill>
                            <a:srgbClr val="FFFFFF"/>
                          </a:solidFill>
                          <a:latin typeface="Inter" pitchFamily="34" charset="0"/>
                          <a:ea typeface="Inter" pitchFamily="34" charset="-122"/>
                          <a:cs typeface="Inter" pitchFamily="34" charset="-120"/>
                        </a:rPr>
                        <a:t>Minutes a day</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0B2C4A"/>
                    </a:solidFill>
                  </a:tcPr>
                </a:tc>
                <a:tc>
                  <a:txBody>
                    <a:bodyPr/>
                    <a:lstStyle/>
                    <a:p>
                      <a:pPr algn="r" indent="0" marL="0">
                        <a:buNone/>
                      </a:pPr>
                      <a:r>
                        <a:rPr lang="en-US" sz="2000" b="1" dirty="0">
                          <a:solidFill>
                            <a:srgbClr val="FFFFFF"/>
                          </a:solidFill>
                          <a:latin typeface="Inter" pitchFamily="34" charset="0"/>
                          <a:ea typeface="Inter" pitchFamily="34" charset="-122"/>
                          <a:cs typeface="Inter" pitchFamily="34" charset="-120"/>
                        </a:rPr>
                        <a:t>A month</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0B2C4A"/>
                    </a:solidFill>
                  </a:tcPr>
                </a:tc>
                <a:tc>
                  <a:txBody>
                    <a:bodyPr/>
                    <a:lstStyle/>
                    <a:p>
                      <a:pPr algn="r" indent="0" marL="0">
                        <a:buNone/>
                      </a:pPr>
                      <a:r>
                        <a:rPr lang="en-US" sz="2000" b="1" dirty="0">
                          <a:solidFill>
                            <a:srgbClr val="FFFFFF"/>
                          </a:solidFill>
                          <a:latin typeface="Inter" pitchFamily="34" charset="0"/>
                          <a:ea typeface="Inter" pitchFamily="34" charset="-122"/>
                          <a:cs typeface="Inter" pitchFamily="34" charset="-120"/>
                        </a:rPr>
                        <a:t>A year</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0B2C4A"/>
                    </a:solidFill>
                  </a:tcPr>
                </a:tc>
              </a:tr>
              <a:tr h="475488">
                <a:tc>
                  <a:txBody>
                    <a:bodyPr/>
                    <a:lstStyle/>
                    <a:p>
                      <a:pPr indent="0" marL="0">
                        <a:buNone/>
                      </a:pPr>
                      <a:r>
                        <a:rPr lang="en-US" sz="2000" b="1" dirty="0">
                          <a:solidFill>
                            <a:srgbClr val="1A1A1A"/>
                          </a:solidFill>
                          <a:latin typeface="Inter" pitchFamily="34" charset="0"/>
                          <a:ea typeface="Inter" pitchFamily="34" charset="-122"/>
                          <a:cs typeface="Inter" pitchFamily="34" charset="-120"/>
                        </a:rPr>
                        <a:t>1 minute</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2000" dirty="0">
                          <a:solidFill>
                            <a:srgbClr val="1A1A1A"/>
                          </a:solidFill>
                          <a:latin typeface="Inter" pitchFamily="34" charset="0"/>
                          <a:ea typeface="Inter" pitchFamily="34" charset="-122"/>
                          <a:cs typeface="Inter" pitchFamily="34" charset="-120"/>
                        </a:rPr>
                        <a:t>$37K</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2000" b="1" dirty="0">
                          <a:solidFill>
                            <a:srgbClr val="0B7A4A"/>
                          </a:solidFill>
                          <a:latin typeface="Inter" pitchFamily="34" charset="0"/>
                          <a:ea typeface="Inter" pitchFamily="34" charset="-122"/>
                          <a:cs typeface="Inter" pitchFamily="34" charset="-120"/>
                        </a:rPr>
                        <a:t>$444K</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r>
              <a:tr h="475488">
                <a:tc>
                  <a:txBody>
                    <a:bodyPr/>
                    <a:lstStyle/>
                    <a:p>
                      <a:pPr indent="0" marL="0">
                        <a:buNone/>
                      </a:pPr>
                      <a:r>
                        <a:rPr lang="en-US" sz="2000" b="1" dirty="0">
                          <a:solidFill>
                            <a:srgbClr val="1A1A1A"/>
                          </a:solidFill>
                          <a:latin typeface="Inter" pitchFamily="34" charset="0"/>
                          <a:ea typeface="Inter" pitchFamily="34" charset="-122"/>
                          <a:cs typeface="Inter" pitchFamily="34" charset="-120"/>
                        </a:rPr>
                        <a:t>5 minutes</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2000" dirty="0">
                          <a:solidFill>
                            <a:srgbClr val="1A1A1A"/>
                          </a:solidFill>
                          <a:latin typeface="Inter" pitchFamily="34" charset="0"/>
                          <a:ea typeface="Inter" pitchFamily="34" charset="-122"/>
                          <a:cs typeface="Inter" pitchFamily="34" charset="-120"/>
                        </a:rPr>
                        <a:t>$185K</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2000" b="1" dirty="0">
                          <a:solidFill>
                            <a:srgbClr val="0B7A4A"/>
                          </a:solidFill>
                          <a:latin typeface="Inter" pitchFamily="34" charset="0"/>
                          <a:ea typeface="Inter" pitchFamily="34" charset="-122"/>
                          <a:cs typeface="Inter" pitchFamily="34" charset="-120"/>
                        </a:rPr>
                        <a:t>$2.22M</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r>
              <a:tr h="475488">
                <a:tc>
                  <a:txBody>
                    <a:bodyPr/>
                    <a:lstStyle/>
                    <a:p>
                      <a:pPr indent="0" marL="0">
                        <a:buNone/>
                      </a:pPr>
                      <a:r>
                        <a:rPr lang="en-US" sz="2000" b="1" dirty="0">
                          <a:solidFill>
                            <a:srgbClr val="1A1A1A"/>
                          </a:solidFill>
                          <a:latin typeface="Inter" pitchFamily="34" charset="0"/>
                          <a:ea typeface="Inter" pitchFamily="34" charset="-122"/>
                          <a:cs typeface="Inter" pitchFamily="34" charset="-120"/>
                        </a:rPr>
                        <a:t>10 minutes</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2000" dirty="0">
                          <a:solidFill>
                            <a:srgbClr val="1A1A1A"/>
                          </a:solidFill>
                          <a:latin typeface="Inter" pitchFamily="34" charset="0"/>
                          <a:ea typeface="Inter" pitchFamily="34" charset="-122"/>
                          <a:cs typeface="Inter" pitchFamily="34" charset="-120"/>
                        </a:rPr>
                        <a:t>$370K</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2000" b="1" dirty="0">
                          <a:solidFill>
                            <a:srgbClr val="0B7A4A"/>
                          </a:solidFill>
                          <a:latin typeface="Inter" pitchFamily="34" charset="0"/>
                          <a:ea typeface="Inter" pitchFamily="34" charset="-122"/>
                          <a:cs typeface="Inter" pitchFamily="34" charset="-120"/>
                        </a:rPr>
                        <a:t>$4.44M</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r>
              <a:tr h="475488">
                <a:tc>
                  <a:txBody>
                    <a:bodyPr/>
                    <a:lstStyle/>
                    <a:p>
                      <a:pPr indent="0" marL="0">
                        <a:buNone/>
                      </a:pPr>
                      <a:r>
                        <a:rPr lang="en-US" sz="2000" b="1" dirty="0">
                          <a:solidFill>
                            <a:srgbClr val="1A1A1A"/>
                          </a:solidFill>
                          <a:latin typeface="Inter" pitchFamily="34" charset="0"/>
                          <a:ea typeface="Inter" pitchFamily="34" charset="-122"/>
                          <a:cs typeface="Inter" pitchFamily="34" charset="-120"/>
                        </a:rPr>
                        <a:t>15 minutes</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2000" dirty="0">
                          <a:solidFill>
                            <a:srgbClr val="1A1A1A"/>
                          </a:solidFill>
                          <a:latin typeface="Inter" pitchFamily="34" charset="0"/>
                          <a:ea typeface="Inter" pitchFamily="34" charset="-122"/>
                          <a:cs typeface="Inter" pitchFamily="34" charset="-120"/>
                        </a:rPr>
                        <a:t>$555K</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2000" b="1" dirty="0">
                          <a:solidFill>
                            <a:srgbClr val="0B7A4A"/>
                          </a:solidFill>
                          <a:latin typeface="Inter" pitchFamily="34" charset="0"/>
                          <a:ea typeface="Inter" pitchFamily="34" charset="-122"/>
                          <a:cs typeface="Inter" pitchFamily="34" charset="-120"/>
                        </a:rPr>
                        <a:t>$6.67M</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r>
            </a:tbl>
          </a:graphicData>
        </a:graphic>
      </p:graphicFrame>
      <p:sp>
        <p:nvSpPr>
          <p:cNvPr id="16" name="Text 13"/>
          <p:cNvSpPr txBox="1"/>
          <p:nvPr/>
        </p:nvSpPr>
        <p:spPr>
          <a:xfrm>
            <a:off x="5422392" y="4434840"/>
            <a:ext cx="6053328" cy="1234440"/>
          </a:xfrm>
          <a:prstGeom prst="rect">
            <a:avLst/>
          </a:prstGeom>
          <a:noFill/>
          <a:ln/>
        </p:spPr>
        <p:txBody>
          <a:bodyPr wrap="square" lIns="0" tIns="0" rIns="0" bIns="0" rtlCol="0" anchor="t"/>
          <a:lstStyle/>
          <a:p>
            <a:pPr indent="0" marL="0">
              <a:buNone/>
            </a:pPr>
            <a:r>
              <a:rPr lang="en-US" sz="1600" dirty="0">
                <a:solidFill>
                  <a:srgbClr val="1A1A1A"/>
                </a:solidFill>
                <a:latin typeface="Inter" pitchFamily="34" charset="0"/>
                <a:ea typeface="Inter" pitchFamily="34" charset="-122"/>
                <a:cs typeface="Inter" pitchFamily="34" charset="-120"/>
              </a:rPr>
              <a:t>Where the minutes go: walking to the parts counter, waiting on dispatch or a customer approval, hunting for tools, chasing a key or a car.</a:t>
            </a:r>
            <a:endParaRPr lang="en-US" sz="1600" dirty="0"/>
          </a:p>
        </p:txBody>
      </p:sp>
      <p:sp>
        <p:nvSpPr>
          <p:cNvPr id="17" name="Shape 14"/>
          <p:cNvSpPr/>
          <p:nvPr/>
        </p:nvSpPr>
        <p:spPr>
          <a:xfrm>
            <a:off x="457200" y="6126480"/>
            <a:ext cx="11274552" cy="364236"/>
          </a:xfrm>
          <a:prstGeom prst="rect">
            <a:avLst/>
          </a:prstGeom>
          <a:solidFill>
            <a:srgbClr val="E6F6EE"/>
          </a:solidFill>
          <a:ln/>
        </p:spPr>
      </p:sp>
      <p:sp>
        <p:nvSpPr>
          <p:cNvPr id="18" name="Text 15"/>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One minute a day for every tech is worth $37,032 a month, $444,380 a year. No new techs, no new bays.</a:t>
            </a:r>
            <a:endParaRPr lang="en-US" sz="1550" dirty="0"/>
          </a:p>
        </p:txBody>
      </p:sp>
    </p:spTree>
  </p:cSld>
  <p:clrMapOvr>
    <a:masterClrMapping/>
  </p:clrMapOvr>
</p:sld>
</file>

<file path=ppt/slides/slide15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a Tech Minute Is Worth</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767328" y="1316736"/>
            <a:ext cx="786384" cy="329184"/>
          </a:xfrm>
          <a:prstGeom prst="rect">
            <a:avLst/>
          </a:prstGeom>
          <a:noFill/>
          <a:ln/>
        </p:spPr>
        <p:txBody>
          <a:bodyPr wrap="square" lIns="0" tIns="0" rIns="0" bIns="0" rtlCol="0" anchor="ctr"/>
          <a:lstStyle/>
          <a:p>
            <a:pPr algn="r" indent="0" marL="0">
              <a:buNone/>
            </a:pPr>
            <a:endParaRPr lang="en-US" sz="1400" dirty="0"/>
          </a:p>
        </p:txBody>
      </p:sp>
      <p:sp>
        <p:nvSpPr>
          <p:cNvPr id="7" name="Text 5"/>
          <p:cNvSpPr txBox="1"/>
          <p:nvPr/>
        </p:nvSpPr>
        <p:spPr>
          <a:xfrm>
            <a:off x="4553712" y="1316736"/>
            <a:ext cx="5669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Techs</a:t>
            </a:r>
            <a:endParaRPr lang="en-US" sz="1400" dirty="0"/>
          </a:p>
        </p:txBody>
      </p:sp>
      <p:sp>
        <p:nvSpPr>
          <p:cNvPr id="8" name="Text 6"/>
          <p:cNvSpPr txBox="1"/>
          <p:nvPr/>
        </p:nvSpPr>
        <p:spPr>
          <a:xfrm>
            <a:off x="512064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min</a:t>
            </a:r>
            <a:endParaRPr lang="en-US" sz="1400" dirty="0"/>
          </a:p>
        </p:txBody>
      </p:sp>
      <p:sp>
        <p:nvSpPr>
          <p:cNvPr id="9" name="Text 7"/>
          <p:cNvSpPr txBox="1"/>
          <p:nvPr/>
        </p:nvSpPr>
        <p:spPr>
          <a:xfrm>
            <a:off x="9317736" y="1316736"/>
            <a:ext cx="786384" cy="329184"/>
          </a:xfrm>
          <a:prstGeom prst="rect">
            <a:avLst/>
          </a:prstGeom>
          <a:noFill/>
          <a:ln/>
        </p:spPr>
        <p:txBody>
          <a:bodyPr wrap="square" lIns="0" tIns="0" rIns="0" bIns="0" rtlCol="0" anchor="ctr"/>
          <a:lstStyle/>
          <a:p>
            <a:pPr algn="r" indent="0" marL="0">
              <a:buNone/>
            </a:pPr>
            <a:endParaRPr lang="en-US" sz="1400" dirty="0"/>
          </a:p>
        </p:txBody>
      </p:sp>
      <p:sp>
        <p:nvSpPr>
          <p:cNvPr id="10" name="Text 8"/>
          <p:cNvSpPr txBox="1"/>
          <p:nvPr/>
        </p:nvSpPr>
        <p:spPr>
          <a:xfrm>
            <a:off x="10104120" y="1316736"/>
            <a:ext cx="5669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Techs</a:t>
            </a:r>
            <a:endParaRPr lang="en-US" sz="1400" dirty="0"/>
          </a:p>
        </p:txBody>
      </p:sp>
      <p:sp>
        <p:nvSpPr>
          <p:cNvPr id="11" name="Text 9"/>
          <p:cNvSpPr txBox="1"/>
          <p:nvPr/>
        </p:nvSpPr>
        <p:spPr>
          <a:xfrm>
            <a:off x="10671048"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min</a:t>
            </a:r>
            <a:endParaRPr lang="en-US" sz="1400" dirty="0"/>
          </a:p>
        </p:txBody>
      </p:sp>
      <p:sp>
        <p:nvSpPr>
          <p:cNvPr id="12" name="Text 10"/>
          <p:cNvSpPr txBox="1"/>
          <p:nvPr/>
        </p:nvSpPr>
        <p:spPr>
          <a:xfrm>
            <a:off x="658368"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3" name="Shape 11"/>
          <p:cNvSpPr/>
          <p:nvPr/>
        </p:nvSpPr>
        <p:spPr>
          <a:xfrm>
            <a:off x="2670048" y="1756697"/>
            <a:ext cx="1042416" cy="136676"/>
          </a:xfrm>
          <a:prstGeom prst="rect">
            <a:avLst/>
          </a:prstGeom>
          <a:solidFill>
            <a:srgbClr val="2587C5"/>
          </a:solidFill>
          <a:ln/>
        </p:spPr>
      </p:sp>
      <p:sp>
        <p:nvSpPr>
          <p:cNvPr id="14" name="Text 12"/>
          <p:cNvSpPr txBox="1"/>
          <p:nvPr/>
        </p:nvSpPr>
        <p:spPr>
          <a:xfrm>
            <a:off x="3767328" y="1700784"/>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$43.3K</a:t>
            </a:r>
            <a:endParaRPr lang="en-US" sz="1300" dirty="0"/>
          </a:p>
        </p:txBody>
      </p:sp>
      <p:sp>
        <p:nvSpPr>
          <p:cNvPr id="15" name="Text 13"/>
          <p:cNvSpPr txBox="1"/>
          <p:nvPr/>
        </p:nvSpPr>
        <p:spPr>
          <a:xfrm>
            <a:off x="4553712" y="1700784"/>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16" name="Text 14"/>
          <p:cNvSpPr txBox="1"/>
          <p:nvPr/>
        </p:nvSpPr>
        <p:spPr>
          <a:xfrm>
            <a:off x="5120640"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$2.74</a:t>
            </a:r>
            <a:endParaRPr lang="en-US" sz="1300" dirty="0"/>
          </a:p>
        </p:txBody>
      </p:sp>
      <p:sp>
        <p:nvSpPr>
          <p:cNvPr id="17" name="Text 15"/>
          <p:cNvSpPr txBox="1"/>
          <p:nvPr/>
        </p:nvSpPr>
        <p:spPr>
          <a:xfrm>
            <a:off x="658368"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8" name="Shape 16"/>
          <p:cNvSpPr/>
          <p:nvPr/>
        </p:nvSpPr>
        <p:spPr>
          <a:xfrm>
            <a:off x="2670048" y="2005199"/>
            <a:ext cx="813746" cy="136676"/>
          </a:xfrm>
          <a:prstGeom prst="rect">
            <a:avLst/>
          </a:prstGeom>
          <a:solidFill>
            <a:srgbClr val="2587C5"/>
          </a:solidFill>
          <a:ln/>
        </p:spPr>
      </p:sp>
      <p:sp>
        <p:nvSpPr>
          <p:cNvPr id="19" name="Text 17"/>
          <p:cNvSpPr txBox="1"/>
          <p:nvPr/>
        </p:nvSpPr>
        <p:spPr>
          <a:xfrm>
            <a:off x="3767328" y="1949286"/>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$33.8K</a:t>
            </a:r>
            <a:endParaRPr lang="en-US" sz="1300" dirty="0"/>
          </a:p>
        </p:txBody>
      </p:sp>
      <p:sp>
        <p:nvSpPr>
          <p:cNvPr id="20" name="Text 18"/>
          <p:cNvSpPr txBox="1"/>
          <p:nvPr/>
        </p:nvSpPr>
        <p:spPr>
          <a:xfrm>
            <a:off x="4553712" y="1949286"/>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a:t>
            </a:r>
            <a:endParaRPr lang="en-US" sz="1300" dirty="0"/>
          </a:p>
        </p:txBody>
      </p:sp>
      <p:sp>
        <p:nvSpPr>
          <p:cNvPr id="21" name="Text 19"/>
          <p:cNvSpPr txBox="1"/>
          <p:nvPr/>
        </p:nvSpPr>
        <p:spPr>
          <a:xfrm>
            <a:off x="5120640"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$2.71</a:t>
            </a:r>
            <a:endParaRPr lang="en-US" sz="1300" dirty="0"/>
          </a:p>
        </p:txBody>
      </p:sp>
      <p:sp>
        <p:nvSpPr>
          <p:cNvPr id="22" name="Text 20"/>
          <p:cNvSpPr txBox="1"/>
          <p:nvPr/>
        </p:nvSpPr>
        <p:spPr>
          <a:xfrm>
            <a:off x="658368"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23" name="Shape 21"/>
          <p:cNvSpPr/>
          <p:nvPr/>
        </p:nvSpPr>
        <p:spPr>
          <a:xfrm>
            <a:off x="2670048" y="2253700"/>
            <a:ext cx="683623" cy="136676"/>
          </a:xfrm>
          <a:prstGeom prst="rect">
            <a:avLst/>
          </a:prstGeom>
          <a:solidFill>
            <a:srgbClr val="2587C5"/>
          </a:solidFill>
          <a:ln/>
        </p:spPr>
      </p:sp>
      <p:sp>
        <p:nvSpPr>
          <p:cNvPr id="24" name="Text 22"/>
          <p:cNvSpPr txBox="1"/>
          <p:nvPr/>
        </p:nvSpPr>
        <p:spPr>
          <a:xfrm>
            <a:off x="3767328" y="2197787"/>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$28.4K</a:t>
            </a:r>
            <a:endParaRPr lang="en-US" sz="1300" dirty="0"/>
          </a:p>
        </p:txBody>
      </p:sp>
      <p:sp>
        <p:nvSpPr>
          <p:cNvPr id="25" name="Text 23"/>
          <p:cNvSpPr txBox="1"/>
          <p:nvPr/>
        </p:nvSpPr>
        <p:spPr>
          <a:xfrm>
            <a:off x="4553712" y="2197787"/>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a:t>
            </a:r>
            <a:endParaRPr lang="en-US" sz="1300" dirty="0"/>
          </a:p>
        </p:txBody>
      </p:sp>
      <p:sp>
        <p:nvSpPr>
          <p:cNvPr id="26" name="Text 24"/>
          <p:cNvSpPr txBox="1"/>
          <p:nvPr/>
        </p:nvSpPr>
        <p:spPr>
          <a:xfrm>
            <a:off x="5120640"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$3.72</a:t>
            </a:r>
            <a:endParaRPr lang="en-US" sz="1300" dirty="0"/>
          </a:p>
        </p:txBody>
      </p:sp>
      <p:sp>
        <p:nvSpPr>
          <p:cNvPr id="27" name="Text 25"/>
          <p:cNvSpPr txBox="1"/>
          <p:nvPr/>
        </p:nvSpPr>
        <p:spPr>
          <a:xfrm>
            <a:off x="658368"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28" name="Shape 26"/>
          <p:cNvSpPr/>
          <p:nvPr/>
        </p:nvSpPr>
        <p:spPr>
          <a:xfrm>
            <a:off x="2670048" y="2502202"/>
            <a:ext cx="656778" cy="136676"/>
          </a:xfrm>
          <a:prstGeom prst="rect">
            <a:avLst/>
          </a:prstGeom>
          <a:solidFill>
            <a:srgbClr val="2587C5"/>
          </a:solidFill>
          <a:ln/>
        </p:spPr>
      </p:sp>
      <p:sp>
        <p:nvSpPr>
          <p:cNvPr id="29" name="Text 27"/>
          <p:cNvSpPr txBox="1"/>
          <p:nvPr/>
        </p:nvSpPr>
        <p:spPr>
          <a:xfrm>
            <a:off x="3767328" y="2446289"/>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$27.3K</a:t>
            </a:r>
            <a:endParaRPr lang="en-US" sz="1300" dirty="0"/>
          </a:p>
        </p:txBody>
      </p:sp>
      <p:sp>
        <p:nvSpPr>
          <p:cNvPr id="30" name="Text 28"/>
          <p:cNvSpPr txBox="1"/>
          <p:nvPr/>
        </p:nvSpPr>
        <p:spPr>
          <a:xfrm>
            <a:off x="4553712" y="2446289"/>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a:t>
            </a:r>
            <a:endParaRPr lang="en-US" sz="1300" dirty="0"/>
          </a:p>
        </p:txBody>
      </p:sp>
      <p:sp>
        <p:nvSpPr>
          <p:cNvPr id="31" name="Text 29"/>
          <p:cNvSpPr txBox="1"/>
          <p:nvPr/>
        </p:nvSpPr>
        <p:spPr>
          <a:xfrm>
            <a:off x="5120640"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$4.69</a:t>
            </a:r>
            <a:endParaRPr lang="en-US" sz="1300" dirty="0"/>
          </a:p>
        </p:txBody>
      </p:sp>
      <p:sp>
        <p:nvSpPr>
          <p:cNvPr id="32" name="Text 30"/>
          <p:cNvSpPr txBox="1"/>
          <p:nvPr/>
        </p:nvSpPr>
        <p:spPr>
          <a:xfrm>
            <a:off x="658368"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33" name="Shape 31"/>
          <p:cNvSpPr/>
          <p:nvPr/>
        </p:nvSpPr>
        <p:spPr>
          <a:xfrm>
            <a:off x="2670048" y="2750703"/>
            <a:ext cx="600457" cy="136676"/>
          </a:xfrm>
          <a:prstGeom prst="rect">
            <a:avLst/>
          </a:prstGeom>
          <a:solidFill>
            <a:srgbClr val="2587C5"/>
          </a:solidFill>
          <a:ln/>
        </p:spPr>
      </p:sp>
      <p:sp>
        <p:nvSpPr>
          <p:cNvPr id="34" name="Text 32"/>
          <p:cNvSpPr txBox="1"/>
          <p:nvPr/>
        </p:nvSpPr>
        <p:spPr>
          <a:xfrm>
            <a:off x="3767328" y="2694791"/>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$24.9K</a:t>
            </a:r>
            <a:endParaRPr lang="en-US" sz="1300" dirty="0"/>
          </a:p>
        </p:txBody>
      </p:sp>
      <p:sp>
        <p:nvSpPr>
          <p:cNvPr id="35" name="Text 33"/>
          <p:cNvSpPr txBox="1"/>
          <p:nvPr/>
        </p:nvSpPr>
        <p:spPr>
          <a:xfrm>
            <a:off x="4553712" y="2694791"/>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a:t>
            </a:r>
            <a:endParaRPr lang="en-US" sz="1300" dirty="0"/>
          </a:p>
        </p:txBody>
      </p:sp>
      <p:sp>
        <p:nvSpPr>
          <p:cNvPr id="36" name="Text 34"/>
          <p:cNvSpPr txBox="1"/>
          <p:nvPr/>
        </p:nvSpPr>
        <p:spPr>
          <a:xfrm>
            <a:off x="5120640"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$3.06</a:t>
            </a:r>
            <a:endParaRPr lang="en-US" sz="1300" dirty="0"/>
          </a:p>
        </p:txBody>
      </p:sp>
      <p:sp>
        <p:nvSpPr>
          <p:cNvPr id="37" name="Text 35"/>
          <p:cNvSpPr txBox="1"/>
          <p:nvPr/>
        </p:nvSpPr>
        <p:spPr>
          <a:xfrm>
            <a:off x="658368"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38" name="Shape 36"/>
          <p:cNvSpPr/>
          <p:nvPr/>
        </p:nvSpPr>
        <p:spPr>
          <a:xfrm>
            <a:off x="2670048" y="2999205"/>
            <a:ext cx="548891" cy="136676"/>
          </a:xfrm>
          <a:prstGeom prst="rect">
            <a:avLst/>
          </a:prstGeom>
          <a:solidFill>
            <a:srgbClr val="2587C5"/>
          </a:solidFill>
          <a:ln/>
        </p:spPr>
      </p:sp>
      <p:sp>
        <p:nvSpPr>
          <p:cNvPr id="39" name="Text 37"/>
          <p:cNvSpPr txBox="1"/>
          <p:nvPr/>
        </p:nvSpPr>
        <p:spPr>
          <a:xfrm>
            <a:off x="3767328" y="2943292"/>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$22.8K</a:t>
            </a:r>
            <a:endParaRPr lang="en-US" sz="1300" dirty="0"/>
          </a:p>
        </p:txBody>
      </p:sp>
      <p:sp>
        <p:nvSpPr>
          <p:cNvPr id="40" name="Text 38"/>
          <p:cNvSpPr txBox="1"/>
          <p:nvPr/>
        </p:nvSpPr>
        <p:spPr>
          <a:xfrm>
            <a:off x="4553712" y="2943292"/>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41" name="Text 39"/>
          <p:cNvSpPr txBox="1"/>
          <p:nvPr/>
        </p:nvSpPr>
        <p:spPr>
          <a:xfrm>
            <a:off x="5120640"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$3.37</a:t>
            </a:r>
            <a:endParaRPr lang="en-US" sz="1300" dirty="0"/>
          </a:p>
        </p:txBody>
      </p:sp>
      <p:sp>
        <p:nvSpPr>
          <p:cNvPr id="42" name="Text 40"/>
          <p:cNvSpPr txBox="1"/>
          <p:nvPr/>
        </p:nvSpPr>
        <p:spPr>
          <a:xfrm>
            <a:off x="658368"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43" name="Shape 41"/>
          <p:cNvSpPr/>
          <p:nvPr/>
        </p:nvSpPr>
        <p:spPr>
          <a:xfrm>
            <a:off x="2670048" y="3247707"/>
            <a:ext cx="393176" cy="136676"/>
          </a:xfrm>
          <a:prstGeom prst="rect">
            <a:avLst/>
          </a:prstGeom>
          <a:solidFill>
            <a:srgbClr val="2587C5"/>
          </a:solidFill>
          <a:ln/>
        </p:spPr>
      </p:sp>
      <p:sp>
        <p:nvSpPr>
          <p:cNvPr id="44" name="Text 42"/>
          <p:cNvSpPr txBox="1"/>
          <p:nvPr/>
        </p:nvSpPr>
        <p:spPr>
          <a:xfrm>
            <a:off x="3767328" y="3191794"/>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$16.3K</a:t>
            </a:r>
            <a:endParaRPr lang="en-US" sz="1300" dirty="0"/>
          </a:p>
        </p:txBody>
      </p:sp>
      <p:sp>
        <p:nvSpPr>
          <p:cNvPr id="45" name="Text 43"/>
          <p:cNvSpPr txBox="1"/>
          <p:nvPr/>
        </p:nvSpPr>
        <p:spPr>
          <a:xfrm>
            <a:off x="4553712" y="3191794"/>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46" name="Text 44"/>
          <p:cNvSpPr txBox="1"/>
          <p:nvPr/>
        </p:nvSpPr>
        <p:spPr>
          <a:xfrm>
            <a:off x="5120640"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$4.64</a:t>
            </a:r>
            <a:endParaRPr lang="en-US" sz="1300" dirty="0"/>
          </a:p>
        </p:txBody>
      </p:sp>
      <p:sp>
        <p:nvSpPr>
          <p:cNvPr id="47" name="Text 45"/>
          <p:cNvSpPr txBox="1"/>
          <p:nvPr/>
        </p:nvSpPr>
        <p:spPr>
          <a:xfrm>
            <a:off x="658368"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48" name="Shape 46"/>
          <p:cNvSpPr/>
          <p:nvPr/>
        </p:nvSpPr>
        <p:spPr>
          <a:xfrm>
            <a:off x="2670048" y="3496208"/>
            <a:ext cx="391366" cy="136676"/>
          </a:xfrm>
          <a:prstGeom prst="rect">
            <a:avLst/>
          </a:prstGeom>
          <a:solidFill>
            <a:srgbClr val="2587C5"/>
          </a:solidFill>
          <a:ln/>
        </p:spPr>
      </p:sp>
      <p:sp>
        <p:nvSpPr>
          <p:cNvPr id="49" name="Text 47"/>
          <p:cNvSpPr txBox="1"/>
          <p:nvPr/>
        </p:nvSpPr>
        <p:spPr>
          <a:xfrm>
            <a:off x="3767328" y="3440296"/>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$16.2K</a:t>
            </a:r>
            <a:endParaRPr lang="en-US" sz="1300" dirty="0"/>
          </a:p>
        </p:txBody>
      </p:sp>
      <p:sp>
        <p:nvSpPr>
          <p:cNvPr id="50" name="Text 48"/>
          <p:cNvSpPr txBox="1"/>
          <p:nvPr/>
        </p:nvSpPr>
        <p:spPr>
          <a:xfrm>
            <a:off x="4553712" y="3440296"/>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51" name="Text 49"/>
          <p:cNvSpPr txBox="1"/>
          <p:nvPr/>
        </p:nvSpPr>
        <p:spPr>
          <a:xfrm>
            <a:off x="5120640"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$2.93</a:t>
            </a:r>
            <a:endParaRPr lang="en-US" sz="1300" dirty="0"/>
          </a:p>
        </p:txBody>
      </p:sp>
      <p:sp>
        <p:nvSpPr>
          <p:cNvPr id="52" name="Text 50"/>
          <p:cNvSpPr txBox="1"/>
          <p:nvPr/>
        </p:nvSpPr>
        <p:spPr>
          <a:xfrm>
            <a:off x="658368"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53" name="Shape 51"/>
          <p:cNvSpPr/>
          <p:nvPr/>
        </p:nvSpPr>
        <p:spPr>
          <a:xfrm>
            <a:off x="2670048" y="3744710"/>
            <a:ext cx="367379" cy="136676"/>
          </a:xfrm>
          <a:prstGeom prst="rect">
            <a:avLst/>
          </a:prstGeom>
          <a:solidFill>
            <a:srgbClr val="2587C5"/>
          </a:solidFill>
          <a:ln/>
        </p:spPr>
      </p:sp>
      <p:sp>
        <p:nvSpPr>
          <p:cNvPr id="54" name="Text 52"/>
          <p:cNvSpPr txBox="1"/>
          <p:nvPr/>
        </p:nvSpPr>
        <p:spPr>
          <a:xfrm>
            <a:off x="3767328" y="3688797"/>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$15.2K</a:t>
            </a:r>
            <a:endParaRPr lang="en-US" sz="1300" dirty="0"/>
          </a:p>
        </p:txBody>
      </p:sp>
      <p:sp>
        <p:nvSpPr>
          <p:cNvPr id="55" name="Text 53"/>
          <p:cNvSpPr txBox="1"/>
          <p:nvPr/>
        </p:nvSpPr>
        <p:spPr>
          <a:xfrm>
            <a:off x="4553712" y="3688797"/>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56" name="Text 54"/>
          <p:cNvSpPr txBox="1"/>
          <p:nvPr/>
        </p:nvSpPr>
        <p:spPr>
          <a:xfrm>
            <a:off x="5120640"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$2.68</a:t>
            </a:r>
            <a:endParaRPr lang="en-US" sz="1300" dirty="0"/>
          </a:p>
        </p:txBody>
      </p:sp>
      <p:sp>
        <p:nvSpPr>
          <p:cNvPr id="57" name="Text 55"/>
          <p:cNvSpPr txBox="1"/>
          <p:nvPr/>
        </p:nvSpPr>
        <p:spPr>
          <a:xfrm>
            <a:off x="658368"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58" name="Shape 56"/>
          <p:cNvSpPr/>
          <p:nvPr/>
        </p:nvSpPr>
        <p:spPr>
          <a:xfrm>
            <a:off x="2670048" y="3993212"/>
            <a:ext cx="355248" cy="136676"/>
          </a:xfrm>
          <a:prstGeom prst="rect">
            <a:avLst/>
          </a:prstGeom>
          <a:solidFill>
            <a:srgbClr val="2587C5"/>
          </a:solidFill>
          <a:ln/>
        </p:spPr>
      </p:sp>
      <p:sp>
        <p:nvSpPr>
          <p:cNvPr id="59" name="Text 57"/>
          <p:cNvSpPr txBox="1"/>
          <p:nvPr/>
        </p:nvSpPr>
        <p:spPr>
          <a:xfrm>
            <a:off x="3767328" y="3937299"/>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$14.7K</a:t>
            </a:r>
            <a:endParaRPr lang="en-US" sz="1300" dirty="0"/>
          </a:p>
        </p:txBody>
      </p:sp>
      <p:sp>
        <p:nvSpPr>
          <p:cNvPr id="60" name="Text 58"/>
          <p:cNvSpPr txBox="1"/>
          <p:nvPr/>
        </p:nvSpPr>
        <p:spPr>
          <a:xfrm>
            <a:off x="4553712" y="3937299"/>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a:t>
            </a:r>
            <a:endParaRPr lang="en-US" sz="1300" dirty="0"/>
          </a:p>
        </p:txBody>
      </p:sp>
      <p:sp>
        <p:nvSpPr>
          <p:cNvPr id="61" name="Text 59"/>
          <p:cNvSpPr txBox="1"/>
          <p:nvPr/>
        </p:nvSpPr>
        <p:spPr>
          <a:xfrm>
            <a:off x="5120640"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$3.47</a:t>
            </a:r>
            <a:endParaRPr lang="en-US" sz="1300" dirty="0"/>
          </a:p>
        </p:txBody>
      </p:sp>
      <p:sp>
        <p:nvSpPr>
          <p:cNvPr id="62" name="Text 60"/>
          <p:cNvSpPr txBox="1"/>
          <p:nvPr/>
        </p:nvSpPr>
        <p:spPr>
          <a:xfrm>
            <a:off x="658368"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63" name="Shape 61"/>
          <p:cNvSpPr/>
          <p:nvPr/>
        </p:nvSpPr>
        <p:spPr>
          <a:xfrm>
            <a:off x="2670048" y="4241713"/>
            <a:ext cx="338665" cy="136676"/>
          </a:xfrm>
          <a:prstGeom prst="rect">
            <a:avLst/>
          </a:prstGeom>
          <a:solidFill>
            <a:srgbClr val="2587C5"/>
          </a:solidFill>
          <a:ln/>
        </p:spPr>
      </p:sp>
      <p:sp>
        <p:nvSpPr>
          <p:cNvPr id="64" name="Text 62"/>
          <p:cNvSpPr txBox="1"/>
          <p:nvPr/>
        </p:nvSpPr>
        <p:spPr>
          <a:xfrm>
            <a:off x="3767328" y="4185800"/>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$14.1K</a:t>
            </a:r>
            <a:endParaRPr lang="en-US" sz="1300" dirty="0"/>
          </a:p>
        </p:txBody>
      </p:sp>
      <p:sp>
        <p:nvSpPr>
          <p:cNvPr id="65" name="Text 63"/>
          <p:cNvSpPr txBox="1"/>
          <p:nvPr/>
        </p:nvSpPr>
        <p:spPr>
          <a:xfrm>
            <a:off x="4553712" y="4185800"/>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a:t>
            </a:r>
            <a:endParaRPr lang="en-US" sz="1300" dirty="0"/>
          </a:p>
        </p:txBody>
      </p:sp>
      <p:sp>
        <p:nvSpPr>
          <p:cNvPr id="66" name="Text 64"/>
          <p:cNvSpPr txBox="1"/>
          <p:nvPr/>
        </p:nvSpPr>
        <p:spPr>
          <a:xfrm>
            <a:off x="5120640"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$3.06</a:t>
            </a:r>
            <a:endParaRPr lang="en-US" sz="1300" dirty="0"/>
          </a:p>
        </p:txBody>
      </p:sp>
      <p:sp>
        <p:nvSpPr>
          <p:cNvPr id="67" name="Text 65"/>
          <p:cNvSpPr txBox="1"/>
          <p:nvPr/>
        </p:nvSpPr>
        <p:spPr>
          <a:xfrm>
            <a:off x="658368"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68" name="Shape 66"/>
          <p:cNvSpPr/>
          <p:nvPr/>
        </p:nvSpPr>
        <p:spPr>
          <a:xfrm>
            <a:off x="2670048" y="4490215"/>
            <a:ext cx="305679" cy="136676"/>
          </a:xfrm>
          <a:prstGeom prst="rect">
            <a:avLst/>
          </a:prstGeom>
          <a:solidFill>
            <a:srgbClr val="2587C5"/>
          </a:solidFill>
          <a:ln/>
        </p:spPr>
      </p:sp>
      <p:sp>
        <p:nvSpPr>
          <p:cNvPr id="69" name="Text 67"/>
          <p:cNvSpPr txBox="1"/>
          <p:nvPr/>
        </p:nvSpPr>
        <p:spPr>
          <a:xfrm>
            <a:off x="3767328" y="4434302"/>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$12.7K</a:t>
            </a:r>
            <a:endParaRPr lang="en-US" sz="1300" dirty="0"/>
          </a:p>
        </p:txBody>
      </p:sp>
      <p:sp>
        <p:nvSpPr>
          <p:cNvPr id="70" name="Text 68"/>
          <p:cNvSpPr txBox="1"/>
          <p:nvPr/>
        </p:nvSpPr>
        <p:spPr>
          <a:xfrm>
            <a:off x="4553712" y="4434302"/>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a:t>
            </a:r>
            <a:endParaRPr lang="en-US" sz="1300" dirty="0"/>
          </a:p>
        </p:txBody>
      </p:sp>
      <p:sp>
        <p:nvSpPr>
          <p:cNvPr id="71" name="Text 69"/>
          <p:cNvSpPr txBox="1"/>
          <p:nvPr/>
        </p:nvSpPr>
        <p:spPr>
          <a:xfrm>
            <a:off x="5120640"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$2.41</a:t>
            </a:r>
            <a:endParaRPr lang="en-US" sz="1300" dirty="0"/>
          </a:p>
        </p:txBody>
      </p:sp>
      <p:sp>
        <p:nvSpPr>
          <p:cNvPr id="72" name="Text 70"/>
          <p:cNvSpPr txBox="1"/>
          <p:nvPr/>
        </p:nvSpPr>
        <p:spPr>
          <a:xfrm>
            <a:off x="658368"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73" name="Shape 71"/>
          <p:cNvSpPr/>
          <p:nvPr/>
        </p:nvSpPr>
        <p:spPr>
          <a:xfrm>
            <a:off x="2670048" y="4738717"/>
            <a:ext cx="303009" cy="136676"/>
          </a:xfrm>
          <a:prstGeom prst="rect">
            <a:avLst/>
          </a:prstGeom>
          <a:solidFill>
            <a:srgbClr val="2587C5"/>
          </a:solidFill>
          <a:ln/>
        </p:spPr>
      </p:sp>
      <p:sp>
        <p:nvSpPr>
          <p:cNvPr id="74" name="Text 72"/>
          <p:cNvSpPr txBox="1"/>
          <p:nvPr/>
        </p:nvSpPr>
        <p:spPr>
          <a:xfrm>
            <a:off x="3767328" y="4682804"/>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$12.6K</a:t>
            </a:r>
            <a:endParaRPr lang="en-US" sz="1300" dirty="0"/>
          </a:p>
        </p:txBody>
      </p:sp>
      <p:sp>
        <p:nvSpPr>
          <p:cNvPr id="75" name="Text 73"/>
          <p:cNvSpPr txBox="1"/>
          <p:nvPr/>
        </p:nvSpPr>
        <p:spPr>
          <a:xfrm>
            <a:off x="4553712" y="4682804"/>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76" name="Text 74"/>
          <p:cNvSpPr txBox="1"/>
          <p:nvPr/>
        </p:nvSpPr>
        <p:spPr>
          <a:xfrm>
            <a:off x="5120640"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$2.93</a:t>
            </a:r>
            <a:endParaRPr lang="en-US" sz="1300" dirty="0"/>
          </a:p>
        </p:txBody>
      </p:sp>
      <p:sp>
        <p:nvSpPr>
          <p:cNvPr id="77" name="Text 75"/>
          <p:cNvSpPr txBox="1"/>
          <p:nvPr/>
        </p:nvSpPr>
        <p:spPr>
          <a:xfrm>
            <a:off x="658368"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78" name="Shape 76"/>
          <p:cNvSpPr/>
          <p:nvPr/>
        </p:nvSpPr>
        <p:spPr>
          <a:xfrm>
            <a:off x="2670048" y="4987218"/>
            <a:ext cx="297134" cy="136676"/>
          </a:xfrm>
          <a:prstGeom prst="rect">
            <a:avLst/>
          </a:prstGeom>
          <a:solidFill>
            <a:srgbClr val="2587C5"/>
          </a:solidFill>
          <a:ln/>
        </p:spPr>
      </p:sp>
      <p:sp>
        <p:nvSpPr>
          <p:cNvPr id="79" name="Text 77"/>
          <p:cNvSpPr txBox="1"/>
          <p:nvPr/>
        </p:nvSpPr>
        <p:spPr>
          <a:xfrm>
            <a:off x="3767328" y="4931305"/>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$12.3K</a:t>
            </a:r>
            <a:endParaRPr lang="en-US" sz="1300" dirty="0"/>
          </a:p>
        </p:txBody>
      </p:sp>
      <p:sp>
        <p:nvSpPr>
          <p:cNvPr id="80" name="Text 78"/>
          <p:cNvSpPr txBox="1"/>
          <p:nvPr/>
        </p:nvSpPr>
        <p:spPr>
          <a:xfrm>
            <a:off x="4553712" y="4931305"/>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a:t>
            </a:r>
            <a:endParaRPr lang="en-US" sz="1300" dirty="0"/>
          </a:p>
        </p:txBody>
      </p:sp>
      <p:sp>
        <p:nvSpPr>
          <p:cNvPr id="81" name="Text 79"/>
          <p:cNvSpPr txBox="1"/>
          <p:nvPr/>
        </p:nvSpPr>
        <p:spPr>
          <a:xfrm>
            <a:off x="5120640"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$2.50</a:t>
            </a:r>
            <a:endParaRPr lang="en-US" sz="1300" dirty="0"/>
          </a:p>
        </p:txBody>
      </p:sp>
      <p:sp>
        <p:nvSpPr>
          <p:cNvPr id="82" name="Text 80"/>
          <p:cNvSpPr txBox="1"/>
          <p:nvPr/>
        </p:nvSpPr>
        <p:spPr>
          <a:xfrm>
            <a:off x="658368"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83" name="Shape 81"/>
          <p:cNvSpPr/>
          <p:nvPr/>
        </p:nvSpPr>
        <p:spPr>
          <a:xfrm>
            <a:off x="2670048" y="5235720"/>
            <a:ext cx="287796" cy="136676"/>
          </a:xfrm>
          <a:prstGeom prst="rect">
            <a:avLst/>
          </a:prstGeom>
          <a:solidFill>
            <a:srgbClr val="2587C5"/>
          </a:solidFill>
          <a:ln/>
        </p:spPr>
      </p:sp>
      <p:sp>
        <p:nvSpPr>
          <p:cNvPr id="84" name="Text 82"/>
          <p:cNvSpPr txBox="1"/>
          <p:nvPr/>
        </p:nvSpPr>
        <p:spPr>
          <a:xfrm>
            <a:off x="3767328" y="5179807"/>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$11.9K</a:t>
            </a:r>
            <a:endParaRPr lang="en-US" sz="1300" dirty="0"/>
          </a:p>
        </p:txBody>
      </p:sp>
      <p:sp>
        <p:nvSpPr>
          <p:cNvPr id="85" name="Text 83"/>
          <p:cNvSpPr txBox="1"/>
          <p:nvPr/>
        </p:nvSpPr>
        <p:spPr>
          <a:xfrm>
            <a:off x="4553712" y="5179807"/>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a:t>
            </a:r>
            <a:endParaRPr lang="en-US" sz="1300" dirty="0"/>
          </a:p>
        </p:txBody>
      </p:sp>
      <p:sp>
        <p:nvSpPr>
          <p:cNvPr id="86" name="Text 84"/>
          <p:cNvSpPr txBox="1"/>
          <p:nvPr/>
        </p:nvSpPr>
        <p:spPr>
          <a:xfrm>
            <a:off x="5120640"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$2.75</a:t>
            </a:r>
            <a:endParaRPr lang="en-US" sz="1300" dirty="0"/>
          </a:p>
        </p:txBody>
      </p:sp>
      <p:sp>
        <p:nvSpPr>
          <p:cNvPr id="87" name="Text 85"/>
          <p:cNvSpPr txBox="1"/>
          <p:nvPr/>
        </p:nvSpPr>
        <p:spPr>
          <a:xfrm>
            <a:off x="658368"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88" name="Shape 86"/>
          <p:cNvSpPr/>
          <p:nvPr/>
        </p:nvSpPr>
        <p:spPr>
          <a:xfrm>
            <a:off x="2670048" y="5484222"/>
            <a:ext cx="274938" cy="136676"/>
          </a:xfrm>
          <a:prstGeom prst="rect">
            <a:avLst/>
          </a:prstGeom>
          <a:solidFill>
            <a:srgbClr val="2587C5"/>
          </a:solidFill>
          <a:ln/>
        </p:spPr>
      </p:sp>
      <p:sp>
        <p:nvSpPr>
          <p:cNvPr id="89" name="Text 87"/>
          <p:cNvSpPr txBox="1"/>
          <p:nvPr/>
        </p:nvSpPr>
        <p:spPr>
          <a:xfrm>
            <a:off x="3767328" y="5428309"/>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$11.4K</a:t>
            </a:r>
            <a:endParaRPr lang="en-US" sz="1300" dirty="0"/>
          </a:p>
        </p:txBody>
      </p:sp>
      <p:sp>
        <p:nvSpPr>
          <p:cNvPr id="90" name="Text 88"/>
          <p:cNvSpPr txBox="1"/>
          <p:nvPr/>
        </p:nvSpPr>
        <p:spPr>
          <a:xfrm>
            <a:off x="4553712" y="5428309"/>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91" name="Text 89"/>
          <p:cNvSpPr txBox="1"/>
          <p:nvPr/>
        </p:nvSpPr>
        <p:spPr>
          <a:xfrm>
            <a:off x="5120640"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$4.99</a:t>
            </a:r>
            <a:endParaRPr lang="en-US" sz="1300" dirty="0"/>
          </a:p>
        </p:txBody>
      </p:sp>
      <p:sp>
        <p:nvSpPr>
          <p:cNvPr id="92" name="Text 90"/>
          <p:cNvSpPr txBox="1"/>
          <p:nvPr/>
        </p:nvSpPr>
        <p:spPr>
          <a:xfrm>
            <a:off x="658368" y="567681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93" name="Shape 91"/>
          <p:cNvSpPr/>
          <p:nvPr/>
        </p:nvSpPr>
        <p:spPr>
          <a:xfrm>
            <a:off x="2670048" y="5732723"/>
            <a:ext cx="260210" cy="136676"/>
          </a:xfrm>
          <a:prstGeom prst="rect">
            <a:avLst/>
          </a:prstGeom>
          <a:solidFill>
            <a:srgbClr val="2587C5"/>
          </a:solidFill>
          <a:ln/>
        </p:spPr>
      </p:sp>
      <p:sp>
        <p:nvSpPr>
          <p:cNvPr id="94" name="Text 92"/>
          <p:cNvSpPr txBox="1"/>
          <p:nvPr/>
        </p:nvSpPr>
        <p:spPr>
          <a:xfrm>
            <a:off x="3767328" y="5676810"/>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$10.8K</a:t>
            </a:r>
            <a:endParaRPr lang="en-US" sz="1300" dirty="0"/>
          </a:p>
        </p:txBody>
      </p:sp>
      <p:sp>
        <p:nvSpPr>
          <p:cNvPr id="95" name="Text 93"/>
          <p:cNvSpPr txBox="1"/>
          <p:nvPr/>
        </p:nvSpPr>
        <p:spPr>
          <a:xfrm>
            <a:off x="4553712" y="5676810"/>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96" name="Text 94"/>
          <p:cNvSpPr txBox="1"/>
          <p:nvPr/>
        </p:nvSpPr>
        <p:spPr>
          <a:xfrm>
            <a:off x="5120640" y="567681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$4.06</a:t>
            </a:r>
            <a:endParaRPr lang="en-US" sz="1300" dirty="0"/>
          </a:p>
        </p:txBody>
      </p:sp>
      <p:sp>
        <p:nvSpPr>
          <p:cNvPr id="97" name="Text 95"/>
          <p:cNvSpPr txBox="1"/>
          <p:nvPr/>
        </p:nvSpPr>
        <p:spPr>
          <a:xfrm>
            <a:off x="6208776"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98" name="Shape 96"/>
          <p:cNvSpPr/>
          <p:nvPr/>
        </p:nvSpPr>
        <p:spPr>
          <a:xfrm>
            <a:off x="8220456" y="1756697"/>
            <a:ext cx="246097" cy="136676"/>
          </a:xfrm>
          <a:prstGeom prst="rect">
            <a:avLst/>
          </a:prstGeom>
          <a:solidFill>
            <a:srgbClr val="2587C5"/>
          </a:solidFill>
          <a:ln/>
        </p:spPr>
      </p:sp>
      <p:sp>
        <p:nvSpPr>
          <p:cNvPr id="99" name="Text 97"/>
          <p:cNvSpPr txBox="1"/>
          <p:nvPr/>
        </p:nvSpPr>
        <p:spPr>
          <a:xfrm>
            <a:off x="9317736" y="1700784"/>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$10.2K</a:t>
            </a:r>
            <a:endParaRPr lang="en-US" sz="1300" dirty="0"/>
          </a:p>
        </p:txBody>
      </p:sp>
      <p:sp>
        <p:nvSpPr>
          <p:cNvPr id="100" name="Text 98"/>
          <p:cNvSpPr txBox="1"/>
          <p:nvPr/>
        </p:nvSpPr>
        <p:spPr>
          <a:xfrm>
            <a:off x="10104120" y="1700784"/>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a:t>
            </a:r>
            <a:endParaRPr lang="en-US" sz="1300" dirty="0"/>
          </a:p>
        </p:txBody>
      </p:sp>
      <p:sp>
        <p:nvSpPr>
          <p:cNvPr id="101" name="Text 99"/>
          <p:cNvSpPr txBox="1"/>
          <p:nvPr/>
        </p:nvSpPr>
        <p:spPr>
          <a:xfrm>
            <a:off x="10671048"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$3.17</a:t>
            </a:r>
            <a:endParaRPr lang="en-US" sz="1300" dirty="0"/>
          </a:p>
        </p:txBody>
      </p:sp>
      <p:sp>
        <p:nvSpPr>
          <p:cNvPr id="102" name="Text 100"/>
          <p:cNvSpPr txBox="1"/>
          <p:nvPr/>
        </p:nvSpPr>
        <p:spPr>
          <a:xfrm>
            <a:off x="6208776"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03" name="Shape 101"/>
          <p:cNvSpPr/>
          <p:nvPr/>
        </p:nvSpPr>
        <p:spPr>
          <a:xfrm>
            <a:off x="8220456" y="2005199"/>
            <a:ext cx="220598" cy="136676"/>
          </a:xfrm>
          <a:prstGeom prst="rect">
            <a:avLst/>
          </a:prstGeom>
          <a:solidFill>
            <a:srgbClr val="2587C5"/>
          </a:solidFill>
          <a:ln/>
        </p:spPr>
      </p:sp>
      <p:sp>
        <p:nvSpPr>
          <p:cNvPr id="104" name="Text 102"/>
          <p:cNvSpPr txBox="1"/>
          <p:nvPr/>
        </p:nvSpPr>
        <p:spPr>
          <a:xfrm>
            <a:off x="9317736" y="1949286"/>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$9.2K</a:t>
            </a:r>
            <a:endParaRPr lang="en-US" sz="1300" dirty="0"/>
          </a:p>
        </p:txBody>
      </p:sp>
      <p:sp>
        <p:nvSpPr>
          <p:cNvPr id="105" name="Text 103"/>
          <p:cNvSpPr txBox="1"/>
          <p:nvPr/>
        </p:nvSpPr>
        <p:spPr>
          <a:xfrm>
            <a:off x="10104120" y="1949286"/>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06" name="Text 104"/>
          <p:cNvSpPr txBox="1"/>
          <p:nvPr/>
        </p:nvSpPr>
        <p:spPr>
          <a:xfrm>
            <a:off x="10671048"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$3.27</a:t>
            </a:r>
            <a:endParaRPr lang="en-US" sz="1300" dirty="0"/>
          </a:p>
        </p:txBody>
      </p:sp>
      <p:sp>
        <p:nvSpPr>
          <p:cNvPr id="107" name="Text 105"/>
          <p:cNvSpPr txBox="1"/>
          <p:nvPr/>
        </p:nvSpPr>
        <p:spPr>
          <a:xfrm>
            <a:off x="6208776"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08" name="Shape 106"/>
          <p:cNvSpPr/>
          <p:nvPr/>
        </p:nvSpPr>
        <p:spPr>
          <a:xfrm>
            <a:off x="8220456" y="2253700"/>
            <a:ext cx="212176" cy="136676"/>
          </a:xfrm>
          <a:prstGeom prst="rect">
            <a:avLst/>
          </a:prstGeom>
          <a:solidFill>
            <a:srgbClr val="2587C5"/>
          </a:solidFill>
          <a:ln/>
        </p:spPr>
      </p:sp>
      <p:sp>
        <p:nvSpPr>
          <p:cNvPr id="109" name="Text 107"/>
          <p:cNvSpPr txBox="1"/>
          <p:nvPr/>
        </p:nvSpPr>
        <p:spPr>
          <a:xfrm>
            <a:off x="9317736" y="2197787"/>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$8.8K</a:t>
            </a:r>
            <a:endParaRPr lang="en-US" sz="1300" dirty="0"/>
          </a:p>
        </p:txBody>
      </p:sp>
      <p:sp>
        <p:nvSpPr>
          <p:cNvPr id="110" name="Text 108"/>
          <p:cNvSpPr txBox="1"/>
          <p:nvPr/>
        </p:nvSpPr>
        <p:spPr>
          <a:xfrm>
            <a:off x="10104120" y="2197787"/>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111" name="Text 109"/>
          <p:cNvSpPr txBox="1"/>
          <p:nvPr/>
        </p:nvSpPr>
        <p:spPr>
          <a:xfrm>
            <a:off x="10671048"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$3.45</a:t>
            </a:r>
            <a:endParaRPr lang="en-US" sz="1300" dirty="0"/>
          </a:p>
        </p:txBody>
      </p:sp>
      <p:sp>
        <p:nvSpPr>
          <p:cNvPr id="112" name="Text 110"/>
          <p:cNvSpPr txBox="1"/>
          <p:nvPr/>
        </p:nvSpPr>
        <p:spPr>
          <a:xfrm>
            <a:off x="6208776"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13" name="Shape 111"/>
          <p:cNvSpPr/>
          <p:nvPr/>
        </p:nvSpPr>
        <p:spPr>
          <a:xfrm>
            <a:off x="8220456" y="2502202"/>
            <a:ext cx="203688" cy="136676"/>
          </a:xfrm>
          <a:prstGeom prst="rect">
            <a:avLst/>
          </a:prstGeom>
          <a:solidFill>
            <a:srgbClr val="2587C5"/>
          </a:solidFill>
          <a:ln/>
        </p:spPr>
      </p:sp>
      <p:sp>
        <p:nvSpPr>
          <p:cNvPr id="114" name="Text 112"/>
          <p:cNvSpPr txBox="1"/>
          <p:nvPr/>
        </p:nvSpPr>
        <p:spPr>
          <a:xfrm>
            <a:off x="9317736" y="2446289"/>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$8.5K</a:t>
            </a:r>
            <a:endParaRPr lang="en-US" sz="1300" dirty="0"/>
          </a:p>
        </p:txBody>
      </p:sp>
      <p:sp>
        <p:nvSpPr>
          <p:cNvPr id="115" name="Text 113"/>
          <p:cNvSpPr txBox="1"/>
          <p:nvPr/>
        </p:nvSpPr>
        <p:spPr>
          <a:xfrm>
            <a:off x="10104120" y="2446289"/>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16" name="Text 114"/>
          <p:cNvSpPr txBox="1"/>
          <p:nvPr/>
        </p:nvSpPr>
        <p:spPr>
          <a:xfrm>
            <a:off x="10671048"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$2.80</a:t>
            </a:r>
            <a:endParaRPr lang="en-US" sz="1300" dirty="0"/>
          </a:p>
        </p:txBody>
      </p:sp>
      <p:sp>
        <p:nvSpPr>
          <p:cNvPr id="117" name="Text 115"/>
          <p:cNvSpPr txBox="1"/>
          <p:nvPr/>
        </p:nvSpPr>
        <p:spPr>
          <a:xfrm>
            <a:off x="6208776"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18" name="Shape 116"/>
          <p:cNvSpPr/>
          <p:nvPr/>
        </p:nvSpPr>
        <p:spPr>
          <a:xfrm>
            <a:off x="8220456" y="2750703"/>
            <a:ext cx="199671" cy="136676"/>
          </a:xfrm>
          <a:prstGeom prst="rect">
            <a:avLst/>
          </a:prstGeom>
          <a:solidFill>
            <a:srgbClr val="2587C5"/>
          </a:solidFill>
          <a:ln/>
        </p:spPr>
      </p:sp>
      <p:sp>
        <p:nvSpPr>
          <p:cNvPr id="119" name="Text 117"/>
          <p:cNvSpPr txBox="1"/>
          <p:nvPr/>
        </p:nvSpPr>
        <p:spPr>
          <a:xfrm>
            <a:off x="9317736" y="2694791"/>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$8.3K</a:t>
            </a:r>
            <a:endParaRPr lang="en-US" sz="1300" dirty="0"/>
          </a:p>
        </p:txBody>
      </p:sp>
      <p:sp>
        <p:nvSpPr>
          <p:cNvPr id="120" name="Text 118"/>
          <p:cNvSpPr txBox="1"/>
          <p:nvPr/>
        </p:nvSpPr>
        <p:spPr>
          <a:xfrm>
            <a:off x="10104120" y="2694791"/>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a:t>
            </a:r>
            <a:endParaRPr lang="en-US" sz="1300" dirty="0"/>
          </a:p>
        </p:txBody>
      </p:sp>
      <p:sp>
        <p:nvSpPr>
          <p:cNvPr id="121" name="Text 119"/>
          <p:cNvSpPr txBox="1"/>
          <p:nvPr/>
        </p:nvSpPr>
        <p:spPr>
          <a:xfrm>
            <a:off x="10671048"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$3.84</a:t>
            </a:r>
            <a:endParaRPr lang="en-US" sz="1300" dirty="0"/>
          </a:p>
        </p:txBody>
      </p:sp>
      <p:sp>
        <p:nvSpPr>
          <p:cNvPr id="122" name="Text 120"/>
          <p:cNvSpPr txBox="1"/>
          <p:nvPr/>
        </p:nvSpPr>
        <p:spPr>
          <a:xfrm>
            <a:off x="6208776"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23" name="Shape 121"/>
          <p:cNvSpPr/>
          <p:nvPr/>
        </p:nvSpPr>
        <p:spPr>
          <a:xfrm>
            <a:off x="8220456" y="2999205"/>
            <a:ext cx="194454" cy="136676"/>
          </a:xfrm>
          <a:prstGeom prst="rect">
            <a:avLst/>
          </a:prstGeom>
          <a:solidFill>
            <a:srgbClr val="2587C5"/>
          </a:solidFill>
          <a:ln/>
        </p:spPr>
      </p:sp>
      <p:sp>
        <p:nvSpPr>
          <p:cNvPr id="124" name="Text 122"/>
          <p:cNvSpPr txBox="1"/>
          <p:nvPr/>
        </p:nvSpPr>
        <p:spPr>
          <a:xfrm>
            <a:off x="9317736" y="2943292"/>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$8.1K</a:t>
            </a:r>
            <a:endParaRPr lang="en-US" sz="1300" dirty="0"/>
          </a:p>
        </p:txBody>
      </p:sp>
      <p:sp>
        <p:nvSpPr>
          <p:cNvPr id="125" name="Text 123"/>
          <p:cNvSpPr txBox="1"/>
          <p:nvPr/>
        </p:nvSpPr>
        <p:spPr>
          <a:xfrm>
            <a:off x="10104120" y="2943292"/>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126" name="Text 124"/>
          <p:cNvSpPr txBox="1"/>
          <p:nvPr/>
        </p:nvSpPr>
        <p:spPr>
          <a:xfrm>
            <a:off x="10671048"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$3.03</a:t>
            </a:r>
            <a:endParaRPr lang="en-US" sz="1300" dirty="0"/>
          </a:p>
        </p:txBody>
      </p:sp>
      <p:sp>
        <p:nvSpPr>
          <p:cNvPr id="127" name="Text 125"/>
          <p:cNvSpPr txBox="1"/>
          <p:nvPr/>
        </p:nvSpPr>
        <p:spPr>
          <a:xfrm>
            <a:off x="6208776"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28" name="Shape 126"/>
          <p:cNvSpPr/>
          <p:nvPr/>
        </p:nvSpPr>
        <p:spPr>
          <a:xfrm>
            <a:off x="8220456" y="3247707"/>
            <a:ext cx="181881" cy="136676"/>
          </a:xfrm>
          <a:prstGeom prst="rect">
            <a:avLst/>
          </a:prstGeom>
          <a:solidFill>
            <a:srgbClr val="2587C5"/>
          </a:solidFill>
          <a:ln/>
        </p:spPr>
      </p:sp>
      <p:sp>
        <p:nvSpPr>
          <p:cNvPr id="129" name="Text 127"/>
          <p:cNvSpPr txBox="1"/>
          <p:nvPr/>
        </p:nvSpPr>
        <p:spPr>
          <a:xfrm>
            <a:off x="9317736" y="3191794"/>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$7.5K</a:t>
            </a:r>
            <a:endParaRPr lang="en-US" sz="1300" dirty="0"/>
          </a:p>
        </p:txBody>
      </p:sp>
      <p:sp>
        <p:nvSpPr>
          <p:cNvPr id="130" name="Text 128"/>
          <p:cNvSpPr txBox="1"/>
          <p:nvPr/>
        </p:nvSpPr>
        <p:spPr>
          <a:xfrm>
            <a:off x="10104120" y="3191794"/>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131" name="Text 129"/>
          <p:cNvSpPr txBox="1"/>
          <p:nvPr/>
        </p:nvSpPr>
        <p:spPr>
          <a:xfrm>
            <a:off x="10671048"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$3.53</a:t>
            </a:r>
            <a:endParaRPr lang="en-US" sz="1300" dirty="0"/>
          </a:p>
        </p:txBody>
      </p:sp>
      <p:sp>
        <p:nvSpPr>
          <p:cNvPr id="132" name="Text 130"/>
          <p:cNvSpPr txBox="1"/>
          <p:nvPr/>
        </p:nvSpPr>
        <p:spPr>
          <a:xfrm>
            <a:off x="6208776"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33" name="Shape 131"/>
          <p:cNvSpPr/>
          <p:nvPr/>
        </p:nvSpPr>
        <p:spPr>
          <a:xfrm>
            <a:off x="8220456" y="3496208"/>
            <a:ext cx="178186" cy="136676"/>
          </a:xfrm>
          <a:prstGeom prst="rect">
            <a:avLst/>
          </a:prstGeom>
          <a:solidFill>
            <a:srgbClr val="2587C5"/>
          </a:solidFill>
          <a:ln/>
        </p:spPr>
      </p:sp>
      <p:sp>
        <p:nvSpPr>
          <p:cNvPr id="134" name="Text 132"/>
          <p:cNvSpPr txBox="1"/>
          <p:nvPr/>
        </p:nvSpPr>
        <p:spPr>
          <a:xfrm>
            <a:off x="9317736" y="3440296"/>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$7.4K</a:t>
            </a:r>
            <a:endParaRPr lang="en-US" sz="1300" dirty="0"/>
          </a:p>
        </p:txBody>
      </p:sp>
      <p:sp>
        <p:nvSpPr>
          <p:cNvPr id="135" name="Text 133"/>
          <p:cNvSpPr txBox="1"/>
          <p:nvPr/>
        </p:nvSpPr>
        <p:spPr>
          <a:xfrm>
            <a:off x="10104120" y="3440296"/>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136" name="Text 134"/>
          <p:cNvSpPr txBox="1"/>
          <p:nvPr/>
        </p:nvSpPr>
        <p:spPr>
          <a:xfrm>
            <a:off x="10671048"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$3.27</a:t>
            </a:r>
            <a:endParaRPr lang="en-US" sz="1300" dirty="0"/>
          </a:p>
        </p:txBody>
      </p:sp>
      <p:sp>
        <p:nvSpPr>
          <p:cNvPr id="137" name="Text 135"/>
          <p:cNvSpPr txBox="1"/>
          <p:nvPr/>
        </p:nvSpPr>
        <p:spPr>
          <a:xfrm>
            <a:off x="6208776"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38" name="Shape 136"/>
          <p:cNvSpPr/>
          <p:nvPr/>
        </p:nvSpPr>
        <p:spPr>
          <a:xfrm>
            <a:off x="8220456" y="3744710"/>
            <a:ext cx="174696" cy="136676"/>
          </a:xfrm>
          <a:prstGeom prst="rect">
            <a:avLst/>
          </a:prstGeom>
          <a:solidFill>
            <a:srgbClr val="2587C5"/>
          </a:solidFill>
          <a:ln/>
        </p:spPr>
      </p:sp>
      <p:sp>
        <p:nvSpPr>
          <p:cNvPr id="139" name="Text 137"/>
          <p:cNvSpPr txBox="1"/>
          <p:nvPr/>
        </p:nvSpPr>
        <p:spPr>
          <a:xfrm>
            <a:off x="9317736" y="3688797"/>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$7.2K</a:t>
            </a:r>
            <a:endParaRPr lang="en-US" sz="1300" dirty="0"/>
          </a:p>
        </p:txBody>
      </p:sp>
      <p:sp>
        <p:nvSpPr>
          <p:cNvPr id="140" name="Text 138"/>
          <p:cNvSpPr txBox="1"/>
          <p:nvPr/>
        </p:nvSpPr>
        <p:spPr>
          <a:xfrm>
            <a:off x="10104120" y="3688797"/>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41" name="Text 139"/>
          <p:cNvSpPr txBox="1"/>
          <p:nvPr/>
        </p:nvSpPr>
        <p:spPr>
          <a:xfrm>
            <a:off x="10671048"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$2.59</a:t>
            </a:r>
            <a:endParaRPr lang="en-US" sz="1300" dirty="0"/>
          </a:p>
        </p:txBody>
      </p:sp>
      <p:sp>
        <p:nvSpPr>
          <p:cNvPr id="142" name="Text 140"/>
          <p:cNvSpPr txBox="1"/>
          <p:nvPr/>
        </p:nvSpPr>
        <p:spPr>
          <a:xfrm>
            <a:off x="6208776"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43" name="Shape 141"/>
          <p:cNvSpPr/>
          <p:nvPr/>
        </p:nvSpPr>
        <p:spPr>
          <a:xfrm>
            <a:off x="8220456" y="3993212"/>
            <a:ext cx="174121" cy="136676"/>
          </a:xfrm>
          <a:prstGeom prst="rect">
            <a:avLst/>
          </a:prstGeom>
          <a:solidFill>
            <a:srgbClr val="2587C5"/>
          </a:solidFill>
          <a:ln/>
        </p:spPr>
      </p:sp>
      <p:sp>
        <p:nvSpPr>
          <p:cNvPr id="144" name="Text 142"/>
          <p:cNvSpPr txBox="1"/>
          <p:nvPr/>
        </p:nvSpPr>
        <p:spPr>
          <a:xfrm>
            <a:off x="9317736" y="3937299"/>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$7.2K</a:t>
            </a:r>
            <a:endParaRPr lang="en-US" sz="1300" dirty="0"/>
          </a:p>
        </p:txBody>
      </p:sp>
      <p:sp>
        <p:nvSpPr>
          <p:cNvPr id="145" name="Text 143"/>
          <p:cNvSpPr txBox="1"/>
          <p:nvPr/>
        </p:nvSpPr>
        <p:spPr>
          <a:xfrm>
            <a:off x="10104120" y="3937299"/>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a:t>
            </a:r>
            <a:endParaRPr lang="en-US" sz="1300" dirty="0"/>
          </a:p>
        </p:txBody>
      </p:sp>
      <p:sp>
        <p:nvSpPr>
          <p:cNvPr id="146" name="Text 144"/>
          <p:cNvSpPr txBox="1"/>
          <p:nvPr/>
        </p:nvSpPr>
        <p:spPr>
          <a:xfrm>
            <a:off x="10671048"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$2.83</a:t>
            </a:r>
            <a:endParaRPr lang="en-US" sz="1300" dirty="0"/>
          </a:p>
        </p:txBody>
      </p:sp>
      <p:sp>
        <p:nvSpPr>
          <p:cNvPr id="147" name="Text 145"/>
          <p:cNvSpPr txBox="1"/>
          <p:nvPr/>
        </p:nvSpPr>
        <p:spPr>
          <a:xfrm>
            <a:off x="6208776"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48" name="Shape 146"/>
          <p:cNvSpPr/>
          <p:nvPr/>
        </p:nvSpPr>
        <p:spPr>
          <a:xfrm>
            <a:off x="8220456" y="4241713"/>
            <a:ext cx="172098" cy="136676"/>
          </a:xfrm>
          <a:prstGeom prst="rect">
            <a:avLst/>
          </a:prstGeom>
          <a:solidFill>
            <a:srgbClr val="2587C5"/>
          </a:solidFill>
          <a:ln/>
        </p:spPr>
      </p:sp>
      <p:sp>
        <p:nvSpPr>
          <p:cNvPr id="149" name="Text 147"/>
          <p:cNvSpPr txBox="1"/>
          <p:nvPr/>
        </p:nvSpPr>
        <p:spPr>
          <a:xfrm>
            <a:off x="9317736" y="4185800"/>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$7.1K</a:t>
            </a:r>
            <a:endParaRPr lang="en-US" sz="1300" dirty="0"/>
          </a:p>
        </p:txBody>
      </p:sp>
      <p:sp>
        <p:nvSpPr>
          <p:cNvPr id="150" name="Text 148"/>
          <p:cNvSpPr txBox="1"/>
          <p:nvPr/>
        </p:nvSpPr>
        <p:spPr>
          <a:xfrm>
            <a:off x="10104120" y="4185800"/>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a:t>
            </a:r>
            <a:endParaRPr lang="en-US" sz="1300" dirty="0"/>
          </a:p>
        </p:txBody>
      </p:sp>
      <p:sp>
        <p:nvSpPr>
          <p:cNvPr id="151" name="Text 149"/>
          <p:cNvSpPr txBox="1"/>
          <p:nvPr/>
        </p:nvSpPr>
        <p:spPr>
          <a:xfrm>
            <a:off x="10671048"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$4.17</a:t>
            </a:r>
            <a:endParaRPr lang="en-US" sz="1300" dirty="0"/>
          </a:p>
        </p:txBody>
      </p:sp>
      <p:sp>
        <p:nvSpPr>
          <p:cNvPr id="152" name="Text 150"/>
          <p:cNvSpPr txBox="1"/>
          <p:nvPr/>
        </p:nvSpPr>
        <p:spPr>
          <a:xfrm>
            <a:off x="6208776"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53" name="Shape 151"/>
          <p:cNvSpPr/>
          <p:nvPr/>
        </p:nvSpPr>
        <p:spPr>
          <a:xfrm>
            <a:off x="8220456" y="4490215"/>
            <a:ext cx="158631" cy="136676"/>
          </a:xfrm>
          <a:prstGeom prst="rect">
            <a:avLst/>
          </a:prstGeom>
          <a:solidFill>
            <a:srgbClr val="2587C5"/>
          </a:solidFill>
          <a:ln/>
        </p:spPr>
      </p:sp>
      <p:sp>
        <p:nvSpPr>
          <p:cNvPr id="154" name="Text 152"/>
          <p:cNvSpPr txBox="1"/>
          <p:nvPr/>
        </p:nvSpPr>
        <p:spPr>
          <a:xfrm>
            <a:off x="9317736" y="4434302"/>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$6.6K</a:t>
            </a:r>
            <a:endParaRPr lang="en-US" sz="1300" dirty="0"/>
          </a:p>
        </p:txBody>
      </p:sp>
      <p:sp>
        <p:nvSpPr>
          <p:cNvPr id="155" name="Text 153"/>
          <p:cNvSpPr txBox="1"/>
          <p:nvPr/>
        </p:nvSpPr>
        <p:spPr>
          <a:xfrm>
            <a:off x="10104120" y="4434302"/>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a:t>
            </a:r>
            <a:endParaRPr lang="en-US" sz="1300" dirty="0"/>
          </a:p>
        </p:txBody>
      </p:sp>
      <p:sp>
        <p:nvSpPr>
          <p:cNvPr id="156" name="Text 154"/>
          <p:cNvSpPr txBox="1"/>
          <p:nvPr/>
        </p:nvSpPr>
        <p:spPr>
          <a:xfrm>
            <a:off x="10671048"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$4.49</a:t>
            </a:r>
            <a:endParaRPr lang="en-US" sz="1300" dirty="0"/>
          </a:p>
        </p:txBody>
      </p:sp>
      <p:sp>
        <p:nvSpPr>
          <p:cNvPr id="157" name="Text 155"/>
          <p:cNvSpPr txBox="1"/>
          <p:nvPr/>
        </p:nvSpPr>
        <p:spPr>
          <a:xfrm>
            <a:off x="6208776"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58" name="Shape 156"/>
          <p:cNvSpPr/>
          <p:nvPr/>
        </p:nvSpPr>
        <p:spPr>
          <a:xfrm>
            <a:off x="8220456" y="4738717"/>
            <a:ext cx="156929" cy="136676"/>
          </a:xfrm>
          <a:prstGeom prst="rect">
            <a:avLst/>
          </a:prstGeom>
          <a:solidFill>
            <a:srgbClr val="2587C5"/>
          </a:solidFill>
          <a:ln/>
        </p:spPr>
      </p:sp>
      <p:sp>
        <p:nvSpPr>
          <p:cNvPr id="159" name="Text 157"/>
          <p:cNvSpPr txBox="1"/>
          <p:nvPr/>
        </p:nvSpPr>
        <p:spPr>
          <a:xfrm>
            <a:off x="9317736" y="4682804"/>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$6.5K</a:t>
            </a:r>
            <a:endParaRPr lang="en-US" sz="1300" dirty="0"/>
          </a:p>
        </p:txBody>
      </p:sp>
      <p:sp>
        <p:nvSpPr>
          <p:cNvPr id="160" name="Text 158"/>
          <p:cNvSpPr txBox="1"/>
          <p:nvPr/>
        </p:nvSpPr>
        <p:spPr>
          <a:xfrm>
            <a:off x="10104120" y="4682804"/>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61" name="Text 159"/>
          <p:cNvSpPr txBox="1"/>
          <p:nvPr/>
        </p:nvSpPr>
        <p:spPr>
          <a:xfrm>
            <a:off x="10671048"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$2.76</a:t>
            </a:r>
            <a:endParaRPr lang="en-US" sz="1300" dirty="0"/>
          </a:p>
        </p:txBody>
      </p:sp>
      <p:sp>
        <p:nvSpPr>
          <p:cNvPr id="162" name="Text 160"/>
          <p:cNvSpPr txBox="1"/>
          <p:nvPr/>
        </p:nvSpPr>
        <p:spPr>
          <a:xfrm>
            <a:off x="6208776"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63" name="Shape 161"/>
          <p:cNvSpPr/>
          <p:nvPr/>
        </p:nvSpPr>
        <p:spPr>
          <a:xfrm>
            <a:off x="8220456" y="4987218"/>
            <a:ext cx="127568" cy="136676"/>
          </a:xfrm>
          <a:prstGeom prst="rect">
            <a:avLst/>
          </a:prstGeom>
          <a:solidFill>
            <a:srgbClr val="2587C5"/>
          </a:solidFill>
          <a:ln/>
        </p:spPr>
      </p:sp>
      <p:sp>
        <p:nvSpPr>
          <p:cNvPr id="164" name="Text 162"/>
          <p:cNvSpPr txBox="1"/>
          <p:nvPr/>
        </p:nvSpPr>
        <p:spPr>
          <a:xfrm>
            <a:off x="9317736" y="4931305"/>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$5.3K</a:t>
            </a:r>
            <a:endParaRPr lang="en-US" sz="1300" dirty="0"/>
          </a:p>
        </p:txBody>
      </p:sp>
      <p:sp>
        <p:nvSpPr>
          <p:cNvPr id="165" name="Text 163"/>
          <p:cNvSpPr txBox="1"/>
          <p:nvPr/>
        </p:nvSpPr>
        <p:spPr>
          <a:xfrm>
            <a:off x="10104120" y="4931305"/>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166" name="Text 164"/>
          <p:cNvSpPr txBox="1"/>
          <p:nvPr/>
        </p:nvSpPr>
        <p:spPr>
          <a:xfrm>
            <a:off x="10671048"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$2.90</a:t>
            </a:r>
            <a:endParaRPr lang="en-US" sz="1300" dirty="0"/>
          </a:p>
        </p:txBody>
      </p:sp>
      <p:sp>
        <p:nvSpPr>
          <p:cNvPr id="167" name="Text 165"/>
          <p:cNvSpPr txBox="1"/>
          <p:nvPr/>
        </p:nvSpPr>
        <p:spPr>
          <a:xfrm>
            <a:off x="6208776"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68" name="Shape 166"/>
          <p:cNvSpPr/>
          <p:nvPr/>
        </p:nvSpPr>
        <p:spPr>
          <a:xfrm>
            <a:off x="8220456" y="5235720"/>
            <a:ext cx="104440" cy="136676"/>
          </a:xfrm>
          <a:prstGeom prst="rect">
            <a:avLst/>
          </a:prstGeom>
          <a:solidFill>
            <a:srgbClr val="2587C5"/>
          </a:solidFill>
          <a:ln/>
        </p:spPr>
      </p:sp>
      <p:sp>
        <p:nvSpPr>
          <p:cNvPr id="169" name="Text 167"/>
          <p:cNvSpPr txBox="1"/>
          <p:nvPr/>
        </p:nvSpPr>
        <p:spPr>
          <a:xfrm>
            <a:off x="9317736" y="5179807"/>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$4.3K</a:t>
            </a:r>
            <a:endParaRPr lang="en-US" sz="1300" dirty="0"/>
          </a:p>
        </p:txBody>
      </p:sp>
      <p:sp>
        <p:nvSpPr>
          <p:cNvPr id="170" name="Text 168"/>
          <p:cNvSpPr txBox="1"/>
          <p:nvPr/>
        </p:nvSpPr>
        <p:spPr>
          <a:xfrm>
            <a:off x="10104120" y="5179807"/>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a:t>
            </a:r>
            <a:endParaRPr lang="en-US" sz="1300" dirty="0"/>
          </a:p>
        </p:txBody>
      </p:sp>
      <p:sp>
        <p:nvSpPr>
          <p:cNvPr id="171" name="Text 169"/>
          <p:cNvSpPr txBox="1"/>
          <p:nvPr/>
        </p:nvSpPr>
        <p:spPr>
          <a:xfrm>
            <a:off x="10671048"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$2.82</a:t>
            </a:r>
            <a:endParaRPr lang="en-US" sz="1300" dirty="0"/>
          </a:p>
        </p:txBody>
      </p:sp>
      <p:sp>
        <p:nvSpPr>
          <p:cNvPr id="172" name="Text 170"/>
          <p:cNvSpPr txBox="1"/>
          <p:nvPr/>
        </p:nvSpPr>
        <p:spPr>
          <a:xfrm>
            <a:off x="6208776"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73" name="Shape 171"/>
          <p:cNvSpPr/>
          <p:nvPr/>
        </p:nvSpPr>
        <p:spPr>
          <a:xfrm>
            <a:off x="8220456" y="5484222"/>
            <a:ext cx="83338" cy="136676"/>
          </a:xfrm>
          <a:prstGeom prst="rect">
            <a:avLst/>
          </a:prstGeom>
          <a:solidFill>
            <a:srgbClr val="2587C5"/>
          </a:solidFill>
          <a:ln/>
        </p:spPr>
      </p:sp>
      <p:sp>
        <p:nvSpPr>
          <p:cNvPr id="174" name="Text 172"/>
          <p:cNvSpPr txBox="1"/>
          <p:nvPr/>
        </p:nvSpPr>
        <p:spPr>
          <a:xfrm>
            <a:off x="9317736" y="5428309"/>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$3.5K</a:t>
            </a:r>
            <a:endParaRPr lang="en-US" sz="1300" dirty="0"/>
          </a:p>
        </p:txBody>
      </p:sp>
      <p:sp>
        <p:nvSpPr>
          <p:cNvPr id="175" name="Text 173"/>
          <p:cNvSpPr txBox="1"/>
          <p:nvPr/>
        </p:nvSpPr>
        <p:spPr>
          <a:xfrm>
            <a:off x="10104120" y="5428309"/>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a:t>
            </a:r>
            <a:endParaRPr lang="en-US" sz="1300" dirty="0"/>
          </a:p>
        </p:txBody>
      </p:sp>
      <p:sp>
        <p:nvSpPr>
          <p:cNvPr id="176" name="Text 174"/>
          <p:cNvSpPr txBox="1"/>
          <p:nvPr/>
        </p:nvSpPr>
        <p:spPr>
          <a:xfrm>
            <a:off x="10671048"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$2.85</a:t>
            </a:r>
            <a:endParaRPr lang="en-US" sz="1300" dirty="0"/>
          </a:p>
        </p:txBody>
      </p:sp>
      <p:sp>
        <p:nvSpPr>
          <p:cNvPr id="177" name="Shape 175"/>
          <p:cNvSpPr/>
          <p:nvPr/>
        </p:nvSpPr>
        <p:spPr>
          <a:xfrm>
            <a:off x="457200" y="6126480"/>
            <a:ext cx="11274552" cy="341376"/>
          </a:xfrm>
          <a:prstGeom prst="rect">
            <a:avLst/>
          </a:prstGeom>
          <a:solidFill>
            <a:srgbClr val="EDF4FA"/>
          </a:solidFill>
          <a:ln/>
        </p:spPr>
      </p:sp>
      <p:sp>
        <p:nvSpPr>
          <p:cNvPr id="178" name="Text 176"/>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One minute a day per tech: Toyota Henderson $43,256 a year. Volvo techs are worth the most per minute at $4.99.</a:t>
            </a:r>
            <a:endParaRPr lang="en-US" sz="1400" dirty="0"/>
          </a:p>
        </p:txBody>
      </p:sp>
    </p:spTree>
  </p:cSld>
  <p:clrMapOvr>
    <a:masterClrMapping/>
  </p:clrMapOvr>
</p:sld>
</file>

<file path=ppt/slides/slide15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Compliance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Higher labor rates, higher parts reimbursement and tariffs are driving up OEM scrutiny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Six audits cost over $400,000</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Primary causes: written documentation, manager signatures on add-ons and in-stock units, out mileage, punch times, manufacturer authorization</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The general manager is responsible for warranty policy being followed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Spot-check repair orders and self-audit</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$3,788,200</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Added gross profit from warranty labor and parts rate increases approved this year, 19 stores.</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$197.17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Warranty ELR, up $16.93; 30 of 33 stores raised it.</a:t>
            </a:r>
            <a:endParaRPr lang="en-US" sz="1400" dirty="0"/>
          </a:p>
        </p:txBody>
      </p:sp>
      <p:sp>
        <p:nvSpPr>
          <p:cNvPr id="16" name="Shape 14"/>
          <p:cNvSpPr/>
          <p:nvPr/>
        </p:nvSpPr>
        <p:spPr>
          <a:xfrm>
            <a:off x="7269480" y="4602480"/>
            <a:ext cx="54864" cy="1112520"/>
          </a:xfrm>
          <a:prstGeom prst="rect">
            <a:avLst/>
          </a:prstGeom>
          <a:solidFill>
            <a:srgbClr val="12A566"/>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44.7%</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Warranty parts gross profit, up 2.1 pts and ahead of 2025 in all nine months.</a:t>
            </a:r>
            <a:endParaRPr lang="en-US" sz="1400" dirty="0"/>
          </a:p>
        </p:txBody>
      </p:sp>
      <p:sp>
        <p:nvSpPr>
          <p:cNvPr id="19" name="Shape 17"/>
          <p:cNvSpPr/>
          <p:nvPr/>
        </p:nvSpPr>
        <p:spPr>
          <a:xfrm>
            <a:off x="457200" y="6126480"/>
            <a:ext cx="11274552" cy="371856"/>
          </a:xfrm>
          <a:prstGeom prst="rect">
            <a:avLst/>
          </a:prstGeom>
          <a:solidFill>
            <a:srgbClr val="EDF4FA"/>
          </a:solidFill>
          <a:ln/>
        </p:spPr>
      </p:sp>
      <p:sp>
        <p:nvSpPr>
          <p:cNvPr id="20" name="Text 1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a higher warranty rate brings more scrutiny. Self-audit before the factory does.</a:t>
            </a:r>
            <a:endParaRPr lang="en-US" sz="1600" dirty="0"/>
          </a:p>
        </p:txBody>
      </p:sp>
    </p:spTree>
  </p:cSld>
  <p:clrMapOvr>
    <a:masterClrMapping/>
  </p:clrMapOvr>
</p:sld>
</file>

<file path=ppt/slides/slide15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Rate Increases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273552" y="1316736"/>
            <a:ext cx="91440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GP added</a:t>
            </a:r>
            <a:endParaRPr lang="en-US" sz="1400" dirty="0"/>
          </a:p>
        </p:txBody>
      </p:sp>
      <p:sp>
        <p:nvSpPr>
          <p:cNvPr id="7" name="Text 5"/>
          <p:cNvSpPr txBox="1"/>
          <p:nvPr/>
        </p:nvSpPr>
        <p:spPr>
          <a:xfrm>
            <a:off x="4187952"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Labor</a:t>
            </a:r>
            <a:endParaRPr lang="en-US" sz="1400" dirty="0"/>
          </a:p>
        </p:txBody>
      </p:sp>
      <p:sp>
        <p:nvSpPr>
          <p:cNvPr id="8" name="Text 6"/>
          <p:cNvSpPr txBox="1"/>
          <p:nvPr/>
        </p:nvSpPr>
        <p:spPr>
          <a:xfrm>
            <a:off x="5029200"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Parts</a:t>
            </a:r>
            <a:endParaRPr lang="en-US" sz="1400" dirty="0"/>
          </a:p>
        </p:txBody>
      </p:sp>
      <p:sp>
        <p:nvSpPr>
          <p:cNvPr id="9" name="Text 7"/>
          <p:cNvSpPr txBox="1"/>
          <p:nvPr/>
        </p:nvSpPr>
        <p:spPr>
          <a:xfrm>
            <a:off x="8823960" y="1316736"/>
            <a:ext cx="91440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GP added</a:t>
            </a:r>
            <a:endParaRPr lang="en-US" sz="1400" dirty="0"/>
          </a:p>
        </p:txBody>
      </p:sp>
      <p:sp>
        <p:nvSpPr>
          <p:cNvPr id="10" name="Text 8"/>
          <p:cNvSpPr txBox="1"/>
          <p:nvPr/>
        </p:nvSpPr>
        <p:spPr>
          <a:xfrm>
            <a:off x="9738360"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Labor</a:t>
            </a:r>
            <a:endParaRPr lang="en-US" sz="1400" dirty="0"/>
          </a:p>
        </p:txBody>
      </p:sp>
      <p:sp>
        <p:nvSpPr>
          <p:cNvPr id="11" name="Text 9"/>
          <p:cNvSpPr txBox="1"/>
          <p:nvPr/>
        </p:nvSpPr>
        <p:spPr>
          <a:xfrm>
            <a:off x="10579608"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Parts</a:t>
            </a:r>
            <a:endParaRPr lang="en-US" sz="1400" dirty="0"/>
          </a:p>
        </p:txBody>
      </p:sp>
      <p:sp>
        <p:nvSpPr>
          <p:cNvPr id="12" name="Text 10"/>
          <p:cNvSpPr txBox="1"/>
          <p:nvPr/>
        </p:nvSpPr>
        <p:spPr>
          <a:xfrm>
            <a:off x="658368" y="1700784"/>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3" name="Shape 11"/>
          <p:cNvSpPr/>
          <p:nvPr/>
        </p:nvSpPr>
        <p:spPr>
          <a:xfrm>
            <a:off x="2670048" y="1795836"/>
            <a:ext cx="548640" cy="232349"/>
          </a:xfrm>
          <a:prstGeom prst="rect">
            <a:avLst/>
          </a:prstGeom>
          <a:solidFill>
            <a:srgbClr val="2587C5"/>
          </a:solidFill>
          <a:ln/>
        </p:spPr>
      </p:sp>
      <p:sp>
        <p:nvSpPr>
          <p:cNvPr id="14" name="Text 12"/>
          <p:cNvSpPr txBox="1"/>
          <p:nvPr/>
        </p:nvSpPr>
        <p:spPr>
          <a:xfrm>
            <a:off x="3273552" y="1700784"/>
            <a:ext cx="914400" cy="42245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$798K</a:t>
            </a:r>
            <a:endParaRPr lang="en-US" sz="1300" dirty="0"/>
          </a:p>
        </p:txBody>
      </p:sp>
      <p:sp>
        <p:nvSpPr>
          <p:cNvPr id="15" name="Text 13"/>
          <p:cNvSpPr txBox="1"/>
          <p:nvPr/>
        </p:nvSpPr>
        <p:spPr>
          <a:xfrm>
            <a:off x="4187952" y="1700784"/>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$420K</a:t>
            </a:r>
            <a:endParaRPr lang="en-US" sz="1300" dirty="0"/>
          </a:p>
        </p:txBody>
      </p:sp>
      <p:sp>
        <p:nvSpPr>
          <p:cNvPr id="16" name="Text 14"/>
          <p:cNvSpPr txBox="1"/>
          <p:nvPr/>
        </p:nvSpPr>
        <p:spPr>
          <a:xfrm>
            <a:off x="5029200" y="1700784"/>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$378K</a:t>
            </a:r>
            <a:endParaRPr lang="en-US" sz="1300" dirty="0"/>
          </a:p>
        </p:txBody>
      </p:sp>
      <p:sp>
        <p:nvSpPr>
          <p:cNvPr id="17" name="Text 15"/>
          <p:cNvSpPr txBox="1"/>
          <p:nvPr/>
        </p:nvSpPr>
        <p:spPr>
          <a:xfrm>
            <a:off x="658368" y="2123237"/>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18" name="Shape 16"/>
          <p:cNvSpPr/>
          <p:nvPr/>
        </p:nvSpPr>
        <p:spPr>
          <a:xfrm>
            <a:off x="2670048" y="2218289"/>
            <a:ext cx="318622" cy="232349"/>
          </a:xfrm>
          <a:prstGeom prst="rect">
            <a:avLst/>
          </a:prstGeom>
          <a:solidFill>
            <a:srgbClr val="2587C5"/>
          </a:solidFill>
          <a:ln/>
        </p:spPr>
      </p:sp>
      <p:sp>
        <p:nvSpPr>
          <p:cNvPr id="19" name="Text 17"/>
          <p:cNvSpPr txBox="1"/>
          <p:nvPr/>
        </p:nvSpPr>
        <p:spPr>
          <a:xfrm>
            <a:off x="3273552" y="2123237"/>
            <a:ext cx="914400" cy="42245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$463K</a:t>
            </a:r>
            <a:endParaRPr lang="en-US" sz="1300" dirty="0"/>
          </a:p>
        </p:txBody>
      </p:sp>
      <p:sp>
        <p:nvSpPr>
          <p:cNvPr id="20" name="Text 18"/>
          <p:cNvSpPr txBox="1"/>
          <p:nvPr/>
        </p:nvSpPr>
        <p:spPr>
          <a:xfrm>
            <a:off x="4187952" y="2123237"/>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$143K</a:t>
            </a:r>
            <a:endParaRPr lang="en-US" sz="1300" dirty="0"/>
          </a:p>
        </p:txBody>
      </p:sp>
      <p:sp>
        <p:nvSpPr>
          <p:cNvPr id="21" name="Text 19"/>
          <p:cNvSpPr txBox="1"/>
          <p:nvPr/>
        </p:nvSpPr>
        <p:spPr>
          <a:xfrm>
            <a:off x="5029200" y="2123237"/>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$320K</a:t>
            </a:r>
            <a:endParaRPr lang="en-US" sz="1300" dirty="0"/>
          </a:p>
        </p:txBody>
      </p:sp>
      <p:sp>
        <p:nvSpPr>
          <p:cNvPr id="22" name="Text 20"/>
          <p:cNvSpPr txBox="1"/>
          <p:nvPr/>
        </p:nvSpPr>
        <p:spPr>
          <a:xfrm>
            <a:off x="658368" y="2545690"/>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23" name="Shape 21"/>
          <p:cNvSpPr/>
          <p:nvPr/>
        </p:nvSpPr>
        <p:spPr>
          <a:xfrm>
            <a:off x="2670048" y="2640741"/>
            <a:ext cx="236506" cy="232349"/>
          </a:xfrm>
          <a:prstGeom prst="rect">
            <a:avLst/>
          </a:prstGeom>
          <a:solidFill>
            <a:srgbClr val="2587C5"/>
          </a:solidFill>
          <a:ln/>
        </p:spPr>
      </p:sp>
      <p:sp>
        <p:nvSpPr>
          <p:cNvPr id="24" name="Text 22"/>
          <p:cNvSpPr txBox="1"/>
          <p:nvPr/>
        </p:nvSpPr>
        <p:spPr>
          <a:xfrm>
            <a:off x="3273552" y="2545690"/>
            <a:ext cx="914400" cy="42245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$344K</a:t>
            </a:r>
            <a:endParaRPr lang="en-US" sz="1300" dirty="0"/>
          </a:p>
        </p:txBody>
      </p:sp>
      <p:sp>
        <p:nvSpPr>
          <p:cNvPr id="25" name="Text 23"/>
          <p:cNvSpPr txBox="1"/>
          <p:nvPr/>
        </p:nvSpPr>
        <p:spPr>
          <a:xfrm>
            <a:off x="4187952" y="2545690"/>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$123K</a:t>
            </a:r>
            <a:endParaRPr lang="en-US" sz="1300" dirty="0"/>
          </a:p>
        </p:txBody>
      </p:sp>
      <p:sp>
        <p:nvSpPr>
          <p:cNvPr id="26" name="Text 24"/>
          <p:cNvSpPr txBox="1"/>
          <p:nvPr/>
        </p:nvSpPr>
        <p:spPr>
          <a:xfrm>
            <a:off x="5029200" y="2545690"/>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$221K</a:t>
            </a:r>
            <a:endParaRPr lang="en-US" sz="1300" dirty="0"/>
          </a:p>
        </p:txBody>
      </p:sp>
      <p:sp>
        <p:nvSpPr>
          <p:cNvPr id="27" name="Text 25"/>
          <p:cNvSpPr txBox="1"/>
          <p:nvPr/>
        </p:nvSpPr>
        <p:spPr>
          <a:xfrm>
            <a:off x="658368" y="2968142"/>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28" name="Shape 26"/>
          <p:cNvSpPr/>
          <p:nvPr/>
        </p:nvSpPr>
        <p:spPr>
          <a:xfrm>
            <a:off x="2670048" y="3063194"/>
            <a:ext cx="223981" cy="232349"/>
          </a:xfrm>
          <a:prstGeom prst="rect">
            <a:avLst/>
          </a:prstGeom>
          <a:solidFill>
            <a:srgbClr val="2587C5"/>
          </a:solidFill>
          <a:ln/>
        </p:spPr>
      </p:sp>
      <p:sp>
        <p:nvSpPr>
          <p:cNvPr id="29" name="Text 27"/>
          <p:cNvSpPr txBox="1"/>
          <p:nvPr/>
        </p:nvSpPr>
        <p:spPr>
          <a:xfrm>
            <a:off x="3273552" y="2968142"/>
            <a:ext cx="914400" cy="42245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$326K</a:t>
            </a:r>
            <a:endParaRPr lang="en-US" sz="1300" dirty="0"/>
          </a:p>
        </p:txBody>
      </p:sp>
      <p:sp>
        <p:nvSpPr>
          <p:cNvPr id="30" name="Text 28"/>
          <p:cNvSpPr txBox="1"/>
          <p:nvPr/>
        </p:nvSpPr>
        <p:spPr>
          <a:xfrm>
            <a:off x="4187952" y="2968142"/>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$206K</a:t>
            </a:r>
            <a:endParaRPr lang="en-US" sz="1300" dirty="0"/>
          </a:p>
        </p:txBody>
      </p:sp>
      <p:sp>
        <p:nvSpPr>
          <p:cNvPr id="31" name="Text 29"/>
          <p:cNvSpPr txBox="1"/>
          <p:nvPr/>
        </p:nvSpPr>
        <p:spPr>
          <a:xfrm>
            <a:off x="5029200" y="2968142"/>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$119K</a:t>
            </a:r>
            <a:endParaRPr lang="en-US" sz="1300" dirty="0"/>
          </a:p>
        </p:txBody>
      </p:sp>
      <p:sp>
        <p:nvSpPr>
          <p:cNvPr id="32" name="Text 30"/>
          <p:cNvSpPr txBox="1"/>
          <p:nvPr/>
        </p:nvSpPr>
        <p:spPr>
          <a:xfrm>
            <a:off x="658368" y="3390595"/>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33" name="Shape 31"/>
          <p:cNvSpPr/>
          <p:nvPr/>
        </p:nvSpPr>
        <p:spPr>
          <a:xfrm>
            <a:off x="2670048" y="3485647"/>
            <a:ext cx="200812" cy="232349"/>
          </a:xfrm>
          <a:prstGeom prst="rect">
            <a:avLst/>
          </a:prstGeom>
          <a:solidFill>
            <a:srgbClr val="2587C5"/>
          </a:solidFill>
          <a:ln/>
        </p:spPr>
      </p:sp>
      <p:sp>
        <p:nvSpPr>
          <p:cNvPr id="34" name="Text 32"/>
          <p:cNvSpPr txBox="1"/>
          <p:nvPr/>
        </p:nvSpPr>
        <p:spPr>
          <a:xfrm>
            <a:off x="3273552" y="3390595"/>
            <a:ext cx="914400" cy="42245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$292K</a:t>
            </a:r>
            <a:endParaRPr lang="en-US" sz="1300" dirty="0"/>
          </a:p>
        </p:txBody>
      </p:sp>
      <p:sp>
        <p:nvSpPr>
          <p:cNvPr id="35" name="Text 33"/>
          <p:cNvSpPr txBox="1"/>
          <p:nvPr/>
        </p:nvSpPr>
        <p:spPr>
          <a:xfrm>
            <a:off x="4187952" y="3390595"/>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$165K</a:t>
            </a:r>
            <a:endParaRPr lang="en-US" sz="1300" dirty="0"/>
          </a:p>
        </p:txBody>
      </p:sp>
      <p:sp>
        <p:nvSpPr>
          <p:cNvPr id="36" name="Text 34"/>
          <p:cNvSpPr txBox="1"/>
          <p:nvPr/>
        </p:nvSpPr>
        <p:spPr>
          <a:xfrm>
            <a:off x="5029200" y="3390595"/>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$127K</a:t>
            </a:r>
            <a:endParaRPr lang="en-US" sz="1300" dirty="0"/>
          </a:p>
        </p:txBody>
      </p:sp>
      <p:sp>
        <p:nvSpPr>
          <p:cNvPr id="37" name="Text 35"/>
          <p:cNvSpPr txBox="1"/>
          <p:nvPr/>
        </p:nvSpPr>
        <p:spPr>
          <a:xfrm>
            <a:off x="658368" y="3813048"/>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38" name="Shape 36"/>
          <p:cNvSpPr/>
          <p:nvPr/>
        </p:nvSpPr>
        <p:spPr>
          <a:xfrm>
            <a:off x="2670048" y="3908100"/>
            <a:ext cx="194987" cy="232349"/>
          </a:xfrm>
          <a:prstGeom prst="rect">
            <a:avLst/>
          </a:prstGeom>
          <a:solidFill>
            <a:srgbClr val="2587C5"/>
          </a:solidFill>
          <a:ln/>
        </p:spPr>
      </p:sp>
      <p:sp>
        <p:nvSpPr>
          <p:cNvPr id="39" name="Text 37"/>
          <p:cNvSpPr txBox="1"/>
          <p:nvPr/>
        </p:nvSpPr>
        <p:spPr>
          <a:xfrm>
            <a:off x="3273552" y="3813048"/>
            <a:ext cx="914400" cy="42245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$284K</a:t>
            </a:r>
            <a:endParaRPr lang="en-US" sz="1300" dirty="0"/>
          </a:p>
        </p:txBody>
      </p:sp>
      <p:sp>
        <p:nvSpPr>
          <p:cNvPr id="40" name="Text 38"/>
          <p:cNvSpPr txBox="1"/>
          <p:nvPr/>
        </p:nvSpPr>
        <p:spPr>
          <a:xfrm>
            <a:off x="4187952" y="3813048"/>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$137K</a:t>
            </a:r>
            <a:endParaRPr lang="en-US" sz="1300" dirty="0"/>
          </a:p>
        </p:txBody>
      </p:sp>
      <p:sp>
        <p:nvSpPr>
          <p:cNvPr id="41" name="Text 39"/>
          <p:cNvSpPr txBox="1"/>
          <p:nvPr/>
        </p:nvSpPr>
        <p:spPr>
          <a:xfrm>
            <a:off x="5029200" y="3813048"/>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$147K</a:t>
            </a:r>
            <a:endParaRPr lang="en-US" sz="1300" dirty="0"/>
          </a:p>
        </p:txBody>
      </p:sp>
      <p:sp>
        <p:nvSpPr>
          <p:cNvPr id="42" name="Text 40"/>
          <p:cNvSpPr txBox="1"/>
          <p:nvPr/>
        </p:nvSpPr>
        <p:spPr>
          <a:xfrm>
            <a:off x="658368" y="4235501"/>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43" name="Shape 41"/>
          <p:cNvSpPr/>
          <p:nvPr/>
        </p:nvSpPr>
        <p:spPr>
          <a:xfrm>
            <a:off x="2670048" y="4330553"/>
            <a:ext cx="154953" cy="232349"/>
          </a:xfrm>
          <a:prstGeom prst="rect">
            <a:avLst/>
          </a:prstGeom>
          <a:solidFill>
            <a:srgbClr val="2587C5"/>
          </a:solidFill>
          <a:ln/>
        </p:spPr>
      </p:sp>
      <p:sp>
        <p:nvSpPr>
          <p:cNvPr id="44" name="Text 42"/>
          <p:cNvSpPr txBox="1"/>
          <p:nvPr/>
        </p:nvSpPr>
        <p:spPr>
          <a:xfrm>
            <a:off x="3273552" y="4235501"/>
            <a:ext cx="914400" cy="42245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$225K</a:t>
            </a:r>
            <a:endParaRPr lang="en-US" sz="1300" dirty="0"/>
          </a:p>
        </p:txBody>
      </p:sp>
      <p:sp>
        <p:nvSpPr>
          <p:cNvPr id="45" name="Text 43"/>
          <p:cNvSpPr txBox="1"/>
          <p:nvPr/>
        </p:nvSpPr>
        <p:spPr>
          <a:xfrm>
            <a:off x="4187952" y="4235501"/>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$128K</a:t>
            </a:r>
            <a:endParaRPr lang="en-US" sz="1300" dirty="0"/>
          </a:p>
        </p:txBody>
      </p:sp>
      <p:sp>
        <p:nvSpPr>
          <p:cNvPr id="46" name="Text 44"/>
          <p:cNvSpPr txBox="1"/>
          <p:nvPr/>
        </p:nvSpPr>
        <p:spPr>
          <a:xfrm>
            <a:off x="5029200" y="4235501"/>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$98K</a:t>
            </a:r>
            <a:endParaRPr lang="en-US" sz="1300" dirty="0"/>
          </a:p>
        </p:txBody>
      </p:sp>
      <p:sp>
        <p:nvSpPr>
          <p:cNvPr id="47" name="Text 45"/>
          <p:cNvSpPr txBox="1"/>
          <p:nvPr/>
        </p:nvSpPr>
        <p:spPr>
          <a:xfrm>
            <a:off x="658368" y="4657954"/>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48" name="Shape 46"/>
          <p:cNvSpPr/>
          <p:nvPr/>
        </p:nvSpPr>
        <p:spPr>
          <a:xfrm>
            <a:off x="2670048" y="4753005"/>
            <a:ext cx="143889" cy="232349"/>
          </a:xfrm>
          <a:prstGeom prst="rect">
            <a:avLst/>
          </a:prstGeom>
          <a:solidFill>
            <a:srgbClr val="2587C5"/>
          </a:solidFill>
          <a:ln/>
        </p:spPr>
      </p:sp>
      <p:sp>
        <p:nvSpPr>
          <p:cNvPr id="49" name="Text 47"/>
          <p:cNvSpPr txBox="1"/>
          <p:nvPr/>
        </p:nvSpPr>
        <p:spPr>
          <a:xfrm>
            <a:off x="3273552" y="4657954"/>
            <a:ext cx="914400" cy="42245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$209K</a:t>
            </a:r>
            <a:endParaRPr lang="en-US" sz="1300" dirty="0"/>
          </a:p>
        </p:txBody>
      </p:sp>
      <p:sp>
        <p:nvSpPr>
          <p:cNvPr id="50" name="Text 48"/>
          <p:cNvSpPr txBox="1"/>
          <p:nvPr/>
        </p:nvSpPr>
        <p:spPr>
          <a:xfrm>
            <a:off x="4187952" y="4657954"/>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$46K</a:t>
            </a:r>
            <a:endParaRPr lang="en-US" sz="1300" dirty="0"/>
          </a:p>
        </p:txBody>
      </p:sp>
      <p:sp>
        <p:nvSpPr>
          <p:cNvPr id="51" name="Text 49"/>
          <p:cNvSpPr txBox="1"/>
          <p:nvPr/>
        </p:nvSpPr>
        <p:spPr>
          <a:xfrm>
            <a:off x="5029200" y="4657954"/>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$163K</a:t>
            </a:r>
            <a:endParaRPr lang="en-US" sz="1300" dirty="0"/>
          </a:p>
        </p:txBody>
      </p:sp>
      <p:sp>
        <p:nvSpPr>
          <p:cNvPr id="52" name="Text 50"/>
          <p:cNvSpPr txBox="1"/>
          <p:nvPr/>
        </p:nvSpPr>
        <p:spPr>
          <a:xfrm>
            <a:off x="658368" y="5080406"/>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53" name="Shape 51"/>
          <p:cNvSpPr/>
          <p:nvPr/>
        </p:nvSpPr>
        <p:spPr>
          <a:xfrm>
            <a:off x="2670048" y="5175458"/>
            <a:ext cx="100447" cy="232349"/>
          </a:xfrm>
          <a:prstGeom prst="rect">
            <a:avLst/>
          </a:prstGeom>
          <a:solidFill>
            <a:srgbClr val="2587C5"/>
          </a:solidFill>
          <a:ln/>
        </p:spPr>
      </p:sp>
      <p:sp>
        <p:nvSpPr>
          <p:cNvPr id="54" name="Text 52"/>
          <p:cNvSpPr txBox="1"/>
          <p:nvPr/>
        </p:nvSpPr>
        <p:spPr>
          <a:xfrm>
            <a:off x="3273552" y="5080406"/>
            <a:ext cx="914400" cy="42245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$146K</a:t>
            </a:r>
            <a:endParaRPr lang="en-US" sz="1300" dirty="0"/>
          </a:p>
        </p:txBody>
      </p:sp>
      <p:sp>
        <p:nvSpPr>
          <p:cNvPr id="55" name="Text 53"/>
          <p:cNvSpPr txBox="1"/>
          <p:nvPr/>
        </p:nvSpPr>
        <p:spPr>
          <a:xfrm>
            <a:off x="4187952" y="5080406"/>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$49K</a:t>
            </a:r>
            <a:endParaRPr lang="en-US" sz="1300" dirty="0"/>
          </a:p>
        </p:txBody>
      </p:sp>
      <p:sp>
        <p:nvSpPr>
          <p:cNvPr id="56" name="Text 54"/>
          <p:cNvSpPr txBox="1"/>
          <p:nvPr/>
        </p:nvSpPr>
        <p:spPr>
          <a:xfrm>
            <a:off x="5029200" y="5080406"/>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$97K</a:t>
            </a:r>
            <a:endParaRPr lang="en-US" sz="1300" dirty="0"/>
          </a:p>
        </p:txBody>
      </p:sp>
      <p:sp>
        <p:nvSpPr>
          <p:cNvPr id="57" name="Text 55"/>
          <p:cNvSpPr txBox="1"/>
          <p:nvPr/>
        </p:nvSpPr>
        <p:spPr>
          <a:xfrm>
            <a:off x="658368" y="5502859"/>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58" name="Shape 56"/>
          <p:cNvSpPr/>
          <p:nvPr/>
        </p:nvSpPr>
        <p:spPr>
          <a:xfrm>
            <a:off x="2670048" y="5597911"/>
            <a:ext cx="91924" cy="232349"/>
          </a:xfrm>
          <a:prstGeom prst="rect">
            <a:avLst/>
          </a:prstGeom>
          <a:solidFill>
            <a:srgbClr val="2587C5"/>
          </a:solidFill>
          <a:ln/>
        </p:spPr>
      </p:sp>
      <p:sp>
        <p:nvSpPr>
          <p:cNvPr id="59" name="Text 57"/>
          <p:cNvSpPr txBox="1"/>
          <p:nvPr/>
        </p:nvSpPr>
        <p:spPr>
          <a:xfrm>
            <a:off x="3273552" y="5502859"/>
            <a:ext cx="914400" cy="42245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$134K</a:t>
            </a:r>
            <a:endParaRPr lang="en-US" sz="1300" dirty="0"/>
          </a:p>
        </p:txBody>
      </p:sp>
      <p:sp>
        <p:nvSpPr>
          <p:cNvPr id="60" name="Text 58"/>
          <p:cNvSpPr txBox="1"/>
          <p:nvPr/>
        </p:nvSpPr>
        <p:spPr>
          <a:xfrm>
            <a:off x="4187952" y="5502859"/>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61" name="Text 59"/>
          <p:cNvSpPr txBox="1"/>
          <p:nvPr/>
        </p:nvSpPr>
        <p:spPr>
          <a:xfrm>
            <a:off x="5029200" y="5502859"/>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$134K</a:t>
            </a:r>
            <a:endParaRPr lang="en-US" sz="1300" dirty="0"/>
          </a:p>
        </p:txBody>
      </p:sp>
      <p:sp>
        <p:nvSpPr>
          <p:cNvPr id="62" name="Text 60"/>
          <p:cNvSpPr txBox="1"/>
          <p:nvPr/>
        </p:nvSpPr>
        <p:spPr>
          <a:xfrm>
            <a:off x="6208776" y="1700784"/>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63" name="Shape 61"/>
          <p:cNvSpPr/>
          <p:nvPr/>
        </p:nvSpPr>
        <p:spPr>
          <a:xfrm>
            <a:off x="8220456" y="1795836"/>
            <a:ext cx="66189" cy="232349"/>
          </a:xfrm>
          <a:prstGeom prst="rect">
            <a:avLst/>
          </a:prstGeom>
          <a:solidFill>
            <a:srgbClr val="2587C5"/>
          </a:solidFill>
          <a:ln/>
        </p:spPr>
      </p:sp>
      <p:sp>
        <p:nvSpPr>
          <p:cNvPr id="64" name="Text 62"/>
          <p:cNvSpPr txBox="1"/>
          <p:nvPr/>
        </p:nvSpPr>
        <p:spPr>
          <a:xfrm>
            <a:off x="8823960" y="1700784"/>
            <a:ext cx="914400" cy="42245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$96K</a:t>
            </a:r>
            <a:endParaRPr lang="en-US" sz="1300" dirty="0"/>
          </a:p>
        </p:txBody>
      </p:sp>
      <p:sp>
        <p:nvSpPr>
          <p:cNvPr id="65" name="Text 63"/>
          <p:cNvSpPr txBox="1"/>
          <p:nvPr/>
        </p:nvSpPr>
        <p:spPr>
          <a:xfrm>
            <a:off x="9738360" y="1700784"/>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66" name="Text 64"/>
          <p:cNvSpPr txBox="1"/>
          <p:nvPr/>
        </p:nvSpPr>
        <p:spPr>
          <a:xfrm>
            <a:off x="10579608" y="1700784"/>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$96K</a:t>
            </a:r>
            <a:endParaRPr lang="en-US" sz="1300" dirty="0"/>
          </a:p>
        </p:txBody>
      </p:sp>
      <p:sp>
        <p:nvSpPr>
          <p:cNvPr id="67" name="Text 65"/>
          <p:cNvSpPr txBox="1"/>
          <p:nvPr/>
        </p:nvSpPr>
        <p:spPr>
          <a:xfrm>
            <a:off x="6208776" y="2123237"/>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68" name="Shape 66"/>
          <p:cNvSpPr/>
          <p:nvPr/>
        </p:nvSpPr>
        <p:spPr>
          <a:xfrm>
            <a:off x="8220456" y="2218289"/>
            <a:ext cx="65059" cy="232349"/>
          </a:xfrm>
          <a:prstGeom prst="rect">
            <a:avLst/>
          </a:prstGeom>
          <a:solidFill>
            <a:srgbClr val="2587C5"/>
          </a:solidFill>
          <a:ln/>
        </p:spPr>
      </p:sp>
      <p:sp>
        <p:nvSpPr>
          <p:cNvPr id="69" name="Text 67"/>
          <p:cNvSpPr txBox="1"/>
          <p:nvPr/>
        </p:nvSpPr>
        <p:spPr>
          <a:xfrm>
            <a:off x="8823960" y="2123237"/>
            <a:ext cx="914400" cy="42245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$95K</a:t>
            </a:r>
            <a:endParaRPr lang="en-US" sz="1300" dirty="0"/>
          </a:p>
        </p:txBody>
      </p:sp>
      <p:sp>
        <p:nvSpPr>
          <p:cNvPr id="70" name="Text 68"/>
          <p:cNvSpPr txBox="1"/>
          <p:nvPr/>
        </p:nvSpPr>
        <p:spPr>
          <a:xfrm>
            <a:off x="9738360" y="2123237"/>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$64K</a:t>
            </a:r>
            <a:endParaRPr lang="en-US" sz="1300" dirty="0"/>
          </a:p>
        </p:txBody>
      </p:sp>
      <p:sp>
        <p:nvSpPr>
          <p:cNvPr id="71" name="Text 69"/>
          <p:cNvSpPr txBox="1"/>
          <p:nvPr/>
        </p:nvSpPr>
        <p:spPr>
          <a:xfrm>
            <a:off x="10579608" y="2123237"/>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$31K</a:t>
            </a:r>
            <a:endParaRPr lang="en-US" sz="1300" dirty="0"/>
          </a:p>
        </p:txBody>
      </p:sp>
      <p:sp>
        <p:nvSpPr>
          <p:cNvPr id="72" name="Text 70"/>
          <p:cNvSpPr txBox="1"/>
          <p:nvPr/>
        </p:nvSpPr>
        <p:spPr>
          <a:xfrm>
            <a:off x="6208776" y="2545690"/>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73" name="Shape 71"/>
          <p:cNvSpPr/>
          <p:nvPr/>
        </p:nvSpPr>
        <p:spPr>
          <a:xfrm>
            <a:off x="8220456" y="2640741"/>
            <a:ext cx="64094" cy="232349"/>
          </a:xfrm>
          <a:prstGeom prst="rect">
            <a:avLst/>
          </a:prstGeom>
          <a:solidFill>
            <a:srgbClr val="2587C5"/>
          </a:solidFill>
          <a:ln/>
        </p:spPr>
      </p:sp>
      <p:sp>
        <p:nvSpPr>
          <p:cNvPr id="74" name="Text 72"/>
          <p:cNvSpPr txBox="1"/>
          <p:nvPr/>
        </p:nvSpPr>
        <p:spPr>
          <a:xfrm>
            <a:off x="8823960" y="2545690"/>
            <a:ext cx="914400" cy="42245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$93K</a:t>
            </a:r>
            <a:endParaRPr lang="en-US" sz="1300" dirty="0"/>
          </a:p>
        </p:txBody>
      </p:sp>
      <p:sp>
        <p:nvSpPr>
          <p:cNvPr id="75" name="Text 73"/>
          <p:cNvSpPr txBox="1"/>
          <p:nvPr/>
        </p:nvSpPr>
        <p:spPr>
          <a:xfrm>
            <a:off x="9738360" y="2545690"/>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$33K</a:t>
            </a:r>
            <a:endParaRPr lang="en-US" sz="1300" dirty="0"/>
          </a:p>
        </p:txBody>
      </p:sp>
      <p:sp>
        <p:nvSpPr>
          <p:cNvPr id="76" name="Text 74"/>
          <p:cNvSpPr txBox="1"/>
          <p:nvPr/>
        </p:nvSpPr>
        <p:spPr>
          <a:xfrm>
            <a:off x="10579608" y="2545690"/>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$60K</a:t>
            </a:r>
            <a:endParaRPr lang="en-US" sz="1300" dirty="0"/>
          </a:p>
        </p:txBody>
      </p:sp>
      <p:sp>
        <p:nvSpPr>
          <p:cNvPr id="77" name="Text 75"/>
          <p:cNvSpPr txBox="1"/>
          <p:nvPr/>
        </p:nvSpPr>
        <p:spPr>
          <a:xfrm>
            <a:off x="6208776" y="2968142"/>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78" name="Shape 76"/>
          <p:cNvSpPr/>
          <p:nvPr/>
        </p:nvSpPr>
        <p:spPr>
          <a:xfrm>
            <a:off x="8220456" y="3063194"/>
            <a:ext cx="62344" cy="232349"/>
          </a:xfrm>
          <a:prstGeom prst="rect">
            <a:avLst/>
          </a:prstGeom>
          <a:solidFill>
            <a:srgbClr val="2587C5"/>
          </a:solidFill>
          <a:ln/>
        </p:spPr>
      </p:sp>
      <p:sp>
        <p:nvSpPr>
          <p:cNvPr id="79" name="Text 77"/>
          <p:cNvSpPr txBox="1"/>
          <p:nvPr/>
        </p:nvSpPr>
        <p:spPr>
          <a:xfrm>
            <a:off x="8823960" y="2968142"/>
            <a:ext cx="914400" cy="42245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$91K</a:t>
            </a:r>
            <a:endParaRPr lang="en-US" sz="1300" dirty="0"/>
          </a:p>
        </p:txBody>
      </p:sp>
      <p:sp>
        <p:nvSpPr>
          <p:cNvPr id="80" name="Text 78"/>
          <p:cNvSpPr txBox="1"/>
          <p:nvPr/>
        </p:nvSpPr>
        <p:spPr>
          <a:xfrm>
            <a:off x="9738360" y="2968142"/>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$37K</a:t>
            </a:r>
            <a:endParaRPr lang="en-US" sz="1300" dirty="0"/>
          </a:p>
        </p:txBody>
      </p:sp>
      <p:sp>
        <p:nvSpPr>
          <p:cNvPr id="81" name="Text 79"/>
          <p:cNvSpPr txBox="1"/>
          <p:nvPr/>
        </p:nvSpPr>
        <p:spPr>
          <a:xfrm>
            <a:off x="10579608" y="2968142"/>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$53K</a:t>
            </a:r>
            <a:endParaRPr lang="en-US" sz="1300" dirty="0"/>
          </a:p>
        </p:txBody>
      </p:sp>
      <p:sp>
        <p:nvSpPr>
          <p:cNvPr id="82" name="Text 80"/>
          <p:cNvSpPr txBox="1"/>
          <p:nvPr/>
        </p:nvSpPr>
        <p:spPr>
          <a:xfrm>
            <a:off x="6208776" y="3390595"/>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83" name="Shape 81"/>
          <p:cNvSpPr/>
          <p:nvPr/>
        </p:nvSpPr>
        <p:spPr>
          <a:xfrm>
            <a:off x="8220456" y="3485647"/>
            <a:ext cx="51536" cy="232349"/>
          </a:xfrm>
          <a:prstGeom prst="rect">
            <a:avLst/>
          </a:prstGeom>
          <a:solidFill>
            <a:srgbClr val="2587C5"/>
          </a:solidFill>
          <a:ln/>
        </p:spPr>
      </p:sp>
      <p:sp>
        <p:nvSpPr>
          <p:cNvPr id="84" name="Text 82"/>
          <p:cNvSpPr txBox="1"/>
          <p:nvPr/>
        </p:nvSpPr>
        <p:spPr>
          <a:xfrm>
            <a:off x="8823960" y="3390595"/>
            <a:ext cx="914400" cy="42245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$75K</a:t>
            </a:r>
            <a:endParaRPr lang="en-US" sz="1300" dirty="0"/>
          </a:p>
        </p:txBody>
      </p:sp>
      <p:sp>
        <p:nvSpPr>
          <p:cNvPr id="85" name="Text 83"/>
          <p:cNvSpPr txBox="1"/>
          <p:nvPr/>
        </p:nvSpPr>
        <p:spPr>
          <a:xfrm>
            <a:off x="9738360" y="3390595"/>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$75K</a:t>
            </a:r>
            <a:endParaRPr lang="en-US" sz="1300" dirty="0"/>
          </a:p>
        </p:txBody>
      </p:sp>
      <p:sp>
        <p:nvSpPr>
          <p:cNvPr id="86" name="Text 84"/>
          <p:cNvSpPr txBox="1"/>
          <p:nvPr/>
        </p:nvSpPr>
        <p:spPr>
          <a:xfrm>
            <a:off x="10579608" y="3390595"/>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87" name="Text 85"/>
          <p:cNvSpPr txBox="1"/>
          <p:nvPr/>
        </p:nvSpPr>
        <p:spPr>
          <a:xfrm>
            <a:off x="6208776" y="3813048"/>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88" name="Shape 86"/>
          <p:cNvSpPr/>
          <p:nvPr/>
        </p:nvSpPr>
        <p:spPr>
          <a:xfrm>
            <a:off x="8220456" y="3908100"/>
            <a:ext cx="42311" cy="232349"/>
          </a:xfrm>
          <a:prstGeom prst="rect">
            <a:avLst/>
          </a:prstGeom>
          <a:solidFill>
            <a:srgbClr val="2587C5"/>
          </a:solidFill>
          <a:ln/>
        </p:spPr>
      </p:sp>
      <p:sp>
        <p:nvSpPr>
          <p:cNvPr id="89" name="Text 87"/>
          <p:cNvSpPr txBox="1"/>
          <p:nvPr/>
        </p:nvSpPr>
        <p:spPr>
          <a:xfrm>
            <a:off x="8823960" y="3813048"/>
            <a:ext cx="914400" cy="42245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$62K</a:t>
            </a:r>
            <a:endParaRPr lang="en-US" sz="1300" dirty="0"/>
          </a:p>
        </p:txBody>
      </p:sp>
      <p:sp>
        <p:nvSpPr>
          <p:cNvPr id="90" name="Text 88"/>
          <p:cNvSpPr txBox="1"/>
          <p:nvPr/>
        </p:nvSpPr>
        <p:spPr>
          <a:xfrm>
            <a:off x="9738360" y="3813048"/>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91" name="Text 89"/>
          <p:cNvSpPr txBox="1"/>
          <p:nvPr/>
        </p:nvSpPr>
        <p:spPr>
          <a:xfrm>
            <a:off x="10579608" y="3813048"/>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$62K</a:t>
            </a:r>
            <a:endParaRPr lang="en-US" sz="1300" dirty="0"/>
          </a:p>
        </p:txBody>
      </p:sp>
      <p:sp>
        <p:nvSpPr>
          <p:cNvPr id="92" name="Text 90"/>
          <p:cNvSpPr txBox="1"/>
          <p:nvPr/>
        </p:nvSpPr>
        <p:spPr>
          <a:xfrm>
            <a:off x="6208776" y="4235501"/>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93" name="Shape 91"/>
          <p:cNvSpPr/>
          <p:nvPr/>
        </p:nvSpPr>
        <p:spPr>
          <a:xfrm>
            <a:off x="8220456" y="4330553"/>
            <a:ext cx="24274" cy="232349"/>
          </a:xfrm>
          <a:prstGeom prst="rect">
            <a:avLst/>
          </a:prstGeom>
          <a:solidFill>
            <a:srgbClr val="2587C5"/>
          </a:solidFill>
          <a:ln/>
        </p:spPr>
      </p:sp>
      <p:sp>
        <p:nvSpPr>
          <p:cNvPr id="94" name="Text 92"/>
          <p:cNvSpPr txBox="1"/>
          <p:nvPr/>
        </p:nvSpPr>
        <p:spPr>
          <a:xfrm>
            <a:off x="8823960" y="4235501"/>
            <a:ext cx="914400" cy="42245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$35K</a:t>
            </a:r>
            <a:endParaRPr lang="en-US" sz="1300" dirty="0"/>
          </a:p>
        </p:txBody>
      </p:sp>
      <p:sp>
        <p:nvSpPr>
          <p:cNvPr id="95" name="Text 93"/>
          <p:cNvSpPr txBox="1"/>
          <p:nvPr/>
        </p:nvSpPr>
        <p:spPr>
          <a:xfrm>
            <a:off x="9738360" y="4235501"/>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$35K</a:t>
            </a:r>
            <a:endParaRPr lang="en-US" sz="1300" dirty="0"/>
          </a:p>
        </p:txBody>
      </p:sp>
      <p:sp>
        <p:nvSpPr>
          <p:cNvPr id="96" name="Text 94"/>
          <p:cNvSpPr txBox="1"/>
          <p:nvPr/>
        </p:nvSpPr>
        <p:spPr>
          <a:xfrm>
            <a:off x="10579608" y="4235501"/>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97" name="Text 95"/>
          <p:cNvSpPr txBox="1"/>
          <p:nvPr/>
        </p:nvSpPr>
        <p:spPr>
          <a:xfrm>
            <a:off x="6208776" y="4657954"/>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98" name="Shape 96"/>
          <p:cNvSpPr/>
          <p:nvPr/>
        </p:nvSpPr>
        <p:spPr>
          <a:xfrm>
            <a:off x="8220456" y="4753005"/>
            <a:ext cx="18288" cy="232349"/>
          </a:xfrm>
          <a:prstGeom prst="rect">
            <a:avLst/>
          </a:prstGeom>
          <a:solidFill>
            <a:srgbClr val="2587C5"/>
          </a:solidFill>
          <a:ln/>
        </p:spPr>
      </p:sp>
      <p:sp>
        <p:nvSpPr>
          <p:cNvPr id="99" name="Text 97"/>
          <p:cNvSpPr txBox="1"/>
          <p:nvPr/>
        </p:nvSpPr>
        <p:spPr>
          <a:xfrm>
            <a:off x="8823960" y="4657954"/>
            <a:ext cx="914400" cy="42245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$15K</a:t>
            </a:r>
            <a:endParaRPr lang="en-US" sz="1300" dirty="0"/>
          </a:p>
        </p:txBody>
      </p:sp>
      <p:sp>
        <p:nvSpPr>
          <p:cNvPr id="100" name="Text 98"/>
          <p:cNvSpPr txBox="1"/>
          <p:nvPr/>
        </p:nvSpPr>
        <p:spPr>
          <a:xfrm>
            <a:off x="9738360" y="4657954"/>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01" name="Text 99"/>
          <p:cNvSpPr txBox="1"/>
          <p:nvPr/>
        </p:nvSpPr>
        <p:spPr>
          <a:xfrm>
            <a:off x="10579608" y="4657954"/>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$15K</a:t>
            </a:r>
            <a:endParaRPr lang="en-US" sz="1300" dirty="0"/>
          </a:p>
        </p:txBody>
      </p:sp>
      <p:sp>
        <p:nvSpPr>
          <p:cNvPr id="102" name="Text 100"/>
          <p:cNvSpPr txBox="1"/>
          <p:nvPr/>
        </p:nvSpPr>
        <p:spPr>
          <a:xfrm>
            <a:off x="6208776" y="5080406"/>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03" name="Shape 101"/>
          <p:cNvSpPr/>
          <p:nvPr/>
        </p:nvSpPr>
        <p:spPr>
          <a:xfrm>
            <a:off x="8220456" y="5175458"/>
            <a:ext cx="18288" cy="232349"/>
          </a:xfrm>
          <a:prstGeom prst="rect">
            <a:avLst/>
          </a:prstGeom>
          <a:solidFill>
            <a:srgbClr val="2587C5"/>
          </a:solidFill>
          <a:ln/>
        </p:spPr>
      </p:sp>
      <p:sp>
        <p:nvSpPr>
          <p:cNvPr id="104" name="Text 102"/>
          <p:cNvSpPr txBox="1"/>
          <p:nvPr/>
        </p:nvSpPr>
        <p:spPr>
          <a:xfrm>
            <a:off x="8823960" y="5080406"/>
            <a:ext cx="914400" cy="42245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$5K</a:t>
            </a:r>
            <a:endParaRPr lang="en-US" sz="1300" dirty="0"/>
          </a:p>
        </p:txBody>
      </p:sp>
      <p:sp>
        <p:nvSpPr>
          <p:cNvPr id="105" name="Text 103"/>
          <p:cNvSpPr txBox="1"/>
          <p:nvPr/>
        </p:nvSpPr>
        <p:spPr>
          <a:xfrm>
            <a:off x="9738360" y="5080406"/>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06" name="Text 104"/>
          <p:cNvSpPr txBox="1"/>
          <p:nvPr/>
        </p:nvSpPr>
        <p:spPr>
          <a:xfrm>
            <a:off x="10579608" y="5080406"/>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$5K</a:t>
            </a:r>
            <a:endParaRPr lang="en-US" sz="1300" dirty="0"/>
          </a:p>
        </p:txBody>
      </p:sp>
      <p:sp>
        <p:nvSpPr>
          <p:cNvPr id="107" name="Shape 105"/>
          <p:cNvSpPr/>
          <p:nvPr/>
        </p:nvSpPr>
        <p:spPr>
          <a:xfrm>
            <a:off x="457200" y="6126480"/>
            <a:ext cx="11274552" cy="615696"/>
          </a:xfrm>
          <a:prstGeom prst="rect">
            <a:avLst/>
          </a:prstGeom>
          <a:solidFill>
            <a:srgbClr val="EDF4FA"/>
          </a:solidFill>
          <a:ln/>
        </p:spPr>
      </p:sp>
      <p:sp>
        <p:nvSpPr>
          <p:cNvPr id="108" name="Text 10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$3,788,200 in added gross profit from warranty rate increases approved this year at 19 stores. Higher rates bring more audits: the process is how we keep it.</a:t>
            </a:r>
            <a:endParaRPr lang="en-US" sz="1600" dirty="0"/>
          </a:p>
        </p:txBody>
      </p:sp>
    </p:spTree>
  </p:cSld>
  <p:clrMapOvr>
    <a:masterClrMapping/>
  </p:clrMapOvr>
</p:sld>
</file>

<file path=ppt/slides/slide15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ELR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$180.25</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$197.17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+$16.93</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+9.4%</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Warranty ELR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371856"/>
          </a:xfrm>
          <a:prstGeom prst="rect">
            <a:avLst/>
          </a:prstGeom>
          <a:solidFill>
            <a:srgbClr val="E6F6EE"/>
          </a:solidFill>
          <a:ln/>
        </p:spPr>
      </p:sp>
      <p:sp>
        <p:nvSpPr>
          <p:cNvPr id="28"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$16.93 to $197.17, ahead of 2025 in all nine months.</a:t>
            </a:r>
            <a:endParaRPr lang="en-US" sz="1600" dirty="0"/>
          </a:p>
        </p:txBody>
      </p:sp>
    </p:spTree>
  </p:cSld>
  <p:clrMapOvr>
    <a:masterClrMapping/>
  </p:clrMapOvr>
</p:sld>
</file>

<file path=ppt/slides/slide15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WARRANTY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$197.17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$308.88</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7" name="Shape 15"/>
          <p:cNvSpPr/>
          <p:nvPr/>
        </p:nvSpPr>
        <p:spPr>
          <a:xfrm>
            <a:off x="3008376" y="2146957"/>
            <a:ext cx="1505642"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$274.91</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1" name="Shape 19"/>
          <p:cNvSpPr/>
          <p:nvPr/>
        </p:nvSpPr>
        <p:spPr>
          <a:xfrm>
            <a:off x="3008376" y="2386853"/>
            <a:ext cx="1441456"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$263.19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5" name="Shape 23"/>
          <p:cNvSpPr/>
          <p:nvPr/>
        </p:nvSpPr>
        <p:spPr>
          <a:xfrm>
            <a:off x="3008376" y="2626748"/>
            <a:ext cx="1284359"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$234.51</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008376" y="2866644"/>
            <a:ext cx="1250858"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$228.39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33" name="Shape 31"/>
          <p:cNvSpPr/>
          <p:nvPr/>
        </p:nvSpPr>
        <p:spPr>
          <a:xfrm>
            <a:off x="3008376" y="3106540"/>
            <a:ext cx="1187628"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$216.85</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7" name="Shape 35"/>
          <p:cNvSpPr/>
          <p:nvPr/>
        </p:nvSpPr>
        <p:spPr>
          <a:xfrm>
            <a:off x="3008376" y="3346435"/>
            <a:ext cx="1163222"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$212.39</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41" name="Shape 39"/>
          <p:cNvSpPr/>
          <p:nvPr/>
        </p:nvSpPr>
        <p:spPr>
          <a:xfrm>
            <a:off x="3008376" y="3586331"/>
            <a:ext cx="1148321"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$209.67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5" name="Shape 43"/>
          <p:cNvSpPr/>
          <p:nvPr/>
        </p:nvSpPr>
        <p:spPr>
          <a:xfrm>
            <a:off x="3008376" y="3826226"/>
            <a:ext cx="1147249"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$209.48</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49" name="Shape 47"/>
          <p:cNvSpPr/>
          <p:nvPr/>
        </p:nvSpPr>
        <p:spPr>
          <a:xfrm>
            <a:off x="3008376" y="4066122"/>
            <a:ext cx="1133466"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$206.96</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53" name="Shape 51"/>
          <p:cNvSpPr/>
          <p:nvPr/>
        </p:nvSpPr>
        <p:spPr>
          <a:xfrm>
            <a:off x="3008376" y="4306017"/>
            <a:ext cx="1133414"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$206.95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7" name="Shape 55"/>
          <p:cNvSpPr/>
          <p:nvPr/>
        </p:nvSpPr>
        <p:spPr>
          <a:xfrm>
            <a:off x="3008376" y="4545913"/>
            <a:ext cx="1082147"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$197.59</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1" name="Shape 59"/>
          <p:cNvSpPr/>
          <p:nvPr/>
        </p:nvSpPr>
        <p:spPr>
          <a:xfrm>
            <a:off x="3008376" y="4785808"/>
            <a:ext cx="1070003"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$195.37</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5" name="Shape 63"/>
          <p:cNvSpPr/>
          <p:nvPr/>
        </p:nvSpPr>
        <p:spPr>
          <a:xfrm>
            <a:off x="3008376" y="5025704"/>
            <a:ext cx="1068869"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$195.16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69" name="Shape 67"/>
          <p:cNvSpPr/>
          <p:nvPr/>
        </p:nvSpPr>
        <p:spPr>
          <a:xfrm>
            <a:off x="3008376" y="5265599"/>
            <a:ext cx="1018700"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$186.00</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3" name="Shape 71"/>
          <p:cNvSpPr/>
          <p:nvPr/>
        </p:nvSpPr>
        <p:spPr>
          <a:xfrm>
            <a:off x="3008376" y="5505495"/>
            <a:ext cx="1002048"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$182.96</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7" name="Shape 75"/>
          <p:cNvSpPr/>
          <p:nvPr/>
        </p:nvSpPr>
        <p:spPr>
          <a:xfrm>
            <a:off x="3008376" y="5745390"/>
            <a:ext cx="989419"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$180.66</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8558784" y="1907062"/>
            <a:ext cx="988968"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$180.57</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8558784" y="2146957"/>
            <a:ext cx="972705"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$177.61</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89" name="Shape 87"/>
          <p:cNvSpPr/>
          <p:nvPr/>
        </p:nvSpPr>
        <p:spPr>
          <a:xfrm>
            <a:off x="8558784" y="2386853"/>
            <a:ext cx="967216"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$176.60</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3" name="Shape 91"/>
          <p:cNvSpPr/>
          <p:nvPr/>
        </p:nvSpPr>
        <p:spPr>
          <a:xfrm>
            <a:off x="8558784" y="2626748"/>
            <a:ext cx="950479"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$173.55</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97" name="Shape 95"/>
          <p:cNvSpPr/>
          <p:nvPr/>
        </p:nvSpPr>
        <p:spPr>
          <a:xfrm>
            <a:off x="8558784" y="2866644"/>
            <a:ext cx="938985"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$171.45</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01" name="Shape 99"/>
          <p:cNvSpPr/>
          <p:nvPr/>
        </p:nvSpPr>
        <p:spPr>
          <a:xfrm>
            <a:off x="8558784" y="3106540"/>
            <a:ext cx="937921"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$171.25</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5" name="Shape 103"/>
          <p:cNvSpPr/>
          <p:nvPr/>
        </p:nvSpPr>
        <p:spPr>
          <a:xfrm>
            <a:off x="8558784" y="3346435"/>
            <a:ext cx="936379"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$170.97</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9" name="Shape 107"/>
          <p:cNvSpPr/>
          <p:nvPr/>
        </p:nvSpPr>
        <p:spPr>
          <a:xfrm>
            <a:off x="8558784" y="3586331"/>
            <a:ext cx="934636"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$170.65</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3" name="Shape 111"/>
          <p:cNvSpPr/>
          <p:nvPr/>
        </p:nvSpPr>
        <p:spPr>
          <a:xfrm>
            <a:off x="8558784" y="3826226"/>
            <a:ext cx="899074"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$164.16</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17" name="Shape 115"/>
          <p:cNvSpPr/>
          <p:nvPr/>
        </p:nvSpPr>
        <p:spPr>
          <a:xfrm>
            <a:off x="8558784" y="4066122"/>
            <a:ext cx="878217"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$160.35</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1" name="Shape 119"/>
          <p:cNvSpPr/>
          <p:nvPr/>
        </p:nvSpPr>
        <p:spPr>
          <a:xfrm>
            <a:off x="8558784" y="4306017"/>
            <a:ext cx="864282"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$157.81</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5" name="Shape 123"/>
          <p:cNvSpPr/>
          <p:nvPr/>
        </p:nvSpPr>
        <p:spPr>
          <a:xfrm>
            <a:off x="8558784" y="4545913"/>
            <a:ext cx="853702"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$155.88</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9" name="Shape 127"/>
          <p:cNvSpPr/>
          <p:nvPr/>
        </p:nvSpPr>
        <p:spPr>
          <a:xfrm>
            <a:off x="8558784" y="4785808"/>
            <a:ext cx="830028"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$151.55</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33" name="Shape 131"/>
          <p:cNvSpPr/>
          <p:nvPr/>
        </p:nvSpPr>
        <p:spPr>
          <a:xfrm>
            <a:off x="8558784" y="5025704"/>
            <a:ext cx="781476"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$142.69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37" name="Shape 135"/>
          <p:cNvSpPr/>
          <p:nvPr/>
        </p:nvSpPr>
        <p:spPr>
          <a:xfrm>
            <a:off x="8558784" y="5265599"/>
            <a:ext cx="714628"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$130.48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41" name="Shape 139"/>
          <p:cNvSpPr/>
          <p:nvPr/>
        </p:nvSpPr>
        <p:spPr>
          <a:xfrm>
            <a:off x="8558784" y="5505495"/>
            <a:ext cx="665401"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$121.50</a:t>
            </a:r>
            <a:endParaRPr lang="en-US" sz="1200" dirty="0"/>
          </a:p>
        </p:txBody>
      </p:sp>
      <p:sp>
        <p:nvSpPr>
          <p:cNvPr id="143" name="Shape 141"/>
          <p:cNvSpPr/>
          <p:nvPr/>
        </p:nvSpPr>
        <p:spPr>
          <a:xfrm>
            <a:off x="4080932" y="1847088"/>
            <a:ext cx="14630" cy="4078224"/>
          </a:xfrm>
          <a:prstGeom prst="rect">
            <a:avLst/>
          </a:prstGeom>
          <a:solidFill>
            <a:srgbClr val="0B2C4A"/>
          </a:solidFill>
          <a:ln/>
        </p:spPr>
      </p:sp>
      <p:sp>
        <p:nvSpPr>
          <p:cNvPr id="144" name="Shape 142"/>
          <p:cNvSpPr/>
          <p:nvPr/>
        </p:nvSpPr>
        <p:spPr>
          <a:xfrm>
            <a:off x="9631340"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12 of 33 stores at or above the $197.17 group, led by Audi Henderson at $308.88. Subaru Prescott is lowest at $121.50.</a:t>
            </a:r>
            <a:endParaRPr lang="en-US" sz="1600" dirty="0"/>
          </a:p>
        </p:txBody>
      </p:sp>
    </p:spTree>
  </p:cSld>
  <p:clrMapOvr>
    <a:masterClrMapping/>
  </p:clrMapOvr>
</p:sld>
</file>

<file path=ppt/slides/slide15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WARRANTY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+$16.93</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+$57.74</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7" name="Shape 15"/>
          <p:cNvSpPr/>
          <p:nvPr/>
        </p:nvSpPr>
        <p:spPr>
          <a:xfrm>
            <a:off x="3785616" y="2151755"/>
            <a:ext cx="536453"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+$39.85</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1" name="Shape 19"/>
          <p:cNvSpPr/>
          <p:nvPr/>
        </p:nvSpPr>
        <p:spPr>
          <a:xfrm>
            <a:off x="3785616" y="2391651"/>
            <a:ext cx="368406"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+$27.37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5" name="Shape 23"/>
          <p:cNvSpPr/>
          <p:nvPr/>
        </p:nvSpPr>
        <p:spPr>
          <a:xfrm>
            <a:off x="3785616" y="2631546"/>
            <a:ext cx="355137"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+$26.38</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29" name="Shape 27"/>
          <p:cNvSpPr/>
          <p:nvPr/>
        </p:nvSpPr>
        <p:spPr>
          <a:xfrm>
            <a:off x="3785616" y="2871442"/>
            <a:ext cx="276603"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+$20.55</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3" name="Shape 31"/>
          <p:cNvSpPr/>
          <p:nvPr/>
        </p:nvSpPr>
        <p:spPr>
          <a:xfrm>
            <a:off x="3785616" y="3111337"/>
            <a:ext cx="258528"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+$19.21</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7" name="Shape 35"/>
          <p:cNvSpPr/>
          <p:nvPr/>
        </p:nvSpPr>
        <p:spPr>
          <a:xfrm>
            <a:off x="3785616" y="3351233"/>
            <a:ext cx="257839"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+$19.15</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41" name="Shape 39"/>
          <p:cNvSpPr/>
          <p:nvPr/>
        </p:nvSpPr>
        <p:spPr>
          <a:xfrm>
            <a:off x="3785616" y="3591128"/>
            <a:ext cx="228187"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+$16.95</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45" name="Shape 43"/>
          <p:cNvSpPr/>
          <p:nvPr/>
        </p:nvSpPr>
        <p:spPr>
          <a:xfrm>
            <a:off x="3785616" y="3831024"/>
            <a:ext cx="225720"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+$16.77</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9" name="Shape 47"/>
          <p:cNvSpPr/>
          <p:nvPr/>
        </p:nvSpPr>
        <p:spPr>
          <a:xfrm>
            <a:off x="3785616" y="4070920"/>
            <a:ext cx="225689"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+$16.77</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53" name="Shape 51"/>
          <p:cNvSpPr/>
          <p:nvPr/>
        </p:nvSpPr>
        <p:spPr>
          <a:xfrm>
            <a:off x="3785616" y="4310815"/>
            <a:ext cx="216007"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7" name="Shape 55"/>
          <p:cNvSpPr/>
          <p:nvPr/>
        </p:nvSpPr>
        <p:spPr>
          <a:xfrm>
            <a:off x="3785616" y="4550711"/>
            <a:ext cx="214668"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+$15.95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1" name="Shape 59"/>
          <p:cNvSpPr/>
          <p:nvPr/>
        </p:nvSpPr>
        <p:spPr>
          <a:xfrm>
            <a:off x="3785616" y="4790606"/>
            <a:ext cx="183559"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+$13.64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5" name="Shape 63"/>
          <p:cNvSpPr/>
          <p:nvPr/>
        </p:nvSpPr>
        <p:spPr>
          <a:xfrm>
            <a:off x="3785616" y="5030502"/>
            <a:ext cx="173511"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+$12.89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9" name="Shape 67"/>
          <p:cNvSpPr/>
          <p:nvPr/>
        </p:nvSpPr>
        <p:spPr>
          <a:xfrm>
            <a:off x="3785616" y="5270397"/>
            <a:ext cx="164983"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+$12.26</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73" name="Shape 71"/>
          <p:cNvSpPr/>
          <p:nvPr/>
        </p:nvSpPr>
        <p:spPr>
          <a:xfrm>
            <a:off x="3785616" y="5510293"/>
            <a:ext cx="130019"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+$9.66</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77" name="Shape 75"/>
          <p:cNvSpPr/>
          <p:nvPr/>
        </p:nvSpPr>
        <p:spPr>
          <a:xfrm>
            <a:off x="3785616" y="5750188"/>
            <a:ext cx="129735"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+$9.64</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1" name="Shape 79"/>
          <p:cNvSpPr/>
          <p:nvPr/>
        </p:nvSpPr>
        <p:spPr>
          <a:xfrm>
            <a:off x="9336024" y="1911860"/>
            <a:ext cx="123986"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85" name="Shape 83"/>
          <p:cNvSpPr/>
          <p:nvPr/>
        </p:nvSpPr>
        <p:spPr>
          <a:xfrm>
            <a:off x="9336024" y="2151755"/>
            <a:ext cx="115500"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+$8.58</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9" name="Shape 87"/>
          <p:cNvSpPr/>
          <p:nvPr/>
        </p:nvSpPr>
        <p:spPr>
          <a:xfrm>
            <a:off x="9336024" y="2391651"/>
            <a:ext cx="93591"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+$6.95</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3" name="Shape 91"/>
          <p:cNvSpPr/>
          <p:nvPr/>
        </p:nvSpPr>
        <p:spPr>
          <a:xfrm>
            <a:off x="9336024" y="2631546"/>
            <a:ext cx="91542"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+$6.80</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97" name="Shape 95"/>
          <p:cNvSpPr/>
          <p:nvPr/>
        </p:nvSpPr>
        <p:spPr>
          <a:xfrm>
            <a:off x="9336024" y="2871442"/>
            <a:ext cx="90857"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+$6.75</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1" name="Shape 99"/>
          <p:cNvSpPr/>
          <p:nvPr/>
        </p:nvSpPr>
        <p:spPr>
          <a:xfrm>
            <a:off x="9336024" y="3111337"/>
            <a:ext cx="83711"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+$6.22</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5" name="Shape 103"/>
          <p:cNvSpPr/>
          <p:nvPr/>
        </p:nvSpPr>
        <p:spPr>
          <a:xfrm>
            <a:off x="9336024" y="3351233"/>
            <a:ext cx="71343"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+$5.30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9" name="Shape 107"/>
          <p:cNvSpPr/>
          <p:nvPr/>
        </p:nvSpPr>
        <p:spPr>
          <a:xfrm>
            <a:off x="9336024" y="3591128"/>
            <a:ext cx="61183" cy="110352"/>
          </a:xfrm>
          <a:prstGeom prst="rect">
            <a:avLst/>
          </a:prstGeom>
          <a:solidFill>
            <a:srgbClr val="12A566"/>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+$4.55</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3" name="Shape 111"/>
          <p:cNvSpPr/>
          <p:nvPr/>
        </p:nvSpPr>
        <p:spPr>
          <a:xfrm>
            <a:off x="9336024" y="3831024"/>
            <a:ext cx="57486" cy="110352"/>
          </a:xfrm>
          <a:prstGeom prst="rect">
            <a:avLst/>
          </a:prstGeom>
          <a:solidFill>
            <a:srgbClr val="12A566"/>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9336024" y="4070920"/>
            <a:ext cx="50066" cy="110352"/>
          </a:xfrm>
          <a:prstGeom prst="rect">
            <a:avLst/>
          </a:prstGeom>
          <a:solidFill>
            <a:srgbClr val="12A566"/>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1" name="Shape 119"/>
          <p:cNvSpPr/>
          <p:nvPr/>
        </p:nvSpPr>
        <p:spPr>
          <a:xfrm>
            <a:off x="9336024" y="4310815"/>
            <a:ext cx="33186" cy="110352"/>
          </a:xfrm>
          <a:prstGeom prst="rect">
            <a:avLst/>
          </a:prstGeom>
          <a:solidFill>
            <a:srgbClr val="12A566"/>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5" name="Shape 123"/>
          <p:cNvSpPr/>
          <p:nvPr/>
        </p:nvSpPr>
        <p:spPr>
          <a:xfrm>
            <a:off x="9336024" y="4550711"/>
            <a:ext cx="13817" cy="110352"/>
          </a:xfrm>
          <a:prstGeom prst="rect">
            <a:avLst/>
          </a:prstGeom>
          <a:solidFill>
            <a:srgbClr val="12A566"/>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9336024" y="4790606"/>
            <a:ext cx="12802" cy="110352"/>
          </a:xfrm>
          <a:prstGeom prst="rect">
            <a:avLst/>
          </a:prstGeom>
          <a:solidFill>
            <a:srgbClr val="12A566"/>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+$0.95</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33" name="Shape 131"/>
          <p:cNvSpPr/>
          <p:nvPr/>
        </p:nvSpPr>
        <p:spPr>
          <a:xfrm>
            <a:off x="9335137" y="5030502"/>
            <a:ext cx="12802"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−$0.07</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37" name="Shape 135"/>
          <p:cNvSpPr/>
          <p:nvPr/>
        </p:nvSpPr>
        <p:spPr>
          <a:xfrm>
            <a:off x="9314711" y="5270397"/>
            <a:ext cx="21313"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41" name="Shape 139"/>
          <p:cNvSpPr/>
          <p:nvPr/>
        </p:nvSpPr>
        <p:spPr>
          <a:xfrm>
            <a:off x="9171193" y="5510293"/>
            <a:ext cx="164831"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−$12.25</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30 of 33 stores raised warranty ELR, led by LR LV at +$57.74 to $274.91. 3 declined; Honda North fell most at −$12.25.</a:t>
            </a:r>
            <a:endParaRPr lang="en-US" sz="1600" dirty="0"/>
          </a:p>
        </p:txBody>
      </p:sp>
    </p:spTree>
  </p:cSld>
  <p:clrMapOvr>
    <a:masterClrMapping/>
  </p:clrMapOvr>
</p:sld>
</file>

<file path=ppt/slides/slide15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$217.17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$274.91</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+$57.74</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$269.02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$308.88</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+$39.85</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$207.14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$234.51</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+$27.37</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$236.81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$263.19</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+$26.38</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$150.71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$171.25</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+$20.55</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$142.73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$130.48</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−$12.25</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$229.98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$228.39</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−$1.58</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$212.46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$212.39</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−$0.07</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$120.55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$121.50</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+$0.95</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$154.85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$155.88</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+$1.03</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$157.42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$190.66</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+$33.25</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$246.88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$270.18</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+$23.31</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$158.87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$180.92</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+$22.06</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$123.60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$140.08</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+$16.48</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$191.56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$206.44</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+$14.88</a:t>
            </a:r>
            <a:endParaRPr lang="en-US" sz="1600" dirty="0"/>
          </a:p>
        </p:txBody>
      </p:sp>
      <p:sp>
        <p:nvSpPr>
          <p:cNvPr id="69" name="Shape 67"/>
          <p:cNvSpPr/>
          <p:nvPr/>
        </p:nvSpPr>
        <p:spPr>
          <a:xfrm>
            <a:off x="457200" y="6126480"/>
            <a:ext cx="11274552" cy="615696"/>
          </a:xfrm>
          <a:prstGeom prst="rect">
            <a:avLst/>
          </a:prstGeom>
          <a:solidFill>
            <a:srgbClr val="EDF4FA"/>
          </a:solidFill>
          <a:ln/>
        </p:spPr>
      </p:sp>
      <p:sp>
        <p:nvSpPr>
          <p:cNvPr id="70"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LR LV, Audi Henderson and Volvo what changed. Ask Honda North, LR Reno and Cadillac what got in the way. Ask Nissan, LR Henderson and Honda Flagstaff what they started this year.</a:t>
            </a:r>
            <a:endParaRPr lang="en-US" sz="1600" dirty="0"/>
          </a:p>
        </p:txBody>
      </p:sp>
    </p:spTree>
  </p:cSld>
  <p:clrMapOvr>
    <a:masterClrMapping/>
  </p:clrMapOvr>
</p:sld>
</file>

<file path=ppt/slides/slide15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Parts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42.6%</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44.7%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+2.1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+5.0%</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Warranty parts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356616"/>
          </a:xfrm>
          <a:prstGeom prst="rect">
            <a:avLst/>
          </a:prstGeom>
          <a:solidFill>
            <a:srgbClr val="E6F6EE"/>
          </a:solidFill>
          <a:ln/>
        </p:spPr>
      </p:sp>
      <p:sp>
        <p:nvSpPr>
          <p:cNvPr id="28" name="Text 22"/>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Up 2.1 pts to 44.7%, ahead of 2025 in all nine months: approved parts markup increases show up as margin.</a:t>
            </a:r>
            <a:endParaRPr lang="en-US" sz="1500" dirty="0"/>
          </a:p>
        </p:txBody>
      </p:sp>
    </p:spTree>
  </p:cSld>
  <p:clrMapOvr>
    <a:masterClrMapping/>
  </p:clrMapOvr>
</p:sld>
</file>

<file path=ppt/slides/slide16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Gets Claims Debited</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85800" y="1344168"/>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What auditors check: the causes in the six audits, plus supporting evidence</a:t>
            </a:r>
            <a:endParaRPr lang="en-US" sz="1500" dirty="0"/>
          </a:p>
        </p:txBody>
      </p:sp>
      <p:sp>
        <p:nvSpPr>
          <p:cNvPr id="7" name="Shape 5"/>
          <p:cNvSpPr/>
          <p:nvPr/>
        </p:nvSpPr>
        <p:spPr>
          <a:xfrm>
            <a:off x="685800" y="1691640"/>
            <a:ext cx="10817352" cy="10973"/>
          </a:xfrm>
          <a:prstGeom prst="rect">
            <a:avLst/>
          </a:prstGeom>
          <a:solidFill>
            <a:srgbClr val="1A1A1A"/>
          </a:solidFill>
          <a:ln/>
        </p:spPr>
      </p:sp>
      <p:sp>
        <p:nvSpPr>
          <p:cNvPr id="8" name="Shape 6"/>
          <p:cNvSpPr/>
          <p:nvPr/>
        </p:nvSpPr>
        <p:spPr>
          <a:xfrm>
            <a:off x="685800" y="1865376"/>
            <a:ext cx="3496056" cy="1888236"/>
          </a:xfrm>
          <a:prstGeom prst="rect">
            <a:avLst/>
          </a:prstGeom>
          <a:solidFill>
            <a:srgbClr val="F7F7F7"/>
          </a:solidFill>
          <a:ln/>
        </p:spPr>
      </p:sp>
      <p:sp>
        <p:nvSpPr>
          <p:cNvPr id="9" name="Shape 7"/>
          <p:cNvSpPr/>
          <p:nvPr/>
        </p:nvSpPr>
        <p:spPr>
          <a:xfrm>
            <a:off x="685800" y="1865376"/>
            <a:ext cx="54864" cy="1888236"/>
          </a:xfrm>
          <a:prstGeom prst="rect">
            <a:avLst/>
          </a:prstGeom>
          <a:solidFill>
            <a:srgbClr val="C2352F"/>
          </a:solidFill>
          <a:ln/>
        </p:spPr>
      </p:sp>
      <p:sp>
        <p:nvSpPr>
          <p:cNvPr id="10" name="Text 8"/>
          <p:cNvSpPr txBox="1"/>
          <p:nvPr/>
        </p:nvSpPr>
        <p:spPr>
          <a:xfrm>
            <a:off x="886968" y="1993392"/>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Written documentation</a:t>
            </a:r>
            <a:endParaRPr lang="en-US" sz="1800" dirty="0"/>
          </a:p>
        </p:txBody>
      </p:sp>
      <p:sp>
        <p:nvSpPr>
          <p:cNvPr id="11" name="Text 9"/>
          <p:cNvSpPr txBox="1"/>
          <p:nvPr/>
        </p:nvSpPr>
        <p:spPr>
          <a:xfrm>
            <a:off x="886968" y="2724912"/>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Complaint, cause and correction written on the RO, and matching what was claimed</a:t>
            </a:r>
            <a:endParaRPr lang="en-US" sz="1500" dirty="0"/>
          </a:p>
        </p:txBody>
      </p:sp>
      <p:sp>
        <p:nvSpPr>
          <p:cNvPr id="12" name="Shape 10"/>
          <p:cNvSpPr/>
          <p:nvPr/>
        </p:nvSpPr>
        <p:spPr>
          <a:xfrm>
            <a:off x="4346448" y="1865376"/>
            <a:ext cx="3496056" cy="1888236"/>
          </a:xfrm>
          <a:prstGeom prst="rect">
            <a:avLst/>
          </a:prstGeom>
          <a:solidFill>
            <a:srgbClr val="F7F7F7"/>
          </a:solidFill>
          <a:ln/>
        </p:spPr>
      </p:sp>
      <p:sp>
        <p:nvSpPr>
          <p:cNvPr id="13" name="Shape 11"/>
          <p:cNvSpPr/>
          <p:nvPr/>
        </p:nvSpPr>
        <p:spPr>
          <a:xfrm>
            <a:off x="4346448" y="1865376"/>
            <a:ext cx="54864" cy="1888236"/>
          </a:xfrm>
          <a:prstGeom prst="rect">
            <a:avLst/>
          </a:prstGeom>
          <a:solidFill>
            <a:srgbClr val="C2352F"/>
          </a:solidFill>
          <a:ln/>
        </p:spPr>
      </p:sp>
      <p:sp>
        <p:nvSpPr>
          <p:cNvPr id="14" name="Text 12"/>
          <p:cNvSpPr txBox="1"/>
          <p:nvPr/>
        </p:nvSpPr>
        <p:spPr>
          <a:xfrm>
            <a:off x="4547616" y="1993392"/>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Required signatures</a:t>
            </a:r>
            <a:endParaRPr lang="en-US" sz="1800" dirty="0"/>
          </a:p>
        </p:txBody>
      </p:sp>
      <p:sp>
        <p:nvSpPr>
          <p:cNvPr id="15" name="Text 13"/>
          <p:cNvSpPr txBox="1"/>
          <p:nvPr/>
        </p:nvSpPr>
        <p:spPr>
          <a:xfrm>
            <a:off x="4547616" y="2724912"/>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Manager sign-off on added repairs; customer and manager signatures on in-stock units</a:t>
            </a:r>
            <a:endParaRPr lang="en-US" sz="1500" dirty="0"/>
          </a:p>
        </p:txBody>
      </p:sp>
      <p:sp>
        <p:nvSpPr>
          <p:cNvPr id="16" name="Shape 14"/>
          <p:cNvSpPr/>
          <p:nvPr/>
        </p:nvSpPr>
        <p:spPr>
          <a:xfrm>
            <a:off x="8007096" y="1865376"/>
            <a:ext cx="3496056" cy="1888236"/>
          </a:xfrm>
          <a:prstGeom prst="rect">
            <a:avLst/>
          </a:prstGeom>
          <a:solidFill>
            <a:srgbClr val="F7F7F7"/>
          </a:solidFill>
          <a:ln/>
        </p:spPr>
      </p:sp>
      <p:sp>
        <p:nvSpPr>
          <p:cNvPr id="17" name="Shape 15"/>
          <p:cNvSpPr/>
          <p:nvPr/>
        </p:nvSpPr>
        <p:spPr>
          <a:xfrm>
            <a:off x="8007096" y="1865376"/>
            <a:ext cx="54864" cy="1888236"/>
          </a:xfrm>
          <a:prstGeom prst="rect">
            <a:avLst/>
          </a:prstGeom>
          <a:solidFill>
            <a:srgbClr val="C2352F"/>
          </a:solidFill>
          <a:ln/>
        </p:spPr>
      </p:sp>
      <p:sp>
        <p:nvSpPr>
          <p:cNvPr id="18" name="Text 16"/>
          <p:cNvSpPr txBox="1"/>
          <p:nvPr/>
        </p:nvSpPr>
        <p:spPr>
          <a:xfrm>
            <a:off x="8208264" y="1993392"/>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Supporting evidence</a:t>
            </a:r>
            <a:endParaRPr lang="en-US" sz="1800" dirty="0"/>
          </a:p>
        </p:txBody>
      </p:sp>
      <p:sp>
        <p:nvSpPr>
          <p:cNvPr id="19" name="Text 17"/>
          <p:cNvSpPr txBox="1"/>
          <p:nvPr/>
        </p:nvSpPr>
        <p:spPr>
          <a:xfrm>
            <a:off x="8208264" y="2724912"/>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Photos of the failed part, test results and proof the required procedure was followed, where the manufacturer asks for it</a:t>
            </a:r>
            <a:endParaRPr lang="en-US" sz="1500" dirty="0"/>
          </a:p>
        </p:txBody>
      </p:sp>
      <p:sp>
        <p:nvSpPr>
          <p:cNvPr id="20" name="Shape 18"/>
          <p:cNvSpPr/>
          <p:nvPr/>
        </p:nvSpPr>
        <p:spPr>
          <a:xfrm>
            <a:off x="685800" y="3918204"/>
            <a:ext cx="3496056" cy="1888236"/>
          </a:xfrm>
          <a:prstGeom prst="rect">
            <a:avLst/>
          </a:prstGeom>
          <a:solidFill>
            <a:srgbClr val="F7F7F7"/>
          </a:solidFill>
          <a:ln/>
        </p:spPr>
      </p:sp>
      <p:sp>
        <p:nvSpPr>
          <p:cNvPr id="21" name="Shape 19"/>
          <p:cNvSpPr/>
          <p:nvPr/>
        </p:nvSpPr>
        <p:spPr>
          <a:xfrm>
            <a:off x="685800" y="3918204"/>
            <a:ext cx="54864" cy="1888236"/>
          </a:xfrm>
          <a:prstGeom prst="rect">
            <a:avLst/>
          </a:prstGeom>
          <a:solidFill>
            <a:srgbClr val="C2352F"/>
          </a:solidFill>
          <a:ln/>
        </p:spPr>
      </p:sp>
      <p:sp>
        <p:nvSpPr>
          <p:cNvPr id="22" name="Text 20"/>
          <p:cNvSpPr txBox="1"/>
          <p:nvPr/>
        </p:nvSpPr>
        <p:spPr>
          <a:xfrm>
            <a:off x="886968" y="4046220"/>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Out mileage</a:t>
            </a:r>
            <a:endParaRPr lang="en-US" sz="1800" dirty="0"/>
          </a:p>
        </p:txBody>
      </p:sp>
      <p:sp>
        <p:nvSpPr>
          <p:cNvPr id="23" name="Text 21"/>
          <p:cNvSpPr txBox="1"/>
          <p:nvPr/>
        </p:nvSpPr>
        <p:spPr>
          <a:xfrm>
            <a:off x="886968" y="4777740"/>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Recorded on every RO and consistent with the mileage in</a:t>
            </a:r>
            <a:endParaRPr lang="en-US" sz="1500" dirty="0"/>
          </a:p>
        </p:txBody>
      </p:sp>
      <p:sp>
        <p:nvSpPr>
          <p:cNvPr id="24" name="Shape 22"/>
          <p:cNvSpPr/>
          <p:nvPr/>
        </p:nvSpPr>
        <p:spPr>
          <a:xfrm>
            <a:off x="4346448" y="3918204"/>
            <a:ext cx="3496056" cy="1888236"/>
          </a:xfrm>
          <a:prstGeom prst="rect">
            <a:avLst/>
          </a:prstGeom>
          <a:solidFill>
            <a:srgbClr val="F7F7F7"/>
          </a:solidFill>
          <a:ln/>
        </p:spPr>
      </p:sp>
      <p:sp>
        <p:nvSpPr>
          <p:cNvPr id="25" name="Shape 23"/>
          <p:cNvSpPr/>
          <p:nvPr/>
        </p:nvSpPr>
        <p:spPr>
          <a:xfrm>
            <a:off x="4346448" y="3918204"/>
            <a:ext cx="54864" cy="1888236"/>
          </a:xfrm>
          <a:prstGeom prst="rect">
            <a:avLst/>
          </a:prstGeom>
          <a:solidFill>
            <a:srgbClr val="C2352F"/>
          </a:solidFill>
          <a:ln/>
        </p:spPr>
      </p:sp>
      <p:sp>
        <p:nvSpPr>
          <p:cNvPr id="26" name="Text 24"/>
          <p:cNvSpPr txBox="1"/>
          <p:nvPr/>
        </p:nvSpPr>
        <p:spPr>
          <a:xfrm>
            <a:off x="4547616" y="4046220"/>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Punch times</a:t>
            </a:r>
            <a:endParaRPr lang="en-US" sz="1800" dirty="0"/>
          </a:p>
        </p:txBody>
      </p:sp>
      <p:sp>
        <p:nvSpPr>
          <p:cNvPr id="27" name="Text 25"/>
          <p:cNvSpPr txBox="1"/>
          <p:nvPr/>
        </p:nvSpPr>
        <p:spPr>
          <a:xfrm>
            <a:off x="4547616" y="4777740"/>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Technician clock times on the RO support the hours claimed</a:t>
            </a:r>
            <a:endParaRPr lang="en-US" sz="1500" dirty="0"/>
          </a:p>
        </p:txBody>
      </p:sp>
      <p:sp>
        <p:nvSpPr>
          <p:cNvPr id="28" name="Shape 26"/>
          <p:cNvSpPr/>
          <p:nvPr/>
        </p:nvSpPr>
        <p:spPr>
          <a:xfrm>
            <a:off x="8007096" y="3918204"/>
            <a:ext cx="3496056" cy="1888236"/>
          </a:xfrm>
          <a:prstGeom prst="rect">
            <a:avLst/>
          </a:prstGeom>
          <a:solidFill>
            <a:srgbClr val="F7F7F7"/>
          </a:solidFill>
          <a:ln/>
        </p:spPr>
      </p:sp>
      <p:sp>
        <p:nvSpPr>
          <p:cNvPr id="29" name="Shape 27"/>
          <p:cNvSpPr/>
          <p:nvPr/>
        </p:nvSpPr>
        <p:spPr>
          <a:xfrm>
            <a:off x="8007096" y="3918204"/>
            <a:ext cx="54864" cy="1888236"/>
          </a:xfrm>
          <a:prstGeom prst="rect">
            <a:avLst/>
          </a:prstGeom>
          <a:solidFill>
            <a:srgbClr val="C2352F"/>
          </a:solidFill>
          <a:ln/>
        </p:spPr>
      </p:sp>
      <p:sp>
        <p:nvSpPr>
          <p:cNvPr id="30" name="Text 28"/>
          <p:cNvSpPr txBox="1"/>
          <p:nvPr/>
        </p:nvSpPr>
        <p:spPr>
          <a:xfrm>
            <a:off x="8208264" y="4046220"/>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Manufacturer authorization</a:t>
            </a:r>
            <a:endParaRPr lang="en-US" sz="1800" dirty="0"/>
          </a:p>
        </p:txBody>
      </p:sp>
      <p:sp>
        <p:nvSpPr>
          <p:cNvPr id="31" name="Text 29"/>
          <p:cNvSpPr txBox="1"/>
          <p:nvPr/>
        </p:nvSpPr>
        <p:spPr>
          <a:xfrm>
            <a:off x="8208264" y="4777740"/>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Prior approval on file wherever the manufacturer requires it</a:t>
            </a:r>
            <a:endParaRPr lang="en-US" sz="1500" dirty="0"/>
          </a:p>
        </p:txBody>
      </p:sp>
      <p:sp>
        <p:nvSpPr>
          <p:cNvPr id="32" name="Shape 30"/>
          <p:cNvSpPr/>
          <p:nvPr/>
        </p:nvSpPr>
        <p:spPr>
          <a:xfrm>
            <a:off x="457200" y="6126480"/>
            <a:ext cx="11274552" cy="615696"/>
          </a:xfrm>
          <a:prstGeom prst="rect">
            <a:avLst/>
          </a:prstGeom>
          <a:solidFill>
            <a:srgbClr val="FBEBEA"/>
          </a:solidFill>
          <a:ln/>
        </p:spPr>
      </p:sp>
      <p:sp>
        <p:nvSpPr>
          <p:cNvPr id="33" name="Text 31"/>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Six audits took back over $400,000, more than a tenth of what rate increases brought in this year. Every cause here is documentation the store controls.</a:t>
            </a:r>
            <a:endParaRPr lang="en-US" sz="1600" dirty="0"/>
          </a:p>
        </p:txBody>
      </p:sp>
    </p:spTree>
  </p:cSld>
  <p:clrMapOvr>
    <a:masterClrMapping/>
  </p:clrMapOvr>
</p:sld>
</file>

<file path=ppt/slides/slide16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Keep the Claim Paid</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85800" y="1344168"/>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Warranty compliance, in five steps</a:t>
            </a:r>
            <a:endParaRPr lang="en-US" sz="1500" dirty="0"/>
          </a:p>
        </p:txBody>
      </p:sp>
      <p:sp>
        <p:nvSpPr>
          <p:cNvPr id="7" name="Shape 5"/>
          <p:cNvSpPr/>
          <p:nvPr/>
        </p:nvSpPr>
        <p:spPr>
          <a:xfrm>
            <a:off x="685800" y="1691640"/>
            <a:ext cx="10817352" cy="10973"/>
          </a:xfrm>
          <a:prstGeom prst="rect">
            <a:avLst/>
          </a:prstGeom>
          <a:solidFill>
            <a:srgbClr val="1A1A1A"/>
          </a:solidFill>
          <a:ln/>
        </p:spPr>
      </p:sp>
      <p:sp>
        <p:nvSpPr>
          <p:cNvPr id="8" name="Shape 6"/>
          <p:cNvSpPr/>
          <p:nvPr/>
        </p:nvSpPr>
        <p:spPr>
          <a:xfrm>
            <a:off x="685800" y="1865376"/>
            <a:ext cx="2031797" cy="3941064"/>
          </a:xfrm>
          <a:prstGeom prst="rect">
            <a:avLst/>
          </a:prstGeom>
          <a:solidFill>
            <a:srgbClr val="F7F7F7"/>
          </a:solidFill>
          <a:ln/>
        </p:spPr>
      </p:sp>
      <p:sp>
        <p:nvSpPr>
          <p:cNvPr id="9" name="Shape 7"/>
          <p:cNvSpPr/>
          <p:nvPr/>
        </p:nvSpPr>
        <p:spPr>
          <a:xfrm>
            <a:off x="685800" y="1865376"/>
            <a:ext cx="54864" cy="3941064"/>
          </a:xfrm>
          <a:prstGeom prst="rect">
            <a:avLst/>
          </a:prstGeom>
          <a:solidFill>
            <a:srgbClr val="2587C5"/>
          </a:solidFill>
          <a:ln/>
        </p:spPr>
      </p:sp>
      <p:sp>
        <p:nvSpPr>
          <p:cNvPr id="10" name="Text 8"/>
          <p:cNvSpPr txBox="1"/>
          <p:nvPr/>
        </p:nvSpPr>
        <p:spPr>
          <a:xfrm>
            <a:off x="886968"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1  Documented policies</a:t>
            </a:r>
            <a:endParaRPr lang="en-US" sz="1800" dirty="0"/>
          </a:p>
        </p:txBody>
      </p:sp>
      <p:sp>
        <p:nvSpPr>
          <p:cNvPr id="11" name="Text 9"/>
          <p:cNvSpPr txBox="1"/>
          <p:nvPr/>
        </p:nvSpPr>
        <p:spPr>
          <a:xfrm>
            <a:off x="886968"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Each manufacturer's current warranty policy manual, where the team can reach it</a:t>
            </a:r>
            <a:endParaRPr lang="en-US" sz="1500" dirty="0"/>
          </a:p>
        </p:txBody>
      </p:sp>
      <p:sp>
        <p:nvSpPr>
          <p:cNvPr id="12" name="Shape 10"/>
          <p:cNvSpPr/>
          <p:nvPr/>
        </p:nvSpPr>
        <p:spPr>
          <a:xfrm>
            <a:off x="2882189" y="1865376"/>
            <a:ext cx="2031797" cy="3941064"/>
          </a:xfrm>
          <a:prstGeom prst="rect">
            <a:avLst/>
          </a:prstGeom>
          <a:solidFill>
            <a:srgbClr val="F7F7F7"/>
          </a:solidFill>
          <a:ln/>
        </p:spPr>
      </p:sp>
      <p:sp>
        <p:nvSpPr>
          <p:cNvPr id="13" name="Shape 11"/>
          <p:cNvSpPr/>
          <p:nvPr/>
        </p:nvSpPr>
        <p:spPr>
          <a:xfrm>
            <a:off x="2882189" y="1865376"/>
            <a:ext cx="54864" cy="3941064"/>
          </a:xfrm>
          <a:prstGeom prst="rect">
            <a:avLst/>
          </a:prstGeom>
          <a:solidFill>
            <a:srgbClr val="2587C5"/>
          </a:solidFill>
          <a:ln/>
        </p:spPr>
      </p:sp>
      <p:sp>
        <p:nvSpPr>
          <p:cNvPr id="14" name="Text 12"/>
          <p:cNvSpPr txBox="1"/>
          <p:nvPr/>
        </p:nvSpPr>
        <p:spPr>
          <a:xfrm>
            <a:off x="3083357"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2  Defined process</a:t>
            </a:r>
            <a:endParaRPr lang="en-US" sz="1800" dirty="0"/>
          </a:p>
        </p:txBody>
      </p:sp>
      <p:sp>
        <p:nvSpPr>
          <p:cNvPr id="15" name="Text 13"/>
          <p:cNvSpPr txBox="1"/>
          <p:nvPr/>
        </p:nvSpPr>
        <p:spPr>
          <a:xfrm>
            <a:off x="3083357"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Who writes, who approves, who submits: every claim handled the same way</a:t>
            </a:r>
            <a:endParaRPr lang="en-US" sz="1500" dirty="0"/>
          </a:p>
        </p:txBody>
      </p:sp>
      <p:sp>
        <p:nvSpPr>
          <p:cNvPr id="16" name="Shape 14"/>
          <p:cNvSpPr/>
          <p:nvPr/>
        </p:nvSpPr>
        <p:spPr>
          <a:xfrm>
            <a:off x="5078578" y="1865376"/>
            <a:ext cx="2031797" cy="3941064"/>
          </a:xfrm>
          <a:prstGeom prst="rect">
            <a:avLst/>
          </a:prstGeom>
          <a:solidFill>
            <a:srgbClr val="F7F7F7"/>
          </a:solidFill>
          <a:ln/>
        </p:spPr>
      </p:sp>
      <p:sp>
        <p:nvSpPr>
          <p:cNvPr id="17" name="Shape 15"/>
          <p:cNvSpPr/>
          <p:nvPr/>
        </p:nvSpPr>
        <p:spPr>
          <a:xfrm>
            <a:off x="5078578" y="1865376"/>
            <a:ext cx="54864" cy="3941064"/>
          </a:xfrm>
          <a:prstGeom prst="rect">
            <a:avLst/>
          </a:prstGeom>
          <a:solidFill>
            <a:srgbClr val="2587C5"/>
          </a:solidFill>
          <a:ln/>
        </p:spPr>
      </p:sp>
      <p:sp>
        <p:nvSpPr>
          <p:cNvPr id="18" name="Text 16"/>
          <p:cNvSpPr txBox="1"/>
          <p:nvPr/>
        </p:nvSpPr>
        <p:spPr>
          <a:xfrm>
            <a:off x="5279746"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3  Create awareness</a:t>
            </a:r>
            <a:endParaRPr lang="en-US" sz="1800" dirty="0"/>
          </a:p>
        </p:txBody>
      </p:sp>
      <p:sp>
        <p:nvSpPr>
          <p:cNvPr id="19" name="Text 17"/>
          <p:cNvSpPr txBox="1"/>
          <p:nvPr/>
        </p:nvSpPr>
        <p:spPr>
          <a:xfrm>
            <a:off x="5279746"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Advisors, technicians and warranty admins know what an auditor checks</a:t>
            </a:r>
            <a:endParaRPr lang="en-US" sz="1500" dirty="0"/>
          </a:p>
        </p:txBody>
      </p:sp>
      <p:sp>
        <p:nvSpPr>
          <p:cNvPr id="20" name="Shape 18"/>
          <p:cNvSpPr/>
          <p:nvPr/>
        </p:nvSpPr>
        <p:spPr>
          <a:xfrm>
            <a:off x="7274966" y="1865376"/>
            <a:ext cx="2031797" cy="3941064"/>
          </a:xfrm>
          <a:prstGeom prst="rect">
            <a:avLst/>
          </a:prstGeom>
          <a:solidFill>
            <a:srgbClr val="F7F7F7"/>
          </a:solidFill>
          <a:ln/>
        </p:spPr>
      </p:sp>
      <p:sp>
        <p:nvSpPr>
          <p:cNvPr id="21" name="Shape 19"/>
          <p:cNvSpPr/>
          <p:nvPr/>
        </p:nvSpPr>
        <p:spPr>
          <a:xfrm>
            <a:off x="7274966" y="1865376"/>
            <a:ext cx="54864" cy="3941064"/>
          </a:xfrm>
          <a:prstGeom prst="rect">
            <a:avLst/>
          </a:prstGeom>
          <a:solidFill>
            <a:srgbClr val="2587C5"/>
          </a:solidFill>
          <a:ln/>
        </p:spPr>
      </p:sp>
      <p:sp>
        <p:nvSpPr>
          <p:cNvPr id="22" name="Text 20"/>
          <p:cNvSpPr txBox="1"/>
          <p:nvPr/>
        </p:nvSpPr>
        <p:spPr>
          <a:xfrm>
            <a:off x="7476134"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4  Safety nets</a:t>
            </a:r>
            <a:endParaRPr lang="en-US" sz="1800" dirty="0"/>
          </a:p>
        </p:txBody>
      </p:sp>
      <p:sp>
        <p:nvSpPr>
          <p:cNvPr id="23" name="Text 21"/>
          <p:cNvSpPr txBox="1"/>
          <p:nvPr/>
        </p:nvSpPr>
        <p:spPr>
          <a:xfrm>
            <a:off x="7476134"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Signatures, out mileage, punch times and authorizations checked before the claim goes in</a:t>
            </a:r>
            <a:endParaRPr lang="en-US" sz="1500" dirty="0"/>
          </a:p>
        </p:txBody>
      </p:sp>
      <p:sp>
        <p:nvSpPr>
          <p:cNvPr id="24" name="Shape 22"/>
          <p:cNvSpPr/>
          <p:nvPr/>
        </p:nvSpPr>
        <p:spPr>
          <a:xfrm>
            <a:off x="9471355" y="1865376"/>
            <a:ext cx="2031797" cy="3941064"/>
          </a:xfrm>
          <a:prstGeom prst="rect">
            <a:avLst/>
          </a:prstGeom>
          <a:solidFill>
            <a:srgbClr val="F7F7F7"/>
          </a:solidFill>
          <a:ln/>
        </p:spPr>
      </p:sp>
      <p:sp>
        <p:nvSpPr>
          <p:cNvPr id="25" name="Shape 23"/>
          <p:cNvSpPr/>
          <p:nvPr/>
        </p:nvSpPr>
        <p:spPr>
          <a:xfrm>
            <a:off x="9471355" y="1865376"/>
            <a:ext cx="54864" cy="3941064"/>
          </a:xfrm>
          <a:prstGeom prst="rect">
            <a:avLst/>
          </a:prstGeom>
          <a:solidFill>
            <a:srgbClr val="2587C5"/>
          </a:solidFill>
          <a:ln/>
        </p:spPr>
      </p:sp>
      <p:sp>
        <p:nvSpPr>
          <p:cNvPr id="26" name="Text 24"/>
          <p:cNvSpPr txBox="1"/>
          <p:nvPr/>
        </p:nvSpPr>
        <p:spPr>
          <a:xfrm>
            <a:off x="9672523"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5  Spot-check and self-audit</a:t>
            </a:r>
            <a:endParaRPr lang="en-US" sz="1800" dirty="0"/>
          </a:p>
        </p:txBody>
      </p:sp>
      <p:sp>
        <p:nvSpPr>
          <p:cNvPr id="27" name="Text 25"/>
          <p:cNvSpPr txBox="1"/>
          <p:nvPr/>
        </p:nvSpPr>
        <p:spPr>
          <a:xfrm>
            <a:off x="9672523"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Pull warranty ROs every month and audit them the way the factory will</a:t>
            </a:r>
            <a:endParaRPr lang="en-US" sz="1500" dirty="0"/>
          </a:p>
        </p:txBody>
      </p:sp>
      <p:sp>
        <p:nvSpPr>
          <p:cNvPr id="28" name="Shape 26"/>
          <p:cNvSpPr/>
          <p:nvPr/>
        </p:nvSpPr>
        <p:spPr>
          <a:xfrm>
            <a:off x="457200" y="6126480"/>
            <a:ext cx="11274552" cy="371856"/>
          </a:xfrm>
          <a:prstGeom prst="rect">
            <a:avLst/>
          </a:prstGeom>
          <a:solidFill>
            <a:srgbClr val="EDF4FA"/>
          </a:solidFill>
          <a:ln/>
        </p:spPr>
      </p:sp>
      <p:sp>
        <p:nvSpPr>
          <p:cNvPr id="29" name="Text 2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General Manager is responsible for making sure warranty policies and procedures are followed.</a:t>
            </a:r>
            <a:endParaRPr lang="en-US" sz="1600" dirty="0"/>
          </a:p>
        </p:txBody>
      </p:sp>
    </p:spTree>
  </p:cSld>
  <p:clrMapOvr>
    <a:masterClrMapping/>
  </p:clrMapOvr>
</p:sld>
</file>

<file path=ppt/slides/slide16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RO Count</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135,764</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126,891</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−8,873</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−6.5%</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Warranty RO Count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615696"/>
          </a:xfrm>
          <a:prstGeom prst="rect">
            <a:avLst/>
          </a:prstGeom>
          <a:solidFill>
            <a:srgbClr val="FBEBEA"/>
          </a:solidFill>
          <a:ln/>
        </p:spPr>
      </p:sp>
      <p:sp>
        <p:nvSpPr>
          <p:cNvPr id="30"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Down 8,873 to 126,891, behind 2025 in seven of nine months. Warranty volume follows OEM campaigns and recalls as much as store effort.</a:t>
            </a:r>
            <a:endParaRPr lang="en-US" sz="1600" dirty="0"/>
          </a:p>
        </p:txBody>
      </p:sp>
    </p:spTree>
  </p:cSld>
  <p:clrMapOvr>
    <a:masterClrMapping/>
  </p:clrMapOvr>
</p:sld>
</file>

<file path=ppt/slides/slide16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RO 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WARRANTY RO COUNT</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126,891</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1860"/>
            <a:ext cx="1828800" cy="110352"/>
          </a:xfrm>
          <a:prstGeom prst="rect">
            <a:avLst/>
          </a:prstGeom>
          <a:solidFill>
            <a:srgbClr val="2587C5"/>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11,211</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7" name="Shape 15"/>
          <p:cNvSpPr/>
          <p:nvPr/>
        </p:nvSpPr>
        <p:spPr>
          <a:xfrm>
            <a:off x="2980944" y="2151755"/>
            <a:ext cx="1722605" cy="110352"/>
          </a:xfrm>
          <a:prstGeom prst="rect">
            <a:avLst/>
          </a:prstGeom>
          <a:solidFill>
            <a:srgbClr val="2587C5"/>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10,560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1" name="Shape 19"/>
          <p:cNvSpPr/>
          <p:nvPr/>
        </p:nvSpPr>
        <p:spPr>
          <a:xfrm>
            <a:off x="2980944" y="2391651"/>
            <a:ext cx="1400922" cy="110352"/>
          </a:xfrm>
          <a:prstGeom prst="rect">
            <a:avLst/>
          </a:prstGeom>
          <a:solidFill>
            <a:srgbClr val="2587C5"/>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8,588</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5" name="Shape 23"/>
          <p:cNvSpPr/>
          <p:nvPr/>
        </p:nvSpPr>
        <p:spPr>
          <a:xfrm>
            <a:off x="2980944" y="2631546"/>
            <a:ext cx="1286245" cy="110352"/>
          </a:xfrm>
          <a:prstGeom prst="rect">
            <a:avLst/>
          </a:prstGeom>
          <a:solidFill>
            <a:srgbClr val="2587C5"/>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7,885</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9" name="Shape 27"/>
          <p:cNvSpPr/>
          <p:nvPr/>
        </p:nvSpPr>
        <p:spPr>
          <a:xfrm>
            <a:off x="2980944" y="2871442"/>
            <a:ext cx="1262755" cy="110352"/>
          </a:xfrm>
          <a:prstGeom prst="rect">
            <a:avLst/>
          </a:prstGeom>
          <a:solidFill>
            <a:srgbClr val="2587C5"/>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7,741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3" name="Shape 31"/>
          <p:cNvSpPr/>
          <p:nvPr/>
        </p:nvSpPr>
        <p:spPr>
          <a:xfrm>
            <a:off x="2980944" y="3111337"/>
            <a:ext cx="1196036" cy="110352"/>
          </a:xfrm>
          <a:prstGeom prst="rect">
            <a:avLst/>
          </a:prstGeom>
          <a:solidFill>
            <a:srgbClr val="2587C5"/>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7,332</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7" name="Shape 35"/>
          <p:cNvSpPr/>
          <p:nvPr/>
        </p:nvSpPr>
        <p:spPr>
          <a:xfrm>
            <a:off x="2980944" y="3351233"/>
            <a:ext cx="1030953" cy="110352"/>
          </a:xfrm>
          <a:prstGeom prst="rect">
            <a:avLst/>
          </a:prstGeom>
          <a:solidFill>
            <a:srgbClr val="2587C5"/>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6,320</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1" name="Shape 39"/>
          <p:cNvSpPr/>
          <p:nvPr/>
        </p:nvSpPr>
        <p:spPr>
          <a:xfrm>
            <a:off x="2980944" y="3591128"/>
            <a:ext cx="798989" cy="110352"/>
          </a:xfrm>
          <a:prstGeom prst="rect">
            <a:avLst/>
          </a:prstGeom>
          <a:solidFill>
            <a:srgbClr val="2587C5"/>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4,898</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5" name="Shape 43"/>
          <p:cNvSpPr/>
          <p:nvPr/>
        </p:nvSpPr>
        <p:spPr>
          <a:xfrm>
            <a:off x="2980944" y="3831024"/>
            <a:ext cx="772073" cy="110352"/>
          </a:xfrm>
          <a:prstGeom prst="rect">
            <a:avLst/>
          </a:prstGeom>
          <a:solidFill>
            <a:srgbClr val="2587C5"/>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4,733</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49" name="Shape 47"/>
          <p:cNvSpPr/>
          <p:nvPr/>
        </p:nvSpPr>
        <p:spPr>
          <a:xfrm>
            <a:off x="2980944" y="4070920"/>
            <a:ext cx="625097" cy="110352"/>
          </a:xfrm>
          <a:prstGeom prst="rect">
            <a:avLst/>
          </a:prstGeom>
          <a:solidFill>
            <a:srgbClr val="2587C5"/>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3,832</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3" name="Shape 51"/>
          <p:cNvSpPr/>
          <p:nvPr/>
        </p:nvSpPr>
        <p:spPr>
          <a:xfrm>
            <a:off x="2980944" y="4310815"/>
            <a:ext cx="616778" cy="110352"/>
          </a:xfrm>
          <a:prstGeom prst="rect">
            <a:avLst/>
          </a:prstGeom>
          <a:solidFill>
            <a:srgbClr val="2587C5"/>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3,781</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57" name="Shape 55"/>
          <p:cNvSpPr/>
          <p:nvPr/>
        </p:nvSpPr>
        <p:spPr>
          <a:xfrm>
            <a:off x="2980944" y="4550711"/>
            <a:ext cx="596224" cy="110352"/>
          </a:xfrm>
          <a:prstGeom prst="rect">
            <a:avLst/>
          </a:prstGeom>
          <a:solidFill>
            <a:srgbClr val="2587C5"/>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3,655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1" name="Shape 59"/>
          <p:cNvSpPr/>
          <p:nvPr/>
        </p:nvSpPr>
        <p:spPr>
          <a:xfrm>
            <a:off x="2980944" y="4790606"/>
            <a:ext cx="595571" cy="110352"/>
          </a:xfrm>
          <a:prstGeom prst="rect">
            <a:avLst/>
          </a:prstGeom>
          <a:solidFill>
            <a:srgbClr val="2587C5"/>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3,651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5" name="Shape 63"/>
          <p:cNvSpPr/>
          <p:nvPr/>
        </p:nvSpPr>
        <p:spPr>
          <a:xfrm>
            <a:off x="2980944" y="5030502"/>
            <a:ext cx="552180" cy="110352"/>
          </a:xfrm>
          <a:prstGeom prst="rect">
            <a:avLst/>
          </a:prstGeom>
          <a:solidFill>
            <a:srgbClr val="2587C5"/>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3,385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9" name="Shape 67"/>
          <p:cNvSpPr/>
          <p:nvPr/>
        </p:nvSpPr>
        <p:spPr>
          <a:xfrm>
            <a:off x="2980944" y="5270397"/>
            <a:ext cx="530647" cy="110352"/>
          </a:xfrm>
          <a:prstGeom prst="rect">
            <a:avLst/>
          </a:prstGeom>
          <a:solidFill>
            <a:srgbClr val="2587C5"/>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3,253</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73" name="Shape 71"/>
          <p:cNvSpPr/>
          <p:nvPr/>
        </p:nvSpPr>
        <p:spPr>
          <a:xfrm>
            <a:off x="2980944" y="5510293"/>
            <a:ext cx="509930" cy="110352"/>
          </a:xfrm>
          <a:prstGeom prst="rect">
            <a:avLst/>
          </a:prstGeom>
          <a:solidFill>
            <a:srgbClr val="2587C5"/>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3,126</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77" name="Shape 75"/>
          <p:cNvSpPr/>
          <p:nvPr/>
        </p:nvSpPr>
        <p:spPr>
          <a:xfrm>
            <a:off x="2980944" y="5750188"/>
            <a:ext cx="500632" cy="110352"/>
          </a:xfrm>
          <a:prstGeom prst="rect">
            <a:avLst/>
          </a:prstGeom>
          <a:solidFill>
            <a:srgbClr val="2587C5"/>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3,069</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81" name="Shape 79"/>
          <p:cNvSpPr/>
          <p:nvPr/>
        </p:nvSpPr>
        <p:spPr>
          <a:xfrm>
            <a:off x="8531352" y="1911860"/>
            <a:ext cx="457078" cy="110352"/>
          </a:xfrm>
          <a:prstGeom prst="rect">
            <a:avLst/>
          </a:prstGeom>
          <a:solidFill>
            <a:srgbClr val="2587C5"/>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2,802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5" name="Shape 83"/>
          <p:cNvSpPr/>
          <p:nvPr/>
        </p:nvSpPr>
        <p:spPr>
          <a:xfrm>
            <a:off x="8531352" y="2151755"/>
            <a:ext cx="444517" cy="110352"/>
          </a:xfrm>
          <a:prstGeom prst="rect">
            <a:avLst/>
          </a:prstGeom>
          <a:solidFill>
            <a:srgbClr val="2587C5"/>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2,725</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9" name="Shape 87"/>
          <p:cNvSpPr/>
          <p:nvPr/>
        </p:nvSpPr>
        <p:spPr>
          <a:xfrm>
            <a:off x="8531352" y="2391651"/>
            <a:ext cx="408466" cy="110352"/>
          </a:xfrm>
          <a:prstGeom prst="rect">
            <a:avLst/>
          </a:prstGeom>
          <a:solidFill>
            <a:srgbClr val="2587C5"/>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2,504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3" name="Shape 91"/>
          <p:cNvSpPr/>
          <p:nvPr/>
        </p:nvSpPr>
        <p:spPr>
          <a:xfrm>
            <a:off x="8531352" y="2631546"/>
            <a:ext cx="399331" cy="110352"/>
          </a:xfrm>
          <a:prstGeom prst="rect">
            <a:avLst/>
          </a:prstGeom>
          <a:solidFill>
            <a:srgbClr val="2587C5"/>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2,448</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97" name="Shape 95"/>
          <p:cNvSpPr/>
          <p:nvPr/>
        </p:nvSpPr>
        <p:spPr>
          <a:xfrm>
            <a:off x="8531352" y="2871442"/>
            <a:ext cx="375026" cy="110352"/>
          </a:xfrm>
          <a:prstGeom prst="rect">
            <a:avLst/>
          </a:prstGeom>
          <a:solidFill>
            <a:srgbClr val="2587C5"/>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2,299</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01" name="Shape 99"/>
          <p:cNvSpPr/>
          <p:nvPr/>
        </p:nvSpPr>
        <p:spPr>
          <a:xfrm>
            <a:off x="8531352" y="3111337"/>
            <a:ext cx="369153" cy="110352"/>
          </a:xfrm>
          <a:prstGeom prst="rect">
            <a:avLst/>
          </a:prstGeom>
          <a:solidFill>
            <a:srgbClr val="2587C5"/>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2,263</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05" name="Shape 103"/>
          <p:cNvSpPr/>
          <p:nvPr/>
        </p:nvSpPr>
        <p:spPr>
          <a:xfrm>
            <a:off x="8531352" y="3351233"/>
            <a:ext cx="328209" cy="110352"/>
          </a:xfrm>
          <a:prstGeom prst="rect">
            <a:avLst/>
          </a:prstGeom>
          <a:solidFill>
            <a:srgbClr val="2587C5"/>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2,012</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09" name="Shape 107"/>
          <p:cNvSpPr/>
          <p:nvPr/>
        </p:nvSpPr>
        <p:spPr>
          <a:xfrm>
            <a:off x="8531352" y="3591128"/>
            <a:ext cx="325762" cy="110352"/>
          </a:xfrm>
          <a:prstGeom prst="rect">
            <a:avLst/>
          </a:prstGeom>
          <a:solidFill>
            <a:srgbClr val="2587C5"/>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1,997</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13" name="Shape 111"/>
          <p:cNvSpPr/>
          <p:nvPr/>
        </p:nvSpPr>
        <p:spPr>
          <a:xfrm>
            <a:off x="8531352" y="3831024"/>
            <a:ext cx="294768" cy="110352"/>
          </a:xfrm>
          <a:prstGeom prst="rect">
            <a:avLst/>
          </a:prstGeom>
          <a:solidFill>
            <a:srgbClr val="2587C5"/>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1,807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17" name="Shape 115"/>
          <p:cNvSpPr/>
          <p:nvPr/>
        </p:nvSpPr>
        <p:spPr>
          <a:xfrm>
            <a:off x="8531352" y="4070920"/>
            <a:ext cx="246646" cy="110352"/>
          </a:xfrm>
          <a:prstGeom prst="rect">
            <a:avLst/>
          </a:prstGeom>
          <a:solidFill>
            <a:srgbClr val="2587C5"/>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1,512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1" name="Shape 119"/>
          <p:cNvSpPr/>
          <p:nvPr/>
        </p:nvSpPr>
        <p:spPr>
          <a:xfrm>
            <a:off x="8531352" y="4310815"/>
            <a:ext cx="235390" cy="110352"/>
          </a:xfrm>
          <a:prstGeom prst="rect">
            <a:avLst/>
          </a:prstGeom>
          <a:solidFill>
            <a:srgbClr val="2587C5"/>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1,443</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5" name="Shape 123"/>
          <p:cNvSpPr/>
          <p:nvPr/>
        </p:nvSpPr>
        <p:spPr>
          <a:xfrm>
            <a:off x="8531352" y="4550711"/>
            <a:ext cx="222666" cy="110352"/>
          </a:xfrm>
          <a:prstGeom prst="rect">
            <a:avLst/>
          </a:prstGeom>
          <a:solidFill>
            <a:srgbClr val="2587C5"/>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1,365</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9" name="Shape 127"/>
          <p:cNvSpPr/>
          <p:nvPr/>
        </p:nvSpPr>
        <p:spPr>
          <a:xfrm>
            <a:off x="8531352" y="4790606"/>
            <a:ext cx="212389" cy="110352"/>
          </a:xfrm>
          <a:prstGeom prst="rect">
            <a:avLst/>
          </a:prstGeom>
          <a:solidFill>
            <a:srgbClr val="2587C5"/>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1,302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31352" y="5030502"/>
            <a:ext cx="201460" cy="110352"/>
          </a:xfrm>
          <a:prstGeom prst="rect">
            <a:avLst/>
          </a:prstGeom>
          <a:solidFill>
            <a:srgbClr val="2587C5"/>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1,235</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8531352" y="5270397"/>
            <a:ext cx="185147" cy="110352"/>
          </a:xfrm>
          <a:prstGeom prst="rect">
            <a:avLst/>
          </a:prstGeom>
          <a:solidFill>
            <a:srgbClr val="2587C5"/>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1,135</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41" name="Shape 139"/>
          <p:cNvSpPr/>
          <p:nvPr/>
        </p:nvSpPr>
        <p:spPr>
          <a:xfrm>
            <a:off x="8531352" y="5510293"/>
            <a:ext cx="166714" cy="110352"/>
          </a:xfrm>
          <a:prstGeom prst="rect">
            <a:avLst/>
          </a:prstGeom>
          <a:solidFill>
            <a:srgbClr val="2587C5"/>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1,022</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4" name="Shape 142"/>
          <p:cNvSpPr/>
          <p:nvPr/>
        </p:nvSpPr>
        <p:spPr>
          <a:xfrm>
            <a:off x="457200" y="6126480"/>
            <a:ext cx="11274552" cy="371856"/>
          </a:xfrm>
          <a:prstGeom prst="rect">
            <a:avLst/>
          </a:prstGeom>
          <a:solidFill>
            <a:srgbClr val="EDF4FA"/>
          </a:solidFill>
          <a:ln/>
        </p:spPr>
      </p:sp>
      <p:sp>
        <p:nvSpPr>
          <p:cNvPr id="145" name="Text 14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Toyota Henderson leads at 11,211; LR Reno is smallest at 1,022.</a:t>
            </a:r>
            <a:endParaRPr lang="en-US" sz="1600" dirty="0"/>
          </a:p>
        </p:txBody>
      </p:sp>
    </p:spTree>
  </p:cSld>
  <p:clrMapOvr>
    <a:masterClrMapping/>
  </p:clrMapOvr>
</p:sld>
</file>

<file path=ppt/slides/slide16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RO 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WARRANTY RO COUNT</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A82B26"/>
                </a:solidFill>
                <a:latin typeface="Inter" pitchFamily="34" charset="0"/>
                <a:ea typeface="Inter" pitchFamily="34" charset="-122"/>
                <a:cs typeface="Inter" pitchFamily="34" charset="-120"/>
              </a:rPr>
              <a:t>−6.5%</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+47.9%</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7" name="Shape 15"/>
          <p:cNvSpPr/>
          <p:nvPr/>
        </p:nvSpPr>
        <p:spPr>
          <a:xfrm>
            <a:off x="3785616" y="2151755"/>
            <a:ext cx="776748"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+47.8%</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1" name="Shape 19"/>
          <p:cNvSpPr/>
          <p:nvPr/>
        </p:nvSpPr>
        <p:spPr>
          <a:xfrm>
            <a:off x="3785616" y="2391651"/>
            <a:ext cx="767456"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+47.3%</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25" name="Shape 23"/>
          <p:cNvSpPr/>
          <p:nvPr/>
        </p:nvSpPr>
        <p:spPr>
          <a:xfrm>
            <a:off x="3785616" y="2631546"/>
            <a:ext cx="583236"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9" name="Shape 27"/>
          <p:cNvSpPr/>
          <p:nvPr/>
        </p:nvSpPr>
        <p:spPr>
          <a:xfrm>
            <a:off x="3785616" y="2871442"/>
            <a:ext cx="530854"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+32.7%</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33" name="Shape 31"/>
          <p:cNvSpPr/>
          <p:nvPr/>
        </p:nvSpPr>
        <p:spPr>
          <a:xfrm>
            <a:off x="3785616" y="3111337"/>
            <a:ext cx="485650"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+29.9%</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7" name="Shape 35"/>
          <p:cNvSpPr/>
          <p:nvPr/>
        </p:nvSpPr>
        <p:spPr>
          <a:xfrm>
            <a:off x="3785616" y="3351233"/>
            <a:ext cx="368446"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+22.7%</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1" name="Shape 39"/>
          <p:cNvSpPr/>
          <p:nvPr/>
        </p:nvSpPr>
        <p:spPr>
          <a:xfrm>
            <a:off x="3785616" y="3591128"/>
            <a:ext cx="33204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+20.4%</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45" name="Shape 43"/>
          <p:cNvSpPr/>
          <p:nvPr/>
        </p:nvSpPr>
        <p:spPr>
          <a:xfrm>
            <a:off x="3785616" y="3831024"/>
            <a:ext cx="194010"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+11.9%</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9" name="Shape 47"/>
          <p:cNvSpPr/>
          <p:nvPr/>
        </p:nvSpPr>
        <p:spPr>
          <a:xfrm>
            <a:off x="3785616" y="4070920"/>
            <a:ext cx="188933"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+11.6%</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53" name="Shape 51"/>
          <p:cNvSpPr/>
          <p:nvPr/>
        </p:nvSpPr>
        <p:spPr>
          <a:xfrm>
            <a:off x="3785616" y="4310815"/>
            <a:ext cx="164792"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7" name="Shape 55"/>
          <p:cNvSpPr/>
          <p:nvPr/>
        </p:nvSpPr>
        <p:spPr>
          <a:xfrm>
            <a:off x="3785616" y="4550711"/>
            <a:ext cx="144852"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61" name="Shape 59"/>
          <p:cNvSpPr/>
          <p:nvPr/>
        </p:nvSpPr>
        <p:spPr>
          <a:xfrm>
            <a:off x="3785616" y="4790606"/>
            <a:ext cx="120626"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5" name="Shape 63"/>
          <p:cNvSpPr/>
          <p:nvPr/>
        </p:nvSpPr>
        <p:spPr>
          <a:xfrm>
            <a:off x="3785616" y="5030502"/>
            <a:ext cx="110915"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+6.8%</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9" name="Shape 67"/>
          <p:cNvSpPr/>
          <p:nvPr/>
        </p:nvSpPr>
        <p:spPr>
          <a:xfrm>
            <a:off x="3785616" y="5270397"/>
            <a:ext cx="6589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73" name="Shape 71"/>
          <p:cNvSpPr/>
          <p:nvPr/>
        </p:nvSpPr>
        <p:spPr>
          <a:xfrm>
            <a:off x="3785616" y="5510293"/>
            <a:ext cx="54286"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7" name="Shape 75"/>
          <p:cNvSpPr/>
          <p:nvPr/>
        </p:nvSpPr>
        <p:spPr>
          <a:xfrm>
            <a:off x="3785616" y="5750188"/>
            <a:ext cx="21762"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1" name="Shape 79"/>
          <p:cNvSpPr/>
          <p:nvPr/>
        </p:nvSpPr>
        <p:spPr>
          <a:xfrm>
            <a:off x="9267349" y="1911860"/>
            <a:ext cx="68675" cy="110352"/>
          </a:xfrm>
          <a:prstGeom prst="rect">
            <a:avLst/>
          </a:prstGeom>
          <a:solidFill>
            <a:srgbClr val="C2352F"/>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85" name="Shape 83"/>
          <p:cNvSpPr/>
          <p:nvPr/>
        </p:nvSpPr>
        <p:spPr>
          <a:xfrm>
            <a:off x="9226847" y="2151755"/>
            <a:ext cx="109177" cy="110352"/>
          </a:xfrm>
          <a:prstGeom prst="rect">
            <a:avLst/>
          </a:prstGeom>
          <a:solidFill>
            <a:srgbClr val="C2352F"/>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89" name="Shape 87"/>
          <p:cNvSpPr/>
          <p:nvPr/>
        </p:nvSpPr>
        <p:spPr>
          <a:xfrm>
            <a:off x="9209036" y="2391651"/>
            <a:ext cx="126988"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3" name="Shape 91"/>
          <p:cNvSpPr/>
          <p:nvPr/>
        </p:nvSpPr>
        <p:spPr>
          <a:xfrm>
            <a:off x="9157295" y="2631546"/>
            <a:ext cx="178729"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−11.0%</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7" name="Shape 95"/>
          <p:cNvSpPr/>
          <p:nvPr/>
        </p:nvSpPr>
        <p:spPr>
          <a:xfrm>
            <a:off x="9151411" y="2871442"/>
            <a:ext cx="184613"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−11.4%</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1" name="Shape 99"/>
          <p:cNvSpPr/>
          <p:nvPr/>
        </p:nvSpPr>
        <p:spPr>
          <a:xfrm>
            <a:off x="9132099" y="3111337"/>
            <a:ext cx="203925"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−12.6%</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05" name="Shape 103"/>
          <p:cNvSpPr/>
          <p:nvPr/>
        </p:nvSpPr>
        <p:spPr>
          <a:xfrm>
            <a:off x="9091020" y="3351233"/>
            <a:ext cx="245004"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−15.1%</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09" name="Shape 107"/>
          <p:cNvSpPr/>
          <p:nvPr/>
        </p:nvSpPr>
        <p:spPr>
          <a:xfrm>
            <a:off x="9014543" y="3591128"/>
            <a:ext cx="32148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3" name="Shape 111"/>
          <p:cNvSpPr/>
          <p:nvPr/>
        </p:nvSpPr>
        <p:spPr>
          <a:xfrm>
            <a:off x="9006870" y="3831024"/>
            <a:ext cx="329154"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−20.3%</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17" name="Shape 115"/>
          <p:cNvSpPr/>
          <p:nvPr/>
        </p:nvSpPr>
        <p:spPr>
          <a:xfrm>
            <a:off x="8967454" y="4070920"/>
            <a:ext cx="368570"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−22.7%</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21" name="Shape 119"/>
          <p:cNvSpPr/>
          <p:nvPr/>
        </p:nvSpPr>
        <p:spPr>
          <a:xfrm>
            <a:off x="8892133" y="4310815"/>
            <a:ext cx="443891"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−27.3%</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5" name="Shape 123"/>
          <p:cNvSpPr/>
          <p:nvPr/>
        </p:nvSpPr>
        <p:spPr>
          <a:xfrm>
            <a:off x="8853570" y="4550711"/>
            <a:ext cx="482454"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−29.7%</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9" name="Shape 127"/>
          <p:cNvSpPr/>
          <p:nvPr/>
        </p:nvSpPr>
        <p:spPr>
          <a:xfrm>
            <a:off x="8762298" y="4790606"/>
            <a:ext cx="573726"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−35.3%</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33" name="Shape 131"/>
          <p:cNvSpPr/>
          <p:nvPr/>
        </p:nvSpPr>
        <p:spPr>
          <a:xfrm>
            <a:off x="8694064" y="5030502"/>
            <a:ext cx="641960"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−39.5%</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7" name="Shape 135"/>
          <p:cNvSpPr/>
          <p:nvPr/>
        </p:nvSpPr>
        <p:spPr>
          <a:xfrm>
            <a:off x="8626252" y="5270397"/>
            <a:ext cx="709772"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−43.7%</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41" name="Shape 139"/>
          <p:cNvSpPr/>
          <p:nvPr/>
        </p:nvSpPr>
        <p:spPr>
          <a:xfrm>
            <a:off x="8583100" y="5510293"/>
            <a:ext cx="752924"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−46.4%</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FBEBE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17 of 33 stores grew warranty RO count, led by Hyundai Prescott at +47.9% to 2,802. 16 declined; Acura fell most at −46.4%.</a:t>
            </a:r>
            <a:endParaRPr lang="en-US" sz="1600" dirty="0"/>
          </a:p>
        </p:txBody>
      </p:sp>
    </p:spTree>
  </p:cSld>
  <p:clrMapOvr>
    <a:masterClrMapping/>
  </p:clrMapOvr>
</p:sld>
</file>

<file path=ppt/slides/slide16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RO 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1,895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2,802</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+47.9%</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1,361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2,012</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+47.8%</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2,482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3,655</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+47.3%</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2,263</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+35.9%</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8,449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11,211</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+32.7%</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2,545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1,365</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−46.4%</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2,686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1,512</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−43.7%</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13,040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7,885</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−39.5%</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3,088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1,997</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−35.3%</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1,757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1,235</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−29.7%</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 per month</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157</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+98.3%</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409</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+83.0%</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214</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+71.0%</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345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560</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+62.2%</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283</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+56.5%</a:t>
            </a:r>
            <a:endParaRPr lang="en-US" sz="1600" dirty="0"/>
          </a:p>
        </p:txBody>
      </p:sp>
      <p:sp>
        <p:nvSpPr>
          <p:cNvPr id="69" name="Shape 67"/>
          <p:cNvSpPr/>
          <p:nvPr/>
        </p:nvSpPr>
        <p:spPr>
          <a:xfrm>
            <a:off x="457200" y="6126480"/>
            <a:ext cx="11274552" cy="615696"/>
          </a:xfrm>
          <a:prstGeom prst="rect">
            <a:avLst/>
          </a:prstGeom>
          <a:solidFill>
            <a:srgbClr val="EDF4FA"/>
          </a:solidFill>
          <a:ln/>
        </p:spPr>
      </p:sp>
      <p:sp>
        <p:nvSpPr>
          <p:cNvPr id="70"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Hyundai Prescott, Lexus and Hyundai St George what changed. Ask Acura, Mazda and Honda Henderson what got in the way. Ask LR Reno, LR LV and LR Henderson what they started this year.</a:t>
            </a:r>
            <a:endParaRPr lang="en-US" sz="1600" dirty="0"/>
          </a:p>
        </p:txBody>
      </p:sp>
    </p:spTree>
  </p:cSld>
  <p:clrMapOvr>
    <a:masterClrMapping/>
  </p:clrMapOvr>
</p:sld>
</file>

<file path=ppt/slides/slide16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Better Than Last Year</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80160"/>
            <a:ext cx="10762488" cy="2560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 and bottom three stores on each measure, Jan–Sep 2026 vs Jan–Sep 2025</a:t>
            </a:r>
            <a:endParaRPr lang="en-US" sz="1400" dirty="0"/>
          </a:p>
        </p:txBody>
      </p:sp>
      <p:sp>
        <p:nvSpPr>
          <p:cNvPr id="7" name="Shape 5"/>
          <p:cNvSpPr/>
          <p:nvPr/>
        </p:nvSpPr>
        <p:spPr>
          <a:xfrm>
            <a:off x="621792" y="2331720"/>
            <a:ext cx="45720" cy="1591056"/>
          </a:xfrm>
          <a:prstGeom prst="rect">
            <a:avLst/>
          </a:prstGeom>
          <a:solidFill>
            <a:srgbClr val="12A566"/>
          </a:solidFill>
          <a:ln/>
        </p:spPr>
      </p:sp>
      <p:sp>
        <p:nvSpPr>
          <p:cNvPr id="8" name="Shape 6"/>
          <p:cNvSpPr/>
          <p:nvPr/>
        </p:nvSpPr>
        <p:spPr>
          <a:xfrm>
            <a:off x="685800" y="2331720"/>
            <a:ext cx="10881360" cy="530352"/>
          </a:xfrm>
          <a:prstGeom prst="rect">
            <a:avLst/>
          </a:prstGeom>
          <a:solidFill>
            <a:srgbClr val="F7F7F7"/>
          </a:solidFill>
          <a:ln/>
        </p:spPr>
      </p:sp>
      <p:sp>
        <p:nvSpPr>
          <p:cNvPr id="9" name="Text 7"/>
          <p:cNvSpPr txBox="1"/>
          <p:nvPr/>
        </p:nvSpPr>
        <p:spPr>
          <a:xfrm>
            <a:off x="676656" y="2331720"/>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1</a:t>
            </a:r>
            <a:endParaRPr lang="en-US" sz="1600" dirty="0"/>
          </a:p>
        </p:txBody>
      </p:sp>
      <p:sp>
        <p:nvSpPr>
          <p:cNvPr id="10" name="Text 8"/>
          <p:cNvSpPr txBox="1"/>
          <p:nvPr/>
        </p:nvSpPr>
        <p:spPr>
          <a:xfrm>
            <a:off x="676656" y="2862072"/>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11" name="Shape 9"/>
          <p:cNvSpPr/>
          <p:nvPr/>
        </p:nvSpPr>
        <p:spPr>
          <a:xfrm>
            <a:off x="685800" y="3392424"/>
            <a:ext cx="10881360" cy="530352"/>
          </a:xfrm>
          <a:prstGeom prst="rect">
            <a:avLst/>
          </a:prstGeom>
          <a:solidFill>
            <a:srgbClr val="F7F7F7"/>
          </a:solidFill>
          <a:ln/>
        </p:spPr>
      </p:sp>
      <p:sp>
        <p:nvSpPr>
          <p:cNvPr id="12" name="Text 10"/>
          <p:cNvSpPr txBox="1"/>
          <p:nvPr/>
        </p:nvSpPr>
        <p:spPr>
          <a:xfrm>
            <a:off x="676656" y="3392424"/>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3</a:t>
            </a:r>
            <a:endParaRPr lang="en-US" sz="1600" dirty="0"/>
          </a:p>
        </p:txBody>
      </p:sp>
      <p:sp>
        <p:nvSpPr>
          <p:cNvPr id="13" name="Shape 11"/>
          <p:cNvSpPr/>
          <p:nvPr/>
        </p:nvSpPr>
        <p:spPr>
          <a:xfrm>
            <a:off x="621792" y="4078224"/>
            <a:ext cx="45720" cy="1591056"/>
          </a:xfrm>
          <a:prstGeom prst="rect">
            <a:avLst/>
          </a:prstGeom>
          <a:solidFill>
            <a:srgbClr val="C2352F"/>
          </a:solidFill>
          <a:ln/>
        </p:spPr>
      </p:sp>
      <p:sp>
        <p:nvSpPr>
          <p:cNvPr id="14" name="Shape 12"/>
          <p:cNvSpPr/>
          <p:nvPr/>
        </p:nvSpPr>
        <p:spPr>
          <a:xfrm>
            <a:off x="685800" y="4078224"/>
            <a:ext cx="10881360" cy="530352"/>
          </a:xfrm>
          <a:prstGeom prst="rect">
            <a:avLst/>
          </a:prstGeom>
          <a:solidFill>
            <a:srgbClr val="F7F7F7"/>
          </a:solidFill>
          <a:ln/>
        </p:spPr>
      </p:sp>
      <p:sp>
        <p:nvSpPr>
          <p:cNvPr id="15" name="Text 13"/>
          <p:cNvSpPr txBox="1"/>
          <p:nvPr/>
        </p:nvSpPr>
        <p:spPr>
          <a:xfrm>
            <a:off x="676656" y="4078224"/>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31</a:t>
            </a:r>
            <a:endParaRPr lang="en-US" sz="1600" dirty="0"/>
          </a:p>
        </p:txBody>
      </p:sp>
      <p:sp>
        <p:nvSpPr>
          <p:cNvPr id="16" name="Text 14"/>
          <p:cNvSpPr txBox="1"/>
          <p:nvPr/>
        </p:nvSpPr>
        <p:spPr>
          <a:xfrm>
            <a:off x="676656" y="4608576"/>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32</a:t>
            </a:r>
            <a:endParaRPr lang="en-US" sz="1600" dirty="0"/>
          </a:p>
        </p:txBody>
      </p:sp>
      <p:sp>
        <p:nvSpPr>
          <p:cNvPr id="17" name="Shape 15"/>
          <p:cNvSpPr/>
          <p:nvPr/>
        </p:nvSpPr>
        <p:spPr>
          <a:xfrm>
            <a:off x="685800" y="5138928"/>
            <a:ext cx="10881360" cy="530352"/>
          </a:xfrm>
          <a:prstGeom prst="rect">
            <a:avLst/>
          </a:prstGeom>
          <a:solidFill>
            <a:srgbClr val="F7F7F7"/>
          </a:solidFill>
          <a:ln/>
        </p:spPr>
      </p:sp>
      <p:sp>
        <p:nvSpPr>
          <p:cNvPr id="18" name="Text 16"/>
          <p:cNvSpPr txBox="1"/>
          <p:nvPr/>
        </p:nvSpPr>
        <p:spPr>
          <a:xfrm>
            <a:off x="676656" y="5138928"/>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33</a:t>
            </a:r>
            <a:endParaRPr lang="en-US" sz="1600" dirty="0"/>
          </a:p>
        </p:txBody>
      </p:sp>
      <p:sp>
        <p:nvSpPr>
          <p:cNvPr id="19" name="Shape 17"/>
          <p:cNvSpPr/>
          <p:nvPr/>
        </p:nvSpPr>
        <p:spPr>
          <a:xfrm>
            <a:off x="969264" y="1691640"/>
            <a:ext cx="2026310" cy="45720"/>
          </a:xfrm>
          <a:prstGeom prst="rect">
            <a:avLst/>
          </a:prstGeom>
          <a:solidFill>
            <a:srgbClr val="12A566"/>
          </a:solidFill>
          <a:ln/>
        </p:spPr>
      </p:sp>
      <p:sp>
        <p:nvSpPr>
          <p:cNvPr id="20" name="Text 18"/>
          <p:cNvSpPr txBox="1"/>
          <p:nvPr/>
        </p:nvSpPr>
        <p:spPr>
          <a:xfrm>
            <a:off x="987552"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GROSS</a:t>
            </a:r>
            <a:endParaRPr lang="en-US" sz="1300" dirty="0"/>
          </a:p>
        </p:txBody>
      </p:sp>
      <p:sp>
        <p:nvSpPr>
          <p:cNvPr id="21" name="Text 19"/>
          <p:cNvSpPr txBox="1"/>
          <p:nvPr/>
        </p:nvSpPr>
        <p:spPr>
          <a:xfrm>
            <a:off x="987552"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+6.4%</a:t>
            </a:r>
            <a:endParaRPr lang="en-US" sz="1300" dirty="0"/>
          </a:p>
        </p:txBody>
      </p:sp>
      <p:sp>
        <p:nvSpPr>
          <p:cNvPr id="22" name="Text 20"/>
          <p:cNvSpPr txBox="1"/>
          <p:nvPr/>
        </p:nvSpPr>
        <p:spPr>
          <a:xfrm>
            <a:off x="987552"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Lincoln</a:t>
            </a:r>
            <a:endParaRPr lang="en-US" sz="1300" dirty="0"/>
          </a:p>
        </p:txBody>
      </p:sp>
      <p:sp>
        <p:nvSpPr>
          <p:cNvPr id="23" name="Text 21"/>
          <p:cNvSpPr txBox="1"/>
          <p:nvPr/>
        </p:nvSpPr>
        <p:spPr>
          <a:xfrm>
            <a:off x="987552"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+46.0%</a:t>
            </a:r>
            <a:endParaRPr lang="en-US" sz="1600" dirty="0"/>
          </a:p>
        </p:txBody>
      </p:sp>
      <p:sp>
        <p:nvSpPr>
          <p:cNvPr id="24" name="Text 22"/>
          <p:cNvSpPr txBox="1"/>
          <p:nvPr/>
        </p:nvSpPr>
        <p:spPr>
          <a:xfrm>
            <a:off x="987552"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Prescott</a:t>
            </a:r>
            <a:endParaRPr lang="en-US" sz="1300" dirty="0"/>
          </a:p>
        </p:txBody>
      </p:sp>
      <p:sp>
        <p:nvSpPr>
          <p:cNvPr id="25" name="Text 23"/>
          <p:cNvSpPr txBox="1"/>
          <p:nvPr/>
        </p:nvSpPr>
        <p:spPr>
          <a:xfrm>
            <a:off x="987552"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+45.3%</a:t>
            </a:r>
            <a:endParaRPr lang="en-US" sz="1600" dirty="0"/>
          </a:p>
        </p:txBody>
      </p:sp>
      <p:sp>
        <p:nvSpPr>
          <p:cNvPr id="26" name="Text 24"/>
          <p:cNvSpPr txBox="1"/>
          <p:nvPr/>
        </p:nvSpPr>
        <p:spPr>
          <a:xfrm>
            <a:off x="987552"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27" name="Text 25"/>
          <p:cNvSpPr txBox="1"/>
          <p:nvPr/>
        </p:nvSpPr>
        <p:spPr>
          <a:xfrm>
            <a:off x="987552"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+33.8%</a:t>
            </a:r>
            <a:endParaRPr lang="en-US" sz="1600" dirty="0"/>
          </a:p>
        </p:txBody>
      </p:sp>
      <p:sp>
        <p:nvSpPr>
          <p:cNvPr id="28" name="Text 26"/>
          <p:cNvSpPr txBox="1"/>
          <p:nvPr/>
        </p:nvSpPr>
        <p:spPr>
          <a:xfrm>
            <a:off x="987552"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Chevy LV</a:t>
            </a:r>
            <a:endParaRPr lang="en-US" sz="1300" dirty="0"/>
          </a:p>
        </p:txBody>
      </p:sp>
      <p:sp>
        <p:nvSpPr>
          <p:cNvPr id="29" name="Text 27"/>
          <p:cNvSpPr txBox="1"/>
          <p:nvPr/>
        </p:nvSpPr>
        <p:spPr>
          <a:xfrm>
            <a:off x="987552"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−4.4%</a:t>
            </a:r>
            <a:endParaRPr lang="en-US" sz="1600" dirty="0"/>
          </a:p>
        </p:txBody>
      </p:sp>
      <p:sp>
        <p:nvSpPr>
          <p:cNvPr id="30" name="Text 28"/>
          <p:cNvSpPr txBox="1"/>
          <p:nvPr/>
        </p:nvSpPr>
        <p:spPr>
          <a:xfrm>
            <a:off x="987552"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Audi Reno</a:t>
            </a:r>
            <a:endParaRPr lang="en-US" sz="1300" dirty="0"/>
          </a:p>
        </p:txBody>
      </p:sp>
      <p:sp>
        <p:nvSpPr>
          <p:cNvPr id="31" name="Text 29"/>
          <p:cNvSpPr txBox="1"/>
          <p:nvPr/>
        </p:nvSpPr>
        <p:spPr>
          <a:xfrm>
            <a:off x="987552"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−14.1%</a:t>
            </a:r>
            <a:endParaRPr lang="en-US" sz="1600" dirty="0"/>
          </a:p>
        </p:txBody>
      </p:sp>
      <p:sp>
        <p:nvSpPr>
          <p:cNvPr id="32" name="Text 30"/>
          <p:cNvSpPr txBox="1"/>
          <p:nvPr/>
        </p:nvSpPr>
        <p:spPr>
          <a:xfrm>
            <a:off x="987552"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33" name="Text 31"/>
          <p:cNvSpPr txBox="1"/>
          <p:nvPr/>
        </p:nvSpPr>
        <p:spPr>
          <a:xfrm>
            <a:off x="987552"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−20.1%</a:t>
            </a:r>
            <a:endParaRPr lang="en-US" sz="1600" dirty="0"/>
          </a:p>
        </p:txBody>
      </p:sp>
      <p:sp>
        <p:nvSpPr>
          <p:cNvPr id="34" name="Shape 32"/>
          <p:cNvSpPr/>
          <p:nvPr/>
        </p:nvSpPr>
        <p:spPr>
          <a:xfrm>
            <a:off x="3105302" y="1691640"/>
            <a:ext cx="2026310" cy="45720"/>
          </a:xfrm>
          <a:prstGeom prst="rect">
            <a:avLst/>
          </a:prstGeom>
          <a:solidFill>
            <a:srgbClr val="12A566"/>
          </a:solidFill>
          <a:ln/>
        </p:spPr>
      </p:sp>
      <p:sp>
        <p:nvSpPr>
          <p:cNvPr id="35" name="Text 33"/>
          <p:cNvSpPr txBox="1"/>
          <p:nvPr/>
        </p:nvSpPr>
        <p:spPr>
          <a:xfrm>
            <a:off x="3123590"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RO COUNT</a:t>
            </a:r>
            <a:endParaRPr lang="en-US" sz="1300" dirty="0"/>
          </a:p>
        </p:txBody>
      </p:sp>
      <p:sp>
        <p:nvSpPr>
          <p:cNvPr id="36" name="Text 34"/>
          <p:cNvSpPr txBox="1"/>
          <p:nvPr/>
        </p:nvSpPr>
        <p:spPr>
          <a:xfrm>
            <a:off x="3123590"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+0.1%</a:t>
            </a:r>
            <a:endParaRPr lang="en-US" sz="1300" dirty="0"/>
          </a:p>
        </p:txBody>
      </p:sp>
      <p:sp>
        <p:nvSpPr>
          <p:cNvPr id="37" name="Text 35"/>
          <p:cNvSpPr txBox="1"/>
          <p:nvPr/>
        </p:nvSpPr>
        <p:spPr>
          <a:xfrm>
            <a:off x="3123590"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LV</a:t>
            </a:r>
            <a:endParaRPr lang="en-US" sz="1300" dirty="0"/>
          </a:p>
        </p:txBody>
      </p:sp>
      <p:sp>
        <p:nvSpPr>
          <p:cNvPr id="38" name="Text 36"/>
          <p:cNvSpPr txBox="1"/>
          <p:nvPr/>
        </p:nvSpPr>
        <p:spPr>
          <a:xfrm>
            <a:off x="3123590"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+13.6%</a:t>
            </a:r>
            <a:endParaRPr lang="en-US" sz="1600" dirty="0"/>
          </a:p>
        </p:txBody>
      </p:sp>
      <p:sp>
        <p:nvSpPr>
          <p:cNvPr id="39" name="Text 37"/>
          <p:cNvSpPr txBox="1"/>
          <p:nvPr/>
        </p:nvSpPr>
        <p:spPr>
          <a:xfrm>
            <a:off x="3123590"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Prescott</a:t>
            </a:r>
            <a:endParaRPr lang="en-US" sz="1300" dirty="0"/>
          </a:p>
        </p:txBody>
      </p:sp>
      <p:sp>
        <p:nvSpPr>
          <p:cNvPr id="40" name="Text 38"/>
          <p:cNvSpPr txBox="1"/>
          <p:nvPr/>
        </p:nvSpPr>
        <p:spPr>
          <a:xfrm>
            <a:off x="3123590"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+12.6%</a:t>
            </a:r>
            <a:endParaRPr lang="en-US" sz="1600" dirty="0"/>
          </a:p>
        </p:txBody>
      </p:sp>
      <p:sp>
        <p:nvSpPr>
          <p:cNvPr id="41" name="Text 39"/>
          <p:cNvSpPr txBox="1"/>
          <p:nvPr/>
        </p:nvSpPr>
        <p:spPr>
          <a:xfrm>
            <a:off x="3123590"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GMC Prescott</a:t>
            </a:r>
            <a:endParaRPr lang="en-US" sz="1300" dirty="0"/>
          </a:p>
        </p:txBody>
      </p:sp>
      <p:sp>
        <p:nvSpPr>
          <p:cNvPr id="42" name="Text 40"/>
          <p:cNvSpPr txBox="1"/>
          <p:nvPr/>
        </p:nvSpPr>
        <p:spPr>
          <a:xfrm>
            <a:off x="3123590"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+10.5%</a:t>
            </a:r>
            <a:endParaRPr lang="en-US" sz="1600" dirty="0"/>
          </a:p>
        </p:txBody>
      </p:sp>
      <p:sp>
        <p:nvSpPr>
          <p:cNvPr id="43" name="Text 41"/>
          <p:cNvSpPr txBox="1"/>
          <p:nvPr/>
        </p:nvSpPr>
        <p:spPr>
          <a:xfrm>
            <a:off x="3123590"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Audi Reno</a:t>
            </a:r>
            <a:endParaRPr lang="en-US" sz="1300" dirty="0"/>
          </a:p>
        </p:txBody>
      </p:sp>
      <p:sp>
        <p:nvSpPr>
          <p:cNvPr id="44" name="Text 42"/>
          <p:cNvSpPr txBox="1"/>
          <p:nvPr/>
        </p:nvSpPr>
        <p:spPr>
          <a:xfrm>
            <a:off x="3123590"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−10.5%</a:t>
            </a:r>
            <a:endParaRPr lang="en-US" sz="1600" dirty="0"/>
          </a:p>
        </p:txBody>
      </p:sp>
      <p:sp>
        <p:nvSpPr>
          <p:cNvPr id="45" name="Text 43"/>
          <p:cNvSpPr txBox="1"/>
          <p:nvPr/>
        </p:nvSpPr>
        <p:spPr>
          <a:xfrm>
            <a:off x="3123590"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46" name="Text 44"/>
          <p:cNvSpPr txBox="1"/>
          <p:nvPr/>
        </p:nvSpPr>
        <p:spPr>
          <a:xfrm>
            <a:off x="3123590"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−11.4%</a:t>
            </a:r>
            <a:endParaRPr lang="en-US" sz="1600" dirty="0"/>
          </a:p>
        </p:txBody>
      </p:sp>
      <p:sp>
        <p:nvSpPr>
          <p:cNvPr id="47" name="Text 45"/>
          <p:cNvSpPr txBox="1"/>
          <p:nvPr/>
        </p:nvSpPr>
        <p:spPr>
          <a:xfrm>
            <a:off x="3123590"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48" name="Text 46"/>
          <p:cNvSpPr txBox="1"/>
          <p:nvPr/>
        </p:nvSpPr>
        <p:spPr>
          <a:xfrm>
            <a:off x="3123590"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−14.7%</a:t>
            </a:r>
            <a:endParaRPr lang="en-US" sz="1600" dirty="0"/>
          </a:p>
        </p:txBody>
      </p:sp>
      <p:sp>
        <p:nvSpPr>
          <p:cNvPr id="49" name="Shape 47"/>
          <p:cNvSpPr/>
          <p:nvPr/>
        </p:nvSpPr>
        <p:spPr>
          <a:xfrm>
            <a:off x="5241341" y="1691640"/>
            <a:ext cx="2026310" cy="45720"/>
          </a:xfrm>
          <a:prstGeom prst="rect">
            <a:avLst/>
          </a:prstGeom>
          <a:solidFill>
            <a:srgbClr val="12A566"/>
          </a:solidFill>
          <a:ln/>
        </p:spPr>
      </p:sp>
      <p:sp>
        <p:nvSpPr>
          <p:cNvPr id="50" name="Text 48"/>
          <p:cNvSpPr txBox="1"/>
          <p:nvPr/>
        </p:nvSpPr>
        <p:spPr>
          <a:xfrm>
            <a:off x="5259629"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HOURS PER RO</a:t>
            </a:r>
            <a:endParaRPr lang="en-US" sz="1300" dirty="0"/>
          </a:p>
        </p:txBody>
      </p:sp>
      <p:sp>
        <p:nvSpPr>
          <p:cNvPr id="51" name="Text 49"/>
          <p:cNvSpPr txBox="1"/>
          <p:nvPr/>
        </p:nvSpPr>
        <p:spPr>
          <a:xfrm>
            <a:off x="5259629"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+3.6%</a:t>
            </a:r>
            <a:endParaRPr lang="en-US" sz="1300" dirty="0"/>
          </a:p>
        </p:txBody>
      </p:sp>
      <p:sp>
        <p:nvSpPr>
          <p:cNvPr id="52" name="Text 50"/>
          <p:cNvSpPr txBox="1"/>
          <p:nvPr/>
        </p:nvSpPr>
        <p:spPr>
          <a:xfrm>
            <a:off x="5259629"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3" name="Text 51"/>
          <p:cNvSpPr txBox="1"/>
          <p:nvPr/>
        </p:nvSpPr>
        <p:spPr>
          <a:xfrm>
            <a:off x="5259629"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+39.1%</a:t>
            </a:r>
            <a:endParaRPr lang="en-US" sz="1600" dirty="0"/>
          </a:p>
        </p:txBody>
      </p:sp>
      <p:sp>
        <p:nvSpPr>
          <p:cNvPr id="54" name="Text 52"/>
          <p:cNvSpPr txBox="1"/>
          <p:nvPr/>
        </p:nvSpPr>
        <p:spPr>
          <a:xfrm>
            <a:off x="5259629"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55" name="Text 53"/>
          <p:cNvSpPr txBox="1"/>
          <p:nvPr/>
        </p:nvSpPr>
        <p:spPr>
          <a:xfrm>
            <a:off x="5259629"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56" name="Text 54"/>
          <p:cNvSpPr txBox="1"/>
          <p:nvPr/>
        </p:nvSpPr>
        <p:spPr>
          <a:xfrm>
            <a:off x="5259629"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St George</a:t>
            </a:r>
            <a:endParaRPr lang="en-US" sz="1300" dirty="0"/>
          </a:p>
        </p:txBody>
      </p:sp>
      <p:sp>
        <p:nvSpPr>
          <p:cNvPr id="57" name="Text 55"/>
          <p:cNvSpPr txBox="1"/>
          <p:nvPr/>
        </p:nvSpPr>
        <p:spPr>
          <a:xfrm>
            <a:off x="5259629"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+30.7%</a:t>
            </a:r>
            <a:endParaRPr lang="en-US" sz="1600" dirty="0"/>
          </a:p>
        </p:txBody>
      </p:sp>
      <p:sp>
        <p:nvSpPr>
          <p:cNvPr id="58" name="Text 56"/>
          <p:cNvSpPr txBox="1"/>
          <p:nvPr/>
        </p:nvSpPr>
        <p:spPr>
          <a:xfrm>
            <a:off x="5259629"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Volvo</a:t>
            </a:r>
            <a:endParaRPr lang="en-US" sz="1300" dirty="0"/>
          </a:p>
        </p:txBody>
      </p:sp>
      <p:sp>
        <p:nvSpPr>
          <p:cNvPr id="59" name="Text 57"/>
          <p:cNvSpPr txBox="1"/>
          <p:nvPr/>
        </p:nvSpPr>
        <p:spPr>
          <a:xfrm>
            <a:off x="5259629"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−11.7%</a:t>
            </a:r>
            <a:endParaRPr lang="en-US" sz="1600" dirty="0"/>
          </a:p>
        </p:txBody>
      </p:sp>
      <p:sp>
        <p:nvSpPr>
          <p:cNvPr id="60" name="Text 58"/>
          <p:cNvSpPr txBox="1"/>
          <p:nvPr/>
        </p:nvSpPr>
        <p:spPr>
          <a:xfrm>
            <a:off x="5259629"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61" name="Text 59"/>
          <p:cNvSpPr txBox="1"/>
          <p:nvPr/>
        </p:nvSpPr>
        <p:spPr>
          <a:xfrm>
            <a:off x="5259629"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−12.5%</a:t>
            </a:r>
            <a:endParaRPr lang="en-US" sz="1600" dirty="0"/>
          </a:p>
        </p:txBody>
      </p:sp>
      <p:sp>
        <p:nvSpPr>
          <p:cNvPr id="62" name="Text 60"/>
          <p:cNvSpPr txBox="1"/>
          <p:nvPr/>
        </p:nvSpPr>
        <p:spPr>
          <a:xfrm>
            <a:off x="5259629"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LR Reno</a:t>
            </a:r>
            <a:endParaRPr lang="en-US" sz="1300" dirty="0"/>
          </a:p>
        </p:txBody>
      </p:sp>
      <p:sp>
        <p:nvSpPr>
          <p:cNvPr id="63" name="Text 61"/>
          <p:cNvSpPr txBox="1"/>
          <p:nvPr/>
        </p:nvSpPr>
        <p:spPr>
          <a:xfrm>
            <a:off x="5259629"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−13.7%</a:t>
            </a:r>
            <a:endParaRPr lang="en-US" sz="1600" dirty="0"/>
          </a:p>
        </p:txBody>
      </p:sp>
      <p:sp>
        <p:nvSpPr>
          <p:cNvPr id="64" name="Shape 62"/>
          <p:cNvSpPr/>
          <p:nvPr/>
        </p:nvSpPr>
        <p:spPr>
          <a:xfrm>
            <a:off x="7377379" y="1691640"/>
            <a:ext cx="2026310" cy="45720"/>
          </a:xfrm>
          <a:prstGeom prst="rect">
            <a:avLst/>
          </a:prstGeom>
          <a:solidFill>
            <a:srgbClr val="12A566"/>
          </a:solidFill>
          <a:ln/>
        </p:spPr>
      </p:sp>
      <p:sp>
        <p:nvSpPr>
          <p:cNvPr id="65" name="Text 63"/>
          <p:cNvSpPr txBox="1"/>
          <p:nvPr/>
        </p:nvSpPr>
        <p:spPr>
          <a:xfrm>
            <a:off x="7395667"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ELR</a:t>
            </a:r>
            <a:endParaRPr lang="en-US" sz="1300" dirty="0"/>
          </a:p>
        </p:txBody>
      </p:sp>
      <p:sp>
        <p:nvSpPr>
          <p:cNvPr id="66" name="Text 64"/>
          <p:cNvSpPr txBox="1"/>
          <p:nvPr/>
        </p:nvSpPr>
        <p:spPr>
          <a:xfrm>
            <a:off x="7395667"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+2.2%</a:t>
            </a:r>
            <a:endParaRPr lang="en-US" sz="1300" dirty="0"/>
          </a:p>
        </p:txBody>
      </p:sp>
      <p:sp>
        <p:nvSpPr>
          <p:cNvPr id="67" name="Text 65"/>
          <p:cNvSpPr txBox="1"/>
          <p:nvPr/>
        </p:nvSpPr>
        <p:spPr>
          <a:xfrm>
            <a:off x="7395667"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Spokane</a:t>
            </a:r>
            <a:endParaRPr lang="en-US" sz="1300" dirty="0"/>
          </a:p>
        </p:txBody>
      </p:sp>
      <p:sp>
        <p:nvSpPr>
          <p:cNvPr id="68" name="Text 66"/>
          <p:cNvSpPr txBox="1"/>
          <p:nvPr/>
        </p:nvSpPr>
        <p:spPr>
          <a:xfrm>
            <a:off x="7395667"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+22.9%</a:t>
            </a:r>
            <a:endParaRPr lang="en-US" sz="1600" dirty="0"/>
          </a:p>
        </p:txBody>
      </p:sp>
      <p:sp>
        <p:nvSpPr>
          <p:cNvPr id="69" name="Text 67"/>
          <p:cNvSpPr txBox="1"/>
          <p:nvPr/>
        </p:nvSpPr>
        <p:spPr>
          <a:xfrm>
            <a:off x="7395667"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Volvo</a:t>
            </a:r>
            <a:endParaRPr lang="en-US" sz="1300" dirty="0"/>
          </a:p>
        </p:txBody>
      </p:sp>
      <p:sp>
        <p:nvSpPr>
          <p:cNvPr id="70" name="Text 68"/>
          <p:cNvSpPr txBox="1"/>
          <p:nvPr/>
        </p:nvSpPr>
        <p:spPr>
          <a:xfrm>
            <a:off x="7395667"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+22.3%</a:t>
            </a:r>
            <a:endParaRPr lang="en-US" sz="1600" dirty="0"/>
          </a:p>
        </p:txBody>
      </p:sp>
      <p:sp>
        <p:nvSpPr>
          <p:cNvPr id="71" name="Text 69"/>
          <p:cNvSpPr txBox="1"/>
          <p:nvPr/>
        </p:nvSpPr>
        <p:spPr>
          <a:xfrm>
            <a:off x="7395667"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Lincoln</a:t>
            </a:r>
            <a:endParaRPr lang="en-US" sz="1300" dirty="0"/>
          </a:p>
        </p:txBody>
      </p:sp>
      <p:sp>
        <p:nvSpPr>
          <p:cNvPr id="72" name="Text 70"/>
          <p:cNvSpPr txBox="1"/>
          <p:nvPr/>
        </p:nvSpPr>
        <p:spPr>
          <a:xfrm>
            <a:off x="7395667"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+20.1%</a:t>
            </a:r>
            <a:endParaRPr lang="en-US" sz="1600" dirty="0"/>
          </a:p>
        </p:txBody>
      </p:sp>
      <p:sp>
        <p:nvSpPr>
          <p:cNvPr id="73" name="Text 71"/>
          <p:cNvSpPr txBox="1"/>
          <p:nvPr/>
        </p:nvSpPr>
        <p:spPr>
          <a:xfrm>
            <a:off x="7395667"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74" name="Text 72"/>
          <p:cNvSpPr txBox="1"/>
          <p:nvPr/>
        </p:nvSpPr>
        <p:spPr>
          <a:xfrm>
            <a:off x="7395667"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−5.0%</a:t>
            </a:r>
            <a:endParaRPr lang="en-US" sz="1600" dirty="0"/>
          </a:p>
        </p:txBody>
      </p:sp>
      <p:sp>
        <p:nvSpPr>
          <p:cNvPr id="75" name="Text 73"/>
          <p:cNvSpPr txBox="1"/>
          <p:nvPr/>
        </p:nvSpPr>
        <p:spPr>
          <a:xfrm>
            <a:off x="7395667"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76" name="Text 74"/>
          <p:cNvSpPr txBox="1"/>
          <p:nvPr/>
        </p:nvSpPr>
        <p:spPr>
          <a:xfrm>
            <a:off x="7395667"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−6.9%</a:t>
            </a:r>
            <a:endParaRPr lang="en-US" sz="1600" dirty="0"/>
          </a:p>
        </p:txBody>
      </p:sp>
      <p:sp>
        <p:nvSpPr>
          <p:cNvPr id="77" name="Text 75"/>
          <p:cNvSpPr txBox="1"/>
          <p:nvPr/>
        </p:nvSpPr>
        <p:spPr>
          <a:xfrm>
            <a:off x="7395667"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LV</a:t>
            </a:r>
            <a:endParaRPr lang="en-US" sz="1300" dirty="0"/>
          </a:p>
        </p:txBody>
      </p:sp>
      <p:sp>
        <p:nvSpPr>
          <p:cNvPr id="78" name="Text 76"/>
          <p:cNvSpPr txBox="1"/>
          <p:nvPr/>
        </p:nvSpPr>
        <p:spPr>
          <a:xfrm>
            <a:off x="7395667"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−19.0%</a:t>
            </a:r>
            <a:endParaRPr lang="en-US" sz="1600" dirty="0"/>
          </a:p>
        </p:txBody>
      </p:sp>
      <p:sp>
        <p:nvSpPr>
          <p:cNvPr id="79" name="Shape 77"/>
          <p:cNvSpPr/>
          <p:nvPr/>
        </p:nvSpPr>
        <p:spPr>
          <a:xfrm>
            <a:off x="9513418" y="1691640"/>
            <a:ext cx="2026310" cy="45720"/>
          </a:xfrm>
          <a:prstGeom prst="rect">
            <a:avLst/>
          </a:prstGeom>
          <a:solidFill>
            <a:srgbClr val="12A566"/>
          </a:solidFill>
          <a:ln/>
        </p:spPr>
      </p:sp>
      <p:sp>
        <p:nvSpPr>
          <p:cNvPr id="80" name="Text 78"/>
          <p:cNvSpPr txBox="1"/>
          <p:nvPr/>
        </p:nvSpPr>
        <p:spPr>
          <a:xfrm>
            <a:off x="9531706"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PARTS GP %</a:t>
            </a:r>
            <a:endParaRPr lang="en-US" sz="1300" dirty="0"/>
          </a:p>
        </p:txBody>
      </p:sp>
      <p:sp>
        <p:nvSpPr>
          <p:cNvPr id="81" name="Text 79"/>
          <p:cNvSpPr txBox="1"/>
          <p:nvPr/>
        </p:nvSpPr>
        <p:spPr>
          <a:xfrm>
            <a:off x="9531706"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+1.2 pts</a:t>
            </a:r>
            <a:endParaRPr lang="en-US" sz="1300" dirty="0"/>
          </a:p>
        </p:txBody>
      </p:sp>
      <p:sp>
        <p:nvSpPr>
          <p:cNvPr id="82" name="Text 80"/>
          <p:cNvSpPr txBox="1"/>
          <p:nvPr/>
        </p:nvSpPr>
        <p:spPr>
          <a:xfrm>
            <a:off x="9531706"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83" name="Text 81"/>
          <p:cNvSpPr txBox="1"/>
          <p:nvPr/>
        </p:nvSpPr>
        <p:spPr>
          <a:xfrm>
            <a:off x="9531706"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+6.1 pts</a:t>
            </a:r>
            <a:endParaRPr lang="en-US" sz="1600" dirty="0"/>
          </a:p>
        </p:txBody>
      </p:sp>
      <p:sp>
        <p:nvSpPr>
          <p:cNvPr id="84" name="Text 82"/>
          <p:cNvSpPr txBox="1"/>
          <p:nvPr/>
        </p:nvSpPr>
        <p:spPr>
          <a:xfrm>
            <a:off x="9531706"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Nissan</a:t>
            </a:r>
            <a:endParaRPr lang="en-US" sz="1300" dirty="0"/>
          </a:p>
        </p:txBody>
      </p:sp>
      <p:sp>
        <p:nvSpPr>
          <p:cNvPr id="85" name="Text 83"/>
          <p:cNvSpPr txBox="1"/>
          <p:nvPr/>
        </p:nvSpPr>
        <p:spPr>
          <a:xfrm>
            <a:off x="9531706"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+4.5 pts</a:t>
            </a:r>
            <a:endParaRPr lang="en-US" sz="1600" dirty="0"/>
          </a:p>
        </p:txBody>
      </p:sp>
      <p:sp>
        <p:nvSpPr>
          <p:cNvPr id="86" name="Text 84"/>
          <p:cNvSpPr txBox="1"/>
          <p:nvPr/>
        </p:nvSpPr>
        <p:spPr>
          <a:xfrm>
            <a:off x="9531706"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Prescott</a:t>
            </a:r>
            <a:endParaRPr lang="en-US" sz="1300" dirty="0"/>
          </a:p>
        </p:txBody>
      </p:sp>
      <p:sp>
        <p:nvSpPr>
          <p:cNvPr id="87" name="Text 85"/>
          <p:cNvSpPr txBox="1"/>
          <p:nvPr/>
        </p:nvSpPr>
        <p:spPr>
          <a:xfrm>
            <a:off x="9531706"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+3.8 pts</a:t>
            </a:r>
            <a:endParaRPr lang="en-US" sz="1600" dirty="0"/>
          </a:p>
        </p:txBody>
      </p:sp>
      <p:sp>
        <p:nvSpPr>
          <p:cNvPr id="88" name="Text 86"/>
          <p:cNvSpPr txBox="1"/>
          <p:nvPr/>
        </p:nvSpPr>
        <p:spPr>
          <a:xfrm>
            <a:off x="9531706"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Prescott</a:t>
            </a:r>
            <a:endParaRPr lang="en-US" sz="1300" dirty="0"/>
          </a:p>
        </p:txBody>
      </p:sp>
      <p:sp>
        <p:nvSpPr>
          <p:cNvPr id="89" name="Text 87"/>
          <p:cNvSpPr txBox="1"/>
          <p:nvPr/>
        </p:nvSpPr>
        <p:spPr>
          <a:xfrm>
            <a:off x="9531706"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90" name="Text 88"/>
          <p:cNvSpPr txBox="1"/>
          <p:nvPr/>
        </p:nvSpPr>
        <p:spPr>
          <a:xfrm>
            <a:off x="9531706"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Toyota Spokane</a:t>
            </a:r>
            <a:endParaRPr lang="en-US" sz="1300" dirty="0"/>
          </a:p>
        </p:txBody>
      </p:sp>
      <p:sp>
        <p:nvSpPr>
          <p:cNvPr id="91" name="Text 89"/>
          <p:cNvSpPr txBox="1"/>
          <p:nvPr/>
        </p:nvSpPr>
        <p:spPr>
          <a:xfrm>
            <a:off x="9531706"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−0.8 pts</a:t>
            </a:r>
            <a:endParaRPr lang="en-US" sz="1600" dirty="0"/>
          </a:p>
        </p:txBody>
      </p:sp>
      <p:sp>
        <p:nvSpPr>
          <p:cNvPr id="92" name="Text 90"/>
          <p:cNvSpPr txBox="1"/>
          <p:nvPr/>
        </p:nvSpPr>
        <p:spPr>
          <a:xfrm>
            <a:off x="9531706"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Audi Henderson</a:t>
            </a:r>
            <a:endParaRPr lang="en-US" sz="1300" dirty="0"/>
          </a:p>
        </p:txBody>
      </p:sp>
      <p:sp>
        <p:nvSpPr>
          <p:cNvPr id="93" name="Text 91"/>
          <p:cNvSpPr txBox="1"/>
          <p:nvPr/>
        </p:nvSpPr>
        <p:spPr>
          <a:xfrm>
            <a:off x="9531706"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−2.1 pts</a:t>
            </a:r>
            <a:endParaRPr lang="en-US" sz="1600" dirty="0"/>
          </a:p>
        </p:txBody>
      </p:sp>
      <p:sp>
        <p:nvSpPr>
          <p:cNvPr id="95" name="Shape 92"/>
          <p:cNvSpPr/>
          <p:nvPr/>
        </p:nvSpPr>
        <p:spPr>
          <a:xfrm>
            <a:off x="457200" y="6126480"/>
            <a:ext cx="11274552" cy="615696"/>
          </a:xfrm>
          <a:prstGeom prst="rect">
            <a:avLst/>
          </a:prstGeom>
          <a:solidFill>
            <a:srgbClr val="EDF4FA"/>
          </a:solidFill>
          <a:ln/>
        </p:spPr>
      </p:sp>
      <p:sp>
        <p:nvSpPr>
          <p:cNvPr id="96" name="Text 93"/>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Most top-three finishes: Lincoln, Subaru Prescott and Subaru St George (2 of 5). Most bottom-three: VW St George (3 of 5).</a:t>
            </a:r>
            <a:endParaRPr lang="en-US" sz="1600" dirty="0"/>
          </a:p>
        </p:txBody>
      </p:sp>
    </p:spTree>
  </p:cSld>
  <p:clrMapOvr>
    <a:masterClrMapping/>
  </p:clrMapOvr>
</p:sld>
</file>

<file path=ppt/slides/slide16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80160"/>
            <a:ext cx="10762488" cy="2560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 and bottom three stores on each measure, Q3 2026 vs Q1 2026 (gross and ROs per month). Group change = the season.</a:t>
            </a:r>
            <a:endParaRPr lang="en-US" sz="1400" dirty="0"/>
          </a:p>
        </p:txBody>
      </p:sp>
      <p:sp>
        <p:nvSpPr>
          <p:cNvPr id="7" name="Shape 5"/>
          <p:cNvSpPr/>
          <p:nvPr/>
        </p:nvSpPr>
        <p:spPr>
          <a:xfrm>
            <a:off x="621792" y="2331720"/>
            <a:ext cx="45720" cy="1591056"/>
          </a:xfrm>
          <a:prstGeom prst="rect">
            <a:avLst/>
          </a:prstGeom>
          <a:solidFill>
            <a:srgbClr val="12A566"/>
          </a:solidFill>
          <a:ln/>
        </p:spPr>
      </p:sp>
      <p:sp>
        <p:nvSpPr>
          <p:cNvPr id="8" name="Shape 6"/>
          <p:cNvSpPr/>
          <p:nvPr/>
        </p:nvSpPr>
        <p:spPr>
          <a:xfrm>
            <a:off x="685800" y="2331720"/>
            <a:ext cx="10881360" cy="530352"/>
          </a:xfrm>
          <a:prstGeom prst="rect">
            <a:avLst/>
          </a:prstGeom>
          <a:solidFill>
            <a:srgbClr val="F7F7F7"/>
          </a:solidFill>
          <a:ln/>
        </p:spPr>
      </p:sp>
      <p:sp>
        <p:nvSpPr>
          <p:cNvPr id="9" name="Text 7"/>
          <p:cNvSpPr txBox="1"/>
          <p:nvPr/>
        </p:nvSpPr>
        <p:spPr>
          <a:xfrm>
            <a:off x="676656" y="2331720"/>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1</a:t>
            </a:r>
            <a:endParaRPr lang="en-US" sz="1600" dirty="0"/>
          </a:p>
        </p:txBody>
      </p:sp>
      <p:sp>
        <p:nvSpPr>
          <p:cNvPr id="10" name="Text 8"/>
          <p:cNvSpPr txBox="1"/>
          <p:nvPr/>
        </p:nvSpPr>
        <p:spPr>
          <a:xfrm>
            <a:off x="676656" y="2862072"/>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11" name="Shape 9"/>
          <p:cNvSpPr/>
          <p:nvPr/>
        </p:nvSpPr>
        <p:spPr>
          <a:xfrm>
            <a:off x="685800" y="3392424"/>
            <a:ext cx="10881360" cy="530352"/>
          </a:xfrm>
          <a:prstGeom prst="rect">
            <a:avLst/>
          </a:prstGeom>
          <a:solidFill>
            <a:srgbClr val="F7F7F7"/>
          </a:solidFill>
          <a:ln/>
        </p:spPr>
      </p:sp>
      <p:sp>
        <p:nvSpPr>
          <p:cNvPr id="12" name="Text 10"/>
          <p:cNvSpPr txBox="1"/>
          <p:nvPr/>
        </p:nvSpPr>
        <p:spPr>
          <a:xfrm>
            <a:off x="676656" y="3392424"/>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3</a:t>
            </a:r>
            <a:endParaRPr lang="en-US" sz="1600" dirty="0"/>
          </a:p>
        </p:txBody>
      </p:sp>
      <p:sp>
        <p:nvSpPr>
          <p:cNvPr id="13" name="Shape 11"/>
          <p:cNvSpPr/>
          <p:nvPr/>
        </p:nvSpPr>
        <p:spPr>
          <a:xfrm>
            <a:off x="621792" y="4078224"/>
            <a:ext cx="45720" cy="1591056"/>
          </a:xfrm>
          <a:prstGeom prst="rect">
            <a:avLst/>
          </a:prstGeom>
          <a:solidFill>
            <a:srgbClr val="C2352F"/>
          </a:solidFill>
          <a:ln/>
        </p:spPr>
      </p:sp>
      <p:sp>
        <p:nvSpPr>
          <p:cNvPr id="14" name="Shape 12"/>
          <p:cNvSpPr/>
          <p:nvPr/>
        </p:nvSpPr>
        <p:spPr>
          <a:xfrm>
            <a:off x="685800" y="4078224"/>
            <a:ext cx="10881360" cy="530352"/>
          </a:xfrm>
          <a:prstGeom prst="rect">
            <a:avLst/>
          </a:prstGeom>
          <a:solidFill>
            <a:srgbClr val="F7F7F7"/>
          </a:solidFill>
          <a:ln/>
        </p:spPr>
      </p:sp>
      <p:sp>
        <p:nvSpPr>
          <p:cNvPr id="15" name="Text 13"/>
          <p:cNvSpPr txBox="1"/>
          <p:nvPr/>
        </p:nvSpPr>
        <p:spPr>
          <a:xfrm>
            <a:off x="676656" y="4078224"/>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31</a:t>
            </a:r>
            <a:endParaRPr lang="en-US" sz="1600" dirty="0"/>
          </a:p>
        </p:txBody>
      </p:sp>
      <p:sp>
        <p:nvSpPr>
          <p:cNvPr id="16" name="Text 14"/>
          <p:cNvSpPr txBox="1"/>
          <p:nvPr/>
        </p:nvSpPr>
        <p:spPr>
          <a:xfrm>
            <a:off x="676656" y="4608576"/>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32</a:t>
            </a:r>
            <a:endParaRPr lang="en-US" sz="1600" dirty="0"/>
          </a:p>
        </p:txBody>
      </p:sp>
      <p:sp>
        <p:nvSpPr>
          <p:cNvPr id="17" name="Shape 15"/>
          <p:cNvSpPr/>
          <p:nvPr/>
        </p:nvSpPr>
        <p:spPr>
          <a:xfrm>
            <a:off x="685800" y="5138928"/>
            <a:ext cx="10881360" cy="530352"/>
          </a:xfrm>
          <a:prstGeom prst="rect">
            <a:avLst/>
          </a:prstGeom>
          <a:solidFill>
            <a:srgbClr val="F7F7F7"/>
          </a:solidFill>
          <a:ln/>
        </p:spPr>
      </p:sp>
      <p:sp>
        <p:nvSpPr>
          <p:cNvPr id="18" name="Text 16"/>
          <p:cNvSpPr txBox="1"/>
          <p:nvPr/>
        </p:nvSpPr>
        <p:spPr>
          <a:xfrm>
            <a:off x="676656" y="5138928"/>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33</a:t>
            </a:r>
            <a:endParaRPr lang="en-US" sz="1600" dirty="0"/>
          </a:p>
        </p:txBody>
      </p:sp>
      <p:sp>
        <p:nvSpPr>
          <p:cNvPr id="19" name="Shape 17"/>
          <p:cNvSpPr/>
          <p:nvPr/>
        </p:nvSpPr>
        <p:spPr>
          <a:xfrm>
            <a:off x="969264" y="1691640"/>
            <a:ext cx="2026310" cy="45720"/>
          </a:xfrm>
          <a:prstGeom prst="rect">
            <a:avLst/>
          </a:prstGeom>
          <a:solidFill>
            <a:srgbClr val="12A566"/>
          </a:solidFill>
          <a:ln/>
        </p:spPr>
      </p:sp>
      <p:sp>
        <p:nvSpPr>
          <p:cNvPr id="20" name="Text 18"/>
          <p:cNvSpPr txBox="1"/>
          <p:nvPr/>
        </p:nvSpPr>
        <p:spPr>
          <a:xfrm>
            <a:off x="987552"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GROSS</a:t>
            </a:r>
            <a:endParaRPr lang="en-US" sz="1300" dirty="0"/>
          </a:p>
        </p:txBody>
      </p:sp>
      <p:sp>
        <p:nvSpPr>
          <p:cNvPr id="21" name="Text 19"/>
          <p:cNvSpPr txBox="1"/>
          <p:nvPr/>
        </p:nvSpPr>
        <p:spPr>
          <a:xfrm>
            <a:off x="987552"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+8.4%</a:t>
            </a:r>
            <a:endParaRPr lang="en-US" sz="1300" dirty="0"/>
          </a:p>
        </p:txBody>
      </p:sp>
      <p:sp>
        <p:nvSpPr>
          <p:cNvPr id="22" name="Text 20"/>
          <p:cNvSpPr txBox="1"/>
          <p:nvPr/>
        </p:nvSpPr>
        <p:spPr>
          <a:xfrm>
            <a:off x="987552"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Mazda</a:t>
            </a:r>
            <a:endParaRPr lang="en-US" sz="1300" dirty="0"/>
          </a:p>
        </p:txBody>
      </p:sp>
      <p:sp>
        <p:nvSpPr>
          <p:cNvPr id="23" name="Text 21"/>
          <p:cNvSpPr txBox="1"/>
          <p:nvPr/>
        </p:nvSpPr>
        <p:spPr>
          <a:xfrm>
            <a:off x="987552"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+34.6%</a:t>
            </a:r>
            <a:endParaRPr lang="en-US" sz="1600" dirty="0"/>
          </a:p>
        </p:txBody>
      </p:sp>
      <p:sp>
        <p:nvSpPr>
          <p:cNvPr id="24" name="Text 22"/>
          <p:cNvSpPr txBox="1"/>
          <p:nvPr/>
        </p:nvSpPr>
        <p:spPr>
          <a:xfrm>
            <a:off x="987552"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St George</a:t>
            </a:r>
            <a:endParaRPr lang="en-US" sz="1300" dirty="0"/>
          </a:p>
        </p:txBody>
      </p:sp>
      <p:sp>
        <p:nvSpPr>
          <p:cNvPr id="25" name="Text 23"/>
          <p:cNvSpPr txBox="1"/>
          <p:nvPr/>
        </p:nvSpPr>
        <p:spPr>
          <a:xfrm>
            <a:off x="987552"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26" name="Text 24"/>
          <p:cNvSpPr txBox="1"/>
          <p:nvPr/>
        </p:nvSpPr>
        <p:spPr>
          <a:xfrm>
            <a:off x="987552"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CDJR Post Falls</a:t>
            </a:r>
            <a:endParaRPr lang="en-US" sz="1300" dirty="0"/>
          </a:p>
        </p:txBody>
      </p:sp>
      <p:sp>
        <p:nvSpPr>
          <p:cNvPr id="27" name="Text 25"/>
          <p:cNvSpPr txBox="1"/>
          <p:nvPr/>
        </p:nvSpPr>
        <p:spPr>
          <a:xfrm>
            <a:off x="987552"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+27.8%</a:t>
            </a:r>
            <a:endParaRPr lang="en-US" sz="1600" dirty="0"/>
          </a:p>
        </p:txBody>
      </p:sp>
      <p:sp>
        <p:nvSpPr>
          <p:cNvPr id="28" name="Text 26"/>
          <p:cNvSpPr txBox="1"/>
          <p:nvPr/>
        </p:nvSpPr>
        <p:spPr>
          <a:xfrm>
            <a:off x="987552"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29" name="Text 27"/>
          <p:cNvSpPr txBox="1"/>
          <p:nvPr/>
        </p:nvSpPr>
        <p:spPr>
          <a:xfrm>
            <a:off x="987552"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−0.9%</a:t>
            </a:r>
            <a:endParaRPr lang="en-US" sz="1600" dirty="0"/>
          </a:p>
        </p:txBody>
      </p:sp>
      <p:sp>
        <p:nvSpPr>
          <p:cNvPr id="30" name="Text 28"/>
          <p:cNvSpPr txBox="1"/>
          <p:nvPr/>
        </p:nvSpPr>
        <p:spPr>
          <a:xfrm>
            <a:off x="987552"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Henderson</a:t>
            </a:r>
            <a:endParaRPr lang="en-US" sz="1300" dirty="0"/>
          </a:p>
        </p:txBody>
      </p:sp>
      <p:sp>
        <p:nvSpPr>
          <p:cNvPr id="31" name="Text 29"/>
          <p:cNvSpPr txBox="1"/>
          <p:nvPr/>
        </p:nvSpPr>
        <p:spPr>
          <a:xfrm>
            <a:off x="987552"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−2.0%</a:t>
            </a:r>
            <a:endParaRPr lang="en-US" sz="1600" dirty="0"/>
          </a:p>
        </p:txBody>
      </p:sp>
      <p:sp>
        <p:nvSpPr>
          <p:cNvPr id="32" name="Text 30"/>
          <p:cNvSpPr txBox="1"/>
          <p:nvPr/>
        </p:nvSpPr>
        <p:spPr>
          <a:xfrm>
            <a:off x="987552"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Cadillac</a:t>
            </a:r>
            <a:endParaRPr lang="en-US" sz="1300" dirty="0"/>
          </a:p>
        </p:txBody>
      </p:sp>
      <p:sp>
        <p:nvSpPr>
          <p:cNvPr id="33" name="Text 31"/>
          <p:cNvSpPr txBox="1"/>
          <p:nvPr/>
        </p:nvSpPr>
        <p:spPr>
          <a:xfrm>
            <a:off x="987552"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−10.7%</a:t>
            </a:r>
            <a:endParaRPr lang="en-US" sz="1600" dirty="0"/>
          </a:p>
        </p:txBody>
      </p:sp>
      <p:sp>
        <p:nvSpPr>
          <p:cNvPr id="34" name="Shape 32"/>
          <p:cNvSpPr/>
          <p:nvPr/>
        </p:nvSpPr>
        <p:spPr>
          <a:xfrm>
            <a:off x="3105302" y="1691640"/>
            <a:ext cx="2026310" cy="45720"/>
          </a:xfrm>
          <a:prstGeom prst="rect">
            <a:avLst/>
          </a:prstGeom>
          <a:solidFill>
            <a:srgbClr val="12A566"/>
          </a:solidFill>
          <a:ln/>
        </p:spPr>
      </p:sp>
      <p:sp>
        <p:nvSpPr>
          <p:cNvPr id="35" name="Text 33"/>
          <p:cNvSpPr txBox="1"/>
          <p:nvPr/>
        </p:nvSpPr>
        <p:spPr>
          <a:xfrm>
            <a:off x="3123590"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ROS</a:t>
            </a:r>
            <a:endParaRPr lang="en-US" sz="1300" dirty="0"/>
          </a:p>
        </p:txBody>
      </p:sp>
      <p:sp>
        <p:nvSpPr>
          <p:cNvPr id="36" name="Text 34"/>
          <p:cNvSpPr txBox="1"/>
          <p:nvPr/>
        </p:nvSpPr>
        <p:spPr>
          <a:xfrm>
            <a:off x="3123590"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+7.5%</a:t>
            </a:r>
            <a:endParaRPr lang="en-US" sz="1300" dirty="0"/>
          </a:p>
        </p:txBody>
      </p:sp>
      <p:sp>
        <p:nvSpPr>
          <p:cNvPr id="37" name="Text 35"/>
          <p:cNvSpPr txBox="1"/>
          <p:nvPr/>
        </p:nvSpPr>
        <p:spPr>
          <a:xfrm>
            <a:off x="3123590"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Lexus</a:t>
            </a:r>
            <a:endParaRPr lang="en-US" sz="1300" dirty="0"/>
          </a:p>
        </p:txBody>
      </p:sp>
      <p:sp>
        <p:nvSpPr>
          <p:cNvPr id="38" name="Text 36"/>
          <p:cNvSpPr txBox="1"/>
          <p:nvPr/>
        </p:nvSpPr>
        <p:spPr>
          <a:xfrm>
            <a:off x="3123590"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+34.0%</a:t>
            </a:r>
            <a:endParaRPr lang="en-US" sz="1600" dirty="0"/>
          </a:p>
        </p:txBody>
      </p:sp>
      <p:sp>
        <p:nvSpPr>
          <p:cNvPr id="39" name="Text 37"/>
          <p:cNvSpPr txBox="1"/>
          <p:nvPr/>
        </p:nvSpPr>
        <p:spPr>
          <a:xfrm>
            <a:off x="3123590"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CDJR Post Falls</a:t>
            </a:r>
            <a:endParaRPr lang="en-US" sz="1300" dirty="0"/>
          </a:p>
        </p:txBody>
      </p:sp>
      <p:sp>
        <p:nvSpPr>
          <p:cNvPr id="40" name="Text 38"/>
          <p:cNvSpPr txBox="1"/>
          <p:nvPr/>
        </p:nvSpPr>
        <p:spPr>
          <a:xfrm>
            <a:off x="3123590"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+22.8%</a:t>
            </a:r>
            <a:endParaRPr lang="en-US" sz="1600" dirty="0"/>
          </a:p>
        </p:txBody>
      </p:sp>
      <p:sp>
        <p:nvSpPr>
          <p:cNvPr id="41" name="Text 39"/>
          <p:cNvSpPr txBox="1"/>
          <p:nvPr/>
        </p:nvSpPr>
        <p:spPr>
          <a:xfrm>
            <a:off x="3123590"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LR LV</a:t>
            </a:r>
            <a:endParaRPr lang="en-US" sz="1300" dirty="0"/>
          </a:p>
        </p:txBody>
      </p:sp>
      <p:sp>
        <p:nvSpPr>
          <p:cNvPr id="42" name="Text 40"/>
          <p:cNvSpPr txBox="1"/>
          <p:nvPr/>
        </p:nvSpPr>
        <p:spPr>
          <a:xfrm>
            <a:off x="3123590"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+18.6%</a:t>
            </a:r>
            <a:endParaRPr lang="en-US" sz="1600" dirty="0"/>
          </a:p>
        </p:txBody>
      </p:sp>
      <p:sp>
        <p:nvSpPr>
          <p:cNvPr id="43" name="Text 41"/>
          <p:cNvSpPr txBox="1"/>
          <p:nvPr/>
        </p:nvSpPr>
        <p:spPr>
          <a:xfrm>
            <a:off x="3123590"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44" name="Text 42"/>
          <p:cNvSpPr txBox="1"/>
          <p:nvPr/>
        </p:nvSpPr>
        <p:spPr>
          <a:xfrm>
            <a:off x="3123590"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−2.0%</a:t>
            </a:r>
            <a:endParaRPr lang="en-US" sz="1600" dirty="0"/>
          </a:p>
        </p:txBody>
      </p:sp>
      <p:sp>
        <p:nvSpPr>
          <p:cNvPr id="45" name="Text 43"/>
          <p:cNvSpPr txBox="1"/>
          <p:nvPr/>
        </p:nvSpPr>
        <p:spPr>
          <a:xfrm>
            <a:off x="3123590"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46" name="Text 44"/>
          <p:cNvSpPr txBox="1"/>
          <p:nvPr/>
        </p:nvSpPr>
        <p:spPr>
          <a:xfrm>
            <a:off x="3123590"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−3.0%</a:t>
            </a:r>
            <a:endParaRPr lang="en-US" sz="1600" dirty="0"/>
          </a:p>
        </p:txBody>
      </p:sp>
      <p:sp>
        <p:nvSpPr>
          <p:cNvPr id="47" name="Text 45"/>
          <p:cNvSpPr txBox="1"/>
          <p:nvPr/>
        </p:nvSpPr>
        <p:spPr>
          <a:xfrm>
            <a:off x="3123590"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Cadillac</a:t>
            </a:r>
            <a:endParaRPr lang="en-US" sz="1300" dirty="0"/>
          </a:p>
        </p:txBody>
      </p:sp>
      <p:sp>
        <p:nvSpPr>
          <p:cNvPr id="48" name="Text 46"/>
          <p:cNvSpPr txBox="1"/>
          <p:nvPr/>
        </p:nvSpPr>
        <p:spPr>
          <a:xfrm>
            <a:off x="3123590"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−4.3%</a:t>
            </a:r>
            <a:endParaRPr lang="en-US" sz="1600" dirty="0"/>
          </a:p>
        </p:txBody>
      </p:sp>
      <p:sp>
        <p:nvSpPr>
          <p:cNvPr id="49" name="Shape 47"/>
          <p:cNvSpPr/>
          <p:nvPr/>
        </p:nvSpPr>
        <p:spPr>
          <a:xfrm>
            <a:off x="5241341" y="1691640"/>
            <a:ext cx="2026310" cy="45720"/>
          </a:xfrm>
          <a:prstGeom prst="rect">
            <a:avLst/>
          </a:prstGeom>
          <a:solidFill>
            <a:srgbClr val="12A566"/>
          </a:solidFill>
          <a:ln/>
        </p:spPr>
      </p:sp>
      <p:sp>
        <p:nvSpPr>
          <p:cNvPr id="50" name="Text 48"/>
          <p:cNvSpPr txBox="1"/>
          <p:nvPr/>
        </p:nvSpPr>
        <p:spPr>
          <a:xfrm>
            <a:off x="5259629"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HOURS PER RO</a:t>
            </a:r>
            <a:endParaRPr lang="en-US" sz="1300" dirty="0"/>
          </a:p>
        </p:txBody>
      </p:sp>
      <p:sp>
        <p:nvSpPr>
          <p:cNvPr id="51" name="Text 49"/>
          <p:cNvSpPr txBox="1"/>
          <p:nvPr/>
        </p:nvSpPr>
        <p:spPr>
          <a:xfrm>
            <a:off x="5259629"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−1.8%</a:t>
            </a:r>
            <a:endParaRPr lang="en-US" sz="1300" dirty="0"/>
          </a:p>
        </p:txBody>
      </p:sp>
      <p:sp>
        <p:nvSpPr>
          <p:cNvPr id="52" name="Text 50"/>
          <p:cNvSpPr txBox="1"/>
          <p:nvPr/>
        </p:nvSpPr>
        <p:spPr>
          <a:xfrm>
            <a:off x="5259629"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Mazda</a:t>
            </a:r>
            <a:endParaRPr lang="en-US" sz="1300" dirty="0"/>
          </a:p>
        </p:txBody>
      </p:sp>
      <p:sp>
        <p:nvSpPr>
          <p:cNvPr id="53" name="Text 51"/>
          <p:cNvSpPr txBox="1"/>
          <p:nvPr/>
        </p:nvSpPr>
        <p:spPr>
          <a:xfrm>
            <a:off x="5259629"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+22.1%</a:t>
            </a:r>
            <a:endParaRPr lang="en-US" sz="1600" dirty="0"/>
          </a:p>
        </p:txBody>
      </p:sp>
      <p:sp>
        <p:nvSpPr>
          <p:cNvPr id="54" name="Text 52"/>
          <p:cNvSpPr txBox="1"/>
          <p:nvPr/>
        </p:nvSpPr>
        <p:spPr>
          <a:xfrm>
            <a:off x="5259629"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Prescott</a:t>
            </a:r>
            <a:endParaRPr lang="en-US" sz="1300" dirty="0"/>
          </a:p>
        </p:txBody>
      </p:sp>
      <p:sp>
        <p:nvSpPr>
          <p:cNvPr id="55" name="Text 53"/>
          <p:cNvSpPr txBox="1"/>
          <p:nvPr/>
        </p:nvSpPr>
        <p:spPr>
          <a:xfrm>
            <a:off x="5259629"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+13.1%</a:t>
            </a:r>
            <a:endParaRPr lang="en-US" sz="1600" dirty="0"/>
          </a:p>
        </p:txBody>
      </p:sp>
      <p:sp>
        <p:nvSpPr>
          <p:cNvPr id="56" name="Text 54"/>
          <p:cNvSpPr txBox="1"/>
          <p:nvPr/>
        </p:nvSpPr>
        <p:spPr>
          <a:xfrm>
            <a:off x="5259629"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7" name="Text 55"/>
          <p:cNvSpPr txBox="1"/>
          <p:nvPr/>
        </p:nvSpPr>
        <p:spPr>
          <a:xfrm>
            <a:off x="5259629"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+12.2%</a:t>
            </a:r>
            <a:endParaRPr lang="en-US" sz="1600" dirty="0"/>
          </a:p>
        </p:txBody>
      </p:sp>
      <p:sp>
        <p:nvSpPr>
          <p:cNvPr id="58" name="Text 56"/>
          <p:cNvSpPr txBox="1"/>
          <p:nvPr/>
        </p:nvSpPr>
        <p:spPr>
          <a:xfrm>
            <a:off x="5259629"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Henderson</a:t>
            </a:r>
            <a:endParaRPr lang="en-US" sz="1300" dirty="0"/>
          </a:p>
        </p:txBody>
      </p:sp>
      <p:sp>
        <p:nvSpPr>
          <p:cNvPr id="59" name="Text 57"/>
          <p:cNvSpPr txBox="1"/>
          <p:nvPr/>
        </p:nvSpPr>
        <p:spPr>
          <a:xfrm>
            <a:off x="5259629"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−9.9%</a:t>
            </a:r>
            <a:endParaRPr lang="en-US" sz="1600" dirty="0"/>
          </a:p>
        </p:txBody>
      </p:sp>
      <p:sp>
        <p:nvSpPr>
          <p:cNvPr id="60" name="Text 58"/>
          <p:cNvSpPr txBox="1"/>
          <p:nvPr/>
        </p:nvSpPr>
        <p:spPr>
          <a:xfrm>
            <a:off x="5259629"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Henderson</a:t>
            </a:r>
            <a:endParaRPr lang="en-US" sz="1300" dirty="0"/>
          </a:p>
        </p:txBody>
      </p:sp>
      <p:sp>
        <p:nvSpPr>
          <p:cNvPr id="61" name="Text 59"/>
          <p:cNvSpPr txBox="1"/>
          <p:nvPr/>
        </p:nvSpPr>
        <p:spPr>
          <a:xfrm>
            <a:off x="5259629"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−10.6%</a:t>
            </a:r>
            <a:endParaRPr lang="en-US" sz="1600" dirty="0"/>
          </a:p>
        </p:txBody>
      </p:sp>
      <p:sp>
        <p:nvSpPr>
          <p:cNvPr id="62" name="Text 60"/>
          <p:cNvSpPr txBox="1"/>
          <p:nvPr/>
        </p:nvSpPr>
        <p:spPr>
          <a:xfrm>
            <a:off x="5259629"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Cadillac</a:t>
            </a:r>
            <a:endParaRPr lang="en-US" sz="1300" dirty="0"/>
          </a:p>
        </p:txBody>
      </p:sp>
      <p:sp>
        <p:nvSpPr>
          <p:cNvPr id="63" name="Text 61"/>
          <p:cNvSpPr txBox="1"/>
          <p:nvPr/>
        </p:nvSpPr>
        <p:spPr>
          <a:xfrm>
            <a:off x="5259629"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−14.0%</a:t>
            </a:r>
            <a:endParaRPr lang="en-US" sz="1600" dirty="0"/>
          </a:p>
        </p:txBody>
      </p:sp>
      <p:sp>
        <p:nvSpPr>
          <p:cNvPr id="64" name="Shape 62"/>
          <p:cNvSpPr/>
          <p:nvPr/>
        </p:nvSpPr>
        <p:spPr>
          <a:xfrm>
            <a:off x="7377379" y="1691640"/>
            <a:ext cx="2026310" cy="45720"/>
          </a:xfrm>
          <a:prstGeom prst="rect">
            <a:avLst/>
          </a:prstGeom>
          <a:solidFill>
            <a:srgbClr val="12A566"/>
          </a:solidFill>
          <a:ln/>
        </p:spPr>
      </p:sp>
      <p:sp>
        <p:nvSpPr>
          <p:cNvPr id="65" name="Text 63"/>
          <p:cNvSpPr txBox="1"/>
          <p:nvPr/>
        </p:nvSpPr>
        <p:spPr>
          <a:xfrm>
            <a:off x="7395667"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ELR</a:t>
            </a:r>
            <a:endParaRPr lang="en-US" sz="1300" dirty="0"/>
          </a:p>
        </p:txBody>
      </p:sp>
      <p:sp>
        <p:nvSpPr>
          <p:cNvPr id="66" name="Text 64"/>
          <p:cNvSpPr txBox="1"/>
          <p:nvPr/>
        </p:nvSpPr>
        <p:spPr>
          <a:xfrm>
            <a:off x="7395667"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+1.1%</a:t>
            </a:r>
            <a:endParaRPr lang="en-US" sz="1300" dirty="0"/>
          </a:p>
        </p:txBody>
      </p:sp>
      <p:sp>
        <p:nvSpPr>
          <p:cNvPr id="67" name="Text 65"/>
          <p:cNvSpPr txBox="1"/>
          <p:nvPr/>
        </p:nvSpPr>
        <p:spPr>
          <a:xfrm>
            <a:off x="7395667"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68" name="Text 66"/>
          <p:cNvSpPr txBox="1"/>
          <p:nvPr/>
        </p:nvSpPr>
        <p:spPr>
          <a:xfrm>
            <a:off x="7395667"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69" name="Text 67"/>
          <p:cNvSpPr txBox="1"/>
          <p:nvPr/>
        </p:nvSpPr>
        <p:spPr>
          <a:xfrm>
            <a:off x="7395667"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Audi Reno</a:t>
            </a:r>
            <a:endParaRPr lang="en-US" sz="1300" dirty="0"/>
          </a:p>
        </p:txBody>
      </p:sp>
      <p:sp>
        <p:nvSpPr>
          <p:cNvPr id="70" name="Text 68"/>
          <p:cNvSpPr txBox="1"/>
          <p:nvPr/>
        </p:nvSpPr>
        <p:spPr>
          <a:xfrm>
            <a:off x="7395667"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+7.3%</a:t>
            </a:r>
            <a:endParaRPr lang="en-US" sz="1600" dirty="0"/>
          </a:p>
        </p:txBody>
      </p:sp>
      <p:sp>
        <p:nvSpPr>
          <p:cNvPr id="71" name="Text 69"/>
          <p:cNvSpPr txBox="1"/>
          <p:nvPr/>
        </p:nvSpPr>
        <p:spPr>
          <a:xfrm>
            <a:off x="7395667"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Spokane</a:t>
            </a:r>
            <a:endParaRPr lang="en-US" sz="1300" dirty="0"/>
          </a:p>
        </p:txBody>
      </p:sp>
      <p:sp>
        <p:nvSpPr>
          <p:cNvPr id="72" name="Text 70"/>
          <p:cNvSpPr txBox="1"/>
          <p:nvPr/>
        </p:nvSpPr>
        <p:spPr>
          <a:xfrm>
            <a:off x="7395667"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+6.1%</a:t>
            </a:r>
            <a:endParaRPr lang="en-US" sz="1600" dirty="0"/>
          </a:p>
        </p:txBody>
      </p:sp>
      <p:sp>
        <p:nvSpPr>
          <p:cNvPr id="73" name="Text 71"/>
          <p:cNvSpPr txBox="1"/>
          <p:nvPr/>
        </p:nvSpPr>
        <p:spPr>
          <a:xfrm>
            <a:off x="7395667"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74" name="Text 72"/>
          <p:cNvSpPr txBox="1"/>
          <p:nvPr/>
        </p:nvSpPr>
        <p:spPr>
          <a:xfrm>
            <a:off x="7395667"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−3.0%</a:t>
            </a:r>
            <a:endParaRPr lang="en-US" sz="1600" dirty="0"/>
          </a:p>
        </p:txBody>
      </p:sp>
      <p:sp>
        <p:nvSpPr>
          <p:cNvPr id="75" name="Text 73"/>
          <p:cNvSpPr txBox="1"/>
          <p:nvPr/>
        </p:nvSpPr>
        <p:spPr>
          <a:xfrm>
            <a:off x="7395667"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Lexus</a:t>
            </a:r>
            <a:endParaRPr lang="en-US" sz="1300" dirty="0"/>
          </a:p>
        </p:txBody>
      </p:sp>
      <p:sp>
        <p:nvSpPr>
          <p:cNvPr id="76" name="Text 74"/>
          <p:cNvSpPr txBox="1"/>
          <p:nvPr/>
        </p:nvSpPr>
        <p:spPr>
          <a:xfrm>
            <a:off x="7395667"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−4.7%</a:t>
            </a:r>
            <a:endParaRPr lang="en-US" sz="1600" dirty="0"/>
          </a:p>
        </p:txBody>
      </p:sp>
      <p:sp>
        <p:nvSpPr>
          <p:cNvPr id="77" name="Text 75"/>
          <p:cNvSpPr txBox="1"/>
          <p:nvPr/>
        </p:nvSpPr>
        <p:spPr>
          <a:xfrm>
            <a:off x="7395667"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78" name="Text 76"/>
          <p:cNvSpPr txBox="1"/>
          <p:nvPr/>
        </p:nvSpPr>
        <p:spPr>
          <a:xfrm>
            <a:off x="7395667"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−14.2%</a:t>
            </a:r>
            <a:endParaRPr lang="en-US" sz="1600" dirty="0"/>
          </a:p>
        </p:txBody>
      </p:sp>
      <p:sp>
        <p:nvSpPr>
          <p:cNvPr id="79" name="Shape 77"/>
          <p:cNvSpPr/>
          <p:nvPr/>
        </p:nvSpPr>
        <p:spPr>
          <a:xfrm>
            <a:off x="9513418" y="1691640"/>
            <a:ext cx="2026310" cy="45720"/>
          </a:xfrm>
          <a:prstGeom prst="rect">
            <a:avLst/>
          </a:prstGeom>
          <a:solidFill>
            <a:srgbClr val="12A566"/>
          </a:solidFill>
          <a:ln/>
        </p:spPr>
      </p:sp>
      <p:sp>
        <p:nvSpPr>
          <p:cNvPr id="80" name="Text 78"/>
          <p:cNvSpPr txBox="1"/>
          <p:nvPr/>
        </p:nvSpPr>
        <p:spPr>
          <a:xfrm>
            <a:off x="9531706"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PARTS GP %</a:t>
            </a:r>
            <a:endParaRPr lang="en-US" sz="1300" dirty="0"/>
          </a:p>
        </p:txBody>
      </p:sp>
      <p:sp>
        <p:nvSpPr>
          <p:cNvPr id="81" name="Text 79"/>
          <p:cNvSpPr txBox="1"/>
          <p:nvPr/>
        </p:nvSpPr>
        <p:spPr>
          <a:xfrm>
            <a:off x="9531706"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0.0 pts</a:t>
            </a:r>
            <a:endParaRPr lang="en-US" sz="1300" dirty="0"/>
          </a:p>
        </p:txBody>
      </p:sp>
      <p:sp>
        <p:nvSpPr>
          <p:cNvPr id="82" name="Text 80"/>
          <p:cNvSpPr txBox="1"/>
          <p:nvPr/>
        </p:nvSpPr>
        <p:spPr>
          <a:xfrm>
            <a:off x="9531706"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83" name="Text 81"/>
          <p:cNvSpPr txBox="1"/>
          <p:nvPr/>
        </p:nvSpPr>
        <p:spPr>
          <a:xfrm>
            <a:off x="9531706"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+7.2 pts</a:t>
            </a:r>
            <a:endParaRPr lang="en-US" sz="1600" dirty="0"/>
          </a:p>
        </p:txBody>
      </p:sp>
      <p:sp>
        <p:nvSpPr>
          <p:cNvPr id="84" name="Text 82"/>
          <p:cNvSpPr txBox="1"/>
          <p:nvPr/>
        </p:nvSpPr>
        <p:spPr>
          <a:xfrm>
            <a:off x="9531706"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85" name="Text 83"/>
          <p:cNvSpPr txBox="1"/>
          <p:nvPr/>
        </p:nvSpPr>
        <p:spPr>
          <a:xfrm>
            <a:off x="9531706"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86" name="Text 84"/>
          <p:cNvSpPr txBox="1"/>
          <p:nvPr/>
        </p:nvSpPr>
        <p:spPr>
          <a:xfrm>
            <a:off x="9531706"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GMC Prescott</a:t>
            </a:r>
            <a:endParaRPr lang="en-US" sz="1300" dirty="0"/>
          </a:p>
        </p:txBody>
      </p:sp>
      <p:sp>
        <p:nvSpPr>
          <p:cNvPr id="87" name="Text 85"/>
          <p:cNvSpPr txBox="1"/>
          <p:nvPr/>
        </p:nvSpPr>
        <p:spPr>
          <a:xfrm>
            <a:off x="9531706"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88" name="Text 86"/>
          <p:cNvSpPr txBox="1"/>
          <p:nvPr/>
        </p:nvSpPr>
        <p:spPr>
          <a:xfrm>
            <a:off x="9531706"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Chevy LV</a:t>
            </a:r>
            <a:endParaRPr lang="en-US" sz="1300" dirty="0"/>
          </a:p>
        </p:txBody>
      </p:sp>
      <p:sp>
        <p:nvSpPr>
          <p:cNvPr id="89" name="Text 87"/>
          <p:cNvSpPr txBox="1"/>
          <p:nvPr/>
        </p:nvSpPr>
        <p:spPr>
          <a:xfrm>
            <a:off x="9531706"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−3.1 pts</a:t>
            </a:r>
            <a:endParaRPr lang="en-US" sz="1600" dirty="0"/>
          </a:p>
        </p:txBody>
      </p:sp>
      <p:sp>
        <p:nvSpPr>
          <p:cNvPr id="90" name="Text 88"/>
          <p:cNvSpPr txBox="1"/>
          <p:nvPr/>
        </p:nvSpPr>
        <p:spPr>
          <a:xfrm>
            <a:off x="9531706"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Lincoln</a:t>
            </a:r>
            <a:endParaRPr lang="en-US" sz="1300" dirty="0"/>
          </a:p>
        </p:txBody>
      </p:sp>
      <p:sp>
        <p:nvSpPr>
          <p:cNvPr id="91" name="Text 89"/>
          <p:cNvSpPr txBox="1"/>
          <p:nvPr/>
        </p:nvSpPr>
        <p:spPr>
          <a:xfrm>
            <a:off x="9531706"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−3.8 pts</a:t>
            </a:r>
            <a:endParaRPr lang="en-US" sz="1600" dirty="0"/>
          </a:p>
        </p:txBody>
      </p:sp>
      <p:sp>
        <p:nvSpPr>
          <p:cNvPr id="92" name="Text 90"/>
          <p:cNvSpPr txBox="1"/>
          <p:nvPr/>
        </p:nvSpPr>
        <p:spPr>
          <a:xfrm>
            <a:off x="9531706"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Henderson</a:t>
            </a:r>
            <a:endParaRPr lang="en-US" sz="1300" dirty="0"/>
          </a:p>
        </p:txBody>
      </p:sp>
      <p:sp>
        <p:nvSpPr>
          <p:cNvPr id="93" name="Text 91"/>
          <p:cNvSpPr txBox="1"/>
          <p:nvPr/>
        </p:nvSpPr>
        <p:spPr>
          <a:xfrm>
            <a:off x="9531706"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−4.2 pts</a:t>
            </a:r>
            <a:endParaRPr lang="en-US" sz="1600" dirty="0"/>
          </a:p>
        </p:txBody>
      </p:sp>
      <p:sp>
        <p:nvSpPr>
          <p:cNvPr id="95" name="Shape 92"/>
          <p:cNvSpPr/>
          <p:nvPr/>
        </p:nvSpPr>
        <p:spPr>
          <a:xfrm>
            <a:off x="457200" y="6126480"/>
            <a:ext cx="11274552" cy="615696"/>
          </a:xfrm>
          <a:prstGeom prst="rect">
            <a:avLst/>
          </a:prstGeom>
          <a:solidFill>
            <a:srgbClr val="EDF4FA"/>
          </a:solidFill>
          <a:ln/>
        </p:spPr>
      </p:sp>
      <p:sp>
        <p:nvSpPr>
          <p:cNvPr id="96" name="Text 93"/>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Most top-three finishes: Mazda, CDJR Post Falls and VW St George (2 of 5). Most bottom-three: Honda Henderson and Cadillac (3 of 5).</a:t>
            </a:r>
            <a:endParaRPr lang="en-US" sz="1600" dirty="0"/>
          </a:p>
        </p:txBody>
      </p:sp>
    </p:spTree>
  </p:cSld>
  <p:clrMapOvr>
    <a:masterClrMapping/>
  </p:clrMapOvr>
</p:sld>
</file>

<file path=ppt/slides/slide16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Two Ways to Read Improvement</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Better than last year · Jan–Sep 2026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792224"/>
            <a:ext cx="5102352"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Top-5 finishes, of five measures</a:t>
            </a:r>
            <a:endParaRPr lang="en-US" sz="1400" dirty="0"/>
          </a:p>
        </p:txBody>
      </p:sp>
      <p:sp>
        <p:nvSpPr>
          <p:cNvPr id="9" name="Shape 7"/>
          <p:cNvSpPr/>
          <p:nvPr/>
        </p:nvSpPr>
        <p:spPr>
          <a:xfrm>
            <a:off x="621792" y="2176272"/>
            <a:ext cx="5230368" cy="585216"/>
          </a:xfrm>
          <a:prstGeom prst="rect">
            <a:avLst/>
          </a:prstGeom>
          <a:solidFill>
            <a:srgbClr val="F7F7F7"/>
          </a:solidFill>
          <a:ln/>
        </p:spPr>
      </p:sp>
      <p:sp>
        <p:nvSpPr>
          <p:cNvPr id="10" name="Text 8"/>
          <p:cNvSpPr txBox="1"/>
          <p:nvPr/>
        </p:nvSpPr>
        <p:spPr>
          <a:xfrm>
            <a:off x="731520" y="2221992"/>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11" name="Text 9"/>
          <p:cNvSpPr txBox="1"/>
          <p:nvPr/>
        </p:nvSpPr>
        <p:spPr>
          <a:xfrm>
            <a:off x="731520" y="2478024"/>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hours/RO, ELR, parts GP%</a:t>
            </a:r>
            <a:endParaRPr lang="en-US" sz="1300" dirty="0"/>
          </a:p>
        </p:txBody>
      </p:sp>
      <p:sp>
        <p:nvSpPr>
          <p:cNvPr id="12" name="Shape 10"/>
          <p:cNvSpPr/>
          <p:nvPr/>
        </p:nvSpPr>
        <p:spPr>
          <a:xfrm>
            <a:off x="4343400" y="2351837"/>
            <a:ext cx="960120" cy="234086"/>
          </a:xfrm>
          <a:prstGeom prst="rect">
            <a:avLst/>
          </a:prstGeom>
          <a:solidFill>
            <a:srgbClr val="12A566"/>
          </a:solidFill>
          <a:ln/>
        </p:spPr>
      </p:sp>
      <p:sp>
        <p:nvSpPr>
          <p:cNvPr id="13" name="Text 11"/>
          <p:cNvSpPr txBox="1"/>
          <p:nvPr/>
        </p:nvSpPr>
        <p:spPr>
          <a:xfrm>
            <a:off x="5330952" y="2176272"/>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a:t>
            </a:r>
            <a:endParaRPr lang="en-US" sz="1800" dirty="0"/>
          </a:p>
        </p:txBody>
      </p:sp>
      <p:sp>
        <p:nvSpPr>
          <p:cNvPr id="14" name="Text 12"/>
          <p:cNvSpPr txBox="1"/>
          <p:nvPr/>
        </p:nvSpPr>
        <p:spPr>
          <a:xfrm>
            <a:off x="731520" y="2807208"/>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5" name="Text 13"/>
          <p:cNvSpPr txBox="1"/>
          <p:nvPr/>
        </p:nvSpPr>
        <p:spPr>
          <a:xfrm>
            <a:off x="731520" y="3063240"/>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ELR, parts GP%</a:t>
            </a:r>
            <a:endParaRPr lang="en-US" sz="1300" dirty="0"/>
          </a:p>
        </p:txBody>
      </p:sp>
      <p:sp>
        <p:nvSpPr>
          <p:cNvPr id="16" name="Shape 14"/>
          <p:cNvSpPr/>
          <p:nvPr/>
        </p:nvSpPr>
        <p:spPr>
          <a:xfrm>
            <a:off x="4343400" y="2937053"/>
            <a:ext cx="720090" cy="234086"/>
          </a:xfrm>
          <a:prstGeom prst="rect">
            <a:avLst/>
          </a:prstGeom>
          <a:solidFill>
            <a:srgbClr val="12A566"/>
          </a:solidFill>
          <a:ln/>
        </p:spPr>
      </p:sp>
      <p:sp>
        <p:nvSpPr>
          <p:cNvPr id="17" name="Text 15"/>
          <p:cNvSpPr txBox="1"/>
          <p:nvPr/>
        </p:nvSpPr>
        <p:spPr>
          <a:xfrm>
            <a:off x="5330952" y="2761488"/>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a:t>
            </a:r>
            <a:endParaRPr lang="en-US" sz="1800" dirty="0"/>
          </a:p>
        </p:txBody>
      </p:sp>
      <p:sp>
        <p:nvSpPr>
          <p:cNvPr id="18" name="Shape 16"/>
          <p:cNvSpPr/>
          <p:nvPr/>
        </p:nvSpPr>
        <p:spPr>
          <a:xfrm>
            <a:off x="621792" y="3346704"/>
            <a:ext cx="5230368" cy="585216"/>
          </a:xfrm>
          <a:prstGeom prst="rect">
            <a:avLst/>
          </a:prstGeom>
          <a:solidFill>
            <a:srgbClr val="F7F7F7"/>
          </a:solidFill>
          <a:ln/>
        </p:spPr>
      </p:sp>
      <p:sp>
        <p:nvSpPr>
          <p:cNvPr id="19" name="Text 17"/>
          <p:cNvSpPr txBox="1"/>
          <p:nvPr/>
        </p:nvSpPr>
        <p:spPr>
          <a:xfrm>
            <a:off x="731520" y="3392424"/>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20" name="Text 18"/>
          <p:cNvSpPr txBox="1"/>
          <p:nvPr/>
        </p:nvSpPr>
        <p:spPr>
          <a:xfrm>
            <a:off x="731520" y="3648456"/>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CP ROs, hours/RO</a:t>
            </a:r>
            <a:endParaRPr lang="en-US" sz="1300" dirty="0"/>
          </a:p>
        </p:txBody>
      </p:sp>
      <p:sp>
        <p:nvSpPr>
          <p:cNvPr id="21" name="Shape 19"/>
          <p:cNvSpPr/>
          <p:nvPr/>
        </p:nvSpPr>
        <p:spPr>
          <a:xfrm>
            <a:off x="4343400" y="3522269"/>
            <a:ext cx="720090" cy="234086"/>
          </a:xfrm>
          <a:prstGeom prst="rect">
            <a:avLst/>
          </a:prstGeom>
          <a:solidFill>
            <a:srgbClr val="12A566"/>
          </a:solidFill>
          <a:ln/>
        </p:spPr>
      </p:sp>
      <p:sp>
        <p:nvSpPr>
          <p:cNvPr id="22" name="Text 20"/>
          <p:cNvSpPr txBox="1"/>
          <p:nvPr/>
        </p:nvSpPr>
        <p:spPr>
          <a:xfrm>
            <a:off x="5330952" y="3346704"/>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a:t>
            </a:r>
            <a:endParaRPr lang="en-US" sz="1800" dirty="0"/>
          </a:p>
        </p:txBody>
      </p:sp>
      <p:sp>
        <p:nvSpPr>
          <p:cNvPr id="23" name="Text 21"/>
          <p:cNvSpPr txBox="1"/>
          <p:nvPr/>
        </p:nvSpPr>
        <p:spPr>
          <a:xfrm>
            <a:off x="731520" y="3977640"/>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4" name="Text 22"/>
          <p:cNvSpPr txBox="1"/>
          <p:nvPr/>
        </p:nvSpPr>
        <p:spPr>
          <a:xfrm>
            <a:off x="731520" y="4233672"/>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hours/RO</a:t>
            </a:r>
            <a:endParaRPr lang="en-US" sz="1300" dirty="0"/>
          </a:p>
        </p:txBody>
      </p:sp>
      <p:sp>
        <p:nvSpPr>
          <p:cNvPr id="25" name="Shape 23"/>
          <p:cNvSpPr/>
          <p:nvPr/>
        </p:nvSpPr>
        <p:spPr>
          <a:xfrm>
            <a:off x="4343400" y="4107485"/>
            <a:ext cx="480060" cy="234086"/>
          </a:xfrm>
          <a:prstGeom prst="rect">
            <a:avLst/>
          </a:prstGeom>
          <a:solidFill>
            <a:srgbClr val="12A566"/>
          </a:solidFill>
          <a:ln/>
        </p:spPr>
      </p:sp>
      <p:sp>
        <p:nvSpPr>
          <p:cNvPr id="26" name="Text 24"/>
          <p:cNvSpPr txBox="1"/>
          <p:nvPr/>
        </p:nvSpPr>
        <p:spPr>
          <a:xfrm>
            <a:off x="5330952" y="3931920"/>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27" name="Shape 25"/>
          <p:cNvSpPr/>
          <p:nvPr/>
        </p:nvSpPr>
        <p:spPr>
          <a:xfrm>
            <a:off x="621792" y="4517136"/>
            <a:ext cx="5230368" cy="585216"/>
          </a:xfrm>
          <a:prstGeom prst="rect">
            <a:avLst/>
          </a:prstGeom>
          <a:solidFill>
            <a:srgbClr val="F7F7F7"/>
          </a:solidFill>
          <a:ln/>
        </p:spPr>
      </p:sp>
      <p:sp>
        <p:nvSpPr>
          <p:cNvPr id="28" name="Text 26"/>
          <p:cNvSpPr txBox="1"/>
          <p:nvPr/>
        </p:nvSpPr>
        <p:spPr>
          <a:xfrm>
            <a:off x="731520" y="4562856"/>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29" name="Text 27"/>
          <p:cNvSpPr txBox="1"/>
          <p:nvPr/>
        </p:nvSpPr>
        <p:spPr>
          <a:xfrm>
            <a:off x="731520" y="4818888"/>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ROs, hours/RO</a:t>
            </a:r>
            <a:endParaRPr lang="en-US" sz="1300" dirty="0"/>
          </a:p>
        </p:txBody>
      </p:sp>
      <p:sp>
        <p:nvSpPr>
          <p:cNvPr id="30" name="Shape 28"/>
          <p:cNvSpPr/>
          <p:nvPr/>
        </p:nvSpPr>
        <p:spPr>
          <a:xfrm>
            <a:off x="4343400" y="4692701"/>
            <a:ext cx="480060" cy="234086"/>
          </a:xfrm>
          <a:prstGeom prst="rect">
            <a:avLst/>
          </a:prstGeom>
          <a:solidFill>
            <a:srgbClr val="12A566"/>
          </a:solidFill>
          <a:ln/>
        </p:spPr>
      </p:sp>
      <p:sp>
        <p:nvSpPr>
          <p:cNvPr id="31" name="Text 29"/>
          <p:cNvSpPr txBox="1"/>
          <p:nvPr/>
        </p:nvSpPr>
        <p:spPr>
          <a:xfrm>
            <a:off x="5330952" y="4517136"/>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32" name="Text 30"/>
          <p:cNvSpPr txBox="1"/>
          <p:nvPr/>
        </p:nvSpPr>
        <p:spPr>
          <a:xfrm>
            <a:off x="731520" y="5148072"/>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33" name="Text 31"/>
          <p:cNvSpPr txBox="1"/>
          <p:nvPr/>
        </p:nvSpPr>
        <p:spPr>
          <a:xfrm>
            <a:off x="731520" y="5404104"/>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ROs, parts GP%</a:t>
            </a:r>
            <a:endParaRPr lang="en-US" sz="1300" dirty="0"/>
          </a:p>
        </p:txBody>
      </p:sp>
      <p:sp>
        <p:nvSpPr>
          <p:cNvPr id="34" name="Shape 32"/>
          <p:cNvSpPr/>
          <p:nvPr/>
        </p:nvSpPr>
        <p:spPr>
          <a:xfrm>
            <a:off x="4343400" y="5277917"/>
            <a:ext cx="480060" cy="234086"/>
          </a:xfrm>
          <a:prstGeom prst="rect">
            <a:avLst/>
          </a:prstGeom>
          <a:solidFill>
            <a:srgbClr val="12A566"/>
          </a:solidFill>
          <a:ln/>
        </p:spPr>
      </p:sp>
      <p:sp>
        <p:nvSpPr>
          <p:cNvPr id="35" name="Text 33"/>
          <p:cNvSpPr txBox="1"/>
          <p:nvPr/>
        </p:nvSpPr>
        <p:spPr>
          <a:xfrm>
            <a:off x="5330952" y="5102352"/>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36" name="Shape 34"/>
          <p:cNvSpPr/>
          <p:nvPr/>
        </p:nvSpPr>
        <p:spPr>
          <a:xfrm>
            <a:off x="6172200" y="1207008"/>
            <a:ext cx="5559552" cy="4645152"/>
          </a:xfrm>
          <a:prstGeom prst="rect">
            <a:avLst/>
          </a:prstGeom>
          <a:solidFill>
            <a:srgbClr val="FFFFFF"/>
          </a:solidFill>
          <a:ln/>
        </p:spPr>
      </p:sp>
      <p:sp>
        <p:nvSpPr>
          <p:cNvPr id="37" name="Text 35"/>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Moving now · Q3 vs Q1, this year</a:t>
            </a:r>
            <a:endParaRPr lang="en-US" sz="1500" dirty="0"/>
          </a:p>
        </p:txBody>
      </p:sp>
      <p:sp>
        <p:nvSpPr>
          <p:cNvPr id="38" name="Shape 36"/>
          <p:cNvSpPr/>
          <p:nvPr/>
        </p:nvSpPr>
        <p:spPr>
          <a:xfrm>
            <a:off x="6400800" y="1691640"/>
            <a:ext cx="5102352" cy="10973"/>
          </a:xfrm>
          <a:prstGeom prst="rect">
            <a:avLst/>
          </a:prstGeom>
          <a:solidFill>
            <a:srgbClr val="1A1A1A"/>
          </a:solidFill>
          <a:ln/>
        </p:spPr>
      </p:sp>
      <p:sp>
        <p:nvSpPr>
          <p:cNvPr id="39" name="Text 37"/>
          <p:cNvSpPr txBox="1"/>
          <p:nvPr/>
        </p:nvSpPr>
        <p:spPr>
          <a:xfrm>
            <a:off x="6400800" y="1792224"/>
            <a:ext cx="5102352"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Top-5 finishes, of five measures</a:t>
            </a:r>
            <a:endParaRPr lang="en-US" sz="1400" dirty="0"/>
          </a:p>
        </p:txBody>
      </p:sp>
      <p:sp>
        <p:nvSpPr>
          <p:cNvPr id="40" name="Shape 38"/>
          <p:cNvSpPr/>
          <p:nvPr/>
        </p:nvSpPr>
        <p:spPr>
          <a:xfrm>
            <a:off x="6336792" y="2176272"/>
            <a:ext cx="5230368" cy="585216"/>
          </a:xfrm>
          <a:prstGeom prst="rect">
            <a:avLst/>
          </a:prstGeom>
          <a:solidFill>
            <a:srgbClr val="F7F7F7"/>
          </a:solidFill>
          <a:ln/>
        </p:spPr>
      </p:sp>
      <p:sp>
        <p:nvSpPr>
          <p:cNvPr id="41" name="Text 39"/>
          <p:cNvSpPr txBox="1"/>
          <p:nvPr/>
        </p:nvSpPr>
        <p:spPr>
          <a:xfrm>
            <a:off x="6446520" y="2221992"/>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42" name="Text 40"/>
          <p:cNvSpPr txBox="1"/>
          <p:nvPr/>
        </p:nvSpPr>
        <p:spPr>
          <a:xfrm>
            <a:off x="6446520" y="2478024"/>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CP ROs, hours/RO</a:t>
            </a:r>
            <a:endParaRPr lang="en-US" sz="1300" dirty="0"/>
          </a:p>
        </p:txBody>
      </p:sp>
      <p:sp>
        <p:nvSpPr>
          <p:cNvPr id="43" name="Shape 41"/>
          <p:cNvSpPr/>
          <p:nvPr/>
        </p:nvSpPr>
        <p:spPr>
          <a:xfrm>
            <a:off x="10058400" y="2351837"/>
            <a:ext cx="960120" cy="234086"/>
          </a:xfrm>
          <a:prstGeom prst="rect">
            <a:avLst/>
          </a:prstGeom>
          <a:solidFill>
            <a:srgbClr val="12A566"/>
          </a:solidFill>
          <a:ln/>
        </p:spPr>
      </p:sp>
      <p:sp>
        <p:nvSpPr>
          <p:cNvPr id="44" name="Text 42"/>
          <p:cNvSpPr txBox="1"/>
          <p:nvPr/>
        </p:nvSpPr>
        <p:spPr>
          <a:xfrm>
            <a:off x="11045952" y="2176272"/>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a:t>
            </a:r>
            <a:endParaRPr lang="en-US" sz="1800" dirty="0"/>
          </a:p>
        </p:txBody>
      </p:sp>
      <p:sp>
        <p:nvSpPr>
          <p:cNvPr id="45" name="Text 43"/>
          <p:cNvSpPr txBox="1"/>
          <p:nvPr/>
        </p:nvSpPr>
        <p:spPr>
          <a:xfrm>
            <a:off x="6446520" y="2807208"/>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6" name="Text 44"/>
          <p:cNvSpPr txBox="1"/>
          <p:nvPr/>
        </p:nvSpPr>
        <p:spPr>
          <a:xfrm>
            <a:off x="6446520" y="3063240"/>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hours/RO, ELR</a:t>
            </a:r>
            <a:endParaRPr lang="en-US" sz="1300" dirty="0"/>
          </a:p>
        </p:txBody>
      </p:sp>
      <p:sp>
        <p:nvSpPr>
          <p:cNvPr id="47" name="Shape 45"/>
          <p:cNvSpPr/>
          <p:nvPr/>
        </p:nvSpPr>
        <p:spPr>
          <a:xfrm>
            <a:off x="10058400" y="2937053"/>
            <a:ext cx="960120" cy="234086"/>
          </a:xfrm>
          <a:prstGeom prst="rect">
            <a:avLst/>
          </a:prstGeom>
          <a:solidFill>
            <a:srgbClr val="12A566"/>
          </a:solidFill>
          <a:ln/>
        </p:spPr>
      </p:sp>
      <p:sp>
        <p:nvSpPr>
          <p:cNvPr id="48" name="Text 46"/>
          <p:cNvSpPr txBox="1"/>
          <p:nvPr/>
        </p:nvSpPr>
        <p:spPr>
          <a:xfrm>
            <a:off x="11045952" y="2761488"/>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a:t>
            </a:r>
            <a:endParaRPr lang="en-US" sz="1800" dirty="0"/>
          </a:p>
        </p:txBody>
      </p:sp>
      <p:sp>
        <p:nvSpPr>
          <p:cNvPr id="49" name="Shape 47"/>
          <p:cNvSpPr/>
          <p:nvPr/>
        </p:nvSpPr>
        <p:spPr>
          <a:xfrm>
            <a:off x="6336792" y="3346704"/>
            <a:ext cx="5230368" cy="585216"/>
          </a:xfrm>
          <a:prstGeom prst="rect">
            <a:avLst/>
          </a:prstGeom>
          <a:solidFill>
            <a:srgbClr val="F7F7F7"/>
          </a:solidFill>
          <a:ln/>
        </p:spPr>
      </p:sp>
      <p:sp>
        <p:nvSpPr>
          <p:cNvPr id="50" name="Text 48"/>
          <p:cNvSpPr txBox="1"/>
          <p:nvPr/>
        </p:nvSpPr>
        <p:spPr>
          <a:xfrm>
            <a:off x="6446520" y="3392424"/>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51" name="Text 49"/>
          <p:cNvSpPr txBox="1"/>
          <p:nvPr/>
        </p:nvSpPr>
        <p:spPr>
          <a:xfrm>
            <a:off x="6446520" y="3648456"/>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ELR, parts GP%</a:t>
            </a:r>
            <a:endParaRPr lang="en-US" sz="1300" dirty="0"/>
          </a:p>
        </p:txBody>
      </p:sp>
      <p:sp>
        <p:nvSpPr>
          <p:cNvPr id="52" name="Shape 50"/>
          <p:cNvSpPr/>
          <p:nvPr/>
        </p:nvSpPr>
        <p:spPr>
          <a:xfrm>
            <a:off x="10058400" y="3522269"/>
            <a:ext cx="960120" cy="234086"/>
          </a:xfrm>
          <a:prstGeom prst="rect">
            <a:avLst/>
          </a:prstGeom>
          <a:solidFill>
            <a:srgbClr val="12A566"/>
          </a:solidFill>
          <a:ln/>
        </p:spPr>
      </p:sp>
      <p:sp>
        <p:nvSpPr>
          <p:cNvPr id="53" name="Text 51"/>
          <p:cNvSpPr txBox="1"/>
          <p:nvPr/>
        </p:nvSpPr>
        <p:spPr>
          <a:xfrm>
            <a:off x="11045952" y="3346704"/>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446520" y="3977640"/>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55" name="Text 53"/>
          <p:cNvSpPr txBox="1"/>
          <p:nvPr/>
        </p:nvSpPr>
        <p:spPr>
          <a:xfrm>
            <a:off x="6446520" y="4233672"/>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CP ROs</a:t>
            </a:r>
            <a:endParaRPr lang="en-US" sz="1300" dirty="0"/>
          </a:p>
        </p:txBody>
      </p:sp>
      <p:sp>
        <p:nvSpPr>
          <p:cNvPr id="56" name="Shape 54"/>
          <p:cNvSpPr/>
          <p:nvPr/>
        </p:nvSpPr>
        <p:spPr>
          <a:xfrm>
            <a:off x="10058400" y="4107485"/>
            <a:ext cx="640080" cy="234086"/>
          </a:xfrm>
          <a:prstGeom prst="rect">
            <a:avLst/>
          </a:prstGeom>
          <a:solidFill>
            <a:srgbClr val="12A566"/>
          </a:solidFill>
          <a:ln/>
        </p:spPr>
      </p:sp>
      <p:sp>
        <p:nvSpPr>
          <p:cNvPr id="57" name="Text 55"/>
          <p:cNvSpPr txBox="1"/>
          <p:nvPr/>
        </p:nvSpPr>
        <p:spPr>
          <a:xfrm>
            <a:off x="11045952" y="3931920"/>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58" name="Shape 56"/>
          <p:cNvSpPr/>
          <p:nvPr/>
        </p:nvSpPr>
        <p:spPr>
          <a:xfrm>
            <a:off x="6336792" y="4517136"/>
            <a:ext cx="5230368" cy="585216"/>
          </a:xfrm>
          <a:prstGeom prst="rect">
            <a:avLst/>
          </a:prstGeom>
          <a:solidFill>
            <a:srgbClr val="F7F7F7"/>
          </a:solidFill>
          <a:ln/>
        </p:spPr>
      </p:sp>
      <p:sp>
        <p:nvSpPr>
          <p:cNvPr id="59" name="Text 57"/>
          <p:cNvSpPr txBox="1"/>
          <p:nvPr/>
        </p:nvSpPr>
        <p:spPr>
          <a:xfrm>
            <a:off x="6446520" y="4562856"/>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60" name="Text 58"/>
          <p:cNvSpPr txBox="1"/>
          <p:nvPr/>
        </p:nvSpPr>
        <p:spPr>
          <a:xfrm>
            <a:off x="6446520" y="4818888"/>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hours/RO</a:t>
            </a:r>
            <a:endParaRPr lang="en-US" sz="1300" dirty="0"/>
          </a:p>
        </p:txBody>
      </p:sp>
      <p:sp>
        <p:nvSpPr>
          <p:cNvPr id="61" name="Shape 59"/>
          <p:cNvSpPr/>
          <p:nvPr/>
        </p:nvSpPr>
        <p:spPr>
          <a:xfrm>
            <a:off x="10058400" y="4692701"/>
            <a:ext cx="640080" cy="234086"/>
          </a:xfrm>
          <a:prstGeom prst="rect">
            <a:avLst/>
          </a:prstGeom>
          <a:solidFill>
            <a:srgbClr val="12A566"/>
          </a:solidFill>
          <a:ln/>
        </p:spPr>
      </p:sp>
      <p:sp>
        <p:nvSpPr>
          <p:cNvPr id="62" name="Text 60"/>
          <p:cNvSpPr txBox="1"/>
          <p:nvPr/>
        </p:nvSpPr>
        <p:spPr>
          <a:xfrm>
            <a:off x="11045952" y="4517136"/>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63" name="Text 61"/>
          <p:cNvSpPr txBox="1"/>
          <p:nvPr/>
        </p:nvSpPr>
        <p:spPr>
          <a:xfrm>
            <a:off x="6446520" y="5148072"/>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64" name="Text 62"/>
          <p:cNvSpPr txBox="1"/>
          <p:nvPr/>
        </p:nvSpPr>
        <p:spPr>
          <a:xfrm>
            <a:off x="6446520" y="5404104"/>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ELR, parts GP%</a:t>
            </a:r>
            <a:endParaRPr lang="en-US" sz="1300" dirty="0"/>
          </a:p>
        </p:txBody>
      </p:sp>
      <p:sp>
        <p:nvSpPr>
          <p:cNvPr id="65" name="Shape 63"/>
          <p:cNvSpPr/>
          <p:nvPr/>
        </p:nvSpPr>
        <p:spPr>
          <a:xfrm>
            <a:off x="10058400" y="5277917"/>
            <a:ext cx="640080" cy="234086"/>
          </a:xfrm>
          <a:prstGeom prst="rect">
            <a:avLst/>
          </a:prstGeom>
          <a:solidFill>
            <a:srgbClr val="12A566"/>
          </a:solidFill>
          <a:ln/>
        </p:spPr>
      </p:sp>
      <p:sp>
        <p:nvSpPr>
          <p:cNvPr id="66" name="Text 64"/>
          <p:cNvSpPr txBox="1"/>
          <p:nvPr/>
        </p:nvSpPr>
        <p:spPr>
          <a:xfrm>
            <a:off x="11045952" y="5102352"/>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67" name="Shape 65"/>
          <p:cNvSpPr/>
          <p:nvPr/>
        </p:nvSpPr>
        <p:spPr>
          <a:xfrm>
            <a:off x="457200" y="6126480"/>
            <a:ext cx="11274552" cy="371856"/>
          </a:xfrm>
          <a:prstGeom prst="rect">
            <a:avLst/>
          </a:prstGeom>
          <a:solidFill>
            <a:srgbClr val="E6F6EE"/>
          </a:solidFill>
          <a:ln/>
        </p:spPr>
      </p:sp>
      <p:sp>
        <p:nvSpPr>
          <p:cNvPr id="68" name="Text 66"/>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Last year: Subaru Prescott leads. Moving now: Three stores tie. Eight stores make both views.</a:t>
            </a:r>
            <a:endParaRPr lang="en-US" sz="1600" dirty="0"/>
          </a:p>
        </p:txBody>
      </p:sp>
    </p:spTree>
  </p:cSld>
  <p:clrMapOvr>
    <a:masterClrMapping/>
  </p:clrMapOvr>
</p:sld>
</file>

<file path=ppt/slides/slide16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Changed?</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49808"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Store</a:t>
            </a:r>
            <a:endParaRPr lang="en-US" sz="1400" dirty="0"/>
          </a:p>
        </p:txBody>
      </p:sp>
      <p:sp>
        <p:nvSpPr>
          <p:cNvPr id="7" name="Text 5"/>
          <p:cNvSpPr txBox="1"/>
          <p:nvPr/>
        </p:nvSpPr>
        <p:spPr>
          <a:xfrm>
            <a:off x="3520440"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Moved on</a:t>
            </a:r>
            <a:endParaRPr lang="en-US" sz="1400" dirty="0"/>
          </a:p>
        </p:txBody>
      </p:sp>
      <p:sp>
        <p:nvSpPr>
          <p:cNvPr id="8" name="Text 6"/>
          <p:cNvSpPr txBox="1"/>
          <p:nvPr/>
        </p:nvSpPr>
        <p:spPr>
          <a:xfrm>
            <a:off x="5669280"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9" name="Text 7"/>
          <p:cNvSpPr txBox="1"/>
          <p:nvPr/>
        </p:nvSpPr>
        <p:spPr>
          <a:xfrm>
            <a:off x="7726680"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9326880"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1" name="Shape 9"/>
          <p:cNvSpPr/>
          <p:nvPr/>
        </p:nvSpPr>
        <p:spPr>
          <a:xfrm>
            <a:off x="621792" y="1773936"/>
            <a:ext cx="10945368" cy="548640"/>
          </a:xfrm>
          <a:prstGeom prst="rect">
            <a:avLst/>
          </a:prstGeom>
          <a:solidFill>
            <a:srgbClr val="F7F7F7"/>
          </a:solidFill>
          <a:ln/>
        </p:spPr>
      </p:sp>
      <p:sp>
        <p:nvSpPr>
          <p:cNvPr id="12" name="Text 10"/>
          <p:cNvSpPr txBox="1"/>
          <p:nvPr/>
        </p:nvSpPr>
        <p:spPr>
          <a:xfrm>
            <a:off x="749808" y="177393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MAZDA</a:t>
            </a:r>
            <a:endParaRPr lang="en-US" sz="1500" dirty="0"/>
          </a:p>
        </p:txBody>
      </p:sp>
      <p:sp>
        <p:nvSpPr>
          <p:cNvPr id="13" name="Text 11"/>
          <p:cNvSpPr txBox="1"/>
          <p:nvPr/>
        </p:nvSpPr>
        <p:spPr>
          <a:xfrm>
            <a:off x="3520440" y="177393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Gross per Month</a:t>
            </a:r>
            <a:endParaRPr lang="en-US" sz="1500" dirty="0"/>
          </a:p>
        </p:txBody>
      </p:sp>
      <p:sp>
        <p:nvSpPr>
          <p:cNvPr id="14" name="Text 12"/>
          <p:cNvSpPr txBox="1"/>
          <p:nvPr/>
        </p:nvSpPr>
        <p:spPr>
          <a:xfrm>
            <a:off x="5669280" y="177393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$155K → $209K</a:t>
            </a:r>
            <a:endParaRPr lang="en-US" sz="1500" dirty="0"/>
          </a:p>
        </p:txBody>
      </p:sp>
      <p:sp>
        <p:nvSpPr>
          <p:cNvPr id="15" name="Text 13"/>
          <p:cNvSpPr txBox="1"/>
          <p:nvPr/>
        </p:nvSpPr>
        <p:spPr>
          <a:xfrm>
            <a:off x="7726680" y="177393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August</a:t>
            </a:r>
            <a:endParaRPr lang="en-US" sz="1500" dirty="0"/>
          </a:p>
        </p:txBody>
      </p:sp>
      <p:sp>
        <p:nvSpPr>
          <p:cNvPr id="16" name="Text 14"/>
          <p:cNvSpPr txBox="1"/>
          <p:nvPr/>
        </p:nvSpPr>
        <p:spPr>
          <a:xfrm>
            <a:off x="9326880" y="177393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+34.6%</a:t>
            </a:r>
            <a:endParaRPr lang="en-US" sz="1500" dirty="0"/>
          </a:p>
        </p:txBody>
      </p:sp>
      <p:sp>
        <p:nvSpPr>
          <p:cNvPr id="17" name="Text 15"/>
          <p:cNvSpPr txBox="1"/>
          <p:nvPr/>
        </p:nvSpPr>
        <p:spPr>
          <a:xfrm>
            <a:off x="749808" y="232257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LEXUS</a:t>
            </a:r>
            <a:endParaRPr lang="en-US" sz="1500" dirty="0"/>
          </a:p>
        </p:txBody>
      </p:sp>
      <p:sp>
        <p:nvSpPr>
          <p:cNvPr id="18" name="Text 16"/>
          <p:cNvSpPr txBox="1"/>
          <p:nvPr/>
        </p:nvSpPr>
        <p:spPr>
          <a:xfrm>
            <a:off x="3520440" y="232257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ROs per Month</a:t>
            </a:r>
            <a:endParaRPr lang="en-US" sz="1500" dirty="0"/>
          </a:p>
        </p:txBody>
      </p:sp>
      <p:sp>
        <p:nvSpPr>
          <p:cNvPr id="19" name="Text 17"/>
          <p:cNvSpPr txBox="1"/>
          <p:nvPr/>
        </p:nvSpPr>
        <p:spPr>
          <a:xfrm>
            <a:off x="5669280" y="232257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425 → 570</a:t>
            </a:r>
            <a:endParaRPr lang="en-US" sz="1500" dirty="0"/>
          </a:p>
        </p:txBody>
      </p:sp>
      <p:sp>
        <p:nvSpPr>
          <p:cNvPr id="20" name="Text 18"/>
          <p:cNvSpPr txBox="1"/>
          <p:nvPr/>
        </p:nvSpPr>
        <p:spPr>
          <a:xfrm>
            <a:off x="7726680" y="232257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April</a:t>
            </a:r>
            <a:endParaRPr lang="en-US" sz="1500" dirty="0"/>
          </a:p>
        </p:txBody>
      </p:sp>
      <p:sp>
        <p:nvSpPr>
          <p:cNvPr id="21" name="Text 19"/>
          <p:cNvSpPr txBox="1"/>
          <p:nvPr/>
        </p:nvSpPr>
        <p:spPr>
          <a:xfrm>
            <a:off x="9326880" y="232257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+34.0%</a:t>
            </a:r>
            <a:endParaRPr lang="en-US" sz="1500" dirty="0"/>
          </a:p>
        </p:txBody>
      </p:sp>
      <p:sp>
        <p:nvSpPr>
          <p:cNvPr id="22" name="Shape 20"/>
          <p:cNvSpPr/>
          <p:nvPr/>
        </p:nvSpPr>
        <p:spPr>
          <a:xfrm>
            <a:off x="621792" y="2871216"/>
            <a:ext cx="10945368" cy="548640"/>
          </a:xfrm>
          <a:prstGeom prst="rect">
            <a:avLst/>
          </a:prstGeom>
          <a:solidFill>
            <a:srgbClr val="F7F7F7"/>
          </a:solidFill>
          <a:ln/>
        </p:spPr>
      </p:sp>
      <p:sp>
        <p:nvSpPr>
          <p:cNvPr id="23" name="Text 21"/>
          <p:cNvSpPr txBox="1"/>
          <p:nvPr/>
        </p:nvSpPr>
        <p:spPr>
          <a:xfrm>
            <a:off x="749808" y="287121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MAZDA</a:t>
            </a:r>
            <a:endParaRPr lang="en-US" sz="1500" dirty="0"/>
          </a:p>
        </p:txBody>
      </p:sp>
      <p:sp>
        <p:nvSpPr>
          <p:cNvPr id="24" name="Text 22"/>
          <p:cNvSpPr txBox="1"/>
          <p:nvPr/>
        </p:nvSpPr>
        <p:spPr>
          <a:xfrm>
            <a:off x="3520440" y="287121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Hours per RO</a:t>
            </a:r>
            <a:endParaRPr lang="en-US" sz="1500" dirty="0"/>
          </a:p>
        </p:txBody>
      </p:sp>
      <p:sp>
        <p:nvSpPr>
          <p:cNvPr id="25" name="Text 23"/>
          <p:cNvSpPr txBox="1"/>
          <p:nvPr/>
        </p:nvSpPr>
        <p:spPr>
          <a:xfrm>
            <a:off x="5669280" y="287121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1.35 → 1.65</a:t>
            </a:r>
            <a:endParaRPr lang="en-US" sz="1500" dirty="0"/>
          </a:p>
        </p:txBody>
      </p:sp>
      <p:sp>
        <p:nvSpPr>
          <p:cNvPr id="26" name="Text 24"/>
          <p:cNvSpPr txBox="1"/>
          <p:nvPr/>
        </p:nvSpPr>
        <p:spPr>
          <a:xfrm>
            <a:off x="7726680" y="287121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August</a:t>
            </a:r>
            <a:endParaRPr lang="en-US" sz="1500" dirty="0"/>
          </a:p>
        </p:txBody>
      </p:sp>
      <p:sp>
        <p:nvSpPr>
          <p:cNvPr id="27" name="Text 25"/>
          <p:cNvSpPr txBox="1"/>
          <p:nvPr/>
        </p:nvSpPr>
        <p:spPr>
          <a:xfrm>
            <a:off x="9326880" y="287121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+22.1%</a:t>
            </a:r>
            <a:endParaRPr lang="en-US" sz="1500" dirty="0"/>
          </a:p>
        </p:txBody>
      </p:sp>
      <p:sp>
        <p:nvSpPr>
          <p:cNvPr id="28" name="Text 26"/>
          <p:cNvSpPr txBox="1"/>
          <p:nvPr/>
        </p:nvSpPr>
        <p:spPr>
          <a:xfrm>
            <a:off x="749808" y="341985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VW ST GEORGE</a:t>
            </a:r>
            <a:endParaRPr lang="en-US" sz="1500" dirty="0"/>
          </a:p>
        </p:txBody>
      </p:sp>
      <p:sp>
        <p:nvSpPr>
          <p:cNvPr id="29" name="Text 27"/>
          <p:cNvSpPr txBox="1"/>
          <p:nvPr/>
        </p:nvSpPr>
        <p:spPr>
          <a:xfrm>
            <a:off x="3520440" y="341985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ELR</a:t>
            </a:r>
            <a:endParaRPr lang="en-US" sz="1500" dirty="0"/>
          </a:p>
        </p:txBody>
      </p:sp>
      <p:sp>
        <p:nvSpPr>
          <p:cNvPr id="30" name="Text 28"/>
          <p:cNvSpPr txBox="1"/>
          <p:nvPr/>
        </p:nvSpPr>
        <p:spPr>
          <a:xfrm>
            <a:off x="5669280" y="341985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$128.27 → $141.89</a:t>
            </a:r>
            <a:endParaRPr lang="en-US" sz="1500" dirty="0"/>
          </a:p>
        </p:txBody>
      </p:sp>
      <p:sp>
        <p:nvSpPr>
          <p:cNvPr id="31" name="Text 29"/>
          <p:cNvSpPr txBox="1"/>
          <p:nvPr/>
        </p:nvSpPr>
        <p:spPr>
          <a:xfrm>
            <a:off x="7726680" y="341985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June</a:t>
            </a:r>
            <a:endParaRPr lang="en-US" sz="1500" dirty="0"/>
          </a:p>
        </p:txBody>
      </p:sp>
      <p:sp>
        <p:nvSpPr>
          <p:cNvPr id="32" name="Text 30"/>
          <p:cNvSpPr txBox="1"/>
          <p:nvPr/>
        </p:nvSpPr>
        <p:spPr>
          <a:xfrm>
            <a:off x="9326880" y="341985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+10.6%</a:t>
            </a:r>
            <a:endParaRPr lang="en-US" sz="1500" dirty="0"/>
          </a:p>
        </p:txBody>
      </p:sp>
      <p:sp>
        <p:nvSpPr>
          <p:cNvPr id="33" name="Shape 31"/>
          <p:cNvSpPr/>
          <p:nvPr/>
        </p:nvSpPr>
        <p:spPr>
          <a:xfrm>
            <a:off x="621792" y="3968496"/>
            <a:ext cx="10945368" cy="548640"/>
          </a:xfrm>
          <a:prstGeom prst="rect">
            <a:avLst/>
          </a:prstGeom>
          <a:solidFill>
            <a:srgbClr val="F7F7F7"/>
          </a:solidFill>
          <a:ln/>
        </p:spPr>
      </p:sp>
      <p:sp>
        <p:nvSpPr>
          <p:cNvPr id="34" name="Text 32"/>
          <p:cNvSpPr txBox="1"/>
          <p:nvPr/>
        </p:nvSpPr>
        <p:spPr>
          <a:xfrm>
            <a:off x="749808" y="396849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ACURA</a:t>
            </a:r>
            <a:endParaRPr lang="en-US" sz="1500" dirty="0"/>
          </a:p>
        </p:txBody>
      </p:sp>
      <p:sp>
        <p:nvSpPr>
          <p:cNvPr id="35" name="Text 33"/>
          <p:cNvSpPr txBox="1"/>
          <p:nvPr/>
        </p:nvSpPr>
        <p:spPr>
          <a:xfrm>
            <a:off x="3520440" y="396849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Parts GP %</a:t>
            </a:r>
            <a:endParaRPr lang="en-US" sz="1500" dirty="0"/>
          </a:p>
        </p:txBody>
      </p:sp>
      <p:sp>
        <p:nvSpPr>
          <p:cNvPr id="36" name="Text 34"/>
          <p:cNvSpPr txBox="1"/>
          <p:nvPr/>
        </p:nvSpPr>
        <p:spPr>
          <a:xfrm>
            <a:off x="5669280" y="396849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39.4% → 46.6%</a:t>
            </a:r>
            <a:endParaRPr lang="en-US" sz="1500" dirty="0"/>
          </a:p>
        </p:txBody>
      </p:sp>
      <p:sp>
        <p:nvSpPr>
          <p:cNvPr id="37" name="Text 35"/>
          <p:cNvSpPr txBox="1"/>
          <p:nvPr/>
        </p:nvSpPr>
        <p:spPr>
          <a:xfrm>
            <a:off x="7726680" y="396849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April</a:t>
            </a:r>
            <a:endParaRPr lang="en-US" sz="1500" dirty="0"/>
          </a:p>
        </p:txBody>
      </p:sp>
      <p:sp>
        <p:nvSpPr>
          <p:cNvPr id="38" name="Text 36"/>
          <p:cNvSpPr txBox="1"/>
          <p:nvPr/>
        </p:nvSpPr>
        <p:spPr>
          <a:xfrm>
            <a:off x="9326880" y="396849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+7.2 pts</a:t>
            </a:r>
            <a:endParaRPr lang="en-US" sz="1500" dirty="0"/>
          </a:p>
        </p:txBody>
      </p:sp>
      <p:sp>
        <p:nvSpPr>
          <p:cNvPr id="39" name="Text 37"/>
          <p:cNvSpPr txBox="1"/>
          <p:nvPr/>
        </p:nvSpPr>
        <p:spPr>
          <a:xfrm>
            <a:off x="749808" y="451713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MAZDA</a:t>
            </a:r>
            <a:endParaRPr lang="en-US" sz="1500" dirty="0"/>
          </a:p>
        </p:txBody>
      </p:sp>
      <p:sp>
        <p:nvSpPr>
          <p:cNvPr id="40" name="Text 38"/>
          <p:cNvSpPr txBox="1"/>
          <p:nvPr/>
        </p:nvSpPr>
        <p:spPr>
          <a:xfrm>
            <a:off x="3520440" y="451713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Opcodes · alignment</a:t>
            </a:r>
            <a:endParaRPr lang="en-US" sz="1500" dirty="0"/>
          </a:p>
        </p:txBody>
      </p:sp>
      <p:sp>
        <p:nvSpPr>
          <p:cNvPr id="41" name="Text 39"/>
          <p:cNvSpPr txBox="1"/>
          <p:nvPr/>
        </p:nvSpPr>
        <p:spPr>
          <a:xfrm>
            <a:off x="5669280" y="451713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12.6% → 22.8%</a:t>
            </a:r>
            <a:endParaRPr lang="en-US" sz="1500" dirty="0"/>
          </a:p>
        </p:txBody>
      </p:sp>
      <p:sp>
        <p:nvSpPr>
          <p:cNvPr id="42" name="Text 40"/>
          <p:cNvSpPr txBox="1"/>
          <p:nvPr/>
        </p:nvSpPr>
        <p:spPr>
          <a:xfrm>
            <a:off x="7726680" y="451713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August</a:t>
            </a:r>
            <a:endParaRPr lang="en-US" sz="1500" dirty="0"/>
          </a:p>
        </p:txBody>
      </p:sp>
      <p:sp>
        <p:nvSpPr>
          <p:cNvPr id="43" name="Text 41"/>
          <p:cNvSpPr txBox="1"/>
          <p:nvPr/>
        </p:nvSpPr>
        <p:spPr>
          <a:xfrm>
            <a:off x="9326880" y="451713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+10.1 pts</a:t>
            </a:r>
            <a:endParaRPr lang="en-US" sz="1500" dirty="0"/>
          </a:p>
        </p:txBody>
      </p:sp>
      <p:sp>
        <p:nvSpPr>
          <p:cNvPr id="44" name="Shape 42"/>
          <p:cNvSpPr/>
          <p:nvPr/>
        </p:nvSpPr>
        <p:spPr>
          <a:xfrm>
            <a:off x="457200" y="6126480"/>
            <a:ext cx="11274552" cy="364236"/>
          </a:xfrm>
          <a:prstGeom prst="rect">
            <a:avLst/>
          </a:prstGeom>
          <a:solidFill>
            <a:srgbClr val="EDF4FA"/>
          </a:solidFill>
          <a:ln/>
        </p:spPr>
      </p:sp>
      <p:sp>
        <p:nvSpPr>
          <p:cNvPr id="45" name="Text 43"/>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Four stores, one question each: what did you start doing that month? One sentence, before you leave.</a:t>
            </a:r>
            <a:endParaRPr lang="en-US" sz="1550" dirty="0"/>
          </a:p>
        </p:txBody>
      </p:sp>
    </p:spTree>
  </p:cSld>
  <p:clrMapOvr>
    <a:masterClrMapping/>
  </p:clrMapOvr>
</p:sld>
</file>

<file path=ppt/slides/slide17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Where the Money Is</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353312"/>
            <a:ext cx="4023360" cy="310896"/>
          </a:xfrm>
          <a:prstGeom prst="rect">
            <a:avLst/>
          </a:prstGeom>
          <a:noFill/>
          <a:ln/>
        </p:spPr>
        <p:txBody>
          <a:bodyPr wrap="square" lIns="0" tIns="0" rIns="0" bIns="0" rtlCol="0" anchor="ctr"/>
          <a:lstStyle/>
          <a:p>
            <a:pPr algn="l" indent="0" marL="0">
              <a:buNone/>
            </a:pPr>
            <a:r>
              <a:rPr lang="en-US" sz="1400" b="1" spc="100" kern="0" dirty="0">
                <a:solidFill>
                  <a:srgbClr val="0B2C4A"/>
                </a:solidFill>
                <a:latin typeface="Inter" pitchFamily="34" charset="0"/>
                <a:ea typeface="Inter" pitchFamily="34" charset="-122"/>
                <a:cs typeface="Inter" pitchFamily="34" charset="-120"/>
              </a:rPr>
              <a:t>THE LEVER</a:t>
            </a:r>
            <a:endParaRPr lang="en-US" sz="1400" dirty="0"/>
          </a:p>
        </p:txBody>
      </p:sp>
      <p:sp>
        <p:nvSpPr>
          <p:cNvPr id="7" name="Text 5"/>
          <p:cNvSpPr txBox="1"/>
          <p:nvPr/>
        </p:nvSpPr>
        <p:spPr>
          <a:xfrm>
            <a:off x="4754880" y="1353312"/>
            <a:ext cx="2103120" cy="310896"/>
          </a:xfrm>
          <a:prstGeom prst="rect">
            <a:avLst/>
          </a:prstGeom>
          <a:noFill/>
          <a:ln/>
        </p:spPr>
        <p:txBody>
          <a:bodyPr wrap="square" lIns="0" tIns="0" rIns="0" bIns="0" rtlCol="0" anchor="ctr"/>
          <a:lstStyle/>
          <a:p>
            <a:pPr algn="r" indent="0" marL="0">
              <a:buNone/>
            </a:pPr>
            <a:r>
              <a:rPr lang="en-US" sz="1400" b="1" spc="100" kern="0" dirty="0">
                <a:solidFill>
                  <a:srgbClr val="0B2C4A"/>
                </a:solidFill>
                <a:latin typeface="Inter" pitchFamily="34" charset="0"/>
                <a:ea typeface="Inter" pitchFamily="34" charset="-122"/>
                <a:cs typeface="Inter" pitchFamily="34" charset="-120"/>
              </a:rPr>
              <a:t>GROSS A YEAR</a:t>
            </a:r>
            <a:endParaRPr lang="en-US" sz="1400" dirty="0"/>
          </a:p>
        </p:txBody>
      </p:sp>
      <p:sp>
        <p:nvSpPr>
          <p:cNvPr id="8" name="Text 6"/>
          <p:cNvSpPr txBox="1"/>
          <p:nvPr/>
        </p:nvSpPr>
        <p:spPr>
          <a:xfrm>
            <a:off x="7178040" y="1353312"/>
            <a:ext cx="2651760" cy="310896"/>
          </a:xfrm>
          <a:prstGeom prst="rect">
            <a:avLst/>
          </a:prstGeom>
          <a:noFill/>
          <a:ln/>
        </p:spPr>
        <p:txBody>
          <a:bodyPr wrap="square" lIns="0" tIns="0" rIns="0" bIns="0" rtlCol="0" anchor="ctr"/>
          <a:lstStyle/>
          <a:p>
            <a:pPr algn="l" indent="0" marL="0">
              <a:buNone/>
            </a:pPr>
            <a:r>
              <a:rPr lang="en-US" sz="1400" b="1" spc="100" kern="0" dirty="0">
                <a:solidFill>
                  <a:srgbClr val="0B2C4A"/>
                </a:solidFill>
                <a:latin typeface="Inter" pitchFamily="34" charset="0"/>
                <a:ea typeface="Inter" pitchFamily="34" charset="-122"/>
                <a:cs typeface="Inter" pitchFamily="34" charset="-120"/>
              </a:rPr>
              <a:t>HOW</a:t>
            </a:r>
            <a:endParaRPr lang="en-US" sz="1400" dirty="0"/>
          </a:p>
        </p:txBody>
      </p:sp>
      <p:sp>
        <p:nvSpPr>
          <p:cNvPr id="9" name="Text 7"/>
          <p:cNvSpPr txBox="1"/>
          <p:nvPr/>
        </p:nvSpPr>
        <p:spPr>
          <a:xfrm>
            <a:off x="9875520" y="1353312"/>
            <a:ext cx="1691640" cy="310896"/>
          </a:xfrm>
          <a:prstGeom prst="rect">
            <a:avLst/>
          </a:prstGeom>
          <a:noFill/>
          <a:ln/>
        </p:spPr>
        <p:txBody>
          <a:bodyPr wrap="square" lIns="0" tIns="0" rIns="0" bIns="0" rtlCol="0" anchor="ctr"/>
          <a:lstStyle/>
          <a:p>
            <a:pPr algn="l" indent="0" marL="0">
              <a:buNone/>
            </a:pPr>
            <a:r>
              <a:rPr lang="en-US" sz="1400" b="1" spc="100" kern="0" dirty="0">
                <a:solidFill>
                  <a:srgbClr val="0B2C4A"/>
                </a:solidFill>
                <a:latin typeface="Inter" pitchFamily="34" charset="0"/>
                <a:ea typeface="Inter" pitchFamily="34" charset="-122"/>
                <a:cs typeface="Inter" pitchFamily="34" charset="-120"/>
              </a:rPr>
              <a:t>WHO OWNS IT</a:t>
            </a:r>
            <a:endParaRPr lang="en-US" sz="1400" dirty="0"/>
          </a:p>
        </p:txBody>
      </p:sp>
      <p:sp>
        <p:nvSpPr>
          <p:cNvPr id="10" name="Shape 8"/>
          <p:cNvSpPr/>
          <p:nvPr/>
        </p:nvSpPr>
        <p:spPr>
          <a:xfrm>
            <a:off x="548640" y="1755648"/>
            <a:ext cx="11091672" cy="713232"/>
          </a:xfrm>
          <a:prstGeom prst="rect">
            <a:avLst/>
          </a:prstGeom>
          <a:solidFill>
            <a:srgbClr val="F7F7F7"/>
          </a:solidFill>
          <a:ln/>
        </p:spPr>
      </p:sp>
      <p:sp>
        <p:nvSpPr>
          <p:cNvPr id="11" name="Shape 9"/>
          <p:cNvSpPr/>
          <p:nvPr/>
        </p:nvSpPr>
        <p:spPr>
          <a:xfrm>
            <a:off x="548640" y="1755648"/>
            <a:ext cx="64008" cy="713232"/>
          </a:xfrm>
          <a:prstGeom prst="rect">
            <a:avLst/>
          </a:prstGeom>
          <a:solidFill>
            <a:srgbClr val="12A566"/>
          </a:solidFill>
          <a:ln/>
        </p:spPr>
      </p:sp>
      <p:sp>
        <p:nvSpPr>
          <p:cNvPr id="12" name="Text 10"/>
          <p:cNvSpPr txBox="1"/>
          <p:nvPr/>
        </p:nvSpPr>
        <p:spPr>
          <a:xfrm>
            <a:off x="749808" y="1755648"/>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Every tech under 85% reaches 85%</a:t>
            </a:r>
            <a:endParaRPr lang="en-US" sz="1700" dirty="0"/>
          </a:p>
        </p:txBody>
      </p:sp>
      <p:sp>
        <p:nvSpPr>
          <p:cNvPr id="13" name="Text 11"/>
          <p:cNvSpPr txBox="1"/>
          <p:nvPr/>
        </p:nvSpPr>
        <p:spPr>
          <a:xfrm>
            <a:off x="4754880" y="1755648"/>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$19,763,184</a:t>
            </a:r>
            <a:endParaRPr lang="en-US" sz="2400" dirty="0"/>
          </a:p>
        </p:txBody>
      </p:sp>
      <p:sp>
        <p:nvSpPr>
          <p:cNvPr id="14" name="Text 12"/>
          <p:cNvSpPr txBox="1"/>
          <p:nvPr/>
        </p:nvSpPr>
        <p:spPr>
          <a:xfrm>
            <a:off x="7178040" y="1755648"/>
            <a:ext cx="2606040" cy="7132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Dispatch, parts staging, approvals, coaching</a:t>
            </a:r>
            <a:endParaRPr lang="en-US" sz="1400" dirty="0"/>
          </a:p>
        </p:txBody>
      </p:sp>
      <p:sp>
        <p:nvSpPr>
          <p:cNvPr id="15" name="Shape 13"/>
          <p:cNvSpPr/>
          <p:nvPr/>
        </p:nvSpPr>
        <p:spPr>
          <a:xfrm>
            <a:off x="9875520" y="1810512"/>
            <a:ext cx="1691640" cy="274320"/>
          </a:xfrm>
          <a:prstGeom prst="roundRect">
            <a:avLst>
              <a:gd name="adj" fmla="val 20000"/>
            </a:avLst>
          </a:prstGeom>
          <a:solidFill>
            <a:srgbClr val="EDF4FA"/>
          </a:solidFill>
          <a:ln w="9525">
            <a:solidFill>
              <a:srgbClr val="0B2C4A"/>
            </a:solidFill>
            <a:prstDash val="solid"/>
          </a:ln>
        </p:spPr>
      </p:sp>
      <p:sp>
        <p:nvSpPr>
          <p:cNvPr id="16" name="Text 14"/>
          <p:cNvSpPr txBox="1"/>
          <p:nvPr/>
        </p:nvSpPr>
        <p:spPr>
          <a:xfrm>
            <a:off x="9875520" y="1810512"/>
            <a:ext cx="1691640" cy="274320"/>
          </a:xfrm>
          <a:prstGeom prst="rect">
            <a:avLst/>
          </a:prstGeom>
          <a:noFill/>
          <a:ln/>
        </p:spPr>
        <p:txBody>
          <a:bodyPr wrap="square" lIns="0" tIns="0" rIns="0" bIns="0" rtlCol="0" anchor="ctr"/>
          <a:lstStyle/>
          <a:p>
            <a:pPr algn="ctr" indent="0" marL="0">
              <a:buNone/>
            </a:pPr>
            <a:r>
              <a:rPr lang="en-US" sz="1400" b="1" dirty="0">
                <a:solidFill>
                  <a:srgbClr val="0B2C4A"/>
                </a:solidFill>
                <a:latin typeface="Inter" pitchFamily="34" charset="0"/>
                <a:ea typeface="Inter" pitchFamily="34" charset="-122"/>
                <a:cs typeface="Inter" pitchFamily="34" charset="-120"/>
              </a:rPr>
              <a:t>Service manager</a:t>
            </a:r>
            <a:endParaRPr lang="en-US" sz="1400" dirty="0"/>
          </a:p>
        </p:txBody>
      </p:sp>
      <p:sp>
        <p:nvSpPr>
          <p:cNvPr id="17" name="Shape 15"/>
          <p:cNvSpPr/>
          <p:nvPr/>
        </p:nvSpPr>
        <p:spPr>
          <a:xfrm>
            <a:off x="9875520" y="2139696"/>
            <a:ext cx="566928" cy="274320"/>
          </a:xfrm>
          <a:prstGeom prst="roundRect">
            <a:avLst>
              <a:gd name="adj" fmla="val 20000"/>
            </a:avLst>
          </a:prstGeom>
          <a:solidFill>
            <a:srgbClr val="0B2C4A"/>
          </a:solidFill>
          <a:ln w="9525">
            <a:solidFill>
              <a:srgbClr val="0B2C4A"/>
            </a:solidFill>
            <a:prstDash val="solid"/>
          </a:ln>
        </p:spPr>
      </p:sp>
      <p:sp>
        <p:nvSpPr>
          <p:cNvPr id="18" name="Text 16"/>
          <p:cNvSpPr txBox="1"/>
          <p:nvPr/>
        </p:nvSpPr>
        <p:spPr>
          <a:xfrm>
            <a:off x="9875520" y="2139696"/>
            <a:ext cx="566928" cy="274320"/>
          </a:xfrm>
          <a:prstGeom prst="rect">
            <a:avLst/>
          </a:prstGeom>
          <a:noFill/>
          <a:ln/>
        </p:spPr>
        <p:txBody>
          <a:bodyPr wrap="squar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GM</a:t>
            </a:r>
            <a:endParaRPr lang="en-US" sz="1400" dirty="0"/>
          </a:p>
        </p:txBody>
      </p:sp>
      <p:sp>
        <p:nvSpPr>
          <p:cNvPr id="19" name="Shape 17"/>
          <p:cNvSpPr/>
          <p:nvPr/>
        </p:nvSpPr>
        <p:spPr>
          <a:xfrm>
            <a:off x="548640" y="2542032"/>
            <a:ext cx="11091672" cy="713232"/>
          </a:xfrm>
          <a:prstGeom prst="rect">
            <a:avLst/>
          </a:prstGeom>
          <a:solidFill>
            <a:srgbClr val="FFFFFF"/>
          </a:solidFill>
          <a:ln/>
        </p:spPr>
      </p:sp>
      <p:sp>
        <p:nvSpPr>
          <p:cNvPr id="20" name="Shape 18"/>
          <p:cNvSpPr/>
          <p:nvPr/>
        </p:nvSpPr>
        <p:spPr>
          <a:xfrm>
            <a:off x="548640" y="2542032"/>
            <a:ext cx="64008" cy="713232"/>
          </a:xfrm>
          <a:prstGeom prst="rect">
            <a:avLst/>
          </a:prstGeom>
          <a:solidFill>
            <a:srgbClr val="12A566"/>
          </a:solidFill>
          <a:ln/>
        </p:spPr>
      </p:sp>
      <p:sp>
        <p:nvSpPr>
          <p:cNvPr id="21" name="Text 19"/>
          <p:cNvSpPr txBox="1"/>
          <p:nvPr/>
        </p:nvSpPr>
        <p:spPr>
          <a:xfrm>
            <a:off x="749808" y="2542032"/>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0.1 more hours on every CP RO</a:t>
            </a:r>
            <a:endParaRPr lang="en-US" sz="1700" dirty="0"/>
          </a:p>
        </p:txBody>
      </p:sp>
      <p:sp>
        <p:nvSpPr>
          <p:cNvPr id="22" name="Text 20"/>
          <p:cNvSpPr txBox="1"/>
          <p:nvPr/>
        </p:nvSpPr>
        <p:spPr>
          <a:xfrm>
            <a:off x="4754880" y="2542032"/>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$6,602,564</a:t>
            </a:r>
            <a:endParaRPr lang="en-US" sz="2400" dirty="0"/>
          </a:p>
        </p:txBody>
      </p:sp>
      <p:sp>
        <p:nvSpPr>
          <p:cNvPr id="23" name="Text 21"/>
          <p:cNvSpPr txBox="1"/>
          <p:nvPr/>
        </p:nvSpPr>
        <p:spPr>
          <a:xfrm>
            <a:off x="7178040" y="2542032"/>
            <a:ext cx="2606040" cy="7132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MPI on every car, the menu, Road to the Sale</a:t>
            </a:r>
            <a:endParaRPr lang="en-US" sz="1400" dirty="0"/>
          </a:p>
        </p:txBody>
      </p:sp>
      <p:sp>
        <p:nvSpPr>
          <p:cNvPr id="24" name="Shape 22"/>
          <p:cNvSpPr/>
          <p:nvPr/>
        </p:nvSpPr>
        <p:spPr>
          <a:xfrm>
            <a:off x="9875520" y="2761488"/>
            <a:ext cx="1691640" cy="274320"/>
          </a:xfrm>
          <a:prstGeom prst="roundRect">
            <a:avLst>
              <a:gd name="adj" fmla="val 20000"/>
            </a:avLst>
          </a:prstGeom>
          <a:solidFill>
            <a:srgbClr val="EDF4FA"/>
          </a:solidFill>
          <a:ln w="9525">
            <a:solidFill>
              <a:srgbClr val="0B2C4A"/>
            </a:solidFill>
            <a:prstDash val="solid"/>
          </a:ln>
        </p:spPr>
      </p:sp>
      <p:sp>
        <p:nvSpPr>
          <p:cNvPr id="25" name="Text 23"/>
          <p:cNvSpPr txBox="1"/>
          <p:nvPr/>
        </p:nvSpPr>
        <p:spPr>
          <a:xfrm>
            <a:off x="9875520" y="2761488"/>
            <a:ext cx="1691640" cy="274320"/>
          </a:xfrm>
          <a:prstGeom prst="rect">
            <a:avLst/>
          </a:prstGeom>
          <a:noFill/>
          <a:ln/>
        </p:spPr>
        <p:txBody>
          <a:bodyPr wrap="square" lIns="0" tIns="0" rIns="0" bIns="0" rtlCol="0" anchor="ctr"/>
          <a:lstStyle/>
          <a:p>
            <a:pPr algn="ctr" indent="0" marL="0">
              <a:buNone/>
            </a:pPr>
            <a:r>
              <a:rPr lang="en-US" sz="1400" b="1" dirty="0">
                <a:solidFill>
                  <a:srgbClr val="0B2C4A"/>
                </a:solidFill>
                <a:latin typeface="Inter" pitchFamily="34" charset="0"/>
                <a:ea typeface="Inter" pitchFamily="34" charset="-122"/>
                <a:cs typeface="Inter" pitchFamily="34" charset="-120"/>
              </a:rPr>
              <a:t>Service manager</a:t>
            </a:r>
            <a:endParaRPr lang="en-US" sz="1400" dirty="0"/>
          </a:p>
        </p:txBody>
      </p:sp>
      <p:sp>
        <p:nvSpPr>
          <p:cNvPr id="26" name="Shape 24"/>
          <p:cNvSpPr/>
          <p:nvPr/>
        </p:nvSpPr>
        <p:spPr>
          <a:xfrm>
            <a:off x="548640" y="3328416"/>
            <a:ext cx="11091672" cy="713232"/>
          </a:xfrm>
          <a:prstGeom prst="rect">
            <a:avLst/>
          </a:prstGeom>
          <a:solidFill>
            <a:srgbClr val="F7F7F7"/>
          </a:solidFill>
          <a:ln/>
        </p:spPr>
      </p:sp>
      <p:sp>
        <p:nvSpPr>
          <p:cNvPr id="27" name="Shape 25"/>
          <p:cNvSpPr/>
          <p:nvPr/>
        </p:nvSpPr>
        <p:spPr>
          <a:xfrm>
            <a:off x="548640" y="3328416"/>
            <a:ext cx="64008" cy="713232"/>
          </a:xfrm>
          <a:prstGeom prst="rect">
            <a:avLst/>
          </a:prstGeom>
          <a:solidFill>
            <a:srgbClr val="12A566"/>
          </a:solidFill>
          <a:ln/>
        </p:spPr>
      </p:sp>
      <p:sp>
        <p:nvSpPr>
          <p:cNvPr id="28" name="Text 26"/>
          <p:cNvSpPr txBox="1"/>
          <p:nvPr/>
        </p:nvSpPr>
        <p:spPr>
          <a:xfrm>
            <a:off x="749808" y="3328416"/>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Every store at the four op code benchmarks</a:t>
            </a:r>
            <a:endParaRPr lang="en-US" sz="1700" dirty="0"/>
          </a:p>
        </p:txBody>
      </p:sp>
      <p:sp>
        <p:nvSpPr>
          <p:cNvPr id="29" name="Text 27"/>
          <p:cNvSpPr txBox="1"/>
          <p:nvPr/>
        </p:nvSpPr>
        <p:spPr>
          <a:xfrm>
            <a:off x="4754880" y="3328416"/>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$4,895,199</a:t>
            </a:r>
            <a:endParaRPr lang="en-US" sz="2400" dirty="0"/>
          </a:p>
        </p:txBody>
      </p:sp>
      <p:sp>
        <p:nvSpPr>
          <p:cNvPr id="30" name="Text 28"/>
          <p:cNvSpPr txBox="1"/>
          <p:nvPr/>
        </p:nvSpPr>
        <p:spPr>
          <a:xfrm>
            <a:off x="7178040" y="3328416"/>
            <a:ext cx="2606040" cy="7132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Alignment, balance, brake fluid, fuel service</a:t>
            </a:r>
            <a:endParaRPr lang="en-US" sz="1400" dirty="0"/>
          </a:p>
        </p:txBody>
      </p:sp>
      <p:sp>
        <p:nvSpPr>
          <p:cNvPr id="31" name="Shape 29"/>
          <p:cNvSpPr/>
          <p:nvPr/>
        </p:nvSpPr>
        <p:spPr>
          <a:xfrm>
            <a:off x="9875520" y="3547872"/>
            <a:ext cx="1691640" cy="274320"/>
          </a:xfrm>
          <a:prstGeom prst="roundRect">
            <a:avLst>
              <a:gd name="adj" fmla="val 20000"/>
            </a:avLst>
          </a:prstGeom>
          <a:solidFill>
            <a:srgbClr val="EDF4FA"/>
          </a:solidFill>
          <a:ln w="9525">
            <a:solidFill>
              <a:srgbClr val="0B2C4A"/>
            </a:solidFill>
            <a:prstDash val="solid"/>
          </a:ln>
        </p:spPr>
      </p:sp>
      <p:sp>
        <p:nvSpPr>
          <p:cNvPr id="32" name="Text 30"/>
          <p:cNvSpPr txBox="1"/>
          <p:nvPr/>
        </p:nvSpPr>
        <p:spPr>
          <a:xfrm>
            <a:off x="9875520" y="3547872"/>
            <a:ext cx="1691640" cy="274320"/>
          </a:xfrm>
          <a:prstGeom prst="rect">
            <a:avLst/>
          </a:prstGeom>
          <a:noFill/>
          <a:ln/>
        </p:spPr>
        <p:txBody>
          <a:bodyPr wrap="square" lIns="0" tIns="0" rIns="0" bIns="0" rtlCol="0" anchor="ctr"/>
          <a:lstStyle/>
          <a:p>
            <a:pPr algn="ctr" indent="0" marL="0">
              <a:buNone/>
            </a:pPr>
            <a:r>
              <a:rPr lang="en-US" sz="1400" b="1" dirty="0">
                <a:solidFill>
                  <a:srgbClr val="0B2C4A"/>
                </a:solidFill>
                <a:latin typeface="Inter" pitchFamily="34" charset="0"/>
                <a:ea typeface="Inter" pitchFamily="34" charset="-122"/>
                <a:cs typeface="Inter" pitchFamily="34" charset="-120"/>
              </a:rPr>
              <a:t>Service manager</a:t>
            </a:r>
            <a:endParaRPr lang="en-US" sz="1400" dirty="0"/>
          </a:p>
        </p:txBody>
      </p:sp>
      <p:sp>
        <p:nvSpPr>
          <p:cNvPr id="33" name="Shape 31"/>
          <p:cNvSpPr/>
          <p:nvPr/>
        </p:nvSpPr>
        <p:spPr>
          <a:xfrm>
            <a:off x="548640" y="4114800"/>
            <a:ext cx="11091672" cy="713232"/>
          </a:xfrm>
          <a:prstGeom prst="rect">
            <a:avLst/>
          </a:prstGeom>
          <a:solidFill>
            <a:srgbClr val="FFFFFF"/>
          </a:solidFill>
          <a:ln/>
        </p:spPr>
      </p:sp>
      <p:sp>
        <p:nvSpPr>
          <p:cNvPr id="34" name="Shape 32"/>
          <p:cNvSpPr/>
          <p:nvPr/>
        </p:nvSpPr>
        <p:spPr>
          <a:xfrm>
            <a:off x="548640" y="4114800"/>
            <a:ext cx="64008" cy="713232"/>
          </a:xfrm>
          <a:prstGeom prst="rect">
            <a:avLst/>
          </a:prstGeom>
          <a:solidFill>
            <a:srgbClr val="12A566"/>
          </a:solidFill>
          <a:ln/>
        </p:spPr>
      </p:sp>
      <p:sp>
        <p:nvSpPr>
          <p:cNvPr id="35" name="Text 33"/>
          <p:cNvSpPr txBox="1"/>
          <p:nvPr/>
        </p:nvSpPr>
        <p:spPr>
          <a:xfrm>
            <a:off x="749808" y="4114800"/>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One more customer-pay RO a day</a:t>
            </a:r>
            <a:endParaRPr lang="en-US" sz="1700" dirty="0"/>
          </a:p>
        </p:txBody>
      </p:sp>
      <p:sp>
        <p:nvSpPr>
          <p:cNvPr id="36" name="Text 34"/>
          <p:cNvSpPr txBox="1"/>
          <p:nvPr/>
        </p:nvSpPr>
        <p:spPr>
          <a:xfrm>
            <a:off x="4754880" y="4114800"/>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$4,473,284</a:t>
            </a:r>
            <a:endParaRPr lang="en-US" sz="2400" dirty="0"/>
          </a:p>
        </p:txBody>
      </p:sp>
      <p:sp>
        <p:nvSpPr>
          <p:cNvPr id="37" name="Text 35"/>
          <p:cNvSpPr txBox="1"/>
          <p:nvPr/>
        </p:nvSpPr>
        <p:spPr>
          <a:xfrm>
            <a:off x="7178040" y="4114800"/>
            <a:ext cx="2606040" cy="7132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Phones, scheduler, retention, marketing</a:t>
            </a:r>
            <a:endParaRPr lang="en-US" sz="1400" dirty="0"/>
          </a:p>
        </p:txBody>
      </p:sp>
      <p:sp>
        <p:nvSpPr>
          <p:cNvPr id="38" name="Shape 36"/>
          <p:cNvSpPr/>
          <p:nvPr/>
        </p:nvSpPr>
        <p:spPr>
          <a:xfrm>
            <a:off x="9875520" y="4169664"/>
            <a:ext cx="566928" cy="274320"/>
          </a:xfrm>
          <a:prstGeom prst="roundRect">
            <a:avLst>
              <a:gd name="adj" fmla="val 20000"/>
            </a:avLst>
          </a:prstGeom>
          <a:solidFill>
            <a:srgbClr val="0B2C4A"/>
          </a:solidFill>
          <a:ln w="9525">
            <a:solidFill>
              <a:srgbClr val="0B2C4A"/>
            </a:solidFill>
            <a:prstDash val="solid"/>
          </a:ln>
        </p:spPr>
      </p:sp>
      <p:sp>
        <p:nvSpPr>
          <p:cNvPr id="39" name="Text 37"/>
          <p:cNvSpPr txBox="1"/>
          <p:nvPr/>
        </p:nvSpPr>
        <p:spPr>
          <a:xfrm>
            <a:off x="9875520" y="4169664"/>
            <a:ext cx="566928" cy="274320"/>
          </a:xfrm>
          <a:prstGeom prst="rect">
            <a:avLst/>
          </a:prstGeom>
          <a:noFill/>
          <a:ln/>
        </p:spPr>
        <p:txBody>
          <a:bodyPr wrap="squar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GM</a:t>
            </a:r>
            <a:endParaRPr lang="en-US" sz="1400" dirty="0"/>
          </a:p>
        </p:txBody>
      </p:sp>
      <p:sp>
        <p:nvSpPr>
          <p:cNvPr id="40" name="Shape 38"/>
          <p:cNvSpPr/>
          <p:nvPr/>
        </p:nvSpPr>
        <p:spPr>
          <a:xfrm>
            <a:off x="9875520" y="4498848"/>
            <a:ext cx="1691640" cy="274320"/>
          </a:xfrm>
          <a:prstGeom prst="roundRect">
            <a:avLst>
              <a:gd name="adj" fmla="val 20000"/>
            </a:avLst>
          </a:prstGeom>
          <a:solidFill>
            <a:srgbClr val="EDF4FA"/>
          </a:solidFill>
          <a:ln w="9525">
            <a:solidFill>
              <a:srgbClr val="0B2C4A"/>
            </a:solidFill>
            <a:prstDash val="solid"/>
          </a:ln>
        </p:spPr>
      </p:sp>
      <p:sp>
        <p:nvSpPr>
          <p:cNvPr id="41" name="Text 39"/>
          <p:cNvSpPr txBox="1"/>
          <p:nvPr/>
        </p:nvSpPr>
        <p:spPr>
          <a:xfrm>
            <a:off x="9875520" y="4498848"/>
            <a:ext cx="1691640" cy="274320"/>
          </a:xfrm>
          <a:prstGeom prst="rect">
            <a:avLst/>
          </a:prstGeom>
          <a:noFill/>
          <a:ln/>
        </p:spPr>
        <p:txBody>
          <a:bodyPr wrap="square" lIns="0" tIns="0" rIns="0" bIns="0" rtlCol="0" anchor="ctr"/>
          <a:lstStyle/>
          <a:p>
            <a:pPr algn="ctr" indent="0" marL="0">
              <a:buNone/>
            </a:pPr>
            <a:r>
              <a:rPr lang="en-US" sz="1400" b="1" dirty="0">
                <a:solidFill>
                  <a:srgbClr val="0B2C4A"/>
                </a:solidFill>
                <a:latin typeface="Inter" pitchFamily="34" charset="0"/>
                <a:ea typeface="Inter" pitchFamily="34" charset="-122"/>
                <a:cs typeface="Inter" pitchFamily="34" charset="-120"/>
              </a:rPr>
              <a:t>Service manager</a:t>
            </a:r>
            <a:endParaRPr lang="en-US" sz="1400" dirty="0"/>
          </a:p>
        </p:txBody>
      </p:sp>
      <p:sp>
        <p:nvSpPr>
          <p:cNvPr id="42" name="Shape 40"/>
          <p:cNvSpPr/>
          <p:nvPr/>
        </p:nvSpPr>
        <p:spPr>
          <a:xfrm>
            <a:off x="548640" y="4901184"/>
            <a:ext cx="11091672" cy="713232"/>
          </a:xfrm>
          <a:prstGeom prst="rect">
            <a:avLst/>
          </a:prstGeom>
          <a:solidFill>
            <a:srgbClr val="F7F7F7"/>
          </a:solidFill>
          <a:ln/>
        </p:spPr>
      </p:sp>
      <p:sp>
        <p:nvSpPr>
          <p:cNvPr id="43" name="Shape 41"/>
          <p:cNvSpPr/>
          <p:nvPr/>
        </p:nvSpPr>
        <p:spPr>
          <a:xfrm>
            <a:off x="548640" y="4901184"/>
            <a:ext cx="64008" cy="713232"/>
          </a:xfrm>
          <a:prstGeom prst="rect">
            <a:avLst/>
          </a:prstGeom>
          <a:solidFill>
            <a:srgbClr val="12A566"/>
          </a:solidFill>
          <a:ln/>
        </p:spPr>
      </p:sp>
      <p:sp>
        <p:nvSpPr>
          <p:cNvPr id="44" name="Text 42"/>
          <p:cNvSpPr txBox="1"/>
          <p:nvPr/>
        </p:nvSpPr>
        <p:spPr>
          <a:xfrm>
            <a:off x="749808" y="4901184"/>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One minute a day saved for every tech</a:t>
            </a:r>
            <a:endParaRPr lang="en-US" sz="1700" dirty="0"/>
          </a:p>
        </p:txBody>
      </p:sp>
      <p:sp>
        <p:nvSpPr>
          <p:cNvPr id="45" name="Text 43"/>
          <p:cNvSpPr txBox="1"/>
          <p:nvPr/>
        </p:nvSpPr>
        <p:spPr>
          <a:xfrm>
            <a:off x="4754880" y="4901184"/>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$444,380</a:t>
            </a:r>
            <a:endParaRPr lang="en-US" sz="2400" dirty="0"/>
          </a:p>
        </p:txBody>
      </p:sp>
      <p:sp>
        <p:nvSpPr>
          <p:cNvPr id="46" name="Text 44"/>
          <p:cNvSpPr txBox="1"/>
          <p:nvPr/>
        </p:nvSpPr>
        <p:spPr>
          <a:xfrm>
            <a:off x="7178040" y="4901184"/>
            <a:ext cx="2606040" cy="7132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Parts to the bay, tools and keys in place</a:t>
            </a:r>
            <a:endParaRPr lang="en-US" sz="1400" dirty="0"/>
          </a:p>
        </p:txBody>
      </p:sp>
      <p:sp>
        <p:nvSpPr>
          <p:cNvPr id="47" name="Shape 45"/>
          <p:cNvSpPr/>
          <p:nvPr/>
        </p:nvSpPr>
        <p:spPr>
          <a:xfrm>
            <a:off x="9875520" y="4956048"/>
            <a:ext cx="1691640" cy="274320"/>
          </a:xfrm>
          <a:prstGeom prst="roundRect">
            <a:avLst>
              <a:gd name="adj" fmla="val 20000"/>
            </a:avLst>
          </a:prstGeom>
          <a:solidFill>
            <a:srgbClr val="EDF4FA"/>
          </a:solidFill>
          <a:ln w="9525">
            <a:solidFill>
              <a:srgbClr val="0B2C4A"/>
            </a:solidFill>
            <a:prstDash val="solid"/>
          </a:ln>
        </p:spPr>
      </p:sp>
      <p:sp>
        <p:nvSpPr>
          <p:cNvPr id="48" name="Text 46"/>
          <p:cNvSpPr txBox="1"/>
          <p:nvPr/>
        </p:nvSpPr>
        <p:spPr>
          <a:xfrm>
            <a:off x="9875520" y="4956048"/>
            <a:ext cx="1691640" cy="274320"/>
          </a:xfrm>
          <a:prstGeom prst="rect">
            <a:avLst/>
          </a:prstGeom>
          <a:noFill/>
          <a:ln/>
        </p:spPr>
        <p:txBody>
          <a:bodyPr wrap="square" lIns="0" tIns="0" rIns="0" bIns="0" rtlCol="0" anchor="ctr"/>
          <a:lstStyle/>
          <a:p>
            <a:pPr algn="ctr" indent="0" marL="0">
              <a:buNone/>
            </a:pPr>
            <a:r>
              <a:rPr lang="en-US" sz="1400" b="1" dirty="0">
                <a:solidFill>
                  <a:srgbClr val="0B2C4A"/>
                </a:solidFill>
                <a:latin typeface="Inter" pitchFamily="34" charset="0"/>
                <a:ea typeface="Inter" pitchFamily="34" charset="-122"/>
                <a:cs typeface="Inter" pitchFamily="34" charset="-120"/>
              </a:rPr>
              <a:t>Service manager</a:t>
            </a:r>
            <a:endParaRPr lang="en-US" sz="1400" dirty="0"/>
          </a:p>
        </p:txBody>
      </p:sp>
      <p:sp>
        <p:nvSpPr>
          <p:cNvPr id="49" name="Shape 47"/>
          <p:cNvSpPr/>
          <p:nvPr/>
        </p:nvSpPr>
        <p:spPr>
          <a:xfrm>
            <a:off x="9875520" y="5285232"/>
            <a:ext cx="566928" cy="274320"/>
          </a:xfrm>
          <a:prstGeom prst="roundRect">
            <a:avLst>
              <a:gd name="adj" fmla="val 20000"/>
            </a:avLst>
          </a:prstGeom>
          <a:solidFill>
            <a:srgbClr val="0B2C4A"/>
          </a:solidFill>
          <a:ln w="9525">
            <a:solidFill>
              <a:srgbClr val="0B2C4A"/>
            </a:solidFill>
            <a:prstDash val="solid"/>
          </a:ln>
        </p:spPr>
      </p:sp>
      <p:sp>
        <p:nvSpPr>
          <p:cNvPr id="50" name="Text 48"/>
          <p:cNvSpPr txBox="1"/>
          <p:nvPr/>
        </p:nvSpPr>
        <p:spPr>
          <a:xfrm>
            <a:off x="9875520" y="5285232"/>
            <a:ext cx="566928" cy="274320"/>
          </a:xfrm>
          <a:prstGeom prst="rect">
            <a:avLst/>
          </a:prstGeom>
          <a:noFill/>
          <a:ln/>
        </p:spPr>
        <p:txBody>
          <a:bodyPr wrap="squar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GM</a:t>
            </a:r>
            <a:endParaRPr lang="en-US" sz="1400" dirty="0"/>
          </a:p>
        </p:txBody>
      </p:sp>
      <p:sp>
        <p:nvSpPr>
          <p:cNvPr id="51" name="Shape 49"/>
          <p:cNvSpPr/>
          <p:nvPr/>
        </p:nvSpPr>
        <p:spPr>
          <a:xfrm>
            <a:off x="457200" y="6126480"/>
            <a:ext cx="11274552" cy="615696"/>
          </a:xfrm>
          <a:prstGeom prst="rect">
            <a:avLst/>
          </a:prstGeom>
          <a:solidFill>
            <a:srgbClr val="E6F6EE"/>
          </a:solidFill>
          <a:ln/>
        </p:spPr>
      </p:sp>
      <p:sp>
        <p:nvSpPr>
          <p:cNvPr id="52" name="Text 5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Every number is gross on cars, bays and techs we already have, except one more RO a day. They overlap, so read each on its own.</a:t>
            </a:r>
            <a:endParaRPr lang="en-US" sz="1600" dirty="0"/>
          </a:p>
        </p:txBody>
      </p:sp>
    </p:spTree>
  </p:cSld>
  <p:clrMapOvr>
    <a:masterClrMapping/>
  </p:clrMapOvr>
</p:sld>
</file>

<file path=ppt/slides/slide17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Before You Leave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THE MONEY IS</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What did you learn today?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Give us one or two things you are going to act on and implement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Do you want to do this again?</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Reach this room in FMGSVCMGR</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0.1 hr per RO</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Worth $4,543,691 of labor at today's ELR.</a:t>
            </a:r>
            <a:endParaRPr lang="en-US" sz="1400" dirty="0"/>
          </a:p>
        </p:txBody>
      </p:sp>
      <p:sp>
        <p:nvSpPr>
          <p:cNvPr id="13" name="Shape 11"/>
          <p:cNvSpPr/>
          <p:nvPr/>
        </p:nvSpPr>
        <p:spPr>
          <a:xfrm>
            <a:off x="7269480" y="3261360"/>
            <a:ext cx="54864" cy="1112520"/>
          </a:xfrm>
          <a:prstGeom prst="rect">
            <a:avLst/>
          </a:prstGeom>
          <a:solidFill>
            <a:srgbClr val="C2352F"/>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18,493 balances</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The largest benchmark gap, at 8.3% against 15%.</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$1.65M a month</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Technician proficiency, lifting each tech under 85% to 85%.</a:t>
            </a:r>
            <a:endParaRPr lang="en-US" sz="1400" dirty="0"/>
          </a:p>
        </p:txBody>
      </p:sp>
      <p:sp>
        <p:nvSpPr>
          <p:cNvPr id="19" name="Shape 17"/>
          <p:cNvSpPr/>
          <p:nvPr/>
        </p:nvSpPr>
        <p:spPr>
          <a:xfrm>
            <a:off x="457200" y="6126480"/>
            <a:ext cx="11274552" cy="364236"/>
          </a:xfrm>
          <a:prstGeom prst="rect">
            <a:avLst/>
          </a:prstGeom>
          <a:solidFill>
            <a:srgbClr val="E6F6EE"/>
          </a:solidFill>
          <a:ln/>
        </p:spPr>
      </p:sp>
      <p:sp>
        <p:nvSpPr>
          <p:cNvPr id="20" name="Text 18"/>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The ask: name your one or two commitments out loud, with a number attached, before you leave the room.</a:t>
            </a:r>
            <a:endParaRPr lang="en-US" sz="1550" dirty="0"/>
          </a:p>
        </p:txBody>
      </p:sp>
    </p:spTree>
  </p:cSld>
  <p:clrMapOvr>
    <a:masterClrMapping/>
  </p:clrMapOvr>
</p:sld>
</file>

<file path=ppt/slides/slide17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STORE RECORDS · RECORD BOARD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Best January–September Ever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2642616" y="1316736"/>
            <a:ext cx="585216" cy="329184"/>
          </a:xfrm>
          <a:prstGeom prst="rect">
            <a:avLst/>
          </a:prstGeom>
          <a:noFill/>
          <a:ln/>
        </p:spPr>
        <p:txBody>
          <a:bodyPr wrap="square" lIns="0" tIns="0" rIns="0" bIns="0" rtlCol="0" anchor="ctr"/>
          <a:lstStyle/>
          <a:p>
            <a:pPr algn="ctr" indent="0" marL="0">
              <a:buNone/>
            </a:pPr>
            <a:r>
              <a:rPr lang="en-US" sz="1400" b="1" dirty="0">
                <a:solidFill>
                  <a:srgbClr val="595959"/>
                </a:solidFill>
                <a:latin typeface="Inter" pitchFamily="34" charset="0"/>
                <a:ea typeface="Inter" pitchFamily="34" charset="-122"/>
                <a:cs typeface="Inter" pitchFamily="34" charset="-120"/>
              </a:rPr>
              <a:t>SVC</a:t>
            </a:r>
            <a:endParaRPr lang="en-US" sz="1400" dirty="0"/>
          </a:p>
        </p:txBody>
      </p:sp>
      <p:sp>
        <p:nvSpPr>
          <p:cNvPr id="7" name="Text 5"/>
          <p:cNvSpPr txBox="1"/>
          <p:nvPr/>
        </p:nvSpPr>
        <p:spPr>
          <a:xfrm>
            <a:off x="3227832" y="1316736"/>
            <a:ext cx="585216" cy="329184"/>
          </a:xfrm>
          <a:prstGeom prst="rect">
            <a:avLst/>
          </a:prstGeom>
          <a:noFill/>
          <a:ln/>
        </p:spPr>
        <p:txBody>
          <a:bodyPr wrap="square" lIns="0" tIns="0" rIns="0" bIns="0" rtlCol="0" anchor="ctr"/>
          <a:lstStyle/>
          <a:p>
            <a:pPr algn="ctr" indent="0" marL="0">
              <a:buNone/>
            </a:pPr>
            <a:r>
              <a:rPr lang="en-US" sz="1400" b="1" dirty="0">
                <a:solidFill>
                  <a:srgbClr val="595959"/>
                </a:solidFill>
                <a:latin typeface="Inter" pitchFamily="34" charset="0"/>
                <a:ea typeface="Inter" pitchFamily="34" charset="-122"/>
                <a:cs typeface="Inter" pitchFamily="34" charset="-120"/>
              </a:rPr>
              <a:t>PTS</a:t>
            </a:r>
            <a:endParaRPr lang="en-US" sz="1400" dirty="0"/>
          </a:p>
        </p:txBody>
      </p:sp>
      <p:sp>
        <p:nvSpPr>
          <p:cNvPr id="8" name="Text 6"/>
          <p:cNvSpPr txBox="1"/>
          <p:nvPr/>
        </p:nvSpPr>
        <p:spPr>
          <a:xfrm>
            <a:off x="3813048" y="1316736"/>
            <a:ext cx="585216" cy="329184"/>
          </a:xfrm>
          <a:prstGeom prst="rect">
            <a:avLst/>
          </a:prstGeom>
          <a:noFill/>
          <a:ln/>
        </p:spPr>
        <p:txBody>
          <a:bodyPr wrap="square" lIns="0" tIns="0" rIns="0" bIns="0" rtlCol="0" anchor="ctr"/>
          <a:lstStyle/>
          <a:p>
            <a:pPr algn="ctr" indent="0" marL="0">
              <a:buNone/>
            </a:pPr>
            <a:r>
              <a:rPr lang="en-US" sz="1400" b="1" dirty="0">
                <a:solidFill>
                  <a:srgbClr val="595959"/>
                </a:solidFill>
                <a:latin typeface="Inter" pitchFamily="34" charset="0"/>
                <a:ea typeface="Inter" pitchFamily="34" charset="-122"/>
                <a:cs typeface="Inter" pitchFamily="34" charset="-120"/>
              </a:rPr>
              <a:t>TOT</a:t>
            </a:r>
            <a:endParaRPr lang="en-US" sz="1400" dirty="0"/>
          </a:p>
        </p:txBody>
      </p:sp>
      <p:sp>
        <p:nvSpPr>
          <p:cNvPr id="9" name="Text 7"/>
          <p:cNvSpPr txBox="1"/>
          <p:nvPr/>
        </p:nvSpPr>
        <p:spPr>
          <a:xfrm>
            <a:off x="4398264"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JAN–SEP</a:t>
            </a:r>
            <a:endParaRPr lang="en-US" sz="1400" dirty="0"/>
          </a:p>
        </p:txBody>
      </p:sp>
      <p:sp>
        <p:nvSpPr>
          <p:cNvPr id="10" name="Text 8"/>
          <p:cNvSpPr txBox="1"/>
          <p:nvPr/>
        </p:nvSpPr>
        <p:spPr>
          <a:xfrm>
            <a:off x="5239512"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VS BEST</a:t>
            </a:r>
            <a:endParaRPr lang="en-US" sz="1400" dirty="0"/>
          </a:p>
        </p:txBody>
      </p:sp>
      <p:sp>
        <p:nvSpPr>
          <p:cNvPr id="11" name="Text 9"/>
          <p:cNvSpPr txBox="1"/>
          <p:nvPr/>
        </p:nvSpPr>
        <p:spPr>
          <a:xfrm>
            <a:off x="8193024" y="1316736"/>
            <a:ext cx="585216" cy="329184"/>
          </a:xfrm>
          <a:prstGeom prst="rect">
            <a:avLst/>
          </a:prstGeom>
          <a:noFill/>
          <a:ln/>
        </p:spPr>
        <p:txBody>
          <a:bodyPr wrap="square" lIns="0" tIns="0" rIns="0" bIns="0" rtlCol="0" anchor="ctr"/>
          <a:lstStyle/>
          <a:p>
            <a:pPr algn="ctr" indent="0" marL="0">
              <a:buNone/>
            </a:pPr>
            <a:r>
              <a:rPr lang="en-US" sz="1400" b="1" dirty="0">
                <a:solidFill>
                  <a:srgbClr val="595959"/>
                </a:solidFill>
                <a:latin typeface="Inter" pitchFamily="34" charset="0"/>
                <a:ea typeface="Inter" pitchFamily="34" charset="-122"/>
                <a:cs typeface="Inter" pitchFamily="34" charset="-120"/>
              </a:rPr>
              <a:t>SVC</a:t>
            </a:r>
            <a:endParaRPr lang="en-US" sz="1400" dirty="0"/>
          </a:p>
        </p:txBody>
      </p:sp>
      <p:sp>
        <p:nvSpPr>
          <p:cNvPr id="12" name="Text 10"/>
          <p:cNvSpPr txBox="1"/>
          <p:nvPr/>
        </p:nvSpPr>
        <p:spPr>
          <a:xfrm>
            <a:off x="8778240" y="1316736"/>
            <a:ext cx="585216" cy="329184"/>
          </a:xfrm>
          <a:prstGeom prst="rect">
            <a:avLst/>
          </a:prstGeom>
          <a:noFill/>
          <a:ln/>
        </p:spPr>
        <p:txBody>
          <a:bodyPr wrap="square" lIns="0" tIns="0" rIns="0" bIns="0" rtlCol="0" anchor="ctr"/>
          <a:lstStyle/>
          <a:p>
            <a:pPr algn="ctr" indent="0" marL="0">
              <a:buNone/>
            </a:pPr>
            <a:r>
              <a:rPr lang="en-US" sz="1400" b="1" dirty="0">
                <a:solidFill>
                  <a:srgbClr val="595959"/>
                </a:solidFill>
                <a:latin typeface="Inter" pitchFamily="34" charset="0"/>
                <a:ea typeface="Inter" pitchFamily="34" charset="-122"/>
                <a:cs typeface="Inter" pitchFamily="34" charset="-120"/>
              </a:rPr>
              <a:t>PTS</a:t>
            </a:r>
            <a:endParaRPr lang="en-US" sz="1400" dirty="0"/>
          </a:p>
        </p:txBody>
      </p:sp>
      <p:sp>
        <p:nvSpPr>
          <p:cNvPr id="13" name="Text 11"/>
          <p:cNvSpPr txBox="1"/>
          <p:nvPr/>
        </p:nvSpPr>
        <p:spPr>
          <a:xfrm>
            <a:off x="9363456" y="1316736"/>
            <a:ext cx="585216" cy="329184"/>
          </a:xfrm>
          <a:prstGeom prst="rect">
            <a:avLst/>
          </a:prstGeom>
          <a:noFill/>
          <a:ln/>
        </p:spPr>
        <p:txBody>
          <a:bodyPr wrap="square" lIns="0" tIns="0" rIns="0" bIns="0" rtlCol="0" anchor="ctr"/>
          <a:lstStyle/>
          <a:p>
            <a:pPr algn="ctr" indent="0" marL="0">
              <a:buNone/>
            </a:pPr>
            <a:r>
              <a:rPr lang="en-US" sz="1400" b="1" dirty="0">
                <a:solidFill>
                  <a:srgbClr val="595959"/>
                </a:solidFill>
                <a:latin typeface="Inter" pitchFamily="34" charset="0"/>
                <a:ea typeface="Inter" pitchFamily="34" charset="-122"/>
                <a:cs typeface="Inter" pitchFamily="34" charset="-120"/>
              </a:rPr>
              <a:t>TOT</a:t>
            </a:r>
            <a:endParaRPr lang="en-US" sz="1400" dirty="0"/>
          </a:p>
        </p:txBody>
      </p:sp>
      <p:sp>
        <p:nvSpPr>
          <p:cNvPr id="14" name="Text 12"/>
          <p:cNvSpPr txBox="1"/>
          <p:nvPr/>
        </p:nvSpPr>
        <p:spPr>
          <a:xfrm>
            <a:off x="9948672"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JAN–SEP</a:t>
            </a:r>
            <a:endParaRPr lang="en-US" sz="1400" dirty="0"/>
          </a:p>
        </p:txBody>
      </p:sp>
      <p:sp>
        <p:nvSpPr>
          <p:cNvPr id="15" name="Text 13"/>
          <p:cNvSpPr txBox="1"/>
          <p:nvPr/>
        </p:nvSpPr>
        <p:spPr>
          <a:xfrm>
            <a:off x="10789920"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VS BEST</a:t>
            </a:r>
            <a:endParaRPr lang="en-US" sz="1400" dirty="0"/>
          </a:p>
        </p:txBody>
      </p:sp>
      <p:sp>
        <p:nvSpPr>
          <p:cNvPr id="16" name="Text 14"/>
          <p:cNvSpPr txBox="1"/>
          <p:nvPr/>
        </p:nvSpPr>
        <p:spPr>
          <a:xfrm>
            <a:off x="658368" y="1700784"/>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7" name="Shape 15"/>
          <p:cNvSpPr/>
          <p:nvPr/>
        </p:nvSpPr>
        <p:spPr>
          <a:xfrm>
            <a:off x="2857500" y="1785542"/>
            <a:ext cx="155448" cy="155448"/>
          </a:xfrm>
          <a:prstGeom prst="ellipse">
            <a:avLst/>
          </a:prstGeom>
          <a:solidFill>
            <a:srgbClr val="12A566"/>
          </a:solidFill>
          <a:ln w="12700">
            <a:solidFill>
              <a:srgbClr val="12A566"/>
            </a:solidFill>
            <a:prstDash val="solid"/>
          </a:ln>
        </p:spPr>
      </p:sp>
      <p:sp>
        <p:nvSpPr>
          <p:cNvPr id="18" name="Shape 16"/>
          <p:cNvSpPr/>
          <p:nvPr/>
        </p:nvSpPr>
        <p:spPr>
          <a:xfrm>
            <a:off x="3442716" y="1785542"/>
            <a:ext cx="155448" cy="155448"/>
          </a:xfrm>
          <a:prstGeom prst="ellipse">
            <a:avLst/>
          </a:prstGeom>
          <a:solidFill>
            <a:srgbClr val="12A566"/>
          </a:solidFill>
          <a:ln w="12700">
            <a:solidFill>
              <a:srgbClr val="12A566"/>
            </a:solidFill>
            <a:prstDash val="solid"/>
          </a:ln>
        </p:spPr>
      </p:sp>
      <p:sp>
        <p:nvSpPr>
          <p:cNvPr id="19" name="Shape 17"/>
          <p:cNvSpPr/>
          <p:nvPr/>
        </p:nvSpPr>
        <p:spPr>
          <a:xfrm>
            <a:off x="4027932" y="1785542"/>
            <a:ext cx="155448" cy="155448"/>
          </a:xfrm>
          <a:prstGeom prst="ellipse">
            <a:avLst/>
          </a:prstGeom>
          <a:solidFill>
            <a:srgbClr val="12A566"/>
          </a:solidFill>
          <a:ln w="12700">
            <a:solidFill>
              <a:srgbClr val="12A566"/>
            </a:solidFill>
            <a:prstDash val="solid"/>
          </a:ln>
        </p:spPr>
      </p:sp>
      <p:sp>
        <p:nvSpPr>
          <p:cNvPr id="20" name="Text 18"/>
          <p:cNvSpPr txBox="1"/>
          <p:nvPr/>
        </p:nvSpPr>
        <p:spPr>
          <a:xfrm>
            <a:off x="4398264" y="1700784"/>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$1.54M</a:t>
            </a:r>
            <a:endParaRPr lang="en-US" sz="1300" dirty="0"/>
          </a:p>
        </p:txBody>
      </p:sp>
      <p:sp>
        <p:nvSpPr>
          <p:cNvPr id="21" name="Text 19"/>
          <p:cNvSpPr txBox="1"/>
          <p:nvPr/>
        </p:nvSpPr>
        <p:spPr>
          <a:xfrm>
            <a:off x="5239512" y="1700784"/>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+35.7%</a:t>
            </a:r>
            <a:endParaRPr lang="en-US" sz="1300" dirty="0"/>
          </a:p>
        </p:txBody>
      </p:sp>
      <p:sp>
        <p:nvSpPr>
          <p:cNvPr id="22" name="Shape 20"/>
          <p:cNvSpPr/>
          <p:nvPr/>
        </p:nvSpPr>
        <p:spPr>
          <a:xfrm>
            <a:off x="585216" y="2025748"/>
            <a:ext cx="5486400" cy="324964"/>
          </a:xfrm>
          <a:prstGeom prst="rect">
            <a:avLst/>
          </a:prstGeom>
          <a:solidFill>
            <a:srgbClr val="F7F7F7"/>
          </a:solidFill>
          <a:ln/>
        </p:spPr>
      </p:sp>
      <p:sp>
        <p:nvSpPr>
          <p:cNvPr id="23" name="Text 21"/>
          <p:cNvSpPr txBox="1"/>
          <p:nvPr/>
        </p:nvSpPr>
        <p:spPr>
          <a:xfrm>
            <a:off x="658368" y="2025748"/>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24" name="Shape 22"/>
          <p:cNvSpPr/>
          <p:nvPr/>
        </p:nvSpPr>
        <p:spPr>
          <a:xfrm>
            <a:off x="2857500" y="2110506"/>
            <a:ext cx="155448" cy="155448"/>
          </a:xfrm>
          <a:prstGeom prst="ellipse">
            <a:avLst/>
          </a:prstGeom>
          <a:solidFill>
            <a:srgbClr val="12A566"/>
          </a:solidFill>
          <a:ln w="12700">
            <a:solidFill>
              <a:srgbClr val="12A566"/>
            </a:solidFill>
            <a:prstDash val="solid"/>
          </a:ln>
        </p:spPr>
      </p:sp>
      <p:sp>
        <p:nvSpPr>
          <p:cNvPr id="25" name="Shape 23"/>
          <p:cNvSpPr/>
          <p:nvPr/>
        </p:nvSpPr>
        <p:spPr>
          <a:xfrm>
            <a:off x="3442716" y="2110506"/>
            <a:ext cx="155448" cy="155448"/>
          </a:xfrm>
          <a:prstGeom prst="ellipse">
            <a:avLst/>
          </a:prstGeom>
          <a:solidFill>
            <a:srgbClr val="12A566"/>
          </a:solidFill>
          <a:ln w="12700">
            <a:solidFill>
              <a:srgbClr val="12A566"/>
            </a:solidFill>
            <a:prstDash val="solid"/>
          </a:ln>
        </p:spPr>
      </p:sp>
      <p:sp>
        <p:nvSpPr>
          <p:cNvPr id="26" name="Shape 24"/>
          <p:cNvSpPr/>
          <p:nvPr/>
        </p:nvSpPr>
        <p:spPr>
          <a:xfrm>
            <a:off x="4027932" y="2110506"/>
            <a:ext cx="155448" cy="155448"/>
          </a:xfrm>
          <a:prstGeom prst="ellipse">
            <a:avLst/>
          </a:prstGeom>
          <a:solidFill>
            <a:srgbClr val="12A566"/>
          </a:solidFill>
          <a:ln w="12700">
            <a:solidFill>
              <a:srgbClr val="12A566"/>
            </a:solidFill>
            <a:prstDash val="solid"/>
          </a:ln>
        </p:spPr>
      </p:sp>
      <p:sp>
        <p:nvSpPr>
          <p:cNvPr id="27" name="Text 25"/>
          <p:cNvSpPr txBox="1"/>
          <p:nvPr/>
        </p:nvSpPr>
        <p:spPr>
          <a:xfrm>
            <a:off x="4398264" y="2025748"/>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$2.98M</a:t>
            </a:r>
            <a:endParaRPr lang="en-US" sz="1300" dirty="0"/>
          </a:p>
        </p:txBody>
      </p:sp>
      <p:sp>
        <p:nvSpPr>
          <p:cNvPr id="28" name="Text 26"/>
          <p:cNvSpPr txBox="1"/>
          <p:nvPr/>
        </p:nvSpPr>
        <p:spPr>
          <a:xfrm>
            <a:off x="5239512" y="2025748"/>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+31.6%</a:t>
            </a:r>
            <a:endParaRPr lang="en-US" sz="1300" dirty="0"/>
          </a:p>
        </p:txBody>
      </p:sp>
      <p:sp>
        <p:nvSpPr>
          <p:cNvPr id="29" name="Text 27"/>
          <p:cNvSpPr txBox="1"/>
          <p:nvPr/>
        </p:nvSpPr>
        <p:spPr>
          <a:xfrm>
            <a:off x="658368" y="2350711"/>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30" name="Shape 28"/>
          <p:cNvSpPr/>
          <p:nvPr/>
        </p:nvSpPr>
        <p:spPr>
          <a:xfrm>
            <a:off x="2857500" y="2435469"/>
            <a:ext cx="155448" cy="155448"/>
          </a:xfrm>
          <a:prstGeom prst="ellipse">
            <a:avLst/>
          </a:prstGeom>
          <a:solidFill>
            <a:srgbClr val="12A566"/>
          </a:solidFill>
          <a:ln w="12700">
            <a:solidFill>
              <a:srgbClr val="12A566"/>
            </a:solidFill>
            <a:prstDash val="solid"/>
          </a:ln>
        </p:spPr>
      </p:sp>
      <p:sp>
        <p:nvSpPr>
          <p:cNvPr id="31" name="Shape 29"/>
          <p:cNvSpPr/>
          <p:nvPr/>
        </p:nvSpPr>
        <p:spPr>
          <a:xfrm>
            <a:off x="3442716" y="2435469"/>
            <a:ext cx="155448" cy="155448"/>
          </a:xfrm>
          <a:prstGeom prst="ellipse">
            <a:avLst/>
          </a:prstGeom>
          <a:solidFill>
            <a:srgbClr val="12A566"/>
          </a:solidFill>
          <a:ln w="12700">
            <a:solidFill>
              <a:srgbClr val="12A566"/>
            </a:solidFill>
            <a:prstDash val="solid"/>
          </a:ln>
        </p:spPr>
      </p:sp>
      <p:sp>
        <p:nvSpPr>
          <p:cNvPr id="32" name="Shape 30"/>
          <p:cNvSpPr/>
          <p:nvPr/>
        </p:nvSpPr>
        <p:spPr>
          <a:xfrm>
            <a:off x="4027932" y="2435469"/>
            <a:ext cx="155448" cy="155448"/>
          </a:xfrm>
          <a:prstGeom prst="ellipse">
            <a:avLst/>
          </a:prstGeom>
          <a:solidFill>
            <a:srgbClr val="12A566"/>
          </a:solidFill>
          <a:ln w="12700">
            <a:solidFill>
              <a:srgbClr val="12A566"/>
            </a:solidFill>
            <a:prstDash val="solid"/>
          </a:ln>
        </p:spPr>
      </p:sp>
      <p:sp>
        <p:nvSpPr>
          <p:cNvPr id="33" name="Text 31"/>
          <p:cNvSpPr txBox="1"/>
          <p:nvPr/>
        </p:nvSpPr>
        <p:spPr>
          <a:xfrm>
            <a:off x="4398264" y="2350711"/>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$4.15M</a:t>
            </a:r>
            <a:endParaRPr lang="en-US" sz="1300" dirty="0"/>
          </a:p>
        </p:txBody>
      </p:sp>
      <p:sp>
        <p:nvSpPr>
          <p:cNvPr id="34" name="Text 32"/>
          <p:cNvSpPr txBox="1"/>
          <p:nvPr/>
        </p:nvSpPr>
        <p:spPr>
          <a:xfrm>
            <a:off x="5239512" y="2350711"/>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+22.5%</a:t>
            </a:r>
            <a:endParaRPr lang="en-US" sz="1300" dirty="0"/>
          </a:p>
        </p:txBody>
      </p:sp>
      <p:sp>
        <p:nvSpPr>
          <p:cNvPr id="35" name="Shape 33"/>
          <p:cNvSpPr/>
          <p:nvPr/>
        </p:nvSpPr>
        <p:spPr>
          <a:xfrm>
            <a:off x="585216" y="2675675"/>
            <a:ext cx="5486400" cy="324964"/>
          </a:xfrm>
          <a:prstGeom prst="rect">
            <a:avLst/>
          </a:prstGeom>
          <a:solidFill>
            <a:srgbClr val="F7F7F7"/>
          </a:solidFill>
          <a:ln/>
        </p:spPr>
      </p:sp>
      <p:sp>
        <p:nvSpPr>
          <p:cNvPr id="36" name="Text 34"/>
          <p:cNvSpPr txBox="1"/>
          <p:nvPr/>
        </p:nvSpPr>
        <p:spPr>
          <a:xfrm>
            <a:off x="658368" y="2675675"/>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37" name="Shape 35"/>
          <p:cNvSpPr/>
          <p:nvPr/>
        </p:nvSpPr>
        <p:spPr>
          <a:xfrm>
            <a:off x="2857500" y="2760433"/>
            <a:ext cx="155448" cy="155448"/>
          </a:xfrm>
          <a:prstGeom prst="ellipse">
            <a:avLst/>
          </a:prstGeom>
          <a:solidFill>
            <a:srgbClr val="12A566"/>
          </a:solidFill>
          <a:ln w="12700">
            <a:solidFill>
              <a:srgbClr val="12A566"/>
            </a:solidFill>
            <a:prstDash val="solid"/>
          </a:ln>
        </p:spPr>
      </p:sp>
      <p:sp>
        <p:nvSpPr>
          <p:cNvPr id="38" name="Shape 36"/>
          <p:cNvSpPr/>
          <p:nvPr/>
        </p:nvSpPr>
        <p:spPr>
          <a:xfrm>
            <a:off x="3442716" y="2760433"/>
            <a:ext cx="155448" cy="155448"/>
          </a:xfrm>
          <a:prstGeom prst="ellipse">
            <a:avLst/>
          </a:prstGeom>
          <a:solidFill>
            <a:srgbClr val="12A566"/>
          </a:solidFill>
          <a:ln w="12700">
            <a:solidFill>
              <a:srgbClr val="12A566"/>
            </a:solidFill>
            <a:prstDash val="solid"/>
          </a:ln>
        </p:spPr>
      </p:sp>
      <p:sp>
        <p:nvSpPr>
          <p:cNvPr id="39" name="Shape 37"/>
          <p:cNvSpPr/>
          <p:nvPr/>
        </p:nvSpPr>
        <p:spPr>
          <a:xfrm>
            <a:off x="4027932" y="2760433"/>
            <a:ext cx="155448" cy="155448"/>
          </a:xfrm>
          <a:prstGeom prst="ellipse">
            <a:avLst/>
          </a:prstGeom>
          <a:solidFill>
            <a:srgbClr val="12A566"/>
          </a:solidFill>
          <a:ln w="12700">
            <a:solidFill>
              <a:srgbClr val="12A566"/>
            </a:solidFill>
            <a:prstDash val="solid"/>
          </a:ln>
        </p:spPr>
      </p:sp>
      <p:sp>
        <p:nvSpPr>
          <p:cNvPr id="40" name="Text 38"/>
          <p:cNvSpPr txBox="1"/>
          <p:nvPr/>
        </p:nvSpPr>
        <p:spPr>
          <a:xfrm>
            <a:off x="4398264" y="2675675"/>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$12.34M</a:t>
            </a:r>
            <a:endParaRPr lang="en-US" sz="1300" dirty="0"/>
          </a:p>
        </p:txBody>
      </p:sp>
      <p:sp>
        <p:nvSpPr>
          <p:cNvPr id="41" name="Text 39"/>
          <p:cNvSpPr txBox="1"/>
          <p:nvPr/>
        </p:nvSpPr>
        <p:spPr>
          <a:xfrm>
            <a:off x="5239512" y="2675675"/>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+16.0%</a:t>
            </a:r>
            <a:endParaRPr lang="en-US" sz="1300" dirty="0"/>
          </a:p>
        </p:txBody>
      </p:sp>
      <p:sp>
        <p:nvSpPr>
          <p:cNvPr id="42" name="Text 40"/>
          <p:cNvSpPr txBox="1"/>
          <p:nvPr/>
        </p:nvSpPr>
        <p:spPr>
          <a:xfrm>
            <a:off x="658368" y="3000639"/>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43" name="Shape 41"/>
          <p:cNvSpPr/>
          <p:nvPr/>
        </p:nvSpPr>
        <p:spPr>
          <a:xfrm>
            <a:off x="2857500" y="3085397"/>
            <a:ext cx="155448" cy="155448"/>
          </a:xfrm>
          <a:prstGeom prst="ellipse">
            <a:avLst/>
          </a:prstGeom>
          <a:solidFill>
            <a:srgbClr val="12A566"/>
          </a:solidFill>
          <a:ln w="12700">
            <a:solidFill>
              <a:srgbClr val="12A566"/>
            </a:solidFill>
            <a:prstDash val="solid"/>
          </a:ln>
        </p:spPr>
      </p:sp>
      <p:sp>
        <p:nvSpPr>
          <p:cNvPr id="44" name="Shape 42"/>
          <p:cNvSpPr/>
          <p:nvPr/>
        </p:nvSpPr>
        <p:spPr>
          <a:xfrm>
            <a:off x="3442716" y="3085397"/>
            <a:ext cx="155448" cy="155448"/>
          </a:xfrm>
          <a:prstGeom prst="ellipse">
            <a:avLst/>
          </a:prstGeom>
          <a:solidFill>
            <a:srgbClr val="12A566"/>
          </a:solidFill>
          <a:ln w="12700">
            <a:solidFill>
              <a:srgbClr val="12A566"/>
            </a:solidFill>
            <a:prstDash val="solid"/>
          </a:ln>
        </p:spPr>
      </p:sp>
      <p:sp>
        <p:nvSpPr>
          <p:cNvPr id="45" name="Shape 43"/>
          <p:cNvSpPr/>
          <p:nvPr/>
        </p:nvSpPr>
        <p:spPr>
          <a:xfrm>
            <a:off x="4027932" y="3085397"/>
            <a:ext cx="155448" cy="155448"/>
          </a:xfrm>
          <a:prstGeom prst="ellipse">
            <a:avLst/>
          </a:prstGeom>
          <a:solidFill>
            <a:srgbClr val="12A566"/>
          </a:solidFill>
          <a:ln w="12700">
            <a:solidFill>
              <a:srgbClr val="12A566"/>
            </a:solidFill>
            <a:prstDash val="solid"/>
          </a:ln>
        </p:spPr>
      </p:sp>
      <p:sp>
        <p:nvSpPr>
          <p:cNvPr id="46" name="Text 44"/>
          <p:cNvSpPr txBox="1"/>
          <p:nvPr/>
        </p:nvSpPr>
        <p:spPr>
          <a:xfrm>
            <a:off x="4398264" y="3000639"/>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$2.70M</a:t>
            </a:r>
            <a:endParaRPr lang="en-US" sz="1300" dirty="0"/>
          </a:p>
        </p:txBody>
      </p:sp>
      <p:sp>
        <p:nvSpPr>
          <p:cNvPr id="47" name="Text 45"/>
          <p:cNvSpPr txBox="1"/>
          <p:nvPr/>
        </p:nvSpPr>
        <p:spPr>
          <a:xfrm>
            <a:off x="5239512" y="3000639"/>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+15.7%</a:t>
            </a:r>
            <a:endParaRPr lang="en-US" sz="1300" dirty="0"/>
          </a:p>
        </p:txBody>
      </p:sp>
      <p:sp>
        <p:nvSpPr>
          <p:cNvPr id="48" name="Shape 46"/>
          <p:cNvSpPr/>
          <p:nvPr/>
        </p:nvSpPr>
        <p:spPr>
          <a:xfrm>
            <a:off x="585216" y="3325602"/>
            <a:ext cx="5486400" cy="324964"/>
          </a:xfrm>
          <a:prstGeom prst="rect">
            <a:avLst/>
          </a:prstGeom>
          <a:solidFill>
            <a:srgbClr val="F7F7F7"/>
          </a:solidFill>
          <a:ln/>
        </p:spPr>
      </p:sp>
      <p:sp>
        <p:nvSpPr>
          <p:cNvPr id="49" name="Text 47"/>
          <p:cNvSpPr txBox="1"/>
          <p:nvPr/>
        </p:nvSpPr>
        <p:spPr>
          <a:xfrm>
            <a:off x="658368" y="3325602"/>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50" name="Shape 48"/>
          <p:cNvSpPr/>
          <p:nvPr/>
        </p:nvSpPr>
        <p:spPr>
          <a:xfrm>
            <a:off x="2857500" y="3410360"/>
            <a:ext cx="155448" cy="155448"/>
          </a:xfrm>
          <a:prstGeom prst="ellipse">
            <a:avLst/>
          </a:prstGeom>
          <a:solidFill>
            <a:srgbClr val="12A566"/>
          </a:solidFill>
          <a:ln w="12700">
            <a:solidFill>
              <a:srgbClr val="12A566"/>
            </a:solidFill>
            <a:prstDash val="solid"/>
          </a:ln>
        </p:spPr>
      </p:sp>
      <p:sp>
        <p:nvSpPr>
          <p:cNvPr id="51" name="Shape 49"/>
          <p:cNvSpPr/>
          <p:nvPr/>
        </p:nvSpPr>
        <p:spPr>
          <a:xfrm>
            <a:off x="3442716" y="3410360"/>
            <a:ext cx="155448" cy="155448"/>
          </a:xfrm>
          <a:prstGeom prst="ellipse">
            <a:avLst/>
          </a:prstGeom>
          <a:solidFill>
            <a:srgbClr val="12A566"/>
          </a:solidFill>
          <a:ln w="12700">
            <a:solidFill>
              <a:srgbClr val="12A566"/>
            </a:solidFill>
            <a:prstDash val="solid"/>
          </a:ln>
        </p:spPr>
      </p:sp>
      <p:sp>
        <p:nvSpPr>
          <p:cNvPr id="52" name="Shape 50"/>
          <p:cNvSpPr/>
          <p:nvPr/>
        </p:nvSpPr>
        <p:spPr>
          <a:xfrm>
            <a:off x="4027932" y="3410360"/>
            <a:ext cx="155448" cy="155448"/>
          </a:xfrm>
          <a:prstGeom prst="ellipse">
            <a:avLst/>
          </a:prstGeom>
          <a:solidFill>
            <a:srgbClr val="12A566"/>
          </a:solidFill>
          <a:ln w="12700">
            <a:solidFill>
              <a:srgbClr val="12A566"/>
            </a:solidFill>
            <a:prstDash val="solid"/>
          </a:ln>
        </p:spPr>
      </p:sp>
      <p:sp>
        <p:nvSpPr>
          <p:cNvPr id="53" name="Text 51"/>
          <p:cNvSpPr txBox="1"/>
          <p:nvPr/>
        </p:nvSpPr>
        <p:spPr>
          <a:xfrm>
            <a:off x="4398264" y="3325602"/>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$3.52M</a:t>
            </a:r>
            <a:endParaRPr lang="en-US" sz="1300" dirty="0"/>
          </a:p>
        </p:txBody>
      </p:sp>
      <p:sp>
        <p:nvSpPr>
          <p:cNvPr id="54" name="Text 52"/>
          <p:cNvSpPr txBox="1"/>
          <p:nvPr/>
        </p:nvSpPr>
        <p:spPr>
          <a:xfrm>
            <a:off x="5239512" y="3325602"/>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+15.5%</a:t>
            </a:r>
            <a:endParaRPr lang="en-US" sz="1300" dirty="0"/>
          </a:p>
        </p:txBody>
      </p:sp>
      <p:sp>
        <p:nvSpPr>
          <p:cNvPr id="55" name="Text 53"/>
          <p:cNvSpPr txBox="1"/>
          <p:nvPr/>
        </p:nvSpPr>
        <p:spPr>
          <a:xfrm>
            <a:off x="658368" y="3650566"/>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56" name="Shape 54"/>
          <p:cNvSpPr/>
          <p:nvPr/>
        </p:nvSpPr>
        <p:spPr>
          <a:xfrm>
            <a:off x="2857500" y="3735324"/>
            <a:ext cx="155448" cy="155448"/>
          </a:xfrm>
          <a:prstGeom prst="ellipse">
            <a:avLst/>
          </a:prstGeom>
          <a:solidFill>
            <a:srgbClr val="12A566"/>
          </a:solidFill>
          <a:ln w="12700">
            <a:solidFill>
              <a:srgbClr val="12A566"/>
            </a:solidFill>
            <a:prstDash val="solid"/>
          </a:ln>
        </p:spPr>
      </p:sp>
      <p:sp>
        <p:nvSpPr>
          <p:cNvPr id="57" name="Shape 55"/>
          <p:cNvSpPr/>
          <p:nvPr/>
        </p:nvSpPr>
        <p:spPr>
          <a:xfrm>
            <a:off x="3442716" y="3735324"/>
            <a:ext cx="155448" cy="155448"/>
          </a:xfrm>
          <a:prstGeom prst="ellipse">
            <a:avLst/>
          </a:prstGeom>
          <a:solidFill>
            <a:srgbClr val="12A566"/>
          </a:solidFill>
          <a:ln w="12700">
            <a:solidFill>
              <a:srgbClr val="12A566"/>
            </a:solidFill>
            <a:prstDash val="solid"/>
          </a:ln>
        </p:spPr>
      </p:sp>
      <p:sp>
        <p:nvSpPr>
          <p:cNvPr id="58" name="Shape 56"/>
          <p:cNvSpPr/>
          <p:nvPr/>
        </p:nvSpPr>
        <p:spPr>
          <a:xfrm>
            <a:off x="4027932" y="3735324"/>
            <a:ext cx="155448" cy="155448"/>
          </a:xfrm>
          <a:prstGeom prst="ellipse">
            <a:avLst/>
          </a:prstGeom>
          <a:solidFill>
            <a:srgbClr val="12A566"/>
          </a:solidFill>
          <a:ln w="12700">
            <a:solidFill>
              <a:srgbClr val="12A566"/>
            </a:solidFill>
            <a:prstDash val="solid"/>
          </a:ln>
        </p:spPr>
      </p:sp>
      <p:sp>
        <p:nvSpPr>
          <p:cNvPr id="59" name="Text 57"/>
          <p:cNvSpPr txBox="1"/>
          <p:nvPr/>
        </p:nvSpPr>
        <p:spPr>
          <a:xfrm>
            <a:off x="4398264" y="3650566"/>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$4.47M</a:t>
            </a:r>
            <a:endParaRPr lang="en-US" sz="1300" dirty="0"/>
          </a:p>
        </p:txBody>
      </p:sp>
      <p:sp>
        <p:nvSpPr>
          <p:cNvPr id="60" name="Text 58"/>
          <p:cNvSpPr txBox="1"/>
          <p:nvPr/>
        </p:nvSpPr>
        <p:spPr>
          <a:xfrm>
            <a:off x="5239512" y="3650566"/>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+10.4%</a:t>
            </a:r>
            <a:endParaRPr lang="en-US" sz="1300" dirty="0"/>
          </a:p>
        </p:txBody>
      </p:sp>
      <p:sp>
        <p:nvSpPr>
          <p:cNvPr id="61" name="Shape 59"/>
          <p:cNvSpPr/>
          <p:nvPr/>
        </p:nvSpPr>
        <p:spPr>
          <a:xfrm>
            <a:off x="585216" y="3975530"/>
            <a:ext cx="5486400" cy="324964"/>
          </a:xfrm>
          <a:prstGeom prst="rect">
            <a:avLst/>
          </a:prstGeom>
          <a:solidFill>
            <a:srgbClr val="F7F7F7"/>
          </a:solidFill>
          <a:ln/>
        </p:spPr>
      </p:sp>
      <p:sp>
        <p:nvSpPr>
          <p:cNvPr id="62" name="Text 60"/>
          <p:cNvSpPr txBox="1"/>
          <p:nvPr/>
        </p:nvSpPr>
        <p:spPr>
          <a:xfrm>
            <a:off x="658368" y="3975530"/>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63" name="Shape 61"/>
          <p:cNvSpPr/>
          <p:nvPr/>
        </p:nvSpPr>
        <p:spPr>
          <a:xfrm>
            <a:off x="2857500" y="4060288"/>
            <a:ext cx="155448" cy="155448"/>
          </a:xfrm>
          <a:prstGeom prst="ellipse">
            <a:avLst/>
          </a:prstGeom>
          <a:solidFill>
            <a:srgbClr val="12A566"/>
          </a:solidFill>
          <a:ln w="12700">
            <a:solidFill>
              <a:srgbClr val="12A566"/>
            </a:solidFill>
            <a:prstDash val="solid"/>
          </a:ln>
        </p:spPr>
      </p:sp>
      <p:sp>
        <p:nvSpPr>
          <p:cNvPr id="64" name="Shape 62"/>
          <p:cNvSpPr/>
          <p:nvPr/>
        </p:nvSpPr>
        <p:spPr>
          <a:xfrm>
            <a:off x="3442716" y="4060288"/>
            <a:ext cx="155448" cy="155448"/>
          </a:xfrm>
          <a:prstGeom prst="ellipse">
            <a:avLst/>
          </a:prstGeom>
          <a:solidFill>
            <a:srgbClr val="12A566"/>
          </a:solidFill>
          <a:ln w="12700">
            <a:solidFill>
              <a:srgbClr val="12A566"/>
            </a:solidFill>
            <a:prstDash val="solid"/>
          </a:ln>
        </p:spPr>
      </p:sp>
      <p:sp>
        <p:nvSpPr>
          <p:cNvPr id="65" name="Shape 63"/>
          <p:cNvSpPr/>
          <p:nvPr/>
        </p:nvSpPr>
        <p:spPr>
          <a:xfrm>
            <a:off x="4027932" y="4060288"/>
            <a:ext cx="155448" cy="155448"/>
          </a:xfrm>
          <a:prstGeom prst="ellipse">
            <a:avLst/>
          </a:prstGeom>
          <a:solidFill>
            <a:srgbClr val="12A566"/>
          </a:solidFill>
          <a:ln w="12700">
            <a:solidFill>
              <a:srgbClr val="12A566"/>
            </a:solidFill>
            <a:prstDash val="solid"/>
          </a:ln>
        </p:spPr>
      </p:sp>
      <p:sp>
        <p:nvSpPr>
          <p:cNvPr id="66" name="Text 64"/>
          <p:cNvSpPr txBox="1"/>
          <p:nvPr/>
        </p:nvSpPr>
        <p:spPr>
          <a:xfrm>
            <a:off x="4398264" y="3975530"/>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$4.78M</a:t>
            </a:r>
            <a:endParaRPr lang="en-US" sz="1300" dirty="0"/>
          </a:p>
        </p:txBody>
      </p:sp>
      <p:sp>
        <p:nvSpPr>
          <p:cNvPr id="67" name="Text 65"/>
          <p:cNvSpPr txBox="1"/>
          <p:nvPr/>
        </p:nvSpPr>
        <p:spPr>
          <a:xfrm>
            <a:off x="5239512" y="3975530"/>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+10.2%</a:t>
            </a:r>
            <a:endParaRPr lang="en-US" sz="1300" dirty="0"/>
          </a:p>
        </p:txBody>
      </p:sp>
      <p:sp>
        <p:nvSpPr>
          <p:cNvPr id="68" name="Text 66"/>
          <p:cNvSpPr txBox="1"/>
          <p:nvPr/>
        </p:nvSpPr>
        <p:spPr>
          <a:xfrm>
            <a:off x="658368" y="4300494"/>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69" name="Shape 67"/>
          <p:cNvSpPr/>
          <p:nvPr/>
        </p:nvSpPr>
        <p:spPr>
          <a:xfrm>
            <a:off x="2857500" y="4385251"/>
            <a:ext cx="155448" cy="155448"/>
          </a:xfrm>
          <a:prstGeom prst="ellipse">
            <a:avLst/>
          </a:prstGeom>
          <a:solidFill>
            <a:srgbClr val="12A566"/>
          </a:solidFill>
          <a:ln w="12700">
            <a:solidFill>
              <a:srgbClr val="12A566"/>
            </a:solidFill>
            <a:prstDash val="solid"/>
          </a:ln>
        </p:spPr>
      </p:sp>
      <p:sp>
        <p:nvSpPr>
          <p:cNvPr id="70" name="Shape 68"/>
          <p:cNvSpPr/>
          <p:nvPr/>
        </p:nvSpPr>
        <p:spPr>
          <a:xfrm>
            <a:off x="3442716" y="4385251"/>
            <a:ext cx="155448" cy="155448"/>
          </a:xfrm>
          <a:prstGeom prst="ellipse">
            <a:avLst/>
          </a:prstGeom>
          <a:solidFill>
            <a:srgbClr val="12A566"/>
          </a:solidFill>
          <a:ln w="12700">
            <a:solidFill>
              <a:srgbClr val="12A566"/>
            </a:solidFill>
            <a:prstDash val="solid"/>
          </a:ln>
        </p:spPr>
      </p:sp>
      <p:sp>
        <p:nvSpPr>
          <p:cNvPr id="71" name="Shape 69"/>
          <p:cNvSpPr/>
          <p:nvPr/>
        </p:nvSpPr>
        <p:spPr>
          <a:xfrm>
            <a:off x="4027932" y="4385251"/>
            <a:ext cx="155448" cy="155448"/>
          </a:xfrm>
          <a:prstGeom prst="ellipse">
            <a:avLst/>
          </a:prstGeom>
          <a:solidFill>
            <a:srgbClr val="12A566"/>
          </a:solidFill>
          <a:ln w="12700">
            <a:solidFill>
              <a:srgbClr val="12A566"/>
            </a:solidFill>
            <a:prstDash val="solid"/>
          </a:ln>
        </p:spPr>
      </p:sp>
      <p:sp>
        <p:nvSpPr>
          <p:cNvPr id="72" name="Text 70"/>
          <p:cNvSpPr txBox="1"/>
          <p:nvPr/>
        </p:nvSpPr>
        <p:spPr>
          <a:xfrm>
            <a:off x="4398264" y="4300494"/>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$2.34M</a:t>
            </a:r>
            <a:endParaRPr lang="en-US" sz="1300" dirty="0"/>
          </a:p>
        </p:txBody>
      </p:sp>
      <p:sp>
        <p:nvSpPr>
          <p:cNvPr id="73" name="Text 71"/>
          <p:cNvSpPr txBox="1"/>
          <p:nvPr/>
        </p:nvSpPr>
        <p:spPr>
          <a:xfrm>
            <a:off x="5239512" y="4300494"/>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+10.1%</a:t>
            </a:r>
            <a:endParaRPr lang="en-US" sz="1300" dirty="0"/>
          </a:p>
        </p:txBody>
      </p:sp>
      <p:sp>
        <p:nvSpPr>
          <p:cNvPr id="74" name="Shape 72"/>
          <p:cNvSpPr/>
          <p:nvPr/>
        </p:nvSpPr>
        <p:spPr>
          <a:xfrm>
            <a:off x="585216" y="4625457"/>
            <a:ext cx="5486400" cy="324964"/>
          </a:xfrm>
          <a:prstGeom prst="rect">
            <a:avLst/>
          </a:prstGeom>
          <a:solidFill>
            <a:srgbClr val="F7F7F7"/>
          </a:solidFill>
          <a:ln/>
        </p:spPr>
      </p:sp>
      <p:sp>
        <p:nvSpPr>
          <p:cNvPr id="75" name="Text 73"/>
          <p:cNvSpPr txBox="1"/>
          <p:nvPr/>
        </p:nvSpPr>
        <p:spPr>
          <a:xfrm>
            <a:off x="658368" y="4625457"/>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76" name="Shape 74"/>
          <p:cNvSpPr/>
          <p:nvPr/>
        </p:nvSpPr>
        <p:spPr>
          <a:xfrm>
            <a:off x="2857500" y="4710215"/>
            <a:ext cx="155448" cy="155448"/>
          </a:xfrm>
          <a:prstGeom prst="ellipse">
            <a:avLst/>
          </a:prstGeom>
          <a:solidFill>
            <a:srgbClr val="12A566"/>
          </a:solidFill>
          <a:ln w="12700">
            <a:solidFill>
              <a:srgbClr val="12A566"/>
            </a:solidFill>
            <a:prstDash val="solid"/>
          </a:ln>
        </p:spPr>
      </p:sp>
      <p:sp>
        <p:nvSpPr>
          <p:cNvPr id="77" name="Shape 75"/>
          <p:cNvSpPr/>
          <p:nvPr/>
        </p:nvSpPr>
        <p:spPr>
          <a:xfrm>
            <a:off x="3442716" y="4710215"/>
            <a:ext cx="155448" cy="155448"/>
          </a:xfrm>
          <a:prstGeom prst="ellipse">
            <a:avLst/>
          </a:prstGeom>
          <a:solidFill>
            <a:srgbClr val="12A566"/>
          </a:solidFill>
          <a:ln w="12700">
            <a:solidFill>
              <a:srgbClr val="12A566"/>
            </a:solidFill>
            <a:prstDash val="solid"/>
          </a:ln>
        </p:spPr>
      </p:sp>
      <p:sp>
        <p:nvSpPr>
          <p:cNvPr id="78" name="Shape 76"/>
          <p:cNvSpPr/>
          <p:nvPr/>
        </p:nvSpPr>
        <p:spPr>
          <a:xfrm>
            <a:off x="4027932" y="4710215"/>
            <a:ext cx="155448" cy="155448"/>
          </a:xfrm>
          <a:prstGeom prst="ellipse">
            <a:avLst/>
          </a:prstGeom>
          <a:solidFill>
            <a:srgbClr val="12A566"/>
          </a:solidFill>
          <a:ln w="12700">
            <a:solidFill>
              <a:srgbClr val="12A566"/>
            </a:solidFill>
            <a:prstDash val="solid"/>
          </a:ln>
        </p:spPr>
      </p:sp>
      <p:sp>
        <p:nvSpPr>
          <p:cNvPr id="79" name="Text 77"/>
          <p:cNvSpPr txBox="1"/>
          <p:nvPr/>
        </p:nvSpPr>
        <p:spPr>
          <a:xfrm>
            <a:off x="4398264" y="4625457"/>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$22.59M</a:t>
            </a:r>
            <a:endParaRPr lang="en-US" sz="1300" dirty="0"/>
          </a:p>
        </p:txBody>
      </p:sp>
      <p:sp>
        <p:nvSpPr>
          <p:cNvPr id="80" name="Text 78"/>
          <p:cNvSpPr txBox="1"/>
          <p:nvPr/>
        </p:nvSpPr>
        <p:spPr>
          <a:xfrm>
            <a:off x="5239512" y="4625457"/>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+8.5%</a:t>
            </a:r>
            <a:endParaRPr lang="en-US" sz="1300" dirty="0"/>
          </a:p>
        </p:txBody>
      </p:sp>
      <p:sp>
        <p:nvSpPr>
          <p:cNvPr id="81" name="Text 79"/>
          <p:cNvSpPr txBox="1"/>
          <p:nvPr/>
        </p:nvSpPr>
        <p:spPr>
          <a:xfrm>
            <a:off x="658368" y="4950421"/>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82" name="Shape 80"/>
          <p:cNvSpPr/>
          <p:nvPr/>
        </p:nvSpPr>
        <p:spPr>
          <a:xfrm>
            <a:off x="2857500" y="5035179"/>
            <a:ext cx="155448" cy="155448"/>
          </a:xfrm>
          <a:prstGeom prst="ellipse">
            <a:avLst/>
          </a:prstGeom>
          <a:solidFill>
            <a:srgbClr val="12A566"/>
          </a:solidFill>
          <a:ln w="12700">
            <a:solidFill>
              <a:srgbClr val="12A566"/>
            </a:solidFill>
            <a:prstDash val="solid"/>
          </a:ln>
        </p:spPr>
      </p:sp>
      <p:sp>
        <p:nvSpPr>
          <p:cNvPr id="83" name="Shape 81"/>
          <p:cNvSpPr/>
          <p:nvPr/>
        </p:nvSpPr>
        <p:spPr>
          <a:xfrm>
            <a:off x="3442716" y="5035179"/>
            <a:ext cx="155448" cy="155448"/>
          </a:xfrm>
          <a:prstGeom prst="ellipse">
            <a:avLst/>
          </a:prstGeom>
          <a:solidFill>
            <a:srgbClr val="12A566"/>
          </a:solidFill>
          <a:ln w="12700">
            <a:solidFill>
              <a:srgbClr val="12A566"/>
            </a:solidFill>
            <a:prstDash val="solid"/>
          </a:ln>
        </p:spPr>
      </p:sp>
      <p:sp>
        <p:nvSpPr>
          <p:cNvPr id="84" name="Shape 82"/>
          <p:cNvSpPr/>
          <p:nvPr/>
        </p:nvSpPr>
        <p:spPr>
          <a:xfrm>
            <a:off x="4027932" y="5035179"/>
            <a:ext cx="155448" cy="155448"/>
          </a:xfrm>
          <a:prstGeom prst="ellipse">
            <a:avLst/>
          </a:prstGeom>
          <a:solidFill>
            <a:srgbClr val="12A566"/>
          </a:solidFill>
          <a:ln w="12700">
            <a:solidFill>
              <a:srgbClr val="12A566"/>
            </a:solidFill>
            <a:prstDash val="solid"/>
          </a:ln>
        </p:spPr>
      </p:sp>
      <p:sp>
        <p:nvSpPr>
          <p:cNvPr id="85" name="Text 83"/>
          <p:cNvSpPr txBox="1"/>
          <p:nvPr/>
        </p:nvSpPr>
        <p:spPr>
          <a:xfrm>
            <a:off x="4398264" y="4950421"/>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$14.42M</a:t>
            </a:r>
            <a:endParaRPr lang="en-US" sz="1300" dirty="0"/>
          </a:p>
        </p:txBody>
      </p:sp>
      <p:sp>
        <p:nvSpPr>
          <p:cNvPr id="86" name="Text 84"/>
          <p:cNvSpPr txBox="1"/>
          <p:nvPr/>
        </p:nvSpPr>
        <p:spPr>
          <a:xfrm>
            <a:off x="5239512" y="4950421"/>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+4.2%</a:t>
            </a:r>
            <a:endParaRPr lang="en-US" sz="1300" dirty="0"/>
          </a:p>
        </p:txBody>
      </p:sp>
      <p:sp>
        <p:nvSpPr>
          <p:cNvPr id="87" name="Shape 85"/>
          <p:cNvSpPr/>
          <p:nvPr/>
        </p:nvSpPr>
        <p:spPr>
          <a:xfrm>
            <a:off x="585216" y="5275385"/>
            <a:ext cx="5486400" cy="324964"/>
          </a:xfrm>
          <a:prstGeom prst="rect">
            <a:avLst/>
          </a:prstGeom>
          <a:solidFill>
            <a:srgbClr val="F7F7F7"/>
          </a:solidFill>
          <a:ln/>
        </p:spPr>
      </p:sp>
      <p:sp>
        <p:nvSpPr>
          <p:cNvPr id="88" name="Text 86"/>
          <p:cNvSpPr txBox="1"/>
          <p:nvPr/>
        </p:nvSpPr>
        <p:spPr>
          <a:xfrm>
            <a:off x="658368" y="5275385"/>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89" name="Shape 87"/>
          <p:cNvSpPr/>
          <p:nvPr/>
        </p:nvSpPr>
        <p:spPr>
          <a:xfrm>
            <a:off x="2857500" y="5360142"/>
            <a:ext cx="155448" cy="155448"/>
          </a:xfrm>
          <a:prstGeom prst="ellipse">
            <a:avLst/>
          </a:prstGeom>
          <a:solidFill>
            <a:srgbClr val="12A566"/>
          </a:solidFill>
          <a:ln w="12700">
            <a:solidFill>
              <a:srgbClr val="12A566"/>
            </a:solidFill>
            <a:prstDash val="solid"/>
          </a:ln>
        </p:spPr>
      </p:sp>
      <p:sp>
        <p:nvSpPr>
          <p:cNvPr id="90" name="Shape 88"/>
          <p:cNvSpPr/>
          <p:nvPr/>
        </p:nvSpPr>
        <p:spPr>
          <a:xfrm>
            <a:off x="3442716" y="5360142"/>
            <a:ext cx="155448" cy="155448"/>
          </a:xfrm>
          <a:prstGeom prst="ellipse">
            <a:avLst/>
          </a:prstGeom>
          <a:solidFill>
            <a:srgbClr val="12A566"/>
          </a:solidFill>
          <a:ln w="12700">
            <a:solidFill>
              <a:srgbClr val="12A566"/>
            </a:solidFill>
            <a:prstDash val="solid"/>
          </a:ln>
        </p:spPr>
      </p:sp>
      <p:sp>
        <p:nvSpPr>
          <p:cNvPr id="91" name="Shape 89"/>
          <p:cNvSpPr/>
          <p:nvPr/>
        </p:nvSpPr>
        <p:spPr>
          <a:xfrm>
            <a:off x="4027932" y="5360142"/>
            <a:ext cx="155448" cy="155448"/>
          </a:xfrm>
          <a:prstGeom prst="ellipse">
            <a:avLst/>
          </a:prstGeom>
          <a:solidFill>
            <a:srgbClr val="12A566"/>
          </a:solidFill>
          <a:ln w="12700">
            <a:solidFill>
              <a:srgbClr val="12A566"/>
            </a:solidFill>
            <a:prstDash val="solid"/>
          </a:ln>
        </p:spPr>
      </p:sp>
      <p:sp>
        <p:nvSpPr>
          <p:cNvPr id="92" name="Text 90"/>
          <p:cNvSpPr txBox="1"/>
          <p:nvPr/>
        </p:nvSpPr>
        <p:spPr>
          <a:xfrm>
            <a:off x="4398264" y="5275385"/>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$3.31M</a:t>
            </a:r>
            <a:endParaRPr lang="en-US" sz="1300" dirty="0"/>
          </a:p>
        </p:txBody>
      </p:sp>
      <p:sp>
        <p:nvSpPr>
          <p:cNvPr id="93" name="Text 91"/>
          <p:cNvSpPr txBox="1"/>
          <p:nvPr/>
        </p:nvSpPr>
        <p:spPr>
          <a:xfrm>
            <a:off x="5239512" y="5275385"/>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+3.7%</a:t>
            </a:r>
            <a:endParaRPr lang="en-US" sz="1300" dirty="0"/>
          </a:p>
        </p:txBody>
      </p:sp>
      <p:sp>
        <p:nvSpPr>
          <p:cNvPr id="94" name="Text 92"/>
          <p:cNvSpPr txBox="1"/>
          <p:nvPr/>
        </p:nvSpPr>
        <p:spPr>
          <a:xfrm>
            <a:off x="658368" y="5600348"/>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95" name="Shape 93"/>
          <p:cNvSpPr/>
          <p:nvPr/>
        </p:nvSpPr>
        <p:spPr>
          <a:xfrm>
            <a:off x="2857500" y="5685106"/>
            <a:ext cx="155448" cy="155448"/>
          </a:xfrm>
          <a:prstGeom prst="ellipse">
            <a:avLst/>
          </a:prstGeom>
          <a:solidFill>
            <a:srgbClr val="12A566"/>
          </a:solidFill>
          <a:ln w="12700">
            <a:solidFill>
              <a:srgbClr val="12A566"/>
            </a:solidFill>
            <a:prstDash val="solid"/>
          </a:ln>
        </p:spPr>
      </p:sp>
      <p:sp>
        <p:nvSpPr>
          <p:cNvPr id="96" name="Shape 94"/>
          <p:cNvSpPr/>
          <p:nvPr/>
        </p:nvSpPr>
        <p:spPr>
          <a:xfrm>
            <a:off x="3442716" y="5685106"/>
            <a:ext cx="155448" cy="155448"/>
          </a:xfrm>
          <a:prstGeom prst="ellipse">
            <a:avLst/>
          </a:prstGeom>
          <a:solidFill>
            <a:srgbClr val="12A566"/>
          </a:solidFill>
          <a:ln w="12700">
            <a:solidFill>
              <a:srgbClr val="12A566"/>
            </a:solidFill>
            <a:prstDash val="solid"/>
          </a:ln>
        </p:spPr>
      </p:sp>
      <p:sp>
        <p:nvSpPr>
          <p:cNvPr id="97" name="Shape 95"/>
          <p:cNvSpPr/>
          <p:nvPr/>
        </p:nvSpPr>
        <p:spPr>
          <a:xfrm>
            <a:off x="4027932" y="5685106"/>
            <a:ext cx="155448" cy="155448"/>
          </a:xfrm>
          <a:prstGeom prst="ellipse">
            <a:avLst/>
          </a:prstGeom>
          <a:solidFill>
            <a:srgbClr val="12A566"/>
          </a:solidFill>
          <a:ln w="12700">
            <a:solidFill>
              <a:srgbClr val="12A566"/>
            </a:solidFill>
            <a:prstDash val="solid"/>
          </a:ln>
        </p:spPr>
      </p:sp>
      <p:sp>
        <p:nvSpPr>
          <p:cNvPr id="98" name="Text 96"/>
          <p:cNvSpPr txBox="1"/>
          <p:nvPr/>
        </p:nvSpPr>
        <p:spPr>
          <a:xfrm>
            <a:off x="4398264" y="5600348"/>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$3.42M</a:t>
            </a:r>
            <a:endParaRPr lang="en-US" sz="1300" dirty="0"/>
          </a:p>
        </p:txBody>
      </p:sp>
      <p:sp>
        <p:nvSpPr>
          <p:cNvPr id="99" name="Text 97"/>
          <p:cNvSpPr txBox="1"/>
          <p:nvPr/>
        </p:nvSpPr>
        <p:spPr>
          <a:xfrm>
            <a:off x="5239512" y="5600348"/>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+2.8%</a:t>
            </a:r>
            <a:endParaRPr lang="en-US" sz="1300" dirty="0"/>
          </a:p>
        </p:txBody>
      </p:sp>
      <p:sp>
        <p:nvSpPr>
          <p:cNvPr id="100" name="Text 98"/>
          <p:cNvSpPr txBox="1"/>
          <p:nvPr/>
        </p:nvSpPr>
        <p:spPr>
          <a:xfrm>
            <a:off x="6208776" y="1700784"/>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01" name="Shape 99"/>
          <p:cNvSpPr/>
          <p:nvPr/>
        </p:nvSpPr>
        <p:spPr>
          <a:xfrm>
            <a:off x="8407908" y="1785542"/>
            <a:ext cx="155448" cy="155448"/>
          </a:xfrm>
          <a:prstGeom prst="ellipse">
            <a:avLst/>
          </a:prstGeom>
          <a:solidFill>
            <a:srgbClr val="12A566"/>
          </a:solidFill>
          <a:ln w="12700">
            <a:solidFill>
              <a:srgbClr val="12A566"/>
            </a:solidFill>
            <a:prstDash val="solid"/>
          </a:ln>
        </p:spPr>
      </p:sp>
      <p:sp>
        <p:nvSpPr>
          <p:cNvPr id="102" name="Shape 100"/>
          <p:cNvSpPr/>
          <p:nvPr/>
        </p:nvSpPr>
        <p:spPr>
          <a:xfrm>
            <a:off x="8993124" y="1785542"/>
            <a:ext cx="155448" cy="155448"/>
          </a:xfrm>
          <a:prstGeom prst="ellipse">
            <a:avLst/>
          </a:prstGeom>
          <a:solidFill>
            <a:srgbClr val="FFFFFF"/>
          </a:solidFill>
          <a:ln w="12700">
            <a:solidFill>
              <a:srgbClr val="9AA3AD"/>
            </a:solidFill>
            <a:prstDash val="solid"/>
          </a:ln>
        </p:spPr>
      </p:sp>
      <p:sp>
        <p:nvSpPr>
          <p:cNvPr id="103" name="Shape 101"/>
          <p:cNvSpPr/>
          <p:nvPr/>
        </p:nvSpPr>
        <p:spPr>
          <a:xfrm>
            <a:off x="9578340" y="1785542"/>
            <a:ext cx="155448" cy="155448"/>
          </a:xfrm>
          <a:prstGeom prst="ellipse">
            <a:avLst/>
          </a:prstGeom>
          <a:solidFill>
            <a:srgbClr val="12A566"/>
          </a:solidFill>
          <a:ln w="12700">
            <a:solidFill>
              <a:srgbClr val="12A566"/>
            </a:solidFill>
            <a:prstDash val="solid"/>
          </a:ln>
        </p:spPr>
      </p:sp>
      <p:sp>
        <p:nvSpPr>
          <p:cNvPr id="104" name="Text 102"/>
          <p:cNvSpPr txBox="1"/>
          <p:nvPr/>
        </p:nvSpPr>
        <p:spPr>
          <a:xfrm>
            <a:off x="9948672" y="1700784"/>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$5.08M</a:t>
            </a:r>
            <a:endParaRPr lang="en-US" sz="1300" dirty="0"/>
          </a:p>
        </p:txBody>
      </p:sp>
      <p:sp>
        <p:nvSpPr>
          <p:cNvPr id="105" name="Text 103"/>
          <p:cNvSpPr txBox="1"/>
          <p:nvPr/>
        </p:nvSpPr>
        <p:spPr>
          <a:xfrm>
            <a:off x="10789920" y="1700784"/>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+13.0%</a:t>
            </a:r>
            <a:endParaRPr lang="en-US" sz="1300" dirty="0"/>
          </a:p>
        </p:txBody>
      </p:sp>
      <p:sp>
        <p:nvSpPr>
          <p:cNvPr id="106" name="Shape 104"/>
          <p:cNvSpPr/>
          <p:nvPr/>
        </p:nvSpPr>
        <p:spPr>
          <a:xfrm>
            <a:off x="6135624" y="2025748"/>
            <a:ext cx="5486400" cy="324964"/>
          </a:xfrm>
          <a:prstGeom prst="rect">
            <a:avLst/>
          </a:prstGeom>
          <a:solidFill>
            <a:srgbClr val="F7F7F7"/>
          </a:solidFill>
          <a:ln/>
        </p:spPr>
      </p:sp>
      <p:sp>
        <p:nvSpPr>
          <p:cNvPr id="107" name="Text 105"/>
          <p:cNvSpPr txBox="1"/>
          <p:nvPr/>
        </p:nvSpPr>
        <p:spPr>
          <a:xfrm>
            <a:off x="6208776" y="2025748"/>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08" name="Shape 106"/>
          <p:cNvSpPr/>
          <p:nvPr/>
        </p:nvSpPr>
        <p:spPr>
          <a:xfrm>
            <a:off x="8407908" y="2110506"/>
            <a:ext cx="155448" cy="155448"/>
          </a:xfrm>
          <a:prstGeom prst="ellipse">
            <a:avLst/>
          </a:prstGeom>
          <a:solidFill>
            <a:srgbClr val="12A566"/>
          </a:solidFill>
          <a:ln w="12700">
            <a:solidFill>
              <a:srgbClr val="12A566"/>
            </a:solidFill>
            <a:prstDash val="solid"/>
          </a:ln>
        </p:spPr>
      </p:sp>
      <p:sp>
        <p:nvSpPr>
          <p:cNvPr id="109" name="Shape 107"/>
          <p:cNvSpPr/>
          <p:nvPr/>
        </p:nvSpPr>
        <p:spPr>
          <a:xfrm>
            <a:off x="8993124" y="2110506"/>
            <a:ext cx="155448" cy="155448"/>
          </a:xfrm>
          <a:prstGeom prst="ellipse">
            <a:avLst/>
          </a:prstGeom>
          <a:solidFill>
            <a:srgbClr val="FFFFFF"/>
          </a:solidFill>
          <a:ln w="12700">
            <a:solidFill>
              <a:srgbClr val="9AA3AD"/>
            </a:solidFill>
            <a:prstDash val="solid"/>
          </a:ln>
        </p:spPr>
      </p:sp>
      <p:sp>
        <p:nvSpPr>
          <p:cNvPr id="110" name="Shape 108"/>
          <p:cNvSpPr/>
          <p:nvPr/>
        </p:nvSpPr>
        <p:spPr>
          <a:xfrm>
            <a:off x="9578340" y="2110506"/>
            <a:ext cx="155448" cy="155448"/>
          </a:xfrm>
          <a:prstGeom prst="ellipse">
            <a:avLst/>
          </a:prstGeom>
          <a:solidFill>
            <a:srgbClr val="12A566"/>
          </a:solidFill>
          <a:ln w="12700">
            <a:solidFill>
              <a:srgbClr val="12A566"/>
            </a:solidFill>
            <a:prstDash val="solid"/>
          </a:ln>
        </p:spPr>
      </p:sp>
      <p:sp>
        <p:nvSpPr>
          <p:cNvPr id="111" name="Text 109"/>
          <p:cNvSpPr txBox="1"/>
          <p:nvPr/>
        </p:nvSpPr>
        <p:spPr>
          <a:xfrm>
            <a:off x="9948672" y="2025748"/>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$5.93M</a:t>
            </a:r>
            <a:endParaRPr lang="en-US" sz="1300" dirty="0"/>
          </a:p>
        </p:txBody>
      </p:sp>
      <p:sp>
        <p:nvSpPr>
          <p:cNvPr id="112" name="Text 110"/>
          <p:cNvSpPr txBox="1"/>
          <p:nvPr/>
        </p:nvSpPr>
        <p:spPr>
          <a:xfrm>
            <a:off x="10789920" y="2025748"/>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+10.1%</a:t>
            </a:r>
            <a:endParaRPr lang="en-US" sz="1300" dirty="0"/>
          </a:p>
        </p:txBody>
      </p:sp>
      <p:sp>
        <p:nvSpPr>
          <p:cNvPr id="113" name="Text 111"/>
          <p:cNvSpPr txBox="1"/>
          <p:nvPr/>
        </p:nvSpPr>
        <p:spPr>
          <a:xfrm>
            <a:off x="6208776" y="2350711"/>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14" name="Shape 112"/>
          <p:cNvSpPr/>
          <p:nvPr/>
        </p:nvSpPr>
        <p:spPr>
          <a:xfrm>
            <a:off x="8407908" y="2435469"/>
            <a:ext cx="155448" cy="155448"/>
          </a:xfrm>
          <a:prstGeom prst="ellipse">
            <a:avLst/>
          </a:prstGeom>
          <a:solidFill>
            <a:srgbClr val="12A566"/>
          </a:solidFill>
          <a:ln w="12700">
            <a:solidFill>
              <a:srgbClr val="12A566"/>
            </a:solidFill>
            <a:prstDash val="solid"/>
          </a:ln>
        </p:spPr>
      </p:sp>
      <p:sp>
        <p:nvSpPr>
          <p:cNvPr id="115" name="Shape 113"/>
          <p:cNvSpPr/>
          <p:nvPr/>
        </p:nvSpPr>
        <p:spPr>
          <a:xfrm>
            <a:off x="8993124" y="2435469"/>
            <a:ext cx="155448" cy="155448"/>
          </a:xfrm>
          <a:prstGeom prst="ellipse">
            <a:avLst/>
          </a:prstGeom>
          <a:solidFill>
            <a:srgbClr val="FFFFFF"/>
          </a:solidFill>
          <a:ln w="12700">
            <a:solidFill>
              <a:srgbClr val="9AA3AD"/>
            </a:solidFill>
            <a:prstDash val="solid"/>
          </a:ln>
        </p:spPr>
      </p:sp>
      <p:sp>
        <p:nvSpPr>
          <p:cNvPr id="116" name="Shape 114"/>
          <p:cNvSpPr/>
          <p:nvPr/>
        </p:nvSpPr>
        <p:spPr>
          <a:xfrm>
            <a:off x="9578340" y="2435469"/>
            <a:ext cx="155448" cy="155448"/>
          </a:xfrm>
          <a:prstGeom prst="ellipse">
            <a:avLst/>
          </a:prstGeom>
          <a:solidFill>
            <a:srgbClr val="12A566"/>
          </a:solidFill>
          <a:ln w="12700">
            <a:solidFill>
              <a:srgbClr val="12A566"/>
            </a:solidFill>
            <a:prstDash val="solid"/>
          </a:ln>
        </p:spPr>
      </p:sp>
      <p:sp>
        <p:nvSpPr>
          <p:cNvPr id="117" name="Text 115"/>
          <p:cNvSpPr txBox="1"/>
          <p:nvPr/>
        </p:nvSpPr>
        <p:spPr>
          <a:xfrm>
            <a:off x="9948672" y="2350711"/>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$4.18M</a:t>
            </a:r>
            <a:endParaRPr lang="en-US" sz="1300" dirty="0"/>
          </a:p>
        </p:txBody>
      </p:sp>
      <p:sp>
        <p:nvSpPr>
          <p:cNvPr id="118" name="Text 116"/>
          <p:cNvSpPr txBox="1"/>
          <p:nvPr/>
        </p:nvSpPr>
        <p:spPr>
          <a:xfrm>
            <a:off x="10789920" y="2350711"/>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+9.7%</a:t>
            </a:r>
            <a:endParaRPr lang="en-US" sz="1300" dirty="0"/>
          </a:p>
        </p:txBody>
      </p:sp>
      <p:sp>
        <p:nvSpPr>
          <p:cNvPr id="119" name="Shape 117"/>
          <p:cNvSpPr/>
          <p:nvPr/>
        </p:nvSpPr>
        <p:spPr>
          <a:xfrm>
            <a:off x="6135624" y="2675675"/>
            <a:ext cx="5486400" cy="324964"/>
          </a:xfrm>
          <a:prstGeom prst="rect">
            <a:avLst/>
          </a:prstGeom>
          <a:solidFill>
            <a:srgbClr val="F7F7F7"/>
          </a:solidFill>
          <a:ln/>
        </p:spPr>
      </p:sp>
      <p:sp>
        <p:nvSpPr>
          <p:cNvPr id="120" name="Text 118"/>
          <p:cNvSpPr txBox="1"/>
          <p:nvPr/>
        </p:nvSpPr>
        <p:spPr>
          <a:xfrm>
            <a:off x="6208776" y="2675675"/>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21" name="Shape 119"/>
          <p:cNvSpPr/>
          <p:nvPr/>
        </p:nvSpPr>
        <p:spPr>
          <a:xfrm>
            <a:off x="8407908" y="2760433"/>
            <a:ext cx="155448" cy="155448"/>
          </a:xfrm>
          <a:prstGeom prst="ellipse">
            <a:avLst/>
          </a:prstGeom>
          <a:solidFill>
            <a:srgbClr val="12A566"/>
          </a:solidFill>
          <a:ln w="12700">
            <a:solidFill>
              <a:srgbClr val="12A566"/>
            </a:solidFill>
            <a:prstDash val="solid"/>
          </a:ln>
        </p:spPr>
      </p:sp>
      <p:sp>
        <p:nvSpPr>
          <p:cNvPr id="122" name="Shape 120"/>
          <p:cNvSpPr/>
          <p:nvPr/>
        </p:nvSpPr>
        <p:spPr>
          <a:xfrm>
            <a:off x="8993124" y="2760433"/>
            <a:ext cx="155448" cy="155448"/>
          </a:xfrm>
          <a:prstGeom prst="ellipse">
            <a:avLst/>
          </a:prstGeom>
          <a:solidFill>
            <a:srgbClr val="FFFFFF"/>
          </a:solidFill>
          <a:ln w="12700">
            <a:solidFill>
              <a:srgbClr val="9AA3AD"/>
            </a:solidFill>
            <a:prstDash val="solid"/>
          </a:ln>
        </p:spPr>
      </p:sp>
      <p:sp>
        <p:nvSpPr>
          <p:cNvPr id="123" name="Shape 121"/>
          <p:cNvSpPr/>
          <p:nvPr/>
        </p:nvSpPr>
        <p:spPr>
          <a:xfrm>
            <a:off x="9578340" y="2760433"/>
            <a:ext cx="155448" cy="155448"/>
          </a:xfrm>
          <a:prstGeom prst="ellipse">
            <a:avLst/>
          </a:prstGeom>
          <a:solidFill>
            <a:srgbClr val="12A566"/>
          </a:solidFill>
          <a:ln w="12700">
            <a:solidFill>
              <a:srgbClr val="12A566"/>
            </a:solidFill>
            <a:prstDash val="solid"/>
          </a:ln>
        </p:spPr>
      </p:sp>
      <p:sp>
        <p:nvSpPr>
          <p:cNvPr id="124" name="Text 122"/>
          <p:cNvSpPr txBox="1"/>
          <p:nvPr/>
        </p:nvSpPr>
        <p:spPr>
          <a:xfrm>
            <a:off x="9948672" y="2675675"/>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$2.21M</a:t>
            </a:r>
            <a:endParaRPr lang="en-US" sz="1300" dirty="0"/>
          </a:p>
        </p:txBody>
      </p:sp>
      <p:sp>
        <p:nvSpPr>
          <p:cNvPr id="125" name="Text 123"/>
          <p:cNvSpPr txBox="1"/>
          <p:nvPr/>
        </p:nvSpPr>
        <p:spPr>
          <a:xfrm>
            <a:off x="10789920" y="2675675"/>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+7.6%</a:t>
            </a:r>
            <a:endParaRPr lang="en-US" sz="1300" dirty="0"/>
          </a:p>
        </p:txBody>
      </p:sp>
      <p:sp>
        <p:nvSpPr>
          <p:cNvPr id="126" name="Text 124"/>
          <p:cNvSpPr txBox="1"/>
          <p:nvPr/>
        </p:nvSpPr>
        <p:spPr>
          <a:xfrm>
            <a:off x="6208776" y="3000639"/>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27" name="Shape 125"/>
          <p:cNvSpPr/>
          <p:nvPr/>
        </p:nvSpPr>
        <p:spPr>
          <a:xfrm>
            <a:off x="8407908" y="3085397"/>
            <a:ext cx="155448" cy="155448"/>
          </a:xfrm>
          <a:prstGeom prst="ellipse">
            <a:avLst/>
          </a:prstGeom>
          <a:solidFill>
            <a:srgbClr val="FFFFFF"/>
          </a:solidFill>
          <a:ln w="12700">
            <a:solidFill>
              <a:srgbClr val="9AA3AD"/>
            </a:solidFill>
            <a:prstDash val="solid"/>
          </a:ln>
        </p:spPr>
      </p:sp>
      <p:sp>
        <p:nvSpPr>
          <p:cNvPr id="128" name="Shape 126"/>
          <p:cNvSpPr/>
          <p:nvPr/>
        </p:nvSpPr>
        <p:spPr>
          <a:xfrm>
            <a:off x="8993124" y="3085397"/>
            <a:ext cx="155448" cy="155448"/>
          </a:xfrm>
          <a:prstGeom prst="ellipse">
            <a:avLst/>
          </a:prstGeom>
          <a:solidFill>
            <a:srgbClr val="12A566"/>
          </a:solidFill>
          <a:ln w="12700">
            <a:solidFill>
              <a:srgbClr val="12A566"/>
            </a:solidFill>
            <a:prstDash val="solid"/>
          </a:ln>
        </p:spPr>
      </p:sp>
      <p:sp>
        <p:nvSpPr>
          <p:cNvPr id="129" name="Shape 127"/>
          <p:cNvSpPr/>
          <p:nvPr/>
        </p:nvSpPr>
        <p:spPr>
          <a:xfrm>
            <a:off x="9578340" y="3085397"/>
            <a:ext cx="155448" cy="155448"/>
          </a:xfrm>
          <a:prstGeom prst="ellipse">
            <a:avLst/>
          </a:prstGeom>
          <a:solidFill>
            <a:srgbClr val="12A566"/>
          </a:solidFill>
          <a:ln w="12700">
            <a:solidFill>
              <a:srgbClr val="12A566"/>
            </a:solidFill>
            <a:prstDash val="solid"/>
          </a:ln>
        </p:spPr>
      </p:sp>
      <p:sp>
        <p:nvSpPr>
          <p:cNvPr id="130" name="Text 128"/>
          <p:cNvSpPr txBox="1"/>
          <p:nvPr/>
        </p:nvSpPr>
        <p:spPr>
          <a:xfrm>
            <a:off x="9948672" y="3000639"/>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$9.60M</a:t>
            </a:r>
            <a:endParaRPr lang="en-US" sz="1300" dirty="0"/>
          </a:p>
        </p:txBody>
      </p:sp>
      <p:sp>
        <p:nvSpPr>
          <p:cNvPr id="131" name="Text 129"/>
          <p:cNvSpPr txBox="1"/>
          <p:nvPr/>
        </p:nvSpPr>
        <p:spPr>
          <a:xfrm>
            <a:off x="10789920" y="3000639"/>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+7.4%</a:t>
            </a:r>
            <a:endParaRPr lang="en-US" sz="1300" dirty="0"/>
          </a:p>
        </p:txBody>
      </p:sp>
      <p:sp>
        <p:nvSpPr>
          <p:cNvPr id="132" name="Shape 130"/>
          <p:cNvSpPr/>
          <p:nvPr/>
        </p:nvSpPr>
        <p:spPr>
          <a:xfrm>
            <a:off x="6135624" y="3325602"/>
            <a:ext cx="5486400" cy="324964"/>
          </a:xfrm>
          <a:prstGeom prst="rect">
            <a:avLst/>
          </a:prstGeom>
          <a:solidFill>
            <a:srgbClr val="F7F7F7"/>
          </a:solidFill>
          <a:ln/>
        </p:spPr>
      </p:sp>
      <p:sp>
        <p:nvSpPr>
          <p:cNvPr id="133" name="Text 131"/>
          <p:cNvSpPr txBox="1"/>
          <p:nvPr/>
        </p:nvSpPr>
        <p:spPr>
          <a:xfrm>
            <a:off x="6208776" y="3325602"/>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34" name="Shape 132"/>
          <p:cNvSpPr/>
          <p:nvPr/>
        </p:nvSpPr>
        <p:spPr>
          <a:xfrm>
            <a:off x="8407908" y="3410360"/>
            <a:ext cx="155448" cy="155448"/>
          </a:xfrm>
          <a:prstGeom prst="ellipse">
            <a:avLst/>
          </a:prstGeom>
          <a:solidFill>
            <a:srgbClr val="12A566"/>
          </a:solidFill>
          <a:ln w="12700">
            <a:solidFill>
              <a:srgbClr val="12A566"/>
            </a:solidFill>
            <a:prstDash val="solid"/>
          </a:ln>
        </p:spPr>
      </p:sp>
      <p:sp>
        <p:nvSpPr>
          <p:cNvPr id="135" name="Shape 133"/>
          <p:cNvSpPr/>
          <p:nvPr/>
        </p:nvSpPr>
        <p:spPr>
          <a:xfrm>
            <a:off x="8993124" y="3410360"/>
            <a:ext cx="155448" cy="155448"/>
          </a:xfrm>
          <a:prstGeom prst="ellipse">
            <a:avLst/>
          </a:prstGeom>
          <a:solidFill>
            <a:srgbClr val="FFFFFF"/>
          </a:solidFill>
          <a:ln w="12700">
            <a:solidFill>
              <a:srgbClr val="9AA3AD"/>
            </a:solidFill>
            <a:prstDash val="solid"/>
          </a:ln>
        </p:spPr>
      </p:sp>
      <p:sp>
        <p:nvSpPr>
          <p:cNvPr id="136" name="Shape 134"/>
          <p:cNvSpPr/>
          <p:nvPr/>
        </p:nvSpPr>
        <p:spPr>
          <a:xfrm>
            <a:off x="9578340" y="3410360"/>
            <a:ext cx="155448" cy="155448"/>
          </a:xfrm>
          <a:prstGeom prst="ellipse">
            <a:avLst/>
          </a:prstGeom>
          <a:solidFill>
            <a:srgbClr val="12A566"/>
          </a:solidFill>
          <a:ln w="12700">
            <a:solidFill>
              <a:srgbClr val="12A566"/>
            </a:solidFill>
            <a:prstDash val="solid"/>
          </a:ln>
        </p:spPr>
      </p:sp>
      <p:sp>
        <p:nvSpPr>
          <p:cNvPr id="137" name="Text 135"/>
          <p:cNvSpPr txBox="1"/>
          <p:nvPr/>
        </p:nvSpPr>
        <p:spPr>
          <a:xfrm>
            <a:off x="9948672" y="3325602"/>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$2.29M</a:t>
            </a:r>
            <a:endParaRPr lang="en-US" sz="1300" dirty="0"/>
          </a:p>
        </p:txBody>
      </p:sp>
      <p:sp>
        <p:nvSpPr>
          <p:cNvPr id="138" name="Text 136"/>
          <p:cNvSpPr txBox="1"/>
          <p:nvPr/>
        </p:nvSpPr>
        <p:spPr>
          <a:xfrm>
            <a:off x="10789920" y="3325602"/>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+4.0%</a:t>
            </a:r>
            <a:endParaRPr lang="en-US" sz="1300" dirty="0"/>
          </a:p>
        </p:txBody>
      </p:sp>
      <p:sp>
        <p:nvSpPr>
          <p:cNvPr id="139" name="Text 137"/>
          <p:cNvSpPr txBox="1"/>
          <p:nvPr/>
        </p:nvSpPr>
        <p:spPr>
          <a:xfrm>
            <a:off x="6208776" y="3650566"/>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40" name="Shape 138"/>
          <p:cNvSpPr/>
          <p:nvPr/>
        </p:nvSpPr>
        <p:spPr>
          <a:xfrm>
            <a:off x="8407908" y="3735324"/>
            <a:ext cx="155448" cy="155448"/>
          </a:xfrm>
          <a:prstGeom prst="ellipse">
            <a:avLst/>
          </a:prstGeom>
          <a:solidFill>
            <a:srgbClr val="12A566"/>
          </a:solidFill>
          <a:ln w="12700">
            <a:solidFill>
              <a:srgbClr val="12A566"/>
            </a:solidFill>
            <a:prstDash val="solid"/>
          </a:ln>
        </p:spPr>
      </p:sp>
      <p:sp>
        <p:nvSpPr>
          <p:cNvPr id="141" name="Shape 139"/>
          <p:cNvSpPr/>
          <p:nvPr/>
        </p:nvSpPr>
        <p:spPr>
          <a:xfrm>
            <a:off x="8993124" y="3735324"/>
            <a:ext cx="155448" cy="155448"/>
          </a:xfrm>
          <a:prstGeom prst="ellipse">
            <a:avLst/>
          </a:prstGeom>
          <a:solidFill>
            <a:srgbClr val="FFFFFF"/>
          </a:solidFill>
          <a:ln w="12700">
            <a:solidFill>
              <a:srgbClr val="9AA3AD"/>
            </a:solidFill>
            <a:prstDash val="solid"/>
          </a:ln>
        </p:spPr>
      </p:sp>
      <p:sp>
        <p:nvSpPr>
          <p:cNvPr id="142" name="Shape 140"/>
          <p:cNvSpPr/>
          <p:nvPr/>
        </p:nvSpPr>
        <p:spPr>
          <a:xfrm>
            <a:off x="9578340" y="3735324"/>
            <a:ext cx="155448" cy="155448"/>
          </a:xfrm>
          <a:prstGeom prst="ellipse">
            <a:avLst/>
          </a:prstGeom>
          <a:solidFill>
            <a:srgbClr val="12A566"/>
          </a:solidFill>
          <a:ln w="12700">
            <a:solidFill>
              <a:srgbClr val="12A566"/>
            </a:solidFill>
            <a:prstDash val="solid"/>
          </a:ln>
        </p:spPr>
      </p:sp>
      <p:sp>
        <p:nvSpPr>
          <p:cNvPr id="143" name="Text 141"/>
          <p:cNvSpPr txBox="1"/>
          <p:nvPr/>
        </p:nvSpPr>
        <p:spPr>
          <a:xfrm>
            <a:off x="9948672" y="3650566"/>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$6.61M</a:t>
            </a:r>
            <a:endParaRPr lang="en-US" sz="1300" dirty="0"/>
          </a:p>
        </p:txBody>
      </p:sp>
      <p:sp>
        <p:nvSpPr>
          <p:cNvPr id="144" name="Text 142"/>
          <p:cNvSpPr txBox="1"/>
          <p:nvPr/>
        </p:nvSpPr>
        <p:spPr>
          <a:xfrm>
            <a:off x="10789920" y="3650566"/>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+2.0%</a:t>
            </a:r>
            <a:endParaRPr lang="en-US" sz="1300" dirty="0"/>
          </a:p>
        </p:txBody>
      </p:sp>
      <p:sp>
        <p:nvSpPr>
          <p:cNvPr id="145" name="Shape 143"/>
          <p:cNvSpPr/>
          <p:nvPr/>
        </p:nvSpPr>
        <p:spPr>
          <a:xfrm>
            <a:off x="6135624" y="3975530"/>
            <a:ext cx="5486400" cy="324964"/>
          </a:xfrm>
          <a:prstGeom prst="rect">
            <a:avLst/>
          </a:prstGeom>
          <a:solidFill>
            <a:srgbClr val="F7F7F7"/>
          </a:solidFill>
          <a:ln/>
        </p:spPr>
      </p:sp>
      <p:sp>
        <p:nvSpPr>
          <p:cNvPr id="146" name="Text 144"/>
          <p:cNvSpPr txBox="1"/>
          <p:nvPr/>
        </p:nvSpPr>
        <p:spPr>
          <a:xfrm>
            <a:off x="6208776" y="3975530"/>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47" name="Shape 145"/>
          <p:cNvSpPr/>
          <p:nvPr/>
        </p:nvSpPr>
        <p:spPr>
          <a:xfrm>
            <a:off x="8407908" y="4060288"/>
            <a:ext cx="155448" cy="155448"/>
          </a:xfrm>
          <a:prstGeom prst="ellipse">
            <a:avLst/>
          </a:prstGeom>
          <a:solidFill>
            <a:srgbClr val="12A566"/>
          </a:solidFill>
          <a:ln w="12700">
            <a:solidFill>
              <a:srgbClr val="12A566"/>
            </a:solidFill>
            <a:prstDash val="solid"/>
          </a:ln>
        </p:spPr>
      </p:sp>
      <p:sp>
        <p:nvSpPr>
          <p:cNvPr id="148" name="Shape 146"/>
          <p:cNvSpPr/>
          <p:nvPr/>
        </p:nvSpPr>
        <p:spPr>
          <a:xfrm>
            <a:off x="8993124" y="4060288"/>
            <a:ext cx="155448" cy="155448"/>
          </a:xfrm>
          <a:prstGeom prst="ellipse">
            <a:avLst/>
          </a:prstGeom>
          <a:solidFill>
            <a:srgbClr val="FFFFFF"/>
          </a:solidFill>
          <a:ln w="12700">
            <a:solidFill>
              <a:srgbClr val="9AA3AD"/>
            </a:solidFill>
            <a:prstDash val="solid"/>
          </a:ln>
        </p:spPr>
      </p:sp>
      <p:sp>
        <p:nvSpPr>
          <p:cNvPr id="149" name="Shape 147"/>
          <p:cNvSpPr/>
          <p:nvPr/>
        </p:nvSpPr>
        <p:spPr>
          <a:xfrm>
            <a:off x="9578340" y="4060288"/>
            <a:ext cx="155448" cy="155448"/>
          </a:xfrm>
          <a:prstGeom prst="ellipse">
            <a:avLst/>
          </a:prstGeom>
          <a:solidFill>
            <a:srgbClr val="12A566"/>
          </a:solidFill>
          <a:ln w="12700">
            <a:solidFill>
              <a:srgbClr val="12A566"/>
            </a:solidFill>
            <a:prstDash val="solid"/>
          </a:ln>
        </p:spPr>
      </p:sp>
      <p:sp>
        <p:nvSpPr>
          <p:cNvPr id="150" name="Text 148"/>
          <p:cNvSpPr txBox="1"/>
          <p:nvPr/>
        </p:nvSpPr>
        <p:spPr>
          <a:xfrm>
            <a:off x="9948672" y="3975530"/>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$6.15M</a:t>
            </a:r>
            <a:endParaRPr lang="en-US" sz="1300" dirty="0"/>
          </a:p>
        </p:txBody>
      </p:sp>
      <p:sp>
        <p:nvSpPr>
          <p:cNvPr id="151" name="Text 149"/>
          <p:cNvSpPr txBox="1"/>
          <p:nvPr/>
        </p:nvSpPr>
        <p:spPr>
          <a:xfrm>
            <a:off x="10789920" y="3975530"/>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+2.0%</a:t>
            </a:r>
            <a:endParaRPr lang="en-US" sz="1300" dirty="0"/>
          </a:p>
        </p:txBody>
      </p:sp>
      <p:sp>
        <p:nvSpPr>
          <p:cNvPr id="152" name="Text 150"/>
          <p:cNvSpPr txBox="1"/>
          <p:nvPr/>
        </p:nvSpPr>
        <p:spPr>
          <a:xfrm>
            <a:off x="6208776" y="4300494"/>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53" name="Shape 151"/>
          <p:cNvSpPr/>
          <p:nvPr/>
        </p:nvSpPr>
        <p:spPr>
          <a:xfrm>
            <a:off x="8407908" y="4385251"/>
            <a:ext cx="155448" cy="155448"/>
          </a:xfrm>
          <a:prstGeom prst="ellipse">
            <a:avLst/>
          </a:prstGeom>
          <a:solidFill>
            <a:srgbClr val="FFFFFF"/>
          </a:solidFill>
          <a:ln w="12700">
            <a:solidFill>
              <a:srgbClr val="9AA3AD"/>
            </a:solidFill>
            <a:prstDash val="solid"/>
          </a:ln>
        </p:spPr>
      </p:sp>
      <p:sp>
        <p:nvSpPr>
          <p:cNvPr id="154" name="Shape 152"/>
          <p:cNvSpPr/>
          <p:nvPr/>
        </p:nvSpPr>
        <p:spPr>
          <a:xfrm>
            <a:off x="8993124" y="4385251"/>
            <a:ext cx="155448" cy="155448"/>
          </a:xfrm>
          <a:prstGeom prst="ellipse">
            <a:avLst/>
          </a:prstGeom>
          <a:solidFill>
            <a:srgbClr val="12A566"/>
          </a:solidFill>
          <a:ln w="12700">
            <a:solidFill>
              <a:srgbClr val="12A566"/>
            </a:solidFill>
            <a:prstDash val="solid"/>
          </a:ln>
        </p:spPr>
      </p:sp>
      <p:sp>
        <p:nvSpPr>
          <p:cNvPr id="155" name="Shape 153"/>
          <p:cNvSpPr/>
          <p:nvPr/>
        </p:nvSpPr>
        <p:spPr>
          <a:xfrm>
            <a:off x="9578340" y="4385251"/>
            <a:ext cx="155448" cy="155448"/>
          </a:xfrm>
          <a:prstGeom prst="ellipse">
            <a:avLst/>
          </a:prstGeom>
          <a:solidFill>
            <a:srgbClr val="12A566"/>
          </a:solidFill>
          <a:ln w="12700">
            <a:solidFill>
              <a:srgbClr val="12A566"/>
            </a:solidFill>
            <a:prstDash val="solid"/>
          </a:ln>
        </p:spPr>
      </p:sp>
      <p:sp>
        <p:nvSpPr>
          <p:cNvPr id="156" name="Text 154"/>
          <p:cNvSpPr txBox="1"/>
          <p:nvPr/>
        </p:nvSpPr>
        <p:spPr>
          <a:xfrm>
            <a:off x="9948672" y="4300494"/>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$2.42M</a:t>
            </a:r>
            <a:endParaRPr lang="en-US" sz="1300" dirty="0"/>
          </a:p>
        </p:txBody>
      </p:sp>
      <p:sp>
        <p:nvSpPr>
          <p:cNvPr id="157" name="Text 155"/>
          <p:cNvSpPr txBox="1"/>
          <p:nvPr/>
        </p:nvSpPr>
        <p:spPr>
          <a:xfrm>
            <a:off x="10789920" y="4300494"/>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+1.9%</a:t>
            </a:r>
            <a:endParaRPr lang="en-US" sz="1300" dirty="0"/>
          </a:p>
        </p:txBody>
      </p:sp>
      <p:sp>
        <p:nvSpPr>
          <p:cNvPr id="158" name="Shape 156"/>
          <p:cNvSpPr/>
          <p:nvPr/>
        </p:nvSpPr>
        <p:spPr>
          <a:xfrm>
            <a:off x="6135624" y="4625457"/>
            <a:ext cx="5486400" cy="324964"/>
          </a:xfrm>
          <a:prstGeom prst="rect">
            <a:avLst/>
          </a:prstGeom>
          <a:solidFill>
            <a:srgbClr val="F7F7F7"/>
          </a:solidFill>
          <a:ln/>
        </p:spPr>
      </p:sp>
      <p:sp>
        <p:nvSpPr>
          <p:cNvPr id="159" name="Text 157"/>
          <p:cNvSpPr txBox="1"/>
          <p:nvPr/>
        </p:nvSpPr>
        <p:spPr>
          <a:xfrm>
            <a:off x="6208776" y="4625457"/>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60" name="Shape 158"/>
          <p:cNvSpPr/>
          <p:nvPr/>
        </p:nvSpPr>
        <p:spPr>
          <a:xfrm>
            <a:off x="8407908" y="4710215"/>
            <a:ext cx="155448" cy="155448"/>
          </a:xfrm>
          <a:prstGeom prst="ellipse">
            <a:avLst/>
          </a:prstGeom>
          <a:solidFill>
            <a:srgbClr val="12A566"/>
          </a:solidFill>
          <a:ln w="12700">
            <a:solidFill>
              <a:srgbClr val="12A566"/>
            </a:solidFill>
            <a:prstDash val="solid"/>
          </a:ln>
        </p:spPr>
      </p:sp>
      <p:sp>
        <p:nvSpPr>
          <p:cNvPr id="161" name="Shape 159"/>
          <p:cNvSpPr/>
          <p:nvPr/>
        </p:nvSpPr>
        <p:spPr>
          <a:xfrm>
            <a:off x="8993124" y="4710215"/>
            <a:ext cx="155448" cy="155448"/>
          </a:xfrm>
          <a:prstGeom prst="ellipse">
            <a:avLst/>
          </a:prstGeom>
          <a:solidFill>
            <a:srgbClr val="FFFFFF"/>
          </a:solidFill>
          <a:ln w="12700">
            <a:solidFill>
              <a:srgbClr val="9AA3AD"/>
            </a:solidFill>
            <a:prstDash val="solid"/>
          </a:ln>
        </p:spPr>
      </p:sp>
      <p:sp>
        <p:nvSpPr>
          <p:cNvPr id="162" name="Shape 160"/>
          <p:cNvSpPr/>
          <p:nvPr/>
        </p:nvSpPr>
        <p:spPr>
          <a:xfrm>
            <a:off x="9578340" y="4710215"/>
            <a:ext cx="155448" cy="155448"/>
          </a:xfrm>
          <a:prstGeom prst="ellipse">
            <a:avLst/>
          </a:prstGeom>
          <a:solidFill>
            <a:srgbClr val="12A566"/>
          </a:solidFill>
          <a:ln w="12700">
            <a:solidFill>
              <a:srgbClr val="12A566"/>
            </a:solidFill>
            <a:prstDash val="solid"/>
          </a:ln>
        </p:spPr>
      </p:sp>
      <p:sp>
        <p:nvSpPr>
          <p:cNvPr id="163" name="Text 161"/>
          <p:cNvSpPr txBox="1"/>
          <p:nvPr/>
        </p:nvSpPr>
        <p:spPr>
          <a:xfrm>
            <a:off x="9948672" y="4625457"/>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$3.91M</a:t>
            </a:r>
            <a:endParaRPr lang="en-US" sz="1300" dirty="0"/>
          </a:p>
        </p:txBody>
      </p:sp>
      <p:sp>
        <p:nvSpPr>
          <p:cNvPr id="164" name="Text 162"/>
          <p:cNvSpPr txBox="1"/>
          <p:nvPr/>
        </p:nvSpPr>
        <p:spPr>
          <a:xfrm>
            <a:off x="10789920" y="4625457"/>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+1.6%</a:t>
            </a:r>
            <a:endParaRPr lang="en-US" sz="1300" dirty="0"/>
          </a:p>
        </p:txBody>
      </p:sp>
      <p:sp>
        <p:nvSpPr>
          <p:cNvPr id="165" name="Text 163"/>
          <p:cNvSpPr txBox="1"/>
          <p:nvPr/>
        </p:nvSpPr>
        <p:spPr>
          <a:xfrm>
            <a:off x="6208776" y="4950421"/>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66" name="Shape 164"/>
          <p:cNvSpPr/>
          <p:nvPr/>
        </p:nvSpPr>
        <p:spPr>
          <a:xfrm>
            <a:off x="8407908" y="5035179"/>
            <a:ext cx="155448" cy="155448"/>
          </a:xfrm>
          <a:prstGeom prst="ellipse">
            <a:avLst/>
          </a:prstGeom>
          <a:solidFill>
            <a:srgbClr val="FFFFFF"/>
          </a:solidFill>
          <a:ln w="12700">
            <a:solidFill>
              <a:srgbClr val="9AA3AD"/>
            </a:solidFill>
            <a:prstDash val="solid"/>
          </a:ln>
        </p:spPr>
      </p:sp>
      <p:sp>
        <p:nvSpPr>
          <p:cNvPr id="167" name="Shape 165"/>
          <p:cNvSpPr/>
          <p:nvPr/>
        </p:nvSpPr>
        <p:spPr>
          <a:xfrm>
            <a:off x="8993124" y="5035179"/>
            <a:ext cx="155448" cy="155448"/>
          </a:xfrm>
          <a:prstGeom prst="ellipse">
            <a:avLst/>
          </a:prstGeom>
          <a:solidFill>
            <a:srgbClr val="12A566"/>
          </a:solidFill>
          <a:ln w="12700">
            <a:solidFill>
              <a:srgbClr val="12A566"/>
            </a:solidFill>
            <a:prstDash val="solid"/>
          </a:ln>
        </p:spPr>
      </p:sp>
      <p:sp>
        <p:nvSpPr>
          <p:cNvPr id="168" name="Shape 166"/>
          <p:cNvSpPr/>
          <p:nvPr/>
        </p:nvSpPr>
        <p:spPr>
          <a:xfrm>
            <a:off x="9578340" y="5035179"/>
            <a:ext cx="155448" cy="155448"/>
          </a:xfrm>
          <a:prstGeom prst="ellipse">
            <a:avLst/>
          </a:prstGeom>
          <a:solidFill>
            <a:srgbClr val="12A566"/>
          </a:solidFill>
          <a:ln w="12700">
            <a:solidFill>
              <a:srgbClr val="12A566"/>
            </a:solidFill>
            <a:prstDash val="solid"/>
          </a:ln>
        </p:spPr>
      </p:sp>
      <p:sp>
        <p:nvSpPr>
          <p:cNvPr id="169" name="Text 167"/>
          <p:cNvSpPr txBox="1"/>
          <p:nvPr/>
        </p:nvSpPr>
        <p:spPr>
          <a:xfrm>
            <a:off x="9948672" y="4950421"/>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$1.59M</a:t>
            </a:r>
            <a:endParaRPr lang="en-US" sz="1300" dirty="0"/>
          </a:p>
        </p:txBody>
      </p:sp>
      <p:sp>
        <p:nvSpPr>
          <p:cNvPr id="170" name="Text 168"/>
          <p:cNvSpPr txBox="1"/>
          <p:nvPr/>
        </p:nvSpPr>
        <p:spPr>
          <a:xfrm>
            <a:off x="10789920" y="4950421"/>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+1.4%</a:t>
            </a:r>
            <a:endParaRPr lang="en-US" sz="1300" dirty="0"/>
          </a:p>
        </p:txBody>
      </p:sp>
      <p:sp>
        <p:nvSpPr>
          <p:cNvPr id="171" name="Shape 169"/>
          <p:cNvSpPr/>
          <p:nvPr/>
        </p:nvSpPr>
        <p:spPr>
          <a:xfrm>
            <a:off x="6135624" y="5275385"/>
            <a:ext cx="5486400" cy="324964"/>
          </a:xfrm>
          <a:prstGeom prst="rect">
            <a:avLst/>
          </a:prstGeom>
          <a:solidFill>
            <a:srgbClr val="F7F7F7"/>
          </a:solidFill>
          <a:ln/>
        </p:spPr>
      </p:sp>
      <p:sp>
        <p:nvSpPr>
          <p:cNvPr id="172" name="Text 170"/>
          <p:cNvSpPr txBox="1"/>
          <p:nvPr/>
        </p:nvSpPr>
        <p:spPr>
          <a:xfrm>
            <a:off x="6208776" y="5275385"/>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73" name="Shape 171"/>
          <p:cNvSpPr/>
          <p:nvPr/>
        </p:nvSpPr>
        <p:spPr>
          <a:xfrm>
            <a:off x="8407908" y="5360142"/>
            <a:ext cx="155448" cy="155448"/>
          </a:xfrm>
          <a:prstGeom prst="ellipse">
            <a:avLst/>
          </a:prstGeom>
          <a:solidFill>
            <a:srgbClr val="12A566"/>
          </a:solidFill>
          <a:ln w="12700">
            <a:solidFill>
              <a:srgbClr val="12A566"/>
            </a:solidFill>
            <a:prstDash val="solid"/>
          </a:ln>
        </p:spPr>
      </p:sp>
      <p:sp>
        <p:nvSpPr>
          <p:cNvPr id="174" name="Shape 172"/>
          <p:cNvSpPr/>
          <p:nvPr/>
        </p:nvSpPr>
        <p:spPr>
          <a:xfrm>
            <a:off x="8993124" y="5360142"/>
            <a:ext cx="155448" cy="155448"/>
          </a:xfrm>
          <a:prstGeom prst="ellipse">
            <a:avLst/>
          </a:prstGeom>
          <a:solidFill>
            <a:srgbClr val="FFFFFF"/>
          </a:solidFill>
          <a:ln w="12700">
            <a:solidFill>
              <a:srgbClr val="9AA3AD"/>
            </a:solidFill>
            <a:prstDash val="solid"/>
          </a:ln>
        </p:spPr>
      </p:sp>
      <p:sp>
        <p:nvSpPr>
          <p:cNvPr id="175" name="Shape 173"/>
          <p:cNvSpPr/>
          <p:nvPr/>
        </p:nvSpPr>
        <p:spPr>
          <a:xfrm>
            <a:off x="9578340" y="5360142"/>
            <a:ext cx="155448" cy="155448"/>
          </a:xfrm>
          <a:prstGeom prst="ellipse">
            <a:avLst/>
          </a:prstGeom>
          <a:solidFill>
            <a:srgbClr val="12A566"/>
          </a:solidFill>
          <a:ln w="12700">
            <a:solidFill>
              <a:srgbClr val="12A566"/>
            </a:solidFill>
            <a:prstDash val="solid"/>
          </a:ln>
        </p:spPr>
      </p:sp>
      <p:sp>
        <p:nvSpPr>
          <p:cNvPr id="176" name="Text 174"/>
          <p:cNvSpPr txBox="1"/>
          <p:nvPr/>
        </p:nvSpPr>
        <p:spPr>
          <a:xfrm>
            <a:off x="9948672" y="5275385"/>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$4.53M</a:t>
            </a:r>
            <a:endParaRPr lang="en-US" sz="1300" dirty="0"/>
          </a:p>
        </p:txBody>
      </p:sp>
      <p:sp>
        <p:nvSpPr>
          <p:cNvPr id="177" name="Text 175"/>
          <p:cNvSpPr txBox="1"/>
          <p:nvPr/>
        </p:nvSpPr>
        <p:spPr>
          <a:xfrm>
            <a:off x="10789920" y="5275385"/>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+0.8%</a:t>
            </a:r>
            <a:endParaRPr lang="en-US" sz="1300" dirty="0"/>
          </a:p>
        </p:txBody>
      </p:sp>
      <p:sp>
        <p:nvSpPr>
          <p:cNvPr id="178" name="Shape 176"/>
          <p:cNvSpPr/>
          <p:nvPr/>
        </p:nvSpPr>
        <p:spPr>
          <a:xfrm>
            <a:off x="457200" y="6126480"/>
            <a:ext cx="11274552" cy="371856"/>
          </a:xfrm>
          <a:prstGeom prst="rect">
            <a:avLst/>
          </a:prstGeom>
          <a:solidFill>
            <a:srgbClr val="E6F6EE"/>
          </a:solidFill>
          <a:ln/>
        </p:spPr>
      </p:sp>
      <p:sp>
        <p:nvSpPr>
          <p:cNvPr id="179" name="Text 17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25 of 33 stores set a January–September record; 13 set it in service, parts and total.</a:t>
            </a:r>
            <a:endParaRPr lang="en-US" sz="1600" dirty="0"/>
          </a:p>
        </p:txBody>
      </p:sp>
    </p:spTree>
  </p:cSld>
  <p:clrMapOvr>
    <a:masterClrMapping/>
  </p:clrMapOvr>
</p:sld>
</file>

<file path=ppt/slides/slide17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STORE RECORDS · SPOTLIGHT BY %</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Best January–September Ever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713232" y="1481328"/>
            <a:ext cx="2539746" cy="3017520"/>
          </a:xfrm>
          <a:prstGeom prst="rect">
            <a:avLst/>
          </a:prstGeom>
          <a:solidFill>
            <a:srgbClr val="F7F7F7"/>
          </a:solidFill>
          <a:ln/>
        </p:spPr>
      </p:sp>
      <p:sp>
        <p:nvSpPr>
          <p:cNvPr id="7" name="Shape 5"/>
          <p:cNvSpPr/>
          <p:nvPr/>
        </p:nvSpPr>
        <p:spPr>
          <a:xfrm>
            <a:off x="713232" y="1481328"/>
            <a:ext cx="2539746" cy="64008"/>
          </a:xfrm>
          <a:prstGeom prst="rect">
            <a:avLst/>
          </a:prstGeom>
          <a:solidFill>
            <a:srgbClr val="12A566"/>
          </a:solidFill>
          <a:ln/>
        </p:spPr>
      </p:sp>
      <p:sp>
        <p:nvSpPr>
          <p:cNvPr id="8" name="Text 6"/>
          <p:cNvSpPr txBox="1"/>
          <p:nvPr/>
        </p:nvSpPr>
        <p:spPr>
          <a:xfrm>
            <a:off x="896112"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HYUNDAI PRESCOTT</a:t>
            </a:r>
            <a:endParaRPr lang="en-US" sz="1400" dirty="0"/>
          </a:p>
        </p:txBody>
      </p:sp>
      <p:sp>
        <p:nvSpPr>
          <p:cNvPr id="9" name="Text 7"/>
          <p:cNvSpPr txBox="1"/>
          <p:nvPr/>
        </p:nvSpPr>
        <p:spPr>
          <a:xfrm>
            <a:off x="896112"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7A4A"/>
                </a:solidFill>
                <a:latin typeface="Inter" pitchFamily="34" charset="0"/>
                <a:ea typeface="Inter" pitchFamily="34" charset="-122"/>
                <a:cs typeface="Inter" pitchFamily="34" charset="-120"/>
              </a:rPr>
              <a:t>+35.7%</a:t>
            </a:r>
            <a:endParaRPr lang="en-US" sz="4000" dirty="0"/>
          </a:p>
        </p:txBody>
      </p:sp>
      <p:sp>
        <p:nvSpPr>
          <p:cNvPr id="10" name="Text 8"/>
          <p:cNvSpPr txBox="1"/>
          <p:nvPr/>
        </p:nvSpPr>
        <p:spPr>
          <a:xfrm>
            <a:off x="896112"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$1.54M vs $1.13M, the previous best (2025).</a:t>
            </a:r>
            <a:endParaRPr lang="en-US" sz="1500" dirty="0"/>
          </a:p>
        </p:txBody>
      </p:sp>
      <p:sp>
        <p:nvSpPr>
          <p:cNvPr id="11" name="Shape 9"/>
          <p:cNvSpPr/>
          <p:nvPr/>
        </p:nvSpPr>
        <p:spPr>
          <a:xfrm>
            <a:off x="3454146" y="1481328"/>
            <a:ext cx="2539746" cy="3017520"/>
          </a:xfrm>
          <a:prstGeom prst="rect">
            <a:avLst/>
          </a:prstGeom>
          <a:solidFill>
            <a:srgbClr val="F7F7F7"/>
          </a:solidFill>
          <a:ln/>
        </p:spPr>
      </p:sp>
      <p:sp>
        <p:nvSpPr>
          <p:cNvPr id="12" name="Shape 10"/>
          <p:cNvSpPr/>
          <p:nvPr/>
        </p:nvSpPr>
        <p:spPr>
          <a:xfrm>
            <a:off x="3454146" y="1481328"/>
            <a:ext cx="2539746" cy="64008"/>
          </a:xfrm>
          <a:prstGeom prst="rect">
            <a:avLst/>
          </a:prstGeom>
          <a:solidFill>
            <a:srgbClr val="12A566"/>
          </a:solidFill>
          <a:ln/>
        </p:spPr>
      </p:sp>
      <p:sp>
        <p:nvSpPr>
          <p:cNvPr id="13" name="Text 11"/>
          <p:cNvSpPr txBox="1"/>
          <p:nvPr/>
        </p:nvSpPr>
        <p:spPr>
          <a:xfrm>
            <a:off x="3637026"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LINCOLN</a:t>
            </a:r>
            <a:endParaRPr lang="en-US" sz="1400" dirty="0"/>
          </a:p>
        </p:txBody>
      </p:sp>
      <p:sp>
        <p:nvSpPr>
          <p:cNvPr id="14" name="Text 12"/>
          <p:cNvSpPr txBox="1"/>
          <p:nvPr/>
        </p:nvSpPr>
        <p:spPr>
          <a:xfrm>
            <a:off x="3637026"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7A4A"/>
                </a:solidFill>
                <a:latin typeface="Inter" pitchFamily="34" charset="0"/>
                <a:ea typeface="Inter" pitchFamily="34" charset="-122"/>
                <a:cs typeface="Inter" pitchFamily="34" charset="-120"/>
              </a:rPr>
              <a:t>+31.6%</a:t>
            </a:r>
            <a:endParaRPr lang="en-US" sz="4000" dirty="0"/>
          </a:p>
        </p:txBody>
      </p:sp>
      <p:sp>
        <p:nvSpPr>
          <p:cNvPr id="15" name="Text 13"/>
          <p:cNvSpPr txBox="1"/>
          <p:nvPr/>
        </p:nvSpPr>
        <p:spPr>
          <a:xfrm>
            <a:off x="3637026"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$2.98M vs $2.26M, the previous best (2025).</a:t>
            </a:r>
            <a:endParaRPr lang="en-US" sz="1500" dirty="0"/>
          </a:p>
        </p:txBody>
      </p:sp>
      <p:sp>
        <p:nvSpPr>
          <p:cNvPr id="16" name="Shape 14"/>
          <p:cNvSpPr/>
          <p:nvPr/>
        </p:nvSpPr>
        <p:spPr>
          <a:xfrm>
            <a:off x="6195060" y="1481328"/>
            <a:ext cx="2539746" cy="3017520"/>
          </a:xfrm>
          <a:prstGeom prst="rect">
            <a:avLst/>
          </a:prstGeom>
          <a:solidFill>
            <a:srgbClr val="F7F7F7"/>
          </a:solidFill>
          <a:ln/>
        </p:spPr>
      </p:sp>
      <p:sp>
        <p:nvSpPr>
          <p:cNvPr id="17" name="Shape 15"/>
          <p:cNvSpPr/>
          <p:nvPr/>
        </p:nvSpPr>
        <p:spPr>
          <a:xfrm>
            <a:off x="6195060" y="1481328"/>
            <a:ext cx="2539746" cy="64008"/>
          </a:xfrm>
          <a:prstGeom prst="rect">
            <a:avLst/>
          </a:prstGeom>
          <a:solidFill>
            <a:srgbClr val="12A566"/>
          </a:solidFill>
          <a:ln/>
        </p:spPr>
      </p:sp>
      <p:sp>
        <p:nvSpPr>
          <p:cNvPr id="18" name="Text 16"/>
          <p:cNvSpPr txBox="1"/>
          <p:nvPr/>
        </p:nvSpPr>
        <p:spPr>
          <a:xfrm>
            <a:off x="6377940"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LEXUS</a:t>
            </a:r>
            <a:endParaRPr lang="en-US" sz="1400" dirty="0"/>
          </a:p>
        </p:txBody>
      </p:sp>
      <p:sp>
        <p:nvSpPr>
          <p:cNvPr id="19" name="Text 17"/>
          <p:cNvSpPr txBox="1"/>
          <p:nvPr/>
        </p:nvSpPr>
        <p:spPr>
          <a:xfrm>
            <a:off x="6377940"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7A4A"/>
                </a:solidFill>
                <a:latin typeface="Inter" pitchFamily="34" charset="0"/>
                <a:ea typeface="Inter" pitchFamily="34" charset="-122"/>
                <a:cs typeface="Inter" pitchFamily="34" charset="-120"/>
              </a:rPr>
              <a:t>+22.5%</a:t>
            </a:r>
            <a:endParaRPr lang="en-US" sz="4000" dirty="0"/>
          </a:p>
        </p:txBody>
      </p:sp>
      <p:sp>
        <p:nvSpPr>
          <p:cNvPr id="20" name="Text 18"/>
          <p:cNvSpPr txBox="1"/>
          <p:nvPr/>
        </p:nvSpPr>
        <p:spPr>
          <a:xfrm>
            <a:off x="6377940"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$4.15M vs $3.38M, the previous best (2025).</a:t>
            </a:r>
            <a:endParaRPr lang="en-US" sz="1500" dirty="0"/>
          </a:p>
        </p:txBody>
      </p:sp>
      <p:sp>
        <p:nvSpPr>
          <p:cNvPr id="21" name="Shape 19"/>
          <p:cNvSpPr/>
          <p:nvPr/>
        </p:nvSpPr>
        <p:spPr>
          <a:xfrm>
            <a:off x="8935974" y="1481328"/>
            <a:ext cx="2539746" cy="3017520"/>
          </a:xfrm>
          <a:prstGeom prst="rect">
            <a:avLst/>
          </a:prstGeom>
          <a:solidFill>
            <a:srgbClr val="F7F7F7"/>
          </a:solidFill>
          <a:ln/>
        </p:spPr>
      </p:sp>
      <p:sp>
        <p:nvSpPr>
          <p:cNvPr id="22" name="Shape 20"/>
          <p:cNvSpPr/>
          <p:nvPr/>
        </p:nvSpPr>
        <p:spPr>
          <a:xfrm>
            <a:off x="8935974" y="1481328"/>
            <a:ext cx="2539746" cy="64008"/>
          </a:xfrm>
          <a:prstGeom prst="rect">
            <a:avLst/>
          </a:prstGeom>
          <a:solidFill>
            <a:srgbClr val="12A566"/>
          </a:solidFill>
          <a:ln/>
        </p:spPr>
      </p:sp>
      <p:sp>
        <p:nvSpPr>
          <p:cNvPr id="23" name="Text 21"/>
          <p:cNvSpPr txBox="1"/>
          <p:nvPr/>
        </p:nvSpPr>
        <p:spPr>
          <a:xfrm>
            <a:off x="9118854"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AUDI HENDERSON</a:t>
            </a:r>
            <a:endParaRPr lang="en-US" sz="1400" dirty="0"/>
          </a:p>
        </p:txBody>
      </p:sp>
      <p:sp>
        <p:nvSpPr>
          <p:cNvPr id="24" name="Text 22"/>
          <p:cNvSpPr txBox="1"/>
          <p:nvPr/>
        </p:nvSpPr>
        <p:spPr>
          <a:xfrm>
            <a:off x="9118854"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7A4A"/>
                </a:solidFill>
                <a:latin typeface="Inter" pitchFamily="34" charset="0"/>
                <a:ea typeface="Inter" pitchFamily="34" charset="-122"/>
                <a:cs typeface="Inter" pitchFamily="34" charset="-120"/>
              </a:rPr>
              <a:t>+16.0%</a:t>
            </a:r>
            <a:endParaRPr lang="en-US" sz="4000" dirty="0"/>
          </a:p>
        </p:txBody>
      </p:sp>
      <p:sp>
        <p:nvSpPr>
          <p:cNvPr id="25" name="Text 23"/>
          <p:cNvSpPr txBox="1"/>
          <p:nvPr/>
        </p:nvSpPr>
        <p:spPr>
          <a:xfrm>
            <a:off x="9118854"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$12.34M vs $10.64M, the previous best (2025).</a:t>
            </a:r>
            <a:endParaRPr lang="en-US" sz="1500" dirty="0"/>
          </a:p>
        </p:txBody>
      </p:sp>
      <p:sp>
        <p:nvSpPr>
          <p:cNvPr id="26" name="Text 24"/>
          <p:cNvSpPr txBox="1"/>
          <p:nvPr/>
        </p:nvSpPr>
        <p:spPr>
          <a:xfrm>
            <a:off x="713232" y="4709160"/>
            <a:ext cx="10762488" cy="914400"/>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What changed? Each of these stores tells the room one thing they did differently this year.</a:t>
            </a:r>
            <a:endParaRPr lang="en-US" sz="1700" dirty="0"/>
          </a:p>
        </p:txBody>
      </p:sp>
      <p:sp>
        <p:nvSpPr>
          <p:cNvPr id="27" name="Shape 25"/>
          <p:cNvSpPr/>
          <p:nvPr/>
        </p:nvSpPr>
        <p:spPr>
          <a:xfrm>
            <a:off x="457200" y="6126480"/>
            <a:ext cx="11274552" cy="348996"/>
          </a:xfrm>
          <a:prstGeom prst="rect">
            <a:avLst/>
          </a:prstGeom>
          <a:solidFill>
            <a:srgbClr val="E6F6EE"/>
          </a:solidFill>
          <a:ln/>
        </p:spPr>
      </p:sp>
      <p:sp>
        <p:nvSpPr>
          <p:cNvPr id="28" name="Text 26"/>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7A4A"/>
                </a:solidFill>
                <a:latin typeface="Inter" pitchFamily="34" charset="0"/>
                <a:ea typeface="Inter" pitchFamily="34" charset="-122"/>
                <a:cs typeface="Inter" pitchFamily="34" charset="-120"/>
              </a:rPr>
              <a:t>Hyundai Prescott, Lincoln, Lexus and Audi Henderson beat their previous best by the most in percentage terms.</a:t>
            </a:r>
            <a:endParaRPr lang="en-US" sz="1450" dirty="0"/>
          </a:p>
        </p:txBody>
      </p:sp>
    </p:spTree>
  </p:cSld>
  <p:clrMapOvr>
    <a:masterClrMapping/>
  </p:clrMapOvr>
</p:sld>
</file>

<file path=ppt/slides/slide17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STORE RECORDS · SPOTLIGHT BY $</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Best January–September Ever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713232" y="1481328"/>
            <a:ext cx="2539746" cy="3017520"/>
          </a:xfrm>
          <a:prstGeom prst="rect">
            <a:avLst/>
          </a:prstGeom>
          <a:solidFill>
            <a:srgbClr val="F7F7F7"/>
          </a:solidFill>
          <a:ln/>
        </p:spPr>
      </p:sp>
      <p:sp>
        <p:nvSpPr>
          <p:cNvPr id="7" name="Shape 5"/>
          <p:cNvSpPr/>
          <p:nvPr/>
        </p:nvSpPr>
        <p:spPr>
          <a:xfrm>
            <a:off x="713232" y="1481328"/>
            <a:ext cx="2539746" cy="64008"/>
          </a:xfrm>
          <a:prstGeom prst="rect">
            <a:avLst/>
          </a:prstGeom>
          <a:solidFill>
            <a:srgbClr val="12A566"/>
          </a:solidFill>
          <a:ln/>
        </p:spPr>
      </p:sp>
      <p:sp>
        <p:nvSpPr>
          <p:cNvPr id="8" name="Text 6"/>
          <p:cNvSpPr txBox="1"/>
          <p:nvPr/>
        </p:nvSpPr>
        <p:spPr>
          <a:xfrm>
            <a:off x="896112"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TOYOTA HENDERSON</a:t>
            </a:r>
            <a:endParaRPr lang="en-US" sz="1400" dirty="0"/>
          </a:p>
        </p:txBody>
      </p:sp>
      <p:sp>
        <p:nvSpPr>
          <p:cNvPr id="9" name="Text 7"/>
          <p:cNvSpPr txBox="1"/>
          <p:nvPr/>
        </p:nvSpPr>
        <p:spPr>
          <a:xfrm>
            <a:off x="896112" y="2286000"/>
            <a:ext cx="2173986" cy="868680"/>
          </a:xfrm>
          <a:prstGeom prst="rect">
            <a:avLst/>
          </a:prstGeom>
          <a:noFill/>
          <a:ln/>
        </p:spPr>
        <p:txBody>
          <a:bodyPr wrap="square" lIns="0" tIns="0" rIns="0" bIns="0" rtlCol="0" anchor="ctr">
            <a:normAutofit/>
          </a:bodyPr>
          <a:lstStyle/>
          <a:p>
            <a:pPr indent="0" marL="0">
              <a:buNone/>
            </a:pPr>
            <a:r>
              <a:rPr lang="en-US" sz="3200" b="1" dirty="0">
                <a:solidFill>
                  <a:srgbClr val="0B7A4A"/>
                </a:solidFill>
                <a:latin typeface="Inter" pitchFamily="34" charset="0"/>
                <a:ea typeface="Inter" pitchFamily="34" charset="-122"/>
                <a:cs typeface="Inter" pitchFamily="34" charset="-120"/>
              </a:rPr>
              <a:t>+$1.77M</a:t>
            </a:r>
            <a:endParaRPr lang="en-US" sz="3200" dirty="0"/>
          </a:p>
        </p:txBody>
      </p:sp>
      <p:sp>
        <p:nvSpPr>
          <p:cNvPr id="10" name="Text 8"/>
          <p:cNvSpPr txBox="1"/>
          <p:nvPr/>
        </p:nvSpPr>
        <p:spPr>
          <a:xfrm>
            <a:off x="896112"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$22.59M vs $20.82M, the previous best (2025); +8.5%.</a:t>
            </a:r>
            <a:endParaRPr lang="en-US" sz="1500" dirty="0"/>
          </a:p>
        </p:txBody>
      </p:sp>
      <p:sp>
        <p:nvSpPr>
          <p:cNvPr id="11" name="Shape 9"/>
          <p:cNvSpPr/>
          <p:nvPr/>
        </p:nvSpPr>
        <p:spPr>
          <a:xfrm>
            <a:off x="3454146" y="1481328"/>
            <a:ext cx="2539746" cy="3017520"/>
          </a:xfrm>
          <a:prstGeom prst="rect">
            <a:avLst/>
          </a:prstGeom>
          <a:solidFill>
            <a:srgbClr val="F7F7F7"/>
          </a:solidFill>
          <a:ln/>
        </p:spPr>
      </p:sp>
      <p:sp>
        <p:nvSpPr>
          <p:cNvPr id="12" name="Shape 10"/>
          <p:cNvSpPr/>
          <p:nvPr/>
        </p:nvSpPr>
        <p:spPr>
          <a:xfrm>
            <a:off x="3454146" y="1481328"/>
            <a:ext cx="2539746" cy="64008"/>
          </a:xfrm>
          <a:prstGeom prst="rect">
            <a:avLst/>
          </a:prstGeom>
          <a:solidFill>
            <a:srgbClr val="12A566"/>
          </a:solidFill>
          <a:ln/>
        </p:spPr>
      </p:sp>
      <p:sp>
        <p:nvSpPr>
          <p:cNvPr id="13" name="Text 11"/>
          <p:cNvSpPr txBox="1"/>
          <p:nvPr/>
        </p:nvSpPr>
        <p:spPr>
          <a:xfrm>
            <a:off x="3637026"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AUDI HENDERSON</a:t>
            </a:r>
            <a:endParaRPr lang="en-US" sz="1400" dirty="0"/>
          </a:p>
        </p:txBody>
      </p:sp>
      <p:sp>
        <p:nvSpPr>
          <p:cNvPr id="14" name="Text 12"/>
          <p:cNvSpPr txBox="1"/>
          <p:nvPr/>
        </p:nvSpPr>
        <p:spPr>
          <a:xfrm>
            <a:off x="3637026" y="2286000"/>
            <a:ext cx="2173986" cy="868680"/>
          </a:xfrm>
          <a:prstGeom prst="rect">
            <a:avLst/>
          </a:prstGeom>
          <a:noFill/>
          <a:ln/>
        </p:spPr>
        <p:txBody>
          <a:bodyPr wrap="square" lIns="0" tIns="0" rIns="0" bIns="0" rtlCol="0" anchor="ctr">
            <a:normAutofit/>
          </a:bodyPr>
          <a:lstStyle/>
          <a:p>
            <a:pPr indent="0" marL="0">
              <a:buNone/>
            </a:pPr>
            <a:r>
              <a:rPr lang="en-US" sz="3200" b="1" dirty="0">
                <a:solidFill>
                  <a:srgbClr val="0B7A4A"/>
                </a:solidFill>
                <a:latin typeface="Inter" pitchFamily="34" charset="0"/>
                <a:ea typeface="Inter" pitchFamily="34" charset="-122"/>
                <a:cs typeface="Inter" pitchFamily="34" charset="-120"/>
              </a:rPr>
              <a:t>+$1.70M</a:t>
            </a:r>
            <a:endParaRPr lang="en-US" sz="3200" dirty="0"/>
          </a:p>
        </p:txBody>
      </p:sp>
      <p:sp>
        <p:nvSpPr>
          <p:cNvPr id="15" name="Text 13"/>
          <p:cNvSpPr txBox="1"/>
          <p:nvPr/>
        </p:nvSpPr>
        <p:spPr>
          <a:xfrm>
            <a:off x="3637026"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$12.34M vs $10.64M, the previous best (2025); +16.0%.</a:t>
            </a:r>
            <a:endParaRPr lang="en-US" sz="1500" dirty="0"/>
          </a:p>
        </p:txBody>
      </p:sp>
      <p:sp>
        <p:nvSpPr>
          <p:cNvPr id="16" name="Shape 14"/>
          <p:cNvSpPr/>
          <p:nvPr/>
        </p:nvSpPr>
        <p:spPr>
          <a:xfrm>
            <a:off x="6195060" y="1481328"/>
            <a:ext cx="2539746" cy="3017520"/>
          </a:xfrm>
          <a:prstGeom prst="rect">
            <a:avLst/>
          </a:prstGeom>
          <a:solidFill>
            <a:srgbClr val="F7F7F7"/>
          </a:solidFill>
          <a:ln/>
        </p:spPr>
      </p:sp>
      <p:sp>
        <p:nvSpPr>
          <p:cNvPr id="17" name="Shape 15"/>
          <p:cNvSpPr/>
          <p:nvPr/>
        </p:nvSpPr>
        <p:spPr>
          <a:xfrm>
            <a:off x="6195060" y="1481328"/>
            <a:ext cx="2539746" cy="64008"/>
          </a:xfrm>
          <a:prstGeom prst="rect">
            <a:avLst/>
          </a:prstGeom>
          <a:solidFill>
            <a:srgbClr val="12A566"/>
          </a:solidFill>
          <a:ln/>
        </p:spPr>
      </p:sp>
      <p:sp>
        <p:nvSpPr>
          <p:cNvPr id="18" name="Text 16"/>
          <p:cNvSpPr txBox="1"/>
          <p:nvPr/>
        </p:nvSpPr>
        <p:spPr>
          <a:xfrm>
            <a:off x="6377940"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LEXUS</a:t>
            </a:r>
            <a:endParaRPr lang="en-US" sz="1400" dirty="0"/>
          </a:p>
        </p:txBody>
      </p:sp>
      <p:sp>
        <p:nvSpPr>
          <p:cNvPr id="19" name="Text 17"/>
          <p:cNvSpPr txBox="1"/>
          <p:nvPr/>
        </p:nvSpPr>
        <p:spPr>
          <a:xfrm>
            <a:off x="6377940" y="2286000"/>
            <a:ext cx="2173986" cy="868680"/>
          </a:xfrm>
          <a:prstGeom prst="rect">
            <a:avLst/>
          </a:prstGeom>
          <a:noFill/>
          <a:ln/>
        </p:spPr>
        <p:txBody>
          <a:bodyPr wrap="square" lIns="0" tIns="0" rIns="0" bIns="0" rtlCol="0" anchor="ctr">
            <a:normAutofit/>
          </a:bodyPr>
          <a:lstStyle/>
          <a:p>
            <a:pPr indent="0" marL="0">
              <a:buNone/>
            </a:pPr>
            <a:r>
              <a:rPr lang="en-US" sz="3200" b="1" dirty="0">
                <a:solidFill>
                  <a:srgbClr val="0B7A4A"/>
                </a:solidFill>
                <a:latin typeface="Inter" pitchFamily="34" charset="0"/>
                <a:ea typeface="Inter" pitchFamily="34" charset="-122"/>
                <a:cs typeface="Inter" pitchFamily="34" charset="-120"/>
              </a:rPr>
              <a:t>+$0.76M</a:t>
            </a:r>
            <a:endParaRPr lang="en-US" sz="3200" dirty="0"/>
          </a:p>
        </p:txBody>
      </p:sp>
      <p:sp>
        <p:nvSpPr>
          <p:cNvPr id="20" name="Text 18"/>
          <p:cNvSpPr txBox="1"/>
          <p:nvPr/>
        </p:nvSpPr>
        <p:spPr>
          <a:xfrm>
            <a:off x="6377940"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$4.15M vs $3.38M, the previous best (2025); +22.5%.</a:t>
            </a:r>
            <a:endParaRPr lang="en-US" sz="1500" dirty="0"/>
          </a:p>
        </p:txBody>
      </p:sp>
      <p:sp>
        <p:nvSpPr>
          <p:cNvPr id="21" name="Shape 19"/>
          <p:cNvSpPr/>
          <p:nvPr/>
        </p:nvSpPr>
        <p:spPr>
          <a:xfrm>
            <a:off x="8935974" y="1481328"/>
            <a:ext cx="2539746" cy="3017520"/>
          </a:xfrm>
          <a:prstGeom prst="rect">
            <a:avLst/>
          </a:prstGeom>
          <a:solidFill>
            <a:srgbClr val="F7F7F7"/>
          </a:solidFill>
          <a:ln/>
        </p:spPr>
      </p:sp>
      <p:sp>
        <p:nvSpPr>
          <p:cNvPr id="22" name="Shape 20"/>
          <p:cNvSpPr/>
          <p:nvPr/>
        </p:nvSpPr>
        <p:spPr>
          <a:xfrm>
            <a:off x="8935974" y="1481328"/>
            <a:ext cx="2539746" cy="64008"/>
          </a:xfrm>
          <a:prstGeom prst="rect">
            <a:avLst/>
          </a:prstGeom>
          <a:solidFill>
            <a:srgbClr val="12A566"/>
          </a:solidFill>
          <a:ln/>
        </p:spPr>
      </p:sp>
      <p:sp>
        <p:nvSpPr>
          <p:cNvPr id="23" name="Text 21"/>
          <p:cNvSpPr txBox="1"/>
          <p:nvPr/>
        </p:nvSpPr>
        <p:spPr>
          <a:xfrm>
            <a:off x="9118854"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LINCOLN</a:t>
            </a:r>
            <a:endParaRPr lang="en-US" sz="1400" dirty="0"/>
          </a:p>
        </p:txBody>
      </p:sp>
      <p:sp>
        <p:nvSpPr>
          <p:cNvPr id="24" name="Text 22"/>
          <p:cNvSpPr txBox="1"/>
          <p:nvPr/>
        </p:nvSpPr>
        <p:spPr>
          <a:xfrm>
            <a:off x="9118854" y="2286000"/>
            <a:ext cx="2173986" cy="868680"/>
          </a:xfrm>
          <a:prstGeom prst="rect">
            <a:avLst/>
          </a:prstGeom>
          <a:noFill/>
          <a:ln/>
        </p:spPr>
        <p:txBody>
          <a:bodyPr wrap="square" lIns="0" tIns="0" rIns="0" bIns="0" rtlCol="0" anchor="ctr">
            <a:normAutofit/>
          </a:bodyPr>
          <a:lstStyle/>
          <a:p>
            <a:pPr indent="0" marL="0">
              <a:buNone/>
            </a:pPr>
            <a:r>
              <a:rPr lang="en-US" sz="3200" b="1" dirty="0">
                <a:solidFill>
                  <a:srgbClr val="0B7A4A"/>
                </a:solidFill>
                <a:latin typeface="Inter" pitchFamily="34" charset="0"/>
                <a:ea typeface="Inter" pitchFamily="34" charset="-122"/>
                <a:cs typeface="Inter" pitchFamily="34" charset="-120"/>
              </a:rPr>
              <a:t>+$0.72M</a:t>
            </a:r>
            <a:endParaRPr lang="en-US" sz="3200" dirty="0"/>
          </a:p>
        </p:txBody>
      </p:sp>
      <p:sp>
        <p:nvSpPr>
          <p:cNvPr id="25" name="Text 23"/>
          <p:cNvSpPr txBox="1"/>
          <p:nvPr/>
        </p:nvSpPr>
        <p:spPr>
          <a:xfrm>
            <a:off x="9118854"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$2.98M vs $2.26M, the previous best (2025); +31.6%.</a:t>
            </a:r>
            <a:endParaRPr lang="en-US" sz="1500" dirty="0"/>
          </a:p>
        </p:txBody>
      </p:sp>
      <p:sp>
        <p:nvSpPr>
          <p:cNvPr id="26" name="Text 24"/>
          <p:cNvSpPr txBox="1"/>
          <p:nvPr/>
        </p:nvSpPr>
        <p:spPr>
          <a:xfrm>
            <a:off x="713232" y="4709160"/>
            <a:ext cx="10762488" cy="914400"/>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What changed? Each of these stores tells the room one thing they did differently this year.</a:t>
            </a:r>
            <a:endParaRPr lang="en-US" sz="1700" dirty="0"/>
          </a:p>
        </p:txBody>
      </p:sp>
      <p:sp>
        <p:nvSpPr>
          <p:cNvPr id="27" name="Shape 25"/>
          <p:cNvSpPr/>
          <p:nvPr/>
        </p:nvSpPr>
        <p:spPr>
          <a:xfrm>
            <a:off x="457200" y="6126480"/>
            <a:ext cx="11274552" cy="364236"/>
          </a:xfrm>
          <a:prstGeom prst="rect">
            <a:avLst/>
          </a:prstGeom>
          <a:solidFill>
            <a:srgbClr val="E6F6EE"/>
          </a:solidFill>
          <a:ln/>
        </p:spPr>
      </p:sp>
      <p:sp>
        <p:nvSpPr>
          <p:cNvPr id="28" name="Text 26"/>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Toyota Henderson, Audi Henderson, Lexus and Lincoln beat their previous best by the most in dollars.</a:t>
            </a:r>
            <a:endParaRPr lang="en-US" sz="1550" dirty="0"/>
          </a:p>
        </p:txBody>
      </p:sp>
    </p:spTree>
  </p:cSld>
  <p:clrMapOvr>
    <a:masterClrMapping/>
  </p:clrMapOvr>
</p:sld>
</file>

<file path=ppt/slides/slide17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STORE RECORDS · RANKER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Monthly Gross Records Set in 2026</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4818888" y="1316736"/>
            <a:ext cx="10515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RECORDS</a:t>
            </a:r>
            <a:endParaRPr lang="en-US" sz="1400" dirty="0"/>
          </a:p>
        </p:txBody>
      </p:sp>
      <p:sp>
        <p:nvSpPr>
          <p:cNvPr id="7" name="Text 5"/>
          <p:cNvSpPr txBox="1"/>
          <p:nvPr/>
        </p:nvSpPr>
        <p:spPr>
          <a:xfrm>
            <a:off x="10369296" y="1316736"/>
            <a:ext cx="10515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RECORDS</a:t>
            </a:r>
            <a:endParaRPr lang="en-US" sz="1400" dirty="0"/>
          </a:p>
        </p:txBody>
      </p:sp>
      <p:sp>
        <p:nvSpPr>
          <p:cNvPr id="8" name="Text 6"/>
          <p:cNvSpPr txBox="1"/>
          <p:nvPr/>
        </p:nvSpPr>
        <p:spPr>
          <a:xfrm>
            <a:off x="658368" y="170078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9" name="Shape 7"/>
          <p:cNvSpPr/>
          <p:nvPr/>
        </p:nvSpPr>
        <p:spPr>
          <a:xfrm>
            <a:off x="2670048" y="1779994"/>
            <a:ext cx="2093976" cy="193624"/>
          </a:xfrm>
          <a:prstGeom prst="rect">
            <a:avLst/>
          </a:prstGeom>
          <a:solidFill>
            <a:srgbClr val="12A566"/>
          </a:solidFill>
          <a:ln/>
        </p:spPr>
      </p:sp>
      <p:sp>
        <p:nvSpPr>
          <p:cNvPr id="10" name="Text 8"/>
          <p:cNvSpPr txBox="1"/>
          <p:nvPr/>
        </p:nvSpPr>
        <p:spPr>
          <a:xfrm>
            <a:off x="4818888" y="1700784"/>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11" name="Text 9"/>
          <p:cNvSpPr txBox="1"/>
          <p:nvPr/>
        </p:nvSpPr>
        <p:spPr>
          <a:xfrm>
            <a:off x="658368" y="2052828"/>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2" name="Shape 10"/>
          <p:cNvSpPr/>
          <p:nvPr/>
        </p:nvSpPr>
        <p:spPr>
          <a:xfrm>
            <a:off x="2670048" y="2132038"/>
            <a:ext cx="2093976" cy="193624"/>
          </a:xfrm>
          <a:prstGeom prst="rect">
            <a:avLst/>
          </a:prstGeom>
          <a:solidFill>
            <a:srgbClr val="12A566"/>
          </a:solidFill>
          <a:ln/>
        </p:spPr>
      </p:sp>
      <p:sp>
        <p:nvSpPr>
          <p:cNvPr id="13" name="Text 11"/>
          <p:cNvSpPr txBox="1"/>
          <p:nvPr/>
        </p:nvSpPr>
        <p:spPr>
          <a:xfrm>
            <a:off x="4818888" y="2052828"/>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14" name="Text 12"/>
          <p:cNvSpPr txBox="1"/>
          <p:nvPr/>
        </p:nvSpPr>
        <p:spPr>
          <a:xfrm>
            <a:off x="658368" y="2404872"/>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5" name="Shape 13"/>
          <p:cNvSpPr/>
          <p:nvPr/>
        </p:nvSpPr>
        <p:spPr>
          <a:xfrm>
            <a:off x="2670048" y="2484082"/>
            <a:ext cx="1861312" cy="193624"/>
          </a:xfrm>
          <a:prstGeom prst="rect">
            <a:avLst/>
          </a:prstGeom>
          <a:solidFill>
            <a:srgbClr val="12A566"/>
          </a:solidFill>
          <a:ln/>
        </p:spPr>
      </p:sp>
      <p:sp>
        <p:nvSpPr>
          <p:cNvPr id="16" name="Text 14"/>
          <p:cNvSpPr txBox="1"/>
          <p:nvPr/>
        </p:nvSpPr>
        <p:spPr>
          <a:xfrm>
            <a:off x="4818888" y="2404872"/>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8</a:t>
            </a:r>
            <a:endParaRPr lang="en-US" sz="1300" dirty="0"/>
          </a:p>
        </p:txBody>
      </p:sp>
      <p:sp>
        <p:nvSpPr>
          <p:cNvPr id="17" name="Text 15"/>
          <p:cNvSpPr txBox="1"/>
          <p:nvPr/>
        </p:nvSpPr>
        <p:spPr>
          <a:xfrm>
            <a:off x="658368" y="2756916"/>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8" name="Shape 16"/>
          <p:cNvSpPr/>
          <p:nvPr/>
        </p:nvSpPr>
        <p:spPr>
          <a:xfrm>
            <a:off x="2670048" y="2836126"/>
            <a:ext cx="1628648" cy="193624"/>
          </a:xfrm>
          <a:prstGeom prst="rect">
            <a:avLst/>
          </a:prstGeom>
          <a:solidFill>
            <a:srgbClr val="12A566"/>
          </a:solidFill>
          <a:ln/>
        </p:spPr>
      </p:sp>
      <p:sp>
        <p:nvSpPr>
          <p:cNvPr id="19" name="Text 17"/>
          <p:cNvSpPr txBox="1"/>
          <p:nvPr/>
        </p:nvSpPr>
        <p:spPr>
          <a:xfrm>
            <a:off x="4818888" y="2756916"/>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7</a:t>
            </a:r>
            <a:endParaRPr lang="en-US" sz="1300" dirty="0"/>
          </a:p>
        </p:txBody>
      </p:sp>
      <p:sp>
        <p:nvSpPr>
          <p:cNvPr id="20" name="Text 18"/>
          <p:cNvSpPr txBox="1"/>
          <p:nvPr/>
        </p:nvSpPr>
        <p:spPr>
          <a:xfrm>
            <a:off x="658368" y="3108960"/>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21" name="Shape 19"/>
          <p:cNvSpPr/>
          <p:nvPr/>
        </p:nvSpPr>
        <p:spPr>
          <a:xfrm>
            <a:off x="2670048" y="3188170"/>
            <a:ext cx="1628648" cy="193624"/>
          </a:xfrm>
          <a:prstGeom prst="rect">
            <a:avLst/>
          </a:prstGeom>
          <a:solidFill>
            <a:srgbClr val="12A566"/>
          </a:solidFill>
          <a:ln/>
        </p:spPr>
      </p:sp>
      <p:sp>
        <p:nvSpPr>
          <p:cNvPr id="22" name="Text 20"/>
          <p:cNvSpPr txBox="1"/>
          <p:nvPr/>
        </p:nvSpPr>
        <p:spPr>
          <a:xfrm>
            <a:off x="4818888" y="3108960"/>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7</a:t>
            </a:r>
            <a:endParaRPr lang="en-US" sz="1300" dirty="0"/>
          </a:p>
        </p:txBody>
      </p:sp>
      <p:sp>
        <p:nvSpPr>
          <p:cNvPr id="23" name="Text 21"/>
          <p:cNvSpPr txBox="1"/>
          <p:nvPr/>
        </p:nvSpPr>
        <p:spPr>
          <a:xfrm>
            <a:off x="658368" y="346100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24" name="Shape 22"/>
          <p:cNvSpPr/>
          <p:nvPr/>
        </p:nvSpPr>
        <p:spPr>
          <a:xfrm>
            <a:off x="2670048" y="3540214"/>
            <a:ext cx="1395984" cy="193624"/>
          </a:xfrm>
          <a:prstGeom prst="rect">
            <a:avLst/>
          </a:prstGeom>
          <a:solidFill>
            <a:srgbClr val="12A566"/>
          </a:solidFill>
          <a:ln/>
        </p:spPr>
      </p:sp>
      <p:sp>
        <p:nvSpPr>
          <p:cNvPr id="25" name="Text 23"/>
          <p:cNvSpPr txBox="1"/>
          <p:nvPr/>
        </p:nvSpPr>
        <p:spPr>
          <a:xfrm>
            <a:off x="4818888" y="3461004"/>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6</a:t>
            </a:r>
            <a:endParaRPr lang="en-US" sz="1300" dirty="0"/>
          </a:p>
        </p:txBody>
      </p:sp>
      <p:sp>
        <p:nvSpPr>
          <p:cNvPr id="26" name="Text 24"/>
          <p:cNvSpPr txBox="1"/>
          <p:nvPr/>
        </p:nvSpPr>
        <p:spPr>
          <a:xfrm>
            <a:off x="658368" y="3813048"/>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27" name="Shape 25"/>
          <p:cNvSpPr/>
          <p:nvPr/>
        </p:nvSpPr>
        <p:spPr>
          <a:xfrm>
            <a:off x="2670048" y="3892258"/>
            <a:ext cx="1395984" cy="193624"/>
          </a:xfrm>
          <a:prstGeom prst="rect">
            <a:avLst/>
          </a:prstGeom>
          <a:solidFill>
            <a:srgbClr val="12A566"/>
          </a:solidFill>
          <a:ln/>
        </p:spPr>
      </p:sp>
      <p:sp>
        <p:nvSpPr>
          <p:cNvPr id="28" name="Text 26"/>
          <p:cNvSpPr txBox="1"/>
          <p:nvPr/>
        </p:nvSpPr>
        <p:spPr>
          <a:xfrm>
            <a:off x="4818888" y="3813048"/>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6</a:t>
            </a:r>
            <a:endParaRPr lang="en-US" sz="1300" dirty="0"/>
          </a:p>
        </p:txBody>
      </p:sp>
      <p:sp>
        <p:nvSpPr>
          <p:cNvPr id="29" name="Text 27"/>
          <p:cNvSpPr txBox="1"/>
          <p:nvPr/>
        </p:nvSpPr>
        <p:spPr>
          <a:xfrm>
            <a:off x="658368" y="4165092"/>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30" name="Shape 28"/>
          <p:cNvSpPr/>
          <p:nvPr/>
        </p:nvSpPr>
        <p:spPr>
          <a:xfrm>
            <a:off x="2670048" y="4244302"/>
            <a:ext cx="1163320" cy="193624"/>
          </a:xfrm>
          <a:prstGeom prst="rect">
            <a:avLst/>
          </a:prstGeom>
          <a:solidFill>
            <a:srgbClr val="12A566"/>
          </a:solidFill>
          <a:ln/>
        </p:spPr>
      </p:sp>
      <p:sp>
        <p:nvSpPr>
          <p:cNvPr id="31" name="Text 29"/>
          <p:cNvSpPr txBox="1"/>
          <p:nvPr/>
        </p:nvSpPr>
        <p:spPr>
          <a:xfrm>
            <a:off x="4818888" y="4165092"/>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5</a:t>
            </a:r>
            <a:endParaRPr lang="en-US" sz="1300" dirty="0"/>
          </a:p>
        </p:txBody>
      </p:sp>
      <p:sp>
        <p:nvSpPr>
          <p:cNvPr id="32" name="Text 30"/>
          <p:cNvSpPr txBox="1"/>
          <p:nvPr/>
        </p:nvSpPr>
        <p:spPr>
          <a:xfrm>
            <a:off x="658368" y="4517136"/>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33" name="Shape 31"/>
          <p:cNvSpPr/>
          <p:nvPr/>
        </p:nvSpPr>
        <p:spPr>
          <a:xfrm>
            <a:off x="2670048" y="4596346"/>
            <a:ext cx="930656" cy="193624"/>
          </a:xfrm>
          <a:prstGeom prst="rect">
            <a:avLst/>
          </a:prstGeom>
          <a:solidFill>
            <a:srgbClr val="12A566"/>
          </a:solidFill>
          <a:ln/>
        </p:spPr>
      </p:sp>
      <p:sp>
        <p:nvSpPr>
          <p:cNvPr id="34" name="Text 32"/>
          <p:cNvSpPr txBox="1"/>
          <p:nvPr/>
        </p:nvSpPr>
        <p:spPr>
          <a:xfrm>
            <a:off x="4818888" y="4517136"/>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35" name="Text 33"/>
          <p:cNvSpPr txBox="1"/>
          <p:nvPr/>
        </p:nvSpPr>
        <p:spPr>
          <a:xfrm>
            <a:off x="658368" y="4869180"/>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36" name="Shape 34"/>
          <p:cNvSpPr/>
          <p:nvPr/>
        </p:nvSpPr>
        <p:spPr>
          <a:xfrm>
            <a:off x="2670048" y="4948390"/>
            <a:ext cx="930656" cy="193624"/>
          </a:xfrm>
          <a:prstGeom prst="rect">
            <a:avLst/>
          </a:prstGeom>
          <a:solidFill>
            <a:srgbClr val="12A566"/>
          </a:solidFill>
          <a:ln/>
        </p:spPr>
      </p:sp>
      <p:sp>
        <p:nvSpPr>
          <p:cNvPr id="37" name="Text 35"/>
          <p:cNvSpPr txBox="1"/>
          <p:nvPr/>
        </p:nvSpPr>
        <p:spPr>
          <a:xfrm>
            <a:off x="4818888" y="4869180"/>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38" name="Text 36"/>
          <p:cNvSpPr txBox="1"/>
          <p:nvPr/>
        </p:nvSpPr>
        <p:spPr>
          <a:xfrm>
            <a:off x="658368" y="522122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39" name="Shape 37"/>
          <p:cNvSpPr/>
          <p:nvPr/>
        </p:nvSpPr>
        <p:spPr>
          <a:xfrm>
            <a:off x="2670048" y="5300434"/>
            <a:ext cx="930656" cy="193624"/>
          </a:xfrm>
          <a:prstGeom prst="rect">
            <a:avLst/>
          </a:prstGeom>
          <a:solidFill>
            <a:srgbClr val="12A566"/>
          </a:solidFill>
          <a:ln/>
        </p:spPr>
      </p:sp>
      <p:sp>
        <p:nvSpPr>
          <p:cNvPr id="40" name="Text 38"/>
          <p:cNvSpPr txBox="1"/>
          <p:nvPr/>
        </p:nvSpPr>
        <p:spPr>
          <a:xfrm>
            <a:off x="4818888" y="5221224"/>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41" name="Text 39"/>
          <p:cNvSpPr txBox="1"/>
          <p:nvPr/>
        </p:nvSpPr>
        <p:spPr>
          <a:xfrm>
            <a:off x="658368" y="5573268"/>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42" name="Shape 40"/>
          <p:cNvSpPr/>
          <p:nvPr/>
        </p:nvSpPr>
        <p:spPr>
          <a:xfrm>
            <a:off x="2670048" y="5652478"/>
            <a:ext cx="930656" cy="193624"/>
          </a:xfrm>
          <a:prstGeom prst="rect">
            <a:avLst/>
          </a:prstGeom>
          <a:solidFill>
            <a:srgbClr val="12A566"/>
          </a:solidFill>
          <a:ln/>
        </p:spPr>
      </p:sp>
      <p:sp>
        <p:nvSpPr>
          <p:cNvPr id="43" name="Text 41"/>
          <p:cNvSpPr txBox="1"/>
          <p:nvPr/>
        </p:nvSpPr>
        <p:spPr>
          <a:xfrm>
            <a:off x="4818888" y="5573268"/>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44" name="Text 42"/>
          <p:cNvSpPr txBox="1"/>
          <p:nvPr/>
        </p:nvSpPr>
        <p:spPr>
          <a:xfrm>
            <a:off x="6208776" y="170078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45" name="Shape 43"/>
          <p:cNvSpPr/>
          <p:nvPr/>
        </p:nvSpPr>
        <p:spPr>
          <a:xfrm>
            <a:off x="8220456" y="1779994"/>
            <a:ext cx="930656" cy="193624"/>
          </a:xfrm>
          <a:prstGeom prst="rect">
            <a:avLst/>
          </a:prstGeom>
          <a:solidFill>
            <a:srgbClr val="12A566"/>
          </a:solidFill>
          <a:ln/>
        </p:spPr>
      </p:sp>
      <p:sp>
        <p:nvSpPr>
          <p:cNvPr id="46" name="Text 44"/>
          <p:cNvSpPr txBox="1"/>
          <p:nvPr/>
        </p:nvSpPr>
        <p:spPr>
          <a:xfrm>
            <a:off x="10369296" y="1700784"/>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47" name="Text 45"/>
          <p:cNvSpPr txBox="1"/>
          <p:nvPr/>
        </p:nvSpPr>
        <p:spPr>
          <a:xfrm>
            <a:off x="6208776" y="2052828"/>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48" name="Shape 46"/>
          <p:cNvSpPr/>
          <p:nvPr/>
        </p:nvSpPr>
        <p:spPr>
          <a:xfrm>
            <a:off x="8220456" y="2132038"/>
            <a:ext cx="930656" cy="193624"/>
          </a:xfrm>
          <a:prstGeom prst="rect">
            <a:avLst/>
          </a:prstGeom>
          <a:solidFill>
            <a:srgbClr val="12A566"/>
          </a:solidFill>
          <a:ln/>
        </p:spPr>
      </p:sp>
      <p:sp>
        <p:nvSpPr>
          <p:cNvPr id="49" name="Text 47"/>
          <p:cNvSpPr txBox="1"/>
          <p:nvPr/>
        </p:nvSpPr>
        <p:spPr>
          <a:xfrm>
            <a:off x="10369296" y="2052828"/>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50" name="Text 48"/>
          <p:cNvSpPr txBox="1"/>
          <p:nvPr/>
        </p:nvSpPr>
        <p:spPr>
          <a:xfrm>
            <a:off x="6208776" y="2404872"/>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51" name="Shape 49"/>
          <p:cNvSpPr/>
          <p:nvPr/>
        </p:nvSpPr>
        <p:spPr>
          <a:xfrm>
            <a:off x="8220456" y="2484082"/>
            <a:ext cx="697992" cy="193624"/>
          </a:xfrm>
          <a:prstGeom prst="rect">
            <a:avLst/>
          </a:prstGeom>
          <a:solidFill>
            <a:srgbClr val="12A566"/>
          </a:solidFill>
          <a:ln/>
        </p:spPr>
      </p:sp>
      <p:sp>
        <p:nvSpPr>
          <p:cNvPr id="52" name="Text 50"/>
          <p:cNvSpPr txBox="1"/>
          <p:nvPr/>
        </p:nvSpPr>
        <p:spPr>
          <a:xfrm>
            <a:off x="10369296" y="2404872"/>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3</a:t>
            </a:r>
            <a:endParaRPr lang="en-US" sz="1300" dirty="0"/>
          </a:p>
        </p:txBody>
      </p:sp>
      <p:sp>
        <p:nvSpPr>
          <p:cNvPr id="53" name="Text 51"/>
          <p:cNvSpPr txBox="1"/>
          <p:nvPr/>
        </p:nvSpPr>
        <p:spPr>
          <a:xfrm>
            <a:off x="6208776" y="2756916"/>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54" name="Shape 52"/>
          <p:cNvSpPr/>
          <p:nvPr/>
        </p:nvSpPr>
        <p:spPr>
          <a:xfrm>
            <a:off x="8220456" y="2836126"/>
            <a:ext cx="465328" cy="193624"/>
          </a:xfrm>
          <a:prstGeom prst="rect">
            <a:avLst/>
          </a:prstGeom>
          <a:solidFill>
            <a:srgbClr val="12A566"/>
          </a:solidFill>
          <a:ln/>
        </p:spPr>
      </p:sp>
      <p:sp>
        <p:nvSpPr>
          <p:cNvPr id="55" name="Text 53"/>
          <p:cNvSpPr txBox="1"/>
          <p:nvPr/>
        </p:nvSpPr>
        <p:spPr>
          <a:xfrm>
            <a:off x="10369296" y="2756916"/>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56" name="Text 54"/>
          <p:cNvSpPr txBox="1"/>
          <p:nvPr/>
        </p:nvSpPr>
        <p:spPr>
          <a:xfrm>
            <a:off x="6208776" y="3108960"/>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57" name="Shape 55"/>
          <p:cNvSpPr/>
          <p:nvPr/>
        </p:nvSpPr>
        <p:spPr>
          <a:xfrm>
            <a:off x="8220456" y="3188170"/>
            <a:ext cx="465328" cy="193624"/>
          </a:xfrm>
          <a:prstGeom prst="rect">
            <a:avLst/>
          </a:prstGeom>
          <a:solidFill>
            <a:srgbClr val="12A566"/>
          </a:solidFill>
          <a:ln/>
        </p:spPr>
      </p:sp>
      <p:sp>
        <p:nvSpPr>
          <p:cNvPr id="58" name="Text 56"/>
          <p:cNvSpPr txBox="1"/>
          <p:nvPr/>
        </p:nvSpPr>
        <p:spPr>
          <a:xfrm>
            <a:off x="10369296" y="3108960"/>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59" name="Text 57"/>
          <p:cNvSpPr txBox="1"/>
          <p:nvPr/>
        </p:nvSpPr>
        <p:spPr>
          <a:xfrm>
            <a:off x="6208776" y="346100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60" name="Shape 58"/>
          <p:cNvSpPr/>
          <p:nvPr/>
        </p:nvSpPr>
        <p:spPr>
          <a:xfrm>
            <a:off x="8220456" y="3540214"/>
            <a:ext cx="465328" cy="193624"/>
          </a:xfrm>
          <a:prstGeom prst="rect">
            <a:avLst/>
          </a:prstGeom>
          <a:solidFill>
            <a:srgbClr val="12A566"/>
          </a:solidFill>
          <a:ln/>
        </p:spPr>
      </p:sp>
      <p:sp>
        <p:nvSpPr>
          <p:cNvPr id="61" name="Text 59"/>
          <p:cNvSpPr txBox="1"/>
          <p:nvPr/>
        </p:nvSpPr>
        <p:spPr>
          <a:xfrm>
            <a:off x="10369296" y="3461004"/>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62" name="Text 60"/>
          <p:cNvSpPr txBox="1"/>
          <p:nvPr/>
        </p:nvSpPr>
        <p:spPr>
          <a:xfrm>
            <a:off x="6208776" y="3813048"/>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63" name="Shape 61"/>
          <p:cNvSpPr/>
          <p:nvPr/>
        </p:nvSpPr>
        <p:spPr>
          <a:xfrm>
            <a:off x="8220456" y="3892258"/>
            <a:ext cx="465328" cy="193624"/>
          </a:xfrm>
          <a:prstGeom prst="rect">
            <a:avLst/>
          </a:prstGeom>
          <a:solidFill>
            <a:srgbClr val="12A566"/>
          </a:solidFill>
          <a:ln/>
        </p:spPr>
      </p:sp>
      <p:sp>
        <p:nvSpPr>
          <p:cNvPr id="64" name="Text 62"/>
          <p:cNvSpPr txBox="1"/>
          <p:nvPr/>
        </p:nvSpPr>
        <p:spPr>
          <a:xfrm>
            <a:off x="10369296" y="3813048"/>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65" name="Text 63"/>
          <p:cNvSpPr txBox="1"/>
          <p:nvPr/>
        </p:nvSpPr>
        <p:spPr>
          <a:xfrm>
            <a:off x="6208776" y="4165092"/>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66" name="Shape 64"/>
          <p:cNvSpPr/>
          <p:nvPr/>
        </p:nvSpPr>
        <p:spPr>
          <a:xfrm>
            <a:off x="8220456" y="4244302"/>
            <a:ext cx="465328" cy="193624"/>
          </a:xfrm>
          <a:prstGeom prst="rect">
            <a:avLst/>
          </a:prstGeom>
          <a:solidFill>
            <a:srgbClr val="12A566"/>
          </a:solidFill>
          <a:ln/>
        </p:spPr>
      </p:sp>
      <p:sp>
        <p:nvSpPr>
          <p:cNvPr id="67" name="Text 65"/>
          <p:cNvSpPr txBox="1"/>
          <p:nvPr/>
        </p:nvSpPr>
        <p:spPr>
          <a:xfrm>
            <a:off x="10369296" y="4165092"/>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68" name="Text 66"/>
          <p:cNvSpPr txBox="1"/>
          <p:nvPr/>
        </p:nvSpPr>
        <p:spPr>
          <a:xfrm>
            <a:off x="6208776" y="4517136"/>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69" name="Shape 67"/>
          <p:cNvSpPr/>
          <p:nvPr/>
        </p:nvSpPr>
        <p:spPr>
          <a:xfrm>
            <a:off x="8220456" y="4596346"/>
            <a:ext cx="465328" cy="193624"/>
          </a:xfrm>
          <a:prstGeom prst="rect">
            <a:avLst/>
          </a:prstGeom>
          <a:solidFill>
            <a:srgbClr val="12A566"/>
          </a:solidFill>
          <a:ln/>
        </p:spPr>
      </p:sp>
      <p:sp>
        <p:nvSpPr>
          <p:cNvPr id="70" name="Text 68"/>
          <p:cNvSpPr txBox="1"/>
          <p:nvPr/>
        </p:nvSpPr>
        <p:spPr>
          <a:xfrm>
            <a:off x="10369296" y="4517136"/>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71" name="Text 69"/>
          <p:cNvSpPr txBox="1"/>
          <p:nvPr/>
        </p:nvSpPr>
        <p:spPr>
          <a:xfrm>
            <a:off x="6208776" y="4869180"/>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72" name="Shape 70"/>
          <p:cNvSpPr/>
          <p:nvPr/>
        </p:nvSpPr>
        <p:spPr>
          <a:xfrm>
            <a:off x="8220456" y="4948390"/>
            <a:ext cx="232664" cy="193624"/>
          </a:xfrm>
          <a:prstGeom prst="rect">
            <a:avLst/>
          </a:prstGeom>
          <a:solidFill>
            <a:srgbClr val="12A566"/>
          </a:solidFill>
          <a:ln/>
        </p:spPr>
      </p:sp>
      <p:sp>
        <p:nvSpPr>
          <p:cNvPr id="73" name="Text 71"/>
          <p:cNvSpPr txBox="1"/>
          <p:nvPr/>
        </p:nvSpPr>
        <p:spPr>
          <a:xfrm>
            <a:off x="10369296" y="4869180"/>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a:t>
            </a:r>
            <a:endParaRPr lang="en-US" sz="1300" dirty="0"/>
          </a:p>
        </p:txBody>
      </p:sp>
      <p:sp>
        <p:nvSpPr>
          <p:cNvPr id="74" name="Text 72"/>
          <p:cNvSpPr txBox="1"/>
          <p:nvPr/>
        </p:nvSpPr>
        <p:spPr>
          <a:xfrm>
            <a:off x="6208776" y="522122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75" name="Shape 73"/>
          <p:cNvSpPr/>
          <p:nvPr/>
        </p:nvSpPr>
        <p:spPr>
          <a:xfrm>
            <a:off x="8220456" y="5300434"/>
            <a:ext cx="232664" cy="193624"/>
          </a:xfrm>
          <a:prstGeom prst="rect">
            <a:avLst/>
          </a:prstGeom>
          <a:solidFill>
            <a:srgbClr val="12A566"/>
          </a:solidFill>
          <a:ln/>
        </p:spPr>
      </p:sp>
      <p:sp>
        <p:nvSpPr>
          <p:cNvPr id="76" name="Text 74"/>
          <p:cNvSpPr txBox="1"/>
          <p:nvPr/>
        </p:nvSpPr>
        <p:spPr>
          <a:xfrm>
            <a:off x="10369296" y="5221224"/>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a:t>
            </a:r>
            <a:endParaRPr lang="en-US" sz="1300" dirty="0"/>
          </a:p>
        </p:txBody>
      </p:sp>
      <p:sp>
        <p:nvSpPr>
          <p:cNvPr id="77" name="Shape 75"/>
          <p:cNvSpPr/>
          <p:nvPr/>
        </p:nvSpPr>
        <p:spPr>
          <a:xfrm>
            <a:off x="457200" y="6126480"/>
            <a:ext cx="11274552" cy="371856"/>
          </a:xfrm>
          <a:prstGeom prst="rect">
            <a:avLst/>
          </a:prstGeom>
          <a:solidFill>
            <a:srgbClr val="E6F6EE"/>
          </a:solidFill>
          <a:ln/>
        </p:spPr>
      </p:sp>
      <p:sp>
        <p:nvSpPr>
          <p:cNvPr id="78" name="Text 76"/>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23 of 33 stores set a new monthly record in 2026; Honda Spokane and Nissan set the most, 9 each.</a:t>
            </a:r>
            <a:endParaRPr lang="en-US" sz="1600" dirty="0"/>
          </a:p>
        </p:txBody>
      </p:sp>
    </p:spTree>
  </p:cSld>
  <p:clrMapOvr>
    <a:masterClrMapping/>
  </p:clrMapOvr>
</p:sld>
</file>

<file path=ppt/slides/slide17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STORE RECORDS · RANKER BY CATEGORY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Monthly Gross Records Set in 2026</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417320"/>
            <a:ext cx="128016" cy="128016"/>
          </a:xfrm>
          <a:prstGeom prst="rect">
            <a:avLst/>
          </a:prstGeom>
          <a:solidFill>
            <a:srgbClr val="0B7A4A"/>
          </a:solidFill>
          <a:ln/>
        </p:spPr>
      </p:sp>
      <p:sp>
        <p:nvSpPr>
          <p:cNvPr id="7" name="Text 5"/>
          <p:cNvSpPr txBox="1"/>
          <p:nvPr/>
        </p:nvSpPr>
        <p:spPr>
          <a:xfrm>
            <a:off x="841248" y="1316736"/>
            <a:ext cx="873252"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Service</a:t>
            </a:r>
            <a:endParaRPr lang="en-US" sz="1400" dirty="0"/>
          </a:p>
        </p:txBody>
      </p:sp>
      <p:sp>
        <p:nvSpPr>
          <p:cNvPr id="8" name="Shape 6"/>
          <p:cNvSpPr/>
          <p:nvPr/>
        </p:nvSpPr>
        <p:spPr>
          <a:xfrm>
            <a:off x="1824228" y="1417320"/>
            <a:ext cx="128016" cy="128016"/>
          </a:xfrm>
          <a:prstGeom prst="rect">
            <a:avLst/>
          </a:prstGeom>
          <a:solidFill>
            <a:srgbClr val="12A566"/>
          </a:solidFill>
          <a:ln/>
        </p:spPr>
      </p:sp>
      <p:sp>
        <p:nvSpPr>
          <p:cNvPr id="9" name="Text 7"/>
          <p:cNvSpPr txBox="1"/>
          <p:nvPr/>
        </p:nvSpPr>
        <p:spPr>
          <a:xfrm>
            <a:off x="2007108" y="1316736"/>
            <a:ext cx="681228"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Parts</a:t>
            </a:r>
            <a:endParaRPr lang="en-US" sz="1400" dirty="0"/>
          </a:p>
        </p:txBody>
      </p:sp>
      <p:sp>
        <p:nvSpPr>
          <p:cNvPr id="10" name="Shape 8"/>
          <p:cNvSpPr/>
          <p:nvPr/>
        </p:nvSpPr>
        <p:spPr>
          <a:xfrm>
            <a:off x="2798064" y="1417320"/>
            <a:ext cx="128016" cy="128016"/>
          </a:xfrm>
          <a:prstGeom prst="rect">
            <a:avLst/>
          </a:prstGeom>
          <a:solidFill>
            <a:srgbClr val="8ED3B0"/>
          </a:solidFill>
          <a:ln/>
        </p:spPr>
      </p:sp>
      <p:sp>
        <p:nvSpPr>
          <p:cNvPr id="11" name="Text 9"/>
          <p:cNvSpPr txBox="1"/>
          <p:nvPr/>
        </p:nvSpPr>
        <p:spPr>
          <a:xfrm>
            <a:off x="2980944" y="1316736"/>
            <a:ext cx="969264"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Combined</a:t>
            </a:r>
            <a:endParaRPr lang="en-US" sz="1400" dirty="0"/>
          </a:p>
        </p:txBody>
      </p:sp>
      <p:sp>
        <p:nvSpPr>
          <p:cNvPr id="12" name="Text 10"/>
          <p:cNvSpPr txBox="1"/>
          <p:nvPr/>
        </p:nvSpPr>
        <p:spPr>
          <a:xfrm>
            <a:off x="3959352" y="1316736"/>
            <a:ext cx="5029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SVC</a:t>
            </a:r>
            <a:endParaRPr lang="en-US" sz="1400" dirty="0"/>
          </a:p>
        </p:txBody>
      </p:sp>
      <p:sp>
        <p:nvSpPr>
          <p:cNvPr id="13" name="Text 11"/>
          <p:cNvSpPr txBox="1"/>
          <p:nvPr/>
        </p:nvSpPr>
        <p:spPr>
          <a:xfrm>
            <a:off x="4462272" y="1316736"/>
            <a:ext cx="5029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PTS</a:t>
            </a:r>
            <a:endParaRPr lang="en-US" sz="1400" dirty="0"/>
          </a:p>
        </p:txBody>
      </p:sp>
      <p:sp>
        <p:nvSpPr>
          <p:cNvPr id="14" name="Text 12"/>
          <p:cNvSpPr txBox="1"/>
          <p:nvPr/>
        </p:nvSpPr>
        <p:spPr>
          <a:xfrm>
            <a:off x="4965192" y="1316736"/>
            <a:ext cx="5029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TOT</a:t>
            </a:r>
            <a:endParaRPr lang="en-US" sz="1400" dirty="0"/>
          </a:p>
        </p:txBody>
      </p:sp>
      <p:sp>
        <p:nvSpPr>
          <p:cNvPr id="15" name="Text 13"/>
          <p:cNvSpPr txBox="1"/>
          <p:nvPr/>
        </p:nvSpPr>
        <p:spPr>
          <a:xfrm>
            <a:off x="5468112" y="1316736"/>
            <a:ext cx="548640" cy="329184"/>
          </a:xfrm>
          <a:prstGeom prst="rect">
            <a:avLst/>
          </a:prstGeom>
          <a:noFill/>
          <a:ln/>
        </p:spPr>
        <p:txBody>
          <a:bodyPr wrap="square" lIns="0" tIns="0" rIns="0" bIns="0" rtlCol="0" anchor="ctr"/>
          <a:lstStyle/>
          <a:p>
            <a:pPr algn="r" indent="0" marL="0">
              <a:buNone/>
            </a:pPr>
            <a:r>
              <a:rPr lang="en-US" sz="1400" b="1" dirty="0">
                <a:solidFill>
                  <a:srgbClr val="1A1A1A"/>
                </a:solidFill>
                <a:latin typeface="Inter" pitchFamily="34" charset="0"/>
                <a:ea typeface="Inter" pitchFamily="34" charset="-122"/>
                <a:cs typeface="Inter" pitchFamily="34" charset="-120"/>
              </a:rPr>
              <a:t>ALL</a:t>
            </a:r>
            <a:endParaRPr lang="en-US" sz="1400" dirty="0"/>
          </a:p>
        </p:txBody>
      </p:sp>
      <p:sp>
        <p:nvSpPr>
          <p:cNvPr id="16" name="Shape 14"/>
          <p:cNvSpPr/>
          <p:nvPr/>
        </p:nvSpPr>
        <p:spPr>
          <a:xfrm>
            <a:off x="6208776" y="1417320"/>
            <a:ext cx="128016" cy="128016"/>
          </a:xfrm>
          <a:prstGeom prst="rect">
            <a:avLst/>
          </a:prstGeom>
          <a:solidFill>
            <a:srgbClr val="0B7A4A"/>
          </a:solidFill>
          <a:ln/>
        </p:spPr>
      </p:sp>
      <p:sp>
        <p:nvSpPr>
          <p:cNvPr id="17" name="Text 15"/>
          <p:cNvSpPr txBox="1"/>
          <p:nvPr/>
        </p:nvSpPr>
        <p:spPr>
          <a:xfrm>
            <a:off x="6391656" y="1316736"/>
            <a:ext cx="873252"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Service</a:t>
            </a:r>
            <a:endParaRPr lang="en-US" sz="1400" dirty="0"/>
          </a:p>
        </p:txBody>
      </p:sp>
      <p:sp>
        <p:nvSpPr>
          <p:cNvPr id="18" name="Shape 16"/>
          <p:cNvSpPr/>
          <p:nvPr/>
        </p:nvSpPr>
        <p:spPr>
          <a:xfrm>
            <a:off x="7374636" y="1417320"/>
            <a:ext cx="128016" cy="128016"/>
          </a:xfrm>
          <a:prstGeom prst="rect">
            <a:avLst/>
          </a:prstGeom>
          <a:solidFill>
            <a:srgbClr val="12A566"/>
          </a:solidFill>
          <a:ln/>
        </p:spPr>
      </p:sp>
      <p:sp>
        <p:nvSpPr>
          <p:cNvPr id="19" name="Text 17"/>
          <p:cNvSpPr txBox="1"/>
          <p:nvPr/>
        </p:nvSpPr>
        <p:spPr>
          <a:xfrm>
            <a:off x="7557516" y="1316736"/>
            <a:ext cx="681228"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Parts</a:t>
            </a:r>
            <a:endParaRPr lang="en-US" sz="1400" dirty="0"/>
          </a:p>
        </p:txBody>
      </p:sp>
      <p:sp>
        <p:nvSpPr>
          <p:cNvPr id="20" name="Shape 18"/>
          <p:cNvSpPr/>
          <p:nvPr/>
        </p:nvSpPr>
        <p:spPr>
          <a:xfrm>
            <a:off x="8348472" y="1417320"/>
            <a:ext cx="128016" cy="128016"/>
          </a:xfrm>
          <a:prstGeom prst="rect">
            <a:avLst/>
          </a:prstGeom>
          <a:solidFill>
            <a:srgbClr val="8ED3B0"/>
          </a:solidFill>
          <a:ln/>
        </p:spPr>
      </p:sp>
      <p:sp>
        <p:nvSpPr>
          <p:cNvPr id="21" name="Text 19"/>
          <p:cNvSpPr txBox="1"/>
          <p:nvPr/>
        </p:nvSpPr>
        <p:spPr>
          <a:xfrm>
            <a:off x="8531352" y="1316736"/>
            <a:ext cx="969264"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Combined</a:t>
            </a:r>
            <a:endParaRPr lang="en-US" sz="1400" dirty="0"/>
          </a:p>
        </p:txBody>
      </p:sp>
      <p:sp>
        <p:nvSpPr>
          <p:cNvPr id="22" name="Text 20"/>
          <p:cNvSpPr txBox="1"/>
          <p:nvPr/>
        </p:nvSpPr>
        <p:spPr>
          <a:xfrm>
            <a:off x="9509760" y="1316736"/>
            <a:ext cx="5029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SVC</a:t>
            </a:r>
            <a:endParaRPr lang="en-US" sz="1400" dirty="0"/>
          </a:p>
        </p:txBody>
      </p:sp>
      <p:sp>
        <p:nvSpPr>
          <p:cNvPr id="23" name="Text 21"/>
          <p:cNvSpPr txBox="1"/>
          <p:nvPr/>
        </p:nvSpPr>
        <p:spPr>
          <a:xfrm>
            <a:off x="10012680" y="1316736"/>
            <a:ext cx="5029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PTS</a:t>
            </a:r>
            <a:endParaRPr lang="en-US" sz="1400" dirty="0"/>
          </a:p>
        </p:txBody>
      </p:sp>
      <p:sp>
        <p:nvSpPr>
          <p:cNvPr id="24" name="Text 22"/>
          <p:cNvSpPr txBox="1"/>
          <p:nvPr/>
        </p:nvSpPr>
        <p:spPr>
          <a:xfrm>
            <a:off x="10515600" y="1316736"/>
            <a:ext cx="5029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TOT</a:t>
            </a:r>
            <a:endParaRPr lang="en-US" sz="1400" dirty="0"/>
          </a:p>
        </p:txBody>
      </p:sp>
      <p:sp>
        <p:nvSpPr>
          <p:cNvPr id="25" name="Text 23"/>
          <p:cNvSpPr txBox="1"/>
          <p:nvPr/>
        </p:nvSpPr>
        <p:spPr>
          <a:xfrm>
            <a:off x="11018520" y="1316736"/>
            <a:ext cx="548640" cy="329184"/>
          </a:xfrm>
          <a:prstGeom prst="rect">
            <a:avLst/>
          </a:prstGeom>
          <a:noFill/>
          <a:ln/>
        </p:spPr>
        <p:txBody>
          <a:bodyPr wrap="square" lIns="0" tIns="0" rIns="0" bIns="0" rtlCol="0" anchor="ctr"/>
          <a:lstStyle/>
          <a:p>
            <a:pPr algn="r" indent="0" marL="0">
              <a:buNone/>
            </a:pPr>
            <a:r>
              <a:rPr lang="en-US" sz="1400" b="1" dirty="0">
                <a:solidFill>
                  <a:srgbClr val="1A1A1A"/>
                </a:solidFill>
                <a:latin typeface="Inter" pitchFamily="34" charset="0"/>
                <a:ea typeface="Inter" pitchFamily="34" charset="-122"/>
                <a:cs typeface="Inter" pitchFamily="34" charset="-120"/>
              </a:rPr>
              <a:t>ALL</a:t>
            </a:r>
            <a:endParaRPr lang="en-US" sz="1400" dirty="0"/>
          </a:p>
        </p:txBody>
      </p:sp>
      <p:sp>
        <p:nvSpPr>
          <p:cNvPr id="26" name="Text 24"/>
          <p:cNvSpPr txBox="1"/>
          <p:nvPr/>
        </p:nvSpPr>
        <p:spPr>
          <a:xfrm>
            <a:off x="658368" y="170078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27" name="Shape 25"/>
          <p:cNvSpPr/>
          <p:nvPr/>
        </p:nvSpPr>
        <p:spPr>
          <a:xfrm>
            <a:off x="2670048" y="1779994"/>
            <a:ext cx="540512" cy="193624"/>
          </a:xfrm>
          <a:prstGeom prst="rect">
            <a:avLst/>
          </a:prstGeom>
          <a:solidFill>
            <a:srgbClr val="0B7A4A"/>
          </a:solidFill>
          <a:ln w="9525">
            <a:solidFill>
              <a:srgbClr val="FFFFFF"/>
            </a:solidFill>
            <a:prstDash val="solid"/>
          </a:ln>
        </p:spPr>
      </p:sp>
      <p:sp>
        <p:nvSpPr>
          <p:cNvPr id="28" name="Shape 26"/>
          <p:cNvSpPr/>
          <p:nvPr/>
        </p:nvSpPr>
        <p:spPr>
          <a:xfrm>
            <a:off x="3210560" y="1779994"/>
            <a:ext cx="135128" cy="193624"/>
          </a:xfrm>
          <a:prstGeom prst="rect">
            <a:avLst/>
          </a:prstGeom>
          <a:solidFill>
            <a:srgbClr val="12A566"/>
          </a:solidFill>
          <a:ln w="9525">
            <a:solidFill>
              <a:srgbClr val="FFFFFF"/>
            </a:solidFill>
            <a:prstDash val="solid"/>
          </a:ln>
        </p:spPr>
      </p:sp>
      <p:sp>
        <p:nvSpPr>
          <p:cNvPr id="29" name="Shape 27"/>
          <p:cNvSpPr/>
          <p:nvPr/>
        </p:nvSpPr>
        <p:spPr>
          <a:xfrm>
            <a:off x="3345688" y="1779994"/>
            <a:ext cx="540512" cy="193624"/>
          </a:xfrm>
          <a:prstGeom prst="rect">
            <a:avLst/>
          </a:prstGeom>
          <a:solidFill>
            <a:srgbClr val="8ED3B0"/>
          </a:solidFill>
          <a:ln w="9525">
            <a:solidFill>
              <a:srgbClr val="FFFFFF"/>
            </a:solidFill>
            <a:prstDash val="solid"/>
          </a:ln>
        </p:spPr>
      </p:sp>
      <p:sp>
        <p:nvSpPr>
          <p:cNvPr id="30" name="Text 28"/>
          <p:cNvSpPr txBox="1"/>
          <p:nvPr/>
        </p:nvSpPr>
        <p:spPr>
          <a:xfrm>
            <a:off x="3959352" y="170078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a:t>
            </a:r>
            <a:endParaRPr lang="en-US" sz="1300" dirty="0"/>
          </a:p>
        </p:txBody>
      </p:sp>
      <p:sp>
        <p:nvSpPr>
          <p:cNvPr id="31" name="Text 29"/>
          <p:cNvSpPr txBox="1"/>
          <p:nvPr/>
        </p:nvSpPr>
        <p:spPr>
          <a:xfrm>
            <a:off x="4462272" y="170078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32" name="Text 30"/>
          <p:cNvSpPr txBox="1"/>
          <p:nvPr/>
        </p:nvSpPr>
        <p:spPr>
          <a:xfrm>
            <a:off x="4965192" y="170078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a:t>
            </a:r>
            <a:endParaRPr lang="en-US" sz="1300" dirty="0"/>
          </a:p>
        </p:txBody>
      </p:sp>
      <p:sp>
        <p:nvSpPr>
          <p:cNvPr id="33" name="Text 31"/>
          <p:cNvSpPr txBox="1"/>
          <p:nvPr/>
        </p:nvSpPr>
        <p:spPr>
          <a:xfrm>
            <a:off x="5468112" y="1700784"/>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34" name="Text 32"/>
          <p:cNvSpPr txBox="1"/>
          <p:nvPr/>
        </p:nvSpPr>
        <p:spPr>
          <a:xfrm>
            <a:off x="658368" y="2052828"/>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35" name="Shape 33"/>
          <p:cNvSpPr/>
          <p:nvPr/>
        </p:nvSpPr>
        <p:spPr>
          <a:xfrm>
            <a:off x="2670048" y="2132038"/>
            <a:ext cx="405384" cy="193624"/>
          </a:xfrm>
          <a:prstGeom prst="rect">
            <a:avLst/>
          </a:prstGeom>
          <a:solidFill>
            <a:srgbClr val="0B7A4A"/>
          </a:solidFill>
          <a:ln w="9525">
            <a:solidFill>
              <a:srgbClr val="FFFFFF"/>
            </a:solidFill>
            <a:prstDash val="solid"/>
          </a:ln>
        </p:spPr>
      </p:sp>
      <p:sp>
        <p:nvSpPr>
          <p:cNvPr id="36" name="Shape 34"/>
          <p:cNvSpPr/>
          <p:nvPr/>
        </p:nvSpPr>
        <p:spPr>
          <a:xfrm>
            <a:off x="3075432" y="2132038"/>
            <a:ext cx="270256" cy="193624"/>
          </a:xfrm>
          <a:prstGeom prst="rect">
            <a:avLst/>
          </a:prstGeom>
          <a:solidFill>
            <a:srgbClr val="12A566"/>
          </a:solidFill>
          <a:ln w="9525">
            <a:solidFill>
              <a:srgbClr val="FFFFFF"/>
            </a:solidFill>
            <a:prstDash val="solid"/>
          </a:ln>
        </p:spPr>
      </p:sp>
      <p:sp>
        <p:nvSpPr>
          <p:cNvPr id="37" name="Shape 35"/>
          <p:cNvSpPr/>
          <p:nvPr/>
        </p:nvSpPr>
        <p:spPr>
          <a:xfrm>
            <a:off x="3345688" y="2132038"/>
            <a:ext cx="540512" cy="193624"/>
          </a:xfrm>
          <a:prstGeom prst="rect">
            <a:avLst/>
          </a:prstGeom>
          <a:solidFill>
            <a:srgbClr val="8ED3B0"/>
          </a:solidFill>
          <a:ln w="9525">
            <a:solidFill>
              <a:srgbClr val="FFFFFF"/>
            </a:solidFill>
            <a:prstDash val="solid"/>
          </a:ln>
        </p:spPr>
      </p:sp>
      <p:sp>
        <p:nvSpPr>
          <p:cNvPr id="38" name="Text 36"/>
          <p:cNvSpPr txBox="1"/>
          <p:nvPr/>
        </p:nvSpPr>
        <p:spPr>
          <a:xfrm>
            <a:off x="3959352" y="205282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a:t>
            </a:r>
            <a:endParaRPr lang="en-US" sz="1300" dirty="0"/>
          </a:p>
        </p:txBody>
      </p:sp>
      <p:sp>
        <p:nvSpPr>
          <p:cNvPr id="39" name="Text 37"/>
          <p:cNvSpPr txBox="1"/>
          <p:nvPr/>
        </p:nvSpPr>
        <p:spPr>
          <a:xfrm>
            <a:off x="4462272" y="205282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40" name="Text 38"/>
          <p:cNvSpPr txBox="1"/>
          <p:nvPr/>
        </p:nvSpPr>
        <p:spPr>
          <a:xfrm>
            <a:off x="4965192" y="205282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a:t>
            </a:r>
            <a:endParaRPr lang="en-US" sz="1300" dirty="0"/>
          </a:p>
        </p:txBody>
      </p:sp>
      <p:sp>
        <p:nvSpPr>
          <p:cNvPr id="41" name="Text 39"/>
          <p:cNvSpPr txBox="1"/>
          <p:nvPr/>
        </p:nvSpPr>
        <p:spPr>
          <a:xfrm>
            <a:off x="5468112" y="2052828"/>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42" name="Text 40"/>
          <p:cNvSpPr txBox="1"/>
          <p:nvPr/>
        </p:nvSpPr>
        <p:spPr>
          <a:xfrm>
            <a:off x="658368" y="2404872"/>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43" name="Shape 41"/>
          <p:cNvSpPr/>
          <p:nvPr/>
        </p:nvSpPr>
        <p:spPr>
          <a:xfrm>
            <a:off x="2670048" y="2484082"/>
            <a:ext cx="270256" cy="193624"/>
          </a:xfrm>
          <a:prstGeom prst="rect">
            <a:avLst/>
          </a:prstGeom>
          <a:solidFill>
            <a:srgbClr val="0B7A4A"/>
          </a:solidFill>
          <a:ln w="9525">
            <a:solidFill>
              <a:srgbClr val="FFFFFF"/>
            </a:solidFill>
            <a:prstDash val="solid"/>
          </a:ln>
        </p:spPr>
      </p:sp>
      <p:sp>
        <p:nvSpPr>
          <p:cNvPr id="44" name="Shape 42"/>
          <p:cNvSpPr/>
          <p:nvPr/>
        </p:nvSpPr>
        <p:spPr>
          <a:xfrm>
            <a:off x="2940304" y="2484082"/>
            <a:ext cx="405384" cy="193624"/>
          </a:xfrm>
          <a:prstGeom prst="rect">
            <a:avLst/>
          </a:prstGeom>
          <a:solidFill>
            <a:srgbClr val="12A566"/>
          </a:solidFill>
          <a:ln w="9525">
            <a:solidFill>
              <a:srgbClr val="FFFFFF"/>
            </a:solidFill>
            <a:prstDash val="solid"/>
          </a:ln>
        </p:spPr>
      </p:sp>
      <p:sp>
        <p:nvSpPr>
          <p:cNvPr id="45" name="Shape 43"/>
          <p:cNvSpPr/>
          <p:nvPr/>
        </p:nvSpPr>
        <p:spPr>
          <a:xfrm>
            <a:off x="3345688" y="2484082"/>
            <a:ext cx="405384" cy="193624"/>
          </a:xfrm>
          <a:prstGeom prst="rect">
            <a:avLst/>
          </a:prstGeom>
          <a:solidFill>
            <a:srgbClr val="8ED3B0"/>
          </a:solidFill>
          <a:ln w="9525">
            <a:solidFill>
              <a:srgbClr val="FFFFFF"/>
            </a:solidFill>
            <a:prstDash val="solid"/>
          </a:ln>
        </p:spPr>
      </p:sp>
      <p:sp>
        <p:nvSpPr>
          <p:cNvPr id="46" name="Text 44"/>
          <p:cNvSpPr txBox="1"/>
          <p:nvPr/>
        </p:nvSpPr>
        <p:spPr>
          <a:xfrm>
            <a:off x="3959352" y="2404872"/>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47" name="Text 45"/>
          <p:cNvSpPr txBox="1"/>
          <p:nvPr/>
        </p:nvSpPr>
        <p:spPr>
          <a:xfrm>
            <a:off x="4462272" y="2404872"/>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a:t>
            </a:r>
            <a:endParaRPr lang="en-US" sz="1300" dirty="0"/>
          </a:p>
        </p:txBody>
      </p:sp>
      <p:sp>
        <p:nvSpPr>
          <p:cNvPr id="48" name="Text 46"/>
          <p:cNvSpPr txBox="1"/>
          <p:nvPr/>
        </p:nvSpPr>
        <p:spPr>
          <a:xfrm>
            <a:off x="4965192" y="2404872"/>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a:t>
            </a:r>
            <a:endParaRPr lang="en-US" sz="1300" dirty="0"/>
          </a:p>
        </p:txBody>
      </p:sp>
      <p:sp>
        <p:nvSpPr>
          <p:cNvPr id="49" name="Text 47"/>
          <p:cNvSpPr txBox="1"/>
          <p:nvPr/>
        </p:nvSpPr>
        <p:spPr>
          <a:xfrm>
            <a:off x="5468112" y="2404872"/>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8</a:t>
            </a:r>
            <a:endParaRPr lang="en-US" sz="1300" dirty="0"/>
          </a:p>
        </p:txBody>
      </p:sp>
      <p:sp>
        <p:nvSpPr>
          <p:cNvPr id="50" name="Text 48"/>
          <p:cNvSpPr txBox="1"/>
          <p:nvPr/>
        </p:nvSpPr>
        <p:spPr>
          <a:xfrm>
            <a:off x="658368" y="2756916"/>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51" name="Shape 49"/>
          <p:cNvSpPr/>
          <p:nvPr/>
        </p:nvSpPr>
        <p:spPr>
          <a:xfrm>
            <a:off x="2670048" y="2836126"/>
            <a:ext cx="405384" cy="193624"/>
          </a:xfrm>
          <a:prstGeom prst="rect">
            <a:avLst/>
          </a:prstGeom>
          <a:solidFill>
            <a:srgbClr val="0B7A4A"/>
          </a:solidFill>
          <a:ln w="9525">
            <a:solidFill>
              <a:srgbClr val="FFFFFF"/>
            </a:solidFill>
            <a:prstDash val="solid"/>
          </a:ln>
        </p:spPr>
      </p:sp>
      <p:sp>
        <p:nvSpPr>
          <p:cNvPr id="52" name="Shape 50"/>
          <p:cNvSpPr/>
          <p:nvPr/>
        </p:nvSpPr>
        <p:spPr>
          <a:xfrm>
            <a:off x="3075432" y="2836126"/>
            <a:ext cx="135128" cy="193624"/>
          </a:xfrm>
          <a:prstGeom prst="rect">
            <a:avLst/>
          </a:prstGeom>
          <a:solidFill>
            <a:srgbClr val="12A566"/>
          </a:solidFill>
          <a:ln w="9525">
            <a:solidFill>
              <a:srgbClr val="FFFFFF"/>
            </a:solidFill>
            <a:prstDash val="solid"/>
          </a:ln>
        </p:spPr>
      </p:sp>
      <p:sp>
        <p:nvSpPr>
          <p:cNvPr id="53" name="Shape 51"/>
          <p:cNvSpPr/>
          <p:nvPr/>
        </p:nvSpPr>
        <p:spPr>
          <a:xfrm>
            <a:off x="3210560" y="2836126"/>
            <a:ext cx="405384" cy="193624"/>
          </a:xfrm>
          <a:prstGeom prst="rect">
            <a:avLst/>
          </a:prstGeom>
          <a:solidFill>
            <a:srgbClr val="8ED3B0"/>
          </a:solidFill>
          <a:ln w="9525">
            <a:solidFill>
              <a:srgbClr val="FFFFFF"/>
            </a:solidFill>
            <a:prstDash val="solid"/>
          </a:ln>
        </p:spPr>
      </p:sp>
      <p:sp>
        <p:nvSpPr>
          <p:cNvPr id="54" name="Text 52"/>
          <p:cNvSpPr txBox="1"/>
          <p:nvPr/>
        </p:nvSpPr>
        <p:spPr>
          <a:xfrm>
            <a:off x="3959352" y="2756916"/>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a:t>
            </a:r>
            <a:endParaRPr lang="en-US" sz="1300" dirty="0"/>
          </a:p>
        </p:txBody>
      </p:sp>
      <p:sp>
        <p:nvSpPr>
          <p:cNvPr id="55" name="Text 53"/>
          <p:cNvSpPr txBox="1"/>
          <p:nvPr/>
        </p:nvSpPr>
        <p:spPr>
          <a:xfrm>
            <a:off x="4462272" y="2756916"/>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56" name="Text 54"/>
          <p:cNvSpPr txBox="1"/>
          <p:nvPr/>
        </p:nvSpPr>
        <p:spPr>
          <a:xfrm>
            <a:off x="4965192" y="2756916"/>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a:t>
            </a:r>
            <a:endParaRPr lang="en-US" sz="1300" dirty="0"/>
          </a:p>
        </p:txBody>
      </p:sp>
      <p:sp>
        <p:nvSpPr>
          <p:cNvPr id="57" name="Text 55"/>
          <p:cNvSpPr txBox="1"/>
          <p:nvPr/>
        </p:nvSpPr>
        <p:spPr>
          <a:xfrm>
            <a:off x="5468112" y="2756916"/>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7</a:t>
            </a:r>
            <a:endParaRPr lang="en-US" sz="1300" dirty="0"/>
          </a:p>
        </p:txBody>
      </p:sp>
      <p:sp>
        <p:nvSpPr>
          <p:cNvPr id="58" name="Text 56"/>
          <p:cNvSpPr txBox="1"/>
          <p:nvPr/>
        </p:nvSpPr>
        <p:spPr>
          <a:xfrm>
            <a:off x="658368" y="3108960"/>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59" name="Shape 57"/>
          <p:cNvSpPr/>
          <p:nvPr/>
        </p:nvSpPr>
        <p:spPr>
          <a:xfrm>
            <a:off x="2670048" y="3188170"/>
            <a:ext cx="270256" cy="193624"/>
          </a:xfrm>
          <a:prstGeom prst="rect">
            <a:avLst/>
          </a:prstGeom>
          <a:solidFill>
            <a:srgbClr val="0B7A4A"/>
          </a:solidFill>
          <a:ln w="9525">
            <a:solidFill>
              <a:srgbClr val="FFFFFF"/>
            </a:solidFill>
            <a:prstDash val="solid"/>
          </a:ln>
        </p:spPr>
      </p:sp>
      <p:sp>
        <p:nvSpPr>
          <p:cNvPr id="60" name="Shape 58"/>
          <p:cNvSpPr/>
          <p:nvPr/>
        </p:nvSpPr>
        <p:spPr>
          <a:xfrm>
            <a:off x="2940304" y="3188170"/>
            <a:ext cx="405384" cy="193624"/>
          </a:xfrm>
          <a:prstGeom prst="rect">
            <a:avLst/>
          </a:prstGeom>
          <a:solidFill>
            <a:srgbClr val="12A566"/>
          </a:solidFill>
          <a:ln w="9525">
            <a:solidFill>
              <a:srgbClr val="FFFFFF"/>
            </a:solidFill>
            <a:prstDash val="solid"/>
          </a:ln>
        </p:spPr>
      </p:sp>
      <p:sp>
        <p:nvSpPr>
          <p:cNvPr id="61" name="Shape 59"/>
          <p:cNvSpPr/>
          <p:nvPr/>
        </p:nvSpPr>
        <p:spPr>
          <a:xfrm>
            <a:off x="3345688" y="3188170"/>
            <a:ext cx="270256" cy="193624"/>
          </a:xfrm>
          <a:prstGeom prst="rect">
            <a:avLst/>
          </a:prstGeom>
          <a:solidFill>
            <a:srgbClr val="8ED3B0"/>
          </a:solidFill>
          <a:ln w="9525">
            <a:solidFill>
              <a:srgbClr val="FFFFFF"/>
            </a:solidFill>
            <a:prstDash val="solid"/>
          </a:ln>
        </p:spPr>
      </p:sp>
      <p:sp>
        <p:nvSpPr>
          <p:cNvPr id="62" name="Text 60"/>
          <p:cNvSpPr txBox="1"/>
          <p:nvPr/>
        </p:nvSpPr>
        <p:spPr>
          <a:xfrm>
            <a:off x="3959352" y="3108960"/>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63" name="Text 61"/>
          <p:cNvSpPr txBox="1"/>
          <p:nvPr/>
        </p:nvSpPr>
        <p:spPr>
          <a:xfrm>
            <a:off x="4462272" y="3108960"/>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a:t>
            </a:r>
            <a:endParaRPr lang="en-US" sz="1300" dirty="0"/>
          </a:p>
        </p:txBody>
      </p:sp>
      <p:sp>
        <p:nvSpPr>
          <p:cNvPr id="64" name="Text 62"/>
          <p:cNvSpPr txBox="1"/>
          <p:nvPr/>
        </p:nvSpPr>
        <p:spPr>
          <a:xfrm>
            <a:off x="4965192" y="3108960"/>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65" name="Text 63"/>
          <p:cNvSpPr txBox="1"/>
          <p:nvPr/>
        </p:nvSpPr>
        <p:spPr>
          <a:xfrm>
            <a:off x="5468112" y="3108960"/>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7</a:t>
            </a:r>
            <a:endParaRPr lang="en-US" sz="1300" dirty="0"/>
          </a:p>
        </p:txBody>
      </p:sp>
      <p:sp>
        <p:nvSpPr>
          <p:cNvPr id="66" name="Text 64"/>
          <p:cNvSpPr txBox="1"/>
          <p:nvPr/>
        </p:nvSpPr>
        <p:spPr>
          <a:xfrm>
            <a:off x="658368" y="346100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67" name="Shape 65"/>
          <p:cNvSpPr/>
          <p:nvPr/>
        </p:nvSpPr>
        <p:spPr>
          <a:xfrm>
            <a:off x="2670048" y="3540214"/>
            <a:ext cx="270256" cy="193624"/>
          </a:xfrm>
          <a:prstGeom prst="rect">
            <a:avLst/>
          </a:prstGeom>
          <a:solidFill>
            <a:srgbClr val="0B7A4A"/>
          </a:solidFill>
          <a:ln w="9525">
            <a:solidFill>
              <a:srgbClr val="FFFFFF"/>
            </a:solidFill>
            <a:prstDash val="solid"/>
          </a:ln>
        </p:spPr>
      </p:sp>
      <p:sp>
        <p:nvSpPr>
          <p:cNvPr id="68" name="Shape 66"/>
          <p:cNvSpPr/>
          <p:nvPr/>
        </p:nvSpPr>
        <p:spPr>
          <a:xfrm>
            <a:off x="2940304" y="3540214"/>
            <a:ext cx="135128" cy="193624"/>
          </a:xfrm>
          <a:prstGeom prst="rect">
            <a:avLst/>
          </a:prstGeom>
          <a:solidFill>
            <a:srgbClr val="12A566"/>
          </a:solidFill>
          <a:ln w="9525">
            <a:solidFill>
              <a:srgbClr val="FFFFFF"/>
            </a:solidFill>
            <a:prstDash val="solid"/>
          </a:ln>
        </p:spPr>
      </p:sp>
      <p:sp>
        <p:nvSpPr>
          <p:cNvPr id="69" name="Shape 67"/>
          <p:cNvSpPr/>
          <p:nvPr/>
        </p:nvSpPr>
        <p:spPr>
          <a:xfrm>
            <a:off x="3075432" y="3540214"/>
            <a:ext cx="405384" cy="193624"/>
          </a:xfrm>
          <a:prstGeom prst="rect">
            <a:avLst/>
          </a:prstGeom>
          <a:solidFill>
            <a:srgbClr val="8ED3B0"/>
          </a:solidFill>
          <a:ln w="9525">
            <a:solidFill>
              <a:srgbClr val="FFFFFF"/>
            </a:solidFill>
            <a:prstDash val="solid"/>
          </a:ln>
        </p:spPr>
      </p:sp>
      <p:sp>
        <p:nvSpPr>
          <p:cNvPr id="70" name="Text 68"/>
          <p:cNvSpPr txBox="1"/>
          <p:nvPr/>
        </p:nvSpPr>
        <p:spPr>
          <a:xfrm>
            <a:off x="3959352" y="346100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71" name="Text 69"/>
          <p:cNvSpPr txBox="1"/>
          <p:nvPr/>
        </p:nvSpPr>
        <p:spPr>
          <a:xfrm>
            <a:off x="4462272" y="346100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72" name="Text 70"/>
          <p:cNvSpPr txBox="1"/>
          <p:nvPr/>
        </p:nvSpPr>
        <p:spPr>
          <a:xfrm>
            <a:off x="4965192" y="346100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a:t>
            </a:r>
            <a:endParaRPr lang="en-US" sz="1300" dirty="0"/>
          </a:p>
        </p:txBody>
      </p:sp>
      <p:sp>
        <p:nvSpPr>
          <p:cNvPr id="73" name="Text 71"/>
          <p:cNvSpPr txBox="1"/>
          <p:nvPr/>
        </p:nvSpPr>
        <p:spPr>
          <a:xfrm>
            <a:off x="5468112" y="3461004"/>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6</a:t>
            </a:r>
            <a:endParaRPr lang="en-US" sz="1300" dirty="0"/>
          </a:p>
        </p:txBody>
      </p:sp>
      <p:sp>
        <p:nvSpPr>
          <p:cNvPr id="74" name="Text 72"/>
          <p:cNvSpPr txBox="1"/>
          <p:nvPr/>
        </p:nvSpPr>
        <p:spPr>
          <a:xfrm>
            <a:off x="658368" y="3813048"/>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75" name="Shape 73"/>
          <p:cNvSpPr/>
          <p:nvPr/>
        </p:nvSpPr>
        <p:spPr>
          <a:xfrm>
            <a:off x="2670048" y="3892258"/>
            <a:ext cx="270256" cy="193624"/>
          </a:xfrm>
          <a:prstGeom prst="rect">
            <a:avLst/>
          </a:prstGeom>
          <a:solidFill>
            <a:srgbClr val="0B7A4A"/>
          </a:solidFill>
          <a:ln w="9525">
            <a:solidFill>
              <a:srgbClr val="FFFFFF"/>
            </a:solidFill>
            <a:prstDash val="solid"/>
          </a:ln>
        </p:spPr>
      </p:sp>
      <p:sp>
        <p:nvSpPr>
          <p:cNvPr id="76" name="Shape 74"/>
          <p:cNvSpPr/>
          <p:nvPr/>
        </p:nvSpPr>
        <p:spPr>
          <a:xfrm>
            <a:off x="2940304" y="3892258"/>
            <a:ext cx="135128" cy="193624"/>
          </a:xfrm>
          <a:prstGeom prst="rect">
            <a:avLst/>
          </a:prstGeom>
          <a:solidFill>
            <a:srgbClr val="12A566"/>
          </a:solidFill>
          <a:ln w="9525">
            <a:solidFill>
              <a:srgbClr val="FFFFFF"/>
            </a:solidFill>
            <a:prstDash val="solid"/>
          </a:ln>
        </p:spPr>
      </p:sp>
      <p:sp>
        <p:nvSpPr>
          <p:cNvPr id="77" name="Shape 75"/>
          <p:cNvSpPr/>
          <p:nvPr/>
        </p:nvSpPr>
        <p:spPr>
          <a:xfrm>
            <a:off x="3075432" y="3892258"/>
            <a:ext cx="405384" cy="193624"/>
          </a:xfrm>
          <a:prstGeom prst="rect">
            <a:avLst/>
          </a:prstGeom>
          <a:solidFill>
            <a:srgbClr val="8ED3B0"/>
          </a:solidFill>
          <a:ln w="9525">
            <a:solidFill>
              <a:srgbClr val="FFFFFF"/>
            </a:solidFill>
            <a:prstDash val="solid"/>
          </a:ln>
        </p:spPr>
      </p:sp>
      <p:sp>
        <p:nvSpPr>
          <p:cNvPr id="78" name="Text 76"/>
          <p:cNvSpPr txBox="1"/>
          <p:nvPr/>
        </p:nvSpPr>
        <p:spPr>
          <a:xfrm>
            <a:off x="3959352" y="381304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79" name="Text 77"/>
          <p:cNvSpPr txBox="1"/>
          <p:nvPr/>
        </p:nvSpPr>
        <p:spPr>
          <a:xfrm>
            <a:off x="4462272" y="381304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80" name="Text 78"/>
          <p:cNvSpPr txBox="1"/>
          <p:nvPr/>
        </p:nvSpPr>
        <p:spPr>
          <a:xfrm>
            <a:off x="4965192" y="381304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a:t>
            </a:r>
            <a:endParaRPr lang="en-US" sz="1300" dirty="0"/>
          </a:p>
        </p:txBody>
      </p:sp>
      <p:sp>
        <p:nvSpPr>
          <p:cNvPr id="81" name="Text 79"/>
          <p:cNvSpPr txBox="1"/>
          <p:nvPr/>
        </p:nvSpPr>
        <p:spPr>
          <a:xfrm>
            <a:off x="5468112" y="3813048"/>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6</a:t>
            </a:r>
            <a:endParaRPr lang="en-US" sz="1300" dirty="0"/>
          </a:p>
        </p:txBody>
      </p:sp>
      <p:sp>
        <p:nvSpPr>
          <p:cNvPr id="82" name="Text 80"/>
          <p:cNvSpPr txBox="1"/>
          <p:nvPr/>
        </p:nvSpPr>
        <p:spPr>
          <a:xfrm>
            <a:off x="658368" y="4165092"/>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83" name="Shape 81"/>
          <p:cNvSpPr/>
          <p:nvPr/>
        </p:nvSpPr>
        <p:spPr>
          <a:xfrm>
            <a:off x="2670048" y="4244302"/>
            <a:ext cx="270256" cy="193624"/>
          </a:xfrm>
          <a:prstGeom prst="rect">
            <a:avLst/>
          </a:prstGeom>
          <a:solidFill>
            <a:srgbClr val="0B7A4A"/>
          </a:solidFill>
          <a:ln w="9525">
            <a:solidFill>
              <a:srgbClr val="FFFFFF"/>
            </a:solidFill>
            <a:prstDash val="solid"/>
          </a:ln>
        </p:spPr>
      </p:sp>
      <p:sp>
        <p:nvSpPr>
          <p:cNvPr id="84" name="Shape 82"/>
          <p:cNvSpPr/>
          <p:nvPr/>
        </p:nvSpPr>
        <p:spPr>
          <a:xfrm>
            <a:off x="2940304" y="4244302"/>
            <a:ext cx="135128" cy="193624"/>
          </a:xfrm>
          <a:prstGeom prst="rect">
            <a:avLst/>
          </a:prstGeom>
          <a:solidFill>
            <a:srgbClr val="12A566"/>
          </a:solidFill>
          <a:ln w="9525">
            <a:solidFill>
              <a:srgbClr val="FFFFFF"/>
            </a:solidFill>
            <a:prstDash val="solid"/>
          </a:ln>
        </p:spPr>
      </p:sp>
      <p:sp>
        <p:nvSpPr>
          <p:cNvPr id="85" name="Shape 83"/>
          <p:cNvSpPr/>
          <p:nvPr/>
        </p:nvSpPr>
        <p:spPr>
          <a:xfrm>
            <a:off x="3075432" y="4244302"/>
            <a:ext cx="270256" cy="193624"/>
          </a:xfrm>
          <a:prstGeom prst="rect">
            <a:avLst/>
          </a:prstGeom>
          <a:solidFill>
            <a:srgbClr val="8ED3B0"/>
          </a:solidFill>
          <a:ln w="9525">
            <a:solidFill>
              <a:srgbClr val="FFFFFF"/>
            </a:solidFill>
            <a:prstDash val="solid"/>
          </a:ln>
        </p:spPr>
      </p:sp>
      <p:sp>
        <p:nvSpPr>
          <p:cNvPr id="86" name="Text 84"/>
          <p:cNvSpPr txBox="1"/>
          <p:nvPr/>
        </p:nvSpPr>
        <p:spPr>
          <a:xfrm>
            <a:off x="3959352" y="4165092"/>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87" name="Text 85"/>
          <p:cNvSpPr txBox="1"/>
          <p:nvPr/>
        </p:nvSpPr>
        <p:spPr>
          <a:xfrm>
            <a:off x="4462272" y="4165092"/>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88" name="Text 86"/>
          <p:cNvSpPr txBox="1"/>
          <p:nvPr/>
        </p:nvSpPr>
        <p:spPr>
          <a:xfrm>
            <a:off x="4965192" y="4165092"/>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89" name="Text 87"/>
          <p:cNvSpPr txBox="1"/>
          <p:nvPr/>
        </p:nvSpPr>
        <p:spPr>
          <a:xfrm>
            <a:off x="5468112" y="4165092"/>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5</a:t>
            </a:r>
            <a:endParaRPr lang="en-US" sz="1300" dirty="0"/>
          </a:p>
        </p:txBody>
      </p:sp>
      <p:sp>
        <p:nvSpPr>
          <p:cNvPr id="90" name="Text 88"/>
          <p:cNvSpPr txBox="1"/>
          <p:nvPr/>
        </p:nvSpPr>
        <p:spPr>
          <a:xfrm>
            <a:off x="658368" y="4517136"/>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91" name="Shape 89"/>
          <p:cNvSpPr/>
          <p:nvPr/>
        </p:nvSpPr>
        <p:spPr>
          <a:xfrm>
            <a:off x="2670048" y="4596346"/>
            <a:ext cx="270256" cy="193624"/>
          </a:xfrm>
          <a:prstGeom prst="rect">
            <a:avLst/>
          </a:prstGeom>
          <a:solidFill>
            <a:srgbClr val="0B7A4A"/>
          </a:solidFill>
          <a:ln w="9525">
            <a:solidFill>
              <a:srgbClr val="FFFFFF"/>
            </a:solidFill>
            <a:prstDash val="solid"/>
          </a:ln>
        </p:spPr>
      </p:sp>
      <p:sp>
        <p:nvSpPr>
          <p:cNvPr id="92" name="Shape 90"/>
          <p:cNvSpPr/>
          <p:nvPr/>
        </p:nvSpPr>
        <p:spPr>
          <a:xfrm>
            <a:off x="2940304" y="4596346"/>
            <a:ext cx="135128" cy="193624"/>
          </a:xfrm>
          <a:prstGeom prst="rect">
            <a:avLst/>
          </a:prstGeom>
          <a:solidFill>
            <a:srgbClr val="12A566"/>
          </a:solidFill>
          <a:ln w="9525">
            <a:solidFill>
              <a:srgbClr val="FFFFFF"/>
            </a:solidFill>
            <a:prstDash val="solid"/>
          </a:ln>
        </p:spPr>
      </p:sp>
      <p:sp>
        <p:nvSpPr>
          <p:cNvPr id="93" name="Shape 91"/>
          <p:cNvSpPr/>
          <p:nvPr/>
        </p:nvSpPr>
        <p:spPr>
          <a:xfrm>
            <a:off x="3075432" y="4596346"/>
            <a:ext cx="135128" cy="193624"/>
          </a:xfrm>
          <a:prstGeom prst="rect">
            <a:avLst/>
          </a:prstGeom>
          <a:solidFill>
            <a:srgbClr val="8ED3B0"/>
          </a:solidFill>
          <a:ln w="9525">
            <a:solidFill>
              <a:srgbClr val="FFFFFF"/>
            </a:solidFill>
            <a:prstDash val="solid"/>
          </a:ln>
        </p:spPr>
      </p:sp>
      <p:sp>
        <p:nvSpPr>
          <p:cNvPr id="94" name="Text 92"/>
          <p:cNvSpPr txBox="1"/>
          <p:nvPr/>
        </p:nvSpPr>
        <p:spPr>
          <a:xfrm>
            <a:off x="3959352" y="4517136"/>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95" name="Text 93"/>
          <p:cNvSpPr txBox="1"/>
          <p:nvPr/>
        </p:nvSpPr>
        <p:spPr>
          <a:xfrm>
            <a:off x="4462272" y="4517136"/>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96" name="Text 94"/>
          <p:cNvSpPr txBox="1"/>
          <p:nvPr/>
        </p:nvSpPr>
        <p:spPr>
          <a:xfrm>
            <a:off x="4965192" y="4517136"/>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97" name="Text 95"/>
          <p:cNvSpPr txBox="1"/>
          <p:nvPr/>
        </p:nvSpPr>
        <p:spPr>
          <a:xfrm>
            <a:off x="5468112" y="4517136"/>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98" name="Text 96"/>
          <p:cNvSpPr txBox="1"/>
          <p:nvPr/>
        </p:nvSpPr>
        <p:spPr>
          <a:xfrm>
            <a:off x="658368" y="4869180"/>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99" name="Shape 97"/>
          <p:cNvSpPr/>
          <p:nvPr/>
        </p:nvSpPr>
        <p:spPr>
          <a:xfrm>
            <a:off x="2670048" y="4948390"/>
            <a:ext cx="270256" cy="193624"/>
          </a:xfrm>
          <a:prstGeom prst="rect">
            <a:avLst/>
          </a:prstGeom>
          <a:solidFill>
            <a:srgbClr val="0B7A4A"/>
          </a:solidFill>
          <a:ln w="9525">
            <a:solidFill>
              <a:srgbClr val="FFFFFF"/>
            </a:solidFill>
            <a:prstDash val="solid"/>
          </a:ln>
        </p:spPr>
      </p:sp>
      <p:sp>
        <p:nvSpPr>
          <p:cNvPr id="100" name="Shape 98"/>
          <p:cNvSpPr/>
          <p:nvPr/>
        </p:nvSpPr>
        <p:spPr>
          <a:xfrm>
            <a:off x="2940304" y="4948390"/>
            <a:ext cx="135128" cy="193624"/>
          </a:xfrm>
          <a:prstGeom prst="rect">
            <a:avLst/>
          </a:prstGeom>
          <a:solidFill>
            <a:srgbClr val="12A566"/>
          </a:solidFill>
          <a:ln w="9525">
            <a:solidFill>
              <a:srgbClr val="FFFFFF"/>
            </a:solidFill>
            <a:prstDash val="solid"/>
          </a:ln>
        </p:spPr>
      </p:sp>
      <p:sp>
        <p:nvSpPr>
          <p:cNvPr id="101" name="Shape 99"/>
          <p:cNvSpPr/>
          <p:nvPr/>
        </p:nvSpPr>
        <p:spPr>
          <a:xfrm>
            <a:off x="3075432" y="4948390"/>
            <a:ext cx="135128" cy="193624"/>
          </a:xfrm>
          <a:prstGeom prst="rect">
            <a:avLst/>
          </a:prstGeom>
          <a:solidFill>
            <a:srgbClr val="8ED3B0"/>
          </a:solidFill>
          <a:ln w="9525">
            <a:solidFill>
              <a:srgbClr val="FFFFFF"/>
            </a:solidFill>
            <a:prstDash val="solid"/>
          </a:ln>
        </p:spPr>
      </p:sp>
      <p:sp>
        <p:nvSpPr>
          <p:cNvPr id="102" name="Text 100"/>
          <p:cNvSpPr txBox="1"/>
          <p:nvPr/>
        </p:nvSpPr>
        <p:spPr>
          <a:xfrm>
            <a:off x="3959352" y="4869180"/>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103" name="Text 101"/>
          <p:cNvSpPr txBox="1"/>
          <p:nvPr/>
        </p:nvSpPr>
        <p:spPr>
          <a:xfrm>
            <a:off x="4462272" y="4869180"/>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04" name="Text 102"/>
          <p:cNvSpPr txBox="1"/>
          <p:nvPr/>
        </p:nvSpPr>
        <p:spPr>
          <a:xfrm>
            <a:off x="4965192" y="4869180"/>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05" name="Text 103"/>
          <p:cNvSpPr txBox="1"/>
          <p:nvPr/>
        </p:nvSpPr>
        <p:spPr>
          <a:xfrm>
            <a:off x="5468112" y="4869180"/>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106" name="Text 104"/>
          <p:cNvSpPr txBox="1"/>
          <p:nvPr/>
        </p:nvSpPr>
        <p:spPr>
          <a:xfrm>
            <a:off x="658368" y="522122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07" name="Shape 105"/>
          <p:cNvSpPr/>
          <p:nvPr/>
        </p:nvSpPr>
        <p:spPr>
          <a:xfrm>
            <a:off x="2670048" y="5300434"/>
            <a:ext cx="270256" cy="193624"/>
          </a:xfrm>
          <a:prstGeom prst="rect">
            <a:avLst/>
          </a:prstGeom>
          <a:solidFill>
            <a:srgbClr val="0B7A4A"/>
          </a:solidFill>
          <a:ln w="9525">
            <a:solidFill>
              <a:srgbClr val="FFFFFF"/>
            </a:solidFill>
            <a:prstDash val="solid"/>
          </a:ln>
        </p:spPr>
      </p:sp>
      <p:sp>
        <p:nvSpPr>
          <p:cNvPr id="108" name="Shape 106"/>
          <p:cNvSpPr/>
          <p:nvPr/>
        </p:nvSpPr>
        <p:spPr>
          <a:xfrm>
            <a:off x="2940304" y="5300434"/>
            <a:ext cx="135128" cy="193624"/>
          </a:xfrm>
          <a:prstGeom prst="rect">
            <a:avLst/>
          </a:prstGeom>
          <a:solidFill>
            <a:srgbClr val="12A566"/>
          </a:solidFill>
          <a:ln w="9525">
            <a:solidFill>
              <a:srgbClr val="FFFFFF"/>
            </a:solidFill>
            <a:prstDash val="solid"/>
          </a:ln>
        </p:spPr>
      </p:sp>
      <p:sp>
        <p:nvSpPr>
          <p:cNvPr id="109" name="Shape 107"/>
          <p:cNvSpPr/>
          <p:nvPr/>
        </p:nvSpPr>
        <p:spPr>
          <a:xfrm>
            <a:off x="3075432" y="5300434"/>
            <a:ext cx="135128" cy="193624"/>
          </a:xfrm>
          <a:prstGeom prst="rect">
            <a:avLst/>
          </a:prstGeom>
          <a:solidFill>
            <a:srgbClr val="8ED3B0"/>
          </a:solidFill>
          <a:ln w="9525">
            <a:solidFill>
              <a:srgbClr val="FFFFFF"/>
            </a:solidFill>
            <a:prstDash val="solid"/>
          </a:ln>
        </p:spPr>
      </p:sp>
      <p:sp>
        <p:nvSpPr>
          <p:cNvPr id="110" name="Text 108"/>
          <p:cNvSpPr txBox="1"/>
          <p:nvPr/>
        </p:nvSpPr>
        <p:spPr>
          <a:xfrm>
            <a:off x="3959352" y="522122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111" name="Text 109"/>
          <p:cNvSpPr txBox="1"/>
          <p:nvPr/>
        </p:nvSpPr>
        <p:spPr>
          <a:xfrm>
            <a:off x="4462272" y="522122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12" name="Text 110"/>
          <p:cNvSpPr txBox="1"/>
          <p:nvPr/>
        </p:nvSpPr>
        <p:spPr>
          <a:xfrm>
            <a:off x="4965192" y="522122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13" name="Text 111"/>
          <p:cNvSpPr txBox="1"/>
          <p:nvPr/>
        </p:nvSpPr>
        <p:spPr>
          <a:xfrm>
            <a:off x="5468112" y="5221224"/>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114" name="Text 112"/>
          <p:cNvSpPr txBox="1"/>
          <p:nvPr/>
        </p:nvSpPr>
        <p:spPr>
          <a:xfrm>
            <a:off x="658368" y="5573268"/>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15" name="Shape 113"/>
          <p:cNvSpPr/>
          <p:nvPr/>
        </p:nvSpPr>
        <p:spPr>
          <a:xfrm>
            <a:off x="2670048" y="5652478"/>
            <a:ext cx="405384" cy="193624"/>
          </a:xfrm>
          <a:prstGeom prst="rect">
            <a:avLst/>
          </a:prstGeom>
          <a:solidFill>
            <a:srgbClr val="0B7A4A"/>
          </a:solidFill>
          <a:ln w="9525">
            <a:solidFill>
              <a:srgbClr val="FFFFFF"/>
            </a:solidFill>
            <a:prstDash val="solid"/>
          </a:ln>
        </p:spPr>
      </p:sp>
      <p:sp>
        <p:nvSpPr>
          <p:cNvPr id="116" name="Shape 114"/>
          <p:cNvSpPr/>
          <p:nvPr/>
        </p:nvSpPr>
        <p:spPr>
          <a:xfrm>
            <a:off x="3075432" y="5652478"/>
            <a:ext cx="135128" cy="193624"/>
          </a:xfrm>
          <a:prstGeom prst="rect">
            <a:avLst/>
          </a:prstGeom>
          <a:solidFill>
            <a:srgbClr val="8ED3B0"/>
          </a:solidFill>
          <a:ln w="9525">
            <a:solidFill>
              <a:srgbClr val="FFFFFF"/>
            </a:solidFill>
            <a:prstDash val="solid"/>
          </a:ln>
        </p:spPr>
      </p:sp>
      <p:sp>
        <p:nvSpPr>
          <p:cNvPr id="117" name="Text 115"/>
          <p:cNvSpPr txBox="1"/>
          <p:nvPr/>
        </p:nvSpPr>
        <p:spPr>
          <a:xfrm>
            <a:off x="3959352" y="557326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a:t>
            </a:r>
            <a:endParaRPr lang="en-US" sz="1300" dirty="0"/>
          </a:p>
        </p:txBody>
      </p:sp>
      <p:sp>
        <p:nvSpPr>
          <p:cNvPr id="118" name="Text 116"/>
          <p:cNvSpPr txBox="1"/>
          <p:nvPr/>
        </p:nvSpPr>
        <p:spPr>
          <a:xfrm>
            <a:off x="4462272" y="5573268"/>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19" name="Text 117"/>
          <p:cNvSpPr txBox="1"/>
          <p:nvPr/>
        </p:nvSpPr>
        <p:spPr>
          <a:xfrm>
            <a:off x="4965192" y="557326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20" name="Text 118"/>
          <p:cNvSpPr txBox="1"/>
          <p:nvPr/>
        </p:nvSpPr>
        <p:spPr>
          <a:xfrm>
            <a:off x="5468112" y="5573268"/>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121" name="Text 119"/>
          <p:cNvSpPr txBox="1"/>
          <p:nvPr/>
        </p:nvSpPr>
        <p:spPr>
          <a:xfrm>
            <a:off x="6208776" y="170078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22" name="Shape 120"/>
          <p:cNvSpPr/>
          <p:nvPr/>
        </p:nvSpPr>
        <p:spPr>
          <a:xfrm>
            <a:off x="8220456" y="1779994"/>
            <a:ext cx="270256" cy="193624"/>
          </a:xfrm>
          <a:prstGeom prst="rect">
            <a:avLst/>
          </a:prstGeom>
          <a:solidFill>
            <a:srgbClr val="0B7A4A"/>
          </a:solidFill>
          <a:ln w="9525">
            <a:solidFill>
              <a:srgbClr val="FFFFFF"/>
            </a:solidFill>
            <a:prstDash val="solid"/>
          </a:ln>
        </p:spPr>
      </p:sp>
      <p:sp>
        <p:nvSpPr>
          <p:cNvPr id="123" name="Shape 121"/>
          <p:cNvSpPr/>
          <p:nvPr/>
        </p:nvSpPr>
        <p:spPr>
          <a:xfrm>
            <a:off x="8490712" y="1779994"/>
            <a:ext cx="135128" cy="193624"/>
          </a:xfrm>
          <a:prstGeom prst="rect">
            <a:avLst/>
          </a:prstGeom>
          <a:solidFill>
            <a:srgbClr val="12A566"/>
          </a:solidFill>
          <a:ln w="9525">
            <a:solidFill>
              <a:srgbClr val="FFFFFF"/>
            </a:solidFill>
            <a:prstDash val="solid"/>
          </a:ln>
        </p:spPr>
      </p:sp>
      <p:sp>
        <p:nvSpPr>
          <p:cNvPr id="124" name="Shape 122"/>
          <p:cNvSpPr/>
          <p:nvPr/>
        </p:nvSpPr>
        <p:spPr>
          <a:xfrm>
            <a:off x="8625840" y="1779994"/>
            <a:ext cx="135128" cy="193624"/>
          </a:xfrm>
          <a:prstGeom prst="rect">
            <a:avLst/>
          </a:prstGeom>
          <a:solidFill>
            <a:srgbClr val="8ED3B0"/>
          </a:solidFill>
          <a:ln w="9525">
            <a:solidFill>
              <a:srgbClr val="FFFFFF"/>
            </a:solidFill>
            <a:prstDash val="solid"/>
          </a:ln>
        </p:spPr>
      </p:sp>
      <p:sp>
        <p:nvSpPr>
          <p:cNvPr id="125" name="Text 123"/>
          <p:cNvSpPr txBox="1"/>
          <p:nvPr/>
        </p:nvSpPr>
        <p:spPr>
          <a:xfrm>
            <a:off x="9509760" y="170078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126" name="Text 124"/>
          <p:cNvSpPr txBox="1"/>
          <p:nvPr/>
        </p:nvSpPr>
        <p:spPr>
          <a:xfrm>
            <a:off x="10012680" y="170078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27" name="Text 125"/>
          <p:cNvSpPr txBox="1"/>
          <p:nvPr/>
        </p:nvSpPr>
        <p:spPr>
          <a:xfrm>
            <a:off x="10515600" y="170078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28" name="Text 126"/>
          <p:cNvSpPr txBox="1"/>
          <p:nvPr/>
        </p:nvSpPr>
        <p:spPr>
          <a:xfrm>
            <a:off x="11018520" y="1700784"/>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129" name="Text 127"/>
          <p:cNvSpPr txBox="1"/>
          <p:nvPr/>
        </p:nvSpPr>
        <p:spPr>
          <a:xfrm>
            <a:off x="6208776" y="2052828"/>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30" name="Shape 128"/>
          <p:cNvSpPr/>
          <p:nvPr/>
        </p:nvSpPr>
        <p:spPr>
          <a:xfrm>
            <a:off x="8220456" y="2132038"/>
            <a:ext cx="540512" cy="193624"/>
          </a:xfrm>
          <a:prstGeom prst="rect">
            <a:avLst/>
          </a:prstGeom>
          <a:solidFill>
            <a:srgbClr val="0B7A4A"/>
          </a:solidFill>
          <a:ln w="9525">
            <a:solidFill>
              <a:srgbClr val="FFFFFF"/>
            </a:solidFill>
            <a:prstDash val="solid"/>
          </a:ln>
        </p:spPr>
      </p:sp>
      <p:sp>
        <p:nvSpPr>
          <p:cNvPr id="131" name="Text 129"/>
          <p:cNvSpPr txBox="1"/>
          <p:nvPr/>
        </p:nvSpPr>
        <p:spPr>
          <a:xfrm>
            <a:off x="9509760" y="205282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a:t>
            </a:r>
            <a:endParaRPr lang="en-US" sz="1300" dirty="0"/>
          </a:p>
        </p:txBody>
      </p:sp>
      <p:sp>
        <p:nvSpPr>
          <p:cNvPr id="132" name="Text 130"/>
          <p:cNvSpPr txBox="1"/>
          <p:nvPr/>
        </p:nvSpPr>
        <p:spPr>
          <a:xfrm>
            <a:off x="10012680" y="2052828"/>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33" name="Text 131"/>
          <p:cNvSpPr txBox="1"/>
          <p:nvPr/>
        </p:nvSpPr>
        <p:spPr>
          <a:xfrm>
            <a:off x="10515600" y="2052828"/>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34" name="Text 132"/>
          <p:cNvSpPr txBox="1"/>
          <p:nvPr/>
        </p:nvSpPr>
        <p:spPr>
          <a:xfrm>
            <a:off x="11018520" y="2052828"/>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135" name="Text 133"/>
          <p:cNvSpPr txBox="1"/>
          <p:nvPr/>
        </p:nvSpPr>
        <p:spPr>
          <a:xfrm>
            <a:off x="6208776" y="2404872"/>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36" name="Shape 134"/>
          <p:cNvSpPr/>
          <p:nvPr/>
        </p:nvSpPr>
        <p:spPr>
          <a:xfrm>
            <a:off x="8220456" y="2484082"/>
            <a:ext cx="135128" cy="193624"/>
          </a:xfrm>
          <a:prstGeom prst="rect">
            <a:avLst/>
          </a:prstGeom>
          <a:solidFill>
            <a:srgbClr val="12A566"/>
          </a:solidFill>
          <a:ln w="9525">
            <a:solidFill>
              <a:srgbClr val="FFFFFF"/>
            </a:solidFill>
            <a:prstDash val="solid"/>
          </a:ln>
        </p:spPr>
      </p:sp>
      <p:sp>
        <p:nvSpPr>
          <p:cNvPr id="137" name="Shape 135"/>
          <p:cNvSpPr/>
          <p:nvPr/>
        </p:nvSpPr>
        <p:spPr>
          <a:xfrm>
            <a:off x="8355584" y="2484082"/>
            <a:ext cx="270256" cy="193624"/>
          </a:xfrm>
          <a:prstGeom prst="rect">
            <a:avLst/>
          </a:prstGeom>
          <a:solidFill>
            <a:srgbClr val="8ED3B0"/>
          </a:solidFill>
          <a:ln w="9525">
            <a:solidFill>
              <a:srgbClr val="FFFFFF"/>
            </a:solidFill>
            <a:prstDash val="solid"/>
          </a:ln>
        </p:spPr>
      </p:sp>
      <p:sp>
        <p:nvSpPr>
          <p:cNvPr id="138" name="Text 136"/>
          <p:cNvSpPr txBox="1"/>
          <p:nvPr/>
        </p:nvSpPr>
        <p:spPr>
          <a:xfrm>
            <a:off x="9509760" y="2404872"/>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39" name="Text 137"/>
          <p:cNvSpPr txBox="1"/>
          <p:nvPr/>
        </p:nvSpPr>
        <p:spPr>
          <a:xfrm>
            <a:off x="10012680" y="2404872"/>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40" name="Text 138"/>
          <p:cNvSpPr txBox="1"/>
          <p:nvPr/>
        </p:nvSpPr>
        <p:spPr>
          <a:xfrm>
            <a:off x="10515600" y="2404872"/>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141" name="Text 139"/>
          <p:cNvSpPr txBox="1"/>
          <p:nvPr/>
        </p:nvSpPr>
        <p:spPr>
          <a:xfrm>
            <a:off x="11018520" y="2404872"/>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3</a:t>
            </a:r>
            <a:endParaRPr lang="en-US" sz="1300" dirty="0"/>
          </a:p>
        </p:txBody>
      </p:sp>
      <p:sp>
        <p:nvSpPr>
          <p:cNvPr id="142" name="Text 140"/>
          <p:cNvSpPr txBox="1"/>
          <p:nvPr/>
        </p:nvSpPr>
        <p:spPr>
          <a:xfrm>
            <a:off x="6208776" y="2756916"/>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43" name="Shape 141"/>
          <p:cNvSpPr/>
          <p:nvPr/>
        </p:nvSpPr>
        <p:spPr>
          <a:xfrm>
            <a:off x="8220456" y="2836126"/>
            <a:ext cx="135128" cy="193624"/>
          </a:xfrm>
          <a:prstGeom prst="rect">
            <a:avLst/>
          </a:prstGeom>
          <a:solidFill>
            <a:srgbClr val="12A566"/>
          </a:solidFill>
          <a:ln w="9525">
            <a:solidFill>
              <a:srgbClr val="FFFFFF"/>
            </a:solidFill>
            <a:prstDash val="solid"/>
          </a:ln>
        </p:spPr>
      </p:sp>
      <p:sp>
        <p:nvSpPr>
          <p:cNvPr id="144" name="Shape 142"/>
          <p:cNvSpPr/>
          <p:nvPr/>
        </p:nvSpPr>
        <p:spPr>
          <a:xfrm>
            <a:off x="8355584" y="2836126"/>
            <a:ext cx="135128" cy="193624"/>
          </a:xfrm>
          <a:prstGeom prst="rect">
            <a:avLst/>
          </a:prstGeom>
          <a:solidFill>
            <a:srgbClr val="8ED3B0"/>
          </a:solidFill>
          <a:ln w="9525">
            <a:solidFill>
              <a:srgbClr val="FFFFFF"/>
            </a:solidFill>
            <a:prstDash val="solid"/>
          </a:ln>
        </p:spPr>
      </p:sp>
      <p:sp>
        <p:nvSpPr>
          <p:cNvPr id="145" name="Text 143"/>
          <p:cNvSpPr txBox="1"/>
          <p:nvPr/>
        </p:nvSpPr>
        <p:spPr>
          <a:xfrm>
            <a:off x="9509760" y="2756916"/>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46" name="Text 144"/>
          <p:cNvSpPr txBox="1"/>
          <p:nvPr/>
        </p:nvSpPr>
        <p:spPr>
          <a:xfrm>
            <a:off x="10012680" y="2756916"/>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47" name="Text 145"/>
          <p:cNvSpPr txBox="1"/>
          <p:nvPr/>
        </p:nvSpPr>
        <p:spPr>
          <a:xfrm>
            <a:off x="10515600" y="2756916"/>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48" name="Text 146"/>
          <p:cNvSpPr txBox="1"/>
          <p:nvPr/>
        </p:nvSpPr>
        <p:spPr>
          <a:xfrm>
            <a:off x="11018520" y="2756916"/>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149" name="Text 147"/>
          <p:cNvSpPr txBox="1"/>
          <p:nvPr/>
        </p:nvSpPr>
        <p:spPr>
          <a:xfrm>
            <a:off x="6208776" y="3108960"/>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50" name="Shape 148"/>
          <p:cNvSpPr/>
          <p:nvPr/>
        </p:nvSpPr>
        <p:spPr>
          <a:xfrm>
            <a:off x="8220456" y="3188170"/>
            <a:ext cx="135128" cy="193624"/>
          </a:xfrm>
          <a:prstGeom prst="rect">
            <a:avLst/>
          </a:prstGeom>
          <a:solidFill>
            <a:srgbClr val="0B7A4A"/>
          </a:solidFill>
          <a:ln w="9525">
            <a:solidFill>
              <a:srgbClr val="FFFFFF"/>
            </a:solidFill>
            <a:prstDash val="solid"/>
          </a:ln>
        </p:spPr>
      </p:sp>
      <p:sp>
        <p:nvSpPr>
          <p:cNvPr id="151" name="Shape 149"/>
          <p:cNvSpPr/>
          <p:nvPr/>
        </p:nvSpPr>
        <p:spPr>
          <a:xfrm>
            <a:off x="8355584" y="3188170"/>
            <a:ext cx="135128" cy="193624"/>
          </a:xfrm>
          <a:prstGeom prst="rect">
            <a:avLst/>
          </a:prstGeom>
          <a:solidFill>
            <a:srgbClr val="8ED3B0"/>
          </a:solidFill>
          <a:ln w="9525">
            <a:solidFill>
              <a:srgbClr val="FFFFFF"/>
            </a:solidFill>
            <a:prstDash val="solid"/>
          </a:ln>
        </p:spPr>
      </p:sp>
      <p:sp>
        <p:nvSpPr>
          <p:cNvPr id="152" name="Text 150"/>
          <p:cNvSpPr txBox="1"/>
          <p:nvPr/>
        </p:nvSpPr>
        <p:spPr>
          <a:xfrm>
            <a:off x="9509760" y="3108960"/>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53" name="Text 151"/>
          <p:cNvSpPr txBox="1"/>
          <p:nvPr/>
        </p:nvSpPr>
        <p:spPr>
          <a:xfrm>
            <a:off x="10012680" y="3108960"/>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54" name="Text 152"/>
          <p:cNvSpPr txBox="1"/>
          <p:nvPr/>
        </p:nvSpPr>
        <p:spPr>
          <a:xfrm>
            <a:off x="10515600" y="3108960"/>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55" name="Text 153"/>
          <p:cNvSpPr txBox="1"/>
          <p:nvPr/>
        </p:nvSpPr>
        <p:spPr>
          <a:xfrm>
            <a:off x="11018520" y="3108960"/>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156" name="Text 154"/>
          <p:cNvSpPr txBox="1"/>
          <p:nvPr/>
        </p:nvSpPr>
        <p:spPr>
          <a:xfrm>
            <a:off x="6208776" y="346100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57" name="Shape 155"/>
          <p:cNvSpPr/>
          <p:nvPr/>
        </p:nvSpPr>
        <p:spPr>
          <a:xfrm>
            <a:off x="8220456" y="3540214"/>
            <a:ext cx="135128" cy="193624"/>
          </a:xfrm>
          <a:prstGeom prst="rect">
            <a:avLst/>
          </a:prstGeom>
          <a:solidFill>
            <a:srgbClr val="0B7A4A"/>
          </a:solidFill>
          <a:ln w="9525">
            <a:solidFill>
              <a:srgbClr val="FFFFFF"/>
            </a:solidFill>
            <a:prstDash val="solid"/>
          </a:ln>
        </p:spPr>
      </p:sp>
      <p:sp>
        <p:nvSpPr>
          <p:cNvPr id="158" name="Shape 156"/>
          <p:cNvSpPr/>
          <p:nvPr/>
        </p:nvSpPr>
        <p:spPr>
          <a:xfrm>
            <a:off x="8355584" y="3540214"/>
            <a:ext cx="135128" cy="193624"/>
          </a:xfrm>
          <a:prstGeom prst="rect">
            <a:avLst/>
          </a:prstGeom>
          <a:solidFill>
            <a:srgbClr val="8ED3B0"/>
          </a:solidFill>
          <a:ln w="9525">
            <a:solidFill>
              <a:srgbClr val="FFFFFF"/>
            </a:solidFill>
            <a:prstDash val="solid"/>
          </a:ln>
        </p:spPr>
      </p:sp>
      <p:sp>
        <p:nvSpPr>
          <p:cNvPr id="159" name="Text 157"/>
          <p:cNvSpPr txBox="1"/>
          <p:nvPr/>
        </p:nvSpPr>
        <p:spPr>
          <a:xfrm>
            <a:off x="9509760" y="346100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60" name="Text 158"/>
          <p:cNvSpPr txBox="1"/>
          <p:nvPr/>
        </p:nvSpPr>
        <p:spPr>
          <a:xfrm>
            <a:off x="10012680" y="3461004"/>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61" name="Text 159"/>
          <p:cNvSpPr txBox="1"/>
          <p:nvPr/>
        </p:nvSpPr>
        <p:spPr>
          <a:xfrm>
            <a:off x="10515600" y="346100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62" name="Text 160"/>
          <p:cNvSpPr txBox="1"/>
          <p:nvPr/>
        </p:nvSpPr>
        <p:spPr>
          <a:xfrm>
            <a:off x="11018520" y="3461004"/>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163" name="Text 161"/>
          <p:cNvSpPr txBox="1"/>
          <p:nvPr/>
        </p:nvSpPr>
        <p:spPr>
          <a:xfrm>
            <a:off x="6208776" y="3813048"/>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64" name="Shape 162"/>
          <p:cNvSpPr/>
          <p:nvPr/>
        </p:nvSpPr>
        <p:spPr>
          <a:xfrm>
            <a:off x="8220456" y="3892258"/>
            <a:ext cx="135128" cy="193624"/>
          </a:xfrm>
          <a:prstGeom prst="rect">
            <a:avLst/>
          </a:prstGeom>
          <a:solidFill>
            <a:srgbClr val="0B7A4A"/>
          </a:solidFill>
          <a:ln w="9525">
            <a:solidFill>
              <a:srgbClr val="FFFFFF"/>
            </a:solidFill>
            <a:prstDash val="solid"/>
          </a:ln>
        </p:spPr>
      </p:sp>
      <p:sp>
        <p:nvSpPr>
          <p:cNvPr id="165" name="Shape 163"/>
          <p:cNvSpPr/>
          <p:nvPr/>
        </p:nvSpPr>
        <p:spPr>
          <a:xfrm>
            <a:off x="8355584" y="3892258"/>
            <a:ext cx="135128" cy="193624"/>
          </a:xfrm>
          <a:prstGeom prst="rect">
            <a:avLst/>
          </a:prstGeom>
          <a:solidFill>
            <a:srgbClr val="8ED3B0"/>
          </a:solidFill>
          <a:ln w="9525">
            <a:solidFill>
              <a:srgbClr val="FFFFFF"/>
            </a:solidFill>
            <a:prstDash val="solid"/>
          </a:ln>
        </p:spPr>
      </p:sp>
      <p:sp>
        <p:nvSpPr>
          <p:cNvPr id="166" name="Text 164"/>
          <p:cNvSpPr txBox="1"/>
          <p:nvPr/>
        </p:nvSpPr>
        <p:spPr>
          <a:xfrm>
            <a:off x="9509760" y="381304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67" name="Text 165"/>
          <p:cNvSpPr txBox="1"/>
          <p:nvPr/>
        </p:nvSpPr>
        <p:spPr>
          <a:xfrm>
            <a:off x="10012680" y="3813048"/>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68" name="Text 166"/>
          <p:cNvSpPr txBox="1"/>
          <p:nvPr/>
        </p:nvSpPr>
        <p:spPr>
          <a:xfrm>
            <a:off x="10515600" y="381304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69" name="Text 167"/>
          <p:cNvSpPr txBox="1"/>
          <p:nvPr/>
        </p:nvSpPr>
        <p:spPr>
          <a:xfrm>
            <a:off x="11018520" y="3813048"/>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170" name="Text 168"/>
          <p:cNvSpPr txBox="1"/>
          <p:nvPr/>
        </p:nvSpPr>
        <p:spPr>
          <a:xfrm>
            <a:off x="6208776" y="4165092"/>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71" name="Shape 169"/>
          <p:cNvSpPr/>
          <p:nvPr/>
        </p:nvSpPr>
        <p:spPr>
          <a:xfrm>
            <a:off x="8220456" y="4244302"/>
            <a:ext cx="135128" cy="193624"/>
          </a:xfrm>
          <a:prstGeom prst="rect">
            <a:avLst/>
          </a:prstGeom>
          <a:solidFill>
            <a:srgbClr val="0B7A4A"/>
          </a:solidFill>
          <a:ln w="9525">
            <a:solidFill>
              <a:srgbClr val="FFFFFF"/>
            </a:solidFill>
            <a:prstDash val="solid"/>
          </a:ln>
        </p:spPr>
      </p:sp>
      <p:sp>
        <p:nvSpPr>
          <p:cNvPr id="172" name="Shape 170"/>
          <p:cNvSpPr/>
          <p:nvPr/>
        </p:nvSpPr>
        <p:spPr>
          <a:xfrm>
            <a:off x="8355584" y="4244302"/>
            <a:ext cx="135128" cy="193624"/>
          </a:xfrm>
          <a:prstGeom prst="rect">
            <a:avLst/>
          </a:prstGeom>
          <a:solidFill>
            <a:srgbClr val="8ED3B0"/>
          </a:solidFill>
          <a:ln w="9525">
            <a:solidFill>
              <a:srgbClr val="FFFFFF"/>
            </a:solidFill>
            <a:prstDash val="solid"/>
          </a:ln>
        </p:spPr>
      </p:sp>
      <p:sp>
        <p:nvSpPr>
          <p:cNvPr id="173" name="Text 171"/>
          <p:cNvSpPr txBox="1"/>
          <p:nvPr/>
        </p:nvSpPr>
        <p:spPr>
          <a:xfrm>
            <a:off x="9509760" y="4165092"/>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74" name="Text 172"/>
          <p:cNvSpPr txBox="1"/>
          <p:nvPr/>
        </p:nvSpPr>
        <p:spPr>
          <a:xfrm>
            <a:off x="10012680" y="4165092"/>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75" name="Text 173"/>
          <p:cNvSpPr txBox="1"/>
          <p:nvPr/>
        </p:nvSpPr>
        <p:spPr>
          <a:xfrm>
            <a:off x="10515600" y="4165092"/>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76" name="Text 174"/>
          <p:cNvSpPr txBox="1"/>
          <p:nvPr/>
        </p:nvSpPr>
        <p:spPr>
          <a:xfrm>
            <a:off x="11018520" y="4165092"/>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177" name="Text 175"/>
          <p:cNvSpPr txBox="1"/>
          <p:nvPr/>
        </p:nvSpPr>
        <p:spPr>
          <a:xfrm>
            <a:off x="6208776" y="4517136"/>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78" name="Shape 176"/>
          <p:cNvSpPr/>
          <p:nvPr/>
        </p:nvSpPr>
        <p:spPr>
          <a:xfrm>
            <a:off x="8220456" y="4596346"/>
            <a:ext cx="270256" cy="193624"/>
          </a:xfrm>
          <a:prstGeom prst="rect">
            <a:avLst/>
          </a:prstGeom>
          <a:solidFill>
            <a:srgbClr val="0B7A4A"/>
          </a:solidFill>
          <a:ln w="9525">
            <a:solidFill>
              <a:srgbClr val="FFFFFF"/>
            </a:solidFill>
            <a:prstDash val="solid"/>
          </a:ln>
        </p:spPr>
      </p:sp>
      <p:sp>
        <p:nvSpPr>
          <p:cNvPr id="179" name="Text 177"/>
          <p:cNvSpPr txBox="1"/>
          <p:nvPr/>
        </p:nvSpPr>
        <p:spPr>
          <a:xfrm>
            <a:off x="9509760" y="4517136"/>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180" name="Text 178"/>
          <p:cNvSpPr txBox="1"/>
          <p:nvPr/>
        </p:nvSpPr>
        <p:spPr>
          <a:xfrm>
            <a:off x="10012680" y="4517136"/>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81" name="Text 179"/>
          <p:cNvSpPr txBox="1"/>
          <p:nvPr/>
        </p:nvSpPr>
        <p:spPr>
          <a:xfrm>
            <a:off x="10515600" y="4517136"/>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82" name="Text 180"/>
          <p:cNvSpPr txBox="1"/>
          <p:nvPr/>
        </p:nvSpPr>
        <p:spPr>
          <a:xfrm>
            <a:off x="11018520" y="4517136"/>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183" name="Text 181"/>
          <p:cNvSpPr txBox="1"/>
          <p:nvPr/>
        </p:nvSpPr>
        <p:spPr>
          <a:xfrm>
            <a:off x="6208776" y="4869180"/>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84" name="Shape 182"/>
          <p:cNvSpPr/>
          <p:nvPr/>
        </p:nvSpPr>
        <p:spPr>
          <a:xfrm>
            <a:off x="8220456" y="4948390"/>
            <a:ext cx="135128" cy="193624"/>
          </a:xfrm>
          <a:prstGeom prst="rect">
            <a:avLst/>
          </a:prstGeom>
          <a:solidFill>
            <a:srgbClr val="8ED3B0"/>
          </a:solidFill>
          <a:ln w="9525">
            <a:solidFill>
              <a:srgbClr val="FFFFFF"/>
            </a:solidFill>
            <a:prstDash val="solid"/>
          </a:ln>
        </p:spPr>
      </p:sp>
      <p:sp>
        <p:nvSpPr>
          <p:cNvPr id="185" name="Text 183"/>
          <p:cNvSpPr txBox="1"/>
          <p:nvPr/>
        </p:nvSpPr>
        <p:spPr>
          <a:xfrm>
            <a:off x="9509760" y="4869180"/>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86" name="Text 184"/>
          <p:cNvSpPr txBox="1"/>
          <p:nvPr/>
        </p:nvSpPr>
        <p:spPr>
          <a:xfrm>
            <a:off x="10012680" y="4869180"/>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87" name="Text 185"/>
          <p:cNvSpPr txBox="1"/>
          <p:nvPr/>
        </p:nvSpPr>
        <p:spPr>
          <a:xfrm>
            <a:off x="10515600" y="4869180"/>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88" name="Text 186"/>
          <p:cNvSpPr txBox="1"/>
          <p:nvPr/>
        </p:nvSpPr>
        <p:spPr>
          <a:xfrm>
            <a:off x="11018520" y="4869180"/>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a:t>
            </a:r>
            <a:endParaRPr lang="en-US" sz="1300" dirty="0"/>
          </a:p>
        </p:txBody>
      </p:sp>
      <p:sp>
        <p:nvSpPr>
          <p:cNvPr id="189" name="Text 187"/>
          <p:cNvSpPr txBox="1"/>
          <p:nvPr/>
        </p:nvSpPr>
        <p:spPr>
          <a:xfrm>
            <a:off x="6208776" y="522122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90" name="Shape 188"/>
          <p:cNvSpPr/>
          <p:nvPr/>
        </p:nvSpPr>
        <p:spPr>
          <a:xfrm>
            <a:off x="8220456" y="5300434"/>
            <a:ext cx="135128" cy="193624"/>
          </a:xfrm>
          <a:prstGeom prst="rect">
            <a:avLst/>
          </a:prstGeom>
          <a:solidFill>
            <a:srgbClr val="0B7A4A"/>
          </a:solidFill>
          <a:ln w="9525">
            <a:solidFill>
              <a:srgbClr val="FFFFFF"/>
            </a:solidFill>
            <a:prstDash val="solid"/>
          </a:ln>
        </p:spPr>
      </p:sp>
      <p:sp>
        <p:nvSpPr>
          <p:cNvPr id="191" name="Text 189"/>
          <p:cNvSpPr txBox="1"/>
          <p:nvPr/>
        </p:nvSpPr>
        <p:spPr>
          <a:xfrm>
            <a:off x="9509760" y="522122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92" name="Text 190"/>
          <p:cNvSpPr txBox="1"/>
          <p:nvPr/>
        </p:nvSpPr>
        <p:spPr>
          <a:xfrm>
            <a:off x="10012680" y="5221224"/>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93" name="Text 191"/>
          <p:cNvSpPr txBox="1"/>
          <p:nvPr/>
        </p:nvSpPr>
        <p:spPr>
          <a:xfrm>
            <a:off x="10515600" y="5221224"/>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94" name="Text 192"/>
          <p:cNvSpPr txBox="1"/>
          <p:nvPr/>
        </p:nvSpPr>
        <p:spPr>
          <a:xfrm>
            <a:off x="11018520" y="5221224"/>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a:t>
            </a:r>
            <a:endParaRPr lang="en-US" sz="1300" dirty="0"/>
          </a:p>
        </p:txBody>
      </p:sp>
      <p:sp>
        <p:nvSpPr>
          <p:cNvPr id="195" name="Shape 193"/>
          <p:cNvSpPr/>
          <p:nvPr/>
        </p:nvSpPr>
        <p:spPr>
          <a:xfrm>
            <a:off x="457200" y="6126480"/>
            <a:ext cx="11274552" cy="356616"/>
          </a:xfrm>
          <a:prstGeom prst="rect">
            <a:avLst/>
          </a:prstGeom>
          <a:solidFill>
            <a:srgbClr val="E6F6EE"/>
          </a:solidFill>
          <a:ln/>
        </p:spPr>
      </p:sp>
      <p:sp>
        <p:nvSpPr>
          <p:cNvPr id="196" name="Text 194"/>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23 of 33 stores set 98 new monthly records in 2026: 42 in service, 19 in parts and 37 in combined gross.</a:t>
            </a:r>
            <a:endParaRPr lang="en-US" sz="1500" dirty="0"/>
          </a:p>
        </p:txBody>
      </p:sp>
    </p:spTree>
  </p:cSld>
  <p:clrMapOvr>
    <a:masterClrMapping/>
  </p:clrMapOvr>
</p:sld>
</file>

<file path=ppt/slides/slide17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DOOR RATE · STORE DOOR RATES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58368" y="1316736"/>
            <a:ext cx="4334256"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LABOR GRID · 17 STORES</a:t>
            </a:r>
            <a:endParaRPr lang="en-US" sz="1400" dirty="0"/>
          </a:p>
        </p:txBody>
      </p:sp>
      <p:sp>
        <p:nvSpPr>
          <p:cNvPr id="7" name="Text 5"/>
          <p:cNvSpPr txBox="1"/>
          <p:nvPr/>
        </p:nvSpPr>
        <p:spPr>
          <a:xfrm>
            <a:off x="512064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8" name="Text 6"/>
          <p:cNvSpPr txBox="1"/>
          <p:nvPr/>
        </p:nvSpPr>
        <p:spPr>
          <a:xfrm>
            <a:off x="658368" y="175564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9" name="Shape 7"/>
          <p:cNvSpPr/>
          <p:nvPr/>
        </p:nvSpPr>
        <p:spPr>
          <a:xfrm>
            <a:off x="2651760" y="1813560"/>
            <a:ext cx="2414016" cy="115824"/>
          </a:xfrm>
          <a:prstGeom prst="rect">
            <a:avLst/>
          </a:prstGeom>
          <a:solidFill>
            <a:srgbClr val="2587C5"/>
          </a:solidFill>
          <a:ln/>
        </p:spPr>
      </p:sp>
      <p:sp>
        <p:nvSpPr>
          <p:cNvPr id="10" name="Text 8"/>
          <p:cNvSpPr txBox="1"/>
          <p:nvPr/>
        </p:nvSpPr>
        <p:spPr>
          <a:xfrm>
            <a:off x="5120640" y="175564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$348.87</a:t>
            </a:r>
            <a:endParaRPr lang="en-US" sz="1300" dirty="0"/>
          </a:p>
        </p:txBody>
      </p:sp>
      <p:sp>
        <p:nvSpPr>
          <p:cNvPr id="11" name="Text 9"/>
          <p:cNvSpPr txBox="1"/>
          <p:nvPr/>
        </p:nvSpPr>
        <p:spPr>
          <a:xfrm>
            <a:off x="658368" y="198729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2" name="Shape 10"/>
          <p:cNvSpPr/>
          <p:nvPr/>
        </p:nvSpPr>
        <p:spPr>
          <a:xfrm>
            <a:off x="2651760" y="2045208"/>
            <a:ext cx="2036981" cy="115824"/>
          </a:xfrm>
          <a:prstGeom prst="rect">
            <a:avLst/>
          </a:prstGeom>
          <a:solidFill>
            <a:srgbClr val="2587C5"/>
          </a:solidFill>
          <a:ln/>
        </p:spPr>
      </p:sp>
      <p:sp>
        <p:nvSpPr>
          <p:cNvPr id="13" name="Text 11"/>
          <p:cNvSpPr txBox="1"/>
          <p:nvPr/>
        </p:nvSpPr>
        <p:spPr>
          <a:xfrm>
            <a:off x="5120640" y="198729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$310.00</a:t>
            </a:r>
            <a:endParaRPr lang="en-US" sz="1300" dirty="0"/>
          </a:p>
        </p:txBody>
      </p:sp>
      <p:sp>
        <p:nvSpPr>
          <p:cNvPr id="14" name="Text 12"/>
          <p:cNvSpPr txBox="1"/>
          <p:nvPr/>
        </p:nvSpPr>
        <p:spPr>
          <a:xfrm>
            <a:off x="658368" y="221894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5" name="Shape 13"/>
          <p:cNvSpPr/>
          <p:nvPr/>
        </p:nvSpPr>
        <p:spPr>
          <a:xfrm>
            <a:off x="2651760" y="2276856"/>
            <a:ext cx="1890221" cy="115824"/>
          </a:xfrm>
          <a:prstGeom prst="rect">
            <a:avLst/>
          </a:prstGeom>
          <a:solidFill>
            <a:srgbClr val="2587C5"/>
          </a:solidFill>
          <a:ln/>
        </p:spPr>
      </p:sp>
      <p:sp>
        <p:nvSpPr>
          <p:cNvPr id="16" name="Text 14"/>
          <p:cNvSpPr txBox="1"/>
          <p:nvPr/>
        </p:nvSpPr>
        <p:spPr>
          <a:xfrm>
            <a:off x="5120640" y="221894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$294.87</a:t>
            </a:r>
            <a:endParaRPr lang="en-US" sz="1300" dirty="0"/>
          </a:p>
        </p:txBody>
      </p:sp>
      <p:sp>
        <p:nvSpPr>
          <p:cNvPr id="17" name="Text 15"/>
          <p:cNvSpPr txBox="1"/>
          <p:nvPr/>
        </p:nvSpPr>
        <p:spPr>
          <a:xfrm>
            <a:off x="658368" y="245059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8" name="Shape 16"/>
          <p:cNvSpPr/>
          <p:nvPr/>
        </p:nvSpPr>
        <p:spPr>
          <a:xfrm>
            <a:off x="2651760" y="2508504"/>
            <a:ext cx="1794483" cy="115824"/>
          </a:xfrm>
          <a:prstGeom prst="rect">
            <a:avLst/>
          </a:prstGeom>
          <a:solidFill>
            <a:srgbClr val="2587C5"/>
          </a:solidFill>
          <a:ln/>
        </p:spPr>
      </p:sp>
      <p:sp>
        <p:nvSpPr>
          <p:cNvPr id="19" name="Text 17"/>
          <p:cNvSpPr txBox="1"/>
          <p:nvPr/>
        </p:nvSpPr>
        <p:spPr>
          <a:xfrm>
            <a:off x="5120640" y="245059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$285.00</a:t>
            </a:r>
            <a:endParaRPr lang="en-US" sz="1300" dirty="0"/>
          </a:p>
        </p:txBody>
      </p:sp>
      <p:sp>
        <p:nvSpPr>
          <p:cNvPr id="20" name="Text 18"/>
          <p:cNvSpPr txBox="1"/>
          <p:nvPr/>
        </p:nvSpPr>
        <p:spPr>
          <a:xfrm>
            <a:off x="658368" y="268224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21" name="Shape 19"/>
          <p:cNvSpPr/>
          <p:nvPr/>
        </p:nvSpPr>
        <p:spPr>
          <a:xfrm>
            <a:off x="2651760" y="2740152"/>
            <a:ext cx="1356726" cy="115824"/>
          </a:xfrm>
          <a:prstGeom prst="rect">
            <a:avLst/>
          </a:prstGeom>
          <a:solidFill>
            <a:srgbClr val="2587C5"/>
          </a:solidFill>
          <a:ln/>
        </p:spPr>
      </p:sp>
      <p:sp>
        <p:nvSpPr>
          <p:cNvPr id="22" name="Text 20"/>
          <p:cNvSpPr txBox="1"/>
          <p:nvPr/>
        </p:nvSpPr>
        <p:spPr>
          <a:xfrm>
            <a:off x="5120640" y="268224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$239.87</a:t>
            </a:r>
            <a:endParaRPr lang="en-US" sz="1300" dirty="0"/>
          </a:p>
        </p:txBody>
      </p:sp>
      <p:sp>
        <p:nvSpPr>
          <p:cNvPr id="23" name="Text 21"/>
          <p:cNvSpPr txBox="1"/>
          <p:nvPr/>
        </p:nvSpPr>
        <p:spPr>
          <a:xfrm>
            <a:off x="658368" y="291388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24" name="Shape 22"/>
          <p:cNvSpPr/>
          <p:nvPr/>
        </p:nvSpPr>
        <p:spPr>
          <a:xfrm>
            <a:off x="2651760" y="2971800"/>
            <a:ext cx="1317926" cy="115824"/>
          </a:xfrm>
          <a:prstGeom prst="rect">
            <a:avLst/>
          </a:prstGeom>
          <a:solidFill>
            <a:srgbClr val="2587C5"/>
          </a:solidFill>
          <a:ln/>
        </p:spPr>
      </p:sp>
      <p:sp>
        <p:nvSpPr>
          <p:cNvPr id="25" name="Text 23"/>
          <p:cNvSpPr txBox="1"/>
          <p:nvPr/>
        </p:nvSpPr>
        <p:spPr>
          <a:xfrm>
            <a:off x="5120640" y="291388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$235.87</a:t>
            </a:r>
            <a:endParaRPr lang="en-US" sz="1300" dirty="0"/>
          </a:p>
        </p:txBody>
      </p:sp>
      <p:sp>
        <p:nvSpPr>
          <p:cNvPr id="26" name="Shape 24"/>
          <p:cNvSpPr/>
          <p:nvPr/>
        </p:nvSpPr>
        <p:spPr>
          <a:xfrm>
            <a:off x="603504" y="3145536"/>
            <a:ext cx="5285232" cy="222504"/>
          </a:xfrm>
          <a:prstGeom prst="rect">
            <a:avLst/>
          </a:prstGeom>
          <a:solidFill>
            <a:srgbClr val="EDF4FA"/>
          </a:solidFill>
          <a:ln/>
        </p:spPr>
      </p:sp>
      <p:sp>
        <p:nvSpPr>
          <p:cNvPr id="27" name="Text 25"/>
          <p:cNvSpPr txBox="1"/>
          <p:nvPr/>
        </p:nvSpPr>
        <p:spPr>
          <a:xfrm>
            <a:off x="658368" y="3145536"/>
            <a:ext cx="1920240" cy="231648"/>
          </a:xfrm>
          <a:prstGeom prst="rect">
            <a:avLst/>
          </a:prstGeom>
          <a:noFill/>
          <a:ln/>
        </p:spPr>
        <p:txBody>
          <a:bodyPr wrap="square" lIns="0" tIns="0" rIns="0" bIns="0" rtlCol="0" anchor="ctr"/>
          <a:lstStyle/>
          <a:p>
            <a:pPr indent="0" marL="0">
              <a:buNone/>
            </a:pPr>
            <a:r>
              <a:rPr lang="en-US" sz="1300" b="1" dirty="0">
                <a:solidFill>
                  <a:srgbClr val="0B2C4A"/>
                </a:solidFill>
                <a:latin typeface="Inter" pitchFamily="34" charset="0"/>
                <a:ea typeface="Inter" pitchFamily="34" charset="-122"/>
                <a:cs typeface="Inter" pitchFamily="34" charset="-120"/>
              </a:rPr>
              <a:t>GRID AVG</a:t>
            </a:r>
            <a:endParaRPr lang="en-US" sz="1300" dirty="0"/>
          </a:p>
        </p:txBody>
      </p:sp>
      <p:sp>
        <p:nvSpPr>
          <p:cNvPr id="28" name="Shape 26"/>
          <p:cNvSpPr/>
          <p:nvPr/>
        </p:nvSpPr>
        <p:spPr>
          <a:xfrm>
            <a:off x="2651760" y="3203448"/>
            <a:ext cx="1246950" cy="115824"/>
          </a:xfrm>
          <a:prstGeom prst="rect">
            <a:avLst/>
          </a:prstGeom>
          <a:solidFill>
            <a:srgbClr val="0B2C4A"/>
          </a:solidFill>
          <a:ln/>
        </p:spPr>
      </p:sp>
      <p:sp>
        <p:nvSpPr>
          <p:cNvPr id="29" name="Text 27"/>
          <p:cNvSpPr txBox="1"/>
          <p:nvPr/>
        </p:nvSpPr>
        <p:spPr>
          <a:xfrm>
            <a:off x="5120640" y="3145536"/>
            <a:ext cx="749808"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$228.55</a:t>
            </a:r>
            <a:endParaRPr lang="en-US" sz="1300" dirty="0"/>
          </a:p>
        </p:txBody>
      </p:sp>
      <p:sp>
        <p:nvSpPr>
          <p:cNvPr id="30" name="Text 28"/>
          <p:cNvSpPr txBox="1"/>
          <p:nvPr/>
        </p:nvSpPr>
        <p:spPr>
          <a:xfrm>
            <a:off x="658368" y="337718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31" name="Shape 29"/>
          <p:cNvSpPr/>
          <p:nvPr/>
        </p:nvSpPr>
        <p:spPr>
          <a:xfrm>
            <a:off x="2651760" y="3435096"/>
            <a:ext cx="1211227" cy="115824"/>
          </a:xfrm>
          <a:prstGeom prst="rect">
            <a:avLst/>
          </a:prstGeom>
          <a:solidFill>
            <a:srgbClr val="2587C5"/>
          </a:solidFill>
          <a:ln/>
        </p:spPr>
      </p:sp>
      <p:sp>
        <p:nvSpPr>
          <p:cNvPr id="32" name="Text 30"/>
          <p:cNvSpPr txBox="1"/>
          <p:nvPr/>
        </p:nvSpPr>
        <p:spPr>
          <a:xfrm>
            <a:off x="5120640" y="337718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$224.87</a:t>
            </a:r>
            <a:endParaRPr lang="en-US" sz="1300" dirty="0"/>
          </a:p>
        </p:txBody>
      </p:sp>
      <p:sp>
        <p:nvSpPr>
          <p:cNvPr id="33" name="Text 31"/>
          <p:cNvSpPr txBox="1"/>
          <p:nvPr/>
        </p:nvSpPr>
        <p:spPr>
          <a:xfrm>
            <a:off x="658368" y="360883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34" name="Shape 32"/>
          <p:cNvSpPr/>
          <p:nvPr/>
        </p:nvSpPr>
        <p:spPr>
          <a:xfrm>
            <a:off x="2651760" y="3666744"/>
            <a:ext cx="1211227" cy="115824"/>
          </a:xfrm>
          <a:prstGeom prst="rect">
            <a:avLst/>
          </a:prstGeom>
          <a:solidFill>
            <a:srgbClr val="2587C5"/>
          </a:solidFill>
          <a:ln/>
        </p:spPr>
      </p:sp>
      <p:sp>
        <p:nvSpPr>
          <p:cNvPr id="35" name="Text 33"/>
          <p:cNvSpPr txBox="1"/>
          <p:nvPr/>
        </p:nvSpPr>
        <p:spPr>
          <a:xfrm>
            <a:off x="5120640" y="360883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$224.87</a:t>
            </a:r>
            <a:endParaRPr lang="en-US" sz="1300" dirty="0"/>
          </a:p>
        </p:txBody>
      </p:sp>
      <p:sp>
        <p:nvSpPr>
          <p:cNvPr id="36" name="Text 34"/>
          <p:cNvSpPr txBox="1"/>
          <p:nvPr/>
        </p:nvSpPr>
        <p:spPr>
          <a:xfrm>
            <a:off x="658368" y="384048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37" name="Shape 35"/>
          <p:cNvSpPr/>
          <p:nvPr/>
        </p:nvSpPr>
        <p:spPr>
          <a:xfrm>
            <a:off x="2651760" y="3898392"/>
            <a:ext cx="1162728" cy="115824"/>
          </a:xfrm>
          <a:prstGeom prst="rect">
            <a:avLst/>
          </a:prstGeom>
          <a:solidFill>
            <a:srgbClr val="2587C5"/>
          </a:solidFill>
          <a:ln/>
        </p:spPr>
      </p:sp>
      <p:sp>
        <p:nvSpPr>
          <p:cNvPr id="38" name="Text 36"/>
          <p:cNvSpPr txBox="1"/>
          <p:nvPr/>
        </p:nvSpPr>
        <p:spPr>
          <a:xfrm>
            <a:off x="5120640" y="384048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$219.87</a:t>
            </a:r>
            <a:endParaRPr lang="en-US" sz="1300" dirty="0"/>
          </a:p>
        </p:txBody>
      </p:sp>
      <p:sp>
        <p:nvSpPr>
          <p:cNvPr id="39" name="Text 37"/>
          <p:cNvSpPr txBox="1"/>
          <p:nvPr/>
        </p:nvSpPr>
        <p:spPr>
          <a:xfrm>
            <a:off x="658368" y="407212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40" name="Shape 38"/>
          <p:cNvSpPr/>
          <p:nvPr/>
        </p:nvSpPr>
        <p:spPr>
          <a:xfrm>
            <a:off x="2651760" y="4130040"/>
            <a:ext cx="1085129" cy="115824"/>
          </a:xfrm>
          <a:prstGeom prst="rect">
            <a:avLst/>
          </a:prstGeom>
          <a:solidFill>
            <a:srgbClr val="2587C5"/>
          </a:solidFill>
          <a:ln/>
        </p:spPr>
      </p:sp>
      <p:sp>
        <p:nvSpPr>
          <p:cNvPr id="41" name="Text 39"/>
          <p:cNvSpPr txBox="1"/>
          <p:nvPr/>
        </p:nvSpPr>
        <p:spPr>
          <a:xfrm>
            <a:off x="5120640" y="407212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$211.87</a:t>
            </a:r>
            <a:endParaRPr lang="en-US" sz="1300" dirty="0"/>
          </a:p>
        </p:txBody>
      </p:sp>
      <p:sp>
        <p:nvSpPr>
          <p:cNvPr id="42" name="Text 40"/>
          <p:cNvSpPr txBox="1"/>
          <p:nvPr/>
        </p:nvSpPr>
        <p:spPr>
          <a:xfrm>
            <a:off x="658368" y="430377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43" name="Shape 41"/>
          <p:cNvSpPr/>
          <p:nvPr/>
        </p:nvSpPr>
        <p:spPr>
          <a:xfrm>
            <a:off x="2651760" y="4361688"/>
            <a:ext cx="1085129" cy="115824"/>
          </a:xfrm>
          <a:prstGeom prst="rect">
            <a:avLst/>
          </a:prstGeom>
          <a:solidFill>
            <a:srgbClr val="2587C5"/>
          </a:solidFill>
          <a:ln/>
        </p:spPr>
      </p:sp>
      <p:sp>
        <p:nvSpPr>
          <p:cNvPr id="44" name="Text 42"/>
          <p:cNvSpPr txBox="1"/>
          <p:nvPr/>
        </p:nvSpPr>
        <p:spPr>
          <a:xfrm>
            <a:off x="5120640" y="430377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$211.87</a:t>
            </a:r>
            <a:endParaRPr lang="en-US" sz="1300" dirty="0"/>
          </a:p>
        </p:txBody>
      </p:sp>
      <p:sp>
        <p:nvSpPr>
          <p:cNvPr id="45" name="Text 43"/>
          <p:cNvSpPr txBox="1"/>
          <p:nvPr/>
        </p:nvSpPr>
        <p:spPr>
          <a:xfrm>
            <a:off x="658368" y="453542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46" name="Shape 44"/>
          <p:cNvSpPr/>
          <p:nvPr/>
        </p:nvSpPr>
        <p:spPr>
          <a:xfrm>
            <a:off x="2651760" y="4593336"/>
            <a:ext cx="1079212" cy="115824"/>
          </a:xfrm>
          <a:prstGeom prst="rect">
            <a:avLst/>
          </a:prstGeom>
          <a:solidFill>
            <a:srgbClr val="2587C5"/>
          </a:solidFill>
          <a:ln/>
        </p:spPr>
      </p:sp>
      <p:sp>
        <p:nvSpPr>
          <p:cNvPr id="47" name="Text 45"/>
          <p:cNvSpPr txBox="1"/>
          <p:nvPr/>
        </p:nvSpPr>
        <p:spPr>
          <a:xfrm>
            <a:off x="5120640" y="453542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$211.26</a:t>
            </a:r>
            <a:endParaRPr lang="en-US" sz="1300" dirty="0"/>
          </a:p>
        </p:txBody>
      </p:sp>
      <p:sp>
        <p:nvSpPr>
          <p:cNvPr id="48" name="Text 46"/>
          <p:cNvSpPr txBox="1"/>
          <p:nvPr/>
        </p:nvSpPr>
        <p:spPr>
          <a:xfrm>
            <a:off x="658368" y="476707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49" name="Shape 47"/>
          <p:cNvSpPr/>
          <p:nvPr/>
        </p:nvSpPr>
        <p:spPr>
          <a:xfrm>
            <a:off x="2651760" y="4824984"/>
            <a:ext cx="1065729" cy="115824"/>
          </a:xfrm>
          <a:prstGeom prst="rect">
            <a:avLst/>
          </a:prstGeom>
          <a:solidFill>
            <a:srgbClr val="2587C5"/>
          </a:solidFill>
          <a:ln/>
        </p:spPr>
      </p:sp>
      <p:sp>
        <p:nvSpPr>
          <p:cNvPr id="50" name="Text 48"/>
          <p:cNvSpPr txBox="1"/>
          <p:nvPr/>
        </p:nvSpPr>
        <p:spPr>
          <a:xfrm>
            <a:off x="5120640" y="476707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$209.87</a:t>
            </a:r>
            <a:endParaRPr lang="en-US" sz="1300" dirty="0"/>
          </a:p>
        </p:txBody>
      </p:sp>
      <p:sp>
        <p:nvSpPr>
          <p:cNvPr id="51" name="Text 49"/>
          <p:cNvSpPr txBox="1"/>
          <p:nvPr/>
        </p:nvSpPr>
        <p:spPr>
          <a:xfrm>
            <a:off x="658368" y="499872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52" name="Shape 50"/>
          <p:cNvSpPr/>
          <p:nvPr/>
        </p:nvSpPr>
        <p:spPr>
          <a:xfrm>
            <a:off x="2651760" y="5056632"/>
            <a:ext cx="1017229" cy="115824"/>
          </a:xfrm>
          <a:prstGeom prst="rect">
            <a:avLst/>
          </a:prstGeom>
          <a:solidFill>
            <a:srgbClr val="2587C5"/>
          </a:solidFill>
          <a:ln/>
        </p:spPr>
      </p:sp>
      <p:sp>
        <p:nvSpPr>
          <p:cNvPr id="53" name="Text 51"/>
          <p:cNvSpPr txBox="1"/>
          <p:nvPr/>
        </p:nvSpPr>
        <p:spPr>
          <a:xfrm>
            <a:off x="5120640" y="499872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$204.87</a:t>
            </a:r>
            <a:endParaRPr lang="en-US" sz="1300" dirty="0"/>
          </a:p>
        </p:txBody>
      </p:sp>
      <p:sp>
        <p:nvSpPr>
          <p:cNvPr id="54" name="Text 52"/>
          <p:cNvSpPr txBox="1"/>
          <p:nvPr/>
        </p:nvSpPr>
        <p:spPr>
          <a:xfrm>
            <a:off x="658368" y="523036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5" name="Shape 53"/>
          <p:cNvSpPr/>
          <p:nvPr/>
        </p:nvSpPr>
        <p:spPr>
          <a:xfrm>
            <a:off x="2651760" y="5288280"/>
            <a:ext cx="823231" cy="115824"/>
          </a:xfrm>
          <a:prstGeom prst="rect">
            <a:avLst/>
          </a:prstGeom>
          <a:solidFill>
            <a:srgbClr val="2587C5"/>
          </a:solidFill>
          <a:ln/>
        </p:spPr>
      </p:sp>
      <p:sp>
        <p:nvSpPr>
          <p:cNvPr id="56" name="Text 54"/>
          <p:cNvSpPr txBox="1"/>
          <p:nvPr/>
        </p:nvSpPr>
        <p:spPr>
          <a:xfrm>
            <a:off x="5120640" y="523036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$184.87</a:t>
            </a:r>
            <a:endParaRPr lang="en-US" sz="1300" dirty="0"/>
          </a:p>
        </p:txBody>
      </p:sp>
      <p:sp>
        <p:nvSpPr>
          <p:cNvPr id="57" name="Text 55"/>
          <p:cNvSpPr txBox="1"/>
          <p:nvPr/>
        </p:nvSpPr>
        <p:spPr>
          <a:xfrm>
            <a:off x="658368" y="546201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58" name="Shape 56"/>
          <p:cNvSpPr/>
          <p:nvPr/>
        </p:nvSpPr>
        <p:spPr>
          <a:xfrm>
            <a:off x="2651760" y="5519928"/>
            <a:ext cx="823231" cy="115824"/>
          </a:xfrm>
          <a:prstGeom prst="rect">
            <a:avLst/>
          </a:prstGeom>
          <a:solidFill>
            <a:srgbClr val="2587C5"/>
          </a:solidFill>
          <a:ln/>
        </p:spPr>
      </p:sp>
      <p:sp>
        <p:nvSpPr>
          <p:cNvPr id="59" name="Text 57"/>
          <p:cNvSpPr txBox="1"/>
          <p:nvPr/>
        </p:nvSpPr>
        <p:spPr>
          <a:xfrm>
            <a:off x="5120640" y="546201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$184.87</a:t>
            </a:r>
            <a:endParaRPr lang="en-US" sz="1300" dirty="0"/>
          </a:p>
        </p:txBody>
      </p:sp>
      <p:sp>
        <p:nvSpPr>
          <p:cNvPr id="60" name="Text 58"/>
          <p:cNvSpPr txBox="1"/>
          <p:nvPr/>
        </p:nvSpPr>
        <p:spPr>
          <a:xfrm>
            <a:off x="658368" y="569366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61" name="Shape 59"/>
          <p:cNvSpPr/>
          <p:nvPr/>
        </p:nvSpPr>
        <p:spPr>
          <a:xfrm>
            <a:off x="2651760" y="5751576"/>
            <a:ext cx="774732" cy="115824"/>
          </a:xfrm>
          <a:prstGeom prst="rect">
            <a:avLst/>
          </a:prstGeom>
          <a:solidFill>
            <a:srgbClr val="2587C5"/>
          </a:solidFill>
          <a:ln/>
        </p:spPr>
      </p:sp>
      <p:sp>
        <p:nvSpPr>
          <p:cNvPr id="62" name="Text 60"/>
          <p:cNvSpPr txBox="1"/>
          <p:nvPr/>
        </p:nvSpPr>
        <p:spPr>
          <a:xfrm>
            <a:off x="5120640" y="569366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$179.87</a:t>
            </a:r>
            <a:endParaRPr lang="en-US" sz="1300" dirty="0"/>
          </a:p>
        </p:txBody>
      </p:sp>
      <p:sp>
        <p:nvSpPr>
          <p:cNvPr id="63" name="Text 61"/>
          <p:cNvSpPr txBox="1"/>
          <p:nvPr/>
        </p:nvSpPr>
        <p:spPr>
          <a:xfrm>
            <a:off x="6208776" y="1316736"/>
            <a:ext cx="4334256"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NO GRID · 16 STORES</a:t>
            </a:r>
            <a:endParaRPr lang="en-US" sz="1400" dirty="0"/>
          </a:p>
        </p:txBody>
      </p:sp>
      <p:sp>
        <p:nvSpPr>
          <p:cNvPr id="64" name="Text 62"/>
          <p:cNvSpPr txBox="1"/>
          <p:nvPr/>
        </p:nvSpPr>
        <p:spPr>
          <a:xfrm>
            <a:off x="10671048"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65" name="Text 63"/>
          <p:cNvSpPr txBox="1"/>
          <p:nvPr/>
        </p:nvSpPr>
        <p:spPr>
          <a:xfrm>
            <a:off x="6208776" y="175564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66" name="Shape 64"/>
          <p:cNvSpPr/>
          <p:nvPr/>
        </p:nvSpPr>
        <p:spPr>
          <a:xfrm>
            <a:off x="8202168" y="1813560"/>
            <a:ext cx="1697484" cy="115824"/>
          </a:xfrm>
          <a:prstGeom prst="rect">
            <a:avLst/>
          </a:prstGeom>
          <a:solidFill>
            <a:srgbClr val="2587C5"/>
          </a:solidFill>
          <a:ln/>
        </p:spPr>
      </p:sp>
      <p:sp>
        <p:nvSpPr>
          <p:cNvPr id="67" name="Text 65"/>
          <p:cNvSpPr txBox="1"/>
          <p:nvPr/>
        </p:nvSpPr>
        <p:spPr>
          <a:xfrm>
            <a:off x="10671048" y="175564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$275.00</a:t>
            </a:r>
            <a:endParaRPr lang="en-US" sz="1300" dirty="0"/>
          </a:p>
        </p:txBody>
      </p:sp>
      <p:sp>
        <p:nvSpPr>
          <p:cNvPr id="68" name="Text 66"/>
          <p:cNvSpPr txBox="1"/>
          <p:nvPr/>
        </p:nvSpPr>
        <p:spPr>
          <a:xfrm>
            <a:off x="6208776" y="198729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69" name="Shape 67"/>
          <p:cNvSpPr/>
          <p:nvPr/>
        </p:nvSpPr>
        <p:spPr>
          <a:xfrm>
            <a:off x="8202168" y="2045208"/>
            <a:ext cx="1454501" cy="115824"/>
          </a:xfrm>
          <a:prstGeom prst="rect">
            <a:avLst/>
          </a:prstGeom>
          <a:solidFill>
            <a:srgbClr val="2587C5"/>
          </a:solidFill>
          <a:ln/>
        </p:spPr>
      </p:sp>
      <p:sp>
        <p:nvSpPr>
          <p:cNvPr id="70" name="Text 68"/>
          <p:cNvSpPr txBox="1"/>
          <p:nvPr/>
        </p:nvSpPr>
        <p:spPr>
          <a:xfrm>
            <a:off x="10671048" y="198729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$249.95</a:t>
            </a:r>
            <a:endParaRPr lang="en-US" sz="1300" dirty="0"/>
          </a:p>
        </p:txBody>
      </p:sp>
      <p:sp>
        <p:nvSpPr>
          <p:cNvPr id="71" name="Text 69"/>
          <p:cNvSpPr txBox="1"/>
          <p:nvPr/>
        </p:nvSpPr>
        <p:spPr>
          <a:xfrm>
            <a:off x="6208776" y="221894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72" name="Shape 70"/>
          <p:cNvSpPr/>
          <p:nvPr/>
        </p:nvSpPr>
        <p:spPr>
          <a:xfrm>
            <a:off x="8202168" y="2276856"/>
            <a:ext cx="1405226" cy="115824"/>
          </a:xfrm>
          <a:prstGeom prst="rect">
            <a:avLst/>
          </a:prstGeom>
          <a:solidFill>
            <a:srgbClr val="2587C5"/>
          </a:solidFill>
          <a:ln/>
        </p:spPr>
      </p:sp>
      <p:sp>
        <p:nvSpPr>
          <p:cNvPr id="73" name="Text 71"/>
          <p:cNvSpPr txBox="1"/>
          <p:nvPr/>
        </p:nvSpPr>
        <p:spPr>
          <a:xfrm>
            <a:off x="10671048" y="221894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$244.87</a:t>
            </a:r>
            <a:endParaRPr lang="en-US" sz="1300" dirty="0"/>
          </a:p>
        </p:txBody>
      </p:sp>
      <p:sp>
        <p:nvSpPr>
          <p:cNvPr id="74" name="Text 72"/>
          <p:cNvSpPr txBox="1"/>
          <p:nvPr/>
        </p:nvSpPr>
        <p:spPr>
          <a:xfrm>
            <a:off x="6208776" y="245059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75" name="Shape 73"/>
          <p:cNvSpPr/>
          <p:nvPr/>
        </p:nvSpPr>
        <p:spPr>
          <a:xfrm>
            <a:off x="8202168" y="2508504"/>
            <a:ext cx="1260503" cy="115824"/>
          </a:xfrm>
          <a:prstGeom prst="rect">
            <a:avLst/>
          </a:prstGeom>
          <a:solidFill>
            <a:srgbClr val="2587C5"/>
          </a:solidFill>
          <a:ln/>
        </p:spPr>
      </p:sp>
      <p:sp>
        <p:nvSpPr>
          <p:cNvPr id="76" name="Text 74"/>
          <p:cNvSpPr txBox="1"/>
          <p:nvPr/>
        </p:nvSpPr>
        <p:spPr>
          <a:xfrm>
            <a:off x="10671048" y="245059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$229.95</a:t>
            </a:r>
            <a:endParaRPr lang="en-US" sz="1300" dirty="0"/>
          </a:p>
        </p:txBody>
      </p:sp>
      <p:sp>
        <p:nvSpPr>
          <p:cNvPr id="77" name="Text 75"/>
          <p:cNvSpPr txBox="1"/>
          <p:nvPr/>
        </p:nvSpPr>
        <p:spPr>
          <a:xfrm>
            <a:off x="6208776" y="268224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78" name="Shape 76"/>
          <p:cNvSpPr/>
          <p:nvPr/>
        </p:nvSpPr>
        <p:spPr>
          <a:xfrm>
            <a:off x="8202168" y="2740152"/>
            <a:ext cx="1163989" cy="115824"/>
          </a:xfrm>
          <a:prstGeom prst="rect">
            <a:avLst/>
          </a:prstGeom>
          <a:solidFill>
            <a:srgbClr val="2587C5"/>
          </a:solidFill>
          <a:ln/>
        </p:spPr>
      </p:sp>
      <p:sp>
        <p:nvSpPr>
          <p:cNvPr id="79" name="Text 77"/>
          <p:cNvSpPr txBox="1"/>
          <p:nvPr/>
        </p:nvSpPr>
        <p:spPr>
          <a:xfrm>
            <a:off x="10671048" y="268224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$220.00</a:t>
            </a:r>
            <a:endParaRPr lang="en-US" sz="1300" dirty="0"/>
          </a:p>
        </p:txBody>
      </p:sp>
      <p:sp>
        <p:nvSpPr>
          <p:cNvPr id="80" name="Text 78"/>
          <p:cNvSpPr txBox="1"/>
          <p:nvPr/>
        </p:nvSpPr>
        <p:spPr>
          <a:xfrm>
            <a:off x="6208776" y="291388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81" name="Shape 79"/>
          <p:cNvSpPr/>
          <p:nvPr/>
        </p:nvSpPr>
        <p:spPr>
          <a:xfrm>
            <a:off x="8202168" y="2971800"/>
            <a:ext cx="1119078" cy="115824"/>
          </a:xfrm>
          <a:prstGeom prst="rect">
            <a:avLst/>
          </a:prstGeom>
          <a:solidFill>
            <a:srgbClr val="2587C5"/>
          </a:solidFill>
          <a:ln/>
        </p:spPr>
      </p:sp>
      <p:sp>
        <p:nvSpPr>
          <p:cNvPr id="82" name="Text 80"/>
          <p:cNvSpPr txBox="1"/>
          <p:nvPr/>
        </p:nvSpPr>
        <p:spPr>
          <a:xfrm>
            <a:off x="10671048" y="291388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$215.37</a:t>
            </a:r>
            <a:endParaRPr lang="en-US" sz="1300" dirty="0"/>
          </a:p>
        </p:txBody>
      </p:sp>
      <p:sp>
        <p:nvSpPr>
          <p:cNvPr id="83" name="Text 81"/>
          <p:cNvSpPr txBox="1"/>
          <p:nvPr/>
        </p:nvSpPr>
        <p:spPr>
          <a:xfrm>
            <a:off x="6208776" y="314553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84" name="Shape 82"/>
          <p:cNvSpPr/>
          <p:nvPr/>
        </p:nvSpPr>
        <p:spPr>
          <a:xfrm>
            <a:off x="8202168" y="3203448"/>
            <a:ext cx="1066990" cy="115824"/>
          </a:xfrm>
          <a:prstGeom prst="rect">
            <a:avLst/>
          </a:prstGeom>
          <a:solidFill>
            <a:srgbClr val="2587C5"/>
          </a:solidFill>
          <a:ln/>
        </p:spPr>
      </p:sp>
      <p:sp>
        <p:nvSpPr>
          <p:cNvPr id="85" name="Text 83"/>
          <p:cNvSpPr txBox="1"/>
          <p:nvPr/>
        </p:nvSpPr>
        <p:spPr>
          <a:xfrm>
            <a:off x="10671048" y="314553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$210.00</a:t>
            </a:r>
            <a:endParaRPr lang="en-US" sz="1300" dirty="0"/>
          </a:p>
        </p:txBody>
      </p:sp>
      <p:sp>
        <p:nvSpPr>
          <p:cNvPr id="86" name="Text 84"/>
          <p:cNvSpPr txBox="1"/>
          <p:nvPr/>
        </p:nvSpPr>
        <p:spPr>
          <a:xfrm>
            <a:off x="6208776" y="337718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87" name="Shape 85"/>
          <p:cNvSpPr/>
          <p:nvPr/>
        </p:nvSpPr>
        <p:spPr>
          <a:xfrm>
            <a:off x="8202168" y="3435096"/>
            <a:ext cx="1066990" cy="115824"/>
          </a:xfrm>
          <a:prstGeom prst="rect">
            <a:avLst/>
          </a:prstGeom>
          <a:solidFill>
            <a:srgbClr val="2587C5"/>
          </a:solidFill>
          <a:ln/>
        </p:spPr>
      </p:sp>
      <p:sp>
        <p:nvSpPr>
          <p:cNvPr id="88" name="Text 86"/>
          <p:cNvSpPr txBox="1"/>
          <p:nvPr/>
        </p:nvSpPr>
        <p:spPr>
          <a:xfrm>
            <a:off x="10671048" y="337718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$210.00</a:t>
            </a:r>
            <a:endParaRPr lang="en-US" sz="1300" dirty="0"/>
          </a:p>
        </p:txBody>
      </p:sp>
      <p:sp>
        <p:nvSpPr>
          <p:cNvPr id="89" name="Shape 87"/>
          <p:cNvSpPr/>
          <p:nvPr/>
        </p:nvSpPr>
        <p:spPr>
          <a:xfrm>
            <a:off x="6153912" y="3608832"/>
            <a:ext cx="5285232" cy="222504"/>
          </a:xfrm>
          <a:prstGeom prst="rect">
            <a:avLst/>
          </a:prstGeom>
          <a:solidFill>
            <a:srgbClr val="EDF4FA"/>
          </a:solidFill>
          <a:ln/>
        </p:spPr>
      </p:sp>
      <p:sp>
        <p:nvSpPr>
          <p:cNvPr id="90" name="Text 88"/>
          <p:cNvSpPr txBox="1"/>
          <p:nvPr/>
        </p:nvSpPr>
        <p:spPr>
          <a:xfrm>
            <a:off x="6208776" y="3608832"/>
            <a:ext cx="1920240" cy="231648"/>
          </a:xfrm>
          <a:prstGeom prst="rect">
            <a:avLst/>
          </a:prstGeom>
          <a:noFill/>
          <a:ln/>
        </p:spPr>
        <p:txBody>
          <a:bodyPr wrap="square" lIns="0" tIns="0" rIns="0" bIns="0" rtlCol="0" anchor="ctr"/>
          <a:lstStyle/>
          <a:p>
            <a:pPr indent="0" marL="0">
              <a:buNone/>
            </a:pPr>
            <a:r>
              <a:rPr lang="en-US" sz="1300" b="1" dirty="0">
                <a:solidFill>
                  <a:srgbClr val="0B2C4A"/>
                </a:solidFill>
                <a:latin typeface="Inter" pitchFamily="34" charset="0"/>
                <a:ea typeface="Inter" pitchFamily="34" charset="-122"/>
                <a:cs typeface="Inter" pitchFamily="34" charset="-120"/>
              </a:rPr>
              <a:t>NO-GRID AVG</a:t>
            </a:r>
            <a:endParaRPr lang="en-US" sz="1300" dirty="0"/>
          </a:p>
        </p:txBody>
      </p:sp>
      <p:sp>
        <p:nvSpPr>
          <p:cNvPr id="91" name="Shape 89"/>
          <p:cNvSpPr/>
          <p:nvPr/>
        </p:nvSpPr>
        <p:spPr>
          <a:xfrm>
            <a:off x="8202168" y="3666744"/>
            <a:ext cx="997468" cy="115824"/>
          </a:xfrm>
          <a:prstGeom prst="rect">
            <a:avLst/>
          </a:prstGeom>
          <a:solidFill>
            <a:srgbClr val="0B2C4A"/>
          </a:solidFill>
          <a:ln/>
        </p:spPr>
      </p:sp>
      <p:sp>
        <p:nvSpPr>
          <p:cNvPr id="92" name="Text 90"/>
          <p:cNvSpPr txBox="1"/>
          <p:nvPr/>
        </p:nvSpPr>
        <p:spPr>
          <a:xfrm>
            <a:off x="10671048" y="3608832"/>
            <a:ext cx="749808"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$202.83</a:t>
            </a:r>
            <a:endParaRPr lang="en-US" sz="1300" dirty="0"/>
          </a:p>
        </p:txBody>
      </p:sp>
      <p:sp>
        <p:nvSpPr>
          <p:cNvPr id="93" name="Text 91"/>
          <p:cNvSpPr txBox="1"/>
          <p:nvPr/>
        </p:nvSpPr>
        <p:spPr>
          <a:xfrm>
            <a:off x="6208776" y="384048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94" name="Shape 92"/>
          <p:cNvSpPr/>
          <p:nvPr/>
        </p:nvSpPr>
        <p:spPr>
          <a:xfrm>
            <a:off x="8202168" y="3898392"/>
            <a:ext cx="969506" cy="115824"/>
          </a:xfrm>
          <a:prstGeom prst="rect">
            <a:avLst/>
          </a:prstGeom>
          <a:solidFill>
            <a:srgbClr val="2587C5"/>
          </a:solidFill>
          <a:ln/>
        </p:spPr>
      </p:sp>
      <p:sp>
        <p:nvSpPr>
          <p:cNvPr id="95" name="Text 93"/>
          <p:cNvSpPr txBox="1"/>
          <p:nvPr/>
        </p:nvSpPr>
        <p:spPr>
          <a:xfrm>
            <a:off x="10671048" y="384048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$199.95</a:t>
            </a:r>
            <a:endParaRPr lang="en-US" sz="1300" dirty="0"/>
          </a:p>
        </p:txBody>
      </p:sp>
      <p:sp>
        <p:nvSpPr>
          <p:cNvPr id="96" name="Text 94"/>
          <p:cNvSpPr txBox="1"/>
          <p:nvPr/>
        </p:nvSpPr>
        <p:spPr>
          <a:xfrm>
            <a:off x="6208776" y="407212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97" name="Shape 95"/>
          <p:cNvSpPr/>
          <p:nvPr/>
        </p:nvSpPr>
        <p:spPr>
          <a:xfrm>
            <a:off x="8202168" y="4130040"/>
            <a:ext cx="921491" cy="115824"/>
          </a:xfrm>
          <a:prstGeom prst="rect">
            <a:avLst/>
          </a:prstGeom>
          <a:solidFill>
            <a:srgbClr val="2587C5"/>
          </a:solidFill>
          <a:ln/>
        </p:spPr>
      </p:sp>
      <p:sp>
        <p:nvSpPr>
          <p:cNvPr id="98" name="Text 96"/>
          <p:cNvSpPr txBox="1"/>
          <p:nvPr/>
        </p:nvSpPr>
        <p:spPr>
          <a:xfrm>
            <a:off x="10671048" y="407212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$195.00</a:t>
            </a:r>
            <a:endParaRPr lang="en-US" sz="1300" dirty="0"/>
          </a:p>
        </p:txBody>
      </p:sp>
      <p:sp>
        <p:nvSpPr>
          <p:cNvPr id="99" name="Text 97"/>
          <p:cNvSpPr txBox="1"/>
          <p:nvPr/>
        </p:nvSpPr>
        <p:spPr>
          <a:xfrm>
            <a:off x="6208776" y="430377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00" name="Shape 98"/>
          <p:cNvSpPr/>
          <p:nvPr/>
        </p:nvSpPr>
        <p:spPr>
          <a:xfrm>
            <a:off x="8202168" y="4361688"/>
            <a:ext cx="872992" cy="115824"/>
          </a:xfrm>
          <a:prstGeom prst="rect">
            <a:avLst/>
          </a:prstGeom>
          <a:solidFill>
            <a:srgbClr val="2587C5"/>
          </a:solidFill>
          <a:ln/>
        </p:spPr>
      </p:sp>
      <p:sp>
        <p:nvSpPr>
          <p:cNvPr id="101" name="Text 99"/>
          <p:cNvSpPr txBox="1"/>
          <p:nvPr/>
        </p:nvSpPr>
        <p:spPr>
          <a:xfrm>
            <a:off x="10671048" y="430377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$190.00</a:t>
            </a:r>
            <a:endParaRPr lang="en-US" sz="1300" dirty="0"/>
          </a:p>
        </p:txBody>
      </p:sp>
      <p:sp>
        <p:nvSpPr>
          <p:cNvPr id="102" name="Text 100"/>
          <p:cNvSpPr txBox="1"/>
          <p:nvPr/>
        </p:nvSpPr>
        <p:spPr>
          <a:xfrm>
            <a:off x="6208776" y="453542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03" name="Shape 101"/>
          <p:cNvSpPr/>
          <p:nvPr/>
        </p:nvSpPr>
        <p:spPr>
          <a:xfrm>
            <a:off x="8202168" y="4593336"/>
            <a:ext cx="824492" cy="115824"/>
          </a:xfrm>
          <a:prstGeom prst="rect">
            <a:avLst/>
          </a:prstGeom>
          <a:solidFill>
            <a:srgbClr val="2587C5"/>
          </a:solidFill>
          <a:ln/>
        </p:spPr>
      </p:sp>
      <p:sp>
        <p:nvSpPr>
          <p:cNvPr id="104" name="Text 102"/>
          <p:cNvSpPr txBox="1"/>
          <p:nvPr/>
        </p:nvSpPr>
        <p:spPr>
          <a:xfrm>
            <a:off x="10671048" y="453542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$185.00</a:t>
            </a:r>
            <a:endParaRPr lang="en-US" sz="1300" dirty="0"/>
          </a:p>
        </p:txBody>
      </p:sp>
      <p:sp>
        <p:nvSpPr>
          <p:cNvPr id="105" name="Text 103"/>
          <p:cNvSpPr txBox="1"/>
          <p:nvPr/>
        </p:nvSpPr>
        <p:spPr>
          <a:xfrm>
            <a:off x="6208776" y="476707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06" name="Shape 104"/>
          <p:cNvSpPr/>
          <p:nvPr/>
        </p:nvSpPr>
        <p:spPr>
          <a:xfrm>
            <a:off x="8202168" y="4824984"/>
            <a:ext cx="824492" cy="115824"/>
          </a:xfrm>
          <a:prstGeom prst="rect">
            <a:avLst/>
          </a:prstGeom>
          <a:solidFill>
            <a:srgbClr val="2587C5"/>
          </a:solidFill>
          <a:ln/>
        </p:spPr>
      </p:sp>
      <p:sp>
        <p:nvSpPr>
          <p:cNvPr id="107" name="Text 105"/>
          <p:cNvSpPr txBox="1"/>
          <p:nvPr/>
        </p:nvSpPr>
        <p:spPr>
          <a:xfrm>
            <a:off x="10671048" y="476707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$185.00</a:t>
            </a:r>
            <a:endParaRPr lang="en-US" sz="1300" dirty="0"/>
          </a:p>
        </p:txBody>
      </p:sp>
      <p:sp>
        <p:nvSpPr>
          <p:cNvPr id="108" name="Text 106"/>
          <p:cNvSpPr txBox="1"/>
          <p:nvPr/>
        </p:nvSpPr>
        <p:spPr>
          <a:xfrm>
            <a:off x="6208776" y="499872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09" name="Shape 107"/>
          <p:cNvSpPr/>
          <p:nvPr/>
        </p:nvSpPr>
        <p:spPr>
          <a:xfrm>
            <a:off x="8202168" y="5056632"/>
            <a:ext cx="824492" cy="115824"/>
          </a:xfrm>
          <a:prstGeom prst="rect">
            <a:avLst/>
          </a:prstGeom>
          <a:solidFill>
            <a:srgbClr val="2587C5"/>
          </a:solidFill>
          <a:ln/>
        </p:spPr>
      </p:sp>
      <p:sp>
        <p:nvSpPr>
          <p:cNvPr id="110" name="Text 108"/>
          <p:cNvSpPr txBox="1"/>
          <p:nvPr/>
        </p:nvSpPr>
        <p:spPr>
          <a:xfrm>
            <a:off x="10671048" y="499872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$185.00</a:t>
            </a:r>
            <a:endParaRPr lang="en-US" sz="1300" dirty="0"/>
          </a:p>
        </p:txBody>
      </p:sp>
      <p:sp>
        <p:nvSpPr>
          <p:cNvPr id="111" name="Text 109"/>
          <p:cNvSpPr txBox="1"/>
          <p:nvPr/>
        </p:nvSpPr>
        <p:spPr>
          <a:xfrm>
            <a:off x="6208776" y="523036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12" name="Shape 110"/>
          <p:cNvSpPr/>
          <p:nvPr/>
        </p:nvSpPr>
        <p:spPr>
          <a:xfrm>
            <a:off x="8202168" y="5288280"/>
            <a:ext cx="824492" cy="115824"/>
          </a:xfrm>
          <a:prstGeom prst="rect">
            <a:avLst/>
          </a:prstGeom>
          <a:solidFill>
            <a:srgbClr val="2587C5"/>
          </a:solidFill>
          <a:ln/>
        </p:spPr>
      </p:sp>
      <p:sp>
        <p:nvSpPr>
          <p:cNvPr id="113" name="Text 111"/>
          <p:cNvSpPr txBox="1"/>
          <p:nvPr/>
        </p:nvSpPr>
        <p:spPr>
          <a:xfrm>
            <a:off x="10671048" y="523036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$185.00</a:t>
            </a:r>
            <a:endParaRPr lang="en-US" sz="1300" dirty="0"/>
          </a:p>
        </p:txBody>
      </p:sp>
      <p:sp>
        <p:nvSpPr>
          <p:cNvPr id="114" name="Text 112"/>
          <p:cNvSpPr txBox="1"/>
          <p:nvPr/>
        </p:nvSpPr>
        <p:spPr>
          <a:xfrm>
            <a:off x="6208776" y="546201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15" name="Shape 113"/>
          <p:cNvSpPr/>
          <p:nvPr/>
        </p:nvSpPr>
        <p:spPr>
          <a:xfrm>
            <a:off x="8202168" y="5519928"/>
            <a:ext cx="766293" cy="115824"/>
          </a:xfrm>
          <a:prstGeom prst="rect">
            <a:avLst/>
          </a:prstGeom>
          <a:solidFill>
            <a:srgbClr val="2587C5"/>
          </a:solidFill>
          <a:ln/>
        </p:spPr>
      </p:sp>
      <p:sp>
        <p:nvSpPr>
          <p:cNvPr id="116" name="Text 114"/>
          <p:cNvSpPr txBox="1"/>
          <p:nvPr/>
        </p:nvSpPr>
        <p:spPr>
          <a:xfrm>
            <a:off x="10671048" y="546201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$179.00</a:t>
            </a:r>
            <a:endParaRPr lang="en-US" sz="1300" dirty="0"/>
          </a:p>
        </p:txBody>
      </p:sp>
      <p:sp>
        <p:nvSpPr>
          <p:cNvPr id="117" name="Shape 115"/>
          <p:cNvSpPr/>
          <p:nvPr/>
        </p:nvSpPr>
        <p:spPr>
          <a:xfrm>
            <a:off x="6035040" y="1371600"/>
            <a:ext cx="10973" cy="4553712"/>
          </a:xfrm>
          <a:prstGeom prst="rect">
            <a:avLst/>
          </a:prstGeom>
          <a:solidFill>
            <a:srgbClr val="D9D9D9"/>
          </a:solidFill>
          <a:ln/>
        </p:spPr>
      </p:sp>
      <p:sp>
        <p:nvSpPr>
          <p:cNvPr id="118" name="Shape 116"/>
          <p:cNvSpPr/>
          <p:nvPr/>
        </p:nvSpPr>
        <p:spPr>
          <a:xfrm>
            <a:off x="457200" y="6126480"/>
            <a:ext cx="11274552" cy="341376"/>
          </a:xfrm>
          <a:prstGeom prst="rect">
            <a:avLst/>
          </a:prstGeom>
          <a:solidFill>
            <a:srgbClr val="EDF4FA"/>
          </a:solidFill>
          <a:ln/>
        </p:spPr>
      </p:sp>
      <p:sp>
        <p:nvSpPr>
          <p:cNvPr id="119" name="Text 117"/>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17 stores price labor on a grid, 16 at a flat door rate. Hours-weighted door rate: $228.55 grid, $202.83 no grid.</a:t>
            </a:r>
            <a:endParaRPr lang="en-US" sz="1400" dirty="0"/>
          </a:p>
        </p:txBody>
      </p:sp>
    </p:spTree>
  </p:cSld>
  <p:clrMapOvr>
    <a:masterClrMapping/>
  </p:clrMapOvr>
</p:sld>
</file>

<file path=ppt/slides/slide17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CP VS INTERNAL GP % · OPTION A</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vs Customer-Pay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16736"/>
            <a:ext cx="10872216" cy="384048"/>
          </a:xfrm>
          <a:prstGeom prst="rect">
            <a:avLst/>
          </a:prstGeom>
          <a:solidFill>
            <a:srgbClr val="EDF4FA"/>
          </a:solidFill>
          <a:ln/>
        </p:spPr>
      </p:sp>
      <p:sp>
        <p:nvSpPr>
          <p:cNvPr id="7" name="Shape 5"/>
          <p:cNvSpPr/>
          <p:nvPr/>
        </p:nvSpPr>
        <p:spPr>
          <a:xfrm>
            <a:off x="658368" y="1316736"/>
            <a:ext cx="54864" cy="384048"/>
          </a:xfrm>
          <a:prstGeom prst="rect">
            <a:avLst/>
          </a:prstGeom>
          <a:solidFill>
            <a:srgbClr val="0B2C4A"/>
          </a:solidFill>
          <a:ln/>
        </p:spPr>
      </p:sp>
      <p:sp>
        <p:nvSpPr>
          <p:cNvPr id="8" name="Text 6"/>
          <p:cNvSpPr txBox="1"/>
          <p:nvPr/>
        </p:nvSpPr>
        <p:spPr>
          <a:xfrm>
            <a:off x="841248" y="1316736"/>
            <a:ext cx="1060704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pPr indent="0" marL="0">
              <a:buNone/>
            </a:pPr>
            <a:r>
              <a:rPr lang="en-US" sz="1500" dirty="0">
                <a:solidFill>
                  <a:srgbClr val="1A1A1A"/>
                </a:solidFill>
                <a:latin typeface="Inter" pitchFamily="34" charset="0"/>
                <a:ea typeface="Inter" pitchFamily="34" charset="-122"/>
                <a:cs typeface="Inter" pitchFamily="34" charset="-120"/>
              </a:rPr>
              <a:t>      CUSTOMER PAY 80.8%      INTERNAL 78.1%      GAP </a:t>
            </a:r>
            <a:pPr indent="0" marL="0">
              <a:buNone/>
            </a:pPr>
            <a:r>
              <a:rPr lang="en-US" sz="1500" b="1" dirty="0">
                <a:solidFill>
                  <a:srgbClr val="0B2C4A"/>
                </a:solidFill>
                <a:latin typeface="Inter" pitchFamily="34" charset="0"/>
                <a:ea typeface="Inter" pitchFamily="34" charset="-122"/>
                <a:cs typeface="Inter" pitchFamily="34" charset="-120"/>
              </a:rPr>
              <a:t>−2.7 pts</a:t>
            </a:r>
            <a:pPr indent="0" marL="0">
              <a:buNone/>
            </a:pPr>
            <a:r>
              <a:rPr lang="en-US" sz="1500" dirty="0">
                <a:solidFill>
                  <a:srgbClr val="595959"/>
                </a:solidFill>
                <a:latin typeface="Inter" pitchFamily="34" charset="0"/>
                <a:ea typeface="Inter" pitchFamily="34" charset="-122"/>
                <a:cs typeface="Inter" pitchFamily="34" charset="-120"/>
              </a:rPr>
              <a:t>      green = gap at or better than the group</a:t>
            </a:r>
            <a:endParaRPr lang="en-US" sz="1500" dirty="0"/>
          </a:p>
        </p:txBody>
      </p:sp>
      <p:sp>
        <p:nvSpPr>
          <p:cNvPr id="9" name="Text 7"/>
          <p:cNvSpPr txBox="1"/>
          <p:nvPr/>
        </p:nvSpPr>
        <p:spPr>
          <a:xfrm>
            <a:off x="2715768" y="1773936"/>
            <a:ext cx="1078992" cy="274320"/>
          </a:xfrm>
          <a:prstGeom prst="rect">
            <a:avLst/>
          </a:prstGeom>
          <a:noFill/>
          <a:ln/>
        </p:spPr>
        <p:txBody>
          <a:bodyPr wrap="square" lIns="0" tIns="0" rIns="0" bIns="0" rtlCol="0" anchor="ctr"/>
          <a:lstStyle/>
          <a:p>
            <a:pPr algn="ctr" indent="0" marL="0">
              <a:buNone/>
            </a:pPr>
            <a:endParaRPr lang="en-US" sz="1400" dirty="0"/>
          </a:p>
        </p:txBody>
      </p:sp>
      <p:sp>
        <p:nvSpPr>
          <p:cNvPr id="10" name="Text 8"/>
          <p:cNvSpPr txBox="1"/>
          <p:nvPr/>
        </p:nvSpPr>
        <p:spPr>
          <a:xfrm>
            <a:off x="3840480"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CP</a:t>
            </a:r>
            <a:endParaRPr lang="en-US" sz="1400" dirty="0"/>
          </a:p>
        </p:txBody>
      </p:sp>
      <p:sp>
        <p:nvSpPr>
          <p:cNvPr id="11" name="Text 9"/>
          <p:cNvSpPr txBox="1"/>
          <p:nvPr/>
        </p:nvSpPr>
        <p:spPr>
          <a:xfrm>
            <a:off x="4407408"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INT</a:t>
            </a:r>
            <a:endParaRPr lang="en-US" sz="1400" dirty="0"/>
          </a:p>
        </p:txBody>
      </p:sp>
      <p:sp>
        <p:nvSpPr>
          <p:cNvPr id="12" name="Text 10"/>
          <p:cNvSpPr txBox="1"/>
          <p:nvPr/>
        </p:nvSpPr>
        <p:spPr>
          <a:xfrm>
            <a:off x="4974336" y="1773936"/>
            <a:ext cx="859536"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GAP</a:t>
            </a:r>
            <a:endParaRPr lang="en-US" sz="1400" dirty="0"/>
          </a:p>
        </p:txBody>
      </p:sp>
      <p:sp>
        <p:nvSpPr>
          <p:cNvPr id="13" name="Shape 11"/>
          <p:cNvSpPr/>
          <p:nvPr/>
        </p:nvSpPr>
        <p:spPr>
          <a:xfrm>
            <a:off x="3249778" y="2103120"/>
            <a:ext cx="10973" cy="3822192"/>
          </a:xfrm>
          <a:prstGeom prst="rect">
            <a:avLst/>
          </a:prstGeom>
          <a:solidFill>
            <a:srgbClr val="9AA3AD"/>
          </a:solidFill>
          <a:ln/>
        </p:spPr>
      </p:sp>
      <p:sp>
        <p:nvSpPr>
          <p:cNvPr id="14" name="Shape 12"/>
          <p:cNvSpPr/>
          <p:nvPr/>
        </p:nvSpPr>
        <p:spPr>
          <a:xfrm>
            <a:off x="3183188" y="2103120"/>
            <a:ext cx="0" cy="3822192"/>
          </a:xfrm>
          <a:prstGeom prst="line">
            <a:avLst/>
          </a:prstGeom>
          <a:noFill/>
          <a:ln w="12700">
            <a:solidFill>
              <a:srgbClr val="0B2C4A"/>
            </a:solidFill>
            <a:prstDash val="dash"/>
          </a:ln>
        </p:spPr>
      </p:sp>
      <p:sp>
        <p:nvSpPr>
          <p:cNvPr id="15" name="Text 13"/>
          <p:cNvSpPr txBox="1"/>
          <p:nvPr/>
        </p:nvSpPr>
        <p:spPr>
          <a:xfrm>
            <a:off x="8266176" y="1773936"/>
            <a:ext cx="1078992" cy="274320"/>
          </a:xfrm>
          <a:prstGeom prst="rect">
            <a:avLst/>
          </a:prstGeom>
          <a:noFill/>
          <a:ln/>
        </p:spPr>
        <p:txBody>
          <a:bodyPr wrap="square" lIns="0" tIns="0" rIns="0" bIns="0" rtlCol="0" anchor="ctr"/>
          <a:lstStyle/>
          <a:p>
            <a:pPr algn="ctr" indent="0" marL="0">
              <a:buNone/>
            </a:pPr>
            <a:endParaRPr lang="en-US" sz="1400" dirty="0"/>
          </a:p>
        </p:txBody>
      </p:sp>
      <p:sp>
        <p:nvSpPr>
          <p:cNvPr id="16" name="Text 14"/>
          <p:cNvSpPr txBox="1"/>
          <p:nvPr/>
        </p:nvSpPr>
        <p:spPr>
          <a:xfrm>
            <a:off x="9390888"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CP</a:t>
            </a:r>
            <a:endParaRPr lang="en-US" sz="1400" dirty="0"/>
          </a:p>
        </p:txBody>
      </p:sp>
      <p:sp>
        <p:nvSpPr>
          <p:cNvPr id="17" name="Text 15"/>
          <p:cNvSpPr txBox="1"/>
          <p:nvPr/>
        </p:nvSpPr>
        <p:spPr>
          <a:xfrm>
            <a:off x="9957816"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INT</a:t>
            </a:r>
            <a:endParaRPr lang="en-US" sz="1400" dirty="0"/>
          </a:p>
        </p:txBody>
      </p:sp>
      <p:sp>
        <p:nvSpPr>
          <p:cNvPr id="18" name="Text 16"/>
          <p:cNvSpPr txBox="1"/>
          <p:nvPr/>
        </p:nvSpPr>
        <p:spPr>
          <a:xfrm>
            <a:off x="10524744" y="1773936"/>
            <a:ext cx="859536"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GAP</a:t>
            </a:r>
            <a:endParaRPr lang="en-US" sz="1400" dirty="0"/>
          </a:p>
        </p:txBody>
      </p:sp>
      <p:sp>
        <p:nvSpPr>
          <p:cNvPr id="19" name="Shape 17"/>
          <p:cNvSpPr/>
          <p:nvPr/>
        </p:nvSpPr>
        <p:spPr>
          <a:xfrm>
            <a:off x="8800186" y="2103120"/>
            <a:ext cx="10973" cy="3597357"/>
          </a:xfrm>
          <a:prstGeom prst="rect">
            <a:avLst/>
          </a:prstGeom>
          <a:solidFill>
            <a:srgbClr val="9AA3AD"/>
          </a:solidFill>
          <a:ln/>
        </p:spPr>
      </p:sp>
      <p:sp>
        <p:nvSpPr>
          <p:cNvPr id="20" name="Shape 18"/>
          <p:cNvSpPr/>
          <p:nvPr/>
        </p:nvSpPr>
        <p:spPr>
          <a:xfrm>
            <a:off x="8733596" y="2103120"/>
            <a:ext cx="0" cy="3597357"/>
          </a:xfrm>
          <a:prstGeom prst="line">
            <a:avLst/>
          </a:prstGeom>
          <a:noFill/>
          <a:ln w="12700">
            <a:solidFill>
              <a:srgbClr val="0B2C4A"/>
            </a:solidFill>
            <a:prstDash val="dash"/>
          </a:ln>
        </p:spPr>
      </p:sp>
      <p:sp>
        <p:nvSpPr>
          <p:cNvPr id="21" name="Text 19"/>
          <p:cNvSpPr txBox="1"/>
          <p:nvPr/>
        </p:nvSpPr>
        <p:spPr>
          <a:xfrm>
            <a:off x="658368" y="210312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22" name="Shape 20"/>
          <p:cNvSpPr/>
          <p:nvPr/>
        </p:nvSpPr>
        <p:spPr>
          <a:xfrm>
            <a:off x="3255264" y="2153708"/>
            <a:ext cx="130113" cy="123659"/>
          </a:xfrm>
          <a:prstGeom prst="rect">
            <a:avLst/>
          </a:prstGeom>
          <a:solidFill>
            <a:srgbClr val="12A566"/>
          </a:solidFill>
          <a:ln/>
        </p:spPr>
      </p:sp>
      <p:sp>
        <p:nvSpPr>
          <p:cNvPr id="23" name="Text 21"/>
          <p:cNvSpPr txBox="1"/>
          <p:nvPr/>
        </p:nvSpPr>
        <p:spPr>
          <a:xfrm>
            <a:off x="3840480" y="210312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77.3%</a:t>
            </a:r>
            <a:endParaRPr lang="en-US" sz="1300" dirty="0"/>
          </a:p>
        </p:txBody>
      </p:sp>
      <p:sp>
        <p:nvSpPr>
          <p:cNvPr id="24" name="Text 22"/>
          <p:cNvSpPr txBox="1"/>
          <p:nvPr/>
        </p:nvSpPr>
        <p:spPr>
          <a:xfrm>
            <a:off x="4407408" y="210312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82.1%</a:t>
            </a:r>
            <a:endParaRPr lang="en-US" sz="1300" dirty="0"/>
          </a:p>
        </p:txBody>
      </p:sp>
      <p:sp>
        <p:nvSpPr>
          <p:cNvPr id="25" name="Text 23"/>
          <p:cNvSpPr txBox="1"/>
          <p:nvPr/>
        </p:nvSpPr>
        <p:spPr>
          <a:xfrm>
            <a:off x="4974336" y="210312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+4.8 pts</a:t>
            </a:r>
            <a:endParaRPr lang="en-US" sz="1300" dirty="0"/>
          </a:p>
        </p:txBody>
      </p:sp>
      <p:sp>
        <p:nvSpPr>
          <p:cNvPr id="26" name="Shape 24"/>
          <p:cNvSpPr/>
          <p:nvPr/>
        </p:nvSpPr>
        <p:spPr>
          <a:xfrm>
            <a:off x="585216" y="2327955"/>
            <a:ext cx="5394960" cy="224835"/>
          </a:xfrm>
          <a:prstGeom prst="rect">
            <a:avLst/>
          </a:prstGeom>
          <a:solidFill>
            <a:srgbClr val="F7F7F7"/>
          </a:solidFill>
          <a:ln/>
        </p:spPr>
      </p:sp>
      <p:sp>
        <p:nvSpPr>
          <p:cNvPr id="27" name="Text 25"/>
          <p:cNvSpPr txBox="1"/>
          <p:nvPr/>
        </p:nvSpPr>
        <p:spPr>
          <a:xfrm>
            <a:off x="658368" y="2327955"/>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28" name="Shape 26"/>
          <p:cNvSpPr/>
          <p:nvPr/>
        </p:nvSpPr>
        <p:spPr>
          <a:xfrm>
            <a:off x="3255264" y="2378543"/>
            <a:ext cx="129665" cy="123659"/>
          </a:xfrm>
          <a:prstGeom prst="rect">
            <a:avLst/>
          </a:prstGeom>
          <a:solidFill>
            <a:srgbClr val="12A566"/>
          </a:solidFill>
          <a:ln/>
        </p:spPr>
      </p:sp>
      <p:sp>
        <p:nvSpPr>
          <p:cNvPr id="29" name="Text 27"/>
          <p:cNvSpPr txBox="1"/>
          <p:nvPr/>
        </p:nvSpPr>
        <p:spPr>
          <a:xfrm>
            <a:off x="3840480" y="2327955"/>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67.7%</a:t>
            </a:r>
            <a:endParaRPr lang="en-US" sz="1300" dirty="0"/>
          </a:p>
        </p:txBody>
      </p:sp>
      <p:sp>
        <p:nvSpPr>
          <p:cNvPr id="30" name="Text 28"/>
          <p:cNvSpPr txBox="1"/>
          <p:nvPr/>
        </p:nvSpPr>
        <p:spPr>
          <a:xfrm>
            <a:off x="4407408" y="2327955"/>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72.5%</a:t>
            </a:r>
            <a:endParaRPr lang="en-US" sz="1300" dirty="0"/>
          </a:p>
        </p:txBody>
      </p:sp>
      <p:sp>
        <p:nvSpPr>
          <p:cNvPr id="31" name="Text 29"/>
          <p:cNvSpPr txBox="1"/>
          <p:nvPr/>
        </p:nvSpPr>
        <p:spPr>
          <a:xfrm>
            <a:off x="4974336" y="2327955"/>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+4.8 pts</a:t>
            </a:r>
            <a:endParaRPr lang="en-US" sz="1300" dirty="0"/>
          </a:p>
        </p:txBody>
      </p:sp>
      <p:sp>
        <p:nvSpPr>
          <p:cNvPr id="32" name="Text 30"/>
          <p:cNvSpPr txBox="1"/>
          <p:nvPr/>
        </p:nvSpPr>
        <p:spPr>
          <a:xfrm>
            <a:off x="658368" y="255279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33" name="Shape 31"/>
          <p:cNvSpPr/>
          <p:nvPr/>
        </p:nvSpPr>
        <p:spPr>
          <a:xfrm>
            <a:off x="3255264" y="2603377"/>
            <a:ext cx="104292" cy="123659"/>
          </a:xfrm>
          <a:prstGeom prst="rect">
            <a:avLst/>
          </a:prstGeom>
          <a:solidFill>
            <a:srgbClr val="12A566"/>
          </a:solidFill>
          <a:ln/>
        </p:spPr>
      </p:sp>
      <p:sp>
        <p:nvSpPr>
          <p:cNvPr id="34" name="Text 32"/>
          <p:cNvSpPr txBox="1"/>
          <p:nvPr/>
        </p:nvSpPr>
        <p:spPr>
          <a:xfrm>
            <a:off x="3840480" y="255279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79.4%</a:t>
            </a:r>
            <a:endParaRPr lang="en-US" sz="1300" dirty="0"/>
          </a:p>
        </p:txBody>
      </p:sp>
      <p:sp>
        <p:nvSpPr>
          <p:cNvPr id="35" name="Text 33"/>
          <p:cNvSpPr txBox="1"/>
          <p:nvPr/>
        </p:nvSpPr>
        <p:spPr>
          <a:xfrm>
            <a:off x="4407408" y="255279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83.3%</a:t>
            </a:r>
            <a:endParaRPr lang="en-US" sz="1300" dirty="0"/>
          </a:p>
        </p:txBody>
      </p:sp>
      <p:sp>
        <p:nvSpPr>
          <p:cNvPr id="36" name="Text 34"/>
          <p:cNvSpPr txBox="1"/>
          <p:nvPr/>
        </p:nvSpPr>
        <p:spPr>
          <a:xfrm>
            <a:off x="4974336" y="255279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+3.9 pts</a:t>
            </a:r>
            <a:endParaRPr lang="en-US" sz="1300" dirty="0"/>
          </a:p>
        </p:txBody>
      </p:sp>
      <p:sp>
        <p:nvSpPr>
          <p:cNvPr id="37" name="Shape 35"/>
          <p:cNvSpPr/>
          <p:nvPr/>
        </p:nvSpPr>
        <p:spPr>
          <a:xfrm>
            <a:off x="585216" y="2777624"/>
            <a:ext cx="5394960" cy="224835"/>
          </a:xfrm>
          <a:prstGeom prst="rect">
            <a:avLst/>
          </a:prstGeom>
          <a:solidFill>
            <a:srgbClr val="F7F7F7"/>
          </a:solidFill>
          <a:ln/>
        </p:spPr>
      </p:sp>
      <p:sp>
        <p:nvSpPr>
          <p:cNvPr id="38" name="Text 36"/>
          <p:cNvSpPr txBox="1"/>
          <p:nvPr/>
        </p:nvSpPr>
        <p:spPr>
          <a:xfrm>
            <a:off x="658368" y="277762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39" name="Shape 37"/>
          <p:cNvSpPr/>
          <p:nvPr/>
        </p:nvSpPr>
        <p:spPr>
          <a:xfrm>
            <a:off x="3255264" y="2828212"/>
            <a:ext cx="96492" cy="123659"/>
          </a:xfrm>
          <a:prstGeom prst="rect">
            <a:avLst/>
          </a:prstGeom>
          <a:solidFill>
            <a:srgbClr val="12A566"/>
          </a:solidFill>
          <a:ln/>
        </p:spPr>
      </p:sp>
      <p:sp>
        <p:nvSpPr>
          <p:cNvPr id="40" name="Text 38"/>
          <p:cNvSpPr txBox="1"/>
          <p:nvPr/>
        </p:nvSpPr>
        <p:spPr>
          <a:xfrm>
            <a:off x="3840480" y="277762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72.2%</a:t>
            </a:r>
            <a:endParaRPr lang="en-US" sz="1300" dirty="0"/>
          </a:p>
        </p:txBody>
      </p:sp>
      <p:sp>
        <p:nvSpPr>
          <p:cNvPr id="41" name="Text 39"/>
          <p:cNvSpPr txBox="1"/>
          <p:nvPr/>
        </p:nvSpPr>
        <p:spPr>
          <a:xfrm>
            <a:off x="4407408" y="277762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75.8%</a:t>
            </a:r>
            <a:endParaRPr lang="en-US" sz="1300" dirty="0"/>
          </a:p>
        </p:txBody>
      </p:sp>
      <p:sp>
        <p:nvSpPr>
          <p:cNvPr id="42" name="Text 40"/>
          <p:cNvSpPr txBox="1"/>
          <p:nvPr/>
        </p:nvSpPr>
        <p:spPr>
          <a:xfrm>
            <a:off x="4974336" y="277762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+3.6 pts</a:t>
            </a:r>
            <a:endParaRPr lang="en-US" sz="1300" dirty="0"/>
          </a:p>
        </p:txBody>
      </p:sp>
      <p:sp>
        <p:nvSpPr>
          <p:cNvPr id="43" name="Text 41"/>
          <p:cNvSpPr txBox="1"/>
          <p:nvPr/>
        </p:nvSpPr>
        <p:spPr>
          <a:xfrm>
            <a:off x="658368" y="300245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44" name="Shape 42"/>
          <p:cNvSpPr/>
          <p:nvPr/>
        </p:nvSpPr>
        <p:spPr>
          <a:xfrm>
            <a:off x="3255264" y="3053047"/>
            <a:ext cx="77376" cy="123659"/>
          </a:xfrm>
          <a:prstGeom prst="rect">
            <a:avLst/>
          </a:prstGeom>
          <a:solidFill>
            <a:srgbClr val="12A566"/>
          </a:solidFill>
          <a:ln/>
        </p:spPr>
      </p:sp>
      <p:sp>
        <p:nvSpPr>
          <p:cNvPr id="45" name="Text 43"/>
          <p:cNvSpPr txBox="1"/>
          <p:nvPr/>
        </p:nvSpPr>
        <p:spPr>
          <a:xfrm>
            <a:off x="3840480" y="300245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78.7%</a:t>
            </a:r>
            <a:endParaRPr lang="en-US" sz="1300" dirty="0"/>
          </a:p>
        </p:txBody>
      </p:sp>
      <p:sp>
        <p:nvSpPr>
          <p:cNvPr id="46" name="Text 44"/>
          <p:cNvSpPr txBox="1"/>
          <p:nvPr/>
        </p:nvSpPr>
        <p:spPr>
          <a:xfrm>
            <a:off x="4407408" y="300245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81.5%</a:t>
            </a:r>
            <a:endParaRPr lang="en-US" sz="1300" dirty="0"/>
          </a:p>
        </p:txBody>
      </p:sp>
      <p:sp>
        <p:nvSpPr>
          <p:cNvPr id="47" name="Text 45"/>
          <p:cNvSpPr txBox="1"/>
          <p:nvPr/>
        </p:nvSpPr>
        <p:spPr>
          <a:xfrm>
            <a:off x="4974336" y="300245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+2.9 pts</a:t>
            </a:r>
            <a:endParaRPr lang="en-US" sz="1300" dirty="0"/>
          </a:p>
        </p:txBody>
      </p:sp>
      <p:sp>
        <p:nvSpPr>
          <p:cNvPr id="48" name="Shape 46"/>
          <p:cNvSpPr/>
          <p:nvPr/>
        </p:nvSpPr>
        <p:spPr>
          <a:xfrm>
            <a:off x="585216" y="3227294"/>
            <a:ext cx="5394960" cy="224835"/>
          </a:xfrm>
          <a:prstGeom prst="rect">
            <a:avLst/>
          </a:prstGeom>
          <a:solidFill>
            <a:srgbClr val="F7F7F7"/>
          </a:solidFill>
          <a:ln/>
        </p:spPr>
      </p:sp>
      <p:sp>
        <p:nvSpPr>
          <p:cNvPr id="49" name="Text 47"/>
          <p:cNvSpPr txBox="1"/>
          <p:nvPr/>
        </p:nvSpPr>
        <p:spPr>
          <a:xfrm>
            <a:off x="658368" y="322729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0" name="Shape 48"/>
          <p:cNvSpPr/>
          <p:nvPr/>
        </p:nvSpPr>
        <p:spPr>
          <a:xfrm>
            <a:off x="3255264" y="3277882"/>
            <a:ext cx="65728" cy="123659"/>
          </a:xfrm>
          <a:prstGeom prst="rect">
            <a:avLst/>
          </a:prstGeom>
          <a:solidFill>
            <a:srgbClr val="12A566"/>
          </a:solidFill>
          <a:ln/>
        </p:spPr>
      </p:sp>
      <p:sp>
        <p:nvSpPr>
          <p:cNvPr id="51" name="Text 49"/>
          <p:cNvSpPr txBox="1"/>
          <p:nvPr/>
        </p:nvSpPr>
        <p:spPr>
          <a:xfrm>
            <a:off x="3840480" y="322729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82.9%</a:t>
            </a:r>
            <a:endParaRPr lang="en-US" sz="1300" dirty="0"/>
          </a:p>
        </p:txBody>
      </p:sp>
      <p:sp>
        <p:nvSpPr>
          <p:cNvPr id="52" name="Text 50"/>
          <p:cNvSpPr txBox="1"/>
          <p:nvPr/>
        </p:nvSpPr>
        <p:spPr>
          <a:xfrm>
            <a:off x="4407408" y="322729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85.3%</a:t>
            </a:r>
            <a:endParaRPr lang="en-US" sz="1300" dirty="0"/>
          </a:p>
        </p:txBody>
      </p:sp>
      <p:sp>
        <p:nvSpPr>
          <p:cNvPr id="53" name="Text 51"/>
          <p:cNvSpPr txBox="1"/>
          <p:nvPr/>
        </p:nvSpPr>
        <p:spPr>
          <a:xfrm>
            <a:off x="4974336" y="322729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+2.4 pts</a:t>
            </a:r>
            <a:endParaRPr lang="en-US" sz="1300" dirty="0"/>
          </a:p>
        </p:txBody>
      </p:sp>
      <p:sp>
        <p:nvSpPr>
          <p:cNvPr id="54" name="Text 52"/>
          <p:cNvSpPr txBox="1"/>
          <p:nvPr/>
        </p:nvSpPr>
        <p:spPr>
          <a:xfrm>
            <a:off x="658368" y="345212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55" name="Shape 53"/>
          <p:cNvSpPr/>
          <p:nvPr/>
        </p:nvSpPr>
        <p:spPr>
          <a:xfrm>
            <a:off x="3255264" y="3502717"/>
            <a:ext cx="65019" cy="123659"/>
          </a:xfrm>
          <a:prstGeom prst="rect">
            <a:avLst/>
          </a:prstGeom>
          <a:solidFill>
            <a:srgbClr val="12A566"/>
          </a:solidFill>
          <a:ln/>
        </p:spPr>
      </p:sp>
      <p:sp>
        <p:nvSpPr>
          <p:cNvPr id="56" name="Text 54"/>
          <p:cNvSpPr txBox="1"/>
          <p:nvPr/>
        </p:nvSpPr>
        <p:spPr>
          <a:xfrm>
            <a:off x="3840480" y="345212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79.5%</a:t>
            </a:r>
            <a:endParaRPr lang="en-US" sz="1300" dirty="0"/>
          </a:p>
        </p:txBody>
      </p:sp>
      <p:sp>
        <p:nvSpPr>
          <p:cNvPr id="57" name="Text 55"/>
          <p:cNvSpPr txBox="1"/>
          <p:nvPr/>
        </p:nvSpPr>
        <p:spPr>
          <a:xfrm>
            <a:off x="4407408" y="345212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81.9%</a:t>
            </a:r>
            <a:endParaRPr lang="en-US" sz="1300" dirty="0"/>
          </a:p>
        </p:txBody>
      </p:sp>
      <p:sp>
        <p:nvSpPr>
          <p:cNvPr id="58" name="Text 56"/>
          <p:cNvSpPr txBox="1"/>
          <p:nvPr/>
        </p:nvSpPr>
        <p:spPr>
          <a:xfrm>
            <a:off x="4974336" y="345212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+2.4 pts</a:t>
            </a:r>
            <a:endParaRPr lang="en-US" sz="1300" dirty="0"/>
          </a:p>
        </p:txBody>
      </p:sp>
      <p:sp>
        <p:nvSpPr>
          <p:cNvPr id="59" name="Shape 57"/>
          <p:cNvSpPr/>
          <p:nvPr/>
        </p:nvSpPr>
        <p:spPr>
          <a:xfrm>
            <a:off x="585216" y="3676964"/>
            <a:ext cx="5394960" cy="224835"/>
          </a:xfrm>
          <a:prstGeom prst="rect">
            <a:avLst/>
          </a:prstGeom>
          <a:solidFill>
            <a:srgbClr val="F7F7F7"/>
          </a:solidFill>
          <a:ln/>
        </p:spPr>
      </p:sp>
      <p:sp>
        <p:nvSpPr>
          <p:cNvPr id="60" name="Text 58"/>
          <p:cNvSpPr txBox="1"/>
          <p:nvPr/>
        </p:nvSpPr>
        <p:spPr>
          <a:xfrm>
            <a:off x="658368" y="367696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61" name="Shape 59"/>
          <p:cNvSpPr/>
          <p:nvPr/>
        </p:nvSpPr>
        <p:spPr>
          <a:xfrm>
            <a:off x="3255264" y="3727552"/>
            <a:ext cx="23117" cy="123659"/>
          </a:xfrm>
          <a:prstGeom prst="rect">
            <a:avLst/>
          </a:prstGeom>
          <a:solidFill>
            <a:srgbClr val="12A566"/>
          </a:solidFill>
          <a:ln/>
        </p:spPr>
      </p:sp>
      <p:sp>
        <p:nvSpPr>
          <p:cNvPr id="62" name="Text 60"/>
          <p:cNvSpPr txBox="1"/>
          <p:nvPr/>
        </p:nvSpPr>
        <p:spPr>
          <a:xfrm>
            <a:off x="3840480" y="367696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79.4%</a:t>
            </a:r>
            <a:endParaRPr lang="en-US" sz="1300" dirty="0"/>
          </a:p>
        </p:txBody>
      </p:sp>
      <p:sp>
        <p:nvSpPr>
          <p:cNvPr id="63" name="Text 61"/>
          <p:cNvSpPr txBox="1"/>
          <p:nvPr/>
        </p:nvSpPr>
        <p:spPr>
          <a:xfrm>
            <a:off x="4407408" y="367696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80.2%</a:t>
            </a:r>
            <a:endParaRPr lang="en-US" sz="1300" dirty="0"/>
          </a:p>
        </p:txBody>
      </p:sp>
      <p:sp>
        <p:nvSpPr>
          <p:cNvPr id="64" name="Text 62"/>
          <p:cNvSpPr txBox="1"/>
          <p:nvPr/>
        </p:nvSpPr>
        <p:spPr>
          <a:xfrm>
            <a:off x="4974336" y="367696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+0.9 pts</a:t>
            </a:r>
            <a:endParaRPr lang="en-US" sz="1300" dirty="0"/>
          </a:p>
        </p:txBody>
      </p:sp>
      <p:sp>
        <p:nvSpPr>
          <p:cNvPr id="65" name="Text 63"/>
          <p:cNvSpPr txBox="1"/>
          <p:nvPr/>
        </p:nvSpPr>
        <p:spPr>
          <a:xfrm>
            <a:off x="658368" y="390179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66" name="Shape 64"/>
          <p:cNvSpPr/>
          <p:nvPr/>
        </p:nvSpPr>
        <p:spPr>
          <a:xfrm>
            <a:off x="3253849" y="3952386"/>
            <a:ext cx="9144" cy="123659"/>
          </a:xfrm>
          <a:prstGeom prst="rect">
            <a:avLst/>
          </a:prstGeom>
          <a:solidFill>
            <a:srgbClr val="12A566"/>
          </a:solidFill>
          <a:ln/>
        </p:spPr>
      </p:sp>
      <p:sp>
        <p:nvSpPr>
          <p:cNvPr id="67" name="Text 65"/>
          <p:cNvSpPr txBox="1"/>
          <p:nvPr/>
        </p:nvSpPr>
        <p:spPr>
          <a:xfrm>
            <a:off x="3840480" y="390179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79.8%</a:t>
            </a:r>
            <a:endParaRPr lang="en-US" sz="1300" dirty="0"/>
          </a:p>
        </p:txBody>
      </p:sp>
      <p:sp>
        <p:nvSpPr>
          <p:cNvPr id="68" name="Text 66"/>
          <p:cNvSpPr txBox="1"/>
          <p:nvPr/>
        </p:nvSpPr>
        <p:spPr>
          <a:xfrm>
            <a:off x="4407408" y="390179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79.8%</a:t>
            </a:r>
            <a:endParaRPr lang="en-US" sz="1300" dirty="0"/>
          </a:p>
        </p:txBody>
      </p:sp>
      <p:sp>
        <p:nvSpPr>
          <p:cNvPr id="69" name="Text 67"/>
          <p:cNvSpPr txBox="1"/>
          <p:nvPr/>
        </p:nvSpPr>
        <p:spPr>
          <a:xfrm>
            <a:off x="4974336" y="390179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−0.1 pts</a:t>
            </a:r>
            <a:endParaRPr lang="en-US" sz="1300" dirty="0"/>
          </a:p>
        </p:txBody>
      </p:sp>
      <p:sp>
        <p:nvSpPr>
          <p:cNvPr id="70" name="Shape 68"/>
          <p:cNvSpPr/>
          <p:nvPr/>
        </p:nvSpPr>
        <p:spPr>
          <a:xfrm>
            <a:off x="585216" y="4126633"/>
            <a:ext cx="5394960" cy="224835"/>
          </a:xfrm>
          <a:prstGeom prst="rect">
            <a:avLst/>
          </a:prstGeom>
          <a:solidFill>
            <a:srgbClr val="F7F7F7"/>
          </a:solidFill>
          <a:ln/>
        </p:spPr>
      </p:sp>
      <p:sp>
        <p:nvSpPr>
          <p:cNvPr id="71" name="Text 69"/>
          <p:cNvSpPr txBox="1"/>
          <p:nvPr/>
        </p:nvSpPr>
        <p:spPr>
          <a:xfrm>
            <a:off x="658368" y="412663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72" name="Shape 70"/>
          <p:cNvSpPr/>
          <p:nvPr/>
        </p:nvSpPr>
        <p:spPr>
          <a:xfrm>
            <a:off x="3250197" y="4177221"/>
            <a:ext cx="9144" cy="123659"/>
          </a:xfrm>
          <a:prstGeom prst="rect">
            <a:avLst/>
          </a:prstGeom>
          <a:solidFill>
            <a:srgbClr val="12A566"/>
          </a:solidFill>
          <a:ln/>
        </p:spPr>
      </p:sp>
      <p:sp>
        <p:nvSpPr>
          <p:cNvPr id="73" name="Text 71"/>
          <p:cNvSpPr txBox="1"/>
          <p:nvPr/>
        </p:nvSpPr>
        <p:spPr>
          <a:xfrm>
            <a:off x="3840480" y="412663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86.1%</a:t>
            </a:r>
            <a:endParaRPr lang="en-US" sz="1300" dirty="0"/>
          </a:p>
        </p:txBody>
      </p:sp>
      <p:sp>
        <p:nvSpPr>
          <p:cNvPr id="74" name="Text 72"/>
          <p:cNvSpPr txBox="1"/>
          <p:nvPr/>
        </p:nvSpPr>
        <p:spPr>
          <a:xfrm>
            <a:off x="4407408" y="412663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85.9%</a:t>
            </a:r>
            <a:endParaRPr lang="en-US" sz="1300" dirty="0"/>
          </a:p>
        </p:txBody>
      </p:sp>
      <p:sp>
        <p:nvSpPr>
          <p:cNvPr id="75" name="Text 73"/>
          <p:cNvSpPr txBox="1"/>
          <p:nvPr/>
        </p:nvSpPr>
        <p:spPr>
          <a:xfrm>
            <a:off x="4974336" y="4126633"/>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−0.2 pts</a:t>
            </a:r>
            <a:endParaRPr lang="en-US" sz="1300" dirty="0"/>
          </a:p>
        </p:txBody>
      </p:sp>
      <p:sp>
        <p:nvSpPr>
          <p:cNvPr id="76" name="Text 74"/>
          <p:cNvSpPr txBox="1"/>
          <p:nvPr/>
        </p:nvSpPr>
        <p:spPr>
          <a:xfrm>
            <a:off x="658368" y="435146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77" name="Shape 75"/>
          <p:cNvSpPr/>
          <p:nvPr/>
        </p:nvSpPr>
        <p:spPr>
          <a:xfrm>
            <a:off x="3245953" y="4402056"/>
            <a:ext cx="9311" cy="123659"/>
          </a:xfrm>
          <a:prstGeom prst="rect">
            <a:avLst/>
          </a:prstGeom>
          <a:solidFill>
            <a:srgbClr val="12A566"/>
          </a:solidFill>
          <a:ln/>
        </p:spPr>
      </p:sp>
      <p:sp>
        <p:nvSpPr>
          <p:cNvPr id="78" name="Text 76"/>
          <p:cNvSpPr txBox="1"/>
          <p:nvPr/>
        </p:nvSpPr>
        <p:spPr>
          <a:xfrm>
            <a:off x="3840480" y="435146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83.2%</a:t>
            </a:r>
            <a:endParaRPr lang="en-US" sz="1300" dirty="0"/>
          </a:p>
        </p:txBody>
      </p:sp>
      <p:sp>
        <p:nvSpPr>
          <p:cNvPr id="79" name="Text 77"/>
          <p:cNvSpPr txBox="1"/>
          <p:nvPr/>
        </p:nvSpPr>
        <p:spPr>
          <a:xfrm>
            <a:off x="4407408" y="435146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82.8%</a:t>
            </a:r>
            <a:endParaRPr lang="en-US" sz="1300" dirty="0"/>
          </a:p>
        </p:txBody>
      </p:sp>
      <p:sp>
        <p:nvSpPr>
          <p:cNvPr id="80" name="Text 78"/>
          <p:cNvSpPr txBox="1"/>
          <p:nvPr/>
        </p:nvSpPr>
        <p:spPr>
          <a:xfrm>
            <a:off x="4974336" y="4351468"/>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−0.3 pts</a:t>
            </a:r>
            <a:endParaRPr lang="en-US" sz="1300" dirty="0"/>
          </a:p>
        </p:txBody>
      </p:sp>
      <p:sp>
        <p:nvSpPr>
          <p:cNvPr id="81" name="Shape 79"/>
          <p:cNvSpPr/>
          <p:nvPr/>
        </p:nvSpPr>
        <p:spPr>
          <a:xfrm>
            <a:off x="585216" y="4576303"/>
            <a:ext cx="5394960" cy="224835"/>
          </a:xfrm>
          <a:prstGeom prst="rect">
            <a:avLst/>
          </a:prstGeom>
          <a:solidFill>
            <a:srgbClr val="F7F7F7"/>
          </a:solidFill>
          <a:ln/>
        </p:spPr>
      </p:sp>
      <p:sp>
        <p:nvSpPr>
          <p:cNvPr id="82" name="Text 80"/>
          <p:cNvSpPr txBox="1"/>
          <p:nvPr/>
        </p:nvSpPr>
        <p:spPr>
          <a:xfrm>
            <a:off x="658368" y="457630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83" name="Shape 81"/>
          <p:cNvSpPr/>
          <p:nvPr/>
        </p:nvSpPr>
        <p:spPr>
          <a:xfrm>
            <a:off x="3244900" y="4626891"/>
            <a:ext cx="10364" cy="123659"/>
          </a:xfrm>
          <a:prstGeom prst="rect">
            <a:avLst/>
          </a:prstGeom>
          <a:solidFill>
            <a:srgbClr val="12A566"/>
          </a:solidFill>
          <a:ln/>
        </p:spPr>
      </p:sp>
      <p:sp>
        <p:nvSpPr>
          <p:cNvPr id="84" name="Text 82"/>
          <p:cNvSpPr txBox="1"/>
          <p:nvPr/>
        </p:nvSpPr>
        <p:spPr>
          <a:xfrm>
            <a:off x="3840480" y="457630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74.1%</a:t>
            </a:r>
            <a:endParaRPr lang="en-US" sz="1300" dirty="0"/>
          </a:p>
        </p:txBody>
      </p:sp>
      <p:sp>
        <p:nvSpPr>
          <p:cNvPr id="85" name="Text 83"/>
          <p:cNvSpPr txBox="1"/>
          <p:nvPr/>
        </p:nvSpPr>
        <p:spPr>
          <a:xfrm>
            <a:off x="4407408" y="457630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73.8%</a:t>
            </a:r>
            <a:endParaRPr lang="en-US" sz="1300" dirty="0"/>
          </a:p>
        </p:txBody>
      </p:sp>
      <p:sp>
        <p:nvSpPr>
          <p:cNvPr id="86" name="Text 84"/>
          <p:cNvSpPr txBox="1"/>
          <p:nvPr/>
        </p:nvSpPr>
        <p:spPr>
          <a:xfrm>
            <a:off x="4974336" y="4576303"/>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−0.4 pts</a:t>
            </a:r>
            <a:endParaRPr lang="en-US" sz="1300" dirty="0"/>
          </a:p>
        </p:txBody>
      </p:sp>
      <p:sp>
        <p:nvSpPr>
          <p:cNvPr id="87" name="Text 85"/>
          <p:cNvSpPr txBox="1"/>
          <p:nvPr/>
        </p:nvSpPr>
        <p:spPr>
          <a:xfrm>
            <a:off x="658368" y="480113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88" name="Shape 86"/>
          <p:cNvSpPr/>
          <p:nvPr/>
        </p:nvSpPr>
        <p:spPr>
          <a:xfrm>
            <a:off x="3221879" y="4851726"/>
            <a:ext cx="33385" cy="123659"/>
          </a:xfrm>
          <a:prstGeom prst="rect">
            <a:avLst/>
          </a:prstGeom>
          <a:solidFill>
            <a:srgbClr val="12A566"/>
          </a:solidFill>
          <a:ln/>
        </p:spPr>
      </p:sp>
      <p:sp>
        <p:nvSpPr>
          <p:cNvPr id="89" name="Text 87"/>
          <p:cNvSpPr txBox="1"/>
          <p:nvPr/>
        </p:nvSpPr>
        <p:spPr>
          <a:xfrm>
            <a:off x="3840480" y="480113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79.4%</a:t>
            </a:r>
            <a:endParaRPr lang="en-US" sz="1300" dirty="0"/>
          </a:p>
        </p:txBody>
      </p:sp>
      <p:sp>
        <p:nvSpPr>
          <p:cNvPr id="90" name="Text 88"/>
          <p:cNvSpPr txBox="1"/>
          <p:nvPr/>
        </p:nvSpPr>
        <p:spPr>
          <a:xfrm>
            <a:off x="4407408" y="480113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78.2%</a:t>
            </a:r>
            <a:endParaRPr lang="en-US" sz="1300" dirty="0"/>
          </a:p>
        </p:txBody>
      </p:sp>
      <p:sp>
        <p:nvSpPr>
          <p:cNvPr id="91" name="Text 89"/>
          <p:cNvSpPr txBox="1"/>
          <p:nvPr/>
        </p:nvSpPr>
        <p:spPr>
          <a:xfrm>
            <a:off x="4974336" y="4801138"/>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−1.2 pts</a:t>
            </a:r>
            <a:endParaRPr lang="en-US" sz="1300" dirty="0"/>
          </a:p>
        </p:txBody>
      </p:sp>
      <p:sp>
        <p:nvSpPr>
          <p:cNvPr id="92" name="Shape 90"/>
          <p:cNvSpPr/>
          <p:nvPr/>
        </p:nvSpPr>
        <p:spPr>
          <a:xfrm>
            <a:off x="585216" y="5025973"/>
            <a:ext cx="5394960" cy="224835"/>
          </a:xfrm>
          <a:prstGeom prst="rect">
            <a:avLst/>
          </a:prstGeom>
          <a:solidFill>
            <a:srgbClr val="F7F7F7"/>
          </a:solidFill>
          <a:ln/>
        </p:spPr>
      </p:sp>
      <p:sp>
        <p:nvSpPr>
          <p:cNvPr id="93" name="Text 91"/>
          <p:cNvSpPr txBox="1"/>
          <p:nvPr/>
        </p:nvSpPr>
        <p:spPr>
          <a:xfrm>
            <a:off x="658368" y="502597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94" name="Shape 92"/>
          <p:cNvSpPr/>
          <p:nvPr/>
        </p:nvSpPr>
        <p:spPr>
          <a:xfrm>
            <a:off x="3198494" y="5076561"/>
            <a:ext cx="56770" cy="123659"/>
          </a:xfrm>
          <a:prstGeom prst="rect">
            <a:avLst/>
          </a:prstGeom>
          <a:solidFill>
            <a:srgbClr val="12A566"/>
          </a:solidFill>
          <a:ln/>
        </p:spPr>
      </p:sp>
      <p:sp>
        <p:nvSpPr>
          <p:cNvPr id="95" name="Text 93"/>
          <p:cNvSpPr txBox="1"/>
          <p:nvPr/>
        </p:nvSpPr>
        <p:spPr>
          <a:xfrm>
            <a:off x="3840480" y="502597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79.3%</a:t>
            </a:r>
            <a:endParaRPr lang="en-US" sz="1300" dirty="0"/>
          </a:p>
        </p:txBody>
      </p:sp>
      <p:sp>
        <p:nvSpPr>
          <p:cNvPr id="96" name="Text 94"/>
          <p:cNvSpPr txBox="1"/>
          <p:nvPr/>
        </p:nvSpPr>
        <p:spPr>
          <a:xfrm>
            <a:off x="4407408" y="502597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77.2%</a:t>
            </a:r>
            <a:endParaRPr lang="en-US" sz="1300" dirty="0"/>
          </a:p>
        </p:txBody>
      </p:sp>
      <p:sp>
        <p:nvSpPr>
          <p:cNvPr id="97" name="Text 95"/>
          <p:cNvSpPr txBox="1"/>
          <p:nvPr/>
        </p:nvSpPr>
        <p:spPr>
          <a:xfrm>
            <a:off x="4974336" y="5025973"/>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−2.1 pts</a:t>
            </a:r>
            <a:endParaRPr lang="en-US" sz="1300" dirty="0"/>
          </a:p>
        </p:txBody>
      </p:sp>
      <p:sp>
        <p:nvSpPr>
          <p:cNvPr id="98" name="Text 96"/>
          <p:cNvSpPr txBox="1"/>
          <p:nvPr/>
        </p:nvSpPr>
        <p:spPr>
          <a:xfrm>
            <a:off x="658368" y="525080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99" name="Shape 97"/>
          <p:cNvSpPr/>
          <p:nvPr/>
        </p:nvSpPr>
        <p:spPr>
          <a:xfrm>
            <a:off x="3198327" y="5301395"/>
            <a:ext cx="56937" cy="123659"/>
          </a:xfrm>
          <a:prstGeom prst="rect">
            <a:avLst/>
          </a:prstGeom>
          <a:solidFill>
            <a:srgbClr val="12A566"/>
          </a:solidFill>
          <a:ln/>
        </p:spPr>
      </p:sp>
      <p:sp>
        <p:nvSpPr>
          <p:cNvPr id="100" name="Text 98"/>
          <p:cNvSpPr txBox="1"/>
          <p:nvPr/>
        </p:nvSpPr>
        <p:spPr>
          <a:xfrm>
            <a:off x="3840480" y="525080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78.5%</a:t>
            </a:r>
            <a:endParaRPr lang="en-US" sz="1300" dirty="0"/>
          </a:p>
        </p:txBody>
      </p:sp>
      <p:sp>
        <p:nvSpPr>
          <p:cNvPr id="101" name="Text 99"/>
          <p:cNvSpPr txBox="1"/>
          <p:nvPr/>
        </p:nvSpPr>
        <p:spPr>
          <a:xfrm>
            <a:off x="4407408" y="525080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76.4%</a:t>
            </a:r>
            <a:endParaRPr lang="en-US" sz="1300" dirty="0"/>
          </a:p>
        </p:txBody>
      </p:sp>
      <p:sp>
        <p:nvSpPr>
          <p:cNvPr id="102" name="Text 100"/>
          <p:cNvSpPr txBox="1"/>
          <p:nvPr/>
        </p:nvSpPr>
        <p:spPr>
          <a:xfrm>
            <a:off x="4974336" y="5250808"/>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−2.1 pts</a:t>
            </a:r>
            <a:endParaRPr lang="en-US" sz="1300" dirty="0"/>
          </a:p>
        </p:txBody>
      </p:sp>
      <p:sp>
        <p:nvSpPr>
          <p:cNvPr id="103" name="Shape 101"/>
          <p:cNvSpPr/>
          <p:nvPr/>
        </p:nvSpPr>
        <p:spPr>
          <a:xfrm>
            <a:off x="585216" y="5475642"/>
            <a:ext cx="5394960" cy="224835"/>
          </a:xfrm>
          <a:prstGeom prst="rect">
            <a:avLst/>
          </a:prstGeom>
          <a:solidFill>
            <a:srgbClr val="F7F7F7"/>
          </a:solidFill>
          <a:ln/>
        </p:spPr>
      </p:sp>
      <p:sp>
        <p:nvSpPr>
          <p:cNvPr id="104" name="Text 102"/>
          <p:cNvSpPr txBox="1"/>
          <p:nvPr/>
        </p:nvSpPr>
        <p:spPr>
          <a:xfrm>
            <a:off x="658368" y="5475642"/>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05" name="Shape 103"/>
          <p:cNvSpPr/>
          <p:nvPr/>
        </p:nvSpPr>
        <p:spPr>
          <a:xfrm>
            <a:off x="3197693" y="5526230"/>
            <a:ext cx="57571" cy="123659"/>
          </a:xfrm>
          <a:prstGeom prst="rect">
            <a:avLst/>
          </a:prstGeom>
          <a:solidFill>
            <a:srgbClr val="12A566"/>
          </a:solidFill>
          <a:ln/>
        </p:spPr>
      </p:sp>
      <p:sp>
        <p:nvSpPr>
          <p:cNvPr id="106" name="Text 104"/>
          <p:cNvSpPr txBox="1"/>
          <p:nvPr/>
        </p:nvSpPr>
        <p:spPr>
          <a:xfrm>
            <a:off x="3840480" y="5475642"/>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84.4%</a:t>
            </a:r>
            <a:endParaRPr lang="en-US" sz="1300" dirty="0"/>
          </a:p>
        </p:txBody>
      </p:sp>
      <p:sp>
        <p:nvSpPr>
          <p:cNvPr id="107" name="Text 105"/>
          <p:cNvSpPr txBox="1"/>
          <p:nvPr/>
        </p:nvSpPr>
        <p:spPr>
          <a:xfrm>
            <a:off x="4407408" y="5475642"/>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82.3%</a:t>
            </a:r>
            <a:endParaRPr lang="en-US" sz="1300" dirty="0"/>
          </a:p>
        </p:txBody>
      </p:sp>
      <p:sp>
        <p:nvSpPr>
          <p:cNvPr id="108" name="Text 106"/>
          <p:cNvSpPr txBox="1"/>
          <p:nvPr/>
        </p:nvSpPr>
        <p:spPr>
          <a:xfrm>
            <a:off x="4974336" y="5475642"/>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−2.1 pts</a:t>
            </a:r>
            <a:endParaRPr lang="en-US" sz="1300" dirty="0"/>
          </a:p>
        </p:txBody>
      </p:sp>
      <p:sp>
        <p:nvSpPr>
          <p:cNvPr id="109" name="Text 107"/>
          <p:cNvSpPr txBox="1"/>
          <p:nvPr/>
        </p:nvSpPr>
        <p:spPr>
          <a:xfrm>
            <a:off x="658368" y="5700477"/>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10" name="Shape 108"/>
          <p:cNvSpPr/>
          <p:nvPr/>
        </p:nvSpPr>
        <p:spPr>
          <a:xfrm>
            <a:off x="3195970" y="5751065"/>
            <a:ext cx="59294" cy="123659"/>
          </a:xfrm>
          <a:prstGeom prst="rect">
            <a:avLst/>
          </a:prstGeom>
          <a:solidFill>
            <a:srgbClr val="12A566"/>
          </a:solidFill>
          <a:ln/>
        </p:spPr>
      </p:sp>
      <p:sp>
        <p:nvSpPr>
          <p:cNvPr id="111" name="Text 109"/>
          <p:cNvSpPr txBox="1"/>
          <p:nvPr/>
        </p:nvSpPr>
        <p:spPr>
          <a:xfrm>
            <a:off x="3840480" y="5700477"/>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73.9%</a:t>
            </a:r>
            <a:endParaRPr lang="en-US" sz="1300" dirty="0"/>
          </a:p>
        </p:txBody>
      </p:sp>
      <p:sp>
        <p:nvSpPr>
          <p:cNvPr id="112" name="Text 110"/>
          <p:cNvSpPr txBox="1"/>
          <p:nvPr/>
        </p:nvSpPr>
        <p:spPr>
          <a:xfrm>
            <a:off x="4407408" y="5700477"/>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71.7%</a:t>
            </a:r>
            <a:endParaRPr lang="en-US" sz="1300" dirty="0"/>
          </a:p>
        </p:txBody>
      </p:sp>
      <p:sp>
        <p:nvSpPr>
          <p:cNvPr id="113" name="Text 111"/>
          <p:cNvSpPr txBox="1"/>
          <p:nvPr/>
        </p:nvSpPr>
        <p:spPr>
          <a:xfrm>
            <a:off x="4974336" y="5700477"/>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−2.2 pts</a:t>
            </a:r>
            <a:endParaRPr lang="en-US" sz="1300" dirty="0"/>
          </a:p>
        </p:txBody>
      </p:sp>
      <p:sp>
        <p:nvSpPr>
          <p:cNvPr id="114" name="Text 112"/>
          <p:cNvSpPr txBox="1"/>
          <p:nvPr/>
        </p:nvSpPr>
        <p:spPr>
          <a:xfrm>
            <a:off x="6208776" y="210312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15" name="Shape 113"/>
          <p:cNvSpPr/>
          <p:nvPr/>
        </p:nvSpPr>
        <p:spPr>
          <a:xfrm>
            <a:off x="8734848" y="2153708"/>
            <a:ext cx="70824" cy="123659"/>
          </a:xfrm>
          <a:prstGeom prst="rect">
            <a:avLst/>
          </a:prstGeom>
          <a:solidFill>
            <a:srgbClr val="12A566"/>
          </a:solidFill>
          <a:ln/>
        </p:spPr>
      </p:sp>
      <p:sp>
        <p:nvSpPr>
          <p:cNvPr id="116" name="Text 114"/>
          <p:cNvSpPr txBox="1"/>
          <p:nvPr/>
        </p:nvSpPr>
        <p:spPr>
          <a:xfrm>
            <a:off x="9390888" y="210312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78.6%</a:t>
            </a:r>
            <a:endParaRPr lang="en-US" sz="1300" dirty="0"/>
          </a:p>
        </p:txBody>
      </p:sp>
      <p:sp>
        <p:nvSpPr>
          <p:cNvPr id="117" name="Text 115"/>
          <p:cNvSpPr txBox="1"/>
          <p:nvPr/>
        </p:nvSpPr>
        <p:spPr>
          <a:xfrm>
            <a:off x="9957816" y="210312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76.0%</a:t>
            </a:r>
            <a:endParaRPr lang="en-US" sz="1300" dirty="0"/>
          </a:p>
        </p:txBody>
      </p:sp>
      <p:sp>
        <p:nvSpPr>
          <p:cNvPr id="118" name="Text 116"/>
          <p:cNvSpPr txBox="1"/>
          <p:nvPr/>
        </p:nvSpPr>
        <p:spPr>
          <a:xfrm>
            <a:off x="10524744" y="210312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−2.6 pts</a:t>
            </a:r>
            <a:endParaRPr lang="en-US" sz="1300" dirty="0"/>
          </a:p>
        </p:txBody>
      </p:sp>
      <p:sp>
        <p:nvSpPr>
          <p:cNvPr id="119" name="Shape 117"/>
          <p:cNvSpPr/>
          <p:nvPr/>
        </p:nvSpPr>
        <p:spPr>
          <a:xfrm>
            <a:off x="6135624" y="2327955"/>
            <a:ext cx="5394960" cy="224835"/>
          </a:xfrm>
          <a:prstGeom prst="rect">
            <a:avLst/>
          </a:prstGeom>
          <a:solidFill>
            <a:srgbClr val="F7F7F7"/>
          </a:solidFill>
          <a:ln/>
        </p:spPr>
      </p:sp>
      <p:sp>
        <p:nvSpPr>
          <p:cNvPr id="120" name="Text 118"/>
          <p:cNvSpPr txBox="1"/>
          <p:nvPr/>
        </p:nvSpPr>
        <p:spPr>
          <a:xfrm>
            <a:off x="6208776" y="2327955"/>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21" name="Shape 119"/>
          <p:cNvSpPr/>
          <p:nvPr/>
        </p:nvSpPr>
        <p:spPr>
          <a:xfrm>
            <a:off x="8730906" y="2378543"/>
            <a:ext cx="74766" cy="123659"/>
          </a:xfrm>
          <a:prstGeom prst="rect">
            <a:avLst/>
          </a:prstGeom>
          <a:solidFill>
            <a:srgbClr val="C2352F"/>
          </a:solidFill>
          <a:ln/>
        </p:spPr>
      </p:sp>
      <p:sp>
        <p:nvSpPr>
          <p:cNvPr id="122" name="Text 120"/>
          <p:cNvSpPr txBox="1"/>
          <p:nvPr/>
        </p:nvSpPr>
        <p:spPr>
          <a:xfrm>
            <a:off x="9390888" y="2327955"/>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85.0%</a:t>
            </a:r>
            <a:endParaRPr lang="en-US" sz="1300" dirty="0"/>
          </a:p>
        </p:txBody>
      </p:sp>
      <p:sp>
        <p:nvSpPr>
          <p:cNvPr id="123" name="Text 121"/>
          <p:cNvSpPr txBox="1"/>
          <p:nvPr/>
        </p:nvSpPr>
        <p:spPr>
          <a:xfrm>
            <a:off x="9957816" y="2327955"/>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82.2%</a:t>
            </a:r>
            <a:endParaRPr lang="en-US" sz="1300" dirty="0"/>
          </a:p>
        </p:txBody>
      </p:sp>
      <p:sp>
        <p:nvSpPr>
          <p:cNvPr id="124" name="Text 122"/>
          <p:cNvSpPr txBox="1"/>
          <p:nvPr/>
        </p:nvSpPr>
        <p:spPr>
          <a:xfrm>
            <a:off x="10524744" y="2327955"/>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−2.8 pts</a:t>
            </a:r>
            <a:endParaRPr lang="en-US" sz="1300" dirty="0"/>
          </a:p>
        </p:txBody>
      </p:sp>
      <p:sp>
        <p:nvSpPr>
          <p:cNvPr id="125" name="Text 123"/>
          <p:cNvSpPr txBox="1"/>
          <p:nvPr/>
        </p:nvSpPr>
        <p:spPr>
          <a:xfrm>
            <a:off x="6208776" y="255279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26" name="Shape 124"/>
          <p:cNvSpPr/>
          <p:nvPr/>
        </p:nvSpPr>
        <p:spPr>
          <a:xfrm>
            <a:off x="8716961" y="2603377"/>
            <a:ext cx="88711" cy="123659"/>
          </a:xfrm>
          <a:prstGeom prst="rect">
            <a:avLst/>
          </a:prstGeom>
          <a:solidFill>
            <a:srgbClr val="C2352F"/>
          </a:solidFill>
          <a:ln/>
        </p:spPr>
      </p:sp>
      <p:sp>
        <p:nvSpPr>
          <p:cNvPr id="127" name="Text 125"/>
          <p:cNvSpPr txBox="1"/>
          <p:nvPr/>
        </p:nvSpPr>
        <p:spPr>
          <a:xfrm>
            <a:off x="9390888" y="255279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75.7%</a:t>
            </a:r>
            <a:endParaRPr lang="en-US" sz="1300" dirty="0"/>
          </a:p>
        </p:txBody>
      </p:sp>
      <p:sp>
        <p:nvSpPr>
          <p:cNvPr id="128" name="Text 126"/>
          <p:cNvSpPr txBox="1"/>
          <p:nvPr/>
        </p:nvSpPr>
        <p:spPr>
          <a:xfrm>
            <a:off x="9957816" y="255279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72.4%</a:t>
            </a:r>
            <a:endParaRPr lang="en-US" sz="1300" dirty="0"/>
          </a:p>
        </p:txBody>
      </p:sp>
      <p:sp>
        <p:nvSpPr>
          <p:cNvPr id="129" name="Text 127"/>
          <p:cNvSpPr txBox="1"/>
          <p:nvPr/>
        </p:nvSpPr>
        <p:spPr>
          <a:xfrm>
            <a:off x="10524744" y="2552790"/>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−3.3 pts</a:t>
            </a:r>
            <a:endParaRPr lang="en-US" sz="1300" dirty="0"/>
          </a:p>
        </p:txBody>
      </p:sp>
      <p:sp>
        <p:nvSpPr>
          <p:cNvPr id="130" name="Shape 128"/>
          <p:cNvSpPr/>
          <p:nvPr/>
        </p:nvSpPr>
        <p:spPr>
          <a:xfrm>
            <a:off x="6135624" y="2777624"/>
            <a:ext cx="5394960" cy="224835"/>
          </a:xfrm>
          <a:prstGeom prst="rect">
            <a:avLst/>
          </a:prstGeom>
          <a:solidFill>
            <a:srgbClr val="F7F7F7"/>
          </a:solidFill>
          <a:ln/>
        </p:spPr>
      </p:sp>
      <p:sp>
        <p:nvSpPr>
          <p:cNvPr id="131" name="Text 129"/>
          <p:cNvSpPr txBox="1"/>
          <p:nvPr/>
        </p:nvSpPr>
        <p:spPr>
          <a:xfrm>
            <a:off x="6208776" y="277762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32" name="Shape 130"/>
          <p:cNvSpPr/>
          <p:nvPr/>
        </p:nvSpPr>
        <p:spPr>
          <a:xfrm>
            <a:off x="8711353" y="2828212"/>
            <a:ext cx="94319" cy="123659"/>
          </a:xfrm>
          <a:prstGeom prst="rect">
            <a:avLst/>
          </a:prstGeom>
          <a:solidFill>
            <a:srgbClr val="C2352F"/>
          </a:solidFill>
          <a:ln/>
        </p:spPr>
      </p:sp>
      <p:sp>
        <p:nvSpPr>
          <p:cNvPr id="133" name="Text 131"/>
          <p:cNvSpPr txBox="1"/>
          <p:nvPr/>
        </p:nvSpPr>
        <p:spPr>
          <a:xfrm>
            <a:off x="9390888" y="277762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84.3%</a:t>
            </a:r>
            <a:endParaRPr lang="en-US" sz="1300" dirty="0"/>
          </a:p>
        </p:txBody>
      </p:sp>
      <p:sp>
        <p:nvSpPr>
          <p:cNvPr id="134" name="Text 132"/>
          <p:cNvSpPr txBox="1"/>
          <p:nvPr/>
        </p:nvSpPr>
        <p:spPr>
          <a:xfrm>
            <a:off x="9957816" y="277762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80.8%</a:t>
            </a:r>
            <a:endParaRPr lang="en-US" sz="1300" dirty="0"/>
          </a:p>
        </p:txBody>
      </p:sp>
      <p:sp>
        <p:nvSpPr>
          <p:cNvPr id="135" name="Text 133"/>
          <p:cNvSpPr txBox="1"/>
          <p:nvPr/>
        </p:nvSpPr>
        <p:spPr>
          <a:xfrm>
            <a:off x="10524744" y="277762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−3.5 pts</a:t>
            </a:r>
            <a:endParaRPr lang="en-US" sz="1300" dirty="0"/>
          </a:p>
        </p:txBody>
      </p:sp>
      <p:sp>
        <p:nvSpPr>
          <p:cNvPr id="136" name="Text 134"/>
          <p:cNvSpPr txBox="1"/>
          <p:nvPr/>
        </p:nvSpPr>
        <p:spPr>
          <a:xfrm>
            <a:off x="6208776" y="300245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37" name="Shape 135"/>
          <p:cNvSpPr/>
          <p:nvPr/>
        </p:nvSpPr>
        <p:spPr>
          <a:xfrm>
            <a:off x="8703971" y="3053047"/>
            <a:ext cx="101701" cy="123659"/>
          </a:xfrm>
          <a:prstGeom prst="rect">
            <a:avLst/>
          </a:prstGeom>
          <a:solidFill>
            <a:srgbClr val="C2352F"/>
          </a:solidFill>
          <a:ln/>
        </p:spPr>
      </p:sp>
      <p:sp>
        <p:nvSpPr>
          <p:cNvPr id="138" name="Text 136"/>
          <p:cNvSpPr txBox="1"/>
          <p:nvPr/>
        </p:nvSpPr>
        <p:spPr>
          <a:xfrm>
            <a:off x="9390888" y="300245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88.6%</a:t>
            </a:r>
            <a:endParaRPr lang="en-US" sz="1300" dirty="0"/>
          </a:p>
        </p:txBody>
      </p:sp>
      <p:sp>
        <p:nvSpPr>
          <p:cNvPr id="139" name="Text 137"/>
          <p:cNvSpPr txBox="1"/>
          <p:nvPr/>
        </p:nvSpPr>
        <p:spPr>
          <a:xfrm>
            <a:off x="9957816" y="300245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84.8%</a:t>
            </a:r>
            <a:endParaRPr lang="en-US" sz="1300" dirty="0"/>
          </a:p>
        </p:txBody>
      </p:sp>
      <p:sp>
        <p:nvSpPr>
          <p:cNvPr id="140" name="Text 138"/>
          <p:cNvSpPr txBox="1"/>
          <p:nvPr/>
        </p:nvSpPr>
        <p:spPr>
          <a:xfrm>
            <a:off x="10524744" y="300245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 pts</a:t>
            </a:r>
            <a:endParaRPr lang="en-US" sz="1300" dirty="0"/>
          </a:p>
        </p:txBody>
      </p:sp>
      <p:sp>
        <p:nvSpPr>
          <p:cNvPr id="141" name="Shape 139"/>
          <p:cNvSpPr/>
          <p:nvPr/>
        </p:nvSpPr>
        <p:spPr>
          <a:xfrm>
            <a:off x="6135624" y="3227294"/>
            <a:ext cx="5394960" cy="224835"/>
          </a:xfrm>
          <a:prstGeom prst="rect">
            <a:avLst/>
          </a:prstGeom>
          <a:solidFill>
            <a:srgbClr val="F7F7F7"/>
          </a:solidFill>
          <a:ln/>
        </p:spPr>
      </p:sp>
      <p:sp>
        <p:nvSpPr>
          <p:cNvPr id="142" name="Text 140"/>
          <p:cNvSpPr txBox="1"/>
          <p:nvPr/>
        </p:nvSpPr>
        <p:spPr>
          <a:xfrm>
            <a:off x="6208776" y="322729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43" name="Shape 141"/>
          <p:cNvSpPr/>
          <p:nvPr/>
        </p:nvSpPr>
        <p:spPr>
          <a:xfrm>
            <a:off x="8701890" y="3277882"/>
            <a:ext cx="103782" cy="123659"/>
          </a:xfrm>
          <a:prstGeom prst="rect">
            <a:avLst/>
          </a:prstGeom>
          <a:solidFill>
            <a:srgbClr val="C2352F"/>
          </a:solidFill>
          <a:ln/>
        </p:spPr>
      </p:sp>
      <p:sp>
        <p:nvSpPr>
          <p:cNvPr id="144" name="Text 142"/>
          <p:cNvSpPr txBox="1"/>
          <p:nvPr/>
        </p:nvSpPr>
        <p:spPr>
          <a:xfrm>
            <a:off x="9390888" y="322729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79.5%</a:t>
            </a:r>
            <a:endParaRPr lang="en-US" sz="1300" dirty="0"/>
          </a:p>
        </p:txBody>
      </p:sp>
      <p:sp>
        <p:nvSpPr>
          <p:cNvPr id="145" name="Text 143"/>
          <p:cNvSpPr txBox="1"/>
          <p:nvPr/>
        </p:nvSpPr>
        <p:spPr>
          <a:xfrm>
            <a:off x="9957816" y="322729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75.7%</a:t>
            </a:r>
            <a:endParaRPr lang="en-US" sz="1300" dirty="0"/>
          </a:p>
        </p:txBody>
      </p:sp>
      <p:sp>
        <p:nvSpPr>
          <p:cNvPr id="146" name="Text 144"/>
          <p:cNvSpPr txBox="1"/>
          <p:nvPr/>
        </p:nvSpPr>
        <p:spPr>
          <a:xfrm>
            <a:off x="10524744" y="322729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 pts</a:t>
            </a:r>
            <a:endParaRPr lang="en-US" sz="1300" dirty="0"/>
          </a:p>
        </p:txBody>
      </p:sp>
      <p:sp>
        <p:nvSpPr>
          <p:cNvPr id="147" name="Text 145"/>
          <p:cNvSpPr txBox="1"/>
          <p:nvPr/>
        </p:nvSpPr>
        <p:spPr>
          <a:xfrm>
            <a:off x="6208776" y="345212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48" name="Shape 146"/>
          <p:cNvSpPr/>
          <p:nvPr/>
        </p:nvSpPr>
        <p:spPr>
          <a:xfrm>
            <a:off x="8679444" y="3502717"/>
            <a:ext cx="126228" cy="123659"/>
          </a:xfrm>
          <a:prstGeom prst="rect">
            <a:avLst/>
          </a:prstGeom>
          <a:solidFill>
            <a:srgbClr val="C2352F"/>
          </a:solidFill>
          <a:ln/>
        </p:spPr>
      </p:sp>
      <p:sp>
        <p:nvSpPr>
          <p:cNvPr id="149" name="Text 147"/>
          <p:cNvSpPr txBox="1"/>
          <p:nvPr/>
        </p:nvSpPr>
        <p:spPr>
          <a:xfrm>
            <a:off x="9390888" y="345212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84.4%</a:t>
            </a:r>
            <a:endParaRPr lang="en-US" sz="1300" dirty="0"/>
          </a:p>
        </p:txBody>
      </p:sp>
      <p:sp>
        <p:nvSpPr>
          <p:cNvPr id="150" name="Text 148"/>
          <p:cNvSpPr txBox="1"/>
          <p:nvPr/>
        </p:nvSpPr>
        <p:spPr>
          <a:xfrm>
            <a:off x="9957816" y="345212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79.7%</a:t>
            </a:r>
            <a:endParaRPr lang="en-US" sz="1300" dirty="0"/>
          </a:p>
        </p:txBody>
      </p:sp>
      <p:sp>
        <p:nvSpPr>
          <p:cNvPr id="151" name="Text 149"/>
          <p:cNvSpPr txBox="1"/>
          <p:nvPr/>
        </p:nvSpPr>
        <p:spPr>
          <a:xfrm>
            <a:off x="10524744" y="345212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−4.7 pts</a:t>
            </a:r>
            <a:endParaRPr lang="en-US" sz="1300" dirty="0"/>
          </a:p>
        </p:txBody>
      </p:sp>
      <p:sp>
        <p:nvSpPr>
          <p:cNvPr id="152" name="Shape 150"/>
          <p:cNvSpPr/>
          <p:nvPr/>
        </p:nvSpPr>
        <p:spPr>
          <a:xfrm>
            <a:off x="6135624" y="3676964"/>
            <a:ext cx="5394960" cy="224835"/>
          </a:xfrm>
          <a:prstGeom prst="rect">
            <a:avLst/>
          </a:prstGeom>
          <a:solidFill>
            <a:srgbClr val="F7F7F7"/>
          </a:solidFill>
          <a:ln/>
        </p:spPr>
      </p:sp>
      <p:sp>
        <p:nvSpPr>
          <p:cNvPr id="153" name="Text 151"/>
          <p:cNvSpPr txBox="1"/>
          <p:nvPr/>
        </p:nvSpPr>
        <p:spPr>
          <a:xfrm>
            <a:off x="6208776" y="367696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54" name="Shape 152"/>
          <p:cNvSpPr/>
          <p:nvPr/>
        </p:nvSpPr>
        <p:spPr>
          <a:xfrm>
            <a:off x="8672194" y="3727552"/>
            <a:ext cx="133478" cy="123659"/>
          </a:xfrm>
          <a:prstGeom prst="rect">
            <a:avLst/>
          </a:prstGeom>
          <a:solidFill>
            <a:srgbClr val="C2352F"/>
          </a:solidFill>
          <a:ln/>
        </p:spPr>
      </p:sp>
      <p:sp>
        <p:nvSpPr>
          <p:cNvPr id="155" name="Text 153"/>
          <p:cNvSpPr txBox="1"/>
          <p:nvPr/>
        </p:nvSpPr>
        <p:spPr>
          <a:xfrm>
            <a:off x="9390888" y="367696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79.1%</a:t>
            </a:r>
            <a:endParaRPr lang="en-US" sz="1300" dirty="0"/>
          </a:p>
        </p:txBody>
      </p:sp>
      <p:sp>
        <p:nvSpPr>
          <p:cNvPr id="156" name="Text 154"/>
          <p:cNvSpPr txBox="1"/>
          <p:nvPr/>
        </p:nvSpPr>
        <p:spPr>
          <a:xfrm>
            <a:off x="9957816" y="367696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74.2%</a:t>
            </a:r>
            <a:endParaRPr lang="en-US" sz="1300" dirty="0"/>
          </a:p>
        </p:txBody>
      </p:sp>
      <p:sp>
        <p:nvSpPr>
          <p:cNvPr id="157" name="Text 155"/>
          <p:cNvSpPr txBox="1"/>
          <p:nvPr/>
        </p:nvSpPr>
        <p:spPr>
          <a:xfrm>
            <a:off x="10524744" y="367696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−4.9 pts</a:t>
            </a:r>
            <a:endParaRPr lang="en-US" sz="1300" dirty="0"/>
          </a:p>
        </p:txBody>
      </p:sp>
      <p:sp>
        <p:nvSpPr>
          <p:cNvPr id="158" name="Text 156"/>
          <p:cNvSpPr txBox="1"/>
          <p:nvPr/>
        </p:nvSpPr>
        <p:spPr>
          <a:xfrm>
            <a:off x="6208776" y="390179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159" name="Shape 157"/>
          <p:cNvSpPr/>
          <p:nvPr/>
        </p:nvSpPr>
        <p:spPr>
          <a:xfrm>
            <a:off x="8624168" y="3952386"/>
            <a:ext cx="181504" cy="123659"/>
          </a:xfrm>
          <a:prstGeom prst="rect">
            <a:avLst/>
          </a:prstGeom>
          <a:solidFill>
            <a:srgbClr val="C2352F"/>
          </a:solidFill>
          <a:ln/>
        </p:spPr>
      </p:sp>
      <p:sp>
        <p:nvSpPr>
          <p:cNvPr id="160" name="Text 158"/>
          <p:cNvSpPr txBox="1"/>
          <p:nvPr/>
        </p:nvSpPr>
        <p:spPr>
          <a:xfrm>
            <a:off x="9390888" y="390179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82.0%</a:t>
            </a:r>
            <a:endParaRPr lang="en-US" sz="1300" dirty="0"/>
          </a:p>
        </p:txBody>
      </p:sp>
      <p:sp>
        <p:nvSpPr>
          <p:cNvPr id="161" name="Text 159"/>
          <p:cNvSpPr txBox="1"/>
          <p:nvPr/>
        </p:nvSpPr>
        <p:spPr>
          <a:xfrm>
            <a:off x="9957816" y="390179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75.2%</a:t>
            </a:r>
            <a:endParaRPr lang="en-US" sz="1300" dirty="0"/>
          </a:p>
        </p:txBody>
      </p:sp>
      <p:sp>
        <p:nvSpPr>
          <p:cNvPr id="162" name="Text 160"/>
          <p:cNvSpPr txBox="1"/>
          <p:nvPr/>
        </p:nvSpPr>
        <p:spPr>
          <a:xfrm>
            <a:off x="10524744" y="390179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−6.7 pts</a:t>
            </a:r>
            <a:endParaRPr lang="en-US" sz="1300" dirty="0"/>
          </a:p>
        </p:txBody>
      </p:sp>
      <p:sp>
        <p:nvSpPr>
          <p:cNvPr id="163" name="Shape 161"/>
          <p:cNvSpPr/>
          <p:nvPr/>
        </p:nvSpPr>
        <p:spPr>
          <a:xfrm>
            <a:off x="6135624" y="4126633"/>
            <a:ext cx="5394960" cy="224835"/>
          </a:xfrm>
          <a:prstGeom prst="rect">
            <a:avLst/>
          </a:prstGeom>
          <a:solidFill>
            <a:srgbClr val="F7F7F7"/>
          </a:solidFill>
          <a:ln/>
        </p:spPr>
      </p:sp>
      <p:sp>
        <p:nvSpPr>
          <p:cNvPr id="164" name="Text 162"/>
          <p:cNvSpPr txBox="1"/>
          <p:nvPr/>
        </p:nvSpPr>
        <p:spPr>
          <a:xfrm>
            <a:off x="6208776" y="412663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65" name="Shape 163"/>
          <p:cNvSpPr/>
          <p:nvPr/>
        </p:nvSpPr>
        <p:spPr>
          <a:xfrm>
            <a:off x="8616775" y="4177221"/>
            <a:ext cx="188897" cy="123659"/>
          </a:xfrm>
          <a:prstGeom prst="rect">
            <a:avLst/>
          </a:prstGeom>
          <a:solidFill>
            <a:srgbClr val="C2352F"/>
          </a:solidFill>
          <a:ln/>
        </p:spPr>
      </p:sp>
      <p:sp>
        <p:nvSpPr>
          <p:cNvPr id="166" name="Text 164"/>
          <p:cNvSpPr txBox="1"/>
          <p:nvPr/>
        </p:nvSpPr>
        <p:spPr>
          <a:xfrm>
            <a:off x="9390888" y="412663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86.0%</a:t>
            </a:r>
            <a:endParaRPr lang="en-US" sz="1300" dirty="0"/>
          </a:p>
        </p:txBody>
      </p:sp>
      <p:sp>
        <p:nvSpPr>
          <p:cNvPr id="167" name="Text 165"/>
          <p:cNvSpPr txBox="1"/>
          <p:nvPr/>
        </p:nvSpPr>
        <p:spPr>
          <a:xfrm>
            <a:off x="9957816" y="412663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79.0%</a:t>
            </a:r>
            <a:endParaRPr lang="en-US" sz="1300" dirty="0"/>
          </a:p>
        </p:txBody>
      </p:sp>
      <p:sp>
        <p:nvSpPr>
          <p:cNvPr id="168" name="Text 166"/>
          <p:cNvSpPr txBox="1"/>
          <p:nvPr/>
        </p:nvSpPr>
        <p:spPr>
          <a:xfrm>
            <a:off x="10524744" y="412663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−7.0 pts</a:t>
            </a:r>
            <a:endParaRPr lang="en-US" sz="1300" dirty="0"/>
          </a:p>
        </p:txBody>
      </p:sp>
      <p:sp>
        <p:nvSpPr>
          <p:cNvPr id="169" name="Text 167"/>
          <p:cNvSpPr txBox="1"/>
          <p:nvPr/>
        </p:nvSpPr>
        <p:spPr>
          <a:xfrm>
            <a:off x="6208776" y="435146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70" name="Shape 168"/>
          <p:cNvSpPr/>
          <p:nvPr/>
        </p:nvSpPr>
        <p:spPr>
          <a:xfrm>
            <a:off x="8590345" y="4402056"/>
            <a:ext cx="215327" cy="123659"/>
          </a:xfrm>
          <a:prstGeom prst="rect">
            <a:avLst/>
          </a:prstGeom>
          <a:solidFill>
            <a:srgbClr val="C2352F"/>
          </a:solidFill>
          <a:ln/>
        </p:spPr>
      </p:sp>
      <p:sp>
        <p:nvSpPr>
          <p:cNvPr id="171" name="Text 169"/>
          <p:cNvSpPr txBox="1"/>
          <p:nvPr/>
        </p:nvSpPr>
        <p:spPr>
          <a:xfrm>
            <a:off x="9390888" y="435146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83.5%</a:t>
            </a:r>
            <a:endParaRPr lang="en-US" sz="1300" dirty="0"/>
          </a:p>
        </p:txBody>
      </p:sp>
      <p:sp>
        <p:nvSpPr>
          <p:cNvPr id="172" name="Text 170"/>
          <p:cNvSpPr txBox="1"/>
          <p:nvPr/>
        </p:nvSpPr>
        <p:spPr>
          <a:xfrm>
            <a:off x="9957816" y="435146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75.5%</a:t>
            </a:r>
            <a:endParaRPr lang="en-US" sz="1300" dirty="0"/>
          </a:p>
        </p:txBody>
      </p:sp>
      <p:sp>
        <p:nvSpPr>
          <p:cNvPr id="173" name="Text 171"/>
          <p:cNvSpPr txBox="1"/>
          <p:nvPr/>
        </p:nvSpPr>
        <p:spPr>
          <a:xfrm>
            <a:off x="10524744" y="435146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 pts</a:t>
            </a:r>
            <a:endParaRPr lang="en-US" sz="1300" dirty="0"/>
          </a:p>
        </p:txBody>
      </p:sp>
      <p:sp>
        <p:nvSpPr>
          <p:cNvPr id="174" name="Shape 172"/>
          <p:cNvSpPr/>
          <p:nvPr/>
        </p:nvSpPr>
        <p:spPr>
          <a:xfrm>
            <a:off x="6135624" y="4576303"/>
            <a:ext cx="5394960" cy="224835"/>
          </a:xfrm>
          <a:prstGeom prst="rect">
            <a:avLst/>
          </a:prstGeom>
          <a:solidFill>
            <a:srgbClr val="F7F7F7"/>
          </a:solidFill>
          <a:ln/>
        </p:spPr>
      </p:sp>
      <p:sp>
        <p:nvSpPr>
          <p:cNvPr id="175" name="Text 173"/>
          <p:cNvSpPr txBox="1"/>
          <p:nvPr/>
        </p:nvSpPr>
        <p:spPr>
          <a:xfrm>
            <a:off x="6208776" y="457630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76" name="Shape 174"/>
          <p:cNvSpPr/>
          <p:nvPr/>
        </p:nvSpPr>
        <p:spPr>
          <a:xfrm>
            <a:off x="8562958" y="4626891"/>
            <a:ext cx="242714" cy="123659"/>
          </a:xfrm>
          <a:prstGeom prst="rect">
            <a:avLst/>
          </a:prstGeom>
          <a:solidFill>
            <a:srgbClr val="C2352F"/>
          </a:solidFill>
          <a:ln/>
        </p:spPr>
      </p:sp>
      <p:sp>
        <p:nvSpPr>
          <p:cNvPr id="177" name="Text 175"/>
          <p:cNvSpPr txBox="1"/>
          <p:nvPr/>
        </p:nvSpPr>
        <p:spPr>
          <a:xfrm>
            <a:off x="9390888" y="457630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77.8%</a:t>
            </a:r>
            <a:endParaRPr lang="en-US" sz="1300" dirty="0"/>
          </a:p>
        </p:txBody>
      </p:sp>
      <p:sp>
        <p:nvSpPr>
          <p:cNvPr id="178" name="Text 176"/>
          <p:cNvSpPr txBox="1"/>
          <p:nvPr/>
        </p:nvSpPr>
        <p:spPr>
          <a:xfrm>
            <a:off x="9957816" y="457630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68.8%</a:t>
            </a:r>
            <a:endParaRPr lang="en-US" sz="1300" dirty="0"/>
          </a:p>
        </p:txBody>
      </p:sp>
      <p:sp>
        <p:nvSpPr>
          <p:cNvPr id="179" name="Text 177"/>
          <p:cNvSpPr txBox="1"/>
          <p:nvPr/>
        </p:nvSpPr>
        <p:spPr>
          <a:xfrm>
            <a:off x="10524744" y="457630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−9.0 pts</a:t>
            </a:r>
            <a:endParaRPr lang="en-US" sz="1300" dirty="0"/>
          </a:p>
        </p:txBody>
      </p:sp>
      <p:sp>
        <p:nvSpPr>
          <p:cNvPr id="180" name="Text 178"/>
          <p:cNvSpPr txBox="1"/>
          <p:nvPr/>
        </p:nvSpPr>
        <p:spPr>
          <a:xfrm>
            <a:off x="6208776" y="480113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81" name="Shape 179"/>
          <p:cNvSpPr/>
          <p:nvPr/>
        </p:nvSpPr>
        <p:spPr>
          <a:xfrm>
            <a:off x="8514572" y="4851726"/>
            <a:ext cx="291100" cy="123659"/>
          </a:xfrm>
          <a:prstGeom prst="rect">
            <a:avLst/>
          </a:prstGeom>
          <a:solidFill>
            <a:srgbClr val="C2352F"/>
          </a:solidFill>
          <a:ln/>
        </p:spPr>
      </p:sp>
      <p:sp>
        <p:nvSpPr>
          <p:cNvPr id="182" name="Text 180"/>
          <p:cNvSpPr txBox="1"/>
          <p:nvPr/>
        </p:nvSpPr>
        <p:spPr>
          <a:xfrm>
            <a:off x="9390888" y="480113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78.5%</a:t>
            </a:r>
            <a:endParaRPr lang="en-US" sz="1300" dirty="0"/>
          </a:p>
        </p:txBody>
      </p:sp>
      <p:sp>
        <p:nvSpPr>
          <p:cNvPr id="183" name="Text 181"/>
          <p:cNvSpPr txBox="1"/>
          <p:nvPr/>
        </p:nvSpPr>
        <p:spPr>
          <a:xfrm>
            <a:off x="9957816" y="480113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67.8%</a:t>
            </a:r>
            <a:endParaRPr lang="en-US" sz="1300" dirty="0"/>
          </a:p>
        </p:txBody>
      </p:sp>
      <p:sp>
        <p:nvSpPr>
          <p:cNvPr id="184" name="Text 182"/>
          <p:cNvSpPr txBox="1"/>
          <p:nvPr/>
        </p:nvSpPr>
        <p:spPr>
          <a:xfrm>
            <a:off x="10524744" y="480113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−10.8 pts</a:t>
            </a:r>
            <a:endParaRPr lang="en-US" sz="1300" dirty="0"/>
          </a:p>
        </p:txBody>
      </p:sp>
      <p:sp>
        <p:nvSpPr>
          <p:cNvPr id="185" name="Shape 183"/>
          <p:cNvSpPr/>
          <p:nvPr/>
        </p:nvSpPr>
        <p:spPr>
          <a:xfrm>
            <a:off x="6135624" y="5025973"/>
            <a:ext cx="5394960" cy="224835"/>
          </a:xfrm>
          <a:prstGeom prst="rect">
            <a:avLst/>
          </a:prstGeom>
          <a:solidFill>
            <a:srgbClr val="F7F7F7"/>
          </a:solidFill>
          <a:ln/>
        </p:spPr>
      </p:sp>
      <p:sp>
        <p:nvSpPr>
          <p:cNvPr id="186" name="Text 184"/>
          <p:cNvSpPr txBox="1"/>
          <p:nvPr/>
        </p:nvSpPr>
        <p:spPr>
          <a:xfrm>
            <a:off x="6208776" y="502597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87" name="Shape 185"/>
          <p:cNvSpPr/>
          <p:nvPr/>
        </p:nvSpPr>
        <p:spPr>
          <a:xfrm>
            <a:off x="8475849" y="5076561"/>
            <a:ext cx="329823" cy="123659"/>
          </a:xfrm>
          <a:prstGeom prst="rect">
            <a:avLst/>
          </a:prstGeom>
          <a:solidFill>
            <a:srgbClr val="C2352F"/>
          </a:solidFill>
          <a:ln/>
        </p:spPr>
      </p:sp>
      <p:sp>
        <p:nvSpPr>
          <p:cNvPr id="188" name="Text 186"/>
          <p:cNvSpPr txBox="1"/>
          <p:nvPr/>
        </p:nvSpPr>
        <p:spPr>
          <a:xfrm>
            <a:off x="9390888" y="502597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82.4%</a:t>
            </a:r>
            <a:endParaRPr lang="en-US" sz="1300" dirty="0"/>
          </a:p>
        </p:txBody>
      </p:sp>
      <p:sp>
        <p:nvSpPr>
          <p:cNvPr id="189" name="Text 187"/>
          <p:cNvSpPr txBox="1"/>
          <p:nvPr/>
        </p:nvSpPr>
        <p:spPr>
          <a:xfrm>
            <a:off x="9957816" y="502597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70.2%</a:t>
            </a:r>
            <a:endParaRPr lang="en-US" sz="1300" dirty="0"/>
          </a:p>
        </p:txBody>
      </p:sp>
      <p:sp>
        <p:nvSpPr>
          <p:cNvPr id="190" name="Text 188"/>
          <p:cNvSpPr txBox="1"/>
          <p:nvPr/>
        </p:nvSpPr>
        <p:spPr>
          <a:xfrm>
            <a:off x="10524744" y="502597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−12.2 pts</a:t>
            </a:r>
            <a:endParaRPr lang="en-US" sz="1300" dirty="0"/>
          </a:p>
        </p:txBody>
      </p:sp>
      <p:sp>
        <p:nvSpPr>
          <p:cNvPr id="191" name="Text 189"/>
          <p:cNvSpPr txBox="1"/>
          <p:nvPr/>
        </p:nvSpPr>
        <p:spPr>
          <a:xfrm>
            <a:off x="6208776" y="525080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92" name="Shape 190"/>
          <p:cNvSpPr/>
          <p:nvPr/>
        </p:nvSpPr>
        <p:spPr>
          <a:xfrm>
            <a:off x="8430963" y="5301395"/>
            <a:ext cx="374709" cy="123659"/>
          </a:xfrm>
          <a:prstGeom prst="rect">
            <a:avLst/>
          </a:prstGeom>
          <a:solidFill>
            <a:srgbClr val="C2352F"/>
          </a:solidFill>
          <a:ln/>
        </p:spPr>
      </p:sp>
      <p:sp>
        <p:nvSpPr>
          <p:cNvPr id="193" name="Text 191"/>
          <p:cNvSpPr txBox="1"/>
          <p:nvPr/>
        </p:nvSpPr>
        <p:spPr>
          <a:xfrm>
            <a:off x="9390888" y="525080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83.9%</a:t>
            </a:r>
            <a:endParaRPr lang="en-US" sz="1300" dirty="0"/>
          </a:p>
        </p:txBody>
      </p:sp>
      <p:sp>
        <p:nvSpPr>
          <p:cNvPr id="194" name="Text 192"/>
          <p:cNvSpPr txBox="1"/>
          <p:nvPr/>
        </p:nvSpPr>
        <p:spPr>
          <a:xfrm>
            <a:off x="9957816" y="525080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70.0%</a:t>
            </a:r>
            <a:endParaRPr lang="en-US" sz="1300" dirty="0"/>
          </a:p>
        </p:txBody>
      </p:sp>
      <p:sp>
        <p:nvSpPr>
          <p:cNvPr id="195" name="Text 193"/>
          <p:cNvSpPr txBox="1"/>
          <p:nvPr/>
        </p:nvSpPr>
        <p:spPr>
          <a:xfrm>
            <a:off x="10524744" y="525080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−13.9 pts</a:t>
            </a:r>
            <a:endParaRPr lang="en-US" sz="1300" dirty="0"/>
          </a:p>
        </p:txBody>
      </p:sp>
      <p:sp>
        <p:nvSpPr>
          <p:cNvPr id="196" name="Shape 194"/>
          <p:cNvSpPr/>
          <p:nvPr/>
        </p:nvSpPr>
        <p:spPr>
          <a:xfrm>
            <a:off x="6135624" y="5475642"/>
            <a:ext cx="5394960" cy="224835"/>
          </a:xfrm>
          <a:prstGeom prst="rect">
            <a:avLst/>
          </a:prstGeom>
          <a:solidFill>
            <a:srgbClr val="F7F7F7"/>
          </a:solidFill>
          <a:ln/>
        </p:spPr>
      </p:sp>
      <p:sp>
        <p:nvSpPr>
          <p:cNvPr id="197" name="Text 195"/>
          <p:cNvSpPr txBox="1"/>
          <p:nvPr/>
        </p:nvSpPr>
        <p:spPr>
          <a:xfrm>
            <a:off x="6208776" y="5475642"/>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98" name="Shape 196"/>
          <p:cNvSpPr/>
          <p:nvPr/>
        </p:nvSpPr>
        <p:spPr>
          <a:xfrm>
            <a:off x="8266176" y="5526230"/>
            <a:ext cx="539496" cy="123659"/>
          </a:xfrm>
          <a:prstGeom prst="rect">
            <a:avLst/>
          </a:prstGeom>
          <a:solidFill>
            <a:srgbClr val="C2352F"/>
          </a:solidFill>
          <a:ln/>
        </p:spPr>
      </p:sp>
      <p:sp>
        <p:nvSpPr>
          <p:cNvPr id="199" name="Text 197"/>
          <p:cNvSpPr txBox="1"/>
          <p:nvPr/>
        </p:nvSpPr>
        <p:spPr>
          <a:xfrm>
            <a:off x="9390888" y="5475642"/>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78.8%</a:t>
            </a:r>
            <a:endParaRPr lang="en-US" sz="1300" dirty="0"/>
          </a:p>
        </p:txBody>
      </p:sp>
      <p:sp>
        <p:nvSpPr>
          <p:cNvPr id="200" name="Text 198"/>
          <p:cNvSpPr txBox="1"/>
          <p:nvPr/>
        </p:nvSpPr>
        <p:spPr>
          <a:xfrm>
            <a:off x="9957816" y="5475642"/>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58.8%</a:t>
            </a:r>
            <a:endParaRPr lang="en-US" sz="1300" dirty="0"/>
          </a:p>
        </p:txBody>
      </p:sp>
      <p:sp>
        <p:nvSpPr>
          <p:cNvPr id="201" name="Text 199"/>
          <p:cNvSpPr txBox="1"/>
          <p:nvPr/>
        </p:nvSpPr>
        <p:spPr>
          <a:xfrm>
            <a:off x="10524744" y="5475642"/>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−20.0 pts</a:t>
            </a:r>
            <a:endParaRPr lang="en-US" sz="1300" dirty="0"/>
          </a:p>
        </p:txBody>
      </p:sp>
      <p:sp>
        <p:nvSpPr>
          <p:cNvPr id="202" name="Shape 200"/>
          <p:cNvSpPr/>
          <p:nvPr/>
        </p:nvSpPr>
        <p:spPr>
          <a:xfrm>
            <a:off x="457200" y="6126480"/>
            <a:ext cx="11274552" cy="615696"/>
          </a:xfrm>
          <a:prstGeom prst="rect">
            <a:avLst/>
          </a:prstGeom>
          <a:solidFill>
            <a:srgbClr val="EDF4FA"/>
          </a:solidFill>
          <a:ln/>
        </p:spPr>
      </p:sp>
      <p:sp>
        <p:nvSpPr>
          <p:cNvPr id="203" name="Text 201"/>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Internal labor margin runs 2.7 pts below customer pay across the group; 18 of 33 stores are at or better than that gap. Widest: Audi Reno (−20.0 pts), LR LV (−13.9 pts) and LR Henderson (−12.2 pts).</a:t>
            </a:r>
            <a:endParaRPr lang="en-US" sz="1600" dirty="0"/>
          </a:p>
        </p:txBody>
      </p:sp>
    </p:spTree>
  </p:cSld>
  <p:clrMapOvr>
    <a:masterClrMapping/>
  </p:clrMapOvr>
</p:sld>
</file>

<file path=ppt/slides/slide17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CP VS INTERNAL GP % · OPTION A</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vs Customer-Pay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16736"/>
            <a:ext cx="10872216" cy="384048"/>
          </a:xfrm>
          <a:prstGeom prst="rect">
            <a:avLst/>
          </a:prstGeom>
          <a:solidFill>
            <a:srgbClr val="EDF4FA"/>
          </a:solidFill>
          <a:ln/>
        </p:spPr>
      </p:sp>
      <p:sp>
        <p:nvSpPr>
          <p:cNvPr id="7" name="Shape 5"/>
          <p:cNvSpPr/>
          <p:nvPr/>
        </p:nvSpPr>
        <p:spPr>
          <a:xfrm>
            <a:off x="658368" y="1316736"/>
            <a:ext cx="54864" cy="384048"/>
          </a:xfrm>
          <a:prstGeom prst="rect">
            <a:avLst/>
          </a:prstGeom>
          <a:solidFill>
            <a:srgbClr val="0B2C4A"/>
          </a:solidFill>
          <a:ln/>
        </p:spPr>
      </p:sp>
      <p:sp>
        <p:nvSpPr>
          <p:cNvPr id="8" name="Text 6"/>
          <p:cNvSpPr txBox="1"/>
          <p:nvPr/>
        </p:nvSpPr>
        <p:spPr>
          <a:xfrm>
            <a:off x="841248" y="1316736"/>
            <a:ext cx="1060704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pPr indent="0" marL="0">
              <a:buNone/>
            </a:pPr>
            <a:r>
              <a:rPr lang="en-US" sz="1500" dirty="0">
                <a:solidFill>
                  <a:srgbClr val="1A1A1A"/>
                </a:solidFill>
                <a:latin typeface="Inter" pitchFamily="34" charset="0"/>
                <a:ea typeface="Inter" pitchFamily="34" charset="-122"/>
                <a:cs typeface="Inter" pitchFamily="34" charset="-120"/>
              </a:rPr>
              <a:t>      CUSTOMER PAY 40.7%      INTERNAL 36.5%      GAP </a:t>
            </a:r>
            <a:pPr indent="0" marL="0">
              <a:buNone/>
            </a:pPr>
            <a:r>
              <a:rPr lang="en-US" sz="1500" b="1" dirty="0">
                <a:solidFill>
                  <a:srgbClr val="0B2C4A"/>
                </a:solidFill>
                <a:latin typeface="Inter" pitchFamily="34" charset="0"/>
                <a:ea typeface="Inter" pitchFamily="34" charset="-122"/>
                <a:cs typeface="Inter" pitchFamily="34" charset="-120"/>
              </a:rPr>
              <a:t>−4.2 pts</a:t>
            </a:r>
            <a:pPr indent="0" marL="0">
              <a:buNone/>
            </a:pPr>
            <a:r>
              <a:rPr lang="en-US" sz="1500" dirty="0">
                <a:solidFill>
                  <a:srgbClr val="595959"/>
                </a:solidFill>
                <a:latin typeface="Inter" pitchFamily="34" charset="0"/>
                <a:ea typeface="Inter" pitchFamily="34" charset="-122"/>
                <a:cs typeface="Inter" pitchFamily="34" charset="-120"/>
              </a:rPr>
              <a:t>      green = gap at or better than the group</a:t>
            </a:r>
            <a:endParaRPr lang="en-US" sz="1500" dirty="0"/>
          </a:p>
        </p:txBody>
      </p:sp>
      <p:sp>
        <p:nvSpPr>
          <p:cNvPr id="9" name="Text 7"/>
          <p:cNvSpPr txBox="1"/>
          <p:nvPr/>
        </p:nvSpPr>
        <p:spPr>
          <a:xfrm>
            <a:off x="2715768" y="1773936"/>
            <a:ext cx="1078992" cy="274320"/>
          </a:xfrm>
          <a:prstGeom prst="rect">
            <a:avLst/>
          </a:prstGeom>
          <a:noFill/>
          <a:ln/>
        </p:spPr>
        <p:txBody>
          <a:bodyPr wrap="square" lIns="0" tIns="0" rIns="0" bIns="0" rtlCol="0" anchor="ctr"/>
          <a:lstStyle/>
          <a:p>
            <a:pPr algn="ctr" indent="0" marL="0">
              <a:buNone/>
            </a:pPr>
            <a:endParaRPr lang="en-US" sz="1400" dirty="0"/>
          </a:p>
        </p:txBody>
      </p:sp>
      <p:sp>
        <p:nvSpPr>
          <p:cNvPr id="10" name="Text 8"/>
          <p:cNvSpPr txBox="1"/>
          <p:nvPr/>
        </p:nvSpPr>
        <p:spPr>
          <a:xfrm>
            <a:off x="3840480"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CP</a:t>
            </a:r>
            <a:endParaRPr lang="en-US" sz="1400" dirty="0"/>
          </a:p>
        </p:txBody>
      </p:sp>
      <p:sp>
        <p:nvSpPr>
          <p:cNvPr id="11" name="Text 9"/>
          <p:cNvSpPr txBox="1"/>
          <p:nvPr/>
        </p:nvSpPr>
        <p:spPr>
          <a:xfrm>
            <a:off x="4407408"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INT</a:t>
            </a:r>
            <a:endParaRPr lang="en-US" sz="1400" dirty="0"/>
          </a:p>
        </p:txBody>
      </p:sp>
      <p:sp>
        <p:nvSpPr>
          <p:cNvPr id="12" name="Text 10"/>
          <p:cNvSpPr txBox="1"/>
          <p:nvPr/>
        </p:nvSpPr>
        <p:spPr>
          <a:xfrm>
            <a:off x="4974336" y="1773936"/>
            <a:ext cx="859536"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GAP</a:t>
            </a:r>
            <a:endParaRPr lang="en-US" sz="1400" dirty="0"/>
          </a:p>
        </p:txBody>
      </p:sp>
      <p:sp>
        <p:nvSpPr>
          <p:cNvPr id="13" name="Shape 11"/>
          <p:cNvSpPr/>
          <p:nvPr/>
        </p:nvSpPr>
        <p:spPr>
          <a:xfrm>
            <a:off x="3249778" y="2103120"/>
            <a:ext cx="10973" cy="3822192"/>
          </a:xfrm>
          <a:prstGeom prst="rect">
            <a:avLst/>
          </a:prstGeom>
          <a:solidFill>
            <a:srgbClr val="9AA3AD"/>
          </a:solidFill>
          <a:ln/>
        </p:spPr>
      </p:sp>
      <p:sp>
        <p:nvSpPr>
          <p:cNvPr id="14" name="Shape 12"/>
          <p:cNvSpPr/>
          <p:nvPr/>
        </p:nvSpPr>
        <p:spPr>
          <a:xfrm>
            <a:off x="3125947" y="2103120"/>
            <a:ext cx="0" cy="3822192"/>
          </a:xfrm>
          <a:prstGeom prst="line">
            <a:avLst/>
          </a:prstGeom>
          <a:noFill/>
          <a:ln w="12700">
            <a:solidFill>
              <a:srgbClr val="0B2C4A"/>
            </a:solidFill>
            <a:prstDash val="dash"/>
          </a:ln>
        </p:spPr>
      </p:sp>
      <p:sp>
        <p:nvSpPr>
          <p:cNvPr id="15" name="Text 13"/>
          <p:cNvSpPr txBox="1"/>
          <p:nvPr/>
        </p:nvSpPr>
        <p:spPr>
          <a:xfrm>
            <a:off x="8266176" y="1773936"/>
            <a:ext cx="1078992" cy="274320"/>
          </a:xfrm>
          <a:prstGeom prst="rect">
            <a:avLst/>
          </a:prstGeom>
          <a:noFill/>
          <a:ln/>
        </p:spPr>
        <p:txBody>
          <a:bodyPr wrap="square" lIns="0" tIns="0" rIns="0" bIns="0" rtlCol="0" anchor="ctr"/>
          <a:lstStyle/>
          <a:p>
            <a:pPr algn="ctr" indent="0" marL="0">
              <a:buNone/>
            </a:pPr>
            <a:endParaRPr lang="en-US" sz="1400" dirty="0"/>
          </a:p>
        </p:txBody>
      </p:sp>
      <p:sp>
        <p:nvSpPr>
          <p:cNvPr id="16" name="Text 14"/>
          <p:cNvSpPr txBox="1"/>
          <p:nvPr/>
        </p:nvSpPr>
        <p:spPr>
          <a:xfrm>
            <a:off x="9390888"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CP</a:t>
            </a:r>
            <a:endParaRPr lang="en-US" sz="1400" dirty="0"/>
          </a:p>
        </p:txBody>
      </p:sp>
      <p:sp>
        <p:nvSpPr>
          <p:cNvPr id="17" name="Text 15"/>
          <p:cNvSpPr txBox="1"/>
          <p:nvPr/>
        </p:nvSpPr>
        <p:spPr>
          <a:xfrm>
            <a:off x="9957816"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INT</a:t>
            </a:r>
            <a:endParaRPr lang="en-US" sz="1400" dirty="0"/>
          </a:p>
        </p:txBody>
      </p:sp>
      <p:sp>
        <p:nvSpPr>
          <p:cNvPr id="18" name="Text 16"/>
          <p:cNvSpPr txBox="1"/>
          <p:nvPr/>
        </p:nvSpPr>
        <p:spPr>
          <a:xfrm>
            <a:off x="10524744" y="1773936"/>
            <a:ext cx="859536"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GAP</a:t>
            </a:r>
            <a:endParaRPr lang="en-US" sz="1400" dirty="0"/>
          </a:p>
        </p:txBody>
      </p:sp>
      <p:sp>
        <p:nvSpPr>
          <p:cNvPr id="19" name="Shape 17"/>
          <p:cNvSpPr/>
          <p:nvPr/>
        </p:nvSpPr>
        <p:spPr>
          <a:xfrm>
            <a:off x="8800186" y="2103120"/>
            <a:ext cx="10973" cy="3597357"/>
          </a:xfrm>
          <a:prstGeom prst="rect">
            <a:avLst/>
          </a:prstGeom>
          <a:solidFill>
            <a:srgbClr val="9AA3AD"/>
          </a:solidFill>
          <a:ln/>
        </p:spPr>
      </p:sp>
      <p:sp>
        <p:nvSpPr>
          <p:cNvPr id="20" name="Shape 18"/>
          <p:cNvSpPr/>
          <p:nvPr/>
        </p:nvSpPr>
        <p:spPr>
          <a:xfrm>
            <a:off x="8676355" y="2103120"/>
            <a:ext cx="0" cy="3597357"/>
          </a:xfrm>
          <a:prstGeom prst="line">
            <a:avLst/>
          </a:prstGeom>
          <a:noFill/>
          <a:ln w="12700">
            <a:solidFill>
              <a:srgbClr val="0B2C4A"/>
            </a:solidFill>
            <a:prstDash val="dash"/>
          </a:ln>
        </p:spPr>
      </p:sp>
      <p:sp>
        <p:nvSpPr>
          <p:cNvPr id="21" name="Text 19"/>
          <p:cNvSpPr txBox="1"/>
          <p:nvPr/>
        </p:nvSpPr>
        <p:spPr>
          <a:xfrm>
            <a:off x="658368" y="210312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22" name="Shape 20"/>
          <p:cNvSpPr/>
          <p:nvPr/>
        </p:nvSpPr>
        <p:spPr>
          <a:xfrm>
            <a:off x="3255264" y="2153708"/>
            <a:ext cx="150363" cy="123659"/>
          </a:xfrm>
          <a:prstGeom prst="rect">
            <a:avLst/>
          </a:prstGeom>
          <a:solidFill>
            <a:srgbClr val="12A566"/>
          </a:solidFill>
          <a:ln/>
        </p:spPr>
      </p:sp>
      <p:sp>
        <p:nvSpPr>
          <p:cNvPr id="23" name="Text 21"/>
          <p:cNvSpPr txBox="1"/>
          <p:nvPr/>
        </p:nvSpPr>
        <p:spPr>
          <a:xfrm>
            <a:off x="3840480" y="210312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40.2%</a:t>
            </a:r>
            <a:endParaRPr lang="en-US" sz="1300" dirty="0"/>
          </a:p>
        </p:txBody>
      </p:sp>
      <p:sp>
        <p:nvSpPr>
          <p:cNvPr id="24" name="Text 22"/>
          <p:cNvSpPr txBox="1"/>
          <p:nvPr/>
        </p:nvSpPr>
        <p:spPr>
          <a:xfrm>
            <a:off x="4407408" y="210312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45.1%</a:t>
            </a:r>
            <a:endParaRPr lang="en-US" sz="1300" dirty="0"/>
          </a:p>
        </p:txBody>
      </p:sp>
      <p:sp>
        <p:nvSpPr>
          <p:cNvPr id="25" name="Text 23"/>
          <p:cNvSpPr txBox="1"/>
          <p:nvPr/>
        </p:nvSpPr>
        <p:spPr>
          <a:xfrm>
            <a:off x="4974336" y="210312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+4.9 pts</a:t>
            </a:r>
            <a:endParaRPr lang="en-US" sz="1300" dirty="0"/>
          </a:p>
        </p:txBody>
      </p:sp>
      <p:sp>
        <p:nvSpPr>
          <p:cNvPr id="26" name="Shape 24"/>
          <p:cNvSpPr/>
          <p:nvPr/>
        </p:nvSpPr>
        <p:spPr>
          <a:xfrm>
            <a:off x="585216" y="2327955"/>
            <a:ext cx="5394960" cy="224835"/>
          </a:xfrm>
          <a:prstGeom prst="rect">
            <a:avLst/>
          </a:prstGeom>
          <a:solidFill>
            <a:srgbClr val="F7F7F7"/>
          </a:solidFill>
          <a:ln/>
        </p:spPr>
      </p:sp>
      <p:sp>
        <p:nvSpPr>
          <p:cNvPr id="27" name="Text 25"/>
          <p:cNvSpPr txBox="1"/>
          <p:nvPr/>
        </p:nvSpPr>
        <p:spPr>
          <a:xfrm>
            <a:off x="658368" y="2327955"/>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28" name="Shape 26"/>
          <p:cNvSpPr/>
          <p:nvPr/>
        </p:nvSpPr>
        <p:spPr>
          <a:xfrm>
            <a:off x="3255264" y="2378543"/>
            <a:ext cx="70154" cy="123659"/>
          </a:xfrm>
          <a:prstGeom prst="rect">
            <a:avLst/>
          </a:prstGeom>
          <a:solidFill>
            <a:srgbClr val="12A566"/>
          </a:solidFill>
          <a:ln/>
        </p:spPr>
      </p:sp>
      <p:sp>
        <p:nvSpPr>
          <p:cNvPr id="29" name="Text 27"/>
          <p:cNvSpPr txBox="1"/>
          <p:nvPr/>
        </p:nvSpPr>
        <p:spPr>
          <a:xfrm>
            <a:off x="3840480" y="2327955"/>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34.8%</a:t>
            </a:r>
            <a:endParaRPr lang="en-US" sz="1300" dirty="0"/>
          </a:p>
        </p:txBody>
      </p:sp>
      <p:sp>
        <p:nvSpPr>
          <p:cNvPr id="30" name="Text 28"/>
          <p:cNvSpPr txBox="1"/>
          <p:nvPr/>
        </p:nvSpPr>
        <p:spPr>
          <a:xfrm>
            <a:off x="4407408" y="2327955"/>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37.0%</a:t>
            </a:r>
            <a:endParaRPr lang="en-US" sz="1300" dirty="0"/>
          </a:p>
        </p:txBody>
      </p:sp>
      <p:sp>
        <p:nvSpPr>
          <p:cNvPr id="31" name="Text 29"/>
          <p:cNvSpPr txBox="1"/>
          <p:nvPr/>
        </p:nvSpPr>
        <p:spPr>
          <a:xfrm>
            <a:off x="4974336" y="2327955"/>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+2.3 pts</a:t>
            </a:r>
            <a:endParaRPr lang="en-US" sz="1300" dirty="0"/>
          </a:p>
        </p:txBody>
      </p:sp>
      <p:sp>
        <p:nvSpPr>
          <p:cNvPr id="32" name="Text 30"/>
          <p:cNvSpPr txBox="1"/>
          <p:nvPr/>
        </p:nvSpPr>
        <p:spPr>
          <a:xfrm>
            <a:off x="658368" y="255279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33" name="Shape 31"/>
          <p:cNvSpPr/>
          <p:nvPr/>
        </p:nvSpPr>
        <p:spPr>
          <a:xfrm>
            <a:off x="3255264" y="2603377"/>
            <a:ext cx="38107" cy="123659"/>
          </a:xfrm>
          <a:prstGeom prst="rect">
            <a:avLst/>
          </a:prstGeom>
          <a:solidFill>
            <a:srgbClr val="12A566"/>
          </a:solidFill>
          <a:ln/>
        </p:spPr>
      </p:sp>
      <p:sp>
        <p:nvSpPr>
          <p:cNvPr id="34" name="Text 32"/>
          <p:cNvSpPr txBox="1"/>
          <p:nvPr/>
        </p:nvSpPr>
        <p:spPr>
          <a:xfrm>
            <a:off x="3840480" y="255279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42.1%</a:t>
            </a:r>
            <a:endParaRPr lang="en-US" sz="1300" dirty="0"/>
          </a:p>
        </p:txBody>
      </p:sp>
      <p:sp>
        <p:nvSpPr>
          <p:cNvPr id="35" name="Text 33"/>
          <p:cNvSpPr txBox="1"/>
          <p:nvPr/>
        </p:nvSpPr>
        <p:spPr>
          <a:xfrm>
            <a:off x="4407408" y="255279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43.3%</a:t>
            </a:r>
            <a:endParaRPr lang="en-US" sz="1300" dirty="0"/>
          </a:p>
        </p:txBody>
      </p:sp>
      <p:sp>
        <p:nvSpPr>
          <p:cNvPr id="36" name="Text 34"/>
          <p:cNvSpPr txBox="1"/>
          <p:nvPr/>
        </p:nvSpPr>
        <p:spPr>
          <a:xfrm>
            <a:off x="4974336" y="255279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+1.2 pts</a:t>
            </a:r>
            <a:endParaRPr lang="en-US" sz="1300" dirty="0"/>
          </a:p>
        </p:txBody>
      </p:sp>
      <p:sp>
        <p:nvSpPr>
          <p:cNvPr id="37" name="Shape 35"/>
          <p:cNvSpPr/>
          <p:nvPr/>
        </p:nvSpPr>
        <p:spPr>
          <a:xfrm>
            <a:off x="585216" y="2777624"/>
            <a:ext cx="5394960" cy="224835"/>
          </a:xfrm>
          <a:prstGeom prst="rect">
            <a:avLst/>
          </a:prstGeom>
          <a:solidFill>
            <a:srgbClr val="F7F7F7"/>
          </a:solidFill>
          <a:ln/>
        </p:spPr>
      </p:sp>
      <p:sp>
        <p:nvSpPr>
          <p:cNvPr id="38" name="Text 36"/>
          <p:cNvSpPr txBox="1"/>
          <p:nvPr/>
        </p:nvSpPr>
        <p:spPr>
          <a:xfrm>
            <a:off x="658368" y="277762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39" name="Shape 37"/>
          <p:cNvSpPr/>
          <p:nvPr/>
        </p:nvSpPr>
        <p:spPr>
          <a:xfrm>
            <a:off x="3255264" y="2828212"/>
            <a:ext cx="20517" cy="123659"/>
          </a:xfrm>
          <a:prstGeom prst="rect">
            <a:avLst/>
          </a:prstGeom>
          <a:solidFill>
            <a:srgbClr val="12A566"/>
          </a:solidFill>
          <a:ln/>
        </p:spPr>
      </p:sp>
      <p:sp>
        <p:nvSpPr>
          <p:cNvPr id="40" name="Text 38"/>
          <p:cNvSpPr txBox="1"/>
          <p:nvPr/>
        </p:nvSpPr>
        <p:spPr>
          <a:xfrm>
            <a:off x="3840480" y="277762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36.2%</a:t>
            </a:r>
            <a:endParaRPr lang="en-US" sz="1300" dirty="0"/>
          </a:p>
        </p:txBody>
      </p:sp>
      <p:sp>
        <p:nvSpPr>
          <p:cNvPr id="41" name="Text 39"/>
          <p:cNvSpPr txBox="1"/>
          <p:nvPr/>
        </p:nvSpPr>
        <p:spPr>
          <a:xfrm>
            <a:off x="4407408" y="277762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36.8%</a:t>
            </a:r>
            <a:endParaRPr lang="en-US" sz="1300" dirty="0"/>
          </a:p>
        </p:txBody>
      </p:sp>
      <p:sp>
        <p:nvSpPr>
          <p:cNvPr id="42" name="Text 40"/>
          <p:cNvSpPr txBox="1"/>
          <p:nvPr/>
        </p:nvSpPr>
        <p:spPr>
          <a:xfrm>
            <a:off x="4974336" y="277762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+0.7 pts</a:t>
            </a:r>
            <a:endParaRPr lang="en-US" sz="1300" dirty="0"/>
          </a:p>
        </p:txBody>
      </p:sp>
      <p:sp>
        <p:nvSpPr>
          <p:cNvPr id="43" name="Text 41"/>
          <p:cNvSpPr txBox="1"/>
          <p:nvPr/>
        </p:nvSpPr>
        <p:spPr>
          <a:xfrm>
            <a:off x="658368" y="300245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44" name="Shape 42"/>
          <p:cNvSpPr/>
          <p:nvPr/>
        </p:nvSpPr>
        <p:spPr>
          <a:xfrm>
            <a:off x="3255264" y="3053047"/>
            <a:ext cx="9144" cy="123659"/>
          </a:xfrm>
          <a:prstGeom prst="rect">
            <a:avLst/>
          </a:prstGeom>
          <a:solidFill>
            <a:srgbClr val="12A566"/>
          </a:solidFill>
          <a:ln/>
        </p:spPr>
      </p:sp>
      <p:sp>
        <p:nvSpPr>
          <p:cNvPr id="45" name="Text 43"/>
          <p:cNvSpPr txBox="1"/>
          <p:nvPr/>
        </p:nvSpPr>
        <p:spPr>
          <a:xfrm>
            <a:off x="3840480" y="300245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42.5%</a:t>
            </a:r>
            <a:endParaRPr lang="en-US" sz="1300" dirty="0"/>
          </a:p>
        </p:txBody>
      </p:sp>
      <p:sp>
        <p:nvSpPr>
          <p:cNvPr id="46" name="Text 44"/>
          <p:cNvSpPr txBox="1"/>
          <p:nvPr/>
        </p:nvSpPr>
        <p:spPr>
          <a:xfrm>
            <a:off x="4407408" y="300245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42.7%</a:t>
            </a:r>
            <a:endParaRPr lang="en-US" sz="1300" dirty="0"/>
          </a:p>
        </p:txBody>
      </p:sp>
      <p:sp>
        <p:nvSpPr>
          <p:cNvPr id="47" name="Text 45"/>
          <p:cNvSpPr txBox="1"/>
          <p:nvPr/>
        </p:nvSpPr>
        <p:spPr>
          <a:xfrm>
            <a:off x="4974336" y="300245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+0.1 pts</a:t>
            </a:r>
            <a:endParaRPr lang="en-US" sz="1300" dirty="0"/>
          </a:p>
        </p:txBody>
      </p:sp>
      <p:sp>
        <p:nvSpPr>
          <p:cNvPr id="48" name="Shape 46"/>
          <p:cNvSpPr/>
          <p:nvPr/>
        </p:nvSpPr>
        <p:spPr>
          <a:xfrm>
            <a:off x="585216" y="3227294"/>
            <a:ext cx="5394960" cy="224835"/>
          </a:xfrm>
          <a:prstGeom prst="rect">
            <a:avLst/>
          </a:prstGeom>
          <a:solidFill>
            <a:srgbClr val="F7F7F7"/>
          </a:solidFill>
          <a:ln/>
        </p:spPr>
      </p:sp>
      <p:sp>
        <p:nvSpPr>
          <p:cNvPr id="49" name="Text 47"/>
          <p:cNvSpPr txBox="1"/>
          <p:nvPr/>
        </p:nvSpPr>
        <p:spPr>
          <a:xfrm>
            <a:off x="658368" y="322729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50" name="Shape 48"/>
          <p:cNvSpPr/>
          <p:nvPr/>
        </p:nvSpPr>
        <p:spPr>
          <a:xfrm>
            <a:off x="3222182" y="3277882"/>
            <a:ext cx="33082" cy="123659"/>
          </a:xfrm>
          <a:prstGeom prst="rect">
            <a:avLst/>
          </a:prstGeom>
          <a:solidFill>
            <a:srgbClr val="12A566"/>
          </a:solidFill>
          <a:ln/>
        </p:spPr>
      </p:sp>
      <p:sp>
        <p:nvSpPr>
          <p:cNvPr id="51" name="Text 49"/>
          <p:cNvSpPr txBox="1"/>
          <p:nvPr/>
        </p:nvSpPr>
        <p:spPr>
          <a:xfrm>
            <a:off x="3840480" y="322729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37.2%</a:t>
            </a:r>
            <a:endParaRPr lang="en-US" sz="1300" dirty="0"/>
          </a:p>
        </p:txBody>
      </p:sp>
      <p:sp>
        <p:nvSpPr>
          <p:cNvPr id="52" name="Text 50"/>
          <p:cNvSpPr txBox="1"/>
          <p:nvPr/>
        </p:nvSpPr>
        <p:spPr>
          <a:xfrm>
            <a:off x="4407408" y="322729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36.1%</a:t>
            </a:r>
            <a:endParaRPr lang="en-US" sz="1300" dirty="0"/>
          </a:p>
        </p:txBody>
      </p:sp>
      <p:sp>
        <p:nvSpPr>
          <p:cNvPr id="53" name="Text 51"/>
          <p:cNvSpPr txBox="1"/>
          <p:nvPr/>
        </p:nvSpPr>
        <p:spPr>
          <a:xfrm>
            <a:off x="4974336" y="322729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−1.1 pts</a:t>
            </a:r>
            <a:endParaRPr lang="en-US" sz="1300" dirty="0"/>
          </a:p>
        </p:txBody>
      </p:sp>
      <p:sp>
        <p:nvSpPr>
          <p:cNvPr id="54" name="Text 52"/>
          <p:cNvSpPr txBox="1"/>
          <p:nvPr/>
        </p:nvSpPr>
        <p:spPr>
          <a:xfrm>
            <a:off x="658368" y="345212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5" name="Shape 53"/>
          <p:cNvSpPr/>
          <p:nvPr/>
        </p:nvSpPr>
        <p:spPr>
          <a:xfrm>
            <a:off x="3179597" y="3502717"/>
            <a:ext cx="75667" cy="123659"/>
          </a:xfrm>
          <a:prstGeom prst="rect">
            <a:avLst/>
          </a:prstGeom>
          <a:solidFill>
            <a:srgbClr val="12A566"/>
          </a:solidFill>
          <a:ln/>
        </p:spPr>
      </p:sp>
      <p:sp>
        <p:nvSpPr>
          <p:cNvPr id="56" name="Text 54"/>
          <p:cNvSpPr txBox="1"/>
          <p:nvPr/>
        </p:nvSpPr>
        <p:spPr>
          <a:xfrm>
            <a:off x="3840480" y="345212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39.4%</a:t>
            </a:r>
            <a:endParaRPr lang="en-US" sz="1300" dirty="0"/>
          </a:p>
        </p:txBody>
      </p:sp>
      <p:sp>
        <p:nvSpPr>
          <p:cNvPr id="57" name="Text 55"/>
          <p:cNvSpPr txBox="1"/>
          <p:nvPr/>
        </p:nvSpPr>
        <p:spPr>
          <a:xfrm>
            <a:off x="4407408" y="345212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37.0%</a:t>
            </a:r>
            <a:endParaRPr lang="en-US" sz="1300" dirty="0"/>
          </a:p>
        </p:txBody>
      </p:sp>
      <p:sp>
        <p:nvSpPr>
          <p:cNvPr id="58" name="Text 56"/>
          <p:cNvSpPr txBox="1"/>
          <p:nvPr/>
        </p:nvSpPr>
        <p:spPr>
          <a:xfrm>
            <a:off x="4974336" y="345212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−2.5 pts</a:t>
            </a:r>
            <a:endParaRPr lang="en-US" sz="1300" dirty="0"/>
          </a:p>
        </p:txBody>
      </p:sp>
      <p:sp>
        <p:nvSpPr>
          <p:cNvPr id="59" name="Shape 57"/>
          <p:cNvSpPr/>
          <p:nvPr/>
        </p:nvSpPr>
        <p:spPr>
          <a:xfrm>
            <a:off x="585216" y="3676964"/>
            <a:ext cx="5394960" cy="224835"/>
          </a:xfrm>
          <a:prstGeom prst="rect">
            <a:avLst/>
          </a:prstGeom>
          <a:solidFill>
            <a:srgbClr val="F7F7F7"/>
          </a:solidFill>
          <a:ln/>
        </p:spPr>
      </p:sp>
      <p:sp>
        <p:nvSpPr>
          <p:cNvPr id="60" name="Text 58"/>
          <p:cNvSpPr txBox="1"/>
          <p:nvPr/>
        </p:nvSpPr>
        <p:spPr>
          <a:xfrm>
            <a:off x="658368" y="367696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61" name="Shape 59"/>
          <p:cNvSpPr/>
          <p:nvPr/>
        </p:nvSpPr>
        <p:spPr>
          <a:xfrm>
            <a:off x="3178337" y="3727552"/>
            <a:ext cx="76927" cy="123659"/>
          </a:xfrm>
          <a:prstGeom prst="rect">
            <a:avLst/>
          </a:prstGeom>
          <a:solidFill>
            <a:srgbClr val="12A566"/>
          </a:solidFill>
          <a:ln/>
        </p:spPr>
      </p:sp>
      <p:sp>
        <p:nvSpPr>
          <p:cNvPr id="62" name="Text 60"/>
          <p:cNvSpPr txBox="1"/>
          <p:nvPr/>
        </p:nvSpPr>
        <p:spPr>
          <a:xfrm>
            <a:off x="3840480" y="367696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37.0%</a:t>
            </a:r>
            <a:endParaRPr lang="en-US" sz="1300" dirty="0"/>
          </a:p>
        </p:txBody>
      </p:sp>
      <p:sp>
        <p:nvSpPr>
          <p:cNvPr id="63" name="Text 61"/>
          <p:cNvSpPr txBox="1"/>
          <p:nvPr/>
        </p:nvSpPr>
        <p:spPr>
          <a:xfrm>
            <a:off x="4407408" y="367696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34.5%</a:t>
            </a:r>
            <a:endParaRPr lang="en-US" sz="1300" dirty="0"/>
          </a:p>
        </p:txBody>
      </p:sp>
      <p:sp>
        <p:nvSpPr>
          <p:cNvPr id="64" name="Text 62"/>
          <p:cNvSpPr txBox="1"/>
          <p:nvPr/>
        </p:nvSpPr>
        <p:spPr>
          <a:xfrm>
            <a:off x="4974336" y="367696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−2.5 pts</a:t>
            </a:r>
            <a:endParaRPr lang="en-US" sz="1300" dirty="0"/>
          </a:p>
        </p:txBody>
      </p:sp>
      <p:sp>
        <p:nvSpPr>
          <p:cNvPr id="65" name="Text 63"/>
          <p:cNvSpPr txBox="1"/>
          <p:nvPr/>
        </p:nvSpPr>
        <p:spPr>
          <a:xfrm>
            <a:off x="658368" y="390179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66" name="Shape 64"/>
          <p:cNvSpPr/>
          <p:nvPr/>
        </p:nvSpPr>
        <p:spPr>
          <a:xfrm>
            <a:off x="3177426" y="3952386"/>
            <a:ext cx="77838" cy="123659"/>
          </a:xfrm>
          <a:prstGeom prst="rect">
            <a:avLst/>
          </a:prstGeom>
          <a:solidFill>
            <a:srgbClr val="12A566"/>
          </a:solidFill>
          <a:ln/>
        </p:spPr>
      </p:sp>
      <p:sp>
        <p:nvSpPr>
          <p:cNvPr id="67" name="Text 65"/>
          <p:cNvSpPr txBox="1"/>
          <p:nvPr/>
        </p:nvSpPr>
        <p:spPr>
          <a:xfrm>
            <a:off x="3840480" y="390179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43.4%</a:t>
            </a:r>
            <a:endParaRPr lang="en-US" sz="1300" dirty="0"/>
          </a:p>
        </p:txBody>
      </p:sp>
      <p:sp>
        <p:nvSpPr>
          <p:cNvPr id="68" name="Text 66"/>
          <p:cNvSpPr txBox="1"/>
          <p:nvPr/>
        </p:nvSpPr>
        <p:spPr>
          <a:xfrm>
            <a:off x="4407408" y="390179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40.9%</a:t>
            </a:r>
            <a:endParaRPr lang="en-US" sz="1300" dirty="0"/>
          </a:p>
        </p:txBody>
      </p:sp>
      <p:sp>
        <p:nvSpPr>
          <p:cNvPr id="69" name="Text 67"/>
          <p:cNvSpPr txBox="1"/>
          <p:nvPr/>
        </p:nvSpPr>
        <p:spPr>
          <a:xfrm>
            <a:off x="4974336" y="390179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−2.5 pts</a:t>
            </a:r>
            <a:endParaRPr lang="en-US" sz="1300" dirty="0"/>
          </a:p>
        </p:txBody>
      </p:sp>
      <p:sp>
        <p:nvSpPr>
          <p:cNvPr id="70" name="Shape 68"/>
          <p:cNvSpPr/>
          <p:nvPr/>
        </p:nvSpPr>
        <p:spPr>
          <a:xfrm>
            <a:off x="585216" y="4126633"/>
            <a:ext cx="5394960" cy="224835"/>
          </a:xfrm>
          <a:prstGeom prst="rect">
            <a:avLst/>
          </a:prstGeom>
          <a:solidFill>
            <a:srgbClr val="F7F7F7"/>
          </a:solidFill>
          <a:ln/>
        </p:spPr>
      </p:sp>
      <p:sp>
        <p:nvSpPr>
          <p:cNvPr id="71" name="Text 69"/>
          <p:cNvSpPr txBox="1"/>
          <p:nvPr/>
        </p:nvSpPr>
        <p:spPr>
          <a:xfrm>
            <a:off x="658368" y="412663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72" name="Shape 70"/>
          <p:cNvSpPr/>
          <p:nvPr/>
        </p:nvSpPr>
        <p:spPr>
          <a:xfrm>
            <a:off x="3137487" y="4177221"/>
            <a:ext cx="117777" cy="123659"/>
          </a:xfrm>
          <a:prstGeom prst="rect">
            <a:avLst/>
          </a:prstGeom>
          <a:solidFill>
            <a:srgbClr val="12A566"/>
          </a:solidFill>
          <a:ln/>
        </p:spPr>
      </p:sp>
      <p:sp>
        <p:nvSpPr>
          <p:cNvPr id="73" name="Text 71"/>
          <p:cNvSpPr txBox="1"/>
          <p:nvPr/>
        </p:nvSpPr>
        <p:spPr>
          <a:xfrm>
            <a:off x="3840480" y="412663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40.3%</a:t>
            </a:r>
            <a:endParaRPr lang="en-US" sz="1300" dirty="0"/>
          </a:p>
        </p:txBody>
      </p:sp>
      <p:sp>
        <p:nvSpPr>
          <p:cNvPr id="74" name="Text 72"/>
          <p:cNvSpPr txBox="1"/>
          <p:nvPr/>
        </p:nvSpPr>
        <p:spPr>
          <a:xfrm>
            <a:off x="4407408" y="412663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36.5%</a:t>
            </a:r>
            <a:endParaRPr lang="en-US" sz="1300" dirty="0"/>
          </a:p>
        </p:txBody>
      </p:sp>
      <p:sp>
        <p:nvSpPr>
          <p:cNvPr id="75" name="Text 73"/>
          <p:cNvSpPr txBox="1"/>
          <p:nvPr/>
        </p:nvSpPr>
        <p:spPr>
          <a:xfrm>
            <a:off x="4974336" y="4126633"/>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−3.8 pts</a:t>
            </a:r>
            <a:endParaRPr lang="en-US" sz="1300" dirty="0"/>
          </a:p>
        </p:txBody>
      </p:sp>
      <p:sp>
        <p:nvSpPr>
          <p:cNvPr id="76" name="Text 74"/>
          <p:cNvSpPr txBox="1"/>
          <p:nvPr/>
        </p:nvSpPr>
        <p:spPr>
          <a:xfrm>
            <a:off x="658368" y="435146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77" name="Shape 75"/>
          <p:cNvSpPr/>
          <p:nvPr/>
        </p:nvSpPr>
        <p:spPr>
          <a:xfrm>
            <a:off x="3136637" y="4402056"/>
            <a:ext cx="118627" cy="123659"/>
          </a:xfrm>
          <a:prstGeom prst="rect">
            <a:avLst/>
          </a:prstGeom>
          <a:solidFill>
            <a:srgbClr val="12A566"/>
          </a:solidFill>
          <a:ln/>
        </p:spPr>
      </p:sp>
      <p:sp>
        <p:nvSpPr>
          <p:cNvPr id="78" name="Text 76"/>
          <p:cNvSpPr txBox="1"/>
          <p:nvPr/>
        </p:nvSpPr>
        <p:spPr>
          <a:xfrm>
            <a:off x="3840480" y="435146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40.2%</a:t>
            </a:r>
            <a:endParaRPr lang="en-US" sz="1300" dirty="0"/>
          </a:p>
        </p:txBody>
      </p:sp>
      <p:sp>
        <p:nvSpPr>
          <p:cNvPr id="79" name="Text 77"/>
          <p:cNvSpPr txBox="1"/>
          <p:nvPr/>
        </p:nvSpPr>
        <p:spPr>
          <a:xfrm>
            <a:off x="4407408" y="435146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36.3%</a:t>
            </a:r>
            <a:endParaRPr lang="en-US" sz="1300" dirty="0"/>
          </a:p>
        </p:txBody>
      </p:sp>
      <p:sp>
        <p:nvSpPr>
          <p:cNvPr id="80" name="Text 78"/>
          <p:cNvSpPr txBox="1"/>
          <p:nvPr/>
        </p:nvSpPr>
        <p:spPr>
          <a:xfrm>
            <a:off x="4974336" y="4351468"/>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−3.9 pts</a:t>
            </a:r>
            <a:endParaRPr lang="en-US" sz="1300" dirty="0"/>
          </a:p>
        </p:txBody>
      </p:sp>
      <p:sp>
        <p:nvSpPr>
          <p:cNvPr id="81" name="Shape 79"/>
          <p:cNvSpPr/>
          <p:nvPr/>
        </p:nvSpPr>
        <p:spPr>
          <a:xfrm>
            <a:off x="585216" y="4576303"/>
            <a:ext cx="5394960" cy="224835"/>
          </a:xfrm>
          <a:prstGeom prst="rect">
            <a:avLst/>
          </a:prstGeom>
          <a:solidFill>
            <a:srgbClr val="F7F7F7"/>
          </a:solidFill>
          <a:ln/>
        </p:spPr>
      </p:sp>
      <p:sp>
        <p:nvSpPr>
          <p:cNvPr id="82" name="Text 80"/>
          <p:cNvSpPr txBox="1"/>
          <p:nvPr/>
        </p:nvSpPr>
        <p:spPr>
          <a:xfrm>
            <a:off x="658368" y="457630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83" name="Shape 81"/>
          <p:cNvSpPr/>
          <p:nvPr/>
        </p:nvSpPr>
        <p:spPr>
          <a:xfrm>
            <a:off x="3096612" y="4626891"/>
            <a:ext cx="158652" cy="123659"/>
          </a:xfrm>
          <a:prstGeom prst="rect">
            <a:avLst/>
          </a:prstGeom>
          <a:solidFill>
            <a:srgbClr val="C2352F"/>
          </a:solidFill>
          <a:ln/>
        </p:spPr>
      </p:sp>
      <p:sp>
        <p:nvSpPr>
          <p:cNvPr id="84" name="Text 82"/>
          <p:cNvSpPr txBox="1"/>
          <p:nvPr/>
        </p:nvSpPr>
        <p:spPr>
          <a:xfrm>
            <a:off x="3840480" y="457630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41.9%</a:t>
            </a:r>
            <a:endParaRPr lang="en-US" sz="1300" dirty="0"/>
          </a:p>
        </p:txBody>
      </p:sp>
      <p:sp>
        <p:nvSpPr>
          <p:cNvPr id="85" name="Text 83"/>
          <p:cNvSpPr txBox="1"/>
          <p:nvPr/>
        </p:nvSpPr>
        <p:spPr>
          <a:xfrm>
            <a:off x="4407408" y="457630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36.7%</a:t>
            </a:r>
            <a:endParaRPr lang="en-US" sz="1300" dirty="0"/>
          </a:p>
        </p:txBody>
      </p:sp>
      <p:sp>
        <p:nvSpPr>
          <p:cNvPr id="86" name="Text 84"/>
          <p:cNvSpPr txBox="1"/>
          <p:nvPr/>
        </p:nvSpPr>
        <p:spPr>
          <a:xfrm>
            <a:off x="4974336" y="457630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−5.2 pts</a:t>
            </a:r>
            <a:endParaRPr lang="en-US" sz="1300" dirty="0"/>
          </a:p>
        </p:txBody>
      </p:sp>
      <p:sp>
        <p:nvSpPr>
          <p:cNvPr id="87" name="Text 85"/>
          <p:cNvSpPr txBox="1"/>
          <p:nvPr/>
        </p:nvSpPr>
        <p:spPr>
          <a:xfrm>
            <a:off x="658368" y="480113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88" name="Shape 86"/>
          <p:cNvSpPr/>
          <p:nvPr/>
        </p:nvSpPr>
        <p:spPr>
          <a:xfrm>
            <a:off x="3081235" y="4851726"/>
            <a:ext cx="174029" cy="123659"/>
          </a:xfrm>
          <a:prstGeom prst="rect">
            <a:avLst/>
          </a:prstGeom>
          <a:solidFill>
            <a:srgbClr val="C2352F"/>
          </a:solidFill>
          <a:ln/>
        </p:spPr>
      </p:sp>
      <p:sp>
        <p:nvSpPr>
          <p:cNvPr id="89" name="Text 87"/>
          <p:cNvSpPr txBox="1"/>
          <p:nvPr/>
        </p:nvSpPr>
        <p:spPr>
          <a:xfrm>
            <a:off x="3840480" y="480113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37.0%</a:t>
            </a:r>
            <a:endParaRPr lang="en-US" sz="1300" dirty="0"/>
          </a:p>
        </p:txBody>
      </p:sp>
      <p:sp>
        <p:nvSpPr>
          <p:cNvPr id="90" name="Text 88"/>
          <p:cNvSpPr txBox="1"/>
          <p:nvPr/>
        </p:nvSpPr>
        <p:spPr>
          <a:xfrm>
            <a:off x="4407408" y="480113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31.3%</a:t>
            </a:r>
            <a:endParaRPr lang="en-US" sz="1300" dirty="0"/>
          </a:p>
        </p:txBody>
      </p:sp>
      <p:sp>
        <p:nvSpPr>
          <p:cNvPr id="91" name="Text 89"/>
          <p:cNvSpPr txBox="1"/>
          <p:nvPr/>
        </p:nvSpPr>
        <p:spPr>
          <a:xfrm>
            <a:off x="4974336" y="480113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−5.7 pts</a:t>
            </a:r>
            <a:endParaRPr lang="en-US" sz="1300" dirty="0"/>
          </a:p>
        </p:txBody>
      </p:sp>
      <p:sp>
        <p:nvSpPr>
          <p:cNvPr id="92" name="Shape 90"/>
          <p:cNvSpPr/>
          <p:nvPr/>
        </p:nvSpPr>
        <p:spPr>
          <a:xfrm>
            <a:off x="585216" y="5025973"/>
            <a:ext cx="5394960" cy="224835"/>
          </a:xfrm>
          <a:prstGeom prst="rect">
            <a:avLst/>
          </a:prstGeom>
          <a:solidFill>
            <a:srgbClr val="F7F7F7"/>
          </a:solidFill>
          <a:ln/>
        </p:spPr>
      </p:sp>
      <p:sp>
        <p:nvSpPr>
          <p:cNvPr id="93" name="Text 91"/>
          <p:cNvSpPr txBox="1"/>
          <p:nvPr/>
        </p:nvSpPr>
        <p:spPr>
          <a:xfrm>
            <a:off x="658368" y="502597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94" name="Shape 92"/>
          <p:cNvSpPr/>
          <p:nvPr/>
        </p:nvSpPr>
        <p:spPr>
          <a:xfrm>
            <a:off x="3077450" y="5076561"/>
            <a:ext cx="177814" cy="123659"/>
          </a:xfrm>
          <a:prstGeom prst="rect">
            <a:avLst/>
          </a:prstGeom>
          <a:solidFill>
            <a:srgbClr val="C2352F"/>
          </a:solidFill>
          <a:ln/>
        </p:spPr>
      </p:sp>
      <p:sp>
        <p:nvSpPr>
          <p:cNvPr id="95" name="Text 93"/>
          <p:cNvSpPr txBox="1"/>
          <p:nvPr/>
        </p:nvSpPr>
        <p:spPr>
          <a:xfrm>
            <a:off x="3840480" y="502597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42.7%</a:t>
            </a:r>
            <a:endParaRPr lang="en-US" sz="1300" dirty="0"/>
          </a:p>
        </p:txBody>
      </p:sp>
      <p:sp>
        <p:nvSpPr>
          <p:cNvPr id="96" name="Text 94"/>
          <p:cNvSpPr txBox="1"/>
          <p:nvPr/>
        </p:nvSpPr>
        <p:spPr>
          <a:xfrm>
            <a:off x="4407408" y="502597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36.9%</a:t>
            </a:r>
            <a:endParaRPr lang="en-US" sz="1300" dirty="0"/>
          </a:p>
        </p:txBody>
      </p:sp>
      <p:sp>
        <p:nvSpPr>
          <p:cNvPr id="97" name="Text 95"/>
          <p:cNvSpPr txBox="1"/>
          <p:nvPr/>
        </p:nvSpPr>
        <p:spPr>
          <a:xfrm>
            <a:off x="4974336" y="502597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 pts</a:t>
            </a:r>
            <a:endParaRPr lang="en-US" sz="1300" dirty="0"/>
          </a:p>
        </p:txBody>
      </p:sp>
      <p:sp>
        <p:nvSpPr>
          <p:cNvPr id="98" name="Text 96"/>
          <p:cNvSpPr txBox="1"/>
          <p:nvPr/>
        </p:nvSpPr>
        <p:spPr>
          <a:xfrm>
            <a:off x="658368" y="525080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99" name="Shape 97"/>
          <p:cNvSpPr/>
          <p:nvPr/>
        </p:nvSpPr>
        <p:spPr>
          <a:xfrm>
            <a:off x="3070973" y="5301395"/>
            <a:ext cx="184291" cy="123659"/>
          </a:xfrm>
          <a:prstGeom prst="rect">
            <a:avLst/>
          </a:prstGeom>
          <a:solidFill>
            <a:srgbClr val="C2352F"/>
          </a:solidFill>
          <a:ln/>
        </p:spPr>
      </p:sp>
      <p:sp>
        <p:nvSpPr>
          <p:cNvPr id="100" name="Text 98"/>
          <p:cNvSpPr txBox="1"/>
          <p:nvPr/>
        </p:nvSpPr>
        <p:spPr>
          <a:xfrm>
            <a:off x="3840480" y="525080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39.4%</a:t>
            </a:r>
            <a:endParaRPr lang="en-US" sz="1300" dirty="0"/>
          </a:p>
        </p:txBody>
      </p:sp>
      <p:sp>
        <p:nvSpPr>
          <p:cNvPr id="101" name="Text 99"/>
          <p:cNvSpPr txBox="1"/>
          <p:nvPr/>
        </p:nvSpPr>
        <p:spPr>
          <a:xfrm>
            <a:off x="4407408" y="525080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33.4%</a:t>
            </a:r>
            <a:endParaRPr lang="en-US" sz="1300" dirty="0"/>
          </a:p>
        </p:txBody>
      </p:sp>
      <p:sp>
        <p:nvSpPr>
          <p:cNvPr id="102" name="Text 100"/>
          <p:cNvSpPr txBox="1"/>
          <p:nvPr/>
        </p:nvSpPr>
        <p:spPr>
          <a:xfrm>
            <a:off x="4974336" y="525080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−6.0 pts</a:t>
            </a:r>
            <a:endParaRPr lang="en-US" sz="1300" dirty="0"/>
          </a:p>
        </p:txBody>
      </p:sp>
      <p:sp>
        <p:nvSpPr>
          <p:cNvPr id="103" name="Shape 101"/>
          <p:cNvSpPr/>
          <p:nvPr/>
        </p:nvSpPr>
        <p:spPr>
          <a:xfrm>
            <a:off x="585216" y="5475642"/>
            <a:ext cx="5394960" cy="224835"/>
          </a:xfrm>
          <a:prstGeom prst="rect">
            <a:avLst/>
          </a:prstGeom>
          <a:solidFill>
            <a:srgbClr val="F7F7F7"/>
          </a:solidFill>
          <a:ln/>
        </p:spPr>
      </p:sp>
      <p:sp>
        <p:nvSpPr>
          <p:cNvPr id="104" name="Text 102"/>
          <p:cNvSpPr txBox="1"/>
          <p:nvPr/>
        </p:nvSpPr>
        <p:spPr>
          <a:xfrm>
            <a:off x="658368" y="5475642"/>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05" name="Shape 103"/>
          <p:cNvSpPr/>
          <p:nvPr/>
        </p:nvSpPr>
        <p:spPr>
          <a:xfrm>
            <a:off x="3060053" y="5526230"/>
            <a:ext cx="195211" cy="123659"/>
          </a:xfrm>
          <a:prstGeom prst="rect">
            <a:avLst/>
          </a:prstGeom>
          <a:solidFill>
            <a:srgbClr val="C2352F"/>
          </a:solidFill>
          <a:ln/>
        </p:spPr>
      </p:sp>
      <p:sp>
        <p:nvSpPr>
          <p:cNvPr id="106" name="Text 104"/>
          <p:cNvSpPr txBox="1"/>
          <p:nvPr/>
        </p:nvSpPr>
        <p:spPr>
          <a:xfrm>
            <a:off x="3840480" y="5475642"/>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36.9%</a:t>
            </a:r>
            <a:endParaRPr lang="en-US" sz="1300" dirty="0"/>
          </a:p>
        </p:txBody>
      </p:sp>
      <p:sp>
        <p:nvSpPr>
          <p:cNvPr id="107" name="Text 105"/>
          <p:cNvSpPr txBox="1"/>
          <p:nvPr/>
        </p:nvSpPr>
        <p:spPr>
          <a:xfrm>
            <a:off x="4407408" y="5475642"/>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30.5%</a:t>
            </a:r>
            <a:endParaRPr lang="en-US" sz="1300" dirty="0"/>
          </a:p>
        </p:txBody>
      </p:sp>
      <p:sp>
        <p:nvSpPr>
          <p:cNvPr id="108" name="Text 106"/>
          <p:cNvSpPr txBox="1"/>
          <p:nvPr/>
        </p:nvSpPr>
        <p:spPr>
          <a:xfrm>
            <a:off x="4974336" y="5475642"/>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−6.4 pts</a:t>
            </a:r>
            <a:endParaRPr lang="en-US" sz="1300" dirty="0"/>
          </a:p>
        </p:txBody>
      </p:sp>
      <p:sp>
        <p:nvSpPr>
          <p:cNvPr id="109" name="Text 107"/>
          <p:cNvSpPr txBox="1"/>
          <p:nvPr/>
        </p:nvSpPr>
        <p:spPr>
          <a:xfrm>
            <a:off x="658368" y="5700477"/>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10" name="Shape 108"/>
          <p:cNvSpPr/>
          <p:nvPr/>
        </p:nvSpPr>
        <p:spPr>
          <a:xfrm>
            <a:off x="3033339" y="5751065"/>
            <a:ext cx="221925" cy="123659"/>
          </a:xfrm>
          <a:prstGeom prst="rect">
            <a:avLst/>
          </a:prstGeom>
          <a:solidFill>
            <a:srgbClr val="C2352F"/>
          </a:solidFill>
          <a:ln/>
        </p:spPr>
      </p:sp>
      <p:sp>
        <p:nvSpPr>
          <p:cNvPr id="111" name="Text 109"/>
          <p:cNvSpPr txBox="1"/>
          <p:nvPr/>
        </p:nvSpPr>
        <p:spPr>
          <a:xfrm>
            <a:off x="3840480" y="5700477"/>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47.0%</a:t>
            </a:r>
            <a:endParaRPr lang="en-US" sz="1300" dirty="0"/>
          </a:p>
        </p:txBody>
      </p:sp>
      <p:sp>
        <p:nvSpPr>
          <p:cNvPr id="112" name="Text 110"/>
          <p:cNvSpPr txBox="1"/>
          <p:nvPr/>
        </p:nvSpPr>
        <p:spPr>
          <a:xfrm>
            <a:off x="4407408" y="5700477"/>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39.7%</a:t>
            </a:r>
            <a:endParaRPr lang="en-US" sz="1300" dirty="0"/>
          </a:p>
        </p:txBody>
      </p:sp>
      <p:sp>
        <p:nvSpPr>
          <p:cNvPr id="113" name="Text 111"/>
          <p:cNvSpPr txBox="1"/>
          <p:nvPr/>
        </p:nvSpPr>
        <p:spPr>
          <a:xfrm>
            <a:off x="4974336" y="5700477"/>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−7.2 pts</a:t>
            </a:r>
            <a:endParaRPr lang="en-US" sz="1300" dirty="0"/>
          </a:p>
        </p:txBody>
      </p:sp>
      <p:sp>
        <p:nvSpPr>
          <p:cNvPr id="114" name="Text 112"/>
          <p:cNvSpPr txBox="1"/>
          <p:nvPr/>
        </p:nvSpPr>
        <p:spPr>
          <a:xfrm>
            <a:off x="6208776" y="210312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15" name="Shape 113"/>
          <p:cNvSpPr/>
          <p:nvPr/>
        </p:nvSpPr>
        <p:spPr>
          <a:xfrm>
            <a:off x="8575710" y="2153708"/>
            <a:ext cx="229962" cy="123659"/>
          </a:xfrm>
          <a:prstGeom prst="rect">
            <a:avLst/>
          </a:prstGeom>
          <a:solidFill>
            <a:srgbClr val="C2352F"/>
          </a:solidFill>
          <a:ln/>
        </p:spPr>
      </p:sp>
      <p:sp>
        <p:nvSpPr>
          <p:cNvPr id="116" name="Text 114"/>
          <p:cNvSpPr txBox="1"/>
          <p:nvPr/>
        </p:nvSpPr>
        <p:spPr>
          <a:xfrm>
            <a:off x="9390888" y="210312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33.6%</a:t>
            </a:r>
            <a:endParaRPr lang="en-US" sz="1300" dirty="0"/>
          </a:p>
        </p:txBody>
      </p:sp>
      <p:sp>
        <p:nvSpPr>
          <p:cNvPr id="117" name="Text 115"/>
          <p:cNvSpPr txBox="1"/>
          <p:nvPr/>
        </p:nvSpPr>
        <p:spPr>
          <a:xfrm>
            <a:off x="9957816" y="210312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26.2%</a:t>
            </a:r>
            <a:endParaRPr lang="en-US" sz="1300" dirty="0"/>
          </a:p>
        </p:txBody>
      </p:sp>
      <p:sp>
        <p:nvSpPr>
          <p:cNvPr id="118" name="Text 116"/>
          <p:cNvSpPr txBox="1"/>
          <p:nvPr/>
        </p:nvSpPr>
        <p:spPr>
          <a:xfrm>
            <a:off x="10524744" y="2103120"/>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−7.5 pts</a:t>
            </a:r>
            <a:endParaRPr lang="en-US" sz="1300" dirty="0"/>
          </a:p>
        </p:txBody>
      </p:sp>
      <p:sp>
        <p:nvSpPr>
          <p:cNvPr id="119" name="Shape 117"/>
          <p:cNvSpPr/>
          <p:nvPr/>
        </p:nvSpPr>
        <p:spPr>
          <a:xfrm>
            <a:off x="6135624" y="2327955"/>
            <a:ext cx="5394960" cy="224835"/>
          </a:xfrm>
          <a:prstGeom prst="rect">
            <a:avLst/>
          </a:prstGeom>
          <a:solidFill>
            <a:srgbClr val="F7F7F7"/>
          </a:solidFill>
          <a:ln/>
        </p:spPr>
      </p:sp>
      <p:sp>
        <p:nvSpPr>
          <p:cNvPr id="120" name="Text 118"/>
          <p:cNvSpPr txBox="1"/>
          <p:nvPr/>
        </p:nvSpPr>
        <p:spPr>
          <a:xfrm>
            <a:off x="6208776" y="2327955"/>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21" name="Shape 119"/>
          <p:cNvSpPr/>
          <p:nvPr/>
        </p:nvSpPr>
        <p:spPr>
          <a:xfrm>
            <a:off x="8565630" y="2378543"/>
            <a:ext cx="240042" cy="123659"/>
          </a:xfrm>
          <a:prstGeom prst="rect">
            <a:avLst/>
          </a:prstGeom>
          <a:solidFill>
            <a:srgbClr val="C2352F"/>
          </a:solidFill>
          <a:ln/>
        </p:spPr>
      </p:sp>
      <p:sp>
        <p:nvSpPr>
          <p:cNvPr id="122" name="Text 120"/>
          <p:cNvSpPr txBox="1"/>
          <p:nvPr/>
        </p:nvSpPr>
        <p:spPr>
          <a:xfrm>
            <a:off x="9390888" y="2327955"/>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44.5%</a:t>
            </a:r>
            <a:endParaRPr lang="en-US" sz="1300" dirty="0"/>
          </a:p>
        </p:txBody>
      </p:sp>
      <p:sp>
        <p:nvSpPr>
          <p:cNvPr id="123" name="Text 121"/>
          <p:cNvSpPr txBox="1"/>
          <p:nvPr/>
        </p:nvSpPr>
        <p:spPr>
          <a:xfrm>
            <a:off x="9957816" y="2327955"/>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36.6%</a:t>
            </a:r>
            <a:endParaRPr lang="en-US" sz="1300" dirty="0"/>
          </a:p>
        </p:txBody>
      </p:sp>
      <p:sp>
        <p:nvSpPr>
          <p:cNvPr id="124" name="Text 122"/>
          <p:cNvSpPr txBox="1"/>
          <p:nvPr/>
        </p:nvSpPr>
        <p:spPr>
          <a:xfrm>
            <a:off x="10524744" y="2327955"/>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−7.8 pts</a:t>
            </a:r>
            <a:endParaRPr lang="en-US" sz="1300" dirty="0"/>
          </a:p>
        </p:txBody>
      </p:sp>
      <p:sp>
        <p:nvSpPr>
          <p:cNvPr id="125" name="Text 123"/>
          <p:cNvSpPr txBox="1"/>
          <p:nvPr/>
        </p:nvSpPr>
        <p:spPr>
          <a:xfrm>
            <a:off x="6208776" y="255279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26" name="Shape 124"/>
          <p:cNvSpPr/>
          <p:nvPr/>
        </p:nvSpPr>
        <p:spPr>
          <a:xfrm>
            <a:off x="8564916" y="2603377"/>
            <a:ext cx="240756" cy="123659"/>
          </a:xfrm>
          <a:prstGeom prst="rect">
            <a:avLst/>
          </a:prstGeom>
          <a:solidFill>
            <a:srgbClr val="C2352F"/>
          </a:solidFill>
          <a:ln/>
        </p:spPr>
      </p:sp>
      <p:sp>
        <p:nvSpPr>
          <p:cNvPr id="127" name="Text 125"/>
          <p:cNvSpPr txBox="1"/>
          <p:nvPr/>
        </p:nvSpPr>
        <p:spPr>
          <a:xfrm>
            <a:off x="9390888" y="255279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49.0%</a:t>
            </a:r>
            <a:endParaRPr lang="en-US" sz="1300" dirty="0"/>
          </a:p>
        </p:txBody>
      </p:sp>
      <p:sp>
        <p:nvSpPr>
          <p:cNvPr id="128" name="Text 126"/>
          <p:cNvSpPr txBox="1"/>
          <p:nvPr/>
        </p:nvSpPr>
        <p:spPr>
          <a:xfrm>
            <a:off x="9957816" y="255279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41.2%</a:t>
            </a:r>
            <a:endParaRPr lang="en-US" sz="1300" dirty="0"/>
          </a:p>
        </p:txBody>
      </p:sp>
      <p:sp>
        <p:nvSpPr>
          <p:cNvPr id="129" name="Text 127"/>
          <p:cNvSpPr txBox="1"/>
          <p:nvPr/>
        </p:nvSpPr>
        <p:spPr>
          <a:xfrm>
            <a:off x="10524744" y="2552790"/>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−7.8 pts</a:t>
            </a:r>
            <a:endParaRPr lang="en-US" sz="1300" dirty="0"/>
          </a:p>
        </p:txBody>
      </p:sp>
      <p:sp>
        <p:nvSpPr>
          <p:cNvPr id="130" name="Shape 128"/>
          <p:cNvSpPr/>
          <p:nvPr/>
        </p:nvSpPr>
        <p:spPr>
          <a:xfrm>
            <a:off x="6135624" y="2777624"/>
            <a:ext cx="5394960" cy="224835"/>
          </a:xfrm>
          <a:prstGeom prst="rect">
            <a:avLst/>
          </a:prstGeom>
          <a:solidFill>
            <a:srgbClr val="F7F7F7"/>
          </a:solidFill>
          <a:ln/>
        </p:spPr>
      </p:sp>
      <p:sp>
        <p:nvSpPr>
          <p:cNvPr id="131" name="Text 129"/>
          <p:cNvSpPr txBox="1"/>
          <p:nvPr/>
        </p:nvSpPr>
        <p:spPr>
          <a:xfrm>
            <a:off x="6208776" y="277762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32" name="Shape 130"/>
          <p:cNvSpPr/>
          <p:nvPr/>
        </p:nvSpPr>
        <p:spPr>
          <a:xfrm>
            <a:off x="8545748" y="2828212"/>
            <a:ext cx="259924" cy="123659"/>
          </a:xfrm>
          <a:prstGeom prst="rect">
            <a:avLst/>
          </a:prstGeom>
          <a:solidFill>
            <a:srgbClr val="C2352F"/>
          </a:solidFill>
          <a:ln/>
        </p:spPr>
      </p:sp>
      <p:sp>
        <p:nvSpPr>
          <p:cNvPr id="133" name="Text 131"/>
          <p:cNvSpPr txBox="1"/>
          <p:nvPr/>
        </p:nvSpPr>
        <p:spPr>
          <a:xfrm>
            <a:off x="9390888" y="277762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43.6%</a:t>
            </a:r>
            <a:endParaRPr lang="en-US" sz="1300" dirty="0"/>
          </a:p>
        </p:txBody>
      </p:sp>
      <p:sp>
        <p:nvSpPr>
          <p:cNvPr id="134" name="Text 132"/>
          <p:cNvSpPr txBox="1"/>
          <p:nvPr/>
        </p:nvSpPr>
        <p:spPr>
          <a:xfrm>
            <a:off x="9957816" y="277762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35.1%</a:t>
            </a:r>
            <a:endParaRPr lang="en-US" sz="1300" dirty="0"/>
          </a:p>
        </p:txBody>
      </p:sp>
      <p:sp>
        <p:nvSpPr>
          <p:cNvPr id="135" name="Text 133"/>
          <p:cNvSpPr txBox="1"/>
          <p:nvPr/>
        </p:nvSpPr>
        <p:spPr>
          <a:xfrm>
            <a:off x="10524744" y="277762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−8.5 pts</a:t>
            </a:r>
            <a:endParaRPr lang="en-US" sz="1300" dirty="0"/>
          </a:p>
        </p:txBody>
      </p:sp>
      <p:sp>
        <p:nvSpPr>
          <p:cNvPr id="136" name="Text 134"/>
          <p:cNvSpPr txBox="1"/>
          <p:nvPr/>
        </p:nvSpPr>
        <p:spPr>
          <a:xfrm>
            <a:off x="6208776" y="300245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37" name="Shape 135"/>
          <p:cNvSpPr/>
          <p:nvPr/>
        </p:nvSpPr>
        <p:spPr>
          <a:xfrm>
            <a:off x="8541222" y="3053047"/>
            <a:ext cx="264450" cy="123659"/>
          </a:xfrm>
          <a:prstGeom prst="rect">
            <a:avLst/>
          </a:prstGeom>
          <a:solidFill>
            <a:srgbClr val="C2352F"/>
          </a:solidFill>
          <a:ln/>
        </p:spPr>
      </p:sp>
      <p:sp>
        <p:nvSpPr>
          <p:cNvPr id="138" name="Text 136"/>
          <p:cNvSpPr txBox="1"/>
          <p:nvPr/>
        </p:nvSpPr>
        <p:spPr>
          <a:xfrm>
            <a:off x="9390888" y="300245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43.1%</a:t>
            </a:r>
            <a:endParaRPr lang="en-US" sz="1300" dirty="0"/>
          </a:p>
        </p:txBody>
      </p:sp>
      <p:sp>
        <p:nvSpPr>
          <p:cNvPr id="139" name="Text 137"/>
          <p:cNvSpPr txBox="1"/>
          <p:nvPr/>
        </p:nvSpPr>
        <p:spPr>
          <a:xfrm>
            <a:off x="9957816" y="300245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34.5%</a:t>
            </a:r>
            <a:endParaRPr lang="en-US" sz="1300" dirty="0"/>
          </a:p>
        </p:txBody>
      </p:sp>
      <p:sp>
        <p:nvSpPr>
          <p:cNvPr id="140" name="Text 138"/>
          <p:cNvSpPr txBox="1"/>
          <p:nvPr/>
        </p:nvSpPr>
        <p:spPr>
          <a:xfrm>
            <a:off x="10524744" y="300245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−8.6 pts</a:t>
            </a:r>
            <a:endParaRPr lang="en-US" sz="1300" dirty="0"/>
          </a:p>
        </p:txBody>
      </p:sp>
      <p:sp>
        <p:nvSpPr>
          <p:cNvPr id="141" name="Shape 139"/>
          <p:cNvSpPr/>
          <p:nvPr/>
        </p:nvSpPr>
        <p:spPr>
          <a:xfrm>
            <a:off x="6135624" y="3227294"/>
            <a:ext cx="5394960" cy="224835"/>
          </a:xfrm>
          <a:prstGeom prst="rect">
            <a:avLst/>
          </a:prstGeom>
          <a:solidFill>
            <a:srgbClr val="F7F7F7"/>
          </a:solidFill>
          <a:ln/>
        </p:spPr>
      </p:sp>
      <p:sp>
        <p:nvSpPr>
          <p:cNvPr id="142" name="Text 140"/>
          <p:cNvSpPr txBox="1"/>
          <p:nvPr/>
        </p:nvSpPr>
        <p:spPr>
          <a:xfrm>
            <a:off x="6208776" y="322729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43" name="Shape 141"/>
          <p:cNvSpPr/>
          <p:nvPr/>
        </p:nvSpPr>
        <p:spPr>
          <a:xfrm>
            <a:off x="8534757" y="3277882"/>
            <a:ext cx="270915" cy="123659"/>
          </a:xfrm>
          <a:prstGeom prst="rect">
            <a:avLst/>
          </a:prstGeom>
          <a:solidFill>
            <a:srgbClr val="C2352F"/>
          </a:solidFill>
          <a:ln/>
        </p:spPr>
      </p:sp>
      <p:sp>
        <p:nvSpPr>
          <p:cNvPr id="144" name="Text 142"/>
          <p:cNvSpPr txBox="1"/>
          <p:nvPr/>
        </p:nvSpPr>
        <p:spPr>
          <a:xfrm>
            <a:off x="9390888" y="322729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41.7%</a:t>
            </a:r>
            <a:endParaRPr lang="en-US" sz="1300" dirty="0"/>
          </a:p>
        </p:txBody>
      </p:sp>
      <p:sp>
        <p:nvSpPr>
          <p:cNvPr id="145" name="Text 143"/>
          <p:cNvSpPr txBox="1"/>
          <p:nvPr/>
        </p:nvSpPr>
        <p:spPr>
          <a:xfrm>
            <a:off x="9957816" y="322729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32.8%</a:t>
            </a:r>
            <a:endParaRPr lang="en-US" sz="1300" dirty="0"/>
          </a:p>
        </p:txBody>
      </p:sp>
      <p:sp>
        <p:nvSpPr>
          <p:cNvPr id="146" name="Text 144"/>
          <p:cNvSpPr txBox="1"/>
          <p:nvPr/>
        </p:nvSpPr>
        <p:spPr>
          <a:xfrm>
            <a:off x="10524744" y="322729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−8.8 pts</a:t>
            </a:r>
            <a:endParaRPr lang="en-US" sz="1300" dirty="0"/>
          </a:p>
        </p:txBody>
      </p:sp>
      <p:sp>
        <p:nvSpPr>
          <p:cNvPr id="147" name="Text 145"/>
          <p:cNvSpPr txBox="1"/>
          <p:nvPr/>
        </p:nvSpPr>
        <p:spPr>
          <a:xfrm>
            <a:off x="6208776" y="345212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48" name="Shape 146"/>
          <p:cNvSpPr/>
          <p:nvPr/>
        </p:nvSpPr>
        <p:spPr>
          <a:xfrm>
            <a:off x="8499284" y="3502717"/>
            <a:ext cx="306388" cy="123659"/>
          </a:xfrm>
          <a:prstGeom prst="rect">
            <a:avLst/>
          </a:prstGeom>
          <a:solidFill>
            <a:srgbClr val="C2352F"/>
          </a:solidFill>
          <a:ln/>
        </p:spPr>
      </p:sp>
      <p:sp>
        <p:nvSpPr>
          <p:cNvPr id="149" name="Text 147"/>
          <p:cNvSpPr txBox="1"/>
          <p:nvPr/>
        </p:nvSpPr>
        <p:spPr>
          <a:xfrm>
            <a:off x="9390888" y="345212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42.5%</a:t>
            </a:r>
            <a:endParaRPr lang="en-US" sz="1300" dirty="0"/>
          </a:p>
        </p:txBody>
      </p:sp>
      <p:sp>
        <p:nvSpPr>
          <p:cNvPr id="150" name="Text 148"/>
          <p:cNvSpPr txBox="1"/>
          <p:nvPr/>
        </p:nvSpPr>
        <p:spPr>
          <a:xfrm>
            <a:off x="9957816" y="345212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32.5%</a:t>
            </a:r>
            <a:endParaRPr lang="en-US" sz="1300" dirty="0"/>
          </a:p>
        </p:txBody>
      </p:sp>
      <p:sp>
        <p:nvSpPr>
          <p:cNvPr id="151" name="Text 149"/>
          <p:cNvSpPr txBox="1"/>
          <p:nvPr/>
        </p:nvSpPr>
        <p:spPr>
          <a:xfrm>
            <a:off x="10524744" y="345212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−10.0 pts</a:t>
            </a:r>
            <a:endParaRPr lang="en-US" sz="1300" dirty="0"/>
          </a:p>
        </p:txBody>
      </p:sp>
      <p:sp>
        <p:nvSpPr>
          <p:cNvPr id="152" name="Shape 150"/>
          <p:cNvSpPr/>
          <p:nvPr/>
        </p:nvSpPr>
        <p:spPr>
          <a:xfrm>
            <a:off x="6135624" y="3676964"/>
            <a:ext cx="5394960" cy="224835"/>
          </a:xfrm>
          <a:prstGeom prst="rect">
            <a:avLst/>
          </a:prstGeom>
          <a:solidFill>
            <a:srgbClr val="F7F7F7"/>
          </a:solidFill>
          <a:ln/>
        </p:spPr>
      </p:sp>
      <p:sp>
        <p:nvSpPr>
          <p:cNvPr id="153" name="Text 151"/>
          <p:cNvSpPr txBox="1"/>
          <p:nvPr/>
        </p:nvSpPr>
        <p:spPr>
          <a:xfrm>
            <a:off x="6208776" y="367696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54" name="Shape 152"/>
          <p:cNvSpPr/>
          <p:nvPr/>
        </p:nvSpPr>
        <p:spPr>
          <a:xfrm>
            <a:off x="8496238" y="3727552"/>
            <a:ext cx="309434" cy="123659"/>
          </a:xfrm>
          <a:prstGeom prst="rect">
            <a:avLst/>
          </a:prstGeom>
          <a:solidFill>
            <a:srgbClr val="C2352F"/>
          </a:solidFill>
          <a:ln/>
        </p:spPr>
      </p:sp>
      <p:sp>
        <p:nvSpPr>
          <p:cNvPr id="155" name="Text 153"/>
          <p:cNvSpPr txBox="1"/>
          <p:nvPr/>
        </p:nvSpPr>
        <p:spPr>
          <a:xfrm>
            <a:off x="9390888" y="367696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36.9%</a:t>
            </a:r>
            <a:endParaRPr lang="en-US" sz="1300" dirty="0"/>
          </a:p>
        </p:txBody>
      </p:sp>
      <p:sp>
        <p:nvSpPr>
          <p:cNvPr id="156" name="Text 154"/>
          <p:cNvSpPr txBox="1"/>
          <p:nvPr/>
        </p:nvSpPr>
        <p:spPr>
          <a:xfrm>
            <a:off x="9957816" y="367696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26.8%</a:t>
            </a:r>
            <a:endParaRPr lang="en-US" sz="1300" dirty="0"/>
          </a:p>
        </p:txBody>
      </p:sp>
      <p:sp>
        <p:nvSpPr>
          <p:cNvPr id="157" name="Text 155"/>
          <p:cNvSpPr txBox="1"/>
          <p:nvPr/>
        </p:nvSpPr>
        <p:spPr>
          <a:xfrm>
            <a:off x="10524744" y="367696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−10.1 pts</a:t>
            </a:r>
            <a:endParaRPr lang="en-US" sz="1300" dirty="0"/>
          </a:p>
        </p:txBody>
      </p:sp>
      <p:sp>
        <p:nvSpPr>
          <p:cNvPr id="158" name="Text 156"/>
          <p:cNvSpPr txBox="1"/>
          <p:nvPr/>
        </p:nvSpPr>
        <p:spPr>
          <a:xfrm>
            <a:off x="6208776" y="390179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59" name="Shape 157"/>
          <p:cNvSpPr/>
          <p:nvPr/>
        </p:nvSpPr>
        <p:spPr>
          <a:xfrm>
            <a:off x="8493166" y="3952386"/>
            <a:ext cx="312506" cy="123659"/>
          </a:xfrm>
          <a:prstGeom prst="rect">
            <a:avLst/>
          </a:prstGeom>
          <a:solidFill>
            <a:srgbClr val="C2352F"/>
          </a:solidFill>
          <a:ln/>
        </p:spPr>
      </p:sp>
      <p:sp>
        <p:nvSpPr>
          <p:cNvPr id="160" name="Text 158"/>
          <p:cNvSpPr txBox="1"/>
          <p:nvPr/>
        </p:nvSpPr>
        <p:spPr>
          <a:xfrm>
            <a:off x="9390888" y="390179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41.9%</a:t>
            </a:r>
            <a:endParaRPr lang="en-US" sz="1300" dirty="0"/>
          </a:p>
        </p:txBody>
      </p:sp>
      <p:sp>
        <p:nvSpPr>
          <p:cNvPr id="161" name="Text 159"/>
          <p:cNvSpPr txBox="1"/>
          <p:nvPr/>
        </p:nvSpPr>
        <p:spPr>
          <a:xfrm>
            <a:off x="9957816" y="390179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31.7%</a:t>
            </a:r>
            <a:endParaRPr lang="en-US" sz="1300" dirty="0"/>
          </a:p>
        </p:txBody>
      </p:sp>
      <p:sp>
        <p:nvSpPr>
          <p:cNvPr id="162" name="Text 160"/>
          <p:cNvSpPr txBox="1"/>
          <p:nvPr/>
        </p:nvSpPr>
        <p:spPr>
          <a:xfrm>
            <a:off x="10524744" y="390179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 pts</a:t>
            </a:r>
            <a:endParaRPr lang="en-US" sz="1300" dirty="0"/>
          </a:p>
        </p:txBody>
      </p:sp>
      <p:sp>
        <p:nvSpPr>
          <p:cNvPr id="163" name="Shape 161"/>
          <p:cNvSpPr/>
          <p:nvPr/>
        </p:nvSpPr>
        <p:spPr>
          <a:xfrm>
            <a:off x="6135624" y="4126633"/>
            <a:ext cx="5394960" cy="224835"/>
          </a:xfrm>
          <a:prstGeom prst="rect">
            <a:avLst/>
          </a:prstGeom>
          <a:solidFill>
            <a:srgbClr val="F7F7F7"/>
          </a:solidFill>
          <a:ln/>
        </p:spPr>
      </p:sp>
      <p:sp>
        <p:nvSpPr>
          <p:cNvPr id="164" name="Text 162"/>
          <p:cNvSpPr txBox="1"/>
          <p:nvPr/>
        </p:nvSpPr>
        <p:spPr>
          <a:xfrm>
            <a:off x="6208776" y="412663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65" name="Shape 163"/>
          <p:cNvSpPr/>
          <p:nvPr/>
        </p:nvSpPr>
        <p:spPr>
          <a:xfrm>
            <a:off x="8491434" y="4177221"/>
            <a:ext cx="314238" cy="123659"/>
          </a:xfrm>
          <a:prstGeom prst="rect">
            <a:avLst/>
          </a:prstGeom>
          <a:solidFill>
            <a:srgbClr val="C2352F"/>
          </a:solidFill>
          <a:ln/>
        </p:spPr>
      </p:sp>
      <p:sp>
        <p:nvSpPr>
          <p:cNvPr id="166" name="Text 164"/>
          <p:cNvSpPr txBox="1"/>
          <p:nvPr/>
        </p:nvSpPr>
        <p:spPr>
          <a:xfrm>
            <a:off x="9390888" y="412663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41.0%</a:t>
            </a:r>
            <a:endParaRPr lang="en-US" sz="1300" dirty="0"/>
          </a:p>
        </p:txBody>
      </p:sp>
      <p:sp>
        <p:nvSpPr>
          <p:cNvPr id="167" name="Text 165"/>
          <p:cNvSpPr txBox="1"/>
          <p:nvPr/>
        </p:nvSpPr>
        <p:spPr>
          <a:xfrm>
            <a:off x="9957816" y="412663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30.8%</a:t>
            </a:r>
            <a:endParaRPr lang="en-US" sz="1300" dirty="0"/>
          </a:p>
        </p:txBody>
      </p:sp>
      <p:sp>
        <p:nvSpPr>
          <p:cNvPr id="168" name="Text 166"/>
          <p:cNvSpPr txBox="1"/>
          <p:nvPr/>
        </p:nvSpPr>
        <p:spPr>
          <a:xfrm>
            <a:off x="10524744" y="412663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 pts</a:t>
            </a:r>
            <a:endParaRPr lang="en-US" sz="1300" dirty="0"/>
          </a:p>
        </p:txBody>
      </p:sp>
      <p:sp>
        <p:nvSpPr>
          <p:cNvPr id="169" name="Text 167"/>
          <p:cNvSpPr txBox="1"/>
          <p:nvPr/>
        </p:nvSpPr>
        <p:spPr>
          <a:xfrm>
            <a:off x="6208776" y="435146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70" name="Shape 168"/>
          <p:cNvSpPr/>
          <p:nvPr/>
        </p:nvSpPr>
        <p:spPr>
          <a:xfrm>
            <a:off x="8472728" y="4402056"/>
            <a:ext cx="332944" cy="123659"/>
          </a:xfrm>
          <a:prstGeom prst="rect">
            <a:avLst/>
          </a:prstGeom>
          <a:solidFill>
            <a:srgbClr val="C2352F"/>
          </a:solidFill>
          <a:ln/>
        </p:spPr>
      </p:sp>
      <p:sp>
        <p:nvSpPr>
          <p:cNvPr id="171" name="Text 169"/>
          <p:cNvSpPr txBox="1"/>
          <p:nvPr/>
        </p:nvSpPr>
        <p:spPr>
          <a:xfrm>
            <a:off x="9390888" y="435146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44.9%</a:t>
            </a:r>
            <a:endParaRPr lang="en-US" sz="1300" dirty="0"/>
          </a:p>
        </p:txBody>
      </p:sp>
      <p:sp>
        <p:nvSpPr>
          <p:cNvPr id="172" name="Text 170"/>
          <p:cNvSpPr txBox="1"/>
          <p:nvPr/>
        </p:nvSpPr>
        <p:spPr>
          <a:xfrm>
            <a:off x="9957816" y="435146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34.0%</a:t>
            </a:r>
            <a:endParaRPr lang="en-US" sz="1300" dirty="0"/>
          </a:p>
        </p:txBody>
      </p:sp>
      <p:sp>
        <p:nvSpPr>
          <p:cNvPr id="173" name="Text 171"/>
          <p:cNvSpPr txBox="1"/>
          <p:nvPr/>
        </p:nvSpPr>
        <p:spPr>
          <a:xfrm>
            <a:off x="10524744" y="435146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−10.8 pts</a:t>
            </a:r>
            <a:endParaRPr lang="en-US" sz="1300" dirty="0"/>
          </a:p>
        </p:txBody>
      </p:sp>
      <p:sp>
        <p:nvSpPr>
          <p:cNvPr id="174" name="Shape 172"/>
          <p:cNvSpPr/>
          <p:nvPr/>
        </p:nvSpPr>
        <p:spPr>
          <a:xfrm>
            <a:off x="6135624" y="4576303"/>
            <a:ext cx="5394960" cy="224835"/>
          </a:xfrm>
          <a:prstGeom prst="rect">
            <a:avLst/>
          </a:prstGeom>
          <a:solidFill>
            <a:srgbClr val="F7F7F7"/>
          </a:solidFill>
          <a:ln/>
        </p:spPr>
      </p:sp>
      <p:sp>
        <p:nvSpPr>
          <p:cNvPr id="175" name="Text 173"/>
          <p:cNvSpPr txBox="1"/>
          <p:nvPr/>
        </p:nvSpPr>
        <p:spPr>
          <a:xfrm>
            <a:off x="6208776" y="457630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76" name="Shape 174"/>
          <p:cNvSpPr/>
          <p:nvPr/>
        </p:nvSpPr>
        <p:spPr>
          <a:xfrm>
            <a:off x="8461553" y="4626891"/>
            <a:ext cx="344119" cy="123659"/>
          </a:xfrm>
          <a:prstGeom prst="rect">
            <a:avLst/>
          </a:prstGeom>
          <a:solidFill>
            <a:srgbClr val="C2352F"/>
          </a:solidFill>
          <a:ln/>
        </p:spPr>
      </p:sp>
      <p:sp>
        <p:nvSpPr>
          <p:cNvPr id="177" name="Text 175"/>
          <p:cNvSpPr txBox="1"/>
          <p:nvPr/>
        </p:nvSpPr>
        <p:spPr>
          <a:xfrm>
            <a:off x="9390888" y="457630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35.6%</a:t>
            </a:r>
            <a:endParaRPr lang="en-US" sz="1300" dirty="0"/>
          </a:p>
        </p:txBody>
      </p:sp>
      <p:sp>
        <p:nvSpPr>
          <p:cNvPr id="178" name="Text 176"/>
          <p:cNvSpPr txBox="1"/>
          <p:nvPr/>
        </p:nvSpPr>
        <p:spPr>
          <a:xfrm>
            <a:off x="9957816" y="457630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24.4%</a:t>
            </a:r>
            <a:endParaRPr lang="en-US" sz="1300" dirty="0"/>
          </a:p>
        </p:txBody>
      </p:sp>
      <p:sp>
        <p:nvSpPr>
          <p:cNvPr id="179" name="Text 177"/>
          <p:cNvSpPr txBox="1"/>
          <p:nvPr/>
        </p:nvSpPr>
        <p:spPr>
          <a:xfrm>
            <a:off x="10524744" y="457630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−11.2 pts</a:t>
            </a:r>
            <a:endParaRPr lang="en-US" sz="1300" dirty="0"/>
          </a:p>
        </p:txBody>
      </p:sp>
      <p:sp>
        <p:nvSpPr>
          <p:cNvPr id="180" name="Text 178"/>
          <p:cNvSpPr txBox="1"/>
          <p:nvPr/>
        </p:nvSpPr>
        <p:spPr>
          <a:xfrm>
            <a:off x="6208776" y="480113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81" name="Shape 179"/>
          <p:cNvSpPr/>
          <p:nvPr/>
        </p:nvSpPr>
        <p:spPr>
          <a:xfrm>
            <a:off x="8358802" y="4851726"/>
            <a:ext cx="446870" cy="123659"/>
          </a:xfrm>
          <a:prstGeom prst="rect">
            <a:avLst/>
          </a:prstGeom>
          <a:solidFill>
            <a:srgbClr val="C2352F"/>
          </a:solidFill>
          <a:ln/>
        </p:spPr>
      </p:sp>
      <p:sp>
        <p:nvSpPr>
          <p:cNvPr id="182" name="Text 180"/>
          <p:cNvSpPr txBox="1"/>
          <p:nvPr/>
        </p:nvSpPr>
        <p:spPr>
          <a:xfrm>
            <a:off x="9390888" y="480113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44.6%</a:t>
            </a:r>
            <a:endParaRPr lang="en-US" sz="1300" dirty="0"/>
          </a:p>
        </p:txBody>
      </p:sp>
      <p:sp>
        <p:nvSpPr>
          <p:cNvPr id="183" name="Text 181"/>
          <p:cNvSpPr txBox="1"/>
          <p:nvPr/>
        </p:nvSpPr>
        <p:spPr>
          <a:xfrm>
            <a:off x="9957816" y="480113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30.1%</a:t>
            </a:r>
            <a:endParaRPr lang="en-US" sz="1300" dirty="0"/>
          </a:p>
        </p:txBody>
      </p:sp>
      <p:sp>
        <p:nvSpPr>
          <p:cNvPr id="184" name="Text 182"/>
          <p:cNvSpPr txBox="1"/>
          <p:nvPr/>
        </p:nvSpPr>
        <p:spPr>
          <a:xfrm>
            <a:off x="10524744" y="480113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−14.5 pts</a:t>
            </a:r>
            <a:endParaRPr lang="en-US" sz="1300" dirty="0"/>
          </a:p>
        </p:txBody>
      </p:sp>
      <p:sp>
        <p:nvSpPr>
          <p:cNvPr id="185" name="Shape 183"/>
          <p:cNvSpPr/>
          <p:nvPr/>
        </p:nvSpPr>
        <p:spPr>
          <a:xfrm>
            <a:off x="6135624" y="5025973"/>
            <a:ext cx="5394960" cy="224835"/>
          </a:xfrm>
          <a:prstGeom prst="rect">
            <a:avLst/>
          </a:prstGeom>
          <a:solidFill>
            <a:srgbClr val="F7F7F7"/>
          </a:solidFill>
          <a:ln/>
        </p:spPr>
      </p:sp>
      <p:sp>
        <p:nvSpPr>
          <p:cNvPr id="186" name="Text 184"/>
          <p:cNvSpPr txBox="1"/>
          <p:nvPr/>
        </p:nvSpPr>
        <p:spPr>
          <a:xfrm>
            <a:off x="6208776" y="502597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87" name="Shape 185"/>
          <p:cNvSpPr/>
          <p:nvPr/>
        </p:nvSpPr>
        <p:spPr>
          <a:xfrm>
            <a:off x="8352988" y="5076561"/>
            <a:ext cx="452684" cy="123659"/>
          </a:xfrm>
          <a:prstGeom prst="rect">
            <a:avLst/>
          </a:prstGeom>
          <a:solidFill>
            <a:srgbClr val="C2352F"/>
          </a:solidFill>
          <a:ln/>
        </p:spPr>
      </p:sp>
      <p:sp>
        <p:nvSpPr>
          <p:cNvPr id="188" name="Text 186"/>
          <p:cNvSpPr txBox="1"/>
          <p:nvPr/>
        </p:nvSpPr>
        <p:spPr>
          <a:xfrm>
            <a:off x="9390888" y="502597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43.4%</a:t>
            </a:r>
            <a:endParaRPr lang="en-US" sz="1300" dirty="0"/>
          </a:p>
        </p:txBody>
      </p:sp>
      <p:sp>
        <p:nvSpPr>
          <p:cNvPr id="189" name="Text 187"/>
          <p:cNvSpPr txBox="1"/>
          <p:nvPr/>
        </p:nvSpPr>
        <p:spPr>
          <a:xfrm>
            <a:off x="9957816" y="502597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28.7%</a:t>
            </a:r>
            <a:endParaRPr lang="en-US" sz="1300" dirty="0"/>
          </a:p>
        </p:txBody>
      </p:sp>
      <p:sp>
        <p:nvSpPr>
          <p:cNvPr id="190" name="Text 188"/>
          <p:cNvSpPr txBox="1"/>
          <p:nvPr/>
        </p:nvSpPr>
        <p:spPr>
          <a:xfrm>
            <a:off x="10524744" y="502597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−14.7 pts</a:t>
            </a:r>
            <a:endParaRPr lang="en-US" sz="1300" dirty="0"/>
          </a:p>
        </p:txBody>
      </p:sp>
      <p:sp>
        <p:nvSpPr>
          <p:cNvPr id="191" name="Text 189"/>
          <p:cNvSpPr txBox="1"/>
          <p:nvPr/>
        </p:nvSpPr>
        <p:spPr>
          <a:xfrm>
            <a:off x="6208776" y="525080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92" name="Shape 190"/>
          <p:cNvSpPr/>
          <p:nvPr/>
        </p:nvSpPr>
        <p:spPr>
          <a:xfrm>
            <a:off x="8331777" y="5301395"/>
            <a:ext cx="473895" cy="123659"/>
          </a:xfrm>
          <a:prstGeom prst="rect">
            <a:avLst/>
          </a:prstGeom>
          <a:solidFill>
            <a:srgbClr val="C2352F"/>
          </a:solidFill>
          <a:ln/>
        </p:spPr>
      </p:sp>
      <p:sp>
        <p:nvSpPr>
          <p:cNvPr id="193" name="Text 191"/>
          <p:cNvSpPr txBox="1"/>
          <p:nvPr/>
        </p:nvSpPr>
        <p:spPr>
          <a:xfrm>
            <a:off x="9390888" y="525080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45.1%</a:t>
            </a:r>
            <a:endParaRPr lang="en-US" sz="1300" dirty="0"/>
          </a:p>
        </p:txBody>
      </p:sp>
      <p:sp>
        <p:nvSpPr>
          <p:cNvPr id="194" name="Text 192"/>
          <p:cNvSpPr txBox="1"/>
          <p:nvPr/>
        </p:nvSpPr>
        <p:spPr>
          <a:xfrm>
            <a:off x="9957816" y="525080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29.7%</a:t>
            </a:r>
            <a:endParaRPr lang="en-US" sz="1300" dirty="0"/>
          </a:p>
        </p:txBody>
      </p:sp>
      <p:sp>
        <p:nvSpPr>
          <p:cNvPr id="195" name="Text 193"/>
          <p:cNvSpPr txBox="1"/>
          <p:nvPr/>
        </p:nvSpPr>
        <p:spPr>
          <a:xfrm>
            <a:off x="10524744" y="525080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−15.4 pts</a:t>
            </a:r>
            <a:endParaRPr lang="en-US" sz="1300" dirty="0"/>
          </a:p>
        </p:txBody>
      </p:sp>
      <p:sp>
        <p:nvSpPr>
          <p:cNvPr id="196" name="Shape 194"/>
          <p:cNvSpPr/>
          <p:nvPr/>
        </p:nvSpPr>
        <p:spPr>
          <a:xfrm>
            <a:off x="6135624" y="5475642"/>
            <a:ext cx="5394960" cy="224835"/>
          </a:xfrm>
          <a:prstGeom prst="rect">
            <a:avLst/>
          </a:prstGeom>
          <a:solidFill>
            <a:srgbClr val="F7F7F7"/>
          </a:solidFill>
          <a:ln/>
        </p:spPr>
      </p:sp>
      <p:sp>
        <p:nvSpPr>
          <p:cNvPr id="197" name="Text 195"/>
          <p:cNvSpPr txBox="1"/>
          <p:nvPr/>
        </p:nvSpPr>
        <p:spPr>
          <a:xfrm>
            <a:off x="6208776" y="5475642"/>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98" name="Shape 196"/>
          <p:cNvSpPr/>
          <p:nvPr/>
        </p:nvSpPr>
        <p:spPr>
          <a:xfrm>
            <a:off x="8266176" y="5526230"/>
            <a:ext cx="539496" cy="123659"/>
          </a:xfrm>
          <a:prstGeom prst="rect">
            <a:avLst/>
          </a:prstGeom>
          <a:solidFill>
            <a:srgbClr val="C2352F"/>
          </a:solidFill>
          <a:ln/>
        </p:spPr>
      </p:sp>
      <p:sp>
        <p:nvSpPr>
          <p:cNvPr id="199" name="Text 197"/>
          <p:cNvSpPr txBox="1"/>
          <p:nvPr/>
        </p:nvSpPr>
        <p:spPr>
          <a:xfrm>
            <a:off x="9390888" y="5475642"/>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42.8%</a:t>
            </a:r>
            <a:endParaRPr lang="en-US" sz="1300" dirty="0"/>
          </a:p>
        </p:txBody>
      </p:sp>
      <p:sp>
        <p:nvSpPr>
          <p:cNvPr id="200" name="Text 198"/>
          <p:cNvSpPr txBox="1"/>
          <p:nvPr/>
        </p:nvSpPr>
        <p:spPr>
          <a:xfrm>
            <a:off x="9957816" y="5475642"/>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25.2%</a:t>
            </a:r>
            <a:endParaRPr lang="en-US" sz="1300" dirty="0"/>
          </a:p>
        </p:txBody>
      </p:sp>
      <p:sp>
        <p:nvSpPr>
          <p:cNvPr id="201" name="Text 199"/>
          <p:cNvSpPr txBox="1"/>
          <p:nvPr/>
        </p:nvSpPr>
        <p:spPr>
          <a:xfrm>
            <a:off x="10524744" y="5475642"/>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−17.6 pts</a:t>
            </a:r>
            <a:endParaRPr lang="en-US" sz="1300" dirty="0"/>
          </a:p>
        </p:txBody>
      </p:sp>
      <p:sp>
        <p:nvSpPr>
          <p:cNvPr id="202" name="Shape 200"/>
          <p:cNvSpPr/>
          <p:nvPr/>
        </p:nvSpPr>
        <p:spPr>
          <a:xfrm>
            <a:off x="457200" y="6126480"/>
            <a:ext cx="11274552" cy="600456"/>
          </a:xfrm>
          <a:prstGeom prst="rect">
            <a:avLst/>
          </a:prstGeom>
          <a:solidFill>
            <a:srgbClr val="EDF4FA"/>
          </a:solidFill>
          <a:ln/>
        </p:spPr>
      </p:sp>
      <p:sp>
        <p:nvSpPr>
          <p:cNvPr id="203" name="Text 201"/>
          <p:cNvSpPr txBox="1"/>
          <p:nvPr/>
        </p:nvSpPr>
        <p:spPr>
          <a:xfrm>
            <a:off x="658368" y="6144768"/>
            <a:ext cx="10927080" cy="56388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Internal parts margin runs 4.2 pts below customer pay across the group; 11 of 33 stores are at or better than that gap. Widest: LR LV (−17.6 pts), Honda Flagstaff (−15.4 pts) and Audi Reno (−14.7 pts).</a:t>
            </a:r>
            <a:endParaRPr lang="en-US" sz="1550" dirty="0"/>
          </a:p>
        </p:txBody>
      </p:sp>
    </p:spTree>
  </p:cSld>
  <p:clrMapOvr>
    <a:masterClrMapping/>
  </p:clrMapOvr>
</p:sld>
</file>

<file path=ppt/slides/slide18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PHOTO COMPLETION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Photo Completion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PHOTO COMPLETION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JULY–SEPTEMBER 2026</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45.3%</a:t>
            </a:r>
            <a:endParaRPr lang="en-US" sz="2000" dirty="0"/>
          </a:p>
        </p:txBody>
      </p:sp>
      <p:sp>
        <p:nvSpPr>
          <p:cNvPr id="11" name="Text 9"/>
          <p:cNvSpPr txBox="1"/>
          <p:nvPr/>
        </p:nvSpPr>
        <p:spPr>
          <a:xfrm>
            <a:off x="658368" y="2121408"/>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 name="Shape 11"/>
          <p:cNvSpPr/>
          <p:nvPr/>
        </p:nvSpPr>
        <p:spPr>
          <a:xfrm>
            <a:off x="3008376" y="2189335"/>
            <a:ext cx="868680" cy="135854"/>
          </a:xfrm>
          <a:prstGeom prst="rect">
            <a:avLst/>
          </a:prstGeom>
          <a:solidFill>
            <a:srgbClr val="12A566"/>
          </a:solidFill>
          <a:ln/>
        </p:spPr>
      </p:sp>
      <p:sp>
        <p:nvSpPr>
          <p:cNvPr id="14" name="Text 12"/>
          <p:cNvSpPr txBox="1"/>
          <p:nvPr/>
        </p:nvSpPr>
        <p:spPr>
          <a:xfrm>
            <a:off x="3931920" y="2121408"/>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91.2%</a:t>
            </a:r>
            <a:endParaRPr lang="en-US" sz="1200" dirty="0"/>
          </a:p>
        </p:txBody>
      </p:sp>
      <p:sp>
        <p:nvSpPr>
          <p:cNvPr id="15" name="Text 13"/>
          <p:cNvSpPr txBox="1"/>
          <p:nvPr/>
        </p:nvSpPr>
        <p:spPr>
          <a:xfrm>
            <a:off x="4608576" y="2121408"/>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16" name="Text 14"/>
          <p:cNvSpPr txBox="1"/>
          <p:nvPr/>
        </p:nvSpPr>
        <p:spPr>
          <a:xfrm>
            <a:off x="658368" y="239311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7" name="Text 15"/>
          <p:cNvSpPr txBox="1"/>
          <p:nvPr/>
        </p:nvSpPr>
        <p:spPr>
          <a:xfrm>
            <a:off x="1014984" y="239311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8" name="Shape 16"/>
          <p:cNvSpPr/>
          <p:nvPr/>
        </p:nvSpPr>
        <p:spPr>
          <a:xfrm>
            <a:off x="3008376" y="2461042"/>
            <a:ext cx="862965" cy="135854"/>
          </a:xfrm>
          <a:prstGeom prst="rect">
            <a:avLst/>
          </a:prstGeom>
          <a:solidFill>
            <a:srgbClr val="12A566"/>
          </a:solidFill>
          <a:ln/>
        </p:spPr>
      </p:sp>
      <p:sp>
        <p:nvSpPr>
          <p:cNvPr id="19" name="Text 17"/>
          <p:cNvSpPr txBox="1"/>
          <p:nvPr/>
        </p:nvSpPr>
        <p:spPr>
          <a:xfrm>
            <a:off x="3931920" y="2393115"/>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90.6%</a:t>
            </a:r>
            <a:endParaRPr lang="en-US" sz="1200" dirty="0"/>
          </a:p>
        </p:txBody>
      </p:sp>
      <p:sp>
        <p:nvSpPr>
          <p:cNvPr id="20" name="Text 18"/>
          <p:cNvSpPr txBox="1"/>
          <p:nvPr/>
        </p:nvSpPr>
        <p:spPr>
          <a:xfrm>
            <a:off x="4608576" y="239311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UpdatePromise</a:t>
            </a:r>
            <a:endParaRPr lang="en-US" sz="1200" dirty="0"/>
          </a:p>
        </p:txBody>
      </p:sp>
      <p:sp>
        <p:nvSpPr>
          <p:cNvPr id="21" name="Text 19"/>
          <p:cNvSpPr txBox="1"/>
          <p:nvPr/>
        </p:nvSpPr>
        <p:spPr>
          <a:xfrm>
            <a:off x="658368" y="2664823"/>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664823"/>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23" name="Shape 21"/>
          <p:cNvSpPr/>
          <p:nvPr/>
        </p:nvSpPr>
        <p:spPr>
          <a:xfrm>
            <a:off x="3008376" y="2732750"/>
            <a:ext cx="847725" cy="135854"/>
          </a:xfrm>
          <a:prstGeom prst="rect">
            <a:avLst/>
          </a:prstGeom>
          <a:solidFill>
            <a:srgbClr val="12A566"/>
          </a:solidFill>
          <a:ln/>
        </p:spPr>
      </p:sp>
      <p:sp>
        <p:nvSpPr>
          <p:cNvPr id="24" name="Text 22"/>
          <p:cNvSpPr txBox="1"/>
          <p:nvPr/>
        </p:nvSpPr>
        <p:spPr>
          <a:xfrm>
            <a:off x="3931920" y="2664823"/>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89.0%</a:t>
            </a:r>
            <a:endParaRPr lang="en-US" sz="1200" dirty="0"/>
          </a:p>
        </p:txBody>
      </p:sp>
      <p:sp>
        <p:nvSpPr>
          <p:cNvPr id="25" name="Text 23"/>
          <p:cNvSpPr txBox="1"/>
          <p:nvPr/>
        </p:nvSpPr>
        <p:spPr>
          <a:xfrm>
            <a:off x="4608576" y="2664823"/>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26" name="Text 24"/>
          <p:cNvSpPr txBox="1"/>
          <p:nvPr/>
        </p:nvSpPr>
        <p:spPr>
          <a:xfrm>
            <a:off x="658368" y="293653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7" name="Text 25"/>
          <p:cNvSpPr txBox="1"/>
          <p:nvPr/>
        </p:nvSpPr>
        <p:spPr>
          <a:xfrm>
            <a:off x="1014984" y="293653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8" name="Shape 26"/>
          <p:cNvSpPr/>
          <p:nvPr/>
        </p:nvSpPr>
        <p:spPr>
          <a:xfrm>
            <a:off x="3008376" y="3004457"/>
            <a:ext cx="845820" cy="135854"/>
          </a:xfrm>
          <a:prstGeom prst="rect">
            <a:avLst/>
          </a:prstGeom>
          <a:solidFill>
            <a:srgbClr val="12A566"/>
          </a:solidFill>
          <a:ln/>
        </p:spPr>
      </p:sp>
      <p:sp>
        <p:nvSpPr>
          <p:cNvPr id="29" name="Text 27"/>
          <p:cNvSpPr txBox="1"/>
          <p:nvPr/>
        </p:nvSpPr>
        <p:spPr>
          <a:xfrm>
            <a:off x="3931920" y="2936530"/>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88.8%</a:t>
            </a:r>
            <a:endParaRPr lang="en-US" sz="1200" dirty="0"/>
          </a:p>
        </p:txBody>
      </p:sp>
      <p:sp>
        <p:nvSpPr>
          <p:cNvPr id="30" name="Text 28"/>
          <p:cNvSpPr txBox="1"/>
          <p:nvPr/>
        </p:nvSpPr>
        <p:spPr>
          <a:xfrm>
            <a:off x="4608576" y="293653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31" name="Text 29"/>
          <p:cNvSpPr txBox="1"/>
          <p:nvPr/>
        </p:nvSpPr>
        <p:spPr>
          <a:xfrm>
            <a:off x="658368" y="3208238"/>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2" name="Text 30"/>
          <p:cNvSpPr txBox="1"/>
          <p:nvPr/>
        </p:nvSpPr>
        <p:spPr>
          <a:xfrm>
            <a:off x="1014984" y="3208238"/>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3" name="Shape 31"/>
          <p:cNvSpPr/>
          <p:nvPr/>
        </p:nvSpPr>
        <p:spPr>
          <a:xfrm>
            <a:off x="3008376" y="3276165"/>
            <a:ext cx="755333" cy="135854"/>
          </a:xfrm>
          <a:prstGeom prst="rect">
            <a:avLst/>
          </a:prstGeom>
          <a:solidFill>
            <a:srgbClr val="12A566"/>
          </a:solidFill>
          <a:ln/>
        </p:spPr>
      </p:sp>
      <p:sp>
        <p:nvSpPr>
          <p:cNvPr id="34" name="Text 32"/>
          <p:cNvSpPr txBox="1"/>
          <p:nvPr/>
        </p:nvSpPr>
        <p:spPr>
          <a:xfrm>
            <a:off x="3931920" y="3208238"/>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79.3%</a:t>
            </a:r>
            <a:endParaRPr lang="en-US" sz="1200" dirty="0"/>
          </a:p>
        </p:txBody>
      </p:sp>
      <p:sp>
        <p:nvSpPr>
          <p:cNvPr id="35" name="Text 33"/>
          <p:cNvSpPr txBox="1"/>
          <p:nvPr/>
        </p:nvSpPr>
        <p:spPr>
          <a:xfrm>
            <a:off x="4608576" y="3208238"/>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36" name="Text 34"/>
          <p:cNvSpPr txBox="1"/>
          <p:nvPr/>
        </p:nvSpPr>
        <p:spPr>
          <a:xfrm>
            <a:off x="658368" y="347994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7" name="Text 35"/>
          <p:cNvSpPr txBox="1"/>
          <p:nvPr/>
        </p:nvSpPr>
        <p:spPr>
          <a:xfrm>
            <a:off x="1014984" y="347994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8" name="Shape 36"/>
          <p:cNvSpPr/>
          <p:nvPr/>
        </p:nvSpPr>
        <p:spPr>
          <a:xfrm>
            <a:off x="3008376" y="3547872"/>
            <a:ext cx="687705" cy="135854"/>
          </a:xfrm>
          <a:prstGeom prst="rect">
            <a:avLst/>
          </a:prstGeom>
          <a:solidFill>
            <a:srgbClr val="12A566"/>
          </a:solidFill>
          <a:ln/>
        </p:spPr>
      </p:sp>
      <p:sp>
        <p:nvSpPr>
          <p:cNvPr id="39" name="Text 37"/>
          <p:cNvSpPr txBox="1"/>
          <p:nvPr/>
        </p:nvSpPr>
        <p:spPr>
          <a:xfrm>
            <a:off x="3931920" y="3479945"/>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72.2%</a:t>
            </a:r>
            <a:endParaRPr lang="en-US" sz="1200" dirty="0"/>
          </a:p>
        </p:txBody>
      </p:sp>
      <p:sp>
        <p:nvSpPr>
          <p:cNvPr id="40" name="Text 38"/>
          <p:cNvSpPr txBox="1"/>
          <p:nvPr/>
        </p:nvSpPr>
        <p:spPr>
          <a:xfrm>
            <a:off x="4608576" y="347994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41" name="Text 39"/>
          <p:cNvSpPr txBox="1"/>
          <p:nvPr/>
        </p:nvSpPr>
        <p:spPr>
          <a:xfrm>
            <a:off x="658368" y="3751653"/>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2" name="Text 40"/>
          <p:cNvSpPr txBox="1"/>
          <p:nvPr/>
        </p:nvSpPr>
        <p:spPr>
          <a:xfrm>
            <a:off x="1014984" y="3751653"/>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3" name="Shape 41"/>
          <p:cNvSpPr/>
          <p:nvPr/>
        </p:nvSpPr>
        <p:spPr>
          <a:xfrm>
            <a:off x="3008376" y="3819579"/>
            <a:ext cx="666750" cy="135854"/>
          </a:xfrm>
          <a:prstGeom prst="rect">
            <a:avLst/>
          </a:prstGeom>
          <a:solidFill>
            <a:srgbClr val="12A566"/>
          </a:solidFill>
          <a:ln/>
        </p:spPr>
      </p:sp>
      <p:sp>
        <p:nvSpPr>
          <p:cNvPr id="44" name="Text 42"/>
          <p:cNvSpPr txBox="1"/>
          <p:nvPr/>
        </p:nvSpPr>
        <p:spPr>
          <a:xfrm>
            <a:off x="3931920" y="3751653"/>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70.0%</a:t>
            </a:r>
            <a:endParaRPr lang="en-US" sz="1200" dirty="0"/>
          </a:p>
        </p:txBody>
      </p:sp>
      <p:sp>
        <p:nvSpPr>
          <p:cNvPr id="45" name="Text 43"/>
          <p:cNvSpPr txBox="1"/>
          <p:nvPr/>
        </p:nvSpPr>
        <p:spPr>
          <a:xfrm>
            <a:off x="4608576" y="3751653"/>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46" name="Text 44"/>
          <p:cNvSpPr txBox="1"/>
          <p:nvPr/>
        </p:nvSpPr>
        <p:spPr>
          <a:xfrm>
            <a:off x="658368" y="402336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7" name="Text 45"/>
          <p:cNvSpPr txBox="1"/>
          <p:nvPr/>
        </p:nvSpPr>
        <p:spPr>
          <a:xfrm>
            <a:off x="1014984" y="402336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8" name="Shape 46"/>
          <p:cNvSpPr/>
          <p:nvPr/>
        </p:nvSpPr>
        <p:spPr>
          <a:xfrm>
            <a:off x="3008376" y="4091287"/>
            <a:ext cx="658178" cy="135854"/>
          </a:xfrm>
          <a:prstGeom prst="rect">
            <a:avLst/>
          </a:prstGeom>
          <a:solidFill>
            <a:srgbClr val="12A566"/>
          </a:solidFill>
          <a:ln/>
        </p:spPr>
      </p:sp>
      <p:sp>
        <p:nvSpPr>
          <p:cNvPr id="49" name="Text 47"/>
          <p:cNvSpPr txBox="1"/>
          <p:nvPr/>
        </p:nvSpPr>
        <p:spPr>
          <a:xfrm>
            <a:off x="3931920" y="4023360"/>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69.1%</a:t>
            </a:r>
            <a:endParaRPr lang="en-US" sz="1200" dirty="0"/>
          </a:p>
        </p:txBody>
      </p:sp>
      <p:sp>
        <p:nvSpPr>
          <p:cNvPr id="50" name="Text 48"/>
          <p:cNvSpPr txBox="1"/>
          <p:nvPr/>
        </p:nvSpPr>
        <p:spPr>
          <a:xfrm>
            <a:off x="4608576" y="402336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51" name="Text 49"/>
          <p:cNvSpPr txBox="1"/>
          <p:nvPr/>
        </p:nvSpPr>
        <p:spPr>
          <a:xfrm>
            <a:off x="658368" y="4295067"/>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2" name="Text 50"/>
          <p:cNvSpPr txBox="1"/>
          <p:nvPr/>
        </p:nvSpPr>
        <p:spPr>
          <a:xfrm>
            <a:off x="1014984" y="4295067"/>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53" name="Shape 51"/>
          <p:cNvSpPr/>
          <p:nvPr/>
        </p:nvSpPr>
        <p:spPr>
          <a:xfrm>
            <a:off x="3008376" y="4362994"/>
            <a:ext cx="578168" cy="135854"/>
          </a:xfrm>
          <a:prstGeom prst="rect">
            <a:avLst/>
          </a:prstGeom>
          <a:solidFill>
            <a:srgbClr val="12A566"/>
          </a:solidFill>
          <a:ln/>
        </p:spPr>
      </p:sp>
      <p:sp>
        <p:nvSpPr>
          <p:cNvPr id="54" name="Text 52"/>
          <p:cNvSpPr txBox="1"/>
          <p:nvPr/>
        </p:nvSpPr>
        <p:spPr>
          <a:xfrm>
            <a:off x="3931920" y="4295067"/>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60.7%</a:t>
            </a:r>
            <a:endParaRPr lang="en-US" sz="1200" dirty="0"/>
          </a:p>
        </p:txBody>
      </p:sp>
      <p:sp>
        <p:nvSpPr>
          <p:cNvPr id="55" name="Text 53"/>
          <p:cNvSpPr txBox="1"/>
          <p:nvPr/>
        </p:nvSpPr>
        <p:spPr>
          <a:xfrm>
            <a:off x="4608576" y="4295067"/>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56" name="Text 54"/>
          <p:cNvSpPr txBox="1"/>
          <p:nvPr/>
        </p:nvSpPr>
        <p:spPr>
          <a:xfrm>
            <a:off x="658368" y="456677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57" name="Text 55"/>
          <p:cNvSpPr txBox="1"/>
          <p:nvPr/>
        </p:nvSpPr>
        <p:spPr>
          <a:xfrm>
            <a:off x="1014984" y="456677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8" name="Shape 56"/>
          <p:cNvSpPr/>
          <p:nvPr/>
        </p:nvSpPr>
        <p:spPr>
          <a:xfrm>
            <a:off x="3008376" y="4634702"/>
            <a:ext cx="571500" cy="135854"/>
          </a:xfrm>
          <a:prstGeom prst="rect">
            <a:avLst/>
          </a:prstGeom>
          <a:solidFill>
            <a:srgbClr val="12A566"/>
          </a:solidFill>
          <a:ln/>
        </p:spPr>
      </p:sp>
      <p:sp>
        <p:nvSpPr>
          <p:cNvPr id="59" name="Text 57"/>
          <p:cNvSpPr txBox="1"/>
          <p:nvPr/>
        </p:nvSpPr>
        <p:spPr>
          <a:xfrm>
            <a:off x="3931920" y="4566775"/>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60.0%</a:t>
            </a:r>
            <a:endParaRPr lang="en-US" sz="1200" dirty="0"/>
          </a:p>
        </p:txBody>
      </p:sp>
      <p:sp>
        <p:nvSpPr>
          <p:cNvPr id="60" name="Text 58"/>
          <p:cNvSpPr txBox="1"/>
          <p:nvPr/>
        </p:nvSpPr>
        <p:spPr>
          <a:xfrm>
            <a:off x="4608576" y="456677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 TruVideo</a:t>
            </a:r>
            <a:endParaRPr lang="en-US" sz="1200" dirty="0"/>
          </a:p>
        </p:txBody>
      </p:sp>
      <p:sp>
        <p:nvSpPr>
          <p:cNvPr id="61" name="Text 59"/>
          <p:cNvSpPr txBox="1"/>
          <p:nvPr/>
        </p:nvSpPr>
        <p:spPr>
          <a:xfrm>
            <a:off x="658368" y="4838482"/>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2" name="Text 60"/>
          <p:cNvSpPr txBox="1"/>
          <p:nvPr/>
        </p:nvSpPr>
        <p:spPr>
          <a:xfrm>
            <a:off x="1014984" y="4838482"/>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3" name="Shape 61"/>
          <p:cNvSpPr/>
          <p:nvPr/>
        </p:nvSpPr>
        <p:spPr>
          <a:xfrm>
            <a:off x="3008376" y="4906409"/>
            <a:ext cx="476250" cy="135854"/>
          </a:xfrm>
          <a:prstGeom prst="rect">
            <a:avLst/>
          </a:prstGeom>
          <a:solidFill>
            <a:srgbClr val="12A566"/>
          </a:solidFill>
          <a:ln/>
        </p:spPr>
      </p:sp>
      <p:sp>
        <p:nvSpPr>
          <p:cNvPr id="64" name="Text 62"/>
          <p:cNvSpPr txBox="1"/>
          <p:nvPr/>
        </p:nvSpPr>
        <p:spPr>
          <a:xfrm>
            <a:off x="3931920" y="4838482"/>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50.0%</a:t>
            </a:r>
            <a:endParaRPr lang="en-US" sz="1200" dirty="0"/>
          </a:p>
        </p:txBody>
      </p:sp>
      <p:sp>
        <p:nvSpPr>
          <p:cNvPr id="65" name="Text 63"/>
          <p:cNvSpPr txBox="1"/>
          <p:nvPr/>
        </p:nvSpPr>
        <p:spPr>
          <a:xfrm>
            <a:off x="4608576" y="4838482"/>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66" name="Text 64"/>
          <p:cNvSpPr txBox="1"/>
          <p:nvPr/>
        </p:nvSpPr>
        <p:spPr>
          <a:xfrm>
            <a:off x="658368" y="511019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67" name="Text 65"/>
          <p:cNvSpPr txBox="1"/>
          <p:nvPr/>
        </p:nvSpPr>
        <p:spPr>
          <a:xfrm>
            <a:off x="1014984" y="511019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68" name="Shape 66"/>
          <p:cNvSpPr/>
          <p:nvPr/>
        </p:nvSpPr>
        <p:spPr>
          <a:xfrm>
            <a:off x="3008376" y="5178117"/>
            <a:ext cx="419100" cy="135854"/>
          </a:xfrm>
          <a:prstGeom prst="rect">
            <a:avLst/>
          </a:prstGeom>
          <a:solidFill>
            <a:srgbClr val="C2352F"/>
          </a:solidFill>
          <a:ln/>
        </p:spPr>
      </p:sp>
      <p:sp>
        <p:nvSpPr>
          <p:cNvPr id="69" name="Text 67"/>
          <p:cNvSpPr txBox="1"/>
          <p:nvPr/>
        </p:nvSpPr>
        <p:spPr>
          <a:xfrm>
            <a:off x="3931920" y="5110190"/>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44.0%</a:t>
            </a:r>
            <a:endParaRPr lang="en-US" sz="1200" dirty="0"/>
          </a:p>
        </p:txBody>
      </p:sp>
      <p:sp>
        <p:nvSpPr>
          <p:cNvPr id="70" name="Text 68"/>
          <p:cNvSpPr txBox="1"/>
          <p:nvPr/>
        </p:nvSpPr>
        <p:spPr>
          <a:xfrm>
            <a:off x="4608576" y="511019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71" name="Text 69"/>
          <p:cNvSpPr txBox="1"/>
          <p:nvPr/>
        </p:nvSpPr>
        <p:spPr>
          <a:xfrm>
            <a:off x="658368" y="5381897"/>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2" name="Text 70"/>
          <p:cNvSpPr txBox="1"/>
          <p:nvPr/>
        </p:nvSpPr>
        <p:spPr>
          <a:xfrm>
            <a:off x="1014984" y="5381897"/>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3" name="Shape 71"/>
          <p:cNvSpPr/>
          <p:nvPr/>
        </p:nvSpPr>
        <p:spPr>
          <a:xfrm>
            <a:off x="3008376" y="5449824"/>
            <a:ext cx="416338" cy="135854"/>
          </a:xfrm>
          <a:prstGeom prst="rect">
            <a:avLst/>
          </a:prstGeom>
          <a:solidFill>
            <a:srgbClr val="C2352F"/>
          </a:solidFill>
          <a:ln/>
        </p:spPr>
      </p:sp>
      <p:sp>
        <p:nvSpPr>
          <p:cNvPr id="74" name="Text 72"/>
          <p:cNvSpPr txBox="1"/>
          <p:nvPr/>
        </p:nvSpPr>
        <p:spPr>
          <a:xfrm>
            <a:off x="3931920" y="5381897"/>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43.7%</a:t>
            </a:r>
            <a:endParaRPr lang="en-US" sz="1200" dirty="0"/>
          </a:p>
        </p:txBody>
      </p:sp>
      <p:sp>
        <p:nvSpPr>
          <p:cNvPr id="75" name="Text 73"/>
          <p:cNvSpPr txBox="1"/>
          <p:nvPr/>
        </p:nvSpPr>
        <p:spPr>
          <a:xfrm>
            <a:off x="4608576" y="5381897"/>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76" name="Text 74"/>
          <p:cNvSpPr txBox="1"/>
          <p:nvPr/>
        </p:nvSpPr>
        <p:spPr>
          <a:xfrm>
            <a:off x="658368" y="565360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77" name="Text 75"/>
          <p:cNvSpPr txBox="1"/>
          <p:nvPr/>
        </p:nvSpPr>
        <p:spPr>
          <a:xfrm>
            <a:off x="1014984" y="565360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8" name="Shape 76"/>
          <p:cNvSpPr/>
          <p:nvPr/>
        </p:nvSpPr>
        <p:spPr>
          <a:xfrm>
            <a:off x="3008376" y="5721531"/>
            <a:ext cx="375285" cy="135854"/>
          </a:xfrm>
          <a:prstGeom prst="rect">
            <a:avLst/>
          </a:prstGeom>
          <a:solidFill>
            <a:srgbClr val="C2352F"/>
          </a:solidFill>
          <a:ln/>
        </p:spPr>
      </p:sp>
      <p:sp>
        <p:nvSpPr>
          <p:cNvPr id="79" name="Text 77"/>
          <p:cNvSpPr txBox="1"/>
          <p:nvPr/>
        </p:nvSpPr>
        <p:spPr>
          <a:xfrm>
            <a:off x="3931920" y="5653605"/>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39.4%</a:t>
            </a:r>
            <a:endParaRPr lang="en-US" sz="1200" dirty="0"/>
          </a:p>
        </p:txBody>
      </p:sp>
      <p:sp>
        <p:nvSpPr>
          <p:cNvPr id="80" name="Text 78"/>
          <p:cNvSpPr txBox="1"/>
          <p:nvPr/>
        </p:nvSpPr>
        <p:spPr>
          <a:xfrm>
            <a:off x="4608576" y="565360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1" name="Text 79"/>
          <p:cNvSpPr txBox="1"/>
          <p:nvPr/>
        </p:nvSpPr>
        <p:spPr>
          <a:xfrm>
            <a:off x="6208776" y="2121408"/>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2" name="Text 80"/>
          <p:cNvSpPr txBox="1"/>
          <p:nvPr/>
        </p:nvSpPr>
        <p:spPr>
          <a:xfrm>
            <a:off x="6565392" y="2121408"/>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3" name="Shape 81"/>
          <p:cNvSpPr/>
          <p:nvPr/>
        </p:nvSpPr>
        <p:spPr>
          <a:xfrm>
            <a:off x="8558784" y="2189335"/>
            <a:ext cx="348615" cy="135854"/>
          </a:xfrm>
          <a:prstGeom prst="rect">
            <a:avLst/>
          </a:prstGeom>
          <a:solidFill>
            <a:srgbClr val="C2352F"/>
          </a:solidFill>
          <a:ln/>
        </p:spPr>
      </p:sp>
      <p:sp>
        <p:nvSpPr>
          <p:cNvPr id="84" name="Text 82"/>
          <p:cNvSpPr txBox="1"/>
          <p:nvPr/>
        </p:nvSpPr>
        <p:spPr>
          <a:xfrm>
            <a:off x="9482328" y="2121408"/>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36.6%</a:t>
            </a:r>
            <a:endParaRPr lang="en-US" sz="1200" dirty="0"/>
          </a:p>
        </p:txBody>
      </p:sp>
      <p:sp>
        <p:nvSpPr>
          <p:cNvPr id="85" name="Text 83"/>
          <p:cNvSpPr txBox="1"/>
          <p:nvPr/>
        </p:nvSpPr>
        <p:spPr>
          <a:xfrm>
            <a:off x="10158984" y="2121408"/>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6" name="Text 84"/>
          <p:cNvSpPr txBox="1"/>
          <p:nvPr/>
        </p:nvSpPr>
        <p:spPr>
          <a:xfrm>
            <a:off x="6208776" y="239311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87" name="Text 85"/>
          <p:cNvSpPr txBox="1"/>
          <p:nvPr/>
        </p:nvSpPr>
        <p:spPr>
          <a:xfrm>
            <a:off x="6565392" y="239311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88" name="Shape 86"/>
          <p:cNvSpPr/>
          <p:nvPr/>
        </p:nvSpPr>
        <p:spPr>
          <a:xfrm>
            <a:off x="8558784" y="2461042"/>
            <a:ext cx="332422" cy="135854"/>
          </a:xfrm>
          <a:prstGeom prst="rect">
            <a:avLst/>
          </a:prstGeom>
          <a:solidFill>
            <a:srgbClr val="C2352F"/>
          </a:solidFill>
          <a:ln/>
        </p:spPr>
      </p:sp>
      <p:sp>
        <p:nvSpPr>
          <p:cNvPr id="89" name="Text 87"/>
          <p:cNvSpPr txBox="1"/>
          <p:nvPr/>
        </p:nvSpPr>
        <p:spPr>
          <a:xfrm>
            <a:off x="9482328" y="2393115"/>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34.9%</a:t>
            </a:r>
            <a:endParaRPr lang="en-US" sz="1200" dirty="0"/>
          </a:p>
        </p:txBody>
      </p:sp>
      <p:sp>
        <p:nvSpPr>
          <p:cNvPr id="90" name="Text 88"/>
          <p:cNvSpPr txBox="1"/>
          <p:nvPr/>
        </p:nvSpPr>
        <p:spPr>
          <a:xfrm>
            <a:off x="10158984" y="239311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91" name="Text 89"/>
          <p:cNvSpPr txBox="1"/>
          <p:nvPr/>
        </p:nvSpPr>
        <p:spPr>
          <a:xfrm>
            <a:off x="6208776" y="2664823"/>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2" name="Text 90"/>
          <p:cNvSpPr txBox="1"/>
          <p:nvPr/>
        </p:nvSpPr>
        <p:spPr>
          <a:xfrm>
            <a:off x="6565392" y="2664823"/>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3" name="Shape 91"/>
          <p:cNvSpPr/>
          <p:nvPr/>
        </p:nvSpPr>
        <p:spPr>
          <a:xfrm>
            <a:off x="8558784" y="2732750"/>
            <a:ext cx="329565" cy="135854"/>
          </a:xfrm>
          <a:prstGeom prst="rect">
            <a:avLst/>
          </a:prstGeom>
          <a:solidFill>
            <a:srgbClr val="C2352F"/>
          </a:solidFill>
          <a:ln/>
        </p:spPr>
      </p:sp>
      <p:sp>
        <p:nvSpPr>
          <p:cNvPr id="94" name="Text 92"/>
          <p:cNvSpPr txBox="1"/>
          <p:nvPr/>
        </p:nvSpPr>
        <p:spPr>
          <a:xfrm>
            <a:off x="9482328" y="2664823"/>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34.6%</a:t>
            </a:r>
            <a:endParaRPr lang="en-US" sz="1200" dirty="0"/>
          </a:p>
        </p:txBody>
      </p:sp>
      <p:sp>
        <p:nvSpPr>
          <p:cNvPr id="95" name="Text 93"/>
          <p:cNvSpPr txBox="1"/>
          <p:nvPr/>
        </p:nvSpPr>
        <p:spPr>
          <a:xfrm>
            <a:off x="10158984" y="2664823"/>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96" name="Text 94"/>
          <p:cNvSpPr txBox="1"/>
          <p:nvPr/>
        </p:nvSpPr>
        <p:spPr>
          <a:xfrm>
            <a:off x="6208776" y="293653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97" name="Text 95"/>
          <p:cNvSpPr txBox="1"/>
          <p:nvPr/>
        </p:nvSpPr>
        <p:spPr>
          <a:xfrm>
            <a:off x="6565392" y="293653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8" name="Shape 96"/>
          <p:cNvSpPr/>
          <p:nvPr/>
        </p:nvSpPr>
        <p:spPr>
          <a:xfrm>
            <a:off x="8558784" y="3004457"/>
            <a:ext cx="304800" cy="135854"/>
          </a:xfrm>
          <a:prstGeom prst="rect">
            <a:avLst/>
          </a:prstGeom>
          <a:solidFill>
            <a:srgbClr val="C2352F"/>
          </a:solidFill>
          <a:ln/>
        </p:spPr>
      </p:sp>
      <p:sp>
        <p:nvSpPr>
          <p:cNvPr id="99" name="Text 97"/>
          <p:cNvSpPr txBox="1"/>
          <p:nvPr/>
        </p:nvSpPr>
        <p:spPr>
          <a:xfrm>
            <a:off x="9482328" y="2936530"/>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32.0%</a:t>
            </a:r>
            <a:endParaRPr lang="en-US" sz="1200" dirty="0"/>
          </a:p>
        </p:txBody>
      </p:sp>
      <p:sp>
        <p:nvSpPr>
          <p:cNvPr id="100" name="Text 98"/>
          <p:cNvSpPr txBox="1"/>
          <p:nvPr/>
        </p:nvSpPr>
        <p:spPr>
          <a:xfrm>
            <a:off x="10158984" y="293653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WiAdvisor</a:t>
            </a:r>
            <a:endParaRPr lang="en-US" sz="1200" dirty="0"/>
          </a:p>
        </p:txBody>
      </p:sp>
      <p:sp>
        <p:nvSpPr>
          <p:cNvPr id="101" name="Text 99"/>
          <p:cNvSpPr txBox="1"/>
          <p:nvPr/>
        </p:nvSpPr>
        <p:spPr>
          <a:xfrm>
            <a:off x="6208776" y="3208238"/>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2" name="Text 100"/>
          <p:cNvSpPr txBox="1"/>
          <p:nvPr/>
        </p:nvSpPr>
        <p:spPr>
          <a:xfrm>
            <a:off x="6565392" y="3208238"/>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3" name="Shape 101"/>
          <p:cNvSpPr/>
          <p:nvPr/>
        </p:nvSpPr>
        <p:spPr>
          <a:xfrm>
            <a:off x="8558784" y="3276165"/>
            <a:ext cx="297180" cy="135854"/>
          </a:xfrm>
          <a:prstGeom prst="rect">
            <a:avLst/>
          </a:prstGeom>
          <a:solidFill>
            <a:srgbClr val="C2352F"/>
          </a:solidFill>
          <a:ln/>
        </p:spPr>
      </p:sp>
      <p:sp>
        <p:nvSpPr>
          <p:cNvPr id="104" name="Text 102"/>
          <p:cNvSpPr txBox="1"/>
          <p:nvPr/>
        </p:nvSpPr>
        <p:spPr>
          <a:xfrm>
            <a:off x="9482328" y="3208238"/>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31.2%</a:t>
            </a:r>
            <a:endParaRPr lang="en-US" sz="1200" dirty="0"/>
          </a:p>
        </p:txBody>
      </p:sp>
      <p:sp>
        <p:nvSpPr>
          <p:cNvPr id="105" name="Text 103"/>
          <p:cNvSpPr txBox="1"/>
          <p:nvPr/>
        </p:nvSpPr>
        <p:spPr>
          <a:xfrm>
            <a:off x="10158984" y="3208238"/>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06" name="Text 104"/>
          <p:cNvSpPr txBox="1"/>
          <p:nvPr/>
        </p:nvSpPr>
        <p:spPr>
          <a:xfrm>
            <a:off x="6208776" y="347994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07" name="Text 105"/>
          <p:cNvSpPr txBox="1"/>
          <p:nvPr/>
        </p:nvSpPr>
        <p:spPr>
          <a:xfrm>
            <a:off x="6565392" y="347994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8" name="Shape 106"/>
          <p:cNvSpPr/>
          <p:nvPr/>
        </p:nvSpPr>
        <p:spPr>
          <a:xfrm>
            <a:off x="8558784" y="3547872"/>
            <a:ext cx="240983" cy="135854"/>
          </a:xfrm>
          <a:prstGeom prst="rect">
            <a:avLst/>
          </a:prstGeom>
          <a:solidFill>
            <a:srgbClr val="C2352F"/>
          </a:solidFill>
          <a:ln/>
        </p:spPr>
      </p:sp>
      <p:sp>
        <p:nvSpPr>
          <p:cNvPr id="109" name="Text 107"/>
          <p:cNvSpPr txBox="1"/>
          <p:nvPr/>
        </p:nvSpPr>
        <p:spPr>
          <a:xfrm>
            <a:off x="9482328" y="3479945"/>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25.3%</a:t>
            </a:r>
            <a:endParaRPr lang="en-US" sz="1200" dirty="0"/>
          </a:p>
        </p:txBody>
      </p:sp>
      <p:sp>
        <p:nvSpPr>
          <p:cNvPr id="110" name="Text 108"/>
          <p:cNvSpPr txBox="1"/>
          <p:nvPr/>
        </p:nvSpPr>
        <p:spPr>
          <a:xfrm>
            <a:off x="10158984" y="347994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11" name="Text 109"/>
          <p:cNvSpPr txBox="1"/>
          <p:nvPr/>
        </p:nvSpPr>
        <p:spPr>
          <a:xfrm>
            <a:off x="6208776" y="3751653"/>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2" name="Text 110"/>
          <p:cNvSpPr txBox="1"/>
          <p:nvPr/>
        </p:nvSpPr>
        <p:spPr>
          <a:xfrm>
            <a:off x="6565392" y="3751653"/>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3" name="Shape 111"/>
          <p:cNvSpPr/>
          <p:nvPr/>
        </p:nvSpPr>
        <p:spPr>
          <a:xfrm>
            <a:off x="8558784" y="3819579"/>
            <a:ext cx="222885" cy="135854"/>
          </a:xfrm>
          <a:prstGeom prst="rect">
            <a:avLst/>
          </a:prstGeom>
          <a:solidFill>
            <a:srgbClr val="C2352F"/>
          </a:solidFill>
          <a:ln/>
        </p:spPr>
      </p:sp>
      <p:sp>
        <p:nvSpPr>
          <p:cNvPr id="114" name="Text 112"/>
          <p:cNvSpPr txBox="1"/>
          <p:nvPr/>
        </p:nvSpPr>
        <p:spPr>
          <a:xfrm>
            <a:off x="9482328" y="3751653"/>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23.4%</a:t>
            </a:r>
            <a:endParaRPr lang="en-US" sz="1200" dirty="0"/>
          </a:p>
        </p:txBody>
      </p:sp>
      <p:sp>
        <p:nvSpPr>
          <p:cNvPr id="115" name="Text 113"/>
          <p:cNvSpPr txBox="1"/>
          <p:nvPr/>
        </p:nvSpPr>
        <p:spPr>
          <a:xfrm>
            <a:off x="10158984" y="3751653"/>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16" name="Text 114"/>
          <p:cNvSpPr txBox="1"/>
          <p:nvPr/>
        </p:nvSpPr>
        <p:spPr>
          <a:xfrm>
            <a:off x="6208776" y="402336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17" name="Text 115"/>
          <p:cNvSpPr txBox="1"/>
          <p:nvPr/>
        </p:nvSpPr>
        <p:spPr>
          <a:xfrm>
            <a:off x="6565392" y="402336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18" name="Shape 116"/>
          <p:cNvSpPr/>
          <p:nvPr/>
        </p:nvSpPr>
        <p:spPr>
          <a:xfrm>
            <a:off x="8558784" y="4091287"/>
            <a:ext cx="216217" cy="135854"/>
          </a:xfrm>
          <a:prstGeom prst="rect">
            <a:avLst/>
          </a:prstGeom>
          <a:solidFill>
            <a:srgbClr val="C2352F"/>
          </a:solidFill>
          <a:ln/>
        </p:spPr>
      </p:sp>
      <p:sp>
        <p:nvSpPr>
          <p:cNvPr id="119" name="Text 117"/>
          <p:cNvSpPr txBox="1"/>
          <p:nvPr/>
        </p:nvSpPr>
        <p:spPr>
          <a:xfrm>
            <a:off x="9482328" y="4023360"/>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22.7%</a:t>
            </a:r>
            <a:endParaRPr lang="en-US" sz="1200" dirty="0"/>
          </a:p>
        </p:txBody>
      </p:sp>
      <p:sp>
        <p:nvSpPr>
          <p:cNvPr id="120" name="Text 118"/>
          <p:cNvSpPr txBox="1"/>
          <p:nvPr/>
        </p:nvSpPr>
        <p:spPr>
          <a:xfrm>
            <a:off x="10158984" y="402336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21" name="Text 119"/>
          <p:cNvSpPr txBox="1"/>
          <p:nvPr/>
        </p:nvSpPr>
        <p:spPr>
          <a:xfrm>
            <a:off x="6208776" y="4295067"/>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2" name="Text 120"/>
          <p:cNvSpPr txBox="1"/>
          <p:nvPr/>
        </p:nvSpPr>
        <p:spPr>
          <a:xfrm>
            <a:off x="6565392" y="4295067"/>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23" name="Shape 121"/>
          <p:cNvSpPr/>
          <p:nvPr/>
        </p:nvSpPr>
        <p:spPr>
          <a:xfrm>
            <a:off x="8558784" y="4362994"/>
            <a:ext cx="216217" cy="135854"/>
          </a:xfrm>
          <a:prstGeom prst="rect">
            <a:avLst/>
          </a:prstGeom>
          <a:solidFill>
            <a:srgbClr val="C2352F"/>
          </a:solidFill>
          <a:ln/>
        </p:spPr>
      </p:sp>
      <p:sp>
        <p:nvSpPr>
          <p:cNvPr id="124" name="Text 122"/>
          <p:cNvSpPr txBox="1"/>
          <p:nvPr/>
        </p:nvSpPr>
        <p:spPr>
          <a:xfrm>
            <a:off x="9482328" y="4295067"/>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22.7%</a:t>
            </a:r>
            <a:endParaRPr lang="en-US" sz="1200" dirty="0"/>
          </a:p>
        </p:txBody>
      </p:sp>
      <p:sp>
        <p:nvSpPr>
          <p:cNvPr id="125" name="Text 123"/>
          <p:cNvSpPr txBox="1"/>
          <p:nvPr/>
        </p:nvSpPr>
        <p:spPr>
          <a:xfrm>
            <a:off x="10158984" y="4295067"/>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26" name="Text 124"/>
          <p:cNvSpPr txBox="1"/>
          <p:nvPr/>
        </p:nvSpPr>
        <p:spPr>
          <a:xfrm>
            <a:off x="6208776" y="456677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27" name="Text 125"/>
          <p:cNvSpPr txBox="1"/>
          <p:nvPr/>
        </p:nvSpPr>
        <p:spPr>
          <a:xfrm>
            <a:off x="6565392" y="456677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8" name="Shape 126"/>
          <p:cNvSpPr/>
          <p:nvPr/>
        </p:nvSpPr>
        <p:spPr>
          <a:xfrm>
            <a:off x="8558784" y="4634702"/>
            <a:ext cx="183833" cy="135854"/>
          </a:xfrm>
          <a:prstGeom prst="rect">
            <a:avLst/>
          </a:prstGeom>
          <a:solidFill>
            <a:srgbClr val="C2352F"/>
          </a:solidFill>
          <a:ln/>
        </p:spPr>
      </p:sp>
      <p:sp>
        <p:nvSpPr>
          <p:cNvPr id="129" name="Text 127"/>
          <p:cNvSpPr txBox="1"/>
          <p:nvPr/>
        </p:nvSpPr>
        <p:spPr>
          <a:xfrm>
            <a:off x="9482328" y="4566775"/>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19.3%</a:t>
            </a:r>
            <a:endParaRPr lang="en-US" sz="1200" dirty="0"/>
          </a:p>
        </p:txBody>
      </p:sp>
      <p:sp>
        <p:nvSpPr>
          <p:cNvPr id="130" name="Text 128"/>
          <p:cNvSpPr txBox="1"/>
          <p:nvPr/>
        </p:nvSpPr>
        <p:spPr>
          <a:xfrm>
            <a:off x="10158984" y="456677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1" name="Text 129"/>
          <p:cNvSpPr txBox="1"/>
          <p:nvPr/>
        </p:nvSpPr>
        <p:spPr>
          <a:xfrm>
            <a:off x="6208776" y="4838482"/>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2" name="Text 130"/>
          <p:cNvSpPr txBox="1"/>
          <p:nvPr/>
        </p:nvSpPr>
        <p:spPr>
          <a:xfrm>
            <a:off x="6565392" y="4838482"/>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33" name="Shape 131"/>
          <p:cNvSpPr/>
          <p:nvPr/>
        </p:nvSpPr>
        <p:spPr>
          <a:xfrm>
            <a:off x="8558784" y="4906409"/>
            <a:ext cx="150495" cy="135854"/>
          </a:xfrm>
          <a:prstGeom prst="rect">
            <a:avLst/>
          </a:prstGeom>
          <a:solidFill>
            <a:srgbClr val="C2352F"/>
          </a:solidFill>
          <a:ln/>
        </p:spPr>
      </p:sp>
      <p:sp>
        <p:nvSpPr>
          <p:cNvPr id="134" name="Text 132"/>
          <p:cNvSpPr txBox="1"/>
          <p:nvPr/>
        </p:nvSpPr>
        <p:spPr>
          <a:xfrm>
            <a:off x="9482328" y="4838482"/>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15.8%</a:t>
            </a:r>
            <a:endParaRPr lang="en-US" sz="1200" dirty="0"/>
          </a:p>
        </p:txBody>
      </p:sp>
      <p:sp>
        <p:nvSpPr>
          <p:cNvPr id="135" name="Text 133"/>
          <p:cNvSpPr txBox="1"/>
          <p:nvPr/>
        </p:nvSpPr>
        <p:spPr>
          <a:xfrm>
            <a:off x="10158984" y="4838482"/>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6" name="Text 134"/>
          <p:cNvSpPr txBox="1"/>
          <p:nvPr/>
        </p:nvSpPr>
        <p:spPr>
          <a:xfrm>
            <a:off x="6208776" y="511019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37" name="Text 135"/>
          <p:cNvSpPr txBox="1"/>
          <p:nvPr/>
        </p:nvSpPr>
        <p:spPr>
          <a:xfrm>
            <a:off x="6565392" y="511019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38" name="Shape 136"/>
          <p:cNvSpPr/>
          <p:nvPr/>
        </p:nvSpPr>
        <p:spPr>
          <a:xfrm>
            <a:off x="8558784" y="5178117"/>
            <a:ext cx="137160" cy="135854"/>
          </a:xfrm>
          <a:prstGeom prst="rect">
            <a:avLst/>
          </a:prstGeom>
          <a:solidFill>
            <a:srgbClr val="C2352F"/>
          </a:solidFill>
          <a:ln/>
        </p:spPr>
      </p:sp>
      <p:sp>
        <p:nvSpPr>
          <p:cNvPr id="139" name="Text 137"/>
          <p:cNvSpPr txBox="1"/>
          <p:nvPr/>
        </p:nvSpPr>
        <p:spPr>
          <a:xfrm>
            <a:off x="9482328" y="5110190"/>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a:t>
            </a:r>
            <a:endParaRPr lang="en-US" sz="1200" dirty="0"/>
          </a:p>
        </p:txBody>
      </p:sp>
      <p:sp>
        <p:nvSpPr>
          <p:cNvPr id="140" name="Text 138"/>
          <p:cNvSpPr txBox="1"/>
          <p:nvPr/>
        </p:nvSpPr>
        <p:spPr>
          <a:xfrm>
            <a:off x="10158984" y="511019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41" name="Text 139"/>
          <p:cNvSpPr txBox="1"/>
          <p:nvPr/>
        </p:nvSpPr>
        <p:spPr>
          <a:xfrm>
            <a:off x="6208776" y="5381897"/>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2" name="Text 140"/>
          <p:cNvSpPr txBox="1"/>
          <p:nvPr/>
        </p:nvSpPr>
        <p:spPr>
          <a:xfrm>
            <a:off x="6565392" y="5381897"/>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3" name="Shape 141"/>
          <p:cNvSpPr/>
          <p:nvPr/>
        </p:nvSpPr>
        <p:spPr>
          <a:xfrm>
            <a:off x="8558784" y="5449824"/>
            <a:ext cx="135255" cy="135854"/>
          </a:xfrm>
          <a:prstGeom prst="rect">
            <a:avLst/>
          </a:prstGeom>
          <a:solidFill>
            <a:srgbClr val="C2352F"/>
          </a:solidFill>
          <a:ln/>
        </p:spPr>
      </p:sp>
      <p:sp>
        <p:nvSpPr>
          <p:cNvPr id="144" name="Text 142"/>
          <p:cNvSpPr txBox="1"/>
          <p:nvPr/>
        </p:nvSpPr>
        <p:spPr>
          <a:xfrm>
            <a:off x="9482328" y="5381897"/>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a:t>
            </a:r>
            <a:endParaRPr lang="en-US" sz="1200" dirty="0"/>
          </a:p>
        </p:txBody>
      </p:sp>
      <p:sp>
        <p:nvSpPr>
          <p:cNvPr id="145" name="Text 143"/>
          <p:cNvSpPr txBox="1"/>
          <p:nvPr/>
        </p:nvSpPr>
        <p:spPr>
          <a:xfrm>
            <a:off x="10158984" y="5381897"/>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46" name="Text 144"/>
          <p:cNvSpPr txBox="1"/>
          <p:nvPr/>
        </p:nvSpPr>
        <p:spPr>
          <a:xfrm>
            <a:off x="6208776" y="565360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47" name="Text 145"/>
          <p:cNvSpPr txBox="1"/>
          <p:nvPr/>
        </p:nvSpPr>
        <p:spPr>
          <a:xfrm>
            <a:off x="6565392" y="565360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48" name="Shape 146"/>
          <p:cNvSpPr/>
          <p:nvPr/>
        </p:nvSpPr>
        <p:spPr>
          <a:xfrm>
            <a:off x="8558784" y="5721531"/>
            <a:ext cx="112395" cy="135854"/>
          </a:xfrm>
          <a:prstGeom prst="rect">
            <a:avLst/>
          </a:prstGeom>
          <a:solidFill>
            <a:srgbClr val="C2352F"/>
          </a:solidFill>
          <a:ln/>
        </p:spPr>
      </p:sp>
      <p:sp>
        <p:nvSpPr>
          <p:cNvPr id="149" name="Text 147"/>
          <p:cNvSpPr txBox="1"/>
          <p:nvPr/>
        </p:nvSpPr>
        <p:spPr>
          <a:xfrm>
            <a:off x="9482328" y="5653605"/>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a:t>
            </a:r>
            <a:endParaRPr lang="en-US" sz="1200" dirty="0"/>
          </a:p>
        </p:txBody>
      </p:sp>
      <p:sp>
        <p:nvSpPr>
          <p:cNvPr id="150" name="Text 148"/>
          <p:cNvSpPr txBox="1"/>
          <p:nvPr/>
        </p:nvSpPr>
        <p:spPr>
          <a:xfrm>
            <a:off x="10158984" y="565360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51" name="Text 149"/>
          <p:cNvSpPr txBox="1"/>
          <p:nvPr/>
        </p:nvSpPr>
        <p:spPr>
          <a:xfrm>
            <a:off x="3931920"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52" name="Text 150"/>
          <p:cNvSpPr txBox="1"/>
          <p:nvPr/>
        </p:nvSpPr>
        <p:spPr>
          <a:xfrm>
            <a:off x="4608576"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53" name="Text 151"/>
          <p:cNvSpPr txBox="1"/>
          <p:nvPr/>
        </p:nvSpPr>
        <p:spPr>
          <a:xfrm>
            <a:off x="9482328"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54" name="Text 152"/>
          <p:cNvSpPr txBox="1"/>
          <p:nvPr/>
        </p:nvSpPr>
        <p:spPr>
          <a:xfrm>
            <a:off x="10158984"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55" name="Shape 153"/>
          <p:cNvSpPr/>
          <p:nvPr/>
        </p:nvSpPr>
        <p:spPr>
          <a:xfrm>
            <a:off x="3432502" y="2121408"/>
            <a:ext cx="14630" cy="3803904"/>
          </a:xfrm>
          <a:prstGeom prst="rect">
            <a:avLst/>
          </a:prstGeom>
          <a:solidFill>
            <a:srgbClr val="0B2C4A"/>
          </a:solidFill>
          <a:ln/>
        </p:spPr>
      </p:sp>
      <p:sp>
        <p:nvSpPr>
          <p:cNvPr id="156" name="Shape 154"/>
          <p:cNvSpPr/>
          <p:nvPr/>
        </p:nvSpPr>
        <p:spPr>
          <a:xfrm>
            <a:off x="8982910" y="2121408"/>
            <a:ext cx="14630" cy="3803904"/>
          </a:xfrm>
          <a:prstGeom prst="rect">
            <a:avLst/>
          </a:prstGeom>
          <a:solidFill>
            <a:srgbClr val="0B2C4A"/>
          </a:solidFill>
          <a:ln/>
        </p:spPr>
      </p:sp>
      <p:sp>
        <p:nvSpPr>
          <p:cNvPr id="157" name="Shape 155"/>
          <p:cNvSpPr/>
          <p:nvPr/>
        </p:nvSpPr>
        <p:spPr>
          <a:xfrm>
            <a:off x="6085332" y="2121408"/>
            <a:ext cx="10973" cy="3803904"/>
          </a:xfrm>
          <a:prstGeom prst="rect">
            <a:avLst/>
          </a:prstGeom>
          <a:solidFill>
            <a:srgbClr val="D9D9D9"/>
          </a:solidFill>
          <a:ln/>
        </p:spPr>
      </p:sp>
      <p:sp>
        <p:nvSpPr>
          <p:cNvPr id="158" name="Shape 156"/>
          <p:cNvSpPr/>
          <p:nvPr/>
        </p:nvSpPr>
        <p:spPr>
          <a:xfrm>
            <a:off x="457200" y="6126480"/>
            <a:ext cx="11274552" cy="341376"/>
          </a:xfrm>
          <a:prstGeom prst="rect">
            <a:avLst/>
          </a:prstGeom>
          <a:solidFill>
            <a:srgbClr val="EDF4FA"/>
          </a:solidFill>
          <a:ln/>
        </p:spPr>
      </p:sp>
      <p:sp>
        <p:nvSpPr>
          <p:cNvPr id="159" name="Text 157"/>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11 of 28 stores at or above the 45.3% group. Hyundai Prescott leads at 91.2%; Kia St George is lowest at 11.8%.</a:t>
            </a:r>
            <a:endParaRPr lang="en-US" sz="1400" dirty="0"/>
          </a:p>
        </p:txBody>
      </p:sp>
    </p:spTree>
  </p:cSld>
  <p:clrMapOvr>
    <a:masterClrMapping/>
  </p:clrMapOvr>
</p:sld>
</file>

<file path=ppt/slides/slide18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Gross per Month</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$10.10M → $10.96M, +8.4%: that is the season. 21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$155K → $209K</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+34.6%</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$85K → $112K</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$218K → $279K</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+27.8%</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$54K → $66K</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+23.2%</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$49K → $60K</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+22.0%</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$202K → $246K</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+21.9%</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$311K → $375K</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+20.4%</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$148K → $177K</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+19.1%</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$100K → $119K</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+18.8%</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$294K → $345K</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+17.3%</a:t>
            </a:r>
            <a:endParaRPr lang="en-US" sz="1600" dirty="0"/>
          </a:p>
        </p:txBody>
      </p:sp>
      <p:sp>
        <p:nvSpPr>
          <p:cNvPr id="76" name="Shape 64"/>
          <p:cNvSpPr/>
          <p:nvPr/>
        </p:nvSpPr>
        <p:spPr>
          <a:xfrm>
            <a:off x="457200" y="6126480"/>
            <a:ext cx="11274552" cy="371856"/>
          </a:xfrm>
          <a:prstGeom prst="rect">
            <a:avLst/>
          </a:prstGeom>
          <a:solidFill>
            <a:srgbClr val="E6F6EE"/>
          </a:solidFill>
          <a:ln/>
        </p:spPr>
      </p:sp>
      <p:sp>
        <p:nvSpPr>
          <p:cNvPr id="77" name="Text 6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Mazda went $155K to $209K, stepping up in August. Ask what changed that month.</a:t>
            </a:r>
            <a:endParaRPr lang="en-US" sz="1600" dirty="0"/>
          </a:p>
        </p:txBody>
      </p:sp>
    </p:spTree>
  </p:cSld>
  <p:clrMapOvr>
    <a:masterClrMapping/>
  </p:clrMapOvr>
</p:sld>
</file>

<file path=ppt/slides/slide18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ROs per Month</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29,846 → 32,085, +7.5%: that is the season. 17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425 → 570</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+34.0%</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543 → 667</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+22.8%</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LV</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350 → 415</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+18.6%</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578 → 669</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+15.8%</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397 → 459</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+15.5%</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545 → 617</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+13.0%</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1,561 → 1,759</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+12.6%</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330 → 370</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+11.9%</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1,788 → 1,992</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+11.3%</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582 → 641</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+10.1%</a:t>
            </a:r>
            <a:endParaRPr lang="en-US" sz="1600" dirty="0"/>
          </a:p>
        </p:txBody>
      </p:sp>
      <p:sp>
        <p:nvSpPr>
          <p:cNvPr id="76" name="Shape 64"/>
          <p:cNvSpPr/>
          <p:nvPr/>
        </p:nvSpPr>
        <p:spPr>
          <a:xfrm>
            <a:off x="457200" y="6126480"/>
            <a:ext cx="11274552" cy="371856"/>
          </a:xfrm>
          <a:prstGeom prst="rect">
            <a:avLst/>
          </a:prstGeom>
          <a:solidFill>
            <a:srgbClr val="E6F6EE"/>
          </a:solidFill>
          <a:ln/>
        </p:spPr>
      </p:sp>
      <p:sp>
        <p:nvSpPr>
          <p:cNvPr id="77" name="Text 6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Lexus went 425 to 570, stepping up in April. Ask what changed that month.</a:t>
            </a:r>
            <a:endParaRPr lang="en-US" sz="1600" dirty="0"/>
          </a:p>
        </p:txBody>
      </p:sp>
    </p:spTree>
  </p:cSld>
  <p:clrMapOvr>
    <a:masterClrMapping/>
  </p:clrMapOvr>
</p:sld>
</file>

<file path=ppt/slides/slide18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Hours per RO</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1.87 → 1.84, −1.8%: that is the season. 22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1.35 → 1.65</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+22.1%</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1.56 → 1.76</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+13.1%</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1.37 → 1.54</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+12.2%</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1.23 → 1.38</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+11.7%</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1.65 → 1.79</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+8.6%</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1.29 → 1.40</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+8.2%</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1.33 → 1.40</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+5.2%</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2.19 → 2.30</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+4.9%</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2.60 → 2.73</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3.25 → 3.41</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a:t>
            </a:r>
            <a:endParaRPr lang="en-US" sz="1600" dirty="0"/>
          </a:p>
        </p:txBody>
      </p:sp>
      <p:sp>
        <p:nvSpPr>
          <p:cNvPr id="76" name="Shape 64"/>
          <p:cNvSpPr/>
          <p:nvPr/>
        </p:nvSpPr>
        <p:spPr>
          <a:xfrm>
            <a:off x="457200" y="6126480"/>
            <a:ext cx="11274552" cy="371856"/>
          </a:xfrm>
          <a:prstGeom prst="rect">
            <a:avLst/>
          </a:prstGeom>
          <a:solidFill>
            <a:srgbClr val="E6F6EE"/>
          </a:solidFill>
          <a:ln/>
        </p:spPr>
      </p:sp>
      <p:sp>
        <p:nvSpPr>
          <p:cNvPr id="77" name="Text 6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Mazda went 1.35 to 1.65, stepping up in August. Ask what changed that month.</a:t>
            </a:r>
            <a:endParaRPr lang="en-US" sz="1600" dirty="0"/>
          </a:p>
        </p:txBody>
      </p:sp>
    </p:spTree>
  </p:cSld>
  <p:clrMapOvr>
    <a:masterClrMapping/>
  </p:clrMapOvr>
</p:sld>
</file>

<file path=ppt/slides/slide18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ELR</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$161.81 → $163.67, +1.1%: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$128.27 → $141.89</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$227.34 → $244.12</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+7.3%</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$139.40 → $147.93</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+6.1%</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$142.56 → $150.72</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+5.7%</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$139.09 → $146.04</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+5.0%</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NISSAN</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$172.35 → $180.14</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+4.5%</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$140.89 → $146.92</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+4.2%</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$216.72 → $225.50</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$155.72 → $161.80</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CADILLAC</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$169.51 → $175.47</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a:t>
            </a:r>
            <a:endParaRPr lang="en-US" sz="1600" dirty="0"/>
          </a:p>
        </p:txBody>
      </p:sp>
      <p:sp>
        <p:nvSpPr>
          <p:cNvPr id="76" name="Shape 64"/>
          <p:cNvSpPr/>
          <p:nvPr/>
        </p:nvSpPr>
        <p:spPr>
          <a:xfrm>
            <a:off x="457200" y="6126480"/>
            <a:ext cx="11274552" cy="371856"/>
          </a:xfrm>
          <a:prstGeom prst="rect">
            <a:avLst/>
          </a:prstGeom>
          <a:solidFill>
            <a:srgbClr val="E6F6EE"/>
          </a:solidFill>
          <a:ln/>
        </p:spPr>
      </p:sp>
      <p:sp>
        <p:nvSpPr>
          <p:cNvPr id="77" name="Text 6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VW St George went $128.27 to $141.89, stepping up in June. Ask what changed that month.</a:t>
            </a:r>
            <a:endParaRPr lang="en-US" sz="1600" dirty="0"/>
          </a:p>
        </p:txBody>
      </p:sp>
    </p:spTree>
  </p:cSld>
  <p:clrMapOvr>
    <a:masterClrMapping/>
  </p:clrMapOvr>
</p:sld>
</file>

<file path=ppt/slides/slide18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Parts $ per RO</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$230 → $242, +5.1%: that is the season. 19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$224 → $298</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+32.9%</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$692 → $877</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+26.6%</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$229 → $282</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+22.9%</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$200 → $234</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+16.9%</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$204 → $234</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+15.0%</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$136 → $156</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+14.6%</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$257 → $292</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+13.8%</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$728 → $811</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+11.4%</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$897 → $988</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+10.1%</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$235 → $258</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+9.8%</a:t>
            </a:r>
            <a:endParaRPr lang="en-US" sz="1600" dirty="0"/>
          </a:p>
        </p:txBody>
      </p:sp>
      <p:sp>
        <p:nvSpPr>
          <p:cNvPr id="76" name="Shape 64"/>
          <p:cNvSpPr/>
          <p:nvPr/>
        </p:nvSpPr>
        <p:spPr>
          <a:xfrm>
            <a:off x="457200" y="6126480"/>
            <a:ext cx="11274552" cy="371856"/>
          </a:xfrm>
          <a:prstGeom prst="rect">
            <a:avLst/>
          </a:prstGeom>
          <a:solidFill>
            <a:srgbClr val="E6F6EE"/>
          </a:solidFill>
          <a:ln/>
        </p:spPr>
      </p:sp>
      <p:sp>
        <p:nvSpPr>
          <p:cNvPr id="77" name="Text 6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VW St George went $224 to $298, stepping up in June. Ask what changed that month.</a:t>
            </a:r>
            <a:endParaRPr lang="en-US" sz="1600" dirty="0"/>
          </a:p>
        </p:txBody>
      </p:sp>
    </p:spTree>
  </p:cSld>
  <p:clrMapOvr>
    <a:masterClrMapping/>
  </p:clrMapOvr>
</p:sld>
</file>

<file path=ppt/slides/slide18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Parts GP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40.6% → 40.6%, 0.0 pts: that is the season. 18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39.4% → 46.6%</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+7.2 pts</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39.1% → 43.8%</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35.3% → 39.2%</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41.1% → 44.0%</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 pts</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39.4% → 41.7%</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 pts</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40.1% → 42.4%</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 pts</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34.4% → 36.3%</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 pts</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40.9% → 42.2%</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 pts</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44.4% → 45.7%</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 pts</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36.8% → 37.9%</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 pts</a:t>
            </a:r>
            <a:endParaRPr lang="en-US" sz="1600" dirty="0"/>
          </a:p>
        </p:txBody>
      </p:sp>
      <p:sp>
        <p:nvSpPr>
          <p:cNvPr id="76" name="Shape 64"/>
          <p:cNvSpPr/>
          <p:nvPr/>
        </p:nvSpPr>
        <p:spPr>
          <a:xfrm>
            <a:off x="457200" y="6126480"/>
            <a:ext cx="11274552" cy="371856"/>
          </a:xfrm>
          <a:prstGeom prst="rect">
            <a:avLst/>
          </a:prstGeom>
          <a:solidFill>
            <a:srgbClr val="E6F6EE"/>
          </a:solidFill>
          <a:ln/>
        </p:spPr>
      </p:sp>
      <p:sp>
        <p:nvSpPr>
          <p:cNvPr id="77" name="Text 6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Acura went 39.4% to 46.6%, stepping up in April. Ask what changed that month.</a:t>
            </a:r>
            <a:endParaRPr lang="en-US" sz="1600" dirty="0"/>
          </a:p>
        </p:txBody>
      </p:sp>
    </p:spTree>
  </p:cSld>
  <p:clrMapOvr>
    <a:masterClrMapping/>
  </p:clrMapOvr>
</p:sld>
</file>

<file path=ppt/slides/slide18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ROs per Month</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29,846 → 32,085, +7.5%: that is the season. 17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425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570</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+34.0%</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543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667</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+22.8%</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LV</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350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415</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+18.6%</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578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669</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+15.8%</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397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459</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+15.5%</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Lexus went 425 to 570, stepping up in April. Ask what changed that month.</a:t>
            </a:r>
            <a:endParaRPr lang="en-US" sz="1600" dirty="0"/>
          </a:p>
        </p:txBody>
      </p:sp>
    </p:spTree>
  </p:cSld>
  <p:clrMapOvr>
    <a:masterClrMapping/>
  </p:clrMapOvr>
</p:sld>
</file>

<file path=ppt/slides/slide18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Hours per RO</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1.87 → 1.84, −1.8%: that is the season. 22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1.35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1.65</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+22.1%</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1.56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1.76</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+13.1%</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1.37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1.54</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+12.2%</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1.23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1.38</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+11.7%</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1.65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1.79</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+8.6%</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Mazda went 1.35 to 1.65, stepping up in August. Ask what changed that month.</a:t>
            </a:r>
            <a:endParaRPr lang="en-US" sz="1600" dirty="0"/>
          </a:p>
        </p:txBody>
      </p:sp>
    </p:spTree>
  </p:cSld>
  <p:clrMapOvr>
    <a:masterClrMapping/>
  </p:clrMapOvr>
</p:sld>
</file>

<file path=ppt/slides/slide18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ELR</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$161.81 → $163.67, +1.1%: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$128.27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$141.89</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$227.34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$244.12</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+7.3%</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$139.40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$147.93</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+6.1%</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$142.56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$150.72</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+5.7%</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$139.09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$146.04</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+5.0%</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VW St George went $128.27 to $141.89, stepping up in June. Ask what changed that month.</a:t>
            </a:r>
            <a:endParaRPr lang="en-US" sz="1600" dirty="0"/>
          </a:p>
        </p:txBody>
      </p:sp>
    </p:spTree>
  </p:cSld>
  <p:clrMapOvr>
    <a:masterClrMapping/>
  </p:clrMapOvr>
</p:sld>
</file>

<file path=ppt/slides/slide19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Parts GP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40.6% → 40.6%, 0.0 pts: that is the season. 18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39.4%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46.6%</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+7.2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39.1%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43.8%</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35.3%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39.2%</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41.1%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44.0%</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39.4%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41.7%</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 pts</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Acura went 39.4% to 46.6%, stepping up in April. Ask what changed that month.</a:t>
            </a:r>
            <a:endParaRPr lang="en-US" sz="1600" dirty="0"/>
          </a:p>
        </p:txBody>
      </p:sp>
    </p:spTree>
  </p:cSld>
  <p:clrMapOvr>
    <a:masterClrMapping/>
  </p:clrMapOvr>
</p:sld>
</file>

<file path=ppt/slides/slide19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Gross per Month</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$10.10M → $10.96M, +8.4%: that is the season. 21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$155K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$209K</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+34.6%</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$85K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$112K</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$218K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$279K</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+27.8%</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$54K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$66K</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+23.2%</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$49K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$60K</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+22.0%</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Mazda went $155K to $209K, stepping up in August. Ask what changed that month.</a:t>
            </a:r>
            <a:endParaRPr lang="en-US" sz="1600" dirty="0"/>
          </a:p>
        </p:txBody>
      </p:sp>
    </p:spTree>
  </p:cSld>
  <p:clrMapOvr>
    <a:masterClrMapping/>
  </p:clrMapOvr>
</p:sld>
</file>

<file path=ppt/slides/slide19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Alignment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12.9% → 13.1%, +0.1 pts: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21.1%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31.7%</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+10.6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12.6%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22.8%</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+10.1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11.8%</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+7.7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18.3%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25.7%</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+7.3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12.8%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19.4%</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+6.5 pts</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Audi Henderson went 21.1% to 31.7%, stepping up in May. Ask what changed that month.</a:t>
            </a:r>
            <a:endParaRPr lang="en-US" sz="1600" dirty="0"/>
          </a:p>
        </p:txBody>
      </p:sp>
    </p:spTree>
  </p:cSld>
  <p:clrMapOvr>
    <a:masterClrMapping/>
  </p:clrMapOvr>
</p:sld>
</file>

<file path=ppt/slides/slide19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Balance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8.2% → 8.3%, 0.0 pts: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10.1%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19.3%</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+9.1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10.8%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16.1%</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+5.2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0.7%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4.0%</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8.5%</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9.7%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12.2%</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+2.5 pts</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Mazda went 10.1% to 19.3%, stepping up in August. Ask what changed that month.</a:t>
            </a:r>
            <a:endParaRPr lang="en-US" sz="1600" dirty="0"/>
          </a:p>
        </p:txBody>
      </p:sp>
    </p:spTree>
  </p:cSld>
  <p:clrMapOvr>
    <a:masterClrMapping/>
  </p:clrMapOvr>
</p:sld>
</file>

<file path=ppt/slides/slide19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Brake Fluid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9.1% → 9.1%, 0.0 pts: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5.2%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14.1%</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+8.9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0.5%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5.3%</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3.9%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7.9%</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8.3%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11.7%</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8.1%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10.3%</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+2.1 pts</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Mazda went 5.2% to 14.1%, stepping up in August. Ask what changed that month.</a:t>
            </a:r>
            <a:endParaRPr lang="en-US" sz="1600" dirty="0"/>
          </a:p>
        </p:txBody>
      </p:sp>
    </p:spTree>
  </p:cSld>
  <p:clrMapOvr>
    <a:masterClrMapping/>
  </p:clrMapOvr>
</p:sld>
</file>

<file path=ppt/slides/slide19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Fuel Service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5.8% → 5.6%, −0.2 pts: that is the season. 19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10.7%</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+8.1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4.2%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8.1%</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1.2%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4.9%</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+3.6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6.7%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10.1%</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0.0%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2.5%</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+2.4 pts</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Mazda went 2.5% to 10.7%, stepping up in August. Ask what changed that month.</a:t>
            </a:r>
            <a:endParaRPr lang="en-US" sz="1600" dirty="0"/>
          </a:p>
        </p:txBody>
      </p:sp>
    </p:spTree>
  </p:cSld>
  <p:clrMapOvr>
    <a:masterClrMapping/>
  </p:clrMapOvr>
</p:sld>
</file>

<file path=ppt/slides/slide19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Stores · January–September</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 three stores on each measure, vs Jan–Sep 2025</a:t>
            </a:r>
            <a:endParaRPr lang="en-US" sz="1400" dirty="0"/>
          </a:p>
        </p:txBody>
      </p:sp>
      <p:sp>
        <p:nvSpPr>
          <p:cNvPr id="7" name="Shape 5"/>
          <p:cNvSpPr/>
          <p:nvPr/>
        </p:nvSpPr>
        <p:spPr>
          <a:xfrm>
            <a:off x="713232" y="1682496"/>
            <a:ext cx="3453384" cy="1938528"/>
          </a:xfrm>
          <a:prstGeom prst="rect">
            <a:avLst/>
          </a:prstGeom>
          <a:solidFill>
            <a:srgbClr val="F7F7F7"/>
          </a:solidFill>
          <a:ln/>
        </p:spPr>
      </p:sp>
      <p:sp>
        <p:nvSpPr>
          <p:cNvPr id="8" name="Shape 6"/>
          <p:cNvSpPr/>
          <p:nvPr/>
        </p:nvSpPr>
        <p:spPr>
          <a:xfrm>
            <a:off x="713232" y="1682496"/>
            <a:ext cx="3453384" cy="54864"/>
          </a:xfrm>
          <a:prstGeom prst="rect">
            <a:avLst/>
          </a:prstGeom>
          <a:solidFill>
            <a:srgbClr val="12A566"/>
          </a:solidFill>
          <a:ln/>
        </p:spPr>
      </p:sp>
      <p:sp>
        <p:nvSpPr>
          <p:cNvPr id="9" name="Text 7"/>
          <p:cNvSpPr txBox="1"/>
          <p:nvPr/>
        </p:nvSpPr>
        <p:spPr>
          <a:xfrm>
            <a:off x="859536"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GROSS</a:t>
            </a:r>
            <a:endParaRPr lang="en-US" sz="1400" dirty="0"/>
          </a:p>
        </p:txBody>
      </p:sp>
      <p:sp>
        <p:nvSpPr>
          <p:cNvPr id="10" name="Text 8"/>
          <p:cNvSpPr txBox="1"/>
          <p:nvPr/>
        </p:nvSpPr>
        <p:spPr>
          <a:xfrm>
            <a:off x="2795016"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+6.4%</a:t>
            </a:r>
            <a:endParaRPr lang="en-US" sz="1300" dirty="0"/>
          </a:p>
        </p:txBody>
      </p:sp>
      <p:sp>
        <p:nvSpPr>
          <p:cNvPr id="11" name="Text 9"/>
          <p:cNvSpPr txBox="1"/>
          <p:nvPr/>
        </p:nvSpPr>
        <p:spPr>
          <a:xfrm>
            <a:off x="859536"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12" name="Text 10"/>
          <p:cNvSpPr txBox="1"/>
          <p:nvPr/>
        </p:nvSpPr>
        <p:spPr>
          <a:xfrm>
            <a:off x="1115568"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3" name="Text 11"/>
          <p:cNvSpPr txBox="1"/>
          <p:nvPr/>
        </p:nvSpPr>
        <p:spPr>
          <a:xfrm>
            <a:off x="1115568"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$865K → $1.26M</a:t>
            </a:r>
            <a:endParaRPr lang="en-US" sz="1300" dirty="0"/>
          </a:p>
        </p:txBody>
      </p:sp>
      <p:sp>
        <p:nvSpPr>
          <p:cNvPr id="14" name="Text 12"/>
          <p:cNvSpPr txBox="1"/>
          <p:nvPr/>
        </p:nvSpPr>
        <p:spPr>
          <a:xfrm>
            <a:off x="2886456"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+46.0%</a:t>
            </a:r>
            <a:endParaRPr lang="en-US" sz="1800" dirty="0"/>
          </a:p>
        </p:txBody>
      </p:sp>
      <p:sp>
        <p:nvSpPr>
          <p:cNvPr id="15" name="Text 13"/>
          <p:cNvSpPr txBox="1"/>
          <p:nvPr/>
        </p:nvSpPr>
        <p:spPr>
          <a:xfrm>
            <a:off x="859536"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16" name="Text 14"/>
          <p:cNvSpPr txBox="1"/>
          <p:nvPr/>
        </p:nvSpPr>
        <p:spPr>
          <a:xfrm>
            <a:off x="1115568"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17" name="Text 15"/>
          <p:cNvSpPr txBox="1"/>
          <p:nvPr/>
        </p:nvSpPr>
        <p:spPr>
          <a:xfrm>
            <a:off x="1115568"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$832K → $1.21M</a:t>
            </a:r>
            <a:endParaRPr lang="en-US" sz="1300" dirty="0"/>
          </a:p>
        </p:txBody>
      </p:sp>
      <p:sp>
        <p:nvSpPr>
          <p:cNvPr id="18" name="Text 16"/>
          <p:cNvSpPr txBox="1"/>
          <p:nvPr/>
        </p:nvSpPr>
        <p:spPr>
          <a:xfrm>
            <a:off x="2886456"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+45.3%</a:t>
            </a:r>
            <a:endParaRPr lang="en-US" sz="1800" dirty="0"/>
          </a:p>
        </p:txBody>
      </p:sp>
      <p:sp>
        <p:nvSpPr>
          <p:cNvPr id="19" name="Text 17"/>
          <p:cNvSpPr txBox="1"/>
          <p:nvPr/>
        </p:nvSpPr>
        <p:spPr>
          <a:xfrm>
            <a:off x="859536"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20" name="Text 18"/>
          <p:cNvSpPr txBox="1"/>
          <p:nvPr/>
        </p:nvSpPr>
        <p:spPr>
          <a:xfrm>
            <a:off x="1115568"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21" name="Text 19"/>
          <p:cNvSpPr txBox="1"/>
          <p:nvPr/>
        </p:nvSpPr>
        <p:spPr>
          <a:xfrm>
            <a:off x="1115568"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$1.48M → $1.98M</a:t>
            </a:r>
            <a:endParaRPr lang="en-US" sz="1300" dirty="0"/>
          </a:p>
        </p:txBody>
      </p:sp>
      <p:sp>
        <p:nvSpPr>
          <p:cNvPr id="22" name="Text 20"/>
          <p:cNvSpPr txBox="1"/>
          <p:nvPr/>
        </p:nvSpPr>
        <p:spPr>
          <a:xfrm>
            <a:off x="2886456"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+33.8%</a:t>
            </a:r>
            <a:endParaRPr lang="en-US" sz="1800" dirty="0"/>
          </a:p>
        </p:txBody>
      </p:sp>
      <p:sp>
        <p:nvSpPr>
          <p:cNvPr id="23" name="Shape 21"/>
          <p:cNvSpPr/>
          <p:nvPr/>
        </p:nvSpPr>
        <p:spPr>
          <a:xfrm>
            <a:off x="4367784" y="1682496"/>
            <a:ext cx="3453384" cy="1938528"/>
          </a:xfrm>
          <a:prstGeom prst="rect">
            <a:avLst/>
          </a:prstGeom>
          <a:solidFill>
            <a:srgbClr val="F7F7F7"/>
          </a:solidFill>
          <a:ln/>
        </p:spPr>
      </p:sp>
      <p:sp>
        <p:nvSpPr>
          <p:cNvPr id="24" name="Shape 22"/>
          <p:cNvSpPr/>
          <p:nvPr/>
        </p:nvSpPr>
        <p:spPr>
          <a:xfrm>
            <a:off x="4367784" y="1682496"/>
            <a:ext cx="3453384" cy="54864"/>
          </a:xfrm>
          <a:prstGeom prst="rect">
            <a:avLst/>
          </a:prstGeom>
          <a:solidFill>
            <a:srgbClr val="12A566"/>
          </a:solidFill>
          <a:ln/>
        </p:spPr>
      </p:sp>
      <p:sp>
        <p:nvSpPr>
          <p:cNvPr id="25" name="Text 23"/>
          <p:cNvSpPr txBox="1"/>
          <p:nvPr/>
        </p:nvSpPr>
        <p:spPr>
          <a:xfrm>
            <a:off x="4514088"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RO COUNT</a:t>
            </a:r>
            <a:endParaRPr lang="en-US" sz="1400" dirty="0"/>
          </a:p>
        </p:txBody>
      </p:sp>
      <p:sp>
        <p:nvSpPr>
          <p:cNvPr id="26" name="Text 24"/>
          <p:cNvSpPr txBox="1"/>
          <p:nvPr/>
        </p:nvSpPr>
        <p:spPr>
          <a:xfrm>
            <a:off x="6449568"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+0.1%</a:t>
            </a:r>
            <a:endParaRPr lang="en-US" sz="1300" dirty="0"/>
          </a:p>
        </p:txBody>
      </p:sp>
      <p:sp>
        <p:nvSpPr>
          <p:cNvPr id="27" name="Text 25"/>
          <p:cNvSpPr txBox="1"/>
          <p:nvPr/>
        </p:nvSpPr>
        <p:spPr>
          <a:xfrm>
            <a:off x="4514088"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28" name="Text 26"/>
          <p:cNvSpPr txBox="1"/>
          <p:nvPr/>
        </p:nvSpPr>
        <p:spPr>
          <a:xfrm>
            <a:off x="4770120"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29" name="Text 27"/>
          <p:cNvSpPr txBox="1"/>
          <p:nvPr/>
        </p:nvSpPr>
        <p:spPr>
          <a:xfrm>
            <a:off x="4770120"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7,156 → 8,133</a:t>
            </a:r>
            <a:endParaRPr lang="en-US" sz="1300" dirty="0"/>
          </a:p>
        </p:txBody>
      </p:sp>
      <p:sp>
        <p:nvSpPr>
          <p:cNvPr id="30" name="Text 28"/>
          <p:cNvSpPr txBox="1"/>
          <p:nvPr/>
        </p:nvSpPr>
        <p:spPr>
          <a:xfrm>
            <a:off x="6541008"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+13.6%</a:t>
            </a:r>
            <a:endParaRPr lang="en-US" sz="1800" dirty="0"/>
          </a:p>
        </p:txBody>
      </p:sp>
      <p:sp>
        <p:nvSpPr>
          <p:cNvPr id="31" name="Text 29"/>
          <p:cNvSpPr txBox="1"/>
          <p:nvPr/>
        </p:nvSpPr>
        <p:spPr>
          <a:xfrm>
            <a:off x="4514088"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32" name="Text 30"/>
          <p:cNvSpPr txBox="1"/>
          <p:nvPr/>
        </p:nvSpPr>
        <p:spPr>
          <a:xfrm>
            <a:off x="4770120"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33" name="Text 31"/>
          <p:cNvSpPr txBox="1"/>
          <p:nvPr/>
        </p:nvSpPr>
        <p:spPr>
          <a:xfrm>
            <a:off x="4770120"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1,784 → 2,010</a:t>
            </a:r>
            <a:endParaRPr lang="en-US" sz="1300" dirty="0"/>
          </a:p>
        </p:txBody>
      </p:sp>
      <p:sp>
        <p:nvSpPr>
          <p:cNvPr id="34" name="Text 32"/>
          <p:cNvSpPr txBox="1"/>
          <p:nvPr/>
        </p:nvSpPr>
        <p:spPr>
          <a:xfrm>
            <a:off x="6541008"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+12.6%</a:t>
            </a:r>
            <a:endParaRPr lang="en-US" sz="1800" dirty="0"/>
          </a:p>
        </p:txBody>
      </p:sp>
      <p:sp>
        <p:nvSpPr>
          <p:cNvPr id="35" name="Text 33"/>
          <p:cNvSpPr txBox="1"/>
          <p:nvPr/>
        </p:nvSpPr>
        <p:spPr>
          <a:xfrm>
            <a:off x="4514088"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36" name="Text 34"/>
          <p:cNvSpPr txBox="1"/>
          <p:nvPr/>
        </p:nvSpPr>
        <p:spPr>
          <a:xfrm>
            <a:off x="4770120"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37" name="Text 35"/>
          <p:cNvSpPr txBox="1"/>
          <p:nvPr/>
        </p:nvSpPr>
        <p:spPr>
          <a:xfrm>
            <a:off x="4770120"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2,810 → 3,107</a:t>
            </a:r>
            <a:endParaRPr lang="en-US" sz="1300" dirty="0"/>
          </a:p>
        </p:txBody>
      </p:sp>
      <p:sp>
        <p:nvSpPr>
          <p:cNvPr id="38" name="Text 36"/>
          <p:cNvSpPr txBox="1"/>
          <p:nvPr/>
        </p:nvSpPr>
        <p:spPr>
          <a:xfrm>
            <a:off x="6541008"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+10.5%</a:t>
            </a:r>
            <a:endParaRPr lang="en-US" sz="1800" dirty="0"/>
          </a:p>
        </p:txBody>
      </p:sp>
      <p:sp>
        <p:nvSpPr>
          <p:cNvPr id="39" name="Shape 37"/>
          <p:cNvSpPr/>
          <p:nvPr/>
        </p:nvSpPr>
        <p:spPr>
          <a:xfrm>
            <a:off x="8022336" y="1682496"/>
            <a:ext cx="3453384" cy="1938528"/>
          </a:xfrm>
          <a:prstGeom prst="rect">
            <a:avLst/>
          </a:prstGeom>
          <a:solidFill>
            <a:srgbClr val="F7F7F7"/>
          </a:solidFill>
          <a:ln/>
        </p:spPr>
      </p:sp>
      <p:sp>
        <p:nvSpPr>
          <p:cNvPr id="40" name="Shape 38"/>
          <p:cNvSpPr/>
          <p:nvPr/>
        </p:nvSpPr>
        <p:spPr>
          <a:xfrm>
            <a:off x="8022336" y="1682496"/>
            <a:ext cx="3453384" cy="54864"/>
          </a:xfrm>
          <a:prstGeom prst="rect">
            <a:avLst/>
          </a:prstGeom>
          <a:solidFill>
            <a:srgbClr val="12A566"/>
          </a:solidFill>
          <a:ln/>
        </p:spPr>
      </p:sp>
      <p:sp>
        <p:nvSpPr>
          <p:cNvPr id="41" name="Text 39"/>
          <p:cNvSpPr txBox="1"/>
          <p:nvPr/>
        </p:nvSpPr>
        <p:spPr>
          <a:xfrm>
            <a:off x="8168640"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HOURS PER RO</a:t>
            </a:r>
            <a:endParaRPr lang="en-US" sz="1400" dirty="0"/>
          </a:p>
        </p:txBody>
      </p:sp>
      <p:sp>
        <p:nvSpPr>
          <p:cNvPr id="42" name="Text 40"/>
          <p:cNvSpPr txBox="1"/>
          <p:nvPr/>
        </p:nvSpPr>
        <p:spPr>
          <a:xfrm>
            <a:off x="10104120"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+3.6%</a:t>
            </a:r>
            <a:endParaRPr lang="en-US" sz="1300" dirty="0"/>
          </a:p>
        </p:txBody>
      </p:sp>
      <p:sp>
        <p:nvSpPr>
          <p:cNvPr id="43" name="Text 41"/>
          <p:cNvSpPr txBox="1"/>
          <p:nvPr/>
        </p:nvSpPr>
        <p:spPr>
          <a:xfrm>
            <a:off x="8168640"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44" name="Text 42"/>
          <p:cNvSpPr txBox="1"/>
          <p:nvPr/>
        </p:nvSpPr>
        <p:spPr>
          <a:xfrm>
            <a:off x="8424672"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45" name="Text 43"/>
          <p:cNvSpPr txBox="1"/>
          <p:nvPr/>
        </p:nvSpPr>
        <p:spPr>
          <a:xfrm>
            <a:off x="8424672"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1.03 → 1.43</a:t>
            </a:r>
            <a:endParaRPr lang="en-US" sz="1300" dirty="0"/>
          </a:p>
        </p:txBody>
      </p:sp>
      <p:sp>
        <p:nvSpPr>
          <p:cNvPr id="46" name="Text 44"/>
          <p:cNvSpPr txBox="1"/>
          <p:nvPr/>
        </p:nvSpPr>
        <p:spPr>
          <a:xfrm>
            <a:off x="10195560"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+39.1%</a:t>
            </a:r>
            <a:endParaRPr lang="en-US" sz="1800" dirty="0"/>
          </a:p>
        </p:txBody>
      </p:sp>
      <p:sp>
        <p:nvSpPr>
          <p:cNvPr id="47" name="Text 45"/>
          <p:cNvSpPr txBox="1"/>
          <p:nvPr/>
        </p:nvSpPr>
        <p:spPr>
          <a:xfrm>
            <a:off x="8168640"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48" name="Text 46"/>
          <p:cNvSpPr txBox="1"/>
          <p:nvPr/>
        </p:nvSpPr>
        <p:spPr>
          <a:xfrm>
            <a:off x="8424672"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49" name="Text 47"/>
          <p:cNvSpPr txBox="1"/>
          <p:nvPr/>
        </p:nvSpPr>
        <p:spPr>
          <a:xfrm>
            <a:off x="8424672"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1.75 → 2.30</a:t>
            </a:r>
            <a:endParaRPr lang="en-US" sz="1300" dirty="0"/>
          </a:p>
        </p:txBody>
      </p:sp>
      <p:sp>
        <p:nvSpPr>
          <p:cNvPr id="50" name="Text 48"/>
          <p:cNvSpPr txBox="1"/>
          <p:nvPr/>
        </p:nvSpPr>
        <p:spPr>
          <a:xfrm>
            <a:off x="10195560"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+31.3%</a:t>
            </a:r>
            <a:endParaRPr lang="en-US" sz="1800" dirty="0"/>
          </a:p>
        </p:txBody>
      </p:sp>
      <p:sp>
        <p:nvSpPr>
          <p:cNvPr id="51" name="Text 49"/>
          <p:cNvSpPr txBox="1"/>
          <p:nvPr/>
        </p:nvSpPr>
        <p:spPr>
          <a:xfrm>
            <a:off x="8168640"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52" name="Text 50"/>
          <p:cNvSpPr txBox="1"/>
          <p:nvPr/>
        </p:nvSpPr>
        <p:spPr>
          <a:xfrm>
            <a:off x="8424672"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53" name="Text 51"/>
          <p:cNvSpPr txBox="1"/>
          <p:nvPr/>
        </p:nvSpPr>
        <p:spPr>
          <a:xfrm>
            <a:off x="8424672"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0.99 → 1.29</a:t>
            </a:r>
            <a:endParaRPr lang="en-US" sz="1300" dirty="0"/>
          </a:p>
        </p:txBody>
      </p:sp>
      <p:sp>
        <p:nvSpPr>
          <p:cNvPr id="54" name="Text 52"/>
          <p:cNvSpPr txBox="1"/>
          <p:nvPr/>
        </p:nvSpPr>
        <p:spPr>
          <a:xfrm>
            <a:off x="10195560"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+30.7%</a:t>
            </a:r>
            <a:endParaRPr lang="en-US" sz="1800" dirty="0"/>
          </a:p>
        </p:txBody>
      </p:sp>
      <p:sp>
        <p:nvSpPr>
          <p:cNvPr id="55" name="Shape 53"/>
          <p:cNvSpPr/>
          <p:nvPr/>
        </p:nvSpPr>
        <p:spPr>
          <a:xfrm>
            <a:off x="713232" y="3749040"/>
            <a:ext cx="3453384" cy="1938528"/>
          </a:xfrm>
          <a:prstGeom prst="rect">
            <a:avLst/>
          </a:prstGeom>
          <a:solidFill>
            <a:srgbClr val="F7F7F7"/>
          </a:solidFill>
          <a:ln/>
        </p:spPr>
      </p:sp>
      <p:sp>
        <p:nvSpPr>
          <p:cNvPr id="56" name="Shape 54"/>
          <p:cNvSpPr/>
          <p:nvPr/>
        </p:nvSpPr>
        <p:spPr>
          <a:xfrm>
            <a:off x="713232" y="3749040"/>
            <a:ext cx="3453384" cy="54864"/>
          </a:xfrm>
          <a:prstGeom prst="rect">
            <a:avLst/>
          </a:prstGeom>
          <a:solidFill>
            <a:srgbClr val="12A566"/>
          </a:solidFill>
          <a:ln/>
        </p:spPr>
      </p:sp>
      <p:sp>
        <p:nvSpPr>
          <p:cNvPr id="57" name="Text 55"/>
          <p:cNvSpPr txBox="1"/>
          <p:nvPr/>
        </p:nvSpPr>
        <p:spPr>
          <a:xfrm>
            <a:off x="859536"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ELR</a:t>
            </a:r>
            <a:endParaRPr lang="en-US" sz="1400" dirty="0"/>
          </a:p>
        </p:txBody>
      </p:sp>
      <p:sp>
        <p:nvSpPr>
          <p:cNvPr id="58" name="Text 56"/>
          <p:cNvSpPr txBox="1"/>
          <p:nvPr/>
        </p:nvSpPr>
        <p:spPr>
          <a:xfrm>
            <a:off x="2795016"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+2.2%</a:t>
            </a:r>
            <a:endParaRPr lang="en-US" sz="1300" dirty="0"/>
          </a:p>
        </p:txBody>
      </p:sp>
      <p:sp>
        <p:nvSpPr>
          <p:cNvPr id="59" name="Text 57"/>
          <p:cNvSpPr txBox="1"/>
          <p:nvPr/>
        </p:nvSpPr>
        <p:spPr>
          <a:xfrm>
            <a:off x="859536"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60" name="Text 58"/>
          <p:cNvSpPr txBox="1"/>
          <p:nvPr/>
        </p:nvSpPr>
        <p:spPr>
          <a:xfrm>
            <a:off x="1115568"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61" name="Text 59"/>
          <p:cNvSpPr txBox="1"/>
          <p:nvPr/>
        </p:nvSpPr>
        <p:spPr>
          <a:xfrm>
            <a:off x="1115568"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$117.05 → $143.89</a:t>
            </a:r>
            <a:endParaRPr lang="en-US" sz="1300" dirty="0"/>
          </a:p>
        </p:txBody>
      </p:sp>
      <p:sp>
        <p:nvSpPr>
          <p:cNvPr id="62" name="Text 60"/>
          <p:cNvSpPr txBox="1"/>
          <p:nvPr/>
        </p:nvSpPr>
        <p:spPr>
          <a:xfrm>
            <a:off x="2886456"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+22.9%</a:t>
            </a:r>
            <a:endParaRPr lang="en-US" sz="1800" dirty="0"/>
          </a:p>
        </p:txBody>
      </p:sp>
      <p:sp>
        <p:nvSpPr>
          <p:cNvPr id="63" name="Text 61"/>
          <p:cNvSpPr txBox="1"/>
          <p:nvPr/>
        </p:nvSpPr>
        <p:spPr>
          <a:xfrm>
            <a:off x="859536"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64" name="Text 62"/>
          <p:cNvSpPr txBox="1"/>
          <p:nvPr/>
        </p:nvSpPr>
        <p:spPr>
          <a:xfrm>
            <a:off x="1115568"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65" name="Text 63"/>
          <p:cNvSpPr txBox="1"/>
          <p:nvPr/>
        </p:nvSpPr>
        <p:spPr>
          <a:xfrm>
            <a:off x="1115568"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$181.59 → $222.12</a:t>
            </a:r>
            <a:endParaRPr lang="en-US" sz="1300" dirty="0"/>
          </a:p>
        </p:txBody>
      </p:sp>
      <p:sp>
        <p:nvSpPr>
          <p:cNvPr id="66" name="Text 64"/>
          <p:cNvSpPr txBox="1"/>
          <p:nvPr/>
        </p:nvSpPr>
        <p:spPr>
          <a:xfrm>
            <a:off x="2886456"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+22.3%</a:t>
            </a:r>
            <a:endParaRPr lang="en-US" sz="1800" dirty="0"/>
          </a:p>
        </p:txBody>
      </p:sp>
      <p:sp>
        <p:nvSpPr>
          <p:cNvPr id="67" name="Text 65"/>
          <p:cNvSpPr txBox="1"/>
          <p:nvPr/>
        </p:nvSpPr>
        <p:spPr>
          <a:xfrm>
            <a:off x="859536"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68" name="Text 66"/>
          <p:cNvSpPr txBox="1"/>
          <p:nvPr/>
        </p:nvSpPr>
        <p:spPr>
          <a:xfrm>
            <a:off x="1115568"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69" name="Text 67"/>
          <p:cNvSpPr txBox="1"/>
          <p:nvPr/>
        </p:nvSpPr>
        <p:spPr>
          <a:xfrm>
            <a:off x="1115568"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$139.55 → $167.64</a:t>
            </a:r>
            <a:endParaRPr lang="en-US" sz="1300" dirty="0"/>
          </a:p>
        </p:txBody>
      </p:sp>
      <p:sp>
        <p:nvSpPr>
          <p:cNvPr id="70" name="Text 68"/>
          <p:cNvSpPr txBox="1"/>
          <p:nvPr/>
        </p:nvSpPr>
        <p:spPr>
          <a:xfrm>
            <a:off x="2886456"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+20.1%</a:t>
            </a:r>
            <a:endParaRPr lang="en-US" sz="1800" dirty="0"/>
          </a:p>
        </p:txBody>
      </p:sp>
      <p:sp>
        <p:nvSpPr>
          <p:cNvPr id="71" name="Shape 69"/>
          <p:cNvSpPr/>
          <p:nvPr/>
        </p:nvSpPr>
        <p:spPr>
          <a:xfrm>
            <a:off x="4367784" y="3749040"/>
            <a:ext cx="3453384" cy="1938528"/>
          </a:xfrm>
          <a:prstGeom prst="rect">
            <a:avLst/>
          </a:prstGeom>
          <a:solidFill>
            <a:srgbClr val="F7F7F7"/>
          </a:solidFill>
          <a:ln/>
        </p:spPr>
      </p:sp>
      <p:sp>
        <p:nvSpPr>
          <p:cNvPr id="72" name="Shape 70"/>
          <p:cNvSpPr/>
          <p:nvPr/>
        </p:nvSpPr>
        <p:spPr>
          <a:xfrm>
            <a:off x="4367784" y="3749040"/>
            <a:ext cx="3453384" cy="54864"/>
          </a:xfrm>
          <a:prstGeom prst="rect">
            <a:avLst/>
          </a:prstGeom>
          <a:solidFill>
            <a:srgbClr val="12A566"/>
          </a:solidFill>
          <a:ln/>
        </p:spPr>
      </p:sp>
      <p:sp>
        <p:nvSpPr>
          <p:cNvPr id="73" name="Text 71"/>
          <p:cNvSpPr txBox="1"/>
          <p:nvPr/>
        </p:nvSpPr>
        <p:spPr>
          <a:xfrm>
            <a:off x="4514088"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PARTS $ PER RO</a:t>
            </a:r>
            <a:endParaRPr lang="en-US" sz="1400" dirty="0"/>
          </a:p>
        </p:txBody>
      </p:sp>
      <p:sp>
        <p:nvSpPr>
          <p:cNvPr id="74" name="Text 72"/>
          <p:cNvSpPr txBox="1"/>
          <p:nvPr/>
        </p:nvSpPr>
        <p:spPr>
          <a:xfrm>
            <a:off x="6449568"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+4.1%</a:t>
            </a:r>
            <a:endParaRPr lang="en-US" sz="1300" dirty="0"/>
          </a:p>
        </p:txBody>
      </p:sp>
      <p:sp>
        <p:nvSpPr>
          <p:cNvPr id="75" name="Text 73"/>
          <p:cNvSpPr txBox="1"/>
          <p:nvPr/>
        </p:nvSpPr>
        <p:spPr>
          <a:xfrm>
            <a:off x="4514088"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76" name="Text 74"/>
          <p:cNvSpPr txBox="1"/>
          <p:nvPr/>
        </p:nvSpPr>
        <p:spPr>
          <a:xfrm>
            <a:off x="4770120"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77" name="Text 75"/>
          <p:cNvSpPr txBox="1"/>
          <p:nvPr/>
        </p:nvSpPr>
        <p:spPr>
          <a:xfrm>
            <a:off x="4770120"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$281 → $363</a:t>
            </a:r>
            <a:endParaRPr lang="en-US" sz="1300" dirty="0"/>
          </a:p>
        </p:txBody>
      </p:sp>
      <p:sp>
        <p:nvSpPr>
          <p:cNvPr id="78" name="Text 76"/>
          <p:cNvSpPr txBox="1"/>
          <p:nvPr/>
        </p:nvSpPr>
        <p:spPr>
          <a:xfrm>
            <a:off x="6541008"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+28.9%</a:t>
            </a:r>
            <a:endParaRPr lang="en-US" sz="1800" dirty="0"/>
          </a:p>
        </p:txBody>
      </p:sp>
      <p:sp>
        <p:nvSpPr>
          <p:cNvPr id="79" name="Text 77"/>
          <p:cNvSpPr txBox="1"/>
          <p:nvPr/>
        </p:nvSpPr>
        <p:spPr>
          <a:xfrm>
            <a:off x="4514088"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80" name="Text 78"/>
          <p:cNvSpPr txBox="1"/>
          <p:nvPr/>
        </p:nvSpPr>
        <p:spPr>
          <a:xfrm>
            <a:off x="4770120"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81" name="Text 79"/>
          <p:cNvSpPr txBox="1"/>
          <p:nvPr/>
        </p:nvSpPr>
        <p:spPr>
          <a:xfrm>
            <a:off x="4770120"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$193 → $240</a:t>
            </a:r>
            <a:endParaRPr lang="en-US" sz="1300" dirty="0"/>
          </a:p>
        </p:txBody>
      </p:sp>
      <p:sp>
        <p:nvSpPr>
          <p:cNvPr id="82" name="Text 80"/>
          <p:cNvSpPr txBox="1"/>
          <p:nvPr/>
        </p:nvSpPr>
        <p:spPr>
          <a:xfrm>
            <a:off x="6541008"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+24.7%</a:t>
            </a:r>
            <a:endParaRPr lang="en-US" sz="1800" dirty="0"/>
          </a:p>
        </p:txBody>
      </p:sp>
      <p:sp>
        <p:nvSpPr>
          <p:cNvPr id="83" name="Text 81"/>
          <p:cNvSpPr txBox="1"/>
          <p:nvPr/>
        </p:nvSpPr>
        <p:spPr>
          <a:xfrm>
            <a:off x="4514088"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84" name="Text 82"/>
          <p:cNvSpPr txBox="1"/>
          <p:nvPr/>
        </p:nvSpPr>
        <p:spPr>
          <a:xfrm>
            <a:off x="4770120"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85" name="Text 83"/>
          <p:cNvSpPr txBox="1"/>
          <p:nvPr/>
        </p:nvSpPr>
        <p:spPr>
          <a:xfrm>
            <a:off x="4770120"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$181 → $219</a:t>
            </a:r>
            <a:endParaRPr lang="en-US" sz="1300" dirty="0"/>
          </a:p>
        </p:txBody>
      </p:sp>
      <p:sp>
        <p:nvSpPr>
          <p:cNvPr id="86" name="Text 84"/>
          <p:cNvSpPr txBox="1"/>
          <p:nvPr/>
        </p:nvSpPr>
        <p:spPr>
          <a:xfrm>
            <a:off x="6541008"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+21.0%</a:t>
            </a:r>
            <a:endParaRPr lang="en-US" sz="1800" dirty="0"/>
          </a:p>
        </p:txBody>
      </p:sp>
      <p:sp>
        <p:nvSpPr>
          <p:cNvPr id="87" name="Shape 85"/>
          <p:cNvSpPr/>
          <p:nvPr/>
        </p:nvSpPr>
        <p:spPr>
          <a:xfrm>
            <a:off x="8022336" y="3749040"/>
            <a:ext cx="3453384" cy="1938528"/>
          </a:xfrm>
          <a:prstGeom prst="rect">
            <a:avLst/>
          </a:prstGeom>
          <a:solidFill>
            <a:srgbClr val="F7F7F7"/>
          </a:solidFill>
          <a:ln/>
        </p:spPr>
      </p:sp>
      <p:sp>
        <p:nvSpPr>
          <p:cNvPr id="88" name="Shape 86"/>
          <p:cNvSpPr/>
          <p:nvPr/>
        </p:nvSpPr>
        <p:spPr>
          <a:xfrm>
            <a:off x="8022336" y="3749040"/>
            <a:ext cx="3453384" cy="54864"/>
          </a:xfrm>
          <a:prstGeom prst="rect">
            <a:avLst/>
          </a:prstGeom>
          <a:solidFill>
            <a:srgbClr val="12A566"/>
          </a:solidFill>
          <a:ln/>
        </p:spPr>
      </p:sp>
      <p:sp>
        <p:nvSpPr>
          <p:cNvPr id="89" name="Text 87"/>
          <p:cNvSpPr txBox="1"/>
          <p:nvPr/>
        </p:nvSpPr>
        <p:spPr>
          <a:xfrm>
            <a:off x="8168640"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PARTS GP %</a:t>
            </a:r>
            <a:endParaRPr lang="en-US" sz="1400" dirty="0"/>
          </a:p>
        </p:txBody>
      </p:sp>
      <p:sp>
        <p:nvSpPr>
          <p:cNvPr id="90" name="Text 88"/>
          <p:cNvSpPr txBox="1"/>
          <p:nvPr/>
        </p:nvSpPr>
        <p:spPr>
          <a:xfrm>
            <a:off x="10104120"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+1.2 pts</a:t>
            </a:r>
            <a:endParaRPr lang="en-US" sz="1300" dirty="0"/>
          </a:p>
        </p:txBody>
      </p:sp>
      <p:sp>
        <p:nvSpPr>
          <p:cNvPr id="91" name="Text 89"/>
          <p:cNvSpPr txBox="1"/>
          <p:nvPr/>
        </p:nvSpPr>
        <p:spPr>
          <a:xfrm>
            <a:off x="8168640"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92" name="Text 90"/>
          <p:cNvSpPr txBox="1"/>
          <p:nvPr/>
        </p:nvSpPr>
        <p:spPr>
          <a:xfrm>
            <a:off x="8424672"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93" name="Text 91"/>
          <p:cNvSpPr txBox="1"/>
          <p:nvPr/>
        </p:nvSpPr>
        <p:spPr>
          <a:xfrm>
            <a:off x="8424672"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38.7% → 44.9%</a:t>
            </a:r>
            <a:endParaRPr lang="en-US" sz="1300" dirty="0"/>
          </a:p>
        </p:txBody>
      </p:sp>
      <p:sp>
        <p:nvSpPr>
          <p:cNvPr id="94" name="Text 92"/>
          <p:cNvSpPr txBox="1"/>
          <p:nvPr/>
        </p:nvSpPr>
        <p:spPr>
          <a:xfrm>
            <a:off x="10195560"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+6.1 pts</a:t>
            </a:r>
            <a:endParaRPr lang="en-US" sz="1800" dirty="0"/>
          </a:p>
        </p:txBody>
      </p:sp>
      <p:sp>
        <p:nvSpPr>
          <p:cNvPr id="95" name="Text 93"/>
          <p:cNvSpPr txBox="1"/>
          <p:nvPr/>
        </p:nvSpPr>
        <p:spPr>
          <a:xfrm>
            <a:off x="8168640"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96" name="Text 94"/>
          <p:cNvSpPr txBox="1"/>
          <p:nvPr/>
        </p:nvSpPr>
        <p:spPr>
          <a:xfrm>
            <a:off x="8424672"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NISSAN</a:t>
            </a:r>
            <a:endParaRPr lang="en-US" sz="1400" dirty="0"/>
          </a:p>
        </p:txBody>
      </p:sp>
      <p:sp>
        <p:nvSpPr>
          <p:cNvPr id="97" name="Text 95"/>
          <p:cNvSpPr txBox="1"/>
          <p:nvPr/>
        </p:nvSpPr>
        <p:spPr>
          <a:xfrm>
            <a:off x="8424672"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38.2% → 42.7%</a:t>
            </a:r>
            <a:endParaRPr lang="en-US" sz="1300" dirty="0"/>
          </a:p>
        </p:txBody>
      </p:sp>
      <p:sp>
        <p:nvSpPr>
          <p:cNvPr id="98" name="Text 96"/>
          <p:cNvSpPr txBox="1"/>
          <p:nvPr/>
        </p:nvSpPr>
        <p:spPr>
          <a:xfrm>
            <a:off x="10195560"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+4.5 pts</a:t>
            </a:r>
            <a:endParaRPr lang="en-US" sz="1800" dirty="0"/>
          </a:p>
        </p:txBody>
      </p:sp>
      <p:sp>
        <p:nvSpPr>
          <p:cNvPr id="99" name="Text 97"/>
          <p:cNvSpPr txBox="1"/>
          <p:nvPr/>
        </p:nvSpPr>
        <p:spPr>
          <a:xfrm>
            <a:off x="8168640"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100" name="Text 98"/>
          <p:cNvSpPr txBox="1"/>
          <p:nvPr/>
        </p:nvSpPr>
        <p:spPr>
          <a:xfrm>
            <a:off x="8424672"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101" name="Text 99"/>
          <p:cNvSpPr txBox="1"/>
          <p:nvPr/>
        </p:nvSpPr>
        <p:spPr>
          <a:xfrm>
            <a:off x="8424672"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31.0% → 34.8%</a:t>
            </a:r>
            <a:endParaRPr lang="en-US" sz="1300" dirty="0"/>
          </a:p>
        </p:txBody>
      </p:sp>
      <p:sp>
        <p:nvSpPr>
          <p:cNvPr id="102" name="Text 100"/>
          <p:cNvSpPr txBox="1"/>
          <p:nvPr/>
        </p:nvSpPr>
        <p:spPr>
          <a:xfrm>
            <a:off x="10195560"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+3.8 pts</a:t>
            </a:r>
            <a:endParaRPr lang="en-US" sz="1800" dirty="0"/>
          </a:p>
        </p:txBody>
      </p:sp>
      <p:sp>
        <p:nvSpPr>
          <p:cNvPr id="103" name="Shape 101"/>
          <p:cNvSpPr/>
          <p:nvPr/>
        </p:nvSpPr>
        <p:spPr>
          <a:xfrm>
            <a:off x="457200" y="6126480"/>
            <a:ext cx="11274552" cy="371856"/>
          </a:xfrm>
          <a:prstGeom prst="rect">
            <a:avLst/>
          </a:prstGeom>
          <a:solidFill>
            <a:srgbClr val="E6F6EE"/>
          </a:solidFill>
          <a:ln/>
        </p:spPr>
      </p:sp>
      <p:sp>
        <p:nvSpPr>
          <p:cNvPr id="104" name="Text 10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Lincoln makes three of six lists; three stores make two.</a:t>
            </a:r>
            <a:endParaRPr lang="en-US" sz="1600" dirty="0"/>
          </a:p>
        </p:txBody>
      </p:sp>
    </p:spTree>
  </p:cSld>
  <p:clrMapOvr>
    <a:masterClrMapping/>
  </p:clrMapOvr>
</p:sld>
</file>

<file path=ppt/slides/slide19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Stores · Last 90 Days</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 three stores on each measure, Jul–Sep vs Jul–Sep 2025</a:t>
            </a:r>
            <a:endParaRPr lang="en-US" sz="1400" dirty="0"/>
          </a:p>
        </p:txBody>
      </p:sp>
      <p:sp>
        <p:nvSpPr>
          <p:cNvPr id="7" name="Shape 5"/>
          <p:cNvSpPr/>
          <p:nvPr/>
        </p:nvSpPr>
        <p:spPr>
          <a:xfrm>
            <a:off x="713232" y="1682496"/>
            <a:ext cx="3453384" cy="1938528"/>
          </a:xfrm>
          <a:prstGeom prst="rect">
            <a:avLst/>
          </a:prstGeom>
          <a:solidFill>
            <a:srgbClr val="F7F7F7"/>
          </a:solidFill>
          <a:ln/>
        </p:spPr>
      </p:sp>
      <p:sp>
        <p:nvSpPr>
          <p:cNvPr id="8" name="Shape 6"/>
          <p:cNvSpPr/>
          <p:nvPr/>
        </p:nvSpPr>
        <p:spPr>
          <a:xfrm>
            <a:off x="713232" y="1682496"/>
            <a:ext cx="3453384" cy="54864"/>
          </a:xfrm>
          <a:prstGeom prst="rect">
            <a:avLst/>
          </a:prstGeom>
          <a:solidFill>
            <a:srgbClr val="12A566"/>
          </a:solidFill>
          <a:ln/>
        </p:spPr>
      </p:sp>
      <p:sp>
        <p:nvSpPr>
          <p:cNvPr id="9" name="Text 7"/>
          <p:cNvSpPr txBox="1"/>
          <p:nvPr/>
        </p:nvSpPr>
        <p:spPr>
          <a:xfrm>
            <a:off x="859536"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GROSS</a:t>
            </a:r>
            <a:endParaRPr lang="en-US" sz="1400" dirty="0"/>
          </a:p>
        </p:txBody>
      </p:sp>
      <p:sp>
        <p:nvSpPr>
          <p:cNvPr id="10" name="Text 8"/>
          <p:cNvSpPr txBox="1"/>
          <p:nvPr/>
        </p:nvSpPr>
        <p:spPr>
          <a:xfrm>
            <a:off x="2795016"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+8.4%</a:t>
            </a:r>
            <a:endParaRPr lang="en-US" sz="1300" dirty="0"/>
          </a:p>
        </p:txBody>
      </p:sp>
      <p:sp>
        <p:nvSpPr>
          <p:cNvPr id="11" name="Text 9"/>
          <p:cNvSpPr txBox="1"/>
          <p:nvPr/>
        </p:nvSpPr>
        <p:spPr>
          <a:xfrm>
            <a:off x="859536"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12" name="Text 10"/>
          <p:cNvSpPr txBox="1"/>
          <p:nvPr/>
        </p:nvSpPr>
        <p:spPr>
          <a:xfrm>
            <a:off x="1115568"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3" name="Text 11"/>
          <p:cNvSpPr txBox="1"/>
          <p:nvPr/>
        </p:nvSpPr>
        <p:spPr>
          <a:xfrm>
            <a:off x="1115568"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$243K → $418K</a:t>
            </a:r>
            <a:endParaRPr lang="en-US" sz="1300" dirty="0"/>
          </a:p>
        </p:txBody>
      </p:sp>
      <p:sp>
        <p:nvSpPr>
          <p:cNvPr id="14" name="Text 12"/>
          <p:cNvSpPr txBox="1"/>
          <p:nvPr/>
        </p:nvSpPr>
        <p:spPr>
          <a:xfrm>
            <a:off x="2886456"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+72.1%</a:t>
            </a:r>
            <a:endParaRPr lang="en-US" sz="1800" dirty="0"/>
          </a:p>
        </p:txBody>
      </p:sp>
      <p:sp>
        <p:nvSpPr>
          <p:cNvPr id="15" name="Text 13"/>
          <p:cNvSpPr txBox="1"/>
          <p:nvPr/>
        </p:nvSpPr>
        <p:spPr>
          <a:xfrm>
            <a:off x="859536"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16" name="Text 14"/>
          <p:cNvSpPr txBox="1"/>
          <p:nvPr/>
        </p:nvSpPr>
        <p:spPr>
          <a:xfrm>
            <a:off x="1115568"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17" name="Text 15"/>
          <p:cNvSpPr txBox="1"/>
          <p:nvPr/>
        </p:nvSpPr>
        <p:spPr>
          <a:xfrm>
            <a:off x="1115568"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$237K → $336K</a:t>
            </a:r>
            <a:endParaRPr lang="en-US" sz="1300" dirty="0"/>
          </a:p>
        </p:txBody>
      </p:sp>
      <p:sp>
        <p:nvSpPr>
          <p:cNvPr id="18" name="Text 16"/>
          <p:cNvSpPr txBox="1"/>
          <p:nvPr/>
        </p:nvSpPr>
        <p:spPr>
          <a:xfrm>
            <a:off x="2886456"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+41.5%</a:t>
            </a:r>
            <a:endParaRPr lang="en-US" sz="1800" dirty="0"/>
          </a:p>
        </p:txBody>
      </p:sp>
      <p:sp>
        <p:nvSpPr>
          <p:cNvPr id="19" name="Text 17"/>
          <p:cNvSpPr txBox="1"/>
          <p:nvPr/>
        </p:nvSpPr>
        <p:spPr>
          <a:xfrm>
            <a:off x="859536"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20" name="Text 18"/>
          <p:cNvSpPr txBox="1"/>
          <p:nvPr/>
        </p:nvSpPr>
        <p:spPr>
          <a:xfrm>
            <a:off x="1115568"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21" name="Text 19"/>
          <p:cNvSpPr txBox="1"/>
          <p:nvPr/>
        </p:nvSpPr>
        <p:spPr>
          <a:xfrm>
            <a:off x="1115568"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$291K → $410K</a:t>
            </a:r>
            <a:endParaRPr lang="en-US" sz="1300" dirty="0"/>
          </a:p>
        </p:txBody>
      </p:sp>
      <p:sp>
        <p:nvSpPr>
          <p:cNvPr id="22" name="Text 20"/>
          <p:cNvSpPr txBox="1"/>
          <p:nvPr/>
        </p:nvSpPr>
        <p:spPr>
          <a:xfrm>
            <a:off x="2886456"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+41.0%</a:t>
            </a:r>
            <a:endParaRPr lang="en-US" sz="1800" dirty="0"/>
          </a:p>
        </p:txBody>
      </p:sp>
      <p:sp>
        <p:nvSpPr>
          <p:cNvPr id="23" name="Shape 21"/>
          <p:cNvSpPr/>
          <p:nvPr/>
        </p:nvSpPr>
        <p:spPr>
          <a:xfrm>
            <a:off x="4367784" y="1682496"/>
            <a:ext cx="3453384" cy="1938528"/>
          </a:xfrm>
          <a:prstGeom prst="rect">
            <a:avLst/>
          </a:prstGeom>
          <a:solidFill>
            <a:srgbClr val="F7F7F7"/>
          </a:solidFill>
          <a:ln/>
        </p:spPr>
      </p:sp>
      <p:sp>
        <p:nvSpPr>
          <p:cNvPr id="24" name="Shape 22"/>
          <p:cNvSpPr/>
          <p:nvPr/>
        </p:nvSpPr>
        <p:spPr>
          <a:xfrm>
            <a:off x="4367784" y="1682496"/>
            <a:ext cx="3453384" cy="54864"/>
          </a:xfrm>
          <a:prstGeom prst="rect">
            <a:avLst/>
          </a:prstGeom>
          <a:solidFill>
            <a:srgbClr val="12A566"/>
          </a:solidFill>
          <a:ln/>
        </p:spPr>
      </p:sp>
      <p:sp>
        <p:nvSpPr>
          <p:cNvPr id="25" name="Text 23"/>
          <p:cNvSpPr txBox="1"/>
          <p:nvPr/>
        </p:nvSpPr>
        <p:spPr>
          <a:xfrm>
            <a:off x="4514088"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RO COUNT</a:t>
            </a:r>
            <a:endParaRPr lang="en-US" sz="1400" dirty="0"/>
          </a:p>
        </p:txBody>
      </p:sp>
      <p:sp>
        <p:nvSpPr>
          <p:cNvPr id="26" name="Text 24"/>
          <p:cNvSpPr txBox="1"/>
          <p:nvPr/>
        </p:nvSpPr>
        <p:spPr>
          <a:xfrm>
            <a:off x="6449568"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+2.0%</a:t>
            </a:r>
            <a:endParaRPr lang="en-US" sz="1300" dirty="0"/>
          </a:p>
        </p:txBody>
      </p:sp>
      <p:sp>
        <p:nvSpPr>
          <p:cNvPr id="27" name="Text 25"/>
          <p:cNvSpPr txBox="1"/>
          <p:nvPr/>
        </p:nvSpPr>
        <p:spPr>
          <a:xfrm>
            <a:off x="4514088"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28" name="Text 26"/>
          <p:cNvSpPr txBox="1"/>
          <p:nvPr/>
        </p:nvSpPr>
        <p:spPr>
          <a:xfrm>
            <a:off x="4770120"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29" name="Text 27"/>
          <p:cNvSpPr txBox="1"/>
          <p:nvPr/>
        </p:nvSpPr>
        <p:spPr>
          <a:xfrm>
            <a:off x="4770120"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406 → 489</a:t>
            </a:r>
            <a:endParaRPr lang="en-US" sz="1300" dirty="0"/>
          </a:p>
        </p:txBody>
      </p:sp>
      <p:sp>
        <p:nvSpPr>
          <p:cNvPr id="30" name="Text 28"/>
          <p:cNvSpPr txBox="1"/>
          <p:nvPr/>
        </p:nvSpPr>
        <p:spPr>
          <a:xfrm>
            <a:off x="6541008"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+20.4%</a:t>
            </a:r>
            <a:endParaRPr lang="en-US" sz="1800" dirty="0"/>
          </a:p>
        </p:txBody>
      </p:sp>
      <p:sp>
        <p:nvSpPr>
          <p:cNvPr id="31" name="Text 29"/>
          <p:cNvSpPr txBox="1"/>
          <p:nvPr/>
        </p:nvSpPr>
        <p:spPr>
          <a:xfrm>
            <a:off x="4514088"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32" name="Text 30"/>
          <p:cNvSpPr txBox="1"/>
          <p:nvPr/>
        </p:nvSpPr>
        <p:spPr>
          <a:xfrm>
            <a:off x="4770120"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33" name="Text 31"/>
          <p:cNvSpPr txBox="1"/>
          <p:nvPr/>
        </p:nvSpPr>
        <p:spPr>
          <a:xfrm>
            <a:off x="4770120"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930 → 1,109</a:t>
            </a:r>
            <a:endParaRPr lang="en-US" sz="1300" dirty="0"/>
          </a:p>
        </p:txBody>
      </p:sp>
      <p:sp>
        <p:nvSpPr>
          <p:cNvPr id="34" name="Text 32"/>
          <p:cNvSpPr txBox="1"/>
          <p:nvPr/>
        </p:nvSpPr>
        <p:spPr>
          <a:xfrm>
            <a:off x="6541008"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+19.2%</a:t>
            </a:r>
            <a:endParaRPr lang="en-US" sz="1800" dirty="0"/>
          </a:p>
        </p:txBody>
      </p:sp>
      <p:sp>
        <p:nvSpPr>
          <p:cNvPr id="35" name="Text 33"/>
          <p:cNvSpPr txBox="1"/>
          <p:nvPr/>
        </p:nvSpPr>
        <p:spPr>
          <a:xfrm>
            <a:off x="4514088"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36" name="Text 34"/>
          <p:cNvSpPr txBox="1"/>
          <p:nvPr/>
        </p:nvSpPr>
        <p:spPr>
          <a:xfrm>
            <a:off x="4770120"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LV</a:t>
            </a:r>
            <a:endParaRPr lang="en-US" sz="1400" dirty="0"/>
          </a:p>
        </p:txBody>
      </p:sp>
      <p:sp>
        <p:nvSpPr>
          <p:cNvPr id="37" name="Text 35"/>
          <p:cNvSpPr txBox="1"/>
          <p:nvPr/>
        </p:nvSpPr>
        <p:spPr>
          <a:xfrm>
            <a:off x="4770120"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1,061 → 1,246</a:t>
            </a:r>
            <a:endParaRPr lang="en-US" sz="1300" dirty="0"/>
          </a:p>
        </p:txBody>
      </p:sp>
      <p:sp>
        <p:nvSpPr>
          <p:cNvPr id="38" name="Text 36"/>
          <p:cNvSpPr txBox="1"/>
          <p:nvPr/>
        </p:nvSpPr>
        <p:spPr>
          <a:xfrm>
            <a:off x="6541008"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+17.4%</a:t>
            </a:r>
            <a:endParaRPr lang="en-US" sz="1800" dirty="0"/>
          </a:p>
        </p:txBody>
      </p:sp>
      <p:sp>
        <p:nvSpPr>
          <p:cNvPr id="39" name="Shape 37"/>
          <p:cNvSpPr/>
          <p:nvPr/>
        </p:nvSpPr>
        <p:spPr>
          <a:xfrm>
            <a:off x="8022336" y="1682496"/>
            <a:ext cx="3453384" cy="1938528"/>
          </a:xfrm>
          <a:prstGeom prst="rect">
            <a:avLst/>
          </a:prstGeom>
          <a:solidFill>
            <a:srgbClr val="F7F7F7"/>
          </a:solidFill>
          <a:ln/>
        </p:spPr>
      </p:sp>
      <p:sp>
        <p:nvSpPr>
          <p:cNvPr id="40" name="Shape 38"/>
          <p:cNvSpPr/>
          <p:nvPr/>
        </p:nvSpPr>
        <p:spPr>
          <a:xfrm>
            <a:off x="8022336" y="1682496"/>
            <a:ext cx="3453384" cy="54864"/>
          </a:xfrm>
          <a:prstGeom prst="rect">
            <a:avLst/>
          </a:prstGeom>
          <a:solidFill>
            <a:srgbClr val="12A566"/>
          </a:solidFill>
          <a:ln/>
        </p:spPr>
      </p:sp>
      <p:sp>
        <p:nvSpPr>
          <p:cNvPr id="41" name="Text 39"/>
          <p:cNvSpPr txBox="1"/>
          <p:nvPr/>
        </p:nvSpPr>
        <p:spPr>
          <a:xfrm>
            <a:off x="8168640"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HOURS PER RO</a:t>
            </a:r>
            <a:endParaRPr lang="en-US" sz="1400" dirty="0"/>
          </a:p>
        </p:txBody>
      </p:sp>
      <p:sp>
        <p:nvSpPr>
          <p:cNvPr id="42" name="Text 40"/>
          <p:cNvSpPr txBox="1"/>
          <p:nvPr/>
        </p:nvSpPr>
        <p:spPr>
          <a:xfrm>
            <a:off x="10104120"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+3.1%</a:t>
            </a:r>
            <a:endParaRPr lang="en-US" sz="1300" dirty="0"/>
          </a:p>
        </p:txBody>
      </p:sp>
      <p:sp>
        <p:nvSpPr>
          <p:cNvPr id="43" name="Text 41"/>
          <p:cNvSpPr txBox="1"/>
          <p:nvPr/>
        </p:nvSpPr>
        <p:spPr>
          <a:xfrm>
            <a:off x="8168640"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44" name="Text 42"/>
          <p:cNvSpPr txBox="1"/>
          <p:nvPr/>
        </p:nvSpPr>
        <p:spPr>
          <a:xfrm>
            <a:off x="8424672"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45" name="Text 43"/>
          <p:cNvSpPr txBox="1"/>
          <p:nvPr/>
        </p:nvSpPr>
        <p:spPr>
          <a:xfrm>
            <a:off x="8424672"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1.07 → 1.54</a:t>
            </a:r>
            <a:endParaRPr lang="en-US" sz="1300" dirty="0"/>
          </a:p>
        </p:txBody>
      </p:sp>
      <p:sp>
        <p:nvSpPr>
          <p:cNvPr id="46" name="Text 44"/>
          <p:cNvSpPr txBox="1"/>
          <p:nvPr/>
        </p:nvSpPr>
        <p:spPr>
          <a:xfrm>
            <a:off x="10195560"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+44.7%</a:t>
            </a:r>
            <a:endParaRPr lang="en-US" sz="1800" dirty="0"/>
          </a:p>
        </p:txBody>
      </p:sp>
      <p:sp>
        <p:nvSpPr>
          <p:cNvPr id="47" name="Text 45"/>
          <p:cNvSpPr txBox="1"/>
          <p:nvPr/>
        </p:nvSpPr>
        <p:spPr>
          <a:xfrm>
            <a:off x="8168640"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48" name="Text 46"/>
          <p:cNvSpPr txBox="1"/>
          <p:nvPr/>
        </p:nvSpPr>
        <p:spPr>
          <a:xfrm>
            <a:off x="8424672"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9" name="Text 47"/>
          <p:cNvSpPr txBox="1"/>
          <p:nvPr/>
        </p:nvSpPr>
        <p:spPr>
          <a:xfrm>
            <a:off x="8424672"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0.98 → 1.38</a:t>
            </a:r>
            <a:endParaRPr lang="en-US" sz="1300" dirty="0"/>
          </a:p>
        </p:txBody>
      </p:sp>
      <p:sp>
        <p:nvSpPr>
          <p:cNvPr id="50" name="Text 48"/>
          <p:cNvSpPr txBox="1"/>
          <p:nvPr/>
        </p:nvSpPr>
        <p:spPr>
          <a:xfrm>
            <a:off x="10195560"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+41.1%</a:t>
            </a:r>
            <a:endParaRPr lang="en-US" sz="1800" dirty="0"/>
          </a:p>
        </p:txBody>
      </p:sp>
      <p:sp>
        <p:nvSpPr>
          <p:cNvPr id="51" name="Text 49"/>
          <p:cNvSpPr txBox="1"/>
          <p:nvPr/>
        </p:nvSpPr>
        <p:spPr>
          <a:xfrm>
            <a:off x="8168640"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52" name="Text 50"/>
          <p:cNvSpPr txBox="1"/>
          <p:nvPr/>
        </p:nvSpPr>
        <p:spPr>
          <a:xfrm>
            <a:off x="8424672"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53" name="Text 51"/>
          <p:cNvSpPr txBox="1"/>
          <p:nvPr/>
        </p:nvSpPr>
        <p:spPr>
          <a:xfrm>
            <a:off x="8424672"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1.29 → 1.65</a:t>
            </a:r>
            <a:endParaRPr lang="en-US" sz="1300" dirty="0"/>
          </a:p>
        </p:txBody>
      </p:sp>
      <p:sp>
        <p:nvSpPr>
          <p:cNvPr id="54" name="Text 52"/>
          <p:cNvSpPr txBox="1"/>
          <p:nvPr/>
        </p:nvSpPr>
        <p:spPr>
          <a:xfrm>
            <a:off x="10195560"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+27.5%</a:t>
            </a:r>
            <a:endParaRPr lang="en-US" sz="1800" dirty="0"/>
          </a:p>
        </p:txBody>
      </p:sp>
      <p:sp>
        <p:nvSpPr>
          <p:cNvPr id="55" name="Shape 53"/>
          <p:cNvSpPr/>
          <p:nvPr/>
        </p:nvSpPr>
        <p:spPr>
          <a:xfrm>
            <a:off x="713232" y="3749040"/>
            <a:ext cx="3453384" cy="1938528"/>
          </a:xfrm>
          <a:prstGeom prst="rect">
            <a:avLst/>
          </a:prstGeom>
          <a:solidFill>
            <a:srgbClr val="F7F7F7"/>
          </a:solidFill>
          <a:ln/>
        </p:spPr>
      </p:sp>
      <p:sp>
        <p:nvSpPr>
          <p:cNvPr id="56" name="Shape 54"/>
          <p:cNvSpPr/>
          <p:nvPr/>
        </p:nvSpPr>
        <p:spPr>
          <a:xfrm>
            <a:off x="713232" y="3749040"/>
            <a:ext cx="3453384" cy="54864"/>
          </a:xfrm>
          <a:prstGeom prst="rect">
            <a:avLst/>
          </a:prstGeom>
          <a:solidFill>
            <a:srgbClr val="12A566"/>
          </a:solidFill>
          <a:ln/>
        </p:spPr>
      </p:sp>
      <p:sp>
        <p:nvSpPr>
          <p:cNvPr id="57" name="Text 55"/>
          <p:cNvSpPr txBox="1"/>
          <p:nvPr/>
        </p:nvSpPr>
        <p:spPr>
          <a:xfrm>
            <a:off x="859536"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ELR</a:t>
            </a:r>
            <a:endParaRPr lang="en-US" sz="1400" dirty="0"/>
          </a:p>
        </p:txBody>
      </p:sp>
      <p:sp>
        <p:nvSpPr>
          <p:cNvPr id="58" name="Text 56"/>
          <p:cNvSpPr txBox="1"/>
          <p:nvPr/>
        </p:nvSpPr>
        <p:spPr>
          <a:xfrm>
            <a:off x="2795016"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+2.5%</a:t>
            </a:r>
            <a:endParaRPr lang="en-US" sz="1300" dirty="0"/>
          </a:p>
        </p:txBody>
      </p:sp>
      <p:sp>
        <p:nvSpPr>
          <p:cNvPr id="59" name="Text 57"/>
          <p:cNvSpPr txBox="1"/>
          <p:nvPr/>
        </p:nvSpPr>
        <p:spPr>
          <a:xfrm>
            <a:off x="859536"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60" name="Text 58"/>
          <p:cNvSpPr txBox="1"/>
          <p:nvPr/>
        </p:nvSpPr>
        <p:spPr>
          <a:xfrm>
            <a:off x="1115568"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61" name="Text 59"/>
          <p:cNvSpPr txBox="1"/>
          <p:nvPr/>
        </p:nvSpPr>
        <p:spPr>
          <a:xfrm>
            <a:off x="1115568"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$134.86 → $167.22</a:t>
            </a:r>
            <a:endParaRPr lang="en-US" sz="1300" dirty="0"/>
          </a:p>
        </p:txBody>
      </p:sp>
      <p:sp>
        <p:nvSpPr>
          <p:cNvPr id="62" name="Text 60"/>
          <p:cNvSpPr txBox="1"/>
          <p:nvPr/>
        </p:nvSpPr>
        <p:spPr>
          <a:xfrm>
            <a:off x="2886456"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+23.9%</a:t>
            </a:r>
            <a:endParaRPr lang="en-US" sz="1800" dirty="0"/>
          </a:p>
        </p:txBody>
      </p:sp>
      <p:sp>
        <p:nvSpPr>
          <p:cNvPr id="63" name="Text 61"/>
          <p:cNvSpPr txBox="1"/>
          <p:nvPr/>
        </p:nvSpPr>
        <p:spPr>
          <a:xfrm>
            <a:off x="859536"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64" name="Text 62"/>
          <p:cNvSpPr txBox="1"/>
          <p:nvPr/>
        </p:nvSpPr>
        <p:spPr>
          <a:xfrm>
            <a:off x="1115568"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65" name="Text 63"/>
          <p:cNvSpPr txBox="1"/>
          <p:nvPr/>
        </p:nvSpPr>
        <p:spPr>
          <a:xfrm>
            <a:off x="1115568"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$119.95 → $147.93</a:t>
            </a:r>
            <a:endParaRPr lang="en-US" sz="1300" dirty="0"/>
          </a:p>
        </p:txBody>
      </p:sp>
      <p:sp>
        <p:nvSpPr>
          <p:cNvPr id="66" name="Text 64"/>
          <p:cNvSpPr txBox="1"/>
          <p:nvPr/>
        </p:nvSpPr>
        <p:spPr>
          <a:xfrm>
            <a:off x="2886456"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+23.3%</a:t>
            </a:r>
            <a:endParaRPr lang="en-US" sz="1800" dirty="0"/>
          </a:p>
        </p:txBody>
      </p:sp>
      <p:sp>
        <p:nvSpPr>
          <p:cNvPr id="67" name="Text 65"/>
          <p:cNvSpPr txBox="1"/>
          <p:nvPr/>
        </p:nvSpPr>
        <p:spPr>
          <a:xfrm>
            <a:off x="859536"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68" name="Text 66"/>
          <p:cNvSpPr txBox="1"/>
          <p:nvPr/>
        </p:nvSpPr>
        <p:spPr>
          <a:xfrm>
            <a:off x="1115568"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69" name="Text 67"/>
          <p:cNvSpPr txBox="1"/>
          <p:nvPr/>
        </p:nvSpPr>
        <p:spPr>
          <a:xfrm>
            <a:off x="1115568"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$183.95 → $225.50</a:t>
            </a:r>
            <a:endParaRPr lang="en-US" sz="1300" dirty="0"/>
          </a:p>
        </p:txBody>
      </p:sp>
      <p:sp>
        <p:nvSpPr>
          <p:cNvPr id="70" name="Text 68"/>
          <p:cNvSpPr txBox="1"/>
          <p:nvPr/>
        </p:nvSpPr>
        <p:spPr>
          <a:xfrm>
            <a:off x="2886456"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+22.5%</a:t>
            </a:r>
            <a:endParaRPr lang="en-US" sz="1800" dirty="0"/>
          </a:p>
        </p:txBody>
      </p:sp>
      <p:sp>
        <p:nvSpPr>
          <p:cNvPr id="71" name="Shape 69"/>
          <p:cNvSpPr/>
          <p:nvPr/>
        </p:nvSpPr>
        <p:spPr>
          <a:xfrm>
            <a:off x="4367784" y="3749040"/>
            <a:ext cx="3453384" cy="1938528"/>
          </a:xfrm>
          <a:prstGeom prst="rect">
            <a:avLst/>
          </a:prstGeom>
          <a:solidFill>
            <a:srgbClr val="F7F7F7"/>
          </a:solidFill>
          <a:ln/>
        </p:spPr>
      </p:sp>
      <p:sp>
        <p:nvSpPr>
          <p:cNvPr id="72" name="Shape 70"/>
          <p:cNvSpPr/>
          <p:nvPr/>
        </p:nvSpPr>
        <p:spPr>
          <a:xfrm>
            <a:off x="4367784" y="3749040"/>
            <a:ext cx="3453384" cy="54864"/>
          </a:xfrm>
          <a:prstGeom prst="rect">
            <a:avLst/>
          </a:prstGeom>
          <a:solidFill>
            <a:srgbClr val="12A566"/>
          </a:solidFill>
          <a:ln/>
        </p:spPr>
      </p:sp>
      <p:sp>
        <p:nvSpPr>
          <p:cNvPr id="73" name="Text 71"/>
          <p:cNvSpPr txBox="1"/>
          <p:nvPr/>
        </p:nvSpPr>
        <p:spPr>
          <a:xfrm>
            <a:off x="4514088"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PARTS $ PER RO</a:t>
            </a:r>
            <a:endParaRPr lang="en-US" sz="1400" dirty="0"/>
          </a:p>
        </p:txBody>
      </p:sp>
      <p:sp>
        <p:nvSpPr>
          <p:cNvPr id="74" name="Text 72"/>
          <p:cNvSpPr txBox="1"/>
          <p:nvPr/>
        </p:nvSpPr>
        <p:spPr>
          <a:xfrm>
            <a:off x="6449568"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+3.8%</a:t>
            </a:r>
            <a:endParaRPr lang="en-US" sz="1300" dirty="0"/>
          </a:p>
        </p:txBody>
      </p:sp>
      <p:sp>
        <p:nvSpPr>
          <p:cNvPr id="75" name="Text 73"/>
          <p:cNvSpPr txBox="1"/>
          <p:nvPr/>
        </p:nvSpPr>
        <p:spPr>
          <a:xfrm>
            <a:off x="4514088"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76" name="Text 74"/>
          <p:cNvSpPr txBox="1"/>
          <p:nvPr/>
        </p:nvSpPr>
        <p:spPr>
          <a:xfrm>
            <a:off x="4770120"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77" name="Text 75"/>
          <p:cNvSpPr txBox="1"/>
          <p:nvPr/>
        </p:nvSpPr>
        <p:spPr>
          <a:xfrm>
            <a:off x="4770120"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$266 → $373</a:t>
            </a:r>
            <a:endParaRPr lang="en-US" sz="1300" dirty="0"/>
          </a:p>
        </p:txBody>
      </p:sp>
      <p:sp>
        <p:nvSpPr>
          <p:cNvPr id="78" name="Text 76"/>
          <p:cNvSpPr txBox="1"/>
          <p:nvPr/>
        </p:nvSpPr>
        <p:spPr>
          <a:xfrm>
            <a:off x="6541008"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+40.0%</a:t>
            </a:r>
            <a:endParaRPr lang="en-US" sz="1800" dirty="0"/>
          </a:p>
        </p:txBody>
      </p:sp>
      <p:sp>
        <p:nvSpPr>
          <p:cNvPr id="79" name="Text 77"/>
          <p:cNvSpPr txBox="1"/>
          <p:nvPr/>
        </p:nvSpPr>
        <p:spPr>
          <a:xfrm>
            <a:off x="4514088"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80" name="Text 78"/>
          <p:cNvSpPr txBox="1"/>
          <p:nvPr/>
        </p:nvSpPr>
        <p:spPr>
          <a:xfrm>
            <a:off x="4770120"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81" name="Text 79"/>
          <p:cNvSpPr txBox="1"/>
          <p:nvPr/>
        </p:nvSpPr>
        <p:spPr>
          <a:xfrm>
            <a:off x="4770120"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$182 → $234</a:t>
            </a:r>
            <a:endParaRPr lang="en-US" sz="1300" dirty="0"/>
          </a:p>
        </p:txBody>
      </p:sp>
      <p:sp>
        <p:nvSpPr>
          <p:cNvPr id="82" name="Text 80"/>
          <p:cNvSpPr txBox="1"/>
          <p:nvPr/>
        </p:nvSpPr>
        <p:spPr>
          <a:xfrm>
            <a:off x="6541008"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+28.7%</a:t>
            </a:r>
            <a:endParaRPr lang="en-US" sz="1800" dirty="0"/>
          </a:p>
        </p:txBody>
      </p:sp>
      <p:sp>
        <p:nvSpPr>
          <p:cNvPr id="83" name="Text 81"/>
          <p:cNvSpPr txBox="1"/>
          <p:nvPr/>
        </p:nvSpPr>
        <p:spPr>
          <a:xfrm>
            <a:off x="4514088"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84" name="Text 82"/>
          <p:cNvSpPr txBox="1"/>
          <p:nvPr/>
        </p:nvSpPr>
        <p:spPr>
          <a:xfrm>
            <a:off x="4770120"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p:txBody>
      </p:sp>
      <p:sp>
        <p:nvSpPr>
          <p:cNvPr id="85" name="Text 83"/>
          <p:cNvSpPr txBox="1"/>
          <p:nvPr/>
        </p:nvSpPr>
        <p:spPr>
          <a:xfrm>
            <a:off x="4770120"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$793 → $988</a:t>
            </a:r>
            <a:endParaRPr lang="en-US" sz="1300" dirty="0"/>
          </a:p>
        </p:txBody>
      </p:sp>
      <p:sp>
        <p:nvSpPr>
          <p:cNvPr id="86" name="Text 84"/>
          <p:cNvSpPr txBox="1"/>
          <p:nvPr/>
        </p:nvSpPr>
        <p:spPr>
          <a:xfrm>
            <a:off x="6541008"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+24.6%</a:t>
            </a:r>
            <a:endParaRPr lang="en-US" sz="1800" dirty="0"/>
          </a:p>
        </p:txBody>
      </p:sp>
      <p:sp>
        <p:nvSpPr>
          <p:cNvPr id="87" name="Shape 85"/>
          <p:cNvSpPr/>
          <p:nvPr/>
        </p:nvSpPr>
        <p:spPr>
          <a:xfrm>
            <a:off x="8022336" y="3749040"/>
            <a:ext cx="3453384" cy="1938528"/>
          </a:xfrm>
          <a:prstGeom prst="rect">
            <a:avLst/>
          </a:prstGeom>
          <a:solidFill>
            <a:srgbClr val="F7F7F7"/>
          </a:solidFill>
          <a:ln/>
        </p:spPr>
      </p:sp>
      <p:sp>
        <p:nvSpPr>
          <p:cNvPr id="88" name="Shape 86"/>
          <p:cNvSpPr/>
          <p:nvPr/>
        </p:nvSpPr>
        <p:spPr>
          <a:xfrm>
            <a:off x="8022336" y="3749040"/>
            <a:ext cx="3453384" cy="54864"/>
          </a:xfrm>
          <a:prstGeom prst="rect">
            <a:avLst/>
          </a:prstGeom>
          <a:solidFill>
            <a:srgbClr val="12A566"/>
          </a:solidFill>
          <a:ln/>
        </p:spPr>
      </p:sp>
      <p:sp>
        <p:nvSpPr>
          <p:cNvPr id="89" name="Text 87"/>
          <p:cNvSpPr txBox="1"/>
          <p:nvPr/>
        </p:nvSpPr>
        <p:spPr>
          <a:xfrm>
            <a:off x="8168640"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PARTS GP %</a:t>
            </a:r>
            <a:endParaRPr lang="en-US" sz="1400" dirty="0"/>
          </a:p>
        </p:txBody>
      </p:sp>
      <p:sp>
        <p:nvSpPr>
          <p:cNvPr id="90" name="Text 88"/>
          <p:cNvSpPr txBox="1"/>
          <p:nvPr/>
        </p:nvSpPr>
        <p:spPr>
          <a:xfrm>
            <a:off x="10104120"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+1.2 pts</a:t>
            </a:r>
            <a:endParaRPr lang="en-US" sz="1300" dirty="0"/>
          </a:p>
        </p:txBody>
      </p:sp>
      <p:sp>
        <p:nvSpPr>
          <p:cNvPr id="91" name="Text 89"/>
          <p:cNvSpPr txBox="1"/>
          <p:nvPr/>
        </p:nvSpPr>
        <p:spPr>
          <a:xfrm>
            <a:off x="8168640"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92" name="Text 90"/>
          <p:cNvSpPr txBox="1"/>
          <p:nvPr/>
        </p:nvSpPr>
        <p:spPr>
          <a:xfrm>
            <a:off x="8424672"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93" name="Text 91"/>
          <p:cNvSpPr txBox="1"/>
          <p:nvPr/>
        </p:nvSpPr>
        <p:spPr>
          <a:xfrm>
            <a:off x="8424672"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38.8% → 46.6%</a:t>
            </a:r>
            <a:endParaRPr lang="en-US" sz="1300" dirty="0"/>
          </a:p>
        </p:txBody>
      </p:sp>
      <p:sp>
        <p:nvSpPr>
          <p:cNvPr id="94" name="Text 92"/>
          <p:cNvSpPr txBox="1"/>
          <p:nvPr/>
        </p:nvSpPr>
        <p:spPr>
          <a:xfrm>
            <a:off x="10195560"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+7.7 pts</a:t>
            </a:r>
            <a:endParaRPr lang="en-US" sz="1800" dirty="0"/>
          </a:p>
        </p:txBody>
      </p:sp>
      <p:sp>
        <p:nvSpPr>
          <p:cNvPr id="95" name="Text 93"/>
          <p:cNvSpPr txBox="1"/>
          <p:nvPr/>
        </p:nvSpPr>
        <p:spPr>
          <a:xfrm>
            <a:off x="8168640"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96" name="Text 94"/>
          <p:cNvSpPr txBox="1"/>
          <p:nvPr/>
        </p:nvSpPr>
        <p:spPr>
          <a:xfrm>
            <a:off x="8424672"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97" name="Text 95"/>
          <p:cNvSpPr txBox="1"/>
          <p:nvPr/>
        </p:nvSpPr>
        <p:spPr>
          <a:xfrm>
            <a:off x="8424672"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38.2% → 42.4%</a:t>
            </a:r>
            <a:endParaRPr lang="en-US" sz="1300" dirty="0"/>
          </a:p>
        </p:txBody>
      </p:sp>
      <p:sp>
        <p:nvSpPr>
          <p:cNvPr id="98" name="Text 96"/>
          <p:cNvSpPr txBox="1"/>
          <p:nvPr/>
        </p:nvSpPr>
        <p:spPr>
          <a:xfrm>
            <a:off x="10195560"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+4.1 pts</a:t>
            </a:r>
            <a:endParaRPr lang="en-US" sz="1800" dirty="0"/>
          </a:p>
        </p:txBody>
      </p:sp>
      <p:sp>
        <p:nvSpPr>
          <p:cNvPr id="99" name="Text 97"/>
          <p:cNvSpPr txBox="1"/>
          <p:nvPr/>
        </p:nvSpPr>
        <p:spPr>
          <a:xfrm>
            <a:off x="8168640"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100" name="Text 98"/>
          <p:cNvSpPr txBox="1"/>
          <p:nvPr/>
        </p:nvSpPr>
        <p:spPr>
          <a:xfrm>
            <a:off x="8424672"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101" name="Text 99"/>
          <p:cNvSpPr txBox="1"/>
          <p:nvPr/>
        </p:nvSpPr>
        <p:spPr>
          <a:xfrm>
            <a:off x="8424672"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39.7% → 43.8%</a:t>
            </a:r>
            <a:endParaRPr lang="en-US" sz="1300" dirty="0"/>
          </a:p>
        </p:txBody>
      </p:sp>
      <p:sp>
        <p:nvSpPr>
          <p:cNvPr id="102" name="Text 100"/>
          <p:cNvSpPr txBox="1"/>
          <p:nvPr/>
        </p:nvSpPr>
        <p:spPr>
          <a:xfrm>
            <a:off x="10195560"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+4.0 pts</a:t>
            </a:r>
            <a:endParaRPr lang="en-US" sz="1800" dirty="0"/>
          </a:p>
        </p:txBody>
      </p:sp>
      <p:sp>
        <p:nvSpPr>
          <p:cNvPr id="103" name="Shape 101"/>
          <p:cNvSpPr/>
          <p:nvPr/>
        </p:nvSpPr>
        <p:spPr>
          <a:xfrm>
            <a:off x="457200" y="6126480"/>
            <a:ext cx="11274552" cy="371856"/>
          </a:xfrm>
          <a:prstGeom prst="rect">
            <a:avLst/>
          </a:prstGeom>
          <a:solidFill>
            <a:srgbClr val="E6F6EE"/>
          </a:solidFill>
          <a:ln/>
        </p:spPr>
      </p:sp>
      <p:sp>
        <p:nvSpPr>
          <p:cNvPr id="104" name="Text 10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Lincoln and Kia St George each make three of six lists.</a:t>
            </a:r>
            <a:endParaRPr lang="en-US" sz="1600" dirty="0"/>
          </a:p>
        </p:txBody>
      </p:sp>
    </p:spTree>
  </p:cSld>
  <p:clrMapOvr>
    <a:masterClrMapping/>
  </p:clrMapOvr>
</p:sld>
</file>

<file path=ppt/slides/slide19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Who Shows Up Most</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2926080" y="1335024"/>
            <a:ext cx="2560320" cy="310896"/>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Top-3 finishes of 12</a:t>
            </a:r>
            <a:endParaRPr lang="en-US" sz="1400" dirty="0"/>
          </a:p>
        </p:txBody>
      </p:sp>
      <p:sp>
        <p:nvSpPr>
          <p:cNvPr id="7" name="Text 5"/>
          <p:cNvSpPr txBox="1"/>
          <p:nvPr/>
        </p:nvSpPr>
        <p:spPr>
          <a:xfrm>
            <a:off x="6172200" y="1335024"/>
            <a:ext cx="2560320" cy="310896"/>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Jan–Sep</a:t>
            </a:r>
            <a:endParaRPr lang="en-US" sz="1400" dirty="0"/>
          </a:p>
        </p:txBody>
      </p:sp>
      <p:sp>
        <p:nvSpPr>
          <p:cNvPr id="8" name="Text 6"/>
          <p:cNvSpPr txBox="1"/>
          <p:nvPr/>
        </p:nvSpPr>
        <p:spPr>
          <a:xfrm>
            <a:off x="8823960" y="1335024"/>
            <a:ext cx="2560320" cy="310896"/>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Last 90 days</a:t>
            </a:r>
            <a:endParaRPr lang="en-US" sz="1400" dirty="0"/>
          </a:p>
        </p:txBody>
      </p:sp>
      <p:sp>
        <p:nvSpPr>
          <p:cNvPr id="9" name="Shape 7"/>
          <p:cNvSpPr/>
          <p:nvPr/>
        </p:nvSpPr>
        <p:spPr>
          <a:xfrm>
            <a:off x="621792" y="1792224"/>
            <a:ext cx="10945368" cy="484632"/>
          </a:xfrm>
          <a:prstGeom prst="rect">
            <a:avLst/>
          </a:prstGeom>
          <a:solidFill>
            <a:srgbClr val="F7F7F7"/>
          </a:solidFill>
          <a:ln/>
        </p:spPr>
      </p:sp>
      <p:sp>
        <p:nvSpPr>
          <p:cNvPr id="10" name="Text 8"/>
          <p:cNvSpPr txBox="1"/>
          <p:nvPr/>
        </p:nvSpPr>
        <p:spPr>
          <a:xfrm>
            <a:off x="713232" y="1792224"/>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1" name="Shape 9"/>
          <p:cNvSpPr/>
          <p:nvPr/>
        </p:nvSpPr>
        <p:spPr>
          <a:xfrm>
            <a:off x="2926080" y="1913382"/>
            <a:ext cx="2651760" cy="242316"/>
          </a:xfrm>
          <a:prstGeom prst="rect">
            <a:avLst/>
          </a:prstGeom>
          <a:solidFill>
            <a:srgbClr val="12A566"/>
          </a:solidFill>
          <a:ln/>
        </p:spPr>
      </p:sp>
      <p:sp>
        <p:nvSpPr>
          <p:cNvPr id="12" name="Text 10"/>
          <p:cNvSpPr txBox="1"/>
          <p:nvPr/>
        </p:nvSpPr>
        <p:spPr>
          <a:xfrm>
            <a:off x="5486400" y="1792224"/>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a:t>
            </a:r>
            <a:endParaRPr lang="en-US" sz="1600" dirty="0"/>
          </a:p>
        </p:txBody>
      </p:sp>
      <p:sp>
        <p:nvSpPr>
          <p:cNvPr id="13" name="Text 11"/>
          <p:cNvSpPr txBox="1"/>
          <p:nvPr/>
        </p:nvSpPr>
        <p:spPr>
          <a:xfrm>
            <a:off x="6172200" y="1792224"/>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 ELR, parts $/RO</a:t>
            </a:r>
            <a:endParaRPr lang="en-US" sz="1300" dirty="0"/>
          </a:p>
        </p:txBody>
      </p:sp>
      <p:sp>
        <p:nvSpPr>
          <p:cNvPr id="14" name="Text 12"/>
          <p:cNvSpPr txBox="1"/>
          <p:nvPr/>
        </p:nvSpPr>
        <p:spPr>
          <a:xfrm>
            <a:off x="8823960" y="1792224"/>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 ELR, parts $/RO</a:t>
            </a:r>
            <a:endParaRPr lang="en-US" sz="1300" dirty="0"/>
          </a:p>
        </p:txBody>
      </p:sp>
      <p:sp>
        <p:nvSpPr>
          <p:cNvPr id="15" name="Text 13"/>
          <p:cNvSpPr txBox="1"/>
          <p:nvPr/>
        </p:nvSpPr>
        <p:spPr>
          <a:xfrm>
            <a:off x="713232" y="2276856"/>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16" name="Shape 14"/>
          <p:cNvSpPr/>
          <p:nvPr/>
        </p:nvSpPr>
        <p:spPr>
          <a:xfrm>
            <a:off x="2926080" y="2398014"/>
            <a:ext cx="1767840" cy="242316"/>
          </a:xfrm>
          <a:prstGeom prst="rect">
            <a:avLst/>
          </a:prstGeom>
          <a:solidFill>
            <a:srgbClr val="12A566"/>
          </a:solidFill>
          <a:ln/>
        </p:spPr>
      </p:sp>
      <p:sp>
        <p:nvSpPr>
          <p:cNvPr id="17" name="Text 15"/>
          <p:cNvSpPr txBox="1"/>
          <p:nvPr/>
        </p:nvSpPr>
        <p:spPr>
          <a:xfrm>
            <a:off x="5486400" y="2276856"/>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a:t>
            </a:r>
            <a:endParaRPr lang="en-US" sz="1600" dirty="0"/>
          </a:p>
        </p:txBody>
      </p:sp>
      <p:sp>
        <p:nvSpPr>
          <p:cNvPr id="18" name="Text 16"/>
          <p:cNvSpPr txBox="1"/>
          <p:nvPr/>
        </p:nvSpPr>
        <p:spPr>
          <a:xfrm>
            <a:off x="6172200" y="2276856"/>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hours/RO</a:t>
            </a:r>
            <a:endParaRPr lang="en-US" sz="1300" dirty="0"/>
          </a:p>
        </p:txBody>
      </p:sp>
      <p:sp>
        <p:nvSpPr>
          <p:cNvPr id="19" name="Text 17"/>
          <p:cNvSpPr txBox="1"/>
          <p:nvPr/>
        </p:nvSpPr>
        <p:spPr>
          <a:xfrm>
            <a:off x="8823960" y="2276856"/>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 hours/RO, parts GP%</a:t>
            </a:r>
            <a:endParaRPr lang="en-US" sz="1300" dirty="0"/>
          </a:p>
        </p:txBody>
      </p:sp>
      <p:sp>
        <p:nvSpPr>
          <p:cNvPr id="20" name="Shape 18"/>
          <p:cNvSpPr/>
          <p:nvPr/>
        </p:nvSpPr>
        <p:spPr>
          <a:xfrm>
            <a:off x="621792" y="2761488"/>
            <a:ext cx="10945368" cy="484632"/>
          </a:xfrm>
          <a:prstGeom prst="rect">
            <a:avLst/>
          </a:prstGeom>
          <a:solidFill>
            <a:srgbClr val="F7F7F7"/>
          </a:solidFill>
          <a:ln/>
        </p:spPr>
      </p:sp>
      <p:sp>
        <p:nvSpPr>
          <p:cNvPr id="21" name="Text 19"/>
          <p:cNvSpPr txBox="1"/>
          <p:nvPr/>
        </p:nvSpPr>
        <p:spPr>
          <a:xfrm>
            <a:off x="713232" y="2761488"/>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22" name="Shape 20"/>
          <p:cNvSpPr/>
          <p:nvPr/>
        </p:nvSpPr>
        <p:spPr>
          <a:xfrm>
            <a:off x="2926080" y="2882646"/>
            <a:ext cx="1325880" cy="242316"/>
          </a:xfrm>
          <a:prstGeom prst="rect">
            <a:avLst/>
          </a:prstGeom>
          <a:solidFill>
            <a:srgbClr val="12A566"/>
          </a:solidFill>
          <a:ln/>
        </p:spPr>
      </p:sp>
      <p:sp>
        <p:nvSpPr>
          <p:cNvPr id="23" name="Text 21"/>
          <p:cNvSpPr txBox="1"/>
          <p:nvPr/>
        </p:nvSpPr>
        <p:spPr>
          <a:xfrm>
            <a:off x="5486400" y="2761488"/>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a:t>
            </a:r>
            <a:endParaRPr lang="en-US" sz="1600" dirty="0"/>
          </a:p>
        </p:txBody>
      </p:sp>
      <p:sp>
        <p:nvSpPr>
          <p:cNvPr id="24" name="Text 22"/>
          <p:cNvSpPr txBox="1"/>
          <p:nvPr/>
        </p:nvSpPr>
        <p:spPr>
          <a:xfrm>
            <a:off x="6172200" y="2761488"/>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 parts GP%</a:t>
            </a:r>
            <a:endParaRPr lang="en-US" sz="1300" dirty="0"/>
          </a:p>
        </p:txBody>
      </p:sp>
      <p:sp>
        <p:nvSpPr>
          <p:cNvPr id="25" name="Text 23"/>
          <p:cNvSpPr txBox="1"/>
          <p:nvPr/>
        </p:nvSpPr>
        <p:spPr>
          <a:xfrm>
            <a:off x="8823960" y="2761488"/>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a:t>
            </a:r>
            <a:endParaRPr lang="en-US" sz="1300" dirty="0"/>
          </a:p>
        </p:txBody>
      </p:sp>
      <p:sp>
        <p:nvSpPr>
          <p:cNvPr id="26" name="Text 24"/>
          <p:cNvSpPr txBox="1"/>
          <p:nvPr/>
        </p:nvSpPr>
        <p:spPr>
          <a:xfrm>
            <a:off x="713232" y="3246120"/>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27" name="Shape 25"/>
          <p:cNvSpPr/>
          <p:nvPr/>
        </p:nvSpPr>
        <p:spPr>
          <a:xfrm>
            <a:off x="2926080" y="3367278"/>
            <a:ext cx="1325880" cy="242316"/>
          </a:xfrm>
          <a:prstGeom prst="rect">
            <a:avLst/>
          </a:prstGeom>
          <a:solidFill>
            <a:srgbClr val="12A566"/>
          </a:solidFill>
          <a:ln/>
        </p:spPr>
      </p:sp>
      <p:sp>
        <p:nvSpPr>
          <p:cNvPr id="28" name="Text 26"/>
          <p:cNvSpPr txBox="1"/>
          <p:nvPr/>
        </p:nvSpPr>
        <p:spPr>
          <a:xfrm>
            <a:off x="5486400" y="3246120"/>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a:t>
            </a:r>
            <a:endParaRPr lang="en-US" sz="1600" dirty="0"/>
          </a:p>
        </p:txBody>
      </p:sp>
      <p:sp>
        <p:nvSpPr>
          <p:cNvPr id="29" name="Text 27"/>
          <p:cNvSpPr txBox="1"/>
          <p:nvPr/>
        </p:nvSpPr>
        <p:spPr>
          <a:xfrm>
            <a:off x="6172200" y="3246120"/>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hours/RO, parts $/RO</a:t>
            </a:r>
            <a:endParaRPr lang="en-US" sz="1300" dirty="0"/>
          </a:p>
        </p:txBody>
      </p:sp>
      <p:sp>
        <p:nvSpPr>
          <p:cNvPr id="30" name="Text 28"/>
          <p:cNvSpPr txBox="1"/>
          <p:nvPr/>
        </p:nvSpPr>
        <p:spPr>
          <a:xfrm>
            <a:off x="8823960" y="3246120"/>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hours/RO</a:t>
            </a:r>
            <a:endParaRPr lang="en-US" sz="1300" dirty="0"/>
          </a:p>
        </p:txBody>
      </p:sp>
      <p:sp>
        <p:nvSpPr>
          <p:cNvPr id="31" name="Shape 29"/>
          <p:cNvSpPr/>
          <p:nvPr/>
        </p:nvSpPr>
        <p:spPr>
          <a:xfrm>
            <a:off x="621792" y="3730752"/>
            <a:ext cx="10945368" cy="484632"/>
          </a:xfrm>
          <a:prstGeom prst="rect">
            <a:avLst/>
          </a:prstGeom>
          <a:solidFill>
            <a:srgbClr val="F7F7F7"/>
          </a:solidFill>
          <a:ln/>
        </p:spPr>
      </p:sp>
      <p:sp>
        <p:nvSpPr>
          <p:cNvPr id="32" name="Text 30"/>
          <p:cNvSpPr txBox="1"/>
          <p:nvPr/>
        </p:nvSpPr>
        <p:spPr>
          <a:xfrm>
            <a:off x="713232" y="3730752"/>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33" name="Shape 31"/>
          <p:cNvSpPr/>
          <p:nvPr/>
        </p:nvSpPr>
        <p:spPr>
          <a:xfrm>
            <a:off x="2926080" y="3851910"/>
            <a:ext cx="883920" cy="242316"/>
          </a:xfrm>
          <a:prstGeom prst="rect">
            <a:avLst/>
          </a:prstGeom>
          <a:solidFill>
            <a:srgbClr val="12A566"/>
          </a:solidFill>
          <a:ln/>
        </p:spPr>
      </p:sp>
      <p:sp>
        <p:nvSpPr>
          <p:cNvPr id="34" name="Text 32"/>
          <p:cNvSpPr txBox="1"/>
          <p:nvPr/>
        </p:nvSpPr>
        <p:spPr>
          <a:xfrm>
            <a:off x="5486400" y="3730752"/>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35" name="Text 33"/>
          <p:cNvSpPr txBox="1"/>
          <p:nvPr/>
        </p:nvSpPr>
        <p:spPr>
          <a:xfrm>
            <a:off x="6172200" y="3730752"/>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RO count</a:t>
            </a:r>
            <a:endParaRPr lang="en-US" sz="1300" dirty="0"/>
          </a:p>
        </p:txBody>
      </p:sp>
      <p:sp>
        <p:nvSpPr>
          <p:cNvPr id="36" name="Text 34"/>
          <p:cNvSpPr txBox="1"/>
          <p:nvPr/>
        </p:nvSpPr>
        <p:spPr>
          <a:xfrm>
            <a:off x="8823960" y="3730752"/>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RO count</a:t>
            </a:r>
            <a:endParaRPr lang="en-US" sz="1300" dirty="0"/>
          </a:p>
        </p:txBody>
      </p:sp>
      <p:sp>
        <p:nvSpPr>
          <p:cNvPr id="37" name="Text 35"/>
          <p:cNvSpPr txBox="1"/>
          <p:nvPr/>
        </p:nvSpPr>
        <p:spPr>
          <a:xfrm>
            <a:off x="713232" y="4215384"/>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38" name="Shape 36"/>
          <p:cNvSpPr/>
          <p:nvPr/>
        </p:nvSpPr>
        <p:spPr>
          <a:xfrm>
            <a:off x="2926080" y="4336542"/>
            <a:ext cx="883920" cy="242316"/>
          </a:xfrm>
          <a:prstGeom prst="rect">
            <a:avLst/>
          </a:prstGeom>
          <a:solidFill>
            <a:srgbClr val="12A566"/>
          </a:solidFill>
          <a:ln/>
        </p:spPr>
      </p:sp>
      <p:sp>
        <p:nvSpPr>
          <p:cNvPr id="39" name="Text 37"/>
          <p:cNvSpPr txBox="1"/>
          <p:nvPr/>
        </p:nvSpPr>
        <p:spPr>
          <a:xfrm>
            <a:off x="5486400" y="4215384"/>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40" name="Text 38"/>
          <p:cNvSpPr txBox="1"/>
          <p:nvPr/>
        </p:nvSpPr>
        <p:spPr>
          <a:xfrm>
            <a:off x="6172200" y="4215384"/>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ELR</a:t>
            </a:r>
            <a:endParaRPr lang="en-US" sz="1300" dirty="0"/>
          </a:p>
        </p:txBody>
      </p:sp>
      <p:sp>
        <p:nvSpPr>
          <p:cNvPr id="41" name="Text 39"/>
          <p:cNvSpPr txBox="1"/>
          <p:nvPr/>
        </p:nvSpPr>
        <p:spPr>
          <a:xfrm>
            <a:off x="8823960" y="4215384"/>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ELR</a:t>
            </a:r>
            <a:endParaRPr lang="en-US" sz="1300" dirty="0"/>
          </a:p>
        </p:txBody>
      </p:sp>
      <p:sp>
        <p:nvSpPr>
          <p:cNvPr id="42" name="Shape 40"/>
          <p:cNvSpPr/>
          <p:nvPr/>
        </p:nvSpPr>
        <p:spPr>
          <a:xfrm>
            <a:off x="621792" y="4700016"/>
            <a:ext cx="10945368" cy="484632"/>
          </a:xfrm>
          <a:prstGeom prst="rect">
            <a:avLst/>
          </a:prstGeom>
          <a:solidFill>
            <a:srgbClr val="F7F7F7"/>
          </a:solidFill>
          <a:ln/>
        </p:spPr>
      </p:sp>
      <p:sp>
        <p:nvSpPr>
          <p:cNvPr id="43" name="Text 41"/>
          <p:cNvSpPr txBox="1"/>
          <p:nvPr/>
        </p:nvSpPr>
        <p:spPr>
          <a:xfrm>
            <a:off x="713232" y="4700016"/>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44" name="Shape 42"/>
          <p:cNvSpPr/>
          <p:nvPr/>
        </p:nvSpPr>
        <p:spPr>
          <a:xfrm>
            <a:off x="2926080" y="4821174"/>
            <a:ext cx="883920" cy="242316"/>
          </a:xfrm>
          <a:prstGeom prst="rect">
            <a:avLst/>
          </a:prstGeom>
          <a:solidFill>
            <a:srgbClr val="12A566"/>
          </a:solidFill>
          <a:ln/>
        </p:spPr>
      </p:sp>
      <p:sp>
        <p:nvSpPr>
          <p:cNvPr id="45" name="Text 43"/>
          <p:cNvSpPr txBox="1"/>
          <p:nvPr/>
        </p:nvSpPr>
        <p:spPr>
          <a:xfrm>
            <a:off x="5486400" y="4700016"/>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46" name="Text 44"/>
          <p:cNvSpPr txBox="1"/>
          <p:nvPr/>
        </p:nvSpPr>
        <p:spPr>
          <a:xfrm>
            <a:off x="6172200" y="4700016"/>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ELR</a:t>
            </a:r>
            <a:endParaRPr lang="en-US" sz="1300" dirty="0"/>
          </a:p>
        </p:txBody>
      </p:sp>
      <p:sp>
        <p:nvSpPr>
          <p:cNvPr id="47" name="Text 45"/>
          <p:cNvSpPr txBox="1"/>
          <p:nvPr/>
        </p:nvSpPr>
        <p:spPr>
          <a:xfrm>
            <a:off x="8823960" y="4700016"/>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ELR</a:t>
            </a:r>
            <a:endParaRPr lang="en-US" sz="1300" dirty="0"/>
          </a:p>
        </p:txBody>
      </p:sp>
      <p:sp>
        <p:nvSpPr>
          <p:cNvPr id="48" name="Text 46"/>
          <p:cNvSpPr txBox="1"/>
          <p:nvPr/>
        </p:nvSpPr>
        <p:spPr>
          <a:xfrm>
            <a:off x="713232" y="5184648"/>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49" name="Shape 47"/>
          <p:cNvSpPr/>
          <p:nvPr/>
        </p:nvSpPr>
        <p:spPr>
          <a:xfrm>
            <a:off x="2926080" y="5305806"/>
            <a:ext cx="883920" cy="242316"/>
          </a:xfrm>
          <a:prstGeom prst="rect">
            <a:avLst/>
          </a:prstGeom>
          <a:solidFill>
            <a:srgbClr val="12A566"/>
          </a:solidFill>
          <a:ln/>
        </p:spPr>
      </p:sp>
      <p:sp>
        <p:nvSpPr>
          <p:cNvPr id="50" name="Text 48"/>
          <p:cNvSpPr txBox="1"/>
          <p:nvPr/>
        </p:nvSpPr>
        <p:spPr>
          <a:xfrm>
            <a:off x="5486400" y="5184648"/>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51" name="Text 49"/>
          <p:cNvSpPr txBox="1"/>
          <p:nvPr/>
        </p:nvSpPr>
        <p:spPr>
          <a:xfrm>
            <a:off x="6172200" y="5184648"/>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parts GP%</a:t>
            </a:r>
            <a:endParaRPr lang="en-US" sz="1300" dirty="0"/>
          </a:p>
        </p:txBody>
      </p:sp>
      <p:sp>
        <p:nvSpPr>
          <p:cNvPr id="52" name="Text 50"/>
          <p:cNvSpPr txBox="1"/>
          <p:nvPr/>
        </p:nvSpPr>
        <p:spPr>
          <a:xfrm>
            <a:off x="8823960" y="5184648"/>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parts GP%</a:t>
            </a:r>
            <a:endParaRPr lang="en-US" sz="1300" dirty="0"/>
          </a:p>
        </p:txBody>
      </p:sp>
      <p:sp>
        <p:nvSpPr>
          <p:cNvPr id="53" name="Shape 51"/>
          <p:cNvSpPr/>
          <p:nvPr/>
        </p:nvSpPr>
        <p:spPr>
          <a:xfrm>
            <a:off x="457200" y="6126480"/>
            <a:ext cx="11274552" cy="371856"/>
          </a:xfrm>
          <a:prstGeom prst="rect">
            <a:avLst/>
          </a:prstGeom>
          <a:solidFill>
            <a:srgbClr val="E6F6EE"/>
          </a:solidFill>
          <a:ln/>
        </p:spPr>
      </p:sp>
      <p:sp>
        <p:nvSpPr>
          <p:cNvPr id="54" name="Text 5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Lincoln has 6 top-3 finishes of 12. 8 stores make a top-3 list in both periods.</a:t>
            </a:r>
            <a:endParaRPr lang="en-US" sz="1600" dirty="0"/>
          </a:p>
        </p:txBody>
      </p:sp>
    </p:spTree>
  </p:cSld>
  <p:clrMapOvr>
    <a:masterClrMapping/>
  </p:clrMapOvr>
</p:sld>
</file>

<file path=ppt/slides/slide19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Gross</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+6.4% · 27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$865K → $1.26M</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+46.0%</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$832K → $1.21M</a:t>
            </a:r>
            <a:endParaRPr lang="en-US" sz="1300" dirty="0"/>
          </a:p>
        </p:txBody>
      </p:sp>
      <p:sp>
        <p:nvSpPr>
          <p:cNvPr id="18" name="Shape 16"/>
          <p:cNvSpPr/>
          <p:nvPr/>
        </p:nvSpPr>
        <p:spPr>
          <a:xfrm>
            <a:off x="3383280" y="3127248"/>
            <a:ext cx="1260956"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+45.3%</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ST GEORGE</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$1.48M → $1.98M</a:t>
            </a:r>
            <a:endParaRPr lang="en-US" sz="1300" dirty="0"/>
          </a:p>
        </p:txBody>
      </p:sp>
      <p:sp>
        <p:nvSpPr>
          <p:cNvPr id="24" name="Shape 22"/>
          <p:cNvSpPr/>
          <p:nvPr/>
        </p:nvSpPr>
        <p:spPr>
          <a:xfrm>
            <a:off x="3383280" y="3785616"/>
            <a:ext cx="939340"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+33.8%</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$657K → $862K</a:t>
            </a:r>
            <a:endParaRPr lang="en-US" sz="1300" dirty="0"/>
          </a:p>
        </p:txBody>
      </p:sp>
      <p:sp>
        <p:nvSpPr>
          <p:cNvPr id="29" name="Shape 27"/>
          <p:cNvSpPr/>
          <p:nvPr/>
        </p:nvSpPr>
        <p:spPr>
          <a:xfrm>
            <a:off x="3383280" y="4443984"/>
            <a:ext cx="862566"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+31.0%</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LEXUS</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$1.63M → $2.10M</a:t>
            </a:r>
            <a:endParaRPr lang="en-US" sz="1300" dirty="0"/>
          </a:p>
        </p:txBody>
      </p:sp>
      <p:sp>
        <p:nvSpPr>
          <p:cNvPr id="35" name="Shape 33"/>
          <p:cNvSpPr/>
          <p:nvPr/>
        </p:nvSpPr>
        <p:spPr>
          <a:xfrm>
            <a:off x="3383280" y="5102352"/>
            <a:ext cx="800277"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+28.8%</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+8.4% · 29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$243K → $418K</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+72.1%</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$237K → $336K</a:t>
            </a:r>
            <a:endParaRPr lang="en-US" sz="1300" dirty="0"/>
          </a:p>
        </p:txBody>
      </p:sp>
      <p:sp>
        <p:nvSpPr>
          <p:cNvPr id="50" name="Shape 48"/>
          <p:cNvSpPr/>
          <p:nvPr/>
        </p:nvSpPr>
        <p:spPr>
          <a:xfrm>
            <a:off x="9098280" y="3127248"/>
            <a:ext cx="738338"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+41.5%</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$291K → $410K</a:t>
            </a:r>
            <a:endParaRPr lang="en-US" sz="1300" dirty="0"/>
          </a:p>
        </p:txBody>
      </p:sp>
      <p:sp>
        <p:nvSpPr>
          <p:cNvPr id="56" name="Shape 54"/>
          <p:cNvSpPr/>
          <p:nvPr/>
        </p:nvSpPr>
        <p:spPr>
          <a:xfrm>
            <a:off x="9098280" y="3785616"/>
            <a:ext cx="729189"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+41.0%</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GMC PRESCOTT</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$268K → $358K</a:t>
            </a:r>
            <a:endParaRPr lang="en-US" sz="1300" dirty="0"/>
          </a:p>
        </p:txBody>
      </p:sp>
      <p:sp>
        <p:nvSpPr>
          <p:cNvPr id="61" name="Shape 59"/>
          <p:cNvSpPr/>
          <p:nvPr/>
        </p:nvSpPr>
        <p:spPr>
          <a:xfrm>
            <a:off x="9098280" y="4443984"/>
            <a:ext cx="592350"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+33.3%</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MAZDA</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$473K → $626K</a:t>
            </a:r>
            <a:endParaRPr lang="en-US" sz="1300" dirty="0"/>
          </a:p>
        </p:txBody>
      </p:sp>
      <p:sp>
        <p:nvSpPr>
          <p:cNvPr id="67" name="Shape 65"/>
          <p:cNvSpPr/>
          <p:nvPr/>
        </p:nvSpPr>
        <p:spPr>
          <a:xfrm>
            <a:off x="9098280" y="5102352"/>
            <a:ext cx="574697"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+32.3%</a:t>
            </a:r>
            <a:endParaRPr lang="en-US" sz="1700" dirty="0"/>
          </a:p>
        </p:txBody>
      </p:sp>
      <p:sp>
        <p:nvSpPr>
          <p:cNvPr id="69" name="Shape 67"/>
          <p:cNvSpPr/>
          <p:nvPr/>
        </p:nvSpPr>
        <p:spPr>
          <a:xfrm>
            <a:off x="457200" y="6126480"/>
            <a:ext cx="11274552" cy="371856"/>
          </a:xfrm>
          <a:prstGeom prst="rect">
            <a:avLst/>
          </a:prstGeom>
          <a:solidFill>
            <a:srgbClr val="E6F6EE"/>
          </a:solidFill>
          <a:ln/>
        </p:spPr>
      </p:sp>
      <p:sp>
        <p:nvSpPr>
          <p:cNvPr id="70"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Lincoln leads both periods. Three stores are top five in both.</a:t>
            </a:r>
            <a:endParaRPr lang="en-US" sz="1600" dirty="0"/>
          </a:p>
        </p:txBody>
      </p:sp>
    </p:spTree>
  </p:cSld>
  <p:clrMapOvr>
    <a:masterClrMapping/>
  </p:clrMapOvr>
</p:sld>
</file>

<file path=ppt/slides/slide20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RO Count</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+0.1% · 20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LV</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7,156 → 8,133</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+13.6%</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PRESCOTT</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1,784 → 2,010</a:t>
            </a:r>
            <a:endParaRPr lang="en-US" sz="1300" dirty="0"/>
          </a:p>
        </p:txBody>
      </p:sp>
      <p:sp>
        <p:nvSpPr>
          <p:cNvPr id="18" name="Shape 16"/>
          <p:cNvSpPr/>
          <p:nvPr/>
        </p:nvSpPr>
        <p:spPr>
          <a:xfrm>
            <a:off x="3383280" y="3127248"/>
            <a:ext cx="1187828"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+12.6%</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GMC PRESCOTT</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2,810 → 3,107</a:t>
            </a:r>
            <a:endParaRPr lang="en-US" sz="1300" dirty="0"/>
          </a:p>
        </p:txBody>
      </p:sp>
      <p:sp>
        <p:nvSpPr>
          <p:cNvPr id="24" name="Shape 22"/>
          <p:cNvSpPr/>
          <p:nvPr/>
        </p:nvSpPr>
        <p:spPr>
          <a:xfrm>
            <a:off x="3383280" y="3785616"/>
            <a:ext cx="991038"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+10.5%</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ST GEORGE</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5,042 → 5,553</a:t>
            </a:r>
            <a:endParaRPr lang="en-US" sz="1300" dirty="0"/>
          </a:p>
        </p:txBody>
      </p:sp>
      <p:sp>
        <p:nvSpPr>
          <p:cNvPr id="29" name="Shape 27"/>
          <p:cNvSpPr/>
          <p:nvPr/>
        </p:nvSpPr>
        <p:spPr>
          <a:xfrm>
            <a:off x="3383280" y="4443984"/>
            <a:ext cx="950294"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+10.1%</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RENO</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1,303 → 1,421</a:t>
            </a:r>
            <a:endParaRPr lang="en-US" sz="1300" dirty="0"/>
          </a:p>
        </p:txBody>
      </p:sp>
      <p:sp>
        <p:nvSpPr>
          <p:cNvPr id="35" name="Shape 33"/>
          <p:cNvSpPr/>
          <p:nvPr/>
        </p:nvSpPr>
        <p:spPr>
          <a:xfrm>
            <a:off x="3383280" y="5102352"/>
            <a:ext cx="849137"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+9.0%</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+2.0% · 20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RENO</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406 → 489</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+20.4%</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GMC PRESCOTT</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930 → 1,109</a:t>
            </a:r>
            <a:endParaRPr lang="en-US" sz="1300" dirty="0"/>
          </a:p>
        </p:txBody>
      </p:sp>
      <p:sp>
        <p:nvSpPr>
          <p:cNvPr id="50" name="Shape 48"/>
          <p:cNvSpPr/>
          <p:nvPr/>
        </p:nvSpPr>
        <p:spPr>
          <a:xfrm>
            <a:off x="9098280" y="3127248"/>
            <a:ext cx="1205264"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+19.2%</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LV</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1,061 → 1,246</a:t>
            </a:r>
            <a:endParaRPr lang="en-US" sz="1300" dirty="0"/>
          </a:p>
        </p:txBody>
      </p:sp>
      <p:sp>
        <p:nvSpPr>
          <p:cNvPr id="56" name="Shape 54"/>
          <p:cNvSpPr/>
          <p:nvPr/>
        </p:nvSpPr>
        <p:spPr>
          <a:xfrm>
            <a:off x="9098280" y="3785616"/>
            <a:ext cx="1091864"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+17.4%</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AUDI HENDERSON</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1,144 → 1,304</a:t>
            </a:r>
            <a:endParaRPr lang="en-US" sz="1300" dirty="0"/>
          </a:p>
        </p:txBody>
      </p:sp>
      <p:sp>
        <p:nvSpPr>
          <p:cNvPr id="61" name="Shape 59"/>
          <p:cNvSpPr/>
          <p:nvPr/>
        </p:nvSpPr>
        <p:spPr>
          <a:xfrm>
            <a:off x="9098280" y="4443984"/>
            <a:ext cx="875802"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+13.9%</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LV</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2,374 → 2,700</a:t>
            </a:r>
            <a:endParaRPr lang="en-US" sz="1300" dirty="0"/>
          </a:p>
        </p:txBody>
      </p:sp>
      <p:sp>
        <p:nvSpPr>
          <p:cNvPr id="67" name="Shape 65"/>
          <p:cNvSpPr/>
          <p:nvPr/>
        </p:nvSpPr>
        <p:spPr>
          <a:xfrm>
            <a:off x="9098280" y="5102352"/>
            <a:ext cx="859902"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+13.7%</a:t>
            </a:r>
            <a:endParaRPr lang="en-US" sz="1700" dirty="0"/>
          </a:p>
        </p:txBody>
      </p:sp>
      <p:sp>
        <p:nvSpPr>
          <p:cNvPr id="69" name="Shape 67"/>
          <p:cNvSpPr/>
          <p:nvPr/>
        </p:nvSpPr>
        <p:spPr>
          <a:xfrm>
            <a:off x="457200" y="6126480"/>
            <a:ext cx="11274552" cy="371856"/>
          </a:xfrm>
          <a:prstGeom prst="rect">
            <a:avLst/>
          </a:prstGeom>
          <a:solidFill>
            <a:srgbClr val="E6F6EE"/>
          </a:solidFill>
          <a:ln/>
        </p:spPr>
      </p:sp>
      <p:sp>
        <p:nvSpPr>
          <p:cNvPr id="70"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Kia LV leads Jan–Sep; LR Reno leads the last 90 days. Three stores are top five in both.</a:t>
            </a:r>
            <a:endParaRPr lang="en-US" sz="1600" dirty="0"/>
          </a:p>
        </p:txBody>
      </p:sp>
    </p:spTree>
  </p:cSld>
  <p:clrMapOvr>
    <a:masterClrMapping/>
  </p:clrMapOvr>
</p:sld>
</file>

<file path=ppt/slides/slide20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Hours per RO</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+3.6% · 26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ST GEORGE</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1.03 → 1.43</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+39.1%</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ST GEORGE</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1.75 → 2.30</a:t>
            </a:r>
            <a:endParaRPr lang="en-US" sz="1300" dirty="0"/>
          </a:p>
        </p:txBody>
      </p:sp>
      <p:sp>
        <p:nvSpPr>
          <p:cNvPr id="18" name="Shape 16"/>
          <p:cNvSpPr/>
          <p:nvPr/>
        </p:nvSpPr>
        <p:spPr>
          <a:xfrm>
            <a:off x="3383280" y="3127248"/>
            <a:ext cx="1023826"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+31.3%</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0.99 → 1.29</a:t>
            </a:r>
            <a:endParaRPr lang="en-US" sz="1300" dirty="0"/>
          </a:p>
        </p:txBody>
      </p:sp>
      <p:sp>
        <p:nvSpPr>
          <p:cNvPr id="24" name="Shape 22"/>
          <p:cNvSpPr/>
          <p:nvPr/>
        </p:nvSpPr>
        <p:spPr>
          <a:xfrm>
            <a:off x="3383280" y="3785616"/>
            <a:ext cx="1005399"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+30.7%</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1.34 → 1.60</a:t>
            </a:r>
            <a:endParaRPr lang="en-US" sz="1300" dirty="0"/>
          </a:p>
        </p:txBody>
      </p:sp>
      <p:sp>
        <p:nvSpPr>
          <p:cNvPr id="29" name="Shape 27"/>
          <p:cNvSpPr/>
          <p:nvPr/>
        </p:nvSpPr>
        <p:spPr>
          <a:xfrm>
            <a:off x="3383280" y="4443984"/>
            <a:ext cx="640574"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+19.5%</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LV</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1.32 → 1.57</a:t>
            </a:r>
            <a:endParaRPr lang="en-US" sz="1300" dirty="0"/>
          </a:p>
        </p:txBody>
      </p:sp>
      <p:sp>
        <p:nvSpPr>
          <p:cNvPr id="35" name="Shape 33"/>
          <p:cNvSpPr/>
          <p:nvPr/>
        </p:nvSpPr>
        <p:spPr>
          <a:xfrm>
            <a:off x="3383280" y="5102352"/>
            <a:ext cx="612671"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+18.7%</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+3.1% · 23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ST GEORGE</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1.07 → 1.54</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+44.7%</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0.98 → 1.38</a:t>
            </a:r>
            <a:endParaRPr lang="en-US" sz="1300" dirty="0"/>
          </a:p>
        </p:txBody>
      </p:sp>
      <p:sp>
        <p:nvSpPr>
          <p:cNvPr id="50" name="Shape 48"/>
          <p:cNvSpPr/>
          <p:nvPr/>
        </p:nvSpPr>
        <p:spPr>
          <a:xfrm>
            <a:off x="9098280" y="3127248"/>
            <a:ext cx="1177847"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+41.1%</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MAZDA</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1.29 → 1.65</a:t>
            </a:r>
            <a:endParaRPr lang="en-US" sz="1300" dirty="0"/>
          </a:p>
        </p:txBody>
      </p:sp>
      <p:sp>
        <p:nvSpPr>
          <p:cNvPr id="56" name="Shape 54"/>
          <p:cNvSpPr/>
          <p:nvPr/>
        </p:nvSpPr>
        <p:spPr>
          <a:xfrm>
            <a:off x="9098280" y="3785616"/>
            <a:ext cx="788509"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+27.5%</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LV</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3.39 → 4.07</a:t>
            </a:r>
            <a:endParaRPr lang="en-US" sz="1300" dirty="0"/>
          </a:p>
        </p:txBody>
      </p:sp>
      <p:sp>
        <p:nvSpPr>
          <p:cNvPr id="61" name="Shape 59"/>
          <p:cNvSpPr/>
          <p:nvPr/>
        </p:nvSpPr>
        <p:spPr>
          <a:xfrm>
            <a:off x="9098280" y="4443984"/>
            <a:ext cx="576271"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+20.1%</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2.07 → 2.44</a:t>
            </a:r>
            <a:endParaRPr lang="en-US" sz="1300" dirty="0"/>
          </a:p>
        </p:txBody>
      </p:sp>
      <p:sp>
        <p:nvSpPr>
          <p:cNvPr id="67" name="Shape 65"/>
          <p:cNvSpPr/>
          <p:nvPr/>
        </p:nvSpPr>
        <p:spPr>
          <a:xfrm>
            <a:off x="9098280" y="5102352"/>
            <a:ext cx="504347"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+17.6%</a:t>
            </a:r>
            <a:endParaRPr lang="en-US" sz="1700" dirty="0"/>
          </a:p>
        </p:txBody>
      </p:sp>
      <p:sp>
        <p:nvSpPr>
          <p:cNvPr id="69" name="Shape 67"/>
          <p:cNvSpPr/>
          <p:nvPr/>
        </p:nvSpPr>
        <p:spPr>
          <a:xfrm>
            <a:off x="457200" y="6126480"/>
            <a:ext cx="11274552" cy="371856"/>
          </a:xfrm>
          <a:prstGeom prst="rect">
            <a:avLst/>
          </a:prstGeom>
          <a:solidFill>
            <a:srgbClr val="E6F6EE"/>
          </a:solidFill>
          <a:ln/>
        </p:spPr>
      </p:sp>
      <p:sp>
        <p:nvSpPr>
          <p:cNvPr id="70"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Hyundai St George leads both periods. Hyundai St George and Kia St George are top five in both.</a:t>
            </a:r>
            <a:endParaRPr lang="en-US" sz="1600" dirty="0"/>
          </a:p>
        </p:txBody>
      </p:sp>
    </p:spTree>
  </p:cSld>
  <p:clrMapOvr>
    <a:masterClrMapping/>
  </p:clrMapOvr>
</p:sld>
</file>

<file path=ppt/slides/slide20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ELR</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+2.2% · 19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HONDA SPOKANE</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$117.05 → $143.89</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+22.9%</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VOLVO</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$181.59 → $222.12</a:t>
            </a:r>
            <a:endParaRPr lang="en-US" sz="1300" dirty="0"/>
          </a:p>
        </p:txBody>
      </p:sp>
      <p:sp>
        <p:nvSpPr>
          <p:cNvPr id="18" name="Shape 16"/>
          <p:cNvSpPr/>
          <p:nvPr/>
        </p:nvSpPr>
        <p:spPr>
          <a:xfrm>
            <a:off x="3383280" y="3127248"/>
            <a:ext cx="1246113"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+22.3%</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$139.55 → $167.64</a:t>
            </a:r>
            <a:endParaRPr lang="en-US" sz="1300" dirty="0"/>
          </a:p>
        </p:txBody>
      </p:sp>
      <p:sp>
        <p:nvSpPr>
          <p:cNvPr id="24" name="Shape 22"/>
          <p:cNvSpPr/>
          <p:nvPr/>
        </p:nvSpPr>
        <p:spPr>
          <a:xfrm>
            <a:off x="3383280" y="3785616"/>
            <a:ext cx="1123401"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+20.1%</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NISSAN</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$153.87 → $175.90</a:t>
            </a:r>
            <a:endParaRPr lang="en-US" sz="1300" dirty="0"/>
          </a:p>
        </p:txBody>
      </p:sp>
      <p:sp>
        <p:nvSpPr>
          <p:cNvPr id="29" name="Shape 27"/>
          <p:cNvSpPr/>
          <p:nvPr/>
        </p:nvSpPr>
        <p:spPr>
          <a:xfrm>
            <a:off x="3383280" y="4443984"/>
            <a:ext cx="799074"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+14.3%</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$122.25 → $139.13</a:t>
            </a:r>
            <a:endParaRPr lang="en-US" sz="1300" dirty="0"/>
          </a:p>
        </p:txBody>
      </p:sp>
      <p:sp>
        <p:nvSpPr>
          <p:cNvPr id="35" name="Shape 33"/>
          <p:cNvSpPr/>
          <p:nvPr/>
        </p:nvSpPr>
        <p:spPr>
          <a:xfrm>
            <a:off x="3383280" y="5102352"/>
            <a:ext cx="770788"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+13.8%</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+2.5% · 22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$134.86 → $167.22</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+23.9%</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HONDA SPOKANE</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$119.95 → $147.93</a:t>
            </a:r>
            <a:endParaRPr lang="en-US" sz="1300" dirty="0"/>
          </a:p>
        </p:txBody>
      </p:sp>
      <p:sp>
        <p:nvSpPr>
          <p:cNvPr id="50" name="Shape 48"/>
          <p:cNvSpPr/>
          <p:nvPr/>
        </p:nvSpPr>
        <p:spPr>
          <a:xfrm>
            <a:off x="9098280" y="3127248"/>
            <a:ext cx="1244425"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+23.3%</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VOLVO</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$183.95 → $225.50</a:t>
            </a:r>
            <a:endParaRPr lang="en-US" sz="1300" dirty="0"/>
          </a:p>
        </p:txBody>
      </p:sp>
      <p:sp>
        <p:nvSpPr>
          <p:cNvPr id="56" name="Shape 54"/>
          <p:cNvSpPr/>
          <p:nvPr/>
        </p:nvSpPr>
        <p:spPr>
          <a:xfrm>
            <a:off x="9098280" y="3785616"/>
            <a:ext cx="1205012"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+22.5%</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NISSAN</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$160.07 → $180.14</a:t>
            </a:r>
            <a:endParaRPr lang="en-US" sz="1300" dirty="0"/>
          </a:p>
        </p:txBody>
      </p:sp>
      <p:sp>
        <p:nvSpPr>
          <p:cNvPr id="61" name="Shape 59"/>
          <p:cNvSpPr/>
          <p:nvPr/>
        </p:nvSpPr>
        <p:spPr>
          <a:xfrm>
            <a:off x="9098280" y="4443984"/>
            <a:ext cx="669135"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+12.5%</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$125.74 → $139.81</a:t>
            </a:r>
            <a:endParaRPr lang="en-US" sz="1300" dirty="0"/>
          </a:p>
        </p:txBody>
      </p:sp>
      <p:sp>
        <p:nvSpPr>
          <p:cNvPr id="67" name="Shape 65"/>
          <p:cNvSpPr/>
          <p:nvPr/>
        </p:nvSpPr>
        <p:spPr>
          <a:xfrm>
            <a:off x="9098280" y="5102352"/>
            <a:ext cx="596701"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+11.1%</a:t>
            </a:r>
            <a:endParaRPr lang="en-US" sz="1700" dirty="0"/>
          </a:p>
        </p:txBody>
      </p:sp>
      <p:sp>
        <p:nvSpPr>
          <p:cNvPr id="69" name="Shape 67"/>
          <p:cNvSpPr/>
          <p:nvPr/>
        </p:nvSpPr>
        <p:spPr>
          <a:xfrm>
            <a:off x="457200" y="6126480"/>
            <a:ext cx="11274552" cy="371856"/>
          </a:xfrm>
          <a:prstGeom prst="rect">
            <a:avLst/>
          </a:prstGeom>
          <a:solidFill>
            <a:srgbClr val="E6F6EE"/>
          </a:solidFill>
          <a:ln/>
        </p:spPr>
      </p:sp>
      <p:sp>
        <p:nvSpPr>
          <p:cNvPr id="70"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Honda Spokane leads Jan–Sep; Lincoln leads the last 90 days. Five stores are top five in both.</a:t>
            </a:r>
            <a:endParaRPr lang="en-US" sz="1600" dirty="0"/>
          </a:p>
        </p:txBody>
      </p:sp>
    </p:spTree>
  </p:cSld>
  <p:clrMapOvr>
    <a:masterClrMapping/>
  </p:clrMapOvr>
</p:sld>
</file>

<file path=ppt/slides/slide20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Parts $ per RO</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+4.1% · 24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$281 → $363</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+28.9%</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LEXUS</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$193 → $240</a:t>
            </a:r>
            <a:endParaRPr lang="en-US" sz="1300" dirty="0"/>
          </a:p>
        </p:txBody>
      </p:sp>
      <p:sp>
        <p:nvSpPr>
          <p:cNvPr id="18" name="Shape 16"/>
          <p:cNvSpPr/>
          <p:nvPr/>
        </p:nvSpPr>
        <p:spPr>
          <a:xfrm>
            <a:off x="3383280" y="3127248"/>
            <a:ext cx="1095538"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+24.7%</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ST GEORGE</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$181 → $219</a:t>
            </a:r>
            <a:endParaRPr lang="en-US" sz="1300" dirty="0"/>
          </a:p>
        </p:txBody>
      </p:sp>
      <p:sp>
        <p:nvSpPr>
          <p:cNvPr id="24" name="Shape 22"/>
          <p:cNvSpPr/>
          <p:nvPr/>
        </p:nvSpPr>
        <p:spPr>
          <a:xfrm>
            <a:off x="3383280" y="3785616"/>
            <a:ext cx="930538"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+21.0%</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HONDA FLAGSTAFF</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$179 → $212</a:t>
            </a:r>
            <a:endParaRPr lang="en-US" sz="1300" dirty="0"/>
          </a:p>
        </p:txBody>
      </p:sp>
      <p:sp>
        <p:nvSpPr>
          <p:cNvPr id="29" name="Shape 27"/>
          <p:cNvSpPr/>
          <p:nvPr/>
        </p:nvSpPr>
        <p:spPr>
          <a:xfrm>
            <a:off x="3383280" y="4443984"/>
            <a:ext cx="829801"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+18.7%</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ST GEORGE</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$238 → $280</a:t>
            </a:r>
            <a:endParaRPr lang="en-US" sz="1300" dirty="0"/>
          </a:p>
        </p:txBody>
      </p:sp>
      <p:sp>
        <p:nvSpPr>
          <p:cNvPr id="35" name="Shape 33"/>
          <p:cNvSpPr/>
          <p:nvPr/>
        </p:nvSpPr>
        <p:spPr>
          <a:xfrm>
            <a:off x="3383280" y="5102352"/>
            <a:ext cx="781605"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+17.6%</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+3.8% · 24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$266 → $373</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+40.0%</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HONDA FLAGSTAFF</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$182 → $234</a:t>
            </a:r>
            <a:endParaRPr lang="en-US" sz="1300" dirty="0"/>
          </a:p>
        </p:txBody>
      </p:sp>
      <p:sp>
        <p:nvSpPr>
          <p:cNvPr id="50" name="Shape 48"/>
          <p:cNvSpPr/>
          <p:nvPr/>
        </p:nvSpPr>
        <p:spPr>
          <a:xfrm>
            <a:off x="9098280" y="3127248"/>
            <a:ext cx="919791"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+28.7%</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HENDERSON</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$793 → $988</a:t>
            </a:r>
            <a:endParaRPr lang="en-US" sz="1300" dirty="0"/>
          </a:p>
        </p:txBody>
      </p:sp>
      <p:sp>
        <p:nvSpPr>
          <p:cNvPr id="56" name="Shape 54"/>
          <p:cNvSpPr/>
          <p:nvPr/>
        </p:nvSpPr>
        <p:spPr>
          <a:xfrm>
            <a:off x="9098280" y="3785616"/>
            <a:ext cx="786898"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+24.6%</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NISSAN</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$234 → $285</a:t>
            </a:r>
            <a:endParaRPr lang="en-US" sz="1300" dirty="0"/>
          </a:p>
        </p:txBody>
      </p:sp>
      <p:sp>
        <p:nvSpPr>
          <p:cNvPr id="61" name="Shape 59"/>
          <p:cNvSpPr/>
          <p:nvPr/>
        </p:nvSpPr>
        <p:spPr>
          <a:xfrm>
            <a:off x="9098280" y="4443984"/>
            <a:ext cx="697812"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+21.8%</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ST GEORGE</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$197 → $234</a:t>
            </a:r>
            <a:endParaRPr lang="en-US" sz="1300" dirty="0"/>
          </a:p>
        </p:txBody>
      </p:sp>
      <p:sp>
        <p:nvSpPr>
          <p:cNvPr id="67" name="Shape 65"/>
          <p:cNvSpPr/>
          <p:nvPr/>
        </p:nvSpPr>
        <p:spPr>
          <a:xfrm>
            <a:off x="9098280" y="5102352"/>
            <a:ext cx="597749"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+18.7%</a:t>
            </a:r>
            <a:endParaRPr lang="en-US" sz="1700" dirty="0"/>
          </a:p>
        </p:txBody>
      </p:sp>
      <p:sp>
        <p:nvSpPr>
          <p:cNvPr id="69" name="Shape 67"/>
          <p:cNvSpPr/>
          <p:nvPr/>
        </p:nvSpPr>
        <p:spPr>
          <a:xfrm>
            <a:off x="457200" y="6126480"/>
            <a:ext cx="11274552" cy="371856"/>
          </a:xfrm>
          <a:prstGeom prst="rect">
            <a:avLst/>
          </a:prstGeom>
          <a:solidFill>
            <a:srgbClr val="E6F6EE"/>
          </a:solidFill>
          <a:ln/>
        </p:spPr>
      </p:sp>
      <p:sp>
        <p:nvSpPr>
          <p:cNvPr id="70"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Lincoln leads both periods. Three stores are top five in both.</a:t>
            </a:r>
            <a:endParaRPr lang="en-US" sz="1600" dirty="0"/>
          </a:p>
        </p:txBody>
      </p:sp>
    </p:spTree>
  </p:cSld>
  <p:clrMapOvr>
    <a:masterClrMapping/>
  </p:clrMapOvr>
</p:sld>
</file>

<file path=ppt/slides/slide20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Parts GP %</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+1.2 pts · 28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ACURA</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38.7% → 44.9%</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+6.1 pts</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NISSAN</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38.2% → 42.7%</a:t>
            </a:r>
            <a:endParaRPr lang="en-US" sz="1300" dirty="0"/>
          </a:p>
        </p:txBody>
      </p:sp>
      <p:sp>
        <p:nvSpPr>
          <p:cNvPr id="18" name="Shape 16"/>
          <p:cNvSpPr/>
          <p:nvPr/>
        </p:nvSpPr>
        <p:spPr>
          <a:xfrm>
            <a:off x="3383280" y="3127248"/>
            <a:ext cx="943982"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+4.5 pts</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31.0% → 34.8%</a:t>
            </a:r>
            <a:endParaRPr lang="en-US" sz="1300" dirty="0"/>
          </a:p>
        </p:txBody>
      </p:sp>
      <p:sp>
        <p:nvSpPr>
          <p:cNvPr id="24" name="Shape 22"/>
          <p:cNvSpPr/>
          <p:nvPr/>
        </p:nvSpPr>
        <p:spPr>
          <a:xfrm>
            <a:off x="3383280" y="3785616"/>
            <a:ext cx="796646"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+3.8 pts</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33.7% → 37.0%</a:t>
            </a:r>
            <a:endParaRPr lang="en-US" sz="1300" dirty="0"/>
          </a:p>
        </p:txBody>
      </p:sp>
      <p:sp>
        <p:nvSpPr>
          <p:cNvPr id="29" name="Shape 27"/>
          <p:cNvSpPr/>
          <p:nvPr/>
        </p:nvSpPr>
        <p:spPr>
          <a:xfrm>
            <a:off x="3383280" y="4443984"/>
            <a:ext cx="692935"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+3.3 pts</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RENO</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41.3% → 44.6%</a:t>
            </a:r>
            <a:endParaRPr lang="en-US" sz="1300" dirty="0"/>
          </a:p>
        </p:txBody>
      </p:sp>
      <p:sp>
        <p:nvSpPr>
          <p:cNvPr id="35" name="Shape 33"/>
          <p:cNvSpPr/>
          <p:nvPr/>
        </p:nvSpPr>
        <p:spPr>
          <a:xfrm>
            <a:off x="3383280" y="5102352"/>
            <a:ext cx="687685"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+3.2 pts</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+1.2 pts · 27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ACURA</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38.8% → 46.6%</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+7.7 pts</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38.2% → 42.4%</a:t>
            </a:r>
            <a:endParaRPr lang="en-US" sz="1300" dirty="0"/>
          </a:p>
        </p:txBody>
      </p:sp>
      <p:sp>
        <p:nvSpPr>
          <p:cNvPr id="50" name="Shape 48"/>
          <p:cNvSpPr/>
          <p:nvPr/>
        </p:nvSpPr>
        <p:spPr>
          <a:xfrm>
            <a:off x="9098280" y="3127248"/>
            <a:ext cx="686566"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+4.1 pts</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VW ST GEORGE</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39.7% → 43.8%</a:t>
            </a:r>
            <a:endParaRPr lang="en-US" sz="1300" dirty="0"/>
          </a:p>
        </p:txBody>
      </p:sp>
      <p:sp>
        <p:nvSpPr>
          <p:cNvPr id="56" name="Shape 54"/>
          <p:cNvSpPr/>
          <p:nvPr/>
        </p:nvSpPr>
        <p:spPr>
          <a:xfrm>
            <a:off x="9098280" y="3785616"/>
            <a:ext cx="670906"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+4.0 pts</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31.0% → 34.9%</a:t>
            </a:r>
            <a:endParaRPr lang="en-US" sz="1300" dirty="0"/>
          </a:p>
        </p:txBody>
      </p:sp>
      <p:sp>
        <p:nvSpPr>
          <p:cNvPr id="61" name="Shape 59"/>
          <p:cNvSpPr/>
          <p:nvPr/>
        </p:nvSpPr>
        <p:spPr>
          <a:xfrm>
            <a:off x="9098280" y="4443984"/>
            <a:ext cx="632324"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+3.8 pts</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LV</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39.3% → 42.6%</a:t>
            </a:r>
            <a:endParaRPr lang="en-US" sz="1300" dirty="0"/>
          </a:p>
        </p:txBody>
      </p:sp>
      <p:sp>
        <p:nvSpPr>
          <p:cNvPr id="67" name="Shape 65"/>
          <p:cNvSpPr/>
          <p:nvPr/>
        </p:nvSpPr>
        <p:spPr>
          <a:xfrm>
            <a:off x="9098280" y="5102352"/>
            <a:ext cx="546860"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+3.3 pts</a:t>
            </a:r>
            <a:endParaRPr lang="en-US" sz="1700" dirty="0"/>
          </a:p>
        </p:txBody>
      </p:sp>
      <p:sp>
        <p:nvSpPr>
          <p:cNvPr id="69" name="Shape 67"/>
          <p:cNvSpPr/>
          <p:nvPr/>
        </p:nvSpPr>
        <p:spPr>
          <a:xfrm>
            <a:off x="457200" y="6126480"/>
            <a:ext cx="11274552" cy="371856"/>
          </a:xfrm>
          <a:prstGeom prst="rect">
            <a:avLst/>
          </a:prstGeom>
          <a:solidFill>
            <a:srgbClr val="E6F6EE"/>
          </a:solidFill>
          <a:ln/>
        </p:spPr>
      </p:sp>
      <p:sp>
        <p:nvSpPr>
          <p:cNvPr id="70"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Acura leads both periods. Acura and Subaru Prescott are top five in both.</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Inte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2026-10-23T20:46:34Z</dcterms:created>
  <dcterms:modified xsi:type="dcterms:W3CDTF">2026-10-23T20:46:34Z</dcterms:modified>
</cp:coreProperties>
</file>