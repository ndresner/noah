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69" r:id="rId20"/>
    <p:sldId id="270" r:id="rId21"/>
    <p:sldId id="271" r:id="rId22"/>
    <p:sldId id="272" r:id="rId23"/>
    <p:sldId id="273" r:id="rId24"/>
    <p:sldId id="274" r:id="rId25"/>
    <p:sldId id="258" r:id="rId4"/>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59" r:id="rId5"/>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260" r:id="rId6"/>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261" r:id="rId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262" r:id="rId8"/>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263" r:id="rId9"/>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264" r:id="rId10"/>
    <p:sldId id="403" r:id="rId154"/>
    <p:sldId id="404" r:id="rId155"/>
    <p:sldId id="405" r:id="rId156"/>
    <p:sldId id="406" r:id="rId157"/>
    <p:sldId id="407" r:id="rId158"/>
    <p:sldId id="408" r:id="rId159"/>
    <p:sldId id="409" r:id="rId160"/>
    <p:sldId id="410" r:id="rId161"/>
    <p:sldId id="265" r:id="rId11"/>
    <p:sldId id="411" r:id="rId162"/>
    <p:sldId id="412" r:id="rId163"/>
    <p:sldId id="413" r:id="rId164"/>
    <p:sldId id="414" r:id="rId165"/>
    <p:sldId id="415" r:id="rId166"/>
    <p:sldId id="416" r:id="rId167"/>
    <p:sldId id="266" r:id="rId12"/>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2026 vs 2025, all stores (INEOS included, to match the group P&amp;L).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 Records = each month a store beat its best-ever service, parts or combined month; one month can count up to three.Records by store (month: service / parts / combined, with the record it beat):</a:t>
            </a:r>
          </a:p>
          <a:p>
            <a:r>
              <a:t>Toyota Henderson: service Apr 2026 $1.86M (beat $1.78M, Apr 2025); service Jul 2026 $1.98M (beat $1.86M, Apr 2026); parts Jun 2026 $747K (beat $734K, Dec 2024); parts Aug 2026 $748K (beat $747K, Jun 2026); parts Sep 2026 $803K (beat $748K, Aug 2026); combined Apr 2026 $2.52M (beat $2.45M, Apr 2025); combined Jun 2026 $2.55M (beat $2.52M, Apr 2026); combined Jul 2026 $2.72M (beat $2.55M, Jun 2026)</a:t>
            </a:r>
          </a:p>
          <a:p>
            <a:r>
              <a:t>Honda Spokane: service Mar 2026 $309K (beat $290K, May 2025); service Apr 2026 $316K (beat $309K, Mar 2026); service Jun 2026 $343K (beat $316K, Apr 2026); service Jul 2026 $360K (beat $343K, Jun 2026); parts Jul 2026 $182K (beat $168K, Aug 2025); combined Mar 2026 $457K (beat $448K, May 2025); combined Apr 2026 $473K (beat $457K, Mar 2026); combined Jun 2026 $503K (beat $473K, Apr 2026); combined Jul 2026 $542K (beat $503K, Jun 2026)</a:t>
            </a:r>
          </a:p>
          <a:p>
            <a:r>
              <a:t>Nissan: service Mar 2026 $374K (beat $374K, May 2025); service Jun 2026 $379K (beat $374K, Mar 2026); service Sep 2026 $393K (beat $379K, Jun 2026); parts Jun 2026 $191K (beat $187K, Aug 2024); parts Jul 2026 $210K (beat $191K, Jun 2026); combined Mar 2026 $546K (beat $535K, May 2025); combined Jun 2026 $570K (beat $546K, Mar 2026); combined Jul 2026 $580K (beat $570K, Jun 2026); combined Sep 2026 $593K (beat $580K, Jul 2026)</a:t>
            </a:r>
          </a:p>
          <a:p>
            <a:r>
              <a:t>Subaru St George: service Jan 2026 $256K (beat $246K, Apr 2025); service Mar 2026 $270K (beat $256K, Jan 2026); parts Mar 2026 $146K (beat $144K, Apr 2025); parts Apr 2026 $156K (beat $146K, Mar 2026); parts Jun 2026 $174K (beat $156K, Apr 2026); combined Mar 2026 $416K (beat $391K, Apr 2025); combined Jun 2026 $438K (beat $416K, Mar 2026)</a:t>
            </a:r>
          </a:p>
          <a:p>
            <a:r>
              <a:t>Hyundai St George: service Jan 2026 $155K (beat $152K, Dec 2025); service Mar 2026 $170K (beat $155K, Jan 2026); service Jul 2026 $173K (beat $170K, Mar 2026); service Sep 2026 $179K (beat $173K, Jul 2026)</a:t>
            </a:r>
          </a:p>
          <a:p>
            <a:r>
              <a:t>Honda Henderson: service Mar 2026 $1.26M (beat $1.23M, Mar 2025); service Jun 2026 $1.29M (beat $1.26M, Mar 2026); service Jul 2026 $1.30M (beat $1.29M, Jun 2026); parts Jul 2026 $495K (beat $475K, Apr 2024); combined Mar 2026 $1.72M (beat $1.67M, Apr 2024); combined Jun 2026 $1.75M (beat $1.72M, Mar 2026); combined Jul 2026 $1.79M (beat $1.75M, Jun 2026)</a:t>
            </a:r>
          </a:p>
          <a:p>
            <a:r>
              <a:t>Hyundai Prescott: service Mar 2026 $125K (beat $96K, Jul 2025); service Jul 2026 $142K (beat $125K, Mar 2026); parts Feb 2026 $78K (beat $72K, Jul 2025); combined Feb 2026 $170K (beat $168K, Jul 2025); combined Mar 2026 $182K (beat $170K, Feb 2026); combined Jul 2026 $206K (beat $182K, Mar 2026)</a:t>
            </a:r>
          </a:p>
          <a:p>
            <a:r>
              <a:t>Lincoln: service Aug 2026 $247K (beat $243K, Dec 2025); service Sep 2026 $262K (beat $247K, Aug 2026); parts Mar 2026 $116K (beat $105K, Dec 2025); combined Mar 2026 $358K (beat $349K, Dec 2025); combined Aug 2026 $359K (beat $358K, Mar 2026); combined Sep 2026 $369K (beat $359K, Aug 2026)</a:t>
            </a:r>
          </a:p>
          <a:p>
            <a:r>
              <a:t>LR Henderson: service Aug 2026 $276K (beat $270K, Dec 2024); service Sep 2026 $281K (beat $276K, Aug 2026); parts Jul 2026 $173K (beat $168K, Feb 2025); combined Jul 2026 $434K (beat $420K, Feb 2025)</a:t>
            </a:r>
          </a:p>
          <a:p>
            <a:r>
              <a:t>Toyota Flagstaff: service Mar 2026 $374K (beat $358K, Oct 2024); service Apr 2026 $377K (beat $374K, Mar 2026); service May 2026 $382K (beat $377K, Apr 2026); combined Mar 2026 $532K (beat $497K, Jan 2025)</a:t>
            </a:r>
          </a:p>
          <a:p>
            <a:r>
              <a:t>Audi Henderson: parts Jul 2026 $591K (beat $524K, Dec 2024); combined Apr 2026 $1.45M (beat $1.39M, Dec 2025); combined Jul 2026 $1.60M (beat $1.45M, Apr 2026)</a:t>
            </a:r>
          </a:p>
          <a:p>
            <a:r>
              <a:t>Mazda: service Aug 2026 $285K (beat $256K, Mar 2025); service Sep 2026 $302K (beat $285K, Aug 2026); parts Sep 2026 $200K (beat $172K, Jun 2025); combined Aug 2026 $417K (beat $412K, Jun 2025); combined Sep 2026 $503K (beat $417K, Aug 2026)</a:t>
            </a:r>
          </a:p>
          <a:p>
            <a:r>
              <a:t>Kia St George: service Apr 2026 $158K (beat $153K, Sep 2025); service Jul 2026 $187K (beat $158K, Apr 2026); parts Jul 2026 $134K (beat $120K, Oct 2025); combined Jul 2026 $321K (beat $270K, Sep 2025)</a:t>
            </a:r>
          </a:p>
          <a:p>
            <a:r>
              <a:t>Lexus: service Mar 2026 $341K (beat $341K, Oct 2025); service May 2026 $342K (beat $341K, Mar 2026); parts May 2026 $154K (beat $149K, Oct 2025); combined May 2026 $497K (beat $490K, Oct 2025)</a:t>
            </a:r>
          </a:p>
          <a:p>
            <a:r>
              <a:t>Toyota Prescott: service Mar 2026 $397K (beat $377K, Dec 2025); service Apr 2026 $463K (beat $397K, Mar 2026); parts Apr 2026 $204K (beat $203K, Apr 2025); combined Apr 2026 $667K (beat $563K, Aug 2023)</a:t>
            </a:r>
          </a:p>
          <a:p>
            <a:r>
              <a:t>Volvo: service Apr 2026 $294K (beat $288K, Aug 2024); service Jun 2026 $305K (beat $294K, Apr 2026)</a:t>
            </a:r>
          </a:p>
          <a:p>
            <a:r>
              <a:t>CDJR Post Falls: service Jul 2026 $312K (beat $305K, Apr 2025); combined Jul 2026 $481K (beat $468K, Aug 2024)</a:t>
            </a:r>
          </a:p>
          <a:p>
            <a:r>
              <a:t>GMC Prescott: parts Apr 2026 $148K (beat $123K, Oct 2024); combined Apr 2026 $314K (beat $304K, Oct 2024)</a:t>
            </a:r>
          </a:p>
          <a:p>
            <a:r>
              <a:t>LR LV: service Jul 2026 $544K (beat $509K, May 2024); combined Jul 2026 $845K (beat $817K, May 2024)</a:t>
            </a:r>
          </a:p>
          <a:p>
            <a:r>
              <a:t>LR Reno: service Aug 2026 $204K (beat $190K, Jan 2025); combined Aug 2026 $312K (beat $294K, Aug 2024)</a:t>
            </a:r>
          </a:p>
          <a:p>
            <a:r>
              <a:t>Subaru Prescott: combined Apr 2026 $354K (beat $349K, Apr 2025)</a:t>
            </a:r>
          </a:p>
          <a:p>
            <a:r>
              <a:t>Toyota Spokane: service Jul 2026 $470K (beat $450K, Oct 2025); combined Jul 2026 $777K (beat $760K, Oct 2025)</a:t>
            </a:r>
          </a:p>
          <a:p>
            <a:r>
              <a:t>Kia LV: service Sep 2026 $492K (beat $472K, Oct 2024)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a:p>
            <a:r>
              <a:t>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2026).PLACE: Profitability, in front of Fixed Ops Absorption %; the next slide breaks down the fixed expenses. The denominator is the P&amp;L's Fixed Expenses line on the GM statement: the whole store's expenses (new, used, service, parts, body shop)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a:t>
            </a:r>
          </a:p>
          <a:p/>
          <a:p>
            <a:r>
              <a:t>Definitions to confirm against Flai: pickup rate is read as the share of transferred calls a person picked up; resolution as the share of callback requests closed. Resolve time in the export runs to weeks at some locations and is not shown.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(27,976 hours) x $162.42 CP ELR (on the Hours per RO data slide). Slide rounds to $162 and $4.5M so the room can follow it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a:p>
            <a:r>
              <a:t>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a:t>
            </a:r>
          </a:p>
          <a:p>
            <a:r>
              <a:t>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a:t>
            </a:r>
          </a:p>
          <a:p>
            <a:r>
              <a:t>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a:t>
            </a:r>
          </a:p>
          <a:p>
            <a:r>
              <a:t>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a:t>
            </a:r>
          </a:p>
          <a:p>
            <a:r>
              <a:t>The 52.5% customer-pay share of labor sale tile was dropped with the rewrite.</a:t>
            </a:r>
          </a:p>
          <a:p>
            <a:r>
              <a:t>Said: Jan GM slide 8 / May GM slide 7 (Express Service), reworded.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MPI and Video Completion %, ahead of the op code closing % slides (moved out of Internal, Oct 23).</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group gross per service $129.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−1,867 opcodes, −$169K Jan-Sep at $90/service</a:t>
            </a:r>
          </a:p>
          <a:p>
            <a:r>
              <a:t>TOYOTA FLAGSTAFF: 9.7%, −799 opcodes, −$67K Jan-Sep at $84/service</a:t>
            </a:r>
          </a:p>
          <a:p>
            <a:r>
              <a:t>NISSAN: 7.4%, −525 opcodes, −$62K Jan-Sep at $119/service</a:t>
            </a:r>
          </a:p>
          <a:p>
            <a:r>
              <a:t>KIA LV: 9.7%, −426 opcodes, −$58K Jan-Sep at $135/service</a:t>
            </a:r>
          </a:p>
          <a:p>
            <a:r>
              <a:t>CHEVY LV: 12.8%, −417 opcodes, −$57K Jan-Sep at $136/service</a:t>
            </a:r>
          </a:p>
          <a:p>
            <a:r>
              <a:t>CDJR POST FALLS: 4.2%, −578 opcodes, −$43K Jan-Sep at $74/service</a:t>
            </a:r>
          </a:p>
          <a:p>
            <a:r>
              <a:t>TOYOTA PRESCOTT: 12.3%, −359 opcodes, −$37K Jan-Sep at $103/service</a:t>
            </a:r>
          </a:p>
          <a:p>
            <a:r>
              <a:t>KIA ST GEORGE: 8.0%, −274 opcodes, −$29K Jan-Sep at $105/service</a:t>
            </a:r>
          </a:p>
          <a:p>
            <a:r>
              <a:t>HONDA SPOKANE: 12.5%, −221 opcodes, −$27K Jan-Sep at $124/service</a:t>
            </a:r>
          </a:p>
          <a:p>
            <a:r>
              <a:t>AUDI RENO: 11.8%, −112 opcodes, −$26K Jan-Sep at $230/service</a:t>
            </a:r>
          </a:p>
          <a:p>
            <a:r>
              <a:t>TOYOTA HENDERSON: 14.5%, −245 opcodes, −$25K Jan-Sep at $102/service</a:t>
            </a:r>
          </a:p>
          <a:p>
            <a:r>
              <a:t>LEXUS: 11.3%, −166 opcodes, −$24K Jan-Sep at $147/service</a:t>
            </a:r>
          </a:p>
          <a:p>
            <a:r>
              <a:t>LINCOLN: 8.4%, −173 opcodes, −$20K Jan-Sep at $114/service</a:t>
            </a:r>
          </a:p>
          <a:p>
            <a:r>
              <a:t>CHEVY GMC BULLHEAD: 11.1%, −243 opcodes, −$19K Jan-Sep at $78/service</a:t>
            </a:r>
          </a:p>
          <a:p>
            <a:r>
              <a:t>VW HENDERSON: 13.6%, −72 opcodes, −$18K Jan-Sep at $245/service</a:t>
            </a:r>
          </a:p>
          <a:p>
            <a:r>
              <a:t>SUBARU ST GEORGE: 11.0%, −218 opcodes, −$17K Jan-Sep at $78/service</a:t>
            </a:r>
          </a:p>
          <a:p>
            <a:r>
              <a:t>HONDA FLAGSTAFF: 11.0%, −158 opcodes, −$16K Jan-Sep at $100/service</a:t>
            </a:r>
          </a:p>
          <a:p>
            <a:r>
              <a:t>VW ST GEORGE: 5.6%, −180 opcodes, −$13K Jan-Sep at $74/service</a:t>
            </a:r>
          </a:p>
          <a:p>
            <a:r>
              <a:t>SUBARU PRESCOTT: 12.5%, −124 opcodes, −$9K Jan-Sep at $73/service</a:t>
            </a:r>
          </a:p>
          <a:p>
            <a:r>
              <a:t>GMC PRESCOTT: 11.7%, −101 opcodes, −$9K Jan-Sep at $85/service</a:t>
            </a:r>
          </a:p>
          <a:p>
            <a:r>
              <a:t>LR RENO: 12.8%, −30 opcodes, −$8K Jan-Sep at $259/service (capped; raw $715/service)</a:t>
            </a:r>
          </a:p>
          <a:p>
            <a:r>
              <a:t>SUBARU LV: 14.5%, −63 opcodes, −$7K Jan-Sep at $117/service</a:t>
            </a:r>
          </a:p>
          <a:p>
            <a:r>
              <a:t>CADILLAC: 13.8%, −60 opcodes, −$7K Jan-Sep at $115/service</a:t>
            </a:r>
          </a:p>
          <a:p>
            <a:r>
              <a:t>VOLVO: 13.8%, −38 opcodes, −$5K Jan-Sep at $142/service</a:t>
            </a:r>
          </a:p>
          <a:p>
            <a:r>
              <a:t>HYUNDAI ST GEORGE: 14.8%, −5 opcodes, −$649 Jan-Sep at $121/service</a:t>
            </a:r>
          </a:p>
          <a:p>
            <a:r>
              <a:t>ACURA: 17.5%, +92 opcodes, +$11K Jan-Sep at $117/service</a:t>
            </a:r>
          </a:p>
          <a:p>
            <a:r>
              <a:t>MAZDA: 16.6%, +97 opcodes, +$13K Jan-Sep at $132/service</a:t>
            </a:r>
          </a:p>
          <a:p>
            <a:r>
              <a:t>LR LV: 17.3%, +84 opcodes, +$18K Jan-Sep at $210/service</a:t>
            </a:r>
          </a:p>
          <a:p>
            <a:r>
              <a:t>HONDA NORTH: 16.1%, +179 opcodes, +$20K Jan-Sep at $112/service</a:t>
            </a:r>
          </a:p>
          <a:p>
            <a:r>
              <a:t>LR HENDERSON: 24.4%, +147 opcodes, +$31K Jan-Sep at $209/service</a:t>
            </a:r>
          </a:p>
          <a:p>
            <a:r>
              <a:t>HYUNDAI PRESCOTT: 21.7%, +137 opcodes, +$31K Jan-Sep at $228/service</a:t>
            </a:r>
          </a:p>
          <a:p>
            <a:r>
              <a:t>AUDI HENDERSON: 27.5%, +473 opcodes, +$123K Jan-Sep at $259/service (capped; raw $390/service)</a:t>
            </a:r>
          </a:p>
          <a:p>
            <a:r>
              <a:t>HONDA HENDERSON: 21.3%, +1,422 opcodes, +$171K Jan-Sep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group gross per service $75. Rate = Jan-Sep closing %; green / red bar = top / bottom three by rate. Gray bar = the manufacturer doesn't call for tire balance at that store (AUDI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−2,520 opcodes, −$135K Jan-Sep at $53/service</a:t>
            </a:r>
          </a:p>
          <a:p>
            <a:r>
              <a:t>TOYOTA HENDERSON: 11.2%, −2,004 opcodes, −$111K Jan-Sep at $55/service</a:t>
            </a:r>
          </a:p>
          <a:p>
            <a:r>
              <a:t>TOYOTA PRESCOTT: 6.1%, −1,193 opcodes, −$99K Jan-Sep at $83/service</a:t>
            </a:r>
          </a:p>
          <a:p>
            <a:r>
              <a:t>SUBARU ST GEORGE: 3.6%, −628 opcodes, −$94K Jan-Sep at $149/service (capped; raw $247/service)</a:t>
            </a:r>
          </a:p>
          <a:p>
            <a:r>
              <a:t>TOYOTA FLAGSTAFF: 4.9%, −1,523 opcodes, −$82K Jan-Sep at $54/service</a:t>
            </a:r>
          </a:p>
          <a:p>
            <a:r>
              <a:t>CHEVY LV: 7.3%, −1,501 opcodes, −$80K Jan-Sep at $53/service</a:t>
            </a:r>
          </a:p>
          <a:p>
            <a:r>
              <a:t>HONDA SPOKANE: 2.1%, −1,145 opcodes, −$60K Jan-Sep at $52/service</a:t>
            </a:r>
          </a:p>
          <a:p>
            <a:r>
              <a:t>NISSAN: 1.0%, −972 opcodes, −$58K Jan-Sep at $59/service</a:t>
            </a:r>
          </a:p>
          <a:p>
            <a:r>
              <a:t>CDJR POST FALLS: 1.2%, −736 opcodes, −$55K Jan-Sep at $75/service</a:t>
            </a:r>
          </a:p>
          <a:p>
            <a:r>
              <a:t>KIA LV: 5.2%, −794 opcodes, −$54K Jan-Sep at $68/service</a:t>
            </a:r>
          </a:p>
          <a:p>
            <a:r>
              <a:t>LEXUS: 0.0%, −682 opcodes, −$51K Jan-Sep at $75/service (group avg)</a:t>
            </a:r>
          </a:p>
          <a:p>
            <a:r>
              <a:t>SUBARU LV: 10.2%, −682 opcodes, −$51K Jan-Sep at $75/service</a:t>
            </a:r>
          </a:p>
          <a:p>
            <a:r>
              <a:t>AUDI HENDERSON: 0.0%, −566 opcodes, −$42K Jan-Sep at $75/service (group avg)</a:t>
            </a:r>
          </a:p>
          <a:p>
            <a:r>
              <a:t>AUDI RENO: 0.1%, −522 opcodes, −$39K Jan-Sep at $75/service (group avg)</a:t>
            </a:r>
          </a:p>
          <a:p>
            <a:r>
              <a:t>HONDA FLAGSTAFF: 1.3%, −552 opcodes, −$39K Jan-Sep at $70/service</a:t>
            </a:r>
          </a:p>
          <a:p>
            <a:r>
              <a:t>HONDA NORTH: 12.0%, −450 opcodes, −$29K Jan-Sep at $64/service</a:t>
            </a:r>
          </a:p>
          <a:p>
            <a:r>
              <a:t>HYUNDAI ST GEORGE: 1.2%, −461 opcodes, −$27K Jan-Sep at $58/service</a:t>
            </a:r>
          </a:p>
          <a:p>
            <a:r>
              <a:t>LINCOLN: 1.6%, −351 opcodes, −$23K Jan-Sep at $66/service</a:t>
            </a:r>
          </a:p>
          <a:p>
            <a:r>
              <a:t>VW ST GEORGE: 0.4%, −280 opcodes, −$21K Jan-Sep at $75/service (group avg)</a:t>
            </a:r>
          </a:p>
          <a:p>
            <a:r>
              <a:t>VW HENDERSON: 8.2%, −345 opcodes, −$21K Jan-Sep at $60/service</a:t>
            </a:r>
          </a:p>
          <a:p>
            <a:r>
              <a:t>GMC PRESCOTT: 7.7%, −225 opcodes, −$20K Jan-Sep at $90/service</a:t>
            </a:r>
          </a:p>
          <a:p>
            <a:r>
              <a:t>CHEVY GMC BULLHEAD: 9.0%, −372 opcodes, −$16K Jan-Sep at $42/service</a:t>
            </a:r>
          </a:p>
          <a:p>
            <a:r>
              <a:t>KIA ST GEORGE: 7.7%, −285 opcodes, −$14K Jan-Sep at $48/service</a:t>
            </a:r>
          </a:p>
          <a:p>
            <a:r>
              <a:t>CADILLAC: 5.9%, −483 opcodes, −$11K Jan-Sep at $22/service</a:t>
            </a:r>
          </a:p>
          <a:p>
            <a:r>
              <a:t>MAZDA: 13.1%, −103 opcodes, −$8K Jan-Sep at $79/service</a:t>
            </a:r>
          </a:p>
          <a:p>
            <a:r>
              <a:t>VOLVO: 11.7%, −111 opcodes, −$6K Jan-Sep at $51/service</a:t>
            </a:r>
          </a:p>
          <a:p>
            <a:r>
              <a:t>HYUNDAI PRESCOTT: 13.5%, −29 opcodes, −$4K Jan-Sep at $149/service (capped; raw $311/service)</a:t>
            </a:r>
          </a:p>
          <a:p>
            <a:r>
              <a:t>ACURA: 14.1%, −33 opcodes, −$2K Jan-Sep at $64/service</a:t>
            </a:r>
          </a:p>
          <a:p>
            <a:r>
              <a:t>SUBARU PRESCOTT: 14.9%, −1 opcodes, −$26 Jan-Sep at $34/service</a:t>
            </a:r>
          </a:p>
          <a:p>
            <a:r>
              <a:t>LR RENO: 16.9%, +28 opcodes, +$4K Jan-Sep at $149/service (capped; raw $647/service)</a:t>
            </a:r>
          </a:p>
          <a:p>
            <a:r>
              <a:t>LR LV: 16.9%, +70 opcodes, +$10K Jan-Sep at $149/service</a:t>
            </a:r>
          </a:p>
          <a:p>
            <a:r>
              <a:t>LR HENDERSON: 27.0%, +187 opcodes, +$23K Jan-Sep at $122/service</a:t>
            </a:r>
          </a:p>
          <a:p>
            <a:r>
              <a:t>HONDA HENDERSON: 18.4%, +769 opcodes, +$52K Jan-Sep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group gross per service $189.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−820 opcodes, −$113K Jan-Sep at $138/service</a:t>
            </a:r>
          </a:p>
          <a:p>
            <a:r>
              <a:t>TOYOTA SPOKANE: 7.0%, −513 opcodes, −$60K Jan-Sep at $117/service</a:t>
            </a:r>
          </a:p>
          <a:p>
            <a:r>
              <a:t>AUDI RENO: 1.9%, −283 opcodes, −$58K Jan-Sep at $206/service</a:t>
            </a:r>
          </a:p>
          <a:p>
            <a:r>
              <a:t>AUDI HENDERSON: 2.4%, −285 opcodes, −$56K Jan-Sep at $196/service</a:t>
            </a:r>
          </a:p>
          <a:p>
            <a:r>
              <a:t>HONDA FLAGSTAFF: 3.1%, −275 opcodes, −$51K Jan-Sep at $184/service</a:t>
            </a:r>
          </a:p>
          <a:p>
            <a:r>
              <a:t>CADILLAC: 4.6%, −284 opcodes, −$43K Jan-Sep at $150/service</a:t>
            </a:r>
          </a:p>
          <a:p>
            <a:r>
              <a:t>CDJR POST FALLS: 4.2%, −309 opcodes, −$39K Jan-Sep at $128/service</a:t>
            </a:r>
          </a:p>
          <a:p>
            <a:r>
              <a:t>TOYOTA FLAGSTAFF: 8.0%, −292 opcodes, −$36K Jan-Sep at $123/service</a:t>
            </a:r>
          </a:p>
          <a:p>
            <a:r>
              <a:t>TOYOTA PRESCOTT: 8.4%, −215 opcodes, −$24K Jan-Sep at $112/service</a:t>
            </a:r>
          </a:p>
          <a:p>
            <a:r>
              <a:t>HYUNDAI ST GEORGE: 4.7%, −176 opcodes, −$24K Jan-Sep at $134/service</a:t>
            </a:r>
          </a:p>
          <a:p>
            <a:r>
              <a:t>KIA ST GEORGE: 5.9%, −158 opcodes, −$19K Jan-Sep at $119/service</a:t>
            </a:r>
          </a:p>
          <a:p>
            <a:r>
              <a:t>KIA LV: 8.2%, −140 opcodes, −$17K Jan-Sep at $120/service</a:t>
            </a:r>
          </a:p>
          <a:p>
            <a:r>
              <a:t>CHEVY GMC BULLHEAD: 7.0%, −184 opcodes, −$16K Jan-Sep at $87/service</a:t>
            </a:r>
          </a:p>
          <a:p>
            <a:r>
              <a:t>GMC PRESCOTT: 6.0%, −122 opcodes, −$15K Jan-Sep at $127/service</a:t>
            </a:r>
          </a:p>
          <a:p>
            <a:r>
              <a:t>LR RENO: 7.2%, −39 opcodes, −$15K Jan-Sep at $377/service (capped; raw $1,380/service)</a:t>
            </a:r>
          </a:p>
          <a:p>
            <a:r>
              <a:t>MAZDA: 8.4%, −86 opcodes, −$13K Jan-Sep at $154/service</a:t>
            </a:r>
          </a:p>
          <a:p>
            <a:r>
              <a:t>LEXUS: 8.3%, −74 opcodes, −$11K Jan-Sep at $154/service</a:t>
            </a:r>
          </a:p>
          <a:p>
            <a:r>
              <a:t>VW ST GEORGE: 5.4%, −88 opcodes, −$10K Jan-Sep at $111/service</a:t>
            </a:r>
          </a:p>
          <a:p>
            <a:r>
              <a:t>LINCOLN: 7.5%, −65 opcodes, −$8K Jan-Sep at $126/service</a:t>
            </a:r>
          </a:p>
          <a:p>
            <a:r>
              <a:t>VW HENDERSON: 9.5%, −25 opcodes, −$3K Jan-Sep at $134/service</a:t>
            </a:r>
          </a:p>
          <a:p>
            <a:r>
              <a:t>HYUNDAI PRESCOTT: 9.6%, −7 opcodes, −$2K Jan-Sep at $354/service</a:t>
            </a:r>
          </a:p>
          <a:p>
            <a:r>
              <a:t>HONDA SPOKANE: 10.3%, +30 opcodes, +$4K Jan-Sep at $126/service</a:t>
            </a:r>
          </a:p>
          <a:p>
            <a:r>
              <a:t>TOYOTA HENDERSON: 10.0%, +36 opcodes, +$5K Jan-Sep at $141/service</a:t>
            </a:r>
          </a:p>
          <a:p>
            <a:r>
              <a:t>SUBARU LV: 10.1%, +20 opcodes, +$7K Jan-Sep at $333/service</a:t>
            </a:r>
          </a:p>
          <a:p>
            <a:r>
              <a:t>SUBARU PRESCOTT: 10.6%, +32 opcodes, +$12K Jan-Sep at $377/service (capped; raw $380/service)</a:t>
            </a:r>
          </a:p>
          <a:p>
            <a:r>
              <a:t>ACURA: 12.7%, +100 opcodes, +$15K Jan-Sep at $147/service</a:t>
            </a:r>
          </a:p>
          <a:p>
            <a:r>
              <a:t>SUBARU ST GEORGE: 10.7%, +42 opcodes, +$16K Jan-Sep at $377/service (capped; raw $489/service)</a:t>
            </a:r>
          </a:p>
          <a:p>
            <a:r>
              <a:t>NISSAN: 11.6%, +115 opcodes, +$18K Jan-Sep at $155/service</a:t>
            </a:r>
          </a:p>
          <a:p>
            <a:r>
              <a:t>VOLVO: 11.9%, +65 opcodes, +$24K Jan-Sep at $377/service (capped; raw $538/service)</a:t>
            </a:r>
          </a:p>
          <a:p>
            <a:r>
              <a:t>LR HENDERSON: 14.3%, +67 opcodes, +$25K Jan-Sep at $377/service (capped; raw $709/service)</a:t>
            </a:r>
          </a:p>
          <a:p>
            <a:r>
              <a:t>HONDA NORTH: 12.1%, +316 opcodes, +$51K Jan-Sep at $160/service</a:t>
            </a:r>
          </a:p>
          <a:p>
            <a:r>
              <a:t>LR LV: 20.6%, +372 opcodes, +$141K Jan-Sep at $377/service (capped; raw $424/service)</a:t>
            </a:r>
          </a:p>
          <a:p>
            <a:r>
              <a:t>HONDA HENDERSON: 15.5%, +1,260 opcodes, +$195K Jan-Sep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group gross per service $165. Rate = Jan-Sep closing %; green / red bar = top / bottom three by rate. Gray bar = the manufacturer doesn't call for fuel system service at that store (VOLVO, AUDI HENDERSON, VW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−439 opcodes, −$107K Jan-Sep at $243/service</a:t>
            </a:r>
          </a:p>
          <a:p>
            <a:r>
              <a:t>TOYOTA HENDERSON: 6.0%, −792 opcodes, −$96K Jan-Sep at $122/service</a:t>
            </a:r>
          </a:p>
          <a:p>
            <a:r>
              <a:t>TOYOTA FLAGSTAFF: 1.6%, −880 opcodes, −$82K Jan-Sep at $93/service</a:t>
            </a:r>
          </a:p>
          <a:p>
            <a:r>
              <a:t>VW HENDERSON: 0.0%, −386 opcodes, −$63K Jan-Sep at $165/service (group avg)</a:t>
            </a:r>
          </a:p>
          <a:p>
            <a:r>
              <a:t>KIA LV: 3.2%, −348 opcodes, −$57K Jan-Sep at $163/service</a:t>
            </a:r>
          </a:p>
          <a:p>
            <a:r>
              <a:t>HONDA SPOKANE: 3.2%, −382 opcodes, −$56K Jan-Sep at $147/service</a:t>
            </a:r>
          </a:p>
          <a:p>
            <a:r>
              <a:t>CHEVY GMC BULLHEAD: 2.7%, −300 opcodes, −$49K Jan-Sep at $163/service</a:t>
            </a:r>
          </a:p>
          <a:p>
            <a:r>
              <a:t>NISSAN: 4.1%, −231 opcodes, −$48K Jan-Sep at $206/service</a:t>
            </a:r>
          </a:p>
          <a:p>
            <a:r>
              <a:t>AUDI HENDERSON: 0.0%, −283 opcodes, −$47K Jan-Sep at $165/service (group avg)</a:t>
            </a:r>
          </a:p>
          <a:p>
            <a:r>
              <a:t>CDJR POST FALLS: 3.0%, −241 opcodes, −$46K Jan-Sep at $192/service</a:t>
            </a:r>
          </a:p>
          <a:p>
            <a:r>
              <a:t>HONDA FLAGSTAFF: 0.7%, −273 opcodes, −$45K Jan-Sep at $165/service (group avg)</a:t>
            </a:r>
          </a:p>
          <a:p>
            <a:r>
              <a:t>TOYOTA SPOKANE: 5.8%, −290 opcodes, −$42K Jan-Sep at $145/service</a:t>
            </a:r>
          </a:p>
          <a:p>
            <a:r>
              <a:t>VOLVO: 0.0%, −255 opcodes, −$42K Jan-Sep at $165/service (group avg)</a:t>
            </a:r>
          </a:p>
          <a:p>
            <a:r>
              <a:t>AUDI RENO: 0.8%, −234 opcodes, −$39K Jan-Sep at $165/service (group avg)</a:t>
            </a:r>
          </a:p>
          <a:p>
            <a:r>
              <a:t>CADILLAC: 5.1%, −128 opcodes, −$34K Jan-Sep at $269/service</a:t>
            </a:r>
          </a:p>
          <a:p>
            <a:r>
              <a:t>LR HENDERSON: 2.5%, −77 opcodes, −$25K Jan-Sep at $329/service (capped; raw $774/service)</a:t>
            </a:r>
          </a:p>
          <a:p>
            <a:r>
              <a:t>VW ST GEORGE: 2.7%, −92 opcodes, −$22K Jan-Sep at $236/service</a:t>
            </a:r>
          </a:p>
          <a:p>
            <a:r>
              <a:t>MAZDA: 5.2%, −131 opcodes, −$20K Jan-Sep at $150/service</a:t>
            </a:r>
          </a:p>
          <a:p>
            <a:r>
              <a:t>LEXUS: 4.2%, −147 opcodes, −$19K Jan-Sep at $128/service</a:t>
            </a:r>
          </a:p>
          <a:p>
            <a:r>
              <a:t>LR LV: 5.5%, −69 opcodes, −$18K Jan-Sep at $258/service</a:t>
            </a:r>
          </a:p>
          <a:p>
            <a:r>
              <a:t>GMC PRESCOTT: 3.6%, −120 opcodes, −$16K Jan-Sep at $133/service</a:t>
            </a:r>
          </a:p>
          <a:p>
            <a:r>
              <a:t>TOYOTA PRESCOTT: 6.4%, −140 opcodes, −$14K Jan-Sep at $101/service</a:t>
            </a:r>
          </a:p>
          <a:p>
            <a:r>
              <a:t>LR RENO: 4.5%, −42 opcodes, −$14K Jan-Sep at $329/service (capped; raw $1,631/service)</a:t>
            </a:r>
          </a:p>
          <a:p>
            <a:r>
              <a:t>HYUNDAI ST GEORGE: 5.8%, −54 opcodes, −$10K Jan-Sep at $176/service</a:t>
            </a:r>
          </a:p>
          <a:p>
            <a:r>
              <a:t>SUBARU LV: 7.0%, −59 opcodes, −$8K Jan-Sep at $130/service</a:t>
            </a:r>
          </a:p>
          <a:p>
            <a:r>
              <a:t>HYUNDAI PRESCOTT: 7.3%, −3 opcodes, −$905 Jan-Sep at $329/service (capped; raw $459/service)</a:t>
            </a:r>
          </a:p>
          <a:p>
            <a:r>
              <a:t>HONDA NORTH: 7.6%, +25 opcodes, +$3K Jan-Sep at $118/service</a:t>
            </a:r>
          </a:p>
          <a:p>
            <a:r>
              <a:t>LINCOLN: 8.2%, +19 opcodes, +$3K Jan-Sep at $175/service</a:t>
            </a:r>
          </a:p>
          <a:p>
            <a:r>
              <a:t>KIA ST GEORGE: 8.9%, +57 opcodes, +$9K Jan-Sep at $154/service</a:t>
            </a:r>
          </a:p>
          <a:p>
            <a:r>
              <a:t>ACURA: 9.3%, +69 opcodes, +$10K Jan-Sep at $145/service</a:t>
            </a:r>
          </a:p>
          <a:p>
            <a:r>
              <a:t>SUBARU PRESCOTT: 9.7%, +117 opcodes, +$39K Jan-Sep at $329/service (capped; raw $406/service)</a:t>
            </a:r>
          </a:p>
          <a:p>
            <a:r>
              <a:t>SUBARU ST GEORGE: 13.8%, +353 opcodes, +$54K Jan-Sep at $153/service</a:t>
            </a:r>
          </a:p>
          <a:p>
            <a:r>
              <a:t>HONDA HENDERSON: 12.0%, +1,024 opcodes, +$138K Jan-Sep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tire balance, brake fluid and fuel system service added together, every store: gross Jan-Sep 2026 above (+) or below (-) the four benchmarks, at the store's own gross per service. Below-benchmark services count against above-benchmark ones here.TOYOTA SPOKANE: −$406K Jan-Sep against the four benchmarks; under 4 of 4</a:t>
            </a:r>
          </a:p>
          <a:p>
            <a:r>
              <a:t>CHEVY LV: −$356K Jan-Sep against the four benchmarks; under 4 of 4</a:t>
            </a:r>
          </a:p>
          <a:p>
            <a:r>
              <a:t>TOYOTA FLAGSTAFF: −$267K Jan-Sep against the four benchmarks; under 4 of 4</a:t>
            </a:r>
          </a:p>
          <a:p>
            <a:r>
              <a:t>TOYOTA HENDERSON: −$227K Jan-Sep against the four benchmarks; under 3 of 4</a:t>
            </a:r>
          </a:p>
          <a:p>
            <a:r>
              <a:t>KIA LV: −$185K Jan-Sep against the four benchmarks; under 4 of 4</a:t>
            </a:r>
          </a:p>
          <a:p>
            <a:r>
              <a:t>CDJR POST FALLS: −$184K Jan-Sep against the four benchmarks; under 4 of 4</a:t>
            </a:r>
          </a:p>
          <a:p>
            <a:r>
              <a:t>TOYOTA PRESCOTT: −$175K Jan-Sep against the four benchmarks; under 4 of 4</a:t>
            </a:r>
          </a:p>
          <a:p>
            <a:r>
              <a:t>AUDI RENO: −$162K Jan-Sep against the four benchmarks; under 4 of 4</a:t>
            </a:r>
          </a:p>
          <a:p>
            <a:r>
              <a:t>HONDA FLAGSTAFF: −$150K Jan-Sep against the four benchmarks; under 4 of 4</a:t>
            </a:r>
          </a:p>
          <a:p>
            <a:r>
              <a:t>NISSAN: −$150K Jan-Sep against the four benchmarks; under 3 of 4</a:t>
            </a:r>
          </a:p>
          <a:p>
            <a:r>
              <a:t>HONDA SPOKANE: −$140K Jan-Sep against the four benchmarks; under 3 of 4</a:t>
            </a:r>
          </a:p>
          <a:p>
            <a:r>
              <a:t>LEXUS: −$105K Jan-Sep against the four benchmarks; under 4 of 4</a:t>
            </a:r>
          </a:p>
          <a:p>
            <a:r>
              <a:t>VW HENDERSON: −$105K Jan-Sep against the four benchmarks; under 4 of 4</a:t>
            </a:r>
          </a:p>
          <a:p>
            <a:r>
              <a:t>CHEVY GMC BULLHEAD: −$100K Jan-Sep against the four benchmarks; under 4 of 4</a:t>
            </a:r>
          </a:p>
          <a:p>
            <a:r>
              <a:t>CADILLAC: −$94K Jan-Sep against the four benchmarks; under 4 of 4</a:t>
            </a:r>
          </a:p>
          <a:p>
            <a:r>
              <a:t>VW ST GEORGE: −$66K Jan-Sep against the four benchmarks; under 4 of 4</a:t>
            </a:r>
          </a:p>
          <a:p>
            <a:r>
              <a:t>HYUNDAI ST GEORGE: −$61K Jan-Sep against the four benchmarks; under 4 of 4</a:t>
            </a:r>
          </a:p>
          <a:p>
            <a:r>
              <a:t>GMC PRESCOTT: −$60K Jan-Sep against the four benchmarks; under 4 of 4</a:t>
            </a:r>
          </a:p>
          <a:p>
            <a:r>
              <a:t>SUBARU LV: −$59K Jan-Sep against the four benchmarks; under 3 of 4</a:t>
            </a:r>
          </a:p>
          <a:p>
            <a:r>
              <a:t>KIA ST GEORGE: −$53K Jan-Sep against the four benchmarks; under 3 of 4</a:t>
            </a:r>
          </a:p>
          <a:p>
            <a:r>
              <a:t>LINCOLN: −$48K Jan-Sep against the four benchmarks; under 3 of 4</a:t>
            </a:r>
          </a:p>
          <a:p>
            <a:r>
              <a:t>SUBARU ST GEORGE: −$41K Jan-Sep against the four benchmarks; under 2 of 4</a:t>
            </a:r>
          </a:p>
          <a:p>
            <a:r>
              <a:t>LR RENO: −$32K Jan-Sep against the four benchmarks; under 3 of 4</a:t>
            </a:r>
          </a:p>
          <a:p>
            <a:r>
              <a:t>VOLVO: −$29K Jan-Sep against the four benchmarks; under 3 of 4</a:t>
            </a:r>
          </a:p>
          <a:p>
            <a:r>
              <a:t>MAZDA: −$28K Jan-Sep against the four benchmarks; under 3 of 4</a:t>
            </a:r>
          </a:p>
          <a:p>
            <a:r>
              <a:t>AUDI HENDERSON: −$22K Jan-Sep against the four benchmarks; under 3 of 4</a:t>
            </a:r>
          </a:p>
          <a:p>
            <a:r>
              <a:t>HYUNDAI PRESCOTT: +$23K Jan-Sep against the four benchmarks; under 3 of 4</a:t>
            </a:r>
          </a:p>
          <a:p>
            <a:r>
              <a:t>ACURA: +$33K Jan-Sep against the four benchmarks; under 1 of 4</a:t>
            </a:r>
          </a:p>
          <a:p>
            <a:r>
              <a:t>SUBARU PRESCOTT: +$41K Jan-Sep against the four benchmarks; under 2 of 4</a:t>
            </a:r>
          </a:p>
          <a:p>
            <a:r>
              <a:t>HONDA NORTH: +$45K Jan-Sep against the four benchmarks; under 1 of 4</a:t>
            </a:r>
          </a:p>
          <a:p>
            <a:r>
              <a:t>LR HENDERSON: +$54K Jan-Sep against the four benchmarks; under 1 of 4</a:t>
            </a:r>
          </a:p>
          <a:p>
            <a:r>
              <a:t>LR LV: +$151K Jan-Sep against the four benchmarks; under 1 of 4</a:t>
            </a:r>
          </a:p>
          <a:p>
            <a:r>
              <a:t>HONDA HENDERSON: +$557K Jan-Sep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a:t>
            </a:r>
          </a:p>
          <a:p>
            <a:r>
              <a:t>Talk track: a lot of stores see internal as service making money off sales. It isn't: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a:t>
            </a:r>
          </a:p>
          <a:p>
            <a:r>
              <a:t>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(−2.7 pts). At or above customer pay: Cadillac, Chevy GMC Bullhead, GMC Prescott, Hyundai Prescott, Hyundai St George, Kia LV, Kia St George and VW St George.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(−4.2 pts). At or above customer pay: Chevy LV, Honda Henderson, Subaru Prescott, Toyota Henderson and Volvo.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Period: pay periods Dec 25, 2025 to Oct 9, 2026, matched by tech number, all pay types; labelled Jan-Sep 2026 YTD on the slide (Noah, Oct 26: closest the pay periods allow).</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Rate increases: YTD RWR Financials 2026 (warranty rate submission vendor), "YTD revenue secured" = added gross profit from approved increases (labor $1,661,368, parts $2,126,832); 14 stores have no approval yet. Rates: Qlik - Closed Repair Orders, warranty pay type by close month; ELR = warranty labor sale / hours sold; parts margin = warranty parts gross / parts sale. 2025 January-December, 2026 January-September. Same-store.Talk track (Noah, Oct 24-25): rate increases are new money on every warranty claim, and they show up as a higher warranty ELR and parts margin. The factory notices higher rates too: more money in means more scrutiny, so documentation and process on every claim is how we keep what we are owed.</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 vs Jan-Sep 2025; 2025 shown January-December. Store rows reconcile to the group to the cent,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$265 (Diesel/Corvette)</a:t>
            </a:r>
          </a:p>
          <a:p>
            <a:r>
              <a:t>AUDI HENDERSON: premium $399 (Lambo Non-Grid)</a:t>
            </a:r>
          </a:p>
          <a:p>
            <a:r>
              <a:t>VW HENDERSON: premium $210 (EV)</a:t>
            </a:r>
          </a:p>
          <a:p>
            <a:r>
              <a:t>CHEVY GMC BULLHEAD: premium $200 (Non-Standard Grid)</a:t>
            </a:r>
          </a:p>
          <a:p>
            <a:r>
              <a:t>SUBARU ST GEORGE: premium $210 (EV)</a:t>
            </a:r>
          </a:p>
          <a:p>
            <a:r>
              <a:t>HONDA FLAGSTAFF: premium $215 (EV)</a:t>
            </a:r>
          </a:p>
          <a:p>
            <a:r>
              <a:t>GMC PRESCOTT: premium $230 (EV)</a:t>
            </a:r>
          </a:p>
          <a:p>
            <a:r>
              <a:t>KIA ST GEORGE: premium $195 (EV)</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 / door $236 = 103.4%</a:t>
            </a:r>
          </a:p>
          <a:p>
            <a:r>
              <a:t>VOLVO: ELR $225 / door $250 = 90.2%</a:t>
            </a:r>
          </a:p>
          <a:p>
            <a:r>
              <a:t>CHEVY GMC BULLHEAD: ELR $162 / door $180 = 89.9%</a:t>
            </a:r>
          </a:p>
          <a:p>
            <a:r>
              <a:t>HYUNDAI ST GEORGE: ELR $166 / door $185 = 89.7%</a:t>
            </a:r>
          </a:p>
          <a:p>
            <a:r>
              <a:t>ACURA: ELR $199 / door $225 = 88.5%</a:t>
            </a:r>
          </a:p>
          <a:p>
            <a:r>
              <a:t>LR RENO: ELR $239 / door $275 = 86.7%</a:t>
            </a:r>
          </a:p>
          <a:p>
            <a:r>
              <a:t>HONDA FLAGSTAFF: ELR $160 / door $185 = 86.3%</a:t>
            </a:r>
          </a:p>
          <a:p>
            <a:r>
              <a:t>HONDA SPOKANE: ELR $148 / door $179 = 82.6%</a:t>
            </a:r>
          </a:p>
          <a:p>
            <a:r>
              <a:t>LEXUS: ELR $187 / door $230 = 81.5%</a:t>
            </a:r>
          </a:p>
          <a:p>
            <a:r>
              <a:t>CDJR POST FALLS: ELR $162 / door $200 = 80.9%</a:t>
            </a:r>
          </a:p>
          <a:p>
            <a:r>
              <a:t>TOYOTA PRESCOTT: ELR $156 / door $195 = 79.8%</a:t>
            </a:r>
          </a:p>
          <a:p>
            <a:r>
              <a:t>LR HENDERSON: ELR $234 / door $295 = 79.5%</a:t>
            </a:r>
          </a:p>
          <a:p>
            <a:r>
              <a:t>KIA ST GEORGE: ELR $146 / door $185 = 78.9%</a:t>
            </a:r>
          </a:p>
          <a:p>
            <a:r>
              <a:t>MAZDA: ELR $166 / door $210 = 78.9%</a:t>
            </a:r>
          </a:p>
          <a:p>
            <a:r>
              <a:t>VW HENDERSON: ELR $161 / door $205 = 78.5%</a:t>
            </a:r>
          </a:p>
          <a:p>
            <a:r>
              <a:t>VW ST GEORGE: ELR $142 / door $185 = 76.7%</a:t>
            </a:r>
          </a:p>
          <a:p>
            <a:r>
              <a:t>AUDI HENDERSON: ELR $267 / door $349 = 76.4%</a:t>
            </a:r>
          </a:p>
          <a:p>
            <a:r>
              <a:t>LR LV: ELR $234 / door $310 = 75.4%</a:t>
            </a:r>
          </a:p>
          <a:p>
            <a:r>
              <a:t>SUBARU LV: ELR $162 / door $215 = 75.2%</a:t>
            </a:r>
          </a:p>
          <a:p>
            <a:r>
              <a:t>NISSAN: ELR $180 / door $240 = 75.1%</a:t>
            </a:r>
          </a:p>
          <a:p>
            <a:r>
              <a:t>TOYOTA FLAGSTAFF: ELR $143 / door $190 = 75.0%</a:t>
            </a:r>
          </a:p>
          <a:p>
            <a:r>
              <a:t>SUBARU ST GEORGE: ELR $137 / door $185 = 73.8%</a:t>
            </a:r>
          </a:p>
          <a:p>
            <a:r>
              <a:t>TOYOTA HENDERSON: ELR $155 / door $211 = 73.1%</a:t>
            </a:r>
          </a:p>
          <a:p>
            <a:r>
              <a:t>HONDA HENDERSON: ELR $153 / door $212 = 72.4%</a:t>
            </a:r>
          </a:p>
          <a:p>
            <a:r>
              <a:t>HONDA NORTH: ELR $150 / door $212 = 70.6%</a:t>
            </a:r>
          </a:p>
          <a:p>
            <a:r>
              <a:t>KIA LV: ELR $151 / door $220 = 68.5%</a:t>
            </a:r>
          </a:p>
          <a:p>
            <a:r>
              <a:t>LINCOLN: ELR $167 / door $245 = 68.2%</a:t>
            </a:r>
          </a:p>
          <a:p>
            <a:r>
              <a:t>TOYOTA SPOKANE: ELR $125 / door $185 = 67.5%</a:t>
            </a:r>
          </a:p>
          <a:p>
            <a:r>
              <a:t>GMC PRESCOTT: ELR $147 / door $220 = 66.7%</a:t>
            </a:r>
          </a:p>
          <a:p>
            <a:r>
              <a:t>SUBARU PRESCOTT: ELR $140 / door $210 = 66.5%</a:t>
            </a:r>
          </a:p>
          <a:p>
            <a:r>
              <a:t>CHEVY LV: ELR $146 / door $225 = 65.0%</a:t>
            </a:r>
          </a:p>
          <a:p>
            <a:r>
              <a:t>HYUNDAI PRESCOTT: ELR $136 / door $210 = 64.8%</a:t>
            </a:r>
          </a:p>
          <a:p>
            <a:r>
              <a:t>CADILLAC: ELR $175 / door $285 = 61.5%</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chart" Target="../charts/chart12.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xml"/><Relationship Id="rId3" Type="http://schemas.openxmlformats.org/officeDocument/2006/relationships/chart" Target="../charts/chart14.xml"/><Relationship Id="rId4" Type="http://schemas.openxmlformats.org/officeDocument/2006/relationships/chart" Target="../charts/chart15.xml"/><Relationship Id="rId5" Type="http://schemas.openxmlformats.org/officeDocument/2006/relationships/chart" Target="../charts/chart16.xml"/><Relationship Id="rId6" Type="http://schemas.openxmlformats.org/officeDocument/2006/relationships/chart" Target="../charts/chart17.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xml"/><Relationship Id="rId3" Type="http://schemas.openxmlformats.org/officeDocument/2006/relationships/chart" Target="../charts/chart19.xml"/><Relationship Id="rId4" Type="http://schemas.openxmlformats.org/officeDocument/2006/relationships/chart" Target="../charts/chart20.xml"/><Relationship Id="rId5" Type="http://schemas.openxmlformats.org/officeDocument/2006/relationships/chart" Target="../charts/chart21.xml"/><Relationship Id="rId6" Type="http://schemas.openxmlformats.org/officeDocument/2006/relationships/chart" Target="../charts/chart22.xml"/><Relationship Id="rId7" Type="http://schemas.openxmlformats.org/officeDocument/2006/relationships/chart" Target="../charts/chart23.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xml"/><Relationship Id="rId3" Type="http://schemas.openxmlformats.org/officeDocument/2006/relationships/chart" Target="../charts/chart25.xml"/><Relationship Id="rId4" Type="http://schemas.openxmlformats.org/officeDocument/2006/relationships/chart" Target="../charts/chart26.xml"/><Relationship Id="rId5" Type="http://schemas.openxmlformats.org/officeDocument/2006/relationships/chart" Target="../charts/chart27.xml"/><Relationship Id="rId6" Type="http://schemas.openxmlformats.org/officeDocument/2006/relationships/chart" Target="../charts/chart28.xml"/><Relationship Id="rId7" Type="http://schemas.openxmlformats.org/officeDocument/2006/relationships/chart" Target="../charts/chart29.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xml"/><Relationship Id="rId3" Type="http://schemas.openxmlformats.org/officeDocument/2006/relationships/chart" Target="../charts/chart31.xml"/><Relationship Id="rId4" Type="http://schemas.openxmlformats.org/officeDocument/2006/relationships/chart" Target="../charts/chart32.xml"/><Relationship Id="rId5" Type="http://schemas.openxmlformats.org/officeDocument/2006/relationships/chart" Target="../charts/chart33.xml"/><Relationship Id="rId6" Type="http://schemas.openxmlformats.org/officeDocument/2006/relationships/chart" Target="../charts/chart34.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xml"/><Relationship Id="rId3" Type="http://schemas.openxmlformats.org/officeDocument/2006/relationships/chart" Target="../charts/chart36.xml"/><Relationship Id="rId4" Type="http://schemas.openxmlformats.org/officeDocument/2006/relationships/chart" Target="../charts/chart37.xml"/><Relationship Id="rId5" Type="http://schemas.openxmlformats.org/officeDocument/2006/relationships/chart" Target="../charts/chart38.xml"/><Relationship Id="rId6" Type="http://schemas.openxmlformats.org/officeDocument/2006/relationships/chart" Target="../charts/chart39.xml"/><Relationship Id="rId7" Type="http://schemas.openxmlformats.org/officeDocument/2006/relationships/chart" Target="../charts/chart40.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xml"/><Relationship Id="rId3" Type="http://schemas.openxmlformats.org/officeDocument/2006/relationships/chart" Target="../charts/chart42.xml"/><Relationship Id="rId4" Type="http://schemas.openxmlformats.org/officeDocument/2006/relationships/chart" Target="../charts/chart43.xml"/><Relationship Id="rId5" Type="http://schemas.openxmlformats.org/officeDocument/2006/relationships/chart" Target="../charts/chart44.xml"/><Relationship Id="rId6" Type="http://schemas.openxmlformats.org/officeDocument/2006/relationships/chart" Target="../charts/chart45.xml"/><Relationship Id="rId7" Type="http://schemas.openxmlformats.org/officeDocument/2006/relationships/chart" Target="../charts/chart46.xml"/><Relationship Id="rId8"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xml"/><Relationship Id="rId3" Type="http://schemas.openxmlformats.org/officeDocument/2006/relationships/chart" Target="../charts/chart48.xml"/><Relationship Id="rId4" Type="http://schemas.openxmlformats.org/officeDocument/2006/relationships/chart" Target="../charts/chart49.xml"/><Relationship Id="rId5" Type="http://schemas.openxmlformats.org/officeDocument/2006/relationships/chart" Target="../charts/chart50.xml"/><Relationship Id="rId6" Type="http://schemas.openxmlformats.org/officeDocument/2006/relationships/chart" Target="../charts/chart51.xml"/><Relationship Id="rId7" Type="http://schemas.openxmlformats.org/officeDocument/2006/relationships/chart" Target="../charts/chart52.xml"/><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chart" Target="../charts/chart57.xml"/><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chart" Target="../charts/chart72.xml"/><Relationship Id="rId7" Type="http://schemas.openxmlformats.org/officeDocument/2006/relationships/chart" Target="../charts/chart73.xml"/><Relationship Id="rId8" Type="http://schemas.openxmlformats.org/officeDocument/2006/relationships/chart" Target="../charts/chart74.xml"/><Relationship Id="rId9" Type="http://schemas.openxmlformats.org/officeDocument/2006/relationships/chart" Target="../charts/chart75.xml"/><Relationship Id="rId10"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chart" Target="../charts/chart91.xml"/><Relationship Id="rId7" Type="http://schemas.openxmlformats.org/officeDocument/2006/relationships/chart" Target="../charts/chart92.xml"/><Relationship Id="rId8"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3.xml"/><Relationship Id="rId3" Type="http://schemas.openxmlformats.org/officeDocument/2006/relationships/chart" Target="../charts/chart94.xml"/><Relationship Id="rId4" Type="http://schemas.openxmlformats.org/officeDocument/2006/relationships/chart" Target="../charts/chart95.xml"/><Relationship Id="rId5" Type="http://schemas.openxmlformats.org/officeDocument/2006/relationships/chart" Target="../charts/chart96.xml"/><Relationship Id="rId6" Type="http://schemas.openxmlformats.org/officeDocument/2006/relationships/chart" Target="../charts/chart97.xml"/><Relationship Id="rId7" Type="http://schemas.openxmlformats.org/officeDocument/2006/relationships/chart" Target="../charts/chart98.xml"/><Relationship Id="rId8"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9.xml"/><Relationship Id="rId3" Type="http://schemas.openxmlformats.org/officeDocument/2006/relationships/chart" Target="../charts/chart100.xml"/><Relationship Id="rId4" Type="http://schemas.openxmlformats.org/officeDocument/2006/relationships/chart" Target="../charts/chart101.xml"/><Relationship Id="rId5" Type="http://schemas.openxmlformats.org/officeDocument/2006/relationships/chart" Target="../charts/chart102.xml"/><Relationship Id="rId6" Type="http://schemas.openxmlformats.org/officeDocument/2006/relationships/chart" Target="../charts/chart103.xml"/><Relationship Id="rId7" Type="http://schemas.openxmlformats.org/officeDocument/2006/relationships/chart" Target="../charts/chart104.xml"/><Relationship Id="rId8"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chart" Target="../charts/chart109.xml"/><Relationship Id="rId7" Type="http://schemas.openxmlformats.org/officeDocument/2006/relationships/chart" Target="../charts/chart110.xml"/><Relationship Id="rId8"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chart" Target="../charts/chart122.xml"/><Relationship Id="rId8"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chart" Target="../charts/chart127.xml"/><Relationship Id="rId7"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8.xml"/><Relationship Id="rId3" Type="http://schemas.openxmlformats.org/officeDocument/2006/relationships/chart" Target="../charts/chart129.xml"/><Relationship Id="rId4" Type="http://schemas.openxmlformats.org/officeDocument/2006/relationships/chart" Target="../charts/chart130.xml"/><Relationship Id="rId5" Type="http://schemas.openxmlformats.org/officeDocument/2006/relationships/chart" Target="../charts/chart131.xml"/><Relationship Id="rId6" Type="http://schemas.openxmlformats.org/officeDocument/2006/relationships/chart" Target="../charts/chart132.xml"/><Relationship Id="rId7"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3.xml"/><Relationship Id="rId3" Type="http://schemas.openxmlformats.org/officeDocument/2006/relationships/chart" Target="../charts/chart134.xml"/><Relationship Id="rId4"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3.xml"/><Relationship Id="rId3" Type="http://schemas.openxmlformats.org/officeDocument/2006/relationships/chart" Target="../charts/chart154.xml"/><Relationship Id="rId4" Type="http://schemas.openxmlformats.org/officeDocument/2006/relationships/chart" Target="../charts/chart155.xml"/><Relationship Id="rId5" Type="http://schemas.openxmlformats.org/officeDocument/2006/relationships/chart" Target="../charts/chart156.xml"/><Relationship Id="rId6" Type="http://schemas.openxmlformats.org/officeDocument/2006/relationships/chart" Target="../charts/chart157.xml"/><Relationship Id="rId7" Type="http://schemas.openxmlformats.org/officeDocument/2006/relationships/chart" Target="../charts/chart158.xml"/><Relationship Id="rId8"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9.xml"/><Relationship Id="rId3" Type="http://schemas.openxmlformats.org/officeDocument/2006/relationships/chart" Target="../charts/chart160.xml"/><Relationship Id="rId4" Type="http://schemas.openxmlformats.org/officeDocument/2006/relationships/chart" Target="../charts/chart161.xml"/><Relationship Id="rId5" Type="http://schemas.openxmlformats.org/officeDocument/2006/relationships/chart" Target="../charts/chart162.xml"/><Relationship Id="rId6" Type="http://schemas.openxmlformats.org/officeDocument/2006/relationships/chart" Target="../charts/chart163.xml"/><Relationship Id="rId7" Type="http://schemas.openxmlformats.org/officeDocument/2006/relationships/chart" Target="../charts/chart164.xml"/><Relationship Id="rId8" Type="http://schemas.openxmlformats.org/officeDocument/2006/relationships/chart" Target="../charts/chart165.xml"/><Relationship Id="rId9" Type="http://schemas.openxmlformats.org/officeDocument/2006/relationships/chart" Target="../charts/chart166.xml"/><Relationship Id="rId10" Type="http://schemas.openxmlformats.org/officeDocument/2006/relationships/chart" Target="../charts/chart167.xml"/><Relationship Id="rId11" Type="http://schemas.openxmlformats.org/officeDocument/2006/relationships/chart" Target="../charts/chart168.xml"/><Relationship Id="rId1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chart" Target="../charts/chart175.xml"/><Relationship Id="rId9" Type="http://schemas.openxmlformats.org/officeDocument/2006/relationships/chart" Target="../charts/chart176.xml"/><Relationship Id="rId10" Type="http://schemas.openxmlformats.org/officeDocument/2006/relationships/chart" Target="../charts/chart177.xml"/><Relationship Id="rId11" Type="http://schemas.openxmlformats.org/officeDocument/2006/relationships/chart" Target="../charts/chart178.xml"/><Relationship Id="rId1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chart" Target="../charts/chart185.xml"/><Relationship Id="rId9" Type="http://schemas.openxmlformats.org/officeDocument/2006/relationships/chart" Target="../charts/chart186.xml"/><Relationship Id="rId10" Type="http://schemas.openxmlformats.org/officeDocument/2006/relationships/chart" Target="../charts/chart187.xml"/><Relationship Id="rId11" Type="http://schemas.openxmlformats.org/officeDocument/2006/relationships/chart" Target="../charts/chart188.xml"/><Relationship Id="rId1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9.xml"/><Relationship Id="rId3" Type="http://schemas.openxmlformats.org/officeDocument/2006/relationships/chart" Target="../charts/chart190.xml"/><Relationship Id="rId4" Type="http://schemas.openxmlformats.org/officeDocument/2006/relationships/chart" Target="../charts/chart191.xml"/><Relationship Id="rId5" Type="http://schemas.openxmlformats.org/officeDocument/2006/relationships/chart" Target="../charts/chart192.xml"/><Relationship Id="rId6" Type="http://schemas.openxmlformats.org/officeDocument/2006/relationships/chart" Target="../charts/chart193.xml"/><Relationship Id="rId7" Type="http://schemas.openxmlformats.org/officeDocument/2006/relationships/chart" Target="../charts/chart194.xml"/><Relationship Id="rId8" Type="http://schemas.openxmlformats.org/officeDocument/2006/relationships/chart" Target="../charts/chart195.xml"/><Relationship Id="rId9" Type="http://schemas.openxmlformats.org/officeDocument/2006/relationships/chart" Target="../charts/chart196.xml"/><Relationship Id="rId10" Type="http://schemas.openxmlformats.org/officeDocument/2006/relationships/chart" Target="../charts/chart197.xml"/><Relationship Id="rId11" Type="http://schemas.openxmlformats.org/officeDocument/2006/relationships/chart" Target="../charts/chart198.xml"/><Relationship Id="rId1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9.xml"/><Relationship Id="rId3" Type="http://schemas.openxmlformats.org/officeDocument/2006/relationships/chart" Target="../charts/chart200.xml"/><Relationship Id="rId4" Type="http://schemas.openxmlformats.org/officeDocument/2006/relationships/chart" Target="../charts/chart201.xml"/><Relationship Id="rId5" Type="http://schemas.openxmlformats.org/officeDocument/2006/relationships/chart" Target="../charts/chart202.xml"/><Relationship Id="rId6" Type="http://schemas.openxmlformats.org/officeDocument/2006/relationships/chart" Target="../charts/chart203.xml"/><Relationship Id="rId7" Type="http://schemas.openxmlformats.org/officeDocument/2006/relationships/chart" Target="../charts/chart204.xml"/><Relationship Id="rId8" Type="http://schemas.openxmlformats.org/officeDocument/2006/relationships/chart" Target="../charts/chart205.xml"/><Relationship Id="rId9" Type="http://schemas.openxmlformats.org/officeDocument/2006/relationships/chart" Target="../charts/chart206.xml"/><Relationship Id="rId10" Type="http://schemas.openxmlformats.org/officeDocument/2006/relationships/chart" Target="../charts/chart207.xml"/><Relationship Id="rId11" Type="http://schemas.openxmlformats.org/officeDocument/2006/relationships/chart" Target="../charts/chart208.xml"/><Relationship Id="rId1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9.xml"/><Relationship Id="rId3" Type="http://schemas.openxmlformats.org/officeDocument/2006/relationships/chart" Target="../charts/chart210.xml"/><Relationship Id="rId4" Type="http://schemas.openxmlformats.org/officeDocument/2006/relationships/chart" Target="../charts/chart211.xml"/><Relationship Id="rId5" Type="http://schemas.openxmlformats.org/officeDocument/2006/relationships/chart" Target="../charts/chart212.xml"/><Relationship Id="rId6" Type="http://schemas.openxmlformats.org/officeDocument/2006/relationships/chart" Target="../charts/chart213.xml"/><Relationship Id="rId7" Type="http://schemas.openxmlformats.org/officeDocument/2006/relationships/chart" Target="../charts/chart214.xml"/><Relationship Id="rId8" Type="http://schemas.openxmlformats.org/officeDocument/2006/relationships/chart" Target="../charts/chart215.xml"/><Relationship Id="rId9" Type="http://schemas.openxmlformats.org/officeDocument/2006/relationships/chart" Target="../charts/chart216.xml"/><Relationship Id="rId10" Type="http://schemas.openxmlformats.org/officeDocument/2006/relationships/chart" Target="../charts/chart217.xml"/><Relationship Id="rId11" Type="http://schemas.openxmlformats.org/officeDocument/2006/relationships/chart" Target="../charts/chart218.xml"/><Relationship Id="rId1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9.xml"/><Relationship Id="rId3" Type="http://schemas.openxmlformats.org/officeDocument/2006/relationships/chart" Target="../charts/chart220.xml"/><Relationship Id="rId4" Type="http://schemas.openxmlformats.org/officeDocument/2006/relationships/chart" Target="../charts/chart221.xml"/><Relationship Id="rId5" Type="http://schemas.openxmlformats.org/officeDocument/2006/relationships/chart" Target="../charts/chart222.xml"/><Relationship Id="rId6" Type="http://schemas.openxmlformats.org/officeDocument/2006/relationships/chart" Target="../charts/chart223.xml"/><Relationship Id="rId7"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4.xml"/><Relationship Id="rId3" Type="http://schemas.openxmlformats.org/officeDocument/2006/relationships/chart" Target="../charts/chart225.xml"/><Relationship Id="rId4" Type="http://schemas.openxmlformats.org/officeDocument/2006/relationships/chart" Target="../charts/chart226.xml"/><Relationship Id="rId5" Type="http://schemas.openxmlformats.org/officeDocument/2006/relationships/chart" Target="../charts/chart227.xml"/><Relationship Id="rId6" Type="http://schemas.openxmlformats.org/officeDocument/2006/relationships/chart" Target="../charts/chart228.xml"/><Relationship Id="rId7"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9.xml"/><Relationship Id="rId3" Type="http://schemas.openxmlformats.org/officeDocument/2006/relationships/chart" Target="../charts/chart230.xml"/><Relationship Id="rId4" Type="http://schemas.openxmlformats.org/officeDocument/2006/relationships/chart" Target="../charts/chart231.xml"/><Relationship Id="rId5" Type="http://schemas.openxmlformats.org/officeDocument/2006/relationships/chart" Target="../charts/chart232.xml"/><Relationship Id="rId6" Type="http://schemas.openxmlformats.org/officeDocument/2006/relationships/chart" Target="../charts/chart233.xml"/><Relationship Id="rId7"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4.xml"/><Relationship Id="rId3" Type="http://schemas.openxmlformats.org/officeDocument/2006/relationships/chart" Target="../charts/chart235.xml"/><Relationship Id="rId4" Type="http://schemas.openxmlformats.org/officeDocument/2006/relationships/chart" Target="../charts/chart236.xml"/><Relationship Id="rId5" Type="http://schemas.openxmlformats.org/officeDocument/2006/relationships/chart" Target="../charts/chart237.xml"/><Relationship Id="rId6" Type="http://schemas.openxmlformats.org/officeDocument/2006/relationships/chart" Target="../charts/chart238.xml"/><Relationship Id="rId7"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9.xml"/><Relationship Id="rId3" Type="http://schemas.openxmlformats.org/officeDocument/2006/relationships/chart" Target="../charts/chart240.xml"/><Relationship Id="rId4" Type="http://schemas.openxmlformats.org/officeDocument/2006/relationships/chart" Target="../charts/chart241.xml"/><Relationship Id="rId5" Type="http://schemas.openxmlformats.org/officeDocument/2006/relationships/chart" Target="../charts/chart242.xml"/><Relationship Id="rId6" Type="http://schemas.openxmlformats.org/officeDocument/2006/relationships/chart" Target="../charts/chart243.xml"/><Relationship Id="rId7"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4.xml"/><Relationship Id="rId3" Type="http://schemas.openxmlformats.org/officeDocument/2006/relationships/chart" Target="../charts/chart245.xml"/><Relationship Id="rId4" Type="http://schemas.openxmlformats.org/officeDocument/2006/relationships/chart" Target="../charts/chart246.xml"/><Relationship Id="rId5" Type="http://schemas.openxmlformats.org/officeDocument/2006/relationships/chart" Target="../charts/chart247.xml"/><Relationship Id="rId6" Type="http://schemas.openxmlformats.org/officeDocument/2006/relationships/chart" Target="../charts/chart248.xml"/><Relationship Id="rId7"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9.xml"/><Relationship Id="rId3" Type="http://schemas.openxmlformats.org/officeDocument/2006/relationships/chart" Target="../charts/chart250.xml"/><Relationship Id="rId4" Type="http://schemas.openxmlformats.org/officeDocument/2006/relationships/chart" Target="../charts/chart251.xml"/><Relationship Id="rId5" Type="http://schemas.openxmlformats.org/officeDocument/2006/relationships/chart" Target="../charts/chart252.xml"/><Relationship Id="rId6" Type="http://schemas.openxmlformats.org/officeDocument/2006/relationships/chart" Target="../charts/chart253.xml"/><Relationship Id="rId7"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4.xml"/><Relationship Id="rId3" Type="http://schemas.openxmlformats.org/officeDocument/2006/relationships/chart" Target="../charts/chart255.xml"/><Relationship Id="rId4" Type="http://schemas.openxmlformats.org/officeDocument/2006/relationships/chart" Target="../charts/chart256.xml"/><Relationship Id="rId5" Type="http://schemas.openxmlformats.org/officeDocument/2006/relationships/chart" Target="../charts/chart257.xml"/><Relationship Id="rId6" Type="http://schemas.openxmlformats.org/officeDocument/2006/relationships/chart" Target="../charts/chart258.xml"/><Relationship Id="rId7"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9.xml"/><Relationship Id="rId3" Type="http://schemas.openxmlformats.org/officeDocument/2006/relationships/chart" Target="../charts/chart260.xml"/><Relationship Id="rId4" Type="http://schemas.openxmlformats.org/officeDocument/2006/relationships/chart" Target="../charts/chart261.xml"/><Relationship Id="rId5" Type="http://schemas.openxmlformats.org/officeDocument/2006/relationships/chart" Target="../charts/chart262.xml"/><Relationship Id="rId6" Type="http://schemas.openxmlformats.org/officeDocument/2006/relationships/chart" Target="../charts/chart263.xml"/><Relationship Id="rId7"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Warranty rates, margins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what we commit to.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service and parts keep after paying their own people, building, systems and supplies.</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best September at +$1.61M.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41969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154907"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7588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86722"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60690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351233"/>
            <a:ext cx="529462"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77227"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3831024"/>
            <a:ext cx="42403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421495"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310815"/>
            <a:ext cx="31069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550711"/>
            <a:ext cx="30809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4790606"/>
            <a:ext cx="27993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273031"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270397"/>
            <a:ext cx="272418"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510293"/>
            <a:ext cx="261785"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25469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1860"/>
            <a:ext cx="230085"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51755"/>
            <a:ext cx="210561"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186954"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631546"/>
            <a:ext cx="16468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871442"/>
            <a:ext cx="163331"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111337"/>
            <a:ext cx="158180"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351233"/>
            <a:ext cx="1172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11120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3831024"/>
            <a:ext cx="99951"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070920"/>
            <a:ext cx="3002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2519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22055"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4790606"/>
            <a:ext cx="1856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030502"/>
            <a:ext cx="18288"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288" cy="110352"/>
          </a:xfrm>
          <a:prstGeom prst="rect">
            <a:avLst/>
          </a:prstGeom>
          <a:solidFill>
            <a:srgbClr val="C2352F"/>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510293"/>
            <a:ext cx="31883" cy="110352"/>
          </a:xfrm>
          <a:prstGeom prst="rect">
            <a:avLst/>
          </a:prstGeom>
          <a:solidFill>
            <a:srgbClr val="C2352F"/>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615696"/>
          </a:xfrm>
          <a:prstGeom prst="rect">
            <a:avLst/>
          </a:prstGeom>
          <a:solidFill>
            <a:srgbClr val="EDF4FA"/>
          </a:solidFill>
          <a:ln/>
        </p:spPr>
      </p:sp>
      <p:sp>
        <p:nvSpPr>
          <p:cNvPr id="145" name="Text 14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$7.83M of the group's $50.45M. 2 stores are losing money in fixed ops, Hyundai Prescott the most at −$136,511.</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3" name="Shape 191"/>
          <p:cNvSpPr/>
          <p:nvPr/>
        </p:nvSpPr>
        <p:spPr>
          <a:xfrm>
            <a:off x="457200" y="6126480"/>
            <a:ext cx="11274552" cy="615696"/>
          </a:xfrm>
          <a:prstGeom prst="rect">
            <a:avLst/>
          </a:prstGeom>
          <a:solidFill>
            <a:srgbClr val="EDF4FA"/>
          </a:solidFill>
          <a:ln/>
        </p:spPr>
      </p:sp>
      <p:sp>
        <p:nvSpPr>
          <p:cNvPr id="194" name="Text 19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Lincoln, Subaru Prescott and GMC Prescott turned a 2025 loss into a profit (green rows); VW St George went from a profit to a loss (red row). 24 of 33 stores grew.</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
        <p:nvSpPr>
          <p:cNvPr id="73" name="Shape 71"/>
          <p:cNvSpPr/>
          <p:nvPr/>
        </p:nvSpPr>
        <p:spPr>
          <a:xfrm>
            <a:off x="457200" y="6126480"/>
            <a:ext cx="11274552" cy="585216"/>
          </a:xfrm>
          <a:prstGeom prst="rect">
            <a:avLst/>
          </a:prstGeom>
          <a:solidFill>
            <a:srgbClr val="EDF4FA"/>
          </a:solidFill>
          <a:ln/>
        </p:spPr>
      </p:sp>
      <p:sp>
        <p:nvSpPr>
          <p:cNvPr id="74" name="Text 72"/>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Toyota Henderson, Audi Henderson and Cadillac what changed. Ask Chevy LV, VW Henderson and Toyota Spokane what got in the way. Ask Honda Henderson, Toyota Henderson and Chevy LV what they started this year.</a:t>
            </a:r>
            <a:endParaRPr lang="en-US" sz="15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 Record Year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WITH AN ALL-TIME RECORD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23</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33 set their best month ever in service, parts or combined during 2026.</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RECORDS SET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98</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all-time monthly records across those stores: service, parts and combined counted separately.</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JANUARY–SEPTEMBER EVER</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had their best January–September ever in combined fixed gross.</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SET A RECORD, THEN RESET IT</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set a record and then topped it again later in the year.</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Most records set this year: Honda Spokane 9, Nissan 9, Toyota Henderson 8, Honda Henderson 7 and Subaru St George 7.</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Jul alone brought 11 combined store records. Every one of these stores can tell the room what they changed.</a:t>
            </a:r>
            <a:endParaRPr lang="en-US" sz="145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0266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7" name="Text 5"/>
          <p:cNvSpPr txBox="1"/>
          <p:nvPr/>
        </p:nvSpPr>
        <p:spPr>
          <a:xfrm>
            <a:off x="381304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8" name="Text 6"/>
          <p:cNvSpPr txBox="1"/>
          <p:nvPr/>
        </p:nvSpPr>
        <p:spPr>
          <a:xfrm>
            <a:off x="4471416"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0" name="Text 8"/>
          <p:cNvSpPr txBox="1"/>
          <p:nvPr/>
        </p:nvSpPr>
        <p:spPr>
          <a:xfrm>
            <a:off x="85770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11" name="Text 9"/>
          <p:cNvSpPr txBox="1"/>
          <p:nvPr/>
        </p:nvSpPr>
        <p:spPr>
          <a:xfrm>
            <a:off x="9363456"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10021824"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3" name="Text 11"/>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4" name="Text 12"/>
          <p:cNvSpPr txBox="1"/>
          <p:nvPr/>
        </p:nvSpPr>
        <p:spPr>
          <a:xfrm>
            <a:off x="658368"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 name="Shape 14"/>
          <p:cNvSpPr/>
          <p:nvPr/>
        </p:nvSpPr>
        <p:spPr>
          <a:xfrm>
            <a:off x="2871216" y="1779994"/>
            <a:ext cx="100584" cy="193624"/>
          </a:xfrm>
          <a:prstGeom prst="rect">
            <a:avLst/>
          </a:prstGeom>
          <a:solidFill>
            <a:srgbClr val="12A566"/>
          </a:solidFill>
          <a:ln/>
        </p:spPr>
      </p:sp>
      <p:sp>
        <p:nvSpPr>
          <p:cNvPr id="17" name="Text 15"/>
          <p:cNvSpPr txBox="1"/>
          <p:nvPr/>
        </p:nvSpPr>
        <p:spPr>
          <a:xfrm>
            <a:off x="3026664"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18" name="Text 16"/>
          <p:cNvSpPr txBox="1"/>
          <p:nvPr/>
        </p:nvSpPr>
        <p:spPr>
          <a:xfrm>
            <a:off x="3813048"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9" name="Text 17"/>
          <p:cNvSpPr txBox="1"/>
          <p:nvPr/>
        </p:nvSpPr>
        <p:spPr>
          <a:xfrm>
            <a:off x="4471416"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20" name="Text 18"/>
          <p:cNvSpPr txBox="1"/>
          <p:nvPr/>
        </p:nvSpPr>
        <p:spPr>
          <a:xfrm>
            <a:off x="5184648"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1" name="Text 19"/>
          <p:cNvSpPr txBox="1"/>
          <p:nvPr/>
        </p:nvSpPr>
        <p:spPr>
          <a:xfrm>
            <a:off x="658368"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3" name="Shape 21"/>
          <p:cNvSpPr/>
          <p:nvPr/>
        </p:nvSpPr>
        <p:spPr>
          <a:xfrm>
            <a:off x="2871216" y="2132038"/>
            <a:ext cx="100584" cy="193624"/>
          </a:xfrm>
          <a:prstGeom prst="rect">
            <a:avLst/>
          </a:prstGeom>
          <a:solidFill>
            <a:srgbClr val="12A566"/>
          </a:solidFill>
          <a:ln/>
        </p:spPr>
      </p:sp>
      <p:sp>
        <p:nvSpPr>
          <p:cNvPr id="24" name="Text 22"/>
          <p:cNvSpPr txBox="1"/>
          <p:nvPr/>
        </p:nvSpPr>
        <p:spPr>
          <a:xfrm>
            <a:off x="3026664"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25" name="Text 23"/>
          <p:cNvSpPr txBox="1"/>
          <p:nvPr/>
        </p:nvSpPr>
        <p:spPr>
          <a:xfrm>
            <a:off x="3813048"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26" name="Text 24"/>
          <p:cNvSpPr txBox="1"/>
          <p:nvPr/>
        </p:nvSpPr>
        <p:spPr>
          <a:xfrm>
            <a:off x="4471416"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27" name="Text 25"/>
          <p:cNvSpPr txBox="1"/>
          <p:nvPr/>
        </p:nvSpPr>
        <p:spPr>
          <a:xfrm>
            <a:off x="5184648"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8" name="Text 26"/>
          <p:cNvSpPr txBox="1"/>
          <p:nvPr/>
        </p:nvSpPr>
        <p:spPr>
          <a:xfrm>
            <a:off x="658368"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0" name="Shape 28"/>
          <p:cNvSpPr/>
          <p:nvPr/>
        </p:nvSpPr>
        <p:spPr>
          <a:xfrm>
            <a:off x="2871216" y="2484082"/>
            <a:ext cx="89408" cy="193624"/>
          </a:xfrm>
          <a:prstGeom prst="rect">
            <a:avLst/>
          </a:prstGeom>
          <a:solidFill>
            <a:srgbClr val="12A566"/>
          </a:solidFill>
          <a:ln/>
        </p:spPr>
      </p:sp>
      <p:sp>
        <p:nvSpPr>
          <p:cNvPr id="31" name="Text 29"/>
          <p:cNvSpPr txBox="1"/>
          <p:nvPr/>
        </p:nvSpPr>
        <p:spPr>
          <a:xfrm>
            <a:off x="3026664"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a:t>
            </a:r>
            <a:endParaRPr lang="en-US" sz="1300" dirty="0"/>
          </a:p>
        </p:txBody>
      </p:sp>
      <p:sp>
        <p:nvSpPr>
          <p:cNvPr id="32" name="Text 30"/>
          <p:cNvSpPr txBox="1"/>
          <p:nvPr/>
        </p:nvSpPr>
        <p:spPr>
          <a:xfrm>
            <a:off x="3813048"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33" name="Text 31"/>
          <p:cNvSpPr txBox="1"/>
          <p:nvPr/>
        </p:nvSpPr>
        <p:spPr>
          <a:xfrm>
            <a:off x="4471416"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4" name="Text 32"/>
          <p:cNvSpPr txBox="1"/>
          <p:nvPr/>
        </p:nvSpPr>
        <p:spPr>
          <a:xfrm>
            <a:off x="5184648"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5" name="Text 33"/>
          <p:cNvSpPr txBox="1"/>
          <p:nvPr/>
        </p:nvSpPr>
        <p:spPr>
          <a:xfrm>
            <a:off x="658368"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7" name="Shape 35"/>
          <p:cNvSpPr/>
          <p:nvPr/>
        </p:nvSpPr>
        <p:spPr>
          <a:xfrm>
            <a:off x="2871216" y="2836126"/>
            <a:ext cx="78232" cy="193624"/>
          </a:xfrm>
          <a:prstGeom prst="rect">
            <a:avLst/>
          </a:prstGeom>
          <a:solidFill>
            <a:srgbClr val="12A566"/>
          </a:solidFill>
          <a:ln/>
        </p:spPr>
      </p:sp>
      <p:sp>
        <p:nvSpPr>
          <p:cNvPr id="38" name="Text 36"/>
          <p:cNvSpPr txBox="1"/>
          <p:nvPr/>
        </p:nvSpPr>
        <p:spPr>
          <a:xfrm>
            <a:off x="3026664"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39" name="Text 37"/>
          <p:cNvSpPr txBox="1"/>
          <p:nvPr/>
        </p:nvSpPr>
        <p:spPr>
          <a:xfrm>
            <a:off x="3813048"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0" name="Text 38"/>
          <p:cNvSpPr txBox="1"/>
          <p:nvPr/>
        </p:nvSpPr>
        <p:spPr>
          <a:xfrm>
            <a:off x="4471416"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1" name="Text 39"/>
          <p:cNvSpPr txBox="1"/>
          <p:nvPr/>
        </p:nvSpPr>
        <p:spPr>
          <a:xfrm>
            <a:off x="5184648"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2" name="Text 40"/>
          <p:cNvSpPr txBox="1"/>
          <p:nvPr/>
        </p:nvSpPr>
        <p:spPr>
          <a:xfrm>
            <a:off x="658368"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3" name="Text 41"/>
          <p:cNvSpPr txBox="1"/>
          <p:nvPr/>
        </p:nvSpPr>
        <p:spPr>
          <a:xfrm>
            <a:off x="1014984"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4" name="Shape 42"/>
          <p:cNvSpPr/>
          <p:nvPr/>
        </p:nvSpPr>
        <p:spPr>
          <a:xfrm>
            <a:off x="2871216" y="3188170"/>
            <a:ext cx="78232" cy="193624"/>
          </a:xfrm>
          <a:prstGeom prst="rect">
            <a:avLst/>
          </a:prstGeom>
          <a:solidFill>
            <a:srgbClr val="12A566"/>
          </a:solidFill>
          <a:ln/>
        </p:spPr>
      </p:sp>
      <p:sp>
        <p:nvSpPr>
          <p:cNvPr id="45" name="Text 43"/>
          <p:cNvSpPr txBox="1"/>
          <p:nvPr/>
        </p:nvSpPr>
        <p:spPr>
          <a:xfrm>
            <a:off x="3026664"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46" name="Text 44"/>
          <p:cNvSpPr txBox="1"/>
          <p:nvPr/>
        </p:nvSpPr>
        <p:spPr>
          <a:xfrm>
            <a:off x="3813048"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71416"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5184648"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9" name="Text 47"/>
          <p:cNvSpPr txBox="1"/>
          <p:nvPr/>
        </p:nvSpPr>
        <p:spPr>
          <a:xfrm>
            <a:off x="658368"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50" name="Text 48"/>
          <p:cNvSpPr txBox="1"/>
          <p:nvPr/>
        </p:nvSpPr>
        <p:spPr>
          <a:xfrm>
            <a:off x="1014984"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1" name="Shape 49"/>
          <p:cNvSpPr/>
          <p:nvPr/>
        </p:nvSpPr>
        <p:spPr>
          <a:xfrm>
            <a:off x="2871216" y="3540214"/>
            <a:ext cx="67056" cy="193624"/>
          </a:xfrm>
          <a:prstGeom prst="rect">
            <a:avLst/>
          </a:prstGeom>
          <a:solidFill>
            <a:srgbClr val="12A566"/>
          </a:solidFill>
          <a:ln/>
        </p:spPr>
      </p:sp>
      <p:sp>
        <p:nvSpPr>
          <p:cNvPr id="52" name="Text 50"/>
          <p:cNvSpPr txBox="1"/>
          <p:nvPr/>
        </p:nvSpPr>
        <p:spPr>
          <a:xfrm>
            <a:off x="3026664"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53" name="Text 51"/>
          <p:cNvSpPr txBox="1"/>
          <p:nvPr/>
        </p:nvSpPr>
        <p:spPr>
          <a:xfrm>
            <a:off x="3813048"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54" name="Text 52"/>
          <p:cNvSpPr txBox="1"/>
          <p:nvPr/>
        </p:nvSpPr>
        <p:spPr>
          <a:xfrm>
            <a:off x="4471416"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55" name="Text 53"/>
          <p:cNvSpPr txBox="1"/>
          <p:nvPr/>
        </p:nvSpPr>
        <p:spPr>
          <a:xfrm>
            <a:off x="5184648"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56" name="Text 54"/>
          <p:cNvSpPr txBox="1"/>
          <p:nvPr/>
        </p:nvSpPr>
        <p:spPr>
          <a:xfrm>
            <a:off x="658368"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7" name="Text 55"/>
          <p:cNvSpPr txBox="1"/>
          <p:nvPr/>
        </p:nvSpPr>
        <p:spPr>
          <a:xfrm>
            <a:off x="1014984"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8" name="Shape 56"/>
          <p:cNvSpPr/>
          <p:nvPr/>
        </p:nvSpPr>
        <p:spPr>
          <a:xfrm>
            <a:off x="2871216" y="3892258"/>
            <a:ext cx="67056" cy="193624"/>
          </a:xfrm>
          <a:prstGeom prst="rect">
            <a:avLst/>
          </a:prstGeom>
          <a:solidFill>
            <a:srgbClr val="12A566"/>
          </a:solidFill>
          <a:ln/>
        </p:spPr>
      </p:sp>
      <p:sp>
        <p:nvSpPr>
          <p:cNvPr id="59" name="Text 57"/>
          <p:cNvSpPr txBox="1"/>
          <p:nvPr/>
        </p:nvSpPr>
        <p:spPr>
          <a:xfrm>
            <a:off x="3026664"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60" name="Text 58"/>
          <p:cNvSpPr txBox="1"/>
          <p:nvPr/>
        </p:nvSpPr>
        <p:spPr>
          <a:xfrm>
            <a:off x="3813048"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1" name="Text 59"/>
          <p:cNvSpPr txBox="1"/>
          <p:nvPr/>
        </p:nvSpPr>
        <p:spPr>
          <a:xfrm>
            <a:off x="4471416"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2" name="Text 60"/>
          <p:cNvSpPr txBox="1"/>
          <p:nvPr/>
        </p:nvSpPr>
        <p:spPr>
          <a:xfrm>
            <a:off x="5184648"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3" name="Text 61"/>
          <p:cNvSpPr txBox="1"/>
          <p:nvPr/>
        </p:nvSpPr>
        <p:spPr>
          <a:xfrm>
            <a:off x="658368"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4" name="Text 62"/>
          <p:cNvSpPr txBox="1"/>
          <p:nvPr/>
        </p:nvSpPr>
        <p:spPr>
          <a:xfrm>
            <a:off x="1014984"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2871216" y="4244302"/>
            <a:ext cx="55880" cy="193624"/>
          </a:xfrm>
          <a:prstGeom prst="rect">
            <a:avLst/>
          </a:prstGeom>
          <a:solidFill>
            <a:srgbClr val="12A566"/>
          </a:solidFill>
          <a:ln/>
        </p:spPr>
      </p:sp>
      <p:sp>
        <p:nvSpPr>
          <p:cNvPr id="66" name="Text 64"/>
          <p:cNvSpPr txBox="1"/>
          <p:nvPr/>
        </p:nvSpPr>
        <p:spPr>
          <a:xfrm>
            <a:off x="3026664"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a:t>
            </a:r>
            <a:endParaRPr lang="en-US" sz="1300" dirty="0"/>
          </a:p>
        </p:txBody>
      </p:sp>
      <p:sp>
        <p:nvSpPr>
          <p:cNvPr id="67" name="Text 65"/>
          <p:cNvSpPr txBox="1"/>
          <p:nvPr/>
        </p:nvSpPr>
        <p:spPr>
          <a:xfrm>
            <a:off x="3813048"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4471416"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9" name="Text 67"/>
          <p:cNvSpPr txBox="1"/>
          <p:nvPr/>
        </p:nvSpPr>
        <p:spPr>
          <a:xfrm>
            <a:off x="5184648"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0" name="Text 68"/>
          <p:cNvSpPr txBox="1"/>
          <p:nvPr/>
        </p:nvSpPr>
        <p:spPr>
          <a:xfrm>
            <a:off x="658368"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71" name="Text 69"/>
          <p:cNvSpPr txBox="1"/>
          <p:nvPr/>
        </p:nvSpPr>
        <p:spPr>
          <a:xfrm>
            <a:off x="1014984"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2" name="Shape 70"/>
          <p:cNvSpPr/>
          <p:nvPr/>
        </p:nvSpPr>
        <p:spPr>
          <a:xfrm>
            <a:off x="2871216" y="4596346"/>
            <a:ext cx="44704" cy="193624"/>
          </a:xfrm>
          <a:prstGeom prst="rect">
            <a:avLst/>
          </a:prstGeom>
          <a:solidFill>
            <a:srgbClr val="12A566"/>
          </a:solidFill>
          <a:ln/>
        </p:spPr>
      </p:sp>
      <p:sp>
        <p:nvSpPr>
          <p:cNvPr id="73" name="Text 71"/>
          <p:cNvSpPr txBox="1"/>
          <p:nvPr/>
        </p:nvSpPr>
        <p:spPr>
          <a:xfrm>
            <a:off x="3026664"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74" name="Text 72"/>
          <p:cNvSpPr txBox="1"/>
          <p:nvPr/>
        </p:nvSpPr>
        <p:spPr>
          <a:xfrm>
            <a:off x="3813048"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5" name="Text 73"/>
          <p:cNvSpPr txBox="1"/>
          <p:nvPr/>
        </p:nvSpPr>
        <p:spPr>
          <a:xfrm>
            <a:off x="4471416"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6" name="Text 74"/>
          <p:cNvSpPr txBox="1"/>
          <p:nvPr/>
        </p:nvSpPr>
        <p:spPr>
          <a:xfrm>
            <a:off x="5184648"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7" name="Text 75"/>
          <p:cNvSpPr txBox="1"/>
          <p:nvPr/>
        </p:nvSpPr>
        <p:spPr>
          <a:xfrm>
            <a:off x="658368"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8" name="Text 76"/>
          <p:cNvSpPr txBox="1"/>
          <p:nvPr/>
        </p:nvSpPr>
        <p:spPr>
          <a:xfrm>
            <a:off x="1014984"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9" name="Shape 77"/>
          <p:cNvSpPr/>
          <p:nvPr/>
        </p:nvSpPr>
        <p:spPr>
          <a:xfrm>
            <a:off x="2871216" y="4948390"/>
            <a:ext cx="44704" cy="193624"/>
          </a:xfrm>
          <a:prstGeom prst="rect">
            <a:avLst/>
          </a:prstGeom>
          <a:solidFill>
            <a:srgbClr val="12A566"/>
          </a:solidFill>
          <a:ln/>
        </p:spPr>
      </p:sp>
      <p:sp>
        <p:nvSpPr>
          <p:cNvPr id="80" name="Text 78"/>
          <p:cNvSpPr txBox="1"/>
          <p:nvPr/>
        </p:nvSpPr>
        <p:spPr>
          <a:xfrm>
            <a:off x="3026664"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1" name="Text 79"/>
          <p:cNvSpPr txBox="1"/>
          <p:nvPr/>
        </p:nvSpPr>
        <p:spPr>
          <a:xfrm>
            <a:off x="3813048"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2" name="Text 80"/>
          <p:cNvSpPr txBox="1"/>
          <p:nvPr/>
        </p:nvSpPr>
        <p:spPr>
          <a:xfrm>
            <a:off x="4471416"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3" name="Text 81"/>
          <p:cNvSpPr txBox="1"/>
          <p:nvPr/>
        </p:nvSpPr>
        <p:spPr>
          <a:xfrm>
            <a:off x="5184648"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4" name="Text 82"/>
          <p:cNvSpPr txBox="1"/>
          <p:nvPr/>
        </p:nvSpPr>
        <p:spPr>
          <a:xfrm>
            <a:off x="658368"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85" name="Text 83"/>
          <p:cNvSpPr txBox="1"/>
          <p:nvPr/>
        </p:nvSpPr>
        <p:spPr>
          <a:xfrm>
            <a:off x="1014984"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6" name="Shape 84"/>
          <p:cNvSpPr/>
          <p:nvPr/>
        </p:nvSpPr>
        <p:spPr>
          <a:xfrm>
            <a:off x="2871216" y="5300434"/>
            <a:ext cx="44704" cy="193624"/>
          </a:xfrm>
          <a:prstGeom prst="rect">
            <a:avLst/>
          </a:prstGeom>
          <a:solidFill>
            <a:srgbClr val="12A566"/>
          </a:solidFill>
          <a:ln/>
        </p:spPr>
      </p:sp>
      <p:sp>
        <p:nvSpPr>
          <p:cNvPr id="87" name="Text 85"/>
          <p:cNvSpPr txBox="1"/>
          <p:nvPr/>
        </p:nvSpPr>
        <p:spPr>
          <a:xfrm>
            <a:off x="3026664"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8" name="Text 86"/>
          <p:cNvSpPr txBox="1"/>
          <p:nvPr/>
        </p:nvSpPr>
        <p:spPr>
          <a:xfrm>
            <a:off x="3813048"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4471416"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0" name="Text 88"/>
          <p:cNvSpPr txBox="1"/>
          <p:nvPr/>
        </p:nvSpPr>
        <p:spPr>
          <a:xfrm>
            <a:off x="5184648"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1" name="Text 89"/>
          <p:cNvSpPr txBox="1"/>
          <p:nvPr/>
        </p:nvSpPr>
        <p:spPr>
          <a:xfrm>
            <a:off x="658368" y="557326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2" name="Text 90"/>
          <p:cNvSpPr txBox="1"/>
          <p:nvPr/>
        </p:nvSpPr>
        <p:spPr>
          <a:xfrm>
            <a:off x="1014984" y="557326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2871216" y="5652478"/>
            <a:ext cx="44704" cy="193624"/>
          </a:xfrm>
          <a:prstGeom prst="rect">
            <a:avLst/>
          </a:prstGeom>
          <a:solidFill>
            <a:srgbClr val="12A566"/>
          </a:solidFill>
          <a:ln/>
        </p:spPr>
      </p:sp>
      <p:sp>
        <p:nvSpPr>
          <p:cNvPr id="94" name="Text 92"/>
          <p:cNvSpPr txBox="1"/>
          <p:nvPr/>
        </p:nvSpPr>
        <p:spPr>
          <a:xfrm>
            <a:off x="3026664" y="557326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95" name="Text 93"/>
          <p:cNvSpPr txBox="1"/>
          <p:nvPr/>
        </p:nvSpPr>
        <p:spPr>
          <a:xfrm>
            <a:off x="3813048" y="557326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96" name="Text 94"/>
          <p:cNvSpPr txBox="1"/>
          <p:nvPr/>
        </p:nvSpPr>
        <p:spPr>
          <a:xfrm>
            <a:off x="4471416" y="557326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5184648" y="557326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8" name="Text 96"/>
          <p:cNvSpPr txBox="1"/>
          <p:nvPr/>
        </p:nvSpPr>
        <p:spPr>
          <a:xfrm>
            <a:off x="6208776"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6565392"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0" name="Shape 98"/>
          <p:cNvSpPr/>
          <p:nvPr/>
        </p:nvSpPr>
        <p:spPr>
          <a:xfrm>
            <a:off x="8421624" y="1779994"/>
            <a:ext cx="44704" cy="193624"/>
          </a:xfrm>
          <a:prstGeom prst="rect">
            <a:avLst/>
          </a:prstGeom>
          <a:solidFill>
            <a:srgbClr val="12A566"/>
          </a:solidFill>
          <a:ln/>
        </p:spPr>
      </p:sp>
      <p:sp>
        <p:nvSpPr>
          <p:cNvPr id="101" name="Text 99"/>
          <p:cNvSpPr txBox="1"/>
          <p:nvPr/>
        </p:nvSpPr>
        <p:spPr>
          <a:xfrm>
            <a:off x="8577072"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2" name="Text 100"/>
          <p:cNvSpPr txBox="1"/>
          <p:nvPr/>
        </p:nvSpPr>
        <p:spPr>
          <a:xfrm>
            <a:off x="9363456"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10021824"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10735056"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6208776"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6" name="Text 104"/>
          <p:cNvSpPr txBox="1"/>
          <p:nvPr/>
        </p:nvSpPr>
        <p:spPr>
          <a:xfrm>
            <a:off x="6565392"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7" name="Shape 105"/>
          <p:cNvSpPr/>
          <p:nvPr/>
        </p:nvSpPr>
        <p:spPr>
          <a:xfrm>
            <a:off x="8421624" y="2132038"/>
            <a:ext cx="44704" cy="193624"/>
          </a:xfrm>
          <a:prstGeom prst="rect">
            <a:avLst/>
          </a:prstGeom>
          <a:solidFill>
            <a:srgbClr val="12A566"/>
          </a:solidFill>
          <a:ln/>
        </p:spPr>
      </p:sp>
      <p:sp>
        <p:nvSpPr>
          <p:cNvPr id="108" name="Text 106"/>
          <p:cNvSpPr txBox="1"/>
          <p:nvPr/>
        </p:nvSpPr>
        <p:spPr>
          <a:xfrm>
            <a:off x="8577072"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9" name="Text 107"/>
          <p:cNvSpPr txBox="1"/>
          <p:nvPr/>
        </p:nvSpPr>
        <p:spPr>
          <a:xfrm>
            <a:off x="9363456"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10" name="Text 108"/>
          <p:cNvSpPr txBox="1"/>
          <p:nvPr/>
        </p:nvSpPr>
        <p:spPr>
          <a:xfrm>
            <a:off x="10021824"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1" name="Text 109"/>
          <p:cNvSpPr txBox="1"/>
          <p:nvPr/>
        </p:nvSpPr>
        <p:spPr>
          <a:xfrm>
            <a:off x="10735056"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2" name="Text 110"/>
          <p:cNvSpPr txBox="1"/>
          <p:nvPr/>
        </p:nvSpPr>
        <p:spPr>
          <a:xfrm>
            <a:off x="6208776"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3" name="Text 111"/>
          <p:cNvSpPr txBox="1"/>
          <p:nvPr/>
        </p:nvSpPr>
        <p:spPr>
          <a:xfrm>
            <a:off x="6565392"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4" name="Shape 112"/>
          <p:cNvSpPr/>
          <p:nvPr/>
        </p:nvSpPr>
        <p:spPr>
          <a:xfrm>
            <a:off x="8421624" y="2484082"/>
            <a:ext cx="33528" cy="193624"/>
          </a:xfrm>
          <a:prstGeom prst="rect">
            <a:avLst/>
          </a:prstGeom>
          <a:solidFill>
            <a:srgbClr val="12A566"/>
          </a:solidFill>
          <a:ln/>
        </p:spPr>
      </p:sp>
      <p:sp>
        <p:nvSpPr>
          <p:cNvPr id="115" name="Text 113"/>
          <p:cNvSpPr txBox="1"/>
          <p:nvPr/>
        </p:nvSpPr>
        <p:spPr>
          <a:xfrm>
            <a:off x="8577072"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a:t>
            </a:r>
            <a:endParaRPr lang="en-US" sz="1300" dirty="0"/>
          </a:p>
        </p:txBody>
      </p:sp>
      <p:sp>
        <p:nvSpPr>
          <p:cNvPr id="116" name="Text 114"/>
          <p:cNvSpPr txBox="1"/>
          <p:nvPr/>
        </p:nvSpPr>
        <p:spPr>
          <a:xfrm>
            <a:off x="9363456"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7" name="Text 115"/>
          <p:cNvSpPr txBox="1"/>
          <p:nvPr/>
        </p:nvSpPr>
        <p:spPr>
          <a:xfrm>
            <a:off x="10021824"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18" name="Text 116"/>
          <p:cNvSpPr txBox="1"/>
          <p:nvPr/>
        </p:nvSpPr>
        <p:spPr>
          <a:xfrm>
            <a:off x="10735056"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19" name="Text 117"/>
          <p:cNvSpPr txBox="1"/>
          <p:nvPr/>
        </p:nvSpPr>
        <p:spPr>
          <a:xfrm>
            <a:off x="6208776"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20" name="Text 118"/>
          <p:cNvSpPr txBox="1"/>
          <p:nvPr/>
        </p:nvSpPr>
        <p:spPr>
          <a:xfrm>
            <a:off x="6565392"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421624" y="2836126"/>
            <a:ext cx="22352" cy="193624"/>
          </a:xfrm>
          <a:prstGeom prst="rect">
            <a:avLst/>
          </a:prstGeom>
          <a:solidFill>
            <a:srgbClr val="12A566"/>
          </a:solidFill>
          <a:ln/>
        </p:spPr>
      </p:sp>
      <p:sp>
        <p:nvSpPr>
          <p:cNvPr id="122" name="Text 120"/>
          <p:cNvSpPr txBox="1"/>
          <p:nvPr/>
        </p:nvSpPr>
        <p:spPr>
          <a:xfrm>
            <a:off x="8577072"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23" name="Text 121"/>
          <p:cNvSpPr txBox="1"/>
          <p:nvPr/>
        </p:nvSpPr>
        <p:spPr>
          <a:xfrm>
            <a:off x="9363456"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4" name="Text 122"/>
          <p:cNvSpPr txBox="1"/>
          <p:nvPr/>
        </p:nvSpPr>
        <p:spPr>
          <a:xfrm>
            <a:off x="10021824"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25" name="Text 123"/>
          <p:cNvSpPr txBox="1"/>
          <p:nvPr/>
        </p:nvSpPr>
        <p:spPr>
          <a:xfrm>
            <a:off x="10735056"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6" name="Text 124"/>
          <p:cNvSpPr txBox="1"/>
          <p:nvPr/>
        </p:nvSpPr>
        <p:spPr>
          <a:xfrm>
            <a:off x="6208776"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27" name="Text 125"/>
          <p:cNvSpPr txBox="1"/>
          <p:nvPr/>
        </p:nvSpPr>
        <p:spPr>
          <a:xfrm>
            <a:off x="6565392"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8" name="Shape 126"/>
          <p:cNvSpPr/>
          <p:nvPr/>
        </p:nvSpPr>
        <p:spPr>
          <a:xfrm>
            <a:off x="8421624" y="3188170"/>
            <a:ext cx="22352" cy="193624"/>
          </a:xfrm>
          <a:prstGeom prst="rect">
            <a:avLst/>
          </a:prstGeom>
          <a:solidFill>
            <a:srgbClr val="12A566"/>
          </a:solidFill>
          <a:ln/>
        </p:spPr>
      </p:sp>
      <p:sp>
        <p:nvSpPr>
          <p:cNvPr id="129" name="Text 127"/>
          <p:cNvSpPr txBox="1"/>
          <p:nvPr/>
        </p:nvSpPr>
        <p:spPr>
          <a:xfrm>
            <a:off x="8577072"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0" name="Text 128"/>
          <p:cNvSpPr txBox="1"/>
          <p:nvPr/>
        </p:nvSpPr>
        <p:spPr>
          <a:xfrm>
            <a:off x="9363456"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1" name="Text 129"/>
          <p:cNvSpPr txBox="1"/>
          <p:nvPr/>
        </p:nvSpPr>
        <p:spPr>
          <a:xfrm>
            <a:off x="10021824"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2" name="Text 130"/>
          <p:cNvSpPr txBox="1"/>
          <p:nvPr/>
        </p:nvSpPr>
        <p:spPr>
          <a:xfrm>
            <a:off x="10735056"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3" name="Text 131"/>
          <p:cNvSpPr txBox="1"/>
          <p:nvPr/>
        </p:nvSpPr>
        <p:spPr>
          <a:xfrm>
            <a:off x="6208776"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34" name="Text 132"/>
          <p:cNvSpPr txBox="1"/>
          <p:nvPr/>
        </p:nvSpPr>
        <p:spPr>
          <a:xfrm>
            <a:off x="6565392"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5" name="Shape 133"/>
          <p:cNvSpPr/>
          <p:nvPr/>
        </p:nvSpPr>
        <p:spPr>
          <a:xfrm>
            <a:off x="8421624" y="3540214"/>
            <a:ext cx="22352" cy="193624"/>
          </a:xfrm>
          <a:prstGeom prst="rect">
            <a:avLst/>
          </a:prstGeom>
          <a:solidFill>
            <a:srgbClr val="12A566"/>
          </a:solidFill>
          <a:ln/>
        </p:spPr>
      </p:sp>
      <p:sp>
        <p:nvSpPr>
          <p:cNvPr id="136" name="Text 134"/>
          <p:cNvSpPr txBox="1"/>
          <p:nvPr/>
        </p:nvSpPr>
        <p:spPr>
          <a:xfrm>
            <a:off x="8577072"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7" name="Text 135"/>
          <p:cNvSpPr txBox="1"/>
          <p:nvPr/>
        </p:nvSpPr>
        <p:spPr>
          <a:xfrm>
            <a:off x="9363456"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8" name="Text 136"/>
          <p:cNvSpPr txBox="1"/>
          <p:nvPr/>
        </p:nvSpPr>
        <p:spPr>
          <a:xfrm>
            <a:off x="10021824"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735056"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6208776"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41" name="Text 139"/>
          <p:cNvSpPr txBox="1"/>
          <p:nvPr/>
        </p:nvSpPr>
        <p:spPr>
          <a:xfrm>
            <a:off x="6565392"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2" name="Shape 140"/>
          <p:cNvSpPr/>
          <p:nvPr/>
        </p:nvSpPr>
        <p:spPr>
          <a:xfrm>
            <a:off x="8421624" y="3892258"/>
            <a:ext cx="22352" cy="193624"/>
          </a:xfrm>
          <a:prstGeom prst="rect">
            <a:avLst/>
          </a:prstGeom>
          <a:solidFill>
            <a:srgbClr val="12A566"/>
          </a:solidFill>
          <a:ln/>
        </p:spPr>
      </p:sp>
      <p:sp>
        <p:nvSpPr>
          <p:cNvPr id="143" name="Text 141"/>
          <p:cNvSpPr txBox="1"/>
          <p:nvPr/>
        </p:nvSpPr>
        <p:spPr>
          <a:xfrm>
            <a:off x="8577072"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44" name="Text 142"/>
          <p:cNvSpPr txBox="1"/>
          <p:nvPr/>
        </p:nvSpPr>
        <p:spPr>
          <a:xfrm>
            <a:off x="9363456"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5" name="Text 143"/>
          <p:cNvSpPr txBox="1"/>
          <p:nvPr/>
        </p:nvSpPr>
        <p:spPr>
          <a:xfrm>
            <a:off x="10021824"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735056"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6208776"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48" name="Text 146"/>
          <p:cNvSpPr txBox="1"/>
          <p:nvPr/>
        </p:nvSpPr>
        <p:spPr>
          <a:xfrm>
            <a:off x="6565392"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9" name="Shape 147"/>
          <p:cNvSpPr/>
          <p:nvPr/>
        </p:nvSpPr>
        <p:spPr>
          <a:xfrm>
            <a:off x="8421624" y="4244302"/>
            <a:ext cx="22352" cy="193624"/>
          </a:xfrm>
          <a:prstGeom prst="rect">
            <a:avLst/>
          </a:prstGeom>
          <a:solidFill>
            <a:srgbClr val="12A566"/>
          </a:solidFill>
          <a:ln/>
        </p:spPr>
      </p:sp>
      <p:sp>
        <p:nvSpPr>
          <p:cNvPr id="150" name="Text 148"/>
          <p:cNvSpPr txBox="1"/>
          <p:nvPr/>
        </p:nvSpPr>
        <p:spPr>
          <a:xfrm>
            <a:off x="8577072"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1" name="Text 149"/>
          <p:cNvSpPr txBox="1"/>
          <p:nvPr/>
        </p:nvSpPr>
        <p:spPr>
          <a:xfrm>
            <a:off x="9363456"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2" name="Text 150"/>
          <p:cNvSpPr txBox="1"/>
          <p:nvPr/>
        </p:nvSpPr>
        <p:spPr>
          <a:xfrm>
            <a:off x="10021824"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53" name="Text 151"/>
          <p:cNvSpPr txBox="1"/>
          <p:nvPr/>
        </p:nvSpPr>
        <p:spPr>
          <a:xfrm>
            <a:off x="10735056"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4" name="Text 152"/>
          <p:cNvSpPr txBox="1"/>
          <p:nvPr/>
        </p:nvSpPr>
        <p:spPr>
          <a:xfrm>
            <a:off x="6208776"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55" name="Text 153"/>
          <p:cNvSpPr txBox="1"/>
          <p:nvPr/>
        </p:nvSpPr>
        <p:spPr>
          <a:xfrm>
            <a:off x="6565392"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6" name="Shape 154"/>
          <p:cNvSpPr/>
          <p:nvPr/>
        </p:nvSpPr>
        <p:spPr>
          <a:xfrm>
            <a:off x="8421624" y="4596346"/>
            <a:ext cx="22352" cy="193624"/>
          </a:xfrm>
          <a:prstGeom prst="rect">
            <a:avLst/>
          </a:prstGeom>
          <a:solidFill>
            <a:srgbClr val="12A566"/>
          </a:solidFill>
          <a:ln/>
        </p:spPr>
      </p:sp>
      <p:sp>
        <p:nvSpPr>
          <p:cNvPr id="157" name="Text 155"/>
          <p:cNvSpPr txBox="1"/>
          <p:nvPr/>
        </p:nvSpPr>
        <p:spPr>
          <a:xfrm>
            <a:off x="8577072"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8" name="Text 156"/>
          <p:cNvSpPr txBox="1"/>
          <p:nvPr/>
        </p:nvSpPr>
        <p:spPr>
          <a:xfrm>
            <a:off x="9363456"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59" name="Text 157"/>
          <p:cNvSpPr txBox="1"/>
          <p:nvPr/>
        </p:nvSpPr>
        <p:spPr>
          <a:xfrm>
            <a:off x="10021824"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0" name="Text 158"/>
          <p:cNvSpPr txBox="1"/>
          <p:nvPr/>
        </p:nvSpPr>
        <p:spPr>
          <a:xfrm>
            <a:off x="10735056"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6208776"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62" name="Text 160"/>
          <p:cNvSpPr txBox="1"/>
          <p:nvPr/>
        </p:nvSpPr>
        <p:spPr>
          <a:xfrm>
            <a:off x="6565392"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421624" y="4948390"/>
            <a:ext cx="18288" cy="193624"/>
          </a:xfrm>
          <a:prstGeom prst="rect">
            <a:avLst/>
          </a:prstGeom>
          <a:solidFill>
            <a:srgbClr val="12A566"/>
          </a:solidFill>
          <a:ln/>
        </p:spPr>
      </p:sp>
      <p:sp>
        <p:nvSpPr>
          <p:cNvPr id="164" name="Text 162"/>
          <p:cNvSpPr txBox="1"/>
          <p:nvPr/>
        </p:nvSpPr>
        <p:spPr>
          <a:xfrm>
            <a:off x="8577072"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65" name="Text 163"/>
          <p:cNvSpPr txBox="1"/>
          <p:nvPr/>
        </p:nvSpPr>
        <p:spPr>
          <a:xfrm>
            <a:off x="9363456"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6" name="Text 164"/>
          <p:cNvSpPr txBox="1"/>
          <p:nvPr/>
        </p:nvSpPr>
        <p:spPr>
          <a:xfrm>
            <a:off x="10021824"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7" name="Text 165"/>
          <p:cNvSpPr txBox="1"/>
          <p:nvPr/>
        </p:nvSpPr>
        <p:spPr>
          <a:xfrm>
            <a:off x="10735056"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68" name="Text 166"/>
          <p:cNvSpPr txBox="1"/>
          <p:nvPr/>
        </p:nvSpPr>
        <p:spPr>
          <a:xfrm>
            <a:off x="6208776"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69" name="Text 167"/>
          <p:cNvSpPr txBox="1"/>
          <p:nvPr/>
        </p:nvSpPr>
        <p:spPr>
          <a:xfrm>
            <a:off x="6565392"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0" name="Shape 168"/>
          <p:cNvSpPr/>
          <p:nvPr/>
        </p:nvSpPr>
        <p:spPr>
          <a:xfrm>
            <a:off x="8421624" y="5300434"/>
            <a:ext cx="18288" cy="193624"/>
          </a:xfrm>
          <a:prstGeom prst="rect">
            <a:avLst/>
          </a:prstGeom>
          <a:solidFill>
            <a:srgbClr val="12A566"/>
          </a:solidFill>
          <a:ln/>
        </p:spPr>
      </p:sp>
      <p:sp>
        <p:nvSpPr>
          <p:cNvPr id="171" name="Text 169"/>
          <p:cNvSpPr txBox="1"/>
          <p:nvPr/>
        </p:nvSpPr>
        <p:spPr>
          <a:xfrm>
            <a:off x="8577072"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72" name="Text 170"/>
          <p:cNvSpPr txBox="1"/>
          <p:nvPr/>
        </p:nvSpPr>
        <p:spPr>
          <a:xfrm>
            <a:off x="9363456"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73" name="Text 171"/>
          <p:cNvSpPr txBox="1"/>
          <p:nvPr/>
        </p:nvSpPr>
        <p:spPr>
          <a:xfrm>
            <a:off x="10021824"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4" name="Text 172"/>
          <p:cNvSpPr txBox="1"/>
          <p:nvPr/>
        </p:nvSpPr>
        <p:spPr>
          <a:xfrm>
            <a:off x="10735056"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5" name="Shape 173"/>
          <p:cNvSpPr/>
          <p:nvPr/>
        </p:nvSpPr>
        <p:spPr>
          <a:xfrm>
            <a:off x="6085332" y="1700784"/>
            <a:ext cx="10973" cy="4224528"/>
          </a:xfrm>
          <a:prstGeom prst="rect">
            <a:avLst/>
          </a:prstGeom>
          <a:solidFill>
            <a:srgbClr val="D9D9D9"/>
          </a:solidFill>
          <a:ln/>
        </p:spPr>
      </p:sp>
      <p:sp>
        <p:nvSpPr>
          <p:cNvPr id="176" name="Shape 174"/>
          <p:cNvSpPr/>
          <p:nvPr/>
        </p:nvSpPr>
        <p:spPr>
          <a:xfrm>
            <a:off x="457200" y="6126480"/>
            <a:ext cx="11274552" cy="371856"/>
          </a:xfrm>
          <a:prstGeom prst="rect">
            <a:avLst/>
          </a:prstGeom>
          <a:solidFill>
            <a:srgbClr val="E6F6EE"/>
          </a:solidFill>
          <a:ln/>
        </p:spPr>
      </p:sp>
      <p:sp>
        <p:nvSpPr>
          <p:cNvPr id="177" name="Text 17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stores set 98 all-time monthly records in 2026. Honda Spokane and Nissan lead with 9 each.</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 Toyota Henderson added the most at +$1.77M (+8.5%); Honda North fell most at −$840K (−8.9%).</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3" name="Text 61"/>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5" name="Text 63"/>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6" name="Shape 64"/>
          <p:cNvSpPr/>
          <p:nvPr/>
        </p:nvSpPr>
        <p:spPr>
          <a:xfrm>
            <a:off x="8040624" y="5124298"/>
            <a:ext cx="3489960" cy="755294"/>
          </a:xfrm>
          <a:prstGeom prst="rect">
            <a:avLst/>
          </a:prstGeom>
          <a:solidFill>
            <a:srgbClr val="F7F7F7"/>
          </a:solidFill>
          <a:ln/>
        </p:spPr>
      </p:sp>
      <p:sp>
        <p:nvSpPr>
          <p:cNvPr id="67" name="Shape 65"/>
          <p:cNvSpPr/>
          <p:nvPr/>
        </p:nvSpPr>
        <p:spPr>
          <a:xfrm>
            <a:off x="11466576" y="5160874"/>
            <a:ext cx="64008" cy="682142"/>
          </a:xfrm>
          <a:prstGeom prst="rect">
            <a:avLst/>
          </a:prstGeom>
          <a:solidFill>
            <a:srgbClr val="12A566"/>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LR Henderson what they started this year.</a:t>
            </a:r>
            <a:endParaRPr lang="en-US" sz="16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 Toyota Henderson added the most at +$1.50M (+10.1%); Honda North fell most at −$695K (−10.5%).</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Shape 58"/>
          <p:cNvSpPr/>
          <p:nvPr/>
        </p:nvSpPr>
        <p:spPr>
          <a:xfrm>
            <a:off x="11466576" y="3650285"/>
            <a:ext cx="64008" cy="682142"/>
          </a:xfrm>
          <a:prstGeom prst="rect">
            <a:avLst/>
          </a:prstGeom>
          <a:solidFill>
            <a:srgbClr val="12A566"/>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Hyundai Prescott what they started this year.</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356616"/>
          </a:xfrm>
          <a:prstGeom prst="rect">
            <a:avLst/>
          </a:prstGeom>
          <a:solidFill>
            <a:srgbClr val="E6F6EE"/>
          </a:solidFill>
          <a:ln/>
        </p:spPr>
      </p:sp>
      <p:sp>
        <p:nvSpPr>
          <p:cNvPr id="190" name="Text 18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17 of 33 stores grew. Cadillac added the most at +$688K (+28.4%); Audi Reno fell most at −$328K (−18.8%).</a:t>
            </a:r>
            <a:endParaRPr lang="en-US" sz="15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Lincoln, Cadillac and Subaru St George what changed. Ask Hyundai St George, Audi Reno and VW Henderson what got in the way. Ask Audi Henderson, Mazda and Honda Flagstaff what they started this year.</a:t>
            </a:r>
            <a:endParaRPr lang="en-US" sz="155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6" name="Shape 54"/>
          <p:cNvSpPr/>
          <p:nvPr/>
        </p:nvSpPr>
        <p:spPr>
          <a:xfrm>
            <a:off x="11466576" y="2894990"/>
            <a:ext cx="64008" cy="682142"/>
          </a:xfrm>
          <a:prstGeom prst="rect">
            <a:avLst/>
          </a:prstGeom>
          <a:solidFill>
            <a:srgbClr val="12A566"/>
          </a:solidFill>
          <a:ln/>
        </p:spPr>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LR Reno what changed. Ask VW St George, Kia St George and VW Henderson what got in the way. Ask LR Henderson, LR Reno and Kia St George what they started this year.</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4" name="Shape 12"/>
          <p:cNvSpPr/>
          <p:nvPr/>
        </p:nvSpPr>
        <p:spPr>
          <a:xfrm>
            <a:off x="4084320" y="2894990"/>
            <a:ext cx="64008" cy="682142"/>
          </a:xfrm>
          <a:prstGeom prst="rect">
            <a:avLst/>
          </a:prstGeom>
          <a:solidFill>
            <a:srgbClr val="12A566"/>
          </a:solidFill>
          <a:ln/>
        </p:spPr>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7" name="Text 15"/>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8" name="Shape 16"/>
          <p:cNvSpPr/>
          <p:nvPr/>
        </p:nvSpPr>
        <p:spPr>
          <a:xfrm>
            <a:off x="658368" y="3613709"/>
            <a:ext cx="3489960" cy="755294"/>
          </a:xfrm>
          <a:prstGeom prst="rect">
            <a:avLst/>
          </a:prstGeom>
          <a:solidFill>
            <a:srgbClr val="F7F7F7"/>
          </a:solidFill>
          <a:ln/>
        </p:spPr>
      </p:sp>
      <p:sp>
        <p:nvSpPr>
          <p:cNvPr id="19" name="Shape 17"/>
          <p:cNvSpPr/>
          <p:nvPr/>
        </p:nvSpPr>
        <p:spPr>
          <a:xfrm>
            <a:off x="4084320" y="3650285"/>
            <a:ext cx="64008" cy="682142"/>
          </a:xfrm>
          <a:prstGeom prst="rect">
            <a:avLst/>
          </a:prstGeom>
          <a:solidFill>
            <a:srgbClr val="12A566"/>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2" name="Text 20"/>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5" name="Text 23"/>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6" name="Shape 24"/>
          <p:cNvSpPr/>
          <p:nvPr/>
        </p:nvSpPr>
        <p:spPr>
          <a:xfrm>
            <a:off x="658368" y="5124298"/>
            <a:ext cx="3489960" cy="755294"/>
          </a:xfrm>
          <a:prstGeom prst="rect">
            <a:avLst/>
          </a:prstGeom>
          <a:solidFill>
            <a:srgbClr val="F7F7F7"/>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Shape 53"/>
          <p:cNvSpPr/>
          <p:nvPr/>
        </p:nvSpPr>
        <p:spPr>
          <a:xfrm>
            <a:off x="11466576" y="2139696"/>
            <a:ext cx="64008" cy="682142"/>
          </a:xfrm>
          <a:prstGeom prst="rect">
            <a:avLst/>
          </a:prstGeom>
          <a:solidFill>
            <a:srgbClr val="12A566"/>
          </a:solidFill>
          <a:ln/>
        </p:spPr>
      </p:sp>
      <p:sp>
        <p:nvSpPr>
          <p:cNvPr id="56" name="Text 54"/>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8" name="Text 56"/>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Shape 61"/>
          <p:cNvSpPr/>
          <p:nvPr/>
        </p:nvSpPr>
        <p:spPr>
          <a:xfrm>
            <a:off x="11466576" y="3650285"/>
            <a:ext cx="64008" cy="682142"/>
          </a:xfrm>
          <a:prstGeom prst="rect">
            <a:avLst/>
          </a:prstGeom>
          <a:solidFill>
            <a:srgbClr val="12A566"/>
          </a:solidFill>
          <a:ln/>
        </p:spPr>
      </p:sp>
      <p:sp>
        <p:nvSpPr>
          <p:cNvPr id="64" name="Text 6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6" name="Text 64"/>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
        <p:nvSpPr>
          <p:cNvPr id="75" name="Shape 73"/>
          <p:cNvSpPr/>
          <p:nvPr/>
        </p:nvSpPr>
        <p:spPr>
          <a:xfrm>
            <a:off x="457200" y="6126480"/>
            <a:ext cx="11274552" cy="615696"/>
          </a:xfrm>
          <a:prstGeom prst="rect">
            <a:avLst/>
          </a:prstGeom>
          <a:solidFill>
            <a:srgbClr val="EDF4FA"/>
          </a:solidFill>
          <a:ln/>
        </p:spPr>
      </p:sp>
      <p:sp>
        <p:nvSpPr>
          <p:cNvPr id="76" name="Text 7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LR Reno what changed. Ask VW St George, Kia St George and Mazda what got in the way. Ask Hyundai Prescott, LR Henderson and LR Reno what they started this year.</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Shape 11"/>
          <p:cNvSpPr/>
          <p:nvPr/>
        </p:nvSpPr>
        <p:spPr>
          <a:xfrm>
            <a:off x="4084320" y="2894990"/>
            <a:ext cx="64008" cy="682142"/>
          </a:xfrm>
          <a:prstGeom prst="rect">
            <a:avLst/>
          </a:prstGeom>
          <a:solidFill>
            <a:srgbClr val="12A566"/>
          </a:solidFill>
          <a:ln/>
        </p:spPr>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Acura and Nissan what changed. Ask Hyundai Prescott, Hyundai St George and VW St George what got in the way. Ask LR Reno, VW St George and Mazda what they started this year.</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478231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272491"/>
          </a:xfrm>
          <a:prstGeom prst="rect">
            <a:avLst/>
          </a:prstGeom>
          <a:solidFill>
            <a:srgbClr val="12A566"/>
          </a:solidFill>
          <a:ln/>
        </p:spPr>
      </p:sp>
      <p:sp>
        <p:nvSpPr>
          <p:cNvPr id="16" name="Text 14"/>
          <p:cNvSpPr txBox="1"/>
          <p:nvPr/>
        </p:nvSpPr>
        <p:spPr>
          <a:xfrm>
            <a:off x="621792" y="251277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1277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1277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85841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858414"/>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85841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894990"/>
            <a:ext cx="54864" cy="272491"/>
          </a:xfrm>
          <a:prstGeom prst="rect">
            <a:avLst/>
          </a:prstGeom>
          <a:solidFill>
            <a:srgbClr val="12A566"/>
          </a:solidFill>
          <a:ln/>
        </p:spPr>
      </p:sp>
      <p:sp>
        <p:nvSpPr>
          <p:cNvPr id="23" name="Text 21"/>
          <p:cNvSpPr txBox="1"/>
          <p:nvPr/>
        </p:nvSpPr>
        <p:spPr>
          <a:xfrm>
            <a:off x="621792" y="320405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20405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20405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240634"/>
            <a:ext cx="54864" cy="272491"/>
          </a:xfrm>
          <a:prstGeom prst="rect">
            <a:avLst/>
          </a:prstGeom>
          <a:solidFill>
            <a:srgbClr val="12A566"/>
          </a:solidFill>
          <a:ln/>
        </p:spPr>
      </p:sp>
      <p:sp>
        <p:nvSpPr>
          <p:cNvPr id="27" name="Text 25"/>
          <p:cNvSpPr txBox="1"/>
          <p:nvPr/>
        </p:nvSpPr>
        <p:spPr>
          <a:xfrm>
            <a:off x="621792" y="354970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54970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54970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586277"/>
            <a:ext cx="54864" cy="272491"/>
          </a:xfrm>
          <a:prstGeom prst="rect">
            <a:avLst/>
          </a:prstGeom>
          <a:solidFill>
            <a:srgbClr val="12A566"/>
          </a:solidFill>
          <a:ln/>
        </p:spPr>
      </p:sp>
      <p:sp>
        <p:nvSpPr>
          <p:cNvPr id="31" name="Shape 29"/>
          <p:cNvSpPr/>
          <p:nvPr/>
        </p:nvSpPr>
        <p:spPr>
          <a:xfrm>
            <a:off x="621792" y="3913632"/>
            <a:ext cx="3355848" cy="22860"/>
          </a:xfrm>
          <a:prstGeom prst="rect">
            <a:avLst/>
          </a:prstGeom>
          <a:solidFill>
            <a:srgbClr val="C2352F"/>
          </a:solidFill>
          <a:ln/>
        </p:spPr>
      </p:sp>
      <p:sp>
        <p:nvSpPr>
          <p:cNvPr id="32" name="Text 30"/>
          <p:cNvSpPr txBox="1"/>
          <p:nvPr/>
        </p:nvSpPr>
        <p:spPr>
          <a:xfrm>
            <a:off x="62179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394106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394106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206240"/>
            <a:ext cx="54864" cy="272491"/>
          </a:xfrm>
          <a:prstGeom prst="rect">
            <a:avLst/>
          </a:prstGeom>
          <a:solidFill>
            <a:srgbClr val="C2352F"/>
          </a:solidFill>
          <a:ln/>
        </p:spPr>
      </p:sp>
      <p:sp>
        <p:nvSpPr>
          <p:cNvPr id="39" name="Text 37"/>
          <p:cNvSpPr txBox="1"/>
          <p:nvPr/>
        </p:nvSpPr>
        <p:spPr>
          <a:xfrm>
            <a:off x="62179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551883"/>
            <a:ext cx="54864" cy="272491"/>
          </a:xfrm>
          <a:prstGeom prst="rect">
            <a:avLst/>
          </a:prstGeom>
          <a:solidFill>
            <a:srgbClr val="C2352F"/>
          </a:solidFill>
          <a:ln/>
        </p:spPr>
      </p:sp>
      <p:sp>
        <p:nvSpPr>
          <p:cNvPr id="43" name="Text 41"/>
          <p:cNvSpPr txBox="1"/>
          <p:nvPr/>
        </p:nvSpPr>
        <p:spPr>
          <a:xfrm>
            <a:off x="62179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243170"/>
            <a:ext cx="54864" cy="272491"/>
          </a:xfrm>
          <a:prstGeom prst="rect">
            <a:avLst/>
          </a:prstGeom>
          <a:solidFill>
            <a:srgbClr val="C2352F"/>
          </a:solidFill>
          <a:ln/>
        </p:spPr>
      </p:sp>
      <p:sp>
        <p:nvSpPr>
          <p:cNvPr id="50" name="Text 48"/>
          <p:cNvSpPr txBox="1"/>
          <p:nvPr/>
        </p:nvSpPr>
        <p:spPr>
          <a:xfrm>
            <a:off x="62179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588813"/>
            <a:ext cx="54864" cy="272491"/>
          </a:xfrm>
          <a:prstGeom prst="rect">
            <a:avLst/>
          </a:prstGeom>
          <a:solidFill>
            <a:srgbClr val="C2352F"/>
          </a:solidFill>
          <a:ln/>
        </p:spPr>
      </p:sp>
      <p:sp>
        <p:nvSpPr>
          <p:cNvPr id="54" name="Shape 52"/>
          <p:cNvSpPr/>
          <p:nvPr/>
        </p:nvSpPr>
        <p:spPr>
          <a:xfrm>
            <a:off x="4251960" y="1207008"/>
            <a:ext cx="3685032" cy="478231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272491"/>
          </a:xfrm>
          <a:prstGeom prst="rect">
            <a:avLst/>
          </a:prstGeom>
          <a:solidFill>
            <a:srgbClr val="12A566"/>
          </a:solidFill>
          <a:ln/>
        </p:spPr>
      </p:sp>
      <p:sp>
        <p:nvSpPr>
          <p:cNvPr id="65" name="Text 63"/>
          <p:cNvSpPr txBox="1"/>
          <p:nvPr/>
        </p:nvSpPr>
        <p:spPr>
          <a:xfrm>
            <a:off x="4416552" y="251277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1277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1277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49347"/>
            <a:ext cx="54864" cy="272491"/>
          </a:xfrm>
          <a:prstGeom prst="rect">
            <a:avLst/>
          </a:prstGeom>
          <a:solidFill>
            <a:srgbClr val="12A566"/>
          </a:solidFill>
          <a:ln/>
        </p:spPr>
      </p:sp>
      <p:sp>
        <p:nvSpPr>
          <p:cNvPr id="69" name="Text 67"/>
          <p:cNvSpPr txBox="1"/>
          <p:nvPr/>
        </p:nvSpPr>
        <p:spPr>
          <a:xfrm>
            <a:off x="4416552" y="285841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858414"/>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85841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894990"/>
            <a:ext cx="54864" cy="272491"/>
          </a:xfrm>
          <a:prstGeom prst="rect">
            <a:avLst/>
          </a:prstGeom>
          <a:solidFill>
            <a:srgbClr val="12A566"/>
          </a:solidFill>
          <a:ln/>
        </p:spPr>
      </p:sp>
      <p:sp>
        <p:nvSpPr>
          <p:cNvPr id="73" name="Text 71"/>
          <p:cNvSpPr txBox="1"/>
          <p:nvPr/>
        </p:nvSpPr>
        <p:spPr>
          <a:xfrm>
            <a:off x="4416552" y="320405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20405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20405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240634"/>
            <a:ext cx="54864" cy="272491"/>
          </a:xfrm>
          <a:prstGeom prst="rect">
            <a:avLst/>
          </a:prstGeom>
          <a:solidFill>
            <a:srgbClr val="12A566"/>
          </a:solidFill>
          <a:ln/>
        </p:spPr>
      </p:sp>
      <p:sp>
        <p:nvSpPr>
          <p:cNvPr id="77" name="Text 75"/>
          <p:cNvSpPr txBox="1"/>
          <p:nvPr/>
        </p:nvSpPr>
        <p:spPr>
          <a:xfrm>
            <a:off x="4416552" y="354970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54970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54970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3913632"/>
            <a:ext cx="3355848" cy="22860"/>
          </a:xfrm>
          <a:prstGeom prst="rect">
            <a:avLst/>
          </a:prstGeom>
          <a:solidFill>
            <a:srgbClr val="C2352F"/>
          </a:solidFill>
          <a:ln/>
        </p:spPr>
      </p:sp>
      <p:sp>
        <p:nvSpPr>
          <p:cNvPr id="81" name="Text 79"/>
          <p:cNvSpPr txBox="1"/>
          <p:nvPr/>
        </p:nvSpPr>
        <p:spPr>
          <a:xfrm>
            <a:off x="441655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394106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394106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206240"/>
            <a:ext cx="54864" cy="272491"/>
          </a:xfrm>
          <a:prstGeom prst="rect">
            <a:avLst/>
          </a:prstGeom>
          <a:solidFill>
            <a:srgbClr val="C2352F"/>
          </a:solidFill>
          <a:ln/>
        </p:spPr>
      </p:sp>
      <p:sp>
        <p:nvSpPr>
          <p:cNvPr id="88" name="Text 86"/>
          <p:cNvSpPr txBox="1"/>
          <p:nvPr/>
        </p:nvSpPr>
        <p:spPr>
          <a:xfrm>
            <a:off x="441655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243170"/>
            <a:ext cx="54864" cy="272491"/>
          </a:xfrm>
          <a:prstGeom prst="rect">
            <a:avLst/>
          </a:prstGeom>
          <a:solidFill>
            <a:srgbClr val="C2352F"/>
          </a:solidFill>
          <a:ln/>
        </p:spPr>
      </p:sp>
      <p:sp>
        <p:nvSpPr>
          <p:cNvPr id="98" name="Text 96"/>
          <p:cNvSpPr txBox="1"/>
          <p:nvPr/>
        </p:nvSpPr>
        <p:spPr>
          <a:xfrm>
            <a:off x="441655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588813"/>
            <a:ext cx="54864" cy="272491"/>
          </a:xfrm>
          <a:prstGeom prst="rect">
            <a:avLst/>
          </a:prstGeom>
          <a:solidFill>
            <a:srgbClr val="C2352F"/>
          </a:solidFill>
          <a:ln/>
        </p:spPr>
      </p:sp>
      <p:sp>
        <p:nvSpPr>
          <p:cNvPr id="102" name="Shape 100"/>
          <p:cNvSpPr/>
          <p:nvPr/>
        </p:nvSpPr>
        <p:spPr>
          <a:xfrm>
            <a:off x="8046720" y="1207008"/>
            <a:ext cx="3685032" cy="478231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 · 6 stores at 100%</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09" name="Text 107"/>
          <p:cNvSpPr txBox="1"/>
          <p:nvPr/>
        </p:nvSpPr>
        <p:spPr>
          <a:xfrm>
            <a:off x="8211312" y="216712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1,570</a:t>
            </a:r>
            <a:endParaRPr lang="en-US" sz="1200" dirty="0"/>
          </a:p>
        </p:txBody>
      </p:sp>
      <p:sp>
        <p:nvSpPr>
          <p:cNvPr id="112" name="Text 110"/>
          <p:cNvSpPr txBox="1"/>
          <p:nvPr/>
        </p:nvSpPr>
        <p:spPr>
          <a:xfrm>
            <a:off x="8211312" y="251277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Text 111"/>
          <p:cNvSpPr txBox="1"/>
          <p:nvPr/>
        </p:nvSpPr>
        <p:spPr>
          <a:xfrm>
            <a:off x="9902952" y="251277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51277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1,565</a:t>
            </a:r>
            <a:endParaRPr lang="en-US" sz="1200" dirty="0"/>
          </a:p>
        </p:txBody>
      </p:sp>
      <p:sp>
        <p:nvSpPr>
          <p:cNvPr id="115" name="Text 113"/>
          <p:cNvSpPr txBox="1"/>
          <p:nvPr/>
        </p:nvSpPr>
        <p:spPr>
          <a:xfrm>
            <a:off x="8211312" y="285841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Text 114"/>
          <p:cNvSpPr txBox="1"/>
          <p:nvPr/>
        </p:nvSpPr>
        <p:spPr>
          <a:xfrm>
            <a:off x="9902952" y="2858414"/>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85841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1,458</a:t>
            </a:r>
            <a:endParaRPr lang="en-US" sz="1200" dirty="0"/>
          </a:p>
        </p:txBody>
      </p:sp>
      <p:sp>
        <p:nvSpPr>
          <p:cNvPr id="118" name="Text 116"/>
          <p:cNvSpPr txBox="1"/>
          <p:nvPr/>
        </p:nvSpPr>
        <p:spPr>
          <a:xfrm>
            <a:off x="8211312" y="320405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9" name="Text 117"/>
          <p:cNvSpPr txBox="1"/>
          <p:nvPr/>
        </p:nvSpPr>
        <p:spPr>
          <a:xfrm>
            <a:off x="9902952" y="320405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20405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121" name="Text 119"/>
          <p:cNvSpPr txBox="1"/>
          <p:nvPr/>
        </p:nvSpPr>
        <p:spPr>
          <a:xfrm>
            <a:off x="8211312" y="354970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22" name="Text 120"/>
          <p:cNvSpPr txBox="1"/>
          <p:nvPr/>
        </p:nvSpPr>
        <p:spPr>
          <a:xfrm>
            <a:off x="9902952" y="354970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54970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911</a:t>
            </a:r>
            <a:endParaRPr lang="en-US" sz="1200" dirty="0"/>
          </a:p>
        </p:txBody>
      </p:sp>
      <p:sp>
        <p:nvSpPr>
          <p:cNvPr id="124" name="Shape 122"/>
          <p:cNvSpPr/>
          <p:nvPr/>
        </p:nvSpPr>
        <p:spPr>
          <a:xfrm>
            <a:off x="8211312" y="3913632"/>
            <a:ext cx="3355848" cy="22860"/>
          </a:xfrm>
          <a:prstGeom prst="rect">
            <a:avLst/>
          </a:prstGeom>
          <a:solidFill>
            <a:srgbClr val="C2352F"/>
          </a:solidFill>
          <a:ln/>
        </p:spPr>
      </p:sp>
      <p:sp>
        <p:nvSpPr>
          <p:cNvPr id="125" name="Text 123"/>
          <p:cNvSpPr txBox="1"/>
          <p:nvPr/>
        </p:nvSpPr>
        <p:spPr>
          <a:xfrm>
            <a:off x="821131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6" name="Text 124"/>
          <p:cNvSpPr txBox="1"/>
          <p:nvPr/>
        </p:nvSpPr>
        <p:spPr>
          <a:xfrm>
            <a:off x="9902952" y="394106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27" name="Text 125"/>
          <p:cNvSpPr txBox="1"/>
          <p:nvPr/>
        </p:nvSpPr>
        <p:spPr>
          <a:xfrm>
            <a:off x="10652760" y="394106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28" name="Text 126"/>
          <p:cNvSpPr txBox="1"/>
          <p:nvPr/>
        </p:nvSpPr>
        <p:spPr>
          <a:xfrm>
            <a:off x="821131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9" name="Text 127"/>
          <p:cNvSpPr txBox="1"/>
          <p:nvPr/>
        </p:nvSpPr>
        <p:spPr>
          <a:xfrm>
            <a:off x="990295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0" name="Text 128"/>
          <p:cNvSpPr txBox="1"/>
          <p:nvPr/>
        </p:nvSpPr>
        <p:spPr>
          <a:xfrm>
            <a:off x="1065276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1" name="Text 129"/>
          <p:cNvSpPr txBox="1"/>
          <p:nvPr/>
        </p:nvSpPr>
        <p:spPr>
          <a:xfrm>
            <a:off x="821131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2" name="Text 130"/>
          <p:cNvSpPr txBox="1"/>
          <p:nvPr/>
        </p:nvSpPr>
        <p:spPr>
          <a:xfrm>
            <a:off x="990295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3" name="Text 131"/>
          <p:cNvSpPr txBox="1"/>
          <p:nvPr/>
        </p:nvSpPr>
        <p:spPr>
          <a:xfrm>
            <a:off x="1065276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4" name="Text 132"/>
          <p:cNvSpPr txBox="1"/>
          <p:nvPr/>
        </p:nvSpPr>
        <p:spPr>
          <a:xfrm>
            <a:off x="821131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5" name="Text 133"/>
          <p:cNvSpPr txBox="1"/>
          <p:nvPr/>
        </p:nvSpPr>
        <p:spPr>
          <a:xfrm>
            <a:off x="990295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6" name="Text 134"/>
          <p:cNvSpPr txBox="1"/>
          <p:nvPr/>
        </p:nvSpPr>
        <p:spPr>
          <a:xfrm>
            <a:off x="1065276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37" name="Shape 135"/>
          <p:cNvSpPr/>
          <p:nvPr/>
        </p:nvSpPr>
        <p:spPr>
          <a:xfrm>
            <a:off x="11612880" y="4897526"/>
            <a:ext cx="54864" cy="272491"/>
          </a:xfrm>
          <a:prstGeom prst="rect">
            <a:avLst/>
          </a:prstGeom>
          <a:solidFill>
            <a:srgbClr val="C2352F"/>
          </a:solidFill>
          <a:ln/>
        </p:spPr>
      </p:sp>
      <p:sp>
        <p:nvSpPr>
          <p:cNvPr id="138" name="Text 136"/>
          <p:cNvSpPr txBox="1"/>
          <p:nvPr/>
        </p:nvSpPr>
        <p:spPr>
          <a:xfrm>
            <a:off x="821131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39" name="Text 137"/>
          <p:cNvSpPr txBox="1"/>
          <p:nvPr/>
        </p:nvSpPr>
        <p:spPr>
          <a:xfrm>
            <a:off x="990295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0" name="Text 138"/>
          <p:cNvSpPr txBox="1"/>
          <p:nvPr/>
        </p:nvSpPr>
        <p:spPr>
          <a:xfrm>
            <a:off x="1065276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1" name="Shape 139"/>
          <p:cNvSpPr/>
          <p:nvPr/>
        </p:nvSpPr>
        <p:spPr>
          <a:xfrm>
            <a:off x="11612880" y="5243170"/>
            <a:ext cx="54864" cy="272491"/>
          </a:xfrm>
          <a:prstGeom prst="rect">
            <a:avLst/>
          </a:prstGeom>
          <a:solidFill>
            <a:srgbClr val="C2352F"/>
          </a:solidFill>
          <a:ln/>
        </p:spPr>
      </p:sp>
      <p:sp>
        <p:nvSpPr>
          <p:cNvPr id="142" name="Text 140"/>
          <p:cNvSpPr txBox="1"/>
          <p:nvPr/>
        </p:nvSpPr>
        <p:spPr>
          <a:xfrm>
            <a:off x="821131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3" name="Text 141"/>
          <p:cNvSpPr txBox="1"/>
          <p:nvPr/>
        </p:nvSpPr>
        <p:spPr>
          <a:xfrm>
            <a:off x="990295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4" name="Text 142"/>
          <p:cNvSpPr txBox="1"/>
          <p:nvPr/>
        </p:nvSpPr>
        <p:spPr>
          <a:xfrm>
            <a:off x="1065276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
        <p:nvSpPr>
          <p:cNvPr id="145" name="Shape 143"/>
          <p:cNvSpPr/>
          <p:nvPr/>
        </p:nvSpPr>
        <p:spPr>
          <a:xfrm>
            <a:off x="457200" y="6126480"/>
            <a:ext cx="11274552" cy="615696"/>
          </a:xfrm>
          <a:prstGeom prst="rect">
            <a:avLst/>
          </a:prstGeom>
          <a:solidFill>
            <a:srgbClr val="EDF4FA"/>
          </a:solidFill>
          <a:ln/>
        </p:spPr>
      </p:sp>
      <p:sp>
        <p:nvSpPr>
          <p:cNvPr id="146" name="Text 14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Chevy GMC Bullhead picks up 77.1% of transfers; Kia St George picks up 21.9%. Nissan and Prescott Hyundai hold 272 of the group's 484 open callbacks.</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 Ask Lexus, CDJR Post Falls and LR LV what they started this year.</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3" name="Text 61"/>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5" name="Text 63"/>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6" name="Shape 64"/>
          <p:cNvSpPr/>
          <p:nvPr/>
        </p:nvSpPr>
        <p:spPr>
          <a:xfrm>
            <a:off x="8040624" y="5124298"/>
            <a:ext cx="3489960" cy="755294"/>
          </a:xfrm>
          <a:prstGeom prst="rect">
            <a:avLst/>
          </a:prstGeom>
          <a:solidFill>
            <a:srgbClr val="F7F7F7"/>
          </a:solidFill>
          <a:ln/>
        </p:spPr>
      </p:sp>
      <p:sp>
        <p:nvSpPr>
          <p:cNvPr id="67" name="Shape 65"/>
          <p:cNvSpPr/>
          <p:nvPr/>
        </p:nvSpPr>
        <p:spPr>
          <a:xfrm>
            <a:off x="11466576" y="5160874"/>
            <a:ext cx="64008" cy="682142"/>
          </a:xfrm>
          <a:prstGeom prst="rect">
            <a:avLst/>
          </a:prstGeom>
          <a:solidFill>
            <a:srgbClr val="12A566"/>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Kia LV and Kia St George what changed. Ask VW St George, Audi Reno and Volvo what got in the way. Ask Mazda, CDJR Post Falls and Lexus what they started this year.</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the work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Hyundai St George at +39.2% (+0.40) to 1.43. 7 declined; LR Reno fell most at −13.7%.</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1" name="Shape 139"/>
          <p:cNvSpPr/>
          <p:nvPr/>
        </p:nvSpPr>
        <p:spPr>
          <a:xfrm>
            <a:off x="457200" y="6126480"/>
            <a:ext cx="11274552" cy="348996"/>
          </a:xfrm>
          <a:prstGeom prst="rect">
            <a:avLst/>
          </a:prstGeom>
          <a:solidFill>
            <a:srgbClr val="E6F6EE"/>
          </a:solidFill>
          <a:ln/>
        </p:spPr>
      </p:sp>
      <p:sp>
        <p:nvSpPr>
          <p:cNvPr id="142" name="Text 14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0.1 hour more on every CP RO is worth $6,602,564 a year in added gross. Toyota Henderson leads at $1,164,334.</a:t>
            </a:r>
            <a:endParaRPr lang="en-US" sz="145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Shape 18"/>
          <p:cNvSpPr/>
          <p:nvPr/>
        </p:nvSpPr>
        <p:spPr>
          <a:xfrm>
            <a:off x="4084320" y="3650285"/>
            <a:ext cx="64008" cy="682142"/>
          </a:xfrm>
          <a:prstGeom prst="rect">
            <a:avLst/>
          </a:prstGeom>
          <a:solidFill>
            <a:srgbClr val="12A566"/>
          </a:solidFill>
          <a:ln/>
        </p:spPr>
      </p:sp>
      <p:sp>
        <p:nvSpPr>
          <p:cNvPr id="21" name="Text 19"/>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3" name="Text 21"/>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4" name="Text 22"/>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5" name="Text 23"/>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7" name="Text 25"/>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8" name="Text 26"/>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9" name="Shape 27"/>
          <p:cNvSpPr/>
          <p:nvPr/>
        </p:nvSpPr>
        <p:spPr>
          <a:xfrm>
            <a:off x="658368" y="5124298"/>
            <a:ext cx="3489960" cy="755294"/>
          </a:xfrm>
          <a:prstGeom prst="rect">
            <a:avLst/>
          </a:prstGeom>
          <a:solidFill>
            <a:srgbClr val="F7F7F7"/>
          </a:solidFill>
          <a:ln/>
        </p:spPr>
      </p:sp>
      <p:sp>
        <p:nvSpPr>
          <p:cNvPr id="30" name="Text 28"/>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2" name="Text 30"/>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3" name="Text 31"/>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755294"/>
          </a:xfrm>
          <a:prstGeom prst="rect">
            <a:avLst/>
          </a:prstGeom>
          <a:solidFill>
            <a:srgbClr val="F7F7F7"/>
          </a:solidFill>
          <a:ln/>
        </p:spPr>
      </p:sp>
      <p:sp>
        <p:nvSpPr>
          <p:cNvPr id="38" name="Text 36"/>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40" name="Text 38"/>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2" name="Text 40"/>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4" name="Text 42"/>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5" name="Text 43"/>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6" name="Shape 44"/>
          <p:cNvSpPr/>
          <p:nvPr/>
        </p:nvSpPr>
        <p:spPr>
          <a:xfrm>
            <a:off x="4349496" y="3613709"/>
            <a:ext cx="3489960" cy="755294"/>
          </a:xfrm>
          <a:prstGeom prst="rect">
            <a:avLst/>
          </a:prstGeom>
          <a:solidFill>
            <a:srgbClr val="F7F7F7"/>
          </a:solidFill>
          <a:ln/>
        </p:spPr>
      </p:sp>
      <p:sp>
        <p:nvSpPr>
          <p:cNvPr id="47" name="Text 45"/>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9" name="Text 47"/>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0" name="Text 48"/>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1" name="Text 4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3" name="Text 51"/>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4" name="Text 52"/>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5" name="Shape 53"/>
          <p:cNvSpPr/>
          <p:nvPr/>
        </p:nvSpPr>
        <p:spPr>
          <a:xfrm>
            <a:off x="4349496" y="5124298"/>
            <a:ext cx="3489960" cy="755294"/>
          </a:xfrm>
          <a:prstGeom prst="rect">
            <a:avLst/>
          </a:prstGeom>
          <a:solidFill>
            <a:srgbClr val="F7F7F7"/>
          </a:solidFill>
          <a:ln/>
        </p:spPr>
      </p:sp>
      <p:sp>
        <p:nvSpPr>
          <p:cNvPr id="56" name="Text 5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8" name="Text 56"/>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9" name="Text 57"/>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3" name="Shape 61"/>
          <p:cNvSpPr/>
          <p:nvPr/>
        </p:nvSpPr>
        <p:spPr>
          <a:xfrm>
            <a:off x="8040624" y="2103120"/>
            <a:ext cx="3489960" cy="755294"/>
          </a:xfrm>
          <a:prstGeom prst="rect">
            <a:avLst/>
          </a:prstGeom>
          <a:solidFill>
            <a:srgbClr val="F7F7F7"/>
          </a:solidFill>
          <a:ln/>
        </p:spPr>
      </p:sp>
      <p:sp>
        <p:nvSpPr>
          <p:cNvPr id="64" name="Text 6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6" name="Text 64"/>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7" name="Text 65"/>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8" name="Text 6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70" name="Text 68"/>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71" name="Text 69"/>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2" name="Shape 70"/>
          <p:cNvSpPr/>
          <p:nvPr/>
        </p:nvSpPr>
        <p:spPr>
          <a:xfrm>
            <a:off x="8040624" y="3613709"/>
            <a:ext cx="3489960" cy="755294"/>
          </a:xfrm>
          <a:prstGeom prst="rect">
            <a:avLst/>
          </a:prstGeom>
          <a:solidFill>
            <a:srgbClr val="F7F7F7"/>
          </a:solidFill>
          <a:ln/>
        </p:spPr>
      </p:sp>
      <p:sp>
        <p:nvSpPr>
          <p:cNvPr id="73" name="Shape 71"/>
          <p:cNvSpPr/>
          <p:nvPr/>
        </p:nvSpPr>
        <p:spPr>
          <a:xfrm>
            <a:off x="11466576" y="3650285"/>
            <a:ext cx="64008" cy="682142"/>
          </a:xfrm>
          <a:prstGeom prst="rect">
            <a:avLst/>
          </a:prstGeom>
          <a:solidFill>
            <a:srgbClr val="12A566"/>
          </a:solidFill>
          <a:ln/>
        </p:spPr>
      </p:sp>
      <p:sp>
        <p:nvSpPr>
          <p:cNvPr id="74" name="Text 7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6" name="Text 74"/>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7" name="Text 75"/>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8" name="Shape 76"/>
          <p:cNvSpPr/>
          <p:nvPr/>
        </p:nvSpPr>
        <p:spPr>
          <a:xfrm>
            <a:off x="11466576" y="4405579"/>
            <a:ext cx="64008" cy="682142"/>
          </a:xfrm>
          <a:prstGeom prst="rect">
            <a:avLst/>
          </a:prstGeom>
          <a:solidFill>
            <a:srgbClr val="12A566"/>
          </a:solidFill>
          <a:ln/>
        </p:spPr>
      </p:sp>
      <p:sp>
        <p:nvSpPr>
          <p:cNvPr id="79" name="Text 77"/>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81" name="Text 79"/>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82" name="Text 80"/>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83" name="Shape 81"/>
          <p:cNvSpPr/>
          <p:nvPr/>
        </p:nvSpPr>
        <p:spPr>
          <a:xfrm>
            <a:off x="8040624" y="5124298"/>
            <a:ext cx="3489960" cy="755294"/>
          </a:xfrm>
          <a:prstGeom prst="rect">
            <a:avLst/>
          </a:prstGeom>
          <a:solidFill>
            <a:srgbClr val="F7F7F7"/>
          </a:solidFill>
          <a:ln/>
        </p:spPr>
      </p:sp>
      <p:sp>
        <p:nvSpPr>
          <p:cNvPr id="84" name="Text 82"/>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6" name="Text 84"/>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7" name="Text 85"/>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
        <p:nvSpPr>
          <p:cNvPr id="88" name="Shape 86"/>
          <p:cNvSpPr/>
          <p:nvPr/>
        </p:nvSpPr>
        <p:spPr>
          <a:xfrm>
            <a:off x="457200" y="6126480"/>
            <a:ext cx="11274552" cy="585216"/>
          </a:xfrm>
          <a:prstGeom prst="rect">
            <a:avLst/>
          </a:prstGeom>
          <a:solidFill>
            <a:srgbClr val="EDF4FA"/>
          </a:solidFill>
          <a:ln/>
        </p:spPr>
      </p:sp>
      <p:sp>
        <p:nvSpPr>
          <p:cNvPr id="89" name="Text 87"/>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Hyundai St George, Subaru St George and Kia St George what changed. Ask LR Reno, VW St George and Volvo what got in the way. Ask Mazda, Hyundai Prescott and Hyundai St George what they started this year.</a:t>
            </a:r>
            <a:endParaRPr lang="en-US" sz="15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064924"/>
          </a:xfrm>
          <a:prstGeom prst="rect">
            <a:avLst/>
          </a:prstGeom>
          <a:solidFill>
            <a:srgbClr val="2587C5"/>
          </a:solidFill>
          <a:ln/>
        </p:spPr>
      </p:sp>
      <p:sp>
        <p:nvSpPr>
          <p:cNvPr id="14" name="Text 12"/>
          <p:cNvSpPr txBox="1"/>
          <p:nvPr/>
        </p:nvSpPr>
        <p:spPr>
          <a:xfrm>
            <a:off x="5266944"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064924"/>
          </a:xfrm>
          <a:prstGeom prst="rect">
            <a:avLst/>
          </a:prstGeom>
          <a:solidFill>
            <a:srgbClr val="2587C5"/>
          </a:solidFill>
          <a:ln/>
        </p:spPr>
      </p:sp>
      <p:sp>
        <p:nvSpPr>
          <p:cNvPr id="16" name="Text 14"/>
          <p:cNvSpPr txBox="1"/>
          <p:nvPr/>
        </p:nvSpPr>
        <p:spPr>
          <a:xfrm>
            <a:off x="8522208"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018436"/>
            <a:ext cx="45720" cy="829994"/>
          </a:xfrm>
          <a:prstGeom prst="rect">
            <a:avLst/>
          </a:prstGeom>
          <a:solidFill>
            <a:srgbClr val="2587C5"/>
          </a:solidFill>
          <a:ln/>
        </p:spPr>
      </p:sp>
      <p:sp>
        <p:nvSpPr>
          <p:cNvPr id="18" name="Text 16"/>
          <p:cNvSpPr txBox="1"/>
          <p:nvPr/>
        </p:nvSpPr>
        <p:spPr>
          <a:xfrm>
            <a:off x="5266944"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018436"/>
            <a:ext cx="45720" cy="829994"/>
          </a:xfrm>
          <a:prstGeom prst="rect">
            <a:avLst/>
          </a:prstGeom>
          <a:solidFill>
            <a:srgbClr val="2587C5"/>
          </a:solidFill>
          <a:ln/>
        </p:spPr>
      </p:sp>
      <p:sp>
        <p:nvSpPr>
          <p:cNvPr id="20" name="Text 18"/>
          <p:cNvSpPr txBox="1"/>
          <p:nvPr/>
        </p:nvSpPr>
        <p:spPr>
          <a:xfrm>
            <a:off x="8522208"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4958158"/>
            <a:ext cx="45720" cy="829994"/>
          </a:xfrm>
          <a:prstGeom prst="rect">
            <a:avLst/>
          </a:prstGeom>
          <a:solidFill>
            <a:srgbClr val="2587C5"/>
          </a:solidFill>
          <a:ln/>
        </p:spPr>
      </p:sp>
      <p:sp>
        <p:nvSpPr>
          <p:cNvPr id="22" name="Text 20"/>
          <p:cNvSpPr txBox="1"/>
          <p:nvPr/>
        </p:nvSpPr>
        <p:spPr>
          <a:xfrm>
            <a:off x="5266944"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4958158"/>
            <a:ext cx="45720" cy="829994"/>
          </a:xfrm>
          <a:prstGeom prst="rect">
            <a:avLst/>
          </a:prstGeom>
          <a:solidFill>
            <a:srgbClr val="2587C5"/>
          </a:solidFill>
          <a:ln/>
        </p:spPr>
      </p:sp>
      <p:sp>
        <p:nvSpPr>
          <p:cNvPr id="24" name="Text 22"/>
          <p:cNvSpPr txBox="1"/>
          <p:nvPr/>
        </p:nvSpPr>
        <p:spPr>
          <a:xfrm>
            <a:off x="8522208"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led by Honda Spokane at +22.9% (+$27) to $144. 14 declined; Kia LV fell most at −19.1%.</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2" name="Text 20"/>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3" name="Text 21"/>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Text 27"/>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1" name="Text 29"/>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2" name="Text 30"/>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755294"/>
          </a:xfrm>
          <a:prstGeom prst="rect">
            <a:avLst/>
          </a:prstGeom>
          <a:solidFill>
            <a:srgbClr val="F7F7F7"/>
          </a:solidFill>
          <a:ln/>
        </p:spPr>
      </p:sp>
      <p:sp>
        <p:nvSpPr>
          <p:cNvPr id="37" name="Text 35"/>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39" name="Text 37"/>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0" name="Text 38"/>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1" name="Text 39"/>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3" name="Text 41"/>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4" name="Text 42"/>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5" name="Shape 43"/>
          <p:cNvSpPr/>
          <p:nvPr/>
        </p:nvSpPr>
        <p:spPr>
          <a:xfrm>
            <a:off x="4349496" y="3613709"/>
            <a:ext cx="3489960" cy="755294"/>
          </a:xfrm>
          <a:prstGeom prst="rect">
            <a:avLst/>
          </a:prstGeom>
          <a:solidFill>
            <a:srgbClr val="F7F7F7"/>
          </a:solidFill>
          <a:ln/>
        </p:spPr>
      </p:sp>
      <p:sp>
        <p:nvSpPr>
          <p:cNvPr id="46" name="Text 44"/>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8" name="Text 46"/>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49" name="Text 47"/>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0" name="Text 48"/>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2" name="Text 50"/>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3" name="Text 51"/>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4" name="Shape 52"/>
          <p:cNvSpPr/>
          <p:nvPr/>
        </p:nvSpPr>
        <p:spPr>
          <a:xfrm>
            <a:off x="4349496" y="5124298"/>
            <a:ext cx="3489960" cy="755294"/>
          </a:xfrm>
          <a:prstGeom prst="rect">
            <a:avLst/>
          </a:prstGeom>
          <a:solidFill>
            <a:srgbClr val="F7F7F7"/>
          </a:solidFill>
          <a:ln/>
        </p:spPr>
      </p:sp>
      <p:sp>
        <p:nvSpPr>
          <p:cNvPr id="55" name="Text 5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7" name="Text 55"/>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8" name="Text 56"/>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2" name="Shape 60"/>
          <p:cNvSpPr/>
          <p:nvPr/>
        </p:nvSpPr>
        <p:spPr>
          <a:xfrm>
            <a:off x="8040624" y="2103120"/>
            <a:ext cx="3489960" cy="755294"/>
          </a:xfrm>
          <a:prstGeom prst="rect">
            <a:avLst/>
          </a:prstGeom>
          <a:solidFill>
            <a:srgbClr val="F7F7F7"/>
          </a:solidFill>
          <a:ln/>
        </p:spPr>
      </p:sp>
      <p:sp>
        <p:nvSpPr>
          <p:cNvPr id="63" name="Text 6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5" name="Text 63"/>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6" name="Text 64"/>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7" name="Text 6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6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69" name="Text 67"/>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0" name="Text 68"/>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1" name="Shape 69"/>
          <p:cNvSpPr/>
          <p:nvPr/>
        </p:nvSpPr>
        <p:spPr>
          <a:xfrm>
            <a:off x="8040624" y="3613709"/>
            <a:ext cx="3489960" cy="755294"/>
          </a:xfrm>
          <a:prstGeom prst="rect">
            <a:avLst/>
          </a:prstGeom>
          <a:solidFill>
            <a:srgbClr val="F7F7F7"/>
          </a:solidFill>
          <a:ln/>
        </p:spPr>
      </p:sp>
      <p:sp>
        <p:nvSpPr>
          <p:cNvPr id="72" name="Shape 70"/>
          <p:cNvSpPr/>
          <p:nvPr/>
        </p:nvSpPr>
        <p:spPr>
          <a:xfrm>
            <a:off x="11466576" y="3650285"/>
            <a:ext cx="64008" cy="682142"/>
          </a:xfrm>
          <a:prstGeom prst="rect">
            <a:avLst/>
          </a:prstGeom>
          <a:solidFill>
            <a:srgbClr val="12A566"/>
          </a:solidFill>
          <a:ln/>
        </p:spPr>
      </p:sp>
      <p:sp>
        <p:nvSpPr>
          <p:cNvPr id="73" name="Text 7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5" name="Text 73"/>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6" name="Text 74"/>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7" name="Text 7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79" name="Text 77"/>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80" name="Text 78"/>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81" name="Shape 79"/>
          <p:cNvSpPr/>
          <p:nvPr/>
        </p:nvSpPr>
        <p:spPr>
          <a:xfrm>
            <a:off x="8040624" y="5124298"/>
            <a:ext cx="3489960" cy="755294"/>
          </a:xfrm>
          <a:prstGeom prst="rect">
            <a:avLst/>
          </a:prstGeom>
          <a:solidFill>
            <a:srgbClr val="F7F7F7"/>
          </a:solidFill>
          <a:ln/>
        </p:spPr>
      </p:sp>
      <p:sp>
        <p:nvSpPr>
          <p:cNvPr id="82" name="Text 8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4" name="Text 82"/>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5" name="Text 83"/>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86" name="Shape 84"/>
          <p:cNvSpPr/>
          <p:nvPr/>
        </p:nvSpPr>
        <p:spPr>
          <a:xfrm>
            <a:off x="457200" y="6126480"/>
            <a:ext cx="11274552" cy="615696"/>
          </a:xfrm>
          <a:prstGeom prst="rect">
            <a:avLst/>
          </a:prstGeom>
          <a:solidFill>
            <a:srgbClr val="EDF4FA"/>
          </a:solidFill>
          <a:ln/>
        </p:spPr>
      </p:sp>
      <p:sp>
        <p:nvSpPr>
          <p:cNvPr id="87" name="Text 8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Honda Spokane, Volvo and Lincoln what changed. Ask Kia LV, Subaru St George and Acura what got in the way. Ask VW St George, Audi Reno and Honda Spokane what they started this year.</a:t>
            </a:r>
            <a:endParaRPr lang="en-US" sz="16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led by Hyundai St George at +38.4% (+$66) to $238. 7 declined; VW St George fell most at −13.8%.</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Shape 21"/>
          <p:cNvSpPr/>
          <p:nvPr/>
        </p:nvSpPr>
        <p:spPr>
          <a:xfrm>
            <a:off x="4084320" y="4405579"/>
            <a:ext cx="64008" cy="682142"/>
          </a:xfrm>
          <a:prstGeom prst="rect">
            <a:avLst/>
          </a:prstGeom>
          <a:solidFill>
            <a:srgbClr val="12A566"/>
          </a:solidFill>
          <a:ln/>
        </p:spPr>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Text 27"/>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1" name="Text 29"/>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2" name="Text 30"/>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755294"/>
          </a:xfrm>
          <a:prstGeom prst="rect">
            <a:avLst/>
          </a:prstGeom>
          <a:solidFill>
            <a:srgbClr val="F7F7F7"/>
          </a:solidFill>
          <a:ln/>
        </p:spPr>
      </p:sp>
      <p:sp>
        <p:nvSpPr>
          <p:cNvPr id="37" name="Text 35"/>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9" name="Text 37"/>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0" name="Text 38"/>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1" name="Text 39"/>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3" name="Text 41"/>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4" name="Text 42"/>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5" name="Shape 43"/>
          <p:cNvSpPr/>
          <p:nvPr/>
        </p:nvSpPr>
        <p:spPr>
          <a:xfrm>
            <a:off x="4349496" y="3613709"/>
            <a:ext cx="3489960" cy="755294"/>
          </a:xfrm>
          <a:prstGeom prst="rect">
            <a:avLst/>
          </a:prstGeom>
          <a:solidFill>
            <a:srgbClr val="F7F7F7"/>
          </a:solidFill>
          <a:ln/>
        </p:spPr>
      </p:sp>
      <p:sp>
        <p:nvSpPr>
          <p:cNvPr id="46" name="Text 44"/>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8" name="Text 46"/>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9" name="Text 47"/>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0" name="Text 48"/>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2" name="Text 50"/>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3" name="Text 51"/>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4" name="Shape 52"/>
          <p:cNvSpPr/>
          <p:nvPr/>
        </p:nvSpPr>
        <p:spPr>
          <a:xfrm>
            <a:off x="4349496" y="5124298"/>
            <a:ext cx="3489960" cy="755294"/>
          </a:xfrm>
          <a:prstGeom prst="rect">
            <a:avLst/>
          </a:prstGeom>
          <a:solidFill>
            <a:srgbClr val="F7F7F7"/>
          </a:solidFill>
          <a:ln/>
        </p:spPr>
      </p:sp>
      <p:sp>
        <p:nvSpPr>
          <p:cNvPr id="55" name="Text 5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7" name="Text 55"/>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8" name="Text 56"/>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2" name="Shape 60"/>
          <p:cNvSpPr/>
          <p:nvPr/>
        </p:nvSpPr>
        <p:spPr>
          <a:xfrm>
            <a:off x="8040624" y="2103120"/>
            <a:ext cx="3489960" cy="755294"/>
          </a:xfrm>
          <a:prstGeom prst="rect">
            <a:avLst/>
          </a:prstGeom>
          <a:solidFill>
            <a:srgbClr val="F7F7F7"/>
          </a:solidFill>
          <a:ln/>
        </p:spPr>
      </p:sp>
      <p:sp>
        <p:nvSpPr>
          <p:cNvPr id="63" name="Text 6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5" name="Text 63"/>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6" name="Text 64"/>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7" name="Shape 65"/>
          <p:cNvSpPr/>
          <p:nvPr/>
        </p:nvSpPr>
        <p:spPr>
          <a:xfrm>
            <a:off x="11466576" y="2894990"/>
            <a:ext cx="64008" cy="682142"/>
          </a:xfrm>
          <a:prstGeom prst="rect">
            <a:avLst/>
          </a:prstGeom>
          <a:solidFill>
            <a:srgbClr val="12A566"/>
          </a:solidFill>
          <a:ln/>
        </p:spPr>
      </p:sp>
      <p:sp>
        <p:nvSpPr>
          <p:cNvPr id="68" name="Text 6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70" name="Text 68"/>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71" name="Text 69"/>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2" name="Shape 70"/>
          <p:cNvSpPr/>
          <p:nvPr/>
        </p:nvSpPr>
        <p:spPr>
          <a:xfrm>
            <a:off x="8040624" y="3613709"/>
            <a:ext cx="3489960" cy="755294"/>
          </a:xfrm>
          <a:prstGeom prst="rect">
            <a:avLst/>
          </a:prstGeom>
          <a:solidFill>
            <a:srgbClr val="F7F7F7"/>
          </a:solidFill>
          <a:ln/>
        </p:spPr>
      </p:sp>
      <p:sp>
        <p:nvSpPr>
          <p:cNvPr id="73" name="Text 7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5" name="Text 73"/>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6" name="Text 74"/>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7" name="Text 7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9" name="Text 77"/>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80" name="Text 78"/>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81" name="Shape 79"/>
          <p:cNvSpPr/>
          <p:nvPr/>
        </p:nvSpPr>
        <p:spPr>
          <a:xfrm>
            <a:off x="8040624" y="5124298"/>
            <a:ext cx="3489960" cy="755294"/>
          </a:xfrm>
          <a:prstGeom prst="rect">
            <a:avLst/>
          </a:prstGeom>
          <a:solidFill>
            <a:srgbClr val="F7F7F7"/>
          </a:solidFill>
          <a:ln/>
        </p:spPr>
      </p:sp>
      <p:sp>
        <p:nvSpPr>
          <p:cNvPr id="82" name="Text 8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4" name="Text 82"/>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5" name="Text 83"/>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86" name="Shape 84"/>
          <p:cNvSpPr/>
          <p:nvPr/>
        </p:nvSpPr>
        <p:spPr>
          <a:xfrm>
            <a:off x="457200" y="6126480"/>
            <a:ext cx="11274552" cy="615696"/>
          </a:xfrm>
          <a:prstGeom prst="rect">
            <a:avLst/>
          </a:prstGeom>
          <a:solidFill>
            <a:srgbClr val="EDF4FA"/>
          </a:solidFill>
          <a:ln/>
        </p:spPr>
      </p:sp>
      <p:sp>
        <p:nvSpPr>
          <p:cNvPr id="87" name="Text 8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Lincoln and Subaru Prescott what changed. Ask VW St George, LR Reno and Kia LV what got in the way. Ask Mazda, Kia St George and Hyundai Prescott what they started this year.</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Shape 23"/>
          <p:cNvSpPr/>
          <p:nvPr/>
        </p:nvSpPr>
        <p:spPr>
          <a:xfrm>
            <a:off x="4084320" y="5160874"/>
            <a:ext cx="64008" cy="682142"/>
          </a:xfrm>
          <a:prstGeom prst="rect">
            <a:avLst/>
          </a:prstGeom>
          <a:solidFill>
            <a:srgbClr val="12A566"/>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Text 5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6" name="Text 54"/>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7" name="Shape 55"/>
          <p:cNvSpPr/>
          <p:nvPr/>
        </p:nvSpPr>
        <p:spPr>
          <a:xfrm>
            <a:off x="11466576" y="2894990"/>
            <a:ext cx="64008" cy="682142"/>
          </a:xfrm>
          <a:prstGeom prst="rect">
            <a:avLst/>
          </a:prstGeom>
          <a:solidFill>
            <a:srgbClr val="12A566"/>
          </a:solidFill>
          <a:ln/>
        </p:spPr>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Text 60"/>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4" name="Text 62"/>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5" name="Shape 63"/>
          <p:cNvSpPr/>
          <p:nvPr/>
        </p:nvSpPr>
        <p:spPr>
          <a:xfrm>
            <a:off x="11466576" y="4405579"/>
            <a:ext cx="64008" cy="682142"/>
          </a:xfrm>
          <a:prstGeom prst="rect">
            <a:avLst/>
          </a:prstGeom>
          <a:solidFill>
            <a:srgbClr val="12A566"/>
          </a:solidFill>
          <a:ln/>
        </p:spPr>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73" name="Shape 71"/>
          <p:cNvSpPr/>
          <p:nvPr/>
        </p:nvSpPr>
        <p:spPr>
          <a:xfrm>
            <a:off x="457200" y="6126480"/>
            <a:ext cx="11274552" cy="600456"/>
          </a:xfrm>
          <a:prstGeom prst="rect">
            <a:avLst/>
          </a:prstGeom>
          <a:solidFill>
            <a:srgbClr val="EDF4FA"/>
          </a:solidFill>
          <a:ln/>
        </p:spPr>
      </p:sp>
      <p:sp>
        <p:nvSpPr>
          <p:cNvPr id="74" name="Text 72"/>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 Ask Kia St George, Acura and Cadillac what they started this year.</a:t>
            </a:r>
            <a:endParaRPr lang="en-US" sz="155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Shape 51"/>
          <p:cNvSpPr/>
          <p:nvPr/>
        </p:nvSpPr>
        <p:spPr>
          <a:xfrm>
            <a:off x="11466576" y="2139696"/>
            <a:ext cx="64008" cy="682142"/>
          </a:xfrm>
          <a:prstGeom prst="rect">
            <a:avLst/>
          </a:prstGeom>
          <a:solidFill>
            <a:srgbClr val="12A566"/>
          </a:solidFill>
          <a:ln/>
        </p:spPr>
      </p:sp>
      <p:sp>
        <p:nvSpPr>
          <p:cNvPr id="54" name="Text 5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6" name="Text 54"/>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 Ask Acura, VW St George and GMC Prescott what they started this year.</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DF4FA"/>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 LR Reno and VW Henderson lead at 99.0%; Cadillac is lowest at 40.5%.</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DF4FA"/>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17 of 33 stores at or above the 57.8% group. VW Henderson leads at 96.0%; Kia St George is lowest at 5.2%.</a:t>
            </a:r>
            <a:endParaRPr lang="en-US" sz="15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8" name="Shape 156"/>
          <p:cNvSpPr/>
          <p:nvPr/>
        </p:nvSpPr>
        <p:spPr>
          <a:xfrm>
            <a:off x="457200" y="6126480"/>
            <a:ext cx="11274552" cy="341376"/>
          </a:xfrm>
          <a:prstGeom prst="rect">
            <a:avLst/>
          </a:prstGeom>
          <a:solidFill>
            <a:srgbClr val="EDF4FA"/>
          </a:solidFill>
          <a:ln/>
        </p:spPr>
      </p:sp>
      <p:sp>
        <p:nvSpPr>
          <p:cNvPr id="159" name="Text 15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11 of 28 stores at or above the 45.3% group. Hyundai Prescott leads at 91.2%; Kia St George is lowest at 11.8%.</a:t>
            </a:r>
            <a:endParaRPr lang="en-US" sz="14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101770"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52178"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107256" y="1756697"/>
            <a:ext cx="23944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+1,422</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20" name="Text 18"/>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107256" y="2005199"/>
            <a:ext cx="171145" cy="136676"/>
          </a:xfrm>
          <a:prstGeom prst="rect">
            <a:avLst/>
          </a:prstGeom>
          <a:solidFill>
            <a:srgbClr val="12A566"/>
          </a:solidFill>
          <a:ln/>
        </p:spPr>
      </p:sp>
      <p:sp>
        <p:nvSpPr>
          <p:cNvPr id="23" name="Text 21"/>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4" name="Text 22"/>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+473</a:t>
            </a:r>
            <a:endParaRPr lang="en-US" sz="1300" dirty="0"/>
          </a:p>
        </p:txBody>
      </p:sp>
      <p:sp>
        <p:nvSpPr>
          <p:cNvPr id="25" name="Text 23"/>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6" name="Shape 24"/>
          <p:cNvSpPr/>
          <p:nvPr/>
        </p:nvSpPr>
        <p:spPr>
          <a:xfrm>
            <a:off x="5971032" y="1995006"/>
            <a:ext cx="54864" cy="157062"/>
          </a:xfrm>
          <a:prstGeom prst="rect">
            <a:avLst/>
          </a:prstGeom>
          <a:solidFill>
            <a:srgbClr val="12A566"/>
          </a:solidFill>
          <a:ln/>
        </p:spPr>
      </p:sp>
      <p:sp>
        <p:nvSpPr>
          <p:cNvPr id="27" name="Text 25"/>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107256" y="2253700"/>
            <a:ext cx="43486" cy="136676"/>
          </a:xfrm>
          <a:prstGeom prst="rect">
            <a:avLst/>
          </a:prstGeom>
          <a:solidFill>
            <a:srgbClr val="12A566"/>
          </a:solidFill>
          <a:ln/>
        </p:spPr>
      </p:sp>
      <p:sp>
        <p:nvSpPr>
          <p:cNvPr id="30" name="Text 28"/>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32" name="Text 30"/>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33" name="Shape 31"/>
          <p:cNvSpPr/>
          <p:nvPr/>
        </p:nvSpPr>
        <p:spPr>
          <a:xfrm>
            <a:off x="5971032" y="2243507"/>
            <a:ext cx="54864" cy="157062"/>
          </a:xfrm>
          <a:prstGeom prst="rect">
            <a:avLst/>
          </a:prstGeom>
          <a:solidFill>
            <a:srgbClr val="12A566"/>
          </a:solidFill>
          <a:ln/>
        </p:spPr>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107256" y="2502202"/>
            <a:ext cx="42955"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3" name="Shape 41"/>
          <p:cNvSpPr/>
          <p:nvPr/>
        </p:nvSpPr>
        <p:spPr>
          <a:xfrm>
            <a:off x="3107256" y="2750703"/>
            <a:ext cx="28061"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107256" y="2999205"/>
            <a:ext cx="24562"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5" name="Shape 53"/>
          <p:cNvSpPr/>
          <p:nvPr/>
        </p:nvSpPr>
        <p:spPr>
          <a:xfrm>
            <a:off x="3107256"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107256" y="3496208"/>
            <a:ext cx="18288"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7" name="Shape 65"/>
          <p:cNvSpPr/>
          <p:nvPr/>
        </p:nvSpPr>
        <p:spPr>
          <a:xfrm>
            <a:off x="3106350"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99652" y="3993212"/>
            <a:ext cx="18288"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9" name="Shape 77"/>
          <p:cNvSpPr/>
          <p:nvPr/>
        </p:nvSpPr>
        <p:spPr>
          <a:xfrm>
            <a:off x="3097689" y="4241713"/>
            <a:ext cx="1828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3097021" y="4490215"/>
            <a:ext cx="18288"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1" name="Shape 89"/>
          <p:cNvSpPr/>
          <p:nvPr/>
        </p:nvSpPr>
        <p:spPr>
          <a:xfrm>
            <a:off x="3096351"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7" name="Shape 95"/>
          <p:cNvSpPr/>
          <p:nvPr/>
        </p:nvSpPr>
        <p:spPr>
          <a:xfrm>
            <a:off x="3095214"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3" name="Shape 101"/>
          <p:cNvSpPr/>
          <p:nvPr/>
        </p:nvSpPr>
        <p:spPr>
          <a:xfrm>
            <a:off x="3094596"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88641" y="5484222"/>
            <a:ext cx="186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13" name="Shape 111"/>
          <p:cNvSpPr/>
          <p:nvPr/>
        </p:nvSpPr>
        <p:spPr>
          <a:xfrm>
            <a:off x="5971032" y="5474029"/>
            <a:ext cx="54864" cy="157062"/>
          </a:xfrm>
          <a:prstGeom prst="rect">
            <a:avLst/>
          </a:prstGeom>
          <a:solidFill>
            <a:srgbClr val="C2352F"/>
          </a:solidFill>
          <a:ln/>
        </p:spPr>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3085312" y="5732723"/>
            <a:ext cx="2194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2" name="Shape 120"/>
          <p:cNvSpPr/>
          <p:nvPr/>
        </p:nvSpPr>
        <p:spPr>
          <a:xfrm>
            <a:off x="8633950" y="1756697"/>
            <a:ext cx="23714"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−218</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8" name="Shape 126"/>
          <p:cNvSpPr/>
          <p:nvPr/>
        </p:nvSpPr>
        <p:spPr>
          <a:xfrm>
            <a:off x="8633099" y="2005199"/>
            <a:ext cx="24565"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4" name="Shape 132"/>
          <p:cNvSpPr/>
          <p:nvPr/>
        </p:nvSpPr>
        <p:spPr>
          <a:xfrm>
            <a:off x="8631100" y="2253700"/>
            <a:ext cx="26564"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38" name="Text 13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9" name="Text 137"/>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630107" y="2502202"/>
            <a:ext cx="27557" cy="136676"/>
          </a:xfrm>
          <a:prstGeom prst="rect">
            <a:avLst/>
          </a:prstGeom>
          <a:solidFill>
            <a:srgbClr val="C2352F"/>
          </a:solidFill>
          <a:ln/>
        </p:spPr>
      </p:sp>
      <p:sp>
        <p:nvSpPr>
          <p:cNvPr id="141" name="Text 139"/>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2" name="Text 140"/>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143" name="Text 141"/>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44" name="Text 14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5" name="Text 143"/>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6" name="Shape 144"/>
          <p:cNvSpPr/>
          <p:nvPr/>
        </p:nvSpPr>
        <p:spPr>
          <a:xfrm>
            <a:off x="8623463" y="2750703"/>
            <a:ext cx="34202" cy="136676"/>
          </a:xfrm>
          <a:prstGeom prst="rect">
            <a:avLst/>
          </a:prstGeom>
          <a:solidFill>
            <a:srgbClr val="C2352F"/>
          </a:solidFill>
          <a:ln/>
        </p:spPr>
      </p:sp>
      <p:sp>
        <p:nvSpPr>
          <p:cNvPr id="147" name="Text 145"/>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8" name="Text 146"/>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49" name="Text 147"/>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50" name="Text 148"/>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1" name="Text 149"/>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2" name="Shape 150"/>
          <p:cNvSpPr/>
          <p:nvPr/>
        </p:nvSpPr>
        <p:spPr>
          <a:xfrm>
            <a:off x="8622934" y="2999205"/>
            <a:ext cx="34730" cy="136676"/>
          </a:xfrm>
          <a:prstGeom prst="rect">
            <a:avLst/>
          </a:prstGeom>
          <a:solidFill>
            <a:srgbClr val="C2352F"/>
          </a:solidFill>
          <a:ln/>
        </p:spPr>
      </p:sp>
      <p:sp>
        <p:nvSpPr>
          <p:cNvPr id="153" name="Text 151"/>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54" name="Text 152"/>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55" name="Text 153"/>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56" name="Text 154"/>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7" name="Text 155"/>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8" name="Shape 156"/>
          <p:cNvSpPr/>
          <p:nvPr/>
        </p:nvSpPr>
        <p:spPr>
          <a:xfrm>
            <a:off x="8621687" y="3247707"/>
            <a:ext cx="35977" cy="136676"/>
          </a:xfrm>
          <a:prstGeom prst="rect">
            <a:avLst/>
          </a:prstGeom>
          <a:solidFill>
            <a:srgbClr val="C2352F"/>
          </a:solidFill>
          <a:ln/>
        </p:spPr>
      </p:sp>
      <p:sp>
        <p:nvSpPr>
          <p:cNvPr id="159" name="Text 157"/>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60" name="Text 158"/>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61" name="Text 15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62" name="Text 16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3" name="Text 161"/>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4" name="Shape 162"/>
          <p:cNvSpPr/>
          <p:nvPr/>
        </p:nvSpPr>
        <p:spPr>
          <a:xfrm>
            <a:off x="8619605" y="3496208"/>
            <a:ext cx="38059" cy="136676"/>
          </a:xfrm>
          <a:prstGeom prst="rect">
            <a:avLst/>
          </a:prstGeom>
          <a:solidFill>
            <a:srgbClr val="C2352F"/>
          </a:solidFill>
          <a:ln/>
        </p:spPr>
      </p:sp>
      <p:sp>
        <p:nvSpPr>
          <p:cNvPr id="165" name="Text 163"/>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66" name="Text 164"/>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7" name="Text 165"/>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68" name="Text 16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9" name="Text 167"/>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617628" y="3744710"/>
            <a:ext cx="40036" cy="136676"/>
          </a:xfrm>
          <a:prstGeom prst="rect">
            <a:avLst/>
          </a:prstGeom>
          <a:solidFill>
            <a:srgbClr val="C2352F"/>
          </a:solidFill>
          <a:ln/>
        </p:spPr>
      </p:sp>
      <p:sp>
        <p:nvSpPr>
          <p:cNvPr id="171" name="Text 169"/>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72" name="Text 170"/>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3" name="Text 171"/>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4" name="Text 17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5" name="Text 173"/>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6" name="Shape 174"/>
          <p:cNvSpPr/>
          <p:nvPr/>
        </p:nvSpPr>
        <p:spPr>
          <a:xfrm>
            <a:off x="8605923" y="3993212"/>
            <a:ext cx="51741" cy="136676"/>
          </a:xfrm>
          <a:prstGeom prst="rect">
            <a:avLst/>
          </a:prstGeom>
          <a:solidFill>
            <a:srgbClr val="C2352F"/>
          </a:solidFill>
          <a:ln/>
        </p:spPr>
      </p:sp>
      <p:sp>
        <p:nvSpPr>
          <p:cNvPr id="177" name="Text 175"/>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78" name="Text 176"/>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−359</a:t>
            </a:r>
            <a:endParaRPr lang="en-US" sz="1300" dirty="0"/>
          </a:p>
        </p:txBody>
      </p:sp>
      <p:sp>
        <p:nvSpPr>
          <p:cNvPr id="179" name="Text 177"/>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80" name="Text 17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1" name="Text 179"/>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2" name="Shape 180"/>
          <p:cNvSpPr/>
          <p:nvPr/>
        </p:nvSpPr>
        <p:spPr>
          <a:xfrm>
            <a:off x="8597779" y="4241713"/>
            <a:ext cx="59885" cy="136676"/>
          </a:xfrm>
          <a:prstGeom prst="rect">
            <a:avLst/>
          </a:prstGeom>
          <a:solidFill>
            <a:srgbClr val="C2352F"/>
          </a:solidFill>
          <a:ln/>
        </p:spPr>
      </p:sp>
      <p:sp>
        <p:nvSpPr>
          <p:cNvPr id="183" name="Text 181"/>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4" name="Text 182"/>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185" name="Text 183"/>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86" name="Shape 184"/>
          <p:cNvSpPr/>
          <p:nvPr/>
        </p:nvSpPr>
        <p:spPr>
          <a:xfrm>
            <a:off x="11521440" y="4231520"/>
            <a:ext cx="54864" cy="157062"/>
          </a:xfrm>
          <a:prstGeom prst="rect">
            <a:avLst/>
          </a:prstGeom>
          <a:solidFill>
            <a:srgbClr val="C2352F"/>
          </a:solidFill>
          <a:ln/>
        </p:spPr>
      </p:sp>
      <p:sp>
        <p:nvSpPr>
          <p:cNvPr id="187" name="Text 185"/>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8" name="Text 186"/>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9" name="Shape 187"/>
          <p:cNvSpPr/>
          <p:nvPr/>
        </p:nvSpPr>
        <p:spPr>
          <a:xfrm>
            <a:off x="8578602" y="4490215"/>
            <a:ext cx="79062" cy="136676"/>
          </a:xfrm>
          <a:prstGeom prst="rect">
            <a:avLst/>
          </a:prstGeom>
          <a:solidFill>
            <a:srgbClr val="C2352F"/>
          </a:solidFill>
          <a:ln/>
        </p:spPr>
      </p:sp>
      <p:sp>
        <p:nvSpPr>
          <p:cNvPr id="190" name="Text 188"/>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1" name="Text 189"/>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92" name="Text 190"/>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93" name="Text 191"/>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4" name="Text 192"/>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5" name="Shape 193"/>
          <p:cNvSpPr/>
          <p:nvPr/>
        </p:nvSpPr>
        <p:spPr>
          <a:xfrm>
            <a:off x="8577212" y="4738717"/>
            <a:ext cx="80452" cy="136676"/>
          </a:xfrm>
          <a:prstGeom prst="rect">
            <a:avLst/>
          </a:prstGeom>
          <a:solidFill>
            <a:srgbClr val="C2352F"/>
          </a:solidFill>
          <a:ln/>
        </p:spPr>
      </p:sp>
      <p:sp>
        <p:nvSpPr>
          <p:cNvPr id="196" name="Text 194"/>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97" name="Text 195"/>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98" name="Text 196"/>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01" name="Shape 199"/>
          <p:cNvSpPr/>
          <p:nvPr/>
        </p:nvSpPr>
        <p:spPr>
          <a:xfrm>
            <a:off x="8570575" y="4987218"/>
            <a:ext cx="87089"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−525</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05" name="Text 203"/>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6" name="Text 204"/>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7" name="Shape 205"/>
          <p:cNvSpPr/>
          <p:nvPr/>
        </p:nvSpPr>
        <p:spPr>
          <a:xfrm>
            <a:off x="8563419" y="5235720"/>
            <a:ext cx="94245" cy="136676"/>
          </a:xfrm>
          <a:prstGeom prst="rect">
            <a:avLst/>
          </a:prstGeom>
          <a:solidFill>
            <a:srgbClr val="C2352F"/>
          </a:solidFill>
          <a:ln/>
        </p:spPr>
      </p:sp>
      <p:sp>
        <p:nvSpPr>
          <p:cNvPr id="208" name="Text 206"/>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209" name="Text 207"/>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−799</a:t>
            </a:r>
            <a:endParaRPr lang="en-US" sz="1300" dirty="0"/>
          </a:p>
        </p:txBody>
      </p:sp>
      <p:sp>
        <p:nvSpPr>
          <p:cNvPr id="210" name="Text 208"/>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236040" cy="136676"/>
          </a:xfrm>
          <a:prstGeom prst="rect">
            <a:avLst/>
          </a:prstGeom>
          <a:solidFill>
            <a:srgbClr val="C2352F"/>
          </a:solidFill>
          <a:ln/>
        </p:spPr>
      </p:sp>
      <p:sp>
        <p:nvSpPr>
          <p:cNvPr id="214" name="Text 212"/>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215" name="Text 213"/>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−1,867</a:t>
            </a:r>
            <a:endParaRPr lang="en-US" sz="1300" dirty="0"/>
          </a:p>
        </p:txBody>
      </p:sp>
      <p:sp>
        <p:nvSpPr>
          <p:cNvPr id="216" name="Text 21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19" name="Shape 217"/>
          <p:cNvSpPr/>
          <p:nvPr/>
        </p:nvSpPr>
        <p:spPr>
          <a:xfrm>
            <a:off x="457200" y="6126480"/>
            <a:ext cx="11274552" cy="615696"/>
          </a:xfrm>
          <a:prstGeom prst="rect">
            <a:avLst/>
          </a:prstGeom>
          <a:solidFill>
            <a:srgbClr val="FBEBEA"/>
          </a:solidFill>
          <a:ln/>
        </p:spPr>
      </p:sp>
      <p:sp>
        <p:nvSpPr>
          <p:cNvPr id="220" name="Text 2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 stores under 15% have left $771,957 so far this year; 8 are at or above it. Toyota Spokane is furthest below at −$169K.</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4" name="Shape 12"/>
          <p:cNvSpPr/>
          <p:nvPr/>
        </p:nvSpPr>
        <p:spPr>
          <a:xfrm>
            <a:off x="4084320" y="2894990"/>
            <a:ext cx="64008" cy="682142"/>
          </a:xfrm>
          <a:prstGeom prst="rect">
            <a:avLst/>
          </a:prstGeom>
          <a:solidFill>
            <a:srgbClr val="12A566"/>
          </a:solidFill>
          <a:ln/>
        </p:spPr>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7" name="Text 15"/>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21" name="Text 19"/>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2" name="Shape 20"/>
          <p:cNvSpPr/>
          <p:nvPr/>
        </p:nvSpPr>
        <p:spPr>
          <a:xfrm>
            <a:off x="4084320" y="4405579"/>
            <a:ext cx="64008" cy="682142"/>
          </a:xfrm>
          <a:prstGeom prst="rect">
            <a:avLst/>
          </a:prstGeom>
          <a:solidFill>
            <a:srgbClr val="12A566"/>
          </a:solidFill>
          <a:ln/>
        </p:spPr>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5" name="Text 23"/>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6" name="Shape 24"/>
          <p:cNvSpPr/>
          <p:nvPr/>
        </p:nvSpPr>
        <p:spPr>
          <a:xfrm>
            <a:off x="658368" y="5124298"/>
            <a:ext cx="3489960" cy="755294"/>
          </a:xfrm>
          <a:prstGeom prst="rect">
            <a:avLst/>
          </a:prstGeom>
          <a:solidFill>
            <a:srgbClr val="F7F7F7"/>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6" name="Shape 64"/>
          <p:cNvSpPr/>
          <p:nvPr/>
        </p:nvSpPr>
        <p:spPr>
          <a:xfrm>
            <a:off x="11466576" y="4405579"/>
            <a:ext cx="64008" cy="682142"/>
          </a:xfrm>
          <a:prstGeom prst="rect">
            <a:avLst/>
          </a:prstGeom>
          <a:solidFill>
            <a:srgbClr val="12A566"/>
          </a:solidFill>
          <a:ln/>
        </p:spPr>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75" name="Shape 73"/>
          <p:cNvSpPr/>
          <p:nvPr/>
        </p:nvSpPr>
        <p:spPr>
          <a:xfrm>
            <a:off x="457200" y="6126480"/>
            <a:ext cx="11274552" cy="615696"/>
          </a:xfrm>
          <a:prstGeom prst="rect">
            <a:avLst/>
          </a:prstGeom>
          <a:solidFill>
            <a:srgbClr val="EDF4FA"/>
          </a:solidFill>
          <a:ln/>
        </p:spPr>
      </p:sp>
      <p:sp>
        <p:nvSpPr>
          <p:cNvPr id="76" name="Text 7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Hyundai Prescott and GMC Prescott what changed. Ask LR Reno, Kia LV and Subaru LV what got in the way. Ask Audi Henderson, Mazda and Kia St George what they started this year.</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208196"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758604"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213682" y="1756697"/>
            <a:ext cx="133022"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+769</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3" name="Shape 21"/>
          <p:cNvSpPr/>
          <p:nvPr/>
        </p:nvSpPr>
        <p:spPr>
          <a:xfrm>
            <a:off x="3213682" y="2005199"/>
            <a:ext cx="58221"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0" name="Shape 28"/>
          <p:cNvSpPr/>
          <p:nvPr/>
        </p:nvSpPr>
        <p:spPr>
          <a:xfrm>
            <a:off x="3213682" y="2253700"/>
            <a:ext cx="26369"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213682" y="2502202"/>
            <a:ext cx="18288"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3213617" y="2750703"/>
            <a:ext cx="18288" cy="136676"/>
          </a:xfrm>
          <a:prstGeom prst="rect">
            <a:avLst/>
          </a:prstGeom>
          <a:solidFill>
            <a:srgbClr val="C2352F"/>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208413" y="2999205"/>
            <a:ext cx="18288" cy="136676"/>
          </a:xfrm>
          <a:prstGeom prst="rect">
            <a:avLst/>
          </a:prstGeom>
          <a:solidFill>
            <a:srgbClr val="C2352F"/>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3202500" y="3247707"/>
            <a:ext cx="18288" cy="136676"/>
          </a:xfrm>
          <a:prstGeom prst="rect">
            <a:avLst/>
          </a:prstGeom>
          <a:solidFill>
            <a:srgbClr val="C2352F"/>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199367"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3192966" y="3744710"/>
            <a:ext cx="20716"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186478" y="3993212"/>
            <a:ext cx="27204"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9" name="Shape 77"/>
          <p:cNvSpPr/>
          <p:nvPr/>
        </p:nvSpPr>
        <p:spPr>
          <a:xfrm>
            <a:off x="3178674" y="4241713"/>
            <a:ext cx="3500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3173922" y="4490215"/>
            <a:ext cx="39760"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162501" y="4738717"/>
            <a:ext cx="51181"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161512" y="4987218"/>
            <a:ext cx="52170"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160641" y="5235720"/>
            <a:ext cx="53041"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7" name="Shape 105"/>
          <p:cNvSpPr/>
          <p:nvPr/>
        </p:nvSpPr>
        <p:spPr>
          <a:xfrm>
            <a:off x="5971032" y="5225527"/>
            <a:ext cx="54864" cy="157062"/>
          </a:xfrm>
          <a:prstGeom prst="rect">
            <a:avLst/>
          </a:prstGeom>
          <a:solidFill>
            <a:srgbClr val="C2352F"/>
          </a:solidFill>
          <a:ln/>
        </p:spPr>
      </p:sp>
      <p:sp>
        <p:nvSpPr>
          <p:cNvPr id="108" name="Text 10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9" name="Text 107"/>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0" name="Shape 108"/>
          <p:cNvSpPr/>
          <p:nvPr/>
        </p:nvSpPr>
        <p:spPr>
          <a:xfrm>
            <a:off x="3154916" y="5484222"/>
            <a:ext cx="58766" cy="136676"/>
          </a:xfrm>
          <a:prstGeom prst="rect">
            <a:avLst/>
          </a:prstGeom>
          <a:solidFill>
            <a:srgbClr val="C2352F"/>
          </a:solidFill>
          <a:ln/>
        </p:spPr>
      </p:sp>
      <p:sp>
        <p:nvSpPr>
          <p:cNvPr id="111" name="Text 109"/>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12" name="Text 110"/>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−351</a:t>
            </a:r>
            <a:endParaRPr lang="en-US" sz="1300" dirty="0"/>
          </a:p>
        </p:txBody>
      </p:sp>
      <p:sp>
        <p:nvSpPr>
          <p:cNvPr id="113" name="Text 111"/>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6" name="Shape 114"/>
          <p:cNvSpPr/>
          <p:nvPr/>
        </p:nvSpPr>
        <p:spPr>
          <a:xfrm>
            <a:off x="3145678" y="5732723"/>
            <a:ext cx="6800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−461</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2" name="Shape 120"/>
          <p:cNvSpPr/>
          <p:nvPr/>
        </p:nvSpPr>
        <p:spPr>
          <a:xfrm>
            <a:off x="8691164" y="1756697"/>
            <a:ext cx="72926"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665461" y="2005199"/>
            <a:ext cx="9862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665163" y="2253700"/>
            <a:ext cx="98927"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−522</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656843" y="2502202"/>
            <a:ext cx="107247"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−566</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8" name="Shape 146"/>
          <p:cNvSpPr/>
          <p:nvPr/>
        </p:nvSpPr>
        <p:spPr>
          <a:xfrm>
            <a:off x="8634865" y="2750703"/>
            <a:ext cx="129225"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54" name="Shape 152"/>
          <p:cNvSpPr/>
          <p:nvPr/>
        </p:nvSpPr>
        <p:spPr>
          <a:xfrm>
            <a:off x="8634819" y="2999205"/>
            <a:ext cx="129271"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1" name="Shape 159"/>
          <p:cNvSpPr/>
          <p:nvPr/>
        </p:nvSpPr>
        <p:spPr>
          <a:xfrm>
            <a:off x="8627320" y="3247707"/>
            <a:ext cx="136770"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−794</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7" name="Shape 165"/>
          <p:cNvSpPr/>
          <p:nvPr/>
        </p:nvSpPr>
        <p:spPr>
          <a:xfrm>
            <a:off x="8624415" y="3496208"/>
            <a:ext cx="139675"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71" name="Text 169"/>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2" name="Text 170"/>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3" name="Shape 171"/>
          <p:cNvSpPr/>
          <p:nvPr/>
        </p:nvSpPr>
        <p:spPr>
          <a:xfrm>
            <a:off x="8617980" y="3744710"/>
            <a:ext cx="146110" cy="136676"/>
          </a:xfrm>
          <a:prstGeom prst="rect">
            <a:avLst/>
          </a:prstGeom>
          <a:solidFill>
            <a:srgbClr val="C2352F"/>
          </a:solidFill>
          <a:ln/>
        </p:spPr>
      </p:sp>
      <p:sp>
        <p:nvSpPr>
          <p:cNvPr id="174" name="Text 172"/>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75" name="Text 173"/>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−972</a:t>
            </a:r>
            <a:endParaRPr lang="en-US" sz="1300" dirty="0"/>
          </a:p>
        </p:txBody>
      </p:sp>
      <p:sp>
        <p:nvSpPr>
          <p:cNvPr id="176" name="Text 174"/>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77" name="Text 175"/>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8" name="Text 176"/>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9" name="Shape 177"/>
          <p:cNvSpPr/>
          <p:nvPr/>
        </p:nvSpPr>
        <p:spPr>
          <a:xfrm>
            <a:off x="8611516" y="3993212"/>
            <a:ext cx="152574" cy="136676"/>
          </a:xfrm>
          <a:prstGeom prst="rect">
            <a:avLst/>
          </a:prstGeom>
          <a:solidFill>
            <a:srgbClr val="C2352F"/>
          </a:solidFill>
          <a:ln/>
        </p:spPr>
      </p:sp>
      <p:sp>
        <p:nvSpPr>
          <p:cNvPr id="180" name="Text 178"/>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81" name="Text 179"/>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−1,145</a:t>
            </a:r>
            <a:endParaRPr lang="en-US" sz="1300" dirty="0"/>
          </a:p>
        </p:txBody>
      </p:sp>
      <p:sp>
        <p:nvSpPr>
          <p:cNvPr id="182" name="Text 180"/>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83" name="Text 181"/>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4" name="Text 182"/>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5" name="Shape 183"/>
          <p:cNvSpPr/>
          <p:nvPr/>
        </p:nvSpPr>
        <p:spPr>
          <a:xfrm>
            <a:off x="8561522" y="4241713"/>
            <a:ext cx="202569" cy="136676"/>
          </a:xfrm>
          <a:prstGeom prst="rect">
            <a:avLst/>
          </a:prstGeom>
          <a:solidFill>
            <a:srgbClr val="C2352F"/>
          </a:solidFill>
          <a:ln/>
        </p:spPr>
      </p:sp>
      <p:sp>
        <p:nvSpPr>
          <p:cNvPr id="186" name="Text 184"/>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87" name="Text 185"/>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−1,501</a:t>
            </a:r>
            <a:endParaRPr lang="en-US" sz="1300" dirty="0"/>
          </a:p>
        </p:txBody>
      </p:sp>
      <p:sp>
        <p:nvSpPr>
          <p:cNvPr id="188" name="Text 186"/>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89" name="Text 187"/>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0" name="Text 188"/>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1" name="Shape 189"/>
          <p:cNvSpPr/>
          <p:nvPr/>
        </p:nvSpPr>
        <p:spPr>
          <a:xfrm>
            <a:off x="8556261" y="4490215"/>
            <a:ext cx="207830" cy="136676"/>
          </a:xfrm>
          <a:prstGeom prst="rect">
            <a:avLst/>
          </a:prstGeom>
          <a:solidFill>
            <a:srgbClr val="C2352F"/>
          </a:solidFill>
          <a:ln/>
        </p:spPr>
      </p:sp>
      <p:sp>
        <p:nvSpPr>
          <p:cNvPr id="192" name="Text 190"/>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93" name="Text 191"/>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−1,523</a:t>
            </a:r>
            <a:endParaRPr lang="en-US" sz="1300" dirty="0"/>
          </a:p>
        </p:txBody>
      </p:sp>
      <p:sp>
        <p:nvSpPr>
          <p:cNvPr id="194" name="Text 192"/>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95" name="Text 193"/>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6" name="Text 194"/>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97" name="Shape 195"/>
          <p:cNvSpPr/>
          <p:nvPr/>
        </p:nvSpPr>
        <p:spPr>
          <a:xfrm>
            <a:off x="8526056" y="4738717"/>
            <a:ext cx="238034" cy="136676"/>
          </a:xfrm>
          <a:prstGeom prst="rect">
            <a:avLst/>
          </a:prstGeom>
          <a:solidFill>
            <a:srgbClr val="C2352F"/>
          </a:solidFill>
          <a:ln/>
        </p:spPr>
      </p:sp>
      <p:sp>
        <p:nvSpPr>
          <p:cNvPr id="198" name="Text 196"/>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99" name="Text 197"/>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−628</a:t>
            </a:r>
            <a:endParaRPr lang="en-US" sz="1300" dirty="0"/>
          </a:p>
        </p:txBody>
      </p:sp>
      <p:sp>
        <p:nvSpPr>
          <p:cNvPr id="200" name="Text 198"/>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01" name="Text 199"/>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2" name="Text 200"/>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03" name="Shape 201"/>
          <p:cNvSpPr/>
          <p:nvPr/>
        </p:nvSpPr>
        <p:spPr>
          <a:xfrm>
            <a:off x="8511929" y="4987218"/>
            <a:ext cx="252161" cy="136676"/>
          </a:xfrm>
          <a:prstGeom prst="rect">
            <a:avLst/>
          </a:prstGeom>
          <a:solidFill>
            <a:srgbClr val="C2352F"/>
          </a:solidFill>
          <a:ln/>
        </p:spPr>
      </p:sp>
      <p:sp>
        <p:nvSpPr>
          <p:cNvPr id="204" name="Text 202"/>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205" name="Text 203"/>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−1,193</a:t>
            </a:r>
            <a:endParaRPr lang="en-US" sz="1300" dirty="0"/>
          </a:p>
        </p:txBody>
      </p:sp>
      <p:sp>
        <p:nvSpPr>
          <p:cNvPr id="206" name="Text 20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07" name="Text 20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8" name="Text 206"/>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09" name="Shape 207"/>
          <p:cNvSpPr/>
          <p:nvPr/>
        </p:nvSpPr>
        <p:spPr>
          <a:xfrm>
            <a:off x="8483276" y="5235720"/>
            <a:ext cx="280814" cy="136676"/>
          </a:xfrm>
          <a:prstGeom prst="rect">
            <a:avLst/>
          </a:prstGeom>
          <a:solidFill>
            <a:srgbClr val="C2352F"/>
          </a:solidFill>
          <a:ln/>
        </p:spPr>
      </p:sp>
      <p:sp>
        <p:nvSpPr>
          <p:cNvPr id="210" name="Text 208"/>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211" name="Text 209"/>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−2,004</a:t>
            </a:r>
            <a:endParaRPr lang="en-US" sz="1300" dirty="0"/>
          </a:p>
        </p:txBody>
      </p:sp>
      <p:sp>
        <p:nvSpPr>
          <p:cNvPr id="212" name="Text 210"/>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3" name="Text 211"/>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4" name="Text 212"/>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5" name="Shape 213"/>
          <p:cNvSpPr/>
          <p:nvPr/>
        </p:nvSpPr>
        <p:spPr>
          <a:xfrm>
            <a:off x="8421624" y="5484222"/>
            <a:ext cx="342466" cy="136676"/>
          </a:xfrm>
          <a:prstGeom prst="rect">
            <a:avLst/>
          </a:prstGeom>
          <a:solidFill>
            <a:srgbClr val="C2352F"/>
          </a:solidFill>
          <a:ln/>
        </p:spPr>
      </p:sp>
      <p:sp>
        <p:nvSpPr>
          <p:cNvPr id="216" name="Text 214"/>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217" name="Text 215"/>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−2,520</a:t>
            </a:r>
            <a:endParaRPr lang="en-US" sz="1300" dirty="0"/>
          </a:p>
        </p:txBody>
      </p:sp>
      <p:sp>
        <p:nvSpPr>
          <p:cNvPr id="218" name="Text 216"/>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219" name="Shape 217"/>
          <p:cNvSpPr/>
          <p:nvPr/>
        </p:nvSpPr>
        <p:spPr>
          <a:xfrm>
            <a:off x="11521440" y="5474029"/>
            <a:ext cx="54864" cy="157062"/>
          </a:xfrm>
          <a:prstGeom prst="rect">
            <a:avLst/>
          </a:prstGeom>
          <a:solidFill>
            <a:srgbClr val="C2352F"/>
          </a:solidFill>
          <a:ln/>
        </p:spPr>
      </p:sp>
      <p:sp>
        <p:nvSpPr>
          <p:cNvPr id="220" name="Shape 218"/>
          <p:cNvSpPr/>
          <p:nvPr/>
        </p:nvSpPr>
        <p:spPr>
          <a:xfrm>
            <a:off x="6085332" y="1700784"/>
            <a:ext cx="10973" cy="4224528"/>
          </a:xfrm>
          <a:prstGeom prst="rect">
            <a:avLst/>
          </a:prstGeom>
          <a:solidFill>
            <a:srgbClr val="D9D9D9"/>
          </a:solidFill>
          <a:ln/>
        </p:spPr>
      </p:sp>
      <p:sp>
        <p:nvSpPr>
          <p:cNvPr id="221" name="Shape 219"/>
          <p:cNvSpPr/>
          <p:nvPr/>
        </p:nvSpPr>
        <p:spPr>
          <a:xfrm>
            <a:off x="457200" y="6126480"/>
            <a:ext cx="11274552" cy="615696"/>
          </a:xfrm>
          <a:prstGeom prst="rect">
            <a:avLst/>
          </a:prstGeom>
          <a:solidFill>
            <a:srgbClr val="FBEBEA"/>
          </a:solidFill>
          <a:ln/>
        </p:spPr>
      </p:sp>
      <p:sp>
        <p:nvSpPr>
          <p:cNvPr id="222" name="Text 22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stores under 15% have left $1,248,289 so far this year; 4 are at or above it. Toyota Spokane is furthest below at −$135K.</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Text 60"/>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4" name="Text 62"/>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5" name="Shape 63"/>
          <p:cNvSpPr/>
          <p:nvPr/>
        </p:nvSpPr>
        <p:spPr>
          <a:xfrm>
            <a:off x="11466576" y="4405579"/>
            <a:ext cx="64008" cy="682142"/>
          </a:xfrm>
          <a:prstGeom prst="rect">
            <a:avLst/>
          </a:prstGeom>
          <a:solidFill>
            <a:srgbClr val="12A566"/>
          </a:solidFill>
          <a:ln/>
        </p:spPr>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73" name="Shape 71"/>
          <p:cNvSpPr/>
          <p:nvPr/>
        </p:nvSpPr>
        <p:spPr>
          <a:xfrm>
            <a:off x="457200" y="6126480"/>
            <a:ext cx="11274552" cy="615696"/>
          </a:xfrm>
          <a:prstGeom prst="rect">
            <a:avLst/>
          </a:prstGeom>
          <a:solidFill>
            <a:srgbClr val="EDF4FA"/>
          </a:solidFill>
          <a:ln/>
        </p:spPr>
      </p:sp>
      <p:sp>
        <p:nvSpPr>
          <p:cNvPr id="74" name="Text 7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Prescott, LR LV and Mazda what changed. Ask Subaru St George, Nissan and Kia LV what got in the way. Ask Mazda, Hyundai Prescott and Honda Spokane what they started this year.</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40259"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590667"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45746" y="1756697"/>
            <a:ext cx="30095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3045746" y="2005199"/>
            <a:ext cx="216846"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0" name="Shape 28"/>
          <p:cNvSpPr/>
          <p:nvPr/>
        </p:nvSpPr>
        <p:spPr>
          <a:xfrm>
            <a:off x="3045746" y="2253700"/>
            <a:ext cx="78044"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+316</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045746" y="2502202"/>
            <a:ext cx="39072"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45746" y="2750703"/>
            <a:ext cx="37733"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045746" y="2999205"/>
            <a:ext cx="27359"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5" name="Shape 53"/>
          <p:cNvSpPr/>
          <p:nvPr/>
        </p:nvSpPr>
        <p:spPr>
          <a:xfrm>
            <a:off x="3045746" y="3247707"/>
            <a:ext cx="24282"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45746" y="3496208"/>
            <a:ext cx="22695"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7" name="Shape 65"/>
          <p:cNvSpPr/>
          <p:nvPr/>
        </p:nvSpPr>
        <p:spPr>
          <a:xfrm>
            <a:off x="3045746" y="3744710"/>
            <a:ext cx="18342" cy="136676"/>
          </a:xfrm>
          <a:prstGeom prst="rect">
            <a:avLst/>
          </a:prstGeom>
          <a:solidFill>
            <a:srgbClr val="12A566"/>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45746" y="3993212"/>
            <a:ext cx="18288" cy="136676"/>
          </a:xfrm>
          <a:prstGeom prst="rect">
            <a:avLst/>
          </a:prstGeom>
          <a:solidFill>
            <a:srgbClr val="12A566"/>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9" name="Shape 77"/>
          <p:cNvSpPr/>
          <p:nvPr/>
        </p:nvSpPr>
        <p:spPr>
          <a:xfrm>
            <a:off x="3045746" y="4241713"/>
            <a:ext cx="18288" cy="136676"/>
          </a:xfrm>
          <a:prstGeom prst="rect">
            <a:avLst/>
          </a:prstGeom>
          <a:solidFill>
            <a:srgbClr val="12A566"/>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3045746" y="4490215"/>
            <a:ext cx="18288" cy="136676"/>
          </a:xfrm>
          <a:prstGeom prst="rect">
            <a:avLst/>
          </a:prstGeom>
          <a:solidFill>
            <a:srgbClr val="12A566"/>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1" name="Shape 89"/>
          <p:cNvSpPr/>
          <p:nvPr/>
        </p:nvSpPr>
        <p:spPr>
          <a:xfrm>
            <a:off x="3041920"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40676"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3" name="Shape 101"/>
          <p:cNvSpPr/>
          <p:nvPr/>
        </p:nvSpPr>
        <p:spPr>
          <a:xfrm>
            <a:off x="3033120"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30647" y="5484222"/>
            <a:ext cx="18288"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5" name="Shape 113"/>
          <p:cNvSpPr/>
          <p:nvPr/>
        </p:nvSpPr>
        <p:spPr>
          <a:xfrm>
            <a:off x="3028256" y="5732723"/>
            <a:ext cx="18288"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1" name="Shape 119"/>
          <p:cNvSpPr/>
          <p:nvPr/>
        </p:nvSpPr>
        <p:spPr>
          <a:xfrm>
            <a:off x="8575690" y="1756697"/>
            <a:ext cx="20464"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7" name="Shape 125"/>
          <p:cNvSpPr/>
          <p:nvPr/>
        </p:nvSpPr>
        <p:spPr>
          <a:xfrm>
            <a:off x="8573386" y="2005199"/>
            <a:ext cx="22768" cy="136676"/>
          </a:xfrm>
          <a:prstGeom prst="rect">
            <a:avLst/>
          </a:prstGeom>
          <a:solidFill>
            <a:srgbClr val="C2352F"/>
          </a:solidFill>
          <a:ln/>
        </p:spPr>
      </p:sp>
      <p:sp>
        <p:nvSpPr>
          <p:cNvPr id="128" name="Text 126"/>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29" name="Text 127"/>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30" name="Text 128"/>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72297" y="2253700"/>
            <a:ext cx="23856" cy="136676"/>
          </a:xfrm>
          <a:prstGeom prst="rect">
            <a:avLst/>
          </a:prstGeom>
          <a:solidFill>
            <a:srgbClr val="C2352F"/>
          </a:solidFill>
          <a:ln/>
        </p:spPr>
      </p:sp>
      <p:sp>
        <p:nvSpPr>
          <p:cNvPr id="134" name="Text 132"/>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35" name="Text 133"/>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a:t>
            </a:r>
            <a:endParaRPr lang="en-US" sz="1300" dirty="0"/>
          </a:p>
        </p:txBody>
      </p:sp>
      <p:sp>
        <p:nvSpPr>
          <p:cNvPr id="136" name="Text 134"/>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9" name="Shape 137"/>
          <p:cNvSpPr/>
          <p:nvPr/>
        </p:nvSpPr>
        <p:spPr>
          <a:xfrm>
            <a:off x="8571491" y="2502202"/>
            <a:ext cx="24663" cy="136676"/>
          </a:xfrm>
          <a:prstGeom prst="rect">
            <a:avLst/>
          </a:prstGeom>
          <a:solidFill>
            <a:srgbClr val="C2352F"/>
          </a:solidFill>
          <a:ln/>
        </p:spPr>
      </p:sp>
      <p:sp>
        <p:nvSpPr>
          <p:cNvPr id="140" name="Text 138"/>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41" name="Text 139"/>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42" name="Text 140"/>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5" name="Shape 143"/>
          <p:cNvSpPr/>
          <p:nvPr/>
        </p:nvSpPr>
        <p:spPr>
          <a:xfrm>
            <a:off x="8570224" y="2750703"/>
            <a:ext cx="25930" cy="136676"/>
          </a:xfrm>
          <a:prstGeom prst="rect">
            <a:avLst/>
          </a:prstGeom>
          <a:solidFill>
            <a:srgbClr val="C2352F"/>
          </a:solidFill>
          <a:ln/>
        </p:spPr>
      </p:sp>
      <p:sp>
        <p:nvSpPr>
          <p:cNvPr id="146" name="Text 144"/>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47" name="Text 145"/>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48" name="Text 146"/>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1" name="Shape 149"/>
          <p:cNvSpPr/>
          <p:nvPr/>
        </p:nvSpPr>
        <p:spPr>
          <a:xfrm>
            <a:off x="8567184" y="2999205"/>
            <a:ext cx="28970" cy="136676"/>
          </a:xfrm>
          <a:prstGeom prst="rect">
            <a:avLst/>
          </a:prstGeom>
          <a:solidFill>
            <a:srgbClr val="C2352F"/>
          </a:solidFill>
          <a:ln/>
        </p:spPr>
      </p:sp>
      <p:sp>
        <p:nvSpPr>
          <p:cNvPr id="152" name="Text 150"/>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53" name="Text 151"/>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54" name="Text 152"/>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7" name="Shape 155"/>
          <p:cNvSpPr/>
          <p:nvPr/>
        </p:nvSpPr>
        <p:spPr>
          <a:xfrm>
            <a:off x="8559684" y="3247707"/>
            <a:ext cx="36470" cy="136676"/>
          </a:xfrm>
          <a:prstGeom prst="rect">
            <a:avLst/>
          </a:prstGeom>
          <a:solidFill>
            <a:srgbClr val="C2352F"/>
          </a:solidFill>
          <a:ln/>
        </p:spPr>
      </p:sp>
      <p:sp>
        <p:nvSpPr>
          <p:cNvPr id="158" name="Text 156"/>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9" name="Text 157"/>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−176</a:t>
            </a:r>
            <a:endParaRPr lang="en-US" sz="1300" dirty="0"/>
          </a:p>
        </p:txBody>
      </p:sp>
      <p:sp>
        <p:nvSpPr>
          <p:cNvPr id="160" name="Text 158"/>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971" y="3496208"/>
            <a:ext cx="37183" cy="136676"/>
          </a:xfrm>
          <a:prstGeom prst="rect">
            <a:avLst/>
          </a:prstGeom>
          <a:solidFill>
            <a:srgbClr val="C2352F"/>
          </a:solidFill>
          <a:ln/>
        </p:spPr>
      </p:sp>
      <p:sp>
        <p:nvSpPr>
          <p:cNvPr id="164" name="Text 162"/>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65" name="Text 163"/>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66" name="Text 16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69" name="Shape 167"/>
          <p:cNvSpPr/>
          <p:nvPr/>
        </p:nvSpPr>
        <p:spPr>
          <a:xfrm>
            <a:off x="8540881" y="3744710"/>
            <a:ext cx="55273" cy="136676"/>
          </a:xfrm>
          <a:prstGeom prst="rect">
            <a:avLst/>
          </a:prstGeom>
          <a:solidFill>
            <a:srgbClr val="C2352F"/>
          </a:solidFill>
          <a:ln/>
        </p:spPr>
      </p:sp>
      <p:sp>
        <p:nvSpPr>
          <p:cNvPr id="170" name="Text 168"/>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71" name="Text 169"/>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72" name="Text 170"/>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75" name="Shape 173"/>
          <p:cNvSpPr/>
          <p:nvPr/>
        </p:nvSpPr>
        <p:spPr>
          <a:xfrm>
            <a:off x="8535378" y="3993212"/>
            <a:ext cx="60776" cy="136676"/>
          </a:xfrm>
          <a:prstGeom prst="rect">
            <a:avLst/>
          </a:prstGeom>
          <a:solidFill>
            <a:srgbClr val="C2352F"/>
          </a:solidFill>
          <a:ln/>
        </p:spPr>
      </p:sp>
      <p:sp>
        <p:nvSpPr>
          <p:cNvPr id="176" name="Text 174"/>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77" name="Text 175"/>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−309</a:t>
            </a:r>
            <a:endParaRPr lang="en-US" sz="1300" dirty="0"/>
          </a:p>
        </p:txBody>
      </p:sp>
      <p:sp>
        <p:nvSpPr>
          <p:cNvPr id="178" name="Text 176"/>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81" name="Shape 179"/>
          <p:cNvSpPr/>
          <p:nvPr/>
        </p:nvSpPr>
        <p:spPr>
          <a:xfrm>
            <a:off x="8530529" y="4241713"/>
            <a:ext cx="65625" cy="136676"/>
          </a:xfrm>
          <a:prstGeom prst="rect">
            <a:avLst/>
          </a:prstGeom>
          <a:solidFill>
            <a:srgbClr val="C2352F"/>
          </a:solidFill>
          <a:ln/>
        </p:spPr>
      </p:sp>
      <p:sp>
        <p:nvSpPr>
          <p:cNvPr id="182" name="Text 180"/>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3" name="Text 181"/>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−284</a:t>
            </a:r>
            <a:endParaRPr lang="en-US" sz="1300" dirty="0"/>
          </a:p>
        </p:txBody>
      </p:sp>
      <p:sp>
        <p:nvSpPr>
          <p:cNvPr id="184" name="Text 182"/>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87" name="Shape 185"/>
          <p:cNvSpPr/>
          <p:nvPr/>
        </p:nvSpPr>
        <p:spPr>
          <a:xfrm>
            <a:off x="8518235" y="4490215"/>
            <a:ext cx="77919" cy="136676"/>
          </a:xfrm>
          <a:prstGeom prst="rect">
            <a:avLst/>
          </a:prstGeom>
          <a:solidFill>
            <a:srgbClr val="C2352F"/>
          </a:solidFill>
          <a:ln/>
        </p:spPr>
      </p:sp>
      <p:sp>
        <p:nvSpPr>
          <p:cNvPr id="188" name="Text 186"/>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89" name="Text 187"/>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90" name="Text 188"/>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91" name="Shape 189"/>
          <p:cNvSpPr/>
          <p:nvPr/>
        </p:nvSpPr>
        <p:spPr>
          <a:xfrm>
            <a:off x="11521440" y="4480022"/>
            <a:ext cx="54864" cy="157062"/>
          </a:xfrm>
          <a:prstGeom prst="rect">
            <a:avLst/>
          </a:prstGeom>
          <a:solidFill>
            <a:srgbClr val="C2352F"/>
          </a:solidFill>
          <a:ln/>
        </p:spPr>
      </p:sp>
      <p:sp>
        <p:nvSpPr>
          <p:cNvPr id="192" name="Text 190"/>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3" name="Text 191"/>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94" name="Shape 192"/>
          <p:cNvSpPr/>
          <p:nvPr/>
        </p:nvSpPr>
        <p:spPr>
          <a:xfrm>
            <a:off x="8510027" y="4738717"/>
            <a:ext cx="86127" cy="136676"/>
          </a:xfrm>
          <a:prstGeom prst="rect">
            <a:avLst/>
          </a:prstGeom>
          <a:solidFill>
            <a:srgbClr val="C2352F"/>
          </a:solidFill>
          <a:ln/>
        </p:spPr>
      </p:sp>
      <p:sp>
        <p:nvSpPr>
          <p:cNvPr id="195" name="Text 193"/>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96" name="Text 194"/>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97" name="Text 195"/>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8" name="Shape 196"/>
          <p:cNvSpPr/>
          <p:nvPr/>
        </p:nvSpPr>
        <p:spPr>
          <a:xfrm>
            <a:off x="11521440" y="4728524"/>
            <a:ext cx="54864" cy="157062"/>
          </a:xfrm>
          <a:prstGeom prst="rect">
            <a:avLst/>
          </a:prstGeom>
          <a:solidFill>
            <a:srgbClr val="C2352F"/>
          </a:solidFill>
          <a:ln/>
        </p:spPr>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1" name="Shape 199"/>
          <p:cNvSpPr/>
          <p:nvPr/>
        </p:nvSpPr>
        <p:spPr>
          <a:xfrm>
            <a:off x="8506004" y="4987218"/>
            <a:ext cx="90150"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05" name="Shape 203"/>
          <p:cNvSpPr/>
          <p:nvPr/>
        </p:nvSpPr>
        <p:spPr>
          <a:xfrm>
            <a:off x="11521440" y="4977025"/>
            <a:ext cx="54864" cy="157062"/>
          </a:xfrm>
          <a:prstGeom prst="rect">
            <a:avLst/>
          </a:prstGeom>
          <a:solidFill>
            <a:srgbClr val="C2352F"/>
          </a:solidFill>
          <a:ln/>
        </p:spPr>
      </p:sp>
      <p:sp>
        <p:nvSpPr>
          <p:cNvPr id="206" name="Text 204"/>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7" name="Text 205"/>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8" name="Shape 206"/>
          <p:cNvSpPr/>
          <p:nvPr/>
        </p:nvSpPr>
        <p:spPr>
          <a:xfrm>
            <a:off x="8503628" y="5235720"/>
            <a:ext cx="92525" cy="136676"/>
          </a:xfrm>
          <a:prstGeom prst="rect">
            <a:avLst/>
          </a:prstGeom>
          <a:solidFill>
            <a:srgbClr val="C2352F"/>
          </a:solidFill>
          <a:ln/>
        </p:spPr>
      </p:sp>
      <p:sp>
        <p:nvSpPr>
          <p:cNvPr id="209" name="Text 207"/>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210" name="Text 208"/>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−513</a:t>
            </a:r>
            <a:endParaRPr lang="en-US" sz="1300" dirty="0"/>
          </a:p>
        </p:txBody>
      </p:sp>
      <p:sp>
        <p:nvSpPr>
          <p:cNvPr id="211" name="Text 20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2" name="Text 21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3" name="Text 211"/>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4" name="Shape 212"/>
          <p:cNvSpPr/>
          <p:nvPr/>
        </p:nvSpPr>
        <p:spPr>
          <a:xfrm>
            <a:off x="8421624" y="5484222"/>
            <a:ext cx="174530" cy="136676"/>
          </a:xfrm>
          <a:prstGeom prst="rect">
            <a:avLst/>
          </a:prstGeom>
          <a:solidFill>
            <a:srgbClr val="C2352F"/>
          </a:solidFill>
          <a:ln/>
        </p:spPr>
      </p:sp>
      <p:sp>
        <p:nvSpPr>
          <p:cNvPr id="215" name="Text 213"/>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216" name="Text 214"/>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−820</a:t>
            </a:r>
            <a:endParaRPr lang="en-US" sz="1300" dirty="0"/>
          </a:p>
        </p:txBody>
      </p:sp>
      <p:sp>
        <p:nvSpPr>
          <p:cNvPr id="217" name="Text 215"/>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218" name="Shape 216"/>
          <p:cNvSpPr/>
          <p:nvPr/>
        </p:nvSpPr>
        <p:spPr>
          <a:xfrm>
            <a:off x="6085332" y="1700784"/>
            <a:ext cx="10973" cy="4224528"/>
          </a:xfrm>
          <a:prstGeom prst="rect">
            <a:avLst/>
          </a:prstGeom>
          <a:solidFill>
            <a:srgbClr val="D9D9D9"/>
          </a:solidFill>
          <a:ln/>
        </p:spPr>
      </p:sp>
      <p:sp>
        <p:nvSpPr>
          <p:cNvPr id="219" name="Shape 217"/>
          <p:cNvSpPr/>
          <p:nvPr/>
        </p:nvSpPr>
        <p:spPr>
          <a:xfrm>
            <a:off x="457200" y="6126480"/>
            <a:ext cx="11274552" cy="615696"/>
          </a:xfrm>
          <a:prstGeom prst="rect">
            <a:avLst/>
          </a:prstGeom>
          <a:solidFill>
            <a:srgbClr val="FBEBEA"/>
          </a:solidFill>
          <a:ln/>
        </p:spPr>
      </p:sp>
      <p:sp>
        <p:nvSpPr>
          <p:cNvPr id="220" name="Text 2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have left $633,493 so far this year; 12 are at or above it. Chevy LV is furthest below at −$113K.</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Nissan, LR LV and LR Henderson what changed. Ask CDJR Post Falls, Honda North and Subaru St George what got in the way. Ask Mazda, Audi Reno and Kia St George what they started this year.</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72677"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23085"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78163" y="1756697"/>
            <a:ext cx="268541"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3" name="Shape 21"/>
          <p:cNvSpPr/>
          <p:nvPr/>
        </p:nvSpPr>
        <p:spPr>
          <a:xfrm>
            <a:off x="3078163" y="2005199"/>
            <a:ext cx="104320"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0" name="Shape 28"/>
          <p:cNvSpPr/>
          <p:nvPr/>
        </p:nvSpPr>
        <p:spPr>
          <a:xfrm>
            <a:off x="3078163" y="2253700"/>
            <a:ext cx="74727"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78163" y="2502202"/>
            <a:ext cx="19359"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3" name="Shape 41"/>
          <p:cNvSpPr/>
          <p:nvPr/>
        </p:nvSpPr>
        <p:spPr>
          <a:xfrm>
            <a:off x="3078163" y="2750703"/>
            <a:ext cx="18288"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78163" y="2999205"/>
            <a:ext cx="18288"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5" name="Shape 53"/>
          <p:cNvSpPr/>
          <p:nvPr/>
        </p:nvSpPr>
        <p:spPr>
          <a:xfrm>
            <a:off x="3078163"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76409"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7" name="Shape 65"/>
          <p:cNvSpPr/>
          <p:nvPr/>
        </p:nvSpPr>
        <p:spPr>
          <a:xfrm>
            <a:off x="3063321"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3" name="Shape 71"/>
          <p:cNvSpPr/>
          <p:nvPr/>
        </p:nvSpPr>
        <p:spPr>
          <a:xfrm>
            <a:off x="3059655" y="3993212"/>
            <a:ext cx="18509"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3051638" y="4241713"/>
            <a:ext cx="26525"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3050701" y="4490215"/>
            <a:ext cx="27462"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047298" y="4738717"/>
            <a:ext cx="30866"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3043502" y="4987218"/>
            <a:ext cx="34662"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3" name="Shape 101"/>
          <p:cNvSpPr/>
          <p:nvPr/>
        </p:nvSpPr>
        <p:spPr>
          <a:xfrm>
            <a:off x="3041920" y="5235720"/>
            <a:ext cx="36243"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9" name="Shape 107"/>
          <p:cNvSpPr/>
          <p:nvPr/>
        </p:nvSpPr>
        <p:spPr>
          <a:xfrm>
            <a:off x="3040249" y="5484222"/>
            <a:ext cx="379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3036175" y="5732723"/>
            <a:ext cx="41989"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79493" y="1756697"/>
            <a:ext cx="49079"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25" name="Shape 123"/>
          <p:cNvSpPr/>
          <p:nvPr/>
        </p:nvSpPr>
        <p:spPr>
          <a:xfrm>
            <a:off x="11521440" y="1746504"/>
            <a:ext cx="54864" cy="157062"/>
          </a:xfrm>
          <a:prstGeom prst="rect">
            <a:avLst/>
          </a:prstGeom>
          <a:solidFill>
            <a:srgbClr val="C2352F"/>
          </a:solidFill>
          <a:ln/>
        </p:spPr>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61923" y="2005199"/>
            <a:ext cx="6664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553773" y="2253700"/>
            <a:ext cx="74798"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47178" y="2502202"/>
            <a:ext cx="81394"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−255</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47001" y="2750703"/>
            <a:ext cx="81571"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4" name="Shape 152"/>
          <p:cNvSpPr/>
          <p:nvPr/>
        </p:nvSpPr>
        <p:spPr>
          <a:xfrm>
            <a:off x="8541404" y="2999205"/>
            <a:ext cx="87168"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−273</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8538750" y="3247707"/>
            <a:ext cx="89822"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7" name="Shape 165"/>
          <p:cNvSpPr/>
          <p:nvPr/>
        </p:nvSpPr>
        <p:spPr>
          <a:xfrm>
            <a:off x="8538158" y="3496208"/>
            <a:ext cx="90414"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71" name="Shape 169"/>
          <p:cNvSpPr/>
          <p:nvPr/>
        </p:nvSpPr>
        <p:spPr>
          <a:xfrm>
            <a:off x="11521440" y="3486016"/>
            <a:ext cx="54864" cy="157062"/>
          </a:xfrm>
          <a:prstGeom prst="rect">
            <a:avLst/>
          </a:prstGeom>
          <a:solidFill>
            <a:srgbClr val="9AA3AD"/>
          </a:solidFill>
          <a:ln/>
        </p:spPr>
      </p:sp>
      <p:sp>
        <p:nvSpPr>
          <p:cNvPr id="172" name="Text 17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3" name="Text 17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4" name="Shape 172"/>
          <p:cNvSpPr/>
          <p:nvPr/>
        </p:nvSpPr>
        <p:spPr>
          <a:xfrm>
            <a:off x="8536111" y="3744710"/>
            <a:ext cx="92460" cy="136676"/>
          </a:xfrm>
          <a:prstGeom prst="rect">
            <a:avLst/>
          </a:prstGeom>
          <a:solidFill>
            <a:srgbClr val="C2352F"/>
          </a:solidFill>
          <a:ln/>
        </p:spPr>
      </p:sp>
      <p:sp>
        <p:nvSpPr>
          <p:cNvPr id="175" name="Text 173"/>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76" name="Text 174"/>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7" name="Text 175"/>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78" name="Text 17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9" name="Text 17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80" name="Shape 178"/>
          <p:cNvSpPr/>
          <p:nvPr/>
        </p:nvSpPr>
        <p:spPr>
          <a:xfrm>
            <a:off x="8533760" y="3993212"/>
            <a:ext cx="94812" cy="136676"/>
          </a:xfrm>
          <a:prstGeom prst="rect">
            <a:avLst/>
          </a:prstGeom>
          <a:solidFill>
            <a:srgbClr val="C2352F"/>
          </a:solidFill>
          <a:ln/>
        </p:spPr>
      </p:sp>
      <p:sp>
        <p:nvSpPr>
          <p:cNvPr id="181" name="Text 179"/>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82" name="Text 180"/>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83" name="Text 181"/>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84" name="Text 18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5" name="Text 18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86" name="Shape 184"/>
          <p:cNvSpPr/>
          <p:nvPr/>
        </p:nvSpPr>
        <p:spPr>
          <a:xfrm>
            <a:off x="8519388" y="4241713"/>
            <a:ext cx="109184" cy="136676"/>
          </a:xfrm>
          <a:prstGeom prst="rect">
            <a:avLst/>
          </a:prstGeom>
          <a:solidFill>
            <a:srgbClr val="C2352F"/>
          </a:solidFill>
          <a:ln/>
        </p:spPr>
      </p:sp>
      <p:sp>
        <p:nvSpPr>
          <p:cNvPr id="187" name="Text 185"/>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88" name="Text 186"/>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a:t>
            </a:r>
            <a:endParaRPr lang="en-US" sz="1300" dirty="0"/>
          </a:p>
        </p:txBody>
      </p:sp>
      <p:sp>
        <p:nvSpPr>
          <p:cNvPr id="189" name="Text 187"/>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0" name="Text 18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1" name="Text 18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2" name="Shape 190"/>
          <p:cNvSpPr/>
          <p:nvPr/>
        </p:nvSpPr>
        <p:spPr>
          <a:xfrm>
            <a:off x="8518626" y="4490215"/>
            <a:ext cx="109946" cy="136676"/>
          </a:xfrm>
          <a:prstGeom prst="rect">
            <a:avLst/>
          </a:prstGeom>
          <a:solidFill>
            <a:srgbClr val="C2352F"/>
          </a:solidFill>
          <a:ln/>
        </p:spPr>
      </p:sp>
      <p:sp>
        <p:nvSpPr>
          <p:cNvPr id="193" name="Text 191"/>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4" name="Text 192"/>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a:t>
            </a:r>
            <a:endParaRPr lang="en-US" sz="1300" dirty="0"/>
          </a:p>
        </p:txBody>
      </p:sp>
      <p:sp>
        <p:nvSpPr>
          <p:cNvPr id="195" name="Text 193"/>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6" name="Text 19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7" name="Text 19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98" name="Shape 196"/>
          <p:cNvSpPr/>
          <p:nvPr/>
        </p:nvSpPr>
        <p:spPr>
          <a:xfrm>
            <a:off x="8505476" y="4738717"/>
            <a:ext cx="123095" cy="136676"/>
          </a:xfrm>
          <a:prstGeom prst="rect">
            <a:avLst/>
          </a:prstGeom>
          <a:solidFill>
            <a:srgbClr val="C2352F"/>
          </a:solidFill>
          <a:ln/>
        </p:spPr>
      </p:sp>
      <p:sp>
        <p:nvSpPr>
          <p:cNvPr id="199" name="Text 197"/>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200" name="Text 198"/>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−386</a:t>
            </a:r>
            <a:endParaRPr lang="en-US" sz="1300" dirty="0"/>
          </a:p>
        </p:txBody>
      </p:sp>
      <p:sp>
        <p:nvSpPr>
          <p:cNvPr id="201" name="Text 19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202" name="Shape 200"/>
          <p:cNvSpPr/>
          <p:nvPr/>
        </p:nvSpPr>
        <p:spPr>
          <a:xfrm>
            <a:off x="11521440" y="4728524"/>
            <a:ext cx="54864" cy="157062"/>
          </a:xfrm>
          <a:prstGeom prst="rect">
            <a:avLst/>
          </a:prstGeom>
          <a:solidFill>
            <a:srgbClr val="9AA3AD"/>
          </a:solidFill>
          <a:ln/>
        </p:spPr>
      </p:sp>
      <p:sp>
        <p:nvSpPr>
          <p:cNvPr id="203" name="Text 201"/>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4" name="Text 202"/>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5" name="Shape 203"/>
          <p:cNvSpPr/>
          <p:nvPr/>
        </p:nvSpPr>
        <p:spPr>
          <a:xfrm>
            <a:off x="8470218" y="4987218"/>
            <a:ext cx="158353" cy="136676"/>
          </a:xfrm>
          <a:prstGeom prst="rect">
            <a:avLst/>
          </a:prstGeom>
          <a:solidFill>
            <a:srgbClr val="C2352F"/>
          </a:solidFill>
          <a:ln/>
        </p:spPr>
      </p:sp>
      <p:sp>
        <p:nvSpPr>
          <p:cNvPr id="206" name="Text 204"/>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207" name="Text 205"/>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−880</a:t>
            </a:r>
            <a:endParaRPr lang="en-US" sz="1300" dirty="0"/>
          </a:p>
        </p:txBody>
      </p:sp>
      <p:sp>
        <p:nvSpPr>
          <p:cNvPr id="208" name="Text 206"/>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09" name="Shape 207"/>
          <p:cNvSpPr/>
          <p:nvPr/>
        </p:nvSpPr>
        <p:spPr>
          <a:xfrm>
            <a:off x="11521440" y="4977025"/>
            <a:ext cx="54864" cy="157062"/>
          </a:xfrm>
          <a:prstGeom prst="rect">
            <a:avLst/>
          </a:prstGeom>
          <a:solidFill>
            <a:srgbClr val="C2352F"/>
          </a:solidFill>
          <a:ln/>
        </p:spPr>
      </p:sp>
      <p:sp>
        <p:nvSpPr>
          <p:cNvPr id="210" name="Text 208"/>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11" name="Text 209"/>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12" name="Shape 210"/>
          <p:cNvSpPr/>
          <p:nvPr/>
        </p:nvSpPr>
        <p:spPr>
          <a:xfrm>
            <a:off x="8441579" y="5235720"/>
            <a:ext cx="186992" cy="136676"/>
          </a:xfrm>
          <a:prstGeom prst="rect">
            <a:avLst/>
          </a:prstGeom>
          <a:solidFill>
            <a:srgbClr val="C2352F"/>
          </a:solidFill>
          <a:ln/>
        </p:spPr>
      </p:sp>
      <p:sp>
        <p:nvSpPr>
          <p:cNvPr id="213" name="Text 211"/>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214" name="Text 212"/>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−792</a:t>
            </a:r>
            <a:endParaRPr lang="en-US" sz="1300" dirty="0"/>
          </a:p>
        </p:txBody>
      </p:sp>
      <p:sp>
        <p:nvSpPr>
          <p:cNvPr id="215" name="Text 213"/>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6" name="Text 21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7" name="Text 215"/>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8" name="Shape 216"/>
          <p:cNvSpPr/>
          <p:nvPr/>
        </p:nvSpPr>
        <p:spPr>
          <a:xfrm>
            <a:off x="8421624" y="5484222"/>
            <a:ext cx="206947" cy="136676"/>
          </a:xfrm>
          <a:prstGeom prst="rect">
            <a:avLst/>
          </a:prstGeom>
          <a:solidFill>
            <a:srgbClr val="C2352F"/>
          </a:solidFill>
          <a:ln/>
        </p:spPr>
      </p:sp>
      <p:sp>
        <p:nvSpPr>
          <p:cNvPr id="219" name="Text 217"/>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220" name="Text 218"/>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−439</a:t>
            </a:r>
            <a:endParaRPr lang="en-US" sz="1300" dirty="0"/>
          </a:p>
        </p:txBody>
      </p:sp>
      <p:sp>
        <p:nvSpPr>
          <p:cNvPr id="221" name="Text 219"/>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222" name="Shape 220"/>
          <p:cNvSpPr/>
          <p:nvPr/>
        </p:nvSpPr>
        <p:spPr>
          <a:xfrm>
            <a:off x="6085332" y="1700784"/>
            <a:ext cx="10973" cy="4224528"/>
          </a:xfrm>
          <a:prstGeom prst="rect">
            <a:avLst/>
          </a:prstGeom>
          <a:solidFill>
            <a:srgbClr val="D9D9D9"/>
          </a:solidFill>
          <a:ln/>
        </p:spPr>
      </p:sp>
      <p:sp>
        <p:nvSpPr>
          <p:cNvPr id="223" name="Shape 221"/>
          <p:cNvSpPr/>
          <p:nvPr/>
        </p:nvSpPr>
        <p:spPr>
          <a:xfrm>
            <a:off x="457200" y="6126480"/>
            <a:ext cx="11274552" cy="615696"/>
          </a:xfrm>
          <a:prstGeom prst="rect">
            <a:avLst/>
          </a:prstGeom>
          <a:solidFill>
            <a:srgbClr val="FBEBEA"/>
          </a:solidFill>
          <a:ln/>
        </p:spPr>
      </p:sp>
      <p:sp>
        <p:nvSpPr>
          <p:cNvPr id="224" name="Text 2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have left $1,017,661 so far this year; 7 are at or above it. Chevy LV is furthest below at −$107K.</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Shape 11"/>
          <p:cNvSpPr/>
          <p:nvPr/>
        </p:nvSpPr>
        <p:spPr>
          <a:xfrm>
            <a:off x="4084320" y="2894990"/>
            <a:ext cx="64008" cy="682142"/>
          </a:xfrm>
          <a:prstGeom prst="rect">
            <a:avLst/>
          </a:prstGeom>
          <a:solidFill>
            <a:srgbClr val="12A566"/>
          </a:solidFill>
          <a:ln/>
        </p:spPr>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71" name="Shape 69"/>
          <p:cNvSpPr/>
          <p:nvPr/>
        </p:nvSpPr>
        <p:spPr>
          <a:xfrm>
            <a:off x="457200" y="6126480"/>
            <a:ext cx="11274552" cy="600456"/>
          </a:xfrm>
          <a:prstGeom prst="rect">
            <a:avLst/>
          </a:prstGeom>
          <a:solidFill>
            <a:srgbClr val="EDF4FA"/>
          </a:solidFill>
          <a:ln/>
        </p:spPr>
      </p:sp>
      <p:sp>
        <p:nvSpPr>
          <p:cNvPr id="72" name="Text 70"/>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Subaru St George, Lincoln and LR LV what changed. Ask Subaru LV, CDJR Post Falls and Toyota Spokane what got in the way. Ask Mazda, Hyundai St George and Honda Spokane what they started this year.</a:t>
            </a:r>
            <a:endParaRPr lang="en-US" sz="155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Shape 5"/>
          <p:cNvSpPr/>
          <p:nvPr/>
        </p:nvSpPr>
        <p:spPr>
          <a:xfrm>
            <a:off x="3795511" y="1700784"/>
            <a:ext cx="10973" cy="4224528"/>
          </a:xfrm>
          <a:prstGeom prst="rect">
            <a:avLst/>
          </a:prstGeom>
          <a:solidFill>
            <a:srgbClr val="9AA3AD"/>
          </a:solidFill>
          <a:ln/>
        </p:spPr>
      </p:sp>
      <p:sp>
        <p:nvSpPr>
          <p:cNvPr id="8" name="Text 6"/>
          <p:cNvSpPr txBox="1"/>
          <p:nvPr/>
        </p:nvSpPr>
        <p:spPr>
          <a:xfrm>
            <a:off x="1036929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9" name="Shape 7"/>
          <p:cNvSpPr/>
          <p:nvPr/>
        </p:nvSpPr>
        <p:spPr>
          <a:xfrm>
            <a:off x="9345919" y="1700784"/>
            <a:ext cx="10973" cy="3976026"/>
          </a:xfrm>
          <a:prstGeom prst="rect">
            <a:avLst/>
          </a:prstGeom>
          <a:solidFill>
            <a:srgbClr val="9AA3AD"/>
          </a:solidFill>
          <a:ln/>
        </p:spPr>
      </p:sp>
      <p:sp>
        <p:nvSpPr>
          <p:cNvPr id="10" name="Text 8"/>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1" name="Text 9"/>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2" name="Shape 10"/>
          <p:cNvSpPr/>
          <p:nvPr/>
        </p:nvSpPr>
        <p:spPr>
          <a:xfrm>
            <a:off x="3800997" y="1756697"/>
            <a:ext cx="963027" cy="136676"/>
          </a:xfrm>
          <a:prstGeom prst="rect">
            <a:avLst/>
          </a:prstGeom>
          <a:solidFill>
            <a:srgbClr val="12A566"/>
          </a:solidFill>
          <a:ln/>
        </p:spPr>
      </p:sp>
      <p:sp>
        <p:nvSpPr>
          <p:cNvPr id="13" name="Text 11"/>
          <p:cNvSpPr txBox="1"/>
          <p:nvPr/>
        </p:nvSpPr>
        <p:spPr>
          <a:xfrm>
            <a:off x="481888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+$557K</a:t>
            </a:r>
            <a:endParaRPr lang="en-US" sz="1300" dirty="0"/>
          </a:p>
        </p:txBody>
      </p:sp>
      <p:sp>
        <p:nvSpPr>
          <p:cNvPr id="14" name="Text 12"/>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5" name="Text 13"/>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 name="Shape 14"/>
          <p:cNvSpPr/>
          <p:nvPr/>
        </p:nvSpPr>
        <p:spPr>
          <a:xfrm>
            <a:off x="3800997" y="2005199"/>
            <a:ext cx="260306" cy="136676"/>
          </a:xfrm>
          <a:prstGeom prst="rect">
            <a:avLst/>
          </a:prstGeom>
          <a:solidFill>
            <a:srgbClr val="12A566"/>
          </a:solidFill>
          <a:ln/>
        </p:spPr>
      </p:sp>
      <p:sp>
        <p:nvSpPr>
          <p:cNvPr id="17" name="Text 15"/>
          <p:cNvSpPr txBox="1"/>
          <p:nvPr/>
        </p:nvSpPr>
        <p:spPr>
          <a:xfrm>
            <a:off x="481888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+$151K</a:t>
            </a:r>
            <a:endParaRPr lang="en-US" sz="1300" dirty="0"/>
          </a:p>
        </p:txBody>
      </p:sp>
      <p:sp>
        <p:nvSpPr>
          <p:cNvPr id="18" name="Text 1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9" name="Text 17"/>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0" name="Shape 18"/>
          <p:cNvSpPr/>
          <p:nvPr/>
        </p:nvSpPr>
        <p:spPr>
          <a:xfrm>
            <a:off x="3800997" y="2253700"/>
            <a:ext cx="92755" cy="136676"/>
          </a:xfrm>
          <a:prstGeom prst="rect">
            <a:avLst/>
          </a:prstGeom>
          <a:solidFill>
            <a:srgbClr val="12A566"/>
          </a:solidFill>
          <a:ln/>
        </p:spPr>
      </p:sp>
      <p:sp>
        <p:nvSpPr>
          <p:cNvPr id="21" name="Text 19"/>
          <p:cNvSpPr txBox="1"/>
          <p:nvPr/>
        </p:nvSpPr>
        <p:spPr>
          <a:xfrm>
            <a:off x="481888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2" name="Text 20"/>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4" name="Shape 22"/>
          <p:cNvSpPr/>
          <p:nvPr/>
        </p:nvSpPr>
        <p:spPr>
          <a:xfrm>
            <a:off x="3800997" y="2502202"/>
            <a:ext cx="77707" cy="136676"/>
          </a:xfrm>
          <a:prstGeom prst="rect">
            <a:avLst/>
          </a:prstGeom>
          <a:solidFill>
            <a:srgbClr val="12A566"/>
          </a:solidFill>
          <a:ln/>
        </p:spPr>
      </p:sp>
      <p:sp>
        <p:nvSpPr>
          <p:cNvPr id="25" name="Text 23"/>
          <p:cNvSpPr txBox="1"/>
          <p:nvPr/>
        </p:nvSpPr>
        <p:spPr>
          <a:xfrm>
            <a:off x="481888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26" name="Text 2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7" name="Text 25"/>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800997" y="2750703"/>
            <a:ext cx="71427" cy="136676"/>
          </a:xfrm>
          <a:prstGeom prst="rect">
            <a:avLst/>
          </a:prstGeom>
          <a:solidFill>
            <a:srgbClr val="12A566"/>
          </a:solidFill>
          <a:ln/>
        </p:spPr>
      </p:sp>
      <p:sp>
        <p:nvSpPr>
          <p:cNvPr id="29" name="Text 27"/>
          <p:cNvSpPr txBox="1"/>
          <p:nvPr/>
        </p:nvSpPr>
        <p:spPr>
          <a:xfrm>
            <a:off x="481888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30" name="Text 28"/>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1" name="Text 29"/>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2" name="Shape 30"/>
          <p:cNvSpPr/>
          <p:nvPr/>
        </p:nvSpPr>
        <p:spPr>
          <a:xfrm>
            <a:off x="3800997" y="2999205"/>
            <a:ext cx="57698" cy="136676"/>
          </a:xfrm>
          <a:prstGeom prst="rect">
            <a:avLst/>
          </a:prstGeom>
          <a:solidFill>
            <a:srgbClr val="12A566"/>
          </a:solidFill>
          <a:ln/>
        </p:spPr>
      </p:sp>
      <p:sp>
        <p:nvSpPr>
          <p:cNvPr id="33" name="Text 31"/>
          <p:cNvSpPr txBox="1"/>
          <p:nvPr/>
        </p:nvSpPr>
        <p:spPr>
          <a:xfrm>
            <a:off x="481888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34" name="Text 32"/>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5" name="Text 33"/>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36" name="Shape 34"/>
          <p:cNvSpPr/>
          <p:nvPr/>
        </p:nvSpPr>
        <p:spPr>
          <a:xfrm>
            <a:off x="3800997" y="3247707"/>
            <a:ext cx="40337" cy="136676"/>
          </a:xfrm>
          <a:prstGeom prst="rect">
            <a:avLst/>
          </a:prstGeom>
          <a:solidFill>
            <a:srgbClr val="12A566"/>
          </a:solidFill>
          <a:ln/>
        </p:spPr>
      </p:sp>
      <p:sp>
        <p:nvSpPr>
          <p:cNvPr id="37" name="Text 35"/>
          <p:cNvSpPr txBox="1"/>
          <p:nvPr/>
        </p:nvSpPr>
        <p:spPr>
          <a:xfrm>
            <a:off x="481888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38" name="Text 36"/>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9" name="Text 37"/>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40" name="Shape 38"/>
          <p:cNvSpPr/>
          <p:nvPr/>
        </p:nvSpPr>
        <p:spPr>
          <a:xfrm>
            <a:off x="3762731" y="3496208"/>
            <a:ext cx="38266" cy="136676"/>
          </a:xfrm>
          <a:prstGeom prst="rect">
            <a:avLst/>
          </a:prstGeom>
          <a:solidFill>
            <a:srgbClr val="C2352F"/>
          </a:solidFill>
          <a:ln/>
        </p:spPr>
      </p:sp>
      <p:sp>
        <p:nvSpPr>
          <p:cNvPr id="41" name="Text 39"/>
          <p:cNvSpPr txBox="1"/>
          <p:nvPr/>
        </p:nvSpPr>
        <p:spPr>
          <a:xfrm>
            <a:off x="481888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42" name="Text 4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3" name="Text 4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4" name="Shape 42"/>
          <p:cNvSpPr/>
          <p:nvPr/>
        </p:nvSpPr>
        <p:spPr>
          <a:xfrm>
            <a:off x="3752270" y="3744710"/>
            <a:ext cx="48727" cy="136676"/>
          </a:xfrm>
          <a:prstGeom prst="rect">
            <a:avLst/>
          </a:prstGeom>
          <a:solidFill>
            <a:srgbClr val="C2352F"/>
          </a:solidFill>
          <a:ln/>
        </p:spPr>
      </p:sp>
      <p:sp>
        <p:nvSpPr>
          <p:cNvPr id="45" name="Text 43"/>
          <p:cNvSpPr txBox="1"/>
          <p:nvPr/>
        </p:nvSpPr>
        <p:spPr>
          <a:xfrm>
            <a:off x="481888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46" name="Text 4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7" name="Text 45"/>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8" name="Shape 46"/>
          <p:cNvSpPr/>
          <p:nvPr/>
        </p:nvSpPr>
        <p:spPr>
          <a:xfrm>
            <a:off x="3751591" y="3993212"/>
            <a:ext cx="49407" cy="136676"/>
          </a:xfrm>
          <a:prstGeom prst="rect">
            <a:avLst/>
          </a:prstGeom>
          <a:solidFill>
            <a:srgbClr val="C2352F"/>
          </a:solidFill>
          <a:ln/>
        </p:spPr>
      </p:sp>
      <p:sp>
        <p:nvSpPr>
          <p:cNvPr id="49" name="Text 47"/>
          <p:cNvSpPr txBox="1"/>
          <p:nvPr/>
        </p:nvSpPr>
        <p:spPr>
          <a:xfrm>
            <a:off x="481888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50" name="Text 48"/>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1" name="Text 49"/>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52" name="Shape 50"/>
          <p:cNvSpPr/>
          <p:nvPr/>
        </p:nvSpPr>
        <p:spPr>
          <a:xfrm>
            <a:off x="3745550" y="4241713"/>
            <a:ext cx="55448" cy="136676"/>
          </a:xfrm>
          <a:prstGeom prst="rect">
            <a:avLst/>
          </a:prstGeom>
          <a:solidFill>
            <a:srgbClr val="C2352F"/>
          </a:solidFill>
          <a:ln/>
        </p:spPr>
      </p:sp>
      <p:sp>
        <p:nvSpPr>
          <p:cNvPr id="53" name="Text 51"/>
          <p:cNvSpPr txBox="1"/>
          <p:nvPr/>
        </p:nvSpPr>
        <p:spPr>
          <a:xfrm>
            <a:off x="481888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54" name="Text 52"/>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5" name="Text 53"/>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6" name="Shape 54"/>
          <p:cNvSpPr/>
          <p:nvPr/>
        </p:nvSpPr>
        <p:spPr>
          <a:xfrm>
            <a:off x="3729945" y="4490215"/>
            <a:ext cx="71053" cy="136676"/>
          </a:xfrm>
          <a:prstGeom prst="rect">
            <a:avLst/>
          </a:prstGeom>
          <a:solidFill>
            <a:srgbClr val="C2352F"/>
          </a:solidFill>
          <a:ln/>
        </p:spPr>
      </p:sp>
      <p:sp>
        <p:nvSpPr>
          <p:cNvPr id="57" name="Text 55"/>
          <p:cNvSpPr txBox="1"/>
          <p:nvPr/>
        </p:nvSpPr>
        <p:spPr>
          <a:xfrm>
            <a:off x="481888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−$41K</a:t>
            </a:r>
            <a:endParaRPr lang="en-US" sz="1300" dirty="0"/>
          </a:p>
        </p:txBody>
      </p:sp>
      <p:sp>
        <p:nvSpPr>
          <p:cNvPr id="58" name="Text 56"/>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9" name="Text 57"/>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0" name="Shape 58"/>
          <p:cNvSpPr/>
          <p:nvPr/>
        </p:nvSpPr>
        <p:spPr>
          <a:xfrm>
            <a:off x="3718481" y="4738717"/>
            <a:ext cx="82517" cy="136676"/>
          </a:xfrm>
          <a:prstGeom prst="rect">
            <a:avLst/>
          </a:prstGeom>
          <a:solidFill>
            <a:srgbClr val="C2352F"/>
          </a:solidFill>
          <a:ln/>
        </p:spPr>
      </p:sp>
      <p:sp>
        <p:nvSpPr>
          <p:cNvPr id="61" name="Text 59"/>
          <p:cNvSpPr txBox="1"/>
          <p:nvPr/>
        </p:nvSpPr>
        <p:spPr>
          <a:xfrm>
            <a:off x="481888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62" name="Text 60"/>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4" name="Shape 62"/>
          <p:cNvSpPr/>
          <p:nvPr/>
        </p:nvSpPr>
        <p:spPr>
          <a:xfrm>
            <a:off x="3710263" y="4987218"/>
            <a:ext cx="90735" cy="136676"/>
          </a:xfrm>
          <a:prstGeom prst="rect">
            <a:avLst/>
          </a:prstGeom>
          <a:solidFill>
            <a:srgbClr val="C2352F"/>
          </a:solidFill>
          <a:ln/>
        </p:spPr>
      </p:sp>
      <p:sp>
        <p:nvSpPr>
          <p:cNvPr id="65" name="Text 63"/>
          <p:cNvSpPr txBox="1"/>
          <p:nvPr/>
        </p:nvSpPr>
        <p:spPr>
          <a:xfrm>
            <a:off x="481888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66" name="Text 6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7" name="Text 65"/>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3698735" y="5235720"/>
            <a:ext cx="102262" cy="136676"/>
          </a:xfrm>
          <a:prstGeom prst="rect">
            <a:avLst/>
          </a:prstGeom>
          <a:solidFill>
            <a:srgbClr val="C2352F"/>
          </a:solidFill>
          <a:ln/>
        </p:spPr>
      </p:sp>
      <p:sp>
        <p:nvSpPr>
          <p:cNvPr id="69" name="Text 67"/>
          <p:cNvSpPr txBox="1"/>
          <p:nvPr/>
        </p:nvSpPr>
        <p:spPr>
          <a:xfrm>
            <a:off x="481888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−$59K</a:t>
            </a:r>
            <a:endParaRPr lang="en-US" sz="1300" dirty="0"/>
          </a:p>
        </p:txBody>
      </p:sp>
      <p:sp>
        <p:nvSpPr>
          <p:cNvPr id="70" name="Text 68"/>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1" name="Text 69"/>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2" name="Shape 70"/>
          <p:cNvSpPr/>
          <p:nvPr/>
        </p:nvSpPr>
        <p:spPr>
          <a:xfrm>
            <a:off x="3697071" y="5484222"/>
            <a:ext cx="103926" cy="136676"/>
          </a:xfrm>
          <a:prstGeom prst="rect">
            <a:avLst/>
          </a:prstGeom>
          <a:solidFill>
            <a:srgbClr val="C2352F"/>
          </a:solidFill>
          <a:ln/>
        </p:spPr>
      </p:sp>
      <p:sp>
        <p:nvSpPr>
          <p:cNvPr id="73" name="Text 71"/>
          <p:cNvSpPr txBox="1"/>
          <p:nvPr/>
        </p:nvSpPr>
        <p:spPr>
          <a:xfrm>
            <a:off x="481888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74" name="Text 7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76" name="Shape 74"/>
          <p:cNvSpPr/>
          <p:nvPr/>
        </p:nvSpPr>
        <p:spPr>
          <a:xfrm>
            <a:off x="3696290" y="5732723"/>
            <a:ext cx="104707" cy="136676"/>
          </a:xfrm>
          <a:prstGeom prst="rect">
            <a:avLst/>
          </a:prstGeom>
          <a:solidFill>
            <a:srgbClr val="C2352F"/>
          </a:solidFill>
          <a:ln/>
        </p:spPr>
      </p:sp>
      <p:sp>
        <p:nvSpPr>
          <p:cNvPr id="77" name="Text 75"/>
          <p:cNvSpPr txBox="1"/>
          <p:nvPr/>
        </p:nvSpPr>
        <p:spPr>
          <a:xfrm>
            <a:off x="481888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−$61K</a:t>
            </a:r>
            <a:endParaRPr lang="en-US" sz="1300" dirty="0"/>
          </a:p>
        </p:txBody>
      </p:sp>
      <p:sp>
        <p:nvSpPr>
          <p:cNvPr id="78" name="Text 76"/>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9" name="Text 77"/>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0" name="Shape 78"/>
          <p:cNvSpPr/>
          <p:nvPr/>
        </p:nvSpPr>
        <p:spPr>
          <a:xfrm>
            <a:off x="9237983" y="1756697"/>
            <a:ext cx="113423" cy="136676"/>
          </a:xfrm>
          <a:prstGeom prst="rect">
            <a:avLst/>
          </a:prstGeom>
          <a:solidFill>
            <a:srgbClr val="C2352F"/>
          </a:solidFill>
          <a:ln/>
        </p:spPr>
      </p:sp>
      <p:sp>
        <p:nvSpPr>
          <p:cNvPr id="81" name="Text 79"/>
          <p:cNvSpPr txBox="1"/>
          <p:nvPr/>
        </p:nvSpPr>
        <p:spPr>
          <a:xfrm>
            <a:off x="1036929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−$66K</a:t>
            </a:r>
            <a:endParaRPr lang="en-US" sz="1300" dirty="0"/>
          </a:p>
        </p:txBody>
      </p:sp>
      <p:sp>
        <p:nvSpPr>
          <p:cNvPr id="82" name="Text 8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3" name="Text 8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4" name="Shape 82"/>
          <p:cNvSpPr/>
          <p:nvPr/>
        </p:nvSpPr>
        <p:spPr>
          <a:xfrm>
            <a:off x="9188179" y="2005199"/>
            <a:ext cx="163227" cy="136676"/>
          </a:xfrm>
          <a:prstGeom prst="rect">
            <a:avLst/>
          </a:prstGeom>
          <a:solidFill>
            <a:srgbClr val="C2352F"/>
          </a:solidFill>
          <a:ln/>
        </p:spPr>
      </p:sp>
      <p:sp>
        <p:nvSpPr>
          <p:cNvPr id="85" name="Text 83"/>
          <p:cNvSpPr txBox="1"/>
          <p:nvPr/>
        </p:nvSpPr>
        <p:spPr>
          <a:xfrm>
            <a:off x="1036929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86" name="Text 8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7" name="Text 85"/>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9179400" y="2253700"/>
            <a:ext cx="172006" cy="136676"/>
          </a:xfrm>
          <a:prstGeom prst="rect">
            <a:avLst/>
          </a:prstGeom>
          <a:solidFill>
            <a:srgbClr val="C2352F"/>
          </a:solidFill>
          <a:ln/>
        </p:spPr>
      </p:sp>
      <p:sp>
        <p:nvSpPr>
          <p:cNvPr id="89" name="Text 87"/>
          <p:cNvSpPr txBox="1"/>
          <p:nvPr/>
        </p:nvSpPr>
        <p:spPr>
          <a:xfrm>
            <a:off x="1036929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90" name="Text 88"/>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1" name="Text 89"/>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2" name="Shape 90"/>
          <p:cNvSpPr/>
          <p:nvPr/>
        </p:nvSpPr>
        <p:spPr>
          <a:xfrm>
            <a:off x="9170174" y="2502202"/>
            <a:ext cx="181231" cy="136676"/>
          </a:xfrm>
          <a:prstGeom prst="rect">
            <a:avLst/>
          </a:prstGeom>
          <a:solidFill>
            <a:srgbClr val="C2352F"/>
          </a:solidFill>
          <a:ln/>
        </p:spPr>
      </p:sp>
      <p:sp>
        <p:nvSpPr>
          <p:cNvPr id="93" name="Text 91"/>
          <p:cNvSpPr txBox="1"/>
          <p:nvPr/>
        </p:nvSpPr>
        <p:spPr>
          <a:xfrm>
            <a:off x="1036929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94" name="Text 9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5" name="Text 93"/>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6" name="Shape 94"/>
          <p:cNvSpPr/>
          <p:nvPr/>
        </p:nvSpPr>
        <p:spPr>
          <a:xfrm>
            <a:off x="9169305" y="2750703"/>
            <a:ext cx="182101" cy="136676"/>
          </a:xfrm>
          <a:prstGeom prst="rect">
            <a:avLst/>
          </a:prstGeom>
          <a:solidFill>
            <a:srgbClr val="C2352F"/>
          </a:solidFill>
          <a:ln/>
        </p:spPr>
      </p:sp>
      <p:sp>
        <p:nvSpPr>
          <p:cNvPr id="97" name="Text 95"/>
          <p:cNvSpPr txBox="1"/>
          <p:nvPr/>
        </p:nvSpPr>
        <p:spPr>
          <a:xfrm>
            <a:off x="1036929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98" name="Text 96"/>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9" name="Text 97"/>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0" name="Shape 98"/>
          <p:cNvSpPr/>
          <p:nvPr/>
        </p:nvSpPr>
        <p:spPr>
          <a:xfrm>
            <a:off x="9109792" y="2999205"/>
            <a:ext cx="241613" cy="136676"/>
          </a:xfrm>
          <a:prstGeom prst="rect">
            <a:avLst/>
          </a:prstGeom>
          <a:solidFill>
            <a:srgbClr val="C2352F"/>
          </a:solidFill>
          <a:ln/>
        </p:spPr>
      </p:sp>
      <p:sp>
        <p:nvSpPr>
          <p:cNvPr id="101" name="Text 99"/>
          <p:cNvSpPr txBox="1"/>
          <p:nvPr/>
        </p:nvSpPr>
        <p:spPr>
          <a:xfrm>
            <a:off x="1036929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102" name="Text 100"/>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3" name="Text 101"/>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04" name="Shape 102"/>
          <p:cNvSpPr/>
          <p:nvPr/>
        </p:nvSpPr>
        <p:spPr>
          <a:xfrm>
            <a:off x="9092573" y="3247707"/>
            <a:ext cx="258833" cy="136676"/>
          </a:xfrm>
          <a:prstGeom prst="rect">
            <a:avLst/>
          </a:prstGeom>
          <a:solidFill>
            <a:srgbClr val="C2352F"/>
          </a:solidFill>
          <a:ln/>
        </p:spPr>
      </p:sp>
      <p:sp>
        <p:nvSpPr>
          <p:cNvPr id="105" name="Text 103"/>
          <p:cNvSpPr txBox="1"/>
          <p:nvPr/>
        </p:nvSpPr>
        <p:spPr>
          <a:xfrm>
            <a:off x="1036929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06" name="Text 10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7" name="Text 105"/>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8" name="Shape 106"/>
          <p:cNvSpPr/>
          <p:nvPr/>
        </p:nvSpPr>
        <p:spPr>
          <a:xfrm>
            <a:off x="9092243" y="3496208"/>
            <a:ext cx="259162" cy="136676"/>
          </a:xfrm>
          <a:prstGeom prst="rect">
            <a:avLst/>
          </a:prstGeom>
          <a:solidFill>
            <a:srgbClr val="C2352F"/>
          </a:solidFill>
          <a:ln/>
        </p:spPr>
      </p:sp>
      <p:sp>
        <p:nvSpPr>
          <p:cNvPr id="109" name="Text 107"/>
          <p:cNvSpPr txBox="1"/>
          <p:nvPr/>
        </p:nvSpPr>
        <p:spPr>
          <a:xfrm>
            <a:off x="1036929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10" name="Text 108"/>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2" name="Shape 110"/>
          <p:cNvSpPr/>
          <p:nvPr/>
        </p:nvSpPr>
        <p:spPr>
          <a:xfrm>
            <a:off x="9072005" y="3744710"/>
            <a:ext cx="279401" cy="136676"/>
          </a:xfrm>
          <a:prstGeom prst="rect">
            <a:avLst/>
          </a:prstGeom>
          <a:solidFill>
            <a:srgbClr val="C2352F"/>
          </a:solidFill>
          <a:ln/>
        </p:spPr>
      </p:sp>
      <p:sp>
        <p:nvSpPr>
          <p:cNvPr id="113" name="Text 111"/>
          <p:cNvSpPr txBox="1"/>
          <p:nvPr/>
        </p:nvSpPr>
        <p:spPr>
          <a:xfrm>
            <a:off x="1036929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−$162K</a:t>
            </a:r>
            <a:endParaRPr lang="en-US" sz="1300" dirty="0"/>
          </a:p>
        </p:txBody>
      </p:sp>
      <p:sp>
        <p:nvSpPr>
          <p:cNvPr id="114" name="Text 11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6" name="Shape 114"/>
          <p:cNvSpPr/>
          <p:nvPr/>
        </p:nvSpPr>
        <p:spPr>
          <a:xfrm>
            <a:off x="9049807" y="3993212"/>
            <a:ext cx="301599" cy="136676"/>
          </a:xfrm>
          <a:prstGeom prst="rect">
            <a:avLst/>
          </a:prstGeom>
          <a:solidFill>
            <a:srgbClr val="C2352F"/>
          </a:solidFill>
          <a:ln/>
        </p:spPr>
      </p:sp>
      <p:sp>
        <p:nvSpPr>
          <p:cNvPr id="117" name="Text 115"/>
          <p:cNvSpPr txBox="1"/>
          <p:nvPr/>
        </p:nvSpPr>
        <p:spPr>
          <a:xfrm>
            <a:off x="1036929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−$175K</a:t>
            </a:r>
            <a:endParaRPr lang="en-US" sz="1300" dirty="0"/>
          </a:p>
        </p:txBody>
      </p:sp>
      <p:sp>
        <p:nvSpPr>
          <p:cNvPr id="118" name="Text 116"/>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9" name="Text 117"/>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20" name="Shape 118"/>
          <p:cNvSpPr/>
          <p:nvPr/>
        </p:nvSpPr>
        <p:spPr>
          <a:xfrm>
            <a:off x="9034236" y="4241713"/>
            <a:ext cx="317170" cy="136676"/>
          </a:xfrm>
          <a:prstGeom prst="rect">
            <a:avLst/>
          </a:prstGeom>
          <a:solidFill>
            <a:srgbClr val="C2352F"/>
          </a:solidFill>
          <a:ln/>
        </p:spPr>
      </p:sp>
      <p:sp>
        <p:nvSpPr>
          <p:cNvPr id="121" name="Text 119"/>
          <p:cNvSpPr txBox="1"/>
          <p:nvPr/>
        </p:nvSpPr>
        <p:spPr>
          <a:xfrm>
            <a:off x="1036929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−$184K</a:t>
            </a:r>
            <a:endParaRPr lang="en-US" sz="1300" dirty="0"/>
          </a:p>
        </p:txBody>
      </p:sp>
      <p:sp>
        <p:nvSpPr>
          <p:cNvPr id="122" name="Text 12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24" name="Shape 122"/>
          <p:cNvSpPr/>
          <p:nvPr/>
        </p:nvSpPr>
        <p:spPr>
          <a:xfrm>
            <a:off x="9031867" y="4490215"/>
            <a:ext cx="319539" cy="136676"/>
          </a:xfrm>
          <a:prstGeom prst="rect">
            <a:avLst/>
          </a:prstGeom>
          <a:solidFill>
            <a:srgbClr val="C2352F"/>
          </a:solidFill>
          <a:ln/>
        </p:spPr>
      </p:sp>
      <p:sp>
        <p:nvSpPr>
          <p:cNvPr id="125" name="Text 123"/>
          <p:cNvSpPr txBox="1"/>
          <p:nvPr/>
        </p:nvSpPr>
        <p:spPr>
          <a:xfrm>
            <a:off x="1036929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−$185K</a:t>
            </a:r>
            <a:endParaRPr lang="en-US" sz="1300" dirty="0"/>
          </a:p>
        </p:txBody>
      </p:sp>
      <p:sp>
        <p:nvSpPr>
          <p:cNvPr id="126" name="Text 12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7" name="Text 125"/>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28" name="Shape 126"/>
          <p:cNvSpPr/>
          <p:nvPr/>
        </p:nvSpPr>
        <p:spPr>
          <a:xfrm>
            <a:off x="8959526" y="4738717"/>
            <a:ext cx="391880" cy="136676"/>
          </a:xfrm>
          <a:prstGeom prst="rect">
            <a:avLst/>
          </a:prstGeom>
          <a:solidFill>
            <a:srgbClr val="C2352F"/>
          </a:solidFill>
          <a:ln/>
        </p:spPr>
      </p:sp>
      <p:sp>
        <p:nvSpPr>
          <p:cNvPr id="129" name="Text 127"/>
          <p:cNvSpPr txBox="1"/>
          <p:nvPr/>
        </p:nvSpPr>
        <p:spPr>
          <a:xfrm>
            <a:off x="1036929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−$227K</a:t>
            </a:r>
            <a:endParaRPr lang="en-US" sz="1300" dirty="0"/>
          </a:p>
        </p:txBody>
      </p:sp>
      <p:sp>
        <p:nvSpPr>
          <p:cNvPr id="130" name="Text 128"/>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1" name="Text 129"/>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2" name="Shape 130"/>
          <p:cNvSpPr/>
          <p:nvPr/>
        </p:nvSpPr>
        <p:spPr>
          <a:xfrm>
            <a:off x="8890482" y="4987218"/>
            <a:ext cx="460924" cy="136676"/>
          </a:xfrm>
          <a:prstGeom prst="rect">
            <a:avLst/>
          </a:prstGeom>
          <a:solidFill>
            <a:srgbClr val="C2352F"/>
          </a:solidFill>
          <a:ln/>
        </p:spPr>
      </p:sp>
      <p:sp>
        <p:nvSpPr>
          <p:cNvPr id="133" name="Text 131"/>
          <p:cNvSpPr txBox="1"/>
          <p:nvPr/>
        </p:nvSpPr>
        <p:spPr>
          <a:xfrm>
            <a:off x="1036929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−$267K</a:t>
            </a:r>
            <a:endParaRPr lang="en-US" sz="1300" dirty="0"/>
          </a:p>
        </p:txBody>
      </p:sp>
      <p:sp>
        <p:nvSpPr>
          <p:cNvPr id="134" name="Text 132"/>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5" name="Text 133"/>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6" name="Shape 134"/>
          <p:cNvSpPr/>
          <p:nvPr/>
        </p:nvSpPr>
        <p:spPr>
          <a:xfrm>
            <a:off x="8735965" y="5235720"/>
            <a:ext cx="615441" cy="136676"/>
          </a:xfrm>
          <a:prstGeom prst="rect">
            <a:avLst/>
          </a:prstGeom>
          <a:solidFill>
            <a:srgbClr val="C2352F"/>
          </a:solidFill>
          <a:ln/>
        </p:spPr>
      </p:sp>
      <p:sp>
        <p:nvSpPr>
          <p:cNvPr id="137" name="Text 135"/>
          <p:cNvSpPr txBox="1"/>
          <p:nvPr/>
        </p:nvSpPr>
        <p:spPr>
          <a:xfrm>
            <a:off x="1036929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138" name="Text 136"/>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9" name="Text 137"/>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40" name="Shape 138"/>
          <p:cNvSpPr/>
          <p:nvPr/>
        </p:nvSpPr>
        <p:spPr>
          <a:xfrm>
            <a:off x="8650224" y="5484222"/>
            <a:ext cx="701181" cy="136676"/>
          </a:xfrm>
          <a:prstGeom prst="rect">
            <a:avLst/>
          </a:prstGeom>
          <a:solidFill>
            <a:srgbClr val="C2352F"/>
          </a:solidFill>
          <a:ln/>
        </p:spPr>
      </p:sp>
      <p:sp>
        <p:nvSpPr>
          <p:cNvPr id="141" name="Text 139"/>
          <p:cNvSpPr txBox="1"/>
          <p:nvPr/>
        </p:nvSpPr>
        <p:spPr>
          <a:xfrm>
            <a:off x="1036929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−$406K</a:t>
            </a:r>
            <a:endParaRPr lang="en-US" sz="1300" dirty="0"/>
          </a:p>
        </p:txBody>
      </p:sp>
      <p:sp>
        <p:nvSpPr>
          <p:cNvPr id="142" name="Shape 140"/>
          <p:cNvSpPr/>
          <p:nvPr/>
        </p:nvSpPr>
        <p:spPr>
          <a:xfrm>
            <a:off x="6085332" y="1700784"/>
            <a:ext cx="10973" cy="4224528"/>
          </a:xfrm>
          <a:prstGeom prst="rect">
            <a:avLst/>
          </a:prstGeom>
          <a:solidFill>
            <a:srgbClr val="D9D9D9"/>
          </a:solidFill>
          <a:ln/>
        </p:spPr>
      </p:sp>
      <p:sp>
        <p:nvSpPr>
          <p:cNvPr id="143" name="Shape 141"/>
          <p:cNvSpPr/>
          <p:nvPr/>
        </p:nvSpPr>
        <p:spPr>
          <a:xfrm>
            <a:off x="457200" y="6126480"/>
            <a:ext cx="11274552" cy="615696"/>
          </a:xfrm>
          <a:prstGeom prst="rect">
            <a:avLst/>
          </a:prstGeom>
          <a:solidFill>
            <a:srgbClr val="FBEBEA"/>
          </a:solidFill>
          <a:ln/>
        </p:spPr>
      </p:sp>
      <p:sp>
        <p:nvSpPr>
          <p:cNvPr id="144" name="Text 14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is furthest below at −$406K so far this year; 7 of 33 stores are ahead of benchmark across the four services. 15 stores are under all four.</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isn't service making money off sales: it is gross the store earns on its own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 led by LR Reno at $207. Nissan is lowest at $87.</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+29.5% (+$47) to $205. 13 declined; Nissan fell most at −27.2%.</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3" name="Text 21"/>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Shape 27"/>
          <p:cNvSpPr/>
          <p:nvPr/>
        </p:nvSpPr>
        <p:spPr>
          <a:xfrm>
            <a:off x="4084320" y="5160874"/>
            <a:ext cx="64008" cy="682142"/>
          </a:xfrm>
          <a:prstGeom prst="rect">
            <a:avLst/>
          </a:prstGeom>
          <a:solidFill>
            <a:srgbClr val="12A566"/>
          </a:solidFill>
          <a:ln/>
        </p:spPr>
      </p:sp>
      <p:sp>
        <p:nvSpPr>
          <p:cNvPr id="30" name="Text 28"/>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2" name="Text 30"/>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3" name="Text 31"/>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755294"/>
          </a:xfrm>
          <a:prstGeom prst="rect">
            <a:avLst/>
          </a:prstGeom>
          <a:solidFill>
            <a:srgbClr val="F7F7F7"/>
          </a:solidFill>
          <a:ln/>
        </p:spPr>
      </p:sp>
      <p:sp>
        <p:nvSpPr>
          <p:cNvPr id="38" name="Text 36"/>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40" name="Text 38"/>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1" name="Text 39"/>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2" name="Text 40"/>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4" name="Text 42"/>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5" name="Text 43"/>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6" name="Shape 44"/>
          <p:cNvSpPr/>
          <p:nvPr/>
        </p:nvSpPr>
        <p:spPr>
          <a:xfrm>
            <a:off x="4349496" y="3613709"/>
            <a:ext cx="3489960" cy="755294"/>
          </a:xfrm>
          <a:prstGeom prst="rect">
            <a:avLst/>
          </a:prstGeom>
          <a:solidFill>
            <a:srgbClr val="F7F7F7"/>
          </a:solidFill>
          <a:ln/>
        </p:spPr>
      </p:sp>
      <p:sp>
        <p:nvSpPr>
          <p:cNvPr id="47" name="Text 45"/>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9" name="Text 47"/>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0" name="Text 48"/>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3" name="Text 51"/>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4" name="Text 52"/>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5" name="Shape 53"/>
          <p:cNvSpPr/>
          <p:nvPr/>
        </p:nvSpPr>
        <p:spPr>
          <a:xfrm>
            <a:off x="4349496" y="5124298"/>
            <a:ext cx="3489960" cy="755294"/>
          </a:xfrm>
          <a:prstGeom prst="rect">
            <a:avLst/>
          </a:prstGeom>
          <a:solidFill>
            <a:srgbClr val="F7F7F7"/>
          </a:solidFill>
          <a:ln/>
        </p:spPr>
      </p:sp>
      <p:sp>
        <p:nvSpPr>
          <p:cNvPr id="56" name="Text 5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8" name="Text 56"/>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59" name="Text 57"/>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3" name="Shape 61"/>
          <p:cNvSpPr/>
          <p:nvPr/>
        </p:nvSpPr>
        <p:spPr>
          <a:xfrm>
            <a:off x="8040624" y="2103120"/>
            <a:ext cx="3489960" cy="755294"/>
          </a:xfrm>
          <a:prstGeom prst="rect">
            <a:avLst/>
          </a:prstGeom>
          <a:solidFill>
            <a:srgbClr val="F7F7F7"/>
          </a:solidFill>
          <a:ln/>
        </p:spPr>
      </p:sp>
      <p:sp>
        <p:nvSpPr>
          <p:cNvPr id="64" name="Text 6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6" name="Text 64"/>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7" name="Text 65"/>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8" name="Shape 66"/>
          <p:cNvSpPr/>
          <p:nvPr/>
        </p:nvSpPr>
        <p:spPr>
          <a:xfrm>
            <a:off x="11466576" y="2894990"/>
            <a:ext cx="64008" cy="682142"/>
          </a:xfrm>
          <a:prstGeom prst="rect">
            <a:avLst/>
          </a:prstGeom>
          <a:solidFill>
            <a:srgbClr val="12A566"/>
          </a:solidFill>
          <a:ln/>
        </p:spPr>
      </p:sp>
      <p:sp>
        <p:nvSpPr>
          <p:cNvPr id="69" name="Text 6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6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71" name="Text 69"/>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72" name="Text 70"/>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3" name="Shape 71"/>
          <p:cNvSpPr/>
          <p:nvPr/>
        </p:nvSpPr>
        <p:spPr>
          <a:xfrm>
            <a:off x="8040624" y="3613709"/>
            <a:ext cx="3489960" cy="755294"/>
          </a:xfrm>
          <a:prstGeom prst="rect">
            <a:avLst/>
          </a:prstGeom>
          <a:solidFill>
            <a:srgbClr val="F7F7F7"/>
          </a:solidFill>
          <a:ln/>
        </p:spPr>
      </p:sp>
      <p:sp>
        <p:nvSpPr>
          <p:cNvPr id="74" name="Shape 72"/>
          <p:cNvSpPr/>
          <p:nvPr/>
        </p:nvSpPr>
        <p:spPr>
          <a:xfrm>
            <a:off x="11466576" y="3650285"/>
            <a:ext cx="64008" cy="682142"/>
          </a:xfrm>
          <a:prstGeom prst="rect">
            <a:avLst/>
          </a:prstGeom>
          <a:solidFill>
            <a:srgbClr val="12A566"/>
          </a:solidFill>
          <a:ln/>
        </p:spPr>
      </p:sp>
      <p:sp>
        <p:nvSpPr>
          <p:cNvPr id="75" name="Text 73"/>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74"/>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7" name="Text 75"/>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78" name="Text 76"/>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79" name="Text 77"/>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81" name="Text 79"/>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82" name="Text 80"/>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Shape 81"/>
          <p:cNvSpPr/>
          <p:nvPr/>
        </p:nvSpPr>
        <p:spPr>
          <a:xfrm>
            <a:off x="8040624" y="5124298"/>
            <a:ext cx="3489960" cy="755294"/>
          </a:xfrm>
          <a:prstGeom prst="rect">
            <a:avLst/>
          </a:prstGeom>
          <a:solidFill>
            <a:srgbClr val="F7F7F7"/>
          </a:solidFill>
          <a:ln/>
        </p:spPr>
      </p:sp>
      <p:sp>
        <p:nvSpPr>
          <p:cNvPr id="84" name="Text 82"/>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6" name="Text 84"/>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7" name="Text 85"/>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8" name="Shape 86"/>
          <p:cNvSpPr/>
          <p:nvPr/>
        </p:nvSpPr>
        <p:spPr>
          <a:xfrm>
            <a:off x="457200" y="6126480"/>
            <a:ext cx="11274552" cy="615696"/>
          </a:xfrm>
          <a:prstGeom prst="rect">
            <a:avLst/>
          </a:prstGeom>
          <a:solidFill>
            <a:srgbClr val="EDF4FA"/>
          </a:solidFill>
          <a:ln/>
        </p:spPr>
      </p:sp>
      <p:sp>
        <p:nvSpPr>
          <p:cNvPr id="89" name="Text 8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LR Reno and Lincoln what changed. Ask Nissan, Kia LV and Mazda what got in the way. Ask Acura, Hyundai St George and Toyota Henderson what they started this year.</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25 of 33 stores collect less labor margin on internal work than on customer pay; the group is −2.7 pts. Widest: Audi Reno (−20.0 pts), LR LV (−13.9 pts) and LR Henderson (−12.2 pts).</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Shape 18"/>
          <p:cNvSpPr/>
          <p:nvPr/>
        </p:nvSpPr>
        <p:spPr>
          <a:xfrm>
            <a:off x="4084320" y="4405579"/>
            <a:ext cx="64008" cy="682142"/>
          </a:xfrm>
          <a:prstGeom prst="rect">
            <a:avLst/>
          </a:prstGeom>
          <a:solidFill>
            <a:srgbClr val="12A566"/>
          </a:solidFill>
          <a:ln/>
        </p:spPr>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Shape 58"/>
          <p:cNvSpPr/>
          <p:nvPr/>
        </p:nvSpPr>
        <p:spPr>
          <a:xfrm>
            <a:off x="11466576" y="3650285"/>
            <a:ext cx="64008" cy="682142"/>
          </a:xfrm>
          <a:prstGeom prst="rect">
            <a:avLst/>
          </a:prstGeom>
          <a:solidFill>
            <a:srgbClr val="12A566"/>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Honda Spokane and LR Reno what changed. Ask Nissan, LR LV and Mazda what got in the way. Ask LR Henderson, Kia St George and Hyundai St George what they started this year.</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C2352F"/>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C2352F"/>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C2352F"/>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28 of 33 stores collect less parts margin on internal work than on customer pay; the group is −4.2 pts. Widest: LR LV (−17.6 pts), Honda Flagstaff (−15.4 pts) and Audi Reno (−14.7 pts).</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Hyundai Prescott and Honda Flagstaff what changed. Ask VW St George, Kia LV and LR LV what got in the way. Ask LR Reno, CDJR Post Falls and LR Henderson what they started this year.</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Always be teaching, training and educating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DF4FA"/>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6" name="Shape 54"/>
          <p:cNvSpPr/>
          <p:nvPr/>
        </p:nvSpPr>
        <p:spPr>
          <a:xfrm>
            <a:off x="11466576" y="2894990"/>
            <a:ext cx="64008" cy="682142"/>
          </a:xfrm>
          <a:prstGeom prst="rect">
            <a:avLst/>
          </a:prstGeom>
          <a:solidFill>
            <a:srgbClr val="12A566"/>
          </a:solidFill>
          <a:ln/>
        </p:spPr>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
        <p:nvSpPr>
          <p:cNvPr id="71" name="Shape 69"/>
          <p:cNvSpPr/>
          <p:nvPr/>
        </p:nvSpPr>
        <p:spPr>
          <a:xfrm>
            <a:off x="457200" y="6126480"/>
            <a:ext cx="11274552" cy="585216"/>
          </a:xfrm>
          <a:prstGeom prst="rect">
            <a:avLst/>
          </a:prstGeom>
          <a:solidFill>
            <a:srgbClr val="EDF4FA"/>
          </a:solidFill>
          <a:ln/>
        </p:spPr>
      </p:sp>
      <p:sp>
        <p:nvSpPr>
          <p:cNvPr id="72" name="Text 70"/>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Subaru St George, Hyundai Prescott and Lincoln what changed. Ask VW St George, Kia St George and Cadillac what got in the way. Ask LR Henderson, Subaru St George and LR Reno what they started this year.</a:t>
            </a:r>
            <a:endParaRPr lang="en-US" sz="15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January through September 2026, year to date.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sold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348996"/>
          </a:xfrm>
          <a:prstGeom prst="rect">
            <a:avLst/>
          </a:prstGeom>
          <a:solidFill>
            <a:srgbClr val="FBEBEA"/>
          </a:solidFill>
          <a:ln/>
        </p:spPr>
      </p:sp>
      <p:sp>
        <p:nvSpPr>
          <p:cNvPr id="212" name="Text 21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 · JAN–SEP 2026, MONTHLY AVERAGE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FBEBEA"/>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74720"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434840"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025128"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99852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48640" cy="136676"/>
          </a:xfrm>
          <a:prstGeom prst="rect">
            <a:avLst/>
          </a:prstGeom>
          <a:solidFill>
            <a:srgbClr val="2587C5"/>
          </a:solidFill>
          <a:ln/>
        </p:spPr>
      </p:sp>
      <p:sp>
        <p:nvSpPr>
          <p:cNvPr id="15" name="Text 13"/>
          <p:cNvSpPr txBox="1"/>
          <p:nvPr/>
        </p:nvSpPr>
        <p:spPr>
          <a:xfrm>
            <a:off x="3474720" y="1700784"/>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6" name="Text 14"/>
          <p:cNvSpPr txBox="1"/>
          <p:nvPr/>
        </p:nvSpPr>
        <p:spPr>
          <a:xfrm>
            <a:off x="4434840"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8287" cy="136676"/>
          </a:xfrm>
          <a:prstGeom prst="rect">
            <a:avLst/>
          </a:prstGeom>
          <a:solidFill>
            <a:srgbClr val="2587C5"/>
          </a:solidFill>
          <a:ln/>
        </p:spPr>
      </p:sp>
      <p:sp>
        <p:nvSpPr>
          <p:cNvPr id="21" name="Text 19"/>
          <p:cNvSpPr txBox="1"/>
          <p:nvPr/>
        </p:nvSpPr>
        <p:spPr>
          <a:xfrm>
            <a:off x="3474720" y="1949286"/>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2" name="Text 20"/>
          <p:cNvSpPr txBox="1"/>
          <p:nvPr/>
        </p:nvSpPr>
        <p:spPr>
          <a:xfrm>
            <a:off x="4434840"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6" name="Shape 24"/>
          <p:cNvSpPr/>
          <p:nvPr/>
        </p:nvSpPr>
        <p:spPr>
          <a:xfrm>
            <a:off x="2871216" y="2253700"/>
            <a:ext cx="359802" cy="136676"/>
          </a:xfrm>
          <a:prstGeom prst="rect">
            <a:avLst/>
          </a:prstGeom>
          <a:solidFill>
            <a:srgbClr val="2587C5"/>
          </a:solidFill>
          <a:ln/>
        </p:spPr>
      </p:sp>
      <p:sp>
        <p:nvSpPr>
          <p:cNvPr id="27" name="Text 25"/>
          <p:cNvSpPr txBox="1"/>
          <p:nvPr/>
        </p:nvSpPr>
        <p:spPr>
          <a:xfrm>
            <a:off x="3474720" y="2197787"/>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8" name="Text 26"/>
          <p:cNvSpPr txBox="1"/>
          <p:nvPr/>
        </p:nvSpPr>
        <p:spPr>
          <a:xfrm>
            <a:off x="4434840"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45673" cy="136676"/>
          </a:xfrm>
          <a:prstGeom prst="rect">
            <a:avLst/>
          </a:prstGeom>
          <a:solidFill>
            <a:srgbClr val="2587C5"/>
          </a:solidFill>
          <a:ln/>
        </p:spPr>
      </p:sp>
      <p:sp>
        <p:nvSpPr>
          <p:cNvPr id="33" name="Text 31"/>
          <p:cNvSpPr txBox="1"/>
          <p:nvPr/>
        </p:nvSpPr>
        <p:spPr>
          <a:xfrm>
            <a:off x="3474720" y="2446289"/>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4" name="Text 32"/>
          <p:cNvSpPr txBox="1"/>
          <p:nvPr/>
        </p:nvSpPr>
        <p:spPr>
          <a:xfrm>
            <a:off x="4434840"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2871216" y="2750703"/>
            <a:ext cx="316030" cy="136676"/>
          </a:xfrm>
          <a:prstGeom prst="rect">
            <a:avLst/>
          </a:prstGeom>
          <a:solidFill>
            <a:srgbClr val="2587C5"/>
          </a:solidFill>
          <a:ln/>
        </p:spPr>
      </p:sp>
      <p:sp>
        <p:nvSpPr>
          <p:cNvPr id="39" name="Text 37"/>
          <p:cNvSpPr txBox="1"/>
          <p:nvPr/>
        </p:nvSpPr>
        <p:spPr>
          <a:xfrm>
            <a:off x="3474720" y="2694791"/>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40" name="Text 38"/>
          <p:cNvSpPr txBox="1"/>
          <p:nvPr/>
        </p:nvSpPr>
        <p:spPr>
          <a:xfrm>
            <a:off x="4434840"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4" name="Shape 42"/>
          <p:cNvSpPr/>
          <p:nvPr/>
        </p:nvSpPr>
        <p:spPr>
          <a:xfrm>
            <a:off x="2871216" y="2999205"/>
            <a:ext cx="288890" cy="136676"/>
          </a:xfrm>
          <a:prstGeom prst="rect">
            <a:avLst/>
          </a:prstGeom>
          <a:solidFill>
            <a:srgbClr val="2587C5"/>
          </a:solidFill>
          <a:ln/>
        </p:spPr>
      </p:sp>
      <p:sp>
        <p:nvSpPr>
          <p:cNvPr id="45" name="Text 43"/>
          <p:cNvSpPr txBox="1"/>
          <p:nvPr/>
        </p:nvSpPr>
        <p:spPr>
          <a:xfrm>
            <a:off x="3474720" y="2943292"/>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6" name="Text 44"/>
          <p:cNvSpPr txBox="1"/>
          <p:nvPr/>
        </p:nvSpPr>
        <p:spPr>
          <a:xfrm>
            <a:off x="4434840"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0" name="Shape 48"/>
          <p:cNvSpPr/>
          <p:nvPr/>
        </p:nvSpPr>
        <p:spPr>
          <a:xfrm>
            <a:off x="2871216" y="3247707"/>
            <a:ext cx="206935" cy="136676"/>
          </a:xfrm>
          <a:prstGeom prst="rect">
            <a:avLst/>
          </a:prstGeom>
          <a:solidFill>
            <a:srgbClr val="2587C5"/>
          </a:solidFill>
          <a:ln/>
        </p:spPr>
      </p:sp>
      <p:sp>
        <p:nvSpPr>
          <p:cNvPr id="51" name="Text 49"/>
          <p:cNvSpPr txBox="1"/>
          <p:nvPr/>
        </p:nvSpPr>
        <p:spPr>
          <a:xfrm>
            <a:off x="3474720" y="3191794"/>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52" name="Text 50"/>
          <p:cNvSpPr txBox="1"/>
          <p:nvPr/>
        </p:nvSpPr>
        <p:spPr>
          <a:xfrm>
            <a:off x="4434840"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6" name="Shape 54"/>
          <p:cNvSpPr/>
          <p:nvPr/>
        </p:nvSpPr>
        <p:spPr>
          <a:xfrm>
            <a:off x="2871216" y="3496208"/>
            <a:ext cx="205982" cy="136676"/>
          </a:xfrm>
          <a:prstGeom prst="rect">
            <a:avLst/>
          </a:prstGeom>
          <a:solidFill>
            <a:srgbClr val="2587C5"/>
          </a:solidFill>
          <a:ln/>
        </p:spPr>
      </p:sp>
      <p:sp>
        <p:nvSpPr>
          <p:cNvPr id="57" name="Text 55"/>
          <p:cNvSpPr txBox="1"/>
          <p:nvPr/>
        </p:nvSpPr>
        <p:spPr>
          <a:xfrm>
            <a:off x="3474720" y="3440296"/>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8" name="Text 56"/>
          <p:cNvSpPr txBox="1"/>
          <p:nvPr/>
        </p:nvSpPr>
        <p:spPr>
          <a:xfrm>
            <a:off x="4434840"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2" name="Shape 60"/>
          <p:cNvSpPr/>
          <p:nvPr/>
        </p:nvSpPr>
        <p:spPr>
          <a:xfrm>
            <a:off x="2871216" y="3744710"/>
            <a:ext cx="193357" cy="136676"/>
          </a:xfrm>
          <a:prstGeom prst="rect">
            <a:avLst/>
          </a:prstGeom>
          <a:solidFill>
            <a:srgbClr val="2587C5"/>
          </a:solidFill>
          <a:ln/>
        </p:spPr>
      </p:sp>
      <p:sp>
        <p:nvSpPr>
          <p:cNvPr id="63" name="Text 61"/>
          <p:cNvSpPr txBox="1"/>
          <p:nvPr/>
        </p:nvSpPr>
        <p:spPr>
          <a:xfrm>
            <a:off x="3474720" y="3688797"/>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64" name="Text 62"/>
          <p:cNvSpPr txBox="1"/>
          <p:nvPr/>
        </p:nvSpPr>
        <p:spPr>
          <a:xfrm>
            <a:off x="4434840"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186973" cy="136676"/>
          </a:xfrm>
          <a:prstGeom prst="rect">
            <a:avLst/>
          </a:prstGeom>
          <a:solidFill>
            <a:srgbClr val="2587C5"/>
          </a:solidFill>
          <a:ln/>
        </p:spPr>
      </p:sp>
      <p:sp>
        <p:nvSpPr>
          <p:cNvPr id="69" name="Text 67"/>
          <p:cNvSpPr txBox="1"/>
          <p:nvPr/>
        </p:nvSpPr>
        <p:spPr>
          <a:xfrm>
            <a:off x="3474720" y="3937299"/>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70" name="Text 68"/>
          <p:cNvSpPr txBox="1"/>
          <p:nvPr/>
        </p:nvSpPr>
        <p:spPr>
          <a:xfrm>
            <a:off x="4434840"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2871216" y="4241713"/>
            <a:ext cx="178245" cy="136676"/>
          </a:xfrm>
          <a:prstGeom prst="rect">
            <a:avLst/>
          </a:prstGeom>
          <a:solidFill>
            <a:srgbClr val="2587C5"/>
          </a:solidFill>
          <a:ln/>
        </p:spPr>
      </p:sp>
      <p:sp>
        <p:nvSpPr>
          <p:cNvPr id="75" name="Text 73"/>
          <p:cNvSpPr txBox="1"/>
          <p:nvPr/>
        </p:nvSpPr>
        <p:spPr>
          <a:xfrm>
            <a:off x="3474720" y="4185800"/>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76" name="Text 74"/>
          <p:cNvSpPr txBox="1"/>
          <p:nvPr/>
        </p:nvSpPr>
        <p:spPr>
          <a:xfrm>
            <a:off x="4434840"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0" name="Shape 78"/>
          <p:cNvSpPr/>
          <p:nvPr/>
        </p:nvSpPr>
        <p:spPr>
          <a:xfrm>
            <a:off x="2871216" y="4490215"/>
            <a:ext cx="160884" cy="136676"/>
          </a:xfrm>
          <a:prstGeom prst="rect">
            <a:avLst/>
          </a:prstGeom>
          <a:solidFill>
            <a:srgbClr val="2587C5"/>
          </a:solidFill>
          <a:ln/>
        </p:spPr>
      </p:sp>
      <p:sp>
        <p:nvSpPr>
          <p:cNvPr id="81" name="Text 79"/>
          <p:cNvSpPr txBox="1"/>
          <p:nvPr/>
        </p:nvSpPr>
        <p:spPr>
          <a:xfrm>
            <a:off x="3474720" y="4434302"/>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82" name="Text 80"/>
          <p:cNvSpPr txBox="1"/>
          <p:nvPr/>
        </p:nvSpPr>
        <p:spPr>
          <a:xfrm>
            <a:off x="4434840"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59478" cy="136676"/>
          </a:xfrm>
          <a:prstGeom prst="rect">
            <a:avLst/>
          </a:prstGeom>
          <a:solidFill>
            <a:srgbClr val="2587C5"/>
          </a:solidFill>
          <a:ln/>
        </p:spPr>
      </p:sp>
      <p:sp>
        <p:nvSpPr>
          <p:cNvPr id="87" name="Text 85"/>
          <p:cNvSpPr txBox="1"/>
          <p:nvPr/>
        </p:nvSpPr>
        <p:spPr>
          <a:xfrm>
            <a:off x="3474720" y="4682804"/>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88" name="Text 86"/>
          <p:cNvSpPr txBox="1"/>
          <p:nvPr/>
        </p:nvSpPr>
        <p:spPr>
          <a:xfrm>
            <a:off x="4434840"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2" name="Shape 90"/>
          <p:cNvSpPr/>
          <p:nvPr/>
        </p:nvSpPr>
        <p:spPr>
          <a:xfrm>
            <a:off x="2871216" y="4987218"/>
            <a:ext cx="156386" cy="136676"/>
          </a:xfrm>
          <a:prstGeom prst="rect">
            <a:avLst/>
          </a:prstGeom>
          <a:solidFill>
            <a:srgbClr val="2587C5"/>
          </a:solidFill>
          <a:ln/>
        </p:spPr>
      </p:sp>
      <p:sp>
        <p:nvSpPr>
          <p:cNvPr id="93" name="Text 91"/>
          <p:cNvSpPr txBox="1"/>
          <p:nvPr/>
        </p:nvSpPr>
        <p:spPr>
          <a:xfrm>
            <a:off x="3474720" y="4931305"/>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94" name="Text 92"/>
          <p:cNvSpPr txBox="1"/>
          <p:nvPr/>
        </p:nvSpPr>
        <p:spPr>
          <a:xfrm>
            <a:off x="4434840"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8" name="Shape 96"/>
          <p:cNvSpPr/>
          <p:nvPr/>
        </p:nvSpPr>
        <p:spPr>
          <a:xfrm>
            <a:off x="2871216" y="5235720"/>
            <a:ext cx="151472" cy="136676"/>
          </a:xfrm>
          <a:prstGeom prst="rect">
            <a:avLst/>
          </a:prstGeom>
          <a:solidFill>
            <a:srgbClr val="2587C5"/>
          </a:solidFill>
          <a:ln/>
        </p:spPr>
      </p:sp>
      <p:sp>
        <p:nvSpPr>
          <p:cNvPr id="99" name="Text 97"/>
          <p:cNvSpPr txBox="1"/>
          <p:nvPr/>
        </p:nvSpPr>
        <p:spPr>
          <a:xfrm>
            <a:off x="3474720" y="5179807"/>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100" name="Text 98"/>
          <p:cNvSpPr txBox="1"/>
          <p:nvPr/>
        </p:nvSpPr>
        <p:spPr>
          <a:xfrm>
            <a:off x="4434840"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4" name="Shape 102"/>
          <p:cNvSpPr/>
          <p:nvPr/>
        </p:nvSpPr>
        <p:spPr>
          <a:xfrm>
            <a:off x="2871216" y="5484222"/>
            <a:ext cx="144704" cy="136676"/>
          </a:xfrm>
          <a:prstGeom prst="rect">
            <a:avLst/>
          </a:prstGeom>
          <a:solidFill>
            <a:srgbClr val="2587C5"/>
          </a:solidFill>
          <a:ln/>
        </p:spPr>
      </p:sp>
      <p:sp>
        <p:nvSpPr>
          <p:cNvPr id="105" name="Text 103"/>
          <p:cNvSpPr txBox="1"/>
          <p:nvPr/>
        </p:nvSpPr>
        <p:spPr>
          <a:xfrm>
            <a:off x="3474720" y="5428309"/>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106" name="Text 104"/>
          <p:cNvSpPr txBox="1"/>
          <p:nvPr/>
        </p:nvSpPr>
        <p:spPr>
          <a:xfrm>
            <a:off x="4434840"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0" name="Shape 108"/>
          <p:cNvSpPr/>
          <p:nvPr/>
        </p:nvSpPr>
        <p:spPr>
          <a:xfrm>
            <a:off x="2871216" y="5732723"/>
            <a:ext cx="136953" cy="136676"/>
          </a:xfrm>
          <a:prstGeom prst="rect">
            <a:avLst/>
          </a:prstGeom>
          <a:solidFill>
            <a:srgbClr val="2587C5"/>
          </a:solidFill>
          <a:ln/>
        </p:spPr>
      </p:sp>
      <p:sp>
        <p:nvSpPr>
          <p:cNvPr id="111" name="Text 109"/>
          <p:cNvSpPr txBox="1"/>
          <p:nvPr/>
        </p:nvSpPr>
        <p:spPr>
          <a:xfrm>
            <a:off x="3474720" y="5676810"/>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112" name="Text 110"/>
          <p:cNvSpPr txBox="1"/>
          <p:nvPr/>
        </p:nvSpPr>
        <p:spPr>
          <a:xfrm>
            <a:off x="4434840"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421624" y="1756697"/>
            <a:ext cx="129525" cy="136676"/>
          </a:xfrm>
          <a:prstGeom prst="rect">
            <a:avLst/>
          </a:prstGeom>
          <a:solidFill>
            <a:srgbClr val="2587C5"/>
          </a:solidFill>
          <a:ln/>
        </p:spPr>
      </p:sp>
      <p:sp>
        <p:nvSpPr>
          <p:cNvPr id="117" name="Text 115"/>
          <p:cNvSpPr txBox="1"/>
          <p:nvPr/>
        </p:nvSpPr>
        <p:spPr>
          <a:xfrm>
            <a:off x="9025128" y="1700784"/>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18" name="Text 116"/>
          <p:cNvSpPr txBox="1"/>
          <p:nvPr/>
        </p:nvSpPr>
        <p:spPr>
          <a:xfrm>
            <a:off x="99852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2" name="Shape 120"/>
          <p:cNvSpPr/>
          <p:nvPr/>
        </p:nvSpPr>
        <p:spPr>
          <a:xfrm>
            <a:off x="8421624" y="2005199"/>
            <a:ext cx="116104" cy="136676"/>
          </a:xfrm>
          <a:prstGeom prst="rect">
            <a:avLst/>
          </a:prstGeom>
          <a:solidFill>
            <a:srgbClr val="2587C5"/>
          </a:solidFill>
          <a:ln/>
        </p:spPr>
      </p:sp>
      <p:sp>
        <p:nvSpPr>
          <p:cNvPr id="123" name="Text 121"/>
          <p:cNvSpPr txBox="1"/>
          <p:nvPr/>
        </p:nvSpPr>
        <p:spPr>
          <a:xfrm>
            <a:off x="9025128" y="1949286"/>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24" name="Text 122"/>
          <p:cNvSpPr txBox="1"/>
          <p:nvPr/>
        </p:nvSpPr>
        <p:spPr>
          <a:xfrm>
            <a:off x="99852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1671" cy="136676"/>
          </a:xfrm>
          <a:prstGeom prst="rect">
            <a:avLst/>
          </a:prstGeom>
          <a:solidFill>
            <a:srgbClr val="2587C5"/>
          </a:solidFill>
          <a:ln/>
        </p:spPr>
      </p:sp>
      <p:sp>
        <p:nvSpPr>
          <p:cNvPr id="129" name="Text 127"/>
          <p:cNvSpPr txBox="1"/>
          <p:nvPr/>
        </p:nvSpPr>
        <p:spPr>
          <a:xfrm>
            <a:off x="9025128" y="2197787"/>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30" name="Text 128"/>
          <p:cNvSpPr txBox="1"/>
          <p:nvPr/>
        </p:nvSpPr>
        <p:spPr>
          <a:xfrm>
            <a:off x="99852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107204" cy="136676"/>
          </a:xfrm>
          <a:prstGeom prst="rect">
            <a:avLst/>
          </a:prstGeom>
          <a:solidFill>
            <a:srgbClr val="2587C5"/>
          </a:solidFill>
          <a:ln/>
        </p:spPr>
      </p:sp>
      <p:sp>
        <p:nvSpPr>
          <p:cNvPr id="135" name="Text 133"/>
          <p:cNvSpPr txBox="1"/>
          <p:nvPr/>
        </p:nvSpPr>
        <p:spPr>
          <a:xfrm>
            <a:off x="9025128" y="2446289"/>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36" name="Text 134"/>
          <p:cNvSpPr txBox="1"/>
          <p:nvPr/>
        </p:nvSpPr>
        <p:spPr>
          <a:xfrm>
            <a:off x="99852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0" name="Shape 138"/>
          <p:cNvSpPr/>
          <p:nvPr/>
        </p:nvSpPr>
        <p:spPr>
          <a:xfrm>
            <a:off x="8421624" y="2750703"/>
            <a:ext cx="105090" cy="136676"/>
          </a:xfrm>
          <a:prstGeom prst="rect">
            <a:avLst/>
          </a:prstGeom>
          <a:solidFill>
            <a:srgbClr val="2587C5"/>
          </a:solidFill>
          <a:ln/>
        </p:spPr>
      </p:sp>
      <p:sp>
        <p:nvSpPr>
          <p:cNvPr id="141" name="Text 139"/>
          <p:cNvSpPr txBox="1"/>
          <p:nvPr/>
        </p:nvSpPr>
        <p:spPr>
          <a:xfrm>
            <a:off x="9025128" y="2694791"/>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42" name="Text 140"/>
          <p:cNvSpPr txBox="1"/>
          <p:nvPr/>
        </p:nvSpPr>
        <p:spPr>
          <a:xfrm>
            <a:off x="99852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6" name="Shape 144"/>
          <p:cNvSpPr/>
          <p:nvPr/>
        </p:nvSpPr>
        <p:spPr>
          <a:xfrm>
            <a:off x="8421624" y="2999205"/>
            <a:ext cx="102344" cy="136676"/>
          </a:xfrm>
          <a:prstGeom prst="rect">
            <a:avLst/>
          </a:prstGeom>
          <a:solidFill>
            <a:srgbClr val="2587C5"/>
          </a:solidFill>
          <a:ln/>
        </p:spPr>
      </p:sp>
      <p:sp>
        <p:nvSpPr>
          <p:cNvPr id="147" name="Text 145"/>
          <p:cNvSpPr txBox="1"/>
          <p:nvPr/>
        </p:nvSpPr>
        <p:spPr>
          <a:xfrm>
            <a:off x="9025128" y="2943292"/>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48" name="Text 146"/>
          <p:cNvSpPr txBox="1"/>
          <p:nvPr/>
        </p:nvSpPr>
        <p:spPr>
          <a:xfrm>
            <a:off x="99852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95727" cy="136676"/>
          </a:xfrm>
          <a:prstGeom prst="rect">
            <a:avLst/>
          </a:prstGeom>
          <a:solidFill>
            <a:srgbClr val="2587C5"/>
          </a:solidFill>
          <a:ln/>
        </p:spPr>
      </p:sp>
      <p:sp>
        <p:nvSpPr>
          <p:cNvPr id="153" name="Text 151"/>
          <p:cNvSpPr txBox="1"/>
          <p:nvPr/>
        </p:nvSpPr>
        <p:spPr>
          <a:xfrm>
            <a:off x="9025128" y="3191794"/>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54" name="Text 152"/>
          <p:cNvSpPr txBox="1"/>
          <p:nvPr/>
        </p:nvSpPr>
        <p:spPr>
          <a:xfrm>
            <a:off x="99852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93782" cy="136676"/>
          </a:xfrm>
          <a:prstGeom prst="rect">
            <a:avLst/>
          </a:prstGeom>
          <a:solidFill>
            <a:srgbClr val="2587C5"/>
          </a:solidFill>
          <a:ln/>
        </p:spPr>
      </p:sp>
      <p:sp>
        <p:nvSpPr>
          <p:cNvPr id="159" name="Text 157"/>
          <p:cNvSpPr txBox="1"/>
          <p:nvPr/>
        </p:nvSpPr>
        <p:spPr>
          <a:xfrm>
            <a:off x="9025128" y="3440296"/>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60" name="Text 158"/>
          <p:cNvSpPr txBox="1"/>
          <p:nvPr/>
        </p:nvSpPr>
        <p:spPr>
          <a:xfrm>
            <a:off x="99852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91945" cy="136676"/>
          </a:xfrm>
          <a:prstGeom prst="rect">
            <a:avLst/>
          </a:prstGeom>
          <a:solidFill>
            <a:srgbClr val="2587C5"/>
          </a:solidFill>
          <a:ln/>
        </p:spPr>
      </p:sp>
      <p:sp>
        <p:nvSpPr>
          <p:cNvPr id="165" name="Text 163"/>
          <p:cNvSpPr txBox="1"/>
          <p:nvPr/>
        </p:nvSpPr>
        <p:spPr>
          <a:xfrm>
            <a:off x="9025128" y="3688797"/>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66" name="Text 164"/>
          <p:cNvSpPr txBox="1"/>
          <p:nvPr/>
        </p:nvSpPr>
        <p:spPr>
          <a:xfrm>
            <a:off x="99852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0" name="Shape 168"/>
          <p:cNvSpPr/>
          <p:nvPr/>
        </p:nvSpPr>
        <p:spPr>
          <a:xfrm>
            <a:off x="8421624" y="3993212"/>
            <a:ext cx="91642" cy="136676"/>
          </a:xfrm>
          <a:prstGeom prst="rect">
            <a:avLst/>
          </a:prstGeom>
          <a:solidFill>
            <a:srgbClr val="2587C5"/>
          </a:solidFill>
          <a:ln/>
        </p:spPr>
      </p:sp>
      <p:sp>
        <p:nvSpPr>
          <p:cNvPr id="171" name="Text 169"/>
          <p:cNvSpPr txBox="1"/>
          <p:nvPr/>
        </p:nvSpPr>
        <p:spPr>
          <a:xfrm>
            <a:off x="9025128" y="3937299"/>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72" name="Text 170"/>
          <p:cNvSpPr txBox="1"/>
          <p:nvPr/>
        </p:nvSpPr>
        <p:spPr>
          <a:xfrm>
            <a:off x="99852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6" name="Shape 174"/>
          <p:cNvSpPr/>
          <p:nvPr/>
        </p:nvSpPr>
        <p:spPr>
          <a:xfrm>
            <a:off x="8421624" y="4241713"/>
            <a:ext cx="90578" cy="136676"/>
          </a:xfrm>
          <a:prstGeom prst="rect">
            <a:avLst/>
          </a:prstGeom>
          <a:solidFill>
            <a:srgbClr val="2587C5"/>
          </a:solidFill>
          <a:ln/>
        </p:spPr>
      </p:sp>
      <p:sp>
        <p:nvSpPr>
          <p:cNvPr id="177" name="Text 175"/>
          <p:cNvSpPr txBox="1"/>
          <p:nvPr/>
        </p:nvSpPr>
        <p:spPr>
          <a:xfrm>
            <a:off x="9025128" y="4185800"/>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78" name="Text 176"/>
          <p:cNvSpPr txBox="1"/>
          <p:nvPr/>
        </p:nvSpPr>
        <p:spPr>
          <a:xfrm>
            <a:off x="99852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2" name="Shape 180"/>
          <p:cNvSpPr/>
          <p:nvPr/>
        </p:nvSpPr>
        <p:spPr>
          <a:xfrm>
            <a:off x="8421624" y="4490215"/>
            <a:ext cx="83490" cy="136676"/>
          </a:xfrm>
          <a:prstGeom prst="rect">
            <a:avLst/>
          </a:prstGeom>
          <a:solidFill>
            <a:srgbClr val="2587C5"/>
          </a:solidFill>
          <a:ln/>
        </p:spPr>
      </p:sp>
      <p:sp>
        <p:nvSpPr>
          <p:cNvPr id="183" name="Text 181"/>
          <p:cNvSpPr txBox="1"/>
          <p:nvPr/>
        </p:nvSpPr>
        <p:spPr>
          <a:xfrm>
            <a:off x="9025128" y="4434302"/>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84" name="Text 182"/>
          <p:cNvSpPr txBox="1"/>
          <p:nvPr/>
        </p:nvSpPr>
        <p:spPr>
          <a:xfrm>
            <a:off x="99852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8" name="Shape 186"/>
          <p:cNvSpPr/>
          <p:nvPr/>
        </p:nvSpPr>
        <p:spPr>
          <a:xfrm>
            <a:off x="8421624" y="4738717"/>
            <a:ext cx="82594" cy="136676"/>
          </a:xfrm>
          <a:prstGeom prst="rect">
            <a:avLst/>
          </a:prstGeom>
          <a:solidFill>
            <a:srgbClr val="2587C5"/>
          </a:solidFill>
          <a:ln/>
        </p:spPr>
      </p:sp>
      <p:sp>
        <p:nvSpPr>
          <p:cNvPr id="189" name="Text 187"/>
          <p:cNvSpPr txBox="1"/>
          <p:nvPr/>
        </p:nvSpPr>
        <p:spPr>
          <a:xfrm>
            <a:off x="9025128" y="4682804"/>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90" name="Text 188"/>
          <p:cNvSpPr txBox="1"/>
          <p:nvPr/>
        </p:nvSpPr>
        <p:spPr>
          <a:xfrm>
            <a:off x="99852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4" name="Shape 192"/>
          <p:cNvSpPr/>
          <p:nvPr/>
        </p:nvSpPr>
        <p:spPr>
          <a:xfrm>
            <a:off x="8421624" y="4987218"/>
            <a:ext cx="67141" cy="136676"/>
          </a:xfrm>
          <a:prstGeom prst="rect">
            <a:avLst/>
          </a:prstGeom>
          <a:solidFill>
            <a:srgbClr val="2587C5"/>
          </a:solidFill>
          <a:ln/>
        </p:spPr>
      </p:sp>
      <p:sp>
        <p:nvSpPr>
          <p:cNvPr id="195" name="Text 193"/>
          <p:cNvSpPr txBox="1"/>
          <p:nvPr/>
        </p:nvSpPr>
        <p:spPr>
          <a:xfrm>
            <a:off x="9025128" y="4931305"/>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96" name="Text 194"/>
          <p:cNvSpPr txBox="1"/>
          <p:nvPr/>
        </p:nvSpPr>
        <p:spPr>
          <a:xfrm>
            <a:off x="99852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00" name="Shape 198"/>
          <p:cNvSpPr/>
          <p:nvPr/>
        </p:nvSpPr>
        <p:spPr>
          <a:xfrm>
            <a:off x="8421624" y="5235720"/>
            <a:ext cx="54968" cy="136676"/>
          </a:xfrm>
          <a:prstGeom prst="rect">
            <a:avLst/>
          </a:prstGeom>
          <a:solidFill>
            <a:srgbClr val="2587C5"/>
          </a:solidFill>
          <a:ln/>
        </p:spPr>
      </p:sp>
      <p:sp>
        <p:nvSpPr>
          <p:cNvPr id="201" name="Text 199"/>
          <p:cNvSpPr txBox="1"/>
          <p:nvPr/>
        </p:nvSpPr>
        <p:spPr>
          <a:xfrm>
            <a:off x="9025128" y="5179807"/>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202" name="Text 200"/>
          <p:cNvSpPr txBox="1"/>
          <p:nvPr/>
        </p:nvSpPr>
        <p:spPr>
          <a:xfrm>
            <a:off x="99852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43862" cy="136676"/>
          </a:xfrm>
          <a:prstGeom prst="rect">
            <a:avLst/>
          </a:prstGeom>
          <a:solidFill>
            <a:srgbClr val="2587C5"/>
          </a:solidFill>
          <a:ln/>
        </p:spPr>
      </p:sp>
      <p:sp>
        <p:nvSpPr>
          <p:cNvPr id="207" name="Text 205"/>
          <p:cNvSpPr txBox="1"/>
          <p:nvPr/>
        </p:nvSpPr>
        <p:spPr>
          <a:xfrm>
            <a:off x="9025128" y="5428309"/>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208" name="Text 206"/>
          <p:cNvSpPr txBox="1"/>
          <p:nvPr/>
        </p:nvSpPr>
        <p:spPr>
          <a:xfrm>
            <a:off x="99852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341376"/>
          </a:xfrm>
          <a:prstGeom prst="rect">
            <a:avLst/>
          </a:prstGeom>
          <a:solidFill>
            <a:srgbClr val="EDF4FA"/>
          </a:solidFill>
          <a:ln/>
        </p:spPr>
      </p:sp>
      <p:sp>
        <p:nvSpPr>
          <p:cNvPr id="212" name="Text 210"/>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257800" cy="4782312"/>
          </a:xfrm>
          <a:prstGeom prst="rect">
            <a:avLst/>
          </a:prstGeom>
          <a:solidFill>
            <a:srgbClr val="FFFFFF"/>
          </a:solidFill>
          <a:ln/>
        </p:spPr>
      </p:sp>
      <p:sp>
        <p:nvSpPr>
          <p:cNvPr id="6" name="Text 4"/>
          <p:cNvSpPr txBox="1"/>
          <p:nvPr/>
        </p:nvSpPr>
        <p:spPr>
          <a:xfrm>
            <a:off x="658368" y="1316736"/>
            <a:ext cx="329184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RATE INCREASES IN 2026</a:t>
            </a:r>
            <a:endParaRPr lang="en-US" sz="1400" dirty="0"/>
          </a:p>
        </p:txBody>
      </p:sp>
      <p:sp>
        <p:nvSpPr>
          <p:cNvPr id="7" name="Text 5"/>
          <p:cNvSpPr txBox="1"/>
          <p:nvPr/>
        </p:nvSpPr>
        <p:spPr>
          <a:xfrm>
            <a:off x="3886200" y="1280160"/>
            <a:ext cx="1627632" cy="365760"/>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$3.79M GP</a:t>
            </a:r>
            <a:endParaRPr lang="en-US" sz="2000" dirty="0"/>
          </a:p>
        </p:txBody>
      </p:sp>
      <p:sp>
        <p:nvSpPr>
          <p:cNvPr id="8" name="Text 6"/>
          <p:cNvSpPr txBox="1"/>
          <p:nvPr/>
        </p:nvSpPr>
        <p:spPr>
          <a:xfrm>
            <a:off x="658368" y="173736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 name="Shape 7"/>
          <p:cNvSpPr/>
          <p:nvPr/>
        </p:nvSpPr>
        <p:spPr>
          <a:xfrm>
            <a:off x="2697480" y="1785323"/>
            <a:ext cx="1965960" cy="122087"/>
          </a:xfrm>
          <a:prstGeom prst="rect">
            <a:avLst/>
          </a:prstGeom>
          <a:solidFill>
            <a:srgbClr val="2587C5"/>
          </a:solidFill>
          <a:ln/>
        </p:spPr>
      </p:sp>
      <p:sp>
        <p:nvSpPr>
          <p:cNvPr id="10" name="Text 8"/>
          <p:cNvSpPr txBox="1"/>
          <p:nvPr/>
        </p:nvSpPr>
        <p:spPr>
          <a:xfrm>
            <a:off x="4709160" y="173736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$798K</a:t>
            </a:r>
            <a:endParaRPr lang="en-US" sz="1200" dirty="0"/>
          </a:p>
        </p:txBody>
      </p:sp>
      <p:sp>
        <p:nvSpPr>
          <p:cNvPr id="11" name="Text 9"/>
          <p:cNvSpPr txBox="1"/>
          <p:nvPr/>
        </p:nvSpPr>
        <p:spPr>
          <a:xfrm>
            <a:off x="658368" y="195537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 name="Shape 10"/>
          <p:cNvSpPr/>
          <p:nvPr/>
        </p:nvSpPr>
        <p:spPr>
          <a:xfrm>
            <a:off x="2697480" y="2003335"/>
            <a:ext cx="1141730" cy="122087"/>
          </a:xfrm>
          <a:prstGeom prst="rect">
            <a:avLst/>
          </a:prstGeom>
          <a:solidFill>
            <a:srgbClr val="2587C5"/>
          </a:solidFill>
          <a:ln/>
        </p:spPr>
      </p:sp>
      <p:sp>
        <p:nvSpPr>
          <p:cNvPr id="13" name="Text 11"/>
          <p:cNvSpPr txBox="1"/>
          <p:nvPr/>
        </p:nvSpPr>
        <p:spPr>
          <a:xfrm>
            <a:off x="4709160" y="195537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$463K</a:t>
            </a:r>
            <a:endParaRPr lang="en-US" sz="1200" dirty="0"/>
          </a:p>
        </p:txBody>
      </p:sp>
      <p:sp>
        <p:nvSpPr>
          <p:cNvPr id="14" name="Text 12"/>
          <p:cNvSpPr txBox="1"/>
          <p:nvPr/>
        </p:nvSpPr>
        <p:spPr>
          <a:xfrm>
            <a:off x="658368" y="217338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5" name="Shape 13"/>
          <p:cNvSpPr/>
          <p:nvPr/>
        </p:nvSpPr>
        <p:spPr>
          <a:xfrm>
            <a:off x="2697480" y="2221347"/>
            <a:ext cx="847479" cy="122087"/>
          </a:xfrm>
          <a:prstGeom prst="rect">
            <a:avLst/>
          </a:prstGeom>
          <a:solidFill>
            <a:srgbClr val="2587C5"/>
          </a:solidFill>
          <a:ln/>
        </p:spPr>
      </p:sp>
      <p:sp>
        <p:nvSpPr>
          <p:cNvPr id="16" name="Text 14"/>
          <p:cNvSpPr txBox="1"/>
          <p:nvPr/>
        </p:nvSpPr>
        <p:spPr>
          <a:xfrm>
            <a:off x="4709160" y="217338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$344K</a:t>
            </a:r>
            <a:endParaRPr lang="en-US" sz="1200" dirty="0"/>
          </a:p>
        </p:txBody>
      </p:sp>
      <p:sp>
        <p:nvSpPr>
          <p:cNvPr id="17" name="Text 15"/>
          <p:cNvSpPr txBox="1"/>
          <p:nvPr/>
        </p:nvSpPr>
        <p:spPr>
          <a:xfrm>
            <a:off x="658368" y="239139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8" name="Shape 16"/>
          <p:cNvSpPr/>
          <p:nvPr/>
        </p:nvSpPr>
        <p:spPr>
          <a:xfrm>
            <a:off x="2697480" y="2439359"/>
            <a:ext cx="802598" cy="122087"/>
          </a:xfrm>
          <a:prstGeom prst="rect">
            <a:avLst/>
          </a:prstGeom>
          <a:solidFill>
            <a:srgbClr val="2587C5"/>
          </a:solidFill>
          <a:ln/>
        </p:spPr>
      </p:sp>
      <p:sp>
        <p:nvSpPr>
          <p:cNvPr id="19" name="Text 17"/>
          <p:cNvSpPr txBox="1"/>
          <p:nvPr/>
        </p:nvSpPr>
        <p:spPr>
          <a:xfrm>
            <a:off x="4709160" y="239139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$326K</a:t>
            </a:r>
            <a:endParaRPr lang="en-US" sz="1200" dirty="0"/>
          </a:p>
        </p:txBody>
      </p:sp>
      <p:sp>
        <p:nvSpPr>
          <p:cNvPr id="20" name="Text 18"/>
          <p:cNvSpPr txBox="1"/>
          <p:nvPr/>
        </p:nvSpPr>
        <p:spPr>
          <a:xfrm>
            <a:off x="658368" y="260940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2697480" y="2657372"/>
            <a:ext cx="719577" cy="122087"/>
          </a:xfrm>
          <a:prstGeom prst="rect">
            <a:avLst/>
          </a:prstGeom>
          <a:solidFill>
            <a:srgbClr val="2587C5"/>
          </a:solidFill>
          <a:ln/>
        </p:spPr>
      </p:sp>
      <p:sp>
        <p:nvSpPr>
          <p:cNvPr id="22" name="Text 20"/>
          <p:cNvSpPr txBox="1"/>
          <p:nvPr/>
        </p:nvSpPr>
        <p:spPr>
          <a:xfrm>
            <a:off x="4709160" y="260940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$292K</a:t>
            </a:r>
            <a:endParaRPr lang="en-US" sz="1200" dirty="0"/>
          </a:p>
        </p:txBody>
      </p:sp>
      <p:sp>
        <p:nvSpPr>
          <p:cNvPr id="23" name="Text 21"/>
          <p:cNvSpPr txBox="1"/>
          <p:nvPr/>
        </p:nvSpPr>
        <p:spPr>
          <a:xfrm>
            <a:off x="658368" y="282742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2697480" y="2875384"/>
            <a:ext cx="698703" cy="122087"/>
          </a:xfrm>
          <a:prstGeom prst="rect">
            <a:avLst/>
          </a:prstGeom>
          <a:solidFill>
            <a:srgbClr val="2587C5"/>
          </a:solidFill>
          <a:ln/>
        </p:spPr>
      </p:sp>
      <p:sp>
        <p:nvSpPr>
          <p:cNvPr id="25" name="Text 23"/>
          <p:cNvSpPr txBox="1"/>
          <p:nvPr/>
        </p:nvSpPr>
        <p:spPr>
          <a:xfrm>
            <a:off x="4709160" y="282742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$284K</a:t>
            </a:r>
            <a:endParaRPr lang="en-US" sz="1200" dirty="0"/>
          </a:p>
        </p:txBody>
      </p:sp>
      <p:sp>
        <p:nvSpPr>
          <p:cNvPr id="26" name="Text 24"/>
          <p:cNvSpPr txBox="1"/>
          <p:nvPr/>
        </p:nvSpPr>
        <p:spPr>
          <a:xfrm>
            <a:off x="658368" y="304543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2697480" y="3093396"/>
            <a:ext cx="555249" cy="122087"/>
          </a:xfrm>
          <a:prstGeom prst="rect">
            <a:avLst/>
          </a:prstGeom>
          <a:solidFill>
            <a:srgbClr val="2587C5"/>
          </a:solidFill>
          <a:ln/>
        </p:spPr>
      </p:sp>
      <p:sp>
        <p:nvSpPr>
          <p:cNvPr id="28" name="Text 26"/>
          <p:cNvSpPr txBox="1"/>
          <p:nvPr/>
        </p:nvSpPr>
        <p:spPr>
          <a:xfrm>
            <a:off x="4709160" y="304543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$225K</a:t>
            </a:r>
            <a:endParaRPr lang="en-US" sz="1200" dirty="0"/>
          </a:p>
        </p:txBody>
      </p:sp>
      <p:sp>
        <p:nvSpPr>
          <p:cNvPr id="29" name="Text 27"/>
          <p:cNvSpPr txBox="1"/>
          <p:nvPr/>
        </p:nvSpPr>
        <p:spPr>
          <a:xfrm>
            <a:off x="658368" y="326344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0" name="Shape 28"/>
          <p:cNvSpPr/>
          <p:nvPr/>
        </p:nvSpPr>
        <p:spPr>
          <a:xfrm>
            <a:off x="2697480" y="3311408"/>
            <a:ext cx="515601" cy="122087"/>
          </a:xfrm>
          <a:prstGeom prst="rect">
            <a:avLst/>
          </a:prstGeom>
          <a:solidFill>
            <a:srgbClr val="2587C5"/>
          </a:solidFill>
          <a:ln/>
        </p:spPr>
      </p:sp>
      <p:sp>
        <p:nvSpPr>
          <p:cNvPr id="31" name="Text 29"/>
          <p:cNvSpPr txBox="1"/>
          <p:nvPr/>
        </p:nvSpPr>
        <p:spPr>
          <a:xfrm>
            <a:off x="4709160" y="326344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$209K</a:t>
            </a:r>
            <a:endParaRPr lang="en-US" sz="1200" dirty="0"/>
          </a:p>
        </p:txBody>
      </p:sp>
      <p:sp>
        <p:nvSpPr>
          <p:cNvPr id="32" name="Text 30"/>
          <p:cNvSpPr txBox="1"/>
          <p:nvPr/>
        </p:nvSpPr>
        <p:spPr>
          <a:xfrm>
            <a:off x="658368" y="348145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2697480" y="3529420"/>
            <a:ext cx="359936" cy="122087"/>
          </a:xfrm>
          <a:prstGeom prst="rect">
            <a:avLst/>
          </a:prstGeom>
          <a:solidFill>
            <a:srgbClr val="2587C5"/>
          </a:solidFill>
          <a:ln/>
        </p:spPr>
      </p:sp>
      <p:sp>
        <p:nvSpPr>
          <p:cNvPr id="34" name="Text 32"/>
          <p:cNvSpPr txBox="1"/>
          <p:nvPr/>
        </p:nvSpPr>
        <p:spPr>
          <a:xfrm>
            <a:off x="4709160" y="348145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$146K</a:t>
            </a:r>
            <a:endParaRPr lang="en-US" sz="1200" dirty="0"/>
          </a:p>
        </p:txBody>
      </p:sp>
      <p:sp>
        <p:nvSpPr>
          <p:cNvPr id="35" name="Text 33"/>
          <p:cNvSpPr txBox="1"/>
          <p:nvPr/>
        </p:nvSpPr>
        <p:spPr>
          <a:xfrm>
            <a:off x="658368" y="369947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6" name="Shape 34"/>
          <p:cNvSpPr/>
          <p:nvPr/>
        </p:nvSpPr>
        <p:spPr>
          <a:xfrm>
            <a:off x="2697480" y="3747433"/>
            <a:ext cx="329395" cy="122087"/>
          </a:xfrm>
          <a:prstGeom prst="rect">
            <a:avLst/>
          </a:prstGeom>
          <a:solidFill>
            <a:srgbClr val="2587C5"/>
          </a:solidFill>
          <a:ln/>
        </p:spPr>
      </p:sp>
      <p:sp>
        <p:nvSpPr>
          <p:cNvPr id="37" name="Text 35"/>
          <p:cNvSpPr txBox="1"/>
          <p:nvPr/>
        </p:nvSpPr>
        <p:spPr>
          <a:xfrm>
            <a:off x="4709160" y="369947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$134K</a:t>
            </a:r>
            <a:endParaRPr lang="en-US" sz="1200" dirty="0"/>
          </a:p>
        </p:txBody>
      </p:sp>
      <p:sp>
        <p:nvSpPr>
          <p:cNvPr id="38" name="Text 36"/>
          <p:cNvSpPr txBox="1"/>
          <p:nvPr/>
        </p:nvSpPr>
        <p:spPr>
          <a:xfrm>
            <a:off x="658368" y="391748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9" name="Shape 37"/>
          <p:cNvSpPr/>
          <p:nvPr/>
        </p:nvSpPr>
        <p:spPr>
          <a:xfrm>
            <a:off x="2697480" y="3965445"/>
            <a:ext cx="237178" cy="122087"/>
          </a:xfrm>
          <a:prstGeom prst="rect">
            <a:avLst/>
          </a:prstGeom>
          <a:solidFill>
            <a:srgbClr val="2587C5"/>
          </a:solidFill>
          <a:ln/>
        </p:spPr>
      </p:sp>
      <p:sp>
        <p:nvSpPr>
          <p:cNvPr id="40" name="Text 38"/>
          <p:cNvSpPr txBox="1"/>
          <p:nvPr/>
        </p:nvSpPr>
        <p:spPr>
          <a:xfrm>
            <a:off x="4709160" y="391748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$96K</a:t>
            </a:r>
            <a:endParaRPr lang="en-US" sz="1200" dirty="0"/>
          </a:p>
        </p:txBody>
      </p:sp>
      <p:sp>
        <p:nvSpPr>
          <p:cNvPr id="41" name="Text 39"/>
          <p:cNvSpPr txBox="1"/>
          <p:nvPr/>
        </p:nvSpPr>
        <p:spPr>
          <a:xfrm>
            <a:off x="658368" y="413549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2697480" y="4183457"/>
            <a:ext cx="233128" cy="122087"/>
          </a:xfrm>
          <a:prstGeom prst="rect">
            <a:avLst/>
          </a:prstGeom>
          <a:solidFill>
            <a:srgbClr val="2587C5"/>
          </a:solidFill>
          <a:ln/>
        </p:spPr>
      </p:sp>
      <p:sp>
        <p:nvSpPr>
          <p:cNvPr id="43" name="Text 41"/>
          <p:cNvSpPr txBox="1"/>
          <p:nvPr/>
        </p:nvSpPr>
        <p:spPr>
          <a:xfrm>
            <a:off x="4709160" y="413549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$95K</a:t>
            </a:r>
            <a:endParaRPr lang="en-US" sz="1200" dirty="0"/>
          </a:p>
        </p:txBody>
      </p:sp>
      <p:sp>
        <p:nvSpPr>
          <p:cNvPr id="44" name="Text 42"/>
          <p:cNvSpPr txBox="1"/>
          <p:nvPr/>
        </p:nvSpPr>
        <p:spPr>
          <a:xfrm>
            <a:off x="658368" y="435350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2697480" y="4401469"/>
            <a:ext cx="229669" cy="122087"/>
          </a:xfrm>
          <a:prstGeom prst="rect">
            <a:avLst/>
          </a:prstGeom>
          <a:solidFill>
            <a:srgbClr val="2587C5"/>
          </a:solidFill>
          <a:ln/>
        </p:spPr>
      </p:sp>
      <p:sp>
        <p:nvSpPr>
          <p:cNvPr id="46" name="Text 44"/>
          <p:cNvSpPr txBox="1"/>
          <p:nvPr/>
        </p:nvSpPr>
        <p:spPr>
          <a:xfrm>
            <a:off x="4709160" y="435350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$93K</a:t>
            </a:r>
            <a:endParaRPr lang="en-US" sz="1200" dirty="0"/>
          </a:p>
        </p:txBody>
      </p:sp>
      <p:sp>
        <p:nvSpPr>
          <p:cNvPr id="47" name="Text 45"/>
          <p:cNvSpPr txBox="1"/>
          <p:nvPr/>
        </p:nvSpPr>
        <p:spPr>
          <a:xfrm>
            <a:off x="658368" y="457151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2697480" y="4619481"/>
            <a:ext cx="223401" cy="122087"/>
          </a:xfrm>
          <a:prstGeom prst="rect">
            <a:avLst/>
          </a:prstGeom>
          <a:solidFill>
            <a:srgbClr val="2587C5"/>
          </a:solidFill>
          <a:ln/>
        </p:spPr>
      </p:sp>
      <p:sp>
        <p:nvSpPr>
          <p:cNvPr id="49" name="Text 47"/>
          <p:cNvSpPr txBox="1"/>
          <p:nvPr/>
        </p:nvSpPr>
        <p:spPr>
          <a:xfrm>
            <a:off x="4709160" y="457151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$91K</a:t>
            </a:r>
            <a:endParaRPr lang="en-US" sz="1200" dirty="0"/>
          </a:p>
        </p:txBody>
      </p:sp>
      <p:sp>
        <p:nvSpPr>
          <p:cNvPr id="50" name="Text 48"/>
          <p:cNvSpPr txBox="1"/>
          <p:nvPr/>
        </p:nvSpPr>
        <p:spPr>
          <a:xfrm>
            <a:off x="658368" y="478953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1" name="Shape 49"/>
          <p:cNvSpPr/>
          <p:nvPr/>
        </p:nvSpPr>
        <p:spPr>
          <a:xfrm>
            <a:off x="2697480" y="4837494"/>
            <a:ext cx="184669" cy="122087"/>
          </a:xfrm>
          <a:prstGeom prst="rect">
            <a:avLst/>
          </a:prstGeom>
          <a:solidFill>
            <a:srgbClr val="2587C5"/>
          </a:solidFill>
          <a:ln/>
        </p:spPr>
      </p:sp>
      <p:sp>
        <p:nvSpPr>
          <p:cNvPr id="52" name="Text 50"/>
          <p:cNvSpPr txBox="1"/>
          <p:nvPr/>
        </p:nvSpPr>
        <p:spPr>
          <a:xfrm>
            <a:off x="4709160" y="478953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$75K</a:t>
            </a:r>
            <a:endParaRPr lang="en-US" sz="1200" dirty="0"/>
          </a:p>
        </p:txBody>
      </p:sp>
      <p:sp>
        <p:nvSpPr>
          <p:cNvPr id="53" name="Text 51"/>
          <p:cNvSpPr txBox="1"/>
          <p:nvPr/>
        </p:nvSpPr>
        <p:spPr>
          <a:xfrm>
            <a:off x="658368" y="500754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2697480" y="5055506"/>
            <a:ext cx="151614" cy="122087"/>
          </a:xfrm>
          <a:prstGeom prst="rect">
            <a:avLst/>
          </a:prstGeom>
          <a:solidFill>
            <a:srgbClr val="2587C5"/>
          </a:solidFill>
          <a:ln/>
        </p:spPr>
      </p:sp>
      <p:sp>
        <p:nvSpPr>
          <p:cNvPr id="55" name="Text 53"/>
          <p:cNvSpPr txBox="1"/>
          <p:nvPr/>
        </p:nvSpPr>
        <p:spPr>
          <a:xfrm>
            <a:off x="4709160" y="500754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$62K</a:t>
            </a:r>
            <a:endParaRPr lang="en-US" sz="1200" dirty="0"/>
          </a:p>
        </p:txBody>
      </p:sp>
      <p:sp>
        <p:nvSpPr>
          <p:cNvPr id="56" name="Text 54"/>
          <p:cNvSpPr txBox="1"/>
          <p:nvPr/>
        </p:nvSpPr>
        <p:spPr>
          <a:xfrm>
            <a:off x="658368" y="522555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2697480" y="5273518"/>
            <a:ext cx="86983" cy="122087"/>
          </a:xfrm>
          <a:prstGeom prst="rect">
            <a:avLst/>
          </a:prstGeom>
          <a:solidFill>
            <a:srgbClr val="2587C5"/>
          </a:solidFill>
          <a:ln/>
        </p:spPr>
      </p:sp>
      <p:sp>
        <p:nvSpPr>
          <p:cNvPr id="58" name="Text 56"/>
          <p:cNvSpPr txBox="1"/>
          <p:nvPr/>
        </p:nvSpPr>
        <p:spPr>
          <a:xfrm>
            <a:off x="4709160" y="522555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$35K</a:t>
            </a:r>
            <a:endParaRPr lang="en-US" sz="1200" dirty="0"/>
          </a:p>
        </p:txBody>
      </p:sp>
      <p:sp>
        <p:nvSpPr>
          <p:cNvPr id="59" name="Text 57"/>
          <p:cNvSpPr txBox="1"/>
          <p:nvPr/>
        </p:nvSpPr>
        <p:spPr>
          <a:xfrm>
            <a:off x="658368" y="544356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0" name="Shape 58"/>
          <p:cNvSpPr/>
          <p:nvPr/>
        </p:nvSpPr>
        <p:spPr>
          <a:xfrm>
            <a:off x="2697480" y="5491530"/>
            <a:ext cx="37460" cy="122087"/>
          </a:xfrm>
          <a:prstGeom prst="rect">
            <a:avLst/>
          </a:prstGeom>
          <a:solidFill>
            <a:srgbClr val="2587C5"/>
          </a:solidFill>
          <a:ln/>
        </p:spPr>
      </p:sp>
      <p:sp>
        <p:nvSpPr>
          <p:cNvPr id="61" name="Text 59"/>
          <p:cNvSpPr txBox="1"/>
          <p:nvPr/>
        </p:nvSpPr>
        <p:spPr>
          <a:xfrm>
            <a:off x="4709160" y="544356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$15K</a:t>
            </a:r>
            <a:endParaRPr lang="en-US" sz="1200" dirty="0"/>
          </a:p>
        </p:txBody>
      </p:sp>
      <p:sp>
        <p:nvSpPr>
          <p:cNvPr id="62" name="Text 60"/>
          <p:cNvSpPr txBox="1"/>
          <p:nvPr/>
        </p:nvSpPr>
        <p:spPr>
          <a:xfrm>
            <a:off x="658368" y="566158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3" name="Shape 61"/>
          <p:cNvSpPr/>
          <p:nvPr/>
        </p:nvSpPr>
        <p:spPr>
          <a:xfrm>
            <a:off x="2697480" y="5709542"/>
            <a:ext cx="18288" cy="122087"/>
          </a:xfrm>
          <a:prstGeom prst="rect">
            <a:avLst/>
          </a:prstGeom>
          <a:solidFill>
            <a:srgbClr val="2587C5"/>
          </a:solidFill>
          <a:ln/>
        </p:spPr>
      </p:sp>
      <p:sp>
        <p:nvSpPr>
          <p:cNvPr id="64" name="Text 62"/>
          <p:cNvSpPr txBox="1"/>
          <p:nvPr/>
        </p:nvSpPr>
        <p:spPr>
          <a:xfrm>
            <a:off x="4709160" y="566158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$5K</a:t>
            </a:r>
            <a:endParaRPr lang="en-US" sz="1200" dirty="0"/>
          </a:p>
        </p:txBody>
      </p:sp>
      <p:sp>
        <p:nvSpPr>
          <p:cNvPr id="65" name="Shape 63"/>
          <p:cNvSpPr/>
          <p:nvPr/>
        </p:nvSpPr>
        <p:spPr>
          <a:xfrm>
            <a:off x="5870448" y="1207008"/>
            <a:ext cx="5861304" cy="2336292"/>
          </a:xfrm>
          <a:prstGeom prst="rect">
            <a:avLst/>
          </a:prstGeom>
          <a:solidFill>
            <a:srgbClr val="FFFFFF"/>
          </a:solidFill>
          <a:ln/>
        </p:spPr>
      </p:sp>
      <p:sp>
        <p:nvSpPr>
          <p:cNvPr id="66" name="Text 64"/>
          <p:cNvSpPr txBox="1"/>
          <p:nvPr/>
        </p:nvSpPr>
        <p:spPr>
          <a:xfrm>
            <a:off x="6053328" y="128016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ELR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$180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$197</a:t>
            </a:r>
            <a:endParaRPr lang="en-US" sz="1400" dirty="0"/>
          </a:p>
        </p:txBody>
      </p:sp>
      <p:graphicFrame>
        <p:nvGraphicFramePr>
          <p:cNvPr id="67" name="Chart 0" descr=""/>
          <p:cNvGraphicFramePr/>
          <p:nvPr/>
        </p:nvGraphicFramePr>
        <p:xfrm>
          <a:off x="5916168" y="1591056"/>
          <a:ext cx="5769864" cy="1897380"/>
        </p:xfrm>
        <a:graphic>
          <a:graphicData uri="http://schemas.openxmlformats.org/drawingml/2006/chart">
            <c:chart xmlns:c="http://schemas.openxmlformats.org/drawingml/2006/chart" r:id="rId2"/>
          </a:graphicData>
        </a:graphic>
      </p:graphicFrame>
      <p:sp>
        <p:nvSpPr>
          <p:cNvPr id="68" name="Shape 65"/>
          <p:cNvSpPr/>
          <p:nvPr/>
        </p:nvSpPr>
        <p:spPr>
          <a:xfrm>
            <a:off x="5870448" y="3653028"/>
            <a:ext cx="5861304" cy="2336292"/>
          </a:xfrm>
          <a:prstGeom prst="rect">
            <a:avLst/>
          </a:prstGeom>
          <a:solidFill>
            <a:srgbClr val="FFFFFF"/>
          </a:solidFill>
          <a:ln/>
        </p:spPr>
      </p:sp>
      <p:sp>
        <p:nvSpPr>
          <p:cNvPr id="69" name="Text 66"/>
          <p:cNvSpPr txBox="1"/>
          <p:nvPr/>
        </p:nvSpPr>
        <p:spPr>
          <a:xfrm>
            <a:off x="6053328" y="372618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PARTS GP %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42.6%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44.7%</a:t>
            </a:r>
            <a:endParaRPr lang="en-US" sz="1400" dirty="0"/>
          </a:p>
        </p:txBody>
      </p:sp>
      <p:graphicFrame>
        <p:nvGraphicFramePr>
          <p:cNvPr id="70" name="Chart 1" descr=""/>
          <p:cNvGraphicFramePr/>
          <p:nvPr/>
        </p:nvGraphicFramePr>
        <p:xfrm>
          <a:off x="5916168" y="4037076"/>
          <a:ext cx="5769864" cy="1897380"/>
        </p:xfrm>
        <a:graphic>
          <a:graphicData uri="http://schemas.openxmlformats.org/drawingml/2006/chart">
            <c:chart xmlns:c="http://schemas.openxmlformats.org/drawingml/2006/chart" r:id="rId3"/>
          </a:graphicData>
        </a:graphic>
      </p:graphicFrame>
      <p:sp>
        <p:nvSpPr>
          <p:cNvPr id="71" name="Shape 67"/>
          <p:cNvSpPr/>
          <p:nvPr/>
        </p:nvSpPr>
        <p:spPr>
          <a:xfrm>
            <a:off x="457200" y="6126480"/>
            <a:ext cx="11274552" cy="615696"/>
          </a:xfrm>
          <a:prstGeom prst="rect">
            <a:avLst/>
          </a:prstGeom>
          <a:solidFill>
            <a:srgbClr val="EDF4FA"/>
          </a:solidFill>
          <a:ln/>
        </p:spPr>
      </p:sp>
      <p:sp>
        <p:nvSpPr>
          <p:cNvPr id="72"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$3,788,200 in gross profit added by rate increases approved at 19 stores this year. Warranty ELR is up $17 and parts margin 2.1 pts: higher rates draw more audits, so every claim has to hold up.</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best September at +$877K. This is money the manufacturer owes us: process keeps it.</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575158"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26014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631546"/>
            <a:ext cx="1234738"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916344"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60866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351233"/>
            <a:ext cx="539977"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45448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3831024"/>
            <a:ext cx="447286"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070920"/>
            <a:ext cx="326866"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310815"/>
            <a:ext cx="31122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305091"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01867"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030502"/>
            <a:ext cx="29832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270397"/>
            <a:ext cx="28684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510293"/>
            <a:ext cx="27451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5750188"/>
            <a:ext cx="268967"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1860"/>
            <a:ext cx="260447"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51755"/>
            <a:ext cx="257699"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391651"/>
            <a:ext cx="24957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631546"/>
            <a:ext cx="242561"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871442"/>
            <a:ext cx="224764"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111337"/>
            <a:ext cx="209887"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351233"/>
            <a:ext cx="197473"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591128"/>
            <a:ext cx="17215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17082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070920"/>
            <a:ext cx="170412"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52644"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550711"/>
            <a:ext cx="1441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4790606"/>
            <a:ext cx="12012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030502"/>
            <a:ext cx="1132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6513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510293"/>
            <a:ext cx="40300"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Cadillac leads at $6.13M of the group's $47.07M; Honda Flagstaff is smallest at $135,184.</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 Cadillac added the most at +$2.03M (+49.5%); VW Henderson fell most at −$822K (−35.0%).</a:t>
            </a:r>
            <a:endParaRPr lang="en-US" sz="160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Cadillac, Lexus and Audi Henderson what changed. Ask Acura, Honda Flagstaff and VW Henderson what got in the way. Ask Honda North, LR LV and Nissan what they started this year.</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Subaru Prescott and Subaru St George (2 of 5). Most bottom-three: VW St George (3 of 5).</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Mazda, CDJR Post Falls and VW St George (2 of 5). Most bottom-three: Honda Henderson and Cadillac (3 of 5).</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7" name="Shape 45"/>
          <p:cNvSpPr/>
          <p:nvPr/>
        </p:nvSpPr>
        <p:spPr>
          <a:xfrm>
            <a:off x="10058400" y="2937053"/>
            <a:ext cx="96012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2" name="Shape 50"/>
          <p:cNvSpPr/>
          <p:nvPr/>
        </p:nvSpPr>
        <p:spPr>
          <a:xfrm>
            <a:off x="10058400" y="3522269"/>
            <a:ext cx="96012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64008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64008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5" name="Shape 63"/>
          <p:cNvSpPr/>
          <p:nvPr/>
        </p:nvSpPr>
        <p:spPr>
          <a:xfrm>
            <a:off x="10058400" y="5277917"/>
            <a:ext cx="64008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Subaru Prescott leads. Moving now: Three stores tie. Eight stores make both views.</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44" name="Shape 42"/>
          <p:cNvSpPr/>
          <p:nvPr/>
        </p:nvSpPr>
        <p:spPr>
          <a:xfrm>
            <a:off x="457200" y="6126480"/>
            <a:ext cx="11274552" cy="364236"/>
          </a:xfrm>
          <a:prstGeom prst="rect">
            <a:avLst/>
          </a:prstGeom>
          <a:solidFill>
            <a:srgbClr val="EDF4FA"/>
          </a:solidFill>
          <a:ln/>
        </p:spPr>
      </p:sp>
      <p:sp>
        <p:nvSpPr>
          <p:cNvPr id="45" name="Text 4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ELR % OF DOOR RATE, BARS ONLY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5584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997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4807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90625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3038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9848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87195"/>
            <a:ext cx="429768" cy="211226"/>
          </a:xfrm>
          <a:prstGeom prst="rect">
            <a:avLst/>
          </a:prstGeom>
          <a:solidFill>
            <a:srgbClr val="C2352F"/>
          </a:solidFill>
          <a:ln/>
        </p:spPr>
      </p:sp>
      <p:sp>
        <p:nvSpPr>
          <p:cNvPr id="15" name="Text 13"/>
          <p:cNvSpPr txBox="1"/>
          <p:nvPr/>
        </p:nvSpPr>
        <p:spPr>
          <a:xfrm>
            <a:off x="335584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6" name="Text 14"/>
          <p:cNvSpPr txBox="1"/>
          <p:nvPr/>
        </p:nvSpPr>
        <p:spPr>
          <a:xfrm>
            <a:off x="437997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7" name="Text 15"/>
          <p:cNvSpPr txBox="1"/>
          <p:nvPr/>
        </p:nvSpPr>
        <p:spPr>
          <a:xfrm>
            <a:off x="514807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8" name="Text 16"/>
          <p:cNvSpPr txBox="1"/>
          <p:nvPr/>
        </p:nvSpPr>
        <p:spPr>
          <a:xfrm>
            <a:off x="658368"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2871216" y="2171243"/>
            <a:ext cx="382835" cy="211226"/>
          </a:xfrm>
          <a:prstGeom prst="rect">
            <a:avLst/>
          </a:prstGeom>
          <a:solidFill>
            <a:srgbClr val="C2352F"/>
          </a:solidFill>
          <a:ln/>
        </p:spPr>
      </p:sp>
      <p:sp>
        <p:nvSpPr>
          <p:cNvPr id="21" name="Text 19"/>
          <p:cNvSpPr txBox="1"/>
          <p:nvPr/>
        </p:nvSpPr>
        <p:spPr>
          <a:xfrm>
            <a:off x="335584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2" name="Text 20"/>
          <p:cNvSpPr txBox="1"/>
          <p:nvPr/>
        </p:nvSpPr>
        <p:spPr>
          <a:xfrm>
            <a:off x="437997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3" name="Text 21"/>
          <p:cNvSpPr txBox="1"/>
          <p:nvPr/>
        </p:nvSpPr>
        <p:spPr>
          <a:xfrm>
            <a:off x="514807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4" name="Text 22"/>
          <p:cNvSpPr txBox="1"/>
          <p:nvPr/>
        </p:nvSpPr>
        <p:spPr>
          <a:xfrm>
            <a:off x="658368"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6" name="Shape 24"/>
          <p:cNvSpPr/>
          <p:nvPr/>
        </p:nvSpPr>
        <p:spPr>
          <a:xfrm>
            <a:off x="2871216" y="2555291"/>
            <a:ext cx="236238" cy="211226"/>
          </a:xfrm>
          <a:prstGeom prst="rect">
            <a:avLst/>
          </a:prstGeom>
          <a:solidFill>
            <a:srgbClr val="C2352F"/>
          </a:solidFill>
          <a:ln/>
        </p:spPr>
      </p:sp>
      <p:sp>
        <p:nvSpPr>
          <p:cNvPr id="27" name="Text 25"/>
          <p:cNvSpPr txBox="1"/>
          <p:nvPr/>
        </p:nvSpPr>
        <p:spPr>
          <a:xfrm>
            <a:off x="335584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8" name="Text 26"/>
          <p:cNvSpPr txBox="1"/>
          <p:nvPr/>
        </p:nvSpPr>
        <p:spPr>
          <a:xfrm>
            <a:off x="437997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9" name="Text 27"/>
          <p:cNvSpPr txBox="1"/>
          <p:nvPr/>
        </p:nvSpPr>
        <p:spPr>
          <a:xfrm>
            <a:off x="514807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0" name="Text 28"/>
          <p:cNvSpPr txBox="1"/>
          <p:nvPr/>
        </p:nvSpPr>
        <p:spPr>
          <a:xfrm>
            <a:off x="658368"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939339"/>
            <a:ext cx="229928" cy="211226"/>
          </a:xfrm>
          <a:prstGeom prst="rect">
            <a:avLst/>
          </a:prstGeom>
          <a:solidFill>
            <a:srgbClr val="C2352F"/>
          </a:solidFill>
          <a:ln/>
        </p:spPr>
      </p:sp>
      <p:sp>
        <p:nvSpPr>
          <p:cNvPr id="33" name="Text 31"/>
          <p:cNvSpPr txBox="1"/>
          <p:nvPr/>
        </p:nvSpPr>
        <p:spPr>
          <a:xfrm>
            <a:off x="335584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4" name="Text 32"/>
          <p:cNvSpPr txBox="1"/>
          <p:nvPr/>
        </p:nvSpPr>
        <p:spPr>
          <a:xfrm>
            <a:off x="437997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5" name="Text 33"/>
          <p:cNvSpPr txBox="1"/>
          <p:nvPr/>
        </p:nvSpPr>
        <p:spPr>
          <a:xfrm>
            <a:off x="514807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6" name="Text 34"/>
          <p:cNvSpPr txBox="1"/>
          <p:nvPr/>
        </p:nvSpPr>
        <p:spPr>
          <a:xfrm>
            <a:off x="658368"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8" name="Shape 36"/>
          <p:cNvSpPr/>
          <p:nvPr/>
        </p:nvSpPr>
        <p:spPr>
          <a:xfrm>
            <a:off x="2871216" y="3323387"/>
            <a:ext cx="215568" cy="211226"/>
          </a:xfrm>
          <a:prstGeom prst="rect">
            <a:avLst/>
          </a:prstGeom>
          <a:solidFill>
            <a:srgbClr val="C2352F"/>
          </a:solidFill>
          <a:ln/>
        </p:spPr>
      </p:sp>
      <p:sp>
        <p:nvSpPr>
          <p:cNvPr id="39" name="Text 37"/>
          <p:cNvSpPr txBox="1"/>
          <p:nvPr/>
        </p:nvSpPr>
        <p:spPr>
          <a:xfrm>
            <a:off x="335584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40" name="Text 38"/>
          <p:cNvSpPr txBox="1"/>
          <p:nvPr/>
        </p:nvSpPr>
        <p:spPr>
          <a:xfrm>
            <a:off x="437997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41" name="Text 39"/>
          <p:cNvSpPr txBox="1"/>
          <p:nvPr/>
        </p:nvSpPr>
        <p:spPr>
          <a:xfrm>
            <a:off x="514807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2871216" y="3707435"/>
            <a:ext cx="197159" cy="211226"/>
          </a:xfrm>
          <a:prstGeom prst="rect">
            <a:avLst/>
          </a:prstGeom>
          <a:solidFill>
            <a:srgbClr val="C2352F"/>
          </a:solidFill>
          <a:ln/>
        </p:spPr>
      </p:sp>
      <p:sp>
        <p:nvSpPr>
          <p:cNvPr id="45" name="Text 43"/>
          <p:cNvSpPr txBox="1"/>
          <p:nvPr/>
        </p:nvSpPr>
        <p:spPr>
          <a:xfrm>
            <a:off x="335584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6" name="Text 44"/>
          <p:cNvSpPr txBox="1"/>
          <p:nvPr/>
        </p:nvSpPr>
        <p:spPr>
          <a:xfrm>
            <a:off x="437997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7" name="Text 45"/>
          <p:cNvSpPr txBox="1"/>
          <p:nvPr/>
        </p:nvSpPr>
        <p:spPr>
          <a:xfrm>
            <a:off x="514807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8" name="Text 46"/>
          <p:cNvSpPr txBox="1"/>
          <p:nvPr/>
        </p:nvSpPr>
        <p:spPr>
          <a:xfrm>
            <a:off x="658368"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0" name="Shape 48"/>
          <p:cNvSpPr/>
          <p:nvPr/>
        </p:nvSpPr>
        <p:spPr>
          <a:xfrm>
            <a:off x="2871216" y="4091483"/>
            <a:ext cx="185442" cy="211226"/>
          </a:xfrm>
          <a:prstGeom prst="rect">
            <a:avLst/>
          </a:prstGeom>
          <a:solidFill>
            <a:srgbClr val="C2352F"/>
          </a:solidFill>
          <a:ln/>
        </p:spPr>
      </p:sp>
      <p:sp>
        <p:nvSpPr>
          <p:cNvPr id="51" name="Text 49"/>
          <p:cNvSpPr txBox="1"/>
          <p:nvPr/>
        </p:nvSpPr>
        <p:spPr>
          <a:xfrm>
            <a:off x="335584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52" name="Text 50"/>
          <p:cNvSpPr txBox="1"/>
          <p:nvPr/>
        </p:nvSpPr>
        <p:spPr>
          <a:xfrm>
            <a:off x="437997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53" name="Text 51"/>
          <p:cNvSpPr txBox="1"/>
          <p:nvPr/>
        </p:nvSpPr>
        <p:spPr>
          <a:xfrm>
            <a:off x="514807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4" name="Text 52"/>
          <p:cNvSpPr txBox="1"/>
          <p:nvPr/>
        </p:nvSpPr>
        <p:spPr>
          <a:xfrm>
            <a:off x="658368"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6" name="Shape 54"/>
          <p:cNvSpPr/>
          <p:nvPr/>
        </p:nvSpPr>
        <p:spPr>
          <a:xfrm>
            <a:off x="2871216" y="4475531"/>
            <a:ext cx="179286" cy="211226"/>
          </a:xfrm>
          <a:prstGeom prst="rect">
            <a:avLst/>
          </a:prstGeom>
          <a:solidFill>
            <a:srgbClr val="C2352F"/>
          </a:solidFill>
          <a:ln/>
        </p:spPr>
      </p:sp>
      <p:sp>
        <p:nvSpPr>
          <p:cNvPr id="57" name="Text 55"/>
          <p:cNvSpPr txBox="1"/>
          <p:nvPr/>
        </p:nvSpPr>
        <p:spPr>
          <a:xfrm>
            <a:off x="335584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8" name="Text 56"/>
          <p:cNvSpPr txBox="1"/>
          <p:nvPr/>
        </p:nvSpPr>
        <p:spPr>
          <a:xfrm>
            <a:off x="437997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9" name="Text 57"/>
          <p:cNvSpPr txBox="1"/>
          <p:nvPr/>
        </p:nvSpPr>
        <p:spPr>
          <a:xfrm>
            <a:off x="514807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0" name="Text 58"/>
          <p:cNvSpPr txBox="1"/>
          <p:nvPr/>
        </p:nvSpPr>
        <p:spPr>
          <a:xfrm>
            <a:off x="658368"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2871216" y="4859579"/>
            <a:ext cx="179186" cy="211226"/>
          </a:xfrm>
          <a:prstGeom prst="rect">
            <a:avLst/>
          </a:prstGeom>
          <a:solidFill>
            <a:srgbClr val="C2352F"/>
          </a:solidFill>
          <a:ln/>
        </p:spPr>
      </p:sp>
      <p:sp>
        <p:nvSpPr>
          <p:cNvPr id="63" name="Text 61"/>
          <p:cNvSpPr txBox="1"/>
          <p:nvPr/>
        </p:nvSpPr>
        <p:spPr>
          <a:xfrm>
            <a:off x="335584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64" name="Text 62"/>
          <p:cNvSpPr txBox="1"/>
          <p:nvPr/>
        </p:nvSpPr>
        <p:spPr>
          <a:xfrm>
            <a:off x="437997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5" name="Text 63"/>
          <p:cNvSpPr txBox="1"/>
          <p:nvPr/>
        </p:nvSpPr>
        <p:spPr>
          <a:xfrm>
            <a:off x="514807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6" name="Text 64"/>
          <p:cNvSpPr txBox="1"/>
          <p:nvPr/>
        </p:nvSpPr>
        <p:spPr>
          <a:xfrm>
            <a:off x="658368"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8" name="Shape 66"/>
          <p:cNvSpPr/>
          <p:nvPr/>
        </p:nvSpPr>
        <p:spPr>
          <a:xfrm>
            <a:off x="2871216" y="5243627"/>
            <a:ext cx="145201" cy="211226"/>
          </a:xfrm>
          <a:prstGeom prst="rect">
            <a:avLst/>
          </a:prstGeom>
          <a:solidFill>
            <a:srgbClr val="C2352F"/>
          </a:solidFill>
          <a:ln/>
        </p:spPr>
      </p:sp>
      <p:sp>
        <p:nvSpPr>
          <p:cNvPr id="69" name="Text 67"/>
          <p:cNvSpPr txBox="1"/>
          <p:nvPr/>
        </p:nvSpPr>
        <p:spPr>
          <a:xfrm>
            <a:off x="335584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70" name="Text 68"/>
          <p:cNvSpPr txBox="1"/>
          <p:nvPr/>
        </p:nvSpPr>
        <p:spPr>
          <a:xfrm>
            <a:off x="437997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71" name="Text 69"/>
          <p:cNvSpPr txBox="1"/>
          <p:nvPr/>
        </p:nvSpPr>
        <p:spPr>
          <a:xfrm>
            <a:off x="514807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72" name="Text 70"/>
          <p:cNvSpPr txBox="1"/>
          <p:nvPr/>
        </p:nvSpPr>
        <p:spPr>
          <a:xfrm>
            <a:off x="658368" y="554126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554126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4" name="Shape 72"/>
          <p:cNvSpPr/>
          <p:nvPr/>
        </p:nvSpPr>
        <p:spPr>
          <a:xfrm>
            <a:off x="2871216" y="5627675"/>
            <a:ext cx="144678" cy="211226"/>
          </a:xfrm>
          <a:prstGeom prst="rect">
            <a:avLst/>
          </a:prstGeom>
          <a:solidFill>
            <a:srgbClr val="C2352F"/>
          </a:solidFill>
          <a:ln/>
        </p:spPr>
      </p:sp>
      <p:sp>
        <p:nvSpPr>
          <p:cNvPr id="75" name="Text 73"/>
          <p:cNvSpPr txBox="1"/>
          <p:nvPr/>
        </p:nvSpPr>
        <p:spPr>
          <a:xfrm>
            <a:off x="335584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76" name="Text 74"/>
          <p:cNvSpPr txBox="1"/>
          <p:nvPr/>
        </p:nvSpPr>
        <p:spPr>
          <a:xfrm>
            <a:off x="437997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77" name="Text 75"/>
          <p:cNvSpPr txBox="1"/>
          <p:nvPr/>
        </p:nvSpPr>
        <p:spPr>
          <a:xfrm>
            <a:off x="514807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8" name="Text 76"/>
          <p:cNvSpPr txBox="1"/>
          <p:nvPr/>
        </p:nvSpPr>
        <p:spPr>
          <a:xfrm>
            <a:off x="6208776"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8421624" y="1787195"/>
            <a:ext cx="70607" cy="211226"/>
          </a:xfrm>
          <a:prstGeom prst="rect">
            <a:avLst/>
          </a:prstGeom>
          <a:solidFill>
            <a:srgbClr val="C2352F"/>
          </a:solidFill>
          <a:ln/>
        </p:spPr>
      </p:sp>
      <p:sp>
        <p:nvSpPr>
          <p:cNvPr id="81" name="Text 79"/>
          <p:cNvSpPr txBox="1"/>
          <p:nvPr/>
        </p:nvSpPr>
        <p:spPr>
          <a:xfrm>
            <a:off x="890625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82" name="Text 80"/>
          <p:cNvSpPr txBox="1"/>
          <p:nvPr/>
        </p:nvSpPr>
        <p:spPr>
          <a:xfrm>
            <a:off x="993038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83" name="Text 81"/>
          <p:cNvSpPr txBox="1"/>
          <p:nvPr/>
        </p:nvSpPr>
        <p:spPr>
          <a:xfrm>
            <a:off x="1069848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4" name="Text 82"/>
          <p:cNvSpPr txBox="1"/>
          <p:nvPr/>
        </p:nvSpPr>
        <p:spPr>
          <a:xfrm>
            <a:off x="6208776"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6" name="Shape 84"/>
          <p:cNvSpPr/>
          <p:nvPr/>
        </p:nvSpPr>
        <p:spPr>
          <a:xfrm>
            <a:off x="8421624" y="2171243"/>
            <a:ext cx="65929" cy="211226"/>
          </a:xfrm>
          <a:prstGeom prst="rect">
            <a:avLst/>
          </a:prstGeom>
          <a:solidFill>
            <a:srgbClr val="C2352F"/>
          </a:solidFill>
          <a:ln/>
        </p:spPr>
      </p:sp>
      <p:sp>
        <p:nvSpPr>
          <p:cNvPr id="87" name="Text 85"/>
          <p:cNvSpPr txBox="1"/>
          <p:nvPr/>
        </p:nvSpPr>
        <p:spPr>
          <a:xfrm>
            <a:off x="890625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88" name="Text 86"/>
          <p:cNvSpPr txBox="1"/>
          <p:nvPr/>
        </p:nvSpPr>
        <p:spPr>
          <a:xfrm>
            <a:off x="993038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89" name="Text 87"/>
          <p:cNvSpPr txBox="1"/>
          <p:nvPr/>
        </p:nvSpPr>
        <p:spPr>
          <a:xfrm>
            <a:off x="1069848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0" name="Text 88"/>
          <p:cNvSpPr txBox="1"/>
          <p:nvPr/>
        </p:nvSpPr>
        <p:spPr>
          <a:xfrm>
            <a:off x="6208776"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2" name="Shape 90"/>
          <p:cNvSpPr/>
          <p:nvPr/>
        </p:nvSpPr>
        <p:spPr>
          <a:xfrm>
            <a:off x="8421624" y="2555291"/>
            <a:ext cx="64833" cy="211226"/>
          </a:xfrm>
          <a:prstGeom prst="rect">
            <a:avLst/>
          </a:prstGeom>
          <a:solidFill>
            <a:srgbClr val="C2352F"/>
          </a:solidFill>
          <a:ln/>
        </p:spPr>
      </p:sp>
      <p:sp>
        <p:nvSpPr>
          <p:cNvPr id="93" name="Text 91"/>
          <p:cNvSpPr txBox="1"/>
          <p:nvPr/>
        </p:nvSpPr>
        <p:spPr>
          <a:xfrm>
            <a:off x="890625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94" name="Text 92"/>
          <p:cNvSpPr txBox="1"/>
          <p:nvPr/>
        </p:nvSpPr>
        <p:spPr>
          <a:xfrm>
            <a:off x="993038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95" name="Text 93"/>
          <p:cNvSpPr txBox="1"/>
          <p:nvPr/>
        </p:nvSpPr>
        <p:spPr>
          <a:xfrm>
            <a:off x="1069848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6" name="Text 94"/>
          <p:cNvSpPr txBox="1"/>
          <p:nvPr/>
        </p:nvSpPr>
        <p:spPr>
          <a:xfrm>
            <a:off x="6208776"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8" name="Shape 96"/>
          <p:cNvSpPr/>
          <p:nvPr/>
        </p:nvSpPr>
        <p:spPr>
          <a:xfrm>
            <a:off x="8421624" y="2939339"/>
            <a:ext cx="59917" cy="211226"/>
          </a:xfrm>
          <a:prstGeom prst="rect">
            <a:avLst/>
          </a:prstGeom>
          <a:solidFill>
            <a:srgbClr val="C2352F"/>
          </a:solidFill>
          <a:ln/>
        </p:spPr>
      </p:sp>
      <p:sp>
        <p:nvSpPr>
          <p:cNvPr id="99" name="Text 97"/>
          <p:cNvSpPr txBox="1"/>
          <p:nvPr/>
        </p:nvSpPr>
        <p:spPr>
          <a:xfrm>
            <a:off x="890625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100" name="Text 98"/>
          <p:cNvSpPr txBox="1"/>
          <p:nvPr/>
        </p:nvSpPr>
        <p:spPr>
          <a:xfrm>
            <a:off x="993038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01" name="Text 99"/>
          <p:cNvSpPr txBox="1"/>
          <p:nvPr/>
        </p:nvSpPr>
        <p:spPr>
          <a:xfrm>
            <a:off x="1069848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02" name="Text 100"/>
          <p:cNvSpPr txBox="1"/>
          <p:nvPr/>
        </p:nvSpPr>
        <p:spPr>
          <a:xfrm>
            <a:off x="6208776"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4" name="Shape 102"/>
          <p:cNvSpPr/>
          <p:nvPr/>
        </p:nvSpPr>
        <p:spPr>
          <a:xfrm>
            <a:off x="8421624" y="3323387"/>
            <a:ext cx="54171" cy="211226"/>
          </a:xfrm>
          <a:prstGeom prst="rect">
            <a:avLst/>
          </a:prstGeom>
          <a:solidFill>
            <a:srgbClr val="C2352F"/>
          </a:solidFill>
          <a:ln/>
        </p:spPr>
      </p:sp>
      <p:sp>
        <p:nvSpPr>
          <p:cNvPr id="105" name="Text 103"/>
          <p:cNvSpPr txBox="1"/>
          <p:nvPr/>
        </p:nvSpPr>
        <p:spPr>
          <a:xfrm>
            <a:off x="890625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106" name="Text 104"/>
          <p:cNvSpPr txBox="1"/>
          <p:nvPr/>
        </p:nvSpPr>
        <p:spPr>
          <a:xfrm>
            <a:off x="993038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07" name="Text 105"/>
          <p:cNvSpPr txBox="1"/>
          <p:nvPr/>
        </p:nvSpPr>
        <p:spPr>
          <a:xfrm>
            <a:off x="1069848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8" name="Text 106"/>
          <p:cNvSpPr txBox="1"/>
          <p:nvPr/>
        </p:nvSpPr>
        <p:spPr>
          <a:xfrm>
            <a:off x="6208776"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0" name="Shape 108"/>
          <p:cNvSpPr/>
          <p:nvPr/>
        </p:nvSpPr>
        <p:spPr>
          <a:xfrm>
            <a:off x="8421624" y="3707435"/>
            <a:ext cx="33354" cy="211226"/>
          </a:xfrm>
          <a:prstGeom prst="rect">
            <a:avLst/>
          </a:prstGeom>
          <a:solidFill>
            <a:srgbClr val="C2352F"/>
          </a:solidFill>
          <a:ln/>
        </p:spPr>
      </p:sp>
      <p:sp>
        <p:nvSpPr>
          <p:cNvPr id="111" name="Text 109"/>
          <p:cNvSpPr txBox="1"/>
          <p:nvPr/>
        </p:nvSpPr>
        <p:spPr>
          <a:xfrm>
            <a:off x="890625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112" name="Text 110"/>
          <p:cNvSpPr txBox="1"/>
          <p:nvPr/>
        </p:nvSpPr>
        <p:spPr>
          <a:xfrm>
            <a:off x="993038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13" name="Text 111"/>
          <p:cNvSpPr txBox="1"/>
          <p:nvPr/>
        </p:nvSpPr>
        <p:spPr>
          <a:xfrm>
            <a:off x="1069848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4" name="Text 112"/>
          <p:cNvSpPr txBox="1"/>
          <p:nvPr/>
        </p:nvSpPr>
        <p:spPr>
          <a:xfrm>
            <a:off x="6208776"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6" name="Shape 114"/>
          <p:cNvSpPr/>
          <p:nvPr/>
        </p:nvSpPr>
        <p:spPr>
          <a:xfrm>
            <a:off x="8421624" y="4091483"/>
            <a:ext cx="27497" cy="211226"/>
          </a:xfrm>
          <a:prstGeom prst="rect">
            <a:avLst/>
          </a:prstGeom>
          <a:solidFill>
            <a:srgbClr val="C2352F"/>
          </a:solidFill>
          <a:ln/>
        </p:spPr>
      </p:sp>
      <p:sp>
        <p:nvSpPr>
          <p:cNvPr id="117" name="Text 115"/>
          <p:cNvSpPr txBox="1"/>
          <p:nvPr/>
        </p:nvSpPr>
        <p:spPr>
          <a:xfrm>
            <a:off x="890625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18" name="Text 116"/>
          <p:cNvSpPr txBox="1"/>
          <p:nvPr/>
        </p:nvSpPr>
        <p:spPr>
          <a:xfrm>
            <a:off x="993038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19" name="Text 117"/>
          <p:cNvSpPr txBox="1"/>
          <p:nvPr/>
        </p:nvSpPr>
        <p:spPr>
          <a:xfrm>
            <a:off x="1069848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0" name="Text 118"/>
          <p:cNvSpPr txBox="1"/>
          <p:nvPr/>
        </p:nvSpPr>
        <p:spPr>
          <a:xfrm>
            <a:off x="6208776"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421624" y="4475531"/>
            <a:ext cx="19120" cy="211226"/>
          </a:xfrm>
          <a:prstGeom prst="rect">
            <a:avLst/>
          </a:prstGeom>
          <a:solidFill>
            <a:srgbClr val="C2352F"/>
          </a:solidFill>
          <a:ln/>
        </p:spPr>
      </p:sp>
      <p:sp>
        <p:nvSpPr>
          <p:cNvPr id="123" name="Text 121"/>
          <p:cNvSpPr txBox="1"/>
          <p:nvPr/>
        </p:nvSpPr>
        <p:spPr>
          <a:xfrm>
            <a:off x="890625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24" name="Text 122"/>
          <p:cNvSpPr txBox="1"/>
          <p:nvPr/>
        </p:nvSpPr>
        <p:spPr>
          <a:xfrm>
            <a:off x="993038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25" name="Text 123"/>
          <p:cNvSpPr txBox="1"/>
          <p:nvPr/>
        </p:nvSpPr>
        <p:spPr>
          <a:xfrm>
            <a:off x="1069848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6" name="Text 124"/>
          <p:cNvSpPr txBox="1"/>
          <p:nvPr/>
        </p:nvSpPr>
        <p:spPr>
          <a:xfrm>
            <a:off x="6208776"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421624" y="4859579"/>
            <a:ext cx="18288" cy="211226"/>
          </a:xfrm>
          <a:prstGeom prst="rect">
            <a:avLst/>
          </a:prstGeom>
          <a:solidFill>
            <a:srgbClr val="C2352F"/>
          </a:solidFill>
          <a:ln/>
        </p:spPr>
      </p:sp>
      <p:sp>
        <p:nvSpPr>
          <p:cNvPr id="129" name="Text 127"/>
          <p:cNvSpPr txBox="1"/>
          <p:nvPr/>
        </p:nvSpPr>
        <p:spPr>
          <a:xfrm>
            <a:off x="890625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30" name="Text 128"/>
          <p:cNvSpPr txBox="1"/>
          <p:nvPr/>
        </p:nvSpPr>
        <p:spPr>
          <a:xfrm>
            <a:off x="993038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31" name="Text 129"/>
          <p:cNvSpPr txBox="1"/>
          <p:nvPr/>
        </p:nvSpPr>
        <p:spPr>
          <a:xfrm>
            <a:off x="1069848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32" name="Text 130"/>
          <p:cNvSpPr txBox="1"/>
          <p:nvPr/>
        </p:nvSpPr>
        <p:spPr>
          <a:xfrm>
            <a:off x="6208776"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4" name="Shape 132"/>
          <p:cNvSpPr/>
          <p:nvPr/>
        </p:nvSpPr>
        <p:spPr>
          <a:xfrm>
            <a:off x="8421624" y="5243627"/>
            <a:ext cx="18288" cy="211226"/>
          </a:xfrm>
          <a:prstGeom prst="rect">
            <a:avLst/>
          </a:prstGeom>
          <a:solidFill>
            <a:srgbClr val="C2352F"/>
          </a:solidFill>
          <a:ln/>
        </p:spPr>
      </p:sp>
      <p:sp>
        <p:nvSpPr>
          <p:cNvPr id="135" name="Text 133"/>
          <p:cNvSpPr txBox="1"/>
          <p:nvPr/>
        </p:nvSpPr>
        <p:spPr>
          <a:xfrm>
            <a:off x="890625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36" name="Text 134"/>
          <p:cNvSpPr txBox="1"/>
          <p:nvPr/>
        </p:nvSpPr>
        <p:spPr>
          <a:xfrm>
            <a:off x="993038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37" name="Text 135"/>
          <p:cNvSpPr txBox="1"/>
          <p:nvPr/>
        </p:nvSpPr>
        <p:spPr>
          <a:xfrm>
            <a:off x="1069848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38" name="Shape 136"/>
          <p:cNvSpPr/>
          <p:nvPr/>
        </p:nvSpPr>
        <p:spPr>
          <a:xfrm>
            <a:off x="6085332" y="1700784"/>
            <a:ext cx="10973" cy="4224528"/>
          </a:xfrm>
          <a:prstGeom prst="rect">
            <a:avLst/>
          </a:prstGeom>
          <a:solidFill>
            <a:srgbClr val="D9D9D9"/>
          </a:solidFill>
          <a:ln/>
        </p:spPr>
      </p:sp>
      <p:sp>
        <p:nvSpPr>
          <p:cNvPr id="139" name="Shape 137"/>
          <p:cNvSpPr/>
          <p:nvPr/>
        </p:nvSpPr>
        <p:spPr>
          <a:xfrm>
            <a:off x="457200" y="6126480"/>
            <a:ext cx="11274552" cy="615696"/>
          </a:xfrm>
          <a:prstGeom prst="rect">
            <a:avLst/>
          </a:prstGeom>
          <a:solidFill>
            <a:srgbClr val="FBEBE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021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16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525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669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76072" cy="136676"/>
          </a:xfrm>
          <a:prstGeom prst="rect">
            <a:avLst/>
          </a:prstGeom>
          <a:solidFill>
            <a:srgbClr val="2587C5"/>
          </a:solidFill>
          <a:ln/>
        </p:spPr>
      </p:sp>
      <p:sp>
        <p:nvSpPr>
          <p:cNvPr id="15" name="Text 13"/>
          <p:cNvSpPr txBox="1"/>
          <p:nvPr/>
        </p:nvSpPr>
        <p:spPr>
          <a:xfrm>
            <a:off x="350215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6" name="Text 14"/>
          <p:cNvSpPr txBox="1"/>
          <p:nvPr/>
        </p:nvSpPr>
        <p:spPr>
          <a:xfrm>
            <a:off x="441655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1856" cy="136676"/>
          </a:xfrm>
          <a:prstGeom prst="rect">
            <a:avLst/>
          </a:prstGeom>
          <a:solidFill>
            <a:srgbClr val="2587C5"/>
          </a:solidFill>
          <a:ln/>
        </p:spPr>
      </p:sp>
      <p:sp>
        <p:nvSpPr>
          <p:cNvPr id="21" name="Text 19"/>
          <p:cNvSpPr txBox="1"/>
          <p:nvPr/>
        </p:nvSpPr>
        <p:spPr>
          <a:xfrm>
            <a:off x="350215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2" name="Text 20"/>
          <p:cNvSpPr txBox="1"/>
          <p:nvPr/>
        </p:nvSpPr>
        <p:spPr>
          <a:xfrm>
            <a:off x="441655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6" name="Shape 24"/>
          <p:cNvSpPr/>
          <p:nvPr/>
        </p:nvSpPr>
        <p:spPr>
          <a:xfrm>
            <a:off x="2871216" y="2253700"/>
            <a:ext cx="367749" cy="136676"/>
          </a:xfrm>
          <a:prstGeom prst="rect">
            <a:avLst/>
          </a:prstGeom>
          <a:solidFill>
            <a:srgbClr val="2587C5"/>
          </a:solidFill>
          <a:ln/>
        </p:spPr>
      </p:sp>
      <p:sp>
        <p:nvSpPr>
          <p:cNvPr id="27" name="Text 25"/>
          <p:cNvSpPr txBox="1"/>
          <p:nvPr/>
        </p:nvSpPr>
        <p:spPr>
          <a:xfrm>
            <a:off x="350215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8" name="Text 26"/>
          <p:cNvSpPr txBox="1"/>
          <p:nvPr/>
        </p:nvSpPr>
        <p:spPr>
          <a:xfrm>
            <a:off x="441655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14644" cy="136676"/>
          </a:xfrm>
          <a:prstGeom prst="rect">
            <a:avLst/>
          </a:prstGeom>
          <a:solidFill>
            <a:srgbClr val="2587C5"/>
          </a:solidFill>
          <a:ln/>
        </p:spPr>
      </p:sp>
      <p:sp>
        <p:nvSpPr>
          <p:cNvPr id="33" name="Text 31"/>
          <p:cNvSpPr txBox="1"/>
          <p:nvPr/>
        </p:nvSpPr>
        <p:spPr>
          <a:xfrm>
            <a:off x="350215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4" name="Text 32"/>
          <p:cNvSpPr txBox="1"/>
          <p:nvPr/>
        </p:nvSpPr>
        <p:spPr>
          <a:xfrm>
            <a:off x="441655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8" name="Shape 36"/>
          <p:cNvSpPr/>
          <p:nvPr/>
        </p:nvSpPr>
        <p:spPr>
          <a:xfrm>
            <a:off x="2871216" y="2750703"/>
            <a:ext cx="257024" cy="136676"/>
          </a:xfrm>
          <a:prstGeom prst="rect">
            <a:avLst/>
          </a:prstGeom>
          <a:solidFill>
            <a:srgbClr val="2587C5"/>
          </a:solidFill>
          <a:ln/>
        </p:spPr>
      </p:sp>
      <p:sp>
        <p:nvSpPr>
          <p:cNvPr id="39" name="Text 37"/>
          <p:cNvSpPr txBox="1"/>
          <p:nvPr/>
        </p:nvSpPr>
        <p:spPr>
          <a:xfrm>
            <a:off x="350215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40" name="Text 38"/>
          <p:cNvSpPr txBox="1"/>
          <p:nvPr/>
        </p:nvSpPr>
        <p:spPr>
          <a:xfrm>
            <a:off x="441655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2871216" y="2999205"/>
            <a:ext cx="244698" cy="136676"/>
          </a:xfrm>
          <a:prstGeom prst="rect">
            <a:avLst/>
          </a:prstGeom>
          <a:solidFill>
            <a:srgbClr val="2587C5"/>
          </a:solidFill>
          <a:ln/>
        </p:spPr>
      </p:sp>
      <p:sp>
        <p:nvSpPr>
          <p:cNvPr id="45" name="Text 43"/>
          <p:cNvSpPr txBox="1"/>
          <p:nvPr/>
        </p:nvSpPr>
        <p:spPr>
          <a:xfrm>
            <a:off x="350215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6" name="Text 44"/>
          <p:cNvSpPr txBox="1"/>
          <p:nvPr/>
        </p:nvSpPr>
        <p:spPr>
          <a:xfrm>
            <a:off x="441655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0" name="Shape 48"/>
          <p:cNvSpPr/>
          <p:nvPr/>
        </p:nvSpPr>
        <p:spPr>
          <a:xfrm>
            <a:off x="2871216" y="3247707"/>
            <a:ext cx="219695" cy="136676"/>
          </a:xfrm>
          <a:prstGeom prst="rect">
            <a:avLst/>
          </a:prstGeom>
          <a:solidFill>
            <a:srgbClr val="2587C5"/>
          </a:solidFill>
          <a:ln/>
        </p:spPr>
      </p:sp>
      <p:sp>
        <p:nvSpPr>
          <p:cNvPr id="51" name="Text 49"/>
          <p:cNvSpPr txBox="1"/>
          <p:nvPr/>
        </p:nvSpPr>
        <p:spPr>
          <a:xfrm>
            <a:off x="350215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52" name="Text 50"/>
          <p:cNvSpPr txBox="1"/>
          <p:nvPr/>
        </p:nvSpPr>
        <p:spPr>
          <a:xfrm>
            <a:off x="441655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6" name="Shape 54"/>
          <p:cNvSpPr/>
          <p:nvPr/>
        </p:nvSpPr>
        <p:spPr>
          <a:xfrm>
            <a:off x="2871216" y="3496208"/>
            <a:ext cx="168437" cy="136676"/>
          </a:xfrm>
          <a:prstGeom prst="rect">
            <a:avLst/>
          </a:prstGeom>
          <a:solidFill>
            <a:srgbClr val="2587C5"/>
          </a:solidFill>
          <a:ln/>
        </p:spPr>
      </p:sp>
      <p:sp>
        <p:nvSpPr>
          <p:cNvPr id="57" name="Text 55"/>
          <p:cNvSpPr txBox="1"/>
          <p:nvPr/>
        </p:nvSpPr>
        <p:spPr>
          <a:xfrm>
            <a:off x="350215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8" name="Text 56"/>
          <p:cNvSpPr txBox="1"/>
          <p:nvPr/>
        </p:nvSpPr>
        <p:spPr>
          <a:xfrm>
            <a:off x="441655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2" name="Shape 60"/>
          <p:cNvSpPr/>
          <p:nvPr/>
        </p:nvSpPr>
        <p:spPr>
          <a:xfrm>
            <a:off x="2871216" y="3744710"/>
            <a:ext cx="156885" cy="136676"/>
          </a:xfrm>
          <a:prstGeom prst="rect">
            <a:avLst/>
          </a:prstGeom>
          <a:solidFill>
            <a:srgbClr val="2587C5"/>
          </a:solidFill>
          <a:ln/>
        </p:spPr>
      </p:sp>
      <p:sp>
        <p:nvSpPr>
          <p:cNvPr id="63" name="Text 61"/>
          <p:cNvSpPr txBox="1"/>
          <p:nvPr/>
        </p:nvSpPr>
        <p:spPr>
          <a:xfrm>
            <a:off x="350215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64" name="Text 62"/>
          <p:cNvSpPr txBox="1"/>
          <p:nvPr/>
        </p:nvSpPr>
        <p:spPr>
          <a:xfrm>
            <a:off x="441655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8" name="Shape 66"/>
          <p:cNvSpPr/>
          <p:nvPr/>
        </p:nvSpPr>
        <p:spPr>
          <a:xfrm>
            <a:off x="2871216" y="3993212"/>
            <a:ext cx="151234" cy="136676"/>
          </a:xfrm>
          <a:prstGeom prst="rect">
            <a:avLst/>
          </a:prstGeom>
          <a:solidFill>
            <a:srgbClr val="2587C5"/>
          </a:solidFill>
          <a:ln/>
        </p:spPr>
      </p:sp>
      <p:sp>
        <p:nvSpPr>
          <p:cNvPr id="69" name="Text 67"/>
          <p:cNvSpPr txBox="1"/>
          <p:nvPr/>
        </p:nvSpPr>
        <p:spPr>
          <a:xfrm>
            <a:off x="350215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70" name="Text 68"/>
          <p:cNvSpPr txBox="1"/>
          <p:nvPr/>
        </p:nvSpPr>
        <p:spPr>
          <a:xfrm>
            <a:off x="441655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4" name="Shape 72"/>
          <p:cNvSpPr/>
          <p:nvPr/>
        </p:nvSpPr>
        <p:spPr>
          <a:xfrm>
            <a:off x="2871216" y="4241713"/>
            <a:ext cx="129534" cy="136676"/>
          </a:xfrm>
          <a:prstGeom prst="rect">
            <a:avLst/>
          </a:prstGeom>
          <a:solidFill>
            <a:srgbClr val="2587C5"/>
          </a:solidFill>
          <a:ln/>
        </p:spPr>
      </p:sp>
      <p:sp>
        <p:nvSpPr>
          <p:cNvPr id="75" name="Text 73"/>
          <p:cNvSpPr txBox="1"/>
          <p:nvPr/>
        </p:nvSpPr>
        <p:spPr>
          <a:xfrm>
            <a:off x="350215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76" name="Text 74"/>
          <p:cNvSpPr txBox="1"/>
          <p:nvPr/>
        </p:nvSpPr>
        <p:spPr>
          <a:xfrm>
            <a:off x="441655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0" name="Shape 78"/>
          <p:cNvSpPr/>
          <p:nvPr/>
        </p:nvSpPr>
        <p:spPr>
          <a:xfrm>
            <a:off x="2871216" y="4490215"/>
            <a:ext cx="122140" cy="136676"/>
          </a:xfrm>
          <a:prstGeom prst="rect">
            <a:avLst/>
          </a:prstGeom>
          <a:solidFill>
            <a:srgbClr val="2587C5"/>
          </a:solidFill>
          <a:ln/>
        </p:spPr>
      </p:sp>
      <p:sp>
        <p:nvSpPr>
          <p:cNvPr id="81" name="Text 79"/>
          <p:cNvSpPr txBox="1"/>
          <p:nvPr/>
        </p:nvSpPr>
        <p:spPr>
          <a:xfrm>
            <a:off x="350215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2" name="Text 80"/>
          <p:cNvSpPr txBox="1"/>
          <p:nvPr/>
        </p:nvSpPr>
        <p:spPr>
          <a:xfrm>
            <a:off x="441655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21953" cy="136676"/>
          </a:xfrm>
          <a:prstGeom prst="rect">
            <a:avLst/>
          </a:prstGeom>
          <a:solidFill>
            <a:srgbClr val="2587C5"/>
          </a:solidFill>
          <a:ln/>
        </p:spPr>
      </p:sp>
      <p:sp>
        <p:nvSpPr>
          <p:cNvPr id="87" name="Text 85"/>
          <p:cNvSpPr txBox="1"/>
          <p:nvPr/>
        </p:nvSpPr>
        <p:spPr>
          <a:xfrm>
            <a:off x="350215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8" name="Text 86"/>
          <p:cNvSpPr txBox="1"/>
          <p:nvPr/>
        </p:nvSpPr>
        <p:spPr>
          <a:xfrm>
            <a:off x="441655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2871216" y="4987218"/>
            <a:ext cx="115516" cy="136676"/>
          </a:xfrm>
          <a:prstGeom prst="rect">
            <a:avLst/>
          </a:prstGeom>
          <a:solidFill>
            <a:srgbClr val="2587C5"/>
          </a:solidFill>
          <a:ln/>
        </p:spPr>
      </p:sp>
      <p:sp>
        <p:nvSpPr>
          <p:cNvPr id="93" name="Text 91"/>
          <p:cNvSpPr txBox="1"/>
          <p:nvPr/>
        </p:nvSpPr>
        <p:spPr>
          <a:xfrm>
            <a:off x="350215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94" name="Text 92"/>
          <p:cNvSpPr txBox="1"/>
          <p:nvPr/>
        </p:nvSpPr>
        <p:spPr>
          <a:xfrm>
            <a:off x="441655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8" name="Shape 96"/>
          <p:cNvSpPr/>
          <p:nvPr/>
        </p:nvSpPr>
        <p:spPr>
          <a:xfrm>
            <a:off x="2871216" y="5235720"/>
            <a:ext cx="113938" cy="136676"/>
          </a:xfrm>
          <a:prstGeom prst="rect">
            <a:avLst/>
          </a:prstGeom>
          <a:solidFill>
            <a:srgbClr val="2587C5"/>
          </a:solidFill>
          <a:ln/>
        </p:spPr>
      </p:sp>
      <p:sp>
        <p:nvSpPr>
          <p:cNvPr id="99" name="Text 97"/>
          <p:cNvSpPr txBox="1"/>
          <p:nvPr/>
        </p:nvSpPr>
        <p:spPr>
          <a:xfrm>
            <a:off x="350215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100" name="Text 98"/>
          <p:cNvSpPr txBox="1"/>
          <p:nvPr/>
        </p:nvSpPr>
        <p:spPr>
          <a:xfrm>
            <a:off x="441655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4" name="Shape 102"/>
          <p:cNvSpPr/>
          <p:nvPr/>
        </p:nvSpPr>
        <p:spPr>
          <a:xfrm>
            <a:off x="2871216" y="5484222"/>
            <a:ext cx="113714" cy="136676"/>
          </a:xfrm>
          <a:prstGeom prst="rect">
            <a:avLst/>
          </a:prstGeom>
          <a:solidFill>
            <a:srgbClr val="2587C5"/>
          </a:solidFill>
          <a:ln/>
        </p:spPr>
      </p:sp>
      <p:sp>
        <p:nvSpPr>
          <p:cNvPr id="105" name="Text 103"/>
          <p:cNvSpPr txBox="1"/>
          <p:nvPr/>
        </p:nvSpPr>
        <p:spPr>
          <a:xfrm>
            <a:off x="350215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106" name="Text 104"/>
          <p:cNvSpPr txBox="1"/>
          <p:nvPr/>
        </p:nvSpPr>
        <p:spPr>
          <a:xfrm>
            <a:off x="441655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2871216" y="5732723"/>
            <a:ext cx="106654" cy="136676"/>
          </a:xfrm>
          <a:prstGeom prst="rect">
            <a:avLst/>
          </a:prstGeom>
          <a:solidFill>
            <a:srgbClr val="2587C5"/>
          </a:solidFill>
          <a:ln/>
        </p:spPr>
      </p:sp>
      <p:sp>
        <p:nvSpPr>
          <p:cNvPr id="111" name="Text 109"/>
          <p:cNvSpPr txBox="1"/>
          <p:nvPr/>
        </p:nvSpPr>
        <p:spPr>
          <a:xfrm>
            <a:off x="350215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112" name="Text 110"/>
          <p:cNvSpPr txBox="1"/>
          <p:nvPr/>
        </p:nvSpPr>
        <p:spPr>
          <a:xfrm>
            <a:off x="441655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6" name="Shape 114"/>
          <p:cNvSpPr/>
          <p:nvPr/>
        </p:nvSpPr>
        <p:spPr>
          <a:xfrm>
            <a:off x="8421624" y="1756697"/>
            <a:ext cx="105692" cy="136676"/>
          </a:xfrm>
          <a:prstGeom prst="rect">
            <a:avLst/>
          </a:prstGeom>
          <a:solidFill>
            <a:srgbClr val="2587C5"/>
          </a:solidFill>
          <a:ln/>
        </p:spPr>
      </p:sp>
      <p:sp>
        <p:nvSpPr>
          <p:cNvPr id="117" name="Text 115"/>
          <p:cNvSpPr txBox="1"/>
          <p:nvPr/>
        </p:nvSpPr>
        <p:spPr>
          <a:xfrm>
            <a:off x="905256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18" name="Text 116"/>
          <p:cNvSpPr txBox="1"/>
          <p:nvPr/>
        </p:nvSpPr>
        <p:spPr>
          <a:xfrm>
            <a:off x="99669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2" name="Shape 120"/>
          <p:cNvSpPr/>
          <p:nvPr/>
        </p:nvSpPr>
        <p:spPr>
          <a:xfrm>
            <a:off x="8421624" y="2005199"/>
            <a:ext cx="99790" cy="136676"/>
          </a:xfrm>
          <a:prstGeom prst="rect">
            <a:avLst/>
          </a:prstGeom>
          <a:solidFill>
            <a:srgbClr val="2587C5"/>
          </a:solidFill>
          <a:ln/>
        </p:spPr>
      </p:sp>
      <p:sp>
        <p:nvSpPr>
          <p:cNvPr id="123" name="Text 121"/>
          <p:cNvSpPr txBox="1"/>
          <p:nvPr/>
        </p:nvSpPr>
        <p:spPr>
          <a:xfrm>
            <a:off x="905256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24" name="Text 122"/>
          <p:cNvSpPr txBox="1"/>
          <p:nvPr/>
        </p:nvSpPr>
        <p:spPr>
          <a:xfrm>
            <a:off x="99669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421624" y="2253700"/>
            <a:ext cx="90596" cy="136676"/>
          </a:xfrm>
          <a:prstGeom prst="rect">
            <a:avLst/>
          </a:prstGeom>
          <a:solidFill>
            <a:srgbClr val="2587C5"/>
          </a:solidFill>
          <a:ln/>
        </p:spPr>
      </p:sp>
      <p:sp>
        <p:nvSpPr>
          <p:cNvPr id="129" name="Text 127"/>
          <p:cNvSpPr txBox="1"/>
          <p:nvPr/>
        </p:nvSpPr>
        <p:spPr>
          <a:xfrm>
            <a:off x="905256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30" name="Text 128"/>
          <p:cNvSpPr txBox="1"/>
          <p:nvPr/>
        </p:nvSpPr>
        <p:spPr>
          <a:xfrm>
            <a:off x="99669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9638" cy="136676"/>
          </a:xfrm>
          <a:prstGeom prst="rect">
            <a:avLst/>
          </a:prstGeom>
          <a:solidFill>
            <a:srgbClr val="2587C5"/>
          </a:solidFill>
          <a:ln/>
        </p:spPr>
      </p:sp>
      <p:sp>
        <p:nvSpPr>
          <p:cNvPr id="135" name="Text 133"/>
          <p:cNvSpPr txBox="1"/>
          <p:nvPr/>
        </p:nvSpPr>
        <p:spPr>
          <a:xfrm>
            <a:off x="905256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36" name="Text 134"/>
          <p:cNvSpPr txBox="1"/>
          <p:nvPr/>
        </p:nvSpPr>
        <p:spPr>
          <a:xfrm>
            <a:off x="99669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0" name="Shape 138"/>
          <p:cNvSpPr/>
          <p:nvPr/>
        </p:nvSpPr>
        <p:spPr>
          <a:xfrm>
            <a:off x="8421624" y="2750703"/>
            <a:ext cx="87103" cy="136676"/>
          </a:xfrm>
          <a:prstGeom prst="rect">
            <a:avLst/>
          </a:prstGeom>
          <a:solidFill>
            <a:srgbClr val="2587C5"/>
          </a:solidFill>
          <a:ln/>
        </p:spPr>
      </p:sp>
      <p:sp>
        <p:nvSpPr>
          <p:cNvPr id="141" name="Text 139"/>
          <p:cNvSpPr txBox="1"/>
          <p:nvPr/>
        </p:nvSpPr>
        <p:spPr>
          <a:xfrm>
            <a:off x="905256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42" name="Text 140"/>
          <p:cNvSpPr txBox="1"/>
          <p:nvPr/>
        </p:nvSpPr>
        <p:spPr>
          <a:xfrm>
            <a:off x="99669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6" name="Shape 144"/>
          <p:cNvSpPr/>
          <p:nvPr/>
        </p:nvSpPr>
        <p:spPr>
          <a:xfrm>
            <a:off x="8421624" y="2999205"/>
            <a:ext cx="84269" cy="136676"/>
          </a:xfrm>
          <a:prstGeom prst="rect">
            <a:avLst/>
          </a:prstGeom>
          <a:solidFill>
            <a:srgbClr val="2587C5"/>
          </a:solidFill>
          <a:ln/>
        </p:spPr>
      </p:sp>
      <p:sp>
        <p:nvSpPr>
          <p:cNvPr id="147" name="Text 145"/>
          <p:cNvSpPr txBox="1"/>
          <p:nvPr/>
        </p:nvSpPr>
        <p:spPr>
          <a:xfrm>
            <a:off x="905256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48" name="Text 146"/>
          <p:cNvSpPr txBox="1"/>
          <p:nvPr/>
        </p:nvSpPr>
        <p:spPr>
          <a:xfrm>
            <a:off x="99669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52" name="Shape 150"/>
          <p:cNvSpPr/>
          <p:nvPr/>
        </p:nvSpPr>
        <p:spPr>
          <a:xfrm>
            <a:off x="8421624" y="3247707"/>
            <a:ext cx="76034" cy="136676"/>
          </a:xfrm>
          <a:prstGeom prst="rect">
            <a:avLst/>
          </a:prstGeom>
          <a:solidFill>
            <a:srgbClr val="2587C5"/>
          </a:solidFill>
          <a:ln/>
        </p:spPr>
      </p:sp>
      <p:sp>
        <p:nvSpPr>
          <p:cNvPr id="153" name="Text 151"/>
          <p:cNvSpPr txBox="1"/>
          <p:nvPr/>
        </p:nvSpPr>
        <p:spPr>
          <a:xfrm>
            <a:off x="905256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54" name="Text 152"/>
          <p:cNvSpPr txBox="1"/>
          <p:nvPr/>
        </p:nvSpPr>
        <p:spPr>
          <a:xfrm>
            <a:off x="99669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8" name="Shape 156"/>
          <p:cNvSpPr/>
          <p:nvPr/>
        </p:nvSpPr>
        <p:spPr>
          <a:xfrm>
            <a:off x="8421624" y="3496208"/>
            <a:ext cx="73768" cy="136676"/>
          </a:xfrm>
          <a:prstGeom prst="rect">
            <a:avLst/>
          </a:prstGeom>
          <a:solidFill>
            <a:srgbClr val="2587C5"/>
          </a:solidFill>
          <a:ln/>
        </p:spPr>
      </p:sp>
      <p:sp>
        <p:nvSpPr>
          <p:cNvPr id="159" name="Text 157"/>
          <p:cNvSpPr txBox="1"/>
          <p:nvPr/>
        </p:nvSpPr>
        <p:spPr>
          <a:xfrm>
            <a:off x="905256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60" name="Text 158"/>
          <p:cNvSpPr txBox="1"/>
          <p:nvPr/>
        </p:nvSpPr>
        <p:spPr>
          <a:xfrm>
            <a:off x="99669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68849" cy="136676"/>
          </a:xfrm>
          <a:prstGeom prst="rect">
            <a:avLst/>
          </a:prstGeom>
          <a:solidFill>
            <a:srgbClr val="2587C5"/>
          </a:solidFill>
          <a:ln/>
        </p:spPr>
      </p:sp>
      <p:sp>
        <p:nvSpPr>
          <p:cNvPr id="165" name="Text 163"/>
          <p:cNvSpPr txBox="1"/>
          <p:nvPr/>
        </p:nvSpPr>
        <p:spPr>
          <a:xfrm>
            <a:off x="905256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66" name="Text 164"/>
          <p:cNvSpPr txBox="1"/>
          <p:nvPr/>
        </p:nvSpPr>
        <p:spPr>
          <a:xfrm>
            <a:off x="99669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421624" y="3993212"/>
            <a:ext cx="59561" cy="136676"/>
          </a:xfrm>
          <a:prstGeom prst="rect">
            <a:avLst/>
          </a:prstGeom>
          <a:solidFill>
            <a:srgbClr val="2587C5"/>
          </a:solidFill>
          <a:ln/>
        </p:spPr>
      </p:sp>
      <p:sp>
        <p:nvSpPr>
          <p:cNvPr id="171" name="Text 169"/>
          <p:cNvSpPr txBox="1"/>
          <p:nvPr/>
        </p:nvSpPr>
        <p:spPr>
          <a:xfrm>
            <a:off x="905256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72" name="Text 170"/>
          <p:cNvSpPr txBox="1"/>
          <p:nvPr/>
        </p:nvSpPr>
        <p:spPr>
          <a:xfrm>
            <a:off x="99669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6" name="Shape 174"/>
          <p:cNvSpPr/>
          <p:nvPr/>
        </p:nvSpPr>
        <p:spPr>
          <a:xfrm>
            <a:off x="8421624" y="4241713"/>
            <a:ext cx="58266" cy="136676"/>
          </a:xfrm>
          <a:prstGeom prst="rect">
            <a:avLst/>
          </a:prstGeom>
          <a:solidFill>
            <a:srgbClr val="2587C5"/>
          </a:solidFill>
          <a:ln/>
        </p:spPr>
      </p:sp>
      <p:sp>
        <p:nvSpPr>
          <p:cNvPr id="177" name="Text 175"/>
          <p:cNvSpPr txBox="1"/>
          <p:nvPr/>
        </p:nvSpPr>
        <p:spPr>
          <a:xfrm>
            <a:off x="905256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78" name="Text 176"/>
          <p:cNvSpPr txBox="1"/>
          <p:nvPr/>
        </p:nvSpPr>
        <p:spPr>
          <a:xfrm>
            <a:off x="99669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2" name="Shape 180"/>
          <p:cNvSpPr/>
          <p:nvPr/>
        </p:nvSpPr>
        <p:spPr>
          <a:xfrm>
            <a:off x="8421624" y="4490215"/>
            <a:ext cx="57879" cy="136676"/>
          </a:xfrm>
          <a:prstGeom prst="rect">
            <a:avLst/>
          </a:prstGeom>
          <a:solidFill>
            <a:srgbClr val="2587C5"/>
          </a:solidFill>
          <a:ln/>
        </p:spPr>
      </p:sp>
      <p:sp>
        <p:nvSpPr>
          <p:cNvPr id="183" name="Text 181"/>
          <p:cNvSpPr txBox="1"/>
          <p:nvPr/>
        </p:nvSpPr>
        <p:spPr>
          <a:xfrm>
            <a:off x="905256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84" name="Text 182"/>
          <p:cNvSpPr txBox="1"/>
          <p:nvPr/>
        </p:nvSpPr>
        <p:spPr>
          <a:xfrm>
            <a:off x="99669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8" name="Shape 186"/>
          <p:cNvSpPr/>
          <p:nvPr/>
        </p:nvSpPr>
        <p:spPr>
          <a:xfrm>
            <a:off x="8421624" y="4738717"/>
            <a:ext cx="56293" cy="136676"/>
          </a:xfrm>
          <a:prstGeom prst="rect">
            <a:avLst/>
          </a:prstGeom>
          <a:solidFill>
            <a:srgbClr val="2587C5"/>
          </a:solidFill>
          <a:ln/>
        </p:spPr>
      </p:sp>
      <p:sp>
        <p:nvSpPr>
          <p:cNvPr id="189" name="Text 187"/>
          <p:cNvSpPr txBox="1"/>
          <p:nvPr/>
        </p:nvSpPr>
        <p:spPr>
          <a:xfrm>
            <a:off x="905256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90" name="Text 188"/>
          <p:cNvSpPr txBox="1"/>
          <p:nvPr/>
        </p:nvSpPr>
        <p:spPr>
          <a:xfrm>
            <a:off x="99669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94" name="Shape 192"/>
          <p:cNvSpPr/>
          <p:nvPr/>
        </p:nvSpPr>
        <p:spPr>
          <a:xfrm>
            <a:off x="8421624" y="4987218"/>
            <a:ext cx="40591" cy="136676"/>
          </a:xfrm>
          <a:prstGeom prst="rect">
            <a:avLst/>
          </a:prstGeom>
          <a:solidFill>
            <a:srgbClr val="2587C5"/>
          </a:solidFill>
          <a:ln/>
        </p:spPr>
      </p:sp>
      <p:sp>
        <p:nvSpPr>
          <p:cNvPr id="195" name="Text 193"/>
          <p:cNvSpPr txBox="1"/>
          <p:nvPr/>
        </p:nvSpPr>
        <p:spPr>
          <a:xfrm>
            <a:off x="905256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96" name="Text 194"/>
          <p:cNvSpPr txBox="1"/>
          <p:nvPr/>
        </p:nvSpPr>
        <p:spPr>
          <a:xfrm>
            <a:off x="99669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00" name="Shape 198"/>
          <p:cNvSpPr/>
          <p:nvPr/>
        </p:nvSpPr>
        <p:spPr>
          <a:xfrm>
            <a:off x="8421624" y="5235720"/>
            <a:ext cx="39145" cy="136676"/>
          </a:xfrm>
          <a:prstGeom prst="rect">
            <a:avLst/>
          </a:prstGeom>
          <a:solidFill>
            <a:srgbClr val="2587C5"/>
          </a:solidFill>
          <a:ln/>
        </p:spPr>
      </p:sp>
      <p:sp>
        <p:nvSpPr>
          <p:cNvPr id="201" name="Text 199"/>
          <p:cNvSpPr txBox="1"/>
          <p:nvPr/>
        </p:nvSpPr>
        <p:spPr>
          <a:xfrm>
            <a:off x="905256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202" name="Text 200"/>
          <p:cNvSpPr txBox="1"/>
          <p:nvPr/>
        </p:nvSpPr>
        <p:spPr>
          <a:xfrm>
            <a:off x="99669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24682" cy="136676"/>
          </a:xfrm>
          <a:prstGeom prst="rect">
            <a:avLst/>
          </a:prstGeom>
          <a:solidFill>
            <a:srgbClr val="2587C5"/>
          </a:solidFill>
          <a:ln/>
        </p:spPr>
      </p:sp>
      <p:sp>
        <p:nvSpPr>
          <p:cNvPr id="207" name="Text 205"/>
          <p:cNvSpPr txBox="1"/>
          <p:nvPr/>
        </p:nvSpPr>
        <p:spPr>
          <a:xfrm>
            <a:off x="905256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208" name="Text 206"/>
          <p:cNvSpPr txBox="1"/>
          <p:nvPr/>
        </p:nvSpPr>
        <p:spPr>
          <a:xfrm>
            <a:off x="99669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Honda Flagstaff, Hyundai Prescott and Toyota Flagstaff what changed. Ask Toyota Spokane, VW St George and Nissan what got in the way. Ask Mazda, Honda North and Honda Spokane what they started this year.</a:t>
            </a:r>
            <a:endParaRPr lang="en-US" sz="15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Shape 16"/>
          <p:cNvSpPr/>
          <p:nvPr/>
        </p:nvSpPr>
        <p:spPr>
          <a:xfrm>
            <a:off x="4084320" y="3650285"/>
            <a:ext cx="64008" cy="682142"/>
          </a:xfrm>
          <a:prstGeom prst="rect">
            <a:avLst/>
          </a:prstGeom>
          <a:solidFill>
            <a:srgbClr val="12A566"/>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21" name="Text 19"/>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Shape 24"/>
          <p:cNvSpPr/>
          <p:nvPr/>
        </p:nvSpPr>
        <p:spPr>
          <a:xfrm>
            <a:off x="4084320" y="5160874"/>
            <a:ext cx="64008" cy="682142"/>
          </a:xfrm>
          <a:prstGeom prst="rect">
            <a:avLst/>
          </a:prstGeom>
          <a:solidFill>
            <a:srgbClr val="12A566"/>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Shape 53"/>
          <p:cNvSpPr/>
          <p:nvPr/>
        </p:nvSpPr>
        <p:spPr>
          <a:xfrm>
            <a:off x="11466576" y="2139696"/>
            <a:ext cx="64008" cy="682142"/>
          </a:xfrm>
          <a:prstGeom prst="rect">
            <a:avLst/>
          </a:prstGeom>
          <a:solidFill>
            <a:srgbClr val="12A566"/>
          </a:solidFill>
          <a:ln/>
        </p:spPr>
      </p:sp>
      <p:sp>
        <p:nvSpPr>
          <p:cNvPr id="56" name="Text 54"/>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8" name="Text 56"/>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9" name="Shape 57"/>
          <p:cNvSpPr/>
          <p:nvPr/>
        </p:nvSpPr>
        <p:spPr>
          <a:xfrm>
            <a:off x="11466576" y="2894990"/>
            <a:ext cx="64008" cy="682142"/>
          </a:xfrm>
          <a:prstGeom prst="rect">
            <a:avLst/>
          </a:prstGeom>
          <a:solidFill>
            <a:srgbClr val="12A566"/>
          </a:solidFill>
          <a:ln/>
        </p:spPr>
      </p:sp>
      <p:sp>
        <p:nvSpPr>
          <p:cNvPr id="60" name="Text 58"/>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62" name="Text 60"/>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63" name="Shape 61"/>
          <p:cNvSpPr/>
          <p:nvPr/>
        </p:nvSpPr>
        <p:spPr>
          <a:xfrm>
            <a:off x="8040624" y="3613709"/>
            <a:ext cx="3489960" cy="755294"/>
          </a:xfrm>
          <a:prstGeom prst="rect">
            <a:avLst/>
          </a:prstGeom>
          <a:solidFill>
            <a:srgbClr val="F7F7F7"/>
          </a:solidFill>
          <a:ln/>
        </p:spPr>
      </p:sp>
      <p:sp>
        <p:nvSpPr>
          <p:cNvPr id="64" name="Text 6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6" name="Text 64"/>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
        <p:nvSpPr>
          <p:cNvPr id="75" name="Shape 73"/>
          <p:cNvSpPr/>
          <p:nvPr/>
        </p:nvSpPr>
        <p:spPr>
          <a:xfrm>
            <a:off x="457200" y="6126480"/>
            <a:ext cx="11274552" cy="554736"/>
          </a:xfrm>
          <a:prstGeom prst="rect">
            <a:avLst/>
          </a:prstGeom>
          <a:solidFill>
            <a:srgbClr val="EDF4FA"/>
          </a:solidFill>
          <a:ln/>
        </p:spPr>
      </p:sp>
      <p:sp>
        <p:nvSpPr>
          <p:cNvPr id="76" name="Text 74"/>
          <p:cNvSpPr txBox="1"/>
          <p:nvPr/>
        </p:nvSpPr>
        <p:spPr>
          <a:xfrm>
            <a:off x="658368" y="6144768"/>
            <a:ext cx="10927080" cy="51816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Ask Toyota Henderson, Toyota Spokane and Toyota Prescott what changed. Ask Mazda, Subaru St George and Honda Spokane what got in the way. Ask Toyota Prescott, Toyota Henderson and VW St George what they started this year.</a:t>
            </a:r>
            <a:endParaRPr lang="en-US" sz="14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Shape 60"/>
          <p:cNvSpPr/>
          <p:nvPr/>
        </p:nvSpPr>
        <p:spPr>
          <a:xfrm>
            <a:off x="11466576" y="3650285"/>
            <a:ext cx="64008" cy="682142"/>
          </a:xfrm>
          <a:prstGeom prst="rect">
            <a:avLst/>
          </a:prstGeom>
          <a:solidFill>
            <a:srgbClr val="12A566"/>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73" name="Shape 71"/>
          <p:cNvSpPr/>
          <p:nvPr/>
        </p:nvSpPr>
        <p:spPr>
          <a:xfrm>
            <a:off x="457200" y="6126480"/>
            <a:ext cx="11274552" cy="569976"/>
          </a:xfrm>
          <a:prstGeom prst="rect">
            <a:avLst/>
          </a:prstGeom>
          <a:solidFill>
            <a:srgbClr val="EDF4FA"/>
          </a:solidFill>
          <a:ln/>
        </p:spPr>
      </p:sp>
      <p:sp>
        <p:nvSpPr>
          <p:cNvPr id="74" name="Text 72"/>
          <p:cNvSpPr txBox="1"/>
          <p:nvPr/>
        </p:nvSpPr>
        <p:spPr>
          <a:xfrm>
            <a:off x="658368" y="6144768"/>
            <a:ext cx="10927080" cy="53340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Hyundai Prescott, Kia LV and Hyundai St George what changed. Ask Kia St George, Mazda and VW St George what got in the way. Ask Subaru St George, CDJR Post Falls and Hyundai Prescott what they started this year.</a:t>
            </a:r>
            <a:endParaRPr lang="en-US" sz="145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TECHNICIAN PROFICIENCY · YOUR BEST TECHS PROVE 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2026-10-26T20:24:03Z</dcterms:created>
  <dcterms:modified xsi:type="dcterms:W3CDTF">2026-10-26T20:24:03Z</dcterms:modified>
</cp:coreProperties>
</file>