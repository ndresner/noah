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58" r:id="rId4"/>
    <p:sldId id="268" r:id="rId19"/>
    <p:sldId id="269" r:id="rId20"/>
    <p:sldId id="270" r:id="rId21"/>
    <p:sldId id="271" r:id="rId22"/>
    <p:sldId id="272" r:id="rId23"/>
    <p:sldId id="273" r:id="rId24"/>
    <p:sldId id="274" r:id="rId25"/>
    <p:sldId id="275" r:id="rId26"/>
    <p:sldId id="276" r:id="rId27"/>
    <p:sldId id="277" r:id="rId28"/>
    <p:sldId id="278" r:id="rId29"/>
    <p:sldId id="279" r:id="rId30"/>
    <p:sldId id="259" r:id="rId5"/>
    <p:sldId id="280" r:id="rId31"/>
    <p:sldId id="281" r:id="rId32"/>
    <p:sldId id="282" r:id="rId33"/>
    <p:sldId id="283" r:id="rId34"/>
    <p:sldId id="284" r:id="rId35"/>
    <p:sldId id="285" r:id="rId36"/>
    <p:sldId id="286" r:id="rId37"/>
    <p:sldId id="287" r:id="rId38"/>
    <p:sldId id="288" r:id="rId39"/>
    <p:sldId id="289" r:id="rId40"/>
    <p:sldId id="290" r:id="rId41"/>
    <p:sldId id="260" r:id="rId6"/>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261" r:id="rId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262" r:id="rId8"/>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263" r:id="rId9"/>
    <p:sldId id="375" r:id="rId126"/>
    <p:sldId id="376" r:id="rId127"/>
    <p:sldId id="377" r:id="rId128"/>
    <p:sldId id="378" r:id="rId129"/>
    <p:sldId id="379" r:id="rId130"/>
    <p:sldId id="380" r:id="rId131"/>
    <p:sldId id="381" r:id="rId132"/>
    <p:sldId id="382" r:id="rId133"/>
    <p:sldId id="383" r:id="rId134"/>
    <p:sldId id="384" r:id="rId135"/>
    <p:sldId id="385" r:id="rId136"/>
    <p:sldId id="264" r:id="rId10"/>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265" r:id="rId11"/>
    <p:sldId id="416" r:id="rId167"/>
    <p:sldId id="417" r:id="rId168"/>
    <p:sldId id="418" r:id="rId169"/>
    <p:sldId id="419" r:id="rId170"/>
    <p:sldId id="420" r:id="rId171"/>
    <p:sldId id="421" r:id="rId172"/>
    <p:sldId id="266" r:id="rId1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c:v>
                </c:pt>
                <c:pt idx="1">
                  <c:v>162</c:v>
                </c:pt>
                <c:pt idx="2">
                  <c:v>162</c:v>
                </c:pt>
                <c:pt idx="3">
                  <c:v>162</c:v>
                </c:pt>
                <c:pt idx="4">
                  <c:v>161</c:v>
                </c:pt>
                <c:pt idx="5">
                  <c:v>162</c:v>
                </c:pt>
                <c:pt idx="6">
                  <c:v>163</c:v>
                </c:pt>
                <c:pt idx="7">
                  <c:v>165</c:v>
                </c:pt>
                <c:pt idx="8">
                  <c:v>164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c:v>
                </c:pt>
                <c:pt idx="1">
                  <c:v>162</c:v>
                </c:pt>
                <c:pt idx="2">
                  <c:v>162</c:v>
                </c:pt>
                <c:pt idx="3">
                  <c:v>162</c:v>
                </c:pt>
                <c:pt idx="4">
                  <c:v>161</c:v>
                </c:pt>
                <c:pt idx="5">
                  <c:v>162</c:v>
                </c:pt>
                <c:pt idx="6">
                  <c:v>163</c:v>
                </c:pt>
                <c:pt idx="7">
                  <c:v>165</c:v>
                </c:pt>
                <c:pt idx="8">
                  <c:v>164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c:v>
                </c:pt>
                <c:pt idx="1">
                  <c:v>159</c:v>
                </c:pt>
                <c:pt idx="2">
                  <c:v>158</c:v>
                </c:pt>
                <c:pt idx="3">
                  <c:v>159</c:v>
                </c:pt>
                <c:pt idx="4">
                  <c:v>158</c:v>
                </c:pt>
                <c:pt idx="5">
                  <c:v>159</c:v>
                </c:pt>
                <c:pt idx="6">
                  <c:v>159</c:v>
                </c:pt>
                <c:pt idx="7">
                  <c:v>160</c:v>
                </c:pt>
                <c:pt idx="8">
                  <c:v>159</c:v>
                </c:pt>
                <c:pt idx="9">
                  <c:v>158</c:v>
                </c:pt>
                <c:pt idx="10">
                  <c:v>161</c:v>
                </c:pt>
                <c:pt idx="11">
                  <c:v>161</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c:v>
                </c:pt>
                <c:pt idx="1">
                  <c:v>159</c:v>
                </c:pt>
                <c:pt idx="2">
                  <c:v>158</c:v>
                </c:pt>
                <c:pt idx="3">
                  <c:v>159</c:v>
                </c:pt>
                <c:pt idx="4">
                  <c:v>158</c:v>
                </c:pt>
                <c:pt idx="5">
                  <c:v>159</c:v>
                </c:pt>
                <c:pt idx="6">
                  <c:v>159</c:v>
                </c:pt>
                <c:pt idx="7">
                  <c:v>160</c:v>
                </c:pt>
                <c:pt idx="8">
                  <c:v>159</c:v>
                </c:pt>
                <c:pt idx="9">
                  <c:v>158</c:v>
                </c:pt>
                <c:pt idx="10">
                  <c:v>161</c:v>
                </c:pt>
                <c:pt idx="11">
                  <c:v>161</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51.8</c:v>
                </c:pt>
                <c:pt idx="4">
                  <c:v>53.6</c:v>
                </c:pt>
                <c:pt idx="5">
                  <c:v>53.4</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52.3</c:v>
                </c:pt>
                <c:pt idx="1">
                  <c:v>51.7</c:v>
                </c:pt>
                <c:pt idx="2">
                  <c:v>53.3</c:v>
                </c:pt>
                <c:pt idx="3">
                  <c:v/>
                </c:pt>
                <c:pt idx="4">
                  <c:v/>
                </c:pt>
                <c:pt idx="5">
                  <c:v>53.4</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51.8</c:v>
                </c:pt>
                <c:pt idx="4">
                  <c:v>53.6</c:v>
                </c:pt>
                <c:pt idx="5">
                  <c:v/>
                </c:pt>
                <c:pt idx="6">
                  <c:v>52.4</c:v>
                </c:pt>
                <c:pt idx="7">
                  <c:v>53.1</c:v>
                </c:pt>
                <c:pt idx="8">
                  <c:v>50.7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52.5</c:v>
                </c:pt>
                <c:pt idx="4">
                  <c:v>53.9</c:v>
                </c:pt>
                <c:pt idx="5">
                  <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
                </c:pt>
                <c:pt idx="4">
                  <c:v/>
                </c:pt>
                <c:pt idx="5">
                  <c:v>53.3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51.3</c:v>
                </c:pt>
                <c:pt idx="1">
                  <c:v>51.4</c:v>
                </c:pt>
                <c:pt idx="2">
                  <c:v>52.8</c:v>
                </c:pt>
                <c:pt idx="3">
                  <c:v>52.5</c:v>
                </c:pt>
                <c:pt idx="4">
                  <c:v>53.9</c:v>
                </c:pt>
                <c:pt idx="5">
                  <c:v>53.3</c:v>
                </c:pt>
                <c:pt idx="6">
                  <c:v>52.8</c:v>
                </c:pt>
                <c:pt idx="7">
                  <c:v>53.4</c:v>
                </c:pt>
                <c:pt idx="8">
                  <c:v>53.4</c:v>
                </c:pt>
                <c:pt idx="9">
                  <c:v>52.6</c:v>
                </c:pt>
                <c:pt idx="10">
                  <c:v>54.1</c:v>
                </c:pt>
                <c:pt idx="11">
                  <c:v>52</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6"/>
          <c:min val="4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126</c:v>
                </c:pt>
                <c:pt idx="1">
                  <c:v>124</c:v>
                </c:pt>
                <c:pt idx="2">
                  <c:v>131</c:v>
                </c:pt>
                <c:pt idx="3">
                  <c:v>131</c:v>
                </c:pt>
                <c:pt idx="4">
                  <c:v>132</c:v>
                </c:pt>
                <c:pt idx="5">
                  <c:v>128</c:v>
                </c:pt>
                <c:pt idx="6">
                  <c:v>133</c:v>
                </c:pt>
                <c:pt idx="7">
                  <c:v>130</c:v>
                </c:pt>
                <c:pt idx="8">
                  <c:v>134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126</c:v>
                </c:pt>
                <c:pt idx="1">
                  <c:v/>
                </c:pt>
                <c:pt idx="2">
                  <c:v>131</c:v>
                </c:pt>
                <c:pt idx="3">
                  <c:v>131</c:v>
                </c:pt>
                <c:pt idx="4">
                  <c:v>132</c:v>
                </c:pt>
                <c:pt idx="5">
                  <c:v/>
                </c:pt>
                <c:pt idx="6">
                  <c:v>133</c:v>
                </c:pt>
                <c:pt idx="7">
                  <c:v>130</c:v>
                </c:pt>
                <c:pt idx="8">
                  <c:v>134</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c:v>
                </c:pt>
                <c:pt idx="2">
                  <c:v/>
                </c:pt>
                <c:pt idx="3">
                  <c:v/>
                </c:pt>
                <c:pt idx="4">
                  <c:v/>
                </c:pt>
                <c:pt idx="5">
                  <c:v>128</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c:v>
                </c:pt>
                <c:pt idx="2">
                  <c:v/>
                </c:pt>
                <c:pt idx="3">
                  <c:v/>
                </c:pt>
                <c:pt idx="4">
                  <c:v/>
                </c:pt>
                <c:pt idx="5">
                  <c:v>129</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124</c:v>
                </c:pt>
                <c:pt idx="1">
                  <c:v/>
                </c:pt>
                <c:pt idx="2">
                  <c:v>125</c:v>
                </c:pt>
                <c:pt idx="3">
                  <c:v>126</c:v>
                </c:pt>
                <c:pt idx="4">
                  <c:v>130</c:v>
                </c:pt>
                <c:pt idx="5">
                  <c:v/>
                </c:pt>
                <c:pt idx="6">
                  <c:v>126</c:v>
                </c:pt>
                <c:pt idx="7">
                  <c:v>126</c:v>
                </c:pt>
                <c:pt idx="8">
                  <c:v>124</c:v>
                </c:pt>
                <c:pt idx="9">
                  <c:v>126</c:v>
                </c:pt>
                <c:pt idx="10">
                  <c:v>126</c:v>
                </c:pt>
                <c:pt idx="11">
                  <c:v>130</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124</c:v>
                </c:pt>
                <c:pt idx="1">
                  <c:v>125</c:v>
                </c:pt>
                <c:pt idx="2">
                  <c:v>125</c:v>
                </c:pt>
                <c:pt idx="3">
                  <c:v>126</c:v>
                </c:pt>
                <c:pt idx="4">
                  <c:v>130</c:v>
                </c:pt>
                <c:pt idx="5">
                  <c:v>129</c:v>
                </c:pt>
                <c:pt idx="6">
                  <c:v>126</c:v>
                </c:pt>
                <c:pt idx="7">
                  <c:v>126</c:v>
                </c:pt>
                <c:pt idx="8">
                  <c:v>124</c:v>
                </c:pt>
                <c:pt idx="9">
                  <c:v>126</c:v>
                </c:pt>
                <c:pt idx="10">
                  <c:v>126</c:v>
                </c:pt>
                <c:pt idx="11">
                  <c:v>130</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c:v>
                </c:pt>
                <c:pt idx="1">
                  <c:v>198</c:v>
                </c:pt>
                <c:pt idx="2">
                  <c:v>197</c:v>
                </c:pt>
                <c:pt idx="3">
                  <c:v>199</c:v>
                </c:pt>
                <c:pt idx="4">
                  <c:v>194</c:v>
                </c:pt>
                <c:pt idx="5">
                  <c:v>194</c:v>
                </c:pt>
                <c:pt idx="6">
                  <c:v>199</c:v>
                </c:pt>
                <c:pt idx="7">
                  <c:v>198</c:v>
                </c:pt>
                <c:pt idx="8">
                  <c:v>199</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196</c:v>
                </c:pt>
                <c:pt idx="1">
                  <c:v>198</c:v>
                </c:pt>
                <c:pt idx="2">
                  <c:v>197</c:v>
                </c:pt>
                <c:pt idx="3">
                  <c:v>199</c:v>
                </c:pt>
                <c:pt idx="4">
                  <c:v>194</c:v>
                </c:pt>
                <c:pt idx="5">
                  <c:v>194</c:v>
                </c:pt>
                <c:pt idx="6">
                  <c:v>199</c:v>
                </c:pt>
                <c:pt idx="7">
                  <c:v>198</c:v>
                </c:pt>
                <c:pt idx="8">
                  <c:v>199</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c:v>
                </c:pt>
                <c:pt idx="1">
                  <c:v>175</c:v>
                </c:pt>
                <c:pt idx="2">
                  <c:v>173</c:v>
                </c:pt>
                <c:pt idx="3">
                  <c:v>176</c:v>
                </c:pt>
                <c:pt idx="4">
                  <c:v>182</c:v>
                </c:pt>
                <c:pt idx="5">
                  <c:v>185</c:v>
                </c:pt>
                <c:pt idx="6">
                  <c:v>187</c:v>
                </c:pt>
                <c:pt idx="7">
                  <c:v>186</c:v>
                </c:pt>
                <c:pt idx="8">
                  <c:v>187</c:v>
                </c:pt>
                <c:pt idx="9">
                  <c:v>188</c:v>
                </c:pt>
                <c:pt idx="10">
                  <c:v>189</c:v>
                </c:pt>
                <c:pt idx="11">
                  <c:v>193</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c:v>
                </c:pt>
                <c:pt idx="1">
                  <c:v>175</c:v>
                </c:pt>
                <c:pt idx="2">
                  <c:v>173</c:v>
                </c:pt>
                <c:pt idx="3">
                  <c:v>176</c:v>
                </c:pt>
                <c:pt idx="4">
                  <c:v>182</c:v>
                </c:pt>
                <c:pt idx="5">
                  <c:v>185</c:v>
                </c:pt>
                <c:pt idx="6">
                  <c:v>187</c:v>
                </c:pt>
                <c:pt idx="7">
                  <c:v>186</c:v>
                </c:pt>
                <c:pt idx="8">
                  <c:v>187</c:v>
                </c:pt>
                <c:pt idx="9">
                  <c:v>188</c:v>
                </c:pt>
                <c:pt idx="10">
                  <c:v>189</c:v>
                </c:pt>
                <c:pt idx="11">
                  <c:v>193</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43.5</c:v>
                </c:pt>
                <c:pt idx="1">
                  <c:v>44.2</c:v>
                </c:pt>
                <c:pt idx="2">
                  <c:v>44</c:v>
                </c:pt>
                <c:pt idx="3">
                  <c:v>44.3</c:v>
                </c:pt>
                <c:pt idx="4">
                  <c:v>44.5</c:v>
                </c:pt>
                <c:pt idx="5">
                  <c:v>44.5</c:v>
                </c:pt>
                <c:pt idx="6">
                  <c:v>46</c:v>
                </c:pt>
                <c:pt idx="7">
                  <c:v>45.1</c:v>
                </c:pt>
                <c:pt idx="8">
                  <c:v>45.6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42.3</c:v>
                </c:pt>
                <c:pt idx="1">
                  <c:v>42.4</c:v>
                </c:pt>
                <c:pt idx="2">
                  <c:v>42.7</c:v>
                </c:pt>
                <c:pt idx="3">
                  <c:v>42.7</c:v>
                </c:pt>
                <c:pt idx="4">
                  <c:v>41.8</c:v>
                </c:pt>
                <c:pt idx="5">
                  <c:v>41.7</c:v>
                </c:pt>
                <c:pt idx="6">
                  <c:v>43.3</c:v>
                </c:pt>
                <c:pt idx="7">
                  <c:v>43.1</c:v>
                </c:pt>
                <c:pt idx="8">
                  <c:v>43.2</c:v>
                </c:pt>
                <c:pt idx="9">
                  <c:v>42.5</c:v>
                </c:pt>
                <c:pt idx="10">
                  <c:v>42.9</c:v>
                </c:pt>
                <c:pt idx="11">
                  <c:v>43.1</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8"/>
          <c:min val="4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15204</c:v>
                </c:pt>
                <c:pt idx="8">
                  <c:v>15075</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14264</c:v>
                </c:pt>
                <c:pt idx="1">
                  <c:v>12746</c:v>
                </c:pt>
                <c:pt idx="2">
                  <c:v>13940</c:v>
                </c:pt>
                <c:pt idx="3">
                  <c:v>13710</c:v>
                </c:pt>
                <c:pt idx="4">
                  <c:v>13121</c:v>
                </c:pt>
                <c:pt idx="5">
                  <c:v>14168</c:v>
                </c:pt>
                <c:pt idx="6">
                  <c:v>14663</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
                </c:pt>
                <c:pt idx="8">
                  <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14622</c:v>
                </c:pt>
                <c:pt idx="8">
                  <c:v>13082</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16565</c:v>
                </c:pt>
                <c:pt idx="1">
                  <c:v>15707</c:v>
                </c:pt>
                <c:pt idx="2">
                  <c:v>15981</c:v>
                </c:pt>
                <c:pt idx="3">
                  <c:v>14990</c:v>
                </c:pt>
                <c:pt idx="4">
                  <c:v>14527</c:v>
                </c:pt>
                <c:pt idx="5">
                  <c:v>14882</c:v>
                </c:pt>
                <c:pt idx="6">
                  <c:v>15408</c:v>
                </c:pt>
                <c:pt idx="7">
                  <c:v>14622</c:v>
                </c:pt>
                <c:pt idx="8">
                  <c:v>13082</c:v>
                </c:pt>
                <c:pt idx="9">
                  <c:v>14227</c:v>
                </c:pt>
                <c:pt idx="10">
                  <c:v>12951</c:v>
                </c:pt>
                <c:pt idx="11">
                  <c:v>14223</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000"/>
          <c:min val="10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ser>
          <c:idx val="1"/>
          <c:order val="1"/>
          <c:tx>
            <c:strRef>
              <c:f>Sheet1!$C$1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4"/>
          <c:min val="17"/>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noFill/>
        <a:ln>
          <a:noFill/>
        </a:ln>
        <a:effectLst/>
      </c:spPr>
    </c:plotArea>
    <c:legend>
      <c:legendPos val="t"/>
      <c:overlay val="0"/>
      <c:txPr>
        <a:bodyPr/>
        <a:lstStyle/>
        <a:p>
          <a:pPr>
            <a:defRPr sz="1400">
              <a:solidFill>
                <a:srgbClr val="1A1A1A"/>
              </a:solidFill>
              <a:latin typeface="+mn-lt"/>
              <a:cs typeface="+mn-lt"/>
            </a:defRPr>
          </a:pPr>
          <a:endParaRPr lang="en-US"/>
        </a:p>
      </c:txPr>
    </c:legend>
    <c:plotVisOnly val="1"/>
    <c:dispBlanksAs val="gap"/>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Gross Trend option A parts table and option B+Q4, Store Records (five designs), Door Rate option A, CP vs Internal GP % option A, Photo completion % (optional measure), Best Techs option C, Who's Moving Now alternate versions,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right after the cover, before the Gross section.</a:t>
            </a:r>
          </a:p>
          <a:p>
            <a:r>
              <a:t>Said: Roundtable slides 2, 5, 7, 6 (objective; philosophy &amp; culture; 'you get what you tolerate'; collaboration). Ask adapted from Roundtable slide 24 closing questions.</a:t>
            </a:r>
          </a:p>
          <a:p>
            <a:r>
              <a:t>Added Oct 22 (Noah): profit-generating activities and incremental dollars; working on the business versus in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Guarantees and bonuses paid off the RO post as unapplied labor, a cost-of-sale adjustment against service gross.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five and bottom four stores by variance.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percent change, Jan-Sep 2026 vs Jan-Sep 2025, so store size does not set the order; dollar change alongside.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a:t>
            </a:r>
          </a:p>
          <a:p>
            <a:r>
              <a:t>P&amp;L definition: line 254 Total Gross Profit - Fixed Ops / line 258 Fixed Expenses (the stored line 257 returns a dollar value, so the slide derives it). GMC Prescott includes its body shop, as on the P&amp;L.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x $162.42 CP ELR (on the Hours per RO data slide).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ELR (and ahead of the door-rate slides).</a:t>
            </a:r>
          </a:p>
          <a:p>
            <a:r>
              <a:t>Roundtable worked example removed from the slide (Noah, Oct 21).</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$264.87 (Diesel/Corvette)</a:t>
            </a:r>
          </a:p>
          <a:p>
            <a:r>
              <a:t>AUDI HENDERSON: premium $399.00 (Lambo Non-Grid)</a:t>
            </a:r>
          </a:p>
          <a:p>
            <a:r>
              <a:t>VW HENDERSON: premium $210.00 (EV)</a:t>
            </a:r>
          </a:p>
          <a:p>
            <a:r>
              <a:t>CHEVY GMC BULLHEAD: premium $199.87 (Non-Standard Grid)</a:t>
            </a:r>
          </a:p>
          <a:p>
            <a:r>
              <a:t>SUBARU ST GEORGE: premium $210.00 (EV)</a:t>
            </a:r>
          </a:p>
          <a:p>
            <a:r>
              <a:t>HONDA FLAGSTAFF: premium $215.00 (EV)</a:t>
            </a:r>
          </a:p>
          <a:p>
            <a:r>
              <a:t>GMC PRESCOTT: premium $230.00 (EV)</a:t>
            </a:r>
          </a:p>
          <a:p>
            <a:r>
              <a:t>KIA ST GEORGE: premium $195.00 (EV)</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$244.12 / door $235.87 = 103.4%</a:t>
            </a:r>
          </a:p>
          <a:p>
            <a:r>
              <a:t>VOLVO: ELR $225.50 / door $249.95 = 90.2%</a:t>
            </a:r>
          </a:p>
          <a:p>
            <a:r>
              <a:t>CHEVY GMC BULLHEAD: ELR $161.80 / door $179.87 = 89.9%</a:t>
            </a:r>
          </a:p>
          <a:p>
            <a:r>
              <a:t>HYUNDAI ST GEORGE: ELR $165.96 / door $184.87 = 89.7%</a:t>
            </a:r>
          </a:p>
          <a:p>
            <a:r>
              <a:t>ACURA: ELR $199.04 / door $224.87 = 88.5%</a:t>
            </a:r>
          </a:p>
          <a:p>
            <a:r>
              <a:t>LR RENO: ELR $238.62 / door $275.00 = 86.7%</a:t>
            </a:r>
          </a:p>
          <a:p>
            <a:r>
              <a:t>HONDA FLAGSTAFF: ELR $159.69 / door $185.00 = 86.3%</a:t>
            </a:r>
          </a:p>
          <a:p>
            <a:r>
              <a:t>HONDA SPOKANE: ELR $147.93 / door $179.00 = 82.6%</a:t>
            </a:r>
          </a:p>
          <a:p>
            <a:r>
              <a:t>LEXUS: ELR $187.42 / door $229.95 = 81.5%</a:t>
            </a:r>
          </a:p>
          <a:p>
            <a:r>
              <a:t>CDJR POST FALLS: ELR $161.93 / door $199.95 = 80.9%</a:t>
            </a:r>
          </a:p>
          <a:p>
            <a:r>
              <a:t>TOYOTA PRESCOTT: ELR $155.78 / door $195.00 = 79.8%</a:t>
            </a:r>
          </a:p>
          <a:p>
            <a:r>
              <a:t>LR HENDERSON: ELR $234.48 / door $294.87 = 79.5%</a:t>
            </a:r>
          </a:p>
          <a:p>
            <a:r>
              <a:t>KIA ST GEORGE: ELR $146.04 / door $185.00 = 78.9%</a:t>
            </a:r>
          </a:p>
          <a:p>
            <a:r>
              <a:t>MAZDA: ELR $165.67 / door $209.87 = 78.9%</a:t>
            </a:r>
          </a:p>
          <a:p>
            <a:r>
              <a:t>VW HENDERSON: ELR $160.84 / door $204.87 = 78.5%</a:t>
            </a:r>
          </a:p>
          <a:p>
            <a:r>
              <a:t>VW ST GEORGE: ELR $141.89 / door $184.87 = 76.7%</a:t>
            </a:r>
          </a:p>
          <a:p>
            <a:r>
              <a:t>AUDI HENDERSON: ELR $266.72 / door $348.87 = 76.4%</a:t>
            </a:r>
          </a:p>
          <a:p>
            <a:r>
              <a:t>LR LV: ELR $233.88 / door $310.00 = 75.4%</a:t>
            </a:r>
          </a:p>
          <a:p>
            <a:r>
              <a:t>SUBARU LV: ELR $162.12 / door $215.37 = 75.2%</a:t>
            </a:r>
          </a:p>
          <a:p>
            <a:r>
              <a:t>NISSAN: ELR $180.14 / door $239.87 = 75.1%</a:t>
            </a:r>
          </a:p>
          <a:p>
            <a:r>
              <a:t>TOYOTA FLAGSTAFF: ELR $142.51 / door $190.00 = 75.0%</a:t>
            </a:r>
          </a:p>
          <a:p>
            <a:r>
              <a:t>SUBARU ST GEORGE: ELR $136.71 / door $185.00 = 73.8%</a:t>
            </a:r>
          </a:p>
          <a:p>
            <a:r>
              <a:t>TOYOTA HENDERSON: ELR $154.55 / door $211.26 = 73.1%</a:t>
            </a:r>
          </a:p>
          <a:p>
            <a:r>
              <a:t>HONDA HENDERSON: ELR $153.45 / door $211.87 = 72.4%</a:t>
            </a:r>
          </a:p>
          <a:p>
            <a:r>
              <a:t>HONDA NORTH: ELR $149.70 / door $211.87 = 70.6%</a:t>
            </a:r>
          </a:p>
          <a:p>
            <a:r>
              <a:t>KIA LV: ELR $150.72 / door $219.87 = 68.5%</a:t>
            </a:r>
          </a:p>
          <a:p>
            <a:r>
              <a:t>LINCOLN: ELR $167.22 / door $244.87 = 68.2%</a:t>
            </a:r>
          </a:p>
          <a:p>
            <a:r>
              <a:t>TOYOTA SPOKANE: ELR $124.92 / door $185.00 = 67.5%</a:t>
            </a:r>
          </a:p>
          <a:p>
            <a:r>
              <a:t>GMC PRESCOTT: ELR $146.92 / door $220.00 = 66.7%</a:t>
            </a:r>
          </a:p>
          <a:p>
            <a:r>
              <a:t>SUBARU PRESCOTT: ELR $139.81 / door $210.00 = 66.5%</a:t>
            </a:r>
          </a:p>
          <a:p>
            <a:r>
              <a:t>CHEVY LV: ELR $146.25 / door $224.87 = 65.0%</a:t>
            </a:r>
          </a:p>
          <a:p>
            <a:r>
              <a:t>HYUNDAI PRESCOTT: ELR $136.12 / door $210.00 = 64.8%</a:t>
            </a:r>
          </a:p>
          <a:p>
            <a:r>
              <a:t>CADILLAC: ELR $175.47 / door $285.00 = 61.5%</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 per RO,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CP Labor Gross Profit %.</a:t>
            </a:r>
          </a:p>
          <a:p>
            <a:r>
              <a:t>Said: Roundtable slide 21 (Gross Profit %). Above 80% can mean techs are underpaid on the work they do; below 78% means the job mix or the dispatch is off.</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Roundtable slide 21, every job at a $25 tech rate; margins differ because each job's ELR differs.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Roundtable target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after the section break and before the pay type slides.</a:t>
            </a:r>
          </a:p>
          <a:p>
            <a:r>
              <a:t>Said: Jan GM slide 8 / May GM slide 7 (Express Service).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Customer-pay labor sale / total labor sale (customer pay + warranty + internal).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Change in Customer Pay Share of Labor Sale,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Share of CP labor sale whose op code description matches neither the maintenance nor the repair rules, Jan-Sep 2026. Lower is better: green at or below the group, red above.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Labor Mix section, before the work-type (maintenance / repair / unclassified)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group gross per service $129.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14.5%, 326 services short a year x $102/service = $33,148</a:t>
            </a:r>
          </a:p>
          <a:p>
            <a:r>
              <a:t>CHEVY LV: 12.8%, 556 services short a year x $136/service = $75,460</a:t>
            </a:r>
          </a:p>
          <a:p>
            <a:r>
              <a:t>TOYOTA SPOKANE: 4.2%, 2,490 services short a year x $90/service = $225,288</a:t>
            </a:r>
          </a:p>
          <a:p>
            <a:r>
              <a:t>TOYOTA FLAGSTAFF: 9.7%, 1,066 services short a year x $84/service = $89,952</a:t>
            </a:r>
          </a:p>
          <a:p>
            <a:r>
              <a:t>SUBARU LV: 14.5%, 83 services short a year x $117/service = $9,769</a:t>
            </a:r>
          </a:p>
          <a:p>
            <a:r>
              <a:t>TOYOTA PRESCOTT: 12.3%, 478 services short a year x $103/service = $49,384</a:t>
            </a:r>
          </a:p>
          <a:p>
            <a:r>
              <a:t>HONDA SPOKANE: 12.5%, 294 services short a year x $124/service = $36,325</a:t>
            </a:r>
          </a:p>
          <a:p>
            <a:r>
              <a:t>KIA LV: 9.7%, 568 services short a year x $135/service = $76,788</a:t>
            </a:r>
          </a:p>
          <a:p>
            <a:r>
              <a:t>NISSAN: 7.4%, 700 services short a year x $119/service = $83,122</a:t>
            </a:r>
          </a:p>
          <a:p>
            <a:r>
              <a:t>CHEVY GMC BULLHEAD: 11.1%, 324 services short a year x $78/service = $25,354</a:t>
            </a:r>
          </a:p>
          <a:p>
            <a:r>
              <a:t>SUBARU ST GEORGE: 11.0%, 291 services short a year x $78/service = $22,634</a:t>
            </a:r>
          </a:p>
          <a:p>
            <a:r>
              <a:t>CDJR POST FALLS: 4.2%, 770 services short a year x $74/service = $57,157</a:t>
            </a:r>
          </a:p>
          <a:p>
            <a:r>
              <a:t>CADILLAC: 13.8%, 79 services short a year x $115/service = $9,131</a:t>
            </a:r>
          </a:p>
          <a:p>
            <a:r>
              <a:t>VW HENDERSON: 13.6%, 96 services short a year x $245/service = $23,446</a:t>
            </a:r>
          </a:p>
          <a:p>
            <a:r>
              <a:t>SUBARU PRESCOTT: 12.5%, 165 services short a year x $73/service = $12,083</a:t>
            </a:r>
          </a:p>
          <a:p>
            <a:r>
              <a:t>LEXUS: 11.3%, 221 services short a year x $147/service = $32,644</a:t>
            </a:r>
          </a:p>
          <a:p>
            <a:r>
              <a:t>HONDA FLAGSTAFF: 11.0%, 210 services short a year x $100/service = $20,944</a:t>
            </a:r>
          </a:p>
          <a:p>
            <a:r>
              <a:t>KIA ST GEORGE: 8.0%, 365 services short a year x $105/service = $38,212</a:t>
            </a:r>
          </a:p>
          <a:p>
            <a:r>
              <a:t>AUDI RENO: 11.8%, 149 services short a year x $230/service = $34,339</a:t>
            </a:r>
          </a:p>
          <a:p>
            <a:r>
              <a:t>VOLVO: 13.8%, 51 services short a year x $142/service = $7,258</a:t>
            </a:r>
          </a:p>
          <a:p>
            <a:r>
              <a:t>HYUNDAI ST GEORGE: 14.8%, 7 services short a year x $121/service = $865</a:t>
            </a:r>
          </a:p>
          <a:p>
            <a:r>
              <a:t>GMC PRESCOTT: 11.7%, 135 services short a year x $85/service = $11,494</a:t>
            </a:r>
          </a:p>
          <a:p>
            <a:r>
              <a:t>LINCOLN: 8.4%, 230 services short a year x $114/service = $26,302</a:t>
            </a:r>
          </a:p>
          <a:p>
            <a:r>
              <a:t>VW ST GEORGE: 5.6%, 240 services short a year x $74/service = $17,767</a:t>
            </a:r>
          </a:p>
          <a:p>
            <a:r>
              <a:t>LR RENO: 12.8%, 40 services short a year x $259/service = $10,409 (capped; raw $715/service)</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group gross per service $75.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11.2%, 2,671 services short a year x $55/service = $147,351</a:t>
            </a:r>
          </a:p>
          <a:p>
            <a:r>
              <a:t>CHEVY LV: 7.3%, 2,001 services short a year x $53/service = $106,293</a:t>
            </a:r>
          </a:p>
          <a:p>
            <a:r>
              <a:t>TOYOTA SPOKANE: 0.4%, 3,361 services short a year x $53/service = $179,701</a:t>
            </a:r>
          </a:p>
          <a:p>
            <a:r>
              <a:t>TOYOTA FLAGSTAFF: 4.9%, 2,031 services short a year x $54/service = $109,054</a:t>
            </a:r>
          </a:p>
          <a:p>
            <a:r>
              <a:t>HONDA NORTH: 12.0%, 600 services short a year x $64/service = $38,266</a:t>
            </a:r>
          </a:p>
          <a:p>
            <a:r>
              <a:t>SUBARU LV: 10.2%, 909 services short a year x $75/service = $67,808</a:t>
            </a:r>
          </a:p>
          <a:p>
            <a:r>
              <a:t>TOYOTA PRESCOTT: 6.1%, 1,590 services short a year x $83/service = $132,315</a:t>
            </a:r>
          </a:p>
          <a:p>
            <a:r>
              <a:t>HONDA SPOKANE: 2.1%, 1,526 services short a year x $52/service = $80,060</a:t>
            </a:r>
          </a:p>
          <a:p>
            <a:r>
              <a:t>KIA LV: 5.2%, 1,059 services short a year x $68/service = $71,767</a:t>
            </a:r>
          </a:p>
          <a:p>
            <a:r>
              <a:t>NISSAN: 1.0%, 1,296 services short a year x $59/service = $76,668</a:t>
            </a:r>
          </a:p>
          <a:p>
            <a:r>
              <a:t>CHEVY GMC BULLHEAD: 9.0%, 496 services short a year x $42/service = $20,863</a:t>
            </a:r>
          </a:p>
          <a:p>
            <a:r>
              <a:t>MAZDA: 13.1%, 138 services short a year x $79/service = $10,870</a:t>
            </a:r>
          </a:p>
          <a:p>
            <a:r>
              <a:t>SUBARU ST GEORGE: 3.6%, 837 services short a year x $149/service = $124,903 (capped; raw $247/service)</a:t>
            </a:r>
          </a:p>
          <a:p>
            <a:r>
              <a:t>CDJR POST FALLS: 1.2%, 981 services short a year x $75/service = $73,291</a:t>
            </a:r>
          </a:p>
          <a:p>
            <a:r>
              <a:t>CADILLAC: 5.9%, 643 services short a year x $22/service = $14,275</a:t>
            </a:r>
          </a:p>
          <a:p>
            <a:r>
              <a:t>VW HENDERSON: 8.2%, 460 services short a year x $60/service = $27,375</a:t>
            </a:r>
          </a:p>
          <a:p>
            <a:r>
              <a:t>SUBARU PRESCOTT: 14.9%, 1 services short a year x $34/service = $34</a:t>
            </a:r>
          </a:p>
          <a:p>
            <a:r>
              <a:t>LEXUS: 0.0%, 909 services short a year x $75/service (group avg) = $67,832</a:t>
            </a:r>
          </a:p>
          <a:p>
            <a:r>
              <a:t>HONDA FLAGSTAFF: 1.3%, 735 services short a year x $70/service = $51,753</a:t>
            </a:r>
          </a:p>
          <a:p>
            <a:r>
              <a:t>KIA ST GEORGE: 7.7%, 380 services short a year x $48/service = $18,369</a:t>
            </a:r>
          </a:p>
          <a:p>
            <a:r>
              <a:t>AUDI HENDERSON: 0.0%, 754 services short a year x $75/service (group avg) = $56,275</a:t>
            </a:r>
          </a:p>
          <a:p>
            <a:r>
              <a:t>ACURA: 14.1%, 44 services short a year x $64/service = $2,765</a:t>
            </a:r>
          </a:p>
          <a:p>
            <a:r>
              <a:t>AUDI RENO: 0.1%, 696 services short a year x $75/service (group avg) = $51,909</a:t>
            </a:r>
          </a:p>
          <a:p>
            <a:r>
              <a:t>VOLVO: 11.7%, 148 services short a year x $51/service = $7,511</a:t>
            </a:r>
          </a:p>
          <a:p>
            <a:r>
              <a:t>HYUNDAI ST GEORGE: 1.2%, 615 services short a year x $58/service = $35,684</a:t>
            </a:r>
          </a:p>
          <a:p>
            <a:r>
              <a:t>GMC PRESCOTT: 7.7%, 300 services short a year x $90/service = $26,856</a:t>
            </a:r>
          </a:p>
          <a:p>
            <a:r>
              <a:t>LINCOLN: 1.6%, 467 services short a year x $66/service = $30,836</a:t>
            </a:r>
          </a:p>
          <a:p>
            <a:r>
              <a:t>HYUNDAI PRESCOTT: 13.5%, 39 services short a year x $149/service = $5,868 (capped; raw $311/service)</a:t>
            </a:r>
          </a:p>
          <a:p>
            <a:r>
              <a:t>VW ST GEORGE: 0.4%, 373 services short a year x $75/service (group avg) = $27,832</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group gross per service $189.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1,093 services short a year x $138/service = $150,836</a:t>
            </a:r>
          </a:p>
          <a:p>
            <a:r>
              <a:t>TOYOTA SPOKANE: 7.0%, 683 services short a year x $117/service = $79,964</a:t>
            </a:r>
          </a:p>
          <a:p>
            <a:r>
              <a:t>TOYOTA FLAGSTAFF: 8.0%, 389 services short a year x $123/service = $47,769</a:t>
            </a:r>
          </a:p>
          <a:p>
            <a:r>
              <a:t>TOYOTA PRESCOTT: 8.4%, 287 services short a year x $112/service = $32,135</a:t>
            </a:r>
          </a:p>
          <a:p>
            <a:r>
              <a:t>KIA LV: 8.2%, 187 services short a year x $120/service = $22,410</a:t>
            </a:r>
          </a:p>
          <a:p>
            <a:r>
              <a:t>CHEVY GMC BULLHEAD: 7.0%, 245 services short a year x $87/service = $21,314</a:t>
            </a:r>
          </a:p>
          <a:p>
            <a:r>
              <a:t>MAZDA: 8.4%, 115 services short a year x $154/service = $17,686</a:t>
            </a:r>
          </a:p>
          <a:p>
            <a:r>
              <a:t>CDJR POST FALLS: 4.2%, 412 services short a year x $128/service = $52,525</a:t>
            </a:r>
          </a:p>
          <a:p>
            <a:r>
              <a:t>CADILLAC: 4.6%, 379 services short a year x $150/service = $56,716</a:t>
            </a:r>
          </a:p>
          <a:p>
            <a:r>
              <a:t>VW HENDERSON: 9.5%, 33 services short a year x $134/service = $4,382</a:t>
            </a:r>
          </a:p>
          <a:p>
            <a:r>
              <a:t>LEXUS: 8.3%, 98 services short a year x $154/service = $15,116</a:t>
            </a:r>
          </a:p>
          <a:p>
            <a:r>
              <a:t>HONDA FLAGSTAFF: 3.1%, 367 services short a year x $184/service = $67,341</a:t>
            </a:r>
          </a:p>
          <a:p>
            <a:r>
              <a:t>KIA ST GEORGE: 5.9%, 211 services short a year x $119/service = $25,037</a:t>
            </a:r>
          </a:p>
          <a:p>
            <a:r>
              <a:t>AUDI HENDERSON: 2.4%, 380 services short a year x $196/service = $74,435</a:t>
            </a:r>
          </a:p>
          <a:p>
            <a:r>
              <a:t>AUDI RENO: 1.9%, 378 services short a year x $206/service = $77,911</a:t>
            </a:r>
          </a:p>
          <a:p>
            <a:r>
              <a:t>HYUNDAI ST GEORGE: 4.7%, 235 services short a year x $134/service = $31,519</a:t>
            </a:r>
          </a:p>
          <a:p>
            <a:r>
              <a:t>GMC PRESCOTT: 6.0%, 162 services short a year x $127/service = $20,618</a:t>
            </a:r>
          </a:p>
          <a:p>
            <a:r>
              <a:t>LINCOLN: 7.5%, 87 services short a year x $126/service = $10,912</a:t>
            </a:r>
          </a:p>
          <a:p>
            <a:r>
              <a:t>HYUNDAI PRESCOTT: 9.6%, 9 services short a year x $354/service = $3,306</a:t>
            </a:r>
          </a:p>
          <a:p>
            <a:r>
              <a:t>VW ST GEORGE: 5.4%, 117 services short a year x $111/service = $13,049</a:t>
            </a:r>
          </a:p>
          <a:p>
            <a:r>
              <a:t>LR RENO: 7.2%, 52 services short a year x $377/service = $19,677 (capped; raw $1,380/service)</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group gross per service $165. Rate = Jan-Sep closing %. Services = services short a year.Near-zero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HENDERSON: 6.0%, 1,056 services short a year x $122/service = $128,570</a:t>
            </a:r>
          </a:p>
          <a:p>
            <a:r>
              <a:t>CHEVY LV: 5.2%, 585 services short a year x $243/service = $142,290</a:t>
            </a:r>
          </a:p>
          <a:p>
            <a:r>
              <a:t>TOYOTA SPOKANE: 5.8%, 387 services short a year x $145/service = $56,085</a:t>
            </a:r>
          </a:p>
          <a:p>
            <a:r>
              <a:t>TOYOTA FLAGSTAFF: 1.6%, 1,173 services short a year x $93/service = $108,879</a:t>
            </a:r>
          </a:p>
          <a:p>
            <a:r>
              <a:t>SUBARU LV: 7.0%, 78 services short a year x $130/service = $10,205</a:t>
            </a:r>
          </a:p>
          <a:p>
            <a:r>
              <a:t>TOYOTA PRESCOTT: 6.4%, 186 services short a year x $101/service = $18,882</a:t>
            </a:r>
          </a:p>
          <a:p>
            <a:r>
              <a:t>HONDA SPOKANE: 3.2%, 509 services short a year x $147/service = $75,071</a:t>
            </a:r>
          </a:p>
          <a:p>
            <a:r>
              <a:t>KIA LV: 3.2%, 464 services short a year x $163/service = $75,595</a:t>
            </a:r>
          </a:p>
          <a:p>
            <a:r>
              <a:t>NISSAN: 4.1%, 308 services short a year x $206/service = $63,573</a:t>
            </a:r>
          </a:p>
          <a:p>
            <a:r>
              <a:t>CHEVY GMC BULLHEAD: 2.7%, 400 services short a year x $163/service = $65,189</a:t>
            </a:r>
          </a:p>
          <a:p>
            <a:r>
              <a:t>MAZDA: 5.2%, 174 services short a year x $150/service = $26,069</a:t>
            </a:r>
          </a:p>
          <a:p>
            <a:r>
              <a:t>CDJR POST FALLS: 3.0%, 321 services short a year x $192/service = $61,758</a:t>
            </a:r>
          </a:p>
          <a:p>
            <a:r>
              <a:t>CADILLAC: 5.1%, 170 services short a year x $269/service = $45,825</a:t>
            </a:r>
          </a:p>
          <a:p>
            <a:r>
              <a:t>VW HENDERSON: 0.0%, 515 services short a year x $165/service (group avg) = $84,636</a:t>
            </a:r>
          </a:p>
          <a:p>
            <a:r>
              <a:t>LEXUS: 4.2%, 195 services short a year x $128/service = $24,920</a:t>
            </a:r>
          </a:p>
          <a:p>
            <a:r>
              <a:t>HONDA FLAGSTAFF: 0.7%, 364 services short a year x $165/service (group avg) = $59,934</a:t>
            </a:r>
          </a:p>
          <a:p>
            <a:r>
              <a:t>AUDI HENDERSON: 0.0%, 378 services short a year x $165/service (group avg) = $62,165</a:t>
            </a:r>
          </a:p>
          <a:p>
            <a:r>
              <a:t>AUDI RENO: 0.8%, 313 services short a year x $165/service (group avg) = $51,429</a:t>
            </a:r>
          </a:p>
          <a:p>
            <a:r>
              <a:t>LR LV: 5.5%, 92 services short a year x $258/service = $23,832</a:t>
            </a:r>
          </a:p>
          <a:p>
            <a:r>
              <a:t>VOLVO: 0.0%, 340 services short a year x $165/service (group avg) = $55,964</a:t>
            </a:r>
          </a:p>
          <a:p>
            <a:r>
              <a:t>HYUNDAI ST GEORGE: 5.8%, 72 services short a year x $176/service = $12,726</a:t>
            </a:r>
          </a:p>
          <a:p>
            <a:r>
              <a:t>GMC PRESCOTT: 3.6%, 160 services short a year x $133/service = $21,222</a:t>
            </a:r>
          </a:p>
          <a:p>
            <a:r>
              <a:t>HYUNDAI PRESCOTT: 7.3%, 4 services short a year x $329/service = $1,206 (capped; raw $459/service)</a:t>
            </a:r>
          </a:p>
          <a:p>
            <a:r>
              <a:t>VW ST GEORGE: 2.7%, 123 services short a year x $236/service = $28,870</a:t>
            </a:r>
          </a:p>
          <a:p>
            <a:r>
              <a:t>LR HENDERSON: 2.5%, 103 services short a year x $329/service = $33,745 (capped; raw $774/service)</a:t>
            </a:r>
          </a:p>
          <a:p>
            <a:r>
              <a:t>LR RENO: 4.5%, 55 services short a year x $329/service = $18,238 (capped; raw $1,631/service)</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Below = how many of the four benchmarks the store is under. Services = services short a year.TOYOTA SPOKANE: $541,039 a year, 6,921 services, under 4 of 4</a:t>
            </a:r>
          </a:p>
          <a:p>
            <a:r>
              <a:t>CHEVY LV: $474,880 a year, 4,236 services, under 4 of 4</a:t>
            </a:r>
          </a:p>
          <a:p>
            <a:r>
              <a:t>TOYOTA FLAGSTAFF: $355,653 a year, 4,659 services, under 4 of 4</a:t>
            </a:r>
          </a:p>
          <a:p>
            <a:r>
              <a:t>TOYOTA HENDERSON: $309,068 a year, 4,054 services, under 3 of 4</a:t>
            </a:r>
          </a:p>
          <a:p>
            <a:r>
              <a:t>KIA LV: $246,559 a year, 2,278 services, under 4 of 4</a:t>
            </a:r>
          </a:p>
          <a:p>
            <a:r>
              <a:t>CDJR POST FALLS: $244,731 a year, 2,484 services, under 4 of 4</a:t>
            </a:r>
          </a:p>
          <a:p>
            <a:r>
              <a:t>TOYOTA PRESCOTT: $232,717 a year, 2,541 services, under 4 of 4</a:t>
            </a:r>
          </a:p>
          <a:p>
            <a:r>
              <a:t>NISSAN: $223,362 a year, 2,304 services, under 3 of 4</a:t>
            </a:r>
          </a:p>
          <a:p>
            <a:r>
              <a:t>AUDI RENO: $215,588 a year, 1,536 services, under 4 of 4</a:t>
            </a:r>
          </a:p>
          <a:p>
            <a:r>
              <a:t>HONDA FLAGSTAFF: $199,972 a year, 1,676 services, under 4 of 4</a:t>
            </a:r>
          </a:p>
          <a:p>
            <a:r>
              <a:t>AUDI HENDERSON: $192,876 a year, 1,512 services, under 3 of 4</a:t>
            </a:r>
          </a:p>
          <a:p>
            <a:r>
              <a:t>HONDA SPOKANE: $191,456 a year, 2,329 services, under 3 of 4</a:t>
            </a:r>
          </a:p>
          <a:p>
            <a:r>
              <a:t>SUBARU ST GEORGE: $147,537 a year, 1,128 services, under 2 of 4</a:t>
            </a:r>
          </a:p>
          <a:p>
            <a:r>
              <a:t>LEXUS: $140,511 a year, 1,424 services, under 4 of 4</a:t>
            </a:r>
          </a:p>
          <a:p>
            <a:r>
              <a:t>VW HENDERSON: $139,840 a year, 1,103 services, under 4 of 4</a:t>
            </a:r>
          </a:p>
          <a:p>
            <a:r>
              <a:t>CHEVY GMC BULLHEAD: $132,721 a year, 1,466 services, under 4 of 4</a:t>
            </a:r>
          </a:p>
          <a:p>
            <a:r>
              <a:t>CADILLAC: $125,947 a year, 1,273 services, under 4 of 4</a:t>
            </a:r>
          </a:p>
          <a:p>
            <a:r>
              <a:t>SUBARU LV: $87,782 a year, 1,070 services, under 3 of 4</a:t>
            </a:r>
          </a:p>
          <a:p>
            <a:r>
              <a:t>VW ST GEORGE: $87,518 a year, 853 services, under 4 of 4</a:t>
            </a:r>
          </a:p>
          <a:p>
            <a:r>
              <a:t>KIA ST GEORGE: $81,619 a year, 956 services, under 3 of 4</a:t>
            </a:r>
          </a:p>
          <a:p>
            <a:r>
              <a:t>HYUNDAI ST GEORGE: $80,793 a year, 929 services, under 4 of 4</a:t>
            </a:r>
          </a:p>
          <a:p>
            <a:r>
              <a:t>GMC PRESCOTT: $80,190 a year, 757 services, under 4 of 4</a:t>
            </a:r>
          </a:p>
          <a:p>
            <a:r>
              <a:t>VOLVO: $70,733 a year, 540 services, under 3 of 4</a:t>
            </a:r>
          </a:p>
          <a:p>
            <a:r>
              <a:t>LINCOLN: $68,050 a year, 784 services, under 3 of 4</a:t>
            </a:r>
          </a:p>
          <a:p>
            <a:r>
              <a:t>MAZDA: $54,625 a year, 426 services, under 3 of 4</a:t>
            </a:r>
          </a:p>
          <a:p>
            <a:r>
              <a:t>LR RENO: $48,324 a year, 148 services, under 3 of 4</a:t>
            </a:r>
          </a:p>
          <a:p>
            <a:r>
              <a:t>HONDA NORTH: $38,266 a year, 600 services, under 1 of 4</a:t>
            </a:r>
          </a:p>
          <a:p>
            <a:r>
              <a:t>LR HENDERSON: $33,745 a year, 103 services, under 1 of 4</a:t>
            </a:r>
          </a:p>
          <a:p>
            <a:r>
              <a:t>LR LV: $23,832 a year, 92 services, under 1 of 4</a:t>
            </a:r>
          </a:p>
          <a:p>
            <a:r>
              <a:t>SUBARU PRESCOTT: $12,118 a year, 166 services, under 2 of 4</a:t>
            </a:r>
          </a:p>
          <a:p>
            <a:r>
              <a:t>HYUNDAI PRESCOTT: $10,380 a year, 52 services, under 3 of 4</a:t>
            </a:r>
          </a:p>
          <a:p>
            <a:r>
              <a:t>ACURA: $2,765 a year, 44 services, under 1 of 4</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YTD RWR Financials 2026 (warranty rate submission vendor), "YTD revenue secured": the added gross profit from approved increases, as more dollars per warranty labor hour sold or more parts markup. 19 stores have an approval this year; the other 14 have not had one yet. Labor $1,661,368, parts $2,126,832. Honda North uses its labor + parts ($463,396), not the vendor's $463,296 total (Noah, Oct 22: take the higher), so the group is $3,788,200 vs the report's $3,788,100.Talk track: these approvals are new money on every warranty claim, and they are why warranty ELR is up. The factory notices a higher rate too: more money in means more scrutiny. Every claim debited in an audit gives part of it back.</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Warranty labor sale / warranty sold hours.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ELR,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Warranty pay type, parts gross / parts sale, by close month; 2025 January-December, 2026 January-September. Same-store, INEOS excluded (opened 2026). GMC Prescott body shop labor types excluded. Pulled Oct 22 2026.Example for the rate-increase story. The link to the approvals is the point we are making, not something the data proves on its own: 17 of the 19 stores with approvals got a parts markup increase (vendor YTD report), and warranty parts margin rose in every month. Mix of parts and campaigns also moves this line.</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Distinct warranty ROs: every RO with a warranty line.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warranty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 per RO: top LINCOLN $281 → $363; LEXUS $193 → $240; HYUNDAI ST GEORGE $181 → $219. Bottom LR RENO $876 → $814; AUDI RENO $596 → $542; KIA LV $227 → $193.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 per RO: top VW ST GEORGE $224 → $298; LR RENO $692 → $877; ACURA $229 → $282. Bottom LR LV $873 → $834; GMC PRESCOTT $299 → $282; HONDA HENDERSON $190 → $178.</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six measures;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2025.</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Card and takeaway are Jan-Sep. 2025 Oct-Dec shown for context: $21.27M, $17.74M, $19.32M; Q4 2025 total $58.33M.</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Record = Jan-Sep 2026 above every prior Jan-Sep for that store. % = combined gain over the previous best Jan-Sep. Stores with shorter histories count the same: HONDA SPOKANE (from 2025), HYUNDAI PRESCOTT (from 2023), LR HENDERSON (from 2022), NISSAN (from 2024). Order: records in all three first, then by % gain.</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Combined service + parts, Jan-Sep 2026 vs the store's best prior Jan-Sep.</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in service, parts or combined gross, Jan-Sep 2026.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Month each record was set, by store:</a:t>
            </a:r>
          </a:p>
          <a:p>
            <a:r>
              <a:t>AUDI HENDERSON: parts record reset once (Jul); combined record reset twice (Apr, Jul).</a:t>
            </a:r>
          </a:p>
          <a:p>
            <a:r>
              <a:t>CDJR POST FALLS: service record reset once (Jul); combined record reset once (Jul).</a:t>
            </a:r>
          </a:p>
          <a:p>
            <a:r>
              <a:t>GMC PRESCOTT: parts record reset once (Apr); combined record reset once (Apr).</a:t>
            </a:r>
          </a:p>
          <a:p>
            <a:r>
              <a:t>HONDA HENDERSON: service record reset 3 times (Mar, Jun, Jul); parts record reset once (Jul); combined record reset 3 times (Mar, Jun, Jul).</a:t>
            </a:r>
          </a:p>
          <a:p>
            <a:r>
              <a:t>HONDA SPOKANE: service record reset 4 times (Mar, Apr, Jun, Jul); parts record reset once (Jul); combined record reset 4 times (Mar, Apr, Jun, Jul).</a:t>
            </a:r>
          </a:p>
          <a:p>
            <a:r>
              <a:t>HYUNDAI PRESCOTT: service record reset twice (Mar, Jul); parts record reset once (Feb); combined record reset 3 times (Feb, Mar, Jul).</a:t>
            </a:r>
          </a:p>
          <a:p>
            <a:r>
              <a:t>HYUNDAI ST GEORGE: service record reset 4 times (Jan, Mar, Jul, Sep).</a:t>
            </a:r>
          </a:p>
          <a:p>
            <a:r>
              <a:t>KIA LV: service record reset once (Sep).</a:t>
            </a:r>
          </a:p>
          <a:p>
            <a:r>
              <a:t>KIA ST GEORGE: service record reset twice (Apr, Jul); parts record reset once (Jul); combined record reset once (Jul).</a:t>
            </a:r>
          </a:p>
          <a:p>
            <a:r>
              <a:t>LEXUS: service record reset twice (Mar, May); parts record reset once (May); combined record reset once (May).</a:t>
            </a:r>
          </a:p>
          <a:p>
            <a:r>
              <a:t>LINCOLN: service record reset twice (Aug, Sep); parts record reset once (Mar); combined record reset 3 times (Mar, Aug, Sep).</a:t>
            </a:r>
          </a:p>
          <a:p>
            <a:r>
              <a:t>LR HENDERSON: service record reset twice (Aug, Sep); parts record reset once (Jul); combined record reset once (Jul).</a:t>
            </a:r>
          </a:p>
          <a:p>
            <a:r>
              <a:t>LR LV: service record reset once (Jul); combined record reset once (Jul).</a:t>
            </a:r>
          </a:p>
          <a:p>
            <a:r>
              <a:t>LR RENO: service record reset once (Aug); combined record reset once (Aug).</a:t>
            </a:r>
          </a:p>
          <a:p>
            <a:r>
              <a:t>MAZDA: service record reset twice (Aug, Sep); parts record reset once (Sep); combined record reset twice (Aug, Sep).</a:t>
            </a:r>
          </a:p>
          <a:p>
            <a:r>
              <a:t>NISSAN: service record reset 3 times (Mar, Jun, Sep); parts record reset twice (Jun, Jul); combined record reset 4 times (Mar, Jun, Jul, Sep).</a:t>
            </a:r>
          </a:p>
          <a:p>
            <a:r>
              <a:t>SUBARU PRESCOTT: combined record reset once (Apr).</a:t>
            </a:r>
          </a:p>
          <a:p>
            <a:r>
              <a:t>SUBARU ST GEORGE: service record reset twice (Jan, Mar); parts record reset 3 times (Mar, Apr, Jun); combined record reset twice (Mar, Jun).</a:t>
            </a:r>
          </a:p>
          <a:p>
            <a:r>
              <a:t>TOYOTA FLAGSTAFF: service record reset 3 times (Mar, Apr, May); combined record reset once (Mar).</a:t>
            </a:r>
          </a:p>
          <a:p>
            <a:r>
              <a:t>TOYOTA HENDERSON: service record reset twice (Apr, Jul); parts record reset 3 times (Jun, Aug, Sep); combined record reset 3 times (Apr, Jun, Jul).</a:t>
            </a:r>
          </a:p>
          <a:p>
            <a:r>
              <a:t>TOYOTA PRESCOTT: service record reset twice (Mar, Apr); parts record reset once (Apr); combined record reset once (Apr).</a:t>
            </a:r>
          </a:p>
          <a:p>
            <a:r>
              <a:t>TOYOTA SPOKANE: service record reset once (Jul); combined record reset once (Jul).</a:t>
            </a:r>
          </a:p>
          <a:p>
            <a:r>
              <a:t>VOLVO: service record reset twice (Apr, Jun).</a:t>
            </a:r>
          </a:p>
          <a:p/>
          <a:p>
            <a:r>
              <a:t>Source: Qlik - Fixed Ops Accounting TB (Family FIXED GROSS, service + parts, body shop excluded), pulled Oct 8 2026. History Jan 2021 - Sep 2026; months before a store opened are ignored. Same-store, INEOS excluded. Matches the P&amp;L for every store except GMC PRESCOTT service (TB higher by $153,746 Jan-Sep 2026, $286,430 Jan-Sep 2025; GMC PRESCOTT's combined record holds on both). Count of times a store set a new all-time monthly high, Jan-Sep 2026. SVC = service gross, PTS = parts gross, TOT = service + parts combined. Each new high counts, so a record beaten twice counts twice.</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(−2.7 pts), red below. 8 stores run internal at or above customer pay: CADILLAC, CHEVY GMC BULLHEAD, GMC PRESCOTT, HYUNDAI PRESCOTT, HYUNDAI ST GEORGE, KIA LV, KIA ST GEORGE and VW ST GEORGE.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at or better than the group gap (−4.2 pts), red below. 5 stores run internal at or above customer pay: CHEVY LV, HONDA HENDERSON, SUBARU PRESCOTT, TOYOTA HENDERSON and VOLVO. A wide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Stores under 85% only. Store = sold / worked hours for counted technicians. Best techs = the store's most proficient quarter of counted technicians (at least one), their sold / worked hours combined. Same population and rules as the proficiency slides.</a:t>
            </a:r>
          </a:p>
          <a:p>
            <a:r>
              <a:t>ACURA: store 67%, best 3 of 11 techs 73%</a:t>
            </a:r>
          </a:p>
          <a:p>
            <a:r>
              <a:t>KIA ST GEORGE: store 67%, best 3 of 12 techs 97%</a:t>
            </a:r>
          </a:p>
          <a:p>
            <a:r>
              <a:t>CHEVY GMC BULLHEAD: store 68%, best 5 of 20 techs 96%</a:t>
            </a:r>
          </a:p>
          <a:p>
            <a:r>
              <a:t>HYUNDAI ST GEORGE: store 69%, best 3 of 11 techs 122%</a:t>
            </a:r>
          </a:p>
          <a:p>
            <a:r>
              <a:t>VW ST GEORGE: store 70%, best 1 of 5 techs 76%</a:t>
            </a:r>
          </a:p>
          <a:p>
            <a:r>
              <a:t>CDJR POST FALLS: store 71%, best 4 of 14 techs 128%</a:t>
            </a:r>
          </a:p>
          <a:p>
            <a:r>
              <a:t>VOLVO: store 72%, best 2 of 9 techs 88%</a:t>
            </a:r>
          </a:p>
          <a:p>
            <a:r>
              <a:t>GMC PRESCOTT: store 73%, best 3 of 12 techs 103%</a:t>
            </a:r>
          </a:p>
          <a:p>
            <a:r>
              <a:t>KIA LV: store 76%, best 5 of 20 techs 100%</a:t>
            </a:r>
          </a:p>
          <a:p>
            <a:r>
              <a:t>HONDA FLAGSTAFF: store 78%, best 2 of 6 techs 130%</a:t>
            </a:r>
          </a:p>
          <a:p>
            <a:r>
              <a:t>HYUNDAI PRESCOTT: store 78%, best 2 of 9 techs 112%</a:t>
            </a:r>
          </a:p>
          <a:p>
            <a:r>
              <a:t>LR RENO: store 81%, best 2 of 6 techs 96%</a:t>
            </a:r>
          </a:p>
          <a:p>
            <a:r>
              <a:t>TOYOTA PRESCOTT: store 83%, best 6 of 22 techs 117%</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xml"/><Relationship Id="rId3" Type="http://schemas.openxmlformats.org/officeDocument/2006/relationships/chart" Target="../charts/chart12.xml"/><Relationship Id="rId4" Type="http://schemas.openxmlformats.org/officeDocument/2006/relationships/chart" Target="../charts/chart13.xml"/><Relationship Id="rId5" Type="http://schemas.openxmlformats.org/officeDocument/2006/relationships/chart" Target="../charts/chart14.xml"/><Relationship Id="rId6" Type="http://schemas.openxmlformats.org/officeDocument/2006/relationships/chart" Target="../charts/chart15.xml"/><Relationship Id="rId7" Type="http://schemas.openxmlformats.org/officeDocument/2006/relationships/chart" Target="../charts/chart16.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xml"/><Relationship Id="rId3" Type="http://schemas.openxmlformats.org/officeDocument/2006/relationships/chart" Target="../charts/chart18.xml"/><Relationship Id="rId4" Type="http://schemas.openxmlformats.org/officeDocument/2006/relationships/chart" Target="../charts/chart19.xml"/><Relationship Id="rId5" Type="http://schemas.openxmlformats.org/officeDocument/2006/relationships/chart" Target="../charts/chart20.xml"/><Relationship Id="rId6" Type="http://schemas.openxmlformats.org/officeDocument/2006/relationships/chart" Target="../charts/chart21.xml"/><Relationship Id="rId7" Type="http://schemas.openxmlformats.org/officeDocument/2006/relationships/chart" Target="../charts/chart22.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xml"/><Relationship Id="rId3" Type="http://schemas.openxmlformats.org/officeDocument/2006/relationships/chart" Target="../charts/chart24.xml"/><Relationship Id="rId4" Type="http://schemas.openxmlformats.org/officeDocument/2006/relationships/chart" Target="../charts/chart25.xml"/><Relationship Id="rId5" Type="http://schemas.openxmlformats.org/officeDocument/2006/relationships/chart" Target="../charts/chart26.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7.xml"/><Relationship Id="rId3" Type="http://schemas.openxmlformats.org/officeDocument/2006/relationships/chart" Target="../charts/chart28.xml"/><Relationship Id="rId4" Type="http://schemas.openxmlformats.org/officeDocument/2006/relationships/chart" Target="../charts/chart29.xml"/><Relationship Id="rId5" Type="http://schemas.openxmlformats.org/officeDocument/2006/relationships/chart" Target="../charts/chart30.xml"/><Relationship Id="rId6" Type="http://schemas.openxmlformats.org/officeDocument/2006/relationships/chart" Target="../charts/chart31.xml"/><Relationship Id="rId7" Type="http://schemas.openxmlformats.org/officeDocument/2006/relationships/chart" Target="../charts/chart32.xml"/><Relationship Id="rId8"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3.xml"/><Relationship Id="rId3" Type="http://schemas.openxmlformats.org/officeDocument/2006/relationships/chart" Target="../charts/chart34.xml"/><Relationship Id="rId4" Type="http://schemas.openxmlformats.org/officeDocument/2006/relationships/chart" Target="../charts/chart35.xml"/><Relationship Id="rId5" Type="http://schemas.openxmlformats.org/officeDocument/2006/relationships/chart" Target="../charts/chart36.xml"/><Relationship Id="rId6" Type="http://schemas.openxmlformats.org/officeDocument/2006/relationships/chart" Target="../charts/chart37.xml"/><Relationship Id="rId7" Type="http://schemas.openxmlformats.org/officeDocument/2006/relationships/chart" Target="../charts/chart38.xml"/><Relationship Id="rId8"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9.xml"/><Relationship Id="rId3" Type="http://schemas.openxmlformats.org/officeDocument/2006/relationships/chart" Target="../charts/chart40.xml"/><Relationship Id="rId4" Type="http://schemas.openxmlformats.org/officeDocument/2006/relationships/chart" Target="../charts/chart41.xml"/><Relationship Id="rId5" Type="http://schemas.openxmlformats.org/officeDocument/2006/relationships/chart" Target="../charts/chart42.xml"/><Relationship Id="rId6" Type="http://schemas.openxmlformats.org/officeDocument/2006/relationships/chart" Target="../charts/chart43.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4.xml"/><Relationship Id="rId3" Type="http://schemas.openxmlformats.org/officeDocument/2006/relationships/chart" Target="../charts/chart45.xml"/><Relationship Id="rId4" Type="http://schemas.openxmlformats.org/officeDocument/2006/relationships/chart" Target="../charts/chart46.xml"/><Relationship Id="rId5" Type="http://schemas.openxmlformats.org/officeDocument/2006/relationships/chart" Target="../charts/chart47.xml"/><Relationship Id="rId6" Type="http://schemas.openxmlformats.org/officeDocument/2006/relationships/chart" Target="../charts/chart48.xml"/><Relationship Id="rId7" Type="http://schemas.openxmlformats.org/officeDocument/2006/relationships/chart" Target="../charts/chart49.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0.xml"/><Relationship Id="rId3" Type="http://schemas.openxmlformats.org/officeDocument/2006/relationships/chart" Target="../charts/chart51.xml"/><Relationship Id="rId4" Type="http://schemas.openxmlformats.org/officeDocument/2006/relationships/chart" Target="../charts/chart52.xml"/><Relationship Id="rId5" Type="http://schemas.openxmlformats.org/officeDocument/2006/relationships/chart" Target="../charts/chart53.xml"/><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4.xml"/><Relationship Id="rId3" Type="http://schemas.openxmlformats.org/officeDocument/2006/relationships/chart" Target="../charts/chart55.xml"/><Relationship Id="rId4" Type="http://schemas.openxmlformats.org/officeDocument/2006/relationships/chart" Target="../charts/chart56.xml"/><Relationship Id="rId5" Type="http://schemas.openxmlformats.org/officeDocument/2006/relationships/chart" Target="../charts/chart57.xml"/><Relationship Id="rId6" Type="http://schemas.openxmlformats.org/officeDocument/2006/relationships/chart" Target="../charts/chart58.xml"/><Relationship Id="rId7"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9.xml"/><Relationship Id="rId3" Type="http://schemas.openxmlformats.org/officeDocument/2006/relationships/chart" Target="../charts/chart60.xml"/><Relationship Id="rId4" Type="http://schemas.openxmlformats.org/officeDocument/2006/relationships/chart" Target="../charts/chart61.xml"/><Relationship Id="rId5" Type="http://schemas.openxmlformats.org/officeDocument/2006/relationships/chart" Target="../charts/chart62.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2.xml"/><Relationship Id="rId3" Type="http://schemas.openxmlformats.org/officeDocument/2006/relationships/chart" Target="../charts/chart73.xml"/><Relationship Id="rId4" Type="http://schemas.openxmlformats.org/officeDocument/2006/relationships/chart" Target="../charts/chart74.xml"/><Relationship Id="rId5" Type="http://schemas.openxmlformats.org/officeDocument/2006/relationships/chart" Target="../charts/chart75.xml"/><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1.xml"/><Relationship Id="rId3" Type="http://schemas.openxmlformats.org/officeDocument/2006/relationships/chart" Target="../charts/chart92.xml"/><Relationship Id="rId4" Type="http://schemas.openxmlformats.org/officeDocument/2006/relationships/chart" Target="../charts/chart93.xml"/><Relationship Id="rId5" Type="http://schemas.openxmlformats.org/officeDocument/2006/relationships/chart" Target="../charts/chart94.xml"/><Relationship Id="rId6" Type="http://schemas.openxmlformats.org/officeDocument/2006/relationships/chart" Target="../charts/chart95.xml"/><Relationship Id="rId7"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6.xml"/><Relationship Id="rId3" Type="http://schemas.openxmlformats.org/officeDocument/2006/relationships/chart" Target="../charts/chart97.xml"/><Relationship Id="rId4" Type="http://schemas.openxmlformats.org/officeDocument/2006/relationships/chart" Target="../charts/chart98.xml"/><Relationship Id="rId5" Type="http://schemas.openxmlformats.org/officeDocument/2006/relationships/chart" Target="../charts/chart99.xml"/><Relationship Id="rId6" Type="http://schemas.openxmlformats.org/officeDocument/2006/relationships/chart" Target="../charts/chart100.xml"/><Relationship Id="rId7"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1.xml"/><Relationship Id="rId3" Type="http://schemas.openxmlformats.org/officeDocument/2006/relationships/chart" Target="../charts/chart102.xml"/><Relationship Id="rId4" Type="http://schemas.openxmlformats.org/officeDocument/2006/relationships/chart" Target="../charts/chart103.xml"/><Relationship Id="rId5" Type="http://schemas.openxmlformats.org/officeDocument/2006/relationships/chart" Target="../charts/chart104.xml"/><Relationship Id="rId6" Type="http://schemas.openxmlformats.org/officeDocument/2006/relationships/chart" Target="../charts/chart105.xml"/><Relationship Id="rId7" Type="http://schemas.openxmlformats.org/officeDocument/2006/relationships/chart" Target="../charts/chart106.xml"/><Relationship Id="rId8"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7.xml"/><Relationship Id="rId3" Type="http://schemas.openxmlformats.org/officeDocument/2006/relationships/chart" Target="../charts/chart108.xml"/><Relationship Id="rId4" Type="http://schemas.openxmlformats.org/officeDocument/2006/relationships/chart" Target="../charts/chart109.xml"/><Relationship Id="rId5" Type="http://schemas.openxmlformats.org/officeDocument/2006/relationships/chart" Target="../charts/chart110.xml"/><Relationship Id="rId6" Type="http://schemas.openxmlformats.org/officeDocument/2006/relationships/chart" Target="../charts/chart111.xml"/><Relationship Id="rId7" Type="http://schemas.openxmlformats.org/officeDocument/2006/relationships/chart" Target="../charts/chart112.xml"/><Relationship Id="rId8"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3.xml"/><Relationship Id="rId3" Type="http://schemas.openxmlformats.org/officeDocument/2006/relationships/chart" Target="../charts/chart114.xml"/><Relationship Id="rId4" Type="http://schemas.openxmlformats.org/officeDocument/2006/relationships/chart" Target="../charts/chart115.xml"/><Relationship Id="rId5" Type="http://schemas.openxmlformats.org/officeDocument/2006/relationships/chart" Target="../charts/chart116.xml"/><Relationship Id="rId6" Type="http://schemas.openxmlformats.org/officeDocument/2006/relationships/chart" Target="../charts/chart117.xml"/><Relationship Id="rId7" Type="http://schemas.openxmlformats.org/officeDocument/2006/relationships/chart" Target="../charts/chart118.xml"/><Relationship Id="rId8"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9.xml"/><Relationship Id="rId3" Type="http://schemas.openxmlformats.org/officeDocument/2006/relationships/chart" Target="../charts/chart120.xml"/><Relationship Id="rId4" Type="http://schemas.openxmlformats.org/officeDocument/2006/relationships/chart" Target="../charts/chart121.xml"/><Relationship Id="rId5" Type="http://schemas.openxmlformats.org/officeDocument/2006/relationships/chart" Target="../charts/chart122.xml"/><Relationship Id="rId6" Type="http://schemas.openxmlformats.org/officeDocument/2006/relationships/chart" Target="../charts/chart123.xml"/><Relationship Id="rId7" Type="http://schemas.openxmlformats.org/officeDocument/2006/relationships/chart" Target="../charts/chart124.xml"/><Relationship Id="rId8"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5.xml"/><Relationship Id="rId3" Type="http://schemas.openxmlformats.org/officeDocument/2006/relationships/chart" Target="../charts/chart126.xml"/><Relationship Id="rId4" Type="http://schemas.openxmlformats.org/officeDocument/2006/relationships/chart" Target="../charts/chart127.xml"/><Relationship Id="rId5" Type="http://schemas.openxmlformats.org/officeDocument/2006/relationships/chart" Target="../charts/chart128.xml"/><Relationship Id="rId6"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9.xml"/><Relationship Id="rId3" Type="http://schemas.openxmlformats.org/officeDocument/2006/relationships/chart" Target="../charts/chart130.xml"/><Relationship Id="rId4" Type="http://schemas.openxmlformats.org/officeDocument/2006/relationships/chart" Target="../charts/chart131.xml"/><Relationship Id="rId5" Type="http://schemas.openxmlformats.org/officeDocument/2006/relationships/chart" Target="../charts/chart132.xml"/><Relationship Id="rId6" Type="http://schemas.openxmlformats.org/officeDocument/2006/relationships/chart" Target="../charts/chart133.xml"/><Relationship Id="rId7"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4.xml"/><Relationship Id="rId3" Type="http://schemas.openxmlformats.org/officeDocument/2006/relationships/chart" Target="../charts/chart135.xml"/><Relationship Id="rId4" Type="http://schemas.openxmlformats.org/officeDocument/2006/relationships/chart" Target="../charts/chart136.xml"/><Relationship Id="rId5" Type="http://schemas.openxmlformats.org/officeDocument/2006/relationships/chart" Target="../charts/chart137.xml"/><Relationship Id="rId6"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8.xml"/><Relationship Id="rId3" Type="http://schemas.openxmlformats.org/officeDocument/2006/relationships/chart" Target="../charts/chart139.xml"/><Relationship Id="rId4" Type="http://schemas.openxmlformats.org/officeDocument/2006/relationships/chart" Target="../charts/chart140.xml"/><Relationship Id="rId5" Type="http://schemas.openxmlformats.org/officeDocument/2006/relationships/chart" Target="../charts/chart141.xml"/><Relationship Id="rId6" Type="http://schemas.openxmlformats.org/officeDocument/2006/relationships/chart" Target="../charts/chart142.xml"/><Relationship Id="rId7"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3.xml"/><Relationship Id="rId3" Type="http://schemas.openxmlformats.org/officeDocument/2006/relationships/chart" Target="../charts/chart144.xml"/><Relationship Id="rId4" Type="http://schemas.openxmlformats.org/officeDocument/2006/relationships/chart" Target="../charts/chart145.xml"/><Relationship Id="rId5" Type="http://schemas.openxmlformats.org/officeDocument/2006/relationships/chart" Target="../charts/chart146.xml"/><Relationship Id="rId6"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2.xml"/><Relationship Id="rId3" Type="http://schemas.openxmlformats.org/officeDocument/2006/relationships/chart" Target="../charts/chart153.xml"/><Relationship Id="rId4" Type="http://schemas.openxmlformats.org/officeDocument/2006/relationships/chart" Target="../charts/chart154.xml"/><Relationship Id="rId5" Type="http://schemas.openxmlformats.org/officeDocument/2006/relationships/chart" Target="../charts/chart155.xml"/><Relationship Id="rId6"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6.xml"/><Relationship Id="rId3" Type="http://schemas.openxmlformats.org/officeDocument/2006/relationships/chart" Target="../charts/chart157.xml"/><Relationship Id="rId4" Type="http://schemas.openxmlformats.org/officeDocument/2006/relationships/chart" Target="../charts/chart158.xml"/><Relationship Id="rId5" Type="http://schemas.openxmlformats.org/officeDocument/2006/relationships/chart" Target="../charts/chart159.xml"/><Relationship Id="rId6" Type="http://schemas.openxmlformats.org/officeDocument/2006/relationships/chart" Target="../charts/chart160.xml"/><Relationship Id="rId7"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1.xml"/><Relationship Id="rId3" Type="http://schemas.openxmlformats.org/officeDocument/2006/relationships/chart" Target="../charts/chart162.xml"/><Relationship Id="rId4" Type="http://schemas.openxmlformats.org/officeDocument/2006/relationships/chart" Target="../charts/chart163.xml"/><Relationship Id="rId5" Type="http://schemas.openxmlformats.org/officeDocument/2006/relationships/chart" Target="../charts/chart164.xml"/><Relationship Id="rId6"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5.xml"/><Relationship Id="rId3" Type="http://schemas.openxmlformats.org/officeDocument/2006/relationships/chart" Target="../charts/chart166.xml"/><Relationship Id="rId4" Type="http://schemas.openxmlformats.org/officeDocument/2006/relationships/chart" Target="../charts/chart167.xml"/><Relationship Id="rId5" Type="http://schemas.openxmlformats.org/officeDocument/2006/relationships/chart" Target="../charts/chart168.xml"/><Relationship Id="rId6"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5.xml"/><Relationship Id="rId3" Type="http://schemas.openxmlformats.org/officeDocument/2006/relationships/chart" Target="../charts/chart176.xml"/><Relationship Id="rId4" Type="http://schemas.openxmlformats.org/officeDocument/2006/relationships/chart" Target="../charts/chart177.xml"/><Relationship Id="rId5" Type="http://schemas.openxmlformats.org/officeDocument/2006/relationships/chart" Target="../charts/chart178.xml"/><Relationship Id="rId6"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5.xml"/><Relationship Id="rId3" Type="http://schemas.openxmlformats.org/officeDocument/2006/relationships/chart" Target="../charts/chart186.xml"/><Relationship Id="rId4" Type="http://schemas.openxmlformats.org/officeDocument/2006/relationships/chart" Target="../charts/chart187.xml"/><Relationship Id="rId5" Type="http://schemas.openxmlformats.org/officeDocument/2006/relationships/chart" Target="../charts/chart188.xml"/><Relationship Id="rId6" Type="http://schemas.openxmlformats.org/officeDocument/2006/relationships/chart" Target="../charts/chart189.xml"/><Relationship Id="rId7" Type="http://schemas.openxmlformats.org/officeDocument/2006/relationships/chart" Target="../charts/chart190.xml"/><Relationship Id="rId8"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1.xml"/><Relationship Id="rId3" Type="http://schemas.openxmlformats.org/officeDocument/2006/relationships/chart" Target="../charts/chart192.xml"/><Relationship Id="rId4" Type="http://schemas.openxmlformats.org/officeDocument/2006/relationships/chart" Target="../charts/chart193.xml"/><Relationship Id="rId5" Type="http://schemas.openxmlformats.org/officeDocument/2006/relationships/chart" Target="../charts/chart194.xml"/><Relationship Id="rId6" Type="http://schemas.openxmlformats.org/officeDocument/2006/relationships/chart" Target="../charts/chart195.xml"/><Relationship Id="rId7" Type="http://schemas.openxmlformats.org/officeDocument/2006/relationships/chart" Target="../charts/chart196.xml"/><Relationship Id="rId8"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7.xml"/><Relationship Id="rId3" Type="http://schemas.openxmlformats.org/officeDocument/2006/relationships/chart" Target="../charts/chart198.xml"/><Relationship Id="rId4" Type="http://schemas.openxmlformats.org/officeDocument/2006/relationships/chart" Target="../charts/chart199.xml"/><Relationship Id="rId5" Type="http://schemas.openxmlformats.org/officeDocument/2006/relationships/chart" Target="../charts/chart200.xml"/><Relationship Id="rId6"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1.xml"/><Relationship Id="rId3"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2.xml"/><Relationship Id="rId3" Type="http://schemas.openxmlformats.org/officeDocument/2006/relationships/chart" Target="../charts/chart203.xml"/><Relationship Id="rId4" Type="http://schemas.openxmlformats.org/officeDocument/2006/relationships/chart" Target="../charts/chart204.xml"/><Relationship Id="rId5" Type="http://schemas.openxmlformats.org/officeDocument/2006/relationships/chart" Target="../charts/chart205.xml"/><Relationship Id="rId6" Type="http://schemas.openxmlformats.org/officeDocument/2006/relationships/chart" Target="../charts/chart206.xml"/><Relationship Id="rId7" Type="http://schemas.openxmlformats.org/officeDocument/2006/relationships/chart" Target="../charts/chart207.xml"/><Relationship Id="rId8" Type="http://schemas.openxmlformats.org/officeDocument/2006/relationships/chart" Target="../charts/chart208.xml"/><Relationship Id="rId9" Type="http://schemas.openxmlformats.org/officeDocument/2006/relationships/chart" Target="../charts/chart209.xml"/><Relationship Id="rId10" Type="http://schemas.openxmlformats.org/officeDocument/2006/relationships/chart" Target="../charts/chart210.xml"/><Relationship Id="rId11" Type="http://schemas.openxmlformats.org/officeDocument/2006/relationships/chart" Target="../charts/chart211.xml"/><Relationship Id="rId1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2.xml"/><Relationship Id="rId3" Type="http://schemas.openxmlformats.org/officeDocument/2006/relationships/chart" Target="../charts/chart213.xml"/><Relationship Id="rId4" Type="http://schemas.openxmlformats.org/officeDocument/2006/relationships/chart" Target="../charts/chart214.xml"/><Relationship Id="rId5" Type="http://schemas.openxmlformats.org/officeDocument/2006/relationships/chart" Target="../charts/chart215.xml"/><Relationship Id="rId6" Type="http://schemas.openxmlformats.org/officeDocument/2006/relationships/chart" Target="../charts/chart216.xml"/><Relationship Id="rId7" Type="http://schemas.openxmlformats.org/officeDocument/2006/relationships/chart" Target="../charts/chart217.xml"/><Relationship Id="rId8" Type="http://schemas.openxmlformats.org/officeDocument/2006/relationships/chart" Target="../charts/chart218.xml"/><Relationship Id="rId9" Type="http://schemas.openxmlformats.org/officeDocument/2006/relationships/chart" Target="../charts/chart219.xml"/><Relationship Id="rId10" Type="http://schemas.openxmlformats.org/officeDocument/2006/relationships/chart" Target="../charts/chart220.xml"/><Relationship Id="rId11" Type="http://schemas.openxmlformats.org/officeDocument/2006/relationships/chart" Target="../charts/chart221.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2.xml"/><Relationship Id="rId3" Type="http://schemas.openxmlformats.org/officeDocument/2006/relationships/chart" Target="../charts/chart223.xml"/><Relationship Id="rId4" Type="http://schemas.openxmlformats.org/officeDocument/2006/relationships/chart" Target="../charts/chart224.xml"/><Relationship Id="rId5" Type="http://schemas.openxmlformats.org/officeDocument/2006/relationships/chart" Target="../charts/chart225.xml"/><Relationship Id="rId6" Type="http://schemas.openxmlformats.org/officeDocument/2006/relationships/chart" Target="../charts/chart226.xml"/><Relationship Id="rId7" Type="http://schemas.openxmlformats.org/officeDocument/2006/relationships/chart" Target="../charts/chart227.xml"/><Relationship Id="rId8" Type="http://schemas.openxmlformats.org/officeDocument/2006/relationships/chart" Target="../charts/chart228.xml"/><Relationship Id="rId9" Type="http://schemas.openxmlformats.org/officeDocument/2006/relationships/chart" Target="../charts/chart229.xml"/><Relationship Id="rId10" Type="http://schemas.openxmlformats.org/officeDocument/2006/relationships/chart" Target="../charts/chart230.xml"/><Relationship Id="rId11" Type="http://schemas.openxmlformats.org/officeDocument/2006/relationships/chart" Target="../charts/chart231.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2.xml"/><Relationship Id="rId3" Type="http://schemas.openxmlformats.org/officeDocument/2006/relationships/chart" Target="../charts/chart233.xml"/><Relationship Id="rId4" Type="http://schemas.openxmlformats.org/officeDocument/2006/relationships/chart" Target="../charts/chart234.xml"/><Relationship Id="rId5" Type="http://schemas.openxmlformats.org/officeDocument/2006/relationships/chart" Target="../charts/chart235.xml"/><Relationship Id="rId6" Type="http://schemas.openxmlformats.org/officeDocument/2006/relationships/chart" Target="../charts/chart236.xml"/><Relationship Id="rId7" Type="http://schemas.openxmlformats.org/officeDocument/2006/relationships/chart" Target="../charts/chart237.xml"/><Relationship Id="rId8" Type="http://schemas.openxmlformats.org/officeDocument/2006/relationships/chart" Target="../charts/chart238.xml"/><Relationship Id="rId9" Type="http://schemas.openxmlformats.org/officeDocument/2006/relationships/chart" Target="../charts/chart239.xml"/><Relationship Id="rId10" Type="http://schemas.openxmlformats.org/officeDocument/2006/relationships/chart" Target="../charts/chart240.xml"/><Relationship Id="rId11" Type="http://schemas.openxmlformats.org/officeDocument/2006/relationships/chart" Target="../charts/chart241.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2.xml"/><Relationship Id="rId3" Type="http://schemas.openxmlformats.org/officeDocument/2006/relationships/chart" Target="../charts/chart243.xml"/><Relationship Id="rId4" Type="http://schemas.openxmlformats.org/officeDocument/2006/relationships/chart" Target="../charts/chart244.xml"/><Relationship Id="rId5" Type="http://schemas.openxmlformats.org/officeDocument/2006/relationships/chart" Target="../charts/chart245.xml"/><Relationship Id="rId6" Type="http://schemas.openxmlformats.org/officeDocument/2006/relationships/chart" Target="../charts/chart246.xml"/><Relationship Id="rId7" Type="http://schemas.openxmlformats.org/officeDocument/2006/relationships/chart" Target="../charts/chart247.xml"/><Relationship Id="rId8" Type="http://schemas.openxmlformats.org/officeDocument/2006/relationships/chart" Target="../charts/chart248.xml"/><Relationship Id="rId9" Type="http://schemas.openxmlformats.org/officeDocument/2006/relationships/chart" Target="../charts/chart249.xml"/><Relationship Id="rId10" Type="http://schemas.openxmlformats.org/officeDocument/2006/relationships/chart" Target="../charts/chart250.xml"/><Relationship Id="rId11" Type="http://schemas.openxmlformats.org/officeDocument/2006/relationships/chart" Target="../charts/chart251.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2.xml"/><Relationship Id="rId3" Type="http://schemas.openxmlformats.org/officeDocument/2006/relationships/chart" Target="../charts/chart253.xml"/><Relationship Id="rId4" Type="http://schemas.openxmlformats.org/officeDocument/2006/relationships/chart" Target="../charts/chart254.xml"/><Relationship Id="rId5" Type="http://schemas.openxmlformats.org/officeDocument/2006/relationships/chart" Target="../charts/chart255.xml"/><Relationship Id="rId6" Type="http://schemas.openxmlformats.org/officeDocument/2006/relationships/chart" Target="../charts/chart256.xml"/><Relationship Id="rId7" Type="http://schemas.openxmlformats.org/officeDocument/2006/relationships/chart" Target="../charts/chart257.xml"/><Relationship Id="rId8" Type="http://schemas.openxmlformats.org/officeDocument/2006/relationships/chart" Target="../charts/chart258.xml"/><Relationship Id="rId9" Type="http://schemas.openxmlformats.org/officeDocument/2006/relationships/chart" Target="../charts/chart259.xml"/><Relationship Id="rId10" Type="http://schemas.openxmlformats.org/officeDocument/2006/relationships/chart" Target="../charts/chart260.xml"/><Relationship Id="rId11" Type="http://schemas.openxmlformats.org/officeDocument/2006/relationships/chart" Target="../charts/chart261.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and the store records.</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Absorption and net to gross.</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The CP Engine</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ROs, hours per RO, rate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Pay type and internal, maintenance and repair mix.</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MPI and video, then alignment, balance, brake fluid and fuel.</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Rate increases, warranty rate and parts margin, audits and compliance.</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Gross per employee, headcount and technician proficiency.</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commitments.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The CP Engine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Labor Mix</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Pay type   ·   Internal rate &amp; margin   ·   Work type   ·   Op code descriptions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Gross per employee   ·   ROs per person   ·   Headcount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CP Engine</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Labor Mix</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Trends &amp; records   ·   Door rate   ·   CP vs internal   ·   Photo %   ·   Best techs</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daily fires long enough to fix the process behind them</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+$7,468,567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up 4.1% year to date. 25 of 33 stores grew.</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absorption, up 2.1 pts. Fixed gross grew 4.1%, fixed expenses 1.3%.</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21.8%</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net to gross, up 2.9 pts and ahead of 2025 in all nine months.</a:t>
            </a:r>
            <a:endParaRPr lang="en-US" sz="1400" dirty="0"/>
          </a:p>
        </p:txBody>
      </p:sp>
      <p:sp>
        <p:nvSpPr>
          <p:cNvPr id="19" name="Shape 17"/>
          <p:cNvSpPr/>
          <p:nvPr/>
        </p:nvSpPr>
        <p:spPr>
          <a:xfrm>
            <a:off x="457200" y="6126480"/>
            <a:ext cx="11274552" cy="615696"/>
          </a:xfrm>
          <a:prstGeom prst="rect">
            <a:avLst/>
          </a:prstGeom>
          <a:solidFill>
            <a:srgbClr val="E6F6EE"/>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Sell hours, build value, sell peace of mind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visits: don't say no to dollars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Generate throughput: max out hours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retention and sell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sells the first car. Service sells the next six.</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but parts net to gross slipped 0.4 pts to 36.7%.</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 even when an advisor sells them.</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Hours sold times the rate collected (ELR)</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on the RO; guarantees and bonuses paid off the RO come out of gross too</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Customer pay, warranty and internal parts sold through service</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retail, wholesale, tires and oil</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+4.1%  ·  +$7.47M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+$404K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06111"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+$717K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36085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3579876" y="2853100"/>
            <a:ext cx="25610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+$1.70M</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52129"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2" name="Shape 40"/>
          <p:cNvSpPr/>
          <p:nvPr/>
        </p:nvSpPr>
        <p:spPr>
          <a:xfrm>
            <a:off x="3579876" y="3300618"/>
            <a:ext cx="248007"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7" name="Shape 45"/>
          <p:cNvSpPr/>
          <p:nvPr/>
        </p:nvSpPr>
        <p:spPr>
          <a:xfrm>
            <a:off x="3579876" y="3524377"/>
            <a:ext cx="20827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+$586K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2" name="Shape 50"/>
          <p:cNvSpPr/>
          <p:nvPr/>
        </p:nvSpPr>
        <p:spPr>
          <a:xfrm>
            <a:off x="3579876" y="3748136"/>
            <a:ext cx="166767"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+$422K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579876" y="3971895"/>
            <a:ext cx="1637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2" name="Shape 60"/>
          <p:cNvSpPr/>
          <p:nvPr/>
        </p:nvSpPr>
        <p:spPr>
          <a:xfrm>
            <a:off x="3579876" y="4195654"/>
            <a:ext cx="162710"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7" name="Shape 65"/>
          <p:cNvSpPr/>
          <p:nvPr/>
        </p:nvSpPr>
        <p:spPr>
          <a:xfrm>
            <a:off x="3579876" y="4419414"/>
            <a:ext cx="161498"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+$545K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2" name="Shape 70"/>
          <p:cNvSpPr/>
          <p:nvPr/>
        </p:nvSpPr>
        <p:spPr>
          <a:xfrm>
            <a:off x="3579876" y="4643173"/>
            <a:ext cx="15637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+$373K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579876" y="4866932"/>
            <a:ext cx="1362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360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7" name="Shape 85"/>
          <p:cNvSpPr/>
          <p:nvPr/>
        </p:nvSpPr>
        <p:spPr>
          <a:xfrm>
            <a:off x="3579876" y="5314450"/>
            <a:ext cx="122042"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2" name="Shape 90"/>
          <p:cNvSpPr/>
          <p:nvPr/>
        </p:nvSpPr>
        <p:spPr>
          <a:xfrm>
            <a:off x="3579876" y="5538209"/>
            <a:ext cx="118786"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+$664K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110352"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2" name="Shape 100"/>
          <p:cNvSpPr/>
          <p:nvPr/>
        </p:nvSpPr>
        <p:spPr>
          <a:xfrm>
            <a:off x="9130284" y="2181823"/>
            <a:ext cx="64131"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7" name="Shape 105"/>
          <p:cNvSpPr/>
          <p:nvPr/>
        </p:nvSpPr>
        <p:spPr>
          <a:xfrm>
            <a:off x="9130284" y="2405582"/>
            <a:ext cx="6001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45763"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30284" y="2853100"/>
            <a:ext cx="33373"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+$135K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2" name="Shape 120"/>
          <p:cNvSpPr/>
          <p:nvPr/>
        </p:nvSpPr>
        <p:spPr>
          <a:xfrm>
            <a:off x="9130284" y="3076859"/>
            <a:ext cx="33130"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+$125K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7" name="Shape 125"/>
          <p:cNvSpPr/>
          <p:nvPr/>
        </p:nvSpPr>
        <p:spPr>
          <a:xfrm>
            <a:off x="9130284" y="3300618"/>
            <a:ext cx="2605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2" name="Shape 130"/>
          <p:cNvSpPr/>
          <p:nvPr/>
        </p:nvSpPr>
        <p:spPr>
          <a:xfrm>
            <a:off x="9130284" y="3524377"/>
            <a:ext cx="23062"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7" name="Shape 135"/>
          <p:cNvSpPr/>
          <p:nvPr/>
        </p:nvSpPr>
        <p:spPr>
          <a:xfrm>
            <a:off x="9130284" y="3748136"/>
            <a:ext cx="13857"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2" name="Shape 140"/>
          <p:cNvSpPr/>
          <p:nvPr/>
        </p:nvSpPr>
        <p:spPr>
          <a:xfrm>
            <a:off x="9089172" y="3971895"/>
            <a:ext cx="4111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54987" y="4195654"/>
            <a:ext cx="7529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−$499K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2" name="Shape 150"/>
          <p:cNvSpPr/>
          <p:nvPr/>
        </p:nvSpPr>
        <p:spPr>
          <a:xfrm>
            <a:off x="9043679" y="4419414"/>
            <a:ext cx="866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988381" y="4643173"/>
            <a:ext cx="141903"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−$840K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8963498" y="4866932"/>
            <a:ext cx="16678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−$520K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1219" y="5090691"/>
            <a:ext cx="219065"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00217" y="5314450"/>
            <a:ext cx="230067"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−$163K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888151" y="5538209"/>
            <a:ext cx="24213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25 of 33 stores grew. Hyundai Prescott grew most at +35.8% (+$404K); Acura fell most at −15.2% (−$517K).</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5486400" cy="4782312"/>
          </a:xfrm>
          <a:prstGeom prst="rect">
            <a:avLst/>
          </a:prstGeom>
          <a:solidFill>
            <a:srgbClr val="FFFFFF"/>
          </a:solidFill>
          <a:ln/>
        </p:spPr>
      </p:sp>
      <p:sp>
        <p:nvSpPr>
          <p:cNvPr id="6" name="Text 4"/>
          <p:cNvSpPr txBox="1"/>
          <p:nvPr/>
        </p:nvSpPr>
        <p:spPr>
          <a:xfrm>
            <a:off x="685800" y="1344168"/>
            <a:ext cx="5029200"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How the group got there, Jan–Sep</a:t>
            </a:r>
            <a:endParaRPr lang="en-US" sz="1500" dirty="0"/>
          </a:p>
        </p:txBody>
      </p:sp>
      <p:sp>
        <p:nvSpPr>
          <p:cNvPr id="7" name="Shape 5"/>
          <p:cNvSpPr/>
          <p:nvPr/>
        </p:nvSpPr>
        <p:spPr>
          <a:xfrm>
            <a:off x="685800" y="1691640"/>
            <a:ext cx="5029200" cy="10973"/>
          </a:xfrm>
          <a:prstGeom prst="rect">
            <a:avLst/>
          </a:prstGeom>
          <a:solidFill>
            <a:srgbClr val="1A1A1A"/>
          </a:solidFill>
          <a:ln/>
        </p:spPr>
      </p:sp>
      <p:sp>
        <p:nvSpPr>
          <p:cNvPr id="8" name="Shape 6"/>
          <p:cNvSpPr/>
          <p:nvPr/>
        </p:nvSpPr>
        <p:spPr>
          <a:xfrm>
            <a:off x="713232" y="1700784"/>
            <a:ext cx="4974336" cy="621792"/>
          </a:xfrm>
          <a:prstGeom prst="rect">
            <a:avLst/>
          </a:prstGeom>
          <a:solidFill>
            <a:srgbClr val="F7F7F7"/>
          </a:solidFill>
          <a:ln/>
        </p:spPr>
      </p:sp>
      <p:sp>
        <p:nvSpPr>
          <p:cNvPr id="9" name="Text 7"/>
          <p:cNvSpPr txBox="1"/>
          <p:nvPr/>
        </p:nvSpPr>
        <p:spPr>
          <a:xfrm>
            <a:off x="896112" y="1728216"/>
            <a:ext cx="2743200" cy="457200"/>
          </a:xfrm>
          <a:prstGeom prst="rect">
            <a:avLst/>
          </a:prstGeom>
          <a:noFill/>
          <a:ln/>
        </p:spPr>
        <p:txBody>
          <a:bodyPr wrap="square" lIns="0" tIns="0" rIns="0" bIns="0" rtlCol="0" anchor="ctr"/>
          <a:lstStyle/>
          <a:p>
            <a:pPr indent="0" marL="0">
              <a:buNone/>
            </a:pPr>
            <a:r>
              <a:rPr lang="en-US" sz="2600" b="1" dirty="0">
                <a:solidFill>
                  <a:srgbClr val="1A1A1A"/>
                </a:solidFill>
                <a:latin typeface="Inter" pitchFamily="34" charset="0"/>
                <a:ea typeface="Inter" pitchFamily="34" charset="-122"/>
                <a:cs typeface="Inter" pitchFamily="34" charset="-120"/>
              </a:rPr>
              <a:t>$181.33M</a:t>
            </a:r>
            <a:endParaRPr lang="en-US" sz="2600" dirty="0"/>
          </a:p>
        </p:txBody>
      </p:sp>
      <p:sp>
        <p:nvSpPr>
          <p:cNvPr id="10" name="Text 8"/>
          <p:cNvSpPr txBox="1"/>
          <p:nvPr/>
        </p:nvSpPr>
        <p:spPr>
          <a:xfrm>
            <a:off x="3657600" y="172821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2025 group</a:t>
            </a:r>
            <a:endParaRPr lang="en-US" sz="1400" dirty="0"/>
          </a:p>
        </p:txBody>
      </p:sp>
      <p:sp>
        <p:nvSpPr>
          <p:cNvPr id="11" name="Shape 9"/>
          <p:cNvSpPr/>
          <p:nvPr/>
        </p:nvSpPr>
        <p:spPr>
          <a:xfrm>
            <a:off x="987552" y="2395728"/>
            <a:ext cx="292608" cy="292608"/>
          </a:xfrm>
          <a:prstGeom prst="ellipse">
            <a:avLst/>
          </a:prstGeom>
          <a:solidFill>
            <a:srgbClr val="2587C5"/>
          </a:solidFill>
          <a:ln/>
        </p:spPr>
      </p:sp>
      <p:sp>
        <p:nvSpPr>
          <p:cNvPr id="12" name="Text 10"/>
          <p:cNvSpPr txBox="1"/>
          <p:nvPr/>
        </p:nvSpPr>
        <p:spPr>
          <a:xfrm>
            <a:off x="987552" y="239572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3" name="Shape 11"/>
          <p:cNvSpPr/>
          <p:nvPr/>
        </p:nvSpPr>
        <p:spPr>
          <a:xfrm>
            <a:off x="713232" y="2706624"/>
            <a:ext cx="4974336" cy="621792"/>
          </a:xfrm>
          <a:prstGeom prst="rect">
            <a:avLst/>
          </a:prstGeom>
          <a:solidFill>
            <a:srgbClr val="E6F6EE"/>
          </a:solidFill>
          <a:ln/>
        </p:spPr>
      </p:sp>
      <p:sp>
        <p:nvSpPr>
          <p:cNvPr id="14" name="Text 12"/>
          <p:cNvSpPr txBox="1"/>
          <p:nvPr/>
        </p:nvSpPr>
        <p:spPr>
          <a:xfrm>
            <a:off x="896112" y="2734056"/>
            <a:ext cx="2743200" cy="457200"/>
          </a:xfrm>
          <a:prstGeom prst="rect">
            <a:avLst/>
          </a:prstGeom>
          <a:noFill/>
          <a:ln/>
        </p:spPr>
        <p:txBody>
          <a:bodyPr wrap="square" lIns="0" tIns="0" rIns="0" bIns="0" rtlCol="0" anchor="ctr"/>
          <a:lstStyle/>
          <a:p>
            <a:pPr indent="0" marL="0">
              <a:buNone/>
            </a:pPr>
            <a:r>
              <a:rPr lang="en-US" sz="2600" b="1" dirty="0">
                <a:solidFill>
                  <a:srgbClr val="0B7A4A"/>
                </a:solidFill>
                <a:latin typeface="Inter" pitchFamily="34" charset="0"/>
                <a:ea typeface="Inter" pitchFamily="34" charset="-122"/>
                <a:cs typeface="Inter" pitchFamily="34" charset="-120"/>
              </a:rPr>
              <a:t>+$7,468,567</a:t>
            </a:r>
            <a:endParaRPr lang="en-US" sz="2600" dirty="0"/>
          </a:p>
        </p:txBody>
      </p:sp>
      <p:sp>
        <p:nvSpPr>
          <p:cNvPr id="15" name="Text 13"/>
          <p:cNvSpPr txBox="1"/>
          <p:nvPr/>
        </p:nvSpPr>
        <p:spPr>
          <a:xfrm>
            <a:off x="3657600" y="2734056"/>
            <a:ext cx="1874520" cy="585216"/>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same-store growth</a:t>
            </a:r>
            <a:endParaRPr lang="en-US" sz="1400" dirty="0"/>
          </a:p>
        </p:txBody>
      </p:sp>
      <p:sp>
        <p:nvSpPr>
          <p:cNvPr id="16" name="Shape 14"/>
          <p:cNvSpPr/>
          <p:nvPr/>
        </p:nvSpPr>
        <p:spPr>
          <a:xfrm>
            <a:off x="987552" y="3401568"/>
            <a:ext cx="292608" cy="292608"/>
          </a:xfrm>
          <a:prstGeom prst="ellipse">
            <a:avLst/>
          </a:prstGeom>
          <a:solidFill>
            <a:srgbClr val="0B2C4A"/>
          </a:solidFill>
          <a:ln/>
        </p:spPr>
      </p:sp>
      <p:sp>
        <p:nvSpPr>
          <p:cNvPr id="17" name="Text 15"/>
          <p:cNvSpPr txBox="1"/>
          <p:nvPr/>
        </p:nvSpPr>
        <p:spPr>
          <a:xfrm>
            <a:off x="987552" y="3401568"/>
            <a:ext cx="292608" cy="292608"/>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8" name="Shape 16"/>
          <p:cNvSpPr/>
          <p:nvPr/>
        </p:nvSpPr>
        <p:spPr>
          <a:xfrm>
            <a:off x="713232" y="3712464"/>
            <a:ext cx="4974336" cy="713232"/>
          </a:xfrm>
          <a:prstGeom prst="rect">
            <a:avLst/>
          </a:prstGeom>
          <a:solidFill>
            <a:srgbClr val="EDF4FA"/>
          </a:solidFill>
          <a:ln/>
        </p:spPr>
      </p:sp>
      <p:sp>
        <p:nvSpPr>
          <p:cNvPr id="19" name="Text 17"/>
          <p:cNvSpPr txBox="1"/>
          <p:nvPr/>
        </p:nvSpPr>
        <p:spPr>
          <a:xfrm>
            <a:off x="896112" y="3739896"/>
            <a:ext cx="2743200" cy="512064"/>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$188.80M</a:t>
            </a:r>
            <a:endParaRPr lang="en-US" sz="3000" dirty="0"/>
          </a:p>
        </p:txBody>
      </p:sp>
      <p:sp>
        <p:nvSpPr>
          <p:cNvPr id="20" name="Text 18"/>
          <p:cNvSpPr txBox="1"/>
          <p:nvPr/>
        </p:nvSpPr>
        <p:spPr>
          <a:xfrm>
            <a:off x="3657600" y="3739896"/>
            <a:ext cx="1874520" cy="65836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2026 group</a:t>
            </a:r>
            <a:endParaRPr lang="en-US" sz="1400" dirty="0"/>
          </a:p>
        </p:txBody>
      </p:sp>
      <p:sp>
        <p:nvSpPr>
          <p:cNvPr id="21" name="Shape 19"/>
          <p:cNvSpPr/>
          <p:nvPr/>
        </p:nvSpPr>
        <p:spPr>
          <a:xfrm>
            <a:off x="6126480" y="1207008"/>
            <a:ext cx="5605272" cy="4782312"/>
          </a:xfrm>
          <a:prstGeom prst="rect">
            <a:avLst/>
          </a:prstGeom>
          <a:solidFill>
            <a:srgbClr val="FFFFFF"/>
          </a:solidFill>
          <a:ln/>
        </p:spPr>
      </p:sp>
      <p:sp>
        <p:nvSpPr>
          <p:cNvPr id="22" name="Text 20"/>
          <p:cNvSpPr txBox="1"/>
          <p:nvPr/>
        </p:nvSpPr>
        <p:spPr>
          <a:xfrm>
            <a:off x="6355080" y="1344168"/>
            <a:ext cx="514807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Who moved it</a:t>
            </a:r>
            <a:endParaRPr lang="en-US" sz="1500" dirty="0"/>
          </a:p>
        </p:txBody>
      </p:sp>
      <p:sp>
        <p:nvSpPr>
          <p:cNvPr id="23" name="Shape 21"/>
          <p:cNvSpPr/>
          <p:nvPr/>
        </p:nvSpPr>
        <p:spPr>
          <a:xfrm>
            <a:off x="6355080" y="1691640"/>
            <a:ext cx="5148072" cy="10973"/>
          </a:xfrm>
          <a:prstGeom prst="rect">
            <a:avLst/>
          </a:prstGeom>
          <a:solidFill>
            <a:srgbClr val="1A1A1A"/>
          </a:solidFill>
          <a:ln/>
        </p:spPr>
      </p:sp>
      <p:sp>
        <p:nvSpPr>
          <p:cNvPr id="24" name="Text 22"/>
          <p:cNvSpPr txBox="1"/>
          <p:nvPr/>
        </p:nvSpPr>
        <p:spPr>
          <a:xfrm>
            <a:off x="6355080" y="182880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TOYOTA HENDERSON</a:t>
            </a:r>
            <a:endParaRPr lang="en-US" sz="1400" dirty="0"/>
          </a:p>
        </p:txBody>
      </p:sp>
      <p:sp>
        <p:nvSpPr>
          <p:cNvPr id="25" name="Shape 23"/>
          <p:cNvSpPr/>
          <p:nvPr/>
        </p:nvSpPr>
        <p:spPr>
          <a:xfrm>
            <a:off x="8595360" y="1929384"/>
            <a:ext cx="1463040" cy="182880"/>
          </a:xfrm>
          <a:prstGeom prst="rect">
            <a:avLst/>
          </a:prstGeom>
          <a:solidFill>
            <a:srgbClr val="12A566"/>
          </a:solidFill>
          <a:ln/>
        </p:spPr>
      </p:sp>
      <p:sp>
        <p:nvSpPr>
          <p:cNvPr id="26" name="Text 24"/>
          <p:cNvSpPr txBox="1"/>
          <p:nvPr/>
        </p:nvSpPr>
        <p:spPr>
          <a:xfrm>
            <a:off x="10149840" y="1828800"/>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+$1,772,700</a:t>
            </a:r>
            <a:endParaRPr lang="en-US" sz="1400" dirty="0"/>
          </a:p>
        </p:txBody>
      </p:sp>
      <p:sp>
        <p:nvSpPr>
          <p:cNvPr id="27" name="Text 25"/>
          <p:cNvSpPr txBox="1"/>
          <p:nvPr/>
        </p:nvSpPr>
        <p:spPr>
          <a:xfrm>
            <a:off x="6355080" y="225856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HENDERSON</a:t>
            </a:r>
            <a:endParaRPr lang="en-US" sz="1400" dirty="0"/>
          </a:p>
        </p:txBody>
      </p:sp>
      <p:sp>
        <p:nvSpPr>
          <p:cNvPr id="28" name="Shape 26"/>
          <p:cNvSpPr/>
          <p:nvPr/>
        </p:nvSpPr>
        <p:spPr>
          <a:xfrm>
            <a:off x="8595360" y="2359152"/>
            <a:ext cx="1407053" cy="182880"/>
          </a:xfrm>
          <a:prstGeom prst="rect">
            <a:avLst/>
          </a:prstGeom>
          <a:solidFill>
            <a:srgbClr val="12A566"/>
          </a:solidFill>
          <a:ln/>
        </p:spPr>
      </p:sp>
      <p:sp>
        <p:nvSpPr>
          <p:cNvPr id="29" name="Text 27"/>
          <p:cNvSpPr txBox="1"/>
          <p:nvPr/>
        </p:nvSpPr>
        <p:spPr>
          <a:xfrm>
            <a:off x="10149840" y="2258568"/>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+$1,704,863</a:t>
            </a:r>
            <a:endParaRPr lang="en-US" sz="1400" dirty="0"/>
          </a:p>
        </p:txBody>
      </p:sp>
      <p:sp>
        <p:nvSpPr>
          <p:cNvPr id="30" name="Text 28"/>
          <p:cNvSpPr txBox="1"/>
          <p:nvPr/>
        </p:nvSpPr>
        <p:spPr>
          <a:xfrm>
            <a:off x="6355080" y="268833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HENDERSON</a:t>
            </a:r>
            <a:endParaRPr lang="en-US" sz="1400" dirty="0"/>
          </a:p>
        </p:txBody>
      </p:sp>
      <p:sp>
        <p:nvSpPr>
          <p:cNvPr id="31" name="Shape 29"/>
          <p:cNvSpPr/>
          <p:nvPr/>
        </p:nvSpPr>
        <p:spPr>
          <a:xfrm>
            <a:off x="8595360" y="2788920"/>
            <a:ext cx="769067" cy="182880"/>
          </a:xfrm>
          <a:prstGeom prst="rect">
            <a:avLst/>
          </a:prstGeom>
          <a:solidFill>
            <a:srgbClr val="12A566"/>
          </a:solidFill>
          <a:ln/>
        </p:spPr>
      </p:sp>
      <p:sp>
        <p:nvSpPr>
          <p:cNvPr id="32" name="Text 30"/>
          <p:cNvSpPr txBox="1"/>
          <p:nvPr/>
        </p:nvSpPr>
        <p:spPr>
          <a:xfrm>
            <a:off x="10149840" y="2688336"/>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+$931,844</a:t>
            </a:r>
            <a:endParaRPr lang="en-US" sz="1400" dirty="0"/>
          </a:p>
        </p:txBody>
      </p:sp>
      <p:sp>
        <p:nvSpPr>
          <p:cNvPr id="33" name="Text 31"/>
          <p:cNvSpPr txBox="1"/>
          <p:nvPr/>
        </p:nvSpPr>
        <p:spPr>
          <a:xfrm>
            <a:off x="6355080" y="311810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LEXUS</a:t>
            </a:r>
            <a:endParaRPr lang="en-US" sz="1400" dirty="0"/>
          </a:p>
        </p:txBody>
      </p:sp>
      <p:sp>
        <p:nvSpPr>
          <p:cNvPr id="34" name="Shape 32"/>
          <p:cNvSpPr/>
          <p:nvPr/>
        </p:nvSpPr>
        <p:spPr>
          <a:xfrm>
            <a:off x="8595360" y="3218688"/>
            <a:ext cx="630324" cy="182880"/>
          </a:xfrm>
          <a:prstGeom prst="rect">
            <a:avLst/>
          </a:prstGeom>
          <a:solidFill>
            <a:srgbClr val="12A566"/>
          </a:solidFill>
          <a:ln/>
        </p:spPr>
      </p:sp>
      <p:sp>
        <p:nvSpPr>
          <p:cNvPr id="35" name="Text 33"/>
          <p:cNvSpPr txBox="1"/>
          <p:nvPr/>
        </p:nvSpPr>
        <p:spPr>
          <a:xfrm>
            <a:off x="10149840" y="3118104"/>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+$763,736</a:t>
            </a:r>
            <a:endParaRPr lang="en-US" sz="1400" dirty="0"/>
          </a:p>
        </p:txBody>
      </p:sp>
      <p:sp>
        <p:nvSpPr>
          <p:cNvPr id="36" name="Text 34"/>
          <p:cNvSpPr txBox="1"/>
          <p:nvPr/>
        </p:nvSpPr>
        <p:spPr>
          <a:xfrm>
            <a:off x="6355080" y="3547872"/>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LINCOLN</a:t>
            </a:r>
            <a:endParaRPr lang="en-US" sz="1400" dirty="0"/>
          </a:p>
        </p:txBody>
      </p:sp>
      <p:sp>
        <p:nvSpPr>
          <p:cNvPr id="37" name="Shape 35"/>
          <p:cNvSpPr/>
          <p:nvPr/>
        </p:nvSpPr>
        <p:spPr>
          <a:xfrm>
            <a:off x="8595360" y="3648456"/>
            <a:ext cx="592076" cy="182880"/>
          </a:xfrm>
          <a:prstGeom prst="rect">
            <a:avLst/>
          </a:prstGeom>
          <a:solidFill>
            <a:srgbClr val="12A566"/>
          </a:solidFill>
          <a:ln/>
        </p:spPr>
      </p:sp>
      <p:sp>
        <p:nvSpPr>
          <p:cNvPr id="38" name="Text 36"/>
          <p:cNvSpPr txBox="1"/>
          <p:nvPr/>
        </p:nvSpPr>
        <p:spPr>
          <a:xfrm>
            <a:off x="10149840" y="3547872"/>
            <a:ext cx="1371600" cy="384048"/>
          </a:xfrm>
          <a:prstGeom prst="rect">
            <a:avLst/>
          </a:prstGeom>
          <a:noFill/>
          <a:ln/>
        </p:spPr>
        <p:txBody>
          <a:bodyPr wrap="square" lIns="0" tIns="0" rIns="0" bIns="0" rtlCol="0" anchor="ctr"/>
          <a:lstStyle/>
          <a:p>
            <a:pPr algn="r" indent="0" marL="0">
              <a:buNone/>
            </a:pPr>
            <a:r>
              <a:rPr lang="en-US" sz="1400" b="1" dirty="0">
                <a:solidFill>
                  <a:srgbClr val="0B7A4A"/>
                </a:solidFill>
                <a:latin typeface="Inter" pitchFamily="34" charset="0"/>
                <a:ea typeface="Inter" pitchFamily="34" charset="-122"/>
                <a:cs typeface="Inter" pitchFamily="34" charset="-120"/>
              </a:rPr>
              <a:t>+$717,392</a:t>
            </a:r>
            <a:endParaRPr lang="en-US" sz="1400" dirty="0"/>
          </a:p>
        </p:txBody>
      </p:sp>
      <p:sp>
        <p:nvSpPr>
          <p:cNvPr id="39" name="Text 37"/>
          <p:cNvSpPr txBox="1"/>
          <p:nvPr/>
        </p:nvSpPr>
        <p:spPr>
          <a:xfrm>
            <a:off x="6355080" y="3977640"/>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p>
        </p:txBody>
      </p:sp>
      <p:sp>
        <p:nvSpPr>
          <p:cNvPr id="40" name="Shape 38"/>
          <p:cNvSpPr/>
          <p:nvPr/>
        </p:nvSpPr>
        <p:spPr>
          <a:xfrm>
            <a:off x="8168846" y="4078224"/>
            <a:ext cx="426514" cy="182880"/>
          </a:xfrm>
          <a:prstGeom prst="rect">
            <a:avLst/>
          </a:prstGeom>
          <a:solidFill>
            <a:srgbClr val="C2352F"/>
          </a:solidFill>
          <a:ln/>
        </p:spPr>
      </p:sp>
      <p:sp>
        <p:nvSpPr>
          <p:cNvPr id="41" name="Text 39"/>
          <p:cNvSpPr txBox="1"/>
          <p:nvPr/>
        </p:nvSpPr>
        <p:spPr>
          <a:xfrm>
            <a:off x="10149840" y="3977640"/>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−$516,788</a:t>
            </a:r>
            <a:endParaRPr lang="en-US" sz="1400" dirty="0"/>
          </a:p>
        </p:txBody>
      </p:sp>
      <p:sp>
        <p:nvSpPr>
          <p:cNvPr id="42" name="Text 40"/>
          <p:cNvSpPr txBox="1"/>
          <p:nvPr/>
        </p:nvSpPr>
        <p:spPr>
          <a:xfrm>
            <a:off x="6355080" y="4407408"/>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AUDI RENO</a:t>
            </a:r>
            <a:endParaRPr lang="en-US" sz="1400" dirty="0"/>
          </a:p>
        </p:txBody>
      </p:sp>
      <p:sp>
        <p:nvSpPr>
          <p:cNvPr id="43" name="Shape 41"/>
          <p:cNvSpPr/>
          <p:nvPr/>
        </p:nvSpPr>
        <p:spPr>
          <a:xfrm>
            <a:off x="8166323" y="4507992"/>
            <a:ext cx="429037" cy="182880"/>
          </a:xfrm>
          <a:prstGeom prst="rect">
            <a:avLst/>
          </a:prstGeom>
          <a:solidFill>
            <a:srgbClr val="C2352F"/>
          </a:solidFill>
          <a:ln/>
        </p:spPr>
      </p:sp>
      <p:sp>
        <p:nvSpPr>
          <p:cNvPr id="44" name="Text 42"/>
          <p:cNvSpPr txBox="1"/>
          <p:nvPr/>
        </p:nvSpPr>
        <p:spPr>
          <a:xfrm>
            <a:off x="10149840" y="4407408"/>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−$519,845</a:t>
            </a:r>
            <a:endParaRPr lang="en-US" sz="1400" dirty="0"/>
          </a:p>
        </p:txBody>
      </p:sp>
      <p:sp>
        <p:nvSpPr>
          <p:cNvPr id="45" name="Text 43"/>
          <p:cNvSpPr txBox="1"/>
          <p:nvPr/>
        </p:nvSpPr>
        <p:spPr>
          <a:xfrm>
            <a:off x="6355080" y="4837176"/>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Shape 44"/>
          <p:cNvSpPr/>
          <p:nvPr/>
        </p:nvSpPr>
        <p:spPr>
          <a:xfrm>
            <a:off x="7967135" y="4937760"/>
            <a:ext cx="628225" cy="182880"/>
          </a:xfrm>
          <a:prstGeom prst="rect">
            <a:avLst/>
          </a:prstGeom>
          <a:solidFill>
            <a:srgbClr val="C2352F"/>
          </a:solidFill>
          <a:ln/>
        </p:spPr>
      </p:sp>
      <p:sp>
        <p:nvSpPr>
          <p:cNvPr id="47" name="Text 45"/>
          <p:cNvSpPr txBox="1"/>
          <p:nvPr/>
        </p:nvSpPr>
        <p:spPr>
          <a:xfrm>
            <a:off x="10149840" y="4837176"/>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−$761,192</a:t>
            </a:r>
            <a:endParaRPr lang="en-US" sz="1400" dirty="0"/>
          </a:p>
        </p:txBody>
      </p:sp>
      <p:sp>
        <p:nvSpPr>
          <p:cNvPr id="48" name="Text 46"/>
          <p:cNvSpPr txBox="1"/>
          <p:nvPr/>
        </p:nvSpPr>
        <p:spPr>
          <a:xfrm>
            <a:off x="6355080" y="5266944"/>
            <a:ext cx="2148840" cy="38404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HONDA NORTH</a:t>
            </a:r>
            <a:endParaRPr lang="en-US" sz="1400" dirty="0"/>
          </a:p>
        </p:txBody>
      </p:sp>
      <p:sp>
        <p:nvSpPr>
          <p:cNvPr id="49" name="Shape 47"/>
          <p:cNvSpPr/>
          <p:nvPr/>
        </p:nvSpPr>
        <p:spPr>
          <a:xfrm>
            <a:off x="7902183" y="5367528"/>
            <a:ext cx="693177" cy="182880"/>
          </a:xfrm>
          <a:prstGeom prst="rect">
            <a:avLst/>
          </a:prstGeom>
          <a:solidFill>
            <a:srgbClr val="C2352F"/>
          </a:solidFill>
          <a:ln/>
        </p:spPr>
      </p:sp>
      <p:sp>
        <p:nvSpPr>
          <p:cNvPr id="50" name="Text 48"/>
          <p:cNvSpPr txBox="1"/>
          <p:nvPr/>
        </p:nvSpPr>
        <p:spPr>
          <a:xfrm>
            <a:off x="10149840" y="5266944"/>
            <a:ext cx="1371600" cy="384048"/>
          </a:xfrm>
          <a:prstGeom prst="rect">
            <a:avLst/>
          </a:prstGeom>
          <a:noFill/>
          <a:ln/>
        </p:spPr>
        <p:txBody>
          <a:bodyPr wrap="square" lIns="0" tIns="0" rIns="0" bIns="0" rtlCol="0" anchor="ctr"/>
          <a:lstStyle/>
          <a:p>
            <a:pPr algn="r" indent="0" marL="0">
              <a:buNone/>
            </a:pPr>
            <a:r>
              <a:rPr lang="en-US" sz="1400" b="1" dirty="0">
                <a:solidFill>
                  <a:srgbClr val="A82B26"/>
                </a:solidFill>
                <a:latin typeface="Inter" pitchFamily="34" charset="0"/>
                <a:ea typeface="Inter" pitchFamily="34" charset="-122"/>
                <a:cs typeface="Inter" pitchFamily="34" charset="-120"/>
              </a:rPr>
              <a:t>−$839,891</a:t>
            </a:r>
            <a:endParaRPr lang="en-US" sz="1400" dirty="0"/>
          </a:p>
        </p:txBody>
      </p:sp>
      <p:sp>
        <p:nvSpPr>
          <p:cNvPr id="51" name="Shape 49"/>
          <p:cNvSpPr/>
          <p:nvPr/>
        </p:nvSpPr>
        <p:spPr>
          <a:xfrm>
            <a:off x="8589874" y="1828800"/>
            <a:ext cx="10973" cy="3813048"/>
          </a:xfrm>
          <a:prstGeom prst="rect">
            <a:avLst/>
          </a:prstGeom>
          <a:solidFill>
            <a:srgbClr val="9AA3AD"/>
          </a:solidFill>
          <a:ln/>
        </p:spPr>
      </p:sp>
      <p:sp>
        <p:nvSpPr>
          <p:cNvPr id="52" name="Shape 50"/>
          <p:cNvSpPr/>
          <p:nvPr/>
        </p:nvSpPr>
        <p:spPr>
          <a:xfrm>
            <a:off x="457200" y="6126480"/>
            <a:ext cx="11274552" cy="371856"/>
          </a:xfrm>
          <a:prstGeom prst="rect">
            <a:avLst/>
          </a:prstGeom>
          <a:solidFill>
            <a:srgbClr val="E6F6EE"/>
          </a:solidFill>
          <a:ln/>
        </p:spPr>
      </p:sp>
      <p:sp>
        <p:nvSpPr>
          <p:cNvPr id="53" name="Text 5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added +$5,890,534; the bottom four gave back $2,637,716.</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+5.2%  ·  +$6.30M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+$345K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316386"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+$475K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96910"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2" name="Shape 30"/>
          <p:cNvSpPr/>
          <p:nvPr/>
        </p:nvSpPr>
        <p:spPr>
          <a:xfrm>
            <a:off x="3579876" y="2853100"/>
            <a:ext cx="295598"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+$315K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7" name="Shape 35"/>
          <p:cNvSpPr/>
          <p:nvPr/>
        </p:nvSpPr>
        <p:spPr>
          <a:xfrm>
            <a:off x="3579876" y="3076859"/>
            <a:ext cx="22051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+$619K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2" name="Shape 40"/>
          <p:cNvSpPr/>
          <p:nvPr/>
        </p:nvSpPr>
        <p:spPr>
          <a:xfrm>
            <a:off x="3579876" y="3300618"/>
            <a:ext cx="209724"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7" name="Shape 45"/>
          <p:cNvSpPr/>
          <p:nvPr/>
        </p:nvSpPr>
        <p:spPr>
          <a:xfrm>
            <a:off x="3579876" y="3524377"/>
            <a:ext cx="20598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+$1.42M</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2" name="Shape 50"/>
          <p:cNvSpPr/>
          <p:nvPr/>
        </p:nvSpPr>
        <p:spPr>
          <a:xfrm>
            <a:off x="3579876" y="3748136"/>
            <a:ext cx="17160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579876" y="3971895"/>
            <a:ext cx="1679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2" name="Shape 60"/>
          <p:cNvSpPr/>
          <p:nvPr/>
        </p:nvSpPr>
        <p:spPr>
          <a:xfrm>
            <a:off x="3579876" y="4195654"/>
            <a:ext cx="15097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+$390K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7" name="Shape 65"/>
          <p:cNvSpPr/>
          <p:nvPr/>
        </p:nvSpPr>
        <p:spPr>
          <a:xfrm>
            <a:off x="3579876" y="4419414"/>
            <a:ext cx="148094"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2" name="Shape 70"/>
          <p:cNvSpPr/>
          <p:nvPr/>
        </p:nvSpPr>
        <p:spPr>
          <a:xfrm>
            <a:off x="3579876" y="4643173"/>
            <a:ext cx="13584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579876" y="4866932"/>
            <a:ext cx="10821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108105"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+$1.50M</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7" name="Shape 85"/>
          <p:cNvSpPr/>
          <p:nvPr/>
        </p:nvSpPr>
        <p:spPr>
          <a:xfrm>
            <a:off x="3579876" y="5314450"/>
            <a:ext cx="8490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3579876" y="5538209"/>
            <a:ext cx="83407"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+$292K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3579876" y="5761968"/>
            <a:ext cx="659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+$611K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54058"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7" name="Shape 105"/>
          <p:cNvSpPr/>
          <p:nvPr/>
        </p:nvSpPr>
        <p:spPr>
          <a:xfrm>
            <a:off x="9130284" y="2405582"/>
            <a:ext cx="52461"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+$113K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629341"/>
            <a:ext cx="35288"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9130284" y="2853100"/>
            <a:ext cx="1862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2" name="Shape 120"/>
          <p:cNvSpPr/>
          <p:nvPr/>
        </p:nvSpPr>
        <p:spPr>
          <a:xfrm>
            <a:off x="9130284" y="3076859"/>
            <a:ext cx="16084"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7" name="Shape 125"/>
          <p:cNvSpPr/>
          <p:nvPr/>
        </p:nvSpPr>
        <p:spPr>
          <a:xfrm>
            <a:off x="9130284" y="3300618"/>
            <a:ext cx="12802"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2" name="Shape 130"/>
          <p:cNvSpPr/>
          <p:nvPr/>
        </p:nvSpPr>
        <p:spPr>
          <a:xfrm>
            <a:off x="9126342" y="3524377"/>
            <a:ext cx="1280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9103951" y="3748136"/>
            <a:ext cx="26333"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102538" y="3971895"/>
            <a:ext cx="27746"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95214" y="4195654"/>
            <a:ext cx="35070"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−$211K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2" name="Shape 150"/>
          <p:cNvSpPr/>
          <p:nvPr/>
        </p:nvSpPr>
        <p:spPr>
          <a:xfrm>
            <a:off x="9091379" y="4419414"/>
            <a:ext cx="38905"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7" name="Shape 155"/>
          <p:cNvSpPr/>
          <p:nvPr/>
        </p:nvSpPr>
        <p:spPr>
          <a:xfrm>
            <a:off x="9066557" y="4643173"/>
            <a:ext cx="63727"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62" name="Shape 160"/>
          <p:cNvSpPr/>
          <p:nvPr/>
        </p:nvSpPr>
        <p:spPr>
          <a:xfrm>
            <a:off x="9017570" y="4866932"/>
            <a:ext cx="11271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−$695K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85267" y="5090691"/>
            <a:ext cx="145017"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−$547K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29980" y="5314450"/>
            <a:ext cx="20030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7" name="Shape 175"/>
          <p:cNvSpPr/>
          <p:nvPr/>
        </p:nvSpPr>
        <p:spPr>
          <a:xfrm>
            <a:off x="8928189" y="5538209"/>
            <a:ext cx="202095"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−$438K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6F6EE"/>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grew. Hyundai Prescott grew most at +53.3% (+$345K); Acura fell most at −18.8% (−$438K).</a:t>
            </a:r>
            <a:endParaRPr lang="en-US" sz="15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+1.9%  ·  +$1.17M</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+$243K</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2" name="Shape 20"/>
          <p:cNvSpPr/>
          <p:nvPr/>
        </p:nvSpPr>
        <p:spPr>
          <a:xfrm>
            <a:off x="3579876" y="2405582"/>
            <a:ext cx="438224"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+$688K</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7" name="Shape 25"/>
          <p:cNvSpPr/>
          <p:nvPr/>
        </p:nvSpPr>
        <p:spPr>
          <a:xfrm>
            <a:off x="3579876" y="2629341"/>
            <a:ext cx="39984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+$271K</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2" name="Shape 30"/>
          <p:cNvSpPr/>
          <p:nvPr/>
        </p:nvSpPr>
        <p:spPr>
          <a:xfrm>
            <a:off x="3579876" y="2853100"/>
            <a:ext cx="26142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+$158K</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246093"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+$151K</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2" name="Shape 40"/>
          <p:cNvSpPr/>
          <p:nvPr/>
        </p:nvSpPr>
        <p:spPr>
          <a:xfrm>
            <a:off x="3579876" y="3300618"/>
            <a:ext cx="234911"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+$211K</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7" name="Shape 45"/>
          <p:cNvSpPr/>
          <p:nvPr/>
        </p:nvSpPr>
        <p:spPr>
          <a:xfrm>
            <a:off x="3579876" y="3524377"/>
            <a:ext cx="190077"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+$60K</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2" name="Shape 50"/>
          <p:cNvSpPr/>
          <p:nvPr/>
        </p:nvSpPr>
        <p:spPr>
          <a:xfrm>
            <a:off x="3579876" y="3748136"/>
            <a:ext cx="179058"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+$124K</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7" name="Shape 55"/>
          <p:cNvSpPr/>
          <p:nvPr/>
        </p:nvSpPr>
        <p:spPr>
          <a:xfrm>
            <a:off x="3579876" y="3971895"/>
            <a:ext cx="155972"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+$50K</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2" name="Shape 60"/>
          <p:cNvSpPr/>
          <p:nvPr/>
        </p:nvSpPr>
        <p:spPr>
          <a:xfrm>
            <a:off x="3579876" y="4195654"/>
            <a:ext cx="1393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+$321K</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136341"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+$288K</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2" name="Shape 70"/>
          <p:cNvSpPr/>
          <p:nvPr/>
        </p:nvSpPr>
        <p:spPr>
          <a:xfrm>
            <a:off x="3579876" y="4643173"/>
            <a:ext cx="123400"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+$88K</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7" name="Shape 75"/>
          <p:cNvSpPr/>
          <p:nvPr/>
        </p:nvSpPr>
        <p:spPr>
          <a:xfrm>
            <a:off x="3579876" y="4866932"/>
            <a:ext cx="8061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+$47K</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2" name="Shape 80"/>
          <p:cNvSpPr/>
          <p:nvPr/>
        </p:nvSpPr>
        <p:spPr>
          <a:xfrm>
            <a:off x="3579876" y="5090691"/>
            <a:ext cx="7096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+$273K</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39483"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+$33K</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2" name="Shape 90"/>
          <p:cNvSpPr/>
          <p:nvPr/>
        </p:nvSpPr>
        <p:spPr>
          <a:xfrm>
            <a:off x="3579876" y="5538209"/>
            <a:ext cx="33295"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+$27K</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3579876" y="5761968"/>
            <a:ext cx="1978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+$19K</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2" name="Shape 100"/>
          <p:cNvSpPr/>
          <p:nvPr/>
        </p:nvSpPr>
        <p:spPr>
          <a:xfrm>
            <a:off x="9120504" y="2181823"/>
            <a:ext cx="12802" cy="102929"/>
          </a:xfrm>
          <a:prstGeom prst="rect">
            <a:avLst/>
          </a:prstGeom>
          <a:solidFill>
            <a:srgbClr val="C2352F"/>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−$5K</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7" name="Shape 105"/>
          <p:cNvSpPr/>
          <p:nvPr/>
        </p:nvSpPr>
        <p:spPr>
          <a:xfrm>
            <a:off x="9119621" y="2405582"/>
            <a:ext cx="12802" cy="102929"/>
          </a:xfrm>
          <a:prstGeom prst="rect">
            <a:avLst/>
          </a:prstGeom>
          <a:solidFill>
            <a:srgbClr val="C2352F"/>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−$42K</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2" name="Shape 110"/>
          <p:cNvSpPr/>
          <p:nvPr/>
        </p:nvSpPr>
        <p:spPr>
          <a:xfrm>
            <a:off x="9117659"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−$12K</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095741" y="2853100"/>
            <a:ext cx="34543"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−$33K</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2" name="Shape 120"/>
          <p:cNvSpPr/>
          <p:nvPr/>
        </p:nvSpPr>
        <p:spPr>
          <a:xfrm>
            <a:off x="9094197" y="3076859"/>
            <a:ext cx="36087"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−$61K</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7" name="Shape 125"/>
          <p:cNvSpPr/>
          <p:nvPr/>
        </p:nvSpPr>
        <p:spPr>
          <a:xfrm>
            <a:off x="9092061" y="3300618"/>
            <a:ext cx="38223"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−$57K</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2" name="Shape 130"/>
          <p:cNvSpPr/>
          <p:nvPr/>
        </p:nvSpPr>
        <p:spPr>
          <a:xfrm>
            <a:off x="9080300" y="3524377"/>
            <a:ext cx="49984"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−$50K</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9051537" y="3748136"/>
            <a:ext cx="78747"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−$145K</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2" name="Shape 140"/>
          <p:cNvSpPr/>
          <p:nvPr/>
        </p:nvSpPr>
        <p:spPr>
          <a:xfrm>
            <a:off x="9025094" y="3971895"/>
            <a:ext cx="105190"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−$28K</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7" name="Shape 145"/>
          <p:cNvSpPr/>
          <p:nvPr/>
        </p:nvSpPr>
        <p:spPr>
          <a:xfrm>
            <a:off x="9022657" y="4195654"/>
            <a:ext cx="10762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−$287K</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2" name="Shape 150"/>
          <p:cNvSpPr/>
          <p:nvPr/>
        </p:nvSpPr>
        <p:spPr>
          <a:xfrm>
            <a:off x="9018226" y="4419414"/>
            <a:ext cx="11205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−$79K</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7" name="Shape 155"/>
          <p:cNvSpPr/>
          <p:nvPr/>
        </p:nvSpPr>
        <p:spPr>
          <a:xfrm>
            <a:off x="9016738" y="4643173"/>
            <a:ext cx="113546"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−$167K</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2" name="Shape 160"/>
          <p:cNvSpPr/>
          <p:nvPr/>
        </p:nvSpPr>
        <p:spPr>
          <a:xfrm>
            <a:off x="8970138" y="4866932"/>
            <a:ext cx="160146"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−$146K</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7" name="Shape 165"/>
          <p:cNvSpPr/>
          <p:nvPr/>
        </p:nvSpPr>
        <p:spPr>
          <a:xfrm>
            <a:off x="8910748" y="5090691"/>
            <a:ext cx="219536"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−$214K</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841155" y="5314450"/>
            <a:ext cx="289129"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−$328K</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7" name="Shape 175"/>
          <p:cNvSpPr/>
          <p:nvPr/>
        </p:nvSpPr>
        <p:spPr>
          <a:xfrm>
            <a:off x="8798602" y="5538209"/>
            <a:ext cx="331682"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−$227K</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48996"/>
          </a:xfrm>
          <a:prstGeom prst="rect">
            <a:avLst/>
          </a:prstGeom>
          <a:solidFill>
            <a:srgbClr val="E6F6EE"/>
          </a:solidFill>
          <a:ln/>
        </p:spPr>
      </p:sp>
      <p:sp>
        <p:nvSpPr>
          <p:cNvPr id="184" name="Text 18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17 of 33 stores grew. Lincoln grew most at +37.1% (+$243K); Hyundai St George fell most at −21.5% (−$227K).</a:t>
            </a:r>
            <a:endParaRPr lang="en-US" sz="145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store's fixed expenses service and parts gross pays for.</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CP engine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facility and the other fixed costs on the P&amp;L</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 Shown for service and parts.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ties staffing and pay plans to results.</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policy, training, equipment</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Goodwill and comebacks charged to the department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Grow gross faster than expense</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ROs &gt; Hours per RO &gt; ELR &gt; Mix &gt; GP%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represents how well you execute,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ELR plus hours per RO cannot be manipulated: true performance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visits are basic services.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Mishandled calls cost millions.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Where do calls go after hours and Sundays?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 ROs per advisor</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service advisor a month, down 7. Advisors grew 1.5%; ROs fell 2.3%.</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Every RO with a customer-pay line, whether or not labor was charged on it. One RO counts once, however many lines it has.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top of the engine. Hours, ELR and $ per RO all multiply off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clearest read on retention and on whether the front door is open.</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the Close to Losing and Unretained lists; sold-not-serviced vehicles</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Express service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easy maintenance keeps customers coming back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958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5254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3892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07999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0295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68933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 name="Shape 11"/>
          <p:cNvSpPr/>
          <p:nvPr/>
        </p:nvSpPr>
        <p:spPr>
          <a:xfrm>
            <a:off x="2670048" y="1756697"/>
            <a:ext cx="804672" cy="136676"/>
          </a:xfrm>
          <a:prstGeom prst="rect">
            <a:avLst/>
          </a:prstGeom>
          <a:solidFill>
            <a:srgbClr val="2587C5"/>
          </a:solidFill>
          <a:ln/>
        </p:spPr>
      </p:sp>
      <p:sp>
        <p:nvSpPr>
          <p:cNvPr id="14" name="Text 12"/>
          <p:cNvSpPr txBox="1"/>
          <p:nvPr/>
        </p:nvSpPr>
        <p:spPr>
          <a:xfrm>
            <a:off x="352958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5" name="Text 13"/>
          <p:cNvSpPr txBox="1"/>
          <p:nvPr/>
        </p:nvSpPr>
        <p:spPr>
          <a:xfrm>
            <a:off x="435254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6" name="Text 14"/>
          <p:cNvSpPr txBox="1"/>
          <p:nvPr/>
        </p:nvSpPr>
        <p:spPr>
          <a:xfrm>
            <a:off x="513892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8" name="Shape 16"/>
          <p:cNvSpPr/>
          <p:nvPr/>
        </p:nvSpPr>
        <p:spPr>
          <a:xfrm>
            <a:off x="2670048" y="2005199"/>
            <a:ext cx="786943" cy="136676"/>
          </a:xfrm>
          <a:prstGeom prst="rect">
            <a:avLst/>
          </a:prstGeom>
          <a:solidFill>
            <a:srgbClr val="2587C5"/>
          </a:solidFill>
          <a:ln/>
        </p:spPr>
      </p:sp>
      <p:sp>
        <p:nvSpPr>
          <p:cNvPr id="19" name="Text 17"/>
          <p:cNvSpPr txBox="1"/>
          <p:nvPr/>
        </p:nvSpPr>
        <p:spPr>
          <a:xfrm>
            <a:off x="352958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0" name="Text 18"/>
          <p:cNvSpPr txBox="1"/>
          <p:nvPr/>
        </p:nvSpPr>
        <p:spPr>
          <a:xfrm>
            <a:off x="435254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1" name="Text 19"/>
          <p:cNvSpPr txBox="1"/>
          <p:nvPr/>
        </p:nvSpPr>
        <p:spPr>
          <a:xfrm>
            <a:off x="513892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3" name="Shape 21"/>
          <p:cNvSpPr/>
          <p:nvPr/>
        </p:nvSpPr>
        <p:spPr>
          <a:xfrm>
            <a:off x="2670048" y="2253700"/>
            <a:ext cx="725286" cy="136676"/>
          </a:xfrm>
          <a:prstGeom prst="rect">
            <a:avLst/>
          </a:prstGeom>
          <a:solidFill>
            <a:srgbClr val="2587C5"/>
          </a:solidFill>
          <a:ln/>
        </p:spPr>
      </p:sp>
      <p:sp>
        <p:nvSpPr>
          <p:cNvPr id="24" name="Text 22"/>
          <p:cNvSpPr txBox="1"/>
          <p:nvPr/>
        </p:nvSpPr>
        <p:spPr>
          <a:xfrm>
            <a:off x="352958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5" name="Text 23"/>
          <p:cNvSpPr txBox="1"/>
          <p:nvPr/>
        </p:nvSpPr>
        <p:spPr>
          <a:xfrm>
            <a:off x="435254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513892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709617" cy="136676"/>
          </a:xfrm>
          <a:prstGeom prst="rect">
            <a:avLst/>
          </a:prstGeom>
          <a:solidFill>
            <a:srgbClr val="2587C5"/>
          </a:solidFill>
          <a:ln/>
        </p:spPr>
      </p:sp>
      <p:sp>
        <p:nvSpPr>
          <p:cNvPr id="29" name="Text 27"/>
          <p:cNvSpPr txBox="1"/>
          <p:nvPr/>
        </p:nvSpPr>
        <p:spPr>
          <a:xfrm>
            <a:off x="352958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0" name="Text 28"/>
          <p:cNvSpPr txBox="1"/>
          <p:nvPr/>
        </p:nvSpPr>
        <p:spPr>
          <a:xfrm>
            <a:off x="435254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1" name="Text 29"/>
          <p:cNvSpPr txBox="1"/>
          <p:nvPr/>
        </p:nvSpPr>
        <p:spPr>
          <a:xfrm>
            <a:off x="513892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3" name="Shape 31"/>
          <p:cNvSpPr/>
          <p:nvPr/>
        </p:nvSpPr>
        <p:spPr>
          <a:xfrm>
            <a:off x="2670048" y="2750703"/>
            <a:ext cx="510203" cy="136676"/>
          </a:xfrm>
          <a:prstGeom prst="rect">
            <a:avLst/>
          </a:prstGeom>
          <a:solidFill>
            <a:srgbClr val="2587C5"/>
          </a:solidFill>
          <a:ln/>
        </p:spPr>
      </p:sp>
      <p:sp>
        <p:nvSpPr>
          <p:cNvPr id="34" name="Text 32"/>
          <p:cNvSpPr txBox="1"/>
          <p:nvPr/>
        </p:nvSpPr>
        <p:spPr>
          <a:xfrm>
            <a:off x="352958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35" name="Text 33"/>
          <p:cNvSpPr txBox="1"/>
          <p:nvPr/>
        </p:nvSpPr>
        <p:spPr>
          <a:xfrm>
            <a:off x="435254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6" name="Text 34"/>
          <p:cNvSpPr txBox="1"/>
          <p:nvPr/>
        </p:nvSpPr>
        <p:spPr>
          <a:xfrm>
            <a:off x="513892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8" name="Shape 36"/>
          <p:cNvSpPr/>
          <p:nvPr/>
        </p:nvSpPr>
        <p:spPr>
          <a:xfrm>
            <a:off x="2670048" y="2999205"/>
            <a:ext cx="456478" cy="136676"/>
          </a:xfrm>
          <a:prstGeom prst="rect">
            <a:avLst/>
          </a:prstGeom>
          <a:solidFill>
            <a:srgbClr val="2587C5"/>
          </a:solidFill>
          <a:ln/>
        </p:spPr>
      </p:sp>
      <p:sp>
        <p:nvSpPr>
          <p:cNvPr id="39" name="Text 37"/>
          <p:cNvSpPr txBox="1"/>
          <p:nvPr/>
        </p:nvSpPr>
        <p:spPr>
          <a:xfrm>
            <a:off x="352958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0" name="Text 38"/>
          <p:cNvSpPr txBox="1"/>
          <p:nvPr/>
        </p:nvSpPr>
        <p:spPr>
          <a:xfrm>
            <a:off x="435254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1" name="Text 39"/>
          <p:cNvSpPr txBox="1"/>
          <p:nvPr/>
        </p:nvSpPr>
        <p:spPr>
          <a:xfrm>
            <a:off x="513892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3" name="Shape 41"/>
          <p:cNvSpPr/>
          <p:nvPr/>
        </p:nvSpPr>
        <p:spPr>
          <a:xfrm>
            <a:off x="2670048" y="3247707"/>
            <a:ext cx="350480" cy="136676"/>
          </a:xfrm>
          <a:prstGeom prst="rect">
            <a:avLst/>
          </a:prstGeom>
          <a:solidFill>
            <a:srgbClr val="2587C5"/>
          </a:solidFill>
          <a:ln/>
        </p:spPr>
      </p:sp>
      <p:sp>
        <p:nvSpPr>
          <p:cNvPr id="44" name="Text 42"/>
          <p:cNvSpPr txBox="1"/>
          <p:nvPr/>
        </p:nvSpPr>
        <p:spPr>
          <a:xfrm>
            <a:off x="352958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45" name="Text 43"/>
          <p:cNvSpPr txBox="1"/>
          <p:nvPr/>
        </p:nvSpPr>
        <p:spPr>
          <a:xfrm>
            <a:off x="435254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46" name="Text 44"/>
          <p:cNvSpPr txBox="1"/>
          <p:nvPr/>
        </p:nvSpPr>
        <p:spPr>
          <a:xfrm>
            <a:off x="513892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48" name="Shape 46"/>
          <p:cNvSpPr/>
          <p:nvPr/>
        </p:nvSpPr>
        <p:spPr>
          <a:xfrm>
            <a:off x="2670048" y="3496208"/>
            <a:ext cx="331101" cy="136676"/>
          </a:xfrm>
          <a:prstGeom prst="rect">
            <a:avLst/>
          </a:prstGeom>
          <a:solidFill>
            <a:srgbClr val="2587C5"/>
          </a:solidFill>
          <a:ln/>
        </p:spPr>
      </p:sp>
      <p:sp>
        <p:nvSpPr>
          <p:cNvPr id="49" name="Text 47"/>
          <p:cNvSpPr txBox="1"/>
          <p:nvPr/>
        </p:nvSpPr>
        <p:spPr>
          <a:xfrm>
            <a:off x="352958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0" name="Text 48"/>
          <p:cNvSpPr txBox="1"/>
          <p:nvPr/>
        </p:nvSpPr>
        <p:spPr>
          <a:xfrm>
            <a:off x="435254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513892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53" name="Shape 51"/>
          <p:cNvSpPr/>
          <p:nvPr/>
        </p:nvSpPr>
        <p:spPr>
          <a:xfrm>
            <a:off x="2670048" y="3744710"/>
            <a:ext cx="316904" cy="136676"/>
          </a:xfrm>
          <a:prstGeom prst="rect">
            <a:avLst/>
          </a:prstGeom>
          <a:solidFill>
            <a:srgbClr val="2587C5"/>
          </a:solidFill>
          <a:ln/>
        </p:spPr>
      </p:sp>
      <p:sp>
        <p:nvSpPr>
          <p:cNvPr id="54" name="Text 52"/>
          <p:cNvSpPr txBox="1"/>
          <p:nvPr/>
        </p:nvSpPr>
        <p:spPr>
          <a:xfrm>
            <a:off x="352958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55" name="Text 53"/>
          <p:cNvSpPr txBox="1"/>
          <p:nvPr/>
        </p:nvSpPr>
        <p:spPr>
          <a:xfrm>
            <a:off x="435254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56" name="Text 54"/>
          <p:cNvSpPr txBox="1"/>
          <p:nvPr/>
        </p:nvSpPr>
        <p:spPr>
          <a:xfrm>
            <a:off x="513892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8" name="Shape 56"/>
          <p:cNvSpPr/>
          <p:nvPr/>
        </p:nvSpPr>
        <p:spPr>
          <a:xfrm>
            <a:off x="2670048" y="3993212"/>
            <a:ext cx="295308" cy="136676"/>
          </a:xfrm>
          <a:prstGeom prst="rect">
            <a:avLst/>
          </a:prstGeom>
          <a:solidFill>
            <a:srgbClr val="2587C5"/>
          </a:solidFill>
          <a:ln/>
        </p:spPr>
      </p:sp>
      <p:sp>
        <p:nvSpPr>
          <p:cNvPr id="59" name="Text 57"/>
          <p:cNvSpPr txBox="1"/>
          <p:nvPr/>
        </p:nvSpPr>
        <p:spPr>
          <a:xfrm>
            <a:off x="352958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60" name="Text 58"/>
          <p:cNvSpPr txBox="1"/>
          <p:nvPr/>
        </p:nvSpPr>
        <p:spPr>
          <a:xfrm>
            <a:off x="435254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1" name="Text 59"/>
          <p:cNvSpPr txBox="1"/>
          <p:nvPr/>
        </p:nvSpPr>
        <p:spPr>
          <a:xfrm>
            <a:off x="513892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279971" cy="136676"/>
          </a:xfrm>
          <a:prstGeom prst="rect">
            <a:avLst/>
          </a:prstGeom>
          <a:solidFill>
            <a:srgbClr val="2587C5"/>
          </a:solidFill>
          <a:ln/>
        </p:spPr>
      </p:sp>
      <p:sp>
        <p:nvSpPr>
          <p:cNvPr id="64" name="Text 62"/>
          <p:cNvSpPr txBox="1"/>
          <p:nvPr/>
        </p:nvSpPr>
        <p:spPr>
          <a:xfrm>
            <a:off x="352958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65" name="Text 63"/>
          <p:cNvSpPr txBox="1"/>
          <p:nvPr/>
        </p:nvSpPr>
        <p:spPr>
          <a:xfrm>
            <a:off x="435254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6" name="Text 64"/>
          <p:cNvSpPr txBox="1"/>
          <p:nvPr/>
        </p:nvSpPr>
        <p:spPr>
          <a:xfrm>
            <a:off x="513892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68" name="Shape 66"/>
          <p:cNvSpPr/>
          <p:nvPr/>
        </p:nvSpPr>
        <p:spPr>
          <a:xfrm>
            <a:off x="2670048" y="4490215"/>
            <a:ext cx="275254" cy="136676"/>
          </a:xfrm>
          <a:prstGeom prst="rect">
            <a:avLst/>
          </a:prstGeom>
          <a:solidFill>
            <a:srgbClr val="2587C5"/>
          </a:solidFill>
          <a:ln/>
        </p:spPr>
      </p:sp>
      <p:sp>
        <p:nvSpPr>
          <p:cNvPr id="69" name="Text 67"/>
          <p:cNvSpPr txBox="1"/>
          <p:nvPr/>
        </p:nvSpPr>
        <p:spPr>
          <a:xfrm>
            <a:off x="352958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70" name="Text 68"/>
          <p:cNvSpPr txBox="1"/>
          <p:nvPr/>
        </p:nvSpPr>
        <p:spPr>
          <a:xfrm>
            <a:off x="435254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71" name="Text 69"/>
          <p:cNvSpPr txBox="1"/>
          <p:nvPr/>
        </p:nvSpPr>
        <p:spPr>
          <a:xfrm>
            <a:off x="513892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73" name="Shape 71"/>
          <p:cNvSpPr/>
          <p:nvPr/>
        </p:nvSpPr>
        <p:spPr>
          <a:xfrm>
            <a:off x="2670048" y="4738717"/>
            <a:ext cx="249770" cy="136676"/>
          </a:xfrm>
          <a:prstGeom prst="rect">
            <a:avLst/>
          </a:prstGeom>
          <a:solidFill>
            <a:srgbClr val="2587C5"/>
          </a:solidFill>
          <a:ln/>
        </p:spPr>
      </p:sp>
      <p:sp>
        <p:nvSpPr>
          <p:cNvPr id="74" name="Text 72"/>
          <p:cNvSpPr txBox="1"/>
          <p:nvPr/>
        </p:nvSpPr>
        <p:spPr>
          <a:xfrm>
            <a:off x="352958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75" name="Text 73"/>
          <p:cNvSpPr txBox="1"/>
          <p:nvPr/>
        </p:nvSpPr>
        <p:spPr>
          <a:xfrm>
            <a:off x="435254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76" name="Text 74"/>
          <p:cNvSpPr txBox="1"/>
          <p:nvPr/>
        </p:nvSpPr>
        <p:spPr>
          <a:xfrm>
            <a:off x="513892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8" name="Shape 76"/>
          <p:cNvSpPr/>
          <p:nvPr/>
        </p:nvSpPr>
        <p:spPr>
          <a:xfrm>
            <a:off x="2670048" y="4987218"/>
            <a:ext cx="246222" cy="136676"/>
          </a:xfrm>
          <a:prstGeom prst="rect">
            <a:avLst/>
          </a:prstGeom>
          <a:solidFill>
            <a:srgbClr val="2587C5"/>
          </a:solidFill>
          <a:ln/>
        </p:spPr>
      </p:sp>
      <p:sp>
        <p:nvSpPr>
          <p:cNvPr id="79" name="Text 77"/>
          <p:cNvSpPr txBox="1"/>
          <p:nvPr/>
        </p:nvSpPr>
        <p:spPr>
          <a:xfrm>
            <a:off x="352958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80" name="Text 78"/>
          <p:cNvSpPr txBox="1"/>
          <p:nvPr/>
        </p:nvSpPr>
        <p:spPr>
          <a:xfrm>
            <a:off x="435254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81" name="Text 79"/>
          <p:cNvSpPr txBox="1"/>
          <p:nvPr/>
        </p:nvSpPr>
        <p:spPr>
          <a:xfrm>
            <a:off x="513892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2670048" y="5235720"/>
            <a:ext cx="245006" cy="136676"/>
          </a:xfrm>
          <a:prstGeom prst="rect">
            <a:avLst/>
          </a:prstGeom>
          <a:solidFill>
            <a:srgbClr val="2587C5"/>
          </a:solidFill>
          <a:ln/>
        </p:spPr>
      </p:sp>
      <p:sp>
        <p:nvSpPr>
          <p:cNvPr id="84" name="Text 82"/>
          <p:cNvSpPr txBox="1"/>
          <p:nvPr/>
        </p:nvSpPr>
        <p:spPr>
          <a:xfrm>
            <a:off x="352958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85" name="Text 83"/>
          <p:cNvSpPr txBox="1"/>
          <p:nvPr/>
        </p:nvSpPr>
        <p:spPr>
          <a:xfrm>
            <a:off x="435254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86" name="Text 84"/>
          <p:cNvSpPr txBox="1"/>
          <p:nvPr/>
        </p:nvSpPr>
        <p:spPr>
          <a:xfrm>
            <a:off x="513892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43965" cy="136676"/>
          </a:xfrm>
          <a:prstGeom prst="rect">
            <a:avLst/>
          </a:prstGeom>
          <a:solidFill>
            <a:srgbClr val="2587C5"/>
          </a:solidFill>
          <a:ln/>
        </p:spPr>
      </p:sp>
      <p:sp>
        <p:nvSpPr>
          <p:cNvPr id="89" name="Text 87"/>
          <p:cNvSpPr txBox="1"/>
          <p:nvPr/>
        </p:nvSpPr>
        <p:spPr>
          <a:xfrm>
            <a:off x="352958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90" name="Text 88"/>
          <p:cNvSpPr txBox="1"/>
          <p:nvPr/>
        </p:nvSpPr>
        <p:spPr>
          <a:xfrm>
            <a:off x="435254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91" name="Text 89"/>
          <p:cNvSpPr txBox="1"/>
          <p:nvPr/>
        </p:nvSpPr>
        <p:spPr>
          <a:xfrm>
            <a:off x="513892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3" name="Shape 91"/>
          <p:cNvSpPr/>
          <p:nvPr/>
        </p:nvSpPr>
        <p:spPr>
          <a:xfrm>
            <a:off x="2670048" y="5732723"/>
            <a:ext cx="232714" cy="136676"/>
          </a:xfrm>
          <a:prstGeom prst="rect">
            <a:avLst/>
          </a:prstGeom>
          <a:solidFill>
            <a:srgbClr val="2587C5"/>
          </a:solidFill>
          <a:ln/>
        </p:spPr>
      </p:sp>
      <p:sp>
        <p:nvSpPr>
          <p:cNvPr id="94" name="Text 92"/>
          <p:cNvSpPr txBox="1"/>
          <p:nvPr/>
        </p:nvSpPr>
        <p:spPr>
          <a:xfrm>
            <a:off x="352958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435254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96" name="Text 94"/>
          <p:cNvSpPr txBox="1"/>
          <p:nvPr/>
        </p:nvSpPr>
        <p:spPr>
          <a:xfrm>
            <a:off x="513892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98" name="Shape 96"/>
          <p:cNvSpPr/>
          <p:nvPr/>
        </p:nvSpPr>
        <p:spPr>
          <a:xfrm>
            <a:off x="8220456" y="1756697"/>
            <a:ext cx="232057" cy="136676"/>
          </a:xfrm>
          <a:prstGeom prst="rect">
            <a:avLst/>
          </a:prstGeom>
          <a:solidFill>
            <a:srgbClr val="2587C5"/>
          </a:solidFill>
          <a:ln/>
        </p:spPr>
      </p:sp>
      <p:sp>
        <p:nvSpPr>
          <p:cNvPr id="99" name="Text 97"/>
          <p:cNvSpPr txBox="1"/>
          <p:nvPr/>
        </p:nvSpPr>
        <p:spPr>
          <a:xfrm>
            <a:off x="907999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00" name="Text 98"/>
          <p:cNvSpPr txBox="1"/>
          <p:nvPr/>
        </p:nvSpPr>
        <p:spPr>
          <a:xfrm>
            <a:off x="990295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01" name="Text 99"/>
          <p:cNvSpPr txBox="1"/>
          <p:nvPr/>
        </p:nvSpPr>
        <p:spPr>
          <a:xfrm>
            <a:off x="1068933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3" name="Shape 101"/>
          <p:cNvSpPr/>
          <p:nvPr/>
        </p:nvSpPr>
        <p:spPr>
          <a:xfrm>
            <a:off x="8220456" y="2005199"/>
            <a:ext cx="227868" cy="136676"/>
          </a:xfrm>
          <a:prstGeom prst="rect">
            <a:avLst/>
          </a:prstGeom>
          <a:solidFill>
            <a:srgbClr val="2587C5"/>
          </a:solidFill>
          <a:ln/>
        </p:spPr>
      </p:sp>
      <p:sp>
        <p:nvSpPr>
          <p:cNvPr id="104" name="Text 102"/>
          <p:cNvSpPr txBox="1"/>
          <p:nvPr/>
        </p:nvSpPr>
        <p:spPr>
          <a:xfrm>
            <a:off x="907999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05" name="Text 103"/>
          <p:cNvSpPr txBox="1"/>
          <p:nvPr/>
        </p:nvSpPr>
        <p:spPr>
          <a:xfrm>
            <a:off x="990295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06" name="Text 104"/>
          <p:cNvSpPr txBox="1"/>
          <p:nvPr/>
        </p:nvSpPr>
        <p:spPr>
          <a:xfrm>
            <a:off x="1068933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8" name="Shape 106"/>
          <p:cNvSpPr/>
          <p:nvPr/>
        </p:nvSpPr>
        <p:spPr>
          <a:xfrm>
            <a:off x="8220456" y="2253700"/>
            <a:ext cx="216710" cy="136676"/>
          </a:xfrm>
          <a:prstGeom prst="rect">
            <a:avLst/>
          </a:prstGeom>
          <a:solidFill>
            <a:srgbClr val="2587C5"/>
          </a:solidFill>
          <a:ln/>
        </p:spPr>
      </p:sp>
      <p:sp>
        <p:nvSpPr>
          <p:cNvPr id="109" name="Text 107"/>
          <p:cNvSpPr txBox="1"/>
          <p:nvPr/>
        </p:nvSpPr>
        <p:spPr>
          <a:xfrm>
            <a:off x="907999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10" name="Text 108"/>
          <p:cNvSpPr txBox="1"/>
          <p:nvPr/>
        </p:nvSpPr>
        <p:spPr>
          <a:xfrm>
            <a:off x="990295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1" name="Text 109"/>
          <p:cNvSpPr txBox="1"/>
          <p:nvPr/>
        </p:nvSpPr>
        <p:spPr>
          <a:xfrm>
            <a:off x="1068933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2502202"/>
            <a:ext cx="213355" cy="136676"/>
          </a:xfrm>
          <a:prstGeom prst="rect">
            <a:avLst/>
          </a:prstGeom>
          <a:solidFill>
            <a:srgbClr val="2587C5"/>
          </a:solidFill>
          <a:ln/>
        </p:spPr>
      </p:sp>
      <p:sp>
        <p:nvSpPr>
          <p:cNvPr id="114" name="Text 112"/>
          <p:cNvSpPr txBox="1"/>
          <p:nvPr/>
        </p:nvSpPr>
        <p:spPr>
          <a:xfrm>
            <a:off x="907999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15" name="Text 113"/>
          <p:cNvSpPr txBox="1"/>
          <p:nvPr/>
        </p:nvSpPr>
        <p:spPr>
          <a:xfrm>
            <a:off x="990295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16" name="Text 114"/>
          <p:cNvSpPr txBox="1"/>
          <p:nvPr/>
        </p:nvSpPr>
        <p:spPr>
          <a:xfrm>
            <a:off x="1068933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8" name="Shape 116"/>
          <p:cNvSpPr/>
          <p:nvPr/>
        </p:nvSpPr>
        <p:spPr>
          <a:xfrm>
            <a:off x="8220456" y="2750703"/>
            <a:ext cx="211393" cy="136676"/>
          </a:xfrm>
          <a:prstGeom prst="rect">
            <a:avLst/>
          </a:prstGeom>
          <a:solidFill>
            <a:srgbClr val="2587C5"/>
          </a:solidFill>
          <a:ln/>
        </p:spPr>
      </p:sp>
      <p:sp>
        <p:nvSpPr>
          <p:cNvPr id="119" name="Text 117"/>
          <p:cNvSpPr txBox="1"/>
          <p:nvPr/>
        </p:nvSpPr>
        <p:spPr>
          <a:xfrm>
            <a:off x="907999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20" name="Text 118"/>
          <p:cNvSpPr txBox="1"/>
          <p:nvPr/>
        </p:nvSpPr>
        <p:spPr>
          <a:xfrm>
            <a:off x="990295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21" name="Text 119"/>
          <p:cNvSpPr txBox="1"/>
          <p:nvPr/>
        </p:nvSpPr>
        <p:spPr>
          <a:xfrm>
            <a:off x="1068933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3" name="Shape 121"/>
          <p:cNvSpPr/>
          <p:nvPr/>
        </p:nvSpPr>
        <p:spPr>
          <a:xfrm>
            <a:off x="8220456" y="2999205"/>
            <a:ext cx="201201" cy="136676"/>
          </a:xfrm>
          <a:prstGeom prst="rect">
            <a:avLst/>
          </a:prstGeom>
          <a:solidFill>
            <a:srgbClr val="2587C5"/>
          </a:solidFill>
          <a:ln/>
        </p:spPr>
      </p:sp>
      <p:sp>
        <p:nvSpPr>
          <p:cNvPr id="124" name="Text 122"/>
          <p:cNvSpPr txBox="1"/>
          <p:nvPr/>
        </p:nvSpPr>
        <p:spPr>
          <a:xfrm>
            <a:off x="907999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25" name="Text 123"/>
          <p:cNvSpPr txBox="1"/>
          <p:nvPr/>
        </p:nvSpPr>
        <p:spPr>
          <a:xfrm>
            <a:off x="990295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26" name="Text 124"/>
          <p:cNvSpPr txBox="1"/>
          <p:nvPr/>
        </p:nvSpPr>
        <p:spPr>
          <a:xfrm>
            <a:off x="1068933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95251" cy="136676"/>
          </a:xfrm>
          <a:prstGeom prst="rect">
            <a:avLst/>
          </a:prstGeom>
          <a:solidFill>
            <a:srgbClr val="2587C5"/>
          </a:solidFill>
          <a:ln/>
        </p:spPr>
      </p:sp>
      <p:sp>
        <p:nvSpPr>
          <p:cNvPr id="129" name="Text 127"/>
          <p:cNvSpPr txBox="1"/>
          <p:nvPr/>
        </p:nvSpPr>
        <p:spPr>
          <a:xfrm>
            <a:off x="907999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30" name="Text 128"/>
          <p:cNvSpPr txBox="1"/>
          <p:nvPr/>
        </p:nvSpPr>
        <p:spPr>
          <a:xfrm>
            <a:off x="990295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31" name="Text 129"/>
          <p:cNvSpPr txBox="1"/>
          <p:nvPr/>
        </p:nvSpPr>
        <p:spPr>
          <a:xfrm>
            <a:off x="1068933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93063" cy="136676"/>
          </a:xfrm>
          <a:prstGeom prst="rect">
            <a:avLst/>
          </a:prstGeom>
          <a:solidFill>
            <a:srgbClr val="2587C5"/>
          </a:solidFill>
          <a:ln/>
        </p:spPr>
      </p:sp>
      <p:sp>
        <p:nvSpPr>
          <p:cNvPr id="134" name="Text 132"/>
          <p:cNvSpPr txBox="1"/>
          <p:nvPr/>
        </p:nvSpPr>
        <p:spPr>
          <a:xfrm>
            <a:off x="907999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35" name="Text 133"/>
          <p:cNvSpPr txBox="1"/>
          <p:nvPr/>
        </p:nvSpPr>
        <p:spPr>
          <a:xfrm>
            <a:off x="990295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36" name="Text 134"/>
          <p:cNvSpPr txBox="1"/>
          <p:nvPr/>
        </p:nvSpPr>
        <p:spPr>
          <a:xfrm>
            <a:off x="1068933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8" name="Shape 136"/>
          <p:cNvSpPr/>
          <p:nvPr/>
        </p:nvSpPr>
        <p:spPr>
          <a:xfrm>
            <a:off x="8220456" y="3744710"/>
            <a:ext cx="184766" cy="136676"/>
          </a:xfrm>
          <a:prstGeom prst="rect">
            <a:avLst/>
          </a:prstGeom>
          <a:solidFill>
            <a:srgbClr val="2587C5"/>
          </a:solidFill>
          <a:ln/>
        </p:spPr>
      </p:sp>
      <p:sp>
        <p:nvSpPr>
          <p:cNvPr id="139" name="Text 137"/>
          <p:cNvSpPr txBox="1"/>
          <p:nvPr/>
        </p:nvSpPr>
        <p:spPr>
          <a:xfrm>
            <a:off x="907999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40" name="Text 138"/>
          <p:cNvSpPr txBox="1"/>
          <p:nvPr/>
        </p:nvSpPr>
        <p:spPr>
          <a:xfrm>
            <a:off x="990295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41" name="Text 139"/>
          <p:cNvSpPr txBox="1"/>
          <p:nvPr/>
        </p:nvSpPr>
        <p:spPr>
          <a:xfrm>
            <a:off x="1068933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166831" cy="136676"/>
          </a:xfrm>
          <a:prstGeom prst="rect">
            <a:avLst/>
          </a:prstGeom>
          <a:solidFill>
            <a:srgbClr val="2587C5"/>
          </a:solidFill>
          <a:ln/>
        </p:spPr>
      </p:sp>
      <p:sp>
        <p:nvSpPr>
          <p:cNvPr id="144" name="Text 142"/>
          <p:cNvSpPr txBox="1"/>
          <p:nvPr/>
        </p:nvSpPr>
        <p:spPr>
          <a:xfrm>
            <a:off x="907999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45" name="Text 143"/>
          <p:cNvSpPr txBox="1"/>
          <p:nvPr/>
        </p:nvSpPr>
        <p:spPr>
          <a:xfrm>
            <a:off x="990295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46" name="Text 144"/>
          <p:cNvSpPr txBox="1"/>
          <p:nvPr/>
        </p:nvSpPr>
        <p:spPr>
          <a:xfrm>
            <a:off x="1068933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8" name="Shape 146"/>
          <p:cNvSpPr/>
          <p:nvPr/>
        </p:nvSpPr>
        <p:spPr>
          <a:xfrm>
            <a:off x="8220456" y="4241713"/>
            <a:ext cx="163399" cy="136676"/>
          </a:xfrm>
          <a:prstGeom prst="rect">
            <a:avLst/>
          </a:prstGeom>
          <a:solidFill>
            <a:srgbClr val="2587C5"/>
          </a:solidFill>
          <a:ln/>
        </p:spPr>
      </p:sp>
      <p:sp>
        <p:nvSpPr>
          <p:cNvPr id="149" name="Text 147"/>
          <p:cNvSpPr txBox="1"/>
          <p:nvPr/>
        </p:nvSpPr>
        <p:spPr>
          <a:xfrm>
            <a:off x="907999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0" name="Text 148"/>
          <p:cNvSpPr txBox="1"/>
          <p:nvPr/>
        </p:nvSpPr>
        <p:spPr>
          <a:xfrm>
            <a:off x="990295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51" name="Text 149"/>
          <p:cNvSpPr txBox="1"/>
          <p:nvPr/>
        </p:nvSpPr>
        <p:spPr>
          <a:xfrm>
            <a:off x="1068933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4490215"/>
            <a:ext cx="163357" cy="136676"/>
          </a:xfrm>
          <a:prstGeom prst="rect">
            <a:avLst/>
          </a:prstGeom>
          <a:solidFill>
            <a:srgbClr val="2587C5"/>
          </a:solidFill>
          <a:ln/>
        </p:spPr>
      </p:sp>
      <p:sp>
        <p:nvSpPr>
          <p:cNvPr id="154" name="Text 152"/>
          <p:cNvSpPr txBox="1"/>
          <p:nvPr/>
        </p:nvSpPr>
        <p:spPr>
          <a:xfrm>
            <a:off x="907999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55" name="Text 153"/>
          <p:cNvSpPr txBox="1"/>
          <p:nvPr/>
        </p:nvSpPr>
        <p:spPr>
          <a:xfrm>
            <a:off x="990295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56" name="Text 154"/>
          <p:cNvSpPr txBox="1"/>
          <p:nvPr/>
        </p:nvSpPr>
        <p:spPr>
          <a:xfrm>
            <a:off x="1068933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8" name="Shape 156"/>
          <p:cNvSpPr/>
          <p:nvPr/>
        </p:nvSpPr>
        <p:spPr>
          <a:xfrm>
            <a:off x="8220456" y="4738717"/>
            <a:ext cx="163282" cy="136676"/>
          </a:xfrm>
          <a:prstGeom prst="rect">
            <a:avLst/>
          </a:prstGeom>
          <a:solidFill>
            <a:srgbClr val="2587C5"/>
          </a:solidFill>
          <a:ln/>
        </p:spPr>
      </p:sp>
      <p:sp>
        <p:nvSpPr>
          <p:cNvPr id="159" name="Text 157"/>
          <p:cNvSpPr txBox="1"/>
          <p:nvPr/>
        </p:nvSpPr>
        <p:spPr>
          <a:xfrm>
            <a:off x="907999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60" name="Text 158"/>
          <p:cNvSpPr txBox="1"/>
          <p:nvPr/>
        </p:nvSpPr>
        <p:spPr>
          <a:xfrm>
            <a:off x="990295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1" name="Text 159"/>
          <p:cNvSpPr txBox="1"/>
          <p:nvPr/>
        </p:nvSpPr>
        <p:spPr>
          <a:xfrm>
            <a:off x="1068933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3" name="Shape 161"/>
          <p:cNvSpPr/>
          <p:nvPr/>
        </p:nvSpPr>
        <p:spPr>
          <a:xfrm>
            <a:off x="8220456" y="4987218"/>
            <a:ext cx="151770" cy="136676"/>
          </a:xfrm>
          <a:prstGeom prst="rect">
            <a:avLst/>
          </a:prstGeom>
          <a:solidFill>
            <a:srgbClr val="2587C5"/>
          </a:solidFill>
          <a:ln/>
        </p:spPr>
      </p:sp>
      <p:sp>
        <p:nvSpPr>
          <p:cNvPr id="164" name="Text 162"/>
          <p:cNvSpPr txBox="1"/>
          <p:nvPr/>
        </p:nvSpPr>
        <p:spPr>
          <a:xfrm>
            <a:off x="907999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65" name="Text 163"/>
          <p:cNvSpPr txBox="1"/>
          <p:nvPr/>
        </p:nvSpPr>
        <p:spPr>
          <a:xfrm>
            <a:off x="990295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66" name="Text 164"/>
          <p:cNvSpPr txBox="1"/>
          <p:nvPr/>
        </p:nvSpPr>
        <p:spPr>
          <a:xfrm>
            <a:off x="1068933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8" name="Shape 166"/>
          <p:cNvSpPr/>
          <p:nvPr/>
        </p:nvSpPr>
        <p:spPr>
          <a:xfrm>
            <a:off x="8220456" y="5235720"/>
            <a:ext cx="149543" cy="136676"/>
          </a:xfrm>
          <a:prstGeom prst="rect">
            <a:avLst/>
          </a:prstGeom>
          <a:solidFill>
            <a:srgbClr val="2587C5"/>
          </a:solidFill>
          <a:ln/>
        </p:spPr>
      </p:sp>
      <p:sp>
        <p:nvSpPr>
          <p:cNvPr id="169" name="Text 167"/>
          <p:cNvSpPr txBox="1"/>
          <p:nvPr/>
        </p:nvSpPr>
        <p:spPr>
          <a:xfrm>
            <a:off x="907999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170" name="Text 168"/>
          <p:cNvSpPr txBox="1"/>
          <p:nvPr/>
        </p:nvSpPr>
        <p:spPr>
          <a:xfrm>
            <a:off x="990295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71" name="Text 169"/>
          <p:cNvSpPr txBox="1"/>
          <p:nvPr/>
        </p:nvSpPr>
        <p:spPr>
          <a:xfrm>
            <a:off x="1068933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73" name="Shape 171"/>
          <p:cNvSpPr/>
          <p:nvPr/>
        </p:nvSpPr>
        <p:spPr>
          <a:xfrm>
            <a:off x="8220456" y="5484222"/>
            <a:ext cx="147241" cy="136676"/>
          </a:xfrm>
          <a:prstGeom prst="rect">
            <a:avLst/>
          </a:prstGeom>
          <a:solidFill>
            <a:srgbClr val="2587C5"/>
          </a:solidFill>
          <a:ln/>
        </p:spPr>
      </p:sp>
      <p:sp>
        <p:nvSpPr>
          <p:cNvPr id="174" name="Text 172"/>
          <p:cNvSpPr txBox="1"/>
          <p:nvPr/>
        </p:nvSpPr>
        <p:spPr>
          <a:xfrm>
            <a:off x="907999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75" name="Text 173"/>
          <p:cNvSpPr txBox="1"/>
          <p:nvPr/>
        </p:nvSpPr>
        <p:spPr>
          <a:xfrm>
            <a:off x="990295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76" name="Text 174"/>
          <p:cNvSpPr txBox="1"/>
          <p:nvPr/>
        </p:nvSpPr>
        <p:spPr>
          <a:xfrm>
            <a:off x="1068933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labor time we sell on the average customer-pay visit.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per RO  </a:t>
            </a:r>
            <a:pPr algn="ctr" indent="0" marL="0">
              <a:buNone/>
            </a:pPr>
            <a:r>
              <a:rPr lang="en-US" sz="1400" b="1" dirty="0">
                <a:solidFill>
                  <a:srgbClr val="0B2C4A"/>
                </a:solidFill>
                <a:latin typeface="Inter" pitchFamily="34" charset="0"/>
                <a:ea typeface="Inter" pitchFamily="34" charset="-122"/>
                <a:cs typeface="Inter" pitchFamily="34" charset="-120"/>
              </a:rPr>
              <a:t>= $4,543,691 of labor</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a $162.42 ELR on  </a:t>
            </a:r>
            <a:pPr algn="ctr" indent="0" marL="0">
              <a:buNone/>
            </a:pPr>
            <a:r>
              <a:rPr lang="en-US" sz="1400" b="1" dirty="0">
                <a:solidFill>
                  <a:srgbClr val="0B2C4A"/>
                </a:solidFill>
                <a:latin typeface="Inter" pitchFamily="34" charset="0"/>
                <a:ea typeface="Inter" pitchFamily="34" charset="-122"/>
                <a:cs typeface="Inter" pitchFamily="34" charset="-120"/>
              </a:rPr>
              <a:t>279,756 ROs</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work the customer agreed to.</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main lever while car count is flat.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2.90, non-luxury 1.75.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22688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90163" cy="110266"/>
          </a:xfrm>
          <a:prstGeom prst="rect">
            <a:avLst/>
          </a:prstGeom>
          <a:solidFill>
            <a:srgbClr val="12A566"/>
          </a:solidFill>
          <a:ln/>
        </p:spPr>
      </p:sp>
      <p:sp>
        <p:nvSpPr>
          <p:cNvPr id="22" name="Shape 20"/>
          <p:cNvSpPr/>
          <p:nvPr/>
        </p:nvSpPr>
        <p:spPr>
          <a:xfrm>
            <a:off x="422688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476808" cy="110266"/>
          </a:xfrm>
          <a:prstGeom prst="rect">
            <a:avLst/>
          </a:prstGeom>
          <a:solidFill>
            <a:srgbClr val="12A566"/>
          </a:solidFill>
          <a:ln/>
        </p:spPr>
      </p:sp>
      <p:sp>
        <p:nvSpPr>
          <p:cNvPr id="28" name="Shape 26"/>
          <p:cNvSpPr/>
          <p:nvPr/>
        </p:nvSpPr>
        <p:spPr>
          <a:xfrm>
            <a:off x="422688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76344" cy="110266"/>
          </a:xfrm>
          <a:prstGeom prst="rect">
            <a:avLst/>
          </a:prstGeom>
          <a:solidFill>
            <a:srgbClr val="12A566"/>
          </a:solidFill>
          <a:ln/>
        </p:spPr>
      </p:sp>
      <p:sp>
        <p:nvSpPr>
          <p:cNvPr id="34" name="Shape 32"/>
          <p:cNvSpPr/>
          <p:nvPr/>
        </p:nvSpPr>
        <p:spPr>
          <a:xfrm>
            <a:off x="422688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113532"/>
            <a:ext cx="1157406" cy="110266"/>
          </a:xfrm>
          <a:prstGeom prst="rect">
            <a:avLst/>
          </a:prstGeom>
          <a:solidFill>
            <a:srgbClr val="C2352F"/>
          </a:solidFill>
          <a:ln/>
        </p:spPr>
      </p:sp>
      <p:sp>
        <p:nvSpPr>
          <p:cNvPr id="40" name="Shape 38"/>
          <p:cNvSpPr/>
          <p:nvPr/>
        </p:nvSpPr>
        <p:spPr>
          <a:xfrm>
            <a:off x="422688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3008376" y="3334064"/>
            <a:ext cx="1156140" cy="110266"/>
          </a:xfrm>
          <a:prstGeom prst="rect">
            <a:avLst/>
          </a:prstGeom>
          <a:solidFill>
            <a:srgbClr val="C2352F"/>
          </a:solidFill>
          <a:ln/>
        </p:spPr>
      </p:sp>
      <p:sp>
        <p:nvSpPr>
          <p:cNvPr id="46" name="Shape 44"/>
          <p:cNvSpPr/>
          <p:nvPr/>
        </p:nvSpPr>
        <p:spPr>
          <a:xfrm>
            <a:off x="422688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0" name="Shape 48"/>
          <p:cNvSpPr/>
          <p:nvPr/>
        </p:nvSpPr>
        <p:spPr>
          <a:xfrm>
            <a:off x="3008376" y="3554596"/>
            <a:ext cx="1055814" cy="110266"/>
          </a:xfrm>
          <a:prstGeom prst="rect">
            <a:avLst/>
          </a:prstGeom>
          <a:solidFill>
            <a:srgbClr val="12A566"/>
          </a:solidFill>
          <a:ln/>
        </p:spPr>
      </p:sp>
      <p:sp>
        <p:nvSpPr>
          <p:cNvPr id="51" name="Shape 49"/>
          <p:cNvSpPr/>
          <p:nvPr/>
        </p:nvSpPr>
        <p:spPr>
          <a:xfrm>
            <a:off x="3737371"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775127"/>
            <a:ext cx="1053114" cy="110266"/>
          </a:xfrm>
          <a:prstGeom prst="rect">
            <a:avLst/>
          </a:prstGeom>
          <a:solidFill>
            <a:srgbClr val="C2352F"/>
          </a:solidFill>
          <a:ln/>
        </p:spPr>
      </p:sp>
      <p:sp>
        <p:nvSpPr>
          <p:cNvPr id="57" name="Shape 55"/>
          <p:cNvSpPr/>
          <p:nvPr/>
        </p:nvSpPr>
        <p:spPr>
          <a:xfrm>
            <a:off x="4226889"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008376" y="3995659"/>
            <a:ext cx="974646" cy="110266"/>
          </a:xfrm>
          <a:prstGeom prst="rect">
            <a:avLst/>
          </a:prstGeom>
          <a:solidFill>
            <a:srgbClr val="12A566"/>
          </a:solidFill>
          <a:ln/>
        </p:spPr>
      </p:sp>
      <p:sp>
        <p:nvSpPr>
          <p:cNvPr id="62" name="Shape 60"/>
          <p:cNvSpPr/>
          <p:nvPr/>
        </p:nvSpPr>
        <p:spPr>
          <a:xfrm>
            <a:off x="3737371"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5" name="Text 63"/>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4216191"/>
            <a:ext cx="974494" cy="110266"/>
          </a:xfrm>
          <a:prstGeom prst="rect">
            <a:avLst/>
          </a:prstGeom>
          <a:solidFill>
            <a:srgbClr val="12A566"/>
          </a:solidFill>
          <a:ln/>
        </p:spPr>
      </p:sp>
      <p:sp>
        <p:nvSpPr>
          <p:cNvPr id="67" name="Shape 65"/>
          <p:cNvSpPr/>
          <p:nvPr/>
        </p:nvSpPr>
        <p:spPr>
          <a:xfrm>
            <a:off x="3737371" y="4183111"/>
            <a:ext cx="21946" cy="176425"/>
          </a:xfrm>
          <a:prstGeom prst="rect">
            <a:avLst/>
          </a:prstGeom>
          <a:solidFill>
            <a:srgbClr val="0B2C4A"/>
          </a:solidFill>
          <a:ln/>
        </p:spPr>
      </p:sp>
      <p:sp>
        <p:nvSpPr>
          <p:cNvPr id="68" name="Text 66"/>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9" name="Shape 67"/>
          <p:cNvSpPr/>
          <p:nvPr/>
        </p:nvSpPr>
        <p:spPr>
          <a:xfrm>
            <a:off x="603504" y="4381590"/>
            <a:ext cx="5358384" cy="220532"/>
          </a:xfrm>
          <a:prstGeom prst="rect">
            <a:avLst/>
          </a:prstGeom>
          <a:solidFill>
            <a:srgbClr val="EDF4FA"/>
          </a:solidFill>
          <a:ln/>
        </p:spPr>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72" name="Shape 70"/>
          <p:cNvSpPr/>
          <p:nvPr/>
        </p:nvSpPr>
        <p:spPr>
          <a:xfrm>
            <a:off x="3008376" y="4436723"/>
            <a:ext cx="965563" cy="110266"/>
          </a:xfrm>
          <a:prstGeom prst="rect">
            <a:avLst/>
          </a:prstGeom>
          <a:solidFill>
            <a:srgbClr val="C2352F"/>
          </a:solidFill>
          <a:ln/>
        </p:spPr>
      </p:sp>
      <p:sp>
        <p:nvSpPr>
          <p:cNvPr id="73" name="Shape 71"/>
          <p:cNvSpPr/>
          <p:nvPr/>
        </p:nvSpPr>
        <p:spPr>
          <a:xfrm>
            <a:off x="4226889"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008376" y="4657254"/>
            <a:ext cx="933094" cy="110266"/>
          </a:xfrm>
          <a:prstGeom prst="rect">
            <a:avLst/>
          </a:prstGeom>
          <a:solidFill>
            <a:srgbClr val="12A566"/>
          </a:solidFill>
          <a:ln/>
        </p:spPr>
      </p:sp>
      <p:sp>
        <p:nvSpPr>
          <p:cNvPr id="78" name="Shape 76"/>
          <p:cNvSpPr/>
          <p:nvPr/>
        </p:nvSpPr>
        <p:spPr>
          <a:xfrm>
            <a:off x="3737371"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2" name="Shape 80"/>
          <p:cNvSpPr/>
          <p:nvPr/>
        </p:nvSpPr>
        <p:spPr>
          <a:xfrm>
            <a:off x="3008376" y="4877786"/>
            <a:ext cx="894556" cy="110266"/>
          </a:xfrm>
          <a:prstGeom prst="rect">
            <a:avLst/>
          </a:prstGeom>
          <a:solidFill>
            <a:srgbClr val="12A566"/>
          </a:solidFill>
          <a:ln/>
        </p:spPr>
      </p:sp>
      <p:sp>
        <p:nvSpPr>
          <p:cNvPr id="83" name="Shape 81"/>
          <p:cNvSpPr/>
          <p:nvPr/>
        </p:nvSpPr>
        <p:spPr>
          <a:xfrm>
            <a:off x="3737371"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85" name="Shape 83"/>
          <p:cNvSpPr/>
          <p:nvPr/>
        </p:nvSpPr>
        <p:spPr>
          <a:xfrm>
            <a:off x="603504" y="5043185"/>
            <a:ext cx="5358384" cy="220532"/>
          </a:xfrm>
          <a:prstGeom prst="rect">
            <a:avLst/>
          </a:prstGeom>
          <a:solidFill>
            <a:srgbClr val="EDF4FA"/>
          </a:solidFill>
          <a:ln/>
        </p:spPr>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88" name="Shape 86"/>
          <p:cNvSpPr/>
          <p:nvPr/>
        </p:nvSpPr>
        <p:spPr>
          <a:xfrm>
            <a:off x="3008376" y="5098318"/>
            <a:ext cx="883040" cy="110266"/>
          </a:xfrm>
          <a:prstGeom prst="rect">
            <a:avLst/>
          </a:prstGeom>
          <a:solidFill>
            <a:srgbClr val="C2352F"/>
          </a:solidFill>
          <a:ln/>
        </p:spPr>
      </p:sp>
      <p:sp>
        <p:nvSpPr>
          <p:cNvPr id="89" name="Shape 87"/>
          <p:cNvSpPr/>
          <p:nvPr/>
        </p:nvSpPr>
        <p:spPr>
          <a:xfrm>
            <a:off x="4226889"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318850"/>
            <a:ext cx="856355" cy="110266"/>
          </a:xfrm>
          <a:prstGeom prst="rect">
            <a:avLst/>
          </a:prstGeom>
          <a:solidFill>
            <a:srgbClr val="12A566"/>
          </a:solidFill>
          <a:ln/>
        </p:spPr>
      </p:sp>
      <p:sp>
        <p:nvSpPr>
          <p:cNvPr id="94" name="Shape 92"/>
          <p:cNvSpPr/>
          <p:nvPr/>
        </p:nvSpPr>
        <p:spPr>
          <a:xfrm>
            <a:off x="3737371"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8" name="Shape 96"/>
          <p:cNvSpPr/>
          <p:nvPr/>
        </p:nvSpPr>
        <p:spPr>
          <a:xfrm>
            <a:off x="3008376" y="5539381"/>
            <a:ext cx="850890" cy="110266"/>
          </a:xfrm>
          <a:prstGeom prst="rect">
            <a:avLst/>
          </a:prstGeom>
          <a:solidFill>
            <a:srgbClr val="12A566"/>
          </a:solidFill>
          <a:ln/>
        </p:spPr>
      </p:sp>
      <p:sp>
        <p:nvSpPr>
          <p:cNvPr id="99" name="Shape 97"/>
          <p:cNvSpPr/>
          <p:nvPr/>
        </p:nvSpPr>
        <p:spPr>
          <a:xfrm>
            <a:off x="3737371"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3" name="Shape 101"/>
          <p:cNvSpPr/>
          <p:nvPr/>
        </p:nvSpPr>
        <p:spPr>
          <a:xfrm>
            <a:off x="3008376" y="5759913"/>
            <a:ext cx="834371" cy="110266"/>
          </a:xfrm>
          <a:prstGeom prst="rect">
            <a:avLst/>
          </a:prstGeom>
          <a:solidFill>
            <a:srgbClr val="12A566"/>
          </a:solidFill>
          <a:ln/>
        </p:spPr>
      </p:sp>
      <p:sp>
        <p:nvSpPr>
          <p:cNvPr id="104" name="Shape 102"/>
          <p:cNvSpPr/>
          <p:nvPr/>
        </p:nvSpPr>
        <p:spPr>
          <a:xfrm>
            <a:off x="3737371"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2231405"/>
            <a:ext cx="829605" cy="110266"/>
          </a:xfrm>
          <a:prstGeom prst="rect">
            <a:avLst/>
          </a:prstGeom>
          <a:solidFill>
            <a:srgbClr val="12A566"/>
          </a:solidFill>
          <a:ln/>
        </p:spPr>
      </p:sp>
      <p:sp>
        <p:nvSpPr>
          <p:cNvPr id="109" name="Shape 107"/>
          <p:cNvSpPr/>
          <p:nvPr/>
        </p:nvSpPr>
        <p:spPr>
          <a:xfrm>
            <a:off x="9287779"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8558784" y="2451937"/>
            <a:ext cx="825334" cy="110266"/>
          </a:xfrm>
          <a:prstGeom prst="rect">
            <a:avLst/>
          </a:prstGeom>
          <a:solidFill>
            <a:srgbClr val="12A566"/>
          </a:solidFill>
          <a:ln/>
        </p:spPr>
      </p:sp>
      <p:sp>
        <p:nvSpPr>
          <p:cNvPr id="114" name="Shape 112"/>
          <p:cNvSpPr/>
          <p:nvPr/>
        </p:nvSpPr>
        <p:spPr>
          <a:xfrm>
            <a:off x="9287779"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8" name="Shape 116"/>
          <p:cNvSpPr/>
          <p:nvPr/>
        </p:nvSpPr>
        <p:spPr>
          <a:xfrm>
            <a:off x="8558784" y="2672468"/>
            <a:ext cx="738574" cy="110266"/>
          </a:xfrm>
          <a:prstGeom prst="rect">
            <a:avLst/>
          </a:prstGeom>
          <a:solidFill>
            <a:srgbClr val="C2352F"/>
          </a:solidFill>
          <a:ln/>
        </p:spPr>
      </p:sp>
      <p:sp>
        <p:nvSpPr>
          <p:cNvPr id="119" name="Shape 117"/>
          <p:cNvSpPr/>
          <p:nvPr/>
        </p:nvSpPr>
        <p:spPr>
          <a:xfrm>
            <a:off x="9287779"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2893000"/>
            <a:ext cx="723713" cy="110266"/>
          </a:xfrm>
          <a:prstGeom prst="rect">
            <a:avLst/>
          </a:prstGeom>
          <a:solidFill>
            <a:srgbClr val="C2352F"/>
          </a:solidFill>
          <a:ln/>
        </p:spPr>
      </p:sp>
      <p:sp>
        <p:nvSpPr>
          <p:cNvPr id="124" name="Shape 122"/>
          <p:cNvSpPr/>
          <p:nvPr/>
        </p:nvSpPr>
        <p:spPr>
          <a:xfrm>
            <a:off x="9287779"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705872" cy="110266"/>
          </a:xfrm>
          <a:prstGeom prst="rect">
            <a:avLst/>
          </a:prstGeom>
          <a:solidFill>
            <a:srgbClr val="C2352F"/>
          </a:solidFill>
          <a:ln/>
        </p:spPr>
      </p:sp>
      <p:sp>
        <p:nvSpPr>
          <p:cNvPr id="129" name="Shape 127"/>
          <p:cNvSpPr/>
          <p:nvPr/>
        </p:nvSpPr>
        <p:spPr>
          <a:xfrm>
            <a:off x="9287779"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8558784" y="3334064"/>
            <a:ext cx="693242" cy="110266"/>
          </a:xfrm>
          <a:prstGeom prst="rect">
            <a:avLst/>
          </a:prstGeom>
          <a:solidFill>
            <a:srgbClr val="C2352F"/>
          </a:solidFill>
          <a:ln/>
        </p:spPr>
      </p:sp>
      <p:sp>
        <p:nvSpPr>
          <p:cNvPr id="134" name="Shape 132"/>
          <p:cNvSpPr/>
          <p:nvPr/>
        </p:nvSpPr>
        <p:spPr>
          <a:xfrm>
            <a:off x="9287779"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8" name="Shape 136"/>
          <p:cNvSpPr/>
          <p:nvPr/>
        </p:nvSpPr>
        <p:spPr>
          <a:xfrm>
            <a:off x="8558784" y="3554596"/>
            <a:ext cx="677090" cy="110266"/>
          </a:xfrm>
          <a:prstGeom prst="rect">
            <a:avLst/>
          </a:prstGeom>
          <a:solidFill>
            <a:srgbClr val="C2352F"/>
          </a:solidFill>
          <a:ln/>
        </p:spPr>
      </p:sp>
      <p:sp>
        <p:nvSpPr>
          <p:cNvPr id="139" name="Shape 137"/>
          <p:cNvSpPr/>
          <p:nvPr/>
        </p:nvSpPr>
        <p:spPr>
          <a:xfrm>
            <a:off x="9287779"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664910" cy="110266"/>
          </a:xfrm>
          <a:prstGeom prst="rect">
            <a:avLst/>
          </a:prstGeom>
          <a:solidFill>
            <a:srgbClr val="C2352F"/>
          </a:solidFill>
          <a:ln/>
        </p:spPr>
      </p:sp>
      <p:sp>
        <p:nvSpPr>
          <p:cNvPr id="144" name="Shape 142"/>
          <p:cNvSpPr/>
          <p:nvPr/>
        </p:nvSpPr>
        <p:spPr>
          <a:xfrm>
            <a:off x="9287779"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3995659"/>
            <a:ext cx="628140" cy="110266"/>
          </a:xfrm>
          <a:prstGeom prst="rect">
            <a:avLst/>
          </a:prstGeom>
          <a:solidFill>
            <a:srgbClr val="C2352F"/>
          </a:solidFill>
          <a:ln/>
        </p:spPr>
      </p:sp>
      <p:sp>
        <p:nvSpPr>
          <p:cNvPr id="149" name="Shape 147"/>
          <p:cNvSpPr/>
          <p:nvPr/>
        </p:nvSpPr>
        <p:spPr>
          <a:xfrm>
            <a:off x="9287779"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623824" cy="110266"/>
          </a:xfrm>
          <a:prstGeom prst="rect">
            <a:avLst/>
          </a:prstGeom>
          <a:solidFill>
            <a:srgbClr val="C2352F"/>
          </a:solidFill>
          <a:ln/>
        </p:spPr>
      </p:sp>
      <p:sp>
        <p:nvSpPr>
          <p:cNvPr id="154" name="Shape 152"/>
          <p:cNvSpPr/>
          <p:nvPr/>
        </p:nvSpPr>
        <p:spPr>
          <a:xfrm>
            <a:off x="9287779"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558784" y="4436723"/>
            <a:ext cx="617009" cy="110266"/>
          </a:xfrm>
          <a:prstGeom prst="rect">
            <a:avLst/>
          </a:prstGeom>
          <a:solidFill>
            <a:srgbClr val="C2352F"/>
          </a:solidFill>
          <a:ln/>
        </p:spPr>
      </p:sp>
      <p:sp>
        <p:nvSpPr>
          <p:cNvPr id="159" name="Shape 157"/>
          <p:cNvSpPr/>
          <p:nvPr/>
        </p:nvSpPr>
        <p:spPr>
          <a:xfrm>
            <a:off x="9287779"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63" name="Shape 161"/>
          <p:cNvSpPr/>
          <p:nvPr/>
        </p:nvSpPr>
        <p:spPr>
          <a:xfrm>
            <a:off x="8558784" y="4657254"/>
            <a:ext cx="605522" cy="110266"/>
          </a:xfrm>
          <a:prstGeom prst="rect">
            <a:avLst/>
          </a:prstGeom>
          <a:solidFill>
            <a:srgbClr val="C2352F"/>
          </a:solidFill>
          <a:ln/>
        </p:spPr>
      </p:sp>
      <p:sp>
        <p:nvSpPr>
          <p:cNvPr id="164" name="Shape 162"/>
          <p:cNvSpPr/>
          <p:nvPr/>
        </p:nvSpPr>
        <p:spPr>
          <a:xfrm>
            <a:off x="9287779"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8" name="Shape 166"/>
          <p:cNvSpPr/>
          <p:nvPr/>
        </p:nvSpPr>
        <p:spPr>
          <a:xfrm>
            <a:off x="8558784" y="4877786"/>
            <a:ext cx="601932" cy="110266"/>
          </a:xfrm>
          <a:prstGeom prst="rect">
            <a:avLst/>
          </a:prstGeom>
          <a:solidFill>
            <a:srgbClr val="C2352F"/>
          </a:solidFill>
          <a:ln/>
        </p:spPr>
      </p:sp>
      <p:sp>
        <p:nvSpPr>
          <p:cNvPr id="169" name="Shape 167"/>
          <p:cNvSpPr/>
          <p:nvPr/>
        </p:nvSpPr>
        <p:spPr>
          <a:xfrm>
            <a:off x="9287779"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595642" cy="110266"/>
          </a:xfrm>
          <a:prstGeom prst="rect">
            <a:avLst/>
          </a:prstGeom>
          <a:solidFill>
            <a:srgbClr val="C2352F"/>
          </a:solidFill>
          <a:ln/>
        </p:spPr>
      </p:sp>
      <p:sp>
        <p:nvSpPr>
          <p:cNvPr id="174" name="Shape 172"/>
          <p:cNvSpPr/>
          <p:nvPr/>
        </p:nvSpPr>
        <p:spPr>
          <a:xfrm>
            <a:off x="9287779"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8" name="Shape 176"/>
          <p:cNvSpPr/>
          <p:nvPr/>
        </p:nvSpPr>
        <p:spPr>
          <a:xfrm>
            <a:off x="8558784" y="5318850"/>
            <a:ext cx="586244" cy="110266"/>
          </a:xfrm>
          <a:prstGeom prst="rect">
            <a:avLst/>
          </a:prstGeom>
          <a:solidFill>
            <a:srgbClr val="C2352F"/>
          </a:solidFill>
          <a:ln/>
        </p:spPr>
      </p:sp>
      <p:sp>
        <p:nvSpPr>
          <p:cNvPr id="179" name="Shape 177"/>
          <p:cNvSpPr/>
          <p:nvPr/>
        </p:nvSpPr>
        <p:spPr>
          <a:xfrm>
            <a:off x="9287779"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546619" cy="110266"/>
          </a:xfrm>
          <a:prstGeom prst="rect">
            <a:avLst/>
          </a:prstGeom>
          <a:solidFill>
            <a:srgbClr val="C2352F"/>
          </a:solidFill>
          <a:ln/>
        </p:spPr>
      </p:sp>
      <p:sp>
        <p:nvSpPr>
          <p:cNvPr id="184" name="Shape 182"/>
          <p:cNvSpPr/>
          <p:nvPr/>
        </p:nvSpPr>
        <p:spPr>
          <a:xfrm>
            <a:off x="9287779"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2.90 and 10 of 24 others beat 1.75. VW Henderson leads non-luxury at 2.49.</a:t>
            </a:r>
            <a:endParaRPr lang="en-US" sz="16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0176"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785616" y="2151755"/>
            <a:ext cx="56466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4260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785616" y="2631546"/>
            <a:ext cx="41772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1289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41088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3676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1" name="Shape 39"/>
          <p:cNvSpPr/>
          <p:nvPr/>
        </p:nvSpPr>
        <p:spPr>
          <a:xfrm>
            <a:off x="3785616" y="3591128"/>
            <a:ext cx="36177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34777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785616" y="4070920"/>
            <a:ext cx="32378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3" name="Shape 51"/>
          <p:cNvSpPr/>
          <p:nvPr/>
        </p:nvSpPr>
        <p:spPr>
          <a:xfrm>
            <a:off x="3785616" y="4310815"/>
            <a:ext cx="2768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26107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22177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181513"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785616" y="5270397"/>
            <a:ext cx="15649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785616" y="5510293"/>
            <a:ext cx="14637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7" name="Shape 75"/>
          <p:cNvSpPr/>
          <p:nvPr/>
        </p:nvSpPr>
        <p:spPr>
          <a:xfrm>
            <a:off x="3785616" y="5750188"/>
            <a:ext cx="14269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3271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12854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9" name="Shape 87"/>
          <p:cNvSpPr/>
          <p:nvPr/>
        </p:nvSpPr>
        <p:spPr>
          <a:xfrm>
            <a:off x="9336024" y="2391651"/>
            <a:ext cx="12252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3" name="Shape 91"/>
          <p:cNvSpPr/>
          <p:nvPr/>
        </p:nvSpPr>
        <p:spPr>
          <a:xfrm>
            <a:off x="9336024" y="2631546"/>
            <a:ext cx="11461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9336024" y="2871442"/>
            <a:ext cx="111734"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1" name="Shape 99"/>
          <p:cNvSpPr/>
          <p:nvPr/>
        </p:nvSpPr>
        <p:spPr>
          <a:xfrm>
            <a:off x="9336024" y="3111337"/>
            <a:ext cx="6385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5" name="Shape 103"/>
          <p:cNvSpPr/>
          <p:nvPr/>
        </p:nvSpPr>
        <p:spPr>
          <a:xfrm>
            <a:off x="9336024" y="3351233"/>
            <a:ext cx="58226"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6024" y="3591128"/>
            <a:ext cx="12802"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9336024" y="3831024"/>
            <a:ext cx="12802"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7" name="Shape 115"/>
          <p:cNvSpPr/>
          <p:nvPr/>
        </p:nvSpPr>
        <p:spPr>
          <a:xfrm>
            <a:off x="9297473" y="4070920"/>
            <a:ext cx="3855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292255" y="4310815"/>
            <a:ext cx="43769"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38983" y="4550711"/>
            <a:ext cx="9704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121986" y="4790606"/>
            <a:ext cx="21403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992031" y="5030502"/>
            <a:ext cx="34399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7" name="Shape 135"/>
          <p:cNvSpPr/>
          <p:nvPr/>
        </p:nvSpPr>
        <p:spPr>
          <a:xfrm>
            <a:off x="8911352" y="5270397"/>
            <a:ext cx="4246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Subaru St George at +0.55 to 2.30. 7 declined; LR Reno fell most at −0.55.</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1868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133088"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76909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683496" y="1316736"/>
            <a:ext cx="89611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493776" cy="136676"/>
          </a:xfrm>
          <a:prstGeom prst="rect">
            <a:avLst/>
          </a:prstGeom>
          <a:solidFill>
            <a:srgbClr val="2587C5"/>
          </a:solidFill>
          <a:ln/>
        </p:spPr>
      </p:sp>
      <p:sp>
        <p:nvSpPr>
          <p:cNvPr id="14" name="Text 12"/>
          <p:cNvSpPr txBox="1"/>
          <p:nvPr/>
        </p:nvSpPr>
        <p:spPr>
          <a:xfrm>
            <a:off x="321868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5" name="Text 13"/>
          <p:cNvSpPr txBox="1"/>
          <p:nvPr/>
        </p:nvSpPr>
        <p:spPr>
          <a:xfrm>
            <a:off x="4133088"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$868K</a:t>
            </a:r>
            <a:endParaRPr lang="en-US" sz="1300" dirty="0"/>
          </a:p>
        </p:txBody>
      </p:sp>
      <p:sp>
        <p:nvSpPr>
          <p:cNvPr id="16" name="Text 14"/>
          <p:cNvSpPr txBox="1"/>
          <p:nvPr/>
        </p:nvSpPr>
        <p:spPr>
          <a:xfrm>
            <a:off x="5029200"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005199"/>
            <a:ext cx="217917" cy="136676"/>
          </a:xfrm>
          <a:prstGeom prst="rect">
            <a:avLst/>
          </a:prstGeom>
          <a:solidFill>
            <a:srgbClr val="2587C5"/>
          </a:solidFill>
          <a:ln/>
        </p:spPr>
      </p:sp>
      <p:sp>
        <p:nvSpPr>
          <p:cNvPr id="19" name="Text 17"/>
          <p:cNvSpPr txBox="1"/>
          <p:nvPr/>
        </p:nvSpPr>
        <p:spPr>
          <a:xfrm>
            <a:off x="321868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20" name="Text 18"/>
          <p:cNvSpPr txBox="1"/>
          <p:nvPr/>
        </p:nvSpPr>
        <p:spPr>
          <a:xfrm>
            <a:off x="4133088"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$396K</a:t>
            </a:r>
            <a:endParaRPr lang="en-US" sz="1300" dirty="0"/>
          </a:p>
        </p:txBody>
      </p:sp>
      <p:sp>
        <p:nvSpPr>
          <p:cNvPr id="21" name="Text 19"/>
          <p:cNvSpPr txBox="1"/>
          <p:nvPr/>
        </p:nvSpPr>
        <p:spPr>
          <a:xfrm>
            <a:off x="5029200"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23" name="Shape 21"/>
          <p:cNvSpPr/>
          <p:nvPr/>
        </p:nvSpPr>
        <p:spPr>
          <a:xfrm>
            <a:off x="2670048" y="2253700"/>
            <a:ext cx="173990" cy="136676"/>
          </a:xfrm>
          <a:prstGeom prst="rect">
            <a:avLst/>
          </a:prstGeom>
          <a:solidFill>
            <a:srgbClr val="2587C5"/>
          </a:solidFill>
          <a:ln/>
        </p:spPr>
      </p:sp>
      <p:sp>
        <p:nvSpPr>
          <p:cNvPr id="24" name="Text 22"/>
          <p:cNvSpPr txBox="1"/>
          <p:nvPr/>
        </p:nvSpPr>
        <p:spPr>
          <a:xfrm>
            <a:off x="321868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5" name="Text 23"/>
          <p:cNvSpPr txBox="1"/>
          <p:nvPr/>
        </p:nvSpPr>
        <p:spPr>
          <a:xfrm>
            <a:off x="4133088"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$296K</a:t>
            </a:r>
            <a:endParaRPr lang="en-US" sz="1300" dirty="0"/>
          </a:p>
        </p:txBody>
      </p:sp>
      <p:sp>
        <p:nvSpPr>
          <p:cNvPr id="26" name="Text 24"/>
          <p:cNvSpPr txBox="1"/>
          <p:nvPr/>
        </p:nvSpPr>
        <p:spPr>
          <a:xfrm>
            <a:off x="5029200"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8" name="Shape 26"/>
          <p:cNvSpPr/>
          <p:nvPr/>
        </p:nvSpPr>
        <p:spPr>
          <a:xfrm>
            <a:off x="2670048" y="2502202"/>
            <a:ext cx="146509" cy="136676"/>
          </a:xfrm>
          <a:prstGeom prst="rect">
            <a:avLst/>
          </a:prstGeom>
          <a:solidFill>
            <a:srgbClr val="2587C5"/>
          </a:solidFill>
          <a:ln/>
        </p:spPr>
      </p:sp>
      <p:sp>
        <p:nvSpPr>
          <p:cNvPr id="29" name="Text 27"/>
          <p:cNvSpPr txBox="1"/>
          <p:nvPr/>
        </p:nvSpPr>
        <p:spPr>
          <a:xfrm>
            <a:off x="321868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30" name="Text 28"/>
          <p:cNvSpPr txBox="1"/>
          <p:nvPr/>
        </p:nvSpPr>
        <p:spPr>
          <a:xfrm>
            <a:off x="4133088"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$261K</a:t>
            </a:r>
            <a:endParaRPr lang="en-US" sz="1300" dirty="0"/>
          </a:p>
        </p:txBody>
      </p:sp>
      <p:sp>
        <p:nvSpPr>
          <p:cNvPr id="31" name="Text 29"/>
          <p:cNvSpPr txBox="1"/>
          <p:nvPr/>
        </p:nvSpPr>
        <p:spPr>
          <a:xfrm>
            <a:off x="5029200"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3" name="Shape 31"/>
          <p:cNvSpPr/>
          <p:nvPr/>
        </p:nvSpPr>
        <p:spPr>
          <a:xfrm>
            <a:off x="2670048" y="2750703"/>
            <a:ext cx="143883" cy="136676"/>
          </a:xfrm>
          <a:prstGeom prst="rect">
            <a:avLst/>
          </a:prstGeom>
          <a:solidFill>
            <a:srgbClr val="2587C5"/>
          </a:solidFill>
          <a:ln/>
        </p:spPr>
      </p:sp>
      <p:sp>
        <p:nvSpPr>
          <p:cNvPr id="34" name="Text 32"/>
          <p:cNvSpPr txBox="1"/>
          <p:nvPr/>
        </p:nvSpPr>
        <p:spPr>
          <a:xfrm>
            <a:off x="321868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35" name="Text 33"/>
          <p:cNvSpPr txBox="1"/>
          <p:nvPr/>
        </p:nvSpPr>
        <p:spPr>
          <a:xfrm>
            <a:off x="4133088"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36" name="Text 34"/>
          <p:cNvSpPr txBox="1"/>
          <p:nvPr/>
        </p:nvSpPr>
        <p:spPr>
          <a:xfrm>
            <a:off x="5029200"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8" name="Shape 36"/>
          <p:cNvSpPr/>
          <p:nvPr/>
        </p:nvSpPr>
        <p:spPr>
          <a:xfrm>
            <a:off x="2670048" y="2999205"/>
            <a:ext cx="142232" cy="136676"/>
          </a:xfrm>
          <a:prstGeom prst="rect">
            <a:avLst/>
          </a:prstGeom>
          <a:solidFill>
            <a:srgbClr val="2587C5"/>
          </a:solidFill>
          <a:ln/>
        </p:spPr>
      </p:sp>
      <p:sp>
        <p:nvSpPr>
          <p:cNvPr id="39" name="Text 37"/>
          <p:cNvSpPr txBox="1"/>
          <p:nvPr/>
        </p:nvSpPr>
        <p:spPr>
          <a:xfrm>
            <a:off x="321868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40" name="Text 38"/>
          <p:cNvSpPr txBox="1"/>
          <p:nvPr/>
        </p:nvSpPr>
        <p:spPr>
          <a:xfrm>
            <a:off x="4133088"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$244K</a:t>
            </a:r>
            <a:endParaRPr lang="en-US" sz="1300" dirty="0"/>
          </a:p>
        </p:txBody>
      </p:sp>
      <p:sp>
        <p:nvSpPr>
          <p:cNvPr id="41" name="Text 39"/>
          <p:cNvSpPr txBox="1"/>
          <p:nvPr/>
        </p:nvSpPr>
        <p:spPr>
          <a:xfrm>
            <a:off x="5029200"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130684" cy="136676"/>
          </a:xfrm>
          <a:prstGeom prst="rect">
            <a:avLst/>
          </a:prstGeom>
          <a:solidFill>
            <a:srgbClr val="2587C5"/>
          </a:solidFill>
          <a:ln/>
        </p:spPr>
      </p:sp>
      <p:sp>
        <p:nvSpPr>
          <p:cNvPr id="44" name="Text 42"/>
          <p:cNvSpPr txBox="1"/>
          <p:nvPr/>
        </p:nvSpPr>
        <p:spPr>
          <a:xfrm>
            <a:off x="321868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45" name="Text 43"/>
          <p:cNvSpPr txBox="1"/>
          <p:nvPr/>
        </p:nvSpPr>
        <p:spPr>
          <a:xfrm>
            <a:off x="4133088"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$225K</a:t>
            </a:r>
            <a:endParaRPr lang="en-US" sz="1300" dirty="0"/>
          </a:p>
        </p:txBody>
      </p:sp>
      <p:sp>
        <p:nvSpPr>
          <p:cNvPr id="46" name="Text 44"/>
          <p:cNvSpPr txBox="1"/>
          <p:nvPr/>
        </p:nvSpPr>
        <p:spPr>
          <a:xfrm>
            <a:off x="5029200"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3496208"/>
            <a:ext cx="130182" cy="136676"/>
          </a:xfrm>
          <a:prstGeom prst="rect">
            <a:avLst/>
          </a:prstGeom>
          <a:solidFill>
            <a:srgbClr val="2587C5"/>
          </a:solidFill>
          <a:ln/>
        </p:spPr>
      </p:sp>
      <p:sp>
        <p:nvSpPr>
          <p:cNvPr id="49" name="Text 47"/>
          <p:cNvSpPr txBox="1"/>
          <p:nvPr/>
        </p:nvSpPr>
        <p:spPr>
          <a:xfrm>
            <a:off x="321868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50" name="Text 48"/>
          <p:cNvSpPr txBox="1"/>
          <p:nvPr/>
        </p:nvSpPr>
        <p:spPr>
          <a:xfrm>
            <a:off x="4133088"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$228K</a:t>
            </a:r>
            <a:endParaRPr lang="en-US" sz="1300" dirty="0"/>
          </a:p>
        </p:txBody>
      </p:sp>
      <p:sp>
        <p:nvSpPr>
          <p:cNvPr id="51" name="Text 49"/>
          <p:cNvSpPr txBox="1"/>
          <p:nvPr/>
        </p:nvSpPr>
        <p:spPr>
          <a:xfrm>
            <a:off x="5029200"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3744710"/>
            <a:ext cx="83179" cy="136676"/>
          </a:xfrm>
          <a:prstGeom prst="rect">
            <a:avLst/>
          </a:prstGeom>
          <a:solidFill>
            <a:srgbClr val="2587C5"/>
          </a:solidFill>
          <a:ln/>
        </p:spPr>
      </p:sp>
      <p:sp>
        <p:nvSpPr>
          <p:cNvPr id="54" name="Text 52"/>
          <p:cNvSpPr txBox="1"/>
          <p:nvPr/>
        </p:nvSpPr>
        <p:spPr>
          <a:xfrm>
            <a:off x="321868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55" name="Text 53"/>
          <p:cNvSpPr txBox="1"/>
          <p:nvPr/>
        </p:nvSpPr>
        <p:spPr>
          <a:xfrm>
            <a:off x="4133088"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56" name="Text 54"/>
          <p:cNvSpPr txBox="1"/>
          <p:nvPr/>
        </p:nvSpPr>
        <p:spPr>
          <a:xfrm>
            <a:off x="5029200"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78607" cy="136676"/>
          </a:xfrm>
          <a:prstGeom prst="rect">
            <a:avLst/>
          </a:prstGeom>
          <a:solidFill>
            <a:srgbClr val="2587C5"/>
          </a:solidFill>
          <a:ln/>
        </p:spPr>
      </p:sp>
      <p:sp>
        <p:nvSpPr>
          <p:cNvPr id="59" name="Text 57"/>
          <p:cNvSpPr txBox="1"/>
          <p:nvPr/>
        </p:nvSpPr>
        <p:spPr>
          <a:xfrm>
            <a:off x="321868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60" name="Text 58"/>
          <p:cNvSpPr txBox="1"/>
          <p:nvPr/>
        </p:nvSpPr>
        <p:spPr>
          <a:xfrm>
            <a:off x="4133088"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61" name="Text 59"/>
          <p:cNvSpPr txBox="1"/>
          <p:nvPr/>
        </p:nvSpPr>
        <p:spPr>
          <a:xfrm>
            <a:off x="5029200"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670048" y="4241713"/>
            <a:ext cx="75906" cy="136676"/>
          </a:xfrm>
          <a:prstGeom prst="rect">
            <a:avLst/>
          </a:prstGeom>
          <a:solidFill>
            <a:srgbClr val="2587C5"/>
          </a:solidFill>
          <a:ln/>
        </p:spPr>
      </p:sp>
      <p:sp>
        <p:nvSpPr>
          <p:cNvPr id="64" name="Text 62"/>
          <p:cNvSpPr txBox="1"/>
          <p:nvPr/>
        </p:nvSpPr>
        <p:spPr>
          <a:xfrm>
            <a:off x="321868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65" name="Text 63"/>
          <p:cNvSpPr txBox="1"/>
          <p:nvPr/>
        </p:nvSpPr>
        <p:spPr>
          <a:xfrm>
            <a:off x="4133088"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66" name="Text 64"/>
          <p:cNvSpPr txBox="1"/>
          <p:nvPr/>
        </p:nvSpPr>
        <p:spPr>
          <a:xfrm>
            <a:off x="5029200"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8" name="Shape 66"/>
          <p:cNvSpPr/>
          <p:nvPr/>
        </p:nvSpPr>
        <p:spPr>
          <a:xfrm>
            <a:off x="2670048" y="4490215"/>
            <a:ext cx="64387" cy="136676"/>
          </a:xfrm>
          <a:prstGeom prst="rect">
            <a:avLst/>
          </a:prstGeom>
          <a:solidFill>
            <a:srgbClr val="2587C5"/>
          </a:solidFill>
          <a:ln/>
        </p:spPr>
      </p:sp>
      <p:sp>
        <p:nvSpPr>
          <p:cNvPr id="69" name="Text 67"/>
          <p:cNvSpPr txBox="1"/>
          <p:nvPr/>
        </p:nvSpPr>
        <p:spPr>
          <a:xfrm>
            <a:off x="321868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70" name="Text 68"/>
          <p:cNvSpPr txBox="1"/>
          <p:nvPr/>
        </p:nvSpPr>
        <p:spPr>
          <a:xfrm>
            <a:off x="4133088"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71" name="Text 69"/>
          <p:cNvSpPr txBox="1"/>
          <p:nvPr/>
        </p:nvSpPr>
        <p:spPr>
          <a:xfrm>
            <a:off x="5029200"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4738717"/>
            <a:ext cx="63158" cy="136676"/>
          </a:xfrm>
          <a:prstGeom prst="rect">
            <a:avLst/>
          </a:prstGeom>
          <a:solidFill>
            <a:srgbClr val="2587C5"/>
          </a:solidFill>
          <a:ln/>
        </p:spPr>
      </p:sp>
      <p:sp>
        <p:nvSpPr>
          <p:cNvPr id="74" name="Text 72"/>
          <p:cNvSpPr txBox="1"/>
          <p:nvPr/>
        </p:nvSpPr>
        <p:spPr>
          <a:xfrm>
            <a:off x="321868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75" name="Text 73"/>
          <p:cNvSpPr txBox="1"/>
          <p:nvPr/>
        </p:nvSpPr>
        <p:spPr>
          <a:xfrm>
            <a:off x="4133088"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76" name="Text 74"/>
          <p:cNvSpPr txBox="1"/>
          <p:nvPr/>
        </p:nvSpPr>
        <p:spPr>
          <a:xfrm>
            <a:off x="5029200"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8" name="Shape 76"/>
          <p:cNvSpPr/>
          <p:nvPr/>
        </p:nvSpPr>
        <p:spPr>
          <a:xfrm>
            <a:off x="2670048" y="4987218"/>
            <a:ext cx="62045" cy="136676"/>
          </a:xfrm>
          <a:prstGeom prst="rect">
            <a:avLst/>
          </a:prstGeom>
          <a:solidFill>
            <a:srgbClr val="2587C5"/>
          </a:solidFill>
          <a:ln/>
        </p:spPr>
      </p:sp>
      <p:sp>
        <p:nvSpPr>
          <p:cNvPr id="79" name="Text 77"/>
          <p:cNvSpPr txBox="1"/>
          <p:nvPr/>
        </p:nvSpPr>
        <p:spPr>
          <a:xfrm>
            <a:off x="321868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80" name="Text 78"/>
          <p:cNvSpPr txBox="1"/>
          <p:nvPr/>
        </p:nvSpPr>
        <p:spPr>
          <a:xfrm>
            <a:off x="4133088"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81" name="Text 79"/>
          <p:cNvSpPr txBox="1"/>
          <p:nvPr/>
        </p:nvSpPr>
        <p:spPr>
          <a:xfrm>
            <a:off x="5029200"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3" name="Shape 81"/>
          <p:cNvSpPr/>
          <p:nvPr/>
        </p:nvSpPr>
        <p:spPr>
          <a:xfrm>
            <a:off x="2670048" y="5235720"/>
            <a:ext cx="60123" cy="136676"/>
          </a:xfrm>
          <a:prstGeom prst="rect">
            <a:avLst/>
          </a:prstGeom>
          <a:solidFill>
            <a:srgbClr val="2587C5"/>
          </a:solidFill>
          <a:ln/>
        </p:spPr>
      </p:sp>
      <p:sp>
        <p:nvSpPr>
          <p:cNvPr id="84" name="Text 82"/>
          <p:cNvSpPr txBox="1"/>
          <p:nvPr/>
        </p:nvSpPr>
        <p:spPr>
          <a:xfrm>
            <a:off x="321868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85" name="Text 83"/>
          <p:cNvSpPr txBox="1"/>
          <p:nvPr/>
        </p:nvSpPr>
        <p:spPr>
          <a:xfrm>
            <a:off x="4133088"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86" name="Text 84"/>
          <p:cNvSpPr txBox="1"/>
          <p:nvPr/>
        </p:nvSpPr>
        <p:spPr>
          <a:xfrm>
            <a:off x="5029200"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8" name="Shape 86"/>
          <p:cNvSpPr/>
          <p:nvPr/>
        </p:nvSpPr>
        <p:spPr>
          <a:xfrm>
            <a:off x="2670048" y="5484222"/>
            <a:ext cx="57007" cy="136676"/>
          </a:xfrm>
          <a:prstGeom prst="rect">
            <a:avLst/>
          </a:prstGeom>
          <a:solidFill>
            <a:srgbClr val="2587C5"/>
          </a:solidFill>
          <a:ln/>
        </p:spPr>
      </p:sp>
      <p:sp>
        <p:nvSpPr>
          <p:cNvPr id="89" name="Text 87"/>
          <p:cNvSpPr txBox="1"/>
          <p:nvPr/>
        </p:nvSpPr>
        <p:spPr>
          <a:xfrm>
            <a:off x="321868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0" name="Text 88"/>
          <p:cNvSpPr txBox="1"/>
          <p:nvPr/>
        </p:nvSpPr>
        <p:spPr>
          <a:xfrm>
            <a:off x="4133088"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91" name="Text 89"/>
          <p:cNvSpPr txBox="1"/>
          <p:nvPr/>
        </p:nvSpPr>
        <p:spPr>
          <a:xfrm>
            <a:off x="5029200"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2670048" y="5732723"/>
            <a:ext cx="56616" cy="136676"/>
          </a:xfrm>
          <a:prstGeom prst="rect">
            <a:avLst/>
          </a:prstGeom>
          <a:solidFill>
            <a:srgbClr val="2587C5"/>
          </a:solidFill>
          <a:ln/>
        </p:spPr>
      </p:sp>
      <p:sp>
        <p:nvSpPr>
          <p:cNvPr id="94" name="Text 92"/>
          <p:cNvSpPr txBox="1"/>
          <p:nvPr/>
        </p:nvSpPr>
        <p:spPr>
          <a:xfrm>
            <a:off x="321868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95" name="Text 93"/>
          <p:cNvSpPr txBox="1"/>
          <p:nvPr/>
        </p:nvSpPr>
        <p:spPr>
          <a:xfrm>
            <a:off x="4133088" y="567681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96" name="Text 94"/>
          <p:cNvSpPr txBox="1"/>
          <p:nvPr/>
        </p:nvSpPr>
        <p:spPr>
          <a:xfrm>
            <a:off x="5029200" y="567681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8" name="Shape 96"/>
          <p:cNvSpPr/>
          <p:nvPr/>
        </p:nvSpPr>
        <p:spPr>
          <a:xfrm>
            <a:off x="8220456" y="1756697"/>
            <a:ext cx="56285" cy="136676"/>
          </a:xfrm>
          <a:prstGeom prst="rect">
            <a:avLst/>
          </a:prstGeom>
          <a:solidFill>
            <a:srgbClr val="2587C5"/>
          </a:solidFill>
          <a:ln/>
        </p:spPr>
      </p:sp>
      <p:sp>
        <p:nvSpPr>
          <p:cNvPr id="99" name="Text 97"/>
          <p:cNvSpPr txBox="1"/>
          <p:nvPr/>
        </p:nvSpPr>
        <p:spPr>
          <a:xfrm>
            <a:off x="876909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100" name="Text 98"/>
          <p:cNvSpPr txBox="1"/>
          <p:nvPr/>
        </p:nvSpPr>
        <p:spPr>
          <a:xfrm>
            <a:off x="9683496" y="170078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01" name="Text 99"/>
          <p:cNvSpPr txBox="1"/>
          <p:nvPr/>
        </p:nvSpPr>
        <p:spPr>
          <a:xfrm>
            <a:off x="10579608" y="170078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55940" cy="136676"/>
          </a:xfrm>
          <a:prstGeom prst="rect">
            <a:avLst/>
          </a:prstGeom>
          <a:solidFill>
            <a:srgbClr val="2587C5"/>
          </a:solidFill>
          <a:ln/>
        </p:spPr>
      </p:sp>
      <p:sp>
        <p:nvSpPr>
          <p:cNvPr id="104" name="Text 102"/>
          <p:cNvSpPr txBox="1"/>
          <p:nvPr/>
        </p:nvSpPr>
        <p:spPr>
          <a:xfrm>
            <a:off x="876909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105" name="Text 103"/>
          <p:cNvSpPr txBox="1"/>
          <p:nvPr/>
        </p:nvSpPr>
        <p:spPr>
          <a:xfrm>
            <a:off x="9683496" y="194928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06" name="Text 104"/>
          <p:cNvSpPr txBox="1"/>
          <p:nvPr/>
        </p:nvSpPr>
        <p:spPr>
          <a:xfrm>
            <a:off x="10579608" y="194928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54975" cy="136676"/>
          </a:xfrm>
          <a:prstGeom prst="rect">
            <a:avLst/>
          </a:prstGeom>
          <a:solidFill>
            <a:srgbClr val="2587C5"/>
          </a:solidFill>
          <a:ln/>
        </p:spPr>
      </p:sp>
      <p:sp>
        <p:nvSpPr>
          <p:cNvPr id="109" name="Text 107"/>
          <p:cNvSpPr txBox="1"/>
          <p:nvPr/>
        </p:nvSpPr>
        <p:spPr>
          <a:xfrm>
            <a:off x="876909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110" name="Text 108"/>
          <p:cNvSpPr txBox="1"/>
          <p:nvPr/>
        </p:nvSpPr>
        <p:spPr>
          <a:xfrm>
            <a:off x="9683496" y="219778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11" name="Text 109"/>
          <p:cNvSpPr txBox="1"/>
          <p:nvPr/>
        </p:nvSpPr>
        <p:spPr>
          <a:xfrm>
            <a:off x="10579608" y="219778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13" name="Shape 111"/>
          <p:cNvSpPr/>
          <p:nvPr/>
        </p:nvSpPr>
        <p:spPr>
          <a:xfrm>
            <a:off x="8220456" y="2502202"/>
            <a:ext cx="51971" cy="136676"/>
          </a:xfrm>
          <a:prstGeom prst="rect">
            <a:avLst/>
          </a:prstGeom>
          <a:solidFill>
            <a:srgbClr val="2587C5"/>
          </a:solidFill>
          <a:ln/>
        </p:spPr>
      </p:sp>
      <p:sp>
        <p:nvSpPr>
          <p:cNvPr id="114" name="Text 112"/>
          <p:cNvSpPr txBox="1"/>
          <p:nvPr/>
        </p:nvSpPr>
        <p:spPr>
          <a:xfrm>
            <a:off x="876909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115" name="Text 113"/>
          <p:cNvSpPr txBox="1"/>
          <p:nvPr/>
        </p:nvSpPr>
        <p:spPr>
          <a:xfrm>
            <a:off x="9683496" y="244628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$82K</a:t>
            </a:r>
            <a:endParaRPr lang="en-US" sz="1300" dirty="0"/>
          </a:p>
        </p:txBody>
      </p:sp>
      <p:sp>
        <p:nvSpPr>
          <p:cNvPr id="116" name="Text 114"/>
          <p:cNvSpPr txBox="1"/>
          <p:nvPr/>
        </p:nvSpPr>
        <p:spPr>
          <a:xfrm>
            <a:off x="10579608" y="244628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8" name="Shape 116"/>
          <p:cNvSpPr/>
          <p:nvPr/>
        </p:nvSpPr>
        <p:spPr>
          <a:xfrm>
            <a:off x="8220456" y="2750703"/>
            <a:ext cx="50052" cy="136676"/>
          </a:xfrm>
          <a:prstGeom prst="rect">
            <a:avLst/>
          </a:prstGeom>
          <a:solidFill>
            <a:srgbClr val="2587C5"/>
          </a:solidFill>
          <a:ln/>
        </p:spPr>
      </p:sp>
      <p:sp>
        <p:nvSpPr>
          <p:cNvPr id="119" name="Text 117"/>
          <p:cNvSpPr txBox="1"/>
          <p:nvPr/>
        </p:nvSpPr>
        <p:spPr>
          <a:xfrm>
            <a:off x="876909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120" name="Text 118"/>
          <p:cNvSpPr txBox="1"/>
          <p:nvPr/>
        </p:nvSpPr>
        <p:spPr>
          <a:xfrm>
            <a:off x="9683496" y="2694791"/>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$89K</a:t>
            </a:r>
            <a:endParaRPr lang="en-US" sz="1300" dirty="0"/>
          </a:p>
        </p:txBody>
      </p:sp>
      <p:sp>
        <p:nvSpPr>
          <p:cNvPr id="121" name="Text 119"/>
          <p:cNvSpPr txBox="1"/>
          <p:nvPr/>
        </p:nvSpPr>
        <p:spPr>
          <a:xfrm>
            <a:off x="10579608" y="2694791"/>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48801" cy="136676"/>
          </a:xfrm>
          <a:prstGeom prst="rect">
            <a:avLst/>
          </a:prstGeom>
          <a:solidFill>
            <a:srgbClr val="2587C5"/>
          </a:solidFill>
          <a:ln/>
        </p:spPr>
      </p:sp>
      <p:sp>
        <p:nvSpPr>
          <p:cNvPr id="124" name="Text 122"/>
          <p:cNvSpPr txBox="1"/>
          <p:nvPr/>
        </p:nvSpPr>
        <p:spPr>
          <a:xfrm>
            <a:off x="876909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25" name="Text 123"/>
          <p:cNvSpPr txBox="1"/>
          <p:nvPr/>
        </p:nvSpPr>
        <p:spPr>
          <a:xfrm>
            <a:off x="9683496" y="294329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126" name="Text 124"/>
          <p:cNvSpPr txBox="1"/>
          <p:nvPr/>
        </p:nvSpPr>
        <p:spPr>
          <a:xfrm>
            <a:off x="10579608" y="294329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28" name="Shape 126"/>
          <p:cNvSpPr/>
          <p:nvPr/>
        </p:nvSpPr>
        <p:spPr>
          <a:xfrm>
            <a:off x="8220456" y="3247707"/>
            <a:ext cx="42839" cy="136676"/>
          </a:xfrm>
          <a:prstGeom prst="rect">
            <a:avLst/>
          </a:prstGeom>
          <a:solidFill>
            <a:srgbClr val="2587C5"/>
          </a:solidFill>
          <a:ln/>
        </p:spPr>
      </p:sp>
      <p:sp>
        <p:nvSpPr>
          <p:cNvPr id="129" name="Text 127"/>
          <p:cNvSpPr txBox="1"/>
          <p:nvPr/>
        </p:nvSpPr>
        <p:spPr>
          <a:xfrm>
            <a:off x="876909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30" name="Text 128"/>
          <p:cNvSpPr txBox="1"/>
          <p:nvPr/>
        </p:nvSpPr>
        <p:spPr>
          <a:xfrm>
            <a:off x="9683496" y="319179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31" name="Text 129"/>
          <p:cNvSpPr txBox="1"/>
          <p:nvPr/>
        </p:nvSpPr>
        <p:spPr>
          <a:xfrm>
            <a:off x="10579608" y="319179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3" name="Shape 131"/>
          <p:cNvSpPr/>
          <p:nvPr/>
        </p:nvSpPr>
        <p:spPr>
          <a:xfrm>
            <a:off x="8220456" y="3496208"/>
            <a:ext cx="41978" cy="136676"/>
          </a:xfrm>
          <a:prstGeom prst="rect">
            <a:avLst/>
          </a:prstGeom>
          <a:solidFill>
            <a:srgbClr val="2587C5"/>
          </a:solidFill>
          <a:ln/>
        </p:spPr>
      </p:sp>
      <p:sp>
        <p:nvSpPr>
          <p:cNvPr id="134" name="Text 132"/>
          <p:cNvSpPr txBox="1"/>
          <p:nvPr/>
        </p:nvSpPr>
        <p:spPr>
          <a:xfrm>
            <a:off x="876909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35" name="Text 133"/>
          <p:cNvSpPr txBox="1"/>
          <p:nvPr/>
        </p:nvSpPr>
        <p:spPr>
          <a:xfrm>
            <a:off x="9683496" y="3440296"/>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$68K</a:t>
            </a:r>
            <a:endParaRPr lang="en-US" sz="1300" dirty="0"/>
          </a:p>
        </p:txBody>
      </p:sp>
      <p:sp>
        <p:nvSpPr>
          <p:cNvPr id="136" name="Text 134"/>
          <p:cNvSpPr txBox="1"/>
          <p:nvPr/>
        </p:nvSpPr>
        <p:spPr>
          <a:xfrm>
            <a:off x="10579608" y="3440296"/>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8" name="Shape 136"/>
          <p:cNvSpPr/>
          <p:nvPr/>
        </p:nvSpPr>
        <p:spPr>
          <a:xfrm>
            <a:off x="8220456" y="3744710"/>
            <a:ext cx="37779" cy="136676"/>
          </a:xfrm>
          <a:prstGeom prst="rect">
            <a:avLst/>
          </a:prstGeom>
          <a:solidFill>
            <a:srgbClr val="2587C5"/>
          </a:solidFill>
          <a:ln/>
        </p:spPr>
      </p:sp>
      <p:sp>
        <p:nvSpPr>
          <p:cNvPr id="139" name="Text 137"/>
          <p:cNvSpPr txBox="1"/>
          <p:nvPr/>
        </p:nvSpPr>
        <p:spPr>
          <a:xfrm>
            <a:off x="876909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0" name="Text 138"/>
          <p:cNvSpPr txBox="1"/>
          <p:nvPr/>
        </p:nvSpPr>
        <p:spPr>
          <a:xfrm>
            <a:off x="9683496" y="368879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141" name="Text 139"/>
          <p:cNvSpPr txBox="1"/>
          <p:nvPr/>
        </p:nvSpPr>
        <p:spPr>
          <a:xfrm>
            <a:off x="10579608" y="368879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3" name="Shape 141"/>
          <p:cNvSpPr/>
          <p:nvPr/>
        </p:nvSpPr>
        <p:spPr>
          <a:xfrm>
            <a:off x="8220456" y="3993212"/>
            <a:ext cx="37560" cy="136676"/>
          </a:xfrm>
          <a:prstGeom prst="rect">
            <a:avLst/>
          </a:prstGeom>
          <a:solidFill>
            <a:srgbClr val="2587C5"/>
          </a:solidFill>
          <a:ln/>
        </p:spPr>
      </p:sp>
      <p:sp>
        <p:nvSpPr>
          <p:cNvPr id="144" name="Text 142"/>
          <p:cNvSpPr txBox="1"/>
          <p:nvPr/>
        </p:nvSpPr>
        <p:spPr>
          <a:xfrm>
            <a:off x="876909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45" name="Text 143"/>
          <p:cNvSpPr txBox="1"/>
          <p:nvPr/>
        </p:nvSpPr>
        <p:spPr>
          <a:xfrm>
            <a:off x="9683496" y="393729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146" name="Text 144"/>
          <p:cNvSpPr txBox="1"/>
          <p:nvPr/>
        </p:nvSpPr>
        <p:spPr>
          <a:xfrm>
            <a:off x="10579608" y="393729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48" name="Shape 146"/>
          <p:cNvSpPr/>
          <p:nvPr/>
        </p:nvSpPr>
        <p:spPr>
          <a:xfrm>
            <a:off x="8220456" y="4241713"/>
            <a:ext cx="28760" cy="136676"/>
          </a:xfrm>
          <a:prstGeom prst="rect">
            <a:avLst/>
          </a:prstGeom>
          <a:solidFill>
            <a:srgbClr val="2587C5"/>
          </a:solidFill>
          <a:ln/>
        </p:spPr>
      </p:sp>
      <p:sp>
        <p:nvSpPr>
          <p:cNvPr id="149" name="Text 147"/>
          <p:cNvSpPr txBox="1"/>
          <p:nvPr/>
        </p:nvSpPr>
        <p:spPr>
          <a:xfrm>
            <a:off x="876909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50" name="Text 148"/>
          <p:cNvSpPr txBox="1"/>
          <p:nvPr/>
        </p:nvSpPr>
        <p:spPr>
          <a:xfrm>
            <a:off x="9683496" y="4185800"/>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151" name="Text 149"/>
          <p:cNvSpPr txBox="1"/>
          <p:nvPr/>
        </p:nvSpPr>
        <p:spPr>
          <a:xfrm>
            <a:off x="10579608" y="4185800"/>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27792" cy="136676"/>
          </a:xfrm>
          <a:prstGeom prst="rect">
            <a:avLst/>
          </a:prstGeom>
          <a:solidFill>
            <a:srgbClr val="2587C5"/>
          </a:solidFill>
          <a:ln/>
        </p:spPr>
      </p:sp>
      <p:sp>
        <p:nvSpPr>
          <p:cNvPr id="154" name="Text 152"/>
          <p:cNvSpPr txBox="1"/>
          <p:nvPr/>
        </p:nvSpPr>
        <p:spPr>
          <a:xfrm>
            <a:off x="876909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9683496" y="4434302"/>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$43K</a:t>
            </a:r>
            <a:endParaRPr lang="en-US" sz="1300" dirty="0"/>
          </a:p>
        </p:txBody>
      </p:sp>
      <p:sp>
        <p:nvSpPr>
          <p:cNvPr id="156" name="Text 154"/>
          <p:cNvSpPr txBox="1"/>
          <p:nvPr/>
        </p:nvSpPr>
        <p:spPr>
          <a:xfrm>
            <a:off x="10579608" y="4434302"/>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8" name="Shape 156"/>
          <p:cNvSpPr/>
          <p:nvPr/>
        </p:nvSpPr>
        <p:spPr>
          <a:xfrm>
            <a:off x="8220456" y="4738717"/>
            <a:ext cx="25793" cy="136676"/>
          </a:xfrm>
          <a:prstGeom prst="rect">
            <a:avLst/>
          </a:prstGeom>
          <a:solidFill>
            <a:srgbClr val="2587C5"/>
          </a:solidFill>
          <a:ln/>
        </p:spPr>
      </p:sp>
      <p:sp>
        <p:nvSpPr>
          <p:cNvPr id="159" name="Text 157"/>
          <p:cNvSpPr txBox="1"/>
          <p:nvPr/>
        </p:nvSpPr>
        <p:spPr>
          <a:xfrm>
            <a:off x="876909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60" name="Text 158"/>
          <p:cNvSpPr txBox="1"/>
          <p:nvPr/>
        </p:nvSpPr>
        <p:spPr>
          <a:xfrm>
            <a:off x="9683496" y="4682804"/>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$40K</a:t>
            </a:r>
            <a:endParaRPr lang="en-US" sz="1300" dirty="0"/>
          </a:p>
        </p:txBody>
      </p:sp>
      <p:sp>
        <p:nvSpPr>
          <p:cNvPr id="161" name="Text 159"/>
          <p:cNvSpPr txBox="1"/>
          <p:nvPr/>
        </p:nvSpPr>
        <p:spPr>
          <a:xfrm>
            <a:off x="10579608" y="4682804"/>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3" name="Shape 161"/>
          <p:cNvSpPr/>
          <p:nvPr/>
        </p:nvSpPr>
        <p:spPr>
          <a:xfrm>
            <a:off x="8220456" y="4987218"/>
            <a:ext cx="24281" cy="136676"/>
          </a:xfrm>
          <a:prstGeom prst="rect">
            <a:avLst/>
          </a:prstGeom>
          <a:solidFill>
            <a:srgbClr val="2587C5"/>
          </a:solidFill>
          <a:ln/>
        </p:spPr>
      </p:sp>
      <p:sp>
        <p:nvSpPr>
          <p:cNvPr id="164" name="Text 162"/>
          <p:cNvSpPr txBox="1"/>
          <p:nvPr/>
        </p:nvSpPr>
        <p:spPr>
          <a:xfrm>
            <a:off x="876909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65" name="Text 163"/>
          <p:cNvSpPr txBox="1"/>
          <p:nvPr/>
        </p:nvSpPr>
        <p:spPr>
          <a:xfrm>
            <a:off x="9683496" y="4931305"/>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$38K</a:t>
            </a:r>
            <a:endParaRPr lang="en-US" sz="1300" dirty="0"/>
          </a:p>
        </p:txBody>
      </p:sp>
      <p:sp>
        <p:nvSpPr>
          <p:cNvPr id="166" name="Text 164"/>
          <p:cNvSpPr txBox="1"/>
          <p:nvPr/>
        </p:nvSpPr>
        <p:spPr>
          <a:xfrm>
            <a:off x="10579608" y="4931305"/>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68" name="Shape 166"/>
          <p:cNvSpPr/>
          <p:nvPr/>
        </p:nvSpPr>
        <p:spPr>
          <a:xfrm>
            <a:off x="8220456" y="5235720"/>
            <a:ext cx="18556" cy="136676"/>
          </a:xfrm>
          <a:prstGeom prst="rect">
            <a:avLst/>
          </a:prstGeom>
          <a:solidFill>
            <a:srgbClr val="2587C5"/>
          </a:solidFill>
          <a:ln/>
        </p:spPr>
      </p:sp>
      <p:sp>
        <p:nvSpPr>
          <p:cNvPr id="169" name="Text 167"/>
          <p:cNvSpPr txBox="1"/>
          <p:nvPr/>
        </p:nvSpPr>
        <p:spPr>
          <a:xfrm>
            <a:off x="876909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70" name="Text 168"/>
          <p:cNvSpPr txBox="1"/>
          <p:nvPr/>
        </p:nvSpPr>
        <p:spPr>
          <a:xfrm>
            <a:off x="9683496" y="5179807"/>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$27K</a:t>
            </a:r>
            <a:endParaRPr lang="en-US" sz="1300" dirty="0"/>
          </a:p>
        </p:txBody>
      </p:sp>
      <p:sp>
        <p:nvSpPr>
          <p:cNvPr id="171" name="Text 169"/>
          <p:cNvSpPr txBox="1"/>
          <p:nvPr/>
        </p:nvSpPr>
        <p:spPr>
          <a:xfrm>
            <a:off x="10579608" y="5179807"/>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3" name="Shape 171"/>
          <p:cNvSpPr/>
          <p:nvPr/>
        </p:nvSpPr>
        <p:spPr>
          <a:xfrm>
            <a:off x="8220456" y="5484222"/>
            <a:ext cx="18288" cy="136676"/>
          </a:xfrm>
          <a:prstGeom prst="rect">
            <a:avLst/>
          </a:prstGeom>
          <a:solidFill>
            <a:srgbClr val="2587C5"/>
          </a:solidFill>
          <a:ln/>
        </p:spPr>
      </p:sp>
      <p:sp>
        <p:nvSpPr>
          <p:cNvPr id="174" name="Text 172"/>
          <p:cNvSpPr txBox="1"/>
          <p:nvPr/>
        </p:nvSpPr>
        <p:spPr>
          <a:xfrm>
            <a:off x="876909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75" name="Text 173"/>
          <p:cNvSpPr txBox="1"/>
          <p:nvPr/>
        </p:nvSpPr>
        <p:spPr>
          <a:xfrm>
            <a:off x="9683496" y="5428309"/>
            <a:ext cx="896112"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76" name="Text 174"/>
          <p:cNvSpPr txBox="1"/>
          <p:nvPr/>
        </p:nvSpPr>
        <p:spPr>
          <a:xfrm>
            <a:off x="10579608" y="5428309"/>
            <a:ext cx="84124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gross: $4,741,969 labor and $1,860,595 parts. Toyota Henderson leads at $1,164,334.</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73.9% vs 76.4%</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Grid stores realize less of their door rate than flat-rate stores, Jul-Sep.</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we collect for each customer-pay labor hour after menus, discounts and mix. Door rate is what we post.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 hour sold is worth the ELR, so it sets the value of the whole shop.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gap to door rate is money given away. Our benchmark: CP ELR at least 70% of door rate.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discounting and mix are under control.</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posted rate, set from a market labor study</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Menus and loss leaders below door rate pull ELR down</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work raises ELR; quick maintenance lowers it</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Labor grid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Prices longer jobs differently; should lift ELR on repair work</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charged vs sold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Charging less time than the job pays the tech</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$162.42</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$217.79, non-luxury $151.32.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380766"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$266.32</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21" name="Shape 19"/>
          <p:cNvSpPr/>
          <p:nvPr/>
        </p:nvSpPr>
        <p:spPr>
          <a:xfrm>
            <a:off x="3008376" y="2451937"/>
            <a:ext cx="1493088" cy="110266"/>
          </a:xfrm>
          <a:prstGeom prst="rect">
            <a:avLst/>
          </a:prstGeom>
          <a:solidFill>
            <a:srgbClr val="12A566"/>
          </a:solidFill>
          <a:ln/>
        </p:spPr>
      </p:sp>
      <p:sp>
        <p:nvSpPr>
          <p:cNvPr id="22" name="Shape 20"/>
          <p:cNvSpPr/>
          <p:nvPr/>
        </p:nvSpPr>
        <p:spPr>
          <a:xfrm>
            <a:off x="4380766"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$235.07</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9826" cy="110266"/>
          </a:xfrm>
          <a:prstGeom prst="rect">
            <a:avLst/>
          </a:prstGeom>
          <a:solidFill>
            <a:srgbClr val="12A566"/>
          </a:solidFill>
          <a:ln/>
        </p:spPr>
      </p:sp>
      <p:sp>
        <p:nvSpPr>
          <p:cNvPr id="28" name="Shape 26"/>
          <p:cNvSpPr/>
          <p:nvPr/>
        </p:nvSpPr>
        <p:spPr>
          <a:xfrm>
            <a:off x="4380766"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$234.55</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3008376" y="2893000"/>
            <a:ext cx="1485001" cy="110266"/>
          </a:xfrm>
          <a:prstGeom prst="rect">
            <a:avLst/>
          </a:prstGeom>
          <a:solidFill>
            <a:srgbClr val="12A566"/>
          </a:solidFill>
          <a:ln/>
        </p:spPr>
      </p:sp>
      <p:sp>
        <p:nvSpPr>
          <p:cNvPr id="34" name="Shape 32"/>
          <p:cNvSpPr/>
          <p:nvPr/>
        </p:nvSpPr>
        <p:spPr>
          <a:xfrm>
            <a:off x="4380766"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$233.79</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113532"/>
            <a:ext cx="1482885" cy="110266"/>
          </a:xfrm>
          <a:prstGeom prst="rect">
            <a:avLst/>
          </a:prstGeom>
          <a:solidFill>
            <a:srgbClr val="12A566"/>
          </a:solidFill>
          <a:ln/>
        </p:spPr>
      </p:sp>
      <p:sp>
        <p:nvSpPr>
          <p:cNvPr id="40" name="Shape 38"/>
          <p:cNvSpPr/>
          <p:nvPr/>
        </p:nvSpPr>
        <p:spPr>
          <a:xfrm>
            <a:off x="4380766"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$233.46</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1410841" cy="110266"/>
          </a:xfrm>
          <a:prstGeom prst="rect">
            <a:avLst/>
          </a:prstGeom>
          <a:solidFill>
            <a:srgbClr val="12A566"/>
          </a:solidFill>
          <a:ln/>
        </p:spPr>
      </p:sp>
      <p:sp>
        <p:nvSpPr>
          <p:cNvPr id="46" name="Shape 44"/>
          <p:cNvSpPr/>
          <p:nvPr/>
        </p:nvSpPr>
        <p:spPr>
          <a:xfrm>
            <a:off x="4380766"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$222.12</a:t>
            </a:r>
            <a:endParaRPr lang="en-US" sz="1200" dirty="0"/>
          </a:p>
        </p:txBody>
      </p:sp>
      <p:sp>
        <p:nvSpPr>
          <p:cNvPr id="48" name="Text 46"/>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0" name="Shape 48"/>
          <p:cNvSpPr/>
          <p:nvPr/>
        </p:nvSpPr>
        <p:spPr>
          <a:xfrm>
            <a:off x="3008376" y="3554596"/>
            <a:ext cx="1337061" cy="110266"/>
          </a:xfrm>
          <a:prstGeom prst="rect">
            <a:avLst/>
          </a:prstGeom>
          <a:solidFill>
            <a:srgbClr val="12A566"/>
          </a:solidFill>
          <a:ln/>
        </p:spPr>
      </p:sp>
      <p:sp>
        <p:nvSpPr>
          <p:cNvPr id="51" name="Shape 49"/>
          <p:cNvSpPr/>
          <p:nvPr/>
        </p:nvSpPr>
        <p:spPr>
          <a:xfrm>
            <a:off x="3958540" y="3521516"/>
            <a:ext cx="21946" cy="176425"/>
          </a:xfrm>
          <a:prstGeom prst="rect">
            <a:avLst/>
          </a:prstGeom>
          <a:solidFill>
            <a:srgbClr val="0B2C4A"/>
          </a:solidFill>
          <a:ln/>
        </p:spPr>
      </p:sp>
      <p:sp>
        <p:nvSpPr>
          <p:cNvPr id="52" name="Text 50"/>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$210.50</a:t>
            </a:r>
            <a:endParaRPr lang="en-US" sz="1200" dirty="0"/>
          </a:p>
        </p:txBody>
      </p:sp>
      <p:sp>
        <p:nvSpPr>
          <p:cNvPr id="53" name="Shape 51"/>
          <p:cNvSpPr/>
          <p:nvPr/>
        </p:nvSpPr>
        <p:spPr>
          <a:xfrm>
            <a:off x="603504" y="3719994"/>
            <a:ext cx="5358384" cy="220532"/>
          </a:xfrm>
          <a:prstGeom prst="rect">
            <a:avLst/>
          </a:prstGeom>
          <a:solidFill>
            <a:srgbClr val="EDF4FA"/>
          </a:solidFill>
          <a:ln/>
        </p:spPr>
      </p:sp>
      <p:sp>
        <p:nvSpPr>
          <p:cNvPr id="54" name="Text 52"/>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56" name="Shape 54"/>
          <p:cNvSpPr/>
          <p:nvPr/>
        </p:nvSpPr>
        <p:spPr>
          <a:xfrm>
            <a:off x="3008376" y="3775127"/>
            <a:ext cx="1227728" cy="110266"/>
          </a:xfrm>
          <a:prstGeom prst="rect">
            <a:avLst/>
          </a:prstGeom>
          <a:solidFill>
            <a:srgbClr val="C2352F"/>
          </a:solidFill>
          <a:ln/>
        </p:spPr>
      </p:sp>
      <p:sp>
        <p:nvSpPr>
          <p:cNvPr id="57" name="Shape 55"/>
          <p:cNvSpPr/>
          <p:nvPr/>
        </p:nvSpPr>
        <p:spPr>
          <a:xfrm>
            <a:off x="4380766" y="3742048"/>
            <a:ext cx="21946" cy="176425"/>
          </a:xfrm>
          <a:prstGeom prst="rect">
            <a:avLst/>
          </a:prstGeom>
          <a:solidFill>
            <a:srgbClr val="0B2C4A"/>
          </a:solidFill>
          <a:ln/>
        </p:spPr>
      </p:sp>
      <p:sp>
        <p:nvSpPr>
          <p:cNvPr id="58" name="Text 56"/>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$193.29</a:t>
            </a:r>
            <a:endParaRPr lang="en-US" sz="1200" dirty="0"/>
          </a:p>
        </p:txBody>
      </p:sp>
      <p:sp>
        <p:nvSpPr>
          <p:cNvPr id="59" name="Text 57"/>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3008376" y="3995659"/>
            <a:ext cx="1117263" cy="110266"/>
          </a:xfrm>
          <a:prstGeom prst="rect">
            <a:avLst/>
          </a:prstGeom>
          <a:solidFill>
            <a:srgbClr val="12A566"/>
          </a:solidFill>
          <a:ln/>
        </p:spPr>
      </p:sp>
      <p:sp>
        <p:nvSpPr>
          <p:cNvPr id="62" name="Shape 60"/>
          <p:cNvSpPr/>
          <p:nvPr/>
        </p:nvSpPr>
        <p:spPr>
          <a:xfrm>
            <a:off x="3958540" y="3962579"/>
            <a:ext cx="21946" cy="176425"/>
          </a:xfrm>
          <a:prstGeom prst="rect">
            <a:avLst/>
          </a:prstGeom>
          <a:solidFill>
            <a:srgbClr val="0B2C4A"/>
          </a:solidFill>
          <a:ln/>
        </p:spPr>
      </p:sp>
      <p:sp>
        <p:nvSpPr>
          <p:cNvPr id="63" name="Text 61"/>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$175.90</a:t>
            </a:r>
            <a:endParaRPr lang="en-US" sz="1200" dirty="0"/>
          </a:p>
        </p:txBody>
      </p:sp>
      <p:sp>
        <p:nvSpPr>
          <p:cNvPr id="64" name="Shape 62"/>
          <p:cNvSpPr/>
          <p:nvPr/>
        </p:nvSpPr>
        <p:spPr>
          <a:xfrm>
            <a:off x="603504" y="4161058"/>
            <a:ext cx="5358384" cy="220532"/>
          </a:xfrm>
          <a:prstGeom prst="rect">
            <a:avLst/>
          </a:prstGeom>
          <a:solidFill>
            <a:srgbClr val="EDF4FA"/>
          </a:solidFill>
          <a:ln/>
        </p:spPr>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67" name="Shape 65"/>
          <p:cNvSpPr/>
          <p:nvPr/>
        </p:nvSpPr>
        <p:spPr>
          <a:xfrm>
            <a:off x="3008376" y="4216191"/>
            <a:ext cx="1079883" cy="110266"/>
          </a:xfrm>
          <a:prstGeom prst="rect">
            <a:avLst/>
          </a:prstGeom>
          <a:solidFill>
            <a:srgbClr val="C2352F"/>
          </a:solidFill>
          <a:ln/>
        </p:spPr>
      </p:sp>
      <p:sp>
        <p:nvSpPr>
          <p:cNvPr id="68" name="Shape 66"/>
          <p:cNvSpPr/>
          <p:nvPr/>
        </p:nvSpPr>
        <p:spPr>
          <a:xfrm>
            <a:off x="438076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$170.01</a:t>
            </a:r>
            <a:endParaRPr lang="en-US" sz="1200" dirty="0"/>
          </a:p>
        </p:txBody>
      </p:sp>
      <p:sp>
        <p:nvSpPr>
          <p:cNvPr id="70" name="Shape 68"/>
          <p:cNvSpPr/>
          <p:nvPr/>
        </p:nvSpPr>
        <p:spPr>
          <a:xfrm>
            <a:off x="603504" y="4381590"/>
            <a:ext cx="5358384" cy="220532"/>
          </a:xfrm>
          <a:prstGeom prst="rect">
            <a:avLst/>
          </a:prstGeom>
          <a:solidFill>
            <a:srgbClr val="EDF4FA"/>
          </a:solidFill>
          <a:ln/>
        </p:spPr>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008376" y="4436723"/>
            <a:ext cx="1064787" cy="110266"/>
          </a:xfrm>
          <a:prstGeom prst="rect">
            <a:avLst/>
          </a:prstGeom>
          <a:solidFill>
            <a:srgbClr val="C2352F"/>
          </a:solidFill>
          <a:ln/>
        </p:spPr>
      </p:sp>
      <p:sp>
        <p:nvSpPr>
          <p:cNvPr id="74" name="Shape 72"/>
          <p:cNvSpPr/>
          <p:nvPr/>
        </p:nvSpPr>
        <p:spPr>
          <a:xfrm>
            <a:off x="4380766"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$167.64</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8" name="Shape 76"/>
          <p:cNvSpPr/>
          <p:nvPr/>
        </p:nvSpPr>
        <p:spPr>
          <a:xfrm>
            <a:off x="3008376" y="4657254"/>
            <a:ext cx="1057221" cy="110266"/>
          </a:xfrm>
          <a:prstGeom prst="rect">
            <a:avLst/>
          </a:prstGeom>
          <a:solidFill>
            <a:srgbClr val="12A566"/>
          </a:solidFill>
          <a:ln/>
        </p:spPr>
      </p:sp>
      <p:sp>
        <p:nvSpPr>
          <p:cNvPr id="79" name="Shape 77"/>
          <p:cNvSpPr/>
          <p:nvPr/>
        </p:nvSpPr>
        <p:spPr>
          <a:xfrm>
            <a:off x="3958540"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$166.44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3" name="Shape 81"/>
          <p:cNvSpPr/>
          <p:nvPr/>
        </p:nvSpPr>
        <p:spPr>
          <a:xfrm>
            <a:off x="3008376" y="4877786"/>
            <a:ext cx="1039396" cy="110266"/>
          </a:xfrm>
          <a:prstGeom prst="rect">
            <a:avLst/>
          </a:prstGeom>
          <a:solidFill>
            <a:srgbClr val="12A566"/>
          </a:solidFill>
          <a:ln/>
        </p:spPr>
      </p:sp>
      <p:sp>
        <p:nvSpPr>
          <p:cNvPr id="84" name="Shape 82"/>
          <p:cNvSpPr/>
          <p:nvPr/>
        </p:nvSpPr>
        <p:spPr>
          <a:xfrm>
            <a:off x="3958540"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$163.64</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8" name="Shape 86"/>
          <p:cNvSpPr/>
          <p:nvPr/>
        </p:nvSpPr>
        <p:spPr>
          <a:xfrm>
            <a:off x="3008376" y="5098318"/>
            <a:ext cx="1034412" cy="110266"/>
          </a:xfrm>
          <a:prstGeom prst="rect">
            <a:avLst/>
          </a:prstGeom>
          <a:solidFill>
            <a:srgbClr val="12A566"/>
          </a:solidFill>
          <a:ln/>
        </p:spPr>
      </p:sp>
      <p:sp>
        <p:nvSpPr>
          <p:cNvPr id="89" name="Shape 87"/>
          <p:cNvSpPr/>
          <p:nvPr/>
        </p:nvSpPr>
        <p:spPr>
          <a:xfrm>
            <a:off x="3958540"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$162.85</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3008376" y="5318850"/>
            <a:ext cx="1020490" cy="110266"/>
          </a:xfrm>
          <a:prstGeom prst="rect">
            <a:avLst/>
          </a:prstGeom>
          <a:solidFill>
            <a:srgbClr val="12A566"/>
          </a:solidFill>
          <a:ln/>
        </p:spPr>
      </p:sp>
      <p:sp>
        <p:nvSpPr>
          <p:cNvPr id="94" name="Shape 92"/>
          <p:cNvSpPr/>
          <p:nvPr/>
        </p:nvSpPr>
        <p:spPr>
          <a:xfrm>
            <a:off x="3958540"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$160.66</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8" name="Shape 96"/>
          <p:cNvSpPr/>
          <p:nvPr/>
        </p:nvSpPr>
        <p:spPr>
          <a:xfrm>
            <a:off x="3008376" y="5539381"/>
            <a:ext cx="1013557" cy="110266"/>
          </a:xfrm>
          <a:prstGeom prst="rect">
            <a:avLst/>
          </a:prstGeom>
          <a:solidFill>
            <a:srgbClr val="12A566"/>
          </a:solidFill>
          <a:ln/>
        </p:spPr>
      </p:sp>
      <p:sp>
        <p:nvSpPr>
          <p:cNvPr id="99" name="Shape 97"/>
          <p:cNvSpPr/>
          <p:nvPr/>
        </p:nvSpPr>
        <p:spPr>
          <a:xfrm>
            <a:off x="3958540"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$159.57</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3" name="Shape 101"/>
          <p:cNvSpPr/>
          <p:nvPr/>
        </p:nvSpPr>
        <p:spPr>
          <a:xfrm>
            <a:off x="3008376" y="5759913"/>
            <a:ext cx="1012325" cy="110266"/>
          </a:xfrm>
          <a:prstGeom prst="rect">
            <a:avLst/>
          </a:prstGeom>
          <a:solidFill>
            <a:srgbClr val="12A566"/>
          </a:solidFill>
          <a:ln/>
        </p:spPr>
      </p:sp>
      <p:sp>
        <p:nvSpPr>
          <p:cNvPr id="104" name="Shape 102"/>
          <p:cNvSpPr/>
          <p:nvPr/>
        </p:nvSpPr>
        <p:spPr>
          <a:xfrm>
            <a:off x="3958540"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$159.38</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8" name="Shape 106"/>
          <p:cNvSpPr/>
          <p:nvPr/>
        </p:nvSpPr>
        <p:spPr>
          <a:xfrm>
            <a:off x="8558784" y="2231405"/>
            <a:ext cx="999384" cy="110266"/>
          </a:xfrm>
          <a:prstGeom prst="rect">
            <a:avLst/>
          </a:prstGeom>
          <a:solidFill>
            <a:srgbClr val="12A566"/>
          </a:solidFill>
          <a:ln/>
        </p:spPr>
      </p:sp>
      <p:sp>
        <p:nvSpPr>
          <p:cNvPr id="109" name="Shape 107"/>
          <p:cNvSpPr/>
          <p:nvPr/>
        </p:nvSpPr>
        <p:spPr>
          <a:xfrm>
            <a:off x="9508948"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$157.34</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8558784" y="2451937"/>
            <a:ext cx="992055" cy="110266"/>
          </a:xfrm>
          <a:prstGeom prst="rect">
            <a:avLst/>
          </a:prstGeom>
          <a:solidFill>
            <a:srgbClr val="12A566"/>
          </a:solidFill>
          <a:ln/>
        </p:spPr>
      </p:sp>
      <p:sp>
        <p:nvSpPr>
          <p:cNvPr id="114" name="Shape 112"/>
          <p:cNvSpPr/>
          <p:nvPr/>
        </p:nvSpPr>
        <p:spPr>
          <a:xfrm>
            <a:off x="9508948"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$156.18</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8" name="Shape 116"/>
          <p:cNvSpPr/>
          <p:nvPr/>
        </p:nvSpPr>
        <p:spPr>
          <a:xfrm>
            <a:off x="8558784" y="2672468"/>
            <a:ext cx="981413" cy="110266"/>
          </a:xfrm>
          <a:prstGeom prst="rect">
            <a:avLst/>
          </a:prstGeom>
          <a:solidFill>
            <a:srgbClr val="12A566"/>
          </a:solidFill>
          <a:ln/>
        </p:spPr>
      </p:sp>
      <p:sp>
        <p:nvSpPr>
          <p:cNvPr id="119" name="Shape 117"/>
          <p:cNvSpPr/>
          <p:nvPr/>
        </p:nvSpPr>
        <p:spPr>
          <a:xfrm>
            <a:off x="9508948"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$154.51</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3" name="Shape 121"/>
          <p:cNvSpPr/>
          <p:nvPr/>
        </p:nvSpPr>
        <p:spPr>
          <a:xfrm>
            <a:off x="8558784" y="2893000"/>
            <a:ext cx="973651" cy="110266"/>
          </a:xfrm>
          <a:prstGeom prst="rect">
            <a:avLst/>
          </a:prstGeom>
          <a:solidFill>
            <a:srgbClr val="12A566"/>
          </a:solidFill>
          <a:ln/>
        </p:spPr>
      </p:sp>
      <p:sp>
        <p:nvSpPr>
          <p:cNvPr id="124" name="Shape 122"/>
          <p:cNvSpPr/>
          <p:nvPr/>
        </p:nvSpPr>
        <p:spPr>
          <a:xfrm>
            <a:off x="9508948"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$153.29</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8" name="Shape 126"/>
          <p:cNvSpPr/>
          <p:nvPr/>
        </p:nvSpPr>
        <p:spPr>
          <a:xfrm>
            <a:off x="8558784" y="3113532"/>
            <a:ext cx="947879" cy="110266"/>
          </a:xfrm>
          <a:prstGeom prst="rect">
            <a:avLst/>
          </a:prstGeom>
          <a:solidFill>
            <a:srgbClr val="C2352F"/>
          </a:solidFill>
          <a:ln/>
        </p:spPr>
      </p:sp>
      <p:sp>
        <p:nvSpPr>
          <p:cNvPr id="129" name="Shape 127"/>
          <p:cNvSpPr/>
          <p:nvPr/>
        </p:nvSpPr>
        <p:spPr>
          <a:xfrm>
            <a:off x="9508948"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$149.23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941534" cy="110266"/>
          </a:xfrm>
          <a:prstGeom prst="rect">
            <a:avLst/>
          </a:prstGeom>
          <a:solidFill>
            <a:srgbClr val="C2352F"/>
          </a:solidFill>
          <a:ln/>
        </p:spPr>
      </p:sp>
      <p:sp>
        <p:nvSpPr>
          <p:cNvPr id="134" name="Shape 132"/>
          <p:cNvSpPr/>
          <p:nvPr/>
        </p:nvSpPr>
        <p:spPr>
          <a:xfrm>
            <a:off x="9508948"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$148.23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8" name="Shape 136"/>
          <p:cNvSpPr/>
          <p:nvPr/>
        </p:nvSpPr>
        <p:spPr>
          <a:xfrm>
            <a:off x="8558784" y="3554596"/>
            <a:ext cx="917807" cy="110266"/>
          </a:xfrm>
          <a:prstGeom prst="rect">
            <a:avLst/>
          </a:prstGeom>
          <a:solidFill>
            <a:srgbClr val="C2352F"/>
          </a:solidFill>
          <a:ln/>
        </p:spPr>
      </p:sp>
      <p:sp>
        <p:nvSpPr>
          <p:cNvPr id="139" name="Shape 137"/>
          <p:cNvSpPr/>
          <p:nvPr/>
        </p:nvSpPr>
        <p:spPr>
          <a:xfrm>
            <a:off x="9508948"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$144.50</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43" name="Shape 141"/>
          <p:cNvSpPr/>
          <p:nvPr/>
        </p:nvSpPr>
        <p:spPr>
          <a:xfrm>
            <a:off x="8558784" y="3775127"/>
            <a:ext cx="913971" cy="110266"/>
          </a:xfrm>
          <a:prstGeom prst="rect">
            <a:avLst/>
          </a:prstGeom>
          <a:solidFill>
            <a:srgbClr val="C2352F"/>
          </a:solidFill>
          <a:ln/>
        </p:spPr>
      </p:sp>
      <p:sp>
        <p:nvSpPr>
          <p:cNvPr id="144" name="Shape 142"/>
          <p:cNvSpPr/>
          <p:nvPr/>
        </p:nvSpPr>
        <p:spPr>
          <a:xfrm>
            <a:off x="9508948"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$143.89</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3995659"/>
            <a:ext cx="908662" cy="110266"/>
          </a:xfrm>
          <a:prstGeom prst="rect">
            <a:avLst/>
          </a:prstGeom>
          <a:solidFill>
            <a:srgbClr val="C2352F"/>
          </a:solidFill>
          <a:ln/>
        </p:spPr>
      </p:sp>
      <p:sp>
        <p:nvSpPr>
          <p:cNvPr id="149" name="Shape 147"/>
          <p:cNvSpPr/>
          <p:nvPr/>
        </p:nvSpPr>
        <p:spPr>
          <a:xfrm>
            <a:off x="9508948"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$143.06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53" name="Shape 151"/>
          <p:cNvSpPr/>
          <p:nvPr/>
        </p:nvSpPr>
        <p:spPr>
          <a:xfrm>
            <a:off x="8558784" y="4216191"/>
            <a:ext cx="907021" cy="110266"/>
          </a:xfrm>
          <a:prstGeom prst="rect">
            <a:avLst/>
          </a:prstGeom>
          <a:solidFill>
            <a:srgbClr val="C2352F"/>
          </a:solidFill>
          <a:ln/>
        </p:spPr>
      </p:sp>
      <p:sp>
        <p:nvSpPr>
          <p:cNvPr id="154" name="Shape 152"/>
          <p:cNvSpPr/>
          <p:nvPr/>
        </p:nvSpPr>
        <p:spPr>
          <a:xfrm>
            <a:off x="9508948"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$142.80</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436723"/>
            <a:ext cx="896260" cy="110266"/>
          </a:xfrm>
          <a:prstGeom prst="rect">
            <a:avLst/>
          </a:prstGeom>
          <a:solidFill>
            <a:srgbClr val="C2352F"/>
          </a:solidFill>
          <a:ln/>
        </p:spPr>
      </p:sp>
      <p:sp>
        <p:nvSpPr>
          <p:cNvPr id="159" name="Shape 157"/>
          <p:cNvSpPr/>
          <p:nvPr/>
        </p:nvSpPr>
        <p:spPr>
          <a:xfrm>
            <a:off x="9508948"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$141.10</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558784" y="4657254"/>
            <a:ext cx="883720" cy="110266"/>
          </a:xfrm>
          <a:prstGeom prst="rect">
            <a:avLst/>
          </a:prstGeom>
          <a:solidFill>
            <a:srgbClr val="C2352F"/>
          </a:solidFill>
          <a:ln/>
        </p:spPr>
      </p:sp>
      <p:sp>
        <p:nvSpPr>
          <p:cNvPr id="164" name="Shape 162"/>
          <p:cNvSpPr/>
          <p:nvPr/>
        </p:nvSpPr>
        <p:spPr>
          <a:xfrm>
            <a:off x="9508948"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$139.13</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68" name="Shape 166"/>
          <p:cNvSpPr/>
          <p:nvPr/>
        </p:nvSpPr>
        <p:spPr>
          <a:xfrm>
            <a:off x="8558784" y="4877786"/>
            <a:ext cx="879615" cy="110266"/>
          </a:xfrm>
          <a:prstGeom prst="rect">
            <a:avLst/>
          </a:prstGeom>
          <a:solidFill>
            <a:srgbClr val="C2352F"/>
          </a:solidFill>
          <a:ln/>
        </p:spPr>
      </p:sp>
      <p:sp>
        <p:nvSpPr>
          <p:cNvPr id="169" name="Shape 167"/>
          <p:cNvSpPr/>
          <p:nvPr/>
        </p:nvSpPr>
        <p:spPr>
          <a:xfrm>
            <a:off x="9508948"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$138.48</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3" name="Shape 171"/>
          <p:cNvSpPr/>
          <p:nvPr/>
        </p:nvSpPr>
        <p:spPr>
          <a:xfrm>
            <a:off x="8558784" y="5098318"/>
            <a:ext cx="858476" cy="110266"/>
          </a:xfrm>
          <a:prstGeom prst="rect">
            <a:avLst/>
          </a:prstGeom>
          <a:solidFill>
            <a:srgbClr val="C2352F"/>
          </a:solidFill>
          <a:ln/>
        </p:spPr>
      </p:sp>
      <p:sp>
        <p:nvSpPr>
          <p:cNvPr id="174" name="Shape 172"/>
          <p:cNvSpPr/>
          <p:nvPr/>
        </p:nvSpPr>
        <p:spPr>
          <a:xfrm>
            <a:off x="9508948"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$135.15</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8" name="Shape 176"/>
          <p:cNvSpPr/>
          <p:nvPr/>
        </p:nvSpPr>
        <p:spPr>
          <a:xfrm>
            <a:off x="8558784" y="5318850"/>
            <a:ext cx="828632" cy="110266"/>
          </a:xfrm>
          <a:prstGeom prst="rect">
            <a:avLst/>
          </a:prstGeom>
          <a:solidFill>
            <a:srgbClr val="C2352F"/>
          </a:solidFill>
          <a:ln/>
        </p:spPr>
      </p:sp>
      <p:sp>
        <p:nvSpPr>
          <p:cNvPr id="179" name="Shape 177"/>
          <p:cNvSpPr/>
          <p:nvPr/>
        </p:nvSpPr>
        <p:spPr>
          <a:xfrm>
            <a:off x="9508948"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$130.46</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3" name="Shape 181"/>
          <p:cNvSpPr/>
          <p:nvPr/>
        </p:nvSpPr>
        <p:spPr>
          <a:xfrm>
            <a:off x="8558784" y="5539381"/>
            <a:ext cx="800888" cy="110266"/>
          </a:xfrm>
          <a:prstGeom prst="rect">
            <a:avLst/>
          </a:prstGeom>
          <a:solidFill>
            <a:srgbClr val="C2352F"/>
          </a:solidFill>
          <a:ln/>
        </p:spPr>
      </p:sp>
      <p:sp>
        <p:nvSpPr>
          <p:cNvPr id="184" name="Shape 182"/>
          <p:cNvSpPr/>
          <p:nvPr/>
        </p:nvSpPr>
        <p:spPr>
          <a:xfrm>
            <a:off x="950894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$126.09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6 of 9 luxury stores beat $217.79 and 12 of 24 others beat $151.32. Acura leads non-luxury at $210.50.</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+$40.53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3850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1" name="Shape 19"/>
          <p:cNvSpPr/>
          <p:nvPr/>
        </p:nvSpPr>
        <p:spPr>
          <a:xfrm>
            <a:off x="3785616" y="2391651"/>
            <a:ext cx="514703"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+$26.84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5" name="Shape 23"/>
          <p:cNvSpPr/>
          <p:nvPr/>
        </p:nvSpPr>
        <p:spPr>
          <a:xfrm>
            <a:off x="3785616" y="2631546"/>
            <a:ext cx="42234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33396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323669"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+$16.88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7" name="Shape 35"/>
          <p:cNvSpPr/>
          <p:nvPr/>
        </p:nvSpPr>
        <p:spPr>
          <a:xfrm>
            <a:off x="3785616" y="3351233"/>
            <a:ext cx="28557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22721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3785616" y="3831024"/>
            <a:ext cx="1759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14332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1828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85736"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1" name="Shape 59"/>
          <p:cNvSpPr/>
          <p:nvPr/>
        </p:nvSpPr>
        <p:spPr>
          <a:xfrm>
            <a:off x="3785616" y="4790606"/>
            <a:ext cx="8143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7218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652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6355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7" name="Shape 75"/>
          <p:cNvSpPr/>
          <p:nvPr/>
        </p:nvSpPr>
        <p:spPr>
          <a:xfrm>
            <a:off x="3785616" y="5750188"/>
            <a:ext cx="6175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1" name="Shape 79"/>
          <p:cNvSpPr/>
          <p:nvPr/>
        </p:nvSpPr>
        <p:spPr>
          <a:xfrm>
            <a:off x="9336024" y="1911860"/>
            <a:ext cx="34241"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+$1.79</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9" name="Shape 87"/>
          <p:cNvSpPr/>
          <p:nvPr/>
        </p:nvSpPr>
        <p:spPr>
          <a:xfrm>
            <a:off x="9318854" y="2391651"/>
            <a:ext cx="17170"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7123" y="2631546"/>
            <a:ext cx="1890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08306" y="2871442"/>
            <a:ext cx="27718"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06754" y="3111337"/>
            <a:ext cx="292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00755" y="3351233"/>
            <a:ext cx="3526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96965" y="3591128"/>
            <a:ext cx="3905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9296926" y="3831024"/>
            <a:ext cx="3909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9294926" y="4070920"/>
            <a:ext cx="41098"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9266894" y="4310815"/>
            <a:ext cx="69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9216031" y="4550711"/>
            <a:ext cx="119993"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137473" y="4790606"/>
            <a:ext cx="1985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3" name="Shape 131"/>
          <p:cNvSpPr/>
          <p:nvPr/>
        </p:nvSpPr>
        <p:spPr>
          <a:xfrm>
            <a:off x="9119752" y="5030502"/>
            <a:ext cx="21627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9093546" y="5270397"/>
            <a:ext cx="24247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662367" y="5510293"/>
            <a:ext cx="6736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19 of 33 stores raised CP ELR, led by Volvo at +$40.53 to $222.12. 14 declined; Kia LV fell most at −$35.13.</a:t>
            </a:r>
            <a:endParaRPr lang="en-US" sz="145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$348.87</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$310.00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$294.87</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$285.00</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$239.87</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$235.87</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$228.55</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$224.87</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$219.87</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$211.87</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$211.26</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$209.87</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$204.87</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$184.87</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$179.87</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$275.00</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$249.95</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$244.87</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$229.95</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$220.00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$215.37</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$210.00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$202.83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$199.95</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$195.00</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$190.00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$185.00</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$179.00</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1376"/>
          </a:xfrm>
          <a:prstGeom prst="rect">
            <a:avLst/>
          </a:prstGeom>
          <a:solidFill>
            <a:srgbClr val="EDF4FA"/>
          </a:solidFill>
          <a:ln/>
        </p:spPr>
      </p:sp>
      <p:sp>
        <p:nvSpPr>
          <p:cNvPr id="119" name="Text 1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17 stores price labor on a grid, 16 at a flat door rate. Hours-weighted door rate: $228.55 grid, $202.83 no grid.</a:t>
            </a:r>
            <a:endParaRPr lang="en-US" sz="14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Total dollars per RO matters more than any single measure. It's what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measures execution for the store and for each advisor.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best number to build advisor pay on.</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lever on the hours slide: MPI, menu, Road to the Sale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Pricing, discounts and mix</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customer, every time, from an accurate menu</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 advisors on CP labor or gross per RO</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$632, non-luxury $264.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4142739"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687755" cy="110266"/>
          </a:xfrm>
          <a:prstGeom prst="rect">
            <a:avLst/>
          </a:prstGeom>
          <a:solidFill>
            <a:srgbClr val="12A566"/>
          </a:solidFill>
          <a:ln/>
        </p:spPr>
      </p:sp>
      <p:sp>
        <p:nvSpPr>
          <p:cNvPr id="22" name="Shape 20"/>
          <p:cNvSpPr/>
          <p:nvPr/>
        </p:nvSpPr>
        <p:spPr>
          <a:xfrm>
            <a:off x="4142739"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672468"/>
            <a:ext cx="1682307" cy="110266"/>
          </a:xfrm>
          <a:prstGeom prst="rect">
            <a:avLst/>
          </a:prstGeom>
          <a:solidFill>
            <a:srgbClr val="12A566"/>
          </a:solidFill>
          <a:ln/>
        </p:spPr>
      </p:sp>
      <p:sp>
        <p:nvSpPr>
          <p:cNvPr id="28" name="Shape 26"/>
          <p:cNvSpPr/>
          <p:nvPr/>
        </p:nvSpPr>
        <p:spPr>
          <a:xfrm>
            <a:off x="4142739"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2893000"/>
            <a:ext cx="1481141" cy="110266"/>
          </a:xfrm>
          <a:prstGeom prst="rect">
            <a:avLst/>
          </a:prstGeom>
          <a:solidFill>
            <a:srgbClr val="12A566"/>
          </a:solidFill>
          <a:ln/>
        </p:spPr>
      </p:sp>
      <p:sp>
        <p:nvSpPr>
          <p:cNvPr id="34" name="Shape 32"/>
          <p:cNvSpPr/>
          <p:nvPr/>
        </p:nvSpPr>
        <p:spPr>
          <a:xfrm>
            <a:off x="4142739"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1162436" cy="110266"/>
          </a:xfrm>
          <a:prstGeom prst="rect">
            <a:avLst/>
          </a:prstGeom>
          <a:solidFill>
            <a:srgbClr val="12A566"/>
          </a:solidFill>
          <a:ln/>
        </p:spPr>
      </p:sp>
      <p:sp>
        <p:nvSpPr>
          <p:cNvPr id="40" name="Shape 38"/>
          <p:cNvSpPr/>
          <p:nvPr/>
        </p:nvSpPr>
        <p:spPr>
          <a:xfrm>
            <a:off x="4142739"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17343" cy="110266"/>
          </a:xfrm>
          <a:prstGeom prst="rect">
            <a:avLst/>
          </a:prstGeom>
          <a:solidFill>
            <a:srgbClr val="C2352F"/>
          </a:solidFill>
          <a:ln/>
        </p:spPr>
      </p:sp>
      <p:sp>
        <p:nvSpPr>
          <p:cNvPr id="46" name="Shape 44"/>
          <p:cNvSpPr/>
          <p:nvPr/>
        </p:nvSpPr>
        <p:spPr>
          <a:xfrm>
            <a:off x="4142739"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1" name="Shape 49"/>
          <p:cNvSpPr/>
          <p:nvPr/>
        </p:nvSpPr>
        <p:spPr>
          <a:xfrm>
            <a:off x="3008376" y="3554596"/>
            <a:ext cx="841658" cy="110266"/>
          </a:xfrm>
          <a:prstGeom prst="rect">
            <a:avLst/>
          </a:prstGeom>
          <a:solidFill>
            <a:srgbClr val="C2352F"/>
          </a:solidFill>
          <a:ln/>
        </p:spPr>
      </p:sp>
      <p:sp>
        <p:nvSpPr>
          <p:cNvPr id="52" name="Shape 50"/>
          <p:cNvSpPr/>
          <p:nvPr/>
        </p:nvSpPr>
        <p:spPr>
          <a:xfrm>
            <a:off x="4142739"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7" name="Shape 55"/>
          <p:cNvSpPr/>
          <p:nvPr/>
        </p:nvSpPr>
        <p:spPr>
          <a:xfrm>
            <a:off x="3008376" y="3775127"/>
            <a:ext cx="755112" cy="110266"/>
          </a:xfrm>
          <a:prstGeom prst="rect">
            <a:avLst/>
          </a:prstGeom>
          <a:solidFill>
            <a:srgbClr val="C2352F"/>
          </a:solidFill>
          <a:ln/>
        </p:spPr>
      </p:sp>
      <p:sp>
        <p:nvSpPr>
          <p:cNvPr id="58" name="Shape 56"/>
          <p:cNvSpPr/>
          <p:nvPr/>
        </p:nvSpPr>
        <p:spPr>
          <a:xfrm>
            <a:off x="4142739"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60" name="Shape 58"/>
          <p:cNvSpPr/>
          <p:nvPr/>
        </p:nvSpPr>
        <p:spPr>
          <a:xfrm>
            <a:off x="603504" y="3940526"/>
            <a:ext cx="5358384" cy="220532"/>
          </a:xfrm>
          <a:prstGeom prst="rect">
            <a:avLst/>
          </a:prstGeom>
          <a:solidFill>
            <a:srgbClr val="EDF4FA"/>
          </a:solidFill>
          <a:ln/>
        </p:spPr>
      </p:sp>
      <p:sp>
        <p:nvSpPr>
          <p:cNvPr id="61" name="Text 59"/>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2" name="Text 60"/>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63" name="Shape 61"/>
          <p:cNvSpPr/>
          <p:nvPr/>
        </p:nvSpPr>
        <p:spPr>
          <a:xfrm>
            <a:off x="3008376" y="3995659"/>
            <a:ext cx="730056" cy="110266"/>
          </a:xfrm>
          <a:prstGeom prst="rect">
            <a:avLst/>
          </a:prstGeom>
          <a:solidFill>
            <a:srgbClr val="C2352F"/>
          </a:solidFill>
          <a:ln/>
        </p:spPr>
      </p:sp>
      <p:sp>
        <p:nvSpPr>
          <p:cNvPr id="64" name="Shape 62"/>
          <p:cNvSpPr/>
          <p:nvPr/>
        </p:nvSpPr>
        <p:spPr>
          <a:xfrm>
            <a:off x="4142739" y="3962579"/>
            <a:ext cx="21946" cy="176425"/>
          </a:xfrm>
          <a:prstGeom prst="rect">
            <a:avLst/>
          </a:prstGeom>
          <a:solidFill>
            <a:srgbClr val="0B2C4A"/>
          </a:solidFill>
          <a:ln/>
        </p:spPr>
      </p:sp>
      <p:sp>
        <p:nvSpPr>
          <p:cNvPr id="65" name="Text 63"/>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66" name="Text 64"/>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3008376" y="4216191"/>
            <a:ext cx="705337" cy="110266"/>
          </a:xfrm>
          <a:prstGeom prst="rect">
            <a:avLst/>
          </a:prstGeom>
          <a:solidFill>
            <a:srgbClr val="12A566"/>
          </a:solidFill>
          <a:ln/>
        </p:spPr>
      </p:sp>
      <p:sp>
        <p:nvSpPr>
          <p:cNvPr id="69" name="Shape 67"/>
          <p:cNvSpPr/>
          <p:nvPr/>
        </p:nvSpPr>
        <p:spPr>
          <a:xfrm>
            <a:off x="3476332" y="4183111"/>
            <a:ext cx="21946" cy="176425"/>
          </a:xfrm>
          <a:prstGeom prst="rect">
            <a:avLst/>
          </a:prstGeom>
          <a:solidFill>
            <a:srgbClr val="0B2C4A"/>
          </a:solidFill>
          <a:ln/>
        </p:spPr>
      </p:sp>
      <p:sp>
        <p:nvSpPr>
          <p:cNvPr id="70" name="Text 68"/>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71" name="Text 69"/>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3" name="Shape 71"/>
          <p:cNvSpPr/>
          <p:nvPr/>
        </p:nvSpPr>
        <p:spPr>
          <a:xfrm>
            <a:off x="3008376" y="4436723"/>
            <a:ext cx="673033" cy="110266"/>
          </a:xfrm>
          <a:prstGeom prst="rect">
            <a:avLst/>
          </a:prstGeom>
          <a:solidFill>
            <a:srgbClr val="12A566"/>
          </a:solidFill>
          <a:ln/>
        </p:spPr>
      </p:sp>
      <p:sp>
        <p:nvSpPr>
          <p:cNvPr id="74" name="Shape 72"/>
          <p:cNvSpPr/>
          <p:nvPr/>
        </p:nvSpPr>
        <p:spPr>
          <a:xfrm>
            <a:off x="3476332" y="4403643"/>
            <a:ext cx="21946" cy="176425"/>
          </a:xfrm>
          <a:prstGeom prst="rect">
            <a:avLst/>
          </a:prstGeom>
          <a:solidFill>
            <a:srgbClr val="0B2C4A"/>
          </a:solidFill>
          <a:ln/>
        </p:spPr>
      </p:sp>
      <p:sp>
        <p:nvSpPr>
          <p:cNvPr id="75" name="Text 73"/>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76" name="Text 74"/>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7" name="Text 75"/>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8" name="Shape 76"/>
          <p:cNvSpPr/>
          <p:nvPr/>
        </p:nvSpPr>
        <p:spPr>
          <a:xfrm>
            <a:off x="3008376" y="4657254"/>
            <a:ext cx="641221" cy="110266"/>
          </a:xfrm>
          <a:prstGeom prst="rect">
            <a:avLst/>
          </a:prstGeom>
          <a:solidFill>
            <a:srgbClr val="12A566"/>
          </a:solidFill>
          <a:ln/>
        </p:spPr>
      </p:sp>
      <p:sp>
        <p:nvSpPr>
          <p:cNvPr id="79" name="Shape 77"/>
          <p:cNvSpPr/>
          <p:nvPr/>
        </p:nvSpPr>
        <p:spPr>
          <a:xfrm>
            <a:off x="3476332" y="4624175"/>
            <a:ext cx="21946" cy="176425"/>
          </a:xfrm>
          <a:prstGeom prst="rect">
            <a:avLst/>
          </a:prstGeom>
          <a:solidFill>
            <a:srgbClr val="0B2C4A"/>
          </a:solidFill>
          <a:ln/>
        </p:spPr>
      </p:sp>
      <p:sp>
        <p:nvSpPr>
          <p:cNvPr id="80" name="Text 78"/>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81" name="Text 79"/>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2" name="Text 80"/>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3008376" y="4877786"/>
            <a:ext cx="602381" cy="110266"/>
          </a:xfrm>
          <a:prstGeom prst="rect">
            <a:avLst/>
          </a:prstGeom>
          <a:solidFill>
            <a:srgbClr val="12A566"/>
          </a:solidFill>
          <a:ln/>
        </p:spPr>
      </p:sp>
      <p:sp>
        <p:nvSpPr>
          <p:cNvPr id="84" name="Shape 82"/>
          <p:cNvSpPr/>
          <p:nvPr/>
        </p:nvSpPr>
        <p:spPr>
          <a:xfrm>
            <a:off x="3476332" y="4844706"/>
            <a:ext cx="21946" cy="176425"/>
          </a:xfrm>
          <a:prstGeom prst="rect">
            <a:avLst/>
          </a:prstGeom>
          <a:solidFill>
            <a:srgbClr val="0B2C4A"/>
          </a:solidFill>
          <a:ln/>
        </p:spPr>
      </p:sp>
      <p:sp>
        <p:nvSpPr>
          <p:cNvPr id="85" name="Text 83"/>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86" name="Text 84"/>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7" name="Text 85"/>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098318"/>
            <a:ext cx="577225" cy="110266"/>
          </a:xfrm>
          <a:prstGeom prst="rect">
            <a:avLst/>
          </a:prstGeom>
          <a:solidFill>
            <a:srgbClr val="12A566"/>
          </a:solidFill>
          <a:ln/>
        </p:spPr>
      </p:sp>
      <p:sp>
        <p:nvSpPr>
          <p:cNvPr id="89" name="Shape 87"/>
          <p:cNvSpPr/>
          <p:nvPr/>
        </p:nvSpPr>
        <p:spPr>
          <a:xfrm>
            <a:off x="3476332" y="5065238"/>
            <a:ext cx="21946" cy="176425"/>
          </a:xfrm>
          <a:prstGeom prst="rect">
            <a:avLst/>
          </a:prstGeom>
          <a:solidFill>
            <a:srgbClr val="0B2C4A"/>
          </a:solidFill>
          <a:ln/>
        </p:spPr>
      </p:sp>
      <p:sp>
        <p:nvSpPr>
          <p:cNvPr id="90" name="Text 88"/>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91" name="Text 89"/>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2" name="Text 90"/>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3" name="Shape 91"/>
          <p:cNvSpPr/>
          <p:nvPr/>
        </p:nvSpPr>
        <p:spPr>
          <a:xfrm>
            <a:off x="3008376" y="5318850"/>
            <a:ext cx="563314" cy="110266"/>
          </a:xfrm>
          <a:prstGeom prst="rect">
            <a:avLst/>
          </a:prstGeom>
          <a:solidFill>
            <a:srgbClr val="12A566"/>
          </a:solidFill>
          <a:ln/>
        </p:spPr>
      </p:sp>
      <p:sp>
        <p:nvSpPr>
          <p:cNvPr id="94" name="Shape 92"/>
          <p:cNvSpPr/>
          <p:nvPr/>
        </p:nvSpPr>
        <p:spPr>
          <a:xfrm>
            <a:off x="3476332" y="5285770"/>
            <a:ext cx="21946" cy="176425"/>
          </a:xfrm>
          <a:prstGeom prst="rect">
            <a:avLst/>
          </a:prstGeom>
          <a:solidFill>
            <a:srgbClr val="0B2C4A"/>
          </a:solidFill>
          <a:ln/>
        </p:spPr>
      </p:sp>
      <p:sp>
        <p:nvSpPr>
          <p:cNvPr id="95" name="Text 93"/>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96" name="Text 94"/>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7" name="Text 95"/>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3008376" y="5539381"/>
            <a:ext cx="547061" cy="110266"/>
          </a:xfrm>
          <a:prstGeom prst="rect">
            <a:avLst/>
          </a:prstGeom>
          <a:solidFill>
            <a:srgbClr val="12A566"/>
          </a:solidFill>
          <a:ln/>
        </p:spPr>
      </p:sp>
      <p:sp>
        <p:nvSpPr>
          <p:cNvPr id="99" name="Shape 97"/>
          <p:cNvSpPr/>
          <p:nvPr/>
        </p:nvSpPr>
        <p:spPr>
          <a:xfrm>
            <a:off x="3476332" y="5506302"/>
            <a:ext cx="21946" cy="176425"/>
          </a:xfrm>
          <a:prstGeom prst="rect">
            <a:avLst/>
          </a:prstGeom>
          <a:solidFill>
            <a:srgbClr val="0B2C4A"/>
          </a:solidFill>
          <a:ln/>
        </p:spPr>
      </p:sp>
      <p:sp>
        <p:nvSpPr>
          <p:cNvPr id="100" name="Text 98"/>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101" name="Text 99"/>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2" name="Text 100"/>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3" name="Shape 101"/>
          <p:cNvSpPr/>
          <p:nvPr/>
        </p:nvSpPr>
        <p:spPr>
          <a:xfrm>
            <a:off x="3008376" y="5759913"/>
            <a:ext cx="542954" cy="110266"/>
          </a:xfrm>
          <a:prstGeom prst="rect">
            <a:avLst/>
          </a:prstGeom>
          <a:solidFill>
            <a:srgbClr val="12A566"/>
          </a:solidFill>
          <a:ln/>
        </p:spPr>
      </p:sp>
      <p:sp>
        <p:nvSpPr>
          <p:cNvPr id="104" name="Shape 102"/>
          <p:cNvSpPr/>
          <p:nvPr/>
        </p:nvSpPr>
        <p:spPr>
          <a:xfrm>
            <a:off x="3476332" y="5726833"/>
            <a:ext cx="21946" cy="176425"/>
          </a:xfrm>
          <a:prstGeom prst="rect">
            <a:avLst/>
          </a:prstGeom>
          <a:solidFill>
            <a:srgbClr val="0B2C4A"/>
          </a:solidFill>
          <a:ln/>
        </p:spPr>
      </p:sp>
      <p:sp>
        <p:nvSpPr>
          <p:cNvPr id="105" name="Text 103"/>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8" name="Shape 106"/>
          <p:cNvSpPr/>
          <p:nvPr/>
        </p:nvSpPr>
        <p:spPr>
          <a:xfrm>
            <a:off x="8558784" y="2231405"/>
            <a:ext cx="541966" cy="110266"/>
          </a:xfrm>
          <a:prstGeom prst="rect">
            <a:avLst/>
          </a:prstGeom>
          <a:solidFill>
            <a:srgbClr val="12A566"/>
          </a:solidFill>
          <a:ln/>
        </p:spPr>
      </p:sp>
      <p:sp>
        <p:nvSpPr>
          <p:cNvPr id="109" name="Shape 107"/>
          <p:cNvSpPr/>
          <p:nvPr/>
        </p:nvSpPr>
        <p:spPr>
          <a:xfrm>
            <a:off x="9026740"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2451937"/>
            <a:ext cx="523696" cy="110266"/>
          </a:xfrm>
          <a:prstGeom prst="rect">
            <a:avLst/>
          </a:prstGeom>
          <a:solidFill>
            <a:srgbClr val="12A566"/>
          </a:solidFill>
          <a:ln/>
        </p:spPr>
      </p:sp>
      <p:sp>
        <p:nvSpPr>
          <p:cNvPr id="114" name="Shape 112"/>
          <p:cNvSpPr/>
          <p:nvPr/>
        </p:nvSpPr>
        <p:spPr>
          <a:xfrm>
            <a:off x="9026740"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8" name="Shape 116"/>
          <p:cNvSpPr/>
          <p:nvPr/>
        </p:nvSpPr>
        <p:spPr>
          <a:xfrm>
            <a:off x="8558784" y="2672468"/>
            <a:ext cx="507630" cy="110266"/>
          </a:xfrm>
          <a:prstGeom prst="rect">
            <a:avLst/>
          </a:prstGeom>
          <a:solidFill>
            <a:srgbClr val="12A566"/>
          </a:solidFill>
          <a:ln/>
        </p:spPr>
      </p:sp>
      <p:sp>
        <p:nvSpPr>
          <p:cNvPr id="119" name="Shape 117"/>
          <p:cNvSpPr/>
          <p:nvPr/>
        </p:nvSpPr>
        <p:spPr>
          <a:xfrm>
            <a:off x="9026740"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3" name="Shape 121"/>
          <p:cNvSpPr/>
          <p:nvPr/>
        </p:nvSpPr>
        <p:spPr>
          <a:xfrm>
            <a:off x="8558784" y="2893000"/>
            <a:ext cx="497050" cy="110266"/>
          </a:xfrm>
          <a:prstGeom prst="rect">
            <a:avLst/>
          </a:prstGeom>
          <a:solidFill>
            <a:srgbClr val="12A566"/>
          </a:solidFill>
          <a:ln/>
        </p:spPr>
      </p:sp>
      <p:sp>
        <p:nvSpPr>
          <p:cNvPr id="124" name="Shape 122"/>
          <p:cNvSpPr/>
          <p:nvPr/>
        </p:nvSpPr>
        <p:spPr>
          <a:xfrm>
            <a:off x="9026740"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558784" y="3113532"/>
            <a:ext cx="491692" cy="110266"/>
          </a:xfrm>
          <a:prstGeom prst="rect">
            <a:avLst/>
          </a:prstGeom>
          <a:solidFill>
            <a:srgbClr val="12A566"/>
          </a:solidFill>
          <a:ln/>
        </p:spPr>
      </p:sp>
      <p:sp>
        <p:nvSpPr>
          <p:cNvPr id="129" name="Shape 127"/>
          <p:cNvSpPr/>
          <p:nvPr/>
        </p:nvSpPr>
        <p:spPr>
          <a:xfrm>
            <a:off x="9026740"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558784" y="3334064"/>
            <a:ext cx="431863" cy="110266"/>
          </a:xfrm>
          <a:prstGeom prst="rect">
            <a:avLst/>
          </a:prstGeom>
          <a:solidFill>
            <a:srgbClr val="C2352F"/>
          </a:solidFill>
          <a:ln/>
        </p:spPr>
      </p:sp>
      <p:sp>
        <p:nvSpPr>
          <p:cNvPr id="134" name="Shape 132"/>
          <p:cNvSpPr/>
          <p:nvPr/>
        </p:nvSpPr>
        <p:spPr>
          <a:xfrm>
            <a:off x="9026740"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8" name="Shape 136"/>
          <p:cNvSpPr/>
          <p:nvPr/>
        </p:nvSpPr>
        <p:spPr>
          <a:xfrm>
            <a:off x="8558784" y="3554596"/>
            <a:ext cx="431091" cy="110266"/>
          </a:xfrm>
          <a:prstGeom prst="rect">
            <a:avLst/>
          </a:prstGeom>
          <a:solidFill>
            <a:srgbClr val="C2352F"/>
          </a:solidFill>
          <a:ln/>
        </p:spPr>
      </p:sp>
      <p:sp>
        <p:nvSpPr>
          <p:cNvPr id="139" name="Shape 137"/>
          <p:cNvSpPr/>
          <p:nvPr/>
        </p:nvSpPr>
        <p:spPr>
          <a:xfrm>
            <a:off x="9026740"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3" name="Shape 141"/>
          <p:cNvSpPr/>
          <p:nvPr/>
        </p:nvSpPr>
        <p:spPr>
          <a:xfrm>
            <a:off x="8558784" y="3775127"/>
            <a:ext cx="424414" cy="110266"/>
          </a:xfrm>
          <a:prstGeom prst="rect">
            <a:avLst/>
          </a:prstGeom>
          <a:solidFill>
            <a:srgbClr val="C2352F"/>
          </a:solidFill>
          <a:ln/>
        </p:spPr>
      </p:sp>
      <p:sp>
        <p:nvSpPr>
          <p:cNvPr id="144" name="Shape 142"/>
          <p:cNvSpPr/>
          <p:nvPr/>
        </p:nvSpPr>
        <p:spPr>
          <a:xfrm>
            <a:off x="9026740"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8" name="Shape 146"/>
          <p:cNvSpPr/>
          <p:nvPr/>
        </p:nvSpPr>
        <p:spPr>
          <a:xfrm>
            <a:off x="8558784" y="3995659"/>
            <a:ext cx="418377" cy="110266"/>
          </a:xfrm>
          <a:prstGeom prst="rect">
            <a:avLst/>
          </a:prstGeom>
          <a:solidFill>
            <a:srgbClr val="C2352F"/>
          </a:solidFill>
          <a:ln/>
        </p:spPr>
      </p:sp>
      <p:sp>
        <p:nvSpPr>
          <p:cNvPr id="149" name="Shape 147"/>
          <p:cNvSpPr/>
          <p:nvPr/>
        </p:nvSpPr>
        <p:spPr>
          <a:xfrm>
            <a:off x="9026740"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216191"/>
            <a:ext cx="412275" cy="110266"/>
          </a:xfrm>
          <a:prstGeom prst="rect">
            <a:avLst/>
          </a:prstGeom>
          <a:solidFill>
            <a:srgbClr val="C2352F"/>
          </a:solidFill>
          <a:ln/>
        </p:spPr>
      </p:sp>
      <p:sp>
        <p:nvSpPr>
          <p:cNvPr id="154" name="Shape 152"/>
          <p:cNvSpPr/>
          <p:nvPr/>
        </p:nvSpPr>
        <p:spPr>
          <a:xfrm>
            <a:off x="9026740"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58" name="Shape 156"/>
          <p:cNvSpPr/>
          <p:nvPr/>
        </p:nvSpPr>
        <p:spPr>
          <a:xfrm>
            <a:off x="8558784" y="4436723"/>
            <a:ext cx="402934" cy="110266"/>
          </a:xfrm>
          <a:prstGeom prst="rect">
            <a:avLst/>
          </a:prstGeom>
          <a:solidFill>
            <a:srgbClr val="C2352F"/>
          </a:solidFill>
          <a:ln/>
        </p:spPr>
      </p:sp>
      <p:sp>
        <p:nvSpPr>
          <p:cNvPr id="159" name="Shape 157"/>
          <p:cNvSpPr/>
          <p:nvPr/>
        </p:nvSpPr>
        <p:spPr>
          <a:xfrm>
            <a:off x="9026740"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784" y="4657254"/>
            <a:ext cx="399642" cy="110266"/>
          </a:xfrm>
          <a:prstGeom prst="rect">
            <a:avLst/>
          </a:prstGeom>
          <a:solidFill>
            <a:srgbClr val="C2352F"/>
          </a:solidFill>
          <a:ln/>
        </p:spPr>
      </p:sp>
      <p:sp>
        <p:nvSpPr>
          <p:cNvPr id="164" name="Shape 162"/>
          <p:cNvSpPr/>
          <p:nvPr/>
        </p:nvSpPr>
        <p:spPr>
          <a:xfrm>
            <a:off x="9026740"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8" name="Shape 166"/>
          <p:cNvSpPr/>
          <p:nvPr/>
        </p:nvSpPr>
        <p:spPr>
          <a:xfrm>
            <a:off x="8558784" y="4877786"/>
            <a:ext cx="386830" cy="110266"/>
          </a:xfrm>
          <a:prstGeom prst="rect">
            <a:avLst/>
          </a:prstGeom>
          <a:solidFill>
            <a:srgbClr val="C2352F"/>
          </a:solidFill>
          <a:ln/>
        </p:spPr>
      </p:sp>
      <p:sp>
        <p:nvSpPr>
          <p:cNvPr id="169" name="Shape 167"/>
          <p:cNvSpPr/>
          <p:nvPr/>
        </p:nvSpPr>
        <p:spPr>
          <a:xfrm>
            <a:off x="9026740"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73" name="Shape 171"/>
          <p:cNvSpPr/>
          <p:nvPr/>
        </p:nvSpPr>
        <p:spPr>
          <a:xfrm>
            <a:off x="8558784" y="5098318"/>
            <a:ext cx="363811" cy="110266"/>
          </a:xfrm>
          <a:prstGeom prst="rect">
            <a:avLst/>
          </a:prstGeom>
          <a:solidFill>
            <a:srgbClr val="C2352F"/>
          </a:solidFill>
          <a:ln/>
        </p:spPr>
      </p:sp>
      <p:sp>
        <p:nvSpPr>
          <p:cNvPr id="174" name="Shape 172"/>
          <p:cNvSpPr/>
          <p:nvPr/>
        </p:nvSpPr>
        <p:spPr>
          <a:xfrm>
            <a:off x="9026740"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8" name="Shape 176"/>
          <p:cNvSpPr/>
          <p:nvPr/>
        </p:nvSpPr>
        <p:spPr>
          <a:xfrm>
            <a:off x="8558784" y="5318850"/>
            <a:ext cx="338767" cy="110266"/>
          </a:xfrm>
          <a:prstGeom prst="rect">
            <a:avLst/>
          </a:prstGeom>
          <a:solidFill>
            <a:srgbClr val="C2352F"/>
          </a:solidFill>
          <a:ln/>
        </p:spPr>
      </p:sp>
      <p:sp>
        <p:nvSpPr>
          <p:cNvPr id="179" name="Shape 177"/>
          <p:cNvSpPr/>
          <p:nvPr/>
        </p:nvSpPr>
        <p:spPr>
          <a:xfrm>
            <a:off x="9026740"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83" name="Shape 181"/>
          <p:cNvSpPr/>
          <p:nvPr/>
        </p:nvSpPr>
        <p:spPr>
          <a:xfrm>
            <a:off x="8558784" y="5539381"/>
            <a:ext cx="329907" cy="110266"/>
          </a:xfrm>
          <a:prstGeom prst="rect">
            <a:avLst/>
          </a:prstGeom>
          <a:solidFill>
            <a:srgbClr val="C2352F"/>
          </a:solidFill>
          <a:ln/>
        </p:spPr>
      </p:sp>
      <p:sp>
        <p:nvSpPr>
          <p:cNvPr id="184" name="Shape 182"/>
          <p:cNvSpPr/>
          <p:nvPr/>
        </p:nvSpPr>
        <p:spPr>
          <a:xfrm>
            <a:off x="9026740"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$632 and 13 of 24 others beat $264. VW Henderson leads non-luxury at $389.</a:t>
            </a:r>
            <a:endParaRPr lang="en-US" sz="1600" dirty="0"/>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594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55269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46378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9" name="Shape 27"/>
          <p:cNvSpPr/>
          <p:nvPr/>
        </p:nvSpPr>
        <p:spPr>
          <a:xfrm>
            <a:off x="3785616" y="2871442"/>
            <a:ext cx="456716"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1435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7" name="Shape 35"/>
          <p:cNvSpPr/>
          <p:nvPr/>
        </p:nvSpPr>
        <p:spPr>
          <a:xfrm>
            <a:off x="3785616" y="3351233"/>
            <a:ext cx="4127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785616" y="3591128"/>
            <a:ext cx="40624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28805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6304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4249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3785616" y="4550711"/>
            <a:ext cx="23502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215884"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1783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735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3" name="Shape 71"/>
          <p:cNvSpPr/>
          <p:nvPr/>
        </p:nvSpPr>
        <p:spPr>
          <a:xfrm>
            <a:off x="3785616" y="5510293"/>
            <a:ext cx="16262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7" name="Shape 75"/>
          <p:cNvSpPr/>
          <p:nvPr/>
        </p:nvSpPr>
        <p:spPr>
          <a:xfrm>
            <a:off x="3785616" y="5750188"/>
            <a:ext cx="15704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19398"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746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9" name="Shape 87"/>
          <p:cNvSpPr/>
          <p:nvPr/>
        </p:nvSpPr>
        <p:spPr>
          <a:xfrm>
            <a:off x="9336024" y="2391651"/>
            <a:ext cx="114434"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10153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97" name="Shape 95"/>
          <p:cNvSpPr/>
          <p:nvPr/>
        </p:nvSpPr>
        <p:spPr>
          <a:xfrm>
            <a:off x="9336024" y="2871442"/>
            <a:ext cx="97831"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90948"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5" name="Shape 103"/>
          <p:cNvSpPr/>
          <p:nvPr/>
        </p:nvSpPr>
        <p:spPr>
          <a:xfrm>
            <a:off x="9336024" y="3351233"/>
            <a:ext cx="55339"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336024" y="3591128"/>
            <a:ext cx="49679"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9336024" y="3831024"/>
            <a:ext cx="30084"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95589" y="4070920"/>
            <a:ext cx="40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9290140" y="4310815"/>
            <a:ext cx="458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9274808" y="4550711"/>
            <a:ext cx="61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9" name="Shape 127"/>
          <p:cNvSpPr/>
          <p:nvPr/>
        </p:nvSpPr>
        <p:spPr>
          <a:xfrm>
            <a:off x="9269533" y="4790606"/>
            <a:ext cx="6649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9197430" y="5030502"/>
            <a:ext cx="13859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9075430" y="5270397"/>
            <a:ext cx="260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917914" y="5510293"/>
            <a:ext cx="4181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6F6EE"/>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26 of 33 stores grew CP labor per RO, led by Lincoln at +$111 to $416. 7 declined; LR Reno fell most at −$59.</a:t>
            </a:r>
            <a:endParaRPr lang="en-US" sz="145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$534, non-luxury $202. Green at or above it.</a:t>
            </a:r>
            <a:endParaRPr lang="en-US" sz="1400" dirty="0"/>
          </a:p>
        </p:txBody>
      </p:sp>
      <p:sp>
        <p:nvSpPr>
          <p:cNvPr id="12" name="Shape 10"/>
          <p:cNvSpPr/>
          <p:nvPr/>
        </p:nvSpPr>
        <p:spPr>
          <a:xfrm>
            <a:off x="603504" y="2176272"/>
            <a:ext cx="5358384" cy="220532"/>
          </a:xfrm>
          <a:prstGeom prst="rect">
            <a:avLst/>
          </a:prstGeom>
          <a:solidFill>
            <a:srgbClr val="EDF4FA"/>
          </a:solidFill>
          <a:ln/>
        </p:spPr>
      </p:sp>
      <p:sp>
        <p:nvSpPr>
          <p:cNvPr id="13" name="Text 11"/>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231405"/>
            <a:ext cx="1691640" cy="110266"/>
          </a:xfrm>
          <a:prstGeom prst="rect">
            <a:avLst/>
          </a:prstGeom>
          <a:solidFill>
            <a:srgbClr val="12A566"/>
          </a:solidFill>
          <a:ln/>
        </p:spPr>
      </p:sp>
      <p:sp>
        <p:nvSpPr>
          <p:cNvPr id="16" name="Shape 14"/>
          <p:cNvSpPr/>
          <p:nvPr/>
        </p:nvSpPr>
        <p:spPr>
          <a:xfrm>
            <a:off x="3973365" y="2198325"/>
            <a:ext cx="21946" cy="176425"/>
          </a:xfrm>
          <a:prstGeom prst="rect">
            <a:avLst/>
          </a:prstGeom>
          <a:solidFill>
            <a:srgbClr val="0B2C4A"/>
          </a:solidFill>
          <a:ln/>
        </p:spPr>
      </p:sp>
      <p:sp>
        <p:nvSpPr>
          <p:cNvPr id="17" name="Text 15"/>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8" name="Shape 16"/>
          <p:cNvSpPr/>
          <p:nvPr/>
        </p:nvSpPr>
        <p:spPr>
          <a:xfrm>
            <a:off x="603504" y="2396804"/>
            <a:ext cx="5358384" cy="220532"/>
          </a:xfrm>
          <a:prstGeom prst="rect">
            <a:avLst/>
          </a:prstGeom>
          <a:solidFill>
            <a:srgbClr val="EDF4FA"/>
          </a:solidFill>
          <a:ln/>
        </p:spPr>
      </p:sp>
      <p:sp>
        <p:nvSpPr>
          <p:cNvPr id="19" name="Text 17"/>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0" name="Text 18"/>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451937"/>
            <a:ext cx="1541776" cy="110266"/>
          </a:xfrm>
          <a:prstGeom prst="rect">
            <a:avLst/>
          </a:prstGeom>
          <a:solidFill>
            <a:srgbClr val="12A566"/>
          </a:solidFill>
          <a:ln/>
        </p:spPr>
      </p:sp>
      <p:sp>
        <p:nvSpPr>
          <p:cNvPr id="22" name="Shape 20"/>
          <p:cNvSpPr/>
          <p:nvPr/>
        </p:nvSpPr>
        <p:spPr>
          <a:xfrm>
            <a:off x="3973365" y="2418857"/>
            <a:ext cx="21946" cy="176425"/>
          </a:xfrm>
          <a:prstGeom prst="rect">
            <a:avLst/>
          </a:prstGeom>
          <a:solidFill>
            <a:srgbClr val="0B2C4A"/>
          </a:solidFill>
          <a:ln/>
        </p:spPr>
      </p:sp>
      <p:sp>
        <p:nvSpPr>
          <p:cNvPr id="23" name="Text 21"/>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4" name="Shape 22"/>
          <p:cNvSpPr/>
          <p:nvPr/>
        </p:nvSpPr>
        <p:spPr>
          <a:xfrm>
            <a:off x="603504" y="2617336"/>
            <a:ext cx="5358384" cy="220532"/>
          </a:xfrm>
          <a:prstGeom prst="rect">
            <a:avLst/>
          </a:prstGeom>
          <a:solidFill>
            <a:srgbClr val="EDF4FA"/>
          </a:solidFill>
          <a:ln/>
        </p:spPr>
      </p:sp>
      <p:sp>
        <p:nvSpPr>
          <p:cNvPr id="25" name="Text 23"/>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672468"/>
            <a:ext cx="1485880" cy="110266"/>
          </a:xfrm>
          <a:prstGeom prst="rect">
            <a:avLst/>
          </a:prstGeom>
          <a:solidFill>
            <a:srgbClr val="12A566"/>
          </a:solidFill>
          <a:ln/>
        </p:spPr>
      </p:sp>
      <p:sp>
        <p:nvSpPr>
          <p:cNvPr id="28" name="Shape 26"/>
          <p:cNvSpPr/>
          <p:nvPr/>
        </p:nvSpPr>
        <p:spPr>
          <a:xfrm>
            <a:off x="3973365" y="2639389"/>
            <a:ext cx="21946" cy="176425"/>
          </a:xfrm>
          <a:prstGeom prst="rect">
            <a:avLst/>
          </a:prstGeom>
          <a:solidFill>
            <a:srgbClr val="0B2C4A"/>
          </a:solidFill>
          <a:ln/>
        </p:spPr>
      </p:sp>
      <p:sp>
        <p:nvSpPr>
          <p:cNvPr id="29" name="Text 27"/>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30" name="Shape 28"/>
          <p:cNvSpPr/>
          <p:nvPr/>
        </p:nvSpPr>
        <p:spPr>
          <a:xfrm>
            <a:off x="603504" y="2837867"/>
            <a:ext cx="5358384" cy="220532"/>
          </a:xfrm>
          <a:prstGeom prst="rect">
            <a:avLst/>
          </a:prstGeom>
          <a:solidFill>
            <a:srgbClr val="EDF4FA"/>
          </a:solidFill>
          <a:ln/>
        </p:spPr>
      </p:sp>
      <p:sp>
        <p:nvSpPr>
          <p:cNvPr id="31" name="Text 29"/>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008376" y="2893000"/>
            <a:ext cx="1345914" cy="110266"/>
          </a:xfrm>
          <a:prstGeom prst="rect">
            <a:avLst/>
          </a:prstGeom>
          <a:solidFill>
            <a:srgbClr val="12A566"/>
          </a:solidFill>
          <a:ln/>
        </p:spPr>
      </p:sp>
      <p:sp>
        <p:nvSpPr>
          <p:cNvPr id="34" name="Shape 32"/>
          <p:cNvSpPr/>
          <p:nvPr/>
        </p:nvSpPr>
        <p:spPr>
          <a:xfrm>
            <a:off x="3973365" y="2859920"/>
            <a:ext cx="21946" cy="176425"/>
          </a:xfrm>
          <a:prstGeom prst="rect">
            <a:avLst/>
          </a:prstGeom>
          <a:solidFill>
            <a:srgbClr val="0B2C4A"/>
          </a:solidFill>
          <a:ln/>
        </p:spPr>
      </p:sp>
      <p:sp>
        <p:nvSpPr>
          <p:cNvPr id="35" name="Text 33"/>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36" name="Shape 34"/>
          <p:cNvSpPr/>
          <p:nvPr/>
        </p:nvSpPr>
        <p:spPr>
          <a:xfrm>
            <a:off x="603504" y="3058399"/>
            <a:ext cx="5358384" cy="220532"/>
          </a:xfrm>
          <a:prstGeom prst="rect">
            <a:avLst/>
          </a:prstGeom>
          <a:solidFill>
            <a:srgbClr val="EDF4FA"/>
          </a:solidFill>
          <a:ln/>
        </p:spPr>
      </p:sp>
      <p:sp>
        <p:nvSpPr>
          <p:cNvPr id="37" name="Text 35"/>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39" name="Shape 37"/>
          <p:cNvSpPr/>
          <p:nvPr/>
        </p:nvSpPr>
        <p:spPr>
          <a:xfrm>
            <a:off x="3008376" y="3113532"/>
            <a:ext cx="989488" cy="110266"/>
          </a:xfrm>
          <a:prstGeom prst="rect">
            <a:avLst/>
          </a:prstGeom>
          <a:solidFill>
            <a:srgbClr val="12A566"/>
          </a:solidFill>
          <a:ln/>
        </p:spPr>
      </p:sp>
      <p:sp>
        <p:nvSpPr>
          <p:cNvPr id="40" name="Shape 38"/>
          <p:cNvSpPr/>
          <p:nvPr/>
        </p:nvSpPr>
        <p:spPr>
          <a:xfrm>
            <a:off x="3973365" y="3080452"/>
            <a:ext cx="21946" cy="176425"/>
          </a:xfrm>
          <a:prstGeom prst="rect">
            <a:avLst/>
          </a:prstGeom>
          <a:solidFill>
            <a:srgbClr val="0B2C4A"/>
          </a:solidFill>
          <a:ln/>
        </p:spPr>
      </p:sp>
      <p:sp>
        <p:nvSpPr>
          <p:cNvPr id="41" name="Text 39"/>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42" name="Shape 40"/>
          <p:cNvSpPr/>
          <p:nvPr/>
        </p:nvSpPr>
        <p:spPr>
          <a:xfrm>
            <a:off x="603504" y="3278931"/>
            <a:ext cx="5358384" cy="220532"/>
          </a:xfrm>
          <a:prstGeom prst="rect">
            <a:avLst/>
          </a:prstGeom>
          <a:solidFill>
            <a:srgbClr val="EDF4FA"/>
          </a:solidFill>
          <a:ln/>
        </p:spPr>
      </p:sp>
      <p:sp>
        <p:nvSpPr>
          <p:cNvPr id="43" name="Text 41"/>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4" name="Text 42"/>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008376" y="3334064"/>
            <a:ext cx="920175" cy="110266"/>
          </a:xfrm>
          <a:prstGeom prst="rect">
            <a:avLst/>
          </a:prstGeom>
          <a:solidFill>
            <a:srgbClr val="C2352F"/>
          </a:solidFill>
          <a:ln/>
        </p:spPr>
      </p:sp>
      <p:sp>
        <p:nvSpPr>
          <p:cNvPr id="46" name="Shape 44"/>
          <p:cNvSpPr/>
          <p:nvPr/>
        </p:nvSpPr>
        <p:spPr>
          <a:xfrm>
            <a:off x="3973365" y="3300984"/>
            <a:ext cx="21946" cy="176425"/>
          </a:xfrm>
          <a:prstGeom prst="rect">
            <a:avLst/>
          </a:prstGeom>
          <a:solidFill>
            <a:srgbClr val="0B2C4A"/>
          </a:solidFill>
          <a:ln/>
        </p:spPr>
      </p:sp>
      <p:sp>
        <p:nvSpPr>
          <p:cNvPr id="47" name="Text 45"/>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48" name="Shape 46"/>
          <p:cNvSpPr/>
          <p:nvPr/>
        </p:nvSpPr>
        <p:spPr>
          <a:xfrm>
            <a:off x="603504" y="3499463"/>
            <a:ext cx="5358384" cy="220532"/>
          </a:xfrm>
          <a:prstGeom prst="rect">
            <a:avLst/>
          </a:prstGeom>
          <a:solidFill>
            <a:srgbClr val="EDF4FA"/>
          </a:solidFill>
          <a:ln/>
        </p:spPr>
      </p:sp>
      <p:sp>
        <p:nvSpPr>
          <p:cNvPr id="49" name="Text 47"/>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0" name="Text 48"/>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1" name="Shape 49"/>
          <p:cNvSpPr/>
          <p:nvPr/>
        </p:nvSpPr>
        <p:spPr>
          <a:xfrm>
            <a:off x="3008376" y="3554596"/>
            <a:ext cx="662639" cy="110266"/>
          </a:xfrm>
          <a:prstGeom prst="rect">
            <a:avLst/>
          </a:prstGeom>
          <a:solidFill>
            <a:srgbClr val="C2352F"/>
          </a:solidFill>
          <a:ln/>
        </p:spPr>
      </p:sp>
      <p:sp>
        <p:nvSpPr>
          <p:cNvPr id="52" name="Shape 50"/>
          <p:cNvSpPr/>
          <p:nvPr/>
        </p:nvSpPr>
        <p:spPr>
          <a:xfrm>
            <a:off x="3973365" y="3521516"/>
            <a:ext cx="21946" cy="176425"/>
          </a:xfrm>
          <a:prstGeom prst="rect">
            <a:avLst/>
          </a:prstGeom>
          <a:solidFill>
            <a:srgbClr val="0B2C4A"/>
          </a:solidFill>
          <a:ln/>
        </p:spPr>
      </p:sp>
      <p:sp>
        <p:nvSpPr>
          <p:cNvPr id="53" name="Text 51"/>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54" name="Shape 52"/>
          <p:cNvSpPr/>
          <p:nvPr/>
        </p:nvSpPr>
        <p:spPr>
          <a:xfrm>
            <a:off x="603504" y="3719994"/>
            <a:ext cx="5358384" cy="220532"/>
          </a:xfrm>
          <a:prstGeom prst="rect">
            <a:avLst/>
          </a:prstGeom>
          <a:solidFill>
            <a:srgbClr val="EDF4FA"/>
          </a:solidFill>
          <a:ln/>
        </p:spPr>
      </p:sp>
      <p:sp>
        <p:nvSpPr>
          <p:cNvPr id="55" name="Text 53"/>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6" name="Text 54"/>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3775127"/>
            <a:ext cx="638712" cy="110266"/>
          </a:xfrm>
          <a:prstGeom prst="rect">
            <a:avLst/>
          </a:prstGeom>
          <a:solidFill>
            <a:srgbClr val="C2352F"/>
          </a:solidFill>
          <a:ln/>
        </p:spPr>
      </p:sp>
      <p:sp>
        <p:nvSpPr>
          <p:cNvPr id="58" name="Shape 56"/>
          <p:cNvSpPr/>
          <p:nvPr/>
        </p:nvSpPr>
        <p:spPr>
          <a:xfrm>
            <a:off x="3973365" y="3742048"/>
            <a:ext cx="21946" cy="176425"/>
          </a:xfrm>
          <a:prstGeom prst="rect">
            <a:avLst/>
          </a:prstGeom>
          <a:solidFill>
            <a:srgbClr val="0B2C4A"/>
          </a:solidFill>
          <a:ln/>
        </p:spPr>
      </p:sp>
      <p:sp>
        <p:nvSpPr>
          <p:cNvPr id="59" name="Text 57"/>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60" name="Text 58"/>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3995659"/>
            <a:ext cx="605911" cy="110266"/>
          </a:xfrm>
          <a:prstGeom prst="rect">
            <a:avLst/>
          </a:prstGeom>
          <a:solidFill>
            <a:srgbClr val="12A566"/>
          </a:solidFill>
          <a:ln/>
        </p:spPr>
      </p:sp>
      <p:sp>
        <p:nvSpPr>
          <p:cNvPr id="63" name="Shape 61"/>
          <p:cNvSpPr/>
          <p:nvPr/>
        </p:nvSpPr>
        <p:spPr>
          <a:xfrm>
            <a:off x="3366736" y="3962579"/>
            <a:ext cx="21946" cy="176425"/>
          </a:xfrm>
          <a:prstGeom prst="rect">
            <a:avLst/>
          </a:prstGeom>
          <a:solidFill>
            <a:srgbClr val="0B2C4A"/>
          </a:solidFill>
          <a:ln/>
        </p:spPr>
      </p:sp>
      <p:sp>
        <p:nvSpPr>
          <p:cNvPr id="64" name="Text 62"/>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5" name="Text 63"/>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7" name="Shape 65"/>
          <p:cNvSpPr/>
          <p:nvPr/>
        </p:nvSpPr>
        <p:spPr>
          <a:xfrm>
            <a:off x="3008376" y="4216191"/>
            <a:ext cx="530367" cy="110266"/>
          </a:xfrm>
          <a:prstGeom prst="rect">
            <a:avLst/>
          </a:prstGeom>
          <a:solidFill>
            <a:srgbClr val="12A566"/>
          </a:solidFill>
          <a:ln/>
        </p:spPr>
      </p:sp>
      <p:sp>
        <p:nvSpPr>
          <p:cNvPr id="68" name="Shape 66"/>
          <p:cNvSpPr/>
          <p:nvPr/>
        </p:nvSpPr>
        <p:spPr>
          <a:xfrm>
            <a:off x="3366736" y="4183111"/>
            <a:ext cx="21946" cy="176425"/>
          </a:xfrm>
          <a:prstGeom prst="rect">
            <a:avLst/>
          </a:prstGeom>
          <a:solidFill>
            <a:srgbClr val="0B2C4A"/>
          </a:solidFill>
          <a:ln/>
        </p:spPr>
      </p:sp>
      <p:sp>
        <p:nvSpPr>
          <p:cNvPr id="69" name="Text 67"/>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70" name="Text 68"/>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1" name="Text 69"/>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2" name="Shape 70"/>
          <p:cNvSpPr/>
          <p:nvPr/>
        </p:nvSpPr>
        <p:spPr>
          <a:xfrm>
            <a:off x="3008376" y="4436723"/>
            <a:ext cx="513720" cy="110266"/>
          </a:xfrm>
          <a:prstGeom prst="rect">
            <a:avLst/>
          </a:prstGeom>
          <a:solidFill>
            <a:srgbClr val="12A566"/>
          </a:solidFill>
          <a:ln/>
        </p:spPr>
      </p:sp>
      <p:sp>
        <p:nvSpPr>
          <p:cNvPr id="73" name="Shape 71"/>
          <p:cNvSpPr/>
          <p:nvPr/>
        </p:nvSpPr>
        <p:spPr>
          <a:xfrm>
            <a:off x="3366736" y="4403643"/>
            <a:ext cx="21946" cy="176425"/>
          </a:xfrm>
          <a:prstGeom prst="rect">
            <a:avLst/>
          </a:prstGeom>
          <a:solidFill>
            <a:srgbClr val="0B2C4A"/>
          </a:solidFill>
          <a:ln/>
        </p:spPr>
      </p:sp>
      <p:sp>
        <p:nvSpPr>
          <p:cNvPr id="74" name="Text 72"/>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75" name="Text 73"/>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6" name="Text 74"/>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4657254"/>
            <a:ext cx="512202" cy="110266"/>
          </a:xfrm>
          <a:prstGeom prst="rect">
            <a:avLst/>
          </a:prstGeom>
          <a:solidFill>
            <a:srgbClr val="12A566"/>
          </a:solidFill>
          <a:ln/>
        </p:spPr>
      </p:sp>
      <p:sp>
        <p:nvSpPr>
          <p:cNvPr id="78" name="Shape 76"/>
          <p:cNvSpPr/>
          <p:nvPr/>
        </p:nvSpPr>
        <p:spPr>
          <a:xfrm>
            <a:off x="3366736" y="4624175"/>
            <a:ext cx="21946" cy="176425"/>
          </a:xfrm>
          <a:prstGeom prst="rect">
            <a:avLst/>
          </a:prstGeom>
          <a:solidFill>
            <a:srgbClr val="0B2C4A"/>
          </a:solidFill>
          <a:ln/>
        </p:spPr>
      </p:sp>
      <p:sp>
        <p:nvSpPr>
          <p:cNvPr id="79" name="Text 77"/>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0" name="Text 78"/>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1" name="Text 79"/>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2" name="Shape 80"/>
          <p:cNvSpPr/>
          <p:nvPr/>
        </p:nvSpPr>
        <p:spPr>
          <a:xfrm>
            <a:off x="3008376" y="4877786"/>
            <a:ext cx="512048" cy="110266"/>
          </a:xfrm>
          <a:prstGeom prst="rect">
            <a:avLst/>
          </a:prstGeom>
          <a:solidFill>
            <a:srgbClr val="12A566"/>
          </a:solidFill>
          <a:ln/>
        </p:spPr>
      </p:sp>
      <p:sp>
        <p:nvSpPr>
          <p:cNvPr id="83" name="Shape 81"/>
          <p:cNvSpPr/>
          <p:nvPr/>
        </p:nvSpPr>
        <p:spPr>
          <a:xfrm>
            <a:off x="3366736" y="4844706"/>
            <a:ext cx="21946" cy="176425"/>
          </a:xfrm>
          <a:prstGeom prst="rect">
            <a:avLst/>
          </a:prstGeom>
          <a:solidFill>
            <a:srgbClr val="0B2C4A"/>
          </a:solidFill>
          <a:ln/>
        </p:spPr>
      </p:sp>
      <p:sp>
        <p:nvSpPr>
          <p:cNvPr id="84" name="Text 82"/>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85" name="Text 83"/>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6" name="Text 84"/>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7" name="Shape 85"/>
          <p:cNvSpPr/>
          <p:nvPr/>
        </p:nvSpPr>
        <p:spPr>
          <a:xfrm>
            <a:off x="3008376" y="5098318"/>
            <a:ext cx="504718" cy="110266"/>
          </a:xfrm>
          <a:prstGeom prst="rect">
            <a:avLst/>
          </a:prstGeom>
          <a:solidFill>
            <a:srgbClr val="12A566"/>
          </a:solidFill>
          <a:ln/>
        </p:spPr>
      </p:sp>
      <p:sp>
        <p:nvSpPr>
          <p:cNvPr id="88" name="Shape 86"/>
          <p:cNvSpPr/>
          <p:nvPr/>
        </p:nvSpPr>
        <p:spPr>
          <a:xfrm>
            <a:off x="3366736" y="5065238"/>
            <a:ext cx="21946" cy="176425"/>
          </a:xfrm>
          <a:prstGeom prst="rect">
            <a:avLst/>
          </a:prstGeom>
          <a:solidFill>
            <a:srgbClr val="0B2C4A"/>
          </a:solidFill>
          <a:ln/>
        </p:spPr>
      </p:sp>
      <p:sp>
        <p:nvSpPr>
          <p:cNvPr id="89" name="Text 87"/>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90" name="Text 88"/>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2" name="Shape 90"/>
          <p:cNvSpPr/>
          <p:nvPr/>
        </p:nvSpPr>
        <p:spPr>
          <a:xfrm>
            <a:off x="3008376" y="5318850"/>
            <a:ext cx="490804" cy="110266"/>
          </a:xfrm>
          <a:prstGeom prst="rect">
            <a:avLst/>
          </a:prstGeom>
          <a:solidFill>
            <a:srgbClr val="12A566"/>
          </a:solidFill>
          <a:ln/>
        </p:spPr>
      </p:sp>
      <p:sp>
        <p:nvSpPr>
          <p:cNvPr id="93" name="Shape 91"/>
          <p:cNvSpPr/>
          <p:nvPr/>
        </p:nvSpPr>
        <p:spPr>
          <a:xfrm>
            <a:off x="3366736" y="5285770"/>
            <a:ext cx="21946" cy="176425"/>
          </a:xfrm>
          <a:prstGeom prst="rect">
            <a:avLst/>
          </a:prstGeom>
          <a:solidFill>
            <a:srgbClr val="0B2C4A"/>
          </a:solidFill>
          <a:ln/>
        </p:spPr>
      </p:sp>
      <p:sp>
        <p:nvSpPr>
          <p:cNvPr id="94" name="Text 92"/>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95" name="Text 93"/>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3008376" y="5539381"/>
            <a:ext cx="482409" cy="110266"/>
          </a:xfrm>
          <a:prstGeom prst="rect">
            <a:avLst/>
          </a:prstGeom>
          <a:solidFill>
            <a:srgbClr val="12A566"/>
          </a:solidFill>
          <a:ln/>
        </p:spPr>
      </p:sp>
      <p:sp>
        <p:nvSpPr>
          <p:cNvPr id="98" name="Shape 96"/>
          <p:cNvSpPr/>
          <p:nvPr/>
        </p:nvSpPr>
        <p:spPr>
          <a:xfrm>
            <a:off x="3366736" y="5506302"/>
            <a:ext cx="21946" cy="176425"/>
          </a:xfrm>
          <a:prstGeom prst="rect">
            <a:avLst/>
          </a:prstGeom>
          <a:solidFill>
            <a:srgbClr val="0B2C4A"/>
          </a:solidFill>
          <a:ln/>
        </p:spPr>
      </p:sp>
      <p:sp>
        <p:nvSpPr>
          <p:cNvPr id="99" name="Text 97"/>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100" name="Text 98"/>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2" name="Shape 100"/>
          <p:cNvSpPr/>
          <p:nvPr/>
        </p:nvSpPr>
        <p:spPr>
          <a:xfrm>
            <a:off x="3008376" y="5759913"/>
            <a:ext cx="473753" cy="110266"/>
          </a:xfrm>
          <a:prstGeom prst="rect">
            <a:avLst/>
          </a:prstGeom>
          <a:solidFill>
            <a:srgbClr val="12A566"/>
          </a:solidFill>
          <a:ln/>
        </p:spPr>
      </p:sp>
      <p:sp>
        <p:nvSpPr>
          <p:cNvPr id="103" name="Shape 101"/>
          <p:cNvSpPr/>
          <p:nvPr/>
        </p:nvSpPr>
        <p:spPr>
          <a:xfrm>
            <a:off x="3366736" y="5726833"/>
            <a:ext cx="21946" cy="176425"/>
          </a:xfrm>
          <a:prstGeom prst="rect">
            <a:avLst/>
          </a:prstGeom>
          <a:solidFill>
            <a:srgbClr val="0B2C4A"/>
          </a:solidFill>
          <a:ln/>
        </p:spPr>
      </p:sp>
      <p:sp>
        <p:nvSpPr>
          <p:cNvPr id="104" name="Text 102"/>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105" name="Shape 103"/>
          <p:cNvSpPr/>
          <p:nvPr/>
        </p:nvSpPr>
        <p:spPr>
          <a:xfrm>
            <a:off x="6153912" y="2176272"/>
            <a:ext cx="5358384" cy="220532"/>
          </a:xfrm>
          <a:prstGeom prst="rect">
            <a:avLst/>
          </a:prstGeom>
          <a:solidFill>
            <a:srgbClr val="EDF4FA"/>
          </a:solidFill>
          <a:ln/>
        </p:spPr>
      </p:sp>
      <p:sp>
        <p:nvSpPr>
          <p:cNvPr id="106" name="Text 104"/>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7" name="Text 105"/>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8" name="Shape 106"/>
          <p:cNvSpPr/>
          <p:nvPr/>
        </p:nvSpPr>
        <p:spPr>
          <a:xfrm>
            <a:off x="8558784" y="2231405"/>
            <a:ext cx="438765" cy="110266"/>
          </a:xfrm>
          <a:prstGeom prst="rect">
            <a:avLst/>
          </a:prstGeom>
          <a:solidFill>
            <a:srgbClr val="C2352F"/>
          </a:solidFill>
          <a:ln/>
        </p:spPr>
      </p:sp>
      <p:sp>
        <p:nvSpPr>
          <p:cNvPr id="109" name="Shape 107"/>
          <p:cNvSpPr/>
          <p:nvPr/>
        </p:nvSpPr>
        <p:spPr>
          <a:xfrm>
            <a:off x="9523773" y="2198325"/>
            <a:ext cx="21946" cy="176425"/>
          </a:xfrm>
          <a:prstGeom prst="rect">
            <a:avLst/>
          </a:prstGeom>
          <a:solidFill>
            <a:srgbClr val="0B2C4A"/>
          </a:solidFill>
          <a:ln/>
        </p:spPr>
      </p:sp>
      <p:sp>
        <p:nvSpPr>
          <p:cNvPr id="110" name="Text 108"/>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111" name="Text 109"/>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2" name="Text 110"/>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2451937"/>
            <a:ext cx="429723" cy="110266"/>
          </a:xfrm>
          <a:prstGeom prst="rect">
            <a:avLst/>
          </a:prstGeom>
          <a:solidFill>
            <a:srgbClr val="12A566"/>
          </a:solidFill>
          <a:ln/>
        </p:spPr>
      </p:sp>
      <p:sp>
        <p:nvSpPr>
          <p:cNvPr id="114" name="Shape 112"/>
          <p:cNvSpPr/>
          <p:nvPr/>
        </p:nvSpPr>
        <p:spPr>
          <a:xfrm>
            <a:off x="8917144" y="2418857"/>
            <a:ext cx="21946" cy="176425"/>
          </a:xfrm>
          <a:prstGeom prst="rect">
            <a:avLst/>
          </a:prstGeom>
          <a:solidFill>
            <a:srgbClr val="0B2C4A"/>
          </a:solidFill>
          <a:ln/>
        </p:spPr>
      </p:sp>
      <p:sp>
        <p:nvSpPr>
          <p:cNvPr id="115" name="Text 113"/>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116" name="Text 114"/>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7" name="Text 115"/>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8" name="Shape 116"/>
          <p:cNvSpPr/>
          <p:nvPr/>
        </p:nvSpPr>
        <p:spPr>
          <a:xfrm>
            <a:off x="8558784" y="2672468"/>
            <a:ext cx="399397" cy="110266"/>
          </a:xfrm>
          <a:prstGeom prst="rect">
            <a:avLst/>
          </a:prstGeom>
          <a:solidFill>
            <a:srgbClr val="12A566"/>
          </a:solidFill>
          <a:ln/>
        </p:spPr>
      </p:sp>
      <p:sp>
        <p:nvSpPr>
          <p:cNvPr id="119" name="Shape 117"/>
          <p:cNvSpPr/>
          <p:nvPr/>
        </p:nvSpPr>
        <p:spPr>
          <a:xfrm>
            <a:off x="8917144" y="2639389"/>
            <a:ext cx="21946" cy="176425"/>
          </a:xfrm>
          <a:prstGeom prst="rect">
            <a:avLst/>
          </a:prstGeom>
          <a:solidFill>
            <a:srgbClr val="0B2C4A"/>
          </a:solidFill>
          <a:ln/>
        </p:spPr>
      </p:sp>
      <p:sp>
        <p:nvSpPr>
          <p:cNvPr id="120" name="Text 118"/>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121" name="Text 119"/>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2" name="Text 120"/>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3" name="Shape 121"/>
          <p:cNvSpPr/>
          <p:nvPr/>
        </p:nvSpPr>
        <p:spPr>
          <a:xfrm>
            <a:off x="8558784" y="2893000"/>
            <a:ext cx="395536" cy="110266"/>
          </a:xfrm>
          <a:prstGeom prst="rect">
            <a:avLst/>
          </a:prstGeom>
          <a:solidFill>
            <a:srgbClr val="12A566"/>
          </a:solidFill>
          <a:ln/>
        </p:spPr>
      </p:sp>
      <p:sp>
        <p:nvSpPr>
          <p:cNvPr id="124" name="Shape 122"/>
          <p:cNvSpPr/>
          <p:nvPr/>
        </p:nvSpPr>
        <p:spPr>
          <a:xfrm>
            <a:off x="8917144" y="2859920"/>
            <a:ext cx="21946" cy="176425"/>
          </a:xfrm>
          <a:prstGeom prst="rect">
            <a:avLst/>
          </a:prstGeom>
          <a:solidFill>
            <a:srgbClr val="0B2C4A"/>
          </a:solidFill>
          <a:ln/>
        </p:spPr>
      </p:sp>
      <p:sp>
        <p:nvSpPr>
          <p:cNvPr id="125" name="Text 123"/>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26" name="Text 124"/>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7" name="Text 125"/>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8" name="Shape 126"/>
          <p:cNvSpPr/>
          <p:nvPr/>
        </p:nvSpPr>
        <p:spPr>
          <a:xfrm>
            <a:off x="8558784" y="3113532"/>
            <a:ext cx="389519" cy="110266"/>
          </a:xfrm>
          <a:prstGeom prst="rect">
            <a:avLst/>
          </a:prstGeom>
          <a:solidFill>
            <a:srgbClr val="12A566"/>
          </a:solidFill>
          <a:ln/>
        </p:spPr>
      </p:sp>
      <p:sp>
        <p:nvSpPr>
          <p:cNvPr id="129" name="Shape 127"/>
          <p:cNvSpPr/>
          <p:nvPr/>
        </p:nvSpPr>
        <p:spPr>
          <a:xfrm>
            <a:off x="8917144" y="3080452"/>
            <a:ext cx="21946" cy="176425"/>
          </a:xfrm>
          <a:prstGeom prst="rect">
            <a:avLst/>
          </a:prstGeom>
          <a:solidFill>
            <a:srgbClr val="0B2C4A"/>
          </a:solidFill>
          <a:ln/>
        </p:spPr>
      </p:sp>
      <p:sp>
        <p:nvSpPr>
          <p:cNvPr id="130" name="Text 128"/>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1" name="Text 129"/>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3334064"/>
            <a:ext cx="388427" cy="110266"/>
          </a:xfrm>
          <a:prstGeom prst="rect">
            <a:avLst/>
          </a:prstGeom>
          <a:solidFill>
            <a:srgbClr val="12A566"/>
          </a:solidFill>
          <a:ln/>
        </p:spPr>
      </p:sp>
      <p:sp>
        <p:nvSpPr>
          <p:cNvPr id="134" name="Shape 132"/>
          <p:cNvSpPr/>
          <p:nvPr/>
        </p:nvSpPr>
        <p:spPr>
          <a:xfrm>
            <a:off x="8917144" y="3300984"/>
            <a:ext cx="21946" cy="176425"/>
          </a:xfrm>
          <a:prstGeom prst="rect">
            <a:avLst/>
          </a:prstGeom>
          <a:solidFill>
            <a:srgbClr val="0B2C4A"/>
          </a:solidFill>
          <a:ln/>
        </p:spPr>
      </p:sp>
      <p:sp>
        <p:nvSpPr>
          <p:cNvPr id="135" name="Text 133"/>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36" name="Text 134"/>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8" name="Shape 136"/>
          <p:cNvSpPr/>
          <p:nvPr/>
        </p:nvSpPr>
        <p:spPr>
          <a:xfrm>
            <a:off x="8558784" y="3554596"/>
            <a:ext cx="387519" cy="110266"/>
          </a:xfrm>
          <a:prstGeom prst="rect">
            <a:avLst/>
          </a:prstGeom>
          <a:solidFill>
            <a:srgbClr val="12A566"/>
          </a:solidFill>
          <a:ln/>
        </p:spPr>
      </p:sp>
      <p:sp>
        <p:nvSpPr>
          <p:cNvPr id="139" name="Shape 137"/>
          <p:cNvSpPr/>
          <p:nvPr/>
        </p:nvSpPr>
        <p:spPr>
          <a:xfrm>
            <a:off x="8917144" y="3521516"/>
            <a:ext cx="21946" cy="176425"/>
          </a:xfrm>
          <a:prstGeom prst="rect">
            <a:avLst/>
          </a:prstGeom>
          <a:solidFill>
            <a:srgbClr val="0B2C4A"/>
          </a:solidFill>
          <a:ln/>
        </p:spPr>
      </p:sp>
      <p:sp>
        <p:nvSpPr>
          <p:cNvPr id="140" name="Text 138"/>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41" name="Text 139"/>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3" name="Shape 141"/>
          <p:cNvSpPr/>
          <p:nvPr/>
        </p:nvSpPr>
        <p:spPr>
          <a:xfrm>
            <a:off x="8558784" y="3775127"/>
            <a:ext cx="379922" cy="110266"/>
          </a:xfrm>
          <a:prstGeom prst="rect">
            <a:avLst/>
          </a:prstGeom>
          <a:solidFill>
            <a:srgbClr val="12A566"/>
          </a:solidFill>
          <a:ln/>
        </p:spPr>
      </p:sp>
      <p:sp>
        <p:nvSpPr>
          <p:cNvPr id="144" name="Shape 142"/>
          <p:cNvSpPr/>
          <p:nvPr/>
        </p:nvSpPr>
        <p:spPr>
          <a:xfrm>
            <a:off x="8917144" y="3742048"/>
            <a:ext cx="21946" cy="176425"/>
          </a:xfrm>
          <a:prstGeom prst="rect">
            <a:avLst/>
          </a:prstGeom>
          <a:solidFill>
            <a:srgbClr val="0B2C4A"/>
          </a:solidFill>
          <a:ln/>
        </p:spPr>
      </p:sp>
      <p:sp>
        <p:nvSpPr>
          <p:cNvPr id="145" name="Text 143"/>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46" name="Text 144"/>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8558784" y="3995659"/>
            <a:ext cx="358076" cy="110266"/>
          </a:xfrm>
          <a:prstGeom prst="rect">
            <a:avLst/>
          </a:prstGeom>
          <a:solidFill>
            <a:srgbClr val="C2352F"/>
          </a:solidFill>
          <a:ln/>
        </p:spPr>
      </p:sp>
      <p:sp>
        <p:nvSpPr>
          <p:cNvPr id="149" name="Shape 147"/>
          <p:cNvSpPr/>
          <p:nvPr/>
        </p:nvSpPr>
        <p:spPr>
          <a:xfrm>
            <a:off x="8917144" y="3962579"/>
            <a:ext cx="21946" cy="176425"/>
          </a:xfrm>
          <a:prstGeom prst="rect">
            <a:avLst/>
          </a:prstGeom>
          <a:solidFill>
            <a:srgbClr val="0B2C4A"/>
          </a:solidFill>
          <a:ln/>
        </p:spPr>
      </p:sp>
      <p:sp>
        <p:nvSpPr>
          <p:cNvPr id="150" name="Text 148"/>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51" name="Text 149"/>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3" name="Shape 151"/>
          <p:cNvSpPr/>
          <p:nvPr/>
        </p:nvSpPr>
        <p:spPr>
          <a:xfrm>
            <a:off x="8558784" y="4216191"/>
            <a:ext cx="352758" cy="110266"/>
          </a:xfrm>
          <a:prstGeom prst="rect">
            <a:avLst/>
          </a:prstGeom>
          <a:solidFill>
            <a:srgbClr val="C2352F"/>
          </a:solidFill>
          <a:ln/>
        </p:spPr>
      </p:sp>
      <p:sp>
        <p:nvSpPr>
          <p:cNvPr id="154" name="Shape 152"/>
          <p:cNvSpPr/>
          <p:nvPr/>
        </p:nvSpPr>
        <p:spPr>
          <a:xfrm>
            <a:off x="8917144" y="4183111"/>
            <a:ext cx="21946" cy="176425"/>
          </a:xfrm>
          <a:prstGeom prst="rect">
            <a:avLst/>
          </a:prstGeom>
          <a:solidFill>
            <a:srgbClr val="0B2C4A"/>
          </a:solidFill>
          <a:ln/>
        </p:spPr>
      </p:sp>
      <p:sp>
        <p:nvSpPr>
          <p:cNvPr id="155" name="Text 153"/>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56" name="Text 154"/>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7" name="Text 155"/>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8" name="Shape 156"/>
          <p:cNvSpPr/>
          <p:nvPr/>
        </p:nvSpPr>
        <p:spPr>
          <a:xfrm>
            <a:off x="8558784" y="4436723"/>
            <a:ext cx="334216" cy="110266"/>
          </a:xfrm>
          <a:prstGeom prst="rect">
            <a:avLst/>
          </a:prstGeom>
          <a:solidFill>
            <a:srgbClr val="C2352F"/>
          </a:solidFill>
          <a:ln/>
        </p:spPr>
      </p:sp>
      <p:sp>
        <p:nvSpPr>
          <p:cNvPr id="159" name="Shape 157"/>
          <p:cNvSpPr/>
          <p:nvPr/>
        </p:nvSpPr>
        <p:spPr>
          <a:xfrm>
            <a:off x="8917144" y="4403643"/>
            <a:ext cx="21946" cy="176425"/>
          </a:xfrm>
          <a:prstGeom prst="rect">
            <a:avLst/>
          </a:prstGeom>
          <a:solidFill>
            <a:srgbClr val="0B2C4A"/>
          </a:solidFill>
          <a:ln/>
        </p:spPr>
      </p:sp>
      <p:sp>
        <p:nvSpPr>
          <p:cNvPr id="160" name="Text 158"/>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61" name="Text 159"/>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2" name="Text 160"/>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63" name="Shape 161"/>
          <p:cNvSpPr/>
          <p:nvPr/>
        </p:nvSpPr>
        <p:spPr>
          <a:xfrm>
            <a:off x="8558784" y="4657254"/>
            <a:ext cx="330484" cy="110266"/>
          </a:xfrm>
          <a:prstGeom prst="rect">
            <a:avLst/>
          </a:prstGeom>
          <a:solidFill>
            <a:srgbClr val="C2352F"/>
          </a:solidFill>
          <a:ln/>
        </p:spPr>
      </p:sp>
      <p:sp>
        <p:nvSpPr>
          <p:cNvPr id="164" name="Shape 162"/>
          <p:cNvSpPr/>
          <p:nvPr/>
        </p:nvSpPr>
        <p:spPr>
          <a:xfrm>
            <a:off x="8917144" y="4624175"/>
            <a:ext cx="21946" cy="176425"/>
          </a:xfrm>
          <a:prstGeom prst="rect">
            <a:avLst/>
          </a:prstGeom>
          <a:solidFill>
            <a:srgbClr val="0B2C4A"/>
          </a:solidFill>
          <a:ln/>
        </p:spPr>
      </p:sp>
      <p:sp>
        <p:nvSpPr>
          <p:cNvPr id="165" name="Text 163"/>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66" name="Text 164"/>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7" name="Text 165"/>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68" name="Shape 166"/>
          <p:cNvSpPr/>
          <p:nvPr/>
        </p:nvSpPr>
        <p:spPr>
          <a:xfrm>
            <a:off x="8558784" y="4877786"/>
            <a:ext cx="310845" cy="110266"/>
          </a:xfrm>
          <a:prstGeom prst="rect">
            <a:avLst/>
          </a:prstGeom>
          <a:solidFill>
            <a:srgbClr val="C2352F"/>
          </a:solidFill>
          <a:ln/>
        </p:spPr>
      </p:sp>
      <p:sp>
        <p:nvSpPr>
          <p:cNvPr id="169" name="Shape 167"/>
          <p:cNvSpPr/>
          <p:nvPr/>
        </p:nvSpPr>
        <p:spPr>
          <a:xfrm>
            <a:off x="8917144" y="4844706"/>
            <a:ext cx="21946" cy="176425"/>
          </a:xfrm>
          <a:prstGeom prst="rect">
            <a:avLst/>
          </a:prstGeom>
          <a:solidFill>
            <a:srgbClr val="0B2C4A"/>
          </a:solidFill>
          <a:ln/>
        </p:spPr>
      </p:sp>
      <p:sp>
        <p:nvSpPr>
          <p:cNvPr id="170" name="Text 168"/>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71" name="Text 169"/>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2" name="Text 170"/>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3" name="Shape 171"/>
          <p:cNvSpPr/>
          <p:nvPr/>
        </p:nvSpPr>
        <p:spPr>
          <a:xfrm>
            <a:off x="8558784" y="5098318"/>
            <a:ext cx="280562" cy="110266"/>
          </a:xfrm>
          <a:prstGeom prst="rect">
            <a:avLst/>
          </a:prstGeom>
          <a:solidFill>
            <a:srgbClr val="C2352F"/>
          </a:solidFill>
          <a:ln/>
        </p:spPr>
      </p:sp>
      <p:sp>
        <p:nvSpPr>
          <p:cNvPr id="174" name="Shape 172"/>
          <p:cNvSpPr/>
          <p:nvPr/>
        </p:nvSpPr>
        <p:spPr>
          <a:xfrm>
            <a:off x="8917144" y="5065238"/>
            <a:ext cx="21946" cy="176425"/>
          </a:xfrm>
          <a:prstGeom prst="rect">
            <a:avLst/>
          </a:prstGeom>
          <a:solidFill>
            <a:srgbClr val="0B2C4A"/>
          </a:solidFill>
          <a:ln/>
        </p:spPr>
      </p:sp>
      <p:sp>
        <p:nvSpPr>
          <p:cNvPr id="175" name="Text 173"/>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6" name="Text 174"/>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7" name="Text 175"/>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8" name="Shape 176"/>
          <p:cNvSpPr/>
          <p:nvPr/>
        </p:nvSpPr>
        <p:spPr>
          <a:xfrm>
            <a:off x="8558784" y="5318850"/>
            <a:ext cx="279550" cy="110266"/>
          </a:xfrm>
          <a:prstGeom prst="rect">
            <a:avLst/>
          </a:prstGeom>
          <a:solidFill>
            <a:srgbClr val="C2352F"/>
          </a:solidFill>
          <a:ln/>
        </p:spPr>
      </p:sp>
      <p:sp>
        <p:nvSpPr>
          <p:cNvPr id="179" name="Shape 177"/>
          <p:cNvSpPr/>
          <p:nvPr/>
        </p:nvSpPr>
        <p:spPr>
          <a:xfrm>
            <a:off x="8917144" y="5285770"/>
            <a:ext cx="21946" cy="176425"/>
          </a:xfrm>
          <a:prstGeom prst="rect">
            <a:avLst/>
          </a:prstGeom>
          <a:solidFill>
            <a:srgbClr val="0B2C4A"/>
          </a:solidFill>
          <a:ln/>
        </p:spPr>
      </p:sp>
      <p:sp>
        <p:nvSpPr>
          <p:cNvPr id="180" name="Text 178"/>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3" name="Shape 181"/>
          <p:cNvSpPr/>
          <p:nvPr/>
        </p:nvSpPr>
        <p:spPr>
          <a:xfrm>
            <a:off x="8558784" y="5539381"/>
            <a:ext cx="271900" cy="110266"/>
          </a:xfrm>
          <a:prstGeom prst="rect">
            <a:avLst/>
          </a:prstGeom>
          <a:solidFill>
            <a:srgbClr val="C2352F"/>
          </a:solidFill>
          <a:ln/>
        </p:spPr>
      </p:sp>
      <p:sp>
        <p:nvSpPr>
          <p:cNvPr id="184" name="Shape 182"/>
          <p:cNvSpPr/>
          <p:nvPr/>
        </p:nvSpPr>
        <p:spPr>
          <a:xfrm>
            <a:off x="8917144"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$534 and 16 of 24 others beat $202. CDJR Post Falls leads non-luxury at $332.</a:t>
            </a:r>
            <a:endParaRPr lang="en-US" sz="16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66505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391651"/>
            <a:ext cx="38947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34394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871442"/>
            <a:ext cx="31041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111337"/>
            <a:ext cx="30872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351233"/>
            <a:ext cx="27372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23756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2289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4091"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310815"/>
            <a:ext cx="20509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20425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4790606"/>
            <a:ext cx="16960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5467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270397"/>
            <a:ext cx="11795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510293"/>
            <a:ext cx="11559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01631"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9899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51755"/>
            <a:ext cx="93828"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905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631546"/>
            <a:ext cx="74734"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6812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25513"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351233"/>
            <a:ext cx="21241"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070920"/>
            <a:ext cx="1745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310815"/>
            <a:ext cx="5565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550711"/>
            <a:ext cx="6538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4790606"/>
            <a:ext cx="8324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030502"/>
            <a:ext cx="28032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270397"/>
            <a:ext cx="442759"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510293"/>
            <a:ext cx="50931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1376"/>
          </a:xfrm>
          <a:prstGeom prst="rect">
            <a:avLst/>
          </a:prstGeom>
          <a:solidFill>
            <a:srgbClr val="E6F6EE"/>
          </a:solidFill>
          <a:ln/>
        </p:spPr>
      </p:sp>
      <p:sp>
        <p:nvSpPr>
          <p:cNvPr id="147" name="Text 14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24 of 33 stores grew CP parts per RO, led by LR Henderson at +$95 to $926. 9 declined; LR Reno fell most at −$62.</a:t>
            </a:r>
            <a:endParaRPr lang="en-US" sz="140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Goldilocks Margin</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Gross profit % is the share of labor you keep after paying the tech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Not too high, not too low: 78% to 80%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Skill code costing: a hybrid of traditional and percentage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Right tech, right job</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80.8%</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gross profit, down 0.1 pts. Just above the 78-80% target.</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40.7%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parts gross profit, up 1.2 pts and ahead in all nine months.</a:t>
            </a:r>
            <a:endParaRPr lang="en-US" sz="1400" dirty="0"/>
          </a:p>
        </p:txBody>
      </p:sp>
      <p:sp>
        <p:nvSpPr>
          <p:cNvPr id="16" name="Shape 14"/>
          <p:cNvSpPr/>
          <p:nvPr/>
        </p:nvSpPr>
        <p:spPr>
          <a:xfrm>
            <a:off x="457200" y="6126480"/>
            <a:ext cx="11274552" cy="356616"/>
          </a:xfrm>
          <a:prstGeom prst="rect">
            <a:avLst/>
          </a:prstGeom>
          <a:solidFill>
            <a:srgbClr val="EDF4FA"/>
          </a:solidFill>
          <a:ln/>
        </p:spPr>
      </p:sp>
      <p:sp>
        <p:nvSpPr>
          <p:cNvPr id="17" name="Text 1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ask: hold labor margin in the 78-80% band by matching the tech to the job, not by squeezing tech pay.</a:t>
            </a:r>
            <a:endParaRPr lang="en-US" sz="15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 The Roundtable target is 78% to 80%.</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Roundtable example</a:t>
            </a:r>
            <a:endParaRPr lang="en-US" sz="1400" dirty="0"/>
          </a:p>
        </p:txBody>
      </p:sp>
      <p:sp>
        <p:nvSpPr>
          <p:cNvPr id="9" name="Shape 7"/>
          <p:cNvSpPr/>
          <p:nvPr/>
        </p:nvSpPr>
        <p:spPr>
          <a:xfrm>
            <a:off x="2286000" y="2340864"/>
            <a:ext cx="1801368"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rotation  </a:t>
            </a:r>
            <a:pPr algn="ctr" indent="0" marL="0">
              <a:buNone/>
            </a:pPr>
            <a:r>
              <a:rPr lang="en-US" sz="1400" b="1" dirty="0">
                <a:solidFill>
                  <a:srgbClr val="0B2C4A"/>
                </a:solidFill>
                <a:latin typeface="Inter" pitchFamily="34" charset="0"/>
                <a:ea typeface="Inter" pitchFamily="34" charset="-122"/>
                <a:cs typeface="Inter" pitchFamily="34" charset="-120"/>
              </a:rPr>
              <a:t>62.4%</a:t>
            </a:r>
            <a:endParaRPr lang="en-US" sz="1400" dirty="0"/>
          </a:p>
        </p:txBody>
      </p:sp>
      <p:sp>
        <p:nvSpPr>
          <p:cNvPr id="11" name="Shape 9"/>
          <p:cNvSpPr/>
          <p:nvPr/>
        </p:nvSpPr>
        <p:spPr>
          <a:xfrm>
            <a:off x="4197096" y="2340864"/>
            <a:ext cx="1801368" cy="457200"/>
          </a:xfrm>
          <a:prstGeom prst="rect">
            <a:avLst/>
          </a:prstGeom>
          <a:solidFill>
            <a:srgbClr val="FFFFFF"/>
          </a:solidFill>
          <a:ln w="9525">
            <a:solidFill>
              <a:srgbClr val="D9D9D9"/>
            </a:solidFill>
            <a:prstDash val="solid"/>
          </a:ln>
        </p:spPr>
      </p:sp>
      <p:sp>
        <p:nvSpPr>
          <p:cNvPr id="12" name="Text 10"/>
          <p:cNvSpPr txBox="1"/>
          <p:nvPr/>
        </p:nvSpPr>
        <p:spPr>
          <a:xfrm>
            <a:off x="4270248"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Oil change  </a:t>
            </a:r>
            <a:pPr algn="ctr" indent="0" marL="0">
              <a:buNone/>
            </a:pPr>
            <a:r>
              <a:rPr lang="en-US" sz="1400" b="1" dirty="0">
                <a:solidFill>
                  <a:srgbClr val="0B2C4A"/>
                </a:solidFill>
                <a:latin typeface="Inter" pitchFamily="34" charset="0"/>
                <a:ea typeface="Inter" pitchFamily="34" charset="-122"/>
                <a:cs typeface="Inter" pitchFamily="34" charset="-120"/>
              </a:rPr>
              <a:t>68.8%</a:t>
            </a:r>
            <a:endParaRPr lang="en-US" sz="1400" dirty="0"/>
          </a:p>
        </p:txBody>
      </p:sp>
      <p:sp>
        <p:nvSpPr>
          <p:cNvPr id="13" name="Shape 11"/>
          <p:cNvSpPr/>
          <p:nvPr/>
        </p:nvSpPr>
        <p:spPr>
          <a:xfrm>
            <a:off x="6108192" y="2340864"/>
            <a:ext cx="1801368" cy="457200"/>
          </a:xfrm>
          <a:prstGeom prst="rect">
            <a:avLst/>
          </a:prstGeom>
          <a:solidFill>
            <a:srgbClr val="FFFFFF"/>
          </a:solidFill>
          <a:ln w="9525">
            <a:solidFill>
              <a:srgbClr val="D9D9D9"/>
            </a:solidFill>
            <a:prstDash val="solid"/>
          </a:ln>
        </p:spPr>
      </p:sp>
      <p:sp>
        <p:nvSpPr>
          <p:cNvPr id="14" name="Text 12"/>
          <p:cNvSpPr txBox="1"/>
          <p:nvPr/>
        </p:nvSpPr>
        <p:spPr>
          <a:xfrm>
            <a:off x="6181344"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78.7%</a:t>
            </a:r>
            <a:endParaRPr lang="en-US" sz="1400" dirty="0"/>
          </a:p>
        </p:txBody>
      </p:sp>
      <p:sp>
        <p:nvSpPr>
          <p:cNvPr id="15" name="Shape 13"/>
          <p:cNvSpPr/>
          <p:nvPr/>
        </p:nvSpPr>
        <p:spPr>
          <a:xfrm>
            <a:off x="8019288" y="2340864"/>
            <a:ext cx="1801368" cy="457200"/>
          </a:xfrm>
          <a:prstGeom prst="rect">
            <a:avLst/>
          </a:prstGeom>
          <a:solidFill>
            <a:srgbClr val="FFFFFF"/>
          </a:solidFill>
          <a:ln w="9525">
            <a:solidFill>
              <a:srgbClr val="D9D9D9"/>
            </a:solidFill>
            <a:prstDash val="solid"/>
          </a:ln>
        </p:spPr>
      </p:sp>
      <p:sp>
        <p:nvSpPr>
          <p:cNvPr id="16" name="Text 14"/>
          <p:cNvSpPr txBox="1"/>
          <p:nvPr/>
        </p:nvSpPr>
        <p:spPr>
          <a:xfrm>
            <a:off x="8092440"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Steering rack  </a:t>
            </a:r>
            <a:pPr algn="ctr" indent="0" marL="0">
              <a:buNone/>
            </a:pPr>
            <a:r>
              <a:rPr lang="en-US" sz="1400" b="1" dirty="0">
                <a:solidFill>
                  <a:srgbClr val="0B2C4A"/>
                </a:solidFill>
                <a:latin typeface="Inter" pitchFamily="34" charset="0"/>
                <a:ea typeface="Inter" pitchFamily="34" charset="-122"/>
                <a:cs typeface="Inter" pitchFamily="34" charset="-120"/>
              </a:rPr>
              <a:t>84.4%</a:t>
            </a:r>
            <a:endParaRPr lang="en-US" sz="1400" dirty="0"/>
          </a:p>
        </p:txBody>
      </p:sp>
      <p:sp>
        <p:nvSpPr>
          <p:cNvPr id="17" name="Shape 15"/>
          <p:cNvSpPr/>
          <p:nvPr/>
        </p:nvSpPr>
        <p:spPr>
          <a:xfrm>
            <a:off x="9930384" y="2340864"/>
            <a:ext cx="1801368" cy="457200"/>
          </a:xfrm>
          <a:prstGeom prst="rect">
            <a:avLst/>
          </a:prstGeom>
          <a:solidFill>
            <a:srgbClr val="FFFFFF"/>
          </a:solidFill>
          <a:ln w="9525">
            <a:solidFill>
              <a:srgbClr val="D9D9D9"/>
            </a:solidFill>
            <a:prstDash val="solid"/>
          </a:ln>
        </p:spPr>
      </p:sp>
      <p:sp>
        <p:nvSpPr>
          <p:cNvPr id="18" name="Text 16"/>
          <p:cNvSpPr txBox="1"/>
          <p:nvPr/>
        </p:nvSpPr>
        <p:spPr>
          <a:xfrm>
            <a:off x="10003536" y="2340864"/>
            <a:ext cx="1655064"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All 7 jobs  </a:t>
            </a:r>
            <a:pPr algn="ctr" indent="0" marL="0">
              <a:buNone/>
            </a:pPr>
            <a:r>
              <a:rPr lang="en-US" sz="1400" b="1" dirty="0">
                <a:solidFill>
                  <a:srgbClr val="0B2C4A"/>
                </a:solidFill>
                <a:latin typeface="Inter" pitchFamily="34" charset="0"/>
                <a:ea typeface="Inter" pitchFamily="34" charset="-122"/>
                <a:cs typeface="Inter" pitchFamily="34" charset="-120"/>
              </a:rPr>
              <a:t>80.8%</a:t>
            </a:r>
            <a:endParaRPr lang="en-US" sz="1400" dirty="0"/>
          </a:p>
        </p:txBody>
      </p:sp>
      <p:sp>
        <p:nvSpPr>
          <p:cNvPr id="19" name="Shape 17"/>
          <p:cNvSpPr/>
          <p:nvPr/>
        </p:nvSpPr>
        <p:spPr>
          <a:xfrm>
            <a:off x="457200" y="2907792"/>
            <a:ext cx="4343400" cy="3081528"/>
          </a:xfrm>
          <a:prstGeom prst="rect">
            <a:avLst/>
          </a:prstGeom>
          <a:solidFill>
            <a:srgbClr val="FFFFFF"/>
          </a:solidFill>
          <a:ln/>
        </p:spPr>
      </p:sp>
      <p:sp>
        <p:nvSpPr>
          <p:cNvPr id="20" name="Shape 18"/>
          <p:cNvSpPr/>
          <p:nvPr/>
        </p:nvSpPr>
        <p:spPr>
          <a:xfrm>
            <a:off x="4937760" y="2907792"/>
            <a:ext cx="6793992" cy="3081528"/>
          </a:xfrm>
          <a:prstGeom prst="rect">
            <a:avLst/>
          </a:prstGeom>
          <a:solidFill>
            <a:srgbClr val="FFFFFF"/>
          </a:solidFill>
          <a:ln/>
        </p:spPr>
      </p:sp>
      <p:sp>
        <p:nvSpPr>
          <p:cNvPr id="21" name="Text 19"/>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2" name="Text 20"/>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3" name="Text 21"/>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Goldilocks: not too high, not too 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tech cost is out of line with what the job sells for.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4" name="Shape 22"/>
          <p:cNvSpPr/>
          <p:nvPr/>
        </p:nvSpPr>
        <p:spPr>
          <a:xfrm>
            <a:off x="5138928" y="3410712"/>
            <a:ext cx="45720" cy="1133856"/>
          </a:xfrm>
          <a:prstGeom prst="rect">
            <a:avLst/>
          </a:prstGeom>
          <a:solidFill>
            <a:srgbClr val="2587C5"/>
          </a:solidFill>
          <a:ln/>
        </p:spPr>
      </p:sp>
      <p:sp>
        <p:nvSpPr>
          <p:cNvPr id="25" name="Text 23"/>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6" name="Shape 24"/>
          <p:cNvSpPr/>
          <p:nvPr/>
        </p:nvSpPr>
        <p:spPr>
          <a:xfrm>
            <a:off x="7309104" y="3410712"/>
            <a:ext cx="45720" cy="1133856"/>
          </a:xfrm>
          <a:prstGeom prst="rect">
            <a:avLst/>
          </a:prstGeom>
          <a:solidFill>
            <a:srgbClr val="2587C5"/>
          </a:solidFill>
          <a:ln/>
        </p:spPr>
      </p:sp>
      <p:sp>
        <p:nvSpPr>
          <p:cNvPr id="27" name="Text 25"/>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8" name="Shape 26"/>
          <p:cNvSpPr/>
          <p:nvPr/>
        </p:nvSpPr>
        <p:spPr>
          <a:xfrm>
            <a:off x="9479280" y="3410712"/>
            <a:ext cx="45720" cy="1133856"/>
          </a:xfrm>
          <a:prstGeom prst="rect">
            <a:avLst/>
          </a:prstGeom>
          <a:solidFill>
            <a:srgbClr val="2587C5"/>
          </a:solidFill>
          <a:ln/>
        </p:spPr>
      </p:sp>
      <p:sp>
        <p:nvSpPr>
          <p:cNvPr id="29" name="Text 27"/>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job</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30" name="Shape 28"/>
          <p:cNvSpPr/>
          <p:nvPr/>
        </p:nvSpPr>
        <p:spPr>
          <a:xfrm>
            <a:off x="5138928" y="4654296"/>
            <a:ext cx="45720" cy="1133856"/>
          </a:xfrm>
          <a:prstGeom prst="rect">
            <a:avLst/>
          </a:prstGeom>
          <a:solidFill>
            <a:srgbClr val="2587C5"/>
          </a:solidFill>
          <a:ln/>
        </p:spPr>
      </p:sp>
      <p:sp>
        <p:nvSpPr>
          <p:cNvPr id="31" name="Text 29"/>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Quick maintenance runs lower margin than repair</a:t>
            </a:r>
            <a:endParaRPr lang="en-US" sz="1400" dirty="0"/>
          </a:p>
        </p:txBody>
      </p:sp>
      <p:sp>
        <p:nvSpPr>
          <p:cNvPr id="32" name="Shape 30"/>
          <p:cNvSpPr/>
          <p:nvPr/>
        </p:nvSpPr>
        <p:spPr>
          <a:xfrm>
            <a:off x="7309104" y="4654296"/>
            <a:ext cx="45720" cy="1133856"/>
          </a:xfrm>
          <a:prstGeom prst="rect">
            <a:avLst/>
          </a:prstGeom>
          <a:solidFill>
            <a:srgbClr val="2587C5"/>
          </a:solidFill>
          <a:ln/>
        </p:spPr>
      </p:sp>
      <p:sp>
        <p:nvSpPr>
          <p:cNvPr id="33" name="Text 31"/>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Comebacks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Paying twice for the same job</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Roundtable target is 78–80%.</a:t>
            </a:r>
            <a:endParaRPr lang="en-US" sz="1600" dirty="0"/>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other half of the gross on every RO.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Small changes add up across every RO in the group.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pricing and discounting are under control.</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Markup by cost band; set and reviewed</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 direct price changes. ADC-controlled discounting only.</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THE CP ENGINE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Express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service is the #1 retention driver and business builder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75% of your business includes some type of maintenance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Express bays are simply MPI bays. Unknown dollars are worth 2.5 times the known.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Minimize labor costs for lower-skilled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If you don't help them, someone else will</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repair 30.5%.</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52.5%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 pay as a share of labor sale, down 0.3 pts. Warranty labor rose 8.8%, internal 5.8%.</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treat every express visit as an inspection: fast in, inspected, and sold the next service.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Share of Labor Sale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56616"/>
          </a:xfrm>
          <a:prstGeom prst="rect">
            <a:avLst/>
          </a:prstGeom>
          <a:solidFill>
            <a:srgbClr val="FBEBEA"/>
          </a:solidFill>
          <a:ln/>
        </p:spPr>
      </p:sp>
      <p:sp>
        <p:nvSpPr>
          <p:cNvPr id="30"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Down 0.3 pts to 52.5%, behind 2025 in five of nine months. Warranty labor rose 8.8%, internal rose 5.8%.</a:t>
            </a:r>
            <a:endParaRPr lang="en-US" sz="15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Share of Labor Sale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9166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SHARE OF LABOR SALE</a:t>
            </a:r>
            <a:endParaRPr lang="en-US" sz="1500" dirty="0"/>
          </a:p>
        </p:txBody>
      </p:sp>
      <p:sp>
        <p:nvSpPr>
          <p:cNvPr id="9" name="Text 7"/>
          <p:cNvSpPr txBox="1"/>
          <p:nvPr/>
        </p:nvSpPr>
        <p:spPr>
          <a:xfrm>
            <a:off x="4831080" y="1335024"/>
            <a:ext cx="32156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 name="Shape 15"/>
          <p:cNvSpPr/>
          <p:nvPr/>
        </p:nvSpPr>
        <p:spPr>
          <a:xfrm>
            <a:off x="3785616" y="2151755"/>
            <a:ext cx="70182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1" name="Shape 19"/>
          <p:cNvSpPr/>
          <p:nvPr/>
        </p:nvSpPr>
        <p:spPr>
          <a:xfrm>
            <a:off x="3785616" y="2391651"/>
            <a:ext cx="68745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6677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64275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5795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7" name="Shape 35"/>
          <p:cNvSpPr/>
          <p:nvPr/>
        </p:nvSpPr>
        <p:spPr>
          <a:xfrm>
            <a:off x="3785616" y="3351233"/>
            <a:ext cx="385898"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785616" y="3591128"/>
            <a:ext cx="31168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05606"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785616" y="4070920"/>
            <a:ext cx="28414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23156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8196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1" name="Shape 59"/>
          <p:cNvSpPr/>
          <p:nvPr/>
        </p:nvSpPr>
        <p:spPr>
          <a:xfrm>
            <a:off x="3785616" y="4790606"/>
            <a:ext cx="17535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785616" y="5030502"/>
            <a:ext cx="9208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785616" y="5270397"/>
            <a:ext cx="740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5436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1662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9331272" y="2391651"/>
            <a:ext cx="12802"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18561" y="2631546"/>
            <a:ext cx="17463"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12447" y="2871442"/>
            <a:ext cx="2357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9255154" y="3111337"/>
            <a:ext cx="8087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239288" y="3351233"/>
            <a:ext cx="96736"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34185" y="3591128"/>
            <a:ext cx="101839"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169807" y="3831024"/>
            <a:ext cx="16621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9092399" y="4070920"/>
            <a:ext cx="24362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1" name="Shape 119"/>
          <p:cNvSpPr/>
          <p:nvPr/>
        </p:nvSpPr>
        <p:spPr>
          <a:xfrm>
            <a:off x="9057340" y="4310815"/>
            <a:ext cx="27868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043690" y="4550711"/>
            <a:ext cx="29233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9" name="Shape 127"/>
          <p:cNvSpPr/>
          <p:nvPr/>
        </p:nvSpPr>
        <p:spPr>
          <a:xfrm>
            <a:off x="8923753" y="4790606"/>
            <a:ext cx="41227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3" name="Shape 131"/>
          <p:cNvSpPr/>
          <p:nvPr/>
        </p:nvSpPr>
        <p:spPr>
          <a:xfrm>
            <a:off x="8868856" y="5030502"/>
            <a:ext cx="467168"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843092" y="5270397"/>
            <a:ext cx="49293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752645" y="5510293"/>
            <a:ext cx="58337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 of 33 stores raised customer-pay share, led by Mazda at +10.8 pts to 56.6%. 14 declined; LR Reno fell most at −8.1 pts.</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$129.84</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$207.05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$205.15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$187.89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$165.81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$163.35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$158.93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$154.86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$151.53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$139.36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$136.90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$134.46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$127.41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$124.45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$119.37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$117.18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$109.22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$104.89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$102.65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$87.21</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21 of 33 stores at or above the $129.84 group, led by LR Reno at $207.05. Nissan is lowest at $87.21.</a:t>
            </a:r>
            <a:endParaRPr lang="en-US" sz="155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+$3.75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 name="Shape 11"/>
          <p:cNvSpPr/>
          <p:nvPr/>
        </p:nvSpPr>
        <p:spPr>
          <a:xfrm>
            <a:off x="3785616" y="1911860"/>
            <a:ext cx="60083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+$46.71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 name="Shape 15"/>
          <p:cNvSpPr/>
          <p:nvPr/>
        </p:nvSpPr>
        <p:spPr>
          <a:xfrm>
            <a:off x="3785616" y="2151755"/>
            <a:ext cx="5092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+$39.59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34878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5" name="Shape 23"/>
          <p:cNvSpPr/>
          <p:nvPr/>
        </p:nvSpPr>
        <p:spPr>
          <a:xfrm>
            <a:off x="3785616" y="2631546"/>
            <a:ext cx="26770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22436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3785616" y="3111337"/>
            <a:ext cx="16313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7" name="Shape 35"/>
          <p:cNvSpPr/>
          <p:nvPr/>
        </p:nvSpPr>
        <p:spPr>
          <a:xfrm>
            <a:off x="3785616" y="3351233"/>
            <a:ext cx="1598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5483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3831024"/>
            <a:ext cx="14315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785616" y="4070920"/>
            <a:ext cx="8225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+$6.39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80763"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7" name="Shape 55"/>
          <p:cNvSpPr/>
          <p:nvPr/>
        </p:nvSpPr>
        <p:spPr>
          <a:xfrm>
            <a:off x="3785616" y="4550711"/>
            <a:ext cx="7359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785616" y="4790606"/>
            <a:ext cx="7034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5" name="Shape 63"/>
          <p:cNvSpPr/>
          <p:nvPr/>
        </p:nvSpPr>
        <p:spPr>
          <a:xfrm>
            <a:off x="3785616" y="5030502"/>
            <a:ext cx="6610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+$5.14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3785616" y="5270397"/>
            <a:ext cx="58016"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4914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4822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9336024" y="1911860"/>
            <a:ext cx="46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5" name="Shape 83"/>
          <p:cNvSpPr/>
          <p:nvPr/>
        </p:nvSpPr>
        <p:spPr>
          <a:xfrm>
            <a:off x="9336024" y="2151755"/>
            <a:ext cx="2496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3" name="Shape 91"/>
          <p:cNvSpPr/>
          <p:nvPr/>
        </p:nvSpPr>
        <p:spPr>
          <a:xfrm>
            <a:off x="9324019"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17348" y="2871442"/>
            <a:ext cx="18676"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9313515" y="3111337"/>
            <a:ext cx="2250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278246" y="3351233"/>
            <a:ext cx="5777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273152" y="3591128"/>
            <a:ext cx="6287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842" y="3831024"/>
            <a:ext cx="7818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−$6.08</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253717" y="4070920"/>
            <a:ext cx="8230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3894" y="4310815"/>
            <a:ext cx="13213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5" name="Shape 123"/>
          <p:cNvSpPr/>
          <p:nvPr/>
        </p:nvSpPr>
        <p:spPr>
          <a:xfrm>
            <a:off x="9107808" y="4550711"/>
            <a:ext cx="22821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9069070" y="4790606"/>
            <a:ext cx="266954"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−$20.75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916687" y="5030502"/>
            <a:ext cx="419337"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809839" y="5270397"/>
            <a:ext cx="52618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−$40.91</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−$60.43</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+$46.71 to $205.15. 13 declined; Kia LV fell most at −$60.43.</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48996"/>
          </a:xfrm>
          <a:prstGeom prst="rect">
            <a:avLst/>
          </a:prstGeom>
          <a:solidFill>
            <a:srgbClr val="EDF4FA"/>
          </a:solidFill>
          <a:ln/>
        </p:spPr>
      </p:sp>
      <p:sp>
        <p:nvSpPr>
          <p:cNvPr id="147" name="Text 145"/>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16 of 33 stores at or above the 78.1% group, led by Honda Henderson at 85.9%. Audi Reno is lowest at 58.8%.</a:t>
            </a:r>
            <a:endParaRPr lang="en-US" sz="145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 led by Toyota Henderson at 45.1%. CDJR Post Falls is lowest at 24.4%.</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Unclassified Customer-Pay Labor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7985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UNCLASSIFIED CUSTOMER-PAY LABOR</a:t>
            </a:r>
            <a:endParaRPr lang="en-US" sz="1500" dirty="0"/>
          </a:p>
        </p:txBody>
      </p:sp>
      <p:sp>
        <p:nvSpPr>
          <p:cNvPr id="9" name="Text 7"/>
          <p:cNvSpPr txBox="1"/>
          <p:nvPr/>
        </p:nvSpPr>
        <p:spPr>
          <a:xfrm>
            <a:off x="4712970" y="1335024"/>
            <a:ext cx="333375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15.2%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11888"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 name="Shape 15"/>
          <p:cNvSpPr/>
          <p:nvPr/>
        </p:nvSpPr>
        <p:spPr>
          <a:xfrm>
            <a:off x="3008376" y="2146957"/>
            <a:ext cx="12254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008376" y="2386853"/>
            <a:ext cx="1465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3008376" y="2626748"/>
            <a:ext cx="19447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008376" y="2866644"/>
            <a:ext cx="20512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008376" y="3106540"/>
            <a:ext cx="21578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23976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245088"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253080"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26640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29037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7" name="Shape 55"/>
          <p:cNvSpPr/>
          <p:nvPr/>
        </p:nvSpPr>
        <p:spPr>
          <a:xfrm>
            <a:off x="3008376" y="4545913"/>
            <a:ext cx="29570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08376" y="4785808"/>
            <a:ext cx="33033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5" name="Shape 63"/>
          <p:cNvSpPr/>
          <p:nvPr/>
        </p:nvSpPr>
        <p:spPr>
          <a:xfrm>
            <a:off x="3008376" y="5025704"/>
            <a:ext cx="33566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008376" y="5265599"/>
            <a:ext cx="362304"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08376" y="5505495"/>
            <a:ext cx="383616"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38361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394272"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40759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47685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3" name="Shape 91"/>
          <p:cNvSpPr/>
          <p:nvPr/>
        </p:nvSpPr>
        <p:spPr>
          <a:xfrm>
            <a:off x="8558784" y="2626748"/>
            <a:ext cx="5141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51415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62604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67399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58784" y="3586331"/>
            <a:ext cx="7192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3" name="Shape 111"/>
          <p:cNvSpPr/>
          <p:nvPr/>
        </p:nvSpPr>
        <p:spPr>
          <a:xfrm>
            <a:off x="8558784" y="3826226"/>
            <a:ext cx="72194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91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77256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1498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104695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12014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7" name="Shape 135"/>
          <p:cNvSpPr/>
          <p:nvPr/>
        </p:nvSpPr>
        <p:spPr>
          <a:xfrm>
            <a:off x="8558784" y="5265599"/>
            <a:ext cx="13799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558784" y="5505495"/>
            <a:ext cx="169164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63.5%</a:t>
            </a:r>
            <a:endParaRPr lang="en-US" sz="1200" dirty="0"/>
          </a:p>
        </p:txBody>
      </p:sp>
      <p:sp>
        <p:nvSpPr>
          <p:cNvPr id="143" name="Shape 141"/>
          <p:cNvSpPr/>
          <p:nvPr/>
        </p:nvSpPr>
        <p:spPr>
          <a:xfrm>
            <a:off x="3405989" y="1847088"/>
            <a:ext cx="14630" cy="4078224"/>
          </a:xfrm>
          <a:prstGeom prst="rect">
            <a:avLst/>
          </a:prstGeom>
          <a:solidFill>
            <a:srgbClr val="0B2C4A"/>
          </a:solidFill>
          <a:ln/>
        </p:spPr>
      </p:sp>
      <p:sp>
        <p:nvSpPr>
          <p:cNvPr id="144" name="Shape 142"/>
          <p:cNvSpPr/>
          <p:nvPr/>
        </p:nvSpPr>
        <p:spPr>
          <a:xfrm>
            <a:off x="895639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GMC Prescott can't classify 63.5% of its customer-pay labor from the description; Honda Henderson only 4.2%. Vague op code descriptions hide what the shop sells.</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LABOR MIX</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15.2%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labor whose op code description can't be classified, down from 19.0%.</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4.2% to 63.5%</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range across stores. Vague descriptions hide what the shop sells.</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Walk-around with the customer: hood, tires and wipers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Review history and previously declined items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MPI mandate: every car, every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Consistency is key: trained, documented and actively managed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an Op 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are the services every car eventually needs.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rate shows whether the inspection and the menu are happening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jobs across the group.</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1133856"/>
          </a:xfrm>
          <a:prstGeom prst="rect">
            <a:avLst/>
          </a:prstGeom>
          <a:solidFill>
            <a:srgbClr val="2587C5"/>
          </a:solidFill>
          <a:ln/>
        </p:spPr>
      </p:sp>
      <p:sp>
        <p:nvSpPr>
          <p:cNvPr id="25" name="Text 23"/>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Advisor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price it, ask for it</a:t>
            </a:r>
            <a:endParaRPr lang="en-US" sz="1400" dirty="0"/>
          </a:p>
        </p:txBody>
      </p:sp>
      <p:sp>
        <p:nvSpPr>
          <p:cNvPr id="28" name="Shape 26"/>
          <p:cNvSpPr/>
          <p:nvPr/>
        </p:nvSpPr>
        <p:spPr>
          <a:xfrm>
            <a:off x="8394192" y="4654296"/>
            <a:ext cx="45720" cy="1133856"/>
          </a:xfrm>
          <a:prstGeom prst="rect">
            <a:avLst/>
          </a:prstGeom>
          <a:solidFill>
            <a:srgbClr val="2587C5"/>
          </a:solidFill>
          <a:ln/>
        </p:spPr>
      </p:sp>
      <p:sp>
        <p:nvSpPr>
          <p:cNvPr id="29" name="Text 27"/>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21.1% → 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12.6% → 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 → 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18.3% → 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 → 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10.1% → 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10.8% → 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0.7% → 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5.3% → 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9.7% → 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5.2% → 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0.5% → 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 → 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8.3% → 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8.1% → 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615696"/>
          </a:xfrm>
          <a:prstGeom prst="rect">
            <a:avLst/>
          </a:prstGeom>
          <a:solidFill>
            <a:srgbClr val="E6F6EE"/>
          </a:solidFill>
          <a:ln/>
        </p:spPr>
      </p:sp>
      <p:sp>
        <p:nvSpPr>
          <p:cNvPr id="28"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WHO'S MOVING NOW</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 → 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 → 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 → 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6.7% → 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645920" cy="73152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0.0% → 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2,490</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8" name="Shape 16"/>
          <p:cNvSpPr/>
          <p:nvPr/>
        </p:nvSpPr>
        <p:spPr>
          <a:xfrm>
            <a:off x="2670048" y="2098865"/>
            <a:ext cx="350494"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3" name="Shape 21"/>
          <p:cNvSpPr/>
          <p:nvPr/>
        </p:nvSpPr>
        <p:spPr>
          <a:xfrm>
            <a:off x="2670048" y="2423828"/>
            <a:ext cx="323881"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8" name="Shape 26"/>
          <p:cNvSpPr/>
          <p:nvPr/>
        </p:nvSpPr>
        <p:spPr>
          <a:xfrm>
            <a:off x="2670048" y="2748792"/>
            <a:ext cx="299199"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073756"/>
            <a:ext cx="294028"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556</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398719"/>
            <a:ext cx="222710"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770</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723683"/>
            <a:ext cx="192423"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478</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048647"/>
            <a:ext cx="148892"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365</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53" name="Shape 51"/>
          <p:cNvSpPr/>
          <p:nvPr/>
        </p:nvSpPr>
        <p:spPr>
          <a:xfrm>
            <a:off x="2670048" y="4373610"/>
            <a:ext cx="141539"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294</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4698574"/>
            <a:ext cx="133799"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5023538"/>
            <a:ext cx="129160"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326</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8" name="Shape 66"/>
          <p:cNvSpPr/>
          <p:nvPr/>
        </p:nvSpPr>
        <p:spPr>
          <a:xfrm>
            <a:off x="2670048" y="5348501"/>
            <a:ext cx="12719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3" name="Shape 71"/>
          <p:cNvSpPr/>
          <p:nvPr/>
        </p:nvSpPr>
        <p:spPr>
          <a:xfrm>
            <a:off x="2670048" y="5673465"/>
            <a:ext cx="10248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8220456" y="1773901"/>
            <a:ext cx="98792"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8220456" y="2098865"/>
            <a:ext cx="9135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88" name="Shape 86"/>
          <p:cNvSpPr/>
          <p:nvPr/>
        </p:nvSpPr>
        <p:spPr>
          <a:xfrm>
            <a:off x="8220456" y="2423828"/>
            <a:ext cx="88193"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291</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3" name="Shape 91"/>
          <p:cNvSpPr/>
          <p:nvPr/>
        </p:nvSpPr>
        <p:spPr>
          <a:xfrm>
            <a:off x="8220456" y="2748792"/>
            <a:ext cx="81609"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3073756"/>
            <a:ext cx="69229"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3" name="Shape 101"/>
          <p:cNvSpPr/>
          <p:nvPr/>
        </p:nvSpPr>
        <p:spPr>
          <a:xfrm>
            <a:off x="8220456" y="3398719"/>
            <a:ext cx="47082"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8" name="Shape 106"/>
          <p:cNvSpPr/>
          <p:nvPr/>
        </p:nvSpPr>
        <p:spPr>
          <a:xfrm>
            <a:off x="8220456" y="3723683"/>
            <a:ext cx="44786"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3" name="Shape 111"/>
          <p:cNvSpPr/>
          <p:nvPr/>
        </p:nvSpPr>
        <p:spPr>
          <a:xfrm>
            <a:off x="8220456" y="4048647"/>
            <a:ext cx="40558"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8" name="Shape 116"/>
          <p:cNvSpPr/>
          <p:nvPr/>
        </p:nvSpPr>
        <p:spPr>
          <a:xfrm>
            <a:off x="8220456" y="4373610"/>
            <a:ext cx="38064"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3" name="Shape 121"/>
          <p:cNvSpPr/>
          <p:nvPr/>
        </p:nvSpPr>
        <p:spPr>
          <a:xfrm>
            <a:off x="8220456" y="4698574"/>
            <a:ext cx="35579"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8" name="Shape 126"/>
          <p:cNvSpPr/>
          <p:nvPr/>
        </p:nvSpPr>
        <p:spPr>
          <a:xfrm>
            <a:off x="8220456" y="5023538"/>
            <a:ext cx="28280"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3" name="Shape 131"/>
          <p:cNvSpPr/>
          <p:nvPr/>
        </p:nvSpPr>
        <p:spPr>
          <a:xfrm>
            <a:off x="8220456" y="5348501"/>
            <a:ext cx="18288"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37" name="Shape 135"/>
          <p:cNvSpPr/>
          <p:nvPr/>
        </p:nvSpPr>
        <p:spPr>
          <a:xfrm>
            <a:off x="457200" y="6126480"/>
            <a:ext cx="11274552" cy="364236"/>
          </a:xfrm>
          <a:prstGeom prst="rect">
            <a:avLst/>
          </a:prstGeom>
          <a:solidFill>
            <a:srgbClr val="FBEBEA"/>
          </a:solidFill>
          <a:ln/>
        </p:spPr>
      </p:sp>
      <p:sp>
        <p:nvSpPr>
          <p:cNvPr id="138" name="Text 13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25 stores under 15% leave $1,029,276 a year: 9,935 services. Toyota Spokane has the most at $225,288.</a:t>
            </a:r>
            <a:endParaRPr lang="en-US" sz="155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4152"/>
            <a:ext cx="877824" cy="154899"/>
          </a:xfrm>
          <a:prstGeom prst="rect">
            <a:avLst/>
          </a:prstGeom>
          <a:solidFill>
            <a:srgbClr val="C2352F"/>
          </a:solidFill>
          <a:ln/>
        </p:spPr>
      </p:sp>
      <p:sp>
        <p:nvSpPr>
          <p:cNvPr id="14" name="Text 12"/>
          <p:cNvSpPr txBox="1"/>
          <p:nvPr/>
        </p:nvSpPr>
        <p:spPr>
          <a:xfrm>
            <a:off x="3602736"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5" name="Text 13"/>
          <p:cNvSpPr txBox="1"/>
          <p:nvPr/>
        </p:nvSpPr>
        <p:spPr>
          <a:xfrm>
            <a:off x="4425696"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6" name="Text 14"/>
          <p:cNvSpPr txBox="1"/>
          <p:nvPr/>
        </p:nvSpPr>
        <p:spPr>
          <a:xfrm>
            <a:off x="4992624"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3,361</a:t>
            </a:r>
            <a:endParaRPr lang="en-US" sz="1300" dirty="0"/>
          </a:p>
        </p:txBody>
      </p:sp>
      <p:sp>
        <p:nvSpPr>
          <p:cNvPr id="17" name="Text 15"/>
          <p:cNvSpPr txBox="1"/>
          <p:nvPr/>
        </p:nvSpPr>
        <p:spPr>
          <a:xfrm>
            <a:off x="658368"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45787"/>
            <a:ext cx="719796" cy="154899"/>
          </a:xfrm>
          <a:prstGeom prst="rect">
            <a:avLst/>
          </a:prstGeom>
          <a:solidFill>
            <a:srgbClr val="C2352F"/>
          </a:solidFill>
          <a:ln/>
        </p:spPr>
      </p:sp>
      <p:sp>
        <p:nvSpPr>
          <p:cNvPr id="19" name="Text 17"/>
          <p:cNvSpPr txBox="1"/>
          <p:nvPr/>
        </p:nvSpPr>
        <p:spPr>
          <a:xfrm>
            <a:off x="3602736"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20" name="Text 18"/>
          <p:cNvSpPr txBox="1"/>
          <p:nvPr/>
        </p:nvSpPr>
        <p:spPr>
          <a:xfrm>
            <a:off x="4425696"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 name="Text 19"/>
          <p:cNvSpPr txBox="1"/>
          <p:nvPr/>
        </p:nvSpPr>
        <p:spPr>
          <a:xfrm>
            <a:off x="4992624"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2,671</a:t>
            </a:r>
            <a:endParaRPr lang="en-US" sz="1300" dirty="0"/>
          </a:p>
        </p:txBody>
      </p:sp>
      <p:sp>
        <p:nvSpPr>
          <p:cNvPr id="22" name="Text 20"/>
          <p:cNvSpPr txBox="1"/>
          <p:nvPr/>
        </p:nvSpPr>
        <p:spPr>
          <a:xfrm>
            <a:off x="658368"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3" name="Shape 21"/>
          <p:cNvSpPr/>
          <p:nvPr/>
        </p:nvSpPr>
        <p:spPr>
          <a:xfrm>
            <a:off x="2670048" y="2327422"/>
            <a:ext cx="646349" cy="154899"/>
          </a:xfrm>
          <a:prstGeom prst="rect">
            <a:avLst/>
          </a:prstGeom>
          <a:solidFill>
            <a:srgbClr val="C2352F"/>
          </a:solidFill>
          <a:ln/>
        </p:spPr>
      </p:sp>
      <p:sp>
        <p:nvSpPr>
          <p:cNvPr id="24" name="Text 22"/>
          <p:cNvSpPr txBox="1"/>
          <p:nvPr/>
        </p:nvSpPr>
        <p:spPr>
          <a:xfrm>
            <a:off x="3602736"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25" name="Text 23"/>
          <p:cNvSpPr txBox="1"/>
          <p:nvPr/>
        </p:nvSpPr>
        <p:spPr>
          <a:xfrm>
            <a:off x="4425696"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6" name="Text 24"/>
          <p:cNvSpPr txBox="1"/>
          <p:nvPr/>
        </p:nvSpPr>
        <p:spPr>
          <a:xfrm>
            <a:off x="4992624"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1,590</a:t>
            </a:r>
            <a:endParaRPr lang="en-US" sz="1300" dirty="0"/>
          </a:p>
        </p:txBody>
      </p:sp>
      <p:sp>
        <p:nvSpPr>
          <p:cNvPr id="27" name="Text 25"/>
          <p:cNvSpPr txBox="1"/>
          <p:nvPr/>
        </p:nvSpPr>
        <p:spPr>
          <a:xfrm>
            <a:off x="658368"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8" name="Shape 26"/>
          <p:cNvSpPr/>
          <p:nvPr/>
        </p:nvSpPr>
        <p:spPr>
          <a:xfrm>
            <a:off x="2670048" y="2609058"/>
            <a:ext cx="610140" cy="154899"/>
          </a:xfrm>
          <a:prstGeom prst="rect">
            <a:avLst/>
          </a:prstGeom>
          <a:solidFill>
            <a:srgbClr val="C2352F"/>
          </a:solidFill>
          <a:ln/>
        </p:spPr>
      </p:sp>
      <p:sp>
        <p:nvSpPr>
          <p:cNvPr id="29" name="Text 27"/>
          <p:cNvSpPr txBox="1"/>
          <p:nvPr/>
        </p:nvSpPr>
        <p:spPr>
          <a:xfrm>
            <a:off x="3602736"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30" name="Text 28"/>
          <p:cNvSpPr txBox="1"/>
          <p:nvPr/>
        </p:nvSpPr>
        <p:spPr>
          <a:xfrm>
            <a:off x="4425696"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31" name="Text 29"/>
          <p:cNvSpPr txBox="1"/>
          <p:nvPr/>
        </p:nvSpPr>
        <p:spPr>
          <a:xfrm>
            <a:off x="4992624"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837</a:t>
            </a:r>
            <a:endParaRPr lang="en-US" sz="1300" dirty="0"/>
          </a:p>
        </p:txBody>
      </p:sp>
      <p:sp>
        <p:nvSpPr>
          <p:cNvPr id="32" name="Text 30"/>
          <p:cNvSpPr txBox="1"/>
          <p:nvPr/>
        </p:nvSpPr>
        <p:spPr>
          <a:xfrm>
            <a:off x="658368"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3" name="Shape 31"/>
          <p:cNvSpPr/>
          <p:nvPr/>
        </p:nvSpPr>
        <p:spPr>
          <a:xfrm>
            <a:off x="2670048" y="2890693"/>
            <a:ext cx="532718" cy="154899"/>
          </a:xfrm>
          <a:prstGeom prst="rect">
            <a:avLst/>
          </a:prstGeom>
          <a:solidFill>
            <a:srgbClr val="C2352F"/>
          </a:solidFill>
          <a:ln/>
        </p:spPr>
      </p:sp>
      <p:sp>
        <p:nvSpPr>
          <p:cNvPr id="34" name="Text 32"/>
          <p:cNvSpPr txBox="1"/>
          <p:nvPr/>
        </p:nvSpPr>
        <p:spPr>
          <a:xfrm>
            <a:off x="3602736"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35" name="Text 33"/>
          <p:cNvSpPr txBox="1"/>
          <p:nvPr/>
        </p:nvSpPr>
        <p:spPr>
          <a:xfrm>
            <a:off x="4425696"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6" name="Text 34"/>
          <p:cNvSpPr txBox="1"/>
          <p:nvPr/>
        </p:nvSpPr>
        <p:spPr>
          <a:xfrm>
            <a:off x="4992624"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2,031</a:t>
            </a:r>
            <a:endParaRPr lang="en-US" sz="1300" dirty="0"/>
          </a:p>
        </p:txBody>
      </p:sp>
      <p:sp>
        <p:nvSpPr>
          <p:cNvPr id="37" name="Text 35"/>
          <p:cNvSpPr txBox="1"/>
          <p:nvPr/>
        </p:nvSpPr>
        <p:spPr>
          <a:xfrm>
            <a:off x="658368"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3172328"/>
            <a:ext cx="519232" cy="154899"/>
          </a:xfrm>
          <a:prstGeom prst="rect">
            <a:avLst/>
          </a:prstGeom>
          <a:solidFill>
            <a:srgbClr val="C2352F"/>
          </a:solidFill>
          <a:ln/>
        </p:spPr>
      </p:sp>
      <p:sp>
        <p:nvSpPr>
          <p:cNvPr id="39" name="Text 37"/>
          <p:cNvSpPr txBox="1"/>
          <p:nvPr/>
        </p:nvSpPr>
        <p:spPr>
          <a:xfrm>
            <a:off x="3602736"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40" name="Text 38"/>
          <p:cNvSpPr txBox="1"/>
          <p:nvPr/>
        </p:nvSpPr>
        <p:spPr>
          <a:xfrm>
            <a:off x="4425696"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41" name="Text 39"/>
          <p:cNvSpPr txBox="1"/>
          <p:nvPr/>
        </p:nvSpPr>
        <p:spPr>
          <a:xfrm>
            <a:off x="4992624"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2,001</a:t>
            </a:r>
            <a:endParaRPr lang="en-US" sz="1300" dirty="0"/>
          </a:p>
        </p:txBody>
      </p:sp>
      <p:sp>
        <p:nvSpPr>
          <p:cNvPr id="42" name="Text 40"/>
          <p:cNvSpPr txBox="1"/>
          <p:nvPr/>
        </p:nvSpPr>
        <p:spPr>
          <a:xfrm>
            <a:off x="658368"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3" name="Shape 41"/>
          <p:cNvSpPr/>
          <p:nvPr/>
        </p:nvSpPr>
        <p:spPr>
          <a:xfrm>
            <a:off x="2670048" y="3453963"/>
            <a:ext cx="391085" cy="154899"/>
          </a:xfrm>
          <a:prstGeom prst="rect">
            <a:avLst/>
          </a:prstGeom>
          <a:solidFill>
            <a:srgbClr val="C2352F"/>
          </a:solidFill>
          <a:ln/>
        </p:spPr>
      </p:sp>
      <p:sp>
        <p:nvSpPr>
          <p:cNvPr id="44" name="Text 42"/>
          <p:cNvSpPr txBox="1"/>
          <p:nvPr/>
        </p:nvSpPr>
        <p:spPr>
          <a:xfrm>
            <a:off x="3602736"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45" name="Text 43"/>
          <p:cNvSpPr txBox="1"/>
          <p:nvPr/>
        </p:nvSpPr>
        <p:spPr>
          <a:xfrm>
            <a:off x="4425696"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46" name="Text 44"/>
          <p:cNvSpPr txBox="1"/>
          <p:nvPr/>
        </p:nvSpPr>
        <p:spPr>
          <a:xfrm>
            <a:off x="4992624"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1,526</a:t>
            </a:r>
            <a:endParaRPr lang="en-US" sz="1300" dirty="0"/>
          </a:p>
        </p:txBody>
      </p:sp>
      <p:sp>
        <p:nvSpPr>
          <p:cNvPr id="47" name="Text 45"/>
          <p:cNvSpPr txBox="1"/>
          <p:nvPr/>
        </p:nvSpPr>
        <p:spPr>
          <a:xfrm>
            <a:off x="658368"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735598"/>
            <a:ext cx="374515" cy="154899"/>
          </a:xfrm>
          <a:prstGeom prst="rect">
            <a:avLst/>
          </a:prstGeom>
          <a:solidFill>
            <a:srgbClr val="C2352F"/>
          </a:solidFill>
          <a:ln/>
        </p:spPr>
      </p:sp>
      <p:sp>
        <p:nvSpPr>
          <p:cNvPr id="49" name="Text 47"/>
          <p:cNvSpPr txBox="1"/>
          <p:nvPr/>
        </p:nvSpPr>
        <p:spPr>
          <a:xfrm>
            <a:off x="3602736"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425696"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51" name="Text 49"/>
          <p:cNvSpPr txBox="1"/>
          <p:nvPr/>
        </p:nvSpPr>
        <p:spPr>
          <a:xfrm>
            <a:off x="4992624"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1,296</a:t>
            </a:r>
            <a:endParaRPr lang="en-US" sz="1300" dirty="0"/>
          </a:p>
        </p:txBody>
      </p:sp>
      <p:sp>
        <p:nvSpPr>
          <p:cNvPr id="52" name="Text 50"/>
          <p:cNvSpPr txBox="1"/>
          <p:nvPr/>
        </p:nvSpPr>
        <p:spPr>
          <a:xfrm>
            <a:off x="658368"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3" name="Shape 51"/>
          <p:cNvSpPr/>
          <p:nvPr/>
        </p:nvSpPr>
        <p:spPr>
          <a:xfrm>
            <a:off x="2670048" y="4017234"/>
            <a:ext cx="358021" cy="154899"/>
          </a:xfrm>
          <a:prstGeom prst="rect">
            <a:avLst/>
          </a:prstGeom>
          <a:solidFill>
            <a:srgbClr val="C2352F"/>
          </a:solidFill>
          <a:ln/>
        </p:spPr>
      </p:sp>
      <p:sp>
        <p:nvSpPr>
          <p:cNvPr id="54" name="Text 52"/>
          <p:cNvSpPr txBox="1"/>
          <p:nvPr/>
        </p:nvSpPr>
        <p:spPr>
          <a:xfrm>
            <a:off x="3602736"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55" name="Text 53"/>
          <p:cNvSpPr txBox="1"/>
          <p:nvPr/>
        </p:nvSpPr>
        <p:spPr>
          <a:xfrm>
            <a:off x="4425696"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56" name="Text 54"/>
          <p:cNvSpPr txBox="1"/>
          <p:nvPr/>
        </p:nvSpPr>
        <p:spPr>
          <a:xfrm>
            <a:off x="4992624"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981</a:t>
            </a:r>
            <a:endParaRPr lang="en-US" sz="1300" dirty="0"/>
          </a:p>
        </p:txBody>
      </p:sp>
      <p:sp>
        <p:nvSpPr>
          <p:cNvPr id="57" name="Text 55"/>
          <p:cNvSpPr txBox="1"/>
          <p:nvPr/>
        </p:nvSpPr>
        <p:spPr>
          <a:xfrm>
            <a:off x="658368"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4298869"/>
            <a:ext cx="350574" cy="154899"/>
          </a:xfrm>
          <a:prstGeom prst="rect">
            <a:avLst/>
          </a:prstGeom>
          <a:solidFill>
            <a:srgbClr val="C2352F"/>
          </a:solidFill>
          <a:ln/>
        </p:spPr>
      </p:sp>
      <p:sp>
        <p:nvSpPr>
          <p:cNvPr id="59" name="Text 57"/>
          <p:cNvSpPr txBox="1"/>
          <p:nvPr/>
        </p:nvSpPr>
        <p:spPr>
          <a:xfrm>
            <a:off x="3602736"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60" name="Text 58"/>
          <p:cNvSpPr txBox="1"/>
          <p:nvPr/>
        </p:nvSpPr>
        <p:spPr>
          <a:xfrm>
            <a:off x="4425696"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1" name="Text 59"/>
          <p:cNvSpPr txBox="1"/>
          <p:nvPr/>
        </p:nvSpPr>
        <p:spPr>
          <a:xfrm>
            <a:off x="4992624"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1,059</a:t>
            </a:r>
            <a:endParaRPr lang="en-US" sz="1300" dirty="0"/>
          </a:p>
        </p:txBody>
      </p:sp>
      <p:sp>
        <p:nvSpPr>
          <p:cNvPr id="62" name="Text 60"/>
          <p:cNvSpPr txBox="1"/>
          <p:nvPr/>
        </p:nvSpPr>
        <p:spPr>
          <a:xfrm>
            <a:off x="658368"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63" name="Shape 61"/>
          <p:cNvSpPr/>
          <p:nvPr/>
        </p:nvSpPr>
        <p:spPr>
          <a:xfrm>
            <a:off x="2670048" y="4580504"/>
            <a:ext cx="331353" cy="154899"/>
          </a:xfrm>
          <a:prstGeom prst="rect">
            <a:avLst/>
          </a:prstGeom>
          <a:solidFill>
            <a:srgbClr val="C2352F"/>
          </a:solidFill>
          <a:ln/>
        </p:spPr>
      </p:sp>
      <p:sp>
        <p:nvSpPr>
          <p:cNvPr id="64" name="Text 62"/>
          <p:cNvSpPr txBox="1"/>
          <p:nvPr/>
        </p:nvSpPr>
        <p:spPr>
          <a:xfrm>
            <a:off x="3602736"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65" name="Text 63"/>
          <p:cNvSpPr txBox="1"/>
          <p:nvPr/>
        </p:nvSpPr>
        <p:spPr>
          <a:xfrm>
            <a:off x="4425696"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66" name="Text 64"/>
          <p:cNvSpPr txBox="1"/>
          <p:nvPr/>
        </p:nvSpPr>
        <p:spPr>
          <a:xfrm>
            <a:off x="4992624"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67" name="Text 65"/>
          <p:cNvSpPr txBox="1"/>
          <p:nvPr/>
        </p:nvSpPr>
        <p:spPr>
          <a:xfrm>
            <a:off x="658368"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2670048" y="4862139"/>
            <a:ext cx="331235" cy="154899"/>
          </a:xfrm>
          <a:prstGeom prst="rect">
            <a:avLst/>
          </a:prstGeom>
          <a:solidFill>
            <a:srgbClr val="C2352F"/>
          </a:solidFill>
          <a:ln/>
        </p:spPr>
      </p:sp>
      <p:sp>
        <p:nvSpPr>
          <p:cNvPr id="69" name="Text 67"/>
          <p:cNvSpPr txBox="1"/>
          <p:nvPr/>
        </p:nvSpPr>
        <p:spPr>
          <a:xfrm>
            <a:off x="3602736"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70" name="Text 68"/>
          <p:cNvSpPr txBox="1"/>
          <p:nvPr/>
        </p:nvSpPr>
        <p:spPr>
          <a:xfrm>
            <a:off x="4425696"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71" name="Text 69"/>
          <p:cNvSpPr txBox="1"/>
          <p:nvPr/>
        </p:nvSpPr>
        <p:spPr>
          <a:xfrm>
            <a:off x="4992624"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909</a:t>
            </a:r>
            <a:endParaRPr lang="en-US" sz="1300" dirty="0"/>
          </a:p>
        </p:txBody>
      </p:sp>
      <p:sp>
        <p:nvSpPr>
          <p:cNvPr id="72" name="Text 70"/>
          <p:cNvSpPr txBox="1"/>
          <p:nvPr/>
        </p:nvSpPr>
        <p:spPr>
          <a:xfrm>
            <a:off x="658368"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73" name="Shape 71"/>
          <p:cNvSpPr/>
          <p:nvPr/>
        </p:nvSpPr>
        <p:spPr>
          <a:xfrm>
            <a:off x="2670048" y="5143774"/>
            <a:ext cx="274901" cy="154899"/>
          </a:xfrm>
          <a:prstGeom prst="rect">
            <a:avLst/>
          </a:prstGeom>
          <a:solidFill>
            <a:srgbClr val="C2352F"/>
          </a:solidFill>
          <a:ln/>
        </p:spPr>
      </p:sp>
      <p:sp>
        <p:nvSpPr>
          <p:cNvPr id="74" name="Text 72"/>
          <p:cNvSpPr txBox="1"/>
          <p:nvPr/>
        </p:nvSpPr>
        <p:spPr>
          <a:xfrm>
            <a:off x="3602736"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754</a:t>
            </a:r>
            <a:endParaRPr lang="en-US" sz="1300" dirty="0"/>
          </a:p>
        </p:txBody>
      </p:sp>
      <p:sp>
        <p:nvSpPr>
          <p:cNvPr id="77" name="Text 75"/>
          <p:cNvSpPr txBox="1"/>
          <p:nvPr/>
        </p:nvSpPr>
        <p:spPr>
          <a:xfrm>
            <a:off x="658368"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2670048" y="5425410"/>
            <a:ext cx="253573" cy="154899"/>
          </a:xfrm>
          <a:prstGeom prst="rect">
            <a:avLst/>
          </a:prstGeom>
          <a:solidFill>
            <a:srgbClr val="C2352F"/>
          </a:solidFill>
          <a:ln/>
        </p:spPr>
      </p:sp>
      <p:sp>
        <p:nvSpPr>
          <p:cNvPr id="79" name="Text 77"/>
          <p:cNvSpPr txBox="1"/>
          <p:nvPr/>
        </p:nvSpPr>
        <p:spPr>
          <a:xfrm>
            <a:off x="3602736"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0" name="Text 78"/>
          <p:cNvSpPr txBox="1"/>
          <p:nvPr/>
        </p:nvSpPr>
        <p:spPr>
          <a:xfrm>
            <a:off x="4425696"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81" name="Text 79"/>
          <p:cNvSpPr txBox="1"/>
          <p:nvPr/>
        </p:nvSpPr>
        <p:spPr>
          <a:xfrm>
            <a:off x="4992624"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696</a:t>
            </a:r>
            <a:endParaRPr lang="en-US" sz="1300" dirty="0"/>
          </a:p>
        </p:txBody>
      </p:sp>
      <p:sp>
        <p:nvSpPr>
          <p:cNvPr id="82" name="Text 80"/>
          <p:cNvSpPr txBox="1"/>
          <p:nvPr/>
        </p:nvSpPr>
        <p:spPr>
          <a:xfrm>
            <a:off x="658368" y="5643677"/>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83" name="Shape 81"/>
          <p:cNvSpPr/>
          <p:nvPr/>
        </p:nvSpPr>
        <p:spPr>
          <a:xfrm>
            <a:off x="2670048" y="5707045"/>
            <a:ext cx="252810" cy="154899"/>
          </a:xfrm>
          <a:prstGeom prst="rect">
            <a:avLst/>
          </a:prstGeom>
          <a:solidFill>
            <a:srgbClr val="C2352F"/>
          </a:solidFill>
          <a:ln/>
        </p:spPr>
      </p:sp>
      <p:sp>
        <p:nvSpPr>
          <p:cNvPr id="84" name="Text 82"/>
          <p:cNvSpPr txBox="1"/>
          <p:nvPr/>
        </p:nvSpPr>
        <p:spPr>
          <a:xfrm>
            <a:off x="3602736" y="5643677"/>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85" name="Text 83"/>
          <p:cNvSpPr txBox="1"/>
          <p:nvPr/>
        </p:nvSpPr>
        <p:spPr>
          <a:xfrm>
            <a:off x="4425696" y="5643677"/>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86" name="Text 84"/>
          <p:cNvSpPr txBox="1"/>
          <p:nvPr/>
        </p:nvSpPr>
        <p:spPr>
          <a:xfrm>
            <a:off x="4992624" y="5643677"/>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735</a:t>
            </a:r>
            <a:endParaRPr lang="en-US" sz="1300" dirty="0"/>
          </a:p>
        </p:txBody>
      </p:sp>
      <p:sp>
        <p:nvSpPr>
          <p:cNvPr id="87" name="Text 85"/>
          <p:cNvSpPr txBox="1"/>
          <p:nvPr/>
        </p:nvSpPr>
        <p:spPr>
          <a:xfrm>
            <a:off x="6208776" y="170078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8" name="Shape 86"/>
          <p:cNvSpPr/>
          <p:nvPr/>
        </p:nvSpPr>
        <p:spPr>
          <a:xfrm>
            <a:off x="8220456" y="1764152"/>
            <a:ext cx="186928" cy="154899"/>
          </a:xfrm>
          <a:prstGeom prst="rect">
            <a:avLst/>
          </a:prstGeom>
          <a:solidFill>
            <a:srgbClr val="C2352F"/>
          </a:solidFill>
          <a:ln/>
        </p:spPr>
      </p:sp>
      <p:sp>
        <p:nvSpPr>
          <p:cNvPr id="89" name="Text 87"/>
          <p:cNvSpPr txBox="1"/>
          <p:nvPr/>
        </p:nvSpPr>
        <p:spPr>
          <a:xfrm>
            <a:off x="9153144" y="170078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90" name="Text 88"/>
          <p:cNvSpPr txBox="1"/>
          <p:nvPr/>
        </p:nvSpPr>
        <p:spPr>
          <a:xfrm>
            <a:off x="9976104" y="170078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1" name="Text 89"/>
          <p:cNvSpPr txBox="1"/>
          <p:nvPr/>
        </p:nvSpPr>
        <p:spPr>
          <a:xfrm>
            <a:off x="10543032" y="170078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92" name="Text 90"/>
          <p:cNvSpPr txBox="1"/>
          <p:nvPr/>
        </p:nvSpPr>
        <p:spPr>
          <a:xfrm>
            <a:off x="6208776" y="1982419"/>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3" name="Shape 91"/>
          <p:cNvSpPr/>
          <p:nvPr/>
        </p:nvSpPr>
        <p:spPr>
          <a:xfrm>
            <a:off x="8220456" y="2045787"/>
            <a:ext cx="174312" cy="154899"/>
          </a:xfrm>
          <a:prstGeom prst="rect">
            <a:avLst/>
          </a:prstGeom>
          <a:solidFill>
            <a:srgbClr val="C2352F"/>
          </a:solidFill>
          <a:ln/>
        </p:spPr>
      </p:sp>
      <p:sp>
        <p:nvSpPr>
          <p:cNvPr id="94" name="Text 92"/>
          <p:cNvSpPr txBox="1"/>
          <p:nvPr/>
        </p:nvSpPr>
        <p:spPr>
          <a:xfrm>
            <a:off x="9153144" y="1982419"/>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5" name="Text 93"/>
          <p:cNvSpPr txBox="1"/>
          <p:nvPr/>
        </p:nvSpPr>
        <p:spPr>
          <a:xfrm>
            <a:off x="9976104" y="1982419"/>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6" name="Text 94"/>
          <p:cNvSpPr txBox="1"/>
          <p:nvPr/>
        </p:nvSpPr>
        <p:spPr>
          <a:xfrm>
            <a:off x="10543032" y="1982419"/>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615</a:t>
            </a:r>
            <a:endParaRPr lang="en-US" sz="1300" dirty="0"/>
          </a:p>
        </p:txBody>
      </p:sp>
      <p:sp>
        <p:nvSpPr>
          <p:cNvPr id="97" name="Text 95"/>
          <p:cNvSpPr txBox="1"/>
          <p:nvPr/>
        </p:nvSpPr>
        <p:spPr>
          <a:xfrm>
            <a:off x="6208776" y="2264054"/>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98" name="Shape 96"/>
          <p:cNvSpPr/>
          <p:nvPr/>
        </p:nvSpPr>
        <p:spPr>
          <a:xfrm>
            <a:off x="8220456" y="2327422"/>
            <a:ext cx="150632" cy="154899"/>
          </a:xfrm>
          <a:prstGeom prst="rect">
            <a:avLst/>
          </a:prstGeom>
          <a:solidFill>
            <a:srgbClr val="C2352F"/>
          </a:solidFill>
          <a:ln/>
        </p:spPr>
      </p:sp>
      <p:sp>
        <p:nvSpPr>
          <p:cNvPr id="99" name="Text 97"/>
          <p:cNvSpPr txBox="1"/>
          <p:nvPr/>
        </p:nvSpPr>
        <p:spPr>
          <a:xfrm>
            <a:off x="9153144" y="2264054"/>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100" name="Text 98"/>
          <p:cNvSpPr txBox="1"/>
          <p:nvPr/>
        </p:nvSpPr>
        <p:spPr>
          <a:xfrm>
            <a:off x="9976104" y="2264054"/>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10543032" y="2264054"/>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467</a:t>
            </a:r>
            <a:endParaRPr lang="en-US" sz="1300" dirty="0"/>
          </a:p>
        </p:txBody>
      </p:sp>
      <p:sp>
        <p:nvSpPr>
          <p:cNvPr id="102" name="Text 100"/>
          <p:cNvSpPr txBox="1"/>
          <p:nvPr/>
        </p:nvSpPr>
        <p:spPr>
          <a:xfrm>
            <a:off x="6208776" y="254569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609058"/>
            <a:ext cx="135957" cy="154899"/>
          </a:xfrm>
          <a:prstGeom prst="rect">
            <a:avLst/>
          </a:prstGeom>
          <a:solidFill>
            <a:srgbClr val="C2352F"/>
          </a:solidFill>
          <a:ln/>
        </p:spPr>
      </p:sp>
      <p:sp>
        <p:nvSpPr>
          <p:cNvPr id="104" name="Text 102"/>
          <p:cNvSpPr txBox="1"/>
          <p:nvPr/>
        </p:nvSpPr>
        <p:spPr>
          <a:xfrm>
            <a:off x="9153144" y="254569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105" name="Text 103"/>
          <p:cNvSpPr txBox="1"/>
          <p:nvPr/>
        </p:nvSpPr>
        <p:spPr>
          <a:xfrm>
            <a:off x="9976104" y="254569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6" name="Text 104"/>
          <p:cNvSpPr txBox="1"/>
          <p:nvPr/>
        </p:nvSpPr>
        <p:spPr>
          <a:xfrm>
            <a:off x="10543032" y="254569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373</a:t>
            </a:r>
            <a:endParaRPr lang="en-US" sz="1300" dirty="0"/>
          </a:p>
        </p:txBody>
      </p:sp>
      <p:sp>
        <p:nvSpPr>
          <p:cNvPr id="107" name="Text 105"/>
          <p:cNvSpPr txBox="1"/>
          <p:nvPr/>
        </p:nvSpPr>
        <p:spPr>
          <a:xfrm>
            <a:off x="6208776" y="282732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2890693"/>
            <a:ext cx="133724" cy="154899"/>
          </a:xfrm>
          <a:prstGeom prst="rect">
            <a:avLst/>
          </a:prstGeom>
          <a:solidFill>
            <a:srgbClr val="C2352F"/>
          </a:solidFill>
          <a:ln/>
        </p:spPr>
      </p:sp>
      <p:sp>
        <p:nvSpPr>
          <p:cNvPr id="109" name="Text 107"/>
          <p:cNvSpPr txBox="1"/>
          <p:nvPr/>
        </p:nvSpPr>
        <p:spPr>
          <a:xfrm>
            <a:off x="9153144" y="282732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0" name="Text 108"/>
          <p:cNvSpPr txBox="1"/>
          <p:nvPr/>
        </p:nvSpPr>
        <p:spPr>
          <a:xfrm>
            <a:off x="9976104" y="282732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11" name="Text 109"/>
          <p:cNvSpPr txBox="1"/>
          <p:nvPr/>
        </p:nvSpPr>
        <p:spPr>
          <a:xfrm>
            <a:off x="10543032" y="282732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112" name="Text 110"/>
          <p:cNvSpPr txBox="1"/>
          <p:nvPr/>
        </p:nvSpPr>
        <p:spPr>
          <a:xfrm>
            <a:off x="6208776" y="310896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3172328"/>
            <a:ext cx="131190" cy="154899"/>
          </a:xfrm>
          <a:prstGeom prst="rect">
            <a:avLst/>
          </a:prstGeom>
          <a:solidFill>
            <a:srgbClr val="C2352F"/>
          </a:solidFill>
          <a:ln/>
        </p:spPr>
      </p:sp>
      <p:sp>
        <p:nvSpPr>
          <p:cNvPr id="114" name="Text 112"/>
          <p:cNvSpPr txBox="1"/>
          <p:nvPr/>
        </p:nvSpPr>
        <p:spPr>
          <a:xfrm>
            <a:off x="9153144" y="310896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5" name="Text 113"/>
          <p:cNvSpPr txBox="1"/>
          <p:nvPr/>
        </p:nvSpPr>
        <p:spPr>
          <a:xfrm>
            <a:off x="9976104" y="310896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16" name="Text 114"/>
          <p:cNvSpPr txBox="1"/>
          <p:nvPr/>
        </p:nvSpPr>
        <p:spPr>
          <a:xfrm>
            <a:off x="10543032" y="310896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17" name="Text 115"/>
          <p:cNvSpPr txBox="1"/>
          <p:nvPr/>
        </p:nvSpPr>
        <p:spPr>
          <a:xfrm>
            <a:off x="6208776" y="3390595"/>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8" name="Shape 116"/>
          <p:cNvSpPr/>
          <p:nvPr/>
        </p:nvSpPr>
        <p:spPr>
          <a:xfrm>
            <a:off x="8220456" y="3453963"/>
            <a:ext cx="101915" cy="154899"/>
          </a:xfrm>
          <a:prstGeom prst="rect">
            <a:avLst/>
          </a:prstGeom>
          <a:solidFill>
            <a:srgbClr val="C2352F"/>
          </a:solidFill>
          <a:ln/>
        </p:spPr>
      </p:sp>
      <p:sp>
        <p:nvSpPr>
          <p:cNvPr id="119" name="Text 117"/>
          <p:cNvSpPr txBox="1"/>
          <p:nvPr/>
        </p:nvSpPr>
        <p:spPr>
          <a:xfrm>
            <a:off x="9153144" y="3390595"/>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20" name="Text 118"/>
          <p:cNvSpPr txBox="1"/>
          <p:nvPr/>
        </p:nvSpPr>
        <p:spPr>
          <a:xfrm>
            <a:off x="9976104" y="3390595"/>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121" name="Text 119"/>
          <p:cNvSpPr txBox="1"/>
          <p:nvPr/>
        </p:nvSpPr>
        <p:spPr>
          <a:xfrm>
            <a:off x="10543032" y="3390595"/>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496</a:t>
            </a:r>
            <a:endParaRPr lang="en-US" sz="1300" dirty="0"/>
          </a:p>
        </p:txBody>
      </p:sp>
      <p:sp>
        <p:nvSpPr>
          <p:cNvPr id="122" name="Text 120"/>
          <p:cNvSpPr txBox="1"/>
          <p:nvPr/>
        </p:nvSpPr>
        <p:spPr>
          <a:xfrm>
            <a:off x="6208776" y="3672230"/>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3" name="Shape 121"/>
          <p:cNvSpPr/>
          <p:nvPr/>
        </p:nvSpPr>
        <p:spPr>
          <a:xfrm>
            <a:off x="8220456" y="3735598"/>
            <a:ext cx="89733" cy="154899"/>
          </a:xfrm>
          <a:prstGeom prst="rect">
            <a:avLst/>
          </a:prstGeom>
          <a:solidFill>
            <a:srgbClr val="C2352F"/>
          </a:solidFill>
          <a:ln/>
        </p:spPr>
      </p:sp>
      <p:sp>
        <p:nvSpPr>
          <p:cNvPr id="124" name="Text 122"/>
          <p:cNvSpPr txBox="1"/>
          <p:nvPr/>
        </p:nvSpPr>
        <p:spPr>
          <a:xfrm>
            <a:off x="9153144" y="3672230"/>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3672230"/>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6" name="Text 124"/>
          <p:cNvSpPr txBox="1"/>
          <p:nvPr/>
        </p:nvSpPr>
        <p:spPr>
          <a:xfrm>
            <a:off x="10543032" y="3672230"/>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127" name="Text 125"/>
          <p:cNvSpPr txBox="1"/>
          <p:nvPr/>
        </p:nvSpPr>
        <p:spPr>
          <a:xfrm>
            <a:off x="6208776" y="395386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8" name="Shape 126"/>
          <p:cNvSpPr/>
          <p:nvPr/>
        </p:nvSpPr>
        <p:spPr>
          <a:xfrm>
            <a:off x="8220456" y="4017234"/>
            <a:ext cx="69731" cy="154899"/>
          </a:xfrm>
          <a:prstGeom prst="rect">
            <a:avLst/>
          </a:prstGeom>
          <a:solidFill>
            <a:srgbClr val="C2352F"/>
          </a:solidFill>
          <a:ln/>
        </p:spPr>
      </p:sp>
      <p:sp>
        <p:nvSpPr>
          <p:cNvPr id="129" name="Text 127"/>
          <p:cNvSpPr txBox="1"/>
          <p:nvPr/>
        </p:nvSpPr>
        <p:spPr>
          <a:xfrm>
            <a:off x="9153144" y="395386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130" name="Text 128"/>
          <p:cNvSpPr txBox="1"/>
          <p:nvPr/>
        </p:nvSpPr>
        <p:spPr>
          <a:xfrm>
            <a:off x="9976104" y="395386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31" name="Text 129"/>
          <p:cNvSpPr txBox="1"/>
          <p:nvPr/>
        </p:nvSpPr>
        <p:spPr>
          <a:xfrm>
            <a:off x="10543032" y="395386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a:t>
            </a:r>
            <a:endParaRPr lang="en-US" sz="1300" dirty="0"/>
          </a:p>
        </p:txBody>
      </p:sp>
      <p:sp>
        <p:nvSpPr>
          <p:cNvPr id="132" name="Text 130"/>
          <p:cNvSpPr txBox="1"/>
          <p:nvPr/>
        </p:nvSpPr>
        <p:spPr>
          <a:xfrm>
            <a:off x="6208776" y="423550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4298869"/>
            <a:ext cx="53100" cy="154899"/>
          </a:xfrm>
          <a:prstGeom prst="rect">
            <a:avLst/>
          </a:prstGeom>
          <a:solidFill>
            <a:srgbClr val="C2352F"/>
          </a:solidFill>
          <a:ln/>
        </p:spPr>
      </p:sp>
      <p:sp>
        <p:nvSpPr>
          <p:cNvPr id="134" name="Text 132"/>
          <p:cNvSpPr txBox="1"/>
          <p:nvPr/>
        </p:nvSpPr>
        <p:spPr>
          <a:xfrm>
            <a:off x="9153144" y="423550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35" name="Text 133"/>
          <p:cNvSpPr txBox="1"/>
          <p:nvPr/>
        </p:nvSpPr>
        <p:spPr>
          <a:xfrm>
            <a:off x="9976104" y="423550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36" name="Text 134"/>
          <p:cNvSpPr txBox="1"/>
          <p:nvPr/>
        </p:nvSpPr>
        <p:spPr>
          <a:xfrm>
            <a:off x="10543032" y="423550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137" name="Text 135"/>
          <p:cNvSpPr txBox="1"/>
          <p:nvPr/>
        </p:nvSpPr>
        <p:spPr>
          <a:xfrm>
            <a:off x="6208776" y="451713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8" name="Shape 136"/>
          <p:cNvSpPr/>
          <p:nvPr/>
        </p:nvSpPr>
        <p:spPr>
          <a:xfrm>
            <a:off x="8220456" y="4580504"/>
            <a:ext cx="36692" cy="154899"/>
          </a:xfrm>
          <a:prstGeom prst="rect">
            <a:avLst/>
          </a:prstGeom>
          <a:solidFill>
            <a:srgbClr val="C2352F"/>
          </a:solidFill>
          <a:ln/>
        </p:spPr>
      </p:sp>
      <p:sp>
        <p:nvSpPr>
          <p:cNvPr id="139" name="Text 137"/>
          <p:cNvSpPr txBox="1"/>
          <p:nvPr/>
        </p:nvSpPr>
        <p:spPr>
          <a:xfrm>
            <a:off x="9153144" y="451713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40" name="Text 138"/>
          <p:cNvSpPr txBox="1"/>
          <p:nvPr/>
        </p:nvSpPr>
        <p:spPr>
          <a:xfrm>
            <a:off x="9976104" y="451713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41" name="Text 139"/>
          <p:cNvSpPr txBox="1"/>
          <p:nvPr/>
        </p:nvSpPr>
        <p:spPr>
          <a:xfrm>
            <a:off x="10543032" y="451713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798771"/>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3" name="Shape 141"/>
          <p:cNvSpPr/>
          <p:nvPr/>
        </p:nvSpPr>
        <p:spPr>
          <a:xfrm>
            <a:off x="8220456" y="4862139"/>
            <a:ext cx="28663" cy="154899"/>
          </a:xfrm>
          <a:prstGeom prst="rect">
            <a:avLst/>
          </a:prstGeom>
          <a:solidFill>
            <a:srgbClr val="C2352F"/>
          </a:solidFill>
          <a:ln/>
        </p:spPr>
      </p:sp>
      <p:sp>
        <p:nvSpPr>
          <p:cNvPr id="144" name="Text 142"/>
          <p:cNvSpPr txBox="1"/>
          <p:nvPr/>
        </p:nvSpPr>
        <p:spPr>
          <a:xfrm>
            <a:off x="9153144" y="4798771"/>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145" name="Text 143"/>
          <p:cNvSpPr txBox="1"/>
          <p:nvPr/>
        </p:nvSpPr>
        <p:spPr>
          <a:xfrm>
            <a:off x="9976104" y="4798771"/>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146" name="Text 144"/>
          <p:cNvSpPr txBox="1"/>
          <p:nvPr/>
        </p:nvSpPr>
        <p:spPr>
          <a:xfrm>
            <a:off x="10543032" y="4798771"/>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47" name="Text 145"/>
          <p:cNvSpPr txBox="1"/>
          <p:nvPr/>
        </p:nvSpPr>
        <p:spPr>
          <a:xfrm>
            <a:off x="6208776" y="5080406"/>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48" name="Shape 146"/>
          <p:cNvSpPr/>
          <p:nvPr/>
        </p:nvSpPr>
        <p:spPr>
          <a:xfrm>
            <a:off x="8220456" y="5143774"/>
            <a:ext cx="18288" cy="154899"/>
          </a:xfrm>
          <a:prstGeom prst="rect">
            <a:avLst/>
          </a:prstGeom>
          <a:solidFill>
            <a:srgbClr val="C2352F"/>
          </a:solidFill>
          <a:ln/>
        </p:spPr>
      </p:sp>
      <p:sp>
        <p:nvSpPr>
          <p:cNvPr id="149" name="Text 147"/>
          <p:cNvSpPr txBox="1"/>
          <p:nvPr/>
        </p:nvSpPr>
        <p:spPr>
          <a:xfrm>
            <a:off x="9153144" y="5080406"/>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50" name="Text 148"/>
          <p:cNvSpPr txBox="1"/>
          <p:nvPr/>
        </p:nvSpPr>
        <p:spPr>
          <a:xfrm>
            <a:off x="9976104" y="5080406"/>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151" name="Text 149"/>
          <p:cNvSpPr txBox="1"/>
          <p:nvPr/>
        </p:nvSpPr>
        <p:spPr>
          <a:xfrm>
            <a:off x="10543032" y="5080406"/>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52" name="Text 150"/>
          <p:cNvSpPr txBox="1"/>
          <p:nvPr/>
        </p:nvSpPr>
        <p:spPr>
          <a:xfrm>
            <a:off x="6208776" y="5362042"/>
            <a:ext cx="1938528" cy="2816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3" name="Shape 151"/>
          <p:cNvSpPr/>
          <p:nvPr/>
        </p:nvSpPr>
        <p:spPr>
          <a:xfrm>
            <a:off x="8220456" y="5425410"/>
            <a:ext cx="18288" cy="154899"/>
          </a:xfrm>
          <a:prstGeom prst="rect">
            <a:avLst/>
          </a:prstGeom>
          <a:solidFill>
            <a:srgbClr val="C2352F"/>
          </a:solidFill>
          <a:ln/>
        </p:spPr>
      </p:sp>
      <p:sp>
        <p:nvSpPr>
          <p:cNvPr id="154" name="Text 152"/>
          <p:cNvSpPr txBox="1"/>
          <p:nvPr/>
        </p:nvSpPr>
        <p:spPr>
          <a:xfrm>
            <a:off x="9153144" y="5362042"/>
            <a:ext cx="822960" cy="2816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155" name="Text 153"/>
          <p:cNvSpPr txBox="1"/>
          <p:nvPr/>
        </p:nvSpPr>
        <p:spPr>
          <a:xfrm>
            <a:off x="9976104" y="5362042"/>
            <a:ext cx="566928"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156" name="Text 154"/>
          <p:cNvSpPr txBox="1"/>
          <p:nvPr/>
        </p:nvSpPr>
        <p:spPr>
          <a:xfrm>
            <a:off x="10543032" y="5362042"/>
            <a:ext cx="877824" cy="281635"/>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7" name="Shape 155"/>
          <p:cNvSpPr/>
          <p:nvPr/>
        </p:nvSpPr>
        <p:spPr>
          <a:xfrm>
            <a:off x="457200" y="6126480"/>
            <a:ext cx="11274552" cy="364236"/>
          </a:xfrm>
          <a:prstGeom prst="rect">
            <a:avLst/>
          </a:prstGeom>
          <a:solidFill>
            <a:srgbClr val="FBEBEA"/>
          </a:solidFill>
          <a:ln/>
        </p:spPr>
      </p:sp>
      <p:sp>
        <p:nvSpPr>
          <p:cNvPr id="158" name="Text 15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A82B26"/>
                </a:solidFill>
                <a:latin typeface="Inter" pitchFamily="34" charset="0"/>
                <a:ea typeface="Inter" pitchFamily="34" charset="-122"/>
                <a:cs typeface="Inter" pitchFamily="34" charset="-120"/>
              </a:rPr>
              <a:t>29 stores under 15% leave $1,664,385 a year: 26,062 services. Toyota Spokane has the most at $179,701.</a:t>
            </a:r>
            <a:endParaRPr lang="en-US" sz="155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87195"/>
            <a:ext cx="877824" cy="211226"/>
          </a:xfrm>
          <a:prstGeom prst="rect">
            <a:avLst/>
          </a:prstGeom>
          <a:solidFill>
            <a:srgbClr val="C2352F"/>
          </a:solidFill>
          <a:ln/>
        </p:spPr>
      </p:sp>
      <p:sp>
        <p:nvSpPr>
          <p:cNvPr id="14" name="Text 12"/>
          <p:cNvSpPr txBox="1"/>
          <p:nvPr/>
        </p:nvSpPr>
        <p:spPr>
          <a:xfrm>
            <a:off x="3602736"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5" name="Text 13"/>
          <p:cNvSpPr txBox="1"/>
          <p:nvPr/>
        </p:nvSpPr>
        <p:spPr>
          <a:xfrm>
            <a:off x="4425696"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6" name="Text 14"/>
          <p:cNvSpPr txBox="1"/>
          <p:nvPr/>
        </p:nvSpPr>
        <p:spPr>
          <a:xfrm>
            <a:off x="4992624"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8" name="Shape 16"/>
          <p:cNvSpPr/>
          <p:nvPr/>
        </p:nvSpPr>
        <p:spPr>
          <a:xfrm>
            <a:off x="2670048" y="2171243"/>
            <a:ext cx="465371" cy="211226"/>
          </a:xfrm>
          <a:prstGeom prst="rect">
            <a:avLst/>
          </a:prstGeom>
          <a:solidFill>
            <a:srgbClr val="C2352F"/>
          </a:solidFill>
          <a:ln/>
        </p:spPr>
      </p:sp>
      <p:sp>
        <p:nvSpPr>
          <p:cNvPr id="19" name="Text 17"/>
          <p:cNvSpPr txBox="1"/>
          <p:nvPr/>
        </p:nvSpPr>
        <p:spPr>
          <a:xfrm>
            <a:off x="3602736"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20" name="Text 18"/>
          <p:cNvSpPr txBox="1"/>
          <p:nvPr/>
        </p:nvSpPr>
        <p:spPr>
          <a:xfrm>
            <a:off x="4425696"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 name="Text 19"/>
          <p:cNvSpPr txBox="1"/>
          <p:nvPr/>
        </p:nvSpPr>
        <p:spPr>
          <a:xfrm>
            <a:off x="4992624"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683</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3" name="Shape 21"/>
          <p:cNvSpPr/>
          <p:nvPr/>
        </p:nvSpPr>
        <p:spPr>
          <a:xfrm>
            <a:off x="2670048" y="2555291"/>
            <a:ext cx="453423" cy="211226"/>
          </a:xfrm>
          <a:prstGeom prst="rect">
            <a:avLst/>
          </a:prstGeom>
          <a:solidFill>
            <a:srgbClr val="C2352F"/>
          </a:solidFill>
          <a:ln/>
        </p:spPr>
      </p:sp>
      <p:sp>
        <p:nvSpPr>
          <p:cNvPr id="24" name="Text 22"/>
          <p:cNvSpPr txBox="1"/>
          <p:nvPr/>
        </p:nvSpPr>
        <p:spPr>
          <a:xfrm>
            <a:off x="3602736"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25" name="Text 23"/>
          <p:cNvSpPr txBox="1"/>
          <p:nvPr/>
        </p:nvSpPr>
        <p:spPr>
          <a:xfrm>
            <a:off x="4425696"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6" name="Text 24"/>
          <p:cNvSpPr txBox="1"/>
          <p:nvPr/>
        </p:nvSpPr>
        <p:spPr>
          <a:xfrm>
            <a:off x="4992624"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939339"/>
            <a:ext cx="433190" cy="211226"/>
          </a:xfrm>
          <a:prstGeom prst="rect">
            <a:avLst/>
          </a:prstGeom>
          <a:solidFill>
            <a:srgbClr val="C2352F"/>
          </a:solidFill>
          <a:ln/>
        </p:spPr>
      </p:sp>
      <p:sp>
        <p:nvSpPr>
          <p:cNvPr id="29" name="Text 27"/>
          <p:cNvSpPr txBox="1"/>
          <p:nvPr/>
        </p:nvSpPr>
        <p:spPr>
          <a:xfrm>
            <a:off x="3602736"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30" name="Text 28"/>
          <p:cNvSpPr txBox="1"/>
          <p:nvPr/>
        </p:nvSpPr>
        <p:spPr>
          <a:xfrm>
            <a:off x="4425696"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31" name="Text 29"/>
          <p:cNvSpPr txBox="1"/>
          <p:nvPr/>
        </p:nvSpPr>
        <p:spPr>
          <a:xfrm>
            <a:off x="4992624"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380</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33" name="Shape 31"/>
          <p:cNvSpPr/>
          <p:nvPr/>
        </p:nvSpPr>
        <p:spPr>
          <a:xfrm>
            <a:off x="2670048" y="3323387"/>
            <a:ext cx="391906" cy="211226"/>
          </a:xfrm>
          <a:prstGeom prst="rect">
            <a:avLst/>
          </a:prstGeom>
          <a:solidFill>
            <a:srgbClr val="C2352F"/>
          </a:solidFill>
          <a:ln/>
        </p:spPr>
      </p:sp>
      <p:sp>
        <p:nvSpPr>
          <p:cNvPr id="34" name="Text 32"/>
          <p:cNvSpPr txBox="1"/>
          <p:nvPr/>
        </p:nvSpPr>
        <p:spPr>
          <a:xfrm>
            <a:off x="3602736"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35" name="Text 33"/>
          <p:cNvSpPr txBox="1"/>
          <p:nvPr/>
        </p:nvSpPr>
        <p:spPr>
          <a:xfrm>
            <a:off x="4425696"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36" name="Text 34"/>
          <p:cNvSpPr txBox="1"/>
          <p:nvPr/>
        </p:nvSpPr>
        <p:spPr>
          <a:xfrm>
            <a:off x="4992624"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367</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3707435"/>
            <a:ext cx="330070" cy="211226"/>
          </a:xfrm>
          <a:prstGeom prst="rect">
            <a:avLst/>
          </a:prstGeom>
          <a:solidFill>
            <a:srgbClr val="C2352F"/>
          </a:solidFill>
          <a:ln/>
        </p:spPr>
      </p:sp>
      <p:sp>
        <p:nvSpPr>
          <p:cNvPr id="39" name="Text 37"/>
          <p:cNvSpPr txBox="1"/>
          <p:nvPr/>
        </p:nvSpPr>
        <p:spPr>
          <a:xfrm>
            <a:off x="3602736"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40" name="Text 38"/>
          <p:cNvSpPr txBox="1"/>
          <p:nvPr/>
        </p:nvSpPr>
        <p:spPr>
          <a:xfrm>
            <a:off x="4425696"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41" name="Text 39"/>
          <p:cNvSpPr txBox="1"/>
          <p:nvPr/>
        </p:nvSpPr>
        <p:spPr>
          <a:xfrm>
            <a:off x="4992624"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379</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43" name="Shape 41"/>
          <p:cNvSpPr/>
          <p:nvPr/>
        </p:nvSpPr>
        <p:spPr>
          <a:xfrm>
            <a:off x="2670048" y="4091483"/>
            <a:ext cx="305680" cy="211226"/>
          </a:xfrm>
          <a:prstGeom prst="rect">
            <a:avLst/>
          </a:prstGeom>
          <a:solidFill>
            <a:srgbClr val="C2352F"/>
          </a:solidFill>
          <a:ln/>
        </p:spPr>
      </p:sp>
      <p:sp>
        <p:nvSpPr>
          <p:cNvPr id="44" name="Text 42"/>
          <p:cNvSpPr txBox="1"/>
          <p:nvPr/>
        </p:nvSpPr>
        <p:spPr>
          <a:xfrm>
            <a:off x="3602736"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45" name="Text 43"/>
          <p:cNvSpPr txBox="1"/>
          <p:nvPr/>
        </p:nvSpPr>
        <p:spPr>
          <a:xfrm>
            <a:off x="4425696"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6" name="Text 44"/>
          <p:cNvSpPr txBox="1"/>
          <p:nvPr/>
        </p:nvSpPr>
        <p:spPr>
          <a:xfrm>
            <a:off x="4992624"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412</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8" name="Shape 46"/>
          <p:cNvSpPr/>
          <p:nvPr/>
        </p:nvSpPr>
        <p:spPr>
          <a:xfrm>
            <a:off x="2670048" y="4475531"/>
            <a:ext cx="278002" cy="211226"/>
          </a:xfrm>
          <a:prstGeom prst="rect">
            <a:avLst/>
          </a:prstGeom>
          <a:solidFill>
            <a:srgbClr val="C2352F"/>
          </a:solidFill>
          <a:ln/>
        </p:spPr>
      </p:sp>
      <p:sp>
        <p:nvSpPr>
          <p:cNvPr id="49" name="Text 47"/>
          <p:cNvSpPr txBox="1"/>
          <p:nvPr/>
        </p:nvSpPr>
        <p:spPr>
          <a:xfrm>
            <a:off x="3602736"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50" name="Text 48"/>
          <p:cNvSpPr txBox="1"/>
          <p:nvPr/>
        </p:nvSpPr>
        <p:spPr>
          <a:xfrm>
            <a:off x="4425696"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51" name="Text 49"/>
          <p:cNvSpPr txBox="1"/>
          <p:nvPr/>
        </p:nvSpPr>
        <p:spPr>
          <a:xfrm>
            <a:off x="4992624"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389</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187016" cy="211226"/>
          </a:xfrm>
          <a:prstGeom prst="rect">
            <a:avLst/>
          </a:prstGeom>
          <a:solidFill>
            <a:srgbClr val="C2352F"/>
          </a:solidFill>
          <a:ln/>
        </p:spPr>
      </p:sp>
      <p:sp>
        <p:nvSpPr>
          <p:cNvPr id="54" name="Text 52"/>
          <p:cNvSpPr txBox="1"/>
          <p:nvPr/>
        </p:nvSpPr>
        <p:spPr>
          <a:xfrm>
            <a:off x="3602736"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55" name="Text 53"/>
          <p:cNvSpPr txBox="1"/>
          <p:nvPr/>
        </p:nvSpPr>
        <p:spPr>
          <a:xfrm>
            <a:off x="4425696"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6" name="Text 54"/>
          <p:cNvSpPr txBox="1"/>
          <p:nvPr/>
        </p:nvSpPr>
        <p:spPr>
          <a:xfrm>
            <a:off x="4992624"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287</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8" name="Shape 56"/>
          <p:cNvSpPr/>
          <p:nvPr/>
        </p:nvSpPr>
        <p:spPr>
          <a:xfrm>
            <a:off x="2670048" y="5243627"/>
            <a:ext cx="183429" cy="211226"/>
          </a:xfrm>
          <a:prstGeom prst="rect">
            <a:avLst/>
          </a:prstGeom>
          <a:solidFill>
            <a:srgbClr val="C2352F"/>
          </a:solidFill>
          <a:ln/>
        </p:spPr>
      </p:sp>
      <p:sp>
        <p:nvSpPr>
          <p:cNvPr id="59" name="Text 57"/>
          <p:cNvSpPr txBox="1"/>
          <p:nvPr/>
        </p:nvSpPr>
        <p:spPr>
          <a:xfrm>
            <a:off x="3602736"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0" name="Text 58"/>
          <p:cNvSpPr txBox="1"/>
          <p:nvPr/>
        </p:nvSpPr>
        <p:spPr>
          <a:xfrm>
            <a:off x="4425696"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61" name="Text 59"/>
          <p:cNvSpPr txBox="1"/>
          <p:nvPr/>
        </p:nvSpPr>
        <p:spPr>
          <a:xfrm>
            <a:off x="4992624"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3" name="Shape 61"/>
          <p:cNvSpPr/>
          <p:nvPr/>
        </p:nvSpPr>
        <p:spPr>
          <a:xfrm>
            <a:off x="2670048" y="5627675"/>
            <a:ext cx="145711" cy="211226"/>
          </a:xfrm>
          <a:prstGeom prst="rect">
            <a:avLst/>
          </a:prstGeom>
          <a:solidFill>
            <a:srgbClr val="C2352F"/>
          </a:solidFill>
          <a:ln/>
        </p:spPr>
      </p:sp>
      <p:sp>
        <p:nvSpPr>
          <p:cNvPr id="64" name="Text 62"/>
          <p:cNvSpPr txBox="1"/>
          <p:nvPr/>
        </p:nvSpPr>
        <p:spPr>
          <a:xfrm>
            <a:off x="3602736" y="554126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65" name="Text 63"/>
          <p:cNvSpPr txBox="1"/>
          <p:nvPr/>
        </p:nvSpPr>
        <p:spPr>
          <a:xfrm>
            <a:off x="4425696" y="554126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6" name="Text 64"/>
          <p:cNvSpPr txBox="1"/>
          <p:nvPr/>
        </p:nvSpPr>
        <p:spPr>
          <a:xfrm>
            <a:off x="4992624" y="554126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68" name="Shape 66"/>
          <p:cNvSpPr/>
          <p:nvPr/>
        </p:nvSpPr>
        <p:spPr>
          <a:xfrm>
            <a:off x="8220456" y="1787195"/>
            <a:ext cx="130420" cy="211226"/>
          </a:xfrm>
          <a:prstGeom prst="rect">
            <a:avLst/>
          </a:prstGeom>
          <a:solidFill>
            <a:srgbClr val="C2352F"/>
          </a:solidFill>
          <a:ln/>
        </p:spPr>
      </p:sp>
      <p:sp>
        <p:nvSpPr>
          <p:cNvPr id="69" name="Text 67"/>
          <p:cNvSpPr txBox="1"/>
          <p:nvPr/>
        </p:nvSpPr>
        <p:spPr>
          <a:xfrm>
            <a:off x="9153144" y="170078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70" name="Text 68"/>
          <p:cNvSpPr txBox="1"/>
          <p:nvPr/>
        </p:nvSpPr>
        <p:spPr>
          <a:xfrm>
            <a:off x="9976104" y="170078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71" name="Text 69"/>
          <p:cNvSpPr txBox="1"/>
          <p:nvPr/>
        </p:nvSpPr>
        <p:spPr>
          <a:xfrm>
            <a:off x="10543032" y="170078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3" name="Shape 71"/>
          <p:cNvSpPr/>
          <p:nvPr/>
        </p:nvSpPr>
        <p:spPr>
          <a:xfrm>
            <a:off x="8220456" y="2171243"/>
            <a:ext cx="124044" cy="211226"/>
          </a:xfrm>
          <a:prstGeom prst="rect">
            <a:avLst/>
          </a:prstGeom>
          <a:solidFill>
            <a:srgbClr val="C2352F"/>
          </a:solidFill>
          <a:ln/>
        </p:spPr>
      </p:sp>
      <p:sp>
        <p:nvSpPr>
          <p:cNvPr id="74" name="Text 72"/>
          <p:cNvSpPr txBox="1"/>
          <p:nvPr/>
        </p:nvSpPr>
        <p:spPr>
          <a:xfrm>
            <a:off x="9153144" y="208483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5" name="Text 73"/>
          <p:cNvSpPr txBox="1"/>
          <p:nvPr/>
        </p:nvSpPr>
        <p:spPr>
          <a:xfrm>
            <a:off x="9976104" y="208483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6" name="Text 74"/>
          <p:cNvSpPr txBox="1"/>
          <p:nvPr/>
        </p:nvSpPr>
        <p:spPr>
          <a:xfrm>
            <a:off x="10543032" y="208483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20456" y="2555291"/>
            <a:ext cx="119989" cy="211226"/>
          </a:xfrm>
          <a:prstGeom prst="rect">
            <a:avLst/>
          </a:prstGeom>
          <a:solidFill>
            <a:srgbClr val="C2352F"/>
          </a:solidFill>
          <a:ln/>
        </p:spPr>
      </p:sp>
      <p:sp>
        <p:nvSpPr>
          <p:cNvPr id="79" name="Text 77"/>
          <p:cNvSpPr txBox="1"/>
          <p:nvPr/>
        </p:nvSpPr>
        <p:spPr>
          <a:xfrm>
            <a:off x="9153144" y="246888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80" name="Text 78"/>
          <p:cNvSpPr txBox="1"/>
          <p:nvPr/>
        </p:nvSpPr>
        <p:spPr>
          <a:xfrm>
            <a:off x="9976104" y="246888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1" name="Text 79"/>
          <p:cNvSpPr txBox="1"/>
          <p:nvPr/>
        </p:nvSpPr>
        <p:spPr>
          <a:xfrm>
            <a:off x="10543032" y="246888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114513" cy="211226"/>
          </a:xfrm>
          <a:prstGeom prst="rect">
            <a:avLst/>
          </a:prstGeom>
          <a:solidFill>
            <a:srgbClr val="C2352F"/>
          </a:solidFill>
          <a:ln/>
        </p:spPr>
      </p:sp>
      <p:sp>
        <p:nvSpPr>
          <p:cNvPr id="84" name="Text 82"/>
          <p:cNvSpPr txBox="1"/>
          <p:nvPr/>
        </p:nvSpPr>
        <p:spPr>
          <a:xfrm>
            <a:off x="9153144" y="285292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85" name="Text 83"/>
          <p:cNvSpPr txBox="1"/>
          <p:nvPr/>
        </p:nvSpPr>
        <p:spPr>
          <a:xfrm>
            <a:off x="9976104" y="285292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86" name="Text 84"/>
          <p:cNvSpPr txBox="1"/>
          <p:nvPr/>
        </p:nvSpPr>
        <p:spPr>
          <a:xfrm>
            <a:off x="10543032" y="285292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8" name="Shape 86"/>
          <p:cNvSpPr/>
          <p:nvPr/>
        </p:nvSpPr>
        <p:spPr>
          <a:xfrm>
            <a:off x="8220456" y="3323387"/>
            <a:ext cx="102926" cy="211226"/>
          </a:xfrm>
          <a:prstGeom prst="rect">
            <a:avLst/>
          </a:prstGeom>
          <a:solidFill>
            <a:srgbClr val="C2352F"/>
          </a:solidFill>
          <a:ln/>
        </p:spPr>
      </p:sp>
      <p:sp>
        <p:nvSpPr>
          <p:cNvPr id="89" name="Text 87"/>
          <p:cNvSpPr txBox="1"/>
          <p:nvPr/>
        </p:nvSpPr>
        <p:spPr>
          <a:xfrm>
            <a:off x="9153144" y="323697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0" name="Text 88"/>
          <p:cNvSpPr txBox="1"/>
          <p:nvPr/>
        </p:nvSpPr>
        <p:spPr>
          <a:xfrm>
            <a:off x="9976104" y="323697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91" name="Text 89"/>
          <p:cNvSpPr txBox="1"/>
          <p:nvPr/>
        </p:nvSpPr>
        <p:spPr>
          <a:xfrm>
            <a:off x="10543032" y="323697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3" name="Shape 91"/>
          <p:cNvSpPr/>
          <p:nvPr/>
        </p:nvSpPr>
        <p:spPr>
          <a:xfrm>
            <a:off x="8220456" y="3707435"/>
            <a:ext cx="87970" cy="211226"/>
          </a:xfrm>
          <a:prstGeom prst="rect">
            <a:avLst/>
          </a:prstGeom>
          <a:solidFill>
            <a:srgbClr val="C2352F"/>
          </a:solidFill>
          <a:ln/>
        </p:spPr>
      </p:sp>
      <p:sp>
        <p:nvSpPr>
          <p:cNvPr id="94" name="Text 92"/>
          <p:cNvSpPr txBox="1"/>
          <p:nvPr/>
        </p:nvSpPr>
        <p:spPr>
          <a:xfrm>
            <a:off x="9153144" y="3621024"/>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5" name="Text 93"/>
          <p:cNvSpPr txBox="1"/>
          <p:nvPr/>
        </p:nvSpPr>
        <p:spPr>
          <a:xfrm>
            <a:off x="9976104" y="3621024"/>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6" name="Text 94"/>
          <p:cNvSpPr txBox="1"/>
          <p:nvPr/>
        </p:nvSpPr>
        <p:spPr>
          <a:xfrm>
            <a:off x="10543032" y="3621024"/>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8" name="Shape 96"/>
          <p:cNvSpPr/>
          <p:nvPr/>
        </p:nvSpPr>
        <p:spPr>
          <a:xfrm>
            <a:off x="8220456" y="4091483"/>
            <a:ext cx="75941" cy="211226"/>
          </a:xfrm>
          <a:prstGeom prst="rect">
            <a:avLst/>
          </a:prstGeom>
          <a:solidFill>
            <a:srgbClr val="C2352F"/>
          </a:solidFill>
          <a:ln/>
        </p:spPr>
      </p:sp>
      <p:sp>
        <p:nvSpPr>
          <p:cNvPr id="99" name="Text 97"/>
          <p:cNvSpPr txBox="1"/>
          <p:nvPr/>
        </p:nvSpPr>
        <p:spPr>
          <a:xfrm>
            <a:off x="9153144" y="4005072"/>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00" name="Text 98"/>
          <p:cNvSpPr txBox="1"/>
          <p:nvPr/>
        </p:nvSpPr>
        <p:spPr>
          <a:xfrm>
            <a:off x="9976104" y="4005072"/>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01" name="Text 99"/>
          <p:cNvSpPr txBox="1"/>
          <p:nvPr/>
        </p:nvSpPr>
        <p:spPr>
          <a:xfrm>
            <a:off x="10543032" y="4005072"/>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3" name="Shape 101"/>
          <p:cNvSpPr/>
          <p:nvPr/>
        </p:nvSpPr>
        <p:spPr>
          <a:xfrm>
            <a:off x="8220456" y="4475531"/>
            <a:ext cx="63505" cy="211226"/>
          </a:xfrm>
          <a:prstGeom prst="rect">
            <a:avLst/>
          </a:prstGeom>
          <a:solidFill>
            <a:srgbClr val="C2352F"/>
          </a:solidFill>
          <a:ln/>
        </p:spPr>
      </p:sp>
      <p:sp>
        <p:nvSpPr>
          <p:cNvPr id="104" name="Text 102"/>
          <p:cNvSpPr txBox="1"/>
          <p:nvPr/>
        </p:nvSpPr>
        <p:spPr>
          <a:xfrm>
            <a:off x="9153144" y="4389120"/>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05" name="Text 103"/>
          <p:cNvSpPr txBox="1"/>
          <p:nvPr/>
        </p:nvSpPr>
        <p:spPr>
          <a:xfrm>
            <a:off x="9976104" y="4389120"/>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6" name="Text 104"/>
          <p:cNvSpPr txBox="1"/>
          <p:nvPr/>
        </p:nvSpPr>
        <p:spPr>
          <a:xfrm>
            <a:off x="10543032" y="4389120"/>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8" name="Shape 106"/>
          <p:cNvSpPr/>
          <p:nvPr/>
        </p:nvSpPr>
        <p:spPr>
          <a:xfrm>
            <a:off x="8220456" y="4859579"/>
            <a:ext cx="25502" cy="211226"/>
          </a:xfrm>
          <a:prstGeom prst="rect">
            <a:avLst/>
          </a:prstGeom>
          <a:solidFill>
            <a:srgbClr val="C2352F"/>
          </a:solidFill>
          <a:ln/>
        </p:spPr>
      </p:sp>
      <p:sp>
        <p:nvSpPr>
          <p:cNvPr id="109" name="Text 107"/>
          <p:cNvSpPr txBox="1"/>
          <p:nvPr/>
        </p:nvSpPr>
        <p:spPr>
          <a:xfrm>
            <a:off x="9153144" y="4773168"/>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110" name="Text 108"/>
          <p:cNvSpPr txBox="1"/>
          <p:nvPr/>
        </p:nvSpPr>
        <p:spPr>
          <a:xfrm>
            <a:off x="9976104" y="4773168"/>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11" name="Text 109"/>
          <p:cNvSpPr txBox="1"/>
          <p:nvPr/>
        </p:nvSpPr>
        <p:spPr>
          <a:xfrm>
            <a:off x="10543032" y="4773168"/>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13" name="Shape 111"/>
          <p:cNvSpPr/>
          <p:nvPr/>
        </p:nvSpPr>
        <p:spPr>
          <a:xfrm>
            <a:off x="8220456" y="5243627"/>
            <a:ext cx="19240" cy="211226"/>
          </a:xfrm>
          <a:prstGeom prst="rect">
            <a:avLst/>
          </a:prstGeom>
          <a:solidFill>
            <a:srgbClr val="C2352F"/>
          </a:solidFill>
          <a:ln/>
        </p:spPr>
      </p:sp>
      <p:sp>
        <p:nvSpPr>
          <p:cNvPr id="114" name="Text 112"/>
          <p:cNvSpPr txBox="1"/>
          <p:nvPr/>
        </p:nvSpPr>
        <p:spPr>
          <a:xfrm>
            <a:off x="9153144" y="5157216"/>
            <a:ext cx="822960"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15" name="Text 113"/>
          <p:cNvSpPr txBox="1"/>
          <p:nvPr/>
        </p:nvSpPr>
        <p:spPr>
          <a:xfrm>
            <a:off x="9976104" y="5157216"/>
            <a:ext cx="566928"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16" name="Text 114"/>
          <p:cNvSpPr txBox="1"/>
          <p:nvPr/>
        </p:nvSpPr>
        <p:spPr>
          <a:xfrm>
            <a:off x="10543032" y="5157216"/>
            <a:ext cx="877824"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17" name="Shape 115"/>
          <p:cNvSpPr/>
          <p:nvPr/>
        </p:nvSpPr>
        <p:spPr>
          <a:xfrm>
            <a:off x="457200" y="6126480"/>
            <a:ext cx="11274552" cy="371856"/>
          </a:xfrm>
          <a:prstGeom prst="rect">
            <a:avLst/>
          </a:prstGeom>
          <a:solidFill>
            <a:srgbClr val="FBEBEA"/>
          </a:solidFill>
          <a:ln/>
        </p:spPr>
      </p:sp>
      <p:sp>
        <p:nvSpPr>
          <p:cNvPr id="118" name="Text 11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leave $844,657 a year: 5,919 services. Chevy LV has the most at $150,836.</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Missed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Text 6"/>
          <p:cNvSpPr txBox="1"/>
          <p:nvPr/>
        </p:nvSpPr>
        <p:spPr>
          <a:xfrm>
            <a:off x="4992624"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10543032" y="1316736"/>
            <a:ext cx="87782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73901"/>
            <a:ext cx="877824" cy="178730"/>
          </a:xfrm>
          <a:prstGeom prst="rect">
            <a:avLst/>
          </a:prstGeom>
          <a:solidFill>
            <a:srgbClr val="C2352F"/>
          </a:solidFill>
          <a:ln/>
        </p:spPr>
      </p:sp>
      <p:sp>
        <p:nvSpPr>
          <p:cNvPr id="14" name="Text 12"/>
          <p:cNvSpPr txBox="1"/>
          <p:nvPr/>
        </p:nvSpPr>
        <p:spPr>
          <a:xfrm>
            <a:off x="3602736"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5" name="Text 13"/>
          <p:cNvSpPr txBox="1"/>
          <p:nvPr/>
        </p:nvSpPr>
        <p:spPr>
          <a:xfrm>
            <a:off x="4425696"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 name="Text 14"/>
          <p:cNvSpPr txBox="1"/>
          <p:nvPr/>
        </p:nvSpPr>
        <p:spPr>
          <a:xfrm>
            <a:off x="4992624"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585</a:t>
            </a:r>
            <a:endParaRPr lang="en-US" sz="1300" dirty="0"/>
          </a:p>
        </p:txBody>
      </p:sp>
      <p:sp>
        <p:nvSpPr>
          <p:cNvPr id="17" name="Text 15"/>
          <p:cNvSpPr txBox="1"/>
          <p:nvPr/>
        </p:nvSpPr>
        <p:spPr>
          <a:xfrm>
            <a:off x="658368"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8" name="Shape 16"/>
          <p:cNvSpPr/>
          <p:nvPr/>
        </p:nvSpPr>
        <p:spPr>
          <a:xfrm>
            <a:off x="2670048" y="2098865"/>
            <a:ext cx="793178" cy="178730"/>
          </a:xfrm>
          <a:prstGeom prst="rect">
            <a:avLst/>
          </a:prstGeom>
          <a:solidFill>
            <a:srgbClr val="C2352F"/>
          </a:solidFill>
          <a:ln/>
        </p:spPr>
      </p:sp>
      <p:sp>
        <p:nvSpPr>
          <p:cNvPr id="19" name="Text 17"/>
          <p:cNvSpPr txBox="1"/>
          <p:nvPr/>
        </p:nvSpPr>
        <p:spPr>
          <a:xfrm>
            <a:off x="3602736"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20" name="Text 18"/>
          <p:cNvSpPr txBox="1"/>
          <p:nvPr/>
        </p:nvSpPr>
        <p:spPr>
          <a:xfrm>
            <a:off x="4425696"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 name="Text 19"/>
          <p:cNvSpPr txBox="1"/>
          <p:nvPr/>
        </p:nvSpPr>
        <p:spPr>
          <a:xfrm>
            <a:off x="4992624"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1,056</a:t>
            </a:r>
            <a:endParaRPr lang="en-US" sz="1300" dirty="0"/>
          </a:p>
        </p:txBody>
      </p:sp>
      <p:sp>
        <p:nvSpPr>
          <p:cNvPr id="22" name="Text 20"/>
          <p:cNvSpPr txBox="1"/>
          <p:nvPr/>
        </p:nvSpPr>
        <p:spPr>
          <a:xfrm>
            <a:off x="658368"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423828"/>
            <a:ext cx="671699" cy="178730"/>
          </a:xfrm>
          <a:prstGeom prst="rect">
            <a:avLst/>
          </a:prstGeom>
          <a:solidFill>
            <a:srgbClr val="C2352F"/>
          </a:solidFill>
          <a:ln/>
        </p:spPr>
      </p:sp>
      <p:sp>
        <p:nvSpPr>
          <p:cNvPr id="24" name="Text 22"/>
          <p:cNvSpPr txBox="1"/>
          <p:nvPr/>
        </p:nvSpPr>
        <p:spPr>
          <a:xfrm>
            <a:off x="3602736"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25" name="Text 23"/>
          <p:cNvSpPr txBox="1"/>
          <p:nvPr/>
        </p:nvSpPr>
        <p:spPr>
          <a:xfrm>
            <a:off x="4425696"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6" name="Text 24"/>
          <p:cNvSpPr txBox="1"/>
          <p:nvPr/>
        </p:nvSpPr>
        <p:spPr>
          <a:xfrm>
            <a:off x="4992624"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1,173</a:t>
            </a:r>
            <a:endParaRPr lang="en-US" sz="1300" dirty="0"/>
          </a:p>
        </p:txBody>
      </p:sp>
      <p:sp>
        <p:nvSpPr>
          <p:cNvPr id="27" name="Text 25"/>
          <p:cNvSpPr txBox="1"/>
          <p:nvPr/>
        </p:nvSpPr>
        <p:spPr>
          <a:xfrm>
            <a:off x="658368"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28" name="Shape 26"/>
          <p:cNvSpPr/>
          <p:nvPr/>
        </p:nvSpPr>
        <p:spPr>
          <a:xfrm>
            <a:off x="2670048" y="2748792"/>
            <a:ext cx="522143" cy="178730"/>
          </a:xfrm>
          <a:prstGeom prst="rect">
            <a:avLst/>
          </a:prstGeom>
          <a:solidFill>
            <a:srgbClr val="C2352F"/>
          </a:solidFill>
          <a:ln/>
        </p:spPr>
      </p:sp>
      <p:sp>
        <p:nvSpPr>
          <p:cNvPr id="29" name="Text 27"/>
          <p:cNvSpPr txBox="1"/>
          <p:nvPr/>
        </p:nvSpPr>
        <p:spPr>
          <a:xfrm>
            <a:off x="3602736"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30" name="Text 28"/>
          <p:cNvSpPr txBox="1"/>
          <p:nvPr/>
        </p:nvSpPr>
        <p:spPr>
          <a:xfrm>
            <a:off x="4425696"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31" name="Text 29"/>
          <p:cNvSpPr txBox="1"/>
          <p:nvPr/>
        </p:nvSpPr>
        <p:spPr>
          <a:xfrm>
            <a:off x="4992624"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515</a:t>
            </a:r>
            <a:endParaRPr lang="en-US" sz="1300" dirty="0"/>
          </a:p>
        </p:txBody>
      </p:sp>
      <p:sp>
        <p:nvSpPr>
          <p:cNvPr id="32" name="Text 30"/>
          <p:cNvSpPr txBox="1"/>
          <p:nvPr/>
        </p:nvSpPr>
        <p:spPr>
          <a:xfrm>
            <a:off x="658368"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3073756"/>
            <a:ext cx="466364" cy="178730"/>
          </a:xfrm>
          <a:prstGeom prst="rect">
            <a:avLst/>
          </a:prstGeom>
          <a:solidFill>
            <a:srgbClr val="C2352F"/>
          </a:solidFill>
          <a:ln/>
        </p:spPr>
      </p:sp>
      <p:sp>
        <p:nvSpPr>
          <p:cNvPr id="34" name="Text 32"/>
          <p:cNvSpPr txBox="1"/>
          <p:nvPr/>
        </p:nvSpPr>
        <p:spPr>
          <a:xfrm>
            <a:off x="3602736"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35" name="Text 33"/>
          <p:cNvSpPr txBox="1"/>
          <p:nvPr/>
        </p:nvSpPr>
        <p:spPr>
          <a:xfrm>
            <a:off x="4425696"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36" name="Text 34"/>
          <p:cNvSpPr txBox="1"/>
          <p:nvPr/>
        </p:nvSpPr>
        <p:spPr>
          <a:xfrm>
            <a:off x="4992624"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37" name="Text 35"/>
          <p:cNvSpPr txBox="1"/>
          <p:nvPr/>
        </p:nvSpPr>
        <p:spPr>
          <a:xfrm>
            <a:off x="658368"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8" name="Shape 36"/>
          <p:cNvSpPr/>
          <p:nvPr/>
        </p:nvSpPr>
        <p:spPr>
          <a:xfrm>
            <a:off x="2670048" y="3398719"/>
            <a:ext cx="463132" cy="178730"/>
          </a:xfrm>
          <a:prstGeom prst="rect">
            <a:avLst/>
          </a:prstGeom>
          <a:solidFill>
            <a:srgbClr val="C2352F"/>
          </a:solidFill>
          <a:ln/>
        </p:spPr>
      </p:sp>
      <p:sp>
        <p:nvSpPr>
          <p:cNvPr id="39" name="Text 37"/>
          <p:cNvSpPr txBox="1"/>
          <p:nvPr/>
        </p:nvSpPr>
        <p:spPr>
          <a:xfrm>
            <a:off x="3602736"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40" name="Text 38"/>
          <p:cNvSpPr txBox="1"/>
          <p:nvPr/>
        </p:nvSpPr>
        <p:spPr>
          <a:xfrm>
            <a:off x="4425696"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41" name="Text 39"/>
          <p:cNvSpPr txBox="1"/>
          <p:nvPr/>
        </p:nvSpPr>
        <p:spPr>
          <a:xfrm>
            <a:off x="4992624"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42" name="Text 40"/>
          <p:cNvSpPr txBox="1"/>
          <p:nvPr/>
        </p:nvSpPr>
        <p:spPr>
          <a:xfrm>
            <a:off x="658368"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3" name="Shape 41"/>
          <p:cNvSpPr/>
          <p:nvPr/>
        </p:nvSpPr>
        <p:spPr>
          <a:xfrm>
            <a:off x="2670048" y="3723683"/>
            <a:ext cx="402170" cy="178730"/>
          </a:xfrm>
          <a:prstGeom prst="rect">
            <a:avLst/>
          </a:prstGeom>
          <a:solidFill>
            <a:srgbClr val="C2352F"/>
          </a:solidFill>
          <a:ln/>
        </p:spPr>
      </p:sp>
      <p:sp>
        <p:nvSpPr>
          <p:cNvPr id="44" name="Text 42"/>
          <p:cNvSpPr txBox="1"/>
          <p:nvPr/>
        </p:nvSpPr>
        <p:spPr>
          <a:xfrm>
            <a:off x="3602736"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45" name="Text 43"/>
          <p:cNvSpPr txBox="1"/>
          <p:nvPr/>
        </p:nvSpPr>
        <p:spPr>
          <a:xfrm>
            <a:off x="4425696"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6" name="Text 44"/>
          <p:cNvSpPr txBox="1"/>
          <p:nvPr/>
        </p:nvSpPr>
        <p:spPr>
          <a:xfrm>
            <a:off x="4992624"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a:t>
            </a:r>
            <a:endParaRPr lang="en-US" sz="1300" dirty="0"/>
          </a:p>
        </p:txBody>
      </p:sp>
      <p:sp>
        <p:nvSpPr>
          <p:cNvPr id="47" name="Text 45"/>
          <p:cNvSpPr txBox="1"/>
          <p:nvPr/>
        </p:nvSpPr>
        <p:spPr>
          <a:xfrm>
            <a:off x="658368"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4048647"/>
            <a:ext cx="392196" cy="178730"/>
          </a:xfrm>
          <a:prstGeom prst="rect">
            <a:avLst/>
          </a:prstGeom>
          <a:solidFill>
            <a:srgbClr val="C2352F"/>
          </a:solidFill>
          <a:ln/>
        </p:spPr>
      </p:sp>
      <p:sp>
        <p:nvSpPr>
          <p:cNvPr id="49" name="Text 47"/>
          <p:cNvSpPr txBox="1"/>
          <p:nvPr/>
        </p:nvSpPr>
        <p:spPr>
          <a:xfrm>
            <a:off x="3602736"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50" name="Text 48"/>
          <p:cNvSpPr txBox="1"/>
          <p:nvPr/>
        </p:nvSpPr>
        <p:spPr>
          <a:xfrm>
            <a:off x="4425696"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992624"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308</a:t>
            </a:r>
            <a:endParaRPr lang="en-US" sz="1300" dirty="0"/>
          </a:p>
        </p:txBody>
      </p:sp>
      <p:sp>
        <p:nvSpPr>
          <p:cNvPr id="52" name="Text 50"/>
          <p:cNvSpPr txBox="1"/>
          <p:nvPr/>
        </p:nvSpPr>
        <p:spPr>
          <a:xfrm>
            <a:off x="658368"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3" name="Shape 51"/>
          <p:cNvSpPr/>
          <p:nvPr/>
        </p:nvSpPr>
        <p:spPr>
          <a:xfrm>
            <a:off x="2670048" y="4373610"/>
            <a:ext cx="383514" cy="178730"/>
          </a:xfrm>
          <a:prstGeom prst="rect">
            <a:avLst/>
          </a:prstGeom>
          <a:solidFill>
            <a:srgbClr val="C2352F"/>
          </a:solidFill>
          <a:ln/>
        </p:spPr>
      </p:sp>
      <p:sp>
        <p:nvSpPr>
          <p:cNvPr id="54" name="Text 52"/>
          <p:cNvSpPr txBox="1"/>
          <p:nvPr/>
        </p:nvSpPr>
        <p:spPr>
          <a:xfrm>
            <a:off x="3602736"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55" name="Text 53"/>
          <p:cNvSpPr txBox="1"/>
          <p:nvPr/>
        </p:nvSpPr>
        <p:spPr>
          <a:xfrm>
            <a:off x="4425696"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56" name="Text 54"/>
          <p:cNvSpPr txBox="1"/>
          <p:nvPr/>
        </p:nvSpPr>
        <p:spPr>
          <a:xfrm>
            <a:off x="4992624"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a:t>
            </a:r>
            <a:endParaRPr lang="en-US" sz="1300" dirty="0"/>
          </a:p>
        </p:txBody>
      </p:sp>
      <p:sp>
        <p:nvSpPr>
          <p:cNvPr id="57" name="Text 55"/>
          <p:cNvSpPr txBox="1"/>
          <p:nvPr/>
        </p:nvSpPr>
        <p:spPr>
          <a:xfrm>
            <a:off x="658368"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8" name="Shape 56"/>
          <p:cNvSpPr/>
          <p:nvPr/>
        </p:nvSpPr>
        <p:spPr>
          <a:xfrm>
            <a:off x="2670048" y="4698574"/>
            <a:ext cx="381003" cy="178730"/>
          </a:xfrm>
          <a:prstGeom prst="rect">
            <a:avLst/>
          </a:prstGeom>
          <a:solidFill>
            <a:srgbClr val="C2352F"/>
          </a:solidFill>
          <a:ln/>
        </p:spPr>
      </p:sp>
      <p:sp>
        <p:nvSpPr>
          <p:cNvPr id="59" name="Text 57"/>
          <p:cNvSpPr txBox="1"/>
          <p:nvPr/>
        </p:nvSpPr>
        <p:spPr>
          <a:xfrm>
            <a:off x="3602736"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60" name="Text 58"/>
          <p:cNvSpPr txBox="1"/>
          <p:nvPr/>
        </p:nvSpPr>
        <p:spPr>
          <a:xfrm>
            <a:off x="4425696"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61" name="Text 59"/>
          <p:cNvSpPr txBox="1"/>
          <p:nvPr/>
        </p:nvSpPr>
        <p:spPr>
          <a:xfrm>
            <a:off x="4992624"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321</a:t>
            </a:r>
            <a:endParaRPr lang="en-US" sz="1300" dirty="0"/>
          </a:p>
        </p:txBody>
      </p:sp>
      <p:sp>
        <p:nvSpPr>
          <p:cNvPr id="62" name="Text 60"/>
          <p:cNvSpPr txBox="1"/>
          <p:nvPr/>
        </p:nvSpPr>
        <p:spPr>
          <a:xfrm>
            <a:off x="658368"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023538"/>
            <a:ext cx="369746" cy="178730"/>
          </a:xfrm>
          <a:prstGeom prst="rect">
            <a:avLst/>
          </a:prstGeom>
          <a:solidFill>
            <a:srgbClr val="C2352F"/>
          </a:solidFill>
          <a:ln/>
        </p:spPr>
      </p:sp>
      <p:sp>
        <p:nvSpPr>
          <p:cNvPr id="64" name="Text 62"/>
          <p:cNvSpPr txBox="1"/>
          <p:nvPr/>
        </p:nvSpPr>
        <p:spPr>
          <a:xfrm>
            <a:off x="3602736"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65" name="Text 63"/>
          <p:cNvSpPr txBox="1"/>
          <p:nvPr/>
        </p:nvSpPr>
        <p:spPr>
          <a:xfrm>
            <a:off x="4425696"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66" name="Text 64"/>
          <p:cNvSpPr txBox="1"/>
          <p:nvPr/>
        </p:nvSpPr>
        <p:spPr>
          <a:xfrm>
            <a:off x="4992624"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364</a:t>
            </a:r>
            <a:endParaRPr lang="en-US" sz="1300" dirty="0"/>
          </a:p>
        </p:txBody>
      </p:sp>
      <p:sp>
        <p:nvSpPr>
          <p:cNvPr id="67" name="Text 65"/>
          <p:cNvSpPr txBox="1"/>
          <p:nvPr/>
        </p:nvSpPr>
        <p:spPr>
          <a:xfrm>
            <a:off x="658368"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5348501"/>
            <a:ext cx="346004" cy="178730"/>
          </a:xfrm>
          <a:prstGeom prst="rect">
            <a:avLst/>
          </a:prstGeom>
          <a:solidFill>
            <a:srgbClr val="C2352F"/>
          </a:solidFill>
          <a:ln/>
        </p:spPr>
      </p:sp>
      <p:sp>
        <p:nvSpPr>
          <p:cNvPr id="69" name="Text 67"/>
          <p:cNvSpPr txBox="1"/>
          <p:nvPr/>
        </p:nvSpPr>
        <p:spPr>
          <a:xfrm>
            <a:off x="3602736"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0" name="Text 68"/>
          <p:cNvSpPr txBox="1"/>
          <p:nvPr/>
        </p:nvSpPr>
        <p:spPr>
          <a:xfrm>
            <a:off x="4425696"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1" name="Text 69"/>
          <p:cNvSpPr txBox="1"/>
          <p:nvPr/>
        </p:nvSpPr>
        <p:spPr>
          <a:xfrm>
            <a:off x="4992624"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387</a:t>
            </a:r>
            <a:endParaRPr lang="en-US" sz="1300" dirty="0"/>
          </a:p>
        </p:txBody>
      </p:sp>
      <p:sp>
        <p:nvSpPr>
          <p:cNvPr id="72" name="Text 70"/>
          <p:cNvSpPr txBox="1"/>
          <p:nvPr/>
        </p:nvSpPr>
        <p:spPr>
          <a:xfrm>
            <a:off x="658368"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5673465"/>
            <a:ext cx="345254" cy="178730"/>
          </a:xfrm>
          <a:prstGeom prst="rect">
            <a:avLst/>
          </a:prstGeom>
          <a:solidFill>
            <a:srgbClr val="C2352F"/>
          </a:solidFill>
          <a:ln/>
        </p:spPr>
      </p:sp>
      <p:sp>
        <p:nvSpPr>
          <p:cNvPr id="74" name="Text 72"/>
          <p:cNvSpPr txBox="1"/>
          <p:nvPr/>
        </p:nvSpPr>
        <p:spPr>
          <a:xfrm>
            <a:off x="3602736"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75" name="Text 73"/>
          <p:cNvSpPr txBox="1"/>
          <p:nvPr/>
        </p:nvSpPr>
        <p:spPr>
          <a:xfrm>
            <a:off x="4425696"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76" name="Text 74"/>
          <p:cNvSpPr txBox="1"/>
          <p:nvPr/>
        </p:nvSpPr>
        <p:spPr>
          <a:xfrm>
            <a:off x="4992624"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77" name="Text 75"/>
          <p:cNvSpPr txBox="1"/>
          <p:nvPr/>
        </p:nvSpPr>
        <p:spPr>
          <a:xfrm>
            <a:off x="6208776" y="170078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8" name="Shape 76"/>
          <p:cNvSpPr/>
          <p:nvPr/>
        </p:nvSpPr>
        <p:spPr>
          <a:xfrm>
            <a:off x="8220456" y="1773901"/>
            <a:ext cx="317278" cy="178730"/>
          </a:xfrm>
          <a:prstGeom prst="rect">
            <a:avLst/>
          </a:prstGeom>
          <a:solidFill>
            <a:srgbClr val="C2352F"/>
          </a:solidFill>
          <a:ln/>
        </p:spPr>
      </p:sp>
      <p:sp>
        <p:nvSpPr>
          <p:cNvPr id="79" name="Text 77"/>
          <p:cNvSpPr txBox="1"/>
          <p:nvPr/>
        </p:nvSpPr>
        <p:spPr>
          <a:xfrm>
            <a:off x="9153144" y="170078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80" name="Text 78"/>
          <p:cNvSpPr txBox="1"/>
          <p:nvPr/>
        </p:nvSpPr>
        <p:spPr>
          <a:xfrm>
            <a:off x="9976104" y="170078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81" name="Text 79"/>
          <p:cNvSpPr txBox="1"/>
          <p:nvPr/>
        </p:nvSpPr>
        <p:spPr>
          <a:xfrm>
            <a:off x="10543032" y="170078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313</a:t>
            </a:r>
            <a:endParaRPr lang="en-US" sz="1300" dirty="0"/>
          </a:p>
        </p:txBody>
      </p:sp>
      <p:sp>
        <p:nvSpPr>
          <p:cNvPr id="82" name="Text 80"/>
          <p:cNvSpPr txBox="1"/>
          <p:nvPr/>
        </p:nvSpPr>
        <p:spPr>
          <a:xfrm>
            <a:off x="6208776" y="20257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3" name="Shape 81"/>
          <p:cNvSpPr/>
          <p:nvPr/>
        </p:nvSpPr>
        <p:spPr>
          <a:xfrm>
            <a:off x="8220456" y="2098865"/>
            <a:ext cx="282708" cy="178730"/>
          </a:xfrm>
          <a:prstGeom prst="rect">
            <a:avLst/>
          </a:prstGeom>
          <a:solidFill>
            <a:srgbClr val="C2352F"/>
          </a:solidFill>
          <a:ln/>
        </p:spPr>
      </p:sp>
      <p:sp>
        <p:nvSpPr>
          <p:cNvPr id="84" name="Text 82"/>
          <p:cNvSpPr txBox="1"/>
          <p:nvPr/>
        </p:nvSpPr>
        <p:spPr>
          <a:xfrm>
            <a:off x="9153144" y="20257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85" name="Text 83"/>
          <p:cNvSpPr txBox="1"/>
          <p:nvPr/>
        </p:nvSpPr>
        <p:spPr>
          <a:xfrm>
            <a:off x="9976104" y="20257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86" name="Text 84"/>
          <p:cNvSpPr txBox="1"/>
          <p:nvPr/>
        </p:nvSpPr>
        <p:spPr>
          <a:xfrm>
            <a:off x="10543032" y="20257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a:t>
            </a:r>
            <a:endParaRPr lang="en-US" sz="1300" dirty="0"/>
          </a:p>
        </p:txBody>
      </p:sp>
      <p:sp>
        <p:nvSpPr>
          <p:cNvPr id="87" name="Text 85"/>
          <p:cNvSpPr txBox="1"/>
          <p:nvPr/>
        </p:nvSpPr>
        <p:spPr>
          <a:xfrm>
            <a:off x="6208776" y="235071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88" name="Shape 86"/>
          <p:cNvSpPr/>
          <p:nvPr/>
        </p:nvSpPr>
        <p:spPr>
          <a:xfrm>
            <a:off x="8220456" y="2423828"/>
            <a:ext cx="208181" cy="178730"/>
          </a:xfrm>
          <a:prstGeom prst="rect">
            <a:avLst/>
          </a:prstGeom>
          <a:solidFill>
            <a:srgbClr val="C2352F"/>
          </a:solidFill>
          <a:ln/>
        </p:spPr>
      </p:sp>
      <p:sp>
        <p:nvSpPr>
          <p:cNvPr id="89" name="Text 87"/>
          <p:cNvSpPr txBox="1"/>
          <p:nvPr/>
        </p:nvSpPr>
        <p:spPr>
          <a:xfrm>
            <a:off x="9153144" y="235071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90" name="Text 88"/>
          <p:cNvSpPr txBox="1"/>
          <p:nvPr/>
        </p:nvSpPr>
        <p:spPr>
          <a:xfrm>
            <a:off x="9976104" y="235071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91" name="Text 89"/>
          <p:cNvSpPr txBox="1"/>
          <p:nvPr/>
        </p:nvSpPr>
        <p:spPr>
          <a:xfrm>
            <a:off x="10543032" y="235071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92" name="Text 90"/>
          <p:cNvSpPr txBox="1"/>
          <p:nvPr/>
        </p:nvSpPr>
        <p:spPr>
          <a:xfrm>
            <a:off x="6208776" y="267567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3" name="Shape 91"/>
          <p:cNvSpPr/>
          <p:nvPr/>
        </p:nvSpPr>
        <p:spPr>
          <a:xfrm>
            <a:off x="8220456" y="2748792"/>
            <a:ext cx="178106" cy="178730"/>
          </a:xfrm>
          <a:prstGeom prst="rect">
            <a:avLst/>
          </a:prstGeom>
          <a:solidFill>
            <a:srgbClr val="C2352F"/>
          </a:solidFill>
          <a:ln/>
        </p:spPr>
      </p:sp>
      <p:sp>
        <p:nvSpPr>
          <p:cNvPr id="94" name="Text 92"/>
          <p:cNvSpPr txBox="1"/>
          <p:nvPr/>
        </p:nvSpPr>
        <p:spPr>
          <a:xfrm>
            <a:off x="9153144" y="267567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5" name="Text 93"/>
          <p:cNvSpPr txBox="1"/>
          <p:nvPr/>
        </p:nvSpPr>
        <p:spPr>
          <a:xfrm>
            <a:off x="9976104" y="267567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6" name="Text 94"/>
          <p:cNvSpPr txBox="1"/>
          <p:nvPr/>
        </p:nvSpPr>
        <p:spPr>
          <a:xfrm>
            <a:off x="10543032" y="267567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97" name="Text 95"/>
          <p:cNvSpPr txBox="1"/>
          <p:nvPr/>
        </p:nvSpPr>
        <p:spPr>
          <a:xfrm>
            <a:off x="6208776" y="3000639"/>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8" name="Shape 96"/>
          <p:cNvSpPr/>
          <p:nvPr/>
        </p:nvSpPr>
        <p:spPr>
          <a:xfrm>
            <a:off x="8220456" y="3073756"/>
            <a:ext cx="160825" cy="178730"/>
          </a:xfrm>
          <a:prstGeom prst="rect">
            <a:avLst/>
          </a:prstGeom>
          <a:solidFill>
            <a:srgbClr val="C2352F"/>
          </a:solidFill>
          <a:ln/>
        </p:spPr>
      </p:sp>
      <p:sp>
        <p:nvSpPr>
          <p:cNvPr id="99" name="Text 97"/>
          <p:cNvSpPr txBox="1"/>
          <p:nvPr/>
        </p:nvSpPr>
        <p:spPr>
          <a:xfrm>
            <a:off x="9153144" y="3000639"/>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00" name="Text 98"/>
          <p:cNvSpPr txBox="1"/>
          <p:nvPr/>
        </p:nvSpPr>
        <p:spPr>
          <a:xfrm>
            <a:off x="9976104" y="3000639"/>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01" name="Text 99"/>
          <p:cNvSpPr txBox="1"/>
          <p:nvPr/>
        </p:nvSpPr>
        <p:spPr>
          <a:xfrm>
            <a:off x="10543032" y="3000639"/>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174</a:t>
            </a:r>
            <a:endParaRPr lang="en-US" sz="1300" dirty="0"/>
          </a:p>
        </p:txBody>
      </p:sp>
      <p:sp>
        <p:nvSpPr>
          <p:cNvPr id="102" name="Text 100"/>
          <p:cNvSpPr txBox="1"/>
          <p:nvPr/>
        </p:nvSpPr>
        <p:spPr>
          <a:xfrm>
            <a:off x="6208776" y="3325602"/>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3398719"/>
            <a:ext cx="153735" cy="178730"/>
          </a:xfrm>
          <a:prstGeom prst="rect">
            <a:avLst/>
          </a:prstGeom>
          <a:solidFill>
            <a:srgbClr val="C2352F"/>
          </a:solidFill>
          <a:ln/>
        </p:spPr>
      </p:sp>
      <p:sp>
        <p:nvSpPr>
          <p:cNvPr id="104" name="Text 102"/>
          <p:cNvSpPr txBox="1"/>
          <p:nvPr/>
        </p:nvSpPr>
        <p:spPr>
          <a:xfrm>
            <a:off x="9153144" y="3325602"/>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05" name="Text 103"/>
          <p:cNvSpPr txBox="1"/>
          <p:nvPr/>
        </p:nvSpPr>
        <p:spPr>
          <a:xfrm>
            <a:off x="9976104" y="3325602"/>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6" name="Text 104"/>
          <p:cNvSpPr txBox="1"/>
          <p:nvPr/>
        </p:nvSpPr>
        <p:spPr>
          <a:xfrm>
            <a:off x="10543032" y="3325602"/>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07" name="Text 105"/>
          <p:cNvSpPr txBox="1"/>
          <p:nvPr/>
        </p:nvSpPr>
        <p:spPr>
          <a:xfrm>
            <a:off x="6208776" y="3650566"/>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08" name="Shape 106"/>
          <p:cNvSpPr/>
          <p:nvPr/>
        </p:nvSpPr>
        <p:spPr>
          <a:xfrm>
            <a:off x="8220456" y="3723683"/>
            <a:ext cx="147027" cy="178730"/>
          </a:xfrm>
          <a:prstGeom prst="rect">
            <a:avLst/>
          </a:prstGeom>
          <a:solidFill>
            <a:srgbClr val="C2352F"/>
          </a:solidFill>
          <a:ln/>
        </p:spPr>
      </p:sp>
      <p:sp>
        <p:nvSpPr>
          <p:cNvPr id="109" name="Text 107"/>
          <p:cNvSpPr txBox="1"/>
          <p:nvPr/>
        </p:nvSpPr>
        <p:spPr>
          <a:xfrm>
            <a:off x="9153144" y="3650566"/>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10" name="Text 108"/>
          <p:cNvSpPr txBox="1"/>
          <p:nvPr/>
        </p:nvSpPr>
        <p:spPr>
          <a:xfrm>
            <a:off x="9976104" y="3650566"/>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11" name="Text 109"/>
          <p:cNvSpPr txBox="1"/>
          <p:nvPr/>
        </p:nvSpPr>
        <p:spPr>
          <a:xfrm>
            <a:off x="10543032" y="3650566"/>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2" name="Text 110"/>
          <p:cNvSpPr txBox="1"/>
          <p:nvPr/>
        </p:nvSpPr>
        <p:spPr>
          <a:xfrm>
            <a:off x="6208776" y="3975530"/>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3" name="Shape 111"/>
          <p:cNvSpPr/>
          <p:nvPr/>
        </p:nvSpPr>
        <p:spPr>
          <a:xfrm>
            <a:off x="8220456" y="4048647"/>
            <a:ext cx="130926" cy="178730"/>
          </a:xfrm>
          <a:prstGeom prst="rect">
            <a:avLst/>
          </a:prstGeom>
          <a:solidFill>
            <a:srgbClr val="C2352F"/>
          </a:solidFill>
          <a:ln/>
        </p:spPr>
      </p:sp>
      <p:sp>
        <p:nvSpPr>
          <p:cNvPr id="114" name="Text 112"/>
          <p:cNvSpPr txBox="1"/>
          <p:nvPr/>
        </p:nvSpPr>
        <p:spPr>
          <a:xfrm>
            <a:off x="9153144" y="3975530"/>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5" name="Text 113"/>
          <p:cNvSpPr txBox="1"/>
          <p:nvPr/>
        </p:nvSpPr>
        <p:spPr>
          <a:xfrm>
            <a:off x="9976104" y="3975530"/>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16" name="Text 114"/>
          <p:cNvSpPr txBox="1"/>
          <p:nvPr/>
        </p:nvSpPr>
        <p:spPr>
          <a:xfrm>
            <a:off x="10543032" y="3975530"/>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17" name="Text 115"/>
          <p:cNvSpPr txBox="1"/>
          <p:nvPr/>
        </p:nvSpPr>
        <p:spPr>
          <a:xfrm>
            <a:off x="6208776" y="4300494"/>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8" name="Shape 116"/>
          <p:cNvSpPr/>
          <p:nvPr/>
        </p:nvSpPr>
        <p:spPr>
          <a:xfrm>
            <a:off x="8220456" y="4373610"/>
            <a:ext cx="116489" cy="178730"/>
          </a:xfrm>
          <a:prstGeom prst="rect">
            <a:avLst/>
          </a:prstGeom>
          <a:solidFill>
            <a:srgbClr val="C2352F"/>
          </a:solidFill>
          <a:ln/>
        </p:spPr>
      </p:sp>
      <p:sp>
        <p:nvSpPr>
          <p:cNvPr id="119" name="Text 117"/>
          <p:cNvSpPr txBox="1"/>
          <p:nvPr/>
        </p:nvSpPr>
        <p:spPr>
          <a:xfrm>
            <a:off x="9153144" y="4300494"/>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20" name="Text 118"/>
          <p:cNvSpPr txBox="1"/>
          <p:nvPr/>
        </p:nvSpPr>
        <p:spPr>
          <a:xfrm>
            <a:off x="9976104" y="4300494"/>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121" name="Text 119"/>
          <p:cNvSpPr txBox="1"/>
          <p:nvPr/>
        </p:nvSpPr>
        <p:spPr>
          <a:xfrm>
            <a:off x="10543032" y="4300494"/>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a:t>
            </a:r>
            <a:endParaRPr lang="en-US" sz="1300" dirty="0"/>
          </a:p>
        </p:txBody>
      </p:sp>
      <p:sp>
        <p:nvSpPr>
          <p:cNvPr id="122" name="Text 120"/>
          <p:cNvSpPr txBox="1"/>
          <p:nvPr/>
        </p:nvSpPr>
        <p:spPr>
          <a:xfrm>
            <a:off x="6208776" y="4625457"/>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3" name="Shape 121"/>
          <p:cNvSpPr/>
          <p:nvPr/>
        </p:nvSpPr>
        <p:spPr>
          <a:xfrm>
            <a:off x="8220456" y="4698574"/>
            <a:ext cx="112514" cy="178730"/>
          </a:xfrm>
          <a:prstGeom prst="rect">
            <a:avLst/>
          </a:prstGeom>
          <a:solidFill>
            <a:srgbClr val="C2352F"/>
          </a:solidFill>
          <a:ln/>
        </p:spPr>
      </p:sp>
      <p:sp>
        <p:nvSpPr>
          <p:cNvPr id="124" name="Text 122"/>
          <p:cNvSpPr txBox="1"/>
          <p:nvPr/>
        </p:nvSpPr>
        <p:spPr>
          <a:xfrm>
            <a:off x="9153144" y="4625457"/>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25" name="Text 123"/>
          <p:cNvSpPr txBox="1"/>
          <p:nvPr/>
        </p:nvSpPr>
        <p:spPr>
          <a:xfrm>
            <a:off x="9976104" y="4625457"/>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126" name="Text 124"/>
          <p:cNvSpPr txBox="1"/>
          <p:nvPr/>
        </p:nvSpPr>
        <p:spPr>
          <a:xfrm>
            <a:off x="10543032" y="4625457"/>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27" name="Text 125"/>
          <p:cNvSpPr txBox="1"/>
          <p:nvPr/>
        </p:nvSpPr>
        <p:spPr>
          <a:xfrm>
            <a:off x="6208776" y="4950421"/>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5023538"/>
            <a:ext cx="78509" cy="178730"/>
          </a:xfrm>
          <a:prstGeom prst="rect">
            <a:avLst/>
          </a:prstGeom>
          <a:solidFill>
            <a:srgbClr val="C2352F"/>
          </a:solidFill>
          <a:ln/>
        </p:spPr>
      </p:sp>
      <p:sp>
        <p:nvSpPr>
          <p:cNvPr id="129" name="Text 127"/>
          <p:cNvSpPr txBox="1"/>
          <p:nvPr/>
        </p:nvSpPr>
        <p:spPr>
          <a:xfrm>
            <a:off x="9153144" y="4950421"/>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30" name="Text 128"/>
          <p:cNvSpPr txBox="1"/>
          <p:nvPr/>
        </p:nvSpPr>
        <p:spPr>
          <a:xfrm>
            <a:off x="9976104" y="4950421"/>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31" name="Text 129"/>
          <p:cNvSpPr txBox="1"/>
          <p:nvPr/>
        </p:nvSpPr>
        <p:spPr>
          <a:xfrm>
            <a:off x="10543032" y="4950421"/>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2" name="Text 130"/>
          <p:cNvSpPr txBox="1"/>
          <p:nvPr/>
        </p:nvSpPr>
        <p:spPr>
          <a:xfrm>
            <a:off x="6208776" y="5275385"/>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5348501"/>
            <a:ext cx="62960" cy="178730"/>
          </a:xfrm>
          <a:prstGeom prst="rect">
            <a:avLst/>
          </a:prstGeom>
          <a:solidFill>
            <a:srgbClr val="C2352F"/>
          </a:solidFill>
          <a:ln/>
        </p:spPr>
      </p:sp>
      <p:sp>
        <p:nvSpPr>
          <p:cNvPr id="134" name="Text 132"/>
          <p:cNvSpPr txBox="1"/>
          <p:nvPr/>
        </p:nvSpPr>
        <p:spPr>
          <a:xfrm>
            <a:off x="9153144" y="5275385"/>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35" name="Text 133"/>
          <p:cNvSpPr txBox="1"/>
          <p:nvPr/>
        </p:nvSpPr>
        <p:spPr>
          <a:xfrm>
            <a:off x="9976104" y="5275385"/>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36" name="Text 134"/>
          <p:cNvSpPr txBox="1"/>
          <p:nvPr/>
        </p:nvSpPr>
        <p:spPr>
          <a:xfrm>
            <a:off x="10543032" y="5275385"/>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37" name="Text 135"/>
          <p:cNvSpPr txBox="1"/>
          <p:nvPr/>
        </p:nvSpPr>
        <p:spPr>
          <a:xfrm>
            <a:off x="6208776" y="5600348"/>
            <a:ext cx="193852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220456" y="5673465"/>
            <a:ext cx="18288" cy="178730"/>
          </a:xfrm>
          <a:prstGeom prst="rect">
            <a:avLst/>
          </a:prstGeom>
          <a:solidFill>
            <a:srgbClr val="C2352F"/>
          </a:solidFill>
          <a:ln/>
        </p:spPr>
      </p:sp>
      <p:sp>
        <p:nvSpPr>
          <p:cNvPr id="139" name="Text 137"/>
          <p:cNvSpPr txBox="1"/>
          <p:nvPr/>
        </p:nvSpPr>
        <p:spPr>
          <a:xfrm>
            <a:off x="9153144" y="5600348"/>
            <a:ext cx="822960" cy="324964"/>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40" name="Text 138"/>
          <p:cNvSpPr txBox="1"/>
          <p:nvPr/>
        </p:nvSpPr>
        <p:spPr>
          <a:xfrm>
            <a:off x="9976104" y="5600348"/>
            <a:ext cx="566928"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41" name="Text 139"/>
          <p:cNvSpPr txBox="1"/>
          <p:nvPr/>
        </p:nvSpPr>
        <p:spPr>
          <a:xfrm>
            <a:off x="10543032" y="5600348"/>
            <a:ext cx="877824" cy="32496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42" name="Shape 140"/>
          <p:cNvSpPr/>
          <p:nvPr/>
        </p:nvSpPr>
        <p:spPr>
          <a:xfrm>
            <a:off x="457200" y="6126480"/>
            <a:ext cx="11274552" cy="371856"/>
          </a:xfrm>
          <a:prstGeom prst="rect">
            <a:avLst/>
          </a:prstGeom>
          <a:solidFill>
            <a:srgbClr val="FBEBEA"/>
          </a:solidFill>
          <a:ln/>
        </p:spPr>
      </p:sp>
      <p:sp>
        <p:nvSpPr>
          <p:cNvPr id="143" name="Text 14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leave $1,356,881 a year: 8,527 services. Chevy LV has the most at $142,290.</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Missed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602736"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25696"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9" name="Text 7"/>
          <p:cNvSpPr txBox="1"/>
          <p:nvPr/>
        </p:nvSpPr>
        <p:spPr>
          <a:xfrm>
            <a:off x="915314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76104" y="1316736"/>
            <a:ext cx="60350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Below</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Services</a:t>
            </a:r>
            <a:endParaRPr lang="en-US" sz="1400" dirty="0"/>
          </a:p>
        </p:txBody>
      </p:sp>
      <p:sp>
        <p:nvSpPr>
          <p:cNvPr id="12" name="Text 10"/>
          <p:cNvSpPr txBox="1"/>
          <p:nvPr/>
        </p:nvSpPr>
        <p:spPr>
          <a:xfrm>
            <a:off x="658368"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3" name="Shape 11"/>
          <p:cNvSpPr/>
          <p:nvPr/>
        </p:nvSpPr>
        <p:spPr>
          <a:xfrm>
            <a:off x="2670048" y="1760191"/>
            <a:ext cx="877824" cy="145218"/>
          </a:xfrm>
          <a:prstGeom prst="rect">
            <a:avLst/>
          </a:prstGeom>
          <a:solidFill>
            <a:srgbClr val="C2352F"/>
          </a:solidFill>
          <a:ln/>
        </p:spPr>
      </p:sp>
      <p:sp>
        <p:nvSpPr>
          <p:cNvPr id="14" name="Text 12"/>
          <p:cNvSpPr txBox="1"/>
          <p:nvPr/>
        </p:nvSpPr>
        <p:spPr>
          <a:xfrm>
            <a:off x="3602736"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5" name="Text 13"/>
          <p:cNvSpPr txBox="1"/>
          <p:nvPr/>
        </p:nvSpPr>
        <p:spPr>
          <a:xfrm>
            <a:off x="4425696"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6" name="Text 14"/>
          <p:cNvSpPr txBox="1"/>
          <p:nvPr/>
        </p:nvSpPr>
        <p:spPr>
          <a:xfrm>
            <a:off x="5029200"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6,921</a:t>
            </a:r>
            <a:endParaRPr lang="en-US" sz="1300" dirty="0"/>
          </a:p>
        </p:txBody>
      </p:sp>
      <p:sp>
        <p:nvSpPr>
          <p:cNvPr id="17" name="Text 15"/>
          <p:cNvSpPr txBox="1"/>
          <p:nvPr/>
        </p:nvSpPr>
        <p:spPr>
          <a:xfrm>
            <a:off x="658368"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24224"/>
            <a:ext cx="770483" cy="145218"/>
          </a:xfrm>
          <a:prstGeom prst="rect">
            <a:avLst/>
          </a:prstGeom>
          <a:solidFill>
            <a:srgbClr val="C2352F"/>
          </a:solidFill>
          <a:ln/>
        </p:spPr>
      </p:sp>
      <p:sp>
        <p:nvSpPr>
          <p:cNvPr id="19" name="Text 17"/>
          <p:cNvSpPr txBox="1"/>
          <p:nvPr/>
        </p:nvSpPr>
        <p:spPr>
          <a:xfrm>
            <a:off x="3602736"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20" name="Text 18"/>
          <p:cNvSpPr txBox="1"/>
          <p:nvPr/>
        </p:nvSpPr>
        <p:spPr>
          <a:xfrm>
            <a:off x="4425696"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1" name="Text 19"/>
          <p:cNvSpPr txBox="1"/>
          <p:nvPr/>
        </p:nvSpPr>
        <p:spPr>
          <a:xfrm>
            <a:off x="5029200"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4,236</a:t>
            </a:r>
            <a:endParaRPr lang="en-US" sz="1300" dirty="0"/>
          </a:p>
        </p:txBody>
      </p:sp>
      <p:sp>
        <p:nvSpPr>
          <p:cNvPr id="22" name="Text 20"/>
          <p:cNvSpPr txBox="1"/>
          <p:nvPr/>
        </p:nvSpPr>
        <p:spPr>
          <a:xfrm>
            <a:off x="658368"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3" name="Shape 21"/>
          <p:cNvSpPr/>
          <p:nvPr/>
        </p:nvSpPr>
        <p:spPr>
          <a:xfrm>
            <a:off x="2670048" y="2288257"/>
            <a:ext cx="577040" cy="145218"/>
          </a:xfrm>
          <a:prstGeom prst="rect">
            <a:avLst/>
          </a:prstGeom>
          <a:solidFill>
            <a:srgbClr val="C2352F"/>
          </a:solidFill>
          <a:ln/>
        </p:spPr>
      </p:sp>
      <p:sp>
        <p:nvSpPr>
          <p:cNvPr id="24" name="Text 22"/>
          <p:cNvSpPr txBox="1"/>
          <p:nvPr/>
        </p:nvSpPr>
        <p:spPr>
          <a:xfrm>
            <a:off x="3602736"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25" name="Text 23"/>
          <p:cNvSpPr txBox="1"/>
          <p:nvPr/>
        </p:nvSpPr>
        <p:spPr>
          <a:xfrm>
            <a:off x="4425696"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26" name="Text 24"/>
          <p:cNvSpPr txBox="1"/>
          <p:nvPr/>
        </p:nvSpPr>
        <p:spPr>
          <a:xfrm>
            <a:off x="5029200"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4,659</a:t>
            </a:r>
            <a:endParaRPr lang="en-US" sz="1300" dirty="0"/>
          </a:p>
        </p:txBody>
      </p:sp>
      <p:sp>
        <p:nvSpPr>
          <p:cNvPr id="27" name="Text 25"/>
          <p:cNvSpPr txBox="1"/>
          <p:nvPr/>
        </p:nvSpPr>
        <p:spPr>
          <a:xfrm>
            <a:off x="658368"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8" name="Shape 26"/>
          <p:cNvSpPr/>
          <p:nvPr/>
        </p:nvSpPr>
        <p:spPr>
          <a:xfrm>
            <a:off x="2670048" y="2552290"/>
            <a:ext cx="501457" cy="145218"/>
          </a:xfrm>
          <a:prstGeom prst="rect">
            <a:avLst/>
          </a:prstGeom>
          <a:solidFill>
            <a:srgbClr val="C2352F"/>
          </a:solidFill>
          <a:ln/>
        </p:spPr>
      </p:sp>
      <p:sp>
        <p:nvSpPr>
          <p:cNvPr id="29" name="Text 27"/>
          <p:cNvSpPr txBox="1"/>
          <p:nvPr/>
        </p:nvSpPr>
        <p:spPr>
          <a:xfrm>
            <a:off x="3602736"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$309K</a:t>
            </a:r>
            <a:endParaRPr lang="en-US" sz="1300" dirty="0"/>
          </a:p>
        </p:txBody>
      </p:sp>
      <p:sp>
        <p:nvSpPr>
          <p:cNvPr id="30" name="Text 28"/>
          <p:cNvSpPr txBox="1"/>
          <p:nvPr/>
        </p:nvSpPr>
        <p:spPr>
          <a:xfrm>
            <a:off x="4425696"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31" name="Text 29"/>
          <p:cNvSpPr txBox="1"/>
          <p:nvPr/>
        </p:nvSpPr>
        <p:spPr>
          <a:xfrm>
            <a:off x="5029200"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4,054</a:t>
            </a:r>
            <a:endParaRPr lang="en-US" sz="1300" dirty="0"/>
          </a:p>
        </p:txBody>
      </p:sp>
      <p:sp>
        <p:nvSpPr>
          <p:cNvPr id="32" name="Text 30"/>
          <p:cNvSpPr txBox="1"/>
          <p:nvPr/>
        </p:nvSpPr>
        <p:spPr>
          <a:xfrm>
            <a:off x="658368"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3" name="Shape 31"/>
          <p:cNvSpPr/>
          <p:nvPr/>
        </p:nvSpPr>
        <p:spPr>
          <a:xfrm>
            <a:off x="2670048" y="2816323"/>
            <a:ext cx="400038" cy="145218"/>
          </a:xfrm>
          <a:prstGeom prst="rect">
            <a:avLst/>
          </a:prstGeom>
          <a:solidFill>
            <a:srgbClr val="C2352F"/>
          </a:solidFill>
          <a:ln/>
        </p:spPr>
      </p:sp>
      <p:sp>
        <p:nvSpPr>
          <p:cNvPr id="34" name="Text 32"/>
          <p:cNvSpPr txBox="1"/>
          <p:nvPr/>
        </p:nvSpPr>
        <p:spPr>
          <a:xfrm>
            <a:off x="3602736"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35" name="Text 33"/>
          <p:cNvSpPr txBox="1"/>
          <p:nvPr/>
        </p:nvSpPr>
        <p:spPr>
          <a:xfrm>
            <a:off x="4425696"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36" name="Text 34"/>
          <p:cNvSpPr txBox="1"/>
          <p:nvPr/>
        </p:nvSpPr>
        <p:spPr>
          <a:xfrm>
            <a:off x="5029200"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2,278</a:t>
            </a:r>
            <a:endParaRPr lang="en-US" sz="1300" dirty="0"/>
          </a:p>
        </p:txBody>
      </p:sp>
      <p:sp>
        <p:nvSpPr>
          <p:cNvPr id="37" name="Text 35"/>
          <p:cNvSpPr txBox="1"/>
          <p:nvPr/>
        </p:nvSpPr>
        <p:spPr>
          <a:xfrm>
            <a:off x="658368"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8" name="Shape 36"/>
          <p:cNvSpPr/>
          <p:nvPr/>
        </p:nvSpPr>
        <p:spPr>
          <a:xfrm>
            <a:off x="2670048" y="3080356"/>
            <a:ext cx="397072" cy="145218"/>
          </a:xfrm>
          <a:prstGeom prst="rect">
            <a:avLst/>
          </a:prstGeom>
          <a:solidFill>
            <a:srgbClr val="C2352F"/>
          </a:solidFill>
          <a:ln/>
        </p:spPr>
      </p:sp>
      <p:sp>
        <p:nvSpPr>
          <p:cNvPr id="39" name="Text 37"/>
          <p:cNvSpPr txBox="1"/>
          <p:nvPr/>
        </p:nvSpPr>
        <p:spPr>
          <a:xfrm>
            <a:off x="3602736"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40" name="Text 38"/>
          <p:cNvSpPr txBox="1"/>
          <p:nvPr/>
        </p:nvSpPr>
        <p:spPr>
          <a:xfrm>
            <a:off x="4425696"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1" name="Text 39"/>
          <p:cNvSpPr txBox="1"/>
          <p:nvPr/>
        </p:nvSpPr>
        <p:spPr>
          <a:xfrm>
            <a:off x="5029200"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2,484</a:t>
            </a:r>
            <a:endParaRPr lang="en-US" sz="1300" dirty="0"/>
          </a:p>
        </p:txBody>
      </p:sp>
      <p:sp>
        <p:nvSpPr>
          <p:cNvPr id="42" name="Text 40"/>
          <p:cNvSpPr txBox="1"/>
          <p:nvPr/>
        </p:nvSpPr>
        <p:spPr>
          <a:xfrm>
            <a:off x="658368"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344389"/>
            <a:ext cx="377578" cy="145218"/>
          </a:xfrm>
          <a:prstGeom prst="rect">
            <a:avLst/>
          </a:prstGeom>
          <a:solidFill>
            <a:srgbClr val="C2352F"/>
          </a:solidFill>
          <a:ln/>
        </p:spPr>
      </p:sp>
      <p:sp>
        <p:nvSpPr>
          <p:cNvPr id="44" name="Text 42"/>
          <p:cNvSpPr txBox="1"/>
          <p:nvPr/>
        </p:nvSpPr>
        <p:spPr>
          <a:xfrm>
            <a:off x="3602736"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45" name="Text 43"/>
          <p:cNvSpPr txBox="1"/>
          <p:nvPr/>
        </p:nvSpPr>
        <p:spPr>
          <a:xfrm>
            <a:off x="4425696"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46" name="Text 44"/>
          <p:cNvSpPr txBox="1"/>
          <p:nvPr/>
        </p:nvSpPr>
        <p:spPr>
          <a:xfrm>
            <a:off x="5029200"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2,541</a:t>
            </a:r>
            <a:endParaRPr lang="en-US" sz="1300" dirty="0"/>
          </a:p>
        </p:txBody>
      </p:sp>
      <p:sp>
        <p:nvSpPr>
          <p:cNvPr id="47" name="Text 45"/>
          <p:cNvSpPr txBox="1"/>
          <p:nvPr/>
        </p:nvSpPr>
        <p:spPr>
          <a:xfrm>
            <a:off x="658368"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48" name="Shape 46"/>
          <p:cNvSpPr/>
          <p:nvPr/>
        </p:nvSpPr>
        <p:spPr>
          <a:xfrm>
            <a:off x="2670048" y="3608422"/>
            <a:ext cx="362401" cy="145218"/>
          </a:xfrm>
          <a:prstGeom prst="rect">
            <a:avLst/>
          </a:prstGeom>
          <a:solidFill>
            <a:srgbClr val="C2352F"/>
          </a:solidFill>
          <a:ln/>
        </p:spPr>
      </p:sp>
      <p:sp>
        <p:nvSpPr>
          <p:cNvPr id="49" name="Text 47"/>
          <p:cNvSpPr txBox="1"/>
          <p:nvPr/>
        </p:nvSpPr>
        <p:spPr>
          <a:xfrm>
            <a:off x="3602736"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$223K</a:t>
            </a:r>
            <a:endParaRPr lang="en-US" sz="1300" dirty="0"/>
          </a:p>
        </p:txBody>
      </p:sp>
      <p:sp>
        <p:nvSpPr>
          <p:cNvPr id="50" name="Text 48"/>
          <p:cNvSpPr txBox="1"/>
          <p:nvPr/>
        </p:nvSpPr>
        <p:spPr>
          <a:xfrm>
            <a:off x="4425696"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51" name="Text 49"/>
          <p:cNvSpPr txBox="1"/>
          <p:nvPr/>
        </p:nvSpPr>
        <p:spPr>
          <a:xfrm>
            <a:off x="5029200"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2,304</a:t>
            </a:r>
            <a:endParaRPr lang="en-US" sz="1300" dirty="0"/>
          </a:p>
        </p:txBody>
      </p:sp>
      <p:sp>
        <p:nvSpPr>
          <p:cNvPr id="52" name="Text 50"/>
          <p:cNvSpPr txBox="1"/>
          <p:nvPr/>
        </p:nvSpPr>
        <p:spPr>
          <a:xfrm>
            <a:off x="658368"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3" name="Shape 51"/>
          <p:cNvSpPr/>
          <p:nvPr/>
        </p:nvSpPr>
        <p:spPr>
          <a:xfrm>
            <a:off x="2670048" y="3872455"/>
            <a:ext cx="349788" cy="145218"/>
          </a:xfrm>
          <a:prstGeom prst="rect">
            <a:avLst/>
          </a:prstGeom>
          <a:solidFill>
            <a:srgbClr val="C2352F"/>
          </a:solidFill>
          <a:ln/>
        </p:spPr>
      </p:sp>
      <p:sp>
        <p:nvSpPr>
          <p:cNvPr id="54" name="Text 52"/>
          <p:cNvSpPr txBox="1"/>
          <p:nvPr/>
        </p:nvSpPr>
        <p:spPr>
          <a:xfrm>
            <a:off x="3602736"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55" name="Text 53"/>
          <p:cNvSpPr txBox="1"/>
          <p:nvPr/>
        </p:nvSpPr>
        <p:spPr>
          <a:xfrm>
            <a:off x="4425696"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56" name="Text 54"/>
          <p:cNvSpPr txBox="1"/>
          <p:nvPr/>
        </p:nvSpPr>
        <p:spPr>
          <a:xfrm>
            <a:off x="5029200"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1,536</a:t>
            </a:r>
            <a:endParaRPr lang="en-US" sz="1300" dirty="0"/>
          </a:p>
        </p:txBody>
      </p:sp>
      <p:sp>
        <p:nvSpPr>
          <p:cNvPr id="57" name="Text 55"/>
          <p:cNvSpPr txBox="1"/>
          <p:nvPr/>
        </p:nvSpPr>
        <p:spPr>
          <a:xfrm>
            <a:off x="658368"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58" name="Shape 56"/>
          <p:cNvSpPr/>
          <p:nvPr/>
        </p:nvSpPr>
        <p:spPr>
          <a:xfrm>
            <a:off x="2670048" y="4136488"/>
            <a:ext cx="324451" cy="145218"/>
          </a:xfrm>
          <a:prstGeom prst="rect">
            <a:avLst/>
          </a:prstGeom>
          <a:solidFill>
            <a:srgbClr val="C2352F"/>
          </a:solidFill>
          <a:ln/>
        </p:spPr>
      </p:sp>
      <p:sp>
        <p:nvSpPr>
          <p:cNvPr id="59" name="Text 57"/>
          <p:cNvSpPr txBox="1"/>
          <p:nvPr/>
        </p:nvSpPr>
        <p:spPr>
          <a:xfrm>
            <a:off x="3602736"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60" name="Text 58"/>
          <p:cNvSpPr txBox="1"/>
          <p:nvPr/>
        </p:nvSpPr>
        <p:spPr>
          <a:xfrm>
            <a:off x="4425696"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61" name="Text 59"/>
          <p:cNvSpPr txBox="1"/>
          <p:nvPr/>
        </p:nvSpPr>
        <p:spPr>
          <a:xfrm>
            <a:off x="5029200"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1,676</a:t>
            </a:r>
            <a:endParaRPr lang="en-US" sz="1300" dirty="0"/>
          </a:p>
        </p:txBody>
      </p:sp>
      <p:sp>
        <p:nvSpPr>
          <p:cNvPr id="62" name="Text 60"/>
          <p:cNvSpPr txBox="1"/>
          <p:nvPr/>
        </p:nvSpPr>
        <p:spPr>
          <a:xfrm>
            <a:off x="658368"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63" name="Shape 61"/>
          <p:cNvSpPr/>
          <p:nvPr/>
        </p:nvSpPr>
        <p:spPr>
          <a:xfrm>
            <a:off x="2670048" y="4400521"/>
            <a:ext cx="312937" cy="145218"/>
          </a:xfrm>
          <a:prstGeom prst="rect">
            <a:avLst/>
          </a:prstGeom>
          <a:solidFill>
            <a:srgbClr val="C2352F"/>
          </a:solidFill>
          <a:ln/>
        </p:spPr>
      </p:sp>
      <p:sp>
        <p:nvSpPr>
          <p:cNvPr id="64" name="Text 62"/>
          <p:cNvSpPr txBox="1"/>
          <p:nvPr/>
        </p:nvSpPr>
        <p:spPr>
          <a:xfrm>
            <a:off x="3602736"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$193K</a:t>
            </a:r>
            <a:endParaRPr lang="en-US" sz="1300" dirty="0"/>
          </a:p>
        </p:txBody>
      </p:sp>
      <p:sp>
        <p:nvSpPr>
          <p:cNvPr id="65" name="Text 63"/>
          <p:cNvSpPr txBox="1"/>
          <p:nvPr/>
        </p:nvSpPr>
        <p:spPr>
          <a:xfrm>
            <a:off x="4425696"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66" name="Text 64"/>
          <p:cNvSpPr txBox="1"/>
          <p:nvPr/>
        </p:nvSpPr>
        <p:spPr>
          <a:xfrm>
            <a:off x="5029200"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1,512</a:t>
            </a:r>
            <a:endParaRPr lang="en-US" sz="1300" dirty="0"/>
          </a:p>
        </p:txBody>
      </p:sp>
      <p:sp>
        <p:nvSpPr>
          <p:cNvPr id="67" name="Text 65"/>
          <p:cNvSpPr txBox="1"/>
          <p:nvPr/>
        </p:nvSpPr>
        <p:spPr>
          <a:xfrm>
            <a:off x="658368"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2670048" y="4664554"/>
            <a:ext cx="310634" cy="145218"/>
          </a:xfrm>
          <a:prstGeom prst="rect">
            <a:avLst/>
          </a:prstGeom>
          <a:solidFill>
            <a:srgbClr val="C2352F"/>
          </a:solidFill>
          <a:ln/>
        </p:spPr>
      </p:sp>
      <p:sp>
        <p:nvSpPr>
          <p:cNvPr id="69" name="Text 67"/>
          <p:cNvSpPr txBox="1"/>
          <p:nvPr/>
        </p:nvSpPr>
        <p:spPr>
          <a:xfrm>
            <a:off x="3602736"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$191K</a:t>
            </a:r>
            <a:endParaRPr lang="en-US" sz="1300" dirty="0"/>
          </a:p>
        </p:txBody>
      </p:sp>
      <p:sp>
        <p:nvSpPr>
          <p:cNvPr id="70" name="Text 68"/>
          <p:cNvSpPr txBox="1"/>
          <p:nvPr/>
        </p:nvSpPr>
        <p:spPr>
          <a:xfrm>
            <a:off x="4425696"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71" name="Text 69"/>
          <p:cNvSpPr txBox="1"/>
          <p:nvPr/>
        </p:nvSpPr>
        <p:spPr>
          <a:xfrm>
            <a:off x="5029200"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2,329</a:t>
            </a:r>
            <a:endParaRPr lang="en-US" sz="1300" dirty="0"/>
          </a:p>
        </p:txBody>
      </p:sp>
      <p:sp>
        <p:nvSpPr>
          <p:cNvPr id="72" name="Text 70"/>
          <p:cNvSpPr txBox="1"/>
          <p:nvPr/>
        </p:nvSpPr>
        <p:spPr>
          <a:xfrm>
            <a:off x="658368"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3" name="Shape 71"/>
          <p:cNvSpPr/>
          <p:nvPr/>
        </p:nvSpPr>
        <p:spPr>
          <a:xfrm>
            <a:off x="2670048" y="4928587"/>
            <a:ext cx="239376" cy="145218"/>
          </a:xfrm>
          <a:prstGeom prst="rect">
            <a:avLst/>
          </a:prstGeom>
          <a:solidFill>
            <a:srgbClr val="C2352F"/>
          </a:solidFill>
          <a:ln/>
        </p:spPr>
      </p:sp>
      <p:sp>
        <p:nvSpPr>
          <p:cNvPr id="74" name="Text 72"/>
          <p:cNvSpPr txBox="1"/>
          <p:nvPr/>
        </p:nvSpPr>
        <p:spPr>
          <a:xfrm>
            <a:off x="3602736"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$148K</a:t>
            </a:r>
            <a:endParaRPr lang="en-US" sz="1300" dirty="0"/>
          </a:p>
        </p:txBody>
      </p:sp>
      <p:sp>
        <p:nvSpPr>
          <p:cNvPr id="75" name="Text 73"/>
          <p:cNvSpPr txBox="1"/>
          <p:nvPr/>
        </p:nvSpPr>
        <p:spPr>
          <a:xfrm>
            <a:off x="4425696"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76" name="Text 74"/>
          <p:cNvSpPr txBox="1"/>
          <p:nvPr/>
        </p:nvSpPr>
        <p:spPr>
          <a:xfrm>
            <a:off x="5029200"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1,128</a:t>
            </a:r>
            <a:endParaRPr lang="en-US" sz="1300" dirty="0"/>
          </a:p>
        </p:txBody>
      </p:sp>
      <p:sp>
        <p:nvSpPr>
          <p:cNvPr id="77" name="Text 75"/>
          <p:cNvSpPr txBox="1"/>
          <p:nvPr/>
        </p:nvSpPr>
        <p:spPr>
          <a:xfrm>
            <a:off x="658368"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8" name="Shape 76"/>
          <p:cNvSpPr/>
          <p:nvPr/>
        </p:nvSpPr>
        <p:spPr>
          <a:xfrm>
            <a:off x="2670048" y="5192620"/>
            <a:ext cx="227976" cy="145218"/>
          </a:xfrm>
          <a:prstGeom prst="rect">
            <a:avLst/>
          </a:prstGeom>
          <a:solidFill>
            <a:srgbClr val="C2352F"/>
          </a:solidFill>
          <a:ln/>
        </p:spPr>
      </p:sp>
      <p:sp>
        <p:nvSpPr>
          <p:cNvPr id="79" name="Text 77"/>
          <p:cNvSpPr txBox="1"/>
          <p:nvPr/>
        </p:nvSpPr>
        <p:spPr>
          <a:xfrm>
            <a:off x="3602736"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80" name="Text 78"/>
          <p:cNvSpPr txBox="1"/>
          <p:nvPr/>
        </p:nvSpPr>
        <p:spPr>
          <a:xfrm>
            <a:off x="4425696"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1" name="Text 79"/>
          <p:cNvSpPr txBox="1"/>
          <p:nvPr/>
        </p:nvSpPr>
        <p:spPr>
          <a:xfrm>
            <a:off x="5029200"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1,424</a:t>
            </a:r>
            <a:endParaRPr lang="en-US" sz="1300" dirty="0"/>
          </a:p>
        </p:txBody>
      </p:sp>
      <p:sp>
        <p:nvSpPr>
          <p:cNvPr id="82" name="Text 80"/>
          <p:cNvSpPr txBox="1"/>
          <p:nvPr/>
        </p:nvSpPr>
        <p:spPr>
          <a:xfrm>
            <a:off x="658368"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456653"/>
            <a:ext cx="226887" cy="145218"/>
          </a:xfrm>
          <a:prstGeom prst="rect">
            <a:avLst/>
          </a:prstGeom>
          <a:solidFill>
            <a:srgbClr val="C2352F"/>
          </a:solidFill>
          <a:ln/>
        </p:spPr>
      </p:sp>
      <p:sp>
        <p:nvSpPr>
          <p:cNvPr id="84" name="Text 82"/>
          <p:cNvSpPr txBox="1"/>
          <p:nvPr/>
        </p:nvSpPr>
        <p:spPr>
          <a:xfrm>
            <a:off x="3602736"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85" name="Text 83"/>
          <p:cNvSpPr txBox="1"/>
          <p:nvPr/>
        </p:nvSpPr>
        <p:spPr>
          <a:xfrm>
            <a:off x="4425696"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86" name="Text 84"/>
          <p:cNvSpPr txBox="1"/>
          <p:nvPr/>
        </p:nvSpPr>
        <p:spPr>
          <a:xfrm>
            <a:off x="5029200"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1,103</a:t>
            </a:r>
            <a:endParaRPr lang="en-US" sz="1300" dirty="0"/>
          </a:p>
        </p:txBody>
      </p:sp>
      <p:sp>
        <p:nvSpPr>
          <p:cNvPr id="87" name="Text 85"/>
          <p:cNvSpPr txBox="1"/>
          <p:nvPr/>
        </p:nvSpPr>
        <p:spPr>
          <a:xfrm>
            <a:off x="658368"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2670048" y="5720686"/>
            <a:ext cx="215338" cy="145218"/>
          </a:xfrm>
          <a:prstGeom prst="rect">
            <a:avLst/>
          </a:prstGeom>
          <a:solidFill>
            <a:srgbClr val="C2352F"/>
          </a:solidFill>
          <a:ln/>
        </p:spPr>
      </p:sp>
      <p:sp>
        <p:nvSpPr>
          <p:cNvPr id="89" name="Text 87"/>
          <p:cNvSpPr txBox="1"/>
          <p:nvPr/>
        </p:nvSpPr>
        <p:spPr>
          <a:xfrm>
            <a:off x="3602736"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4425696"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1" name="Text 89"/>
          <p:cNvSpPr txBox="1"/>
          <p:nvPr/>
        </p:nvSpPr>
        <p:spPr>
          <a:xfrm>
            <a:off x="5029200"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1,466</a:t>
            </a:r>
            <a:endParaRPr lang="en-US" sz="1300" dirty="0"/>
          </a:p>
        </p:txBody>
      </p:sp>
      <p:sp>
        <p:nvSpPr>
          <p:cNvPr id="92" name="Text 90"/>
          <p:cNvSpPr txBox="1"/>
          <p:nvPr/>
        </p:nvSpPr>
        <p:spPr>
          <a:xfrm>
            <a:off x="6208776" y="170078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3" name="Shape 91"/>
          <p:cNvSpPr/>
          <p:nvPr/>
        </p:nvSpPr>
        <p:spPr>
          <a:xfrm>
            <a:off x="8220456" y="1760191"/>
            <a:ext cx="204347" cy="145218"/>
          </a:xfrm>
          <a:prstGeom prst="rect">
            <a:avLst/>
          </a:prstGeom>
          <a:solidFill>
            <a:srgbClr val="C2352F"/>
          </a:solidFill>
          <a:ln/>
        </p:spPr>
      </p:sp>
      <p:sp>
        <p:nvSpPr>
          <p:cNvPr id="94" name="Text 92"/>
          <p:cNvSpPr txBox="1"/>
          <p:nvPr/>
        </p:nvSpPr>
        <p:spPr>
          <a:xfrm>
            <a:off x="9153144" y="170078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95" name="Text 93"/>
          <p:cNvSpPr txBox="1"/>
          <p:nvPr/>
        </p:nvSpPr>
        <p:spPr>
          <a:xfrm>
            <a:off x="9976104" y="170078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96" name="Text 94"/>
          <p:cNvSpPr txBox="1"/>
          <p:nvPr/>
        </p:nvSpPr>
        <p:spPr>
          <a:xfrm>
            <a:off x="10579608" y="170078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1,273</a:t>
            </a:r>
            <a:endParaRPr lang="en-US" sz="1300" dirty="0"/>
          </a:p>
        </p:txBody>
      </p:sp>
      <p:sp>
        <p:nvSpPr>
          <p:cNvPr id="97" name="Text 95"/>
          <p:cNvSpPr txBox="1"/>
          <p:nvPr/>
        </p:nvSpPr>
        <p:spPr>
          <a:xfrm>
            <a:off x="6208776" y="196481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98" name="Shape 96"/>
          <p:cNvSpPr/>
          <p:nvPr/>
        </p:nvSpPr>
        <p:spPr>
          <a:xfrm>
            <a:off x="8220456" y="2024224"/>
            <a:ext cx="142425" cy="145218"/>
          </a:xfrm>
          <a:prstGeom prst="rect">
            <a:avLst/>
          </a:prstGeom>
          <a:solidFill>
            <a:srgbClr val="C2352F"/>
          </a:solidFill>
          <a:ln/>
        </p:spPr>
      </p:sp>
      <p:sp>
        <p:nvSpPr>
          <p:cNvPr id="99" name="Text 97"/>
          <p:cNvSpPr txBox="1"/>
          <p:nvPr/>
        </p:nvSpPr>
        <p:spPr>
          <a:xfrm>
            <a:off x="9153144" y="196481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0" name="Text 98"/>
          <p:cNvSpPr txBox="1"/>
          <p:nvPr/>
        </p:nvSpPr>
        <p:spPr>
          <a:xfrm>
            <a:off x="9976104" y="196481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01" name="Text 99"/>
          <p:cNvSpPr txBox="1"/>
          <p:nvPr/>
        </p:nvSpPr>
        <p:spPr>
          <a:xfrm>
            <a:off x="10579608" y="196481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1,070</a:t>
            </a:r>
            <a:endParaRPr lang="en-US" sz="1300" dirty="0"/>
          </a:p>
        </p:txBody>
      </p:sp>
      <p:sp>
        <p:nvSpPr>
          <p:cNvPr id="102" name="Text 100"/>
          <p:cNvSpPr txBox="1"/>
          <p:nvPr/>
        </p:nvSpPr>
        <p:spPr>
          <a:xfrm>
            <a:off x="6208776" y="222885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3" name="Shape 101"/>
          <p:cNvSpPr/>
          <p:nvPr/>
        </p:nvSpPr>
        <p:spPr>
          <a:xfrm>
            <a:off x="8220456" y="2288257"/>
            <a:ext cx="141996" cy="145218"/>
          </a:xfrm>
          <a:prstGeom prst="rect">
            <a:avLst/>
          </a:prstGeom>
          <a:solidFill>
            <a:srgbClr val="C2352F"/>
          </a:solidFill>
          <a:ln/>
        </p:spPr>
      </p:sp>
      <p:sp>
        <p:nvSpPr>
          <p:cNvPr id="104" name="Text 102"/>
          <p:cNvSpPr txBox="1"/>
          <p:nvPr/>
        </p:nvSpPr>
        <p:spPr>
          <a:xfrm>
            <a:off x="9153144" y="222885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105" name="Text 103"/>
          <p:cNvSpPr txBox="1"/>
          <p:nvPr/>
        </p:nvSpPr>
        <p:spPr>
          <a:xfrm>
            <a:off x="9976104" y="222885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06" name="Text 104"/>
          <p:cNvSpPr txBox="1"/>
          <p:nvPr/>
        </p:nvSpPr>
        <p:spPr>
          <a:xfrm>
            <a:off x="10579608" y="222885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853</a:t>
            </a:r>
            <a:endParaRPr lang="en-US" sz="1300" dirty="0"/>
          </a:p>
        </p:txBody>
      </p:sp>
      <p:sp>
        <p:nvSpPr>
          <p:cNvPr id="107" name="Text 105"/>
          <p:cNvSpPr txBox="1"/>
          <p:nvPr/>
        </p:nvSpPr>
        <p:spPr>
          <a:xfrm>
            <a:off x="6208776" y="249288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8" name="Shape 106"/>
          <p:cNvSpPr/>
          <p:nvPr/>
        </p:nvSpPr>
        <p:spPr>
          <a:xfrm>
            <a:off x="8220456" y="2552290"/>
            <a:ext cx="132425" cy="145218"/>
          </a:xfrm>
          <a:prstGeom prst="rect">
            <a:avLst/>
          </a:prstGeom>
          <a:solidFill>
            <a:srgbClr val="C2352F"/>
          </a:solidFill>
          <a:ln/>
        </p:spPr>
      </p:sp>
      <p:sp>
        <p:nvSpPr>
          <p:cNvPr id="109" name="Text 107"/>
          <p:cNvSpPr txBox="1"/>
          <p:nvPr/>
        </p:nvSpPr>
        <p:spPr>
          <a:xfrm>
            <a:off x="9153144" y="249288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10" name="Text 108"/>
          <p:cNvSpPr txBox="1"/>
          <p:nvPr/>
        </p:nvSpPr>
        <p:spPr>
          <a:xfrm>
            <a:off x="9976104" y="249288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11" name="Text 109"/>
          <p:cNvSpPr txBox="1"/>
          <p:nvPr/>
        </p:nvSpPr>
        <p:spPr>
          <a:xfrm>
            <a:off x="10579608" y="249288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956</a:t>
            </a:r>
            <a:endParaRPr lang="en-US" sz="1300" dirty="0"/>
          </a:p>
        </p:txBody>
      </p:sp>
      <p:sp>
        <p:nvSpPr>
          <p:cNvPr id="112" name="Text 110"/>
          <p:cNvSpPr txBox="1"/>
          <p:nvPr/>
        </p:nvSpPr>
        <p:spPr>
          <a:xfrm>
            <a:off x="6208776" y="275691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3" name="Shape 111"/>
          <p:cNvSpPr/>
          <p:nvPr/>
        </p:nvSpPr>
        <p:spPr>
          <a:xfrm>
            <a:off x="8220456" y="2816323"/>
            <a:ext cx="131085" cy="145218"/>
          </a:xfrm>
          <a:prstGeom prst="rect">
            <a:avLst/>
          </a:prstGeom>
          <a:solidFill>
            <a:srgbClr val="C2352F"/>
          </a:solidFill>
          <a:ln/>
        </p:spPr>
      </p:sp>
      <p:sp>
        <p:nvSpPr>
          <p:cNvPr id="114" name="Text 112"/>
          <p:cNvSpPr txBox="1"/>
          <p:nvPr/>
        </p:nvSpPr>
        <p:spPr>
          <a:xfrm>
            <a:off x="9153144" y="275691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115" name="Text 113"/>
          <p:cNvSpPr txBox="1"/>
          <p:nvPr/>
        </p:nvSpPr>
        <p:spPr>
          <a:xfrm>
            <a:off x="9976104" y="275691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16" name="Text 114"/>
          <p:cNvSpPr txBox="1"/>
          <p:nvPr/>
        </p:nvSpPr>
        <p:spPr>
          <a:xfrm>
            <a:off x="10579608" y="275691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929</a:t>
            </a:r>
            <a:endParaRPr lang="en-US" sz="1300" dirty="0"/>
          </a:p>
        </p:txBody>
      </p:sp>
      <p:sp>
        <p:nvSpPr>
          <p:cNvPr id="117" name="Text 115"/>
          <p:cNvSpPr txBox="1"/>
          <p:nvPr/>
        </p:nvSpPr>
        <p:spPr>
          <a:xfrm>
            <a:off x="6208776" y="302094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18" name="Shape 116"/>
          <p:cNvSpPr/>
          <p:nvPr/>
        </p:nvSpPr>
        <p:spPr>
          <a:xfrm>
            <a:off x="8220456" y="3080356"/>
            <a:ext cx="130107" cy="145218"/>
          </a:xfrm>
          <a:prstGeom prst="rect">
            <a:avLst/>
          </a:prstGeom>
          <a:solidFill>
            <a:srgbClr val="C2352F"/>
          </a:solidFill>
          <a:ln/>
        </p:spPr>
      </p:sp>
      <p:sp>
        <p:nvSpPr>
          <p:cNvPr id="119" name="Text 117"/>
          <p:cNvSpPr txBox="1"/>
          <p:nvPr/>
        </p:nvSpPr>
        <p:spPr>
          <a:xfrm>
            <a:off x="9153144" y="302094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20" name="Text 118"/>
          <p:cNvSpPr txBox="1"/>
          <p:nvPr/>
        </p:nvSpPr>
        <p:spPr>
          <a:xfrm>
            <a:off x="9976104" y="302094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4</a:t>
            </a:r>
            <a:endParaRPr lang="en-US" sz="1300" dirty="0"/>
          </a:p>
        </p:txBody>
      </p:sp>
      <p:sp>
        <p:nvSpPr>
          <p:cNvPr id="121" name="Text 119"/>
          <p:cNvSpPr txBox="1"/>
          <p:nvPr/>
        </p:nvSpPr>
        <p:spPr>
          <a:xfrm>
            <a:off x="10579608" y="302094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757</a:t>
            </a:r>
            <a:endParaRPr lang="en-US" sz="1300" dirty="0"/>
          </a:p>
        </p:txBody>
      </p:sp>
      <p:sp>
        <p:nvSpPr>
          <p:cNvPr id="122" name="Text 120"/>
          <p:cNvSpPr txBox="1"/>
          <p:nvPr/>
        </p:nvSpPr>
        <p:spPr>
          <a:xfrm>
            <a:off x="6208776" y="3284982"/>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23" name="Shape 121"/>
          <p:cNvSpPr/>
          <p:nvPr/>
        </p:nvSpPr>
        <p:spPr>
          <a:xfrm>
            <a:off x="8220456" y="3344389"/>
            <a:ext cx="114763" cy="145218"/>
          </a:xfrm>
          <a:prstGeom prst="rect">
            <a:avLst/>
          </a:prstGeom>
          <a:solidFill>
            <a:srgbClr val="C2352F"/>
          </a:solidFill>
          <a:ln/>
        </p:spPr>
      </p:sp>
      <p:sp>
        <p:nvSpPr>
          <p:cNvPr id="124" name="Text 122"/>
          <p:cNvSpPr txBox="1"/>
          <p:nvPr/>
        </p:nvSpPr>
        <p:spPr>
          <a:xfrm>
            <a:off x="9153144" y="3284982"/>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$71K</a:t>
            </a:r>
            <a:endParaRPr lang="en-US" sz="1300" dirty="0"/>
          </a:p>
        </p:txBody>
      </p:sp>
      <p:sp>
        <p:nvSpPr>
          <p:cNvPr id="125" name="Text 123"/>
          <p:cNvSpPr txBox="1"/>
          <p:nvPr/>
        </p:nvSpPr>
        <p:spPr>
          <a:xfrm>
            <a:off x="9976104" y="3284982"/>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26" name="Text 124"/>
          <p:cNvSpPr txBox="1"/>
          <p:nvPr/>
        </p:nvSpPr>
        <p:spPr>
          <a:xfrm>
            <a:off x="10579608" y="3284982"/>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540</a:t>
            </a:r>
            <a:endParaRPr lang="en-US" sz="1300" dirty="0"/>
          </a:p>
        </p:txBody>
      </p:sp>
      <p:sp>
        <p:nvSpPr>
          <p:cNvPr id="127" name="Text 125"/>
          <p:cNvSpPr txBox="1"/>
          <p:nvPr/>
        </p:nvSpPr>
        <p:spPr>
          <a:xfrm>
            <a:off x="6208776" y="3549015"/>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608422"/>
            <a:ext cx="110410" cy="145218"/>
          </a:xfrm>
          <a:prstGeom prst="rect">
            <a:avLst/>
          </a:prstGeom>
          <a:solidFill>
            <a:srgbClr val="C2352F"/>
          </a:solidFill>
          <a:ln/>
        </p:spPr>
      </p:sp>
      <p:sp>
        <p:nvSpPr>
          <p:cNvPr id="129" name="Text 127"/>
          <p:cNvSpPr txBox="1"/>
          <p:nvPr/>
        </p:nvSpPr>
        <p:spPr>
          <a:xfrm>
            <a:off x="9153144" y="3549015"/>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30" name="Text 128"/>
          <p:cNvSpPr txBox="1"/>
          <p:nvPr/>
        </p:nvSpPr>
        <p:spPr>
          <a:xfrm>
            <a:off x="9976104" y="3549015"/>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1" name="Text 129"/>
          <p:cNvSpPr txBox="1"/>
          <p:nvPr/>
        </p:nvSpPr>
        <p:spPr>
          <a:xfrm>
            <a:off x="10579608" y="3549015"/>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784</a:t>
            </a:r>
            <a:endParaRPr lang="en-US" sz="1300" dirty="0"/>
          </a:p>
        </p:txBody>
      </p:sp>
      <p:sp>
        <p:nvSpPr>
          <p:cNvPr id="132" name="Text 130"/>
          <p:cNvSpPr txBox="1"/>
          <p:nvPr/>
        </p:nvSpPr>
        <p:spPr>
          <a:xfrm>
            <a:off x="6208776" y="3813048"/>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872455"/>
            <a:ext cx="88627" cy="145218"/>
          </a:xfrm>
          <a:prstGeom prst="rect">
            <a:avLst/>
          </a:prstGeom>
          <a:solidFill>
            <a:srgbClr val="C2352F"/>
          </a:solidFill>
          <a:ln/>
        </p:spPr>
      </p:sp>
      <p:sp>
        <p:nvSpPr>
          <p:cNvPr id="134" name="Text 132"/>
          <p:cNvSpPr txBox="1"/>
          <p:nvPr/>
        </p:nvSpPr>
        <p:spPr>
          <a:xfrm>
            <a:off x="9153144" y="3813048"/>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35" name="Text 133"/>
          <p:cNvSpPr txBox="1"/>
          <p:nvPr/>
        </p:nvSpPr>
        <p:spPr>
          <a:xfrm>
            <a:off x="9976104" y="3813048"/>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36" name="Text 134"/>
          <p:cNvSpPr txBox="1"/>
          <p:nvPr/>
        </p:nvSpPr>
        <p:spPr>
          <a:xfrm>
            <a:off x="10579608" y="3813048"/>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37" name="Text 135"/>
          <p:cNvSpPr txBox="1"/>
          <p:nvPr/>
        </p:nvSpPr>
        <p:spPr>
          <a:xfrm>
            <a:off x="6208776" y="4077081"/>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8" name="Shape 136"/>
          <p:cNvSpPr/>
          <p:nvPr/>
        </p:nvSpPr>
        <p:spPr>
          <a:xfrm>
            <a:off x="8220456" y="4136488"/>
            <a:ext cx="78404" cy="145218"/>
          </a:xfrm>
          <a:prstGeom prst="rect">
            <a:avLst/>
          </a:prstGeom>
          <a:solidFill>
            <a:srgbClr val="C2352F"/>
          </a:solidFill>
          <a:ln/>
        </p:spPr>
      </p:sp>
      <p:sp>
        <p:nvSpPr>
          <p:cNvPr id="139" name="Text 137"/>
          <p:cNvSpPr txBox="1"/>
          <p:nvPr/>
        </p:nvSpPr>
        <p:spPr>
          <a:xfrm>
            <a:off x="9153144" y="4077081"/>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0" name="Text 138"/>
          <p:cNvSpPr txBox="1"/>
          <p:nvPr/>
        </p:nvSpPr>
        <p:spPr>
          <a:xfrm>
            <a:off x="9976104" y="4077081"/>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41" name="Text 139"/>
          <p:cNvSpPr txBox="1"/>
          <p:nvPr/>
        </p:nvSpPr>
        <p:spPr>
          <a:xfrm>
            <a:off x="10579608" y="4077081"/>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42" name="Text 140"/>
          <p:cNvSpPr txBox="1"/>
          <p:nvPr/>
        </p:nvSpPr>
        <p:spPr>
          <a:xfrm>
            <a:off x="6208776" y="4341114"/>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43" name="Shape 141"/>
          <p:cNvSpPr/>
          <p:nvPr/>
        </p:nvSpPr>
        <p:spPr>
          <a:xfrm>
            <a:off x="8220456" y="4400521"/>
            <a:ext cx="62086" cy="145218"/>
          </a:xfrm>
          <a:prstGeom prst="rect">
            <a:avLst/>
          </a:prstGeom>
          <a:solidFill>
            <a:srgbClr val="C2352F"/>
          </a:solidFill>
          <a:ln/>
        </p:spPr>
      </p:sp>
      <p:sp>
        <p:nvSpPr>
          <p:cNvPr id="144" name="Text 142"/>
          <p:cNvSpPr txBox="1"/>
          <p:nvPr/>
        </p:nvSpPr>
        <p:spPr>
          <a:xfrm>
            <a:off x="9153144" y="4341114"/>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5" name="Text 143"/>
          <p:cNvSpPr txBox="1"/>
          <p:nvPr/>
        </p:nvSpPr>
        <p:spPr>
          <a:xfrm>
            <a:off x="9976104" y="4341114"/>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46" name="Text 144"/>
          <p:cNvSpPr txBox="1"/>
          <p:nvPr/>
        </p:nvSpPr>
        <p:spPr>
          <a:xfrm>
            <a:off x="10579608" y="4341114"/>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600</a:t>
            </a:r>
            <a:endParaRPr lang="en-US" sz="1300" dirty="0"/>
          </a:p>
        </p:txBody>
      </p:sp>
      <p:sp>
        <p:nvSpPr>
          <p:cNvPr id="147" name="Text 145"/>
          <p:cNvSpPr txBox="1"/>
          <p:nvPr/>
        </p:nvSpPr>
        <p:spPr>
          <a:xfrm>
            <a:off x="6208776" y="4605147"/>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664554"/>
            <a:ext cx="54750" cy="145218"/>
          </a:xfrm>
          <a:prstGeom prst="rect">
            <a:avLst/>
          </a:prstGeom>
          <a:solidFill>
            <a:srgbClr val="C2352F"/>
          </a:solidFill>
          <a:ln/>
        </p:spPr>
      </p:sp>
      <p:sp>
        <p:nvSpPr>
          <p:cNvPr id="149" name="Text 147"/>
          <p:cNvSpPr txBox="1"/>
          <p:nvPr/>
        </p:nvSpPr>
        <p:spPr>
          <a:xfrm>
            <a:off x="9153144" y="4605147"/>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50" name="Text 148"/>
          <p:cNvSpPr txBox="1"/>
          <p:nvPr/>
        </p:nvSpPr>
        <p:spPr>
          <a:xfrm>
            <a:off x="9976104" y="4605147"/>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1" name="Text 149"/>
          <p:cNvSpPr txBox="1"/>
          <p:nvPr/>
        </p:nvSpPr>
        <p:spPr>
          <a:xfrm>
            <a:off x="10579608" y="4605147"/>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152" name="Text 150"/>
          <p:cNvSpPr txBox="1"/>
          <p:nvPr/>
        </p:nvSpPr>
        <p:spPr>
          <a:xfrm>
            <a:off x="6208776" y="4869180"/>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3" name="Shape 151"/>
          <p:cNvSpPr/>
          <p:nvPr/>
        </p:nvSpPr>
        <p:spPr>
          <a:xfrm>
            <a:off x="8220456" y="4928587"/>
            <a:ext cx="38667" cy="145218"/>
          </a:xfrm>
          <a:prstGeom prst="rect">
            <a:avLst/>
          </a:prstGeom>
          <a:solidFill>
            <a:srgbClr val="C2352F"/>
          </a:solidFill>
          <a:ln/>
        </p:spPr>
      </p:sp>
      <p:sp>
        <p:nvSpPr>
          <p:cNvPr id="154" name="Text 152"/>
          <p:cNvSpPr txBox="1"/>
          <p:nvPr/>
        </p:nvSpPr>
        <p:spPr>
          <a:xfrm>
            <a:off x="9153144" y="4869180"/>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5" name="Text 153"/>
          <p:cNvSpPr txBox="1"/>
          <p:nvPr/>
        </p:nvSpPr>
        <p:spPr>
          <a:xfrm>
            <a:off x="9976104" y="4869180"/>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56" name="Text 154"/>
          <p:cNvSpPr txBox="1"/>
          <p:nvPr/>
        </p:nvSpPr>
        <p:spPr>
          <a:xfrm>
            <a:off x="10579608" y="4869180"/>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57" name="Text 155"/>
          <p:cNvSpPr txBox="1"/>
          <p:nvPr/>
        </p:nvSpPr>
        <p:spPr>
          <a:xfrm>
            <a:off x="6208776" y="5133213"/>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58" name="Shape 156"/>
          <p:cNvSpPr/>
          <p:nvPr/>
        </p:nvSpPr>
        <p:spPr>
          <a:xfrm>
            <a:off x="8220456" y="5192620"/>
            <a:ext cx="19661" cy="145218"/>
          </a:xfrm>
          <a:prstGeom prst="rect">
            <a:avLst/>
          </a:prstGeom>
          <a:solidFill>
            <a:srgbClr val="C2352F"/>
          </a:solidFill>
          <a:ln/>
        </p:spPr>
      </p:sp>
      <p:sp>
        <p:nvSpPr>
          <p:cNvPr id="159" name="Text 157"/>
          <p:cNvSpPr txBox="1"/>
          <p:nvPr/>
        </p:nvSpPr>
        <p:spPr>
          <a:xfrm>
            <a:off x="9153144" y="5133213"/>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160" name="Text 158"/>
          <p:cNvSpPr txBox="1"/>
          <p:nvPr/>
        </p:nvSpPr>
        <p:spPr>
          <a:xfrm>
            <a:off x="9976104" y="5133213"/>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4</a:t>
            </a:r>
            <a:endParaRPr lang="en-US" sz="1300" dirty="0"/>
          </a:p>
        </p:txBody>
      </p:sp>
      <p:sp>
        <p:nvSpPr>
          <p:cNvPr id="161" name="Text 159"/>
          <p:cNvSpPr txBox="1"/>
          <p:nvPr/>
        </p:nvSpPr>
        <p:spPr>
          <a:xfrm>
            <a:off x="10579608" y="5133213"/>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62" name="Text 160"/>
          <p:cNvSpPr txBox="1"/>
          <p:nvPr/>
        </p:nvSpPr>
        <p:spPr>
          <a:xfrm>
            <a:off x="6208776" y="5397246"/>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5456653"/>
            <a:ext cx="18288" cy="145218"/>
          </a:xfrm>
          <a:prstGeom prst="rect">
            <a:avLst/>
          </a:prstGeom>
          <a:solidFill>
            <a:srgbClr val="C2352F"/>
          </a:solidFill>
          <a:ln/>
        </p:spPr>
      </p:sp>
      <p:sp>
        <p:nvSpPr>
          <p:cNvPr id="164" name="Text 162"/>
          <p:cNvSpPr txBox="1"/>
          <p:nvPr/>
        </p:nvSpPr>
        <p:spPr>
          <a:xfrm>
            <a:off x="9153144" y="5397246"/>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976104" y="5397246"/>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4</a:t>
            </a:r>
            <a:endParaRPr lang="en-US" sz="1300" dirty="0"/>
          </a:p>
        </p:txBody>
      </p:sp>
      <p:sp>
        <p:nvSpPr>
          <p:cNvPr id="166" name="Text 164"/>
          <p:cNvSpPr txBox="1"/>
          <p:nvPr/>
        </p:nvSpPr>
        <p:spPr>
          <a:xfrm>
            <a:off x="10579608" y="5397246"/>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7" name="Text 165"/>
          <p:cNvSpPr txBox="1"/>
          <p:nvPr/>
        </p:nvSpPr>
        <p:spPr>
          <a:xfrm>
            <a:off x="6208776" y="5661279"/>
            <a:ext cx="1938528" cy="26403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220456" y="5720686"/>
            <a:ext cx="18288" cy="145218"/>
          </a:xfrm>
          <a:prstGeom prst="rect">
            <a:avLst/>
          </a:prstGeom>
          <a:solidFill>
            <a:srgbClr val="C2352F"/>
          </a:solidFill>
          <a:ln/>
        </p:spPr>
      </p:sp>
      <p:sp>
        <p:nvSpPr>
          <p:cNvPr id="169" name="Text 167"/>
          <p:cNvSpPr txBox="1"/>
          <p:nvPr/>
        </p:nvSpPr>
        <p:spPr>
          <a:xfrm>
            <a:off x="9153144" y="5661279"/>
            <a:ext cx="822960" cy="26403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170" name="Text 168"/>
          <p:cNvSpPr txBox="1"/>
          <p:nvPr/>
        </p:nvSpPr>
        <p:spPr>
          <a:xfrm>
            <a:off x="9976104" y="5661279"/>
            <a:ext cx="603504"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 of 4</a:t>
            </a:r>
            <a:endParaRPr lang="en-US" sz="1300" dirty="0"/>
          </a:p>
        </p:txBody>
      </p:sp>
      <p:sp>
        <p:nvSpPr>
          <p:cNvPr id="171" name="Text 169"/>
          <p:cNvSpPr txBox="1"/>
          <p:nvPr/>
        </p:nvSpPr>
        <p:spPr>
          <a:xfrm>
            <a:off x="10579608" y="5661279"/>
            <a:ext cx="841248" cy="26403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a:t>
            </a:r>
            <a:endParaRPr lang="en-US" sz="1300" dirty="0"/>
          </a:p>
        </p:txBody>
      </p:sp>
      <p:sp>
        <p:nvSpPr>
          <p:cNvPr id="172" name="Shape 170"/>
          <p:cNvSpPr/>
          <p:nvPr/>
        </p:nvSpPr>
        <p:spPr>
          <a:xfrm>
            <a:off x="457200" y="6126480"/>
            <a:ext cx="11274552" cy="371856"/>
          </a:xfrm>
          <a:prstGeom prst="rect">
            <a:avLst/>
          </a:prstGeom>
          <a:solidFill>
            <a:srgbClr val="FBEBEA"/>
          </a:solidFill>
          <a:ln/>
        </p:spPr>
      </p:sp>
      <p:sp>
        <p:nvSpPr>
          <p:cNvPr id="173" name="Text 17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leaves the most at $541,039 a year. 15 stores are under all four benchmarks.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 Increases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2735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7" name="Text 5"/>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8" name="Text 6"/>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88239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GP added</a:t>
            </a:r>
            <a:endParaRPr lang="en-US" sz="1400" dirty="0"/>
          </a:p>
        </p:txBody>
      </p:sp>
      <p:sp>
        <p:nvSpPr>
          <p:cNvPr id="10" name="Text 8"/>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Labor</a:t>
            </a:r>
            <a:endParaRPr lang="en-US" sz="1400" dirty="0"/>
          </a:p>
        </p:txBody>
      </p:sp>
      <p:sp>
        <p:nvSpPr>
          <p:cNvPr id="11" name="Text 9"/>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2" name="Text 10"/>
          <p:cNvSpPr txBox="1"/>
          <p:nvPr/>
        </p:nvSpPr>
        <p:spPr>
          <a:xfrm>
            <a:off x="658368"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 name="Shape 11"/>
          <p:cNvSpPr/>
          <p:nvPr/>
        </p:nvSpPr>
        <p:spPr>
          <a:xfrm>
            <a:off x="2670048" y="1795836"/>
            <a:ext cx="548640" cy="232349"/>
          </a:xfrm>
          <a:prstGeom prst="rect">
            <a:avLst/>
          </a:prstGeom>
          <a:solidFill>
            <a:srgbClr val="12A566"/>
          </a:solidFill>
          <a:ln/>
        </p:spPr>
      </p:sp>
      <p:sp>
        <p:nvSpPr>
          <p:cNvPr id="14" name="Text 12"/>
          <p:cNvSpPr txBox="1"/>
          <p:nvPr/>
        </p:nvSpPr>
        <p:spPr>
          <a:xfrm>
            <a:off x="3273552"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$798K</a:t>
            </a:r>
            <a:endParaRPr lang="en-US" sz="1300" dirty="0"/>
          </a:p>
        </p:txBody>
      </p:sp>
      <p:sp>
        <p:nvSpPr>
          <p:cNvPr id="15" name="Text 13"/>
          <p:cNvSpPr txBox="1"/>
          <p:nvPr/>
        </p:nvSpPr>
        <p:spPr>
          <a:xfrm>
            <a:off x="4187952"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$420K</a:t>
            </a:r>
            <a:endParaRPr lang="en-US" sz="1300" dirty="0"/>
          </a:p>
        </p:txBody>
      </p:sp>
      <p:sp>
        <p:nvSpPr>
          <p:cNvPr id="16" name="Text 14"/>
          <p:cNvSpPr txBox="1"/>
          <p:nvPr/>
        </p:nvSpPr>
        <p:spPr>
          <a:xfrm>
            <a:off x="502920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$378K</a:t>
            </a:r>
            <a:endParaRPr lang="en-US" sz="1300" dirty="0"/>
          </a:p>
        </p:txBody>
      </p:sp>
      <p:sp>
        <p:nvSpPr>
          <p:cNvPr id="17" name="Text 15"/>
          <p:cNvSpPr txBox="1"/>
          <p:nvPr/>
        </p:nvSpPr>
        <p:spPr>
          <a:xfrm>
            <a:off x="658368"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8" name="Shape 16"/>
          <p:cNvSpPr/>
          <p:nvPr/>
        </p:nvSpPr>
        <p:spPr>
          <a:xfrm>
            <a:off x="2670048" y="2218289"/>
            <a:ext cx="318622" cy="232349"/>
          </a:xfrm>
          <a:prstGeom prst="rect">
            <a:avLst/>
          </a:prstGeom>
          <a:solidFill>
            <a:srgbClr val="12A566"/>
          </a:solidFill>
          <a:ln/>
        </p:spPr>
      </p:sp>
      <p:sp>
        <p:nvSpPr>
          <p:cNvPr id="19" name="Text 17"/>
          <p:cNvSpPr txBox="1"/>
          <p:nvPr/>
        </p:nvSpPr>
        <p:spPr>
          <a:xfrm>
            <a:off x="3273552"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$463K</a:t>
            </a:r>
            <a:endParaRPr lang="en-US" sz="1300" dirty="0"/>
          </a:p>
        </p:txBody>
      </p:sp>
      <p:sp>
        <p:nvSpPr>
          <p:cNvPr id="20" name="Text 18"/>
          <p:cNvSpPr txBox="1"/>
          <p:nvPr/>
        </p:nvSpPr>
        <p:spPr>
          <a:xfrm>
            <a:off x="4187952"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21" name="Text 19"/>
          <p:cNvSpPr txBox="1"/>
          <p:nvPr/>
        </p:nvSpPr>
        <p:spPr>
          <a:xfrm>
            <a:off x="502920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$320K</a:t>
            </a:r>
            <a:endParaRPr lang="en-US" sz="1300" dirty="0"/>
          </a:p>
        </p:txBody>
      </p:sp>
      <p:sp>
        <p:nvSpPr>
          <p:cNvPr id="22" name="Text 20"/>
          <p:cNvSpPr txBox="1"/>
          <p:nvPr/>
        </p:nvSpPr>
        <p:spPr>
          <a:xfrm>
            <a:off x="658368"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3" name="Shape 21"/>
          <p:cNvSpPr/>
          <p:nvPr/>
        </p:nvSpPr>
        <p:spPr>
          <a:xfrm>
            <a:off x="2670048" y="2640741"/>
            <a:ext cx="236506" cy="232349"/>
          </a:xfrm>
          <a:prstGeom prst="rect">
            <a:avLst/>
          </a:prstGeom>
          <a:solidFill>
            <a:srgbClr val="12A566"/>
          </a:solidFill>
          <a:ln/>
        </p:spPr>
      </p:sp>
      <p:sp>
        <p:nvSpPr>
          <p:cNvPr id="24" name="Text 22"/>
          <p:cNvSpPr txBox="1"/>
          <p:nvPr/>
        </p:nvSpPr>
        <p:spPr>
          <a:xfrm>
            <a:off x="3273552"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$344K</a:t>
            </a:r>
            <a:endParaRPr lang="en-US" sz="1300" dirty="0"/>
          </a:p>
        </p:txBody>
      </p:sp>
      <p:sp>
        <p:nvSpPr>
          <p:cNvPr id="25" name="Text 23"/>
          <p:cNvSpPr txBox="1"/>
          <p:nvPr/>
        </p:nvSpPr>
        <p:spPr>
          <a:xfrm>
            <a:off x="4187952"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$123K</a:t>
            </a:r>
            <a:endParaRPr lang="en-US" sz="1300" dirty="0"/>
          </a:p>
        </p:txBody>
      </p:sp>
      <p:sp>
        <p:nvSpPr>
          <p:cNvPr id="26" name="Text 24"/>
          <p:cNvSpPr txBox="1"/>
          <p:nvPr/>
        </p:nvSpPr>
        <p:spPr>
          <a:xfrm>
            <a:off x="502920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$221K</a:t>
            </a:r>
            <a:endParaRPr lang="en-US" sz="1300" dirty="0"/>
          </a:p>
        </p:txBody>
      </p:sp>
      <p:sp>
        <p:nvSpPr>
          <p:cNvPr id="27" name="Text 25"/>
          <p:cNvSpPr txBox="1"/>
          <p:nvPr/>
        </p:nvSpPr>
        <p:spPr>
          <a:xfrm>
            <a:off x="658368"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8" name="Shape 26"/>
          <p:cNvSpPr/>
          <p:nvPr/>
        </p:nvSpPr>
        <p:spPr>
          <a:xfrm>
            <a:off x="2670048" y="3063194"/>
            <a:ext cx="223981" cy="232349"/>
          </a:xfrm>
          <a:prstGeom prst="rect">
            <a:avLst/>
          </a:prstGeom>
          <a:solidFill>
            <a:srgbClr val="12A566"/>
          </a:solidFill>
          <a:ln/>
        </p:spPr>
      </p:sp>
      <p:sp>
        <p:nvSpPr>
          <p:cNvPr id="29" name="Text 27"/>
          <p:cNvSpPr txBox="1"/>
          <p:nvPr/>
        </p:nvSpPr>
        <p:spPr>
          <a:xfrm>
            <a:off x="3273552"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$326K</a:t>
            </a:r>
            <a:endParaRPr lang="en-US" sz="1300" dirty="0"/>
          </a:p>
        </p:txBody>
      </p:sp>
      <p:sp>
        <p:nvSpPr>
          <p:cNvPr id="30" name="Text 28"/>
          <p:cNvSpPr txBox="1"/>
          <p:nvPr/>
        </p:nvSpPr>
        <p:spPr>
          <a:xfrm>
            <a:off x="4187952"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$206K</a:t>
            </a:r>
            <a:endParaRPr lang="en-US" sz="1300" dirty="0"/>
          </a:p>
        </p:txBody>
      </p:sp>
      <p:sp>
        <p:nvSpPr>
          <p:cNvPr id="31" name="Text 29"/>
          <p:cNvSpPr txBox="1"/>
          <p:nvPr/>
        </p:nvSpPr>
        <p:spPr>
          <a:xfrm>
            <a:off x="502920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$119K</a:t>
            </a:r>
            <a:endParaRPr lang="en-US" sz="1300" dirty="0"/>
          </a:p>
        </p:txBody>
      </p:sp>
      <p:sp>
        <p:nvSpPr>
          <p:cNvPr id="32" name="Text 30"/>
          <p:cNvSpPr txBox="1"/>
          <p:nvPr/>
        </p:nvSpPr>
        <p:spPr>
          <a:xfrm>
            <a:off x="658368"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3" name="Shape 31"/>
          <p:cNvSpPr/>
          <p:nvPr/>
        </p:nvSpPr>
        <p:spPr>
          <a:xfrm>
            <a:off x="2670048" y="3485647"/>
            <a:ext cx="200812" cy="232349"/>
          </a:xfrm>
          <a:prstGeom prst="rect">
            <a:avLst/>
          </a:prstGeom>
          <a:solidFill>
            <a:srgbClr val="12A566"/>
          </a:solidFill>
          <a:ln/>
        </p:spPr>
      </p:sp>
      <p:sp>
        <p:nvSpPr>
          <p:cNvPr id="34" name="Text 32"/>
          <p:cNvSpPr txBox="1"/>
          <p:nvPr/>
        </p:nvSpPr>
        <p:spPr>
          <a:xfrm>
            <a:off x="3273552"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$292K</a:t>
            </a:r>
            <a:endParaRPr lang="en-US" sz="1300" dirty="0"/>
          </a:p>
        </p:txBody>
      </p:sp>
      <p:sp>
        <p:nvSpPr>
          <p:cNvPr id="35" name="Text 33"/>
          <p:cNvSpPr txBox="1"/>
          <p:nvPr/>
        </p:nvSpPr>
        <p:spPr>
          <a:xfrm>
            <a:off x="4187952"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$165K</a:t>
            </a:r>
            <a:endParaRPr lang="en-US" sz="1300" dirty="0"/>
          </a:p>
        </p:txBody>
      </p:sp>
      <p:sp>
        <p:nvSpPr>
          <p:cNvPr id="36" name="Text 34"/>
          <p:cNvSpPr txBox="1"/>
          <p:nvPr/>
        </p:nvSpPr>
        <p:spPr>
          <a:xfrm>
            <a:off x="502920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37" name="Text 35"/>
          <p:cNvSpPr txBox="1"/>
          <p:nvPr/>
        </p:nvSpPr>
        <p:spPr>
          <a:xfrm>
            <a:off x="658368"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8" name="Shape 36"/>
          <p:cNvSpPr/>
          <p:nvPr/>
        </p:nvSpPr>
        <p:spPr>
          <a:xfrm>
            <a:off x="2670048" y="3908100"/>
            <a:ext cx="194987" cy="232349"/>
          </a:xfrm>
          <a:prstGeom prst="rect">
            <a:avLst/>
          </a:prstGeom>
          <a:solidFill>
            <a:srgbClr val="12A566"/>
          </a:solidFill>
          <a:ln/>
        </p:spPr>
      </p:sp>
      <p:sp>
        <p:nvSpPr>
          <p:cNvPr id="39" name="Text 37"/>
          <p:cNvSpPr txBox="1"/>
          <p:nvPr/>
        </p:nvSpPr>
        <p:spPr>
          <a:xfrm>
            <a:off x="3273552"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$284K</a:t>
            </a:r>
            <a:endParaRPr lang="en-US" sz="1300" dirty="0"/>
          </a:p>
        </p:txBody>
      </p:sp>
      <p:sp>
        <p:nvSpPr>
          <p:cNvPr id="40" name="Text 38"/>
          <p:cNvSpPr txBox="1"/>
          <p:nvPr/>
        </p:nvSpPr>
        <p:spPr>
          <a:xfrm>
            <a:off x="4187952"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$137K</a:t>
            </a:r>
            <a:endParaRPr lang="en-US" sz="1300" dirty="0"/>
          </a:p>
        </p:txBody>
      </p:sp>
      <p:sp>
        <p:nvSpPr>
          <p:cNvPr id="41" name="Text 39"/>
          <p:cNvSpPr txBox="1"/>
          <p:nvPr/>
        </p:nvSpPr>
        <p:spPr>
          <a:xfrm>
            <a:off x="502920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$147K</a:t>
            </a:r>
            <a:endParaRPr lang="en-US" sz="1300" dirty="0"/>
          </a:p>
        </p:txBody>
      </p:sp>
      <p:sp>
        <p:nvSpPr>
          <p:cNvPr id="42" name="Text 40"/>
          <p:cNvSpPr txBox="1"/>
          <p:nvPr/>
        </p:nvSpPr>
        <p:spPr>
          <a:xfrm>
            <a:off x="658368"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3" name="Shape 41"/>
          <p:cNvSpPr/>
          <p:nvPr/>
        </p:nvSpPr>
        <p:spPr>
          <a:xfrm>
            <a:off x="2670048" y="4330553"/>
            <a:ext cx="154953" cy="232349"/>
          </a:xfrm>
          <a:prstGeom prst="rect">
            <a:avLst/>
          </a:prstGeom>
          <a:solidFill>
            <a:srgbClr val="12A566"/>
          </a:solidFill>
          <a:ln/>
        </p:spPr>
      </p:sp>
      <p:sp>
        <p:nvSpPr>
          <p:cNvPr id="44" name="Text 42"/>
          <p:cNvSpPr txBox="1"/>
          <p:nvPr/>
        </p:nvSpPr>
        <p:spPr>
          <a:xfrm>
            <a:off x="3273552"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$225K</a:t>
            </a:r>
            <a:endParaRPr lang="en-US" sz="1300" dirty="0"/>
          </a:p>
        </p:txBody>
      </p:sp>
      <p:sp>
        <p:nvSpPr>
          <p:cNvPr id="45" name="Text 43"/>
          <p:cNvSpPr txBox="1"/>
          <p:nvPr/>
        </p:nvSpPr>
        <p:spPr>
          <a:xfrm>
            <a:off x="4187952"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$128K</a:t>
            </a:r>
            <a:endParaRPr lang="en-US" sz="1300" dirty="0"/>
          </a:p>
        </p:txBody>
      </p:sp>
      <p:sp>
        <p:nvSpPr>
          <p:cNvPr id="46" name="Text 44"/>
          <p:cNvSpPr txBox="1"/>
          <p:nvPr/>
        </p:nvSpPr>
        <p:spPr>
          <a:xfrm>
            <a:off x="502920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$98K</a:t>
            </a:r>
            <a:endParaRPr lang="en-US" sz="1300" dirty="0"/>
          </a:p>
        </p:txBody>
      </p:sp>
      <p:sp>
        <p:nvSpPr>
          <p:cNvPr id="47" name="Text 45"/>
          <p:cNvSpPr txBox="1"/>
          <p:nvPr/>
        </p:nvSpPr>
        <p:spPr>
          <a:xfrm>
            <a:off x="658368"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4753005"/>
            <a:ext cx="143889" cy="232349"/>
          </a:xfrm>
          <a:prstGeom prst="rect">
            <a:avLst/>
          </a:prstGeom>
          <a:solidFill>
            <a:srgbClr val="12A566"/>
          </a:solidFill>
          <a:ln/>
        </p:spPr>
      </p:sp>
      <p:sp>
        <p:nvSpPr>
          <p:cNvPr id="49" name="Text 47"/>
          <p:cNvSpPr txBox="1"/>
          <p:nvPr/>
        </p:nvSpPr>
        <p:spPr>
          <a:xfrm>
            <a:off x="3273552"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$209K</a:t>
            </a:r>
            <a:endParaRPr lang="en-US" sz="1300" dirty="0"/>
          </a:p>
        </p:txBody>
      </p:sp>
      <p:sp>
        <p:nvSpPr>
          <p:cNvPr id="50" name="Text 48"/>
          <p:cNvSpPr txBox="1"/>
          <p:nvPr/>
        </p:nvSpPr>
        <p:spPr>
          <a:xfrm>
            <a:off x="4187952"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$46K</a:t>
            </a:r>
            <a:endParaRPr lang="en-US" sz="1300" dirty="0"/>
          </a:p>
        </p:txBody>
      </p:sp>
      <p:sp>
        <p:nvSpPr>
          <p:cNvPr id="51" name="Text 49"/>
          <p:cNvSpPr txBox="1"/>
          <p:nvPr/>
        </p:nvSpPr>
        <p:spPr>
          <a:xfrm>
            <a:off x="502920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658368"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53" name="Shape 51"/>
          <p:cNvSpPr/>
          <p:nvPr/>
        </p:nvSpPr>
        <p:spPr>
          <a:xfrm>
            <a:off x="2670048" y="5175458"/>
            <a:ext cx="100447" cy="232349"/>
          </a:xfrm>
          <a:prstGeom prst="rect">
            <a:avLst/>
          </a:prstGeom>
          <a:solidFill>
            <a:srgbClr val="12A566"/>
          </a:solidFill>
          <a:ln/>
        </p:spPr>
      </p:sp>
      <p:sp>
        <p:nvSpPr>
          <p:cNvPr id="54" name="Text 52"/>
          <p:cNvSpPr txBox="1"/>
          <p:nvPr/>
        </p:nvSpPr>
        <p:spPr>
          <a:xfrm>
            <a:off x="3273552"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$146K</a:t>
            </a:r>
            <a:endParaRPr lang="en-US" sz="1300" dirty="0"/>
          </a:p>
        </p:txBody>
      </p:sp>
      <p:sp>
        <p:nvSpPr>
          <p:cNvPr id="55" name="Text 53"/>
          <p:cNvSpPr txBox="1"/>
          <p:nvPr/>
        </p:nvSpPr>
        <p:spPr>
          <a:xfrm>
            <a:off x="4187952"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$49K</a:t>
            </a:r>
            <a:endParaRPr lang="en-US" sz="1300" dirty="0"/>
          </a:p>
        </p:txBody>
      </p:sp>
      <p:sp>
        <p:nvSpPr>
          <p:cNvPr id="56" name="Text 54"/>
          <p:cNvSpPr txBox="1"/>
          <p:nvPr/>
        </p:nvSpPr>
        <p:spPr>
          <a:xfrm>
            <a:off x="502920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$97K</a:t>
            </a:r>
            <a:endParaRPr lang="en-US" sz="1300" dirty="0"/>
          </a:p>
        </p:txBody>
      </p:sp>
      <p:sp>
        <p:nvSpPr>
          <p:cNvPr id="57" name="Text 55"/>
          <p:cNvSpPr txBox="1"/>
          <p:nvPr/>
        </p:nvSpPr>
        <p:spPr>
          <a:xfrm>
            <a:off x="658368" y="5502859"/>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8" name="Shape 56"/>
          <p:cNvSpPr/>
          <p:nvPr/>
        </p:nvSpPr>
        <p:spPr>
          <a:xfrm>
            <a:off x="2670048" y="5597911"/>
            <a:ext cx="91924" cy="232349"/>
          </a:xfrm>
          <a:prstGeom prst="rect">
            <a:avLst/>
          </a:prstGeom>
          <a:solidFill>
            <a:srgbClr val="12A566"/>
          </a:solidFill>
          <a:ln/>
        </p:spPr>
      </p:sp>
      <p:sp>
        <p:nvSpPr>
          <p:cNvPr id="59" name="Text 57"/>
          <p:cNvSpPr txBox="1"/>
          <p:nvPr/>
        </p:nvSpPr>
        <p:spPr>
          <a:xfrm>
            <a:off x="3273552" y="5502859"/>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$134K</a:t>
            </a:r>
            <a:endParaRPr lang="en-US" sz="1300" dirty="0"/>
          </a:p>
        </p:txBody>
      </p:sp>
      <p:sp>
        <p:nvSpPr>
          <p:cNvPr id="60" name="Text 58"/>
          <p:cNvSpPr txBox="1"/>
          <p:nvPr/>
        </p:nvSpPr>
        <p:spPr>
          <a:xfrm>
            <a:off x="4187952"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1" name="Text 59"/>
          <p:cNvSpPr txBox="1"/>
          <p:nvPr/>
        </p:nvSpPr>
        <p:spPr>
          <a:xfrm>
            <a:off x="5029200" y="5502859"/>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$134K</a:t>
            </a:r>
            <a:endParaRPr lang="en-US" sz="1300" dirty="0"/>
          </a:p>
        </p:txBody>
      </p:sp>
      <p:sp>
        <p:nvSpPr>
          <p:cNvPr id="62" name="Text 60"/>
          <p:cNvSpPr txBox="1"/>
          <p:nvPr/>
        </p:nvSpPr>
        <p:spPr>
          <a:xfrm>
            <a:off x="6208776" y="170078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3" name="Shape 61"/>
          <p:cNvSpPr/>
          <p:nvPr/>
        </p:nvSpPr>
        <p:spPr>
          <a:xfrm>
            <a:off x="8220456" y="1795836"/>
            <a:ext cx="66189" cy="232349"/>
          </a:xfrm>
          <a:prstGeom prst="rect">
            <a:avLst/>
          </a:prstGeom>
          <a:solidFill>
            <a:srgbClr val="12A566"/>
          </a:solidFill>
          <a:ln/>
        </p:spPr>
      </p:sp>
      <p:sp>
        <p:nvSpPr>
          <p:cNvPr id="64" name="Text 62"/>
          <p:cNvSpPr txBox="1"/>
          <p:nvPr/>
        </p:nvSpPr>
        <p:spPr>
          <a:xfrm>
            <a:off x="8823960" y="170078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$96K</a:t>
            </a:r>
            <a:endParaRPr lang="en-US" sz="1300" dirty="0"/>
          </a:p>
        </p:txBody>
      </p:sp>
      <p:sp>
        <p:nvSpPr>
          <p:cNvPr id="65" name="Text 63"/>
          <p:cNvSpPr txBox="1"/>
          <p:nvPr/>
        </p:nvSpPr>
        <p:spPr>
          <a:xfrm>
            <a:off x="9738360"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66" name="Text 64"/>
          <p:cNvSpPr txBox="1"/>
          <p:nvPr/>
        </p:nvSpPr>
        <p:spPr>
          <a:xfrm>
            <a:off x="10579608" y="170078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67" name="Text 65"/>
          <p:cNvSpPr txBox="1"/>
          <p:nvPr/>
        </p:nvSpPr>
        <p:spPr>
          <a:xfrm>
            <a:off x="6208776" y="2123237"/>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Shape 66"/>
          <p:cNvSpPr/>
          <p:nvPr/>
        </p:nvSpPr>
        <p:spPr>
          <a:xfrm>
            <a:off x="8220456" y="2218289"/>
            <a:ext cx="65059" cy="232349"/>
          </a:xfrm>
          <a:prstGeom prst="rect">
            <a:avLst/>
          </a:prstGeom>
          <a:solidFill>
            <a:srgbClr val="12A566"/>
          </a:solidFill>
          <a:ln/>
        </p:spPr>
      </p:sp>
      <p:sp>
        <p:nvSpPr>
          <p:cNvPr id="69" name="Text 67"/>
          <p:cNvSpPr txBox="1"/>
          <p:nvPr/>
        </p:nvSpPr>
        <p:spPr>
          <a:xfrm>
            <a:off x="8823960" y="2123237"/>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$95K</a:t>
            </a:r>
            <a:endParaRPr lang="en-US" sz="1300" dirty="0"/>
          </a:p>
        </p:txBody>
      </p:sp>
      <p:sp>
        <p:nvSpPr>
          <p:cNvPr id="70" name="Text 68"/>
          <p:cNvSpPr txBox="1"/>
          <p:nvPr/>
        </p:nvSpPr>
        <p:spPr>
          <a:xfrm>
            <a:off x="9738360"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$64K</a:t>
            </a:r>
            <a:endParaRPr lang="en-US" sz="1300" dirty="0"/>
          </a:p>
        </p:txBody>
      </p:sp>
      <p:sp>
        <p:nvSpPr>
          <p:cNvPr id="71" name="Text 69"/>
          <p:cNvSpPr txBox="1"/>
          <p:nvPr/>
        </p:nvSpPr>
        <p:spPr>
          <a:xfrm>
            <a:off x="10579608" y="2123237"/>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$31K</a:t>
            </a:r>
            <a:endParaRPr lang="en-US" sz="1300" dirty="0"/>
          </a:p>
        </p:txBody>
      </p:sp>
      <p:sp>
        <p:nvSpPr>
          <p:cNvPr id="72" name="Text 70"/>
          <p:cNvSpPr txBox="1"/>
          <p:nvPr/>
        </p:nvSpPr>
        <p:spPr>
          <a:xfrm>
            <a:off x="6208776" y="2545690"/>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3" name="Shape 71"/>
          <p:cNvSpPr/>
          <p:nvPr/>
        </p:nvSpPr>
        <p:spPr>
          <a:xfrm>
            <a:off x="8220456" y="2640741"/>
            <a:ext cx="64094" cy="232349"/>
          </a:xfrm>
          <a:prstGeom prst="rect">
            <a:avLst/>
          </a:prstGeom>
          <a:solidFill>
            <a:srgbClr val="12A566"/>
          </a:solidFill>
          <a:ln/>
        </p:spPr>
      </p:sp>
      <p:sp>
        <p:nvSpPr>
          <p:cNvPr id="74" name="Text 72"/>
          <p:cNvSpPr txBox="1"/>
          <p:nvPr/>
        </p:nvSpPr>
        <p:spPr>
          <a:xfrm>
            <a:off x="8823960" y="2545690"/>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$93K</a:t>
            </a:r>
            <a:endParaRPr lang="en-US" sz="1300" dirty="0"/>
          </a:p>
        </p:txBody>
      </p:sp>
      <p:sp>
        <p:nvSpPr>
          <p:cNvPr id="75" name="Text 73"/>
          <p:cNvSpPr txBox="1"/>
          <p:nvPr/>
        </p:nvSpPr>
        <p:spPr>
          <a:xfrm>
            <a:off x="9738360"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$33K</a:t>
            </a:r>
            <a:endParaRPr lang="en-US" sz="1300" dirty="0"/>
          </a:p>
        </p:txBody>
      </p:sp>
      <p:sp>
        <p:nvSpPr>
          <p:cNvPr id="76" name="Text 74"/>
          <p:cNvSpPr txBox="1"/>
          <p:nvPr/>
        </p:nvSpPr>
        <p:spPr>
          <a:xfrm>
            <a:off x="10579608" y="2545690"/>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$60K</a:t>
            </a:r>
            <a:endParaRPr lang="en-US" sz="1300" dirty="0"/>
          </a:p>
        </p:txBody>
      </p:sp>
      <p:sp>
        <p:nvSpPr>
          <p:cNvPr id="77" name="Text 75"/>
          <p:cNvSpPr txBox="1"/>
          <p:nvPr/>
        </p:nvSpPr>
        <p:spPr>
          <a:xfrm>
            <a:off x="6208776" y="2968142"/>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8220456" y="3063194"/>
            <a:ext cx="62344" cy="232349"/>
          </a:xfrm>
          <a:prstGeom prst="rect">
            <a:avLst/>
          </a:prstGeom>
          <a:solidFill>
            <a:srgbClr val="12A566"/>
          </a:solidFill>
          <a:ln/>
        </p:spPr>
      </p:sp>
      <p:sp>
        <p:nvSpPr>
          <p:cNvPr id="79" name="Text 77"/>
          <p:cNvSpPr txBox="1"/>
          <p:nvPr/>
        </p:nvSpPr>
        <p:spPr>
          <a:xfrm>
            <a:off x="8823960" y="2968142"/>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$91K</a:t>
            </a:r>
            <a:endParaRPr lang="en-US" sz="1300" dirty="0"/>
          </a:p>
        </p:txBody>
      </p:sp>
      <p:sp>
        <p:nvSpPr>
          <p:cNvPr id="80" name="Text 78"/>
          <p:cNvSpPr txBox="1"/>
          <p:nvPr/>
        </p:nvSpPr>
        <p:spPr>
          <a:xfrm>
            <a:off x="9738360"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$37K</a:t>
            </a:r>
            <a:endParaRPr lang="en-US" sz="1300" dirty="0"/>
          </a:p>
        </p:txBody>
      </p:sp>
      <p:sp>
        <p:nvSpPr>
          <p:cNvPr id="81" name="Text 79"/>
          <p:cNvSpPr txBox="1"/>
          <p:nvPr/>
        </p:nvSpPr>
        <p:spPr>
          <a:xfrm>
            <a:off x="10579608" y="2968142"/>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$53K</a:t>
            </a:r>
            <a:endParaRPr lang="en-US" sz="1300" dirty="0"/>
          </a:p>
        </p:txBody>
      </p:sp>
      <p:sp>
        <p:nvSpPr>
          <p:cNvPr id="82" name="Text 80"/>
          <p:cNvSpPr txBox="1"/>
          <p:nvPr/>
        </p:nvSpPr>
        <p:spPr>
          <a:xfrm>
            <a:off x="6208776" y="3390595"/>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83" name="Shape 81"/>
          <p:cNvSpPr/>
          <p:nvPr/>
        </p:nvSpPr>
        <p:spPr>
          <a:xfrm>
            <a:off x="8220456" y="3485647"/>
            <a:ext cx="51536" cy="232349"/>
          </a:xfrm>
          <a:prstGeom prst="rect">
            <a:avLst/>
          </a:prstGeom>
          <a:solidFill>
            <a:srgbClr val="12A566"/>
          </a:solidFill>
          <a:ln/>
        </p:spPr>
      </p:sp>
      <p:sp>
        <p:nvSpPr>
          <p:cNvPr id="84" name="Text 82"/>
          <p:cNvSpPr txBox="1"/>
          <p:nvPr/>
        </p:nvSpPr>
        <p:spPr>
          <a:xfrm>
            <a:off x="8823960" y="3390595"/>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$75K</a:t>
            </a:r>
            <a:endParaRPr lang="en-US" sz="1300" dirty="0"/>
          </a:p>
        </p:txBody>
      </p:sp>
      <p:sp>
        <p:nvSpPr>
          <p:cNvPr id="85" name="Text 83"/>
          <p:cNvSpPr txBox="1"/>
          <p:nvPr/>
        </p:nvSpPr>
        <p:spPr>
          <a:xfrm>
            <a:off x="9738360"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$75K</a:t>
            </a:r>
            <a:endParaRPr lang="en-US" sz="1300" dirty="0"/>
          </a:p>
        </p:txBody>
      </p:sp>
      <p:sp>
        <p:nvSpPr>
          <p:cNvPr id="86" name="Text 84"/>
          <p:cNvSpPr txBox="1"/>
          <p:nvPr/>
        </p:nvSpPr>
        <p:spPr>
          <a:xfrm>
            <a:off x="10579608" y="3390595"/>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87" name="Text 85"/>
          <p:cNvSpPr txBox="1"/>
          <p:nvPr/>
        </p:nvSpPr>
        <p:spPr>
          <a:xfrm>
            <a:off x="6208776" y="3813048"/>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8" name="Shape 86"/>
          <p:cNvSpPr/>
          <p:nvPr/>
        </p:nvSpPr>
        <p:spPr>
          <a:xfrm>
            <a:off x="8220456" y="3908100"/>
            <a:ext cx="42311" cy="232349"/>
          </a:xfrm>
          <a:prstGeom prst="rect">
            <a:avLst/>
          </a:prstGeom>
          <a:solidFill>
            <a:srgbClr val="12A566"/>
          </a:solidFill>
          <a:ln/>
        </p:spPr>
      </p:sp>
      <p:sp>
        <p:nvSpPr>
          <p:cNvPr id="89" name="Text 87"/>
          <p:cNvSpPr txBox="1"/>
          <p:nvPr/>
        </p:nvSpPr>
        <p:spPr>
          <a:xfrm>
            <a:off x="8823960" y="3813048"/>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$62K</a:t>
            </a:r>
            <a:endParaRPr lang="en-US" sz="1300" dirty="0"/>
          </a:p>
        </p:txBody>
      </p:sp>
      <p:sp>
        <p:nvSpPr>
          <p:cNvPr id="90" name="Text 88"/>
          <p:cNvSpPr txBox="1"/>
          <p:nvPr/>
        </p:nvSpPr>
        <p:spPr>
          <a:xfrm>
            <a:off x="9738360"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1" name="Text 89"/>
          <p:cNvSpPr txBox="1"/>
          <p:nvPr/>
        </p:nvSpPr>
        <p:spPr>
          <a:xfrm>
            <a:off x="10579608" y="3813048"/>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92" name="Text 90"/>
          <p:cNvSpPr txBox="1"/>
          <p:nvPr/>
        </p:nvSpPr>
        <p:spPr>
          <a:xfrm>
            <a:off x="6208776" y="4235501"/>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4330553"/>
            <a:ext cx="24274" cy="232349"/>
          </a:xfrm>
          <a:prstGeom prst="rect">
            <a:avLst/>
          </a:prstGeom>
          <a:solidFill>
            <a:srgbClr val="12A566"/>
          </a:solidFill>
          <a:ln/>
        </p:spPr>
      </p:sp>
      <p:sp>
        <p:nvSpPr>
          <p:cNvPr id="94" name="Text 92"/>
          <p:cNvSpPr txBox="1"/>
          <p:nvPr/>
        </p:nvSpPr>
        <p:spPr>
          <a:xfrm>
            <a:off x="8823960" y="4235501"/>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$35K</a:t>
            </a:r>
            <a:endParaRPr lang="en-US" sz="1300" dirty="0"/>
          </a:p>
        </p:txBody>
      </p:sp>
      <p:sp>
        <p:nvSpPr>
          <p:cNvPr id="95" name="Text 93"/>
          <p:cNvSpPr txBox="1"/>
          <p:nvPr/>
        </p:nvSpPr>
        <p:spPr>
          <a:xfrm>
            <a:off x="9738360"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$35K</a:t>
            </a:r>
            <a:endParaRPr lang="en-US" sz="1300" dirty="0"/>
          </a:p>
        </p:txBody>
      </p:sp>
      <p:sp>
        <p:nvSpPr>
          <p:cNvPr id="96" name="Text 94"/>
          <p:cNvSpPr txBox="1"/>
          <p:nvPr/>
        </p:nvSpPr>
        <p:spPr>
          <a:xfrm>
            <a:off x="10579608" y="4235501"/>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6208776" y="4657954"/>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8" name="Shape 96"/>
          <p:cNvSpPr/>
          <p:nvPr/>
        </p:nvSpPr>
        <p:spPr>
          <a:xfrm>
            <a:off x="8220456" y="4753005"/>
            <a:ext cx="18288" cy="232349"/>
          </a:xfrm>
          <a:prstGeom prst="rect">
            <a:avLst/>
          </a:prstGeom>
          <a:solidFill>
            <a:srgbClr val="12A566"/>
          </a:solidFill>
          <a:ln/>
        </p:spPr>
      </p:sp>
      <p:sp>
        <p:nvSpPr>
          <p:cNvPr id="99" name="Text 97"/>
          <p:cNvSpPr txBox="1"/>
          <p:nvPr/>
        </p:nvSpPr>
        <p:spPr>
          <a:xfrm>
            <a:off x="8823960" y="4657954"/>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100" name="Text 98"/>
          <p:cNvSpPr txBox="1"/>
          <p:nvPr/>
        </p:nvSpPr>
        <p:spPr>
          <a:xfrm>
            <a:off x="9738360"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1" name="Text 99"/>
          <p:cNvSpPr txBox="1"/>
          <p:nvPr/>
        </p:nvSpPr>
        <p:spPr>
          <a:xfrm>
            <a:off x="10579608" y="4657954"/>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02" name="Text 100"/>
          <p:cNvSpPr txBox="1"/>
          <p:nvPr/>
        </p:nvSpPr>
        <p:spPr>
          <a:xfrm>
            <a:off x="6208776" y="5080406"/>
            <a:ext cx="1938528" cy="42245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3" name="Shape 101"/>
          <p:cNvSpPr/>
          <p:nvPr/>
        </p:nvSpPr>
        <p:spPr>
          <a:xfrm>
            <a:off x="8220456" y="5175458"/>
            <a:ext cx="18288" cy="232349"/>
          </a:xfrm>
          <a:prstGeom prst="rect">
            <a:avLst/>
          </a:prstGeom>
          <a:solidFill>
            <a:srgbClr val="12A566"/>
          </a:solidFill>
          <a:ln/>
        </p:spPr>
      </p:sp>
      <p:sp>
        <p:nvSpPr>
          <p:cNvPr id="104" name="Text 102"/>
          <p:cNvSpPr txBox="1"/>
          <p:nvPr/>
        </p:nvSpPr>
        <p:spPr>
          <a:xfrm>
            <a:off x="8823960" y="5080406"/>
            <a:ext cx="914400" cy="42245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105" name="Text 103"/>
          <p:cNvSpPr txBox="1"/>
          <p:nvPr/>
        </p:nvSpPr>
        <p:spPr>
          <a:xfrm>
            <a:off x="9738360"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06" name="Text 104"/>
          <p:cNvSpPr txBox="1"/>
          <p:nvPr/>
        </p:nvSpPr>
        <p:spPr>
          <a:xfrm>
            <a:off x="10579608" y="5080406"/>
            <a:ext cx="841248" cy="422453"/>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$5K</a:t>
            </a:r>
            <a:endParaRPr lang="en-US" sz="1300" dirty="0"/>
          </a:p>
        </p:txBody>
      </p:sp>
      <p:sp>
        <p:nvSpPr>
          <p:cNvPr id="107" name="Shape 105"/>
          <p:cNvSpPr/>
          <p:nvPr/>
        </p:nvSpPr>
        <p:spPr>
          <a:xfrm>
            <a:off x="457200" y="6126480"/>
            <a:ext cx="11274552" cy="615696"/>
          </a:xfrm>
          <a:prstGeom prst="rect">
            <a:avLst/>
          </a:prstGeom>
          <a:solidFill>
            <a:srgbClr val="E6F6EE"/>
          </a:solidFill>
          <a:ln/>
        </p:spPr>
      </p:sp>
      <p:sp>
        <p:nvSpPr>
          <p:cNvPr id="108" name="Text 10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$3,788,200 in added gross profit from warranty rate increases approved this year at 19 stores. Higher rates bring more audits: the process is how we keep it.</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$180.25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$197.17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+$16.93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$16.93 to $197.17, ahead of 2025 in all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$197.17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$308.88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505642"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$274.91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414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$263.19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008376" y="2626748"/>
            <a:ext cx="128435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$234.51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25085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$228.39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3" name="Shape 31"/>
          <p:cNvSpPr/>
          <p:nvPr/>
        </p:nvSpPr>
        <p:spPr>
          <a:xfrm>
            <a:off x="3008376" y="3106540"/>
            <a:ext cx="118762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$216.85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163222"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$212.39</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11483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$209.67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008376" y="3826226"/>
            <a:ext cx="1147249"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008376" y="4066122"/>
            <a:ext cx="113346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3" name="Shape 51"/>
          <p:cNvSpPr/>
          <p:nvPr/>
        </p:nvSpPr>
        <p:spPr>
          <a:xfrm>
            <a:off x="3008376" y="4306017"/>
            <a:ext cx="1133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$206.95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10821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$197.59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785808"/>
            <a:ext cx="1070003"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$195.37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008376" y="5025704"/>
            <a:ext cx="106886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$195.16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101870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$186.00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002048"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$182.96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008376" y="5745390"/>
            <a:ext cx="989419"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$180.66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98896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97270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$177.61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9" name="Shape 87"/>
          <p:cNvSpPr/>
          <p:nvPr/>
        </p:nvSpPr>
        <p:spPr>
          <a:xfrm>
            <a:off x="8558784" y="2386853"/>
            <a:ext cx="9672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$176.60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95047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$173.55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7" name="Shape 95"/>
          <p:cNvSpPr/>
          <p:nvPr/>
        </p:nvSpPr>
        <p:spPr>
          <a:xfrm>
            <a:off x="8558784" y="2866644"/>
            <a:ext cx="93898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$171.45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58784" y="3106540"/>
            <a:ext cx="937921"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$171.25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936379"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$170.97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93463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$170.65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3" name="Shape 111"/>
          <p:cNvSpPr/>
          <p:nvPr/>
        </p:nvSpPr>
        <p:spPr>
          <a:xfrm>
            <a:off x="8558784" y="3826226"/>
            <a:ext cx="89907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$164.16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8558784" y="4066122"/>
            <a:ext cx="8782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86428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$157.81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853702"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$155.88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9" name="Shape 127"/>
          <p:cNvSpPr/>
          <p:nvPr/>
        </p:nvSpPr>
        <p:spPr>
          <a:xfrm>
            <a:off x="8558784" y="4785808"/>
            <a:ext cx="830028"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$151.55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3" name="Shape 131"/>
          <p:cNvSpPr/>
          <p:nvPr/>
        </p:nvSpPr>
        <p:spPr>
          <a:xfrm>
            <a:off x="8558784" y="5025704"/>
            <a:ext cx="781476"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$142.69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558784" y="5265599"/>
            <a:ext cx="71462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41" name="Shape 139"/>
          <p:cNvSpPr/>
          <p:nvPr/>
        </p:nvSpPr>
        <p:spPr>
          <a:xfrm>
            <a:off x="8558784" y="5505495"/>
            <a:ext cx="665401"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$121.50</a:t>
            </a:r>
            <a:endParaRPr lang="en-US" sz="1200" dirty="0"/>
          </a:p>
        </p:txBody>
      </p:sp>
      <p:sp>
        <p:nvSpPr>
          <p:cNvPr id="143" name="Shape 141"/>
          <p:cNvSpPr/>
          <p:nvPr/>
        </p:nvSpPr>
        <p:spPr>
          <a:xfrm>
            <a:off x="4080932" y="1847088"/>
            <a:ext cx="14630" cy="4078224"/>
          </a:xfrm>
          <a:prstGeom prst="rect">
            <a:avLst/>
          </a:prstGeom>
          <a:solidFill>
            <a:srgbClr val="0B2C4A"/>
          </a:solidFill>
          <a:ln/>
        </p:spPr>
      </p:sp>
      <p:sp>
        <p:nvSpPr>
          <p:cNvPr id="144" name="Shape 142"/>
          <p:cNvSpPr/>
          <p:nvPr/>
        </p:nvSpPr>
        <p:spPr>
          <a:xfrm>
            <a:off x="9631340"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$197.17 group, led by Audi Henderson at $308.88. Subaru Prescott is lowest at $121.50.</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+$16.93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+$57.74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785616" y="2151755"/>
            <a:ext cx="536453"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785616" y="2391651"/>
            <a:ext cx="36840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5" name="Shape 23"/>
          <p:cNvSpPr/>
          <p:nvPr/>
        </p:nvSpPr>
        <p:spPr>
          <a:xfrm>
            <a:off x="3785616" y="2631546"/>
            <a:ext cx="35513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+$26.38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9" name="Shape 27"/>
          <p:cNvSpPr/>
          <p:nvPr/>
        </p:nvSpPr>
        <p:spPr>
          <a:xfrm>
            <a:off x="3785616" y="2871442"/>
            <a:ext cx="27660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258528"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785616" y="3351233"/>
            <a:ext cx="25783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1" name="Shape 39"/>
          <p:cNvSpPr/>
          <p:nvPr/>
        </p:nvSpPr>
        <p:spPr>
          <a:xfrm>
            <a:off x="3785616" y="3591128"/>
            <a:ext cx="22818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+$16.95</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22572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9" name="Shape 47"/>
          <p:cNvSpPr/>
          <p:nvPr/>
        </p:nvSpPr>
        <p:spPr>
          <a:xfrm>
            <a:off x="3785616" y="4070920"/>
            <a:ext cx="22568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785616" y="4310815"/>
            <a:ext cx="21600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3785616" y="4550711"/>
            <a:ext cx="2146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1" name="Shape 59"/>
          <p:cNvSpPr/>
          <p:nvPr/>
        </p:nvSpPr>
        <p:spPr>
          <a:xfrm>
            <a:off x="3785616" y="4790606"/>
            <a:ext cx="1835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+$13.64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17351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3785616" y="5270397"/>
            <a:ext cx="16498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+$12.26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3785616" y="5510293"/>
            <a:ext cx="130019"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7" name="Shape 75"/>
          <p:cNvSpPr/>
          <p:nvPr/>
        </p:nvSpPr>
        <p:spPr>
          <a:xfrm>
            <a:off x="3785616" y="5750188"/>
            <a:ext cx="129735"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9336024" y="1911860"/>
            <a:ext cx="123986"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5" name="Shape 83"/>
          <p:cNvSpPr/>
          <p:nvPr/>
        </p:nvSpPr>
        <p:spPr>
          <a:xfrm>
            <a:off x="9336024" y="2151755"/>
            <a:ext cx="115500"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+$8.58</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9336024" y="2391651"/>
            <a:ext cx="9359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9336024" y="2631546"/>
            <a:ext cx="9154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9336024" y="2871442"/>
            <a:ext cx="90857"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111337"/>
            <a:ext cx="83711"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+$6.22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336024" y="3351233"/>
            <a:ext cx="7134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336024" y="3591128"/>
            <a:ext cx="61183"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336024" y="3831024"/>
            <a:ext cx="57486"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336024" y="4070920"/>
            <a:ext cx="50066"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9336024" y="4310815"/>
            <a:ext cx="33186"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9336024" y="4550711"/>
            <a:ext cx="13817" cy="110352"/>
          </a:xfrm>
          <a:prstGeom prst="rect">
            <a:avLst/>
          </a:prstGeom>
          <a:solidFill>
            <a:srgbClr val="12A566"/>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336024" y="4790606"/>
            <a:ext cx="12802" cy="110352"/>
          </a:xfrm>
          <a:prstGeom prst="rect">
            <a:avLst/>
          </a:prstGeom>
          <a:solidFill>
            <a:srgbClr val="12A566"/>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335137" y="5030502"/>
            <a:ext cx="1280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7" name="Shape 135"/>
          <p:cNvSpPr/>
          <p:nvPr/>
        </p:nvSpPr>
        <p:spPr>
          <a:xfrm>
            <a:off x="9314711" y="5270397"/>
            <a:ext cx="2131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1" name="Shape 139"/>
          <p:cNvSpPr/>
          <p:nvPr/>
        </p:nvSpPr>
        <p:spPr>
          <a:xfrm>
            <a:off x="9171193" y="5510293"/>
            <a:ext cx="16483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−$12.25</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 of 33 stores raised warranty ELR, led by LR LV at +$57.74 to $274.91. 3 declined; Honda North fell most at −$12.25.</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42.6%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56616"/>
          </a:xfrm>
          <a:prstGeom prst="rect">
            <a:avLst/>
          </a:prstGeom>
          <a:solidFill>
            <a:srgbClr val="E6F6EE"/>
          </a:solidFill>
          <a:ln/>
        </p:spPr>
      </p:sp>
      <p:sp>
        <p:nvSpPr>
          <p:cNvPr id="28"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2.1 pts to 44.7%, ahead of 2025 in all nine months: approved parts markup increases show up as margin.</a:t>
            </a:r>
            <a:endParaRPr lang="en-US" sz="15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Primary causes in the six audits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Manager signature on add-ons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Any added repair approved and signed by a manager before it is claimed</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Signatures on in-stock units</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Customer and manager signatures on repairs to units in stock</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135,764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126,891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−8,873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−6.5%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FBEBEA"/>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8,873 to 126,891, behind 2025 in seven of nine months. Warranty volume follows OEM campaigns and recalls as much as store effort.</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126,891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12A566"/>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11,211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22605" cy="110352"/>
          </a:xfrm>
          <a:prstGeom prst="rect">
            <a:avLst/>
          </a:prstGeom>
          <a:solidFill>
            <a:srgbClr val="12A566"/>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10,560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2980944" y="2391651"/>
            <a:ext cx="1400922" cy="110352"/>
          </a:xfrm>
          <a:prstGeom prst="rect">
            <a:avLst/>
          </a:prstGeom>
          <a:solidFill>
            <a:srgbClr val="12A566"/>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8,588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2980944" y="2631546"/>
            <a:ext cx="1286245" cy="110352"/>
          </a:xfrm>
          <a:prstGeom prst="rect">
            <a:avLst/>
          </a:prstGeom>
          <a:solidFill>
            <a:srgbClr val="12A566"/>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2980944" y="2871442"/>
            <a:ext cx="1262755" cy="110352"/>
          </a:xfrm>
          <a:prstGeom prst="rect">
            <a:avLst/>
          </a:prstGeom>
          <a:solidFill>
            <a:srgbClr val="12A566"/>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1196036" cy="110352"/>
          </a:xfrm>
          <a:prstGeom prst="rect">
            <a:avLst/>
          </a:prstGeom>
          <a:solidFill>
            <a:srgbClr val="12A566"/>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7,332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2980944" y="3351233"/>
            <a:ext cx="1030953" cy="110352"/>
          </a:xfrm>
          <a:prstGeom prst="rect">
            <a:avLst/>
          </a:prstGeom>
          <a:solidFill>
            <a:srgbClr val="12A566"/>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6,320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798989" cy="110352"/>
          </a:xfrm>
          <a:prstGeom prst="rect">
            <a:avLst/>
          </a:prstGeom>
          <a:solidFill>
            <a:srgbClr val="12A566"/>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4,898</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2980944" y="3831024"/>
            <a:ext cx="772073" cy="110352"/>
          </a:xfrm>
          <a:prstGeom prst="rect">
            <a:avLst/>
          </a:prstGeom>
          <a:solidFill>
            <a:srgbClr val="12A566"/>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4,733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2980944" y="4070920"/>
            <a:ext cx="625097" cy="110352"/>
          </a:xfrm>
          <a:prstGeom prst="rect">
            <a:avLst/>
          </a:prstGeom>
          <a:solidFill>
            <a:srgbClr val="12A566"/>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3" name="Shape 51"/>
          <p:cNvSpPr/>
          <p:nvPr/>
        </p:nvSpPr>
        <p:spPr>
          <a:xfrm>
            <a:off x="2980944" y="4310815"/>
            <a:ext cx="616778" cy="110352"/>
          </a:xfrm>
          <a:prstGeom prst="rect">
            <a:avLst/>
          </a:prstGeom>
          <a:solidFill>
            <a:srgbClr val="12A566"/>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3,781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596224" cy="110352"/>
          </a:xfrm>
          <a:prstGeom prst="rect">
            <a:avLst/>
          </a:prstGeom>
          <a:solidFill>
            <a:srgbClr val="12A566"/>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595571" cy="110352"/>
          </a:xfrm>
          <a:prstGeom prst="rect">
            <a:avLst/>
          </a:prstGeom>
          <a:solidFill>
            <a:srgbClr val="12A566"/>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3,651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5" name="Shape 63"/>
          <p:cNvSpPr/>
          <p:nvPr/>
        </p:nvSpPr>
        <p:spPr>
          <a:xfrm>
            <a:off x="2980944" y="5030502"/>
            <a:ext cx="552180" cy="110352"/>
          </a:xfrm>
          <a:prstGeom prst="rect">
            <a:avLst/>
          </a:prstGeom>
          <a:solidFill>
            <a:srgbClr val="12A566"/>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3,385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530647" cy="110352"/>
          </a:xfrm>
          <a:prstGeom prst="rect">
            <a:avLst/>
          </a:prstGeom>
          <a:solidFill>
            <a:srgbClr val="12A566"/>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3,253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3" name="Shape 71"/>
          <p:cNvSpPr/>
          <p:nvPr/>
        </p:nvSpPr>
        <p:spPr>
          <a:xfrm>
            <a:off x="2980944" y="5510293"/>
            <a:ext cx="509930" cy="110352"/>
          </a:xfrm>
          <a:prstGeom prst="rect">
            <a:avLst/>
          </a:prstGeom>
          <a:solidFill>
            <a:srgbClr val="12A566"/>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3,126</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2980944" y="5750188"/>
            <a:ext cx="500632" cy="110352"/>
          </a:xfrm>
          <a:prstGeom prst="rect">
            <a:avLst/>
          </a:prstGeom>
          <a:solidFill>
            <a:srgbClr val="12A566"/>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3,069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1" name="Shape 79"/>
          <p:cNvSpPr/>
          <p:nvPr/>
        </p:nvSpPr>
        <p:spPr>
          <a:xfrm>
            <a:off x="8531352" y="1911860"/>
            <a:ext cx="457078" cy="110352"/>
          </a:xfrm>
          <a:prstGeom prst="rect">
            <a:avLst/>
          </a:prstGeom>
          <a:solidFill>
            <a:srgbClr val="12A566"/>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2,802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8531352" y="2151755"/>
            <a:ext cx="444517" cy="110352"/>
          </a:xfrm>
          <a:prstGeom prst="rect">
            <a:avLst/>
          </a:prstGeom>
          <a:solidFill>
            <a:srgbClr val="12A566"/>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2,725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31352" y="2391651"/>
            <a:ext cx="408466" cy="110352"/>
          </a:xfrm>
          <a:prstGeom prst="rect">
            <a:avLst/>
          </a:prstGeom>
          <a:solidFill>
            <a:srgbClr val="12A566"/>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3" name="Shape 91"/>
          <p:cNvSpPr/>
          <p:nvPr/>
        </p:nvSpPr>
        <p:spPr>
          <a:xfrm>
            <a:off x="8531352" y="2631546"/>
            <a:ext cx="399331" cy="110352"/>
          </a:xfrm>
          <a:prstGeom prst="rect">
            <a:avLst/>
          </a:prstGeom>
          <a:solidFill>
            <a:srgbClr val="12A566"/>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2,448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8531352" y="2871442"/>
            <a:ext cx="375026" cy="110352"/>
          </a:xfrm>
          <a:prstGeom prst="rect">
            <a:avLst/>
          </a:prstGeom>
          <a:solidFill>
            <a:srgbClr val="12A566"/>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2,299</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8531352" y="3111337"/>
            <a:ext cx="369153" cy="110352"/>
          </a:xfrm>
          <a:prstGeom prst="rect">
            <a:avLst/>
          </a:prstGeom>
          <a:solidFill>
            <a:srgbClr val="12A566"/>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2,263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5" name="Shape 103"/>
          <p:cNvSpPr/>
          <p:nvPr/>
        </p:nvSpPr>
        <p:spPr>
          <a:xfrm>
            <a:off x="8531352" y="3351233"/>
            <a:ext cx="328209" cy="110352"/>
          </a:xfrm>
          <a:prstGeom prst="rect">
            <a:avLst/>
          </a:prstGeom>
          <a:solidFill>
            <a:srgbClr val="12A566"/>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8531352" y="3591128"/>
            <a:ext cx="325762" cy="110352"/>
          </a:xfrm>
          <a:prstGeom prst="rect">
            <a:avLst/>
          </a:prstGeom>
          <a:solidFill>
            <a:srgbClr val="12A566"/>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1,997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31352" y="3831024"/>
            <a:ext cx="294768" cy="110352"/>
          </a:xfrm>
          <a:prstGeom prst="rect">
            <a:avLst/>
          </a:prstGeom>
          <a:solidFill>
            <a:srgbClr val="12A566"/>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31352" y="4070920"/>
            <a:ext cx="246646" cy="110352"/>
          </a:xfrm>
          <a:prstGeom prst="rect">
            <a:avLst/>
          </a:prstGeom>
          <a:solidFill>
            <a:srgbClr val="12A566"/>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31352" y="4310815"/>
            <a:ext cx="235390" cy="110352"/>
          </a:xfrm>
          <a:prstGeom prst="rect">
            <a:avLst/>
          </a:prstGeom>
          <a:solidFill>
            <a:srgbClr val="12A566"/>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8531352" y="4550711"/>
            <a:ext cx="222666" cy="110352"/>
          </a:xfrm>
          <a:prstGeom prst="rect">
            <a:avLst/>
          </a:prstGeom>
          <a:solidFill>
            <a:srgbClr val="12A566"/>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1,365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212389" cy="110352"/>
          </a:xfrm>
          <a:prstGeom prst="rect">
            <a:avLst/>
          </a:prstGeom>
          <a:solidFill>
            <a:srgbClr val="12A566"/>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1,302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201460" cy="110352"/>
          </a:xfrm>
          <a:prstGeom prst="rect">
            <a:avLst/>
          </a:prstGeom>
          <a:solidFill>
            <a:srgbClr val="12A566"/>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5147" cy="110352"/>
          </a:xfrm>
          <a:prstGeom prst="rect">
            <a:avLst/>
          </a:prstGeom>
          <a:solidFill>
            <a:srgbClr val="12A566"/>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1,135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166714" cy="110352"/>
          </a:xfrm>
          <a:prstGeom prst="rect">
            <a:avLst/>
          </a:prstGeom>
          <a:solidFill>
            <a:srgbClr val="12A566"/>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1,022</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11,211; LR Reno is smallest at 1,022.</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7" name="Shape 15"/>
          <p:cNvSpPr/>
          <p:nvPr/>
        </p:nvSpPr>
        <p:spPr>
          <a:xfrm>
            <a:off x="3785616" y="2151755"/>
            <a:ext cx="776748"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76745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5" name="Shape 23"/>
          <p:cNvSpPr/>
          <p:nvPr/>
        </p:nvSpPr>
        <p:spPr>
          <a:xfrm>
            <a:off x="3785616" y="2631546"/>
            <a:ext cx="583236"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53085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3" name="Shape 31"/>
          <p:cNvSpPr/>
          <p:nvPr/>
        </p:nvSpPr>
        <p:spPr>
          <a:xfrm>
            <a:off x="3785616" y="3111337"/>
            <a:ext cx="48565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368446"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+22.7%</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1" name="Shape 39"/>
          <p:cNvSpPr/>
          <p:nvPr/>
        </p:nvSpPr>
        <p:spPr>
          <a:xfrm>
            <a:off x="3785616" y="3591128"/>
            <a:ext cx="3320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5" name="Shape 43"/>
          <p:cNvSpPr/>
          <p:nvPr/>
        </p:nvSpPr>
        <p:spPr>
          <a:xfrm>
            <a:off x="3785616" y="3831024"/>
            <a:ext cx="19401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785616" y="4070920"/>
            <a:ext cx="18893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3" name="Shape 51"/>
          <p:cNvSpPr/>
          <p:nvPr/>
        </p:nvSpPr>
        <p:spPr>
          <a:xfrm>
            <a:off x="3785616" y="4310815"/>
            <a:ext cx="164792"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785616" y="4550711"/>
            <a:ext cx="14485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3785616" y="4790606"/>
            <a:ext cx="120626"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1091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9" name="Shape 67"/>
          <p:cNvSpPr/>
          <p:nvPr/>
        </p:nvSpPr>
        <p:spPr>
          <a:xfrm>
            <a:off x="3785616" y="5270397"/>
            <a:ext cx="6589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3785616" y="5510293"/>
            <a:ext cx="5428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3785616" y="5750188"/>
            <a:ext cx="2176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1" name="Shape 79"/>
          <p:cNvSpPr/>
          <p:nvPr/>
        </p:nvSpPr>
        <p:spPr>
          <a:xfrm>
            <a:off x="9267349" y="1911860"/>
            <a:ext cx="68675"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9226847" y="2151755"/>
            <a:ext cx="109177"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9209036" y="2391651"/>
            <a:ext cx="126988"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157295" y="2631546"/>
            <a:ext cx="178729"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9151411" y="2871442"/>
            <a:ext cx="184613"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132099" y="3111337"/>
            <a:ext cx="203925"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5" name="Shape 103"/>
          <p:cNvSpPr/>
          <p:nvPr/>
        </p:nvSpPr>
        <p:spPr>
          <a:xfrm>
            <a:off x="9091020" y="3351233"/>
            <a:ext cx="24500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9" name="Shape 107"/>
          <p:cNvSpPr/>
          <p:nvPr/>
        </p:nvSpPr>
        <p:spPr>
          <a:xfrm>
            <a:off x="9014543" y="3591128"/>
            <a:ext cx="32148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9006870" y="3831024"/>
            <a:ext cx="329154"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967454" y="4070920"/>
            <a:ext cx="3685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1" name="Shape 119"/>
          <p:cNvSpPr/>
          <p:nvPr/>
        </p:nvSpPr>
        <p:spPr>
          <a:xfrm>
            <a:off x="8892133" y="4310815"/>
            <a:ext cx="443891"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5" name="Shape 123"/>
          <p:cNvSpPr/>
          <p:nvPr/>
        </p:nvSpPr>
        <p:spPr>
          <a:xfrm>
            <a:off x="8853570" y="4550711"/>
            <a:ext cx="48245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762298" y="4790606"/>
            <a:ext cx="57372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3" name="Shape 131"/>
          <p:cNvSpPr/>
          <p:nvPr/>
        </p:nvSpPr>
        <p:spPr>
          <a:xfrm>
            <a:off x="8694064" y="5030502"/>
            <a:ext cx="64196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26252" y="5270397"/>
            <a:ext cx="70977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83100" y="5510293"/>
            <a:ext cx="75292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grew warranty RO count, led by Hyundai Prescott at +47.9% to 2,802. 16 declined; Acura fell most at −46.4%.</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166</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per advisor a month, down 7. Advisors grew 1.5%; ROs fell 2.3%.</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6F6EE"/>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1012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3425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0235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86053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88466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5276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87195"/>
            <a:ext cx="585216" cy="211226"/>
          </a:xfrm>
          <a:prstGeom prst="rect">
            <a:avLst/>
          </a:prstGeom>
          <a:solidFill>
            <a:srgbClr val="C2352F"/>
          </a:solidFill>
          <a:ln/>
        </p:spPr>
      </p:sp>
      <p:sp>
        <p:nvSpPr>
          <p:cNvPr id="14" name="Text 12"/>
          <p:cNvSpPr txBox="1"/>
          <p:nvPr/>
        </p:nvSpPr>
        <p:spPr>
          <a:xfrm>
            <a:off x="331012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5" name="Text 13"/>
          <p:cNvSpPr txBox="1"/>
          <p:nvPr/>
        </p:nvSpPr>
        <p:spPr>
          <a:xfrm>
            <a:off x="433425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6" name="Text 14"/>
          <p:cNvSpPr txBox="1"/>
          <p:nvPr/>
        </p:nvSpPr>
        <p:spPr>
          <a:xfrm>
            <a:off x="510235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7" name="Text 15"/>
          <p:cNvSpPr txBox="1"/>
          <p:nvPr/>
        </p:nvSpPr>
        <p:spPr>
          <a:xfrm>
            <a:off x="658368"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8" name="Shape 16"/>
          <p:cNvSpPr/>
          <p:nvPr/>
        </p:nvSpPr>
        <p:spPr>
          <a:xfrm>
            <a:off x="2670048" y="2171243"/>
            <a:ext cx="521308" cy="211226"/>
          </a:xfrm>
          <a:prstGeom prst="rect">
            <a:avLst/>
          </a:prstGeom>
          <a:solidFill>
            <a:srgbClr val="C2352F"/>
          </a:solidFill>
          <a:ln/>
        </p:spPr>
      </p:sp>
      <p:sp>
        <p:nvSpPr>
          <p:cNvPr id="19" name="Text 17"/>
          <p:cNvSpPr txBox="1"/>
          <p:nvPr/>
        </p:nvSpPr>
        <p:spPr>
          <a:xfrm>
            <a:off x="331012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0" name="Text 18"/>
          <p:cNvSpPr txBox="1"/>
          <p:nvPr/>
        </p:nvSpPr>
        <p:spPr>
          <a:xfrm>
            <a:off x="433425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1" name="Text 19"/>
          <p:cNvSpPr txBox="1"/>
          <p:nvPr/>
        </p:nvSpPr>
        <p:spPr>
          <a:xfrm>
            <a:off x="510235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2" name="Text 20"/>
          <p:cNvSpPr txBox="1"/>
          <p:nvPr/>
        </p:nvSpPr>
        <p:spPr>
          <a:xfrm>
            <a:off x="658368"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3" name="Shape 21"/>
          <p:cNvSpPr/>
          <p:nvPr/>
        </p:nvSpPr>
        <p:spPr>
          <a:xfrm>
            <a:off x="2670048" y="2555291"/>
            <a:ext cx="321685" cy="211226"/>
          </a:xfrm>
          <a:prstGeom prst="rect">
            <a:avLst/>
          </a:prstGeom>
          <a:solidFill>
            <a:srgbClr val="C2352F"/>
          </a:solidFill>
          <a:ln/>
        </p:spPr>
      </p:sp>
      <p:sp>
        <p:nvSpPr>
          <p:cNvPr id="24" name="Text 22"/>
          <p:cNvSpPr txBox="1"/>
          <p:nvPr/>
        </p:nvSpPr>
        <p:spPr>
          <a:xfrm>
            <a:off x="331012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5" name="Text 23"/>
          <p:cNvSpPr txBox="1"/>
          <p:nvPr/>
        </p:nvSpPr>
        <p:spPr>
          <a:xfrm>
            <a:off x="433425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6" name="Text 24"/>
          <p:cNvSpPr txBox="1"/>
          <p:nvPr/>
        </p:nvSpPr>
        <p:spPr>
          <a:xfrm>
            <a:off x="510235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27" name="Text 25"/>
          <p:cNvSpPr txBox="1"/>
          <p:nvPr/>
        </p:nvSpPr>
        <p:spPr>
          <a:xfrm>
            <a:off x="658368"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939339"/>
            <a:ext cx="313094" cy="211226"/>
          </a:xfrm>
          <a:prstGeom prst="rect">
            <a:avLst/>
          </a:prstGeom>
          <a:solidFill>
            <a:srgbClr val="C2352F"/>
          </a:solidFill>
          <a:ln/>
        </p:spPr>
      </p:sp>
      <p:sp>
        <p:nvSpPr>
          <p:cNvPr id="29" name="Text 27"/>
          <p:cNvSpPr txBox="1"/>
          <p:nvPr/>
        </p:nvSpPr>
        <p:spPr>
          <a:xfrm>
            <a:off x="331012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0" name="Text 28"/>
          <p:cNvSpPr txBox="1"/>
          <p:nvPr/>
        </p:nvSpPr>
        <p:spPr>
          <a:xfrm>
            <a:off x="433425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1" name="Text 29"/>
          <p:cNvSpPr txBox="1"/>
          <p:nvPr/>
        </p:nvSpPr>
        <p:spPr>
          <a:xfrm>
            <a:off x="510235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2" name="Text 30"/>
          <p:cNvSpPr txBox="1"/>
          <p:nvPr/>
        </p:nvSpPr>
        <p:spPr>
          <a:xfrm>
            <a:off x="658368"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3" name="Shape 31"/>
          <p:cNvSpPr/>
          <p:nvPr/>
        </p:nvSpPr>
        <p:spPr>
          <a:xfrm>
            <a:off x="2670048" y="3323387"/>
            <a:ext cx="293540" cy="211226"/>
          </a:xfrm>
          <a:prstGeom prst="rect">
            <a:avLst/>
          </a:prstGeom>
          <a:solidFill>
            <a:srgbClr val="C2352F"/>
          </a:solidFill>
          <a:ln/>
        </p:spPr>
      </p:sp>
      <p:sp>
        <p:nvSpPr>
          <p:cNvPr id="34" name="Text 32"/>
          <p:cNvSpPr txBox="1"/>
          <p:nvPr/>
        </p:nvSpPr>
        <p:spPr>
          <a:xfrm>
            <a:off x="331012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35" name="Text 33"/>
          <p:cNvSpPr txBox="1"/>
          <p:nvPr/>
        </p:nvSpPr>
        <p:spPr>
          <a:xfrm>
            <a:off x="433425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36" name="Text 34"/>
          <p:cNvSpPr txBox="1"/>
          <p:nvPr/>
        </p:nvSpPr>
        <p:spPr>
          <a:xfrm>
            <a:off x="510235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7" name="Text 35"/>
          <p:cNvSpPr txBox="1"/>
          <p:nvPr/>
        </p:nvSpPr>
        <p:spPr>
          <a:xfrm>
            <a:off x="658368"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2670048" y="3707435"/>
            <a:ext cx="268472" cy="211226"/>
          </a:xfrm>
          <a:prstGeom prst="rect">
            <a:avLst/>
          </a:prstGeom>
          <a:solidFill>
            <a:srgbClr val="C2352F"/>
          </a:solidFill>
          <a:ln/>
        </p:spPr>
      </p:sp>
      <p:sp>
        <p:nvSpPr>
          <p:cNvPr id="39" name="Text 37"/>
          <p:cNvSpPr txBox="1"/>
          <p:nvPr/>
        </p:nvSpPr>
        <p:spPr>
          <a:xfrm>
            <a:off x="331012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0" name="Text 38"/>
          <p:cNvSpPr txBox="1"/>
          <p:nvPr/>
        </p:nvSpPr>
        <p:spPr>
          <a:xfrm>
            <a:off x="433425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1" name="Text 39"/>
          <p:cNvSpPr txBox="1"/>
          <p:nvPr/>
        </p:nvSpPr>
        <p:spPr>
          <a:xfrm>
            <a:off x="510235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3" name="Shape 41"/>
          <p:cNvSpPr/>
          <p:nvPr/>
        </p:nvSpPr>
        <p:spPr>
          <a:xfrm>
            <a:off x="2670048" y="4091483"/>
            <a:ext cx="252516" cy="211226"/>
          </a:xfrm>
          <a:prstGeom prst="rect">
            <a:avLst/>
          </a:prstGeom>
          <a:solidFill>
            <a:srgbClr val="C2352F"/>
          </a:solidFill>
          <a:ln/>
        </p:spPr>
      </p:sp>
      <p:sp>
        <p:nvSpPr>
          <p:cNvPr id="44" name="Text 42"/>
          <p:cNvSpPr txBox="1"/>
          <p:nvPr/>
        </p:nvSpPr>
        <p:spPr>
          <a:xfrm>
            <a:off x="331012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45" name="Text 43"/>
          <p:cNvSpPr txBox="1"/>
          <p:nvPr/>
        </p:nvSpPr>
        <p:spPr>
          <a:xfrm>
            <a:off x="433425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46" name="Text 44"/>
          <p:cNvSpPr txBox="1"/>
          <p:nvPr/>
        </p:nvSpPr>
        <p:spPr>
          <a:xfrm>
            <a:off x="510235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7" name="Text 45"/>
          <p:cNvSpPr txBox="1"/>
          <p:nvPr/>
        </p:nvSpPr>
        <p:spPr>
          <a:xfrm>
            <a:off x="658368"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48" name="Shape 46"/>
          <p:cNvSpPr/>
          <p:nvPr/>
        </p:nvSpPr>
        <p:spPr>
          <a:xfrm>
            <a:off x="2670048" y="4475531"/>
            <a:ext cx="244133" cy="211226"/>
          </a:xfrm>
          <a:prstGeom prst="rect">
            <a:avLst/>
          </a:prstGeom>
          <a:solidFill>
            <a:srgbClr val="C2352F"/>
          </a:solidFill>
          <a:ln/>
        </p:spPr>
      </p:sp>
      <p:sp>
        <p:nvSpPr>
          <p:cNvPr id="49" name="Text 47"/>
          <p:cNvSpPr txBox="1"/>
          <p:nvPr/>
        </p:nvSpPr>
        <p:spPr>
          <a:xfrm>
            <a:off x="331012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0" name="Text 48"/>
          <p:cNvSpPr txBox="1"/>
          <p:nvPr/>
        </p:nvSpPr>
        <p:spPr>
          <a:xfrm>
            <a:off x="433425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1" name="Text 49"/>
          <p:cNvSpPr txBox="1"/>
          <p:nvPr/>
        </p:nvSpPr>
        <p:spPr>
          <a:xfrm>
            <a:off x="510235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2" name="Text 50"/>
          <p:cNvSpPr txBox="1"/>
          <p:nvPr/>
        </p:nvSpPr>
        <p:spPr>
          <a:xfrm>
            <a:off x="658368"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53" name="Shape 51"/>
          <p:cNvSpPr/>
          <p:nvPr/>
        </p:nvSpPr>
        <p:spPr>
          <a:xfrm>
            <a:off x="2670048" y="4859579"/>
            <a:ext cx="243998" cy="211226"/>
          </a:xfrm>
          <a:prstGeom prst="rect">
            <a:avLst/>
          </a:prstGeom>
          <a:solidFill>
            <a:srgbClr val="C2352F"/>
          </a:solidFill>
          <a:ln/>
        </p:spPr>
      </p:sp>
      <p:sp>
        <p:nvSpPr>
          <p:cNvPr id="54" name="Text 52"/>
          <p:cNvSpPr txBox="1"/>
          <p:nvPr/>
        </p:nvSpPr>
        <p:spPr>
          <a:xfrm>
            <a:off x="331012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55" name="Text 53"/>
          <p:cNvSpPr txBox="1"/>
          <p:nvPr/>
        </p:nvSpPr>
        <p:spPr>
          <a:xfrm>
            <a:off x="433425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56" name="Text 54"/>
          <p:cNvSpPr txBox="1"/>
          <p:nvPr/>
        </p:nvSpPr>
        <p:spPr>
          <a:xfrm>
            <a:off x="510235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7" name="Text 55"/>
          <p:cNvSpPr txBox="1"/>
          <p:nvPr/>
        </p:nvSpPr>
        <p:spPr>
          <a:xfrm>
            <a:off x="658368"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58" name="Shape 56"/>
          <p:cNvSpPr/>
          <p:nvPr/>
        </p:nvSpPr>
        <p:spPr>
          <a:xfrm>
            <a:off x="2670048" y="5243627"/>
            <a:ext cx="197721" cy="211226"/>
          </a:xfrm>
          <a:prstGeom prst="rect">
            <a:avLst/>
          </a:prstGeom>
          <a:solidFill>
            <a:srgbClr val="C2352F"/>
          </a:solidFill>
          <a:ln/>
        </p:spPr>
      </p:sp>
      <p:sp>
        <p:nvSpPr>
          <p:cNvPr id="59" name="Text 57"/>
          <p:cNvSpPr txBox="1"/>
          <p:nvPr/>
        </p:nvSpPr>
        <p:spPr>
          <a:xfrm>
            <a:off x="331012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60" name="Text 58"/>
          <p:cNvSpPr txBox="1"/>
          <p:nvPr/>
        </p:nvSpPr>
        <p:spPr>
          <a:xfrm>
            <a:off x="433425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61" name="Text 59"/>
          <p:cNvSpPr txBox="1"/>
          <p:nvPr/>
        </p:nvSpPr>
        <p:spPr>
          <a:xfrm>
            <a:off x="510235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62" name="Text 60"/>
          <p:cNvSpPr txBox="1"/>
          <p:nvPr/>
        </p:nvSpPr>
        <p:spPr>
          <a:xfrm>
            <a:off x="658368" y="554126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3" name="Shape 61"/>
          <p:cNvSpPr/>
          <p:nvPr/>
        </p:nvSpPr>
        <p:spPr>
          <a:xfrm>
            <a:off x="2670048" y="5627675"/>
            <a:ext cx="197008" cy="211226"/>
          </a:xfrm>
          <a:prstGeom prst="rect">
            <a:avLst/>
          </a:prstGeom>
          <a:solidFill>
            <a:srgbClr val="C2352F"/>
          </a:solidFill>
          <a:ln/>
        </p:spPr>
      </p:sp>
      <p:sp>
        <p:nvSpPr>
          <p:cNvPr id="64" name="Text 62"/>
          <p:cNvSpPr txBox="1"/>
          <p:nvPr/>
        </p:nvSpPr>
        <p:spPr>
          <a:xfrm>
            <a:off x="331012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65" name="Text 63"/>
          <p:cNvSpPr txBox="1"/>
          <p:nvPr/>
        </p:nvSpPr>
        <p:spPr>
          <a:xfrm>
            <a:off x="433425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66" name="Text 64"/>
          <p:cNvSpPr txBox="1"/>
          <p:nvPr/>
        </p:nvSpPr>
        <p:spPr>
          <a:xfrm>
            <a:off x="510235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7" name="Text 65"/>
          <p:cNvSpPr txBox="1"/>
          <p:nvPr/>
        </p:nvSpPr>
        <p:spPr>
          <a:xfrm>
            <a:off x="6208776" y="170078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8" name="Shape 66"/>
          <p:cNvSpPr/>
          <p:nvPr/>
        </p:nvSpPr>
        <p:spPr>
          <a:xfrm>
            <a:off x="8220456" y="1787195"/>
            <a:ext cx="96145" cy="211226"/>
          </a:xfrm>
          <a:prstGeom prst="rect">
            <a:avLst/>
          </a:prstGeom>
          <a:solidFill>
            <a:srgbClr val="C2352F"/>
          </a:solidFill>
          <a:ln/>
        </p:spPr>
      </p:sp>
      <p:sp>
        <p:nvSpPr>
          <p:cNvPr id="69" name="Text 67"/>
          <p:cNvSpPr txBox="1"/>
          <p:nvPr/>
        </p:nvSpPr>
        <p:spPr>
          <a:xfrm>
            <a:off x="886053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70" name="Text 68"/>
          <p:cNvSpPr txBox="1"/>
          <p:nvPr/>
        </p:nvSpPr>
        <p:spPr>
          <a:xfrm>
            <a:off x="988466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71" name="Text 69"/>
          <p:cNvSpPr txBox="1"/>
          <p:nvPr/>
        </p:nvSpPr>
        <p:spPr>
          <a:xfrm>
            <a:off x="1065276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2" name="Text 70"/>
          <p:cNvSpPr txBox="1"/>
          <p:nvPr/>
        </p:nvSpPr>
        <p:spPr>
          <a:xfrm>
            <a:off x="6208776" y="208483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3" name="Shape 71"/>
          <p:cNvSpPr/>
          <p:nvPr/>
        </p:nvSpPr>
        <p:spPr>
          <a:xfrm>
            <a:off x="8220456" y="2171243"/>
            <a:ext cx="89775" cy="211226"/>
          </a:xfrm>
          <a:prstGeom prst="rect">
            <a:avLst/>
          </a:prstGeom>
          <a:solidFill>
            <a:srgbClr val="C2352F"/>
          </a:solidFill>
          <a:ln/>
        </p:spPr>
      </p:sp>
      <p:sp>
        <p:nvSpPr>
          <p:cNvPr id="74" name="Text 72"/>
          <p:cNvSpPr txBox="1"/>
          <p:nvPr/>
        </p:nvSpPr>
        <p:spPr>
          <a:xfrm>
            <a:off x="886053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75" name="Text 73"/>
          <p:cNvSpPr txBox="1"/>
          <p:nvPr/>
        </p:nvSpPr>
        <p:spPr>
          <a:xfrm>
            <a:off x="988466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76" name="Text 74"/>
          <p:cNvSpPr txBox="1"/>
          <p:nvPr/>
        </p:nvSpPr>
        <p:spPr>
          <a:xfrm>
            <a:off x="1065276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7" name="Text 75"/>
          <p:cNvSpPr txBox="1"/>
          <p:nvPr/>
        </p:nvSpPr>
        <p:spPr>
          <a:xfrm>
            <a:off x="6208776" y="246888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78" name="Shape 76"/>
          <p:cNvSpPr/>
          <p:nvPr/>
        </p:nvSpPr>
        <p:spPr>
          <a:xfrm>
            <a:off x="8220456" y="2555291"/>
            <a:ext cx="88284" cy="211226"/>
          </a:xfrm>
          <a:prstGeom prst="rect">
            <a:avLst/>
          </a:prstGeom>
          <a:solidFill>
            <a:srgbClr val="C2352F"/>
          </a:solidFill>
          <a:ln/>
        </p:spPr>
      </p:sp>
      <p:sp>
        <p:nvSpPr>
          <p:cNvPr id="79" name="Text 77"/>
          <p:cNvSpPr txBox="1"/>
          <p:nvPr/>
        </p:nvSpPr>
        <p:spPr>
          <a:xfrm>
            <a:off x="886053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80" name="Text 78"/>
          <p:cNvSpPr txBox="1"/>
          <p:nvPr/>
        </p:nvSpPr>
        <p:spPr>
          <a:xfrm>
            <a:off x="988466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81" name="Text 79"/>
          <p:cNvSpPr txBox="1"/>
          <p:nvPr/>
        </p:nvSpPr>
        <p:spPr>
          <a:xfrm>
            <a:off x="1065276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2" name="Text 80"/>
          <p:cNvSpPr txBox="1"/>
          <p:nvPr/>
        </p:nvSpPr>
        <p:spPr>
          <a:xfrm>
            <a:off x="6208776" y="285292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83" name="Shape 81"/>
          <p:cNvSpPr/>
          <p:nvPr/>
        </p:nvSpPr>
        <p:spPr>
          <a:xfrm>
            <a:off x="8220456" y="2939339"/>
            <a:ext cx="81589" cy="211226"/>
          </a:xfrm>
          <a:prstGeom prst="rect">
            <a:avLst/>
          </a:prstGeom>
          <a:solidFill>
            <a:srgbClr val="C2352F"/>
          </a:solidFill>
          <a:ln/>
        </p:spPr>
      </p:sp>
      <p:sp>
        <p:nvSpPr>
          <p:cNvPr id="84" name="Text 82"/>
          <p:cNvSpPr txBox="1"/>
          <p:nvPr/>
        </p:nvSpPr>
        <p:spPr>
          <a:xfrm>
            <a:off x="886053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85" name="Text 83"/>
          <p:cNvSpPr txBox="1"/>
          <p:nvPr/>
        </p:nvSpPr>
        <p:spPr>
          <a:xfrm>
            <a:off x="988466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86" name="Text 84"/>
          <p:cNvSpPr txBox="1"/>
          <p:nvPr/>
        </p:nvSpPr>
        <p:spPr>
          <a:xfrm>
            <a:off x="1065276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87" name="Text 85"/>
          <p:cNvSpPr txBox="1"/>
          <p:nvPr/>
        </p:nvSpPr>
        <p:spPr>
          <a:xfrm>
            <a:off x="6208776" y="323697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8" name="Shape 86"/>
          <p:cNvSpPr/>
          <p:nvPr/>
        </p:nvSpPr>
        <p:spPr>
          <a:xfrm>
            <a:off x="8220456" y="3323387"/>
            <a:ext cx="73764" cy="211226"/>
          </a:xfrm>
          <a:prstGeom prst="rect">
            <a:avLst/>
          </a:prstGeom>
          <a:solidFill>
            <a:srgbClr val="C2352F"/>
          </a:solidFill>
          <a:ln/>
        </p:spPr>
      </p:sp>
      <p:sp>
        <p:nvSpPr>
          <p:cNvPr id="89" name="Text 87"/>
          <p:cNvSpPr txBox="1"/>
          <p:nvPr/>
        </p:nvSpPr>
        <p:spPr>
          <a:xfrm>
            <a:off x="886053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90" name="Text 88"/>
          <p:cNvSpPr txBox="1"/>
          <p:nvPr/>
        </p:nvSpPr>
        <p:spPr>
          <a:xfrm>
            <a:off x="988466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91" name="Text 89"/>
          <p:cNvSpPr txBox="1"/>
          <p:nvPr/>
        </p:nvSpPr>
        <p:spPr>
          <a:xfrm>
            <a:off x="1065276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2" name="Text 90"/>
          <p:cNvSpPr txBox="1"/>
          <p:nvPr/>
        </p:nvSpPr>
        <p:spPr>
          <a:xfrm>
            <a:off x="6208776" y="3621024"/>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3" name="Shape 91"/>
          <p:cNvSpPr/>
          <p:nvPr/>
        </p:nvSpPr>
        <p:spPr>
          <a:xfrm>
            <a:off x="8220456" y="3707435"/>
            <a:ext cx="45418" cy="211226"/>
          </a:xfrm>
          <a:prstGeom prst="rect">
            <a:avLst/>
          </a:prstGeom>
          <a:solidFill>
            <a:srgbClr val="C2352F"/>
          </a:solidFill>
          <a:ln/>
        </p:spPr>
      </p:sp>
      <p:sp>
        <p:nvSpPr>
          <p:cNvPr id="94" name="Text 92"/>
          <p:cNvSpPr txBox="1"/>
          <p:nvPr/>
        </p:nvSpPr>
        <p:spPr>
          <a:xfrm>
            <a:off x="886053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95" name="Text 93"/>
          <p:cNvSpPr txBox="1"/>
          <p:nvPr/>
        </p:nvSpPr>
        <p:spPr>
          <a:xfrm>
            <a:off x="988466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96" name="Text 94"/>
          <p:cNvSpPr txBox="1"/>
          <p:nvPr/>
        </p:nvSpPr>
        <p:spPr>
          <a:xfrm>
            <a:off x="1065276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7" name="Text 95"/>
          <p:cNvSpPr txBox="1"/>
          <p:nvPr/>
        </p:nvSpPr>
        <p:spPr>
          <a:xfrm>
            <a:off x="6208776" y="4005072"/>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8" name="Shape 96"/>
          <p:cNvSpPr/>
          <p:nvPr/>
        </p:nvSpPr>
        <p:spPr>
          <a:xfrm>
            <a:off x="8220456" y="4091483"/>
            <a:ext cx="37443" cy="211226"/>
          </a:xfrm>
          <a:prstGeom prst="rect">
            <a:avLst/>
          </a:prstGeom>
          <a:solidFill>
            <a:srgbClr val="C2352F"/>
          </a:solidFill>
          <a:ln/>
        </p:spPr>
      </p:sp>
      <p:sp>
        <p:nvSpPr>
          <p:cNvPr id="99" name="Text 97"/>
          <p:cNvSpPr txBox="1"/>
          <p:nvPr/>
        </p:nvSpPr>
        <p:spPr>
          <a:xfrm>
            <a:off x="886053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00" name="Text 98"/>
          <p:cNvSpPr txBox="1"/>
          <p:nvPr/>
        </p:nvSpPr>
        <p:spPr>
          <a:xfrm>
            <a:off x="988466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01" name="Text 99"/>
          <p:cNvSpPr txBox="1"/>
          <p:nvPr/>
        </p:nvSpPr>
        <p:spPr>
          <a:xfrm>
            <a:off x="1065276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2" name="Text 100"/>
          <p:cNvSpPr txBox="1"/>
          <p:nvPr/>
        </p:nvSpPr>
        <p:spPr>
          <a:xfrm>
            <a:off x="6208776" y="4389120"/>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03" name="Shape 101"/>
          <p:cNvSpPr/>
          <p:nvPr/>
        </p:nvSpPr>
        <p:spPr>
          <a:xfrm>
            <a:off x="8220456" y="4475531"/>
            <a:ext cx="26036" cy="211226"/>
          </a:xfrm>
          <a:prstGeom prst="rect">
            <a:avLst/>
          </a:prstGeom>
          <a:solidFill>
            <a:srgbClr val="C2352F"/>
          </a:solidFill>
          <a:ln/>
        </p:spPr>
      </p:sp>
      <p:sp>
        <p:nvSpPr>
          <p:cNvPr id="104" name="Text 102"/>
          <p:cNvSpPr txBox="1"/>
          <p:nvPr/>
        </p:nvSpPr>
        <p:spPr>
          <a:xfrm>
            <a:off x="886053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05" name="Text 103"/>
          <p:cNvSpPr txBox="1"/>
          <p:nvPr/>
        </p:nvSpPr>
        <p:spPr>
          <a:xfrm>
            <a:off x="988466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06" name="Text 104"/>
          <p:cNvSpPr txBox="1"/>
          <p:nvPr/>
        </p:nvSpPr>
        <p:spPr>
          <a:xfrm>
            <a:off x="1065276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7" name="Text 105"/>
          <p:cNvSpPr txBox="1"/>
          <p:nvPr/>
        </p:nvSpPr>
        <p:spPr>
          <a:xfrm>
            <a:off x="6208776" y="4773168"/>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8" name="Shape 106"/>
          <p:cNvSpPr/>
          <p:nvPr/>
        </p:nvSpPr>
        <p:spPr>
          <a:xfrm>
            <a:off x="8220456" y="4859579"/>
            <a:ext cx="18288" cy="211226"/>
          </a:xfrm>
          <a:prstGeom prst="rect">
            <a:avLst/>
          </a:prstGeom>
          <a:solidFill>
            <a:srgbClr val="C2352F"/>
          </a:solidFill>
          <a:ln/>
        </p:spPr>
      </p:sp>
      <p:sp>
        <p:nvSpPr>
          <p:cNvPr id="109" name="Text 107"/>
          <p:cNvSpPr txBox="1"/>
          <p:nvPr/>
        </p:nvSpPr>
        <p:spPr>
          <a:xfrm>
            <a:off x="886053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10" name="Text 108"/>
          <p:cNvSpPr txBox="1"/>
          <p:nvPr/>
        </p:nvSpPr>
        <p:spPr>
          <a:xfrm>
            <a:off x="988466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11" name="Text 109"/>
          <p:cNvSpPr txBox="1"/>
          <p:nvPr/>
        </p:nvSpPr>
        <p:spPr>
          <a:xfrm>
            <a:off x="1065276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2" name="Text 110"/>
          <p:cNvSpPr txBox="1"/>
          <p:nvPr/>
        </p:nvSpPr>
        <p:spPr>
          <a:xfrm>
            <a:off x="6208776" y="5157216"/>
            <a:ext cx="1938528" cy="3840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3" name="Shape 111"/>
          <p:cNvSpPr/>
          <p:nvPr/>
        </p:nvSpPr>
        <p:spPr>
          <a:xfrm>
            <a:off x="8220456" y="5243627"/>
            <a:ext cx="18288" cy="211226"/>
          </a:xfrm>
          <a:prstGeom prst="rect">
            <a:avLst/>
          </a:prstGeom>
          <a:solidFill>
            <a:srgbClr val="C2352F"/>
          </a:solidFill>
          <a:ln/>
        </p:spPr>
      </p:sp>
      <p:sp>
        <p:nvSpPr>
          <p:cNvPr id="114" name="Text 112"/>
          <p:cNvSpPr txBox="1"/>
          <p:nvPr/>
        </p:nvSpPr>
        <p:spPr>
          <a:xfrm>
            <a:off x="886053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15" name="Text 113"/>
          <p:cNvSpPr txBox="1"/>
          <p:nvPr/>
        </p:nvSpPr>
        <p:spPr>
          <a:xfrm>
            <a:off x="988466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16" name="Text 114"/>
          <p:cNvSpPr txBox="1"/>
          <p:nvPr/>
        </p:nvSpPr>
        <p:spPr>
          <a:xfrm>
            <a:off x="1065276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17" name="Shape 115"/>
          <p:cNvSpPr/>
          <p:nvPr/>
        </p:nvSpPr>
        <p:spPr>
          <a:xfrm>
            <a:off x="457200" y="6126480"/>
            <a:ext cx="11274552" cy="615696"/>
          </a:xfrm>
          <a:prstGeom prst="rect">
            <a:avLst/>
          </a:prstGeom>
          <a:solidFill>
            <a:srgbClr val="FBEBEA"/>
          </a:solidFill>
          <a:ln/>
        </p:spPr>
      </p:sp>
      <p:sp>
        <p:nvSpPr>
          <p:cNvPr id="118" name="Text 11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5643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083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0684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212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731520" cy="136676"/>
          </a:xfrm>
          <a:prstGeom prst="rect">
            <a:avLst/>
          </a:prstGeom>
          <a:solidFill>
            <a:srgbClr val="2587C5"/>
          </a:solidFill>
          <a:ln/>
        </p:spPr>
      </p:sp>
      <p:sp>
        <p:nvSpPr>
          <p:cNvPr id="14" name="Text 12"/>
          <p:cNvSpPr txBox="1"/>
          <p:nvPr/>
        </p:nvSpPr>
        <p:spPr>
          <a:xfrm>
            <a:off x="345643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5" name="Text 13"/>
          <p:cNvSpPr txBox="1"/>
          <p:nvPr/>
        </p:nvSpPr>
        <p:spPr>
          <a:xfrm>
            <a:off x="437083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535690" cy="136676"/>
          </a:xfrm>
          <a:prstGeom prst="rect">
            <a:avLst/>
          </a:prstGeom>
          <a:solidFill>
            <a:srgbClr val="2587C5"/>
          </a:solidFill>
          <a:ln/>
        </p:spPr>
      </p:sp>
      <p:sp>
        <p:nvSpPr>
          <p:cNvPr id="19" name="Text 17"/>
          <p:cNvSpPr txBox="1"/>
          <p:nvPr/>
        </p:nvSpPr>
        <p:spPr>
          <a:xfrm>
            <a:off x="345643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0" name="Text 18"/>
          <p:cNvSpPr txBox="1"/>
          <p:nvPr/>
        </p:nvSpPr>
        <p:spPr>
          <a:xfrm>
            <a:off x="437083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3" name="Shape 21"/>
          <p:cNvSpPr/>
          <p:nvPr/>
        </p:nvSpPr>
        <p:spPr>
          <a:xfrm>
            <a:off x="2670048" y="2253700"/>
            <a:ext cx="466983" cy="136676"/>
          </a:xfrm>
          <a:prstGeom prst="rect">
            <a:avLst/>
          </a:prstGeom>
          <a:solidFill>
            <a:srgbClr val="2587C5"/>
          </a:solidFill>
          <a:ln/>
        </p:spPr>
      </p:sp>
      <p:sp>
        <p:nvSpPr>
          <p:cNvPr id="24" name="Text 22"/>
          <p:cNvSpPr txBox="1"/>
          <p:nvPr/>
        </p:nvSpPr>
        <p:spPr>
          <a:xfrm>
            <a:off x="345643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5" name="Text 23"/>
          <p:cNvSpPr txBox="1"/>
          <p:nvPr/>
        </p:nvSpPr>
        <p:spPr>
          <a:xfrm>
            <a:off x="437083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399548" cy="136676"/>
          </a:xfrm>
          <a:prstGeom prst="rect">
            <a:avLst/>
          </a:prstGeom>
          <a:solidFill>
            <a:srgbClr val="2587C5"/>
          </a:solidFill>
          <a:ln/>
        </p:spPr>
      </p:sp>
      <p:sp>
        <p:nvSpPr>
          <p:cNvPr id="29" name="Text 27"/>
          <p:cNvSpPr txBox="1"/>
          <p:nvPr/>
        </p:nvSpPr>
        <p:spPr>
          <a:xfrm>
            <a:off x="345643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0" name="Text 28"/>
          <p:cNvSpPr txBox="1"/>
          <p:nvPr/>
        </p:nvSpPr>
        <p:spPr>
          <a:xfrm>
            <a:off x="437083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3" name="Shape 31"/>
          <p:cNvSpPr/>
          <p:nvPr/>
        </p:nvSpPr>
        <p:spPr>
          <a:xfrm>
            <a:off x="2670048" y="2750703"/>
            <a:ext cx="326379" cy="136676"/>
          </a:xfrm>
          <a:prstGeom prst="rect">
            <a:avLst/>
          </a:prstGeom>
          <a:solidFill>
            <a:srgbClr val="2587C5"/>
          </a:solidFill>
          <a:ln/>
        </p:spPr>
      </p:sp>
      <p:sp>
        <p:nvSpPr>
          <p:cNvPr id="34" name="Text 32"/>
          <p:cNvSpPr txBox="1"/>
          <p:nvPr/>
        </p:nvSpPr>
        <p:spPr>
          <a:xfrm>
            <a:off x="345643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35" name="Text 33"/>
          <p:cNvSpPr txBox="1"/>
          <p:nvPr/>
        </p:nvSpPr>
        <p:spPr>
          <a:xfrm>
            <a:off x="437083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38" name="Shape 36"/>
          <p:cNvSpPr/>
          <p:nvPr/>
        </p:nvSpPr>
        <p:spPr>
          <a:xfrm>
            <a:off x="2670048" y="2999205"/>
            <a:ext cx="310728" cy="136676"/>
          </a:xfrm>
          <a:prstGeom prst="rect">
            <a:avLst/>
          </a:prstGeom>
          <a:solidFill>
            <a:srgbClr val="2587C5"/>
          </a:solidFill>
          <a:ln/>
        </p:spPr>
      </p:sp>
      <p:sp>
        <p:nvSpPr>
          <p:cNvPr id="39" name="Text 37"/>
          <p:cNvSpPr txBox="1"/>
          <p:nvPr/>
        </p:nvSpPr>
        <p:spPr>
          <a:xfrm>
            <a:off x="345643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0" name="Text 38"/>
          <p:cNvSpPr txBox="1"/>
          <p:nvPr/>
        </p:nvSpPr>
        <p:spPr>
          <a:xfrm>
            <a:off x="437083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70048" y="3247707"/>
            <a:ext cx="278978" cy="136676"/>
          </a:xfrm>
          <a:prstGeom prst="rect">
            <a:avLst/>
          </a:prstGeom>
          <a:solidFill>
            <a:srgbClr val="2587C5"/>
          </a:solidFill>
          <a:ln/>
        </p:spPr>
      </p:sp>
      <p:sp>
        <p:nvSpPr>
          <p:cNvPr id="44" name="Text 42"/>
          <p:cNvSpPr txBox="1"/>
          <p:nvPr/>
        </p:nvSpPr>
        <p:spPr>
          <a:xfrm>
            <a:off x="345643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45" name="Text 43"/>
          <p:cNvSpPr txBox="1"/>
          <p:nvPr/>
        </p:nvSpPr>
        <p:spPr>
          <a:xfrm>
            <a:off x="437083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8" name="Shape 46"/>
          <p:cNvSpPr/>
          <p:nvPr/>
        </p:nvSpPr>
        <p:spPr>
          <a:xfrm>
            <a:off x="2670048" y="3496208"/>
            <a:ext cx="213888" cy="136676"/>
          </a:xfrm>
          <a:prstGeom prst="rect">
            <a:avLst/>
          </a:prstGeom>
          <a:solidFill>
            <a:srgbClr val="2587C5"/>
          </a:solidFill>
          <a:ln/>
        </p:spPr>
      </p:sp>
      <p:sp>
        <p:nvSpPr>
          <p:cNvPr id="49" name="Text 47"/>
          <p:cNvSpPr txBox="1"/>
          <p:nvPr/>
        </p:nvSpPr>
        <p:spPr>
          <a:xfrm>
            <a:off x="345643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0" name="Text 48"/>
          <p:cNvSpPr txBox="1"/>
          <p:nvPr/>
        </p:nvSpPr>
        <p:spPr>
          <a:xfrm>
            <a:off x="437083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3" name="Shape 51"/>
          <p:cNvSpPr/>
          <p:nvPr/>
        </p:nvSpPr>
        <p:spPr>
          <a:xfrm>
            <a:off x="2670048" y="3744710"/>
            <a:ext cx="199219" cy="136676"/>
          </a:xfrm>
          <a:prstGeom prst="rect">
            <a:avLst/>
          </a:prstGeom>
          <a:solidFill>
            <a:srgbClr val="2587C5"/>
          </a:solidFill>
          <a:ln/>
        </p:spPr>
      </p:sp>
      <p:sp>
        <p:nvSpPr>
          <p:cNvPr id="54" name="Text 52"/>
          <p:cNvSpPr txBox="1"/>
          <p:nvPr/>
        </p:nvSpPr>
        <p:spPr>
          <a:xfrm>
            <a:off x="345643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55" name="Text 53"/>
          <p:cNvSpPr txBox="1"/>
          <p:nvPr/>
        </p:nvSpPr>
        <p:spPr>
          <a:xfrm>
            <a:off x="437083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58" name="Shape 56"/>
          <p:cNvSpPr/>
          <p:nvPr/>
        </p:nvSpPr>
        <p:spPr>
          <a:xfrm>
            <a:off x="2670048" y="3993212"/>
            <a:ext cx="192043" cy="136676"/>
          </a:xfrm>
          <a:prstGeom prst="rect">
            <a:avLst/>
          </a:prstGeom>
          <a:solidFill>
            <a:srgbClr val="2587C5"/>
          </a:solidFill>
          <a:ln/>
        </p:spPr>
      </p:sp>
      <p:sp>
        <p:nvSpPr>
          <p:cNvPr id="59" name="Text 57"/>
          <p:cNvSpPr txBox="1"/>
          <p:nvPr/>
        </p:nvSpPr>
        <p:spPr>
          <a:xfrm>
            <a:off x="345643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60" name="Text 58"/>
          <p:cNvSpPr txBox="1"/>
          <p:nvPr/>
        </p:nvSpPr>
        <p:spPr>
          <a:xfrm>
            <a:off x="437083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3" name="Shape 61"/>
          <p:cNvSpPr/>
          <p:nvPr/>
        </p:nvSpPr>
        <p:spPr>
          <a:xfrm>
            <a:off x="2670048" y="4241713"/>
            <a:ext cx="164487" cy="136676"/>
          </a:xfrm>
          <a:prstGeom prst="rect">
            <a:avLst/>
          </a:prstGeom>
          <a:solidFill>
            <a:srgbClr val="2587C5"/>
          </a:solidFill>
          <a:ln/>
        </p:spPr>
      </p:sp>
      <p:sp>
        <p:nvSpPr>
          <p:cNvPr id="64" name="Text 62"/>
          <p:cNvSpPr txBox="1"/>
          <p:nvPr/>
        </p:nvSpPr>
        <p:spPr>
          <a:xfrm>
            <a:off x="345643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65" name="Text 63"/>
          <p:cNvSpPr txBox="1"/>
          <p:nvPr/>
        </p:nvSpPr>
        <p:spPr>
          <a:xfrm>
            <a:off x="437083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68" name="Shape 66"/>
          <p:cNvSpPr/>
          <p:nvPr/>
        </p:nvSpPr>
        <p:spPr>
          <a:xfrm>
            <a:off x="2670048" y="4490215"/>
            <a:ext cx="155099" cy="136676"/>
          </a:xfrm>
          <a:prstGeom prst="rect">
            <a:avLst/>
          </a:prstGeom>
          <a:solidFill>
            <a:srgbClr val="2587C5"/>
          </a:solidFill>
          <a:ln/>
        </p:spPr>
      </p:sp>
      <p:sp>
        <p:nvSpPr>
          <p:cNvPr id="69" name="Text 67"/>
          <p:cNvSpPr txBox="1"/>
          <p:nvPr/>
        </p:nvSpPr>
        <p:spPr>
          <a:xfrm>
            <a:off x="345643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0" name="Text 68"/>
          <p:cNvSpPr txBox="1"/>
          <p:nvPr/>
        </p:nvSpPr>
        <p:spPr>
          <a:xfrm>
            <a:off x="437083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154861" cy="136676"/>
          </a:xfrm>
          <a:prstGeom prst="rect">
            <a:avLst/>
          </a:prstGeom>
          <a:solidFill>
            <a:srgbClr val="2587C5"/>
          </a:solidFill>
          <a:ln/>
        </p:spPr>
      </p:sp>
      <p:sp>
        <p:nvSpPr>
          <p:cNvPr id="74" name="Text 72"/>
          <p:cNvSpPr txBox="1"/>
          <p:nvPr/>
        </p:nvSpPr>
        <p:spPr>
          <a:xfrm>
            <a:off x="345643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75" name="Text 73"/>
          <p:cNvSpPr txBox="1"/>
          <p:nvPr/>
        </p:nvSpPr>
        <p:spPr>
          <a:xfrm>
            <a:off x="437083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78" name="Shape 76"/>
          <p:cNvSpPr/>
          <p:nvPr/>
        </p:nvSpPr>
        <p:spPr>
          <a:xfrm>
            <a:off x="2670048" y="4987218"/>
            <a:ext cx="146688" cy="136676"/>
          </a:xfrm>
          <a:prstGeom prst="rect">
            <a:avLst/>
          </a:prstGeom>
          <a:solidFill>
            <a:srgbClr val="2587C5"/>
          </a:solidFill>
          <a:ln/>
        </p:spPr>
      </p:sp>
      <p:sp>
        <p:nvSpPr>
          <p:cNvPr id="79" name="Text 77"/>
          <p:cNvSpPr txBox="1"/>
          <p:nvPr/>
        </p:nvSpPr>
        <p:spPr>
          <a:xfrm>
            <a:off x="345643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80" name="Text 78"/>
          <p:cNvSpPr txBox="1"/>
          <p:nvPr/>
        </p:nvSpPr>
        <p:spPr>
          <a:xfrm>
            <a:off x="437083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3" name="Shape 81"/>
          <p:cNvSpPr/>
          <p:nvPr/>
        </p:nvSpPr>
        <p:spPr>
          <a:xfrm>
            <a:off x="2670048" y="5235720"/>
            <a:ext cx="144683" cy="136676"/>
          </a:xfrm>
          <a:prstGeom prst="rect">
            <a:avLst/>
          </a:prstGeom>
          <a:solidFill>
            <a:srgbClr val="2587C5"/>
          </a:solidFill>
          <a:ln/>
        </p:spPr>
      </p:sp>
      <p:sp>
        <p:nvSpPr>
          <p:cNvPr id="84" name="Text 82"/>
          <p:cNvSpPr txBox="1"/>
          <p:nvPr/>
        </p:nvSpPr>
        <p:spPr>
          <a:xfrm>
            <a:off x="345643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85" name="Text 83"/>
          <p:cNvSpPr txBox="1"/>
          <p:nvPr/>
        </p:nvSpPr>
        <p:spPr>
          <a:xfrm>
            <a:off x="437083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88" name="Shape 86"/>
          <p:cNvSpPr/>
          <p:nvPr/>
        </p:nvSpPr>
        <p:spPr>
          <a:xfrm>
            <a:off x="2670048" y="5484222"/>
            <a:ext cx="144399" cy="136676"/>
          </a:xfrm>
          <a:prstGeom prst="rect">
            <a:avLst/>
          </a:prstGeom>
          <a:solidFill>
            <a:srgbClr val="2587C5"/>
          </a:solidFill>
          <a:ln/>
        </p:spPr>
      </p:sp>
      <p:sp>
        <p:nvSpPr>
          <p:cNvPr id="89" name="Text 87"/>
          <p:cNvSpPr txBox="1"/>
          <p:nvPr/>
        </p:nvSpPr>
        <p:spPr>
          <a:xfrm>
            <a:off x="345643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90" name="Text 88"/>
          <p:cNvSpPr txBox="1"/>
          <p:nvPr/>
        </p:nvSpPr>
        <p:spPr>
          <a:xfrm>
            <a:off x="437083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3" name="Shape 91"/>
          <p:cNvSpPr/>
          <p:nvPr/>
        </p:nvSpPr>
        <p:spPr>
          <a:xfrm>
            <a:off x="2670048" y="5732723"/>
            <a:ext cx="135434" cy="136676"/>
          </a:xfrm>
          <a:prstGeom prst="rect">
            <a:avLst/>
          </a:prstGeom>
          <a:solidFill>
            <a:srgbClr val="2587C5"/>
          </a:solidFill>
          <a:ln/>
        </p:spPr>
      </p:sp>
      <p:sp>
        <p:nvSpPr>
          <p:cNvPr id="94" name="Text 92"/>
          <p:cNvSpPr txBox="1"/>
          <p:nvPr/>
        </p:nvSpPr>
        <p:spPr>
          <a:xfrm>
            <a:off x="345643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95" name="Text 93"/>
          <p:cNvSpPr txBox="1"/>
          <p:nvPr/>
        </p:nvSpPr>
        <p:spPr>
          <a:xfrm>
            <a:off x="437083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8" name="Shape 96"/>
          <p:cNvSpPr/>
          <p:nvPr/>
        </p:nvSpPr>
        <p:spPr>
          <a:xfrm>
            <a:off x="8220456" y="1756697"/>
            <a:ext cx="134212" cy="136676"/>
          </a:xfrm>
          <a:prstGeom prst="rect">
            <a:avLst/>
          </a:prstGeom>
          <a:solidFill>
            <a:srgbClr val="2587C5"/>
          </a:solidFill>
          <a:ln/>
        </p:spPr>
      </p:sp>
      <p:sp>
        <p:nvSpPr>
          <p:cNvPr id="99" name="Text 97"/>
          <p:cNvSpPr txBox="1"/>
          <p:nvPr/>
        </p:nvSpPr>
        <p:spPr>
          <a:xfrm>
            <a:off x="900684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00" name="Text 98"/>
          <p:cNvSpPr txBox="1"/>
          <p:nvPr/>
        </p:nvSpPr>
        <p:spPr>
          <a:xfrm>
            <a:off x="99212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3" name="Shape 101"/>
          <p:cNvSpPr/>
          <p:nvPr/>
        </p:nvSpPr>
        <p:spPr>
          <a:xfrm>
            <a:off x="8220456" y="2005199"/>
            <a:ext cx="126718" cy="136676"/>
          </a:xfrm>
          <a:prstGeom prst="rect">
            <a:avLst/>
          </a:prstGeom>
          <a:solidFill>
            <a:srgbClr val="2587C5"/>
          </a:solidFill>
          <a:ln/>
        </p:spPr>
      </p:sp>
      <p:sp>
        <p:nvSpPr>
          <p:cNvPr id="104" name="Text 102"/>
          <p:cNvSpPr txBox="1"/>
          <p:nvPr/>
        </p:nvSpPr>
        <p:spPr>
          <a:xfrm>
            <a:off x="900684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05" name="Text 103"/>
          <p:cNvSpPr txBox="1"/>
          <p:nvPr/>
        </p:nvSpPr>
        <p:spPr>
          <a:xfrm>
            <a:off x="99212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08" name="Shape 106"/>
          <p:cNvSpPr/>
          <p:nvPr/>
        </p:nvSpPr>
        <p:spPr>
          <a:xfrm>
            <a:off x="8220456" y="2253700"/>
            <a:ext cx="115043" cy="136676"/>
          </a:xfrm>
          <a:prstGeom prst="rect">
            <a:avLst/>
          </a:prstGeom>
          <a:solidFill>
            <a:srgbClr val="2587C5"/>
          </a:solidFill>
          <a:ln/>
        </p:spPr>
      </p:sp>
      <p:sp>
        <p:nvSpPr>
          <p:cNvPr id="109" name="Text 107"/>
          <p:cNvSpPr txBox="1"/>
          <p:nvPr/>
        </p:nvSpPr>
        <p:spPr>
          <a:xfrm>
            <a:off x="900684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10" name="Text 108"/>
          <p:cNvSpPr txBox="1"/>
          <p:nvPr/>
        </p:nvSpPr>
        <p:spPr>
          <a:xfrm>
            <a:off x="99212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826" cy="136676"/>
          </a:xfrm>
          <a:prstGeom prst="rect">
            <a:avLst/>
          </a:prstGeom>
          <a:solidFill>
            <a:srgbClr val="2587C5"/>
          </a:solidFill>
          <a:ln/>
        </p:spPr>
      </p:sp>
      <p:sp>
        <p:nvSpPr>
          <p:cNvPr id="114" name="Text 112"/>
          <p:cNvSpPr txBox="1"/>
          <p:nvPr/>
        </p:nvSpPr>
        <p:spPr>
          <a:xfrm>
            <a:off x="900684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15" name="Text 113"/>
          <p:cNvSpPr txBox="1"/>
          <p:nvPr/>
        </p:nvSpPr>
        <p:spPr>
          <a:xfrm>
            <a:off x="99212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18" name="Shape 116"/>
          <p:cNvSpPr/>
          <p:nvPr/>
        </p:nvSpPr>
        <p:spPr>
          <a:xfrm>
            <a:off x="8220456" y="2750703"/>
            <a:ext cx="110607" cy="136676"/>
          </a:xfrm>
          <a:prstGeom prst="rect">
            <a:avLst/>
          </a:prstGeom>
          <a:solidFill>
            <a:srgbClr val="2587C5"/>
          </a:solidFill>
          <a:ln/>
        </p:spPr>
      </p:sp>
      <p:sp>
        <p:nvSpPr>
          <p:cNvPr id="119" name="Text 117"/>
          <p:cNvSpPr txBox="1"/>
          <p:nvPr/>
        </p:nvSpPr>
        <p:spPr>
          <a:xfrm>
            <a:off x="900684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20" name="Text 118"/>
          <p:cNvSpPr txBox="1"/>
          <p:nvPr/>
        </p:nvSpPr>
        <p:spPr>
          <a:xfrm>
            <a:off x="99212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3" name="Shape 121"/>
          <p:cNvSpPr/>
          <p:nvPr/>
        </p:nvSpPr>
        <p:spPr>
          <a:xfrm>
            <a:off x="8220456" y="2999205"/>
            <a:ext cx="107009" cy="136676"/>
          </a:xfrm>
          <a:prstGeom prst="rect">
            <a:avLst/>
          </a:prstGeom>
          <a:solidFill>
            <a:srgbClr val="2587C5"/>
          </a:solidFill>
          <a:ln/>
        </p:spPr>
      </p:sp>
      <p:sp>
        <p:nvSpPr>
          <p:cNvPr id="124" name="Text 122"/>
          <p:cNvSpPr txBox="1"/>
          <p:nvPr/>
        </p:nvSpPr>
        <p:spPr>
          <a:xfrm>
            <a:off x="900684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25" name="Text 123"/>
          <p:cNvSpPr txBox="1"/>
          <p:nvPr/>
        </p:nvSpPr>
        <p:spPr>
          <a:xfrm>
            <a:off x="99212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8" name="Shape 126"/>
          <p:cNvSpPr/>
          <p:nvPr/>
        </p:nvSpPr>
        <p:spPr>
          <a:xfrm>
            <a:off x="8220456" y="3247707"/>
            <a:ext cx="96551" cy="136676"/>
          </a:xfrm>
          <a:prstGeom prst="rect">
            <a:avLst/>
          </a:prstGeom>
          <a:solidFill>
            <a:srgbClr val="2587C5"/>
          </a:solidFill>
          <a:ln/>
        </p:spPr>
      </p:sp>
      <p:sp>
        <p:nvSpPr>
          <p:cNvPr id="129" name="Text 127"/>
          <p:cNvSpPr txBox="1"/>
          <p:nvPr/>
        </p:nvSpPr>
        <p:spPr>
          <a:xfrm>
            <a:off x="900684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30" name="Text 128"/>
          <p:cNvSpPr txBox="1"/>
          <p:nvPr/>
        </p:nvSpPr>
        <p:spPr>
          <a:xfrm>
            <a:off x="99212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33" name="Shape 131"/>
          <p:cNvSpPr/>
          <p:nvPr/>
        </p:nvSpPr>
        <p:spPr>
          <a:xfrm>
            <a:off x="8220456" y="3496208"/>
            <a:ext cx="93673" cy="136676"/>
          </a:xfrm>
          <a:prstGeom prst="rect">
            <a:avLst/>
          </a:prstGeom>
          <a:solidFill>
            <a:srgbClr val="2587C5"/>
          </a:solidFill>
          <a:ln/>
        </p:spPr>
      </p:sp>
      <p:sp>
        <p:nvSpPr>
          <p:cNvPr id="134" name="Text 132"/>
          <p:cNvSpPr txBox="1"/>
          <p:nvPr/>
        </p:nvSpPr>
        <p:spPr>
          <a:xfrm>
            <a:off x="900684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35" name="Text 133"/>
          <p:cNvSpPr txBox="1"/>
          <p:nvPr/>
        </p:nvSpPr>
        <p:spPr>
          <a:xfrm>
            <a:off x="99212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87427" cy="136676"/>
          </a:xfrm>
          <a:prstGeom prst="rect">
            <a:avLst/>
          </a:prstGeom>
          <a:solidFill>
            <a:srgbClr val="2587C5"/>
          </a:solidFill>
          <a:ln/>
        </p:spPr>
      </p:sp>
      <p:sp>
        <p:nvSpPr>
          <p:cNvPr id="139" name="Text 137"/>
          <p:cNvSpPr txBox="1"/>
          <p:nvPr/>
        </p:nvSpPr>
        <p:spPr>
          <a:xfrm>
            <a:off x="900684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40" name="Text 138"/>
          <p:cNvSpPr txBox="1"/>
          <p:nvPr/>
        </p:nvSpPr>
        <p:spPr>
          <a:xfrm>
            <a:off x="99212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3" name="Shape 141"/>
          <p:cNvSpPr/>
          <p:nvPr/>
        </p:nvSpPr>
        <p:spPr>
          <a:xfrm>
            <a:off x="8220456" y="3993212"/>
            <a:ext cx="75632" cy="136676"/>
          </a:xfrm>
          <a:prstGeom prst="rect">
            <a:avLst/>
          </a:prstGeom>
          <a:solidFill>
            <a:srgbClr val="2587C5"/>
          </a:solidFill>
          <a:ln/>
        </p:spPr>
      </p:sp>
      <p:sp>
        <p:nvSpPr>
          <p:cNvPr id="144" name="Text 142"/>
          <p:cNvSpPr txBox="1"/>
          <p:nvPr/>
        </p:nvSpPr>
        <p:spPr>
          <a:xfrm>
            <a:off x="900684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45" name="Text 143"/>
          <p:cNvSpPr txBox="1"/>
          <p:nvPr/>
        </p:nvSpPr>
        <p:spPr>
          <a:xfrm>
            <a:off x="99212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48" name="Shape 146"/>
          <p:cNvSpPr/>
          <p:nvPr/>
        </p:nvSpPr>
        <p:spPr>
          <a:xfrm>
            <a:off x="8220456" y="4241713"/>
            <a:ext cx="73988" cy="136676"/>
          </a:xfrm>
          <a:prstGeom prst="rect">
            <a:avLst/>
          </a:prstGeom>
          <a:solidFill>
            <a:srgbClr val="2587C5"/>
          </a:solidFill>
          <a:ln/>
        </p:spPr>
      </p:sp>
      <p:sp>
        <p:nvSpPr>
          <p:cNvPr id="149" name="Text 147"/>
          <p:cNvSpPr txBox="1"/>
          <p:nvPr/>
        </p:nvSpPr>
        <p:spPr>
          <a:xfrm>
            <a:off x="900684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50" name="Text 148"/>
          <p:cNvSpPr txBox="1"/>
          <p:nvPr/>
        </p:nvSpPr>
        <p:spPr>
          <a:xfrm>
            <a:off x="99212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220456" y="4490215"/>
            <a:ext cx="73497" cy="136676"/>
          </a:xfrm>
          <a:prstGeom prst="rect">
            <a:avLst/>
          </a:prstGeom>
          <a:solidFill>
            <a:srgbClr val="2587C5"/>
          </a:solidFill>
          <a:ln/>
        </p:spPr>
      </p:sp>
      <p:sp>
        <p:nvSpPr>
          <p:cNvPr id="154" name="Text 152"/>
          <p:cNvSpPr txBox="1"/>
          <p:nvPr/>
        </p:nvSpPr>
        <p:spPr>
          <a:xfrm>
            <a:off x="900684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55" name="Text 153"/>
          <p:cNvSpPr txBox="1"/>
          <p:nvPr/>
        </p:nvSpPr>
        <p:spPr>
          <a:xfrm>
            <a:off x="99212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8" name="Shape 156"/>
          <p:cNvSpPr/>
          <p:nvPr/>
        </p:nvSpPr>
        <p:spPr>
          <a:xfrm>
            <a:off x="8220456" y="4738717"/>
            <a:ext cx="71484" cy="136676"/>
          </a:xfrm>
          <a:prstGeom prst="rect">
            <a:avLst/>
          </a:prstGeom>
          <a:solidFill>
            <a:srgbClr val="2587C5"/>
          </a:solidFill>
          <a:ln/>
        </p:spPr>
      </p:sp>
      <p:sp>
        <p:nvSpPr>
          <p:cNvPr id="159" name="Text 157"/>
          <p:cNvSpPr txBox="1"/>
          <p:nvPr/>
        </p:nvSpPr>
        <p:spPr>
          <a:xfrm>
            <a:off x="900684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60" name="Text 158"/>
          <p:cNvSpPr txBox="1"/>
          <p:nvPr/>
        </p:nvSpPr>
        <p:spPr>
          <a:xfrm>
            <a:off x="99212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3" name="Shape 161"/>
          <p:cNvSpPr/>
          <p:nvPr/>
        </p:nvSpPr>
        <p:spPr>
          <a:xfrm>
            <a:off x="8220456" y="4987218"/>
            <a:ext cx="51544" cy="136676"/>
          </a:xfrm>
          <a:prstGeom prst="rect">
            <a:avLst/>
          </a:prstGeom>
          <a:solidFill>
            <a:srgbClr val="2587C5"/>
          </a:solidFill>
          <a:ln/>
        </p:spPr>
      </p:sp>
      <p:sp>
        <p:nvSpPr>
          <p:cNvPr id="164" name="Text 162"/>
          <p:cNvSpPr txBox="1"/>
          <p:nvPr/>
        </p:nvSpPr>
        <p:spPr>
          <a:xfrm>
            <a:off x="900684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65" name="Text 163"/>
          <p:cNvSpPr txBox="1"/>
          <p:nvPr/>
        </p:nvSpPr>
        <p:spPr>
          <a:xfrm>
            <a:off x="99212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8" name="Shape 166"/>
          <p:cNvSpPr/>
          <p:nvPr/>
        </p:nvSpPr>
        <p:spPr>
          <a:xfrm>
            <a:off x="8220456" y="5235720"/>
            <a:ext cx="49708" cy="136676"/>
          </a:xfrm>
          <a:prstGeom prst="rect">
            <a:avLst/>
          </a:prstGeom>
          <a:solidFill>
            <a:srgbClr val="2587C5"/>
          </a:solidFill>
          <a:ln/>
        </p:spPr>
      </p:sp>
      <p:sp>
        <p:nvSpPr>
          <p:cNvPr id="169" name="Text 167"/>
          <p:cNvSpPr txBox="1"/>
          <p:nvPr/>
        </p:nvSpPr>
        <p:spPr>
          <a:xfrm>
            <a:off x="900684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70" name="Text 168"/>
          <p:cNvSpPr txBox="1"/>
          <p:nvPr/>
        </p:nvSpPr>
        <p:spPr>
          <a:xfrm>
            <a:off x="99212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31342" cy="136676"/>
          </a:xfrm>
          <a:prstGeom prst="rect">
            <a:avLst/>
          </a:prstGeom>
          <a:solidFill>
            <a:srgbClr val="2587C5"/>
          </a:solidFill>
          <a:ln/>
        </p:spPr>
      </p:sp>
      <p:sp>
        <p:nvSpPr>
          <p:cNvPr id="174" name="Text 172"/>
          <p:cNvSpPr txBox="1"/>
          <p:nvPr/>
        </p:nvSpPr>
        <p:spPr>
          <a:xfrm>
            <a:off x="900684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175" name="Text 173"/>
          <p:cNvSpPr txBox="1"/>
          <p:nvPr/>
        </p:nvSpPr>
        <p:spPr>
          <a:xfrm>
            <a:off x="99212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177" name="Shape 175"/>
          <p:cNvSpPr/>
          <p:nvPr/>
        </p:nvSpPr>
        <p:spPr>
          <a:xfrm>
            <a:off x="457200" y="6126480"/>
            <a:ext cx="11274552" cy="615696"/>
          </a:xfrm>
          <a:prstGeom prst="rect">
            <a:avLst/>
          </a:prstGeom>
          <a:solidFill>
            <a:srgbClr val="E6F6EE"/>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123, non-luxury 176.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174662"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9" name="Shape 17"/>
          <p:cNvSpPr/>
          <p:nvPr/>
        </p:nvSpPr>
        <p:spPr>
          <a:xfrm>
            <a:off x="3008376" y="2451937"/>
            <a:ext cx="1628753" cy="110266"/>
          </a:xfrm>
          <a:prstGeom prst="rect">
            <a:avLst/>
          </a:prstGeom>
          <a:solidFill>
            <a:srgbClr val="12A566"/>
          </a:solidFill>
          <a:ln/>
        </p:spPr>
      </p:sp>
      <p:sp>
        <p:nvSpPr>
          <p:cNvPr id="20" name="Shape 18"/>
          <p:cNvSpPr/>
          <p:nvPr/>
        </p:nvSpPr>
        <p:spPr>
          <a:xfrm>
            <a:off x="4174662"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4" name="Shape 22"/>
          <p:cNvSpPr/>
          <p:nvPr/>
        </p:nvSpPr>
        <p:spPr>
          <a:xfrm>
            <a:off x="3008376" y="2672468"/>
            <a:ext cx="1545728" cy="110266"/>
          </a:xfrm>
          <a:prstGeom prst="rect">
            <a:avLst/>
          </a:prstGeom>
          <a:solidFill>
            <a:srgbClr val="12A566"/>
          </a:solidFill>
          <a:ln/>
        </p:spPr>
      </p:sp>
      <p:sp>
        <p:nvSpPr>
          <p:cNvPr id="25" name="Shape 23"/>
          <p:cNvSpPr/>
          <p:nvPr/>
        </p:nvSpPr>
        <p:spPr>
          <a:xfrm>
            <a:off x="4174662"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93000"/>
            <a:ext cx="1511815" cy="110266"/>
          </a:xfrm>
          <a:prstGeom prst="rect">
            <a:avLst/>
          </a:prstGeom>
          <a:solidFill>
            <a:srgbClr val="12A566"/>
          </a:solidFill>
          <a:ln/>
        </p:spPr>
      </p:sp>
      <p:sp>
        <p:nvSpPr>
          <p:cNvPr id="30" name="Shape 28"/>
          <p:cNvSpPr/>
          <p:nvPr/>
        </p:nvSpPr>
        <p:spPr>
          <a:xfrm>
            <a:off x="4174662"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4" name="Shape 32"/>
          <p:cNvSpPr/>
          <p:nvPr/>
        </p:nvSpPr>
        <p:spPr>
          <a:xfrm>
            <a:off x="3008376" y="3113532"/>
            <a:ext cx="1509744" cy="110266"/>
          </a:xfrm>
          <a:prstGeom prst="rect">
            <a:avLst/>
          </a:prstGeom>
          <a:solidFill>
            <a:srgbClr val="12A566"/>
          </a:solidFill>
          <a:ln/>
        </p:spPr>
      </p:sp>
      <p:sp>
        <p:nvSpPr>
          <p:cNvPr id="35" name="Shape 33"/>
          <p:cNvSpPr/>
          <p:nvPr/>
        </p:nvSpPr>
        <p:spPr>
          <a:xfrm>
            <a:off x="4174662"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9" name="Shape 37"/>
          <p:cNvSpPr/>
          <p:nvPr/>
        </p:nvSpPr>
        <p:spPr>
          <a:xfrm>
            <a:off x="3008376" y="3334064"/>
            <a:ext cx="1500980" cy="110266"/>
          </a:xfrm>
          <a:prstGeom prst="rect">
            <a:avLst/>
          </a:prstGeom>
          <a:solidFill>
            <a:srgbClr val="12A566"/>
          </a:solidFill>
          <a:ln/>
        </p:spPr>
      </p:sp>
      <p:sp>
        <p:nvSpPr>
          <p:cNvPr id="40" name="Shape 38"/>
          <p:cNvSpPr/>
          <p:nvPr/>
        </p:nvSpPr>
        <p:spPr>
          <a:xfrm>
            <a:off x="4174662"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4" name="Shape 42"/>
          <p:cNvSpPr/>
          <p:nvPr/>
        </p:nvSpPr>
        <p:spPr>
          <a:xfrm>
            <a:off x="3008376" y="3554596"/>
            <a:ext cx="1310201" cy="110266"/>
          </a:xfrm>
          <a:prstGeom prst="rect">
            <a:avLst/>
          </a:prstGeom>
          <a:solidFill>
            <a:srgbClr val="12A566"/>
          </a:solidFill>
          <a:ln/>
        </p:spPr>
      </p:sp>
      <p:sp>
        <p:nvSpPr>
          <p:cNvPr id="45" name="Shape 43"/>
          <p:cNvSpPr/>
          <p:nvPr/>
        </p:nvSpPr>
        <p:spPr>
          <a:xfrm>
            <a:off x="4174662"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47" name="Shape 45"/>
          <p:cNvSpPr/>
          <p:nvPr/>
        </p:nvSpPr>
        <p:spPr>
          <a:xfrm>
            <a:off x="603504" y="3719994"/>
            <a:ext cx="5358384" cy="220532"/>
          </a:xfrm>
          <a:prstGeom prst="rect">
            <a:avLst/>
          </a:prstGeom>
          <a:solidFill>
            <a:srgbClr val="EDF4FA"/>
          </a:solidFill>
          <a:ln/>
        </p:spPr>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50" name="Shape 48"/>
          <p:cNvSpPr/>
          <p:nvPr/>
        </p:nvSpPr>
        <p:spPr>
          <a:xfrm>
            <a:off x="3008376" y="3775127"/>
            <a:ext cx="1298721" cy="110266"/>
          </a:xfrm>
          <a:prstGeom prst="rect">
            <a:avLst/>
          </a:prstGeom>
          <a:solidFill>
            <a:srgbClr val="12A566"/>
          </a:solidFill>
          <a:ln/>
        </p:spPr>
      </p:sp>
      <p:sp>
        <p:nvSpPr>
          <p:cNvPr id="51" name="Shape 49"/>
          <p:cNvSpPr/>
          <p:nvPr/>
        </p:nvSpPr>
        <p:spPr>
          <a:xfrm>
            <a:off x="381662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53" name="Shape 51"/>
          <p:cNvSpPr/>
          <p:nvPr/>
        </p:nvSpPr>
        <p:spPr>
          <a:xfrm>
            <a:off x="603504" y="3940526"/>
            <a:ext cx="5358384" cy="220532"/>
          </a:xfrm>
          <a:prstGeom prst="rect">
            <a:avLst/>
          </a:prstGeom>
          <a:solidFill>
            <a:srgbClr val="EDF4FA"/>
          </a:solidFill>
          <a:ln/>
        </p:spPr>
      </p:sp>
      <p:sp>
        <p:nvSpPr>
          <p:cNvPr id="54" name="Text 52"/>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5" name="Text 53"/>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3008376" y="3995659"/>
            <a:ext cx="1281391" cy="110266"/>
          </a:xfrm>
          <a:prstGeom prst="rect">
            <a:avLst/>
          </a:prstGeom>
          <a:solidFill>
            <a:srgbClr val="12A566"/>
          </a:solidFill>
          <a:ln/>
        </p:spPr>
      </p:sp>
      <p:sp>
        <p:nvSpPr>
          <p:cNvPr id="57" name="Shape 55"/>
          <p:cNvSpPr/>
          <p:nvPr/>
        </p:nvSpPr>
        <p:spPr>
          <a:xfrm>
            <a:off x="3816623" y="3962579"/>
            <a:ext cx="21946" cy="176425"/>
          </a:xfrm>
          <a:prstGeom prst="rect">
            <a:avLst/>
          </a:prstGeom>
          <a:solidFill>
            <a:srgbClr val="0B2C4A"/>
          </a:solidFill>
          <a:ln/>
        </p:spPr>
      </p:sp>
      <p:sp>
        <p:nvSpPr>
          <p:cNvPr id="58" name="Text 56"/>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59" name="Text 57"/>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0" name="Text 58"/>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216191"/>
            <a:ext cx="1276424" cy="110266"/>
          </a:xfrm>
          <a:prstGeom prst="rect">
            <a:avLst/>
          </a:prstGeom>
          <a:solidFill>
            <a:srgbClr val="12A566"/>
          </a:solidFill>
          <a:ln/>
        </p:spPr>
      </p:sp>
      <p:sp>
        <p:nvSpPr>
          <p:cNvPr id="62" name="Shape 60"/>
          <p:cNvSpPr/>
          <p:nvPr/>
        </p:nvSpPr>
        <p:spPr>
          <a:xfrm>
            <a:off x="4174662" y="4183111"/>
            <a:ext cx="21946" cy="176425"/>
          </a:xfrm>
          <a:prstGeom prst="rect">
            <a:avLst/>
          </a:prstGeom>
          <a:solidFill>
            <a:srgbClr val="0B2C4A"/>
          </a:solidFill>
          <a:ln/>
        </p:spPr>
      </p:sp>
      <p:sp>
        <p:nvSpPr>
          <p:cNvPr id="63" name="Text 61"/>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64" name="Text 62"/>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5" name="Text 63"/>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6" name="Shape 64"/>
          <p:cNvSpPr/>
          <p:nvPr/>
        </p:nvSpPr>
        <p:spPr>
          <a:xfrm>
            <a:off x="3008376" y="4436723"/>
            <a:ext cx="1233001" cy="110266"/>
          </a:xfrm>
          <a:prstGeom prst="rect">
            <a:avLst/>
          </a:prstGeom>
          <a:solidFill>
            <a:srgbClr val="12A566"/>
          </a:solidFill>
          <a:ln/>
        </p:spPr>
      </p:sp>
      <p:sp>
        <p:nvSpPr>
          <p:cNvPr id="67" name="Shape 65"/>
          <p:cNvSpPr/>
          <p:nvPr/>
        </p:nvSpPr>
        <p:spPr>
          <a:xfrm>
            <a:off x="4174662" y="4403643"/>
            <a:ext cx="21946" cy="176425"/>
          </a:xfrm>
          <a:prstGeom prst="rect">
            <a:avLst/>
          </a:prstGeom>
          <a:solidFill>
            <a:srgbClr val="0B2C4A"/>
          </a:solidFill>
          <a:ln/>
        </p:spPr>
      </p:sp>
      <p:sp>
        <p:nvSpPr>
          <p:cNvPr id="68" name="Text 66"/>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69" name="Text 67"/>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0" name="Text 68"/>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1" name="Shape 69"/>
          <p:cNvSpPr/>
          <p:nvPr/>
        </p:nvSpPr>
        <p:spPr>
          <a:xfrm>
            <a:off x="3008376" y="4657254"/>
            <a:ext cx="1207673" cy="110266"/>
          </a:xfrm>
          <a:prstGeom prst="rect">
            <a:avLst/>
          </a:prstGeom>
          <a:solidFill>
            <a:srgbClr val="12A566"/>
          </a:solidFill>
          <a:ln/>
        </p:spPr>
      </p:sp>
      <p:sp>
        <p:nvSpPr>
          <p:cNvPr id="72" name="Shape 70"/>
          <p:cNvSpPr/>
          <p:nvPr/>
        </p:nvSpPr>
        <p:spPr>
          <a:xfrm>
            <a:off x="4174662" y="4624175"/>
            <a:ext cx="21946" cy="176425"/>
          </a:xfrm>
          <a:prstGeom prst="rect">
            <a:avLst/>
          </a:prstGeom>
          <a:solidFill>
            <a:srgbClr val="0B2C4A"/>
          </a:solidFill>
          <a:ln/>
        </p:spPr>
      </p:sp>
      <p:sp>
        <p:nvSpPr>
          <p:cNvPr id="73" name="Text 71"/>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6" name="Shape 74"/>
          <p:cNvSpPr/>
          <p:nvPr/>
        </p:nvSpPr>
        <p:spPr>
          <a:xfrm>
            <a:off x="3008376" y="4877786"/>
            <a:ext cx="1204116" cy="110266"/>
          </a:xfrm>
          <a:prstGeom prst="rect">
            <a:avLst/>
          </a:prstGeom>
          <a:solidFill>
            <a:srgbClr val="12A566"/>
          </a:solidFill>
          <a:ln/>
        </p:spPr>
      </p:sp>
      <p:sp>
        <p:nvSpPr>
          <p:cNvPr id="77" name="Shape 75"/>
          <p:cNvSpPr/>
          <p:nvPr/>
        </p:nvSpPr>
        <p:spPr>
          <a:xfrm>
            <a:off x="4174662"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1189792" cy="110266"/>
          </a:xfrm>
          <a:prstGeom prst="rect">
            <a:avLst/>
          </a:prstGeom>
          <a:solidFill>
            <a:srgbClr val="12A566"/>
          </a:solidFill>
          <a:ln/>
        </p:spPr>
      </p:sp>
      <p:sp>
        <p:nvSpPr>
          <p:cNvPr id="82" name="Shape 80"/>
          <p:cNvSpPr/>
          <p:nvPr/>
        </p:nvSpPr>
        <p:spPr>
          <a:xfrm>
            <a:off x="4174662"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6" name="Shape 84"/>
          <p:cNvSpPr/>
          <p:nvPr/>
        </p:nvSpPr>
        <p:spPr>
          <a:xfrm>
            <a:off x="3008376" y="5318850"/>
            <a:ext cx="1172604" cy="110266"/>
          </a:xfrm>
          <a:prstGeom prst="rect">
            <a:avLst/>
          </a:prstGeom>
          <a:solidFill>
            <a:srgbClr val="C2352F"/>
          </a:solidFill>
          <a:ln/>
        </p:spPr>
      </p:sp>
      <p:sp>
        <p:nvSpPr>
          <p:cNvPr id="87" name="Shape 85"/>
          <p:cNvSpPr/>
          <p:nvPr/>
        </p:nvSpPr>
        <p:spPr>
          <a:xfrm>
            <a:off x="4174662"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89" name="Text 87"/>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0" name="Text 88"/>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1" name="Shape 89"/>
          <p:cNvSpPr/>
          <p:nvPr/>
        </p:nvSpPr>
        <p:spPr>
          <a:xfrm>
            <a:off x="3008376" y="5539381"/>
            <a:ext cx="1149687" cy="110266"/>
          </a:xfrm>
          <a:prstGeom prst="rect">
            <a:avLst/>
          </a:prstGeom>
          <a:solidFill>
            <a:srgbClr val="C2352F"/>
          </a:solidFill>
          <a:ln/>
        </p:spPr>
      </p:sp>
      <p:sp>
        <p:nvSpPr>
          <p:cNvPr id="92" name="Shape 90"/>
          <p:cNvSpPr/>
          <p:nvPr/>
        </p:nvSpPr>
        <p:spPr>
          <a:xfrm>
            <a:off x="4174662" y="5506302"/>
            <a:ext cx="21946" cy="176425"/>
          </a:xfrm>
          <a:prstGeom prst="rect">
            <a:avLst/>
          </a:prstGeom>
          <a:solidFill>
            <a:srgbClr val="0B2C4A"/>
          </a:solidFill>
          <a:ln/>
        </p:spPr>
      </p:sp>
      <p:sp>
        <p:nvSpPr>
          <p:cNvPr id="93" name="Text 91"/>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94" name="Text 92"/>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6" name="Shape 94"/>
          <p:cNvSpPr/>
          <p:nvPr/>
        </p:nvSpPr>
        <p:spPr>
          <a:xfrm>
            <a:off x="3008376" y="5759913"/>
            <a:ext cx="1104796" cy="110266"/>
          </a:xfrm>
          <a:prstGeom prst="rect">
            <a:avLst/>
          </a:prstGeom>
          <a:solidFill>
            <a:srgbClr val="C2352F"/>
          </a:solidFill>
          <a:ln/>
        </p:spPr>
      </p:sp>
      <p:sp>
        <p:nvSpPr>
          <p:cNvPr id="97" name="Shape 95"/>
          <p:cNvSpPr/>
          <p:nvPr/>
        </p:nvSpPr>
        <p:spPr>
          <a:xfrm>
            <a:off x="4174662" y="5726833"/>
            <a:ext cx="21946" cy="176425"/>
          </a:xfrm>
          <a:prstGeom prst="rect">
            <a:avLst/>
          </a:prstGeom>
          <a:solidFill>
            <a:srgbClr val="0B2C4A"/>
          </a:solidFill>
          <a:ln/>
        </p:spPr>
      </p:sp>
      <p:sp>
        <p:nvSpPr>
          <p:cNvPr id="98" name="Text 96"/>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99" name="Shape 97"/>
          <p:cNvSpPr/>
          <p:nvPr/>
        </p:nvSpPr>
        <p:spPr>
          <a:xfrm>
            <a:off x="6153912" y="2176272"/>
            <a:ext cx="5358384" cy="220532"/>
          </a:xfrm>
          <a:prstGeom prst="rect">
            <a:avLst/>
          </a:prstGeom>
          <a:solidFill>
            <a:srgbClr val="EDF4FA"/>
          </a:solidFill>
          <a:ln/>
        </p:spPr>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02" name="Shape 100"/>
          <p:cNvSpPr/>
          <p:nvPr/>
        </p:nvSpPr>
        <p:spPr>
          <a:xfrm>
            <a:off x="8558784" y="2231405"/>
            <a:ext cx="1075418" cy="110266"/>
          </a:xfrm>
          <a:prstGeom prst="rect">
            <a:avLst/>
          </a:prstGeom>
          <a:solidFill>
            <a:srgbClr val="12A566"/>
          </a:solidFill>
          <a:ln/>
        </p:spPr>
      </p:sp>
      <p:sp>
        <p:nvSpPr>
          <p:cNvPr id="103" name="Shape 101"/>
          <p:cNvSpPr/>
          <p:nvPr/>
        </p:nvSpPr>
        <p:spPr>
          <a:xfrm>
            <a:off x="936703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7" name="Shape 105"/>
          <p:cNvSpPr/>
          <p:nvPr/>
        </p:nvSpPr>
        <p:spPr>
          <a:xfrm>
            <a:off x="8558784" y="2451937"/>
            <a:ext cx="1062235" cy="110266"/>
          </a:xfrm>
          <a:prstGeom prst="rect">
            <a:avLst/>
          </a:prstGeom>
          <a:solidFill>
            <a:srgbClr val="C2352F"/>
          </a:solidFill>
          <a:ln/>
        </p:spPr>
      </p:sp>
      <p:sp>
        <p:nvSpPr>
          <p:cNvPr id="108" name="Shape 106"/>
          <p:cNvSpPr/>
          <p:nvPr/>
        </p:nvSpPr>
        <p:spPr>
          <a:xfrm>
            <a:off x="9725070"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0" name="Text 108"/>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2" name="Shape 110"/>
          <p:cNvSpPr/>
          <p:nvPr/>
        </p:nvSpPr>
        <p:spPr>
          <a:xfrm>
            <a:off x="8558784" y="2672468"/>
            <a:ext cx="1026400" cy="110266"/>
          </a:xfrm>
          <a:prstGeom prst="rect">
            <a:avLst/>
          </a:prstGeom>
          <a:solidFill>
            <a:srgbClr val="C2352F"/>
          </a:solidFill>
          <a:ln/>
        </p:spPr>
      </p:sp>
      <p:sp>
        <p:nvSpPr>
          <p:cNvPr id="113" name="Shape 111"/>
          <p:cNvSpPr/>
          <p:nvPr/>
        </p:nvSpPr>
        <p:spPr>
          <a:xfrm>
            <a:off x="9725070" y="2639389"/>
            <a:ext cx="21946" cy="176425"/>
          </a:xfrm>
          <a:prstGeom prst="rect">
            <a:avLst/>
          </a:prstGeom>
          <a:solidFill>
            <a:srgbClr val="0B2C4A"/>
          </a:solidFill>
          <a:ln/>
        </p:spPr>
      </p:sp>
      <p:sp>
        <p:nvSpPr>
          <p:cNvPr id="114" name="Text 112"/>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15" name="Text 113"/>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7" name="Shape 115"/>
          <p:cNvSpPr/>
          <p:nvPr/>
        </p:nvSpPr>
        <p:spPr>
          <a:xfrm>
            <a:off x="8558784" y="2893000"/>
            <a:ext cx="955276" cy="110266"/>
          </a:xfrm>
          <a:prstGeom prst="rect">
            <a:avLst/>
          </a:prstGeom>
          <a:solidFill>
            <a:srgbClr val="C2352F"/>
          </a:solidFill>
          <a:ln/>
        </p:spPr>
      </p:sp>
      <p:sp>
        <p:nvSpPr>
          <p:cNvPr id="118" name="Shape 116"/>
          <p:cNvSpPr/>
          <p:nvPr/>
        </p:nvSpPr>
        <p:spPr>
          <a:xfrm>
            <a:off x="9725070" y="2859920"/>
            <a:ext cx="21946" cy="176425"/>
          </a:xfrm>
          <a:prstGeom prst="rect">
            <a:avLst/>
          </a:prstGeom>
          <a:solidFill>
            <a:srgbClr val="0B2C4A"/>
          </a:solidFill>
          <a:ln/>
        </p:spPr>
      </p:sp>
      <p:sp>
        <p:nvSpPr>
          <p:cNvPr id="119" name="Text 117"/>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0" name="Text 118"/>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2" name="Shape 120"/>
          <p:cNvSpPr/>
          <p:nvPr/>
        </p:nvSpPr>
        <p:spPr>
          <a:xfrm>
            <a:off x="8558784" y="3113532"/>
            <a:ext cx="926373" cy="110266"/>
          </a:xfrm>
          <a:prstGeom prst="rect">
            <a:avLst/>
          </a:prstGeom>
          <a:solidFill>
            <a:srgbClr val="C2352F"/>
          </a:solidFill>
          <a:ln/>
        </p:spPr>
      </p:sp>
      <p:sp>
        <p:nvSpPr>
          <p:cNvPr id="123" name="Shape 121"/>
          <p:cNvSpPr/>
          <p:nvPr/>
        </p:nvSpPr>
        <p:spPr>
          <a:xfrm>
            <a:off x="9725070" y="3080452"/>
            <a:ext cx="21946" cy="176425"/>
          </a:xfrm>
          <a:prstGeom prst="rect">
            <a:avLst/>
          </a:prstGeom>
          <a:solidFill>
            <a:srgbClr val="0B2C4A"/>
          </a:solidFill>
          <a:ln/>
        </p:spPr>
      </p:sp>
      <p:sp>
        <p:nvSpPr>
          <p:cNvPr id="124" name="Text 122"/>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25" name="Shape 123"/>
          <p:cNvSpPr/>
          <p:nvPr/>
        </p:nvSpPr>
        <p:spPr>
          <a:xfrm>
            <a:off x="6153912" y="3278931"/>
            <a:ext cx="5358384" cy="220532"/>
          </a:xfrm>
          <a:prstGeom prst="rect">
            <a:avLst/>
          </a:prstGeom>
          <a:solidFill>
            <a:srgbClr val="EDF4FA"/>
          </a:solidFill>
          <a:ln/>
        </p:spPr>
      </p:sp>
      <p:sp>
        <p:nvSpPr>
          <p:cNvPr id="126" name="Text 124"/>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7" name="Text 125"/>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558784" y="3334064"/>
            <a:ext cx="889893" cy="110266"/>
          </a:xfrm>
          <a:prstGeom prst="rect">
            <a:avLst/>
          </a:prstGeom>
          <a:solidFill>
            <a:srgbClr val="12A566"/>
          </a:solidFill>
          <a:ln/>
        </p:spPr>
      </p:sp>
      <p:sp>
        <p:nvSpPr>
          <p:cNvPr id="129" name="Shape 127"/>
          <p:cNvSpPr/>
          <p:nvPr/>
        </p:nvSpPr>
        <p:spPr>
          <a:xfrm>
            <a:off x="9367031" y="3300984"/>
            <a:ext cx="21946" cy="176425"/>
          </a:xfrm>
          <a:prstGeom prst="rect">
            <a:avLst/>
          </a:prstGeom>
          <a:solidFill>
            <a:srgbClr val="0B2C4A"/>
          </a:solidFill>
          <a:ln/>
        </p:spPr>
      </p:sp>
      <p:sp>
        <p:nvSpPr>
          <p:cNvPr id="130" name="Text 128"/>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131" name="Text 129"/>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2" name="Text 130"/>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8558784" y="3554596"/>
            <a:ext cx="854724" cy="110266"/>
          </a:xfrm>
          <a:prstGeom prst="rect">
            <a:avLst/>
          </a:prstGeom>
          <a:solidFill>
            <a:srgbClr val="C2352F"/>
          </a:solidFill>
          <a:ln/>
        </p:spPr>
      </p:sp>
      <p:sp>
        <p:nvSpPr>
          <p:cNvPr id="134" name="Shape 132"/>
          <p:cNvSpPr/>
          <p:nvPr/>
        </p:nvSpPr>
        <p:spPr>
          <a:xfrm>
            <a:off x="9725070" y="3521516"/>
            <a:ext cx="21946" cy="176425"/>
          </a:xfrm>
          <a:prstGeom prst="rect">
            <a:avLst/>
          </a:prstGeom>
          <a:solidFill>
            <a:srgbClr val="0B2C4A"/>
          </a:solidFill>
          <a:ln/>
        </p:spPr>
      </p:sp>
      <p:sp>
        <p:nvSpPr>
          <p:cNvPr id="135" name="Text 133"/>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6" name="Shape 134"/>
          <p:cNvSpPr/>
          <p:nvPr/>
        </p:nvSpPr>
        <p:spPr>
          <a:xfrm>
            <a:off x="6153912" y="3719994"/>
            <a:ext cx="5358384" cy="220532"/>
          </a:xfrm>
          <a:prstGeom prst="rect">
            <a:avLst/>
          </a:prstGeom>
          <a:solidFill>
            <a:srgbClr val="EDF4FA"/>
          </a:solidFill>
          <a:ln/>
        </p:spPr>
      </p:sp>
      <p:sp>
        <p:nvSpPr>
          <p:cNvPr id="137" name="Text 135"/>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39" name="Shape 137"/>
          <p:cNvSpPr/>
          <p:nvPr/>
        </p:nvSpPr>
        <p:spPr>
          <a:xfrm>
            <a:off x="8558784" y="3775127"/>
            <a:ext cx="831951" cy="110266"/>
          </a:xfrm>
          <a:prstGeom prst="rect">
            <a:avLst/>
          </a:prstGeom>
          <a:solidFill>
            <a:srgbClr val="12A566"/>
          </a:solidFill>
          <a:ln/>
        </p:spPr>
      </p:sp>
      <p:sp>
        <p:nvSpPr>
          <p:cNvPr id="140" name="Shape 138"/>
          <p:cNvSpPr/>
          <p:nvPr/>
        </p:nvSpPr>
        <p:spPr>
          <a:xfrm>
            <a:off x="9367031" y="3742048"/>
            <a:ext cx="21946" cy="176425"/>
          </a:xfrm>
          <a:prstGeom prst="rect">
            <a:avLst/>
          </a:prstGeom>
          <a:solidFill>
            <a:srgbClr val="0B2C4A"/>
          </a:solidFill>
          <a:ln/>
        </p:spPr>
      </p:sp>
      <p:sp>
        <p:nvSpPr>
          <p:cNvPr id="141" name="Text 139"/>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142" name="Text 140"/>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4" name="Shape 142"/>
          <p:cNvSpPr/>
          <p:nvPr/>
        </p:nvSpPr>
        <p:spPr>
          <a:xfrm>
            <a:off x="8558784" y="3995659"/>
            <a:ext cx="821205" cy="110266"/>
          </a:xfrm>
          <a:prstGeom prst="rect">
            <a:avLst/>
          </a:prstGeom>
          <a:solidFill>
            <a:srgbClr val="C2352F"/>
          </a:solidFill>
          <a:ln/>
        </p:spPr>
      </p:sp>
      <p:sp>
        <p:nvSpPr>
          <p:cNvPr id="145" name="Shape 143"/>
          <p:cNvSpPr/>
          <p:nvPr/>
        </p:nvSpPr>
        <p:spPr>
          <a:xfrm>
            <a:off x="9725070" y="3962579"/>
            <a:ext cx="21946" cy="176425"/>
          </a:xfrm>
          <a:prstGeom prst="rect">
            <a:avLst/>
          </a:prstGeom>
          <a:solidFill>
            <a:srgbClr val="0B2C4A"/>
          </a:solidFill>
          <a:ln/>
        </p:spPr>
      </p:sp>
      <p:sp>
        <p:nvSpPr>
          <p:cNvPr id="146" name="Text 144"/>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47" name="Text 145"/>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8" name="Text 146"/>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9" name="Shape 147"/>
          <p:cNvSpPr/>
          <p:nvPr/>
        </p:nvSpPr>
        <p:spPr>
          <a:xfrm>
            <a:off x="8558784" y="4216191"/>
            <a:ext cx="798956" cy="110266"/>
          </a:xfrm>
          <a:prstGeom prst="rect">
            <a:avLst/>
          </a:prstGeom>
          <a:solidFill>
            <a:srgbClr val="C2352F"/>
          </a:solidFill>
          <a:ln/>
        </p:spPr>
      </p:sp>
      <p:sp>
        <p:nvSpPr>
          <p:cNvPr id="150" name="Shape 148"/>
          <p:cNvSpPr/>
          <p:nvPr/>
        </p:nvSpPr>
        <p:spPr>
          <a:xfrm>
            <a:off x="9725070" y="4183111"/>
            <a:ext cx="21946" cy="176425"/>
          </a:xfrm>
          <a:prstGeom prst="rect">
            <a:avLst/>
          </a:prstGeom>
          <a:solidFill>
            <a:srgbClr val="0B2C4A"/>
          </a:solidFill>
          <a:ln/>
        </p:spPr>
      </p:sp>
      <p:sp>
        <p:nvSpPr>
          <p:cNvPr id="151" name="Text 149"/>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52" name="Text 150"/>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3" name="Text 151"/>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4" name="Shape 152"/>
          <p:cNvSpPr/>
          <p:nvPr/>
        </p:nvSpPr>
        <p:spPr>
          <a:xfrm>
            <a:off x="8558784" y="4436723"/>
            <a:ext cx="791794" cy="110266"/>
          </a:xfrm>
          <a:prstGeom prst="rect">
            <a:avLst/>
          </a:prstGeom>
          <a:solidFill>
            <a:srgbClr val="C2352F"/>
          </a:solidFill>
          <a:ln/>
        </p:spPr>
      </p:sp>
      <p:sp>
        <p:nvSpPr>
          <p:cNvPr id="155" name="Shape 153"/>
          <p:cNvSpPr/>
          <p:nvPr/>
        </p:nvSpPr>
        <p:spPr>
          <a:xfrm>
            <a:off x="9725070" y="4403643"/>
            <a:ext cx="21946" cy="176425"/>
          </a:xfrm>
          <a:prstGeom prst="rect">
            <a:avLst/>
          </a:prstGeom>
          <a:solidFill>
            <a:srgbClr val="0B2C4A"/>
          </a:solidFill>
          <a:ln/>
        </p:spPr>
      </p:sp>
      <p:sp>
        <p:nvSpPr>
          <p:cNvPr id="156" name="Text 154"/>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9" name="Shape 157"/>
          <p:cNvSpPr/>
          <p:nvPr/>
        </p:nvSpPr>
        <p:spPr>
          <a:xfrm>
            <a:off x="8558784" y="4657254"/>
            <a:ext cx="779190" cy="110266"/>
          </a:xfrm>
          <a:prstGeom prst="rect">
            <a:avLst/>
          </a:prstGeom>
          <a:solidFill>
            <a:srgbClr val="C2352F"/>
          </a:solidFill>
          <a:ln/>
        </p:spPr>
      </p:sp>
      <p:sp>
        <p:nvSpPr>
          <p:cNvPr id="160" name="Shape 158"/>
          <p:cNvSpPr/>
          <p:nvPr/>
        </p:nvSpPr>
        <p:spPr>
          <a:xfrm>
            <a:off x="9725070"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65" name="Shape 163"/>
          <p:cNvSpPr/>
          <p:nvPr/>
        </p:nvSpPr>
        <p:spPr>
          <a:xfrm>
            <a:off x="8558784" y="4877786"/>
            <a:ext cx="743376" cy="110266"/>
          </a:xfrm>
          <a:prstGeom prst="rect">
            <a:avLst/>
          </a:prstGeom>
          <a:solidFill>
            <a:srgbClr val="C2352F"/>
          </a:solidFill>
          <a:ln/>
        </p:spPr>
      </p:sp>
      <p:sp>
        <p:nvSpPr>
          <p:cNvPr id="166" name="Shape 164"/>
          <p:cNvSpPr/>
          <p:nvPr/>
        </p:nvSpPr>
        <p:spPr>
          <a:xfrm>
            <a:off x="936703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596901" cy="110266"/>
          </a:xfrm>
          <a:prstGeom prst="rect">
            <a:avLst/>
          </a:prstGeom>
          <a:solidFill>
            <a:srgbClr val="C2352F"/>
          </a:solidFill>
          <a:ln/>
        </p:spPr>
      </p:sp>
      <p:sp>
        <p:nvSpPr>
          <p:cNvPr id="172" name="Shape 170"/>
          <p:cNvSpPr/>
          <p:nvPr/>
        </p:nvSpPr>
        <p:spPr>
          <a:xfrm>
            <a:off x="936703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558784" y="5318850"/>
            <a:ext cx="570833" cy="110266"/>
          </a:xfrm>
          <a:prstGeom prst="rect">
            <a:avLst/>
          </a:prstGeom>
          <a:solidFill>
            <a:srgbClr val="C2352F"/>
          </a:solidFill>
          <a:ln/>
        </p:spPr>
      </p:sp>
      <p:sp>
        <p:nvSpPr>
          <p:cNvPr id="178" name="Shape 176"/>
          <p:cNvSpPr/>
          <p:nvPr/>
        </p:nvSpPr>
        <p:spPr>
          <a:xfrm>
            <a:off x="936703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473837" cy="110266"/>
          </a:xfrm>
          <a:prstGeom prst="rect">
            <a:avLst/>
          </a:prstGeom>
          <a:solidFill>
            <a:srgbClr val="C2352F"/>
          </a:solidFill>
          <a:ln/>
        </p:spPr>
      </p:sp>
      <p:sp>
        <p:nvSpPr>
          <p:cNvPr id="184" name="Shape 182"/>
          <p:cNvSpPr/>
          <p:nvPr/>
        </p:nvSpPr>
        <p:spPr>
          <a:xfrm>
            <a:off x="936703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123 and 12 of 24 others beat 176. Toyota Flagstaff leads non-luxury at 253.</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17.4, non-luxury 29.3.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4239676"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 name="Shape 17"/>
          <p:cNvSpPr/>
          <p:nvPr/>
        </p:nvSpPr>
        <p:spPr>
          <a:xfrm>
            <a:off x="3008376" y="2451937"/>
            <a:ext cx="1635068" cy="110266"/>
          </a:xfrm>
          <a:prstGeom prst="rect">
            <a:avLst/>
          </a:prstGeom>
          <a:solidFill>
            <a:srgbClr val="12A566"/>
          </a:solidFill>
          <a:ln/>
        </p:spPr>
      </p:sp>
      <p:sp>
        <p:nvSpPr>
          <p:cNvPr id="20" name="Shape 18"/>
          <p:cNvSpPr/>
          <p:nvPr/>
        </p:nvSpPr>
        <p:spPr>
          <a:xfrm>
            <a:off x="4239676"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4" name="Shape 22"/>
          <p:cNvSpPr/>
          <p:nvPr/>
        </p:nvSpPr>
        <p:spPr>
          <a:xfrm>
            <a:off x="3008376" y="2672468"/>
            <a:ext cx="1588955" cy="110266"/>
          </a:xfrm>
          <a:prstGeom prst="rect">
            <a:avLst/>
          </a:prstGeom>
          <a:solidFill>
            <a:srgbClr val="12A566"/>
          </a:solidFill>
          <a:ln/>
        </p:spPr>
      </p:sp>
      <p:sp>
        <p:nvSpPr>
          <p:cNvPr id="25" name="Shape 23"/>
          <p:cNvSpPr/>
          <p:nvPr/>
        </p:nvSpPr>
        <p:spPr>
          <a:xfrm>
            <a:off x="4239676"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9" name="Shape 27"/>
          <p:cNvSpPr/>
          <p:nvPr/>
        </p:nvSpPr>
        <p:spPr>
          <a:xfrm>
            <a:off x="3008376" y="2893000"/>
            <a:ext cx="1563921" cy="110266"/>
          </a:xfrm>
          <a:prstGeom prst="rect">
            <a:avLst/>
          </a:prstGeom>
          <a:solidFill>
            <a:srgbClr val="12A566"/>
          </a:solidFill>
          <a:ln/>
        </p:spPr>
      </p:sp>
      <p:sp>
        <p:nvSpPr>
          <p:cNvPr id="30" name="Shape 28"/>
          <p:cNvSpPr/>
          <p:nvPr/>
        </p:nvSpPr>
        <p:spPr>
          <a:xfrm>
            <a:off x="4239676"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4" name="Shape 32"/>
          <p:cNvSpPr/>
          <p:nvPr/>
        </p:nvSpPr>
        <p:spPr>
          <a:xfrm>
            <a:off x="3008376" y="3113532"/>
            <a:ext cx="1551295" cy="110266"/>
          </a:xfrm>
          <a:prstGeom prst="rect">
            <a:avLst/>
          </a:prstGeom>
          <a:solidFill>
            <a:srgbClr val="12A566"/>
          </a:solidFill>
          <a:ln/>
        </p:spPr>
      </p:sp>
      <p:sp>
        <p:nvSpPr>
          <p:cNvPr id="35" name="Shape 33"/>
          <p:cNvSpPr/>
          <p:nvPr/>
        </p:nvSpPr>
        <p:spPr>
          <a:xfrm>
            <a:off x="4239676"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9" name="Shape 37"/>
          <p:cNvSpPr/>
          <p:nvPr/>
        </p:nvSpPr>
        <p:spPr>
          <a:xfrm>
            <a:off x="3008376" y="3334064"/>
            <a:ext cx="1486679" cy="110266"/>
          </a:xfrm>
          <a:prstGeom prst="rect">
            <a:avLst/>
          </a:prstGeom>
          <a:solidFill>
            <a:srgbClr val="12A566"/>
          </a:solidFill>
          <a:ln/>
        </p:spPr>
      </p:sp>
      <p:sp>
        <p:nvSpPr>
          <p:cNvPr id="40" name="Shape 38"/>
          <p:cNvSpPr/>
          <p:nvPr/>
        </p:nvSpPr>
        <p:spPr>
          <a:xfrm>
            <a:off x="4239676"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42" name="Text 40"/>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3008376" y="3554596"/>
            <a:ext cx="1475126" cy="110266"/>
          </a:xfrm>
          <a:prstGeom prst="rect">
            <a:avLst/>
          </a:prstGeom>
          <a:solidFill>
            <a:srgbClr val="12A566"/>
          </a:solidFill>
          <a:ln/>
        </p:spPr>
      </p:sp>
      <p:sp>
        <p:nvSpPr>
          <p:cNvPr id="45" name="Shape 43"/>
          <p:cNvSpPr/>
          <p:nvPr/>
        </p:nvSpPr>
        <p:spPr>
          <a:xfrm>
            <a:off x="4239676" y="3521516"/>
            <a:ext cx="21946" cy="176425"/>
          </a:xfrm>
          <a:prstGeom prst="rect">
            <a:avLst/>
          </a:prstGeom>
          <a:solidFill>
            <a:srgbClr val="0B2C4A"/>
          </a:solidFill>
          <a:ln/>
        </p:spPr>
      </p:sp>
      <p:sp>
        <p:nvSpPr>
          <p:cNvPr id="46" name="Text 44"/>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47" name="Text 45"/>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9" name="Shape 47"/>
          <p:cNvSpPr/>
          <p:nvPr/>
        </p:nvSpPr>
        <p:spPr>
          <a:xfrm>
            <a:off x="3008376" y="3775127"/>
            <a:ext cx="1377666" cy="110266"/>
          </a:xfrm>
          <a:prstGeom prst="rect">
            <a:avLst/>
          </a:prstGeom>
          <a:solidFill>
            <a:srgbClr val="12A566"/>
          </a:solidFill>
          <a:ln/>
        </p:spPr>
      </p:sp>
      <p:sp>
        <p:nvSpPr>
          <p:cNvPr id="50" name="Shape 48"/>
          <p:cNvSpPr/>
          <p:nvPr/>
        </p:nvSpPr>
        <p:spPr>
          <a:xfrm>
            <a:off x="4239676" y="3742048"/>
            <a:ext cx="21946" cy="176425"/>
          </a:xfrm>
          <a:prstGeom prst="rect">
            <a:avLst/>
          </a:prstGeom>
          <a:solidFill>
            <a:srgbClr val="0B2C4A"/>
          </a:solidFill>
          <a:ln/>
        </p:spPr>
      </p:sp>
      <p:sp>
        <p:nvSpPr>
          <p:cNvPr id="51" name="Text 49"/>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52" name="Text 50"/>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4" name="Shape 52"/>
          <p:cNvSpPr/>
          <p:nvPr/>
        </p:nvSpPr>
        <p:spPr>
          <a:xfrm>
            <a:off x="3008376" y="3995659"/>
            <a:ext cx="1334480" cy="110266"/>
          </a:xfrm>
          <a:prstGeom prst="rect">
            <a:avLst/>
          </a:prstGeom>
          <a:solidFill>
            <a:srgbClr val="12A566"/>
          </a:solidFill>
          <a:ln/>
        </p:spPr>
      </p:sp>
      <p:sp>
        <p:nvSpPr>
          <p:cNvPr id="55" name="Shape 53"/>
          <p:cNvSpPr/>
          <p:nvPr/>
        </p:nvSpPr>
        <p:spPr>
          <a:xfrm>
            <a:off x="4239676" y="3962579"/>
            <a:ext cx="21946" cy="176425"/>
          </a:xfrm>
          <a:prstGeom prst="rect">
            <a:avLst/>
          </a:prstGeom>
          <a:solidFill>
            <a:srgbClr val="0B2C4A"/>
          </a:solidFill>
          <a:ln/>
        </p:spPr>
      </p:sp>
      <p:sp>
        <p:nvSpPr>
          <p:cNvPr id="56" name="Text 54"/>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57" name="Text 55"/>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008376" y="4216191"/>
            <a:ext cx="1334041" cy="110266"/>
          </a:xfrm>
          <a:prstGeom prst="rect">
            <a:avLst/>
          </a:prstGeom>
          <a:solidFill>
            <a:srgbClr val="12A566"/>
          </a:solidFill>
          <a:ln/>
        </p:spPr>
      </p:sp>
      <p:sp>
        <p:nvSpPr>
          <p:cNvPr id="60" name="Shape 58"/>
          <p:cNvSpPr/>
          <p:nvPr/>
        </p:nvSpPr>
        <p:spPr>
          <a:xfrm>
            <a:off x="4239676" y="4183111"/>
            <a:ext cx="21946" cy="176425"/>
          </a:xfrm>
          <a:prstGeom prst="rect">
            <a:avLst/>
          </a:prstGeom>
          <a:solidFill>
            <a:srgbClr val="0B2C4A"/>
          </a:solidFill>
          <a:ln/>
        </p:spPr>
      </p:sp>
      <p:sp>
        <p:nvSpPr>
          <p:cNvPr id="61" name="Text 59"/>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2" name="Text 60"/>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008376" y="4436723"/>
            <a:ext cx="1333504" cy="110266"/>
          </a:xfrm>
          <a:prstGeom prst="rect">
            <a:avLst/>
          </a:prstGeom>
          <a:solidFill>
            <a:srgbClr val="12A566"/>
          </a:solidFill>
          <a:ln/>
        </p:spPr>
      </p:sp>
      <p:sp>
        <p:nvSpPr>
          <p:cNvPr id="65" name="Shape 63"/>
          <p:cNvSpPr/>
          <p:nvPr/>
        </p:nvSpPr>
        <p:spPr>
          <a:xfrm>
            <a:off x="4239676" y="4403643"/>
            <a:ext cx="21946" cy="176425"/>
          </a:xfrm>
          <a:prstGeom prst="rect">
            <a:avLst/>
          </a:prstGeom>
          <a:solidFill>
            <a:srgbClr val="0B2C4A"/>
          </a:solidFill>
          <a:ln/>
        </p:spPr>
      </p:sp>
      <p:sp>
        <p:nvSpPr>
          <p:cNvPr id="66" name="Text 64"/>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67" name="Text 65"/>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9" name="Shape 67"/>
          <p:cNvSpPr/>
          <p:nvPr/>
        </p:nvSpPr>
        <p:spPr>
          <a:xfrm>
            <a:off x="3008376" y="4657254"/>
            <a:ext cx="1327762" cy="110266"/>
          </a:xfrm>
          <a:prstGeom prst="rect">
            <a:avLst/>
          </a:prstGeom>
          <a:solidFill>
            <a:srgbClr val="12A566"/>
          </a:solidFill>
          <a:ln/>
        </p:spPr>
      </p:sp>
      <p:sp>
        <p:nvSpPr>
          <p:cNvPr id="70" name="Shape 68"/>
          <p:cNvSpPr/>
          <p:nvPr/>
        </p:nvSpPr>
        <p:spPr>
          <a:xfrm>
            <a:off x="4239676" y="4624175"/>
            <a:ext cx="21946" cy="176425"/>
          </a:xfrm>
          <a:prstGeom prst="rect">
            <a:avLst/>
          </a:prstGeom>
          <a:solidFill>
            <a:srgbClr val="0B2C4A"/>
          </a:solidFill>
          <a:ln/>
        </p:spPr>
      </p:sp>
      <p:sp>
        <p:nvSpPr>
          <p:cNvPr id="71" name="Text 69"/>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72" name="Text 70"/>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4" name="Shape 72"/>
          <p:cNvSpPr/>
          <p:nvPr/>
        </p:nvSpPr>
        <p:spPr>
          <a:xfrm>
            <a:off x="3008376" y="4877786"/>
            <a:ext cx="1320901" cy="110266"/>
          </a:xfrm>
          <a:prstGeom prst="rect">
            <a:avLst/>
          </a:prstGeom>
          <a:solidFill>
            <a:srgbClr val="12A566"/>
          </a:solidFill>
          <a:ln/>
        </p:spPr>
      </p:sp>
      <p:sp>
        <p:nvSpPr>
          <p:cNvPr id="75" name="Shape 73"/>
          <p:cNvSpPr/>
          <p:nvPr/>
        </p:nvSpPr>
        <p:spPr>
          <a:xfrm>
            <a:off x="4239676" y="4844706"/>
            <a:ext cx="21946" cy="176425"/>
          </a:xfrm>
          <a:prstGeom prst="rect">
            <a:avLst/>
          </a:prstGeom>
          <a:solidFill>
            <a:srgbClr val="0B2C4A"/>
          </a:solidFill>
          <a:ln/>
        </p:spPr>
      </p:sp>
      <p:sp>
        <p:nvSpPr>
          <p:cNvPr id="76" name="Text 74"/>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7" name="Text 75"/>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9" name="Shape 77"/>
          <p:cNvSpPr/>
          <p:nvPr/>
        </p:nvSpPr>
        <p:spPr>
          <a:xfrm>
            <a:off x="3008376" y="5098318"/>
            <a:ext cx="1297695" cy="110266"/>
          </a:xfrm>
          <a:prstGeom prst="rect">
            <a:avLst/>
          </a:prstGeom>
          <a:solidFill>
            <a:srgbClr val="12A566"/>
          </a:solidFill>
          <a:ln/>
        </p:spPr>
      </p:sp>
      <p:sp>
        <p:nvSpPr>
          <p:cNvPr id="80" name="Shape 78"/>
          <p:cNvSpPr/>
          <p:nvPr/>
        </p:nvSpPr>
        <p:spPr>
          <a:xfrm>
            <a:off x="4239676" y="5065238"/>
            <a:ext cx="21946" cy="176425"/>
          </a:xfrm>
          <a:prstGeom prst="rect">
            <a:avLst/>
          </a:prstGeom>
          <a:solidFill>
            <a:srgbClr val="0B2C4A"/>
          </a:solidFill>
          <a:ln/>
        </p:spPr>
      </p:sp>
      <p:sp>
        <p:nvSpPr>
          <p:cNvPr id="81" name="Text 79"/>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82" name="Text 80"/>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4" name="Shape 82"/>
          <p:cNvSpPr/>
          <p:nvPr/>
        </p:nvSpPr>
        <p:spPr>
          <a:xfrm>
            <a:off x="3008376" y="5318850"/>
            <a:ext cx="1224071" cy="110266"/>
          </a:xfrm>
          <a:prstGeom prst="rect">
            <a:avLst/>
          </a:prstGeom>
          <a:solidFill>
            <a:srgbClr val="C2352F"/>
          </a:solidFill>
          <a:ln/>
        </p:spPr>
      </p:sp>
      <p:sp>
        <p:nvSpPr>
          <p:cNvPr id="85" name="Shape 83"/>
          <p:cNvSpPr/>
          <p:nvPr/>
        </p:nvSpPr>
        <p:spPr>
          <a:xfrm>
            <a:off x="4239676" y="5285770"/>
            <a:ext cx="21946" cy="176425"/>
          </a:xfrm>
          <a:prstGeom prst="rect">
            <a:avLst/>
          </a:prstGeom>
          <a:solidFill>
            <a:srgbClr val="0B2C4A"/>
          </a:solidFill>
          <a:ln/>
        </p:spPr>
      </p:sp>
      <p:sp>
        <p:nvSpPr>
          <p:cNvPr id="86" name="Text 84"/>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87" name="Text 85"/>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3008376" y="5539381"/>
            <a:ext cx="1198528" cy="110266"/>
          </a:xfrm>
          <a:prstGeom prst="rect">
            <a:avLst/>
          </a:prstGeom>
          <a:solidFill>
            <a:srgbClr val="C2352F"/>
          </a:solidFill>
          <a:ln/>
        </p:spPr>
      </p:sp>
      <p:sp>
        <p:nvSpPr>
          <p:cNvPr id="90" name="Shape 88"/>
          <p:cNvSpPr/>
          <p:nvPr/>
        </p:nvSpPr>
        <p:spPr>
          <a:xfrm>
            <a:off x="4239676" y="5506302"/>
            <a:ext cx="21946" cy="176425"/>
          </a:xfrm>
          <a:prstGeom prst="rect">
            <a:avLst/>
          </a:prstGeom>
          <a:solidFill>
            <a:srgbClr val="0B2C4A"/>
          </a:solidFill>
          <a:ln/>
        </p:spPr>
      </p:sp>
      <p:sp>
        <p:nvSpPr>
          <p:cNvPr id="91" name="Text 89"/>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92" name="Text 90"/>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4" name="Shape 92"/>
          <p:cNvSpPr/>
          <p:nvPr/>
        </p:nvSpPr>
        <p:spPr>
          <a:xfrm>
            <a:off x="3008376" y="5759913"/>
            <a:ext cx="1081624" cy="110266"/>
          </a:xfrm>
          <a:prstGeom prst="rect">
            <a:avLst/>
          </a:prstGeom>
          <a:solidFill>
            <a:srgbClr val="C2352F"/>
          </a:solidFill>
          <a:ln/>
        </p:spPr>
      </p:sp>
      <p:sp>
        <p:nvSpPr>
          <p:cNvPr id="95" name="Shape 93"/>
          <p:cNvSpPr/>
          <p:nvPr/>
        </p:nvSpPr>
        <p:spPr>
          <a:xfrm>
            <a:off x="4239676" y="5726833"/>
            <a:ext cx="21946" cy="176425"/>
          </a:xfrm>
          <a:prstGeom prst="rect">
            <a:avLst/>
          </a:prstGeom>
          <a:solidFill>
            <a:srgbClr val="0B2C4A"/>
          </a:solidFill>
          <a:ln/>
        </p:spPr>
      </p:sp>
      <p:sp>
        <p:nvSpPr>
          <p:cNvPr id="96" name="Text 94"/>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97" name="Shape 95"/>
          <p:cNvSpPr/>
          <p:nvPr/>
        </p:nvSpPr>
        <p:spPr>
          <a:xfrm>
            <a:off x="6153912" y="2176272"/>
            <a:ext cx="5358384" cy="220532"/>
          </a:xfrm>
          <a:prstGeom prst="rect">
            <a:avLst/>
          </a:prstGeom>
          <a:solidFill>
            <a:srgbClr val="EDF4FA"/>
          </a:solidFill>
          <a:ln/>
        </p:spPr>
      </p:sp>
      <p:sp>
        <p:nvSpPr>
          <p:cNvPr id="98" name="Text 96"/>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9" name="Text 97"/>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00" name="Shape 98"/>
          <p:cNvSpPr/>
          <p:nvPr/>
        </p:nvSpPr>
        <p:spPr>
          <a:xfrm>
            <a:off x="8558784" y="2231405"/>
            <a:ext cx="1055564" cy="110266"/>
          </a:xfrm>
          <a:prstGeom prst="rect">
            <a:avLst/>
          </a:prstGeom>
          <a:solidFill>
            <a:srgbClr val="12A566"/>
          </a:solidFill>
          <a:ln/>
        </p:spPr>
      </p:sp>
      <p:sp>
        <p:nvSpPr>
          <p:cNvPr id="101" name="Shape 99"/>
          <p:cNvSpPr/>
          <p:nvPr/>
        </p:nvSpPr>
        <p:spPr>
          <a:xfrm>
            <a:off x="9288611" y="2198325"/>
            <a:ext cx="21946" cy="176425"/>
          </a:xfrm>
          <a:prstGeom prst="rect">
            <a:avLst/>
          </a:prstGeom>
          <a:solidFill>
            <a:srgbClr val="0B2C4A"/>
          </a:solidFill>
          <a:ln/>
        </p:spPr>
      </p:sp>
      <p:sp>
        <p:nvSpPr>
          <p:cNvPr id="102" name="Text 100"/>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03" name="Shape 101"/>
          <p:cNvSpPr/>
          <p:nvPr/>
        </p:nvSpPr>
        <p:spPr>
          <a:xfrm>
            <a:off x="6153912" y="2396804"/>
            <a:ext cx="5358384" cy="220532"/>
          </a:xfrm>
          <a:prstGeom prst="rect">
            <a:avLst/>
          </a:prstGeom>
          <a:solidFill>
            <a:srgbClr val="EDF4FA"/>
          </a:solidFill>
          <a:ln/>
        </p:spPr>
      </p:sp>
      <p:sp>
        <p:nvSpPr>
          <p:cNvPr id="104" name="Text 102"/>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5" name="Text 103"/>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106" name="Shape 104"/>
          <p:cNvSpPr/>
          <p:nvPr/>
        </p:nvSpPr>
        <p:spPr>
          <a:xfrm>
            <a:off x="8558784" y="2451937"/>
            <a:ext cx="1038179" cy="110266"/>
          </a:xfrm>
          <a:prstGeom prst="rect">
            <a:avLst/>
          </a:prstGeom>
          <a:solidFill>
            <a:srgbClr val="12A566"/>
          </a:solidFill>
          <a:ln/>
        </p:spPr>
      </p:sp>
      <p:sp>
        <p:nvSpPr>
          <p:cNvPr id="107" name="Shape 105"/>
          <p:cNvSpPr/>
          <p:nvPr/>
        </p:nvSpPr>
        <p:spPr>
          <a:xfrm>
            <a:off x="9288611" y="2418857"/>
            <a:ext cx="21946" cy="176425"/>
          </a:xfrm>
          <a:prstGeom prst="rect">
            <a:avLst/>
          </a:prstGeom>
          <a:solidFill>
            <a:srgbClr val="0B2C4A"/>
          </a:solidFill>
          <a:ln/>
        </p:spPr>
      </p:sp>
      <p:sp>
        <p:nvSpPr>
          <p:cNvPr id="108" name="Text 106"/>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109" name="Text 107"/>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0" name="Text 108"/>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1" name="Shape 109"/>
          <p:cNvSpPr/>
          <p:nvPr/>
        </p:nvSpPr>
        <p:spPr>
          <a:xfrm>
            <a:off x="8558784" y="2672468"/>
            <a:ext cx="1004084" cy="110266"/>
          </a:xfrm>
          <a:prstGeom prst="rect">
            <a:avLst/>
          </a:prstGeom>
          <a:solidFill>
            <a:srgbClr val="C2352F"/>
          </a:solidFill>
          <a:ln/>
        </p:spPr>
      </p:sp>
      <p:sp>
        <p:nvSpPr>
          <p:cNvPr id="112" name="Shape 110"/>
          <p:cNvSpPr/>
          <p:nvPr/>
        </p:nvSpPr>
        <p:spPr>
          <a:xfrm>
            <a:off x="9790084" y="2639389"/>
            <a:ext cx="21946" cy="176425"/>
          </a:xfrm>
          <a:prstGeom prst="rect">
            <a:avLst/>
          </a:prstGeom>
          <a:solidFill>
            <a:srgbClr val="0B2C4A"/>
          </a:solidFill>
          <a:ln/>
        </p:spPr>
      </p:sp>
      <p:sp>
        <p:nvSpPr>
          <p:cNvPr id="113" name="Text 111"/>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14" name="Text 112"/>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5" name="Text 113"/>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558784" y="2893000"/>
            <a:ext cx="961384" cy="110266"/>
          </a:xfrm>
          <a:prstGeom prst="rect">
            <a:avLst/>
          </a:prstGeom>
          <a:solidFill>
            <a:srgbClr val="C2352F"/>
          </a:solidFill>
          <a:ln/>
        </p:spPr>
      </p:sp>
      <p:sp>
        <p:nvSpPr>
          <p:cNvPr id="117" name="Shape 115"/>
          <p:cNvSpPr/>
          <p:nvPr/>
        </p:nvSpPr>
        <p:spPr>
          <a:xfrm>
            <a:off x="9790084" y="2859920"/>
            <a:ext cx="21946" cy="176425"/>
          </a:xfrm>
          <a:prstGeom prst="rect">
            <a:avLst/>
          </a:prstGeom>
          <a:solidFill>
            <a:srgbClr val="0B2C4A"/>
          </a:solidFill>
          <a:ln/>
        </p:spPr>
      </p:sp>
      <p:sp>
        <p:nvSpPr>
          <p:cNvPr id="118" name="Text 116"/>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19" name="Text 117"/>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0" name="Text 118"/>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3113532"/>
            <a:ext cx="939246" cy="110266"/>
          </a:xfrm>
          <a:prstGeom prst="rect">
            <a:avLst/>
          </a:prstGeom>
          <a:solidFill>
            <a:srgbClr val="C2352F"/>
          </a:solidFill>
          <a:ln/>
        </p:spPr>
      </p:sp>
      <p:sp>
        <p:nvSpPr>
          <p:cNvPr id="122" name="Shape 120"/>
          <p:cNvSpPr/>
          <p:nvPr/>
        </p:nvSpPr>
        <p:spPr>
          <a:xfrm>
            <a:off x="9790084" y="3080452"/>
            <a:ext cx="21946" cy="176425"/>
          </a:xfrm>
          <a:prstGeom prst="rect">
            <a:avLst/>
          </a:prstGeom>
          <a:solidFill>
            <a:srgbClr val="0B2C4A"/>
          </a:solidFill>
          <a:ln/>
        </p:spPr>
      </p:sp>
      <p:sp>
        <p:nvSpPr>
          <p:cNvPr id="123" name="Text 121"/>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24" name="Text 122"/>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5" name="Text 123"/>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6" name="Shape 124"/>
          <p:cNvSpPr/>
          <p:nvPr/>
        </p:nvSpPr>
        <p:spPr>
          <a:xfrm>
            <a:off x="8558784" y="3334064"/>
            <a:ext cx="888310" cy="110266"/>
          </a:xfrm>
          <a:prstGeom prst="rect">
            <a:avLst/>
          </a:prstGeom>
          <a:solidFill>
            <a:srgbClr val="C2352F"/>
          </a:solidFill>
          <a:ln/>
        </p:spPr>
      </p:sp>
      <p:sp>
        <p:nvSpPr>
          <p:cNvPr id="127" name="Shape 125"/>
          <p:cNvSpPr/>
          <p:nvPr/>
        </p:nvSpPr>
        <p:spPr>
          <a:xfrm>
            <a:off x="9790084" y="3300984"/>
            <a:ext cx="21946" cy="176425"/>
          </a:xfrm>
          <a:prstGeom prst="rect">
            <a:avLst/>
          </a:prstGeom>
          <a:solidFill>
            <a:srgbClr val="0B2C4A"/>
          </a:solidFill>
          <a:ln/>
        </p:spPr>
      </p:sp>
      <p:sp>
        <p:nvSpPr>
          <p:cNvPr id="128" name="Text 126"/>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29" name="Text 127"/>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0" name="Text 128"/>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1" name="Shape 129"/>
          <p:cNvSpPr/>
          <p:nvPr/>
        </p:nvSpPr>
        <p:spPr>
          <a:xfrm>
            <a:off x="8558784" y="3554596"/>
            <a:ext cx="863117" cy="110266"/>
          </a:xfrm>
          <a:prstGeom prst="rect">
            <a:avLst/>
          </a:prstGeom>
          <a:solidFill>
            <a:srgbClr val="C2352F"/>
          </a:solidFill>
          <a:ln/>
        </p:spPr>
      </p:sp>
      <p:sp>
        <p:nvSpPr>
          <p:cNvPr id="132" name="Shape 130"/>
          <p:cNvSpPr/>
          <p:nvPr/>
        </p:nvSpPr>
        <p:spPr>
          <a:xfrm>
            <a:off x="9790084" y="3521516"/>
            <a:ext cx="21946" cy="176425"/>
          </a:xfrm>
          <a:prstGeom prst="rect">
            <a:avLst/>
          </a:prstGeom>
          <a:solidFill>
            <a:srgbClr val="0B2C4A"/>
          </a:solidFill>
          <a:ln/>
        </p:spPr>
      </p:sp>
      <p:sp>
        <p:nvSpPr>
          <p:cNvPr id="133" name="Text 131"/>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34" name="Shape 132"/>
          <p:cNvSpPr/>
          <p:nvPr/>
        </p:nvSpPr>
        <p:spPr>
          <a:xfrm>
            <a:off x="6153912" y="3719994"/>
            <a:ext cx="5358384" cy="220532"/>
          </a:xfrm>
          <a:prstGeom prst="rect">
            <a:avLst/>
          </a:prstGeom>
          <a:solidFill>
            <a:srgbClr val="EDF4FA"/>
          </a:solidFill>
          <a:ln/>
        </p:spPr>
      </p:sp>
      <p:sp>
        <p:nvSpPr>
          <p:cNvPr id="135" name="Text 133"/>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558784" y="3775127"/>
            <a:ext cx="822425" cy="110266"/>
          </a:xfrm>
          <a:prstGeom prst="rect">
            <a:avLst/>
          </a:prstGeom>
          <a:solidFill>
            <a:srgbClr val="12A566"/>
          </a:solidFill>
          <a:ln/>
        </p:spPr>
      </p:sp>
      <p:sp>
        <p:nvSpPr>
          <p:cNvPr id="138" name="Shape 136"/>
          <p:cNvSpPr/>
          <p:nvPr/>
        </p:nvSpPr>
        <p:spPr>
          <a:xfrm>
            <a:off x="9288611" y="3742048"/>
            <a:ext cx="21946" cy="176425"/>
          </a:xfrm>
          <a:prstGeom prst="rect">
            <a:avLst/>
          </a:prstGeom>
          <a:solidFill>
            <a:srgbClr val="0B2C4A"/>
          </a:solidFill>
          <a:ln/>
        </p:spPr>
      </p:sp>
      <p:sp>
        <p:nvSpPr>
          <p:cNvPr id="139" name="Text 137"/>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40" name="Text 138"/>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2" name="Shape 140"/>
          <p:cNvSpPr/>
          <p:nvPr/>
        </p:nvSpPr>
        <p:spPr>
          <a:xfrm>
            <a:off x="8558784" y="3995659"/>
            <a:ext cx="814746" cy="110266"/>
          </a:xfrm>
          <a:prstGeom prst="rect">
            <a:avLst/>
          </a:prstGeom>
          <a:solidFill>
            <a:srgbClr val="C2352F"/>
          </a:solidFill>
          <a:ln/>
        </p:spPr>
      </p:sp>
      <p:sp>
        <p:nvSpPr>
          <p:cNvPr id="143" name="Shape 141"/>
          <p:cNvSpPr/>
          <p:nvPr/>
        </p:nvSpPr>
        <p:spPr>
          <a:xfrm>
            <a:off x="9790084" y="3962579"/>
            <a:ext cx="21946" cy="176425"/>
          </a:xfrm>
          <a:prstGeom prst="rect">
            <a:avLst/>
          </a:prstGeom>
          <a:solidFill>
            <a:srgbClr val="0B2C4A"/>
          </a:solidFill>
          <a:ln/>
        </p:spPr>
      </p:sp>
      <p:sp>
        <p:nvSpPr>
          <p:cNvPr id="144" name="Text 142"/>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5" name="Shape 143"/>
          <p:cNvSpPr/>
          <p:nvPr/>
        </p:nvSpPr>
        <p:spPr>
          <a:xfrm>
            <a:off x="6153912" y="4161058"/>
            <a:ext cx="5358384" cy="220532"/>
          </a:xfrm>
          <a:prstGeom prst="rect">
            <a:avLst/>
          </a:prstGeom>
          <a:solidFill>
            <a:srgbClr val="EDF4FA"/>
          </a:solidFill>
          <a:ln/>
        </p:spPr>
      </p:sp>
      <p:sp>
        <p:nvSpPr>
          <p:cNvPr id="146" name="Text 144"/>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7" name="Text 145"/>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216191"/>
            <a:ext cx="807912" cy="110266"/>
          </a:xfrm>
          <a:prstGeom prst="rect">
            <a:avLst/>
          </a:prstGeom>
          <a:solidFill>
            <a:srgbClr val="12A566"/>
          </a:solidFill>
          <a:ln/>
        </p:spPr>
      </p:sp>
      <p:sp>
        <p:nvSpPr>
          <p:cNvPr id="149" name="Shape 147"/>
          <p:cNvSpPr/>
          <p:nvPr/>
        </p:nvSpPr>
        <p:spPr>
          <a:xfrm>
            <a:off x="9288611" y="4183111"/>
            <a:ext cx="21946" cy="176425"/>
          </a:xfrm>
          <a:prstGeom prst="rect">
            <a:avLst/>
          </a:prstGeom>
          <a:solidFill>
            <a:srgbClr val="0B2C4A"/>
          </a:solidFill>
          <a:ln/>
        </p:spPr>
      </p:sp>
      <p:sp>
        <p:nvSpPr>
          <p:cNvPr id="150" name="Text 148"/>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151" name="Text 149"/>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2" name="Text 150"/>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3" name="Shape 151"/>
          <p:cNvSpPr/>
          <p:nvPr/>
        </p:nvSpPr>
        <p:spPr>
          <a:xfrm>
            <a:off x="8558784" y="4436723"/>
            <a:ext cx="736496" cy="110266"/>
          </a:xfrm>
          <a:prstGeom prst="rect">
            <a:avLst/>
          </a:prstGeom>
          <a:solidFill>
            <a:srgbClr val="C2352F"/>
          </a:solidFill>
          <a:ln/>
        </p:spPr>
      </p:sp>
      <p:sp>
        <p:nvSpPr>
          <p:cNvPr id="154" name="Shape 152"/>
          <p:cNvSpPr/>
          <p:nvPr/>
        </p:nvSpPr>
        <p:spPr>
          <a:xfrm>
            <a:off x="9790084" y="4403643"/>
            <a:ext cx="21946" cy="176425"/>
          </a:xfrm>
          <a:prstGeom prst="rect">
            <a:avLst/>
          </a:prstGeom>
          <a:solidFill>
            <a:srgbClr val="0B2C4A"/>
          </a:solidFill>
          <a:ln/>
        </p:spPr>
      </p:sp>
      <p:sp>
        <p:nvSpPr>
          <p:cNvPr id="155" name="Text 153"/>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6" name="Shape 154"/>
          <p:cNvSpPr/>
          <p:nvPr/>
        </p:nvSpPr>
        <p:spPr>
          <a:xfrm>
            <a:off x="6153912" y="4602121"/>
            <a:ext cx="5358384" cy="220532"/>
          </a:xfrm>
          <a:prstGeom prst="rect">
            <a:avLst/>
          </a:prstGeom>
          <a:solidFill>
            <a:srgbClr val="EDF4FA"/>
          </a:solidFill>
          <a:ln/>
        </p:spPr>
      </p:sp>
      <p:sp>
        <p:nvSpPr>
          <p:cNvPr id="157" name="Text 155"/>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8" name="Text 156"/>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159" name="Shape 157"/>
          <p:cNvSpPr/>
          <p:nvPr/>
        </p:nvSpPr>
        <p:spPr>
          <a:xfrm>
            <a:off x="8558784" y="4657254"/>
            <a:ext cx="713277" cy="110266"/>
          </a:xfrm>
          <a:prstGeom prst="rect">
            <a:avLst/>
          </a:prstGeom>
          <a:solidFill>
            <a:srgbClr val="C2352F"/>
          </a:solidFill>
          <a:ln/>
        </p:spPr>
      </p:sp>
      <p:sp>
        <p:nvSpPr>
          <p:cNvPr id="160" name="Shape 158"/>
          <p:cNvSpPr/>
          <p:nvPr/>
        </p:nvSpPr>
        <p:spPr>
          <a:xfrm>
            <a:off x="9288611" y="4624175"/>
            <a:ext cx="21946" cy="176425"/>
          </a:xfrm>
          <a:prstGeom prst="rect">
            <a:avLst/>
          </a:prstGeom>
          <a:solidFill>
            <a:srgbClr val="0B2C4A"/>
          </a:solidFill>
          <a:ln/>
        </p:spPr>
      </p:sp>
      <p:sp>
        <p:nvSpPr>
          <p:cNvPr id="161" name="Text 159"/>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162" name="Shape 160"/>
          <p:cNvSpPr/>
          <p:nvPr/>
        </p:nvSpPr>
        <p:spPr>
          <a:xfrm>
            <a:off x="6153912" y="4822653"/>
            <a:ext cx="5358384" cy="220532"/>
          </a:xfrm>
          <a:prstGeom prst="rect">
            <a:avLst/>
          </a:prstGeom>
          <a:solidFill>
            <a:srgbClr val="EDF4FA"/>
          </a:solidFill>
          <a:ln/>
        </p:spPr>
      </p:sp>
      <p:sp>
        <p:nvSpPr>
          <p:cNvPr id="163" name="Text 161"/>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65" name="Shape 163"/>
          <p:cNvSpPr/>
          <p:nvPr/>
        </p:nvSpPr>
        <p:spPr>
          <a:xfrm>
            <a:off x="8558784" y="4877786"/>
            <a:ext cx="625128" cy="110266"/>
          </a:xfrm>
          <a:prstGeom prst="rect">
            <a:avLst/>
          </a:prstGeom>
          <a:solidFill>
            <a:srgbClr val="C2352F"/>
          </a:solidFill>
          <a:ln/>
        </p:spPr>
      </p:sp>
      <p:sp>
        <p:nvSpPr>
          <p:cNvPr id="166" name="Shape 164"/>
          <p:cNvSpPr/>
          <p:nvPr/>
        </p:nvSpPr>
        <p:spPr>
          <a:xfrm>
            <a:off x="9288611" y="4844706"/>
            <a:ext cx="21946" cy="176425"/>
          </a:xfrm>
          <a:prstGeom prst="rect">
            <a:avLst/>
          </a:prstGeom>
          <a:solidFill>
            <a:srgbClr val="0B2C4A"/>
          </a:solidFill>
          <a:ln/>
        </p:spPr>
      </p:sp>
      <p:sp>
        <p:nvSpPr>
          <p:cNvPr id="167" name="Text 165"/>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68" name="Shape 166"/>
          <p:cNvSpPr/>
          <p:nvPr/>
        </p:nvSpPr>
        <p:spPr>
          <a:xfrm>
            <a:off x="6153912" y="5043185"/>
            <a:ext cx="5358384" cy="220532"/>
          </a:xfrm>
          <a:prstGeom prst="rect">
            <a:avLst/>
          </a:prstGeom>
          <a:solidFill>
            <a:srgbClr val="EDF4FA"/>
          </a:solidFill>
          <a:ln/>
        </p:spPr>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71" name="Shape 169"/>
          <p:cNvSpPr/>
          <p:nvPr/>
        </p:nvSpPr>
        <p:spPr>
          <a:xfrm>
            <a:off x="8558784" y="5098318"/>
            <a:ext cx="624943" cy="110266"/>
          </a:xfrm>
          <a:prstGeom prst="rect">
            <a:avLst/>
          </a:prstGeom>
          <a:solidFill>
            <a:srgbClr val="C2352F"/>
          </a:solidFill>
          <a:ln/>
        </p:spPr>
      </p:sp>
      <p:sp>
        <p:nvSpPr>
          <p:cNvPr id="172" name="Shape 170"/>
          <p:cNvSpPr/>
          <p:nvPr/>
        </p:nvSpPr>
        <p:spPr>
          <a:xfrm>
            <a:off x="928861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177" name="Shape 175"/>
          <p:cNvSpPr/>
          <p:nvPr/>
        </p:nvSpPr>
        <p:spPr>
          <a:xfrm>
            <a:off x="8558784" y="5318850"/>
            <a:ext cx="624412" cy="110266"/>
          </a:xfrm>
          <a:prstGeom prst="rect">
            <a:avLst/>
          </a:prstGeom>
          <a:solidFill>
            <a:srgbClr val="C2352F"/>
          </a:solidFill>
          <a:ln/>
        </p:spPr>
      </p:sp>
      <p:sp>
        <p:nvSpPr>
          <p:cNvPr id="178" name="Shape 176"/>
          <p:cNvSpPr/>
          <p:nvPr/>
        </p:nvSpPr>
        <p:spPr>
          <a:xfrm>
            <a:off x="9288611"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83" name="Shape 181"/>
          <p:cNvSpPr/>
          <p:nvPr/>
        </p:nvSpPr>
        <p:spPr>
          <a:xfrm>
            <a:off x="8558784" y="5539381"/>
            <a:ext cx="579399" cy="110266"/>
          </a:xfrm>
          <a:prstGeom prst="rect">
            <a:avLst/>
          </a:prstGeom>
          <a:solidFill>
            <a:srgbClr val="C2352F"/>
          </a:solidFill>
          <a:ln/>
        </p:spPr>
      </p:sp>
      <p:sp>
        <p:nvSpPr>
          <p:cNvPr id="184" name="Shape 182"/>
          <p:cNvSpPr/>
          <p:nvPr/>
        </p:nvSpPr>
        <p:spPr>
          <a:xfrm>
            <a:off x="9288611"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4 of 9 luxury stores beat 17.4 and 14 of 24 others beat 29.3. Kia St George leads non-luxury at 39.8.</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859536" y="1847088"/>
            <a:ext cx="10607040"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Shaded = luxury. Navy tick = the store's segment average: luxury 276, non-luxury 418. Green at or above it.</a:t>
            </a:r>
            <a:endParaRPr lang="en-US" sz="1400" dirty="0"/>
          </a:p>
        </p:txBody>
      </p:sp>
      <p:sp>
        <p:nvSpPr>
          <p:cNvPr id="12" name="Text 10"/>
          <p:cNvSpPr txBox="1"/>
          <p:nvPr/>
        </p:nvSpPr>
        <p:spPr>
          <a:xfrm>
            <a:off x="658368"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3008376" y="2231405"/>
            <a:ext cx="1691640" cy="110266"/>
          </a:xfrm>
          <a:prstGeom prst="rect">
            <a:avLst/>
          </a:prstGeom>
          <a:solidFill>
            <a:srgbClr val="12A566"/>
          </a:solidFill>
          <a:ln/>
        </p:spPr>
      </p:sp>
      <p:sp>
        <p:nvSpPr>
          <p:cNvPr id="15" name="Shape 13"/>
          <p:cNvSpPr/>
          <p:nvPr/>
        </p:nvSpPr>
        <p:spPr>
          <a:xfrm>
            <a:off x="3689433" y="2198325"/>
            <a:ext cx="21946" cy="176425"/>
          </a:xfrm>
          <a:prstGeom prst="rect">
            <a:avLst/>
          </a:prstGeom>
          <a:solidFill>
            <a:srgbClr val="0B2C4A"/>
          </a:solidFill>
          <a:ln/>
        </p:spPr>
      </p:sp>
      <p:sp>
        <p:nvSpPr>
          <p:cNvPr id="16" name="Text 14"/>
          <p:cNvSpPr txBox="1"/>
          <p:nvPr/>
        </p:nvSpPr>
        <p:spPr>
          <a:xfrm>
            <a:off x="4754880" y="2176272"/>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17" name="Text 15"/>
          <p:cNvSpPr txBox="1"/>
          <p:nvPr/>
        </p:nvSpPr>
        <p:spPr>
          <a:xfrm>
            <a:off x="658368"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 name="Shape 17"/>
          <p:cNvSpPr/>
          <p:nvPr/>
        </p:nvSpPr>
        <p:spPr>
          <a:xfrm>
            <a:off x="3008376" y="2451937"/>
            <a:ext cx="1266793" cy="110266"/>
          </a:xfrm>
          <a:prstGeom prst="rect">
            <a:avLst/>
          </a:prstGeom>
          <a:solidFill>
            <a:srgbClr val="12A566"/>
          </a:solidFill>
          <a:ln/>
        </p:spPr>
      </p:sp>
      <p:sp>
        <p:nvSpPr>
          <p:cNvPr id="20" name="Shape 18"/>
          <p:cNvSpPr/>
          <p:nvPr/>
        </p:nvSpPr>
        <p:spPr>
          <a:xfrm>
            <a:off x="3689433" y="2418857"/>
            <a:ext cx="21946" cy="176425"/>
          </a:xfrm>
          <a:prstGeom prst="rect">
            <a:avLst/>
          </a:prstGeom>
          <a:solidFill>
            <a:srgbClr val="0B2C4A"/>
          </a:solidFill>
          <a:ln/>
        </p:spPr>
      </p:sp>
      <p:sp>
        <p:nvSpPr>
          <p:cNvPr id="21" name="Text 19"/>
          <p:cNvSpPr txBox="1"/>
          <p:nvPr/>
        </p:nvSpPr>
        <p:spPr>
          <a:xfrm>
            <a:off x="4754880" y="239680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22" name="Text 20"/>
          <p:cNvSpPr txBox="1"/>
          <p:nvPr/>
        </p:nvSpPr>
        <p:spPr>
          <a:xfrm>
            <a:off x="658368"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61733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4" name="Shape 22"/>
          <p:cNvSpPr/>
          <p:nvPr/>
        </p:nvSpPr>
        <p:spPr>
          <a:xfrm>
            <a:off x="3008376" y="2672468"/>
            <a:ext cx="1135515" cy="110266"/>
          </a:xfrm>
          <a:prstGeom prst="rect">
            <a:avLst/>
          </a:prstGeom>
          <a:solidFill>
            <a:srgbClr val="12A566"/>
          </a:solidFill>
          <a:ln/>
        </p:spPr>
      </p:sp>
      <p:sp>
        <p:nvSpPr>
          <p:cNvPr id="25" name="Shape 23"/>
          <p:cNvSpPr/>
          <p:nvPr/>
        </p:nvSpPr>
        <p:spPr>
          <a:xfrm>
            <a:off x="3689433" y="2639389"/>
            <a:ext cx="21946" cy="176425"/>
          </a:xfrm>
          <a:prstGeom prst="rect">
            <a:avLst/>
          </a:prstGeom>
          <a:solidFill>
            <a:srgbClr val="0B2C4A"/>
          </a:solidFill>
          <a:ln/>
        </p:spPr>
      </p:sp>
      <p:sp>
        <p:nvSpPr>
          <p:cNvPr id="26" name="Text 24"/>
          <p:cNvSpPr txBox="1"/>
          <p:nvPr/>
        </p:nvSpPr>
        <p:spPr>
          <a:xfrm>
            <a:off x="4754880"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27" name="Text 25"/>
          <p:cNvSpPr txBox="1"/>
          <p:nvPr/>
        </p:nvSpPr>
        <p:spPr>
          <a:xfrm>
            <a:off x="658368"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83786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9" name="Shape 27"/>
          <p:cNvSpPr/>
          <p:nvPr/>
        </p:nvSpPr>
        <p:spPr>
          <a:xfrm>
            <a:off x="3008376" y="2893000"/>
            <a:ext cx="1087688" cy="110266"/>
          </a:xfrm>
          <a:prstGeom prst="rect">
            <a:avLst/>
          </a:prstGeom>
          <a:solidFill>
            <a:srgbClr val="12A566"/>
          </a:solidFill>
          <a:ln/>
        </p:spPr>
      </p:sp>
      <p:sp>
        <p:nvSpPr>
          <p:cNvPr id="30" name="Shape 28"/>
          <p:cNvSpPr/>
          <p:nvPr/>
        </p:nvSpPr>
        <p:spPr>
          <a:xfrm>
            <a:off x="3689433" y="2859920"/>
            <a:ext cx="21946" cy="176425"/>
          </a:xfrm>
          <a:prstGeom prst="rect">
            <a:avLst/>
          </a:prstGeom>
          <a:solidFill>
            <a:srgbClr val="0B2C4A"/>
          </a:solidFill>
          <a:ln/>
        </p:spPr>
      </p:sp>
      <p:sp>
        <p:nvSpPr>
          <p:cNvPr id="31" name="Text 29"/>
          <p:cNvSpPr txBox="1"/>
          <p:nvPr/>
        </p:nvSpPr>
        <p:spPr>
          <a:xfrm>
            <a:off x="4754880"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32" name="Text 30"/>
          <p:cNvSpPr txBox="1"/>
          <p:nvPr/>
        </p:nvSpPr>
        <p:spPr>
          <a:xfrm>
            <a:off x="658368"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4" name="Shape 32"/>
          <p:cNvSpPr/>
          <p:nvPr/>
        </p:nvSpPr>
        <p:spPr>
          <a:xfrm>
            <a:off x="3008376" y="3113532"/>
            <a:ext cx="977626" cy="110266"/>
          </a:xfrm>
          <a:prstGeom prst="rect">
            <a:avLst/>
          </a:prstGeom>
          <a:solidFill>
            <a:srgbClr val="12A566"/>
          </a:solidFill>
          <a:ln/>
        </p:spPr>
      </p:sp>
      <p:sp>
        <p:nvSpPr>
          <p:cNvPr id="35" name="Shape 33"/>
          <p:cNvSpPr/>
          <p:nvPr/>
        </p:nvSpPr>
        <p:spPr>
          <a:xfrm>
            <a:off x="3689433" y="3080452"/>
            <a:ext cx="21946" cy="176425"/>
          </a:xfrm>
          <a:prstGeom prst="rect">
            <a:avLst/>
          </a:prstGeom>
          <a:solidFill>
            <a:srgbClr val="0B2C4A"/>
          </a:solidFill>
          <a:ln/>
        </p:spPr>
      </p:sp>
      <p:sp>
        <p:nvSpPr>
          <p:cNvPr id="36" name="Text 34"/>
          <p:cNvSpPr txBox="1"/>
          <p:nvPr/>
        </p:nvSpPr>
        <p:spPr>
          <a:xfrm>
            <a:off x="4754880" y="3058399"/>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37" name="Text 35"/>
          <p:cNvSpPr txBox="1"/>
          <p:nvPr/>
        </p:nvSpPr>
        <p:spPr>
          <a:xfrm>
            <a:off x="658368"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9" name="Shape 37"/>
          <p:cNvSpPr/>
          <p:nvPr/>
        </p:nvSpPr>
        <p:spPr>
          <a:xfrm>
            <a:off x="3008376" y="3334064"/>
            <a:ext cx="926687" cy="110266"/>
          </a:xfrm>
          <a:prstGeom prst="rect">
            <a:avLst/>
          </a:prstGeom>
          <a:solidFill>
            <a:srgbClr val="12A566"/>
          </a:solidFill>
          <a:ln/>
        </p:spPr>
      </p:sp>
      <p:sp>
        <p:nvSpPr>
          <p:cNvPr id="40" name="Shape 38"/>
          <p:cNvSpPr/>
          <p:nvPr/>
        </p:nvSpPr>
        <p:spPr>
          <a:xfrm>
            <a:off x="3689433" y="3300984"/>
            <a:ext cx="21946" cy="176425"/>
          </a:xfrm>
          <a:prstGeom prst="rect">
            <a:avLst/>
          </a:prstGeom>
          <a:solidFill>
            <a:srgbClr val="0B2C4A"/>
          </a:solidFill>
          <a:ln/>
        </p:spPr>
      </p:sp>
      <p:sp>
        <p:nvSpPr>
          <p:cNvPr id="41" name="Text 39"/>
          <p:cNvSpPr txBox="1"/>
          <p:nvPr/>
        </p:nvSpPr>
        <p:spPr>
          <a:xfrm>
            <a:off x="4754880" y="3278931"/>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42" name="Shape 40"/>
          <p:cNvSpPr/>
          <p:nvPr/>
        </p:nvSpPr>
        <p:spPr>
          <a:xfrm>
            <a:off x="603504" y="3499463"/>
            <a:ext cx="5358384" cy="220532"/>
          </a:xfrm>
          <a:prstGeom prst="rect">
            <a:avLst/>
          </a:prstGeom>
          <a:solidFill>
            <a:srgbClr val="EDF4FA"/>
          </a:solidFill>
          <a:ln/>
        </p:spPr>
      </p:sp>
      <p:sp>
        <p:nvSpPr>
          <p:cNvPr id="43" name="Text 41"/>
          <p:cNvSpPr txBox="1"/>
          <p:nvPr/>
        </p:nvSpPr>
        <p:spPr>
          <a:xfrm>
            <a:off x="658368"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4" name="Text 42"/>
          <p:cNvSpPr txBox="1"/>
          <p:nvPr/>
        </p:nvSpPr>
        <p:spPr>
          <a:xfrm>
            <a:off x="1014984"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008376" y="3554596"/>
            <a:ext cx="812777" cy="110266"/>
          </a:xfrm>
          <a:prstGeom prst="rect">
            <a:avLst/>
          </a:prstGeom>
          <a:solidFill>
            <a:srgbClr val="12A566"/>
          </a:solidFill>
          <a:ln/>
        </p:spPr>
      </p:sp>
      <p:sp>
        <p:nvSpPr>
          <p:cNvPr id="46" name="Shape 44"/>
          <p:cNvSpPr/>
          <p:nvPr/>
        </p:nvSpPr>
        <p:spPr>
          <a:xfrm>
            <a:off x="3453660" y="3521516"/>
            <a:ext cx="21946" cy="176425"/>
          </a:xfrm>
          <a:prstGeom prst="rect">
            <a:avLst/>
          </a:prstGeom>
          <a:solidFill>
            <a:srgbClr val="0B2C4A"/>
          </a:solidFill>
          <a:ln/>
        </p:spPr>
      </p:sp>
      <p:sp>
        <p:nvSpPr>
          <p:cNvPr id="47" name="Text 45"/>
          <p:cNvSpPr txBox="1"/>
          <p:nvPr/>
        </p:nvSpPr>
        <p:spPr>
          <a:xfrm>
            <a:off x="4754880" y="349946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48" name="Text 46"/>
          <p:cNvSpPr txBox="1"/>
          <p:nvPr/>
        </p:nvSpPr>
        <p:spPr>
          <a:xfrm>
            <a:off x="658368"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9" name="Text 47"/>
          <p:cNvSpPr txBox="1"/>
          <p:nvPr/>
        </p:nvSpPr>
        <p:spPr>
          <a:xfrm>
            <a:off x="1014984"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0" name="Shape 48"/>
          <p:cNvSpPr/>
          <p:nvPr/>
        </p:nvSpPr>
        <p:spPr>
          <a:xfrm>
            <a:off x="3008376" y="3775127"/>
            <a:ext cx="707282" cy="110266"/>
          </a:xfrm>
          <a:prstGeom prst="rect">
            <a:avLst/>
          </a:prstGeom>
          <a:solidFill>
            <a:srgbClr val="12A566"/>
          </a:solidFill>
          <a:ln/>
        </p:spPr>
      </p:sp>
      <p:sp>
        <p:nvSpPr>
          <p:cNvPr id="51" name="Shape 49"/>
          <p:cNvSpPr/>
          <p:nvPr/>
        </p:nvSpPr>
        <p:spPr>
          <a:xfrm>
            <a:off x="3689433" y="3742048"/>
            <a:ext cx="21946" cy="176425"/>
          </a:xfrm>
          <a:prstGeom prst="rect">
            <a:avLst/>
          </a:prstGeom>
          <a:solidFill>
            <a:srgbClr val="0B2C4A"/>
          </a:solidFill>
          <a:ln/>
        </p:spPr>
      </p:sp>
      <p:sp>
        <p:nvSpPr>
          <p:cNvPr id="52" name="Text 50"/>
          <p:cNvSpPr txBox="1"/>
          <p:nvPr/>
        </p:nvSpPr>
        <p:spPr>
          <a:xfrm>
            <a:off x="4754880" y="3719994"/>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3" name="Text 51"/>
          <p:cNvSpPr txBox="1"/>
          <p:nvPr/>
        </p:nvSpPr>
        <p:spPr>
          <a:xfrm>
            <a:off x="658368"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4" name="Text 52"/>
          <p:cNvSpPr txBox="1"/>
          <p:nvPr/>
        </p:nvSpPr>
        <p:spPr>
          <a:xfrm>
            <a:off x="1014984"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5" name="Shape 53"/>
          <p:cNvSpPr/>
          <p:nvPr/>
        </p:nvSpPr>
        <p:spPr>
          <a:xfrm>
            <a:off x="3008376" y="3995659"/>
            <a:ext cx="660630" cy="110266"/>
          </a:xfrm>
          <a:prstGeom prst="rect">
            <a:avLst/>
          </a:prstGeom>
          <a:solidFill>
            <a:srgbClr val="C2352F"/>
          </a:solidFill>
          <a:ln/>
        </p:spPr>
      </p:sp>
      <p:sp>
        <p:nvSpPr>
          <p:cNvPr id="56" name="Shape 54"/>
          <p:cNvSpPr/>
          <p:nvPr/>
        </p:nvSpPr>
        <p:spPr>
          <a:xfrm>
            <a:off x="3689433" y="3962579"/>
            <a:ext cx="21946" cy="176425"/>
          </a:xfrm>
          <a:prstGeom prst="rect">
            <a:avLst/>
          </a:prstGeom>
          <a:solidFill>
            <a:srgbClr val="0B2C4A"/>
          </a:solidFill>
          <a:ln/>
        </p:spPr>
      </p:sp>
      <p:sp>
        <p:nvSpPr>
          <p:cNvPr id="57" name="Text 55"/>
          <p:cNvSpPr txBox="1"/>
          <p:nvPr/>
        </p:nvSpPr>
        <p:spPr>
          <a:xfrm>
            <a:off x="4754880"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58" name="Text 56"/>
          <p:cNvSpPr txBox="1"/>
          <p:nvPr/>
        </p:nvSpPr>
        <p:spPr>
          <a:xfrm>
            <a:off x="658368"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1014984"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0" name="Shape 58"/>
          <p:cNvSpPr/>
          <p:nvPr/>
        </p:nvSpPr>
        <p:spPr>
          <a:xfrm>
            <a:off x="3008376" y="4216191"/>
            <a:ext cx="649017" cy="110266"/>
          </a:xfrm>
          <a:prstGeom prst="rect">
            <a:avLst/>
          </a:prstGeom>
          <a:solidFill>
            <a:srgbClr val="C2352F"/>
          </a:solidFill>
          <a:ln/>
        </p:spPr>
      </p:sp>
      <p:sp>
        <p:nvSpPr>
          <p:cNvPr id="61" name="Shape 59"/>
          <p:cNvSpPr/>
          <p:nvPr/>
        </p:nvSpPr>
        <p:spPr>
          <a:xfrm>
            <a:off x="3689433" y="4183111"/>
            <a:ext cx="21946" cy="176425"/>
          </a:xfrm>
          <a:prstGeom prst="rect">
            <a:avLst/>
          </a:prstGeom>
          <a:solidFill>
            <a:srgbClr val="0B2C4A"/>
          </a:solidFill>
          <a:ln/>
        </p:spPr>
      </p:sp>
      <p:sp>
        <p:nvSpPr>
          <p:cNvPr id="62" name="Text 60"/>
          <p:cNvSpPr txBox="1"/>
          <p:nvPr/>
        </p:nvSpPr>
        <p:spPr>
          <a:xfrm>
            <a:off x="4754880"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63" name="Text 61"/>
          <p:cNvSpPr txBox="1"/>
          <p:nvPr/>
        </p:nvSpPr>
        <p:spPr>
          <a:xfrm>
            <a:off x="658368"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4" name="Text 62"/>
          <p:cNvSpPr txBox="1"/>
          <p:nvPr/>
        </p:nvSpPr>
        <p:spPr>
          <a:xfrm>
            <a:off x="1014984"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4436723"/>
            <a:ext cx="623218" cy="110266"/>
          </a:xfrm>
          <a:prstGeom prst="rect">
            <a:avLst/>
          </a:prstGeom>
          <a:solidFill>
            <a:srgbClr val="C2352F"/>
          </a:solidFill>
          <a:ln/>
        </p:spPr>
      </p:sp>
      <p:sp>
        <p:nvSpPr>
          <p:cNvPr id="66" name="Shape 64"/>
          <p:cNvSpPr/>
          <p:nvPr/>
        </p:nvSpPr>
        <p:spPr>
          <a:xfrm>
            <a:off x="3689433" y="4403643"/>
            <a:ext cx="21946" cy="176425"/>
          </a:xfrm>
          <a:prstGeom prst="rect">
            <a:avLst/>
          </a:prstGeom>
          <a:solidFill>
            <a:srgbClr val="0B2C4A"/>
          </a:solidFill>
          <a:ln/>
        </p:spPr>
      </p:sp>
      <p:sp>
        <p:nvSpPr>
          <p:cNvPr id="67" name="Text 65"/>
          <p:cNvSpPr txBox="1"/>
          <p:nvPr/>
        </p:nvSpPr>
        <p:spPr>
          <a:xfrm>
            <a:off x="4754880"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68" name="Text 66"/>
          <p:cNvSpPr txBox="1"/>
          <p:nvPr/>
        </p:nvSpPr>
        <p:spPr>
          <a:xfrm>
            <a:off x="658368"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9" name="Text 67"/>
          <p:cNvSpPr txBox="1"/>
          <p:nvPr/>
        </p:nvSpPr>
        <p:spPr>
          <a:xfrm>
            <a:off x="1014984" y="460212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0" name="Shape 68"/>
          <p:cNvSpPr/>
          <p:nvPr/>
        </p:nvSpPr>
        <p:spPr>
          <a:xfrm>
            <a:off x="3008376" y="4657254"/>
            <a:ext cx="611568" cy="110266"/>
          </a:xfrm>
          <a:prstGeom prst="rect">
            <a:avLst/>
          </a:prstGeom>
          <a:solidFill>
            <a:srgbClr val="C2352F"/>
          </a:solidFill>
          <a:ln/>
        </p:spPr>
      </p:sp>
      <p:sp>
        <p:nvSpPr>
          <p:cNvPr id="71" name="Shape 69"/>
          <p:cNvSpPr/>
          <p:nvPr/>
        </p:nvSpPr>
        <p:spPr>
          <a:xfrm>
            <a:off x="3689433" y="4624175"/>
            <a:ext cx="21946" cy="176425"/>
          </a:xfrm>
          <a:prstGeom prst="rect">
            <a:avLst/>
          </a:prstGeom>
          <a:solidFill>
            <a:srgbClr val="0B2C4A"/>
          </a:solidFill>
          <a:ln/>
        </p:spPr>
      </p:sp>
      <p:sp>
        <p:nvSpPr>
          <p:cNvPr id="72" name="Text 70"/>
          <p:cNvSpPr txBox="1"/>
          <p:nvPr/>
        </p:nvSpPr>
        <p:spPr>
          <a:xfrm>
            <a:off x="4754880"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73" name="Shape 71"/>
          <p:cNvSpPr/>
          <p:nvPr/>
        </p:nvSpPr>
        <p:spPr>
          <a:xfrm>
            <a:off x="603504" y="4822653"/>
            <a:ext cx="5358384" cy="220532"/>
          </a:xfrm>
          <a:prstGeom prst="rect">
            <a:avLst/>
          </a:prstGeom>
          <a:solidFill>
            <a:srgbClr val="EDF4FA"/>
          </a:solidFill>
          <a:ln/>
        </p:spPr>
      </p:sp>
      <p:sp>
        <p:nvSpPr>
          <p:cNvPr id="74" name="Text 72"/>
          <p:cNvSpPr txBox="1"/>
          <p:nvPr/>
        </p:nvSpPr>
        <p:spPr>
          <a:xfrm>
            <a:off x="658368"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5" name="Text 73"/>
          <p:cNvSpPr txBox="1"/>
          <p:nvPr/>
        </p:nvSpPr>
        <p:spPr>
          <a:xfrm>
            <a:off x="1014984" y="482265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CADILLAC</a:t>
            </a:r>
            <a:endParaRPr lang="en-US" sz="1200" dirty="0"/>
          </a:p>
        </p:txBody>
      </p:sp>
      <p:sp>
        <p:nvSpPr>
          <p:cNvPr id="76" name="Shape 74"/>
          <p:cNvSpPr/>
          <p:nvPr/>
        </p:nvSpPr>
        <p:spPr>
          <a:xfrm>
            <a:off x="3008376" y="4877786"/>
            <a:ext cx="606908" cy="110266"/>
          </a:xfrm>
          <a:prstGeom prst="rect">
            <a:avLst/>
          </a:prstGeom>
          <a:solidFill>
            <a:srgbClr val="12A566"/>
          </a:solidFill>
          <a:ln/>
        </p:spPr>
      </p:sp>
      <p:sp>
        <p:nvSpPr>
          <p:cNvPr id="77" name="Shape 75"/>
          <p:cNvSpPr/>
          <p:nvPr/>
        </p:nvSpPr>
        <p:spPr>
          <a:xfrm>
            <a:off x="3453660" y="4844706"/>
            <a:ext cx="21946" cy="176425"/>
          </a:xfrm>
          <a:prstGeom prst="rect">
            <a:avLst/>
          </a:prstGeom>
          <a:solidFill>
            <a:srgbClr val="0B2C4A"/>
          </a:solidFill>
          <a:ln/>
        </p:spPr>
      </p:sp>
      <p:sp>
        <p:nvSpPr>
          <p:cNvPr id="78" name="Text 76"/>
          <p:cNvSpPr txBox="1"/>
          <p:nvPr/>
        </p:nvSpPr>
        <p:spPr>
          <a:xfrm>
            <a:off x="4754880" y="4822653"/>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79" name="Text 77"/>
          <p:cNvSpPr txBox="1"/>
          <p:nvPr/>
        </p:nvSpPr>
        <p:spPr>
          <a:xfrm>
            <a:off x="658368"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0" name="Text 78"/>
          <p:cNvSpPr txBox="1"/>
          <p:nvPr/>
        </p:nvSpPr>
        <p:spPr>
          <a:xfrm>
            <a:off x="1014984"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81" name="Shape 79"/>
          <p:cNvSpPr/>
          <p:nvPr/>
        </p:nvSpPr>
        <p:spPr>
          <a:xfrm>
            <a:off x="3008376" y="5098318"/>
            <a:ext cx="589371" cy="110266"/>
          </a:xfrm>
          <a:prstGeom prst="rect">
            <a:avLst/>
          </a:prstGeom>
          <a:solidFill>
            <a:srgbClr val="C2352F"/>
          </a:solidFill>
          <a:ln/>
        </p:spPr>
      </p:sp>
      <p:sp>
        <p:nvSpPr>
          <p:cNvPr id="82" name="Shape 80"/>
          <p:cNvSpPr/>
          <p:nvPr/>
        </p:nvSpPr>
        <p:spPr>
          <a:xfrm>
            <a:off x="3689433" y="5065238"/>
            <a:ext cx="21946" cy="176425"/>
          </a:xfrm>
          <a:prstGeom prst="rect">
            <a:avLst/>
          </a:prstGeom>
          <a:solidFill>
            <a:srgbClr val="0B2C4A"/>
          </a:solidFill>
          <a:ln/>
        </p:spPr>
      </p:sp>
      <p:sp>
        <p:nvSpPr>
          <p:cNvPr id="83" name="Text 81"/>
          <p:cNvSpPr txBox="1"/>
          <p:nvPr/>
        </p:nvSpPr>
        <p:spPr>
          <a:xfrm>
            <a:off x="4754880"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84" name="Text 82"/>
          <p:cNvSpPr txBox="1"/>
          <p:nvPr/>
        </p:nvSpPr>
        <p:spPr>
          <a:xfrm>
            <a:off x="658368"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5" name="Text 83"/>
          <p:cNvSpPr txBox="1"/>
          <p:nvPr/>
        </p:nvSpPr>
        <p:spPr>
          <a:xfrm>
            <a:off x="1014984" y="5263717"/>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6" name="Shape 84"/>
          <p:cNvSpPr/>
          <p:nvPr/>
        </p:nvSpPr>
        <p:spPr>
          <a:xfrm>
            <a:off x="3008376" y="5318850"/>
            <a:ext cx="581573" cy="110266"/>
          </a:xfrm>
          <a:prstGeom prst="rect">
            <a:avLst/>
          </a:prstGeom>
          <a:solidFill>
            <a:srgbClr val="C2352F"/>
          </a:solidFill>
          <a:ln/>
        </p:spPr>
      </p:sp>
      <p:sp>
        <p:nvSpPr>
          <p:cNvPr id="87" name="Shape 85"/>
          <p:cNvSpPr/>
          <p:nvPr/>
        </p:nvSpPr>
        <p:spPr>
          <a:xfrm>
            <a:off x="3689433" y="5285770"/>
            <a:ext cx="21946" cy="176425"/>
          </a:xfrm>
          <a:prstGeom prst="rect">
            <a:avLst/>
          </a:prstGeom>
          <a:solidFill>
            <a:srgbClr val="0B2C4A"/>
          </a:solidFill>
          <a:ln/>
        </p:spPr>
      </p:sp>
      <p:sp>
        <p:nvSpPr>
          <p:cNvPr id="88" name="Text 86"/>
          <p:cNvSpPr txBox="1"/>
          <p:nvPr/>
        </p:nvSpPr>
        <p:spPr>
          <a:xfrm>
            <a:off x="4754880"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89" name="Shape 87"/>
          <p:cNvSpPr/>
          <p:nvPr/>
        </p:nvSpPr>
        <p:spPr>
          <a:xfrm>
            <a:off x="603504" y="5484248"/>
            <a:ext cx="5358384" cy="220532"/>
          </a:xfrm>
          <a:prstGeom prst="rect">
            <a:avLst/>
          </a:prstGeom>
          <a:solidFill>
            <a:srgbClr val="EDF4FA"/>
          </a:solidFill>
          <a:ln/>
        </p:spPr>
      </p:sp>
      <p:sp>
        <p:nvSpPr>
          <p:cNvPr id="90" name="Text 88"/>
          <p:cNvSpPr txBox="1"/>
          <p:nvPr/>
        </p:nvSpPr>
        <p:spPr>
          <a:xfrm>
            <a:off x="658368"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LEXUS</a:t>
            </a:r>
            <a:endParaRPr lang="en-US" sz="1200" dirty="0"/>
          </a:p>
        </p:txBody>
      </p:sp>
      <p:sp>
        <p:nvSpPr>
          <p:cNvPr id="92" name="Shape 90"/>
          <p:cNvSpPr/>
          <p:nvPr/>
        </p:nvSpPr>
        <p:spPr>
          <a:xfrm>
            <a:off x="3008376" y="5539381"/>
            <a:ext cx="551018" cy="110266"/>
          </a:xfrm>
          <a:prstGeom prst="rect">
            <a:avLst/>
          </a:prstGeom>
          <a:solidFill>
            <a:srgbClr val="12A566"/>
          </a:solidFill>
          <a:ln/>
        </p:spPr>
      </p:sp>
      <p:sp>
        <p:nvSpPr>
          <p:cNvPr id="93" name="Shape 91"/>
          <p:cNvSpPr/>
          <p:nvPr/>
        </p:nvSpPr>
        <p:spPr>
          <a:xfrm>
            <a:off x="3453660" y="5506302"/>
            <a:ext cx="21946" cy="176425"/>
          </a:xfrm>
          <a:prstGeom prst="rect">
            <a:avLst/>
          </a:prstGeom>
          <a:solidFill>
            <a:srgbClr val="0B2C4A"/>
          </a:solidFill>
          <a:ln/>
        </p:spPr>
      </p:sp>
      <p:sp>
        <p:nvSpPr>
          <p:cNvPr id="94" name="Text 92"/>
          <p:cNvSpPr txBox="1"/>
          <p:nvPr/>
        </p:nvSpPr>
        <p:spPr>
          <a:xfrm>
            <a:off x="4754880" y="5484248"/>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95" name="Text 93"/>
          <p:cNvSpPr txBox="1"/>
          <p:nvPr/>
        </p:nvSpPr>
        <p:spPr>
          <a:xfrm>
            <a:off x="658368" y="570478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478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759913"/>
            <a:ext cx="541238" cy="110266"/>
          </a:xfrm>
          <a:prstGeom prst="rect">
            <a:avLst/>
          </a:prstGeom>
          <a:solidFill>
            <a:srgbClr val="C2352F"/>
          </a:solidFill>
          <a:ln/>
        </p:spPr>
      </p:sp>
      <p:sp>
        <p:nvSpPr>
          <p:cNvPr id="98" name="Shape 96"/>
          <p:cNvSpPr/>
          <p:nvPr/>
        </p:nvSpPr>
        <p:spPr>
          <a:xfrm>
            <a:off x="3689433" y="5726833"/>
            <a:ext cx="21946" cy="176425"/>
          </a:xfrm>
          <a:prstGeom prst="rect">
            <a:avLst/>
          </a:prstGeom>
          <a:solidFill>
            <a:srgbClr val="0B2C4A"/>
          </a:solidFill>
          <a:ln/>
        </p:spPr>
      </p:sp>
      <p:sp>
        <p:nvSpPr>
          <p:cNvPr id="99" name="Text 97"/>
          <p:cNvSpPr txBox="1"/>
          <p:nvPr/>
        </p:nvSpPr>
        <p:spPr>
          <a:xfrm>
            <a:off x="4754880" y="570478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00" name="Text 98"/>
          <p:cNvSpPr txBox="1"/>
          <p:nvPr/>
        </p:nvSpPr>
        <p:spPr>
          <a:xfrm>
            <a:off x="6208776" y="2176272"/>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76272"/>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2" name="Shape 100"/>
          <p:cNvSpPr/>
          <p:nvPr/>
        </p:nvSpPr>
        <p:spPr>
          <a:xfrm>
            <a:off x="8558784" y="2231405"/>
            <a:ext cx="510457" cy="110266"/>
          </a:xfrm>
          <a:prstGeom prst="rect">
            <a:avLst/>
          </a:prstGeom>
          <a:solidFill>
            <a:srgbClr val="C2352F"/>
          </a:solidFill>
          <a:ln/>
        </p:spPr>
      </p:sp>
      <p:sp>
        <p:nvSpPr>
          <p:cNvPr id="103" name="Shape 101"/>
          <p:cNvSpPr/>
          <p:nvPr/>
        </p:nvSpPr>
        <p:spPr>
          <a:xfrm>
            <a:off x="9239841" y="2198325"/>
            <a:ext cx="21946" cy="176425"/>
          </a:xfrm>
          <a:prstGeom prst="rect">
            <a:avLst/>
          </a:prstGeom>
          <a:solidFill>
            <a:srgbClr val="0B2C4A"/>
          </a:solidFill>
          <a:ln/>
        </p:spPr>
      </p:sp>
      <p:sp>
        <p:nvSpPr>
          <p:cNvPr id="104" name="Text 102"/>
          <p:cNvSpPr txBox="1"/>
          <p:nvPr/>
        </p:nvSpPr>
        <p:spPr>
          <a:xfrm>
            <a:off x="10305288" y="2176272"/>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5" name="Text 103"/>
          <p:cNvSpPr txBox="1"/>
          <p:nvPr/>
        </p:nvSpPr>
        <p:spPr>
          <a:xfrm>
            <a:off x="6208776" y="239680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9680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7" name="Shape 105"/>
          <p:cNvSpPr/>
          <p:nvPr/>
        </p:nvSpPr>
        <p:spPr>
          <a:xfrm>
            <a:off x="8558784" y="2451937"/>
            <a:ext cx="495680" cy="110266"/>
          </a:xfrm>
          <a:prstGeom prst="rect">
            <a:avLst/>
          </a:prstGeom>
          <a:solidFill>
            <a:srgbClr val="C2352F"/>
          </a:solidFill>
          <a:ln/>
        </p:spPr>
      </p:sp>
      <p:sp>
        <p:nvSpPr>
          <p:cNvPr id="108" name="Shape 106"/>
          <p:cNvSpPr/>
          <p:nvPr/>
        </p:nvSpPr>
        <p:spPr>
          <a:xfrm>
            <a:off x="9239841" y="2418857"/>
            <a:ext cx="21946" cy="176425"/>
          </a:xfrm>
          <a:prstGeom prst="rect">
            <a:avLst/>
          </a:prstGeom>
          <a:solidFill>
            <a:srgbClr val="0B2C4A"/>
          </a:solidFill>
          <a:ln/>
        </p:spPr>
      </p:sp>
      <p:sp>
        <p:nvSpPr>
          <p:cNvPr id="109" name="Text 107"/>
          <p:cNvSpPr txBox="1"/>
          <p:nvPr/>
        </p:nvSpPr>
        <p:spPr>
          <a:xfrm>
            <a:off x="10305288" y="239680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0" name="Shape 108"/>
          <p:cNvSpPr/>
          <p:nvPr/>
        </p:nvSpPr>
        <p:spPr>
          <a:xfrm>
            <a:off x="6153912" y="2617336"/>
            <a:ext cx="5358384" cy="220532"/>
          </a:xfrm>
          <a:prstGeom prst="rect">
            <a:avLst/>
          </a:prstGeom>
          <a:solidFill>
            <a:srgbClr val="EDF4FA"/>
          </a:solidFill>
          <a:ln/>
        </p:spPr>
      </p:sp>
      <p:sp>
        <p:nvSpPr>
          <p:cNvPr id="111" name="Text 109"/>
          <p:cNvSpPr txBox="1"/>
          <p:nvPr/>
        </p:nvSpPr>
        <p:spPr>
          <a:xfrm>
            <a:off x="6208776" y="261733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2" name="Text 110"/>
          <p:cNvSpPr txBox="1"/>
          <p:nvPr/>
        </p:nvSpPr>
        <p:spPr>
          <a:xfrm>
            <a:off x="6565392" y="2617336"/>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58784" y="2672468"/>
            <a:ext cx="482497" cy="110266"/>
          </a:xfrm>
          <a:prstGeom prst="rect">
            <a:avLst/>
          </a:prstGeom>
          <a:solidFill>
            <a:srgbClr val="12A566"/>
          </a:solidFill>
          <a:ln/>
        </p:spPr>
      </p:sp>
      <p:sp>
        <p:nvSpPr>
          <p:cNvPr id="114" name="Shape 112"/>
          <p:cNvSpPr/>
          <p:nvPr/>
        </p:nvSpPr>
        <p:spPr>
          <a:xfrm>
            <a:off x="9004068" y="2639389"/>
            <a:ext cx="21946" cy="176425"/>
          </a:xfrm>
          <a:prstGeom prst="rect">
            <a:avLst/>
          </a:prstGeom>
          <a:solidFill>
            <a:srgbClr val="0B2C4A"/>
          </a:solidFill>
          <a:ln/>
        </p:spPr>
      </p:sp>
      <p:sp>
        <p:nvSpPr>
          <p:cNvPr id="115" name="Text 113"/>
          <p:cNvSpPr txBox="1"/>
          <p:nvPr/>
        </p:nvSpPr>
        <p:spPr>
          <a:xfrm>
            <a:off x="10305288" y="2617336"/>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116" name="Shape 114"/>
          <p:cNvSpPr/>
          <p:nvPr/>
        </p:nvSpPr>
        <p:spPr>
          <a:xfrm>
            <a:off x="6153912" y="2837867"/>
            <a:ext cx="5358384" cy="220532"/>
          </a:xfrm>
          <a:prstGeom prst="rect">
            <a:avLst/>
          </a:prstGeom>
          <a:solidFill>
            <a:srgbClr val="EDF4FA"/>
          </a:solidFill>
          <a:ln/>
        </p:spPr>
      </p:sp>
      <p:sp>
        <p:nvSpPr>
          <p:cNvPr id="117" name="Text 115"/>
          <p:cNvSpPr txBox="1"/>
          <p:nvPr/>
        </p:nvSpPr>
        <p:spPr>
          <a:xfrm>
            <a:off x="6208776" y="283786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8" name="Text 116"/>
          <p:cNvSpPr txBox="1"/>
          <p:nvPr/>
        </p:nvSpPr>
        <p:spPr>
          <a:xfrm>
            <a:off x="6565392" y="283786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LINCOLN</a:t>
            </a:r>
            <a:endParaRPr lang="en-US" sz="1200" dirty="0"/>
          </a:p>
        </p:txBody>
      </p:sp>
      <p:sp>
        <p:nvSpPr>
          <p:cNvPr id="119" name="Shape 117"/>
          <p:cNvSpPr/>
          <p:nvPr/>
        </p:nvSpPr>
        <p:spPr>
          <a:xfrm>
            <a:off x="8558784" y="2893000"/>
            <a:ext cx="476059" cy="110266"/>
          </a:xfrm>
          <a:prstGeom prst="rect">
            <a:avLst/>
          </a:prstGeom>
          <a:solidFill>
            <a:srgbClr val="12A566"/>
          </a:solidFill>
          <a:ln/>
        </p:spPr>
      </p:sp>
      <p:sp>
        <p:nvSpPr>
          <p:cNvPr id="120" name="Shape 118"/>
          <p:cNvSpPr/>
          <p:nvPr/>
        </p:nvSpPr>
        <p:spPr>
          <a:xfrm>
            <a:off x="9004068" y="2859920"/>
            <a:ext cx="21946" cy="176425"/>
          </a:xfrm>
          <a:prstGeom prst="rect">
            <a:avLst/>
          </a:prstGeom>
          <a:solidFill>
            <a:srgbClr val="0B2C4A"/>
          </a:solidFill>
          <a:ln/>
        </p:spPr>
      </p:sp>
      <p:sp>
        <p:nvSpPr>
          <p:cNvPr id="121" name="Text 119"/>
          <p:cNvSpPr txBox="1"/>
          <p:nvPr/>
        </p:nvSpPr>
        <p:spPr>
          <a:xfrm>
            <a:off x="10305288" y="2837867"/>
            <a:ext cx="1143000" cy="220532"/>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122" name="Text 120"/>
          <p:cNvSpPr txBox="1"/>
          <p:nvPr/>
        </p:nvSpPr>
        <p:spPr>
          <a:xfrm>
            <a:off x="6208776" y="3058399"/>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565392" y="3058399"/>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4" name="Shape 122"/>
          <p:cNvSpPr/>
          <p:nvPr/>
        </p:nvSpPr>
        <p:spPr>
          <a:xfrm>
            <a:off x="8558784" y="3113532"/>
            <a:ext cx="451778" cy="110266"/>
          </a:xfrm>
          <a:prstGeom prst="rect">
            <a:avLst/>
          </a:prstGeom>
          <a:solidFill>
            <a:srgbClr val="C2352F"/>
          </a:solidFill>
          <a:ln/>
        </p:spPr>
      </p:sp>
      <p:sp>
        <p:nvSpPr>
          <p:cNvPr id="125" name="Shape 123"/>
          <p:cNvSpPr/>
          <p:nvPr/>
        </p:nvSpPr>
        <p:spPr>
          <a:xfrm>
            <a:off x="9239841" y="3080452"/>
            <a:ext cx="21946" cy="176425"/>
          </a:xfrm>
          <a:prstGeom prst="rect">
            <a:avLst/>
          </a:prstGeom>
          <a:solidFill>
            <a:srgbClr val="0B2C4A"/>
          </a:solidFill>
          <a:ln/>
        </p:spPr>
      </p:sp>
      <p:sp>
        <p:nvSpPr>
          <p:cNvPr id="126" name="Text 124"/>
          <p:cNvSpPr txBox="1"/>
          <p:nvPr/>
        </p:nvSpPr>
        <p:spPr>
          <a:xfrm>
            <a:off x="10305288" y="3058399"/>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7" name="Text 125"/>
          <p:cNvSpPr txBox="1"/>
          <p:nvPr/>
        </p:nvSpPr>
        <p:spPr>
          <a:xfrm>
            <a:off x="6208776" y="327893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8" name="Text 126"/>
          <p:cNvSpPr txBox="1"/>
          <p:nvPr/>
        </p:nvSpPr>
        <p:spPr>
          <a:xfrm>
            <a:off x="6565392" y="3278931"/>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9" name="Shape 127"/>
          <p:cNvSpPr/>
          <p:nvPr/>
        </p:nvSpPr>
        <p:spPr>
          <a:xfrm>
            <a:off x="8558784" y="3334064"/>
            <a:ext cx="450306" cy="110266"/>
          </a:xfrm>
          <a:prstGeom prst="rect">
            <a:avLst/>
          </a:prstGeom>
          <a:solidFill>
            <a:srgbClr val="C2352F"/>
          </a:solidFill>
          <a:ln/>
        </p:spPr>
      </p:sp>
      <p:sp>
        <p:nvSpPr>
          <p:cNvPr id="130" name="Shape 128"/>
          <p:cNvSpPr/>
          <p:nvPr/>
        </p:nvSpPr>
        <p:spPr>
          <a:xfrm>
            <a:off x="9239841" y="3300984"/>
            <a:ext cx="21946" cy="176425"/>
          </a:xfrm>
          <a:prstGeom prst="rect">
            <a:avLst/>
          </a:prstGeom>
          <a:solidFill>
            <a:srgbClr val="0B2C4A"/>
          </a:solidFill>
          <a:ln/>
        </p:spPr>
      </p:sp>
      <p:sp>
        <p:nvSpPr>
          <p:cNvPr id="131" name="Text 129"/>
          <p:cNvSpPr txBox="1"/>
          <p:nvPr/>
        </p:nvSpPr>
        <p:spPr>
          <a:xfrm>
            <a:off x="10305288" y="327893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32" name="Shape 130"/>
          <p:cNvSpPr/>
          <p:nvPr/>
        </p:nvSpPr>
        <p:spPr>
          <a:xfrm>
            <a:off x="6153912" y="3499463"/>
            <a:ext cx="5358384" cy="220532"/>
          </a:xfrm>
          <a:prstGeom prst="rect">
            <a:avLst/>
          </a:prstGeom>
          <a:solidFill>
            <a:srgbClr val="EDF4FA"/>
          </a:solidFill>
          <a:ln/>
        </p:spPr>
      </p:sp>
      <p:sp>
        <p:nvSpPr>
          <p:cNvPr id="133" name="Text 131"/>
          <p:cNvSpPr txBox="1"/>
          <p:nvPr/>
        </p:nvSpPr>
        <p:spPr>
          <a:xfrm>
            <a:off x="6208776" y="349946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99463"/>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AUDI RENO</a:t>
            </a:r>
            <a:endParaRPr lang="en-US" sz="1200" dirty="0"/>
          </a:p>
        </p:txBody>
      </p:sp>
      <p:sp>
        <p:nvSpPr>
          <p:cNvPr id="135" name="Shape 133"/>
          <p:cNvSpPr/>
          <p:nvPr/>
        </p:nvSpPr>
        <p:spPr>
          <a:xfrm>
            <a:off x="8558784" y="3554596"/>
            <a:ext cx="416908" cy="110266"/>
          </a:xfrm>
          <a:prstGeom prst="rect">
            <a:avLst/>
          </a:prstGeom>
          <a:solidFill>
            <a:srgbClr val="C2352F"/>
          </a:solidFill>
          <a:ln/>
        </p:spPr>
      </p:sp>
      <p:sp>
        <p:nvSpPr>
          <p:cNvPr id="136" name="Shape 134"/>
          <p:cNvSpPr/>
          <p:nvPr/>
        </p:nvSpPr>
        <p:spPr>
          <a:xfrm>
            <a:off x="9004068" y="3521516"/>
            <a:ext cx="21946" cy="176425"/>
          </a:xfrm>
          <a:prstGeom prst="rect">
            <a:avLst/>
          </a:prstGeom>
          <a:solidFill>
            <a:srgbClr val="0B2C4A"/>
          </a:solidFill>
          <a:ln/>
        </p:spPr>
      </p:sp>
      <p:sp>
        <p:nvSpPr>
          <p:cNvPr id="137" name="Text 135"/>
          <p:cNvSpPr txBox="1"/>
          <p:nvPr/>
        </p:nvSpPr>
        <p:spPr>
          <a:xfrm>
            <a:off x="10305288" y="349946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8" name="Text 136"/>
          <p:cNvSpPr txBox="1"/>
          <p:nvPr/>
        </p:nvSpPr>
        <p:spPr>
          <a:xfrm>
            <a:off x="6208776" y="3719994"/>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719994"/>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3775127"/>
            <a:ext cx="384775" cy="110266"/>
          </a:xfrm>
          <a:prstGeom prst="rect">
            <a:avLst/>
          </a:prstGeom>
          <a:solidFill>
            <a:srgbClr val="C2352F"/>
          </a:solidFill>
          <a:ln/>
        </p:spPr>
      </p:sp>
      <p:sp>
        <p:nvSpPr>
          <p:cNvPr id="141" name="Shape 139"/>
          <p:cNvSpPr/>
          <p:nvPr/>
        </p:nvSpPr>
        <p:spPr>
          <a:xfrm>
            <a:off x="9239841" y="3742048"/>
            <a:ext cx="21946" cy="176425"/>
          </a:xfrm>
          <a:prstGeom prst="rect">
            <a:avLst/>
          </a:prstGeom>
          <a:solidFill>
            <a:srgbClr val="0B2C4A"/>
          </a:solidFill>
          <a:ln/>
        </p:spPr>
      </p:sp>
      <p:sp>
        <p:nvSpPr>
          <p:cNvPr id="142" name="Text 140"/>
          <p:cNvSpPr txBox="1"/>
          <p:nvPr/>
        </p:nvSpPr>
        <p:spPr>
          <a:xfrm>
            <a:off x="10305288" y="3719994"/>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43" name="Text 141"/>
          <p:cNvSpPr txBox="1"/>
          <p:nvPr/>
        </p:nvSpPr>
        <p:spPr>
          <a:xfrm>
            <a:off x="6208776" y="3940526"/>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40526"/>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5" name="Shape 143"/>
          <p:cNvSpPr/>
          <p:nvPr/>
        </p:nvSpPr>
        <p:spPr>
          <a:xfrm>
            <a:off x="8558784" y="3995659"/>
            <a:ext cx="381326" cy="110266"/>
          </a:xfrm>
          <a:prstGeom prst="rect">
            <a:avLst/>
          </a:prstGeom>
          <a:solidFill>
            <a:srgbClr val="C2352F"/>
          </a:solidFill>
          <a:ln/>
        </p:spPr>
      </p:sp>
      <p:sp>
        <p:nvSpPr>
          <p:cNvPr id="146" name="Shape 144"/>
          <p:cNvSpPr/>
          <p:nvPr/>
        </p:nvSpPr>
        <p:spPr>
          <a:xfrm>
            <a:off x="9239841" y="3962579"/>
            <a:ext cx="21946" cy="176425"/>
          </a:xfrm>
          <a:prstGeom prst="rect">
            <a:avLst/>
          </a:prstGeom>
          <a:solidFill>
            <a:srgbClr val="0B2C4A"/>
          </a:solidFill>
          <a:ln/>
        </p:spPr>
      </p:sp>
      <p:sp>
        <p:nvSpPr>
          <p:cNvPr id="147" name="Text 145"/>
          <p:cNvSpPr txBox="1"/>
          <p:nvPr/>
        </p:nvSpPr>
        <p:spPr>
          <a:xfrm>
            <a:off x="10305288" y="3940526"/>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48" name="Text 146"/>
          <p:cNvSpPr txBox="1"/>
          <p:nvPr/>
        </p:nvSpPr>
        <p:spPr>
          <a:xfrm>
            <a:off x="6208776" y="416105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61058"/>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50" name="Shape 148"/>
          <p:cNvSpPr/>
          <p:nvPr/>
        </p:nvSpPr>
        <p:spPr>
          <a:xfrm>
            <a:off x="8558784" y="4216191"/>
            <a:ext cx="364218" cy="110266"/>
          </a:xfrm>
          <a:prstGeom prst="rect">
            <a:avLst/>
          </a:prstGeom>
          <a:solidFill>
            <a:srgbClr val="C2352F"/>
          </a:solidFill>
          <a:ln/>
        </p:spPr>
      </p:sp>
      <p:sp>
        <p:nvSpPr>
          <p:cNvPr id="151" name="Shape 149"/>
          <p:cNvSpPr/>
          <p:nvPr/>
        </p:nvSpPr>
        <p:spPr>
          <a:xfrm>
            <a:off x="9239841" y="4183111"/>
            <a:ext cx="21946" cy="176425"/>
          </a:xfrm>
          <a:prstGeom prst="rect">
            <a:avLst/>
          </a:prstGeom>
          <a:solidFill>
            <a:srgbClr val="0B2C4A"/>
          </a:solidFill>
          <a:ln/>
        </p:spPr>
      </p:sp>
      <p:sp>
        <p:nvSpPr>
          <p:cNvPr id="152" name="Text 150"/>
          <p:cNvSpPr txBox="1"/>
          <p:nvPr/>
        </p:nvSpPr>
        <p:spPr>
          <a:xfrm>
            <a:off x="10305288" y="416105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53" name="Text 151"/>
          <p:cNvSpPr txBox="1"/>
          <p:nvPr/>
        </p:nvSpPr>
        <p:spPr>
          <a:xfrm>
            <a:off x="6208776" y="4381590"/>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81590"/>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5" name="Shape 153"/>
          <p:cNvSpPr/>
          <p:nvPr/>
        </p:nvSpPr>
        <p:spPr>
          <a:xfrm>
            <a:off x="8558784" y="4436723"/>
            <a:ext cx="336516" cy="110266"/>
          </a:xfrm>
          <a:prstGeom prst="rect">
            <a:avLst/>
          </a:prstGeom>
          <a:solidFill>
            <a:srgbClr val="C2352F"/>
          </a:solidFill>
          <a:ln/>
        </p:spPr>
      </p:sp>
      <p:sp>
        <p:nvSpPr>
          <p:cNvPr id="156" name="Shape 154"/>
          <p:cNvSpPr/>
          <p:nvPr/>
        </p:nvSpPr>
        <p:spPr>
          <a:xfrm>
            <a:off x="9239841" y="4403643"/>
            <a:ext cx="21946" cy="176425"/>
          </a:xfrm>
          <a:prstGeom prst="rect">
            <a:avLst/>
          </a:prstGeom>
          <a:solidFill>
            <a:srgbClr val="0B2C4A"/>
          </a:solidFill>
          <a:ln/>
        </p:spPr>
      </p:sp>
      <p:sp>
        <p:nvSpPr>
          <p:cNvPr id="157" name="Text 155"/>
          <p:cNvSpPr txBox="1"/>
          <p:nvPr/>
        </p:nvSpPr>
        <p:spPr>
          <a:xfrm>
            <a:off x="10305288" y="4381590"/>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58" name="Shape 156"/>
          <p:cNvSpPr/>
          <p:nvPr/>
        </p:nvSpPr>
        <p:spPr>
          <a:xfrm>
            <a:off x="6153912" y="4602121"/>
            <a:ext cx="5358384" cy="220532"/>
          </a:xfrm>
          <a:prstGeom prst="rect">
            <a:avLst/>
          </a:prstGeom>
          <a:solidFill>
            <a:srgbClr val="EDF4FA"/>
          </a:solidFill>
          <a:ln/>
        </p:spPr>
      </p:sp>
      <p:sp>
        <p:nvSpPr>
          <p:cNvPr id="159" name="Text 157"/>
          <p:cNvSpPr txBox="1"/>
          <p:nvPr/>
        </p:nvSpPr>
        <p:spPr>
          <a:xfrm>
            <a:off x="6208776" y="4602121"/>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602121"/>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LV</a:t>
            </a:r>
            <a:endParaRPr lang="en-US" sz="1200" dirty="0"/>
          </a:p>
        </p:txBody>
      </p:sp>
      <p:sp>
        <p:nvSpPr>
          <p:cNvPr id="161" name="Shape 159"/>
          <p:cNvSpPr/>
          <p:nvPr/>
        </p:nvSpPr>
        <p:spPr>
          <a:xfrm>
            <a:off x="8558784" y="4657254"/>
            <a:ext cx="328532" cy="110266"/>
          </a:xfrm>
          <a:prstGeom prst="rect">
            <a:avLst/>
          </a:prstGeom>
          <a:solidFill>
            <a:srgbClr val="C2352F"/>
          </a:solidFill>
          <a:ln/>
        </p:spPr>
      </p:sp>
      <p:sp>
        <p:nvSpPr>
          <p:cNvPr id="162" name="Shape 160"/>
          <p:cNvSpPr/>
          <p:nvPr/>
        </p:nvSpPr>
        <p:spPr>
          <a:xfrm>
            <a:off x="9004068" y="4624175"/>
            <a:ext cx="21946" cy="176425"/>
          </a:xfrm>
          <a:prstGeom prst="rect">
            <a:avLst/>
          </a:prstGeom>
          <a:solidFill>
            <a:srgbClr val="0B2C4A"/>
          </a:solidFill>
          <a:ln/>
        </p:spPr>
      </p:sp>
      <p:sp>
        <p:nvSpPr>
          <p:cNvPr id="163" name="Text 161"/>
          <p:cNvSpPr txBox="1"/>
          <p:nvPr/>
        </p:nvSpPr>
        <p:spPr>
          <a:xfrm>
            <a:off x="10305288" y="4602121"/>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164" name="Text 162"/>
          <p:cNvSpPr txBox="1"/>
          <p:nvPr/>
        </p:nvSpPr>
        <p:spPr>
          <a:xfrm>
            <a:off x="6208776" y="4822653"/>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22653"/>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6" name="Shape 164"/>
          <p:cNvSpPr/>
          <p:nvPr/>
        </p:nvSpPr>
        <p:spPr>
          <a:xfrm>
            <a:off x="8558784" y="4877786"/>
            <a:ext cx="318652" cy="110266"/>
          </a:xfrm>
          <a:prstGeom prst="rect">
            <a:avLst/>
          </a:prstGeom>
          <a:solidFill>
            <a:srgbClr val="C2352F"/>
          </a:solidFill>
          <a:ln/>
        </p:spPr>
      </p:sp>
      <p:sp>
        <p:nvSpPr>
          <p:cNvPr id="167" name="Shape 165"/>
          <p:cNvSpPr/>
          <p:nvPr/>
        </p:nvSpPr>
        <p:spPr>
          <a:xfrm>
            <a:off x="9239841" y="4844706"/>
            <a:ext cx="21946" cy="176425"/>
          </a:xfrm>
          <a:prstGeom prst="rect">
            <a:avLst/>
          </a:prstGeom>
          <a:solidFill>
            <a:srgbClr val="0B2C4A"/>
          </a:solidFill>
          <a:ln/>
        </p:spPr>
      </p:sp>
      <p:sp>
        <p:nvSpPr>
          <p:cNvPr id="168" name="Text 166"/>
          <p:cNvSpPr txBox="1"/>
          <p:nvPr/>
        </p:nvSpPr>
        <p:spPr>
          <a:xfrm>
            <a:off x="10305288" y="4822653"/>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69" name="Text 167"/>
          <p:cNvSpPr txBox="1"/>
          <p:nvPr/>
        </p:nvSpPr>
        <p:spPr>
          <a:xfrm>
            <a:off x="6208776" y="5043185"/>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43185"/>
            <a:ext cx="1920240" cy="22053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71" name="Shape 169"/>
          <p:cNvSpPr/>
          <p:nvPr/>
        </p:nvSpPr>
        <p:spPr>
          <a:xfrm>
            <a:off x="8558784" y="5098318"/>
            <a:ext cx="254217" cy="110266"/>
          </a:xfrm>
          <a:prstGeom prst="rect">
            <a:avLst/>
          </a:prstGeom>
          <a:solidFill>
            <a:srgbClr val="C2352F"/>
          </a:solidFill>
          <a:ln/>
        </p:spPr>
      </p:sp>
      <p:sp>
        <p:nvSpPr>
          <p:cNvPr id="172" name="Shape 170"/>
          <p:cNvSpPr/>
          <p:nvPr/>
        </p:nvSpPr>
        <p:spPr>
          <a:xfrm>
            <a:off x="9239841" y="5065238"/>
            <a:ext cx="21946" cy="176425"/>
          </a:xfrm>
          <a:prstGeom prst="rect">
            <a:avLst/>
          </a:prstGeom>
          <a:solidFill>
            <a:srgbClr val="0B2C4A"/>
          </a:solidFill>
          <a:ln/>
        </p:spPr>
      </p:sp>
      <p:sp>
        <p:nvSpPr>
          <p:cNvPr id="173" name="Text 171"/>
          <p:cNvSpPr txBox="1"/>
          <p:nvPr/>
        </p:nvSpPr>
        <p:spPr>
          <a:xfrm>
            <a:off x="10305288" y="5043185"/>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74" name="Shape 172"/>
          <p:cNvSpPr/>
          <p:nvPr/>
        </p:nvSpPr>
        <p:spPr>
          <a:xfrm>
            <a:off x="6153912" y="5263717"/>
            <a:ext cx="5358384" cy="220532"/>
          </a:xfrm>
          <a:prstGeom prst="rect">
            <a:avLst/>
          </a:prstGeom>
          <a:solidFill>
            <a:srgbClr val="EDF4FA"/>
          </a:solidFill>
          <a:ln/>
        </p:spPr>
      </p:sp>
      <p:sp>
        <p:nvSpPr>
          <p:cNvPr id="175" name="Text 173"/>
          <p:cNvSpPr txBox="1"/>
          <p:nvPr/>
        </p:nvSpPr>
        <p:spPr>
          <a:xfrm>
            <a:off x="6208776" y="5263717"/>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63717"/>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HENDERSON</a:t>
            </a:r>
            <a:endParaRPr lang="en-US" sz="1200" dirty="0"/>
          </a:p>
        </p:txBody>
      </p:sp>
      <p:sp>
        <p:nvSpPr>
          <p:cNvPr id="177" name="Shape 175"/>
          <p:cNvSpPr/>
          <p:nvPr/>
        </p:nvSpPr>
        <p:spPr>
          <a:xfrm>
            <a:off x="8558784" y="5318850"/>
            <a:ext cx="234718" cy="110266"/>
          </a:xfrm>
          <a:prstGeom prst="rect">
            <a:avLst/>
          </a:prstGeom>
          <a:solidFill>
            <a:srgbClr val="C2352F"/>
          </a:solidFill>
          <a:ln/>
        </p:spPr>
      </p:sp>
      <p:sp>
        <p:nvSpPr>
          <p:cNvPr id="178" name="Shape 176"/>
          <p:cNvSpPr/>
          <p:nvPr/>
        </p:nvSpPr>
        <p:spPr>
          <a:xfrm>
            <a:off x="9004068" y="5285770"/>
            <a:ext cx="21946" cy="176425"/>
          </a:xfrm>
          <a:prstGeom prst="rect">
            <a:avLst/>
          </a:prstGeom>
          <a:solidFill>
            <a:srgbClr val="0B2C4A"/>
          </a:solidFill>
          <a:ln/>
        </p:spPr>
      </p:sp>
      <p:sp>
        <p:nvSpPr>
          <p:cNvPr id="179" name="Text 177"/>
          <p:cNvSpPr txBox="1"/>
          <p:nvPr/>
        </p:nvSpPr>
        <p:spPr>
          <a:xfrm>
            <a:off x="10305288" y="5263717"/>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80" name="Shape 178"/>
          <p:cNvSpPr/>
          <p:nvPr/>
        </p:nvSpPr>
        <p:spPr>
          <a:xfrm>
            <a:off x="6153912" y="5484248"/>
            <a:ext cx="5358384" cy="220532"/>
          </a:xfrm>
          <a:prstGeom prst="rect">
            <a:avLst/>
          </a:prstGeom>
          <a:solidFill>
            <a:srgbClr val="EDF4FA"/>
          </a:solidFill>
          <a:ln/>
        </p:spPr>
      </p:sp>
      <p:sp>
        <p:nvSpPr>
          <p:cNvPr id="181" name="Text 179"/>
          <p:cNvSpPr txBox="1"/>
          <p:nvPr/>
        </p:nvSpPr>
        <p:spPr>
          <a:xfrm>
            <a:off x="6208776" y="5484248"/>
            <a:ext cx="310896" cy="22053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84248"/>
            <a:ext cx="1920240" cy="220532"/>
          </a:xfrm>
          <a:prstGeom prst="rect">
            <a:avLst/>
          </a:prstGeom>
          <a:noFill/>
          <a:ln/>
        </p:spPr>
        <p:txBody>
          <a:bodyPr wrap="square" lIns="0" tIns="0" rIns="0" bIns="0" rtlCol="0" anchor="ctr"/>
          <a:lstStyle/>
          <a:p>
            <a:pPr indent="0" marL="0">
              <a:buNone/>
            </a:pPr>
            <a:r>
              <a:rPr lang="en-US" sz="1200" b="1" dirty="0">
                <a:solidFill>
                  <a:srgbClr val="0B2C4A"/>
                </a:solidFill>
                <a:latin typeface="Inter" pitchFamily="34" charset="0"/>
                <a:ea typeface="Inter" pitchFamily="34" charset="-122"/>
                <a:cs typeface="Inter" pitchFamily="34" charset="-120"/>
              </a:rPr>
              <a:t>LR RENO</a:t>
            </a:r>
            <a:endParaRPr lang="en-US" sz="1200" dirty="0"/>
          </a:p>
        </p:txBody>
      </p:sp>
      <p:sp>
        <p:nvSpPr>
          <p:cNvPr id="183" name="Shape 181"/>
          <p:cNvSpPr/>
          <p:nvPr/>
        </p:nvSpPr>
        <p:spPr>
          <a:xfrm>
            <a:off x="8558784" y="5539381"/>
            <a:ext cx="196365" cy="110266"/>
          </a:xfrm>
          <a:prstGeom prst="rect">
            <a:avLst/>
          </a:prstGeom>
          <a:solidFill>
            <a:srgbClr val="C2352F"/>
          </a:solidFill>
          <a:ln/>
        </p:spPr>
      </p:sp>
      <p:sp>
        <p:nvSpPr>
          <p:cNvPr id="184" name="Shape 182"/>
          <p:cNvSpPr/>
          <p:nvPr/>
        </p:nvSpPr>
        <p:spPr>
          <a:xfrm>
            <a:off x="9004068" y="5506302"/>
            <a:ext cx="21946" cy="176425"/>
          </a:xfrm>
          <a:prstGeom prst="rect">
            <a:avLst/>
          </a:prstGeom>
          <a:solidFill>
            <a:srgbClr val="0B2C4A"/>
          </a:solidFill>
          <a:ln/>
        </p:spPr>
      </p:sp>
      <p:sp>
        <p:nvSpPr>
          <p:cNvPr id="185" name="Text 183"/>
          <p:cNvSpPr txBox="1"/>
          <p:nvPr/>
        </p:nvSpPr>
        <p:spPr>
          <a:xfrm>
            <a:off x="10305288" y="5484248"/>
            <a:ext cx="1143000" cy="220532"/>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86" name="Shape 184"/>
          <p:cNvSpPr/>
          <p:nvPr/>
        </p:nvSpPr>
        <p:spPr>
          <a:xfrm>
            <a:off x="6085332" y="2176272"/>
            <a:ext cx="10973" cy="3749040"/>
          </a:xfrm>
          <a:prstGeom prst="rect">
            <a:avLst/>
          </a:prstGeom>
          <a:solidFill>
            <a:srgbClr val="D9D9D9"/>
          </a:solidFill>
          <a:ln/>
        </p:spPr>
      </p:sp>
      <p:sp>
        <p:nvSpPr>
          <p:cNvPr id="187" name="Shape 185"/>
          <p:cNvSpPr/>
          <p:nvPr/>
        </p:nvSpPr>
        <p:spPr>
          <a:xfrm>
            <a:off x="457200" y="6126480"/>
            <a:ext cx="11274552" cy="615696"/>
          </a:xfrm>
          <a:prstGeom prst="rect">
            <a:avLst/>
          </a:prstGeom>
          <a:solidFill>
            <a:srgbClr val="EDF4FA"/>
          </a:solidFill>
          <a:ln/>
        </p:spPr>
      </p:sp>
      <p:sp>
        <p:nvSpPr>
          <p:cNvPr id="188" name="Text 18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Against their own segment, 5 of 9 luxury stores beat 276 and 7 of 24 others beat 418. Toyota Henderson leads non-luxury at 1,022.</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sp>
        <p:nvSpPr>
          <p:cNvPr id="21" name="Shape 15"/>
          <p:cNvSpPr/>
          <p:nvPr/>
        </p:nvSpPr>
        <p:spPr>
          <a:xfrm>
            <a:off x="4951476" y="3049524"/>
            <a:ext cx="310896" cy="45720"/>
          </a:xfrm>
          <a:prstGeom prst="rect">
            <a:avLst/>
          </a:prstGeom>
          <a:solidFill>
            <a:srgbClr val="9AA3AD"/>
          </a:solidFill>
          <a:ln/>
        </p:spPr>
      </p:sp>
      <p:sp>
        <p:nvSpPr>
          <p:cNvPr id="22" name="Shape 16"/>
          <p:cNvSpPr/>
          <p:nvPr/>
        </p:nvSpPr>
        <p:spPr>
          <a:xfrm>
            <a:off x="5052060" y="3017520"/>
            <a:ext cx="109728" cy="109728"/>
          </a:xfrm>
          <a:prstGeom prst="ellipse">
            <a:avLst/>
          </a:prstGeom>
          <a:solidFill>
            <a:srgbClr val="9AA3AD"/>
          </a:solidFill>
          <a:ln/>
        </p:spPr>
      </p:sp>
      <p:sp>
        <p:nvSpPr>
          <p:cNvPr id="23"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4" name="Shape 18"/>
          <p:cNvSpPr/>
          <p:nvPr/>
        </p:nvSpPr>
        <p:spPr>
          <a:xfrm>
            <a:off x="6185916" y="3049524"/>
            <a:ext cx="310896" cy="45720"/>
          </a:xfrm>
          <a:prstGeom prst="rect">
            <a:avLst/>
          </a:prstGeom>
          <a:solidFill>
            <a:srgbClr val="2587C5"/>
          </a:solidFill>
          <a:ln/>
        </p:spPr>
      </p:sp>
      <p:sp>
        <p:nvSpPr>
          <p:cNvPr id="25" name="Shape 19"/>
          <p:cNvSpPr/>
          <p:nvPr/>
        </p:nvSpPr>
        <p:spPr>
          <a:xfrm>
            <a:off x="6286500" y="3017520"/>
            <a:ext cx="109728" cy="109728"/>
          </a:xfrm>
          <a:prstGeom prst="ellipse">
            <a:avLst/>
          </a:prstGeom>
          <a:solidFill>
            <a:srgbClr val="2587C5"/>
          </a:solidFill>
          <a:ln/>
        </p:spPr>
      </p:sp>
      <p:sp>
        <p:nvSpPr>
          <p:cNvPr id="26"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7" name="Shape 21"/>
          <p:cNvSpPr/>
          <p:nvPr/>
        </p:nvSpPr>
        <p:spPr>
          <a:xfrm>
            <a:off x="457200" y="6126480"/>
            <a:ext cx="11274552" cy="371856"/>
          </a:xfrm>
          <a:prstGeom prst="rect">
            <a:avLst/>
          </a:prstGeom>
          <a:solidFill>
            <a:srgbClr val="EDF4FA"/>
          </a:solidFill>
          <a:ln/>
        </p:spPr>
      </p:sp>
      <p:sp>
        <p:nvSpPr>
          <p:cNvPr id="28"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show every tech their own proficiency every week. The best techs in each store already prove 85% is possible.</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tech, bay and lift are already here; an unflagged hour can't be sold tomorrow.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Flat-rate techs earn more as they produce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workflow, not effort, is the problem.</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YEAR TO DATE</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 YTD</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 of 583</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45% of technicians.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747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26110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19379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2512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1151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4420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3" name="Shape 11"/>
          <p:cNvSpPr/>
          <p:nvPr/>
        </p:nvSpPr>
        <p:spPr>
          <a:xfrm>
            <a:off x="2670048" y="1756697"/>
            <a:ext cx="749808" cy="136676"/>
          </a:xfrm>
          <a:prstGeom prst="rect">
            <a:avLst/>
          </a:prstGeom>
          <a:solidFill>
            <a:srgbClr val="C2352F"/>
          </a:solidFill>
          <a:ln/>
        </p:spPr>
      </p:sp>
      <p:sp>
        <p:nvSpPr>
          <p:cNvPr id="14" name="Text 12"/>
          <p:cNvSpPr txBox="1"/>
          <p:nvPr/>
        </p:nvSpPr>
        <p:spPr>
          <a:xfrm>
            <a:off x="347472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5" name="Text 13"/>
          <p:cNvSpPr txBox="1"/>
          <p:nvPr/>
        </p:nvSpPr>
        <p:spPr>
          <a:xfrm>
            <a:off x="426110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6" name="Text 14"/>
          <p:cNvSpPr txBox="1"/>
          <p:nvPr/>
        </p:nvSpPr>
        <p:spPr>
          <a:xfrm>
            <a:off x="519379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8" name="Shape 16"/>
          <p:cNvSpPr/>
          <p:nvPr/>
        </p:nvSpPr>
        <p:spPr>
          <a:xfrm>
            <a:off x="2670048" y="2005199"/>
            <a:ext cx="533948" cy="136676"/>
          </a:xfrm>
          <a:prstGeom prst="rect">
            <a:avLst/>
          </a:prstGeom>
          <a:solidFill>
            <a:srgbClr val="C2352F"/>
          </a:solidFill>
          <a:ln/>
        </p:spPr>
      </p:sp>
      <p:sp>
        <p:nvSpPr>
          <p:cNvPr id="19" name="Text 17"/>
          <p:cNvSpPr txBox="1"/>
          <p:nvPr/>
        </p:nvSpPr>
        <p:spPr>
          <a:xfrm>
            <a:off x="347472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0" name="Text 18"/>
          <p:cNvSpPr txBox="1"/>
          <p:nvPr/>
        </p:nvSpPr>
        <p:spPr>
          <a:xfrm>
            <a:off x="426110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1" name="Text 19"/>
          <p:cNvSpPr txBox="1"/>
          <p:nvPr/>
        </p:nvSpPr>
        <p:spPr>
          <a:xfrm>
            <a:off x="519379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 name="Shape 21"/>
          <p:cNvSpPr/>
          <p:nvPr/>
        </p:nvSpPr>
        <p:spPr>
          <a:xfrm>
            <a:off x="2670048" y="2253700"/>
            <a:ext cx="483297" cy="136676"/>
          </a:xfrm>
          <a:prstGeom prst="rect">
            <a:avLst/>
          </a:prstGeom>
          <a:solidFill>
            <a:srgbClr val="C2352F"/>
          </a:solidFill>
          <a:ln/>
        </p:spPr>
      </p:sp>
      <p:sp>
        <p:nvSpPr>
          <p:cNvPr id="24" name="Text 22"/>
          <p:cNvSpPr txBox="1"/>
          <p:nvPr/>
        </p:nvSpPr>
        <p:spPr>
          <a:xfrm>
            <a:off x="347472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5" name="Text 23"/>
          <p:cNvSpPr txBox="1"/>
          <p:nvPr/>
        </p:nvSpPr>
        <p:spPr>
          <a:xfrm>
            <a:off x="426110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6" name="Text 24"/>
          <p:cNvSpPr txBox="1"/>
          <p:nvPr/>
        </p:nvSpPr>
        <p:spPr>
          <a:xfrm>
            <a:off x="519379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6411" cy="136676"/>
          </a:xfrm>
          <a:prstGeom prst="rect">
            <a:avLst/>
          </a:prstGeom>
          <a:solidFill>
            <a:srgbClr val="C2352F"/>
          </a:solidFill>
          <a:ln/>
        </p:spPr>
      </p:sp>
      <p:sp>
        <p:nvSpPr>
          <p:cNvPr id="29" name="Text 27"/>
          <p:cNvSpPr txBox="1"/>
          <p:nvPr/>
        </p:nvSpPr>
        <p:spPr>
          <a:xfrm>
            <a:off x="347472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0" name="Text 28"/>
          <p:cNvSpPr txBox="1"/>
          <p:nvPr/>
        </p:nvSpPr>
        <p:spPr>
          <a:xfrm>
            <a:off x="426110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1" name="Text 29"/>
          <p:cNvSpPr txBox="1"/>
          <p:nvPr/>
        </p:nvSpPr>
        <p:spPr>
          <a:xfrm>
            <a:off x="519379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2750703"/>
            <a:ext cx="419972" cy="136676"/>
          </a:xfrm>
          <a:prstGeom prst="rect">
            <a:avLst/>
          </a:prstGeom>
          <a:solidFill>
            <a:srgbClr val="C2352F"/>
          </a:solidFill>
          <a:ln/>
        </p:spPr>
      </p:sp>
      <p:sp>
        <p:nvSpPr>
          <p:cNvPr id="34" name="Text 32"/>
          <p:cNvSpPr txBox="1"/>
          <p:nvPr/>
        </p:nvSpPr>
        <p:spPr>
          <a:xfrm>
            <a:off x="347472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35" name="Text 33"/>
          <p:cNvSpPr txBox="1"/>
          <p:nvPr/>
        </p:nvSpPr>
        <p:spPr>
          <a:xfrm>
            <a:off x="426110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36" name="Text 34"/>
          <p:cNvSpPr txBox="1"/>
          <p:nvPr/>
        </p:nvSpPr>
        <p:spPr>
          <a:xfrm>
            <a:off x="519379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8" name="Shape 36"/>
          <p:cNvSpPr/>
          <p:nvPr/>
        </p:nvSpPr>
        <p:spPr>
          <a:xfrm>
            <a:off x="2670048" y="2999205"/>
            <a:ext cx="415094" cy="136676"/>
          </a:xfrm>
          <a:prstGeom prst="rect">
            <a:avLst/>
          </a:prstGeom>
          <a:solidFill>
            <a:srgbClr val="C2352F"/>
          </a:solidFill>
          <a:ln/>
        </p:spPr>
      </p:sp>
      <p:sp>
        <p:nvSpPr>
          <p:cNvPr id="39" name="Text 37"/>
          <p:cNvSpPr txBox="1"/>
          <p:nvPr/>
        </p:nvSpPr>
        <p:spPr>
          <a:xfrm>
            <a:off x="347472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0" name="Text 38"/>
          <p:cNvSpPr txBox="1"/>
          <p:nvPr/>
        </p:nvSpPr>
        <p:spPr>
          <a:xfrm>
            <a:off x="426110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1" name="Text 39"/>
          <p:cNvSpPr txBox="1"/>
          <p:nvPr/>
        </p:nvSpPr>
        <p:spPr>
          <a:xfrm>
            <a:off x="519379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3" name="Shape 41"/>
          <p:cNvSpPr/>
          <p:nvPr/>
        </p:nvSpPr>
        <p:spPr>
          <a:xfrm>
            <a:off x="2670048" y="3247707"/>
            <a:ext cx="367707" cy="136676"/>
          </a:xfrm>
          <a:prstGeom prst="rect">
            <a:avLst/>
          </a:prstGeom>
          <a:solidFill>
            <a:srgbClr val="C2352F"/>
          </a:solidFill>
          <a:ln/>
        </p:spPr>
      </p:sp>
      <p:sp>
        <p:nvSpPr>
          <p:cNvPr id="44" name="Text 42"/>
          <p:cNvSpPr txBox="1"/>
          <p:nvPr/>
        </p:nvSpPr>
        <p:spPr>
          <a:xfrm>
            <a:off x="347472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45" name="Text 43"/>
          <p:cNvSpPr txBox="1"/>
          <p:nvPr/>
        </p:nvSpPr>
        <p:spPr>
          <a:xfrm>
            <a:off x="426110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46" name="Text 44"/>
          <p:cNvSpPr txBox="1"/>
          <p:nvPr/>
        </p:nvSpPr>
        <p:spPr>
          <a:xfrm>
            <a:off x="519379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8" name="Shape 46"/>
          <p:cNvSpPr/>
          <p:nvPr/>
        </p:nvSpPr>
        <p:spPr>
          <a:xfrm>
            <a:off x="2670048" y="3496208"/>
            <a:ext cx="364470" cy="136676"/>
          </a:xfrm>
          <a:prstGeom prst="rect">
            <a:avLst/>
          </a:prstGeom>
          <a:solidFill>
            <a:srgbClr val="C2352F"/>
          </a:solidFill>
          <a:ln/>
        </p:spPr>
      </p:sp>
      <p:sp>
        <p:nvSpPr>
          <p:cNvPr id="49" name="Text 47"/>
          <p:cNvSpPr txBox="1"/>
          <p:nvPr/>
        </p:nvSpPr>
        <p:spPr>
          <a:xfrm>
            <a:off x="347472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0" name="Text 48"/>
          <p:cNvSpPr txBox="1"/>
          <p:nvPr/>
        </p:nvSpPr>
        <p:spPr>
          <a:xfrm>
            <a:off x="426110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1" name="Text 49"/>
          <p:cNvSpPr txBox="1"/>
          <p:nvPr/>
        </p:nvSpPr>
        <p:spPr>
          <a:xfrm>
            <a:off x="519379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3" name="Shape 51"/>
          <p:cNvSpPr/>
          <p:nvPr/>
        </p:nvSpPr>
        <p:spPr>
          <a:xfrm>
            <a:off x="2670048" y="3744710"/>
            <a:ext cx="361005" cy="136676"/>
          </a:xfrm>
          <a:prstGeom prst="rect">
            <a:avLst/>
          </a:prstGeom>
          <a:solidFill>
            <a:srgbClr val="C2352F"/>
          </a:solidFill>
          <a:ln/>
        </p:spPr>
      </p:sp>
      <p:sp>
        <p:nvSpPr>
          <p:cNvPr id="54" name="Text 52"/>
          <p:cNvSpPr txBox="1"/>
          <p:nvPr/>
        </p:nvSpPr>
        <p:spPr>
          <a:xfrm>
            <a:off x="347472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55" name="Text 53"/>
          <p:cNvSpPr txBox="1"/>
          <p:nvPr/>
        </p:nvSpPr>
        <p:spPr>
          <a:xfrm>
            <a:off x="426110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56" name="Text 54"/>
          <p:cNvSpPr txBox="1"/>
          <p:nvPr/>
        </p:nvSpPr>
        <p:spPr>
          <a:xfrm>
            <a:off x="519379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3265" cy="136676"/>
          </a:xfrm>
          <a:prstGeom prst="rect">
            <a:avLst/>
          </a:prstGeom>
          <a:solidFill>
            <a:srgbClr val="C2352F"/>
          </a:solidFill>
          <a:ln/>
        </p:spPr>
      </p:sp>
      <p:sp>
        <p:nvSpPr>
          <p:cNvPr id="59" name="Text 57"/>
          <p:cNvSpPr txBox="1"/>
          <p:nvPr/>
        </p:nvSpPr>
        <p:spPr>
          <a:xfrm>
            <a:off x="347472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60" name="Text 58"/>
          <p:cNvSpPr txBox="1"/>
          <p:nvPr/>
        </p:nvSpPr>
        <p:spPr>
          <a:xfrm>
            <a:off x="426110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61" name="Text 59"/>
          <p:cNvSpPr txBox="1"/>
          <p:nvPr/>
        </p:nvSpPr>
        <p:spPr>
          <a:xfrm>
            <a:off x="519379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3" name="Shape 61"/>
          <p:cNvSpPr/>
          <p:nvPr/>
        </p:nvSpPr>
        <p:spPr>
          <a:xfrm>
            <a:off x="2670048" y="4241713"/>
            <a:ext cx="333730" cy="136676"/>
          </a:xfrm>
          <a:prstGeom prst="rect">
            <a:avLst/>
          </a:prstGeom>
          <a:solidFill>
            <a:srgbClr val="C2352F"/>
          </a:solidFill>
          <a:ln/>
        </p:spPr>
      </p:sp>
      <p:sp>
        <p:nvSpPr>
          <p:cNvPr id="64" name="Text 62"/>
          <p:cNvSpPr txBox="1"/>
          <p:nvPr/>
        </p:nvSpPr>
        <p:spPr>
          <a:xfrm>
            <a:off x="347472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5" name="Text 63"/>
          <p:cNvSpPr txBox="1"/>
          <p:nvPr/>
        </p:nvSpPr>
        <p:spPr>
          <a:xfrm>
            <a:off x="426110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66" name="Text 64"/>
          <p:cNvSpPr txBox="1"/>
          <p:nvPr/>
        </p:nvSpPr>
        <p:spPr>
          <a:xfrm>
            <a:off x="519379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8" name="Shape 66"/>
          <p:cNvSpPr/>
          <p:nvPr/>
        </p:nvSpPr>
        <p:spPr>
          <a:xfrm>
            <a:off x="2670048" y="4490215"/>
            <a:ext cx="300431" cy="136676"/>
          </a:xfrm>
          <a:prstGeom prst="rect">
            <a:avLst/>
          </a:prstGeom>
          <a:solidFill>
            <a:srgbClr val="C2352F"/>
          </a:solidFill>
          <a:ln/>
        </p:spPr>
      </p:sp>
      <p:sp>
        <p:nvSpPr>
          <p:cNvPr id="69" name="Text 67"/>
          <p:cNvSpPr txBox="1"/>
          <p:nvPr/>
        </p:nvSpPr>
        <p:spPr>
          <a:xfrm>
            <a:off x="347472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70" name="Text 68"/>
          <p:cNvSpPr txBox="1"/>
          <p:nvPr/>
        </p:nvSpPr>
        <p:spPr>
          <a:xfrm>
            <a:off x="426110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71" name="Text 69"/>
          <p:cNvSpPr txBox="1"/>
          <p:nvPr/>
        </p:nvSpPr>
        <p:spPr>
          <a:xfrm>
            <a:off x="519379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3" name="Shape 71"/>
          <p:cNvSpPr/>
          <p:nvPr/>
        </p:nvSpPr>
        <p:spPr>
          <a:xfrm>
            <a:off x="2670048" y="4738717"/>
            <a:ext cx="294453" cy="136676"/>
          </a:xfrm>
          <a:prstGeom prst="rect">
            <a:avLst/>
          </a:prstGeom>
          <a:solidFill>
            <a:srgbClr val="C2352F"/>
          </a:solidFill>
          <a:ln/>
        </p:spPr>
      </p:sp>
      <p:sp>
        <p:nvSpPr>
          <p:cNvPr id="74" name="Text 72"/>
          <p:cNvSpPr txBox="1"/>
          <p:nvPr/>
        </p:nvSpPr>
        <p:spPr>
          <a:xfrm>
            <a:off x="347472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75" name="Text 73"/>
          <p:cNvSpPr txBox="1"/>
          <p:nvPr/>
        </p:nvSpPr>
        <p:spPr>
          <a:xfrm>
            <a:off x="426110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76" name="Text 74"/>
          <p:cNvSpPr txBox="1"/>
          <p:nvPr/>
        </p:nvSpPr>
        <p:spPr>
          <a:xfrm>
            <a:off x="519379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8" name="Shape 76"/>
          <p:cNvSpPr/>
          <p:nvPr/>
        </p:nvSpPr>
        <p:spPr>
          <a:xfrm>
            <a:off x="2670048" y="4987218"/>
            <a:ext cx="273826" cy="136676"/>
          </a:xfrm>
          <a:prstGeom prst="rect">
            <a:avLst/>
          </a:prstGeom>
          <a:solidFill>
            <a:srgbClr val="C2352F"/>
          </a:solidFill>
          <a:ln/>
        </p:spPr>
      </p:sp>
      <p:sp>
        <p:nvSpPr>
          <p:cNvPr id="79" name="Text 77"/>
          <p:cNvSpPr txBox="1"/>
          <p:nvPr/>
        </p:nvSpPr>
        <p:spPr>
          <a:xfrm>
            <a:off x="347472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80" name="Text 78"/>
          <p:cNvSpPr txBox="1"/>
          <p:nvPr/>
        </p:nvSpPr>
        <p:spPr>
          <a:xfrm>
            <a:off x="426110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81" name="Text 79"/>
          <p:cNvSpPr txBox="1"/>
          <p:nvPr/>
        </p:nvSpPr>
        <p:spPr>
          <a:xfrm>
            <a:off x="519379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3" name="Shape 81"/>
          <p:cNvSpPr/>
          <p:nvPr/>
        </p:nvSpPr>
        <p:spPr>
          <a:xfrm>
            <a:off x="2670048" y="5235720"/>
            <a:ext cx="227614" cy="136676"/>
          </a:xfrm>
          <a:prstGeom prst="rect">
            <a:avLst/>
          </a:prstGeom>
          <a:solidFill>
            <a:srgbClr val="C2352F"/>
          </a:solidFill>
          <a:ln/>
        </p:spPr>
      </p:sp>
      <p:sp>
        <p:nvSpPr>
          <p:cNvPr id="84" name="Text 82"/>
          <p:cNvSpPr txBox="1"/>
          <p:nvPr/>
        </p:nvSpPr>
        <p:spPr>
          <a:xfrm>
            <a:off x="347472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85" name="Text 83"/>
          <p:cNvSpPr txBox="1"/>
          <p:nvPr/>
        </p:nvSpPr>
        <p:spPr>
          <a:xfrm>
            <a:off x="426110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86" name="Text 84"/>
          <p:cNvSpPr txBox="1"/>
          <p:nvPr/>
        </p:nvSpPr>
        <p:spPr>
          <a:xfrm>
            <a:off x="519379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8" name="Shape 86"/>
          <p:cNvSpPr/>
          <p:nvPr/>
        </p:nvSpPr>
        <p:spPr>
          <a:xfrm>
            <a:off x="2670048" y="5484222"/>
            <a:ext cx="207650" cy="136676"/>
          </a:xfrm>
          <a:prstGeom prst="rect">
            <a:avLst/>
          </a:prstGeom>
          <a:solidFill>
            <a:srgbClr val="C2352F"/>
          </a:solidFill>
          <a:ln/>
        </p:spPr>
      </p:sp>
      <p:sp>
        <p:nvSpPr>
          <p:cNvPr id="89" name="Text 87"/>
          <p:cNvSpPr txBox="1"/>
          <p:nvPr/>
        </p:nvSpPr>
        <p:spPr>
          <a:xfrm>
            <a:off x="347472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90" name="Text 88"/>
          <p:cNvSpPr txBox="1"/>
          <p:nvPr/>
        </p:nvSpPr>
        <p:spPr>
          <a:xfrm>
            <a:off x="426110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91" name="Text 89"/>
          <p:cNvSpPr txBox="1"/>
          <p:nvPr/>
        </p:nvSpPr>
        <p:spPr>
          <a:xfrm>
            <a:off x="519379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3" name="Shape 91"/>
          <p:cNvSpPr/>
          <p:nvPr/>
        </p:nvSpPr>
        <p:spPr>
          <a:xfrm>
            <a:off x="2670048" y="5732723"/>
            <a:ext cx="201603" cy="136676"/>
          </a:xfrm>
          <a:prstGeom prst="rect">
            <a:avLst/>
          </a:prstGeom>
          <a:solidFill>
            <a:srgbClr val="C2352F"/>
          </a:solidFill>
          <a:ln/>
        </p:spPr>
      </p:sp>
      <p:sp>
        <p:nvSpPr>
          <p:cNvPr id="94" name="Text 92"/>
          <p:cNvSpPr txBox="1"/>
          <p:nvPr/>
        </p:nvSpPr>
        <p:spPr>
          <a:xfrm>
            <a:off x="347472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95" name="Text 93"/>
          <p:cNvSpPr txBox="1"/>
          <p:nvPr/>
        </p:nvSpPr>
        <p:spPr>
          <a:xfrm>
            <a:off x="426110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96" name="Text 94"/>
          <p:cNvSpPr txBox="1"/>
          <p:nvPr/>
        </p:nvSpPr>
        <p:spPr>
          <a:xfrm>
            <a:off x="519379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8" name="Shape 96"/>
          <p:cNvSpPr/>
          <p:nvPr/>
        </p:nvSpPr>
        <p:spPr>
          <a:xfrm>
            <a:off x="8220456" y="1756697"/>
            <a:ext cx="187634" cy="136676"/>
          </a:xfrm>
          <a:prstGeom prst="rect">
            <a:avLst/>
          </a:prstGeom>
          <a:solidFill>
            <a:srgbClr val="C2352F"/>
          </a:solidFill>
          <a:ln/>
        </p:spPr>
      </p:sp>
      <p:sp>
        <p:nvSpPr>
          <p:cNvPr id="99" name="Text 97"/>
          <p:cNvSpPr txBox="1"/>
          <p:nvPr/>
        </p:nvSpPr>
        <p:spPr>
          <a:xfrm>
            <a:off x="902512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00" name="Text 98"/>
          <p:cNvSpPr txBox="1"/>
          <p:nvPr/>
        </p:nvSpPr>
        <p:spPr>
          <a:xfrm>
            <a:off x="981151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01" name="Text 99"/>
          <p:cNvSpPr txBox="1"/>
          <p:nvPr/>
        </p:nvSpPr>
        <p:spPr>
          <a:xfrm>
            <a:off x="1074420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3" name="Shape 101"/>
          <p:cNvSpPr/>
          <p:nvPr/>
        </p:nvSpPr>
        <p:spPr>
          <a:xfrm>
            <a:off x="8220456" y="2005199"/>
            <a:ext cx="163154" cy="136676"/>
          </a:xfrm>
          <a:prstGeom prst="rect">
            <a:avLst/>
          </a:prstGeom>
          <a:solidFill>
            <a:srgbClr val="C2352F"/>
          </a:solidFill>
          <a:ln/>
        </p:spPr>
      </p:sp>
      <p:sp>
        <p:nvSpPr>
          <p:cNvPr id="104" name="Text 102"/>
          <p:cNvSpPr txBox="1"/>
          <p:nvPr/>
        </p:nvSpPr>
        <p:spPr>
          <a:xfrm>
            <a:off x="902512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5" name="Text 103"/>
          <p:cNvSpPr txBox="1"/>
          <p:nvPr/>
        </p:nvSpPr>
        <p:spPr>
          <a:xfrm>
            <a:off x="981151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06" name="Text 104"/>
          <p:cNvSpPr txBox="1"/>
          <p:nvPr/>
        </p:nvSpPr>
        <p:spPr>
          <a:xfrm>
            <a:off x="1074420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150261" cy="136676"/>
          </a:xfrm>
          <a:prstGeom prst="rect">
            <a:avLst/>
          </a:prstGeom>
          <a:solidFill>
            <a:srgbClr val="C2352F"/>
          </a:solidFill>
          <a:ln/>
        </p:spPr>
      </p:sp>
      <p:sp>
        <p:nvSpPr>
          <p:cNvPr id="109" name="Text 107"/>
          <p:cNvSpPr txBox="1"/>
          <p:nvPr/>
        </p:nvSpPr>
        <p:spPr>
          <a:xfrm>
            <a:off x="902512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10" name="Text 108"/>
          <p:cNvSpPr txBox="1"/>
          <p:nvPr/>
        </p:nvSpPr>
        <p:spPr>
          <a:xfrm>
            <a:off x="981151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11" name="Text 109"/>
          <p:cNvSpPr txBox="1"/>
          <p:nvPr/>
        </p:nvSpPr>
        <p:spPr>
          <a:xfrm>
            <a:off x="1074420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Shape 111"/>
          <p:cNvSpPr/>
          <p:nvPr/>
        </p:nvSpPr>
        <p:spPr>
          <a:xfrm>
            <a:off x="8220456" y="2502202"/>
            <a:ext cx="116946" cy="136676"/>
          </a:xfrm>
          <a:prstGeom prst="rect">
            <a:avLst/>
          </a:prstGeom>
          <a:solidFill>
            <a:srgbClr val="C2352F"/>
          </a:solidFill>
          <a:ln/>
        </p:spPr>
      </p:sp>
      <p:sp>
        <p:nvSpPr>
          <p:cNvPr id="114" name="Text 112"/>
          <p:cNvSpPr txBox="1"/>
          <p:nvPr/>
        </p:nvSpPr>
        <p:spPr>
          <a:xfrm>
            <a:off x="902512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5" name="Text 113"/>
          <p:cNvSpPr txBox="1"/>
          <p:nvPr/>
        </p:nvSpPr>
        <p:spPr>
          <a:xfrm>
            <a:off x="981151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16" name="Text 114"/>
          <p:cNvSpPr txBox="1"/>
          <p:nvPr/>
        </p:nvSpPr>
        <p:spPr>
          <a:xfrm>
            <a:off x="1074420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220456" y="2750703"/>
            <a:ext cx="112759" cy="136676"/>
          </a:xfrm>
          <a:prstGeom prst="rect">
            <a:avLst/>
          </a:prstGeom>
          <a:solidFill>
            <a:srgbClr val="C2352F"/>
          </a:solidFill>
          <a:ln/>
        </p:spPr>
      </p:sp>
      <p:sp>
        <p:nvSpPr>
          <p:cNvPr id="119" name="Text 117"/>
          <p:cNvSpPr txBox="1"/>
          <p:nvPr/>
        </p:nvSpPr>
        <p:spPr>
          <a:xfrm>
            <a:off x="902512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20" name="Text 118"/>
          <p:cNvSpPr txBox="1"/>
          <p:nvPr/>
        </p:nvSpPr>
        <p:spPr>
          <a:xfrm>
            <a:off x="981151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21" name="Text 119"/>
          <p:cNvSpPr txBox="1"/>
          <p:nvPr/>
        </p:nvSpPr>
        <p:spPr>
          <a:xfrm>
            <a:off x="1074420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23" name="Shape 121"/>
          <p:cNvSpPr/>
          <p:nvPr/>
        </p:nvSpPr>
        <p:spPr>
          <a:xfrm>
            <a:off x="8220456" y="2999205"/>
            <a:ext cx="105168" cy="136676"/>
          </a:xfrm>
          <a:prstGeom prst="rect">
            <a:avLst/>
          </a:prstGeom>
          <a:solidFill>
            <a:srgbClr val="C2352F"/>
          </a:solidFill>
          <a:ln/>
        </p:spPr>
      </p:sp>
      <p:sp>
        <p:nvSpPr>
          <p:cNvPr id="124" name="Text 122"/>
          <p:cNvSpPr txBox="1"/>
          <p:nvPr/>
        </p:nvSpPr>
        <p:spPr>
          <a:xfrm>
            <a:off x="902512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5" name="Text 123"/>
          <p:cNvSpPr txBox="1"/>
          <p:nvPr/>
        </p:nvSpPr>
        <p:spPr>
          <a:xfrm>
            <a:off x="981151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26" name="Text 124"/>
          <p:cNvSpPr txBox="1"/>
          <p:nvPr/>
        </p:nvSpPr>
        <p:spPr>
          <a:xfrm>
            <a:off x="1074420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28" name="Shape 126"/>
          <p:cNvSpPr/>
          <p:nvPr/>
        </p:nvSpPr>
        <p:spPr>
          <a:xfrm>
            <a:off x="8220456" y="3247707"/>
            <a:ext cx="98507" cy="136676"/>
          </a:xfrm>
          <a:prstGeom prst="rect">
            <a:avLst/>
          </a:prstGeom>
          <a:solidFill>
            <a:srgbClr val="C2352F"/>
          </a:solidFill>
          <a:ln/>
        </p:spPr>
      </p:sp>
      <p:sp>
        <p:nvSpPr>
          <p:cNvPr id="129" name="Text 127"/>
          <p:cNvSpPr txBox="1"/>
          <p:nvPr/>
        </p:nvSpPr>
        <p:spPr>
          <a:xfrm>
            <a:off x="902512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0" name="Text 128"/>
          <p:cNvSpPr txBox="1"/>
          <p:nvPr/>
        </p:nvSpPr>
        <p:spPr>
          <a:xfrm>
            <a:off x="981151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31" name="Text 129"/>
          <p:cNvSpPr txBox="1"/>
          <p:nvPr/>
        </p:nvSpPr>
        <p:spPr>
          <a:xfrm>
            <a:off x="1074420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3" name="Shape 131"/>
          <p:cNvSpPr/>
          <p:nvPr/>
        </p:nvSpPr>
        <p:spPr>
          <a:xfrm>
            <a:off x="8220456" y="3496208"/>
            <a:ext cx="97766" cy="136676"/>
          </a:xfrm>
          <a:prstGeom prst="rect">
            <a:avLst/>
          </a:prstGeom>
          <a:solidFill>
            <a:srgbClr val="C2352F"/>
          </a:solidFill>
          <a:ln/>
        </p:spPr>
      </p:sp>
      <p:sp>
        <p:nvSpPr>
          <p:cNvPr id="134" name="Text 132"/>
          <p:cNvSpPr txBox="1"/>
          <p:nvPr/>
        </p:nvSpPr>
        <p:spPr>
          <a:xfrm>
            <a:off x="902512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35" name="Text 133"/>
          <p:cNvSpPr txBox="1"/>
          <p:nvPr/>
        </p:nvSpPr>
        <p:spPr>
          <a:xfrm>
            <a:off x="981151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36" name="Text 134"/>
          <p:cNvSpPr txBox="1"/>
          <p:nvPr/>
        </p:nvSpPr>
        <p:spPr>
          <a:xfrm>
            <a:off x="1074420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95452" cy="136676"/>
          </a:xfrm>
          <a:prstGeom prst="rect">
            <a:avLst/>
          </a:prstGeom>
          <a:solidFill>
            <a:srgbClr val="C2352F"/>
          </a:solidFill>
          <a:ln/>
        </p:spPr>
      </p:sp>
      <p:sp>
        <p:nvSpPr>
          <p:cNvPr id="139" name="Text 137"/>
          <p:cNvSpPr txBox="1"/>
          <p:nvPr/>
        </p:nvSpPr>
        <p:spPr>
          <a:xfrm>
            <a:off x="902512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0" name="Text 138"/>
          <p:cNvSpPr txBox="1"/>
          <p:nvPr/>
        </p:nvSpPr>
        <p:spPr>
          <a:xfrm>
            <a:off x="981151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41" name="Text 139"/>
          <p:cNvSpPr txBox="1"/>
          <p:nvPr/>
        </p:nvSpPr>
        <p:spPr>
          <a:xfrm>
            <a:off x="1074420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3" name="Shape 141"/>
          <p:cNvSpPr/>
          <p:nvPr/>
        </p:nvSpPr>
        <p:spPr>
          <a:xfrm>
            <a:off x="8220456" y="3993212"/>
            <a:ext cx="71097" cy="136676"/>
          </a:xfrm>
          <a:prstGeom prst="rect">
            <a:avLst/>
          </a:prstGeom>
          <a:solidFill>
            <a:srgbClr val="C2352F"/>
          </a:solidFill>
          <a:ln/>
        </p:spPr>
      </p:sp>
      <p:sp>
        <p:nvSpPr>
          <p:cNvPr id="144" name="Text 142"/>
          <p:cNvSpPr txBox="1"/>
          <p:nvPr/>
        </p:nvSpPr>
        <p:spPr>
          <a:xfrm>
            <a:off x="902512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45" name="Text 143"/>
          <p:cNvSpPr txBox="1"/>
          <p:nvPr/>
        </p:nvSpPr>
        <p:spPr>
          <a:xfrm>
            <a:off x="981151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46" name="Text 144"/>
          <p:cNvSpPr txBox="1"/>
          <p:nvPr/>
        </p:nvSpPr>
        <p:spPr>
          <a:xfrm>
            <a:off x="1074420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8" name="Shape 146"/>
          <p:cNvSpPr/>
          <p:nvPr/>
        </p:nvSpPr>
        <p:spPr>
          <a:xfrm>
            <a:off x="8220456" y="4241713"/>
            <a:ext cx="61565" cy="136676"/>
          </a:xfrm>
          <a:prstGeom prst="rect">
            <a:avLst/>
          </a:prstGeom>
          <a:solidFill>
            <a:srgbClr val="C2352F"/>
          </a:solidFill>
          <a:ln/>
        </p:spPr>
      </p:sp>
      <p:sp>
        <p:nvSpPr>
          <p:cNvPr id="149" name="Text 147"/>
          <p:cNvSpPr txBox="1"/>
          <p:nvPr/>
        </p:nvSpPr>
        <p:spPr>
          <a:xfrm>
            <a:off x="902512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0" name="Text 148"/>
          <p:cNvSpPr txBox="1"/>
          <p:nvPr/>
        </p:nvSpPr>
        <p:spPr>
          <a:xfrm>
            <a:off x="981151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51" name="Text 149"/>
          <p:cNvSpPr txBox="1"/>
          <p:nvPr/>
        </p:nvSpPr>
        <p:spPr>
          <a:xfrm>
            <a:off x="1074420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3" name="Shape 151"/>
          <p:cNvSpPr/>
          <p:nvPr/>
        </p:nvSpPr>
        <p:spPr>
          <a:xfrm>
            <a:off x="8220456" y="4490215"/>
            <a:ext cx="61457" cy="136676"/>
          </a:xfrm>
          <a:prstGeom prst="rect">
            <a:avLst/>
          </a:prstGeom>
          <a:solidFill>
            <a:srgbClr val="C2352F"/>
          </a:solidFill>
          <a:ln/>
        </p:spPr>
      </p:sp>
      <p:sp>
        <p:nvSpPr>
          <p:cNvPr id="154" name="Text 152"/>
          <p:cNvSpPr txBox="1"/>
          <p:nvPr/>
        </p:nvSpPr>
        <p:spPr>
          <a:xfrm>
            <a:off x="902512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55" name="Text 153"/>
          <p:cNvSpPr txBox="1"/>
          <p:nvPr/>
        </p:nvSpPr>
        <p:spPr>
          <a:xfrm>
            <a:off x="981151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56" name="Text 154"/>
          <p:cNvSpPr txBox="1"/>
          <p:nvPr/>
        </p:nvSpPr>
        <p:spPr>
          <a:xfrm>
            <a:off x="1074420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54038" cy="136676"/>
          </a:xfrm>
          <a:prstGeom prst="rect">
            <a:avLst/>
          </a:prstGeom>
          <a:solidFill>
            <a:srgbClr val="C2352F"/>
          </a:solidFill>
          <a:ln/>
        </p:spPr>
      </p:sp>
      <p:sp>
        <p:nvSpPr>
          <p:cNvPr id="159" name="Text 157"/>
          <p:cNvSpPr txBox="1"/>
          <p:nvPr/>
        </p:nvSpPr>
        <p:spPr>
          <a:xfrm>
            <a:off x="902512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60" name="Text 158"/>
          <p:cNvSpPr txBox="1"/>
          <p:nvPr/>
        </p:nvSpPr>
        <p:spPr>
          <a:xfrm>
            <a:off x="981151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61" name="Text 159"/>
          <p:cNvSpPr txBox="1"/>
          <p:nvPr/>
        </p:nvSpPr>
        <p:spPr>
          <a:xfrm>
            <a:off x="1074420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3" name="Shape 161"/>
          <p:cNvSpPr/>
          <p:nvPr/>
        </p:nvSpPr>
        <p:spPr>
          <a:xfrm>
            <a:off x="8220456" y="4987218"/>
            <a:ext cx="49766" cy="136676"/>
          </a:xfrm>
          <a:prstGeom prst="rect">
            <a:avLst/>
          </a:prstGeom>
          <a:solidFill>
            <a:srgbClr val="C2352F"/>
          </a:solidFill>
          <a:ln/>
        </p:spPr>
      </p:sp>
      <p:sp>
        <p:nvSpPr>
          <p:cNvPr id="164" name="Text 162"/>
          <p:cNvSpPr txBox="1"/>
          <p:nvPr/>
        </p:nvSpPr>
        <p:spPr>
          <a:xfrm>
            <a:off x="902512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65" name="Text 163"/>
          <p:cNvSpPr txBox="1"/>
          <p:nvPr/>
        </p:nvSpPr>
        <p:spPr>
          <a:xfrm>
            <a:off x="981151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66" name="Text 164"/>
          <p:cNvSpPr txBox="1"/>
          <p:nvPr/>
        </p:nvSpPr>
        <p:spPr>
          <a:xfrm>
            <a:off x="1074420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68" name="Shape 166"/>
          <p:cNvSpPr/>
          <p:nvPr/>
        </p:nvSpPr>
        <p:spPr>
          <a:xfrm>
            <a:off x="8220456" y="5235720"/>
            <a:ext cx="40736" cy="136676"/>
          </a:xfrm>
          <a:prstGeom prst="rect">
            <a:avLst/>
          </a:prstGeom>
          <a:solidFill>
            <a:srgbClr val="C2352F"/>
          </a:solidFill>
          <a:ln/>
        </p:spPr>
      </p:sp>
      <p:sp>
        <p:nvSpPr>
          <p:cNvPr id="169" name="Text 167"/>
          <p:cNvSpPr txBox="1"/>
          <p:nvPr/>
        </p:nvSpPr>
        <p:spPr>
          <a:xfrm>
            <a:off x="902512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70" name="Text 168"/>
          <p:cNvSpPr txBox="1"/>
          <p:nvPr/>
        </p:nvSpPr>
        <p:spPr>
          <a:xfrm>
            <a:off x="981151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171" name="Text 169"/>
          <p:cNvSpPr txBox="1"/>
          <p:nvPr/>
        </p:nvSpPr>
        <p:spPr>
          <a:xfrm>
            <a:off x="1074420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902512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175" name="Text 173"/>
          <p:cNvSpPr txBox="1"/>
          <p:nvPr/>
        </p:nvSpPr>
        <p:spPr>
          <a:xfrm>
            <a:off x="981151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176" name="Text 174"/>
          <p:cNvSpPr txBox="1"/>
          <p:nvPr/>
        </p:nvSpPr>
        <p:spPr>
          <a:xfrm>
            <a:off x="1074420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177" name="Shape 175"/>
          <p:cNvSpPr/>
          <p:nvPr/>
        </p:nvSpPr>
        <p:spPr>
          <a:xfrm>
            <a:off x="457200" y="6126480"/>
            <a:ext cx="11274552" cy="348996"/>
          </a:xfrm>
          <a:prstGeom prst="rect">
            <a:avLst/>
          </a:prstGeom>
          <a:solidFill>
            <a:srgbClr val="FBEBEA"/>
          </a:solidFill>
          <a:ln/>
        </p:spPr>
      </p:sp>
      <p:sp>
        <p:nvSpPr>
          <p:cNvPr id="178" name="Text 17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4670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330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0176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8971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6834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5217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 name="Shape 11"/>
          <p:cNvSpPr/>
          <p:nvPr/>
        </p:nvSpPr>
        <p:spPr>
          <a:xfrm>
            <a:off x="2670048" y="1756697"/>
            <a:ext cx="621792" cy="136676"/>
          </a:xfrm>
          <a:prstGeom prst="rect">
            <a:avLst/>
          </a:prstGeom>
          <a:solidFill>
            <a:srgbClr val="C2352F"/>
          </a:solidFill>
          <a:ln/>
        </p:spPr>
      </p:sp>
      <p:sp>
        <p:nvSpPr>
          <p:cNvPr id="14" name="Text 12"/>
          <p:cNvSpPr txBox="1"/>
          <p:nvPr/>
        </p:nvSpPr>
        <p:spPr>
          <a:xfrm>
            <a:off x="334670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5" name="Text 13"/>
          <p:cNvSpPr txBox="1"/>
          <p:nvPr/>
        </p:nvSpPr>
        <p:spPr>
          <a:xfrm>
            <a:off x="41330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6" name="Text 14"/>
          <p:cNvSpPr txBox="1"/>
          <p:nvPr/>
        </p:nvSpPr>
        <p:spPr>
          <a:xfrm>
            <a:off x="500176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 name="Shape 16"/>
          <p:cNvSpPr/>
          <p:nvPr/>
        </p:nvSpPr>
        <p:spPr>
          <a:xfrm>
            <a:off x="2670048" y="2005199"/>
            <a:ext cx="580151" cy="136676"/>
          </a:xfrm>
          <a:prstGeom prst="rect">
            <a:avLst/>
          </a:prstGeom>
          <a:solidFill>
            <a:srgbClr val="C2352F"/>
          </a:solidFill>
          <a:ln/>
        </p:spPr>
      </p:sp>
      <p:sp>
        <p:nvSpPr>
          <p:cNvPr id="19" name="Text 17"/>
          <p:cNvSpPr txBox="1"/>
          <p:nvPr/>
        </p:nvSpPr>
        <p:spPr>
          <a:xfrm>
            <a:off x="334670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0" name="Text 18"/>
          <p:cNvSpPr txBox="1"/>
          <p:nvPr/>
        </p:nvSpPr>
        <p:spPr>
          <a:xfrm>
            <a:off x="41330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1" name="Text 19"/>
          <p:cNvSpPr txBox="1"/>
          <p:nvPr/>
        </p:nvSpPr>
        <p:spPr>
          <a:xfrm>
            <a:off x="500176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3" name="Shape 21"/>
          <p:cNvSpPr/>
          <p:nvPr/>
        </p:nvSpPr>
        <p:spPr>
          <a:xfrm>
            <a:off x="2670048" y="2253700"/>
            <a:ext cx="495930" cy="136676"/>
          </a:xfrm>
          <a:prstGeom prst="rect">
            <a:avLst/>
          </a:prstGeom>
          <a:solidFill>
            <a:srgbClr val="C2352F"/>
          </a:solidFill>
          <a:ln/>
        </p:spPr>
      </p:sp>
      <p:sp>
        <p:nvSpPr>
          <p:cNvPr id="24" name="Text 22"/>
          <p:cNvSpPr txBox="1"/>
          <p:nvPr/>
        </p:nvSpPr>
        <p:spPr>
          <a:xfrm>
            <a:off x="334670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5" name="Text 23"/>
          <p:cNvSpPr txBox="1"/>
          <p:nvPr/>
        </p:nvSpPr>
        <p:spPr>
          <a:xfrm>
            <a:off x="41330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6" name="Text 24"/>
          <p:cNvSpPr txBox="1"/>
          <p:nvPr/>
        </p:nvSpPr>
        <p:spPr>
          <a:xfrm>
            <a:off x="500176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8" name="Shape 26"/>
          <p:cNvSpPr/>
          <p:nvPr/>
        </p:nvSpPr>
        <p:spPr>
          <a:xfrm>
            <a:off x="2670048" y="2502202"/>
            <a:ext cx="479181" cy="136676"/>
          </a:xfrm>
          <a:prstGeom prst="rect">
            <a:avLst/>
          </a:prstGeom>
          <a:solidFill>
            <a:srgbClr val="C2352F"/>
          </a:solidFill>
          <a:ln/>
        </p:spPr>
      </p:sp>
      <p:sp>
        <p:nvSpPr>
          <p:cNvPr id="29" name="Text 27"/>
          <p:cNvSpPr txBox="1"/>
          <p:nvPr/>
        </p:nvSpPr>
        <p:spPr>
          <a:xfrm>
            <a:off x="334670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0" name="Text 28"/>
          <p:cNvSpPr txBox="1"/>
          <p:nvPr/>
        </p:nvSpPr>
        <p:spPr>
          <a:xfrm>
            <a:off x="41330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1" name="Text 29"/>
          <p:cNvSpPr txBox="1"/>
          <p:nvPr/>
        </p:nvSpPr>
        <p:spPr>
          <a:xfrm>
            <a:off x="500176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33" name="Shape 31"/>
          <p:cNvSpPr/>
          <p:nvPr/>
        </p:nvSpPr>
        <p:spPr>
          <a:xfrm>
            <a:off x="2670048" y="2750703"/>
            <a:ext cx="453006" cy="136676"/>
          </a:xfrm>
          <a:prstGeom prst="rect">
            <a:avLst/>
          </a:prstGeom>
          <a:solidFill>
            <a:srgbClr val="C2352F"/>
          </a:solidFill>
          <a:ln/>
        </p:spPr>
      </p:sp>
      <p:sp>
        <p:nvSpPr>
          <p:cNvPr id="34" name="Text 32"/>
          <p:cNvSpPr txBox="1"/>
          <p:nvPr/>
        </p:nvSpPr>
        <p:spPr>
          <a:xfrm>
            <a:off x="334670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35" name="Text 33"/>
          <p:cNvSpPr txBox="1"/>
          <p:nvPr/>
        </p:nvSpPr>
        <p:spPr>
          <a:xfrm>
            <a:off x="41330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36" name="Text 34"/>
          <p:cNvSpPr txBox="1"/>
          <p:nvPr/>
        </p:nvSpPr>
        <p:spPr>
          <a:xfrm>
            <a:off x="500176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8" name="Shape 36"/>
          <p:cNvSpPr/>
          <p:nvPr/>
        </p:nvSpPr>
        <p:spPr>
          <a:xfrm>
            <a:off x="2670048" y="2999205"/>
            <a:ext cx="389713" cy="136676"/>
          </a:xfrm>
          <a:prstGeom prst="rect">
            <a:avLst/>
          </a:prstGeom>
          <a:solidFill>
            <a:srgbClr val="C2352F"/>
          </a:solidFill>
          <a:ln/>
        </p:spPr>
      </p:sp>
      <p:sp>
        <p:nvSpPr>
          <p:cNvPr id="39" name="Text 37"/>
          <p:cNvSpPr txBox="1"/>
          <p:nvPr/>
        </p:nvSpPr>
        <p:spPr>
          <a:xfrm>
            <a:off x="334670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0" name="Text 38"/>
          <p:cNvSpPr txBox="1"/>
          <p:nvPr/>
        </p:nvSpPr>
        <p:spPr>
          <a:xfrm>
            <a:off x="41330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1" name="Text 39"/>
          <p:cNvSpPr txBox="1"/>
          <p:nvPr/>
        </p:nvSpPr>
        <p:spPr>
          <a:xfrm>
            <a:off x="500176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3" name="Shape 41"/>
          <p:cNvSpPr/>
          <p:nvPr/>
        </p:nvSpPr>
        <p:spPr>
          <a:xfrm>
            <a:off x="2670048" y="3247707"/>
            <a:ext cx="381884" cy="136676"/>
          </a:xfrm>
          <a:prstGeom prst="rect">
            <a:avLst/>
          </a:prstGeom>
          <a:solidFill>
            <a:srgbClr val="C2352F"/>
          </a:solidFill>
          <a:ln/>
        </p:spPr>
      </p:sp>
      <p:sp>
        <p:nvSpPr>
          <p:cNvPr id="44" name="Text 42"/>
          <p:cNvSpPr txBox="1"/>
          <p:nvPr/>
        </p:nvSpPr>
        <p:spPr>
          <a:xfrm>
            <a:off x="334670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45" name="Text 43"/>
          <p:cNvSpPr txBox="1"/>
          <p:nvPr/>
        </p:nvSpPr>
        <p:spPr>
          <a:xfrm>
            <a:off x="41330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46" name="Text 44"/>
          <p:cNvSpPr txBox="1"/>
          <p:nvPr/>
        </p:nvSpPr>
        <p:spPr>
          <a:xfrm>
            <a:off x="500176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Shape 46"/>
          <p:cNvSpPr/>
          <p:nvPr/>
        </p:nvSpPr>
        <p:spPr>
          <a:xfrm>
            <a:off x="2670048" y="3496208"/>
            <a:ext cx="370032" cy="136676"/>
          </a:xfrm>
          <a:prstGeom prst="rect">
            <a:avLst/>
          </a:prstGeom>
          <a:solidFill>
            <a:srgbClr val="C2352F"/>
          </a:solidFill>
          <a:ln/>
        </p:spPr>
      </p:sp>
      <p:sp>
        <p:nvSpPr>
          <p:cNvPr id="49" name="Text 47"/>
          <p:cNvSpPr txBox="1"/>
          <p:nvPr/>
        </p:nvSpPr>
        <p:spPr>
          <a:xfrm>
            <a:off x="334670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0" name="Text 48"/>
          <p:cNvSpPr txBox="1"/>
          <p:nvPr/>
        </p:nvSpPr>
        <p:spPr>
          <a:xfrm>
            <a:off x="41330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1" name="Text 49"/>
          <p:cNvSpPr txBox="1"/>
          <p:nvPr/>
        </p:nvSpPr>
        <p:spPr>
          <a:xfrm>
            <a:off x="500176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3" name="Shape 51"/>
          <p:cNvSpPr/>
          <p:nvPr/>
        </p:nvSpPr>
        <p:spPr>
          <a:xfrm>
            <a:off x="2670048" y="3744710"/>
            <a:ext cx="361163" cy="136676"/>
          </a:xfrm>
          <a:prstGeom prst="rect">
            <a:avLst/>
          </a:prstGeom>
          <a:solidFill>
            <a:srgbClr val="C2352F"/>
          </a:solidFill>
          <a:ln/>
        </p:spPr>
      </p:sp>
      <p:sp>
        <p:nvSpPr>
          <p:cNvPr id="54" name="Text 52"/>
          <p:cNvSpPr txBox="1"/>
          <p:nvPr/>
        </p:nvSpPr>
        <p:spPr>
          <a:xfrm>
            <a:off x="334670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55" name="Text 53"/>
          <p:cNvSpPr txBox="1"/>
          <p:nvPr/>
        </p:nvSpPr>
        <p:spPr>
          <a:xfrm>
            <a:off x="41330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56" name="Text 54"/>
          <p:cNvSpPr txBox="1"/>
          <p:nvPr/>
        </p:nvSpPr>
        <p:spPr>
          <a:xfrm>
            <a:off x="500176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8" name="Shape 56"/>
          <p:cNvSpPr/>
          <p:nvPr/>
        </p:nvSpPr>
        <p:spPr>
          <a:xfrm>
            <a:off x="2670048" y="3993212"/>
            <a:ext cx="289514" cy="136676"/>
          </a:xfrm>
          <a:prstGeom prst="rect">
            <a:avLst/>
          </a:prstGeom>
          <a:solidFill>
            <a:srgbClr val="C2352F"/>
          </a:solidFill>
          <a:ln/>
        </p:spPr>
      </p:sp>
      <p:sp>
        <p:nvSpPr>
          <p:cNvPr id="59" name="Text 57"/>
          <p:cNvSpPr txBox="1"/>
          <p:nvPr/>
        </p:nvSpPr>
        <p:spPr>
          <a:xfrm>
            <a:off x="334670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60" name="Text 58"/>
          <p:cNvSpPr txBox="1"/>
          <p:nvPr/>
        </p:nvSpPr>
        <p:spPr>
          <a:xfrm>
            <a:off x="41330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61" name="Text 59"/>
          <p:cNvSpPr txBox="1"/>
          <p:nvPr/>
        </p:nvSpPr>
        <p:spPr>
          <a:xfrm>
            <a:off x="500176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63" name="Shape 61"/>
          <p:cNvSpPr/>
          <p:nvPr/>
        </p:nvSpPr>
        <p:spPr>
          <a:xfrm>
            <a:off x="2670048" y="4241713"/>
            <a:ext cx="280378" cy="136676"/>
          </a:xfrm>
          <a:prstGeom prst="rect">
            <a:avLst/>
          </a:prstGeom>
          <a:solidFill>
            <a:srgbClr val="C2352F"/>
          </a:solidFill>
          <a:ln/>
        </p:spPr>
      </p:sp>
      <p:sp>
        <p:nvSpPr>
          <p:cNvPr id="64" name="Text 62"/>
          <p:cNvSpPr txBox="1"/>
          <p:nvPr/>
        </p:nvSpPr>
        <p:spPr>
          <a:xfrm>
            <a:off x="334670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65" name="Text 63"/>
          <p:cNvSpPr txBox="1"/>
          <p:nvPr/>
        </p:nvSpPr>
        <p:spPr>
          <a:xfrm>
            <a:off x="41330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66" name="Text 64"/>
          <p:cNvSpPr txBox="1"/>
          <p:nvPr/>
        </p:nvSpPr>
        <p:spPr>
          <a:xfrm>
            <a:off x="500176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8" name="Shape 66"/>
          <p:cNvSpPr/>
          <p:nvPr/>
        </p:nvSpPr>
        <p:spPr>
          <a:xfrm>
            <a:off x="2670048" y="4490215"/>
            <a:ext cx="265831" cy="136676"/>
          </a:xfrm>
          <a:prstGeom prst="rect">
            <a:avLst/>
          </a:prstGeom>
          <a:solidFill>
            <a:srgbClr val="C2352F"/>
          </a:solidFill>
          <a:ln/>
        </p:spPr>
      </p:sp>
      <p:sp>
        <p:nvSpPr>
          <p:cNvPr id="69" name="Text 67"/>
          <p:cNvSpPr txBox="1"/>
          <p:nvPr/>
        </p:nvSpPr>
        <p:spPr>
          <a:xfrm>
            <a:off x="334670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70" name="Text 68"/>
          <p:cNvSpPr txBox="1"/>
          <p:nvPr/>
        </p:nvSpPr>
        <p:spPr>
          <a:xfrm>
            <a:off x="41330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71" name="Text 69"/>
          <p:cNvSpPr txBox="1"/>
          <p:nvPr/>
        </p:nvSpPr>
        <p:spPr>
          <a:xfrm>
            <a:off x="500176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3" name="Shape 71"/>
          <p:cNvSpPr/>
          <p:nvPr/>
        </p:nvSpPr>
        <p:spPr>
          <a:xfrm>
            <a:off x="2670048" y="4738717"/>
            <a:ext cx="263180" cy="136676"/>
          </a:xfrm>
          <a:prstGeom prst="rect">
            <a:avLst/>
          </a:prstGeom>
          <a:solidFill>
            <a:srgbClr val="C2352F"/>
          </a:solidFill>
          <a:ln/>
        </p:spPr>
      </p:sp>
      <p:sp>
        <p:nvSpPr>
          <p:cNvPr id="74" name="Text 72"/>
          <p:cNvSpPr txBox="1"/>
          <p:nvPr/>
        </p:nvSpPr>
        <p:spPr>
          <a:xfrm>
            <a:off x="334670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75" name="Text 73"/>
          <p:cNvSpPr txBox="1"/>
          <p:nvPr/>
        </p:nvSpPr>
        <p:spPr>
          <a:xfrm>
            <a:off x="41330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76" name="Text 74"/>
          <p:cNvSpPr txBox="1"/>
          <p:nvPr/>
        </p:nvSpPr>
        <p:spPr>
          <a:xfrm>
            <a:off x="500176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8" name="Shape 76"/>
          <p:cNvSpPr/>
          <p:nvPr/>
        </p:nvSpPr>
        <p:spPr>
          <a:xfrm>
            <a:off x="2670048" y="4987218"/>
            <a:ext cx="225366" cy="136676"/>
          </a:xfrm>
          <a:prstGeom prst="rect">
            <a:avLst/>
          </a:prstGeom>
          <a:solidFill>
            <a:srgbClr val="C2352F"/>
          </a:solidFill>
          <a:ln/>
        </p:spPr>
      </p:sp>
      <p:sp>
        <p:nvSpPr>
          <p:cNvPr id="79" name="Text 77"/>
          <p:cNvSpPr txBox="1"/>
          <p:nvPr/>
        </p:nvSpPr>
        <p:spPr>
          <a:xfrm>
            <a:off x="334670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80" name="Text 78"/>
          <p:cNvSpPr txBox="1"/>
          <p:nvPr/>
        </p:nvSpPr>
        <p:spPr>
          <a:xfrm>
            <a:off x="41330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81" name="Text 79"/>
          <p:cNvSpPr txBox="1"/>
          <p:nvPr/>
        </p:nvSpPr>
        <p:spPr>
          <a:xfrm>
            <a:off x="500176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83" name="Shape 81"/>
          <p:cNvSpPr/>
          <p:nvPr/>
        </p:nvSpPr>
        <p:spPr>
          <a:xfrm>
            <a:off x="2670048" y="5235720"/>
            <a:ext cx="175448" cy="136676"/>
          </a:xfrm>
          <a:prstGeom prst="rect">
            <a:avLst/>
          </a:prstGeom>
          <a:solidFill>
            <a:srgbClr val="C2352F"/>
          </a:solidFill>
          <a:ln/>
        </p:spPr>
      </p:sp>
      <p:sp>
        <p:nvSpPr>
          <p:cNvPr id="84" name="Text 82"/>
          <p:cNvSpPr txBox="1"/>
          <p:nvPr/>
        </p:nvSpPr>
        <p:spPr>
          <a:xfrm>
            <a:off x="334670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85" name="Text 83"/>
          <p:cNvSpPr txBox="1"/>
          <p:nvPr/>
        </p:nvSpPr>
        <p:spPr>
          <a:xfrm>
            <a:off x="41330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86" name="Text 84"/>
          <p:cNvSpPr txBox="1"/>
          <p:nvPr/>
        </p:nvSpPr>
        <p:spPr>
          <a:xfrm>
            <a:off x="500176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88" name="Shape 86"/>
          <p:cNvSpPr/>
          <p:nvPr/>
        </p:nvSpPr>
        <p:spPr>
          <a:xfrm>
            <a:off x="2670048" y="5484222"/>
            <a:ext cx="161118" cy="136676"/>
          </a:xfrm>
          <a:prstGeom prst="rect">
            <a:avLst/>
          </a:prstGeom>
          <a:solidFill>
            <a:srgbClr val="C2352F"/>
          </a:solidFill>
          <a:ln/>
        </p:spPr>
      </p:sp>
      <p:sp>
        <p:nvSpPr>
          <p:cNvPr id="89" name="Text 87"/>
          <p:cNvSpPr txBox="1"/>
          <p:nvPr/>
        </p:nvSpPr>
        <p:spPr>
          <a:xfrm>
            <a:off x="334670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90" name="Text 88"/>
          <p:cNvSpPr txBox="1"/>
          <p:nvPr/>
        </p:nvSpPr>
        <p:spPr>
          <a:xfrm>
            <a:off x="41330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91" name="Text 89"/>
          <p:cNvSpPr txBox="1"/>
          <p:nvPr/>
        </p:nvSpPr>
        <p:spPr>
          <a:xfrm>
            <a:off x="500176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93" name="Shape 91"/>
          <p:cNvSpPr/>
          <p:nvPr/>
        </p:nvSpPr>
        <p:spPr>
          <a:xfrm>
            <a:off x="2670048" y="5732723"/>
            <a:ext cx="155810" cy="136676"/>
          </a:xfrm>
          <a:prstGeom prst="rect">
            <a:avLst/>
          </a:prstGeom>
          <a:solidFill>
            <a:srgbClr val="C2352F"/>
          </a:solidFill>
          <a:ln/>
        </p:spPr>
      </p:sp>
      <p:sp>
        <p:nvSpPr>
          <p:cNvPr id="94" name="Text 92"/>
          <p:cNvSpPr txBox="1"/>
          <p:nvPr/>
        </p:nvSpPr>
        <p:spPr>
          <a:xfrm>
            <a:off x="334670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95" name="Text 93"/>
          <p:cNvSpPr txBox="1"/>
          <p:nvPr/>
        </p:nvSpPr>
        <p:spPr>
          <a:xfrm>
            <a:off x="41330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00176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220456" y="1756697"/>
            <a:ext cx="155313" cy="136676"/>
          </a:xfrm>
          <a:prstGeom prst="rect">
            <a:avLst/>
          </a:prstGeom>
          <a:solidFill>
            <a:srgbClr val="C2352F"/>
          </a:solidFill>
          <a:ln/>
        </p:spPr>
      </p:sp>
      <p:sp>
        <p:nvSpPr>
          <p:cNvPr id="99" name="Text 97"/>
          <p:cNvSpPr txBox="1"/>
          <p:nvPr/>
        </p:nvSpPr>
        <p:spPr>
          <a:xfrm>
            <a:off x="889711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00" name="Text 98"/>
          <p:cNvSpPr txBox="1"/>
          <p:nvPr/>
        </p:nvSpPr>
        <p:spPr>
          <a:xfrm>
            <a:off x="96834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01" name="Text 99"/>
          <p:cNvSpPr txBox="1"/>
          <p:nvPr/>
        </p:nvSpPr>
        <p:spPr>
          <a:xfrm>
            <a:off x="1055217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3" name="Shape 101"/>
          <p:cNvSpPr/>
          <p:nvPr/>
        </p:nvSpPr>
        <p:spPr>
          <a:xfrm>
            <a:off x="8220456" y="2005199"/>
            <a:ext cx="154055" cy="136676"/>
          </a:xfrm>
          <a:prstGeom prst="rect">
            <a:avLst/>
          </a:prstGeom>
          <a:solidFill>
            <a:srgbClr val="C2352F"/>
          </a:solidFill>
          <a:ln/>
        </p:spPr>
      </p:sp>
      <p:sp>
        <p:nvSpPr>
          <p:cNvPr id="104" name="Text 102"/>
          <p:cNvSpPr txBox="1"/>
          <p:nvPr/>
        </p:nvSpPr>
        <p:spPr>
          <a:xfrm>
            <a:off x="889711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05" name="Text 103"/>
          <p:cNvSpPr txBox="1"/>
          <p:nvPr/>
        </p:nvSpPr>
        <p:spPr>
          <a:xfrm>
            <a:off x="96834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06" name="Text 104"/>
          <p:cNvSpPr txBox="1"/>
          <p:nvPr/>
        </p:nvSpPr>
        <p:spPr>
          <a:xfrm>
            <a:off x="1055217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8" name="Shape 106"/>
          <p:cNvSpPr/>
          <p:nvPr/>
        </p:nvSpPr>
        <p:spPr>
          <a:xfrm>
            <a:off x="8220456" y="2253700"/>
            <a:ext cx="148215" cy="136676"/>
          </a:xfrm>
          <a:prstGeom prst="rect">
            <a:avLst/>
          </a:prstGeom>
          <a:solidFill>
            <a:srgbClr val="C2352F"/>
          </a:solidFill>
          <a:ln/>
        </p:spPr>
      </p:sp>
      <p:sp>
        <p:nvSpPr>
          <p:cNvPr id="109" name="Text 107"/>
          <p:cNvSpPr txBox="1"/>
          <p:nvPr/>
        </p:nvSpPr>
        <p:spPr>
          <a:xfrm>
            <a:off x="889711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10" name="Text 108"/>
          <p:cNvSpPr txBox="1"/>
          <p:nvPr/>
        </p:nvSpPr>
        <p:spPr>
          <a:xfrm>
            <a:off x="96834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11" name="Text 109"/>
          <p:cNvSpPr txBox="1"/>
          <p:nvPr/>
        </p:nvSpPr>
        <p:spPr>
          <a:xfrm>
            <a:off x="1055217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113006" cy="136676"/>
          </a:xfrm>
          <a:prstGeom prst="rect">
            <a:avLst/>
          </a:prstGeom>
          <a:solidFill>
            <a:srgbClr val="C2352F"/>
          </a:solidFill>
          <a:ln/>
        </p:spPr>
      </p:sp>
      <p:sp>
        <p:nvSpPr>
          <p:cNvPr id="114" name="Text 112"/>
          <p:cNvSpPr txBox="1"/>
          <p:nvPr/>
        </p:nvSpPr>
        <p:spPr>
          <a:xfrm>
            <a:off x="889711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15" name="Text 113"/>
          <p:cNvSpPr txBox="1"/>
          <p:nvPr/>
        </p:nvSpPr>
        <p:spPr>
          <a:xfrm>
            <a:off x="96834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16" name="Text 114"/>
          <p:cNvSpPr txBox="1"/>
          <p:nvPr/>
        </p:nvSpPr>
        <p:spPr>
          <a:xfrm>
            <a:off x="1055217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8" name="Shape 116"/>
          <p:cNvSpPr/>
          <p:nvPr/>
        </p:nvSpPr>
        <p:spPr>
          <a:xfrm>
            <a:off x="8220456" y="2750703"/>
            <a:ext cx="100935" cy="136676"/>
          </a:xfrm>
          <a:prstGeom prst="rect">
            <a:avLst/>
          </a:prstGeom>
          <a:solidFill>
            <a:srgbClr val="C2352F"/>
          </a:solidFill>
          <a:ln/>
        </p:spPr>
      </p:sp>
      <p:sp>
        <p:nvSpPr>
          <p:cNvPr id="119" name="Text 117"/>
          <p:cNvSpPr txBox="1"/>
          <p:nvPr/>
        </p:nvSpPr>
        <p:spPr>
          <a:xfrm>
            <a:off x="889711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20" name="Text 118"/>
          <p:cNvSpPr txBox="1"/>
          <p:nvPr/>
        </p:nvSpPr>
        <p:spPr>
          <a:xfrm>
            <a:off x="96834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21" name="Text 119"/>
          <p:cNvSpPr txBox="1"/>
          <p:nvPr/>
        </p:nvSpPr>
        <p:spPr>
          <a:xfrm>
            <a:off x="1055217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3" name="Shape 121"/>
          <p:cNvSpPr/>
          <p:nvPr/>
        </p:nvSpPr>
        <p:spPr>
          <a:xfrm>
            <a:off x="8220456" y="2999205"/>
            <a:ext cx="93000" cy="136676"/>
          </a:xfrm>
          <a:prstGeom prst="rect">
            <a:avLst/>
          </a:prstGeom>
          <a:solidFill>
            <a:srgbClr val="C2352F"/>
          </a:solidFill>
          <a:ln/>
        </p:spPr>
      </p:sp>
      <p:sp>
        <p:nvSpPr>
          <p:cNvPr id="124" name="Text 122"/>
          <p:cNvSpPr txBox="1"/>
          <p:nvPr/>
        </p:nvSpPr>
        <p:spPr>
          <a:xfrm>
            <a:off x="889711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25" name="Text 123"/>
          <p:cNvSpPr txBox="1"/>
          <p:nvPr/>
        </p:nvSpPr>
        <p:spPr>
          <a:xfrm>
            <a:off x="96834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55217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8" name="Shape 126"/>
          <p:cNvSpPr/>
          <p:nvPr/>
        </p:nvSpPr>
        <p:spPr>
          <a:xfrm>
            <a:off x="8220456" y="3247707"/>
            <a:ext cx="81778" cy="136676"/>
          </a:xfrm>
          <a:prstGeom prst="rect">
            <a:avLst/>
          </a:prstGeom>
          <a:solidFill>
            <a:srgbClr val="C2352F"/>
          </a:solidFill>
          <a:ln/>
        </p:spPr>
      </p:sp>
      <p:sp>
        <p:nvSpPr>
          <p:cNvPr id="129" name="Text 127"/>
          <p:cNvSpPr txBox="1"/>
          <p:nvPr/>
        </p:nvSpPr>
        <p:spPr>
          <a:xfrm>
            <a:off x="889711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30" name="Text 128"/>
          <p:cNvSpPr txBox="1"/>
          <p:nvPr/>
        </p:nvSpPr>
        <p:spPr>
          <a:xfrm>
            <a:off x="96834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31" name="Text 129"/>
          <p:cNvSpPr txBox="1"/>
          <p:nvPr/>
        </p:nvSpPr>
        <p:spPr>
          <a:xfrm>
            <a:off x="1055217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3" name="Shape 131"/>
          <p:cNvSpPr/>
          <p:nvPr/>
        </p:nvSpPr>
        <p:spPr>
          <a:xfrm>
            <a:off x="8220456" y="3496208"/>
            <a:ext cx="79315" cy="136676"/>
          </a:xfrm>
          <a:prstGeom prst="rect">
            <a:avLst/>
          </a:prstGeom>
          <a:solidFill>
            <a:srgbClr val="C2352F"/>
          </a:solidFill>
          <a:ln/>
        </p:spPr>
      </p:sp>
      <p:sp>
        <p:nvSpPr>
          <p:cNvPr id="134" name="Text 132"/>
          <p:cNvSpPr txBox="1"/>
          <p:nvPr/>
        </p:nvSpPr>
        <p:spPr>
          <a:xfrm>
            <a:off x="889711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35" name="Text 133"/>
          <p:cNvSpPr txBox="1"/>
          <p:nvPr/>
        </p:nvSpPr>
        <p:spPr>
          <a:xfrm>
            <a:off x="96834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1055217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38" name="Shape 136"/>
          <p:cNvSpPr/>
          <p:nvPr/>
        </p:nvSpPr>
        <p:spPr>
          <a:xfrm>
            <a:off x="8220456" y="3744710"/>
            <a:ext cx="77721" cy="136676"/>
          </a:xfrm>
          <a:prstGeom prst="rect">
            <a:avLst/>
          </a:prstGeom>
          <a:solidFill>
            <a:srgbClr val="C2352F"/>
          </a:solidFill>
          <a:ln/>
        </p:spPr>
      </p:sp>
      <p:sp>
        <p:nvSpPr>
          <p:cNvPr id="139" name="Text 137"/>
          <p:cNvSpPr txBox="1"/>
          <p:nvPr/>
        </p:nvSpPr>
        <p:spPr>
          <a:xfrm>
            <a:off x="889711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40" name="Text 138"/>
          <p:cNvSpPr txBox="1"/>
          <p:nvPr/>
        </p:nvSpPr>
        <p:spPr>
          <a:xfrm>
            <a:off x="96834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41" name="Text 139"/>
          <p:cNvSpPr txBox="1"/>
          <p:nvPr/>
        </p:nvSpPr>
        <p:spPr>
          <a:xfrm>
            <a:off x="1055217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43" name="Shape 141"/>
          <p:cNvSpPr/>
          <p:nvPr/>
        </p:nvSpPr>
        <p:spPr>
          <a:xfrm>
            <a:off x="8220456" y="3993212"/>
            <a:ext cx="56042" cy="136676"/>
          </a:xfrm>
          <a:prstGeom prst="rect">
            <a:avLst/>
          </a:prstGeom>
          <a:solidFill>
            <a:srgbClr val="C2352F"/>
          </a:solidFill>
          <a:ln/>
        </p:spPr>
      </p:sp>
      <p:sp>
        <p:nvSpPr>
          <p:cNvPr id="144" name="Text 142"/>
          <p:cNvSpPr txBox="1"/>
          <p:nvPr/>
        </p:nvSpPr>
        <p:spPr>
          <a:xfrm>
            <a:off x="889711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45" name="Text 143"/>
          <p:cNvSpPr txBox="1"/>
          <p:nvPr/>
        </p:nvSpPr>
        <p:spPr>
          <a:xfrm>
            <a:off x="96834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46" name="Text 144"/>
          <p:cNvSpPr txBox="1"/>
          <p:nvPr/>
        </p:nvSpPr>
        <p:spPr>
          <a:xfrm>
            <a:off x="1055217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220456" y="4241713"/>
            <a:ext cx="51888" cy="136676"/>
          </a:xfrm>
          <a:prstGeom prst="rect">
            <a:avLst/>
          </a:prstGeom>
          <a:solidFill>
            <a:srgbClr val="C2352F"/>
          </a:solidFill>
          <a:ln/>
        </p:spPr>
      </p:sp>
      <p:sp>
        <p:nvSpPr>
          <p:cNvPr id="149" name="Text 147"/>
          <p:cNvSpPr txBox="1"/>
          <p:nvPr/>
        </p:nvSpPr>
        <p:spPr>
          <a:xfrm>
            <a:off x="889711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50" name="Text 148"/>
          <p:cNvSpPr txBox="1"/>
          <p:nvPr/>
        </p:nvSpPr>
        <p:spPr>
          <a:xfrm>
            <a:off x="96834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51" name="Text 149"/>
          <p:cNvSpPr txBox="1"/>
          <p:nvPr/>
        </p:nvSpPr>
        <p:spPr>
          <a:xfrm>
            <a:off x="1055217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3" name="Shape 151"/>
          <p:cNvSpPr/>
          <p:nvPr/>
        </p:nvSpPr>
        <p:spPr>
          <a:xfrm>
            <a:off x="8220456" y="4490215"/>
            <a:ext cx="37656" cy="136676"/>
          </a:xfrm>
          <a:prstGeom prst="rect">
            <a:avLst/>
          </a:prstGeom>
          <a:solidFill>
            <a:srgbClr val="C2352F"/>
          </a:solidFill>
          <a:ln/>
        </p:spPr>
      </p:sp>
      <p:sp>
        <p:nvSpPr>
          <p:cNvPr id="154" name="Text 152"/>
          <p:cNvSpPr txBox="1"/>
          <p:nvPr/>
        </p:nvSpPr>
        <p:spPr>
          <a:xfrm>
            <a:off x="889711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55" name="Text 153"/>
          <p:cNvSpPr txBox="1"/>
          <p:nvPr/>
        </p:nvSpPr>
        <p:spPr>
          <a:xfrm>
            <a:off x="96834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56" name="Text 154"/>
          <p:cNvSpPr txBox="1"/>
          <p:nvPr/>
        </p:nvSpPr>
        <p:spPr>
          <a:xfrm>
            <a:off x="1055217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58" name="Shape 156"/>
          <p:cNvSpPr/>
          <p:nvPr/>
        </p:nvSpPr>
        <p:spPr>
          <a:xfrm>
            <a:off x="8220456" y="4738717"/>
            <a:ext cx="36383" cy="136676"/>
          </a:xfrm>
          <a:prstGeom prst="rect">
            <a:avLst/>
          </a:prstGeom>
          <a:solidFill>
            <a:srgbClr val="C2352F"/>
          </a:solidFill>
          <a:ln/>
        </p:spPr>
      </p:sp>
      <p:sp>
        <p:nvSpPr>
          <p:cNvPr id="159" name="Text 157"/>
          <p:cNvSpPr txBox="1"/>
          <p:nvPr/>
        </p:nvSpPr>
        <p:spPr>
          <a:xfrm>
            <a:off x="889711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60" name="Text 158"/>
          <p:cNvSpPr txBox="1"/>
          <p:nvPr/>
        </p:nvSpPr>
        <p:spPr>
          <a:xfrm>
            <a:off x="96834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61" name="Text 159"/>
          <p:cNvSpPr txBox="1"/>
          <p:nvPr/>
        </p:nvSpPr>
        <p:spPr>
          <a:xfrm>
            <a:off x="1055217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63" name="Shape 161"/>
          <p:cNvSpPr/>
          <p:nvPr/>
        </p:nvSpPr>
        <p:spPr>
          <a:xfrm>
            <a:off x="8220456" y="4987218"/>
            <a:ext cx="26547" cy="136676"/>
          </a:xfrm>
          <a:prstGeom prst="rect">
            <a:avLst/>
          </a:prstGeom>
          <a:solidFill>
            <a:srgbClr val="C2352F"/>
          </a:solidFill>
          <a:ln/>
        </p:spPr>
      </p:sp>
      <p:sp>
        <p:nvSpPr>
          <p:cNvPr id="164" name="Text 162"/>
          <p:cNvSpPr txBox="1"/>
          <p:nvPr/>
        </p:nvSpPr>
        <p:spPr>
          <a:xfrm>
            <a:off x="889711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65" name="Text 163"/>
          <p:cNvSpPr txBox="1"/>
          <p:nvPr/>
        </p:nvSpPr>
        <p:spPr>
          <a:xfrm>
            <a:off x="96834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66" name="Text 164"/>
          <p:cNvSpPr txBox="1"/>
          <p:nvPr/>
        </p:nvSpPr>
        <p:spPr>
          <a:xfrm>
            <a:off x="1055217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68" name="Shape 166"/>
          <p:cNvSpPr/>
          <p:nvPr/>
        </p:nvSpPr>
        <p:spPr>
          <a:xfrm>
            <a:off x="8220456" y="5235720"/>
            <a:ext cx="18288" cy="136676"/>
          </a:xfrm>
          <a:prstGeom prst="rect">
            <a:avLst/>
          </a:prstGeom>
          <a:solidFill>
            <a:srgbClr val="C2352F"/>
          </a:solidFill>
          <a:ln/>
        </p:spPr>
      </p:sp>
      <p:sp>
        <p:nvSpPr>
          <p:cNvPr id="169" name="Text 167"/>
          <p:cNvSpPr txBox="1"/>
          <p:nvPr/>
        </p:nvSpPr>
        <p:spPr>
          <a:xfrm>
            <a:off x="889711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170" name="Text 168"/>
          <p:cNvSpPr txBox="1"/>
          <p:nvPr/>
        </p:nvSpPr>
        <p:spPr>
          <a:xfrm>
            <a:off x="96834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71" name="Text 169"/>
          <p:cNvSpPr txBox="1"/>
          <p:nvPr/>
        </p:nvSpPr>
        <p:spPr>
          <a:xfrm>
            <a:off x="1055217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73" name="Shape 171"/>
          <p:cNvSpPr/>
          <p:nvPr/>
        </p:nvSpPr>
        <p:spPr>
          <a:xfrm>
            <a:off x="8220456" y="5484222"/>
            <a:ext cx="18288" cy="136676"/>
          </a:xfrm>
          <a:prstGeom prst="rect">
            <a:avLst/>
          </a:prstGeom>
          <a:solidFill>
            <a:srgbClr val="C2352F"/>
          </a:solidFill>
          <a:ln/>
        </p:spPr>
      </p:sp>
      <p:sp>
        <p:nvSpPr>
          <p:cNvPr id="174" name="Text 172"/>
          <p:cNvSpPr txBox="1"/>
          <p:nvPr/>
        </p:nvSpPr>
        <p:spPr>
          <a:xfrm>
            <a:off x="889711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175" name="Text 173"/>
          <p:cNvSpPr txBox="1"/>
          <p:nvPr/>
        </p:nvSpPr>
        <p:spPr>
          <a:xfrm>
            <a:off x="96834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176" name="Text 174"/>
          <p:cNvSpPr txBox="1"/>
          <p:nvPr/>
        </p:nvSpPr>
        <p:spPr>
          <a:xfrm>
            <a:off x="1055217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177" name="Shape 175"/>
          <p:cNvSpPr/>
          <p:nvPr/>
        </p:nvSpPr>
        <p:spPr>
          <a:xfrm>
            <a:off x="457200" y="6126480"/>
            <a:ext cx="11274552" cy="615696"/>
          </a:xfrm>
          <a:prstGeom prst="rect">
            <a:avLst/>
          </a:prstGeom>
          <a:solidFill>
            <a:srgbClr val="FBEBE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2" name="Shape 80"/>
          <p:cNvSpPr/>
          <p:nvPr/>
        </p:nvSpPr>
        <p:spPr>
          <a:xfrm>
            <a:off x="457200" y="6126480"/>
            <a:ext cx="11274552" cy="615696"/>
          </a:xfrm>
          <a:prstGeom prst="rect">
            <a:avLst/>
          </a:prstGeom>
          <a:solidFill>
            <a:srgbClr val="EDF4FA"/>
          </a:solidFill>
          <a:ln/>
        </p:spPr>
      </p:sp>
      <p:sp>
        <p:nvSpPr>
          <p:cNvPr id="83" name="Text 8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 At Honda Flagstaff, Kia LV, Volvo the work is there.</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76732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5371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1773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0412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3" name="Shape 11"/>
          <p:cNvSpPr/>
          <p:nvPr/>
        </p:nvSpPr>
        <p:spPr>
          <a:xfrm>
            <a:off x="2670048" y="1756697"/>
            <a:ext cx="1042416" cy="136676"/>
          </a:xfrm>
          <a:prstGeom prst="rect">
            <a:avLst/>
          </a:prstGeom>
          <a:solidFill>
            <a:srgbClr val="2587C5"/>
          </a:solidFill>
          <a:ln/>
        </p:spPr>
      </p:sp>
      <p:sp>
        <p:nvSpPr>
          <p:cNvPr id="14" name="Text 12"/>
          <p:cNvSpPr txBox="1"/>
          <p:nvPr/>
        </p:nvSpPr>
        <p:spPr>
          <a:xfrm>
            <a:off x="376732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5" name="Text 13"/>
          <p:cNvSpPr txBox="1"/>
          <p:nvPr/>
        </p:nvSpPr>
        <p:spPr>
          <a:xfrm>
            <a:off x="455371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6" name="Text 14"/>
          <p:cNvSpPr txBox="1"/>
          <p:nvPr/>
        </p:nvSpPr>
        <p:spPr>
          <a:xfrm>
            <a:off x="512064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 name="Text 15"/>
          <p:cNvSpPr txBox="1"/>
          <p:nvPr/>
        </p:nvSpPr>
        <p:spPr>
          <a:xfrm>
            <a:off x="658368"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2670048" y="2005199"/>
            <a:ext cx="813746" cy="136676"/>
          </a:xfrm>
          <a:prstGeom prst="rect">
            <a:avLst/>
          </a:prstGeom>
          <a:solidFill>
            <a:srgbClr val="2587C5"/>
          </a:solidFill>
          <a:ln/>
        </p:spPr>
      </p:sp>
      <p:sp>
        <p:nvSpPr>
          <p:cNvPr id="19" name="Text 17"/>
          <p:cNvSpPr txBox="1"/>
          <p:nvPr/>
        </p:nvSpPr>
        <p:spPr>
          <a:xfrm>
            <a:off x="376732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0" name="Text 18"/>
          <p:cNvSpPr txBox="1"/>
          <p:nvPr/>
        </p:nvSpPr>
        <p:spPr>
          <a:xfrm>
            <a:off x="455371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1" name="Text 19"/>
          <p:cNvSpPr txBox="1"/>
          <p:nvPr/>
        </p:nvSpPr>
        <p:spPr>
          <a:xfrm>
            <a:off x="512064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2" name="Text 20"/>
          <p:cNvSpPr txBox="1"/>
          <p:nvPr/>
        </p:nvSpPr>
        <p:spPr>
          <a:xfrm>
            <a:off x="658368"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3" name="Shape 21"/>
          <p:cNvSpPr/>
          <p:nvPr/>
        </p:nvSpPr>
        <p:spPr>
          <a:xfrm>
            <a:off x="2670048" y="2253700"/>
            <a:ext cx="683623" cy="136676"/>
          </a:xfrm>
          <a:prstGeom prst="rect">
            <a:avLst/>
          </a:prstGeom>
          <a:solidFill>
            <a:srgbClr val="2587C5"/>
          </a:solidFill>
          <a:ln/>
        </p:spPr>
      </p:sp>
      <p:sp>
        <p:nvSpPr>
          <p:cNvPr id="24" name="Text 22"/>
          <p:cNvSpPr txBox="1"/>
          <p:nvPr/>
        </p:nvSpPr>
        <p:spPr>
          <a:xfrm>
            <a:off x="376732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5" name="Text 23"/>
          <p:cNvSpPr txBox="1"/>
          <p:nvPr/>
        </p:nvSpPr>
        <p:spPr>
          <a:xfrm>
            <a:off x="455371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6" name="Text 24"/>
          <p:cNvSpPr txBox="1"/>
          <p:nvPr/>
        </p:nvSpPr>
        <p:spPr>
          <a:xfrm>
            <a:off x="512064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7" name="Text 25"/>
          <p:cNvSpPr txBox="1"/>
          <p:nvPr/>
        </p:nvSpPr>
        <p:spPr>
          <a:xfrm>
            <a:off x="658368"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8" name="Shape 26"/>
          <p:cNvSpPr/>
          <p:nvPr/>
        </p:nvSpPr>
        <p:spPr>
          <a:xfrm>
            <a:off x="2670048" y="2502202"/>
            <a:ext cx="656778" cy="136676"/>
          </a:xfrm>
          <a:prstGeom prst="rect">
            <a:avLst/>
          </a:prstGeom>
          <a:solidFill>
            <a:srgbClr val="2587C5"/>
          </a:solidFill>
          <a:ln/>
        </p:spPr>
      </p:sp>
      <p:sp>
        <p:nvSpPr>
          <p:cNvPr id="29" name="Text 27"/>
          <p:cNvSpPr txBox="1"/>
          <p:nvPr/>
        </p:nvSpPr>
        <p:spPr>
          <a:xfrm>
            <a:off x="376732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0" name="Text 28"/>
          <p:cNvSpPr txBox="1"/>
          <p:nvPr/>
        </p:nvSpPr>
        <p:spPr>
          <a:xfrm>
            <a:off x="455371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1" name="Text 29"/>
          <p:cNvSpPr txBox="1"/>
          <p:nvPr/>
        </p:nvSpPr>
        <p:spPr>
          <a:xfrm>
            <a:off x="512064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2" name="Text 30"/>
          <p:cNvSpPr txBox="1"/>
          <p:nvPr/>
        </p:nvSpPr>
        <p:spPr>
          <a:xfrm>
            <a:off x="658368"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2670048" y="2750703"/>
            <a:ext cx="600457" cy="136676"/>
          </a:xfrm>
          <a:prstGeom prst="rect">
            <a:avLst/>
          </a:prstGeom>
          <a:solidFill>
            <a:srgbClr val="2587C5"/>
          </a:solidFill>
          <a:ln/>
        </p:spPr>
      </p:sp>
      <p:sp>
        <p:nvSpPr>
          <p:cNvPr id="34" name="Text 32"/>
          <p:cNvSpPr txBox="1"/>
          <p:nvPr/>
        </p:nvSpPr>
        <p:spPr>
          <a:xfrm>
            <a:off x="376732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35" name="Text 33"/>
          <p:cNvSpPr txBox="1"/>
          <p:nvPr/>
        </p:nvSpPr>
        <p:spPr>
          <a:xfrm>
            <a:off x="455371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36" name="Text 34"/>
          <p:cNvSpPr txBox="1"/>
          <p:nvPr/>
        </p:nvSpPr>
        <p:spPr>
          <a:xfrm>
            <a:off x="512064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37" name="Text 35"/>
          <p:cNvSpPr txBox="1"/>
          <p:nvPr/>
        </p:nvSpPr>
        <p:spPr>
          <a:xfrm>
            <a:off x="658368"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38" name="Shape 36"/>
          <p:cNvSpPr/>
          <p:nvPr/>
        </p:nvSpPr>
        <p:spPr>
          <a:xfrm>
            <a:off x="2670048" y="2999205"/>
            <a:ext cx="548891" cy="136676"/>
          </a:xfrm>
          <a:prstGeom prst="rect">
            <a:avLst/>
          </a:prstGeom>
          <a:solidFill>
            <a:srgbClr val="2587C5"/>
          </a:solidFill>
          <a:ln/>
        </p:spPr>
      </p:sp>
      <p:sp>
        <p:nvSpPr>
          <p:cNvPr id="39" name="Text 37"/>
          <p:cNvSpPr txBox="1"/>
          <p:nvPr/>
        </p:nvSpPr>
        <p:spPr>
          <a:xfrm>
            <a:off x="376732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0" name="Text 38"/>
          <p:cNvSpPr txBox="1"/>
          <p:nvPr/>
        </p:nvSpPr>
        <p:spPr>
          <a:xfrm>
            <a:off x="455371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1" name="Text 39"/>
          <p:cNvSpPr txBox="1"/>
          <p:nvPr/>
        </p:nvSpPr>
        <p:spPr>
          <a:xfrm>
            <a:off x="512064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2" name="Text 40"/>
          <p:cNvSpPr txBox="1"/>
          <p:nvPr/>
        </p:nvSpPr>
        <p:spPr>
          <a:xfrm>
            <a:off x="658368"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3" name="Shape 41"/>
          <p:cNvSpPr/>
          <p:nvPr/>
        </p:nvSpPr>
        <p:spPr>
          <a:xfrm>
            <a:off x="2670048" y="3247707"/>
            <a:ext cx="393176" cy="136676"/>
          </a:xfrm>
          <a:prstGeom prst="rect">
            <a:avLst/>
          </a:prstGeom>
          <a:solidFill>
            <a:srgbClr val="2587C5"/>
          </a:solidFill>
          <a:ln/>
        </p:spPr>
      </p:sp>
      <p:sp>
        <p:nvSpPr>
          <p:cNvPr id="44" name="Text 42"/>
          <p:cNvSpPr txBox="1"/>
          <p:nvPr/>
        </p:nvSpPr>
        <p:spPr>
          <a:xfrm>
            <a:off x="376732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45" name="Text 43"/>
          <p:cNvSpPr txBox="1"/>
          <p:nvPr/>
        </p:nvSpPr>
        <p:spPr>
          <a:xfrm>
            <a:off x="455371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46" name="Text 44"/>
          <p:cNvSpPr txBox="1"/>
          <p:nvPr/>
        </p:nvSpPr>
        <p:spPr>
          <a:xfrm>
            <a:off x="512064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47" name="Text 45"/>
          <p:cNvSpPr txBox="1"/>
          <p:nvPr/>
        </p:nvSpPr>
        <p:spPr>
          <a:xfrm>
            <a:off x="658368"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2670048" y="3496208"/>
            <a:ext cx="391366" cy="136676"/>
          </a:xfrm>
          <a:prstGeom prst="rect">
            <a:avLst/>
          </a:prstGeom>
          <a:solidFill>
            <a:srgbClr val="2587C5"/>
          </a:solidFill>
          <a:ln/>
        </p:spPr>
      </p:sp>
      <p:sp>
        <p:nvSpPr>
          <p:cNvPr id="49" name="Text 47"/>
          <p:cNvSpPr txBox="1"/>
          <p:nvPr/>
        </p:nvSpPr>
        <p:spPr>
          <a:xfrm>
            <a:off x="376732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0" name="Text 48"/>
          <p:cNvSpPr txBox="1"/>
          <p:nvPr/>
        </p:nvSpPr>
        <p:spPr>
          <a:xfrm>
            <a:off x="455371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1" name="Text 49"/>
          <p:cNvSpPr txBox="1"/>
          <p:nvPr/>
        </p:nvSpPr>
        <p:spPr>
          <a:xfrm>
            <a:off x="512064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52" name="Text 50"/>
          <p:cNvSpPr txBox="1"/>
          <p:nvPr/>
        </p:nvSpPr>
        <p:spPr>
          <a:xfrm>
            <a:off x="658368"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3" name="Shape 51"/>
          <p:cNvSpPr/>
          <p:nvPr/>
        </p:nvSpPr>
        <p:spPr>
          <a:xfrm>
            <a:off x="2670048" y="3744710"/>
            <a:ext cx="367379" cy="136676"/>
          </a:xfrm>
          <a:prstGeom prst="rect">
            <a:avLst/>
          </a:prstGeom>
          <a:solidFill>
            <a:srgbClr val="2587C5"/>
          </a:solidFill>
          <a:ln/>
        </p:spPr>
      </p:sp>
      <p:sp>
        <p:nvSpPr>
          <p:cNvPr id="54" name="Text 52"/>
          <p:cNvSpPr txBox="1"/>
          <p:nvPr/>
        </p:nvSpPr>
        <p:spPr>
          <a:xfrm>
            <a:off x="376732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55" name="Text 53"/>
          <p:cNvSpPr txBox="1"/>
          <p:nvPr/>
        </p:nvSpPr>
        <p:spPr>
          <a:xfrm>
            <a:off x="455371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6" name="Text 54"/>
          <p:cNvSpPr txBox="1"/>
          <p:nvPr/>
        </p:nvSpPr>
        <p:spPr>
          <a:xfrm>
            <a:off x="512064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57" name="Text 55"/>
          <p:cNvSpPr txBox="1"/>
          <p:nvPr/>
        </p:nvSpPr>
        <p:spPr>
          <a:xfrm>
            <a:off x="658368"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8" name="Shape 56"/>
          <p:cNvSpPr/>
          <p:nvPr/>
        </p:nvSpPr>
        <p:spPr>
          <a:xfrm>
            <a:off x="2670048" y="3993212"/>
            <a:ext cx="355248" cy="136676"/>
          </a:xfrm>
          <a:prstGeom prst="rect">
            <a:avLst/>
          </a:prstGeom>
          <a:solidFill>
            <a:srgbClr val="2587C5"/>
          </a:solidFill>
          <a:ln/>
        </p:spPr>
      </p:sp>
      <p:sp>
        <p:nvSpPr>
          <p:cNvPr id="59" name="Text 57"/>
          <p:cNvSpPr txBox="1"/>
          <p:nvPr/>
        </p:nvSpPr>
        <p:spPr>
          <a:xfrm>
            <a:off x="376732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60" name="Text 58"/>
          <p:cNvSpPr txBox="1"/>
          <p:nvPr/>
        </p:nvSpPr>
        <p:spPr>
          <a:xfrm>
            <a:off x="455371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1" name="Text 59"/>
          <p:cNvSpPr txBox="1"/>
          <p:nvPr/>
        </p:nvSpPr>
        <p:spPr>
          <a:xfrm>
            <a:off x="512064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62" name="Text 60"/>
          <p:cNvSpPr txBox="1"/>
          <p:nvPr/>
        </p:nvSpPr>
        <p:spPr>
          <a:xfrm>
            <a:off x="658368"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3" name="Shape 61"/>
          <p:cNvSpPr/>
          <p:nvPr/>
        </p:nvSpPr>
        <p:spPr>
          <a:xfrm>
            <a:off x="2670048" y="4241713"/>
            <a:ext cx="338665" cy="136676"/>
          </a:xfrm>
          <a:prstGeom prst="rect">
            <a:avLst/>
          </a:prstGeom>
          <a:solidFill>
            <a:srgbClr val="2587C5"/>
          </a:solidFill>
          <a:ln/>
        </p:spPr>
      </p:sp>
      <p:sp>
        <p:nvSpPr>
          <p:cNvPr id="64" name="Text 62"/>
          <p:cNvSpPr txBox="1"/>
          <p:nvPr/>
        </p:nvSpPr>
        <p:spPr>
          <a:xfrm>
            <a:off x="376732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65" name="Text 63"/>
          <p:cNvSpPr txBox="1"/>
          <p:nvPr/>
        </p:nvSpPr>
        <p:spPr>
          <a:xfrm>
            <a:off x="455371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6" name="Text 64"/>
          <p:cNvSpPr txBox="1"/>
          <p:nvPr/>
        </p:nvSpPr>
        <p:spPr>
          <a:xfrm>
            <a:off x="512064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67" name="Text 65"/>
          <p:cNvSpPr txBox="1"/>
          <p:nvPr/>
        </p:nvSpPr>
        <p:spPr>
          <a:xfrm>
            <a:off x="658368"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8" name="Shape 66"/>
          <p:cNvSpPr/>
          <p:nvPr/>
        </p:nvSpPr>
        <p:spPr>
          <a:xfrm>
            <a:off x="2670048" y="4490215"/>
            <a:ext cx="305679" cy="136676"/>
          </a:xfrm>
          <a:prstGeom prst="rect">
            <a:avLst/>
          </a:prstGeom>
          <a:solidFill>
            <a:srgbClr val="2587C5"/>
          </a:solidFill>
          <a:ln/>
        </p:spPr>
      </p:sp>
      <p:sp>
        <p:nvSpPr>
          <p:cNvPr id="69" name="Text 67"/>
          <p:cNvSpPr txBox="1"/>
          <p:nvPr/>
        </p:nvSpPr>
        <p:spPr>
          <a:xfrm>
            <a:off x="376732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70" name="Text 68"/>
          <p:cNvSpPr txBox="1"/>
          <p:nvPr/>
        </p:nvSpPr>
        <p:spPr>
          <a:xfrm>
            <a:off x="455371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71" name="Text 69"/>
          <p:cNvSpPr txBox="1"/>
          <p:nvPr/>
        </p:nvSpPr>
        <p:spPr>
          <a:xfrm>
            <a:off x="512064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72" name="Text 70"/>
          <p:cNvSpPr txBox="1"/>
          <p:nvPr/>
        </p:nvSpPr>
        <p:spPr>
          <a:xfrm>
            <a:off x="658368"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3" name="Shape 71"/>
          <p:cNvSpPr/>
          <p:nvPr/>
        </p:nvSpPr>
        <p:spPr>
          <a:xfrm>
            <a:off x="2670048" y="4738717"/>
            <a:ext cx="303009" cy="136676"/>
          </a:xfrm>
          <a:prstGeom prst="rect">
            <a:avLst/>
          </a:prstGeom>
          <a:solidFill>
            <a:srgbClr val="2587C5"/>
          </a:solidFill>
          <a:ln/>
        </p:spPr>
      </p:sp>
      <p:sp>
        <p:nvSpPr>
          <p:cNvPr id="74" name="Text 72"/>
          <p:cNvSpPr txBox="1"/>
          <p:nvPr/>
        </p:nvSpPr>
        <p:spPr>
          <a:xfrm>
            <a:off x="376732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75" name="Text 73"/>
          <p:cNvSpPr txBox="1"/>
          <p:nvPr/>
        </p:nvSpPr>
        <p:spPr>
          <a:xfrm>
            <a:off x="455371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6" name="Text 74"/>
          <p:cNvSpPr txBox="1"/>
          <p:nvPr/>
        </p:nvSpPr>
        <p:spPr>
          <a:xfrm>
            <a:off x="512064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77" name="Text 75"/>
          <p:cNvSpPr txBox="1"/>
          <p:nvPr/>
        </p:nvSpPr>
        <p:spPr>
          <a:xfrm>
            <a:off x="658368"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8" name="Shape 76"/>
          <p:cNvSpPr/>
          <p:nvPr/>
        </p:nvSpPr>
        <p:spPr>
          <a:xfrm>
            <a:off x="2670048" y="4987218"/>
            <a:ext cx="297134" cy="136676"/>
          </a:xfrm>
          <a:prstGeom prst="rect">
            <a:avLst/>
          </a:prstGeom>
          <a:solidFill>
            <a:srgbClr val="2587C5"/>
          </a:solidFill>
          <a:ln/>
        </p:spPr>
      </p:sp>
      <p:sp>
        <p:nvSpPr>
          <p:cNvPr id="79" name="Text 77"/>
          <p:cNvSpPr txBox="1"/>
          <p:nvPr/>
        </p:nvSpPr>
        <p:spPr>
          <a:xfrm>
            <a:off x="376732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80" name="Text 78"/>
          <p:cNvSpPr txBox="1"/>
          <p:nvPr/>
        </p:nvSpPr>
        <p:spPr>
          <a:xfrm>
            <a:off x="455371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81" name="Text 79"/>
          <p:cNvSpPr txBox="1"/>
          <p:nvPr/>
        </p:nvSpPr>
        <p:spPr>
          <a:xfrm>
            <a:off x="512064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82" name="Text 80"/>
          <p:cNvSpPr txBox="1"/>
          <p:nvPr/>
        </p:nvSpPr>
        <p:spPr>
          <a:xfrm>
            <a:off x="658368"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3" name="Shape 81"/>
          <p:cNvSpPr/>
          <p:nvPr/>
        </p:nvSpPr>
        <p:spPr>
          <a:xfrm>
            <a:off x="2670048" y="5235720"/>
            <a:ext cx="287796" cy="136676"/>
          </a:xfrm>
          <a:prstGeom prst="rect">
            <a:avLst/>
          </a:prstGeom>
          <a:solidFill>
            <a:srgbClr val="2587C5"/>
          </a:solidFill>
          <a:ln/>
        </p:spPr>
      </p:sp>
      <p:sp>
        <p:nvSpPr>
          <p:cNvPr id="84" name="Text 82"/>
          <p:cNvSpPr txBox="1"/>
          <p:nvPr/>
        </p:nvSpPr>
        <p:spPr>
          <a:xfrm>
            <a:off x="376732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85" name="Text 83"/>
          <p:cNvSpPr txBox="1"/>
          <p:nvPr/>
        </p:nvSpPr>
        <p:spPr>
          <a:xfrm>
            <a:off x="455371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86" name="Text 84"/>
          <p:cNvSpPr txBox="1"/>
          <p:nvPr/>
        </p:nvSpPr>
        <p:spPr>
          <a:xfrm>
            <a:off x="512064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87" name="Text 85"/>
          <p:cNvSpPr txBox="1"/>
          <p:nvPr/>
        </p:nvSpPr>
        <p:spPr>
          <a:xfrm>
            <a:off x="658368"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8" name="Shape 86"/>
          <p:cNvSpPr/>
          <p:nvPr/>
        </p:nvSpPr>
        <p:spPr>
          <a:xfrm>
            <a:off x="2670048" y="5484222"/>
            <a:ext cx="274938" cy="136676"/>
          </a:xfrm>
          <a:prstGeom prst="rect">
            <a:avLst/>
          </a:prstGeom>
          <a:solidFill>
            <a:srgbClr val="2587C5"/>
          </a:solidFill>
          <a:ln/>
        </p:spPr>
      </p:sp>
      <p:sp>
        <p:nvSpPr>
          <p:cNvPr id="89" name="Text 87"/>
          <p:cNvSpPr txBox="1"/>
          <p:nvPr/>
        </p:nvSpPr>
        <p:spPr>
          <a:xfrm>
            <a:off x="376732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90" name="Text 88"/>
          <p:cNvSpPr txBox="1"/>
          <p:nvPr/>
        </p:nvSpPr>
        <p:spPr>
          <a:xfrm>
            <a:off x="455371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91" name="Text 89"/>
          <p:cNvSpPr txBox="1"/>
          <p:nvPr/>
        </p:nvSpPr>
        <p:spPr>
          <a:xfrm>
            <a:off x="512064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92" name="Text 90"/>
          <p:cNvSpPr txBox="1"/>
          <p:nvPr/>
        </p:nvSpPr>
        <p:spPr>
          <a:xfrm>
            <a:off x="658368" y="567681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3" name="Shape 91"/>
          <p:cNvSpPr/>
          <p:nvPr/>
        </p:nvSpPr>
        <p:spPr>
          <a:xfrm>
            <a:off x="2670048" y="5732723"/>
            <a:ext cx="260210" cy="136676"/>
          </a:xfrm>
          <a:prstGeom prst="rect">
            <a:avLst/>
          </a:prstGeom>
          <a:solidFill>
            <a:srgbClr val="2587C5"/>
          </a:solidFill>
          <a:ln/>
        </p:spPr>
      </p:sp>
      <p:sp>
        <p:nvSpPr>
          <p:cNvPr id="94" name="Text 92"/>
          <p:cNvSpPr txBox="1"/>
          <p:nvPr/>
        </p:nvSpPr>
        <p:spPr>
          <a:xfrm>
            <a:off x="376732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95" name="Text 93"/>
          <p:cNvSpPr txBox="1"/>
          <p:nvPr/>
        </p:nvSpPr>
        <p:spPr>
          <a:xfrm>
            <a:off x="455371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96" name="Text 94"/>
          <p:cNvSpPr txBox="1"/>
          <p:nvPr/>
        </p:nvSpPr>
        <p:spPr>
          <a:xfrm>
            <a:off x="512064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97" name="Text 95"/>
          <p:cNvSpPr txBox="1"/>
          <p:nvPr/>
        </p:nvSpPr>
        <p:spPr>
          <a:xfrm>
            <a:off x="6208776" y="170078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8" name="Shape 96"/>
          <p:cNvSpPr/>
          <p:nvPr/>
        </p:nvSpPr>
        <p:spPr>
          <a:xfrm>
            <a:off x="8220456" y="1756697"/>
            <a:ext cx="246097" cy="136676"/>
          </a:xfrm>
          <a:prstGeom prst="rect">
            <a:avLst/>
          </a:prstGeom>
          <a:solidFill>
            <a:srgbClr val="2587C5"/>
          </a:solidFill>
          <a:ln/>
        </p:spPr>
      </p:sp>
      <p:sp>
        <p:nvSpPr>
          <p:cNvPr id="99" name="Text 97"/>
          <p:cNvSpPr txBox="1"/>
          <p:nvPr/>
        </p:nvSpPr>
        <p:spPr>
          <a:xfrm>
            <a:off x="931773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00" name="Text 98"/>
          <p:cNvSpPr txBox="1"/>
          <p:nvPr/>
        </p:nvSpPr>
        <p:spPr>
          <a:xfrm>
            <a:off x="1010412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01" name="Text 99"/>
          <p:cNvSpPr txBox="1"/>
          <p:nvPr/>
        </p:nvSpPr>
        <p:spPr>
          <a:xfrm>
            <a:off x="1067104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02" name="Text 100"/>
          <p:cNvSpPr txBox="1"/>
          <p:nvPr/>
        </p:nvSpPr>
        <p:spPr>
          <a:xfrm>
            <a:off x="6208776" y="194928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03" name="Shape 101"/>
          <p:cNvSpPr/>
          <p:nvPr/>
        </p:nvSpPr>
        <p:spPr>
          <a:xfrm>
            <a:off x="8220456" y="2005199"/>
            <a:ext cx="220598" cy="136676"/>
          </a:xfrm>
          <a:prstGeom prst="rect">
            <a:avLst/>
          </a:prstGeom>
          <a:solidFill>
            <a:srgbClr val="2587C5"/>
          </a:solidFill>
          <a:ln/>
        </p:spPr>
      </p:sp>
      <p:sp>
        <p:nvSpPr>
          <p:cNvPr id="104" name="Text 102"/>
          <p:cNvSpPr txBox="1"/>
          <p:nvPr/>
        </p:nvSpPr>
        <p:spPr>
          <a:xfrm>
            <a:off x="931773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05" name="Text 103"/>
          <p:cNvSpPr txBox="1"/>
          <p:nvPr/>
        </p:nvSpPr>
        <p:spPr>
          <a:xfrm>
            <a:off x="1010412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06" name="Text 104"/>
          <p:cNvSpPr txBox="1"/>
          <p:nvPr/>
        </p:nvSpPr>
        <p:spPr>
          <a:xfrm>
            <a:off x="1067104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07" name="Text 105"/>
          <p:cNvSpPr txBox="1"/>
          <p:nvPr/>
        </p:nvSpPr>
        <p:spPr>
          <a:xfrm>
            <a:off x="6208776" y="219778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8" name="Shape 106"/>
          <p:cNvSpPr/>
          <p:nvPr/>
        </p:nvSpPr>
        <p:spPr>
          <a:xfrm>
            <a:off x="8220456" y="2253700"/>
            <a:ext cx="212176" cy="136676"/>
          </a:xfrm>
          <a:prstGeom prst="rect">
            <a:avLst/>
          </a:prstGeom>
          <a:solidFill>
            <a:srgbClr val="2587C5"/>
          </a:solidFill>
          <a:ln/>
        </p:spPr>
      </p:sp>
      <p:sp>
        <p:nvSpPr>
          <p:cNvPr id="109" name="Text 107"/>
          <p:cNvSpPr txBox="1"/>
          <p:nvPr/>
        </p:nvSpPr>
        <p:spPr>
          <a:xfrm>
            <a:off x="931773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10" name="Text 108"/>
          <p:cNvSpPr txBox="1"/>
          <p:nvPr/>
        </p:nvSpPr>
        <p:spPr>
          <a:xfrm>
            <a:off x="1010412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1" name="Text 109"/>
          <p:cNvSpPr txBox="1"/>
          <p:nvPr/>
        </p:nvSpPr>
        <p:spPr>
          <a:xfrm>
            <a:off x="1067104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12" name="Text 110"/>
          <p:cNvSpPr txBox="1"/>
          <p:nvPr/>
        </p:nvSpPr>
        <p:spPr>
          <a:xfrm>
            <a:off x="6208776" y="244628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3" name="Shape 111"/>
          <p:cNvSpPr/>
          <p:nvPr/>
        </p:nvSpPr>
        <p:spPr>
          <a:xfrm>
            <a:off x="8220456" y="2502202"/>
            <a:ext cx="203688" cy="136676"/>
          </a:xfrm>
          <a:prstGeom prst="rect">
            <a:avLst/>
          </a:prstGeom>
          <a:solidFill>
            <a:srgbClr val="2587C5"/>
          </a:solidFill>
          <a:ln/>
        </p:spPr>
      </p:sp>
      <p:sp>
        <p:nvSpPr>
          <p:cNvPr id="114" name="Text 112"/>
          <p:cNvSpPr txBox="1"/>
          <p:nvPr/>
        </p:nvSpPr>
        <p:spPr>
          <a:xfrm>
            <a:off x="931773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15" name="Text 113"/>
          <p:cNvSpPr txBox="1"/>
          <p:nvPr/>
        </p:nvSpPr>
        <p:spPr>
          <a:xfrm>
            <a:off x="1010412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16" name="Text 114"/>
          <p:cNvSpPr txBox="1"/>
          <p:nvPr/>
        </p:nvSpPr>
        <p:spPr>
          <a:xfrm>
            <a:off x="1067104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17" name="Text 115"/>
          <p:cNvSpPr txBox="1"/>
          <p:nvPr/>
        </p:nvSpPr>
        <p:spPr>
          <a:xfrm>
            <a:off x="6208776" y="2694791"/>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8" name="Shape 116"/>
          <p:cNvSpPr/>
          <p:nvPr/>
        </p:nvSpPr>
        <p:spPr>
          <a:xfrm>
            <a:off x="8220456" y="2750703"/>
            <a:ext cx="199671" cy="136676"/>
          </a:xfrm>
          <a:prstGeom prst="rect">
            <a:avLst/>
          </a:prstGeom>
          <a:solidFill>
            <a:srgbClr val="2587C5"/>
          </a:solidFill>
          <a:ln/>
        </p:spPr>
      </p:sp>
      <p:sp>
        <p:nvSpPr>
          <p:cNvPr id="119" name="Text 117"/>
          <p:cNvSpPr txBox="1"/>
          <p:nvPr/>
        </p:nvSpPr>
        <p:spPr>
          <a:xfrm>
            <a:off x="931773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20" name="Text 118"/>
          <p:cNvSpPr txBox="1"/>
          <p:nvPr/>
        </p:nvSpPr>
        <p:spPr>
          <a:xfrm>
            <a:off x="1010412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21" name="Text 119"/>
          <p:cNvSpPr txBox="1"/>
          <p:nvPr/>
        </p:nvSpPr>
        <p:spPr>
          <a:xfrm>
            <a:off x="1067104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22" name="Text 120"/>
          <p:cNvSpPr txBox="1"/>
          <p:nvPr/>
        </p:nvSpPr>
        <p:spPr>
          <a:xfrm>
            <a:off x="6208776" y="294329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23" name="Shape 121"/>
          <p:cNvSpPr/>
          <p:nvPr/>
        </p:nvSpPr>
        <p:spPr>
          <a:xfrm>
            <a:off x="8220456" y="2999205"/>
            <a:ext cx="194454" cy="136676"/>
          </a:xfrm>
          <a:prstGeom prst="rect">
            <a:avLst/>
          </a:prstGeom>
          <a:solidFill>
            <a:srgbClr val="2587C5"/>
          </a:solidFill>
          <a:ln/>
        </p:spPr>
      </p:sp>
      <p:sp>
        <p:nvSpPr>
          <p:cNvPr id="124" name="Text 122"/>
          <p:cNvSpPr txBox="1"/>
          <p:nvPr/>
        </p:nvSpPr>
        <p:spPr>
          <a:xfrm>
            <a:off x="931773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25" name="Text 123"/>
          <p:cNvSpPr txBox="1"/>
          <p:nvPr/>
        </p:nvSpPr>
        <p:spPr>
          <a:xfrm>
            <a:off x="1010412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26" name="Text 124"/>
          <p:cNvSpPr txBox="1"/>
          <p:nvPr/>
        </p:nvSpPr>
        <p:spPr>
          <a:xfrm>
            <a:off x="1067104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27" name="Text 125"/>
          <p:cNvSpPr txBox="1"/>
          <p:nvPr/>
        </p:nvSpPr>
        <p:spPr>
          <a:xfrm>
            <a:off x="6208776" y="319179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8" name="Shape 126"/>
          <p:cNvSpPr/>
          <p:nvPr/>
        </p:nvSpPr>
        <p:spPr>
          <a:xfrm>
            <a:off x="8220456" y="3247707"/>
            <a:ext cx="181881" cy="136676"/>
          </a:xfrm>
          <a:prstGeom prst="rect">
            <a:avLst/>
          </a:prstGeom>
          <a:solidFill>
            <a:srgbClr val="2587C5"/>
          </a:solidFill>
          <a:ln/>
        </p:spPr>
      </p:sp>
      <p:sp>
        <p:nvSpPr>
          <p:cNvPr id="129" name="Text 127"/>
          <p:cNvSpPr txBox="1"/>
          <p:nvPr/>
        </p:nvSpPr>
        <p:spPr>
          <a:xfrm>
            <a:off x="931773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30" name="Text 128"/>
          <p:cNvSpPr txBox="1"/>
          <p:nvPr/>
        </p:nvSpPr>
        <p:spPr>
          <a:xfrm>
            <a:off x="1010412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67104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32" name="Text 130"/>
          <p:cNvSpPr txBox="1"/>
          <p:nvPr/>
        </p:nvSpPr>
        <p:spPr>
          <a:xfrm>
            <a:off x="6208776" y="3440296"/>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33" name="Shape 131"/>
          <p:cNvSpPr/>
          <p:nvPr/>
        </p:nvSpPr>
        <p:spPr>
          <a:xfrm>
            <a:off x="8220456" y="3496208"/>
            <a:ext cx="178186" cy="136676"/>
          </a:xfrm>
          <a:prstGeom prst="rect">
            <a:avLst/>
          </a:prstGeom>
          <a:solidFill>
            <a:srgbClr val="2587C5"/>
          </a:solidFill>
          <a:ln/>
        </p:spPr>
      </p:sp>
      <p:sp>
        <p:nvSpPr>
          <p:cNvPr id="134" name="Text 132"/>
          <p:cNvSpPr txBox="1"/>
          <p:nvPr/>
        </p:nvSpPr>
        <p:spPr>
          <a:xfrm>
            <a:off x="931773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35" name="Text 133"/>
          <p:cNvSpPr txBox="1"/>
          <p:nvPr/>
        </p:nvSpPr>
        <p:spPr>
          <a:xfrm>
            <a:off x="1010412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6" name="Text 134"/>
          <p:cNvSpPr txBox="1"/>
          <p:nvPr/>
        </p:nvSpPr>
        <p:spPr>
          <a:xfrm>
            <a:off x="1067104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37" name="Text 135"/>
          <p:cNvSpPr txBox="1"/>
          <p:nvPr/>
        </p:nvSpPr>
        <p:spPr>
          <a:xfrm>
            <a:off x="6208776" y="368879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8" name="Shape 136"/>
          <p:cNvSpPr/>
          <p:nvPr/>
        </p:nvSpPr>
        <p:spPr>
          <a:xfrm>
            <a:off x="8220456" y="3744710"/>
            <a:ext cx="174696" cy="136676"/>
          </a:xfrm>
          <a:prstGeom prst="rect">
            <a:avLst/>
          </a:prstGeom>
          <a:solidFill>
            <a:srgbClr val="2587C5"/>
          </a:solidFill>
          <a:ln/>
        </p:spPr>
      </p:sp>
      <p:sp>
        <p:nvSpPr>
          <p:cNvPr id="139" name="Text 137"/>
          <p:cNvSpPr txBox="1"/>
          <p:nvPr/>
        </p:nvSpPr>
        <p:spPr>
          <a:xfrm>
            <a:off x="931773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0" name="Text 138"/>
          <p:cNvSpPr txBox="1"/>
          <p:nvPr/>
        </p:nvSpPr>
        <p:spPr>
          <a:xfrm>
            <a:off x="1010412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41" name="Text 139"/>
          <p:cNvSpPr txBox="1"/>
          <p:nvPr/>
        </p:nvSpPr>
        <p:spPr>
          <a:xfrm>
            <a:off x="1067104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42" name="Text 140"/>
          <p:cNvSpPr txBox="1"/>
          <p:nvPr/>
        </p:nvSpPr>
        <p:spPr>
          <a:xfrm>
            <a:off x="6208776" y="393729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3" name="Shape 141"/>
          <p:cNvSpPr/>
          <p:nvPr/>
        </p:nvSpPr>
        <p:spPr>
          <a:xfrm>
            <a:off x="8220456" y="3993212"/>
            <a:ext cx="174121" cy="136676"/>
          </a:xfrm>
          <a:prstGeom prst="rect">
            <a:avLst/>
          </a:prstGeom>
          <a:solidFill>
            <a:srgbClr val="2587C5"/>
          </a:solidFill>
          <a:ln/>
        </p:spPr>
      </p:sp>
      <p:sp>
        <p:nvSpPr>
          <p:cNvPr id="144" name="Text 142"/>
          <p:cNvSpPr txBox="1"/>
          <p:nvPr/>
        </p:nvSpPr>
        <p:spPr>
          <a:xfrm>
            <a:off x="931773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45" name="Text 143"/>
          <p:cNvSpPr txBox="1"/>
          <p:nvPr/>
        </p:nvSpPr>
        <p:spPr>
          <a:xfrm>
            <a:off x="1010412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46" name="Text 144"/>
          <p:cNvSpPr txBox="1"/>
          <p:nvPr/>
        </p:nvSpPr>
        <p:spPr>
          <a:xfrm>
            <a:off x="1067104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47" name="Text 145"/>
          <p:cNvSpPr txBox="1"/>
          <p:nvPr/>
        </p:nvSpPr>
        <p:spPr>
          <a:xfrm>
            <a:off x="6208776" y="4185800"/>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8" name="Shape 146"/>
          <p:cNvSpPr/>
          <p:nvPr/>
        </p:nvSpPr>
        <p:spPr>
          <a:xfrm>
            <a:off x="8220456" y="4241713"/>
            <a:ext cx="172098" cy="136676"/>
          </a:xfrm>
          <a:prstGeom prst="rect">
            <a:avLst/>
          </a:prstGeom>
          <a:solidFill>
            <a:srgbClr val="2587C5"/>
          </a:solidFill>
          <a:ln/>
        </p:spPr>
      </p:sp>
      <p:sp>
        <p:nvSpPr>
          <p:cNvPr id="149" name="Text 147"/>
          <p:cNvSpPr txBox="1"/>
          <p:nvPr/>
        </p:nvSpPr>
        <p:spPr>
          <a:xfrm>
            <a:off x="931773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50" name="Text 148"/>
          <p:cNvSpPr txBox="1"/>
          <p:nvPr/>
        </p:nvSpPr>
        <p:spPr>
          <a:xfrm>
            <a:off x="1010412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51" name="Text 149"/>
          <p:cNvSpPr txBox="1"/>
          <p:nvPr/>
        </p:nvSpPr>
        <p:spPr>
          <a:xfrm>
            <a:off x="1067104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52" name="Text 150"/>
          <p:cNvSpPr txBox="1"/>
          <p:nvPr/>
        </p:nvSpPr>
        <p:spPr>
          <a:xfrm>
            <a:off x="6208776" y="4434302"/>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53" name="Shape 151"/>
          <p:cNvSpPr/>
          <p:nvPr/>
        </p:nvSpPr>
        <p:spPr>
          <a:xfrm>
            <a:off x="8220456" y="4490215"/>
            <a:ext cx="158631" cy="136676"/>
          </a:xfrm>
          <a:prstGeom prst="rect">
            <a:avLst/>
          </a:prstGeom>
          <a:solidFill>
            <a:srgbClr val="2587C5"/>
          </a:solidFill>
          <a:ln/>
        </p:spPr>
      </p:sp>
      <p:sp>
        <p:nvSpPr>
          <p:cNvPr id="154" name="Text 152"/>
          <p:cNvSpPr txBox="1"/>
          <p:nvPr/>
        </p:nvSpPr>
        <p:spPr>
          <a:xfrm>
            <a:off x="931773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55" name="Text 153"/>
          <p:cNvSpPr txBox="1"/>
          <p:nvPr/>
        </p:nvSpPr>
        <p:spPr>
          <a:xfrm>
            <a:off x="1010412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56" name="Text 154"/>
          <p:cNvSpPr txBox="1"/>
          <p:nvPr/>
        </p:nvSpPr>
        <p:spPr>
          <a:xfrm>
            <a:off x="1067104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57" name="Text 155"/>
          <p:cNvSpPr txBox="1"/>
          <p:nvPr/>
        </p:nvSpPr>
        <p:spPr>
          <a:xfrm>
            <a:off x="6208776" y="4682804"/>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8" name="Shape 156"/>
          <p:cNvSpPr/>
          <p:nvPr/>
        </p:nvSpPr>
        <p:spPr>
          <a:xfrm>
            <a:off x="8220456" y="4738717"/>
            <a:ext cx="156929" cy="136676"/>
          </a:xfrm>
          <a:prstGeom prst="rect">
            <a:avLst/>
          </a:prstGeom>
          <a:solidFill>
            <a:srgbClr val="2587C5"/>
          </a:solidFill>
          <a:ln/>
        </p:spPr>
      </p:sp>
      <p:sp>
        <p:nvSpPr>
          <p:cNvPr id="159" name="Text 157"/>
          <p:cNvSpPr txBox="1"/>
          <p:nvPr/>
        </p:nvSpPr>
        <p:spPr>
          <a:xfrm>
            <a:off x="931773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60" name="Text 158"/>
          <p:cNvSpPr txBox="1"/>
          <p:nvPr/>
        </p:nvSpPr>
        <p:spPr>
          <a:xfrm>
            <a:off x="1010412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1" name="Text 159"/>
          <p:cNvSpPr txBox="1"/>
          <p:nvPr/>
        </p:nvSpPr>
        <p:spPr>
          <a:xfrm>
            <a:off x="1067104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62" name="Text 160"/>
          <p:cNvSpPr txBox="1"/>
          <p:nvPr/>
        </p:nvSpPr>
        <p:spPr>
          <a:xfrm>
            <a:off x="6208776" y="4931305"/>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63" name="Shape 161"/>
          <p:cNvSpPr/>
          <p:nvPr/>
        </p:nvSpPr>
        <p:spPr>
          <a:xfrm>
            <a:off x="8220456" y="4987218"/>
            <a:ext cx="127568" cy="136676"/>
          </a:xfrm>
          <a:prstGeom prst="rect">
            <a:avLst/>
          </a:prstGeom>
          <a:solidFill>
            <a:srgbClr val="2587C5"/>
          </a:solidFill>
          <a:ln/>
        </p:spPr>
      </p:sp>
      <p:sp>
        <p:nvSpPr>
          <p:cNvPr id="164" name="Text 162"/>
          <p:cNvSpPr txBox="1"/>
          <p:nvPr/>
        </p:nvSpPr>
        <p:spPr>
          <a:xfrm>
            <a:off x="931773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65" name="Text 163"/>
          <p:cNvSpPr txBox="1"/>
          <p:nvPr/>
        </p:nvSpPr>
        <p:spPr>
          <a:xfrm>
            <a:off x="1010412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66" name="Text 164"/>
          <p:cNvSpPr txBox="1"/>
          <p:nvPr/>
        </p:nvSpPr>
        <p:spPr>
          <a:xfrm>
            <a:off x="1067104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67" name="Text 165"/>
          <p:cNvSpPr txBox="1"/>
          <p:nvPr/>
        </p:nvSpPr>
        <p:spPr>
          <a:xfrm>
            <a:off x="6208776" y="5179807"/>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8" name="Shape 166"/>
          <p:cNvSpPr/>
          <p:nvPr/>
        </p:nvSpPr>
        <p:spPr>
          <a:xfrm>
            <a:off x="8220456" y="5235720"/>
            <a:ext cx="104440" cy="136676"/>
          </a:xfrm>
          <a:prstGeom prst="rect">
            <a:avLst/>
          </a:prstGeom>
          <a:solidFill>
            <a:srgbClr val="2587C5"/>
          </a:solidFill>
          <a:ln/>
        </p:spPr>
      </p:sp>
      <p:sp>
        <p:nvSpPr>
          <p:cNvPr id="169" name="Text 167"/>
          <p:cNvSpPr txBox="1"/>
          <p:nvPr/>
        </p:nvSpPr>
        <p:spPr>
          <a:xfrm>
            <a:off x="931773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170" name="Text 168"/>
          <p:cNvSpPr txBox="1"/>
          <p:nvPr/>
        </p:nvSpPr>
        <p:spPr>
          <a:xfrm>
            <a:off x="1010412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71" name="Text 169"/>
          <p:cNvSpPr txBox="1"/>
          <p:nvPr/>
        </p:nvSpPr>
        <p:spPr>
          <a:xfrm>
            <a:off x="1067104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172" name="Text 170"/>
          <p:cNvSpPr txBox="1"/>
          <p:nvPr/>
        </p:nvSpPr>
        <p:spPr>
          <a:xfrm>
            <a:off x="6208776" y="5428309"/>
            <a:ext cx="1938528"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73" name="Shape 171"/>
          <p:cNvSpPr/>
          <p:nvPr/>
        </p:nvSpPr>
        <p:spPr>
          <a:xfrm>
            <a:off x="8220456" y="5484222"/>
            <a:ext cx="83338" cy="136676"/>
          </a:xfrm>
          <a:prstGeom prst="rect">
            <a:avLst/>
          </a:prstGeom>
          <a:solidFill>
            <a:srgbClr val="2587C5"/>
          </a:solidFill>
          <a:ln/>
        </p:spPr>
      </p:sp>
      <p:sp>
        <p:nvSpPr>
          <p:cNvPr id="174" name="Text 172"/>
          <p:cNvSpPr txBox="1"/>
          <p:nvPr/>
        </p:nvSpPr>
        <p:spPr>
          <a:xfrm>
            <a:off x="931773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175" name="Text 173"/>
          <p:cNvSpPr txBox="1"/>
          <p:nvPr/>
        </p:nvSpPr>
        <p:spPr>
          <a:xfrm>
            <a:off x="1010412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176" name="Text 174"/>
          <p:cNvSpPr txBox="1"/>
          <p:nvPr/>
        </p:nvSpPr>
        <p:spPr>
          <a:xfrm>
            <a:off x="1067104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77" name="Shape 175"/>
          <p:cNvSpPr/>
          <p:nvPr/>
        </p:nvSpPr>
        <p:spPr>
          <a:xfrm>
            <a:off x="457200" y="6126480"/>
            <a:ext cx="11274552" cy="341376"/>
          </a:xfrm>
          <a:prstGeom prst="rect">
            <a:avLst/>
          </a:prstGeom>
          <a:solidFill>
            <a:srgbClr val="EDF4FA"/>
          </a:solidFill>
          <a:ln/>
        </p:spPr>
      </p:sp>
      <p:sp>
        <p:nvSpPr>
          <p:cNvPr id="178" name="Text 176"/>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+24.7%</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+21.0%</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−7.1%</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−9.0%</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(3 of 6). Most bottom-three: Audi Reno and VW St George (3 of 6).</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1670304" cy="45720"/>
          </a:xfrm>
          <a:prstGeom prst="rect">
            <a:avLst/>
          </a:prstGeom>
          <a:solidFill>
            <a:srgbClr val="12A566"/>
          </a:solidFill>
          <a:ln/>
        </p:spPr>
      </p:sp>
      <p:sp>
        <p:nvSpPr>
          <p:cNvPr id="20" name="Text 18"/>
          <p:cNvSpPr txBox="1"/>
          <p:nvPr/>
        </p:nvSpPr>
        <p:spPr>
          <a:xfrm>
            <a:off x="98755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2749296" y="1691640"/>
            <a:ext cx="1670304" cy="45720"/>
          </a:xfrm>
          <a:prstGeom prst="rect">
            <a:avLst/>
          </a:prstGeom>
          <a:solidFill>
            <a:srgbClr val="12A566"/>
          </a:solidFill>
          <a:ln/>
        </p:spPr>
      </p:sp>
      <p:sp>
        <p:nvSpPr>
          <p:cNvPr id="35" name="Text 33"/>
          <p:cNvSpPr txBox="1"/>
          <p:nvPr/>
        </p:nvSpPr>
        <p:spPr>
          <a:xfrm>
            <a:off x="2767584"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2767584"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2767584"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2767584"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2767584"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2767584"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2767584"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2767584"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2767584"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2767584"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2767584"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2767584"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2767584"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2767584"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4529328" y="1691640"/>
            <a:ext cx="1670304" cy="45720"/>
          </a:xfrm>
          <a:prstGeom prst="rect">
            <a:avLst/>
          </a:prstGeom>
          <a:solidFill>
            <a:srgbClr val="12A566"/>
          </a:solidFill>
          <a:ln/>
        </p:spPr>
      </p:sp>
      <p:sp>
        <p:nvSpPr>
          <p:cNvPr id="50" name="Text 48"/>
          <p:cNvSpPr txBox="1"/>
          <p:nvPr/>
        </p:nvSpPr>
        <p:spPr>
          <a:xfrm>
            <a:off x="4547616"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4547616"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4547616"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4547616"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4547616"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4547616"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4547616"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4547616"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4547616"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4547616"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4547616"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4547616"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4547616"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4547616"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6309360" y="1691640"/>
            <a:ext cx="1670304" cy="45720"/>
          </a:xfrm>
          <a:prstGeom prst="rect">
            <a:avLst/>
          </a:prstGeom>
          <a:solidFill>
            <a:srgbClr val="12A566"/>
          </a:solidFill>
          <a:ln/>
        </p:spPr>
      </p:sp>
      <p:sp>
        <p:nvSpPr>
          <p:cNvPr id="65" name="Text 63"/>
          <p:cNvSpPr txBox="1"/>
          <p:nvPr/>
        </p:nvSpPr>
        <p:spPr>
          <a:xfrm>
            <a:off x="6327648"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6327648"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6327648"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6327648"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6327648"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6327648"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6327648"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6327648"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6327648"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6327648"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6327648"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6327648"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6327648"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6327648"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8089392" y="1691640"/>
            <a:ext cx="1670304" cy="45720"/>
          </a:xfrm>
          <a:prstGeom prst="rect">
            <a:avLst/>
          </a:prstGeom>
          <a:solidFill>
            <a:srgbClr val="12A566"/>
          </a:solidFill>
          <a:ln/>
        </p:spPr>
      </p:sp>
      <p:sp>
        <p:nvSpPr>
          <p:cNvPr id="80" name="Text 78"/>
          <p:cNvSpPr txBox="1"/>
          <p:nvPr/>
        </p:nvSpPr>
        <p:spPr>
          <a:xfrm>
            <a:off x="8107680"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 PER RO</a:t>
            </a:r>
            <a:endParaRPr lang="en-US" sz="1300" dirty="0"/>
          </a:p>
        </p:txBody>
      </p:sp>
      <p:sp>
        <p:nvSpPr>
          <p:cNvPr id="81" name="Text 79"/>
          <p:cNvSpPr txBox="1"/>
          <p:nvPr/>
        </p:nvSpPr>
        <p:spPr>
          <a:xfrm>
            <a:off x="8107680"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+5.1%</a:t>
            </a:r>
            <a:endParaRPr lang="en-US" sz="1300" dirty="0"/>
          </a:p>
        </p:txBody>
      </p:sp>
      <p:sp>
        <p:nvSpPr>
          <p:cNvPr id="82" name="Text 80"/>
          <p:cNvSpPr txBox="1"/>
          <p:nvPr/>
        </p:nvSpPr>
        <p:spPr>
          <a:xfrm>
            <a:off x="8107680"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3" name="Text 81"/>
          <p:cNvSpPr txBox="1"/>
          <p:nvPr/>
        </p:nvSpPr>
        <p:spPr>
          <a:xfrm>
            <a:off x="8107680"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84" name="Text 82"/>
          <p:cNvSpPr txBox="1"/>
          <p:nvPr/>
        </p:nvSpPr>
        <p:spPr>
          <a:xfrm>
            <a:off x="8107680"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85" name="Text 83"/>
          <p:cNvSpPr txBox="1"/>
          <p:nvPr/>
        </p:nvSpPr>
        <p:spPr>
          <a:xfrm>
            <a:off x="8107680"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86" name="Text 84"/>
          <p:cNvSpPr txBox="1"/>
          <p:nvPr/>
        </p:nvSpPr>
        <p:spPr>
          <a:xfrm>
            <a:off x="8107680"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7" name="Text 85"/>
          <p:cNvSpPr txBox="1"/>
          <p:nvPr/>
        </p:nvSpPr>
        <p:spPr>
          <a:xfrm>
            <a:off x="8107680"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88" name="Text 86"/>
          <p:cNvSpPr txBox="1"/>
          <p:nvPr/>
        </p:nvSpPr>
        <p:spPr>
          <a:xfrm>
            <a:off x="8107680"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89" name="Text 87"/>
          <p:cNvSpPr txBox="1"/>
          <p:nvPr/>
        </p:nvSpPr>
        <p:spPr>
          <a:xfrm>
            <a:off x="8107680"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90" name="Text 88"/>
          <p:cNvSpPr txBox="1"/>
          <p:nvPr/>
        </p:nvSpPr>
        <p:spPr>
          <a:xfrm>
            <a:off x="8107680"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91" name="Text 89"/>
          <p:cNvSpPr txBox="1"/>
          <p:nvPr/>
        </p:nvSpPr>
        <p:spPr>
          <a:xfrm>
            <a:off x="8107680"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92" name="Text 90"/>
          <p:cNvSpPr txBox="1"/>
          <p:nvPr/>
        </p:nvSpPr>
        <p:spPr>
          <a:xfrm>
            <a:off x="8107680"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8107680"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−6.0%</a:t>
            </a:r>
            <a:endParaRPr lang="en-US" sz="1600" dirty="0"/>
          </a:p>
        </p:txBody>
      </p:sp>
      <p:sp>
        <p:nvSpPr>
          <p:cNvPr id="94" name="Shape 92"/>
          <p:cNvSpPr/>
          <p:nvPr/>
        </p:nvSpPr>
        <p:spPr>
          <a:xfrm>
            <a:off x="9869424" y="1691640"/>
            <a:ext cx="1670304" cy="45720"/>
          </a:xfrm>
          <a:prstGeom prst="rect">
            <a:avLst/>
          </a:prstGeom>
          <a:solidFill>
            <a:srgbClr val="12A566"/>
          </a:solidFill>
          <a:ln/>
        </p:spPr>
      </p:sp>
      <p:sp>
        <p:nvSpPr>
          <p:cNvPr id="95" name="Text 93"/>
          <p:cNvSpPr txBox="1"/>
          <p:nvPr/>
        </p:nvSpPr>
        <p:spPr>
          <a:xfrm>
            <a:off x="9887712" y="1773936"/>
            <a:ext cx="1633728"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96" name="Text 94"/>
          <p:cNvSpPr txBox="1"/>
          <p:nvPr/>
        </p:nvSpPr>
        <p:spPr>
          <a:xfrm>
            <a:off x="9887712" y="1993392"/>
            <a:ext cx="1633728"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97" name="Text 95"/>
          <p:cNvSpPr txBox="1"/>
          <p:nvPr/>
        </p:nvSpPr>
        <p:spPr>
          <a:xfrm>
            <a:off x="9887712" y="2377440"/>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98" name="Text 96"/>
          <p:cNvSpPr txBox="1"/>
          <p:nvPr/>
        </p:nvSpPr>
        <p:spPr>
          <a:xfrm>
            <a:off x="9887712" y="2596896"/>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99" name="Text 97"/>
          <p:cNvSpPr txBox="1"/>
          <p:nvPr/>
        </p:nvSpPr>
        <p:spPr>
          <a:xfrm>
            <a:off x="9887712" y="2907792"/>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100" name="Text 98"/>
          <p:cNvSpPr txBox="1"/>
          <p:nvPr/>
        </p:nvSpPr>
        <p:spPr>
          <a:xfrm>
            <a:off x="9887712" y="3127248"/>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01" name="Text 99"/>
          <p:cNvSpPr txBox="1"/>
          <p:nvPr/>
        </p:nvSpPr>
        <p:spPr>
          <a:xfrm>
            <a:off x="9887712" y="34381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102" name="Text 100"/>
          <p:cNvSpPr txBox="1"/>
          <p:nvPr/>
        </p:nvSpPr>
        <p:spPr>
          <a:xfrm>
            <a:off x="9887712" y="3657600"/>
            <a:ext cx="1670304"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103" name="Text 101"/>
          <p:cNvSpPr txBox="1"/>
          <p:nvPr/>
        </p:nvSpPr>
        <p:spPr>
          <a:xfrm>
            <a:off x="9887712" y="4123944"/>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104" name="Text 102"/>
          <p:cNvSpPr txBox="1"/>
          <p:nvPr/>
        </p:nvSpPr>
        <p:spPr>
          <a:xfrm>
            <a:off x="9887712" y="4343400"/>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105" name="Text 103"/>
          <p:cNvSpPr txBox="1"/>
          <p:nvPr/>
        </p:nvSpPr>
        <p:spPr>
          <a:xfrm>
            <a:off x="9887712" y="4654296"/>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106" name="Text 104"/>
          <p:cNvSpPr txBox="1"/>
          <p:nvPr/>
        </p:nvSpPr>
        <p:spPr>
          <a:xfrm>
            <a:off x="9887712" y="4873752"/>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107" name="Text 105"/>
          <p:cNvSpPr txBox="1"/>
          <p:nvPr/>
        </p:nvSpPr>
        <p:spPr>
          <a:xfrm>
            <a:off x="9887712" y="5184648"/>
            <a:ext cx="1688592"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108" name="Text 106"/>
          <p:cNvSpPr txBox="1"/>
          <p:nvPr/>
        </p:nvSpPr>
        <p:spPr>
          <a:xfrm>
            <a:off x="9887712" y="5404104"/>
            <a:ext cx="1670304"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110" name="Shape 107"/>
          <p:cNvSpPr/>
          <p:nvPr/>
        </p:nvSpPr>
        <p:spPr>
          <a:xfrm>
            <a:off x="457200" y="6126480"/>
            <a:ext cx="11274552" cy="371856"/>
          </a:xfrm>
          <a:prstGeom prst="rect">
            <a:avLst/>
          </a:prstGeom>
          <a:solidFill>
            <a:srgbClr val="EDF4FA"/>
          </a:solidFill>
          <a:ln/>
        </p:spPr>
      </p:sp>
      <p:sp>
        <p:nvSpPr>
          <p:cNvPr id="111" name="Text 10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VW St George (3 of 6). Most bottom-three: Honda Henderson (4 of 6).</a:t>
            </a:r>
            <a:endParaRPr lang="en-US" sz="160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6" name="Shape 14"/>
          <p:cNvSpPr/>
          <p:nvPr/>
        </p:nvSpPr>
        <p:spPr>
          <a:xfrm>
            <a:off x="4343400" y="2937053"/>
            <a:ext cx="96012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 parts $/RO</a:t>
            </a:r>
            <a:endParaRPr lang="en-US" sz="1300" dirty="0"/>
          </a:p>
        </p:txBody>
      </p:sp>
      <p:sp>
        <p:nvSpPr>
          <p:cNvPr id="21" name="Shape 19"/>
          <p:cNvSpPr/>
          <p:nvPr/>
        </p:nvSpPr>
        <p:spPr>
          <a:xfrm>
            <a:off x="4343400" y="3522269"/>
            <a:ext cx="96012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parts $/RO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six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$/RO, parts GP%</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7" name="Shape 45"/>
          <p:cNvSpPr/>
          <p:nvPr/>
        </p:nvSpPr>
        <p:spPr>
          <a:xfrm>
            <a:off x="10058400" y="2937053"/>
            <a:ext cx="72009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52" name="Shape 50"/>
          <p:cNvSpPr/>
          <p:nvPr/>
        </p:nvSpPr>
        <p:spPr>
          <a:xfrm>
            <a:off x="10058400" y="3522269"/>
            <a:ext cx="72009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48006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48006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$/RO</a:t>
            </a:r>
            <a:endParaRPr lang="en-US" sz="1300" dirty="0"/>
          </a:p>
        </p:txBody>
      </p:sp>
      <p:sp>
        <p:nvSpPr>
          <p:cNvPr id="65" name="Shape 63"/>
          <p:cNvSpPr/>
          <p:nvPr/>
        </p:nvSpPr>
        <p:spPr>
          <a:xfrm>
            <a:off x="10058400" y="5277917"/>
            <a:ext cx="48006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Three stores tie. Moving now: VW St George leads. Ten stores make both views.</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$224 → $298</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+32.9%</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44" name="Shape 42"/>
          <p:cNvSpPr/>
          <p:nvPr/>
        </p:nvSpPr>
        <p:spPr>
          <a:xfrm>
            <a:off x="621792" y="5065776"/>
            <a:ext cx="10945368" cy="548640"/>
          </a:xfrm>
          <a:prstGeom prst="rect">
            <a:avLst/>
          </a:prstGeom>
          <a:solidFill>
            <a:srgbClr val="F7F7F7"/>
          </a:solidFill>
          <a:ln/>
        </p:spPr>
      </p:sp>
      <p:sp>
        <p:nvSpPr>
          <p:cNvPr id="45" name="Text 43"/>
          <p:cNvSpPr txBox="1"/>
          <p:nvPr/>
        </p:nvSpPr>
        <p:spPr>
          <a:xfrm>
            <a:off x="749808" y="50657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6" name="Text 44"/>
          <p:cNvSpPr txBox="1"/>
          <p:nvPr/>
        </p:nvSpPr>
        <p:spPr>
          <a:xfrm>
            <a:off x="3520440" y="50657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7" name="Text 45"/>
          <p:cNvSpPr txBox="1"/>
          <p:nvPr/>
        </p:nvSpPr>
        <p:spPr>
          <a:xfrm>
            <a:off x="5669280" y="50657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8" name="Text 46"/>
          <p:cNvSpPr txBox="1"/>
          <p:nvPr/>
        </p:nvSpPr>
        <p:spPr>
          <a:xfrm>
            <a:off x="7726680" y="50657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9" name="Text 47"/>
          <p:cNvSpPr txBox="1"/>
          <p:nvPr/>
        </p:nvSpPr>
        <p:spPr>
          <a:xfrm>
            <a:off x="9326880" y="50657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50" name="Shape 48"/>
          <p:cNvSpPr/>
          <p:nvPr/>
        </p:nvSpPr>
        <p:spPr>
          <a:xfrm>
            <a:off x="457200" y="6126480"/>
            <a:ext cx="11274552" cy="364236"/>
          </a:xfrm>
          <a:prstGeom prst="rect">
            <a:avLst/>
          </a:prstGeom>
          <a:solidFill>
            <a:srgbClr val="EDF4FA"/>
          </a:solidFill>
          <a:ln/>
        </p:spPr>
      </p:sp>
      <p:sp>
        <p:nvSpPr>
          <p:cNvPr id="51" name="Text 49"/>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517904"/>
          </a:xfrm>
          <a:prstGeom prst="rect">
            <a:avLst/>
          </a:prstGeom>
          <a:solidFill>
            <a:srgbClr val="FFFFFF"/>
          </a:solidFill>
          <a:ln/>
        </p:spPr>
      </p:sp>
      <p:sp>
        <p:nvSpPr>
          <p:cNvPr id="6" name="Text 4"/>
          <p:cNvSpPr txBox="1"/>
          <p:nvPr/>
        </p:nvSpPr>
        <p:spPr>
          <a:xfrm>
            <a:off x="685800" y="1316736"/>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9" name="Text 7"/>
          <p:cNvSpPr txBox="1"/>
          <p:nvPr/>
        </p:nvSpPr>
        <p:spPr>
          <a:xfrm>
            <a:off x="347472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65376"/>
            <a:ext cx="2697480" cy="603504"/>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1" name="Text 9"/>
          <p:cNvSpPr txBox="1"/>
          <p:nvPr/>
        </p:nvSpPr>
        <p:spPr>
          <a:xfrm>
            <a:off x="626364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3" name="Text 11"/>
          <p:cNvSpPr txBox="1"/>
          <p:nvPr/>
        </p:nvSpPr>
        <p:spPr>
          <a:xfrm>
            <a:off x="9052560" y="1627632"/>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65376"/>
            <a:ext cx="2697480" cy="603504"/>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2816352"/>
          <a:ext cx="11274552" cy="914400"/>
        </p:xfrm>
        <a:graphic>
          <a:graphicData uri="http://schemas.openxmlformats.org/drawingml/2006/table">
            <a:tbl>
              <a:tblPr/>
              <a:tblGrid>
                <a:gridCol w="3118104"/>
                <a:gridCol w="2039112"/>
                <a:gridCol w="2039112"/>
                <a:gridCol w="2039112"/>
                <a:gridCol w="2039112"/>
              </a:tblGrid>
              <a:tr h="317297">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MONTH</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2026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VARIANCE</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VAR %</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5B9BD5"/>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JAN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$7.05M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−$640,110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−9.1%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FEB</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$6.08M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−$388,758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−6.0%</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$6.60M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$6.77M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+$169,805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+2.6%</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APR</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+$300,539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+4.4%</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MAY</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$6.67M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$6.41M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−$253,835</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JUN</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$7.07M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+$259,611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JUL</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$6.97M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$7.66M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+$684,859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AUG</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$6.81M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$7.21M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+$398,421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+5.9%</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7F7F7"/>
                    </a:solidFill>
                  </a:tcPr>
                </a:tc>
              </a:tr>
              <a:tr h="317297">
                <a:tc>
                  <a:txBody>
                    <a:bodyPr/>
                    <a:lstStyle/>
                    <a:p>
                      <a:pPr indent="0" marL="0">
                        <a:buNone/>
                      </a:pPr>
                      <a:r>
                        <a:rPr lang="en-US" sz="1400" dirty="0">
                          <a:solidFill>
                            <a:srgbClr val="1A1A1A"/>
                          </a:solidFill>
                          <a:latin typeface="Inter" pitchFamily="34" charset="0"/>
                          <a:ea typeface="Inter" pitchFamily="34" charset="-122"/>
                          <a:cs typeface="Inter" pitchFamily="34" charset="-120"/>
                        </a:rPr>
                        <a:t>SEP</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$6.54M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dirty="0">
                          <a:solidFill>
                            <a:srgbClr val="1A1A1A"/>
                          </a:solidFill>
                          <a:latin typeface="Inter" pitchFamily="34" charset="0"/>
                          <a:ea typeface="Inter" pitchFamily="34" charset="-122"/>
                          <a:cs typeface="Inter" pitchFamily="34" charset="-120"/>
                        </a:rPr>
                        <a:t>$7.18M</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+$640,651</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+9.8%</a:t>
                      </a:r>
                      <a:endParaRPr lang="en-US" sz="1400" dirty="0">
                        <a:latin typeface="Inter" charset="0"/>
                        <a:ea typeface="Inter" charset="0"/>
                        <a:cs typeface="Inter" charset="0"/>
                      </a:endParaRPr>
                    </a:p>
                  </a:txBody>
                  <a:tcPr marL="91440" marR="91440" marT="45720" marB="4572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16" name="Shape 13"/>
          <p:cNvSpPr/>
          <p:nvPr/>
        </p:nvSpPr>
        <p:spPr>
          <a:xfrm>
            <a:off x="457200" y="6126480"/>
            <a:ext cx="11274552" cy="371856"/>
          </a:xfrm>
          <a:prstGeom prst="rect">
            <a:avLst/>
          </a:prstGeom>
          <a:solidFill>
            <a:srgbClr val="E6F6EE"/>
          </a:solidFill>
          <a:ln/>
        </p:spPr>
      </p:sp>
      <p:sp>
        <p:nvSpPr>
          <p:cNvPr id="17" name="Text 1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GROSS TREND · OPTION B + Q4</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188720"/>
          </a:xfrm>
          <a:prstGeom prst="rect">
            <a:avLst/>
          </a:prstGeom>
          <a:solidFill>
            <a:srgbClr val="FFFFFF"/>
          </a:solidFill>
          <a:ln/>
        </p:spPr>
      </p:sp>
      <p:sp>
        <p:nvSpPr>
          <p:cNvPr id="6" name="Text 4"/>
          <p:cNvSpPr txBox="1"/>
          <p:nvPr/>
        </p:nvSpPr>
        <p:spPr>
          <a:xfrm>
            <a:off x="685800" y="1298448"/>
            <a:ext cx="10789920" cy="274320"/>
          </a:xfrm>
          <a:prstGeom prst="rect">
            <a:avLst/>
          </a:prstGeom>
          <a:noFill/>
          <a:ln/>
        </p:spPr>
        <p:txBody>
          <a:bodyPr wrap="square" lIns="0" tIns="0" rIns="0" bIns="0" rtlCol="0" anchor="ctr"/>
          <a:lstStyle/>
          <a:p>
            <a:pPr indent="0" marL="0">
              <a:buNone/>
            </a:pPr>
            <a:r>
              <a:rPr lang="en-US" sz="1400" spc="100" kern="0" dirty="0">
                <a:solidFill>
                  <a:srgbClr val="595959"/>
                </a:solidFill>
                <a:latin typeface="Inter" pitchFamily="34" charset="0"/>
                <a:ea typeface="Inter" pitchFamily="34" charset="-122"/>
                <a:cs typeface="Inter" pitchFamily="34" charset="-120"/>
              </a:rPr>
              <a:t>GROUP · JANUARY–SEPTEMBER · SAME-STORE, 33 STORES</a:t>
            </a:r>
            <a:endParaRPr lang="en-US" sz="1400" dirty="0"/>
          </a:p>
        </p:txBody>
      </p:sp>
      <p:sp>
        <p:nvSpPr>
          <p:cNvPr id="7" name="Text 5"/>
          <p:cNvSpPr txBox="1"/>
          <p:nvPr/>
        </p:nvSpPr>
        <p:spPr>
          <a:xfrm>
            <a:off x="68580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a:t>
            </a:r>
            <a:endParaRPr lang="en-US" sz="1400" dirty="0"/>
          </a:p>
        </p:txBody>
      </p:sp>
      <p:sp>
        <p:nvSpPr>
          <p:cNvPr id="8" name="Text 6"/>
          <p:cNvSpPr txBox="1"/>
          <p:nvPr/>
        </p:nvSpPr>
        <p:spPr>
          <a:xfrm>
            <a:off x="68580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$181.33M</a:t>
            </a:r>
            <a:endParaRPr lang="en-US" sz="2800" dirty="0"/>
          </a:p>
        </p:txBody>
      </p:sp>
      <p:sp>
        <p:nvSpPr>
          <p:cNvPr id="9" name="Text 7"/>
          <p:cNvSpPr txBox="1"/>
          <p:nvPr/>
        </p:nvSpPr>
        <p:spPr>
          <a:xfrm>
            <a:off x="347472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a:t>
            </a:r>
            <a:endParaRPr lang="en-US" sz="1400" dirty="0"/>
          </a:p>
        </p:txBody>
      </p:sp>
      <p:sp>
        <p:nvSpPr>
          <p:cNvPr id="10" name="Text 8"/>
          <p:cNvSpPr txBox="1"/>
          <p:nvPr/>
        </p:nvSpPr>
        <p:spPr>
          <a:xfrm>
            <a:off x="3474720" y="1810512"/>
            <a:ext cx="2697480" cy="512064"/>
          </a:xfrm>
          <a:prstGeom prst="rect">
            <a:avLst/>
          </a:prstGeom>
          <a:noFill/>
          <a:ln/>
        </p:spPr>
        <p:txBody>
          <a:bodyPr wrap="square" lIns="0" tIns="0" rIns="0" bIns="0" rtlCol="0" anchor="ctr"/>
          <a:lstStyle/>
          <a:p>
            <a:pPr indent="0" marL="0">
              <a:buNone/>
            </a:pPr>
            <a:r>
              <a:rPr lang="en-US" sz="2800" b="1" dirty="0">
                <a:solidFill>
                  <a:srgbClr val="1A1A1A"/>
                </a:solidFill>
                <a:latin typeface="Inter" pitchFamily="34" charset="0"/>
                <a:ea typeface="Inter" pitchFamily="34" charset="-122"/>
                <a:cs typeface="Inter" pitchFamily="34" charset="-120"/>
              </a:rPr>
              <a:t>$188.80M</a:t>
            </a:r>
            <a:endParaRPr lang="en-US" sz="2800" dirty="0"/>
          </a:p>
        </p:txBody>
      </p:sp>
      <p:sp>
        <p:nvSpPr>
          <p:cNvPr id="11" name="Text 9"/>
          <p:cNvSpPr txBox="1"/>
          <p:nvPr/>
        </p:nvSpPr>
        <p:spPr>
          <a:xfrm>
            <a:off x="626364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2" name="Text 10"/>
          <p:cNvSpPr txBox="1"/>
          <p:nvPr/>
        </p:nvSpPr>
        <p:spPr>
          <a:xfrm>
            <a:off x="626364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+$7,468,567</a:t>
            </a:r>
            <a:endParaRPr lang="en-US" sz="2800" dirty="0"/>
          </a:p>
        </p:txBody>
      </p:sp>
      <p:sp>
        <p:nvSpPr>
          <p:cNvPr id="13" name="Text 11"/>
          <p:cNvSpPr txBox="1"/>
          <p:nvPr/>
        </p:nvSpPr>
        <p:spPr>
          <a:xfrm>
            <a:off x="9052560" y="1591056"/>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4" name="Text 12"/>
          <p:cNvSpPr txBox="1"/>
          <p:nvPr/>
        </p:nvSpPr>
        <p:spPr>
          <a:xfrm>
            <a:off x="9052560" y="1810512"/>
            <a:ext cx="2697480" cy="512064"/>
          </a:xfrm>
          <a:prstGeom prst="rect">
            <a:avLst/>
          </a:prstGeom>
          <a:noFill/>
          <a:ln/>
        </p:spPr>
        <p:txBody>
          <a:bodyPr wrap="square" lIns="0" tIns="0" rIns="0" bIns="0" rtlCol="0" anchor="ctr"/>
          <a:lstStyle/>
          <a:p>
            <a:pPr indent="0" marL="0">
              <a:buNone/>
            </a:pPr>
            <a:r>
              <a:rPr lang="en-US" sz="2800" b="1" dirty="0">
                <a:solidFill>
                  <a:srgbClr val="0B7A4A"/>
                </a:solidFill>
                <a:latin typeface="Inter" pitchFamily="34" charset="0"/>
                <a:ea typeface="Inter" pitchFamily="34" charset="-122"/>
                <a:cs typeface="Inter" pitchFamily="34" charset="-120"/>
              </a:rPr>
              <a:t>+4.1%</a:t>
            </a:r>
            <a:endParaRPr lang="en-US" sz="2800" dirty="0"/>
          </a:p>
        </p:txBody>
      </p:sp>
      <p:sp>
        <p:nvSpPr>
          <p:cNvPr id="15" name="Shape 13"/>
          <p:cNvSpPr/>
          <p:nvPr/>
        </p:nvSpPr>
        <p:spPr>
          <a:xfrm>
            <a:off x="457200" y="2523744"/>
            <a:ext cx="11274552" cy="3465576"/>
          </a:xfrm>
          <a:prstGeom prst="rect">
            <a:avLst/>
          </a:prstGeom>
          <a:solidFill>
            <a:srgbClr val="FFFFFF"/>
          </a:solidFill>
          <a:ln/>
        </p:spPr>
      </p:sp>
      <p:sp>
        <p:nvSpPr>
          <p:cNvPr id="16" name="Text 14"/>
          <p:cNvSpPr txBox="1"/>
          <p:nvPr/>
        </p:nvSpPr>
        <p:spPr>
          <a:xfrm>
            <a:off x="685800" y="2660904"/>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Group total by month ($M); 2025 shown through December</a:t>
            </a:r>
            <a:endParaRPr lang="en-US" sz="1500" dirty="0"/>
          </a:p>
        </p:txBody>
      </p:sp>
      <p:sp>
        <p:nvSpPr>
          <p:cNvPr id="17" name="Shape 15"/>
          <p:cNvSpPr/>
          <p:nvPr/>
        </p:nvSpPr>
        <p:spPr>
          <a:xfrm>
            <a:off x="685800" y="3008376"/>
            <a:ext cx="10817352" cy="10973"/>
          </a:xfrm>
          <a:prstGeom prst="rect">
            <a:avLst/>
          </a:prstGeom>
          <a:solidFill>
            <a:srgbClr val="1A1A1A"/>
          </a:solidFill>
          <a:ln/>
        </p:spPr>
      </p:sp>
      <p:graphicFrame>
        <p:nvGraphicFramePr>
          <p:cNvPr id="18" name="Chart 0" descr=""/>
          <p:cNvGraphicFramePr/>
          <p:nvPr/>
        </p:nvGraphicFramePr>
        <p:xfrm>
          <a:off x="621792" y="3090672"/>
          <a:ext cx="10945368" cy="2807208"/>
        </p:xfrm>
        <a:graphic>
          <a:graphicData uri="http://schemas.openxmlformats.org/drawingml/2006/chart">
            <c:chart xmlns:c="http://schemas.openxmlformats.org/drawingml/2006/chart" r:id="rId2"/>
          </a:graphicData>
        </a:graphic>
      </p:graphicFrame>
      <p:sp>
        <p:nvSpPr>
          <p:cNvPr id="19" name="Shape 16"/>
          <p:cNvSpPr/>
          <p:nvPr/>
        </p:nvSpPr>
        <p:spPr>
          <a:xfrm>
            <a:off x="457200" y="6126480"/>
            <a:ext cx="11274552" cy="341376"/>
          </a:xfrm>
          <a:prstGeom prst="rect">
            <a:avLst/>
          </a:prstGeom>
          <a:solidFill>
            <a:srgbClr val="E6F6EE"/>
          </a:solidFill>
          <a:ln/>
        </p:spPr>
      </p:sp>
      <p:sp>
        <p:nvSpPr>
          <p:cNvPr id="20" name="Text 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Fixed ops gross up $7,468,567 (4.1%) year to date; ahead of 2025 in 6 of 9 months, and in every month since June.</a:t>
            </a:r>
            <a:endParaRPr lang="en-US" sz="14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RECORD BOARD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264261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7" name="Text 5"/>
          <p:cNvSpPr txBox="1"/>
          <p:nvPr/>
        </p:nvSpPr>
        <p:spPr>
          <a:xfrm>
            <a:off x="3227832"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8" name="Text 6"/>
          <p:cNvSpPr txBox="1"/>
          <p:nvPr/>
        </p:nvSpPr>
        <p:spPr>
          <a:xfrm>
            <a:off x="3813048"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9" name="Text 7"/>
          <p:cNvSpPr txBox="1"/>
          <p:nvPr/>
        </p:nvSpPr>
        <p:spPr>
          <a:xfrm>
            <a:off x="4398264"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0" name="Text 8"/>
          <p:cNvSpPr txBox="1"/>
          <p:nvPr/>
        </p:nvSpPr>
        <p:spPr>
          <a:xfrm>
            <a:off x="523951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1" name="Text 9"/>
          <p:cNvSpPr txBox="1"/>
          <p:nvPr/>
        </p:nvSpPr>
        <p:spPr>
          <a:xfrm>
            <a:off x="8193024"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8778240"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3" name="Text 11"/>
          <p:cNvSpPr txBox="1"/>
          <p:nvPr/>
        </p:nvSpPr>
        <p:spPr>
          <a:xfrm>
            <a:off x="9363456" y="1316736"/>
            <a:ext cx="585216" cy="329184"/>
          </a:xfrm>
          <a:prstGeom prst="rect">
            <a:avLst/>
          </a:prstGeom>
          <a:noFill/>
          <a:ln/>
        </p:spPr>
        <p:txBody>
          <a:bodyPr wrap="square" lIns="0" tIns="0" rIns="0" bIns="0" rtlCol="0" anchor="ctr"/>
          <a:lstStyle/>
          <a:p>
            <a:pPr algn="ct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4" name="Text 12"/>
          <p:cNvSpPr txBox="1"/>
          <p:nvPr/>
        </p:nvSpPr>
        <p:spPr>
          <a:xfrm>
            <a:off x="994867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15" name="Text 13"/>
          <p:cNvSpPr txBox="1"/>
          <p:nvPr/>
        </p:nvSpPr>
        <p:spPr>
          <a:xfrm>
            <a:off x="1078992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VS BEST</a:t>
            </a:r>
            <a:endParaRPr lang="en-US" sz="1400" dirty="0"/>
          </a:p>
        </p:txBody>
      </p:sp>
      <p:sp>
        <p:nvSpPr>
          <p:cNvPr id="16" name="Text 14"/>
          <p:cNvSpPr txBox="1"/>
          <p:nvPr/>
        </p:nvSpPr>
        <p:spPr>
          <a:xfrm>
            <a:off x="658368"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7" name="Shape 15"/>
          <p:cNvSpPr/>
          <p:nvPr/>
        </p:nvSpPr>
        <p:spPr>
          <a:xfrm>
            <a:off x="2857500" y="1785542"/>
            <a:ext cx="155448" cy="155448"/>
          </a:xfrm>
          <a:prstGeom prst="ellipse">
            <a:avLst/>
          </a:prstGeom>
          <a:solidFill>
            <a:srgbClr val="12A566"/>
          </a:solidFill>
          <a:ln w="12700">
            <a:solidFill>
              <a:srgbClr val="12A566"/>
            </a:solidFill>
            <a:prstDash val="solid"/>
          </a:ln>
        </p:spPr>
      </p:sp>
      <p:sp>
        <p:nvSpPr>
          <p:cNvPr id="18" name="Shape 16"/>
          <p:cNvSpPr/>
          <p:nvPr/>
        </p:nvSpPr>
        <p:spPr>
          <a:xfrm>
            <a:off x="3442716" y="1785542"/>
            <a:ext cx="155448" cy="155448"/>
          </a:xfrm>
          <a:prstGeom prst="ellipse">
            <a:avLst/>
          </a:prstGeom>
          <a:solidFill>
            <a:srgbClr val="12A566"/>
          </a:solidFill>
          <a:ln w="12700">
            <a:solidFill>
              <a:srgbClr val="12A566"/>
            </a:solidFill>
            <a:prstDash val="solid"/>
          </a:ln>
        </p:spPr>
      </p:sp>
      <p:sp>
        <p:nvSpPr>
          <p:cNvPr id="19" name="Shape 17"/>
          <p:cNvSpPr/>
          <p:nvPr/>
        </p:nvSpPr>
        <p:spPr>
          <a:xfrm>
            <a:off x="4027932" y="1785542"/>
            <a:ext cx="155448" cy="155448"/>
          </a:xfrm>
          <a:prstGeom prst="ellipse">
            <a:avLst/>
          </a:prstGeom>
          <a:solidFill>
            <a:srgbClr val="12A566"/>
          </a:solidFill>
          <a:ln w="12700">
            <a:solidFill>
              <a:srgbClr val="12A566"/>
            </a:solidFill>
            <a:prstDash val="solid"/>
          </a:ln>
        </p:spPr>
      </p:sp>
      <p:sp>
        <p:nvSpPr>
          <p:cNvPr id="20" name="Text 18"/>
          <p:cNvSpPr txBox="1"/>
          <p:nvPr/>
        </p:nvSpPr>
        <p:spPr>
          <a:xfrm>
            <a:off x="4398264"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$1.54M</a:t>
            </a:r>
            <a:endParaRPr lang="en-US" sz="1300" dirty="0"/>
          </a:p>
        </p:txBody>
      </p:sp>
      <p:sp>
        <p:nvSpPr>
          <p:cNvPr id="21" name="Text 19"/>
          <p:cNvSpPr txBox="1"/>
          <p:nvPr/>
        </p:nvSpPr>
        <p:spPr>
          <a:xfrm>
            <a:off x="5239512"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+35.7%</a:t>
            </a:r>
            <a:endParaRPr lang="en-US" sz="1300" dirty="0"/>
          </a:p>
        </p:txBody>
      </p:sp>
      <p:sp>
        <p:nvSpPr>
          <p:cNvPr id="22" name="Shape 20"/>
          <p:cNvSpPr/>
          <p:nvPr/>
        </p:nvSpPr>
        <p:spPr>
          <a:xfrm>
            <a:off x="585216" y="2025748"/>
            <a:ext cx="5486400" cy="324964"/>
          </a:xfrm>
          <a:prstGeom prst="rect">
            <a:avLst/>
          </a:prstGeom>
          <a:solidFill>
            <a:srgbClr val="F7F7F7"/>
          </a:solidFill>
          <a:ln/>
        </p:spPr>
      </p:sp>
      <p:sp>
        <p:nvSpPr>
          <p:cNvPr id="23" name="Text 21"/>
          <p:cNvSpPr txBox="1"/>
          <p:nvPr/>
        </p:nvSpPr>
        <p:spPr>
          <a:xfrm>
            <a:off x="658368"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4" name="Shape 22"/>
          <p:cNvSpPr/>
          <p:nvPr/>
        </p:nvSpPr>
        <p:spPr>
          <a:xfrm>
            <a:off x="2857500" y="2110506"/>
            <a:ext cx="155448" cy="155448"/>
          </a:xfrm>
          <a:prstGeom prst="ellipse">
            <a:avLst/>
          </a:prstGeom>
          <a:solidFill>
            <a:srgbClr val="12A566"/>
          </a:solidFill>
          <a:ln w="12700">
            <a:solidFill>
              <a:srgbClr val="12A566"/>
            </a:solidFill>
            <a:prstDash val="solid"/>
          </a:ln>
        </p:spPr>
      </p:sp>
      <p:sp>
        <p:nvSpPr>
          <p:cNvPr id="25" name="Shape 23"/>
          <p:cNvSpPr/>
          <p:nvPr/>
        </p:nvSpPr>
        <p:spPr>
          <a:xfrm>
            <a:off x="3442716" y="2110506"/>
            <a:ext cx="155448" cy="155448"/>
          </a:xfrm>
          <a:prstGeom prst="ellipse">
            <a:avLst/>
          </a:prstGeom>
          <a:solidFill>
            <a:srgbClr val="12A566"/>
          </a:solidFill>
          <a:ln w="12700">
            <a:solidFill>
              <a:srgbClr val="12A566"/>
            </a:solidFill>
            <a:prstDash val="solid"/>
          </a:ln>
        </p:spPr>
      </p:sp>
      <p:sp>
        <p:nvSpPr>
          <p:cNvPr id="26" name="Shape 24"/>
          <p:cNvSpPr/>
          <p:nvPr/>
        </p:nvSpPr>
        <p:spPr>
          <a:xfrm>
            <a:off x="4027932" y="2110506"/>
            <a:ext cx="155448" cy="155448"/>
          </a:xfrm>
          <a:prstGeom prst="ellipse">
            <a:avLst/>
          </a:prstGeom>
          <a:solidFill>
            <a:srgbClr val="12A566"/>
          </a:solidFill>
          <a:ln w="12700">
            <a:solidFill>
              <a:srgbClr val="12A566"/>
            </a:solidFill>
            <a:prstDash val="solid"/>
          </a:ln>
        </p:spPr>
      </p:sp>
      <p:sp>
        <p:nvSpPr>
          <p:cNvPr id="27" name="Text 25"/>
          <p:cNvSpPr txBox="1"/>
          <p:nvPr/>
        </p:nvSpPr>
        <p:spPr>
          <a:xfrm>
            <a:off x="4398264"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$2.98M</a:t>
            </a:r>
            <a:endParaRPr lang="en-US" sz="1300" dirty="0"/>
          </a:p>
        </p:txBody>
      </p:sp>
      <p:sp>
        <p:nvSpPr>
          <p:cNvPr id="28" name="Text 26"/>
          <p:cNvSpPr txBox="1"/>
          <p:nvPr/>
        </p:nvSpPr>
        <p:spPr>
          <a:xfrm>
            <a:off x="5239512"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+31.6%</a:t>
            </a:r>
            <a:endParaRPr lang="en-US" sz="1300" dirty="0"/>
          </a:p>
        </p:txBody>
      </p:sp>
      <p:sp>
        <p:nvSpPr>
          <p:cNvPr id="29" name="Text 27"/>
          <p:cNvSpPr txBox="1"/>
          <p:nvPr/>
        </p:nvSpPr>
        <p:spPr>
          <a:xfrm>
            <a:off x="658368"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0" name="Shape 28"/>
          <p:cNvSpPr/>
          <p:nvPr/>
        </p:nvSpPr>
        <p:spPr>
          <a:xfrm>
            <a:off x="2857500" y="2435469"/>
            <a:ext cx="155448" cy="155448"/>
          </a:xfrm>
          <a:prstGeom prst="ellipse">
            <a:avLst/>
          </a:prstGeom>
          <a:solidFill>
            <a:srgbClr val="12A566"/>
          </a:solidFill>
          <a:ln w="12700">
            <a:solidFill>
              <a:srgbClr val="12A566"/>
            </a:solidFill>
            <a:prstDash val="solid"/>
          </a:ln>
        </p:spPr>
      </p:sp>
      <p:sp>
        <p:nvSpPr>
          <p:cNvPr id="31" name="Shape 29"/>
          <p:cNvSpPr/>
          <p:nvPr/>
        </p:nvSpPr>
        <p:spPr>
          <a:xfrm>
            <a:off x="3442716" y="2435469"/>
            <a:ext cx="155448" cy="155448"/>
          </a:xfrm>
          <a:prstGeom prst="ellipse">
            <a:avLst/>
          </a:prstGeom>
          <a:solidFill>
            <a:srgbClr val="12A566"/>
          </a:solidFill>
          <a:ln w="12700">
            <a:solidFill>
              <a:srgbClr val="12A566"/>
            </a:solidFill>
            <a:prstDash val="solid"/>
          </a:ln>
        </p:spPr>
      </p:sp>
      <p:sp>
        <p:nvSpPr>
          <p:cNvPr id="32" name="Shape 30"/>
          <p:cNvSpPr/>
          <p:nvPr/>
        </p:nvSpPr>
        <p:spPr>
          <a:xfrm>
            <a:off x="4027932" y="2435469"/>
            <a:ext cx="155448" cy="155448"/>
          </a:xfrm>
          <a:prstGeom prst="ellipse">
            <a:avLst/>
          </a:prstGeom>
          <a:solidFill>
            <a:srgbClr val="12A566"/>
          </a:solidFill>
          <a:ln w="12700">
            <a:solidFill>
              <a:srgbClr val="12A566"/>
            </a:solidFill>
            <a:prstDash val="solid"/>
          </a:ln>
        </p:spPr>
      </p:sp>
      <p:sp>
        <p:nvSpPr>
          <p:cNvPr id="33" name="Text 31"/>
          <p:cNvSpPr txBox="1"/>
          <p:nvPr/>
        </p:nvSpPr>
        <p:spPr>
          <a:xfrm>
            <a:off x="4398264"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$4.15M</a:t>
            </a:r>
            <a:endParaRPr lang="en-US" sz="1300" dirty="0"/>
          </a:p>
        </p:txBody>
      </p:sp>
      <p:sp>
        <p:nvSpPr>
          <p:cNvPr id="34" name="Text 32"/>
          <p:cNvSpPr txBox="1"/>
          <p:nvPr/>
        </p:nvSpPr>
        <p:spPr>
          <a:xfrm>
            <a:off x="5239512"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+22.5%</a:t>
            </a:r>
            <a:endParaRPr lang="en-US" sz="1300" dirty="0"/>
          </a:p>
        </p:txBody>
      </p:sp>
      <p:sp>
        <p:nvSpPr>
          <p:cNvPr id="35" name="Shape 33"/>
          <p:cNvSpPr/>
          <p:nvPr/>
        </p:nvSpPr>
        <p:spPr>
          <a:xfrm>
            <a:off x="585216" y="2675675"/>
            <a:ext cx="5486400" cy="324964"/>
          </a:xfrm>
          <a:prstGeom prst="rect">
            <a:avLst/>
          </a:prstGeom>
          <a:solidFill>
            <a:srgbClr val="F7F7F7"/>
          </a:solidFill>
          <a:ln/>
        </p:spPr>
      </p:sp>
      <p:sp>
        <p:nvSpPr>
          <p:cNvPr id="36" name="Text 34"/>
          <p:cNvSpPr txBox="1"/>
          <p:nvPr/>
        </p:nvSpPr>
        <p:spPr>
          <a:xfrm>
            <a:off x="658368"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37" name="Shape 35"/>
          <p:cNvSpPr/>
          <p:nvPr/>
        </p:nvSpPr>
        <p:spPr>
          <a:xfrm>
            <a:off x="2857500" y="2760433"/>
            <a:ext cx="155448" cy="155448"/>
          </a:xfrm>
          <a:prstGeom prst="ellipse">
            <a:avLst/>
          </a:prstGeom>
          <a:solidFill>
            <a:srgbClr val="12A566"/>
          </a:solidFill>
          <a:ln w="12700">
            <a:solidFill>
              <a:srgbClr val="12A566"/>
            </a:solidFill>
            <a:prstDash val="solid"/>
          </a:ln>
        </p:spPr>
      </p:sp>
      <p:sp>
        <p:nvSpPr>
          <p:cNvPr id="38" name="Shape 36"/>
          <p:cNvSpPr/>
          <p:nvPr/>
        </p:nvSpPr>
        <p:spPr>
          <a:xfrm>
            <a:off x="3442716" y="2760433"/>
            <a:ext cx="155448" cy="155448"/>
          </a:xfrm>
          <a:prstGeom prst="ellipse">
            <a:avLst/>
          </a:prstGeom>
          <a:solidFill>
            <a:srgbClr val="12A566"/>
          </a:solidFill>
          <a:ln w="12700">
            <a:solidFill>
              <a:srgbClr val="12A566"/>
            </a:solidFill>
            <a:prstDash val="solid"/>
          </a:ln>
        </p:spPr>
      </p:sp>
      <p:sp>
        <p:nvSpPr>
          <p:cNvPr id="39" name="Shape 37"/>
          <p:cNvSpPr/>
          <p:nvPr/>
        </p:nvSpPr>
        <p:spPr>
          <a:xfrm>
            <a:off x="4027932" y="2760433"/>
            <a:ext cx="155448" cy="155448"/>
          </a:xfrm>
          <a:prstGeom prst="ellipse">
            <a:avLst/>
          </a:prstGeom>
          <a:solidFill>
            <a:srgbClr val="12A566"/>
          </a:solidFill>
          <a:ln w="12700">
            <a:solidFill>
              <a:srgbClr val="12A566"/>
            </a:solidFill>
            <a:prstDash val="solid"/>
          </a:ln>
        </p:spPr>
      </p:sp>
      <p:sp>
        <p:nvSpPr>
          <p:cNvPr id="40" name="Text 38"/>
          <p:cNvSpPr txBox="1"/>
          <p:nvPr/>
        </p:nvSpPr>
        <p:spPr>
          <a:xfrm>
            <a:off x="4398264"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$12.34M</a:t>
            </a:r>
            <a:endParaRPr lang="en-US" sz="1300" dirty="0"/>
          </a:p>
        </p:txBody>
      </p:sp>
      <p:sp>
        <p:nvSpPr>
          <p:cNvPr id="41" name="Text 39"/>
          <p:cNvSpPr txBox="1"/>
          <p:nvPr/>
        </p:nvSpPr>
        <p:spPr>
          <a:xfrm>
            <a:off x="5239512"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+16.0%</a:t>
            </a:r>
            <a:endParaRPr lang="en-US" sz="1300" dirty="0"/>
          </a:p>
        </p:txBody>
      </p:sp>
      <p:sp>
        <p:nvSpPr>
          <p:cNvPr id="42" name="Text 40"/>
          <p:cNvSpPr txBox="1"/>
          <p:nvPr/>
        </p:nvSpPr>
        <p:spPr>
          <a:xfrm>
            <a:off x="658368"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43" name="Shape 41"/>
          <p:cNvSpPr/>
          <p:nvPr/>
        </p:nvSpPr>
        <p:spPr>
          <a:xfrm>
            <a:off x="2857500" y="3085397"/>
            <a:ext cx="155448" cy="155448"/>
          </a:xfrm>
          <a:prstGeom prst="ellipse">
            <a:avLst/>
          </a:prstGeom>
          <a:solidFill>
            <a:srgbClr val="12A566"/>
          </a:solidFill>
          <a:ln w="12700">
            <a:solidFill>
              <a:srgbClr val="12A566"/>
            </a:solidFill>
            <a:prstDash val="solid"/>
          </a:ln>
        </p:spPr>
      </p:sp>
      <p:sp>
        <p:nvSpPr>
          <p:cNvPr id="44" name="Shape 42"/>
          <p:cNvSpPr/>
          <p:nvPr/>
        </p:nvSpPr>
        <p:spPr>
          <a:xfrm>
            <a:off x="3442716" y="3085397"/>
            <a:ext cx="155448" cy="155448"/>
          </a:xfrm>
          <a:prstGeom prst="ellipse">
            <a:avLst/>
          </a:prstGeom>
          <a:solidFill>
            <a:srgbClr val="12A566"/>
          </a:solidFill>
          <a:ln w="12700">
            <a:solidFill>
              <a:srgbClr val="12A566"/>
            </a:solidFill>
            <a:prstDash val="solid"/>
          </a:ln>
        </p:spPr>
      </p:sp>
      <p:sp>
        <p:nvSpPr>
          <p:cNvPr id="45" name="Shape 43"/>
          <p:cNvSpPr/>
          <p:nvPr/>
        </p:nvSpPr>
        <p:spPr>
          <a:xfrm>
            <a:off x="4027932" y="3085397"/>
            <a:ext cx="155448" cy="155448"/>
          </a:xfrm>
          <a:prstGeom prst="ellipse">
            <a:avLst/>
          </a:prstGeom>
          <a:solidFill>
            <a:srgbClr val="12A566"/>
          </a:solidFill>
          <a:ln w="12700">
            <a:solidFill>
              <a:srgbClr val="12A566"/>
            </a:solidFill>
            <a:prstDash val="solid"/>
          </a:ln>
        </p:spPr>
      </p:sp>
      <p:sp>
        <p:nvSpPr>
          <p:cNvPr id="46" name="Text 44"/>
          <p:cNvSpPr txBox="1"/>
          <p:nvPr/>
        </p:nvSpPr>
        <p:spPr>
          <a:xfrm>
            <a:off x="4398264"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$2.70M</a:t>
            </a:r>
            <a:endParaRPr lang="en-US" sz="1300" dirty="0"/>
          </a:p>
        </p:txBody>
      </p:sp>
      <p:sp>
        <p:nvSpPr>
          <p:cNvPr id="47" name="Text 45"/>
          <p:cNvSpPr txBox="1"/>
          <p:nvPr/>
        </p:nvSpPr>
        <p:spPr>
          <a:xfrm>
            <a:off x="5239512"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+15.7%</a:t>
            </a:r>
            <a:endParaRPr lang="en-US" sz="1300" dirty="0"/>
          </a:p>
        </p:txBody>
      </p:sp>
      <p:sp>
        <p:nvSpPr>
          <p:cNvPr id="48" name="Shape 46"/>
          <p:cNvSpPr/>
          <p:nvPr/>
        </p:nvSpPr>
        <p:spPr>
          <a:xfrm>
            <a:off x="585216" y="3325602"/>
            <a:ext cx="5486400" cy="324964"/>
          </a:xfrm>
          <a:prstGeom prst="rect">
            <a:avLst/>
          </a:prstGeom>
          <a:solidFill>
            <a:srgbClr val="F7F7F7"/>
          </a:solidFill>
          <a:ln/>
        </p:spPr>
      </p:sp>
      <p:sp>
        <p:nvSpPr>
          <p:cNvPr id="49" name="Text 47"/>
          <p:cNvSpPr txBox="1"/>
          <p:nvPr/>
        </p:nvSpPr>
        <p:spPr>
          <a:xfrm>
            <a:off x="658368"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0" name="Shape 48"/>
          <p:cNvSpPr/>
          <p:nvPr/>
        </p:nvSpPr>
        <p:spPr>
          <a:xfrm>
            <a:off x="2857500" y="3410360"/>
            <a:ext cx="155448" cy="155448"/>
          </a:xfrm>
          <a:prstGeom prst="ellipse">
            <a:avLst/>
          </a:prstGeom>
          <a:solidFill>
            <a:srgbClr val="12A566"/>
          </a:solidFill>
          <a:ln w="12700">
            <a:solidFill>
              <a:srgbClr val="12A566"/>
            </a:solidFill>
            <a:prstDash val="solid"/>
          </a:ln>
        </p:spPr>
      </p:sp>
      <p:sp>
        <p:nvSpPr>
          <p:cNvPr id="51" name="Shape 49"/>
          <p:cNvSpPr/>
          <p:nvPr/>
        </p:nvSpPr>
        <p:spPr>
          <a:xfrm>
            <a:off x="3442716" y="3410360"/>
            <a:ext cx="155448" cy="155448"/>
          </a:xfrm>
          <a:prstGeom prst="ellipse">
            <a:avLst/>
          </a:prstGeom>
          <a:solidFill>
            <a:srgbClr val="12A566"/>
          </a:solidFill>
          <a:ln w="12700">
            <a:solidFill>
              <a:srgbClr val="12A566"/>
            </a:solidFill>
            <a:prstDash val="solid"/>
          </a:ln>
        </p:spPr>
      </p:sp>
      <p:sp>
        <p:nvSpPr>
          <p:cNvPr id="52" name="Shape 50"/>
          <p:cNvSpPr/>
          <p:nvPr/>
        </p:nvSpPr>
        <p:spPr>
          <a:xfrm>
            <a:off x="4027932" y="3410360"/>
            <a:ext cx="155448" cy="155448"/>
          </a:xfrm>
          <a:prstGeom prst="ellipse">
            <a:avLst/>
          </a:prstGeom>
          <a:solidFill>
            <a:srgbClr val="12A566"/>
          </a:solidFill>
          <a:ln w="12700">
            <a:solidFill>
              <a:srgbClr val="12A566"/>
            </a:solidFill>
            <a:prstDash val="solid"/>
          </a:ln>
        </p:spPr>
      </p:sp>
      <p:sp>
        <p:nvSpPr>
          <p:cNvPr id="53" name="Text 51"/>
          <p:cNvSpPr txBox="1"/>
          <p:nvPr/>
        </p:nvSpPr>
        <p:spPr>
          <a:xfrm>
            <a:off x="4398264"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$3.52M</a:t>
            </a:r>
            <a:endParaRPr lang="en-US" sz="1300" dirty="0"/>
          </a:p>
        </p:txBody>
      </p:sp>
      <p:sp>
        <p:nvSpPr>
          <p:cNvPr id="54" name="Text 52"/>
          <p:cNvSpPr txBox="1"/>
          <p:nvPr/>
        </p:nvSpPr>
        <p:spPr>
          <a:xfrm>
            <a:off x="5239512"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+15.5%</a:t>
            </a:r>
            <a:endParaRPr lang="en-US" sz="1300" dirty="0"/>
          </a:p>
        </p:txBody>
      </p:sp>
      <p:sp>
        <p:nvSpPr>
          <p:cNvPr id="55" name="Text 53"/>
          <p:cNvSpPr txBox="1"/>
          <p:nvPr/>
        </p:nvSpPr>
        <p:spPr>
          <a:xfrm>
            <a:off x="658368"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56" name="Shape 54"/>
          <p:cNvSpPr/>
          <p:nvPr/>
        </p:nvSpPr>
        <p:spPr>
          <a:xfrm>
            <a:off x="2857500" y="3735324"/>
            <a:ext cx="155448" cy="155448"/>
          </a:xfrm>
          <a:prstGeom prst="ellipse">
            <a:avLst/>
          </a:prstGeom>
          <a:solidFill>
            <a:srgbClr val="12A566"/>
          </a:solidFill>
          <a:ln w="12700">
            <a:solidFill>
              <a:srgbClr val="12A566"/>
            </a:solidFill>
            <a:prstDash val="solid"/>
          </a:ln>
        </p:spPr>
      </p:sp>
      <p:sp>
        <p:nvSpPr>
          <p:cNvPr id="57" name="Shape 55"/>
          <p:cNvSpPr/>
          <p:nvPr/>
        </p:nvSpPr>
        <p:spPr>
          <a:xfrm>
            <a:off x="3442716" y="3735324"/>
            <a:ext cx="155448" cy="155448"/>
          </a:xfrm>
          <a:prstGeom prst="ellipse">
            <a:avLst/>
          </a:prstGeom>
          <a:solidFill>
            <a:srgbClr val="12A566"/>
          </a:solidFill>
          <a:ln w="12700">
            <a:solidFill>
              <a:srgbClr val="12A566"/>
            </a:solidFill>
            <a:prstDash val="solid"/>
          </a:ln>
        </p:spPr>
      </p:sp>
      <p:sp>
        <p:nvSpPr>
          <p:cNvPr id="58" name="Shape 56"/>
          <p:cNvSpPr/>
          <p:nvPr/>
        </p:nvSpPr>
        <p:spPr>
          <a:xfrm>
            <a:off x="4027932" y="3735324"/>
            <a:ext cx="155448" cy="155448"/>
          </a:xfrm>
          <a:prstGeom prst="ellipse">
            <a:avLst/>
          </a:prstGeom>
          <a:solidFill>
            <a:srgbClr val="12A566"/>
          </a:solidFill>
          <a:ln w="12700">
            <a:solidFill>
              <a:srgbClr val="12A566"/>
            </a:solidFill>
            <a:prstDash val="solid"/>
          </a:ln>
        </p:spPr>
      </p:sp>
      <p:sp>
        <p:nvSpPr>
          <p:cNvPr id="59" name="Text 57"/>
          <p:cNvSpPr txBox="1"/>
          <p:nvPr/>
        </p:nvSpPr>
        <p:spPr>
          <a:xfrm>
            <a:off x="4398264"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$4.47M</a:t>
            </a:r>
            <a:endParaRPr lang="en-US" sz="1300" dirty="0"/>
          </a:p>
        </p:txBody>
      </p:sp>
      <p:sp>
        <p:nvSpPr>
          <p:cNvPr id="60" name="Text 58"/>
          <p:cNvSpPr txBox="1"/>
          <p:nvPr/>
        </p:nvSpPr>
        <p:spPr>
          <a:xfrm>
            <a:off x="5239512"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endParaRPr lang="en-US" sz="1300" dirty="0"/>
          </a:p>
        </p:txBody>
      </p:sp>
      <p:sp>
        <p:nvSpPr>
          <p:cNvPr id="61" name="Shape 59"/>
          <p:cNvSpPr/>
          <p:nvPr/>
        </p:nvSpPr>
        <p:spPr>
          <a:xfrm>
            <a:off x="585216" y="3975530"/>
            <a:ext cx="5486400" cy="324964"/>
          </a:xfrm>
          <a:prstGeom prst="rect">
            <a:avLst/>
          </a:prstGeom>
          <a:solidFill>
            <a:srgbClr val="F7F7F7"/>
          </a:solidFill>
          <a:ln/>
        </p:spPr>
      </p:sp>
      <p:sp>
        <p:nvSpPr>
          <p:cNvPr id="62" name="Text 60"/>
          <p:cNvSpPr txBox="1"/>
          <p:nvPr/>
        </p:nvSpPr>
        <p:spPr>
          <a:xfrm>
            <a:off x="658368"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3" name="Shape 61"/>
          <p:cNvSpPr/>
          <p:nvPr/>
        </p:nvSpPr>
        <p:spPr>
          <a:xfrm>
            <a:off x="2857500" y="4060288"/>
            <a:ext cx="155448" cy="155448"/>
          </a:xfrm>
          <a:prstGeom prst="ellipse">
            <a:avLst/>
          </a:prstGeom>
          <a:solidFill>
            <a:srgbClr val="12A566"/>
          </a:solidFill>
          <a:ln w="12700">
            <a:solidFill>
              <a:srgbClr val="12A566"/>
            </a:solidFill>
            <a:prstDash val="solid"/>
          </a:ln>
        </p:spPr>
      </p:sp>
      <p:sp>
        <p:nvSpPr>
          <p:cNvPr id="64" name="Shape 62"/>
          <p:cNvSpPr/>
          <p:nvPr/>
        </p:nvSpPr>
        <p:spPr>
          <a:xfrm>
            <a:off x="3442716" y="4060288"/>
            <a:ext cx="155448" cy="155448"/>
          </a:xfrm>
          <a:prstGeom prst="ellipse">
            <a:avLst/>
          </a:prstGeom>
          <a:solidFill>
            <a:srgbClr val="12A566"/>
          </a:solidFill>
          <a:ln w="12700">
            <a:solidFill>
              <a:srgbClr val="12A566"/>
            </a:solidFill>
            <a:prstDash val="solid"/>
          </a:ln>
        </p:spPr>
      </p:sp>
      <p:sp>
        <p:nvSpPr>
          <p:cNvPr id="65" name="Shape 63"/>
          <p:cNvSpPr/>
          <p:nvPr/>
        </p:nvSpPr>
        <p:spPr>
          <a:xfrm>
            <a:off x="4027932" y="4060288"/>
            <a:ext cx="155448" cy="155448"/>
          </a:xfrm>
          <a:prstGeom prst="ellipse">
            <a:avLst/>
          </a:prstGeom>
          <a:solidFill>
            <a:srgbClr val="12A566"/>
          </a:solidFill>
          <a:ln w="12700">
            <a:solidFill>
              <a:srgbClr val="12A566"/>
            </a:solidFill>
            <a:prstDash val="solid"/>
          </a:ln>
        </p:spPr>
      </p:sp>
      <p:sp>
        <p:nvSpPr>
          <p:cNvPr id="66" name="Text 64"/>
          <p:cNvSpPr txBox="1"/>
          <p:nvPr/>
        </p:nvSpPr>
        <p:spPr>
          <a:xfrm>
            <a:off x="4398264"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$4.78M</a:t>
            </a:r>
            <a:endParaRPr lang="en-US" sz="1300" dirty="0"/>
          </a:p>
        </p:txBody>
      </p:sp>
      <p:sp>
        <p:nvSpPr>
          <p:cNvPr id="67" name="Text 65"/>
          <p:cNvSpPr txBox="1"/>
          <p:nvPr/>
        </p:nvSpPr>
        <p:spPr>
          <a:xfrm>
            <a:off x="5239512"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endParaRPr lang="en-US" sz="1300" dirty="0"/>
          </a:p>
        </p:txBody>
      </p:sp>
      <p:sp>
        <p:nvSpPr>
          <p:cNvPr id="68" name="Text 66"/>
          <p:cNvSpPr txBox="1"/>
          <p:nvPr/>
        </p:nvSpPr>
        <p:spPr>
          <a:xfrm>
            <a:off x="658368"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9" name="Shape 67"/>
          <p:cNvSpPr/>
          <p:nvPr/>
        </p:nvSpPr>
        <p:spPr>
          <a:xfrm>
            <a:off x="2857500" y="4385251"/>
            <a:ext cx="155448" cy="155448"/>
          </a:xfrm>
          <a:prstGeom prst="ellipse">
            <a:avLst/>
          </a:prstGeom>
          <a:solidFill>
            <a:srgbClr val="12A566"/>
          </a:solidFill>
          <a:ln w="12700">
            <a:solidFill>
              <a:srgbClr val="12A566"/>
            </a:solidFill>
            <a:prstDash val="solid"/>
          </a:ln>
        </p:spPr>
      </p:sp>
      <p:sp>
        <p:nvSpPr>
          <p:cNvPr id="70" name="Shape 68"/>
          <p:cNvSpPr/>
          <p:nvPr/>
        </p:nvSpPr>
        <p:spPr>
          <a:xfrm>
            <a:off x="3442716" y="4385251"/>
            <a:ext cx="155448" cy="155448"/>
          </a:xfrm>
          <a:prstGeom prst="ellipse">
            <a:avLst/>
          </a:prstGeom>
          <a:solidFill>
            <a:srgbClr val="12A566"/>
          </a:solidFill>
          <a:ln w="12700">
            <a:solidFill>
              <a:srgbClr val="12A566"/>
            </a:solidFill>
            <a:prstDash val="solid"/>
          </a:ln>
        </p:spPr>
      </p:sp>
      <p:sp>
        <p:nvSpPr>
          <p:cNvPr id="71" name="Shape 69"/>
          <p:cNvSpPr/>
          <p:nvPr/>
        </p:nvSpPr>
        <p:spPr>
          <a:xfrm>
            <a:off x="4027932" y="4385251"/>
            <a:ext cx="155448" cy="155448"/>
          </a:xfrm>
          <a:prstGeom prst="ellipse">
            <a:avLst/>
          </a:prstGeom>
          <a:solidFill>
            <a:srgbClr val="12A566"/>
          </a:solidFill>
          <a:ln w="12700">
            <a:solidFill>
              <a:srgbClr val="12A566"/>
            </a:solidFill>
            <a:prstDash val="solid"/>
          </a:ln>
        </p:spPr>
      </p:sp>
      <p:sp>
        <p:nvSpPr>
          <p:cNvPr id="72" name="Text 70"/>
          <p:cNvSpPr txBox="1"/>
          <p:nvPr/>
        </p:nvSpPr>
        <p:spPr>
          <a:xfrm>
            <a:off x="4398264"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$2.34M</a:t>
            </a:r>
            <a:endParaRPr lang="en-US" sz="1300" dirty="0"/>
          </a:p>
        </p:txBody>
      </p:sp>
      <p:sp>
        <p:nvSpPr>
          <p:cNvPr id="73" name="Text 71"/>
          <p:cNvSpPr txBox="1"/>
          <p:nvPr/>
        </p:nvSpPr>
        <p:spPr>
          <a:xfrm>
            <a:off x="5239512"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74" name="Shape 72"/>
          <p:cNvSpPr/>
          <p:nvPr/>
        </p:nvSpPr>
        <p:spPr>
          <a:xfrm>
            <a:off x="585216" y="4625457"/>
            <a:ext cx="5486400" cy="324964"/>
          </a:xfrm>
          <a:prstGeom prst="rect">
            <a:avLst/>
          </a:prstGeom>
          <a:solidFill>
            <a:srgbClr val="F7F7F7"/>
          </a:solidFill>
          <a:ln/>
        </p:spPr>
      </p:sp>
      <p:sp>
        <p:nvSpPr>
          <p:cNvPr id="75" name="Text 73"/>
          <p:cNvSpPr txBox="1"/>
          <p:nvPr/>
        </p:nvSpPr>
        <p:spPr>
          <a:xfrm>
            <a:off x="658368"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6" name="Shape 74"/>
          <p:cNvSpPr/>
          <p:nvPr/>
        </p:nvSpPr>
        <p:spPr>
          <a:xfrm>
            <a:off x="2857500" y="4710215"/>
            <a:ext cx="155448" cy="155448"/>
          </a:xfrm>
          <a:prstGeom prst="ellipse">
            <a:avLst/>
          </a:prstGeom>
          <a:solidFill>
            <a:srgbClr val="12A566"/>
          </a:solidFill>
          <a:ln w="12700">
            <a:solidFill>
              <a:srgbClr val="12A566"/>
            </a:solidFill>
            <a:prstDash val="solid"/>
          </a:ln>
        </p:spPr>
      </p:sp>
      <p:sp>
        <p:nvSpPr>
          <p:cNvPr id="77" name="Shape 75"/>
          <p:cNvSpPr/>
          <p:nvPr/>
        </p:nvSpPr>
        <p:spPr>
          <a:xfrm>
            <a:off x="3442716" y="4710215"/>
            <a:ext cx="155448" cy="155448"/>
          </a:xfrm>
          <a:prstGeom prst="ellipse">
            <a:avLst/>
          </a:prstGeom>
          <a:solidFill>
            <a:srgbClr val="12A566"/>
          </a:solidFill>
          <a:ln w="12700">
            <a:solidFill>
              <a:srgbClr val="12A566"/>
            </a:solidFill>
            <a:prstDash val="solid"/>
          </a:ln>
        </p:spPr>
      </p:sp>
      <p:sp>
        <p:nvSpPr>
          <p:cNvPr id="78" name="Shape 76"/>
          <p:cNvSpPr/>
          <p:nvPr/>
        </p:nvSpPr>
        <p:spPr>
          <a:xfrm>
            <a:off x="4027932" y="4710215"/>
            <a:ext cx="155448" cy="155448"/>
          </a:xfrm>
          <a:prstGeom prst="ellipse">
            <a:avLst/>
          </a:prstGeom>
          <a:solidFill>
            <a:srgbClr val="12A566"/>
          </a:solidFill>
          <a:ln w="12700">
            <a:solidFill>
              <a:srgbClr val="12A566"/>
            </a:solidFill>
            <a:prstDash val="solid"/>
          </a:ln>
        </p:spPr>
      </p:sp>
      <p:sp>
        <p:nvSpPr>
          <p:cNvPr id="79" name="Text 77"/>
          <p:cNvSpPr txBox="1"/>
          <p:nvPr/>
        </p:nvSpPr>
        <p:spPr>
          <a:xfrm>
            <a:off x="4398264"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$22.59M</a:t>
            </a:r>
            <a:endParaRPr lang="en-US" sz="1300" dirty="0"/>
          </a:p>
        </p:txBody>
      </p:sp>
      <p:sp>
        <p:nvSpPr>
          <p:cNvPr id="80" name="Text 78"/>
          <p:cNvSpPr txBox="1"/>
          <p:nvPr/>
        </p:nvSpPr>
        <p:spPr>
          <a:xfrm>
            <a:off x="5239512"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+8.5%</a:t>
            </a:r>
            <a:endParaRPr lang="en-US" sz="1300" dirty="0"/>
          </a:p>
        </p:txBody>
      </p:sp>
      <p:sp>
        <p:nvSpPr>
          <p:cNvPr id="81" name="Text 79"/>
          <p:cNvSpPr txBox="1"/>
          <p:nvPr/>
        </p:nvSpPr>
        <p:spPr>
          <a:xfrm>
            <a:off x="658368"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82" name="Shape 80"/>
          <p:cNvSpPr/>
          <p:nvPr/>
        </p:nvSpPr>
        <p:spPr>
          <a:xfrm>
            <a:off x="2857500" y="5035179"/>
            <a:ext cx="155448" cy="155448"/>
          </a:xfrm>
          <a:prstGeom prst="ellipse">
            <a:avLst/>
          </a:prstGeom>
          <a:solidFill>
            <a:srgbClr val="12A566"/>
          </a:solidFill>
          <a:ln w="12700">
            <a:solidFill>
              <a:srgbClr val="12A566"/>
            </a:solidFill>
            <a:prstDash val="solid"/>
          </a:ln>
        </p:spPr>
      </p:sp>
      <p:sp>
        <p:nvSpPr>
          <p:cNvPr id="83" name="Shape 81"/>
          <p:cNvSpPr/>
          <p:nvPr/>
        </p:nvSpPr>
        <p:spPr>
          <a:xfrm>
            <a:off x="3442716" y="5035179"/>
            <a:ext cx="155448" cy="155448"/>
          </a:xfrm>
          <a:prstGeom prst="ellipse">
            <a:avLst/>
          </a:prstGeom>
          <a:solidFill>
            <a:srgbClr val="12A566"/>
          </a:solidFill>
          <a:ln w="12700">
            <a:solidFill>
              <a:srgbClr val="12A566"/>
            </a:solidFill>
            <a:prstDash val="solid"/>
          </a:ln>
        </p:spPr>
      </p:sp>
      <p:sp>
        <p:nvSpPr>
          <p:cNvPr id="84" name="Shape 82"/>
          <p:cNvSpPr/>
          <p:nvPr/>
        </p:nvSpPr>
        <p:spPr>
          <a:xfrm>
            <a:off x="4027932" y="5035179"/>
            <a:ext cx="155448" cy="155448"/>
          </a:xfrm>
          <a:prstGeom prst="ellipse">
            <a:avLst/>
          </a:prstGeom>
          <a:solidFill>
            <a:srgbClr val="12A566"/>
          </a:solidFill>
          <a:ln w="12700">
            <a:solidFill>
              <a:srgbClr val="12A566"/>
            </a:solidFill>
            <a:prstDash val="solid"/>
          </a:ln>
        </p:spPr>
      </p:sp>
      <p:sp>
        <p:nvSpPr>
          <p:cNvPr id="85" name="Text 83"/>
          <p:cNvSpPr txBox="1"/>
          <p:nvPr/>
        </p:nvSpPr>
        <p:spPr>
          <a:xfrm>
            <a:off x="4398264"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$14.42M</a:t>
            </a:r>
            <a:endParaRPr lang="en-US" sz="1300" dirty="0"/>
          </a:p>
        </p:txBody>
      </p:sp>
      <p:sp>
        <p:nvSpPr>
          <p:cNvPr id="86" name="Text 84"/>
          <p:cNvSpPr txBox="1"/>
          <p:nvPr/>
        </p:nvSpPr>
        <p:spPr>
          <a:xfrm>
            <a:off x="5239512"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a:t>
            </a:r>
            <a:endParaRPr lang="en-US" sz="1300" dirty="0"/>
          </a:p>
        </p:txBody>
      </p:sp>
      <p:sp>
        <p:nvSpPr>
          <p:cNvPr id="87" name="Shape 85"/>
          <p:cNvSpPr/>
          <p:nvPr/>
        </p:nvSpPr>
        <p:spPr>
          <a:xfrm>
            <a:off x="585216" y="5275385"/>
            <a:ext cx="5486400" cy="324964"/>
          </a:xfrm>
          <a:prstGeom prst="rect">
            <a:avLst/>
          </a:prstGeom>
          <a:solidFill>
            <a:srgbClr val="F7F7F7"/>
          </a:solidFill>
          <a:ln/>
        </p:spPr>
      </p:sp>
      <p:sp>
        <p:nvSpPr>
          <p:cNvPr id="88" name="Text 86"/>
          <p:cNvSpPr txBox="1"/>
          <p:nvPr/>
        </p:nvSpPr>
        <p:spPr>
          <a:xfrm>
            <a:off x="658368"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2857500" y="5360142"/>
            <a:ext cx="155448" cy="155448"/>
          </a:xfrm>
          <a:prstGeom prst="ellipse">
            <a:avLst/>
          </a:prstGeom>
          <a:solidFill>
            <a:srgbClr val="12A566"/>
          </a:solidFill>
          <a:ln w="12700">
            <a:solidFill>
              <a:srgbClr val="12A566"/>
            </a:solidFill>
            <a:prstDash val="solid"/>
          </a:ln>
        </p:spPr>
      </p:sp>
      <p:sp>
        <p:nvSpPr>
          <p:cNvPr id="90" name="Shape 88"/>
          <p:cNvSpPr/>
          <p:nvPr/>
        </p:nvSpPr>
        <p:spPr>
          <a:xfrm>
            <a:off x="3442716" y="5360142"/>
            <a:ext cx="155448" cy="155448"/>
          </a:xfrm>
          <a:prstGeom prst="ellipse">
            <a:avLst/>
          </a:prstGeom>
          <a:solidFill>
            <a:srgbClr val="12A566"/>
          </a:solidFill>
          <a:ln w="12700">
            <a:solidFill>
              <a:srgbClr val="12A566"/>
            </a:solidFill>
            <a:prstDash val="solid"/>
          </a:ln>
        </p:spPr>
      </p:sp>
      <p:sp>
        <p:nvSpPr>
          <p:cNvPr id="91" name="Shape 89"/>
          <p:cNvSpPr/>
          <p:nvPr/>
        </p:nvSpPr>
        <p:spPr>
          <a:xfrm>
            <a:off x="4027932" y="5360142"/>
            <a:ext cx="155448" cy="155448"/>
          </a:xfrm>
          <a:prstGeom prst="ellipse">
            <a:avLst/>
          </a:prstGeom>
          <a:solidFill>
            <a:srgbClr val="12A566"/>
          </a:solidFill>
          <a:ln w="12700">
            <a:solidFill>
              <a:srgbClr val="12A566"/>
            </a:solidFill>
            <a:prstDash val="solid"/>
          </a:ln>
        </p:spPr>
      </p:sp>
      <p:sp>
        <p:nvSpPr>
          <p:cNvPr id="92" name="Text 90"/>
          <p:cNvSpPr txBox="1"/>
          <p:nvPr/>
        </p:nvSpPr>
        <p:spPr>
          <a:xfrm>
            <a:off x="4398264"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$3.31M</a:t>
            </a:r>
            <a:endParaRPr lang="en-US" sz="1300" dirty="0"/>
          </a:p>
        </p:txBody>
      </p:sp>
      <p:sp>
        <p:nvSpPr>
          <p:cNvPr id="93" name="Text 91"/>
          <p:cNvSpPr txBox="1"/>
          <p:nvPr/>
        </p:nvSpPr>
        <p:spPr>
          <a:xfrm>
            <a:off x="5239512"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+3.7%</a:t>
            </a:r>
            <a:endParaRPr lang="en-US" sz="1300" dirty="0"/>
          </a:p>
        </p:txBody>
      </p:sp>
      <p:sp>
        <p:nvSpPr>
          <p:cNvPr id="94" name="Text 92"/>
          <p:cNvSpPr txBox="1"/>
          <p:nvPr/>
        </p:nvSpPr>
        <p:spPr>
          <a:xfrm>
            <a:off x="658368" y="56003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5" name="Shape 93"/>
          <p:cNvSpPr/>
          <p:nvPr/>
        </p:nvSpPr>
        <p:spPr>
          <a:xfrm>
            <a:off x="2857500" y="5685106"/>
            <a:ext cx="155448" cy="155448"/>
          </a:xfrm>
          <a:prstGeom prst="ellipse">
            <a:avLst/>
          </a:prstGeom>
          <a:solidFill>
            <a:srgbClr val="12A566"/>
          </a:solidFill>
          <a:ln w="12700">
            <a:solidFill>
              <a:srgbClr val="12A566"/>
            </a:solidFill>
            <a:prstDash val="solid"/>
          </a:ln>
        </p:spPr>
      </p:sp>
      <p:sp>
        <p:nvSpPr>
          <p:cNvPr id="96" name="Shape 94"/>
          <p:cNvSpPr/>
          <p:nvPr/>
        </p:nvSpPr>
        <p:spPr>
          <a:xfrm>
            <a:off x="3442716" y="5685106"/>
            <a:ext cx="155448" cy="155448"/>
          </a:xfrm>
          <a:prstGeom prst="ellipse">
            <a:avLst/>
          </a:prstGeom>
          <a:solidFill>
            <a:srgbClr val="12A566"/>
          </a:solidFill>
          <a:ln w="12700">
            <a:solidFill>
              <a:srgbClr val="12A566"/>
            </a:solidFill>
            <a:prstDash val="solid"/>
          </a:ln>
        </p:spPr>
      </p:sp>
      <p:sp>
        <p:nvSpPr>
          <p:cNvPr id="97" name="Shape 95"/>
          <p:cNvSpPr/>
          <p:nvPr/>
        </p:nvSpPr>
        <p:spPr>
          <a:xfrm>
            <a:off x="4027932" y="5685106"/>
            <a:ext cx="155448" cy="155448"/>
          </a:xfrm>
          <a:prstGeom prst="ellipse">
            <a:avLst/>
          </a:prstGeom>
          <a:solidFill>
            <a:srgbClr val="12A566"/>
          </a:solidFill>
          <a:ln w="12700">
            <a:solidFill>
              <a:srgbClr val="12A566"/>
            </a:solidFill>
            <a:prstDash val="solid"/>
          </a:ln>
        </p:spPr>
      </p:sp>
      <p:sp>
        <p:nvSpPr>
          <p:cNvPr id="98" name="Text 96"/>
          <p:cNvSpPr txBox="1"/>
          <p:nvPr/>
        </p:nvSpPr>
        <p:spPr>
          <a:xfrm>
            <a:off x="4398264" y="56003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$3.42M</a:t>
            </a:r>
            <a:endParaRPr lang="en-US" sz="1300" dirty="0"/>
          </a:p>
        </p:txBody>
      </p:sp>
      <p:sp>
        <p:nvSpPr>
          <p:cNvPr id="99" name="Text 97"/>
          <p:cNvSpPr txBox="1"/>
          <p:nvPr/>
        </p:nvSpPr>
        <p:spPr>
          <a:xfrm>
            <a:off x="5239512" y="56003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+2.8%</a:t>
            </a:r>
            <a:endParaRPr lang="en-US" sz="1300" dirty="0"/>
          </a:p>
        </p:txBody>
      </p:sp>
      <p:sp>
        <p:nvSpPr>
          <p:cNvPr id="100" name="Text 98"/>
          <p:cNvSpPr txBox="1"/>
          <p:nvPr/>
        </p:nvSpPr>
        <p:spPr>
          <a:xfrm>
            <a:off x="6208776" y="170078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01" name="Shape 99"/>
          <p:cNvSpPr/>
          <p:nvPr/>
        </p:nvSpPr>
        <p:spPr>
          <a:xfrm>
            <a:off x="8407908" y="1785542"/>
            <a:ext cx="155448" cy="155448"/>
          </a:xfrm>
          <a:prstGeom prst="ellipse">
            <a:avLst/>
          </a:prstGeom>
          <a:solidFill>
            <a:srgbClr val="12A566"/>
          </a:solidFill>
          <a:ln w="12700">
            <a:solidFill>
              <a:srgbClr val="12A566"/>
            </a:solidFill>
            <a:prstDash val="solid"/>
          </a:ln>
        </p:spPr>
      </p:sp>
      <p:sp>
        <p:nvSpPr>
          <p:cNvPr id="102" name="Shape 100"/>
          <p:cNvSpPr/>
          <p:nvPr/>
        </p:nvSpPr>
        <p:spPr>
          <a:xfrm>
            <a:off x="8993124" y="1785542"/>
            <a:ext cx="155448" cy="155448"/>
          </a:xfrm>
          <a:prstGeom prst="ellipse">
            <a:avLst/>
          </a:prstGeom>
          <a:solidFill>
            <a:srgbClr val="FFFFFF"/>
          </a:solidFill>
          <a:ln w="12700">
            <a:solidFill>
              <a:srgbClr val="9AA3AD"/>
            </a:solidFill>
            <a:prstDash val="solid"/>
          </a:ln>
        </p:spPr>
      </p:sp>
      <p:sp>
        <p:nvSpPr>
          <p:cNvPr id="103" name="Shape 101"/>
          <p:cNvSpPr/>
          <p:nvPr/>
        </p:nvSpPr>
        <p:spPr>
          <a:xfrm>
            <a:off x="9578340" y="1785542"/>
            <a:ext cx="155448" cy="155448"/>
          </a:xfrm>
          <a:prstGeom prst="ellipse">
            <a:avLst/>
          </a:prstGeom>
          <a:solidFill>
            <a:srgbClr val="12A566"/>
          </a:solidFill>
          <a:ln w="12700">
            <a:solidFill>
              <a:srgbClr val="12A566"/>
            </a:solidFill>
            <a:prstDash val="solid"/>
          </a:ln>
        </p:spPr>
      </p:sp>
      <p:sp>
        <p:nvSpPr>
          <p:cNvPr id="104" name="Text 102"/>
          <p:cNvSpPr txBox="1"/>
          <p:nvPr/>
        </p:nvSpPr>
        <p:spPr>
          <a:xfrm>
            <a:off x="9948672" y="170078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$5.08M</a:t>
            </a:r>
            <a:endParaRPr lang="en-US" sz="1300" dirty="0"/>
          </a:p>
        </p:txBody>
      </p:sp>
      <p:sp>
        <p:nvSpPr>
          <p:cNvPr id="105" name="Text 103"/>
          <p:cNvSpPr txBox="1"/>
          <p:nvPr/>
        </p:nvSpPr>
        <p:spPr>
          <a:xfrm>
            <a:off x="10789920" y="170078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+13.0%</a:t>
            </a:r>
            <a:endParaRPr lang="en-US" sz="1300" dirty="0"/>
          </a:p>
        </p:txBody>
      </p:sp>
      <p:sp>
        <p:nvSpPr>
          <p:cNvPr id="106" name="Shape 104"/>
          <p:cNvSpPr/>
          <p:nvPr/>
        </p:nvSpPr>
        <p:spPr>
          <a:xfrm>
            <a:off x="6135624" y="2025748"/>
            <a:ext cx="5486400" cy="324964"/>
          </a:xfrm>
          <a:prstGeom prst="rect">
            <a:avLst/>
          </a:prstGeom>
          <a:solidFill>
            <a:srgbClr val="F7F7F7"/>
          </a:solidFill>
          <a:ln/>
        </p:spPr>
      </p:sp>
      <p:sp>
        <p:nvSpPr>
          <p:cNvPr id="107" name="Text 105"/>
          <p:cNvSpPr txBox="1"/>
          <p:nvPr/>
        </p:nvSpPr>
        <p:spPr>
          <a:xfrm>
            <a:off x="6208776" y="2025748"/>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8" name="Shape 106"/>
          <p:cNvSpPr/>
          <p:nvPr/>
        </p:nvSpPr>
        <p:spPr>
          <a:xfrm>
            <a:off x="8407908" y="2110506"/>
            <a:ext cx="155448" cy="155448"/>
          </a:xfrm>
          <a:prstGeom prst="ellipse">
            <a:avLst/>
          </a:prstGeom>
          <a:solidFill>
            <a:srgbClr val="12A566"/>
          </a:solidFill>
          <a:ln w="12700">
            <a:solidFill>
              <a:srgbClr val="12A566"/>
            </a:solidFill>
            <a:prstDash val="solid"/>
          </a:ln>
        </p:spPr>
      </p:sp>
      <p:sp>
        <p:nvSpPr>
          <p:cNvPr id="109" name="Shape 107"/>
          <p:cNvSpPr/>
          <p:nvPr/>
        </p:nvSpPr>
        <p:spPr>
          <a:xfrm>
            <a:off x="8993124" y="2110506"/>
            <a:ext cx="155448" cy="155448"/>
          </a:xfrm>
          <a:prstGeom prst="ellipse">
            <a:avLst/>
          </a:prstGeom>
          <a:solidFill>
            <a:srgbClr val="FFFFFF"/>
          </a:solidFill>
          <a:ln w="12700">
            <a:solidFill>
              <a:srgbClr val="9AA3AD"/>
            </a:solidFill>
            <a:prstDash val="solid"/>
          </a:ln>
        </p:spPr>
      </p:sp>
      <p:sp>
        <p:nvSpPr>
          <p:cNvPr id="110" name="Shape 108"/>
          <p:cNvSpPr/>
          <p:nvPr/>
        </p:nvSpPr>
        <p:spPr>
          <a:xfrm>
            <a:off x="9578340" y="2110506"/>
            <a:ext cx="155448" cy="155448"/>
          </a:xfrm>
          <a:prstGeom prst="ellipse">
            <a:avLst/>
          </a:prstGeom>
          <a:solidFill>
            <a:srgbClr val="12A566"/>
          </a:solidFill>
          <a:ln w="12700">
            <a:solidFill>
              <a:srgbClr val="12A566"/>
            </a:solidFill>
            <a:prstDash val="solid"/>
          </a:ln>
        </p:spPr>
      </p:sp>
      <p:sp>
        <p:nvSpPr>
          <p:cNvPr id="111" name="Text 109"/>
          <p:cNvSpPr txBox="1"/>
          <p:nvPr/>
        </p:nvSpPr>
        <p:spPr>
          <a:xfrm>
            <a:off x="9948672" y="2025748"/>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$5.93M</a:t>
            </a:r>
            <a:endParaRPr lang="en-US" sz="1300" dirty="0"/>
          </a:p>
        </p:txBody>
      </p:sp>
      <p:sp>
        <p:nvSpPr>
          <p:cNvPr id="112" name="Text 110"/>
          <p:cNvSpPr txBox="1"/>
          <p:nvPr/>
        </p:nvSpPr>
        <p:spPr>
          <a:xfrm>
            <a:off x="10789920" y="2025748"/>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+10.1%</a:t>
            </a:r>
            <a:endParaRPr lang="en-US" sz="1300" dirty="0"/>
          </a:p>
        </p:txBody>
      </p:sp>
      <p:sp>
        <p:nvSpPr>
          <p:cNvPr id="113" name="Text 111"/>
          <p:cNvSpPr txBox="1"/>
          <p:nvPr/>
        </p:nvSpPr>
        <p:spPr>
          <a:xfrm>
            <a:off x="6208776" y="235071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4" name="Shape 112"/>
          <p:cNvSpPr/>
          <p:nvPr/>
        </p:nvSpPr>
        <p:spPr>
          <a:xfrm>
            <a:off x="8407908" y="2435469"/>
            <a:ext cx="155448" cy="155448"/>
          </a:xfrm>
          <a:prstGeom prst="ellipse">
            <a:avLst/>
          </a:prstGeom>
          <a:solidFill>
            <a:srgbClr val="12A566"/>
          </a:solidFill>
          <a:ln w="12700">
            <a:solidFill>
              <a:srgbClr val="12A566"/>
            </a:solidFill>
            <a:prstDash val="solid"/>
          </a:ln>
        </p:spPr>
      </p:sp>
      <p:sp>
        <p:nvSpPr>
          <p:cNvPr id="115" name="Shape 113"/>
          <p:cNvSpPr/>
          <p:nvPr/>
        </p:nvSpPr>
        <p:spPr>
          <a:xfrm>
            <a:off x="8993124" y="2435469"/>
            <a:ext cx="155448" cy="155448"/>
          </a:xfrm>
          <a:prstGeom prst="ellipse">
            <a:avLst/>
          </a:prstGeom>
          <a:solidFill>
            <a:srgbClr val="FFFFFF"/>
          </a:solidFill>
          <a:ln w="12700">
            <a:solidFill>
              <a:srgbClr val="9AA3AD"/>
            </a:solidFill>
            <a:prstDash val="solid"/>
          </a:ln>
        </p:spPr>
      </p:sp>
      <p:sp>
        <p:nvSpPr>
          <p:cNvPr id="116" name="Shape 114"/>
          <p:cNvSpPr/>
          <p:nvPr/>
        </p:nvSpPr>
        <p:spPr>
          <a:xfrm>
            <a:off x="9578340" y="2435469"/>
            <a:ext cx="155448" cy="155448"/>
          </a:xfrm>
          <a:prstGeom prst="ellipse">
            <a:avLst/>
          </a:prstGeom>
          <a:solidFill>
            <a:srgbClr val="12A566"/>
          </a:solidFill>
          <a:ln w="12700">
            <a:solidFill>
              <a:srgbClr val="12A566"/>
            </a:solidFill>
            <a:prstDash val="solid"/>
          </a:ln>
        </p:spPr>
      </p:sp>
      <p:sp>
        <p:nvSpPr>
          <p:cNvPr id="117" name="Text 115"/>
          <p:cNvSpPr txBox="1"/>
          <p:nvPr/>
        </p:nvSpPr>
        <p:spPr>
          <a:xfrm>
            <a:off x="9948672" y="235071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$4.18M</a:t>
            </a:r>
            <a:endParaRPr lang="en-US" sz="1300" dirty="0"/>
          </a:p>
        </p:txBody>
      </p:sp>
      <p:sp>
        <p:nvSpPr>
          <p:cNvPr id="118" name="Text 116"/>
          <p:cNvSpPr txBox="1"/>
          <p:nvPr/>
        </p:nvSpPr>
        <p:spPr>
          <a:xfrm>
            <a:off x="10789920" y="235071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endParaRPr lang="en-US" sz="1300" dirty="0"/>
          </a:p>
        </p:txBody>
      </p:sp>
      <p:sp>
        <p:nvSpPr>
          <p:cNvPr id="119" name="Shape 117"/>
          <p:cNvSpPr/>
          <p:nvPr/>
        </p:nvSpPr>
        <p:spPr>
          <a:xfrm>
            <a:off x="6135624" y="2675675"/>
            <a:ext cx="5486400" cy="324964"/>
          </a:xfrm>
          <a:prstGeom prst="rect">
            <a:avLst/>
          </a:prstGeom>
          <a:solidFill>
            <a:srgbClr val="F7F7F7"/>
          </a:solidFill>
          <a:ln/>
        </p:spPr>
      </p:sp>
      <p:sp>
        <p:nvSpPr>
          <p:cNvPr id="120" name="Text 118"/>
          <p:cNvSpPr txBox="1"/>
          <p:nvPr/>
        </p:nvSpPr>
        <p:spPr>
          <a:xfrm>
            <a:off x="6208776" y="267567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21" name="Shape 119"/>
          <p:cNvSpPr/>
          <p:nvPr/>
        </p:nvSpPr>
        <p:spPr>
          <a:xfrm>
            <a:off x="8407908" y="2760433"/>
            <a:ext cx="155448" cy="155448"/>
          </a:xfrm>
          <a:prstGeom prst="ellipse">
            <a:avLst/>
          </a:prstGeom>
          <a:solidFill>
            <a:srgbClr val="12A566"/>
          </a:solidFill>
          <a:ln w="12700">
            <a:solidFill>
              <a:srgbClr val="12A566"/>
            </a:solidFill>
            <a:prstDash val="solid"/>
          </a:ln>
        </p:spPr>
      </p:sp>
      <p:sp>
        <p:nvSpPr>
          <p:cNvPr id="122" name="Shape 120"/>
          <p:cNvSpPr/>
          <p:nvPr/>
        </p:nvSpPr>
        <p:spPr>
          <a:xfrm>
            <a:off x="8993124" y="2760433"/>
            <a:ext cx="155448" cy="155448"/>
          </a:xfrm>
          <a:prstGeom prst="ellipse">
            <a:avLst/>
          </a:prstGeom>
          <a:solidFill>
            <a:srgbClr val="FFFFFF"/>
          </a:solidFill>
          <a:ln w="12700">
            <a:solidFill>
              <a:srgbClr val="9AA3AD"/>
            </a:solidFill>
            <a:prstDash val="solid"/>
          </a:ln>
        </p:spPr>
      </p:sp>
      <p:sp>
        <p:nvSpPr>
          <p:cNvPr id="123" name="Shape 121"/>
          <p:cNvSpPr/>
          <p:nvPr/>
        </p:nvSpPr>
        <p:spPr>
          <a:xfrm>
            <a:off x="9578340" y="2760433"/>
            <a:ext cx="155448" cy="155448"/>
          </a:xfrm>
          <a:prstGeom prst="ellipse">
            <a:avLst/>
          </a:prstGeom>
          <a:solidFill>
            <a:srgbClr val="12A566"/>
          </a:solidFill>
          <a:ln w="12700">
            <a:solidFill>
              <a:srgbClr val="12A566"/>
            </a:solidFill>
            <a:prstDash val="solid"/>
          </a:ln>
        </p:spPr>
      </p:sp>
      <p:sp>
        <p:nvSpPr>
          <p:cNvPr id="124" name="Text 122"/>
          <p:cNvSpPr txBox="1"/>
          <p:nvPr/>
        </p:nvSpPr>
        <p:spPr>
          <a:xfrm>
            <a:off x="9948672" y="267567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$2.21M</a:t>
            </a:r>
            <a:endParaRPr lang="en-US" sz="1300" dirty="0"/>
          </a:p>
        </p:txBody>
      </p:sp>
      <p:sp>
        <p:nvSpPr>
          <p:cNvPr id="125" name="Text 123"/>
          <p:cNvSpPr txBox="1"/>
          <p:nvPr/>
        </p:nvSpPr>
        <p:spPr>
          <a:xfrm>
            <a:off x="10789920" y="267567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+7.6%</a:t>
            </a:r>
            <a:endParaRPr lang="en-US" sz="1300" dirty="0"/>
          </a:p>
        </p:txBody>
      </p:sp>
      <p:sp>
        <p:nvSpPr>
          <p:cNvPr id="126" name="Text 124"/>
          <p:cNvSpPr txBox="1"/>
          <p:nvPr/>
        </p:nvSpPr>
        <p:spPr>
          <a:xfrm>
            <a:off x="6208776" y="3000639"/>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27" name="Shape 125"/>
          <p:cNvSpPr/>
          <p:nvPr/>
        </p:nvSpPr>
        <p:spPr>
          <a:xfrm>
            <a:off x="8407908" y="3085397"/>
            <a:ext cx="155448" cy="155448"/>
          </a:xfrm>
          <a:prstGeom prst="ellipse">
            <a:avLst/>
          </a:prstGeom>
          <a:solidFill>
            <a:srgbClr val="FFFFFF"/>
          </a:solidFill>
          <a:ln w="12700">
            <a:solidFill>
              <a:srgbClr val="9AA3AD"/>
            </a:solidFill>
            <a:prstDash val="solid"/>
          </a:ln>
        </p:spPr>
      </p:sp>
      <p:sp>
        <p:nvSpPr>
          <p:cNvPr id="128" name="Shape 126"/>
          <p:cNvSpPr/>
          <p:nvPr/>
        </p:nvSpPr>
        <p:spPr>
          <a:xfrm>
            <a:off x="8993124" y="3085397"/>
            <a:ext cx="155448" cy="155448"/>
          </a:xfrm>
          <a:prstGeom prst="ellipse">
            <a:avLst/>
          </a:prstGeom>
          <a:solidFill>
            <a:srgbClr val="12A566"/>
          </a:solidFill>
          <a:ln w="12700">
            <a:solidFill>
              <a:srgbClr val="12A566"/>
            </a:solidFill>
            <a:prstDash val="solid"/>
          </a:ln>
        </p:spPr>
      </p:sp>
      <p:sp>
        <p:nvSpPr>
          <p:cNvPr id="129" name="Shape 127"/>
          <p:cNvSpPr/>
          <p:nvPr/>
        </p:nvSpPr>
        <p:spPr>
          <a:xfrm>
            <a:off x="9578340" y="3085397"/>
            <a:ext cx="155448" cy="155448"/>
          </a:xfrm>
          <a:prstGeom prst="ellipse">
            <a:avLst/>
          </a:prstGeom>
          <a:solidFill>
            <a:srgbClr val="12A566"/>
          </a:solidFill>
          <a:ln w="12700">
            <a:solidFill>
              <a:srgbClr val="12A566"/>
            </a:solidFill>
            <a:prstDash val="solid"/>
          </a:ln>
        </p:spPr>
      </p:sp>
      <p:sp>
        <p:nvSpPr>
          <p:cNvPr id="130" name="Text 128"/>
          <p:cNvSpPr txBox="1"/>
          <p:nvPr/>
        </p:nvSpPr>
        <p:spPr>
          <a:xfrm>
            <a:off x="9948672" y="3000639"/>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$9.60M</a:t>
            </a:r>
            <a:endParaRPr lang="en-US" sz="1300" dirty="0"/>
          </a:p>
        </p:txBody>
      </p:sp>
      <p:sp>
        <p:nvSpPr>
          <p:cNvPr id="131" name="Text 129"/>
          <p:cNvSpPr txBox="1"/>
          <p:nvPr/>
        </p:nvSpPr>
        <p:spPr>
          <a:xfrm>
            <a:off x="10789920" y="3000639"/>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a:t>
            </a:r>
            <a:endParaRPr lang="en-US" sz="1300" dirty="0"/>
          </a:p>
        </p:txBody>
      </p:sp>
      <p:sp>
        <p:nvSpPr>
          <p:cNvPr id="132" name="Shape 130"/>
          <p:cNvSpPr/>
          <p:nvPr/>
        </p:nvSpPr>
        <p:spPr>
          <a:xfrm>
            <a:off x="6135624" y="3325602"/>
            <a:ext cx="5486400" cy="324964"/>
          </a:xfrm>
          <a:prstGeom prst="rect">
            <a:avLst/>
          </a:prstGeom>
          <a:solidFill>
            <a:srgbClr val="F7F7F7"/>
          </a:solidFill>
          <a:ln/>
        </p:spPr>
      </p:sp>
      <p:sp>
        <p:nvSpPr>
          <p:cNvPr id="133" name="Text 131"/>
          <p:cNvSpPr txBox="1"/>
          <p:nvPr/>
        </p:nvSpPr>
        <p:spPr>
          <a:xfrm>
            <a:off x="6208776" y="3325602"/>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4" name="Shape 132"/>
          <p:cNvSpPr/>
          <p:nvPr/>
        </p:nvSpPr>
        <p:spPr>
          <a:xfrm>
            <a:off x="8407908" y="3410360"/>
            <a:ext cx="155448" cy="155448"/>
          </a:xfrm>
          <a:prstGeom prst="ellipse">
            <a:avLst/>
          </a:prstGeom>
          <a:solidFill>
            <a:srgbClr val="12A566"/>
          </a:solidFill>
          <a:ln w="12700">
            <a:solidFill>
              <a:srgbClr val="12A566"/>
            </a:solidFill>
            <a:prstDash val="solid"/>
          </a:ln>
        </p:spPr>
      </p:sp>
      <p:sp>
        <p:nvSpPr>
          <p:cNvPr id="135" name="Shape 133"/>
          <p:cNvSpPr/>
          <p:nvPr/>
        </p:nvSpPr>
        <p:spPr>
          <a:xfrm>
            <a:off x="8993124" y="3410360"/>
            <a:ext cx="155448" cy="155448"/>
          </a:xfrm>
          <a:prstGeom prst="ellipse">
            <a:avLst/>
          </a:prstGeom>
          <a:solidFill>
            <a:srgbClr val="FFFFFF"/>
          </a:solidFill>
          <a:ln w="12700">
            <a:solidFill>
              <a:srgbClr val="9AA3AD"/>
            </a:solidFill>
            <a:prstDash val="solid"/>
          </a:ln>
        </p:spPr>
      </p:sp>
      <p:sp>
        <p:nvSpPr>
          <p:cNvPr id="136" name="Shape 134"/>
          <p:cNvSpPr/>
          <p:nvPr/>
        </p:nvSpPr>
        <p:spPr>
          <a:xfrm>
            <a:off x="9578340" y="3410360"/>
            <a:ext cx="155448" cy="155448"/>
          </a:xfrm>
          <a:prstGeom prst="ellipse">
            <a:avLst/>
          </a:prstGeom>
          <a:solidFill>
            <a:srgbClr val="12A566"/>
          </a:solidFill>
          <a:ln w="12700">
            <a:solidFill>
              <a:srgbClr val="12A566"/>
            </a:solidFill>
            <a:prstDash val="solid"/>
          </a:ln>
        </p:spPr>
      </p:sp>
      <p:sp>
        <p:nvSpPr>
          <p:cNvPr id="137" name="Text 135"/>
          <p:cNvSpPr txBox="1"/>
          <p:nvPr/>
        </p:nvSpPr>
        <p:spPr>
          <a:xfrm>
            <a:off x="9948672" y="3325602"/>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$2.29M</a:t>
            </a:r>
            <a:endParaRPr lang="en-US" sz="1300" dirty="0"/>
          </a:p>
        </p:txBody>
      </p:sp>
      <p:sp>
        <p:nvSpPr>
          <p:cNvPr id="138" name="Text 136"/>
          <p:cNvSpPr txBox="1"/>
          <p:nvPr/>
        </p:nvSpPr>
        <p:spPr>
          <a:xfrm>
            <a:off x="10789920" y="3325602"/>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+4.0%</a:t>
            </a:r>
            <a:endParaRPr lang="en-US" sz="1300" dirty="0"/>
          </a:p>
        </p:txBody>
      </p:sp>
      <p:sp>
        <p:nvSpPr>
          <p:cNvPr id="139" name="Text 137"/>
          <p:cNvSpPr txBox="1"/>
          <p:nvPr/>
        </p:nvSpPr>
        <p:spPr>
          <a:xfrm>
            <a:off x="6208776" y="3650566"/>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40" name="Shape 138"/>
          <p:cNvSpPr/>
          <p:nvPr/>
        </p:nvSpPr>
        <p:spPr>
          <a:xfrm>
            <a:off x="8407908" y="3735324"/>
            <a:ext cx="155448" cy="155448"/>
          </a:xfrm>
          <a:prstGeom prst="ellipse">
            <a:avLst/>
          </a:prstGeom>
          <a:solidFill>
            <a:srgbClr val="12A566"/>
          </a:solidFill>
          <a:ln w="12700">
            <a:solidFill>
              <a:srgbClr val="12A566"/>
            </a:solidFill>
            <a:prstDash val="solid"/>
          </a:ln>
        </p:spPr>
      </p:sp>
      <p:sp>
        <p:nvSpPr>
          <p:cNvPr id="141" name="Shape 139"/>
          <p:cNvSpPr/>
          <p:nvPr/>
        </p:nvSpPr>
        <p:spPr>
          <a:xfrm>
            <a:off x="8993124" y="3735324"/>
            <a:ext cx="155448" cy="155448"/>
          </a:xfrm>
          <a:prstGeom prst="ellipse">
            <a:avLst/>
          </a:prstGeom>
          <a:solidFill>
            <a:srgbClr val="FFFFFF"/>
          </a:solidFill>
          <a:ln w="12700">
            <a:solidFill>
              <a:srgbClr val="9AA3AD"/>
            </a:solidFill>
            <a:prstDash val="solid"/>
          </a:ln>
        </p:spPr>
      </p:sp>
      <p:sp>
        <p:nvSpPr>
          <p:cNvPr id="142" name="Shape 140"/>
          <p:cNvSpPr/>
          <p:nvPr/>
        </p:nvSpPr>
        <p:spPr>
          <a:xfrm>
            <a:off x="9578340" y="3735324"/>
            <a:ext cx="155448" cy="155448"/>
          </a:xfrm>
          <a:prstGeom prst="ellipse">
            <a:avLst/>
          </a:prstGeom>
          <a:solidFill>
            <a:srgbClr val="12A566"/>
          </a:solidFill>
          <a:ln w="12700">
            <a:solidFill>
              <a:srgbClr val="12A566"/>
            </a:solidFill>
            <a:prstDash val="solid"/>
          </a:ln>
        </p:spPr>
      </p:sp>
      <p:sp>
        <p:nvSpPr>
          <p:cNvPr id="143" name="Text 141"/>
          <p:cNvSpPr txBox="1"/>
          <p:nvPr/>
        </p:nvSpPr>
        <p:spPr>
          <a:xfrm>
            <a:off x="9948672" y="3650566"/>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$6.61M</a:t>
            </a:r>
            <a:endParaRPr lang="en-US" sz="1300" dirty="0"/>
          </a:p>
        </p:txBody>
      </p:sp>
      <p:sp>
        <p:nvSpPr>
          <p:cNvPr id="144" name="Text 142"/>
          <p:cNvSpPr txBox="1"/>
          <p:nvPr/>
        </p:nvSpPr>
        <p:spPr>
          <a:xfrm>
            <a:off x="10789920" y="3650566"/>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45" name="Shape 143"/>
          <p:cNvSpPr/>
          <p:nvPr/>
        </p:nvSpPr>
        <p:spPr>
          <a:xfrm>
            <a:off x="6135624" y="3975530"/>
            <a:ext cx="5486400" cy="324964"/>
          </a:xfrm>
          <a:prstGeom prst="rect">
            <a:avLst/>
          </a:prstGeom>
          <a:solidFill>
            <a:srgbClr val="F7F7F7"/>
          </a:solidFill>
          <a:ln/>
        </p:spPr>
      </p:sp>
      <p:sp>
        <p:nvSpPr>
          <p:cNvPr id="146" name="Text 144"/>
          <p:cNvSpPr txBox="1"/>
          <p:nvPr/>
        </p:nvSpPr>
        <p:spPr>
          <a:xfrm>
            <a:off x="6208776" y="3975530"/>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7" name="Shape 145"/>
          <p:cNvSpPr/>
          <p:nvPr/>
        </p:nvSpPr>
        <p:spPr>
          <a:xfrm>
            <a:off x="8407908" y="4060288"/>
            <a:ext cx="155448" cy="155448"/>
          </a:xfrm>
          <a:prstGeom prst="ellipse">
            <a:avLst/>
          </a:prstGeom>
          <a:solidFill>
            <a:srgbClr val="12A566"/>
          </a:solidFill>
          <a:ln w="12700">
            <a:solidFill>
              <a:srgbClr val="12A566"/>
            </a:solidFill>
            <a:prstDash val="solid"/>
          </a:ln>
        </p:spPr>
      </p:sp>
      <p:sp>
        <p:nvSpPr>
          <p:cNvPr id="148" name="Shape 146"/>
          <p:cNvSpPr/>
          <p:nvPr/>
        </p:nvSpPr>
        <p:spPr>
          <a:xfrm>
            <a:off x="8993124" y="4060288"/>
            <a:ext cx="155448" cy="155448"/>
          </a:xfrm>
          <a:prstGeom prst="ellipse">
            <a:avLst/>
          </a:prstGeom>
          <a:solidFill>
            <a:srgbClr val="FFFFFF"/>
          </a:solidFill>
          <a:ln w="12700">
            <a:solidFill>
              <a:srgbClr val="9AA3AD"/>
            </a:solidFill>
            <a:prstDash val="solid"/>
          </a:ln>
        </p:spPr>
      </p:sp>
      <p:sp>
        <p:nvSpPr>
          <p:cNvPr id="149" name="Shape 147"/>
          <p:cNvSpPr/>
          <p:nvPr/>
        </p:nvSpPr>
        <p:spPr>
          <a:xfrm>
            <a:off x="9578340" y="4060288"/>
            <a:ext cx="155448" cy="155448"/>
          </a:xfrm>
          <a:prstGeom prst="ellipse">
            <a:avLst/>
          </a:prstGeom>
          <a:solidFill>
            <a:srgbClr val="12A566"/>
          </a:solidFill>
          <a:ln w="12700">
            <a:solidFill>
              <a:srgbClr val="12A566"/>
            </a:solidFill>
            <a:prstDash val="solid"/>
          </a:ln>
        </p:spPr>
      </p:sp>
      <p:sp>
        <p:nvSpPr>
          <p:cNvPr id="150" name="Text 148"/>
          <p:cNvSpPr txBox="1"/>
          <p:nvPr/>
        </p:nvSpPr>
        <p:spPr>
          <a:xfrm>
            <a:off x="9948672" y="3975530"/>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$6.15M</a:t>
            </a:r>
            <a:endParaRPr lang="en-US" sz="1300" dirty="0"/>
          </a:p>
        </p:txBody>
      </p:sp>
      <p:sp>
        <p:nvSpPr>
          <p:cNvPr id="151" name="Text 149"/>
          <p:cNvSpPr txBox="1"/>
          <p:nvPr/>
        </p:nvSpPr>
        <p:spPr>
          <a:xfrm>
            <a:off x="10789920" y="3975530"/>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a:t>
            </a:r>
            <a:endParaRPr lang="en-US" sz="1300" dirty="0"/>
          </a:p>
        </p:txBody>
      </p:sp>
      <p:sp>
        <p:nvSpPr>
          <p:cNvPr id="152" name="Text 150"/>
          <p:cNvSpPr txBox="1"/>
          <p:nvPr/>
        </p:nvSpPr>
        <p:spPr>
          <a:xfrm>
            <a:off x="6208776" y="4300494"/>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53" name="Shape 151"/>
          <p:cNvSpPr/>
          <p:nvPr/>
        </p:nvSpPr>
        <p:spPr>
          <a:xfrm>
            <a:off x="8407908" y="4385251"/>
            <a:ext cx="155448" cy="155448"/>
          </a:xfrm>
          <a:prstGeom prst="ellipse">
            <a:avLst/>
          </a:prstGeom>
          <a:solidFill>
            <a:srgbClr val="FFFFFF"/>
          </a:solidFill>
          <a:ln w="12700">
            <a:solidFill>
              <a:srgbClr val="9AA3AD"/>
            </a:solidFill>
            <a:prstDash val="solid"/>
          </a:ln>
        </p:spPr>
      </p:sp>
      <p:sp>
        <p:nvSpPr>
          <p:cNvPr id="154" name="Shape 152"/>
          <p:cNvSpPr/>
          <p:nvPr/>
        </p:nvSpPr>
        <p:spPr>
          <a:xfrm>
            <a:off x="8993124" y="4385251"/>
            <a:ext cx="155448" cy="155448"/>
          </a:xfrm>
          <a:prstGeom prst="ellipse">
            <a:avLst/>
          </a:prstGeom>
          <a:solidFill>
            <a:srgbClr val="12A566"/>
          </a:solidFill>
          <a:ln w="12700">
            <a:solidFill>
              <a:srgbClr val="12A566"/>
            </a:solidFill>
            <a:prstDash val="solid"/>
          </a:ln>
        </p:spPr>
      </p:sp>
      <p:sp>
        <p:nvSpPr>
          <p:cNvPr id="155" name="Shape 153"/>
          <p:cNvSpPr/>
          <p:nvPr/>
        </p:nvSpPr>
        <p:spPr>
          <a:xfrm>
            <a:off x="9578340" y="4385251"/>
            <a:ext cx="155448" cy="155448"/>
          </a:xfrm>
          <a:prstGeom prst="ellipse">
            <a:avLst/>
          </a:prstGeom>
          <a:solidFill>
            <a:srgbClr val="12A566"/>
          </a:solidFill>
          <a:ln w="12700">
            <a:solidFill>
              <a:srgbClr val="12A566"/>
            </a:solidFill>
            <a:prstDash val="solid"/>
          </a:ln>
        </p:spPr>
      </p:sp>
      <p:sp>
        <p:nvSpPr>
          <p:cNvPr id="156" name="Text 154"/>
          <p:cNvSpPr txBox="1"/>
          <p:nvPr/>
        </p:nvSpPr>
        <p:spPr>
          <a:xfrm>
            <a:off x="9948672" y="4300494"/>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$2.42M</a:t>
            </a:r>
            <a:endParaRPr lang="en-US" sz="1300" dirty="0"/>
          </a:p>
        </p:txBody>
      </p:sp>
      <p:sp>
        <p:nvSpPr>
          <p:cNvPr id="157" name="Text 155"/>
          <p:cNvSpPr txBox="1"/>
          <p:nvPr/>
        </p:nvSpPr>
        <p:spPr>
          <a:xfrm>
            <a:off x="10789920" y="4300494"/>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a:t>
            </a:r>
            <a:endParaRPr lang="en-US" sz="1300" dirty="0"/>
          </a:p>
        </p:txBody>
      </p:sp>
      <p:sp>
        <p:nvSpPr>
          <p:cNvPr id="158" name="Shape 156"/>
          <p:cNvSpPr/>
          <p:nvPr/>
        </p:nvSpPr>
        <p:spPr>
          <a:xfrm>
            <a:off x="6135624" y="4625457"/>
            <a:ext cx="5486400" cy="324964"/>
          </a:xfrm>
          <a:prstGeom prst="rect">
            <a:avLst/>
          </a:prstGeom>
          <a:solidFill>
            <a:srgbClr val="F7F7F7"/>
          </a:solidFill>
          <a:ln/>
        </p:spPr>
      </p:sp>
      <p:sp>
        <p:nvSpPr>
          <p:cNvPr id="159" name="Text 157"/>
          <p:cNvSpPr txBox="1"/>
          <p:nvPr/>
        </p:nvSpPr>
        <p:spPr>
          <a:xfrm>
            <a:off x="6208776" y="4625457"/>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60" name="Shape 158"/>
          <p:cNvSpPr/>
          <p:nvPr/>
        </p:nvSpPr>
        <p:spPr>
          <a:xfrm>
            <a:off x="8407908" y="4710215"/>
            <a:ext cx="155448" cy="155448"/>
          </a:xfrm>
          <a:prstGeom prst="ellipse">
            <a:avLst/>
          </a:prstGeom>
          <a:solidFill>
            <a:srgbClr val="12A566"/>
          </a:solidFill>
          <a:ln w="12700">
            <a:solidFill>
              <a:srgbClr val="12A566"/>
            </a:solidFill>
            <a:prstDash val="solid"/>
          </a:ln>
        </p:spPr>
      </p:sp>
      <p:sp>
        <p:nvSpPr>
          <p:cNvPr id="161" name="Shape 159"/>
          <p:cNvSpPr/>
          <p:nvPr/>
        </p:nvSpPr>
        <p:spPr>
          <a:xfrm>
            <a:off x="8993124" y="4710215"/>
            <a:ext cx="155448" cy="155448"/>
          </a:xfrm>
          <a:prstGeom prst="ellipse">
            <a:avLst/>
          </a:prstGeom>
          <a:solidFill>
            <a:srgbClr val="FFFFFF"/>
          </a:solidFill>
          <a:ln w="12700">
            <a:solidFill>
              <a:srgbClr val="9AA3AD"/>
            </a:solidFill>
            <a:prstDash val="solid"/>
          </a:ln>
        </p:spPr>
      </p:sp>
      <p:sp>
        <p:nvSpPr>
          <p:cNvPr id="162" name="Shape 160"/>
          <p:cNvSpPr/>
          <p:nvPr/>
        </p:nvSpPr>
        <p:spPr>
          <a:xfrm>
            <a:off x="9578340" y="4710215"/>
            <a:ext cx="155448" cy="155448"/>
          </a:xfrm>
          <a:prstGeom prst="ellipse">
            <a:avLst/>
          </a:prstGeom>
          <a:solidFill>
            <a:srgbClr val="12A566"/>
          </a:solidFill>
          <a:ln w="12700">
            <a:solidFill>
              <a:srgbClr val="12A566"/>
            </a:solidFill>
            <a:prstDash val="solid"/>
          </a:ln>
        </p:spPr>
      </p:sp>
      <p:sp>
        <p:nvSpPr>
          <p:cNvPr id="163" name="Text 161"/>
          <p:cNvSpPr txBox="1"/>
          <p:nvPr/>
        </p:nvSpPr>
        <p:spPr>
          <a:xfrm>
            <a:off x="9948672" y="4625457"/>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$3.91M</a:t>
            </a:r>
            <a:endParaRPr lang="en-US" sz="1300" dirty="0"/>
          </a:p>
        </p:txBody>
      </p:sp>
      <p:sp>
        <p:nvSpPr>
          <p:cNvPr id="164" name="Text 162"/>
          <p:cNvSpPr txBox="1"/>
          <p:nvPr/>
        </p:nvSpPr>
        <p:spPr>
          <a:xfrm>
            <a:off x="10789920" y="4625457"/>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a:t>
            </a:r>
            <a:endParaRPr lang="en-US" sz="1300" dirty="0"/>
          </a:p>
        </p:txBody>
      </p:sp>
      <p:sp>
        <p:nvSpPr>
          <p:cNvPr id="165" name="Text 163"/>
          <p:cNvSpPr txBox="1"/>
          <p:nvPr/>
        </p:nvSpPr>
        <p:spPr>
          <a:xfrm>
            <a:off x="6208776" y="4950421"/>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66" name="Shape 164"/>
          <p:cNvSpPr/>
          <p:nvPr/>
        </p:nvSpPr>
        <p:spPr>
          <a:xfrm>
            <a:off x="8407908" y="5035179"/>
            <a:ext cx="155448" cy="155448"/>
          </a:xfrm>
          <a:prstGeom prst="ellipse">
            <a:avLst/>
          </a:prstGeom>
          <a:solidFill>
            <a:srgbClr val="FFFFFF"/>
          </a:solidFill>
          <a:ln w="12700">
            <a:solidFill>
              <a:srgbClr val="9AA3AD"/>
            </a:solidFill>
            <a:prstDash val="solid"/>
          </a:ln>
        </p:spPr>
      </p:sp>
      <p:sp>
        <p:nvSpPr>
          <p:cNvPr id="167" name="Shape 165"/>
          <p:cNvSpPr/>
          <p:nvPr/>
        </p:nvSpPr>
        <p:spPr>
          <a:xfrm>
            <a:off x="8993124" y="5035179"/>
            <a:ext cx="155448" cy="155448"/>
          </a:xfrm>
          <a:prstGeom prst="ellipse">
            <a:avLst/>
          </a:prstGeom>
          <a:solidFill>
            <a:srgbClr val="12A566"/>
          </a:solidFill>
          <a:ln w="12700">
            <a:solidFill>
              <a:srgbClr val="12A566"/>
            </a:solidFill>
            <a:prstDash val="solid"/>
          </a:ln>
        </p:spPr>
      </p:sp>
      <p:sp>
        <p:nvSpPr>
          <p:cNvPr id="168" name="Shape 166"/>
          <p:cNvSpPr/>
          <p:nvPr/>
        </p:nvSpPr>
        <p:spPr>
          <a:xfrm>
            <a:off x="9578340" y="5035179"/>
            <a:ext cx="155448" cy="155448"/>
          </a:xfrm>
          <a:prstGeom prst="ellipse">
            <a:avLst/>
          </a:prstGeom>
          <a:solidFill>
            <a:srgbClr val="12A566"/>
          </a:solidFill>
          <a:ln w="12700">
            <a:solidFill>
              <a:srgbClr val="12A566"/>
            </a:solidFill>
            <a:prstDash val="solid"/>
          </a:ln>
        </p:spPr>
      </p:sp>
      <p:sp>
        <p:nvSpPr>
          <p:cNvPr id="169" name="Text 167"/>
          <p:cNvSpPr txBox="1"/>
          <p:nvPr/>
        </p:nvSpPr>
        <p:spPr>
          <a:xfrm>
            <a:off x="9948672" y="4950421"/>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$1.59M</a:t>
            </a:r>
            <a:endParaRPr lang="en-US" sz="1300" dirty="0"/>
          </a:p>
        </p:txBody>
      </p:sp>
      <p:sp>
        <p:nvSpPr>
          <p:cNvPr id="170" name="Text 168"/>
          <p:cNvSpPr txBox="1"/>
          <p:nvPr/>
        </p:nvSpPr>
        <p:spPr>
          <a:xfrm>
            <a:off x="10789920" y="4950421"/>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a:t>
            </a:r>
            <a:endParaRPr lang="en-US" sz="1300" dirty="0"/>
          </a:p>
        </p:txBody>
      </p:sp>
      <p:sp>
        <p:nvSpPr>
          <p:cNvPr id="171" name="Shape 169"/>
          <p:cNvSpPr/>
          <p:nvPr/>
        </p:nvSpPr>
        <p:spPr>
          <a:xfrm>
            <a:off x="6135624" y="5275385"/>
            <a:ext cx="5486400" cy="324964"/>
          </a:xfrm>
          <a:prstGeom prst="rect">
            <a:avLst/>
          </a:prstGeom>
          <a:solidFill>
            <a:srgbClr val="F7F7F7"/>
          </a:solidFill>
          <a:ln/>
        </p:spPr>
      </p:sp>
      <p:sp>
        <p:nvSpPr>
          <p:cNvPr id="172" name="Text 170"/>
          <p:cNvSpPr txBox="1"/>
          <p:nvPr/>
        </p:nvSpPr>
        <p:spPr>
          <a:xfrm>
            <a:off x="6208776" y="5275385"/>
            <a:ext cx="1984248" cy="32496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73" name="Shape 171"/>
          <p:cNvSpPr/>
          <p:nvPr/>
        </p:nvSpPr>
        <p:spPr>
          <a:xfrm>
            <a:off x="8407908" y="5360142"/>
            <a:ext cx="155448" cy="155448"/>
          </a:xfrm>
          <a:prstGeom prst="ellipse">
            <a:avLst/>
          </a:prstGeom>
          <a:solidFill>
            <a:srgbClr val="12A566"/>
          </a:solidFill>
          <a:ln w="12700">
            <a:solidFill>
              <a:srgbClr val="12A566"/>
            </a:solidFill>
            <a:prstDash val="solid"/>
          </a:ln>
        </p:spPr>
      </p:sp>
      <p:sp>
        <p:nvSpPr>
          <p:cNvPr id="174" name="Shape 172"/>
          <p:cNvSpPr/>
          <p:nvPr/>
        </p:nvSpPr>
        <p:spPr>
          <a:xfrm>
            <a:off x="8993124" y="5360142"/>
            <a:ext cx="155448" cy="155448"/>
          </a:xfrm>
          <a:prstGeom prst="ellipse">
            <a:avLst/>
          </a:prstGeom>
          <a:solidFill>
            <a:srgbClr val="FFFFFF"/>
          </a:solidFill>
          <a:ln w="12700">
            <a:solidFill>
              <a:srgbClr val="9AA3AD"/>
            </a:solidFill>
            <a:prstDash val="solid"/>
          </a:ln>
        </p:spPr>
      </p:sp>
      <p:sp>
        <p:nvSpPr>
          <p:cNvPr id="175" name="Shape 173"/>
          <p:cNvSpPr/>
          <p:nvPr/>
        </p:nvSpPr>
        <p:spPr>
          <a:xfrm>
            <a:off x="9578340" y="5360142"/>
            <a:ext cx="155448" cy="155448"/>
          </a:xfrm>
          <a:prstGeom prst="ellipse">
            <a:avLst/>
          </a:prstGeom>
          <a:solidFill>
            <a:srgbClr val="12A566"/>
          </a:solidFill>
          <a:ln w="12700">
            <a:solidFill>
              <a:srgbClr val="12A566"/>
            </a:solidFill>
            <a:prstDash val="solid"/>
          </a:ln>
        </p:spPr>
      </p:sp>
      <p:sp>
        <p:nvSpPr>
          <p:cNvPr id="176" name="Text 174"/>
          <p:cNvSpPr txBox="1"/>
          <p:nvPr/>
        </p:nvSpPr>
        <p:spPr>
          <a:xfrm>
            <a:off x="9948672" y="5275385"/>
            <a:ext cx="841248" cy="32496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$4.53M</a:t>
            </a:r>
            <a:endParaRPr lang="en-US" sz="1300" dirty="0"/>
          </a:p>
        </p:txBody>
      </p:sp>
      <p:sp>
        <p:nvSpPr>
          <p:cNvPr id="177" name="Text 175"/>
          <p:cNvSpPr txBox="1"/>
          <p:nvPr/>
        </p:nvSpPr>
        <p:spPr>
          <a:xfrm>
            <a:off x="10789920" y="5275385"/>
            <a:ext cx="786384" cy="32496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+0.8%</a:t>
            </a:r>
            <a:endParaRPr lang="en-US" sz="1300" dirty="0"/>
          </a:p>
        </p:txBody>
      </p:sp>
      <p:sp>
        <p:nvSpPr>
          <p:cNvPr id="178" name="Shape 176"/>
          <p:cNvSpPr/>
          <p:nvPr/>
        </p:nvSpPr>
        <p:spPr>
          <a:xfrm>
            <a:off x="457200" y="6126480"/>
            <a:ext cx="11274552" cy="371856"/>
          </a:xfrm>
          <a:prstGeom prst="rect">
            <a:avLst/>
          </a:prstGeom>
          <a:solidFill>
            <a:srgbClr val="E6F6EE"/>
          </a:solidFill>
          <a:ln/>
        </p:spPr>
      </p:sp>
      <p:sp>
        <p:nvSpPr>
          <p:cNvPr id="179" name="Text 17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set a January–September record; 13 set it in service, parts and total.</a:t>
            </a:r>
            <a:endParaRPr lang="en-US" sz="16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HYUNDAI PRESCOTT</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+35.7%</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$1.54M vs $1.13M, the previous best (2025).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+31.6%</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+16.0%</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Hyundai Prescott, Lincoln, Lexus and Audi Henderson beat their previous best by the most in percentage terms.</a:t>
            </a:r>
            <a:endParaRPr lang="en-US" sz="145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SPOTLIGHT BY $</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Best January–September Ever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TOYOTA HENDERSON</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+$1.77M</a:t>
            </a:r>
            <a:endParaRPr lang="en-US" sz="32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$22.59M vs $20.82M, the previous best (2025); +8.5%.</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+$1.70M</a:t>
            </a:r>
            <a:endParaRPr lang="en-US" sz="32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$12.34M vs $10.64M, the previous best (2025); +16.0%.</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LEXUS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+$0.76M</a:t>
            </a:r>
            <a:endParaRPr lang="en-US" sz="32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$4.15M vs $3.38M, the previous best (2025); +22.5%.</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LINCOLN</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200" b="1" dirty="0">
                <a:solidFill>
                  <a:srgbClr val="0B7A4A"/>
                </a:solidFill>
                <a:latin typeface="Inter" pitchFamily="34" charset="0"/>
                <a:ea typeface="Inter" pitchFamily="34" charset="-122"/>
                <a:cs typeface="Inter" pitchFamily="34" charset="-120"/>
              </a:rPr>
              <a:t>+$0.72M</a:t>
            </a:r>
            <a:endParaRPr lang="en-US" sz="32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$2.98M vs $2.26M, the previous best (2025); +31.6%.</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What changed? Each of these stores tells the room one thing they did differently this year.</a:t>
            </a:r>
            <a:endParaRPr lang="en-US" sz="1700" dirty="0"/>
          </a:p>
        </p:txBody>
      </p:sp>
      <p:sp>
        <p:nvSpPr>
          <p:cNvPr id="27" name="Shape 25"/>
          <p:cNvSpPr/>
          <p:nvPr/>
        </p:nvSpPr>
        <p:spPr>
          <a:xfrm>
            <a:off x="457200" y="6126480"/>
            <a:ext cx="11274552" cy="364236"/>
          </a:xfrm>
          <a:prstGeom prst="rect">
            <a:avLst/>
          </a:prstGeom>
          <a:solidFill>
            <a:srgbClr val="E6F6EE"/>
          </a:solidFill>
          <a:ln/>
        </p:spPr>
      </p:sp>
      <p:sp>
        <p:nvSpPr>
          <p:cNvPr id="28" name="Text 26"/>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Toyota Henderson, Audi Henderson, Lexus and Lincoln beat their previous best by the most in dollars.</a:t>
            </a:r>
            <a:endParaRPr lang="en-US" sz="155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7" name="Text 5"/>
          <p:cNvSpPr txBox="1"/>
          <p:nvPr/>
        </p:nvSpPr>
        <p:spPr>
          <a:xfrm>
            <a:off x="10369296" y="1316736"/>
            <a:ext cx="10515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RECORDS</a:t>
            </a:r>
            <a:endParaRPr lang="en-US" sz="1400" dirty="0"/>
          </a:p>
        </p:txBody>
      </p:sp>
      <p:sp>
        <p:nvSpPr>
          <p:cNvPr id="8" name="Text 6"/>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9" name="Shape 7"/>
          <p:cNvSpPr/>
          <p:nvPr/>
        </p:nvSpPr>
        <p:spPr>
          <a:xfrm>
            <a:off x="2670048" y="1779994"/>
            <a:ext cx="2093976" cy="193624"/>
          </a:xfrm>
          <a:prstGeom prst="rect">
            <a:avLst/>
          </a:prstGeom>
          <a:solidFill>
            <a:srgbClr val="12A566"/>
          </a:solidFill>
          <a:ln/>
        </p:spPr>
      </p:sp>
      <p:sp>
        <p:nvSpPr>
          <p:cNvPr id="10" name="Text 8"/>
          <p:cNvSpPr txBox="1"/>
          <p:nvPr/>
        </p:nvSpPr>
        <p:spPr>
          <a:xfrm>
            <a:off x="4818888"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 name="Text 9"/>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 name="Shape 10"/>
          <p:cNvSpPr/>
          <p:nvPr/>
        </p:nvSpPr>
        <p:spPr>
          <a:xfrm>
            <a:off x="2670048" y="2132038"/>
            <a:ext cx="2093976" cy="193624"/>
          </a:xfrm>
          <a:prstGeom prst="rect">
            <a:avLst/>
          </a:prstGeom>
          <a:solidFill>
            <a:srgbClr val="12A566"/>
          </a:solidFill>
          <a:ln/>
        </p:spPr>
      </p:sp>
      <p:sp>
        <p:nvSpPr>
          <p:cNvPr id="13" name="Text 11"/>
          <p:cNvSpPr txBox="1"/>
          <p:nvPr/>
        </p:nvSpPr>
        <p:spPr>
          <a:xfrm>
            <a:off x="4818888"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 name="Text 12"/>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5" name="Shape 13"/>
          <p:cNvSpPr/>
          <p:nvPr/>
        </p:nvSpPr>
        <p:spPr>
          <a:xfrm>
            <a:off x="2670048" y="2484082"/>
            <a:ext cx="1861312" cy="193624"/>
          </a:xfrm>
          <a:prstGeom prst="rect">
            <a:avLst/>
          </a:prstGeom>
          <a:solidFill>
            <a:srgbClr val="12A566"/>
          </a:solidFill>
          <a:ln/>
        </p:spPr>
      </p:sp>
      <p:sp>
        <p:nvSpPr>
          <p:cNvPr id="16" name="Text 14"/>
          <p:cNvSpPr txBox="1"/>
          <p:nvPr/>
        </p:nvSpPr>
        <p:spPr>
          <a:xfrm>
            <a:off x="4818888"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7" name="Text 15"/>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8" name="Shape 16"/>
          <p:cNvSpPr/>
          <p:nvPr/>
        </p:nvSpPr>
        <p:spPr>
          <a:xfrm>
            <a:off x="2670048" y="2836126"/>
            <a:ext cx="1628648" cy="193624"/>
          </a:xfrm>
          <a:prstGeom prst="rect">
            <a:avLst/>
          </a:prstGeom>
          <a:solidFill>
            <a:srgbClr val="12A566"/>
          </a:solidFill>
          <a:ln/>
        </p:spPr>
      </p:sp>
      <p:sp>
        <p:nvSpPr>
          <p:cNvPr id="19" name="Text 17"/>
          <p:cNvSpPr txBox="1"/>
          <p:nvPr/>
        </p:nvSpPr>
        <p:spPr>
          <a:xfrm>
            <a:off x="4818888"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0" name="Text 18"/>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670048" y="3188170"/>
            <a:ext cx="1628648" cy="193624"/>
          </a:xfrm>
          <a:prstGeom prst="rect">
            <a:avLst/>
          </a:prstGeom>
          <a:solidFill>
            <a:srgbClr val="12A566"/>
          </a:solidFill>
          <a:ln/>
        </p:spPr>
      </p:sp>
      <p:sp>
        <p:nvSpPr>
          <p:cNvPr id="22" name="Text 20"/>
          <p:cNvSpPr txBox="1"/>
          <p:nvPr/>
        </p:nvSpPr>
        <p:spPr>
          <a:xfrm>
            <a:off x="4818888"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23" name="Text 21"/>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2670048" y="3540214"/>
            <a:ext cx="1395984" cy="193624"/>
          </a:xfrm>
          <a:prstGeom prst="rect">
            <a:avLst/>
          </a:prstGeom>
          <a:solidFill>
            <a:srgbClr val="12A566"/>
          </a:solidFill>
          <a:ln/>
        </p:spPr>
      </p:sp>
      <p:sp>
        <p:nvSpPr>
          <p:cNvPr id="25" name="Text 23"/>
          <p:cNvSpPr txBox="1"/>
          <p:nvPr/>
        </p:nvSpPr>
        <p:spPr>
          <a:xfrm>
            <a:off x="4818888"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6" name="Text 24"/>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7" name="Shape 25"/>
          <p:cNvSpPr/>
          <p:nvPr/>
        </p:nvSpPr>
        <p:spPr>
          <a:xfrm>
            <a:off x="2670048" y="3892258"/>
            <a:ext cx="1395984" cy="193624"/>
          </a:xfrm>
          <a:prstGeom prst="rect">
            <a:avLst/>
          </a:prstGeom>
          <a:solidFill>
            <a:srgbClr val="12A566"/>
          </a:solidFill>
          <a:ln/>
        </p:spPr>
      </p:sp>
      <p:sp>
        <p:nvSpPr>
          <p:cNvPr id="28" name="Text 26"/>
          <p:cNvSpPr txBox="1"/>
          <p:nvPr/>
        </p:nvSpPr>
        <p:spPr>
          <a:xfrm>
            <a:off x="4818888"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0" name="Shape 28"/>
          <p:cNvSpPr/>
          <p:nvPr/>
        </p:nvSpPr>
        <p:spPr>
          <a:xfrm>
            <a:off x="2670048" y="4244302"/>
            <a:ext cx="1163320" cy="193624"/>
          </a:xfrm>
          <a:prstGeom prst="rect">
            <a:avLst/>
          </a:prstGeom>
          <a:solidFill>
            <a:srgbClr val="12A566"/>
          </a:solidFill>
          <a:ln/>
        </p:spPr>
      </p:sp>
      <p:sp>
        <p:nvSpPr>
          <p:cNvPr id="31" name="Text 29"/>
          <p:cNvSpPr txBox="1"/>
          <p:nvPr/>
        </p:nvSpPr>
        <p:spPr>
          <a:xfrm>
            <a:off x="4818888"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2" name="Text 30"/>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33" name="Shape 31"/>
          <p:cNvSpPr/>
          <p:nvPr/>
        </p:nvSpPr>
        <p:spPr>
          <a:xfrm>
            <a:off x="2670048" y="4596346"/>
            <a:ext cx="930656" cy="193624"/>
          </a:xfrm>
          <a:prstGeom prst="rect">
            <a:avLst/>
          </a:prstGeom>
          <a:solidFill>
            <a:srgbClr val="12A566"/>
          </a:solidFill>
          <a:ln/>
        </p:spPr>
      </p:sp>
      <p:sp>
        <p:nvSpPr>
          <p:cNvPr id="34" name="Text 32"/>
          <p:cNvSpPr txBox="1"/>
          <p:nvPr/>
        </p:nvSpPr>
        <p:spPr>
          <a:xfrm>
            <a:off x="4818888"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5" name="Text 33"/>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6" name="Shape 34"/>
          <p:cNvSpPr/>
          <p:nvPr/>
        </p:nvSpPr>
        <p:spPr>
          <a:xfrm>
            <a:off x="2670048" y="4948390"/>
            <a:ext cx="930656" cy="193624"/>
          </a:xfrm>
          <a:prstGeom prst="rect">
            <a:avLst/>
          </a:prstGeom>
          <a:solidFill>
            <a:srgbClr val="12A566"/>
          </a:solidFill>
          <a:ln/>
        </p:spPr>
      </p:sp>
      <p:sp>
        <p:nvSpPr>
          <p:cNvPr id="37" name="Text 35"/>
          <p:cNvSpPr txBox="1"/>
          <p:nvPr/>
        </p:nvSpPr>
        <p:spPr>
          <a:xfrm>
            <a:off x="4818888"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38" name="Text 36"/>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39" name="Shape 37"/>
          <p:cNvSpPr/>
          <p:nvPr/>
        </p:nvSpPr>
        <p:spPr>
          <a:xfrm>
            <a:off x="2670048" y="5300434"/>
            <a:ext cx="930656" cy="193624"/>
          </a:xfrm>
          <a:prstGeom prst="rect">
            <a:avLst/>
          </a:prstGeom>
          <a:solidFill>
            <a:srgbClr val="12A566"/>
          </a:solidFill>
          <a:ln/>
        </p:spPr>
      </p:sp>
      <p:sp>
        <p:nvSpPr>
          <p:cNvPr id="40" name="Text 38"/>
          <p:cNvSpPr txBox="1"/>
          <p:nvPr/>
        </p:nvSpPr>
        <p:spPr>
          <a:xfrm>
            <a:off x="4818888"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2" name="Shape 40"/>
          <p:cNvSpPr/>
          <p:nvPr/>
        </p:nvSpPr>
        <p:spPr>
          <a:xfrm>
            <a:off x="2670048" y="5652478"/>
            <a:ext cx="930656" cy="193624"/>
          </a:xfrm>
          <a:prstGeom prst="rect">
            <a:avLst/>
          </a:prstGeom>
          <a:solidFill>
            <a:srgbClr val="12A566"/>
          </a:solidFill>
          <a:ln/>
        </p:spPr>
      </p:sp>
      <p:sp>
        <p:nvSpPr>
          <p:cNvPr id="43" name="Text 41"/>
          <p:cNvSpPr txBox="1"/>
          <p:nvPr/>
        </p:nvSpPr>
        <p:spPr>
          <a:xfrm>
            <a:off x="4818888" y="557326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4" name="Text 42"/>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45" name="Shape 43"/>
          <p:cNvSpPr/>
          <p:nvPr/>
        </p:nvSpPr>
        <p:spPr>
          <a:xfrm>
            <a:off x="8220456" y="1779994"/>
            <a:ext cx="930656" cy="193624"/>
          </a:xfrm>
          <a:prstGeom prst="rect">
            <a:avLst/>
          </a:prstGeom>
          <a:solidFill>
            <a:srgbClr val="12A566"/>
          </a:solidFill>
          <a:ln/>
        </p:spPr>
      </p:sp>
      <p:sp>
        <p:nvSpPr>
          <p:cNvPr id="46" name="Text 44"/>
          <p:cNvSpPr txBox="1"/>
          <p:nvPr/>
        </p:nvSpPr>
        <p:spPr>
          <a:xfrm>
            <a:off x="10369296" y="170078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47" name="Text 45"/>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48" name="Shape 46"/>
          <p:cNvSpPr/>
          <p:nvPr/>
        </p:nvSpPr>
        <p:spPr>
          <a:xfrm>
            <a:off x="8220456" y="2132038"/>
            <a:ext cx="930656" cy="193624"/>
          </a:xfrm>
          <a:prstGeom prst="rect">
            <a:avLst/>
          </a:prstGeom>
          <a:solidFill>
            <a:srgbClr val="12A566"/>
          </a:solidFill>
          <a:ln/>
        </p:spPr>
      </p:sp>
      <p:sp>
        <p:nvSpPr>
          <p:cNvPr id="49" name="Text 47"/>
          <p:cNvSpPr txBox="1"/>
          <p:nvPr/>
        </p:nvSpPr>
        <p:spPr>
          <a:xfrm>
            <a:off x="10369296" y="205282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50" name="Text 48"/>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8220456" y="2484082"/>
            <a:ext cx="697992" cy="193624"/>
          </a:xfrm>
          <a:prstGeom prst="rect">
            <a:avLst/>
          </a:prstGeom>
          <a:solidFill>
            <a:srgbClr val="12A566"/>
          </a:solidFill>
          <a:ln/>
        </p:spPr>
      </p:sp>
      <p:sp>
        <p:nvSpPr>
          <p:cNvPr id="52" name="Text 50"/>
          <p:cNvSpPr txBox="1"/>
          <p:nvPr/>
        </p:nvSpPr>
        <p:spPr>
          <a:xfrm>
            <a:off x="10369296" y="240487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53" name="Text 51"/>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54" name="Shape 52"/>
          <p:cNvSpPr/>
          <p:nvPr/>
        </p:nvSpPr>
        <p:spPr>
          <a:xfrm>
            <a:off x="8220456" y="2836126"/>
            <a:ext cx="465328" cy="193624"/>
          </a:xfrm>
          <a:prstGeom prst="rect">
            <a:avLst/>
          </a:prstGeom>
          <a:solidFill>
            <a:srgbClr val="12A566"/>
          </a:solidFill>
          <a:ln/>
        </p:spPr>
      </p:sp>
      <p:sp>
        <p:nvSpPr>
          <p:cNvPr id="55" name="Text 53"/>
          <p:cNvSpPr txBox="1"/>
          <p:nvPr/>
        </p:nvSpPr>
        <p:spPr>
          <a:xfrm>
            <a:off x="10369296" y="275691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6" name="Text 54"/>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57" name="Shape 55"/>
          <p:cNvSpPr/>
          <p:nvPr/>
        </p:nvSpPr>
        <p:spPr>
          <a:xfrm>
            <a:off x="8220456" y="3188170"/>
            <a:ext cx="465328" cy="193624"/>
          </a:xfrm>
          <a:prstGeom prst="rect">
            <a:avLst/>
          </a:prstGeom>
          <a:solidFill>
            <a:srgbClr val="12A566"/>
          </a:solidFill>
          <a:ln/>
        </p:spPr>
      </p:sp>
      <p:sp>
        <p:nvSpPr>
          <p:cNvPr id="58" name="Text 56"/>
          <p:cNvSpPr txBox="1"/>
          <p:nvPr/>
        </p:nvSpPr>
        <p:spPr>
          <a:xfrm>
            <a:off x="10369296" y="310896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59" name="Text 57"/>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60" name="Shape 58"/>
          <p:cNvSpPr/>
          <p:nvPr/>
        </p:nvSpPr>
        <p:spPr>
          <a:xfrm>
            <a:off x="8220456" y="3540214"/>
            <a:ext cx="465328" cy="193624"/>
          </a:xfrm>
          <a:prstGeom prst="rect">
            <a:avLst/>
          </a:prstGeom>
          <a:solidFill>
            <a:srgbClr val="12A566"/>
          </a:solidFill>
          <a:ln/>
        </p:spPr>
      </p:sp>
      <p:sp>
        <p:nvSpPr>
          <p:cNvPr id="61" name="Text 59"/>
          <p:cNvSpPr txBox="1"/>
          <p:nvPr/>
        </p:nvSpPr>
        <p:spPr>
          <a:xfrm>
            <a:off x="10369296" y="346100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2" name="Text 60"/>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8220456" y="3892258"/>
            <a:ext cx="465328" cy="193624"/>
          </a:xfrm>
          <a:prstGeom prst="rect">
            <a:avLst/>
          </a:prstGeom>
          <a:solidFill>
            <a:srgbClr val="12A566"/>
          </a:solidFill>
          <a:ln/>
        </p:spPr>
      </p:sp>
      <p:sp>
        <p:nvSpPr>
          <p:cNvPr id="64" name="Text 62"/>
          <p:cNvSpPr txBox="1"/>
          <p:nvPr/>
        </p:nvSpPr>
        <p:spPr>
          <a:xfrm>
            <a:off x="10369296" y="3813048"/>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66" name="Shape 64"/>
          <p:cNvSpPr/>
          <p:nvPr/>
        </p:nvSpPr>
        <p:spPr>
          <a:xfrm>
            <a:off x="8220456" y="4244302"/>
            <a:ext cx="465328" cy="193624"/>
          </a:xfrm>
          <a:prstGeom prst="rect">
            <a:avLst/>
          </a:prstGeom>
          <a:solidFill>
            <a:srgbClr val="12A566"/>
          </a:solidFill>
          <a:ln/>
        </p:spPr>
      </p:sp>
      <p:sp>
        <p:nvSpPr>
          <p:cNvPr id="67" name="Text 65"/>
          <p:cNvSpPr txBox="1"/>
          <p:nvPr/>
        </p:nvSpPr>
        <p:spPr>
          <a:xfrm>
            <a:off x="10369296" y="4165092"/>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20456" y="4596346"/>
            <a:ext cx="465328" cy="193624"/>
          </a:xfrm>
          <a:prstGeom prst="rect">
            <a:avLst/>
          </a:prstGeom>
          <a:solidFill>
            <a:srgbClr val="12A566"/>
          </a:solidFill>
          <a:ln/>
        </p:spPr>
      </p:sp>
      <p:sp>
        <p:nvSpPr>
          <p:cNvPr id="70" name="Text 68"/>
          <p:cNvSpPr txBox="1"/>
          <p:nvPr/>
        </p:nvSpPr>
        <p:spPr>
          <a:xfrm>
            <a:off x="10369296" y="4517136"/>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2" name="Shape 70"/>
          <p:cNvSpPr/>
          <p:nvPr/>
        </p:nvSpPr>
        <p:spPr>
          <a:xfrm>
            <a:off x="8220456" y="4948390"/>
            <a:ext cx="232664" cy="193624"/>
          </a:xfrm>
          <a:prstGeom prst="rect">
            <a:avLst/>
          </a:prstGeom>
          <a:solidFill>
            <a:srgbClr val="12A566"/>
          </a:solidFill>
          <a:ln/>
        </p:spPr>
      </p:sp>
      <p:sp>
        <p:nvSpPr>
          <p:cNvPr id="73" name="Text 71"/>
          <p:cNvSpPr txBox="1"/>
          <p:nvPr/>
        </p:nvSpPr>
        <p:spPr>
          <a:xfrm>
            <a:off x="10369296" y="4869180"/>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4" name="Text 72"/>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5" name="Shape 73"/>
          <p:cNvSpPr/>
          <p:nvPr/>
        </p:nvSpPr>
        <p:spPr>
          <a:xfrm>
            <a:off x="8220456" y="5300434"/>
            <a:ext cx="232664" cy="193624"/>
          </a:xfrm>
          <a:prstGeom prst="rect">
            <a:avLst/>
          </a:prstGeom>
          <a:solidFill>
            <a:srgbClr val="12A566"/>
          </a:solidFill>
          <a:ln/>
        </p:spPr>
      </p:sp>
      <p:sp>
        <p:nvSpPr>
          <p:cNvPr id="76" name="Text 74"/>
          <p:cNvSpPr txBox="1"/>
          <p:nvPr/>
        </p:nvSpPr>
        <p:spPr>
          <a:xfrm>
            <a:off x="10369296" y="5221224"/>
            <a:ext cx="105156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77" name="Shape 75"/>
          <p:cNvSpPr/>
          <p:nvPr/>
        </p:nvSpPr>
        <p:spPr>
          <a:xfrm>
            <a:off x="457200" y="6126480"/>
            <a:ext cx="11274552" cy="371856"/>
          </a:xfrm>
          <a:prstGeom prst="rect">
            <a:avLst/>
          </a:prstGeom>
          <a:solidFill>
            <a:srgbClr val="E6F6EE"/>
          </a:solidFill>
          <a:ln/>
        </p:spPr>
      </p:sp>
      <p:sp>
        <p:nvSpPr>
          <p:cNvPr id="78" name="Text 7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set a new monthly record in 2026; Honda Spokane and Nissan set the most, 9 each.</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STORE RECORDS · RANKER BY CATEGORY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Monthly Gross 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417320"/>
            <a:ext cx="128016" cy="128016"/>
          </a:xfrm>
          <a:prstGeom prst="rect">
            <a:avLst/>
          </a:prstGeom>
          <a:solidFill>
            <a:srgbClr val="0B7A4A"/>
          </a:solidFill>
          <a:ln/>
        </p:spPr>
      </p:sp>
      <p:sp>
        <p:nvSpPr>
          <p:cNvPr id="7" name="Text 5"/>
          <p:cNvSpPr txBox="1"/>
          <p:nvPr/>
        </p:nvSpPr>
        <p:spPr>
          <a:xfrm>
            <a:off x="841248"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8" name="Shape 6"/>
          <p:cNvSpPr/>
          <p:nvPr/>
        </p:nvSpPr>
        <p:spPr>
          <a:xfrm>
            <a:off x="1824228" y="1417320"/>
            <a:ext cx="128016" cy="128016"/>
          </a:xfrm>
          <a:prstGeom prst="rect">
            <a:avLst/>
          </a:prstGeom>
          <a:solidFill>
            <a:srgbClr val="12A566"/>
          </a:solidFill>
          <a:ln/>
        </p:spPr>
      </p:sp>
      <p:sp>
        <p:nvSpPr>
          <p:cNvPr id="9" name="Text 7"/>
          <p:cNvSpPr txBox="1"/>
          <p:nvPr/>
        </p:nvSpPr>
        <p:spPr>
          <a:xfrm>
            <a:off x="2007108"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10" name="Shape 8"/>
          <p:cNvSpPr/>
          <p:nvPr/>
        </p:nvSpPr>
        <p:spPr>
          <a:xfrm>
            <a:off x="2798064" y="1417320"/>
            <a:ext cx="128016" cy="128016"/>
          </a:xfrm>
          <a:prstGeom prst="rect">
            <a:avLst/>
          </a:prstGeom>
          <a:solidFill>
            <a:srgbClr val="8ED3B0"/>
          </a:solidFill>
          <a:ln/>
        </p:spPr>
      </p:sp>
      <p:sp>
        <p:nvSpPr>
          <p:cNvPr id="11" name="Text 9"/>
          <p:cNvSpPr txBox="1"/>
          <p:nvPr/>
        </p:nvSpPr>
        <p:spPr>
          <a:xfrm>
            <a:off x="2980944"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12" name="Text 10"/>
          <p:cNvSpPr txBox="1"/>
          <p:nvPr/>
        </p:nvSpPr>
        <p:spPr>
          <a:xfrm>
            <a:off x="395935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3" name="Text 11"/>
          <p:cNvSpPr txBox="1"/>
          <p:nvPr/>
        </p:nvSpPr>
        <p:spPr>
          <a:xfrm>
            <a:off x="446227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14" name="Text 12"/>
          <p:cNvSpPr txBox="1"/>
          <p:nvPr/>
        </p:nvSpPr>
        <p:spPr>
          <a:xfrm>
            <a:off x="4965192"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15" name="Text 13"/>
          <p:cNvSpPr txBox="1"/>
          <p:nvPr/>
        </p:nvSpPr>
        <p:spPr>
          <a:xfrm>
            <a:off x="5468112"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16" name="Shape 14"/>
          <p:cNvSpPr/>
          <p:nvPr/>
        </p:nvSpPr>
        <p:spPr>
          <a:xfrm>
            <a:off x="6208776" y="1417320"/>
            <a:ext cx="128016" cy="128016"/>
          </a:xfrm>
          <a:prstGeom prst="rect">
            <a:avLst/>
          </a:prstGeom>
          <a:solidFill>
            <a:srgbClr val="0B7A4A"/>
          </a:solidFill>
          <a:ln/>
        </p:spPr>
      </p:sp>
      <p:sp>
        <p:nvSpPr>
          <p:cNvPr id="17" name="Text 15"/>
          <p:cNvSpPr txBox="1"/>
          <p:nvPr/>
        </p:nvSpPr>
        <p:spPr>
          <a:xfrm>
            <a:off x="6391656" y="1316736"/>
            <a:ext cx="873252"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Service</a:t>
            </a:r>
            <a:endParaRPr lang="en-US" sz="1400" dirty="0"/>
          </a:p>
        </p:txBody>
      </p:sp>
      <p:sp>
        <p:nvSpPr>
          <p:cNvPr id="18" name="Shape 16"/>
          <p:cNvSpPr/>
          <p:nvPr/>
        </p:nvSpPr>
        <p:spPr>
          <a:xfrm>
            <a:off x="7374636" y="1417320"/>
            <a:ext cx="128016" cy="128016"/>
          </a:xfrm>
          <a:prstGeom prst="rect">
            <a:avLst/>
          </a:prstGeom>
          <a:solidFill>
            <a:srgbClr val="12A566"/>
          </a:solidFill>
          <a:ln/>
        </p:spPr>
      </p:sp>
      <p:sp>
        <p:nvSpPr>
          <p:cNvPr id="19" name="Text 17"/>
          <p:cNvSpPr txBox="1"/>
          <p:nvPr/>
        </p:nvSpPr>
        <p:spPr>
          <a:xfrm>
            <a:off x="7557516" y="1316736"/>
            <a:ext cx="681228"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a:t>
            </a:r>
            <a:endParaRPr lang="en-US" sz="1400" dirty="0"/>
          </a:p>
        </p:txBody>
      </p:sp>
      <p:sp>
        <p:nvSpPr>
          <p:cNvPr id="20" name="Shape 18"/>
          <p:cNvSpPr/>
          <p:nvPr/>
        </p:nvSpPr>
        <p:spPr>
          <a:xfrm>
            <a:off x="8348472" y="1417320"/>
            <a:ext cx="128016" cy="128016"/>
          </a:xfrm>
          <a:prstGeom prst="rect">
            <a:avLst/>
          </a:prstGeom>
          <a:solidFill>
            <a:srgbClr val="8ED3B0"/>
          </a:solidFill>
          <a:ln/>
        </p:spPr>
      </p:sp>
      <p:sp>
        <p:nvSpPr>
          <p:cNvPr id="21" name="Text 19"/>
          <p:cNvSpPr txBox="1"/>
          <p:nvPr/>
        </p:nvSpPr>
        <p:spPr>
          <a:xfrm>
            <a:off x="8531352" y="1316736"/>
            <a:ext cx="969264"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Combined</a:t>
            </a:r>
            <a:endParaRPr lang="en-US" sz="1400" dirty="0"/>
          </a:p>
        </p:txBody>
      </p:sp>
      <p:sp>
        <p:nvSpPr>
          <p:cNvPr id="22" name="Text 20"/>
          <p:cNvSpPr txBox="1"/>
          <p:nvPr/>
        </p:nvSpPr>
        <p:spPr>
          <a:xfrm>
            <a:off x="950976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23" name="Text 21"/>
          <p:cNvSpPr txBox="1"/>
          <p:nvPr/>
        </p:nvSpPr>
        <p:spPr>
          <a:xfrm>
            <a:off x="1001268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PTS</a:t>
            </a:r>
            <a:endParaRPr lang="en-US" sz="1400" dirty="0"/>
          </a:p>
        </p:txBody>
      </p:sp>
      <p:sp>
        <p:nvSpPr>
          <p:cNvPr id="24" name="Text 22"/>
          <p:cNvSpPr txBox="1"/>
          <p:nvPr/>
        </p:nvSpPr>
        <p:spPr>
          <a:xfrm>
            <a:off x="10515600" y="1316736"/>
            <a:ext cx="5029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t>
            </a:r>
            <a:endParaRPr lang="en-US" sz="1400" dirty="0"/>
          </a:p>
        </p:txBody>
      </p:sp>
      <p:sp>
        <p:nvSpPr>
          <p:cNvPr id="25" name="Text 23"/>
          <p:cNvSpPr txBox="1"/>
          <p:nvPr/>
        </p:nvSpPr>
        <p:spPr>
          <a:xfrm>
            <a:off x="11018520" y="1316736"/>
            <a:ext cx="548640" cy="329184"/>
          </a:xfrm>
          <a:prstGeom prst="rect">
            <a:avLst/>
          </a:prstGeom>
          <a:noFill/>
          <a:ln/>
        </p:spPr>
        <p:txBody>
          <a:bodyPr wrap="square" lIns="0" tIns="0" rIns="0" bIns="0" rtlCol="0" anchor="ctr"/>
          <a:lstStyle/>
          <a:p>
            <a:pPr algn="r" indent="0" marL="0">
              <a:buNone/>
            </a:pPr>
            <a:r>
              <a:rPr lang="en-US" sz="1400" b="1" dirty="0">
                <a:solidFill>
                  <a:srgbClr val="1A1A1A"/>
                </a:solidFill>
                <a:latin typeface="Inter" pitchFamily="34" charset="0"/>
                <a:ea typeface="Inter" pitchFamily="34" charset="-122"/>
                <a:cs typeface="Inter" pitchFamily="34" charset="-120"/>
              </a:rPr>
              <a:t>ALL</a:t>
            </a:r>
            <a:endParaRPr lang="en-US" sz="1400" dirty="0"/>
          </a:p>
        </p:txBody>
      </p:sp>
      <p:sp>
        <p:nvSpPr>
          <p:cNvPr id="26" name="Text 24"/>
          <p:cNvSpPr txBox="1"/>
          <p:nvPr/>
        </p:nvSpPr>
        <p:spPr>
          <a:xfrm>
            <a:off x="658368"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670048" y="1779994"/>
            <a:ext cx="540512" cy="193624"/>
          </a:xfrm>
          <a:prstGeom prst="rect">
            <a:avLst/>
          </a:prstGeom>
          <a:solidFill>
            <a:srgbClr val="0B7A4A"/>
          </a:solidFill>
          <a:ln w="9525">
            <a:solidFill>
              <a:srgbClr val="FFFFFF"/>
            </a:solidFill>
            <a:prstDash val="solid"/>
          </a:ln>
        </p:spPr>
      </p:sp>
      <p:sp>
        <p:nvSpPr>
          <p:cNvPr id="28" name="Shape 26"/>
          <p:cNvSpPr/>
          <p:nvPr/>
        </p:nvSpPr>
        <p:spPr>
          <a:xfrm>
            <a:off x="3210560" y="1779994"/>
            <a:ext cx="135128" cy="193624"/>
          </a:xfrm>
          <a:prstGeom prst="rect">
            <a:avLst/>
          </a:prstGeom>
          <a:solidFill>
            <a:srgbClr val="12A566"/>
          </a:solidFill>
          <a:ln w="9525">
            <a:solidFill>
              <a:srgbClr val="FFFFFF"/>
            </a:solidFill>
            <a:prstDash val="solid"/>
          </a:ln>
        </p:spPr>
      </p:sp>
      <p:sp>
        <p:nvSpPr>
          <p:cNvPr id="29" name="Shape 27"/>
          <p:cNvSpPr/>
          <p:nvPr/>
        </p:nvSpPr>
        <p:spPr>
          <a:xfrm>
            <a:off x="3345688" y="1779994"/>
            <a:ext cx="540512" cy="193624"/>
          </a:xfrm>
          <a:prstGeom prst="rect">
            <a:avLst/>
          </a:prstGeom>
          <a:solidFill>
            <a:srgbClr val="8ED3B0"/>
          </a:solidFill>
          <a:ln w="9525">
            <a:solidFill>
              <a:srgbClr val="FFFFFF"/>
            </a:solidFill>
            <a:prstDash val="solid"/>
          </a:ln>
        </p:spPr>
      </p:sp>
      <p:sp>
        <p:nvSpPr>
          <p:cNvPr id="30" name="Text 28"/>
          <p:cNvSpPr txBox="1"/>
          <p:nvPr/>
        </p:nvSpPr>
        <p:spPr>
          <a:xfrm>
            <a:off x="395935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1" name="Text 29"/>
          <p:cNvSpPr txBox="1"/>
          <p:nvPr/>
        </p:nvSpPr>
        <p:spPr>
          <a:xfrm>
            <a:off x="446227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32" name="Text 30"/>
          <p:cNvSpPr txBox="1"/>
          <p:nvPr/>
        </p:nvSpPr>
        <p:spPr>
          <a:xfrm>
            <a:off x="4965192"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33" name="Text 31"/>
          <p:cNvSpPr txBox="1"/>
          <p:nvPr/>
        </p:nvSpPr>
        <p:spPr>
          <a:xfrm>
            <a:off x="5468112"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34" name="Text 32"/>
          <p:cNvSpPr txBox="1"/>
          <p:nvPr/>
        </p:nvSpPr>
        <p:spPr>
          <a:xfrm>
            <a:off x="658368"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5" name="Shape 33"/>
          <p:cNvSpPr/>
          <p:nvPr/>
        </p:nvSpPr>
        <p:spPr>
          <a:xfrm>
            <a:off x="2670048" y="2132038"/>
            <a:ext cx="405384" cy="193624"/>
          </a:xfrm>
          <a:prstGeom prst="rect">
            <a:avLst/>
          </a:prstGeom>
          <a:solidFill>
            <a:srgbClr val="0B7A4A"/>
          </a:solidFill>
          <a:ln w="9525">
            <a:solidFill>
              <a:srgbClr val="FFFFFF"/>
            </a:solidFill>
            <a:prstDash val="solid"/>
          </a:ln>
        </p:spPr>
      </p:sp>
      <p:sp>
        <p:nvSpPr>
          <p:cNvPr id="36" name="Shape 34"/>
          <p:cNvSpPr/>
          <p:nvPr/>
        </p:nvSpPr>
        <p:spPr>
          <a:xfrm>
            <a:off x="3075432" y="2132038"/>
            <a:ext cx="270256" cy="193624"/>
          </a:xfrm>
          <a:prstGeom prst="rect">
            <a:avLst/>
          </a:prstGeom>
          <a:solidFill>
            <a:srgbClr val="12A566"/>
          </a:solidFill>
          <a:ln w="9525">
            <a:solidFill>
              <a:srgbClr val="FFFFFF"/>
            </a:solidFill>
            <a:prstDash val="solid"/>
          </a:ln>
        </p:spPr>
      </p:sp>
      <p:sp>
        <p:nvSpPr>
          <p:cNvPr id="37" name="Shape 35"/>
          <p:cNvSpPr/>
          <p:nvPr/>
        </p:nvSpPr>
        <p:spPr>
          <a:xfrm>
            <a:off x="3345688" y="2132038"/>
            <a:ext cx="540512" cy="193624"/>
          </a:xfrm>
          <a:prstGeom prst="rect">
            <a:avLst/>
          </a:prstGeom>
          <a:solidFill>
            <a:srgbClr val="8ED3B0"/>
          </a:solidFill>
          <a:ln w="9525">
            <a:solidFill>
              <a:srgbClr val="FFFFFF"/>
            </a:solidFill>
            <a:prstDash val="solid"/>
          </a:ln>
        </p:spPr>
      </p:sp>
      <p:sp>
        <p:nvSpPr>
          <p:cNvPr id="38" name="Text 36"/>
          <p:cNvSpPr txBox="1"/>
          <p:nvPr/>
        </p:nvSpPr>
        <p:spPr>
          <a:xfrm>
            <a:off x="395935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39" name="Text 37"/>
          <p:cNvSpPr txBox="1"/>
          <p:nvPr/>
        </p:nvSpPr>
        <p:spPr>
          <a:xfrm>
            <a:off x="446227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0" name="Text 38"/>
          <p:cNvSpPr txBox="1"/>
          <p:nvPr/>
        </p:nvSpPr>
        <p:spPr>
          <a:xfrm>
            <a:off x="4965192"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41" name="Text 39"/>
          <p:cNvSpPr txBox="1"/>
          <p:nvPr/>
        </p:nvSpPr>
        <p:spPr>
          <a:xfrm>
            <a:off x="5468112"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42" name="Text 40"/>
          <p:cNvSpPr txBox="1"/>
          <p:nvPr/>
        </p:nvSpPr>
        <p:spPr>
          <a:xfrm>
            <a:off x="658368"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3" name="Shape 41"/>
          <p:cNvSpPr/>
          <p:nvPr/>
        </p:nvSpPr>
        <p:spPr>
          <a:xfrm>
            <a:off x="2670048" y="2484082"/>
            <a:ext cx="270256" cy="193624"/>
          </a:xfrm>
          <a:prstGeom prst="rect">
            <a:avLst/>
          </a:prstGeom>
          <a:solidFill>
            <a:srgbClr val="0B7A4A"/>
          </a:solidFill>
          <a:ln w="9525">
            <a:solidFill>
              <a:srgbClr val="FFFFFF"/>
            </a:solidFill>
            <a:prstDash val="solid"/>
          </a:ln>
        </p:spPr>
      </p:sp>
      <p:sp>
        <p:nvSpPr>
          <p:cNvPr id="44" name="Shape 42"/>
          <p:cNvSpPr/>
          <p:nvPr/>
        </p:nvSpPr>
        <p:spPr>
          <a:xfrm>
            <a:off x="2940304" y="2484082"/>
            <a:ext cx="405384" cy="193624"/>
          </a:xfrm>
          <a:prstGeom prst="rect">
            <a:avLst/>
          </a:prstGeom>
          <a:solidFill>
            <a:srgbClr val="12A566"/>
          </a:solidFill>
          <a:ln w="9525">
            <a:solidFill>
              <a:srgbClr val="FFFFFF"/>
            </a:solidFill>
            <a:prstDash val="solid"/>
          </a:ln>
        </p:spPr>
      </p:sp>
      <p:sp>
        <p:nvSpPr>
          <p:cNvPr id="45" name="Shape 43"/>
          <p:cNvSpPr/>
          <p:nvPr/>
        </p:nvSpPr>
        <p:spPr>
          <a:xfrm>
            <a:off x="3345688" y="2484082"/>
            <a:ext cx="405384" cy="193624"/>
          </a:xfrm>
          <a:prstGeom prst="rect">
            <a:avLst/>
          </a:prstGeom>
          <a:solidFill>
            <a:srgbClr val="8ED3B0"/>
          </a:solidFill>
          <a:ln w="9525">
            <a:solidFill>
              <a:srgbClr val="FFFFFF"/>
            </a:solidFill>
            <a:prstDash val="solid"/>
          </a:ln>
        </p:spPr>
      </p:sp>
      <p:sp>
        <p:nvSpPr>
          <p:cNvPr id="46" name="Text 44"/>
          <p:cNvSpPr txBox="1"/>
          <p:nvPr/>
        </p:nvSpPr>
        <p:spPr>
          <a:xfrm>
            <a:off x="395935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6227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4965192"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49" name="Text 47"/>
          <p:cNvSpPr txBox="1"/>
          <p:nvPr/>
        </p:nvSpPr>
        <p:spPr>
          <a:xfrm>
            <a:off x="5468112"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0" name="Text 48"/>
          <p:cNvSpPr txBox="1"/>
          <p:nvPr/>
        </p:nvSpPr>
        <p:spPr>
          <a:xfrm>
            <a:off x="658368"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51" name="Shape 49"/>
          <p:cNvSpPr/>
          <p:nvPr/>
        </p:nvSpPr>
        <p:spPr>
          <a:xfrm>
            <a:off x="2670048" y="2836126"/>
            <a:ext cx="405384" cy="193624"/>
          </a:xfrm>
          <a:prstGeom prst="rect">
            <a:avLst/>
          </a:prstGeom>
          <a:solidFill>
            <a:srgbClr val="0B7A4A"/>
          </a:solidFill>
          <a:ln w="9525">
            <a:solidFill>
              <a:srgbClr val="FFFFFF"/>
            </a:solidFill>
            <a:prstDash val="solid"/>
          </a:ln>
        </p:spPr>
      </p:sp>
      <p:sp>
        <p:nvSpPr>
          <p:cNvPr id="52" name="Shape 50"/>
          <p:cNvSpPr/>
          <p:nvPr/>
        </p:nvSpPr>
        <p:spPr>
          <a:xfrm>
            <a:off x="3075432" y="2836126"/>
            <a:ext cx="135128" cy="193624"/>
          </a:xfrm>
          <a:prstGeom prst="rect">
            <a:avLst/>
          </a:prstGeom>
          <a:solidFill>
            <a:srgbClr val="12A566"/>
          </a:solidFill>
          <a:ln w="9525">
            <a:solidFill>
              <a:srgbClr val="FFFFFF"/>
            </a:solidFill>
            <a:prstDash val="solid"/>
          </a:ln>
        </p:spPr>
      </p:sp>
      <p:sp>
        <p:nvSpPr>
          <p:cNvPr id="53" name="Shape 51"/>
          <p:cNvSpPr/>
          <p:nvPr/>
        </p:nvSpPr>
        <p:spPr>
          <a:xfrm>
            <a:off x="3210560" y="2836126"/>
            <a:ext cx="405384" cy="193624"/>
          </a:xfrm>
          <a:prstGeom prst="rect">
            <a:avLst/>
          </a:prstGeom>
          <a:solidFill>
            <a:srgbClr val="8ED3B0"/>
          </a:solidFill>
          <a:ln w="9525">
            <a:solidFill>
              <a:srgbClr val="FFFFFF"/>
            </a:solidFill>
            <a:prstDash val="solid"/>
          </a:ln>
        </p:spPr>
      </p:sp>
      <p:sp>
        <p:nvSpPr>
          <p:cNvPr id="54" name="Text 52"/>
          <p:cNvSpPr txBox="1"/>
          <p:nvPr/>
        </p:nvSpPr>
        <p:spPr>
          <a:xfrm>
            <a:off x="395935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5" name="Text 53"/>
          <p:cNvSpPr txBox="1"/>
          <p:nvPr/>
        </p:nvSpPr>
        <p:spPr>
          <a:xfrm>
            <a:off x="446227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56" name="Text 54"/>
          <p:cNvSpPr txBox="1"/>
          <p:nvPr/>
        </p:nvSpPr>
        <p:spPr>
          <a:xfrm>
            <a:off x="4965192"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57" name="Text 55"/>
          <p:cNvSpPr txBox="1"/>
          <p:nvPr/>
        </p:nvSpPr>
        <p:spPr>
          <a:xfrm>
            <a:off x="5468112"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58" name="Text 56"/>
          <p:cNvSpPr txBox="1"/>
          <p:nvPr/>
        </p:nvSpPr>
        <p:spPr>
          <a:xfrm>
            <a:off x="658368"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9" name="Shape 57"/>
          <p:cNvSpPr/>
          <p:nvPr/>
        </p:nvSpPr>
        <p:spPr>
          <a:xfrm>
            <a:off x="2670048" y="3188170"/>
            <a:ext cx="270256" cy="193624"/>
          </a:xfrm>
          <a:prstGeom prst="rect">
            <a:avLst/>
          </a:prstGeom>
          <a:solidFill>
            <a:srgbClr val="0B7A4A"/>
          </a:solidFill>
          <a:ln w="9525">
            <a:solidFill>
              <a:srgbClr val="FFFFFF"/>
            </a:solidFill>
            <a:prstDash val="solid"/>
          </a:ln>
        </p:spPr>
      </p:sp>
      <p:sp>
        <p:nvSpPr>
          <p:cNvPr id="60" name="Shape 58"/>
          <p:cNvSpPr/>
          <p:nvPr/>
        </p:nvSpPr>
        <p:spPr>
          <a:xfrm>
            <a:off x="2940304" y="3188170"/>
            <a:ext cx="405384" cy="193624"/>
          </a:xfrm>
          <a:prstGeom prst="rect">
            <a:avLst/>
          </a:prstGeom>
          <a:solidFill>
            <a:srgbClr val="12A566"/>
          </a:solidFill>
          <a:ln w="9525">
            <a:solidFill>
              <a:srgbClr val="FFFFFF"/>
            </a:solidFill>
            <a:prstDash val="solid"/>
          </a:ln>
        </p:spPr>
      </p:sp>
      <p:sp>
        <p:nvSpPr>
          <p:cNvPr id="61" name="Shape 59"/>
          <p:cNvSpPr/>
          <p:nvPr/>
        </p:nvSpPr>
        <p:spPr>
          <a:xfrm>
            <a:off x="3345688" y="3188170"/>
            <a:ext cx="270256" cy="193624"/>
          </a:xfrm>
          <a:prstGeom prst="rect">
            <a:avLst/>
          </a:prstGeom>
          <a:solidFill>
            <a:srgbClr val="8ED3B0"/>
          </a:solidFill>
          <a:ln w="9525">
            <a:solidFill>
              <a:srgbClr val="FFFFFF"/>
            </a:solidFill>
            <a:prstDash val="solid"/>
          </a:ln>
        </p:spPr>
      </p:sp>
      <p:sp>
        <p:nvSpPr>
          <p:cNvPr id="62" name="Text 60"/>
          <p:cNvSpPr txBox="1"/>
          <p:nvPr/>
        </p:nvSpPr>
        <p:spPr>
          <a:xfrm>
            <a:off x="395935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3" name="Text 61"/>
          <p:cNvSpPr txBox="1"/>
          <p:nvPr/>
        </p:nvSpPr>
        <p:spPr>
          <a:xfrm>
            <a:off x="446227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4965192"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65" name="Text 63"/>
          <p:cNvSpPr txBox="1"/>
          <p:nvPr/>
        </p:nvSpPr>
        <p:spPr>
          <a:xfrm>
            <a:off x="5468112"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66" name="Text 64"/>
          <p:cNvSpPr txBox="1"/>
          <p:nvPr/>
        </p:nvSpPr>
        <p:spPr>
          <a:xfrm>
            <a:off x="658368"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67" name="Shape 65"/>
          <p:cNvSpPr/>
          <p:nvPr/>
        </p:nvSpPr>
        <p:spPr>
          <a:xfrm>
            <a:off x="2670048" y="3540214"/>
            <a:ext cx="270256" cy="193624"/>
          </a:xfrm>
          <a:prstGeom prst="rect">
            <a:avLst/>
          </a:prstGeom>
          <a:solidFill>
            <a:srgbClr val="0B7A4A"/>
          </a:solidFill>
          <a:ln w="9525">
            <a:solidFill>
              <a:srgbClr val="FFFFFF"/>
            </a:solidFill>
            <a:prstDash val="solid"/>
          </a:ln>
        </p:spPr>
      </p:sp>
      <p:sp>
        <p:nvSpPr>
          <p:cNvPr id="68" name="Shape 66"/>
          <p:cNvSpPr/>
          <p:nvPr/>
        </p:nvSpPr>
        <p:spPr>
          <a:xfrm>
            <a:off x="2940304" y="3540214"/>
            <a:ext cx="135128" cy="193624"/>
          </a:xfrm>
          <a:prstGeom prst="rect">
            <a:avLst/>
          </a:prstGeom>
          <a:solidFill>
            <a:srgbClr val="12A566"/>
          </a:solidFill>
          <a:ln w="9525">
            <a:solidFill>
              <a:srgbClr val="FFFFFF"/>
            </a:solidFill>
            <a:prstDash val="solid"/>
          </a:ln>
        </p:spPr>
      </p:sp>
      <p:sp>
        <p:nvSpPr>
          <p:cNvPr id="69" name="Shape 67"/>
          <p:cNvSpPr/>
          <p:nvPr/>
        </p:nvSpPr>
        <p:spPr>
          <a:xfrm>
            <a:off x="3075432" y="3540214"/>
            <a:ext cx="405384" cy="193624"/>
          </a:xfrm>
          <a:prstGeom prst="rect">
            <a:avLst/>
          </a:prstGeom>
          <a:solidFill>
            <a:srgbClr val="8ED3B0"/>
          </a:solidFill>
          <a:ln w="9525">
            <a:solidFill>
              <a:srgbClr val="FFFFFF"/>
            </a:solidFill>
            <a:prstDash val="solid"/>
          </a:ln>
        </p:spPr>
      </p:sp>
      <p:sp>
        <p:nvSpPr>
          <p:cNvPr id="70" name="Text 68"/>
          <p:cNvSpPr txBox="1"/>
          <p:nvPr/>
        </p:nvSpPr>
        <p:spPr>
          <a:xfrm>
            <a:off x="395935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1" name="Text 69"/>
          <p:cNvSpPr txBox="1"/>
          <p:nvPr/>
        </p:nvSpPr>
        <p:spPr>
          <a:xfrm>
            <a:off x="446227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72" name="Text 70"/>
          <p:cNvSpPr txBox="1"/>
          <p:nvPr/>
        </p:nvSpPr>
        <p:spPr>
          <a:xfrm>
            <a:off x="4965192"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73" name="Text 71"/>
          <p:cNvSpPr txBox="1"/>
          <p:nvPr/>
        </p:nvSpPr>
        <p:spPr>
          <a:xfrm>
            <a:off x="5468112"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74" name="Text 72"/>
          <p:cNvSpPr txBox="1"/>
          <p:nvPr/>
        </p:nvSpPr>
        <p:spPr>
          <a:xfrm>
            <a:off x="658368"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5" name="Shape 73"/>
          <p:cNvSpPr/>
          <p:nvPr/>
        </p:nvSpPr>
        <p:spPr>
          <a:xfrm>
            <a:off x="2670048" y="3892258"/>
            <a:ext cx="270256" cy="193624"/>
          </a:xfrm>
          <a:prstGeom prst="rect">
            <a:avLst/>
          </a:prstGeom>
          <a:solidFill>
            <a:srgbClr val="0B7A4A"/>
          </a:solidFill>
          <a:ln w="9525">
            <a:solidFill>
              <a:srgbClr val="FFFFFF"/>
            </a:solidFill>
            <a:prstDash val="solid"/>
          </a:ln>
        </p:spPr>
      </p:sp>
      <p:sp>
        <p:nvSpPr>
          <p:cNvPr id="76" name="Shape 74"/>
          <p:cNvSpPr/>
          <p:nvPr/>
        </p:nvSpPr>
        <p:spPr>
          <a:xfrm>
            <a:off x="2940304" y="3892258"/>
            <a:ext cx="135128" cy="193624"/>
          </a:xfrm>
          <a:prstGeom prst="rect">
            <a:avLst/>
          </a:prstGeom>
          <a:solidFill>
            <a:srgbClr val="12A566"/>
          </a:solidFill>
          <a:ln w="9525">
            <a:solidFill>
              <a:srgbClr val="FFFFFF"/>
            </a:solidFill>
            <a:prstDash val="solid"/>
          </a:ln>
        </p:spPr>
      </p:sp>
      <p:sp>
        <p:nvSpPr>
          <p:cNvPr id="77" name="Shape 75"/>
          <p:cNvSpPr/>
          <p:nvPr/>
        </p:nvSpPr>
        <p:spPr>
          <a:xfrm>
            <a:off x="3075432" y="3892258"/>
            <a:ext cx="405384" cy="193624"/>
          </a:xfrm>
          <a:prstGeom prst="rect">
            <a:avLst/>
          </a:prstGeom>
          <a:solidFill>
            <a:srgbClr val="8ED3B0"/>
          </a:solidFill>
          <a:ln w="9525">
            <a:solidFill>
              <a:srgbClr val="FFFFFF"/>
            </a:solidFill>
            <a:prstDash val="solid"/>
          </a:ln>
        </p:spPr>
      </p:sp>
      <p:sp>
        <p:nvSpPr>
          <p:cNvPr id="78" name="Text 76"/>
          <p:cNvSpPr txBox="1"/>
          <p:nvPr/>
        </p:nvSpPr>
        <p:spPr>
          <a:xfrm>
            <a:off x="395935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79" name="Text 77"/>
          <p:cNvSpPr txBox="1"/>
          <p:nvPr/>
        </p:nvSpPr>
        <p:spPr>
          <a:xfrm>
            <a:off x="446227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0" name="Text 78"/>
          <p:cNvSpPr txBox="1"/>
          <p:nvPr/>
        </p:nvSpPr>
        <p:spPr>
          <a:xfrm>
            <a:off x="4965192"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81" name="Text 79"/>
          <p:cNvSpPr txBox="1"/>
          <p:nvPr/>
        </p:nvSpPr>
        <p:spPr>
          <a:xfrm>
            <a:off x="5468112"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a:t>
            </a:r>
            <a:endParaRPr lang="en-US" sz="1300" dirty="0"/>
          </a:p>
        </p:txBody>
      </p:sp>
      <p:sp>
        <p:nvSpPr>
          <p:cNvPr id="82" name="Text 80"/>
          <p:cNvSpPr txBox="1"/>
          <p:nvPr/>
        </p:nvSpPr>
        <p:spPr>
          <a:xfrm>
            <a:off x="658368"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3" name="Shape 81"/>
          <p:cNvSpPr/>
          <p:nvPr/>
        </p:nvSpPr>
        <p:spPr>
          <a:xfrm>
            <a:off x="2670048" y="4244302"/>
            <a:ext cx="270256" cy="193624"/>
          </a:xfrm>
          <a:prstGeom prst="rect">
            <a:avLst/>
          </a:prstGeom>
          <a:solidFill>
            <a:srgbClr val="0B7A4A"/>
          </a:solidFill>
          <a:ln w="9525">
            <a:solidFill>
              <a:srgbClr val="FFFFFF"/>
            </a:solidFill>
            <a:prstDash val="solid"/>
          </a:ln>
        </p:spPr>
      </p:sp>
      <p:sp>
        <p:nvSpPr>
          <p:cNvPr id="84" name="Shape 82"/>
          <p:cNvSpPr/>
          <p:nvPr/>
        </p:nvSpPr>
        <p:spPr>
          <a:xfrm>
            <a:off x="2940304" y="4244302"/>
            <a:ext cx="135128" cy="193624"/>
          </a:xfrm>
          <a:prstGeom prst="rect">
            <a:avLst/>
          </a:prstGeom>
          <a:solidFill>
            <a:srgbClr val="12A566"/>
          </a:solidFill>
          <a:ln w="9525">
            <a:solidFill>
              <a:srgbClr val="FFFFFF"/>
            </a:solidFill>
            <a:prstDash val="solid"/>
          </a:ln>
        </p:spPr>
      </p:sp>
      <p:sp>
        <p:nvSpPr>
          <p:cNvPr id="85" name="Shape 83"/>
          <p:cNvSpPr/>
          <p:nvPr/>
        </p:nvSpPr>
        <p:spPr>
          <a:xfrm>
            <a:off x="3075432" y="4244302"/>
            <a:ext cx="270256" cy="193624"/>
          </a:xfrm>
          <a:prstGeom prst="rect">
            <a:avLst/>
          </a:prstGeom>
          <a:solidFill>
            <a:srgbClr val="8ED3B0"/>
          </a:solidFill>
          <a:ln w="9525">
            <a:solidFill>
              <a:srgbClr val="FFFFFF"/>
            </a:solidFill>
            <a:prstDash val="solid"/>
          </a:ln>
        </p:spPr>
      </p:sp>
      <p:sp>
        <p:nvSpPr>
          <p:cNvPr id="86" name="Text 84"/>
          <p:cNvSpPr txBox="1"/>
          <p:nvPr/>
        </p:nvSpPr>
        <p:spPr>
          <a:xfrm>
            <a:off x="395935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7" name="Text 85"/>
          <p:cNvSpPr txBox="1"/>
          <p:nvPr/>
        </p:nvSpPr>
        <p:spPr>
          <a:xfrm>
            <a:off x="446227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88" name="Text 86"/>
          <p:cNvSpPr txBox="1"/>
          <p:nvPr/>
        </p:nvSpPr>
        <p:spPr>
          <a:xfrm>
            <a:off x="4965192"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5468112"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90" name="Text 88"/>
          <p:cNvSpPr txBox="1"/>
          <p:nvPr/>
        </p:nvSpPr>
        <p:spPr>
          <a:xfrm>
            <a:off x="658368"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91" name="Shape 89"/>
          <p:cNvSpPr/>
          <p:nvPr/>
        </p:nvSpPr>
        <p:spPr>
          <a:xfrm>
            <a:off x="2670048" y="4596346"/>
            <a:ext cx="270256" cy="193624"/>
          </a:xfrm>
          <a:prstGeom prst="rect">
            <a:avLst/>
          </a:prstGeom>
          <a:solidFill>
            <a:srgbClr val="0B7A4A"/>
          </a:solidFill>
          <a:ln w="9525">
            <a:solidFill>
              <a:srgbClr val="FFFFFF"/>
            </a:solidFill>
            <a:prstDash val="solid"/>
          </a:ln>
        </p:spPr>
      </p:sp>
      <p:sp>
        <p:nvSpPr>
          <p:cNvPr id="92" name="Shape 90"/>
          <p:cNvSpPr/>
          <p:nvPr/>
        </p:nvSpPr>
        <p:spPr>
          <a:xfrm>
            <a:off x="2940304" y="4596346"/>
            <a:ext cx="135128" cy="193624"/>
          </a:xfrm>
          <a:prstGeom prst="rect">
            <a:avLst/>
          </a:prstGeom>
          <a:solidFill>
            <a:srgbClr val="12A566"/>
          </a:solidFill>
          <a:ln w="9525">
            <a:solidFill>
              <a:srgbClr val="FFFFFF"/>
            </a:solidFill>
            <a:prstDash val="solid"/>
          </a:ln>
        </p:spPr>
      </p:sp>
      <p:sp>
        <p:nvSpPr>
          <p:cNvPr id="93" name="Shape 91"/>
          <p:cNvSpPr/>
          <p:nvPr/>
        </p:nvSpPr>
        <p:spPr>
          <a:xfrm>
            <a:off x="3075432" y="4596346"/>
            <a:ext cx="135128" cy="193624"/>
          </a:xfrm>
          <a:prstGeom prst="rect">
            <a:avLst/>
          </a:prstGeom>
          <a:solidFill>
            <a:srgbClr val="8ED3B0"/>
          </a:solidFill>
          <a:ln w="9525">
            <a:solidFill>
              <a:srgbClr val="FFFFFF"/>
            </a:solidFill>
            <a:prstDash val="solid"/>
          </a:ln>
        </p:spPr>
      </p:sp>
      <p:sp>
        <p:nvSpPr>
          <p:cNvPr id="94" name="Text 92"/>
          <p:cNvSpPr txBox="1"/>
          <p:nvPr/>
        </p:nvSpPr>
        <p:spPr>
          <a:xfrm>
            <a:off x="395935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95" name="Text 93"/>
          <p:cNvSpPr txBox="1"/>
          <p:nvPr/>
        </p:nvSpPr>
        <p:spPr>
          <a:xfrm>
            <a:off x="446227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6" name="Text 94"/>
          <p:cNvSpPr txBox="1"/>
          <p:nvPr/>
        </p:nvSpPr>
        <p:spPr>
          <a:xfrm>
            <a:off x="4965192"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97" name="Text 95"/>
          <p:cNvSpPr txBox="1"/>
          <p:nvPr/>
        </p:nvSpPr>
        <p:spPr>
          <a:xfrm>
            <a:off x="5468112"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98" name="Text 96"/>
          <p:cNvSpPr txBox="1"/>
          <p:nvPr/>
        </p:nvSpPr>
        <p:spPr>
          <a:xfrm>
            <a:off x="658368"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9" name="Shape 97"/>
          <p:cNvSpPr/>
          <p:nvPr/>
        </p:nvSpPr>
        <p:spPr>
          <a:xfrm>
            <a:off x="2670048" y="4948390"/>
            <a:ext cx="270256" cy="193624"/>
          </a:xfrm>
          <a:prstGeom prst="rect">
            <a:avLst/>
          </a:prstGeom>
          <a:solidFill>
            <a:srgbClr val="0B7A4A"/>
          </a:solidFill>
          <a:ln w="9525">
            <a:solidFill>
              <a:srgbClr val="FFFFFF"/>
            </a:solidFill>
            <a:prstDash val="solid"/>
          </a:ln>
        </p:spPr>
      </p:sp>
      <p:sp>
        <p:nvSpPr>
          <p:cNvPr id="100" name="Shape 98"/>
          <p:cNvSpPr/>
          <p:nvPr/>
        </p:nvSpPr>
        <p:spPr>
          <a:xfrm>
            <a:off x="2940304" y="4948390"/>
            <a:ext cx="135128" cy="193624"/>
          </a:xfrm>
          <a:prstGeom prst="rect">
            <a:avLst/>
          </a:prstGeom>
          <a:solidFill>
            <a:srgbClr val="12A566"/>
          </a:solidFill>
          <a:ln w="9525">
            <a:solidFill>
              <a:srgbClr val="FFFFFF"/>
            </a:solidFill>
            <a:prstDash val="solid"/>
          </a:ln>
        </p:spPr>
      </p:sp>
      <p:sp>
        <p:nvSpPr>
          <p:cNvPr id="101" name="Shape 99"/>
          <p:cNvSpPr/>
          <p:nvPr/>
        </p:nvSpPr>
        <p:spPr>
          <a:xfrm>
            <a:off x="3075432" y="4948390"/>
            <a:ext cx="135128" cy="193624"/>
          </a:xfrm>
          <a:prstGeom prst="rect">
            <a:avLst/>
          </a:prstGeom>
          <a:solidFill>
            <a:srgbClr val="8ED3B0"/>
          </a:solidFill>
          <a:ln w="9525">
            <a:solidFill>
              <a:srgbClr val="FFFFFF"/>
            </a:solidFill>
            <a:prstDash val="solid"/>
          </a:ln>
        </p:spPr>
      </p:sp>
      <p:sp>
        <p:nvSpPr>
          <p:cNvPr id="102" name="Text 100"/>
          <p:cNvSpPr txBox="1"/>
          <p:nvPr/>
        </p:nvSpPr>
        <p:spPr>
          <a:xfrm>
            <a:off x="395935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446227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4965192"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5468112"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06" name="Text 104"/>
          <p:cNvSpPr txBox="1"/>
          <p:nvPr/>
        </p:nvSpPr>
        <p:spPr>
          <a:xfrm>
            <a:off x="658368"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7" name="Shape 105"/>
          <p:cNvSpPr/>
          <p:nvPr/>
        </p:nvSpPr>
        <p:spPr>
          <a:xfrm>
            <a:off x="2670048" y="5300434"/>
            <a:ext cx="270256" cy="193624"/>
          </a:xfrm>
          <a:prstGeom prst="rect">
            <a:avLst/>
          </a:prstGeom>
          <a:solidFill>
            <a:srgbClr val="0B7A4A"/>
          </a:solidFill>
          <a:ln w="9525">
            <a:solidFill>
              <a:srgbClr val="FFFFFF"/>
            </a:solidFill>
            <a:prstDash val="solid"/>
          </a:ln>
        </p:spPr>
      </p:sp>
      <p:sp>
        <p:nvSpPr>
          <p:cNvPr id="108" name="Shape 106"/>
          <p:cNvSpPr/>
          <p:nvPr/>
        </p:nvSpPr>
        <p:spPr>
          <a:xfrm>
            <a:off x="2940304" y="5300434"/>
            <a:ext cx="135128" cy="193624"/>
          </a:xfrm>
          <a:prstGeom prst="rect">
            <a:avLst/>
          </a:prstGeom>
          <a:solidFill>
            <a:srgbClr val="12A566"/>
          </a:solidFill>
          <a:ln w="9525">
            <a:solidFill>
              <a:srgbClr val="FFFFFF"/>
            </a:solidFill>
            <a:prstDash val="solid"/>
          </a:ln>
        </p:spPr>
      </p:sp>
      <p:sp>
        <p:nvSpPr>
          <p:cNvPr id="109" name="Shape 107"/>
          <p:cNvSpPr/>
          <p:nvPr/>
        </p:nvSpPr>
        <p:spPr>
          <a:xfrm>
            <a:off x="3075432" y="5300434"/>
            <a:ext cx="135128" cy="193624"/>
          </a:xfrm>
          <a:prstGeom prst="rect">
            <a:avLst/>
          </a:prstGeom>
          <a:solidFill>
            <a:srgbClr val="8ED3B0"/>
          </a:solidFill>
          <a:ln w="9525">
            <a:solidFill>
              <a:srgbClr val="FFFFFF"/>
            </a:solidFill>
            <a:prstDash val="solid"/>
          </a:ln>
        </p:spPr>
      </p:sp>
      <p:sp>
        <p:nvSpPr>
          <p:cNvPr id="110" name="Text 108"/>
          <p:cNvSpPr txBox="1"/>
          <p:nvPr/>
        </p:nvSpPr>
        <p:spPr>
          <a:xfrm>
            <a:off x="395935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11" name="Text 109"/>
          <p:cNvSpPr txBox="1"/>
          <p:nvPr/>
        </p:nvSpPr>
        <p:spPr>
          <a:xfrm>
            <a:off x="446227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2" name="Text 110"/>
          <p:cNvSpPr txBox="1"/>
          <p:nvPr/>
        </p:nvSpPr>
        <p:spPr>
          <a:xfrm>
            <a:off x="4965192"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13" name="Text 111"/>
          <p:cNvSpPr txBox="1"/>
          <p:nvPr/>
        </p:nvSpPr>
        <p:spPr>
          <a:xfrm>
            <a:off x="5468112"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14" name="Text 112"/>
          <p:cNvSpPr txBox="1"/>
          <p:nvPr/>
        </p:nvSpPr>
        <p:spPr>
          <a:xfrm>
            <a:off x="658368" y="557326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15" name="Shape 113"/>
          <p:cNvSpPr/>
          <p:nvPr/>
        </p:nvSpPr>
        <p:spPr>
          <a:xfrm>
            <a:off x="2670048" y="5652478"/>
            <a:ext cx="405384" cy="193624"/>
          </a:xfrm>
          <a:prstGeom prst="rect">
            <a:avLst/>
          </a:prstGeom>
          <a:solidFill>
            <a:srgbClr val="0B7A4A"/>
          </a:solidFill>
          <a:ln w="9525">
            <a:solidFill>
              <a:srgbClr val="FFFFFF"/>
            </a:solidFill>
            <a:prstDash val="solid"/>
          </a:ln>
        </p:spPr>
      </p:sp>
      <p:sp>
        <p:nvSpPr>
          <p:cNvPr id="116" name="Shape 114"/>
          <p:cNvSpPr/>
          <p:nvPr/>
        </p:nvSpPr>
        <p:spPr>
          <a:xfrm>
            <a:off x="3075432" y="5652478"/>
            <a:ext cx="135128" cy="193624"/>
          </a:xfrm>
          <a:prstGeom prst="rect">
            <a:avLst/>
          </a:prstGeom>
          <a:solidFill>
            <a:srgbClr val="8ED3B0"/>
          </a:solidFill>
          <a:ln w="9525">
            <a:solidFill>
              <a:srgbClr val="FFFFFF"/>
            </a:solidFill>
            <a:prstDash val="solid"/>
          </a:ln>
        </p:spPr>
      </p:sp>
      <p:sp>
        <p:nvSpPr>
          <p:cNvPr id="117" name="Text 115"/>
          <p:cNvSpPr txBox="1"/>
          <p:nvPr/>
        </p:nvSpPr>
        <p:spPr>
          <a:xfrm>
            <a:off x="395935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a:t>
            </a:r>
            <a:endParaRPr lang="en-US" sz="1300" dirty="0"/>
          </a:p>
        </p:txBody>
      </p:sp>
      <p:sp>
        <p:nvSpPr>
          <p:cNvPr id="118" name="Text 116"/>
          <p:cNvSpPr txBox="1"/>
          <p:nvPr/>
        </p:nvSpPr>
        <p:spPr>
          <a:xfrm>
            <a:off x="4462272" y="557326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19" name="Text 117"/>
          <p:cNvSpPr txBox="1"/>
          <p:nvPr/>
        </p:nvSpPr>
        <p:spPr>
          <a:xfrm>
            <a:off x="4965192" y="557326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0" name="Text 118"/>
          <p:cNvSpPr txBox="1"/>
          <p:nvPr/>
        </p:nvSpPr>
        <p:spPr>
          <a:xfrm>
            <a:off x="5468112" y="557326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1" name="Text 119"/>
          <p:cNvSpPr txBox="1"/>
          <p:nvPr/>
        </p:nvSpPr>
        <p:spPr>
          <a:xfrm>
            <a:off x="6208776" y="170078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22" name="Shape 120"/>
          <p:cNvSpPr/>
          <p:nvPr/>
        </p:nvSpPr>
        <p:spPr>
          <a:xfrm>
            <a:off x="8220456" y="1779994"/>
            <a:ext cx="270256" cy="193624"/>
          </a:xfrm>
          <a:prstGeom prst="rect">
            <a:avLst/>
          </a:prstGeom>
          <a:solidFill>
            <a:srgbClr val="0B7A4A"/>
          </a:solidFill>
          <a:ln w="9525">
            <a:solidFill>
              <a:srgbClr val="FFFFFF"/>
            </a:solidFill>
            <a:prstDash val="solid"/>
          </a:ln>
        </p:spPr>
      </p:sp>
      <p:sp>
        <p:nvSpPr>
          <p:cNvPr id="123" name="Shape 121"/>
          <p:cNvSpPr/>
          <p:nvPr/>
        </p:nvSpPr>
        <p:spPr>
          <a:xfrm>
            <a:off x="8490712" y="1779994"/>
            <a:ext cx="135128" cy="193624"/>
          </a:xfrm>
          <a:prstGeom prst="rect">
            <a:avLst/>
          </a:prstGeom>
          <a:solidFill>
            <a:srgbClr val="12A566"/>
          </a:solidFill>
          <a:ln w="9525">
            <a:solidFill>
              <a:srgbClr val="FFFFFF"/>
            </a:solidFill>
            <a:prstDash val="solid"/>
          </a:ln>
        </p:spPr>
      </p:sp>
      <p:sp>
        <p:nvSpPr>
          <p:cNvPr id="124" name="Shape 122"/>
          <p:cNvSpPr/>
          <p:nvPr/>
        </p:nvSpPr>
        <p:spPr>
          <a:xfrm>
            <a:off x="8625840" y="1779994"/>
            <a:ext cx="135128" cy="193624"/>
          </a:xfrm>
          <a:prstGeom prst="rect">
            <a:avLst/>
          </a:prstGeom>
          <a:solidFill>
            <a:srgbClr val="8ED3B0"/>
          </a:solidFill>
          <a:ln w="9525">
            <a:solidFill>
              <a:srgbClr val="FFFFFF"/>
            </a:solidFill>
            <a:prstDash val="solid"/>
          </a:ln>
        </p:spPr>
      </p:sp>
      <p:sp>
        <p:nvSpPr>
          <p:cNvPr id="125" name="Text 123"/>
          <p:cNvSpPr txBox="1"/>
          <p:nvPr/>
        </p:nvSpPr>
        <p:spPr>
          <a:xfrm>
            <a:off x="950976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26" name="Text 124"/>
          <p:cNvSpPr txBox="1"/>
          <p:nvPr/>
        </p:nvSpPr>
        <p:spPr>
          <a:xfrm>
            <a:off x="1001268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7" name="Text 125"/>
          <p:cNvSpPr txBox="1"/>
          <p:nvPr/>
        </p:nvSpPr>
        <p:spPr>
          <a:xfrm>
            <a:off x="10515600" y="170078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28" name="Text 126"/>
          <p:cNvSpPr txBox="1"/>
          <p:nvPr/>
        </p:nvSpPr>
        <p:spPr>
          <a:xfrm>
            <a:off x="11018520" y="170078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29" name="Text 127"/>
          <p:cNvSpPr txBox="1"/>
          <p:nvPr/>
        </p:nvSpPr>
        <p:spPr>
          <a:xfrm>
            <a:off x="6208776" y="205282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30" name="Shape 128"/>
          <p:cNvSpPr/>
          <p:nvPr/>
        </p:nvSpPr>
        <p:spPr>
          <a:xfrm>
            <a:off x="8220456" y="2132038"/>
            <a:ext cx="540512" cy="193624"/>
          </a:xfrm>
          <a:prstGeom prst="rect">
            <a:avLst/>
          </a:prstGeom>
          <a:solidFill>
            <a:srgbClr val="0B7A4A"/>
          </a:solidFill>
          <a:ln w="9525">
            <a:solidFill>
              <a:srgbClr val="FFFFFF"/>
            </a:solidFill>
            <a:prstDash val="solid"/>
          </a:ln>
        </p:spPr>
      </p:sp>
      <p:sp>
        <p:nvSpPr>
          <p:cNvPr id="131" name="Text 129"/>
          <p:cNvSpPr txBox="1"/>
          <p:nvPr/>
        </p:nvSpPr>
        <p:spPr>
          <a:xfrm>
            <a:off x="9509760" y="205282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a:t>
            </a:r>
            <a:endParaRPr lang="en-US" sz="1300" dirty="0"/>
          </a:p>
        </p:txBody>
      </p:sp>
      <p:sp>
        <p:nvSpPr>
          <p:cNvPr id="132" name="Text 130"/>
          <p:cNvSpPr txBox="1"/>
          <p:nvPr/>
        </p:nvSpPr>
        <p:spPr>
          <a:xfrm>
            <a:off x="1001268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3" name="Text 131"/>
          <p:cNvSpPr txBox="1"/>
          <p:nvPr/>
        </p:nvSpPr>
        <p:spPr>
          <a:xfrm>
            <a:off x="10515600" y="205282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4" name="Text 132"/>
          <p:cNvSpPr txBox="1"/>
          <p:nvPr/>
        </p:nvSpPr>
        <p:spPr>
          <a:xfrm>
            <a:off x="11018520" y="205282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a:t>
            </a:r>
            <a:endParaRPr lang="en-US" sz="1300" dirty="0"/>
          </a:p>
        </p:txBody>
      </p:sp>
      <p:sp>
        <p:nvSpPr>
          <p:cNvPr id="135" name="Text 133"/>
          <p:cNvSpPr txBox="1"/>
          <p:nvPr/>
        </p:nvSpPr>
        <p:spPr>
          <a:xfrm>
            <a:off x="6208776" y="240487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6" name="Shape 134"/>
          <p:cNvSpPr/>
          <p:nvPr/>
        </p:nvSpPr>
        <p:spPr>
          <a:xfrm>
            <a:off x="8220456" y="2484082"/>
            <a:ext cx="135128" cy="193624"/>
          </a:xfrm>
          <a:prstGeom prst="rect">
            <a:avLst/>
          </a:prstGeom>
          <a:solidFill>
            <a:srgbClr val="12A566"/>
          </a:solidFill>
          <a:ln w="9525">
            <a:solidFill>
              <a:srgbClr val="FFFFFF"/>
            </a:solidFill>
            <a:prstDash val="solid"/>
          </a:ln>
        </p:spPr>
      </p:sp>
      <p:sp>
        <p:nvSpPr>
          <p:cNvPr id="137" name="Shape 135"/>
          <p:cNvSpPr/>
          <p:nvPr/>
        </p:nvSpPr>
        <p:spPr>
          <a:xfrm>
            <a:off x="8355584" y="2484082"/>
            <a:ext cx="270256" cy="193624"/>
          </a:xfrm>
          <a:prstGeom prst="rect">
            <a:avLst/>
          </a:prstGeom>
          <a:solidFill>
            <a:srgbClr val="8ED3B0"/>
          </a:solidFill>
          <a:ln w="9525">
            <a:solidFill>
              <a:srgbClr val="FFFFFF"/>
            </a:solidFill>
            <a:prstDash val="solid"/>
          </a:ln>
        </p:spPr>
      </p:sp>
      <p:sp>
        <p:nvSpPr>
          <p:cNvPr id="138" name="Text 136"/>
          <p:cNvSpPr txBox="1"/>
          <p:nvPr/>
        </p:nvSpPr>
        <p:spPr>
          <a:xfrm>
            <a:off x="9509760" y="240487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01268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10515600" y="240487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41" name="Text 139"/>
          <p:cNvSpPr txBox="1"/>
          <p:nvPr/>
        </p:nvSpPr>
        <p:spPr>
          <a:xfrm>
            <a:off x="11018520" y="240487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a:t>
            </a:r>
            <a:endParaRPr lang="en-US" sz="1300" dirty="0"/>
          </a:p>
        </p:txBody>
      </p:sp>
      <p:sp>
        <p:nvSpPr>
          <p:cNvPr id="142" name="Text 140"/>
          <p:cNvSpPr txBox="1"/>
          <p:nvPr/>
        </p:nvSpPr>
        <p:spPr>
          <a:xfrm>
            <a:off x="6208776" y="275691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43" name="Shape 141"/>
          <p:cNvSpPr/>
          <p:nvPr/>
        </p:nvSpPr>
        <p:spPr>
          <a:xfrm>
            <a:off x="8220456" y="2836126"/>
            <a:ext cx="135128" cy="193624"/>
          </a:xfrm>
          <a:prstGeom prst="rect">
            <a:avLst/>
          </a:prstGeom>
          <a:solidFill>
            <a:srgbClr val="12A566"/>
          </a:solidFill>
          <a:ln w="9525">
            <a:solidFill>
              <a:srgbClr val="FFFFFF"/>
            </a:solidFill>
            <a:prstDash val="solid"/>
          </a:ln>
        </p:spPr>
      </p:sp>
      <p:sp>
        <p:nvSpPr>
          <p:cNvPr id="144" name="Shape 142"/>
          <p:cNvSpPr/>
          <p:nvPr/>
        </p:nvSpPr>
        <p:spPr>
          <a:xfrm>
            <a:off x="8355584" y="2836126"/>
            <a:ext cx="135128" cy="193624"/>
          </a:xfrm>
          <a:prstGeom prst="rect">
            <a:avLst/>
          </a:prstGeom>
          <a:solidFill>
            <a:srgbClr val="8ED3B0"/>
          </a:solidFill>
          <a:ln w="9525">
            <a:solidFill>
              <a:srgbClr val="FFFFFF"/>
            </a:solidFill>
            <a:prstDash val="solid"/>
          </a:ln>
        </p:spPr>
      </p:sp>
      <p:sp>
        <p:nvSpPr>
          <p:cNvPr id="145" name="Text 143"/>
          <p:cNvSpPr txBox="1"/>
          <p:nvPr/>
        </p:nvSpPr>
        <p:spPr>
          <a:xfrm>
            <a:off x="9509760" y="275691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01268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10515600" y="275691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48" name="Text 146"/>
          <p:cNvSpPr txBox="1"/>
          <p:nvPr/>
        </p:nvSpPr>
        <p:spPr>
          <a:xfrm>
            <a:off x="11018520" y="275691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49" name="Text 147"/>
          <p:cNvSpPr txBox="1"/>
          <p:nvPr/>
        </p:nvSpPr>
        <p:spPr>
          <a:xfrm>
            <a:off x="6208776" y="310896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0" name="Shape 148"/>
          <p:cNvSpPr/>
          <p:nvPr/>
        </p:nvSpPr>
        <p:spPr>
          <a:xfrm>
            <a:off x="8220456" y="3188170"/>
            <a:ext cx="135128" cy="193624"/>
          </a:xfrm>
          <a:prstGeom prst="rect">
            <a:avLst/>
          </a:prstGeom>
          <a:solidFill>
            <a:srgbClr val="0B7A4A"/>
          </a:solidFill>
          <a:ln w="9525">
            <a:solidFill>
              <a:srgbClr val="FFFFFF"/>
            </a:solidFill>
            <a:prstDash val="solid"/>
          </a:ln>
        </p:spPr>
      </p:sp>
      <p:sp>
        <p:nvSpPr>
          <p:cNvPr id="151" name="Shape 149"/>
          <p:cNvSpPr/>
          <p:nvPr/>
        </p:nvSpPr>
        <p:spPr>
          <a:xfrm>
            <a:off x="8355584" y="3188170"/>
            <a:ext cx="135128" cy="193624"/>
          </a:xfrm>
          <a:prstGeom prst="rect">
            <a:avLst/>
          </a:prstGeom>
          <a:solidFill>
            <a:srgbClr val="8ED3B0"/>
          </a:solidFill>
          <a:ln w="9525">
            <a:solidFill>
              <a:srgbClr val="FFFFFF"/>
            </a:solidFill>
            <a:prstDash val="solid"/>
          </a:ln>
        </p:spPr>
      </p:sp>
      <p:sp>
        <p:nvSpPr>
          <p:cNvPr id="152" name="Text 150"/>
          <p:cNvSpPr txBox="1"/>
          <p:nvPr/>
        </p:nvSpPr>
        <p:spPr>
          <a:xfrm>
            <a:off x="950976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3" name="Text 151"/>
          <p:cNvSpPr txBox="1"/>
          <p:nvPr/>
        </p:nvSpPr>
        <p:spPr>
          <a:xfrm>
            <a:off x="10012680" y="310896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54" name="Text 152"/>
          <p:cNvSpPr txBox="1"/>
          <p:nvPr/>
        </p:nvSpPr>
        <p:spPr>
          <a:xfrm>
            <a:off x="10515600" y="310896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55" name="Text 153"/>
          <p:cNvSpPr txBox="1"/>
          <p:nvPr/>
        </p:nvSpPr>
        <p:spPr>
          <a:xfrm>
            <a:off x="11018520" y="310896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56" name="Text 154"/>
          <p:cNvSpPr txBox="1"/>
          <p:nvPr/>
        </p:nvSpPr>
        <p:spPr>
          <a:xfrm>
            <a:off x="6208776" y="346100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57" name="Shape 155"/>
          <p:cNvSpPr/>
          <p:nvPr/>
        </p:nvSpPr>
        <p:spPr>
          <a:xfrm>
            <a:off x="8220456" y="3540214"/>
            <a:ext cx="135128" cy="193624"/>
          </a:xfrm>
          <a:prstGeom prst="rect">
            <a:avLst/>
          </a:prstGeom>
          <a:solidFill>
            <a:srgbClr val="0B7A4A"/>
          </a:solidFill>
          <a:ln w="9525">
            <a:solidFill>
              <a:srgbClr val="FFFFFF"/>
            </a:solidFill>
            <a:prstDash val="solid"/>
          </a:ln>
        </p:spPr>
      </p:sp>
      <p:sp>
        <p:nvSpPr>
          <p:cNvPr id="158" name="Shape 156"/>
          <p:cNvSpPr/>
          <p:nvPr/>
        </p:nvSpPr>
        <p:spPr>
          <a:xfrm>
            <a:off x="8355584" y="3540214"/>
            <a:ext cx="135128" cy="193624"/>
          </a:xfrm>
          <a:prstGeom prst="rect">
            <a:avLst/>
          </a:prstGeom>
          <a:solidFill>
            <a:srgbClr val="8ED3B0"/>
          </a:solidFill>
          <a:ln w="9525">
            <a:solidFill>
              <a:srgbClr val="FFFFFF"/>
            </a:solidFill>
            <a:prstDash val="solid"/>
          </a:ln>
        </p:spPr>
      </p:sp>
      <p:sp>
        <p:nvSpPr>
          <p:cNvPr id="159" name="Text 157"/>
          <p:cNvSpPr txBox="1"/>
          <p:nvPr/>
        </p:nvSpPr>
        <p:spPr>
          <a:xfrm>
            <a:off x="950976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0" name="Text 158"/>
          <p:cNvSpPr txBox="1"/>
          <p:nvPr/>
        </p:nvSpPr>
        <p:spPr>
          <a:xfrm>
            <a:off x="10012680" y="346100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10515600" y="346100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2" name="Text 160"/>
          <p:cNvSpPr txBox="1"/>
          <p:nvPr/>
        </p:nvSpPr>
        <p:spPr>
          <a:xfrm>
            <a:off x="11018520" y="346100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63" name="Text 161"/>
          <p:cNvSpPr txBox="1"/>
          <p:nvPr/>
        </p:nvSpPr>
        <p:spPr>
          <a:xfrm>
            <a:off x="6208776" y="3813048"/>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4" name="Shape 162"/>
          <p:cNvSpPr/>
          <p:nvPr/>
        </p:nvSpPr>
        <p:spPr>
          <a:xfrm>
            <a:off x="8220456" y="3892258"/>
            <a:ext cx="135128" cy="193624"/>
          </a:xfrm>
          <a:prstGeom prst="rect">
            <a:avLst/>
          </a:prstGeom>
          <a:solidFill>
            <a:srgbClr val="0B7A4A"/>
          </a:solidFill>
          <a:ln w="9525">
            <a:solidFill>
              <a:srgbClr val="FFFFFF"/>
            </a:solidFill>
            <a:prstDash val="solid"/>
          </a:ln>
        </p:spPr>
      </p:sp>
      <p:sp>
        <p:nvSpPr>
          <p:cNvPr id="165" name="Shape 163"/>
          <p:cNvSpPr/>
          <p:nvPr/>
        </p:nvSpPr>
        <p:spPr>
          <a:xfrm>
            <a:off x="8355584" y="3892258"/>
            <a:ext cx="135128" cy="193624"/>
          </a:xfrm>
          <a:prstGeom prst="rect">
            <a:avLst/>
          </a:prstGeom>
          <a:solidFill>
            <a:srgbClr val="8ED3B0"/>
          </a:solidFill>
          <a:ln w="9525">
            <a:solidFill>
              <a:srgbClr val="FFFFFF"/>
            </a:solidFill>
            <a:prstDash val="solid"/>
          </a:ln>
        </p:spPr>
      </p:sp>
      <p:sp>
        <p:nvSpPr>
          <p:cNvPr id="166" name="Text 164"/>
          <p:cNvSpPr txBox="1"/>
          <p:nvPr/>
        </p:nvSpPr>
        <p:spPr>
          <a:xfrm>
            <a:off x="950976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7" name="Text 165"/>
          <p:cNvSpPr txBox="1"/>
          <p:nvPr/>
        </p:nvSpPr>
        <p:spPr>
          <a:xfrm>
            <a:off x="10012680" y="3813048"/>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68" name="Text 166"/>
          <p:cNvSpPr txBox="1"/>
          <p:nvPr/>
        </p:nvSpPr>
        <p:spPr>
          <a:xfrm>
            <a:off x="10515600" y="3813048"/>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69" name="Text 167"/>
          <p:cNvSpPr txBox="1"/>
          <p:nvPr/>
        </p:nvSpPr>
        <p:spPr>
          <a:xfrm>
            <a:off x="11018520" y="3813048"/>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0" name="Text 168"/>
          <p:cNvSpPr txBox="1"/>
          <p:nvPr/>
        </p:nvSpPr>
        <p:spPr>
          <a:xfrm>
            <a:off x="6208776" y="4165092"/>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1" name="Shape 169"/>
          <p:cNvSpPr/>
          <p:nvPr/>
        </p:nvSpPr>
        <p:spPr>
          <a:xfrm>
            <a:off x="8220456" y="4244302"/>
            <a:ext cx="135128" cy="193624"/>
          </a:xfrm>
          <a:prstGeom prst="rect">
            <a:avLst/>
          </a:prstGeom>
          <a:solidFill>
            <a:srgbClr val="0B7A4A"/>
          </a:solidFill>
          <a:ln w="9525">
            <a:solidFill>
              <a:srgbClr val="FFFFFF"/>
            </a:solidFill>
            <a:prstDash val="solid"/>
          </a:ln>
        </p:spPr>
      </p:sp>
      <p:sp>
        <p:nvSpPr>
          <p:cNvPr id="172" name="Shape 170"/>
          <p:cNvSpPr/>
          <p:nvPr/>
        </p:nvSpPr>
        <p:spPr>
          <a:xfrm>
            <a:off x="8355584" y="4244302"/>
            <a:ext cx="135128" cy="193624"/>
          </a:xfrm>
          <a:prstGeom prst="rect">
            <a:avLst/>
          </a:prstGeom>
          <a:solidFill>
            <a:srgbClr val="8ED3B0"/>
          </a:solidFill>
          <a:ln w="9525">
            <a:solidFill>
              <a:srgbClr val="FFFFFF"/>
            </a:solidFill>
            <a:prstDash val="solid"/>
          </a:ln>
        </p:spPr>
      </p:sp>
      <p:sp>
        <p:nvSpPr>
          <p:cNvPr id="173" name="Text 171"/>
          <p:cNvSpPr txBox="1"/>
          <p:nvPr/>
        </p:nvSpPr>
        <p:spPr>
          <a:xfrm>
            <a:off x="950976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4" name="Text 172"/>
          <p:cNvSpPr txBox="1"/>
          <p:nvPr/>
        </p:nvSpPr>
        <p:spPr>
          <a:xfrm>
            <a:off x="10012680" y="4165092"/>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75" name="Text 173"/>
          <p:cNvSpPr txBox="1"/>
          <p:nvPr/>
        </p:nvSpPr>
        <p:spPr>
          <a:xfrm>
            <a:off x="10515600" y="4165092"/>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76" name="Text 174"/>
          <p:cNvSpPr txBox="1"/>
          <p:nvPr/>
        </p:nvSpPr>
        <p:spPr>
          <a:xfrm>
            <a:off x="11018520" y="4165092"/>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77" name="Text 175"/>
          <p:cNvSpPr txBox="1"/>
          <p:nvPr/>
        </p:nvSpPr>
        <p:spPr>
          <a:xfrm>
            <a:off x="6208776" y="4517136"/>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78" name="Shape 176"/>
          <p:cNvSpPr/>
          <p:nvPr/>
        </p:nvSpPr>
        <p:spPr>
          <a:xfrm>
            <a:off x="8220456" y="4596346"/>
            <a:ext cx="270256" cy="193624"/>
          </a:xfrm>
          <a:prstGeom prst="rect">
            <a:avLst/>
          </a:prstGeom>
          <a:solidFill>
            <a:srgbClr val="0B7A4A"/>
          </a:solidFill>
          <a:ln w="9525">
            <a:solidFill>
              <a:srgbClr val="FFFFFF"/>
            </a:solidFill>
            <a:prstDash val="solid"/>
          </a:ln>
        </p:spPr>
      </p:sp>
      <p:sp>
        <p:nvSpPr>
          <p:cNvPr id="179" name="Text 177"/>
          <p:cNvSpPr txBox="1"/>
          <p:nvPr/>
        </p:nvSpPr>
        <p:spPr>
          <a:xfrm>
            <a:off x="9509760" y="4517136"/>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a:t>
            </a:r>
            <a:endParaRPr lang="en-US" sz="1300" dirty="0"/>
          </a:p>
        </p:txBody>
      </p:sp>
      <p:sp>
        <p:nvSpPr>
          <p:cNvPr id="180" name="Text 178"/>
          <p:cNvSpPr txBox="1"/>
          <p:nvPr/>
        </p:nvSpPr>
        <p:spPr>
          <a:xfrm>
            <a:off x="1001268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1" name="Text 179"/>
          <p:cNvSpPr txBox="1"/>
          <p:nvPr/>
        </p:nvSpPr>
        <p:spPr>
          <a:xfrm>
            <a:off x="10515600" y="4517136"/>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2" name="Text 180"/>
          <p:cNvSpPr txBox="1"/>
          <p:nvPr/>
        </p:nvSpPr>
        <p:spPr>
          <a:xfrm>
            <a:off x="11018520" y="4517136"/>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a:t>
            </a:r>
            <a:endParaRPr lang="en-US" sz="1300" dirty="0"/>
          </a:p>
        </p:txBody>
      </p:sp>
      <p:sp>
        <p:nvSpPr>
          <p:cNvPr id="183" name="Text 181"/>
          <p:cNvSpPr txBox="1"/>
          <p:nvPr/>
        </p:nvSpPr>
        <p:spPr>
          <a:xfrm>
            <a:off x="6208776" y="4869180"/>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4" name="Shape 182"/>
          <p:cNvSpPr/>
          <p:nvPr/>
        </p:nvSpPr>
        <p:spPr>
          <a:xfrm>
            <a:off x="8220456" y="4948390"/>
            <a:ext cx="135128" cy="193624"/>
          </a:xfrm>
          <a:prstGeom prst="rect">
            <a:avLst/>
          </a:prstGeom>
          <a:solidFill>
            <a:srgbClr val="8ED3B0"/>
          </a:solidFill>
          <a:ln w="9525">
            <a:solidFill>
              <a:srgbClr val="FFFFFF"/>
            </a:solidFill>
            <a:prstDash val="solid"/>
          </a:ln>
        </p:spPr>
      </p:sp>
      <p:sp>
        <p:nvSpPr>
          <p:cNvPr id="185" name="Text 183"/>
          <p:cNvSpPr txBox="1"/>
          <p:nvPr/>
        </p:nvSpPr>
        <p:spPr>
          <a:xfrm>
            <a:off x="950976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6" name="Text 184"/>
          <p:cNvSpPr txBox="1"/>
          <p:nvPr/>
        </p:nvSpPr>
        <p:spPr>
          <a:xfrm>
            <a:off x="10012680" y="4869180"/>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87" name="Text 185"/>
          <p:cNvSpPr txBox="1"/>
          <p:nvPr/>
        </p:nvSpPr>
        <p:spPr>
          <a:xfrm>
            <a:off x="10515600" y="4869180"/>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88" name="Text 186"/>
          <p:cNvSpPr txBox="1"/>
          <p:nvPr/>
        </p:nvSpPr>
        <p:spPr>
          <a:xfrm>
            <a:off x="11018520" y="4869180"/>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89" name="Text 187"/>
          <p:cNvSpPr txBox="1"/>
          <p:nvPr/>
        </p:nvSpPr>
        <p:spPr>
          <a:xfrm>
            <a:off x="6208776" y="5221224"/>
            <a:ext cx="1938528" cy="352044"/>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90" name="Shape 188"/>
          <p:cNvSpPr/>
          <p:nvPr/>
        </p:nvSpPr>
        <p:spPr>
          <a:xfrm>
            <a:off x="8220456" y="5300434"/>
            <a:ext cx="135128" cy="193624"/>
          </a:xfrm>
          <a:prstGeom prst="rect">
            <a:avLst/>
          </a:prstGeom>
          <a:solidFill>
            <a:srgbClr val="0B7A4A"/>
          </a:solidFill>
          <a:ln w="9525">
            <a:solidFill>
              <a:srgbClr val="FFFFFF"/>
            </a:solidFill>
            <a:prstDash val="solid"/>
          </a:ln>
        </p:spPr>
      </p:sp>
      <p:sp>
        <p:nvSpPr>
          <p:cNvPr id="191" name="Text 189"/>
          <p:cNvSpPr txBox="1"/>
          <p:nvPr/>
        </p:nvSpPr>
        <p:spPr>
          <a:xfrm>
            <a:off x="9509760" y="5221224"/>
            <a:ext cx="502920" cy="352044"/>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a:t>
            </a:r>
            <a:endParaRPr lang="en-US" sz="1300" dirty="0"/>
          </a:p>
        </p:txBody>
      </p:sp>
      <p:sp>
        <p:nvSpPr>
          <p:cNvPr id="192" name="Text 190"/>
          <p:cNvSpPr txBox="1"/>
          <p:nvPr/>
        </p:nvSpPr>
        <p:spPr>
          <a:xfrm>
            <a:off x="1001268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3" name="Text 191"/>
          <p:cNvSpPr txBox="1"/>
          <p:nvPr/>
        </p:nvSpPr>
        <p:spPr>
          <a:xfrm>
            <a:off x="10515600" y="5221224"/>
            <a:ext cx="502920" cy="352044"/>
          </a:xfrm>
          <a:prstGeom prst="rect">
            <a:avLst/>
          </a:prstGeom>
          <a:noFill/>
          <a:ln/>
        </p:spPr>
        <p:txBody>
          <a:bodyPr wrap="square" lIns="0" tIns="0" rIns="0" bIns="0" rtlCol="0" anchor="ctr"/>
          <a:lstStyle/>
          <a:p>
            <a:pPr algn="r" indent="0" marL="0">
              <a:buNone/>
            </a:pPr>
            <a:r>
              <a:rPr lang="en-US" sz="1300" dirty="0">
                <a:solidFill>
                  <a:srgbClr val="9AA3AD"/>
                </a:solidFill>
                <a:latin typeface="Inter" pitchFamily="34" charset="0"/>
                <a:ea typeface="Inter" pitchFamily="34" charset="-122"/>
                <a:cs typeface="Inter" pitchFamily="34" charset="-120"/>
              </a:rPr>
              <a:t>–</a:t>
            </a:r>
            <a:endParaRPr lang="en-US" sz="1300" dirty="0"/>
          </a:p>
        </p:txBody>
      </p:sp>
      <p:sp>
        <p:nvSpPr>
          <p:cNvPr id="194" name="Text 192"/>
          <p:cNvSpPr txBox="1"/>
          <p:nvPr/>
        </p:nvSpPr>
        <p:spPr>
          <a:xfrm>
            <a:off x="11018520" y="5221224"/>
            <a:ext cx="548640" cy="352044"/>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a:t>
            </a:r>
            <a:endParaRPr lang="en-US" sz="1300" dirty="0"/>
          </a:p>
        </p:txBody>
      </p:sp>
      <p:sp>
        <p:nvSpPr>
          <p:cNvPr id="195" name="Shape 193"/>
          <p:cNvSpPr/>
          <p:nvPr/>
        </p:nvSpPr>
        <p:spPr>
          <a:xfrm>
            <a:off x="457200" y="6126480"/>
            <a:ext cx="11274552" cy="356616"/>
          </a:xfrm>
          <a:prstGeom prst="rect">
            <a:avLst/>
          </a:prstGeom>
          <a:solidFill>
            <a:srgbClr val="E6F6EE"/>
          </a:solidFill>
          <a:ln/>
        </p:spPr>
      </p:sp>
      <p:sp>
        <p:nvSpPr>
          <p:cNvPr id="196" name="Text 19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23 of 33 stores set 98 new monthly records in 2026: 42 in service, 19 in parts and 37 in combined gross.</a:t>
            </a:r>
            <a:endParaRPr lang="en-US" sz="15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$244.12</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$235.87</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$225.50</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$249.95</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$161.80</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$179.87</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$165.96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$199.04</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$238.62</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$275.00</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$159.69</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$147.93</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$179.00</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$187.42</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$229.95</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$161.93</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$199.95</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$155.78</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$195.00</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$234.48</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$294.87</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$146.04</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$165.67</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$209.87</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$160.84</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$204.87</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$141.89</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$184.87</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$266.72</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$348.87</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$233.88</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$310.00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$162.12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$215.37</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$180.14</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$239.87</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$142.51</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$190.00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$136.71</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$211.26</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$153.45</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$149.70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$211.87</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$150.72</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$219.87</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$167.22</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$244.87</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$124.92</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$185.00</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$146.92</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$220.00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$139.81</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$146.25</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$224.87</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$136.12</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$210.00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$175.47</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$285.00</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12A566"/>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12A566"/>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12A566"/>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12A566"/>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12A566"/>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12A566"/>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12A566"/>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Internal labor margin runs 2.7 pts below customer pay across the group; 18 of 33 stores are at or better than that gap. Widest: Audi Reno (−20.0 pts), LR LV (−13.9 pts) and LR Henderson (−12.2 pts).</a:t>
            </a:r>
            <a:endParaRPr lang="en-US" sz="16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CP VS INTERNAL GP % · OPTION A</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green = gap at or better than the group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12A566"/>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12A566"/>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12A566"/>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00456"/>
          </a:xfrm>
          <a:prstGeom prst="rect">
            <a:avLst/>
          </a:prstGeom>
          <a:solidFill>
            <a:srgbClr val="EDF4FA"/>
          </a:solidFill>
          <a:ln/>
        </p:spPr>
      </p:sp>
      <p:sp>
        <p:nvSpPr>
          <p:cNvPr id="203" name="Text 201"/>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Internal parts margin runs 4.2 pts below customer pay across the group; 11 of 33 stores are at or better than that gap. Widest: LR LV (−17.6 pts), Honda Flagstaff (−15.4 pts) and Audi Reno (−14.7 pts).</a:t>
            </a:r>
            <a:endParaRPr lang="en-US" sz="155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PHOTO COMPLETION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BEST TECHS · OPTION C</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737360"/>
            <a:ext cx="3840480" cy="1188720"/>
          </a:xfrm>
          <a:prstGeom prst="rect">
            <a:avLst/>
          </a:prstGeom>
          <a:noFill/>
          <a:ln/>
        </p:spPr>
        <p:txBody>
          <a:bodyPr wrap="square" lIns="0" tIns="0" rIns="0" bIns="0" rtlCol="0" anchor="ctr"/>
          <a:lstStyle/>
          <a:p>
            <a:pPr indent="0" marL="0">
              <a:buNone/>
            </a:pPr>
            <a:r>
              <a:rPr lang="en-US" sz="8000" b="1" dirty="0">
                <a:solidFill>
                  <a:srgbClr val="0B7A4A"/>
                </a:solidFill>
                <a:latin typeface="Inter" pitchFamily="34" charset="0"/>
                <a:ea typeface="Inter" pitchFamily="34" charset="-122"/>
                <a:cs typeface="Inter" pitchFamily="34" charset="-120"/>
              </a:rPr>
              <a:t>11 of 13</a:t>
            </a:r>
            <a:endParaRPr lang="en-US" sz="8000" dirty="0"/>
          </a:p>
        </p:txBody>
      </p:sp>
      <p:sp>
        <p:nvSpPr>
          <p:cNvPr id="7" name="Text 5"/>
          <p:cNvSpPr txBox="1"/>
          <p:nvPr/>
        </p:nvSpPr>
        <p:spPr>
          <a:xfrm>
            <a:off x="731520" y="2926080"/>
            <a:ext cx="3749040" cy="822960"/>
          </a:xfrm>
          <a:prstGeom prst="rect">
            <a:avLst/>
          </a:prstGeom>
          <a:noFill/>
          <a:ln/>
        </p:spPr>
        <p:txBody>
          <a:bodyPr wrap="square" lIns="0" tIns="0" rIns="0" bIns="0" rtlCol="0" anchor="t"/>
          <a:lstStyle/>
          <a:p>
            <a:pPr indent="0" marL="0">
              <a:buNone/>
            </a:pPr>
            <a:r>
              <a:rPr lang="en-US" sz="2200" b="1" dirty="0">
                <a:solidFill>
                  <a:srgbClr val="1A1A1A"/>
                </a:solidFill>
                <a:latin typeface="Inter" pitchFamily="34" charset="0"/>
                <a:ea typeface="Inter" pitchFamily="34" charset="-122"/>
                <a:cs typeface="Inter" pitchFamily="34" charset="-120"/>
              </a:rPr>
              <a:t>stores under 85% already have techs beating it.</a:t>
            </a:r>
            <a:endParaRPr lang="en-US" sz="2200" dirty="0"/>
          </a:p>
        </p:txBody>
      </p:sp>
      <p:sp>
        <p:nvSpPr>
          <p:cNvPr id="8" name="Text 6"/>
          <p:cNvSpPr txBox="1"/>
          <p:nvPr/>
        </p:nvSpPr>
        <p:spPr>
          <a:xfrm>
            <a:off x="731520" y="3886200"/>
            <a:ext cx="3657600" cy="1280160"/>
          </a:xfrm>
          <a:prstGeom prst="rect">
            <a:avLst/>
          </a:prstGeom>
          <a:noFill/>
          <a:ln/>
        </p:spPr>
        <p:txBody>
          <a:bodyPr wrap="square" lIns="0" tIns="0" rIns="0" bIns="0" rtlCol="0" anchor="t"/>
          <a:lstStyle/>
          <a:p>
            <a:pPr indent="0" marL="0">
              <a:buNone/>
            </a:pPr>
            <a:r>
              <a:rPr lang="en-US" sz="1600" dirty="0">
                <a:solidFill>
                  <a:srgbClr val="595959"/>
                </a:solidFill>
                <a:latin typeface="Inter" pitchFamily="34" charset="0"/>
                <a:ea typeface="Inter" pitchFamily="34" charset="-122"/>
                <a:cs typeface="Inter" pitchFamily="34" charset="-120"/>
              </a:rPr>
              <a:t>Same bays, same dispatch, same car count. The target is not theory; their own best techs hit it every month.</a:t>
            </a:r>
            <a:endParaRPr lang="en-US" sz="1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937760" y="1417320"/>
          <a:ext cx="6537960" cy="914400"/>
        </p:xfrm>
        <a:graphic>
          <a:graphicData uri="http://schemas.openxmlformats.org/drawingml/2006/table">
            <a:tbl>
              <a:tblPr/>
              <a:tblGrid>
                <a:gridCol w="3429000"/>
                <a:gridCol w="1554480"/>
                <a:gridCol w="1554480"/>
              </a:tblGrid>
              <a:tr h="283464">
                <a:tc>
                  <a:txBody>
                    <a:bodyPr/>
                    <a:lstStyle/>
                    <a:p>
                      <a:pPr algn="l" indent="0" marL="0">
                        <a:buNone/>
                      </a:pPr>
                      <a:r>
                        <a:rPr lang="en-US" sz="1400" b="1" dirty="0">
                          <a:solidFill>
                            <a:srgbClr val="FFFFFF"/>
                          </a:solidFill>
                          <a:latin typeface="Inter" pitchFamily="34" charset="0"/>
                          <a:ea typeface="Inter" pitchFamily="34" charset="-122"/>
                          <a:cs typeface="Inter" pitchFamily="34" charset="-120"/>
                        </a:rPr>
                        <a:t>Store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Store today</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1400" b="1" dirty="0">
                          <a:solidFill>
                            <a:srgbClr val="FFFFFF"/>
                          </a:solidFill>
                          <a:latin typeface="Inter" pitchFamily="34" charset="0"/>
                          <a:ea typeface="Inter" pitchFamily="34" charset="-122"/>
                          <a:cs typeface="Inter" pitchFamily="34" charset="-120"/>
                        </a:rPr>
                        <a:t>Best techs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0B2C4A"/>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ACURA</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CHEVY GMC BULLHEAD</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69%</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VW ST GEORGE</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CDJR POST FALLS</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128%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VOLVO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88%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GMC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KIA LV</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100%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HONDA FLAGSTAFF</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130%</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HYUNDAI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78%</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112%</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LR RENO</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81%</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96%</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FFFFF"/>
                    </a:solidFill>
                  </a:tcPr>
                </a:tc>
              </a:tr>
              <a:tr h="283464">
                <a:tc>
                  <a:txBody>
                    <a:bodyPr/>
                    <a:lstStyle/>
                    <a:p>
                      <a:pPr indent="0" marL="0">
                        <a:buNone/>
                      </a:pPr>
                      <a:r>
                        <a:rPr lang="en-US" sz="1400" dirty="0">
                          <a:solidFill>
                            <a:srgbClr val="1A1A1A"/>
                          </a:solidFill>
                          <a:latin typeface="Inter" pitchFamily="34" charset="0"/>
                          <a:ea typeface="Inter" pitchFamily="34" charset="-122"/>
                          <a:cs typeface="Inter" pitchFamily="34" charset="-120"/>
                        </a:rPr>
                        <a:t>TOYOTA PRESCOTT</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A82B26"/>
                          </a:solidFill>
                          <a:latin typeface="Inter" pitchFamily="34" charset="0"/>
                          <a:ea typeface="Inter" pitchFamily="34" charset="-122"/>
                          <a:cs typeface="Inter" pitchFamily="34" charset="-120"/>
                        </a:rPr>
                        <a:t>83%</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latin typeface="Inter" charset="0"/>
                        <a:ea typeface="Inter" charset="0"/>
                        <a:cs typeface="Inter" charset="0"/>
                      </a:endParaRPr>
                    </a:p>
                  </a:txBody>
                  <a:tcPr marL="91440" marR="91440" marT="0" marB="0" anchor="ctr">
                    <a:lnL w="0" cap="flat" cmpd="sng" algn="ctr">
                      <a:noFill/>
                    </a:lnL>
                    <a:lnR w="0" cap="flat" cmpd="sng" algn="ctr">
                      <a:noFill/>
                    </a:lnR>
                    <a:lnT w="0" cap="flat" cmpd="sng" algn="ctr">
                      <a:noFill/>
                    </a:lnT>
                    <a:lnB w="0" cap="flat" cmpd="sng" algn="ctr">
                      <a:noFill/>
                    </a:lnB>
                    <a:solidFill>
                      <a:srgbClr val="F7F7F7"/>
                    </a:solidFill>
                  </a:tcPr>
                </a:tc>
              </a:tr>
            </a:tbl>
          </a:graphicData>
        </a:graphic>
      </p:graphicFrame>
      <p:sp>
        <p:nvSpPr>
          <p:cNvPr id="10" name="Shape 7"/>
          <p:cNvSpPr/>
          <p:nvPr/>
        </p:nvSpPr>
        <p:spPr>
          <a:xfrm>
            <a:off x="457200" y="6126480"/>
            <a:ext cx="11274552" cy="615696"/>
          </a:xfrm>
          <a:prstGeom prst="rect">
            <a:avLst/>
          </a:prstGeom>
          <a:solidFill>
            <a:srgbClr val="EDF4FA"/>
          </a:solidFill>
          <a:ln/>
        </p:spPr>
      </p:sp>
      <p:sp>
        <p:nvSpPr>
          <p:cNvPr id="11" name="Text 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best quarter of techs already beat 85%. Same bays, same dispatch, same car count.</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2026-10-22T20:48:35Z</dcterms:created>
  <dcterms:modified xsi:type="dcterms:W3CDTF">2026-10-22T20:48:35Z</dcterms:modified>
</cp:coreProperties>
</file>