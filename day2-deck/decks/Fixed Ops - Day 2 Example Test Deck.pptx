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266" r:id="rId12"/>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$7.83M of the group's $50.45M. 2 stores are losing money in fixed ops, Hyundai Prescott the most at −$136,511.Source: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+6.1 pts to 44.9%. 5 declined; Audi Henderson fell most at −2.1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across the four services. 15 stores are under all four.Source: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4 of 4</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4 of 4</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3 of 4</a:t>
            </a:r>
          </a:p>
          <a:p>
            <a:r>
              <a:t>MAZDA: −$28K, −223 opcodes Jan-Sep against the four benchmarks; under 3 of 4</a:t>
            </a:r>
          </a:p>
          <a:p>
            <a:r>
              <a:t>AUDI HENDERSON: −$22K, −661 opcodes Jan-Sep against the four benchmarks; under 3 of 4</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LR LV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6 stores at or above 85% still leave $537K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5 stores are missing a fifth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33.6%.Takeaway with the store call-outs (off the slide): Most top-three finishes: Lincoln, Subaru Prescott and Subaru St George (2 of 5). Most bottom-three: VW St George (3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40.0%.Takeaway with the store call-outs (off the slide): Most top-three finishes: Mazda, CDJR Post Falls and VW St George (2 of 5). Most bottom-three: Honda Henderson and Cadillac (3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Eight stores make both views.Source: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5" name="Shape 142"/>
          <p:cNvSpPr/>
          <p:nvPr/>
        </p:nvSpPr>
        <p:spPr>
          <a:xfrm>
            <a:off x="457200" y="6126480"/>
            <a:ext cx="11274552" cy="371856"/>
          </a:xfrm>
          <a:prstGeom prst="rect">
            <a:avLst/>
          </a:prstGeom>
          <a:solidFill>
            <a:srgbClr val="EDF4FA"/>
          </a:solidFill>
          <a:ln/>
        </p:spPr>
      </p:sp>
      <p:sp>
        <p:nvSpPr>
          <p:cNvPr id="146"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 stores are losing money in fixed ops.</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Shape 31"/>
          <p:cNvSpPr/>
          <p:nvPr/>
        </p:nvSpPr>
        <p:spPr>
          <a:xfrm>
            <a:off x="7775448" y="2139696"/>
            <a:ext cx="64008" cy="755294"/>
          </a:xfrm>
          <a:prstGeom prst="rect">
            <a:avLst/>
          </a:prstGeom>
          <a:solidFill>
            <a:srgbClr val="2587C5"/>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2587C5"/>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8" name="Text 66"/>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9" name="Text 67"/>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70" name="Text 68"/>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71" name="Shape 69"/>
          <p:cNvSpPr/>
          <p:nvPr/>
        </p:nvSpPr>
        <p:spPr>
          <a:xfrm>
            <a:off x="8040624" y="5416906"/>
            <a:ext cx="3489960" cy="828446"/>
          </a:xfrm>
          <a:prstGeom prst="rect">
            <a:avLst/>
          </a:prstGeom>
          <a:solidFill>
            <a:srgbClr val="F7F7F7"/>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Jul alone brought 11 combined store records. Every one of these stores can tell the room what they changed.</a:t>
            </a:r>
            <a:endParaRPr lang="en-US" sz="145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Shape 33"/>
          <p:cNvSpPr/>
          <p:nvPr/>
        </p:nvSpPr>
        <p:spPr>
          <a:xfrm>
            <a:off x="7775448" y="2968142"/>
            <a:ext cx="64008" cy="755294"/>
          </a:xfrm>
          <a:prstGeom prst="rect">
            <a:avLst/>
          </a:prstGeom>
          <a:solidFill>
            <a:srgbClr val="2587C5"/>
          </a:solidFill>
          <a:ln/>
        </p:spPr>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2587C5"/>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Shape 39"/>
          <p:cNvSpPr/>
          <p:nvPr/>
        </p:nvSpPr>
        <p:spPr>
          <a:xfrm>
            <a:off x="7775448" y="3796589"/>
            <a:ext cx="64008" cy="755294"/>
          </a:xfrm>
          <a:prstGeom prst="rect">
            <a:avLst/>
          </a:prstGeom>
          <a:solidFill>
            <a:srgbClr val="2587C5"/>
          </a:solidFill>
          <a:ln/>
        </p:spPr>
      </p:sp>
      <p:sp>
        <p:nvSpPr>
          <p:cNvPr id="42" name="Text 40"/>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3" name="Text 41"/>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4" name="Text 42"/>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5" name="Text 43"/>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6" name="Text 44"/>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7" name="Text 45"/>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8" name="Shape 46"/>
          <p:cNvSpPr/>
          <p:nvPr/>
        </p:nvSpPr>
        <p:spPr>
          <a:xfrm>
            <a:off x="4349496" y="5416906"/>
            <a:ext cx="3489960" cy="828446"/>
          </a:xfrm>
          <a:prstGeom prst="rect">
            <a:avLst/>
          </a:prstGeom>
          <a:solidFill>
            <a:srgbClr val="F7F7F7"/>
          </a:solidFill>
          <a:ln/>
        </p:spPr>
      </p:sp>
      <p:sp>
        <p:nvSpPr>
          <p:cNvPr id="49" name="Text 47"/>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0" name="Text 48"/>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1" name="Text 49"/>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2" name="Shape 50"/>
          <p:cNvSpPr/>
          <p:nvPr/>
        </p:nvSpPr>
        <p:spPr>
          <a:xfrm>
            <a:off x="8040624" y="1371600"/>
            <a:ext cx="3489960" cy="45720"/>
          </a:xfrm>
          <a:prstGeom prst="rect">
            <a:avLst/>
          </a:prstGeom>
          <a:solidFill>
            <a:srgbClr val="2587C5"/>
          </a:solidFill>
          <a:ln/>
        </p:spPr>
      </p:sp>
      <p:sp>
        <p:nvSpPr>
          <p:cNvPr id="53" name="Text 51"/>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4" name="Text 52"/>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5" name="Shape 53"/>
          <p:cNvSpPr/>
          <p:nvPr/>
        </p:nvSpPr>
        <p:spPr>
          <a:xfrm>
            <a:off x="8040624" y="2103120"/>
            <a:ext cx="3489960" cy="828446"/>
          </a:xfrm>
          <a:prstGeom prst="rect">
            <a:avLst/>
          </a:prstGeom>
          <a:solidFill>
            <a:srgbClr val="F7F7F7"/>
          </a:solidFill>
          <a:ln/>
        </p:spPr>
      </p:sp>
      <p:sp>
        <p:nvSpPr>
          <p:cNvPr id="56" name="Shape 54"/>
          <p:cNvSpPr/>
          <p:nvPr/>
        </p:nvSpPr>
        <p:spPr>
          <a:xfrm>
            <a:off x="11466576" y="2139696"/>
            <a:ext cx="64008" cy="755294"/>
          </a:xfrm>
          <a:prstGeom prst="rect">
            <a:avLst/>
          </a:prstGeom>
          <a:solidFill>
            <a:srgbClr val="12A566"/>
          </a:solidFill>
          <a:ln/>
        </p:spPr>
      </p:sp>
      <p:sp>
        <p:nvSpPr>
          <p:cNvPr id="57" name="Text 55"/>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8" name="Text 56"/>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9" name="Text 57"/>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12A566"/>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8" name="Shape 66"/>
          <p:cNvSpPr/>
          <p:nvPr/>
        </p:nvSpPr>
        <p:spPr>
          <a:xfrm>
            <a:off x="11466576" y="4625035"/>
            <a:ext cx="64008" cy="755294"/>
          </a:xfrm>
          <a:prstGeom prst="rect">
            <a:avLst/>
          </a:prstGeom>
          <a:solidFill>
            <a:srgbClr val="2587C5"/>
          </a:solidFill>
          <a:ln/>
        </p:spPr>
      </p:sp>
      <p:sp>
        <p:nvSpPr>
          <p:cNvPr id="69" name="Text 6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0" name="Text 6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71" name="Text 69"/>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2" name="Shape 70"/>
          <p:cNvSpPr/>
          <p:nvPr/>
        </p:nvSpPr>
        <p:spPr>
          <a:xfrm>
            <a:off x="8040624" y="5416906"/>
            <a:ext cx="3489960" cy="828446"/>
          </a:xfrm>
          <a:prstGeom prst="rect">
            <a:avLst/>
          </a:prstGeom>
          <a:solidFill>
            <a:srgbClr val="F7F7F7"/>
          </a:solidFill>
          <a:ln/>
        </p:spPr>
      </p:sp>
      <p:sp>
        <p:nvSpPr>
          <p:cNvPr id="73" name="Shape 71"/>
          <p:cNvSpPr/>
          <p:nvPr/>
        </p:nvSpPr>
        <p:spPr>
          <a:xfrm>
            <a:off x="11466576" y="5453482"/>
            <a:ext cx="64008" cy="755294"/>
          </a:xfrm>
          <a:prstGeom prst="rect">
            <a:avLst/>
          </a:prstGeom>
          <a:solidFill>
            <a:srgbClr val="12A566"/>
          </a:solidFill>
          <a:ln/>
        </p:spPr>
      </p:sp>
      <p:sp>
        <p:nvSpPr>
          <p:cNvPr id="74" name="Text 7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5" name="Text 7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6" name="Text 74"/>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Shape 37"/>
          <p:cNvSpPr/>
          <p:nvPr/>
        </p:nvSpPr>
        <p:spPr>
          <a:xfrm>
            <a:off x="7775448" y="3796589"/>
            <a:ext cx="64008" cy="755294"/>
          </a:xfrm>
          <a:prstGeom prst="rect">
            <a:avLst/>
          </a:prstGeom>
          <a:solidFill>
            <a:srgbClr val="2587C5"/>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Shape 45"/>
          <p:cNvSpPr/>
          <p:nvPr/>
        </p:nvSpPr>
        <p:spPr>
          <a:xfrm>
            <a:off x="7775448" y="5453482"/>
            <a:ext cx="64008" cy="755294"/>
          </a:xfrm>
          <a:prstGeom prst="rect">
            <a:avLst/>
          </a:prstGeom>
          <a:solidFill>
            <a:srgbClr val="2587C5"/>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8" name="Shape 56"/>
          <p:cNvSpPr/>
          <p:nvPr/>
        </p:nvSpPr>
        <p:spPr>
          <a:xfrm>
            <a:off x="11466576" y="2968142"/>
            <a:ext cx="64008" cy="755294"/>
          </a:xfrm>
          <a:prstGeom prst="rect">
            <a:avLst/>
          </a:prstGeom>
          <a:solidFill>
            <a:srgbClr val="2587C5"/>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2587C5"/>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Shape 35"/>
          <p:cNvSpPr/>
          <p:nvPr/>
        </p:nvSpPr>
        <p:spPr>
          <a:xfrm>
            <a:off x="7775448" y="2139696"/>
            <a:ext cx="64008" cy="755294"/>
          </a:xfrm>
          <a:prstGeom prst="rect">
            <a:avLst/>
          </a:prstGeom>
          <a:solidFill>
            <a:srgbClr val="2587C5"/>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8" name="Shape 76"/>
          <p:cNvSpPr/>
          <p:nvPr/>
        </p:nvSpPr>
        <p:spPr>
          <a:xfrm>
            <a:off x="11466576" y="4625035"/>
            <a:ext cx="64008" cy="755294"/>
          </a:xfrm>
          <a:prstGeom prst="rect">
            <a:avLst/>
          </a:prstGeom>
          <a:solidFill>
            <a:srgbClr val="2587C5"/>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625035"/>
            <a:ext cx="64008" cy="755294"/>
          </a:xfrm>
          <a:prstGeom prst="rect">
            <a:avLst/>
          </a:prstGeom>
          <a:solidFill>
            <a:srgbClr val="12A566"/>
          </a:solidFill>
          <a:ln/>
        </p:spPr>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57062"/>
          </a:xfrm>
          <a:prstGeom prst="rect">
            <a:avLst/>
          </a:prstGeom>
          <a:solidFill>
            <a:srgbClr val="12A566"/>
          </a:solidFill>
          <a:ln/>
        </p:spPr>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05199"/>
            <a:ext cx="124432" cy="136676"/>
          </a:xfrm>
          <a:prstGeom prst="rect">
            <a:avLst/>
          </a:prstGeom>
          <a:solidFill>
            <a:srgbClr val="12A566"/>
          </a:solidFill>
          <a:ln/>
        </p:spPr>
      </p:sp>
      <p:sp>
        <p:nvSpPr>
          <p:cNvPr id="21" name="Text 19"/>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1995006"/>
            <a:ext cx="54864" cy="157062"/>
          </a:xfrm>
          <a:prstGeom prst="rect">
            <a:avLst/>
          </a:prstGeom>
          <a:solidFill>
            <a:srgbClr val="12A566"/>
          </a:solidFill>
          <a:ln/>
        </p:spPr>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253700"/>
            <a:ext cx="44339" cy="136676"/>
          </a:xfrm>
          <a:prstGeom prst="rect">
            <a:avLst/>
          </a:prstGeom>
          <a:solidFill>
            <a:srgbClr val="12A566"/>
          </a:solidFill>
          <a:ln/>
        </p:spPr>
      </p:sp>
      <p:sp>
        <p:nvSpPr>
          <p:cNvPr id="27" name="Text 25"/>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43507"/>
            <a:ext cx="54864" cy="157062"/>
          </a:xfrm>
          <a:prstGeom prst="rect">
            <a:avLst/>
          </a:prstGeom>
          <a:solidFill>
            <a:srgbClr val="12A566"/>
          </a:solidFill>
          <a:ln/>
        </p:spPr>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02202"/>
            <a:ext cx="37145" cy="136676"/>
          </a:xfrm>
          <a:prstGeom prst="rect">
            <a:avLst/>
          </a:prstGeom>
          <a:solidFill>
            <a:srgbClr val="12A566"/>
          </a:solidFill>
          <a:ln/>
        </p:spPr>
      </p:sp>
      <p:sp>
        <p:nvSpPr>
          <p:cNvPr id="33" name="Text 31"/>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750703"/>
            <a:ext cx="34144" cy="136676"/>
          </a:xfrm>
          <a:prstGeom prst="rect">
            <a:avLst/>
          </a:prstGeom>
          <a:solidFill>
            <a:srgbClr val="12A566"/>
          </a:solidFill>
          <a:ln/>
        </p:spPr>
      </p:sp>
      <p:sp>
        <p:nvSpPr>
          <p:cNvPr id="38" name="Text 36"/>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2999205"/>
            <a:ext cx="27581" cy="136676"/>
          </a:xfrm>
          <a:prstGeom prst="rect">
            <a:avLst/>
          </a:prstGeom>
          <a:solidFill>
            <a:srgbClr val="12A566"/>
          </a:solidFill>
          <a:ln/>
        </p:spPr>
      </p:sp>
      <p:sp>
        <p:nvSpPr>
          <p:cNvPr id="43" name="Text 41"/>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247707"/>
            <a:ext cx="19282" cy="136676"/>
          </a:xfrm>
          <a:prstGeom prst="rect">
            <a:avLst/>
          </a:prstGeom>
          <a:solidFill>
            <a:srgbClr val="12A566"/>
          </a:solidFill>
          <a:ln/>
        </p:spPr>
      </p:sp>
      <p:sp>
        <p:nvSpPr>
          <p:cNvPr id="48" name="Text 46"/>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496208"/>
            <a:ext cx="18292" cy="136676"/>
          </a:xfrm>
          <a:prstGeom prst="rect">
            <a:avLst/>
          </a:prstGeom>
          <a:solidFill>
            <a:srgbClr val="C2352F"/>
          </a:solidFill>
          <a:ln/>
        </p:spPr>
      </p:sp>
      <p:sp>
        <p:nvSpPr>
          <p:cNvPr id="53" name="Text 51"/>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744710"/>
            <a:ext cx="23293" cy="136676"/>
          </a:xfrm>
          <a:prstGeom prst="rect">
            <a:avLst/>
          </a:prstGeom>
          <a:solidFill>
            <a:srgbClr val="C2352F"/>
          </a:solidFill>
          <a:ln/>
        </p:spPr>
      </p:sp>
      <p:sp>
        <p:nvSpPr>
          <p:cNvPr id="58" name="Text 56"/>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3993212"/>
            <a:ext cx="23618" cy="136676"/>
          </a:xfrm>
          <a:prstGeom prst="rect">
            <a:avLst/>
          </a:prstGeom>
          <a:solidFill>
            <a:srgbClr val="C2352F"/>
          </a:solidFill>
          <a:ln/>
        </p:spPr>
      </p:sp>
      <p:sp>
        <p:nvSpPr>
          <p:cNvPr id="63" name="Text 61"/>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241713"/>
            <a:ext cx="26505" cy="136676"/>
          </a:xfrm>
          <a:prstGeom prst="rect">
            <a:avLst/>
          </a:prstGeom>
          <a:solidFill>
            <a:srgbClr val="C2352F"/>
          </a:solidFill>
          <a:ln/>
        </p:spPr>
      </p:sp>
      <p:sp>
        <p:nvSpPr>
          <p:cNvPr id="68" name="Text 66"/>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490215"/>
            <a:ext cx="33965" cy="136676"/>
          </a:xfrm>
          <a:prstGeom prst="rect">
            <a:avLst/>
          </a:prstGeom>
          <a:solidFill>
            <a:srgbClr val="C2352F"/>
          </a:solidFill>
          <a:ln/>
        </p:spPr>
      </p:sp>
      <p:sp>
        <p:nvSpPr>
          <p:cNvPr id="73" name="Text 71"/>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4738717"/>
            <a:ext cx="39445" cy="136676"/>
          </a:xfrm>
          <a:prstGeom prst="rect">
            <a:avLst/>
          </a:prstGeom>
          <a:solidFill>
            <a:srgbClr val="C2352F"/>
          </a:solidFill>
          <a:ln/>
        </p:spPr>
      </p:sp>
      <p:sp>
        <p:nvSpPr>
          <p:cNvPr id="78" name="Text 76"/>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4987218"/>
            <a:ext cx="43373" cy="136676"/>
          </a:xfrm>
          <a:prstGeom prst="rect">
            <a:avLst/>
          </a:prstGeom>
          <a:solidFill>
            <a:srgbClr val="C2352F"/>
          </a:solidFill>
          <a:ln/>
        </p:spPr>
      </p:sp>
      <p:sp>
        <p:nvSpPr>
          <p:cNvPr id="83" name="Text 81"/>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235720"/>
            <a:ext cx="48884" cy="136676"/>
          </a:xfrm>
          <a:prstGeom prst="rect">
            <a:avLst/>
          </a:prstGeom>
          <a:solidFill>
            <a:srgbClr val="C2352F"/>
          </a:solidFill>
          <a:ln/>
        </p:spPr>
      </p:sp>
      <p:sp>
        <p:nvSpPr>
          <p:cNvPr id="88" name="Text 86"/>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484222"/>
            <a:ext cx="49679" cy="136676"/>
          </a:xfrm>
          <a:prstGeom prst="rect">
            <a:avLst/>
          </a:prstGeom>
          <a:solidFill>
            <a:srgbClr val="C2352F"/>
          </a:solidFill>
          <a:ln/>
        </p:spPr>
      </p:sp>
      <p:sp>
        <p:nvSpPr>
          <p:cNvPr id="93" name="Text 91"/>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5732723"/>
            <a:ext cx="50052" cy="136676"/>
          </a:xfrm>
          <a:prstGeom prst="rect">
            <a:avLst/>
          </a:prstGeom>
          <a:solidFill>
            <a:srgbClr val="C2352F"/>
          </a:solidFill>
          <a:ln/>
        </p:spPr>
      </p:sp>
      <p:sp>
        <p:nvSpPr>
          <p:cNvPr id="98" name="Text 96"/>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56697"/>
            <a:ext cx="54219" cy="136676"/>
          </a:xfrm>
          <a:prstGeom prst="rect">
            <a:avLst/>
          </a:prstGeom>
          <a:solidFill>
            <a:srgbClr val="C2352F"/>
          </a:solidFill>
          <a:ln/>
        </p:spPr>
      </p:sp>
      <p:sp>
        <p:nvSpPr>
          <p:cNvPr id="103" name="Text 101"/>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05199"/>
            <a:ext cx="78026" cy="136676"/>
          </a:xfrm>
          <a:prstGeom prst="rect">
            <a:avLst/>
          </a:prstGeom>
          <a:solidFill>
            <a:srgbClr val="C2352F"/>
          </a:solidFill>
          <a:ln/>
        </p:spPr>
      </p:sp>
      <p:sp>
        <p:nvSpPr>
          <p:cNvPr id="108" name="Text 106"/>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253700"/>
            <a:ext cx="82223" cy="136676"/>
          </a:xfrm>
          <a:prstGeom prst="rect">
            <a:avLst/>
          </a:prstGeom>
          <a:solidFill>
            <a:srgbClr val="C2352F"/>
          </a:solidFill>
          <a:ln/>
        </p:spPr>
      </p:sp>
      <p:sp>
        <p:nvSpPr>
          <p:cNvPr id="113" name="Text 111"/>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02202"/>
            <a:ext cx="86632" cy="136676"/>
          </a:xfrm>
          <a:prstGeom prst="rect">
            <a:avLst/>
          </a:prstGeom>
          <a:solidFill>
            <a:srgbClr val="C2352F"/>
          </a:solidFill>
          <a:ln/>
        </p:spPr>
      </p:sp>
      <p:sp>
        <p:nvSpPr>
          <p:cNvPr id="118" name="Text 116"/>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750703"/>
            <a:ext cx="87048" cy="136676"/>
          </a:xfrm>
          <a:prstGeom prst="rect">
            <a:avLst/>
          </a:prstGeom>
          <a:solidFill>
            <a:srgbClr val="C2352F"/>
          </a:solidFill>
          <a:ln/>
        </p:spPr>
      </p:sp>
      <p:sp>
        <p:nvSpPr>
          <p:cNvPr id="123" name="Text 121"/>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2999205"/>
            <a:ext cx="115496" cy="136676"/>
          </a:xfrm>
          <a:prstGeom prst="rect">
            <a:avLst/>
          </a:prstGeom>
          <a:solidFill>
            <a:srgbClr val="C2352F"/>
          </a:solidFill>
          <a:ln/>
        </p:spPr>
      </p:sp>
      <p:sp>
        <p:nvSpPr>
          <p:cNvPr id="128" name="Text 126"/>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247707"/>
            <a:ext cx="123728" cy="136676"/>
          </a:xfrm>
          <a:prstGeom prst="rect">
            <a:avLst/>
          </a:prstGeom>
          <a:solidFill>
            <a:srgbClr val="C2352F"/>
          </a:solidFill>
          <a:ln/>
        </p:spPr>
      </p:sp>
      <p:sp>
        <p:nvSpPr>
          <p:cNvPr id="133" name="Text 131"/>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496208"/>
            <a:ext cx="123885" cy="136676"/>
          </a:xfrm>
          <a:prstGeom prst="rect">
            <a:avLst/>
          </a:prstGeom>
          <a:solidFill>
            <a:srgbClr val="C2352F"/>
          </a:solidFill>
          <a:ln/>
        </p:spPr>
      </p:sp>
      <p:sp>
        <p:nvSpPr>
          <p:cNvPr id="138" name="Text 136"/>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744710"/>
            <a:ext cx="133560" cy="136676"/>
          </a:xfrm>
          <a:prstGeom prst="rect">
            <a:avLst/>
          </a:prstGeom>
          <a:solidFill>
            <a:srgbClr val="C2352F"/>
          </a:solidFill>
          <a:ln/>
        </p:spPr>
      </p:sp>
      <p:sp>
        <p:nvSpPr>
          <p:cNvPr id="143" name="Text 141"/>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3993212"/>
            <a:ext cx="144171" cy="136676"/>
          </a:xfrm>
          <a:prstGeom prst="rect">
            <a:avLst/>
          </a:prstGeom>
          <a:solidFill>
            <a:srgbClr val="C2352F"/>
          </a:solidFill>
          <a:ln/>
        </p:spPr>
      </p:sp>
      <p:sp>
        <p:nvSpPr>
          <p:cNvPr id="148" name="Text 146"/>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241713"/>
            <a:ext cx="151614" cy="136676"/>
          </a:xfrm>
          <a:prstGeom prst="rect">
            <a:avLst/>
          </a:prstGeom>
          <a:solidFill>
            <a:srgbClr val="C2352F"/>
          </a:solidFill>
          <a:ln/>
        </p:spPr>
      </p:sp>
      <p:sp>
        <p:nvSpPr>
          <p:cNvPr id="153" name="Text 151"/>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490215"/>
            <a:ext cx="152747" cy="136676"/>
          </a:xfrm>
          <a:prstGeom prst="rect">
            <a:avLst/>
          </a:prstGeom>
          <a:solidFill>
            <a:srgbClr val="C2352F"/>
          </a:solidFill>
          <a:ln/>
        </p:spPr>
      </p:sp>
      <p:sp>
        <p:nvSpPr>
          <p:cNvPr id="158" name="Text 156"/>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4738717"/>
            <a:ext cx="187327" cy="136676"/>
          </a:xfrm>
          <a:prstGeom prst="rect">
            <a:avLst/>
          </a:prstGeom>
          <a:solidFill>
            <a:srgbClr val="C2352F"/>
          </a:solidFill>
          <a:ln/>
        </p:spPr>
      </p:sp>
      <p:sp>
        <p:nvSpPr>
          <p:cNvPr id="163" name="Text 161"/>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4987218"/>
            <a:ext cx="220332" cy="136676"/>
          </a:xfrm>
          <a:prstGeom prst="rect">
            <a:avLst/>
          </a:prstGeom>
          <a:solidFill>
            <a:srgbClr val="C2352F"/>
          </a:solidFill>
          <a:ln/>
        </p:spPr>
      </p:sp>
      <p:sp>
        <p:nvSpPr>
          <p:cNvPr id="168" name="Text 166"/>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4977025"/>
            <a:ext cx="54864" cy="157062"/>
          </a:xfrm>
          <a:prstGeom prst="rect">
            <a:avLst/>
          </a:prstGeom>
          <a:solidFill>
            <a:srgbClr val="C2352F"/>
          </a:solidFill>
          <a:ln/>
        </p:spPr>
      </p:sp>
      <p:sp>
        <p:nvSpPr>
          <p:cNvPr id="171" name="Text 169"/>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235720"/>
            <a:ext cx="294194" cy="136676"/>
          </a:xfrm>
          <a:prstGeom prst="rect">
            <a:avLst/>
          </a:prstGeom>
          <a:solidFill>
            <a:srgbClr val="C2352F"/>
          </a:solidFill>
          <a:ln/>
        </p:spPr>
      </p:sp>
      <p:sp>
        <p:nvSpPr>
          <p:cNvPr id="174" name="Text 172"/>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225527"/>
            <a:ext cx="54864" cy="157062"/>
          </a:xfrm>
          <a:prstGeom prst="rect">
            <a:avLst/>
          </a:prstGeom>
          <a:solidFill>
            <a:srgbClr val="C2352F"/>
          </a:solidFill>
          <a:ln/>
        </p:spPr>
      </p:sp>
      <p:sp>
        <p:nvSpPr>
          <p:cNvPr id="177" name="Text 175"/>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484222"/>
            <a:ext cx="335180" cy="136676"/>
          </a:xfrm>
          <a:prstGeom prst="rect">
            <a:avLst/>
          </a:prstGeom>
          <a:solidFill>
            <a:srgbClr val="C2352F"/>
          </a:solidFill>
          <a:ln/>
        </p:spPr>
      </p:sp>
      <p:sp>
        <p:nvSpPr>
          <p:cNvPr id="180" name="Text 178"/>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474029"/>
            <a:ext cx="54864" cy="157062"/>
          </a:xfrm>
          <a:prstGeom prst="rect">
            <a:avLst/>
          </a:prstGeom>
          <a:solidFill>
            <a:srgbClr val="C2352F"/>
          </a:solidFill>
          <a:ln/>
        </p:spPr>
      </p:sp>
      <p:sp>
        <p:nvSpPr>
          <p:cNvPr id="183" name="Shape 181"/>
          <p:cNvSpPr/>
          <p:nvPr/>
        </p:nvSpPr>
        <p:spPr>
          <a:xfrm>
            <a:off x="6085332" y="1700784"/>
            <a:ext cx="10973" cy="4224528"/>
          </a:xfrm>
          <a:prstGeom prst="rect">
            <a:avLst/>
          </a:prstGeom>
          <a:solidFill>
            <a:srgbClr val="D9D9D9"/>
          </a:solidFill>
          <a:ln/>
        </p:spPr>
      </p:sp>
      <p:sp>
        <p:nvSpPr>
          <p:cNvPr id="185" name="Shape 182"/>
          <p:cNvSpPr/>
          <p:nvPr/>
        </p:nvSpPr>
        <p:spPr>
          <a:xfrm>
            <a:off x="457200" y="6126480"/>
            <a:ext cx="11274552" cy="371856"/>
          </a:xfrm>
          <a:prstGeom prst="rect">
            <a:avLst/>
          </a:prstGeom>
          <a:solidFill>
            <a:srgbClr val="FBEBEA"/>
          </a:solidFill>
          <a:ln/>
        </p:spPr>
      </p:sp>
      <p:sp>
        <p:nvSpPr>
          <p:cNvPr id="186" name="Text 18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across the four services. 15 stores are under all four.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Shape 49"/>
          <p:cNvSpPr/>
          <p:nvPr/>
        </p:nvSpPr>
        <p:spPr>
          <a:xfrm>
            <a:off x="7775448" y="4625035"/>
            <a:ext cx="64008" cy="755294"/>
          </a:xfrm>
          <a:prstGeom prst="rect">
            <a:avLst/>
          </a:prstGeom>
          <a:solidFill>
            <a:srgbClr val="2587C5"/>
          </a:solidFill>
          <a:ln/>
        </p:spPr>
      </p:sp>
      <p:sp>
        <p:nvSpPr>
          <p:cNvPr id="52" name="Text 5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4" name="Text 52"/>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5" name="Text 53"/>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6" name="Shape 54"/>
          <p:cNvSpPr/>
          <p:nvPr/>
        </p:nvSpPr>
        <p:spPr>
          <a:xfrm>
            <a:off x="4349496" y="5416906"/>
            <a:ext cx="3489960" cy="828446"/>
          </a:xfrm>
          <a:prstGeom prst="rect">
            <a:avLst/>
          </a:prstGeom>
          <a:solidFill>
            <a:srgbClr val="F7F7F7"/>
          </a:solidFill>
          <a:ln/>
        </p:spPr>
      </p:sp>
      <p:sp>
        <p:nvSpPr>
          <p:cNvPr id="57" name="Text 5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9" name="Text 57"/>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0" name="Text 58"/>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1" name="Shape 59"/>
          <p:cNvSpPr/>
          <p:nvPr/>
        </p:nvSpPr>
        <p:spPr>
          <a:xfrm>
            <a:off x="8040624" y="1371600"/>
            <a:ext cx="3489960" cy="45720"/>
          </a:xfrm>
          <a:prstGeom prst="rect">
            <a:avLst/>
          </a:prstGeom>
          <a:solidFill>
            <a:srgbClr val="2587C5"/>
          </a:solidFill>
          <a:ln/>
        </p:spPr>
      </p:sp>
      <p:sp>
        <p:nvSpPr>
          <p:cNvPr id="62" name="Text 6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Text 6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4" name="Shape 62"/>
          <p:cNvSpPr/>
          <p:nvPr/>
        </p:nvSpPr>
        <p:spPr>
          <a:xfrm>
            <a:off x="8040624" y="2103120"/>
            <a:ext cx="3489960" cy="828446"/>
          </a:xfrm>
          <a:prstGeom prst="rect">
            <a:avLst/>
          </a:prstGeom>
          <a:solidFill>
            <a:srgbClr val="F7F7F7"/>
          </a:solidFill>
          <a:ln/>
        </p:spPr>
      </p:sp>
      <p:sp>
        <p:nvSpPr>
          <p:cNvPr id="65" name="Shape 63"/>
          <p:cNvSpPr/>
          <p:nvPr/>
        </p:nvSpPr>
        <p:spPr>
          <a:xfrm>
            <a:off x="11466576" y="2139696"/>
            <a:ext cx="64008" cy="755294"/>
          </a:xfrm>
          <a:prstGeom prst="rect">
            <a:avLst/>
          </a:prstGeom>
          <a:solidFill>
            <a:srgbClr val="2587C5"/>
          </a:solidFill>
          <a:ln/>
        </p:spPr>
      </p:sp>
      <p:sp>
        <p:nvSpPr>
          <p:cNvPr id="66" name="Text 6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7" name="Text 6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8" name="Text 66"/>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9" name="Text 67"/>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Shape 68"/>
          <p:cNvSpPr/>
          <p:nvPr/>
        </p:nvSpPr>
        <p:spPr>
          <a:xfrm>
            <a:off x="11466576" y="2968142"/>
            <a:ext cx="64008" cy="755294"/>
          </a:xfrm>
          <a:prstGeom prst="rect">
            <a:avLst/>
          </a:prstGeom>
          <a:solidFill>
            <a:srgbClr val="12A566"/>
          </a:solidFill>
          <a:ln/>
        </p:spPr>
      </p:sp>
      <p:sp>
        <p:nvSpPr>
          <p:cNvPr id="71" name="Text 69"/>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2" name="Text 70"/>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3" name="Text 71"/>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4" name="Text 72"/>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5" name="Shape 73"/>
          <p:cNvSpPr/>
          <p:nvPr/>
        </p:nvSpPr>
        <p:spPr>
          <a:xfrm>
            <a:off x="8040624" y="3760013"/>
            <a:ext cx="3489960" cy="828446"/>
          </a:xfrm>
          <a:prstGeom prst="rect">
            <a:avLst/>
          </a:prstGeom>
          <a:solidFill>
            <a:srgbClr val="F7F7F7"/>
          </a:solidFill>
          <a:ln/>
        </p:spPr>
      </p:sp>
      <p:sp>
        <p:nvSpPr>
          <p:cNvPr id="76" name="Shape 74"/>
          <p:cNvSpPr/>
          <p:nvPr/>
        </p:nvSpPr>
        <p:spPr>
          <a:xfrm>
            <a:off x="11466576" y="3796589"/>
            <a:ext cx="64008" cy="755294"/>
          </a:xfrm>
          <a:prstGeom prst="rect">
            <a:avLst/>
          </a:prstGeom>
          <a:solidFill>
            <a:srgbClr val="12A566"/>
          </a:solidFill>
          <a:ln/>
        </p:spPr>
      </p:sp>
      <p:sp>
        <p:nvSpPr>
          <p:cNvPr id="77" name="Text 75"/>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76"/>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9" name="Text 77"/>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80" name="Text 78"/>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81" name="Text 79"/>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80"/>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3" name="Text 81"/>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4" name="Text 82"/>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5" name="Shape 83"/>
          <p:cNvSpPr/>
          <p:nvPr/>
        </p:nvSpPr>
        <p:spPr>
          <a:xfrm>
            <a:off x="8040624" y="5416906"/>
            <a:ext cx="3489960" cy="828446"/>
          </a:xfrm>
          <a:prstGeom prst="rect">
            <a:avLst/>
          </a:prstGeom>
          <a:solidFill>
            <a:srgbClr val="F7F7F7"/>
          </a:solidFill>
          <a:ln/>
        </p:spPr>
      </p:sp>
      <p:sp>
        <p:nvSpPr>
          <p:cNvPr id="86" name="Text 8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8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8" name="Text 86"/>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9" name="Text 87"/>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Shape 44"/>
          <p:cNvSpPr/>
          <p:nvPr/>
        </p:nvSpPr>
        <p:spPr>
          <a:xfrm>
            <a:off x="7775448" y="5453482"/>
            <a:ext cx="64008" cy="755294"/>
          </a:xfrm>
          <a:prstGeom prst="rect">
            <a:avLst/>
          </a:prstGeom>
          <a:solidFill>
            <a:srgbClr val="2587C5"/>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2587C5"/>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572768"/>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
        <p:nvSpPr>
          <p:cNvPr id="31" name="Text 29"/>
          <p:cNvSpPr txBox="1"/>
          <p:nvPr/>
        </p:nvSpPr>
        <p:spPr>
          <a:xfrm>
            <a:off x="896112" y="5897880"/>
            <a:ext cx="10396728" cy="292608"/>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Clocked hours exclude vacation, paid time off and holiday pay.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Vacation, paid time off and holiday pay are excluded from clocked hours.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6 stores at or above 85% still leave $537K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Shape 39"/>
          <p:cNvSpPr/>
          <p:nvPr/>
        </p:nvSpPr>
        <p:spPr>
          <a:xfrm>
            <a:off x="7775448" y="4625035"/>
            <a:ext cx="64008" cy="755294"/>
          </a:xfrm>
          <a:prstGeom prst="rect">
            <a:avLst/>
          </a:prstGeom>
          <a:solidFill>
            <a:srgbClr val="2587C5"/>
          </a:solidFill>
          <a:ln/>
        </p:spPr>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2587C5"/>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8" name="Shape 65"/>
          <p:cNvSpPr/>
          <p:nvPr/>
        </p:nvSpPr>
        <p:spPr>
          <a:xfrm>
            <a:off x="457200" y="6126480"/>
            <a:ext cx="11274552" cy="371856"/>
          </a:xfrm>
          <a:prstGeom prst="rect">
            <a:avLst/>
          </a:prstGeom>
          <a:solidFill>
            <a:srgbClr val="E6F6EE"/>
          </a:solidFill>
          <a:ln/>
        </p:spPr>
      </p:sp>
      <p:sp>
        <p:nvSpPr>
          <p:cNvPr id="69"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Eight stores make both views.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 and name who owns it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Shape 16"/>
          <p:cNvSpPr/>
          <p:nvPr/>
        </p:nvSpPr>
        <p:spPr>
          <a:xfrm>
            <a:off x="4084320" y="3796589"/>
            <a:ext cx="64008" cy="755294"/>
          </a:xfrm>
          <a:prstGeom prst="rect">
            <a:avLst/>
          </a:prstGeom>
          <a:solidFill>
            <a:srgbClr val="12A566"/>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Shape 24"/>
          <p:cNvSpPr/>
          <p:nvPr/>
        </p:nvSpPr>
        <p:spPr>
          <a:xfrm>
            <a:off x="4084320" y="5453482"/>
            <a:ext cx="64008" cy="755294"/>
          </a:xfrm>
          <a:prstGeom prst="rect">
            <a:avLst/>
          </a:prstGeom>
          <a:solidFill>
            <a:srgbClr val="12A566"/>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12A566"/>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2026-10-27T21:57:51Z</dcterms:created>
  <dcterms:modified xsi:type="dcterms:W3CDTF">2026-10-27T21:57:51Z</dcterms:modified>
</cp:coreProperties>
</file>