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266" r:id="rId12"/>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+6.1 pts to 44.9%. 5 declined; Audi Henderson fell most at −2.1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across the four services. 15 stores are under all four.Source: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4 of 4</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4 of 4</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3 of 4</a:t>
            </a:r>
          </a:p>
          <a:p>
            <a:r>
              <a:t>MAZDA: −$28K, −223 opcodes Jan-Sep against the four benchmarks; under 3 of 4</a:t>
            </a:r>
          </a:p>
          <a:p>
            <a:r>
              <a:t>AUDI HENDERSON: −$22K, −661 opcodes Jan-Sep against the four benchmarks; under 3 of 4</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LR LV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6 stores at or above 85% still leave $537K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5 stores are missing a fifth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33.6%.Takeaway with the store call-outs (off the slide): Most top-three finishes: Lincoln, Subaru Prescott and Subaru St George (2 of 5). Most bottom-three: VW St George (3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40.0%.Takeaway with the store call-outs (off the slide): Most top-three finishes: Mazda, CDJR Post Falls and VW St George (2 of 5). Most bottom-three: Honda Henderson and Cadillac (3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One store is on both lists (green bar).Source: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(ten minutes per tech per day). Jan-Sep 2026, same-store, 33 stores. The levers overlap - op code services are part of hours per RO, and selling more hours needs tech time - so they are not added together.Talk track: every line is the GM's and the service manager's together (Noah, Oct 27).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2.5%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4.7%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6.0%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1.3%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7.1% vs 10%: 245 more a year (Jan–Sep x 12/9) x $87 gross a service.</a:t>
            </a:r>
          </a:p>
          <a:p/>
          <a:p>
            <a:r>
              <a:t>6. Tire balance - $21K a year. Tire balance 9.1%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5.8% vs 10%: 1,093 more a year (Jan–Sep x 12/9) x $138 gross a service.</a:t>
            </a:r>
          </a:p>
          <a:p/>
          <a:p>
            <a:r>
              <a:t>7. Fuel service - $142K a year. Fuel service 5.3% vs 7.5%: 585 more a year (Jan–Sep x 12/9) x $243 gross a service.</a:t>
            </a:r>
          </a:p>
          <a:p/>
          <a:p>
            <a:r>
              <a:t>8. Tire balance - $106K a year. Tire balance 7.3% vs 15%: 2,001 more a year (Jan–Sep x 12/9) x $53 gross a service.</a:t>
            </a:r>
          </a:p>
          <a:p/>
          <a:p>
            <a:r>
              <a:t>9. Alignment - $75K a year. Alignment 12.9%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7.8% vs 15%: 300 more a year (Jan–Sep x 12/9) x $90 gross a service.</a:t>
            </a:r>
          </a:p>
          <a:p/>
          <a:p>
            <a:r>
              <a:t>6. Fuel service - $21K a year. Fuel service 3.6% vs 7.5%: 160 more a year (Jan–Sep x 12/9) x $133 gross a service.</a:t>
            </a:r>
          </a:p>
          <a:p/>
          <a:p>
            <a:r>
              <a:t>7. Brake fluid - $21K a year. Brake fluid 6.1%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3.2%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11.1%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2.2%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5.9%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9.8%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8.3%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6.0%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0.1% vs 15%: 909 more a year (Jan–Sep x 12/9) x $75 gross a service.</a:t>
            </a:r>
          </a:p>
          <a:p/>
          <a:p>
            <a:r>
              <a:t>5. Alignment - $33K a year. Alignment 11.4% vs 15%: 221 more a year (Jan–Sep x 12/9) x $147 gross a service.</a:t>
            </a:r>
          </a:p>
          <a:p/>
          <a:p>
            <a:r>
              <a:t>6. Fuel service - $25K a year. Fuel service 4.3% vs 7.5%: 195 more a year (Jan–Sep x 12/9) x $128 gross a service.</a:t>
            </a:r>
          </a:p>
          <a:p/>
          <a:p>
            <a:r>
              <a:t>7. Brake fluid - $15K a year. Brake fluid 8.4%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1.7%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2.6%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4.6% vs 7.5%: 55 more a year (Jan–Sep x 12/9) x $329 gross a service.</a:t>
            </a:r>
          </a:p>
          <a:p/>
          <a:p>
            <a:r>
              <a:t>4. Alignment - $10K a year. Alignment 12.9%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8.5% vs 10%: 115 more a year (Jan–Sep x 12/9) x $154 gross a service.</a:t>
            </a:r>
          </a:p>
          <a:p/>
          <a:p>
            <a:r>
              <a:t>6. Tire balance - $11K a year. Tire balance 13.2%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7.5% vs 15%: 700 more a year (Jan–Sep x 12/9) x $119 gross a service.</a:t>
            </a:r>
          </a:p>
          <a:p/>
          <a:p>
            <a:r>
              <a:t>4. Tire balance - $77K a year. Tire balance 1.1% vs 15%: 1,296 more a year (Jan–Sep x 12/9) x $59 gross a service.</a:t>
            </a:r>
          </a:p>
          <a:p/>
          <a:p>
            <a:r>
              <a:t>5. Fuel service - $64K a year. Fuel service 4.2%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7.1%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12.6%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3.7% vs 15%: 837 more a year (Jan–Sep x 12/9) x $149 gross a service.</a:t>
            </a:r>
          </a:p>
          <a:p/>
          <a:p>
            <a:r>
              <a:t>3. CP labor GP % - $98K a year. 73.9% vs 78% (bottom of the 78-80% range) x $1.77M CP labor sale x 12/9.</a:t>
            </a:r>
          </a:p>
          <a:p/>
          <a:p>
            <a:r>
              <a:t>4. Alignment - $23K a year. Alignment 11.1%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1.7%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8.1%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6.2%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6.5%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4.3% vs 15%: 2,490 more a year (Jan–Sep x 12/9) x $90 gross a service.</a:t>
            </a:r>
          </a:p>
          <a:p/>
          <a:p>
            <a:r>
              <a:t>4. Tire balance - $180K a year. Tire balance 0.5%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8.3%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Shape 31"/>
          <p:cNvSpPr/>
          <p:nvPr/>
        </p:nvSpPr>
        <p:spPr>
          <a:xfrm>
            <a:off x="7775448" y="2139696"/>
            <a:ext cx="64008" cy="755294"/>
          </a:xfrm>
          <a:prstGeom prst="rect">
            <a:avLst/>
          </a:prstGeom>
          <a:solidFill>
            <a:srgbClr val="2587C5"/>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2587C5"/>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8" name="Text 66"/>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9" name="Text 67"/>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70" name="Text 68"/>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71" name="Shape 69"/>
          <p:cNvSpPr/>
          <p:nvPr/>
        </p:nvSpPr>
        <p:spPr>
          <a:xfrm>
            <a:off x="8040624" y="5416906"/>
            <a:ext cx="3489960" cy="828446"/>
          </a:xfrm>
          <a:prstGeom prst="rect">
            <a:avLst/>
          </a:prstGeom>
          <a:solidFill>
            <a:srgbClr val="F7F7F7"/>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71856"/>
          </a:xfrm>
          <a:prstGeom prst="rect">
            <a:avLst/>
          </a:prstGeom>
          <a:solidFill>
            <a:srgbClr val="E6F6EE"/>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Shape 33"/>
          <p:cNvSpPr/>
          <p:nvPr/>
        </p:nvSpPr>
        <p:spPr>
          <a:xfrm>
            <a:off x="7775448" y="2968142"/>
            <a:ext cx="64008" cy="755294"/>
          </a:xfrm>
          <a:prstGeom prst="rect">
            <a:avLst/>
          </a:prstGeom>
          <a:solidFill>
            <a:srgbClr val="2587C5"/>
          </a:solidFill>
          <a:ln/>
        </p:spPr>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2587C5"/>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Shape 39"/>
          <p:cNvSpPr/>
          <p:nvPr/>
        </p:nvSpPr>
        <p:spPr>
          <a:xfrm>
            <a:off x="7775448" y="3796589"/>
            <a:ext cx="64008" cy="755294"/>
          </a:xfrm>
          <a:prstGeom prst="rect">
            <a:avLst/>
          </a:prstGeom>
          <a:solidFill>
            <a:srgbClr val="2587C5"/>
          </a:solidFill>
          <a:ln/>
        </p:spPr>
      </p:sp>
      <p:sp>
        <p:nvSpPr>
          <p:cNvPr id="42" name="Text 40"/>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3" name="Text 41"/>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4" name="Text 42"/>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5" name="Text 43"/>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6" name="Text 44"/>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7" name="Text 45"/>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8" name="Shape 46"/>
          <p:cNvSpPr/>
          <p:nvPr/>
        </p:nvSpPr>
        <p:spPr>
          <a:xfrm>
            <a:off x="4349496" y="5416906"/>
            <a:ext cx="3489960" cy="828446"/>
          </a:xfrm>
          <a:prstGeom prst="rect">
            <a:avLst/>
          </a:prstGeom>
          <a:solidFill>
            <a:srgbClr val="F7F7F7"/>
          </a:solidFill>
          <a:ln/>
        </p:spPr>
      </p:sp>
      <p:sp>
        <p:nvSpPr>
          <p:cNvPr id="49" name="Text 47"/>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0" name="Text 48"/>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1" name="Text 49"/>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2" name="Shape 50"/>
          <p:cNvSpPr/>
          <p:nvPr/>
        </p:nvSpPr>
        <p:spPr>
          <a:xfrm>
            <a:off x="8040624" y="1371600"/>
            <a:ext cx="3489960" cy="45720"/>
          </a:xfrm>
          <a:prstGeom prst="rect">
            <a:avLst/>
          </a:prstGeom>
          <a:solidFill>
            <a:srgbClr val="2587C5"/>
          </a:solidFill>
          <a:ln/>
        </p:spPr>
      </p:sp>
      <p:sp>
        <p:nvSpPr>
          <p:cNvPr id="53" name="Text 51"/>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4" name="Text 52"/>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5" name="Shape 53"/>
          <p:cNvSpPr/>
          <p:nvPr/>
        </p:nvSpPr>
        <p:spPr>
          <a:xfrm>
            <a:off x="8040624" y="2103120"/>
            <a:ext cx="3489960" cy="828446"/>
          </a:xfrm>
          <a:prstGeom prst="rect">
            <a:avLst/>
          </a:prstGeom>
          <a:solidFill>
            <a:srgbClr val="F7F7F7"/>
          </a:solidFill>
          <a:ln/>
        </p:spPr>
      </p:sp>
      <p:sp>
        <p:nvSpPr>
          <p:cNvPr id="56" name="Shape 54"/>
          <p:cNvSpPr/>
          <p:nvPr/>
        </p:nvSpPr>
        <p:spPr>
          <a:xfrm>
            <a:off x="11466576" y="2139696"/>
            <a:ext cx="64008" cy="755294"/>
          </a:xfrm>
          <a:prstGeom prst="rect">
            <a:avLst/>
          </a:prstGeom>
          <a:solidFill>
            <a:srgbClr val="12A566"/>
          </a:solidFill>
          <a:ln/>
        </p:spPr>
      </p:sp>
      <p:sp>
        <p:nvSpPr>
          <p:cNvPr id="57" name="Text 55"/>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8" name="Text 56"/>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9" name="Text 57"/>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12A566"/>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8" name="Shape 66"/>
          <p:cNvSpPr/>
          <p:nvPr/>
        </p:nvSpPr>
        <p:spPr>
          <a:xfrm>
            <a:off x="11466576" y="4625035"/>
            <a:ext cx="64008" cy="755294"/>
          </a:xfrm>
          <a:prstGeom prst="rect">
            <a:avLst/>
          </a:prstGeom>
          <a:solidFill>
            <a:srgbClr val="2587C5"/>
          </a:solidFill>
          <a:ln/>
        </p:spPr>
      </p:sp>
      <p:sp>
        <p:nvSpPr>
          <p:cNvPr id="69" name="Text 6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0" name="Text 6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71" name="Text 69"/>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2" name="Shape 70"/>
          <p:cNvSpPr/>
          <p:nvPr/>
        </p:nvSpPr>
        <p:spPr>
          <a:xfrm>
            <a:off x="8040624" y="5416906"/>
            <a:ext cx="3489960" cy="828446"/>
          </a:xfrm>
          <a:prstGeom prst="rect">
            <a:avLst/>
          </a:prstGeom>
          <a:solidFill>
            <a:srgbClr val="F7F7F7"/>
          </a:solidFill>
          <a:ln/>
        </p:spPr>
      </p:sp>
      <p:sp>
        <p:nvSpPr>
          <p:cNvPr id="73" name="Shape 71"/>
          <p:cNvSpPr/>
          <p:nvPr/>
        </p:nvSpPr>
        <p:spPr>
          <a:xfrm>
            <a:off x="11466576" y="5453482"/>
            <a:ext cx="64008" cy="755294"/>
          </a:xfrm>
          <a:prstGeom prst="rect">
            <a:avLst/>
          </a:prstGeom>
          <a:solidFill>
            <a:srgbClr val="12A566"/>
          </a:solidFill>
          <a:ln/>
        </p:spPr>
      </p:sp>
      <p:sp>
        <p:nvSpPr>
          <p:cNvPr id="74" name="Text 7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5" name="Text 7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6" name="Text 74"/>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Shape 37"/>
          <p:cNvSpPr/>
          <p:nvPr/>
        </p:nvSpPr>
        <p:spPr>
          <a:xfrm>
            <a:off x="7775448" y="3796589"/>
            <a:ext cx="64008" cy="755294"/>
          </a:xfrm>
          <a:prstGeom prst="rect">
            <a:avLst/>
          </a:prstGeom>
          <a:solidFill>
            <a:srgbClr val="2587C5"/>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Shape 45"/>
          <p:cNvSpPr/>
          <p:nvPr/>
        </p:nvSpPr>
        <p:spPr>
          <a:xfrm>
            <a:off x="7775448" y="5453482"/>
            <a:ext cx="64008" cy="755294"/>
          </a:xfrm>
          <a:prstGeom prst="rect">
            <a:avLst/>
          </a:prstGeom>
          <a:solidFill>
            <a:srgbClr val="2587C5"/>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8" name="Shape 56"/>
          <p:cNvSpPr/>
          <p:nvPr/>
        </p:nvSpPr>
        <p:spPr>
          <a:xfrm>
            <a:off x="11466576" y="2968142"/>
            <a:ext cx="64008" cy="755294"/>
          </a:xfrm>
          <a:prstGeom prst="rect">
            <a:avLst/>
          </a:prstGeom>
          <a:solidFill>
            <a:srgbClr val="2587C5"/>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2587C5"/>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Shape 35"/>
          <p:cNvSpPr/>
          <p:nvPr/>
        </p:nvSpPr>
        <p:spPr>
          <a:xfrm>
            <a:off x="7775448" y="2139696"/>
            <a:ext cx="64008" cy="755294"/>
          </a:xfrm>
          <a:prstGeom prst="rect">
            <a:avLst/>
          </a:prstGeom>
          <a:solidFill>
            <a:srgbClr val="2587C5"/>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8" name="Shape 76"/>
          <p:cNvSpPr/>
          <p:nvPr/>
        </p:nvSpPr>
        <p:spPr>
          <a:xfrm>
            <a:off x="11466576" y="4625035"/>
            <a:ext cx="64008" cy="755294"/>
          </a:xfrm>
          <a:prstGeom prst="rect">
            <a:avLst/>
          </a:prstGeom>
          <a:solidFill>
            <a:srgbClr val="2587C5"/>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5" name="Shape 182"/>
          <p:cNvSpPr/>
          <p:nvPr/>
        </p:nvSpPr>
        <p:spPr>
          <a:xfrm>
            <a:off x="457200" y="6126480"/>
            <a:ext cx="11274552" cy="371856"/>
          </a:xfrm>
          <a:prstGeom prst="rect">
            <a:avLst/>
          </a:prstGeom>
          <a:solidFill>
            <a:srgbClr val="FBEBEA"/>
          </a:solidFill>
          <a:ln/>
        </p:spPr>
      </p:sp>
      <p:sp>
        <p:nvSpPr>
          <p:cNvPr id="186" name="Text 18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across the four services. 15 stores are under all four.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Shape 49"/>
          <p:cNvSpPr/>
          <p:nvPr/>
        </p:nvSpPr>
        <p:spPr>
          <a:xfrm>
            <a:off x="7775448" y="4625035"/>
            <a:ext cx="64008" cy="755294"/>
          </a:xfrm>
          <a:prstGeom prst="rect">
            <a:avLst/>
          </a:prstGeom>
          <a:solidFill>
            <a:srgbClr val="2587C5"/>
          </a:solidFill>
          <a:ln/>
        </p:spPr>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2587C5"/>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12A566"/>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Shape 44"/>
          <p:cNvSpPr/>
          <p:nvPr/>
        </p:nvSpPr>
        <p:spPr>
          <a:xfrm>
            <a:off x="7775448" y="5453482"/>
            <a:ext cx="64008" cy="755294"/>
          </a:xfrm>
          <a:prstGeom prst="rect">
            <a:avLst/>
          </a:prstGeom>
          <a:solidFill>
            <a:srgbClr val="2587C5"/>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2587C5"/>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572768"/>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
        <p:nvSpPr>
          <p:cNvPr id="31" name="Text 29"/>
          <p:cNvSpPr txBox="1"/>
          <p:nvPr/>
        </p:nvSpPr>
        <p:spPr>
          <a:xfrm>
            <a:off x="896112" y="5897880"/>
            <a:ext cx="10396728" cy="292608"/>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Clocked hours exclude vacation, paid time off and holiday pay.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Vacation, paid time off and holiday pay are excluded from clocked hours.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6 stores at or above 85% still leave $537K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371856"/>
          </a:xfrm>
          <a:prstGeom prst="rect">
            <a:avLst/>
          </a:prstGeom>
          <a:solidFill>
            <a:srgbClr val="EDF4FA"/>
          </a:solidFill>
          <a:ln/>
        </p:spPr>
      </p:sp>
      <p:sp>
        <p:nvSpPr>
          <p:cNvPr id="72"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Protect that money: higher rates draw more audits, so document every claim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Shape 39"/>
          <p:cNvSpPr/>
          <p:nvPr/>
        </p:nvSpPr>
        <p:spPr>
          <a:xfrm>
            <a:off x="7775448" y="4625035"/>
            <a:ext cx="64008" cy="755294"/>
          </a:xfrm>
          <a:prstGeom prst="rect">
            <a:avLst/>
          </a:prstGeom>
          <a:solidFill>
            <a:srgbClr val="2587C5"/>
          </a:solidFill>
          <a:ln/>
        </p:spPr>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2587C5"/>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3044952" y="1691640"/>
            <a:ext cx="10973" cy="3977640"/>
          </a:xfrm>
          <a:prstGeom prst="rect">
            <a:avLst/>
          </a:prstGeom>
          <a:solidFill>
            <a:srgbClr val="D9D9D9"/>
          </a:solidFill>
          <a:ln/>
        </p:spPr>
      </p:sp>
      <p:sp>
        <p:nvSpPr>
          <p:cNvPr id="20" name="Shape 18"/>
          <p:cNvSpPr/>
          <p:nvPr/>
        </p:nvSpPr>
        <p:spPr>
          <a:xfrm>
            <a:off x="5180990" y="1691640"/>
            <a:ext cx="10973" cy="3977640"/>
          </a:xfrm>
          <a:prstGeom prst="rect">
            <a:avLst/>
          </a:prstGeom>
          <a:solidFill>
            <a:srgbClr val="D9D9D9"/>
          </a:solidFill>
          <a:ln/>
        </p:spPr>
      </p:sp>
      <p:sp>
        <p:nvSpPr>
          <p:cNvPr id="21" name="Shape 19"/>
          <p:cNvSpPr/>
          <p:nvPr/>
        </p:nvSpPr>
        <p:spPr>
          <a:xfrm>
            <a:off x="7317029" y="1691640"/>
            <a:ext cx="10973" cy="3977640"/>
          </a:xfrm>
          <a:prstGeom prst="rect">
            <a:avLst/>
          </a:prstGeom>
          <a:solidFill>
            <a:srgbClr val="D9D9D9"/>
          </a:solidFill>
          <a:ln/>
        </p:spPr>
      </p:sp>
      <p:sp>
        <p:nvSpPr>
          <p:cNvPr id="22" name="Shape 20"/>
          <p:cNvSpPr/>
          <p:nvPr/>
        </p:nvSpPr>
        <p:spPr>
          <a:xfrm>
            <a:off x="9453067" y="1691640"/>
            <a:ext cx="10973" cy="3977640"/>
          </a:xfrm>
          <a:prstGeom prst="rect">
            <a:avLst/>
          </a:prstGeom>
          <a:solidFill>
            <a:srgbClr val="D9D9D9"/>
          </a:solidFill>
          <a:ln/>
        </p:spPr>
      </p:sp>
      <p:sp>
        <p:nvSpPr>
          <p:cNvPr id="23" name="Shape 21"/>
          <p:cNvSpPr/>
          <p:nvPr/>
        </p:nvSpPr>
        <p:spPr>
          <a:xfrm>
            <a:off x="969264" y="1691640"/>
            <a:ext cx="2026310" cy="45720"/>
          </a:xfrm>
          <a:prstGeom prst="rect">
            <a:avLst/>
          </a:prstGeom>
          <a:solidFill>
            <a:srgbClr val="12A566"/>
          </a:solidFill>
          <a:ln/>
        </p:spPr>
      </p:sp>
      <p:sp>
        <p:nvSpPr>
          <p:cNvPr id="24" name="Text 22"/>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5" name="Text 23"/>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6" name="Text 24"/>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7" name="Text 25"/>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8" name="Text 26"/>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9" name="Text 27"/>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30" name="Text 28"/>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Text 29"/>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2" name="Text 30"/>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33" name="Text 31"/>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4" name="Text 32"/>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5" name="Text 33"/>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6" name="Text 34"/>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7" name="Text 35"/>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8" name="Shape 36"/>
          <p:cNvSpPr/>
          <p:nvPr/>
        </p:nvSpPr>
        <p:spPr>
          <a:xfrm>
            <a:off x="3105302" y="1691640"/>
            <a:ext cx="2026310" cy="45720"/>
          </a:xfrm>
          <a:prstGeom prst="rect">
            <a:avLst/>
          </a:prstGeom>
          <a:solidFill>
            <a:srgbClr val="12A566"/>
          </a:solidFill>
          <a:ln/>
        </p:spPr>
      </p:sp>
      <p:sp>
        <p:nvSpPr>
          <p:cNvPr id="39" name="Text 37"/>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40" name="Text 38"/>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41" name="Text 39"/>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42" name="Text 40"/>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43" name="Text 41"/>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4" name="Text 42"/>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5" name="Text 43"/>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6" name="Text 44"/>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7" name="Text 45"/>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9" name="Text 47"/>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Text 48"/>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51" name="Text 49"/>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52" name="Text 50"/>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53" name="Shape 51"/>
          <p:cNvSpPr/>
          <p:nvPr/>
        </p:nvSpPr>
        <p:spPr>
          <a:xfrm>
            <a:off x="5241341" y="1691640"/>
            <a:ext cx="2026310" cy="45720"/>
          </a:xfrm>
          <a:prstGeom prst="rect">
            <a:avLst/>
          </a:prstGeom>
          <a:solidFill>
            <a:srgbClr val="12A566"/>
          </a:solidFill>
          <a:ln/>
        </p:spPr>
      </p:sp>
      <p:sp>
        <p:nvSpPr>
          <p:cNvPr id="54" name="Text 52"/>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5" name="Text 53"/>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6" name="Text 54"/>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7" name="Text 55"/>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8" name="Text 56"/>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9" name="Text 57"/>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60" name="Text 58"/>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61" name="Text 59"/>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62" name="Text 60"/>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Text 61"/>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4" name="Text 62"/>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5" name="Text 63"/>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7" name="Text 65"/>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8" name="Shape 66"/>
          <p:cNvSpPr/>
          <p:nvPr/>
        </p:nvSpPr>
        <p:spPr>
          <a:xfrm>
            <a:off x="7377379" y="1691640"/>
            <a:ext cx="2026310" cy="45720"/>
          </a:xfrm>
          <a:prstGeom prst="rect">
            <a:avLst/>
          </a:prstGeom>
          <a:solidFill>
            <a:srgbClr val="12A566"/>
          </a:solidFill>
          <a:ln/>
        </p:spPr>
      </p:sp>
      <p:sp>
        <p:nvSpPr>
          <p:cNvPr id="69" name="Text 67"/>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70" name="Text 68"/>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71" name="Text 69"/>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72" name="Text 70"/>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73" name="Text 71"/>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4" name="Text 72"/>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5" name="Text 73"/>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6" name="Text 74"/>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Text 76"/>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9" name="Text 77"/>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0" name="Text 78"/>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81" name="Text 79"/>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2" name="Text 80"/>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83" name="Shape 81"/>
          <p:cNvSpPr/>
          <p:nvPr/>
        </p:nvSpPr>
        <p:spPr>
          <a:xfrm>
            <a:off x="9513418" y="1691640"/>
            <a:ext cx="2026310" cy="45720"/>
          </a:xfrm>
          <a:prstGeom prst="rect">
            <a:avLst/>
          </a:prstGeom>
          <a:solidFill>
            <a:srgbClr val="12A566"/>
          </a:solidFill>
          <a:ln/>
        </p:spPr>
      </p:sp>
      <p:sp>
        <p:nvSpPr>
          <p:cNvPr id="84" name="Text 82"/>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5" name="Text 83"/>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6" name="Text 84"/>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8" name="Text 86"/>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Text 87"/>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90" name="Text 88"/>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92" name="Text 90"/>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93" name="Text 91"/>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4" name="Text 92"/>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5" name="Text 93"/>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6" name="Text 94"/>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7" name="Text 95"/>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5788152" y="3968496"/>
            <a:ext cx="64008" cy="512064"/>
          </a:xfrm>
          <a:prstGeom prst="rect">
            <a:avLst/>
          </a:prstGeom>
          <a:solidFill>
            <a:srgbClr val="12A566"/>
          </a:solidFill>
          <a:ln/>
        </p:spPr>
      </p:sp>
      <p:sp>
        <p:nvSpPr>
          <p:cNvPr id="28" name="Shape 26"/>
          <p:cNvSpPr/>
          <p:nvPr/>
        </p:nvSpPr>
        <p:spPr>
          <a:xfrm>
            <a:off x="621792" y="4517136"/>
            <a:ext cx="5230368" cy="585216"/>
          </a:xfrm>
          <a:prstGeom prst="rect">
            <a:avLst/>
          </a:prstGeom>
          <a:solidFill>
            <a:srgbClr val="F7F7F7"/>
          </a:solidFill>
          <a:ln/>
        </p:spPr>
      </p:sp>
      <p:sp>
        <p:nvSpPr>
          <p:cNvPr id="29" name="Text 27"/>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0" name="Text 28"/>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1" name="Shape 29"/>
          <p:cNvSpPr/>
          <p:nvPr/>
        </p:nvSpPr>
        <p:spPr>
          <a:xfrm>
            <a:off x="4343400" y="4692701"/>
            <a:ext cx="480060" cy="234086"/>
          </a:xfrm>
          <a:prstGeom prst="rect">
            <a:avLst/>
          </a:prstGeom>
          <a:solidFill>
            <a:srgbClr val="12A566"/>
          </a:solidFill>
          <a:ln/>
        </p:spPr>
      </p:sp>
      <p:sp>
        <p:nvSpPr>
          <p:cNvPr id="32" name="Text 30"/>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3" name="Text 31"/>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4" name="Text 32"/>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5" name="Shape 33"/>
          <p:cNvSpPr/>
          <p:nvPr/>
        </p:nvSpPr>
        <p:spPr>
          <a:xfrm>
            <a:off x="4343400" y="5277917"/>
            <a:ext cx="480060" cy="234086"/>
          </a:xfrm>
          <a:prstGeom prst="rect">
            <a:avLst/>
          </a:prstGeom>
          <a:solidFill>
            <a:srgbClr val="12A566"/>
          </a:solidFill>
          <a:ln/>
        </p:spPr>
      </p:sp>
      <p:sp>
        <p:nvSpPr>
          <p:cNvPr id="36" name="Text 34"/>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1" name="Shape 39"/>
          <p:cNvSpPr/>
          <p:nvPr/>
        </p:nvSpPr>
        <p:spPr>
          <a:xfrm>
            <a:off x="6336792" y="2176272"/>
            <a:ext cx="5230368" cy="585216"/>
          </a:xfrm>
          <a:prstGeom prst="rect">
            <a:avLst/>
          </a:prstGeom>
          <a:solidFill>
            <a:srgbClr val="F7F7F7"/>
          </a:solidFill>
          <a:ln/>
        </p:spPr>
      </p:sp>
      <p:sp>
        <p:nvSpPr>
          <p:cNvPr id="42" name="Text 40"/>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3" name="Text 41"/>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4" name="Shape 42"/>
          <p:cNvSpPr/>
          <p:nvPr/>
        </p:nvSpPr>
        <p:spPr>
          <a:xfrm>
            <a:off x="10058400" y="2351837"/>
            <a:ext cx="960120" cy="234086"/>
          </a:xfrm>
          <a:prstGeom prst="rect">
            <a:avLst/>
          </a:prstGeom>
          <a:solidFill>
            <a:srgbClr val="12A566"/>
          </a:solidFill>
          <a:ln/>
        </p:spPr>
      </p:sp>
      <p:sp>
        <p:nvSpPr>
          <p:cNvPr id="45" name="Text 43"/>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6" name="Text 44"/>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7" name="Text 45"/>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8" name="Shape 46"/>
          <p:cNvSpPr/>
          <p:nvPr/>
        </p:nvSpPr>
        <p:spPr>
          <a:xfrm>
            <a:off x="10058400" y="2937053"/>
            <a:ext cx="960120" cy="234086"/>
          </a:xfrm>
          <a:prstGeom prst="rect">
            <a:avLst/>
          </a:prstGeom>
          <a:solidFill>
            <a:srgbClr val="12A566"/>
          </a:solidFill>
          <a:ln/>
        </p:spPr>
      </p:sp>
      <p:sp>
        <p:nvSpPr>
          <p:cNvPr id="49" name="Text 47"/>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0" name="Shape 48"/>
          <p:cNvSpPr/>
          <p:nvPr/>
        </p:nvSpPr>
        <p:spPr>
          <a:xfrm>
            <a:off x="11503152" y="2798064"/>
            <a:ext cx="64008" cy="512064"/>
          </a:xfrm>
          <a:prstGeom prst="rect">
            <a:avLst/>
          </a:prstGeom>
          <a:solidFill>
            <a:srgbClr val="12A566"/>
          </a:solidFill>
          <a:ln/>
        </p:spPr>
      </p:sp>
      <p:sp>
        <p:nvSpPr>
          <p:cNvPr id="51" name="Shape 49"/>
          <p:cNvSpPr/>
          <p:nvPr/>
        </p:nvSpPr>
        <p:spPr>
          <a:xfrm>
            <a:off x="6336792" y="3346704"/>
            <a:ext cx="5230368" cy="585216"/>
          </a:xfrm>
          <a:prstGeom prst="rect">
            <a:avLst/>
          </a:prstGeom>
          <a:solidFill>
            <a:srgbClr val="F7F7F7"/>
          </a:solidFill>
          <a:ln/>
        </p:spPr>
      </p:sp>
      <p:sp>
        <p:nvSpPr>
          <p:cNvPr id="52" name="Text 50"/>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3" name="Text 51"/>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4" name="Shape 52"/>
          <p:cNvSpPr/>
          <p:nvPr/>
        </p:nvSpPr>
        <p:spPr>
          <a:xfrm>
            <a:off x="10058400" y="3522269"/>
            <a:ext cx="960120" cy="234086"/>
          </a:xfrm>
          <a:prstGeom prst="rect">
            <a:avLst/>
          </a:prstGeom>
          <a:solidFill>
            <a:srgbClr val="12A566"/>
          </a:solidFill>
          <a:ln/>
        </p:spPr>
      </p:sp>
      <p:sp>
        <p:nvSpPr>
          <p:cNvPr id="55" name="Text 53"/>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6" name="Text 54"/>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7" name="Text 55"/>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8" name="Shape 56"/>
          <p:cNvSpPr/>
          <p:nvPr/>
        </p:nvSpPr>
        <p:spPr>
          <a:xfrm>
            <a:off x="10058400" y="4107485"/>
            <a:ext cx="640080" cy="234086"/>
          </a:xfrm>
          <a:prstGeom prst="rect">
            <a:avLst/>
          </a:prstGeom>
          <a:solidFill>
            <a:srgbClr val="12A566"/>
          </a:solidFill>
          <a:ln/>
        </p:spPr>
      </p:sp>
      <p:sp>
        <p:nvSpPr>
          <p:cNvPr id="59" name="Text 57"/>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0" name="Shape 58"/>
          <p:cNvSpPr/>
          <p:nvPr/>
        </p:nvSpPr>
        <p:spPr>
          <a:xfrm>
            <a:off x="6336792" y="4517136"/>
            <a:ext cx="5230368" cy="585216"/>
          </a:xfrm>
          <a:prstGeom prst="rect">
            <a:avLst/>
          </a:prstGeom>
          <a:solidFill>
            <a:srgbClr val="F7F7F7"/>
          </a:solidFill>
          <a:ln/>
        </p:spPr>
      </p:sp>
      <p:sp>
        <p:nvSpPr>
          <p:cNvPr id="61" name="Text 59"/>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2" name="Text 60"/>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3" name="Shape 61"/>
          <p:cNvSpPr/>
          <p:nvPr/>
        </p:nvSpPr>
        <p:spPr>
          <a:xfrm>
            <a:off x="10058400" y="4692701"/>
            <a:ext cx="640080" cy="234086"/>
          </a:xfrm>
          <a:prstGeom prst="rect">
            <a:avLst/>
          </a:prstGeom>
          <a:solidFill>
            <a:srgbClr val="12A566"/>
          </a:solidFill>
          <a:ln/>
        </p:spPr>
      </p:sp>
      <p:sp>
        <p:nvSpPr>
          <p:cNvPr id="64" name="Text 62"/>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5" name="Text 63"/>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64"/>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7" name="Shape 65"/>
          <p:cNvSpPr/>
          <p:nvPr/>
        </p:nvSpPr>
        <p:spPr>
          <a:xfrm>
            <a:off x="10058400" y="5277917"/>
            <a:ext cx="640080" cy="234086"/>
          </a:xfrm>
          <a:prstGeom prst="rect">
            <a:avLst/>
          </a:prstGeom>
          <a:solidFill>
            <a:srgbClr val="12A566"/>
          </a:solidFill>
          <a:ln/>
        </p:spPr>
      </p:sp>
      <p:sp>
        <p:nvSpPr>
          <p:cNvPr id="68" name="Text 66"/>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One store is on both lists (green bar).</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438912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Shape 7"/>
          <p:cNvSpPr/>
          <p:nvPr/>
        </p:nvSpPr>
        <p:spPr>
          <a:xfrm>
            <a:off x="548640" y="1755648"/>
            <a:ext cx="11091672" cy="713232"/>
          </a:xfrm>
          <a:prstGeom prst="rect">
            <a:avLst/>
          </a:prstGeom>
          <a:solidFill>
            <a:srgbClr val="F7F7F7"/>
          </a:solidFill>
          <a:ln/>
        </p:spPr>
      </p:sp>
      <p:sp>
        <p:nvSpPr>
          <p:cNvPr id="10" name="Shape 8"/>
          <p:cNvSpPr/>
          <p:nvPr/>
        </p:nvSpPr>
        <p:spPr>
          <a:xfrm>
            <a:off x="548640" y="1755648"/>
            <a:ext cx="64008" cy="713232"/>
          </a:xfrm>
          <a:prstGeom prst="rect">
            <a:avLst/>
          </a:prstGeom>
          <a:solidFill>
            <a:srgbClr val="12A566"/>
          </a:solidFill>
          <a:ln/>
        </p:spPr>
      </p:sp>
      <p:sp>
        <p:nvSpPr>
          <p:cNvPr id="11" name="Text 9"/>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2" name="Text 10"/>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3" name="Text 11"/>
          <p:cNvSpPr txBox="1"/>
          <p:nvPr/>
        </p:nvSpPr>
        <p:spPr>
          <a:xfrm>
            <a:off x="7178040" y="1755648"/>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Manage it daily: dispatch, parts staging, approvals, coaching</a:t>
            </a:r>
            <a:endParaRPr lang="en-US" sz="1500" dirty="0"/>
          </a:p>
        </p:txBody>
      </p:sp>
      <p:sp>
        <p:nvSpPr>
          <p:cNvPr id="14" name="Shape 12"/>
          <p:cNvSpPr/>
          <p:nvPr/>
        </p:nvSpPr>
        <p:spPr>
          <a:xfrm>
            <a:off x="548640" y="2542032"/>
            <a:ext cx="11091672" cy="713232"/>
          </a:xfrm>
          <a:prstGeom prst="rect">
            <a:avLst/>
          </a:prstGeom>
          <a:solidFill>
            <a:srgbClr val="FFFFFF"/>
          </a:solidFill>
          <a:ln/>
        </p:spPr>
      </p:sp>
      <p:sp>
        <p:nvSpPr>
          <p:cNvPr id="15" name="Shape 13"/>
          <p:cNvSpPr/>
          <p:nvPr/>
        </p:nvSpPr>
        <p:spPr>
          <a:xfrm>
            <a:off x="548640" y="2542032"/>
            <a:ext cx="64008" cy="713232"/>
          </a:xfrm>
          <a:prstGeom prst="rect">
            <a:avLst/>
          </a:prstGeom>
          <a:solidFill>
            <a:srgbClr val="12A566"/>
          </a:solidFill>
          <a:ln/>
        </p:spPr>
      </p:sp>
      <p:sp>
        <p:nvSpPr>
          <p:cNvPr id="16" name="Text 14"/>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17" name="Text 15"/>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18" name="Text 16"/>
          <p:cNvSpPr txBox="1"/>
          <p:nvPr/>
        </p:nvSpPr>
        <p:spPr>
          <a:xfrm>
            <a:off x="7178040" y="2542032"/>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consistent: MPI and Road to the Sale on every car</a:t>
            </a:r>
            <a:endParaRPr lang="en-US" sz="1500" dirty="0"/>
          </a:p>
        </p:txBody>
      </p:sp>
      <p:sp>
        <p:nvSpPr>
          <p:cNvPr id="19" name="Shape 17"/>
          <p:cNvSpPr/>
          <p:nvPr/>
        </p:nvSpPr>
        <p:spPr>
          <a:xfrm>
            <a:off x="548640" y="3328416"/>
            <a:ext cx="11091672" cy="713232"/>
          </a:xfrm>
          <a:prstGeom prst="rect">
            <a:avLst/>
          </a:prstGeom>
          <a:solidFill>
            <a:srgbClr val="F7F7F7"/>
          </a:solidFill>
          <a:ln/>
        </p:spPr>
      </p:sp>
      <p:sp>
        <p:nvSpPr>
          <p:cNvPr id="20" name="Shape 18"/>
          <p:cNvSpPr/>
          <p:nvPr/>
        </p:nvSpPr>
        <p:spPr>
          <a:xfrm>
            <a:off x="548640" y="3328416"/>
            <a:ext cx="64008" cy="713232"/>
          </a:xfrm>
          <a:prstGeom prst="rect">
            <a:avLst/>
          </a:prstGeom>
          <a:solidFill>
            <a:srgbClr val="12A566"/>
          </a:solidFill>
          <a:ln/>
        </p:spPr>
      </p:sp>
      <p:sp>
        <p:nvSpPr>
          <p:cNvPr id="21" name="Text 19"/>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2" name="Text 20"/>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23" name="Text 21"/>
          <p:cNvSpPr txBox="1"/>
          <p:nvPr/>
        </p:nvSpPr>
        <p:spPr>
          <a:xfrm>
            <a:off x="7178040" y="3328416"/>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Track where you are, ask for the sale on every car, every time, hold people accountable</a:t>
            </a:r>
            <a:endParaRPr lang="en-US" sz="1500" dirty="0"/>
          </a:p>
        </p:txBody>
      </p:sp>
      <p:sp>
        <p:nvSpPr>
          <p:cNvPr id="24" name="Shape 22"/>
          <p:cNvSpPr/>
          <p:nvPr/>
        </p:nvSpPr>
        <p:spPr>
          <a:xfrm>
            <a:off x="548640" y="4114800"/>
            <a:ext cx="11091672" cy="713232"/>
          </a:xfrm>
          <a:prstGeom prst="rect">
            <a:avLst/>
          </a:prstGeom>
          <a:solidFill>
            <a:srgbClr val="FFFFFF"/>
          </a:solidFill>
          <a:ln/>
        </p:spPr>
      </p:sp>
      <p:sp>
        <p:nvSpPr>
          <p:cNvPr id="25" name="Shape 23"/>
          <p:cNvSpPr/>
          <p:nvPr/>
        </p:nvSpPr>
        <p:spPr>
          <a:xfrm>
            <a:off x="548640" y="4114800"/>
            <a:ext cx="64008" cy="713232"/>
          </a:xfrm>
          <a:prstGeom prst="rect">
            <a:avLst/>
          </a:prstGeom>
          <a:solidFill>
            <a:srgbClr val="12A566"/>
          </a:solidFill>
          <a:ln/>
        </p:spPr>
      </p:sp>
      <p:sp>
        <p:nvSpPr>
          <p:cNvPr id="26" name="Text 24"/>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27" name="Text 25"/>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28" name="Text 26"/>
          <p:cNvSpPr txBox="1"/>
          <p:nvPr/>
        </p:nvSpPr>
        <p:spPr>
          <a:xfrm>
            <a:off x="7178040" y="4114800"/>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Be available when they call; proactive outreach to lapsed and inactive customers</a:t>
            </a:r>
            <a:endParaRPr lang="en-US" sz="1500" dirty="0"/>
          </a:p>
        </p:txBody>
      </p:sp>
      <p:sp>
        <p:nvSpPr>
          <p:cNvPr id="29" name="Shape 27"/>
          <p:cNvSpPr/>
          <p:nvPr/>
        </p:nvSpPr>
        <p:spPr>
          <a:xfrm>
            <a:off x="548640" y="4901184"/>
            <a:ext cx="11091672" cy="713232"/>
          </a:xfrm>
          <a:prstGeom prst="rect">
            <a:avLst/>
          </a:prstGeom>
          <a:solidFill>
            <a:srgbClr val="F7F7F7"/>
          </a:solidFill>
          <a:ln/>
        </p:spPr>
      </p:sp>
      <p:sp>
        <p:nvSpPr>
          <p:cNvPr id="30" name="Shape 28"/>
          <p:cNvSpPr/>
          <p:nvPr/>
        </p:nvSpPr>
        <p:spPr>
          <a:xfrm>
            <a:off x="548640" y="4901184"/>
            <a:ext cx="64008" cy="713232"/>
          </a:xfrm>
          <a:prstGeom prst="rect">
            <a:avLst/>
          </a:prstGeom>
          <a:solidFill>
            <a:srgbClr val="12A566"/>
          </a:solidFill>
          <a:ln/>
        </p:spPr>
      </p:sp>
      <p:sp>
        <p:nvSpPr>
          <p:cNvPr id="31" name="Text 29"/>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Ten minutes a day saved for every tech</a:t>
            </a:r>
            <a:endParaRPr lang="en-US" sz="1700" dirty="0"/>
          </a:p>
        </p:txBody>
      </p:sp>
      <p:sp>
        <p:nvSpPr>
          <p:cNvPr id="32" name="Text 30"/>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$4,443,804</a:t>
            </a:r>
            <a:endParaRPr lang="en-US" sz="2400" dirty="0"/>
          </a:p>
        </p:txBody>
      </p:sp>
      <p:sp>
        <p:nvSpPr>
          <p:cNvPr id="33" name="Text 31"/>
          <p:cNvSpPr txBox="1"/>
          <p:nvPr/>
        </p:nvSpPr>
        <p:spPr>
          <a:xfrm>
            <a:off x="7178040" y="4901184"/>
            <a:ext cx="4389120" cy="713232"/>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Streamline the process, remove inefficiencies: parts to the bay, tools and keys in place</a:t>
            </a:r>
            <a:endParaRPr lang="en-US" sz="1500" dirty="0"/>
          </a:p>
        </p:txBody>
      </p:sp>
      <p:sp>
        <p:nvSpPr>
          <p:cNvPr id="34" name="Shape 32"/>
          <p:cNvSpPr/>
          <p:nvPr/>
        </p:nvSpPr>
        <p:spPr>
          <a:xfrm>
            <a:off x="457200" y="6126480"/>
            <a:ext cx="11274552" cy="371856"/>
          </a:xfrm>
          <a:prstGeom prst="rect">
            <a:avLst/>
          </a:prstGeom>
          <a:solidFill>
            <a:srgbClr val="E6F6EE"/>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Other than one more RO a day, every number here comes from customers already coming in for service.</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7" name="Shape 15"/>
          <p:cNvSpPr/>
          <p:nvPr/>
        </p:nvSpPr>
        <p:spPr>
          <a:xfrm>
            <a:off x="3845560" y="658368"/>
            <a:ext cx="7886192" cy="475488"/>
          </a:xfrm>
          <a:prstGeom prst="rect">
            <a:avLst/>
          </a:prstGeom>
          <a:solidFill>
            <a:srgbClr val="EDF4FA"/>
          </a:solidFill>
          <a:ln/>
        </p:spPr>
      </p:sp>
      <p:sp>
        <p:nvSpPr>
          <p:cNvPr id="18" name="Text 16"/>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9.4%</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59" name="Shape 57"/>
          <p:cNvSpPr/>
          <p:nvPr/>
        </p:nvSpPr>
        <p:spPr>
          <a:xfrm>
            <a:off x="658368" y="4054450"/>
            <a:ext cx="10872216" cy="10973"/>
          </a:xfrm>
          <a:prstGeom prst="rect">
            <a:avLst/>
          </a:prstGeom>
          <a:solidFill>
            <a:srgbClr val="9AA3AD"/>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7" name="Shape 15"/>
          <p:cNvSpPr/>
          <p:nvPr/>
        </p:nvSpPr>
        <p:spPr>
          <a:xfrm>
            <a:off x="4034028" y="658368"/>
            <a:ext cx="7697724" cy="475488"/>
          </a:xfrm>
          <a:prstGeom prst="rect">
            <a:avLst/>
          </a:prstGeom>
          <a:solidFill>
            <a:srgbClr val="EDF4FA"/>
          </a:solidFill>
          <a:ln/>
        </p:spPr>
      </p:sp>
      <p:sp>
        <p:nvSpPr>
          <p:cNvPr id="18" name="Text 16"/>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6" name="Shape 44"/>
          <p:cNvSpPr/>
          <p:nvPr/>
        </p:nvSpPr>
        <p:spPr>
          <a:xfrm>
            <a:off x="658368" y="3396082"/>
            <a:ext cx="10872216" cy="10973"/>
          </a:xfrm>
          <a:prstGeom prst="rect">
            <a:avLst/>
          </a:prstGeom>
          <a:solidFill>
            <a:srgbClr val="9AA3AD"/>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7" name="Shape 15"/>
          <p:cNvSpPr/>
          <p:nvPr/>
        </p:nvSpPr>
        <p:spPr>
          <a:xfrm>
            <a:off x="4222496" y="658368"/>
            <a:ext cx="7509256" cy="475488"/>
          </a:xfrm>
          <a:prstGeom prst="rect">
            <a:avLst/>
          </a:prstGeom>
          <a:solidFill>
            <a:srgbClr val="EDF4FA"/>
          </a:solidFill>
          <a:ln/>
        </p:spPr>
      </p:sp>
      <p:sp>
        <p:nvSpPr>
          <p:cNvPr id="18" name="Text 16"/>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7" name="Shape 15"/>
          <p:cNvSpPr/>
          <p:nvPr/>
        </p:nvSpPr>
        <p:spPr>
          <a:xfrm>
            <a:off x="9216898" y="658368"/>
            <a:ext cx="2514854" cy="475488"/>
          </a:xfrm>
          <a:prstGeom prst="rect">
            <a:avLst/>
          </a:prstGeom>
          <a:solidFill>
            <a:srgbClr val="EDF4FA"/>
          </a:solidFill>
          <a:ln/>
        </p:spPr>
      </p:sp>
      <p:sp>
        <p:nvSpPr>
          <p:cNvPr id="18" name="Text 16"/>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3" name="Text 91"/>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5" name="Text 93"/>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6" name="Text 94"/>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7" name="Text 95"/>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7" name="Shape 15"/>
          <p:cNvSpPr/>
          <p:nvPr/>
        </p:nvSpPr>
        <p:spPr>
          <a:xfrm>
            <a:off x="457200" y="2011680"/>
            <a:ext cx="11274552" cy="4343400"/>
          </a:xfrm>
          <a:prstGeom prst="rect">
            <a:avLst/>
          </a:prstGeom>
          <a:solidFill>
            <a:srgbClr val="FFFFFF"/>
          </a:solidFill>
          <a:ln/>
        </p:spPr>
      </p:sp>
      <p:sp>
        <p:nvSpPr>
          <p:cNvPr id="18" name="Text 16"/>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19" name="Text 17"/>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0" name="Text 18"/>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1" name="Text 19"/>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2" name="Text 20"/>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3" name="Text 21"/>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4" name="Shape 22"/>
          <p:cNvSpPr/>
          <p:nvPr/>
        </p:nvSpPr>
        <p:spPr>
          <a:xfrm>
            <a:off x="658368" y="2368296"/>
            <a:ext cx="10872216" cy="10973"/>
          </a:xfrm>
          <a:prstGeom prst="rect">
            <a:avLst/>
          </a:prstGeom>
          <a:solidFill>
            <a:srgbClr val="1A1A1A"/>
          </a:solidFill>
          <a:ln/>
        </p:spPr>
      </p:sp>
      <p:sp>
        <p:nvSpPr>
          <p:cNvPr id="25" name="Text 23"/>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6" name="Text 24"/>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7" name="Text 25"/>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28" name="Text 26"/>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29" name="Text 27"/>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0" name="Text 28"/>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1" name="Shape 29"/>
          <p:cNvSpPr/>
          <p:nvPr/>
        </p:nvSpPr>
        <p:spPr>
          <a:xfrm>
            <a:off x="658368" y="2737866"/>
            <a:ext cx="10872216" cy="323850"/>
          </a:xfrm>
          <a:prstGeom prst="rect">
            <a:avLst/>
          </a:prstGeom>
          <a:solidFill>
            <a:srgbClr val="F7F7F7"/>
          </a:solidFill>
          <a:ln/>
        </p:spPr>
      </p:sp>
      <p:sp>
        <p:nvSpPr>
          <p:cNvPr id="32" name="Text 30"/>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3" name="Text 31"/>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4" name="Text 32"/>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5" name="Text 33"/>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6" name="Text 34"/>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7" name="Text 35"/>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8" name="Text 36"/>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39" name="Text 37"/>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0" name="Text 38"/>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1" name="Text 39"/>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2" name="Text 40"/>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3" name="Text 41"/>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4" name="Shape 42"/>
          <p:cNvSpPr/>
          <p:nvPr/>
        </p:nvSpPr>
        <p:spPr>
          <a:xfrm>
            <a:off x="658368" y="3385566"/>
            <a:ext cx="10872216" cy="323850"/>
          </a:xfrm>
          <a:prstGeom prst="rect">
            <a:avLst/>
          </a:prstGeom>
          <a:solidFill>
            <a:srgbClr val="F7F7F7"/>
          </a:solidFill>
          <a:ln/>
        </p:spPr>
      </p:sp>
      <p:sp>
        <p:nvSpPr>
          <p:cNvPr id="45" name="Text 43"/>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6" name="Text 44"/>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7" name="Text 45"/>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48" name="Text 46"/>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9" name="Text 47"/>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0" name="Text 48"/>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1" name="Text 49"/>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2" name="Text 50"/>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3" name="Text 51"/>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4" name="Text 52"/>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5" name="Text 53"/>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6" name="Text 54"/>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7" name="Shape 55"/>
          <p:cNvSpPr/>
          <p:nvPr/>
        </p:nvSpPr>
        <p:spPr>
          <a:xfrm>
            <a:off x="658368" y="4033266"/>
            <a:ext cx="10872216" cy="323850"/>
          </a:xfrm>
          <a:prstGeom prst="rect">
            <a:avLst/>
          </a:prstGeom>
          <a:solidFill>
            <a:srgbClr val="F7F7F7"/>
          </a:solidFill>
          <a:ln/>
        </p:spPr>
      </p:sp>
      <p:sp>
        <p:nvSpPr>
          <p:cNvPr id="58" name="Text 56"/>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59" name="Text 57"/>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0" name="Text 58"/>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61" name="Text 59"/>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2" name="Text 60"/>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3" name="Text 61"/>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4" name="Text 62"/>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5" name="Text 63"/>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6" name="Text 64"/>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7" name="Text 65"/>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8" name="Text 66"/>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69" name="Text 67"/>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0" name="Shape 68"/>
          <p:cNvSpPr/>
          <p:nvPr/>
        </p:nvSpPr>
        <p:spPr>
          <a:xfrm>
            <a:off x="658368" y="4680966"/>
            <a:ext cx="10872216" cy="323850"/>
          </a:xfrm>
          <a:prstGeom prst="rect">
            <a:avLst/>
          </a:prstGeom>
          <a:solidFill>
            <a:srgbClr val="F7F7F7"/>
          </a:solidFill>
          <a:ln/>
        </p:spPr>
      </p:sp>
      <p:sp>
        <p:nvSpPr>
          <p:cNvPr id="71" name="Text 69"/>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2" name="Text 70"/>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3" name="Text 71"/>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4" name="Text 72"/>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5" name="Text 73"/>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6" name="Text 74"/>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7" name="Text 75"/>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78" name="Text 76"/>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9" name="Text 77"/>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0" name="Text 78"/>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1" name="Text 79"/>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2" name="Text 80"/>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3" name="Shape 81"/>
          <p:cNvSpPr/>
          <p:nvPr/>
        </p:nvSpPr>
        <p:spPr>
          <a:xfrm>
            <a:off x="658368" y="5323180"/>
            <a:ext cx="10872216" cy="10973"/>
          </a:xfrm>
          <a:prstGeom prst="rect">
            <a:avLst/>
          </a:prstGeom>
          <a:solidFill>
            <a:srgbClr val="9AA3AD"/>
          </a:solidFill>
          <a:ln/>
        </p:spPr>
      </p:sp>
      <p:sp>
        <p:nvSpPr>
          <p:cNvPr id="84" name="Text 82"/>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5" name="Text 83"/>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6" name="Text 84"/>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7" name="Text 85"/>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8" name="Text 86"/>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9" name="Text 87"/>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0" name="Text 88"/>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1" name="Text 89"/>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2" name="Text 90"/>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3" name="Text 91"/>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4" name="Text 92"/>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5" name="Text 93"/>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6" name="Shape 94"/>
          <p:cNvSpPr/>
          <p:nvPr/>
        </p:nvSpPr>
        <p:spPr>
          <a:xfrm>
            <a:off x="658368" y="5976366"/>
            <a:ext cx="10872216" cy="323850"/>
          </a:xfrm>
          <a:prstGeom prst="rect">
            <a:avLst/>
          </a:prstGeom>
          <a:solidFill>
            <a:srgbClr val="F7F7F7"/>
          </a:solidFill>
          <a:ln/>
        </p:spPr>
      </p:sp>
      <p:sp>
        <p:nvSpPr>
          <p:cNvPr id="97" name="Text 95"/>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98" name="Text 96"/>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9" name="Text 97"/>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0" name="Text 98"/>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1" name="Text 99"/>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2" name="Text 100"/>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7" name="Shape 15"/>
          <p:cNvSpPr/>
          <p:nvPr/>
        </p:nvSpPr>
        <p:spPr>
          <a:xfrm>
            <a:off x="6955282" y="658368"/>
            <a:ext cx="4776470" cy="475488"/>
          </a:xfrm>
          <a:prstGeom prst="rect">
            <a:avLst/>
          </a:prstGeom>
          <a:solidFill>
            <a:srgbClr val="EDF4FA"/>
          </a:solidFill>
          <a:ln/>
        </p:spPr>
      </p:sp>
      <p:sp>
        <p:nvSpPr>
          <p:cNvPr id="18" name="Text 16"/>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5" name="Shape 83"/>
          <p:cNvSpPr/>
          <p:nvPr/>
        </p:nvSpPr>
        <p:spPr>
          <a:xfrm>
            <a:off x="658368" y="5376672"/>
            <a:ext cx="10872216" cy="329184"/>
          </a:xfrm>
          <a:prstGeom prst="rect">
            <a:avLst/>
          </a:prstGeom>
          <a:solidFill>
            <a:srgbClr val="F7F7F7"/>
          </a:solidFill>
          <a:ln/>
        </p:spPr>
      </p:sp>
      <p:sp>
        <p:nvSpPr>
          <p:cNvPr id="86" name="Text 84"/>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8" name="Text 86"/>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89" name="Text 87"/>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7" name="Shape 15"/>
          <p:cNvSpPr/>
          <p:nvPr/>
        </p:nvSpPr>
        <p:spPr>
          <a:xfrm>
            <a:off x="6389878" y="658368"/>
            <a:ext cx="5341874" cy="475488"/>
          </a:xfrm>
          <a:prstGeom prst="rect">
            <a:avLst/>
          </a:prstGeom>
          <a:solidFill>
            <a:srgbClr val="EDF4FA"/>
          </a:solidFill>
          <a:ln/>
        </p:spPr>
      </p:sp>
      <p:sp>
        <p:nvSpPr>
          <p:cNvPr id="18" name="Text 16"/>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7" name="Shape 15"/>
          <p:cNvSpPr/>
          <p:nvPr/>
        </p:nvSpPr>
        <p:spPr>
          <a:xfrm>
            <a:off x="4693666" y="658368"/>
            <a:ext cx="7038086" cy="475488"/>
          </a:xfrm>
          <a:prstGeom prst="rect">
            <a:avLst/>
          </a:prstGeom>
          <a:solidFill>
            <a:srgbClr val="EDF4FA"/>
          </a:solidFill>
          <a:ln/>
        </p:spPr>
      </p:sp>
      <p:sp>
        <p:nvSpPr>
          <p:cNvPr id="18" name="Text 16"/>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7.8%</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7" name="Shape 15"/>
          <p:cNvSpPr/>
          <p:nvPr/>
        </p:nvSpPr>
        <p:spPr>
          <a:xfrm>
            <a:off x="6389878" y="658368"/>
            <a:ext cx="5341874" cy="475488"/>
          </a:xfrm>
          <a:prstGeom prst="rect">
            <a:avLst/>
          </a:prstGeom>
          <a:solidFill>
            <a:srgbClr val="EDF4FA"/>
          </a:solidFill>
          <a:ln/>
        </p:spPr>
      </p:sp>
      <p:sp>
        <p:nvSpPr>
          <p:cNvPr id="18" name="Text 16"/>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0" name="Shape 38"/>
          <p:cNvSpPr/>
          <p:nvPr/>
        </p:nvSpPr>
        <p:spPr>
          <a:xfrm>
            <a:off x="658368" y="3066898"/>
            <a:ext cx="10872216" cy="10973"/>
          </a:xfrm>
          <a:prstGeom prst="rect">
            <a:avLst/>
          </a:prstGeom>
          <a:solidFill>
            <a:srgbClr val="9AA3AD"/>
          </a:solidFill>
          <a:ln/>
        </p:spPr>
      </p:sp>
      <p:sp>
        <p:nvSpPr>
          <p:cNvPr id="41" name="Text 39"/>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2" name="Text 40"/>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3" name="Text 41"/>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4" name="Text 42"/>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5" name="Text 43"/>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6" name="Text 44"/>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7" name="Shape 15"/>
          <p:cNvSpPr/>
          <p:nvPr/>
        </p:nvSpPr>
        <p:spPr>
          <a:xfrm>
            <a:off x="3751326" y="658368"/>
            <a:ext cx="7980426" cy="475488"/>
          </a:xfrm>
          <a:prstGeom prst="rect">
            <a:avLst/>
          </a:prstGeom>
          <a:solidFill>
            <a:srgbClr val="EDF4FA"/>
          </a:solidFill>
          <a:ln/>
        </p:spPr>
      </p:sp>
      <p:sp>
        <p:nvSpPr>
          <p:cNvPr id="18" name="Text 16"/>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7" name="Shape 15"/>
          <p:cNvSpPr/>
          <p:nvPr/>
        </p:nvSpPr>
        <p:spPr>
          <a:xfrm>
            <a:off x="7237984" y="658368"/>
            <a:ext cx="4493768" cy="475488"/>
          </a:xfrm>
          <a:prstGeom prst="rect">
            <a:avLst/>
          </a:prstGeom>
          <a:solidFill>
            <a:srgbClr val="EDF4FA"/>
          </a:solidFill>
          <a:ln/>
        </p:spPr>
      </p:sp>
      <p:sp>
        <p:nvSpPr>
          <p:cNvPr id="18" name="Text 16"/>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6" name="Shape 64"/>
          <p:cNvSpPr/>
          <p:nvPr/>
        </p:nvSpPr>
        <p:spPr>
          <a:xfrm>
            <a:off x="658368" y="4383634"/>
            <a:ext cx="10872216" cy="10973"/>
          </a:xfrm>
          <a:prstGeom prst="rect">
            <a:avLst/>
          </a:prstGeom>
          <a:solidFill>
            <a:srgbClr val="9AA3AD"/>
          </a:solidFill>
          <a:ln/>
        </p:spPr>
      </p:sp>
      <p:sp>
        <p:nvSpPr>
          <p:cNvPr id="67" name="Text 65"/>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8" name="Text 66"/>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69" name="Text 67"/>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0" name="Text 68"/>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1" name="Text 69"/>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2" name="Text 70"/>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3" name="Shape 71"/>
          <p:cNvSpPr/>
          <p:nvPr/>
        </p:nvSpPr>
        <p:spPr>
          <a:xfrm>
            <a:off x="658368" y="4718304"/>
            <a:ext cx="10872216" cy="329184"/>
          </a:xfrm>
          <a:prstGeom prst="rect">
            <a:avLst/>
          </a:prstGeom>
          <a:solidFill>
            <a:srgbClr val="F7F7F7"/>
          </a:solidFill>
          <a:ln/>
        </p:spPr>
      </p:sp>
      <p:sp>
        <p:nvSpPr>
          <p:cNvPr id="74" name="Text 72"/>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5" name="Text 73"/>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6" name="Text 74"/>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7" name="Text 75"/>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8" name="Text 76"/>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9" name="Text 77"/>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7" name="Shape 15"/>
          <p:cNvSpPr/>
          <p:nvPr/>
        </p:nvSpPr>
        <p:spPr>
          <a:xfrm>
            <a:off x="7143750" y="658368"/>
            <a:ext cx="4588002" cy="475488"/>
          </a:xfrm>
          <a:prstGeom prst="rect">
            <a:avLst/>
          </a:prstGeom>
          <a:solidFill>
            <a:srgbClr val="EDF4FA"/>
          </a:solidFill>
          <a:ln/>
        </p:spPr>
      </p:sp>
      <p:sp>
        <p:nvSpPr>
          <p:cNvPr id="18" name="Text 16"/>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54450"/>
            <a:ext cx="10872216" cy="10973"/>
          </a:xfrm>
          <a:prstGeom prst="rect">
            <a:avLst/>
          </a:prstGeom>
          <a:solidFill>
            <a:srgbClr val="9AA3AD"/>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7" name="Shape 15"/>
          <p:cNvSpPr/>
          <p:nvPr/>
        </p:nvSpPr>
        <p:spPr>
          <a:xfrm>
            <a:off x="9122664" y="658368"/>
            <a:ext cx="2609088" cy="475488"/>
          </a:xfrm>
          <a:prstGeom prst="rect">
            <a:avLst/>
          </a:prstGeom>
          <a:solidFill>
            <a:srgbClr val="EDF4FA"/>
          </a:solidFill>
          <a:ln/>
        </p:spPr>
      </p:sp>
      <p:sp>
        <p:nvSpPr>
          <p:cNvPr id="18" name="Text 16"/>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5" name="Shape 83"/>
          <p:cNvSpPr/>
          <p:nvPr/>
        </p:nvSpPr>
        <p:spPr>
          <a:xfrm>
            <a:off x="658368" y="5371186"/>
            <a:ext cx="10872216" cy="10973"/>
          </a:xfrm>
          <a:prstGeom prst="rect">
            <a:avLst/>
          </a:prstGeom>
          <a:solidFill>
            <a:srgbClr val="9AA3AD"/>
          </a:solidFill>
          <a:ln/>
        </p:spPr>
      </p:sp>
      <p:sp>
        <p:nvSpPr>
          <p:cNvPr id="86" name="Text 84"/>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89" name="Text 87"/>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2" name="Text 90"/>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4" name="Text 92"/>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5" name="Text 93"/>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6" name="Text 94"/>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7" name="Shape 15"/>
          <p:cNvSpPr/>
          <p:nvPr/>
        </p:nvSpPr>
        <p:spPr>
          <a:xfrm>
            <a:off x="9122664" y="658368"/>
            <a:ext cx="2609088" cy="475488"/>
          </a:xfrm>
          <a:prstGeom prst="rect">
            <a:avLst/>
          </a:prstGeom>
          <a:solidFill>
            <a:srgbClr val="EDF4FA"/>
          </a:solidFill>
          <a:ln/>
        </p:spPr>
      </p:sp>
      <p:sp>
        <p:nvSpPr>
          <p:cNvPr id="18" name="Text 16"/>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6" name="Shape 64"/>
          <p:cNvSpPr/>
          <p:nvPr/>
        </p:nvSpPr>
        <p:spPr>
          <a:xfrm>
            <a:off x="658368" y="4383634"/>
            <a:ext cx="10872216" cy="10973"/>
          </a:xfrm>
          <a:prstGeom prst="rect">
            <a:avLst/>
          </a:prstGeom>
          <a:solidFill>
            <a:srgbClr val="9AA3AD"/>
          </a:solidFill>
          <a:ln/>
        </p:spPr>
      </p:sp>
      <p:sp>
        <p:nvSpPr>
          <p:cNvPr id="67" name="Text 65"/>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8" name="Text 66"/>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9" name="Text 67"/>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0" name="Text 68"/>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1" name="Text 69"/>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2" name="Text 70"/>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3" name="Shape 71"/>
          <p:cNvSpPr/>
          <p:nvPr/>
        </p:nvSpPr>
        <p:spPr>
          <a:xfrm>
            <a:off x="658368" y="4718304"/>
            <a:ext cx="10872216" cy="329184"/>
          </a:xfrm>
          <a:prstGeom prst="rect">
            <a:avLst/>
          </a:prstGeom>
          <a:solidFill>
            <a:srgbClr val="F7F7F7"/>
          </a:solidFill>
          <a:ln/>
        </p:spPr>
      </p:sp>
      <p:sp>
        <p:nvSpPr>
          <p:cNvPr id="74" name="Text 72"/>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5" name="Text 73"/>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6" name="Text 74"/>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7" name="Text 75"/>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8" name="Text 76"/>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9" name="Text 77"/>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11.4%</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4.3%</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3" name="Text 91"/>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6" name="Text 94"/>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7" name="Shape 15"/>
          <p:cNvSpPr/>
          <p:nvPr/>
        </p:nvSpPr>
        <p:spPr>
          <a:xfrm>
            <a:off x="3374390" y="658368"/>
            <a:ext cx="8357362" cy="475488"/>
          </a:xfrm>
          <a:prstGeom prst="rect">
            <a:avLst/>
          </a:prstGeom>
          <a:solidFill>
            <a:srgbClr val="EDF4FA"/>
          </a:solidFill>
          <a:ln/>
        </p:spPr>
      </p:sp>
      <p:sp>
        <p:nvSpPr>
          <p:cNvPr id="18" name="Text 16"/>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2.6%</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0" name="Shape 38"/>
          <p:cNvSpPr/>
          <p:nvPr/>
        </p:nvSpPr>
        <p:spPr>
          <a:xfrm>
            <a:off x="658368" y="3066898"/>
            <a:ext cx="10872216" cy="10973"/>
          </a:xfrm>
          <a:prstGeom prst="rect">
            <a:avLst/>
          </a:prstGeom>
          <a:solidFill>
            <a:srgbClr val="9AA3AD"/>
          </a:solidFill>
          <a:ln/>
        </p:spPr>
      </p:sp>
      <p:sp>
        <p:nvSpPr>
          <p:cNvPr id="41" name="Text 39"/>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2" name="Text 40"/>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3" name="Text 41"/>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4" name="Text 42"/>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5" name="Text 43"/>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6" name="Text 44"/>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7" name="Shape 45"/>
          <p:cNvSpPr/>
          <p:nvPr/>
        </p:nvSpPr>
        <p:spPr>
          <a:xfrm>
            <a:off x="658368" y="3401568"/>
            <a:ext cx="10872216" cy="329184"/>
          </a:xfrm>
          <a:prstGeom prst="rect">
            <a:avLst/>
          </a:prstGeom>
          <a:solidFill>
            <a:srgbClr val="F7F7F7"/>
          </a:solidFill>
          <a:ln/>
        </p:spPr>
      </p:sp>
      <p:sp>
        <p:nvSpPr>
          <p:cNvPr id="48" name="Text 46"/>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9" name="Text 47"/>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0" name="Text 48"/>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1" name="Text 49"/>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2" name="Text 50"/>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3" name="Text 51"/>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7" name="Shape 15"/>
          <p:cNvSpPr/>
          <p:nvPr/>
        </p:nvSpPr>
        <p:spPr>
          <a:xfrm>
            <a:off x="3468624" y="658368"/>
            <a:ext cx="8263128" cy="475488"/>
          </a:xfrm>
          <a:prstGeom prst="rect">
            <a:avLst/>
          </a:prstGeom>
          <a:solidFill>
            <a:srgbClr val="EDF4FA"/>
          </a:solidFill>
          <a:ln/>
        </p:spPr>
      </p:sp>
      <p:sp>
        <p:nvSpPr>
          <p:cNvPr id="18" name="Text 16"/>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20.7%   ·   2nd · Hours per RO 3.99   ·   2nd · CP labor $/RO $931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6" name="Shape 44"/>
          <p:cNvSpPr/>
          <p:nvPr/>
        </p:nvSpPr>
        <p:spPr>
          <a:xfrm>
            <a:off x="658368" y="3396082"/>
            <a:ext cx="10872216" cy="10973"/>
          </a:xfrm>
          <a:prstGeom prst="rect">
            <a:avLst/>
          </a:prstGeom>
          <a:solidFill>
            <a:srgbClr val="9AA3AD"/>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4.6%</a:t>
            </a:r>
            <a:endParaRPr lang="en-US" sz="15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12.9%</a:t>
            </a:r>
            <a:endParaRPr lang="en-US" sz="15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8.5%</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13.2%</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59" name="Shape 57"/>
          <p:cNvSpPr/>
          <p:nvPr/>
        </p:nvSpPr>
        <p:spPr>
          <a:xfrm>
            <a:off x="658368" y="4054450"/>
            <a:ext cx="10872216" cy="10973"/>
          </a:xfrm>
          <a:prstGeom prst="rect">
            <a:avLst/>
          </a:prstGeom>
          <a:solidFill>
            <a:srgbClr val="9AA3AD"/>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7" name="Shape 15"/>
          <p:cNvSpPr/>
          <p:nvPr/>
        </p:nvSpPr>
        <p:spPr>
          <a:xfrm>
            <a:off x="9216898" y="658368"/>
            <a:ext cx="2514854" cy="475488"/>
          </a:xfrm>
          <a:prstGeom prst="rect">
            <a:avLst/>
          </a:prstGeom>
          <a:solidFill>
            <a:srgbClr val="EDF4FA"/>
          </a:solidFill>
          <a:ln/>
        </p:spPr>
      </p:sp>
      <p:sp>
        <p:nvSpPr>
          <p:cNvPr id="18" name="Text 16"/>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7" name="Shape 15"/>
          <p:cNvSpPr/>
          <p:nvPr/>
        </p:nvSpPr>
        <p:spPr>
          <a:xfrm>
            <a:off x="6201410" y="658368"/>
            <a:ext cx="5530342" cy="475488"/>
          </a:xfrm>
          <a:prstGeom prst="rect">
            <a:avLst/>
          </a:prstGeom>
          <a:solidFill>
            <a:srgbClr val="EDF4FA"/>
          </a:solidFill>
          <a:ln/>
        </p:spPr>
      </p:sp>
      <p:sp>
        <p:nvSpPr>
          <p:cNvPr id="18" name="Text 16"/>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7" name="Shape 15"/>
          <p:cNvSpPr/>
          <p:nvPr/>
        </p:nvSpPr>
        <p:spPr>
          <a:xfrm>
            <a:off x="6107176" y="658368"/>
            <a:ext cx="5624576" cy="475488"/>
          </a:xfrm>
          <a:prstGeom prst="rect">
            <a:avLst/>
          </a:prstGeom>
          <a:solidFill>
            <a:srgbClr val="EDF4FA"/>
          </a:solidFill>
          <a:ln/>
        </p:spPr>
      </p:sp>
      <p:sp>
        <p:nvSpPr>
          <p:cNvPr id="18" name="Text 16"/>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7" name="Shape 15"/>
          <p:cNvSpPr/>
          <p:nvPr/>
        </p:nvSpPr>
        <p:spPr>
          <a:xfrm>
            <a:off x="6295644" y="658368"/>
            <a:ext cx="5436108" cy="475488"/>
          </a:xfrm>
          <a:prstGeom prst="rect">
            <a:avLst/>
          </a:prstGeom>
          <a:solidFill>
            <a:srgbClr val="EDF4FA"/>
          </a:solidFill>
          <a:ln/>
        </p:spPr>
      </p:sp>
      <p:sp>
        <p:nvSpPr>
          <p:cNvPr id="18" name="Text 16"/>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6.5%</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5" name="Shape 83"/>
          <p:cNvSpPr/>
          <p:nvPr/>
        </p:nvSpPr>
        <p:spPr>
          <a:xfrm>
            <a:off x="658368" y="5371186"/>
            <a:ext cx="10872216" cy="10973"/>
          </a:xfrm>
          <a:prstGeom prst="rect">
            <a:avLst/>
          </a:prstGeom>
          <a:solidFill>
            <a:srgbClr val="9AA3AD"/>
          </a:solidFill>
          <a:ln/>
        </p:spPr>
      </p:sp>
      <p:sp>
        <p:nvSpPr>
          <p:cNvPr id="86" name="Text 84"/>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8" name="Text 86"/>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89" name="Text 87"/>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0" name="Text 88"/>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2" name="Text 90"/>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4" name="Text 92"/>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5" name="Text 93"/>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6" name="Text 94"/>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4.3%</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0.5%</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5" name="Shape 83"/>
          <p:cNvSpPr/>
          <p:nvPr/>
        </p:nvSpPr>
        <p:spPr>
          <a:xfrm>
            <a:off x="658368" y="5328666"/>
            <a:ext cx="10872216" cy="323850"/>
          </a:xfrm>
          <a:prstGeom prst="rect">
            <a:avLst/>
          </a:prstGeom>
          <a:solidFill>
            <a:srgbClr val="F7F7F7"/>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2" name="Shape 90"/>
          <p:cNvSpPr/>
          <p:nvPr/>
        </p:nvSpPr>
        <p:spPr>
          <a:xfrm>
            <a:off x="658368" y="5647030"/>
            <a:ext cx="10872216" cy="10973"/>
          </a:xfrm>
          <a:prstGeom prst="rect">
            <a:avLst/>
          </a:prstGeom>
          <a:solidFill>
            <a:srgbClr val="9AA3AD"/>
          </a:solidFill>
          <a:ln/>
        </p:spPr>
      </p:sp>
      <p:sp>
        <p:nvSpPr>
          <p:cNvPr id="93" name="Text 91"/>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5" name="Text 93"/>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6" name="Text 94"/>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7" name="Text 95"/>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99" name="Shape 97"/>
          <p:cNvSpPr/>
          <p:nvPr/>
        </p:nvSpPr>
        <p:spPr>
          <a:xfrm>
            <a:off x="658368" y="5976366"/>
            <a:ext cx="10872216" cy="323850"/>
          </a:xfrm>
          <a:prstGeom prst="rect">
            <a:avLst/>
          </a:prstGeom>
          <a:solidFill>
            <a:srgbClr val="F7F7F7"/>
          </a:solidFill>
          <a:ln/>
        </p:spPr>
      </p:sp>
      <p:sp>
        <p:nvSpPr>
          <p:cNvPr id="100" name="Text 98"/>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2" name="Text 100"/>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3" name="Text 101"/>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4" name="Text 102"/>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7" name="Shape 15"/>
          <p:cNvSpPr/>
          <p:nvPr/>
        </p:nvSpPr>
        <p:spPr>
          <a:xfrm>
            <a:off x="4787900" y="658368"/>
            <a:ext cx="6943852" cy="475488"/>
          </a:xfrm>
          <a:prstGeom prst="rect">
            <a:avLst/>
          </a:prstGeom>
          <a:solidFill>
            <a:srgbClr val="EDF4FA"/>
          </a:solidFill>
          <a:ln/>
        </p:spPr>
      </p:sp>
      <p:sp>
        <p:nvSpPr>
          <p:cNvPr id="18" name="Text 16"/>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6" name="Shape 64"/>
          <p:cNvSpPr/>
          <p:nvPr/>
        </p:nvSpPr>
        <p:spPr>
          <a:xfrm>
            <a:off x="658368" y="4383634"/>
            <a:ext cx="10872216" cy="10973"/>
          </a:xfrm>
          <a:prstGeom prst="rect">
            <a:avLst/>
          </a:prstGeom>
          <a:solidFill>
            <a:srgbClr val="9AA3AD"/>
          </a:solidFill>
          <a:ln/>
        </p:spPr>
      </p:sp>
      <p:sp>
        <p:nvSpPr>
          <p:cNvPr id="67" name="Text 65"/>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8" name="Text 66"/>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9" name="Text 67"/>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0" name="Text 68"/>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1" name="Text 69"/>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2" name="Text 70"/>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7" name="Shape 15"/>
          <p:cNvSpPr/>
          <p:nvPr/>
        </p:nvSpPr>
        <p:spPr>
          <a:xfrm>
            <a:off x="457200" y="2011680"/>
            <a:ext cx="11274552" cy="4343400"/>
          </a:xfrm>
          <a:prstGeom prst="rect">
            <a:avLst/>
          </a:prstGeom>
          <a:solidFill>
            <a:srgbClr val="FFFFFF"/>
          </a:solidFill>
          <a:ln/>
        </p:spPr>
      </p:sp>
      <p:sp>
        <p:nvSpPr>
          <p:cNvPr id="18" name="Text 16"/>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19" name="Text 17"/>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0" name="Text 18"/>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1" name="Text 19"/>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2" name="Text 20"/>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3" name="Text 21"/>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4" name="Shape 22"/>
          <p:cNvSpPr/>
          <p:nvPr/>
        </p:nvSpPr>
        <p:spPr>
          <a:xfrm>
            <a:off x="658368" y="2368296"/>
            <a:ext cx="10872216" cy="10973"/>
          </a:xfrm>
          <a:prstGeom prst="rect">
            <a:avLst/>
          </a:prstGeom>
          <a:solidFill>
            <a:srgbClr val="1A1A1A"/>
          </a:solidFill>
          <a:ln/>
        </p:spPr>
      </p:sp>
      <p:sp>
        <p:nvSpPr>
          <p:cNvPr id="25" name="Text 23"/>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6" name="Text 24"/>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7" name="Text 25"/>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28" name="Text 26"/>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29" name="Text 27"/>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0" name="Text 28"/>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1" name="Shape 29"/>
          <p:cNvSpPr/>
          <p:nvPr/>
        </p:nvSpPr>
        <p:spPr>
          <a:xfrm>
            <a:off x="658368" y="2712954"/>
            <a:ext cx="10872216" cy="298938"/>
          </a:xfrm>
          <a:prstGeom prst="rect">
            <a:avLst/>
          </a:prstGeom>
          <a:solidFill>
            <a:srgbClr val="F7F7F7"/>
          </a:solidFill>
          <a:ln/>
        </p:spPr>
      </p:sp>
      <p:sp>
        <p:nvSpPr>
          <p:cNvPr id="32" name="Text 30"/>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3" name="Text 31"/>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4" name="Text 32"/>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5" name="Text 33"/>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6" name="Text 34"/>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7" name="Text 35"/>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8" name="Text 36"/>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39" name="Text 37"/>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0" name="Text 38"/>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1" name="Text 39"/>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2" name="Text 40"/>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3" name="Text 41"/>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4" name="Shape 42"/>
          <p:cNvSpPr/>
          <p:nvPr/>
        </p:nvSpPr>
        <p:spPr>
          <a:xfrm>
            <a:off x="658368" y="3310831"/>
            <a:ext cx="10872216" cy="298938"/>
          </a:xfrm>
          <a:prstGeom prst="rect">
            <a:avLst/>
          </a:prstGeom>
          <a:solidFill>
            <a:srgbClr val="F7F7F7"/>
          </a:solidFill>
          <a:ln/>
        </p:spPr>
      </p:sp>
      <p:sp>
        <p:nvSpPr>
          <p:cNvPr id="45" name="Text 43"/>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6" name="Text 44"/>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7" name="Text 45"/>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48" name="Text 46"/>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9" name="Text 47"/>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0" name="Text 48"/>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1" name="Text 49"/>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2" name="Text 50"/>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3" name="Text 51"/>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4" name="Text 52"/>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5" name="Text 53"/>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6" name="Text 54"/>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7" name="Shape 55"/>
          <p:cNvSpPr/>
          <p:nvPr/>
        </p:nvSpPr>
        <p:spPr>
          <a:xfrm>
            <a:off x="658368" y="3908708"/>
            <a:ext cx="10872216" cy="298938"/>
          </a:xfrm>
          <a:prstGeom prst="rect">
            <a:avLst/>
          </a:prstGeom>
          <a:solidFill>
            <a:srgbClr val="F7F7F7"/>
          </a:solidFill>
          <a:ln/>
        </p:spPr>
      </p:sp>
      <p:sp>
        <p:nvSpPr>
          <p:cNvPr id="58" name="Text 56"/>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59" name="Text 57"/>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0" name="Text 58"/>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1" name="Text 59"/>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2" name="Text 60"/>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3" name="Text 61"/>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4" name="Text 62"/>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5" name="Text 63"/>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6" name="Text 64"/>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7" name="Text 65"/>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8" name="Text 66"/>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69" name="Text 67"/>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0" name="Shape 68"/>
          <p:cNvSpPr/>
          <p:nvPr/>
        </p:nvSpPr>
        <p:spPr>
          <a:xfrm>
            <a:off x="658368" y="4506585"/>
            <a:ext cx="10872216" cy="298938"/>
          </a:xfrm>
          <a:prstGeom prst="rect">
            <a:avLst/>
          </a:prstGeom>
          <a:solidFill>
            <a:srgbClr val="F7F7F7"/>
          </a:solidFill>
          <a:ln/>
        </p:spPr>
      </p:sp>
      <p:sp>
        <p:nvSpPr>
          <p:cNvPr id="71" name="Text 69"/>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2" name="Text 70"/>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3" name="Text 71"/>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4" name="Text 72"/>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5" name="Text 73"/>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6" name="Text 74"/>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7" name="Text 75"/>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78" name="Text 76"/>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9" name="Text 77"/>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0" name="Text 78"/>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1" name="Text 79"/>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2" name="Text 80"/>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3" name="Shape 81"/>
          <p:cNvSpPr/>
          <p:nvPr/>
        </p:nvSpPr>
        <p:spPr>
          <a:xfrm>
            <a:off x="658368" y="5104462"/>
            <a:ext cx="10872216" cy="298938"/>
          </a:xfrm>
          <a:prstGeom prst="rect">
            <a:avLst/>
          </a:prstGeom>
          <a:solidFill>
            <a:srgbClr val="F7F7F7"/>
          </a:solidFill>
          <a:ln/>
        </p:spPr>
      </p:sp>
      <p:sp>
        <p:nvSpPr>
          <p:cNvPr id="84" name="Text 82"/>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5" name="Text 83"/>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6" name="Text 84"/>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7" name="Text 85"/>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8" name="Text 86"/>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9" name="Text 87"/>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0" name="Shape 88"/>
          <p:cNvSpPr/>
          <p:nvPr/>
        </p:nvSpPr>
        <p:spPr>
          <a:xfrm>
            <a:off x="658368" y="5397914"/>
            <a:ext cx="10872216" cy="10973"/>
          </a:xfrm>
          <a:prstGeom prst="rect">
            <a:avLst/>
          </a:prstGeom>
          <a:solidFill>
            <a:srgbClr val="9AA3AD"/>
          </a:solidFill>
          <a:ln/>
        </p:spPr>
      </p:sp>
      <p:sp>
        <p:nvSpPr>
          <p:cNvPr id="91" name="Text 89"/>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2" name="Text 90"/>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3" name="Text 91"/>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4" name="Text 92"/>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5" name="Text 93"/>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6" name="Text 94"/>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7" name="Shape 95"/>
          <p:cNvSpPr/>
          <p:nvPr/>
        </p:nvSpPr>
        <p:spPr>
          <a:xfrm>
            <a:off x="658368" y="5702339"/>
            <a:ext cx="10872216" cy="298938"/>
          </a:xfrm>
          <a:prstGeom prst="rect">
            <a:avLst/>
          </a:prstGeom>
          <a:solidFill>
            <a:srgbClr val="F7F7F7"/>
          </a:solidFill>
          <a:ln/>
        </p:spPr>
      </p:sp>
      <p:sp>
        <p:nvSpPr>
          <p:cNvPr id="98" name="Text 96"/>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99" name="Text 97"/>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0" name="Text 98"/>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1" name="Text 99"/>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2" name="Text 100"/>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3" name="Text 101"/>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4" name="Text 102"/>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5" name="Text 103"/>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6" name="Text 104"/>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7" name="Text 105"/>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8" name="Text 106"/>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9" name="Text 107"/>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CLOSE · BEFORE YOU LEAVE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2026-10-27T23:33:43Z</dcterms:created>
  <dcterms:modified xsi:type="dcterms:W3CDTF">2026-10-27T23:33:43Z</dcterms:modified>
</cp:coreProperties>
</file>