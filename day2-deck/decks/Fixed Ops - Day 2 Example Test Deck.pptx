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59" r:id="rId5"/>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60" r:id="rId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261" r:id="rId7"/>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262" r:id="rId8"/>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263" r:id="rId9"/>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264" r:id="rId10"/>
    <p:sldId id="392" r:id="rId143"/>
    <p:sldId id="393" r:id="rId144"/>
    <p:sldId id="394" r:id="rId145"/>
    <p:sldId id="395" r:id="rId146"/>
    <p:sldId id="396" r:id="rId147"/>
    <p:sldId id="397" r:id="rId148"/>
    <p:sldId id="398" r:id="rId149"/>
    <p:sldId id="399" r:id="rId150"/>
    <p:sldId id="400" r:id="rId151"/>
    <p:sldId id="265" r:id="rId11"/>
    <p:sldId id="401" r:id="rId152"/>
    <p:sldId id="402" r:id="rId153"/>
    <p:sldId id="403" r:id="rId154"/>
    <p:sldId id="404" r:id="rId155"/>
    <p:sldId id="405" r:id="rId156"/>
    <p:sldId id="406" r:id="rId157"/>
    <p:sldId id="266" r:id="rId12"/>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
                </c:pt>
                <c:pt idx="8">
                  <c:v/>
                </c:pt>
                <c:pt idx="9">
                  <c:v>14227</c:v>
                </c:pt>
                <c:pt idx="10">
                  <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14622</c:v>
                </c:pt>
                <c:pt idx="8">
                  <c:v>13082</c:v>
                </c:pt>
                <c:pt idx="9">
                  <c:v/>
                </c:pt>
                <c:pt idx="10">
                  <c:v>12951</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14622</c:v>
                </c:pt>
                <c:pt idx="8">
                  <c:v>13082</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a:p>
            <a:r>
              <a:t>Added Oct 22 (Noah): profit-generating activities and incremental dollars; working on the business versus in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express visits and a complete MPI go hand in hand).</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MPI and Video Completion %, ahead of the op code closing % slides (moved out of Internal, Oct 23).</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every store, gross a year above (+) or below (-) the benchmark at the store's own gross per service; group gross per service $129.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−$225K a year at $90/service</a:t>
            </a:r>
          </a:p>
          <a:p>
            <a:r>
              <a:t>TOYOTA FLAGSTAFF: 9.7%, −$90K a year at $84/service</a:t>
            </a:r>
          </a:p>
          <a:p>
            <a:r>
              <a:t>NISSAN: 7.4%, −$83K a year at $119/service</a:t>
            </a:r>
          </a:p>
          <a:p>
            <a:r>
              <a:t>KIA LV: 9.7%, −$77K a year at $135/service</a:t>
            </a:r>
          </a:p>
          <a:p>
            <a:r>
              <a:t>CHEVY LV: 12.8%, −$75K a year at $136/service</a:t>
            </a:r>
          </a:p>
          <a:p>
            <a:r>
              <a:t>CDJR POST FALLS: 4.2%, −$57K a year at $74/service</a:t>
            </a:r>
          </a:p>
          <a:p>
            <a:r>
              <a:t>TOYOTA PRESCOTT: 12.3%, −$49K a year at $103/service</a:t>
            </a:r>
          </a:p>
          <a:p>
            <a:r>
              <a:t>KIA ST GEORGE: 8.0%, −$38K a year at $105/service</a:t>
            </a:r>
          </a:p>
          <a:p>
            <a:r>
              <a:t>HONDA SPOKANE: 12.5%, −$36K a year at $124/service</a:t>
            </a:r>
          </a:p>
          <a:p>
            <a:r>
              <a:t>AUDI RENO: 11.8%, −$34K a year at $230/service</a:t>
            </a:r>
          </a:p>
          <a:p>
            <a:r>
              <a:t>TOYOTA HENDERSON: 14.5%, −$33K a year at $102/service</a:t>
            </a:r>
          </a:p>
          <a:p>
            <a:r>
              <a:t>LEXUS: 11.3%, −$33K a year at $147/service</a:t>
            </a:r>
          </a:p>
          <a:p>
            <a:r>
              <a:t>LINCOLN: 8.4%, −$26K a year at $114/service</a:t>
            </a:r>
          </a:p>
          <a:p>
            <a:r>
              <a:t>CHEVY GMC BULLHEAD: 11.1%, −$25K a year at $78/service</a:t>
            </a:r>
          </a:p>
          <a:p>
            <a:r>
              <a:t>VW HENDERSON: 13.6%, −$23K a year at $245/service</a:t>
            </a:r>
          </a:p>
          <a:p>
            <a:r>
              <a:t>SUBARU ST GEORGE: 11.0%, −$23K a year at $78/service</a:t>
            </a:r>
          </a:p>
          <a:p>
            <a:r>
              <a:t>HONDA FLAGSTAFF: 11.0%, −$21K a year at $100/service</a:t>
            </a:r>
          </a:p>
          <a:p>
            <a:r>
              <a:t>VW ST GEORGE: 5.6%, −$18K a year at $74/service</a:t>
            </a:r>
          </a:p>
          <a:p>
            <a:r>
              <a:t>SUBARU PRESCOTT: 12.5%, −$12K a year at $73/service</a:t>
            </a:r>
          </a:p>
          <a:p>
            <a:r>
              <a:t>GMC PRESCOTT: 11.7%, −$11K a year at $85/service</a:t>
            </a:r>
          </a:p>
          <a:p>
            <a:r>
              <a:t>LR RENO: 12.8%, −$10K a year at $259/service (capped; raw $715/service)</a:t>
            </a:r>
          </a:p>
          <a:p>
            <a:r>
              <a:t>SUBARU LV: 14.5%, −$10K a year at $117/service</a:t>
            </a:r>
          </a:p>
          <a:p>
            <a:r>
              <a:t>CADILLAC: 13.8%, −$9K a year at $115/service</a:t>
            </a:r>
          </a:p>
          <a:p>
            <a:r>
              <a:t>VOLVO: 13.8%, −$7K a year at $142/service</a:t>
            </a:r>
          </a:p>
          <a:p>
            <a:r>
              <a:t>HYUNDAI ST GEORGE: 14.8%, −$865 a year at $121/service</a:t>
            </a:r>
          </a:p>
          <a:p>
            <a:r>
              <a:t>ACURA: 17.5%, +$14K a year at $117/service</a:t>
            </a:r>
          </a:p>
          <a:p>
            <a:r>
              <a:t>MAZDA: 16.6%, +$17K a year at $132/service</a:t>
            </a:r>
          </a:p>
          <a:p>
            <a:r>
              <a:t>LR LV: 17.3%, +$23K a year at $210/service</a:t>
            </a:r>
          </a:p>
          <a:p>
            <a:r>
              <a:t>HONDA NORTH: 16.1%, +$27K a year at $112/service</a:t>
            </a:r>
          </a:p>
          <a:p>
            <a:r>
              <a:t>LR HENDERSON: 24.4%, +$41K a year at $209/service</a:t>
            </a:r>
          </a:p>
          <a:p>
            <a:r>
              <a:t>HYUNDAI PRESCOTT: 21.7%, +$42K a year at $228/service</a:t>
            </a:r>
          </a:p>
          <a:p>
            <a:r>
              <a:t>AUDI HENDERSON: 27.5%, +$163K a year at $259/service (capped; raw $390/service)</a:t>
            </a:r>
          </a:p>
          <a:p>
            <a:r>
              <a:t>HONDA HENDERSON: 21.3%, +$229K a year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every store, gross a year above (+) or below (-) the benchmark at the store's own gross per service; group gross per service $75.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−$180K a year at $53/service</a:t>
            </a:r>
          </a:p>
          <a:p>
            <a:r>
              <a:t>TOYOTA HENDERSON: 11.2%, −$147K a year at $55/service</a:t>
            </a:r>
          </a:p>
          <a:p>
            <a:r>
              <a:t>TOYOTA PRESCOTT: 6.1%, −$132K a year at $83/service</a:t>
            </a:r>
          </a:p>
          <a:p>
            <a:r>
              <a:t>SUBARU ST GEORGE: 3.6%, −$125K a year at $149/service (capped; raw $247/service)</a:t>
            </a:r>
          </a:p>
          <a:p>
            <a:r>
              <a:t>TOYOTA FLAGSTAFF: 4.9%, −$109K a year at $54/service</a:t>
            </a:r>
          </a:p>
          <a:p>
            <a:r>
              <a:t>CHEVY LV: 7.3%, −$106K a year at $53/service</a:t>
            </a:r>
          </a:p>
          <a:p>
            <a:r>
              <a:t>HONDA SPOKANE: 2.1%, −$80K a year at $52/service</a:t>
            </a:r>
          </a:p>
          <a:p>
            <a:r>
              <a:t>NISSAN: 1.0%, −$77K a year at $59/service</a:t>
            </a:r>
          </a:p>
          <a:p>
            <a:r>
              <a:t>CDJR POST FALLS: 1.2%, −$73K a year at $75/service</a:t>
            </a:r>
          </a:p>
          <a:p>
            <a:r>
              <a:t>KIA LV: 5.2%, −$72K a year at $68/service</a:t>
            </a:r>
          </a:p>
          <a:p>
            <a:r>
              <a:t>LEXUS: 0.0%, −$68K a year at $75/service (group avg)</a:t>
            </a:r>
          </a:p>
          <a:p>
            <a:r>
              <a:t>SUBARU LV: 10.2%, −$68K a year at $75/service</a:t>
            </a:r>
          </a:p>
          <a:p>
            <a:r>
              <a:t>AUDI HENDERSON: 0.0%, −$56K a year at $75/service (group avg)</a:t>
            </a:r>
          </a:p>
          <a:p>
            <a:r>
              <a:t>AUDI RENO: 0.1%, −$52K a year at $75/service (group avg)</a:t>
            </a:r>
          </a:p>
          <a:p>
            <a:r>
              <a:t>HONDA FLAGSTAFF: 1.3%, −$52K a year at $70/service</a:t>
            </a:r>
          </a:p>
          <a:p>
            <a:r>
              <a:t>HONDA NORTH: 12.0%, −$38K a year at $64/service</a:t>
            </a:r>
          </a:p>
          <a:p>
            <a:r>
              <a:t>HYUNDAI ST GEORGE: 1.2%, −$36K a year at $58/service</a:t>
            </a:r>
          </a:p>
          <a:p>
            <a:r>
              <a:t>LINCOLN: 1.6%, −$31K a year at $66/service</a:t>
            </a:r>
          </a:p>
          <a:p>
            <a:r>
              <a:t>VW ST GEORGE: 0.4%, −$28K a year at $75/service (group avg)</a:t>
            </a:r>
          </a:p>
          <a:p>
            <a:r>
              <a:t>VW HENDERSON: 8.2%, −$27K a year at $60/service</a:t>
            </a:r>
          </a:p>
          <a:p>
            <a:r>
              <a:t>GMC PRESCOTT: 7.7%, −$27K a year at $90/service</a:t>
            </a:r>
          </a:p>
          <a:p>
            <a:r>
              <a:t>CHEVY GMC BULLHEAD: 9.0%, −$21K a year at $42/service</a:t>
            </a:r>
          </a:p>
          <a:p>
            <a:r>
              <a:t>KIA ST GEORGE: 7.7%, −$18K a year at $48/service</a:t>
            </a:r>
          </a:p>
          <a:p>
            <a:r>
              <a:t>CADILLAC: 5.9%, −$14K a year at $22/service</a:t>
            </a:r>
          </a:p>
          <a:p>
            <a:r>
              <a:t>MAZDA: 13.1%, −$11K a year at $79/service</a:t>
            </a:r>
          </a:p>
          <a:p>
            <a:r>
              <a:t>VOLVO: 11.7%, −$8K a year at $51/service</a:t>
            </a:r>
          </a:p>
          <a:p>
            <a:r>
              <a:t>HYUNDAI PRESCOTT: 13.5%, −$6K a year at $149/service (capped; raw $311/service)</a:t>
            </a:r>
          </a:p>
          <a:p>
            <a:r>
              <a:t>ACURA: 14.1%, −$3K a year at $64/service</a:t>
            </a:r>
          </a:p>
          <a:p>
            <a:r>
              <a:t>SUBARU PRESCOTT: 14.9%, −$34 a year at $34/service</a:t>
            </a:r>
          </a:p>
          <a:p>
            <a:r>
              <a:t>LR RENO: 16.9%, +$6K a year at $149/service (capped; raw $647/service)</a:t>
            </a:r>
          </a:p>
          <a:p>
            <a:r>
              <a:t>LR LV: 16.9%, +$14K a year at $149/service</a:t>
            </a:r>
          </a:p>
          <a:p>
            <a:r>
              <a:t>LR HENDERSON: 27.0%, +$31K a year at $122/service</a:t>
            </a:r>
          </a:p>
          <a:p>
            <a:r>
              <a:t>HONDA HENDERSON: 18.4%, +$70K a year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every store, gross a year above (+) or below (-) the benchmark at the store's own gross per service; group gross per service $189.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−$151K a year at $138/service</a:t>
            </a:r>
          </a:p>
          <a:p>
            <a:r>
              <a:t>TOYOTA SPOKANE: 7.0%, −$80K a year at $117/service</a:t>
            </a:r>
          </a:p>
          <a:p>
            <a:r>
              <a:t>AUDI RENO: 1.9%, −$78K a year at $206/service</a:t>
            </a:r>
          </a:p>
          <a:p>
            <a:r>
              <a:t>AUDI HENDERSON: 2.4%, −$74K a year at $196/service</a:t>
            </a:r>
          </a:p>
          <a:p>
            <a:r>
              <a:t>HONDA FLAGSTAFF: 3.1%, −$67K a year at $184/service</a:t>
            </a:r>
          </a:p>
          <a:p>
            <a:r>
              <a:t>CADILLAC: 4.6%, −$57K a year at $150/service</a:t>
            </a:r>
          </a:p>
          <a:p>
            <a:r>
              <a:t>CDJR POST FALLS: 4.2%, −$53K a year at $128/service</a:t>
            </a:r>
          </a:p>
          <a:p>
            <a:r>
              <a:t>TOYOTA FLAGSTAFF: 8.0%, −$48K a year at $123/service</a:t>
            </a:r>
          </a:p>
          <a:p>
            <a:r>
              <a:t>TOYOTA PRESCOTT: 8.4%, −$32K a year at $112/service</a:t>
            </a:r>
          </a:p>
          <a:p>
            <a:r>
              <a:t>HYUNDAI ST GEORGE: 4.7%, −$32K a year at $134/service</a:t>
            </a:r>
          </a:p>
          <a:p>
            <a:r>
              <a:t>KIA ST GEORGE: 5.9%, −$25K a year at $119/service</a:t>
            </a:r>
          </a:p>
          <a:p>
            <a:r>
              <a:t>KIA LV: 8.2%, −$22K a year at $120/service</a:t>
            </a:r>
          </a:p>
          <a:p>
            <a:r>
              <a:t>CHEVY GMC BULLHEAD: 7.0%, −$21K a year at $87/service</a:t>
            </a:r>
          </a:p>
          <a:p>
            <a:r>
              <a:t>GMC PRESCOTT: 6.0%, −$21K a year at $127/service</a:t>
            </a:r>
          </a:p>
          <a:p>
            <a:r>
              <a:t>LR RENO: 7.2%, −$20K a year at $377/service (capped; raw $1,380/service)</a:t>
            </a:r>
          </a:p>
          <a:p>
            <a:r>
              <a:t>MAZDA: 8.4%, −$18K a year at $154/service</a:t>
            </a:r>
          </a:p>
          <a:p>
            <a:r>
              <a:t>LEXUS: 8.3%, −$15K a year at $154/service</a:t>
            </a:r>
          </a:p>
          <a:p>
            <a:r>
              <a:t>VW ST GEORGE: 5.4%, −$13K a year at $111/service</a:t>
            </a:r>
          </a:p>
          <a:p>
            <a:r>
              <a:t>LINCOLN: 7.5%, −$11K a year at $126/service</a:t>
            </a:r>
          </a:p>
          <a:p>
            <a:r>
              <a:t>VW HENDERSON: 9.5%, −$4K a year at $134/service</a:t>
            </a:r>
          </a:p>
          <a:p>
            <a:r>
              <a:t>HYUNDAI PRESCOTT: 9.6%, −$3K a year at $354/service</a:t>
            </a:r>
          </a:p>
          <a:p>
            <a:r>
              <a:t>HONDA SPOKANE: 10.3%, +$5K a year at $126/service</a:t>
            </a:r>
          </a:p>
          <a:p>
            <a:r>
              <a:t>TOYOTA HENDERSON: 10.0%, +$7K a year at $141/service</a:t>
            </a:r>
          </a:p>
          <a:p>
            <a:r>
              <a:t>SUBARU LV: 10.1%, +$9K a year at $333/service</a:t>
            </a:r>
          </a:p>
          <a:p>
            <a:r>
              <a:t>SUBARU PRESCOTT: 10.6%, +$16K a year at $377/service (capped; raw $380/service)</a:t>
            </a:r>
          </a:p>
          <a:p>
            <a:r>
              <a:t>ACURA: 12.7%, +$20K a year at $147/service</a:t>
            </a:r>
          </a:p>
          <a:p>
            <a:r>
              <a:t>SUBARU ST GEORGE: 10.7%, +$21K a year at $377/service (capped; raw $489/service)</a:t>
            </a:r>
          </a:p>
          <a:p>
            <a:r>
              <a:t>NISSAN: 11.6%, +$24K a year at $155/service</a:t>
            </a:r>
          </a:p>
          <a:p>
            <a:r>
              <a:t>VOLVO: 11.9%, +$33K a year at $377/service (capped; raw $538/service)</a:t>
            </a:r>
          </a:p>
          <a:p>
            <a:r>
              <a:t>LR HENDERSON: 14.3%, +$34K a year at $377/service (capped; raw $709/service)</a:t>
            </a:r>
          </a:p>
          <a:p>
            <a:r>
              <a:t>HONDA NORTH: 12.1%, +$67K a year at $160/service</a:t>
            </a:r>
          </a:p>
          <a:p>
            <a:r>
              <a:t>LR LV: 20.6%, +$187K a year at $377/service (capped; raw $424/service)</a:t>
            </a:r>
          </a:p>
          <a:p>
            <a:r>
              <a:t>HONDA HENDERSON: 15.5%, +$260K a year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every store, gross a year above (+) or below (-) the benchmark at the store's own gross per service; group gross per service $165.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−$142K a year at $243/service</a:t>
            </a:r>
          </a:p>
          <a:p>
            <a:r>
              <a:t>TOYOTA HENDERSON: 6.0%, −$129K a year at $122/service</a:t>
            </a:r>
          </a:p>
          <a:p>
            <a:r>
              <a:t>TOYOTA FLAGSTAFF: 1.6%, −$109K a year at $93/service</a:t>
            </a:r>
          </a:p>
          <a:p>
            <a:r>
              <a:t>VW HENDERSON: 0.0%, −$85K a year at $165/service (group avg)</a:t>
            </a:r>
          </a:p>
          <a:p>
            <a:r>
              <a:t>KIA LV: 3.2%, −$76K a year at $163/service</a:t>
            </a:r>
          </a:p>
          <a:p>
            <a:r>
              <a:t>HONDA SPOKANE: 3.2%, −$75K a year at $147/service</a:t>
            </a:r>
          </a:p>
          <a:p>
            <a:r>
              <a:t>CHEVY GMC BULLHEAD: 2.7%, −$65K a year at $163/service</a:t>
            </a:r>
          </a:p>
          <a:p>
            <a:r>
              <a:t>NISSAN: 4.1%, −$64K a year at $206/service</a:t>
            </a:r>
          </a:p>
          <a:p>
            <a:r>
              <a:t>AUDI HENDERSON: 0.0%, −$62K a year at $165/service (group avg)</a:t>
            </a:r>
          </a:p>
          <a:p>
            <a:r>
              <a:t>CDJR POST FALLS: 3.0%, −$62K a year at $192/service</a:t>
            </a:r>
          </a:p>
          <a:p>
            <a:r>
              <a:t>HONDA FLAGSTAFF: 0.7%, −$60K a year at $165/service (group avg)</a:t>
            </a:r>
          </a:p>
          <a:p>
            <a:r>
              <a:t>TOYOTA SPOKANE: 5.8%, −$56K a year at $145/service</a:t>
            </a:r>
          </a:p>
          <a:p>
            <a:r>
              <a:t>VOLVO: 0.0%, −$56K a year at $165/service (group avg)</a:t>
            </a:r>
          </a:p>
          <a:p>
            <a:r>
              <a:t>AUDI RENO: 0.8%, −$51K a year at $165/service (group avg)</a:t>
            </a:r>
          </a:p>
          <a:p>
            <a:r>
              <a:t>CADILLAC: 5.1%, −$46K a year at $269/service</a:t>
            </a:r>
          </a:p>
          <a:p>
            <a:r>
              <a:t>LR HENDERSON: 2.5%, −$34K a year at $329/service (capped; raw $774/service)</a:t>
            </a:r>
          </a:p>
          <a:p>
            <a:r>
              <a:t>VW ST GEORGE: 2.7%, −$29K a year at $236/service</a:t>
            </a:r>
          </a:p>
          <a:p>
            <a:r>
              <a:t>MAZDA: 5.2%, −$26K a year at $150/service</a:t>
            </a:r>
          </a:p>
          <a:p>
            <a:r>
              <a:t>LEXUS: 4.2%, −$25K a year at $128/service</a:t>
            </a:r>
          </a:p>
          <a:p>
            <a:r>
              <a:t>LR LV: 5.5%, −$24K a year at $258/service</a:t>
            </a:r>
          </a:p>
          <a:p>
            <a:r>
              <a:t>GMC PRESCOTT: 3.6%, −$21K a year at $133/service</a:t>
            </a:r>
          </a:p>
          <a:p>
            <a:r>
              <a:t>TOYOTA PRESCOTT: 6.4%, −$19K a year at $101/service</a:t>
            </a:r>
          </a:p>
          <a:p>
            <a:r>
              <a:t>LR RENO: 4.5%, −$18K a year at $329/service (capped; raw $1,631/service)</a:t>
            </a:r>
          </a:p>
          <a:p>
            <a:r>
              <a:t>HYUNDAI ST GEORGE: 5.8%, −$13K a year at $176/service</a:t>
            </a:r>
          </a:p>
          <a:p>
            <a:r>
              <a:t>SUBARU LV: 7.0%, −$10K a year at $130/service</a:t>
            </a:r>
          </a:p>
          <a:p>
            <a:r>
              <a:t>HYUNDAI PRESCOTT: 7.3%, −$1K a year at $329/service (capped; raw $459/service)</a:t>
            </a:r>
          </a:p>
          <a:p>
            <a:r>
              <a:t>HONDA NORTH: 7.6%, +$4K a year at $118/service</a:t>
            </a:r>
          </a:p>
          <a:p>
            <a:r>
              <a:t>LINCOLN: 8.2%, +$4K a year at $175/service</a:t>
            </a:r>
          </a:p>
          <a:p>
            <a:r>
              <a:t>KIA ST GEORGE: 8.9%, +$12K a year at $154/service</a:t>
            </a:r>
          </a:p>
          <a:p>
            <a:r>
              <a:t>ACURA: 9.3%, +$13K a year at $145/service</a:t>
            </a:r>
          </a:p>
          <a:p>
            <a:r>
              <a:t>SUBARU PRESCOTT: 9.7%, +$51K a year at $329/service (capped; raw $406/service)</a:t>
            </a:r>
          </a:p>
          <a:p>
            <a:r>
              <a:t>SUBARU ST GEORGE: 13.8%, +$72K a year at $153/service</a:t>
            </a:r>
          </a:p>
          <a:p>
            <a:r>
              <a:t>HONDA HENDERSON: 12.0%, +$185K a year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every store: gross a year above (+) or below (-) the four benchmarks, at the store's own gross per service. Below-benchmark services count against above-benchmark ones here.TOYOTA SPOKANE: −$541K a year against the four benchmarks; under 4 of 4</a:t>
            </a:r>
          </a:p>
          <a:p>
            <a:r>
              <a:t>CHEVY LV: −$475K a year against the four benchmarks; under 4 of 4</a:t>
            </a:r>
          </a:p>
          <a:p>
            <a:r>
              <a:t>TOYOTA FLAGSTAFF: −$356K a year against the four benchmarks; under 4 of 4</a:t>
            </a:r>
          </a:p>
          <a:p>
            <a:r>
              <a:t>TOYOTA HENDERSON: −$302K a year against the four benchmarks; under 3 of 4</a:t>
            </a:r>
          </a:p>
          <a:p>
            <a:r>
              <a:t>KIA LV: −$247K a year against the four benchmarks; under 4 of 4</a:t>
            </a:r>
          </a:p>
          <a:p>
            <a:r>
              <a:t>CDJR POST FALLS: −$245K a year against the four benchmarks; under 4 of 4</a:t>
            </a:r>
          </a:p>
          <a:p>
            <a:r>
              <a:t>TOYOTA PRESCOTT: −$233K a year against the four benchmarks; under 4 of 4</a:t>
            </a:r>
          </a:p>
          <a:p>
            <a:r>
              <a:t>AUDI RENO: −$216K a year against the four benchmarks; under 4 of 4</a:t>
            </a:r>
          </a:p>
          <a:p>
            <a:r>
              <a:t>HONDA FLAGSTAFF: −$200K a year against the four benchmarks; under 4 of 4</a:t>
            </a:r>
          </a:p>
          <a:p>
            <a:r>
              <a:t>NISSAN: −$200K a year against the four benchmarks; under 3 of 4</a:t>
            </a:r>
          </a:p>
          <a:p>
            <a:r>
              <a:t>HONDA SPOKANE: −$186K a year against the four benchmarks; under 3 of 4</a:t>
            </a:r>
          </a:p>
          <a:p>
            <a:r>
              <a:t>LEXUS: −$141K a year against the four benchmarks; under 4 of 4</a:t>
            </a:r>
          </a:p>
          <a:p>
            <a:r>
              <a:t>VW HENDERSON: −$140K a year against the four benchmarks; under 4 of 4</a:t>
            </a:r>
          </a:p>
          <a:p>
            <a:r>
              <a:t>CHEVY GMC BULLHEAD: −$133K a year against the four benchmarks; under 4 of 4</a:t>
            </a:r>
          </a:p>
          <a:p>
            <a:r>
              <a:t>CADILLAC: −$126K a year against the four benchmarks; under 4 of 4</a:t>
            </a:r>
          </a:p>
          <a:p>
            <a:r>
              <a:t>VW ST GEORGE: −$88K a year against the four benchmarks; under 4 of 4</a:t>
            </a:r>
          </a:p>
          <a:p>
            <a:r>
              <a:t>HYUNDAI ST GEORGE: −$81K a year against the four benchmarks; under 4 of 4</a:t>
            </a:r>
          </a:p>
          <a:p>
            <a:r>
              <a:t>GMC PRESCOTT: −$80K a year against the four benchmarks; under 4 of 4</a:t>
            </a:r>
          </a:p>
          <a:p>
            <a:r>
              <a:t>SUBARU LV: −$79K a year against the four benchmarks; under 3 of 4</a:t>
            </a:r>
          </a:p>
          <a:p>
            <a:r>
              <a:t>KIA ST GEORGE: −$70K a year against the four benchmarks; under 3 of 4</a:t>
            </a:r>
          </a:p>
          <a:p>
            <a:r>
              <a:t>LINCOLN: −$64K a year against the four benchmarks; under 3 of 4</a:t>
            </a:r>
          </a:p>
          <a:p>
            <a:r>
              <a:t>SUBARU ST GEORGE: −$55K a year against the four benchmarks; under 2 of 4</a:t>
            </a:r>
          </a:p>
          <a:p>
            <a:r>
              <a:t>LR RENO: −$43K a year against the four benchmarks; under 3 of 4</a:t>
            </a:r>
          </a:p>
          <a:p>
            <a:r>
              <a:t>VOLVO: −$38K a year against the four benchmarks; under 3 of 4</a:t>
            </a:r>
          </a:p>
          <a:p>
            <a:r>
              <a:t>MAZDA: −$38K a year against the four benchmarks; under 3 of 4</a:t>
            </a:r>
          </a:p>
          <a:p>
            <a:r>
              <a:t>AUDI HENDERSON: −$30K a year against the four benchmarks; under 3 of 4</a:t>
            </a:r>
          </a:p>
          <a:p>
            <a:r>
              <a:t>HYUNDAI PRESCOTT: +$31K a year against the four benchmarks; under 3 of 4</a:t>
            </a:r>
          </a:p>
          <a:p>
            <a:r>
              <a:t>ACURA: +$45K a year against the four benchmarks; under 1 of 4</a:t>
            </a:r>
          </a:p>
          <a:p>
            <a:r>
              <a:t>SUBARU PRESCOTT: +$55K a year against the four benchmarks; under 2 of 4</a:t>
            </a:r>
          </a:p>
          <a:p>
            <a:r>
              <a:t>HONDA NORTH: +$60K a year against the four benchmarks; under 1 of 4</a:t>
            </a:r>
          </a:p>
          <a:p>
            <a:r>
              <a:t>LR HENDERSON: +$72K a year against the four benchmarks; under 1 of 4</a:t>
            </a:r>
          </a:p>
          <a:p>
            <a:r>
              <a:t>LR LV: +$201K a year against the four benchmarks; under 1 of 4</a:t>
            </a:r>
          </a:p>
          <a:p>
            <a:r>
              <a:t>HONDA HENDERSON: +$743K a year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YTD RWR Financials 2026 (warranty rate submission vendor), "YTD revenue secured": the added gross profit from approved increases, as more dollars per warranty labor hour sold or more parts markup. 19 stores have an approval this year; the other 14 have not had one yet. Labor $1,661,368, parts $2,126,832. Honda North uses its labor + parts ($463,396), not the vendor's $463,296 total (Noah, Oct 22: take the higher), so the group is $3,788,200 vs the report's $3,788,100.Talk track: these approvals are new money on every warranty claim, and they are why warranty ELR is up. The factory notices a higher rate too: more money in means more scrutiny. Every claim debited in an audit gives part of it back.</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Warranty pay type, by close month; 2025 shown January-December, 2026 January-September. Warranty ELR = warranty labor sale / warranty hours sold; parts margin = warranty parts gross / parts sale. Same-store, INEOS excluded; GMC Prescott body shop labor types excluded.Talk track (Noah, Oct 24): the point is the direction. Rate increases are lifting both warranty ELR and warranty parts margin. The factory notices higher rates: more money in means more scrutiny, so documentation and process on every claim have to be right. Store detail for warranty ELR is no longer in the flow.</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Top and bottom five stores by change in warranty RO count (percent, so store size does not drive the ranking), Jan-Sep 2026 vs 2025. Moving now: Jul-Sep 2026 vs Jan-Mar 2026, each store against itself (monthly averages); the group moved +9.7%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xml"/><Relationship Id="rId3" Type="http://schemas.openxmlformats.org/officeDocument/2006/relationships/chart" Target="../charts/chart13.xml"/><Relationship Id="rId4" Type="http://schemas.openxmlformats.org/officeDocument/2006/relationships/chart" Target="../charts/chart14.xml"/><Relationship Id="rId5" Type="http://schemas.openxmlformats.org/officeDocument/2006/relationships/chart" Target="../charts/chart15.xml"/><Relationship Id="rId6" Type="http://schemas.openxmlformats.org/officeDocument/2006/relationships/chart" Target="../charts/chart16.xml"/><Relationship Id="rId7" Type="http://schemas.openxmlformats.org/officeDocument/2006/relationships/chart" Target="../charts/chart17.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9.xml"/><Relationship Id="rId3" Type="http://schemas.openxmlformats.org/officeDocument/2006/relationships/chart" Target="../charts/chart30.xml"/><Relationship Id="rId4" Type="http://schemas.openxmlformats.org/officeDocument/2006/relationships/chart" Target="../charts/chart31.xml"/><Relationship Id="rId5" Type="http://schemas.openxmlformats.org/officeDocument/2006/relationships/chart" Target="../charts/chart32.xml"/><Relationship Id="rId6" Type="http://schemas.openxmlformats.org/officeDocument/2006/relationships/chart" Target="../charts/chart33.xml"/><Relationship Id="rId7" Type="http://schemas.openxmlformats.org/officeDocument/2006/relationships/chart" Target="../charts/chart34.xml"/><Relationship Id="rId8"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2.xml"/><Relationship Id="rId3" Type="http://schemas.openxmlformats.org/officeDocument/2006/relationships/chart" Target="../charts/chart53.xml"/><Relationship Id="rId4" Type="http://schemas.openxmlformats.org/officeDocument/2006/relationships/chart" Target="../charts/chart54.xml"/><Relationship Id="rId5" Type="http://schemas.openxmlformats.org/officeDocument/2006/relationships/chart" Target="../charts/chart55.xml"/><Relationship Id="rId6" Type="http://schemas.openxmlformats.org/officeDocument/2006/relationships/chart" Target="../charts/chart56.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7.xml"/><Relationship Id="rId3" Type="http://schemas.openxmlformats.org/officeDocument/2006/relationships/chart" Target="../charts/chart58.xml"/><Relationship Id="rId4" Type="http://schemas.openxmlformats.org/officeDocument/2006/relationships/chart" Target="../charts/chart59.xml"/><Relationship Id="rId5" Type="http://schemas.openxmlformats.org/officeDocument/2006/relationships/chart" Target="../charts/chart60.xml"/><Relationship Id="rId6" Type="http://schemas.openxmlformats.org/officeDocument/2006/relationships/chart" Target="../charts/chart61.xml"/><Relationship Id="rId7"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2.xml"/><Relationship Id="rId3" Type="http://schemas.openxmlformats.org/officeDocument/2006/relationships/chart" Target="../charts/chart63.xml"/><Relationship Id="rId4" Type="http://schemas.openxmlformats.org/officeDocument/2006/relationships/chart" Target="../charts/chart64.xml"/><Relationship Id="rId5" Type="http://schemas.openxmlformats.org/officeDocument/2006/relationships/chart" Target="../charts/chart65.xml"/><Relationship Id="rId6" Type="http://schemas.openxmlformats.org/officeDocument/2006/relationships/chart" Target="../charts/chart66.xml"/><Relationship Id="rId7" Type="http://schemas.openxmlformats.org/officeDocument/2006/relationships/chart" Target="../charts/chart67.xml"/><Relationship Id="rId8" Type="http://schemas.openxmlformats.org/officeDocument/2006/relationships/chart" Target="../charts/chart68.xml"/><Relationship Id="rId9" Type="http://schemas.openxmlformats.org/officeDocument/2006/relationships/chart" Target="../charts/chart69.xml"/><Relationship Id="rId10"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0.xml"/><Relationship Id="rId3" Type="http://schemas.openxmlformats.org/officeDocument/2006/relationships/chart" Target="../charts/chart71.xml"/><Relationship Id="rId4" Type="http://schemas.openxmlformats.org/officeDocument/2006/relationships/chart" Target="../charts/chart72.xml"/><Relationship Id="rId5" Type="http://schemas.openxmlformats.org/officeDocument/2006/relationships/chart" Target="../charts/chart73.xml"/><Relationship Id="rId6" Type="http://schemas.openxmlformats.org/officeDocument/2006/relationships/chart" Target="../charts/chart74.xml"/><Relationship Id="rId7"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5.xml"/><Relationship Id="rId3" Type="http://schemas.openxmlformats.org/officeDocument/2006/relationships/chart" Target="../charts/chart76.xml"/><Relationship Id="rId4" Type="http://schemas.openxmlformats.org/officeDocument/2006/relationships/chart" Target="../charts/chart77.xml"/><Relationship Id="rId5" Type="http://schemas.openxmlformats.org/officeDocument/2006/relationships/chart" Target="../charts/chart78.xml"/><Relationship Id="rId6" Type="http://schemas.openxmlformats.org/officeDocument/2006/relationships/chart" Target="../charts/chart79.xml"/><Relationship Id="rId7" Type="http://schemas.openxmlformats.org/officeDocument/2006/relationships/chart" Target="../charts/chart80.xml"/><Relationship Id="rId8"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2.xml"/><Relationship Id="rId3" Type="http://schemas.openxmlformats.org/officeDocument/2006/relationships/chart" Target="../charts/chart123.xml"/><Relationship Id="rId4" Type="http://schemas.openxmlformats.org/officeDocument/2006/relationships/chart" Target="../charts/chart124.xml"/><Relationship Id="rId5" Type="http://schemas.openxmlformats.org/officeDocument/2006/relationships/chart" Target="../charts/chart125.xml"/><Relationship Id="rId6" Type="http://schemas.openxmlformats.org/officeDocument/2006/relationships/chart" Target="../charts/chart126.xml"/><Relationship Id="rId7"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7.xml"/><Relationship Id="rId3" Type="http://schemas.openxmlformats.org/officeDocument/2006/relationships/chart" Target="../charts/chart128.xml"/><Relationship Id="rId4"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9.xml"/><Relationship Id="rId3" Type="http://schemas.openxmlformats.org/officeDocument/2006/relationships/chart" Target="../charts/chart130.xml"/><Relationship Id="rId4" Type="http://schemas.openxmlformats.org/officeDocument/2006/relationships/chart" Target="../charts/chart131.xml"/><Relationship Id="rId5" Type="http://schemas.openxmlformats.org/officeDocument/2006/relationships/chart" Target="../charts/chart132.xml"/><Relationship Id="rId6" Type="http://schemas.openxmlformats.org/officeDocument/2006/relationships/chart" Target="../charts/chart133.xml"/><Relationship Id="rId7" Type="http://schemas.openxmlformats.org/officeDocument/2006/relationships/chart" Target="../charts/chart134.xml"/><Relationship Id="rId8"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chart" Target="../charts/chart159.xml"/><Relationship Id="rId9" Type="http://schemas.openxmlformats.org/officeDocument/2006/relationships/chart" Target="../charts/chart160.xml"/><Relationship Id="rId10" Type="http://schemas.openxmlformats.org/officeDocument/2006/relationships/chart" Target="../charts/chart161.xml"/><Relationship Id="rId11" Type="http://schemas.openxmlformats.org/officeDocument/2006/relationships/chart" Target="../charts/chart162.xml"/><Relationship Id="rId1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3.xml"/><Relationship Id="rId3" Type="http://schemas.openxmlformats.org/officeDocument/2006/relationships/chart" Target="../charts/chart164.xml"/><Relationship Id="rId4" Type="http://schemas.openxmlformats.org/officeDocument/2006/relationships/chart" Target="../charts/chart165.xml"/><Relationship Id="rId5" Type="http://schemas.openxmlformats.org/officeDocument/2006/relationships/chart" Target="../charts/chart166.xml"/><Relationship Id="rId6" Type="http://schemas.openxmlformats.org/officeDocument/2006/relationships/chart" Target="../charts/chart167.xml"/><Relationship Id="rId7" Type="http://schemas.openxmlformats.org/officeDocument/2006/relationships/chart" Target="../charts/chart168.xml"/><Relationship Id="rId8" Type="http://schemas.openxmlformats.org/officeDocument/2006/relationships/chart" Target="../charts/chart169.xml"/><Relationship Id="rId9" Type="http://schemas.openxmlformats.org/officeDocument/2006/relationships/chart" Target="../charts/chart170.xml"/><Relationship Id="rId10" Type="http://schemas.openxmlformats.org/officeDocument/2006/relationships/chart" Target="../charts/chart171.xml"/><Relationship Id="rId11" Type="http://schemas.openxmlformats.org/officeDocument/2006/relationships/chart" Target="../charts/chart172.xml"/><Relationship Id="rId1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3.xml"/><Relationship Id="rId3" Type="http://schemas.openxmlformats.org/officeDocument/2006/relationships/chart" Target="../charts/chart174.xml"/><Relationship Id="rId4" Type="http://schemas.openxmlformats.org/officeDocument/2006/relationships/chart" Target="../charts/chart175.xml"/><Relationship Id="rId5" Type="http://schemas.openxmlformats.org/officeDocument/2006/relationships/chart" Target="../charts/chart176.xml"/><Relationship Id="rId6" Type="http://schemas.openxmlformats.org/officeDocument/2006/relationships/chart" Target="../charts/chart177.xml"/><Relationship Id="rId7" Type="http://schemas.openxmlformats.org/officeDocument/2006/relationships/chart" Target="../charts/chart178.xml"/><Relationship Id="rId8" Type="http://schemas.openxmlformats.org/officeDocument/2006/relationships/chart" Target="../charts/chart179.xml"/><Relationship Id="rId9" Type="http://schemas.openxmlformats.org/officeDocument/2006/relationships/chart" Target="../charts/chart180.xml"/><Relationship Id="rId10" Type="http://schemas.openxmlformats.org/officeDocument/2006/relationships/chart" Target="../charts/chart181.xml"/><Relationship Id="rId11" Type="http://schemas.openxmlformats.org/officeDocument/2006/relationships/chart" Target="../charts/chart182.xml"/><Relationship Id="rId1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3.xml"/><Relationship Id="rId3" Type="http://schemas.openxmlformats.org/officeDocument/2006/relationships/chart" Target="../charts/chart184.xml"/><Relationship Id="rId4" Type="http://schemas.openxmlformats.org/officeDocument/2006/relationships/chart" Target="../charts/chart185.xml"/><Relationship Id="rId5" Type="http://schemas.openxmlformats.org/officeDocument/2006/relationships/chart" Target="../charts/chart186.xml"/><Relationship Id="rId6" Type="http://schemas.openxmlformats.org/officeDocument/2006/relationships/chart" Target="../charts/chart187.xml"/><Relationship Id="rId7" Type="http://schemas.openxmlformats.org/officeDocument/2006/relationships/chart" Target="../charts/chart188.xml"/><Relationship Id="rId8" Type="http://schemas.openxmlformats.org/officeDocument/2006/relationships/chart" Target="../charts/chart189.xml"/><Relationship Id="rId9" Type="http://schemas.openxmlformats.org/officeDocument/2006/relationships/chart" Target="../charts/chart190.xml"/><Relationship Id="rId10" Type="http://schemas.openxmlformats.org/officeDocument/2006/relationships/chart" Target="../charts/chart191.xml"/><Relationship Id="rId11" Type="http://schemas.openxmlformats.org/officeDocument/2006/relationships/chart" Target="../charts/chart192.xml"/><Relationship Id="rId1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3.xml"/><Relationship Id="rId3" Type="http://schemas.openxmlformats.org/officeDocument/2006/relationships/chart" Target="../charts/chart194.xml"/><Relationship Id="rId4" Type="http://schemas.openxmlformats.org/officeDocument/2006/relationships/chart" Target="../charts/chart195.xml"/><Relationship Id="rId5" Type="http://schemas.openxmlformats.org/officeDocument/2006/relationships/chart" Target="../charts/chart196.xml"/><Relationship Id="rId6" Type="http://schemas.openxmlformats.org/officeDocument/2006/relationships/chart" Target="../charts/chart197.xml"/><Relationship Id="rId7" Type="http://schemas.openxmlformats.org/officeDocument/2006/relationships/chart" Target="../charts/chart198.xml"/><Relationship Id="rId8" Type="http://schemas.openxmlformats.org/officeDocument/2006/relationships/chart" Target="../charts/chart199.xml"/><Relationship Id="rId9" Type="http://schemas.openxmlformats.org/officeDocument/2006/relationships/chart" Target="../charts/chart200.xml"/><Relationship Id="rId10" Type="http://schemas.openxmlformats.org/officeDocument/2006/relationships/chart" Target="../charts/chart201.xml"/><Relationship Id="rId11" Type="http://schemas.openxmlformats.org/officeDocument/2006/relationships/chart" Target="../charts/chart202.xml"/><Relationship Id="rId1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3.xml"/><Relationship Id="rId3" Type="http://schemas.openxmlformats.org/officeDocument/2006/relationships/chart" Target="../charts/chart204.xml"/><Relationship Id="rId4" Type="http://schemas.openxmlformats.org/officeDocument/2006/relationships/chart" Target="../charts/chart205.xml"/><Relationship Id="rId5" Type="http://schemas.openxmlformats.org/officeDocument/2006/relationships/chart" Target="../charts/chart206.xml"/><Relationship Id="rId6" Type="http://schemas.openxmlformats.org/officeDocument/2006/relationships/chart" Target="../charts/chart207.xml"/><Relationship Id="rId7" Type="http://schemas.openxmlformats.org/officeDocument/2006/relationships/chart" Target="../charts/chart208.xml"/><Relationship Id="rId8" Type="http://schemas.openxmlformats.org/officeDocument/2006/relationships/chart" Target="../charts/chart209.xml"/><Relationship Id="rId9" Type="http://schemas.openxmlformats.org/officeDocument/2006/relationships/chart" Target="../charts/chart210.xml"/><Relationship Id="rId10" Type="http://schemas.openxmlformats.org/officeDocument/2006/relationships/chart" Target="../charts/chart211.xml"/><Relationship Id="rId11" Type="http://schemas.openxmlformats.org/officeDocument/2006/relationships/chart" Target="../charts/chart212.xml"/><Relationship Id="rId1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3.xml"/><Relationship Id="rId3" Type="http://schemas.openxmlformats.org/officeDocument/2006/relationships/chart" Target="../charts/chart214.xml"/><Relationship Id="rId4" Type="http://schemas.openxmlformats.org/officeDocument/2006/relationships/chart" Target="../charts/chart215.xml"/><Relationship Id="rId5" Type="http://schemas.openxmlformats.org/officeDocument/2006/relationships/chart" Target="../charts/chart216.xml"/><Relationship Id="rId6" Type="http://schemas.openxmlformats.org/officeDocument/2006/relationships/chart" Target="../charts/chart217.xml"/><Relationship Id="rId7"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8.xml"/><Relationship Id="rId3" Type="http://schemas.openxmlformats.org/officeDocument/2006/relationships/chart" Target="../charts/chart219.xml"/><Relationship Id="rId4" Type="http://schemas.openxmlformats.org/officeDocument/2006/relationships/chart" Target="../charts/chart220.xml"/><Relationship Id="rId5" Type="http://schemas.openxmlformats.org/officeDocument/2006/relationships/chart" Target="../charts/chart221.xml"/><Relationship Id="rId6" Type="http://schemas.openxmlformats.org/officeDocument/2006/relationships/chart" Target="../charts/chart222.xml"/><Relationship Id="rId7"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3.xml"/><Relationship Id="rId3" Type="http://schemas.openxmlformats.org/officeDocument/2006/relationships/chart" Target="../charts/chart224.xml"/><Relationship Id="rId4" Type="http://schemas.openxmlformats.org/officeDocument/2006/relationships/chart" Target="../charts/chart225.xml"/><Relationship Id="rId5" Type="http://schemas.openxmlformats.org/officeDocument/2006/relationships/chart" Target="../charts/chart226.xml"/><Relationship Id="rId6" Type="http://schemas.openxmlformats.org/officeDocument/2006/relationships/chart" Target="../charts/chart227.xml"/><Relationship Id="rId7"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8.xml"/><Relationship Id="rId3" Type="http://schemas.openxmlformats.org/officeDocument/2006/relationships/chart" Target="../charts/chart229.xml"/><Relationship Id="rId4" Type="http://schemas.openxmlformats.org/officeDocument/2006/relationships/chart" Target="../charts/chart230.xml"/><Relationship Id="rId5" Type="http://schemas.openxmlformats.org/officeDocument/2006/relationships/chart" Target="../charts/chart231.xml"/><Relationship Id="rId6" Type="http://schemas.openxmlformats.org/officeDocument/2006/relationships/chart" Target="../charts/chart232.xml"/><Relationship Id="rId7"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3.xml"/><Relationship Id="rId3" Type="http://schemas.openxmlformats.org/officeDocument/2006/relationships/chart" Target="../charts/chart234.xml"/><Relationship Id="rId4" Type="http://schemas.openxmlformats.org/officeDocument/2006/relationships/chart" Target="../charts/chart235.xml"/><Relationship Id="rId5" Type="http://schemas.openxmlformats.org/officeDocument/2006/relationships/chart" Target="../charts/chart236.xml"/><Relationship Id="rId6" Type="http://schemas.openxmlformats.org/officeDocument/2006/relationships/chart" Target="../charts/chart237.xml"/><Relationship Id="rId7"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8.xml"/><Relationship Id="rId3" Type="http://schemas.openxmlformats.org/officeDocument/2006/relationships/chart" Target="../charts/chart239.xml"/><Relationship Id="rId4" Type="http://schemas.openxmlformats.org/officeDocument/2006/relationships/chart" Target="../charts/chart240.xml"/><Relationship Id="rId5" Type="http://schemas.openxmlformats.org/officeDocument/2006/relationships/chart" Target="../charts/chart241.xml"/><Relationship Id="rId6" Type="http://schemas.openxmlformats.org/officeDocument/2006/relationships/chart" Target="../charts/chart242.xml"/><Relationship Id="rId7"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3.xml"/><Relationship Id="rId3" Type="http://schemas.openxmlformats.org/officeDocument/2006/relationships/chart" Target="../charts/chart244.xml"/><Relationship Id="rId4" Type="http://schemas.openxmlformats.org/officeDocument/2006/relationships/chart" Target="../charts/chart245.xml"/><Relationship Id="rId5" Type="http://schemas.openxmlformats.org/officeDocument/2006/relationships/chart" Target="../charts/chart246.xml"/><Relationship Id="rId6" Type="http://schemas.openxmlformats.org/officeDocument/2006/relationships/chart" Target="../charts/chart247.xml"/><Relationship Id="rId7"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8.xml"/><Relationship Id="rId3" Type="http://schemas.openxmlformats.org/officeDocument/2006/relationships/chart" Target="../charts/chart249.xml"/><Relationship Id="rId4" Type="http://schemas.openxmlformats.org/officeDocument/2006/relationships/chart" Target="../charts/chart250.xml"/><Relationship Id="rId5" Type="http://schemas.openxmlformats.org/officeDocument/2006/relationships/chart" Target="../charts/chart251.xml"/><Relationship Id="rId6" Type="http://schemas.openxmlformats.org/officeDocument/2006/relationships/chart" Target="../charts/chart252.xml"/><Relationship Id="rId7"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3.xml"/><Relationship Id="rId3" Type="http://schemas.openxmlformats.org/officeDocument/2006/relationships/chart" Target="../charts/chart254.xml"/><Relationship Id="rId4" Type="http://schemas.openxmlformats.org/officeDocument/2006/relationships/chart" Target="../charts/chart255.xml"/><Relationship Id="rId5" Type="http://schemas.openxmlformats.org/officeDocument/2006/relationships/chart" Target="../charts/chart256.xml"/><Relationship Id="rId6" Type="http://schemas.openxmlformats.org/officeDocument/2006/relationships/chart" Target="../charts/chart257.xml"/><Relationship Id="rId7"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rates, margins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what we commit to.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19" name="Shape 17"/>
          <p:cNvSpPr/>
          <p:nvPr/>
        </p:nvSpPr>
        <p:spPr>
          <a:xfrm>
            <a:off x="457200" y="6126480"/>
            <a:ext cx="11274552" cy="615696"/>
          </a:xfrm>
          <a:prstGeom prst="rect">
            <a:avLst/>
          </a:prstGeom>
          <a:solidFill>
            <a:srgbClr val="E6F6EE"/>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 even when an advisor sells them.</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420837"/>
          </a:xfrm>
          <a:prstGeom prst="rect">
            <a:avLst/>
          </a:prstGeom>
          <a:solidFill>
            <a:srgbClr val="2587C5"/>
          </a:solidFill>
          <a:ln/>
        </p:spPr>
      </p:sp>
      <p:sp>
        <p:nvSpPr>
          <p:cNvPr id="21" name="Text 19"/>
          <p:cNvSpPr txBox="1"/>
          <p:nvPr/>
        </p:nvSpPr>
        <p:spPr>
          <a:xfrm>
            <a:off x="5266944"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Hours sold times the rate collected (ELR)</a:t>
            </a:r>
            <a:endParaRPr lang="en-US" sz="1400" dirty="0"/>
          </a:p>
        </p:txBody>
      </p:sp>
      <p:sp>
        <p:nvSpPr>
          <p:cNvPr id="22" name="Shape 20"/>
          <p:cNvSpPr/>
          <p:nvPr/>
        </p:nvSpPr>
        <p:spPr>
          <a:xfrm>
            <a:off x="8394192" y="3410712"/>
            <a:ext cx="45720" cy="1420837"/>
          </a:xfrm>
          <a:prstGeom prst="rect">
            <a:avLst/>
          </a:prstGeom>
          <a:solidFill>
            <a:srgbClr val="2587C5"/>
          </a:solidFill>
          <a:ln/>
        </p:spPr>
      </p:sp>
      <p:sp>
        <p:nvSpPr>
          <p:cNvPr id="23" name="Text 21"/>
          <p:cNvSpPr txBox="1"/>
          <p:nvPr/>
        </p:nvSpPr>
        <p:spPr>
          <a:xfrm>
            <a:off x="8522208"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on the RO. Hourly pay, guarantees and bonuses paid off the RO are unapplied labor: not on the RO, but they lower gross</a:t>
            </a:r>
            <a:endParaRPr lang="en-US" sz="1400" dirty="0"/>
          </a:p>
        </p:txBody>
      </p:sp>
      <p:sp>
        <p:nvSpPr>
          <p:cNvPr id="24" name="Shape 22"/>
          <p:cNvSpPr/>
          <p:nvPr/>
        </p:nvSpPr>
        <p:spPr>
          <a:xfrm>
            <a:off x="5138928" y="4941277"/>
            <a:ext cx="45720" cy="846875"/>
          </a:xfrm>
          <a:prstGeom prst="rect">
            <a:avLst/>
          </a:prstGeom>
          <a:solidFill>
            <a:srgbClr val="2587C5"/>
          </a:solidFill>
          <a:ln/>
        </p:spPr>
      </p:sp>
      <p:sp>
        <p:nvSpPr>
          <p:cNvPr id="25" name="Text 23"/>
          <p:cNvSpPr txBox="1"/>
          <p:nvPr/>
        </p:nvSpPr>
        <p:spPr>
          <a:xfrm>
            <a:off x="5266944"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Customer pay, warranty and internal parts sold through service</a:t>
            </a:r>
            <a:endParaRPr lang="en-US" sz="1400" dirty="0"/>
          </a:p>
        </p:txBody>
      </p:sp>
      <p:sp>
        <p:nvSpPr>
          <p:cNvPr id="26" name="Shape 24"/>
          <p:cNvSpPr/>
          <p:nvPr/>
        </p:nvSpPr>
        <p:spPr>
          <a:xfrm>
            <a:off x="8394192" y="4941277"/>
            <a:ext cx="45720" cy="846875"/>
          </a:xfrm>
          <a:prstGeom prst="rect">
            <a:avLst/>
          </a:prstGeom>
          <a:solidFill>
            <a:srgbClr val="2587C5"/>
          </a:solidFill>
          <a:ln/>
        </p:spPr>
      </p:sp>
      <p:sp>
        <p:nvSpPr>
          <p:cNvPr id="27" name="Text 25"/>
          <p:cNvSpPr txBox="1"/>
          <p:nvPr/>
        </p:nvSpPr>
        <p:spPr>
          <a:xfrm>
            <a:off x="8522208"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retail, wholesale, tires and oil</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+4.1%  ·  +$7.47M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06111"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36085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579876" y="2853100"/>
            <a:ext cx="25610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52129"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2" name="Shape 40"/>
          <p:cNvSpPr/>
          <p:nvPr/>
        </p:nvSpPr>
        <p:spPr>
          <a:xfrm>
            <a:off x="3579876" y="3300618"/>
            <a:ext cx="248007"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7" name="Shape 45"/>
          <p:cNvSpPr/>
          <p:nvPr/>
        </p:nvSpPr>
        <p:spPr>
          <a:xfrm>
            <a:off x="3579876" y="3524377"/>
            <a:ext cx="20827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+$586K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2" name="Shape 50"/>
          <p:cNvSpPr/>
          <p:nvPr/>
        </p:nvSpPr>
        <p:spPr>
          <a:xfrm>
            <a:off x="3579876" y="3748136"/>
            <a:ext cx="166767"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579876" y="3971895"/>
            <a:ext cx="1637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2" name="Shape 60"/>
          <p:cNvSpPr/>
          <p:nvPr/>
        </p:nvSpPr>
        <p:spPr>
          <a:xfrm>
            <a:off x="3579876" y="4195654"/>
            <a:ext cx="162710"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7" name="Shape 65"/>
          <p:cNvSpPr/>
          <p:nvPr/>
        </p:nvSpPr>
        <p:spPr>
          <a:xfrm>
            <a:off x="3579876" y="4419414"/>
            <a:ext cx="161498"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+$545K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2" name="Shape 70"/>
          <p:cNvSpPr/>
          <p:nvPr/>
        </p:nvSpPr>
        <p:spPr>
          <a:xfrm>
            <a:off x="3579876" y="4643173"/>
            <a:ext cx="15637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+$373K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579876" y="4866932"/>
            <a:ext cx="1362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360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7" name="Shape 85"/>
          <p:cNvSpPr/>
          <p:nvPr/>
        </p:nvSpPr>
        <p:spPr>
          <a:xfrm>
            <a:off x="3579876" y="5314450"/>
            <a:ext cx="122042"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2" name="Shape 90"/>
          <p:cNvSpPr/>
          <p:nvPr/>
        </p:nvSpPr>
        <p:spPr>
          <a:xfrm>
            <a:off x="3579876" y="5538209"/>
            <a:ext cx="118786"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110352"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2" name="Shape 100"/>
          <p:cNvSpPr/>
          <p:nvPr/>
        </p:nvSpPr>
        <p:spPr>
          <a:xfrm>
            <a:off x="9130284" y="2181823"/>
            <a:ext cx="64131"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7" name="Shape 105"/>
          <p:cNvSpPr/>
          <p:nvPr/>
        </p:nvSpPr>
        <p:spPr>
          <a:xfrm>
            <a:off x="9130284" y="2405582"/>
            <a:ext cx="6001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45763"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30284" y="2853100"/>
            <a:ext cx="33373"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2" name="Shape 120"/>
          <p:cNvSpPr/>
          <p:nvPr/>
        </p:nvSpPr>
        <p:spPr>
          <a:xfrm>
            <a:off x="9130284" y="3076859"/>
            <a:ext cx="33130"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+$125K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7" name="Shape 125"/>
          <p:cNvSpPr/>
          <p:nvPr/>
        </p:nvSpPr>
        <p:spPr>
          <a:xfrm>
            <a:off x="9130284" y="3300618"/>
            <a:ext cx="2605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2" name="Shape 130"/>
          <p:cNvSpPr/>
          <p:nvPr/>
        </p:nvSpPr>
        <p:spPr>
          <a:xfrm>
            <a:off x="9130284" y="3524377"/>
            <a:ext cx="23062"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7" name="Shape 135"/>
          <p:cNvSpPr/>
          <p:nvPr/>
        </p:nvSpPr>
        <p:spPr>
          <a:xfrm>
            <a:off x="9130284" y="3748136"/>
            <a:ext cx="13857"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2" name="Shape 140"/>
          <p:cNvSpPr/>
          <p:nvPr/>
        </p:nvSpPr>
        <p:spPr>
          <a:xfrm>
            <a:off x="9089172" y="3971895"/>
            <a:ext cx="4111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54987" y="4195654"/>
            <a:ext cx="7529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−$499K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2" name="Shape 150"/>
          <p:cNvSpPr/>
          <p:nvPr/>
        </p:nvSpPr>
        <p:spPr>
          <a:xfrm>
            <a:off x="9043679" y="4419414"/>
            <a:ext cx="866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988381" y="4643173"/>
            <a:ext cx="141903"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−$840K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8963498" y="4866932"/>
            <a:ext cx="16678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−$520K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1219" y="5090691"/>
            <a:ext cx="219065"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00217" y="5314450"/>
            <a:ext cx="230067"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−$163K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888151" y="5538209"/>
            <a:ext cx="24213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Hyundai Prescott grew most at +35.8% (+$404K); Acura fell most at −15.2% (−$517K).</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+5.2%  ·  +$6.30M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+$345K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316386"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+$475K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9691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2" name="Shape 30"/>
          <p:cNvSpPr/>
          <p:nvPr/>
        </p:nvSpPr>
        <p:spPr>
          <a:xfrm>
            <a:off x="3579876" y="2853100"/>
            <a:ext cx="29559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+$315K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579876" y="3076859"/>
            <a:ext cx="22051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2" name="Shape 40"/>
          <p:cNvSpPr/>
          <p:nvPr/>
        </p:nvSpPr>
        <p:spPr>
          <a:xfrm>
            <a:off x="3579876" y="3300618"/>
            <a:ext cx="209724"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7" name="Shape 45"/>
          <p:cNvSpPr/>
          <p:nvPr/>
        </p:nvSpPr>
        <p:spPr>
          <a:xfrm>
            <a:off x="3579876" y="3524377"/>
            <a:ext cx="20598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2" name="Shape 50"/>
          <p:cNvSpPr/>
          <p:nvPr/>
        </p:nvSpPr>
        <p:spPr>
          <a:xfrm>
            <a:off x="3579876" y="3748136"/>
            <a:ext cx="17160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579876" y="3971895"/>
            <a:ext cx="1679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2" name="Shape 60"/>
          <p:cNvSpPr/>
          <p:nvPr/>
        </p:nvSpPr>
        <p:spPr>
          <a:xfrm>
            <a:off x="3579876" y="4195654"/>
            <a:ext cx="15097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+$390K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7" name="Shape 65"/>
          <p:cNvSpPr/>
          <p:nvPr/>
        </p:nvSpPr>
        <p:spPr>
          <a:xfrm>
            <a:off x="3579876" y="4419414"/>
            <a:ext cx="148094"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2" name="Shape 70"/>
          <p:cNvSpPr/>
          <p:nvPr/>
        </p:nvSpPr>
        <p:spPr>
          <a:xfrm>
            <a:off x="3579876" y="4643173"/>
            <a:ext cx="13584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579876" y="4866932"/>
            <a:ext cx="10821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08105"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7" name="Shape 85"/>
          <p:cNvSpPr/>
          <p:nvPr/>
        </p:nvSpPr>
        <p:spPr>
          <a:xfrm>
            <a:off x="3579876" y="5314450"/>
            <a:ext cx="8490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3579876" y="5538209"/>
            <a:ext cx="83407"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659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+$611K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54058"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7" name="Shape 105"/>
          <p:cNvSpPr/>
          <p:nvPr/>
        </p:nvSpPr>
        <p:spPr>
          <a:xfrm>
            <a:off x="9130284" y="2405582"/>
            <a:ext cx="5246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+$113K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35288"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9130284" y="2853100"/>
            <a:ext cx="1862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2" name="Shape 120"/>
          <p:cNvSpPr/>
          <p:nvPr/>
        </p:nvSpPr>
        <p:spPr>
          <a:xfrm>
            <a:off x="9130284" y="3076859"/>
            <a:ext cx="16084"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7" name="Shape 125"/>
          <p:cNvSpPr/>
          <p:nvPr/>
        </p:nvSpPr>
        <p:spPr>
          <a:xfrm>
            <a:off x="9130284" y="3300618"/>
            <a:ext cx="1280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2" name="Shape 130"/>
          <p:cNvSpPr/>
          <p:nvPr/>
        </p:nvSpPr>
        <p:spPr>
          <a:xfrm>
            <a:off x="9126342" y="3524377"/>
            <a:ext cx="1280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9103951" y="3748136"/>
            <a:ext cx="26333"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102538" y="3971895"/>
            <a:ext cx="27746"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95214" y="4195654"/>
            <a:ext cx="35070"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2" name="Shape 150"/>
          <p:cNvSpPr/>
          <p:nvPr/>
        </p:nvSpPr>
        <p:spPr>
          <a:xfrm>
            <a:off x="9091379" y="4419414"/>
            <a:ext cx="389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7" name="Shape 155"/>
          <p:cNvSpPr/>
          <p:nvPr/>
        </p:nvSpPr>
        <p:spPr>
          <a:xfrm>
            <a:off x="9066557" y="4643173"/>
            <a:ext cx="63727"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62" name="Shape 160"/>
          <p:cNvSpPr/>
          <p:nvPr/>
        </p:nvSpPr>
        <p:spPr>
          <a:xfrm>
            <a:off x="9017570" y="4866932"/>
            <a:ext cx="11271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−$695K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85267" y="5090691"/>
            <a:ext cx="145017"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29980" y="5314450"/>
            <a:ext cx="20030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928189" y="5538209"/>
            <a:ext cx="202095"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−$438K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Hyundai Prescott grew most at +53.3% (+$345K); Acura fell most at −18.8% (−$438K).</a:t>
            </a:r>
            <a:endParaRPr lang="en-US" sz="15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Hyundai Prescott what they started this year.</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+1.9%  ·  +$1.17M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+$243K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2" name="Shape 20"/>
          <p:cNvSpPr/>
          <p:nvPr/>
        </p:nvSpPr>
        <p:spPr>
          <a:xfrm>
            <a:off x="3579876" y="2405582"/>
            <a:ext cx="438224"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7" name="Shape 25"/>
          <p:cNvSpPr/>
          <p:nvPr/>
        </p:nvSpPr>
        <p:spPr>
          <a:xfrm>
            <a:off x="3579876" y="2629341"/>
            <a:ext cx="39984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2" name="Shape 30"/>
          <p:cNvSpPr/>
          <p:nvPr/>
        </p:nvSpPr>
        <p:spPr>
          <a:xfrm>
            <a:off x="3579876" y="2853100"/>
            <a:ext cx="26142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46093"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2" name="Shape 40"/>
          <p:cNvSpPr/>
          <p:nvPr/>
        </p:nvSpPr>
        <p:spPr>
          <a:xfrm>
            <a:off x="3579876" y="3300618"/>
            <a:ext cx="234911"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7" name="Shape 45"/>
          <p:cNvSpPr/>
          <p:nvPr/>
        </p:nvSpPr>
        <p:spPr>
          <a:xfrm>
            <a:off x="3579876" y="3524377"/>
            <a:ext cx="190077"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2" name="Shape 50"/>
          <p:cNvSpPr/>
          <p:nvPr/>
        </p:nvSpPr>
        <p:spPr>
          <a:xfrm>
            <a:off x="3579876" y="3748136"/>
            <a:ext cx="179058"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7" name="Shape 55"/>
          <p:cNvSpPr/>
          <p:nvPr/>
        </p:nvSpPr>
        <p:spPr>
          <a:xfrm>
            <a:off x="3579876" y="3971895"/>
            <a:ext cx="155972"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2" name="Shape 60"/>
          <p:cNvSpPr/>
          <p:nvPr/>
        </p:nvSpPr>
        <p:spPr>
          <a:xfrm>
            <a:off x="3579876" y="4195654"/>
            <a:ext cx="1393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+$321K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136341"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2" name="Shape 70"/>
          <p:cNvSpPr/>
          <p:nvPr/>
        </p:nvSpPr>
        <p:spPr>
          <a:xfrm>
            <a:off x="3579876" y="4643173"/>
            <a:ext cx="123400"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579876" y="4866932"/>
            <a:ext cx="8061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7096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+$273K</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39483"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2" name="Shape 90"/>
          <p:cNvSpPr/>
          <p:nvPr/>
        </p:nvSpPr>
        <p:spPr>
          <a:xfrm>
            <a:off x="3579876" y="5538209"/>
            <a:ext cx="33295"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3579876" y="5761968"/>
            <a:ext cx="1978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2" name="Shape 100"/>
          <p:cNvSpPr/>
          <p:nvPr/>
        </p:nvSpPr>
        <p:spPr>
          <a:xfrm>
            <a:off x="9120504" y="2181823"/>
            <a:ext cx="12802" cy="102929"/>
          </a:xfrm>
          <a:prstGeom prst="rect">
            <a:avLst/>
          </a:prstGeom>
          <a:solidFill>
            <a:srgbClr val="C2352F"/>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7" name="Shape 105"/>
          <p:cNvSpPr/>
          <p:nvPr/>
        </p:nvSpPr>
        <p:spPr>
          <a:xfrm>
            <a:off x="9119621" y="2405582"/>
            <a:ext cx="12802" cy="102929"/>
          </a:xfrm>
          <a:prstGeom prst="rect">
            <a:avLst/>
          </a:prstGeom>
          <a:solidFill>
            <a:srgbClr val="C2352F"/>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2" name="Shape 110"/>
          <p:cNvSpPr/>
          <p:nvPr/>
        </p:nvSpPr>
        <p:spPr>
          <a:xfrm>
            <a:off x="9117659"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095741" y="2853100"/>
            <a:ext cx="34543"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2" name="Shape 120"/>
          <p:cNvSpPr/>
          <p:nvPr/>
        </p:nvSpPr>
        <p:spPr>
          <a:xfrm>
            <a:off x="9094197" y="3076859"/>
            <a:ext cx="36087"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7" name="Shape 125"/>
          <p:cNvSpPr/>
          <p:nvPr/>
        </p:nvSpPr>
        <p:spPr>
          <a:xfrm>
            <a:off x="9092061" y="3300618"/>
            <a:ext cx="38223"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2" name="Shape 130"/>
          <p:cNvSpPr/>
          <p:nvPr/>
        </p:nvSpPr>
        <p:spPr>
          <a:xfrm>
            <a:off x="9080300" y="3524377"/>
            <a:ext cx="49984"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9051537" y="3748136"/>
            <a:ext cx="78747"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2" name="Shape 140"/>
          <p:cNvSpPr/>
          <p:nvPr/>
        </p:nvSpPr>
        <p:spPr>
          <a:xfrm>
            <a:off x="9025094" y="3971895"/>
            <a:ext cx="105190"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22657" y="4195654"/>
            <a:ext cx="10762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2" name="Shape 150"/>
          <p:cNvSpPr/>
          <p:nvPr/>
        </p:nvSpPr>
        <p:spPr>
          <a:xfrm>
            <a:off x="9018226" y="4419414"/>
            <a:ext cx="11205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7" name="Shape 155"/>
          <p:cNvSpPr/>
          <p:nvPr/>
        </p:nvSpPr>
        <p:spPr>
          <a:xfrm>
            <a:off x="9016738" y="4643173"/>
            <a:ext cx="113546"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2" name="Shape 160"/>
          <p:cNvSpPr/>
          <p:nvPr/>
        </p:nvSpPr>
        <p:spPr>
          <a:xfrm>
            <a:off x="8970138" y="4866932"/>
            <a:ext cx="16014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0748" y="5090691"/>
            <a:ext cx="219536"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841155" y="5314450"/>
            <a:ext cx="289129"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7" name="Shape 175"/>
          <p:cNvSpPr/>
          <p:nvPr/>
        </p:nvSpPr>
        <p:spPr>
          <a:xfrm>
            <a:off x="8798602" y="5538209"/>
            <a:ext cx="331682"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48996"/>
          </a:xfrm>
          <a:prstGeom prst="rect">
            <a:avLst/>
          </a:prstGeom>
          <a:solidFill>
            <a:srgbClr val="E6F6EE"/>
          </a:solidFill>
          <a:ln/>
        </p:spPr>
      </p:sp>
      <p:sp>
        <p:nvSpPr>
          <p:cNvPr id="184" name="Text 18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17 of 33 stores grew. Lincoln grew most at +37.1% (+$243K); Hyundai St George fell most at −21.5% (−$227K).</a:t>
            </a:r>
            <a:endParaRPr lang="en-US" sz="14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 Ask Audi Henderson, Mazda and Honda Flagstaff what they started this year.</a:t>
            </a:r>
            <a:endParaRPr lang="en-US" sz="155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 Ask LR Henderson, LR Reno and Kia St George what they started this year.</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true measure of how the department performs.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is what we make; net is what we keep.</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net falls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ties staffing and pay plans to results.</a:t>
            </a:r>
            <a:endParaRPr lang="en-US" sz="15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 Ask Hyundai Prescott, LR Henderson and LR Reno what they started this year.</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 Ask LR Reno, VW St George and Mazda what they started this year.</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Work it in order: ROs first, then hours per RO, the rate (ELR), the mix and the margin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 Ask Mazda, CDJR Post Falls and Lexus what they started this year.</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6" name="Shape 14"/>
          <p:cNvSpPr/>
          <p:nvPr/>
        </p:nvSpPr>
        <p:spPr>
          <a:xfrm>
            <a:off x="3008376" y="2436622"/>
            <a:ext cx="1599253"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3008376" y="2644902"/>
            <a:ext cx="1597857"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4" name="Shape 22"/>
          <p:cNvSpPr/>
          <p:nvPr/>
        </p:nvSpPr>
        <p:spPr>
          <a:xfrm>
            <a:off x="3008376" y="2853182"/>
            <a:ext cx="1396154"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8" name="Shape 26"/>
          <p:cNvSpPr/>
          <p:nvPr/>
        </p:nvSpPr>
        <p:spPr>
          <a:xfrm>
            <a:off x="3008376" y="3061462"/>
            <a:ext cx="1395716"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2" name="Shape 30"/>
          <p:cNvSpPr/>
          <p:nvPr/>
        </p:nvSpPr>
        <p:spPr>
          <a:xfrm>
            <a:off x="3008376" y="3269742"/>
            <a:ext cx="1094195" cy="104140"/>
          </a:xfrm>
          <a:prstGeom prst="rect">
            <a:avLst/>
          </a:prstGeom>
          <a:solidFill>
            <a:srgbClr val="C2352F"/>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6" name="Shape 34"/>
          <p:cNvSpPr/>
          <p:nvPr/>
        </p:nvSpPr>
        <p:spPr>
          <a:xfrm>
            <a:off x="3008376" y="3478022"/>
            <a:ext cx="1092999"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0" name="Shape 38"/>
          <p:cNvSpPr/>
          <p:nvPr/>
        </p:nvSpPr>
        <p:spPr>
          <a:xfrm>
            <a:off x="3008376" y="3686302"/>
            <a:ext cx="995599"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3008376" y="3894582"/>
            <a:ext cx="912830"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8" name="Shape 46"/>
          <p:cNvSpPr/>
          <p:nvPr/>
        </p:nvSpPr>
        <p:spPr>
          <a:xfrm>
            <a:off x="3008376" y="4102862"/>
            <a:ext cx="834814"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519422"/>
            <a:ext cx="1658471"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727702"/>
            <a:ext cx="1530972"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4935982"/>
            <a:ext cx="1530733"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144262"/>
            <a:ext cx="1465702"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352542"/>
            <a:ext cx="1405167"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560822"/>
            <a:ext cx="1345161"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5769102"/>
            <a:ext cx="1336576"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2" name="Shape 80"/>
          <p:cNvSpPr/>
          <p:nvPr/>
        </p:nvSpPr>
        <p:spPr>
          <a:xfrm>
            <a:off x="8558784" y="2228342"/>
            <a:ext cx="1310628"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6" name="Shape 84"/>
          <p:cNvSpPr/>
          <p:nvPr/>
        </p:nvSpPr>
        <p:spPr>
          <a:xfrm>
            <a:off x="8558784" y="2436622"/>
            <a:ext cx="1303142"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0" name="Shape 88"/>
          <p:cNvSpPr/>
          <p:nvPr/>
        </p:nvSpPr>
        <p:spPr>
          <a:xfrm>
            <a:off x="8558784" y="2644902"/>
            <a:ext cx="1296433"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4" name="Shape 92"/>
          <p:cNvSpPr/>
          <p:nvPr/>
        </p:nvSpPr>
        <p:spPr>
          <a:xfrm>
            <a:off x="8558784" y="2853182"/>
            <a:ext cx="1160151" cy="104140"/>
          </a:xfrm>
          <a:prstGeom prst="rect">
            <a:avLst/>
          </a:prstGeom>
          <a:solidFill>
            <a:srgbClr val="C2352F"/>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8" name="Shape 96"/>
          <p:cNvSpPr/>
          <p:nvPr/>
        </p:nvSpPr>
        <p:spPr>
          <a:xfrm>
            <a:off x="8558784" y="3061462"/>
            <a:ext cx="1136807" cy="104140"/>
          </a:xfrm>
          <a:prstGeom prst="rect">
            <a:avLst/>
          </a:prstGeom>
          <a:solidFill>
            <a:srgbClr val="C2352F"/>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2" name="Shape 100"/>
          <p:cNvSpPr/>
          <p:nvPr/>
        </p:nvSpPr>
        <p:spPr>
          <a:xfrm>
            <a:off x="8558784" y="3269742"/>
            <a:ext cx="1108783"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6" name="Shape 104"/>
          <p:cNvSpPr/>
          <p:nvPr/>
        </p:nvSpPr>
        <p:spPr>
          <a:xfrm>
            <a:off x="8558784" y="3478022"/>
            <a:ext cx="1088944"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0" name="Shape 108"/>
          <p:cNvSpPr/>
          <p:nvPr/>
        </p:nvSpPr>
        <p:spPr>
          <a:xfrm>
            <a:off x="8558784" y="3686302"/>
            <a:ext cx="1063571"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4" name="Shape 112"/>
          <p:cNvSpPr/>
          <p:nvPr/>
        </p:nvSpPr>
        <p:spPr>
          <a:xfrm>
            <a:off x="8558784" y="3894582"/>
            <a:ext cx="1044439"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4102862"/>
            <a:ext cx="986681"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2" name="Shape 120"/>
          <p:cNvSpPr/>
          <p:nvPr/>
        </p:nvSpPr>
        <p:spPr>
          <a:xfrm>
            <a:off x="8558784" y="4311142"/>
            <a:ext cx="979901"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6" name="Shape 124"/>
          <p:cNvSpPr/>
          <p:nvPr/>
        </p:nvSpPr>
        <p:spPr>
          <a:xfrm>
            <a:off x="8558784" y="4519422"/>
            <a:ext cx="969197"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0" name="Shape 128"/>
          <p:cNvSpPr/>
          <p:nvPr/>
        </p:nvSpPr>
        <p:spPr>
          <a:xfrm>
            <a:off x="8558784" y="4727702"/>
            <a:ext cx="951153"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4" name="Shape 132"/>
          <p:cNvSpPr/>
          <p:nvPr/>
        </p:nvSpPr>
        <p:spPr>
          <a:xfrm>
            <a:off x="8558784" y="4935982"/>
            <a:ext cx="945514"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8" name="Shape 136"/>
          <p:cNvSpPr/>
          <p:nvPr/>
        </p:nvSpPr>
        <p:spPr>
          <a:xfrm>
            <a:off x="8558784" y="5144262"/>
            <a:ext cx="935633"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2" name="Shape 140"/>
          <p:cNvSpPr/>
          <p:nvPr/>
        </p:nvSpPr>
        <p:spPr>
          <a:xfrm>
            <a:off x="8558784" y="5352542"/>
            <a:ext cx="920871"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6" name="Shape 144"/>
          <p:cNvSpPr/>
          <p:nvPr/>
        </p:nvSpPr>
        <p:spPr>
          <a:xfrm>
            <a:off x="8558784" y="5560822"/>
            <a:ext cx="858628"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48" name="Shape 146"/>
          <p:cNvSpPr/>
          <p:nvPr/>
        </p:nvSpPr>
        <p:spPr>
          <a:xfrm>
            <a:off x="4163400" y="2176272"/>
            <a:ext cx="14630" cy="3749040"/>
          </a:xfrm>
          <a:prstGeom prst="rect">
            <a:avLst/>
          </a:prstGeom>
          <a:solidFill>
            <a:srgbClr val="0B2C4A"/>
          </a:solidFill>
          <a:ln/>
        </p:spPr>
      </p:sp>
      <p:sp>
        <p:nvSpPr>
          <p:cNvPr id="149" name="Shape 147"/>
          <p:cNvSpPr/>
          <p:nvPr/>
        </p:nvSpPr>
        <p:spPr>
          <a:xfrm>
            <a:off x="9713808"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Hyundai St George at +39.2% (+0.40) to 1.43. 7 declined; LR Reno fell most at −13.7%.</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1" name="Shape 139"/>
          <p:cNvSpPr/>
          <p:nvPr/>
        </p:nvSpPr>
        <p:spPr>
          <a:xfrm>
            <a:off x="457200" y="6126480"/>
            <a:ext cx="11274552" cy="348996"/>
          </a:xfrm>
          <a:prstGeom prst="rect">
            <a:avLst/>
          </a:prstGeom>
          <a:solidFill>
            <a:srgbClr val="E6F6EE"/>
          </a:solidFill>
          <a:ln/>
        </p:spPr>
      </p:sp>
      <p:sp>
        <p:nvSpPr>
          <p:cNvPr id="142" name="Text 14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0.1 hour more on every CP RO is worth $6,602,564 a year in added gross. Toyota Henderson leads at $1,164,334.</a:t>
            </a:r>
            <a:endParaRPr lang="en-US" sz="145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2" name="Text 10"/>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3" name="Text 11"/>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6" name="Text 14"/>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7" name="Text 15"/>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1" name="Text 19"/>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2" name="Text 20"/>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5" name="Text 23"/>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6" name="Text 24"/>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7" name="Shape 25"/>
          <p:cNvSpPr/>
          <p:nvPr/>
        </p:nvSpPr>
        <p:spPr>
          <a:xfrm>
            <a:off x="658368" y="5124298"/>
            <a:ext cx="3489960" cy="755294"/>
          </a:xfrm>
          <a:prstGeom prst="rect">
            <a:avLst/>
          </a:prstGeom>
          <a:solidFill>
            <a:srgbClr val="F7F7F7"/>
          </a:solidFill>
          <a:ln/>
        </p:spPr>
      </p:sp>
      <p:sp>
        <p:nvSpPr>
          <p:cNvPr id="28" name="Text 26"/>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7"/>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0" name="Text 28"/>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1" name="Text 29"/>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2" name="Shape 30"/>
          <p:cNvSpPr/>
          <p:nvPr/>
        </p:nvSpPr>
        <p:spPr>
          <a:xfrm>
            <a:off x="4349496" y="1371600"/>
            <a:ext cx="3489960" cy="45720"/>
          </a:xfrm>
          <a:prstGeom prst="rect">
            <a:avLst/>
          </a:prstGeom>
          <a:solidFill>
            <a:srgbClr val="C2352F"/>
          </a:solidFill>
          <a:ln/>
        </p:spPr>
      </p:sp>
      <p:sp>
        <p:nvSpPr>
          <p:cNvPr id="33"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Text 32"/>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5" name="Shape 33"/>
          <p:cNvSpPr/>
          <p:nvPr/>
        </p:nvSpPr>
        <p:spPr>
          <a:xfrm>
            <a:off x="4349496" y="2103120"/>
            <a:ext cx="3489960" cy="755294"/>
          </a:xfrm>
          <a:prstGeom prst="rect">
            <a:avLst/>
          </a:prstGeom>
          <a:solidFill>
            <a:srgbClr val="F7F7F7"/>
          </a:solidFill>
          <a:ln/>
        </p:spPr>
      </p:sp>
      <p:sp>
        <p:nvSpPr>
          <p:cNvPr id="36" name="Text 34"/>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5"/>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38" name="Text 36"/>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39" name="Text 37"/>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0" name="Text 38"/>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9"/>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2" name="Text 40"/>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3" name="Text 41"/>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4" name="Shape 42"/>
          <p:cNvSpPr/>
          <p:nvPr/>
        </p:nvSpPr>
        <p:spPr>
          <a:xfrm>
            <a:off x="4349496" y="3613709"/>
            <a:ext cx="3489960" cy="755294"/>
          </a:xfrm>
          <a:prstGeom prst="rect">
            <a:avLst/>
          </a:prstGeom>
          <a:solidFill>
            <a:srgbClr val="F7F7F7"/>
          </a:solidFill>
          <a:ln/>
        </p:spPr>
      </p:sp>
      <p:sp>
        <p:nvSpPr>
          <p:cNvPr id="45" name="Text 43"/>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44"/>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7" name="Text 45"/>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48" name="Text 46"/>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49" name="Text 47"/>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8"/>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1" name="Text 49"/>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2" name="Text 50"/>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3" name="Shape 51"/>
          <p:cNvSpPr/>
          <p:nvPr/>
        </p:nvSpPr>
        <p:spPr>
          <a:xfrm>
            <a:off x="4349496" y="5124298"/>
            <a:ext cx="3489960" cy="755294"/>
          </a:xfrm>
          <a:prstGeom prst="rect">
            <a:avLst/>
          </a:prstGeom>
          <a:solidFill>
            <a:srgbClr val="F7F7F7"/>
          </a:solidFill>
          <a:ln/>
        </p:spPr>
      </p:sp>
      <p:sp>
        <p:nvSpPr>
          <p:cNvPr id="54" name="Text 52"/>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53"/>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6" name="Text 54"/>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7" name="Text 55"/>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58" name="Shape 56"/>
          <p:cNvSpPr/>
          <p:nvPr/>
        </p:nvSpPr>
        <p:spPr>
          <a:xfrm>
            <a:off x="8040624" y="1371600"/>
            <a:ext cx="3489960" cy="45720"/>
          </a:xfrm>
          <a:prstGeom prst="rect">
            <a:avLst/>
          </a:prstGeom>
          <a:solidFill>
            <a:srgbClr val="2587C5"/>
          </a:solidFill>
          <a:ln/>
        </p:spPr>
      </p:sp>
      <p:sp>
        <p:nvSpPr>
          <p:cNvPr id="5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Text 5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1" name="Shape 59"/>
          <p:cNvSpPr/>
          <p:nvPr/>
        </p:nvSpPr>
        <p:spPr>
          <a:xfrm>
            <a:off x="8040624" y="2103120"/>
            <a:ext cx="3489960" cy="755294"/>
          </a:xfrm>
          <a:prstGeom prst="rect">
            <a:avLst/>
          </a:prstGeom>
          <a:solidFill>
            <a:srgbClr val="F7F7F7"/>
          </a:solidFill>
          <a:ln/>
        </p:spPr>
      </p:sp>
      <p:sp>
        <p:nvSpPr>
          <p:cNvPr id="62" name="Text 6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6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4" name="Text 62"/>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5" name="Text 63"/>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6" name="Text 6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6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68" name="Text 66"/>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69" name="Text 67"/>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0" name="Shape 68"/>
          <p:cNvSpPr/>
          <p:nvPr/>
        </p:nvSpPr>
        <p:spPr>
          <a:xfrm>
            <a:off x="8040624" y="3613709"/>
            <a:ext cx="3489960" cy="755294"/>
          </a:xfrm>
          <a:prstGeom prst="rect">
            <a:avLst/>
          </a:prstGeom>
          <a:solidFill>
            <a:srgbClr val="F7F7F7"/>
          </a:solidFill>
          <a:ln/>
        </p:spPr>
      </p:sp>
      <p:sp>
        <p:nvSpPr>
          <p:cNvPr id="71" name="Text 6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7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3" name="Text 71"/>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4" name="Text 72"/>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5" name="Text 73"/>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6" name="Text 74"/>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77" name="Text 75"/>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78" name="Text 76"/>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79" name="Shape 77"/>
          <p:cNvSpPr/>
          <p:nvPr/>
        </p:nvSpPr>
        <p:spPr>
          <a:xfrm>
            <a:off x="8040624" y="5124298"/>
            <a:ext cx="3489960" cy="755294"/>
          </a:xfrm>
          <a:prstGeom prst="rect">
            <a:avLst/>
          </a:prstGeom>
          <a:solidFill>
            <a:srgbClr val="F7F7F7"/>
          </a:solidFill>
          <a:ln/>
        </p:spPr>
      </p:sp>
      <p:sp>
        <p:nvSpPr>
          <p:cNvPr id="80" name="Text 7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1" name="Text 7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2" name="Text 80"/>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3" name="Text 81"/>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
        <p:nvSpPr>
          <p:cNvPr id="84" name="Shape 82"/>
          <p:cNvSpPr/>
          <p:nvPr/>
        </p:nvSpPr>
        <p:spPr>
          <a:xfrm>
            <a:off x="457200" y="6126480"/>
            <a:ext cx="11274552" cy="585216"/>
          </a:xfrm>
          <a:prstGeom prst="rect">
            <a:avLst/>
          </a:prstGeom>
          <a:solidFill>
            <a:srgbClr val="EDF4FA"/>
          </a:solidFill>
          <a:ln/>
        </p:spPr>
      </p:sp>
      <p:sp>
        <p:nvSpPr>
          <p:cNvPr id="85" name="Text 83"/>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Hyundai St George, Subaru St George and Kia St George what changed. Ask LR Reno, VW St George and Volvo what got in the way. Ask Mazda, Hyundai Prescott and Hyundai St George what they started this year.</a:t>
            </a:r>
            <a:endParaRPr lang="en-US" sz="15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 Know what you are charging.</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 name="Shape 14"/>
          <p:cNvSpPr/>
          <p:nvPr/>
        </p:nvSpPr>
        <p:spPr>
          <a:xfrm>
            <a:off x="3008376" y="2436622"/>
            <a:ext cx="1457852"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 name="Shape 18"/>
          <p:cNvSpPr/>
          <p:nvPr/>
        </p:nvSpPr>
        <p:spPr>
          <a:xfrm>
            <a:off x="3008376" y="2644902"/>
            <a:ext cx="1286740"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4" name="Shape 22"/>
          <p:cNvSpPr/>
          <p:nvPr/>
        </p:nvSpPr>
        <p:spPr>
          <a:xfrm>
            <a:off x="3008376" y="2853182"/>
            <a:ext cx="1283929"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8" name="Shape 26"/>
          <p:cNvSpPr/>
          <p:nvPr/>
        </p:nvSpPr>
        <p:spPr>
          <a:xfrm>
            <a:off x="3008376" y="3061462"/>
            <a:ext cx="1279771"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2" name="Shape 30"/>
          <p:cNvSpPr/>
          <p:nvPr/>
        </p:nvSpPr>
        <p:spPr>
          <a:xfrm>
            <a:off x="3008376" y="3269742"/>
            <a:ext cx="1277948"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6" name="Shape 34"/>
          <p:cNvSpPr/>
          <p:nvPr/>
        </p:nvSpPr>
        <p:spPr>
          <a:xfrm>
            <a:off x="3008376" y="3478022"/>
            <a:ext cx="1215860" cy="104140"/>
          </a:xfrm>
          <a:prstGeom prst="rect">
            <a:avLst/>
          </a:prstGeom>
          <a:solidFill>
            <a:srgbClr val="12A566"/>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0" name="Shape 38"/>
          <p:cNvSpPr/>
          <p:nvPr/>
        </p:nvSpPr>
        <p:spPr>
          <a:xfrm>
            <a:off x="3008376" y="3686302"/>
            <a:ext cx="1058054"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008376" y="3894582"/>
            <a:ext cx="930641"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008376" y="4102862"/>
            <a:ext cx="917631"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519422"/>
            <a:ext cx="1658471"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727702"/>
            <a:ext cx="1385836"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4935982"/>
            <a:ext cx="1311361"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144262"/>
            <a:ext cx="1289251"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352542"/>
            <a:ext cx="1283069"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560822"/>
            <a:ext cx="1265801"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5769102"/>
            <a:ext cx="1257200"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2" name="Shape 80"/>
          <p:cNvSpPr/>
          <p:nvPr/>
        </p:nvSpPr>
        <p:spPr>
          <a:xfrm>
            <a:off x="8558784" y="2228342"/>
            <a:ext cx="1255672"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6" name="Shape 84"/>
          <p:cNvSpPr/>
          <p:nvPr/>
        </p:nvSpPr>
        <p:spPr>
          <a:xfrm>
            <a:off x="8558784" y="2436622"/>
            <a:ext cx="1239620"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0" name="Shape 88"/>
          <p:cNvSpPr/>
          <p:nvPr/>
        </p:nvSpPr>
        <p:spPr>
          <a:xfrm>
            <a:off x="8558784" y="2644902"/>
            <a:ext cx="1230530"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4" name="Shape 92"/>
          <p:cNvSpPr/>
          <p:nvPr/>
        </p:nvSpPr>
        <p:spPr>
          <a:xfrm>
            <a:off x="8558784" y="2853182"/>
            <a:ext cx="1217330"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3061462"/>
            <a:ext cx="1207702"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2" name="Shape 100"/>
          <p:cNvSpPr/>
          <p:nvPr/>
        </p:nvSpPr>
        <p:spPr>
          <a:xfrm>
            <a:off x="8558784" y="3269742"/>
            <a:ext cx="1175735"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6" name="Shape 104"/>
          <p:cNvSpPr/>
          <p:nvPr/>
        </p:nvSpPr>
        <p:spPr>
          <a:xfrm>
            <a:off x="8558784" y="3478022"/>
            <a:ext cx="1167864"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0" name="Shape 108"/>
          <p:cNvSpPr/>
          <p:nvPr/>
        </p:nvSpPr>
        <p:spPr>
          <a:xfrm>
            <a:off x="8558784" y="3686302"/>
            <a:ext cx="1138434"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4" name="Shape 112"/>
          <p:cNvSpPr/>
          <p:nvPr/>
        </p:nvSpPr>
        <p:spPr>
          <a:xfrm>
            <a:off x="8558784" y="3894582"/>
            <a:ext cx="1133676"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4102862"/>
            <a:ext cx="1127091"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2" name="Shape 120"/>
          <p:cNvSpPr/>
          <p:nvPr/>
        </p:nvSpPr>
        <p:spPr>
          <a:xfrm>
            <a:off x="8558784" y="4311142"/>
            <a:ext cx="1125055"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6" name="Shape 124"/>
          <p:cNvSpPr/>
          <p:nvPr/>
        </p:nvSpPr>
        <p:spPr>
          <a:xfrm>
            <a:off x="8558784" y="4519422"/>
            <a:ext cx="1111707"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0" name="Shape 128"/>
          <p:cNvSpPr/>
          <p:nvPr/>
        </p:nvSpPr>
        <p:spPr>
          <a:xfrm>
            <a:off x="8558784" y="4727702"/>
            <a:ext cx="1096152"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558784" y="4935982"/>
            <a:ext cx="1091062"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8" name="Shape 136"/>
          <p:cNvSpPr/>
          <p:nvPr/>
        </p:nvSpPr>
        <p:spPr>
          <a:xfrm>
            <a:off x="8558784" y="5144262"/>
            <a:ext cx="1064841"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2" name="Shape 140"/>
          <p:cNvSpPr/>
          <p:nvPr/>
        </p:nvSpPr>
        <p:spPr>
          <a:xfrm>
            <a:off x="8558784" y="5352542"/>
            <a:ext cx="1027823"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6" name="Shape 144"/>
          <p:cNvSpPr/>
          <p:nvPr/>
        </p:nvSpPr>
        <p:spPr>
          <a:xfrm>
            <a:off x="8558784" y="5560822"/>
            <a:ext cx="993409"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48" name="Shape 146"/>
          <p:cNvSpPr/>
          <p:nvPr/>
        </p:nvSpPr>
        <p:spPr>
          <a:xfrm>
            <a:off x="4193240" y="2176272"/>
            <a:ext cx="14630" cy="3749040"/>
          </a:xfrm>
          <a:prstGeom prst="rect">
            <a:avLst/>
          </a:prstGeom>
          <a:solidFill>
            <a:srgbClr val="0B2C4A"/>
          </a:solidFill>
          <a:ln/>
        </p:spPr>
      </p:sp>
      <p:sp>
        <p:nvSpPr>
          <p:cNvPr id="149" name="Shape 147"/>
          <p:cNvSpPr/>
          <p:nvPr/>
        </p:nvSpPr>
        <p:spPr>
          <a:xfrm>
            <a:off x="9743648"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$218 and 12 of 24 others beat $151. Acura leads non-luxury at $211.</a:t>
            </a:r>
            <a:endParaRPr lang="en-US" sz="16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led by Honda Spokane at +22.9% (+$27) to $144. 14 declined; Kia LV fell most at −19.1%.</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2" name="Text 10"/>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3" name="Text 11"/>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6" name="Text 14"/>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7" name="Text 15"/>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1" name="Text 19"/>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2" name="Text 20"/>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5" name="Text 23"/>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6" name="Text 24"/>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7" name="Shape 25"/>
          <p:cNvSpPr/>
          <p:nvPr/>
        </p:nvSpPr>
        <p:spPr>
          <a:xfrm>
            <a:off x="658368" y="5124298"/>
            <a:ext cx="3489960" cy="755294"/>
          </a:xfrm>
          <a:prstGeom prst="rect">
            <a:avLst/>
          </a:prstGeom>
          <a:solidFill>
            <a:srgbClr val="F7F7F7"/>
          </a:solidFill>
          <a:ln/>
        </p:spPr>
      </p:sp>
      <p:sp>
        <p:nvSpPr>
          <p:cNvPr id="28" name="Text 26"/>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7"/>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0" name="Text 28"/>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1" name="Text 29"/>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2" name="Shape 30"/>
          <p:cNvSpPr/>
          <p:nvPr/>
        </p:nvSpPr>
        <p:spPr>
          <a:xfrm>
            <a:off x="4349496" y="1371600"/>
            <a:ext cx="3489960" cy="45720"/>
          </a:xfrm>
          <a:prstGeom prst="rect">
            <a:avLst/>
          </a:prstGeom>
          <a:solidFill>
            <a:srgbClr val="C2352F"/>
          </a:solidFill>
          <a:ln/>
        </p:spPr>
      </p:sp>
      <p:sp>
        <p:nvSpPr>
          <p:cNvPr id="33"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Text 32"/>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5" name="Shape 33"/>
          <p:cNvSpPr/>
          <p:nvPr/>
        </p:nvSpPr>
        <p:spPr>
          <a:xfrm>
            <a:off x="4349496" y="2103120"/>
            <a:ext cx="3489960" cy="755294"/>
          </a:xfrm>
          <a:prstGeom prst="rect">
            <a:avLst/>
          </a:prstGeom>
          <a:solidFill>
            <a:srgbClr val="F7F7F7"/>
          </a:solidFill>
          <a:ln/>
        </p:spPr>
      </p:sp>
      <p:sp>
        <p:nvSpPr>
          <p:cNvPr id="36" name="Text 34"/>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5"/>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38" name="Text 36"/>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39" name="Text 37"/>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0" name="Text 38"/>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9"/>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2" name="Text 40"/>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3" name="Text 41"/>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4" name="Shape 42"/>
          <p:cNvSpPr/>
          <p:nvPr/>
        </p:nvSpPr>
        <p:spPr>
          <a:xfrm>
            <a:off x="4349496" y="3613709"/>
            <a:ext cx="3489960" cy="755294"/>
          </a:xfrm>
          <a:prstGeom prst="rect">
            <a:avLst/>
          </a:prstGeom>
          <a:solidFill>
            <a:srgbClr val="F7F7F7"/>
          </a:solidFill>
          <a:ln/>
        </p:spPr>
      </p:sp>
      <p:sp>
        <p:nvSpPr>
          <p:cNvPr id="45" name="Text 43"/>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44"/>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7" name="Text 45"/>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48" name="Text 46"/>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49" name="Text 47"/>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8"/>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1" name="Text 49"/>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2" name="Text 50"/>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3" name="Shape 51"/>
          <p:cNvSpPr/>
          <p:nvPr/>
        </p:nvSpPr>
        <p:spPr>
          <a:xfrm>
            <a:off x="4349496" y="5124298"/>
            <a:ext cx="3489960" cy="755294"/>
          </a:xfrm>
          <a:prstGeom prst="rect">
            <a:avLst/>
          </a:prstGeom>
          <a:solidFill>
            <a:srgbClr val="F7F7F7"/>
          </a:solidFill>
          <a:ln/>
        </p:spPr>
      </p:sp>
      <p:sp>
        <p:nvSpPr>
          <p:cNvPr id="54" name="Text 52"/>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53"/>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6" name="Text 54"/>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7" name="Text 55"/>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58" name="Shape 56"/>
          <p:cNvSpPr/>
          <p:nvPr/>
        </p:nvSpPr>
        <p:spPr>
          <a:xfrm>
            <a:off x="8040624" y="1371600"/>
            <a:ext cx="3489960" cy="45720"/>
          </a:xfrm>
          <a:prstGeom prst="rect">
            <a:avLst/>
          </a:prstGeom>
          <a:solidFill>
            <a:srgbClr val="2587C5"/>
          </a:solidFill>
          <a:ln/>
        </p:spPr>
      </p:sp>
      <p:sp>
        <p:nvSpPr>
          <p:cNvPr id="5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Text 5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1" name="Shape 59"/>
          <p:cNvSpPr/>
          <p:nvPr/>
        </p:nvSpPr>
        <p:spPr>
          <a:xfrm>
            <a:off x="8040624" y="2103120"/>
            <a:ext cx="3489960" cy="755294"/>
          </a:xfrm>
          <a:prstGeom prst="rect">
            <a:avLst/>
          </a:prstGeom>
          <a:solidFill>
            <a:srgbClr val="F7F7F7"/>
          </a:solidFill>
          <a:ln/>
        </p:spPr>
      </p:sp>
      <p:sp>
        <p:nvSpPr>
          <p:cNvPr id="62" name="Text 6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6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4" name="Text 62"/>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5" name="Text 63"/>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6" name="Text 6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6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68" name="Text 66"/>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69" name="Text 67"/>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0" name="Shape 68"/>
          <p:cNvSpPr/>
          <p:nvPr/>
        </p:nvSpPr>
        <p:spPr>
          <a:xfrm>
            <a:off x="8040624" y="3613709"/>
            <a:ext cx="3489960" cy="755294"/>
          </a:xfrm>
          <a:prstGeom prst="rect">
            <a:avLst/>
          </a:prstGeom>
          <a:solidFill>
            <a:srgbClr val="F7F7F7"/>
          </a:solidFill>
          <a:ln/>
        </p:spPr>
      </p:sp>
      <p:sp>
        <p:nvSpPr>
          <p:cNvPr id="71" name="Text 6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7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3" name="Text 71"/>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4" name="Text 72"/>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5" name="Text 73"/>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6" name="Text 74"/>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77" name="Text 75"/>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78" name="Text 76"/>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79" name="Shape 77"/>
          <p:cNvSpPr/>
          <p:nvPr/>
        </p:nvSpPr>
        <p:spPr>
          <a:xfrm>
            <a:off x="8040624" y="5124298"/>
            <a:ext cx="3489960" cy="755294"/>
          </a:xfrm>
          <a:prstGeom prst="rect">
            <a:avLst/>
          </a:prstGeom>
          <a:solidFill>
            <a:srgbClr val="F7F7F7"/>
          </a:solidFill>
          <a:ln/>
        </p:spPr>
      </p:sp>
      <p:sp>
        <p:nvSpPr>
          <p:cNvPr id="80" name="Text 7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1" name="Text 7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2" name="Text 80"/>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3" name="Text 81"/>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84" name="Shape 82"/>
          <p:cNvSpPr/>
          <p:nvPr/>
        </p:nvSpPr>
        <p:spPr>
          <a:xfrm>
            <a:off x="457200" y="6126480"/>
            <a:ext cx="11274552" cy="615696"/>
          </a:xfrm>
          <a:prstGeom prst="rect">
            <a:avLst/>
          </a:prstGeom>
          <a:solidFill>
            <a:srgbClr val="EDF4FA"/>
          </a:solidFill>
          <a:ln/>
        </p:spPr>
      </p:sp>
      <p:sp>
        <p:nvSpPr>
          <p:cNvPr id="85" name="Text 8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Honda Spokane, Volvo and Lincoln what changed. Ask Kia LV, Subaru St George and Acura what got in the way. Ask VW St George, Audi Reno and Honda Spokane what they started this year.</a:t>
            </a:r>
            <a:endParaRPr lang="en-US" sz="16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6" name="Shape 14"/>
          <p:cNvSpPr/>
          <p:nvPr/>
        </p:nvSpPr>
        <p:spPr>
          <a:xfrm>
            <a:off x="3008376" y="2436622"/>
            <a:ext cx="1658471"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3008376" y="2644902"/>
            <a:ext cx="1654662"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4" name="Shape 22"/>
          <p:cNvSpPr/>
          <p:nvPr/>
        </p:nvSpPr>
        <p:spPr>
          <a:xfrm>
            <a:off x="3008376" y="2853182"/>
            <a:ext cx="1649321"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8" name="Shape 26"/>
          <p:cNvSpPr/>
          <p:nvPr/>
        </p:nvSpPr>
        <p:spPr>
          <a:xfrm>
            <a:off x="3008376" y="3061462"/>
            <a:ext cx="1452099"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2" name="Shape 30"/>
          <p:cNvSpPr/>
          <p:nvPr/>
        </p:nvSpPr>
        <p:spPr>
          <a:xfrm>
            <a:off x="3008376" y="3269742"/>
            <a:ext cx="1139643"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6" name="Shape 34"/>
          <p:cNvSpPr/>
          <p:nvPr/>
        </p:nvSpPr>
        <p:spPr>
          <a:xfrm>
            <a:off x="3008376" y="3478022"/>
            <a:ext cx="899356"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0" name="Shape 38"/>
          <p:cNvSpPr/>
          <p:nvPr/>
        </p:nvSpPr>
        <p:spPr>
          <a:xfrm>
            <a:off x="3008376" y="3686302"/>
            <a:ext cx="825155"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008376" y="3894582"/>
            <a:ext cx="740306"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8" name="Shape 46"/>
          <p:cNvSpPr/>
          <p:nvPr/>
        </p:nvSpPr>
        <p:spPr>
          <a:xfrm>
            <a:off x="3008376" y="4102862"/>
            <a:ext cx="715741"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519422"/>
            <a:ext cx="1653705"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727702"/>
            <a:ext cx="1577968"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4935982"/>
            <a:ext cx="1503381"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144262"/>
            <a:ext cx="1412321"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352542"/>
            <a:ext cx="1353340"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560822"/>
            <a:ext cx="1320726"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69102"/>
            <a:ext cx="1282619"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2" name="Shape 80"/>
          <p:cNvSpPr/>
          <p:nvPr/>
        </p:nvSpPr>
        <p:spPr>
          <a:xfrm>
            <a:off x="8558784" y="2228342"/>
            <a:ext cx="1272990"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6" name="Shape 84"/>
          <p:cNvSpPr/>
          <p:nvPr/>
        </p:nvSpPr>
        <p:spPr>
          <a:xfrm>
            <a:off x="8558784" y="2436622"/>
            <a:ext cx="1270673"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0" name="Shape 88"/>
          <p:cNvSpPr/>
          <p:nvPr/>
        </p:nvSpPr>
        <p:spPr>
          <a:xfrm>
            <a:off x="8558784" y="2644902"/>
            <a:ext cx="1227837"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4" name="Shape 92"/>
          <p:cNvSpPr/>
          <p:nvPr/>
        </p:nvSpPr>
        <p:spPr>
          <a:xfrm>
            <a:off x="8558784" y="2853182"/>
            <a:ext cx="1190170"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8" name="Shape 96"/>
          <p:cNvSpPr/>
          <p:nvPr/>
        </p:nvSpPr>
        <p:spPr>
          <a:xfrm>
            <a:off x="8558784" y="3061462"/>
            <a:ext cx="1165364"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2" name="Shape 100"/>
          <p:cNvSpPr/>
          <p:nvPr/>
        </p:nvSpPr>
        <p:spPr>
          <a:xfrm>
            <a:off x="8558784" y="3269742"/>
            <a:ext cx="1152802" cy="104140"/>
          </a:xfrm>
          <a:prstGeom prst="rect">
            <a:avLst/>
          </a:prstGeom>
          <a:solidFill>
            <a:srgbClr val="12A566"/>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6" name="Shape 104"/>
          <p:cNvSpPr/>
          <p:nvPr/>
        </p:nvSpPr>
        <p:spPr>
          <a:xfrm>
            <a:off x="8558784" y="3478022"/>
            <a:ext cx="1012530"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0" name="Shape 108"/>
          <p:cNvSpPr/>
          <p:nvPr/>
        </p:nvSpPr>
        <p:spPr>
          <a:xfrm>
            <a:off x="8558784" y="3686302"/>
            <a:ext cx="1010719"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4" name="Shape 112"/>
          <p:cNvSpPr/>
          <p:nvPr/>
        </p:nvSpPr>
        <p:spPr>
          <a:xfrm>
            <a:off x="8558784" y="3894582"/>
            <a:ext cx="995064"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8" name="Shape 116"/>
          <p:cNvSpPr/>
          <p:nvPr/>
        </p:nvSpPr>
        <p:spPr>
          <a:xfrm>
            <a:off x="8558784" y="4102862"/>
            <a:ext cx="980911"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2" name="Shape 120"/>
          <p:cNvSpPr/>
          <p:nvPr/>
        </p:nvSpPr>
        <p:spPr>
          <a:xfrm>
            <a:off x="8558784" y="4311142"/>
            <a:ext cx="966604"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6" name="Shape 124"/>
          <p:cNvSpPr/>
          <p:nvPr/>
        </p:nvSpPr>
        <p:spPr>
          <a:xfrm>
            <a:off x="8558784" y="4519422"/>
            <a:ext cx="944704"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0" name="Shape 128"/>
          <p:cNvSpPr/>
          <p:nvPr/>
        </p:nvSpPr>
        <p:spPr>
          <a:xfrm>
            <a:off x="8558784" y="4727702"/>
            <a:ext cx="936986"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4" name="Shape 132"/>
          <p:cNvSpPr/>
          <p:nvPr/>
        </p:nvSpPr>
        <p:spPr>
          <a:xfrm>
            <a:off x="8558784" y="4935982"/>
            <a:ext cx="906947"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8" name="Shape 136"/>
          <p:cNvSpPr/>
          <p:nvPr/>
        </p:nvSpPr>
        <p:spPr>
          <a:xfrm>
            <a:off x="8558784" y="5144262"/>
            <a:ext cx="852977"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2" name="Shape 140"/>
          <p:cNvSpPr/>
          <p:nvPr/>
        </p:nvSpPr>
        <p:spPr>
          <a:xfrm>
            <a:off x="8558784" y="5352542"/>
            <a:ext cx="794261"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6" name="Shape 144"/>
          <p:cNvSpPr/>
          <p:nvPr/>
        </p:nvSpPr>
        <p:spPr>
          <a:xfrm>
            <a:off x="8558784" y="5560822"/>
            <a:ext cx="773488"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48" name="Shape 146"/>
          <p:cNvSpPr/>
          <p:nvPr/>
        </p:nvSpPr>
        <p:spPr>
          <a:xfrm>
            <a:off x="4123939" y="2176272"/>
            <a:ext cx="14630" cy="3749040"/>
          </a:xfrm>
          <a:prstGeom prst="rect">
            <a:avLst/>
          </a:prstGeom>
          <a:solidFill>
            <a:srgbClr val="0B2C4A"/>
          </a:solidFill>
          <a:ln/>
        </p:spPr>
      </p:sp>
      <p:sp>
        <p:nvSpPr>
          <p:cNvPr id="149" name="Shape 147"/>
          <p:cNvSpPr/>
          <p:nvPr/>
        </p:nvSpPr>
        <p:spPr>
          <a:xfrm>
            <a:off x="9674347"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led by Hyundai St George at +38.4% (+$66) to $238. 7 declined; VW St George fell most at −13.8%.</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5" name="Text 23"/>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6" name="Text 24"/>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7" name="Shape 25"/>
          <p:cNvSpPr/>
          <p:nvPr/>
        </p:nvSpPr>
        <p:spPr>
          <a:xfrm>
            <a:off x="658368" y="5124298"/>
            <a:ext cx="3489960" cy="755294"/>
          </a:xfrm>
          <a:prstGeom prst="rect">
            <a:avLst/>
          </a:prstGeom>
          <a:solidFill>
            <a:srgbClr val="F7F7F7"/>
          </a:solidFill>
          <a:ln/>
        </p:spPr>
      </p:sp>
      <p:sp>
        <p:nvSpPr>
          <p:cNvPr id="28" name="Text 26"/>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7"/>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0" name="Text 28"/>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1" name="Text 29"/>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2" name="Shape 30"/>
          <p:cNvSpPr/>
          <p:nvPr/>
        </p:nvSpPr>
        <p:spPr>
          <a:xfrm>
            <a:off x="4349496" y="1371600"/>
            <a:ext cx="3489960" cy="45720"/>
          </a:xfrm>
          <a:prstGeom prst="rect">
            <a:avLst/>
          </a:prstGeom>
          <a:solidFill>
            <a:srgbClr val="C2352F"/>
          </a:solidFill>
          <a:ln/>
        </p:spPr>
      </p:sp>
      <p:sp>
        <p:nvSpPr>
          <p:cNvPr id="33"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Text 32"/>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5" name="Shape 33"/>
          <p:cNvSpPr/>
          <p:nvPr/>
        </p:nvSpPr>
        <p:spPr>
          <a:xfrm>
            <a:off x="4349496" y="2103120"/>
            <a:ext cx="3489960" cy="755294"/>
          </a:xfrm>
          <a:prstGeom prst="rect">
            <a:avLst/>
          </a:prstGeom>
          <a:solidFill>
            <a:srgbClr val="F7F7F7"/>
          </a:solidFill>
          <a:ln/>
        </p:spPr>
      </p:sp>
      <p:sp>
        <p:nvSpPr>
          <p:cNvPr id="36" name="Text 34"/>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5"/>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8" name="Text 36"/>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39" name="Text 37"/>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0" name="Text 38"/>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9"/>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2" name="Text 40"/>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3" name="Text 41"/>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4" name="Shape 42"/>
          <p:cNvSpPr/>
          <p:nvPr/>
        </p:nvSpPr>
        <p:spPr>
          <a:xfrm>
            <a:off x="4349496" y="3613709"/>
            <a:ext cx="3489960" cy="755294"/>
          </a:xfrm>
          <a:prstGeom prst="rect">
            <a:avLst/>
          </a:prstGeom>
          <a:solidFill>
            <a:srgbClr val="F7F7F7"/>
          </a:solidFill>
          <a:ln/>
        </p:spPr>
      </p:sp>
      <p:sp>
        <p:nvSpPr>
          <p:cNvPr id="45" name="Text 43"/>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44"/>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7" name="Text 45"/>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8" name="Text 46"/>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49" name="Text 47"/>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8"/>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1" name="Text 49"/>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2" name="Text 50"/>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3" name="Shape 51"/>
          <p:cNvSpPr/>
          <p:nvPr/>
        </p:nvSpPr>
        <p:spPr>
          <a:xfrm>
            <a:off x="4349496" y="5124298"/>
            <a:ext cx="3489960" cy="755294"/>
          </a:xfrm>
          <a:prstGeom prst="rect">
            <a:avLst/>
          </a:prstGeom>
          <a:solidFill>
            <a:srgbClr val="F7F7F7"/>
          </a:solidFill>
          <a:ln/>
        </p:spPr>
      </p:sp>
      <p:sp>
        <p:nvSpPr>
          <p:cNvPr id="54" name="Text 52"/>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53"/>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6" name="Text 54"/>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7" name="Text 55"/>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8" name="Shape 56"/>
          <p:cNvSpPr/>
          <p:nvPr/>
        </p:nvSpPr>
        <p:spPr>
          <a:xfrm>
            <a:off x="8040624" y="1371600"/>
            <a:ext cx="3489960" cy="45720"/>
          </a:xfrm>
          <a:prstGeom prst="rect">
            <a:avLst/>
          </a:prstGeom>
          <a:solidFill>
            <a:srgbClr val="2587C5"/>
          </a:solidFill>
          <a:ln/>
        </p:spPr>
      </p:sp>
      <p:sp>
        <p:nvSpPr>
          <p:cNvPr id="5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Text 5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1" name="Shape 59"/>
          <p:cNvSpPr/>
          <p:nvPr/>
        </p:nvSpPr>
        <p:spPr>
          <a:xfrm>
            <a:off x="8040624" y="2103120"/>
            <a:ext cx="3489960" cy="755294"/>
          </a:xfrm>
          <a:prstGeom prst="rect">
            <a:avLst/>
          </a:prstGeom>
          <a:solidFill>
            <a:srgbClr val="F7F7F7"/>
          </a:solidFill>
          <a:ln/>
        </p:spPr>
      </p:sp>
      <p:sp>
        <p:nvSpPr>
          <p:cNvPr id="62" name="Text 6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6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4" name="Text 62"/>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5" name="Text 63"/>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6" name="Text 6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6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68" name="Text 66"/>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69" name="Text 67"/>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0" name="Shape 68"/>
          <p:cNvSpPr/>
          <p:nvPr/>
        </p:nvSpPr>
        <p:spPr>
          <a:xfrm>
            <a:off x="8040624" y="3613709"/>
            <a:ext cx="3489960" cy="755294"/>
          </a:xfrm>
          <a:prstGeom prst="rect">
            <a:avLst/>
          </a:prstGeom>
          <a:solidFill>
            <a:srgbClr val="F7F7F7"/>
          </a:solidFill>
          <a:ln/>
        </p:spPr>
      </p:sp>
      <p:sp>
        <p:nvSpPr>
          <p:cNvPr id="71" name="Text 6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7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3" name="Text 71"/>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4" name="Text 72"/>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5" name="Text 73"/>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6" name="Text 74"/>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7" name="Text 75"/>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78" name="Text 76"/>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79" name="Shape 77"/>
          <p:cNvSpPr/>
          <p:nvPr/>
        </p:nvSpPr>
        <p:spPr>
          <a:xfrm>
            <a:off x="8040624" y="5124298"/>
            <a:ext cx="3489960" cy="755294"/>
          </a:xfrm>
          <a:prstGeom prst="rect">
            <a:avLst/>
          </a:prstGeom>
          <a:solidFill>
            <a:srgbClr val="F7F7F7"/>
          </a:solidFill>
          <a:ln/>
        </p:spPr>
      </p:sp>
      <p:sp>
        <p:nvSpPr>
          <p:cNvPr id="80" name="Text 7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1" name="Text 7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2" name="Text 80"/>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3" name="Text 81"/>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4" name="Shape 82"/>
          <p:cNvSpPr/>
          <p:nvPr/>
        </p:nvSpPr>
        <p:spPr>
          <a:xfrm>
            <a:off x="457200" y="6126480"/>
            <a:ext cx="11274552" cy="615696"/>
          </a:xfrm>
          <a:prstGeom prst="rect">
            <a:avLst/>
          </a:prstGeom>
          <a:solidFill>
            <a:srgbClr val="EDF4FA"/>
          </a:solidFill>
          <a:ln/>
        </p:spPr>
      </p:sp>
      <p:sp>
        <p:nvSpPr>
          <p:cNvPr id="85" name="Text 8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Lincoln and Subaru Prescott what changed. Ask VW St George, LR Reno and Kia LV what got in the way. Ask Mazda, Kia St George and Hyundai Prescott what they started this year.</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job,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602724"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153132"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608210" y="1756697"/>
            <a:ext cx="515734"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+$229K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9" name="Shape 17"/>
          <p:cNvSpPr/>
          <p:nvPr/>
        </p:nvSpPr>
        <p:spPr>
          <a:xfrm>
            <a:off x="3608210" y="2005199"/>
            <a:ext cx="368621"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+$163K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3608210" y="2253700"/>
            <a:ext cx="93661"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9" name="Shape 27"/>
          <p:cNvSpPr/>
          <p:nvPr/>
        </p:nvSpPr>
        <p:spPr>
          <a:xfrm>
            <a:off x="3608210" y="2502202"/>
            <a:ext cx="92519"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4" name="Shape 32"/>
          <p:cNvSpPr/>
          <p:nvPr/>
        </p:nvSpPr>
        <p:spPr>
          <a:xfrm>
            <a:off x="3608210" y="2750703"/>
            <a:ext cx="60439"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+$27K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39" name="Shape 37"/>
          <p:cNvSpPr/>
          <p:nvPr/>
        </p:nvSpPr>
        <p:spPr>
          <a:xfrm>
            <a:off x="3608210" y="2999205"/>
            <a:ext cx="52903"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4" name="Shape 42"/>
          <p:cNvSpPr/>
          <p:nvPr/>
        </p:nvSpPr>
        <p:spPr>
          <a:xfrm>
            <a:off x="3608210" y="3247707"/>
            <a:ext cx="38422"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9" name="Shape 47"/>
          <p:cNvSpPr/>
          <p:nvPr/>
        </p:nvSpPr>
        <p:spPr>
          <a:xfrm>
            <a:off x="3608210" y="3496208"/>
            <a:ext cx="32407" cy="136676"/>
          </a:xfrm>
          <a:prstGeom prst="rect">
            <a:avLst/>
          </a:prstGeom>
          <a:solidFill>
            <a:srgbClr val="12A566"/>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4" name="Shape 52"/>
          <p:cNvSpPr/>
          <p:nvPr/>
        </p:nvSpPr>
        <p:spPr>
          <a:xfrm>
            <a:off x="3606258" y="3744710"/>
            <a:ext cx="18288"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9" name="Shape 57"/>
          <p:cNvSpPr/>
          <p:nvPr/>
        </p:nvSpPr>
        <p:spPr>
          <a:xfrm>
            <a:off x="3591832" y="3993212"/>
            <a:ext cx="18288"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4" name="Shape 62"/>
          <p:cNvSpPr/>
          <p:nvPr/>
        </p:nvSpPr>
        <p:spPr>
          <a:xfrm>
            <a:off x="3587605" y="4241713"/>
            <a:ext cx="20606"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9" name="Shape 67"/>
          <p:cNvSpPr/>
          <p:nvPr/>
        </p:nvSpPr>
        <p:spPr>
          <a:xfrm>
            <a:off x="3586165" y="4490215"/>
            <a:ext cx="22045"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4" name="Shape 72"/>
          <p:cNvSpPr/>
          <p:nvPr/>
        </p:nvSpPr>
        <p:spPr>
          <a:xfrm>
            <a:off x="3584721" y="4738717"/>
            <a:ext cx="23489"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9" name="Shape 77"/>
          <p:cNvSpPr/>
          <p:nvPr/>
        </p:nvSpPr>
        <p:spPr>
          <a:xfrm>
            <a:off x="3582272" y="4987218"/>
            <a:ext cx="25938"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3580943" y="5235720"/>
            <a:ext cx="27268"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Shape 87"/>
          <p:cNvSpPr/>
          <p:nvPr/>
        </p:nvSpPr>
        <p:spPr>
          <a:xfrm>
            <a:off x="3568116" y="5484222"/>
            <a:ext cx="40094"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4" name="Shape 92"/>
          <p:cNvSpPr/>
          <p:nvPr/>
        </p:nvSpPr>
        <p:spPr>
          <a:xfrm>
            <a:off x="3560947" y="5732723"/>
            <a:ext cx="47264"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9" name="Shape 97"/>
          <p:cNvSpPr/>
          <p:nvPr/>
        </p:nvSpPr>
        <p:spPr>
          <a:xfrm>
            <a:off x="9107541" y="1756697"/>
            <a:ext cx="51077"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4" name="Shape 102"/>
          <p:cNvSpPr/>
          <p:nvPr/>
        </p:nvSpPr>
        <p:spPr>
          <a:xfrm>
            <a:off x="9105708" y="2005199"/>
            <a:ext cx="52910"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9" name="Shape 107"/>
          <p:cNvSpPr/>
          <p:nvPr/>
        </p:nvSpPr>
        <p:spPr>
          <a:xfrm>
            <a:off x="9101403" y="2253700"/>
            <a:ext cx="57215"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4" name="Shape 112"/>
          <p:cNvSpPr/>
          <p:nvPr/>
        </p:nvSpPr>
        <p:spPr>
          <a:xfrm>
            <a:off x="9099265" y="2502202"/>
            <a:ext cx="59354"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9" name="Shape 117"/>
          <p:cNvSpPr/>
          <p:nvPr/>
        </p:nvSpPr>
        <p:spPr>
          <a:xfrm>
            <a:off x="9084954" y="2750703"/>
            <a:ext cx="73665"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24" name="Shape 122"/>
          <p:cNvSpPr/>
          <p:nvPr/>
        </p:nvSpPr>
        <p:spPr>
          <a:xfrm>
            <a:off x="9083815" y="2999205"/>
            <a:ext cx="74803"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29" name="Shape 127"/>
          <p:cNvSpPr/>
          <p:nvPr/>
        </p:nvSpPr>
        <p:spPr>
          <a:xfrm>
            <a:off x="9081129" y="3247707"/>
            <a:ext cx="77490"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34" name="Shape 132"/>
          <p:cNvSpPr/>
          <p:nvPr/>
        </p:nvSpPr>
        <p:spPr>
          <a:xfrm>
            <a:off x="9076646" y="3496208"/>
            <a:ext cx="81973"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9" name="Shape 137"/>
          <p:cNvSpPr/>
          <p:nvPr/>
        </p:nvSpPr>
        <p:spPr>
          <a:xfrm>
            <a:off x="9072387" y="3744710"/>
            <a:ext cx="86231"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4" name="Shape 142"/>
          <p:cNvSpPr/>
          <p:nvPr/>
        </p:nvSpPr>
        <p:spPr>
          <a:xfrm>
            <a:off x="9047176" y="3993212"/>
            <a:ext cx="111443"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9" name="Shape 147"/>
          <p:cNvSpPr/>
          <p:nvPr/>
        </p:nvSpPr>
        <p:spPr>
          <a:xfrm>
            <a:off x="9029635" y="4241713"/>
            <a:ext cx="128983"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54" name="Shape 152"/>
          <p:cNvSpPr/>
          <p:nvPr/>
        </p:nvSpPr>
        <p:spPr>
          <a:xfrm>
            <a:off x="8988331" y="4490215"/>
            <a:ext cx="170287"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9" name="Shape 157"/>
          <p:cNvSpPr/>
          <p:nvPr/>
        </p:nvSpPr>
        <p:spPr>
          <a:xfrm>
            <a:off x="8985336" y="4738717"/>
            <a:ext cx="173282"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64" name="Shape 162"/>
          <p:cNvSpPr/>
          <p:nvPr/>
        </p:nvSpPr>
        <p:spPr>
          <a:xfrm>
            <a:off x="8971042" y="4987218"/>
            <a:ext cx="187577"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9" name="Shape 167"/>
          <p:cNvSpPr/>
          <p:nvPr/>
        </p:nvSpPr>
        <p:spPr>
          <a:xfrm>
            <a:off x="8955629" y="5235720"/>
            <a:ext cx="202990"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4" name="Shape 172"/>
          <p:cNvSpPr/>
          <p:nvPr/>
        </p:nvSpPr>
        <p:spPr>
          <a:xfrm>
            <a:off x="8650224" y="5484222"/>
            <a:ext cx="508394"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41376"/>
          </a:xfrm>
          <a:prstGeom prst="rect">
            <a:avLst/>
          </a:prstGeom>
          <a:solidFill>
            <a:srgbClr val="FBEBEA"/>
          </a:solidFill>
          <a:ln/>
        </p:spPr>
      </p:sp>
      <p:sp>
        <p:nvSpPr>
          <p:cNvPr id="179" name="Text 17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25 stores under 15% leave $1,029,276 a year; 8 are at or above it. Toyota Spokane is furthest below at −$225K.</a:t>
            </a:r>
            <a:endParaRPr lang="en-US" sz="14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 Ask Audi Henderson, Mazda and Kia St George what they started this year.</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831949"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382357"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837435" y="1756697"/>
            <a:ext cx="286509"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+$70K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9" name="Shape 17"/>
          <p:cNvSpPr/>
          <p:nvPr/>
        </p:nvSpPr>
        <p:spPr>
          <a:xfrm>
            <a:off x="3837435" y="2005199"/>
            <a:ext cx="125398"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4" name="Shape 22"/>
          <p:cNvSpPr/>
          <p:nvPr/>
        </p:nvSpPr>
        <p:spPr>
          <a:xfrm>
            <a:off x="3837435" y="2253700"/>
            <a:ext cx="56794"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9" name="Shape 27"/>
          <p:cNvSpPr/>
          <p:nvPr/>
        </p:nvSpPr>
        <p:spPr>
          <a:xfrm>
            <a:off x="3837435" y="2502202"/>
            <a:ext cx="22738"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4" name="Shape 32"/>
          <p:cNvSpPr/>
          <p:nvPr/>
        </p:nvSpPr>
        <p:spPr>
          <a:xfrm>
            <a:off x="3837294" y="2750703"/>
            <a:ext cx="18288" cy="136676"/>
          </a:xfrm>
          <a:prstGeom prst="rect">
            <a:avLst/>
          </a:prstGeom>
          <a:solidFill>
            <a:srgbClr val="C2352F"/>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9" name="Shape 37"/>
          <p:cNvSpPr/>
          <p:nvPr/>
        </p:nvSpPr>
        <p:spPr>
          <a:xfrm>
            <a:off x="3826086" y="2999205"/>
            <a:ext cx="18288" cy="136676"/>
          </a:xfrm>
          <a:prstGeom prst="rect">
            <a:avLst/>
          </a:prstGeom>
          <a:solidFill>
            <a:srgbClr val="C2352F"/>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Shape 42"/>
          <p:cNvSpPr/>
          <p:nvPr/>
        </p:nvSpPr>
        <p:spPr>
          <a:xfrm>
            <a:off x="3813350" y="3247707"/>
            <a:ext cx="24085" cy="136676"/>
          </a:xfrm>
          <a:prstGeom prst="rect">
            <a:avLst/>
          </a:prstGeom>
          <a:solidFill>
            <a:srgbClr val="C2352F"/>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9" name="Shape 47"/>
          <p:cNvSpPr/>
          <p:nvPr/>
        </p:nvSpPr>
        <p:spPr>
          <a:xfrm>
            <a:off x="3806604" y="3496208"/>
            <a:ext cx="30831" cy="136676"/>
          </a:xfrm>
          <a:prstGeom prst="rect">
            <a:avLst/>
          </a:prstGeom>
          <a:solidFill>
            <a:srgbClr val="C2352F"/>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4" name="Shape 52"/>
          <p:cNvSpPr/>
          <p:nvPr/>
        </p:nvSpPr>
        <p:spPr>
          <a:xfrm>
            <a:off x="3792816" y="3744710"/>
            <a:ext cx="44619"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59" name="Shape 57"/>
          <p:cNvSpPr/>
          <p:nvPr/>
        </p:nvSpPr>
        <p:spPr>
          <a:xfrm>
            <a:off x="3778841" y="3993212"/>
            <a:ext cx="58594"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4" name="Shape 62"/>
          <p:cNvSpPr/>
          <p:nvPr/>
        </p:nvSpPr>
        <p:spPr>
          <a:xfrm>
            <a:off x="3762034" y="4241713"/>
            <a:ext cx="75401"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9" name="Shape 67"/>
          <p:cNvSpPr/>
          <p:nvPr/>
        </p:nvSpPr>
        <p:spPr>
          <a:xfrm>
            <a:off x="3751798" y="4490215"/>
            <a:ext cx="85637"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3727198" y="4738717"/>
            <a:ext cx="110237"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9" name="Shape 77"/>
          <p:cNvSpPr/>
          <p:nvPr/>
        </p:nvSpPr>
        <p:spPr>
          <a:xfrm>
            <a:off x="3725070" y="4987218"/>
            <a:ext cx="112366"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4" name="Shape 82"/>
          <p:cNvSpPr/>
          <p:nvPr/>
        </p:nvSpPr>
        <p:spPr>
          <a:xfrm>
            <a:off x="3723194" y="5235720"/>
            <a:ext cx="114242"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9" name="Shape 87"/>
          <p:cNvSpPr/>
          <p:nvPr/>
        </p:nvSpPr>
        <p:spPr>
          <a:xfrm>
            <a:off x="3710862" y="5484222"/>
            <a:ext cx="126574"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4" name="Shape 92"/>
          <p:cNvSpPr/>
          <p:nvPr/>
        </p:nvSpPr>
        <p:spPr>
          <a:xfrm>
            <a:off x="3690964" y="5732723"/>
            <a:ext cx="146471"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9" name="Shape 97"/>
          <p:cNvSpPr/>
          <p:nvPr/>
        </p:nvSpPr>
        <p:spPr>
          <a:xfrm>
            <a:off x="9230771" y="1756697"/>
            <a:ext cx="157072"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4" name="Shape 102"/>
          <p:cNvSpPr/>
          <p:nvPr/>
        </p:nvSpPr>
        <p:spPr>
          <a:xfrm>
            <a:off x="9175412" y="2005199"/>
            <a:ext cx="212431"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9" name="Shape 107"/>
          <p:cNvSpPr/>
          <p:nvPr/>
        </p:nvSpPr>
        <p:spPr>
          <a:xfrm>
            <a:off x="9174770" y="2253700"/>
            <a:ext cx="213073"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4" name="Shape 112"/>
          <p:cNvSpPr/>
          <p:nvPr/>
        </p:nvSpPr>
        <p:spPr>
          <a:xfrm>
            <a:off x="9156849" y="2502202"/>
            <a:ext cx="230994"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9" name="Shape 117"/>
          <p:cNvSpPr/>
          <p:nvPr/>
        </p:nvSpPr>
        <p:spPr>
          <a:xfrm>
            <a:off x="9109512" y="2750703"/>
            <a:ext cx="278331"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4" name="Shape 122"/>
          <p:cNvSpPr/>
          <p:nvPr/>
        </p:nvSpPr>
        <p:spPr>
          <a:xfrm>
            <a:off x="9109414" y="2999205"/>
            <a:ext cx="278430"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29" name="Shape 127"/>
          <p:cNvSpPr/>
          <p:nvPr/>
        </p:nvSpPr>
        <p:spPr>
          <a:xfrm>
            <a:off x="9093262" y="3247707"/>
            <a:ext cx="294581"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4" name="Shape 132"/>
          <p:cNvSpPr/>
          <p:nvPr/>
        </p:nvSpPr>
        <p:spPr>
          <a:xfrm>
            <a:off x="9087005" y="3496208"/>
            <a:ext cx="300838"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9" name="Shape 137"/>
          <p:cNvSpPr/>
          <p:nvPr/>
        </p:nvSpPr>
        <p:spPr>
          <a:xfrm>
            <a:off x="9073146" y="3744710"/>
            <a:ext cx="314698"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4" name="Shape 142"/>
          <p:cNvSpPr/>
          <p:nvPr/>
        </p:nvSpPr>
        <p:spPr>
          <a:xfrm>
            <a:off x="9059221" y="3993212"/>
            <a:ext cx="328622"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9" name="Shape 147"/>
          <p:cNvSpPr/>
          <p:nvPr/>
        </p:nvSpPr>
        <p:spPr>
          <a:xfrm>
            <a:off x="8951542" y="4241713"/>
            <a:ext cx="436301"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940210" y="4490215"/>
            <a:ext cx="447633"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59" name="Shape 157"/>
          <p:cNvSpPr/>
          <p:nvPr/>
        </p:nvSpPr>
        <p:spPr>
          <a:xfrm>
            <a:off x="8875154" y="4738717"/>
            <a:ext cx="512690"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4" name="Shape 162"/>
          <p:cNvSpPr/>
          <p:nvPr/>
        </p:nvSpPr>
        <p:spPr>
          <a:xfrm>
            <a:off x="8844728" y="4987218"/>
            <a:ext cx="543115"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9" name="Shape 167"/>
          <p:cNvSpPr/>
          <p:nvPr/>
        </p:nvSpPr>
        <p:spPr>
          <a:xfrm>
            <a:off x="8783012" y="5235720"/>
            <a:ext cx="604831"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4" name="Shape 172"/>
          <p:cNvSpPr/>
          <p:nvPr/>
        </p:nvSpPr>
        <p:spPr>
          <a:xfrm>
            <a:off x="8650224" y="5484222"/>
            <a:ext cx="737619"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41376"/>
          </a:xfrm>
          <a:prstGeom prst="rect">
            <a:avLst/>
          </a:prstGeom>
          <a:solidFill>
            <a:srgbClr val="FBEBEA"/>
          </a:solidFill>
          <a:ln/>
        </p:spPr>
      </p:sp>
      <p:sp>
        <p:nvSpPr>
          <p:cNvPr id="179" name="Text 17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29 stores under 15% leave $1,664,385 a year; 4 are at or above it. Toyota Spokane is furthest below at −$180K.</a:t>
            </a:r>
            <a:endParaRPr lang="en-US" sz="14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 Ask Mazda, Hyundai Prescott and Honda Spokane what they started this year.</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470240"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02064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75726" y="1756697"/>
            <a:ext cx="648218"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+$260K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 name="Shape 17"/>
          <p:cNvSpPr/>
          <p:nvPr/>
        </p:nvSpPr>
        <p:spPr>
          <a:xfrm>
            <a:off x="3475726" y="2005199"/>
            <a:ext cx="467053"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+$187K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4" name="Shape 22"/>
          <p:cNvSpPr/>
          <p:nvPr/>
        </p:nvSpPr>
        <p:spPr>
          <a:xfrm>
            <a:off x="3475726" y="2253700"/>
            <a:ext cx="168095"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+$67K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9" name="Shape 27"/>
          <p:cNvSpPr/>
          <p:nvPr/>
        </p:nvSpPr>
        <p:spPr>
          <a:xfrm>
            <a:off x="3475726" y="2502202"/>
            <a:ext cx="84155"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+$34K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4" name="Shape 32"/>
          <p:cNvSpPr/>
          <p:nvPr/>
        </p:nvSpPr>
        <p:spPr>
          <a:xfrm>
            <a:off x="3475726" y="2750703"/>
            <a:ext cx="81270"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9" name="Shape 37"/>
          <p:cNvSpPr/>
          <p:nvPr/>
        </p:nvSpPr>
        <p:spPr>
          <a:xfrm>
            <a:off x="3475726" y="2999205"/>
            <a:ext cx="58927"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44" name="Shape 42"/>
          <p:cNvSpPr/>
          <p:nvPr/>
        </p:nvSpPr>
        <p:spPr>
          <a:xfrm>
            <a:off x="3475726" y="3247707"/>
            <a:ext cx="52299"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9" name="Shape 47"/>
          <p:cNvSpPr/>
          <p:nvPr/>
        </p:nvSpPr>
        <p:spPr>
          <a:xfrm>
            <a:off x="3475726" y="3496208"/>
            <a:ext cx="48881" cy="136676"/>
          </a:xfrm>
          <a:prstGeom prst="rect">
            <a:avLst/>
          </a:prstGeom>
          <a:solidFill>
            <a:srgbClr val="12A566"/>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3475726" y="3744710"/>
            <a:ext cx="39506" cy="136676"/>
          </a:xfrm>
          <a:prstGeom prst="rect">
            <a:avLst/>
          </a:prstGeom>
          <a:solidFill>
            <a:srgbClr val="12A566"/>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9" name="Shape 57"/>
          <p:cNvSpPr/>
          <p:nvPr/>
        </p:nvSpPr>
        <p:spPr>
          <a:xfrm>
            <a:off x="3475726" y="3993212"/>
            <a:ext cx="22119" cy="136676"/>
          </a:xfrm>
          <a:prstGeom prst="rect">
            <a:avLst/>
          </a:prstGeom>
          <a:solidFill>
            <a:srgbClr val="12A566"/>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4" name="Shape 62"/>
          <p:cNvSpPr/>
          <p:nvPr/>
        </p:nvSpPr>
        <p:spPr>
          <a:xfrm>
            <a:off x="3475726" y="4241713"/>
            <a:ext cx="18288" cy="136676"/>
          </a:xfrm>
          <a:prstGeom prst="rect">
            <a:avLst/>
          </a:prstGeom>
          <a:solidFill>
            <a:srgbClr val="12A566"/>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9" name="Shape 67"/>
          <p:cNvSpPr/>
          <p:nvPr/>
        </p:nvSpPr>
        <p:spPr>
          <a:xfrm>
            <a:off x="3475726" y="4490215"/>
            <a:ext cx="18288" cy="136676"/>
          </a:xfrm>
          <a:prstGeom prst="rect">
            <a:avLst/>
          </a:prstGeom>
          <a:solidFill>
            <a:srgbClr val="12A566"/>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4" name="Shape 72"/>
          <p:cNvSpPr/>
          <p:nvPr/>
        </p:nvSpPr>
        <p:spPr>
          <a:xfrm>
            <a:off x="3467487" y="4738717"/>
            <a:ext cx="18288"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9" name="Shape 77"/>
          <p:cNvSpPr/>
          <p:nvPr/>
        </p:nvSpPr>
        <p:spPr>
          <a:xfrm>
            <a:off x="3464806" y="4987218"/>
            <a:ext cx="18288"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4" name="Shape 82"/>
          <p:cNvSpPr/>
          <p:nvPr/>
        </p:nvSpPr>
        <p:spPr>
          <a:xfrm>
            <a:off x="3448532" y="5235720"/>
            <a:ext cx="27195"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Shape 87"/>
          <p:cNvSpPr/>
          <p:nvPr/>
        </p:nvSpPr>
        <p:spPr>
          <a:xfrm>
            <a:off x="3443206" y="5484222"/>
            <a:ext cx="32520"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4" name="Shape 92"/>
          <p:cNvSpPr/>
          <p:nvPr/>
        </p:nvSpPr>
        <p:spPr>
          <a:xfrm>
            <a:off x="3438055" y="5732723"/>
            <a:ext cx="37671"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9" name="Shape 97"/>
          <p:cNvSpPr/>
          <p:nvPr/>
        </p:nvSpPr>
        <p:spPr>
          <a:xfrm>
            <a:off x="8982059" y="1756697"/>
            <a:ext cx="44076"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4" name="Shape 102"/>
          <p:cNvSpPr/>
          <p:nvPr/>
        </p:nvSpPr>
        <p:spPr>
          <a:xfrm>
            <a:off x="8977096" y="2005199"/>
            <a:ext cx="49038"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9" name="Shape 107"/>
          <p:cNvSpPr/>
          <p:nvPr/>
        </p:nvSpPr>
        <p:spPr>
          <a:xfrm>
            <a:off x="8974752" y="2253700"/>
            <a:ext cx="51383"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4" name="Shape 112"/>
          <p:cNvSpPr/>
          <p:nvPr/>
        </p:nvSpPr>
        <p:spPr>
          <a:xfrm>
            <a:off x="8973015" y="2502202"/>
            <a:ext cx="53119"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19" name="Shape 117"/>
          <p:cNvSpPr/>
          <p:nvPr/>
        </p:nvSpPr>
        <p:spPr>
          <a:xfrm>
            <a:off x="8970285" y="2750703"/>
            <a:ext cx="55850"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4" name="Shape 122"/>
          <p:cNvSpPr/>
          <p:nvPr/>
        </p:nvSpPr>
        <p:spPr>
          <a:xfrm>
            <a:off x="8963737" y="2999205"/>
            <a:ext cx="62398"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9" name="Shape 127"/>
          <p:cNvSpPr/>
          <p:nvPr/>
        </p:nvSpPr>
        <p:spPr>
          <a:xfrm>
            <a:off x="8947585" y="3247707"/>
            <a:ext cx="78550"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4" name="Shape 132"/>
          <p:cNvSpPr/>
          <p:nvPr/>
        </p:nvSpPr>
        <p:spPr>
          <a:xfrm>
            <a:off x="8946049" y="3496208"/>
            <a:ext cx="80086"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9" name="Shape 137"/>
          <p:cNvSpPr/>
          <p:nvPr/>
        </p:nvSpPr>
        <p:spPr>
          <a:xfrm>
            <a:off x="8907086" y="3744710"/>
            <a:ext cx="119049"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4" name="Shape 142"/>
          <p:cNvSpPr/>
          <p:nvPr/>
        </p:nvSpPr>
        <p:spPr>
          <a:xfrm>
            <a:off x="8895233" y="3993212"/>
            <a:ext cx="130901"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49" name="Shape 147"/>
          <p:cNvSpPr/>
          <p:nvPr/>
        </p:nvSpPr>
        <p:spPr>
          <a:xfrm>
            <a:off x="8884789" y="4241713"/>
            <a:ext cx="141346"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54" name="Shape 152"/>
          <p:cNvSpPr/>
          <p:nvPr/>
        </p:nvSpPr>
        <p:spPr>
          <a:xfrm>
            <a:off x="8858308" y="4490215"/>
            <a:ext cx="167826"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59" name="Shape 157"/>
          <p:cNvSpPr/>
          <p:nvPr/>
        </p:nvSpPr>
        <p:spPr>
          <a:xfrm>
            <a:off x="8840630" y="4738717"/>
            <a:ext cx="185505"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64" name="Shape 162"/>
          <p:cNvSpPr/>
          <p:nvPr/>
        </p:nvSpPr>
        <p:spPr>
          <a:xfrm>
            <a:off x="8831965" y="4987218"/>
            <a:ext cx="194169"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9" name="Shape 167"/>
          <p:cNvSpPr/>
          <p:nvPr/>
        </p:nvSpPr>
        <p:spPr>
          <a:xfrm>
            <a:off x="8826849" y="5235720"/>
            <a:ext cx="199286"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4" name="Shape 172"/>
          <p:cNvSpPr/>
          <p:nvPr/>
        </p:nvSpPr>
        <p:spPr>
          <a:xfrm>
            <a:off x="8650224" y="5484222"/>
            <a:ext cx="375910"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56616"/>
          </a:xfrm>
          <a:prstGeom prst="rect">
            <a:avLst/>
          </a:prstGeom>
          <a:solidFill>
            <a:srgbClr val="FBEBEA"/>
          </a:solidFill>
          <a:ln/>
        </p:spPr>
      </p:sp>
      <p:sp>
        <p:nvSpPr>
          <p:cNvPr id="179" name="Text 177"/>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21 stores under 10% leave $844,657 a year; 12 are at or above it. Chevy LV is furthest below at −$151K.</a:t>
            </a:r>
            <a:endParaRPr lang="en-US" sz="15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 Ask Mazda, Audi Reno and Kia St George what they started this year.</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540063"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090471"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545549" y="1756697"/>
            <a:ext cx="578395"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+$185K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9" name="Shape 17"/>
          <p:cNvSpPr/>
          <p:nvPr/>
        </p:nvSpPr>
        <p:spPr>
          <a:xfrm>
            <a:off x="3545549" y="2005199"/>
            <a:ext cx="224689"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+$72K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4" name="Shape 22"/>
          <p:cNvSpPr/>
          <p:nvPr/>
        </p:nvSpPr>
        <p:spPr>
          <a:xfrm>
            <a:off x="3545549" y="2253700"/>
            <a:ext cx="160950"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9" name="Shape 27"/>
          <p:cNvSpPr/>
          <p:nvPr/>
        </p:nvSpPr>
        <p:spPr>
          <a:xfrm>
            <a:off x="3545549" y="2502202"/>
            <a:ext cx="41697"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4" name="Shape 32"/>
          <p:cNvSpPr/>
          <p:nvPr/>
        </p:nvSpPr>
        <p:spPr>
          <a:xfrm>
            <a:off x="3545549" y="2750703"/>
            <a:ext cx="36360"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9" name="Shape 37"/>
          <p:cNvSpPr/>
          <p:nvPr/>
        </p:nvSpPr>
        <p:spPr>
          <a:xfrm>
            <a:off x="3545549" y="2999205"/>
            <a:ext cx="18288"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4" name="Shape 42"/>
          <p:cNvSpPr/>
          <p:nvPr/>
        </p:nvSpPr>
        <p:spPr>
          <a:xfrm>
            <a:off x="3545549" y="3247707"/>
            <a:ext cx="18288"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9" name="Shape 47"/>
          <p:cNvSpPr/>
          <p:nvPr/>
        </p:nvSpPr>
        <p:spPr>
          <a:xfrm>
            <a:off x="3541770" y="3496208"/>
            <a:ext cx="18288" cy="136676"/>
          </a:xfrm>
          <a:prstGeom prst="rect">
            <a:avLst/>
          </a:prstGeom>
          <a:solidFill>
            <a:srgbClr val="C2352F"/>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4" name="Shape 52"/>
          <p:cNvSpPr/>
          <p:nvPr/>
        </p:nvSpPr>
        <p:spPr>
          <a:xfrm>
            <a:off x="3513580" y="3744710"/>
            <a:ext cx="31969"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9" name="Shape 57"/>
          <p:cNvSpPr/>
          <p:nvPr/>
        </p:nvSpPr>
        <p:spPr>
          <a:xfrm>
            <a:off x="3505684" y="3993212"/>
            <a:ext cx="39865"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4" name="Shape 62"/>
          <p:cNvSpPr/>
          <p:nvPr/>
        </p:nvSpPr>
        <p:spPr>
          <a:xfrm>
            <a:off x="3488418" y="4241713"/>
            <a:ext cx="57131"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9" name="Shape 67"/>
          <p:cNvSpPr/>
          <p:nvPr/>
        </p:nvSpPr>
        <p:spPr>
          <a:xfrm>
            <a:off x="3486400" y="4490215"/>
            <a:ext cx="59150"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3479069" y="4738717"/>
            <a:ext cx="66480"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9" name="Shape 77"/>
          <p:cNvSpPr/>
          <p:nvPr/>
        </p:nvSpPr>
        <p:spPr>
          <a:xfrm>
            <a:off x="3470893" y="4987218"/>
            <a:ext cx="74656"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4" name="Shape 82"/>
          <p:cNvSpPr/>
          <p:nvPr/>
        </p:nvSpPr>
        <p:spPr>
          <a:xfrm>
            <a:off x="3467487" y="5235720"/>
            <a:ext cx="78062"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3463887" y="5484222"/>
            <a:ext cx="81662"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4" name="Shape 92"/>
          <p:cNvSpPr/>
          <p:nvPr/>
        </p:nvSpPr>
        <p:spPr>
          <a:xfrm>
            <a:off x="3455112" y="5732723"/>
            <a:ext cx="90437"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9" name="Shape 97"/>
          <p:cNvSpPr/>
          <p:nvPr/>
        </p:nvSpPr>
        <p:spPr>
          <a:xfrm>
            <a:off x="8990249" y="1756697"/>
            <a:ext cx="105708"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4" name="Shape 102"/>
          <p:cNvSpPr/>
          <p:nvPr/>
        </p:nvSpPr>
        <p:spPr>
          <a:xfrm>
            <a:off x="8952406" y="2005199"/>
            <a:ext cx="143551"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9" name="Shape 107"/>
          <p:cNvSpPr/>
          <p:nvPr/>
        </p:nvSpPr>
        <p:spPr>
          <a:xfrm>
            <a:off x="8934853" y="2253700"/>
            <a:ext cx="161104"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4" name="Shape 112"/>
          <p:cNvSpPr/>
          <p:nvPr/>
        </p:nvSpPr>
        <p:spPr>
          <a:xfrm>
            <a:off x="8920647" y="2502202"/>
            <a:ext cx="175310"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19" name="Shape 117"/>
          <p:cNvSpPr/>
          <p:nvPr/>
        </p:nvSpPr>
        <p:spPr>
          <a:xfrm>
            <a:off x="8920267" y="2750703"/>
            <a:ext cx="175690"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4" name="Shape 122"/>
          <p:cNvSpPr/>
          <p:nvPr/>
        </p:nvSpPr>
        <p:spPr>
          <a:xfrm>
            <a:off x="8908211" y="2999205"/>
            <a:ext cx="187746"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9" name="Shape 127"/>
          <p:cNvSpPr/>
          <p:nvPr/>
        </p:nvSpPr>
        <p:spPr>
          <a:xfrm>
            <a:off x="8902495" y="3247707"/>
            <a:ext cx="193462"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4" name="Shape 132"/>
          <p:cNvSpPr/>
          <p:nvPr/>
        </p:nvSpPr>
        <p:spPr>
          <a:xfrm>
            <a:off x="8901220" y="3496208"/>
            <a:ext cx="194737"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9" name="Shape 137"/>
          <p:cNvSpPr/>
          <p:nvPr/>
        </p:nvSpPr>
        <p:spPr>
          <a:xfrm>
            <a:off x="8896811" y="3744710"/>
            <a:ext cx="199146"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4" name="Shape 142"/>
          <p:cNvSpPr/>
          <p:nvPr/>
        </p:nvSpPr>
        <p:spPr>
          <a:xfrm>
            <a:off x="8891747" y="3993212"/>
            <a:ext cx="204210"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9" name="Shape 147"/>
          <p:cNvSpPr/>
          <p:nvPr/>
        </p:nvSpPr>
        <p:spPr>
          <a:xfrm>
            <a:off x="8860792" y="4241713"/>
            <a:ext cx="235165"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4" name="Shape 152"/>
          <p:cNvSpPr/>
          <p:nvPr/>
        </p:nvSpPr>
        <p:spPr>
          <a:xfrm>
            <a:off x="8859151" y="4490215"/>
            <a:ext cx="236806"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9" name="Shape 157"/>
          <p:cNvSpPr/>
          <p:nvPr/>
        </p:nvSpPr>
        <p:spPr>
          <a:xfrm>
            <a:off x="8830828" y="4738717"/>
            <a:ext cx="265129"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4" name="Shape 162"/>
          <p:cNvSpPr/>
          <p:nvPr/>
        </p:nvSpPr>
        <p:spPr>
          <a:xfrm>
            <a:off x="8754888" y="4987218"/>
            <a:ext cx="341069"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9" name="Shape 167"/>
          <p:cNvSpPr/>
          <p:nvPr/>
        </p:nvSpPr>
        <p:spPr>
          <a:xfrm>
            <a:off x="8693205" y="5235720"/>
            <a:ext cx="402752"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4" name="Shape 172"/>
          <p:cNvSpPr/>
          <p:nvPr/>
        </p:nvSpPr>
        <p:spPr>
          <a:xfrm>
            <a:off x="8650224" y="5484222"/>
            <a:ext cx="445733"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56616"/>
          </a:xfrm>
          <a:prstGeom prst="rect">
            <a:avLst/>
          </a:prstGeom>
          <a:solidFill>
            <a:srgbClr val="FBEBEA"/>
          </a:solidFill>
          <a:ln/>
        </p:spPr>
      </p:sp>
      <p:sp>
        <p:nvSpPr>
          <p:cNvPr id="179" name="Text 177"/>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26 stores under 7.5% leave $1,356,881 a year; 7 are at or above it. Chevy LV is furthest below at −$142K.</a:t>
            </a:r>
            <a:endParaRPr lang="en-US" sz="15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 Ask Mazda, Hyundai St George and Honda Spokane what they started this year.</a:t>
            </a:r>
            <a:endParaRPr lang="en-US" sz="155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Missed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Shape 5"/>
          <p:cNvSpPr/>
          <p:nvPr/>
        </p:nvSpPr>
        <p:spPr>
          <a:xfrm>
            <a:off x="3795511" y="1700784"/>
            <a:ext cx="10973" cy="4224528"/>
          </a:xfrm>
          <a:prstGeom prst="rect">
            <a:avLst/>
          </a:prstGeom>
          <a:solidFill>
            <a:srgbClr val="9AA3AD"/>
          </a:solidFill>
          <a:ln/>
        </p:spPr>
      </p:sp>
      <p:sp>
        <p:nvSpPr>
          <p:cNvPr id="8" name="Text 6"/>
          <p:cNvSpPr txBox="1"/>
          <p:nvPr/>
        </p:nvSpPr>
        <p:spPr>
          <a:xfrm>
            <a:off x="1036929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9" name="Shape 7"/>
          <p:cNvSpPr/>
          <p:nvPr/>
        </p:nvSpPr>
        <p:spPr>
          <a:xfrm>
            <a:off x="9345919" y="1700784"/>
            <a:ext cx="10973" cy="3976026"/>
          </a:xfrm>
          <a:prstGeom prst="rect">
            <a:avLst/>
          </a:prstGeom>
          <a:solidFill>
            <a:srgbClr val="9AA3AD"/>
          </a:solidFill>
          <a:ln/>
        </p:spPr>
      </p:sp>
      <p:sp>
        <p:nvSpPr>
          <p:cNvPr id="10" name="Text 8"/>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1" name="Text 9"/>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2" name="Shape 10"/>
          <p:cNvSpPr/>
          <p:nvPr/>
        </p:nvSpPr>
        <p:spPr>
          <a:xfrm>
            <a:off x="3800997" y="1756697"/>
            <a:ext cx="963027" cy="136676"/>
          </a:xfrm>
          <a:prstGeom prst="rect">
            <a:avLst/>
          </a:prstGeom>
          <a:solidFill>
            <a:srgbClr val="12A566"/>
          </a:solidFill>
          <a:ln/>
        </p:spPr>
      </p:sp>
      <p:sp>
        <p:nvSpPr>
          <p:cNvPr id="13" name="Text 11"/>
          <p:cNvSpPr txBox="1"/>
          <p:nvPr/>
        </p:nvSpPr>
        <p:spPr>
          <a:xfrm>
            <a:off x="481888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+$743K</a:t>
            </a:r>
            <a:endParaRPr lang="en-US" sz="1300" dirty="0"/>
          </a:p>
        </p:txBody>
      </p:sp>
      <p:sp>
        <p:nvSpPr>
          <p:cNvPr id="14" name="Text 12"/>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5" name="Text 13"/>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3800997" y="2005199"/>
            <a:ext cx="260306" cy="136676"/>
          </a:xfrm>
          <a:prstGeom prst="rect">
            <a:avLst/>
          </a:prstGeom>
          <a:solidFill>
            <a:srgbClr val="12A566"/>
          </a:solidFill>
          <a:ln/>
        </p:spPr>
      </p:sp>
      <p:sp>
        <p:nvSpPr>
          <p:cNvPr id="17" name="Text 15"/>
          <p:cNvSpPr txBox="1"/>
          <p:nvPr/>
        </p:nvSpPr>
        <p:spPr>
          <a:xfrm>
            <a:off x="481888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+$201K</a:t>
            </a:r>
            <a:endParaRPr lang="en-US" sz="1300" dirty="0"/>
          </a:p>
        </p:txBody>
      </p:sp>
      <p:sp>
        <p:nvSpPr>
          <p:cNvPr id="18" name="Text 1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9" name="Text 17"/>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0" name="Shape 18"/>
          <p:cNvSpPr/>
          <p:nvPr/>
        </p:nvSpPr>
        <p:spPr>
          <a:xfrm>
            <a:off x="3800997" y="2253700"/>
            <a:ext cx="92755" cy="136676"/>
          </a:xfrm>
          <a:prstGeom prst="rect">
            <a:avLst/>
          </a:prstGeom>
          <a:solidFill>
            <a:srgbClr val="12A566"/>
          </a:solidFill>
          <a:ln/>
        </p:spPr>
      </p:sp>
      <p:sp>
        <p:nvSpPr>
          <p:cNvPr id="21" name="Text 19"/>
          <p:cNvSpPr txBox="1"/>
          <p:nvPr/>
        </p:nvSpPr>
        <p:spPr>
          <a:xfrm>
            <a:off x="481888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+$72K</a:t>
            </a:r>
            <a:endParaRPr lang="en-US" sz="1300" dirty="0"/>
          </a:p>
        </p:txBody>
      </p:sp>
      <p:sp>
        <p:nvSpPr>
          <p:cNvPr id="22" name="Text 20"/>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4" name="Shape 22"/>
          <p:cNvSpPr/>
          <p:nvPr/>
        </p:nvSpPr>
        <p:spPr>
          <a:xfrm>
            <a:off x="3800997" y="2502202"/>
            <a:ext cx="77707" cy="136676"/>
          </a:xfrm>
          <a:prstGeom prst="rect">
            <a:avLst/>
          </a:prstGeom>
          <a:solidFill>
            <a:srgbClr val="12A566"/>
          </a:solidFill>
          <a:ln/>
        </p:spPr>
      </p:sp>
      <p:sp>
        <p:nvSpPr>
          <p:cNvPr id="25" name="Text 23"/>
          <p:cNvSpPr txBox="1"/>
          <p:nvPr/>
        </p:nvSpPr>
        <p:spPr>
          <a:xfrm>
            <a:off x="481888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+$60K</a:t>
            </a:r>
            <a:endParaRPr lang="en-US" sz="1300" dirty="0"/>
          </a:p>
        </p:txBody>
      </p:sp>
      <p:sp>
        <p:nvSpPr>
          <p:cNvPr id="26" name="Text 2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7" name="Text 25"/>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800997" y="2750703"/>
            <a:ext cx="71427" cy="136676"/>
          </a:xfrm>
          <a:prstGeom prst="rect">
            <a:avLst/>
          </a:prstGeom>
          <a:solidFill>
            <a:srgbClr val="12A566"/>
          </a:solidFill>
          <a:ln/>
        </p:spPr>
      </p:sp>
      <p:sp>
        <p:nvSpPr>
          <p:cNvPr id="29" name="Text 27"/>
          <p:cNvSpPr txBox="1"/>
          <p:nvPr/>
        </p:nvSpPr>
        <p:spPr>
          <a:xfrm>
            <a:off x="481888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+$55K</a:t>
            </a:r>
            <a:endParaRPr lang="en-US" sz="1300" dirty="0"/>
          </a:p>
        </p:txBody>
      </p:sp>
      <p:sp>
        <p:nvSpPr>
          <p:cNvPr id="30" name="Text 2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1" name="Text 2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2" name="Shape 30"/>
          <p:cNvSpPr/>
          <p:nvPr/>
        </p:nvSpPr>
        <p:spPr>
          <a:xfrm>
            <a:off x="3800997" y="2999205"/>
            <a:ext cx="57698" cy="136676"/>
          </a:xfrm>
          <a:prstGeom prst="rect">
            <a:avLst/>
          </a:prstGeom>
          <a:solidFill>
            <a:srgbClr val="12A566"/>
          </a:solidFill>
          <a:ln/>
        </p:spPr>
      </p:sp>
      <p:sp>
        <p:nvSpPr>
          <p:cNvPr id="33" name="Text 31"/>
          <p:cNvSpPr txBox="1"/>
          <p:nvPr/>
        </p:nvSpPr>
        <p:spPr>
          <a:xfrm>
            <a:off x="481888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5" name="Text 33"/>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36" name="Shape 34"/>
          <p:cNvSpPr/>
          <p:nvPr/>
        </p:nvSpPr>
        <p:spPr>
          <a:xfrm>
            <a:off x="3800997" y="3247707"/>
            <a:ext cx="40337" cy="136676"/>
          </a:xfrm>
          <a:prstGeom prst="rect">
            <a:avLst/>
          </a:prstGeom>
          <a:solidFill>
            <a:srgbClr val="12A566"/>
          </a:solidFill>
          <a:ln/>
        </p:spPr>
      </p:sp>
      <p:sp>
        <p:nvSpPr>
          <p:cNvPr id="37" name="Text 35"/>
          <p:cNvSpPr txBox="1"/>
          <p:nvPr/>
        </p:nvSpPr>
        <p:spPr>
          <a:xfrm>
            <a:off x="481888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9" name="Text 37"/>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40" name="Shape 38"/>
          <p:cNvSpPr/>
          <p:nvPr/>
        </p:nvSpPr>
        <p:spPr>
          <a:xfrm>
            <a:off x="3762731" y="3496208"/>
            <a:ext cx="38266" cy="136676"/>
          </a:xfrm>
          <a:prstGeom prst="rect">
            <a:avLst/>
          </a:prstGeom>
          <a:solidFill>
            <a:srgbClr val="C2352F"/>
          </a:solidFill>
          <a:ln/>
        </p:spPr>
      </p:sp>
      <p:sp>
        <p:nvSpPr>
          <p:cNvPr id="41" name="Text 39"/>
          <p:cNvSpPr txBox="1"/>
          <p:nvPr/>
        </p:nvSpPr>
        <p:spPr>
          <a:xfrm>
            <a:off x="481888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−$30K</a:t>
            </a:r>
            <a:endParaRPr lang="en-US" sz="1300" dirty="0"/>
          </a:p>
        </p:txBody>
      </p:sp>
      <p:sp>
        <p:nvSpPr>
          <p:cNvPr id="42" name="Text 4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3" name="Text 4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4" name="Shape 42"/>
          <p:cNvSpPr/>
          <p:nvPr/>
        </p:nvSpPr>
        <p:spPr>
          <a:xfrm>
            <a:off x="3752270" y="3744710"/>
            <a:ext cx="48727" cy="136676"/>
          </a:xfrm>
          <a:prstGeom prst="rect">
            <a:avLst/>
          </a:prstGeom>
          <a:solidFill>
            <a:srgbClr val="C2352F"/>
          </a:solidFill>
          <a:ln/>
        </p:spPr>
      </p:sp>
      <p:sp>
        <p:nvSpPr>
          <p:cNvPr id="45" name="Text 43"/>
          <p:cNvSpPr txBox="1"/>
          <p:nvPr/>
        </p:nvSpPr>
        <p:spPr>
          <a:xfrm>
            <a:off x="481888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46" name="Text 4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7" name="Text 45"/>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8" name="Shape 46"/>
          <p:cNvSpPr/>
          <p:nvPr/>
        </p:nvSpPr>
        <p:spPr>
          <a:xfrm>
            <a:off x="3751591" y="3993212"/>
            <a:ext cx="49407" cy="136676"/>
          </a:xfrm>
          <a:prstGeom prst="rect">
            <a:avLst/>
          </a:prstGeom>
          <a:solidFill>
            <a:srgbClr val="C2352F"/>
          </a:solidFill>
          <a:ln/>
        </p:spPr>
      </p:sp>
      <p:sp>
        <p:nvSpPr>
          <p:cNvPr id="49" name="Text 47"/>
          <p:cNvSpPr txBox="1"/>
          <p:nvPr/>
        </p:nvSpPr>
        <p:spPr>
          <a:xfrm>
            <a:off x="481888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1" name="Text 49"/>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52" name="Shape 50"/>
          <p:cNvSpPr/>
          <p:nvPr/>
        </p:nvSpPr>
        <p:spPr>
          <a:xfrm>
            <a:off x="3745550" y="4241713"/>
            <a:ext cx="55448" cy="136676"/>
          </a:xfrm>
          <a:prstGeom prst="rect">
            <a:avLst/>
          </a:prstGeom>
          <a:solidFill>
            <a:srgbClr val="C2352F"/>
          </a:solidFill>
          <a:ln/>
        </p:spPr>
      </p:sp>
      <p:sp>
        <p:nvSpPr>
          <p:cNvPr id="53" name="Text 51"/>
          <p:cNvSpPr txBox="1"/>
          <p:nvPr/>
        </p:nvSpPr>
        <p:spPr>
          <a:xfrm>
            <a:off x="481888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54" name="Text 52"/>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5" name="Text 53"/>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6" name="Shape 54"/>
          <p:cNvSpPr/>
          <p:nvPr/>
        </p:nvSpPr>
        <p:spPr>
          <a:xfrm>
            <a:off x="3729945" y="4490215"/>
            <a:ext cx="71053" cy="136676"/>
          </a:xfrm>
          <a:prstGeom prst="rect">
            <a:avLst/>
          </a:prstGeom>
          <a:solidFill>
            <a:srgbClr val="C2352F"/>
          </a:solidFill>
          <a:ln/>
        </p:spPr>
      </p:sp>
      <p:sp>
        <p:nvSpPr>
          <p:cNvPr id="57" name="Text 55"/>
          <p:cNvSpPr txBox="1"/>
          <p:nvPr/>
        </p:nvSpPr>
        <p:spPr>
          <a:xfrm>
            <a:off x="481888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58" name="Text 56"/>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9" name="Text 57"/>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0" name="Shape 58"/>
          <p:cNvSpPr/>
          <p:nvPr/>
        </p:nvSpPr>
        <p:spPr>
          <a:xfrm>
            <a:off x="3718481" y="4738717"/>
            <a:ext cx="82517" cy="136676"/>
          </a:xfrm>
          <a:prstGeom prst="rect">
            <a:avLst/>
          </a:prstGeom>
          <a:solidFill>
            <a:srgbClr val="C2352F"/>
          </a:solidFill>
          <a:ln/>
        </p:spPr>
      </p:sp>
      <p:sp>
        <p:nvSpPr>
          <p:cNvPr id="61" name="Text 59"/>
          <p:cNvSpPr txBox="1"/>
          <p:nvPr/>
        </p:nvSpPr>
        <p:spPr>
          <a:xfrm>
            <a:off x="481888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62" name="Text 60"/>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4" name="Shape 62"/>
          <p:cNvSpPr/>
          <p:nvPr/>
        </p:nvSpPr>
        <p:spPr>
          <a:xfrm>
            <a:off x="3710263" y="4987218"/>
            <a:ext cx="90735" cy="136676"/>
          </a:xfrm>
          <a:prstGeom prst="rect">
            <a:avLst/>
          </a:prstGeom>
          <a:solidFill>
            <a:srgbClr val="C2352F"/>
          </a:solidFill>
          <a:ln/>
        </p:spPr>
      </p:sp>
      <p:sp>
        <p:nvSpPr>
          <p:cNvPr id="65" name="Text 63"/>
          <p:cNvSpPr txBox="1"/>
          <p:nvPr/>
        </p:nvSpPr>
        <p:spPr>
          <a:xfrm>
            <a:off x="481888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6" name="Text 6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7" name="Text 65"/>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3698735" y="5235720"/>
            <a:ext cx="102262" cy="136676"/>
          </a:xfrm>
          <a:prstGeom prst="rect">
            <a:avLst/>
          </a:prstGeom>
          <a:solidFill>
            <a:srgbClr val="C2352F"/>
          </a:solidFill>
          <a:ln/>
        </p:spPr>
      </p:sp>
      <p:sp>
        <p:nvSpPr>
          <p:cNvPr id="69" name="Text 67"/>
          <p:cNvSpPr txBox="1"/>
          <p:nvPr/>
        </p:nvSpPr>
        <p:spPr>
          <a:xfrm>
            <a:off x="481888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−$79K</a:t>
            </a:r>
            <a:endParaRPr lang="en-US" sz="1300" dirty="0"/>
          </a:p>
        </p:txBody>
      </p:sp>
      <p:sp>
        <p:nvSpPr>
          <p:cNvPr id="70" name="Text 6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1" name="Text 6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2" name="Shape 70"/>
          <p:cNvSpPr/>
          <p:nvPr/>
        </p:nvSpPr>
        <p:spPr>
          <a:xfrm>
            <a:off x="3697071" y="5484222"/>
            <a:ext cx="103926" cy="136676"/>
          </a:xfrm>
          <a:prstGeom prst="rect">
            <a:avLst/>
          </a:prstGeom>
          <a:solidFill>
            <a:srgbClr val="C2352F"/>
          </a:solidFill>
          <a:ln/>
        </p:spPr>
      </p:sp>
      <p:sp>
        <p:nvSpPr>
          <p:cNvPr id="73" name="Text 71"/>
          <p:cNvSpPr txBox="1"/>
          <p:nvPr/>
        </p:nvSpPr>
        <p:spPr>
          <a:xfrm>
            <a:off x="481888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74" name="Text 7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6" name="Shape 74"/>
          <p:cNvSpPr/>
          <p:nvPr/>
        </p:nvSpPr>
        <p:spPr>
          <a:xfrm>
            <a:off x="3696290" y="5732723"/>
            <a:ext cx="104707" cy="136676"/>
          </a:xfrm>
          <a:prstGeom prst="rect">
            <a:avLst/>
          </a:prstGeom>
          <a:solidFill>
            <a:srgbClr val="C2352F"/>
          </a:solidFill>
          <a:ln/>
        </p:spPr>
      </p:sp>
      <p:sp>
        <p:nvSpPr>
          <p:cNvPr id="77" name="Text 75"/>
          <p:cNvSpPr txBox="1"/>
          <p:nvPr/>
        </p:nvSpPr>
        <p:spPr>
          <a:xfrm>
            <a:off x="481888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78" name="Text 76"/>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9" name="Text 77"/>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0" name="Shape 78"/>
          <p:cNvSpPr/>
          <p:nvPr/>
        </p:nvSpPr>
        <p:spPr>
          <a:xfrm>
            <a:off x="9237983" y="1756697"/>
            <a:ext cx="113423" cy="136676"/>
          </a:xfrm>
          <a:prstGeom prst="rect">
            <a:avLst/>
          </a:prstGeom>
          <a:solidFill>
            <a:srgbClr val="C2352F"/>
          </a:solidFill>
          <a:ln/>
        </p:spPr>
      </p:sp>
      <p:sp>
        <p:nvSpPr>
          <p:cNvPr id="81" name="Text 79"/>
          <p:cNvSpPr txBox="1"/>
          <p:nvPr/>
        </p:nvSpPr>
        <p:spPr>
          <a:xfrm>
            <a:off x="1036929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82" name="Text 8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3" name="Text 8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4" name="Shape 82"/>
          <p:cNvSpPr/>
          <p:nvPr/>
        </p:nvSpPr>
        <p:spPr>
          <a:xfrm>
            <a:off x="9188179" y="2005199"/>
            <a:ext cx="163227" cy="136676"/>
          </a:xfrm>
          <a:prstGeom prst="rect">
            <a:avLst/>
          </a:prstGeom>
          <a:solidFill>
            <a:srgbClr val="C2352F"/>
          </a:solidFill>
          <a:ln/>
        </p:spPr>
      </p:sp>
      <p:sp>
        <p:nvSpPr>
          <p:cNvPr id="85" name="Text 83"/>
          <p:cNvSpPr txBox="1"/>
          <p:nvPr/>
        </p:nvSpPr>
        <p:spPr>
          <a:xfrm>
            <a:off x="1036929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86" name="Text 8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7" name="Text 85"/>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9179400" y="2253700"/>
            <a:ext cx="172006" cy="136676"/>
          </a:xfrm>
          <a:prstGeom prst="rect">
            <a:avLst/>
          </a:prstGeom>
          <a:solidFill>
            <a:srgbClr val="C2352F"/>
          </a:solidFill>
          <a:ln/>
        </p:spPr>
      </p:sp>
      <p:sp>
        <p:nvSpPr>
          <p:cNvPr id="89" name="Text 87"/>
          <p:cNvSpPr txBox="1"/>
          <p:nvPr/>
        </p:nvSpPr>
        <p:spPr>
          <a:xfrm>
            <a:off x="1036929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1" name="Text 89"/>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2" name="Shape 90"/>
          <p:cNvSpPr/>
          <p:nvPr/>
        </p:nvSpPr>
        <p:spPr>
          <a:xfrm>
            <a:off x="9170174" y="2502202"/>
            <a:ext cx="181231" cy="136676"/>
          </a:xfrm>
          <a:prstGeom prst="rect">
            <a:avLst/>
          </a:prstGeom>
          <a:solidFill>
            <a:srgbClr val="C2352F"/>
          </a:solidFill>
          <a:ln/>
        </p:spPr>
      </p:sp>
      <p:sp>
        <p:nvSpPr>
          <p:cNvPr id="93" name="Text 91"/>
          <p:cNvSpPr txBox="1"/>
          <p:nvPr/>
        </p:nvSpPr>
        <p:spPr>
          <a:xfrm>
            <a:off x="1036929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94" name="Text 9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5" name="Text 93"/>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6" name="Shape 94"/>
          <p:cNvSpPr/>
          <p:nvPr/>
        </p:nvSpPr>
        <p:spPr>
          <a:xfrm>
            <a:off x="9169305" y="2750703"/>
            <a:ext cx="182101" cy="136676"/>
          </a:xfrm>
          <a:prstGeom prst="rect">
            <a:avLst/>
          </a:prstGeom>
          <a:solidFill>
            <a:srgbClr val="C2352F"/>
          </a:solidFill>
          <a:ln/>
        </p:spPr>
      </p:sp>
      <p:sp>
        <p:nvSpPr>
          <p:cNvPr id="97" name="Text 95"/>
          <p:cNvSpPr txBox="1"/>
          <p:nvPr/>
        </p:nvSpPr>
        <p:spPr>
          <a:xfrm>
            <a:off x="1036929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98" name="Text 96"/>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9" name="Text 97"/>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0" name="Shape 98"/>
          <p:cNvSpPr/>
          <p:nvPr/>
        </p:nvSpPr>
        <p:spPr>
          <a:xfrm>
            <a:off x="9109792" y="2999205"/>
            <a:ext cx="241613" cy="136676"/>
          </a:xfrm>
          <a:prstGeom prst="rect">
            <a:avLst/>
          </a:prstGeom>
          <a:solidFill>
            <a:srgbClr val="C2352F"/>
          </a:solidFill>
          <a:ln/>
        </p:spPr>
      </p:sp>
      <p:sp>
        <p:nvSpPr>
          <p:cNvPr id="101" name="Text 99"/>
          <p:cNvSpPr txBox="1"/>
          <p:nvPr/>
        </p:nvSpPr>
        <p:spPr>
          <a:xfrm>
            <a:off x="1036929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−$186K</a:t>
            </a:r>
            <a:endParaRPr lang="en-US" sz="1300" dirty="0"/>
          </a:p>
        </p:txBody>
      </p:sp>
      <p:sp>
        <p:nvSpPr>
          <p:cNvPr id="102" name="Text 100"/>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3" name="Text 101"/>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04" name="Shape 102"/>
          <p:cNvSpPr/>
          <p:nvPr/>
        </p:nvSpPr>
        <p:spPr>
          <a:xfrm>
            <a:off x="9092573" y="3247707"/>
            <a:ext cx="258833" cy="136676"/>
          </a:xfrm>
          <a:prstGeom prst="rect">
            <a:avLst/>
          </a:prstGeom>
          <a:solidFill>
            <a:srgbClr val="C2352F"/>
          </a:solidFill>
          <a:ln/>
        </p:spPr>
      </p:sp>
      <p:sp>
        <p:nvSpPr>
          <p:cNvPr id="105" name="Text 103"/>
          <p:cNvSpPr txBox="1"/>
          <p:nvPr/>
        </p:nvSpPr>
        <p:spPr>
          <a:xfrm>
            <a:off x="1036929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106" name="Text 10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7" name="Text 105"/>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8" name="Shape 106"/>
          <p:cNvSpPr/>
          <p:nvPr/>
        </p:nvSpPr>
        <p:spPr>
          <a:xfrm>
            <a:off x="9092243" y="3496208"/>
            <a:ext cx="259162" cy="136676"/>
          </a:xfrm>
          <a:prstGeom prst="rect">
            <a:avLst/>
          </a:prstGeom>
          <a:solidFill>
            <a:srgbClr val="C2352F"/>
          </a:solidFill>
          <a:ln/>
        </p:spPr>
      </p:sp>
      <p:sp>
        <p:nvSpPr>
          <p:cNvPr id="109" name="Text 107"/>
          <p:cNvSpPr txBox="1"/>
          <p:nvPr/>
        </p:nvSpPr>
        <p:spPr>
          <a:xfrm>
            <a:off x="1036929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110" name="Text 10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2" name="Shape 110"/>
          <p:cNvSpPr/>
          <p:nvPr/>
        </p:nvSpPr>
        <p:spPr>
          <a:xfrm>
            <a:off x="9072005" y="3744710"/>
            <a:ext cx="279401" cy="136676"/>
          </a:xfrm>
          <a:prstGeom prst="rect">
            <a:avLst/>
          </a:prstGeom>
          <a:solidFill>
            <a:srgbClr val="C2352F"/>
          </a:solidFill>
          <a:ln/>
        </p:spPr>
      </p:sp>
      <p:sp>
        <p:nvSpPr>
          <p:cNvPr id="113" name="Text 111"/>
          <p:cNvSpPr txBox="1"/>
          <p:nvPr/>
        </p:nvSpPr>
        <p:spPr>
          <a:xfrm>
            <a:off x="1036929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114" name="Text 11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6" name="Shape 114"/>
          <p:cNvSpPr/>
          <p:nvPr/>
        </p:nvSpPr>
        <p:spPr>
          <a:xfrm>
            <a:off x="9049807" y="3993212"/>
            <a:ext cx="301599" cy="136676"/>
          </a:xfrm>
          <a:prstGeom prst="rect">
            <a:avLst/>
          </a:prstGeom>
          <a:solidFill>
            <a:srgbClr val="C2352F"/>
          </a:solidFill>
          <a:ln/>
        </p:spPr>
      </p:sp>
      <p:sp>
        <p:nvSpPr>
          <p:cNvPr id="117" name="Text 115"/>
          <p:cNvSpPr txBox="1"/>
          <p:nvPr/>
        </p:nvSpPr>
        <p:spPr>
          <a:xfrm>
            <a:off x="1036929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118" name="Text 116"/>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9" name="Text 117"/>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0" name="Shape 118"/>
          <p:cNvSpPr/>
          <p:nvPr/>
        </p:nvSpPr>
        <p:spPr>
          <a:xfrm>
            <a:off x="9034236" y="4241713"/>
            <a:ext cx="317170" cy="136676"/>
          </a:xfrm>
          <a:prstGeom prst="rect">
            <a:avLst/>
          </a:prstGeom>
          <a:solidFill>
            <a:srgbClr val="C2352F"/>
          </a:solidFill>
          <a:ln/>
        </p:spPr>
      </p:sp>
      <p:sp>
        <p:nvSpPr>
          <p:cNvPr id="121" name="Text 119"/>
          <p:cNvSpPr txBox="1"/>
          <p:nvPr/>
        </p:nvSpPr>
        <p:spPr>
          <a:xfrm>
            <a:off x="1036929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122" name="Text 12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24" name="Shape 122"/>
          <p:cNvSpPr/>
          <p:nvPr/>
        </p:nvSpPr>
        <p:spPr>
          <a:xfrm>
            <a:off x="9031867" y="4490215"/>
            <a:ext cx="319539" cy="136676"/>
          </a:xfrm>
          <a:prstGeom prst="rect">
            <a:avLst/>
          </a:prstGeom>
          <a:solidFill>
            <a:srgbClr val="C2352F"/>
          </a:solidFill>
          <a:ln/>
        </p:spPr>
      </p:sp>
      <p:sp>
        <p:nvSpPr>
          <p:cNvPr id="125" name="Text 123"/>
          <p:cNvSpPr txBox="1"/>
          <p:nvPr/>
        </p:nvSpPr>
        <p:spPr>
          <a:xfrm>
            <a:off x="1036929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126" name="Text 12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7" name="Text 125"/>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28" name="Shape 126"/>
          <p:cNvSpPr/>
          <p:nvPr/>
        </p:nvSpPr>
        <p:spPr>
          <a:xfrm>
            <a:off x="8959526" y="4738717"/>
            <a:ext cx="391880" cy="136676"/>
          </a:xfrm>
          <a:prstGeom prst="rect">
            <a:avLst/>
          </a:prstGeom>
          <a:solidFill>
            <a:srgbClr val="C2352F"/>
          </a:solidFill>
          <a:ln/>
        </p:spPr>
      </p:sp>
      <p:sp>
        <p:nvSpPr>
          <p:cNvPr id="129" name="Text 127"/>
          <p:cNvSpPr txBox="1"/>
          <p:nvPr/>
        </p:nvSpPr>
        <p:spPr>
          <a:xfrm>
            <a:off x="1036929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−$302K</a:t>
            </a:r>
            <a:endParaRPr lang="en-US" sz="1300" dirty="0"/>
          </a:p>
        </p:txBody>
      </p:sp>
      <p:sp>
        <p:nvSpPr>
          <p:cNvPr id="130" name="Text 128"/>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1" name="Text 129"/>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2" name="Shape 130"/>
          <p:cNvSpPr/>
          <p:nvPr/>
        </p:nvSpPr>
        <p:spPr>
          <a:xfrm>
            <a:off x="8890482" y="4987218"/>
            <a:ext cx="460924" cy="136676"/>
          </a:xfrm>
          <a:prstGeom prst="rect">
            <a:avLst/>
          </a:prstGeom>
          <a:solidFill>
            <a:srgbClr val="C2352F"/>
          </a:solidFill>
          <a:ln/>
        </p:spPr>
      </p:sp>
      <p:sp>
        <p:nvSpPr>
          <p:cNvPr id="133" name="Text 131"/>
          <p:cNvSpPr txBox="1"/>
          <p:nvPr/>
        </p:nvSpPr>
        <p:spPr>
          <a:xfrm>
            <a:off x="1036929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34" name="Text 132"/>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5" name="Text 133"/>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6" name="Shape 134"/>
          <p:cNvSpPr/>
          <p:nvPr/>
        </p:nvSpPr>
        <p:spPr>
          <a:xfrm>
            <a:off x="8735965" y="5235720"/>
            <a:ext cx="615441" cy="136676"/>
          </a:xfrm>
          <a:prstGeom prst="rect">
            <a:avLst/>
          </a:prstGeom>
          <a:solidFill>
            <a:srgbClr val="C2352F"/>
          </a:solidFill>
          <a:ln/>
        </p:spPr>
      </p:sp>
      <p:sp>
        <p:nvSpPr>
          <p:cNvPr id="137" name="Text 135"/>
          <p:cNvSpPr txBox="1"/>
          <p:nvPr/>
        </p:nvSpPr>
        <p:spPr>
          <a:xfrm>
            <a:off x="1036929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138" name="Text 136"/>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9" name="Text 137"/>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40" name="Shape 138"/>
          <p:cNvSpPr/>
          <p:nvPr/>
        </p:nvSpPr>
        <p:spPr>
          <a:xfrm>
            <a:off x="8650224" y="5484222"/>
            <a:ext cx="701181" cy="136676"/>
          </a:xfrm>
          <a:prstGeom prst="rect">
            <a:avLst/>
          </a:prstGeom>
          <a:solidFill>
            <a:srgbClr val="C2352F"/>
          </a:solidFill>
          <a:ln/>
        </p:spPr>
      </p:sp>
      <p:sp>
        <p:nvSpPr>
          <p:cNvPr id="141" name="Text 139"/>
          <p:cNvSpPr txBox="1"/>
          <p:nvPr/>
        </p:nvSpPr>
        <p:spPr>
          <a:xfrm>
            <a:off x="1036929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42" name="Shape 140"/>
          <p:cNvSpPr/>
          <p:nvPr/>
        </p:nvSpPr>
        <p:spPr>
          <a:xfrm>
            <a:off x="6085332" y="1700784"/>
            <a:ext cx="10973" cy="4224528"/>
          </a:xfrm>
          <a:prstGeom prst="rect">
            <a:avLst/>
          </a:prstGeom>
          <a:solidFill>
            <a:srgbClr val="D9D9D9"/>
          </a:solidFill>
          <a:ln/>
        </p:spPr>
      </p:sp>
      <p:sp>
        <p:nvSpPr>
          <p:cNvPr id="143" name="Shape 141"/>
          <p:cNvSpPr/>
          <p:nvPr/>
        </p:nvSpPr>
        <p:spPr>
          <a:xfrm>
            <a:off x="457200" y="6126480"/>
            <a:ext cx="11274552" cy="615696"/>
          </a:xfrm>
          <a:prstGeom prst="rect">
            <a:avLst/>
          </a:prstGeom>
          <a:solidFill>
            <a:srgbClr val="FBEBEA"/>
          </a:solidFill>
          <a:ln/>
        </p:spPr>
      </p:sp>
      <p:sp>
        <p:nvSpPr>
          <p:cNvPr id="144" name="Text 14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is furthest below at −$541K a year; 7 of 33 stores are ahead of benchmark across the four services. 15 stores are under all four.</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 led by LR Reno at $207. Nissan is lowest at $87.</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+29.5% (+$47) to $205. 13 declined; Nissan fell most at −27.2%.</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2" name="Text 10"/>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3" name="Text 11"/>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6" name="Text 14"/>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7" name="Text 15"/>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1" name="Text 19"/>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2" name="Text 20"/>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5" name="Text 23"/>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6" name="Text 24"/>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7" name="Shape 25"/>
          <p:cNvSpPr/>
          <p:nvPr/>
        </p:nvSpPr>
        <p:spPr>
          <a:xfrm>
            <a:off x="658368" y="5124298"/>
            <a:ext cx="3489960" cy="755294"/>
          </a:xfrm>
          <a:prstGeom prst="rect">
            <a:avLst/>
          </a:prstGeom>
          <a:solidFill>
            <a:srgbClr val="F7F7F7"/>
          </a:solidFill>
          <a:ln/>
        </p:spPr>
      </p:sp>
      <p:sp>
        <p:nvSpPr>
          <p:cNvPr id="28" name="Text 26"/>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7"/>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0" name="Text 28"/>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1" name="Text 29"/>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2" name="Shape 30"/>
          <p:cNvSpPr/>
          <p:nvPr/>
        </p:nvSpPr>
        <p:spPr>
          <a:xfrm>
            <a:off x="4349496" y="1371600"/>
            <a:ext cx="3489960" cy="45720"/>
          </a:xfrm>
          <a:prstGeom prst="rect">
            <a:avLst/>
          </a:prstGeom>
          <a:solidFill>
            <a:srgbClr val="C2352F"/>
          </a:solidFill>
          <a:ln/>
        </p:spPr>
      </p:sp>
      <p:sp>
        <p:nvSpPr>
          <p:cNvPr id="33"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Text 32"/>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5" name="Shape 33"/>
          <p:cNvSpPr/>
          <p:nvPr/>
        </p:nvSpPr>
        <p:spPr>
          <a:xfrm>
            <a:off x="4349496" y="2103120"/>
            <a:ext cx="3489960" cy="755294"/>
          </a:xfrm>
          <a:prstGeom prst="rect">
            <a:avLst/>
          </a:prstGeom>
          <a:solidFill>
            <a:srgbClr val="F7F7F7"/>
          </a:solidFill>
          <a:ln/>
        </p:spPr>
      </p:sp>
      <p:sp>
        <p:nvSpPr>
          <p:cNvPr id="36" name="Text 34"/>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5"/>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38" name="Text 36"/>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39" name="Text 37"/>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0" name="Text 38"/>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9"/>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2" name="Text 40"/>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3" name="Text 41"/>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4" name="Shape 42"/>
          <p:cNvSpPr/>
          <p:nvPr/>
        </p:nvSpPr>
        <p:spPr>
          <a:xfrm>
            <a:off x="4349496" y="3613709"/>
            <a:ext cx="3489960" cy="755294"/>
          </a:xfrm>
          <a:prstGeom prst="rect">
            <a:avLst/>
          </a:prstGeom>
          <a:solidFill>
            <a:srgbClr val="F7F7F7"/>
          </a:solidFill>
          <a:ln/>
        </p:spPr>
      </p:sp>
      <p:sp>
        <p:nvSpPr>
          <p:cNvPr id="45" name="Text 43"/>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44"/>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7" name="Text 45"/>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48" name="Text 46"/>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49" name="Text 47"/>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8"/>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1" name="Text 49"/>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2" name="Text 50"/>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3" name="Shape 51"/>
          <p:cNvSpPr/>
          <p:nvPr/>
        </p:nvSpPr>
        <p:spPr>
          <a:xfrm>
            <a:off x="4349496" y="5124298"/>
            <a:ext cx="3489960" cy="755294"/>
          </a:xfrm>
          <a:prstGeom prst="rect">
            <a:avLst/>
          </a:prstGeom>
          <a:solidFill>
            <a:srgbClr val="F7F7F7"/>
          </a:solidFill>
          <a:ln/>
        </p:spPr>
      </p:sp>
      <p:sp>
        <p:nvSpPr>
          <p:cNvPr id="54" name="Text 52"/>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53"/>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6" name="Text 54"/>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57" name="Text 55"/>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58" name="Shape 56"/>
          <p:cNvSpPr/>
          <p:nvPr/>
        </p:nvSpPr>
        <p:spPr>
          <a:xfrm>
            <a:off x="8040624" y="1371600"/>
            <a:ext cx="3489960" cy="45720"/>
          </a:xfrm>
          <a:prstGeom prst="rect">
            <a:avLst/>
          </a:prstGeom>
          <a:solidFill>
            <a:srgbClr val="2587C5"/>
          </a:solidFill>
          <a:ln/>
        </p:spPr>
      </p:sp>
      <p:sp>
        <p:nvSpPr>
          <p:cNvPr id="5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Text 5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1" name="Shape 59"/>
          <p:cNvSpPr/>
          <p:nvPr/>
        </p:nvSpPr>
        <p:spPr>
          <a:xfrm>
            <a:off x="8040624" y="2103120"/>
            <a:ext cx="3489960" cy="755294"/>
          </a:xfrm>
          <a:prstGeom prst="rect">
            <a:avLst/>
          </a:prstGeom>
          <a:solidFill>
            <a:srgbClr val="F7F7F7"/>
          </a:solidFill>
          <a:ln/>
        </p:spPr>
      </p:sp>
      <p:sp>
        <p:nvSpPr>
          <p:cNvPr id="62" name="Text 6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6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4" name="Text 62"/>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5" name="Text 63"/>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6" name="Text 6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6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68" name="Text 66"/>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69" name="Text 67"/>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0" name="Shape 68"/>
          <p:cNvSpPr/>
          <p:nvPr/>
        </p:nvSpPr>
        <p:spPr>
          <a:xfrm>
            <a:off x="8040624" y="3613709"/>
            <a:ext cx="3489960" cy="755294"/>
          </a:xfrm>
          <a:prstGeom prst="rect">
            <a:avLst/>
          </a:prstGeom>
          <a:solidFill>
            <a:srgbClr val="F7F7F7"/>
          </a:solidFill>
          <a:ln/>
        </p:spPr>
      </p:sp>
      <p:sp>
        <p:nvSpPr>
          <p:cNvPr id="71" name="Text 6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7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3" name="Text 71"/>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74" name="Text 72"/>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75" name="Text 73"/>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6" name="Text 74"/>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77" name="Text 75"/>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78" name="Text 76"/>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9" name="Shape 77"/>
          <p:cNvSpPr/>
          <p:nvPr/>
        </p:nvSpPr>
        <p:spPr>
          <a:xfrm>
            <a:off x="8040624" y="5124298"/>
            <a:ext cx="3489960" cy="755294"/>
          </a:xfrm>
          <a:prstGeom prst="rect">
            <a:avLst/>
          </a:prstGeom>
          <a:solidFill>
            <a:srgbClr val="F7F7F7"/>
          </a:solidFill>
          <a:ln/>
        </p:spPr>
      </p:sp>
      <p:sp>
        <p:nvSpPr>
          <p:cNvPr id="80" name="Text 7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1" name="Text 7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2" name="Text 80"/>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3" name="Text 81"/>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4" name="Shape 82"/>
          <p:cNvSpPr/>
          <p:nvPr/>
        </p:nvSpPr>
        <p:spPr>
          <a:xfrm>
            <a:off x="457200" y="6126480"/>
            <a:ext cx="11274552" cy="615696"/>
          </a:xfrm>
          <a:prstGeom prst="rect">
            <a:avLst/>
          </a:prstGeom>
          <a:solidFill>
            <a:srgbClr val="EDF4FA"/>
          </a:solidFill>
          <a:ln/>
        </p:spPr>
      </p:sp>
      <p:sp>
        <p:nvSpPr>
          <p:cNvPr id="85" name="Text 8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LR Reno and Lincoln what changed. Ask Nissan, Kia LV and Mazda what got in the way. Ask Acura, Hyundai St George and Toyota Henderson what they started this year.</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 Ask LR Henderson, Kia St George and Hyundai St George what they started this year.</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 Ask LR Reno, CDJR Post Falls and LR Henderson what they started this year.</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8996"/>
          </a:xfrm>
          <a:prstGeom prst="rect">
            <a:avLst/>
          </a:prstGeom>
          <a:solidFill>
            <a:srgbClr val="FBEBEA"/>
          </a:solidFill>
          <a:ln/>
        </p:spPr>
      </p:sp>
      <p:sp>
        <p:nvSpPr>
          <p:cNvPr id="212" name="Text 21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FBEBEA"/>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813048"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7" name="Text 5"/>
          <p:cNvSpPr txBox="1"/>
          <p:nvPr/>
        </p:nvSpPr>
        <p:spPr>
          <a:xfrm>
            <a:off x="459943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63456"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10" name="Text 8"/>
          <p:cNvSpPr txBox="1"/>
          <p:nvPr/>
        </p:nvSpPr>
        <p:spPr>
          <a:xfrm>
            <a:off x="1014984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 name="Shape 12"/>
          <p:cNvSpPr/>
          <p:nvPr/>
        </p:nvSpPr>
        <p:spPr>
          <a:xfrm>
            <a:off x="2871216" y="1756697"/>
            <a:ext cx="886968" cy="136676"/>
          </a:xfrm>
          <a:prstGeom prst="rect">
            <a:avLst/>
          </a:prstGeom>
          <a:solidFill>
            <a:srgbClr val="2587C5"/>
          </a:solidFill>
          <a:ln/>
        </p:spPr>
      </p:sp>
      <p:sp>
        <p:nvSpPr>
          <p:cNvPr id="15" name="Text 13"/>
          <p:cNvSpPr txBox="1"/>
          <p:nvPr/>
        </p:nvSpPr>
        <p:spPr>
          <a:xfrm>
            <a:off x="3813048"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$43.3K</a:t>
            </a:r>
            <a:endParaRPr lang="en-US" sz="1300" dirty="0"/>
          </a:p>
        </p:txBody>
      </p:sp>
      <p:sp>
        <p:nvSpPr>
          <p:cNvPr id="16" name="Text 14"/>
          <p:cNvSpPr txBox="1"/>
          <p:nvPr/>
        </p:nvSpPr>
        <p:spPr>
          <a:xfrm>
            <a:off x="459943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0" name="Shape 18"/>
          <p:cNvSpPr/>
          <p:nvPr/>
        </p:nvSpPr>
        <p:spPr>
          <a:xfrm>
            <a:off x="2871216" y="2005199"/>
            <a:ext cx="692398" cy="136676"/>
          </a:xfrm>
          <a:prstGeom prst="rect">
            <a:avLst/>
          </a:prstGeom>
          <a:solidFill>
            <a:srgbClr val="2587C5"/>
          </a:solidFill>
          <a:ln/>
        </p:spPr>
      </p:sp>
      <p:sp>
        <p:nvSpPr>
          <p:cNvPr id="21" name="Text 19"/>
          <p:cNvSpPr txBox="1"/>
          <p:nvPr/>
        </p:nvSpPr>
        <p:spPr>
          <a:xfrm>
            <a:off x="3813048"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$33.8K</a:t>
            </a:r>
            <a:endParaRPr lang="en-US" sz="1300" dirty="0"/>
          </a:p>
        </p:txBody>
      </p:sp>
      <p:sp>
        <p:nvSpPr>
          <p:cNvPr id="22" name="Text 20"/>
          <p:cNvSpPr txBox="1"/>
          <p:nvPr/>
        </p:nvSpPr>
        <p:spPr>
          <a:xfrm>
            <a:off x="459943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6" name="Shape 24"/>
          <p:cNvSpPr/>
          <p:nvPr/>
        </p:nvSpPr>
        <p:spPr>
          <a:xfrm>
            <a:off x="2871216" y="2253700"/>
            <a:ext cx="581679" cy="136676"/>
          </a:xfrm>
          <a:prstGeom prst="rect">
            <a:avLst/>
          </a:prstGeom>
          <a:solidFill>
            <a:srgbClr val="2587C5"/>
          </a:solidFill>
          <a:ln/>
        </p:spPr>
      </p:sp>
      <p:sp>
        <p:nvSpPr>
          <p:cNvPr id="27" name="Text 25"/>
          <p:cNvSpPr txBox="1"/>
          <p:nvPr/>
        </p:nvSpPr>
        <p:spPr>
          <a:xfrm>
            <a:off x="3813048"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$28.4K</a:t>
            </a:r>
            <a:endParaRPr lang="en-US" sz="1300" dirty="0"/>
          </a:p>
        </p:txBody>
      </p:sp>
      <p:sp>
        <p:nvSpPr>
          <p:cNvPr id="28" name="Text 26"/>
          <p:cNvSpPr txBox="1"/>
          <p:nvPr/>
        </p:nvSpPr>
        <p:spPr>
          <a:xfrm>
            <a:off x="459943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2" name="Shape 30"/>
          <p:cNvSpPr/>
          <p:nvPr/>
        </p:nvSpPr>
        <p:spPr>
          <a:xfrm>
            <a:off x="2871216" y="2502202"/>
            <a:ext cx="558837" cy="136676"/>
          </a:xfrm>
          <a:prstGeom prst="rect">
            <a:avLst/>
          </a:prstGeom>
          <a:solidFill>
            <a:srgbClr val="2587C5"/>
          </a:solidFill>
          <a:ln/>
        </p:spPr>
      </p:sp>
      <p:sp>
        <p:nvSpPr>
          <p:cNvPr id="33" name="Text 31"/>
          <p:cNvSpPr txBox="1"/>
          <p:nvPr/>
        </p:nvSpPr>
        <p:spPr>
          <a:xfrm>
            <a:off x="3813048"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$27.3K</a:t>
            </a:r>
            <a:endParaRPr lang="en-US" sz="1300" dirty="0"/>
          </a:p>
        </p:txBody>
      </p:sp>
      <p:sp>
        <p:nvSpPr>
          <p:cNvPr id="34" name="Text 32"/>
          <p:cNvSpPr txBox="1"/>
          <p:nvPr/>
        </p:nvSpPr>
        <p:spPr>
          <a:xfrm>
            <a:off x="459943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8" name="Shape 36"/>
          <p:cNvSpPr/>
          <p:nvPr/>
        </p:nvSpPr>
        <p:spPr>
          <a:xfrm>
            <a:off x="2871216" y="2750703"/>
            <a:ext cx="510915" cy="136676"/>
          </a:xfrm>
          <a:prstGeom prst="rect">
            <a:avLst/>
          </a:prstGeom>
          <a:solidFill>
            <a:srgbClr val="2587C5"/>
          </a:solidFill>
          <a:ln/>
        </p:spPr>
      </p:sp>
      <p:sp>
        <p:nvSpPr>
          <p:cNvPr id="39" name="Text 37"/>
          <p:cNvSpPr txBox="1"/>
          <p:nvPr/>
        </p:nvSpPr>
        <p:spPr>
          <a:xfrm>
            <a:off x="3813048"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$24.9K</a:t>
            </a:r>
            <a:endParaRPr lang="en-US" sz="1300" dirty="0"/>
          </a:p>
        </p:txBody>
      </p:sp>
      <p:sp>
        <p:nvSpPr>
          <p:cNvPr id="40" name="Text 38"/>
          <p:cNvSpPr txBox="1"/>
          <p:nvPr/>
        </p:nvSpPr>
        <p:spPr>
          <a:xfrm>
            <a:off x="459943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44" name="Shape 42"/>
          <p:cNvSpPr/>
          <p:nvPr/>
        </p:nvSpPr>
        <p:spPr>
          <a:xfrm>
            <a:off x="2871216" y="2999205"/>
            <a:ext cx="467039" cy="136676"/>
          </a:xfrm>
          <a:prstGeom prst="rect">
            <a:avLst/>
          </a:prstGeom>
          <a:solidFill>
            <a:srgbClr val="2587C5"/>
          </a:solidFill>
          <a:ln/>
        </p:spPr>
      </p:sp>
      <p:sp>
        <p:nvSpPr>
          <p:cNvPr id="45" name="Text 43"/>
          <p:cNvSpPr txBox="1"/>
          <p:nvPr/>
        </p:nvSpPr>
        <p:spPr>
          <a:xfrm>
            <a:off x="3813048"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$22.8K</a:t>
            </a:r>
            <a:endParaRPr lang="en-US" sz="1300" dirty="0"/>
          </a:p>
        </p:txBody>
      </p:sp>
      <p:sp>
        <p:nvSpPr>
          <p:cNvPr id="46" name="Text 44"/>
          <p:cNvSpPr txBox="1"/>
          <p:nvPr/>
        </p:nvSpPr>
        <p:spPr>
          <a:xfrm>
            <a:off x="459943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50" name="Shape 48"/>
          <p:cNvSpPr/>
          <p:nvPr/>
        </p:nvSpPr>
        <p:spPr>
          <a:xfrm>
            <a:off x="2871216" y="3247707"/>
            <a:ext cx="334545" cy="136676"/>
          </a:xfrm>
          <a:prstGeom prst="rect">
            <a:avLst/>
          </a:prstGeom>
          <a:solidFill>
            <a:srgbClr val="2587C5"/>
          </a:solidFill>
          <a:ln/>
        </p:spPr>
      </p:sp>
      <p:sp>
        <p:nvSpPr>
          <p:cNvPr id="51" name="Text 49"/>
          <p:cNvSpPr txBox="1"/>
          <p:nvPr/>
        </p:nvSpPr>
        <p:spPr>
          <a:xfrm>
            <a:off x="3813048"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$16.3K</a:t>
            </a:r>
            <a:endParaRPr lang="en-US" sz="1300" dirty="0"/>
          </a:p>
        </p:txBody>
      </p:sp>
      <p:sp>
        <p:nvSpPr>
          <p:cNvPr id="52" name="Text 50"/>
          <p:cNvSpPr txBox="1"/>
          <p:nvPr/>
        </p:nvSpPr>
        <p:spPr>
          <a:xfrm>
            <a:off x="459943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6" name="Shape 54"/>
          <p:cNvSpPr/>
          <p:nvPr/>
        </p:nvSpPr>
        <p:spPr>
          <a:xfrm>
            <a:off x="2871216" y="3496208"/>
            <a:ext cx="333005" cy="136676"/>
          </a:xfrm>
          <a:prstGeom prst="rect">
            <a:avLst/>
          </a:prstGeom>
          <a:solidFill>
            <a:srgbClr val="2587C5"/>
          </a:solidFill>
          <a:ln/>
        </p:spPr>
      </p:sp>
      <p:sp>
        <p:nvSpPr>
          <p:cNvPr id="57" name="Text 55"/>
          <p:cNvSpPr txBox="1"/>
          <p:nvPr/>
        </p:nvSpPr>
        <p:spPr>
          <a:xfrm>
            <a:off x="3813048"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$16.2K</a:t>
            </a:r>
            <a:endParaRPr lang="en-US" sz="1300" dirty="0"/>
          </a:p>
        </p:txBody>
      </p:sp>
      <p:sp>
        <p:nvSpPr>
          <p:cNvPr id="58" name="Text 56"/>
          <p:cNvSpPr txBox="1"/>
          <p:nvPr/>
        </p:nvSpPr>
        <p:spPr>
          <a:xfrm>
            <a:off x="459943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2" name="Shape 60"/>
          <p:cNvSpPr/>
          <p:nvPr/>
        </p:nvSpPr>
        <p:spPr>
          <a:xfrm>
            <a:off x="2871216" y="3744710"/>
            <a:ext cx="312594" cy="136676"/>
          </a:xfrm>
          <a:prstGeom prst="rect">
            <a:avLst/>
          </a:prstGeom>
          <a:solidFill>
            <a:srgbClr val="2587C5"/>
          </a:solidFill>
          <a:ln/>
        </p:spPr>
      </p:sp>
      <p:sp>
        <p:nvSpPr>
          <p:cNvPr id="63" name="Text 61"/>
          <p:cNvSpPr txBox="1"/>
          <p:nvPr/>
        </p:nvSpPr>
        <p:spPr>
          <a:xfrm>
            <a:off x="3813048"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$15.2K</a:t>
            </a:r>
            <a:endParaRPr lang="en-US" sz="1300" dirty="0"/>
          </a:p>
        </p:txBody>
      </p:sp>
      <p:sp>
        <p:nvSpPr>
          <p:cNvPr id="64" name="Text 62"/>
          <p:cNvSpPr txBox="1"/>
          <p:nvPr/>
        </p:nvSpPr>
        <p:spPr>
          <a:xfrm>
            <a:off x="459943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2871216" y="3993212"/>
            <a:ext cx="302272" cy="136676"/>
          </a:xfrm>
          <a:prstGeom prst="rect">
            <a:avLst/>
          </a:prstGeom>
          <a:solidFill>
            <a:srgbClr val="2587C5"/>
          </a:solidFill>
          <a:ln/>
        </p:spPr>
      </p:sp>
      <p:sp>
        <p:nvSpPr>
          <p:cNvPr id="69" name="Text 67"/>
          <p:cNvSpPr txBox="1"/>
          <p:nvPr/>
        </p:nvSpPr>
        <p:spPr>
          <a:xfrm>
            <a:off x="3813048"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$14.7K</a:t>
            </a:r>
            <a:endParaRPr lang="en-US" sz="1300" dirty="0"/>
          </a:p>
        </p:txBody>
      </p:sp>
      <p:sp>
        <p:nvSpPr>
          <p:cNvPr id="70" name="Text 68"/>
          <p:cNvSpPr txBox="1"/>
          <p:nvPr/>
        </p:nvSpPr>
        <p:spPr>
          <a:xfrm>
            <a:off x="459943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4" name="Shape 72"/>
          <p:cNvSpPr/>
          <p:nvPr/>
        </p:nvSpPr>
        <p:spPr>
          <a:xfrm>
            <a:off x="2871216" y="4241713"/>
            <a:ext cx="288162" cy="136676"/>
          </a:xfrm>
          <a:prstGeom prst="rect">
            <a:avLst/>
          </a:prstGeom>
          <a:solidFill>
            <a:srgbClr val="2587C5"/>
          </a:solidFill>
          <a:ln/>
        </p:spPr>
      </p:sp>
      <p:sp>
        <p:nvSpPr>
          <p:cNvPr id="75" name="Text 73"/>
          <p:cNvSpPr txBox="1"/>
          <p:nvPr/>
        </p:nvSpPr>
        <p:spPr>
          <a:xfrm>
            <a:off x="3813048"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$14.1K</a:t>
            </a:r>
            <a:endParaRPr lang="en-US" sz="1300" dirty="0"/>
          </a:p>
        </p:txBody>
      </p:sp>
      <p:sp>
        <p:nvSpPr>
          <p:cNvPr id="76" name="Text 74"/>
          <p:cNvSpPr txBox="1"/>
          <p:nvPr/>
        </p:nvSpPr>
        <p:spPr>
          <a:xfrm>
            <a:off x="459943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0" name="Shape 78"/>
          <p:cNvSpPr/>
          <p:nvPr/>
        </p:nvSpPr>
        <p:spPr>
          <a:xfrm>
            <a:off x="2871216" y="4490215"/>
            <a:ext cx="260095" cy="136676"/>
          </a:xfrm>
          <a:prstGeom prst="rect">
            <a:avLst/>
          </a:prstGeom>
          <a:solidFill>
            <a:srgbClr val="2587C5"/>
          </a:solidFill>
          <a:ln/>
        </p:spPr>
      </p:sp>
      <p:sp>
        <p:nvSpPr>
          <p:cNvPr id="81" name="Text 79"/>
          <p:cNvSpPr txBox="1"/>
          <p:nvPr/>
        </p:nvSpPr>
        <p:spPr>
          <a:xfrm>
            <a:off x="3813048"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$12.7K</a:t>
            </a:r>
            <a:endParaRPr lang="en-US" sz="1300" dirty="0"/>
          </a:p>
        </p:txBody>
      </p:sp>
      <p:sp>
        <p:nvSpPr>
          <p:cNvPr id="82" name="Text 80"/>
          <p:cNvSpPr txBox="1"/>
          <p:nvPr/>
        </p:nvSpPr>
        <p:spPr>
          <a:xfrm>
            <a:off x="459943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86" name="Shape 84"/>
          <p:cNvSpPr/>
          <p:nvPr/>
        </p:nvSpPr>
        <p:spPr>
          <a:xfrm>
            <a:off x="2871216" y="4738717"/>
            <a:ext cx="257823" cy="136676"/>
          </a:xfrm>
          <a:prstGeom prst="rect">
            <a:avLst/>
          </a:prstGeom>
          <a:solidFill>
            <a:srgbClr val="2587C5"/>
          </a:solidFill>
          <a:ln/>
        </p:spPr>
      </p:sp>
      <p:sp>
        <p:nvSpPr>
          <p:cNvPr id="87" name="Text 85"/>
          <p:cNvSpPr txBox="1"/>
          <p:nvPr/>
        </p:nvSpPr>
        <p:spPr>
          <a:xfrm>
            <a:off x="3813048"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$12.6K</a:t>
            </a:r>
            <a:endParaRPr lang="en-US" sz="1300" dirty="0"/>
          </a:p>
        </p:txBody>
      </p:sp>
      <p:sp>
        <p:nvSpPr>
          <p:cNvPr id="88" name="Text 86"/>
          <p:cNvSpPr txBox="1"/>
          <p:nvPr/>
        </p:nvSpPr>
        <p:spPr>
          <a:xfrm>
            <a:off x="459943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92" name="Shape 90"/>
          <p:cNvSpPr/>
          <p:nvPr/>
        </p:nvSpPr>
        <p:spPr>
          <a:xfrm>
            <a:off x="2871216" y="4987218"/>
            <a:ext cx="252824" cy="136676"/>
          </a:xfrm>
          <a:prstGeom prst="rect">
            <a:avLst/>
          </a:prstGeom>
          <a:solidFill>
            <a:srgbClr val="2587C5"/>
          </a:solidFill>
          <a:ln/>
        </p:spPr>
      </p:sp>
      <p:sp>
        <p:nvSpPr>
          <p:cNvPr id="93" name="Text 91"/>
          <p:cNvSpPr txBox="1"/>
          <p:nvPr/>
        </p:nvSpPr>
        <p:spPr>
          <a:xfrm>
            <a:off x="3813048"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$12.3K</a:t>
            </a:r>
            <a:endParaRPr lang="en-US" sz="1300" dirty="0"/>
          </a:p>
        </p:txBody>
      </p:sp>
      <p:sp>
        <p:nvSpPr>
          <p:cNvPr id="94" name="Text 92"/>
          <p:cNvSpPr txBox="1"/>
          <p:nvPr/>
        </p:nvSpPr>
        <p:spPr>
          <a:xfrm>
            <a:off x="459943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8" name="Shape 96"/>
          <p:cNvSpPr/>
          <p:nvPr/>
        </p:nvSpPr>
        <p:spPr>
          <a:xfrm>
            <a:off x="2871216" y="5235720"/>
            <a:ext cx="244879" cy="136676"/>
          </a:xfrm>
          <a:prstGeom prst="rect">
            <a:avLst/>
          </a:prstGeom>
          <a:solidFill>
            <a:srgbClr val="2587C5"/>
          </a:solidFill>
          <a:ln/>
        </p:spPr>
      </p:sp>
      <p:sp>
        <p:nvSpPr>
          <p:cNvPr id="99" name="Text 97"/>
          <p:cNvSpPr txBox="1"/>
          <p:nvPr/>
        </p:nvSpPr>
        <p:spPr>
          <a:xfrm>
            <a:off x="3813048"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$11.9K</a:t>
            </a:r>
            <a:endParaRPr lang="en-US" sz="1300" dirty="0"/>
          </a:p>
        </p:txBody>
      </p:sp>
      <p:sp>
        <p:nvSpPr>
          <p:cNvPr id="100" name="Text 98"/>
          <p:cNvSpPr txBox="1"/>
          <p:nvPr/>
        </p:nvSpPr>
        <p:spPr>
          <a:xfrm>
            <a:off x="459943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4" name="Shape 102"/>
          <p:cNvSpPr/>
          <p:nvPr/>
        </p:nvSpPr>
        <p:spPr>
          <a:xfrm>
            <a:off x="2871216" y="5484222"/>
            <a:ext cx="233938" cy="136676"/>
          </a:xfrm>
          <a:prstGeom prst="rect">
            <a:avLst/>
          </a:prstGeom>
          <a:solidFill>
            <a:srgbClr val="2587C5"/>
          </a:solidFill>
          <a:ln/>
        </p:spPr>
      </p:sp>
      <p:sp>
        <p:nvSpPr>
          <p:cNvPr id="105" name="Text 103"/>
          <p:cNvSpPr txBox="1"/>
          <p:nvPr/>
        </p:nvSpPr>
        <p:spPr>
          <a:xfrm>
            <a:off x="3813048"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$11.4K</a:t>
            </a:r>
            <a:endParaRPr lang="en-US" sz="1300" dirty="0"/>
          </a:p>
        </p:txBody>
      </p:sp>
      <p:sp>
        <p:nvSpPr>
          <p:cNvPr id="106" name="Text 104"/>
          <p:cNvSpPr txBox="1"/>
          <p:nvPr/>
        </p:nvSpPr>
        <p:spPr>
          <a:xfrm>
            <a:off x="459943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0" name="Shape 108"/>
          <p:cNvSpPr/>
          <p:nvPr/>
        </p:nvSpPr>
        <p:spPr>
          <a:xfrm>
            <a:off x="2871216" y="5732723"/>
            <a:ext cx="221407" cy="136676"/>
          </a:xfrm>
          <a:prstGeom prst="rect">
            <a:avLst/>
          </a:prstGeom>
          <a:solidFill>
            <a:srgbClr val="2587C5"/>
          </a:solidFill>
          <a:ln/>
        </p:spPr>
      </p:sp>
      <p:sp>
        <p:nvSpPr>
          <p:cNvPr id="111" name="Text 109"/>
          <p:cNvSpPr txBox="1"/>
          <p:nvPr/>
        </p:nvSpPr>
        <p:spPr>
          <a:xfrm>
            <a:off x="3813048" y="567681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$10.8K</a:t>
            </a:r>
            <a:endParaRPr lang="en-US" sz="1300" dirty="0"/>
          </a:p>
        </p:txBody>
      </p:sp>
      <p:sp>
        <p:nvSpPr>
          <p:cNvPr id="112" name="Text 110"/>
          <p:cNvSpPr txBox="1"/>
          <p:nvPr/>
        </p:nvSpPr>
        <p:spPr>
          <a:xfrm>
            <a:off x="459943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16" name="Shape 114"/>
          <p:cNvSpPr/>
          <p:nvPr/>
        </p:nvSpPr>
        <p:spPr>
          <a:xfrm>
            <a:off x="8421624" y="1756697"/>
            <a:ext cx="209398" cy="136676"/>
          </a:xfrm>
          <a:prstGeom prst="rect">
            <a:avLst/>
          </a:prstGeom>
          <a:solidFill>
            <a:srgbClr val="2587C5"/>
          </a:solidFill>
          <a:ln/>
        </p:spPr>
      </p:sp>
      <p:sp>
        <p:nvSpPr>
          <p:cNvPr id="117" name="Text 115"/>
          <p:cNvSpPr txBox="1"/>
          <p:nvPr/>
        </p:nvSpPr>
        <p:spPr>
          <a:xfrm>
            <a:off x="9363456"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$10.2K</a:t>
            </a:r>
            <a:endParaRPr lang="en-US" sz="1300" dirty="0"/>
          </a:p>
        </p:txBody>
      </p:sp>
      <p:sp>
        <p:nvSpPr>
          <p:cNvPr id="118" name="Text 116"/>
          <p:cNvSpPr txBox="1"/>
          <p:nvPr/>
        </p:nvSpPr>
        <p:spPr>
          <a:xfrm>
            <a:off x="1014984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2" name="Shape 120"/>
          <p:cNvSpPr/>
          <p:nvPr/>
        </p:nvSpPr>
        <p:spPr>
          <a:xfrm>
            <a:off x="8421624" y="2005199"/>
            <a:ext cx="187702" cy="136676"/>
          </a:xfrm>
          <a:prstGeom prst="rect">
            <a:avLst/>
          </a:prstGeom>
          <a:solidFill>
            <a:srgbClr val="2587C5"/>
          </a:solidFill>
          <a:ln/>
        </p:spPr>
      </p:sp>
      <p:sp>
        <p:nvSpPr>
          <p:cNvPr id="123" name="Text 121"/>
          <p:cNvSpPr txBox="1"/>
          <p:nvPr/>
        </p:nvSpPr>
        <p:spPr>
          <a:xfrm>
            <a:off x="9363456"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$9.2K</a:t>
            </a:r>
            <a:endParaRPr lang="en-US" sz="1300" dirty="0"/>
          </a:p>
        </p:txBody>
      </p:sp>
      <p:sp>
        <p:nvSpPr>
          <p:cNvPr id="124" name="Text 122"/>
          <p:cNvSpPr txBox="1"/>
          <p:nvPr/>
        </p:nvSpPr>
        <p:spPr>
          <a:xfrm>
            <a:off x="1014984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8" name="Shape 126"/>
          <p:cNvSpPr/>
          <p:nvPr/>
        </p:nvSpPr>
        <p:spPr>
          <a:xfrm>
            <a:off x="8421624" y="2253700"/>
            <a:ext cx="180536" cy="136676"/>
          </a:xfrm>
          <a:prstGeom prst="rect">
            <a:avLst/>
          </a:prstGeom>
          <a:solidFill>
            <a:srgbClr val="2587C5"/>
          </a:solidFill>
          <a:ln/>
        </p:spPr>
      </p:sp>
      <p:sp>
        <p:nvSpPr>
          <p:cNvPr id="129" name="Text 127"/>
          <p:cNvSpPr txBox="1"/>
          <p:nvPr/>
        </p:nvSpPr>
        <p:spPr>
          <a:xfrm>
            <a:off x="9363456"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$8.8K</a:t>
            </a:r>
            <a:endParaRPr lang="en-US" sz="1300" dirty="0"/>
          </a:p>
        </p:txBody>
      </p:sp>
      <p:sp>
        <p:nvSpPr>
          <p:cNvPr id="130" name="Text 128"/>
          <p:cNvSpPr txBox="1"/>
          <p:nvPr/>
        </p:nvSpPr>
        <p:spPr>
          <a:xfrm>
            <a:off x="1014984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4" name="Shape 132"/>
          <p:cNvSpPr/>
          <p:nvPr/>
        </p:nvSpPr>
        <p:spPr>
          <a:xfrm>
            <a:off x="8421624" y="2502202"/>
            <a:ext cx="173314" cy="136676"/>
          </a:xfrm>
          <a:prstGeom prst="rect">
            <a:avLst/>
          </a:prstGeom>
          <a:solidFill>
            <a:srgbClr val="2587C5"/>
          </a:solidFill>
          <a:ln/>
        </p:spPr>
      </p:sp>
      <p:sp>
        <p:nvSpPr>
          <p:cNvPr id="135" name="Text 133"/>
          <p:cNvSpPr txBox="1"/>
          <p:nvPr/>
        </p:nvSpPr>
        <p:spPr>
          <a:xfrm>
            <a:off x="9363456"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$8.5K</a:t>
            </a:r>
            <a:endParaRPr lang="en-US" sz="1300" dirty="0"/>
          </a:p>
        </p:txBody>
      </p:sp>
      <p:sp>
        <p:nvSpPr>
          <p:cNvPr id="136" name="Text 134"/>
          <p:cNvSpPr txBox="1"/>
          <p:nvPr/>
        </p:nvSpPr>
        <p:spPr>
          <a:xfrm>
            <a:off x="1014984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0" name="Shape 138"/>
          <p:cNvSpPr/>
          <p:nvPr/>
        </p:nvSpPr>
        <p:spPr>
          <a:xfrm>
            <a:off x="8421624" y="2750703"/>
            <a:ext cx="169896" cy="136676"/>
          </a:xfrm>
          <a:prstGeom prst="rect">
            <a:avLst/>
          </a:prstGeom>
          <a:solidFill>
            <a:srgbClr val="2587C5"/>
          </a:solidFill>
          <a:ln/>
        </p:spPr>
      </p:sp>
      <p:sp>
        <p:nvSpPr>
          <p:cNvPr id="141" name="Text 139"/>
          <p:cNvSpPr txBox="1"/>
          <p:nvPr/>
        </p:nvSpPr>
        <p:spPr>
          <a:xfrm>
            <a:off x="9363456"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$8.3K</a:t>
            </a:r>
            <a:endParaRPr lang="en-US" sz="1300" dirty="0"/>
          </a:p>
        </p:txBody>
      </p:sp>
      <p:sp>
        <p:nvSpPr>
          <p:cNvPr id="142" name="Text 140"/>
          <p:cNvSpPr txBox="1"/>
          <p:nvPr/>
        </p:nvSpPr>
        <p:spPr>
          <a:xfrm>
            <a:off x="1014984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6" name="Shape 144"/>
          <p:cNvSpPr/>
          <p:nvPr/>
        </p:nvSpPr>
        <p:spPr>
          <a:xfrm>
            <a:off x="8421624" y="2999205"/>
            <a:ext cx="165457" cy="136676"/>
          </a:xfrm>
          <a:prstGeom prst="rect">
            <a:avLst/>
          </a:prstGeom>
          <a:solidFill>
            <a:srgbClr val="2587C5"/>
          </a:solidFill>
          <a:ln/>
        </p:spPr>
      </p:sp>
      <p:sp>
        <p:nvSpPr>
          <p:cNvPr id="147" name="Text 145"/>
          <p:cNvSpPr txBox="1"/>
          <p:nvPr/>
        </p:nvSpPr>
        <p:spPr>
          <a:xfrm>
            <a:off x="9363456"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$8.1K</a:t>
            </a:r>
            <a:endParaRPr lang="en-US" sz="1300" dirty="0"/>
          </a:p>
        </p:txBody>
      </p:sp>
      <p:sp>
        <p:nvSpPr>
          <p:cNvPr id="148" name="Text 146"/>
          <p:cNvSpPr txBox="1"/>
          <p:nvPr/>
        </p:nvSpPr>
        <p:spPr>
          <a:xfrm>
            <a:off x="1014984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2" name="Shape 150"/>
          <p:cNvSpPr/>
          <p:nvPr/>
        </p:nvSpPr>
        <p:spPr>
          <a:xfrm>
            <a:off x="8421624" y="3247707"/>
            <a:ext cx="154758" cy="136676"/>
          </a:xfrm>
          <a:prstGeom prst="rect">
            <a:avLst/>
          </a:prstGeom>
          <a:solidFill>
            <a:srgbClr val="2587C5"/>
          </a:solidFill>
          <a:ln/>
        </p:spPr>
      </p:sp>
      <p:sp>
        <p:nvSpPr>
          <p:cNvPr id="153" name="Text 151"/>
          <p:cNvSpPr txBox="1"/>
          <p:nvPr/>
        </p:nvSpPr>
        <p:spPr>
          <a:xfrm>
            <a:off x="9363456"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$7.5K</a:t>
            </a:r>
            <a:endParaRPr lang="en-US" sz="1300" dirty="0"/>
          </a:p>
        </p:txBody>
      </p:sp>
      <p:sp>
        <p:nvSpPr>
          <p:cNvPr id="154" name="Text 152"/>
          <p:cNvSpPr txBox="1"/>
          <p:nvPr/>
        </p:nvSpPr>
        <p:spPr>
          <a:xfrm>
            <a:off x="1014984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58" name="Shape 156"/>
          <p:cNvSpPr/>
          <p:nvPr/>
        </p:nvSpPr>
        <p:spPr>
          <a:xfrm>
            <a:off x="8421624" y="3496208"/>
            <a:ext cx="151615" cy="136676"/>
          </a:xfrm>
          <a:prstGeom prst="rect">
            <a:avLst/>
          </a:prstGeom>
          <a:solidFill>
            <a:srgbClr val="2587C5"/>
          </a:solidFill>
          <a:ln/>
        </p:spPr>
      </p:sp>
      <p:sp>
        <p:nvSpPr>
          <p:cNvPr id="159" name="Text 157"/>
          <p:cNvSpPr txBox="1"/>
          <p:nvPr/>
        </p:nvSpPr>
        <p:spPr>
          <a:xfrm>
            <a:off x="9363456"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$7.4K</a:t>
            </a:r>
            <a:endParaRPr lang="en-US" sz="1300" dirty="0"/>
          </a:p>
        </p:txBody>
      </p:sp>
      <p:sp>
        <p:nvSpPr>
          <p:cNvPr id="160" name="Text 158"/>
          <p:cNvSpPr txBox="1"/>
          <p:nvPr/>
        </p:nvSpPr>
        <p:spPr>
          <a:xfrm>
            <a:off x="1014984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4" name="Shape 162"/>
          <p:cNvSpPr/>
          <p:nvPr/>
        </p:nvSpPr>
        <p:spPr>
          <a:xfrm>
            <a:off x="8421624" y="3744710"/>
            <a:ext cx="148645" cy="136676"/>
          </a:xfrm>
          <a:prstGeom prst="rect">
            <a:avLst/>
          </a:prstGeom>
          <a:solidFill>
            <a:srgbClr val="2587C5"/>
          </a:solidFill>
          <a:ln/>
        </p:spPr>
      </p:sp>
      <p:sp>
        <p:nvSpPr>
          <p:cNvPr id="165" name="Text 163"/>
          <p:cNvSpPr txBox="1"/>
          <p:nvPr/>
        </p:nvSpPr>
        <p:spPr>
          <a:xfrm>
            <a:off x="9363456"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66" name="Text 164"/>
          <p:cNvSpPr txBox="1"/>
          <p:nvPr/>
        </p:nvSpPr>
        <p:spPr>
          <a:xfrm>
            <a:off x="1014984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0" name="Shape 168"/>
          <p:cNvSpPr/>
          <p:nvPr/>
        </p:nvSpPr>
        <p:spPr>
          <a:xfrm>
            <a:off x="8421624" y="3993212"/>
            <a:ext cx="148155" cy="136676"/>
          </a:xfrm>
          <a:prstGeom prst="rect">
            <a:avLst/>
          </a:prstGeom>
          <a:solidFill>
            <a:srgbClr val="2587C5"/>
          </a:solidFill>
          <a:ln/>
        </p:spPr>
      </p:sp>
      <p:sp>
        <p:nvSpPr>
          <p:cNvPr id="171" name="Text 169"/>
          <p:cNvSpPr txBox="1"/>
          <p:nvPr/>
        </p:nvSpPr>
        <p:spPr>
          <a:xfrm>
            <a:off x="9363456"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72" name="Text 170"/>
          <p:cNvSpPr txBox="1"/>
          <p:nvPr/>
        </p:nvSpPr>
        <p:spPr>
          <a:xfrm>
            <a:off x="1014984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76" name="Shape 174"/>
          <p:cNvSpPr/>
          <p:nvPr/>
        </p:nvSpPr>
        <p:spPr>
          <a:xfrm>
            <a:off x="8421624" y="4241713"/>
            <a:ext cx="146434" cy="136676"/>
          </a:xfrm>
          <a:prstGeom prst="rect">
            <a:avLst/>
          </a:prstGeom>
          <a:solidFill>
            <a:srgbClr val="2587C5"/>
          </a:solidFill>
          <a:ln/>
        </p:spPr>
      </p:sp>
      <p:sp>
        <p:nvSpPr>
          <p:cNvPr id="177" name="Text 175"/>
          <p:cNvSpPr txBox="1"/>
          <p:nvPr/>
        </p:nvSpPr>
        <p:spPr>
          <a:xfrm>
            <a:off x="9363456"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$7.1K</a:t>
            </a:r>
            <a:endParaRPr lang="en-US" sz="1300" dirty="0"/>
          </a:p>
        </p:txBody>
      </p:sp>
      <p:sp>
        <p:nvSpPr>
          <p:cNvPr id="178" name="Text 176"/>
          <p:cNvSpPr txBox="1"/>
          <p:nvPr/>
        </p:nvSpPr>
        <p:spPr>
          <a:xfrm>
            <a:off x="1014984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2" name="Shape 180"/>
          <p:cNvSpPr/>
          <p:nvPr/>
        </p:nvSpPr>
        <p:spPr>
          <a:xfrm>
            <a:off x="8421624" y="4490215"/>
            <a:ext cx="134976" cy="136676"/>
          </a:xfrm>
          <a:prstGeom prst="rect">
            <a:avLst/>
          </a:prstGeom>
          <a:solidFill>
            <a:srgbClr val="2587C5"/>
          </a:solidFill>
          <a:ln/>
        </p:spPr>
      </p:sp>
      <p:sp>
        <p:nvSpPr>
          <p:cNvPr id="183" name="Text 181"/>
          <p:cNvSpPr txBox="1"/>
          <p:nvPr/>
        </p:nvSpPr>
        <p:spPr>
          <a:xfrm>
            <a:off x="9363456"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$6.6K</a:t>
            </a:r>
            <a:endParaRPr lang="en-US" sz="1300" dirty="0"/>
          </a:p>
        </p:txBody>
      </p:sp>
      <p:sp>
        <p:nvSpPr>
          <p:cNvPr id="184" name="Text 182"/>
          <p:cNvSpPr txBox="1"/>
          <p:nvPr/>
        </p:nvSpPr>
        <p:spPr>
          <a:xfrm>
            <a:off x="1014984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88" name="Shape 186"/>
          <p:cNvSpPr/>
          <p:nvPr/>
        </p:nvSpPr>
        <p:spPr>
          <a:xfrm>
            <a:off x="8421624" y="4738717"/>
            <a:ext cx="133528" cy="136676"/>
          </a:xfrm>
          <a:prstGeom prst="rect">
            <a:avLst/>
          </a:prstGeom>
          <a:solidFill>
            <a:srgbClr val="2587C5"/>
          </a:solidFill>
          <a:ln/>
        </p:spPr>
      </p:sp>
      <p:sp>
        <p:nvSpPr>
          <p:cNvPr id="189" name="Text 187"/>
          <p:cNvSpPr txBox="1"/>
          <p:nvPr/>
        </p:nvSpPr>
        <p:spPr>
          <a:xfrm>
            <a:off x="9363456"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$6.5K</a:t>
            </a:r>
            <a:endParaRPr lang="en-US" sz="1300" dirty="0"/>
          </a:p>
        </p:txBody>
      </p:sp>
      <p:sp>
        <p:nvSpPr>
          <p:cNvPr id="190" name="Text 188"/>
          <p:cNvSpPr txBox="1"/>
          <p:nvPr/>
        </p:nvSpPr>
        <p:spPr>
          <a:xfrm>
            <a:off x="1014984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4" name="Shape 192"/>
          <p:cNvSpPr/>
          <p:nvPr/>
        </p:nvSpPr>
        <p:spPr>
          <a:xfrm>
            <a:off x="8421624" y="4987218"/>
            <a:ext cx="108545" cy="136676"/>
          </a:xfrm>
          <a:prstGeom prst="rect">
            <a:avLst/>
          </a:prstGeom>
          <a:solidFill>
            <a:srgbClr val="2587C5"/>
          </a:solidFill>
          <a:ln/>
        </p:spPr>
      </p:sp>
      <p:sp>
        <p:nvSpPr>
          <p:cNvPr id="195" name="Text 193"/>
          <p:cNvSpPr txBox="1"/>
          <p:nvPr/>
        </p:nvSpPr>
        <p:spPr>
          <a:xfrm>
            <a:off x="9363456"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$5.3K</a:t>
            </a:r>
            <a:endParaRPr lang="en-US" sz="1300" dirty="0"/>
          </a:p>
        </p:txBody>
      </p:sp>
      <p:sp>
        <p:nvSpPr>
          <p:cNvPr id="196" name="Text 194"/>
          <p:cNvSpPr txBox="1"/>
          <p:nvPr/>
        </p:nvSpPr>
        <p:spPr>
          <a:xfrm>
            <a:off x="1014984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200" name="Shape 198"/>
          <p:cNvSpPr/>
          <p:nvPr/>
        </p:nvSpPr>
        <p:spPr>
          <a:xfrm>
            <a:off x="8421624" y="5235720"/>
            <a:ext cx="88865" cy="136676"/>
          </a:xfrm>
          <a:prstGeom prst="rect">
            <a:avLst/>
          </a:prstGeom>
          <a:solidFill>
            <a:srgbClr val="2587C5"/>
          </a:solidFill>
          <a:ln/>
        </p:spPr>
      </p:sp>
      <p:sp>
        <p:nvSpPr>
          <p:cNvPr id="201" name="Text 199"/>
          <p:cNvSpPr txBox="1"/>
          <p:nvPr/>
        </p:nvSpPr>
        <p:spPr>
          <a:xfrm>
            <a:off x="9363456"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$4.3K</a:t>
            </a:r>
            <a:endParaRPr lang="en-US" sz="1300" dirty="0"/>
          </a:p>
        </p:txBody>
      </p:sp>
      <p:sp>
        <p:nvSpPr>
          <p:cNvPr id="202" name="Text 200"/>
          <p:cNvSpPr txBox="1"/>
          <p:nvPr/>
        </p:nvSpPr>
        <p:spPr>
          <a:xfrm>
            <a:off x="1014984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06" name="Shape 204"/>
          <p:cNvSpPr/>
          <p:nvPr/>
        </p:nvSpPr>
        <p:spPr>
          <a:xfrm>
            <a:off x="8421624" y="5484222"/>
            <a:ext cx="70911" cy="136676"/>
          </a:xfrm>
          <a:prstGeom prst="rect">
            <a:avLst/>
          </a:prstGeom>
          <a:solidFill>
            <a:srgbClr val="2587C5"/>
          </a:solidFill>
          <a:ln/>
        </p:spPr>
      </p:sp>
      <p:sp>
        <p:nvSpPr>
          <p:cNvPr id="207" name="Text 205"/>
          <p:cNvSpPr txBox="1"/>
          <p:nvPr/>
        </p:nvSpPr>
        <p:spPr>
          <a:xfrm>
            <a:off x="9363456"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$3.5K</a:t>
            </a:r>
            <a:endParaRPr lang="en-US" sz="1300" dirty="0"/>
          </a:p>
        </p:txBody>
      </p:sp>
      <p:sp>
        <p:nvSpPr>
          <p:cNvPr id="208" name="Text 206"/>
          <p:cNvSpPr txBox="1"/>
          <p:nvPr/>
        </p:nvSpPr>
        <p:spPr>
          <a:xfrm>
            <a:off x="1014984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1376"/>
          </a:xfrm>
          <a:prstGeom prst="rect">
            <a:avLst/>
          </a:prstGeom>
          <a:solidFill>
            <a:srgbClr val="EDF4FA"/>
          </a:solidFill>
          <a:ln/>
        </p:spPr>
      </p:sp>
      <p:sp>
        <p:nvSpPr>
          <p:cNvPr id="212" name="Text 210"/>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 Increases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927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7" name="Text 5"/>
          <p:cNvSpPr txBox="1"/>
          <p:nvPr/>
        </p:nvSpPr>
        <p:spPr>
          <a:xfrm>
            <a:off x="4233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7492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86968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10" name="Text 8"/>
          <p:cNvSpPr txBox="1"/>
          <p:nvPr/>
        </p:nvSpPr>
        <p:spPr>
          <a:xfrm>
            <a:off x="978408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62532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 name="Shape 12"/>
          <p:cNvSpPr/>
          <p:nvPr/>
        </p:nvSpPr>
        <p:spPr>
          <a:xfrm>
            <a:off x="2871216" y="1795836"/>
            <a:ext cx="393192" cy="232349"/>
          </a:xfrm>
          <a:prstGeom prst="rect">
            <a:avLst/>
          </a:prstGeom>
          <a:solidFill>
            <a:srgbClr val="2587C5"/>
          </a:solidFill>
          <a:ln/>
        </p:spPr>
      </p:sp>
      <p:sp>
        <p:nvSpPr>
          <p:cNvPr id="15" name="Text 13"/>
          <p:cNvSpPr txBox="1"/>
          <p:nvPr/>
        </p:nvSpPr>
        <p:spPr>
          <a:xfrm>
            <a:off x="3319272"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$798K</a:t>
            </a:r>
            <a:endParaRPr lang="en-US" sz="1300" dirty="0"/>
          </a:p>
        </p:txBody>
      </p:sp>
      <p:sp>
        <p:nvSpPr>
          <p:cNvPr id="16" name="Text 14"/>
          <p:cNvSpPr txBox="1"/>
          <p:nvPr/>
        </p:nvSpPr>
        <p:spPr>
          <a:xfrm>
            <a:off x="4233672"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$420K</a:t>
            </a:r>
            <a:endParaRPr lang="en-US" sz="1300" dirty="0"/>
          </a:p>
        </p:txBody>
      </p:sp>
      <p:sp>
        <p:nvSpPr>
          <p:cNvPr id="17" name="Text 15"/>
          <p:cNvSpPr txBox="1"/>
          <p:nvPr/>
        </p:nvSpPr>
        <p:spPr>
          <a:xfrm>
            <a:off x="507492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$378K</a:t>
            </a:r>
            <a:endParaRPr lang="en-US" sz="1300" dirty="0"/>
          </a:p>
        </p:txBody>
      </p:sp>
      <p:sp>
        <p:nvSpPr>
          <p:cNvPr id="18" name="Text 16"/>
          <p:cNvSpPr txBox="1"/>
          <p:nvPr/>
        </p:nvSpPr>
        <p:spPr>
          <a:xfrm>
            <a:off x="658368" y="2123237"/>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123237"/>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0" name="Shape 18"/>
          <p:cNvSpPr/>
          <p:nvPr/>
        </p:nvSpPr>
        <p:spPr>
          <a:xfrm>
            <a:off x="2871216" y="2218289"/>
            <a:ext cx="228346" cy="232349"/>
          </a:xfrm>
          <a:prstGeom prst="rect">
            <a:avLst/>
          </a:prstGeom>
          <a:solidFill>
            <a:srgbClr val="2587C5"/>
          </a:solidFill>
          <a:ln/>
        </p:spPr>
      </p:sp>
      <p:sp>
        <p:nvSpPr>
          <p:cNvPr id="21" name="Text 19"/>
          <p:cNvSpPr txBox="1"/>
          <p:nvPr/>
        </p:nvSpPr>
        <p:spPr>
          <a:xfrm>
            <a:off x="3319272"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$463K</a:t>
            </a:r>
            <a:endParaRPr lang="en-US" sz="1300" dirty="0"/>
          </a:p>
        </p:txBody>
      </p:sp>
      <p:sp>
        <p:nvSpPr>
          <p:cNvPr id="22" name="Text 20"/>
          <p:cNvSpPr txBox="1"/>
          <p:nvPr/>
        </p:nvSpPr>
        <p:spPr>
          <a:xfrm>
            <a:off x="4233672"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23" name="Text 21"/>
          <p:cNvSpPr txBox="1"/>
          <p:nvPr/>
        </p:nvSpPr>
        <p:spPr>
          <a:xfrm>
            <a:off x="507492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$320K</a:t>
            </a:r>
            <a:endParaRPr lang="en-US" sz="1300" dirty="0"/>
          </a:p>
        </p:txBody>
      </p:sp>
      <p:sp>
        <p:nvSpPr>
          <p:cNvPr id="24" name="Text 22"/>
          <p:cNvSpPr txBox="1"/>
          <p:nvPr/>
        </p:nvSpPr>
        <p:spPr>
          <a:xfrm>
            <a:off x="658368" y="2545690"/>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545690"/>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6" name="Shape 24"/>
          <p:cNvSpPr/>
          <p:nvPr/>
        </p:nvSpPr>
        <p:spPr>
          <a:xfrm>
            <a:off x="2871216" y="2640741"/>
            <a:ext cx="169496" cy="232349"/>
          </a:xfrm>
          <a:prstGeom prst="rect">
            <a:avLst/>
          </a:prstGeom>
          <a:solidFill>
            <a:srgbClr val="2587C5"/>
          </a:solidFill>
          <a:ln/>
        </p:spPr>
      </p:sp>
      <p:sp>
        <p:nvSpPr>
          <p:cNvPr id="27" name="Text 25"/>
          <p:cNvSpPr txBox="1"/>
          <p:nvPr/>
        </p:nvSpPr>
        <p:spPr>
          <a:xfrm>
            <a:off x="3319272"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$344K</a:t>
            </a:r>
            <a:endParaRPr lang="en-US" sz="1300" dirty="0"/>
          </a:p>
        </p:txBody>
      </p:sp>
      <p:sp>
        <p:nvSpPr>
          <p:cNvPr id="28" name="Text 26"/>
          <p:cNvSpPr txBox="1"/>
          <p:nvPr/>
        </p:nvSpPr>
        <p:spPr>
          <a:xfrm>
            <a:off x="4233672"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$123K</a:t>
            </a:r>
            <a:endParaRPr lang="en-US" sz="1300" dirty="0"/>
          </a:p>
        </p:txBody>
      </p:sp>
      <p:sp>
        <p:nvSpPr>
          <p:cNvPr id="29" name="Text 27"/>
          <p:cNvSpPr txBox="1"/>
          <p:nvPr/>
        </p:nvSpPr>
        <p:spPr>
          <a:xfrm>
            <a:off x="507492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30" name="Text 28"/>
          <p:cNvSpPr txBox="1"/>
          <p:nvPr/>
        </p:nvSpPr>
        <p:spPr>
          <a:xfrm>
            <a:off x="658368" y="2968142"/>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968142"/>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2" name="Shape 30"/>
          <p:cNvSpPr/>
          <p:nvPr/>
        </p:nvSpPr>
        <p:spPr>
          <a:xfrm>
            <a:off x="2871216" y="3063194"/>
            <a:ext cx="160520" cy="232349"/>
          </a:xfrm>
          <a:prstGeom prst="rect">
            <a:avLst/>
          </a:prstGeom>
          <a:solidFill>
            <a:srgbClr val="2587C5"/>
          </a:solidFill>
          <a:ln/>
        </p:spPr>
      </p:sp>
      <p:sp>
        <p:nvSpPr>
          <p:cNvPr id="33" name="Text 31"/>
          <p:cNvSpPr txBox="1"/>
          <p:nvPr/>
        </p:nvSpPr>
        <p:spPr>
          <a:xfrm>
            <a:off x="3319272"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$326K</a:t>
            </a:r>
            <a:endParaRPr lang="en-US" sz="1300" dirty="0"/>
          </a:p>
        </p:txBody>
      </p:sp>
      <p:sp>
        <p:nvSpPr>
          <p:cNvPr id="34" name="Text 32"/>
          <p:cNvSpPr txBox="1"/>
          <p:nvPr/>
        </p:nvSpPr>
        <p:spPr>
          <a:xfrm>
            <a:off x="4233672"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$206K</a:t>
            </a:r>
            <a:endParaRPr lang="en-US" sz="1300" dirty="0"/>
          </a:p>
        </p:txBody>
      </p:sp>
      <p:sp>
        <p:nvSpPr>
          <p:cNvPr id="35" name="Text 33"/>
          <p:cNvSpPr txBox="1"/>
          <p:nvPr/>
        </p:nvSpPr>
        <p:spPr>
          <a:xfrm>
            <a:off x="507492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$119K</a:t>
            </a:r>
            <a:endParaRPr lang="en-US" sz="1300" dirty="0"/>
          </a:p>
        </p:txBody>
      </p:sp>
      <p:sp>
        <p:nvSpPr>
          <p:cNvPr id="36" name="Text 34"/>
          <p:cNvSpPr txBox="1"/>
          <p:nvPr/>
        </p:nvSpPr>
        <p:spPr>
          <a:xfrm>
            <a:off x="658368" y="3390595"/>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390595"/>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8" name="Shape 36"/>
          <p:cNvSpPr/>
          <p:nvPr/>
        </p:nvSpPr>
        <p:spPr>
          <a:xfrm>
            <a:off x="2871216" y="3485647"/>
            <a:ext cx="143915" cy="232349"/>
          </a:xfrm>
          <a:prstGeom prst="rect">
            <a:avLst/>
          </a:prstGeom>
          <a:solidFill>
            <a:srgbClr val="2587C5"/>
          </a:solidFill>
          <a:ln/>
        </p:spPr>
      </p:sp>
      <p:sp>
        <p:nvSpPr>
          <p:cNvPr id="39" name="Text 37"/>
          <p:cNvSpPr txBox="1"/>
          <p:nvPr/>
        </p:nvSpPr>
        <p:spPr>
          <a:xfrm>
            <a:off x="3319272"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$292K</a:t>
            </a:r>
            <a:endParaRPr lang="en-US" sz="1300" dirty="0"/>
          </a:p>
        </p:txBody>
      </p:sp>
      <p:sp>
        <p:nvSpPr>
          <p:cNvPr id="40" name="Text 38"/>
          <p:cNvSpPr txBox="1"/>
          <p:nvPr/>
        </p:nvSpPr>
        <p:spPr>
          <a:xfrm>
            <a:off x="4233672"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$165K</a:t>
            </a:r>
            <a:endParaRPr lang="en-US" sz="1300" dirty="0"/>
          </a:p>
        </p:txBody>
      </p:sp>
      <p:sp>
        <p:nvSpPr>
          <p:cNvPr id="41" name="Text 39"/>
          <p:cNvSpPr txBox="1"/>
          <p:nvPr/>
        </p:nvSpPr>
        <p:spPr>
          <a:xfrm>
            <a:off x="507492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42" name="Text 40"/>
          <p:cNvSpPr txBox="1"/>
          <p:nvPr/>
        </p:nvSpPr>
        <p:spPr>
          <a:xfrm>
            <a:off x="658368" y="3813048"/>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813048"/>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44" name="Shape 42"/>
          <p:cNvSpPr/>
          <p:nvPr/>
        </p:nvSpPr>
        <p:spPr>
          <a:xfrm>
            <a:off x="2871216" y="3908100"/>
            <a:ext cx="139741" cy="232349"/>
          </a:xfrm>
          <a:prstGeom prst="rect">
            <a:avLst/>
          </a:prstGeom>
          <a:solidFill>
            <a:srgbClr val="2587C5"/>
          </a:solidFill>
          <a:ln/>
        </p:spPr>
      </p:sp>
      <p:sp>
        <p:nvSpPr>
          <p:cNvPr id="45" name="Text 43"/>
          <p:cNvSpPr txBox="1"/>
          <p:nvPr/>
        </p:nvSpPr>
        <p:spPr>
          <a:xfrm>
            <a:off x="3319272"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$284K</a:t>
            </a:r>
            <a:endParaRPr lang="en-US" sz="1300" dirty="0"/>
          </a:p>
        </p:txBody>
      </p:sp>
      <p:sp>
        <p:nvSpPr>
          <p:cNvPr id="46" name="Text 44"/>
          <p:cNvSpPr txBox="1"/>
          <p:nvPr/>
        </p:nvSpPr>
        <p:spPr>
          <a:xfrm>
            <a:off x="4233672"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47" name="Text 45"/>
          <p:cNvSpPr txBox="1"/>
          <p:nvPr/>
        </p:nvSpPr>
        <p:spPr>
          <a:xfrm>
            <a:off x="507492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48" name="Text 46"/>
          <p:cNvSpPr txBox="1"/>
          <p:nvPr/>
        </p:nvSpPr>
        <p:spPr>
          <a:xfrm>
            <a:off x="658368" y="4235501"/>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235501"/>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0" name="Shape 48"/>
          <p:cNvSpPr/>
          <p:nvPr/>
        </p:nvSpPr>
        <p:spPr>
          <a:xfrm>
            <a:off x="2871216" y="4330553"/>
            <a:ext cx="111050" cy="232349"/>
          </a:xfrm>
          <a:prstGeom prst="rect">
            <a:avLst/>
          </a:prstGeom>
          <a:solidFill>
            <a:srgbClr val="2587C5"/>
          </a:solidFill>
          <a:ln/>
        </p:spPr>
      </p:sp>
      <p:sp>
        <p:nvSpPr>
          <p:cNvPr id="51" name="Text 49"/>
          <p:cNvSpPr txBox="1"/>
          <p:nvPr/>
        </p:nvSpPr>
        <p:spPr>
          <a:xfrm>
            <a:off x="3319272"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$225K</a:t>
            </a:r>
            <a:endParaRPr lang="en-US" sz="1300" dirty="0"/>
          </a:p>
        </p:txBody>
      </p:sp>
      <p:sp>
        <p:nvSpPr>
          <p:cNvPr id="52" name="Text 50"/>
          <p:cNvSpPr txBox="1"/>
          <p:nvPr/>
        </p:nvSpPr>
        <p:spPr>
          <a:xfrm>
            <a:off x="4233672"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53" name="Text 51"/>
          <p:cNvSpPr txBox="1"/>
          <p:nvPr/>
        </p:nvSpPr>
        <p:spPr>
          <a:xfrm>
            <a:off x="507492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$98K</a:t>
            </a:r>
            <a:endParaRPr lang="en-US" sz="1300" dirty="0"/>
          </a:p>
        </p:txBody>
      </p:sp>
      <p:sp>
        <p:nvSpPr>
          <p:cNvPr id="54" name="Text 52"/>
          <p:cNvSpPr txBox="1"/>
          <p:nvPr/>
        </p:nvSpPr>
        <p:spPr>
          <a:xfrm>
            <a:off x="658368" y="4657954"/>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657954"/>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6" name="Shape 54"/>
          <p:cNvSpPr/>
          <p:nvPr/>
        </p:nvSpPr>
        <p:spPr>
          <a:xfrm>
            <a:off x="2871216" y="4753005"/>
            <a:ext cx="103120" cy="232349"/>
          </a:xfrm>
          <a:prstGeom prst="rect">
            <a:avLst/>
          </a:prstGeom>
          <a:solidFill>
            <a:srgbClr val="2587C5"/>
          </a:solidFill>
          <a:ln/>
        </p:spPr>
      </p:sp>
      <p:sp>
        <p:nvSpPr>
          <p:cNvPr id="57" name="Text 55"/>
          <p:cNvSpPr txBox="1"/>
          <p:nvPr/>
        </p:nvSpPr>
        <p:spPr>
          <a:xfrm>
            <a:off x="3319272"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$209K</a:t>
            </a:r>
            <a:endParaRPr lang="en-US" sz="1300" dirty="0"/>
          </a:p>
        </p:txBody>
      </p:sp>
      <p:sp>
        <p:nvSpPr>
          <p:cNvPr id="58" name="Text 56"/>
          <p:cNvSpPr txBox="1"/>
          <p:nvPr/>
        </p:nvSpPr>
        <p:spPr>
          <a:xfrm>
            <a:off x="4233672"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59" name="Text 57"/>
          <p:cNvSpPr txBox="1"/>
          <p:nvPr/>
        </p:nvSpPr>
        <p:spPr>
          <a:xfrm>
            <a:off x="507492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60" name="Text 58"/>
          <p:cNvSpPr txBox="1"/>
          <p:nvPr/>
        </p:nvSpPr>
        <p:spPr>
          <a:xfrm>
            <a:off x="658368" y="5080406"/>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5080406"/>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62" name="Shape 60"/>
          <p:cNvSpPr/>
          <p:nvPr/>
        </p:nvSpPr>
        <p:spPr>
          <a:xfrm>
            <a:off x="2871216" y="5175458"/>
            <a:ext cx="71987" cy="232349"/>
          </a:xfrm>
          <a:prstGeom prst="rect">
            <a:avLst/>
          </a:prstGeom>
          <a:solidFill>
            <a:srgbClr val="2587C5"/>
          </a:solidFill>
          <a:ln/>
        </p:spPr>
      </p:sp>
      <p:sp>
        <p:nvSpPr>
          <p:cNvPr id="63" name="Text 61"/>
          <p:cNvSpPr txBox="1"/>
          <p:nvPr/>
        </p:nvSpPr>
        <p:spPr>
          <a:xfrm>
            <a:off x="3319272"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4233672"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65" name="Text 63"/>
          <p:cNvSpPr txBox="1"/>
          <p:nvPr/>
        </p:nvSpPr>
        <p:spPr>
          <a:xfrm>
            <a:off x="507492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66" name="Text 64"/>
          <p:cNvSpPr txBox="1"/>
          <p:nvPr/>
        </p:nvSpPr>
        <p:spPr>
          <a:xfrm>
            <a:off x="658368" y="5502859"/>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502859"/>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2871216" y="5597911"/>
            <a:ext cx="65879" cy="232349"/>
          </a:xfrm>
          <a:prstGeom prst="rect">
            <a:avLst/>
          </a:prstGeom>
          <a:solidFill>
            <a:srgbClr val="2587C5"/>
          </a:solidFill>
          <a:ln/>
        </p:spPr>
      </p:sp>
      <p:sp>
        <p:nvSpPr>
          <p:cNvPr id="69" name="Text 67"/>
          <p:cNvSpPr txBox="1"/>
          <p:nvPr/>
        </p:nvSpPr>
        <p:spPr>
          <a:xfrm>
            <a:off x="3319272" y="5502859"/>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0" name="Text 68"/>
          <p:cNvSpPr txBox="1"/>
          <p:nvPr/>
        </p:nvSpPr>
        <p:spPr>
          <a:xfrm>
            <a:off x="4233672"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71" name="Text 69"/>
          <p:cNvSpPr txBox="1"/>
          <p:nvPr/>
        </p:nvSpPr>
        <p:spPr>
          <a:xfrm>
            <a:off x="5074920"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208776" y="1700784"/>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6565392" y="1700784"/>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4" name="Shape 72"/>
          <p:cNvSpPr/>
          <p:nvPr/>
        </p:nvSpPr>
        <p:spPr>
          <a:xfrm>
            <a:off x="8421624" y="1795836"/>
            <a:ext cx="47436" cy="232349"/>
          </a:xfrm>
          <a:prstGeom prst="rect">
            <a:avLst/>
          </a:prstGeom>
          <a:solidFill>
            <a:srgbClr val="2587C5"/>
          </a:solidFill>
          <a:ln/>
        </p:spPr>
      </p:sp>
      <p:sp>
        <p:nvSpPr>
          <p:cNvPr id="75" name="Text 73"/>
          <p:cNvSpPr txBox="1"/>
          <p:nvPr/>
        </p:nvSpPr>
        <p:spPr>
          <a:xfrm>
            <a:off x="8869680"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$96K</a:t>
            </a:r>
            <a:endParaRPr lang="en-US" sz="1300" dirty="0"/>
          </a:p>
        </p:txBody>
      </p:sp>
      <p:sp>
        <p:nvSpPr>
          <p:cNvPr id="76" name="Text 74"/>
          <p:cNvSpPr txBox="1"/>
          <p:nvPr/>
        </p:nvSpPr>
        <p:spPr>
          <a:xfrm>
            <a:off x="978408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77" name="Text 75"/>
          <p:cNvSpPr txBox="1"/>
          <p:nvPr/>
        </p:nvSpPr>
        <p:spPr>
          <a:xfrm>
            <a:off x="10625328"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78" name="Text 76"/>
          <p:cNvSpPr txBox="1"/>
          <p:nvPr/>
        </p:nvSpPr>
        <p:spPr>
          <a:xfrm>
            <a:off x="6208776" y="2123237"/>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2123237"/>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80" name="Shape 78"/>
          <p:cNvSpPr/>
          <p:nvPr/>
        </p:nvSpPr>
        <p:spPr>
          <a:xfrm>
            <a:off x="8421624" y="2218289"/>
            <a:ext cx="46626" cy="232349"/>
          </a:xfrm>
          <a:prstGeom prst="rect">
            <a:avLst/>
          </a:prstGeom>
          <a:solidFill>
            <a:srgbClr val="2587C5"/>
          </a:solidFill>
          <a:ln/>
        </p:spPr>
      </p:sp>
      <p:sp>
        <p:nvSpPr>
          <p:cNvPr id="81" name="Text 79"/>
          <p:cNvSpPr txBox="1"/>
          <p:nvPr/>
        </p:nvSpPr>
        <p:spPr>
          <a:xfrm>
            <a:off x="8869680"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82" name="Text 80"/>
          <p:cNvSpPr txBox="1"/>
          <p:nvPr/>
        </p:nvSpPr>
        <p:spPr>
          <a:xfrm>
            <a:off x="978408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$64K</a:t>
            </a:r>
            <a:endParaRPr lang="en-US" sz="1300" dirty="0"/>
          </a:p>
        </p:txBody>
      </p:sp>
      <p:sp>
        <p:nvSpPr>
          <p:cNvPr id="83" name="Text 81"/>
          <p:cNvSpPr txBox="1"/>
          <p:nvPr/>
        </p:nvSpPr>
        <p:spPr>
          <a:xfrm>
            <a:off x="10625328"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84" name="Text 82"/>
          <p:cNvSpPr txBox="1"/>
          <p:nvPr/>
        </p:nvSpPr>
        <p:spPr>
          <a:xfrm>
            <a:off x="6208776" y="2545690"/>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545690"/>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6" name="Shape 84"/>
          <p:cNvSpPr/>
          <p:nvPr/>
        </p:nvSpPr>
        <p:spPr>
          <a:xfrm>
            <a:off x="8421624" y="2640741"/>
            <a:ext cx="45934" cy="232349"/>
          </a:xfrm>
          <a:prstGeom prst="rect">
            <a:avLst/>
          </a:prstGeom>
          <a:solidFill>
            <a:srgbClr val="2587C5"/>
          </a:solidFill>
          <a:ln/>
        </p:spPr>
      </p:sp>
      <p:sp>
        <p:nvSpPr>
          <p:cNvPr id="87" name="Text 85"/>
          <p:cNvSpPr txBox="1"/>
          <p:nvPr/>
        </p:nvSpPr>
        <p:spPr>
          <a:xfrm>
            <a:off x="8869680"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$93K</a:t>
            </a:r>
            <a:endParaRPr lang="en-US" sz="1300" dirty="0"/>
          </a:p>
        </p:txBody>
      </p:sp>
      <p:sp>
        <p:nvSpPr>
          <p:cNvPr id="88" name="Text 86"/>
          <p:cNvSpPr txBox="1"/>
          <p:nvPr/>
        </p:nvSpPr>
        <p:spPr>
          <a:xfrm>
            <a:off x="978408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89" name="Text 87"/>
          <p:cNvSpPr txBox="1"/>
          <p:nvPr/>
        </p:nvSpPr>
        <p:spPr>
          <a:xfrm>
            <a:off x="10625328"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$60K</a:t>
            </a:r>
            <a:endParaRPr lang="en-US" sz="1300" dirty="0"/>
          </a:p>
        </p:txBody>
      </p:sp>
      <p:sp>
        <p:nvSpPr>
          <p:cNvPr id="90" name="Text 88"/>
          <p:cNvSpPr txBox="1"/>
          <p:nvPr/>
        </p:nvSpPr>
        <p:spPr>
          <a:xfrm>
            <a:off x="6208776" y="2968142"/>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968142"/>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2" name="Shape 90"/>
          <p:cNvSpPr/>
          <p:nvPr/>
        </p:nvSpPr>
        <p:spPr>
          <a:xfrm>
            <a:off x="8421624" y="3063194"/>
            <a:ext cx="44680" cy="232349"/>
          </a:xfrm>
          <a:prstGeom prst="rect">
            <a:avLst/>
          </a:prstGeom>
          <a:solidFill>
            <a:srgbClr val="2587C5"/>
          </a:solidFill>
          <a:ln/>
        </p:spPr>
      </p:sp>
      <p:sp>
        <p:nvSpPr>
          <p:cNvPr id="93" name="Text 91"/>
          <p:cNvSpPr txBox="1"/>
          <p:nvPr/>
        </p:nvSpPr>
        <p:spPr>
          <a:xfrm>
            <a:off x="8869680"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$91K</a:t>
            </a:r>
            <a:endParaRPr lang="en-US" sz="1300" dirty="0"/>
          </a:p>
        </p:txBody>
      </p:sp>
      <p:sp>
        <p:nvSpPr>
          <p:cNvPr id="94" name="Text 92"/>
          <p:cNvSpPr txBox="1"/>
          <p:nvPr/>
        </p:nvSpPr>
        <p:spPr>
          <a:xfrm>
            <a:off x="978408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95" name="Text 93"/>
          <p:cNvSpPr txBox="1"/>
          <p:nvPr/>
        </p:nvSpPr>
        <p:spPr>
          <a:xfrm>
            <a:off x="10625328"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$53K</a:t>
            </a:r>
            <a:endParaRPr lang="en-US" sz="1300" dirty="0"/>
          </a:p>
        </p:txBody>
      </p:sp>
      <p:sp>
        <p:nvSpPr>
          <p:cNvPr id="96" name="Text 94"/>
          <p:cNvSpPr txBox="1"/>
          <p:nvPr/>
        </p:nvSpPr>
        <p:spPr>
          <a:xfrm>
            <a:off x="6208776" y="3390595"/>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3390595"/>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8" name="Shape 96"/>
          <p:cNvSpPr/>
          <p:nvPr/>
        </p:nvSpPr>
        <p:spPr>
          <a:xfrm>
            <a:off x="8421624" y="3485647"/>
            <a:ext cx="36934" cy="232349"/>
          </a:xfrm>
          <a:prstGeom prst="rect">
            <a:avLst/>
          </a:prstGeom>
          <a:solidFill>
            <a:srgbClr val="2587C5"/>
          </a:solidFill>
          <a:ln/>
        </p:spPr>
      </p:sp>
      <p:sp>
        <p:nvSpPr>
          <p:cNvPr id="99" name="Text 97"/>
          <p:cNvSpPr txBox="1"/>
          <p:nvPr/>
        </p:nvSpPr>
        <p:spPr>
          <a:xfrm>
            <a:off x="8869680"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$75K</a:t>
            </a:r>
            <a:endParaRPr lang="en-US" sz="1300" dirty="0"/>
          </a:p>
        </p:txBody>
      </p:sp>
      <p:sp>
        <p:nvSpPr>
          <p:cNvPr id="100" name="Text 98"/>
          <p:cNvSpPr txBox="1"/>
          <p:nvPr/>
        </p:nvSpPr>
        <p:spPr>
          <a:xfrm>
            <a:off x="978408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$75K</a:t>
            </a:r>
            <a:endParaRPr lang="en-US" sz="1300" dirty="0"/>
          </a:p>
        </p:txBody>
      </p:sp>
      <p:sp>
        <p:nvSpPr>
          <p:cNvPr id="101" name="Text 99"/>
          <p:cNvSpPr txBox="1"/>
          <p:nvPr/>
        </p:nvSpPr>
        <p:spPr>
          <a:xfrm>
            <a:off x="10625328"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2" name="Text 100"/>
          <p:cNvSpPr txBox="1"/>
          <p:nvPr/>
        </p:nvSpPr>
        <p:spPr>
          <a:xfrm>
            <a:off x="6208776" y="3813048"/>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813048"/>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4" name="Shape 102"/>
          <p:cNvSpPr/>
          <p:nvPr/>
        </p:nvSpPr>
        <p:spPr>
          <a:xfrm>
            <a:off x="8421624" y="3908100"/>
            <a:ext cx="30323" cy="232349"/>
          </a:xfrm>
          <a:prstGeom prst="rect">
            <a:avLst/>
          </a:prstGeom>
          <a:solidFill>
            <a:srgbClr val="2587C5"/>
          </a:solidFill>
          <a:ln/>
        </p:spPr>
      </p:sp>
      <p:sp>
        <p:nvSpPr>
          <p:cNvPr id="105" name="Text 103"/>
          <p:cNvSpPr txBox="1"/>
          <p:nvPr/>
        </p:nvSpPr>
        <p:spPr>
          <a:xfrm>
            <a:off x="8869680"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$62K</a:t>
            </a:r>
            <a:endParaRPr lang="en-US" sz="1300" dirty="0"/>
          </a:p>
        </p:txBody>
      </p:sp>
      <p:sp>
        <p:nvSpPr>
          <p:cNvPr id="106" name="Text 104"/>
          <p:cNvSpPr txBox="1"/>
          <p:nvPr/>
        </p:nvSpPr>
        <p:spPr>
          <a:xfrm>
            <a:off x="978408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7" name="Text 105"/>
          <p:cNvSpPr txBox="1"/>
          <p:nvPr/>
        </p:nvSpPr>
        <p:spPr>
          <a:xfrm>
            <a:off x="10625328"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108" name="Text 106"/>
          <p:cNvSpPr txBox="1"/>
          <p:nvPr/>
        </p:nvSpPr>
        <p:spPr>
          <a:xfrm>
            <a:off x="6208776" y="4235501"/>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4235501"/>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0" name="Shape 108"/>
          <p:cNvSpPr/>
          <p:nvPr/>
        </p:nvSpPr>
        <p:spPr>
          <a:xfrm>
            <a:off x="8421624" y="4330553"/>
            <a:ext cx="18288" cy="232349"/>
          </a:xfrm>
          <a:prstGeom prst="rect">
            <a:avLst/>
          </a:prstGeom>
          <a:solidFill>
            <a:srgbClr val="2587C5"/>
          </a:solidFill>
          <a:ln/>
        </p:spPr>
      </p:sp>
      <p:sp>
        <p:nvSpPr>
          <p:cNvPr id="111" name="Text 109"/>
          <p:cNvSpPr txBox="1"/>
          <p:nvPr/>
        </p:nvSpPr>
        <p:spPr>
          <a:xfrm>
            <a:off x="8869680"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$35K</a:t>
            </a:r>
            <a:endParaRPr lang="en-US" sz="1300" dirty="0"/>
          </a:p>
        </p:txBody>
      </p:sp>
      <p:sp>
        <p:nvSpPr>
          <p:cNvPr id="112" name="Text 110"/>
          <p:cNvSpPr txBox="1"/>
          <p:nvPr/>
        </p:nvSpPr>
        <p:spPr>
          <a:xfrm>
            <a:off x="978408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$35K</a:t>
            </a:r>
            <a:endParaRPr lang="en-US" sz="1300" dirty="0"/>
          </a:p>
        </p:txBody>
      </p:sp>
      <p:sp>
        <p:nvSpPr>
          <p:cNvPr id="113" name="Text 111"/>
          <p:cNvSpPr txBox="1"/>
          <p:nvPr/>
        </p:nvSpPr>
        <p:spPr>
          <a:xfrm>
            <a:off x="10625328"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4" name="Text 112"/>
          <p:cNvSpPr txBox="1"/>
          <p:nvPr/>
        </p:nvSpPr>
        <p:spPr>
          <a:xfrm>
            <a:off x="6208776" y="4657954"/>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657954"/>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6" name="Shape 114"/>
          <p:cNvSpPr/>
          <p:nvPr/>
        </p:nvSpPr>
        <p:spPr>
          <a:xfrm>
            <a:off x="8421624" y="4753005"/>
            <a:ext cx="18288" cy="232349"/>
          </a:xfrm>
          <a:prstGeom prst="rect">
            <a:avLst/>
          </a:prstGeom>
          <a:solidFill>
            <a:srgbClr val="2587C5"/>
          </a:solidFill>
          <a:ln/>
        </p:spPr>
      </p:sp>
      <p:sp>
        <p:nvSpPr>
          <p:cNvPr id="117" name="Text 115"/>
          <p:cNvSpPr txBox="1"/>
          <p:nvPr/>
        </p:nvSpPr>
        <p:spPr>
          <a:xfrm>
            <a:off x="8869680"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$15K</a:t>
            </a:r>
            <a:endParaRPr lang="en-US" sz="1300" dirty="0"/>
          </a:p>
        </p:txBody>
      </p:sp>
      <p:sp>
        <p:nvSpPr>
          <p:cNvPr id="118" name="Text 116"/>
          <p:cNvSpPr txBox="1"/>
          <p:nvPr/>
        </p:nvSpPr>
        <p:spPr>
          <a:xfrm>
            <a:off x="978408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10625328"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20" name="Text 118"/>
          <p:cNvSpPr txBox="1"/>
          <p:nvPr/>
        </p:nvSpPr>
        <p:spPr>
          <a:xfrm>
            <a:off x="6208776" y="5080406"/>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5080406"/>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2" name="Shape 120"/>
          <p:cNvSpPr/>
          <p:nvPr/>
        </p:nvSpPr>
        <p:spPr>
          <a:xfrm>
            <a:off x="8421624" y="5175458"/>
            <a:ext cx="18288" cy="232349"/>
          </a:xfrm>
          <a:prstGeom prst="rect">
            <a:avLst/>
          </a:prstGeom>
          <a:solidFill>
            <a:srgbClr val="2587C5"/>
          </a:solidFill>
          <a:ln/>
        </p:spPr>
      </p:sp>
      <p:sp>
        <p:nvSpPr>
          <p:cNvPr id="123" name="Text 121"/>
          <p:cNvSpPr txBox="1"/>
          <p:nvPr/>
        </p:nvSpPr>
        <p:spPr>
          <a:xfrm>
            <a:off x="8869680"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$5K</a:t>
            </a:r>
            <a:endParaRPr lang="en-US" sz="1300" dirty="0"/>
          </a:p>
        </p:txBody>
      </p:sp>
      <p:sp>
        <p:nvSpPr>
          <p:cNvPr id="124" name="Text 122"/>
          <p:cNvSpPr txBox="1"/>
          <p:nvPr/>
        </p:nvSpPr>
        <p:spPr>
          <a:xfrm>
            <a:off x="978408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625328"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$5K</a:t>
            </a:r>
            <a:endParaRPr lang="en-US" sz="1300" dirty="0"/>
          </a:p>
        </p:txBody>
      </p:sp>
      <p:sp>
        <p:nvSpPr>
          <p:cNvPr id="126" name="Shape 124"/>
          <p:cNvSpPr/>
          <p:nvPr/>
        </p:nvSpPr>
        <p:spPr>
          <a:xfrm>
            <a:off x="6085332" y="1700784"/>
            <a:ext cx="10973" cy="4224528"/>
          </a:xfrm>
          <a:prstGeom prst="rect">
            <a:avLst/>
          </a:prstGeom>
          <a:solidFill>
            <a:srgbClr val="D9D9D9"/>
          </a:solidFill>
          <a:ln/>
        </p:spPr>
      </p:sp>
      <p:sp>
        <p:nvSpPr>
          <p:cNvPr id="127" name="Shape 125"/>
          <p:cNvSpPr/>
          <p:nvPr/>
        </p:nvSpPr>
        <p:spPr>
          <a:xfrm>
            <a:off x="457200" y="6126480"/>
            <a:ext cx="11274552" cy="615696"/>
          </a:xfrm>
          <a:prstGeom prst="rect">
            <a:avLst/>
          </a:prstGeom>
          <a:solidFill>
            <a:srgbClr val="EDF4FA"/>
          </a:solidFill>
          <a:ln/>
        </p:spPr>
      </p:sp>
      <p:sp>
        <p:nvSpPr>
          <p:cNvPr id="128" name="Text 1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added gross profit from warranty rate increases approved this year at 19 stores. Higher rates bring more audits: the process is how we keep it.</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586984" cy="4782312"/>
          </a:xfrm>
          <a:prstGeom prst="rect">
            <a:avLst/>
          </a:prstGeom>
          <a:solidFill>
            <a:srgbClr val="FFFFFF"/>
          </a:solidFill>
          <a:ln/>
        </p:spPr>
      </p:sp>
      <p:sp>
        <p:nvSpPr>
          <p:cNvPr id="6" name="Text 4"/>
          <p:cNvSpPr txBox="1"/>
          <p:nvPr/>
        </p:nvSpPr>
        <p:spPr>
          <a:xfrm>
            <a:off x="658368" y="1335024"/>
            <a:ext cx="5184648"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WARRANTY ELR</a:t>
            </a:r>
            <a:endParaRPr lang="en-US" sz="1400" dirty="0"/>
          </a:p>
        </p:txBody>
      </p:sp>
      <p:sp>
        <p:nvSpPr>
          <p:cNvPr id="7" name="Text 5"/>
          <p:cNvSpPr txBox="1"/>
          <p:nvPr/>
        </p:nvSpPr>
        <p:spPr>
          <a:xfrm>
            <a:off x="658368" y="1664208"/>
            <a:ext cx="5184648" cy="457200"/>
          </a:xfrm>
          <a:prstGeom prst="rect">
            <a:avLst/>
          </a:prstGeom>
          <a:noFill/>
          <a:ln/>
        </p:spPr>
        <p:txBody>
          <a:bodyPr wrap="square" lIns="0" tIns="0" rIns="0" bIns="0" rtlCol="0" anchor="ctr"/>
          <a:lstStyle/>
          <a:p>
            <a:pPr indent="0" marL="0">
              <a:buNone/>
            </a:pPr>
            <a:r>
              <a:rPr lang="en-US" sz="1600" dirty="0">
                <a:solidFill>
                  <a:srgbClr val="595959"/>
                </a:solidFill>
                <a:latin typeface="Inter" pitchFamily="34" charset="0"/>
                <a:ea typeface="Inter" pitchFamily="34" charset="-122"/>
                <a:cs typeface="Inter" pitchFamily="34" charset="-120"/>
              </a:rPr>
              <a:t>2025  </a:t>
            </a:r>
            <a:pPr indent="0" marL="0">
              <a:buNone/>
            </a:pPr>
            <a:r>
              <a:rPr lang="en-US" sz="2400" b="1" dirty="0">
                <a:solidFill>
                  <a:srgbClr val="595959"/>
                </a:solidFill>
                <a:latin typeface="Inter" pitchFamily="34" charset="0"/>
                <a:ea typeface="Inter" pitchFamily="34" charset="-122"/>
                <a:cs typeface="Inter" pitchFamily="34" charset="-120"/>
              </a:rPr>
              <a:t>$180     </a:t>
            </a:r>
            <a:pPr indent="0" marL="0">
              <a:buNone/>
            </a:pPr>
            <a:r>
              <a:rPr lang="en-US" sz="1600" dirty="0">
                <a:solidFill>
                  <a:srgbClr val="595959"/>
                </a:solidFill>
                <a:latin typeface="Inter" pitchFamily="34" charset="0"/>
                <a:ea typeface="Inter" pitchFamily="34" charset="-122"/>
                <a:cs typeface="Inter" pitchFamily="34" charset="-120"/>
              </a:rPr>
              <a:t>2026  </a:t>
            </a:r>
            <a:pPr indent="0" marL="0">
              <a:buNone/>
            </a:pPr>
            <a:r>
              <a:rPr lang="en-US" sz="2400" b="1" dirty="0">
                <a:solidFill>
                  <a:srgbClr val="0B7A4A"/>
                </a:solidFill>
                <a:latin typeface="Inter" pitchFamily="34" charset="0"/>
                <a:ea typeface="Inter" pitchFamily="34" charset="-122"/>
                <a:cs typeface="Inter" pitchFamily="34" charset="-120"/>
              </a:rPr>
              <a:t>$197</a:t>
            </a:r>
            <a:endParaRPr lang="en-US" sz="1600" dirty="0"/>
          </a:p>
        </p:txBody>
      </p:sp>
      <p:sp>
        <p:nvSpPr>
          <p:cNvPr id="8" name="Text 6"/>
          <p:cNvSpPr txBox="1"/>
          <p:nvPr/>
        </p:nvSpPr>
        <p:spPr>
          <a:xfrm>
            <a:off x="658368" y="2121408"/>
            <a:ext cx="5184648"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year to date · ahead of 2025 in all nine months</a:t>
            </a:r>
            <a:endParaRPr lang="en-US" sz="1400" dirty="0"/>
          </a:p>
        </p:txBody>
      </p:sp>
      <p:graphicFrame>
        <p:nvGraphicFramePr>
          <p:cNvPr id="9" name="Chart 0" descr=""/>
          <p:cNvGraphicFramePr/>
          <p:nvPr/>
        </p:nvGraphicFramePr>
        <p:xfrm>
          <a:off x="548640" y="2441448"/>
          <a:ext cx="5404104" cy="3456432"/>
        </p:xfrm>
        <a:graphic>
          <a:graphicData uri="http://schemas.openxmlformats.org/drawingml/2006/chart">
            <c:chart xmlns:c="http://schemas.openxmlformats.org/drawingml/2006/chart" r:id="rId2"/>
          </a:graphicData>
        </a:graphic>
      </p:graphicFrame>
      <p:sp>
        <p:nvSpPr>
          <p:cNvPr id="10" name="Shape 7"/>
          <p:cNvSpPr/>
          <p:nvPr/>
        </p:nvSpPr>
        <p:spPr>
          <a:xfrm>
            <a:off x="6144768" y="1207008"/>
            <a:ext cx="5586984" cy="4782312"/>
          </a:xfrm>
          <a:prstGeom prst="rect">
            <a:avLst/>
          </a:prstGeom>
          <a:solidFill>
            <a:srgbClr val="FFFFFF"/>
          </a:solidFill>
          <a:ln/>
        </p:spPr>
      </p:sp>
      <p:sp>
        <p:nvSpPr>
          <p:cNvPr id="11" name="Text 8"/>
          <p:cNvSpPr txBox="1"/>
          <p:nvPr/>
        </p:nvSpPr>
        <p:spPr>
          <a:xfrm>
            <a:off x="6345936" y="1335024"/>
            <a:ext cx="5184648"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WARRANTY PARTS GROSS PROFIT %</a:t>
            </a:r>
            <a:endParaRPr lang="en-US" sz="1400" dirty="0"/>
          </a:p>
        </p:txBody>
      </p:sp>
      <p:sp>
        <p:nvSpPr>
          <p:cNvPr id="12" name="Text 9"/>
          <p:cNvSpPr txBox="1"/>
          <p:nvPr/>
        </p:nvSpPr>
        <p:spPr>
          <a:xfrm>
            <a:off x="6345936" y="1664208"/>
            <a:ext cx="5184648" cy="457200"/>
          </a:xfrm>
          <a:prstGeom prst="rect">
            <a:avLst/>
          </a:prstGeom>
          <a:noFill/>
          <a:ln/>
        </p:spPr>
        <p:txBody>
          <a:bodyPr wrap="square" lIns="0" tIns="0" rIns="0" bIns="0" rtlCol="0" anchor="ctr"/>
          <a:lstStyle/>
          <a:p>
            <a:pPr indent="0" marL="0">
              <a:buNone/>
            </a:pPr>
            <a:r>
              <a:rPr lang="en-US" sz="1600" dirty="0">
                <a:solidFill>
                  <a:srgbClr val="595959"/>
                </a:solidFill>
                <a:latin typeface="Inter" pitchFamily="34" charset="0"/>
                <a:ea typeface="Inter" pitchFamily="34" charset="-122"/>
                <a:cs typeface="Inter" pitchFamily="34" charset="-120"/>
              </a:rPr>
              <a:t>2025  </a:t>
            </a:r>
            <a:pPr indent="0" marL="0">
              <a:buNone/>
            </a:pPr>
            <a:r>
              <a:rPr lang="en-US" sz="2400" b="1" dirty="0">
                <a:solidFill>
                  <a:srgbClr val="595959"/>
                </a:solidFill>
                <a:latin typeface="Inter" pitchFamily="34" charset="0"/>
                <a:ea typeface="Inter" pitchFamily="34" charset="-122"/>
                <a:cs typeface="Inter" pitchFamily="34" charset="-120"/>
              </a:rPr>
              <a:t>42.6%     </a:t>
            </a:r>
            <a:pPr indent="0" marL="0">
              <a:buNone/>
            </a:pPr>
            <a:r>
              <a:rPr lang="en-US" sz="1600" dirty="0">
                <a:solidFill>
                  <a:srgbClr val="595959"/>
                </a:solidFill>
                <a:latin typeface="Inter" pitchFamily="34" charset="0"/>
                <a:ea typeface="Inter" pitchFamily="34" charset="-122"/>
                <a:cs typeface="Inter" pitchFamily="34" charset="-120"/>
              </a:rPr>
              <a:t>2026  </a:t>
            </a:r>
            <a:pPr indent="0" marL="0">
              <a:buNone/>
            </a:pPr>
            <a:r>
              <a:rPr lang="en-US" sz="2400" b="1" dirty="0">
                <a:solidFill>
                  <a:srgbClr val="0B7A4A"/>
                </a:solidFill>
                <a:latin typeface="Inter" pitchFamily="34" charset="0"/>
                <a:ea typeface="Inter" pitchFamily="34" charset="-122"/>
                <a:cs typeface="Inter" pitchFamily="34" charset="-120"/>
              </a:rPr>
              <a:t>44.7%</a:t>
            </a:r>
            <a:endParaRPr lang="en-US" sz="1600" dirty="0"/>
          </a:p>
        </p:txBody>
      </p:sp>
      <p:sp>
        <p:nvSpPr>
          <p:cNvPr id="13" name="Text 10"/>
          <p:cNvSpPr txBox="1"/>
          <p:nvPr/>
        </p:nvSpPr>
        <p:spPr>
          <a:xfrm>
            <a:off x="6345936" y="2121408"/>
            <a:ext cx="5184648"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year to date · ahead of 2025 in all nine months</a:t>
            </a:r>
            <a:endParaRPr lang="en-US" sz="1400" dirty="0"/>
          </a:p>
        </p:txBody>
      </p:sp>
      <p:graphicFrame>
        <p:nvGraphicFramePr>
          <p:cNvPr id="14" name="Chart 1" descr=""/>
          <p:cNvGraphicFramePr/>
          <p:nvPr/>
        </p:nvGraphicFramePr>
        <p:xfrm>
          <a:off x="6236208" y="2441448"/>
          <a:ext cx="5404104" cy="3456432"/>
        </p:xfrm>
        <a:graphic>
          <a:graphicData uri="http://schemas.openxmlformats.org/drawingml/2006/chart">
            <c:chart xmlns:c="http://schemas.openxmlformats.org/drawingml/2006/chart" r:id="rId3"/>
          </a:graphicData>
        </a:graphic>
      </p:graphicFrame>
      <p:sp>
        <p:nvSpPr>
          <p:cNvPr id="15" name="Shape 11"/>
          <p:cNvSpPr/>
          <p:nvPr/>
        </p:nvSpPr>
        <p:spPr>
          <a:xfrm>
            <a:off x="457200" y="6126480"/>
            <a:ext cx="11274552" cy="615696"/>
          </a:xfrm>
          <a:prstGeom prst="rect">
            <a:avLst/>
          </a:prstGeom>
          <a:solidFill>
            <a:srgbClr val="EDF4FA"/>
          </a:solidFill>
          <a:ln/>
        </p:spPr>
      </p:sp>
      <p:sp>
        <p:nvSpPr>
          <p:cNvPr id="16"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Warranty ELR is up $17 to $197 and warranty parts margin up 2.1 pts to 44.7%. Higher rates draw more audits: every claim's documentation has to hold up.</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FBEBEA"/>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2,802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3,655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+47.3%</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2,263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11,211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2,545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1,365</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−46.4%</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1,512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13,040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7,885</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−39.5%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1,997</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−35.3%</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−29.7%</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+98.3%</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+83.0%</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214</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560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Lexus and Hyundai St George what changed. Ask Acura, Mazda and Honda Henderson what got in the way. Ask LR Reno, LR LV and LR Henderson what they started this year.</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Subaru Prescott and Subaru St George (2 of 5). Most bottom-three: VW St George (3 of 5).</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Mazda, CDJR Post Falls and VW St George (2 of 5). Most bottom-three: Honda Henderson and Cadillac (3 of 5).</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Subaru Prescott leads. Moving now: Three stores tie. Eight stores make both views.</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+$1.77M</a:t>
            </a:r>
            <a:endParaRPr lang="en-US" sz="32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+$1.70M</a:t>
            </a:r>
            <a:endParaRPr lang="en-US" sz="32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+$0.76M</a:t>
            </a:r>
            <a:endParaRPr lang="en-US" sz="32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+$0.72M</a:t>
            </a:r>
            <a:endParaRPr lang="en-US" sz="32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6460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41501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 name="Shape 8"/>
          <p:cNvSpPr/>
          <p:nvPr/>
        </p:nvSpPr>
        <p:spPr>
          <a:xfrm>
            <a:off x="3099816" y="1779994"/>
            <a:ext cx="1709928" cy="193624"/>
          </a:xfrm>
          <a:prstGeom prst="rect">
            <a:avLst/>
          </a:prstGeom>
          <a:solidFill>
            <a:srgbClr val="12A566"/>
          </a:solidFill>
          <a:ln/>
        </p:spPr>
      </p:sp>
      <p:sp>
        <p:nvSpPr>
          <p:cNvPr id="11" name="Text 9"/>
          <p:cNvSpPr txBox="1"/>
          <p:nvPr/>
        </p:nvSpPr>
        <p:spPr>
          <a:xfrm>
            <a:off x="486460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2" name="Text 10"/>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2052828"/>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4" name="Shape 12"/>
          <p:cNvSpPr/>
          <p:nvPr/>
        </p:nvSpPr>
        <p:spPr>
          <a:xfrm>
            <a:off x="3099816" y="2132038"/>
            <a:ext cx="1709928" cy="193624"/>
          </a:xfrm>
          <a:prstGeom prst="rect">
            <a:avLst/>
          </a:prstGeom>
          <a:solidFill>
            <a:srgbClr val="12A566"/>
          </a:solidFill>
          <a:ln/>
        </p:spPr>
      </p:sp>
      <p:sp>
        <p:nvSpPr>
          <p:cNvPr id="15" name="Text 13"/>
          <p:cNvSpPr txBox="1"/>
          <p:nvPr/>
        </p:nvSpPr>
        <p:spPr>
          <a:xfrm>
            <a:off x="486460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6" name="Text 14"/>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404872"/>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3099816" y="2484082"/>
            <a:ext cx="1519936" cy="193624"/>
          </a:xfrm>
          <a:prstGeom prst="rect">
            <a:avLst/>
          </a:prstGeom>
          <a:solidFill>
            <a:srgbClr val="12A566"/>
          </a:solidFill>
          <a:ln/>
        </p:spPr>
      </p:sp>
      <p:sp>
        <p:nvSpPr>
          <p:cNvPr id="19" name="Text 17"/>
          <p:cNvSpPr txBox="1"/>
          <p:nvPr/>
        </p:nvSpPr>
        <p:spPr>
          <a:xfrm>
            <a:off x="486460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0" name="Text 18"/>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756916"/>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2" name="Shape 20"/>
          <p:cNvSpPr/>
          <p:nvPr/>
        </p:nvSpPr>
        <p:spPr>
          <a:xfrm>
            <a:off x="3099816" y="2836126"/>
            <a:ext cx="1329944" cy="193624"/>
          </a:xfrm>
          <a:prstGeom prst="rect">
            <a:avLst/>
          </a:prstGeom>
          <a:solidFill>
            <a:srgbClr val="12A566"/>
          </a:solidFill>
          <a:ln/>
        </p:spPr>
      </p:sp>
      <p:sp>
        <p:nvSpPr>
          <p:cNvPr id="23" name="Text 21"/>
          <p:cNvSpPr txBox="1"/>
          <p:nvPr/>
        </p:nvSpPr>
        <p:spPr>
          <a:xfrm>
            <a:off x="486460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4" name="Text 22"/>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3108960"/>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6" name="Shape 24"/>
          <p:cNvSpPr/>
          <p:nvPr/>
        </p:nvSpPr>
        <p:spPr>
          <a:xfrm>
            <a:off x="3099816" y="3188170"/>
            <a:ext cx="1329944" cy="193624"/>
          </a:xfrm>
          <a:prstGeom prst="rect">
            <a:avLst/>
          </a:prstGeom>
          <a:solidFill>
            <a:srgbClr val="12A566"/>
          </a:solidFill>
          <a:ln/>
        </p:spPr>
      </p:sp>
      <p:sp>
        <p:nvSpPr>
          <p:cNvPr id="27" name="Text 25"/>
          <p:cNvSpPr txBox="1"/>
          <p:nvPr/>
        </p:nvSpPr>
        <p:spPr>
          <a:xfrm>
            <a:off x="486460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8" name="Text 26"/>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3461004"/>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30" name="Shape 28"/>
          <p:cNvSpPr/>
          <p:nvPr/>
        </p:nvSpPr>
        <p:spPr>
          <a:xfrm>
            <a:off x="3099816" y="3540214"/>
            <a:ext cx="1139952" cy="193624"/>
          </a:xfrm>
          <a:prstGeom prst="rect">
            <a:avLst/>
          </a:prstGeom>
          <a:solidFill>
            <a:srgbClr val="12A566"/>
          </a:solidFill>
          <a:ln/>
        </p:spPr>
      </p:sp>
      <p:sp>
        <p:nvSpPr>
          <p:cNvPr id="31" name="Text 29"/>
          <p:cNvSpPr txBox="1"/>
          <p:nvPr/>
        </p:nvSpPr>
        <p:spPr>
          <a:xfrm>
            <a:off x="486460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32" name="Text 30"/>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813048"/>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4" name="Shape 32"/>
          <p:cNvSpPr/>
          <p:nvPr/>
        </p:nvSpPr>
        <p:spPr>
          <a:xfrm>
            <a:off x="3099816" y="3892258"/>
            <a:ext cx="1139952" cy="193624"/>
          </a:xfrm>
          <a:prstGeom prst="rect">
            <a:avLst/>
          </a:prstGeom>
          <a:solidFill>
            <a:srgbClr val="12A566"/>
          </a:solidFill>
          <a:ln/>
        </p:spPr>
      </p:sp>
      <p:sp>
        <p:nvSpPr>
          <p:cNvPr id="35" name="Text 33"/>
          <p:cNvSpPr txBox="1"/>
          <p:nvPr/>
        </p:nvSpPr>
        <p:spPr>
          <a:xfrm>
            <a:off x="486460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36" name="Text 34"/>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4165092"/>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8" name="Shape 36"/>
          <p:cNvSpPr/>
          <p:nvPr/>
        </p:nvSpPr>
        <p:spPr>
          <a:xfrm>
            <a:off x="3099816" y="4244302"/>
            <a:ext cx="949960" cy="193624"/>
          </a:xfrm>
          <a:prstGeom prst="rect">
            <a:avLst/>
          </a:prstGeom>
          <a:solidFill>
            <a:srgbClr val="12A566"/>
          </a:solidFill>
          <a:ln/>
        </p:spPr>
      </p:sp>
      <p:sp>
        <p:nvSpPr>
          <p:cNvPr id="39" name="Text 37"/>
          <p:cNvSpPr txBox="1"/>
          <p:nvPr/>
        </p:nvSpPr>
        <p:spPr>
          <a:xfrm>
            <a:off x="486460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40" name="Text 3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4517136"/>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2" name="Shape 40"/>
          <p:cNvSpPr/>
          <p:nvPr/>
        </p:nvSpPr>
        <p:spPr>
          <a:xfrm>
            <a:off x="3099816" y="4596346"/>
            <a:ext cx="759968" cy="193624"/>
          </a:xfrm>
          <a:prstGeom prst="rect">
            <a:avLst/>
          </a:prstGeom>
          <a:solidFill>
            <a:srgbClr val="12A566"/>
          </a:solidFill>
          <a:ln/>
        </p:spPr>
      </p:sp>
      <p:sp>
        <p:nvSpPr>
          <p:cNvPr id="43" name="Text 41"/>
          <p:cNvSpPr txBox="1"/>
          <p:nvPr/>
        </p:nvSpPr>
        <p:spPr>
          <a:xfrm>
            <a:off x="486460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4869180"/>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6" name="Shape 44"/>
          <p:cNvSpPr/>
          <p:nvPr/>
        </p:nvSpPr>
        <p:spPr>
          <a:xfrm>
            <a:off x="3099816" y="4948390"/>
            <a:ext cx="759968" cy="193624"/>
          </a:xfrm>
          <a:prstGeom prst="rect">
            <a:avLst/>
          </a:prstGeom>
          <a:solidFill>
            <a:srgbClr val="12A566"/>
          </a:solidFill>
          <a:ln/>
        </p:spPr>
      </p:sp>
      <p:sp>
        <p:nvSpPr>
          <p:cNvPr id="47" name="Text 45"/>
          <p:cNvSpPr txBox="1"/>
          <p:nvPr/>
        </p:nvSpPr>
        <p:spPr>
          <a:xfrm>
            <a:off x="486460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8" name="Text 46"/>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5221224"/>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0" name="Shape 48"/>
          <p:cNvSpPr/>
          <p:nvPr/>
        </p:nvSpPr>
        <p:spPr>
          <a:xfrm>
            <a:off x="3099816" y="5300434"/>
            <a:ext cx="759968" cy="193624"/>
          </a:xfrm>
          <a:prstGeom prst="rect">
            <a:avLst/>
          </a:prstGeom>
          <a:solidFill>
            <a:srgbClr val="12A566"/>
          </a:solidFill>
          <a:ln/>
        </p:spPr>
      </p:sp>
      <p:sp>
        <p:nvSpPr>
          <p:cNvPr id="51" name="Text 49"/>
          <p:cNvSpPr txBox="1"/>
          <p:nvPr/>
        </p:nvSpPr>
        <p:spPr>
          <a:xfrm>
            <a:off x="486460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2" name="Text 50"/>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5573268"/>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54" name="Shape 52"/>
          <p:cNvSpPr/>
          <p:nvPr/>
        </p:nvSpPr>
        <p:spPr>
          <a:xfrm>
            <a:off x="3099816" y="5652478"/>
            <a:ext cx="759968" cy="193624"/>
          </a:xfrm>
          <a:prstGeom prst="rect">
            <a:avLst/>
          </a:prstGeom>
          <a:solidFill>
            <a:srgbClr val="12A566"/>
          </a:solidFill>
          <a:ln/>
        </p:spPr>
      </p:sp>
      <p:sp>
        <p:nvSpPr>
          <p:cNvPr id="55" name="Text 53"/>
          <p:cNvSpPr txBox="1"/>
          <p:nvPr/>
        </p:nvSpPr>
        <p:spPr>
          <a:xfrm>
            <a:off x="486460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6" name="Text 54"/>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6565392" y="1700784"/>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8" name="Shape 56"/>
          <p:cNvSpPr/>
          <p:nvPr/>
        </p:nvSpPr>
        <p:spPr>
          <a:xfrm>
            <a:off x="8650224" y="1779994"/>
            <a:ext cx="759968" cy="193624"/>
          </a:xfrm>
          <a:prstGeom prst="rect">
            <a:avLst/>
          </a:prstGeom>
          <a:solidFill>
            <a:srgbClr val="12A566"/>
          </a:solidFill>
          <a:ln/>
        </p:spPr>
      </p:sp>
      <p:sp>
        <p:nvSpPr>
          <p:cNvPr id="59" name="Text 57"/>
          <p:cNvSpPr txBox="1"/>
          <p:nvPr/>
        </p:nvSpPr>
        <p:spPr>
          <a:xfrm>
            <a:off x="1041501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60" name="Text 58"/>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6565392" y="2052828"/>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2" name="Shape 60"/>
          <p:cNvSpPr/>
          <p:nvPr/>
        </p:nvSpPr>
        <p:spPr>
          <a:xfrm>
            <a:off x="8650224" y="2132038"/>
            <a:ext cx="759968" cy="193624"/>
          </a:xfrm>
          <a:prstGeom prst="rect">
            <a:avLst/>
          </a:prstGeom>
          <a:solidFill>
            <a:srgbClr val="12A566"/>
          </a:solidFill>
          <a:ln/>
        </p:spPr>
      </p:sp>
      <p:sp>
        <p:nvSpPr>
          <p:cNvPr id="63" name="Text 61"/>
          <p:cNvSpPr txBox="1"/>
          <p:nvPr/>
        </p:nvSpPr>
        <p:spPr>
          <a:xfrm>
            <a:off x="1041501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64" name="Text 62"/>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6565392" y="2404872"/>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6" name="Shape 64"/>
          <p:cNvSpPr/>
          <p:nvPr/>
        </p:nvSpPr>
        <p:spPr>
          <a:xfrm>
            <a:off x="8650224" y="2484082"/>
            <a:ext cx="569976" cy="193624"/>
          </a:xfrm>
          <a:prstGeom prst="rect">
            <a:avLst/>
          </a:prstGeom>
          <a:solidFill>
            <a:srgbClr val="12A566"/>
          </a:solidFill>
          <a:ln/>
        </p:spPr>
      </p:sp>
      <p:sp>
        <p:nvSpPr>
          <p:cNvPr id="67" name="Text 65"/>
          <p:cNvSpPr txBox="1"/>
          <p:nvPr/>
        </p:nvSpPr>
        <p:spPr>
          <a:xfrm>
            <a:off x="1041501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68" name="Text 66"/>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6565392" y="2756916"/>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0" name="Shape 68"/>
          <p:cNvSpPr/>
          <p:nvPr/>
        </p:nvSpPr>
        <p:spPr>
          <a:xfrm>
            <a:off x="8650224" y="2836126"/>
            <a:ext cx="379984" cy="193624"/>
          </a:xfrm>
          <a:prstGeom prst="rect">
            <a:avLst/>
          </a:prstGeom>
          <a:solidFill>
            <a:srgbClr val="12A566"/>
          </a:solidFill>
          <a:ln/>
        </p:spPr>
      </p:sp>
      <p:sp>
        <p:nvSpPr>
          <p:cNvPr id="71" name="Text 69"/>
          <p:cNvSpPr txBox="1"/>
          <p:nvPr/>
        </p:nvSpPr>
        <p:spPr>
          <a:xfrm>
            <a:off x="1041501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2" name="Text 70"/>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6565392" y="3108960"/>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74" name="Shape 72"/>
          <p:cNvSpPr/>
          <p:nvPr/>
        </p:nvSpPr>
        <p:spPr>
          <a:xfrm>
            <a:off x="8650224" y="3188170"/>
            <a:ext cx="379984" cy="193624"/>
          </a:xfrm>
          <a:prstGeom prst="rect">
            <a:avLst/>
          </a:prstGeom>
          <a:solidFill>
            <a:srgbClr val="12A566"/>
          </a:solidFill>
          <a:ln/>
        </p:spPr>
      </p:sp>
      <p:sp>
        <p:nvSpPr>
          <p:cNvPr id="75" name="Text 73"/>
          <p:cNvSpPr txBox="1"/>
          <p:nvPr/>
        </p:nvSpPr>
        <p:spPr>
          <a:xfrm>
            <a:off x="1041501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6" name="Text 74"/>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3461004"/>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8" name="Shape 76"/>
          <p:cNvSpPr/>
          <p:nvPr/>
        </p:nvSpPr>
        <p:spPr>
          <a:xfrm>
            <a:off x="8650224" y="3540214"/>
            <a:ext cx="379984" cy="193624"/>
          </a:xfrm>
          <a:prstGeom prst="rect">
            <a:avLst/>
          </a:prstGeom>
          <a:solidFill>
            <a:srgbClr val="12A566"/>
          </a:solidFill>
          <a:ln/>
        </p:spPr>
      </p:sp>
      <p:sp>
        <p:nvSpPr>
          <p:cNvPr id="79" name="Text 77"/>
          <p:cNvSpPr txBox="1"/>
          <p:nvPr/>
        </p:nvSpPr>
        <p:spPr>
          <a:xfrm>
            <a:off x="1041501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80" name="Text 7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3813048"/>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2" name="Shape 80"/>
          <p:cNvSpPr/>
          <p:nvPr/>
        </p:nvSpPr>
        <p:spPr>
          <a:xfrm>
            <a:off x="8650224" y="3892258"/>
            <a:ext cx="379984" cy="193624"/>
          </a:xfrm>
          <a:prstGeom prst="rect">
            <a:avLst/>
          </a:prstGeom>
          <a:solidFill>
            <a:srgbClr val="12A566"/>
          </a:solidFill>
          <a:ln/>
        </p:spPr>
      </p:sp>
      <p:sp>
        <p:nvSpPr>
          <p:cNvPr id="83" name="Text 81"/>
          <p:cNvSpPr txBox="1"/>
          <p:nvPr/>
        </p:nvSpPr>
        <p:spPr>
          <a:xfrm>
            <a:off x="1041501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84" name="Text 82"/>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4165092"/>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6" name="Shape 84"/>
          <p:cNvSpPr/>
          <p:nvPr/>
        </p:nvSpPr>
        <p:spPr>
          <a:xfrm>
            <a:off x="8650224" y="4244302"/>
            <a:ext cx="379984" cy="193624"/>
          </a:xfrm>
          <a:prstGeom prst="rect">
            <a:avLst/>
          </a:prstGeom>
          <a:solidFill>
            <a:srgbClr val="12A566"/>
          </a:solidFill>
          <a:ln/>
        </p:spPr>
      </p:sp>
      <p:sp>
        <p:nvSpPr>
          <p:cNvPr id="87" name="Text 85"/>
          <p:cNvSpPr txBox="1"/>
          <p:nvPr/>
        </p:nvSpPr>
        <p:spPr>
          <a:xfrm>
            <a:off x="1041501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88" name="Text 86"/>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4517136"/>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90" name="Shape 88"/>
          <p:cNvSpPr/>
          <p:nvPr/>
        </p:nvSpPr>
        <p:spPr>
          <a:xfrm>
            <a:off x="8650224" y="4596346"/>
            <a:ext cx="379984" cy="193624"/>
          </a:xfrm>
          <a:prstGeom prst="rect">
            <a:avLst/>
          </a:prstGeom>
          <a:solidFill>
            <a:srgbClr val="12A566"/>
          </a:solidFill>
          <a:ln/>
        </p:spPr>
      </p:sp>
      <p:sp>
        <p:nvSpPr>
          <p:cNvPr id="91" name="Text 89"/>
          <p:cNvSpPr txBox="1"/>
          <p:nvPr/>
        </p:nvSpPr>
        <p:spPr>
          <a:xfrm>
            <a:off x="1041501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92" name="Text 90"/>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4869180"/>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94" name="Shape 92"/>
          <p:cNvSpPr/>
          <p:nvPr/>
        </p:nvSpPr>
        <p:spPr>
          <a:xfrm>
            <a:off x="8650224" y="4948390"/>
            <a:ext cx="189992" cy="193624"/>
          </a:xfrm>
          <a:prstGeom prst="rect">
            <a:avLst/>
          </a:prstGeom>
          <a:solidFill>
            <a:srgbClr val="12A566"/>
          </a:solidFill>
          <a:ln/>
        </p:spPr>
      </p:sp>
      <p:sp>
        <p:nvSpPr>
          <p:cNvPr id="95" name="Text 93"/>
          <p:cNvSpPr txBox="1"/>
          <p:nvPr/>
        </p:nvSpPr>
        <p:spPr>
          <a:xfrm>
            <a:off x="1041501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5221224"/>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8" name="Shape 96"/>
          <p:cNvSpPr/>
          <p:nvPr/>
        </p:nvSpPr>
        <p:spPr>
          <a:xfrm>
            <a:off x="8650224" y="5300434"/>
            <a:ext cx="189992" cy="193624"/>
          </a:xfrm>
          <a:prstGeom prst="rect">
            <a:avLst/>
          </a:prstGeom>
          <a:solidFill>
            <a:srgbClr val="12A566"/>
          </a:solidFill>
          <a:ln/>
        </p:spPr>
      </p:sp>
      <p:sp>
        <p:nvSpPr>
          <p:cNvPr id="99" name="Text 97"/>
          <p:cNvSpPr txBox="1"/>
          <p:nvPr/>
        </p:nvSpPr>
        <p:spPr>
          <a:xfrm>
            <a:off x="1041501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00" name="Shape 98"/>
          <p:cNvSpPr/>
          <p:nvPr/>
        </p:nvSpPr>
        <p:spPr>
          <a:xfrm>
            <a:off x="6085332" y="1700784"/>
            <a:ext cx="10973" cy="4224528"/>
          </a:xfrm>
          <a:prstGeom prst="rect">
            <a:avLst/>
          </a:prstGeom>
          <a:solidFill>
            <a:srgbClr val="D9D9D9"/>
          </a:solidFill>
          <a:ln/>
        </p:spPr>
      </p:sp>
      <p:sp>
        <p:nvSpPr>
          <p:cNvPr id="101" name="Shape 99"/>
          <p:cNvSpPr/>
          <p:nvPr/>
        </p:nvSpPr>
        <p:spPr>
          <a:xfrm>
            <a:off x="457200" y="6126480"/>
            <a:ext cx="11274552" cy="371856"/>
          </a:xfrm>
          <a:prstGeom prst="rect">
            <a:avLst/>
          </a:prstGeom>
          <a:solidFill>
            <a:srgbClr val="E6F6EE"/>
          </a:solidFill>
          <a:ln/>
        </p:spPr>
      </p:sp>
      <p:sp>
        <p:nvSpPr>
          <p:cNvPr id="102" name="Text 10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PHOTO COMPLETION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 name="Shape 14"/>
          <p:cNvSpPr/>
          <p:nvPr/>
        </p:nvSpPr>
        <p:spPr>
          <a:xfrm>
            <a:off x="3008376" y="2436622"/>
            <a:ext cx="1658471"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3008376" y="2644902"/>
            <a:ext cx="1636341"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3008376" y="2853182"/>
            <a:ext cx="1373312"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8" name="Shape 26"/>
          <p:cNvSpPr/>
          <p:nvPr/>
        </p:nvSpPr>
        <p:spPr>
          <a:xfrm>
            <a:off x="3008376" y="3061462"/>
            <a:ext cx="1136397"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008376" y="3269742"/>
            <a:ext cx="1062404"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6" name="Shape 34"/>
          <p:cNvSpPr/>
          <p:nvPr/>
        </p:nvSpPr>
        <p:spPr>
          <a:xfrm>
            <a:off x="3008376" y="3478022"/>
            <a:ext cx="949294"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0" name="Shape 38"/>
          <p:cNvSpPr/>
          <p:nvPr/>
        </p:nvSpPr>
        <p:spPr>
          <a:xfrm>
            <a:off x="3008376" y="3686302"/>
            <a:ext cx="762245"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4" name="Shape 42"/>
          <p:cNvSpPr/>
          <p:nvPr/>
        </p:nvSpPr>
        <p:spPr>
          <a:xfrm>
            <a:off x="3008376" y="3894582"/>
            <a:ext cx="728956"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8" name="Shape 46"/>
          <p:cNvSpPr/>
          <p:nvPr/>
        </p:nvSpPr>
        <p:spPr>
          <a:xfrm>
            <a:off x="3008376" y="4102862"/>
            <a:ext cx="605092"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519422"/>
            <a:ext cx="1503240"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727702"/>
            <a:ext cx="1447357"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4935982"/>
            <a:ext cx="1373578"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144262"/>
            <a:ext cx="1343443"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352542"/>
            <a:ext cx="1341602"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560822"/>
            <a:ext cx="1333815"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69102"/>
            <a:ext cx="1164283"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8558784" y="2228342"/>
            <a:ext cx="1134268"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6" name="Shape 84"/>
          <p:cNvSpPr/>
          <p:nvPr/>
        </p:nvSpPr>
        <p:spPr>
          <a:xfrm>
            <a:off x="8558784" y="2436622"/>
            <a:ext cx="1095681"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0" name="Shape 88"/>
          <p:cNvSpPr/>
          <p:nvPr/>
        </p:nvSpPr>
        <p:spPr>
          <a:xfrm>
            <a:off x="8558784" y="2644902"/>
            <a:ext cx="1073173"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4" name="Shape 92"/>
          <p:cNvSpPr/>
          <p:nvPr/>
        </p:nvSpPr>
        <p:spPr>
          <a:xfrm>
            <a:off x="8558784" y="2853182"/>
            <a:ext cx="1070012"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8" name="Shape 96"/>
          <p:cNvSpPr/>
          <p:nvPr/>
        </p:nvSpPr>
        <p:spPr>
          <a:xfrm>
            <a:off x="8558784" y="3061462"/>
            <a:ext cx="1057284"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2" name="Shape 100"/>
          <p:cNvSpPr/>
          <p:nvPr/>
        </p:nvSpPr>
        <p:spPr>
          <a:xfrm>
            <a:off x="8558784" y="3269742"/>
            <a:ext cx="1042010"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6" name="Shape 104"/>
          <p:cNvSpPr/>
          <p:nvPr/>
        </p:nvSpPr>
        <p:spPr>
          <a:xfrm>
            <a:off x="8558784" y="3478022"/>
            <a:ext cx="1021645"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0" name="Shape 108"/>
          <p:cNvSpPr/>
          <p:nvPr/>
        </p:nvSpPr>
        <p:spPr>
          <a:xfrm>
            <a:off x="8558784" y="3686302"/>
            <a:ext cx="981754"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4" name="Shape 112"/>
          <p:cNvSpPr/>
          <p:nvPr/>
        </p:nvSpPr>
        <p:spPr>
          <a:xfrm>
            <a:off x="8558784" y="3894582"/>
            <a:ext cx="943933"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8" name="Shape 116"/>
          <p:cNvSpPr/>
          <p:nvPr/>
        </p:nvSpPr>
        <p:spPr>
          <a:xfrm>
            <a:off x="8558784" y="4102862"/>
            <a:ext cx="912089"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2" name="Shape 120"/>
          <p:cNvSpPr/>
          <p:nvPr/>
        </p:nvSpPr>
        <p:spPr>
          <a:xfrm>
            <a:off x="8558784" y="4311142"/>
            <a:ext cx="848886"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6" name="Shape 124"/>
          <p:cNvSpPr/>
          <p:nvPr/>
        </p:nvSpPr>
        <p:spPr>
          <a:xfrm>
            <a:off x="8558784" y="4519422"/>
            <a:ext cx="823202"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0" name="Shape 128"/>
          <p:cNvSpPr/>
          <p:nvPr/>
        </p:nvSpPr>
        <p:spPr>
          <a:xfrm>
            <a:off x="8558784" y="4727702"/>
            <a:ext cx="759533"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4" name="Shape 132"/>
          <p:cNvSpPr/>
          <p:nvPr/>
        </p:nvSpPr>
        <p:spPr>
          <a:xfrm>
            <a:off x="8558784" y="4935982"/>
            <a:ext cx="729747"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8" name="Shape 136"/>
          <p:cNvSpPr/>
          <p:nvPr/>
        </p:nvSpPr>
        <p:spPr>
          <a:xfrm>
            <a:off x="8558784" y="5144262"/>
            <a:ext cx="709976"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2" name="Shape 140"/>
          <p:cNvSpPr/>
          <p:nvPr/>
        </p:nvSpPr>
        <p:spPr>
          <a:xfrm>
            <a:off x="8558784" y="5352542"/>
            <a:ext cx="703612"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6" name="Shape 144"/>
          <p:cNvSpPr/>
          <p:nvPr/>
        </p:nvSpPr>
        <p:spPr>
          <a:xfrm>
            <a:off x="8558784" y="5560822"/>
            <a:ext cx="692411"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48" name="Shape 146"/>
          <p:cNvSpPr/>
          <p:nvPr/>
        </p:nvSpPr>
        <p:spPr>
          <a:xfrm>
            <a:off x="4047207" y="2176272"/>
            <a:ext cx="14630" cy="3749040"/>
          </a:xfrm>
          <a:prstGeom prst="rect">
            <a:avLst/>
          </a:prstGeom>
          <a:solidFill>
            <a:srgbClr val="0B2C4A"/>
          </a:solidFill>
          <a:ln/>
        </p:spPr>
      </p:sp>
      <p:sp>
        <p:nvSpPr>
          <p:cNvPr id="149" name="Shape 147"/>
          <p:cNvSpPr/>
          <p:nvPr/>
        </p:nvSpPr>
        <p:spPr>
          <a:xfrm>
            <a:off x="9597615"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 name="Shape 14"/>
          <p:cNvSpPr/>
          <p:nvPr/>
        </p:nvSpPr>
        <p:spPr>
          <a:xfrm>
            <a:off x="3008376" y="2436622"/>
            <a:ext cx="1208610"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 name="Shape 18"/>
          <p:cNvSpPr/>
          <p:nvPr/>
        </p:nvSpPr>
        <p:spPr>
          <a:xfrm>
            <a:off x="3008376" y="2644902"/>
            <a:ext cx="902480"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4" name="Shape 22"/>
          <p:cNvSpPr/>
          <p:nvPr/>
        </p:nvSpPr>
        <p:spPr>
          <a:xfrm>
            <a:off x="3008376" y="2853182"/>
            <a:ext cx="819371"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8" name="Shape 26"/>
          <p:cNvSpPr/>
          <p:nvPr/>
        </p:nvSpPr>
        <p:spPr>
          <a:xfrm>
            <a:off x="3008376" y="3061462"/>
            <a:ext cx="717480"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2" name="Shape 30"/>
          <p:cNvSpPr/>
          <p:nvPr/>
        </p:nvSpPr>
        <p:spPr>
          <a:xfrm>
            <a:off x="3008376" y="3269742"/>
            <a:ext cx="707906"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6" name="Shape 34"/>
          <p:cNvSpPr/>
          <p:nvPr/>
        </p:nvSpPr>
        <p:spPr>
          <a:xfrm>
            <a:off x="3008376" y="3478022"/>
            <a:ext cx="619947"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0" name="Shape 38"/>
          <p:cNvSpPr/>
          <p:nvPr/>
        </p:nvSpPr>
        <p:spPr>
          <a:xfrm>
            <a:off x="3008376" y="3686302"/>
            <a:ext cx="488532"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4" name="Shape 42"/>
          <p:cNvSpPr/>
          <p:nvPr/>
        </p:nvSpPr>
        <p:spPr>
          <a:xfrm>
            <a:off x="3008376" y="3894582"/>
            <a:ext cx="349030"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8" name="Shape 46"/>
          <p:cNvSpPr/>
          <p:nvPr/>
        </p:nvSpPr>
        <p:spPr>
          <a:xfrm>
            <a:off x="3008376" y="4102862"/>
            <a:ext cx="291998"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519422"/>
            <a:ext cx="1658471"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727702"/>
            <a:ext cx="1241954"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4935982"/>
            <a:ext cx="1113250"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144262"/>
            <a:ext cx="1066361"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352542"/>
            <a:ext cx="958457"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560822"/>
            <a:ext cx="908517"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5769102"/>
            <a:ext cx="693414"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8558784" y="2228342"/>
            <a:ext cx="647677" cy="104140"/>
          </a:xfrm>
          <a:prstGeom prst="rect">
            <a:avLst/>
          </a:prstGeom>
          <a:solidFill>
            <a:srgbClr val="C2352F"/>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6" name="Shape 84"/>
          <p:cNvSpPr/>
          <p:nvPr/>
        </p:nvSpPr>
        <p:spPr>
          <a:xfrm>
            <a:off x="8558784" y="2436622"/>
            <a:ext cx="636291" cy="104140"/>
          </a:xfrm>
          <a:prstGeom prst="rect">
            <a:avLst/>
          </a:prstGeom>
          <a:solidFill>
            <a:srgbClr val="C2352F"/>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0" name="Shape 88"/>
          <p:cNvSpPr/>
          <p:nvPr/>
        </p:nvSpPr>
        <p:spPr>
          <a:xfrm>
            <a:off x="8558784" y="2644902"/>
            <a:ext cx="610998" cy="104140"/>
          </a:xfrm>
          <a:prstGeom prst="rect">
            <a:avLst/>
          </a:prstGeom>
          <a:solidFill>
            <a:srgbClr val="C2352F"/>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8558784" y="2853182"/>
            <a:ext cx="599576" cy="104140"/>
          </a:xfrm>
          <a:prstGeom prst="rect">
            <a:avLst/>
          </a:prstGeom>
          <a:solidFill>
            <a:srgbClr val="C2352F"/>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8" name="Shape 96"/>
          <p:cNvSpPr/>
          <p:nvPr/>
        </p:nvSpPr>
        <p:spPr>
          <a:xfrm>
            <a:off x="8558784" y="3061462"/>
            <a:ext cx="577815" cy="104140"/>
          </a:xfrm>
          <a:prstGeom prst="rect">
            <a:avLst/>
          </a:prstGeom>
          <a:solidFill>
            <a:srgbClr val="C2352F"/>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2" name="Shape 100"/>
          <p:cNvSpPr/>
          <p:nvPr/>
        </p:nvSpPr>
        <p:spPr>
          <a:xfrm>
            <a:off x="8558784" y="3269742"/>
            <a:ext cx="570170"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6" name="Shape 104"/>
          <p:cNvSpPr/>
          <p:nvPr/>
        </p:nvSpPr>
        <p:spPr>
          <a:xfrm>
            <a:off x="8558784" y="3478022"/>
            <a:ext cx="530626"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0" name="Shape 108"/>
          <p:cNvSpPr/>
          <p:nvPr/>
        </p:nvSpPr>
        <p:spPr>
          <a:xfrm>
            <a:off x="8558784" y="3686302"/>
            <a:ext cx="500448"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4" name="Shape 112"/>
          <p:cNvSpPr/>
          <p:nvPr/>
        </p:nvSpPr>
        <p:spPr>
          <a:xfrm>
            <a:off x="8558784" y="3894582"/>
            <a:ext cx="485961"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8" name="Shape 116"/>
          <p:cNvSpPr/>
          <p:nvPr/>
        </p:nvSpPr>
        <p:spPr>
          <a:xfrm>
            <a:off x="8558784" y="4102862"/>
            <a:ext cx="442919"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558784" y="4311142"/>
            <a:ext cx="441477"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6" name="Shape 124"/>
          <p:cNvSpPr/>
          <p:nvPr/>
        </p:nvSpPr>
        <p:spPr>
          <a:xfrm>
            <a:off x="8558784" y="4519422"/>
            <a:ext cx="377230"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0" name="Shape 128"/>
          <p:cNvSpPr/>
          <p:nvPr/>
        </p:nvSpPr>
        <p:spPr>
          <a:xfrm>
            <a:off x="8558784" y="4727702"/>
            <a:ext cx="373849"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4" name="Shape 132"/>
          <p:cNvSpPr/>
          <p:nvPr/>
        </p:nvSpPr>
        <p:spPr>
          <a:xfrm>
            <a:off x="8558784" y="4935982"/>
            <a:ext cx="357077"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8" name="Shape 136"/>
          <p:cNvSpPr/>
          <p:nvPr/>
        </p:nvSpPr>
        <p:spPr>
          <a:xfrm>
            <a:off x="8558784" y="5144262"/>
            <a:ext cx="329917"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2" name="Shape 140"/>
          <p:cNvSpPr/>
          <p:nvPr/>
        </p:nvSpPr>
        <p:spPr>
          <a:xfrm>
            <a:off x="8558784" y="5352542"/>
            <a:ext cx="312404"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6" name="Shape 144"/>
          <p:cNvSpPr/>
          <p:nvPr/>
        </p:nvSpPr>
        <p:spPr>
          <a:xfrm>
            <a:off x="8558784" y="5560822"/>
            <a:ext cx="249232"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48" name="Shape 146"/>
          <p:cNvSpPr/>
          <p:nvPr/>
        </p:nvSpPr>
        <p:spPr>
          <a:xfrm>
            <a:off x="3679521" y="2176272"/>
            <a:ext cx="14630" cy="3749040"/>
          </a:xfrm>
          <a:prstGeom prst="rect">
            <a:avLst/>
          </a:prstGeom>
          <a:solidFill>
            <a:srgbClr val="0B2C4A"/>
          </a:solidFill>
          <a:ln/>
        </p:spPr>
      </p:sp>
      <p:sp>
        <p:nvSpPr>
          <p:cNvPr id="149" name="Shape 147"/>
          <p:cNvSpPr/>
          <p:nvPr/>
        </p:nvSpPr>
        <p:spPr>
          <a:xfrm>
            <a:off x="9229929"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69" name="Shape 67"/>
          <p:cNvSpPr/>
          <p:nvPr/>
        </p:nvSpPr>
        <p:spPr>
          <a:xfrm>
            <a:off x="457200" y="6126480"/>
            <a:ext cx="11274552" cy="554736"/>
          </a:xfrm>
          <a:prstGeom prst="rect">
            <a:avLst/>
          </a:prstGeom>
          <a:solidFill>
            <a:srgbClr val="EDF4FA"/>
          </a:solidFill>
          <a:ln/>
        </p:spPr>
      </p:sp>
      <p:sp>
        <p:nvSpPr>
          <p:cNvPr id="70" name="Text 68"/>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 name="Shape 14"/>
          <p:cNvSpPr/>
          <p:nvPr/>
        </p:nvSpPr>
        <p:spPr>
          <a:xfrm>
            <a:off x="3008376" y="2436622"/>
            <a:ext cx="1658471"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0" name="Shape 18"/>
          <p:cNvSpPr/>
          <p:nvPr/>
        </p:nvSpPr>
        <p:spPr>
          <a:xfrm>
            <a:off x="3008376" y="2644902"/>
            <a:ext cx="1631155"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3008376" y="2853182"/>
            <a:ext cx="1292169"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8" name="Shape 26"/>
          <p:cNvSpPr/>
          <p:nvPr/>
        </p:nvSpPr>
        <p:spPr>
          <a:xfrm>
            <a:off x="3008376" y="3061462"/>
            <a:ext cx="1269367"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008376" y="3269742"/>
            <a:ext cx="1120679" cy="104140"/>
          </a:xfrm>
          <a:prstGeom prst="rect">
            <a:avLst/>
          </a:prstGeom>
          <a:solidFill>
            <a:srgbClr val="C2352F"/>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6" name="Shape 34"/>
          <p:cNvSpPr/>
          <p:nvPr/>
        </p:nvSpPr>
        <p:spPr>
          <a:xfrm>
            <a:off x="3008376" y="3478022"/>
            <a:ext cx="982182"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0" name="Shape 38"/>
          <p:cNvSpPr/>
          <p:nvPr/>
        </p:nvSpPr>
        <p:spPr>
          <a:xfrm>
            <a:off x="3008376" y="3686302"/>
            <a:ext cx="981891"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008376" y="3894582"/>
            <a:ext cx="981057"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8" name="Shape 46"/>
          <p:cNvSpPr/>
          <p:nvPr/>
        </p:nvSpPr>
        <p:spPr>
          <a:xfrm>
            <a:off x="3008376" y="4102862"/>
            <a:ext cx="910335"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519422"/>
            <a:ext cx="1584948"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727702"/>
            <a:ext cx="1531944"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4935982"/>
            <a:ext cx="1488739"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144262"/>
            <a:ext cx="1465284"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352542"/>
            <a:ext cx="1453454"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560822"/>
            <a:ext cx="1392914"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5769102"/>
            <a:ext cx="1382090"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2" name="Shape 80"/>
          <p:cNvSpPr/>
          <p:nvPr/>
        </p:nvSpPr>
        <p:spPr>
          <a:xfrm>
            <a:off x="8558784" y="2228342"/>
            <a:ext cx="1290776"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6" name="Shape 84"/>
          <p:cNvSpPr/>
          <p:nvPr/>
        </p:nvSpPr>
        <p:spPr>
          <a:xfrm>
            <a:off x="8558784" y="2436622"/>
            <a:ext cx="1250314"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0" name="Shape 88"/>
          <p:cNvSpPr/>
          <p:nvPr/>
        </p:nvSpPr>
        <p:spPr>
          <a:xfrm>
            <a:off x="8558784" y="2644902"/>
            <a:ext cx="1249903"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4" name="Shape 92"/>
          <p:cNvSpPr/>
          <p:nvPr/>
        </p:nvSpPr>
        <p:spPr>
          <a:xfrm>
            <a:off x="8558784" y="2853182"/>
            <a:ext cx="1249400"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8558784" y="3061462"/>
            <a:ext cx="1244020"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8558784" y="3269742"/>
            <a:ext cx="1237592" cy="104140"/>
          </a:xfrm>
          <a:prstGeom prst="rect">
            <a:avLst/>
          </a:prstGeom>
          <a:solidFill>
            <a:srgbClr val="12A566"/>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6" name="Shape 104"/>
          <p:cNvSpPr/>
          <p:nvPr/>
        </p:nvSpPr>
        <p:spPr>
          <a:xfrm>
            <a:off x="8558784" y="3478022"/>
            <a:ext cx="1215849" cy="104140"/>
          </a:xfrm>
          <a:prstGeom prst="rect">
            <a:avLst/>
          </a:prstGeom>
          <a:solidFill>
            <a:srgbClr val="12A566"/>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8558784" y="3686302"/>
            <a:ext cx="1146869"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4" name="Shape 112"/>
          <p:cNvSpPr/>
          <p:nvPr/>
        </p:nvSpPr>
        <p:spPr>
          <a:xfrm>
            <a:off x="8558784" y="3894582"/>
            <a:ext cx="1122936"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8" name="Shape 116"/>
          <p:cNvSpPr/>
          <p:nvPr/>
        </p:nvSpPr>
        <p:spPr>
          <a:xfrm>
            <a:off x="8558784" y="4102862"/>
            <a:ext cx="1013406"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2" name="Shape 120"/>
          <p:cNvSpPr/>
          <p:nvPr/>
        </p:nvSpPr>
        <p:spPr>
          <a:xfrm>
            <a:off x="8558784" y="4311142"/>
            <a:ext cx="940756"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6" name="Shape 124"/>
          <p:cNvSpPr/>
          <p:nvPr/>
        </p:nvSpPr>
        <p:spPr>
          <a:xfrm>
            <a:off x="8558784" y="4519422"/>
            <a:ext cx="900750"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0" name="Shape 128"/>
          <p:cNvSpPr/>
          <p:nvPr/>
        </p:nvSpPr>
        <p:spPr>
          <a:xfrm>
            <a:off x="8558784" y="4727702"/>
            <a:ext cx="880007"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4" name="Shape 132"/>
          <p:cNvSpPr/>
          <p:nvPr/>
        </p:nvSpPr>
        <p:spPr>
          <a:xfrm>
            <a:off x="8558784" y="4935982"/>
            <a:ext cx="832284"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5144262"/>
            <a:ext cx="808680"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5352542"/>
            <a:ext cx="763360"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6" name="Shape 144"/>
          <p:cNvSpPr/>
          <p:nvPr/>
        </p:nvSpPr>
        <p:spPr>
          <a:xfrm>
            <a:off x="8558784" y="5560822"/>
            <a:ext cx="690045"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48" name="Shape 146"/>
          <p:cNvSpPr/>
          <p:nvPr/>
        </p:nvSpPr>
        <p:spPr>
          <a:xfrm>
            <a:off x="4164984" y="2176272"/>
            <a:ext cx="14630" cy="3749040"/>
          </a:xfrm>
          <a:prstGeom prst="rect">
            <a:avLst/>
          </a:prstGeom>
          <a:solidFill>
            <a:srgbClr val="0B2C4A"/>
          </a:solidFill>
          <a:ln/>
        </p:spPr>
      </p:sp>
      <p:sp>
        <p:nvSpPr>
          <p:cNvPr id="149" name="Shape 147"/>
          <p:cNvSpPr/>
          <p:nvPr/>
        </p:nvSpPr>
        <p:spPr>
          <a:xfrm>
            <a:off x="9715392"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9" name="Shape 67"/>
          <p:cNvSpPr/>
          <p:nvPr/>
        </p:nvSpPr>
        <p:spPr>
          <a:xfrm>
            <a:off x="457200" y="6126480"/>
            <a:ext cx="11274552" cy="569976"/>
          </a:xfrm>
          <a:prstGeom prst="rect">
            <a:avLst/>
          </a:prstGeom>
          <a:solidFill>
            <a:srgbClr val="EDF4FA"/>
          </a:solidFill>
          <a:ln/>
        </p:spPr>
      </p:sp>
      <p:sp>
        <p:nvSpPr>
          <p:cNvPr id="70" name="Text 68"/>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HOW WE MEASURED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2026-10-24T00:53:05Z</dcterms:created>
  <dcterms:modified xsi:type="dcterms:W3CDTF">2026-10-24T00:53:05Z</dcterms:modified>
</cp:coreProperties>
</file>