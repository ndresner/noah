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266" r:id="rId12"/>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except the 27 cents vs 7 cents tile, which is same-store (INEOS excluded; 27 cents either way).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parts and the GMC Prescott body shop, as on the P&amp;L)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(Noah, Oct 28: kept in).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(Noah, Oct 28: kept in).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(Noah, Oct 28: kept in).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Profit &amp; Loss (GM and Detail statements), Jan-Sep 2026 vs 2025, same-store, 33 stores. Absorption includes the GMC Prescott body shop, as on the P&amp;L; gross and net to gross exclude it.PLACE: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The two Flai voice AI slides (Jul 26 - Oct 26, 2026) follow this one; keep Flai figures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+6.2 pts to 44.9%. 5 declined; Audi Henderson fell most at −2.2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blank).Five stores do not report photo completion, so the group here is weighted on the 28 stores that do (109,881 CP + warranty ROs, not the 128,726 used for MPI and video).</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21.7% (2025 14.9%)</a:t>
            </a:r>
          </a:p>
          <a:p>
            <a:r>
              <a:t>HONDA HENDERSON: 21.3% (2025 20.7%)</a:t>
            </a:r>
          </a:p>
          <a:p>
            <a:r>
              <a:t>ACURA: 17.5% (2025 14.1%)</a:t>
            </a:r>
          </a:p>
          <a:p>
            <a:r>
              <a:t>LR LV: 17.3% (2025 11.4%)</a:t>
            </a:r>
          </a:p>
          <a:p>
            <a:r>
              <a:t>MAZDA: 16.6% (2025 9.9%)</a:t>
            </a:r>
          </a:p>
          <a:p>
            <a:r>
              <a:t>HONDA NORTH: 16.1% (2025 14.9%)</a:t>
            </a:r>
          </a:p>
          <a:p>
            <a:r>
              <a:t>HYUNDAI ST GEORGE: 14.8% (2025 5.1%)</a:t>
            </a:r>
          </a:p>
          <a:p>
            <a:r>
              <a:t>SUBARU LV: 14.5% (2025 16.0%)</a:t>
            </a:r>
          </a:p>
          <a:p>
            <a:r>
              <a:t>TOYOTA HENDERSON: 14.5% (2025 15.0%)</a:t>
            </a:r>
          </a:p>
          <a:p>
            <a:r>
              <a:t>CADILLAC: 13.8% (2025 9.7%)</a:t>
            </a:r>
          </a:p>
          <a:p>
            <a:r>
              <a:t>VOLVO: 13.8% (2025 13.4%)</a:t>
            </a:r>
          </a:p>
          <a:p>
            <a:r>
              <a:t>VW HENDERSON: 13.6% (2025 13.4%)</a:t>
            </a:r>
          </a:p>
          <a:p>
            <a:r>
              <a:t>LR RENO: 12.8% (2025 17.7%)</a:t>
            </a:r>
          </a:p>
          <a:p>
            <a:r>
              <a:t>CHEVY LV: 12.8% (2025 13.3%)</a:t>
            </a:r>
          </a:p>
          <a:p>
            <a:r>
              <a:t>SUBARU PRESCOTT: 12.5% (2025 7.0%)</a:t>
            </a:r>
          </a:p>
          <a:p>
            <a:r>
              <a:t>HONDA SPOKANE: 12.5% (2025 10.7%)</a:t>
            </a:r>
          </a:p>
          <a:p>
            <a:r>
              <a:t>TOYOTA PRESCOTT: 12.3% (2025 9.4%)</a:t>
            </a:r>
          </a:p>
          <a:p>
            <a:r>
              <a:t>AUDI RENO: 11.8% (2025 11.7%)</a:t>
            </a:r>
          </a:p>
          <a:p>
            <a:r>
              <a:t>GMC PRESCOTT: 11.7% (2025 4.9%)</a:t>
            </a:r>
          </a:p>
          <a:p>
            <a:r>
              <a:t>LEXUS: 11.3% (2025 8.2%)</a:t>
            </a:r>
          </a:p>
          <a:p>
            <a:r>
              <a:t>CHEVY GMC BULLHEAD: 11.1% (2025 11.1%)</a:t>
            </a:r>
          </a:p>
          <a:p>
            <a:r>
              <a:t>HONDA FLAGSTAFF: 11.0% (2025 5.5%)</a:t>
            </a:r>
          </a:p>
          <a:p>
            <a:r>
              <a:t>SUBARU ST GEORGE: 11.0% (2025 11.9%)</a:t>
            </a:r>
          </a:p>
          <a:p>
            <a:r>
              <a:t>KIA LV: 9.7% (2025 13.3%)</a:t>
            </a:r>
          </a:p>
          <a:p>
            <a:r>
              <a:t>TOYOTA FLAGSTAFF: 9.7% (2025 6.3%)</a:t>
            </a:r>
          </a:p>
          <a:p>
            <a:r>
              <a:t>LINCOLN: 8.4% (2025 2.7%)</a:t>
            </a:r>
          </a:p>
          <a:p>
            <a:r>
              <a:t>KIA ST GEORGE: 8.0% (2025 2.4%)</a:t>
            </a:r>
          </a:p>
          <a:p>
            <a:r>
              <a:t>NISSAN: 7.4% (2025 5.2%)</a:t>
            </a:r>
          </a:p>
          <a:p>
            <a:r>
              <a:t>VW ST GEORGE: 5.6% (2025 3.9%)</a:t>
            </a:r>
          </a:p>
          <a:p>
            <a:r>
              <a:t>TOYOTA SPOKANE: 4.2%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a:t>
            </a:r>
          </a:p>
          <a:p>
            <a:r>
              <a:t>LR HENDERSON: 27.0% (2025 22.8%)</a:t>
            </a:r>
          </a:p>
          <a:p>
            <a:r>
              <a:t>HONDA HENDERSON: 18.4% (2025 17.6%)</a:t>
            </a:r>
          </a:p>
          <a:p>
            <a:r>
              <a:t>LR LV: 16.9% (2025 3.4%)</a:t>
            </a:r>
          </a:p>
          <a:p>
            <a:r>
              <a:t>LR RENO: 16.9% (2025 16.3%)</a:t>
            </a:r>
          </a:p>
          <a:p>
            <a:r>
              <a:t>SUBARU PRESCOTT: 14.9% (2025 0.1%)</a:t>
            </a:r>
          </a:p>
          <a:p>
            <a:r>
              <a:t>ACURA: 14.1% (2025 10.2%)</a:t>
            </a:r>
          </a:p>
          <a:p>
            <a:r>
              <a:t>HYUNDAI PRESCOTT: 13.5% (2025 8.8%)</a:t>
            </a:r>
          </a:p>
          <a:p>
            <a:r>
              <a:t>MAZDA: 13.1% (2025 6.5%)</a:t>
            </a:r>
          </a:p>
          <a:p>
            <a:r>
              <a:t>HONDA NORTH: 12.0% (2025 11.3%)</a:t>
            </a:r>
          </a:p>
          <a:p>
            <a:r>
              <a:t>VOLVO: 11.7% (2025 10.9%)</a:t>
            </a:r>
          </a:p>
          <a:p>
            <a:r>
              <a:t>TOYOTA HENDERSON: 11.2% (2025 11.7%)</a:t>
            </a:r>
          </a:p>
          <a:p>
            <a:r>
              <a:t>SUBARU LV: 10.2% (2025 11.3%)</a:t>
            </a:r>
          </a:p>
          <a:p>
            <a:r>
              <a:t>CHEVY GMC BULLHEAD: 9.0% (2025 6.5%)</a:t>
            </a:r>
          </a:p>
          <a:p>
            <a:r>
              <a:t>VW HENDERSON: 8.2% (2025 7.0%)</a:t>
            </a:r>
          </a:p>
          <a:p>
            <a:r>
              <a:t>GMC PRESCOTT: 7.7% (2025 2.0%)</a:t>
            </a:r>
          </a:p>
          <a:p>
            <a:r>
              <a:t>KIA ST GEORGE: 7.7% (2025 1.1%)</a:t>
            </a:r>
          </a:p>
          <a:p>
            <a:r>
              <a:t>CHEVY LV: 7.3% (2025 4.2%)</a:t>
            </a:r>
          </a:p>
          <a:p>
            <a:r>
              <a:t>TOYOTA PRESCOTT: 6.1% (2025 3.3%)</a:t>
            </a:r>
          </a:p>
          <a:p>
            <a:r>
              <a:t>CADILLAC: 5.9% (2025 2.6%)</a:t>
            </a:r>
          </a:p>
          <a:p>
            <a:r>
              <a:t>KIA LV: 5.2% (2025 6.5%)</a:t>
            </a:r>
          </a:p>
          <a:p>
            <a:r>
              <a:t>TOYOTA FLAGSTAFF: 4.9% (2025 3.6%)</a:t>
            </a:r>
          </a:p>
          <a:p>
            <a:r>
              <a:t>SUBARU ST GEORGE: 3.6% (2025 5.3%)</a:t>
            </a:r>
          </a:p>
          <a:p>
            <a:r>
              <a:t>HONDA SPOKANE: 2.1% (2025 0.1%)</a:t>
            </a:r>
          </a:p>
          <a:p>
            <a:r>
              <a:t>LINCOLN: 1.6% (2025 0.0%)</a:t>
            </a:r>
          </a:p>
          <a:p>
            <a:r>
              <a:t>HONDA FLAGSTAFF: 1.3% (2025 0.1%)</a:t>
            </a:r>
          </a:p>
          <a:p>
            <a:r>
              <a:t>CDJR POST FALLS: 1.2% (2025 0.2%)</a:t>
            </a:r>
          </a:p>
          <a:p>
            <a:r>
              <a:t>HYUNDAI ST GEORGE: 1.2% (2025 0.4%)</a:t>
            </a:r>
          </a:p>
          <a:p>
            <a:r>
              <a:t>NISSAN: 1.0% (2025 2.6%)</a:t>
            </a:r>
          </a:p>
          <a:p>
            <a:r>
              <a:t>TOYOTA SPOKANE: 0.4% (2025 0.2%)</a:t>
            </a:r>
          </a:p>
          <a:p>
            <a:r>
              <a:t>VW ST GEORGE: 0.4% (2025 0.7%)</a:t>
            </a:r>
          </a:p>
          <a:p>
            <a:r>
              <a:t>AUDI RENO: 0.1% (2025 0.1%)</a:t>
            </a:r>
          </a:p>
          <a:p>
            <a:r>
              <a:t>LEXUS: 0.0% (2025 0.0%)</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20.6% (2025 15.1%)</a:t>
            </a:r>
          </a:p>
          <a:p>
            <a:r>
              <a:t>HONDA HENDERSON: 15.5% (2025 12.9%)</a:t>
            </a:r>
          </a:p>
          <a:p>
            <a:r>
              <a:t>LR HENDERSON: 14.3% (2025 9.0%)</a:t>
            </a:r>
          </a:p>
          <a:p>
            <a:r>
              <a:t>ACURA: 12.7% (2025 8.5%)</a:t>
            </a:r>
          </a:p>
          <a:p>
            <a:r>
              <a:t>HONDA NORTH: 12.1% (2025 13.1%)</a:t>
            </a:r>
          </a:p>
          <a:p>
            <a:r>
              <a:t>VOLVO: 11.9% (2025 12.0%)</a:t>
            </a:r>
          </a:p>
          <a:p>
            <a:r>
              <a:t>NISSAN: 11.6% (2025 3.7%)</a:t>
            </a:r>
          </a:p>
          <a:p>
            <a:r>
              <a:t>SUBARU ST GEORGE: 10.7% (2025 11.0%)</a:t>
            </a:r>
          </a:p>
          <a:p>
            <a:r>
              <a:t>SUBARU PRESCOTT: 10.6% (2025 6.4%)</a:t>
            </a:r>
          </a:p>
          <a:p>
            <a:r>
              <a:t>HONDA SPOKANE: 10.3% (2025 9.7%)</a:t>
            </a:r>
          </a:p>
          <a:p>
            <a:r>
              <a:t>SUBARU LV: 10.1% (2025 9.2%)</a:t>
            </a:r>
          </a:p>
          <a:p>
            <a:r>
              <a:t>TOYOTA HENDERSON: 10.0% (2025 9.7%)</a:t>
            </a:r>
          </a:p>
          <a:p>
            <a:r>
              <a:t>HYUNDAI PRESCOTT: 9.6% (2025 8.1%)</a:t>
            </a:r>
          </a:p>
          <a:p>
            <a:r>
              <a:t>VW HENDERSON: 9.5% (2025 7.8%)</a:t>
            </a:r>
          </a:p>
          <a:p>
            <a:r>
              <a:t>MAZDA: 8.4% (2025 4.5%)</a:t>
            </a:r>
          </a:p>
          <a:p>
            <a:r>
              <a:t>TOYOTA PRESCOTT: 8.4% (2025 6.0%)</a:t>
            </a:r>
          </a:p>
          <a:p>
            <a:r>
              <a:t>LEXUS: 8.3% (2025 4.9%)</a:t>
            </a:r>
          </a:p>
          <a:p>
            <a:r>
              <a:t>KIA LV: 8.2% (2025 7.2%)</a:t>
            </a:r>
          </a:p>
          <a:p>
            <a:r>
              <a:t>TOYOTA FLAGSTAFF: 8.0% (2025 7.3%)</a:t>
            </a:r>
          </a:p>
          <a:p>
            <a:r>
              <a:t>LINCOLN: 7.5% (2025 2.4%)</a:t>
            </a:r>
          </a:p>
          <a:p>
            <a:r>
              <a:t>LR RENO: 7.2% (2025 2.4%)</a:t>
            </a:r>
          </a:p>
          <a:p>
            <a:r>
              <a:t>CHEVY GMC BULLHEAD: 7.0% (2025 3.7%)</a:t>
            </a:r>
          </a:p>
          <a:p>
            <a:r>
              <a:t>TOYOTA SPOKANE: 7.0% (2025 6.8%)</a:t>
            </a:r>
          </a:p>
          <a:p>
            <a:r>
              <a:t>GMC PRESCOTT: 6.0% (2025 4.5%)</a:t>
            </a:r>
          </a:p>
          <a:p>
            <a:r>
              <a:t>KIA ST GEORGE: 5.9% (2025 3.7%)</a:t>
            </a:r>
          </a:p>
          <a:p>
            <a:r>
              <a:t>CHEVY LV: 5.7% (2025 5.3%)</a:t>
            </a:r>
          </a:p>
          <a:p>
            <a:r>
              <a:t>VW ST GEORGE: 5.4% (2025 3.9%)</a:t>
            </a:r>
          </a:p>
          <a:p>
            <a:r>
              <a:t>HYUNDAI ST GEORGE: 4.7% (2025 1.6%)</a:t>
            </a:r>
          </a:p>
          <a:p>
            <a:r>
              <a:t>CADILLAC: 4.6% (2025 4.1%)</a:t>
            </a:r>
          </a:p>
          <a:p>
            <a:r>
              <a:t>CDJR POST FALLS: 4.2% (2025 5.9%)</a:t>
            </a:r>
          </a:p>
          <a:p>
            <a:r>
              <a:t>HONDA FLAGSTAFF: 3.1% (2025 2.3%)</a:t>
            </a:r>
          </a:p>
          <a:p>
            <a:r>
              <a:t>AUDI HENDERSON: 2.4% (2025 1.8%)</a:t>
            </a:r>
          </a:p>
          <a:p>
            <a:r>
              <a:t>AUDI RENO: 1.9% (2025 0.4%)</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a:t>
            </a:r>
          </a:p>
          <a:p>
            <a:r>
              <a:t>SUBARU ST GEORGE: 13.8% (2025 0.0%)</a:t>
            </a:r>
          </a:p>
          <a:p>
            <a:r>
              <a:t>HONDA HENDERSON: 12.0% (2025 10.4%)</a:t>
            </a:r>
          </a:p>
          <a:p>
            <a:r>
              <a:t>SUBARU PRESCOTT: 9.7% (2025 5.9%)</a:t>
            </a:r>
          </a:p>
          <a:p>
            <a:r>
              <a:t>ACURA: 9.3% (2025 5.3%)</a:t>
            </a:r>
          </a:p>
          <a:p>
            <a:r>
              <a:t>KIA ST GEORGE: 8.9% (2025 5.6%)</a:t>
            </a:r>
          </a:p>
          <a:p>
            <a:r>
              <a:t>LINCOLN: 8.2% (2025 2.1%)</a:t>
            </a:r>
          </a:p>
          <a:p>
            <a:r>
              <a:t>HONDA NORTH: 7.6% (2025 5.3%)</a:t>
            </a:r>
          </a:p>
          <a:p>
            <a:r>
              <a:t>HYUNDAI PRESCOTT: 7.3% (2025 6.6%)</a:t>
            </a:r>
          </a:p>
          <a:p>
            <a:r>
              <a:t>SUBARU LV: 7.0% (2025 8.2%)</a:t>
            </a:r>
          </a:p>
          <a:p>
            <a:r>
              <a:t>TOYOTA PRESCOTT: 6.4% (2025 5.0%)</a:t>
            </a:r>
          </a:p>
          <a:p>
            <a:r>
              <a:t>TOYOTA HENDERSON: 6.0% (2025 6.0%)</a:t>
            </a:r>
          </a:p>
          <a:p>
            <a:r>
              <a:t>HYUNDAI ST GEORGE: 5.8% (2025 2.3%)</a:t>
            </a:r>
          </a:p>
          <a:p>
            <a:r>
              <a:t>TOYOTA SPOKANE: 5.8% (2025 6.0%)</a:t>
            </a:r>
          </a:p>
          <a:p>
            <a:r>
              <a:t>LR LV: 5.5% (2025 0.2%)</a:t>
            </a:r>
          </a:p>
          <a:p>
            <a:r>
              <a:t>CHEVY LV: 5.2% (2025 4.8%)</a:t>
            </a:r>
          </a:p>
          <a:p>
            <a:r>
              <a:t>MAZDA: 5.2% (2025 1.4%)</a:t>
            </a:r>
          </a:p>
          <a:p>
            <a:r>
              <a:t>CADILLAC: 5.1% (2025 4.3%)</a:t>
            </a:r>
          </a:p>
          <a:p>
            <a:r>
              <a:t>LR RENO: 4.5% (2025 0.0%)</a:t>
            </a:r>
          </a:p>
          <a:p>
            <a:r>
              <a:t>LEXUS: 4.2% (2025 1.9%)</a:t>
            </a:r>
          </a:p>
          <a:p>
            <a:r>
              <a:t>NISSAN: 4.1% (2025 0.8%)</a:t>
            </a:r>
          </a:p>
          <a:p>
            <a:r>
              <a:t>GMC PRESCOTT: 3.6% (2025 2.9%)</a:t>
            </a:r>
          </a:p>
          <a:p>
            <a:r>
              <a:t>HONDA SPOKANE: 3.2% (2025 0.0%)</a:t>
            </a:r>
          </a:p>
          <a:p>
            <a:r>
              <a:t>KIA LV: 3.2% (2025 2.9%)</a:t>
            </a:r>
          </a:p>
          <a:p>
            <a:r>
              <a:t>CDJR POST FALLS: 3.0% (2025 3.9%)</a:t>
            </a:r>
          </a:p>
          <a:p>
            <a:r>
              <a:t>CHEVY GMC BULLHEAD: 2.7% (2025 1.8%)</a:t>
            </a:r>
          </a:p>
          <a:p>
            <a:r>
              <a:t>VW ST GEORGE: 2.7% (2025 2.3%)</a:t>
            </a:r>
          </a:p>
          <a:p>
            <a:r>
              <a:t>LR HENDERSON: 2.5% (2025 2.4%)</a:t>
            </a:r>
          </a:p>
          <a:p>
            <a:r>
              <a:t>TOYOTA FLAGSTAFF: 1.6% (2025 1.6%)</a:t>
            </a:r>
          </a:p>
          <a:p>
            <a:r>
              <a:t>AUDI RENO: 0.8% (2025 0.0%)</a:t>
            </a:r>
          </a:p>
          <a:p>
            <a:r>
              <a:t>HONDA FLAGSTAFF: 0.7% (2025 0.6%)</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on net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internal work is protected gross generated on our own vehicles.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Rates Are Rising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Labor $ per RO: top HYUNDAI ST GEORGE $172 → $238; LINCOLN $306 → $416; SUBARU PRESCOTT $163 → $222. Bottom KIA LV $244 → $234; LR RENO $876 → $817; VW ST GEORGE $268 → $231.Takeaway with the store call-outs (off the slide): Most top-three finishes: Lincoln, Subaru Prescott and Subaru St George (2 of 5). Most bottom-three: VW St George (4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top TOYOTA HENDERSON $6.41M → $7.83M; AUDI HENDERSON $4.11M → $4.94M; CADILLAC $1.83M → $2.60M. Bottom TOYOTA SPOKANE $967K → $699K; VW HENDERSON $1.55M → $1.09M; CHEVY LV $2.91M → $2.27M.</a:t>
            </a:r>
          </a:p>
          <a:p>
            <a:r>
              <a:t>Fixed Absorption: top LINCOLN 43.8% → 59.9%; CADILLAC 76.5% → 86.1%; LR RENO 67.8% → 77.3%. Bottom VW HENDERSON 93.5% → 83.8%; KIA ST GEORGE 75.9% → 65.8%; VW ST GEORGE 71.5% → 54.1%.</a:t>
            </a:r>
          </a:p>
          <a:p>
            <a:r>
              <a:t>CP Parts GP %: top ACURA 38.7% → 44.9%; NISSAN 38.2% → 42.7%; SUBARU PRESCOTT 31.0% → 34.8%. Bottom HYUNDAI PRESCOTT 39.9% → 39.4%; TOYOTA SPOKANE 45.3% → 44.5%; AUDI HENDERSON 35.8% → 33.6%.</a:t>
            </a:r>
          </a:p>
          <a:p>
            <a:r>
              <a:t>Opcodes, Four Combined: top LR LV 30.2% → 60.5%; SUBARU PRESCOTT 19.5% → 47.9%; MAZDA 22.5% → 43.5%. Bottom TOYOTA HENDERSON 42.5% → 41.8%; SUBARU LV 44.9% → 42.0%; KIA LV 30.0% → 26.4%.Takeaway with the store call-outs (off the slide): Most top-three finishes: Lincoln, Subaru Prescott and Subaru St George (2 of 4). Most bottom-three: Toyota Spokane and VW Henderson (2 of 4).Source: Fixed ops net profit: Qlik - Profit &amp; Loss, service + parts department profit, change in dollars (several stores lost money in 2025, so a percent change misleads). Fixed absorption: P&amp;L, fixed ops gross / total store fixed expenses, GMC Prescott body shop in, as on the P&amp;L. CP parts GP %: Qlik - Closed Repair Orders. Opcodes: alignment + balance + brake fluid + fuel services / customer-pay ROs on the op-code report basis. Same-store, 33 stores. Points for absorption, parts GP % and opcodes.</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Labor $ per RO: top MAZDA $224 → $273; KIA ST GEORGE $171 → $201; HYUNDAI PRESCOTT $207 → $240. Bottom CADILLAC $483 → $430; LEXUS $427 → $377; SUBARU ST GEORGE $343 → $301.Takeaway with the store call-outs (off the slide): Most top-three finishes: Mazda, CDJR Post Falls and VW St George (2 of 5). Most bottom-three: Cadillac (4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CP labor $ per RO = CP labor sale / CP ROs.</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Fixed Ops Net Profit per Month: top HONDA HENDERSON $586K → $725K; TOYOTA HENDERSON $795K → $934K; CHEVY LV $181K → $294K. Bottom AUDI RENO $212K → $187K; ACURA $61K → $31K; KIA LV $240K → $179K.</a:t>
            </a:r>
          </a:p>
          <a:p>
            <a:r>
              <a:t>Fixed Absorption: top LR HENDERSON 66.7% → 82.9%; LR RENO 69.5% → 84.8%; KIA ST GEORGE 62.0% → 73.1%. Bottom AUDI RENO 106.5% → 100.4%; ACURA 64.6% → 58.0%; KIA LV 84.3% → 74.6%.</a:t>
            </a:r>
          </a:p>
          <a:p>
            <a:r>
              <a:t>CP Parts GP %: top ACURA 39.4% → 46.6%; VW ST GEORGE 39.1% → 43.8%; GMC PRESCOTT 35.3% → 39.2%. Bottom CHEVY LV 38.2% → 35.0%; LINCOLN 39.9% → 36.0%; HONDA HENDERSON 44.3% → 40.0%.</a:t>
            </a:r>
          </a:p>
          <a:p>
            <a:r>
              <a:t>Opcodes, Four Combined: top MAZDA 30.5% → 66.9%; HYUNDAI PRESCOTT 43.8% → 62.4%; KIA ST GEORGE 21.2% → 37.1%. Bottom CADILLAC 29.4% → 21.3%; SUBARU ST GEORGE 45.1% → 35.4%; HONDA HENDERSON 72.5% → 61.2%.Takeaway with the store call-outs (off the slide): Most top-three finishes: Mazda, CDJR Post Falls and VW St George (2 of 4). Most bottom-three: Audi Reno, Acura, Kia LV and Honda Henderson (2 of 4).Source: Q3 2026 (Jul-Sep) vs Q1 2026 (Jan-Mar), each store against itself. Gross, ROs and net profit per month. Fixed ops net profit: Qlik - Profit &amp; Loss, service + parts department profit, change in dollars per month. Fixed absorption: P&amp;L, fixed ops gross / total store fixed expenses, GMC Prescott body shop in, as on the P&amp;L. CP parts GP %: Qlik - Closed Repair Orders. Opcodes: alignment + balance + brake fluid + fuel services / customer-pay ROs on the op-code report basis. Same-store, 33 stores. The group's own move is the season.</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the four opcodes included.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2.4%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4.6%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5.9%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1.2%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7.0% vs 10%: 245 more a year (Jan–Sep x 12/9) x $87 gross a service.</a:t>
            </a:r>
          </a:p>
          <a:p/>
          <a:p>
            <a:r>
              <a:t>6. Tire balance - $21K a year. Tire balance 9.0%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5.7% vs 10%: 1,093 more a year (Jan–Sep x 12/9) x $138 gross a service.</a:t>
            </a:r>
          </a:p>
          <a:p/>
          <a:p>
            <a:r>
              <a:t>7. Fuel service - $142K a year. Fuel service 5.2% vs 7.5%: 585 more a year (Jan–Sep x 12/9) x $243 gross a service.</a:t>
            </a:r>
          </a:p>
          <a:p/>
          <a:p>
            <a:r>
              <a:t>8. Tire balance - $106K a year. Tire balance 7.3% vs 15%: 2,001 more a year (Jan–Sep x 12/9) x $53 gross a service.</a:t>
            </a:r>
          </a:p>
          <a:p/>
          <a:p>
            <a:r>
              <a:t>9. Alignment - $75K a year. Alignment 12.8%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7.7% vs 15%: 300 more a year (Jan–Sep x 12/9) x $90 gross a service.</a:t>
            </a:r>
          </a:p>
          <a:p/>
          <a:p>
            <a:r>
              <a:t>6. Fuel service - $21K a year. Fuel service 3.6% vs 7.5%: 160 more a year (Jan–Sep x 12/9) x $133 gross a service.</a:t>
            </a:r>
          </a:p>
          <a:p/>
          <a:p>
            <a:r>
              <a:t>7. Brake fluid - $21K a year. Brake fluid 6.0%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3.1%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11.0%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2.1%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5.8%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9.7%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8.2%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5.9%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0.0% vs 15%: 909 more a year (Jan–Sep x 12/9) x $75 gross a service.</a:t>
            </a:r>
          </a:p>
          <a:p/>
          <a:p>
            <a:r>
              <a:t>5. Alignment - $33K a year. Alignment 11.3% vs 15%: 221 more a year (Jan–Sep x 12/9) x $147 gross a service.</a:t>
            </a:r>
          </a:p>
          <a:p/>
          <a:p>
            <a:r>
              <a:t>6. Fuel service - $25K a year. Fuel service 4.2% vs 7.5%: 195 more a year (Jan–Sep x 12/9) x $128 gross a service.</a:t>
            </a:r>
          </a:p>
          <a:p/>
          <a:p>
            <a:r>
              <a:t>7. Brake fluid - $15K a year. Brake fluid 8.3%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1.6%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2.5%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4.5% vs 7.5%: 55 more a year (Jan–Sep x 12/9) x $329 gross a service.</a:t>
            </a:r>
          </a:p>
          <a:p/>
          <a:p>
            <a:r>
              <a:t>4. Alignment - $10K a year. Alignment 12.8%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8.4% vs 10%: 115 more a year (Jan–Sep x 12/9) x $154 gross a service.</a:t>
            </a:r>
          </a:p>
          <a:p/>
          <a:p>
            <a:r>
              <a:t>6. Tire balance - $11K a year. Tire balance 13.1%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7.4% vs 15%: 700 more a year (Jan–Sep x 12/9) x $119 gross a service.</a:t>
            </a:r>
          </a:p>
          <a:p/>
          <a:p>
            <a:r>
              <a:t>4. Tire balance - $77K a year. Tire balance 1.0% vs 15%: 1,296 more a year (Jan–Sep x 12/9) x $59 gross a service.</a:t>
            </a:r>
          </a:p>
          <a:p/>
          <a:p>
            <a:r>
              <a:t>5. Fuel service - $64K a year. Fuel service 4.1%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7.0%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12.5%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3.6% vs 15%: 837 more a year (Jan–Sep x 12/9) x $149 gross a service.</a:t>
            </a:r>
          </a:p>
          <a:p/>
          <a:p>
            <a:r>
              <a:t>3. CP labor GP % - $98K a year. 73.9% vs 78% (bottom of the 78-80% range) x $1.77M CP labor sale x 12/9.</a:t>
            </a:r>
          </a:p>
          <a:p/>
          <a:p>
            <a:r>
              <a:t>4. Alignment - $23K a year. Alignment 11.0%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1.6%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8.0%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6.1%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6.4%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4.2% vs 15%: 2,490 more a year (Jan–Sep x 12/9) x $90 gross a service.</a:t>
            </a:r>
          </a:p>
          <a:p/>
          <a:p>
            <a:r>
              <a:t>4. Tire balance - $180K a year. Tire balance 0.4%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8.2%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Rates, margins and compliance: protecting the money.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each store's prescription.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Rates rising   ·   Warranty gross profit   ·   Claim process: protect the money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Store prescriptions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+20.4%</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+41.8%</a:t>
            </a:r>
            <a:endParaRPr lang="en-US" sz="1300" dirty="0"/>
          </a:p>
        </p:txBody>
      </p:sp>
      <p:sp>
        <p:nvSpPr>
          <p:cNvPr id="24" name="Shape 22"/>
          <p:cNvSpPr/>
          <p:nvPr/>
        </p:nvSpPr>
        <p:spPr>
          <a:xfrm>
            <a:off x="4084320" y="4625035"/>
            <a:ext cx="64008" cy="755294"/>
          </a:xfrm>
          <a:prstGeom prst="rect">
            <a:avLst/>
          </a:prstGeom>
          <a:solidFill>
            <a:srgbClr val="12A566"/>
          </a:solidFill>
          <a:ln/>
        </p:spPr>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+124.3%</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Shape 36"/>
          <p:cNvSpPr/>
          <p:nvPr/>
        </p:nvSpPr>
        <p:spPr>
          <a:xfrm>
            <a:off x="7775448" y="2139696"/>
            <a:ext cx="64008" cy="755294"/>
          </a:xfrm>
          <a:prstGeom prst="rect">
            <a:avLst/>
          </a:prstGeom>
          <a:solidFill>
            <a:srgbClr val="2587C5"/>
          </a:solidFill>
          <a:ln/>
        </p:spPr>
      </p:sp>
      <p:sp>
        <p:nvSpPr>
          <p:cNvPr id="39" name="Text 37"/>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40" name="Text 38"/>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41" name="Text 39"/>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42" name="Text 40"/>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43" name="Text 41"/>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4" name="Text 42"/>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45" name="Text 43"/>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6" name="Text 44"/>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−29.6%</a:t>
            </a:r>
            <a:endParaRPr lang="en-US" sz="1300" dirty="0"/>
          </a:p>
        </p:txBody>
      </p:sp>
      <p:sp>
        <p:nvSpPr>
          <p:cNvPr id="47" name="Shape 45"/>
          <p:cNvSpPr/>
          <p:nvPr/>
        </p:nvSpPr>
        <p:spPr>
          <a:xfrm>
            <a:off x="4349496" y="3760013"/>
            <a:ext cx="3489960" cy="828446"/>
          </a:xfrm>
          <a:prstGeom prst="rect">
            <a:avLst/>
          </a:prstGeom>
          <a:solidFill>
            <a:srgbClr val="F7F7F7"/>
          </a:solidFill>
          <a:ln/>
        </p:spPr>
      </p:sp>
      <p:sp>
        <p:nvSpPr>
          <p:cNvPr id="48" name="Text 4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9" name="Text 4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50" name="Text 48"/>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51" name="Text 49"/>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−27.7%</a:t>
            </a:r>
            <a:endParaRPr lang="en-US" sz="1300" dirty="0"/>
          </a:p>
        </p:txBody>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−138.2%</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12A566"/>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+23.8%</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2587C5"/>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+62.3%</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+119.4%</a:t>
            </a:r>
            <a:endParaRPr lang="en-US" sz="13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+$829,841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gross than 2025, on average, every month January through September.</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E6F6EE"/>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+$7,468,567 (4.1%) year to date; 6 of nine months ahead of 2025, largest gain in September, +$2,098,497.</a:t>
            </a:r>
            <a:endParaRPr lang="en-US" sz="15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+$404K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+$717K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+$764K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+$1.70M</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+$368K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−$517K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−$761K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−$520K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−$840K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Text 7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7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74" name="Text 72"/>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75" name="Text 73"/>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76" name="Text 7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7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78" name="Text 76"/>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79" name="Text 77"/>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+$84K</a:t>
            </a:r>
            <a:endParaRPr lang="en-US" sz="1300" dirty="0"/>
          </a:p>
        </p:txBody>
      </p:sp>
      <p:sp>
        <p:nvSpPr>
          <p:cNvPr id="80" name="Shape 78"/>
          <p:cNvSpPr/>
          <p:nvPr/>
        </p:nvSpPr>
        <p:spPr>
          <a:xfrm>
            <a:off x="8040624" y="5416906"/>
            <a:ext cx="3489960" cy="828446"/>
          </a:xfrm>
          <a:prstGeom prst="rect">
            <a:avLst/>
          </a:prstGeom>
          <a:solidFill>
            <a:srgbClr val="F7F7F7"/>
          </a:solidFill>
          <a:ln/>
        </p:spPr>
      </p:sp>
      <p:sp>
        <p:nvSpPr>
          <p:cNvPr id="81" name="Shape 79"/>
          <p:cNvSpPr/>
          <p:nvPr/>
        </p:nvSpPr>
        <p:spPr>
          <a:xfrm>
            <a:off x="11466576" y="5453482"/>
            <a:ext cx="64008" cy="755294"/>
          </a:xfrm>
          <a:prstGeom prst="rect">
            <a:avLst/>
          </a:prstGeom>
          <a:solidFill>
            <a:srgbClr val="12A566"/>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+$30K</a:t>
            </a: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+$6,297,386 (5.2%) year to date; 9 of nine months ahead of 2025, largest gain in September, +$1,457,847.</a:t>
            </a:r>
            <a:endParaRPr lang="en-US" sz="15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+$345K</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+$475K</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+$639K</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+$315K</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+$619K</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−$438K</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−$547K</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−$695K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+$67K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+$54K</a:t>
            </a:r>
            <a:endParaRPr lang="en-US" sz="13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largest gain in July,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+$243K</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+$688K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+$271K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+$151K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−$328K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−$214K</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−$167K</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+$28K</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917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88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43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5014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21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3674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3227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227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8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33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1887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441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67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5" name="Shape 63"/>
          <p:cNvSpPr/>
          <p:nvPr/>
        </p:nvSpPr>
        <p:spPr>
          <a:xfrm>
            <a:off x="3785616" y="5030502"/>
            <a:ext cx="1742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17420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740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29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67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593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47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6801"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40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9331557"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331557"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7090"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6888" y="4070920"/>
            <a:ext cx="491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888" y="4310815"/>
            <a:ext cx="49136"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3285" y="4550711"/>
            <a:ext cx="10273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543" y="4790606"/>
            <a:ext cx="2724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2735" y="5030502"/>
            <a:ext cx="433289"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867" y="5270397"/>
            <a:ext cx="45115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027"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34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785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609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28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36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7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16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84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20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36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904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40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9512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7" name="Shape 75"/>
          <p:cNvSpPr/>
          <p:nvPr/>
        </p:nvSpPr>
        <p:spPr>
          <a:xfrm>
            <a:off x="3785616" y="5750188"/>
            <a:ext cx="951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48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816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5683"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104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552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74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222" y="3831024"/>
            <a:ext cx="34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2661" y="4070920"/>
            <a:ext cx="53363"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1780" y="4310815"/>
            <a:ext cx="7424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3219" y="4550711"/>
            <a:ext cx="928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7698" y="4790606"/>
            <a:ext cx="1183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41134" y="5030502"/>
            <a:ext cx="1948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3131" y="5270397"/>
            <a:ext cx="2528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4232" y="5510293"/>
            <a:ext cx="621792"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−5.1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+23.7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703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85667"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051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86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4832"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8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841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630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51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696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417"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4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210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7115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780142"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5815" y="1911860"/>
            <a:ext cx="60209"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4868" y="2151755"/>
            <a:ext cx="71156"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765" y="2391651"/>
            <a:ext cx="15325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49924" y="2631546"/>
            <a:ext cx="18610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97" name="Shape 95"/>
          <p:cNvSpPr/>
          <p:nvPr/>
        </p:nvSpPr>
        <p:spPr>
          <a:xfrm>
            <a:off x="9106136" y="2871442"/>
            <a:ext cx="22988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1" name="Shape 99"/>
          <p:cNvSpPr/>
          <p:nvPr/>
        </p:nvSpPr>
        <p:spPr>
          <a:xfrm>
            <a:off x="9106136" y="3111337"/>
            <a:ext cx="2298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3295" y="3351233"/>
            <a:ext cx="26272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40454" y="3591128"/>
            <a:ext cx="29557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4980" y="3831024"/>
            <a:ext cx="30104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60" y="4070920"/>
            <a:ext cx="317464"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825" y="4310815"/>
            <a:ext cx="37219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1722" y="4550711"/>
            <a:ext cx="4543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4145" y="4790606"/>
            <a:ext cx="5418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2990" y="5030502"/>
            <a:ext cx="61303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0149" y="5270397"/>
            <a:ext cx="6458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1834" y="5510293"/>
            <a:ext cx="68419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+7.1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+16.4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$6.6M a year in gross.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+977 ROs</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+226 ROs</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+297 ROs</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+511 ROs</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+118 ROs</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−332 ROs</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−435 ROs</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−462 ROs</a:t>
            </a:r>
            <a:endParaRPr lang="en-US" sz="1300" dirty="0"/>
          </a:p>
        </p:txBody>
      </p:sp>
      <p:sp>
        <p:nvSpPr>
          <p:cNvPr id="49" name="Text 47"/>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8"/>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51" name="Text 49"/>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52" name="Text 50"/>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−999 ROs</a:t>
            </a:r>
            <a:endParaRPr lang="en-US" sz="1300" dirty="0"/>
          </a:p>
        </p:txBody>
      </p:sp>
      <p:sp>
        <p:nvSpPr>
          <p:cNvPr id="53" name="Shape 51"/>
          <p:cNvSpPr/>
          <p:nvPr/>
        </p:nvSpPr>
        <p:spPr>
          <a:xfrm>
            <a:off x="4349496" y="5416906"/>
            <a:ext cx="3489960" cy="828446"/>
          </a:xfrm>
          <a:prstGeom prst="rect">
            <a:avLst/>
          </a:prstGeom>
          <a:solidFill>
            <a:srgbClr val="F7F7F7"/>
          </a:solidFill>
          <a:ln/>
        </p:spPr>
      </p:sp>
      <p:sp>
        <p:nvSpPr>
          <p:cNvPr id="54" name="Text 52"/>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53"/>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56" name="Text 54"/>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57" name="Text 55"/>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−239 ROs</a:t>
            </a:r>
            <a:endParaRPr lang="en-US" sz="1300" dirty="0"/>
          </a:p>
        </p:txBody>
      </p:sp>
      <p:sp>
        <p:nvSpPr>
          <p:cNvPr id="58" name="Shape 56"/>
          <p:cNvSpPr/>
          <p:nvPr/>
        </p:nvSpPr>
        <p:spPr>
          <a:xfrm>
            <a:off x="8040624" y="1371600"/>
            <a:ext cx="3489960" cy="45720"/>
          </a:xfrm>
          <a:prstGeom prst="rect">
            <a:avLst/>
          </a:prstGeom>
          <a:solidFill>
            <a:srgbClr val="2587C5"/>
          </a:solidFill>
          <a:ln/>
        </p:spPr>
      </p:sp>
      <p:sp>
        <p:nvSpPr>
          <p:cNvPr id="59" name="Text 5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Text 5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1" name="Shape 59"/>
          <p:cNvSpPr/>
          <p:nvPr/>
        </p:nvSpPr>
        <p:spPr>
          <a:xfrm>
            <a:off x="8040624" y="2103120"/>
            <a:ext cx="3489960" cy="828446"/>
          </a:xfrm>
          <a:prstGeom prst="rect">
            <a:avLst/>
          </a:prstGeom>
          <a:solidFill>
            <a:srgbClr val="F7F7F7"/>
          </a:solidFill>
          <a:ln/>
        </p:spPr>
      </p:sp>
      <p:sp>
        <p:nvSpPr>
          <p:cNvPr id="62" name="Text 6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6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64" name="Text 62"/>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65" name="Text 63"/>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+145 ROs</a:t>
            </a:r>
            <a:endParaRPr lang="en-US" sz="1300" dirty="0"/>
          </a:p>
        </p:txBody>
      </p:sp>
      <p:sp>
        <p:nvSpPr>
          <p:cNvPr id="66" name="Text 6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6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68" name="Text 66"/>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69" name="Text 67"/>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+124 ROs</a:t>
            </a:r>
            <a:endParaRPr lang="en-US" sz="1300" dirty="0"/>
          </a:p>
        </p:txBody>
      </p:sp>
      <p:sp>
        <p:nvSpPr>
          <p:cNvPr id="70" name="Shape 68"/>
          <p:cNvSpPr/>
          <p:nvPr/>
        </p:nvSpPr>
        <p:spPr>
          <a:xfrm>
            <a:off x="8040624" y="3760013"/>
            <a:ext cx="3489960" cy="828446"/>
          </a:xfrm>
          <a:prstGeom prst="rect">
            <a:avLst/>
          </a:prstGeom>
          <a:solidFill>
            <a:srgbClr val="F7F7F7"/>
          </a:solidFill>
          <a:ln/>
        </p:spPr>
      </p:sp>
      <p:sp>
        <p:nvSpPr>
          <p:cNvPr id="71" name="Text 6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7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73" name="Text 71"/>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74" name="Text 72"/>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+65 ROs</a:t>
            </a:r>
            <a:endParaRPr lang="en-US" sz="1300" dirty="0"/>
          </a:p>
        </p:txBody>
      </p:sp>
      <p:sp>
        <p:nvSpPr>
          <p:cNvPr id="75" name="Text 7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6" name="Text 7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77" name="Text 75"/>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78" name="Text 76"/>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+91 ROs</a:t>
            </a:r>
            <a:endParaRPr lang="en-US" sz="1300" dirty="0"/>
          </a:p>
        </p:txBody>
      </p:sp>
      <p:sp>
        <p:nvSpPr>
          <p:cNvPr id="79" name="Shape 77"/>
          <p:cNvSpPr/>
          <p:nvPr/>
        </p:nvSpPr>
        <p:spPr>
          <a:xfrm>
            <a:off x="8040624" y="5416906"/>
            <a:ext cx="3489960" cy="828446"/>
          </a:xfrm>
          <a:prstGeom prst="rect">
            <a:avLst/>
          </a:prstGeom>
          <a:solidFill>
            <a:srgbClr val="F7F7F7"/>
          </a:solidFill>
          <a:ln/>
        </p:spPr>
      </p:sp>
      <p:sp>
        <p:nvSpPr>
          <p:cNvPr id="80" name="Text 7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1" name="Text 7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82" name="Text 80"/>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83" name="Text 81"/>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+62 ROs</a:t>
            </a:r>
            <a:endParaRPr lang="en-US" sz="13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0.07 to 1.87, ahead of 2025 in all nine months. Each 0.1 hour per RO is worth $6.6M a year in gross.</a:t>
            </a:r>
            <a:endParaRPr lang="en-US" sz="15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8755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261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3346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356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420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0925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785616" y="3351233"/>
            <a:ext cx="179363"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1" name="Shape 39"/>
          <p:cNvSpPr/>
          <p:nvPr/>
        </p:nvSpPr>
        <p:spPr>
          <a:xfrm>
            <a:off x="3785616" y="3591128"/>
            <a:ext cx="17936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644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94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0462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968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978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978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9" name="Shape 67"/>
          <p:cNvSpPr/>
          <p:nvPr/>
        </p:nvSpPr>
        <p:spPr>
          <a:xfrm>
            <a:off x="3785616" y="5270397"/>
            <a:ext cx="44841"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484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7" name="Shape 75"/>
          <p:cNvSpPr/>
          <p:nvPr/>
        </p:nvSpPr>
        <p:spPr>
          <a:xfrm>
            <a:off x="3785616" y="5750188"/>
            <a:ext cx="4484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9336024" y="1911860"/>
            <a:ext cx="2989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9336024" y="2151755"/>
            <a:ext cx="2989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4947"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06130" y="2631546"/>
            <a:ext cx="2989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91183" y="2871442"/>
            <a:ext cx="44841"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76236" y="3111337"/>
            <a:ext cx="5978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31396" y="3351233"/>
            <a:ext cx="1046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1608" y="3591128"/>
            <a:ext cx="16441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6767" y="3831024"/>
            <a:ext cx="20925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6767" y="4070920"/>
            <a:ext cx="2092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1820" y="4310815"/>
            <a:ext cx="22420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5" name="Shape 123"/>
          <p:cNvSpPr/>
          <p:nvPr/>
        </p:nvSpPr>
        <p:spPr>
          <a:xfrm>
            <a:off x="9037086" y="4550711"/>
            <a:ext cx="29893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9037086" y="4790606"/>
            <a:ext cx="2989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902563" y="5030502"/>
            <a:ext cx="43346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3519" y="5270397"/>
            <a:ext cx="70250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641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7637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8862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6354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384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7579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3818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2565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1" name="Shape 59"/>
          <p:cNvSpPr/>
          <p:nvPr/>
        </p:nvSpPr>
        <p:spPr>
          <a:xfrm>
            <a:off x="3785616" y="4790606"/>
            <a:ext cx="22565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297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043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789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536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12825"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028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10028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775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21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268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268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9336024" y="3591128"/>
            <a:ext cx="37608"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37608"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25072"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3488"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3343" y="4790606"/>
            <a:ext cx="6268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3343" y="5030502"/>
            <a:ext cx="626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35735" y="5270397"/>
            <a:ext cx="10028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0229" y="5510293"/>
            <a:ext cx="275795"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1.3-1.4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0.8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64236"/>
          </a:xfrm>
          <a:prstGeom prst="rect">
            <a:avLst/>
          </a:prstGeom>
          <a:solidFill>
            <a:srgbClr val="FBEBEA"/>
          </a:solidFill>
          <a:ln/>
        </p:spPr>
      </p:sp>
      <p:sp>
        <p:nvSpPr>
          <p:cNvPr id="186" name="Text 18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7 of 33 stores are ahead of benchmark on net across the four services. 15 stores are under all four.</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 protected gross generated on our own vehicles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Shape 62"/>
          <p:cNvSpPr/>
          <p:nvPr/>
        </p:nvSpPr>
        <p:spPr>
          <a:xfrm>
            <a:off x="11466576" y="4625035"/>
            <a:ext cx="64008" cy="755294"/>
          </a:xfrm>
          <a:prstGeom prst="rect">
            <a:avLst/>
          </a:prstGeom>
          <a:solidFill>
            <a:srgbClr val="12A566"/>
          </a:solidFill>
          <a:ln/>
        </p:spPr>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12A566"/>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Our most valuable asset: this is what separates us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Always be teaching, training and educating</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Don't overlook opportunities to teach, train and educate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Clear pay plans, job descriptions and expectations, and hold people accountable to them</a:t>
            </a:r>
            <a:endParaRPr lang="en-US" sz="16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September to September,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 on average.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DF4FA"/>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September to September; the card is the Jan–Sep average month-end.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261872"/>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Clocked hours exclude vacation, paid time off and holiday pay.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largest gain in September,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+$2.03M</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+$194K</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+$985K</a:t>
            </a:r>
            <a:endParaRPr lang="en-US" sz="13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5" name="Text 23"/>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6" name="Text 24"/>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27" name="Shape 25"/>
          <p:cNvSpPr/>
          <p:nvPr/>
        </p:nvSpPr>
        <p:spPr>
          <a:xfrm>
            <a:off x="658368" y="5416906"/>
            <a:ext cx="3489960" cy="828446"/>
          </a:xfrm>
          <a:prstGeom prst="rect">
            <a:avLst/>
          </a:prstGeom>
          <a:solidFill>
            <a:srgbClr val="F7F7F7"/>
          </a:solidFill>
          <a:ln/>
        </p:spPr>
      </p:sp>
      <p:sp>
        <p:nvSpPr>
          <p:cNvPr id="28" name="Text 26"/>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7"/>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30" name="Text 28"/>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31" name="Text 29"/>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+$170K</a:t>
            </a:r>
            <a:endParaRPr lang="en-US" sz="1300" dirty="0"/>
          </a:p>
        </p:txBody>
      </p:sp>
      <p:sp>
        <p:nvSpPr>
          <p:cNvPr id="32" name="Shape 30"/>
          <p:cNvSpPr/>
          <p:nvPr/>
        </p:nvSpPr>
        <p:spPr>
          <a:xfrm>
            <a:off x="4349496" y="1371600"/>
            <a:ext cx="3489960" cy="45720"/>
          </a:xfrm>
          <a:prstGeom prst="rect">
            <a:avLst/>
          </a:prstGeom>
          <a:solidFill>
            <a:srgbClr val="C2352F"/>
          </a:solidFill>
          <a:ln/>
        </p:spPr>
      </p:sp>
      <p:sp>
        <p:nvSpPr>
          <p:cNvPr id="33" name="Text 31"/>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Text 32"/>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5" name="Shape 33"/>
          <p:cNvSpPr/>
          <p:nvPr/>
        </p:nvSpPr>
        <p:spPr>
          <a:xfrm>
            <a:off x="4349496" y="2103120"/>
            <a:ext cx="3489960" cy="828446"/>
          </a:xfrm>
          <a:prstGeom prst="rect">
            <a:avLst/>
          </a:prstGeom>
          <a:solidFill>
            <a:srgbClr val="F7F7F7"/>
          </a:solidFill>
          <a:ln/>
        </p:spPr>
      </p:sp>
      <p:sp>
        <p:nvSpPr>
          <p:cNvPr id="36" name="Text 34"/>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5"/>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8" name="Text 36"/>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9" name="Text 37"/>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−$410K</a:t>
            </a:r>
            <a:endParaRPr lang="en-US" sz="1300" dirty="0"/>
          </a:p>
        </p:txBody>
      </p:sp>
      <p:sp>
        <p:nvSpPr>
          <p:cNvPr id="40" name="Text 38"/>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9"/>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42" name="Text 40"/>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43" name="Text 41"/>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4" name="Shape 42"/>
          <p:cNvSpPr/>
          <p:nvPr/>
        </p:nvSpPr>
        <p:spPr>
          <a:xfrm>
            <a:off x="4349496" y="3760013"/>
            <a:ext cx="3489960" cy="828446"/>
          </a:xfrm>
          <a:prstGeom prst="rect">
            <a:avLst/>
          </a:prstGeom>
          <a:solidFill>
            <a:srgbClr val="F7F7F7"/>
          </a:solidFill>
          <a:ln/>
        </p:spPr>
      </p:sp>
      <p:sp>
        <p:nvSpPr>
          <p:cNvPr id="45" name="Text 43"/>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44"/>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7" name="Text 45"/>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8" name="Text 46"/>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−$822K</a:t>
            </a:r>
            <a:endParaRPr lang="en-US" sz="1300" dirty="0"/>
          </a:p>
        </p:txBody>
      </p:sp>
      <p:sp>
        <p:nvSpPr>
          <p:cNvPr id="49" name="Shape 47"/>
          <p:cNvSpPr/>
          <p:nvPr/>
        </p:nvSpPr>
        <p:spPr>
          <a:xfrm>
            <a:off x="7775448" y="4625035"/>
            <a:ext cx="64008" cy="755294"/>
          </a:xfrm>
          <a:prstGeom prst="rect">
            <a:avLst/>
          </a:prstGeom>
          <a:solidFill>
            <a:srgbClr val="2587C5"/>
          </a:solidFill>
          <a:ln/>
        </p:spPr>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−$586K</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−$164K</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Shape 61"/>
          <p:cNvSpPr/>
          <p:nvPr/>
        </p:nvSpPr>
        <p:spPr>
          <a:xfrm>
            <a:off x="11466576" y="2139696"/>
            <a:ext cx="64008" cy="755294"/>
          </a:xfrm>
          <a:prstGeom prst="rect">
            <a:avLst/>
          </a:prstGeom>
          <a:solidFill>
            <a:srgbClr val="2587C5"/>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+$81K</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+6.5%</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+46.1%</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+45.4%</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+0.2%</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+5.9%</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vs Last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+$5.11M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+2.1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+9.6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+1.3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−2.2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+5.4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+30.3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+28.4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−0.7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LV</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Customer Pay</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−1.9%</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−10.0%</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−4.8%</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LABOR $ PER RO</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−0.8%</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−11.1%</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−12.3%</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Biggest Movers This Year: Profit and Process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578962" y="1691640"/>
            <a:ext cx="10973" cy="3977640"/>
          </a:xfrm>
          <a:prstGeom prst="rect">
            <a:avLst/>
          </a:prstGeom>
          <a:solidFill>
            <a:srgbClr val="D9D9D9"/>
          </a:solidFill>
          <a:ln/>
        </p:spPr>
      </p:sp>
      <p:sp>
        <p:nvSpPr>
          <p:cNvPr id="20" name="Shape 18"/>
          <p:cNvSpPr/>
          <p:nvPr/>
        </p:nvSpPr>
        <p:spPr>
          <a:xfrm>
            <a:off x="6249010" y="1691640"/>
            <a:ext cx="10973" cy="3977640"/>
          </a:xfrm>
          <a:prstGeom prst="rect">
            <a:avLst/>
          </a:prstGeom>
          <a:solidFill>
            <a:srgbClr val="D9D9D9"/>
          </a:solidFill>
          <a:ln/>
        </p:spPr>
      </p:sp>
      <p:sp>
        <p:nvSpPr>
          <p:cNvPr id="21" name="Shape 19"/>
          <p:cNvSpPr/>
          <p:nvPr/>
        </p:nvSpPr>
        <p:spPr>
          <a:xfrm>
            <a:off x="8919058" y="1691640"/>
            <a:ext cx="10973" cy="3977640"/>
          </a:xfrm>
          <a:prstGeom prst="rect">
            <a:avLst/>
          </a:prstGeom>
          <a:solidFill>
            <a:srgbClr val="D9D9D9"/>
          </a:solidFill>
          <a:ln/>
        </p:spPr>
      </p:sp>
      <p:sp>
        <p:nvSpPr>
          <p:cNvPr id="22" name="Shape 20"/>
          <p:cNvSpPr/>
          <p:nvPr/>
        </p:nvSpPr>
        <p:spPr>
          <a:xfrm>
            <a:off x="969264" y="1691640"/>
            <a:ext cx="2560320" cy="45720"/>
          </a:xfrm>
          <a:prstGeom prst="rect">
            <a:avLst/>
          </a:prstGeom>
          <a:solidFill>
            <a:srgbClr val="12A566"/>
          </a:solidFill>
          <a:ln/>
        </p:spPr>
      </p:sp>
      <p:sp>
        <p:nvSpPr>
          <p:cNvPr id="23" name="Text 21"/>
          <p:cNvSpPr txBox="1"/>
          <p:nvPr/>
        </p:nvSpPr>
        <p:spPr>
          <a:xfrm>
            <a:off x="987552"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OPS NET PROFIT</a:t>
            </a:r>
            <a:endParaRPr lang="en-US" sz="1300" dirty="0"/>
          </a:p>
        </p:txBody>
      </p:sp>
      <p:sp>
        <p:nvSpPr>
          <p:cNvPr id="24" name="Text 22"/>
          <p:cNvSpPr txBox="1"/>
          <p:nvPr/>
        </p:nvSpPr>
        <p:spPr>
          <a:xfrm>
            <a:off x="987552"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+$1.05M</a:t>
            </a:r>
            <a:endParaRPr lang="en-US" sz="1300" dirty="0"/>
          </a:p>
        </p:txBody>
      </p:sp>
      <p:sp>
        <p:nvSpPr>
          <p:cNvPr id="25" name="Text 23"/>
          <p:cNvSpPr txBox="1"/>
          <p:nvPr/>
        </p:nvSpPr>
        <p:spPr>
          <a:xfrm>
            <a:off x="987552"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26" name="Text 24"/>
          <p:cNvSpPr txBox="1"/>
          <p:nvPr/>
        </p:nvSpPr>
        <p:spPr>
          <a:xfrm>
            <a:off x="987552"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27" name="Text 25"/>
          <p:cNvSpPr txBox="1"/>
          <p:nvPr/>
        </p:nvSpPr>
        <p:spPr>
          <a:xfrm>
            <a:off x="987552"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Text 26"/>
          <p:cNvSpPr txBox="1"/>
          <p:nvPr/>
        </p:nvSpPr>
        <p:spPr>
          <a:xfrm>
            <a:off x="987552"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29" name="Text 27"/>
          <p:cNvSpPr txBox="1"/>
          <p:nvPr/>
        </p:nvSpPr>
        <p:spPr>
          <a:xfrm>
            <a:off x="987552"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0" name="Text 28"/>
          <p:cNvSpPr txBox="1"/>
          <p:nvPr/>
        </p:nvSpPr>
        <p:spPr>
          <a:xfrm>
            <a:off x="987552"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31" name="Text 29"/>
          <p:cNvSpPr txBox="1"/>
          <p:nvPr/>
        </p:nvSpPr>
        <p:spPr>
          <a:xfrm>
            <a:off x="987552"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2" name="Text 30"/>
          <p:cNvSpPr txBox="1"/>
          <p:nvPr/>
        </p:nvSpPr>
        <p:spPr>
          <a:xfrm>
            <a:off x="987552"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−$25K</a:t>
            </a:r>
            <a:endParaRPr lang="en-US" sz="1600" dirty="0"/>
          </a:p>
        </p:txBody>
      </p:sp>
      <p:sp>
        <p:nvSpPr>
          <p:cNvPr id="33" name="Text 31"/>
          <p:cNvSpPr txBox="1"/>
          <p:nvPr/>
        </p:nvSpPr>
        <p:spPr>
          <a:xfrm>
            <a:off x="987552"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34" name="Text 32"/>
          <p:cNvSpPr txBox="1"/>
          <p:nvPr/>
        </p:nvSpPr>
        <p:spPr>
          <a:xfrm>
            <a:off x="987552"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−$30K</a:t>
            </a:r>
            <a:endParaRPr lang="en-US" sz="1600" dirty="0"/>
          </a:p>
        </p:txBody>
      </p:sp>
      <p:sp>
        <p:nvSpPr>
          <p:cNvPr id="35" name="Text 33"/>
          <p:cNvSpPr txBox="1"/>
          <p:nvPr/>
        </p:nvSpPr>
        <p:spPr>
          <a:xfrm>
            <a:off x="987552"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6" name="Text 34"/>
          <p:cNvSpPr txBox="1"/>
          <p:nvPr/>
        </p:nvSpPr>
        <p:spPr>
          <a:xfrm>
            <a:off x="987552"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−$61K</a:t>
            </a:r>
            <a:endParaRPr lang="en-US" sz="1600" dirty="0"/>
          </a:p>
        </p:txBody>
      </p:sp>
      <p:sp>
        <p:nvSpPr>
          <p:cNvPr id="37" name="Shape 35"/>
          <p:cNvSpPr/>
          <p:nvPr/>
        </p:nvSpPr>
        <p:spPr>
          <a:xfrm>
            <a:off x="3639312" y="1691640"/>
            <a:ext cx="2560320" cy="45720"/>
          </a:xfrm>
          <a:prstGeom prst="rect">
            <a:avLst/>
          </a:prstGeom>
          <a:solidFill>
            <a:srgbClr val="12A566"/>
          </a:solidFill>
          <a:ln/>
        </p:spPr>
      </p:sp>
      <p:sp>
        <p:nvSpPr>
          <p:cNvPr id="38" name="Text 36"/>
          <p:cNvSpPr txBox="1"/>
          <p:nvPr/>
        </p:nvSpPr>
        <p:spPr>
          <a:xfrm>
            <a:off x="3657600"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FIXED ABSORPTION</a:t>
            </a:r>
            <a:endParaRPr lang="en-US" sz="1300" dirty="0"/>
          </a:p>
        </p:txBody>
      </p:sp>
      <p:sp>
        <p:nvSpPr>
          <p:cNvPr id="39" name="Text 37"/>
          <p:cNvSpPr txBox="1"/>
          <p:nvPr/>
        </p:nvSpPr>
        <p:spPr>
          <a:xfrm>
            <a:off x="3657600"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+4.2 pts</a:t>
            </a:r>
            <a:endParaRPr lang="en-US" sz="1300" dirty="0"/>
          </a:p>
        </p:txBody>
      </p:sp>
      <p:sp>
        <p:nvSpPr>
          <p:cNvPr id="40" name="Text 38"/>
          <p:cNvSpPr txBox="1"/>
          <p:nvPr/>
        </p:nvSpPr>
        <p:spPr>
          <a:xfrm>
            <a:off x="3657600"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Henderson</a:t>
            </a:r>
            <a:endParaRPr lang="en-US" sz="1300" dirty="0"/>
          </a:p>
        </p:txBody>
      </p:sp>
      <p:sp>
        <p:nvSpPr>
          <p:cNvPr id="41" name="Text 39"/>
          <p:cNvSpPr txBox="1"/>
          <p:nvPr/>
        </p:nvSpPr>
        <p:spPr>
          <a:xfrm>
            <a:off x="3657600"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+16.2 pts</a:t>
            </a:r>
            <a:endParaRPr lang="en-US" sz="1600" dirty="0"/>
          </a:p>
        </p:txBody>
      </p:sp>
      <p:sp>
        <p:nvSpPr>
          <p:cNvPr id="42" name="Text 40"/>
          <p:cNvSpPr txBox="1"/>
          <p:nvPr/>
        </p:nvSpPr>
        <p:spPr>
          <a:xfrm>
            <a:off x="3657600"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43" name="Text 41"/>
          <p:cNvSpPr txBox="1"/>
          <p:nvPr/>
        </p:nvSpPr>
        <p:spPr>
          <a:xfrm>
            <a:off x="3657600"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44" name="Text 42"/>
          <p:cNvSpPr txBox="1"/>
          <p:nvPr/>
        </p:nvSpPr>
        <p:spPr>
          <a:xfrm>
            <a:off x="3657600"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45" name="Text 43"/>
          <p:cNvSpPr txBox="1"/>
          <p:nvPr/>
        </p:nvSpPr>
        <p:spPr>
          <a:xfrm>
            <a:off x="3657600"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46" name="Text 44"/>
          <p:cNvSpPr txBox="1"/>
          <p:nvPr/>
        </p:nvSpPr>
        <p:spPr>
          <a:xfrm>
            <a:off x="3657600"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7" name="Text 45"/>
          <p:cNvSpPr txBox="1"/>
          <p:nvPr/>
        </p:nvSpPr>
        <p:spPr>
          <a:xfrm>
            <a:off x="3657600"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8" name="Text 46"/>
          <p:cNvSpPr txBox="1"/>
          <p:nvPr/>
        </p:nvSpPr>
        <p:spPr>
          <a:xfrm>
            <a:off x="3657600"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49" name="Text 47"/>
          <p:cNvSpPr txBox="1"/>
          <p:nvPr/>
        </p:nvSpPr>
        <p:spPr>
          <a:xfrm>
            <a:off x="3657600"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−6.6 pts</a:t>
            </a:r>
            <a:endParaRPr lang="en-US" sz="1600" dirty="0"/>
          </a:p>
        </p:txBody>
      </p:sp>
      <p:sp>
        <p:nvSpPr>
          <p:cNvPr id="50" name="Text 48"/>
          <p:cNvSpPr txBox="1"/>
          <p:nvPr/>
        </p:nvSpPr>
        <p:spPr>
          <a:xfrm>
            <a:off x="3657600"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51" name="Text 49"/>
          <p:cNvSpPr txBox="1"/>
          <p:nvPr/>
        </p:nvSpPr>
        <p:spPr>
          <a:xfrm>
            <a:off x="3657600"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52" name="Shape 50"/>
          <p:cNvSpPr/>
          <p:nvPr/>
        </p:nvSpPr>
        <p:spPr>
          <a:xfrm>
            <a:off x="6309360" y="1691640"/>
            <a:ext cx="2560320" cy="45720"/>
          </a:xfrm>
          <a:prstGeom prst="rect">
            <a:avLst/>
          </a:prstGeom>
          <a:solidFill>
            <a:srgbClr val="12A566"/>
          </a:solidFill>
          <a:ln/>
        </p:spPr>
      </p:sp>
      <p:sp>
        <p:nvSpPr>
          <p:cNvPr id="53" name="Text 51"/>
          <p:cNvSpPr txBox="1"/>
          <p:nvPr/>
        </p:nvSpPr>
        <p:spPr>
          <a:xfrm>
            <a:off x="6327648"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54" name="Text 52"/>
          <p:cNvSpPr txBox="1"/>
          <p:nvPr/>
        </p:nvSpPr>
        <p:spPr>
          <a:xfrm>
            <a:off x="6327648"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55" name="Text 53"/>
          <p:cNvSpPr txBox="1"/>
          <p:nvPr/>
        </p:nvSpPr>
        <p:spPr>
          <a:xfrm>
            <a:off x="6327648"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56" name="Text 54"/>
          <p:cNvSpPr txBox="1"/>
          <p:nvPr/>
        </p:nvSpPr>
        <p:spPr>
          <a:xfrm>
            <a:off x="6327648"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6327648"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Text 56"/>
          <p:cNvSpPr txBox="1"/>
          <p:nvPr/>
        </p:nvSpPr>
        <p:spPr>
          <a:xfrm>
            <a:off x="6327648"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59" name="Text 57"/>
          <p:cNvSpPr txBox="1"/>
          <p:nvPr/>
        </p:nvSpPr>
        <p:spPr>
          <a:xfrm>
            <a:off x="6327648"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60" name="Text 58"/>
          <p:cNvSpPr txBox="1"/>
          <p:nvPr/>
        </p:nvSpPr>
        <p:spPr>
          <a:xfrm>
            <a:off x="6327648"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1" name="Text 59"/>
          <p:cNvSpPr txBox="1"/>
          <p:nvPr/>
        </p:nvSpPr>
        <p:spPr>
          <a:xfrm>
            <a:off x="6327648"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62" name="Text 60"/>
          <p:cNvSpPr txBox="1"/>
          <p:nvPr/>
        </p:nvSpPr>
        <p:spPr>
          <a:xfrm>
            <a:off x="6327648"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−3.2 pts</a:t>
            </a:r>
            <a:endParaRPr lang="en-US" sz="1600" dirty="0"/>
          </a:p>
        </p:txBody>
      </p:sp>
      <p:sp>
        <p:nvSpPr>
          <p:cNvPr id="63" name="Text 61"/>
          <p:cNvSpPr txBox="1"/>
          <p:nvPr/>
        </p:nvSpPr>
        <p:spPr>
          <a:xfrm>
            <a:off x="6327648"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64" name="Text 62"/>
          <p:cNvSpPr txBox="1"/>
          <p:nvPr/>
        </p:nvSpPr>
        <p:spPr>
          <a:xfrm>
            <a:off x="6327648"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−3.9 pts</a:t>
            </a:r>
            <a:endParaRPr lang="en-US" sz="1600" dirty="0"/>
          </a:p>
        </p:txBody>
      </p:sp>
      <p:sp>
        <p:nvSpPr>
          <p:cNvPr id="65" name="Text 63"/>
          <p:cNvSpPr txBox="1"/>
          <p:nvPr/>
        </p:nvSpPr>
        <p:spPr>
          <a:xfrm>
            <a:off x="6327648"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327648"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67" name="Shape 65"/>
          <p:cNvSpPr/>
          <p:nvPr/>
        </p:nvSpPr>
        <p:spPr>
          <a:xfrm>
            <a:off x="8979408" y="1691640"/>
            <a:ext cx="2560320" cy="45720"/>
          </a:xfrm>
          <a:prstGeom prst="rect">
            <a:avLst/>
          </a:prstGeom>
          <a:solidFill>
            <a:srgbClr val="12A566"/>
          </a:solidFill>
          <a:ln/>
        </p:spPr>
      </p:sp>
      <p:sp>
        <p:nvSpPr>
          <p:cNvPr id="68" name="Text 66"/>
          <p:cNvSpPr txBox="1"/>
          <p:nvPr/>
        </p:nvSpPr>
        <p:spPr>
          <a:xfrm>
            <a:off x="8997696" y="1773936"/>
            <a:ext cx="252374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OPCODES, FOUR COMBINED</a:t>
            </a:r>
            <a:endParaRPr lang="en-US" sz="1300" dirty="0"/>
          </a:p>
        </p:txBody>
      </p:sp>
      <p:sp>
        <p:nvSpPr>
          <p:cNvPr id="69" name="Text 67"/>
          <p:cNvSpPr txBox="1"/>
          <p:nvPr/>
        </p:nvSpPr>
        <p:spPr>
          <a:xfrm>
            <a:off x="8997696" y="1993392"/>
            <a:ext cx="252374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70" name="Text 68"/>
          <p:cNvSpPr txBox="1"/>
          <p:nvPr/>
        </p:nvSpPr>
        <p:spPr>
          <a:xfrm>
            <a:off x="8997696" y="2377440"/>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71" name="Text 69"/>
          <p:cNvSpPr txBox="1"/>
          <p:nvPr/>
        </p:nvSpPr>
        <p:spPr>
          <a:xfrm>
            <a:off x="8997696" y="2596896"/>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+36.4 pts</a:t>
            </a:r>
            <a:endParaRPr lang="en-US" sz="1600" dirty="0"/>
          </a:p>
        </p:txBody>
      </p:sp>
      <p:sp>
        <p:nvSpPr>
          <p:cNvPr id="72" name="Text 70"/>
          <p:cNvSpPr txBox="1"/>
          <p:nvPr/>
        </p:nvSpPr>
        <p:spPr>
          <a:xfrm>
            <a:off x="8997696" y="2907792"/>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3" name="Text 71"/>
          <p:cNvSpPr txBox="1"/>
          <p:nvPr/>
        </p:nvSpPr>
        <p:spPr>
          <a:xfrm>
            <a:off x="8997696" y="3127248"/>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 pts</a:t>
            </a:r>
            <a:endParaRPr lang="en-US" sz="1600" dirty="0"/>
          </a:p>
        </p:txBody>
      </p:sp>
      <p:sp>
        <p:nvSpPr>
          <p:cNvPr id="74" name="Text 72"/>
          <p:cNvSpPr txBox="1"/>
          <p:nvPr/>
        </p:nvSpPr>
        <p:spPr>
          <a:xfrm>
            <a:off x="8997696" y="34381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75" name="Text 73"/>
          <p:cNvSpPr txBox="1"/>
          <p:nvPr/>
        </p:nvSpPr>
        <p:spPr>
          <a:xfrm>
            <a:off x="8997696" y="3657600"/>
            <a:ext cx="256032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+15.9 pts</a:t>
            </a:r>
            <a:endParaRPr lang="en-US" sz="1600" dirty="0"/>
          </a:p>
        </p:txBody>
      </p:sp>
      <p:sp>
        <p:nvSpPr>
          <p:cNvPr id="76" name="Text 74"/>
          <p:cNvSpPr txBox="1"/>
          <p:nvPr/>
        </p:nvSpPr>
        <p:spPr>
          <a:xfrm>
            <a:off x="8997696" y="4123944"/>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77" name="Text 75"/>
          <p:cNvSpPr txBox="1"/>
          <p:nvPr/>
        </p:nvSpPr>
        <p:spPr>
          <a:xfrm>
            <a:off x="8997696" y="4343400"/>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−8.1 pts</a:t>
            </a:r>
            <a:endParaRPr lang="en-US" sz="1600" dirty="0"/>
          </a:p>
        </p:txBody>
      </p:sp>
      <p:sp>
        <p:nvSpPr>
          <p:cNvPr id="78" name="Text 76"/>
          <p:cNvSpPr txBox="1"/>
          <p:nvPr/>
        </p:nvSpPr>
        <p:spPr>
          <a:xfrm>
            <a:off x="8997696" y="4654296"/>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9" name="Text 77"/>
          <p:cNvSpPr txBox="1"/>
          <p:nvPr/>
        </p:nvSpPr>
        <p:spPr>
          <a:xfrm>
            <a:off x="8997696" y="4873752"/>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80" name="Text 78"/>
          <p:cNvSpPr txBox="1"/>
          <p:nvPr/>
        </p:nvSpPr>
        <p:spPr>
          <a:xfrm>
            <a:off x="8997696" y="5184648"/>
            <a:ext cx="257860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81" name="Text 79"/>
          <p:cNvSpPr txBox="1"/>
          <p:nvPr/>
        </p:nvSpPr>
        <p:spPr>
          <a:xfrm>
            <a:off x="8997696" y="5404104"/>
            <a:ext cx="256032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−11.3 pts</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Vs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 Also tied at 2 last year: Nissan.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55648"/>
            <a:ext cx="10945368" cy="438912"/>
          </a:xfrm>
          <a:prstGeom prst="rect">
            <a:avLst/>
          </a:prstGeom>
          <a:solidFill>
            <a:srgbClr val="F7F7F7"/>
          </a:solidFill>
          <a:ln/>
        </p:spPr>
      </p:sp>
      <p:sp>
        <p:nvSpPr>
          <p:cNvPr id="12" name="Text 10"/>
          <p:cNvSpPr txBox="1"/>
          <p:nvPr/>
        </p:nvSpPr>
        <p:spPr>
          <a:xfrm>
            <a:off x="749808" y="175564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3" name="Text 11"/>
          <p:cNvSpPr txBox="1"/>
          <p:nvPr/>
        </p:nvSpPr>
        <p:spPr>
          <a:xfrm>
            <a:off x="3520440" y="175564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Gross per Month</a:t>
            </a:r>
            <a:endParaRPr lang="en-US" sz="1400" dirty="0"/>
          </a:p>
        </p:txBody>
      </p:sp>
      <p:sp>
        <p:nvSpPr>
          <p:cNvPr id="14" name="Text 12"/>
          <p:cNvSpPr txBox="1"/>
          <p:nvPr/>
        </p:nvSpPr>
        <p:spPr>
          <a:xfrm>
            <a:off x="5669280" y="175564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sp>
        <p:nvSpPr>
          <p:cNvPr id="15" name="Text 13"/>
          <p:cNvSpPr txBox="1"/>
          <p:nvPr/>
        </p:nvSpPr>
        <p:spPr>
          <a:xfrm>
            <a:off x="7726680" y="175564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6" name="Text 14"/>
          <p:cNvSpPr txBox="1"/>
          <p:nvPr/>
        </p:nvSpPr>
        <p:spPr>
          <a:xfrm>
            <a:off x="9326880" y="175564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+34.6%</a:t>
            </a:r>
            <a:endParaRPr lang="en-US" sz="1400" dirty="0"/>
          </a:p>
        </p:txBody>
      </p:sp>
      <p:sp>
        <p:nvSpPr>
          <p:cNvPr id="17" name="Text 15"/>
          <p:cNvSpPr txBox="1"/>
          <p:nvPr/>
        </p:nvSpPr>
        <p:spPr>
          <a:xfrm>
            <a:off x="749808" y="219456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8" name="Text 16"/>
          <p:cNvSpPr txBox="1"/>
          <p:nvPr/>
        </p:nvSpPr>
        <p:spPr>
          <a:xfrm>
            <a:off x="3520440" y="219456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ROs per Month</a:t>
            </a:r>
            <a:endParaRPr lang="en-US" sz="1400" dirty="0"/>
          </a:p>
        </p:txBody>
      </p:sp>
      <p:sp>
        <p:nvSpPr>
          <p:cNvPr id="19" name="Text 17"/>
          <p:cNvSpPr txBox="1"/>
          <p:nvPr/>
        </p:nvSpPr>
        <p:spPr>
          <a:xfrm>
            <a:off x="5669280" y="219456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sp>
        <p:nvSpPr>
          <p:cNvPr id="20" name="Text 18"/>
          <p:cNvSpPr txBox="1"/>
          <p:nvPr/>
        </p:nvSpPr>
        <p:spPr>
          <a:xfrm>
            <a:off x="7726680" y="219456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1" name="Text 19"/>
          <p:cNvSpPr txBox="1"/>
          <p:nvPr/>
        </p:nvSpPr>
        <p:spPr>
          <a:xfrm>
            <a:off x="9326880" y="219456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+34.0%</a:t>
            </a:r>
            <a:endParaRPr lang="en-US" sz="1400" dirty="0"/>
          </a:p>
        </p:txBody>
      </p:sp>
      <p:sp>
        <p:nvSpPr>
          <p:cNvPr id="22" name="Shape 20"/>
          <p:cNvSpPr/>
          <p:nvPr/>
        </p:nvSpPr>
        <p:spPr>
          <a:xfrm>
            <a:off x="621792" y="2633472"/>
            <a:ext cx="10945368" cy="438912"/>
          </a:xfrm>
          <a:prstGeom prst="rect">
            <a:avLst/>
          </a:prstGeom>
          <a:solidFill>
            <a:srgbClr val="F7F7F7"/>
          </a:solidFill>
          <a:ln/>
        </p:spPr>
      </p:sp>
      <p:sp>
        <p:nvSpPr>
          <p:cNvPr id="23" name="Text 21"/>
          <p:cNvSpPr txBox="1"/>
          <p:nvPr/>
        </p:nvSpPr>
        <p:spPr>
          <a:xfrm>
            <a:off x="749808" y="263347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4" name="Text 22"/>
          <p:cNvSpPr txBox="1"/>
          <p:nvPr/>
        </p:nvSpPr>
        <p:spPr>
          <a:xfrm>
            <a:off x="3520440" y="263347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Hours per RO</a:t>
            </a:r>
            <a:endParaRPr lang="en-US" sz="1400" dirty="0"/>
          </a:p>
        </p:txBody>
      </p:sp>
      <p:sp>
        <p:nvSpPr>
          <p:cNvPr id="25" name="Text 23"/>
          <p:cNvSpPr txBox="1"/>
          <p:nvPr/>
        </p:nvSpPr>
        <p:spPr>
          <a:xfrm>
            <a:off x="5669280" y="263347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sp>
        <p:nvSpPr>
          <p:cNvPr id="26" name="Text 24"/>
          <p:cNvSpPr txBox="1"/>
          <p:nvPr/>
        </p:nvSpPr>
        <p:spPr>
          <a:xfrm>
            <a:off x="7726680" y="263347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7" name="Text 25"/>
          <p:cNvSpPr txBox="1"/>
          <p:nvPr/>
        </p:nvSpPr>
        <p:spPr>
          <a:xfrm>
            <a:off x="9326880" y="263347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+22.2%</a:t>
            </a:r>
            <a:endParaRPr lang="en-US" sz="1400" dirty="0"/>
          </a:p>
        </p:txBody>
      </p:sp>
      <p:sp>
        <p:nvSpPr>
          <p:cNvPr id="28" name="Text 26"/>
          <p:cNvSpPr txBox="1"/>
          <p:nvPr/>
        </p:nvSpPr>
        <p:spPr>
          <a:xfrm>
            <a:off x="749808" y="307238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9" name="Text 27"/>
          <p:cNvSpPr txBox="1"/>
          <p:nvPr/>
        </p:nvSpPr>
        <p:spPr>
          <a:xfrm>
            <a:off x="3520440" y="307238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ELR</a:t>
            </a:r>
            <a:endParaRPr lang="en-US" sz="1400" dirty="0"/>
          </a:p>
        </p:txBody>
      </p:sp>
      <p:sp>
        <p:nvSpPr>
          <p:cNvPr id="30" name="Text 28"/>
          <p:cNvSpPr txBox="1"/>
          <p:nvPr/>
        </p:nvSpPr>
        <p:spPr>
          <a:xfrm>
            <a:off x="5669280" y="307238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sp>
        <p:nvSpPr>
          <p:cNvPr id="31" name="Text 29"/>
          <p:cNvSpPr txBox="1"/>
          <p:nvPr/>
        </p:nvSpPr>
        <p:spPr>
          <a:xfrm>
            <a:off x="7726680" y="307238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2" name="Text 30"/>
          <p:cNvSpPr txBox="1"/>
          <p:nvPr/>
        </p:nvSpPr>
        <p:spPr>
          <a:xfrm>
            <a:off x="9326880" y="307238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+10.6%</a:t>
            </a:r>
            <a:endParaRPr lang="en-US" sz="1400" dirty="0"/>
          </a:p>
        </p:txBody>
      </p:sp>
      <p:sp>
        <p:nvSpPr>
          <p:cNvPr id="33" name="Shape 31"/>
          <p:cNvSpPr/>
          <p:nvPr/>
        </p:nvSpPr>
        <p:spPr>
          <a:xfrm>
            <a:off x="621792" y="3511296"/>
            <a:ext cx="10945368" cy="438912"/>
          </a:xfrm>
          <a:prstGeom prst="rect">
            <a:avLst/>
          </a:prstGeom>
          <a:solidFill>
            <a:srgbClr val="F7F7F7"/>
          </a:solidFill>
          <a:ln/>
        </p:spPr>
      </p:sp>
      <p:sp>
        <p:nvSpPr>
          <p:cNvPr id="34" name="Text 32"/>
          <p:cNvSpPr txBox="1"/>
          <p:nvPr/>
        </p:nvSpPr>
        <p:spPr>
          <a:xfrm>
            <a:off x="749808" y="3511296"/>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35" name="Text 33"/>
          <p:cNvSpPr txBox="1"/>
          <p:nvPr/>
        </p:nvSpPr>
        <p:spPr>
          <a:xfrm>
            <a:off x="3520440" y="3511296"/>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5669280" y="3511296"/>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sp>
        <p:nvSpPr>
          <p:cNvPr id="37" name="Text 35"/>
          <p:cNvSpPr txBox="1"/>
          <p:nvPr/>
        </p:nvSpPr>
        <p:spPr>
          <a:xfrm>
            <a:off x="7726680" y="3511296"/>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8" name="Text 36"/>
          <p:cNvSpPr txBox="1"/>
          <p:nvPr/>
        </p:nvSpPr>
        <p:spPr>
          <a:xfrm>
            <a:off x="9326880" y="3511296"/>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+7.2 pts</a:t>
            </a:r>
            <a:endParaRPr lang="en-US" sz="1400" dirty="0"/>
          </a:p>
        </p:txBody>
      </p:sp>
      <p:sp>
        <p:nvSpPr>
          <p:cNvPr id="39" name="Text 37"/>
          <p:cNvSpPr txBox="1"/>
          <p:nvPr/>
        </p:nvSpPr>
        <p:spPr>
          <a:xfrm>
            <a:off x="749808" y="3950208"/>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40" name="Text 38"/>
          <p:cNvSpPr txBox="1"/>
          <p:nvPr/>
        </p:nvSpPr>
        <p:spPr>
          <a:xfrm>
            <a:off x="3520440" y="3950208"/>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alignment</a:t>
            </a:r>
            <a:endParaRPr lang="en-US" sz="1400" dirty="0"/>
          </a:p>
        </p:txBody>
      </p:sp>
      <p:sp>
        <p:nvSpPr>
          <p:cNvPr id="41" name="Text 39"/>
          <p:cNvSpPr txBox="1"/>
          <p:nvPr/>
        </p:nvSpPr>
        <p:spPr>
          <a:xfrm>
            <a:off x="5669280" y="3950208"/>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21.0% → 31.7%</a:t>
            </a:r>
            <a:endParaRPr lang="en-US" sz="1400" dirty="0"/>
          </a:p>
        </p:txBody>
      </p:sp>
      <p:sp>
        <p:nvSpPr>
          <p:cNvPr id="42" name="Text 40"/>
          <p:cNvSpPr txBox="1"/>
          <p:nvPr/>
        </p:nvSpPr>
        <p:spPr>
          <a:xfrm>
            <a:off x="7726680" y="3950208"/>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41"/>
          <p:cNvSpPr txBox="1"/>
          <p:nvPr/>
        </p:nvSpPr>
        <p:spPr>
          <a:xfrm>
            <a:off x="9326880" y="3950208"/>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+10.7 pts</a:t>
            </a:r>
            <a:endParaRPr lang="en-US" sz="1400" dirty="0"/>
          </a:p>
        </p:txBody>
      </p:sp>
      <p:sp>
        <p:nvSpPr>
          <p:cNvPr id="44" name="Shape 42"/>
          <p:cNvSpPr/>
          <p:nvPr/>
        </p:nvSpPr>
        <p:spPr>
          <a:xfrm>
            <a:off x="621792" y="4389120"/>
            <a:ext cx="10945368" cy="438912"/>
          </a:xfrm>
          <a:prstGeom prst="rect">
            <a:avLst/>
          </a:prstGeom>
          <a:solidFill>
            <a:srgbClr val="F7F7F7"/>
          </a:solidFill>
          <a:ln/>
        </p:spPr>
      </p:sp>
      <p:sp>
        <p:nvSpPr>
          <p:cNvPr id="45" name="Text 43"/>
          <p:cNvSpPr txBox="1"/>
          <p:nvPr/>
        </p:nvSpPr>
        <p:spPr>
          <a:xfrm>
            <a:off x="749808" y="4389120"/>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3520440" y="4389120"/>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balance</a:t>
            </a:r>
            <a:endParaRPr lang="en-US" sz="1400" dirty="0"/>
          </a:p>
        </p:txBody>
      </p:sp>
      <p:sp>
        <p:nvSpPr>
          <p:cNvPr id="47" name="Text 45"/>
          <p:cNvSpPr txBox="1"/>
          <p:nvPr/>
        </p:nvSpPr>
        <p:spPr>
          <a:xfrm>
            <a:off x="5669280" y="4389120"/>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sp>
        <p:nvSpPr>
          <p:cNvPr id="48" name="Text 46"/>
          <p:cNvSpPr txBox="1"/>
          <p:nvPr/>
        </p:nvSpPr>
        <p:spPr>
          <a:xfrm>
            <a:off x="7726680" y="4389120"/>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9" name="Text 47"/>
          <p:cNvSpPr txBox="1"/>
          <p:nvPr/>
        </p:nvSpPr>
        <p:spPr>
          <a:xfrm>
            <a:off x="9326880" y="4389120"/>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+9.2 pts</a:t>
            </a:r>
            <a:endParaRPr lang="en-US" sz="1400" dirty="0"/>
          </a:p>
        </p:txBody>
      </p:sp>
      <p:sp>
        <p:nvSpPr>
          <p:cNvPr id="50" name="Text 48"/>
          <p:cNvSpPr txBox="1"/>
          <p:nvPr/>
        </p:nvSpPr>
        <p:spPr>
          <a:xfrm>
            <a:off x="749808" y="4828032"/>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1" name="Text 49"/>
          <p:cNvSpPr txBox="1"/>
          <p:nvPr/>
        </p:nvSpPr>
        <p:spPr>
          <a:xfrm>
            <a:off x="3520440" y="4828032"/>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brake fluid</a:t>
            </a:r>
            <a:endParaRPr lang="en-US" sz="1400" dirty="0"/>
          </a:p>
        </p:txBody>
      </p:sp>
      <p:sp>
        <p:nvSpPr>
          <p:cNvPr id="52" name="Text 50"/>
          <p:cNvSpPr txBox="1"/>
          <p:nvPr/>
        </p:nvSpPr>
        <p:spPr>
          <a:xfrm>
            <a:off x="5669280" y="4828032"/>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5.1% → 14.1%</a:t>
            </a:r>
            <a:endParaRPr lang="en-US" sz="1400" dirty="0"/>
          </a:p>
        </p:txBody>
      </p:sp>
      <p:sp>
        <p:nvSpPr>
          <p:cNvPr id="53" name="Text 51"/>
          <p:cNvSpPr txBox="1"/>
          <p:nvPr/>
        </p:nvSpPr>
        <p:spPr>
          <a:xfrm>
            <a:off x="7726680" y="4828032"/>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4" name="Text 52"/>
          <p:cNvSpPr txBox="1"/>
          <p:nvPr/>
        </p:nvSpPr>
        <p:spPr>
          <a:xfrm>
            <a:off x="9326880" y="4828032"/>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+9.0 pts</a:t>
            </a:r>
            <a:endParaRPr lang="en-US" sz="1400" dirty="0"/>
          </a:p>
        </p:txBody>
      </p:sp>
      <p:sp>
        <p:nvSpPr>
          <p:cNvPr id="55" name="Shape 53"/>
          <p:cNvSpPr/>
          <p:nvPr/>
        </p:nvSpPr>
        <p:spPr>
          <a:xfrm>
            <a:off x="621792" y="5266944"/>
            <a:ext cx="10945368" cy="438912"/>
          </a:xfrm>
          <a:prstGeom prst="rect">
            <a:avLst/>
          </a:prstGeom>
          <a:solidFill>
            <a:srgbClr val="F7F7F7"/>
          </a:solidFill>
          <a:ln/>
        </p:spPr>
      </p:sp>
      <p:sp>
        <p:nvSpPr>
          <p:cNvPr id="56" name="Text 54"/>
          <p:cNvSpPr txBox="1"/>
          <p:nvPr/>
        </p:nvSpPr>
        <p:spPr>
          <a:xfrm>
            <a:off x="749808" y="5266944"/>
            <a:ext cx="2651760" cy="43891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7" name="Text 55"/>
          <p:cNvSpPr txBox="1"/>
          <p:nvPr/>
        </p:nvSpPr>
        <p:spPr>
          <a:xfrm>
            <a:off x="3520440" y="5266944"/>
            <a:ext cx="210312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Opcodes · fuel service</a:t>
            </a:r>
            <a:endParaRPr lang="en-US" sz="1400" dirty="0"/>
          </a:p>
        </p:txBody>
      </p:sp>
      <p:sp>
        <p:nvSpPr>
          <p:cNvPr id="58" name="Text 56"/>
          <p:cNvSpPr txBox="1"/>
          <p:nvPr/>
        </p:nvSpPr>
        <p:spPr>
          <a:xfrm>
            <a:off x="5669280" y="5266944"/>
            <a:ext cx="2011680" cy="43891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10.6%</a:t>
            </a:r>
            <a:endParaRPr lang="en-US" sz="1400" dirty="0"/>
          </a:p>
        </p:txBody>
      </p:sp>
      <p:sp>
        <p:nvSpPr>
          <p:cNvPr id="59" name="Text 57"/>
          <p:cNvSpPr txBox="1"/>
          <p:nvPr/>
        </p:nvSpPr>
        <p:spPr>
          <a:xfrm>
            <a:off x="7726680" y="5266944"/>
            <a:ext cx="1554480" cy="43891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0" name="Text 58"/>
          <p:cNvSpPr txBox="1"/>
          <p:nvPr/>
        </p:nvSpPr>
        <p:spPr>
          <a:xfrm>
            <a:off x="9326880" y="5266944"/>
            <a:ext cx="1280160" cy="438912"/>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+8.1 pts</a:t>
            </a:r>
            <a:endParaRPr lang="en-US" sz="1400" dirty="0"/>
          </a:p>
        </p:txBody>
      </p:sp>
      <p:sp>
        <p:nvSpPr>
          <p:cNvPr id="61" name="Shape 59"/>
          <p:cNvSpPr/>
          <p:nvPr/>
        </p:nvSpPr>
        <p:spPr>
          <a:xfrm>
            <a:off x="457200" y="6126480"/>
            <a:ext cx="11274552" cy="364236"/>
          </a:xfrm>
          <a:prstGeom prst="rect">
            <a:avLst/>
          </a:prstGeom>
          <a:solidFill>
            <a:srgbClr val="EDF4FA"/>
          </a:solidFill>
          <a:ln/>
        </p:spPr>
      </p:sp>
      <p:sp>
        <p:nvSpPr>
          <p:cNvPr id="62" name="Text 60"/>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Five stores, one question each: what did you start doing that month? One sentence, before you leave.</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9" name="Shape 17"/>
          <p:cNvSpPr/>
          <p:nvPr/>
        </p:nvSpPr>
        <p:spPr>
          <a:xfrm>
            <a:off x="3845560" y="658368"/>
            <a:ext cx="7886192" cy="475488"/>
          </a:xfrm>
          <a:prstGeom prst="rect">
            <a:avLst/>
          </a:prstGeom>
          <a:solidFill>
            <a:srgbClr val="EDF4FA"/>
          </a:solidFill>
          <a:ln/>
        </p:spPr>
      </p:sp>
      <p:sp>
        <p:nvSpPr>
          <p:cNvPr id="20" name="Text 18"/>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9" name="Shape 17"/>
          <p:cNvSpPr/>
          <p:nvPr/>
        </p:nvSpPr>
        <p:spPr>
          <a:xfrm>
            <a:off x="4034028" y="658368"/>
            <a:ext cx="7697724" cy="475488"/>
          </a:xfrm>
          <a:prstGeom prst="rect">
            <a:avLst/>
          </a:prstGeom>
          <a:solidFill>
            <a:srgbClr val="EDF4FA"/>
          </a:solidFill>
          <a:ln/>
        </p:spPr>
      </p:sp>
      <p:sp>
        <p:nvSpPr>
          <p:cNvPr id="20" name="Text 18"/>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1161288"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endParaRPr lang="en-US" sz="2200" dirty="0"/>
          </a:p>
        </p:txBody>
      </p:sp>
      <p:sp>
        <p:nvSpPr>
          <p:cNvPr id="14" name="Shape 12"/>
          <p:cNvSpPr/>
          <p:nvPr/>
        </p:nvSpPr>
        <p:spPr>
          <a:xfrm>
            <a:off x="7370064" y="1563624"/>
            <a:ext cx="64008" cy="256032"/>
          </a:xfrm>
          <a:prstGeom prst="rect">
            <a:avLst/>
          </a:prstGeom>
          <a:solidFill>
            <a:srgbClr val="12A566"/>
          </a:solidFill>
          <a:ln/>
        </p:spPr>
      </p:sp>
      <p:sp>
        <p:nvSpPr>
          <p:cNvPr id="15" name="Text 13"/>
          <p:cNvSpPr txBox="1"/>
          <p:nvPr/>
        </p:nvSpPr>
        <p:spPr>
          <a:xfrm>
            <a:off x="7525512" y="1517904"/>
            <a:ext cx="1335024"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9" name="Shape 17"/>
          <p:cNvSpPr/>
          <p:nvPr/>
        </p:nvSpPr>
        <p:spPr>
          <a:xfrm>
            <a:off x="4222496" y="658368"/>
            <a:ext cx="7509256" cy="475488"/>
          </a:xfrm>
          <a:prstGeom prst="rect">
            <a:avLst/>
          </a:prstGeom>
          <a:solidFill>
            <a:srgbClr val="EDF4FA"/>
          </a:solidFill>
          <a:ln/>
        </p:spPr>
      </p:sp>
      <p:sp>
        <p:nvSpPr>
          <p:cNvPr id="20" name="Text 18"/>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9" name="Shape 17"/>
          <p:cNvSpPr/>
          <p:nvPr/>
        </p:nvSpPr>
        <p:spPr>
          <a:xfrm>
            <a:off x="6955282" y="658368"/>
            <a:ext cx="4776470" cy="475488"/>
          </a:xfrm>
          <a:prstGeom prst="rect">
            <a:avLst/>
          </a:prstGeom>
          <a:solidFill>
            <a:srgbClr val="EDF4FA"/>
          </a:solidFill>
          <a:ln/>
        </p:spPr>
      </p:sp>
      <p:sp>
        <p:nvSpPr>
          <p:cNvPr id="20" name="Text 18"/>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9.0%</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7" name="Shape 85"/>
          <p:cNvSpPr/>
          <p:nvPr/>
        </p:nvSpPr>
        <p:spPr>
          <a:xfrm>
            <a:off x="658368" y="5376672"/>
            <a:ext cx="10872216" cy="329184"/>
          </a:xfrm>
          <a:prstGeom prst="rect">
            <a:avLst/>
          </a:prstGeom>
          <a:solidFill>
            <a:srgbClr val="F7F7F7"/>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2" name="Text 30"/>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4" name="Text 32"/>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5" name="Shape 33"/>
          <p:cNvSpPr/>
          <p:nvPr/>
        </p:nvSpPr>
        <p:spPr>
          <a:xfrm>
            <a:off x="658368" y="2712954"/>
            <a:ext cx="10872216" cy="298938"/>
          </a:xfrm>
          <a:prstGeom prst="rect">
            <a:avLst/>
          </a:prstGeom>
          <a:solidFill>
            <a:srgbClr val="F7F7F7"/>
          </a:solidFill>
          <a:ln/>
        </p:spPr>
      </p:sp>
      <p:sp>
        <p:nvSpPr>
          <p:cNvPr id="36" name="Text 34"/>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8" name="Text 36"/>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9" name="Text 37"/>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0" name="Text 38"/>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41" name="Text 39"/>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2" name="Text 40"/>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5" name="Text 43"/>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7" name="Text 45"/>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310831"/>
            <a:ext cx="10872216" cy="298938"/>
          </a:xfrm>
          <a:prstGeom prst="rect">
            <a:avLst/>
          </a:prstGeom>
          <a:solidFill>
            <a:srgbClr val="F7F7F7"/>
          </a:solidFill>
          <a:ln/>
        </p:spPr>
      </p:sp>
      <p:sp>
        <p:nvSpPr>
          <p:cNvPr id="49" name="Text 47"/>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2" name="Text 50"/>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4" name="Text 52"/>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5" name="Text 53"/>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7" name="Text 55"/>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8" name="Text 56"/>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60" name="Text 58"/>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1" name="Shape 59"/>
          <p:cNvSpPr/>
          <p:nvPr/>
        </p:nvSpPr>
        <p:spPr>
          <a:xfrm>
            <a:off x="658368" y="3908708"/>
            <a:ext cx="10872216" cy="298938"/>
          </a:xfrm>
          <a:prstGeom prst="rect">
            <a:avLst/>
          </a:prstGeom>
          <a:solidFill>
            <a:srgbClr val="F7F7F7"/>
          </a:solidFill>
          <a:ln/>
        </p:spPr>
      </p:sp>
      <p:sp>
        <p:nvSpPr>
          <p:cNvPr id="62" name="Text 60"/>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4" name="Text 62"/>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5.7%</a:t>
            </a:r>
            <a:endParaRPr lang="en-US" sz="1400" dirty="0"/>
          </a:p>
        </p:txBody>
      </p:sp>
      <p:sp>
        <p:nvSpPr>
          <p:cNvPr id="65" name="Text 63"/>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7" name="Text 65"/>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8" name="Text 66"/>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3" name="Text 71"/>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4" name="Shape 72"/>
          <p:cNvSpPr/>
          <p:nvPr/>
        </p:nvSpPr>
        <p:spPr>
          <a:xfrm>
            <a:off x="658368" y="4506585"/>
            <a:ext cx="10872216" cy="298938"/>
          </a:xfrm>
          <a:prstGeom prst="rect">
            <a:avLst/>
          </a:prstGeom>
          <a:solidFill>
            <a:srgbClr val="F7F7F7"/>
          </a:solidFill>
          <a:ln/>
        </p:spPr>
      </p:sp>
      <p:sp>
        <p:nvSpPr>
          <p:cNvPr id="75" name="Text 73"/>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7" name="Text 75"/>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8" name="Text 76"/>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80" name="Text 78"/>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81" name="Text 79"/>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3" name="Text 81"/>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12.8%</a:t>
            </a:r>
            <a:endParaRPr lang="en-US" sz="1400" dirty="0"/>
          </a:p>
        </p:txBody>
      </p:sp>
      <p:sp>
        <p:nvSpPr>
          <p:cNvPr id="84" name="Text 82"/>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6" name="Text 84"/>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7" name="Shape 85"/>
          <p:cNvSpPr/>
          <p:nvPr/>
        </p:nvSpPr>
        <p:spPr>
          <a:xfrm>
            <a:off x="658368" y="5104462"/>
            <a:ext cx="10872216" cy="298938"/>
          </a:xfrm>
          <a:prstGeom prst="rect">
            <a:avLst/>
          </a:prstGeom>
          <a:solidFill>
            <a:srgbClr val="F7F7F7"/>
          </a:solidFill>
          <a:ln/>
        </p:spPr>
      </p:sp>
      <p:sp>
        <p:nvSpPr>
          <p:cNvPr id="88" name="Text 86"/>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90" name="Text 88"/>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91" name="Text 89"/>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2" name="Text 90"/>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4" name="Shape 92"/>
          <p:cNvSpPr/>
          <p:nvPr/>
        </p:nvSpPr>
        <p:spPr>
          <a:xfrm>
            <a:off x="658368" y="5397914"/>
            <a:ext cx="10872216" cy="10973"/>
          </a:xfrm>
          <a:prstGeom prst="rect">
            <a:avLst/>
          </a:prstGeom>
          <a:solidFill>
            <a:srgbClr val="9AA3AD"/>
          </a:solidFill>
          <a:ln/>
        </p:spPr>
      </p:sp>
      <p:sp>
        <p:nvSpPr>
          <p:cNvPr id="95" name="Text 93"/>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7" name="Text 95"/>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8" name="Text 96"/>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9" name="Text 97"/>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101" name="Shape 99"/>
          <p:cNvSpPr/>
          <p:nvPr/>
        </p:nvSpPr>
        <p:spPr>
          <a:xfrm>
            <a:off x="658368" y="5702339"/>
            <a:ext cx="10872216" cy="298938"/>
          </a:xfrm>
          <a:prstGeom prst="rect">
            <a:avLst/>
          </a:prstGeom>
          <a:solidFill>
            <a:srgbClr val="F7F7F7"/>
          </a:solidFill>
          <a:ln/>
        </p:spPr>
      </p:sp>
      <p:sp>
        <p:nvSpPr>
          <p:cNvPr id="102" name="Text 100"/>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5" name="Text 103"/>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8" name="Text 106"/>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9" name="Text 107"/>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10" name="Text 108"/>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11" name="Text 109"/>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2" name="Text 110"/>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3" name="Text 111"/>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9" name="Shape 17"/>
          <p:cNvSpPr/>
          <p:nvPr/>
        </p:nvSpPr>
        <p:spPr>
          <a:xfrm>
            <a:off x="4693666" y="658368"/>
            <a:ext cx="7038086" cy="475488"/>
          </a:xfrm>
          <a:prstGeom prst="rect">
            <a:avLst/>
          </a:prstGeom>
          <a:solidFill>
            <a:srgbClr val="EDF4FA"/>
          </a:solidFill>
          <a:ln/>
        </p:spPr>
      </p:sp>
      <p:sp>
        <p:nvSpPr>
          <p:cNvPr id="20" name="Text 18"/>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9" name="Shape 17"/>
          <p:cNvSpPr/>
          <p:nvPr/>
        </p:nvSpPr>
        <p:spPr>
          <a:xfrm>
            <a:off x="6389878" y="658368"/>
            <a:ext cx="5341874" cy="475488"/>
          </a:xfrm>
          <a:prstGeom prst="rect">
            <a:avLst/>
          </a:prstGeom>
          <a:solidFill>
            <a:srgbClr val="EDF4FA"/>
          </a:solidFill>
          <a:ln/>
        </p:spPr>
      </p:sp>
      <p:sp>
        <p:nvSpPr>
          <p:cNvPr id="20" name="Text 18"/>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9" name="Shape 17"/>
          <p:cNvSpPr/>
          <p:nvPr/>
        </p:nvSpPr>
        <p:spPr>
          <a:xfrm>
            <a:off x="3751326" y="658368"/>
            <a:ext cx="7980426" cy="475488"/>
          </a:xfrm>
          <a:prstGeom prst="rect">
            <a:avLst/>
          </a:prstGeom>
          <a:solidFill>
            <a:srgbClr val="EDF4FA"/>
          </a:solidFill>
          <a:ln/>
        </p:spPr>
      </p:sp>
      <p:sp>
        <p:nvSpPr>
          <p:cNvPr id="20" name="Text 18"/>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9" name="Shape 17"/>
          <p:cNvSpPr/>
          <p:nvPr/>
        </p:nvSpPr>
        <p:spPr>
          <a:xfrm>
            <a:off x="7237984" y="658368"/>
            <a:ext cx="4493768" cy="475488"/>
          </a:xfrm>
          <a:prstGeom prst="rect">
            <a:avLst/>
          </a:prstGeom>
          <a:solidFill>
            <a:srgbClr val="EDF4FA"/>
          </a:solidFill>
          <a:ln/>
        </p:spPr>
      </p:sp>
      <p:sp>
        <p:nvSpPr>
          <p:cNvPr id="20" name="Text 18"/>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9" name="Shape 17"/>
          <p:cNvSpPr/>
          <p:nvPr/>
        </p:nvSpPr>
        <p:spPr>
          <a:xfrm>
            <a:off x="7143750" y="658368"/>
            <a:ext cx="4588002" cy="475488"/>
          </a:xfrm>
          <a:prstGeom prst="rect">
            <a:avLst/>
          </a:prstGeom>
          <a:solidFill>
            <a:srgbClr val="EDF4FA"/>
          </a:solidFill>
          <a:ln/>
        </p:spPr>
      </p:sp>
      <p:sp>
        <p:nvSpPr>
          <p:cNvPr id="20" name="Text 18"/>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7" name="Shape 85"/>
          <p:cNvSpPr/>
          <p:nvPr/>
        </p:nvSpPr>
        <p:spPr>
          <a:xfrm>
            <a:off x="658368" y="5323180"/>
            <a:ext cx="10872216" cy="10973"/>
          </a:xfrm>
          <a:prstGeom prst="rect">
            <a:avLst/>
          </a:prstGeom>
          <a:solidFill>
            <a:srgbClr val="9AA3AD"/>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4" name="Text 92"/>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6" name="Text 94"/>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7" name="Text 95"/>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8" name="Text 96"/>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100" name="Shape 98"/>
          <p:cNvSpPr/>
          <p:nvPr/>
        </p:nvSpPr>
        <p:spPr>
          <a:xfrm>
            <a:off x="658368" y="5976366"/>
            <a:ext cx="10872216" cy="323850"/>
          </a:xfrm>
          <a:prstGeom prst="rect">
            <a:avLst/>
          </a:prstGeom>
          <a:solidFill>
            <a:srgbClr val="F7F7F7"/>
          </a:solidFill>
          <a:ln/>
        </p:spPr>
      </p:sp>
      <p:sp>
        <p:nvSpPr>
          <p:cNvPr id="101" name="Text 99"/>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2" name="Text 100"/>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3" name="Text 101"/>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4" name="Text 102"/>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5" name="Text 103"/>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6" name="Text 104"/>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9" name="Shape 17"/>
          <p:cNvSpPr/>
          <p:nvPr/>
        </p:nvSpPr>
        <p:spPr>
          <a:xfrm>
            <a:off x="9122664" y="658368"/>
            <a:ext cx="2609088" cy="475488"/>
          </a:xfrm>
          <a:prstGeom prst="rect">
            <a:avLst/>
          </a:prstGeom>
          <a:solidFill>
            <a:srgbClr val="EDF4FA"/>
          </a:solidFill>
          <a:ln/>
        </p:spPr>
      </p:sp>
      <p:sp>
        <p:nvSpPr>
          <p:cNvPr id="20" name="Text 18"/>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5" name="Shape 73"/>
          <p:cNvSpPr/>
          <p:nvPr/>
        </p:nvSpPr>
        <p:spPr>
          <a:xfrm>
            <a:off x="658368" y="4718304"/>
            <a:ext cx="10872216" cy="329184"/>
          </a:xfrm>
          <a:prstGeom prst="rect">
            <a:avLst/>
          </a:prstGeom>
          <a:solidFill>
            <a:srgbClr val="F7F7F7"/>
          </a:solidFill>
          <a:ln/>
        </p:spPr>
      </p:sp>
      <p:sp>
        <p:nvSpPr>
          <p:cNvPr id="76" name="Text 74"/>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7" name="Text 75"/>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8" name="Text 76"/>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9" name="Text 77"/>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0" name="Text 78"/>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1" name="Text 79"/>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8" name="Shape 86"/>
          <p:cNvSpPr/>
          <p:nvPr/>
        </p:nvSpPr>
        <p:spPr>
          <a:xfrm>
            <a:off x="658368" y="5376672"/>
            <a:ext cx="10872216" cy="329184"/>
          </a:xfrm>
          <a:prstGeom prst="rect">
            <a:avLst/>
          </a:prstGeom>
          <a:solidFill>
            <a:srgbClr val="F7F7F7"/>
          </a:solidFill>
          <a:ln/>
        </p:spPr>
      </p:sp>
      <p:sp>
        <p:nvSpPr>
          <p:cNvPr id="89" name="Text 87"/>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90" name="Text 88"/>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1" name="Text 89"/>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2" name="Text 90"/>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3" name="Text 91"/>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4" name="Text 92"/>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5" name="Text 93"/>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7" name="Text 95"/>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8" name="Text 96"/>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9" name="Text 97"/>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9" name="Shape 17"/>
          <p:cNvSpPr/>
          <p:nvPr/>
        </p:nvSpPr>
        <p:spPr>
          <a:xfrm>
            <a:off x="3374390" y="658368"/>
            <a:ext cx="8357362" cy="475488"/>
          </a:xfrm>
          <a:prstGeom prst="rect">
            <a:avLst/>
          </a:prstGeom>
          <a:solidFill>
            <a:srgbClr val="EDF4FA"/>
          </a:solidFill>
          <a:ln/>
        </p:spPr>
      </p:sp>
      <p:sp>
        <p:nvSpPr>
          <p:cNvPr id="20" name="Text 18"/>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2" name="Shape 40"/>
          <p:cNvSpPr/>
          <p:nvPr/>
        </p:nvSpPr>
        <p:spPr>
          <a:xfrm>
            <a:off x="658368" y="3066898"/>
            <a:ext cx="10872216" cy="10973"/>
          </a:xfrm>
          <a:prstGeom prst="rect">
            <a:avLst/>
          </a:prstGeom>
          <a:solidFill>
            <a:srgbClr val="9AA3AD"/>
          </a:solidFill>
          <a:ln/>
        </p:spPr>
      </p:sp>
      <p:sp>
        <p:nvSpPr>
          <p:cNvPr id="43" name="Text 41"/>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4" name="Text 42"/>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5" name="Text 43"/>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6" name="Text 44"/>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7" name="Text 45"/>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8" name="Text 46"/>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9" name="Shape 47"/>
          <p:cNvSpPr/>
          <p:nvPr/>
        </p:nvSpPr>
        <p:spPr>
          <a:xfrm>
            <a:off x="658368" y="3401568"/>
            <a:ext cx="10872216" cy="329184"/>
          </a:xfrm>
          <a:prstGeom prst="rect">
            <a:avLst/>
          </a:prstGeom>
          <a:solidFill>
            <a:srgbClr val="F7F7F7"/>
          </a:solidFill>
          <a:ln/>
        </p:spPr>
      </p:sp>
      <p:sp>
        <p:nvSpPr>
          <p:cNvPr id="50" name="Text 48"/>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1" name="Text 49"/>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2" name="Text 50"/>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3" name="Text 51"/>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4" name="Text 52"/>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5" name="Text 53"/>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9" name="Shape 17"/>
          <p:cNvSpPr/>
          <p:nvPr/>
        </p:nvSpPr>
        <p:spPr>
          <a:xfrm>
            <a:off x="3468624" y="658368"/>
            <a:ext cx="8263128" cy="475488"/>
          </a:xfrm>
          <a:prstGeom prst="rect">
            <a:avLst/>
          </a:prstGeom>
          <a:solidFill>
            <a:srgbClr val="EDF4FA"/>
          </a:solidFill>
          <a:ln/>
        </p:spPr>
      </p:sp>
      <p:sp>
        <p:nvSpPr>
          <p:cNvPr id="20" name="Text 18"/>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20.6%   ·   2nd · Hours per RO 3.99   ·   2nd · CP labor $/RO $931</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8" name="Shape 46"/>
          <p:cNvSpPr/>
          <p:nvPr/>
        </p:nvSpPr>
        <p:spPr>
          <a:xfrm>
            <a:off x="658368" y="3396082"/>
            <a:ext cx="10872216" cy="10973"/>
          </a:xfrm>
          <a:prstGeom prst="rect">
            <a:avLst/>
          </a:prstGeom>
          <a:solidFill>
            <a:srgbClr val="9AA3AD"/>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4.5%</a:t>
            </a:r>
            <a:endParaRPr lang="en-US" sz="15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12.8%</a:t>
            </a:r>
            <a:endParaRPr lang="en-US" sz="15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61" name="Shape 59"/>
          <p:cNvSpPr/>
          <p:nvPr/>
        </p:nvSpPr>
        <p:spPr>
          <a:xfrm>
            <a:off x="658368" y="4054450"/>
            <a:ext cx="10872216" cy="10973"/>
          </a:xfrm>
          <a:prstGeom prst="rect">
            <a:avLst/>
          </a:prstGeom>
          <a:solidFill>
            <a:srgbClr val="9AA3AD"/>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9" name="Shape 17"/>
          <p:cNvSpPr/>
          <p:nvPr/>
        </p:nvSpPr>
        <p:spPr>
          <a:xfrm>
            <a:off x="9216898" y="658368"/>
            <a:ext cx="2514854" cy="475488"/>
          </a:xfrm>
          <a:prstGeom prst="rect">
            <a:avLst/>
          </a:prstGeom>
          <a:solidFill>
            <a:srgbClr val="EDF4FA"/>
          </a:solidFill>
          <a:ln/>
        </p:spPr>
      </p:sp>
      <p:sp>
        <p:nvSpPr>
          <p:cNvPr id="20" name="Text 18"/>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9.7%</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9" name="Shape 17"/>
          <p:cNvSpPr/>
          <p:nvPr/>
        </p:nvSpPr>
        <p:spPr>
          <a:xfrm>
            <a:off x="6201410" y="658368"/>
            <a:ext cx="5530342" cy="475488"/>
          </a:xfrm>
          <a:prstGeom prst="rect">
            <a:avLst/>
          </a:prstGeom>
          <a:solidFill>
            <a:srgbClr val="EDF4FA"/>
          </a:solidFill>
          <a:ln/>
        </p:spPr>
      </p:sp>
      <p:sp>
        <p:nvSpPr>
          <p:cNvPr id="20" name="Text 18"/>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81" name="Shape 79"/>
          <p:cNvSpPr/>
          <p:nvPr/>
        </p:nvSpPr>
        <p:spPr>
          <a:xfrm>
            <a:off x="658368" y="5042002"/>
            <a:ext cx="10872216" cy="10973"/>
          </a:xfrm>
          <a:prstGeom prst="rect">
            <a:avLst/>
          </a:prstGeom>
          <a:solidFill>
            <a:srgbClr val="9AA3AD"/>
          </a:solidFill>
          <a:ln/>
        </p:spPr>
      </p:sp>
      <p:sp>
        <p:nvSpPr>
          <p:cNvPr id="82" name="Text 80"/>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3" name="Text 81"/>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4" name="Text 82"/>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5" name="Text 83"/>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6" name="Text 84"/>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7" name="Text 85"/>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9" name="Shape 17"/>
          <p:cNvSpPr/>
          <p:nvPr/>
        </p:nvSpPr>
        <p:spPr>
          <a:xfrm>
            <a:off x="6107176" y="658368"/>
            <a:ext cx="5624576" cy="475488"/>
          </a:xfrm>
          <a:prstGeom prst="rect">
            <a:avLst/>
          </a:prstGeom>
          <a:solidFill>
            <a:srgbClr val="EDF4FA"/>
          </a:solidFill>
          <a:ln/>
        </p:spPr>
      </p:sp>
      <p:sp>
        <p:nvSpPr>
          <p:cNvPr id="20" name="Text 18"/>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4" name="Shape 72"/>
          <p:cNvSpPr/>
          <p:nvPr/>
        </p:nvSpPr>
        <p:spPr>
          <a:xfrm>
            <a:off x="658368" y="4712818"/>
            <a:ext cx="10872216" cy="10973"/>
          </a:xfrm>
          <a:prstGeom prst="rect">
            <a:avLst/>
          </a:prstGeom>
          <a:solidFill>
            <a:srgbClr val="9AA3AD"/>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9" name="Shape 17"/>
          <p:cNvSpPr/>
          <p:nvPr/>
        </p:nvSpPr>
        <p:spPr>
          <a:xfrm>
            <a:off x="6295644" y="658368"/>
            <a:ext cx="5436108" cy="475488"/>
          </a:xfrm>
          <a:prstGeom prst="rect">
            <a:avLst/>
          </a:prstGeom>
          <a:solidFill>
            <a:srgbClr val="EDF4FA"/>
          </a:solidFill>
          <a:ln/>
        </p:spPr>
      </p:sp>
      <p:sp>
        <p:nvSpPr>
          <p:cNvPr id="20" name="Text 18"/>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8" name="Text 66"/>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0" name="Text 68"/>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71" name="Text 69"/>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2" name="Text 70"/>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3" name="Text 71"/>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4" name="Shape 72"/>
          <p:cNvSpPr/>
          <p:nvPr/>
        </p:nvSpPr>
        <p:spPr>
          <a:xfrm>
            <a:off x="658368" y="4718304"/>
            <a:ext cx="10872216" cy="329184"/>
          </a:xfrm>
          <a:prstGeom prst="rect">
            <a:avLst/>
          </a:prstGeom>
          <a:solidFill>
            <a:srgbClr val="F7F7F7"/>
          </a:solidFill>
          <a:ln/>
        </p:spPr>
      </p:sp>
      <p:sp>
        <p:nvSpPr>
          <p:cNvPr id="75" name="Text 73"/>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8" name="Text 76"/>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80" name="Text 78"/>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81" name="Text 79"/>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3" name="Text 81"/>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a:t>
            </a:r>
            <a:endParaRPr lang="en-US" sz="1400" dirty="0"/>
          </a:p>
        </p:txBody>
      </p:sp>
      <p:sp>
        <p:nvSpPr>
          <p:cNvPr id="84" name="Text 82"/>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5" name="Text 83"/>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6" name="Text 84"/>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7" name="Shape 85"/>
          <p:cNvSpPr/>
          <p:nvPr/>
        </p:nvSpPr>
        <p:spPr>
          <a:xfrm>
            <a:off x="658368" y="5371186"/>
            <a:ext cx="10872216" cy="10973"/>
          </a:xfrm>
          <a:prstGeom prst="rect">
            <a:avLst/>
          </a:prstGeom>
          <a:solidFill>
            <a:srgbClr val="9AA3AD"/>
          </a:solidFill>
          <a:ln/>
        </p:spPr>
      </p:sp>
      <p:sp>
        <p:nvSpPr>
          <p:cNvPr id="88" name="Text 86"/>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0" name="Text 88"/>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91" name="Text 89"/>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2" name="Text 90"/>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3" name="Text 91"/>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4" name="Text 92"/>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5" name="Text 93"/>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6" name="Text 94"/>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7" name="Text 95"/>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8" name="Text 96"/>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9" name="Text 97"/>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9" name="Shape 17"/>
          <p:cNvSpPr/>
          <p:nvPr/>
        </p:nvSpPr>
        <p:spPr>
          <a:xfrm>
            <a:off x="9404096" y="658368"/>
            <a:ext cx="2327656" cy="475488"/>
          </a:xfrm>
          <a:prstGeom prst="rect">
            <a:avLst/>
          </a:prstGeom>
          <a:solidFill>
            <a:srgbClr val="EDF4FA"/>
          </a:solidFill>
          <a:ln/>
        </p:spPr>
      </p:sp>
      <p:sp>
        <p:nvSpPr>
          <p:cNvPr id="20" name="Text 18"/>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1" name="Text 29"/>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2" name="Text 30"/>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3" name="Text 31"/>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4" name="Text 32"/>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5" name="Shape 33"/>
          <p:cNvSpPr/>
          <p:nvPr/>
        </p:nvSpPr>
        <p:spPr>
          <a:xfrm>
            <a:off x="658368" y="2737866"/>
            <a:ext cx="10872216" cy="323850"/>
          </a:xfrm>
          <a:prstGeom prst="rect">
            <a:avLst/>
          </a:prstGeom>
          <a:solidFill>
            <a:srgbClr val="F7F7F7"/>
          </a:solidFill>
          <a:ln/>
        </p:spPr>
      </p:sp>
      <p:sp>
        <p:nvSpPr>
          <p:cNvPr id="36" name="Text 34"/>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9" name="Text 37"/>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41" name="Text 39"/>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2" name="Text 40"/>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4" name="Text 42"/>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45" name="Text 43"/>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6" name="Text 44"/>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7" name="Text 45"/>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8" name="Shape 46"/>
          <p:cNvSpPr/>
          <p:nvPr/>
        </p:nvSpPr>
        <p:spPr>
          <a:xfrm>
            <a:off x="658368" y="3385566"/>
            <a:ext cx="10872216" cy="323850"/>
          </a:xfrm>
          <a:prstGeom prst="rect">
            <a:avLst/>
          </a:prstGeom>
          <a:solidFill>
            <a:srgbClr val="F7F7F7"/>
          </a:solidFill>
          <a:ln/>
        </p:spPr>
      </p:sp>
      <p:sp>
        <p:nvSpPr>
          <p:cNvPr id="49" name="Text 47"/>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1" name="Text 49"/>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52" name="Text 50"/>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3" name="Text 51"/>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4" name="Text 52"/>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5" name="Text 53"/>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7" name="Text 55"/>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8" name="Text 56"/>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9" name="Text 57"/>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60" name="Text 58"/>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61" name="Shape 59"/>
          <p:cNvSpPr/>
          <p:nvPr/>
        </p:nvSpPr>
        <p:spPr>
          <a:xfrm>
            <a:off x="658368" y="4033266"/>
            <a:ext cx="10872216" cy="323850"/>
          </a:xfrm>
          <a:prstGeom prst="rect">
            <a:avLst/>
          </a:prstGeom>
          <a:solidFill>
            <a:srgbClr val="F7F7F7"/>
          </a:solidFill>
          <a:ln/>
        </p:spPr>
      </p:sp>
      <p:sp>
        <p:nvSpPr>
          <p:cNvPr id="62" name="Text 60"/>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4" name="Text 62"/>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5" name="Text 63"/>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7" name="Text 65"/>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8" name="Text 66"/>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9" name="Text 67"/>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70" name="Text 68"/>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71" name="Text 69"/>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2" name="Text 70"/>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3" name="Text 71"/>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4" name="Shape 72"/>
          <p:cNvSpPr/>
          <p:nvPr/>
        </p:nvSpPr>
        <p:spPr>
          <a:xfrm>
            <a:off x="658368" y="4680966"/>
            <a:ext cx="10872216" cy="323850"/>
          </a:xfrm>
          <a:prstGeom prst="rect">
            <a:avLst/>
          </a:prstGeom>
          <a:solidFill>
            <a:srgbClr val="F7F7F7"/>
          </a:solidFill>
          <a:ln/>
        </p:spPr>
      </p:sp>
      <p:sp>
        <p:nvSpPr>
          <p:cNvPr id="75" name="Text 73"/>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6" name="Text 74"/>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7" name="Text 75"/>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8" name="Text 76"/>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9" name="Text 77"/>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80" name="Text 78"/>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81" name="Text 79"/>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2" name="Text 80"/>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3" name="Text 81"/>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4" name="Text 82"/>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5" name="Text 83"/>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6" name="Text 84"/>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7" name="Shape 85"/>
          <p:cNvSpPr/>
          <p:nvPr/>
        </p:nvSpPr>
        <p:spPr>
          <a:xfrm>
            <a:off x="658368" y="5328666"/>
            <a:ext cx="10872216" cy="323850"/>
          </a:xfrm>
          <a:prstGeom prst="rect">
            <a:avLst/>
          </a:prstGeom>
          <a:solidFill>
            <a:srgbClr val="F7F7F7"/>
          </a:solidFill>
          <a:ln/>
        </p:spPr>
      </p:sp>
      <p:sp>
        <p:nvSpPr>
          <p:cNvPr id="88" name="Text 86"/>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9" name="Text 87"/>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90" name="Text 88"/>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91" name="Text 89"/>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2" name="Text 90"/>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3" name="Text 91"/>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4" name="Shape 92"/>
          <p:cNvSpPr/>
          <p:nvPr/>
        </p:nvSpPr>
        <p:spPr>
          <a:xfrm>
            <a:off x="658368" y="5647030"/>
            <a:ext cx="10872216" cy="10973"/>
          </a:xfrm>
          <a:prstGeom prst="rect">
            <a:avLst/>
          </a:prstGeom>
          <a:solidFill>
            <a:srgbClr val="9AA3AD"/>
          </a:solidFill>
          <a:ln/>
        </p:spPr>
      </p:sp>
      <p:sp>
        <p:nvSpPr>
          <p:cNvPr id="95" name="Text 93"/>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6" name="Text 94"/>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7" name="Text 95"/>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8" name="Text 96"/>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9" name="Text 97"/>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0" name="Text 98"/>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101" name="Shape 99"/>
          <p:cNvSpPr/>
          <p:nvPr/>
        </p:nvSpPr>
        <p:spPr>
          <a:xfrm>
            <a:off x="658368" y="5976366"/>
            <a:ext cx="10872216" cy="323850"/>
          </a:xfrm>
          <a:prstGeom prst="rect">
            <a:avLst/>
          </a:prstGeom>
          <a:solidFill>
            <a:srgbClr val="F7F7F7"/>
          </a:solidFill>
          <a:ln/>
        </p:spPr>
      </p:sp>
      <p:sp>
        <p:nvSpPr>
          <p:cNvPr id="102" name="Text 100"/>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3" name="Text 101"/>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4" name="Text 102"/>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5" name="Text 103"/>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6" name="Text 104"/>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7" name="Text 105"/>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9" name="Shape 17"/>
          <p:cNvSpPr/>
          <p:nvPr/>
        </p:nvSpPr>
        <p:spPr>
          <a:xfrm>
            <a:off x="4787900" y="658368"/>
            <a:ext cx="6943852" cy="475488"/>
          </a:xfrm>
          <a:prstGeom prst="rect">
            <a:avLst/>
          </a:prstGeom>
          <a:solidFill>
            <a:srgbClr val="EDF4FA"/>
          </a:solidFill>
          <a:ln/>
        </p:spPr>
      </p:sp>
      <p:sp>
        <p:nvSpPr>
          <p:cNvPr id="20" name="Text 18"/>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5" name="Shape 53"/>
          <p:cNvSpPr/>
          <p:nvPr/>
        </p:nvSpPr>
        <p:spPr>
          <a:xfrm>
            <a:off x="658368" y="3725266"/>
            <a:ext cx="10872216" cy="10973"/>
          </a:xfrm>
          <a:prstGeom prst="rect">
            <a:avLst/>
          </a:prstGeom>
          <a:solidFill>
            <a:srgbClr val="9AA3AD"/>
          </a:solidFill>
          <a:ln/>
        </p:spPr>
      </p:sp>
      <p:sp>
        <p:nvSpPr>
          <p:cNvPr id="56" name="Text 54"/>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7" name="Text 55"/>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8" name="Text 56"/>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9" name="Text 57"/>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0" name="Text 58"/>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1" name="Text 59"/>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endParaRPr lang="en-US" sz="2200" dirty="0"/>
          </a:p>
        </p:txBody>
      </p:sp>
      <p:sp>
        <p:nvSpPr>
          <p:cNvPr id="14" name="Shape 12"/>
          <p:cNvSpPr/>
          <p:nvPr/>
        </p:nvSpPr>
        <p:spPr>
          <a:xfrm>
            <a:off x="7185660" y="1563624"/>
            <a:ext cx="64008" cy="256032"/>
          </a:xfrm>
          <a:prstGeom prst="rect">
            <a:avLst/>
          </a:prstGeom>
          <a:solidFill>
            <a:srgbClr val="12A566"/>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9" name="Shape 17"/>
          <p:cNvSpPr/>
          <p:nvPr/>
        </p:nvSpPr>
        <p:spPr>
          <a:xfrm>
            <a:off x="7709154" y="658368"/>
            <a:ext cx="4022598" cy="475488"/>
          </a:xfrm>
          <a:prstGeom prst="rect">
            <a:avLst/>
          </a:prstGeom>
          <a:solidFill>
            <a:srgbClr val="EDF4FA"/>
          </a:solidFill>
          <a:ln/>
        </p:spPr>
      </p:sp>
      <p:sp>
        <p:nvSpPr>
          <p:cNvPr id="20" name="Text 18"/>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21" name="Shape 19"/>
          <p:cNvSpPr/>
          <p:nvPr/>
        </p:nvSpPr>
        <p:spPr>
          <a:xfrm>
            <a:off x="457200" y="2011680"/>
            <a:ext cx="11274552" cy="4343400"/>
          </a:xfrm>
          <a:prstGeom prst="rect">
            <a:avLst/>
          </a:prstGeom>
          <a:solidFill>
            <a:srgbClr val="FFFFFF"/>
          </a:solidFill>
          <a:ln/>
        </p:spPr>
      </p:sp>
      <p:sp>
        <p:nvSpPr>
          <p:cNvPr id="22" name="Text 20"/>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3" name="Text 21"/>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4" name="Text 22"/>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5" name="Text 23"/>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6" name="Text 24"/>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7" name="Text 25"/>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8" name="Shape 26"/>
          <p:cNvSpPr/>
          <p:nvPr/>
        </p:nvSpPr>
        <p:spPr>
          <a:xfrm>
            <a:off x="658368" y="2368296"/>
            <a:ext cx="10872216" cy="10973"/>
          </a:xfrm>
          <a:prstGeom prst="rect">
            <a:avLst/>
          </a:prstGeom>
          <a:solidFill>
            <a:srgbClr val="1A1A1A"/>
          </a:solidFill>
          <a:ln/>
        </p:spPr>
      </p:sp>
      <p:sp>
        <p:nvSpPr>
          <p:cNvPr id="29" name="Text 27"/>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30" name="Text 28"/>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1" name="Text 29"/>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2" name="Text 30"/>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3" name="Text 31"/>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4" name="Text 32"/>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5" name="Shape 33"/>
          <p:cNvSpPr/>
          <p:nvPr/>
        </p:nvSpPr>
        <p:spPr>
          <a:xfrm>
            <a:off x="658368" y="2743200"/>
            <a:ext cx="10872216" cy="329184"/>
          </a:xfrm>
          <a:prstGeom prst="rect">
            <a:avLst/>
          </a:prstGeom>
          <a:solidFill>
            <a:srgbClr val="F7F7F7"/>
          </a:solidFill>
          <a:ln/>
        </p:spPr>
      </p:sp>
      <p:sp>
        <p:nvSpPr>
          <p:cNvPr id="36" name="Text 34"/>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7" name="Text 35"/>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8" name="Text 36"/>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9" name="Text 37"/>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0" name="Text 38"/>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41" name="Text 39"/>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2" name="Text 40"/>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4" name="Text 42"/>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5" name="Text 43"/>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6" name="Text 44"/>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7" name="Text 45"/>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8" name="Shape 46"/>
          <p:cNvSpPr/>
          <p:nvPr/>
        </p:nvSpPr>
        <p:spPr>
          <a:xfrm>
            <a:off x="658368" y="3401568"/>
            <a:ext cx="10872216" cy="329184"/>
          </a:xfrm>
          <a:prstGeom prst="rect">
            <a:avLst/>
          </a:prstGeom>
          <a:solidFill>
            <a:srgbClr val="F7F7F7"/>
          </a:solidFill>
          <a:ln/>
        </p:spPr>
      </p:sp>
      <p:sp>
        <p:nvSpPr>
          <p:cNvPr id="49" name="Text 47"/>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50" name="Text 48"/>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1" name="Text 49"/>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2" name="Text 50"/>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3" name="Text 51"/>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4" name="Text 52"/>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5" name="Text 53"/>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6" name="Text 54"/>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7" name="Text 55"/>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a:t>
            </a:r>
            <a:endParaRPr lang="en-US" sz="1400" dirty="0"/>
          </a:p>
        </p:txBody>
      </p:sp>
      <p:sp>
        <p:nvSpPr>
          <p:cNvPr id="58" name="Text 56"/>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9" name="Text 57"/>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60" name="Text 58"/>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61" name="Shape 59"/>
          <p:cNvSpPr/>
          <p:nvPr/>
        </p:nvSpPr>
        <p:spPr>
          <a:xfrm>
            <a:off x="658368" y="4059936"/>
            <a:ext cx="10872216" cy="329184"/>
          </a:xfrm>
          <a:prstGeom prst="rect">
            <a:avLst/>
          </a:prstGeom>
          <a:solidFill>
            <a:srgbClr val="F7F7F7"/>
          </a:solidFill>
          <a:ln/>
        </p:spPr>
      </p:sp>
      <p:sp>
        <p:nvSpPr>
          <p:cNvPr id="62" name="Text 60"/>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3" name="Text 61"/>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4" name="Text 62"/>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5" name="Text 63"/>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6" name="Text 64"/>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7" name="Text 65"/>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8" name="Shape 66"/>
          <p:cNvSpPr/>
          <p:nvPr/>
        </p:nvSpPr>
        <p:spPr>
          <a:xfrm>
            <a:off x="658368" y="4383634"/>
            <a:ext cx="10872216" cy="10973"/>
          </a:xfrm>
          <a:prstGeom prst="rect">
            <a:avLst/>
          </a:prstGeom>
          <a:solidFill>
            <a:srgbClr val="9AA3AD"/>
          </a:solidFill>
          <a:ln/>
        </p:spPr>
      </p:sp>
      <p:sp>
        <p:nvSpPr>
          <p:cNvPr id="69" name="Text 67"/>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70" name="Text 68"/>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1" name="Text 69"/>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2" name="Text 70"/>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3" name="Text 71"/>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4" name="Text 72"/>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976884"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endParaRPr lang="en-US" sz="2200" dirty="0"/>
          </a:p>
        </p:txBody>
      </p:sp>
      <p:sp>
        <p:nvSpPr>
          <p:cNvPr id="14" name="Shape 12"/>
          <p:cNvSpPr/>
          <p:nvPr/>
        </p:nvSpPr>
        <p:spPr>
          <a:xfrm>
            <a:off x="7185660" y="1563624"/>
            <a:ext cx="64008" cy="256032"/>
          </a:xfrm>
          <a:prstGeom prst="rect">
            <a:avLst/>
          </a:prstGeom>
          <a:solidFill>
            <a:srgbClr val="C2352F"/>
          </a:solidFill>
          <a:ln/>
        </p:spPr>
      </p:sp>
      <p:sp>
        <p:nvSpPr>
          <p:cNvPr id="15" name="Text 13"/>
          <p:cNvSpPr txBox="1"/>
          <p:nvPr/>
        </p:nvSpPr>
        <p:spPr>
          <a:xfrm>
            <a:off x="7341108" y="1517904"/>
            <a:ext cx="1519428" cy="34747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78.1%</a:t>
            </a:r>
            <a:endParaRPr lang="en-US" sz="1400" dirty="0"/>
          </a:p>
        </p:txBody>
      </p:sp>
      <p:sp>
        <p:nvSpPr>
          <p:cNvPr id="16" name="Shape 14"/>
          <p:cNvSpPr/>
          <p:nvPr/>
        </p:nvSpPr>
        <p:spPr>
          <a:xfrm>
            <a:off x="8878824" y="1316736"/>
            <a:ext cx="10973" cy="493776"/>
          </a:xfrm>
          <a:prstGeom prst="rect">
            <a:avLst/>
          </a:prstGeom>
          <a:solidFill>
            <a:srgbClr val="D9D9D9"/>
          </a:solidFill>
          <a:ln/>
        </p:spPr>
      </p:sp>
      <p:sp>
        <p:nvSpPr>
          <p:cNvPr id="17" name="Text 15"/>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8" name="Text 16"/>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−1.9%: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+5.2%: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+26.7%</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+4.7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$6,602,564 a year in labor and parts gross.</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2026-10-28T18:18:10Z</dcterms:created>
  <dcterms:modified xsi:type="dcterms:W3CDTF">2026-10-28T18:18:10Z</dcterms:modified>
</cp:coreProperties>
</file>