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266" r:id="rId12"/>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Eight stores make both views.Source: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2.5%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4.7%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6.0%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1.3%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7.1% vs 10%: 245 more a year (Jan–Sep x 12/9) x $87 gross a service.</a:t>
            </a:r>
          </a:p>
          <a:p/>
          <a:p>
            <a:r>
              <a:t>6. Tire balance - $21K a year. Tire balance 9.1%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5.8% vs 10%: 1,093 more a year (Jan–Sep x 12/9) x $138 gross a service.</a:t>
            </a:r>
          </a:p>
          <a:p/>
          <a:p>
            <a:r>
              <a:t>7. Fuel service - $142K a year. Fuel service 5.3% vs 7.5%: 585 more a year (Jan–Sep x 12/9) x $243 gross a service.</a:t>
            </a:r>
          </a:p>
          <a:p/>
          <a:p>
            <a:r>
              <a:t>8. Tire balance - $106K a year. Tire balance 7.3% vs 15%: 2,001 more a year (Jan–Sep x 12/9) x $53 gross a service.</a:t>
            </a:r>
          </a:p>
          <a:p/>
          <a:p>
            <a:r>
              <a:t>9. Alignment - $75K a year. Alignment 12.9%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7.8% vs 15%: 300 more a year (Jan–Sep x 12/9) x $90 gross a service.</a:t>
            </a:r>
          </a:p>
          <a:p/>
          <a:p>
            <a:r>
              <a:t>6. Fuel service - $21K a year. Fuel service 3.6% vs 7.5%: 160 more a year (Jan–Sep x 12/9) x $133 gross a service.</a:t>
            </a:r>
          </a:p>
          <a:p/>
          <a:p>
            <a:r>
              <a:t>7. Brake fluid - $21K a year. Brake fluid 6.1%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3.2%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11.1%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2.2%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5.9%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9.8%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8.3%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6.0%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0.1% vs 15%: 909 more a year (Jan–Sep x 12/9) x $75 gross a service.</a:t>
            </a:r>
          </a:p>
          <a:p/>
          <a:p>
            <a:r>
              <a:t>5. Alignment - $33K a year. Alignment 11.4% vs 15%: 221 more a year (Jan–Sep x 12/9) x $147 gross a service.</a:t>
            </a:r>
          </a:p>
          <a:p/>
          <a:p>
            <a:r>
              <a:t>6. Fuel service - $25K a year. Fuel service 4.3% vs 7.5%: 195 more a year (Jan–Sep x 12/9) x $128 gross a service.</a:t>
            </a:r>
          </a:p>
          <a:p/>
          <a:p>
            <a:r>
              <a:t>7. Brake fluid - $15K a year. Brake fluid 8.4%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1.7%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2.6%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4.6% vs 7.5%: 55 more a year (Jan–Sep x 12/9) x $329 gross a service.</a:t>
            </a:r>
          </a:p>
          <a:p/>
          <a:p>
            <a:r>
              <a:t>4. Alignment - $10K a year. Alignment 12.9%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8.5% vs 10%: 115 more a year (Jan–Sep x 12/9) x $154 gross a service.</a:t>
            </a:r>
          </a:p>
          <a:p/>
          <a:p>
            <a:r>
              <a:t>6. Tire balance - $11K a year. Tire balance 13.2%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7.5% vs 15%: 700 more a year (Jan–Sep x 12/9) x $119 gross a service.</a:t>
            </a:r>
          </a:p>
          <a:p/>
          <a:p>
            <a:r>
              <a:t>4. Tire balance - $77K a year. Tire balance 1.1% vs 15%: 1,296 more a year (Jan–Sep x 12/9) x $59 gross a service.</a:t>
            </a:r>
          </a:p>
          <a:p/>
          <a:p>
            <a:r>
              <a:t>5. Fuel service - $64K a year. Fuel service 4.2%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7.1%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12.6%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3.7% vs 15%: 837 more a year (Jan–Sep x 12/9) x $149 gross a service.</a:t>
            </a:r>
          </a:p>
          <a:p/>
          <a:p>
            <a:r>
              <a:t>3. CP labor GP % - $98K a year. 73.9% vs 78% (bottom of the 78-80% range) x $1.77M CP labor sale x 12/9.</a:t>
            </a:r>
          </a:p>
          <a:p/>
          <a:p>
            <a:r>
              <a:t>4. Alignment - $23K a year. Alignment 11.1%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1.7%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8.1%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6.2%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6.5%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4.3% vs 15%: 2,490 more a year (Jan–Sep x 12/9) x $90 gross a service.</a:t>
            </a:r>
          </a:p>
          <a:p/>
          <a:p>
            <a:r>
              <a:t>4. Tire balance - $180K a year. Tire balance 0.5%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8.3%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8" name="Shape 65"/>
          <p:cNvSpPr/>
          <p:nvPr/>
        </p:nvSpPr>
        <p:spPr>
          <a:xfrm>
            <a:off x="457200" y="6126480"/>
            <a:ext cx="11274552" cy="371856"/>
          </a:xfrm>
          <a:prstGeom prst="rect">
            <a:avLst/>
          </a:prstGeom>
          <a:solidFill>
            <a:srgbClr val="E6F6EE"/>
          </a:solidFill>
          <a:ln/>
        </p:spPr>
      </p:sp>
      <p:sp>
        <p:nvSpPr>
          <p:cNvPr id="69"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Dispatch, parts staging, approvals, coaching</a:t>
            </a:r>
            <a:endParaRPr lang="en-US" sz="16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MPI on every car, the menu, Road to the Sale</a:t>
            </a:r>
            <a:endParaRPr lang="en-US" sz="16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Alignment, balance, brake fluid, fuel service</a:t>
            </a:r>
            <a:endParaRPr lang="en-US" sz="16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Phones, scheduler, retention, marketing</a:t>
            </a:r>
            <a:endParaRPr lang="en-US" sz="16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600" dirty="0">
                <a:solidFill>
                  <a:srgbClr val="595959"/>
                </a:solidFill>
                <a:latin typeface="Inter" pitchFamily="34" charset="0"/>
                <a:ea typeface="Inter" pitchFamily="34" charset="-122"/>
                <a:cs typeface="Inter" pitchFamily="34" charset="-120"/>
              </a:rPr>
              <a:t>Parts to the bay, tools and keys in place</a:t>
            </a:r>
            <a:endParaRPr lang="en-US" sz="1600" dirty="0"/>
          </a:p>
        </p:txBody>
      </p:sp>
      <p:sp>
        <p:nvSpPr>
          <p:cNvPr id="34" name="Shape 32"/>
          <p:cNvSpPr/>
          <p:nvPr/>
        </p:nvSpPr>
        <p:spPr>
          <a:xfrm>
            <a:off x="457200" y="6126480"/>
            <a:ext cx="11274552" cy="615696"/>
          </a:xfrm>
          <a:prstGeom prst="rect">
            <a:avLst/>
          </a:prstGeom>
          <a:solidFill>
            <a:srgbClr val="E6F6EE"/>
          </a:solidFill>
          <a:ln/>
        </p:spPr>
      </p:sp>
      <p:sp>
        <p:nvSpPr>
          <p:cNvPr id="35" name="Text 3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7" name="Shape 15"/>
          <p:cNvSpPr/>
          <p:nvPr/>
        </p:nvSpPr>
        <p:spPr>
          <a:xfrm>
            <a:off x="3845560" y="658368"/>
            <a:ext cx="7886192" cy="475488"/>
          </a:xfrm>
          <a:prstGeom prst="rect">
            <a:avLst/>
          </a:prstGeom>
          <a:solidFill>
            <a:srgbClr val="EDF4FA"/>
          </a:solidFill>
          <a:ln/>
        </p:spPr>
      </p:sp>
      <p:sp>
        <p:nvSpPr>
          <p:cNvPr id="18" name="Text 16"/>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7" name="Shape 15"/>
          <p:cNvSpPr/>
          <p:nvPr/>
        </p:nvSpPr>
        <p:spPr>
          <a:xfrm>
            <a:off x="4034028" y="658368"/>
            <a:ext cx="7697724" cy="475488"/>
          </a:xfrm>
          <a:prstGeom prst="rect">
            <a:avLst/>
          </a:prstGeom>
          <a:solidFill>
            <a:srgbClr val="EDF4FA"/>
          </a:solidFill>
          <a:ln/>
        </p:spPr>
      </p:sp>
      <p:sp>
        <p:nvSpPr>
          <p:cNvPr id="18" name="Text 16"/>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7" name="Shape 15"/>
          <p:cNvSpPr/>
          <p:nvPr/>
        </p:nvSpPr>
        <p:spPr>
          <a:xfrm>
            <a:off x="4222496" y="658368"/>
            <a:ext cx="7509256" cy="475488"/>
          </a:xfrm>
          <a:prstGeom prst="rect">
            <a:avLst/>
          </a:prstGeom>
          <a:solidFill>
            <a:srgbClr val="EDF4FA"/>
          </a:solidFill>
          <a:ln/>
        </p:spPr>
      </p:sp>
      <p:sp>
        <p:nvSpPr>
          <p:cNvPr id="18" name="Text 16"/>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28" name="Text 26"/>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0" name="Text 28"/>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37866"/>
            <a:ext cx="10872216" cy="323850"/>
          </a:xfrm>
          <a:prstGeom prst="rect">
            <a:avLst/>
          </a:prstGeom>
          <a:solidFill>
            <a:srgbClr val="F7F7F7"/>
          </a:solidFill>
          <a:ln/>
        </p:spPr>
      </p:sp>
      <p:sp>
        <p:nvSpPr>
          <p:cNvPr id="32" name="Text 30"/>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4" name="Text 32"/>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5" name="Text 33"/>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7" name="Text 35"/>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8" name="Text 36"/>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1" name="Text 39"/>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3" name="Text 41"/>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4" name="Shape 42"/>
          <p:cNvSpPr/>
          <p:nvPr/>
        </p:nvSpPr>
        <p:spPr>
          <a:xfrm>
            <a:off x="658368" y="3385566"/>
            <a:ext cx="10872216" cy="323850"/>
          </a:xfrm>
          <a:prstGeom prst="rect">
            <a:avLst/>
          </a:prstGeom>
          <a:solidFill>
            <a:srgbClr val="F7F7F7"/>
          </a:solidFill>
          <a:ln/>
        </p:spPr>
      </p:sp>
      <p:sp>
        <p:nvSpPr>
          <p:cNvPr id="45" name="Text 43"/>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7" name="Text 45"/>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48" name="Text 46"/>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0" name="Text 48"/>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1" name="Text 49"/>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3" name="Text 51"/>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4" name="Text 52"/>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6" name="Text 54"/>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7" name="Shape 55"/>
          <p:cNvSpPr/>
          <p:nvPr/>
        </p:nvSpPr>
        <p:spPr>
          <a:xfrm>
            <a:off x="658368" y="4033266"/>
            <a:ext cx="10872216" cy="323850"/>
          </a:xfrm>
          <a:prstGeom prst="rect">
            <a:avLst/>
          </a:prstGeom>
          <a:solidFill>
            <a:srgbClr val="F7F7F7"/>
          </a:solidFill>
          <a:ln/>
        </p:spPr>
      </p:sp>
      <p:sp>
        <p:nvSpPr>
          <p:cNvPr id="58" name="Text 56"/>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0" name="Text 58"/>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61" name="Text 59"/>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3" name="Text 61"/>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4" name="Text 62"/>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6" name="Text 64"/>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7" name="Text 65"/>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69" name="Text 67"/>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0" name="Shape 68"/>
          <p:cNvSpPr/>
          <p:nvPr/>
        </p:nvSpPr>
        <p:spPr>
          <a:xfrm>
            <a:off x="658368" y="4680966"/>
            <a:ext cx="10872216" cy="323850"/>
          </a:xfrm>
          <a:prstGeom prst="rect">
            <a:avLst/>
          </a:prstGeom>
          <a:solidFill>
            <a:srgbClr val="F7F7F7"/>
          </a:solidFill>
          <a:ln/>
        </p:spPr>
      </p:sp>
      <p:sp>
        <p:nvSpPr>
          <p:cNvPr id="71" name="Text 69"/>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3" name="Text 71"/>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4" name="Text 72"/>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5" name="Text 73"/>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6" name="Text 74"/>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7" name="Text 75"/>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9" name="Text 77"/>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0" name="Text 78"/>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2" name="Text 80"/>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3" name="Shape 81"/>
          <p:cNvSpPr/>
          <p:nvPr/>
        </p:nvSpPr>
        <p:spPr>
          <a:xfrm>
            <a:off x="658368" y="5323180"/>
            <a:ext cx="10872216" cy="10973"/>
          </a:xfrm>
          <a:prstGeom prst="rect">
            <a:avLst/>
          </a:prstGeom>
          <a:solidFill>
            <a:srgbClr val="9AA3AD"/>
          </a:solidFill>
          <a:ln/>
        </p:spPr>
      </p:sp>
      <p:sp>
        <p:nvSpPr>
          <p:cNvPr id="84" name="Text 82"/>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6" name="Text 84"/>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7" name="Text 85"/>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8" name="Text 86"/>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9" name="Text 87"/>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0" name="Text 88"/>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1" name="Text 89"/>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2" name="Text 90"/>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3" name="Text 91"/>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4" name="Text 92"/>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5" name="Text 93"/>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6" name="Shape 94"/>
          <p:cNvSpPr/>
          <p:nvPr/>
        </p:nvSpPr>
        <p:spPr>
          <a:xfrm>
            <a:off x="658368" y="5976366"/>
            <a:ext cx="10872216" cy="323850"/>
          </a:xfrm>
          <a:prstGeom prst="rect">
            <a:avLst/>
          </a:prstGeom>
          <a:solidFill>
            <a:srgbClr val="F7F7F7"/>
          </a:solidFill>
          <a:ln/>
        </p:spPr>
      </p:sp>
      <p:sp>
        <p:nvSpPr>
          <p:cNvPr id="97" name="Text 95"/>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8" name="Text 96"/>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9" name="Text 97"/>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0" name="Text 98"/>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1" name="Text 99"/>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2" name="Text 100"/>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7" name="Shape 15"/>
          <p:cNvSpPr/>
          <p:nvPr/>
        </p:nvSpPr>
        <p:spPr>
          <a:xfrm>
            <a:off x="6955282" y="658368"/>
            <a:ext cx="4776470" cy="475488"/>
          </a:xfrm>
          <a:prstGeom prst="rect">
            <a:avLst/>
          </a:prstGeom>
          <a:solidFill>
            <a:srgbClr val="EDF4FA"/>
          </a:solidFill>
          <a:ln/>
        </p:spPr>
      </p:sp>
      <p:sp>
        <p:nvSpPr>
          <p:cNvPr id="18" name="Text 16"/>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5" name="Shape 83"/>
          <p:cNvSpPr/>
          <p:nvPr/>
        </p:nvSpPr>
        <p:spPr>
          <a:xfrm>
            <a:off x="658368" y="5376672"/>
            <a:ext cx="10872216" cy="329184"/>
          </a:xfrm>
          <a:prstGeom prst="rect">
            <a:avLst/>
          </a:prstGeom>
          <a:solidFill>
            <a:srgbClr val="F7F7F7"/>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7" name="Shape 15"/>
          <p:cNvSpPr/>
          <p:nvPr/>
        </p:nvSpPr>
        <p:spPr>
          <a:xfrm>
            <a:off x="4693666" y="658368"/>
            <a:ext cx="7038086" cy="475488"/>
          </a:xfrm>
          <a:prstGeom prst="rect">
            <a:avLst/>
          </a:prstGeom>
          <a:solidFill>
            <a:srgbClr val="EDF4FA"/>
          </a:solidFill>
          <a:ln/>
        </p:spPr>
      </p:sp>
      <p:sp>
        <p:nvSpPr>
          <p:cNvPr id="18" name="Text 16"/>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7" name="Shape 15"/>
          <p:cNvSpPr/>
          <p:nvPr/>
        </p:nvSpPr>
        <p:spPr>
          <a:xfrm>
            <a:off x="3751326" y="658368"/>
            <a:ext cx="7980426" cy="475488"/>
          </a:xfrm>
          <a:prstGeom prst="rect">
            <a:avLst/>
          </a:prstGeom>
          <a:solidFill>
            <a:srgbClr val="EDF4FA"/>
          </a:solidFill>
          <a:ln/>
        </p:spPr>
      </p:sp>
      <p:sp>
        <p:nvSpPr>
          <p:cNvPr id="18" name="Text 16"/>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7" name="Shape 15"/>
          <p:cNvSpPr/>
          <p:nvPr/>
        </p:nvSpPr>
        <p:spPr>
          <a:xfrm>
            <a:off x="7237984" y="658368"/>
            <a:ext cx="4493768" cy="475488"/>
          </a:xfrm>
          <a:prstGeom prst="rect">
            <a:avLst/>
          </a:prstGeom>
          <a:solidFill>
            <a:srgbClr val="EDF4FA"/>
          </a:solidFill>
          <a:ln/>
        </p:spPr>
      </p:sp>
      <p:sp>
        <p:nvSpPr>
          <p:cNvPr id="18" name="Text 16"/>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7" name="Shape 15"/>
          <p:cNvSpPr/>
          <p:nvPr/>
        </p:nvSpPr>
        <p:spPr>
          <a:xfrm>
            <a:off x="7143750" y="658368"/>
            <a:ext cx="4588002" cy="475488"/>
          </a:xfrm>
          <a:prstGeom prst="rect">
            <a:avLst/>
          </a:prstGeom>
          <a:solidFill>
            <a:srgbClr val="EDF4FA"/>
          </a:solidFill>
          <a:ln/>
        </p:spPr>
      </p:sp>
      <p:sp>
        <p:nvSpPr>
          <p:cNvPr id="18" name="Text 16"/>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11.4%</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7" name="Shape 15"/>
          <p:cNvSpPr/>
          <p:nvPr/>
        </p:nvSpPr>
        <p:spPr>
          <a:xfrm>
            <a:off x="3374390" y="658368"/>
            <a:ext cx="8357362" cy="475488"/>
          </a:xfrm>
          <a:prstGeom prst="rect">
            <a:avLst/>
          </a:prstGeom>
          <a:solidFill>
            <a:srgbClr val="EDF4FA"/>
          </a:solidFill>
          <a:ln/>
        </p:spPr>
      </p:sp>
      <p:sp>
        <p:nvSpPr>
          <p:cNvPr id="18" name="Text 16"/>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7" name="Shape 45"/>
          <p:cNvSpPr/>
          <p:nvPr/>
        </p:nvSpPr>
        <p:spPr>
          <a:xfrm>
            <a:off x="658368" y="3401568"/>
            <a:ext cx="10872216" cy="329184"/>
          </a:xfrm>
          <a:prstGeom prst="rect">
            <a:avLst/>
          </a:prstGeom>
          <a:solidFill>
            <a:srgbClr val="F7F7F7"/>
          </a:solidFill>
          <a:ln/>
        </p:spPr>
      </p:sp>
      <p:sp>
        <p:nvSpPr>
          <p:cNvPr id="48" name="Text 46"/>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9" name="Text 47"/>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0" name="Text 48"/>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1" name="Text 49"/>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2" name="Text 50"/>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3" name="Text 51"/>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7" name="Shape 15"/>
          <p:cNvSpPr/>
          <p:nvPr/>
        </p:nvSpPr>
        <p:spPr>
          <a:xfrm>
            <a:off x="3468624" y="658368"/>
            <a:ext cx="8263128" cy="475488"/>
          </a:xfrm>
          <a:prstGeom prst="rect">
            <a:avLst/>
          </a:prstGeom>
          <a:solidFill>
            <a:srgbClr val="EDF4FA"/>
          </a:solidFill>
          <a:ln/>
        </p:spPr>
      </p:sp>
      <p:sp>
        <p:nvSpPr>
          <p:cNvPr id="18" name="Text 16"/>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20.7%   ·   2nd · Hours per RO 3.99   ·   2nd · CP labor $/RO $931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4.6%</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12.9%</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8.5%</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7" name="Shape 15"/>
          <p:cNvSpPr/>
          <p:nvPr/>
        </p:nvSpPr>
        <p:spPr>
          <a:xfrm>
            <a:off x="6201410" y="658368"/>
            <a:ext cx="5530342" cy="475488"/>
          </a:xfrm>
          <a:prstGeom prst="rect">
            <a:avLst/>
          </a:prstGeom>
          <a:solidFill>
            <a:srgbClr val="EDF4FA"/>
          </a:solidFill>
          <a:ln/>
        </p:spPr>
      </p:sp>
      <p:sp>
        <p:nvSpPr>
          <p:cNvPr id="18" name="Text 16"/>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7" name="Shape 15"/>
          <p:cNvSpPr/>
          <p:nvPr/>
        </p:nvSpPr>
        <p:spPr>
          <a:xfrm>
            <a:off x="6107176" y="658368"/>
            <a:ext cx="5624576" cy="475488"/>
          </a:xfrm>
          <a:prstGeom prst="rect">
            <a:avLst/>
          </a:prstGeom>
          <a:solidFill>
            <a:srgbClr val="EDF4FA"/>
          </a:solidFill>
          <a:ln/>
        </p:spPr>
      </p:sp>
      <p:sp>
        <p:nvSpPr>
          <p:cNvPr id="18" name="Text 16"/>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7" name="Shape 15"/>
          <p:cNvSpPr/>
          <p:nvPr/>
        </p:nvSpPr>
        <p:spPr>
          <a:xfrm>
            <a:off x="6295644" y="658368"/>
            <a:ext cx="5436108" cy="475488"/>
          </a:xfrm>
          <a:prstGeom prst="rect">
            <a:avLst/>
          </a:prstGeom>
          <a:solidFill>
            <a:srgbClr val="EDF4FA"/>
          </a:solidFill>
          <a:ln/>
        </p:spPr>
      </p:sp>
      <p:sp>
        <p:nvSpPr>
          <p:cNvPr id="18" name="Text 16"/>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6.5%</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0.5%</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5" name="Shape 83"/>
          <p:cNvSpPr/>
          <p:nvPr/>
        </p:nvSpPr>
        <p:spPr>
          <a:xfrm>
            <a:off x="658368" y="5328666"/>
            <a:ext cx="10872216" cy="323850"/>
          </a:xfrm>
          <a:prstGeom prst="rect">
            <a:avLst/>
          </a:prstGeom>
          <a:solidFill>
            <a:srgbClr val="F7F7F7"/>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2" name="Shape 90"/>
          <p:cNvSpPr/>
          <p:nvPr/>
        </p:nvSpPr>
        <p:spPr>
          <a:xfrm>
            <a:off x="658368" y="5647030"/>
            <a:ext cx="10872216" cy="10973"/>
          </a:xfrm>
          <a:prstGeom prst="rect">
            <a:avLst/>
          </a:prstGeom>
          <a:solidFill>
            <a:srgbClr val="9AA3AD"/>
          </a:solidFill>
          <a:ln/>
        </p:spPr>
      </p:sp>
      <p:sp>
        <p:nvSpPr>
          <p:cNvPr id="93" name="Text 91"/>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6" name="Text 94"/>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99" name="Shape 97"/>
          <p:cNvSpPr/>
          <p:nvPr/>
        </p:nvSpPr>
        <p:spPr>
          <a:xfrm>
            <a:off x="658368" y="5976366"/>
            <a:ext cx="10872216" cy="323850"/>
          </a:xfrm>
          <a:prstGeom prst="rect">
            <a:avLst/>
          </a:prstGeom>
          <a:solidFill>
            <a:srgbClr val="F7F7F7"/>
          </a:solidFill>
          <a:ln/>
        </p:spPr>
      </p:sp>
      <p:sp>
        <p:nvSpPr>
          <p:cNvPr id="100" name="Text 98"/>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3" name="Text 101"/>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7" name="Shape 15"/>
          <p:cNvSpPr/>
          <p:nvPr/>
        </p:nvSpPr>
        <p:spPr>
          <a:xfrm>
            <a:off x="4787900" y="658368"/>
            <a:ext cx="6943852" cy="475488"/>
          </a:xfrm>
          <a:prstGeom prst="rect">
            <a:avLst/>
          </a:prstGeom>
          <a:solidFill>
            <a:srgbClr val="EDF4FA"/>
          </a:solidFill>
          <a:ln/>
        </p:spPr>
      </p:sp>
      <p:sp>
        <p:nvSpPr>
          <p:cNvPr id="18" name="Text 16"/>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28" name="Text 26"/>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0" name="Text 28"/>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12954"/>
            <a:ext cx="10872216" cy="298938"/>
          </a:xfrm>
          <a:prstGeom prst="rect">
            <a:avLst/>
          </a:prstGeom>
          <a:solidFill>
            <a:srgbClr val="F7F7F7"/>
          </a:solidFill>
          <a:ln/>
        </p:spPr>
      </p:sp>
      <p:sp>
        <p:nvSpPr>
          <p:cNvPr id="32" name="Text 30"/>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4" name="Text 32"/>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5" name="Text 33"/>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7" name="Text 35"/>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8" name="Text 36"/>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1" name="Text 39"/>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3" name="Text 41"/>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4" name="Shape 42"/>
          <p:cNvSpPr/>
          <p:nvPr/>
        </p:nvSpPr>
        <p:spPr>
          <a:xfrm>
            <a:off x="658368" y="3310831"/>
            <a:ext cx="10872216" cy="298938"/>
          </a:xfrm>
          <a:prstGeom prst="rect">
            <a:avLst/>
          </a:prstGeom>
          <a:solidFill>
            <a:srgbClr val="F7F7F7"/>
          </a:solidFill>
          <a:ln/>
        </p:spPr>
      </p:sp>
      <p:sp>
        <p:nvSpPr>
          <p:cNvPr id="45" name="Text 43"/>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7" name="Text 45"/>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48" name="Text 46"/>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0" name="Text 48"/>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1" name="Text 49"/>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3" name="Text 51"/>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4" name="Text 52"/>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6" name="Text 54"/>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7" name="Shape 55"/>
          <p:cNvSpPr/>
          <p:nvPr/>
        </p:nvSpPr>
        <p:spPr>
          <a:xfrm>
            <a:off x="658368" y="3908708"/>
            <a:ext cx="10872216" cy="298938"/>
          </a:xfrm>
          <a:prstGeom prst="rect">
            <a:avLst/>
          </a:prstGeom>
          <a:solidFill>
            <a:srgbClr val="F7F7F7"/>
          </a:solidFill>
          <a:ln/>
        </p:spPr>
      </p:sp>
      <p:sp>
        <p:nvSpPr>
          <p:cNvPr id="58" name="Text 56"/>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0" name="Text 58"/>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1" name="Text 59"/>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3" name="Text 61"/>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4" name="Text 62"/>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6" name="Text 64"/>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7" name="Text 65"/>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69" name="Text 67"/>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0" name="Shape 68"/>
          <p:cNvSpPr/>
          <p:nvPr/>
        </p:nvSpPr>
        <p:spPr>
          <a:xfrm>
            <a:off x="658368" y="4506585"/>
            <a:ext cx="10872216" cy="298938"/>
          </a:xfrm>
          <a:prstGeom prst="rect">
            <a:avLst/>
          </a:prstGeom>
          <a:solidFill>
            <a:srgbClr val="F7F7F7"/>
          </a:solidFill>
          <a:ln/>
        </p:spPr>
      </p:sp>
      <p:sp>
        <p:nvSpPr>
          <p:cNvPr id="71" name="Text 69"/>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3" name="Text 71"/>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4" name="Text 72"/>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5" name="Text 73"/>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6" name="Text 74"/>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7" name="Text 75"/>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9" name="Text 77"/>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0" name="Text 78"/>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2" name="Text 80"/>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3" name="Shape 81"/>
          <p:cNvSpPr/>
          <p:nvPr/>
        </p:nvSpPr>
        <p:spPr>
          <a:xfrm>
            <a:off x="658368" y="5104462"/>
            <a:ext cx="10872216" cy="298938"/>
          </a:xfrm>
          <a:prstGeom prst="rect">
            <a:avLst/>
          </a:prstGeom>
          <a:solidFill>
            <a:srgbClr val="F7F7F7"/>
          </a:solidFill>
          <a:ln/>
        </p:spPr>
      </p:sp>
      <p:sp>
        <p:nvSpPr>
          <p:cNvPr id="84" name="Text 82"/>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6" name="Text 84"/>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7" name="Text 85"/>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8" name="Text 86"/>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9" name="Text 87"/>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0" name="Shape 88"/>
          <p:cNvSpPr/>
          <p:nvPr/>
        </p:nvSpPr>
        <p:spPr>
          <a:xfrm>
            <a:off x="658368" y="5397914"/>
            <a:ext cx="10872216" cy="10973"/>
          </a:xfrm>
          <a:prstGeom prst="rect">
            <a:avLst/>
          </a:prstGeom>
          <a:solidFill>
            <a:srgbClr val="9AA3AD"/>
          </a:solidFill>
          <a:ln/>
        </p:spPr>
      </p:sp>
      <p:sp>
        <p:nvSpPr>
          <p:cNvPr id="91" name="Text 89"/>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2" name="Text 90"/>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3" name="Text 91"/>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4" name="Text 92"/>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5" name="Text 93"/>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6" name="Text 94"/>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7" name="Shape 95"/>
          <p:cNvSpPr/>
          <p:nvPr/>
        </p:nvSpPr>
        <p:spPr>
          <a:xfrm>
            <a:off x="658368" y="5702339"/>
            <a:ext cx="10872216" cy="298938"/>
          </a:xfrm>
          <a:prstGeom prst="rect">
            <a:avLst/>
          </a:prstGeom>
          <a:solidFill>
            <a:srgbClr val="F7F7F7"/>
          </a:solidFill>
          <a:ln/>
        </p:spPr>
      </p:sp>
      <p:sp>
        <p:nvSpPr>
          <p:cNvPr id="98" name="Text 96"/>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9" name="Text 97"/>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0" name="Text 98"/>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1" name="Text 99"/>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2" name="Text 100"/>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3" name="Text 101"/>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4" name="Text 102"/>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5" name="Text 103"/>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6" name="Text 104"/>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7" name="Text 105"/>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8" name="Text 106"/>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9" name="Text 107"/>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2026-10-27T23:33:43Z</dcterms:created>
  <dcterms:modified xsi:type="dcterms:W3CDTF">2026-10-27T23:33:43Z</dcterms:modified>
</cp:coreProperties>
</file>