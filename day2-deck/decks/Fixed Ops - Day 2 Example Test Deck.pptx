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59" r:id="rId5"/>
    <p:sldId id="279" r:id="rId30"/>
    <p:sldId id="280" r:id="rId31"/>
    <p:sldId id="281" r:id="rId32"/>
    <p:sldId id="282" r:id="rId33"/>
    <p:sldId id="283" r:id="rId34"/>
    <p:sldId id="284" r:id="rId35"/>
    <p:sldId id="285" r:id="rId36"/>
    <p:sldId id="286" r:id="rId37"/>
    <p:sldId id="287" r:id="rId38"/>
    <p:sldId id="288" r:id="rId39"/>
    <p:sldId id="289" r:id="rId40"/>
    <p:sldId id="260" r:id="rId6"/>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261" r:id="rId7"/>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262" r:id="rId8"/>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263" r:id="rId9"/>
    <p:sldId id="374" r:id="rId125"/>
    <p:sldId id="375" r:id="rId126"/>
    <p:sldId id="376" r:id="rId127"/>
    <p:sldId id="377" r:id="rId128"/>
    <p:sldId id="378" r:id="rId129"/>
    <p:sldId id="379" r:id="rId130"/>
    <p:sldId id="380" r:id="rId131"/>
    <p:sldId id="381" r:id="rId132"/>
    <p:sldId id="382" r:id="rId133"/>
    <p:sldId id="383" r:id="rId134"/>
    <p:sldId id="384" r:id="rId135"/>
    <p:sldId id="264" r:id="rId10"/>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265" r:id="rId11"/>
    <p:sldId id="415" r:id="rId166"/>
    <p:sldId id="416" r:id="rId167"/>
    <p:sldId id="417" r:id="rId168"/>
    <p:sldId id="418" r:id="rId169"/>
    <p:sldId id="419" r:id="rId170"/>
    <p:sldId id="420" r:id="rId171"/>
    <p:sldId id="266" r:id="rId12"/>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c:v>
                </c:pt>
                <c:pt idx="1">
                  <c:v>162</c:v>
                </c:pt>
                <c:pt idx="2">
                  <c:v>162</c:v>
                </c:pt>
                <c:pt idx="3">
                  <c:v>162</c:v>
                </c:pt>
                <c:pt idx="4">
                  <c:v>161</c:v>
                </c:pt>
                <c:pt idx="5">
                  <c:v>162</c:v>
                </c:pt>
                <c:pt idx="6">
                  <c:v>163</c:v>
                </c:pt>
                <c:pt idx="7">
                  <c:v>165</c:v>
                </c:pt>
                <c:pt idx="8">
                  <c:v>164</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c:v>
                </c:pt>
                <c:pt idx="1">
                  <c:v>162</c:v>
                </c:pt>
                <c:pt idx="2">
                  <c:v>162</c:v>
                </c:pt>
                <c:pt idx="3">
                  <c:v>162</c:v>
                </c:pt>
                <c:pt idx="4">
                  <c:v>161</c:v>
                </c:pt>
                <c:pt idx="5">
                  <c:v>162</c:v>
                </c:pt>
                <c:pt idx="6">
                  <c:v>163</c:v>
                </c:pt>
                <c:pt idx="7">
                  <c:v>165</c:v>
                </c:pt>
                <c:pt idx="8">
                  <c:v>164</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c:v>
                </c:pt>
                <c:pt idx="1">
                  <c:v>159</c:v>
                </c:pt>
                <c:pt idx="2">
                  <c:v>158</c:v>
                </c:pt>
                <c:pt idx="3">
                  <c:v>159</c:v>
                </c:pt>
                <c:pt idx="4">
                  <c:v>158</c:v>
                </c:pt>
                <c:pt idx="5">
                  <c:v>159</c:v>
                </c:pt>
                <c:pt idx="6">
                  <c:v>159</c:v>
                </c:pt>
                <c:pt idx="7">
                  <c:v>160</c:v>
                </c:pt>
                <c:pt idx="8">
                  <c:v>159</c:v>
                </c:pt>
                <c:pt idx="9">
                  <c:v>158</c:v>
                </c:pt>
                <c:pt idx="10">
                  <c:v>161</c:v>
                </c:pt>
                <c:pt idx="11">
                  <c:v>161</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c:v>
                </c:pt>
                <c:pt idx="1">
                  <c:v>159</c:v>
                </c:pt>
                <c:pt idx="2">
                  <c:v>158</c:v>
                </c:pt>
                <c:pt idx="3">
                  <c:v>159</c:v>
                </c:pt>
                <c:pt idx="4">
                  <c:v>158</c:v>
                </c:pt>
                <c:pt idx="5">
                  <c:v>159</c:v>
                </c:pt>
                <c:pt idx="6">
                  <c:v>159</c:v>
                </c:pt>
                <c:pt idx="7">
                  <c:v>160</c:v>
                </c:pt>
                <c:pt idx="8">
                  <c:v>159</c:v>
                </c:pt>
                <c:pt idx="9">
                  <c:v>158</c:v>
                </c:pt>
                <c:pt idx="10">
                  <c:v>161</c:v>
                </c:pt>
                <c:pt idx="11">
                  <c:v>161</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51.8</c:v>
                </c:pt>
                <c:pt idx="4">
                  <c:v>53.6</c:v>
                </c:pt>
                <c:pt idx="5">
                  <c:v>53.4</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
                </c:pt>
                <c:pt idx="4">
                  <c:v/>
                </c:pt>
                <c:pt idx="5">
                  <c:v>53.4</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51.8</c:v>
                </c:pt>
                <c:pt idx="4">
                  <c:v>53.6</c:v>
                </c:pt>
                <c:pt idx="5">
                  <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52.5</c:v>
                </c:pt>
                <c:pt idx="4">
                  <c:v>53.9</c:v>
                </c:pt>
                <c:pt idx="5">
                  <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
                </c:pt>
                <c:pt idx="4">
                  <c:v/>
                </c:pt>
                <c:pt idx="5">
                  <c:v>53.3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52.5</c:v>
                </c:pt>
                <c:pt idx="4">
                  <c:v>53.9</c:v>
                </c:pt>
                <c:pt idx="5">
                  <c:v>53.3</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126</c:v>
                </c:pt>
                <c:pt idx="1">
                  <c:v>124</c:v>
                </c:pt>
                <c:pt idx="2">
                  <c:v>131</c:v>
                </c:pt>
                <c:pt idx="3">
                  <c:v>131</c:v>
                </c:pt>
                <c:pt idx="4">
                  <c:v>132</c:v>
                </c:pt>
                <c:pt idx="5">
                  <c:v>128</c:v>
                </c:pt>
                <c:pt idx="6">
                  <c:v>133</c:v>
                </c:pt>
                <c:pt idx="7">
                  <c:v>130</c:v>
                </c:pt>
                <c:pt idx="8">
                  <c:v>134</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126</c:v>
                </c:pt>
                <c:pt idx="1">
                  <c:v/>
                </c:pt>
                <c:pt idx="2">
                  <c:v>131</c:v>
                </c:pt>
                <c:pt idx="3">
                  <c:v>131</c:v>
                </c:pt>
                <c:pt idx="4">
                  <c:v>132</c:v>
                </c:pt>
                <c:pt idx="5">
                  <c:v/>
                </c:pt>
                <c:pt idx="6">
                  <c:v>133</c:v>
                </c:pt>
                <c:pt idx="7">
                  <c:v>130</c:v>
                </c:pt>
                <c:pt idx="8">
                  <c:v>134</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c:v>
                </c:pt>
                <c:pt idx="2">
                  <c:v/>
                </c:pt>
                <c:pt idx="3">
                  <c:v/>
                </c:pt>
                <c:pt idx="4">
                  <c:v/>
                </c:pt>
                <c:pt idx="5">
                  <c:v>128</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c:v>
                </c:pt>
                <c:pt idx="2">
                  <c:v/>
                </c:pt>
                <c:pt idx="3">
                  <c:v/>
                </c:pt>
                <c:pt idx="4">
                  <c:v/>
                </c:pt>
                <c:pt idx="5">
                  <c:v>129</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124</c:v>
                </c:pt>
                <c:pt idx="1">
                  <c:v/>
                </c:pt>
                <c:pt idx="2">
                  <c:v>125</c:v>
                </c:pt>
                <c:pt idx="3">
                  <c:v>126</c:v>
                </c:pt>
                <c:pt idx="4">
                  <c:v>130</c:v>
                </c:pt>
                <c:pt idx="5">
                  <c:v/>
                </c:pt>
                <c:pt idx="6">
                  <c:v>126</c:v>
                </c:pt>
                <c:pt idx="7">
                  <c:v>126</c:v>
                </c:pt>
                <c:pt idx="8">
                  <c:v>124</c:v>
                </c:pt>
                <c:pt idx="9">
                  <c:v>126</c:v>
                </c:pt>
                <c:pt idx="10">
                  <c:v>126</c:v>
                </c:pt>
                <c:pt idx="11">
                  <c:v>130</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124</c:v>
                </c:pt>
                <c:pt idx="1">
                  <c:v>125</c:v>
                </c:pt>
                <c:pt idx="2">
                  <c:v>125</c:v>
                </c:pt>
                <c:pt idx="3">
                  <c:v>126</c:v>
                </c:pt>
                <c:pt idx="4">
                  <c:v>130</c:v>
                </c:pt>
                <c:pt idx="5">
                  <c:v>129</c:v>
                </c:pt>
                <c:pt idx="6">
                  <c:v>126</c:v>
                </c:pt>
                <c:pt idx="7">
                  <c:v>126</c:v>
                </c:pt>
                <c:pt idx="8">
                  <c:v>124</c:v>
                </c:pt>
                <c:pt idx="9">
                  <c:v>126</c:v>
                </c:pt>
                <c:pt idx="10">
                  <c:v>126</c:v>
                </c:pt>
                <c:pt idx="11">
                  <c:v>130</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c:v>
                </c:pt>
                <c:pt idx="1">
                  <c:v>198</c:v>
                </c:pt>
                <c:pt idx="2">
                  <c:v>197</c:v>
                </c:pt>
                <c:pt idx="3">
                  <c:v>199</c:v>
                </c:pt>
                <c:pt idx="4">
                  <c:v>194</c:v>
                </c:pt>
                <c:pt idx="5">
                  <c:v>194</c:v>
                </c:pt>
                <c:pt idx="6">
                  <c:v>199</c:v>
                </c:pt>
                <c:pt idx="7">
                  <c:v>198</c:v>
                </c:pt>
                <c:pt idx="8">
                  <c:v>199</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c:v>
                </c:pt>
                <c:pt idx="1">
                  <c:v>198</c:v>
                </c:pt>
                <c:pt idx="2">
                  <c:v>197</c:v>
                </c:pt>
                <c:pt idx="3">
                  <c:v>199</c:v>
                </c:pt>
                <c:pt idx="4">
                  <c:v>194</c:v>
                </c:pt>
                <c:pt idx="5">
                  <c:v>194</c:v>
                </c:pt>
                <c:pt idx="6">
                  <c:v>199</c:v>
                </c:pt>
                <c:pt idx="7">
                  <c:v>198</c:v>
                </c:pt>
                <c:pt idx="8">
                  <c:v>199</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c:v>
                </c:pt>
                <c:pt idx="1">
                  <c:v>175</c:v>
                </c:pt>
                <c:pt idx="2">
                  <c:v>173</c:v>
                </c:pt>
                <c:pt idx="3">
                  <c:v>176</c:v>
                </c:pt>
                <c:pt idx="4">
                  <c:v>182</c:v>
                </c:pt>
                <c:pt idx="5">
                  <c:v>185</c:v>
                </c:pt>
                <c:pt idx="6">
                  <c:v>187</c:v>
                </c:pt>
                <c:pt idx="7">
                  <c:v>186</c:v>
                </c:pt>
                <c:pt idx="8">
                  <c:v>187</c:v>
                </c:pt>
                <c:pt idx="9">
                  <c:v>188</c:v>
                </c:pt>
                <c:pt idx="10">
                  <c:v>189</c:v>
                </c:pt>
                <c:pt idx="11">
                  <c:v>193</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c:v>
                </c:pt>
                <c:pt idx="1">
                  <c:v>175</c:v>
                </c:pt>
                <c:pt idx="2">
                  <c:v>173</c:v>
                </c:pt>
                <c:pt idx="3">
                  <c:v>176</c:v>
                </c:pt>
                <c:pt idx="4">
                  <c:v>182</c:v>
                </c:pt>
                <c:pt idx="5">
                  <c:v>185</c:v>
                </c:pt>
                <c:pt idx="6">
                  <c:v>187</c:v>
                </c:pt>
                <c:pt idx="7">
                  <c:v>186</c:v>
                </c:pt>
                <c:pt idx="8">
                  <c:v>187</c:v>
                </c:pt>
                <c:pt idx="9">
                  <c:v>188</c:v>
                </c:pt>
                <c:pt idx="10">
                  <c:v>189</c:v>
                </c:pt>
                <c:pt idx="11">
                  <c:v>193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
                </c:pt>
                <c:pt idx="8">
                  <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14622</c:v>
                </c:pt>
                <c:pt idx="8">
                  <c:v>13082</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14622</c:v>
                </c:pt>
                <c:pt idx="8">
                  <c:v>13082</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7"/>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Gross Trend option A parts table and option B+Q4, Store Records (five designs), Door Rate option A, CP vs Internal GP % option A, Photo completion % (optional measure), Best Techs option C, Who's Moving Now alternate versions,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a:p>
            <a:r>
              <a:t>Added Oct 22 (Noah): profit-generating activities and incremental dollars; working on the business versus in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five and bottom four stores by variance.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x $162.42 CP ELR (on the Hours per RO data slide).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a:t>
            </a:r>
          </a:p>
          <a:p>
            <a:r>
              <a:t>Roundtable worked example removed from the slide (Noah, Oct 21).</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$244.12 / door $235.87 = 103.4%</a:t>
            </a:r>
          </a:p>
          <a:p>
            <a:r>
              <a:t>VOLVO: ELR $225.50 / door $249.95 = 90.2%</a:t>
            </a:r>
          </a:p>
          <a:p>
            <a:r>
              <a:t>CHEVY GMC BULLHEAD: ELR $161.80 / door $179.87 = 89.9%</a:t>
            </a:r>
          </a:p>
          <a:p>
            <a:r>
              <a:t>HYUNDAI ST GEORGE: ELR $165.96 / door $184.87 = 89.7%</a:t>
            </a:r>
          </a:p>
          <a:p>
            <a:r>
              <a:t>ACURA: ELR $199.04 / door $224.87 = 88.5%</a:t>
            </a:r>
          </a:p>
          <a:p>
            <a:r>
              <a:t>LR RENO: ELR $238.62 / door $275.00 = 86.7%</a:t>
            </a:r>
          </a:p>
          <a:p>
            <a:r>
              <a:t>HONDA FLAGSTAFF: ELR $159.69 / door $185.00 = 86.3%</a:t>
            </a:r>
          </a:p>
          <a:p>
            <a:r>
              <a:t>HONDA SPOKANE: ELR $147.93 / door $179.00 = 82.6%</a:t>
            </a:r>
          </a:p>
          <a:p>
            <a:r>
              <a:t>LEXUS: ELR $187.42 / door $229.95 = 81.5%</a:t>
            </a:r>
          </a:p>
          <a:p>
            <a:r>
              <a:t>CDJR POST FALLS: ELR $161.93 / door $199.95 = 80.9%</a:t>
            </a:r>
          </a:p>
          <a:p>
            <a:r>
              <a:t>TOYOTA PRESCOTT: ELR $155.78 / door $195.00 = 79.8%</a:t>
            </a:r>
          </a:p>
          <a:p>
            <a:r>
              <a:t>LR HENDERSON: ELR $234.48 / door $294.87 = 79.5%</a:t>
            </a:r>
          </a:p>
          <a:p>
            <a:r>
              <a:t>KIA ST GEORGE: ELR $146.04 / door $185.00 = 78.9%</a:t>
            </a:r>
          </a:p>
          <a:p>
            <a:r>
              <a:t>MAZDA: ELR $165.67 / door $209.87 = 78.9%</a:t>
            </a:r>
          </a:p>
          <a:p>
            <a:r>
              <a:t>VW HENDERSON: ELR $160.84 / door $204.87 = 78.5%</a:t>
            </a:r>
          </a:p>
          <a:p>
            <a:r>
              <a:t>VW ST GEORGE: ELR $141.89 / door $184.87 = 76.7%</a:t>
            </a:r>
          </a:p>
          <a:p>
            <a:r>
              <a:t>AUDI HENDERSON: ELR $266.72 / door $348.87 = 76.4%</a:t>
            </a:r>
          </a:p>
          <a:p>
            <a:r>
              <a:t>LR LV: ELR $233.88 / door $310.00 = 75.4%</a:t>
            </a:r>
          </a:p>
          <a:p>
            <a:r>
              <a:t>SUBARU LV: ELR $162.12 / door $215.37 = 75.2%</a:t>
            </a:r>
          </a:p>
          <a:p>
            <a:r>
              <a:t>NISSAN: ELR $180.14 / door $239.87 = 75.1%</a:t>
            </a:r>
          </a:p>
          <a:p>
            <a:r>
              <a:t>TOYOTA FLAGSTAFF: ELR $142.51 / door $190.00 = 75.0%</a:t>
            </a:r>
          </a:p>
          <a:p>
            <a:r>
              <a:t>SUBARU ST GEORGE: ELR $136.71 / door $185.00 = 73.8%</a:t>
            </a:r>
          </a:p>
          <a:p>
            <a:r>
              <a:t>TOYOTA HENDERSON: ELR $154.55 / door $211.26 = 73.1%</a:t>
            </a:r>
          </a:p>
          <a:p>
            <a:r>
              <a:t>HONDA HENDERSON: ELR $153.45 / door $211.87 = 72.4%</a:t>
            </a:r>
          </a:p>
          <a:p>
            <a:r>
              <a:t>HONDA NORTH: ELR $149.70 / door $211.87 = 70.6%</a:t>
            </a:r>
          </a:p>
          <a:p>
            <a:r>
              <a:t>KIA LV: ELR $150.72 / door $219.87 = 68.5%</a:t>
            </a:r>
          </a:p>
          <a:p>
            <a:r>
              <a:t>LINCOLN: ELR $167.22 / door $244.87 = 68.2%</a:t>
            </a:r>
          </a:p>
          <a:p>
            <a:r>
              <a:t>TOYOTA SPOKANE: ELR $124.92 / door $185.00 = 67.5%</a:t>
            </a:r>
          </a:p>
          <a:p>
            <a:r>
              <a:t>GMC PRESCOTT: ELR $146.92 / door $220.00 = 66.7%</a:t>
            </a:r>
          </a:p>
          <a:p>
            <a:r>
              <a:t>SUBARU PRESCOTT: ELR $139.81 / door $210.00 = 66.5%</a:t>
            </a:r>
          </a:p>
          <a:p>
            <a:r>
              <a:t>CHEVY LV: ELR $146.25 / door $224.87 = 65.0%</a:t>
            </a:r>
          </a:p>
          <a:p>
            <a:r>
              <a:t>HYUNDAI PRESCOTT: ELR $136.12 / door $210.00 = 64.8%</a:t>
            </a:r>
          </a:p>
          <a:p>
            <a:r>
              <a:t>CADILLAC: ELR $175.47 / door $285.00 = 61.5%</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CP Labor Gross Profit %.</a:t>
            </a:r>
          </a:p>
          <a:p>
            <a:r>
              <a:t>Said: Roundtable slide 21 (Gross Profit %). Above 80% can mean techs are underpaid on the work they do; below 78% means the job mix or the dispatch is off.</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Roundtable slide 21, every job at a $25 tech rate; margins differ because each job's ELR differs.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after the section break and before the pay type slides.</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Change in Customer Pay Share of Labor Sale,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Share of CP labor sale whose op code description matches neither the maintenance nor the repair rules, Jan-Sep 2026. Lower is better: green at or below the group, red above.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before the work-type (maintenance / repair / unclassified)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group gross per service $129.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14.5%, 326 services short a year x $102/service = $33,148</a:t>
            </a:r>
          </a:p>
          <a:p>
            <a:r>
              <a:t>CHEVY LV: 12.8%, 556 services short a year x $136/service = $75,460</a:t>
            </a:r>
          </a:p>
          <a:p>
            <a:r>
              <a:t>TOYOTA SPOKANE: 4.2%, 2,490 services short a year x $90/service = $225,288</a:t>
            </a:r>
          </a:p>
          <a:p>
            <a:r>
              <a:t>TOYOTA FLAGSTAFF: 9.7%, 1,066 services short a year x $84/service = $89,952</a:t>
            </a:r>
          </a:p>
          <a:p>
            <a:r>
              <a:t>SUBARU LV: 14.5%, 83 services short a year x $117/service = $9,769</a:t>
            </a:r>
          </a:p>
          <a:p>
            <a:r>
              <a:t>TOYOTA PRESCOTT: 12.3%, 478 services short a year x $103/service = $49,384</a:t>
            </a:r>
          </a:p>
          <a:p>
            <a:r>
              <a:t>HONDA SPOKANE: 12.5%, 294 services short a year x $124/service = $36,325</a:t>
            </a:r>
          </a:p>
          <a:p>
            <a:r>
              <a:t>KIA LV: 9.7%, 568 services short a year x $135/service = $76,788</a:t>
            </a:r>
          </a:p>
          <a:p>
            <a:r>
              <a:t>NISSAN: 7.4%, 700 services short a year x $119/service = $83,122</a:t>
            </a:r>
          </a:p>
          <a:p>
            <a:r>
              <a:t>CHEVY GMC BULLHEAD: 11.1%, 324 services short a year x $78/service = $25,354</a:t>
            </a:r>
          </a:p>
          <a:p>
            <a:r>
              <a:t>SUBARU ST GEORGE: 11.0%, 291 services short a year x $78/service = $22,634</a:t>
            </a:r>
          </a:p>
          <a:p>
            <a:r>
              <a:t>CDJR POST FALLS: 4.2%, 770 services short a year x $74/service = $57,157</a:t>
            </a:r>
          </a:p>
          <a:p>
            <a:r>
              <a:t>CADILLAC: 13.8%, 79 services short a year x $115/service = $9,131</a:t>
            </a:r>
          </a:p>
          <a:p>
            <a:r>
              <a:t>VW HENDERSON: 13.6%, 96 services short a year x $245/service = $23,446</a:t>
            </a:r>
          </a:p>
          <a:p>
            <a:r>
              <a:t>SUBARU PRESCOTT: 12.5%, 165 services short a year x $73/service = $12,083</a:t>
            </a:r>
          </a:p>
          <a:p>
            <a:r>
              <a:t>LEXUS: 11.3%, 221 services short a year x $147/service = $32,644</a:t>
            </a:r>
          </a:p>
          <a:p>
            <a:r>
              <a:t>HONDA FLAGSTAFF: 11.0%, 210 services short a year x $100/service = $20,944</a:t>
            </a:r>
          </a:p>
          <a:p>
            <a:r>
              <a:t>KIA ST GEORGE: 8.0%, 365 services short a year x $105/service = $38,212</a:t>
            </a:r>
          </a:p>
          <a:p>
            <a:r>
              <a:t>AUDI RENO: 11.8%, 149 services short a year x $230/service = $34,339</a:t>
            </a:r>
          </a:p>
          <a:p>
            <a:r>
              <a:t>VOLVO: 13.8%, 51 services short a year x $142/service = $7,258</a:t>
            </a:r>
          </a:p>
          <a:p>
            <a:r>
              <a:t>HYUNDAI ST GEORGE: 14.8%, 7 services short a year x $121/service = $865</a:t>
            </a:r>
          </a:p>
          <a:p>
            <a:r>
              <a:t>GMC PRESCOTT: 11.7%, 135 services short a year x $85/service = $11,494</a:t>
            </a:r>
          </a:p>
          <a:p>
            <a:r>
              <a:t>LINCOLN: 8.4%, 230 services short a year x $114/service = $26,302</a:t>
            </a:r>
          </a:p>
          <a:p>
            <a:r>
              <a:t>VW ST GEORGE: 5.6%, 240 services short a year x $74/service = $17,767</a:t>
            </a:r>
          </a:p>
          <a:p>
            <a:r>
              <a:t>LR RENO: 12.8%, 40 services short a year x $259/service = $10,409 (capped; raw $715/service)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group gross per service $75.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11.2%, 2,671 services short a year x $55/service = $147,351</a:t>
            </a:r>
          </a:p>
          <a:p>
            <a:r>
              <a:t>CHEVY LV: 7.3%, 2,001 services short a year x $53/service = $106,293</a:t>
            </a:r>
          </a:p>
          <a:p>
            <a:r>
              <a:t>TOYOTA SPOKANE: 0.4%, 3,361 services short a year x $53/service = $179,701</a:t>
            </a:r>
          </a:p>
          <a:p>
            <a:r>
              <a:t>TOYOTA FLAGSTAFF: 4.9%, 2,031 services short a year x $54/service = $109,054</a:t>
            </a:r>
          </a:p>
          <a:p>
            <a:r>
              <a:t>HONDA NORTH: 12.0%, 600 services short a year x $64/service = $38,266</a:t>
            </a:r>
          </a:p>
          <a:p>
            <a:r>
              <a:t>SUBARU LV: 10.2%, 909 services short a year x $75/service = $67,808</a:t>
            </a:r>
          </a:p>
          <a:p>
            <a:r>
              <a:t>TOYOTA PRESCOTT: 6.1%, 1,590 services short a year x $83/service = $132,315</a:t>
            </a:r>
          </a:p>
          <a:p>
            <a:r>
              <a:t>HONDA SPOKANE: 2.1%, 1,526 services short a year x $52/service = $80,060</a:t>
            </a:r>
          </a:p>
          <a:p>
            <a:r>
              <a:t>KIA LV: 5.2%, 1,059 services short a year x $68/service = $71,767</a:t>
            </a:r>
          </a:p>
          <a:p>
            <a:r>
              <a:t>NISSAN: 1.0%, 1,296 services short a year x $59/service = $76,668</a:t>
            </a:r>
          </a:p>
          <a:p>
            <a:r>
              <a:t>CHEVY GMC BULLHEAD: 9.0%, 496 services short a year x $42/service = $20,863</a:t>
            </a:r>
          </a:p>
          <a:p>
            <a:r>
              <a:t>MAZDA: 13.1%, 138 services short a year x $79/service = $10,870</a:t>
            </a:r>
          </a:p>
          <a:p>
            <a:r>
              <a:t>SUBARU ST GEORGE: 3.6%, 837 services short a year x $149/service = $124,903 (capped; raw $247/service)</a:t>
            </a:r>
          </a:p>
          <a:p>
            <a:r>
              <a:t>CDJR POST FALLS: 1.2%, 981 services short a year x $75/service = $73,291</a:t>
            </a:r>
          </a:p>
          <a:p>
            <a:r>
              <a:t>CADILLAC: 5.9%, 643 services short a year x $22/service = $14,275</a:t>
            </a:r>
          </a:p>
          <a:p>
            <a:r>
              <a:t>VW HENDERSON: 8.2%, 460 services short a year x $60/service = $27,375</a:t>
            </a:r>
          </a:p>
          <a:p>
            <a:r>
              <a:t>SUBARU PRESCOTT: 14.9%, 1 services short a year x $34/service = $34</a:t>
            </a:r>
          </a:p>
          <a:p>
            <a:r>
              <a:t>LEXUS: 0.0%, 909 services short a year x $75/service (group avg) = $67,832</a:t>
            </a:r>
          </a:p>
          <a:p>
            <a:r>
              <a:t>HONDA FLAGSTAFF: 1.3%, 735 services short a year x $70/service = $51,753</a:t>
            </a:r>
          </a:p>
          <a:p>
            <a:r>
              <a:t>KIA ST GEORGE: 7.7%, 380 services short a year x $48/service = $18,369</a:t>
            </a:r>
          </a:p>
          <a:p>
            <a:r>
              <a:t>AUDI HENDERSON: 0.0%, 754 services short a year x $75/service (group avg) = $56,275</a:t>
            </a:r>
          </a:p>
          <a:p>
            <a:r>
              <a:t>ACURA: 14.1%, 44 services short a year x $64/service = $2,765</a:t>
            </a:r>
          </a:p>
          <a:p>
            <a:r>
              <a:t>AUDI RENO: 0.1%, 696 services short a year x $75/service (group avg) = $51,909</a:t>
            </a:r>
          </a:p>
          <a:p>
            <a:r>
              <a:t>VOLVO: 11.7%, 148 services short a year x $51/service = $7,511</a:t>
            </a:r>
          </a:p>
          <a:p>
            <a:r>
              <a:t>HYUNDAI ST GEORGE: 1.2%, 615 services short a year x $58/service = $35,684</a:t>
            </a:r>
          </a:p>
          <a:p>
            <a:r>
              <a:t>GMC PRESCOTT: 7.7%, 300 services short a year x $90/service = $26,856</a:t>
            </a:r>
          </a:p>
          <a:p>
            <a:r>
              <a:t>LINCOLN: 1.6%, 467 services short a year x $66/service = $30,836</a:t>
            </a:r>
          </a:p>
          <a:p>
            <a:r>
              <a:t>HYUNDAI PRESCOTT: 13.5%, 39 services short a year x $149/service = $5,868 (capped; raw $311/service)</a:t>
            </a:r>
          </a:p>
          <a:p>
            <a:r>
              <a:t>VW ST GEORGE: 0.4%, 373 services short a year x $75/service (group avg) = $27,832</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group gross per service $189.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1,093 services short a year x $138/service = $150,836</a:t>
            </a:r>
          </a:p>
          <a:p>
            <a:r>
              <a:t>TOYOTA SPOKANE: 7.0%, 683 services short a year x $117/service = $79,964</a:t>
            </a:r>
          </a:p>
          <a:p>
            <a:r>
              <a:t>TOYOTA FLAGSTAFF: 8.0%, 389 services short a year x $123/service = $47,769</a:t>
            </a:r>
          </a:p>
          <a:p>
            <a:r>
              <a:t>TOYOTA PRESCOTT: 8.4%, 287 services short a year x $112/service = $32,135</a:t>
            </a:r>
          </a:p>
          <a:p>
            <a:r>
              <a:t>KIA LV: 8.2%, 187 services short a year x $120/service = $22,410</a:t>
            </a:r>
          </a:p>
          <a:p>
            <a:r>
              <a:t>CHEVY GMC BULLHEAD: 7.0%, 245 services short a year x $87/service = $21,314</a:t>
            </a:r>
          </a:p>
          <a:p>
            <a:r>
              <a:t>MAZDA: 8.4%, 115 services short a year x $154/service = $17,686</a:t>
            </a:r>
          </a:p>
          <a:p>
            <a:r>
              <a:t>CDJR POST FALLS: 4.2%, 412 services short a year x $128/service = $52,525</a:t>
            </a:r>
          </a:p>
          <a:p>
            <a:r>
              <a:t>CADILLAC: 4.6%, 379 services short a year x $150/service = $56,716</a:t>
            </a:r>
          </a:p>
          <a:p>
            <a:r>
              <a:t>VW HENDERSON: 9.5%, 33 services short a year x $134/service = $4,382</a:t>
            </a:r>
          </a:p>
          <a:p>
            <a:r>
              <a:t>LEXUS: 8.3%, 98 services short a year x $154/service = $15,116</a:t>
            </a:r>
          </a:p>
          <a:p>
            <a:r>
              <a:t>HONDA FLAGSTAFF: 3.1%, 367 services short a year x $184/service = $67,341</a:t>
            </a:r>
          </a:p>
          <a:p>
            <a:r>
              <a:t>KIA ST GEORGE: 5.9%, 211 services short a year x $119/service = $25,037</a:t>
            </a:r>
          </a:p>
          <a:p>
            <a:r>
              <a:t>AUDI HENDERSON: 2.4%, 380 services short a year x $196/service = $74,435</a:t>
            </a:r>
          </a:p>
          <a:p>
            <a:r>
              <a:t>AUDI RENO: 1.9%, 378 services short a year x $206/service = $77,911</a:t>
            </a:r>
          </a:p>
          <a:p>
            <a:r>
              <a:t>HYUNDAI ST GEORGE: 4.7%, 235 services short a year x $134/service = $31,519</a:t>
            </a:r>
          </a:p>
          <a:p>
            <a:r>
              <a:t>GMC PRESCOTT: 6.0%, 162 services short a year x $127/service = $20,618</a:t>
            </a:r>
          </a:p>
          <a:p>
            <a:r>
              <a:t>LINCOLN: 7.5%, 87 services short a year x $126/service = $10,912</a:t>
            </a:r>
          </a:p>
          <a:p>
            <a:r>
              <a:t>HYUNDAI PRESCOTT: 9.6%, 9 services short a year x $354/service = $3,306</a:t>
            </a:r>
          </a:p>
          <a:p>
            <a:r>
              <a:t>VW ST GEORGE: 5.4%, 117 services short a year x $111/service = $13,049</a:t>
            </a:r>
          </a:p>
          <a:p>
            <a:r>
              <a:t>LR RENO: 7.2%, 52 services short a year x $377/service = $19,677 (capped; raw $1,380/service)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group gross per service $165.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6.0%, 1,056 services short a year x $122/service = $128,570</a:t>
            </a:r>
          </a:p>
          <a:p>
            <a:r>
              <a:t>CHEVY LV: 5.2%, 585 services short a year x $243/service = $142,290</a:t>
            </a:r>
          </a:p>
          <a:p>
            <a:r>
              <a:t>TOYOTA SPOKANE: 5.8%, 387 services short a year x $145/service = $56,085</a:t>
            </a:r>
          </a:p>
          <a:p>
            <a:r>
              <a:t>TOYOTA FLAGSTAFF: 1.6%, 1,173 services short a year x $93/service = $108,879</a:t>
            </a:r>
          </a:p>
          <a:p>
            <a:r>
              <a:t>SUBARU LV: 7.0%, 78 services short a year x $130/service = $10,205</a:t>
            </a:r>
          </a:p>
          <a:p>
            <a:r>
              <a:t>TOYOTA PRESCOTT: 6.4%, 186 services short a year x $101/service = $18,882</a:t>
            </a:r>
          </a:p>
          <a:p>
            <a:r>
              <a:t>HONDA SPOKANE: 3.2%, 509 services short a year x $147/service = $75,071</a:t>
            </a:r>
          </a:p>
          <a:p>
            <a:r>
              <a:t>KIA LV: 3.2%, 464 services short a year x $163/service = $75,595</a:t>
            </a:r>
          </a:p>
          <a:p>
            <a:r>
              <a:t>NISSAN: 4.1%, 308 services short a year x $206/service = $63,573</a:t>
            </a:r>
          </a:p>
          <a:p>
            <a:r>
              <a:t>CHEVY GMC BULLHEAD: 2.7%, 400 services short a year x $163/service = $65,189</a:t>
            </a:r>
          </a:p>
          <a:p>
            <a:r>
              <a:t>MAZDA: 5.2%, 174 services short a year x $150/service = $26,069</a:t>
            </a:r>
          </a:p>
          <a:p>
            <a:r>
              <a:t>CDJR POST FALLS: 3.0%, 321 services short a year x $192/service = $61,758</a:t>
            </a:r>
          </a:p>
          <a:p>
            <a:r>
              <a:t>CADILLAC: 5.1%, 170 services short a year x $269/service = $45,825</a:t>
            </a:r>
          </a:p>
          <a:p>
            <a:r>
              <a:t>VW HENDERSON: 0.0%, 515 services short a year x $165/service (group avg) = $84,636</a:t>
            </a:r>
          </a:p>
          <a:p>
            <a:r>
              <a:t>LEXUS: 4.2%, 195 services short a year x $128/service = $24,920</a:t>
            </a:r>
          </a:p>
          <a:p>
            <a:r>
              <a:t>HONDA FLAGSTAFF: 0.7%, 364 services short a year x $165/service (group avg) = $59,934</a:t>
            </a:r>
          </a:p>
          <a:p>
            <a:r>
              <a:t>AUDI HENDERSON: 0.0%, 378 services short a year x $165/service (group avg) = $62,165</a:t>
            </a:r>
          </a:p>
          <a:p>
            <a:r>
              <a:t>AUDI RENO: 0.8%, 313 services short a year x $165/service (group avg) = $51,429</a:t>
            </a:r>
          </a:p>
          <a:p>
            <a:r>
              <a:t>LR LV: 5.5%, 92 services short a year x $258/service = $23,832</a:t>
            </a:r>
          </a:p>
          <a:p>
            <a:r>
              <a:t>VOLVO: 0.0%, 340 services short a year x $165/service (group avg) = $55,964</a:t>
            </a:r>
          </a:p>
          <a:p>
            <a:r>
              <a:t>HYUNDAI ST GEORGE: 5.8%, 72 services short a year x $176/service = $12,726</a:t>
            </a:r>
          </a:p>
          <a:p>
            <a:r>
              <a:t>GMC PRESCOTT: 3.6%, 160 services short a year x $133/service = $21,222</a:t>
            </a:r>
          </a:p>
          <a:p>
            <a:r>
              <a:t>HYUNDAI PRESCOTT: 7.3%, 4 services short a year x $329/service = $1,206 (capped; raw $459/service)</a:t>
            </a:r>
          </a:p>
          <a:p>
            <a:r>
              <a:t>VW ST GEORGE: 2.7%, 123 services short a year x $236/service = $28,870</a:t>
            </a:r>
          </a:p>
          <a:p>
            <a:r>
              <a:t>LR HENDERSON: 2.5%, 103 services short a year x $329/service = $33,745 (capped; raw $774/service)</a:t>
            </a:r>
          </a:p>
          <a:p>
            <a:r>
              <a:t>LR RENO: 4.5%, 55 services short a year x $329/service = $18,238 (capped; raw $1,631/service)</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Below = how many of the four benchmarks the store is under. Services = services short a year.TOYOTA SPOKANE: $541,039 a year, 6,921 services, under 4 of 4</a:t>
            </a:r>
          </a:p>
          <a:p>
            <a:r>
              <a:t>CHEVY LV: $474,880 a year, 4,236 services, under 4 of 4</a:t>
            </a:r>
          </a:p>
          <a:p>
            <a:r>
              <a:t>TOYOTA FLAGSTAFF: $355,653 a year, 4,659 services, under 4 of 4</a:t>
            </a:r>
          </a:p>
          <a:p>
            <a:r>
              <a:t>TOYOTA HENDERSON: $309,068 a year, 4,054 services, under 3 of 4</a:t>
            </a:r>
          </a:p>
          <a:p>
            <a:r>
              <a:t>KIA LV: $246,559 a year, 2,278 services, under 4 of 4</a:t>
            </a:r>
          </a:p>
          <a:p>
            <a:r>
              <a:t>CDJR POST FALLS: $244,731 a year, 2,484 services, under 4 of 4</a:t>
            </a:r>
          </a:p>
          <a:p>
            <a:r>
              <a:t>TOYOTA PRESCOTT: $232,717 a year, 2,541 services, under 4 of 4</a:t>
            </a:r>
          </a:p>
          <a:p>
            <a:r>
              <a:t>NISSAN: $223,362 a year, 2,304 services, under 3 of 4</a:t>
            </a:r>
          </a:p>
          <a:p>
            <a:r>
              <a:t>AUDI RENO: $215,588 a year, 1,536 services, under 4 of 4</a:t>
            </a:r>
          </a:p>
          <a:p>
            <a:r>
              <a:t>HONDA FLAGSTAFF: $199,972 a year, 1,676 services, under 4 of 4</a:t>
            </a:r>
          </a:p>
          <a:p>
            <a:r>
              <a:t>AUDI HENDERSON: $192,876 a year, 1,512 services, under 3 of 4</a:t>
            </a:r>
          </a:p>
          <a:p>
            <a:r>
              <a:t>HONDA SPOKANE: $191,456 a year, 2,329 services, under 3 of 4</a:t>
            </a:r>
          </a:p>
          <a:p>
            <a:r>
              <a:t>SUBARU ST GEORGE: $147,537 a year, 1,128 services, under 2 of 4</a:t>
            </a:r>
          </a:p>
          <a:p>
            <a:r>
              <a:t>LEXUS: $140,511 a year, 1,424 services, under 4 of 4</a:t>
            </a:r>
          </a:p>
          <a:p>
            <a:r>
              <a:t>VW HENDERSON: $139,840 a year, 1,103 services, under 4 of 4</a:t>
            </a:r>
          </a:p>
          <a:p>
            <a:r>
              <a:t>CHEVY GMC BULLHEAD: $132,721 a year, 1,466 services, under 4 of 4</a:t>
            </a:r>
          </a:p>
          <a:p>
            <a:r>
              <a:t>CADILLAC: $125,947 a year, 1,273 services, under 4 of 4</a:t>
            </a:r>
          </a:p>
          <a:p>
            <a:r>
              <a:t>SUBARU LV: $87,782 a year, 1,070 services, under 3 of 4</a:t>
            </a:r>
          </a:p>
          <a:p>
            <a:r>
              <a:t>VW ST GEORGE: $87,518 a year, 853 services, under 4 of 4</a:t>
            </a:r>
          </a:p>
          <a:p>
            <a:r>
              <a:t>KIA ST GEORGE: $81,619 a year, 956 services, under 3 of 4</a:t>
            </a:r>
          </a:p>
          <a:p>
            <a:r>
              <a:t>HYUNDAI ST GEORGE: $80,793 a year, 929 services, under 4 of 4</a:t>
            </a:r>
          </a:p>
          <a:p>
            <a:r>
              <a:t>GMC PRESCOTT: $80,190 a year, 757 services, under 4 of 4</a:t>
            </a:r>
          </a:p>
          <a:p>
            <a:r>
              <a:t>VOLVO: $70,733 a year, 540 services, under 3 of 4</a:t>
            </a:r>
          </a:p>
          <a:p>
            <a:r>
              <a:t>LINCOLN: $68,050 a year, 784 services, under 3 of 4</a:t>
            </a:r>
          </a:p>
          <a:p>
            <a:r>
              <a:t>MAZDA: $54,625 a year, 426 services, under 3 of 4</a:t>
            </a:r>
          </a:p>
          <a:p>
            <a:r>
              <a:t>LR RENO: $48,324 a year, 148 services, under 3 of 4</a:t>
            </a:r>
          </a:p>
          <a:p>
            <a:r>
              <a:t>HONDA NORTH: $38,266 a year, 600 services, under 1 of 4</a:t>
            </a:r>
          </a:p>
          <a:p>
            <a:r>
              <a:t>LR HENDERSON: $33,745 a year, 103 services, under 1 of 4</a:t>
            </a:r>
          </a:p>
          <a:p>
            <a:r>
              <a:t>LR LV: $23,832 a year, 92 services, under 1 of 4</a:t>
            </a:r>
          </a:p>
          <a:p>
            <a:r>
              <a:t>SUBARU PRESCOTT: $12,118 a year, 166 services, under 2 of 4</a:t>
            </a:r>
          </a:p>
          <a:p>
            <a:r>
              <a:t>HYUNDAI PRESCOTT: $10,380 a year, 52 services, under 3 of 4</a:t>
            </a:r>
          </a:p>
          <a:p>
            <a:r>
              <a:t>ACURA: $2,765 a year, 44 services, under 1 of 4</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YTD RWR Financials 2026 (warranty rate submission vendor), "YTD revenue secured": the added gross profit from approved increases, as more dollars per warranty labor hour sold or more parts markup. 19 stores have an approval this year; the other 14 have not had one yet. Labor $1,661,368, parts $2,126,832. Honda North uses its labor + parts ($463,396), not the vendor's $463,296 total (Noah, Oct 22: take the higher), so the group is $3,788,200 vs the report's $3,788,100.Talk track: these approvals are new money on every warranty claim, and they are why warranty ELR is up. The factory notices a higher rate too: more money in means more scrutiny. Every claim debited in an audit gives part of it back.</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Warranty pay type, parts gross / parts sale, by close month; 2025 January-December, 2026 January-September. Same-store, INEOS excluded (opened 2026). GMC Prescott body shop labor types excluded. Pulled Oct 22 2026.Example for the rate-increase story. The link to the approvals is the point we are making, not something the data proves on its own: 17 of the 19 stores with approvals got a parts markup increase (vendor YTD report), and warranty parts margin rose in every month. Mix of parts and campaigns also moves this line.</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 per RO: top LINCOLN $281 → $363; LEXUS $193 → $240; HYUNDAI ST GEORGE $181 → $219. Bottom LR RENO $876 → $814; AUDI RENO $596 → $542; KIA LV $227 → $193.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 per RO: top VW ST GEORGE $224 → $298; LR RENO $692 → $877; ACURA $229 → $282. Bottom LR LV $873 → $834; GMC PRESCOTT $299 → $282; HONDA HENDERSON $190 → $178.</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six measures;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Card and takeaway are Jan-Sep. 2025 Oct-Dec shown for context: $21.27M, $17.74M, $19.32M; Q4 2025 total $58.33M.</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Record = Jan-Sep 2026 above every prior Jan-Sep for that store. % = combined gain over the previous best Jan-Sep. Stores with shorter histories count the same: HONDA SPOKANE (from 2025), HYUNDAI PRESCOTT (from 2023), LR HENDERSON (from 2022), NISSAN (from 2024). Order: records in all three first, then by % gain.</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in service, parts or combined gross, Jan-Sep 2026.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 each record was set, by store:</a:t>
            </a:r>
          </a:p>
          <a:p>
            <a:r>
              <a:t>AUDI HENDERSON: parts record reset once (Jul); combined record reset twice (Apr, Jul).</a:t>
            </a:r>
          </a:p>
          <a:p>
            <a:r>
              <a:t>CDJR POST FALLS: service record reset once (Jul); combined record reset once (Jul).</a:t>
            </a:r>
          </a:p>
          <a:p>
            <a:r>
              <a:t>GMC PRESCOTT: parts record reset once (Apr); combined record reset once (Apr).</a:t>
            </a:r>
          </a:p>
          <a:p>
            <a:r>
              <a:t>HONDA HENDERSON: service record reset 3 times (Mar, Jun, Jul); parts record reset once (Jul); combined record reset 3 times (Mar, Jun, Jul).</a:t>
            </a:r>
          </a:p>
          <a:p>
            <a:r>
              <a:t>HONDA SPOKANE: service record reset 4 times (Mar, Apr, Jun, Jul); parts record reset once (Jul); combined record reset 4 times (Mar, Apr, Jun, Jul).</a:t>
            </a:r>
          </a:p>
          <a:p>
            <a:r>
              <a:t>HYUNDAI PRESCOTT: service record reset twice (Mar, Jul); parts record reset once (Feb); combined record reset 3 times (Feb, Mar, Jul).</a:t>
            </a:r>
          </a:p>
          <a:p>
            <a:r>
              <a:t>HYUNDAI ST GEORGE: service record reset 4 times (Jan, Mar, Jul, Sep).</a:t>
            </a:r>
          </a:p>
          <a:p>
            <a:r>
              <a:t>KIA LV: service record reset once (Sep).</a:t>
            </a:r>
          </a:p>
          <a:p>
            <a:r>
              <a:t>KIA ST GEORGE: service record reset twice (Apr, Jul); parts record reset once (Jul); combined record reset once (Jul).</a:t>
            </a:r>
          </a:p>
          <a:p>
            <a:r>
              <a:t>LEXUS: service record reset twice (Mar, May); parts record reset once (May); combined record reset once (May).</a:t>
            </a:r>
          </a:p>
          <a:p>
            <a:r>
              <a:t>LINCOLN: service record reset twice (Aug, Sep); parts record reset once (Mar); combined record reset 3 times (Mar, Aug, Sep).</a:t>
            </a:r>
          </a:p>
          <a:p>
            <a:r>
              <a:t>LR HENDERSON: service record reset twice (Aug, Sep); parts record reset once (Jul); combined record reset once (Jul).</a:t>
            </a:r>
          </a:p>
          <a:p>
            <a:r>
              <a:t>LR LV: service record reset once (Jul); combined record reset once (Jul).</a:t>
            </a:r>
          </a:p>
          <a:p>
            <a:r>
              <a:t>LR RENO: service record reset once (Aug); combined record reset once (Aug).</a:t>
            </a:r>
          </a:p>
          <a:p>
            <a:r>
              <a:t>MAZDA: service record reset twice (Aug, Sep); parts record reset once (Sep); combined record reset twice (Aug, Sep).</a:t>
            </a:r>
          </a:p>
          <a:p>
            <a:r>
              <a:t>NISSAN: service record reset 3 times (Mar, Jun, Sep); parts record reset twice (Jun, Jul); combined record reset 4 times (Mar, Jun, Jul, Sep).</a:t>
            </a:r>
          </a:p>
          <a:p>
            <a:r>
              <a:t>SUBARU PRESCOTT: combined record reset once (Apr).</a:t>
            </a:r>
          </a:p>
          <a:p>
            <a:r>
              <a:t>SUBARU ST GEORGE: service record reset twice (Jan, Mar); parts record reset 3 times (Mar, Apr, Jun); combined record reset twice (Mar, Jun).</a:t>
            </a:r>
          </a:p>
          <a:p>
            <a:r>
              <a:t>TOYOTA FLAGSTAFF: service record reset 3 times (Mar, Apr, May); combined record reset once (Mar).</a:t>
            </a:r>
          </a:p>
          <a:p>
            <a:r>
              <a:t>TOYOTA HENDERSON: service record reset twice (Apr, Jul); parts record reset 3 times (Jun, Aug, Sep); combined record reset 3 times (Apr, Jun, Jul).</a:t>
            </a:r>
          </a:p>
          <a:p>
            <a:r>
              <a:t>TOYOTA PRESCOTT: service record reset twice (Mar, Apr); parts record reset once (Apr); combined record reset once (Apr).</a:t>
            </a:r>
          </a:p>
          <a:p>
            <a:r>
              <a:t>TOYOTA SPOKANE: service record reset once (Jul); combined record reset once (Jul).</a:t>
            </a:r>
          </a:p>
          <a:p>
            <a:r>
              <a:t>VOLVO: service record reset twice (Apr, Jun).</a:t>
            </a:r>
          </a:p>
          <a:p/>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Jan-Sep 2026. SVC = service gross, PTS = parts gross, TOT = service + parts combined.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Stores under 85% only. Store = sold / worked hours for counted technicians. Best techs = the store's most proficient quarter of counted technicians (at least one), their sold / worked hours combined. Same population and rules as the proficiency slides.</a:t>
            </a:r>
          </a:p>
          <a:p>
            <a:r>
              <a:t>ACURA: store 67%, best 3 of 11 techs 73%</a:t>
            </a:r>
          </a:p>
          <a:p>
            <a:r>
              <a:t>KIA ST GEORGE: store 67%, best 3 of 12 techs 97%</a:t>
            </a:r>
          </a:p>
          <a:p>
            <a:r>
              <a:t>CHEVY GMC BULLHEAD: store 68%, best 5 of 20 techs 96%</a:t>
            </a:r>
          </a:p>
          <a:p>
            <a:r>
              <a:t>HYUNDAI ST GEORGE: store 69%, best 3 of 11 techs 122%</a:t>
            </a:r>
          </a:p>
          <a:p>
            <a:r>
              <a:t>VW ST GEORGE: store 70%, best 1 of 5 techs 76%</a:t>
            </a:r>
          </a:p>
          <a:p>
            <a:r>
              <a:t>CDJR POST FALLS: store 71%, best 4 of 14 techs 128%</a:t>
            </a:r>
          </a:p>
          <a:p>
            <a:r>
              <a:t>VOLVO: store 72%, best 2 of 9 techs 88%</a:t>
            </a:r>
          </a:p>
          <a:p>
            <a:r>
              <a:t>GMC PRESCOTT: store 73%, best 3 of 12 techs 103%</a:t>
            </a:r>
          </a:p>
          <a:p>
            <a:r>
              <a:t>KIA LV: store 76%, best 5 of 20 techs 100%</a:t>
            </a:r>
          </a:p>
          <a:p>
            <a:r>
              <a:t>HONDA FLAGSTAFF: store 78%, best 2 of 6 techs 130%</a:t>
            </a:r>
          </a:p>
          <a:p>
            <a:r>
              <a:t>HYUNDAI PRESCOTT: store 78%, best 2 of 9 techs 112%</a:t>
            </a:r>
          </a:p>
          <a:p>
            <a:r>
              <a:t>LR RENO: store 81%, best 2 of 6 techs 96%</a:t>
            </a:r>
          </a:p>
          <a:p>
            <a:r>
              <a:t>TOYOTA PRESCOTT: store 83%, best 6 of 22 techs 117%</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chart" Target="../charts/chart15.xml"/><Relationship Id="rId7" Type="http://schemas.openxmlformats.org/officeDocument/2006/relationships/chart" Target="../charts/chart16.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xml"/><Relationship Id="rId3" Type="http://schemas.openxmlformats.org/officeDocument/2006/relationships/chart" Target="../charts/chart18.xml"/><Relationship Id="rId4" Type="http://schemas.openxmlformats.org/officeDocument/2006/relationships/chart" Target="../charts/chart19.xml"/><Relationship Id="rId5" Type="http://schemas.openxmlformats.org/officeDocument/2006/relationships/chart" Target="../charts/chart20.xml"/><Relationship Id="rId6" Type="http://schemas.openxmlformats.org/officeDocument/2006/relationships/chart" Target="../charts/chart21.xml"/><Relationship Id="rId7" Type="http://schemas.openxmlformats.org/officeDocument/2006/relationships/chart" Target="../charts/chart22.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xml"/><Relationship Id="rId3" Type="http://schemas.openxmlformats.org/officeDocument/2006/relationships/chart" Target="../charts/chart24.xml"/><Relationship Id="rId4" Type="http://schemas.openxmlformats.org/officeDocument/2006/relationships/chart" Target="../charts/chart25.xml"/><Relationship Id="rId5" Type="http://schemas.openxmlformats.org/officeDocument/2006/relationships/chart" Target="../charts/chart26.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chart" Target="../charts/chart32.xml"/><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xml"/><Relationship Id="rId3" Type="http://schemas.openxmlformats.org/officeDocument/2006/relationships/chart" Target="../charts/chart34.xml"/><Relationship Id="rId4" Type="http://schemas.openxmlformats.org/officeDocument/2006/relationships/chart" Target="../charts/chart35.xml"/><Relationship Id="rId5" Type="http://schemas.openxmlformats.org/officeDocument/2006/relationships/chart" Target="../charts/chart36.xml"/><Relationship Id="rId6" Type="http://schemas.openxmlformats.org/officeDocument/2006/relationships/chart" Target="../charts/chart37.xml"/><Relationship Id="rId7" Type="http://schemas.openxmlformats.org/officeDocument/2006/relationships/chart" Target="../charts/chart38.xml"/><Relationship Id="rId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xml"/><Relationship Id="rId3" Type="http://schemas.openxmlformats.org/officeDocument/2006/relationships/chart" Target="../charts/chart40.xml"/><Relationship Id="rId4" Type="http://schemas.openxmlformats.org/officeDocument/2006/relationships/chart" Target="../charts/chart41.xml"/><Relationship Id="rId5" Type="http://schemas.openxmlformats.org/officeDocument/2006/relationships/chart" Target="../charts/chart42.xml"/><Relationship Id="rId6" Type="http://schemas.openxmlformats.org/officeDocument/2006/relationships/chart" Target="../charts/chart43.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4.xml"/><Relationship Id="rId3" Type="http://schemas.openxmlformats.org/officeDocument/2006/relationships/chart" Target="../charts/chart45.xml"/><Relationship Id="rId4" Type="http://schemas.openxmlformats.org/officeDocument/2006/relationships/chart" Target="../charts/chart46.xml"/><Relationship Id="rId5" Type="http://schemas.openxmlformats.org/officeDocument/2006/relationships/chart" Target="../charts/chart47.xml"/><Relationship Id="rId6" Type="http://schemas.openxmlformats.org/officeDocument/2006/relationships/chart" Target="../charts/chart48.xml"/><Relationship Id="rId7" Type="http://schemas.openxmlformats.org/officeDocument/2006/relationships/chart" Target="../charts/chart49.xml"/><Relationship Id="rId8"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0.xml"/><Relationship Id="rId3" Type="http://schemas.openxmlformats.org/officeDocument/2006/relationships/chart" Target="../charts/chart51.xml"/><Relationship Id="rId4" Type="http://schemas.openxmlformats.org/officeDocument/2006/relationships/chart" Target="../charts/chart52.xml"/><Relationship Id="rId5" Type="http://schemas.openxmlformats.org/officeDocument/2006/relationships/chart" Target="../charts/chart53.xm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xml"/><Relationship Id="rId3" Type="http://schemas.openxmlformats.org/officeDocument/2006/relationships/chart" Target="../charts/chart55.xml"/><Relationship Id="rId4" Type="http://schemas.openxmlformats.org/officeDocument/2006/relationships/chart" Target="../charts/chart56.xml"/><Relationship Id="rId5" Type="http://schemas.openxmlformats.org/officeDocument/2006/relationships/chart" Target="../charts/chart57.xml"/><Relationship Id="rId6" Type="http://schemas.openxmlformats.org/officeDocument/2006/relationships/chart" Target="../charts/chart58.xml"/><Relationship Id="rId7"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9.xml"/><Relationship Id="rId3" Type="http://schemas.openxmlformats.org/officeDocument/2006/relationships/chart" Target="../charts/chart60.xml"/><Relationship Id="rId4" Type="http://schemas.openxmlformats.org/officeDocument/2006/relationships/chart" Target="../charts/chart61.xml"/><Relationship Id="rId5" Type="http://schemas.openxmlformats.org/officeDocument/2006/relationships/chart" Target="../charts/chart62.xm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2.xml"/><Relationship Id="rId3" Type="http://schemas.openxmlformats.org/officeDocument/2006/relationships/chart" Target="../charts/chart73.xml"/><Relationship Id="rId4" Type="http://schemas.openxmlformats.org/officeDocument/2006/relationships/chart" Target="../charts/chart74.xml"/><Relationship Id="rId5" Type="http://schemas.openxmlformats.org/officeDocument/2006/relationships/chart" Target="../charts/chart75.xml"/><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1.xml"/><Relationship Id="rId3" Type="http://schemas.openxmlformats.org/officeDocument/2006/relationships/chart" Target="../charts/chart92.xml"/><Relationship Id="rId4" Type="http://schemas.openxmlformats.org/officeDocument/2006/relationships/chart" Target="../charts/chart93.xml"/><Relationship Id="rId5" Type="http://schemas.openxmlformats.org/officeDocument/2006/relationships/chart" Target="../charts/chart94.xml"/><Relationship Id="rId6" Type="http://schemas.openxmlformats.org/officeDocument/2006/relationships/chart" Target="../charts/chart95.xml"/><Relationship Id="rId7"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6.xml"/><Relationship Id="rId3" Type="http://schemas.openxmlformats.org/officeDocument/2006/relationships/chart" Target="../charts/chart97.xml"/><Relationship Id="rId4" Type="http://schemas.openxmlformats.org/officeDocument/2006/relationships/chart" Target="../charts/chart98.xml"/><Relationship Id="rId5" Type="http://schemas.openxmlformats.org/officeDocument/2006/relationships/chart" Target="../charts/chart99.xml"/><Relationship Id="rId6" Type="http://schemas.openxmlformats.org/officeDocument/2006/relationships/chart" Target="../charts/chart100.xml"/><Relationship Id="rId7"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1.xml"/><Relationship Id="rId3" Type="http://schemas.openxmlformats.org/officeDocument/2006/relationships/chart" Target="../charts/chart102.xml"/><Relationship Id="rId4" Type="http://schemas.openxmlformats.org/officeDocument/2006/relationships/chart" Target="../charts/chart103.xml"/><Relationship Id="rId5" Type="http://schemas.openxmlformats.org/officeDocument/2006/relationships/chart" Target="../charts/chart104.xml"/><Relationship Id="rId6" Type="http://schemas.openxmlformats.org/officeDocument/2006/relationships/chart" Target="../charts/chart105.xml"/><Relationship Id="rId7" Type="http://schemas.openxmlformats.org/officeDocument/2006/relationships/chart" Target="../charts/chart106.xml"/><Relationship Id="rId8"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7.xml"/><Relationship Id="rId3" Type="http://schemas.openxmlformats.org/officeDocument/2006/relationships/chart" Target="../charts/chart108.xml"/><Relationship Id="rId4" Type="http://schemas.openxmlformats.org/officeDocument/2006/relationships/chart" Target="../charts/chart109.xml"/><Relationship Id="rId5" Type="http://schemas.openxmlformats.org/officeDocument/2006/relationships/chart" Target="../charts/chart110.xml"/><Relationship Id="rId6" Type="http://schemas.openxmlformats.org/officeDocument/2006/relationships/chart" Target="../charts/chart111.xml"/><Relationship Id="rId7" Type="http://schemas.openxmlformats.org/officeDocument/2006/relationships/chart" Target="../charts/chart112.xml"/><Relationship Id="rId8"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3.xml"/><Relationship Id="rId3" Type="http://schemas.openxmlformats.org/officeDocument/2006/relationships/chart" Target="../charts/chart114.xml"/><Relationship Id="rId4" Type="http://schemas.openxmlformats.org/officeDocument/2006/relationships/chart" Target="../charts/chart115.xml"/><Relationship Id="rId5" Type="http://schemas.openxmlformats.org/officeDocument/2006/relationships/chart" Target="../charts/chart116.xml"/><Relationship Id="rId6" Type="http://schemas.openxmlformats.org/officeDocument/2006/relationships/chart" Target="../charts/chart117.xml"/><Relationship Id="rId7" Type="http://schemas.openxmlformats.org/officeDocument/2006/relationships/chart" Target="../charts/chart118.xml"/><Relationship Id="rId8"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9.xml"/><Relationship Id="rId3" Type="http://schemas.openxmlformats.org/officeDocument/2006/relationships/chart" Target="../charts/chart120.xml"/><Relationship Id="rId4" Type="http://schemas.openxmlformats.org/officeDocument/2006/relationships/chart" Target="../charts/chart121.xml"/><Relationship Id="rId5" Type="http://schemas.openxmlformats.org/officeDocument/2006/relationships/chart" Target="../charts/chart122.xml"/><Relationship Id="rId6" Type="http://schemas.openxmlformats.org/officeDocument/2006/relationships/chart" Target="../charts/chart123.xml"/><Relationship Id="rId7" Type="http://schemas.openxmlformats.org/officeDocument/2006/relationships/chart" Target="../charts/chart124.xml"/><Relationship Id="rId8"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5.xml"/><Relationship Id="rId3" Type="http://schemas.openxmlformats.org/officeDocument/2006/relationships/chart" Target="../charts/chart126.xml"/><Relationship Id="rId4" Type="http://schemas.openxmlformats.org/officeDocument/2006/relationships/chart" Target="../charts/chart127.xml"/><Relationship Id="rId5" Type="http://schemas.openxmlformats.org/officeDocument/2006/relationships/chart" Target="../charts/chart128.xml"/><Relationship Id="rId6"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9.xml"/><Relationship Id="rId3" Type="http://schemas.openxmlformats.org/officeDocument/2006/relationships/chart" Target="../charts/chart130.xml"/><Relationship Id="rId4" Type="http://schemas.openxmlformats.org/officeDocument/2006/relationships/chart" Target="../charts/chart131.xml"/><Relationship Id="rId5" Type="http://schemas.openxmlformats.org/officeDocument/2006/relationships/chart" Target="../charts/chart132.xml"/><Relationship Id="rId6" Type="http://schemas.openxmlformats.org/officeDocument/2006/relationships/chart" Target="../charts/chart133.xml"/><Relationship Id="rId7"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4.xml"/><Relationship Id="rId3" Type="http://schemas.openxmlformats.org/officeDocument/2006/relationships/chart" Target="../charts/chart135.xml"/><Relationship Id="rId4" Type="http://schemas.openxmlformats.org/officeDocument/2006/relationships/chart" Target="../charts/chart136.xml"/><Relationship Id="rId5" Type="http://schemas.openxmlformats.org/officeDocument/2006/relationships/chart" Target="../charts/chart137.xml"/><Relationship Id="rId6"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8.xml"/><Relationship Id="rId3" Type="http://schemas.openxmlformats.org/officeDocument/2006/relationships/chart" Target="../charts/chart139.xml"/><Relationship Id="rId4" Type="http://schemas.openxmlformats.org/officeDocument/2006/relationships/chart" Target="../charts/chart140.xml"/><Relationship Id="rId5" Type="http://schemas.openxmlformats.org/officeDocument/2006/relationships/chart" Target="../charts/chart141.xml"/><Relationship Id="rId6" Type="http://schemas.openxmlformats.org/officeDocument/2006/relationships/chart" Target="../charts/chart142.xml"/><Relationship Id="rId7"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3.xml"/><Relationship Id="rId3" Type="http://schemas.openxmlformats.org/officeDocument/2006/relationships/chart" Target="../charts/chart144.xml"/><Relationship Id="rId4" Type="http://schemas.openxmlformats.org/officeDocument/2006/relationships/chart" Target="../charts/chart145.xml"/><Relationship Id="rId5" Type="http://schemas.openxmlformats.org/officeDocument/2006/relationships/chart" Target="../charts/chart146.xml"/><Relationship Id="rId6"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2.xml"/><Relationship Id="rId3" Type="http://schemas.openxmlformats.org/officeDocument/2006/relationships/chart" Target="../charts/chart153.xml"/><Relationship Id="rId4" Type="http://schemas.openxmlformats.org/officeDocument/2006/relationships/chart" Target="../charts/chart154.xml"/><Relationship Id="rId5" Type="http://schemas.openxmlformats.org/officeDocument/2006/relationships/chart" Target="../charts/chart155.xml"/><Relationship Id="rId6"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6.xml"/><Relationship Id="rId3" Type="http://schemas.openxmlformats.org/officeDocument/2006/relationships/chart" Target="../charts/chart157.xml"/><Relationship Id="rId4" Type="http://schemas.openxmlformats.org/officeDocument/2006/relationships/chart" Target="../charts/chart158.xml"/><Relationship Id="rId5" Type="http://schemas.openxmlformats.org/officeDocument/2006/relationships/chart" Target="../charts/chart159.xml"/><Relationship Id="rId6" Type="http://schemas.openxmlformats.org/officeDocument/2006/relationships/chart" Target="../charts/chart160.xml"/><Relationship Id="rId7"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1.xml"/><Relationship Id="rId3" Type="http://schemas.openxmlformats.org/officeDocument/2006/relationships/chart" Target="../charts/chart162.xml"/><Relationship Id="rId4" Type="http://schemas.openxmlformats.org/officeDocument/2006/relationships/chart" Target="../charts/chart163.xml"/><Relationship Id="rId5" Type="http://schemas.openxmlformats.org/officeDocument/2006/relationships/chart" Target="../charts/chart164.xml"/><Relationship Id="rId6"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5.xml"/><Relationship Id="rId3" Type="http://schemas.openxmlformats.org/officeDocument/2006/relationships/chart" Target="../charts/chart166.xml"/><Relationship Id="rId4" Type="http://schemas.openxmlformats.org/officeDocument/2006/relationships/chart" Target="../charts/chart167.xml"/><Relationship Id="rId5" Type="http://schemas.openxmlformats.org/officeDocument/2006/relationships/chart" Target="../charts/chart168.xml"/><Relationship Id="rId6"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5.xml"/><Relationship Id="rId3" Type="http://schemas.openxmlformats.org/officeDocument/2006/relationships/chart" Target="../charts/chart176.xml"/><Relationship Id="rId4" Type="http://schemas.openxmlformats.org/officeDocument/2006/relationships/chart" Target="../charts/chart177.xml"/><Relationship Id="rId5" Type="http://schemas.openxmlformats.org/officeDocument/2006/relationships/chart" Target="../charts/chart178.xml"/><Relationship Id="rId6"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5.xml"/><Relationship Id="rId3" Type="http://schemas.openxmlformats.org/officeDocument/2006/relationships/chart" Target="../charts/chart186.xml"/><Relationship Id="rId4" Type="http://schemas.openxmlformats.org/officeDocument/2006/relationships/chart" Target="../charts/chart187.xml"/><Relationship Id="rId5" Type="http://schemas.openxmlformats.org/officeDocument/2006/relationships/chart" Target="../charts/chart188.xml"/><Relationship Id="rId6" Type="http://schemas.openxmlformats.org/officeDocument/2006/relationships/chart" Target="../charts/chart189.xml"/><Relationship Id="rId7" Type="http://schemas.openxmlformats.org/officeDocument/2006/relationships/chart" Target="../charts/chart190.xml"/><Relationship Id="rId8"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1.xml"/><Relationship Id="rId3" Type="http://schemas.openxmlformats.org/officeDocument/2006/relationships/chart" Target="../charts/chart192.xml"/><Relationship Id="rId4" Type="http://schemas.openxmlformats.org/officeDocument/2006/relationships/chart" Target="../charts/chart193.xml"/><Relationship Id="rId5" Type="http://schemas.openxmlformats.org/officeDocument/2006/relationships/chart" Target="../charts/chart194.xml"/><Relationship Id="rId6" Type="http://schemas.openxmlformats.org/officeDocument/2006/relationships/chart" Target="../charts/chart195.xml"/><Relationship Id="rId7" Type="http://schemas.openxmlformats.org/officeDocument/2006/relationships/chart" Target="../charts/chart196.xml"/><Relationship Id="rId8"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7.xml"/><Relationship Id="rId3" Type="http://schemas.openxmlformats.org/officeDocument/2006/relationships/chart" Target="../charts/chart198.xml"/><Relationship Id="rId4" Type="http://schemas.openxmlformats.org/officeDocument/2006/relationships/chart" Target="../charts/chart199.xml"/><Relationship Id="rId5" Type="http://schemas.openxmlformats.org/officeDocument/2006/relationships/chart" Target="../charts/chart200.xml"/><Relationship Id="rId6"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1.xml"/><Relationship Id="rId3"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2.xml"/><Relationship Id="rId3" Type="http://schemas.openxmlformats.org/officeDocument/2006/relationships/chart" Target="../charts/chart203.xml"/><Relationship Id="rId4" Type="http://schemas.openxmlformats.org/officeDocument/2006/relationships/chart" Target="../charts/chart204.xml"/><Relationship Id="rId5" Type="http://schemas.openxmlformats.org/officeDocument/2006/relationships/chart" Target="../charts/chart205.xml"/><Relationship Id="rId6" Type="http://schemas.openxmlformats.org/officeDocument/2006/relationships/chart" Target="../charts/chart206.xml"/><Relationship Id="rId7" Type="http://schemas.openxmlformats.org/officeDocument/2006/relationships/chart" Target="../charts/chart207.xml"/><Relationship Id="rId8" Type="http://schemas.openxmlformats.org/officeDocument/2006/relationships/chart" Target="../charts/chart208.xml"/><Relationship Id="rId9" Type="http://schemas.openxmlformats.org/officeDocument/2006/relationships/chart" Target="../charts/chart209.xml"/><Relationship Id="rId10" Type="http://schemas.openxmlformats.org/officeDocument/2006/relationships/chart" Target="../charts/chart210.xml"/><Relationship Id="rId11" Type="http://schemas.openxmlformats.org/officeDocument/2006/relationships/chart" Target="../charts/chart211.xml"/><Relationship Id="rId1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2.xml"/><Relationship Id="rId3" Type="http://schemas.openxmlformats.org/officeDocument/2006/relationships/chart" Target="../charts/chart213.xml"/><Relationship Id="rId4" Type="http://schemas.openxmlformats.org/officeDocument/2006/relationships/chart" Target="../charts/chart214.xml"/><Relationship Id="rId5" Type="http://schemas.openxmlformats.org/officeDocument/2006/relationships/chart" Target="../charts/chart215.xml"/><Relationship Id="rId6" Type="http://schemas.openxmlformats.org/officeDocument/2006/relationships/chart" Target="../charts/chart216.xml"/><Relationship Id="rId7" Type="http://schemas.openxmlformats.org/officeDocument/2006/relationships/chart" Target="../charts/chart217.xml"/><Relationship Id="rId8" Type="http://schemas.openxmlformats.org/officeDocument/2006/relationships/chart" Target="../charts/chart218.xml"/><Relationship Id="rId9" Type="http://schemas.openxmlformats.org/officeDocument/2006/relationships/chart" Target="../charts/chart219.xml"/><Relationship Id="rId10" Type="http://schemas.openxmlformats.org/officeDocument/2006/relationships/chart" Target="../charts/chart220.xml"/><Relationship Id="rId11" Type="http://schemas.openxmlformats.org/officeDocument/2006/relationships/chart" Target="../charts/chart221.xml"/><Relationship Id="rId1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2.xml"/><Relationship Id="rId3" Type="http://schemas.openxmlformats.org/officeDocument/2006/relationships/chart" Target="../charts/chart223.xml"/><Relationship Id="rId4" Type="http://schemas.openxmlformats.org/officeDocument/2006/relationships/chart" Target="../charts/chart224.xml"/><Relationship Id="rId5" Type="http://schemas.openxmlformats.org/officeDocument/2006/relationships/chart" Target="../charts/chart225.xml"/><Relationship Id="rId6" Type="http://schemas.openxmlformats.org/officeDocument/2006/relationships/chart" Target="../charts/chart226.xml"/><Relationship Id="rId7" Type="http://schemas.openxmlformats.org/officeDocument/2006/relationships/chart" Target="../charts/chart227.xml"/><Relationship Id="rId8" Type="http://schemas.openxmlformats.org/officeDocument/2006/relationships/chart" Target="../charts/chart228.xml"/><Relationship Id="rId9" Type="http://schemas.openxmlformats.org/officeDocument/2006/relationships/chart" Target="../charts/chart229.xml"/><Relationship Id="rId10" Type="http://schemas.openxmlformats.org/officeDocument/2006/relationships/chart" Target="../charts/chart230.xml"/><Relationship Id="rId11" Type="http://schemas.openxmlformats.org/officeDocument/2006/relationships/chart" Target="../charts/chart231.xml"/><Relationship Id="rId1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2.xml"/><Relationship Id="rId3" Type="http://schemas.openxmlformats.org/officeDocument/2006/relationships/chart" Target="../charts/chart233.xml"/><Relationship Id="rId4" Type="http://schemas.openxmlformats.org/officeDocument/2006/relationships/chart" Target="../charts/chart234.xml"/><Relationship Id="rId5" Type="http://schemas.openxmlformats.org/officeDocument/2006/relationships/chart" Target="../charts/chart235.xml"/><Relationship Id="rId6" Type="http://schemas.openxmlformats.org/officeDocument/2006/relationships/chart" Target="../charts/chart236.xml"/><Relationship Id="rId7" Type="http://schemas.openxmlformats.org/officeDocument/2006/relationships/chart" Target="../charts/chart237.xml"/><Relationship Id="rId8" Type="http://schemas.openxmlformats.org/officeDocument/2006/relationships/chart" Target="../charts/chart238.xml"/><Relationship Id="rId9" Type="http://schemas.openxmlformats.org/officeDocument/2006/relationships/chart" Target="../charts/chart239.xml"/><Relationship Id="rId10" Type="http://schemas.openxmlformats.org/officeDocument/2006/relationships/chart" Target="../charts/chart240.xml"/><Relationship Id="rId11" Type="http://schemas.openxmlformats.org/officeDocument/2006/relationships/chart" Target="../charts/chart241.xml"/><Relationship Id="rId1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2.xml"/><Relationship Id="rId3" Type="http://schemas.openxmlformats.org/officeDocument/2006/relationships/chart" Target="../charts/chart243.xml"/><Relationship Id="rId4" Type="http://schemas.openxmlformats.org/officeDocument/2006/relationships/chart" Target="../charts/chart244.xml"/><Relationship Id="rId5" Type="http://schemas.openxmlformats.org/officeDocument/2006/relationships/chart" Target="../charts/chart245.xml"/><Relationship Id="rId6" Type="http://schemas.openxmlformats.org/officeDocument/2006/relationships/chart" Target="../charts/chart246.xml"/><Relationship Id="rId7" Type="http://schemas.openxmlformats.org/officeDocument/2006/relationships/chart" Target="../charts/chart247.xml"/><Relationship Id="rId8" Type="http://schemas.openxmlformats.org/officeDocument/2006/relationships/chart" Target="../charts/chart248.xml"/><Relationship Id="rId9" Type="http://schemas.openxmlformats.org/officeDocument/2006/relationships/chart" Target="../charts/chart249.xml"/><Relationship Id="rId10" Type="http://schemas.openxmlformats.org/officeDocument/2006/relationships/chart" Target="../charts/chart250.xml"/><Relationship Id="rId11" Type="http://schemas.openxmlformats.org/officeDocument/2006/relationships/chart" Target="../charts/chart251.xml"/><Relationship Id="rId1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2.xml"/><Relationship Id="rId3" Type="http://schemas.openxmlformats.org/officeDocument/2006/relationships/chart" Target="../charts/chart253.xml"/><Relationship Id="rId4" Type="http://schemas.openxmlformats.org/officeDocument/2006/relationships/chart" Target="../charts/chart254.xml"/><Relationship Id="rId5" Type="http://schemas.openxmlformats.org/officeDocument/2006/relationships/chart" Target="../charts/chart255.xml"/><Relationship Id="rId6" Type="http://schemas.openxmlformats.org/officeDocument/2006/relationships/chart" Target="../charts/chart256.xml"/><Relationship Id="rId7" Type="http://schemas.openxmlformats.org/officeDocument/2006/relationships/chart" Target="../charts/chart257.xml"/><Relationship Id="rId8" Type="http://schemas.openxmlformats.org/officeDocument/2006/relationships/chart" Target="../charts/chart258.xml"/><Relationship Id="rId9" Type="http://schemas.openxmlformats.org/officeDocument/2006/relationships/chart" Target="../charts/chart259.xml"/><Relationship Id="rId10" Type="http://schemas.openxmlformats.org/officeDocument/2006/relationships/chart" Target="../charts/chart260.xml"/><Relationship Id="rId11" Type="http://schemas.openxmlformats.org/officeDocument/2006/relationships/chart" Target="../charts/chart261.xml"/><Relationship Id="rId1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and the store records.</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Absorption and net to gross.</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The CP Engine</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ROs, hours per RO, rate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Pay type and internal, maintenance and repair mix.</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MPI and video, then alignment, balance, brake fluid and fuel.</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 increases, warranty rate and parts margin, audits and compliance.</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Gross per employee, headcount and technician proficiency.</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commitments.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The CP Engine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Pay type   ·   Internal rate &amp; margin   ·   Work type   ·   Op code descriptions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Trends &amp; records   ·   Door rate   ·   CP vs internal   ·   Photo %   ·   Best techs</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19" name="Shape 17"/>
          <p:cNvSpPr/>
          <p:nvPr/>
        </p:nvSpPr>
        <p:spPr>
          <a:xfrm>
            <a:off x="457200" y="6126480"/>
            <a:ext cx="11274552" cy="615696"/>
          </a:xfrm>
          <a:prstGeom prst="rect">
            <a:avLst/>
          </a:prstGeom>
          <a:solidFill>
            <a:srgbClr val="E6F6EE"/>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but parts net to gross slipped 0.4 pts to 36.7%.</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747497"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3785616" y="2391651"/>
            <a:ext cx="408567"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+$931,844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33486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+$763,736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31454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+$717,392</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29119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+$664,150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785616" y="3351233"/>
            <a:ext cx="25688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+$585,903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2387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+$544,518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785616" y="3831024"/>
            <a:ext cx="20712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+$472,394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19493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+$444,598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785616" y="4310815"/>
            <a:ext cx="18518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+$422,352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785616" y="4550711"/>
            <a:ext cx="17734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+$404,490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785616" y="4790606"/>
            <a:ext cx="16350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+$372,910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3785616" y="5030502"/>
            <a:ext cx="16136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+$368,043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9466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+$215,909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3" name="Shape 71"/>
          <p:cNvSpPr/>
          <p:nvPr/>
        </p:nvSpPr>
        <p:spPr>
          <a:xfrm>
            <a:off x="3785616" y="5510293"/>
            <a:ext cx="7818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+$178,326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6869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+$156,681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9336024" y="1911860"/>
            <a:ext cx="5926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+$135,167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5" name="Shape 83"/>
          <p:cNvSpPr/>
          <p:nvPr/>
        </p:nvSpPr>
        <p:spPr>
          <a:xfrm>
            <a:off x="9336024" y="2151755"/>
            <a:ext cx="5480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+$124,997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5245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+$119,647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41708"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+$95,125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7" name="Shape 95"/>
          <p:cNvSpPr/>
          <p:nvPr/>
        </p:nvSpPr>
        <p:spPr>
          <a:xfrm>
            <a:off x="9336024" y="2871442"/>
            <a:ext cx="38665"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+$88,186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9336024" y="3111337"/>
            <a:ext cx="2753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+$62,795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5" name="Shape 103"/>
          <p:cNvSpPr/>
          <p:nvPr/>
        </p:nvSpPr>
        <p:spPr>
          <a:xfrm>
            <a:off x="9336024" y="3351233"/>
            <a:ext cx="17080"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+$38,956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+$22,653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64624" y="3831024"/>
            <a:ext cx="7140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−$162,846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246736" y="4070920"/>
            <a:ext cx="8928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−$203,644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1" name="Shape 119"/>
          <p:cNvSpPr/>
          <p:nvPr/>
        </p:nvSpPr>
        <p:spPr>
          <a:xfrm>
            <a:off x="9144427" y="4310815"/>
            <a:ext cx="19159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−$436,988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17423" y="4550711"/>
            <a:ext cx="21860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−$498,577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109439" y="4790606"/>
            <a:ext cx="22658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−$516,788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9108098" y="5030502"/>
            <a:ext cx="22792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−$519,845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9002279" y="5270397"/>
            <a:ext cx="33374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−$761,192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8967774" y="5510293"/>
            <a:ext cx="3682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−$839,891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6F6EE"/>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led by Toyota Henderson at +$1,772,700; 8 declined, Honda North most at −$839,891.</a:t>
            </a:r>
            <a:endParaRPr lang="en-US" sz="15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5486400" cy="4782312"/>
          </a:xfrm>
          <a:prstGeom prst="rect">
            <a:avLst/>
          </a:prstGeom>
          <a:solidFill>
            <a:srgbClr val="FFFFFF"/>
          </a:solidFill>
          <a:ln/>
        </p:spPr>
      </p:sp>
      <p:sp>
        <p:nvSpPr>
          <p:cNvPr id="6" name="Text 4"/>
          <p:cNvSpPr txBox="1"/>
          <p:nvPr/>
        </p:nvSpPr>
        <p:spPr>
          <a:xfrm>
            <a:off x="685800" y="1344168"/>
            <a:ext cx="502920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How the group got there, Jan–Sep</a:t>
            </a:r>
            <a:endParaRPr lang="en-US" sz="1500" dirty="0"/>
          </a:p>
        </p:txBody>
      </p:sp>
      <p:sp>
        <p:nvSpPr>
          <p:cNvPr id="7" name="Shape 5"/>
          <p:cNvSpPr/>
          <p:nvPr/>
        </p:nvSpPr>
        <p:spPr>
          <a:xfrm>
            <a:off x="685800" y="1691640"/>
            <a:ext cx="5029200" cy="10973"/>
          </a:xfrm>
          <a:prstGeom prst="rect">
            <a:avLst/>
          </a:prstGeom>
          <a:solidFill>
            <a:srgbClr val="1A1A1A"/>
          </a:solidFill>
          <a:ln/>
        </p:spPr>
      </p:sp>
      <p:sp>
        <p:nvSpPr>
          <p:cNvPr id="8" name="Shape 6"/>
          <p:cNvSpPr/>
          <p:nvPr/>
        </p:nvSpPr>
        <p:spPr>
          <a:xfrm>
            <a:off x="713232" y="1700784"/>
            <a:ext cx="4974336" cy="621792"/>
          </a:xfrm>
          <a:prstGeom prst="rect">
            <a:avLst/>
          </a:prstGeom>
          <a:solidFill>
            <a:srgbClr val="F7F7F7"/>
          </a:solidFill>
          <a:ln/>
        </p:spPr>
      </p:sp>
      <p:sp>
        <p:nvSpPr>
          <p:cNvPr id="9" name="Text 7"/>
          <p:cNvSpPr txBox="1"/>
          <p:nvPr/>
        </p:nvSpPr>
        <p:spPr>
          <a:xfrm>
            <a:off x="896112" y="1728216"/>
            <a:ext cx="2743200" cy="457200"/>
          </a:xfrm>
          <a:prstGeom prst="rect">
            <a:avLst/>
          </a:prstGeom>
          <a:noFill/>
          <a:ln/>
        </p:spPr>
        <p:txBody>
          <a:bodyPr wrap="square" lIns="0" tIns="0" rIns="0" bIns="0" rtlCol="0" anchor="ctr"/>
          <a:lstStyle/>
          <a:p>
            <a:pPr indent="0" marL="0">
              <a:buNone/>
            </a:pPr>
            <a:r>
              <a:rPr lang="en-US" sz="2600" b="1" dirty="0">
                <a:solidFill>
                  <a:srgbClr val="1A1A1A"/>
                </a:solidFill>
                <a:latin typeface="Inter" pitchFamily="34" charset="0"/>
                <a:ea typeface="Inter" pitchFamily="34" charset="-122"/>
                <a:cs typeface="Inter" pitchFamily="34" charset="-120"/>
              </a:rPr>
              <a:t>$181.33M</a:t>
            </a:r>
            <a:endParaRPr lang="en-US" sz="2600" dirty="0"/>
          </a:p>
        </p:txBody>
      </p:sp>
      <p:sp>
        <p:nvSpPr>
          <p:cNvPr id="10" name="Text 8"/>
          <p:cNvSpPr txBox="1"/>
          <p:nvPr/>
        </p:nvSpPr>
        <p:spPr>
          <a:xfrm>
            <a:off x="3657600" y="172821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2025 group</a:t>
            </a:r>
            <a:endParaRPr lang="en-US" sz="1400" dirty="0"/>
          </a:p>
        </p:txBody>
      </p:sp>
      <p:sp>
        <p:nvSpPr>
          <p:cNvPr id="11" name="Shape 9"/>
          <p:cNvSpPr/>
          <p:nvPr/>
        </p:nvSpPr>
        <p:spPr>
          <a:xfrm>
            <a:off x="987552" y="2395728"/>
            <a:ext cx="292608" cy="292608"/>
          </a:xfrm>
          <a:prstGeom prst="ellipse">
            <a:avLst/>
          </a:prstGeom>
          <a:solidFill>
            <a:srgbClr val="2587C5"/>
          </a:solidFill>
          <a:ln/>
        </p:spPr>
      </p:sp>
      <p:sp>
        <p:nvSpPr>
          <p:cNvPr id="12" name="Text 10"/>
          <p:cNvSpPr txBox="1"/>
          <p:nvPr/>
        </p:nvSpPr>
        <p:spPr>
          <a:xfrm>
            <a:off x="987552" y="239572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3" name="Shape 11"/>
          <p:cNvSpPr/>
          <p:nvPr/>
        </p:nvSpPr>
        <p:spPr>
          <a:xfrm>
            <a:off x="713232" y="2706624"/>
            <a:ext cx="4974336" cy="621792"/>
          </a:xfrm>
          <a:prstGeom prst="rect">
            <a:avLst/>
          </a:prstGeom>
          <a:solidFill>
            <a:srgbClr val="E6F6EE"/>
          </a:solidFill>
          <a:ln/>
        </p:spPr>
      </p:sp>
      <p:sp>
        <p:nvSpPr>
          <p:cNvPr id="14" name="Text 12"/>
          <p:cNvSpPr txBox="1"/>
          <p:nvPr/>
        </p:nvSpPr>
        <p:spPr>
          <a:xfrm>
            <a:off x="896112" y="2734056"/>
            <a:ext cx="2743200" cy="457200"/>
          </a:xfrm>
          <a:prstGeom prst="rect">
            <a:avLst/>
          </a:prstGeom>
          <a:noFill/>
          <a:ln/>
        </p:spPr>
        <p:txBody>
          <a:bodyPr wrap="square" lIns="0" tIns="0" rIns="0" bIns="0" rtlCol="0" anchor="ctr"/>
          <a:lstStyle/>
          <a:p>
            <a:pPr indent="0" marL="0">
              <a:buNone/>
            </a:pPr>
            <a:r>
              <a:rPr lang="en-US" sz="2600" b="1" dirty="0">
                <a:solidFill>
                  <a:srgbClr val="0B7A4A"/>
                </a:solidFill>
                <a:latin typeface="Inter" pitchFamily="34" charset="0"/>
                <a:ea typeface="Inter" pitchFamily="34" charset="-122"/>
                <a:cs typeface="Inter" pitchFamily="34" charset="-120"/>
              </a:rPr>
              <a:t>+$7,468,567</a:t>
            </a:r>
            <a:endParaRPr lang="en-US" sz="2600" dirty="0"/>
          </a:p>
        </p:txBody>
      </p:sp>
      <p:sp>
        <p:nvSpPr>
          <p:cNvPr id="15" name="Text 13"/>
          <p:cNvSpPr txBox="1"/>
          <p:nvPr/>
        </p:nvSpPr>
        <p:spPr>
          <a:xfrm>
            <a:off x="3657600" y="273405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same-store growth</a:t>
            </a:r>
            <a:endParaRPr lang="en-US" sz="1400" dirty="0"/>
          </a:p>
        </p:txBody>
      </p:sp>
      <p:sp>
        <p:nvSpPr>
          <p:cNvPr id="16" name="Shape 14"/>
          <p:cNvSpPr/>
          <p:nvPr/>
        </p:nvSpPr>
        <p:spPr>
          <a:xfrm>
            <a:off x="987552" y="3401568"/>
            <a:ext cx="292608" cy="292608"/>
          </a:xfrm>
          <a:prstGeom prst="ellipse">
            <a:avLst/>
          </a:prstGeom>
          <a:solidFill>
            <a:srgbClr val="0B2C4A"/>
          </a:solidFill>
          <a:ln/>
        </p:spPr>
      </p:sp>
      <p:sp>
        <p:nvSpPr>
          <p:cNvPr id="17" name="Text 15"/>
          <p:cNvSpPr txBox="1"/>
          <p:nvPr/>
        </p:nvSpPr>
        <p:spPr>
          <a:xfrm>
            <a:off x="987552" y="340156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8" name="Shape 16"/>
          <p:cNvSpPr/>
          <p:nvPr/>
        </p:nvSpPr>
        <p:spPr>
          <a:xfrm>
            <a:off x="713232" y="3712464"/>
            <a:ext cx="4974336" cy="713232"/>
          </a:xfrm>
          <a:prstGeom prst="rect">
            <a:avLst/>
          </a:prstGeom>
          <a:solidFill>
            <a:srgbClr val="EDF4FA"/>
          </a:solidFill>
          <a:ln/>
        </p:spPr>
      </p:sp>
      <p:sp>
        <p:nvSpPr>
          <p:cNvPr id="19" name="Text 17"/>
          <p:cNvSpPr txBox="1"/>
          <p:nvPr/>
        </p:nvSpPr>
        <p:spPr>
          <a:xfrm>
            <a:off x="896112" y="3739896"/>
            <a:ext cx="2743200" cy="512064"/>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$188.80M</a:t>
            </a:r>
            <a:endParaRPr lang="en-US" sz="3000" dirty="0"/>
          </a:p>
        </p:txBody>
      </p:sp>
      <p:sp>
        <p:nvSpPr>
          <p:cNvPr id="20" name="Text 18"/>
          <p:cNvSpPr txBox="1"/>
          <p:nvPr/>
        </p:nvSpPr>
        <p:spPr>
          <a:xfrm>
            <a:off x="3657600" y="3739896"/>
            <a:ext cx="1874520" cy="65836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2026 group</a:t>
            </a:r>
            <a:endParaRPr lang="en-US" sz="1400" dirty="0"/>
          </a:p>
        </p:txBody>
      </p:sp>
      <p:sp>
        <p:nvSpPr>
          <p:cNvPr id="21" name="Shape 19"/>
          <p:cNvSpPr/>
          <p:nvPr/>
        </p:nvSpPr>
        <p:spPr>
          <a:xfrm>
            <a:off x="6126480" y="1207008"/>
            <a:ext cx="5605272" cy="4782312"/>
          </a:xfrm>
          <a:prstGeom prst="rect">
            <a:avLst/>
          </a:prstGeom>
          <a:solidFill>
            <a:srgbClr val="FFFFFF"/>
          </a:solidFill>
          <a:ln/>
        </p:spPr>
      </p:sp>
      <p:sp>
        <p:nvSpPr>
          <p:cNvPr id="22" name="Text 20"/>
          <p:cNvSpPr txBox="1"/>
          <p:nvPr/>
        </p:nvSpPr>
        <p:spPr>
          <a:xfrm>
            <a:off x="6355080" y="1344168"/>
            <a:ext cx="514807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Who moved it</a:t>
            </a:r>
            <a:endParaRPr lang="en-US" sz="1500" dirty="0"/>
          </a:p>
        </p:txBody>
      </p:sp>
      <p:sp>
        <p:nvSpPr>
          <p:cNvPr id="23" name="Shape 21"/>
          <p:cNvSpPr/>
          <p:nvPr/>
        </p:nvSpPr>
        <p:spPr>
          <a:xfrm>
            <a:off x="6355080" y="1691640"/>
            <a:ext cx="5148072" cy="10973"/>
          </a:xfrm>
          <a:prstGeom prst="rect">
            <a:avLst/>
          </a:prstGeom>
          <a:solidFill>
            <a:srgbClr val="1A1A1A"/>
          </a:solidFill>
          <a:ln/>
        </p:spPr>
      </p:sp>
      <p:sp>
        <p:nvSpPr>
          <p:cNvPr id="24" name="Text 22"/>
          <p:cNvSpPr txBox="1"/>
          <p:nvPr/>
        </p:nvSpPr>
        <p:spPr>
          <a:xfrm>
            <a:off x="6355080" y="182880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TOYOTA HENDERSON</a:t>
            </a:r>
            <a:endParaRPr lang="en-US" sz="1400" dirty="0"/>
          </a:p>
        </p:txBody>
      </p:sp>
      <p:sp>
        <p:nvSpPr>
          <p:cNvPr id="25" name="Shape 23"/>
          <p:cNvSpPr/>
          <p:nvPr/>
        </p:nvSpPr>
        <p:spPr>
          <a:xfrm>
            <a:off x="8595360" y="1929384"/>
            <a:ext cx="1463040" cy="182880"/>
          </a:xfrm>
          <a:prstGeom prst="rect">
            <a:avLst/>
          </a:prstGeom>
          <a:solidFill>
            <a:srgbClr val="12A566"/>
          </a:solidFill>
          <a:ln/>
        </p:spPr>
      </p:sp>
      <p:sp>
        <p:nvSpPr>
          <p:cNvPr id="26" name="Text 24"/>
          <p:cNvSpPr txBox="1"/>
          <p:nvPr/>
        </p:nvSpPr>
        <p:spPr>
          <a:xfrm>
            <a:off x="10149840" y="1828800"/>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+$1,772,700</a:t>
            </a:r>
            <a:endParaRPr lang="en-US" sz="1400" dirty="0"/>
          </a:p>
        </p:txBody>
      </p:sp>
      <p:sp>
        <p:nvSpPr>
          <p:cNvPr id="27" name="Text 25"/>
          <p:cNvSpPr txBox="1"/>
          <p:nvPr/>
        </p:nvSpPr>
        <p:spPr>
          <a:xfrm>
            <a:off x="6355080" y="225856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HENDERSON</a:t>
            </a:r>
            <a:endParaRPr lang="en-US" sz="1400" dirty="0"/>
          </a:p>
        </p:txBody>
      </p:sp>
      <p:sp>
        <p:nvSpPr>
          <p:cNvPr id="28" name="Shape 26"/>
          <p:cNvSpPr/>
          <p:nvPr/>
        </p:nvSpPr>
        <p:spPr>
          <a:xfrm>
            <a:off x="8595360" y="2359152"/>
            <a:ext cx="1407053" cy="182880"/>
          </a:xfrm>
          <a:prstGeom prst="rect">
            <a:avLst/>
          </a:prstGeom>
          <a:solidFill>
            <a:srgbClr val="12A566"/>
          </a:solidFill>
          <a:ln/>
        </p:spPr>
      </p:sp>
      <p:sp>
        <p:nvSpPr>
          <p:cNvPr id="29" name="Text 27"/>
          <p:cNvSpPr txBox="1"/>
          <p:nvPr/>
        </p:nvSpPr>
        <p:spPr>
          <a:xfrm>
            <a:off x="10149840" y="2258568"/>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+$1,704,863</a:t>
            </a:r>
            <a:endParaRPr lang="en-US" sz="1400" dirty="0"/>
          </a:p>
        </p:txBody>
      </p:sp>
      <p:sp>
        <p:nvSpPr>
          <p:cNvPr id="30" name="Text 28"/>
          <p:cNvSpPr txBox="1"/>
          <p:nvPr/>
        </p:nvSpPr>
        <p:spPr>
          <a:xfrm>
            <a:off x="6355080" y="268833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HENDERSON</a:t>
            </a:r>
            <a:endParaRPr lang="en-US" sz="1400" dirty="0"/>
          </a:p>
        </p:txBody>
      </p:sp>
      <p:sp>
        <p:nvSpPr>
          <p:cNvPr id="31" name="Shape 29"/>
          <p:cNvSpPr/>
          <p:nvPr/>
        </p:nvSpPr>
        <p:spPr>
          <a:xfrm>
            <a:off x="8595360" y="2788920"/>
            <a:ext cx="769067" cy="182880"/>
          </a:xfrm>
          <a:prstGeom prst="rect">
            <a:avLst/>
          </a:prstGeom>
          <a:solidFill>
            <a:srgbClr val="12A566"/>
          </a:solidFill>
          <a:ln/>
        </p:spPr>
      </p:sp>
      <p:sp>
        <p:nvSpPr>
          <p:cNvPr id="32" name="Text 30"/>
          <p:cNvSpPr txBox="1"/>
          <p:nvPr/>
        </p:nvSpPr>
        <p:spPr>
          <a:xfrm>
            <a:off x="10149840" y="2688336"/>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+$931,844</a:t>
            </a:r>
            <a:endParaRPr lang="en-US" sz="1400" dirty="0"/>
          </a:p>
        </p:txBody>
      </p:sp>
      <p:sp>
        <p:nvSpPr>
          <p:cNvPr id="33" name="Text 31"/>
          <p:cNvSpPr txBox="1"/>
          <p:nvPr/>
        </p:nvSpPr>
        <p:spPr>
          <a:xfrm>
            <a:off x="6355080" y="311810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LEXUS</a:t>
            </a:r>
            <a:endParaRPr lang="en-US" sz="1400" dirty="0"/>
          </a:p>
        </p:txBody>
      </p:sp>
      <p:sp>
        <p:nvSpPr>
          <p:cNvPr id="34" name="Shape 32"/>
          <p:cNvSpPr/>
          <p:nvPr/>
        </p:nvSpPr>
        <p:spPr>
          <a:xfrm>
            <a:off x="8595360" y="3218688"/>
            <a:ext cx="630324" cy="182880"/>
          </a:xfrm>
          <a:prstGeom prst="rect">
            <a:avLst/>
          </a:prstGeom>
          <a:solidFill>
            <a:srgbClr val="12A566"/>
          </a:solidFill>
          <a:ln/>
        </p:spPr>
      </p:sp>
      <p:sp>
        <p:nvSpPr>
          <p:cNvPr id="35" name="Text 33"/>
          <p:cNvSpPr txBox="1"/>
          <p:nvPr/>
        </p:nvSpPr>
        <p:spPr>
          <a:xfrm>
            <a:off x="10149840" y="3118104"/>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+$763,736</a:t>
            </a:r>
            <a:endParaRPr lang="en-US" sz="1400" dirty="0"/>
          </a:p>
        </p:txBody>
      </p:sp>
      <p:sp>
        <p:nvSpPr>
          <p:cNvPr id="36" name="Text 34"/>
          <p:cNvSpPr txBox="1"/>
          <p:nvPr/>
        </p:nvSpPr>
        <p:spPr>
          <a:xfrm>
            <a:off x="6355080" y="3547872"/>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LINCOLN</a:t>
            </a:r>
            <a:endParaRPr lang="en-US" sz="1400" dirty="0"/>
          </a:p>
        </p:txBody>
      </p:sp>
      <p:sp>
        <p:nvSpPr>
          <p:cNvPr id="37" name="Shape 35"/>
          <p:cNvSpPr/>
          <p:nvPr/>
        </p:nvSpPr>
        <p:spPr>
          <a:xfrm>
            <a:off x="8595360" y="3648456"/>
            <a:ext cx="592076" cy="182880"/>
          </a:xfrm>
          <a:prstGeom prst="rect">
            <a:avLst/>
          </a:prstGeom>
          <a:solidFill>
            <a:srgbClr val="12A566"/>
          </a:solidFill>
          <a:ln/>
        </p:spPr>
      </p:sp>
      <p:sp>
        <p:nvSpPr>
          <p:cNvPr id="38" name="Text 36"/>
          <p:cNvSpPr txBox="1"/>
          <p:nvPr/>
        </p:nvSpPr>
        <p:spPr>
          <a:xfrm>
            <a:off x="10149840" y="3547872"/>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+$717,392</a:t>
            </a:r>
            <a:endParaRPr lang="en-US" sz="1400" dirty="0"/>
          </a:p>
        </p:txBody>
      </p:sp>
      <p:sp>
        <p:nvSpPr>
          <p:cNvPr id="39" name="Text 37"/>
          <p:cNvSpPr txBox="1"/>
          <p:nvPr/>
        </p:nvSpPr>
        <p:spPr>
          <a:xfrm>
            <a:off x="6355080" y="397764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p>
        </p:txBody>
      </p:sp>
      <p:sp>
        <p:nvSpPr>
          <p:cNvPr id="40" name="Shape 38"/>
          <p:cNvSpPr/>
          <p:nvPr/>
        </p:nvSpPr>
        <p:spPr>
          <a:xfrm>
            <a:off x="8168846" y="4078224"/>
            <a:ext cx="426514" cy="182880"/>
          </a:xfrm>
          <a:prstGeom prst="rect">
            <a:avLst/>
          </a:prstGeom>
          <a:solidFill>
            <a:srgbClr val="C2352F"/>
          </a:solidFill>
          <a:ln/>
        </p:spPr>
      </p:sp>
      <p:sp>
        <p:nvSpPr>
          <p:cNvPr id="41" name="Text 39"/>
          <p:cNvSpPr txBox="1"/>
          <p:nvPr/>
        </p:nvSpPr>
        <p:spPr>
          <a:xfrm>
            <a:off x="10149840" y="3977640"/>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−$516,788</a:t>
            </a:r>
            <a:endParaRPr lang="en-US" sz="1400" dirty="0"/>
          </a:p>
        </p:txBody>
      </p:sp>
      <p:sp>
        <p:nvSpPr>
          <p:cNvPr id="42" name="Text 40"/>
          <p:cNvSpPr txBox="1"/>
          <p:nvPr/>
        </p:nvSpPr>
        <p:spPr>
          <a:xfrm>
            <a:off x="6355080" y="440740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RENO</a:t>
            </a:r>
            <a:endParaRPr lang="en-US" sz="1400" dirty="0"/>
          </a:p>
        </p:txBody>
      </p:sp>
      <p:sp>
        <p:nvSpPr>
          <p:cNvPr id="43" name="Shape 41"/>
          <p:cNvSpPr/>
          <p:nvPr/>
        </p:nvSpPr>
        <p:spPr>
          <a:xfrm>
            <a:off x="8166323" y="4507992"/>
            <a:ext cx="429037" cy="182880"/>
          </a:xfrm>
          <a:prstGeom prst="rect">
            <a:avLst/>
          </a:prstGeom>
          <a:solidFill>
            <a:srgbClr val="C2352F"/>
          </a:solidFill>
          <a:ln/>
        </p:spPr>
      </p:sp>
      <p:sp>
        <p:nvSpPr>
          <p:cNvPr id="44" name="Text 42"/>
          <p:cNvSpPr txBox="1"/>
          <p:nvPr/>
        </p:nvSpPr>
        <p:spPr>
          <a:xfrm>
            <a:off x="10149840" y="4407408"/>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−$519,845</a:t>
            </a:r>
            <a:endParaRPr lang="en-US" sz="1400" dirty="0"/>
          </a:p>
        </p:txBody>
      </p:sp>
      <p:sp>
        <p:nvSpPr>
          <p:cNvPr id="45" name="Text 43"/>
          <p:cNvSpPr txBox="1"/>
          <p:nvPr/>
        </p:nvSpPr>
        <p:spPr>
          <a:xfrm>
            <a:off x="6355080" y="483717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Shape 44"/>
          <p:cNvSpPr/>
          <p:nvPr/>
        </p:nvSpPr>
        <p:spPr>
          <a:xfrm>
            <a:off x="7967135" y="4937760"/>
            <a:ext cx="628225" cy="182880"/>
          </a:xfrm>
          <a:prstGeom prst="rect">
            <a:avLst/>
          </a:prstGeom>
          <a:solidFill>
            <a:srgbClr val="C2352F"/>
          </a:solidFill>
          <a:ln/>
        </p:spPr>
      </p:sp>
      <p:sp>
        <p:nvSpPr>
          <p:cNvPr id="47" name="Text 45"/>
          <p:cNvSpPr txBox="1"/>
          <p:nvPr/>
        </p:nvSpPr>
        <p:spPr>
          <a:xfrm>
            <a:off x="10149840" y="4837176"/>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−$761,192</a:t>
            </a:r>
            <a:endParaRPr lang="en-US" sz="1400" dirty="0"/>
          </a:p>
        </p:txBody>
      </p:sp>
      <p:sp>
        <p:nvSpPr>
          <p:cNvPr id="48" name="Text 46"/>
          <p:cNvSpPr txBox="1"/>
          <p:nvPr/>
        </p:nvSpPr>
        <p:spPr>
          <a:xfrm>
            <a:off x="6355080" y="526694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NORTH</a:t>
            </a:r>
            <a:endParaRPr lang="en-US" sz="1400" dirty="0"/>
          </a:p>
        </p:txBody>
      </p:sp>
      <p:sp>
        <p:nvSpPr>
          <p:cNvPr id="49" name="Shape 47"/>
          <p:cNvSpPr/>
          <p:nvPr/>
        </p:nvSpPr>
        <p:spPr>
          <a:xfrm>
            <a:off x="7902183" y="5367528"/>
            <a:ext cx="693177" cy="182880"/>
          </a:xfrm>
          <a:prstGeom prst="rect">
            <a:avLst/>
          </a:prstGeom>
          <a:solidFill>
            <a:srgbClr val="C2352F"/>
          </a:solidFill>
          <a:ln/>
        </p:spPr>
      </p:sp>
      <p:sp>
        <p:nvSpPr>
          <p:cNvPr id="50" name="Text 48"/>
          <p:cNvSpPr txBox="1"/>
          <p:nvPr/>
        </p:nvSpPr>
        <p:spPr>
          <a:xfrm>
            <a:off x="10149840" y="5266944"/>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−$839,891</a:t>
            </a:r>
            <a:endParaRPr lang="en-US" sz="1400" dirty="0"/>
          </a:p>
        </p:txBody>
      </p:sp>
      <p:sp>
        <p:nvSpPr>
          <p:cNvPr id="51" name="Shape 49"/>
          <p:cNvSpPr/>
          <p:nvPr/>
        </p:nvSpPr>
        <p:spPr>
          <a:xfrm>
            <a:off x="8589874" y="1828800"/>
            <a:ext cx="10973" cy="3813048"/>
          </a:xfrm>
          <a:prstGeom prst="rect">
            <a:avLst/>
          </a:prstGeom>
          <a:solidFill>
            <a:srgbClr val="9AA3AD"/>
          </a:solidFill>
          <a:ln/>
        </p:spPr>
      </p:sp>
      <p:sp>
        <p:nvSpPr>
          <p:cNvPr id="52" name="Shape 50"/>
          <p:cNvSpPr/>
          <p:nvPr/>
        </p:nvSpPr>
        <p:spPr>
          <a:xfrm>
            <a:off x="457200" y="6126480"/>
            <a:ext cx="11274552" cy="371856"/>
          </a:xfrm>
          <a:prstGeom prst="rect">
            <a:avLst/>
          </a:prstGeom>
          <a:solidFill>
            <a:srgbClr val="E6F6EE"/>
          </a:solidFill>
          <a:ln/>
        </p:spPr>
      </p:sp>
      <p:sp>
        <p:nvSpPr>
          <p:cNvPr id="53" name="Text 5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added +$5,890,534; the bottom four gave back $2,637,716.</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73466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3143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+$639,324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32096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+$619,111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9" name="Shape 27"/>
          <p:cNvSpPr/>
          <p:nvPr/>
        </p:nvSpPr>
        <p:spPr>
          <a:xfrm>
            <a:off x="3785616" y="2871442"/>
            <a:ext cx="31671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+$610,920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785616" y="3111337"/>
            <a:ext cx="31196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+$601,761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785616" y="3351233"/>
            <a:ext cx="24616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+$474,842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0199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+$389,643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3785616" y="3831024"/>
            <a:ext cx="19929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+$384,429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9" name="Shape 47"/>
          <p:cNvSpPr/>
          <p:nvPr/>
        </p:nvSpPr>
        <p:spPr>
          <a:xfrm>
            <a:off x="3785616" y="4070920"/>
            <a:ext cx="17879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+$344,890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785616" y="4310815"/>
            <a:ext cx="16328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+$314,963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785616" y="4550711"/>
            <a:ext cx="1514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+$292,173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785616" y="4790606"/>
            <a:ext cx="12125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+$233,897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3785616" y="5030502"/>
            <a:ext cx="11234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+$216,701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3785616" y="5270397"/>
            <a:ext cx="10454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+$201,665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3" name="Shape 71"/>
          <p:cNvSpPr/>
          <p:nvPr/>
        </p:nvSpPr>
        <p:spPr>
          <a:xfrm>
            <a:off x="3785616" y="5510293"/>
            <a:ext cx="1014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+$195,719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785616" y="5750188"/>
            <a:ext cx="8766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+$169,102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336024" y="1911860"/>
            <a:ext cx="8377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+$161,597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9336024" y="2151755"/>
            <a:ext cx="5849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+$112,838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9336024" y="2391651"/>
            <a:ext cx="35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+$68,148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9336024" y="2631546"/>
            <a:ext cx="1616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+$31,186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+$20,233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+$20,119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5" name="Shape 103"/>
          <p:cNvSpPr/>
          <p:nvPr/>
        </p:nvSpPr>
        <p:spPr>
          <a:xfrm>
            <a:off x="9323622"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−$23,923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321659" y="3591128"/>
            <a:ext cx="14365"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306093" y="3831024"/>
            <a:ext cx="29931"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−$57,734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266019" y="4070920"/>
            <a:ext cx="7000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−$135,036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236525" y="4310815"/>
            <a:ext cx="9949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−$191,926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226476" y="4550711"/>
            <a:ext cx="10954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−$211,311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9131329" y="4790606"/>
            <a:ext cx="20469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−$394,842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08996" y="5030502"/>
            <a:ext cx="22702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−$437,922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9052339" y="5270397"/>
            <a:ext cx="2836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−$547,210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8975920" y="5510293"/>
            <a:ext cx="36010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−$694,616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6F6EE"/>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led by Toyota Henderson at +$1,499,243; 10 declined, Honda North most at −$694,616.</a:t>
            </a:r>
            <a:endParaRPr lang="en-US" sz="15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+$688,074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785616" y="2151755"/>
            <a:ext cx="36251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+$320,924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3785616" y="2391651"/>
            <a:ext cx="32503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+$287,749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785616" y="2631546"/>
            <a:ext cx="3088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+$273,457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785616" y="2871442"/>
            <a:ext cx="3058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+$270,730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27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+$242,550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785616" y="3351233"/>
            <a:ext cx="23800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+$210,702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17870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+$158,208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785616" y="3831024"/>
            <a:ext cx="170954"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+$151,342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14053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+$124,412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9992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+$88,461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785616" y="4550711"/>
            <a:ext cx="6732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+$59,600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1" name="Shape 59"/>
          <p:cNvSpPr/>
          <p:nvPr/>
        </p:nvSpPr>
        <p:spPr>
          <a:xfrm>
            <a:off x="3785616" y="4790606"/>
            <a:ext cx="5688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+$50,363</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5287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+$46,807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785616" y="5270397"/>
            <a:ext cx="3694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+$32,709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3047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+$26,978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2114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+$18,723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330471" y="1911860"/>
            <a:ext cx="12802"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−$4,916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9323012" y="2151755"/>
            <a:ext cx="13012"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−$11,519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04610" y="2391651"/>
            <a:ext cx="3141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−$27,810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298513" y="2631546"/>
            <a:ext cx="3751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−$33,207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288416" y="2871442"/>
            <a:ext cx="4760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−$42,146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9279496" y="3111337"/>
            <a:ext cx="5652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−$50,043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71363" y="3351233"/>
            <a:ext cx="6466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−$57,243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9267626" y="3591128"/>
            <a:ext cx="68398"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−$60,551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246939" y="3831024"/>
            <a:ext cx="8908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−$78,865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7" name="Shape 115"/>
          <p:cNvSpPr/>
          <p:nvPr/>
        </p:nvSpPr>
        <p:spPr>
          <a:xfrm>
            <a:off x="9171924" y="4070920"/>
            <a:ext cx="16410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−$145,275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9171206" y="4310815"/>
            <a:ext cx="16481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−$145,910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47184" y="4550711"/>
            <a:ext cx="188840"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−$167,176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094312" y="4790606"/>
            <a:ext cx="2417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−$213,982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9079859" y="5030502"/>
            <a:ext cx="2561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−$226,777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011532" y="5270397"/>
            <a:ext cx="32449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−$287,265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965611" y="5510293"/>
            <a:ext cx="370413"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−$327,919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6F6EE"/>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 led by Cadillac at +$688,074; 16 declined, Audi Reno most at −$327,919.</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store's fixed expenses service and parts gross pays for.</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CP engine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facility and the other fixed costs on the P&amp;L</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 Shown for service and parts.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ties staffing and pay plans to results.</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ROs &gt; Hours per RO &gt; ELR &gt; Mix &gt;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visits are basic services.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 ROs per advisor</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service advisor a month, down 7. Advisors grew 1.5%; ROs fell 2.3%.</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Every RO with a customer-pay line, whether or not labor was charged on it. One RO counts once, however many lines it has.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top of the engine. Hours, ELR and $ per RO all multiply off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clearest read on retention and on whether the front door is open.</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the Close to Losing and Unretained lists; sold-not-serviced vehicles</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5254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3892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07999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0295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68933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 name="Shape 11"/>
          <p:cNvSpPr/>
          <p:nvPr/>
        </p:nvSpPr>
        <p:spPr>
          <a:xfrm>
            <a:off x="2670048" y="1756697"/>
            <a:ext cx="804672" cy="136676"/>
          </a:xfrm>
          <a:prstGeom prst="rect">
            <a:avLst/>
          </a:prstGeom>
          <a:solidFill>
            <a:srgbClr val="2587C5"/>
          </a:solidFill>
          <a:ln/>
        </p:spPr>
      </p:sp>
      <p:sp>
        <p:nvSpPr>
          <p:cNvPr id="14" name="Text 12"/>
          <p:cNvSpPr txBox="1"/>
          <p:nvPr/>
        </p:nvSpPr>
        <p:spPr>
          <a:xfrm>
            <a:off x="352958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5" name="Text 13"/>
          <p:cNvSpPr txBox="1"/>
          <p:nvPr/>
        </p:nvSpPr>
        <p:spPr>
          <a:xfrm>
            <a:off x="435254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6" name="Text 14"/>
          <p:cNvSpPr txBox="1"/>
          <p:nvPr/>
        </p:nvSpPr>
        <p:spPr>
          <a:xfrm>
            <a:off x="513892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8" name="Shape 16"/>
          <p:cNvSpPr/>
          <p:nvPr/>
        </p:nvSpPr>
        <p:spPr>
          <a:xfrm>
            <a:off x="2670048" y="2005199"/>
            <a:ext cx="786943" cy="136676"/>
          </a:xfrm>
          <a:prstGeom prst="rect">
            <a:avLst/>
          </a:prstGeom>
          <a:solidFill>
            <a:srgbClr val="2587C5"/>
          </a:solidFill>
          <a:ln/>
        </p:spPr>
      </p:sp>
      <p:sp>
        <p:nvSpPr>
          <p:cNvPr id="19" name="Text 17"/>
          <p:cNvSpPr txBox="1"/>
          <p:nvPr/>
        </p:nvSpPr>
        <p:spPr>
          <a:xfrm>
            <a:off x="352958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0" name="Text 18"/>
          <p:cNvSpPr txBox="1"/>
          <p:nvPr/>
        </p:nvSpPr>
        <p:spPr>
          <a:xfrm>
            <a:off x="435254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1" name="Text 19"/>
          <p:cNvSpPr txBox="1"/>
          <p:nvPr/>
        </p:nvSpPr>
        <p:spPr>
          <a:xfrm>
            <a:off x="513892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 name="Shape 21"/>
          <p:cNvSpPr/>
          <p:nvPr/>
        </p:nvSpPr>
        <p:spPr>
          <a:xfrm>
            <a:off x="2670048" y="2253700"/>
            <a:ext cx="725286" cy="136676"/>
          </a:xfrm>
          <a:prstGeom prst="rect">
            <a:avLst/>
          </a:prstGeom>
          <a:solidFill>
            <a:srgbClr val="2587C5"/>
          </a:solidFill>
          <a:ln/>
        </p:spPr>
      </p:sp>
      <p:sp>
        <p:nvSpPr>
          <p:cNvPr id="24" name="Text 22"/>
          <p:cNvSpPr txBox="1"/>
          <p:nvPr/>
        </p:nvSpPr>
        <p:spPr>
          <a:xfrm>
            <a:off x="352958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5" name="Text 23"/>
          <p:cNvSpPr txBox="1"/>
          <p:nvPr/>
        </p:nvSpPr>
        <p:spPr>
          <a:xfrm>
            <a:off x="435254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513892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709617" cy="136676"/>
          </a:xfrm>
          <a:prstGeom prst="rect">
            <a:avLst/>
          </a:prstGeom>
          <a:solidFill>
            <a:srgbClr val="2587C5"/>
          </a:solidFill>
          <a:ln/>
        </p:spPr>
      </p:sp>
      <p:sp>
        <p:nvSpPr>
          <p:cNvPr id="29" name="Text 27"/>
          <p:cNvSpPr txBox="1"/>
          <p:nvPr/>
        </p:nvSpPr>
        <p:spPr>
          <a:xfrm>
            <a:off x="352958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0" name="Text 28"/>
          <p:cNvSpPr txBox="1"/>
          <p:nvPr/>
        </p:nvSpPr>
        <p:spPr>
          <a:xfrm>
            <a:off x="435254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1" name="Text 29"/>
          <p:cNvSpPr txBox="1"/>
          <p:nvPr/>
        </p:nvSpPr>
        <p:spPr>
          <a:xfrm>
            <a:off x="513892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3" name="Shape 31"/>
          <p:cNvSpPr/>
          <p:nvPr/>
        </p:nvSpPr>
        <p:spPr>
          <a:xfrm>
            <a:off x="2670048" y="2750703"/>
            <a:ext cx="510203" cy="136676"/>
          </a:xfrm>
          <a:prstGeom prst="rect">
            <a:avLst/>
          </a:prstGeom>
          <a:solidFill>
            <a:srgbClr val="2587C5"/>
          </a:solidFill>
          <a:ln/>
        </p:spPr>
      </p:sp>
      <p:sp>
        <p:nvSpPr>
          <p:cNvPr id="34" name="Text 32"/>
          <p:cNvSpPr txBox="1"/>
          <p:nvPr/>
        </p:nvSpPr>
        <p:spPr>
          <a:xfrm>
            <a:off x="352958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35" name="Text 33"/>
          <p:cNvSpPr txBox="1"/>
          <p:nvPr/>
        </p:nvSpPr>
        <p:spPr>
          <a:xfrm>
            <a:off x="435254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6" name="Text 34"/>
          <p:cNvSpPr txBox="1"/>
          <p:nvPr/>
        </p:nvSpPr>
        <p:spPr>
          <a:xfrm>
            <a:off x="513892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8" name="Shape 36"/>
          <p:cNvSpPr/>
          <p:nvPr/>
        </p:nvSpPr>
        <p:spPr>
          <a:xfrm>
            <a:off x="2670048" y="2999205"/>
            <a:ext cx="456478" cy="136676"/>
          </a:xfrm>
          <a:prstGeom prst="rect">
            <a:avLst/>
          </a:prstGeom>
          <a:solidFill>
            <a:srgbClr val="2587C5"/>
          </a:solidFill>
          <a:ln/>
        </p:spPr>
      </p:sp>
      <p:sp>
        <p:nvSpPr>
          <p:cNvPr id="39" name="Text 37"/>
          <p:cNvSpPr txBox="1"/>
          <p:nvPr/>
        </p:nvSpPr>
        <p:spPr>
          <a:xfrm>
            <a:off x="352958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0" name="Text 38"/>
          <p:cNvSpPr txBox="1"/>
          <p:nvPr/>
        </p:nvSpPr>
        <p:spPr>
          <a:xfrm>
            <a:off x="435254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1" name="Text 39"/>
          <p:cNvSpPr txBox="1"/>
          <p:nvPr/>
        </p:nvSpPr>
        <p:spPr>
          <a:xfrm>
            <a:off x="513892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3" name="Shape 41"/>
          <p:cNvSpPr/>
          <p:nvPr/>
        </p:nvSpPr>
        <p:spPr>
          <a:xfrm>
            <a:off x="2670048" y="3247707"/>
            <a:ext cx="350480" cy="136676"/>
          </a:xfrm>
          <a:prstGeom prst="rect">
            <a:avLst/>
          </a:prstGeom>
          <a:solidFill>
            <a:srgbClr val="2587C5"/>
          </a:solidFill>
          <a:ln/>
        </p:spPr>
      </p:sp>
      <p:sp>
        <p:nvSpPr>
          <p:cNvPr id="44" name="Text 42"/>
          <p:cNvSpPr txBox="1"/>
          <p:nvPr/>
        </p:nvSpPr>
        <p:spPr>
          <a:xfrm>
            <a:off x="352958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45" name="Text 43"/>
          <p:cNvSpPr txBox="1"/>
          <p:nvPr/>
        </p:nvSpPr>
        <p:spPr>
          <a:xfrm>
            <a:off x="435254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46" name="Text 44"/>
          <p:cNvSpPr txBox="1"/>
          <p:nvPr/>
        </p:nvSpPr>
        <p:spPr>
          <a:xfrm>
            <a:off x="513892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48" name="Shape 46"/>
          <p:cNvSpPr/>
          <p:nvPr/>
        </p:nvSpPr>
        <p:spPr>
          <a:xfrm>
            <a:off x="2670048" y="3496208"/>
            <a:ext cx="331101" cy="136676"/>
          </a:xfrm>
          <a:prstGeom prst="rect">
            <a:avLst/>
          </a:prstGeom>
          <a:solidFill>
            <a:srgbClr val="2587C5"/>
          </a:solidFill>
          <a:ln/>
        </p:spPr>
      </p:sp>
      <p:sp>
        <p:nvSpPr>
          <p:cNvPr id="49" name="Text 47"/>
          <p:cNvSpPr txBox="1"/>
          <p:nvPr/>
        </p:nvSpPr>
        <p:spPr>
          <a:xfrm>
            <a:off x="352958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0" name="Text 48"/>
          <p:cNvSpPr txBox="1"/>
          <p:nvPr/>
        </p:nvSpPr>
        <p:spPr>
          <a:xfrm>
            <a:off x="435254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513892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3" name="Shape 51"/>
          <p:cNvSpPr/>
          <p:nvPr/>
        </p:nvSpPr>
        <p:spPr>
          <a:xfrm>
            <a:off x="2670048" y="3744710"/>
            <a:ext cx="316904" cy="136676"/>
          </a:xfrm>
          <a:prstGeom prst="rect">
            <a:avLst/>
          </a:prstGeom>
          <a:solidFill>
            <a:srgbClr val="2587C5"/>
          </a:solidFill>
          <a:ln/>
        </p:spPr>
      </p:sp>
      <p:sp>
        <p:nvSpPr>
          <p:cNvPr id="54" name="Text 52"/>
          <p:cNvSpPr txBox="1"/>
          <p:nvPr/>
        </p:nvSpPr>
        <p:spPr>
          <a:xfrm>
            <a:off x="352958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55" name="Text 53"/>
          <p:cNvSpPr txBox="1"/>
          <p:nvPr/>
        </p:nvSpPr>
        <p:spPr>
          <a:xfrm>
            <a:off x="435254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56" name="Text 54"/>
          <p:cNvSpPr txBox="1"/>
          <p:nvPr/>
        </p:nvSpPr>
        <p:spPr>
          <a:xfrm>
            <a:off x="513892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8" name="Shape 56"/>
          <p:cNvSpPr/>
          <p:nvPr/>
        </p:nvSpPr>
        <p:spPr>
          <a:xfrm>
            <a:off x="2670048" y="3993212"/>
            <a:ext cx="295308" cy="136676"/>
          </a:xfrm>
          <a:prstGeom prst="rect">
            <a:avLst/>
          </a:prstGeom>
          <a:solidFill>
            <a:srgbClr val="2587C5"/>
          </a:solidFill>
          <a:ln/>
        </p:spPr>
      </p:sp>
      <p:sp>
        <p:nvSpPr>
          <p:cNvPr id="59" name="Text 57"/>
          <p:cNvSpPr txBox="1"/>
          <p:nvPr/>
        </p:nvSpPr>
        <p:spPr>
          <a:xfrm>
            <a:off x="352958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60" name="Text 58"/>
          <p:cNvSpPr txBox="1"/>
          <p:nvPr/>
        </p:nvSpPr>
        <p:spPr>
          <a:xfrm>
            <a:off x="435254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1" name="Text 59"/>
          <p:cNvSpPr txBox="1"/>
          <p:nvPr/>
        </p:nvSpPr>
        <p:spPr>
          <a:xfrm>
            <a:off x="513892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279971" cy="136676"/>
          </a:xfrm>
          <a:prstGeom prst="rect">
            <a:avLst/>
          </a:prstGeom>
          <a:solidFill>
            <a:srgbClr val="2587C5"/>
          </a:solidFill>
          <a:ln/>
        </p:spPr>
      </p:sp>
      <p:sp>
        <p:nvSpPr>
          <p:cNvPr id="64" name="Text 62"/>
          <p:cNvSpPr txBox="1"/>
          <p:nvPr/>
        </p:nvSpPr>
        <p:spPr>
          <a:xfrm>
            <a:off x="352958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65" name="Text 63"/>
          <p:cNvSpPr txBox="1"/>
          <p:nvPr/>
        </p:nvSpPr>
        <p:spPr>
          <a:xfrm>
            <a:off x="435254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6" name="Text 64"/>
          <p:cNvSpPr txBox="1"/>
          <p:nvPr/>
        </p:nvSpPr>
        <p:spPr>
          <a:xfrm>
            <a:off x="513892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68" name="Shape 66"/>
          <p:cNvSpPr/>
          <p:nvPr/>
        </p:nvSpPr>
        <p:spPr>
          <a:xfrm>
            <a:off x="2670048" y="4490215"/>
            <a:ext cx="275254" cy="136676"/>
          </a:xfrm>
          <a:prstGeom prst="rect">
            <a:avLst/>
          </a:prstGeom>
          <a:solidFill>
            <a:srgbClr val="2587C5"/>
          </a:solidFill>
          <a:ln/>
        </p:spPr>
      </p:sp>
      <p:sp>
        <p:nvSpPr>
          <p:cNvPr id="69" name="Text 67"/>
          <p:cNvSpPr txBox="1"/>
          <p:nvPr/>
        </p:nvSpPr>
        <p:spPr>
          <a:xfrm>
            <a:off x="352958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70" name="Text 68"/>
          <p:cNvSpPr txBox="1"/>
          <p:nvPr/>
        </p:nvSpPr>
        <p:spPr>
          <a:xfrm>
            <a:off x="435254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1" name="Text 69"/>
          <p:cNvSpPr txBox="1"/>
          <p:nvPr/>
        </p:nvSpPr>
        <p:spPr>
          <a:xfrm>
            <a:off x="513892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73" name="Shape 71"/>
          <p:cNvSpPr/>
          <p:nvPr/>
        </p:nvSpPr>
        <p:spPr>
          <a:xfrm>
            <a:off x="2670048" y="4738717"/>
            <a:ext cx="249770" cy="136676"/>
          </a:xfrm>
          <a:prstGeom prst="rect">
            <a:avLst/>
          </a:prstGeom>
          <a:solidFill>
            <a:srgbClr val="2587C5"/>
          </a:solidFill>
          <a:ln/>
        </p:spPr>
      </p:sp>
      <p:sp>
        <p:nvSpPr>
          <p:cNvPr id="74" name="Text 72"/>
          <p:cNvSpPr txBox="1"/>
          <p:nvPr/>
        </p:nvSpPr>
        <p:spPr>
          <a:xfrm>
            <a:off x="352958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75" name="Text 73"/>
          <p:cNvSpPr txBox="1"/>
          <p:nvPr/>
        </p:nvSpPr>
        <p:spPr>
          <a:xfrm>
            <a:off x="435254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76" name="Text 74"/>
          <p:cNvSpPr txBox="1"/>
          <p:nvPr/>
        </p:nvSpPr>
        <p:spPr>
          <a:xfrm>
            <a:off x="513892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Shape 76"/>
          <p:cNvSpPr/>
          <p:nvPr/>
        </p:nvSpPr>
        <p:spPr>
          <a:xfrm>
            <a:off x="2670048" y="4987218"/>
            <a:ext cx="246222" cy="136676"/>
          </a:xfrm>
          <a:prstGeom prst="rect">
            <a:avLst/>
          </a:prstGeom>
          <a:solidFill>
            <a:srgbClr val="2587C5"/>
          </a:solidFill>
          <a:ln/>
        </p:spPr>
      </p:sp>
      <p:sp>
        <p:nvSpPr>
          <p:cNvPr id="79" name="Text 77"/>
          <p:cNvSpPr txBox="1"/>
          <p:nvPr/>
        </p:nvSpPr>
        <p:spPr>
          <a:xfrm>
            <a:off x="352958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80" name="Text 78"/>
          <p:cNvSpPr txBox="1"/>
          <p:nvPr/>
        </p:nvSpPr>
        <p:spPr>
          <a:xfrm>
            <a:off x="435254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81" name="Text 79"/>
          <p:cNvSpPr txBox="1"/>
          <p:nvPr/>
        </p:nvSpPr>
        <p:spPr>
          <a:xfrm>
            <a:off x="513892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2670048" y="5235720"/>
            <a:ext cx="245006" cy="136676"/>
          </a:xfrm>
          <a:prstGeom prst="rect">
            <a:avLst/>
          </a:prstGeom>
          <a:solidFill>
            <a:srgbClr val="2587C5"/>
          </a:solidFill>
          <a:ln/>
        </p:spPr>
      </p:sp>
      <p:sp>
        <p:nvSpPr>
          <p:cNvPr id="84" name="Text 82"/>
          <p:cNvSpPr txBox="1"/>
          <p:nvPr/>
        </p:nvSpPr>
        <p:spPr>
          <a:xfrm>
            <a:off x="352958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85" name="Text 83"/>
          <p:cNvSpPr txBox="1"/>
          <p:nvPr/>
        </p:nvSpPr>
        <p:spPr>
          <a:xfrm>
            <a:off x="435254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86" name="Text 84"/>
          <p:cNvSpPr txBox="1"/>
          <p:nvPr/>
        </p:nvSpPr>
        <p:spPr>
          <a:xfrm>
            <a:off x="513892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43965" cy="136676"/>
          </a:xfrm>
          <a:prstGeom prst="rect">
            <a:avLst/>
          </a:prstGeom>
          <a:solidFill>
            <a:srgbClr val="2587C5"/>
          </a:solidFill>
          <a:ln/>
        </p:spPr>
      </p:sp>
      <p:sp>
        <p:nvSpPr>
          <p:cNvPr id="89" name="Text 87"/>
          <p:cNvSpPr txBox="1"/>
          <p:nvPr/>
        </p:nvSpPr>
        <p:spPr>
          <a:xfrm>
            <a:off x="352958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90" name="Text 88"/>
          <p:cNvSpPr txBox="1"/>
          <p:nvPr/>
        </p:nvSpPr>
        <p:spPr>
          <a:xfrm>
            <a:off x="435254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91" name="Text 89"/>
          <p:cNvSpPr txBox="1"/>
          <p:nvPr/>
        </p:nvSpPr>
        <p:spPr>
          <a:xfrm>
            <a:off x="513892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3" name="Shape 91"/>
          <p:cNvSpPr/>
          <p:nvPr/>
        </p:nvSpPr>
        <p:spPr>
          <a:xfrm>
            <a:off x="2670048" y="5732723"/>
            <a:ext cx="232714" cy="136676"/>
          </a:xfrm>
          <a:prstGeom prst="rect">
            <a:avLst/>
          </a:prstGeom>
          <a:solidFill>
            <a:srgbClr val="2587C5"/>
          </a:solidFill>
          <a:ln/>
        </p:spPr>
      </p:sp>
      <p:sp>
        <p:nvSpPr>
          <p:cNvPr id="94" name="Text 92"/>
          <p:cNvSpPr txBox="1"/>
          <p:nvPr/>
        </p:nvSpPr>
        <p:spPr>
          <a:xfrm>
            <a:off x="352958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435254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96" name="Text 94"/>
          <p:cNvSpPr txBox="1"/>
          <p:nvPr/>
        </p:nvSpPr>
        <p:spPr>
          <a:xfrm>
            <a:off x="513892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8" name="Shape 96"/>
          <p:cNvSpPr/>
          <p:nvPr/>
        </p:nvSpPr>
        <p:spPr>
          <a:xfrm>
            <a:off x="8220456" y="1756697"/>
            <a:ext cx="232057" cy="136676"/>
          </a:xfrm>
          <a:prstGeom prst="rect">
            <a:avLst/>
          </a:prstGeom>
          <a:solidFill>
            <a:srgbClr val="2587C5"/>
          </a:solidFill>
          <a:ln/>
        </p:spPr>
      </p:sp>
      <p:sp>
        <p:nvSpPr>
          <p:cNvPr id="99" name="Text 97"/>
          <p:cNvSpPr txBox="1"/>
          <p:nvPr/>
        </p:nvSpPr>
        <p:spPr>
          <a:xfrm>
            <a:off x="907999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00" name="Text 98"/>
          <p:cNvSpPr txBox="1"/>
          <p:nvPr/>
        </p:nvSpPr>
        <p:spPr>
          <a:xfrm>
            <a:off x="990295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01" name="Text 99"/>
          <p:cNvSpPr txBox="1"/>
          <p:nvPr/>
        </p:nvSpPr>
        <p:spPr>
          <a:xfrm>
            <a:off x="1068933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3" name="Shape 101"/>
          <p:cNvSpPr/>
          <p:nvPr/>
        </p:nvSpPr>
        <p:spPr>
          <a:xfrm>
            <a:off x="8220456" y="2005199"/>
            <a:ext cx="227868" cy="136676"/>
          </a:xfrm>
          <a:prstGeom prst="rect">
            <a:avLst/>
          </a:prstGeom>
          <a:solidFill>
            <a:srgbClr val="2587C5"/>
          </a:solidFill>
          <a:ln/>
        </p:spPr>
      </p:sp>
      <p:sp>
        <p:nvSpPr>
          <p:cNvPr id="104" name="Text 102"/>
          <p:cNvSpPr txBox="1"/>
          <p:nvPr/>
        </p:nvSpPr>
        <p:spPr>
          <a:xfrm>
            <a:off x="907999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05" name="Text 103"/>
          <p:cNvSpPr txBox="1"/>
          <p:nvPr/>
        </p:nvSpPr>
        <p:spPr>
          <a:xfrm>
            <a:off x="990295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06" name="Text 104"/>
          <p:cNvSpPr txBox="1"/>
          <p:nvPr/>
        </p:nvSpPr>
        <p:spPr>
          <a:xfrm>
            <a:off x="1068933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8" name="Shape 106"/>
          <p:cNvSpPr/>
          <p:nvPr/>
        </p:nvSpPr>
        <p:spPr>
          <a:xfrm>
            <a:off x="8220456" y="2253700"/>
            <a:ext cx="216710" cy="136676"/>
          </a:xfrm>
          <a:prstGeom prst="rect">
            <a:avLst/>
          </a:prstGeom>
          <a:solidFill>
            <a:srgbClr val="2587C5"/>
          </a:solidFill>
          <a:ln/>
        </p:spPr>
      </p:sp>
      <p:sp>
        <p:nvSpPr>
          <p:cNvPr id="109" name="Text 107"/>
          <p:cNvSpPr txBox="1"/>
          <p:nvPr/>
        </p:nvSpPr>
        <p:spPr>
          <a:xfrm>
            <a:off x="907999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10" name="Text 108"/>
          <p:cNvSpPr txBox="1"/>
          <p:nvPr/>
        </p:nvSpPr>
        <p:spPr>
          <a:xfrm>
            <a:off x="990295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1" name="Text 109"/>
          <p:cNvSpPr txBox="1"/>
          <p:nvPr/>
        </p:nvSpPr>
        <p:spPr>
          <a:xfrm>
            <a:off x="1068933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2502202"/>
            <a:ext cx="213355" cy="136676"/>
          </a:xfrm>
          <a:prstGeom prst="rect">
            <a:avLst/>
          </a:prstGeom>
          <a:solidFill>
            <a:srgbClr val="2587C5"/>
          </a:solidFill>
          <a:ln/>
        </p:spPr>
      </p:sp>
      <p:sp>
        <p:nvSpPr>
          <p:cNvPr id="114" name="Text 112"/>
          <p:cNvSpPr txBox="1"/>
          <p:nvPr/>
        </p:nvSpPr>
        <p:spPr>
          <a:xfrm>
            <a:off x="907999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15" name="Text 113"/>
          <p:cNvSpPr txBox="1"/>
          <p:nvPr/>
        </p:nvSpPr>
        <p:spPr>
          <a:xfrm>
            <a:off x="990295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16" name="Text 114"/>
          <p:cNvSpPr txBox="1"/>
          <p:nvPr/>
        </p:nvSpPr>
        <p:spPr>
          <a:xfrm>
            <a:off x="1068933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8" name="Shape 116"/>
          <p:cNvSpPr/>
          <p:nvPr/>
        </p:nvSpPr>
        <p:spPr>
          <a:xfrm>
            <a:off x="8220456" y="2750703"/>
            <a:ext cx="211393" cy="136676"/>
          </a:xfrm>
          <a:prstGeom prst="rect">
            <a:avLst/>
          </a:prstGeom>
          <a:solidFill>
            <a:srgbClr val="2587C5"/>
          </a:solidFill>
          <a:ln/>
        </p:spPr>
      </p:sp>
      <p:sp>
        <p:nvSpPr>
          <p:cNvPr id="119" name="Text 117"/>
          <p:cNvSpPr txBox="1"/>
          <p:nvPr/>
        </p:nvSpPr>
        <p:spPr>
          <a:xfrm>
            <a:off x="907999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20" name="Text 118"/>
          <p:cNvSpPr txBox="1"/>
          <p:nvPr/>
        </p:nvSpPr>
        <p:spPr>
          <a:xfrm>
            <a:off x="990295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21" name="Text 119"/>
          <p:cNvSpPr txBox="1"/>
          <p:nvPr/>
        </p:nvSpPr>
        <p:spPr>
          <a:xfrm>
            <a:off x="1068933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3" name="Shape 121"/>
          <p:cNvSpPr/>
          <p:nvPr/>
        </p:nvSpPr>
        <p:spPr>
          <a:xfrm>
            <a:off x="8220456" y="2999205"/>
            <a:ext cx="201201" cy="136676"/>
          </a:xfrm>
          <a:prstGeom prst="rect">
            <a:avLst/>
          </a:prstGeom>
          <a:solidFill>
            <a:srgbClr val="2587C5"/>
          </a:solidFill>
          <a:ln/>
        </p:spPr>
      </p:sp>
      <p:sp>
        <p:nvSpPr>
          <p:cNvPr id="124" name="Text 122"/>
          <p:cNvSpPr txBox="1"/>
          <p:nvPr/>
        </p:nvSpPr>
        <p:spPr>
          <a:xfrm>
            <a:off x="907999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25" name="Text 123"/>
          <p:cNvSpPr txBox="1"/>
          <p:nvPr/>
        </p:nvSpPr>
        <p:spPr>
          <a:xfrm>
            <a:off x="990295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26" name="Text 124"/>
          <p:cNvSpPr txBox="1"/>
          <p:nvPr/>
        </p:nvSpPr>
        <p:spPr>
          <a:xfrm>
            <a:off x="1068933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95251" cy="136676"/>
          </a:xfrm>
          <a:prstGeom prst="rect">
            <a:avLst/>
          </a:prstGeom>
          <a:solidFill>
            <a:srgbClr val="2587C5"/>
          </a:solidFill>
          <a:ln/>
        </p:spPr>
      </p:sp>
      <p:sp>
        <p:nvSpPr>
          <p:cNvPr id="129" name="Text 127"/>
          <p:cNvSpPr txBox="1"/>
          <p:nvPr/>
        </p:nvSpPr>
        <p:spPr>
          <a:xfrm>
            <a:off x="907999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30" name="Text 128"/>
          <p:cNvSpPr txBox="1"/>
          <p:nvPr/>
        </p:nvSpPr>
        <p:spPr>
          <a:xfrm>
            <a:off x="990295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31" name="Text 129"/>
          <p:cNvSpPr txBox="1"/>
          <p:nvPr/>
        </p:nvSpPr>
        <p:spPr>
          <a:xfrm>
            <a:off x="1068933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93063" cy="136676"/>
          </a:xfrm>
          <a:prstGeom prst="rect">
            <a:avLst/>
          </a:prstGeom>
          <a:solidFill>
            <a:srgbClr val="2587C5"/>
          </a:solidFill>
          <a:ln/>
        </p:spPr>
      </p:sp>
      <p:sp>
        <p:nvSpPr>
          <p:cNvPr id="134" name="Text 132"/>
          <p:cNvSpPr txBox="1"/>
          <p:nvPr/>
        </p:nvSpPr>
        <p:spPr>
          <a:xfrm>
            <a:off x="907999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35" name="Text 133"/>
          <p:cNvSpPr txBox="1"/>
          <p:nvPr/>
        </p:nvSpPr>
        <p:spPr>
          <a:xfrm>
            <a:off x="990295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36" name="Text 134"/>
          <p:cNvSpPr txBox="1"/>
          <p:nvPr/>
        </p:nvSpPr>
        <p:spPr>
          <a:xfrm>
            <a:off x="1068933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8" name="Shape 136"/>
          <p:cNvSpPr/>
          <p:nvPr/>
        </p:nvSpPr>
        <p:spPr>
          <a:xfrm>
            <a:off x="8220456" y="3744710"/>
            <a:ext cx="184766" cy="136676"/>
          </a:xfrm>
          <a:prstGeom prst="rect">
            <a:avLst/>
          </a:prstGeom>
          <a:solidFill>
            <a:srgbClr val="2587C5"/>
          </a:solidFill>
          <a:ln/>
        </p:spPr>
      </p:sp>
      <p:sp>
        <p:nvSpPr>
          <p:cNvPr id="139" name="Text 137"/>
          <p:cNvSpPr txBox="1"/>
          <p:nvPr/>
        </p:nvSpPr>
        <p:spPr>
          <a:xfrm>
            <a:off x="907999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40" name="Text 138"/>
          <p:cNvSpPr txBox="1"/>
          <p:nvPr/>
        </p:nvSpPr>
        <p:spPr>
          <a:xfrm>
            <a:off x="990295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41" name="Text 139"/>
          <p:cNvSpPr txBox="1"/>
          <p:nvPr/>
        </p:nvSpPr>
        <p:spPr>
          <a:xfrm>
            <a:off x="1068933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166831" cy="136676"/>
          </a:xfrm>
          <a:prstGeom prst="rect">
            <a:avLst/>
          </a:prstGeom>
          <a:solidFill>
            <a:srgbClr val="2587C5"/>
          </a:solidFill>
          <a:ln/>
        </p:spPr>
      </p:sp>
      <p:sp>
        <p:nvSpPr>
          <p:cNvPr id="144" name="Text 142"/>
          <p:cNvSpPr txBox="1"/>
          <p:nvPr/>
        </p:nvSpPr>
        <p:spPr>
          <a:xfrm>
            <a:off x="907999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45" name="Text 143"/>
          <p:cNvSpPr txBox="1"/>
          <p:nvPr/>
        </p:nvSpPr>
        <p:spPr>
          <a:xfrm>
            <a:off x="990295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46" name="Text 144"/>
          <p:cNvSpPr txBox="1"/>
          <p:nvPr/>
        </p:nvSpPr>
        <p:spPr>
          <a:xfrm>
            <a:off x="1068933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8" name="Shape 146"/>
          <p:cNvSpPr/>
          <p:nvPr/>
        </p:nvSpPr>
        <p:spPr>
          <a:xfrm>
            <a:off x="8220456" y="4241713"/>
            <a:ext cx="163399" cy="136676"/>
          </a:xfrm>
          <a:prstGeom prst="rect">
            <a:avLst/>
          </a:prstGeom>
          <a:solidFill>
            <a:srgbClr val="2587C5"/>
          </a:solidFill>
          <a:ln/>
        </p:spPr>
      </p:sp>
      <p:sp>
        <p:nvSpPr>
          <p:cNvPr id="149" name="Text 147"/>
          <p:cNvSpPr txBox="1"/>
          <p:nvPr/>
        </p:nvSpPr>
        <p:spPr>
          <a:xfrm>
            <a:off x="907999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0" name="Text 148"/>
          <p:cNvSpPr txBox="1"/>
          <p:nvPr/>
        </p:nvSpPr>
        <p:spPr>
          <a:xfrm>
            <a:off x="990295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51" name="Text 149"/>
          <p:cNvSpPr txBox="1"/>
          <p:nvPr/>
        </p:nvSpPr>
        <p:spPr>
          <a:xfrm>
            <a:off x="1068933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4490215"/>
            <a:ext cx="163357" cy="136676"/>
          </a:xfrm>
          <a:prstGeom prst="rect">
            <a:avLst/>
          </a:prstGeom>
          <a:solidFill>
            <a:srgbClr val="2587C5"/>
          </a:solidFill>
          <a:ln/>
        </p:spPr>
      </p:sp>
      <p:sp>
        <p:nvSpPr>
          <p:cNvPr id="154" name="Text 152"/>
          <p:cNvSpPr txBox="1"/>
          <p:nvPr/>
        </p:nvSpPr>
        <p:spPr>
          <a:xfrm>
            <a:off x="907999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5" name="Text 153"/>
          <p:cNvSpPr txBox="1"/>
          <p:nvPr/>
        </p:nvSpPr>
        <p:spPr>
          <a:xfrm>
            <a:off x="990295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56" name="Text 154"/>
          <p:cNvSpPr txBox="1"/>
          <p:nvPr/>
        </p:nvSpPr>
        <p:spPr>
          <a:xfrm>
            <a:off x="1068933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8" name="Shape 156"/>
          <p:cNvSpPr/>
          <p:nvPr/>
        </p:nvSpPr>
        <p:spPr>
          <a:xfrm>
            <a:off x="8220456" y="4738717"/>
            <a:ext cx="163282" cy="136676"/>
          </a:xfrm>
          <a:prstGeom prst="rect">
            <a:avLst/>
          </a:prstGeom>
          <a:solidFill>
            <a:srgbClr val="2587C5"/>
          </a:solidFill>
          <a:ln/>
        </p:spPr>
      </p:sp>
      <p:sp>
        <p:nvSpPr>
          <p:cNvPr id="159" name="Text 157"/>
          <p:cNvSpPr txBox="1"/>
          <p:nvPr/>
        </p:nvSpPr>
        <p:spPr>
          <a:xfrm>
            <a:off x="907999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60" name="Text 158"/>
          <p:cNvSpPr txBox="1"/>
          <p:nvPr/>
        </p:nvSpPr>
        <p:spPr>
          <a:xfrm>
            <a:off x="990295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1" name="Text 159"/>
          <p:cNvSpPr txBox="1"/>
          <p:nvPr/>
        </p:nvSpPr>
        <p:spPr>
          <a:xfrm>
            <a:off x="1068933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3" name="Shape 161"/>
          <p:cNvSpPr/>
          <p:nvPr/>
        </p:nvSpPr>
        <p:spPr>
          <a:xfrm>
            <a:off x="8220456" y="4987218"/>
            <a:ext cx="151770" cy="136676"/>
          </a:xfrm>
          <a:prstGeom prst="rect">
            <a:avLst/>
          </a:prstGeom>
          <a:solidFill>
            <a:srgbClr val="2587C5"/>
          </a:solidFill>
          <a:ln/>
        </p:spPr>
      </p:sp>
      <p:sp>
        <p:nvSpPr>
          <p:cNvPr id="164" name="Text 162"/>
          <p:cNvSpPr txBox="1"/>
          <p:nvPr/>
        </p:nvSpPr>
        <p:spPr>
          <a:xfrm>
            <a:off x="907999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65" name="Text 163"/>
          <p:cNvSpPr txBox="1"/>
          <p:nvPr/>
        </p:nvSpPr>
        <p:spPr>
          <a:xfrm>
            <a:off x="990295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66" name="Text 164"/>
          <p:cNvSpPr txBox="1"/>
          <p:nvPr/>
        </p:nvSpPr>
        <p:spPr>
          <a:xfrm>
            <a:off x="1068933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8" name="Shape 166"/>
          <p:cNvSpPr/>
          <p:nvPr/>
        </p:nvSpPr>
        <p:spPr>
          <a:xfrm>
            <a:off x="8220456" y="5235720"/>
            <a:ext cx="149543" cy="136676"/>
          </a:xfrm>
          <a:prstGeom prst="rect">
            <a:avLst/>
          </a:prstGeom>
          <a:solidFill>
            <a:srgbClr val="2587C5"/>
          </a:solidFill>
          <a:ln/>
        </p:spPr>
      </p:sp>
      <p:sp>
        <p:nvSpPr>
          <p:cNvPr id="169" name="Text 167"/>
          <p:cNvSpPr txBox="1"/>
          <p:nvPr/>
        </p:nvSpPr>
        <p:spPr>
          <a:xfrm>
            <a:off x="907999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170" name="Text 168"/>
          <p:cNvSpPr txBox="1"/>
          <p:nvPr/>
        </p:nvSpPr>
        <p:spPr>
          <a:xfrm>
            <a:off x="990295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71" name="Text 169"/>
          <p:cNvSpPr txBox="1"/>
          <p:nvPr/>
        </p:nvSpPr>
        <p:spPr>
          <a:xfrm>
            <a:off x="1068933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73" name="Shape 171"/>
          <p:cNvSpPr/>
          <p:nvPr/>
        </p:nvSpPr>
        <p:spPr>
          <a:xfrm>
            <a:off x="8220456" y="5484222"/>
            <a:ext cx="147241" cy="136676"/>
          </a:xfrm>
          <a:prstGeom prst="rect">
            <a:avLst/>
          </a:prstGeom>
          <a:solidFill>
            <a:srgbClr val="2587C5"/>
          </a:solidFill>
          <a:ln/>
        </p:spPr>
      </p:sp>
      <p:sp>
        <p:nvSpPr>
          <p:cNvPr id="174" name="Text 172"/>
          <p:cNvSpPr txBox="1"/>
          <p:nvPr/>
        </p:nvSpPr>
        <p:spPr>
          <a:xfrm>
            <a:off x="907999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75" name="Text 173"/>
          <p:cNvSpPr txBox="1"/>
          <p:nvPr/>
        </p:nvSpPr>
        <p:spPr>
          <a:xfrm>
            <a:off x="990295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76" name="Text 174"/>
          <p:cNvSpPr txBox="1"/>
          <p:nvPr/>
        </p:nvSpPr>
        <p:spPr>
          <a:xfrm>
            <a:off x="1068933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per RO  </a:t>
            </a:r>
            <a:pPr algn="ctr" indent="0" marL="0">
              <a:buNone/>
            </a:pPr>
            <a:r>
              <a:rPr lang="en-US" sz="1400" b="1" dirty="0">
                <a:solidFill>
                  <a:srgbClr val="0B2C4A"/>
                </a:solidFill>
                <a:latin typeface="Inter" pitchFamily="34" charset="0"/>
                <a:ea typeface="Inter" pitchFamily="34" charset="-122"/>
                <a:cs typeface="Inter" pitchFamily="34" charset="-120"/>
              </a:rPr>
              <a:t>= $4,543,691 of labor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a $162.42 ELR on  </a:t>
            </a:r>
            <a:pPr algn="ctr" indent="0" marL="0">
              <a:buNone/>
            </a:pPr>
            <a:r>
              <a:rPr lang="en-US" sz="1400" b="1" dirty="0">
                <a:solidFill>
                  <a:srgbClr val="0B2C4A"/>
                </a:solidFill>
                <a:latin typeface="Inter" pitchFamily="34" charset="0"/>
                <a:ea typeface="Inter" pitchFamily="34" charset="-122"/>
                <a:cs typeface="Inter" pitchFamily="34" charset="-120"/>
              </a:rPr>
              <a:t>279,756 ROs</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2.90, non-luxury 1.75.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22688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90163" cy="110266"/>
          </a:xfrm>
          <a:prstGeom prst="rect">
            <a:avLst/>
          </a:prstGeom>
          <a:solidFill>
            <a:srgbClr val="12A566"/>
          </a:solidFill>
          <a:ln/>
        </p:spPr>
      </p:sp>
      <p:sp>
        <p:nvSpPr>
          <p:cNvPr id="22" name="Shape 20"/>
          <p:cNvSpPr/>
          <p:nvPr/>
        </p:nvSpPr>
        <p:spPr>
          <a:xfrm>
            <a:off x="422688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476808" cy="110266"/>
          </a:xfrm>
          <a:prstGeom prst="rect">
            <a:avLst/>
          </a:prstGeom>
          <a:solidFill>
            <a:srgbClr val="12A566"/>
          </a:solidFill>
          <a:ln/>
        </p:spPr>
      </p:sp>
      <p:sp>
        <p:nvSpPr>
          <p:cNvPr id="28" name="Shape 26"/>
          <p:cNvSpPr/>
          <p:nvPr/>
        </p:nvSpPr>
        <p:spPr>
          <a:xfrm>
            <a:off x="422688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76344" cy="110266"/>
          </a:xfrm>
          <a:prstGeom prst="rect">
            <a:avLst/>
          </a:prstGeom>
          <a:solidFill>
            <a:srgbClr val="12A566"/>
          </a:solidFill>
          <a:ln/>
        </p:spPr>
      </p:sp>
      <p:sp>
        <p:nvSpPr>
          <p:cNvPr id="34" name="Shape 32"/>
          <p:cNvSpPr/>
          <p:nvPr/>
        </p:nvSpPr>
        <p:spPr>
          <a:xfrm>
            <a:off x="422688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113532"/>
            <a:ext cx="1157406" cy="110266"/>
          </a:xfrm>
          <a:prstGeom prst="rect">
            <a:avLst/>
          </a:prstGeom>
          <a:solidFill>
            <a:srgbClr val="C2352F"/>
          </a:solidFill>
          <a:ln/>
        </p:spPr>
      </p:sp>
      <p:sp>
        <p:nvSpPr>
          <p:cNvPr id="40" name="Shape 38"/>
          <p:cNvSpPr/>
          <p:nvPr/>
        </p:nvSpPr>
        <p:spPr>
          <a:xfrm>
            <a:off x="422688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3008376" y="3334064"/>
            <a:ext cx="1156140" cy="110266"/>
          </a:xfrm>
          <a:prstGeom prst="rect">
            <a:avLst/>
          </a:prstGeom>
          <a:solidFill>
            <a:srgbClr val="C2352F"/>
          </a:solidFill>
          <a:ln/>
        </p:spPr>
      </p:sp>
      <p:sp>
        <p:nvSpPr>
          <p:cNvPr id="46" name="Shape 44"/>
          <p:cNvSpPr/>
          <p:nvPr/>
        </p:nvSpPr>
        <p:spPr>
          <a:xfrm>
            <a:off x="422688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0" name="Shape 48"/>
          <p:cNvSpPr/>
          <p:nvPr/>
        </p:nvSpPr>
        <p:spPr>
          <a:xfrm>
            <a:off x="3008376" y="3554596"/>
            <a:ext cx="1055814" cy="110266"/>
          </a:xfrm>
          <a:prstGeom prst="rect">
            <a:avLst/>
          </a:prstGeom>
          <a:solidFill>
            <a:srgbClr val="12A566"/>
          </a:solidFill>
          <a:ln/>
        </p:spPr>
      </p:sp>
      <p:sp>
        <p:nvSpPr>
          <p:cNvPr id="51" name="Shape 49"/>
          <p:cNvSpPr/>
          <p:nvPr/>
        </p:nvSpPr>
        <p:spPr>
          <a:xfrm>
            <a:off x="3737371"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775127"/>
            <a:ext cx="1053114" cy="110266"/>
          </a:xfrm>
          <a:prstGeom prst="rect">
            <a:avLst/>
          </a:prstGeom>
          <a:solidFill>
            <a:srgbClr val="C2352F"/>
          </a:solidFill>
          <a:ln/>
        </p:spPr>
      </p:sp>
      <p:sp>
        <p:nvSpPr>
          <p:cNvPr id="57" name="Shape 55"/>
          <p:cNvSpPr/>
          <p:nvPr/>
        </p:nvSpPr>
        <p:spPr>
          <a:xfrm>
            <a:off x="4226889"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008376" y="3995659"/>
            <a:ext cx="974646" cy="110266"/>
          </a:xfrm>
          <a:prstGeom prst="rect">
            <a:avLst/>
          </a:prstGeom>
          <a:solidFill>
            <a:srgbClr val="12A566"/>
          </a:solidFill>
          <a:ln/>
        </p:spPr>
      </p:sp>
      <p:sp>
        <p:nvSpPr>
          <p:cNvPr id="62" name="Shape 60"/>
          <p:cNvSpPr/>
          <p:nvPr/>
        </p:nvSpPr>
        <p:spPr>
          <a:xfrm>
            <a:off x="3737371"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5" name="Text 63"/>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4216191"/>
            <a:ext cx="974494" cy="110266"/>
          </a:xfrm>
          <a:prstGeom prst="rect">
            <a:avLst/>
          </a:prstGeom>
          <a:solidFill>
            <a:srgbClr val="12A566"/>
          </a:solidFill>
          <a:ln/>
        </p:spPr>
      </p:sp>
      <p:sp>
        <p:nvSpPr>
          <p:cNvPr id="67" name="Shape 65"/>
          <p:cNvSpPr/>
          <p:nvPr/>
        </p:nvSpPr>
        <p:spPr>
          <a:xfrm>
            <a:off x="3737371" y="4183111"/>
            <a:ext cx="21946" cy="176425"/>
          </a:xfrm>
          <a:prstGeom prst="rect">
            <a:avLst/>
          </a:prstGeom>
          <a:solidFill>
            <a:srgbClr val="0B2C4A"/>
          </a:solidFill>
          <a:ln/>
        </p:spPr>
      </p:sp>
      <p:sp>
        <p:nvSpPr>
          <p:cNvPr id="68" name="Text 66"/>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9" name="Shape 67"/>
          <p:cNvSpPr/>
          <p:nvPr/>
        </p:nvSpPr>
        <p:spPr>
          <a:xfrm>
            <a:off x="603504" y="4381590"/>
            <a:ext cx="5358384" cy="220532"/>
          </a:xfrm>
          <a:prstGeom prst="rect">
            <a:avLst/>
          </a:prstGeom>
          <a:solidFill>
            <a:srgbClr val="EDF4FA"/>
          </a:solidFill>
          <a:ln/>
        </p:spPr>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72" name="Shape 70"/>
          <p:cNvSpPr/>
          <p:nvPr/>
        </p:nvSpPr>
        <p:spPr>
          <a:xfrm>
            <a:off x="3008376" y="4436723"/>
            <a:ext cx="965563" cy="110266"/>
          </a:xfrm>
          <a:prstGeom prst="rect">
            <a:avLst/>
          </a:prstGeom>
          <a:solidFill>
            <a:srgbClr val="C2352F"/>
          </a:solidFill>
          <a:ln/>
        </p:spPr>
      </p:sp>
      <p:sp>
        <p:nvSpPr>
          <p:cNvPr id="73" name="Shape 71"/>
          <p:cNvSpPr/>
          <p:nvPr/>
        </p:nvSpPr>
        <p:spPr>
          <a:xfrm>
            <a:off x="4226889"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008376" y="4657254"/>
            <a:ext cx="933094" cy="110266"/>
          </a:xfrm>
          <a:prstGeom prst="rect">
            <a:avLst/>
          </a:prstGeom>
          <a:solidFill>
            <a:srgbClr val="12A566"/>
          </a:solidFill>
          <a:ln/>
        </p:spPr>
      </p:sp>
      <p:sp>
        <p:nvSpPr>
          <p:cNvPr id="78" name="Shape 76"/>
          <p:cNvSpPr/>
          <p:nvPr/>
        </p:nvSpPr>
        <p:spPr>
          <a:xfrm>
            <a:off x="3737371"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2" name="Shape 80"/>
          <p:cNvSpPr/>
          <p:nvPr/>
        </p:nvSpPr>
        <p:spPr>
          <a:xfrm>
            <a:off x="3008376" y="4877786"/>
            <a:ext cx="894556" cy="110266"/>
          </a:xfrm>
          <a:prstGeom prst="rect">
            <a:avLst/>
          </a:prstGeom>
          <a:solidFill>
            <a:srgbClr val="12A566"/>
          </a:solidFill>
          <a:ln/>
        </p:spPr>
      </p:sp>
      <p:sp>
        <p:nvSpPr>
          <p:cNvPr id="83" name="Shape 81"/>
          <p:cNvSpPr/>
          <p:nvPr/>
        </p:nvSpPr>
        <p:spPr>
          <a:xfrm>
            <a:off x="3737371"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85" name="Shape 83"/>
          <p:cNvSpPr/>
          <p:nvPr/>
        </p:nvSpPr>
        <p:spPr>
          <a:xfrm>
            <a:off x="603504" y="5043185"/>
            <a:ext cx="5358384" cy="220532"/>
          </a:xfrm>
          <a:prstGeom prst="rect">
            <a:avLst/>
          </a:prstGeom>
          <a:solidFill>
            <a:srgbClr val="EDF4FA"/>
          </a:solidFill>
          <a:ln/>
        </p:spPr>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88" name="Shape 86"/>
          <p:cNvSpPr/>
          <p:nvPr/>
        </p:nvSpPr>
        <p:spPr>
          <a:xfrm>
            <a:off x="3008376" y="5098318"/>
            <a:ext cx="883040" cy="110266"/>
          </a:xfrm>
          <a:prstGeom prst="rect">
            <a:avLst/>
          </a:prstGeom>
          <a:solidFill>
            <a:srgbClr val="C2352F"/>
          </a:solidFill>
          <a:ln/>
        </p:spPr>
      </p:sp>
      <p:sp>
        <p:nvSpPr>
          <p:cNvPr id="89" name="Shape 87"/>
          <p:cNvSpPr/>
          <p:nvPr/>
        </p:nvSpPr>
        <p:spPr>
          <a:xfrm>
            <a:off x="4226889"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318850"/>
            <a:ext cx="856355" cy="110266"/>
          </a:xfrm>
          <a:prstGeom prst="rect">
            <a:avLst/>
          </a:prstGeom>
          <a:solidFill>
            <a:srgbClr val="12A566"/>
          </a:solidFill>
          <a:ln/>
        </p:spPr>
      </p:sp>
      <p:sp>
        <p:nvSpPr>
          <p:cNvPr id="94" name="Shape 92"/>
          <p:cNvSpPr/>
          <p:nvPr/>
        </p:nvSpPr>
        <p:spPr>
          <a:xfrm>
            <a:off x="3737371"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3008376" y="5539381"/>
            <a:ext cx="850890" cy="110266"/>
          </a:xfrm>
          <a:prstGeom prst="rect">
            <a:avLst/>
          </a:prstGeom>
          <a:solidFill>
            <a:srgbClr val="12A566"/>
          </a:solidFill>
          <a:ln/>
        </p:spPr>
      </p:sp>
      <p:sp>
        <p:nvSpPr>
          <p:cNvPr id="99" name="Shape 97"/>
          <p:cNvSpPr/>
          <p:nvPr/>
        </p:nvSpPr>
        <p:spPr>
          <a:xfrm>
            <a:off x="3737371"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3" name="Shape 101"/>
          <p:cNvSpPr/>
          <p:nvPr/>
        </p:nvSpPr>
        <p:spPr>
          <a:xfrm>
            <a:off x="3008376" y="5759913"/>
            <a:ext cx="834371" cy="110266"/>
          </a:xfrm>
          <a:prstGeom prst="rect">
            <a:avLst/>
          </a:prstGeom>
          <a:solidFill>
            <a:srgbClr val="12A566"/>
          </a:solidFill>
          <a:ln/>
        </p:spPr>
      </p:sp>
      <p:sp>
        <p:nvSpPr>
          <p:cNvPr id="104" name="Shape 102"/>
          <p:cNvSpPr/>
          <p:nvPr/>
        </p:nvSpPr>
        <p:spPr>
          <a:xfrm>
            <a:off x="3737371"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2231405"/>
            <a:ext cx="829605" cy="110266"/>
          </a:xfrm>
          <a:prstGeom prst="rect">
            <a:avLst/>
          </a:prstGeom>
          <a:solidFill>
            <a:srgbClr val="12A566"/>
          </a:solidFill>
          <a:ln/>
        </p:spPr>
      </p:sp>
      <p:sp>
        <p:nvSpPr>
          <p:cNvPr id="109" name="Shape 107"/>
          <p:cNvSpPr/>
          <p:nvPr/>
        </p:nvSpPr>
        <p:spPr>
          <a:xfrm>
            <a:off x="9287779"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8558784" y="2451937"/>
            <a:ext cx="825334" cy="110266"/>
          </a:xfrm>
          <a:prstGeom prst="rect">
            <a:avLst/>
          </a:prstGeom>
          <a:solidFill>
            <a:srgbClr val="12A566"/>
          </a:solidFill>
          <a:ln/>
        </p:spPr>
      </p:sp>
      <p:sp>
        <p:nvSpPr>
          <p:cNvPr id="114" name="Shape 112"/>
          <p:cNvSpPr/>
          <p:nvPr/>
        </p:nvSpPr>
        <p:spPr>
          <a:xfrm>
            <a:off x="9287779"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8" name="Shape 116"/>
          <p:cNvSpPr/>
          <p:nvPr/>
        </p:nvSpPr>
        <p:spPr>
          <a:xfrm>
            <a:off x="8558784" y="2672468"/>
            <a:ext cx="738574" cy="110266"/>
          </a:xfrm>
          <a:prstGeom prst="rect">
            <a:avLst/>
          </a:prstGeom>
          <a:solidFill>
            <a:srgbClr val="C2352F"/>
          </a:solidFill>
          <a:ln/>
        </p:spPr>
      </p:sp>
      <p:sp>
        <p:nvSpPr>
          <p:cNvPr id="119" name="Shape 117"/>
          <p:cNvSpPr/>
          <p:nvPr/>
        </p:nvSpPr>
        <p:spPr>
          <a:xfrm>
            <a:off x="9287779"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2893000"/>
            <a:ext cx="723713" cy="110266"/>
          </a:xfrm>
          <a:prstGeom prst="rect">
            <a:avLst/>
          </a:prstGeom>
          <a:solidFill>
            <a:srgbClr val="C2352F"/>
          </a:solidFill>
          <a:ln/>
        </p:spPr>
      </p:sp>
      <p:sp>
        <p:nvSpPr>
          <p:cNvPr id="124" name="Shape 122"/>
          <p:cNvSpPr/>
          <p:nvPr/>
        </p:nvSpPr>
        <p:spPr>
          <a:xfrm>
            <a:off x="9287779"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705872" cy="110266"/>
          </a:xfrm>
          <a:prstGeom prst="rect">
            <a:avLst/>
          </a:prstGeom>
          <a:solidFill>
            <a:srgbClr val="C2352F"/>
          </a:solidFill>
          <a:ln/>
        </p:spPr>
      </p:sp>
      <p:sp>
        <p:nvSpPr>
          <p:cNvPr id="129" name="Shape 127"/>
          <p:cNvSpPr/>
          <p:nvPr/>
        </p:nvSpPr>
        <p:spPr>
          <a:xfrm>
            <a:off x="9287779"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8558784" y="3334064"/>
            <a:ext cx="693242" cy="110266"/>
          </a:xfrm>
          <a:prstGeom prst="rect">
            <a:avLst/>
          </a:prstGeom>
          <a:solidFill>
            <a:srgbClr val="C2352F"/>
          </a:solidFill>
          <a:ln/>
        </p:spPr>
      </p:sp>
      <p:sp>
        <p:nvSpPr>
          <p:cNvPr id="134" name="Shape 132"/>
          <p:cNvSpPr/>
          <p:nvPr/>
        </p:nvSpPr>
        <p:spPr>
          <a:xfrm>
            <a:off x="9287779"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8" name="Shape 136"/>
          <p:cNvSpPr/>
          <p:nvPr/>
        </p:nvSpPr>
        <p:spPr>
          <a:xfrm>
            <a:off x="8558784" y="3554596"/>
            <a:ext cx="677090" cy="110266"/>
          </a:xfrm>
          <a:prstGeom prst="rect">
            <a:avLst/>
          </a:prstGeom>
          <a:solidFill>
            <a:srgbClr val="C2352F"/>
          </a:solidFill>
          <a:ln/>
        </p:spPr>
      </p:sp>
      <p:sp>
        <p:nvSpPr>
          <p:cNvPr id="139" name="Shape 137"/>
          <p:cNvSpPr/>
          <p:nvPr/>
        </p:nvSpPr>
        <p:spPr>
          <a:xfrm>
            <a:off x="9287779"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664910" cy="110266"/>
          </a:xfrm>
          <a:prstGeom prst="rect">
            <a:avLst/>
          </a:prstGeom>
          <a:solidFill>
            <a:srgbClr val="C2352F"/>
          </a:solidFill>
          <a:ln/>
        </p:spPr>
      </p:sp>
      <p:sp>
        <p:nvSpPr>
          <p:cNvPr id="144" name="Shape 142"/>
          <p:cNvSpPr/>
          <p:nvPr/>
        </p:nvSpPr>
        <p:spPr>
          <a:xfrm>
            <a:off x="9287779"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3995659"/>
            <a:ext cx="628140" cy="110266"/>
          </a:xfrm>
          <a:prstGeom prst="rect">
            <a:avLst/>
          </a:prstGeom>
          <a:solidFill>
            <a:srgbClr val="C2352F"/>
          </a:solidFill>
          <a:ln/>
        </p:spPr>
      </p:sp>
      <p:sp>
        <p:nvSpPr>
          <p:cNvPr id="149" name="Shape 147"/>
          <p:cNvSpPr/>
          <p:nvPr/>
        </p:nvSpPr>
        <p:spPr>
          <a:xfrm>
            <a:off x="9287779"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623824" cy="110266"/>
          </a:xfrm>
          <a:prstGeom prst="rect">
            <a:avLst/>
          </a:prstGeom>
          <a:solidFill>
            <a:srgbClr val="C2352F"/>
          </a:solidFill>
          <a:ln/>
        </p:spPr>
      </p:sp>
      <p:sp>
        <p:nvSpPr>
          <p:cNvPr id="154" name="Shape 152"/>
          <p:cNvSpPr/>
          <p:nvPr/>
        </p:nvSpPr>
        <p:spPr>
          <a:xfrm>
            <a:off x="9287779"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558784" y="4436723"/>
            <a:ext cx="617009" cy="110266"/>
          </a:xfrm>
          <a:prstGeom prst="rect">
            <a:avLst/>
          </a:prstGeom>
          <a:solidFill>
            <a:srgbClr val="C2352F"/>
          </a:solidFill>
          <a:ln/>
        </p:spPr>
      </p:sp>
      <p:sp>
        <p:nvSpPr>
          <p:cNvPr id="159" name="Shape 157"/>
          <p:cNvSpPr/>
          <p:nvPr/>
        </p:nvSpPr>
        <p:spPr>
          <a:xfrm>
            <a:off x="9287779"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3" name="Shape 161"/>
          <p:cNvSpPr/>
          <p:nvPr/>
        </p:nvSpPr>
        <p:spPr>
          <a:xfrm>
            <a:off x="8558784" y="4657254"/>
            <a:ext cx="605522" cy="110266"/>
          </a:xfrm>
          <a:prstGeom prst="rect">
            <a:avLst/>
          </a:prstGeom>
          <a:solidFill>
            <a:srgbClr val="C2352F"/>
          </a:solidFill>
          <a:ln/>
        </p:spPr>
      </p:sp>
      <p:sp>
        <p:nvSpPr>
          <p:cNvPr id="164" name="Shape 162"/>
          <p:cNvSpPr/>
          <p:nvPr/>
        </p:nvSpPr>
        <p:spPr>
          <a:xfrm>
            <a:off x="9287779"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8" name="Shape 166"/>
          <p:cNvSpPr/>
          <p:nvPr/>
        </p:nvSpPr>
        <p:spPr>
          <a:xfrm>
            <a:off x="8558784" y="4877786"/>
            <a:ext cx="601932" cy="110266"/>
          </a:xfrm>
          <a:prstGeom prst="rect">
            <a:avLst/>
          </a:prstGeom>
          <a:solidFill>
            <a:srgbClr val="C2352F"/>
          </a:solidFill>
          <a:ln/>
        </p:spPr>
      </p:sp>
      <p:sp>
        <p:nvSpPr>
          <p:cNvPr id="169" name="Shape 167"/>
          <p:cNvSpPr/>
          <p:nvPr/>
        </p:nvSpPr>
        <p:spPr>
          <a:xfrm>
            <a:off x="9287779"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595642" cy="110266"/>
          </a:xfrm>
          <a:prstGeom prst="rect">
            <a:avLst/>
          </a:prstGeom>
          <a:solidFill>
            <a:srgbClr val="C2352F"/>
          </a:solidFill>
          <a:ln/>
        </p:spPr>
      </p:sp>
      <p:sp>
        <p:nvSpPr>
          <p:cNvPr id="174" name="Shape 172"/>
          <p:cNvSpPr/>
          <p:nvPr/>
        </p:nvSpPr>
        <p:spPr>
          <a:xfrm>
            <a:off x="9287779"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8" name="Shape 176"/>
          <p:cNvSpPr/>
          <p:nvPr/>
        </p:nvSpPr>
        <p:spPr>
          <a:xfrm>
            <a:off x="8558784" y="5318850"/>
            <a:ext cx="586244" cy="110266"/>
          </a:xfrm>
          <a:prstGeom prst="rect">
            <a:avLst/>
          </a:prstGeom>
          <a:solidFill>
            <a:srgbClr val="C2352F"/>
          </a:solidFill>
          <a:ln/>
        </p:spPr>
      </p:sp>
      <p:sp>
        <p:nvSpPr>
          <p:cNvPr id="179" name="Shape 177"/>
          <p:cNvSpPr/>
          <p:nvPr/>
        </p:nvSpPr>
        <p:spPr>
          <a:xfrm>
            <a:off x="9287779"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546619" cy="110266"/>
          </a:xfrm>
          <a:prstGeom prst="rect">
            <a:avLst/>
          </a:prstGeom>
          <a:solidFill>
            <a:srgbClr val="C2352F"/>
          </a:solidFill>
          <a:ln/>
        </p:spPr>
      </p:sp>
      <p:sp>
        <p:nvSpPr>
          <p:cNvPr id="184" name="Shape 182"/>
          <p:cNvSpPr/>
          <p:nvPr/>
        </p:nvSpPr>
        <p:spPr>
          <a:xfrm>
            <a:off x="9287779"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1868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133088"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76909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683496"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493776" cy="136676"/>
          </a:xfrm>
          <a:prstGeom prst="rect">
            <a:avLst/>
          </a:prstGeom>
          <a:solidFill>
            <a:srgbClr val="2587C5"/>
          </a:solidFill>
          <a:ln/>
        </p:spPr>
      </p:sp>
      <p:sp>
        <p:nvSpPr>
          <p:cNvPr id="14" name="Text 12"/>
          <p:cNvSpPr txBox="1"/>
          <p:nvPr/>
        </p:nvSpPr>
        <p:spPr>
          <a:xfrm>
            <a:off x="321868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5" name="Text 13"/>
          <p:cNvSpPr txBox="1"/>
          <p:nvPr/>
        </p:nvSpPr>
        <p:spPr>
          <a:xfrm>
            <a:off x="4133088"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$868K</a:t>
            </a:r>
            <a:endParaRPr lang="en-US" sz="1300" dirty="0"/>
          </a:p>
        </p:txBody>
      </p:sp>
      <p:sp>
        <p:nvSpPr>
          <p:cNvPr id="16" name="Text 14"/>
          <p:cNvSpPr txBox="1"/>
          <p:nvPr/>
        </p:nvSpPr>
        <p:spPr>
          <a:xfrm>
            <a:off x="5029200"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005199"/>
            <a:ext cx="217917" cy="136676"/>
          </a:xfrm>
          <a:prstGeom prst="rect">
            <a:avLst/>
          </a:prstGeom>
          <a:solidFill>
            <a:srgbClr val="2587C5"/>
          </a:solidFill>
          <a:ln/>
        </p:spPr>
      </p:sp>
      <p:sp>
        <p:nvSpPr>
          <p:cNvPr id="19" name="Text 17"/>
          <p:cNvSpPr txBox="1"/>
          <p:nvPr/>
        </p:nvSpPr>
        <p:spPr>
          <a:xfrm>
            <a:off x="321868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20" name="Text 18"/>
          <p:cNvSpPr txBox="1"/>
          <p:nvPr/>
        </p:nvSpPr>
        <p:spPr>
          <a:xfrm>
            <a:off x="4133088"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$396K</a:t>
            </a:r>
            <a:endParaRPr lang="en-US" sz="1300" dirty="0"/>
          </a:p>
        </p:txBody>
      </p:sp>
      <p:sp>
        <p:nvSpPr>
          <p:cNvPr id="21" name="Text 19"/>
          <p:cNvSpPr txBox="1"/>
          <p:nvPr/>
        </p:nvSpPr>
        <p:spPr>
          <a:xfrm>
            <a:off x="5029200"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3" name="Shape 21"/>
          <p:cNvSpPr/>
          <p:nvPr/>
        </p:nvSpPr>
        <p:spPr>
          <a:xfrm>
            <a:off x="2670048" y="2253700"/>
            <a:ext cx="173990" cy="136676"/>
          </a:xfrm>
          <a:prstGeom prst="rect">
            <a:avLst/>
          </a:prstGeom>
          <a:solidFill>
            <a:srgbClr val="2587C5"/>
          </a:solidFill>
          <a:ln/>
        </p:spPr>
      </p:sp>
      <p:sp>
        <p:nvSpPr>
          <p:cNvPr id="24" name="Text 22"/>
          <p:cNvSpPr txBox="1"/>
          <p:nvPr/>
        </p:nvSpPr>
        <p:spPr>
          <a:xfrm>
            <a:off x="321868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5" name="Text 23"/>
          <p:cNvSpPr txBox="1"/>
          <p:nvPr/>
        </p:nvSpPr>
        <p:spPr>
          <a:xfrm>
            <a:off x="4133088"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26" name="Text 24"/>
          <p:cNvSpPr txBox="1"/>
          <p:nvPr/>
        </p:nvSpPr>
        <p:spPr>
          <a:xfrm>
            <a:off x="5029200"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8" name="Shape 26"/>
          <p:cNvSpPr/>
          <p:nvPr/>
        </p:nvSpPr>
        <p:spPr>
          <a:xfrm>
            <a:off x="2670048" y="2502202"/>
            <a:ext cx="146509" cy="136676"/>
          </a:xfrm>
          <a:prstGeom prst="rect">
            <a:avLst/>
          </a:prstGeom>
          <a:solidFill>
            <a:srgbClr val="2587C5"/>
          </a:solidFill>
          <a:ln/>
        </p:spPr>
      </p:sp>
      <p:sp>
        <p:nvSpPr>
          <p:cNvPr id="29" name="Text 27"/>
          <p:cNvSpPr txBox="1"/>
          <p:nvPr/>
        </p:nvSpPr>
        <p:spPr>
          <a:xfrm>
            <a:off x="321868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30" name="Text 28"/>
          <p:cNvSpPr txBox="1"/>
          <p:nvPr/>
        </p:nvSpPr>
        <p:spPr>
          <a:xfrm>
            <a:off x="4133088"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$261K</a:t>
            </a:r>
            <a:endParaRPr lang="en-US" sz="1300" dirty="0"/>
          </a:p>
        </p:txBody>
      </p:sp>
      <p:sp>
        <p:nvSpPr>
          <p:cNvPr id="31" name="Text 29"/>
          <p:cNvSpPr txBox="1"/>
          <p:nvPr/>
        </p:nvSpPr>
        <p:spPr>
          <a:xfrm>
            <a:off x="5029200"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3" name="Shape 31"/>
          <p:cNvSpPr/>
          <p:nvPr/>
        </p:nvSpPr>
        <p:spPr>
          <a:xfrm>
            <a:off x="2670048" y="2750703"/>
            <a:ext cx="143883" cy="136676"/>
          </a:xfrm>
          <a:prstGeom prst="rect">
            <a:avLst/>
          </a:prstGeom>
          <a:solidFill>
            <a:srgbClr val="2587C5"/>
          </a:solidFill>
          <a:ln/>
        </p:spPr>
      </p:sp>
      <p:sp>
        <p:nvSpPr>
          <p:cNvPr id="34" name="Text 32"/>
          <p:cNvSpPr txBox="1"/>
          <p:nvPr/>
        </p:nvSpPr>
        <p:spPr>
          <a:xfrm>
            <a:off x="321868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35" name="Text 33"/>
          <p:cNvSpPr txBox="1"/>
          <p:nvPr/>
        </p:nvSpPr>
        <p:spPr>
          <a:xfrm>
            <a:off x="4133088"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36" name="Text 34"/>
          <p:cNvSpPr txBox="1"/>
          <p:nvPr/>
        </p:nvSpPr>
        <p:spPr>
          <a:xfrm>
            <a:off x="5029200"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8" name="Shape 36"/>
          <p:cNvSpPr/>
          <p:nvPr/>
        </p:nvSpPr>
        <p:spPr>
          <a:xfrm>
            <a:off x="2670048" y="2999205"/>
            <a:ext cx="142232" cy="136676"/>
          </a:xfrm>
          <a:prstGeom prst="rect">
            <a:avLst/>
          </a:prstGeom>
          <a:solidFill>
            <a:srgbClr val="2587C5"/>
          </a:solidFill>
          <a:ln/>
        </p:spPr>
      </p:sp>
      <p:sp>
        <p:nvSpPr>
          <p:cNvPr id="39" name="Text 37"/>
          <p:cNvSpPr txBox="1"/>
          <p:nvPr/>
        </p:nvSpPr>
        <p:spPr>
          <a:xfrm>
            <a:off x="321868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40" name="Text 38"/>
          <p:cNvSpPr txBox="1"/>
          <p:nvPr/>
        </p:nvSpPr>
        <p:spPr>
          <a:xfrm>
            <a:off x="4133088"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$244K</a:t>
            </a:r>
            <a:endParaRPr lang="en-US" sz="1300" dirty="0"/>
          </a:p>
        </p:txBody>
      </p:sp>
      <p:sp>
        <p:nvSpPr>
          <p:cNvPr id="41" name="Text 39"/>
          <p:cNvSpPr txBox="1"/>
          <p:nvPr/>
        </p:nvSpPr>
        <p:spPr>
          <a:xfrm>
            <a:off x="5029200"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130684" cy="136676"/>
          </a:xfrm>
          <a:prstGeom prst="rect">
            <a:avLst/>
          </a:prstGeom>
          <a:solidFill>
            <a:srgbClr val="2587C5"/>
          </a:solidFill>
          <a:ln/>
        </p:spPr>
      </p:sp>
      <p:sp>
        <p:nvSpPr>
          <p:cNvPr id="44" name="Text 42"/>
          <p:cNvSpPr txBox="1"/>
          <p:nvPr/>
        </p:nvSpPr>
        <p:spPr>
          <a:xfrm>
            <a:off x="321868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45" name="Text 43"/>
          <p:cNvSpPr txBox="1"/>
          <p:nvPr/>
        </p:nvSpPr>
        <p:spPr>
          <a:xfrm>
            <a:off x="4133088"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$225K</a:t>
            </a:r>
            <a:endParaRPr lang="en-US" sz="1300" dirty="0"/>
          </a:p>
        </p:txBody>
      </p:sp>
      <p:sp>
        <p:nvSpPr>
          <p:cNvPr id="46" name="Text 44"/>
          <p:cNvSpPr txBox="1"/>
          <p:nvPr/>
        </p:nvSpPr>
        <p:spPr>
          <a:xfrm>
            <a:off x="5029200"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3496208"/>
            <a:ext cx="130182" cy="136676"/>
          </a:xfrm>
          <a:prstGeom prst="rect">
            <a:avLst/>
          </a:prstGeom>
          <a:solidFill>
            <a:srgbClr val="2587C5"/>
          </a:solidFill>
          <a:ln/>
        </p:spPr>
      </p:sp>
      <p:sp>
        <p:nvSpPr>
          <p:cNvPr id="49" name="Text 47"/>
          <p:cNvSpPr txBox="1"/>
          <p:nvPr/>
        </p:nvSpPr>
        <p:spPr>
          <a:xfrm>
            <a:off x="321868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50" name="Text 48"/>
          <p:cNvSpPr txBox="1"/>
          <p:nvPr/>
        </p:nvSpPr>
        <p:spPr>
          <a:xfrm>
            <a:off x="4133088"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$228K</a:t>
            </a:r>
            <a:endParaRPr lang="en-US" sz="1300" dirty="0"/>
          </a:p>
        </p:txBody>
      </p:sp>
      <p:sp>
        <p:nvSpPr>
          <p:cNvPr id="51" name="Text 49"/>
          <p:cNvSpPr txBox="1"/>
          <p:nvPr/>
        </p:nvSpPr>
        <p:spPr>
          <a:xfrm>
            <a:off x="5029200"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3744710"/>
            <a:ext cx="83179" cy="136676"/>
          </a:xfrm>
          <a:prstGeom prst="rect">
            <a:avLst/>
          </a:prstGeom>
          <a:solidFill>
            <a:srgbClr val="2587C5"/>
          </a:solidFill>
          <a:ln/>
        </p:spPr>
      </p:sp>
      <p:sp>
        <p:nvSpPr>
          <p:cNvPr id="54" name="Text 52"/>
          <p:cNvSpPr txBox="1"/>
          <p:nvPr/>
        </p:nvSpPr>
        <p:spPr>
          <a:xfrm>
            <a:off x="321868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55" name="Text 53"/>
          <p:cNvSpPr txBox="1"/>
          <p:nvPr/>
        </p:nvSpPr>
        <p:spPr>
          <a:xfrm>
            <a:off x="4133088"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56" name="Text 54"/>
          <p:cNvSpPr txBox="1"/>
          <p:nvPr/>
        </p:nvSpPr>
        <p:spPr>
          <a:xfrm>
            <a:off x="5029200"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78607" cy="136676"/>
          </a:xfrm>
          <a:prstGeom prst="rect">
            <a:avLst/>
          </a:prstGeom>
          <a:solidFill>
            <a:srgbClr val="2587C5"/>
          </a:solidFill>
          <a:ln/>
        </p:spPr>
      </p:sp>
      <p:sp>
        <p:nvSpPr>
          <p:cNvPr id="59" name="Text 57"/>
          <p:cNvSpPr txBox="1"/>
          <p:nvPr/>
        </p:nvSpPr>
        <p:spPr>
          <a:xfrm>
            <a:off x="321868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60" name="Text 58"/>
          <p:cNvSpPr txBox="1"/>
          <p:nvPr/>
        </p:nvSpPr>
        <p:spPr>
          <a:xfrm>
            <a:off x="4133088"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61" name="Text 59"/>
          <p:cNvSpPr txBox="1"/>
          <p:nvPr/>
        </p:nvSpPr>
        <p:spPr>
          <a:xfrm>
            <a:off x="5029200"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75906" cy="136676"/>
          </a:xfrm>
          <a:prstGeom prst="rect">
            <a:avLst/>
          </a:prstGeom>
          <a:solidFill>
            <a:srgbClr val="2587C5"/>
          </a:solidFill>
          <a:ln/>
        </p:spPr>
      </p:sp>
      <p:sp>
        <p:nvSpPr>
          <p:cNvPr id="64" name="Text 62"/>
          <p:cNvSpPr txBox="1"/>
          <p:nvPr/>
        </p:nvSpPr>
        <p:spPr>
          <a:xfrm>
            <a:off x="321868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65" name="Text 63"/>
          <p:cNvSpPr txBox="1"/>
          <p:nvPr/>
        </p:nvSpPr>
        <p:spPr>
          <a:xfrm>
            <a:off x="4133088"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66" name="Text 64"/>
          <p:cNvSpPr txBox="1"/>
          <p:nvPr/>
        </p:nvSpPr>
        <p:spPr>
          <a:xfrm>
            <a:off x="5029200"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8" name="Shape 66"/>
          <p:cNvSpPr/>
          <p:nvPr/>
        </p:nvSpPr>
        <p:spPr>
          <a:xfrm>
            <a:off x="2670048" y="4490215"/>
            <a:ext cx="64387" cy="136676"/>
          </a:xfrm>
          <a:prstGeom prst="rect">
            <a:avLst/>
          </a:prstGeom>
          <a:solidFill>
            <a:srgbClr val="2587C5"/>
          </a:solidFill>
          <a:ln/>
        </p:spPr>
      </p:sp>
      <p:sp>
        <p:nvSpPr>
          <p:cNvPr id="69" name="Text 67"/>
          <p:cNvSpPr txBox="1"/>
          <p:nvPr/>
        </p:nvSpPr>
        <p:spPr>
          <a:xfrm>
            <a:off x="321868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70" name="Text 68"/>
          <p:cNvSpPr txBox="1"/>
          <p:nvPr/>
        </p:nvSpPr>
        <p:spPr>
          <a:xfrm>
            <a:off x="4133088"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71" name="Text 69"/>
          <p:cNvSpPr txBox="1"/>
          <p:nvPr/>
        </p:nvSpPr>
        <p:spPr>
          <a:xfrm>
            <a:off x="5029200"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4738717"/>
            <a:ext cx="63158" cy="136676"/>
          </a:xfrm>
          <a:prstGeom prst="rect">
            <a:avLst/>
          </a:prstGeom>
          <a:solidFill>
            <a:srgbClr val="2587C5"/>
          </a:solidFill>
          <a:ln/>
        </p:spPr>
      </p:sp>
      <p:sp>
        <p:nvSpPr>
          <p:cNvPr id="74" name="Text 72"/>
          <p:cNvSpPr txBox="1"/>
          <p:nvPr/>
        </p:nvSpPr>
        <p:spPr>
          <a:xfrm>
            <a:off x="321868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75" name="Text 73"/>
          <p:cNvSpPr txBox="1"/>
          <p:nvPr/>
        </p:nvSpPr>
        <p:spPr>
          <a:xfrm>
            <a:off x="4133088"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76" name="Text 74"/>
          <p:cNvSpPr txBox="1"/>
          <p:nvPr/>
        </p:nvSpPr>
        <p:spPr>
          <a:xfrm>
            <a:off x="5029200"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8" name="Shape 76"/>
          <p:cNvSpPr/>
          <p:nvPr/>
        </p:nvSpPr>
        <p:spPr>
          <a:xfrm>
            <a:off x="2670048" y="4987218"/>
            <a:ext cx="62045" cy="136676"/>
          </a:xfrm>
          <a:prstGeom prst="rect">
            <a:avLst/>
          </a:prstGeom>
          <a:solidFill>
            <a:srgbClr val="2587C5"/>
          </a:solidFill>
          <a:ln/>
        </p:spPr>
      </p:sp>
      <p:sp>
        <p:nvSpPr>
          <p:cNvPr id="79" name="Text 77"/>
          <p:cNvSpPr txBox="1"/>
          <p:nvPr/>
        </p:nvSpPr>
        <p:spPr>
          <a:xfrm>
            <a:off x="321868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80" name="Text 78"/>
          <p:cNvSpPr txBox="1"/>
          <p:nvPr/>
        </p:nvSpPr>
        <p:spPr>
          <a:xfrm>
            <a:off x="4133088"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81" name="Text 79"/>
          <p:cNvSpPr txBox="1"/>
          <p:nvPr/>
        </p:nvSpPr>
        <p:spPr>
          <a:xfrm>
            <a:off x="5029200"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3" name="Shape 81"/>
          <p:cNvSpPr/>
          <p:nvPr/>
        </p:nvSpPr>
        <p:spPr>
          <a:xfrm>
            <a:off x="2670048" y="5235720"/>
            <a:ext cx="60123" cy="136676"/>
          </a:xfrm>
          <a:prstGeom prst="rect">
            <a:avLst/>
          </a:prstGeom>
          <a:solidFill>
            <a:srgbClr val="2587C5"/>
          </a:solidFill>
          <a:ln/>
        </p:spPr>
      </p:sp>
      <p:sp>
        <p:nvSpPr>
          <p:cNvPr id="84" name="Text 82"/>
          <p:cNvSpPr txBox="1"/>
          <p:nvPr/>
        </p:nvSpPr>
        <p:spPr>
          <a:xfrm>
            <a:off x="321868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85" name="Text 83"/>
          <p:cNvSpPr txBox="1"/>
          <p:nvPr/>
        </p:nvSpPr>
        <p:spPr>
          <a:xfrm>
            <a:off x="4133088"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86" name="Text 84"/>
          <p:cNvSpPr txBox="1"/>
          <p:nvPr/>
        </p:nvSpPr>
        <p:spPr>
          <a:xfrm>
            <a:off x="5029200"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8" name="Shape 86"/>
          <p:cNvSpPr/>
          <p:nvPr/>
        </p:nvSpPr>
        <p:spPr>
          <a:xfrm>
            <a:off x="2670048" y="5484222"/>
            <a:ext cx="57007" cy="136676"/>
          </a:xfrm>
          <a:prstGeom prst="rect">
            <a:avLst/>
          </a:prstGeom>
          <a:solidFill>
            <a:srgbClr val="2587C5"/>
          </a:solidFill>
          <a:ln/>
        </p:spPr>
      </p:sp>
      <p:sp>
        <p:nvSpPr>
          <p:cNvPr id="89" name="Text 87"/>
          <p:cNvSpPr txBox="1"/>
          <p:nvPr/>
        </p:nvSpPr>
        <p:spPr>
          <a:xfrm>
            <a:off x="321868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0" name="Text 88"/>
          <p:cNvSpPr txBox="1"/>
          <p:nvPr/>
        </p:nvSpPr>
        <p:spPr>
          <a:xfrm>
            <a:off x="4133088"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91" name="Text 89"/>
          <p:cNvSpPr txBox="1"/>
          <p:nvPr/>
        </p:nvSpPr>
        <p:spPr>
          <a:xfrm>
            <a:off x="5029200"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2670048" y="5732723"/>
            <a:ext cx="56616" cy="136676"/>
          </a:xfrm>
          <a:prstGeom prst="rect">
            <a:avLst/>
          </a:prstGeom>
          <a:solidFill>
            <a:srgbClr val="2587C5"/>
          </a:solidFill>
          <a:ln/>
        </p:spPr>
      </p:sp>
      <p:sp>
        <p:nvSpPr>
          <p:cNvPr id="94" name="Text 92"/>
          <p:cNvSpPr txBox="1"/>
          <p:nvPr/>
        </p:nvSpPr>
        <p:spPr>
          <a:xfrm>
            <a:off x="321868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5" name="Text 93"/>
          <p:cNvSpPr txBox="1"/>
          <p:nvPr/>
        </p:nvSpPr>
        <p:spPr>
          <a:xfrm>
            <a:off x="4133088" y="567681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96" name="Text 94"/>
          <p:cNvSpPr txBox="1"/>
          <p:nvPr/>
        </p:nvSpPr>
        <p:spPr>
          <a:xfrm>
            <a:off x="5029200" y="567681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8" name="Shape 96"/>
          <p:cNvSpPr/>
          <p:nvPr/>
        </p:nvSpPr>
        <p:spPr>
          <a:xfrm>
            <a:off x="8220456" y="1756697"/>
            <a:ext cx="56285" cy="136676"/>
          </a:xfrm>
          <a:prstGeom prst="rect">
            <a:avLst/>
          </a:prstGeom>
          <a:solidFill>
            <a:srgbClr val="2587C5"/>
          </a:solidFill>
          <a:ln/>
        </p:spPr>
      </p:sp>
      <p:sp>
        <p:nvSpPr>
          <p:cNvPr id="99" name="Text 97"/>
          <p:cNvSpPr txBox="1"/>
          <p:nvPr/>
        </p:nvSpPr>
        <p:spPr>
          <a:xfrm>
            <a:off x="876909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100" name="Text 98"/>
          <p:cNvSpPr txBox="1"/>
          <p:nvPr/>
        </p:nvSpPr>
        <p:spPr>
          <a:xfrm>
            <a:off x="9683496"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01" name="Text 99"/>
          <p:cNvSpPr txBox="1"/>
          <p:nvPr/>
        </p:nvSpPr>
        <p:spPr>
          <a:xfrm>
            <a:off x="10579608"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55940" cy="136676"/>
          </a:xfrm>
          <a:prstGeom prst="rect">
            <a:avLst/>
          </a:prstGeom>
          <a:solidFill>
            <a:srgbClr val="2587C5"/>
          </a:solidFill>
          <a:ln/>
        </p:spPr>
      </p:sp>
      <p:sp>
        <p:nvSpPr>
          <p:cNvPr id="104" name="Text 102"/>
          <p:cNvSpPr txBox="1"/>
          <p:nvPr/>
        </p:nvSpPr>
        <p:spPr>
          <a:xfrm>
            <a:off x="876909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105" name="Text 103"/>
          <p:cNvSpPr txBox="1"/>
          <p:nvPr/>
        </p:nvSpPr>
        <p:spPr>
          <a:xfrm>
            <a:off x="9683496"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06" name="Text 104"/>
          <p:cNvSpPr txBox="1"/>
          <p:nvPr/>
        </p:nvSpPr>
        <p:spPr>
          <a:xfrm>
            <a:off x="10579608"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54975" cy="136676"/>
          </a:xfrm>
          <a:prstGeom prst="rect">
            <a:avLst/>
          </a:prstGeom>
          <a:solidFill>
            <a:srgbClr val="2587C5"/>
          </a:solidFill>
          <a:ln/>
        </p:spPr>
      </p:sp>
      <p:sp>
        <p:nvSpPr>
          <p:cNvPr id="109" name="Text 107"/>
          <p:cNvSpPr txBox="1"/>
          <p:nvPr/>
        </p:nvSpPr>
        <p:spPr>
          <a:xfrm>
            <a:off x="876909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110" name="Text 108"/>
          <p:cNvSpPr txBox="1"/>
          <p:nvPr/>
        </p:nvSpPr>
        <p:spPr>
          <a:xfrm>
            <a:off x="9683496"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11" name="Text 109"/>
          <p:cNvSpPr txBox="1"/>
          <p:nvPr/>
        </p:nvSpPr>
        <p:spPr>
          <a:xfrm>
            <a:off x="10579608"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3" name="Shape 111"/>
          <p:cNvSpPr/>
          <p:nvPr/>
        </p:nvSpPr>
        <p:spPr>
          <a:xfrm>
            <a:off x="8220456" y="2502202"/>
            <a:ext cx="51971" cy="136676"/>
          </a:xfrm>
          <a:prstGeom prst="rect">
            <a:avLst/>
          </a:prstGeom>
          <a:solidFill>
            <a:srgbClr val="2587C5"/>
          </a:solidFill>
          <a:ln/>
        </p:spPr>
      </p:sp>
      <p:sp>
        <p:nvSpPr>
          <p:cNvPr id="114" name="Text 112"/>
          <p:cNvSpPr txBox="1"/>
          <p:nvPr/>
        </p:nvSpPr>
        <p:spPr>
          <a:xfrm>
            <a:off x="876909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115" name="Text 113"/>
          <p:cNvSpPr txBox="1"/>
          <p:nvPr/>
        </p:nvSpPr>
        <p:spPr>
          <a:xfrm>
            <a:off x="9683496"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$82K</a:t>
            </a:r>
            <a:endParaRPr lang="en-US" sz="1300" dirty="0"/>
          </a:p>
        </p:txBody>
      </p:sp>
      <p:sp>
        <p:nvSpPr>
          <p:cNvPr id="116" name="Text 114"/>
          <p:cNvSpPr txBox="1"/>
          <p:nvPr/>
        </p:nvSpPr>
        <p:spPr>
          <a:xfrm>
            <a:off x="10579608"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8" name="Shape 116"/>
          <p:cNvSpPr/>
          <p:nvPr/>
        </p:nvSpPr>
        <p:spPr>
          <a:xfrm>
            <a:off x="8220456" y="2750703"/>
            <a:ext cx="50052" cy="136676"/>
          </a:xfrm>
          <a:prstGeom prst="rect">
            <a:avLst/>
          </a:prstGeom>
          <a:solidFill>
            <a:srgbClr val="2587C5"/>
          </a:solidFill>
          <a:ln/>
        </p:spPr>
      </p:sp>
      <p:sp>
        <p:nvSpPr>
          <p:cNvPr id="119" name="Text 117"/>
          <p:cNvSpPr txBox="1"/>
          <p:nvPr/>
        </p:nvSpPr>
        <p:spPr>
          <a:xfrm>
            <a:off x="876909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120" name="Text 118"/>
          <p:cNvSpPr txBox="1"/>
          <p:nvPr/>
        </p:nvSpPr>
        <p:spPr>
          <a:xfrm>
            <a:off x="9683496"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21" name="Text 119"/>
          <p:cNvSpPr txBox="1"/>
          <p:nvPr/>
        </p:nvSpPr>
        <p:spPr>
          <a:xfrm>
            <a:off x="10579608"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48801" cy="136676"/>
          </a:xfrm>
          <a:prstGeom prst="rect">
            <a:avLst/>
          </a:prstGeom>
          <a:solidFill>
            <a:srgbClr val="2587C5"/>
          </a:solidFill>
          <a:ln/>
        </p:spPr>
      </p:sp>
      <p:sp>
        <p:nvSpPr>
          <p:cNvPr id="124" name="Text 122"/>
          <p:cNvSpPr txBox="1"/>
          <p:nvPr/>
        </p:nvSpPr>
        <p:spPr>
          <a:xfrm>
            <a:off x="876909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25" name="Text 123"/>
          <p:cNvSpPr txBox="1"/>
          <p:nvPr/>
        </p:nvSpPr>
        <p:spPr>
          <a:xfrm>
            <a:off x="9683496"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126" name="Text 124"/>
          <p:cNvSpPr txBox="1"/>
          <p:nvPr/>
        </p:nvSpPr>
        <p:spPr>
          <a:xfrm>
            <a:off x="10579608"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220456" y="3247707"/>
            <a:ext cx="42839" cy="136676"/>
          </a:xfrm>
          <a:prstGeom prst="rect">
            <a:avLst/>
          </a:prstGeom>
          <a:solidFill>
            <a:srgbClr val="2587C5"/>
          </a:solidFill>
          <a:ln/>
        </p:spPr>
      </p:sp>
      <p:sp>
        <p:nvSpPr>
          <p:cNvPr id="129" name="Text 127"/>
          <p:cNvSpPr txBox="1"/>
          <p:nvPr/>
        </p:nvSpPr>
        <p:spPr>
          <a:xfrm>
            <a:off x="876909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30" name="Text 128"/>
          <p:cNvSpPr txBox="1"/>
          <p:nvPr/>
        </p:nvSpPr>
        <p:spPr>
          <a:xfrm>
            <a:off x="9683496"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31" name="Text 129"/>
          <p:cNvSpPr txBox="1"/>
          <p:nvPr/>
        </p:nvSpPr>
        <p:spPr>
          <a:xfrm>
            <a:off x="10579608"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3" name="Shape 131"/>
          <p:cNvSpPr/>
          <p:nvPr/>
        </p:nvSpPr>
        <p:spPr>
          <a:xfrm>
            <a:off x="8220456" y="3496208"/>
            <a:ext cx="41978" cy="136676"/>
          </a:xfrm>
          <a:prstGeom prst="rect">
            <a:avLst/>
          </a:prstGeom>
          <a:solidFill>
            <a:srgbClr val="2587C5"/>
          </a:solidFill>
          <a:ln/>
        </p:spPr>
      </p:sp>
      <p:sp>
        <p:nvSpPr>
          <p:cNvPr id="134" name="Text 132"/>
          <p:cNvSpPr txBox="1"/>
          <p:nvPr/>
        </p:nvSpPr>
        <p:spPr>
          <a:xfrm>
            <a:off x="876909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35" name="Text 133"/>
          <p:cNvSpPr txBox="1"/>
          <p:nvPr/>
        </p:nvSpPr>
        <p:spPr>
          <a:xfrm>
            <a:off x="9683496"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$68K</a:t>
            </a:r>
            <a:endParaRPr lang="en-US" sz="1300" dirty="0"/>
          </a:p>
        </p:txBody>
      </p:sp>
      <p:sp>
        <p:nvSpPr>
          <p:cNvPr id="136" name="Text 134"/>
          <p:cNvSpPr txBox="1"/>
          <p:nvPr/>
        </p:nvSpPr>
        <p:spPr>
          <a:xfrm>
            <a:off x="10579608"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8" name="Shape 136"/>
          <p:cNvSpPr/>
          <p:nvPr/>
        </p:nvSpPr>
        <p:spPr>
          <a:xfrm>
            <a:off x="8220456" y="3744710"/>
            <a:ext cx="37779" cy="136676"/>
          </a:xfrm>
          <a:prstGeom prst="rect">
            <a:avLst/>
          </a:prstGeom>
          <a:solidFill>
            <a:srgbClr val="2587C5"/>
          </a:solidFill>
          <a:ln/>
        </p:spPr>
      </p:sp>
      <p:sp>
        <p:nvSpPr>
          <p:cNvPr id="139" name="Text 137"/>
          <p:cNvSpPr txBox="1"/>
          <p:nvPr/>
        </p:nvSpPr>
        <p:spPr>
          <a:xfrm>
            <a:off x="876909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0" name="Text 138"/>
          <p:cNvSpPr txBox="1"/>
          <p:nvPr/>
        </p:nvSpPr>
        <p:spPr>
          <a:xfrm>
            <a:off x="9683496"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141" name="Text 139"/>
          <p:cNvSpPr txBox="1"/>
          <p:nvPr/>
        </p:nvSpPr>
        <p:spPr>
          <a:xfrm>
            <a:off x="10579608"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3" name="Shape 141"/>
          <p:cNvSpPr/>
          <p:nvPr/>
        </p:nvSpPr>
        <p:spPr>
          <a:xfrm>
            <a:off x="8220456" y="3993212"/>
            <a:ext cx="37560" cy="136676"/>
          </a:xfrm>
          <a:prstGeom prst="rect">
            <a:avLst/>
          </a:prstGeom>
          <a:solidFill>
            <a:srgbClr val="2587C5"/>
          </a:solidFill>
          <a:ln/>
        </p:spPr>
      </p:sp>
      <p:sp>
        <p:nvSpPr>
          <p:cNvPr id="144" name="Text 142"/>
          <p:cNvSpPr txBox="1"/>
          <p:nvPr/>
        </p:nvSpPr>
        <p:spPr>
          <a:xfrm>
            <a:off x="876909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5" name="Text 143"/>
          <p:cNvSpPr txBox="1"/>
          <p:nvPr/>
        </p:nvSpPr>
        <p:spPr>
          <a:xfrm>
            <a:off x="9683496"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146" name="Text 144"/>
          <p:cNvSpPr txBox="1"/>
          <p:nvPr/>
        </p:nvSpPr>
        <p:spPr>
          <a:xfrm>
            <a:off x="10579608"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8" name="Shape 146"/>
          <p:cNvSpPr/>
          <p:nvPr/>
        </p:nvSpPr>
        <p:spPr>
          <a:xfrm>
            <a:off x="8220456" y="4241713"/>
            <a:ext cx="28760" cy="136676"/>
          </a:xfrm>
          <a:prstGeom prst="rect">
            <a:avLst/>
          </a:prstGeom>
          <a:solidFill>
            <a:srgbClr val="2587C5"/>
          </a:solidFill>
          <a:ln/>
        </p:spPr>
      </p:sp>
      <p:sp>
        <p:nvSpPr>
          <p:cNvPr id="149" name="Text 147"/>
          <p:cNvSpPr txBox="1"/>
          <p:nvPr/>
        </p:nvSpPr>
        <p:spPr>
          <a:xfrm>
            <a:off x="876909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50" name="Text 148"/>
          <p:cNvSpPr txBox="1"/>
          <p:nvPr/>
        </p:nvSpPr>
        <p:spPr>
          <a:xfrm>
            <a:off x="9683496"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151" name="Text 149"/>
          <p:cNvSpPr txBox="1"/>
          <p:nvPr/>
        </p:nvSpPr>
        <p:spPr>
          <a:xfrm>
            <a:off x="10579608"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27792" cy="136676"/>
          </a:xfrm>
          <a:prstGeom prst="rect">
            <a:avLst/>
          </a:prstGeom>
          <a:solidFill>
            <a:srgbClr val="2587C5"/>
          </a:solidFill>
          <a:ln/>
        </p:spPr>
      </p:sp>
      <p:sp>
        <p:nvSpPr>
          <p:cNvPr id="154" name="Text 152"/>
          <p:cNvSpPr txBox="1"/>
          <p:nvPr/>
        </p:nvSpPr>
        <p:spPr>
          <a:xfrm>
            <a:off x="876909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9683496"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56" name="Text 154"/>
          <p:cNvSpPr txBox="1"/>
          <p:nvPr/>
        </p:nvSpPr>
        <p:spPr>
          <a:xfrm>
            <a:off x="10579608"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8" name="Shape 156"/>
          <p:cNvSpPr/>
          <p:nvPr/>
        </p:nvSpPr>
        <p:spPr>
          <a:xfrm>
            <a:off x="8220456" y="4738717"/>
            <a:ext cx="25793" cy="136676"/>
          </a:xfrm>
          <a:prstGeom prst="rect">
            <a:avLst/>
          </a:prstGeom>
          <a:solidFill>
            <a:srgbClr val="2587C5"/>
          </a:solidFill>
          <a:ln/>
        </p:spPr>
      </p:sp>
      <p:sp>
        <p:nvSpPr>
          <p:cNvPr id="159" name="Text 157"/>
          <p:cNvSpPr txBox="1"/>
          <p:nvPr/>
        </p:nvSpPr>
        <p:spPr>
          <a:xfrm>
            <a:off x="876909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60" name="Text 158"/>
          <p:cNvSpPr txBox="1"/>
          <p:nvPr/>
        </p:nvSpPr>
        <p:spPr>
          <a:xfrm>
            <a:off x="9683496"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161" name="Text 159"/>
          <p:cNvSpPr txBox="1"/>
          <p:nvPr/>
        </p:nvSpPr>
        <p:spPr>
          <a:xfrm>
            <a:off x="10579608"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3" name="Shape 161"/>
          <p:cNvSpPr/>
          <p:nvPr/>
        </p:nvSpPr>
        <p:spPr>
          <a:xfrm>
            <a:off x="8220456" y="4987218"/>
            <a:ext cx="24281" cy="136676"/>
          </a:xfrm>
          <a:prstGeom prst="rect">
            <a:avLst/>
          </a:prstGeom>
          <a:solidFill>
            <a:srgbClr val="2587C5"/>
          </a:solidFill>
          <a:ln/>
        </p:spPr>
      </p:sp>
      <p:sp>
        <p:nvSpPr>
          <p:cNvPr id="164" name="Text 162"/>
          <p:cNvSpPr txBox="1"/>
          <p:nvPr/>
        </p:nvSpPr>
        <p:spPr>
          <a:xfrm>
            <a:off x="876909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65" name="Text 163"/>
          <p:cNvSpPr txBox="1"/>
          <p:nvPr/>
        </p:nvSpPr>
        <p:spPr>
          <a:xfrm>
            <a:off x="9683496"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66" name="Text 164"/>
          <p:cNvSpPr txBox="1"/>
          <p:nvPr/>
        </p:nvSpPr>
        <p:spPr>
          <a:xfrm>
            <a:off x="10579608"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68" name="Shape 166"/>
          <p:cNvSpPr/>
          <p:nvPr/>
        </p:nvSpPr>
        <p:spPr>
          <a:xfrm>
            <a:off x="8220456" y="5235720"/>
            <a:ext cx="18556" cy="136676"/>
          </a:xfrm>
          <a:prstGeom prst="rect">
            <a:avLst/>
          </a:prstGeom>
          <a:solidFill>
            <a:srgbClr val="2587C5"/>
          </a:solidFill>
          <a:ln/>
        </p:spPr>
      </p:sp>
      <p:sp>
        <p:nvSpPr>
          <p:cNvPr id="169" name="Text 167"/>
          <p:cNvSpPr txBox="1"/>
          <p:nvPr/>
        </p:nvSpPr>
        <p:spPr>
          <a:xfrm>
            <a:off x="876909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70" name="Text 168"/>
          <p:cNvSpPr txBox="1"/>
          <p:nvPr/>
        </p:nvSpPr>
        <p:spPr>
          <a:xfrm>
            <a:off x="9683496"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71" name="Text 169"/>
          <p:cNvSpPr txBox="1"/>
          <p:nvPr/>
        </p:nvSpPr>
        <p:spPr>
          <a:xfrm>
            <a:off x="10579608"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3" name="Shape 171"/>
          <p:cNvSpPr/>
          <p:nvPr/>
        </p:nvSpPr>
        <p:spPr>
          <a:xfrm>
            <a:off x="8220456" y="5484222"/>
            <a:ext cx="18288" cy="136676"/>
          </a:xfrm>
          <a:prstGeom prst="rect">
            <a:avLst/>
          </a:prstGeom>
          <a:solidFill>
            <a:srgbClr val="2587C5"/>
          </a:solidFill>
          <a:ln/>
        </p:spPr>
      </p:sp>
      <p:sp>
        <p:nvSpPr>
          <p:cNvPr id="174" name="Text 172"/>
          <p:cNvSpPr txBox="1"/>
          <p:nvPr/>
        </p:nvSpPr>
        <p:spPr>
          <a:xfrm>
            <a:off x="876909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75" name="Text 173"/>
          <p:cNvSpPr txBox="1"/>
          <p:nvPr/>
        </p:nvSpPr>
        <p:spPr>
          <a:xfrm>
            <a:off x="9683496"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76" name="Text 174"/>
          <p:cNvSpPr txBox="1"/>
          <p:nvPr/>
        </p:nvSpPr>
        <p:spPr>
          <a:xfrm>
            <a:off x="10579608"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gross: $4,741,969 labor and $1,860,595 parts. Toyota Henderson leads at $1,164,334.</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73.9% vs 76.4%</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Grid stores realize less of their door rate than flat-rate stores, Jul-Sep.</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we collect for each customer-pay labor hour after menus, discounts and mix. Door rate is what we post.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The gap to door rate is money given away. Our benchmark: CP ELR at least 70% of door rate.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charged vs sold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Charging less time than the job pays the tech</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$217.79, non-luxury $151.32.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380766"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21" name="Shape 19"/>
          <p:cNvSpPr/>
          <p:nvPr/>
        </p:nvSpPr>
        <p:spPr>
          <a:xfrm>
            <a:off x="3008376" y="2451937"/>
            <a:ext cx="1493088" cy="110266"/>
          </a:xfrm>
          <a:prstGeom prst="rect">
            <a:avLst/>
          </a:prstGeom>
          <a:solidFill>
            <a:srgbClr val="12A566"/>
          </a:solidFill>
          <a:ln/>
        </p:spPr>
      </p:sp>
      <p:sp>
        <p:nvSpPr>
          <p:cNvPr id="22" name="Shape 20"/>
          <p:cNvSpPr/>
          <p:nvPr/>
        </p:nvSpPr>
        <p:spPr>
          <a:xfrm>
            <a:off x="4380766"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9826" cy="110266"/>
          </a:xfrm>
          <a:prstGeom prst="rect">
            <a:avLst/>
          </a:prstGeom>
          <a:solidFill>
            <a:srgbClr val="12A566"/>
          </a:solidFill>
          <a:ln/>
        </p:spPr>
      </p:sp>
      <p:sp>
        <p:nvSpPr>
          <p:cNvPr id="28" name="Shape 26"/>
          <p:cNvSpPr/>
          <p:nvPr/>
        </p:nvSpPr>
        <p:spPr>
          <a:xfrm>
            <a:off x="4380766"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3008376" y="2893000"/>
            <a:ext cx="1485001" cy="110266"/>
          </a:xfrm>
          <a:prstGeom prst="rect">
            <a:avLst/>
          </a:prstGeom>
          <a:solidFill>
            <a:srgbClr val="12A566"/>
          </a:solidFill>
          <a:ln/>
        </p:spPr>
      </p:sp>
      <p:sp>
        <p:nvSpPr>
          <p:cNvPr id="34" name="Shape 32"/>
          <p:cNvSpPr/>
          <p:nvPr/>
        </p:nvSpPr>
        <p:spPr>
          <a:xfrm>
            <a:off x="4380766"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113532"/>
            <a:ext cx="1482885" cy="110266"/>
          </a:xfrm>
          <a:prstGeom prst="rect">
            <a:avLst/>
          </a:prstGeom>
          <a:solidFill>
            <a:srgbClr val="12A566"/>
          </a:solidFill>
          <a:ln/>
        </p:spPr>
      </p:sp>
      <p:sp>
        <p:nvSpPr>
          <p:cNvPr id="40" name="Shape 38"/>
          <p:cNvSpPr/>
          <p:nvPr/>
        </p:nvSpPr>
        <p:spPr>
          <a:xfrm>
            <a:off x="4380766"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1410841" cy="110266"/>
          </a:xfrm>
          <a:prstGeom prst="rect">
            <a:avLst/>
          </a:prstGeom>
          <a:solidFill>
            <a:srgbClr val="12A566"/>
          </a:solidFill>
          <a:ln/>
        </p:spPr>
      </p:sp>
      <p:sp>
        <p:nvSpPr>
          <p:cNvPr id="46" name="Shape 44"/>
          <p:cNvSpPr/>
          <p:nvPr/>
        </p:nvSpPr>
        <p:spPr>
          <a:xfrm>
            <a:off x="4380766"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0" name="Shape 48"/>
          <p:cNvSpPr/>
          <p:nvPr/>
        </p:nvSpPr>
        <p:spPr>
          <a:xfrm>
            <a:off x="3008376" y="3554596"/>
            <a:ext cx="1337061" cy="110266"/>
          </a:xfrm>
          <a:prstGeom prst="rect">
            <a:avLst/>
          </a:prstGeom>
          <a:solidFill>
            <a:srgbClr val="12A566"/>
          </a:solidFill>
          <a:ln/>
        </p:spPr>
      </p:sp>
      <p:sp>
        <p:nvSpPr>
          <p:cNvPr id="51" name="Shape 49"/>
          <p:cNvSpPr/>
          <p:nvPr/>
        </p:nvSpPr>
        <p:spPr>
          <a:xfrm>
            <a:off x="3958540"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56" name="Shape 54"/>
          <p:cNvSpPr/>
          <p:nvPr/>
        </p:nvSpPr>
        <p:spPr>
          <a:xfrm>
            <a:off x="3008376" y="3775127"/>
            <a:ext cx="1227728" cy="110266"/>
          </a:xfrm>
          <a:prstGeom prst="rect">
            <a:avLst/>
          </a:prstGeom>
          <a:solidFill>
            <a:srgbClr val="C2352F"/>
          </a:solidFill>
          <a:ln/>
        </p:spPr>
      </p:sp>
      <p:sp>
        <p:nvSpPr>
          <p:cNvPr id="57" name="Shape 55"/>
          <p:cNvSpPr/>
          <p:nvPr/>
        </p:nvSpPr>
        <p:spPr>
          <a:xfrm>
            <a:off x="4380766"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008376" y="3995659"/>
            <a:ext cx="1117263" cy="110266"/>
          </a:xfrm>
          <a:prstGeom prst="rect">
            <a:avLst/>
          </a:prstGeom>
          <a:solidFill>
            <a:srgbClr val="12A566"/>
          </a:solidFill>
          <a:ln/>
        </p:spPr>
      </p:sp>
      <p:sp>
        <p:nvSpPr>
          <p:cNvPr id="62" name="Shape 60"/>
          <p:cNvSpPr/>
          <p:nvPr/>
        </p:nvSpPr>
        <p:spPr>
          <a:xfrm>
            <a:off x="3958540"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4" name="Shape 62"/>
          <p:cNvSpPr/>
          <p:nvPr/>
        </p:nvSpPr>
        <p:spPr>
          <a:xfrm>
            <a:off x="603504" y="4161058"/>
            <a:ext cx="5358384" cy="220532"/>
          </a:xfrm>
          <a:prstGeom prst="rect">
            <a:avLst/>
          </a:prstGeom>
          <a:solidFill>
            <a:srgbClr val="EDF4FA"/>
          </a:solidFill>
          <a:ln/>
        </p:spPr>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67" name="Shape 65"/>
          <p:cNvSpPr/>
          <p:nvPr/>
        </p:nvSpPr>
        <p:spPr>
          <a:xfrm>
            <a:off x="3008376" y="4216191"/>
            <a:ext cx="1079883" cy="110266"/>
          </a:xfrm>
          <a:prstGeom prst="rect">
            <a:avLst/>
          </a:prstGeom>
          <a:solidFill>
            <a:srgbClr val="C2352F"/>
          </a:solidFill>
          <a:ln/>
        </p:spPr>
      </p:sp>
      <p:sp>
        <p:nvSpPr>
          <p:cNvPr id="68" name="Shape 66"/>
          <p:cNvSpPr/>
          <p:nvPr/>
        </p:nvSpPr>
        <p:spPr>
          <a:xfrm>
            <a:off x="438076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70" name="Shape 68"/>
          <p:cNvSpPr/>
          <p:nvPr/>
        </p:nvSpPr>
        <p:spPr>
          <a:xfrm>
            <a:off x="603504" y="4381590"/>
            <a:ext cx="5358384" cy="220532"/>
          </a:xfrm>
          <a:prstGeom prst="rect">
            <a:avLst/>
          </a:prstGeom>
          <a:solidFill>
            <a:srgbClr val="EDF4FA"/>
          </a:solidFill>
          <a:ln/>
        </p:spPr>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008376" y="4436723"/>
            <a:ext cx="1064787" cy="110266"/>
          </a:xfrm>
          <a:prstGeom prst="rect">
            <a:avLst/>
          </a:prstGeom>
          <a:solidFill>
            <a:srgbClr val="C2352F"/>
          </a:solidFill>
          <a:ln/>
        </p:spPr>
      </p:sp>
      <p:sp>
        <p:nvSpPr>
          <p:cNvPr id="74" name="Shape 72"/>
          <p:cNvSpPr/>
          <p:nvPr/>
        </p:nvSpPr>
        <p:spPr>
          <a:xfrm>
            <a:off x="4380766"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8" name="Shape 76"/>
          <p:cNvSpPr/>
          <p:nvPr/>
        </p:nvSpPr>
        <p:spPr>
          <a:xfrm>
            <a:off x="3008376" y="4657254"/>
            <a:ext cx="1057221" cy="110266"/>
          </a:xfrm>
          <a:prstGeom prst="rect">
            <a:avLst/>
          </a:prstGeom>
          <a:solidFill>
            <a:srgbClr val="12A566"/>
          </a:solidFill>
          <a:ln/>
        </p:spPr>
      </p:sp>
      <p:sp>
        <p:nvSpPr>
          <p:cNvPr id="79" name="Shape 77"/>
          <p:cNvSpPr/>
          <p:nvPr/>
        </p:nvSpPr>
        <p:spPr>
          <a:xfrm>
            <a:off x="3958540"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3" name="Shape 81"/>
          <p:cNvSpPr/>
          <p:nvPr/>
        </p:nvSpPr>
        <p:spPr>
          <a:xfrm>
            <a:off x="3008376" y="4877786"/>
            <a:ext cx="1039396" cy="110266"/>
          </a:xfrm>
          <a:prstGeom prst="rect">
            <a:avLst/>
          </a:prstGeom>
          <a:solidFill>
            <a:srgbClr val="12A566"/>
          </a:solidFill>
          <a:ln/>
        </p:spPr>
      </p:sp>
      <p:sp>
        <p:nvSpPr>
          <p:cNvPr id="84" name="Shape 82"/>
          <p:cNvSpPr/>
          <p:nvPr/>
        </p:nvSpPr>
        <p:spPr>
          <a:xfrm>
            <a:off x="3958540"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8" name="Shape 86"/>
          <p:cNvSpPr/>
          <p:nvPr/>
        </p:nvSpPr>
        <p:spPr>
          <a:xfrm>
            <a:off x="3008376" y="5098318"/>
            <a:ext cx="1034412" cy="110266"/>
          </a:xfrm>
          <a:prstGeom prst="rect">
            <a:avLst/>
          </a:prstGeom>
          <a:solidFill>
            <a:srgbClr val="12A566"/>
          </a:solidFill>
          <a:ln/>
        </p:spPr>
      </p:sp>
      <p:sp>
        <p:nvSpPr>
          <p:cNvPr id="89" name="Shape 87"/>
          <p:cNvSpPr/>
          <p:nvPr/>
        </p:nvSpPr>
        <p:spPr>
          <a:xfrm>
            <a:off x="3958540"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3008376" y="5318850"/>
            <a:ext cx="1020490" cy="110266"/>
          </a:xfrm>
          <a:prstGeom prst="rect">
            <a:avLst/>
          </a:prstGeom>
          <a:solidFill>
            <a:srgbClr val="12A566"/>
          </a:solidFill>
          <a:ln/>
        </p:spPr>
      </p:sp>
      <p:sp>
        <p:nvSpPr>
          <p:cNvPr id="94" name="Shape 92"/>
          <p:cNvSpPr/>
          <p:nvPr/>
        </p:nvSpPr>
        <p:spPr>
          <a:xfrm>
            <a:off x="3958540"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8" name="Shape 96"/>
          <p:cNvSpPr/>
          <p:nvPr/>
        </p:nvSpPr>
        <p:spPr>
          <a:xfrm>
            <a:off x="3008376" y="5539381"/>
            <a:ext cx="1013557" cy="110266"/>
          </a:xfrm>
          <a:prstGeom prst="rect">
            <a:avLst/>
          </a:prstGeom>
          <a:solidFill>
            <a:srgbClr val="12A566"/>
          </a:solidFill>
          <a:ln/>
        </p:spPr>
      </p:sp>
      <p:sp>
        <p:nvSpPr>
          <p:cNvPr id="99" name="Shape 97"/>
          <p:cNvSpPr/>
          <p:nvPr/>
        </p:nvSpPr>
        <p:spPr>
          <a:xfrm>
            <a:off x="3958540"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3" name="Shape 101"/>
          <p:cNvSpPr/>
          <p:nvPr/>
        </p:nvSpPr>
        <p:spPr>
          <a:xfrm>
            <a:off x="3008376" y="5759913"/>
            <a:ext cx="1012325" cy="110266"/>
          </a:xfrm>
          <a:prstGeom prst="rect">
            <a:avLst/>
          </a:prstGeom>
          <a:solidFill>
            <a:srgbClr val="12A566"/>
          </a:solidFill>
          <a:ln/>
        </p:spPr>
      </p:sp>
      <p:sp>
        <p:nvSpPr>
          <p:cNvPr id="104" name="Shape 102"/>
          <p:cNvSpPr/>
          <p:nvPr/>
        </p:nvSpPr>
        <p:spPr>
          <a:xfrm>
            <a:off x="3958540"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8" name="Shape 106"/>
          <p:cNvSpPr/>
          <p:nvPr/>
        </p:nvSpPr>
        <p:spPr>
          <a:xfrm>
            <a:off x="8558784" y="2231405"/>
            <a:ext cx="999384" cy="110266"/>
          </a:xfrm>
          <a:prstGeom prst="rect">
            <a:avLst/>
          </a:prstGeom>
          <a:solidFill>
            <a:srgbClr val="12A566"/>
          </a:solidFill>
          <a:ln/>
        </p:spPr>
      </p:sp>
      <p:sp>
        <p:nvSpPr>
          <p:cNvPr id="109" name="Shape 107"/>
          <p:cNvSpPr/>
          <p:nvPr/>
        </p:nvSpPr>
        <p:spPr>
          <a:xfrm>
            <a:off x="9508948"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8558784" y="2451937"/>
            <a:ext cx="992055" cy="110266"/>
          </a:xfrm>
          <a:prstGeom prst="rect">
            <a:avLst/>
          </a:prstGeom>
          <a:solidFill>
            <a:srgbClr val="12A566"/>
          </a:solidFill>
          <a:ln/>
        </p:spPr>
      </p:sp>
      <p:sp>
        <p:nvSpPr>
          <p:cNvPr id="114" name="Shape 112"/>
          <p:cNvSpPr/>
          <p:nvPr/>
        </p:nvSpPr>
        <p:spPr>
          <a:xfrm>
            <a:off x="9508948"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8" name="Shape 116"/>
          <p:cNvSpPr/>
          <p:nvPr/>
        </p:nvSpPr>
        <p:spPr>
          <a:xfrm>
            <a:off x="8558784" y="2672468"/>
            <a:ext cx="981413" cy="110266"/>
          </a:xfrm>
          <a:prstGeom prst="rect">
            <a:avLst/>
          </a:prstGeom>
          <a:solidFill>
            <a:srgbClr val="12A566"/>
          </a:solidFill>
          <a:ln/>
        </p:spPr>
      </p:sp>
      <p:sp>
        <p:nvSpPr>
          <p:cNvPr id="119" name="Shape 117"/>
          <p:cNvSpPr/>
          <p:nvPr/>
        </p:nvSpPr>
        <p:spPr>
          <a:xfrm>
            <a:off x="9508948"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3" name="Shape 121"/>
          <p:cNvSpPr/>
          <p:nvPr/>
        </p:nvSpPr>
        <p:spPr>
          <a:xfrm>
            <a:off x="8558784" y="2893000"/>
            <a:ext cx="973651" cy="110266"/>
          </a:xfrm>
          <a:prstGeom prst="rect">
            <a:avLst/>
          </a:prstGeom>
          <a:solidFill>
            <a:srgbClr val="12A566"/>
          </a:solidFill>
          <a:ln/>
        </p:spPr>
      </p:sp>
      <p:sp>
        <p:nvSpPr>
          <p:cNvPr id="124" name="Shape 122"/>
          <p:cNvSpPr/>
          <p:nvPr/>
        </p:nvSpPr>
        <p:spPr>
          <a:xfrm>
            <a:off x="9508948"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8" name="Shape 126"/>
          <p:cNvSpPr/>
          <p:nvPr/>
        </p:nvSpPr>
        <p:spPr>
          <a:xfrm>
            <a:off x="8558784" y="3113532"/>
            <a:ext cx="947879" cy="110266"/>
          </a:xfrm>
          <a:prstGeom prst="rect">
            <a:avLst/>
          </a:prstGeom>
          <a:solidFill>
            <a:srgbClr val="C2352F"/>
          </a:solidFill>
          <a:ln/>
        </p:spPr>
      </p:sp>
      <p:sp>
        <p:nvSpPr>
          <p:cNvPr id="129" name="Shape 127"/>
          <p:cNvSpPr/>
          <p:nvPr/>
        </p:nvSpPr>
        <p:spPr>
          <a:xfrm>
            <a:off x="9508948"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941534" cy="110266"/>
          </a:xfrm>
          <a:prstGeom prst="rect">
            <a:avLst/>
          </a:prstGeom>
          <a:solidFill>
            <a:srgbClr val="C2352F"/>
          </a:solidFill>
          <a:ln/>
        </p:spPr>
      </p:sp>
      <p:sp>
        <p:nvSpPr>
          <p:cNvPr id="134" name="Shape 132"/>
          <p:cNvSpPr/>
          <p:nvPr/>
        </p:nvSpPr>
        <p:spPr>
          <a:xfrm>
            <a:off x="9508948"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3554596"/>
            <a:ext cx="917807" cy="110266"/>
          </a:xfrm>
          <a:prstGeom prst="rect">
            <a:avLst/>
          </a:prstGeom>
          <a:solidFill>
            <a:srgbClr val="C2352F"/>
          </a:solidFill>
          <a:ln/>
        </p:spPr>
      </p:sp>
      <p:sp>
        <p:nvSpPr>
          <p:cNvPr id="139" name="Shape 137"/>
          <p:cNvSpPr/>
          <p:nvPr/>
        </p:nvSpPr>
        <p:spPr>
          <a:xfrm>
            <a:off x="9508948"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43" name="Shape 141"/>
          <p:cNvSpPr/>
          <p:nvPr/>
        </p:nvSpPr>
        <p:spPr>
          <a:xfrm>
            <a:off x="8558784" y="3775127"/>
            <a:ext cx="913971" cy="110266"/>
          </a:xfrm>
          <a:prstGeom prst="rect">
            <a:avLst/>
          </a:prstGeom>
          <a:solidFill>
            <a:srgbClr val="C2352F"/>
          </a:solidFill>
          <a:ln/>
        </p:spPr>
      </p:sp>
      <p:sp>
        <p:nvSpPr>
          <p:cNvPr id="144" name="Shape 142"/>
          <p:cNvSpPr/>
          <p:nvPr/>
        </p:nvSpPr>
        <p:spPr>
          <a:xfrm>
            <a:off x="9508948"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3995659"/>
            <a:ext cx="908662" cy="110266"/>
          </a:xfrm>
          <a:prstGeom prst="rect">
            <a:avLst/>
          </a:prstGeom>
          <a:solidFill>
            <a:srgbClr val="C2352F"/>
          </a:solidFill>
          <a:ln/>
        </p:spPr>
      </p:sp>
      <p:sp>
        <p:nvSpPr>
          <p:cNvPr id="149" name="Shape 147"/>
          <p:cNvSpPr/>
          <p:nvPr/>
        </p:nvSpPr>
        <p:spPr>
          <a:xfrm>
            <a:off x="9508948"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53" name="Shape 151"/>
          <p:cNvSpPr/>
          <p:nvPr/>
        </p:nvSpPr>
        <p:spPr>
          <a:xfrm>
            <a:off x="8558784" y="4216191"/>
            <a:ext cx="907021" cy="110266"/>
          </a:xfrm>
          <a:prstGeom prst="rect">
            <a:avLst/>
          </a:prstGeom>
          <a:solidFill>
            <a:srgbClr val="C2352F"/>
          </a:solidFill>
          <a:ln/>
        </p:spPr>
      </p:sp>
      <p:sp>
        <p:nvSpPr>
          <p:cNvPr id="154" name="Shape 152"/>
          <p:cNvSpPr/>
          <p:nvPr/>
        </p:nvSpPr>
        <p:spPr>
          <a:xfrm>
            <a:off x="9508948"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436723"/>
            <a:ext cx="896260" cy="110266"/>
          </a:xfrm>
          <a:prstGeom prst="rect">
            <a:avLst/>
          </a:prstGeom>
          <a:solidFill>
            <a:srgbClr val="C2352F"/>
          </a:solidFill>
          <a:ln/>
        </p:spPr>
      </p:sp>
      <p:sp>
        <p:nvSpPr>
          <p:cNvPr id="159" name="Shape 157"/>
          <p:cNvSpPr/>
          <p:nvPr/>
        </p:nvSpPr>
        <p:spPr>
          <a:xfrm>
            <a:off x="9508948"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558784" y="4657254"/>
            <a:ext cx="883720" cy="110266"/>
          </a:xfrm>
          <a:prstGeom prst="rect">
            <a:avLst/>
          </a:prstGeom>
          <a:solidFill>
            <a:srgbClr val="C2352F"/>
          </a:solidFill>
          <a:ln/>
        </p:spPr>
      </p:sp>
      <p:sp>
        <p:nvSpPr>
          <p:cNvPr id="164" name="Shape 162"/>
          <p:cNvSpPr/>
          <p:nvPr/>
        </p:nvSpPr>
        <p:spPr>
          <a:xfrm>
            <a:off x="9508948"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68" name="Shape 166"/>
          <p:cNvSpPr/>
          <p:nvPr/>
        </p:nvSpPr>
        <p:spPr>
          <a:xfrm>
            <a:off x="8558784" y="4877786"/>
            <a:ext cx="879615" cy="110266"/>
          </a:xfrm>
          <a:prstGeom prst="rect">
            <a:avLst/>
          </a:prstGeom>
          <a:solidFill>
            <a:srgbClr val="C2352F"/>
          </a:solidFill>
          <a:ln/>
        </p:spPr>
      </p:sp>
      <p:sp>
        <p:nvSpPr>
          <p:cNvPr id="169" name="Shape 167"/>
          <p:cNvSpPr/>
          <p:nvPr/>
        </p:nvSpPr>
        <p:spPr>
          <a:xfrm>
            <a:off x="9508948"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3" name="Shape 171"/>
          <p:cNvSpPr/>
          <p:nvPr/>
        </p:nvSpPr>
        <p:spPr>
          <a:xfrm>
            <a:off x="8558784" y="5098318"/>
            <a:ext cx="858476" cy="110266"/>
          </a:xfrm>
          <a:prstGeom prst="rect">
            <a:avLst/>
          </a:prstGeom>
          <a:solidFill>
            <a:srgbClr val="C2352F"/>
          </a:solidFill>
          <a:ln/>
        </p:spPr>
      </p:sp>
      <p:sp>
        <p:nvSpPr>
          <p:cNvPr id="174" name="Shape 172"/>
          <p:cNvSpPr/>
          <p:nvPr/>
        </p:nvSpPr>
        <p:spPr>
          <a:xfrm>
            <a:off x="9508948"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8" name="Shape 176"/>
          <p:cNvSpPr/>
          <p:nvPr/>
        </p:nvSpPr>
        <p:spPr>
          <a:xfrm>
            <a:off x="8558784" y="5318850"/>
            <a:ext cx="828632" cy="110266"/>
          </a:xfrm>
          <a:prstGeom prst="rect">
            <a:avLst/>
          </a:prstGeom>
          <a:solidFill>
            <a:srgbClr val="C2352F"/>
          </a:solidFill>
          <a:ln/>
        </p:spPr>
      </p:sp>
      <p:sp>
        <p:nvSpPr>
          <p:cNvPr id="179" name="Shape 177"/>
          <p:cNvSpPr/>
          <p:nvPr/>
        </p:nvSpPr>
        <p:spPr>
          <a:xfrm>
            <a:off x="9508948"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3" name="Shape 181"/>
          <p:cNvSpPr/>
          <p:nvPr/>
        </p:nvSpPr>
        <p:spPr>
          <a:xfrm>
            <a:off x="8558784" y="5539381"/>
            <a:ext cx="800888" cy="110266"/>
          </a:xfrm>
          <a:prstGeom prst="rect">
            <a:avLst/>
          </a:prstGeom>
          <a:solidFill>
            <a:srgbClr val="C2352F"/>
          </a:solidFill>
          <a:ln/>
        </p:spPr>
      </p:sp>
      <p:sp>
        <p:nvSpPr>
          <p:cNvPr id="184" name="Shape 182"/>
          <p:cNvSpPr/>
          <p:nvPr/>
        </p:nvSpPr>
        <p:spPr>
          <a:xfrm>
            <a:off x="950894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measures execution for the store and for each advisor.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best number to build advisor pay on.</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$632, non-luxury $264.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14273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87755" cy="110266"/>
          </a:xfrm>
          <a:prstGeom prst="rect">
            <a:avLst/>
          </a:prstGeom>
          <a:solidFill>
            <a:srgbClr val="12A566"/>
          </a:solidFill>
          <a:ln/>
        </p:spPr>
      </p:sp>
      <p:sp>
        <p:nvSpPr>
          <p:cNvPr id="22" name="Shape 20"/>
          <p:cNvSpPr/>
          <p:nvPr/>
        </p:nvSpPr>
        <p:spPr>
          <a:xfrm>
            <a:off x="414273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682307" cy="110266"/>
          </a:xfrm>
          <a:prstGeom prst="rect">
            <a:avLst/>
          </a:prstGeom>
          <a:solidFill>
            <a:srgbClr val="12A566"/>
          </a:solidFill>
          <a:ln/>
        </p:spPr>
      </p:sp>
      <p:sp>
        <p:nvSpPr>
          <p:cNvPr id="28" name="Shape 26"/>
          <p:cNvSpPr/>
          <p:nvPr/>
        </p:nvSpPr>
        <p:spPr>
          <a:xfrm>
            <a:off x="414273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81141" cy="110266"/>
          </a:xfrm>
          <a:prstGeom prst="rect">
            <a:avLst/>
          </a:prstGeom>
          <a:solidFill>
            <a:srgbClr val="12A566"/>
          </a:solidFill>
          <a:ln/>
        </p:spPr>
      </p:sp>
      <p:sp>
        <p:nvSpPr>
          <p:cNvPr id="34" name="Shape 32"/>
          <p:cNvSpPr/>
          <p:nvPr/>
        </p:nvSpPr>
        <p:spPr>
          <a:xfrm>
            <a:off x="414273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1162436" cy="110266"/>
          </a:xfrm>
          <a:prstGeom prst="rect">
            <a:avLst/>
          </a:prstGeom>
          <a:solidFill>
            <a:srgbClr val="12A566"/>
          </a:solidFill>
          <a:ln/>
        </p:spPr>
      </p:sp>
      <p:sp>
        <p:nvSpPr>
          <p:cNvPr id="40" name="Shape 38"/>
          <p:cNvSpPr/>
          <p:nvPr/>
        </p:nvSpPr>
        <p:spPr>
          <a:xfrm>
            <a:off x="414273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17343" cy="110266"/>
          </a:xfrm>
          <a:prstGeom prst="rect">
            <a:avLst/>
          </a:prstGeom>
          <a:solidFill>
            <a:srgbClr val="C2352F"/>
          </a:solidFill>
          <a:ln/>
        </p:spPr>
      </p:sp>
      <p:sp>
        <p:nvSpPr>
          <p:cNvPr id="46" name="Shape 44"/>
          <p:cNvSpPr/>
          <p:nvPr/>
        </p:nvSpPr>
        <p:spPr>
          <a:xfrm>
            <a:off x="414273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1" name="Shape 49"/>
          <p:cNvSpPr/>
          <p:nvPr/>
        </p:nvSpPr>
        <p:spPr>
          <a:xfrm>
            <a:off x="3008376" y="3554596"/>
            <a:ext cx="841658" cy="110266"/>
          </a:xfrm>
          <a:prstGeom prst="rect">
            <a:avLst/>
          </a:prstGeom>
          <a:solidFill>
            <a:srgbClr val="C2352F"/>
          </a:solidFill>
          <a:ln/>
        </p:spPr>
      </p:sp>
      <p:sp>
        <p:nvSpPr>
          <p:cNvPr id="52" name="Shape 50"/>
          <p:cNvSpPr/>
          <p:nvPr/>
        </p:nvSpPr>
        <p:spPr>
          <a:xfrm>
            <a:off x="4142739"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7" name="Shape 55"/>
          <p:cNvSpPr/>
          <p:nvPr/>
        </p:nvSpPr>
        <p:spPr>
          <a:xfrm>
            <a:off x="3008376" y="3775127"/>
            <a:ext cx="755112" cy="110266"/>
          </a:xfrm>
          <a:prstGeom prst="rect">
            <a:avLst/>
          </a:prstGeom>
          <a:solidFill>
            <a:srgbClr val="C2352F"/>
          </a:solidFill>
          <a:ln/>
        </p:spPr>
      </p:sp>
      <p:sp>
        <p:nvSpPr>
          <p:cNvPr id="58" name="Shape 56"/>
          <p:cNvSpPr/>
          <p:nvPr/>
        </p:nvSpPr>
        <p:spPr>
          <a:xfrm>
            <a:off x="4142739"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60" name="Shape 58"/>
          <p:cNvSpPr/>
          <p:nvPr/>
        </p:nvSpPr>
        <p:spPr>
          <a:xfrm>
            <a:off x="603504" y="3940526"/>
            <a:ext cx="5358384" cy="220532"/>
          </a:xfrm>
          <a:prstGeom prst="rect">
            <a:avLst/>
          </a:prstGeom>
          <a:solidFill>
            <a:srgbClr val="EDF4FA"/>
          </a:solidFill>
          <a:ln/>
        </p:spPr>
      </p:sp>
      <p:sp>
        <p:nvSpPr>
          <p:cNvPr id="61" name="Text 59"/>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2" name="Text 60"/>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63" name="Shape 61"/>
          <p:cNvSpPr/>
          <p:nvPr/>
        </p:nvSpPr>
        <p:spPr>
          <a:xfrm>
            <a:off x="3008376" y="3995659"/>
            <a:ext cx="730056" cy="110266"/>
          </a:xfrm>
          <a:prstGeom prst="rect">
            <a:avLst/>
          </a:prstGeom>
          <a:solidFill>
            <a:srgbClr val="C2352F"/>
          </a:solidFill>
          <a:ln/>
        </p:spPr>
      </p:sp>
      <p:sp>
        <p:nvSpPr>
          <p:cNvPr id="64" name="Shape 62"/>
          <p:cNvSpPr/>
          <p:nvPr/>
        </p:nvSpPr>
        <p:spPr>
          <a:xfrm>
            <a:off x="4142739" y="3962579"/>
            <a:ext cx="21946" cy="176425"/>
          </a:xfrm>
          <a:prstGeom prst="rect">
            <a:avLst/>
          </a:prstGeom>
          <a:solidFill>
            <a:srgbClr val="0B2C4A"/>
          </a:solidFill>
          <a:ln/>
        </p:spPr>
      </p:sp>
      <p:sp>
        <p:nvSpPr>
          <p:cNvPr id="65" name="Text 63"/>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66" name="Text 64"/>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3008376" y="4216191"/>
            <a:ext cx="705337" cy="110266"/>
          </a:xfrm>
          <a:prstGeom prst="rect">
            <a:avLst/>
          </a:prstGeom>
          <a:solidFill>
            <a:srgbClr val="12A566"/>
          </a:solidFill>
          <a:ln/>
        </p:spPr>
      </p:sp>
      <p:sp>
        <p:nvSpPr>
          <p:cNvPr id="69" name="Shape 67"/>
          <p:cNvSpPr/>
          <p:nvPr/>
        </p:nvSpPr>
        <p:spPr>
          <a:xfrm>
            <a:off x="3476332" y="4183111"/>
            <a:ext cx="21946" cy="176425"/>
          </a:xfrm>
          <a:prstGeom prst="rect">
            <a:avLst/>
          </a:prstGeom>
          <a:solidFill>
            <a:srgbClr val="0B2C4A"/>
          </a:solidFill>
          <a:ln/>
        </p:spPr>
      </p:sp>
      <p:sp>
        <p:nvSpPr>
          <p:cNvPr id="70" name="Text 68"/>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3008376" y="4436723"/>
            <a:ext cx="673033" cy="110266"/>
          </a:xfrm>
          <a:prstGeom prst="rect">
            <a:avLst/>
          </a:prstGeom>
          <a:solidFill>
            <a:srgbClr val="12A566"/>
          </a:solidFill>
          <a:ln/>
        </p:spPr>
      </p:sp>
      <p:sp>
        <p:nvSpPr>
          <p:cNvPr id="74" name="Shape 72"/>
          <p:cNvSpPr/>
          <p:nvPr/>
        </p:nvSpPr>
        <p:spPr>
          <a:xfrm>
            <a:off x="3476332"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8" name="Shape 76"/>
          <p:cNvSpPr/>
          <p:nvPr/>
        </p:nvSpPr>
        <p:spPr>
          <a:xfrm>
            <a:off x="3008376" y="4657254"/>
            <a:ext cx="641221" cy="110266"/>
          </a:xfrm>
          <a:prstGeom prst="rect">
            <a:avLst/>
          </a:prstGeom>
          <a:solidFill>
            <a:srgbClr val="12A566"/>
          </a:solidFill>
          <a:ln/>
        </p:spPr>
      </p:sp>
      <p:sp>
        <p:nvSpPr>
          <p:cNvPr id="79" name="Shape 77"/>
          <p:cNvSpPr/>
          <p:nvPr/>
        </p:nvSpPr>
        <p:spPr>
          <a:xfrm>
            <a:off x="3476332"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3008376" y="4877786"/>
            <a:ext cx="602381" cy="110266"/>
          </a:xfrm>
          <a:prstGeom prst="rect">
            <a:avLst/>
          </a:prstGeom>
          <a:solidFill>
            <a:srgbClr val="12A566"/>
          </a:solidFill>
          <a:ln/>
        </p:spPr>
      </p:sp>
      <p:sp>
        <p:nvSpPr>
          <p:cNvPr id="84" name="Shape 82"/>
          <p:cNvSpPr/>
          <p:nvPr/>
        </p:nvSpPr>
        <p:spPr>
          <a:xfrm>
            <a:off x="3476332"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098318"/>
            <a:ext cx="577225" cy="110266"/>
          </a:xfrm>
          <a:prstGeom prst="rect">
            <a:avLst/>
          </a:prstGeom>
          <a:solidFill>
            <a:srgbClr val="12A566"/>
          </a:solidFill>
          <a:ln/>
        </p:spPr>
      </p:sp>
      <p:sp>
        <p:nvSpPr>
          <p:cNvPr id="89" name="Shape 87"/>
          <p:cNvSpPr/>
          <p:nvPr/>
        </p:nvSpPr>
        <p:spPr>
          <a:xfrm>
            <a:off x="3476332"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3" name="Shape 91"/>
          <p:cNvSpPr/>
          <p:nvPr/>
        </p:nvSpPr>
        <p:spPr>
          <a:xfrm>
            <a:off x="3008376" y="5318850"/>
            <a:ext cx="563314" cy="110266"/>
          </a:xfrm>
          <a:prstGeom prst="rect">
            <a:avLst/>
          </a:prstGeom>
          <a:solidFill>
            <a:srgbClr val="12A566"/>
          </a:solidFill>
          <a:ln/>
        </p:spPr>
      </p:sp>
      <p:sp>
        <p:nvSpPr>
          <p:cNvPr id="94" name="Shape 92"/>
          <p:cNvSpPr/>
          <p:nvPr/>
        </p:nvSpPr>
        <p:spPr>
          <a:xfrm>
            <a:off x="3476332"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3008376" y="5539381"/>
            <a:ext cx="547061" cy="110266"/>
          </a:xfrm>
          <a:prstGeom prst="rect">
            <a:avLst/>
          </a:prstGeom>
          <a:solidFill>
            <a:srgbClr val="12A566"/>
          </a:solidFill>
          <a:ln/>
        </p:spPr>
      </p:sp>
      <p:sp>
        <p:nvSpPr>
          <p:cNvPr id="99" name="Shape 97"/>
          <p:cNvSpPr/>
          <p:nvPr/>
        </p:nvSpPr>
        <p:spPr>
          <a:xfrm>
            <a:off x="3476332"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3" name="Shape 101"/>
          <p:cNvSpPr/>
          <p:nvPr/>
        </p:nvSpPr>
        <p:spPr>
          <a:xfrm>
            <a:off x="3008376" y="5759913"/>
            <a:ext cx="542954" cy="110266"/>
          </a:xfrm>
          <a:prstGeom prst="rect">
            <a:avLst/>
          </a:prstGeom>
          <a:solidFill>
            <a:srgbClr val="12A566"/>
          </a:solidFill>
          <a:ln/>
        </p:spPr>
      </p:sp>
      <p:sp>
        <p:nvSpPr>
          <p:cNvPr id="104" name="Shape 102"/>
          <p:cNvSpPr/>
          <p:nvPr/>
        </p:nvSpPr>
        <p:spPr>
          <a:xfrm>
            <a:off x="3476332"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8" name="Shape 106"/>
          <p:cNvSpPr/>
          <p:nvPr/>
        </p:nvSpPr>
        <p:spPr>
          <a:xfrm>
            <a:off x="8558784" y="2231405"/>
            <a:ext cx="541966" cy="110266"/>
          </a:xfrm>
          <a:prstGeom prst="rect">
            <a:avLst/>
          </a:prstGeom>
          <a:solidFill>
            <a:srgbClr val="12A566"/>
          </a:solidFill>
          <a:ln/>
        </p:spPr>
      </p:sp>
      <p:sp>
        <p:nvSpPr>
          <p:cNvPr id="109" name="Shape 107"/>
          <p:cNvSpPr/>
          <p:nvPr/>
        </p:nvSpPr>
        <p:spPr>
          <a:xfrm>
            <a:off x="9026740"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2451937"/>
            <a:ext cx="523696" cy="110266"/>
          </a:xfrm>
          <a:prstGeom prst="rect">
            <a:avLst/>
          </a:prstGeom>
          <a:solidFill>
            <a:srgbClr val="12A566"/>
          </a:solidFill>
          <a:ln/>
        </p:spPr>
      </p:sp>
      <p:sp>
        <p:nvSpPr>
          <p:cNvPr id="114" name="Shape 112"/>
          <p:cNvSpPr/>
          <p:nvPr/>
        </p:nvSpPr>
        <p:spPr>
          <a:xfrm>
            <a:off x="9026740"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2672468"/>
            <a:ext cx="507630" cy="110266"/>
          </a:xfrm>
          <a:prstGeom prst="rect">
            <a:avLst/>
          </a:prstGeom>
          <a:solidFill>
            <a:srgbClr val="12A566"/>
          </a:solidFill>
          <a:ln/>
        </p:spPr>
      </p:sp>
      <p:sp>
        <p:nvSpPr>
          <p:cNvPr id="119" name="Shape 117"/>
          <p:cNvSpPr/>
          <p:nvPr/>
        </p:nvSpPr>
        <p:spPr>
          <a:xfrm>
            <a:off x="9026740"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3" name="Shape 121"/>
          <p:cNvSpPr/>
          <p:nvPr/>
        </p:nvSpPr>
        <p:spPr>
          <a:xfrm>
            <a:off x="8558784" y="2893000"/>
            <a:ext cx="497050" cy="110266"/>
          </a:xfrm>
          <a:prstGeom prst="rect">
            <a:avLst/>
          </a:prstGeom>
          <a:solidFill>
            <a:srgbClr val="12A566"/>
          </a:solidFill>
          <a:ln/>
        </p:spPr>
      </p:sp>
      <p:sp>
        <p:nvSpPr>
          <p:cNvPr id="124" name="Shape 122"/>
          <p:cNvSpPr/>
          <p:nvPr/>
        </p:nvSpPr>
        <p:spPr>
          <a:xfrm>
            <a:off x="9026740"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491692" cy="110266"/>
          </a:xfrm>
          <a:prstGeom prst="rect">
            <a:avLst/>
          </a:prstGeom>
          <a:solidFill>
            <a:srgbClr val="12A566"/>
          </a:solidFill>
          <a:ln/>
        </p:spPr>
      </p:sp>
      <p:sp>
        <p:nvSpPr>
          <p:cNvPr id="129" name="Shape 127"/>
          <p:cNvSpPr/>
          <p:nvPr/>
        </p:nvSpPr>
        <p:spPr>
          <a:xfrm>
            <a:off x="9026740"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558784" y="3334064"/>
            <a:ext cx="431863" cy="110266"/>
          </a:xfrm>
          <a:prstGeom prst="rect">
            <a:avLst/>
          </a:prstGeom>
          <a:solidFill>
            <a:srgbClr val="C2352F"/>
          </a:solidFill>
          <a:ln/>
        </p:spPr>
      </p:sp>
      <p:sp>
        <p:nvSpPr>
          <p:cNvPr id="134" name="Shape 132"/>
          <p:cNvSpPr/>
          <p:nvPr/>
        </p:nvSpPr>
        <p:spPr>
          <a:xfrm>
            <a:off x="9026740"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8" name="Shape 136"/>
          <p:cNvSpPr/>
          <p:nvPr/>
        </p:nvSpPr>
        <p:spPr>
          <a:xfrm>
            <a:off x="8558784" y="3554596"/>
            <a:ext cx="431091" cy="110266"/>
          </a:xfrm>
          <a:prstGeom prst="rect">
            <a:avLst/>
          </a:prstGeom>
          <a:solidFill>
            <a:srgbClr val="C2352F"/>
          </a:solidFill>
          <a:ln/>
        </p:spPr>
      </p:sp>
      <p:sp>
        <p:nvSpPr>
          <p:cNvPr id="139" name="Shape 137"/>
          <p:cNvSpPr/>
          <p:nvPr/>
        </p:nvSpPr>
        <p:spPr>
          <a:xfrm>
            <a:off x="9026740"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424414" cy="110266"/>
          </a:xfrm>
          <a:prstGeom prst="rect">
            <a:avLst/>
          </a:prstGeom>
          <a:solidFill>
            <a:srgbClr val="C2352F"/>
          </a:solidFill>
          <a:ln/>
        </p:spPr>
      </p:sp>
      <p:sp>
        <p:nvSpPr>
          <p:cNvPr id="144" name="Shape 142"/>
          <p:cNvSpPr/>
          <p:nvPr/>
        </p:nvSpPr>
        <p:spPr>
          <a:xfrm>
            <a:off x="9026740"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8" name="Shape 146"/>
          <p:cNvSpPr/>
          <p:nvPr/>
        </p:nvSpPr>
        <p:spPr>
          <a:xfrm>
            <a:off x="8558784" y="3995659"/>
            <a:ext cx="418377" cy="110266"/>
          </a:xfrm>
          <a:prstGeom prst="rect">
            <a:avLst/>
          </a:prstGeom>
          <a:solidFill>
            <a:srgbClr val="C2352F"/>
          </a:solidFill>
          <a:ln/>
        </p:spPr>
      </p:sp>
      <p:sp>
        <p:nvSpPr>
          <p:cNvPr id="149" name="Shape 147"/>
          <p:cNvSpPr/>
          <p:nvPr/>
        </p:nvSpPr>
        <p:spPr>
          <a:xfrm>
            <a:off x="9026740"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412275" cy="110266"/>
          </a:xfrm>
          <a:prstGeom prst="rect">
            <a:avLst/>
          </a:prstGeom>
          <a:solidFill>
            <a:srgbClr val="C2352F"/>
          </a:solidFill>
          <a:ln/>
        </p:spPr>
      </p:sp>
      <p:sp>
        <p:nvSpPr>
          <p:cNvPr id="154" name="Shape 152"/>
          <p:cNvSpPr/>
          <p:nvPr/>
        </p:nvSpPr>
        <p:spPr>
          <a:xfrm>
            <a:off x="9026740"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58" name="Shape 156"/>
          <p:cNvSpPr/>
          <p:nvPr/>
        </p:nvSpPr>
        <p:spPr>
          <a:xfrm>
            <a:off x="8558784" y="4436723"/>
            <a:ext cx="402934" cy="110266"/>
          </a:xfrm>
          <a:prstGeom prst="rect">
            <a:avLst/>
          </a:prstGeom>
          <a:solidFill>
            <a:srgbClr val="C2352F"/>
          </a:solidFill>
          <a:ln/>
        </p:spPr>
      </p:sp>
      <p:sp>
        <p:nvSpPr>
          <p:cNvPr id="159" name="Shape 157"/>
          <p:cNvSpPr/>
          <p:nvPr/>
        </p:nvSpPr>
        <p:spPr>
          <a:xfrm>
            <a:off x="9026740"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784" y="4657254"/>
            <a:ext cx="399642" cy="110266"/>
          </a:xfrm>
          <a:prstGeom prst="rect">
            <a:avLst/>
          </a:prstGeom>
          <a:solidFill>
            <a:srgbClr val="C2352F"/>
          </a:solidFill>
          <a:ln/>
        </p:spPr>
      </p:sp>
      <p:sp>
        <p:nvSpPr>
          <p:cNvPr id="164" name="Shape 162"/>
          <p:cNvSpPr/>
          <p:nvPr/>
        </p:nvSpPr>
        <p:spPr>
          <a:xfrm>
            <a:off x="9026740"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8" name="Shape 166"/>
          <p:cNvSpPr/>
          <p:nvPr/>
        </p:nvSpPr>
        <p:spPr>
          <a:xfrm>
            <a:off x="8558784" y="4877786"/>
            <a:ext cx="386830" cy="110266"/>
          </a:xfrm>
          <a:prstGeom prst="rect">
            <a:avLst/>
          </a:prstGeom>
          <a:solidFill>
            <a:srgbClr val="C2352F"/>
          </a:solidFill>
          <a:ln/>
        </p:spPr>
      </p:sp>
      <p:sp>
        <p:nvSpPr>
          <p:cNvPr id="169" name="Shape 167"/>
          <p:cNvSpPr/>
          <p:nvPr/>
        </p:nvSpPr>
        <p:spPr>
          <a:xfrm>
            <a:off x="9026740"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363811" cy="110266"/>
          </a:xfrm>
          <a:prstGeom prst="rect">
            <a:avLst/>
          </a:prstGeom>
          <a:solidFill>
            <a:srgbClr val="C2352F"/>
          </a:solidFill>
          <a:ln/>
        </p:spPr>
      </p:sp>
      <p:sp>
        <p:nvSpPr>
          <p:cNvPr id="174" name="Shape 172"/>
          <p:cNvSpPr/>
          <p:nvPr/>
        </p:nvSpPr>
        <p:spPr>
          <a:xfrm>
            <a:off x="9026740"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8" name="Shape 176"/>
          <p:cNvSpPr/>
          <p:nvPr/>
        </p:nvSpPr>
        <p:spPr>
          <a:xfrm>
            <a:off x="8558784" y="5318850"/>
            <a:ext cx="338767" cy="110266"/>
          </a:xfrm>
          <a:prstGeom prst="rect">
            <a:avLst/>
          </a:prstGeom>
          <a:solidFill>
            <a:srgbClr val="C2352F"/>
          </a:solidFill>
          <a:ln/>
        </p:spPr>
      </p:sp>
      <p:sp>
        <p:nvSpPr>
          <p:cNvPr id="179" name="Shape 177"/>
          <p:cNvSpPr/>
          <p:nvPr/>
        </p:nvSpPr>
        <p:spPr>
          <a:xfrm>
            <a:off x="9026740"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329907" cy="110266"/>
          </a:xfrm>
          <a:prstGeom prst="rect">
            <a:avLst/>
          </a:prstGeom>
          <a:solidFill>
            <a:srgbClr val="C2352F"/>
          </a:solidFill>
          <a:ln/>
        </p:spPr>
      </p:sp>
      <p:sp>
        <p:nvSpPr>
          <p:cNvPr id="184" name="Shape 182"/>
          <p:cNvSpPr/>
          <p:nvPr/>
        </p:nvSpPr>
        <p:spPr>
          <a:xfrm>
            <a:off x="9026740"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$534, non-luxury $202.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3973365"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541776" cy="110266"/>
          </a:xfrm>
          <a:prstGeom prst="rect">
            <a:avLst/>
          </a:prstGeom>
          <a:solidFill>
            <a:srgbClr val="12A566"/>
          </a:solidFill>
          <a:ln/>
        </p:spPr>
      </p:sp>
      <p:sp>
        <p:nvSpPr>
          <p:cNvPr id="22" name="Shape 20"/>
          <p:cNvSpPr/>
          <p:nvPr/>
        </p:nvSpPr>
        <p:spPr>
          <a:xfrm>
            <a:off x="3973365"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5880" cy="110266"/>
          </a:xfrm>
          <a:prstGeom prst="rect">
            <a:avLst/>
          </a:prstGeom>
          <a:solidFill>
            <a:srgbClr val="12A566"/>
          </a:solidFill>
          <a:ln/>
        </p:spPr>
      </p:sp>
      <p:sp>
        <p:nvSpPr>
          <p:cNvPr id="28" name="Shape 26"/>
          <p:cNvSpPr/>
          <p:nvPr/>
        </p:nvSpPr>
        <p:spPr>
          <a:xfrm>
            <a:off x="3973365"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008376" y="2893000"/>
            <a:ext cx="1345914" cy="110266"/>
          </a:xfrm>
          <a:prstGeom prst="rect">
            <a:avLst/>
          </a:prstGeom>
          <a:solidFill>
            <a:srgbClr val="12A566"/>
          </a:solidFill>
          <a:ln/>
        </p:spPr>
      </p:sp>
      <p:sp>
        <p:nvSpPr>
          <p:cNvPr id="34" name="Shape 32"/>
          <p:cNvSpPr/>
          <p:nvPr/>
        </p:nvSpPr>
        <p:spPr>
          <a:xfrm>
            <a:off x="3973365"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989488" cy="110266"/>
          </a:xfrm>
          <a:prstGeom prst="rect">
            <a:avLst/>
          </a:prstGeom>
          <a:solidFill>
            <a:srgbClr val="12A566"/>
          </a:solidFill>
          <a:ln/>
        </p:spPr>
      </p:sp>
      <p:sp>
        <p:nvSpPr>
          <p:cNvPr id="40" name="Shape 38"/>
          <p:cNvSpPr/>
          <p:nvPr/>
        </p:nvSpPr>
        <p:spPr>
          <a:xfrm>
            <a:off x="3973365"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20175" cy="110266"/>
          </a:xfrm>
          <a:prstGeom prst="rect">
            <a:avLst/>
          </a:prstGeom>
          <a:solidFill>
            <a:srgbClr val="C2352F"/>
          </a:solidFill>
          <a:ln/>
        </p:spPr>
      </p:sp>
      <p:sp>
        <p:nvSpPr>
          <p:cNvPr id="46" name="Shape 44"/>
          <p:cNvSpPr/>
          <p:nvPr/>
        </p:nvSpPr>
        <p:spPr>
          <a:xfrm>
            <a:off x="3973365"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1" name="Shape 49"/>
          <p:cNvSpPr/>
          <p:nvPr/>
        </p:nvSpPr>
        <p:spPr>
          <a:xfrm>
            <a:off x="3008376" y="3554596"/>
            <a:ext cx="662639" cy="110266"/>
          </a:xfrm>
          <a:prstGeom prst="rect">
            <a:avLst/>
          </a:prstGeom>
          <a:solidFill>
            <a:srgbClr val="C2352F"/>
          </a:solidFill>
          <a:ln/>
        </p:spPr>
      </p:sp>
      <p:sp>
        <p:nvSpPr>
          <p:cNvPr id="52" name="Shape 50"/>
          <p:cNvSpPr/>
          <p:nvPr/>
        </p:nvSpPr>
        <p:spPr>
          <a:xfrm>
            <a:off x="3973365"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3775127"/>
            <a:ext cx="638712" cy="110266"/>
          </a:xfrm>
          <a:prstGeom prst="rect">
            <a:avLst/>
          </a:prstGeom>
          <a:solidFill>
            <a:srgbClr val="C2352F"/>
          </a:solidFill>
          <a:ln/>
        </p:spPr>
      </p:sp>
      <p:sp>
        <p:nvSpPr>
          <p:cNvPr id="58" name="Shape 56"/>
          <p:cNvSpPr/>
          <p:nvPr/>
        </p:nvSpPr>
        <p:spPr>
          <a:xfrm>
            <a:off x="3973365"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60" name="Text 58"/>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3995659"/>
            <a:ext cx="605911" cy="110266"/>
          </a:xfrm>
          <a:prstGeom prst="rect">
            <a:avLst/>
          </a:prstGeom>
          <a:solidFill>
            <a:srgbClr val="12A566"/>
          </a:solidFill>
          <a:ln/>
        </p:spPr>
      </p:sp>
      <p:sp>
        <p:nvSpPr>
          <p:cNvPr id="63" name="Shape 61"/>
          <p:cNvSpPr/>
          <p:nvPr/>
        </p:nvSpPr>
        <p:spPr>
          <a:xfrm>
            <a:off x="3366736" y="3962579"/>
            <a:ext cx="21946" cy="176425"/>
          </a:xfrm>
          <a:prstGeom prst="rect">
            <a:avLst/>
          </a:prstGeom>
          <a:solidFill>
            <a:srgbClr val="0B2C4A"/>
          </a:solidFill>
          <a:ln/>
        </p:spPr>
      </p:sp>
      <p:sp>
        <p:nvSpPr>
          <p:cNvPr id="64" name="Text 62"/>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7" name="Shape 65"/>
          <p:cNvSpPr/>
          <p:nvPr/>
        </p:nvSpPr>
        <p:spPr>
          <a:xfrm>
            <a:off x="3008376" y="4216191"/>
            <a:ext cx="530367" cy="110266"/>
          </a:xfrm>
          <a:prstGeom prst="rect">
            <a:avLst/>
          </a:prstGeom>
          <a:solidFill>
            <a:srgbClr val="12A566"/>
          </a:solidFill>
          <a:ln/>
        </p:spPr>
      </p:sp>
      <p:sp>
        <p:nvSpPr>
          <p:cNvPr id="68" name="Shape 66"/>
          <p:cNvSpPr/>
          <p:nvPr/>
        </p:nvSpPr>
        <p:spPr>
          <a:xfrm>
            <a:off x="336673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2" name="Shape 70"/>
          <p:cNvSpPr/>
          <p:nvPr/>
        </p:nvSpPr>
        <p:spPr>
          <a:xfrm>
            <a:off x="3008376" y="4436723"/>
            <a:ext cx="513720" cy="110266"/>
          </a:xfrm>
          <a:prstGeom prst="rect">
            <a:avLst/>
          </a:prstGeom>
          <a:solidFill>
            <a:srgbClr val="12A566"/>
          </a:solidFill>
          <a:ln/>
        </p:spPr>
      </p:sp>
      <p:sp>
        <p:nvSpPr>
          <p:cNvPr id="73" name="Shape 71"/>
          <p:cNvSpPr/>
          <p:nvPr/>
        </p:nvSpPr>
        <p:spPr>
          <a:xfrm>
            <a:off x="3366736"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4657254"/>
            <a:ext cx="512202" cy="110266"/>
          </a:xfrm>
          <a:prstGeom prst="rect">
            <a:avLst/>
          </a:prstGeom>
          <a:solidFill>
            <a:srgbClr val="12A566"/>
          </a:solidFill>
          <a:ln/>
        </p:spPr>
      </p:sp>
      <p:sp>
        <p:nvSpPr>
          <p:cNvPr id="78" name="Shape 76"/>
          <p:cNvSpPr/>
          <p:nvPr/>
        </p:nvSpPr>
        <p:spPr>
          <a:xfrm>
            <a:off x="3366736"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3008376" y="4877786"/>
            <a:ext cx="512048" cy="110266"/>
          </a:xfrm>
          <a:prstGeom prst="rect">
            <a:avLst/>
          </a:prstGeom>
          <a:solidFill>
            <a:srgbClr val="12A566"/>
          </a:solidFill>
          <a:ln/>
        </p:spPr>
      </p:sp>
      <p:sp>
        <p:nvSpPr>
          <p:cNvPr id="83" name="Shape 81"/>
          <p:cNvSpPr/>
          <p:nvPr/>
        </p:nvSpPr>
        <p:spPr>
          <a:xfrm>
            <a:off x="3366736"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5" name="Text 83"/>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6" name="Text 84"/>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7" name="Shape 85"/>
          <p:cNvSpPr/>
          <p:nvPr/>
        </p:nvSpPr>
        <p:spPr>
          <a:xfrm>
            <a:off x="3008376" y="5098318"/>
            <a:ext cx="504718" cy="110266"/>
          </a:xfrm>
          <a:prstGeom prst="rect">
            <a:avLst/>
          </a:prstGeom>
          <a:solidFill>
            <a:srgbClr val="12A566"/>
          </a:solidFill>
          <a:ln/>
        </p:spPr>
      </p:sp>
      <p:sp>
        <p:nvSpPr>
          <p:cNvPr id="88" name="Shape 86"/>
          <p:cNvSpPr/>
          <p:nvPr/>
        </p:nvSpPr>
        <p:spPr>
          <a:xfrm>
            <a:off x="3366736" y="5065238"/>
            <a:ext cx="21946" cy="176425"/>
          </a:xfrm>
          <a:prstGeom prst="rect">
            <a:avLst/>
          </a:prstGeom>
          <a:solidFill>
            <a:srgbClr val="0B2C4A"/>
          </a:solidFill>
          <a:ln/>
        </p:spPr>
      </p:sp>
      <p:sp>
        <p:nvSpPr>
          <p:cNvPr id="89" name="Text 87"/>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90" name="Text 88"/>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2" name="Shape 90"/>
          <p:cNvSpPr/>
          <p:nvPr/>
        </p:nvSpPr>
        <p:spPr>
          <a:xfrm>
            <a:off x="3008376" y="5318850"/>
            <a:ext cx="490804" cy="110266"/>
          </a:xfrm>
          <a:prstGeom prst="rect">
            <a:avLst/>
          </a:prstGeom>
          <a:solidFill>
            <a:srgbClr val="12A566"/>
          </a:solidFill>
          <a:ln/>
        </p:spPr>
      </p:sp>
      <p:sp>
        <p:nvSpPr>
          <p:cNvPr id="93" name="Shape 91"/>
          <p:cNvSpPr/>
          <p:nvPr/>
        </p:nvSpPr>
        <p:spPr>
          <a:xfrm>
            <a:off x="3366736" y="5285770"/>
            <a:ext cx="21946" cy="176425"/>
          </a:xfrm>
          <a:prstGeom prst="rect">
            <a:avLst/>
          </a:prstGeom>
          <a:solidFill>
            <a:srgbClr val="0B2C4A"/>
          </a:solidFill>
          <a:ln/>
        </p:spPr>
      </p:sp>
      <p:sp>
        <p:nvSpPr>
          <p:cNvPr id="94" name="Text 92"/>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95" name="Text 93"/>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3008376" y="5539381"/>
            <a:ext cx="482409" cy="110266"/>
          </a:xfrm>
          <a:prstGeom prst="rect">
            <a:avLst/>
          </a:prstGeom>
          <a:solidFill>
            <a:srgbClr val="12A566"/>
          </a:solidFill>
          <a:ln/>
        </p:spPr>
      </p:sp>
      <p:sp>
        <p:nvSpPr>
          <p:cNvPr id="98" name="Shape 96"/>
          <p:cNvSpPr/>
          <p:nvPr/>
        </p:nvSpPr>
        <p:spPr>
          <a:xfrm>
            <a:off x="3366736" y="5506302"/>
            <a:ext cx="21946" cy="176425"/>
          </a:xfrm>
          <a:prstGeom prst="rect">
            <a:avLst/>
          </a:prstGeom>
          <a:solidFill>
            <a:srgbClr val="0B2C4A"/>
          </a:solidFill>
          <a:ln/>
        </p:spPr>
      </p:sp>
      <p:sp>
        <p:nvSpPr>
          <p:cNvPr id="99" name="Text 97"/>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100" name="Text 98"/>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3008376" y="5759913"/>
            <a:ext cx="473753" cy="110266"/>
          </a:xfrm>
          <a:prstGeom prst="rect">
            <a:avLst/>
          </a:prstGeom>
          <a:solidFill>
            <a:srgbClr val="12A566"/>
          </a:solidFill>
          <a:ln/>
        </p:spPr>
      </p:sp>
      <p:sp>
        <p:nvSpPr>
          <p:cNvPr id="103" name="Shape 101"/>
          <p:cNvSpPr/>
          <p:nvPr/>
        </p:nvSpPr>
        <p:spPr>
          <a:xfrm>
            <a:off x="3366736" y="5726833"/>
            <a:ext cx="21946" cy="176425"/>
          </a:xfrm>
          <a:prstGeom prst="rect">
            <a:avLst/>
          </a:prstGeom>
          <a:solidFill>
            <a:srgbClr val="0B2C4A"/>
          </a:solidFill>
          <a:ln/>
        </p:spPr>
      </p:sp>
      <p:sp>
        <p:nvSpPr>
          <p:cNvPr id="104" name="Text 102"/>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105" name="Shape 103"/>
          <p:cNvSpPr/>
          <p:nvPr/>
        </p:nvSpPr>
        <p:spPr>
          <a:xfrm>
            <a:off x="6153912" y="2176272"/>
            <a:ext cx="5358384" cy="220532"/>
          </a:xfrm>
          <a:prstGeom prst="rect">
            <a:avLst/>
          </a:prstGeom>
          <a:solidFill>
            <a:srgbClr val="EDF4FA"/>
          </a:solidFill>
          <a:ln/>
        </p:spPr>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8" name="Shape 106"/>
          <p:cNvSpPr/>
          <p:nvPr/>
        </p:nvSpPr>
        <p:spPr>
          <a:xfrm>
            <a:off x="8558784" y="2231405"/>
            <a:ext cx="438765" cy="110266"/>
          </a:xfrm>
          <a:prstGeom prst="rect">
            <a:avLst/>
          </a:prstGeom>
          <a:solidFill>
            <a:srgbClr val="C2352F"/>
          </a:solidFill>
          <a:ln/>
        </p:spPr>
      </p:sp>
      <p:sp>
        <p:nvSpPr>
          <p:cNvPr id="109" name="Shape 107"/>
          <p:cNvSpPr/>
          <p:nvPr/>
        </p:nvSpPr>
        <p:spPr>
          <a:xfrm>
            <a:off x="9523773"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2451937"/>
            <a:ext cx="429723" cy="110266"/>
          </a:xfrm>
          <a:prstGeom prst="rect">
            <a:avLst/>
          </a:prstGeom>
          <a:solidFill>
            <a:srgbClr val="12A566"/>
          </a:solidFill>
          <a:ln/>
        </p:spPr>
      </p:sp>
      <p:sp>
        <p:nvSpPr>
          <p:cNvPr id="114" name="Shape 112"/>
          <p:cNvSpPr/>
          <p:nvPr/>
        </p:nvSpPr>
        <p:spPr>
          <a:xfrm>
            <a:off x="8917144"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8" name="Shape 116"/>
          <p:cNvSpPr/>
          <p:nvPr/>
        </p:nvSpPr>
        <p:spPr>
          <a:xfrm>
            <a:off x="8558784" y="2672468"/>
            <a:ext cx="399397" cy="110266"/>
          </a:xfrm>
          <a:prstGeom prst="rect">
            <a:avLst/>
          </a:prstGeom>
          <a:solidFill>
            <a:srgbClr val="12A566"/>
          </a:solidFill>
          <a:ln/>
        </p:spPr>
      </p:sp>
      <p:sp>
        <p:nvSpPr>
          <p:cNvPr id="119" name="Shape 117"/>
          <p:cNvSpPr/>
          <p:nvPr/>
        </p:nvSpPr>
        <p:spPr>
          <a:xfrm>
            <a:off x="8917144"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3" name="Shape 121"/>
          <p:cNvSpPr/>
          <p:nvPr/>
        </p:nvSpPr>
        <p:spPr>
          <a:xfrm>
            <a:off x="8558784" y="2893000"/>
            <a:ext cx="395536" cy="110266"/>
          </a:xfrm>
          <a:prstGeom prst="rect">
            <a:avLst/>
          </a:prstGeom>
          <a:solidFill>
            <a:srgbClr val="12A566"/>
          </a:solidFill>
          <a:ln/>
        </p:spPr>
      </p:sp>
      <p:sp>
        <p:nvSpPr>
          <p:cNvPr id="124" name="Shape 122"/>
          <p:cNvSpPr/>
          <p:nvPr/>
        </p:nvSpPr>
        <p:spPr>
          <a:xfrm>
            <a:off x="8917144"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8" name="Shape 126"/>
          <p:cNvSpPr/>
          <p:nvPr/>
        </p:nvSpPr>
        <p:spPr>
          <a:xfrm>
            <a:off x="8558784" y="3113532"/>
            <a:ext cx="389519" cy="110266"/>
          </a:xfrm>
          <a:prstGeom prst="rect">
            <a:avLst/>
          </a:prstGeom>
          <a:solidFill>
            <a:srgbClr val="12A566"/>
          </a:solidFill>
          <a:ln/>
        </p:spPr>
      </p:sp>
      <p:sp>
        <p:nvSpPr>
          <p:cNvPr id="129" name="Shape 127"/>
          <p:cNvSpPr/>
          <p:nvPr/>
        </p:nvSpPr>
        <p:spPr>
          <a:xfrm>
            <a:off x="8917144"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388427" cy="110266"/>
          </a:xfrm>
          <a:prstGeom prst="rect">
            <a:avLst/>
          </a:prstGeom>
          <a:solidFill>
            <a:srgbClr val="12A566"/>
          </a:solidFill>
          <a:ln/>
        </p:spPr>
      </p:sp>
      <p:sp>
        <p:nvSpPr>
          <p:cNvPr id="134" name="Shape 132"/>
          <p:cNvSpPr/>
          <p:nvPr/>
        </p:nvSpPr>
        <p:spPr>
          <a:xfrm>
            <a:off x="8917144"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8" name="Shape 136"/>
          <p:cNvSpPr/>
          <p:nvPr/>
        </p:nvSpPr>
        <p:spPr>
          <a:xfrm>
            <a:off x="8558784" y="3554596"/>
            <a:ext cx="387519" cy="110266"/>
          </a:xfrm>
          <a:prstGeom prst="rect">
            <a:avLst/>
          </a:prstGeom>
          <a:solidFill>
            <a:srgbClr val="12A566"/>
          </a:solidFill>
          <a:ln/>
        </p:spPr>
      </p:sp>
      <p:sp>
        <p:nvSpPr>
          <p:cNvPr id="139" name="Shape 137"/>
          <p:cNvSpPr/>
          <p:nvPr/>
        </p:nvSpPr>
        <p:spPr>
          <a:xfrm>
            <a:off x="8917144"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3" name="Shape 141"/>
          <p:cNvSpPr/>
          <p:nvPr/>
        </p:nvSpPr>
        <p:spPr>
          <a:xfrm>
            <a:off x="8558784" y="3775127"/>
            <a:ext cx="379922" cy="110266"/>
          </a:xfrm>
          <a:prstGeom prst="rect">
            <a:avLst/>
          </a:prstGeom>
          <a:solidFill>
            <a:srgbClr val="12A566"/>
          </a:solidFill>
          <a:ln/>
        </p:spPr>
      </p:sp>
      <p:sp>
        <p:nvSpPr>
          <p:cNvPr id="144" name="Shape 142"/>
          <p:cNvSpPr/>
          <p:nvPr/>
        </p:nvSpPr>
        <p:spPr>
          <a:xfrm>
            <a:off x="8917144"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8558784" y="3995659"/>
            <a:ext cx="358076" cy="110266"/>
          </a:xfrm>
          <a:prstGeom prst="rect">
            <a:avLst/>
          </a:prstGeom>
          <a:solidFill>
            <a:srgbClr val="C2352F"/>
          </a:solidFill>
          <a:ln/>
        </p:spPr>
      </p:sp>
      <p:sp>
        <p:nvSpPr>
          <p:cNvPr id="149" name="Shape 147"/>
          <p:cNvSpPr/>
          <p:nvPr/>
        </p:nvSpPr>
        <p:spPr>
          <a:xfrm>
            <a:off x="8917144"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3" name="Shape 151"/>
          <p:cNvSpPr/>
          <p:nvPr/>
        </p:nvSpPr>
        <p:spPr>
          <a:xfrm>
            <a:off x="8558784" y="4216191"/>
            <a:ext cx="352758" cy="110266"/>
          </a:xfrm>
          <a:prstGeom prst="rect">
            <a:avLst/>
          </a:prstGeom>
          <a:solidFill>
            <a:srgbClr val="C2352F"/>
          </a:solidFill>
          <a:ln/>
        </p:spPr>
      </p:sp>
      <p:sp>
        <p:nvSpPr>
          <p:cNvPr id="154" name="Shape 152"/>
          <p:cNvSpPr/>
          <p:nvPr/>
        </p:nvSpPr>
        <p:spPr>
          <a:xfrm>
            <a:off x="8917144"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8" name="Shape 156"/>
          <p:cNvSpPr/>
          <p:nvPr/>
        </p:nvSpPr>
        <p:spPr>
          <a:xfrm>
            <a:off x="8558784" y="4436723"/>
            <a:ext cx="334216" cy="110266"/>
          </a:xfrm>
          <a:prstGeom prst="rect">
            <a:avLst/>
          </a:prstGeom>
          <a:solidFill>
            <a:srgbClr val="C2352F"/>
          </a:solidFill>
          <a:ln/>
        </p:spPr>
      </p:sp>
      <p:sp>
        <p:nvSpPr>
          <p:cNvPr id="159" name="Shape 157"/>
          <p:cNvSpPr/>
          <p:nvPr/>
        </p:nvSpPr>
        <p:spPr>
          <a:xfrm>
            <a:off x="8917144"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63" name="Shape 161"/>
          <p:cNvSpPr/>
          <p:nvPr/>
        </p:nvSpPr>
        <p:spPr>
          <a:xfrm>
            <a:off x="8558784" y="4657254"/>
            <a:ext cx="330484" cy="110266"/>
          </a:xfrm>
          <a:prstGeom prst="rect">
            <a:avLst/>
          </a:prstGeom>
          <a:solidFill>
            <a:srgbClr val="C2352F"/>
          </a:solidFill>
          <a:ln/>
        </p:spPr>
      </p:sp>
      <p:sp>
        <p:nvSpPr>
          <p:cNvPr id="164" name="Shape 162"/>
          <p:cNvSpPr/>
          <p:nvPr/>
        </p:nvSpPr>
        <p:spPr>
          <a:xfrm>
            <a:off x="8917144"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68" name="Shape 166"/>
          <p:cNvSpPr/>
          <p:nvPr/>
        </p:nvSpPr>
        <p:spPr>
          <a:xfrm>
            <a:off x="8558784" y="4877786"/>
            <a:ext cx="310845" cy="110266"/>
          </a:xfrm>
          <a:prstGeom prst="rect">
            <a:avLst/>
          </a:prstGeom>
          <a:solidFill>
            <a:srgbClr val="C2352F"/>
          </a:solidFill>
          <a:ln/>
        </p:spPr>
      </p:sp>
      <p:sp>
        <p:nvSpPr>
          <p:cNvPr id="169" name="Shape 167"/>
          <p:cNvSpPr/>
          <p:nvPr/>
        </p:nvSpPr>
        <p:spPr>
          <a:xfrm>
            <a:off x="8917144"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3" name="Shape 171"/>
          <p:cNvSpPr/>
          <p:nvPr/>
        </p:nvSpPr>
        <p:spPr>
          <a:xfrm>
            <a:off x="8558784" y="5098318"/>
            <a:ext cx="280562" cy="110266"/>
          </a:xfrm>
          <a:prstGeom prst="rect">
            <a:avLst/>
          </a:prstGeom>
          <a:solidFill>
            <a:srgbClr val="C2352F"/>
          </a:solidFill>
          <a:ln/>
        </p:spPr>
      </p:sp>
      <p:sp>
        <p:nvSpPr>
          <p:cNvPr id="174" name="Shape 172"/>
          <p:cNvSpPr/>
          <p:nvPr/>
        </p:nvSpPr>
        <p:spPr>
          <a:xfrm>
            <a:off x="8917144"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8" name="Shape 176"/>
          <p:cNvSpPr/>
          <p:nvPr/>
        </p:nvSpPr>
        <p:spPr>
          <a:xfrm>
            <a:off x="8558784" y="5318850"/>
            <a:ext cx="279550" cy="110266"/>
          </a:xfrm>
          <a:prstGeom prst="rect">
            <a:avLst/>
          </a:prstGeom>
          <a:solidFill>
            <a:srgbClr val="C2352F"/>
          </a:solidFill>
          <a:ln/>
        </p:spPr>
      </p:sp>
      <p:sp>
        <p:nvSpPr>
          <p:cNvPr id="179" name="Shape 177"/>
          <p:cNvSpPr/>
          <p:nvPr/>
        </p:nvSpPr>
        <p:spPr>
          <a:xfrm>
            <a:off x="8917144"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3" name="Shape 181"/>
          <p:cNvSpPr/>
          <p:nvPr/>
        </p:nvSpPr>
        <p:spPr>
          <a:xfrm>
            <a:off x="8558784" y="5539381"/>
            <a:ext cx="271900" cy="110266"/>
          </a:xfrm>
          <a:prstGeom prst="rect">
            <a:avLst/>
          </a:prstGeom>
          <a:solidFill>
            <a:srgbClr val="C2352F"/>
          </a:solidFill>
          <a:ln/>
        </p:spPr>
      </p:sp>
      <p:sp>
        <p:nvSpPr>
          <p:cNvPr id="184" name="Shape 182"/>
          <p:cNvSpPr/>
          <p:nvPr/>
        </p:nvSpPr>
        <p:spPr>
          <a:xfrm>
            <a:off x="8917144"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$534 and 16 of 24 others beat $202. CDJR Post Falls leads non-luxury at $332.</a:t>
            </a:r>
            <a:endParaRPr lang="en-US" sz="16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1376"/>
          </a:xfrm>
          <a:prstGeom prst="rect">
            <a:avLst/>
          </a:prstGeom>
          <a:solidFill>
            <a:srgbClr val="E6F6EE"/>
          </a:solidFill>
          <a:ln/>
        </p:spPr>
      </p:sp>
      <p:sp>
        <p:nvSpPr>
          <p:cNvPr id="147" name="Text 14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 of 33 stores grew CP parts per RO, led by LR Henderson at +$95 to $926. 9 declined; LR Reno fell most at −$62.</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 The Roundtable target is 78% to 80%.</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Roundtable example</a:t>
            </a:r>
            <a:endParaRPr lang="en-US" sz="1400" dirty="0"/>
          </a:p>
        </p:txBody>
      </p:sp>
      <p:sp>
        <p:nvSpPr>
          <p:cNvPr id="9" name="Shape 7"/>
          <p:cNvSpPr/>
          <p:nvPr/>
        </p:nvSpPr>
        <p:spPr>
          <a:xfrm>
            <a:off x="2286000" y="2340864"/>
            <a:ext cx="1801368"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rotation  </a:t>
            </a:r>
            <a:pPr algn="ctr" indent="0" marL="0">
              <a:buNone/>
            </a:pPr>
            <a:r>
              <a:rPr lang="en-US" sz="1400" b="1" dirty="0">
                <a:solidFill>
                  <a:srgbClr val="0B2C4A"/>
                </a:solidFill>
                <a:latin typeface="Inter" pitchFamily="34" charset="0"/>
                <a:ea typeface="Inter" pitchFamily="34" charset="-122"/>
                <a:cs typeface="Inter" pitchFamily="34" charset="-120"/>
              </a:rPr>
              <a:t>62.4%</a:t>
            </a:r>
            <a:endParaRPr lang="en-US" sz="1400" dirty="0"/>
          </a:p>
        </p:txBody>
      </p:sp>
      <p:sp>
        <p:nvSpPr>
          <p:cNvPr id="11" name="Shape 9"/>
          <p:cNvSpPr/>
          <p:nvPr/>
        </p:nvSpPr>
        <p:spPr>
          <a:xfrm>
            <a:off x="4197096" y="2340864"/>
            <a:ext cx="1801368" cy="457200"/>
          </a:xfrm>
          <a:prstGeom prst="rect">
            <a:avLst/>
          </a:prstGeom>
          <a:solidFill>
            <a:srgbClr val="FFFFFF"/>
          </a:solidFill>
          <a:ln w="9525">
            <a:solidFill>
              <a:srgbClr val="D9D9D9"/>
            </a:solidFill>
            <a:prstDash val="solid"/>
          </a:ln>
        </p:spPr>
      </p:sp>
      <p:sp>
        <p:nvSpPr>
          <p:cNvPr id="12" name="Text 10"/>
          <p:cNvSpPr txBox="1"/>
          <p:nvPr/>
        </p:nvSpPr>
        <p:spPr>
          <a:xfrm>
            <a:off x="4270248"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Oil change  </a:t>
            </a:r>
            <a:pPr algn="ctr" indent="0" marL="0">
              <a:buNone/>
            </a:pPr>
            <a:r>
              <a:rPr lang="en-US" sz="1400" b="1" dirty="0">
                <a:solidFill>
                  <a:srgbClr val="0B2C4A"/>
                </a:solidFill>
                <a:latin typeface="Inter" pitchFamily="34" charset="0"/>
                <a:ea typeface="Inter" pitchFamily="34" charset="-122"/>
                <a:cs typeface="Inter" pitchFamily="34" charset="-120"/>
              </a:rPr>
              <a:t>68.8%</a:t>
            </a:r>
            <a:endParaRPr lang="en-US" sz="1400" dirty="0"/>
          </a:p>
        </p:txBody>
      </p:sp>
      <p:sp>
        <p:nvSpPr>
          <p:cNvPr id="13" name="Shape 11"/>
          <p:cNvSpPr/>
          <p:nvPr/>
        </p:nvSpPr>
        <p:spPr>
          <a:xfrm>
            <a:off x="6108192" y="2340864"/>
            <a:ext cx="1801368" cy="457200"/>
          </a:xfrm>
          <a:prstGeom prst="rect">
            <a:avLst/>
          </a:prstGeom>
          <a:solidFill>
            <a:srgbClr val="FFFFFF"/>
          </a:solidFill>
          <a:ln w="9525">
            <a:solidFill>
              <a:srgbClr val="D9D9D9"/>
            </a:solidFill>
            <a:prstDash val="solid"/>
          </a:ln>
        </p:spPr>
      </p:sp>
      <p:sp>
        <p:nvSpPr>
          <p:cNvPr id="14" name="Text 12"/>
          <p:cNvSpPr txBox="1"/>
          <p:nvPr/>
        </p:nvSpPr>
        <p:spPr>
          <a:xfrm>
            <a:off x="6181344"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78.7%</a:t>
            </a:r>
            <a:endParaRPr lang="en-US" sz="1400" dirty="0"/>
          </a:p>
        </p:txBody>
      </p:sp>
      <p:sp>
        <p:nvSpPr>
          <p:cNvPr id="15" name="Shape 13"/>
          <p:cNvSpPr/>
          <p:nvPr/>
        </p:nvSpPr>
        <p:spPr>
          <a:xfrm>
            <a:off x="8019288" y="2340864"/>
            <a:ext cx="1801368" cy="457200"/>
          </a:xfrm>
          <a:prstGeom prst="rect">
            <a:avLst/>
          </a:prstGeom>
          <a:solidFill>
            <a:srgbClr val="FFFFFF"/>
          </a:solidFill>
          <a:ln w="9525">
            <a:solidFill>
              <a:srgbClr val="D9D9D9"/>
            </a:solidFill>
            <a:prstDash val="solid"/>
          </a:ln>
        </p:spPr>
      </p:sp>
      <p:sp>
        <p:nvSpPr>
          <p:cNvPr id="16" name="Text 14"/>
          <p:cNvSpPr txBox="1"/>
          <p:nvPr/>
        </p:nvSpPr>
        <p:spPr>
          <a:xfrm>
            <a:off x="8092440"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Steering rack  </a:t>
            </a:r>
            <a:pPr algn="ctr" indent="0" marL="0">
              <a:buNone/>
            </a:pPr>
            <a:r>
              <a:rPr lang="en-US" sz="1400" b="1" dirty="0">
                <a:solidFill>
                  <a:srgbClr val="0B2C4A"/>
                </a:solidFill>
                <a:latin typeface="Inter" pitchFamily="34" charset="0"/>
                <a:ea typeface="Inter" pitchFamily="34" charset="-122"/>
                <a:cs typeface="Inter" pitchFamily="34" charset="-120"/>
              </a:rPr>
              <a:t>84.4%</a:t>
            </a:r>
            <a:endParaRPr lang="en-US" sz="1400" dirty="0"/>
          </a:p>
        </p:txBody>
      </p:sp>
      <p:sp>
        <p:nvSpPr>
          <p:cNvPr id="17" name="Shape 15"/>
          <p:cNvSpPr/>
          <p:nvPr/>
        </p:nvSpPr>
        <p:spPr>
          <a:xfrm>
            <a:off x="9930384" y="2340864"/>
            <a:ext cx="1801368" cy="457200"/>
          </a:xfrm>
          <a:prstGeom prst="rect">
            <a:avLst/>
          </a:prstGeom>
          <a:solidFill>
            <a:srgbClr val="FFFFFF"/>
          </a:solidFill>
          <a:ln w="9525">
            <a:solidFill>
              <a:srgbClr val="D9D9D9"/>
            </a:solidFill>
            <a:prstDash val="solid"/>
          </a:ln>
        </p:spPr>
      </p:sp>
      <p:sp>
        <p:nvSpPr>
          <p:cNvPr id="18" name="Text 16"/>
          <p:cNvSpPr txBox="1"/>
          <p:nvPr/>
        </p:nvSpPr>
        <p:spPr>
          <a:xfrm>
            <a:off x="10003536"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All 7 jobs  </a:t>
            </a:r>
            <a:pPr algn="ctr" indent="0" marL="0">
              <a:buNone/>
            </a:pPr>
            <a:r>
              <a:rPr lang="en-US" sz="1400" b="1" dirty="0">
                <a:solidFill>
                  <a:srgbClr val="0B2C4A"/>
                </a:solidFill>
                <a:latin typeface="Inter" pitchFamily="34" charset="0"/>
                <a:ea typeface="Inter" pitchFamily="34" charset="-122"/>
                <a:cs typeface="Inter" pitchFamily="34" charset="-120"/>
              </a:rPr>
              <a:t>80.8%</a:t>
            </a:r>
            <a:endParaRPr lang="en-US" sz="1400" dirty="0"/>
          </a:p>
        </p:txBody>
      </p:sp>
      <p:sp>
        <p:nvSpPr>
          <p:cNvPr id="19" name="Shape 17"/>
          <p:cNvSpPr/>
          <p:nvPr/>
        </p:nvSpPr>
        <p:spPr>
          <a:xfrm>
            <a:off x="457200" y="2907792"/>
            <a:ext cx="4343400" cy="3081528"/>
          </a:xfrm>
          <a:prstGeom prst="rect">
            <a:avLst/>
          </a:prstGeom>
          <a:solidFill>
            <a:srgbClr val="FFFFFF"/>
          </a:solidFill>
          <a:ln/>
        </p:spPr>
      </p:sp>
      <p:sp>
        <p:nvSpPr>
          <p:cNvPr id="20" name="Shape 18"/>
          <p:cNvSpPr/>
          <p:nvPr/>
        </p:nvSpPr>
        <p:spPr>
          <a:xfrm>
            <a:off x="4937760" y="2907792"/>
            <a:ext cx="6793992" cy="3081528"/>
          </a:xfrm>
          <a:prstGeom prst="rect">
            <a:avLst/>
          </a:prstGeom>
          <a:solidFill>
            <a:srgbClr val="FFFFFF"/>
          </a:solidFill>
          <a:ln/>
        </p:spPr>
      </p:sp>
      <p:sp>
        <p:nvSpPr>
          <p:cNvPr id="21" name="Text 19"/>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2" name="Text 20"/>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3" name="Text 21"/>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4" name="Shape 22"/>
          <p:cNvSpPr/>
          <p:nvPr/>
        </p:nvSpPr>
        <p:spPr>
          <a:xfrm>
            <a:off x="5138928" y="3410712"/>
            <a:ext cx="45720" cy="1133856"/>
          </a:xfrm>
          <a:prstGeom prst="rect">
            <a:avLst/>
          </a:prstGeom>
          <a:solidFill>
            <a:srgbClr val="2587C5"/>
          </a:solidFill>
          <a:ln/>
        </p:spPr>
      </p:sp>
      <p:sp>
        <p:nvSpPr>
          <p:cNvPr id="25" name="Text 23"/>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6" name="Shape 24"/>
          <p:cNvSpPr/>
          <p:nvPr/>
        </p:nvSpPr>
        <p:spPr>
          <a:xfrm>
            <a:off x="7309104" y="3410712"/>
            <a:ext cx="45720" cy="1133856"/>
          </a:xfrm>
          <a:prstGeom prst="rect">
            <a:avLst/>
          </a:prstGeom>
          <a:solidFill>
            <a:srgbClr val="2587C5"/>
          </a:solidFill>
          <a:ln/>
        </p:spPr>
      </p:sp>
      <p:sp>
        <p:nvSpPr>
          <p:cNvPr id="27" name="Text 25"/>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8" name="Shape 26"/>
          <p:cNvSpPr/>
          <p:nvPr/>
        </p:nvSpPr>
        <p:spPr>
          <a:xfrm>
            <a:off x="9479280" y="3410712"/>
            <a:ext cx="45720" cy="1133856"/>
          </a:xfrm>
          <a:prstGeom prst="rect">
            <a:avLst/>
          </a:prstGeom>
          <a:solidFill>
            <a:srgbClr val="2587C5"/>
          </a:solidFill>
          <a:ln/>
        </p:spPr>
      </p:sp>
      <p:sp>
        <p:nvSpPr>
          <p:cNvPr id="29" name="Text 27"/>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30" name="Shape 28"/>
          <p:cNvSpPr/>
          <p:nvPr/>
        </p:nvSpPr>
        <p:spPr>
          <a:xfrm>
            <a:off x="5138928" y="4654296"/>
            <a:ext cx="45720" cy="1133856"/>
          </a:xfrm>
          <a:prstGeom prst="rect">
            <a:avLst/>
          </a:prstGeom>
          <a:solidFill>
            <a:srgbClr val="2587C5"/>
          </a:solidFill>
          <a:ln/>
        </p:spPr>
      </p:sp>
      <p:sp>
        <p:nvSpPr>
          <p:cNvPr id="31" name="Text 29"/>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2" name="Shape 30"/>
          <p:cNvSpPr/>
          <p:nvPr/>
        </p:nvSpPr>
        <p:spPr>
          <a:xfrm>
            <a:off x="7309104" y="4654296"/>
            <a:ext cx="45720" cy="1133856"/>
          </a:xfrm>
          <a:prstGeom prst="rect">
            <a:avLst/>
          </a:prstGeom>
          <a:solidFill>
            <a:srgbClr val="2587C5"/>
          </a:solidFill>
          <a:ln/>
        </p:spPr>
      </p:sp>
      <p:sp>
        <p:nvSpPr>
          <p:cNvPr id="33" name="Text 31"/>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182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74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77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275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5795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589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16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560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41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156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819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535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208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40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43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166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31272"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8561" y="2631546"/>
            <a:ext cx="1746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2447" y="2871442"/>
            <a:ext cx="2357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55154" y="3111337"/>
            <a:ext cx="808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9288" y="3351233"/>
            <a:ext cx="96736"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4185" y="3591128"/>
            <a:ext cx="1018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69807" y="3831024"/>
            <a:ext cx="16621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2399" y="4070920"/>
            <a:ext cx="24362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7340" y="4310815"/>
            <a:ext cx="2786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3690" y="4550711"/>
            <a:ext cx="29233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3753" y="4790606"/>
            <a:ext cx="41227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856" y="5030502"/>
            <a:ext cx="46716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3092" y="5270397"/>
            <a:ext cx="49293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2645" y="5510293"/>
            <a:ext cx="58337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led by Mazda at +10.8 pts to 56.6%. 14 declined; LR Reno fell most at −8.1 pts.</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$129.84</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$207.05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$205.15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$187.89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$165.81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$163.35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$158.93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$154.86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$151.53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$139.36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$136.90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$127.41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$124.45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$117.18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$109.22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$104.89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$102.65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$87.21</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21 of 33 stores at or above the $129.84 group, led by LR Reno at $207.05. Nissan is lowest at $87.21.</a:t>
            </a:r>
            <a:endParaRPr lang="en-US" sz="155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+$3.75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 name="Shape 11"/>
          <p:cNvSpPr/>
          <p:nvPr/>
        </p:nvSpPr>
        <p:spPr>
          <a:xfrm>
            <a:off x="3785616" y="1911860"/>
            <a:ext cx="60083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+$46.71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 name="Shape 15"/>
          <p:cNvSpPr/>
          <p:nvPr/>
        </p:nvSpPr>
        <p:spPr>
          <a:xfrm>
            <a:off x="3785616" y="2151755"/>
            <a:ext cx="5092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+$39.59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34878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5" name="Shape 23"/>
          <p:cNvSpPr/>
          <p:nvPr/>
        </p:nvSpPr>
        <p:spPr>
          <a:xfrm>
            <a:off x="3785616" y="2631546"/>
            <a:ext cx="26770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22436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3785616" y="3111337"/>
            <a:ext cx="16313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7" name="Shape 35"/>
          <p:cNvSpPr/>
          <p:nvPr/>
        </p:nvSpPr>
        <p:spPr>
          <a:xfrm>
            <a:off x="3785616" y="3351233"/>
            <a:ext cx="1598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483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14315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8225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807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785616" y="4550711"/>
            <a:ext cx="7359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785616" y="4790606"/>
            <a:ext cx="7034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3785616" y="5030502"/>
            <a:ext cx="661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3785616" y="5270397"/>
            <a:ext cx="580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4914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4822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46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9336024" y="2151755"/>
            <a:ext cx="2496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4019"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17348" y="2871442"/>
            <a:ext cx="18676"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9313515" y="3111337"/>
            <a:ext cx="2250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278246" y="3351233"/>
            <a:ext cx="5777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73152" y="3591128"/>
            <a:ext cx="6287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842" y="3831024"/>
            <a:ext cx="7818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−$6.08</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253717" y="4070920"/>
            <a:ext cx="8230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3894" y="4310815"/>
            <a:ext cx="132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07808" y="4550711"/>
            <a:ext cx="228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069070" y="4790606"/>
            <a:ext cx="266954"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−$20.75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916687" y="5030502"/>
            <a:ext cx="4193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809839" y="5270397"/>
            <a:ext cx="5261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−$40.91</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−$60.43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+$46.71 to $205.15. 13 declined; Kia LV fell most at −$60.43.</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Unclassified Customer-Pay Labor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7985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UNCLASSIFIED CUSTOMER-PAY LABOR</a:t>
            </a:r>
            <a:endParaRPr lang="en-US" sz="1500" dirty="0"/>
          </a:p>
        </p:txBody>
      </p:sp>
      <p:sp>
        <p:nvSpPr>
          <p:cNvPr id="9" name="Text 7"/>
          <p:cNvSpPr txBox="1"/>
          <p:nvPr/>
        </p:nvSpPr>
        <p:spPr>
          <a:xfrm>
            <a:off x="4712970" y="1335024"/>
            <a:ext cx="333375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15.2%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11888"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 name="Shape 15"/>
          <p:cNvSpPr/>
          <p:nvPr/>
        </p:nvSpPr>
        <p:spPr>
          <a:xfrm>
            <a:off x="3008376" y="2146957"/>
            <a:ext cx="12254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008376" y="2386853"/>
            <a:ext cx="1465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008376" y="2626748"/>
            <a:ext cx="19447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008376" y="2866644"/>
            <a:ext cx="20512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008376" y="3106540"/>
            <a:ext cx="21578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23976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245088"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253080"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26640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29037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7" name="Shape 55"/>
          <p:cNvSpPr/>
          <p:nvPr/>
        </p:nvSpPr>
        <p:spPr>
          <a:xfrm>
            <a:off x="3008376" y="4545913"/>
            <a:ext cx="29570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08376" y="4785808"/>
            <a:ext cx="33033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5" name="Shape 63"/>
          <p:cNvSpPr/>
          <p:nvPr/>
        </p:nvSpPr>
        <p:spPr>
          <a:xfrm>
            <a:off x="3008376" y="5025704"/>
            <a:ext cx="33566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008376" y="5265599"/>
            <a:ext cx="362304"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08376" y="5505495"/>
            <a:ext cx="383616"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38361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394272"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40759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47685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3" name="Shape 91"/>
          <p:cNvSpPr/>
          <p:nvPr/>
        </p:nvSpPr>
        <p:spPr>
          <a:xfrm>
            <a:off x="8558784" y="2626748"/>
            <a:ext cx="5141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51415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62604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67399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58784" y="3586331"/>
            <a:ext cx="7192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3" name="Shape 111"/>
          <p:cNvSpPr/>
          <p:nvPr/>
        </p:nvSpPr>
        <p:spPr>
          <a:xfrm>
            <a:off x="8558784" y="3826226"/>
            <a:ext cx="72194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91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77256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1498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104695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12014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8558784" y="5265599"/>
            <a:ext cx="13799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558784" y="5505495"/>
            <a:ext cx="169164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63.5%</a:t>
            </a:r>
            <a:endParaRPr lang="en-US" sz="1200" dirty="0"/>
          </a:p>
        </p:txBody>
      </p:sp>
      <p:sp>
        <p:nvSpPr>
          <p:cNvPr id="143" name="Shape 141"/>
          <p:cNvSpPr/>
          <p:nvPr/>
        </p:nvSpPr>
        <p:spPr>
          <a:xfrm>
            <a:off x="3405989" y="1847088"/>
            <a:ext cx="14630" cy="4078224"/>
          </a:xfrm>
          <a:prstGeom prst="rect">
            <a:avLst/>
          </a:prstGeom>
          <a:solidFill>
            <a:srgbClr val="0B2C4A"/>
          </a:solidFill>
          <a:ln/>
        </p:spPr>
      </p:sp>
      <p:sp>
        <p:nvSpPr>
          <p:cNvPr id="144" name="Shape 142"/>
          <p:cNvSpPr/>
          <p:nvPr/>
        </p:nvSpPr>
        <p:spPr>
          <a:xfrm>
            <a:off x="895639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GMC Prescott can't classify 63.5% of its customer-pay labor from the description; Honda Henderson only 4.2%. Vague op code descriptions hide what the shop sells.</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15.2%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labor whose op code description can't be classified, down from 19.0%.</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4.2% to 63.5%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range across stores. Vague descriptions hide what the shop sells.</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21.1% → 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12.6% → 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 → 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18.3% → 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 → 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10.1% → 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10.8% → 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0.7% → 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5.3% → 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9.7% → 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5.2% → 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0.5% → 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 → 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8.3% → 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8.1% → 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 → 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 → 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 → 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6.7% → 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0.0% → 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2,490</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 name="Shape 16"/>
          <p:cNvSpPr/>
          <p:nvPr/>
        </p:nvSpPr>
        <p:spPr>
          <a:xfrm>
            <a:off x="2670048" y="2098865"/>
            <a:ext cx="350494"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 name="Shape 21"/>
          <p:cNvSpPr/>
          <p:nvPr/>
        </p:nvSpPr>
        <p:spPr>
          <a:xfrm>
            <a:off x="2670048" y="2423828"/>
            <a:ext cx="323881"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8" name="Shape 26"/>
          <p:cNvSpPr/>
          <p:nvPr/>
        </p:nvSpPr>
        <p:spPr>
          <a:xfrm>
            <a:off x="2670048" y="2748792"/>
            <a:ext cx="299199"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073756"/>
            <a:ext cx="294028"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556</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398719"/>
            <a:ext cx="222710"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770</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723683"/>
            <a:ext cx="192423"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478</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048647"/>
            <a:ext cx="148892"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365</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4373610"/>
            <a:ext cx="141539"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4698574"/>
            <a:ext cx="133799"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5023538"/>
            <a:ext cx="129160"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326</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8" name="Shape 66"/>
          <p:cNvSpPr/>
          <p:nvPr/>
        </p:nvSpPr>
        <p:spPr>
          <a:xfrm>
            <a:off x="2670048" y="5348501"/>
            <a:ext cx="12719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3" name="Shape 71"/>
          <p:cNvSpPr/>
          <p:nvPr/>
        </p:nvSpPr>
        <p:spPr>
          <a:xfrm>
            <a:off x="2670048" y="5673465"/>
            <a:ext cx="10248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8220456" y="1773901"/>
            <a:ext cx="98792"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8220456" y="2098865"/>
            <a:ext cx="9135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8220456" y="2423828"/>
            <a:ext cx="88193"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291</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3" name="Shape 91"/>
          <p:cNvSpPr/>
          <p:nvPr/>
        </p:nvSpPr>
        <p:spPr>
          <a:xfrm>
            <a:off x="8220456" y="2748792"/>
            <a:ext cx="81609"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3073756"/>
            <a:ext cx="69229"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8220456" y="3398719"/>
            <a:ext cx="47082"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8220456" y="3723683"/>
            <a:ext cx="44786"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3" name="Shape 111"/>
          <p:cNvSpPr/>
          <p:nvPr/>
        </p:nvSpPr>
        <p:spPr>
          <a:xfrm>
            <a:off x="8220456" y="4048647"/>
            <a:ext cx="40558"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8" name="Shape 116"/>
          <p:cNvSpPr/>
          <p:nvPr/>
        </p:nvSpPr>
        <p:spPr>
          <a:xfrm>
            <a:off x="8220456" y="4373610"/>
            <a:ext cx="38064"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3" name="Shape 121"/>
          <p:cNvSpPr/>
          <p:nvPr/>
        </p:nvSpPr>
        <p:spPr>
          <a:xfrm>
            <a:off x="8220456" y="4698574"/>
            <a:ext cx="35579"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8" name="Shape 126"/>
          <p:cNvSpPr/>
          <p:nvPr/>
        </p:nvSpPr>
        <p:spPr>
          <a:xfrm>
            <a:off x="8220456" y="5023538"/>
            <a:ext cx="28280"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3" name="Shape 131"/>
          <p:cNvSpPr/>
          <p:nvPr/>
        </p:nvSpPr>
        <p:spPr>
          <a:xfrm>
            <a:off x="8220456" y="5348501"/>
            <a:ext cx="18288"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37" name="Shape 135"/>
          <p:cNvSpPr/>
          <p:nvPr/>
        </p:nvSpPr>
        <p:spPr>
          <a:xfrm>
            <a:off x="457200" y="6126480"/>
            <a:ext cx="11274552" cy="364236"/>
          </a:xfrm>
          <a:prstGeom prst="rect">
            <a:avLst/>
          </a:prstGeom>
          <a:solidFill>
            <a:srgbClr val="FBEBEA"/>
          </a:solidFill>
          <a:ln/>
        </p:spPr>
      </p:sp>
      <p:sp>
        <p:nvSpPr>
          <p:cNvPr id="138" name="Text 13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25 stores under 15% leave $1,029,276 a year: 9,935 services. Toyota Spokane has the most at $225,288.</a:t>
            </a:r>
            <a:endParaRPr lang="en-US" sz="155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4152"/>
            <a:ext cx="877824" cy="154899"/>
          </a:xfrm>
          <a:prstGeom prst="rect">
            <a:avLst/>
          </a:prstGeom>
          <a:solidFill>
            <a:srgbClr val="C2352F"/>
          </a:solidFill>
          <a:ln/>
        </p:spPr>
      </p:sp>
      <p:sp>
        <p:nvSpPr>
          <p:cNvPr id="14" name="Text 12"/>
          <p:cNvSpPr txBox="1"/>
          <p:nvPr/>
        </p:nvSpPr>
        <p:spPr>
          <a:xfrm>
            <a:off x="3602736"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5" name="Text 13"/>
          <p:cNvSpPr txBox="1"/>
          <p:nvPr/>
        </p:nvSpPr>
        <p:spPr>
          <a:xfrm>
            <a:off x="4425696"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6" name="Text 14"/>
          <p:cNvSpPr txBox="1"/>
          <p:nvPr/>
        </p:nvSpPr>
        <p:spPr>
          <a:xfrm>
            <a:off x="4992624"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3,361</a:t>
            </a:r>
            <a:endParaRPr lang="en-US" sz="1300" dirty="0"/>
          </a:p>
        </p:txBody>
      </p:sp>
      <p:sp>
        <p:nvSpPr>
          <p:cNvPr id="17" name="Text 15"/>
          <p:cNvSpPr txBox="1"/>
          <p:nvPr/>
        </p:nvSpPr>
        <p:spPr>
          <a:xfrm>
            <a:off x="658368"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45787"/>
            <a:ext cx="719796" cy="154899"/>
          </a:xfrm>
          <a:prstGeom prst="rect">
            <a:avLst/>
          </a:prstGeom>
          <a:solidFill>
            <a:srgbClr val="C2352F"/>
          </a:solidFill>
          <a:ln/>
        </p:spPr>
      </p:sp>
      <p:sp>
        <p:nvSpPr>
          <p:cNvPr id="19" name="Text 17"/>
          <p:cNvSpPr txBox="1"/>
          <p:nvPr/>
        </p:nvSpPr>
        <p:spPr>
          <a:xfrm>
            <a:off x="3602736"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20" name="Text 18"/>
          <p:cNvSpPr txBox="1"/>
          <p:nvPr/>
        </p:nvSpPr>
        <p:spPr>
          <a:xfrm>
            <a:off x="4425696"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 name="Text 19"/>
          <p:cNvSpPr txBox="1"/>
          <p:nvPr/>
        </p:nvSpPr>
        <p:spPr>
          <a:xfrm>
            <a:off x="4992624"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2,671</a:t>
            </a:r>
            <a:endParaRPr lang="en-US" sz="1300" dirty="0"/>
          </a:p>
        </p:txBody>
      </p:sp>
      <p:sp>
        <p:nvSpPr>
          <p:cNvPr id="22" name="Text 20"/>
          <p:cNvSpPr txBox="1"/>
          <p:nvPr/>
        </p:nvSpPr>
        <p:spPr>
          <a:xfrm>
            <a:off x="658368"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3" name="Shape 21"/>
          <p:cNvSpPr/>
          <p:nvPr/>
        </p:nvSpPr>
        <p:spPr>
          <a:xfrm>
            <a:off x="2670048" y="2327422"/>
            <a:ext cx="646349" cy="154899"/>
          </a:xfrm>
          <a:prstGeom prst="rect">
            <a:avLst/>
          </a:prstGeom>
          <a:solidFill>
            <a:srgbClr val="C2352F"/>
          </a:solidFill>
          <a:ln/>
        </p:spPr>
      </p:sp>
      <p:sp>
        <p:nvSpPr>
          <p:cNvPr id="24" name="Text 22"/>
          <p:cNvSpPr txBox="1"/>
          <p:nvPr/>
        </p:nvSpPr>
        <p:spPr>
          <a:xfrm>
            <a:off x="3602736"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25" name="Text 23"/>
          <p:cNvSpPr txBox="1"/>
          <p:nvPr/>
        </p:nvSpPr>
        <p:spPr>
          <a:xfrm>
            <a:off x="4425696"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6" name="Text 24"/>
          <p:cNvSpPr txBox="1"/>
          <p:nvPr/>
        </p:nvSpPr>
        <p:spPr>
          <a:xfrm>
            <a:off x="4992624"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1,590</a:t>
            </a:r>
            <a:endParaRPr lang="en-US" sz="1300" dirty="0"/>
          </a:p>
        </p:txBody>
      </p:sp>
      <p:sp>
        <p:nvSpPr>
          <p:cNvPr id="27" name="Text 25"/>
          <p:cNvSpPr txBox="1"/>
          <p:nvPr/>
        </p:nvSpPr>
        <p:spPr>
          <a:xfrm>
            <a:off x="658368"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8" name="Shape 26"/>
          <p:cNvSpPr/>
          <p:nvPr/>
        </p:nvSpPr>
        <p:spPr>
          <a:xfrm>
            <a:off x="2670048" y="2609058"/>
            <a:ext cx="610140" cy="154899"/>
          </a:xfrm>
          <a:prstGeom prst="rect">
            <a:avLst/>
          </a:prstGeom>
          <a:solidFill>
            <a:srgbClr val="C2352F"/>
          </a:solidFill>
          <a:ln/>
        </p:spPr>
      </p:sp>
      <p:sp>
        <p:nvSpPr>
          <p:cNvPr id="29" name="Text 27"/>
          <p:cNvSpPr txBox="1"/>
          <p:nvPr/>
        </p:nvSpPr>
        <p:spPr>
          <a:xfrm>
            <a:off x="3602736"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30" name="Text 28"/>
          <p:cNvSpPr txBox="1"/>
          <p:nvPr/>
        </p:nvSpPr>
        <p:spPr>
          <a:xfrm>
            <a:off x="4425696"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31" name="Text 29"/>
          <p:cNvSpPr txBox="1"/>
          <p:nvPr/>
        </p:nvSpPr>
        <p:spPr>
          <a:xfrm>
            <a:off x="4992624"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837</a:t>
            </a:r>
            <a:endParaRPr lang="en-US" sz="1300" dirty="0"/>
          </a:p>
        </p:txBody>
      </p:sp>
      <p:sp>
        <p:nvSpPr>
          <p:cNvPr id="32" name="Text 30"/>
          <p:cNvSpPr txBox="1"/>
          <p:nvPr/>
        </p:nvSpPr>
        <p:spPr>
          <a:xfrm>
            <a:off x="658368"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3" name="Shape 31"/>
          <p:cNvSpPr/>
          <p:nvPr/>
        </p:nvSpPr>
        <p:spPr>
          <a:xfrm>
            <a:off x="2670048" y="2890693"/>
            <a:ext cx="532718" cy="154899"/>
          </a:xfrm>
          <a:prstGeom prst="rect">
            <a:avLst/>
          </a:prstGeom>
          <a:solidFill>
            <a:srgbClr val="C2352F"/>
          </a:solidFill>
          <a:ln/>
        </p:spPr>
      </p:sp>
      <p:sp>
        <p:nvSpPr>
          <p:cNvPr id="34" name="Text 32"/>
          <p:cNvSpPr txBox="1"/>
          <p:nvPr/>
        </p:nvSpPr>
        <p:spPr>
          <a:xfrm>
            <a:off x="3602736"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35" name="Text 33"/>
          <p:cNvSpPr txBox="1"/>
          <p:nvPr/>
        </p:nvSpPr>
        <p:spPr>
          <a:xfrm>
            <a:off x="4425696"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6" name="Text 34"/>
          <p:cNvSpPr txBox="1"/>
          <p:nvPr/>
        </p:nvSpPr>
        <p:spPr>
          <a:xfrm>
            <a:off x="4992624"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2,031</a:t>
            </a:r>
            <a:endParaRPr lang="en-US" sz="1300" dirty="0"/>
          </a:p>
        </p:txBody>
      </p:sp>
      <p:sp>
        <p:nvSpPr>
          <p:cNvPr id="37" name="Text 35"/>
          <p:cNvSpPr txBox="1"/>
          <p:nvPr/>
        </p:nvSpPr>
        <p:spPr>
          <a:xfrm>
            <a:off x="658368"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3172328"/>
            <a:ext cx="519232" cy="154899"/>
          </a:xfrm>
          <a:prstGeom prst="rect">
            <a:avLst/>
          </a:prstGeom>
          <a:solidFill>
            <a:srgbClr val="C2352F"/>
          </a:solidFill>
          <a:ln/>
        </p:spPr>
      </p:sp>
      <p:sp>
        <p:nvSpPr>
          <p:cNvPr id="39" name="Text 37"/>
          <p:cNvSpPr txBox="1"/>
          <p:nvPr/>
        </p:nvSpPr>
        <p:spPr>
          <a:xfrm>
            <a:off x="3602736"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40" name="Text 38"/>
          <p:cNvSpPr txBox="1"/>
          <p:nvPr/>
        </p:nvSpPr>
        <p:spPr>
          <a:xfrm>
            <a:off x="4425696"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41" name="Text 39"/>
          <p:cNvSpPr txBox="1"/>
          <p:nvPr/>
        </p:nvSpPr>
        <p:spPr>
          <a:xfrm>
            <a:off x="4992624"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2,001</a:t>
            </a:r>
            <a:endParaRPr lang="en-US" sz="1300" dirty="0"/>
          </a:p>
        </p:txBody>
      </p:sp>
      <p:sp>
        <p:nvSpPr>
          <p:cNvPr id="42" name="Text 40"/>
          <p:cNvSpPr txBox="1"/>
          <p:nvPr/>
        </p:nvSpPr>
        <p:spPr>
          <a:xfrm>
            <a:off x="658368"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3" name="Shape 41"/>
          <p:cNvSpPr/>
          <p:nvPr/>
        </p:nvSpPr>
        <p:spPr>
          <a:xfrm>
            <a:off x="2670048" y="3453963"/>
            <a:ext cx="391085" cy="154899"/>
          </a:xfrm>
          <a:prstGeom prst="rect">
            <a:avLst/>
          </a:prstGeom>
          <a:solidFill>
            <a:srgbClr val="C2352F"/>
          </a:solidFill>
          <a:ln/>
        </p:spPr>
      </p:sp>
      <p:sp>
        <p:nvSpPr>
          <p:cNvPr id="44" name="Text 42"/>
          <p:cNvSpPr txBox="1"/>
          <p:nvPr/>
        </p:nvSpPr>
        <p:spPr>
          <a:xfrm>
            <a:off x="3602736"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45" name="Text 43"/>
          <p:cNvSpPr txBox="1"/>
          <p:nvPr/>
        </p:nvSpPr>
        <p:spPr>
          <a:xfrm>
            <a:off x="4425696"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46" name="Text 44"/>
          <p:cNvSpPr txBox="1"/>
          <p:nvPr/>
        </p:nvSpPr>
        <p:spPr>
          <a:xfrm>
            <a:off x="4992624"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1,526</a:t>
            </a:r>
            <a:endParaRPr lang="en-US" sz="1300" dirty="0"/>
          </a:p>
        </p:txBody>
      </p:sp>
      <p:sp>
        <p:nvSpPr>
          <p:cNvPr id="47" name="Text 45"/>
          <p:cNvSpPr txBox="1"/>
          <p:nvPr/>
        </p:nvSpPr>
        <p:spPr>
          <a:xfrm>
            <a:off x="658368"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735598"/>
            <a:ext cx="374515" cy="154899"/>
          </a:xfrm>
          <a:prstGeom prst="rect">
            <a:avLst/>
          </a:prstGeom>
          <a:solidFill>
            <a:srgbClr val="C2352F"/>
          </a:solidFill>
          <a:ln/>
        </p:spPr>
      </p:sp>
      <p:sp>
        <p:nvSpPr>
          <p:cNvPr id="49" name="Text 47"/>
          <p:cNvSpPr txBox="1"/>
          <p:nvPr/>
        </p:nvSpPr>
        <p:spPr>
          <a:xfrm>
            <a:off x="3602736"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425696"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1" name="Text 49"/>
          <p:cNvSpPr txBox="1"/>
          <p:nvPr/>
        </p:nvSpPr>
        <p:spPr>
          <a:xfrm>
            <a:off x="4992624"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1,296</a:t>
            </a:r>
            <a:endParaRPr lang="en-US" sz="1300" dirty="0"/>
          </a:p>
        </p:txBody>
      </p:sp>
      <p:sp>
        <p:nvSpPr>
          <p:cNvPr id="52" name="Text 50"/>
          <p:cNvSpPr txBox="1"/>
          <p:nvPr/>
        </p:nvSpPr>
        <p:spPr>
          <a:xfrm>
            <a:off x="658368"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3" name="Shape 51"/>
          <p:cNvSpPr/>
          <p:nvPr/>
        </p:nvSpPr>
        <p:spPr>
          <a:xfrm>
            <a:off x="2670048" y="4017234"/>
            <a:ext cx="358021" cy="154899"/>
          </a:xfrm>
          <a:prstGeom prst="rect">
            <a:avLst/>
          </a:prstGeom>
          <a:solidFill>
            <a:srgbClr val="C2352F"/>
          </a:solidFill>
          <a:ln/>
        </p:spPr>
      </p:sp>
      <p:sp>
        <p:nvSpPr>
          <p:cNvPr id="54" name="Text 52"/>
          <p:cNvSpPr txBox="1"/>
          <p:nvPr/>
        </p:nvSpPr>
        <p:spPr>
          <a:xfrm>
            <a:off x="3602736"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55" name="Text 53"/>
          <p:cNvSpPr txBox="1"/>
          <p:nvPr/>
        </p:nvSpPr>
        <p:spPr>
          <a:xfrm>
            <a:off x="4425696"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56" name="Text 54"/>
          <p:cNvSpPr txBox="1"/>
          <p:nvPr/>
        </p:nvSpPr>
        <p:spPr>
          <a:xfrm>
            <a:off x="4992624"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981</a:t>
            </a:r>
            <a:endParaRPr lang="en-US" sz="1300" dirty="0"/>
          </a:p>
        </p:txBody>
      </p:sp>
      <p:sp>
        <p:nvSpPr>
          <p:cNvPr id="57" name="Text 55"/>
          <p:cNvSpPr txBox="1"/>
          <p:nvPr/>
        </p:nvSpPr>
        <p:spPr>
          <a:xfrm>
            <a:off x="658368"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4298869"/>
            <a:ext cx="350574" cy="154899"/>
          </a:xfrm>
          <a:prstGeom prst="rect">
            <a:avLst/>
          </a:prstGeom>
          <a:solidFill>
            <a:srgbClr val="C2352F"/>
          </a:solidFill>
          <a:ln/>
        </p:spPr>
      </p:sp>
      <p:sp>
        <p:nvSpPr>
          <p:cNvPr id="59" name="Text 57"/>
          <p:cNvSpPr txBox="1"/>
          <p:nvPr/>
        </p:nvSpPr>
        <p:spPr>
          <a:xfrm>
            <a:off x="3602736"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60" name="Text 58"/>
          <p:cNvSpPr txBox="1"/>
          <p:nvPr/>
        </p:nvSpPr>
        <p:spPr>
          <a:xfrm>
            <a:off x="4425696"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1" name="Text 59"/>
          <p:cNvSpPr txBox="1"/>
          <p:nvPr/>
        </p:nvSpPr>
        <p:spPr>
          <a:xfrm>
            <a:off x="4992624"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1,059</a:t>
            </a:r>
            <a:endParaRPr lang="en-US" sz="1300" dirty="0"/>
          </a:p>
        </p:txBody>
      </p:sp>
      <p:sp>
        <p:nvSpPr>
          <p:cNvPr id="62" name="Text 60"/>
          <p:cNvSpPr txBox="1"/>
          <p:nvPr/>
        </p:nvSpPr>
        <p:spPr>
          <a:xfrm>
            <a:off x="658368"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3" name="Shape 61"/>
          <p:cNvSpPr/>
          <p:nvPr/>
        </p:nvSpPr>
        <p:spPr>
          <a:xfrm>
            <a:off x="2670048" y="4580504"/>
            <a:ext cx="331353" cy="154899"/>
          </a:xfrm>
          <a:prstGeom prst="rect">
            <a:avLst/>
          </a:prstGeom>
          <a:solidFill>
            <a:srgbClr val="C2352F"/>
          </a:solidFill>
          <a:ln/>
        </p:spPr>
      </p:sp>
      <p:sp>
        <p:nvSpPr>
          <p:cNvPr id="64" name="Text 62"/>
          <p:cNvSpPr txBox="1"/>
          <p:nvPr/>
        </p:nvSpPr>
        <p:spPr>
          <a:xfrm>
            <a:off x="3602736"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65" name="Text 63"/>
          <p:cNvSpPr txBox="1"/>
          <p:nvPr/>
        </p:nvSpPr>
        <p:spPr>
          <a:xfrm>
            <a:off x="4425696"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66" name="Text 64"/>
          <p:cNvSpPr txBox="1"/>
          <p:nvPr/>
        </p:nvSpPr>
        <p:spPr>
          <a:xfrm>
            <a:off x="4992624"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67" name="Text 65"/>
          <p:cNvSpPr txBox="1"/>
          <p:nvPr/>
        </p:nvSpPr>
        <p:spPr>
          <a:xfrm>
            <a:off x="658368"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2670048" y="4862139"/>
            <a:ext cx="331235" cy="154899"/>
          </a:xfrm>
          <a:prstGeom prst="rect">
            <a:avLst/>
          </a:prstGeom>
          <a:solidFill>
            <a:srgbClr val="C2352F"/>
          </a:solidFill>
          <a:ln/>
        </p:spPr>
      </p:sp>
      <p:sp>
        <p:nvSpPr>
          <p:cNvPr id="69" name="Text 67"/>
          <p:cNvSpPr txBox="1"/>
          <p:nvPr/>
        </p:nvSpPr>
        <p:spPr>
          <a:xfrm>
            <a:off x="3602736"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70" name="Text 68"/>
          <p:cNvSpPr txBox="1"/>
          <p:nvPr/>
        </p:nvSpPr>
        <p:spPr>
          <a:xfrm>
            <a:off x="4425696"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71" name="Text 69"/>
          <p:cNvSpPr txBox="1"/>
          <p:nvPr/>
        </p:nvSpPr>
        <p:spPr>
          <a:xfrm>
            <a:off x="4992624"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72" name="Text 70"/>
          <p:cNvSpPr txBox="1"/>
          <p:nvPr/>
        </p:nvSpPr>
        <p:spPr>
          <a:xfrm>
            <a:off x="658368"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5143774"/>
            <a:ext cx="274901" cy="154899"/>
          </a:xfrm>
          <a:prstGeom prst="rect">
            <a:avLst/>
          </a:prstGeom>
          <a:solidFill>
            <a:srgbClr val="C2352F"/>
          </a:solidFill>
          <a:ln/>
        </p:spPr>
      </p:sp>
      <p:sp>
        <p:nvSpPr>
          <p:cNvPr id="74" name="Text 72"/>
          <p:cNvSpPr txBox="1"/>
          <p:nvPr/>
        </p:nvSpPr>
        <p:spPr>
          <a:xfrm>
            <a:off x="3602736"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754</a:t>
            </a:r>
            <a:endParaRPr lang="en-US" sz="1300" dirty="0"/>
          </a:p>
        </p:txBody>
      </p:sp>
      <p:sp>
        <p:nvSpPr>
          <p:cNvPr id="77" name="Text 75"/>
          <p:cNvSpPr txBox="1"/>
          <p:nvPr/>
        </p:nvSpPr>
        <p:spPr>
          <a:xfrm>
            <a:off x="658368"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2670048" y="5425410"/>
            <a:ext cx="253573" cy="154899"/>
          </a:xfrm>
          <a:prstGeom prst="rect">
            <a:avLst/>
          </a:prstGeom>
          <a:solidFill>
            <a:srgbClr val="C2352F"/>
          </a:solidFill>
          <a:ln/>
        </p:spPr>
      </p:sp>
      <p:sp>
        <p:nvSpPr>
          <p:cNvPr id="79" name="Text 77"/>
          <p:cNvSpPr txBox="1"/>
          <p:nvPr/>
        </p:nvSpPr>
        <p:spPr>
          <a:xfrm>
            <a:off x="3602736"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0" name="Text 78"/>
          <p:cNvSpPr txBox="1"/>
          <p:nvPr/>
        </p:nvSpPr>
        <p:spPr>
          <a:xfrm>
            <a:off x="4425696"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81" name="Text 79"/>
          <p:cNvSpPr txBox="1"/>
          <p:nvPr/>
        </p:nvSpPr>
        <p:spPr>
          <a:xfrm>
            <a:off x="4992624"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696</a:t>
            </a:r>
            <a:endParaRPr lang="en-US" sz="1300" dirty="0"/>
          </a:p>
        </p:txBody>
      </p:sp>
      <p:sp>
        <p:nvSpPr>
          <p:cNvPr id="82" name="Text 80"/>
          <p:cNvSpPr txBox="1"/>
          <p:nvPr/>
        </p:nvSpPr>
        <p:spPr>
          <a:xfrm>
            <a:off x="658368" y="5643677"/>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3" name="Shape 81"/>
          <p:cNvSpPr/>
          <p:nvPr/>
        </p:nvSpPr>
        <p:spPr>
          <a:xfrm>
            <a:off x="2670048" y="5707045"/>
            <a:ext cx="252810" cy="154899"/>
          </a:xfrm>
          <a:prstGeom prst="rect">
            <a:avLst/>
          </a:prstGeom>
          <a:solidFill>
            <a:srgbClr val="C2352F"/>
          </a:solidFill>
          <a:ln/>
        </p:spPr>
      </p:sp>
      <p:sp>
        <p:nvSpPr>
          <p:cNvPr id="84" name="Text 82"/>
          <p:cNvSpPr txBox="1"/>
          <p:nvPr/>
        </p:nvSpPr>
        <p:spPr>
          <a:xfrm>
            <a:off x="3602736" y="5643677"/>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5" name="Text 83"/>
          <p:cNvSpPr txBox="1"/>
          <p:nvPr/>
        </p:nvSpPr>
        <p:spPr>
          <a:xfrm>
            <a:off x="4425696" y="5643677"/>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86" name="Text 84"/>
          <p:cNvSpPr txBox="1"/>
          <p:nvPr/>
        </p:nvSpPr>
        <p:spPr>
          <a:xfrm>
            <a:off x="4992624" y="5643677"/>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735</a:t>
            </a:r>
            <a:endParaRPr lang="en-US" sz="1300" dirty="0"/>
          </a:p>
        </p:txBody>
      </p:sp>
      <p:sp>
        <p:nvSpPr>
          <p:cNvPr id="87" name="Text 85"/>
          <p:cNvSpPr txBox="1"/>
          <p:nvPr/>
        </p:nvSpPr>
        <p:spPr>
          <a:xfrm>
            <a:off x="6208776"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8" name="Shape 86"/>
          <p:cNvSpPr/>
          <p:nvPr/>
        </p:nvSpPr>
        <p:spPr>
          <a:xfrm>
            <a:off x="8220456" y="1764152"/>
            <a:ext cx="186928" cy="154899"/>
          </a:xfrm>
          <a:prstGeom prst="rect">
            <a:avLst/>
          </a:prstGeom>
          <a:solidFill>
            <a:srgbClr val="C2352F"/>
          </a:solidFill>
          <a:ln/>
        </p:spPr>
      </p:sp>
      <p:sp>
        <p:nvSpPr>
          <p:cNvPr id="89" name="Text 87"/>
          <p:cNvSpPr txBox="1"/>
          <p:nvPr/>
        </p:nvSpPr>
        <p:spPr>
          <a:xfrm>
            <a:off x="9153144"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90" name="Text 88"/>
          <p:cNvSpPr txBox="1"/>
          <p:nvPr/>
        </p:nvSpPr>
        <p:spPr>
          <a:xfrm>
            <a:off x="9976104"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1" name="Text 89"/>
          <p:cNvSpPr txBox="1"/>
          <p:nvPr/>
        </p:nvSpPr>
        <p:spPr>
          <a:xfrm>
            <a:off x="10543032"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92" name="Text 90"/>
          <p:cNvSpPr txBox="1"/>
          <p:nvPr/>
        </p:nvSpPr>
        <p:spPr>
          <a:xfrm>
            <a:off x="6208776"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3" name="Shape 91"/>
          <p:cNvSpPr/>
          <p:nvPr/>
        </p:nvSpPr>
        <p:spPr>
          <a:xfrm>
            <a:off x="8220456" y="2045787"/>
            <a:ext cx="174312" cy="154899"/>
          </a:xfrm>
          <a:prstGeom prst="rect">
            <a:avLst/>
          </a:prstGeom>
          <a:solidFill>
            <a:srgbClr val="C2352F"/>
          </a:solidFill>
          <a:ln/>
        </p:spPr>
      </p:sp>
      <p:sp>
        <p:nvSpPr>
          <p:cNvPr id="94" name="Text 92"/>
          <p:cNvSpPr txBox="1"/>
          <p:nvPr/>
        </p:nvSpPr>
        <p:spPr>
          <a:xfrm>
            <a:off x="9153144"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5" name="Text 93"/>
          <p:cNvSpPr txBox="1"/>
          <p:nvPr/>
        </p:nvSpPr>
        <p:spPr>
          <a:xfrm>
            <a:off x="9976104"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6" name="Text 94"/>
          <p:cNvSpPr txBox="1"/>
          <p:nvPr/>
        </p:nvSpPr>
        <p:spPr>
          <a:xfrm>
            <a:off x="10543032"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a:t>
            </a:r>
            <a:endParaRPr lang="en-US" sz="1300" dirty="0"/>
          </a:p>
        </p:txBody>
      </p:sp>
      <p:sp>
        <p:nvSpPr>
          <p:cNvPr id="97" name="Text 95"/>
          <p:cNvSpPr txBox="1"/>
          <p:nvPr/>
        </p:nvSpPr>
        <p:spPr>
          <a:xfrm>
            <a:off x="6208776"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8" name="Shape 96"/>
          <p:cNvSpPr/>
          <p:nvPr/>
        </p:nvSpPr>
        <p:spPr>
          <a:xfrm>
            <a:off x="8220456" y="2327422"/>
            <a:ext cx="150632" cy="154899"/>
          </a:xfrm>
          <a:prstGeom prst="rect">
            <a:avLst/>
          </a:prstGeom>
          <a:solidFill>
            <a:srgbClr val="C2352F"/>
          </a:solidFill>
          <a:ln/>
        </p:spPr>
      </p:sp>
      <p:sp>
        <p:nvSpPr>
          <p:cNvPr id="99" name="Text 97"/>
          <p:cNvSpPr txBox="1"/>
          <p:nvPr/>
        </p:nvSpPr>
        <p:spPr>
          <a:xfrm>
            <a:off x="9153144"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100" name="Text 98"/>
          <p:cNvSpPr txBox="1"/>
          <p:nvPr/>
        </p:nvSpPr>
        <p:spPr>
          <a:xfrm>
            <a:off x="9976104"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10543032"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467</a:t>
            </a:r>
            <a:endParaRPr lang="en-US" sz="1300" dirty="0"/>
          </a:p>
        </p:txBody>
      </p:sp>
      <p:sp>
        <p:nvSpPr>
          <p:cNvPr id="102" name="Text 100"/>
          <p:cNvSpPr txBox="1"/>
          <p:nvPr/>
        </p:nvSpPr>
        <p:spPr>
          <a:xfrm>
            <a:off x="6208776"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609058"/>
            <a:ext cx="135957" cy="154899"/>
          </a:xfrm>
          <a:prstGeom prst="rect">
            <a:avLst/>
          </a:prstGeom>
          <a:solidFill>
            <a:srgbClr val="C2352F"/>
          </a:solidFill>
          <a:ln/>
        </p:spPr>
      </p:sp>
      <p:sp>
        <p:nvSpPr>
          <p:cNvPr id="104" name="Text 102"/>
          <p:cNvSpPr txBox="1"/>
          <p:nvPr/>
        </p:nvSpPr>
        <p:spPr>
          <a:xfrm>
            <a:off x="9153144"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105" name="Text 103"/>
          <p:cNvSpPr txBox="1"/>
          <p:nvPr/>
        </p:nvSpPr>
        <p:spPr>
          <a:xfrm>
            <a:off x="9976104"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6" name="Text 104"/>
          <p:cNvSpPr txBox="1"/>
          <p:nvPr/>
        </p:nvSpPr>
        <p:spPr>
          <a:xfrm>
            <a:off x="10543032"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373</a:t>
            </a:r>
            <a:endParaRPr lang="en-US" sz="1300" dirty="0"/>
          </a:p>
        </p:txBody>
      </p:sp>
      <p:sp>
        <p:nvSpPr>
          <p:cNvPr id="107" name="Text 105"/>
          <p:cNvSpPr txBox="1"/>
          <p:nvPr/>
        </p:nvSpPr>
        <p:spPr>
          <a:xfrm>
            <a:off x="6208776"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2890693"/>
            <a:ext cx="133724" cy="154899"/>
          </a:xfrm>
          <a:prstGeom prst="rect">
            <a:avLst/>
          </a:prstGeom>
          <a:solidFill>
            <a:srgbClr val="C2352F"/>
          </a:solidFill>
          <a:ln/>
        </p:spPr>
      </p:sp>
      <p:sp>
        <p:nvSpPr>
          <p:cNvPr id="109" name="Text 107"/>
          <p:cNvSpPr txBox="1"/>
          <p:nvPr/>
        </p:nvSpPr>
        <p:spPr>
          <a:xfrm>
            <a:off x="9153144"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0" name="Text 108"/>
          <p:cNvSpPr txBox="1"/>
          <p:nvPr/>
        </p:nvSpPr>
        <p:spPr>
          <a:xfrm>
            <a:off x="9976104"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11" name="Text 109"/>
          <p:cNvSpPr txBox="1"/>
          <p:nvPr/>
        </p:nvSpPr>
        <p:spPr>
          <a:xfrm>
            <a:off x="10543032"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112" name="Text 110"/>
          <p:cNvSpPr txBox="1"/>
          <p:nvPr/>
        </p:nvSpPr>
        <p:spPr>
          <a:xfrm>
            <a:off x="6208776"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3172328"/>
            <a:ext cx="131190" cy="154899"/>
          </a:xfrm>
          <a:prstGeom prst="rect">
            <a:avLst/>
          </a:prstGeom>
          <a:solidFill>
            <a:srgbClr val="C2352F"/>
          </a:solidFill>
          <a:ln/>
        </p:spPr>
      </p:sp>
      <p:sp>
        <p:nvSpPr>
          <p:cNvPr id="114" name="Text 112"/>
          <p:cNvSpPr txBox="1"/>
          <p:nvPr/>
        </p:nvSpPr>
        <p:spPr>
          <a:xfrm>
            <a:off x="9153144"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5" name="Text 113"/>
          <p:cNvSpPr txBox="1"/>
          <p:nvPr/>
        </p:nvSpPr>
        <p:spPr>
          <a:xfrm>
            <a:off x="9976104"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16" name="Text 114"/>
          <p:cNvSpPr txBox="1"/>
          <p:nvPr/>
        </p:nvSpPr>
        <p:spPr>
          <a:xfrm>
            <a:off x="10543032"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17" name="Text 115"/>
          <p:cNvSpPr txBox="1"/>
          <p:nvPr/>
        </p:nvSpPr>
        <p:spPr>
          <a:xfrm>
            <a:off x="6208776"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8" name="Shape 116"/>
          <p:cNvSpPr/>
          <p:nvPr/>
        </p:nvSpPr>
        <p:spPr>
          <a:xfrm>
            <a:off x="8220456" y="3453963"/>
            <a:ext cx="101915" cy="154899"/>
          </a:xfrm>
          <a:prstGeom prst="rect">
            <a:avLst/>
          </a:prstGeom>
          <a:solidFill>
            <a:srgbClr val="C2352F"/>
          </a:solidFill>
          <a:ln/>
        </p:spPr>
      </p:sp>
      <p:sp>
        <p:nvSpPr>
          <p:cNvPr id="119" name="Text 117"/>
          <p:cNvSpPr txBox="1"/>
          <p:nvPr/>
        </p:nvSpPr>
        <p:spPr>
          <a:xfrm>
            <a:off x="9153144"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20" name="Text 118"/>
          <p:cNvSpPr txBox="1"/>
          <p:nvPr/>
        </p:nvSpPr>
        <p:spPr>
          <a:xfrm>
            <a:off x="9976104"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121" name="Text 119"/>
          <p:cNvSpPr txBox="1"/>
          <p:nvPr/>
        </p:nvSpPr>
        <p:spPr>
          <a:xfrm>
            <a:off x="10543032"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496</a:t>
            </a:r>
            <a:endParaRPr lang="en-US" sz="1300" dirty="0"/>
          </a:p>
        </p:txBody>
      </p:sp>
      <p:sp>
        <p:nvSpPr>
          <p:cNvPr id="122" name="Text 120"/>
          <p:cNvSpPr txBox="1"/>
          <p:nvPr/>
        </p:nvSpPr>
        <p:spPr>
          <a:xfrm>
            <a:off x="6208776"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3" name="Shape 121"/>
          <p:cNvSpPr/>
          <p:nvPr/>
        </p:nvSpPr>
        <p:spPr>
          <a:xfrm>
            <a:off x="8220456" y="3735598"/>
            <a:ext cx="89733" cy="154899"/>
          </a:xfrm>
          <a:prstGeom prst="rect">
            <a:avLst/>
          </a:prstGeom>
          <a:solidFill>
            <a:srgbClr val="C2352F"/>
          </a:solidFill>
          <a:ln/>
        </p:spPr>
      </p:sp>
      <p:sp>
        <p:nvSpPr>
          <p:cNvPr id="124" name="Text 122"/>
          <p:cNvSpPr txBox="1"/>
          <p:nvPr/>
        </p:nvSpPr>
        <p:spPr>
          <a:xfrm>
            <a:off x="9153144"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6" name="Text 124"/>
          <p:cNvSpPr txBox="1"/>
          <p:nvPr/>
        </p:nvSpPr>
        <p:spPr>
          <a:xfrm>
            <a:off x="10543032"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127" name="Text 125"/>
          <p:cNvSpPr txBox="1"/>
          <p:nvPr/>
        </p:nvSpPr>
        <p:spPr>
          <a:xfrm>
            <a:off x="6208776"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8" name="Shape 126"/>
          <p:cNvSpPr/>
          <p:nvPr/>
        </p:nvSpPr>
        <p:spPr>
          <a:xfrm>
            <a:off x="8220456" y="4017234"/>
            <a:ext cx="69731" cy="154899"/>
          </a:xfrm>
          <a:prstGeom prst="rect">
            <a:avLst/>
          </a:prstGeom>
          <a:solidFill>
            <a:srgbClr val="C2352F"/>
          </a:solidFill>
          <a:ln/>
        </p:spPr>
      </p:sp>
      <p:sp>
        <p:nvSpPr>
          <p:cNvPr id="129" name="Text 127"/>
          <p:cNvSpPr txBox="1"/>
          <p:nvPr/>
        </p:nvSpPr>
        <p:spPr>
          <a:xfrm>
            <a:off x="9153144"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130" name="Text 128"/>
          <p:cNvSpPr txBox="1"/>
          <p:nvPr/>
        </p:nvSpPr>
        <p:spPr>
          <a:xfrm>
            <a:off x="9976104"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31" name="Text 129"/>
          <p:cNvSpPr txBox="1"/>
          <p:nvPr/>
        </p:nvSpPr>
        <p:spPr>
          <a:xfrm>
            <a:off x="10543032"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a:t>
            </a:r>
            <a:endParaRPr lang="en-US" sz="1300" dirty="0"/>
          </a:p>
        </p:txBody>
      </p:sp>
      <p:sp>
        <p:nvSpPr>
          <p:cNvPr id="132" name="Text 130"/>
          <p:cNvSpPr txBox="1"/>
          <p:nvPr/>
        </p:nvSpPr>
        <p:spPr>
          <a:xfrm>
            <a:off x="6208776"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4298869"/>
            <a:ext cx="53100" cy="154899"/>
          </a:xfrm>
          <a:prstGeom prst="rect">
            <a:avLst/>
          </a:prstGeom>
          <a:solidFill>
            <a:srgbClr val="C2352F"/>
          </a:solidFill>
          <a:ln/>
        </p:spPr>
      </p:sp>
      <p:sp>
        <p:nvSpPr>
          <p:cNvPr id="134" name="Text 132"/>
          <p:cNvSpPr txBox="1"/>
          <p:nvPr/>
        </p:nvSpPr>
        <p:spPr>
          <a:xfrm>
            <a:off x="9153144"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35" name="Text 133"/>
          <p:cNvSpPr txBox="1"/>
          <p:nvPr/>
        </p:nvSpPr>
        <p:spPr>
          <a:xfrm>
            <a:off x="9976104"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36" name="Text 134"/>
          <p:cNvSpPr txBox="1"/>
          <p:nvPr/>
        </p:nvSpPr>
        <p:spPr>
          <a:xfrm>
            <a:off x="10543032"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7" name="Text 135"/>
          <p:cNvSpPr txBox="1"/>
          <p:nvPr/>
        </p:nvSpPr>
        <p:spPr>
          <a:xfrm>
            <a:off x="6208776"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8" name="Shape 136"/>
          <p:cNvSpPr/>
          <p:nvPr/>
        </p:nvSpPr>
        <p:spPr>
          <a:xfrm>
            <a:off x="8220456" y="4580504"/>
            <a:ext cx="36692" cy="154899"/>
          </a:xfrm>
          <a:prstGeom prst="rect">
            <a:avLst/>
          </a:prstGeom>
          <a:solidFill>
            <a:srgbClr val="C2352F"/>
          </a:solidFill>
          <a:ln/>
        </p:spPr>
      </p:sp>
      <p:sp>
        <p:nvSpPr>
          <p:cNvPr id="139" name="Text 137"/>
          <p:cNvSpPr txBox="1"/>
          <p:nvPr/>
        </p:nvSpPr>
        <p:spPr>
          <a:xfrm>
            <a:off x="9153144"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40" name="Text 138"/>
          <p:cNvSpPr txBox="1"/>
          <p:nvPr/>
        </p:nvSpPr>
        <p:spPr>
          <a:xfrm>
            <a:off x="9976104"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41" name="Text 139"/>
          <p:cNvSpPr txBox="1"/>
          <p:nvPr/>
        </p:nvSpPr>
        <p:spPr>
          <a:xfrm>
            <a:off x="10543032"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3" name="Shape 141"/>
          <p:cNvSpPr/>
          <p:nvPr/>
        </p:nvSpPr>
        <p:spPr>
          <a:xfrm>
            <a:off x="8220456" y="4862139"/>
            <a:ext cx="28663" cy="154899"/>
          </a:xfrm>
          <a:prstGeom prst="rect">
            <a:avLst/>
          </a:prstGeom>
          <a:solidFill>
            <a:srgbClr val="C2352F"/>
          </a:solidFill>
          <a:ln/>
        </p:spPr>
      </p:sp>
      <p:sp>
        <p:nvSpPr>
          <p:cNvPr id="144" name="Text 142"/>
          <p:cNvSpPr txBox="1"/>
          <p:nvPr/>
        </p:nvSpPr>
        <p:spPr>
          <a:xfrm>
            <a:off x="9153144"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145" name="Text 143"/>
          <p:cNvSpPr txBox="1"/>
          <p:nvPr/>
        </p:nvSpPr>
        <p:spPr>
          <a:xfrm>
            <a:off x="9976104"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46" name="Text 144"/>
          <p:cNvSpPr txBox="1"/>
          <p:nvPr/>
        </p:nvSpPr>
        <p:spPr>
          <a:xfrm>
            <a:off x="10543032"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47" name="Text 145"/>
          <p:cNvSpPr txBox="1"/>
          <p:nvPr/>
        </p:nvSpPr>
        <p:spPr>
          <a:xfrm>
            <a:off x="6208776"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48" name="Shape 146"/>
          <p:cNvSpPr/>
          <p:nvPr/>
        </p:nvSpPr>
        <p:spPr>
          <a:xfrm>
            <a:off x="8220456" y="5143774"/>
            <a:ext cx="18288" cy="154899"/>
          </a:xfrm>
          <a:prstGeom prst="rect">
            <a:avLst/>
          </a:prstGeom>
          <a:solidFill>
            <a:srgbClr val="C2352F"/>
          </a:solidFill>
          <a:ln/>
        </p:spPr>
      </p:sp>
      <p:sp>
        <p:nvSpPr>
          <p:cNvPr id="149" name="Text 147"/>
          <p:cNvSpPr txBox="1"/>
          <p:nvPr/>
        </p:nvSpPr>
        <p:spPr>
          <a:xfrm>
            <a:off x="9153144"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50" name="Text 148"/>
          <p:cNvSpPr txBox="1"/>
          <p:nvPr/>
        </p:nvSpPr>
        <p:spPr>
          <a:xfrm>
            <a:off x="9976104"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151" name="Text 149"/>
          <p:cNvSpPr txBox="1"/>
          <p:nvPr/>
        </p:nvSpPr>
        <p:spPr>
          <a:xfrm>
            <a:off x="10543032"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52" name="Text 150"/>
          <p:cNvSpPr txBox="1"/>
          <p:nvPr/>
        </p:nvSpPr>
        <p:spPr>
          <a:xfrm>
            <a:off x="6208776"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5425410"/>
            <a:ext cx="18288" cy="154899"/>
          </a:xfrm>
          <a:prstGeom prst="rect">
            <a:avLst/>
          </a:prstGeom>
          <a:solidFill>
            <a:srgbClr val="C2352F"/>
          </a:solidFill>
          <a:ln/>
        </p:spPr>
      </p:sp>
      <p:sp>
        <p:nvSpPr>
          <p:cNvPr id="154" name="Text 152"/>
          <p:cNvSpPr txBox="1"/>
          <p:nvPr/>
        </p:nvSpPr>
        <p:spPr>
          <a:xfrm>
            <a:off x="9153144"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155" name="Text 153"/>
          <p:cNvSpPr txBox="1"/>
          <p:nvPr/>
        </p:nvSpPr>
        <p:spPr>
          <a:xfrm>
            <a:off x="9976104"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156" name="Text 154"/>
          <p:cNvSpPr txBox="1"/>
          <p:nvPr/>
        </p:nvSpPr>
        <p:spPr>
          <a:xfrm>
            <a:off x="10543032"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7" name="Shape 155"/>
          <p:cNvSpPr/>
          <p:nvPr/>
        </p:nvSpPr>
        <p:spPr>
          <a:xfrm>
            <a:off x="457200" y="6126480"/>
            <a:ext cx="11274552" cy="364236"/>
          </a:xfrm>
          <a:prstGeom prst="rect">
            <a:avLst/>
          </a:prstGeom>
          <a:solidFill>
            <a:srgbClr val="FBEBEA"/>
          </a:solidFill>
          <a:ln/>
        </p:spPr>
      </p:sp>
      <p:sp>
        <p:nvSpPr>
          <p:cNvPr id="158" name="Text 15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29 stores under 15% leave $1,664,385 a year: 26,062 services. Toyota Spokane has the most at $179,701.</a:t>
            </a:r>
            <a:endParaRPr lang="en-US" sz="155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87195"/>
            <a:ext cx="877824" cy="211226"/>
          </a:xfrm>
          <a:prstGeom prst="rect">
            <a:avLst/>
          </a:prstGeom>
          <a:solidFill>
            <a:srgbClr val="C2352F"/>
          </a:solidFill>
          <a:ln/>
        </p:spPr>
      </p:sp>
      <p:sp>
        <p:nvSpPr>
          <p:cNvPr id="14" name="Text 12"/>
          <p:cNvSpPr txBox="1"/>
          <p:nvPr/>
        </p:nvSpPr>
        <p:spPr>
          <a:xfrm>
            <a:off x="3602736"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5" name="Text 13"/>
          <p:cNvSpPr txBox="1"/>
          <p:nvPr/>
        </p:nvSpPr>
        <p:spPr>
          <a:xfrm>
            <a:off x="4425696"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6" name="Text 14"/>
          <p:cNvSpPr txBox="1"/>
          <p:nvPr/>
        </p:nvSpPr>
        <p:spPr>
          <a:xfrm>
            <a:off x="4992624"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 name="Shape 16"/>
          <p:cNvSpPr/>
          <p:nvPr/>
        </p:nvSpPr>
        <p:spPr>
          <a:xfrm>
            <a:off x="2670048" y="2171243"/>
            <a:ext cx="465371" cy="211226"/>
          </a:xfrm>
          <a:prstGeom prst="rect">
            <a:avLst/>
          </a:prstGeom>
          <a:solidFill>
            <a:srgbClr val="C2352F"/>
          </a:solidFill>
          <a:ln/>
        </p:spPr>
      </p:sp>
      <p:sp>
        <p:nvSpPr>
          <p:cNvPr id="19" name="Text 17"/>
          <p:cNvSpPr txBox="1"/>
          <p:nvPr/>
        </p:nvSpPr>
        <p:spPr>
          <a:xfrm>
            <a:off x="3602736"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20" name="Text 18"/>
          <p:cNvSpPr txBox="1"/>
          <p:nvPr/>
        </p:nvSpPr>
        <p:spPr>
          <a:xfrm>
            <a:off x="4425696"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 name="Text 19"/>
          <p:cNvSpPr txBox="1"/>
          <p:nvPr/>
        </p:nvSpPr>
        <p:spPr>
          <a:xfrm>
            <a:off x="4992624"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683</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3" name="Shape 21"/>
          <p:cNvSpPr/>
          <p:nvPr/>
        </p:nvSpPr>
        <p:spPr>
          <a:xfrm>
            <a:off x="2670048" y="2555291"/>
            <a:ext cx="453423" cy="211226"/>
          </a:xfrm>
          <a:prstGeom prst="rect">
            <a:avLst/>
          </a:prstGeom>
          <a:solidFill>
            <a:srgbClr val="C2352F"/>
          </a:solidFill>
          <a:ln/>
        </p:spPr>
      </p:sp>
      <p:sp>
        <p:nvSpPr>
          <p:cNvPr id="24" name="Text 22"/>
          <p:cNvSpPr txBox="1"/>
          <p:nvPr/>
        </p:nvSpPr>
        <p:spPr>
          <a:xfrm>
            <a:off x="3602736"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25" name="Text 23"/>
          <p:cNvSpPr txBox="1"/>
          <p:nvPr/>
        </p:nvSpPr>
        <p:spPr>
          <a:xfrm>
            <a:off x="4425696"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4992624"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939339"/>
            <a:ext cx="433190" cy="211226"/>
          </a:xfrm>
          <a:prstGeom prst="rect">
            <a:avLst/>
          </a:prstGeom>
          <a:solidFill>
            <a:srgbClr val="C2352F"/>
          </a:solidFill>
          <a:ln/>
        </p:spPr>
      </p:sp>
      <p:sp>
        <p:nvSpPr>
          <p:cNvPr id="29" name="Text 27"/>
          <p:cNvSpPr txBox="1"/>
          <p:nvPr/>
        </p:nvSpPr>
        <p:spPr>
          <a:xfrm>
            <a:off x="3602736"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30" name="Text 28"/>
          <p:cNvSpPr txBox="1"/>
          <p:nvPr/>
        </p:nvSpPr>
        <p:spPr>
          <a:xfrm>
            <a:off x="4425696"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31" name="Text 29"/>
          <p:cNvSpPr txBox="1"/>
          <p:nvPr/>
        </p:nvSpPr>
        <p:spPr>
          <a:xfrm>
            <a:off x="4992624"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33" name="Shape 31"/>
          <p:cNvSpPr/>
          <p:nvPr/>
        </p:nvSpPr>
        <p:spPr>
          <a:xfrm>
            <a:off x="2670048" y="3323387"/>
            <a:ext cx="391906" cy="211226"/>
          </a:xfrm>
          <a:prstGeom prst="rect">
            <a:avLst/>
          </a:prstGeom>
          <a:solidFill>
            <a:srgbClr val="C2352F"/>
          </a:solidFill>
          <a:ln/>
        </p:spPr>
      </p:sp>
      <p:sp>
        <p:nvSpPr>
          <p:cNvPr id="34" name="Text 32"/>
          <p:cNvSpPr txBox="1"/>
          <p:nvPr/>
        </p:nvSpPr>
        <p:spPr>
          <a:xfrm>
            <a:off x="3602736"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35" name="Text 33"/>
          <p:cNvSpPr txBox="1"/>
          <p:nvPr/>
        </p:nvSpPr>
        <p:spPr>
          <a:xfrm>
            <a:off x="4425696"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36" name="Text 34"/>
          <p:cNvSpPr txBox="1"/>
          <p:nvPr/>
        </p:nvSpPr>
        <p:spPr>
          <a:xfrm>
            <a:off x="4992624"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367</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3707435"/>
            <a:ext cx="330070" cy="211226"/>
          </a:xfrm>
          <a:prstGeom prst="rect">
            <a:avLst/>
          </a:prstGeom>
          <a:solidFill>
            <a:srgbClr val="C2352F"/>
          </a:solidFill>
          <a:ln/>
        </p:spPr>
      </p:sp>
      <p:sp>
        <p:nvSpPr>
          <p:cNvPr id="39" name="Text 37"/>
          <p:cNvSpPr txBox="1"/>
          <p:nvPr/>
        </p:nvSpPr>
        <p:spPr>
          <a:xfrm>
            <a:off x="3602736"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41" name="Text 39"/>
          <p:cNvSpPr txBox="1"/>
          <p:nvPr/>
        </p:nvSpPr>
        <p:spPr>
          <a:xfrm>
            <a:off x="4992624"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379</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3" name="Shape 41"/>
          <p:cNvSpPr/>
          <p:nvPr/>
        </p:nvSpPr>
        <p:spPr>
          <a:xfrm>
            <a:off x="2670048" y="4091483"/>
            <a:ext cx="305680" cy="211226"/>
          </a:xfrm>
          <a:prstGeom prst="rect">
            <a:avLst/>
          </a:prstGeom>
          <a:solidFill>
            <a:srgbClr val="C2352F"/>
          </a:solidFill>
          <a:ln/>
        </p:spPr>
      </p:sp>
      <p:sp>
        <p:nvSpPr>
          <p:cNvPr id="44" name="Text 42"/>
          <p:cNvSpPr txBox="1"/>
          <p:nvPr/>
        </p:nvSpPr>
        <p:spPr>
          <a:xfrm>
            <a:off x="3602736"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45" name="Text 43"/>
          <p:cNvSpPr txBox="1"/>
          <p:nvPr/>
        </p:nvSpPr>
        <p:spPr>
          <a:xfrm>
            <a:off x="4425696"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6" name="Text 44"/>
          <p:cNvSpPr txBox="1"/>
          <p:nvPr/>
        </p:nvSpPr>
        <p:spPr>
          <a:xfrm>
            <a:off x="4992624"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4475531"/>
            <a:ext cx="278002" cy="211226"/>
          </a:xfrm>
          <a:prstGeom prst="rect">
            <a:avLst/>
          </a:prstGeom>
          <a:solidFill>
            <a:srgbClr val="C2352F"/>
          </a:solidFill>
          <a:ln/>
        </p:spPr>
      </p:sp>
      <p:sp>
        <p:nvSpPr>
          <p:cNvPr id="49" name="Text 47"/>
          <p:cNvSpPr txBox="1"/>
          <p:nvPr/>
        </p:nvSpPr>
        <p:spPr>
          <a:xfrm>
            <a:off x="3602736"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50" name="Text 48"/>
          <p:cNvSpPr txBox="1"/>
          <p:nvPr/>
        </p:nvSpPr>
        <p:spPr>
          <a:xfrm>
            <a:off x="4425696"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389</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187016" cy="211226"/>
          </a:xfrm>
          <a:prstGeom prst="rect">
            <a:avLst/>
          </a:prstGeom>
          <a:solidFill>
            <a:srgbClr val="C2352F"/>
          </a:solidFill>
          <a:ln/>
        </p:spPr>
      </p:sp>
      <p:sp>
        <p:nvSpPr>
          <p:cNvPr id="54" name="Text 52"/>
          <p:cNvSpPr txBox="1"/>
          <p:nvPr/>
        </p:nvSpPr>
        <p:spPr>
          <a:xfrm>
            <a:off x="3602736"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55" name="Text 53"/>
          <p:cNvSpPr txBox="1"/>
          <p:nvPr/>
        </p:nvSpPr>
        <p:spPr>
          <a:xfrm>
            <a:off x="4425696"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6" name="Text 54"/>
          <p:cNvSpPr txBox="1"/>
          <p:nvPr/>
        </p:nvSpPr>
        <p:spPr>
          <a:xfrm>
            <a:off x="4992624"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287</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8" name="Shape 56"/>
          <p:cNvSpPr/>
          <p:nvPr/>
        </p:nvSpPr>
        <p:spPr>
          <a:xfrm>
            <a:off x="2670048" y="5243627"/>
            <a:ext cx="183429" cy="211226"/>
          </a:xfrm>
          <a:prstGeom prst="rect">
            <a:avLst/>
          </a:prstGeom>
          <a:solidFill>
            <a:srgbClr val="C2352F"/>
          </a:solidFill>
          <a:ln/>
        </p:spPr>
      </p:sp>
      <p:sp>
        <p:nvSpPr>
          <p:cNvPr id="59" name="Text 57"/>
          <p:cNvSpPr txBox="1"/>
          <p:nvPr/>
        </p:nvSpPr>
        <p:spPr>
          <a:xfrm>
            <a:off x="3602736"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0" name="Text 58"/>
          <p:cNvSpPr txBox="1"/>
          <p:nvPr/>
        </p:nvSpPr>
        <p:spPr>
          <a:xfrm>
            <a:off x="4425696"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61" name="Text 59"/>
          <p:cNvSpPr txBox="1"/>
          <p:nvPr/>
        </p:nvSpPr>
        <p:spPr>
          <a:xfrm>
            <a:off x="4992624"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3" name="Shape 61"/>
          <p:cNvSpPr/>
          <p:nvPr/>
        </p:nvSpPr>
        <p:spPr>
          <a:xfrm>
            <a:off x="2670048" y="5627675"/>
            <a:ext cx="145711" cy="211226"/>
          </a:xfrm>
          <a:prstGeom prst="rect">
            <a:avLst/>
          </a:prstGeom>
          <a:solidFill>
            <a:srgbClr val="C2352F"/>
          </a:solidFill>
          <a:ln/>
        </p:spPr>
      </p:sp>
      <p:sp>
        <p:nvSpPr>
          <p:cNvPr id="64" name="Text 62"/>
          <p:cNvSpPr txBox="1"/>
          <p:nvPr/>
        </p:nvSpPr>
        <p:spPr>
          <a:xfrm>
            <a:off x="3602736" y="554126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65" name="Text 63"/>
          <p:cNvSpPr txBox="1"/>
          <p:nvPr/>
        </p:nvSpPr>
        <p:spPr>
          <a:xfrm>
            <a:off x="4425696" y="554126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6" name="Text 64"/>
          <p:cNvSpPr txBox="1"/>
          <p:nvPr/>
        </p:nvSpPr>
        <p:spPr>
          <a:xfrm>
            <a:off x="4992624" y="554126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8220456" y="1787195"/>
            <a:ext cx="130420" cy="211226"/>
          </a:xfrm>
          <a:prstGeom prst="rect">
            <a:avLst/>
          </a:prstGeom>
          <a:solidFill>
            <a:srgbClr val="C2352F"/>
          </a:solidFill>
          <a:ln/>
        </p:spPr>
      </p:sp>
      <p:sp>
        <p:nvSpPr>
          <p:cNvPr id="69" name="Text 67"/>
          <p:cNvSpPr txBox="1"/>
          <p:nvPr/>
        </p:nvSpPr>
        <p:spPr>
          <a:xfrm>
            <a:off x="9153144"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70" name="Text 68"/>
          <p:cNvSpPr txBox="1"/>
          <p:nvPr/>
        </p:nvSpPr>
        <p:spPr>
          <a:xfrm>
            <a:off x="9976104"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71" name="Text 69"/>
          <p:cNvSpPr txBox="1"/>
          <p:nvPr/>
        </p:nvSpPr>
        <p:spPr>
          <a:xfrm>
            <a:off x="10543032"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3" name="Shape 71"/>
          <p:cNvSpPr/>
          <p:nvPr/>
        </p:nvSpPr>
        <p:spPr>
          <a:xfrm>
            <a:off x="8220456" y="2171243"/>
            <a:ext cx="124044" cy="211226"/>
          </a:xfrm>
          <a:prstGeom prst="rect">
            <a:avLst/>
          </a:prstGeom>
          <a:solidFill>
            <a:srgbClr val="C2352F"/>
          </a:solidFill>
          <a:ln/>
        </p:spPr>
      </p:sp>
      <p:sp>
        <p:nvSpPr>
          <p:cNvPr id="74" name="Text 72"/>
          <p:cNvSpPr txBox="1"/>
          <p:nvPr/>
        </p:nvSpPr>
        <p:spPr>
          <a:xfrm>
            <a:off x="9153144"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5" name="Text 73"/>
          <p:cNvSpPr txBox="1"/>
          <p:nvPr/>
        </p:nvSpPr>
        <p:spPr>
          <a:xfrm>
            <a:off x="9976104"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6" name="Text 74"/>
          <p:cNvSpPr txBox="1"/>
          <p:nvPr/>
        </p:nvSpPr>
        <p:spPr>
          <a:xfrm>
            <a:off x="10543032"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20456" y="2555291"/>
            <a:ext cx="119989" cy="211226"/>
          </a:xfrm>
          <a:prstGeom prst="rect">
            <a:avLst/>
          </a:prstGeom>
          <a:solidFill>
            <a:srgbClr val="C2352F"/>
          </a:solidFill>
          <a:ln/>
        </p:spPr>
      </p:sp>
      <p:sp>
        <p:nvSpPr>
          <p:cNvPr id="79" name="Text 77"/>
          <p:cNvSpPr txBox="1"/>
          <p:nvPr/>
        </p:nvSpPr>
        <p:spPr>
          <a:xfrm>
            <a:off x="9153144"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80" name="Text 78"/>
          <p:cNvSpPr txBox="1"/>
          <p:nvPr/>
        </p:nvSpPr>
        <p:spPr>
          <a:xfrm>
            <a:off x="9976104"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1" name="Text 79"/>
          <p:cNvSpPr txBox="1"/>
          <p:nvPr/>
        </p:nvSpPr>
        <p:spPr>
          <a:xfrm>
            <a:off x="10543032"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114513" cy="211226"/>
          </a:xfrm>
          <a:prstGeom prst="rect">
            <a:avLst/>
          </a:prstGeom>
          <a:solidFill>
            <a:srgbClr val="C2352F"/>
          </a:solidFill>
          <a:ln/>
        </p:spPr>
      </p:sp>
      <p:sp>
        <p:nvSpPr>
          <p:cNvPr id="84" name="Text 82"/>
          <p:cNvSpPr txBox="1"/>
          <p:nvPr/>
        </p:nvSpPr>
        <p:spPr>
          <a:xfrm>
            <a:off x="9153144"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85" name="Text 83"/>
          <p:cNvSpPr txBox="1"/>
          <p:nvPr/>
        </p:nvSpPr>
        <p:spPr>
          <a:xfrm>
            <a:off x="9976104"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86" name="Text 84"/>
          <p:cNvSpPr txBox="1"/>
          <p:nvPr/>
        </p:nvSpPr>
        <p:spPr>
          <a:xfrm>
            <a:off x="10543032"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8" name="Shape 86"/>
          <p:cNvSpPr/>
          <p:nvPr/>
        </p:nvSpPr>
        <p:spPr>
          <a:xfrm>
            <a:off x="8220456" y="3323387"/>
            <a:ext cx="102926" cy="211226"/>
          </a:xfrm>
          <a:prstGeom prst="rect">
            <a:avLst/>
          </a:prstGeom>
          <a:solidFill>
            <a:srgbClr val="C2352F"/>
          </a:solidFill>
          <a:ln/>
        </p:spPr>
      </p:sp>
      <p:sp>
        <p:nvSpPr>
          <p:cNvPr id="89" name="Text 87"/>
          <p:cNvSpPr txBox="1"/>
          <p:nvPr/>
        </p:nvSpPr>
        <p:spPr>
          <a:xfrm>
            <a:off x="9153144"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0" name="Text 88"/>
          <p:cNvSpPr txBox="1"/>
          <p:nvPr/>
        </p:nvSpPr>
        <p:spPr>
          <a:xfrm>
            <a:off x="9976104"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91" name="Text 89"/>
          <p:cNvSpPr txBox="1"/>
          <p:nvPr/>
        </p:nvSpPr>
        <p:spPr>
          <a:xfrm>
            <a:off x="10543032"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3" name="Shape 91"/>
          <p:cNvSpPr/>
          <p:nvPr/>
        </p:nvSpPr>
        <p:spPr>
          <a:xfrm>
            <a:off x="8220456" y="3707435"/>
            <a:ext cx="87970" cy="211226"/>
          </a:xfrm>
          <a:prstGeom prst="rect">
            <a:avLst/>
          </a:prstGeom>
          <a:solidFill>
            <a:srgbClr val="C2352F"/>
          </a:solidFill>
          <a:ln/>
        </p:spPr>
      </p:sp>
      <p:sp>
        <p:nvSpPr>
          <p:cNvPr id="94" name="Text 92"/>
          <p:cNvSpPr txBox="1"/>
          <p:nvPr/>
        </p:nvSpPr>
        <p:spPr>
          <a:xfrm>
            <a:off x="9153144"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5" name="Text 93"/>
          <p:cNvSpPr txBox="1"/>
          <p:nvPr/>
        </p:nvSpPr>
        <p:spPr>
          <a:xfrm>
            <a:off x="9976104"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6" name="Text 94"/>
          <p:cNvSpPr txBox="1"/>
          <p:nvPr/>
        </p:nvSpPr>
        <p:spPr>
          <a:xfrm>
            <a:off x="10543032"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4091483"/>
            <a:ext cx="75941" cy="211226"/>
          </a:xfrm>
          <a:prstGeom prst="rect">
            <a:avLst/>
          </a:prstGeom>
          <a:solidFill>
            <a:srgbClr val="C2352F"/>
          </a:solidFill>
          <a:ln/>
        </p:spPr>
      </p:sp>
      <p:sp>
        <p:nvSpPr>
          <p:cNvPr id="99" name="Text 97"/>
          <p:cNvSpPr txBox="1"/>
          <p:nvPr/>
        </p:nvSpPr>
        <p:spPr>
          <a:xfrm>
            <a:off x="9153144"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00" name="Text 98"/>
          <p:cNvSpPr txBox="1"/>
          <p:nvPr/>
        </p:nvSpPr>
        <p:spPr>
          <a:xfrm>
            <a:off x="9976104"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01" name="Text 99"/>
          <p:cNvSpPr txBox="1"/>
          <p:nvPr/>
        </p:nvSpPr>
        <p:spPr>
          <a:xfrm>
            <a:off x="10543032"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3" name="Shape 101"/>
          <p:cNvSpPr/>
          <p:nvPr/>
        </p:nvSpPr>
        <p:spPr>
          <a:xfrm>
            <a:off x="8220456" y="4475531"/>
            <a:ext cx="63505" cy="211226"/>
          </a:xfrm>
          <a:prstGeom prst="rect">
            <a:avLst/>
          </a:prstGeom>
          <a:solidFill>
            <a:srgbClr val="C2352F"/>
          </a:solidFill>
          <a:ln/>
        </p:spPr>
      </p:sp>
      <p:sp>
        <p:nvSpPr>
          <p:cNvPr id="104" name="Text 102"/>
          <p:cNvSpPr txBox="1"/>
          <p:nvPr/>
        </p:nvSpPr>
        <p:spPr>
          <a:xfrm>
            <a:off x="9153144"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05" name="Text 103"/>
          <p:cNvSpPr txBox="1"/>
          <p:nvPr/>
        </p:nvSpPr>
        <p:spPr>
          <a:xfrm>
            <a:off x="9976104"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6" name="Text 104"/>
          <p:cNvSpPr txBox="1"/>
          <p:nvPr/>
        </p:nvSpPr>
        <p:spPr>
          <a:xfrm>
            <a:off x="10543032"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4859579"/>
            <a:ext cx="25502" cy="211226"/>
          </a:xfrm>
          <a:prstGeom prst="rect">
            <a:avLst/>
          </a:prstGeom>
          <a:solidFill>
            <a:srgbClr val="C2352F"/>
          </a:solidFill>
          <a:ln/>
        </p:spPr>
      </p:sp>
      <p:sp>
        <p:nvSpPr>
          <p:cNvPr id="109" name="Text 107"/>
          <p:cNvSpPr txBox="1"/>
          <p:nvPr/>
        </p:nvSpPr>
        <p:spPr>
          <a:xfrm>
            <a:off x="9153144"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110" name="Text 108"/>
          <p:cNvSpPr txBox="1"/>
          <p:nvPr/>
        </p:nvSpPr>
        <p:spPr>
          <a:xfrm>
            <a:off x="9976104"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11" name="Text 109"/>
          <p:cNvSpPr txBox="1"/>
          <p:nvPr/>
        </p:nvSpPr>
        <p:spPr>
          <a:xfrm>
            <a:off x="10543032"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3" name="Shape 111"/>
          <p:cNvSpPr/>
          <p:nvPr/>
        </p:nvSpPr>
        <p:spPr>
          <a:xfrm>
            <a:off x="8220456" y="5243627"/>
            <a:ext cx="19240" cy="211226"/>
          </a:xfrm>
          <a:prstGeom prst="rect">
            <a:avLst/>
          </a:prstGeom>
          <a:solidFill>
            <a:srgbClr val="C2352F"/>
          </a:solidFill>
          <a:ln/>
        </p:spPr>
      </p:sp>
      <p:sp>
        <p:nvSpPr>
          <p:cNvPr id="114" name="Text 112"/>
          <p:cNvSpPr txBox="1"/>
          <p:nvPr/>
        </p:nvSpPr>
        <p:spPr>
          <a:xfrm>
            <a:off x="9153144"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15" name="Text 113"/>
          <p:cNvSpPr txBox="1"/>
          <p:nvPr/>
        </p:nvSpPr>
        <p:spPr>
          <a:xfrm>
            <a:off x="9976104"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16" name="Text 114"/>
          <p:cNvSpPr txBox="1"/>
          <p:nvPr/>
        </p:nvSpPr>
        <p:spPr>
          <a:xfrm>
            <a:off x="10543032"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17" name="Shape 115"/>
          <p:cNvSpPr/>
          <p:nvPr/>
        </p:nvSpPr>
        <p:spPr>
          <a:xfrm>
            <a:off x="457200" y="6126480"/>
            <a:ext cx="11274552" cy="371856"/>
          </a:xfrm>
          <a:prstGeom prst="rect">
            <a:avLst/>
          </a:prstGeom>
          <a:solidFill>
            <a:srgbClr val="FBEBEA"/>
          </a:solidFill>
          <a:ln/>
        </p:spPr>
      </p:sp>
      <p:sp>
        <p:nvSpPr>
          <p:cNvPr id="118" name="Text 1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leave $844,657 a year: 5,919 services. Chevy LV has the most at $150,836.</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585</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98865"/>
            <a:ext cx="793178"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423828"/>
            <a:ext cx="671699"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1,173</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8" name="Shape 26"/>
          <p:cNvSpPr/>
          <p:nvPr/>
        </p:nvSpPr>
        <p:spPr>
          <a:xfrm>
            <a:off x="2670048" y="2748792"/>
            <a:ext cx="522143"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515</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3073756"/>
            <a:ext cx="466364"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8" name="Shape 36"/>
          <p:cNvSpPr/>
          <p:nvPr/>
        </p:nvSpPr>
        <p:spPr>
          <a:xfrm>
            <a:off x="2670048" y="3398719"/>
            <a:ext cx="463132"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3" name="Shape 41"/>
          <p:cNvSpPr/>
          <p:nvPr/>
        </p:nvSpPr>
        <p:spPr>
          <a:xfrm>
            <a:off x="2670048" y="3723683"/>
            <a:ext cx="402170"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4048647"/>
            <a:ext cx="392196"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3" name="Shape 51"/>
          <p:cNvSpPr/>
          <p:nvPr/>
        </p:nvSpPr>
        <p:spPr>
          <a:xfrm>
            <a:off x="2670048" y="4373610"/>
            <a:ext cx="383514"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8" name="Shape 56"/>
          <p:cNvSpPr/>
          <p:nvPr/>
        </p:nvSpPr>
        <p:spPr>
          <a:xfrm>
            <a:off x="2670048" y="4698574"/>
            <a:ext cx="381003"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321</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023538"/>
            <a:ext cx="369746"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5348501"/>
            <a:ext cx="34600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387</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5673465"/>
            <a:ext cx="34525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8220456" y="1773901"/>
            <a:ext cx="317278"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313</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3" name="Shape 81"/>
          <p:cNvSpPr/>
          <p:nvPr/>
        </p:nvSpPr>
        <p:spPr>
          <a:xfrm>
            <a:off x="8220456" y="2098865"/>
            <a:ext cx="28270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8" name="Shape 86"/>
          <p:cNvSpPr/>
          <p:nvPr/>
        </p:nvSpPr>
        <p:spPr>
          <a:xfrm>
            <a:off x="8220456" y="2423828"/>
            <a:ext cx="208181"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3" name="Shape 91"/>
          <p:cNvSpPr/>
          <p:nvPr/>
        </p:nvSpPr>
        <p:spPr>
          <a:xfrm>
            <a:off x="8220456" y="2748792"/>
            <a:ext cx="178106"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8" name="Shape 96"/>
          <p:cNvSpPr/>
          <p:nvPr/>
        </p:nvSpPr>
        <p:spPr>
          <a:xfrm>
            <a:off x="8220456" y="3073756"/>
            <a:ext cx="160825"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3398719"/>
            <a:ext cx="153735"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08" name="Shape 106"/>
          <p:cNvSpPr/>
          <p:nvPr/>
        </p:nvSpPr>
        <p:spPr>
          <a:xfrm>
            <a:off x="8220456" y="3723683"/>
            <a:ext cx="147027"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4048647"/>
            <a:ext cx="130926"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8" name="Shape 116"/>
          <p:cNvSpPr/>
          <p:nvPr/>
        </p:nvSpPr>
        <p:spPr>
          <a:xfrm>
            <a:off x="8220456" y="4373610"/>
            <a:ext cx="116489"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3" name="Shape 121"/>
          <p:cNvSpPr/>
          <p:nvPr/>
        </p:nvSpPr>
        <p:spPr>
          <a:xfrm>
            <a:off x="8220456" y="4698574"/>
            <a:ext cx="112514"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5023538"/>
            <a:ext cx="78509"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5348501"/>
            <a:ext cx="62960"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37" name="Text 135"/>
          <p:cNvSpPr txBox="1"/>
          <p:nvPr/>
        </p:nvSpPr>
        <p:spPr>
          <a:xfrm>
            <a:off x="6208776"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220456" y="5673465"/>
            <a:ext cx="18288" cy="178730"/>
          </a:xfrm>
          <a:prstGeom prst="rect">
            <a:avLst/>
          </a:prstGeom>
          <a:solidFill>
            <a:srgbClr val="C2352F"/>
          </a:solidFill>
          <a:ln/>
        </p:spPr>
      </p:sp>
      <p:sp>
        <p:nvSpPr>
          <p:cNvPr id="139" name="Text 137"/>
          <p:cNvSpPr txBox="1"/>
          <p:nvPr/>
        </p:nvSpPr>
        <p:spPr>
          <a:xfrm>
            <a:off x="9153144"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40" name="Text 138"/>
          <p:cNvSpPr txBox="1"/>
          <p:nvPr/>
        </p:nvSpPr>
        <p:spPr>
          <a:xfrm>
            <a:off x="9976104"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41" name="Text 139"/>
          <p:cNvSpPr txBox="1"/>
          <p:nvPr/>
        </p:nvSpPr>
        <p:spPr>
          <a:xfrm>
            <a:off x="10543032"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42" name="Shape 140"/>
          <p:cNvSpPr/>
          <p:nvPr/>
        </p:nvSpPr>
        <p:spPr>
          <a:xfrm>
            <a:off x="457200" y="6126480"/>
            <a:ext cx="11274552" cy="371856"/>
          </a:xfrm>
          <a:prstGeom prst="rect">
            <a:avLst/>
          </a:prstGeom>
          <a:solidFill>
            <a:srgbClr val="FBEBEA"/>
          </a:solidFill>
          <a:ln/>
        </p:spPr>
      </p:sp>
      <p:sp>
        <p:nvSpPr>
          <p:cNvPr id="143" name="Text 14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leave $1,356,881 a year: 8,527 services. Chevy LV has the most at $142,290.</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Missed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0191"/>
            <a:ext cx="877824" cy="145218"/>
          </a:xfrm>
          <a:prstGeom prst="rect">
            <a:avLst/>
          </a:prstGeom>
          <a:solidFill>
            <a:srgbClr val="C2352F"/>
          </a:solidFill>
          <a:ln/>
        </p:spPr>
      </p:sp>
      <p:sp>
        <p:nvSpPr>
          <p:cNvPr id="14" name="Text 12"/>
          <p:cNvSpPr txBox="1"/>
          <p:nvPr/>
        </p:nvSpPr>
        <p:spPr>
          <a:xfrm>
            <a:off x="3602736"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5" name="Text 13"/>
          <p:cNvSpPr txBox="1"/>
          <p:nvPr/>
        </p:nvSpPr>
        <p:spPr>
          <a:xfrm>
            <a:off x="4425696"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 name="Text 14"/>
          <p:cNvSpPr txBox="1"/>
          <p:nvPr/>
        </p:nvSpPr>
        <p:spPr>
          <a:xfrm>
            <a:off x="5029200"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6,921</a:t>
            </a:r>
            <a:endParaRPr lang="en-US" sz="1300" dirty="0"/>
          </a:p>
        </p:txBody>
      </p:sp>
      <p:sp>
        <p:nvSpPr>
          <p:cNvPr id="17" name="Text 15"/>
          <p:cNvSpPr txBox="1"/>
          <p:nvPr/>
        </p:nvSpPr>
        <p:spPr>
          <a:xfrm>
            <a:off x="658368"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24224"/>
            <a:ext cx="770483" cy="145218"/>
          </a:xfrm>
          <a:prstGeom prst="rect">
            <a:avLst/>
          </a:prstGeom>
          <a:solidFill>
            <a:srgbClr val="C2352F"/>
          </a:solidFill>
          <a:ln/>
        </p:spPr>
      </p:sp>
      <p:sp>
        <p:nvSpPr>
          <p:cNvPr id="19" name="Text 17"/>
          <p:cNvSpPr txBox="1"/>
          <p:nvPr/>
        </p:nvSpPr>
        <p:spPr>
          <a:xfrm>
            <a:off x="3602736"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20" name="Text 18"/>
          <p:cNvSpPr txBox="1"/>
          <p:nvPr/>
        </p:nvSpPr>
        <p:spPr>
          <a:xfrm>
            <a:off x="4425696"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 name="Text 19"/>
          <p:cNvSpPr txBox="1"/>
          <p:nvPr/>
        </p:nvSpPr>
        <p:spPr>
          <a:xfrm>
            <a:off x="5029200"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4,236</a:t>
            </a:r>
            <a:endParaRPr lang="en-US" sz="1300" dirty="0"/>
          </a:p>
        </p:txBody>
      </p:sp>
      <p:sp>
        <p:nvSpPr>
          <p:cNvPr id="22" name="Text 20"/>
          <p:cNvSpPr txBox="1"/>
          <p:nvPr/>
        </p:nvSpPr>
        <p:spPr>
          <a:xfrm>
            <a:off x="658368"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288257"/>
            <a:ext cx="577040" cy="145218"/>
          </a:xfrm>
          <a:prstGeom prst="rect">
            <a:avLst/>
          </a:prstGeom>
          <a:solidFill>
            <a:srgbClr val="C2352F"/>
          </a:solidFill>
          <a:ln/>
        </p:spPr>
      </p:sp>
      <p:sp>
        <p:nvSpPr>
          <p:cNvPr id="24" name="Text 22"/>
          <p:cNvSpPr txBox="1"/>
          <p:nvPr/>
        </p:nvSpPr>
        <p:spPr>
          <a:xfrm>
            <a:off x="3602736"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5" name="Text 23"/>
          <p:cNvSpPr txBox="1"/>
          <p:nvPr/>
        </p:nvSpPr>
        <p:spPr>
          <a:xfrm>
            <a:off x="4425696"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6" name="Text 24"/>
          <p:cNvSpPr txBox="1"/>
          <p:nvPr/>
        </p:nvSpPr>
        <p:spPr>
          <a:xfrm>
            <a:off x="5029200"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4,659</a:t>
            </a:r>
            <a:endParaRPr lang="en-US" sz="1300" dirty="0"/>
          </a:p>
        </p:txBody>
      </p:sp>
      <p:sp>
        <p:nvSpPr>
          <p:cNvPr id="27" name="Text 25"/>
          <p:cNvSpPr txBox="1"/>
          <p:nvPr/>
        </p:nvSpPr>
        <p:spPr>
          <a:xfrm>
            <a:off x="658368"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Shape 26"/>
          <p:cNvSpPr/>
          <p:nvPr/>
        </p:nvSpPr>
        <p:spPr>
          <a:xfrm>
            <a:off x="2670048" y="2552290"/>
            <a:ext cx="501457" cy="145218"/>
          </a:xfrm>
          <a:prstGeom prst="rect">
            <a:avLst/>
          </a:prstGeom>
          <a:solidFill>
            <a:srgbClr val="C2352F"/>
          </a:solidFill>
          <a:ln/>
        </p:spPr>
      </p:sp>
      <p:sp>
        <p:nvSpPr>
          <p:cNvPr id="29" name="Text 27"/>
          <p:cNvSpPr txBox="1"/>
          <p:nvPr/>
        </p:nvSpPr>
        <p:spPr>
          <a:xfrm>
            <a:off x="3602736"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$309K</a:t>
            </a:r>
            <a:endParaRPr lang="en-US" sz="1300" dirty="0"/>
          </a:p>
        </p:txBody>
      </p:sp>
      <p:sp>
        <p:nvSpPr>
          <p:cNvPr id="30" name="Text 28"/>
          <p:cNvSpPr txBox="1"/>
          <p:nvPr/>
        </p:nvSpPr>
        <p:spPr>
          <a:xfrm>
            <a:off x="4425696"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31" name="Text 29"/>
          <p:cNvSpPr txBox="1"/>
          <p:nvPr/>
        </p:nvSpPr>
        <p:spPr>
          <a:xfrm>
            <a:off x="5029200"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4,054</a:t>
            </a:r>
            <a:endParaRPr lang="en-US" sz="1300" dirty="0"/>
          </a:p>
        </p:txBody>
      </p:sp>
      <p:sp>
        <p:nvSpPr>
          <p:cNvPr id="32" name="Text 30"/>
          <p:cNvSpPr txBox="1"/>
          <p:nvPr/>
        </p:nvSpPr>
        <p:spPr>
          <a:xfrm>
            <a:off x="658368"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2816323"/>
            <a:ext cx="400038" cy="145218"/>
          </a:xfrm>
          <a:prstGeom prst="rect">
            <a:avLst/>
          </a:prstGeom>
          <a:solidFill>
            <a:srgbClr val="C2352F"/>
          </a:solidFill>
          <a:ln/>
        </p:spPr>
      </p:sp>
      <p:sp>
        <p:nvSpPr>
          <p:cNvPr id="34" name="Text 32"/>
          <p:cNvSpPr txBox="1"/>
          <p:nvPr/>
        </p:nvSpPr>
        <p:spPr>
          <a:xfrm>
            <a:off x="3602736"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35" name="Text 33"/>
          <p:cNvSpPr txBox="1"/>
          <p:nvPr/>
        </p:nvSpPr>
        <p:spPr>
          <a:xfrm>
            <a:off x="4425696"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36" name="Text 34"/>
          <p:cNvSpPr txBox="1"/>
          <p:nvPr/>
        </p:nvSpPr>
        <p:spPr>
          <a:xfrm>
            <a:off x="5029200"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2,278</a:t>
            </a:r>
            <a:endParaRPr lang="en-US" sz="1300" dirty="0"/>
          </a:p>
        </p:txBody>
      </p:sp>
      <p:sp>
        <p:nvSpPr>
          <p:cNvPr id="37" name="Text 35"/>
          <p:cNvSpPr txBox="1"/>
          <p:nvPr/>
        </p:nvSpPr>
        <p:spPr>
          <a:xfrm>
            <a:off x="658368"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080356"/>
            <a:ext cx="397072" cy="145218"/>
          </a:xfrm>
          <a:prstGeom prst="rect">
            <a:avLst/>
          </a:prstGeom>
          <a:solidFill>
            <a:srgbClr val="C2352F"/>
          </a:solidFill>
          <a:ln/>
        </p:spPr>
      </p:sp>
      <p:sp>
        <p:nvSpPr>
          <p:cNvPr id="39" name="Text 37"/>
          <p:cNvSpPr txBox="1"/>
          <p:nvPr/>
        </p:nvSpPr>
        <p:spPr>
          <a:xfrm>
            <a:off x="3602736"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40" name="Text 38"/>
          <p:cNvSpPr txBox="1"/>
          <p:nvPr/>
        </p:nvSpPr>
        <p:spPr>
          <a:xfrm>
            <a:off x="4425696"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1" name="Text 39"/>
          <p:cNvSpPr txBox="1"/>
          <p:nvPr/>
        </p:nvSpPr>
        <p:spPr>
          <a:xfrm>
            <a:off x="5029200"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2,484</a:t>
            </a:r>
            <a:endParaRPr lang="en-US" sz="1300" dirty="0"/>
          </a:p>
        </p:txBody>
      </p:sp>
      <p:sp>
        <p:nvSpPr>
          <p:cNvPr id="42" name="Text 40"/>
          <p:cNvSpPr txBox="1"/>
          <p:nvPr/>
        </p:nvSpPr>
        <p:spPr>
          <a:xfrm>
            <a:off x="658368"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344389"/>
            <a:ext cx="377578" cy="145218"/>
          </a:xfrm>
          <a:prstGeom prst="rect">
            <a:avLst/>
          </a:prstGeom>
          <a:solidFill>
            <a:srgbClr val="C2352F"/>
          </a:solidFill>
          <a:ln/>
        </p:spPr>
      </p:sp>
      <p:sp>
        <p:nvSpPr>
          <p:cNvPr id="44" name="Text 42"/>
          <p:cNvSpPr txBox="1"/>
          <p:nvPr/>
        </p:nvSpPr>
        <p:spPr>
          <a:xfrm>
            <a:off x="3602736"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45" name="Text 43"/>
          <p:cNvSpPr txBox="1"/>
          <p:nvPr/>
        </p:nvSpPr>
        <p:spPr>
          <a:xfrm>
            <a:off x="4425696"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6" name="Text 44"/>
          <p:cNvSpPr txBox="1"/>
          <p:nvPr/>
        </p:nvSpPr>
        <p:spPr>
          <a:xfrm>
            <a:off x="5029200"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2,541</a:t>
            </a:r>
            <a:endParaRPr lang="en-US" sz="1300" dirty="0"/>
          </a:p>
        </p:txBody>
      </p:sp>
      <p:sp>
        <p:nvSpPr>
          <p:cNvPr id="47" name="Text 45"/>
          <p:cNvSpPr txBox="1"/>
          <p:nvPr/>
        </p:nvSpPr>
        <p:spPr>
          <a:xfrm>
            <a:off x="658368"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608422"/>
            <a:ext cx="362401" cy="145218"/>
          </a:xfrm>
          <a:prstGeom prst="rect">
            <a:avLst/>
          </a:prstGeom>
          <a:solidFill>
            <a:srgbClr val="C2352F"/>
          </a:solidFill>
          <a:ln/>
        </p:spPr>
      </p:sp>
      <p:sp>
        <p:nvSpPr>
          <p:cNvPr id="49" name="Text 47"/>
          <p:cNvSpPr txBox="1"/>
          <p:nvPr/>
        </p:nvSpPr>
        <p:spPr>
          <a:xfrm>
            <a:off x="3602736"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$223K</a:t>
            </a:r>
            <a:endParaRPr lang="en-US" sz="1300" dirty="0"/>
          </a:p>
        </p:txBody>
      </p:sp>
      <p:sp>
        <p:nvSpPr>
          <p:cNvPr id="50" name="Text 48"/>
          <p:cNvSpPr txBox="1"/>
          <p:nvPr/>
        </p:nvSpPr>
        <p:spPr>
          <a:xfrm>
            <a:off x="4425696"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1" name="Text 49"/>
          <p:cNvSpPr txBox="1"/>
          <p:nvPr/>
        </p:nvSpPr>
        <p:spPr>
          <a:xfrm>
            <a:off x="5029200"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2,304</a:t>
            </a:r>
            <a:endParaRPr lang="en-US" sz="1300" dirty="0"/>
          </a:p>
        </p:txBody>
      </p:sp>
      <p:sp>
        <p:nvSpPr>
          <p:cNvPr id="52" name="Text 50"/>
          <p:cNvSpPr txBox="1"/>
          <p:nvPr/>
        </p:nvSpPr>
        <p:spPr>
          <a:xfrm>
            <a:off x="658368"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3" name="Shape 51"/>
          <p:cNvSpPr/>
          <p:nvPr/>
        </p:nvSpPr>
        <p:spPr>
          <a:xfrm>
            <a:off x="2670048" y="3872455"/>
            <a:ext cx="349788" cy="145218"/>
          </a:xfrm>
          <a:prstGeom prst="rect">
            <a:avLst/>
          </a:prstGeom>
          <a:solidFill>
            <a:srgbClr val="C2352F"/>
          </a:solidFill>
          <a:ln/>
        </p:spPr>
      </p:sp>
      <p:sp>
        <p:nvSpPr>
          <p:cNvPr id="54" name="Text 52"/>
          <p:cNvSpPr txBox="1"/>
          <p:nvPr/>
        </p:nvSpPr>
        <p:spPr>
          <a:xfrm>
            <a:off x="3602736"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55" name="Text 53"/>
          <p:cNvSpPr txBox="1"/>
          <p:nvPr/>
        </p:nvSpPr>
        <p:spPr>
          <a:xfrm>
            <a:off x="4425696"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56" name="Text 54"/>
          <p:cNvSpPr txBox="1"/>
          <p:nvPr/>
        </p:nvSpPr>
        <p:spPr>
          <a:xfrm>
            <a:off x="5029200"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1,536</a:t>
            </a:r>
            <a:endParaRPr lang="en-US" sz="1300" dirty="0"/>
          </a:p>
        </p:txBody>
      </p:sp>
      <p:sp>
        <p:nvSpPr>
          <p:cNvPr id="57" name="Text 55"/>
          <p:cNvSpPr txBox="1"/>
          <p:nvPr/>
        </p:nvSpPr>
        <p:spPr>
          <a:xfrm>
            <a:off x="658368"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8" name="Shape 56"/>
          <p:cNvSpPr/>
          <p:nvPr/>
        </p:nvSpPr>
        <p:spPr>
          <a:xfrm>
            <a:off x="2670048" y="4136488"/>
            <a:ext cx="324451" cy="145218"/>
          </a:xfrm>
          <a:prstGeom prst="rect">
            <a:avLst/>
          </a:prstGeom>
          <a:solidFill>
            <a:srgbClr val="C2352F"/>
          </a:solidFill>
          <a:ln/>
        </p:spPr>
      </p:sp>
      <p:sp>
        <p:nvSpPr>
          <p:cNvPr id="59" name="Text 57"/>
          <p:cNvSpPr txBox="1"/>
          <p:nvPr/>
        </p:nvSpPr>
        <p:spPr>
          <a:xfrm>
            <a:off x="3602736"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60" name="Text 58"/>
          <p:cNvSpPr txBox="1"/>
          <p:nvPr/>
        </p:nvSpPr>
        <p:spPr>
          <a:xfrm>
            <a:off x="4425696"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61" name="Text 59"/>
          <p:cNvSpPr txBox="1"/>
          <p:nvPr/>
        </p:nvSpPr>
        <p:spPr>
          <a:xfrm>
            <a:off x="5029200"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a:t>
            </a:r>
            <a:endParaRPr lang="en-US" sz="1300" dirty="0"/>
          </a:p>
        </p:txBody>
      </p:sp>
      <p:sp>
        <p:nvSpPr>
          <p:cNvPr id="62" name="Text 60"/>
          <p:cNvSpPr txBox="1"/>
          <p:nvPr/>
        </p:nvSpPr>
        <p:spPr>
          <a:xfrm>
            <a:off x="658368"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3" name="Shape 61"/>
          <p:cNvSpPr/>
          <p:nvPr/>
        </p:nvSpPr>
        <p:spPr>
          <a:xfrm>
            <a:off x="2670048" y="4400521"/>
            <a:ext cx="312937" cy="145218"/>
          </a:xfrm>
          <a:prstGeom prst="rect">
            <a:avLst/>
          </a:prstGeom>
          <a:solidFill>
            <a:srgbClr val="C2352F"/>
          </a:solidFill>
          <a:ln/>
        </p:spPr>
      </p:sp>
      <p:sp>
        <p:nvSpPr>
          <p:cNvPr id="64" name="Text 62"/>
          <p:cNvSpPr txBox="1"/>
          <p:nvPr/>
        </p:nvSpPr>
        <p:spPr>
          <a:xfrm>
            <a:off x="3602736"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$193K</a:t>
            </a:r>
            <a:endParaRPr lang="en-US" sz="1300" dirty="0"/>
          </a:p>
        </p:txBody>
      </p:sp>
      <p:sp>
        <p:nvSpPr>
          <p:cNvPr id="65" name="Text 63"/>
          <p:cNvSpPr txBox="1"/>
          <p:nvPr/>
        </p:nvSpPr>
        <p:spPr>
          <a:xfrm>
            <a:off x="4425696"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66" name="Text 64"/>
          <p:cNvSpPr txBox="1"/>
          <p:nvPr/>
        </p:nvSpPr>
        <p:spPr>
          <a:xfrm>
            <a:off x="5029200"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1,512</a:t>
            </a:r>
            <a:endParaRPr lang="en-US" sz="1300" dirty="0"/>
          </a:p>
        </p:txBody>
      </p:sp>
      <p:sp>
        <p:nvSpPr>
          <p:cNvPr id="67" name="Text 65"/>
          <p:cNvSpPr txBox="1"/>
          <p:nvPr/>
        </p:nvSpPr>
        <p:spPr>
          <a:xfrm>
            <a:off x="658368"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2670048" y="4664554"/>
            <a:ext cx="310634" cy="145218"/>
          </a:xfrm>
          <a:prstGeom prst="rect">
            <a:avLst/>
          </a:prstGeom>
          <a:solidFill>
            <a:srgbClr val="C2352F"/>
          </a:solidFill>
          <a:ln/>
        </p:spPr>
      </p:sp>
      <p:sp>
        <p:nvSpPr>
          <p:cNvPr id="69" name="Text 67"/>
          <p:cNvSpPr txBox="1"/>
          <p:nvPr/>
        </p:nvSpPr>
        <p:spPr>
          <a:xfrm>
            <a:off x="3602736"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$191K</a:t>
            </a:r>
            <a:endParaRPr lang="en-US" sz="1300" dirty="0"/>
          </a:p>
        </p:txBody>
      </p:sp>
      <p:sp>
        <p:nvSpPr>
          <p:cNvPr id="70" name="Text 68"/>
          <p:cNvSpPr txBox="1"/>
          <p:nvPr/>
        </p:nvSpPr>
        <p:spPr>
          <a:xfrm>
            <a:off x="4425696"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1" name="Text 69"/>
          <p:cNvSpPr txBox="1"/>
          <p:nvPr/>
        </p:nvSpPr>
        <p:spPr>
          <a:xfrm>
            <a:off x="5029200"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2,329</a:t>
            </a:r>
            <a:endParaRPr lang="en-US" sz="1300" dirty="0"/>
          </a:p>
        </p:txBody>
      </p:sp>
      <p:sp>
        <p:nvSpPr>
          <p:cNvPr id="72" name="Text 70"/>
          <p:cNvSpPr txBox="1"/>
          <p:nvPr/>
        </p:nvSpPr>
        <p:spPr>
          <a:xfrm>
            <a:off x="658368"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3" name="Shape 71"/>
          <p:cNvSpPr/>
          <p:nvPr/>
        </p:nvSpPr>
        <p:spPr>
          <a:xfrm>
            <a:off x="2670048" y="4928587"/>
            <a:ext cx="239376" cy="145218"/>
          </a:xfrm>
          <a:prstGeom prst="rect">
            <a:avLst/>
          </a:prstGeom>
          <a:solidFill>
            <a:srgbClr val="C2352F"/>
          </a:solidFill>
          <a:ln/>
        </p:spPr>
      </p:sp>
      <p:sp>
        <p:nvSpPr>
          <p:cNvPr id="74" name="Text 72"/>
          <p:cNvSpPr txBox="1"/>
          <p:nvPr/>
        </p:nvSpPr>
        <p:spPr>
          <a:xfrm>
            <a:off x="3602736"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$148K</a:t>
            </a:r>
            <a:endParaRPr lang="en-US" sz="1300" dirty="0"/>
          </a:p>
        </p:txBody>
      </p:sp>
      <p:sp>
        <p:nvSpPr>
          <p:cNvPr id="75" name="Text 73"/>
          <p:cNvSpPr txBox="1"/>
          <p:nvPr/>
        </p:nvSpPr>
        <p:spPr>
          <a:xfrm>
            <a:off x="4425696"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76" name="Text 74"/>
          <p:cNvSpPr txBox="1"/>
          <p:nvPr/>
        </p:nvSpPr>
        <p:spPr>
          <a:xfrm>
            <a:off x="5029200"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1,128</a:t>
            </a:r>
            <a:endParaRPr lang="en-US" sz="1300" dirty="0"/>
          </a:p>
        </p:txBody>
      </p:sp>
      <p:sp>
        <p:nvSpPr>
          <p:cNvPr id="77" name="Text 75"/>
          <p:cNvSpPr txBox="1"/>
          <p:nvPr/>
        </p:nvSpPr>
        <p:spPr>
          <a:xfrm>
            <a:off x="658368"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8" name="Shape 76"/>
          <p:cNvSpPr/>
          <p:nvPr/>
        </p:nvSpPr>
        <p:spPr>
          <a:xfrm>
            <a:off x="2670048" y="5192620"/>
            <a:ext cx="227976" cy="145218"/>
          </a:xfrm>
          <a:prstGeom prst="rect">
            <a:avLst/>
          </a:prstGeom>
          <a:solidFill>
            <a:srgbClr val="C2352F"/>
          </a:solidFill>
          <a:ln/>
        </p:spPr>
      </p:sp>
      <p:sp>
        <p:nvSpPr>
          <p:cNvPr id="79" name="Text 77"/>
          <p:cNvSpPr txBox="1"/>
          <p:nvPr/>
        </p:nvSpPr>
        <p:spPr>
          <a:xfrm>
            <a:off x="3602736"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80" name="Text 78"/>
          <p:cNvSpPr txBox="1"/>
          <p:nvPr/>
        </p:nvSpPr>
        <p:spPr>
          <a:xfrm>
            <a:off x="4425696"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1" name="Text 79"/>
          <p:cNvSpPr txBox="1"/>
          <p:nvPr/>
        </p:nvSpPr>
        <p:spPr>
          <a:xfrm>
            <a:off x="5029200"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1,424</a:t>
            </a:r>
            <a:endParaRPr lang="en-US" sz="1300" dirty="0"/>
          </a:p>
        </p:txBody>
      </p:sp>
      <p:sp>
        <p:nvSpPr>
          <p:cNvPr id="82" name="Text 80"/>
          <p:cNvSpPr txBox="1"/>
          <p:nvPr/>
        </p:nvSpPr>
        <p:spPr>
          <a:xfrm>
            <a:off x="658368"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456653"/>
            <a:ext cx="226887" cy="145218"/>
          </a:xfrm>
          <a:prstGeom prst="rect">
            <a:avLst/>
          </a:prstGeom>
          <a:solidFill>
            <a:srgbClr val="C2352F"/>
          </a:solidFill>
          <a:ln/>
        </p:spPr>
      </p:sp>
      <p:sp>
        <p:nvSpPr>
          <p:cNvPr id="84" name="Text 82"/>
          <p:cNvSpPr txBox="1"/>
          <p:nvPr/>
        </p:nvSpPr>
        <p:spPr>
          <a:xfrm>
            <a:off x="3602736"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85" name="Text 83"/>
          <p:cNvSpPr txBox="1"/>
          <p:nvPr/>
        </p:nvSpPr>
        <p:spPr>
          <a:xfrm>
            <a:off x="4425696"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6" name="Text 84"/>
          <p:cNvSpPr txBox="1"/>
          <p:nvPr/>
        </p:nvSpPr>
        <p:spPr>
          <a:xfrm>
            <a:off x="5029200"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1,103</a:t>
            </a:r>
            <a:endParaRPr lang="en-US" sz="1300" dirty="0"/>
          </a:p>
        </p:txBody>
      </p:sp>
      <p:sp>
        <p:nvSpPr>
          <p:cNvPr id="87" name="Text 85"/>
          <p:cNvSpPr txBox="1"/>
          <p:nvPr/>
        </p:nvSpPr>
        <p:spPr>
          <a:xfrm>
            <a:off x="658368"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2670048" y="5720686"/>
            <a:ext cx="215338" cy="145218"/>
          </a:xfrm>
          <a:prstGeom prst="rect">
            <a:avLst/>
          </a:prstGeom>
          <a:solidFill>
            <a:srgbClr val="C2352F"/>
          </a:solidFill>
          <a:ln/>
        </p:spPr>
      </p:sp>
      <p:sp>
        <p:nvSpPr>
          <p:cNvPr id="89" name="Text 87"/>
          <p:cNvSpPr txBox="1"/>
          <p:nvPr/>
        </p:nvSpPr>
        <p:spPr>
          <a:xfrm>
            <a:off x="3602736"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4425696"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1" name="Text 89"/>
          <p:cNvSpPr txBox="1"/>
          <p:nvPr/>
        </p:nvSpPr>
        <p:spPr>
          <a:xfrm>
            <a:off x="5029200"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1,466</a:t>
            </a:r>
            <a:endParaRPr lang="en-US" sz="1300" dirty="0"/>
          </a:p>
        </p:txBody>
      </p:sp>
      <p:sp>
        <p:nvSpPr>
          <p:cNvPr id="92" name="Text 90"/>
          <p:cNvSpPr txBox="1"/>
          <p:nvPr/>
        </p:nvSpPr>
        <p:spPr>
          <a:xfrm>
            <a:off x="6208776"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3" name="Shape 91"/>
          <p:cNvSpPr/>
          <p:nvPr/>
        </p:nvSpPr>
        <p:spPr>
          <a:xfrm>
            <a:off x="8220456" y="1760191"/>
            <a:ext cx="204347" cy="145218"/>
          </a:xfrm>
          <a:prstGeom prst="rect">
            <a:avLst/>
          </a:prstGeom>
          <a:solidFill>
            <a:srgbClr val="C2352F"/>
          </a:solidFill>
          <a:ln/>
        </p:spPr>
      </p:sp>
      <p:sp>
        <p:nvSpPr>
          <p:cNvPr id="94" name="Text 92"/>
          <p:cNvSpPr txBox="1"/>
          <p:nvPr/>
        </p:nvSpPr>
        <p:spPr>
          <a:xfrm>
            <a:off x="9153144"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95" name="Text 93"/>
          <p:cNvSpPr txBox="1"/>
          <p:nvPr/>
        </p:nvSpPr>
        <p:spPr>
          <a:xfrm>
            <a:off x="9976104"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6" name="Text 94"/>
          <p:cNvSpPr txBox="1"/>
          <p:nvPr/>
        </p:nvSpPr>
        <p:spPr>
          <a:xfrm>
            <a:off x="10579608"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1,273</a:t>
            </a:r>
            <a:endParaRPr lang="en-US" sz="1300" dirty="0"/>
          </a:p>
        </p:txBody>
      </p:sp>
      <p:sp>
        <p:nvSpPr>
          <p:cNvPr id="97" name="Text 95"/>
          <p:cNvSpPr txBox="1"/>
          <p:nvPr/>
        </p:nvSpPr>
        <p:spPr>
          <a:xfrm>
            <a:off x="6208776"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8" name="Shape 96"/>
          <p:cNvSpPr/>
          <p:nvPr/>
        </p:nvSpPr>
        <p:spPr>
          <a:xfrm>
            <a:off x="8220456" y="2024224"/>
            <a:ext cx="142425" cy="145218"/>
          </a:xfrm>
          <a:prstGeom prst="rect">
            <a:avLst/>
          </a:prstGeom>
          <a:solidFill>
            <a:srgbClr val="C2352F"/>
          </a:solidFill>
          <a:ln/>
        </p:spPr>
      </p:sp>
      <p:sp>
        <p:nvSpPr>
          <p:cNvPr id="99" name="Text 97"/>
          <p:cNvSpPr txBox="1"/>
          <p:nvPr/>
        </p:nvSpPr>
        <p:spPr>
          <a:xfrm>
            <a:off x="9153144"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0" name="Text 98"/>
          <p:cNvSpPr txBox="1"/>
          <p:nvPr/>
        </p:nvSpPr>
        <p:spPr>
          <a:xfrm>
            <a:off x="9976104"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1" name="Text 99"/>
          <p:cNvSpPr txBox="1"/>
          <p:nvPr/>
        </p:nvSpPr>
        <p:spPr>
          <a:xfrm>
            <a:off x="10579608"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1,070</a:t>
            </a:r>
            <a:endParaRPr lang="en-US" sz="1300" dirty="0"/>
          </a:p>
        </p:txBody>
      </p:sp>
      <p:sp>
        <p:nvSpPr>
          <p:cNvPr id="102" name="Text 100"/>
          <p:cNvSpPr txBox="1"/>
          <p:nvPr/>
        </p:nvSpPr>
        <p:spPr>
          <a:xfrm>
            <a:off x="6208776"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288257"/>
            <a:ext cx="141996" cy="145218"/>
          </a:xfrm>
          <a:prstGeom prst="rect">
            <a:avLst/>
          </a:prstGeom>
          <a:solidFill>
            <a:srgbClr val="C2352F"/>
          </a:solidFill>
          <a:ln/>
        </p:spPr>
      </p:sp>
      <p:sp>
        <p:nvSpPr>
          <p:cNvPr id="104" name="Text 102"/>
          <p:cNvSpPr txBox="1"/>
          <p:nvPr/>
        </p:nvSpPr>
        <p:spPr>
          <a:xfrm>
            <a:off x="9153144"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5" name="Text 103"/>
          <p:cNvSpPr txBox="1"/>
          <p:nvPr/>
        </p:nvSpPr>
        <p:spPr>
          <a:xfrm>
            <a:off x="9976104"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06" name="Text 104"/>
          <p:cNvSpPr txBox="1"/>
          <p:nvPr/>
        </p:nvSpPr>
        <p:spPr>
          <a:xfrm>
            <a:off x="10579608"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853</a:t>
            </a:r>
            <a:endParaRPr lang="en-US" sz="1300" dirty="0"/>
          </a:p>
        </p:txBody>
      </p:sp>
      <p:sp>
        <p:nvSpPr>
          <p:cNvPr id="107" name="Text 105"/>
          <p:cNvSpPr txBox="1"/>
          <p:nvPr/>
        </p:nvSpPr>
        <p:spPr>
          <a:xfrm>
            <a:off x="6208776"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8" name="Shape 106"/>
          <p:cNvSpPr/>
          <p:nvPr/>
        </p:nvSpPr>
        <p:spPr>
          <a:xfrm>
            <a:off x="8220456" y="2552290"/>
            <a:ext cx="132425" cy="145218"/>
          </a:xfrm>
          <a:prstGeom prst="rect">
            <a:avLst/>
          </a:prstGeom>
          <a:solidFill>
            <a:srgbClr val="C2352F"/>
          </a:solidFill>
          <a:ln/>
        </p:spPr>
      </p:sp>
      <p:sp>
        <p:nvSpPr>
          <p:cNvPr id="109" name="Text 107"/>
          <p:cNvSpPr txBox="1"/>
          <p:nvPr/>
        </p:nvSpPr>
        <p:spPr>
          <a:xfrm>
            <a:off x="9153144"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10" name="Text 108"/>
          <p:cNvSpPr txBox="1"/>
          <p:nvPr/>
        </p:nvSpPr>
        <p:spPr>
          <a:xfrm>
            <a:off x="9976104"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11" name="Text 109"/>
          <p:cNvSpPr txBox="1"/>
          <p:nvPr/>
        </p:nvSpPr>
        <p:spPr>
          <a:xfrm>
            <a:off x="10579608"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956</a:t>
            </a:r>
            <a:endParaRPr lang="en-US" sz="1300" dirty="0"/>
          </a:p>
        </p:txBody>
      </p:sp>
      <p:sp>
        <p:nvSpPr>
          <p:cNvPr id="112" name="Text 110"/>
          <p:cNvSpPr txBox="1"/>
          <p:nvPr/>
        </p:nvSpPr>
        <p:spPr>
          <a:xfrm>
            <a:off x="6208776"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3" name="Shape 111"/>
          <p:cNvSpPr/>
          <p:nvPr/>
        </p:nvSpPr>
        <p:spPr>
          <a:xfrm>
            <a:off x="8220456" y="2816323"/>
            <a:ext cx="131085" cy="145218"/>
          </a:xfrm>
          <a:prstGeom prst="rect">
            <a:avLst/>
          </a:prstGeom>
          <a:solidFill>
            <a:srgbClr val="C2352F"/>
          </a:solidFill>
          <a:ln/>
        </p:spPr>
      </p:sp>
      <p:sp>
        <p:nvSpPr>
          <p:cNvPr id="114" name="Text 112"/>
          <p:cNvSpPr txBox="1"/>
          <p:nvPr/>
        </p:nvSpPr>
        <p:spPr>
          <a:xfrm>
            <a:off x="9153144"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115" name="Text 113"/>
          <p:cNvSpPr txBox="1"/>
          <p:nvPr/>
        </p:nvSpPr>
        <p:spPr>
          <a:xfrm>
            <a:off x="9976104"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6" name="Text 114"/>
          <p:cNvSpPr txBox="1"/>
          <p:nvPr/>
        </p:nvSpPr>
        <p:spPr>
          <a:xfrm>
            <a:off x="10579608"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929</a:t>
            </a:r>
            <a:endParaRPr lang="en-US" sz="1300" dirty="0"/>
          </a:p>
        </p:txBody>
      </p:sp>
      <p:sp>
        <p:nvSpPr>
          <p:cNvPr id="117" name="Text 115"/>
          <p:cNvSpPr txBox="1"/>
          <p:nvPr/>
        </p:nvSpPr>
        <p:spPr>
          <a:xfrm>
            <a:off x="6208776"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8" name="Shape 116"/>
          <p:cNvSpPr/>
          <p:nvPr/>
        </p:nvSpPr>
        <p:spPr>
          <a:xfrm>
            <a:off x="8220456" y="3080356"/>
            <a:ext cx="130107" cy="145218"/>
          </a:xfrm>
          <a:prstGeom prst="rect">
            <a:avLst/>
          </a:prstGeom>
          <a:solidFill>
            <a:srgbClr val="C2352F"/>
          </a:solidFill>
          <a:ln/>
        </p:spPr>
      </p:sp>
      <p:sp>
        <p:nvSpPr>
          <p:cNvPr id="119" name="Text 117"/>
          <p:cNvSpPr txBox="1"/>
          <p:nvPr/>
        </p:nvSpPr>
        <p:spPr>
          <a:xfrm>
            <a:off x="9153144"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20" name="Text 118"/>
          <p:cNvSpPr txBox="1"/>
          <p:nvPr/>
        </p:nvSpPr>
        <p:spPr>
          <a:xfrm>
            <a:off x="9976104"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1" name="Text 119"/>
          <p:cNvSpPr txBox="1"/>
          <p:nvPr/>
        </p:nvSpPr>
        <p:spPr>
          <a:xfrm>
            <a:off x="10579608"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a:t>
            </a:r>
            <a:endParaRPr lang="en-US" sz="1300" dirty="0"/>
          </a:p>
        </p:txBody>
      </p:sp>
      <p:sp>
        <p:nvSpPr>
          <p:cNvPr id="122" name="Text 120"/>
          <p:cNvSpPr txBox="1"/>
          <p:nvPr/>
        </p:nvSpPr>
        <p:spPr>
          <a:xfrm>
            <a:off x="6208776"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3" name="Shape 121"/>
          <p:cNvSpPr/>
          <p:nvPr/>
        </p:nvSpPr>
        <p:spPr>
          <a:xfrm>
            <a:off x="8220456" y="3344389"/>
            <a:ext cx="114763" cy="145218"/>
          </a:xfrm>
          <a:prstGeom prst="rect">
            <a:avLst/>
          </a:prstGeom>
          <a:solidFill>
            <a:srgbClr val="C2352F"/>
          </a:solidFill>
          <a:ln/>
        </p:spPr>
      </p:sp>
      <p:sp>
        <p:nvSpPr>
          <p:cNvPr id="124" name="Text 122"/>
          <p:cNvSpPr txBox="1"/>
          <p:nvPr/>
        </p:nvSpPr>
        <p:spPr>
          <a:xfrm>
            <a:off x="9153144"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$71K</a:t>
            </a:r>
            <a:endParaRPr lang="en-US" sz="1300" dirty="0"/>
          </a:p>
        </p:txBody>
      </p:sp>
      <p:sp>
        <p:nvSpPr>
          <p:cNvPr id="125" name="Text 123"/>
          <p:cNvSpPr txBox="1"/>
          <p:nvPr/>
        </p:nvSpPr>
        <p:spPr>
          <a:xfrm>
            <a:off x="9976104"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26" name="Text 124"/>
          <p:cNvSpPr txBox="1"/>
          <p:nvPr/>
        </p:nvSpPr>
        <p:spPr>
          <a:xfrm>
            <a:off x="10579608"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540</a:t>
            </a:r>
            <a:endParaRPr lang="en-US" sz="1300" dirty="0"/>
          </a:p>
        </p:txBody>
      </p:sp>
      <p:sp>
        <p:nvSpPr>
          <p:cNvPr id="127" name="Text 125"/>
          <p:cNvSpPr txBox="1"/>
          <p:nvPr/>
        </p:nvSpPr>
        <p:spPr>
          <a:xfrm>
            <a:off x="6208776"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608422"/>
            <a:ext cx="110410" cy="145218"/>
          </a:xfrm>
          <a:prstGeom prst="rect">
            <a:avLst/>
          </a:prstGeom>
          <a:solidFill>
            <a:srgbClr val="C2352F"/>
          </a:solidFill>
          <a:ln/>
        </p:spPr>
      </p:sp>
      <p:sp>
        <p:nvSpPr>
          <p:cNvPr id="129" name="Text 127"/>
          <p:cNvSpPr txBox="1"/>
          <p:nvPr/>
        </p:nvSpPr>
        <p:spPr>
          <a:xfrm>
            <a:off x="9153144"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30" name="Text 128"/>
          <p:cNvSpPr txBox="1"/>
          <p:nvPr/>
        </p:nvSpPr>
        <p:spPr>
          <a:xfrm>
            <a:off x="9976104"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1" name="Text 129"/>
          <p:cNvSpPr txBox="1"/>
          <p:nvPr/>
        </p:nvSpPr>
        <p:spPr>
          <a:xfrm>
            <a:off x="10579608"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784</a:t>
            </a:r>
            <a:endParaRPr lang="en-US" sz="1300" dirty="0"/>
          </a:p>
        </p:txBody>
      </p:sp>
      <p:sp>
        <p:nvSpPr>
          <p:cNvPr id="132" name="Text 130"/>
          <p:cNvSpPr txBox="1"/>
          <p:nvPr/>
        </p:nvSpPr>
        <p:spPr>
          <a:xfrm>
            <a:off x="6208776"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872455"/>
            <a:ext cx="88627" cy="145218"/>
          </a:xfrm>
          <a:prstGeom prst="rect">
            <a:avLst/>
          </a:prstGeom>
          <a:solidFill>
            <a:srgbClr val="C2352F"/>
          </a:solidFill>
          <a:ln/>
        </p:spPr>
      </p:sp>
      <p:sp>
        <p:nvSpPr>
          <p:cNvPr id="134" name="Text 132"/>
          <p:cNvSpPr txBox="1"/>
          <p:nvPr/>
        </p:nvSpPr>
        <p:spPr>
          <a:xfrm>
            <a:off x="9153144"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35" name="Text 133"/>
          <p:cNvSpPr txBox="1"/>
          <p:nvPr/>
        </p:nvSpPr>
        <p:spPr>
          <a:xfrm>
            <a:off x="9976104"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6" name="Text 134"/>
          <p:cNvSpPr txBox="1"/>
          <p:nvPr/>
        </p:nvSpPr>
        <p:spPr>
          <a:xfrm>
            <a:off x="10579608"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37" name="Text 135"/>
          <p:cNvSpPr txBox="1"/>
          <p:nvPr/>
        </p:nvSpPr>
        <p:spPr>
          <a:xfrm>
            <a:off x="6208776"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8" name="Shape 136"/>
          <p:cNvSpPr/>
          <p:nvPr/>
        </p:nvSpPr>
        <p:spPr>
          <a:xfrm>
            <a:off x="8220456" y="4136488"/>
            <a:ext cx="78404" cy="145218"/>
          </a:xfrm>
          <a:prstGeom prst="rect">
            <a:avLst/>
          </a:prstGeom>
          <a:solidFill>
            <a:srgbClr val="C2352F"/>
          </a:solidFill>
          <a:ln/>
        </p:spPr>
      </p:sp>
      <p:sp>
        <p:nvSpPr>
          <p:cNvPr id="139" name="Text 137"/>
          <p:cNvSpPr txBox="1"/>
          <p:nvPr/>
        </p:nvSpPr>
        <p:spPr>
          <a:xfrm>
            <a:off x="9153144"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0" name="Text 138"/>
          <p:cNvSpPr txBox="1"/>
          <p:nvPr/>
        </p:nvSpPr>
        <p:spPr>
          <a:xfrm>
            <a:off x="9976104"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41" name="Text 139"/>
          <p:cNvSpPr txBox="1"/>
          <p:nvPr/>
        </p:nvSpPr>
        <p:spPr>
          <a:xfrm>
            <a:off x="10579608"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43" name="Shape 141"/>
          <p:cNvSpPr/>
          <p:nvPr/>
        </p:nvSpPr>
        <p:spPr>
          <a:xfrm>
            <a:off x="8220456" y="4400521"/>
            <a:ext cx="62086" cy="145218"/>
          </a:xfrm>
          <a:prstGeom prst="rect">
            <a:avLst/>
          </a:prstGeom>
          <a:solidFill>
            <a:srgbClr val="C2352F"/>
          </a:solidFill>
          <a:ln/>
        </p:spPr>
      </p:sp>
      <p:sp>
        <p:nvSpPr>
          <p:cNvPr id="144" name="Text 142"/>
          <p:cNvSpPr txBox="1"/>
          <p:nvPr/>
        </p:nvSpPr>
        <p:spPr>
          <a:xfrm>
            <a:off x="9153144"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5" name="Text 143"/>
          <p:cNvSpPr txBox="1"/>
          <p:nvPr/>
        </p:nvSpPr>
        <p:spPr>
          <a:xfrm>
            <a:off x="9976104"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46" name="Text 144"/>
          <p:cNvSpPr txBox="1"/>
          <p:nvPr/>
        </p:nvSpPr>
        <p:spPr>
          <a:xfrm>
            <a:off x="10579608"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147" name="Text 145"/>
          <p:cNvSpPr txBox="1"/>
          <p:nvPr/>
        </p:nvSpPr>
        <p:spPr>
          <a:xfrm>
            <a:off x="6208776"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664554"/>
            <a:ext cx="54750" cy="145218"/>
          </a:xfrm>
          <a:prstGeom prst="rect">
            <a:avLst/>
          </a:prstGeom>
          <a:solidFill>
            <a:srgbClr val="C2352F"/>
          </a:solidFill>
          <a:ln/>
        </p:spPr>
      </p:sp>
      <p:sp>
        <p:nvSpPr>
          <p:cNvPr id="149" name="Text 147"/>
          <p:cNvSpPr txBox="1"/>
          <p:nvPr/>
        </p:nvSpPr>
        <p:spPr>
          <a:xfrm>
            <a:off x="9153144"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50" name="Text 148"/>
          <p:cNvSpPr txBox="1"/>
          <p:nvPr/>
        </p:nvSpPr>
        <p:spPr>
          <a:xfrm>
            <a:off x="9976104"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1" name="Text 149"/>
          <p:cNvSpPr txBox="1"/>
          <p:nvPr/>
        </p:nvSpPr>
        <p:spPr>
          <a:xfrm>
            <a:off x="10579608"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152" name="Text 150"/>
          <p:cNvSpPr txBox="1"/>
          <p:nvPr/>
        </p:nvSpPr>
        <p:spPr>
          <a:xfrm>
            <a:off x="6208776"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3" name="Shape 151"/>
          <p:cNvSpPr/>
          <p:nvPr/>
        </p:nvSpPr>
        <p:spPr>
          <a:xfrm>
            <a:off x="8220456" y="4928587"/>
            <a:ext cx="38667" cy="145218"/>
          </a:xfrm>
          <a:prstGeom prst="rect">
            <a:avLst/>
          </a:prstGeom>
          <a:solidFill>
            <a:srgbClr val="C2352F"/>
          </a:solidFill>
          <a:ln/>
        </p:spPr>
      </p:sp>
      <p:sp>
        <p:nvSpPr>
          <p:cNvPr id="154" name="Text 152"/>
          <p:cNvSpPr txBox="1"/>
          <p:nvPr/>
        </p:nvSpPr>
        <p:spPr>
          <a:xfrm>
            <a:off x="9153144"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5" name="Text 153"/>
          <p:cNvSpPr txBox="1"/>
          <p:nvPr/>
        </p:nvSpPr>
        <p:spPr>
          <a:xfrm>
            <a:off x="9976104"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6" name="Text 154"/>
          <p:cNvSpPr txBox="1"/>
          <p:nvPr/>
        </p:nvSpPr>
        <p:spPr>
          <a:xfrm>
            <a:off x="10579608"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57" name="Text 155"/>
          <p:cNvSpPr txBox="1"/>
          <p:nvPr/>
        </p:nvSpPr>
        <p:spPr>
          <a:xfrm>
            <a:off x="6208776"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8" name="Shape 156"/>
          <p:cNvSpPr/>
          <p:nvPr/>
        </p:nvSpPr>
        <p:spPr>
          <a:xfrm>
            <a:off x="8220456" y="5192620"/>
            <a:ext cx="19661" cy="145218"/>
          </a:xfrm>
          <a:prstGeom prst="rect">
            <a:avLst/>
          </a:prstGeom>
          <a:solidFill>
            <a:srgbClr val="C2352F"/>
          </a:solidFill>
          <a:ln/>
        </p:spPr>
      </p:sp>
      <p:sp>
        <p:nvSpPr>
          <p:cNvPr id="159" name="Text 157"/>
          <p:cNvSpPr txBox="1"/>
          <p:nvPr/>
        </p:nvSpPr>
        <p:spPr>
          <a:xfrm>
            <a:off x="9153144"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60" name="Text 158"/>
          <p:cNvSpPr txBox="1"/>
          <p:nvPr/>
        </p:nvSpPr>
        <p:spPr>
          <a:xfrm>
            <a:off x="9976104"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161" name="Text 159"/>
          <p:cNvSpPr txBox="1"/>
          <p:nvPr/>
        </p:nvSpPr>
        <p:spPr>
          <a:xfrm>
            <a:off x="10579608"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62" name="Text 160"/>
          <p:cNvSpPr txBox="1"/>
          <p:nvPr/>
        </p:nvSpPr>
        <p:spPr>
          <a:xfrm>
            <a:off x="6208776"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5456653"/>
            <a:ext cx="18288" cy="145218"/>
          </a:xfrm>
          <a:prstGeom prst="rect">
            <a:avLst/>
          </a:prstGeom>
          <a:solidFill>
            <a:srgbClr val="C2352F"/>
          </a:solidFill>
          <a:ln/>
        </p:spPr>
      </p:sp>
      <p:sp>
        <p:nvSpPr>
          <p:cNvPr id="164" name="Text 162"/>
          <p:cNvSpPr txBox="1"/>
          <p:nvPr/>
        </p:nvSpPr>
        <p:spPr>
          <a:xfrm>
            <a:off x="9153144"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976104"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6" name="Text 164"/>
          <p:cNvSpPr txBox="1"/>
          <p:nvPr/>
        </p:nvSpPr>
        <p:spPr>
          <a:xfrm>
            <a:off x="10579608"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7" name="Text 165"/>
          <p:cNvSpPr txBox="1"/>
          <p:nvPr/>
        </p:nvSpPr>
        <p:spPr>
          <a:xfrm>
            <a:off x="6208776"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220456" y="5720686"/>
            <a:ext cx="18288" cy="145218"/>
          </a:xfrm>
          <a:prstGeom prst="rect">
            <a:avLst/>
          </a:prstGeom>
          <a:solidFill>
            <a:srgbClr val="C2352F"/>
          </a:solidFill>
          <a:ln/>
        </p:spPr>
      </p:sp>
      <p:sp>
        <p:nvSpPr>
          <p:cNvPr id="169" name="Text 167"/>
          <p:cNvSpPr txBox="1"/>
          <p:nvPr/>
        </p:nvSpPr>
        <p:spPr>
          <a:xfrm>
            <a:off x="9153144"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70" name="Text 168"/>
          <p:cNvSpPr txBox="1"/>
          <p:nvPr/>
        </p:nvSpPr>
        <p:spPr>
          <a:xfrm>
            <a:off x="9976104"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71" name="Text 169"/>
          <p:cNvSpPr txBox="1"/>
          <p:nvPr/>
        </p:nvSpPr>
        <p:spPr>
          <a:xfrm>
            <a:off x="10579608"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72" name="Shape 170"/>
          <p:cNvSpPr/>
          <p:nvPr/>
        </p:nvSpPr>
        <p:spPr>
          <a:xfrm>
            <a:off x="457200" y="6126480"/>
            <a:ext cx="11274552" cy="371856"/>
          </a:xfrm>
          <a:prstGeom prst="rect">
            <a:avLst/>
          </a:prstGeom>
          <a:solidFill>
            <a:srgbClr val="FBEBEA"/>
          </a:solidFill>
          <a:ln/>
        </p:spPr>
      </p:sp>
      <p:sp>
        <p:nvSpPr>
          <p:cNvPr id="173" name="Text 17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leaves the most at $541,039 a year. 15 stores are under all four benchmarks.</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 Increases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735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7" name="Text 5"/>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8239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10" name="Text 8"/>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95836"/>
            <a:ext cx="548640" cy="232349"/>
          </a:xfrm>
          <a:prstGeom prst="rect">
            <a:avLst/>
          </a:prstGeom>
          <a:solidFill>
            <a:srgbClr val="12A566"/>
          </a:solidFill>
          <a:ln/>
        </p:spPr>
      </p:sp>
      <p:sp>
        <p:nvSpPr>
          <p:cNvPr id="14" name="Text 12"/>
          <p:cNvSpPr txBox="1"/>
          <p:nvPr/>
        </p:nvSpPr>
        <p:spPr>
          <a:xfrm>
            <a:off x="3273552" y="170078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$798K</a:t>
            </a:r>
            <a:endParaRPr lang="en-US" sz="1300" dirty="0"/>
          </a:p>
        </p:txBody>
      </p:sp>
      <p:sp>
        <p:nvSpPr>
          <p:cNvPr id="15" name="Text 13"/>
          <p:cNvSpPr txBox="1"/>
          <p:nvPr/>
        </p:nvSpPr>
        <p:spPr>
          <a:xfrm>
            <a:off x="4187952"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$420K</a:t>
            </a:r>
            <a:endParaRPr lang="en-US" sz="1300" dirty="0"/>
          </a:p>
        </p:txBody>
      </p:sp>
      <p:sp>
        <p:nvSpPr>
          <p:cNvPr id="16" name="Text 14"/>
          <p:cNvSpPr txBox="1"/>
          <p:nvPr/>
        </p:nvSpPr>
        <p:spPr>
          <a:xfrm>
            <a:off x="502920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$378K</a:t>
            </a:r>
            <a:endParaRPr lang="en-US" sz="1300" dirty="0"/>
          </a:p>
        </p:txBody>
      </p:sp>
      <p:sp>
        <p:nvSpPr>
          <p:cNvPr id="17" name="Text 15"/>
          <p:cNvSpPr txBox="1"/>
          <p:nvPr/>
        </p:nvSpPr>
        <p:spPr>
          <a:xfrm>
            <a:off x="658368"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8" name="Shape 16"/>
          <p:cNvSpPr/>
          <p:nvPr/>
        </p:nvSpPr>
        <p:spPr>
          <a:xfrm>
            <a:off x="2670048" y="2218289"/>
            <a:ext cx="318622" cy="232349"/>
          </a:xfrm>
          <a:prstGeom prst="rect">
            <a:avLst/>
          </a:prstGeom>
          <a:solidFill>
            <a:srgbClr val="12A566"/>
          </a:solidFill>
          <a:ln/>
        </p:spPr>
      </p:sp>
      <p:sp>
        <p:nvSpPr>
          <p:cNvPr id="19" name="Text 17"/>
          <p:cNvSpPr txBox="1"/>
          <p:nvPr/>
        </p:nvSpPr>
        <p:spPr>
          <a:xfrm>
            <a:off x="3273552" y="2123237"/>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$463K</a:t>
            </a:r>
            <a:endParaRPr lang="en-US" sz="1300" dirty="0"/>
          </a:p>
        </p:txBody>
      </p:sp>
      <p:sp>
        <p:nvSpPr>
          <p:cNvPr id="20" name="Text 18"/>
          <p:cNvSpPr txBox="1"/>
          <p:nvPr/>
        </p:nvSpPr>
        <p:spPr>
          <a:xfrm>
            <a:off x="4187952"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21" name="Text 19"/>
          <p:cNvSpPr txBox="1"/>
          <p:nvPr/>
        </p:nvSpPr>
        <p:spPr>
          <a:xfrm>
            <a:off x="502920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$320K</a:t>
            </a:r>
            <a:endParaRPr lang="en-US" sz="1300" dirty="0"/>
          </a:p>
        </p:txBody>
      </p:sp>
      <p:sp>
        <p:nvSpPr>
          <p:cNvPr id="22" name="Text 20"/>
          <p:cNvSpPr txBox="1"/>
          <p:nvPr/>
        </p:nvSpPr>
        <p:spPr>
          <a:xfrm>
            <a:off x="658368"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3" name="Shape 21"/>
          <p:cNvSpPr/>
          <p:nvPr/>
        </p:nvSpPr>
        <p:spPr>
          <a:xfrm>
            <a:off x="2670048" y="2640741"/>
            <a:ext cx="236506" cy="232349"/>
          </a:xfrm>
          <a:prstGeom prst="rect">
            <a:avLst/>
          </a:prstGeom>
          <a:solidFill>
            <a:srgbClr val="12A566"/>
          </a:solidFill>
          <a:ln/>
        </p:spPr>
      </p:sp>
      <p:sp>
        <p:nvSpPr>
          <p:cNvPr id="24" name="Text 22"/>
          <p:cNvSpPr txBox="1"/>
          <p:nvPr/>
        </p:nvSpPr>
        <p:spPr>
          <a:xfrm>
            <a:off x="3273552" y="2545690"/>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$344K</a:t>
            </a:r>
            <a:endParaRPr lang="en-US" sz="1300" dirty="0"/>
          </a:p>
        </p:txBody>
      </p:sp>
      <p:sp>
        <p:nvSpPr>
          <p:cNvPr id="25" name="Text 23"/>
          <p:cNvSpPr txBox="1"/>
          <p:nvPr/>
        </p:nvSpPr>
        <p:spPr>
          <a:xfrm>
            <a:off x="4187952"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$123K</a:t>
            </a:r>
            <a:endParaRPr lang="en-US" sz="1300" dirty="0"/>
          </a:p>
        </p:txBody>
      </p:sp>
      <p:sp>
        <p:nvSpPr>
          <p:cNvPr id="26" name="Text 24"/>
          <p:cNvSpPr txBox="1"/>
          <p:nvPr/>
        </p:nvSpPr>
        <p:spPr>
          <a:xfrm>
            <a:off x="502920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27" name="Text 25"/>
          <p:cNvSpPr txBox="1"/>
          <p:nvPr/>
        </p:nvSpPr>
        <p:spPr>
          <a:xfrm>
            <a:off x="658368"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8" name="Shape 26"/>
          <p:cNvSpPr/>
          <p:nvPr/>
        </p:nvSpPr>
        <p:spPr>
          <a:xfrm>
            <a:off x="2670048" y="3063194"/>
            <a:ext cx="223981" cy="232349"/>
          </a:xfrm>
          <a:prstGeom prst="rect">
            <a:avLst/>
          </a:prstGeom>
          <a:solidFill>
            <a:srgbClr val="12A566"/>
          </a:solidFill>
          <a:ln/>
        </p:spPr>
      </p:sp>
      <p:sp>
        <p:nvSpPr>
          <p:cNvPr id="29" name="Text 27"/>
          <p:cNvSpPr txBox="1"/>
          <p:nvPr/>
        </p:nvSpPr>
        <p:spPr>
          <a:xfrm>
            <a:off x="3273552" y="2968142"/>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$326K</a:t>
            </a:r>
            <a:endParaRPr lang="en-US" sz="1300" dirty="0"/>
          </a:p>
        </p:txBody>
      </p:sp>
      <p:sp>
        <p:nvSpPr>
          <p:cNvPr id="30" name="Text 28"/>
          <p:cNvSpPr txBox="1"/>
          <p:nvPr/>
        </p:nvSpPr>
        <p:spPr>
          <a:xfrm>
            <a:off x="4187952"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$206K</a:t>
            </a:r>
            <a:endParaRPr lang="en-US" sz="1300" dirty="0"/>
          </a:p>
        </p:txBody>
      </p:sp>
      <p:sp>
        <p:nvSpPr>
          <p:cNvPr id="31" name="Text 29"/>
          <p:cNvSpPr txBox="1"/>
          <p:nvPr/>
        </p:nvSpPr>
        <p:spPr>
          <a:xfrm>
            <a:off x="502920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$119K</a:t>
            </a:r>
            <a:endParaRPr lang="en-US" sz="1300" dirty="0"/>
          </a:p>
        </p:txBody>
      </p:sp>
      <p:sp>
        <p:nvSpPr>
          <p:cNvPr id="32" name="Text 30"/>
          <p:cNvSpPr txBox="1"/>
          <p:nvPr/>
        </p:nvSpPr>
        <p:spPr>
          <a:xfrm>
            <a:off x="658368"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3" name="Shape 31"/>
          <p:cNvSpPr/>
          <p:nvPr/>
        </p:nvSpPr>
        <p:spPr>
          <a:xfrm>
            <a:off x="2670048" y="3485647"/>
            <a:ext cx="200812" cy="232349"/>
          </a:xfrm>
          <a:prstGeom prst="rect">
            <a:avLst/>
          </a:prstGeom>
          <a:solidFill>
            <a:srgbClr val="12A566"/>
          </a:solidFill>
          <a:ln/>
        </p:spPr>
      </p:sp>
      <p:sp>
        <p:nvSpPr>
          <p:cNvPr id="34" name="Text 32"/>
          <p:cNvSpPr txBox="1"/>
          <p:nvPr/>
        </p:nvSpPr>
        <p:spPr>
          <a:xfrm>
            <a:off x="3273552" y="3390595"/>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$292K</a:t>
            </a:r>
            <a:endParaRPr lang="en-US" sz="1300" dirty="0"/>
          </a:p>
        </p:txBody>
      </p:sp>
      <p:sp>
        <p:nvSpPr>
          <p:cNvPr id="35" name="Text 33"/>
          <p:cNvSpPr txBox="1"/>
          <p:nvPr/>
        </p:nvSpPr>
        <p:spPr>
          <a:xfrm>
            <a:off x="4187952"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$165K</a:t>
            </a:r>
            <a:endParaRPr lang="en-US" sz="1300" dirty="0"/>
          </a:p>
        </p:txBody>
      </p:sp>
      <p:sp>
        <p:nvSpPr>
          <p:cNvPr id="36" name="Text 34"/>
          <p:cNvSpPr txBox="1"/>
          <p:nvPr/>
        </p:nvSpPr>
        <p:spPr>
          <a:xfrm>
            <a:off x="502920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37" name="Text 35"/>
          <p:cNvSpPr txBox="1"/>
          <p:nvPr/>
        </p:nvSpPr>
        <p:spPr>
          <a:xfrm>
            <a:off x="658368"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8" name="Shape 36"/>
          <p:cNvSpPr/>
          <p:nvPr/>
        </p:nvSpPr>
        <p:spPr>
          <a:xfrm>
            <a:off x="2670048" y="3908100"/>
            <a:ext cx="194987" cy="232349"/>
          </a:xfrm>
          <a:prstGeom prst="rect">
            <a:avLst/>
          </a:prstGeom>
          <a:solidFill>
            <a:srgbClr val="12A566"/>
          </a:solidFill>
          <a:ln/>
        </p:spPr>
      </p:sp>
      <p:sp>
        <p:nvSpPr>
          <p:cNvPr id="39" name="Text 37"/>
          <p:cNvSpPr txBox="1"/>
          <p:nvPr/>
        </p:nvSpPr>
        <p:spPr>
          <a:xfrm>
            <a:off x="3273552" y="3813048"/>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$284K</a:t>
            </a:r>
            <a:endParaRPr lang="en-US" sz="1300" dirty="0"/>
          </a:p>
        </p:txBody>
      </p:sp>
      <p:sp>
        <p:nvSpPr>
          <p:cNvPr id="40" name="Text 38"/>
          <p:cNvSpPr txBox="1"/>
          <p:nvPr/>
        </p:nvSpPr>
        <p:spPr>
          <a:xfrm>
            <a:off x="4187952"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41" name="Text 39"/>
          <p:cNvSpPr txBox="1"/>
          <p:nvPr/>
        </p:nvSpPr>
        <p:spPr>
          <a:xfrm>
            <a:off x="502920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42" name="Text 40"/>
          <p:cNvSpPr txBox="1"/>
          <p:nvPr/>
        </p:nvSpPr>
        <p:spPr>
          <a:xfrm>
            <a:off x="658368"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3" name="Shape 41"/>
          <p:cNvSpPr/>
          <p:nvPr/>
        </p:nvSpPr>
        <p:spPr>
          <a:xfrm>
            <a:off x="2670048" y="4330553"/>
            <a:ext cx="154953" cy="232349"/>
          </a:xfrm>
          <a:prstGeom prst="rect">
            <a:avLst/>
          </a:prstGeom>
          <a:solidFill>
            <a:srgbClr val="12A566"/>
          </a:solidFill>
          <a:ln/>
        </p:spPr>
      </p:sp>
      <p:sp>
        <p:nvSpPr>
          <p:cNvPr id="44" name="Text 42"/>
          <p:cNvSpPr txBox="1"/>
          <p:nvPr/>
        </p:nvSpPr>
        <p:spPr>
          <a:xfrm>
            <a:off x="3273552" y="4235501"/>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$225K</a:t>
            </a:r>
            <a:endParaRPr lang="en-US" sz="1300" dirty="0"/>
          </a:p>
        </p:txBody>
      </p:sp>
      <p:sp>
        <p:nvSpPr>
          <p:cNvPr id="45" name="Text 43"/>
          <p:cNvSpPr txBox="1"/>
          <p:nvPr/>
        </p:nvSpPr>
        <p:spPr>
          <a:xfrm>
            <a:off x="4187952"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46" name="Text 44"/>
          <p:cNvSpPr txBox="1"/>
          <p:nvPr/>
        </p:nvSpPr>
        <p:spPr>
          <a:xfrm>
            <a:off x="502920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$98K</a:t>
            </a:r>
            <a:endParaRPr lang="en-US" sz="1300" dirty="0"/>
          </a:p>
        </p:txBody>
      </p:sp>
      <p:sp>
        <p:nvSpPr>
          <p:cNvPr id="47" name="Text 45"/>
          <p:cNvSpPr txBox="1"/>
          <p:nvPr/>
        </p:nvSpPr>
        <p:spPr>
          <a:xfrm>
            <a:off x="658368"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753005"/>
            <a:ext cx="143889" cy="232349"/>
          </a:xfrm>
          <a:prstGeom prst="rect">
            <a:avLst/>
          </a:prstGeom>
          <a:solidFill>
            <a:srgbClr val="12A566"/>
          </a:solidFill>
          <a:ln/>
        </p:spPr>
      </p:sp>
      <p:sp>
        <p:nvSpPr>
          <p:cNvPr id="49" name="Text 47"/>
          <p:cNvSpPr txBox="1"/>
          <p:nvPr/>
        </p:nvSpPr>
        <p:spPr>
          <a:xfrm>
            <a:off x="3273552" y="465795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$209K</a:t>
            </a:r>
            <a:endParaRPr lang="en-US" sz="1300" dirty="0"/>
          </a:p>
        </p:txBody>
      </p:sp>
      <p:sp>
        <p:nvSpPr>
          <p:cNvPr id="50" name="Text 48"/>
          <p:cNvSpPr txBox="1"/>
          <p:nvPr/>
        </p:nvSpPr>
        <p:spPr>
          <a:xfrm>
            <a:off x="4187952"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51" name="Text 49"/>
          <p:cNvSpPr txBox="1"/>
          <p:nvPr/>
        </p:nvSpPr>
        <p:spPr>
          <a:xfrm>
            <a:off x="502920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2" name="Text 50"/>
          <p:cNvSpPr txBox="1"/>
          <p:nvPr/>
        </p:nvSpPr>
        <p:spPr>
          <a:xfrm>
            <a:off x="658368"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53" name="Shape 51"/>
          <p:cNvSpPr/>
          <p:nvPr/>
        </p:nvSpPr>
        <p:spPr>
          <a:xfrm>
            <a:off x="2670048" y="5175458"/>
            <a:ext cx="100447" cy="232349"/>
          </a:xfrm>
          <a:prstGeom prst="rect">
            <a:avLst/>
          </a:prstGeom>
          <a:solidFill>
            <a:srgbClr val="12A566"/>
          </a:solidFill>
          <a:ln/>
        </p:spPr>
      </p:sp>
      <p:sp>
        <p:nvSpPr>
          <p:cNvPr id="54" name="Text 52"/>
          <p:cNvSpPr txBox="1"/>
          <p:nvPr/>
        </p:nvSpPr>
        <p:spPr>
          <a:xfrm>
            <a:off x="3273552" y="5080406"/>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$146K</a:t>
            </a:r>
            <a:endParaRPr lang="en-US" sz="1300" dirty="0"/>
          </a:p>
        </p:txBody>
      </p:sp>
      <p:sp>
        <p:nvSpPr>
          <p:cNvPr id="55" name="Text 53"/>
          <p:cNvSpPr txBox="1"/>
          <p:nvPr/>
        </p:nvSpPr>
        <p:spPr>
          <a:xfrm>
            <a:off x="4187952"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56" name="Text 54"/>
          <p:cNvSpPr txBox="1"/>
          <p:nvPr/>
        </p:nvSpPr>
        <p:spPr>
          <a:xfrm>
            <a:off x="502920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57" name="Text 55"/>
          <p:cNvSpPr txBox="1"/>
          <p:nvPr/>
        </p:nvSpPr>
        <p:spPr>
          <a:xfrm>
            <a:off x="658368" y="5502859"/>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8" name="Shape 56"/>
          <p:cNvSpPr/>
          <p:nvPr/>
        </p:nvSpPr>
        <p:spPr>
          <a:xfrm>
            <a:off x="2670048" y="5597911"/>
            <a:ext cx="91924" cy="232349"/>
          </a:xfrm>
          <a:prstGeom prst="rect">
            <a:avLst/>
          </a:prstGeom>
          <a:solidFill>
            <a:srgbClr val="12A566"/>
          </a:solidFill>
          <a:ln/>
        </p:spPr>
      </p:sp>
      <p:sp>
        <p:nvSpPr>
          <p:cNvPr id="59" name="Text 57"/>
          <p:cNvSpPr txBox="1"/>
          <p:nvPr/>
        </p:nvSpPr>
        <p:spPr>
          <a:xfrm>
            <a:off x="3273552" y="5502859"/>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$134K</a:t>
            </a:r>
            <a:endParaRPr lang="en-US" sz="1300" dirty="0"/>
          </a:p>
        </p:txBody>
      </p:sp>
      <p:sp>
        <p:nvSpPr>
          <p:cNvPr id="60" name="Text 58"/>
          <p:cNvSpPr txBox="1"/>
          <p:nvPr/>
        </p:nvSpPr>
        <p:spPr>
          <a:xfrm>
            <a:off x="4187952"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1" name="Text 59"/>
          <p:cNvSpPr txBox="1"/>
          <p:nvPr/>
        </p:nvSpPr>
        <p:spPr>
          <a:xfrm>
            <a:off x="5029200"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$134K</a:t>
            </a:r>
            <a:endParaRPr lang="en-US" sz="1300" dirty="0"/>
          </a:p>
        </p:txBody>
      </p:sp>
      <p:sp>
        <p:nvSpPr>
          <p:cNvPr id="62" name="Text 60"/>
          <p:cNvSpPr txBox="1"/>
          <p:nvPr/>
        </p:nvSpPr>
        <p:spPr>
          <a:xfrm>
            <a:off x="6208776"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Shape 61"/>
          <p:cNvSpPr/>
          <p:nvPr/>
        </p:nvSpPr>
        <p:spPr>
          <a:xfrm>
            <a:off x="8220456" y="1795836"/>
            <a:ext cx="66189" cy="232349"/>
          </a:xfrm>
          <a:prstGeom prst="rect">
            <a:avLst/>
          </a:prstGeom>
          <a:solidFill>
            <a:srgbClr val="12A566"/>
          </a:solidFill>
          <a:ln/>
        </p:spPr>
      </p:sp>
      <p:sp>
        <p:nvSpPr>
          <p:cNvPr id="64" name="Text 62"/>
          <p:cNvSpPr txBox="1"/>
          <p:nvPr/>
        </p:nvSpPr>
        <p:spPr>
          <a:xfrm>
            <a:off x="8823960" y="170078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$96K</a:t>
            </a:r>
            <a:endParaRPr lang="en-US" sz="1300" dirty="0"/>
          </a:p>
        </p:txBody>
      </p:sp>
      <p:sp>
        <p:nvSpPr>
          <p:cNvPr id="65" name="Text 63"/>
          <p:cNvSpPr txBox="1"/>
          <p:nvPr/>
        </p:nvSpPr>
        <p:spPr>
          <a:xfrm>
            <a:off x="973836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6" name="Text 64"/>
          <p:cNvSpPr txBox="1"/>
          <p:nvPr/>
        </p:nvSpPr>
        <p:spPr>
          <a:xfrm>
            <a:off x="10579608"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67" name="Text 65"/>
          <p:cNvSpPr txBox="1"/>
          <p:nvPr/>
        </p:nvSpPr>
        <p:spPr>
          <a:xfrm>
            <a:off x="6208776"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8220456" y="2218289"/>
            <a:ext cx="65059" cy="232349"/>
          </a:xfrm>
          <a:prstGeom prst="rect">
            <a:avLst/>
          </a:prstGeom>
          <a:solidFill>
            <a:srgbClr val="12A566"/>
          </a:solidFill>
          <a:ln/>
        </p:spPr>
      </p:sp>
      <p:sp>
        <p:nvSpPr>
          <p:cNvPr id="69" name="Text 67"/>
          <p:cNvSpPr txBox="1"/>
          <p:nvPr/>
        </p:nvSpPr>
        <p:spPr>
          <a:xfrm>
            <a:off x="8823960" y="2123237"/>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$95K</a:t>
            </a:r>
            <a:endParaRPr lang="en-US" sz="1300" dirty="0"/>
          </a:p>
        </p:txBody>
      </p:sp>
      <p:sp>
        <p:nvSpPr>
          <p:cNvPr id="70" name="Text 68"/>
          <p:cNvSpPr txBox="1"/>
          <p:nvPr/>
        </p:nvSpPr>
        <p:spPr>
          <a:xfrm>
            <a:off x="973836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$64K</a:t>
            </a:r>
            <a:endParaRPr lang="en-US" sz="1300" dirty="0"/>
          </a:p>
        </p:txBody>
      </p:sp>
      <p:sp>
        <p:nvSpPr>
          <p:cNvPr id="71" name="Text 69"/>
          <p:cNvSpPr txBox="1"/>
          <p:nvPr/>
        </p:nvSpPr>
        <p:spPr>
          <a:xfrm>
            <a:off x="10579608"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72" name="Text 70"/>
          <p:cNvSpPr txBox="1"/>
          <p:nvPr/>
        </p:nvSpPr>
        <p:spPr>
          <a:xfrm>
            <a:off x="6208776"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3" name="Shape 71"/>
          <p:cNvSpPr/>
          <p:nvPr/>
        </p:nvSpPr>
        <p:spPr>
          <a:xfrm>
            <a:off x="8220456" y="2640741"/>
            <a:ext cx="64094" cy="232349"/>
          </a:xfrm>
          <a:prstGeom prst="rect">
            <a:avLst/>
          </a:prstGeom>
          <a:solidFill>
            <a:srgbClr val="12A566"/>
          </a:solidFill>
          <a:ln/>
        </p:spPr>
      </p:sp>
      <p:sp>
        <p:nvSpPr>
          <p:cNvPr id="74" name="Text 72"/>
          <p:cNvSpPr txBox="1"/>
          <p:nvPr/>
        </p:nvSpPr>
        <p:spPr>
          <a:xfrm>
            <a:off x="8823960" y="2545690"/>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$93K</a:t>
            </a:r>
            <a:endParaRPr lang="en-US" sz="1300" dirty="0"/>
          </a:p>
        </p:txBody>
      </p:sp>
      <p:sp>
        <p:nvSpPr>
          <p:cNvPr id="75" name="Text 73"/>
          <p:cNvSpPr txBox="1"/>
          <p:nvPr/>
        </p:nvSpPr>
        <p:spPr>
          <a:xfrm>
            <a:off x="973836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76" name="Text 74"/>
          <p:cNvSpPr txBox="1"/>
          <p:nvPr/>
        </p:nvSpPr>
        <p:spPr>
          <a:xfrm>
            <a:off x="10579608"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$60K</a:t>
            </a:r>
            <a:endParaRPr lang="en-US" sz="1300" dirty="0"/>
          </a:p>
        </p:txBody>
      </p:sp>
      <p:sp>
        <p:nvSpPr>
          <p:cNvPr id="77" name="Text 75"/>
          <p:cNvSpPr txBox="1"/>
          <p:nvPr/>
        </p:nvSpPr>
        <p:spPr>
          <a:xfrm>
            <a:off x="6208776"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8220456" y="3063194"/>
            <a:ext cx="62344" cy="232349"/>
          </a:xfrm>
          <a:prstGeom prst="rect">
            <a:avLst/>
          </a:prstGeom>
          <a:solidFill>
            <a:srgbClr val="12A566"/>
          </a:solidFill>
          <a:ln/>
        </p:spPr>
      </p:sp>
      <p:sp>
        <p:nvSpPr>
          <p:cNvPr id="79" name="Text 77"/>
          <p:cNvSpPr txBox="1"/>
          <p:nvPr/>
        </p:nvSpPr>
        <p:spPr>
          <a:xfrm>
            <a:off x="8823960" y="2968142"/>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$91K</a:t>
            </a:r>
            <a:endParaRPr lang="en-US" sz="1300" dirty="0"/>
          </a:p>
        </p:txBody>
      </p:sp>
      <p:sp>
        <p:nvSpPr>
          <p:cNvPr id="80" name="Text 78"/>
          <p:cNvSpPr txBox="1"/>
          <p:nvPr/>
        </p:nvSpPr>
        <p:spPr>
          <a:xfrm>
            <a:off x="973836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81" name="Text 79"/>
          <p:cNvSpPr txBox="1"/>
          <p:nvPr/>
        </p:nvSpPr>
        <p:spPr>
          <a:xfrm>
            <a:off x="10579608"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$53K</a:t>
            </a:r>
            <a:endParaRPr lang="en-US" sz="1300" dirty="0"/>
          </a:p>
        </p:txBody>
      </p:sp>
      <p:sp>
        <p:nvSpPr>
          <p:cNvPr id="82" name="Text 80"/>
          <p:cNvSpPr txBox="1"/>
          <p:nvPr/>
        </p:nvSpPr>
        <p:spPr>
          <a:xfrm>
            <a:off x="6208776"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8220456" y="3485647"/>
            <a:ext cx="51536" cy="232349"/>
          </a:xfrm>
          <a:prstGeom prst="rect">
            <a:avLst/>
          </a:prstGeom>
          <a:solidFill>
            <a:srgbClr val="12A566"/>
          </a:solidFill>
          <a:ln/>
        </p:spPr>
      </p:sp>
      <p:sp>
        <p:nvSpPr>
          <p:cNvPr id="84" name="Text 82"/>
          <p:cNvSpPr txBox="1"/>
          <p:nvPr/>
        </p:nvSpPr>
        <p:spPr>
          <a:xfrm>
            <a:off x="8823960" y="3390595"/>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$75K</a:t>
            </a:r>
            <a:endParaRPr lang="en-US" sz="1300" dirty="0"/>
          </a:p>
        </p:txBody>
      </p:sp>
      <p:sp>
        <p:nvSpPr>
          <p:cNvPr id="85" name="Text 83"/>
          <p:cNvSpPr txBox="1"/>
          <p:nvPr/>
        </p:nvSpPr>
        <p:spPr>
          <a:xfrm>
            <a:off x="973836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$75K</a:t>
            </a:r>
            <a:endParaRPr lang="en-US" sz="1300" dirty="0"/>
          </a:p>
        </p:txBody>
      </p:sp>
      <p:sp>
        <p:nvSpPr>
          <p:cNvPr id="86" name="Text 84"/>
          <p:cNvSpPr txBox="1"/>
          <p:nvPr/>
        </p:nvSpPr>
        <p:spPr>
          <a:xfrm>
            <a:off x="10579608"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87" name="Text 85"/>
          <p:cNvSpPr txBox="1"/>
          <p:nvPr/>
        </p:nvSpPr>
        <p:spPr>
          <a:xfrm>
            <a:off x="6208776"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8" name="Shape 86"/>
          <p:cNvSpPr/>
          <p:nvPr/>
        </p:nvSpPr>
        <p:spPr>
          <a:xfrm>
            <a:off x="8220456" y="3908100"/>
            <a:ext cx="42311" cy="232349"/>
          </a:xfrm>
          <a:prstGeom prst="rect">
            <a:avLst/>
          </a:prstGeom>
          <a:solidFill>
            <a:srgbClr val="12A566"/>
          </a:solidFill>
          <a:ln/>
        </p:spPr>
      </p:sp>
      <p:sp>
        <p:nvSpPr>
          <p:cNvPr id="89" name="Text 87"/>
          <p:cNvSpPr txBox="1"/>
          <p:nvPr/>
        </p:nvSpPr>
        <p:spPr>
          <a:xfrm>
            <a:off x="8823960" y="3813048"/>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$62K</a:t>
            </a:r>
            <a:endParaRPr lang="en-US" sz="1300" dirty="0"/>
          </a:p>
        </p:txBody>
      </p:sp>
      <p:sp>
        <p:nvSpPr>
          <p:cNvPr id="90" name="Text 88"/>
          <p:cNvSpPr txBox="1"/>
          <p:nvPr/>
        </p:nvSpPr>
        <p:spPr>
          <a:xfrm>
            <a:off x="973836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1" name="Text 89"/>
          <p:cNvSpPr txBox="1"/>
          <p:nvPr/>
        </p:nvSpPr>
        <p:spPr>
          <a:xfrm>
            <a:off x="10579608"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92" name="Text 90"/>
          <p:cNvSpPr txBox="1"/>
          <p:nvPr/>
        </p:nvSpPr>
        <p:spPr>
          <a:xfrm>
            <a:off x="6208776"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4330553"/>
            <a:ext cx="24274" cy="232349"/>
          </a:xfrm>
          <a:prstGeom prst="rect">
            <a:avLst/>
          </a:prstGeom>
          <a:solidFill>
            <a:srgbClr val="12A566"/>
          </a:solidFill>
          <a:ln/>
        </p:spPr>
      </p:sp>
      <p:sp>
        <p:nvSpPr>
          <p:cNvPr id="94" name="Text 92"/>
          <p:cNvSpPr txBox="1"/>
          <p:nvPr/>
        </p:nvSpPr>
        <p:spPr>
          <a:xfrm>
            <a:off x="8823960" y="4235501"/>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$35K</a:t>
            </a:r>
            <a:endParaRPr lang="en-US" sz="1300" dirty="0"/>
          </a:p>
        </p:txBody>
      </p:sp>
      <p:sp>
        <p:nvSpPr>
          <p:cNvPr id="95" name="Text 93"/>
          <p:cNvSpPr txBox="1"/>
          <p:nvPr/>
        </p:nvSpPr>
        <p:spPr>
          <a:xfrm>
            <a:off x="973836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$35K</a:t>
            </a:r>
            <a:endParaRPr lang="en-US" sz="1300" dirty="0"/>
          </a:p>
        </p:txBody>
      </p:sp>
      <p:sp>
        <p:nvSpPr>
          <p:cNvPr id="96" name="Text 94"/>
          <p:cNvSpPr txBox="1"/>
          <p:nvPr/>
        </p:nvSpPr>
        <p:spPr>
          <a:xfrm>
            <a:off x="10579608"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6208776"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8" name="Shape 96"/>
          <p:cNvSpPr/>
          <p:nvPr/>
        </p:nvSpPr>
        <p:spPr>
          <a:xfrm>
            <a:off x="8220456" y="4753005"/>
            <a:ext cx="18288" cy="232349"/>
          </a:xfrm>
          <a:prstGeom prst="rect">
            <a:avLst/>
          </a:prstGeom>
          <a:solidFill>
            <a:srgbClr val="12A566"/>
          </a:solidFill>
          <a:ln/>
        </p:spPr>
      </p:sp>
      <p:sp>
        <p:nvSpPr>
          <p:cNvPr id="99" name="Text 97"/>
          <p:cNvSpPr txBox="1"/>
          <p:nvPr/>
        </p:nvSpPr>
        <p:spPr>
          <a:xfrm>
            <a:off x="8823960" y="465795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100" name="Text 98"/>
          <p:cNvSpPr txBox="1"/>
          <p:nvPr/>
        </p:nvSpPr>
        <p:spPr>
          <a:xfrm>
            <a:off x="973836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1" name="Text 99"/>
          <p:cNvSpPr txBox="1"/>
          <p:nvPr/>
        </p:nvSpPr>
        <p:spPr>
          <a:xfrm>
            <a:off x="10579608"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02" name="Text 100"/>
          <p:cNvSpPr txBox="1"/>
          <p:nvPr/>
        </p:nvSpPr>
        <p:spPr>
          <a:xfrm>
            <a:off x="6208776"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3" name="Shape 101"/>
          <p:cNvSpPr/>
          <p:nvPr/>
        </p:nvSpPr>
        <p:spPr>
          <a:xfrm>
            <a:off x="8220456" y="5175458"/>
            <a:ext cx="18288" cy="232349"/>
          </a:xfrm>
          <a:prstGeom prst="rect">
            <a:avLst/>
          </a:prstGeom>
          <a:solidFill>
            <a:srgbClr val="12A566"/>
          </a:solidFill>
          <a:ln/>
        </p:spPr>
      </p:sp>
      <p:sp>
        <p:nvSpPr>
          <p:cNvPr id="104" name="Text 102"/>
          <p:cNvSpPr txBox="1"/>
          <p:nvPr/>
        </p:nvSpPr>
        <p:spPr>
          <a:xfrm>
            <a:off x="8823960" y="5080406"/>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105" name="Text 103"/>
          <p:cNvSpPr txBox="1"/>
          <p:nvPr/>
        </p:nvSpPr>
        <p:spPr>
          <a:xfrm>
            <a:off x="973836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6" name="Text 104"/>
          <p:cNvSpPr txBox="1"/>
          <p:nvPr/>
        </p:nvSpPr>
        <p:spPr>
          <a:xfrm>
            <a:off x="10579608"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$5K</a:t>
            </a:r>
            <a:endParaRPr lang="en-US" sz="1300" dirty="0"/>
          </a:p>
        </p:txBody>
      </p:sp>
      <p:sp>
        <p:nvSpPr>
          <p:cNvPr id="107" name="Shape 105"/>
          <p:cNvSpPr/>
          <p:nvPr/>
        </p:nvSpPr>
        <p:spPr>
          <a:xfrm>
            <a:off x="457200" y="6126480"/>
            <a:ext cx="11274552" cy="615696"/>
          </a:xfrm>
          <a:prstGeom prst="rect">
            <a:avLst/>
          </a:prstGeom>
          <a:solidFill>
            <a:srgbClr val="E6F6EE"/>
          </a:solidFill>
          <a:ln/>
        </p:spPr>
      </p:sp>
      <p:sp>
        <p:nvSpPr>
          <p:cNvPr id="108" name="Text 10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$3,788,200 in added gross profit from warranty rate increases approved this year at 19 stores. Higher rates bring more audits: the process is how we keep it.</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42.6%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2.1 pts to 44.7%, ahead of 2025 in all nine months: approved parts markup increases show up as margin.</a:t>
            </a:r>
            <a:endParaRPr lang="en-US" sz="15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Primary causes in the six audits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Manager signature on add-ons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Any added repair approved and signed by a manager before it is claimed</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Signatures on in-stock units</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Customer and manager signatures on repairs to units in stock</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FBEBEA"/>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advisor a month, down 7. Advisors grew 1.5%; ROs fell 2.3%.</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012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3425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0235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86053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88466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5276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87195"/>
            <a:ext cx="585216" cy="211226"/>
          </a:xfrm>
          <a:prstGeom prst="rect">
            <a:avLst/>
          </a:prstGeom>
          <a:solidFill>
            <a:srgbClr val="C2352F"/>
          </a:solidFill>
          <a:ln/>
        </p:spPr>
      </p:sp>
      <p:sp>
        <p:nvSpPr>
          <p:cNvPr id="14" name="Text 12"/>
          <p:cNvSpPr txBox="1"/>
          <p:nvPr/>
        </p:nvSpPr>
        <p:spPr>
          <a:xfrm>
            <a:off x="331012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5" name="Text 13"/>
          <p:cNvSpPr txBox="1"/>
          <p:nvPr/>
        </p:nvSpPr>
        <p:spPr>
          <a:xfrm>
            <a:off x="433425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6" name="Text 14"/>
          <p:cNvSpPr txBox="1"/>
          <p:nvPr/>
        </p:nvSpPr>
        <p:spPr>
          <a:xfrm>
            <a:off x="510235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8" name="Shape 16"/>
          <p:cNvSpPr/>
          <p:nvPr/>
        </p:nvSpPr>
        <p:spPr>
          <a:xfrm>
            <a:off x="2670048" y="2171243"/>
            <a:ext cx="521308" cy="211226"/>
          </a:xfrm>
          <a:prstGeom prst="rect">
            <a:avLst/>
          </a:prstGeom>
          <a:solidFill>
            <a:srgbClr val="C2352F"/>
          </a:solidFill>
          <a:ln/>
        </p:spPr>
      </p:sp>
      <p:sp>
        <p:nvSpPr>
          <p:cNvPr id="19" name="Text 17"/>
          <p:cNvSpPr txBox="1"/>
          <p:nvPr/>
        </p:nvSpPr>
        <p:spPr>
          <a:xfrm>
            <a:off x="331012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0" name="Text 18"/>
          <p:cNvSpPr txBox="1"/>
          <p:nvPr/>
        </p:nvSpPr>
        <p:spPr>
          <a:xfrm>
            <a:off x="433425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1" name="Text 19"/>
          <p:cNvSpPr txBox="1"/>
          <p:nvPr/>
        </p:nvSpPr>
        <p:spPr>
          <a:xfrm>
            <a:off x="510235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3" name="Shape 21"/>
          <p:cNvSpPr/>
          <p:nvPr/>
        </p:nvSpPr>
        <p:spPr>
          <a:xfrm>
            <a:off x="2670048" y="2555291"/>
            <a:ext cx="321685" cy="211226"/>
          </a:xfrm>
          <a:prstGeom prst="rect">
            <a:avLst/>
          </a:prstGeom>
          <a:solidFill>
            <a:srgbClr val="C2352F"/>
          </a:solidFill>
          <a:ln/>
        </p:spPr>
      </p:sp>
      <p:sp>
        <p:nvSpPr>
          <p:cNvPr id="24" name="Text 22"/>
          <p:cNvSpPr txBox="1"/>
          <p:nvPr/>
        </p:nvSpPr>
        <p:spPr>
          <a:xfrm>
            <a:off x="331012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5" name="Text 23"/>
          <p:cNvSpPr txBox="1"/>
          <p:nvPr/>
        </p:nvSpPr>
        <p:spPr>
          <a:xfrm>
            <a:off x="433425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6" name="Text 24"/>
          <p:cNvSpPr txBox="1"/>
          <p:nvPr/>
        </p:nvSpPr>
        <p:spPr>
          <a:xfrm>
            <a:off x="510235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939339"/>
            <a:ext cx="313094" cy="211226"/>
          </a:xfrm>
          <a:prstGeom prst="rect">
            <a:avLst/>
          </a:prstGeom>
          <a:solidFill>
            <a:srgbClr val="C2352F"/>
          </a:solidFill>
          <a:ln/>
        </p:spPr>
      </p:sp>
      <p:sp>
        <p:nvSpPr>
          <p:cNvPr id="29" name="Text 27"/>
          <p:cNvSpPr txBox="1"/>
          <p:nvPr/>
        </p:nvSpPr>
        <p:spPr>
          <a:xfrm>
            <a:off x="331012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0" name="Text 28"/>
          <p:cNvSpPr txBox="1"/>
          <p:nvPr/>
        </p:nvSpPr>
        <p:spPr>
          <a:xfrm>
            <a:off x="433425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1" name="Text 29"/>
          <p:cNvSpPr txBox="1"/>
          <p:nvPr/>
        </p:nvSpPr>
        <p:spPr>
          <a:xfrm>
            <a:off x="510235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323387"/>
            <a:ext cx="293540" cy="211226"/>
          </a:xfrm>
          <a:prstGeom prst="rect">
            <a:avLst/>
          </a:prstGeom>
          <a:solidFill>
            <a:srgbClr val="C2352F"/>
          </a:solidFill>
          <a:ln/>
        </p:spPr>
      </p:sp>
      <p:sp>
        <p:nvSpPr>
          <p:cNvPr id="34" name="Text 32"/>
          <p:cNvSpPr txBox="1"/>
          <p:nvPr/>
        </p:nvSpPr>
        <p:spPr>
          <a:xfrm>
            <a:off x="331012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35" name="Text 33"/>
          <p:cNvSpPr txBox="1"/>
          <p:nvPr/>
        </p:nvSpPr>
        <p:spPr>
          <a:xfrm>
            <a:off x="433425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36" name="Text 34"/>
          <p:cNvSpPr txBox="1"/>
          <p:nvPr/>
        </p:nvSpPr>
        <p:spPr>
          <a:xfrm>
            <a:off x="510235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2670048" y="3707435"/>
            <a:ext cx="268472" cy="211226"/>
          </a:xfrm>
          <a:prstGeom prst="rect">
            <a:avLst/>
          </a:prstGeom>
          <a:solidFill>
            <a:srgbClr val="C2352F"/>
          </a:solidFill>
          <a:ln/>
        </p:spPr>
      </p:sp>
      <p:sp>
        <p:nvSpPr>
          <p:cNvPr id="39" name="Text 37"/>
          <p:cNvSpPr txBox="1"/>
          <p:nvPr/>
        </p:nvSpPr>
        <p:spPr>
          <a:xfrm>
            <a:off x="331012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0" name="Text 38"/>
          <p:cNvSpPr txBox="1"/>
          <p:nvPr/>
        </p:nvSpPr>
        <p:spPr>
          <a:xfrm>
            <a:off x="433425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1" name="Text 39"/>
          <p:cNvSpPr txBox="1"/>
          <p:nvPr/>
        </p:nvSpPr>
        <p:spPr>
          <a:xfrm>
            <a:off x="510235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3" name="Shape 41"/>
          <p:cNvSpPr/>
          <p:nvPr/>
        </p:nvSpPr>
        <p:spPr>
          <a:xfrm>
            <a:off x="2670048" y="4091483"/>
            <a:ext cx="252516" cy="211226"/>
          </a:xfrm>
          <a:prstGeom prst="rect">
            <a:avLst/>
          </a:prstGeom>
          <a:solidFill>
            <a:srgbClr val="C2352F"/>
          </a:solidFill>
          <a:ln/>
        </p:spPr>
      </p:sp>
      <p:sp>
        <p:nvSpPr>
          <p:cNvPr id="44" name="Text 42"/>
          <p:cNvSpPr txBox="1"/>
          <p:nvPr/>
        </p:nvSpPr>
        <p:spPr>
          <a:xfrm>
            <a:off x="331012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45" name="Text 43"/>
          <p:cNvSpPr txBox="1"/>
          <p:nvPr/>
        </p:nvSpPr>
        <p:spPr>
          <a:xfrm>
            <a:off x="433425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46" name="Text 44"/>
          <p:cNvSpPr txBox="1"/>
          <p:nvPr/>
        </p:nvSpPr>
        <p:spPr>
          <a:xfrm>
            <a:off x="510235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8" name="Shape 46"/>
          <p:cNvSpPr/>
          <p:nvPr/>
        </p:nvSpPr>
        <p:spPr>
          <a:xfrm>
            <a:off x="2670048" y="4475531"/>
            <a:ext cx="244133" cy="211226"/>
          </a:xfrm>
          <a:prstGeom prst="rect">
            <a:avLst/>
          </a:prstGeom>
          <a:solidFill>
            <a:srgbClr val="C2352F"/>
          </a:solidFill>
          <a:ln/>
        </p:spPr>
      </p:sp>
      <p:sp>
        <p:nvSpPr>
          <p:cNvPr id="49" name="Text 47"/>
          <p:cNvSpPr txBox="1"/>
          <p:nvPr/>
        </p:nvSpPr>
        <p:spPr>
          <a:xfrm>
            <a:off x="331012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0" name="Text 48"/>
          <p:cNvSpPr txBox="1"/>
          <p:nvPr/>
        </p:nvSpPr>
        <p:spPr>
          <a:xfrm>
            <a:off x="433425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1" name="Text 49"/>
          <p:cNvSpPr txBox="1"/>
          <p:nvPr/>
        </p:nvSpPr>
        <p:spPr>
          <a:xfrm>
            <a:off x="510235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243998" cy="211226"/>
          </a:xfrm>
          <a:prstGeom prst="rect">
            <a:avLst/>
          </a:prstGeom>
          <a:solidFill>
            <a:srgbClr val="C2352F"/>
          </a:solidFill>
          <a:ln/>
        </p:spPr>
      </p:sp>
      <p:sp>
        <p:nvSpPr>
          <p:cNvPr id="54" name="Text 52"/>
          <p:cNvSpPr txBox="1"/>
          <p:nvPr/>
        </p:nvSpPr>
        <p:spPr>
          <a:xfrm>
            <a:off x="331012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55" name="Text 53"/>
          <p:cNvSpPr txBox="1"/>
          <p:nvPr/>
        </p:nvSpPr>
        <p:spPr>
          <a:xfrm>
            <a:off x="433425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56" name="Text 54"/>
          <p:cNvSpPr txBox="1"/>
          <p:nvPr/>
        </p:nvSpPr>
        <p:spPr>
          <a:xfrm>
            <a:off x="510235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5243627"/>
            <a:ext cx="197721" cy="211226"/>
          </a:xfrm>
          <a:prstGeom prst="rect">
            <a:avLst/>
          </a:prstGeom>
          <a:solidFill>
            <a:srgbClr val="C2352F"/>
          </a:solidFill>
          <a:ln/>
        </p:spPr>
      </p:sp>
      <p:sp>
        <p:nvSpPr>
          <p:cNvPr id="59" name="Text 57"/>
          <p:cNvSpPr txBox="1"/>
          <p:nvPr/>
        </p:nvSpPr>
        <p:spPr>
          <a:xfrm>
            <a:off x="331012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60" name="Text 58"/>
          <p:cNvSpPr txBox="1"/>
          <p:nvPr/>
        </p:nvSpPr>
        <p:spPr>
          <a:xfrm>
            <a:off x="433425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61" name="Text 59"/>
          <p:cNvSpPr txBox="1"/>
          <p:nvPr/>
        </p:nvSpPr>
        <p:spPr>
          <a:xfrm>
            <a:off x="510235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627675"/>
            <a:ext cx="197008" cy="211226"/>
          </a:xfrm>
          <a:prstGeom prst="rect">
            <a:avLst/>
          </a:prstGeom>
          <a:solidFill>
            <a:srgbClr val="C2352F"/>
          </a:solidFill>
          <a:ln/>
        </p:spPr>
      </p:sp>
      <p:sp>
        <p:nvSpPr>
          <p:cNvPr id="64" name="Text 62"/>
          <p:cNvSpPr txBox="1"/>
          <p:nvPr/>
        </p:nvSpPr>
        <p:spPr>
          <a:xfrm>
            <a:off x="331012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65" name="Text 63"/>
          <p:cNvSpPr txBox="1"/>
          <p:nvPr/>
        </p:nvSpPr>
        <p:spPr>
          <a:xfrm>
            <a:off x="433425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66" name="Text 64"/>
          <p:cNvSpPr txBox="1"/>
          <p:nvPr/>
        </p:nvSpPr>
        <p:spPr>
          <a:xfrm>
            <a:off x="510235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8" name="Shape 66"/>
          <p:cNvSpPr/>
          <p:nvPr/>
        </p:nvSpPr>
        <p:spPr>
          <a:xfrm>
            <a:off x="8220456" y="1787195"/>
            <a:ext cx="96145" cy="211226"/>
          </a:xfrm>
          <a:prstGeom prst="rect">
            <a:avLst/>
          </a:prstGeom>
          <a:solidFill>
            <a:srgbClr val="C2352F"/>
          </a:solidFill>
          <a:ln/>
        </p:spPr>
      </p:sp>
      <p:sp>
        <p:nvSpPr>
          <p:cNvPr id="69" name="Text 67"/>
          <p:cNvSpPr txBox="1"/>
          <p:nvPr/>
        </p:nvSpPr>
        <p:spPr>
          <a:xfrm>
            <a:off x="886053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70" name="Text 68"/>
          <p:cNvSpPr txBox="1"/>
          <p:nvPr/>
        </p:nvSpPr>
        <p:spPr>
          <a:xfrm>
            <a:off x="988466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1" name="Text 69"/>
          <p:cNvSpPr txBox="1"/>
          <p:nvPr/>
        </p:nvSpPr>
        <p:spPr>
          <a:xfrm>
            <a:off x="1065276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3" name="Shape 71"/>
          <p:cNvSpPr/>
          <p:nvPr/>
        </p:nvSpPr>
        <p:spPr>
          <a:xfrm>
            <a:off x="8220456" y="2171243"/>
            <a:ext cx="89775" cy="211226"/>
          </a:xfrm>
          <a:prstGeom prst="rect">
            <a:avLst/>
          </a:prstGeom>
          <a:solidFill>
            <a:srgbClr val="C2352F"/>
          </a:solidFill>
          <a:ln/>
        </p:spPr>
      </p:sp>
      <p:sp>
        <p:nvSpPr>
          <p:cNvPr id="74" name="Text 72"/>
          <p:cNvSpPr txBox="1"/>
          <p:nvPr/>
        </p:nvSpPr>
        <p:spPr>
          <a:xfrm>
            <a:off x="886053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75" name="Text 73"/>
          <p:cNvSpPr txBox="1"/>
          <p:nvPr/>
        </p:nvSpPr>
        <p:spPr>
          <a:xfrm>
            <a:off x="988466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6" name="Text 74"/>
          <p:cNvSpPr txBox="1"/>
          <p:nvPr/>
        </p:nvSpPr>
        <p:spPr>
          <a:xfrm>
            <a:off x="1065276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8220456" y="2555291"/>
            <a:ext cx="88284" cy="211226"/>
          </a:xfrm>
          <a:prstGeom prst="rect">
            <a:avLst/>
          </a:prstGeom>
          <a:solidFill>
            <a:srgbClr val="C2352F"/>
          </a:solidFill>
          <a:ln/>
        </p:spPr>
      </p:sp>
      <p:sp>
        <p:nvSpPr>
          <p:cNvPr id="79" name="Text 77"/>
          <p:cNvSpPr txBox="1"/>
          <p:nvPr/>
        </p:nvSpPr>
        <p:spPr>
          <a:xfrm>
            <a:off x="886053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80" name="Text 78"/>
          <p:cNvSpPr txBox="1"/>
          <p:nvPr/>
        </p:nvSpPr>
        <p:spPr>
          <a:xfrm>
            <a:off x="988466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81" name="Text 79"/>
          <p:cNvSpPr txBox="1"/>
          <p:nvPr/>
        </p:nvSpPr>
        <p:spPr>
          <a:xfrm>
            <a:off x="1065276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81589" cy="211226"/>
          </a:xfrm>
          <a:prstGeom prst="rect">
            <a:avLst/>
          </a:prstGeom>
          <a:solidFill>
            <a:srgbClr val="C2352F"/>
          </a:solidFill>
          <a:ln/>
        </p:spPr>
      </p:sp>
      <p:sp>
        <p:nvSpPr>
          <p:cNvPr id="84" name="Text 82"/>
          <p:cNvSpPr txBox="1"/>
          <p:nvPr/>
        </p:nvSpPr>
        <p:spPr>
          <a:xfrm>
            <a:off x="886053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85" name="Text 83"/>
          <p:cNvSpPr txBox="1"/>
          <p:nvPr/>
        </p:nvSpPr>
        <p:spPr>
          <a:xfrm>
            <a:off x="988466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86" name="Text 84"/>
          <p:cNvSpPr txBox="1"/>
          <p:nvPr/>
        </p:nvSpPr>
        <p:spPr>
          <a:xfrm>
            <a:off x="1065276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8220456" y="3323387"/>
            <a:ext cx="73764" cy="211226"/>
          </a:xfrm>
          <a:prstGeom prst="rect">
            <a:avLst/>
          </a:prstGeom>
          <a:solidFill>
            <a:srgbClr val="C2352F"/>
          </a:solidFill>
          <a:ln/>
        </p:spPr>
      </p:sp>
      <p:sp>
        <p:nvSpPr>
          <p:cNvPr id="89" name="Text 87"/>
          <p:cNvSpPr txBox="1"/>
          <p:nvPr/>
        </p:nvSpPr>
        <p:spPr>
          <a:xfrm>
            <a:off x="886053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90" name="Text 88"/>
          <p:cNvSpPr txBox="1"/>
          <p:nvPr/>
        </p:nvSpPr>
        <p:spPr>
          <a:xfrm>
            <a:off x="988466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91" name="Text 89"/>
          <p:cNvSpPr txBox="1"/>
          <p:nvPr/>
        </p:nvSpPr>
        <p:spPr>
          <a:xfrm>
            <a:off x="1065276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3707435"/>
            <a:ext cx="45418" cy="211226"/>
          </a:xfrm>
          <a:prstGeom prst="rect">
            <a:avLst/>
          </a:prstGeom>
          <a:solidFill>
            <a:srgbClr val="C2352F"/>
          </a:solidFill>
          <a:ln/>
        </p:spPr>
      </p:sp>
      <p:sp>
        <p:nvSpPr>
          <p:cNvPr id="94" name="Text 92"/>
          <p:cNvSpPr txBox="1"/>
          <p:nvPr/>
        </p:nvSpPr>
        <p:spPr>
          <a:xfrm>
            <a:off x="886053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95" name="Text 93"/>
          <p:cNvSpPr txBox="1"/>
          <p:nvPr/>
        </p:nvSpPr>
        <p:spPr>
          <a:xfrm>
            <a:off x="988466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96" name="Text 94"/>
          <p:cNvSpPr txBox="1"/>
          <p:nvPr/>
        </p:nvSpPr>
        <p:spPr>
          <a:xfrm>
            <a:off x="1065276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8" name="Shape 96"/>
          <p:cNvSpPr/>
          <p:nvPr/>
        </p:nvSpPr>
        <p:spPr>
          <a:xfrm>
            <a:off x="8220456" y="4091483"/>
            <a:ext cx="37443" cy="211226"/>
          </a:xfrm>
          <a:prstGeom prst="rect">
            <a:avLst/>
          </a:prstGeom>
          <a:solidFill>
            <a:srgbClr val="C2352F"/>
          </a:solidFill>
          <a:ln/>
        </p:spPr>
      </p:sp>
      <p:sp>
        <p:nvSpPr>
          <p:cNvPr id="99" name="Text 97"/>
          <p:cNvSpPr txBox="1"/>
          <p:nvPr/>
        </p:nvSpPr>
        <p:spPr>
          <a:xfrm>
            <a:off x="886053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00" name="Text 98"/>
          <p:cNvSpPr txBox="1"/>
          <p:nvPr/>
        </p:nvSpPr>
        <p:spPr>
          <a:xfrm>
            <a:off x="988466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01" name="Text 99"/>
          <p:cNvSpPr txBox="1"/>
          <p:nvPr/>
        </p:nvSpPr>
        <p:spPr>
          <a:xfrm>
            <a:off x="1065276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3" name="Shape 101"/>
          <p:cNvSpPr/>
          <p:nvPr/>
        </p:nvSpPr>
        <p:spPr>
          <a:xfrm>
            <a:off x="8220456" y="4475531"/>
            <a:ext cx="26036" cy="211226"/>
          </a:xfrm>
          <a:prstGeom prst="rect">
            <a:avLst/>
          </a:prstGeom>
          <a:solidFill>
            <a:srgbClr val="C2352F"/>
          </a:solidFill>
          <a:ln/>
        </p:spPr>
      </p:sp>
      <p:sp>
        <p:nvSpPr>
          <p:cNvPr id="104" name="Text 102"/>
          <p:cNvSpPr txBox="1"/>
          <p:nvPr/>
        </p:nvSpPr>
        <p:spPr>
          <a:xfrm>
            <a:off x="886053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05" name="Text 103"/>
          <p:cNvSpPr txBox="1"/>
          <p:nvPr/>
        </p:nvSpPr>
        <p:spPr>
          <a:xfrm>
            <a:off x="988466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06" name="Text 104"/>
          <p:cNvSpPr txBox="1"/>
          <p:nvPr/>
        </p:nvSpPr>
        <p:spPr>
          <a:xfrm>
            <a:off x="1065276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8" name="Shape 106"/>
          <p:cNvSpPr/>
          <p:nvPr/>
        </p:nvSpPr>
        <p:spPr>
          <a:xfrm>
            <a:off x="8220456" y="4859579"/>
            <a:ext cx="18288" cy="211226"/>
          </a:xfrm>
          <a:prstGeom prst="rect">
            <a:avLst/>
          </a:prstGeom>
          <a:solidFill>
            <a:srgbClr val="C2352F"/>
          </a:solidFill>
          <a:ln/>
        </p:spPr>
      </p:sp>
      <p:sp>
        <p:nvSpPr>
          <p:cNvPr id="109" name="Text 107"/>
          <p:cNvSpPr txBox="1"/>
          <p:nvPr/>
        </p:nvSpPr>
        <p:spPr>
          <a:xfrm>
            <a:off x="886053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10" name="Text 108"/>
          <p:cNvSpPr txBox="1"/>
          <p:nvPr/>
        </p:nvSpPr>
        <p:spPr>
          <a:xfrm>
            <a:off x="988466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11" name="Text 109"/>
          <p:cNvSpPr txBox="1"/>
          <p:nvPr/>
        </p:nvSpPr>
        <p:spPr>
          <a:xfrm>
            <a:off x="1065276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886053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15" name="Text 113"/>
          <p:cNvSpPr txBox="1"/>
          <p:nvPr/>
        </p:nvSpPr>
        <p:spPr>
          <a:xfrm>
            <a:off x="988466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16" name="Text 114"/>
          <p:cNvSpPr txBox="1"/>
          <p:nvPr/>
        </p:nvSpPr>
        <p:spPr>
          <a:xfrm>
            <a:off x="1065276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17" name="Shape 115"/>
          <p:cNvSpPr/>
          <p:nvPr/>
        </p:nvSpPr>
        <p:spPr>
          <a:xfrm>
            <a:off x="457200" y="6126480"/>
            <a:ext cx="11274552" cy="615696"/>
          </a:xfrm>
          <a:prstGeom prst="rect">
            <a:avLst/>
          </a:prstGeom>
          <a:solidFill>
            <a:srgbClr val="FBEBE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5643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083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0684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212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731520" cy="136676"/>
          </a:xfrm>
          <a:prstGeom prst="rect">
            <a:avLst/>
          </a:prstGeom>
          <a:solidFill>
            <a:srgbClr val="2587C5"/>
          </a:solidFill>
          <a:ln/>
        </p:spPr>
      </p:sp>
      <p:sp>
        <p:nvSpPr>
          <p:cNvPr id="14" name="Text 12"/>
          <p:cNvSpPr txBox="1"/>
          <p:nvPr/>
        </p:nvSpPr>
        <p:spPr>
          <a:xfrm>
            <a:off x="345643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5" name="Text 13"/>
          <p:cNvSpPr txBox="1"/>
          <p:nvPr/>
        </p:nvSpPr>
        <p:spPr>
          <a:xfrm>
            <a:off x="437083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535690" cy="136676"/>
          </a:xfrm>
          <a:prstGeom prst="rect">
            <a:avLst/>
          </a:prstGeom>
          <a:solidFill>
            <a:srgbClr val="2587C5"/>
          </a:solidFill>
          <a:ln/>
        </p:spPr>
      </p:sp>
      <p:sp>
        <p:nvSpPr>
          <p:cNvPr id="19" name="Text 17"/>
          <p:cNvSpPr txBox="1"/>
          <p:nvPr/>
        </p:nvSpPr>
        <p:spPr>
          <a:xfrm>
            <a:off x="345643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0" name="Text 18"/>
          <p:cNvSpPr txBox="1"/>
          <p:nvPr/>
        </p:nvSpPr>
        <p:spPr>
          <a:xfrm>
            <a:off x="437083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3" name="Shape 21"/>
          <p:cNvSpPr/>
          <p:nvPr/>
        </p:nvSpPr>
        <p:spPr>
          <a:xfrm>
            <a:off x="2670048" y="2253700"/>
            <a:ext cx="466983" cy="136676"/>
          </a:xfrm>
          <a:prstGeom prst="rect">
            <a:avLst/>
          </a:prstGeom>
          <a:solidFill>
            <a:srgbClr val="2587C5"/>
          </a:solidFill>
          <a:ln/>
        </p:spPr>
      </p:sp>
      <p:sp>
        <p:nvSpPr>
          <p:cNvPr id="24" name="Text 22"/>
          <p:cNvSpPr txBox="1"/>
          <p:nvPr/>
        </p:nvSpPr>
        <p:spPr>
          <a:xfrm>
            <a:off x="345643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5" name="Text 23"/>
          <p:cNvSpPr txBox="1"/>
          <p:nvPr/>
        </p:nvSpPr>
        <p:spPr>
          <a:xfrm>
            <a:off x="437083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399548" cy="136676"/>
          </a:xfrm>
          <a:prstGeom prst="rect">
            <a:avLst/>
          </a:prstGeom>
          <a:solidFill>
            <a:srgbClr val="2587C5"/>
          </a:solidFill>
          <a:ln/>
        </p:spPr>
      </p:sp>
      <p:sp>
        <p:nvSpPr>
          <p:cNvPr id="29" name="Text 27"/>
          <p:cNvSpPr txBox="1"/>
          <p:nvPr/>
        </p:nvSpPr>
        <p:spPr>
          <a:xfrm>
            <a:off x="345643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0" name="Text 28"/>
          <p:cNvSpPr txBox="1"/>
          <p:nvPr/>
        </p:nvSpPr>
        <p:spPr>
          <a:xfrm>
            <a:off x="437083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3" name="Shape 31"/>
          <p:cNvSpPr/>
          <p:nvPr/>
        </p:nvSpPr>
        <p:spPr>
          <a:xfrm>
            <a:off x="2670048" y="2750703"/>
            <a:ext cx="326379" cy="136676"/>
          </a:xfrm>
          <a:prstGeom prst="rect">
            <a:avLst/>
          </a:prstGeom>
          <a:solidFill>
            <a:srgbClr val="2587C5"/>
          </a:solidFill>
          <a:ln/>
        </p:spPr>
      </p:sp>
      <p:sp>
        <p:nvSpPr>
          <p:cNvPr id="34" name="Text 32"/>
          <p:cNvSpPr txBox="1"/>
          <p:nvPr/>
        </p:nvSpPr>
        <p:spPr>
          <a:xfrm>
            <a:off x="345643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35" name="Text 33"/>
          <p:cNvSpPr txBox="1"/>
          <p:nvPr/>
        </p:nvSpPr>
        <p:spPr>
          <a:xfrm>
            <a:off x="437083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2999205"/>
            <a:ext cx="310728" cy="136676"/>
          </a:xfrm>
          <a:prstGeom prst="rect">
            <a:avLst/>
          </a:prstGeom>
          <a:solidFill>
            <a:srgbClr val="2587C5"/>
          </a:solidFill>
          <a:ln/>
        </p:spPr>
      </p:sp>
      <p:sp>
        <p:nvSpPr>
          <p:cNvPr id="39" name="Text 37"/>
          <p:cNvSpPr txBox="1"/>
          <p:nvPr/>
        </p:nvSpPr>
        <p:spPr>
          <a:xfrm>
            <a:off x="345643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0" name="Text 38"/>
          <p:cNvSpPr txBox="1"/>
          <p:nvPr/>
        </p:nvSpPr>
        <p:spPr>
          <a:xfrm>
            <a:off x="437083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70048" y="3247707"/>
            <a:ext cx="278978" cy="136676"/>
          </a:xfrm>
          <a:prstGeom prst="rect">
            <a:avLst/>
          </a:prstGeom>
          <a:solidFill>
            <a:srgbClr val="2587C5"/>
          </a:solidFill>
          <a:ln/>
        </p:spPr>
      </p:sp>
      <p:sp>
        <p:nvSpPr>
          <p:cNvPr id="44" name="Text 42"/>
          <p:cNvSpPr txBox="1"/>
          <p:nvPr/>
        </p:nvSpPr>
        <p:spPr>
          <a:xfrm>
            <a:off x="345643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45" name="Text 43"/>
          <p:cNvSpPr txBox="1"/>
          <p:nvPr/>
        </p:nvSpPr>
        <p:spPr>
          <a:xfrm>
            <a:off x="437083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8" name="Shape 46"/>
          <p:cNvSpPr/>
          <p:nvPr/>
        </p:nvSpPr>
        <p:spPr>
          <a:xfrm>
            <a:off x="2670048" y="3496208"/>
            <a:ext cx="213888" cy="136676"/>
          </a:xfrm>
          <a:prstGeom prst="rect">
            <a:avLst/>
          </a:prstGeom>
          <a:solidFill>
            <a:srgbClr val="2587C5"/>
          </a:solidFill>
          <a:ln/>
        </p:spPr>
      </p:sp>
      <p:sp>
        <p:nvSpPr>
          <p:cNvPr id="49" name="Text 47"/>
          <p:cNvSpPr txBox="1"/>
          <p:nvPr/>
        </p:nvSpPr>
        <p:spPr>
          <a:xfrm>
            <a:off x="345643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0" name="Text 48"/>
          <p:cNvSpPr txBox="1"/>
          <p:nvPr/>
        </p:nvSpPr>
        <p:spPr>
          <a:xfrm>
            <a:off x="437083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3" name="Shape 51"/>
          <p:cNvSpPr/>
          <p:nvPr/>
        </p:nvSpPr>
        <p:spPr>
          <a:xfrm>
            <a:off x="2670048" y="3744710"/>
            <a:ext cx="199219" cy="136676"/>
          </a:xfrm>
          <a:prstGeom prst="rect">
            <a:avLst/>
          </a:prstGeom>
          <a:solidFill>
            <a:srgbClr val="2587C5"/>
          </a:solidFill>
          <a:ln/>
        </p:spPr>
      </p:sp>
      <p:sp>
        <p:nvSpPr>
          <p:cNvPr id="54" name="Text 52"/>
          <p:cNvSpPr txBox="1"/>
          <p:nvPr/>
        </p:nvSpPr>
        <p:spPr>
          <a:xfrm>
            <a:off x="345643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55" name="Text 53"/>
          <p:cNvSpPr txBox="1"/>
          <p:nvPr/>
        </p:nvSpPr>
        <p:spPr>
          <a:xfrm>
            <a:off x="437083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58" name="Shape 56"/>
          <p:cNvSpPr/>
          <p:nvPr/>
        </p:nvSpPr>
        <p:spPr>
          <a:xfrm>
            <a:off x="2670048" y="3993212"/>
            <a:ext cx="192043" cy="136676"/>
          </a:xfrm>
          <a:prstGeom prst="rect">
            <a:avLst/>
          </a:prstGeom>
          <a:solidFill>
            <a:srgbClr val="2587C5"/>
          </a:solidFill>
          <a:ln/>
        </p:spPr>
      </p:sp>
      <p:sp>
        <p:nvSpPr>
          <p:cNvPr id="59" name="Text 57"/>
          <p:cNvSpPr txBox="1"/>
          <p:nvPr/>
        </p:nvSpPr>
        <p:spPr>
          <a:xfrm>
            <a:off x="345643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60" name="Text 58"/>
          <p:cNvSpPr txBox="1"/>
          <p:nvPr/>
        </p:nvSpPr>
        <p:spPr>
          <a:xfrm>
            <a:off x="437083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2670048" y="4241713"/>
            <a:ext cx="164487" cy="136676"/>
          </a:xfrm>
          <a:prstGeom prst="rect">
            <a:avLst/>
          </a:prstGeom>
          <a:solidFill>
            <a:srgbClr val="2587C5"/>
          </a:solidFill>
          <a:ln/>
        </p:spPr>
      </p:sp>
      <p:sp>
        <p:nvSpPr>
          <p:cNvPr id="64" name="Text 62"/>
          <p:cNvSpPr txBox="1"/>
          <p:nvPr/>
        </p:nvSpPr>
        <p:spPr>
          <a:xfrm>
            <a:off x="345643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65" name="Text 63"/>
          <p:cNvSpPr txBox="1"/>
          <p:nvPr/>
        </p:nvSpPr>
        <p:spPr>
          <a:xfrm>
            <a:off x="437083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670048" y="4490215"/>
            <a:ext cx="155099" cy="136676"/>
          </a:xfrm>
          <a:prstGeom prst="rect">
            <a:avLst/>
          </a:prstGeom>
          <a:solidFill>
            <a:srgbClr val="2587C5"/>
          </a:solidFill>
          <a:ln/>
        </p:spPr>
      </p:sp>
      <p:sp>
        <p:nvSpPr>
          <p:cNvPr id="69" name="Text 67"/>
          <p:cNvSpPr txBox="1"/>
          <p:nvPr/>
        </p:nvSpPr>
        <p:spPr>
          <a:xfrm>
            <a:off x="345643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0" name="Text 68"/>
          <p:cNvSpPr txBox="1"/>
          <p:nvPr/>
        </p:nvSpPr>
        <p:spPr>
          <a:xfrm>
            <a:off x="437083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154861" cy="136676"/>
          </a:xfrm>
          <a:prstGeom prst="rect">
            <a:avLst/>
          </a:prstGeom>
          <a:solidFill>
            <a:srgbClr val="2587C5"/>
          </a:solidFill>
          <a:ln/>
        </p:spPr>
      </p:sp>
      <p:sp>
        <p:nvSpPr>
          <p:cNvPr id="74" name="Text 72"/>
          <p:cNvSpPr txBox="1"/>
          <p:nvPr/>
        </p:nvSpPr>
        <p:spPr>
          <a:xfrm>
            <a:off x="345643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5" name="Text 73"/>
          <p:cNvSpPr txBox="1"/>
          <p:nvPr/>
        </p:nvSpPr>
        <p:spPr>
          <a:xfrm>
            <a:off x="437083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2670048" y="4987218"/>
            <a:ext cx="146688" cy="136676"/>
          </a:xfrm>
          <a:prstGeom prst="rect">
            <a:avLst/>
          </a:prstGeom>
          <a:solidFill>
            <a:srgbClr val="2587C5"/>
          </a:solidFill>
          <a:ln/>
        </p:spPr>
      </p:sp>
      <p:sp>
        <p:nvSpPr>
          <p:cNvPr id="79" name="Text 77"/>
          <p:cNvSpPr txBox="1"/>
          <p:nvPr/>
        </p:nvSpPr>
        <p:spPr>
          <a:xfrm>
            <a:off x="345643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80" name="Text 78"/>
          <p:cNvSpPr txBox="1"/>
          <p:nvPr/>
        </p:nvSpPr>
        <p:spPr>
          <a:xfrm>
            <a:off x="437083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3" name="Shape 81"/>
          <p:cNvSpPr/>
          <p:nvPr/>
        </p:nvSpPr>
        <p:spPr>
          <a:xfrm>
            <a:off x="2670048" y="5235720"/>
            <a:ext cx="144683" cy="136676"/>
          </a:xfrm>
          <a:prstGeom prst="rect">
            <a:avLst/>
          </a:prstGeom>
          <a:solidFill>
            <a:srgbClr val="2587C5"/>
          </a:solidFill>
          <a:ln/>
        </p:spPr>
      </p:sp>
      <p:sp>
        <p:nvSpPr>
          <p:cNvPr id="84" name="Text 82"/>
          <p:cNvSpPr txBox="1"/>
          <p:nvPr/>
        </p:nvSpPr>
        <p:spPr>
          <a:xfrm>
            <a:off x="345643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85" name="Text 83"/>
          <p:cNvSpPr txBox="1"/>
          <p:nvPr/>
        </p:nvSpPr>
        <p:spPr>
          <a:xfrm>
            <a:off x="437083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8" name="Shape 86"/>
          <p:cNvSpPr/>
          <p:nvPr/>
        </p:nvSpPr>
        <p:spPr>
          <a:xfrm>
            <a:off x="2670048" y="5484222"/>
            <a:ext cx="144399" cy="136676"/>
          </a:xfrm>
          <a:prstGeom prst="rect">
            <a:avLst/>
          </a:prstGeom>
          <a:solidFill>
            <a:srgbClr val="2587C5"/>
          </a:solidFill>
          <a:ln/>
        </p:spPr>
      </p:sp>
      <p:sp>
        <p:nvSpPr>
          <p:cNvPr id="89" name="Text 87"/>
          <p:cNvSpPr txBox="1"/>
          <p:nvPr/>
        </p:nvSpPr>
        <p:spPr>
          <a:xfrm>
            <a:off x="345643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90" name="Text 88"/>
          <p:cNvSpPr txBox="1"/>
          <p:nvPr/>
        </p:nvSpPr>
        <p:spPr>
          <a:xfrm>
            <a:off x="437083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3" name="Shape 91"/>
          <p:cNvSpPr/>
          <p:nvPr/>
        </p:nvSpPr>
        <p:spPr>
          <a:xfrm>
            <a:off x="2670048" y="5732723"/>
            <a:ext cx="135434" cy="136676"/>
          </a:xfrm>
          <a:prstGeom prst="rect">
            <a:avLst/>
          </a:prstGeom>
          <a:solidFill>
            <a:srgbClr val="2587C5"/>
          </a:solidFill>
          <a:ln/>
        </p:spPr>
      </p:sp>
      <p:sp>
        <p:nvSpPr>
          <p:cNvPr id="94" name="Text 92"/>
          <p:cNvSpPr txBox="1"/>
          <p:nvPr/>
        </p:nvSpPr>
        <p:spPr>
          <a:xfrm>
            <a:off x="345643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95" name="Text 93"/>
          <p:cNvSpPr txBox="1"/>
          <p:nvPr/>
        </p:nvSpPr>
        <p:spPr>
          <a:xfrm>
            <a:off x="437083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8" name="Shape 96"/>
          <p:cNvSpPr/>
          <p:nvPr/>
        </p:nvSpPr>
        <p:spPr>
          <a:xfrm>
            <a:off x="8220456" y="1756697"/>
            <a:ext cx="134212" cy="136676"/>
          </a:xfrm>
          <a:prstGeom prst="rect">
            <a:avLst/>
          </a:prstGeom>
          <a:solidFill>
            <a:srgbClr val="2587C5"/>
          </a:solidFill>
          <a:ln/>
        </p:spPr>
      </p:sp>
      <p:sp>
        <p:nvSpPr>
          <p:cNvPr id="99" name="Text 97"/>
          <p:cNvSpPr txBox="1"/>
          <p:nvPr/>
        </p:nvSpPr>
        <p:spPr>
          <a:xfrm>
            <a:off x="900684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00" name="Text 98"/>
          <p:cNvSpPr txBox="1"/>
          <p:nvPr/>
        </p:nvSpPr>
        <p:spPr>
          <a:xfrm>
            <a:off x="99212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126718" cy="136676"/>
          </a:xfrm>
          <a:prstGeom prst="rect">
            <a:avLst/>
          </a:prstGeom>
          <a:solidFill>
            <a:srgbClr val="2587C5"/>
          </a:solidFill>
          <a:ln/>
        </p:spPr>
      </p:sp>
      <p:sp>
        <p:nvSpPr>
          <p:cNvPr id="104" name="Text 102"/>
          <p:cNvSpPr txBox="1"/>
          <p:nvPr/>
        </p:nvSpPr>
        <p:spPr>
          <a:xfrm>
            <a:off x="900684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05" name="Text 103"/>
          <p:cNvSpPr txBox="1"/>
          <p:nvPr/>
        </p:nvSpPr>
        <p:spPr>
          <a:xfrm>
            <a:off x="99212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115043" cy="136676"/>
          </a:xfrm>
          <a:prstGeom prst="rect">
            <a:avLst/>
          </a:prstGeom>
          <a:solidFill>
            <a:srgbClr val="2587C5"/>
          </a:solidFill>
          <a:ln/>
        </p:spPr>
      </p:sp>
      <p:sp>
        <p:nvSpPr>
          <p:cNvPr id="109" name="Text 107"/>
          <p:cNvSpPr txBox="1"/>
          <p:nvPr/>
        </p:nvSpPr>
        <p:spPr>
          <a:xfrm>
            <a:off x="900684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10" name="Text 108"/>
          <p:cNvSpPr txBox="1"/>
          <p:nvPr/>
        </p:nvSpPr>
        <p:spPr>
          <a:xfrm>
            <a:off x="99212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826" cy="136676"/>
          </a:xfrm>
          <a:prstGeom prst="rect">
            <a:avLst/>
          </a:prstGeom>
          <a:solidFill>
            <a:srgbClr val="2587C5"/>
          </a:solidFill>
          <a:ln/>
        </p:spPr>
      </p:sp>
      <p:sp>
        <p:nvSpPr>
          <p:cNvPr id="114" name="Text 112"/>
          <p:cNvSpPr txBox="1"/>
          <p:nvPr/>
        </p:nvSpPr>
        <p:spPr>
          <a:xfrm>
            <a:off x="900684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15" name="Text 113"/>
          <p:cNvSpPr txBox="1"/>
          <p:nvPr/>
        </p:nvSpPr>
        <p:spPr>
          <a:xfrm>
            <a:off x="99212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18" name="Shape 116"/>
          <p:cNvSpPr/>
          <p:nvPr/>
        </p:nvSpPr>
        <p:spPr>
          <a:xfrm>
            <a:off x="8220456" y="2750703"/>
            <a:ext cx="110607" cy="136676"/>
          </a:xfrm>
          <a:prstGeom prst="rect">
            <a:avLst/>
          </a:prstGeom>
          <a:solidFill>
            <a:srgbClr val="2587C5"/>
          </a:solidFill>
          <a:ln/>
        </p:spPr>
      </p:sp>
      <p:sp>
        <p:nvSpPr>
          <p:cNvPr id="119" name="Text 117"/>
          <p:cNvSpPr txBox="1"/>
          <p:nvPr/>
        </p:nvSpPr>
        <p:spPr>
          <a:xfrm>
            <a:off x="900684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20" name="Text 118"/>
          <p:cNvSpPr txBox="1"/>
          <p:nvPr/>
        </p:nvSpPr>
        <p:spPr>
          <a:xfrm>
            <a:off x="99212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3" name="Shape 121"/>
          <p:cNvSpPr/>
          <p:nvPr/>
        </p:nvSpPr>
        <p:spPr>
          <a:xfrm>
            <a:off x="8220456" y="2999205"/>
            <a:ext cx="107009" cy="136676"/>
          </a:xfrm>
          <a:prstGeom prst="rect">
            <a:avLst/>
          </a:prstGeom>
          <a:solidFill>
            <a:srgbClr val="2587C5"/>
          </a:solidFill>
          <a:ln/>
        </p:spPr>
      </p:sp>
      <p:sp>
        <p:nvSpPr>
          <p:cNvPr id="124" name="Text 122"/>
          <p:cNvSpPr txBox="1"/>
          <p:nvPr/>
        </p:nvSpPr>
        <p:spPr>
          <a:xfrm>
            <a:off x="900684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25" name="Text 123"/>
          <p:cNvSpPr txBox="1"/>
          <p:nvPr/>
        </p:nvSpPr>
        <p:spPr>
          <a:xfrm>
            <a:off x="99212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247707"/>
            <a:ext cx="96551" cy="136676"/>
          </a:xfrm>
          <a:prstGeom prst="rect">
            <a:avLst/>
          </a:prstGeom>
          <a:solidFill>
            <a:srgbClr val="2587C5"/>
          </a:solidFill>
          <a:ln/>
        </p:spPr>
      </p:sp>
      <p:sp>
        <p:nvSpPr>
          <p:cNvPr id="129" name="Text 127"/>
          <p:cNvSpPr txBox="1"/>
          <p:nvPr/>
        </p:nvSpPr>
        <p:spPr>
          <a:xfrm>
            <a:off x="900684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30" name="Text 128"/>
          <p:cNvSpPr txBox="1"/>
          <p:nvPr/>
        </p:nvSpPr>
        <p:spPr>
          <a:xfrm>
            <a:off x="99212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33" name="Shape 131"/>
          <p:cNvSpPr/>
          <p:nvPr/>
        </p:nvSpPr>
        <p:spPr>
          <a:xfrm>
            <a:off x="8220456" y="3496208"/>
            <a:ext cx="93673" cy="136676"/>
          </a:xfrm>
          <a:prstGeom prst="rect">
            <a:avLst/>
          </a:prstGeom>
          <a:solidFill>
            <a:srgbClr val="2587C5"/>
          </a:solidFill>
          <a:ln/>
        </p:spPr>
      </p:sp>
      <p:sp>
        <p:nvSpPr>
          <p:cNvPr id="134" name="Text 132"/>
          <p:cNvSpPr txBox="1"/>
          <p:nvPr/>
        </p:nvSpPr>
        <p:spPr>
          <a:xfrm>
            <a:off x="900684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35" name="Text 133"/>
          <p:cNvSpPr txBox="1"/>
          <p:nvPr/>
        </p:nvSpPr>
        <p:spPr>
          <a:xfrm>
            <a:off x="99212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87427" cy="136676"/>
          </a:xfrm>
          <a:prstGeom prst="rect">
            <a:avLst/>
          </a:prstGeom>
          <a:solidFill>
            <a:srgbClr val="2587C5"/>
          </a:solidFill>
          <a:ln/>
        </p:spPr>
      </p:sp>
      <p:sp>
        <p:nvSpPr>
          <p:cNvPr id="139" name="Text 137"/>
          <p:cNvSpPr txBox="1"/>
          <p:nvPr/>
        </p:nvSpPr>
        <p:spPr>
          <a:xfrm>
            <a:off x="900684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40" name="Text 138"/>
          <p:cNvSpPr txBox="1"/>
          <p:nvPr/>
        </p:nvSpPr>
        <p:spPr>
          <a:xfrm>
            <a:off x="99212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3" name="Shape 141"/>
          <p:cNvSpPr/>
          <p:nvPr/>
        </p:nvSpPr>
        <p:spPr>
          <a:xfrm>
            <a:off x="8220456" y="3993212"/>
            <a:ext cx="75632" cy="136676"/>
          </a:xfrm>
          <a:prstGeom prst="rect">
            <a:avLst/>
          </a:prstGeom>
          <a:solidFill>
            <a:srgbClr val="2587C5"/>
          </a:solidFill>
          <a:ln/>
        </p:spPr>
      </p:sp>
      <p:sp>
        <p:nvSpPr>
          <p:cNvPr id="144" name="Text 142"/>
          <p:cNvSpPr txBox="1"/>
          <p:nvPr/>
        </p:nvSpPr>
        <p:spPr>
          <a:xfrm>
            <a:off x="900684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45" name="Text 143"/>
          <p:cNvSpPr txBox="1"/>
          <p:nvPr/>
        </p:nvSpPr>
        <p:spPr>
          <a:xfrm>
            <a:off x="99212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8" name="Shape 146"/>
          <p:cNvSpPr/>
          <p:nvPr/>
        </p:nvSpPr>
        <p:spPr>
          <a:xfrm>
            <a:off x="8220456" y="4241713"/>
            <a:ext cx="73988" cy="136676"/>
          </a:xfrm>
          <a:prstGeom prst="rect">
            <a:avLst/>
          </a:prstGeom>
          <a:solidFill>
            <a:srgbClr val="2587C5"/>
          </a:solidFill>
          <a:ln/>
        </p:spPr>
      </p:sp>
      <p:sp>
        <p:nvSpPr>
          <p:cNvPr id="149" name="Text 147"/>
          <p:cNvSpPr txBox="1"/>
          <p:nvPr/>
        </p:nvSpPr>
        <p:spPr>
          <a:xfrm>
            <a:off x="900684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50" name="Text 148"/>
          <p:cNvSpPr txBox="1"/>
          <p:nvPr/>
        </p:nvSpPr>
        <p:spPr>
          <a:xfrm>
            <a:off x="99212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73497" cy="136676"/>
          </a:xfrm>
          <a:prstGeom prst="rect">
            <a:avLst/>
          </a:prstGeom>
          <a:solidFill>
            <a:srgbClr val="2587C5"/>
          </a:solidFill>
          <a:ln/>
        </p:spPr>
      </p:sp>
      <p:sp>
        <p:nvSpPr>
          <p:cNvPr id="154" name="Text 152"/>
          <p:cNvSpPr txBox="1"/>
          <p:nvPr/>
        </p:nvSpPr>
        <p:spPr>
          <a:xfrm>
            <a:off x="900684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55" name="Text 153"/>
          <p:cNvSpPr txBox="1"/>
          <p:nvPr/>
        </p:nvSpPr>
        <p:spPr>
          <a:xfrm>
            <a:off x="99212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220456" y="4738717"/>
            <a:ext cx="71484" cy="136676"/>
          </a:xfrm>
          <a:prstGeom prst="rect">
            <a:avLst/>
          </a:prstGeom>
          <a:solidFill>
            <a:srgbClr val="2587C5"/>
          </a:solidFill>
          <a:ln/>
        </p:spPr>
      </p:sp>
      <p:sp>
        <p:nvSpPr>
          <p:cNvPr id="159" name="Text 157"/>
          <p:cNvSpPr txBox="1"/>
          <p:nvPr/>
        </p:nvSpPr>
        <p:spPr>
          <a:xfrm>
            <a:off x="900684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60" name="Text 158"/>
          <p:cNvSpPr txBox="1"/>
          <p:nvPr/>
        </p:nvSpPr>
        <p:spPr>
          <a:xfrm>
            <a:off x="99212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3" name="Shape 161"/>
          <p:cNvSpPr/>
          <p:nvPr/>
        </p:nvSpPr>
        <p:spPr>
          <a:xfrm>
            <a:off x="8220456" y="4987218"/>
            <a:ext cx="51544" cy="136676"/>
          </a:xfrm>
          <a:prstGeom prst="rect">
            <a:avLst/>
          </a:prstGeom>
          <a:solidFill>
            <a:srgbClr val="2587C5"/>
          </a:solidFill>
          <a:ln/>
        </p:spPr>
      </p:sp>
      <p:sp>
        <p:nvSpPr>
          <p:cNvPr id="164" name="Text 162"/>
          <p:cNvSpPr txBox="1"/>
          <p:nvPr/>
        </p:nvSpPr>
        <p:spPr>
          <a:xfrm>
            <a:off x="900684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65" name="Text 163"/>
          <p:cNvSpPr txBox="1"/>
          <p:nvPr/>
        </p:nvSpPr>
        <p:spPr>
          <a:xfrm>
            <a:off x="99212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8" name="Shape 166"/>
          <p:cNvSpPr/>
          <p:nvPr/>
        </p:nvSpPr>
        <p:spPr>
          <a:xfrm>
            <a:off x="8220456" y="5235720"/>
            <a:ext cx="49708" cy="136676"/>
          </a:xfrm>
          <a:prstGeom prst="rect">
            <a:avLst/>
          </a:prstGeom>
          <a:solidFill>
            <a:srgbClr val="2587C5"/>
          </a:solidFill>
          <a:ln/>
        </p:spPr>
      </p:sp>
      <p:sp>
        <p:nvSpPr>
          <p:cNvPr id="169" name="Text 167"/>
          <p:cNvSpPr txBox="1"/>
          <p:nvPr/>
        </p:nvSpPr>
        <p:spPr>
          <a:xfrm>
            <a:off x="900684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70" name="Text 168"/>
          <p:cNvSpPr txBox="1"/>
          <p:nvPr/>
        </p:nvSpPr>
        <p:spPr>
          <a:xfrm>
            <a:off x="99212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31342" cy="136676"/>
          </a:xfrm>
          <a:prstGeom prst="rect">
            <a:avLst/>
          </a:prstGeom>
          <a:solidFill>
            <a:srgbClr val="2587C5"/>
          </a:solidFill>
          <a:ln/>
        </p:spPr>
      </p:sp>
      <p:sp>
        <p:nvSpPr>
          <p:cNvPr id="174" name="Text 172"/>
          <p:cNvSpPr txBox="1"/>
          <p:nvPr/>
        </p:nvSpPr>
        <p:spPr>
          <a:xfrm>
            <a:off x="900684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175" name="Text 173"/>
          <p:cNvSpPr txBox="1"/>
          <p:nvPr/>
        </p:nvSpPr>
        <p:spPr>
          <a:xfrm>
            <a:off x="99212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123, non-luxury 176.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174662"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9" name="Shape 17"/>
          <p:cNvSpPr/>
          <p:nvPr/>
        </p:nvSpPr>
        <p:spPr>
          <a:xfrm>
            <a:off x="3008376" y="2451937"/>
            <a:ext cx="1628753" cy="110266"/>
          </a:xfrm>
          <a:prstGeom prst="rect">
            <a:avLst/>
          </a:prstGeom>
          <a:solidFill>
            <a:srgbClr val="12A566"/>
          </a:solidFill>
          <a:ln/>
        </p:spPr>
      </p:sp>
      <p:sp>
        <p:nvSpPr>
          <p:cNvPr id="20" name="Shape 18"/>
          <p:cNvSpPr/>
          <p:nvPr/>
        </p:nvSpPr>
        <p:spPr>
          <a:xfrm>
            <a:off x="4174662"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4" name="Shape 22"/>
          <p:cNvSpPr/>
          <p:nvPr/>
        </p:nvSpPr>
        <p:spPr>
          <a:xfrm>
            <a:off x="3008376" y="2672468"/>
            <a:ext cx="1545728" cy="110266"/>
          </a:xfrm>
          <a:prstGeom prst="rect">
            <a:avLst/>
          </a:prstGeom>
          <a:solidFill>
            <a:srgbClr val="12A566"/>
          </a:solidFill>
          <a:ln/>
        </p:spPr>
      </p:sp>
      <p:sp>
        <p:nvSpPr>
          <p:cNvPr id="25" name="Shape 23"/>
          <p:cNvSpPr/>
          <p:nvPr/>
        </p:nvSpPr>
        <p:spPr>
          <a:xfrm>
            <a:off x="4174662"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93000"/>
            <a:ext cx="1511815" cy="110266"/>
          </a:xfrm>
          <a:prstGeom prst="rect">
            <a:avLst/>
          </a:prstGeom>
          <a:solidFill>
            <a:srgbClr val="12A566"/>
          </a:solidFill>
          <a:ln/>
        </p:spPr>
      </p:sp>
      <p:sp>
        <p:nvSpPr>
          <p:cNvPr id="30" name="Shape 28"/>
          <p:cNvSpPr/>
          <p:nvPr/>
        </p:nvSpPr>
        <p:spPr>
          <a:xfrm>
            <a:off x="4174662"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4" name="Shape 32"/>
          <p:cNvSpPr/>
          <p:nvPr/>
        </p:nvSpPr>
        <p:spPr>
          <a:xfrm>
            <a:off x="3008376" y="3113532"/>
            <a:ext cx="1509744" cy="110266"/>
          </a:xfrm>
          <a:prstGeom prst="rect">
            <a:avLst/>
          </a:prstGeom>
          <a:solidFill>
            <a:srgbClr val="12A566"/>
          </a:solidFill>
          <a:ln/>
        </p:spPr>
      </p:sp>
      <p:sp>
        <p:nvSpPr>
          <p:cNvPr id="35" name="Shape 33"/>
          <p:cNvSpPr/>
          <p:nvPr/>
        </p:nvSpPr>
        <p:spPr>
          <a:xfrm>
            <a:off x="4174662"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9" name="Shape 37"/>
          <p:cNvSpPr/>
          <p:nvPr/>
        </p:nvSpPr>
        <p:spPr>
          <a:xfrm>
            <a:off x="3008376" y="3334064"/>
            <a:ext cx="1500980" cy="110266"/>
          </a:xfrm>
          <a:prstGeom prst="rect">
            <a:avLst/>
          </a:prstGeom>
          <a:solidFill>
            <a:srgbClr val="12A566"/>
          </a:solidFill>
          <a:ln/>
        </p:spPr>
      </p:sp>
      <p:sp>
        <p:nvSpPr>
          <p:cNvPr id="40" name="Shape 38"/>
          <p:cNvSpPr/>
          <p:nvPr/>
        </p:nvSpPr>
        <p:spPr>
          <a:xfrm>
            <a:off x="4174662"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4" name="Shape 42"/>
          <p:cNvSpPr/>
          <p:nvPr/>
        </p:nvSpPr>
        <p:spPr>
          <a:xfrm>
            <a:off x="3008376" y="3554596"/>
            <a:ext cx="1310201" cy="110266"/>
          </a:xfrm>
          <a:prstGeom prst="rect">
            <a:avLst/>
          </a:prstGeom>
          <a:solidFill>
            <a:srgbClr val="12A566"/>
          </a:solidFill>
          <a:ln/>
        </p:spPr>
      </p:sp>
      <p:sp>
        <p:nvSpPr>
          <p:cNvPr id="45" name="Shape 43"/>
          <p:cNvSpPr/>
          <p:nvPr/>
        </p:nvSpPr>
        <p:spPr>
          <a:xfrm>
            <a:off x="4174662"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47" name="Shape 45"/>
          <p:cNvSpPr/>
          <p:nvPr/>
        </p:nvSpPr>
        <p:spPr>
          <a:xfrm>
            <a:off x="603504" y="3719994"/>
            <a:ext cx="5358384" cy="220532"/>
          </a:xfrm>
          <a:prstGeom prst="rect">
            <a:avLst/>
          </a:prstGeom>
          <a:solidFill>
            <a:srgbClr val="EDF4FA"/>
          </a:solidFill>
          <a:ln/>
        </p:spPr>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50" name="Shape 48"/>
          <p:cNvSpPr/>
          <p:nvPr/>
        </p:nvSpPr>
        <p:spPr>
          <a:xfrm>
            <a:off x="3008376" y="3775127"/>
            <a:ext cx="1298721" cy="110266"/>
          </a:xfrm>
          <a:prstGeom prst="rect">
            <a:avLst/>
          </a:prstGeom>
          <a:solidFill>
            <a:srgbClr val="12A566"/>
          </a:solidFill>
          <a:ln/>
        </p:spPr>
      </p:sp>
      <p:sp>
        <p:nvSpPr>
          <p:cNvPr id="51" name="Shape 49"/>
          <p:cNvSpPr/>
          <p:nvPr/>
        </p:nvSpPr>
        <p:spPr>
          <a:xfrm>
            <a:off x="381662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53" name="Shape 51"/>
          <p:cNvSpPr/>
          <p:nvPr/>
        </p:nvSpPr>
        <p:spPr>
          <a:xfrm>
            <a:off x="603504" y="3940526"/>
            <a:ext cx="5358384" cy="220532"/>
          </a:xfrm>
          <a:prstGeom prst="rect">
            <a:avLst/>
          </a:prstGeom>
          <a:solidFill>
            <a:srgbClr val="EDF4FA"/>
          </a:solidFill>
          <a:ln/>
        </p:spPr>
      </p:sp>
      <p:sp>
        <p:nvSpPr>
          <p:cNvPr id="54" name="Text 52"/>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5" name="Text 53"/>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995659"/>
            <a:ext cx="1281391" cy="110266"/>
          </a:xfrm>
          <a:prstGeom prst="rect">
            <a:avLst/>
          </a:prstGeom>
          <a:solidFill>
            <a:srgbClr val="12A566"/>
          </a:solidFill>
          <a:ln/>
        </p:spPr>
      </p:sp>
      <p:sp>
        <p:nvSpPr>
          <p:cNvPr id="57" name="Shape 55"/>
          <p:cNvSpPr/>
          <p:nvPr/>
        </p:nvSpPr>
        <p:spPr>
          <a:xfrm>
            <a:off x="3816623" y="3962579"/>
            <a:ext cx="21946" cy="176425"/>
          </a:xfrm>
          <a:prstGeom prst="rect">
            <a:avLst/>
          </a:prstGeom>
          <a:solidFill>
            <a:srgbClr val="0B2C4A"/>
          </a:solidFill>
          <a:ln/>
        </p:spPr>
      </p:sp>
      <p:sp>
        <p:nvSpPr>
          <p:cNvPr id="58" name="Text 56"/>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59" name="Text 57"/>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0" name="Text 58"/>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216191"/>
            <a:ext cx="1276424" cy="110266"/>
          </a:xfrm>
          <a:prstGeom prst="rect">
            <a:avLst/>
          </a:prstGeom>
          <a:solidFill>
            <a:srgbClr val="12A566"/>
          </a:solidFill>
          <a:ln/>
        </p:spPr>
      </p:sp>
      <p:sp>
        <p:nvSpPr>
          <p:cNvPr id="62" name="Shape 60"/>
          <p:cNvSpPr/>
          <p:nvPr/>
        </p:nvSpPr>
        <p:spPr>
          <a:xfrm>
            <a:off x="4174662" y="4183111"/>
            <a:ext cx="21946" cy="176425"/>
          </a:xfrm>
          <a:prstGeom prst="rect">
            <a:avLst/>
          </a:prstGeom>
          <a:solidFill>
            <a:srgbClr val="0B2C4A"/>
          </a:solidFill>
          <a:ln/>
        </p:spPr>
      </p:sp>
      <p:sp>
        <p:nvSpPr>
          <p:cNvPr id="63" name="Text 61"/>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64" name="Text 62"/>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5" name="Text 63"/>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6" name="Shape 64"/>
          <p:cNvSpPr/>
          <p:nvPr/>
        </p:nvSpPr>
        <p:spPr>
          <a:xfrm>
            <a:off x="3008376" y="4436723"/>
            <a:ext cx="1233001" cy="110266"/>
          </a:xfrm>
          <a:prstGeom prst="rect">
            <a:avLst/>
          </a:prstGeom>
          <a:solidFill>
            <a:srgbClr val="12A566"/>
          </a:solidFill>
          <a:ln/>
        </p:spPr>
      </p:sp>
      <p:sp>
        <p:nvSpPr>
          <p:cNvPr id="67" name="Shape 65"/>
          <p:cNvSpPr/>
          <p:nvPr/>
        </p:nvSpPr>
        <p:spPr>
          <a:xfrm>
            <a:off x="4174662" y="4403643"/>
            <a:ext cx="21946" cy="176425"/>
          </a:xfrm>
          <a:prstGeom prst="rect">
            <a:avLst/>
          </a:prstGeom>
          <a:solidFill>
            <a:srgbClr val="0B2C4A"/>
          </a:solidFill>
          <a:ln/>
        </p:spPr>
      </p:sp>
      <p:sp>
        <p:nvSpPr>
          <p:cNvPr id="68" name="Text 66"/>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69" name="Text 67"/>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0" name="Text 68"/>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1" name="Shape 69"/>
          <p:cNvSpPr/>
          <p:nvPr/>
        </p:nvSpPr>
        <p:spPr>
          <a:xfrm>
            <a:off x="3008376" y="4657254"/>
            <a:ext cx="1207673" cy="110266"/>
          </a:xfrm>
          <a:prstGeom prst="rect">
            <a:avLst/>
          </a:prstGeom>
          <a:solidFill>
            <a:srgbClr val="12A566"/>
          </a:solidFill>
          <a:ln/>
        </p:spPr>
      </p:sp>
      <p:sp>
        <p:nvSpPr>
          <p:cNvPr id="72" name="Shape 70"/>
          <p:cNvSpPr/>
          <p:nvPr/>
        </p:nvSpPr>
        <p:spPr>
          <a:xfrm>
            <a:off x="4174662" y="4624175"/>
            <a:ext cx="21946" cy="176425"/>
          </a:xfrm>
          <a:prstGeom prst="rect">
            <a:avLst/>
          </a:prstGeom>
          <a:solidFill>
            <a:srgbClr val="0B2C4A"/>
          </a:solidFill>
          <a:ln/>
        </p:spPr>
      </p:sp>
      <p:sp>
        <p:nvSpPr>
          <p:cNvPr id="73" name="Text 71"/>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6" name="Shape 74"/>
          <p:cNvSpPr/>
          <p:nvPr/>
        </p:nvSpPr>
        <p:spPr>
          <a:xfrm>
            <a:off x="3008376" y="4877786"/>
            <a:ext cx="1204116" cy="110266"/>
          </a:xfrm>
          <a:prstGeom prst="rect">
            <a:avLst/>
          </a:prstGeom>
          <a:solidFill>
            <a:srgbClr val="12A566"/>
          </a:solidFill>
          <a:ln/>
        </p:spPr>
      </p:sp>
      <p:sp>
        <p:nvSpPr>
          <p:cNvPr id="77" name="Shape 75"/>
          <p:cNvSpPr/>
          <p:nvPr/>
        </p:nvSpPr>
        <p:spPr>
          <a:xfrm>
            <a:off x="4174662"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1189792" cy="110266"/>
          </a:xfrm>
          <a:prstGeom prst="rect">
            <a:avLst/>
          </a:prstGeom>
          <a:solidFill>
            <a:srgbClr val="12A566"/>
          </a:solidFill>
          <a:ln/>
        </p:spPr>
      </p:sp>
      <p:sp>
        <p:nvSpPr>
          <p:cNvPr id="82" name="Shape 80"/>
          <p:cNvSpPr/>
          <p:nvPr/>
        </p:nvSpPr>
        <p:spPr>
          <a:xfrm>
            <a:off x="4174662"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6" name="Shape 84"/>
          <p:cNvSpPr/>
          <p:nvPr/>
        </p:nvSpPr>
        <p:spPr>
          <a:xfrm>
            <a:off x="3008376" y="5318850"/>
            <a:ext cx="1172604" cy="110266"/>
          </a:xfrm>
          <a:prstGeom prst="rect">
            <a:avLst/>
          </a:prstGeom>
          <a:solidFill>
            <a:srgbClr val="C2352F"/>
          </a:solidFill>
          <a:ln/>
        </p:spPr>
      </p:sp>
      <p:sp>
        <p:nvSpPr>
          <p:cNvPr id="87" name="Shape 85"/>
          <p:cNvSpPr/>
          <p:nvPr/>
        </p:nvSpPr>
        <p:spPr>
          <a:xfrm>
            <a:off x="4174662"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89" name="Text 87"/>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0" name="Text 88"/>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1" name="Shape 89"/>
          <p:cNvSpPr/>
          <p:nvPr/>
        </p:nvSpPr>
        <p:spPr>
          <a:xfrm>
            <a:off x="3008376" y="5539381"/>
            <a:ext cx="1149687" cy="110266"/>
          </a:xfrm>
          <a:prstGeom prst="rect">
            <a:avLst/>
          </a:prstGeom>
          <a:solidFill>
            <a:srgbClr val="C2352F"/>
          </a:solidFill>
          <a:ln/>
        </p:spPr>
      </p:sp>
      <p:sp>
        <p:nvSpPr>
          <p:cNvPr id="92" name="Shape 90"/>
          <p:cNvSpPr/>
          <p:nvPr/>
        </p:nvSpPr>
        <p:spPr>
          <a:xfrm>
            <a:off x="4174662" y="5506302"/>
            <a:ext cx="21946" cy="176425"/>
          </a:xfrm>
          <a:prstGeom prst="rect">
            <a:avLst/>
          </a:prstGeom>
          <a:solidFill>
            <a:srgbClr val="0B2C4A"/>
          </a:solidFill>
          <a:ln/>
        </p:spPr>
      </p:sp>
      <p:sp>
        <p:nvSpPr>
          <p:cNvPr id="93" name="Text 91"/>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94" name="Text 92"/>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6" name="Shape 94"/>
          <p:cNvSpPr/>
          <p:nvPr/>
        </p:nvSpPr>
        <p:spPr>
          <a:xfrm>
            <a:off x="3008376" y="5759913"/>
            <a:ext cx="1104796" cy="110266"/>
          </a:xfrm>
          <a:prstGeom prst="rect">
            <a:avLst/>
          </a:prstGeom>
          <a:solidFill>
            <a:srgbClr val="C2352F"/>
          </a:solidFill>
          <a:ln/>
        </p:spPr>
      </p:sp>
      <p:sp>
        <p:nvSpPr>
          <p:cNvPr id="97" name="Shape 95"/>
          <p:cNvSpPr/>
          <p:nvPr/>
        </p:nvSpPr>
        <p:spPr>
          <a:xfrm>
            <a:off x="4174662" y="5726833"/>
            <a:ext cx="21946" cy="176425"/>
          </a:xfrm>
          <a:prstGeom prst="rect">
            <a:avLst/>
          </a:prstGeom>
          <a:solidFill>
            <a:srgbClr val="0B2C4A"/>
          </a:solidFill>
          <a:ln/>
        </p:spPr>
      </p:sp>
      <p:sp>
        <p:nvSpPr>
          <p:cNvPr id="98" name="Text 96"/>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99" name="Shape 97"/>
          <p:cNvSpPr/>
          <p:nvPr/>
        </p:nvSpPr>
        <p:spPr>
          <a:xfrm>
            <a:off x="6153912" y="2176272"/>
            <a:ext cx="5358384" cy="220532"/>
          </a:xfrm>
          <a:prstGeom prst="rect">
            <a:avLst/>
          </a:prstGeom>
          <a:solidFill>
            <a:srgbClr val="EDF4FA"/>
          </a:solidFill>
          <a:ln/>
        </p:spPr>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02" name="Shape 100"/>
          <p:cNvSpPr/>
          <p:nvPr/>
        </p:nvSpPr>
        <p:spPr>
          <a:xfrm>
            <a:off x="8558784" y="2231405"/>
            <a:ext cx="1075418" cy="110266"/>
          </a:xfrm>
          <a:prstGeom prst="rect">
            <a:avLst/>
          </a:prstGeom>
          <a:solidFill>
            <a:srgbClr val="12A566"/>
          </a:solidFill>
          <a:ln/>
        </p:spPr>
      </p:sp>
      <p:sp>
        <p:nvSpPr>
          <p:cNvPr id="103" name="Shape 101"/>
          <p:cNvSpPr/>
          <p:nvPr/>
        </p:nvSpPr>
        <p:spPr>
          <a:xfrm>
            <a:off x="936703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7" name="Shape 105"/>
          <p:cNvSpPr/>
          <p:nvPr/>
        </p:nvSpPr>
        <p:spPr>
          <a:xfrm>
            <a:off x="8558784" y="2451937"/>
            <a:ext cx="1062235" cy="110266"/>
          </a:xfrm>
          <a:prstGeom prst="rect">
            <a:avLst/>
          </a:prstGeom>
          <a:solidFill>
            <a:srgbClr val="C2352F"/>
          </a:solidFill>
          <a:ln/>
        </p:spPr>
      </p:sp>
      <p:sp>
        <p:nvSpPr>
          <p:cNvPr id="108" name="Shape 106"/>
          <p:cNvSpPr/>
          <p:nvPr/>
        </p:nvSpPr>
        <p:spPr>
          <a:xfrm>
            <a:off x="9725070"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0" name="Text 108"/>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2" name="Shape 110"/>
          <p:cNvSpPr/>
          <p:nvPr/>
        </p:nvSpPr>
        <p:spPr>
          <a:xfrm>
            <a:off x="8558784" y="2672468"/>
            <a:ext cx="1026400" cy="110266"/>
          </a:xfrm>
          <a:prstGeom prst="rect">
            <a:avLst/>
          </a:prstGeom>
          <a:solidFill>
            <a:srgbClr val="C2352F"/>
          </a:solidFill>
          <a:ln/>
        </p:spPr>
      </p:sp>
      <p:sp>
        <p:nvSpPr>
          <p:cNvPr id="113" name="Shape 111"/>
          <p:cNvSpPr/>
          <p:nvPr/>
        </p:nvSpPr>
        <p:spPr>
          <a:xfrm>
            <a:off x="9725070" y="2639389"/>
            <a:ext cx="21946" cy="176425"/>
          </a:xfrm>
          <a:prstGeom prst="rect">
            <a:avLst/>
          </a:prstGeom>
          <a:solidFill>
            <a:srgbClr val="0B2C4A"/>
          </a:solidFill>
          <a:ln/>
        </p:spPr>
      </p:sp>
      <p:sp>
        <p:nvSpPr>
          <p:cNvPr id="114" name="Text 112"/>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15" name="Text 113"/>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58784" y="2893000"/>
            <a:ext cx="955276" cy="110266"/>
          </a:xfrm>
          <a:prstGeom prst="rect">
            <a:avLst/>
          </a:prstGeom>
          <a:solidFill>
            <a:srgbClr val="C2352F"/>
          </a:solidFill>
          <a:ln/>
        </p:spPr>
      </p:sp>
      <p:sp>
        <p:nvSpPr>
          <p:cNvPr id="118" name="Shape 116"/>
          <p:cNvSpPr/>
          <p:nvPr/>
        </p:nvSpPr>
        <p:spPr>
          <a:xfrm>
            <a:off x="9725070" y="2859920"/>
            <a:ext cx="21946" cy="176425"/>
          </a:xfrm>
          <a:prstGeom prst="rect">
            <a:avLst/>
          </a:prstGeom>
          <a:solidFill>
            <a:srgbClr val="0B2C4A"/>
          </a:solidFill>
          <a:ln/>
        </p:spPr>
      </p:sp>
      <p:sp>
        <p:nvSpPr>
          <p:cNvPr id="119" name="Text 117"/>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0" name="Text 118"/>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2" name="Shape 120"/>
          <p:cNvSpPr/>
          <p:nvPr/>
        </p:nvSpPr>
        <p:spPr>
          <a:xfrm>
            <a:off x="8558784" y="3113532"/>
            <a:ext cx="926373" cy="110266"/>
          </a:xfrm>
          <a:prstGeom prst="rect">
            <a:avLst/>
          </a:prstGeom>
          <a:solidFill>
            <a:srgbClr val="C2352F"/>
          </a:solidFill>
          <a:ln/>
        </p:spPr>
      </p:sp>
      <p:sp>
        <p:nvSpPr>
          <p:cNvPr id="123" name="Shape 121"/>
          <p:cNvSpPr/>
          <p:nvPr/>
        </p:nvSpPr>
        <p:spPr>
          <a:xfrm>
            <a:off x="9725070" y="3080452"/>
            <a:ext cx="21946" cy="176425"/>
          </a:xfrm>
          <a:prstGeom prst="rect">
            <a:avLst/>
          </a:prstGeom>
          <a:solidFill>
            <a:srgbClr val="0B2C4A"/>
          </a:solidFill>
          <a:ln/>
        </p:spPr>
      </p:sp>
      <p:sp>
        <p:nvSpPr>
          <p:cNvPr id="124" name="Text 122"/>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5" name="Shape 123"/>
          <p:cNvSpPr/>
          <p:nvPr/>
        </p:nvSpPr>
        <p:spPr>
          <a:xfrm>
            <a:off x="6153912" y="3278931"/>
            <a:ext cx="5358384" cy="220532"/>
          </a:xfrm>
          <a:prstGeom prst="rect">
            <a:avLst/>
          </a:prstGeom>
          <a:solidFill>
            <a:srgbClr val="EDF4FA"/>
          </a:solidFill>
          <a:ln/>
        </p:spPr>
      </p:sp>
      <p:sp>
        <p:nvSpPr>
          <p:cNvPr id="126" name="Text 124"/>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7" name="Text 125"/>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558784" y="3334064"/>
            <a:ext cx="889893" cy="110266"/>
          </a:xfrm>
          <a:prstGeom prst="rect">
            <a:avLst/>
          </a:prstGeom>
          <a:solidFill>
            <a:srgbClr val="12A566"/>
          </a:solidFill>
          <a:ln/>
        </p:spPr>
      </p:sp>
      <p:sp>
        <p:nvSpPr>
          <p:cNvPr id="129" name="Shape 127"/>
          <p:cNvSpPr/>
          <p:nvPr/>
        </p:nvSpPr>
        <p:spPr>
          <a:xfrm>
            <a:off x="9367031" y="3300984"/>
            <a:ext cx="21946" cy="176425"/>
          </a:xfrm>
          <a:prstGeom prst="rect">
            <a:avLst/>
          </a:prstGeom>
          <a:solidFill>
            <a:srgbClr val="0B2C4A"/>
          </a:solidFill>
          <a:ln/>
        </p:spPr>
      </p:sp>
      <p:sp>
        <p:nvSpPr>
          <p:cNvPr id="130" name="Text 128"/>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131" name="Text 129"/>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2" name="Text 130"/>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8558784" y="3554596"/>
            <a:ext cx="854724" cy="110266"/>
          </a:xfrm>
          <a:prstGeom prst="rect">
            <a:avLst/>
          </a:prstGeom>
          <a:solidFill>
            <a:srgbClr val="C2352F"/>
          </a:solidFill>
          <a:ln/>
        </p:spPr>
      </p:sp>
      <p:sp>
        <p:nvSpPr>
          <p:cNvPr id="134" name="Shape 132"/>
          <p:cNvSpPr/>
          <p:nvPr/>
        </p:nvSpPr>
        <p:spPr>
          <a:xfrm>
            <a:off x="9725070" y="3521516"/>
            <a:ext cx="21946" cy="176425"/>
          </a:xfrm>
          <a:prstGeom prst="rect">
            <a:avLst/>
          </a:prstGeom>
          <a:solidFill>
            <a:srgbClr val="0B2C4A"/>
          </a:solidFill>
          <a:ln/>
        </p:spPr>
      </p:sp>
      <p:sp>
        <p:nvSpPr>
          <p:cNvPr id="135" name="Text 133"/>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6" name="Shape 134"/>
          <p:cNvSpPr/>
          <p:nvPr/>
        </p:nvSpPr>
        <p:spPr>
          <a:xfrm>
            <a:off x="6153912" y="3719994"/>
            <a:ext cx="5358384" cy="220532"/>
          </a:xfrm>
          <a:prstGeom prst="rect">
            <a:avLst/>
          </a:prstGeom>
          <a:solidFill>
            <a:srgbClr val="EDF4FA"/>
          </a:solidFill>
          <a:ln/>
        </p:spPr>
      </p:sp>
      <p:sp>
        <p:nvSpPr>
          <p:cNvPr id="137" name="Text 135"/>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39" name="Shape 137"/>
          <p:cNvSpPr/>
          <p:nvPr/>
        </p:nvSpPr>
        <p:spPr>
          <a:xfrm>
            <a:off x="8558784" y="3775127"/>
            <a:ext cx="831951" cy="110266"/>
          </a:xfrm>
          <a:prstGeom prst="rect">
            <a:avLst/>
          </a:prstGeom>
          <a:solidFill>
            <a:srgbClr val="12A566"/>
          </a:solidFill>
          <a:ln/>
        </p:spPr>
      </p:sp>
      <p:sp>
        <p:nvSpPr>
          <p:cNvPr id="140" name="Shape 138"/>
          <p:cNvSpPr/>
          <p:nvPr/>
        </p:nvSpPr>
        <p:spPr>
          <a:xfrm>
            <a:off x="9367031" y="3742048"/>
            <a:ext cx="21946" cy="176425"/>
          </a:xfrm>
          <a:prstGeom prst="rect">
            <a:avLst/>
          </a:prstGeom>
          <a:solidFill>
            <a:srgbClr val="0B2C4A"/>
          </a:solidFill>
          <a:ln/>
        </p:spPr>
      </p:sp>
      <p:sp>
        <p:nvSpPr>
          <p:cNvPr id="141" name="Text 139"/>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142" name="Text 140"/>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4" name="Shape 142"/>
          <p:cNvSpPr/>
          <p:nvPr/>
        </p:nvSpPr>
        <p:spPr>
          <a:xfrm>
            <a:off x="8558784" y="3995659"/>
            <a:ext cx="821205" cy="110266"/>
          </a:xfrm>
          <a:prstGeom prst="rect">
            <a:avLst/>
          </a:prstGeom>
          <a:solidFill>
            <a:srgbClr val="C2352F"/>
          </a:solidFill>
          <a:ln/>
        </p:spPr>
      </p:sp>
      <p:sp>
        <p:nvSpPr>
          <p:cNvPr id="145" name="Shape 143"/>
          <p:cNvSpPr/>
          <p:nvPr/>
        </p:nvSpPr>
        <p:spPr>
          <a:xfrm>
            <a:off x="9725070" y="3962579"/>
            <a:ext cx="21946" cy="176425"/>
          </a:xfrm>
          <a:prstGeom prst="rect">
            <a:avLst/>
          </a:prstGeom>
          <a:solidFill>
            <a:srgbClr val="0B2C4A"/>
          </a:solidFill>
          <a:ln/>
        </p:spPr>
      </p:sp>
      <p:sp>
        <p:nvSpPr>
          <p:cNvPr id="146" name="Text 144"/>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47" name="Text 145"/>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8" name="Text 146"/>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9" name="Shape 147"/>
          <p:cNvSpPr/>
          <p:nvPr/>
        </p:nvSpPr>
        <p:spPr>
          <a:xfrm>
            <a:off x="8558784" y="4216191"/>
            <a:ext cx="798956" cy="110266"/>
          </a:xfrm>
          <a:prstGeom prst="rect">
            <a:avLst/>
          </a:prstGeom>
          <a:solidFill>
            <a:srgbClr val="C2352F"/>
          </a:solidFill>
          <a:ln/>
        </p:spPr>
      </p:sp>
      <p:sp>
        <p:nvSpPr>
          <p:cNvPr id="150" name="Shape 148"/>
          <p:cNvSpPr/>
          <p:nvPr/>
        </p:nvSpPr>
        <p:spPr>
          <a:xfrm>
            <a:off x="9725070" y="4183111"/>
            <a:ext cx="21946" cy="176425"/>
          </a:xfrm>
          <a:prstGeom prst="rect">
            <a:avLst/>
          </a:prstGeom>
          <a:solidFill>
            <a:srgbClr val="0B2C4A"/>
          </a:solidFill>
          <a:ln/>
        </p:spPr>
      </p:sp>
      <p:sp>
        <p:nvSpPr>
          <p:cNvPr id="151" name="Text 149"/>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52" name="Text 150"/>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3" name="Text 151"/>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4" name="Shape 152"/>
          <p:cNvSpPr/>
          <p:nvPr/>
        </p:nvSpPr>
        <p:spPr>
          <a:xfrm>
            <a:off x="8558784" y="4436723"/>
            <a:ext cx="791794" cy="110266"/>
          </a:xfrm>
          <a:prstGeom prst="rect">
            <a:avLst/>
          </a:prstGeom>
          <a:solidFill>
            <a:srgbClr val="C2352F"/>
          </a:solidFill>
          <a:ln/>
        </p:spPr>
      </p:sp>
      <p:sp>
        <p:nvSpPr>
          <p:cNvPr id="155" name="Shape 153"/>
          <p:cNvSpPr/>
          <p:nvPr/>
        </p:nvSpPr>
        <p:spPr>
          <a:xfrm>
            <a:off x="9725070" y="4403643"/>
            <a:ext cx="21946" cy="176425"/>
          </a:xfrm>
          <a:prstGeom prst="rect">
            <a:avLst/>
          </a:prstGeom>
          <a:solidFill>
            <a:srgbClr val="0B2C4A"/>
          </a:solidFill>
          <a:ln/>
        </p:spPr>
      </p:sp>
      <p:sp>
        <p:nvSpPr>
          <p:cNvPr id="156" name="Text 154"/>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9" name="Shape 157"/>
          <p:cNvSpPr/>
          <p:nvPr/>
        </p:nvSpPr>
        <p:spPr>
          <a:xfrm>
            <a:off x="8558784" y="4657254"/>
            <a:ext cx="779190" cy="110266"/>
          </a:xfrm>
          <a:prstGeom prst="rect">
            <a:avLst/>
          </a:prstGeom>
          <a:solidFill>
            <a:srgbClr val="C2352F"/>
          </a:solidFill>
          <a:ln/>
        </p:spPr>
      </p:sp>
      <p:sp>
        <p:nvSpPr>
          <p:cNvPr id="160" name="Shape 158"/>
          <p:cNvSpPr/>
          <p:nvPr/>
        </p:nvSpPr>
        <p:spPr>
          <a:xfrm>
            <a:off x="9725070"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65" name="Shape 163"/>
          <p:cNvSpPr/>
          <p:nvPr/>
        </p:nvSpPr>
        <p:spPr>
          <a:xfrm>
            <a:off x="8558784" y="4877786"/>
            <a:ext cx="743376" cy="110266"/>
          </a:xfrm>
          <a:prstGeom prst="rect">
            <a:avLst/>
          </a:prstGeom>
          <a:solidFill>
            <a:srgbClr val="C2352F"/>
          </a:solidFill>
          <a:ln/>
        </p:spPr>
      </p:sp>
      <p:sp>
        <p:nvSpPr>
          <p:cNvPr id="166" name="Shape 164"/>
          <p:cNvSpPr/>
          <p:nvPr/>
        </p:nvSpPr>
        <p:spPr>
          <a:xfrm>
            <a:off x="936703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596901" cy="110266"/>
          </a:xfrm>
          <a:prstGeom prst="rect">
            <a:avLst/>
          </a:prstGeom>
          <a:solidFill>
            <a:srgbClr val="C2352F"/>
          </a:solidFill>
          <a:ln/>
        </p:spPr>
      </p:sp>
      <p:sp>
        <p:nvSpPr>
          <p:cNvPr id="172" name="Shape 170"/>
          <p:cNvSpPr/>
          <p:nvPr/>
        </p:nvSpPr>
        <p:spPr>
          <a:xfrm>
            <a:off x="936703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558784" y="5318850"/>
            <a:ext cx="570833" cy="110266"/>
          </a:xfrm>
          <a:prstGeom prst="rect">
            <a:avLst/>
          </a:prstGeom>
          <a:solidFill>
            <a:srgbClr val="C2352F"/>
          </a:solidFill>
          <a:ln/>
        </p:spPr>
      </p:sp>
      <p:sp>
        <p:nvSpPr>
          <p:cNvPr id="178" name="Shape 176"/>
          <p:cNvSpPr/>
          <p:nvPr/>
        </p:nvSpPr>
        <p:spPr>
          <a:xfrm>
            <a:off x="936703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473837" cy="110266"/>
          </a:xfrm>
          <a:prstGeom prst="rect">
            <a:avLst/>
          </a:prstGeom>
          <a:solidFill>
            <a:srgbClr val="C2352F"/>
          </a:solidFill>
          <a:ln/>
        </p:spPr>
      </p:sp>
      <p:sp>
        <p:nvSpPr>
          <p:cNvPr id="184" name="Shape 182"/>
          <p:cNvSpPr/>
          <p:nvPr/>
        </p:nvSpPr>
        <p:spPr>
          <a:xfrm>
            <a:off x="936703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17.4, non-luxury 29.3.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239676"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 name="Shape 17"/>
          <p:cNvSpPr/>
          <p:nvPr/>
        </p:nvSpPr>
        <p:spPr>
          <a:xfrm>
            <a:off x="3008376" y="2451937"/>
            <a:ext cx="1635068" cy="110266"/>
          </a:xfrm>
          <a:prstGeom prst="rect">
            <a:avLst/>
          </a:prstGeom>
          <a:solidFill>
            <a:srgbClr val="12A566"/>
          </a:solidFill>
          <a:ln/>
        </p:spPr>
      </p:sp>
      <p:sp>
        <p:nvSpPr>
          <p:cNvPr id="20" name="Shape 18"/>
          <p:cNvSpPr/>
          <p:nvPr/>
        </p:nvSpPr>
        <p:spPr>
          <a:xfrm>
            <a:off x="4239676"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4" name="Shape 22"/>
          <p:cNvSpPr/>
          <p:nvPr/>
        </p:nvSpPr>
        <p:spPr>
          <a:xfrm>
            <a:off x="3008376" y="2672468"/>
            <a:ext cx="1588955" cy="110266"/>
          </a:xfrm>
          <a:prstGeom prst="rect">
            <a:avLst/>
          </a:prstGeom>
          <a:solidFill>
            <a:srgbClr val="12A566"/>
          </a:solidFill>
          <a:ln/>
        </p:spPr>
      </p:sp>
      <p:sp>
        <p:nvSpPr>
          <p:cNvPr id="25" name="Shape 23"/>
          <p:cNvSpPr/>
          <p:nvPr/>
        </p:nvSpPr>
        <p:spPr>
          <a:xfrm>
            <a:off x="4239676"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008376" y="2893000"/>
            <a:ext cx="1563921" cy="110266"/>
          </a:xfrm>
          <a:prstGeom prst="rect">
            <a:avLst/>
          </a:prstGeom>
          <a:solidFill>
            <a:srgbClr val="12A566"/>
          </a:solidFill>
          <a:ln/>
        </p:spPr>
      </p:sp>
      <p:sp>
        <p:nvSpPr>
          <p:cNvPr id="30" name="Shape 28"/>
          <p:cNvSpPr/>
          <p:nvPr/>
        </p:nvSpPr>
        <p:spPr>
          <a:xfrm>
            <a:off x="4239676"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4" name="Shape 32"/>
          <p:cNvSpPr/>
          <p:nvPr/>
        </p:nvSpPr>
        <p:spPr>
          <a:xfrm>
            <a:off x="3008376" y="3113532"/>
            <a:ext cx="1551295" cy="110266"/>
          </a:xfrm>
          <a:prstGeom prst="rect">
            <a:avLst/>
          </a:prstGeom>
          <a:solidFill>
            <a:srgbClr val="12A566"/>
          </a:solidFill>
          <a:ln/>
        </p:spPr>
      </p:sp>
      <p:sp>
        <p:nvSpPr>
          <p:cNvPr id="35" name="Shape 33"/>
          <p:cNvSpPr/>
          <p:nvPr/>
        </p:nvSpPr>
        <p:spPr>
          <a:xfrm>
            <a:off x="4239676"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9" name="Shape 37"/>
          <p:cNvSpPr/>
          <p:nvPr/>
        </p:nvSpPr>
        <p:spPr>
          <a:xfrm>
            <a:off x="3008376" y="3334064"/>
            <a:ext cx="1486679" cy="110266"/>
          </a:xfrm>
          <a:prstGeom prst="rect">
            <a:avLst/>
          </a:prstGeom>
          <a:solidFill>
            <a:srgbClr val="12A566"/>
          </a:solidFill>
          <a:ln/>
        </p:spPr>
      </p:sp>
      <p:sp>
        <p:nvSpPr>
          <p:cNvPr id="40" name="Shape 38"/>
          <p:cNvSpPr/>
          <p:nvPr/>
        </p:nvSpPr>
        <p:spPr>
          <a:xfrm>
            <a:off x="4239676"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3008376" y="3554596"/>
            <a:ext cx="1475126" cy="110266"/>
          </a:xfrm>
          <a:prstGeom prst="rect">
            <a:avLst/>
          </a:prstGeom>
          <a:solidFill>
            <a:srgbClr val="12A566"/>
          </a:solidFill>
          <a:ln/>
        </p:spPr>
      </p:sp>
      <p:sp>
        <p:nvSpPr>
          <p:cNvPr id="45" name="Shape 43"/>
          <p:cNvSpPr/>
          <p:nvPr/>
        </p:nvSpPr>
        <p:spPr>
          <a:xfrm>
            <a:off x="4239676"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47" name="Text 45"/>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9" name="Shape 47"/>
          <p:cNvSpPr/>
          <p:nvPr/>
        </p:nvSpPr>
        <p:spPr>
          <a:xfrm>
            <a:off x="3008376" y="3775127"/>
            <a:ext cx="1377666" cy="110266"/>
          </a:xfrm>
          <a:prstGeom prst="rect">
            <a:avLst/>
          </a:prstGeom>
          <a:solidFill>
            <a:srgbClr val="12A566"/>
          </a:solidFill>
          <a:ln/>
        </p:spPr>
      </p:sp>
      <p:sp>
        <p:nvSpPr>
          <p:cNvPr id="50" name="Shape 48"/>
          <p:cNvSpPr/>
          <p:nvPr/>
        </p:nvSpPr>
        <p:spPr>
          <a:xfrm>
            <a:off x="4239676" y="3742048"/>
            <a:ext cx="21946" cy="176425"/>
          </a:xfrm>
          <a:prstGeom prst="rect">
            <a:avLst/>
          </a:prstGeom>
          <a:solidFill>
            <a:srgbClr val="0B2C4A"/>
          </a:solidFill>
          <a:ln/>
        </p:spPr>
      </p:sp>
      <p:sp>
        <p:nvSpPr>
          <p:cNvPr id="51" name="Text 49"/>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52" name="Text 50"/>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4" name="Shape 52"/>
          <p:cNvSpPr/>
          <p:nvPr/>
        </p:nvSpPr>
        <p:spPr>
          <a:xfrm>
            <a:off x="3008376" y="3995659"/>
            <a:ext cx="1334480" cy="110266"/>
          </a:xfrm>
          <a:prstGeom prst="rect">
            <a:avLst/>
          </a:prstGeom>
          <a:solidFill>
            <a:srgbClr val="12A566"/>
          </a:solidFill>
          <a:ln/>
        </p:spPr>
      </p:sp>
      <p:sp>
        <p:nvSpPr>
          <p:cNvPr id="55" name="Shape 53"/>
          <p:cNvSpPr/>
          <p:nvPr/>
        </p:nvSpPr>
        <p:spPr>
          <a:xfrm>
            <a:off x="4239676" y="3962579"/>
            <a:ext cx="21946" cy="176425"/>
          </a:xfrm>
          <a:prstGeom prst="rect">
            <a:avLst/>
          </a:prstGeom>
          <a:solidFill>
            <a:srgbClr val="0B2C4A"/>
          </a:solidFill>
          <a:ln/>
        </p:spPr>
      </p:sp>
      <p:sp>
        <p:nvSpPr>
          <p:cNvPr id="56" name="Text 54"/>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57" name="Text 55"/>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008376" y="4216191"/>
            <a:ext cx="1334041" cy="110266"/>
          </a:xfrm>
          <a:prstGeom prst="rect">
            <a:avLst/>
          </a:prstGeom>
          <a:solidFill>
            <a:srgbClr val="12A566"/>
          </a:solidFill>
          <a:ln/>
        </p:spPr>
      </p:sp>
      <p:sp>
        <p:nvSpPr>
          <p:cNvPr id="60" name="Shape 58"/>
          <p:cNvSpPr/>
          <p:nvPr/>
        </p:nvSpPr>
        <p:spPr>
          <a:xfrm>
            <a:off x="4239676" y="4183111"/>
            <a:ext cx="21946" cy="176425"/>
          </a:xfrm>
          <a:prstGeom prst="rect">
            <a:avLst/>
          </a:prstGeom>
          <a:solidFill>
            <a:srgbClr val="0B2C4A"/>
          </a:solidFill>
          <a:ln/>
        </p:spPr>
      </p:sp>
      <p:sp>
        <p:nvSpPr>
          <p:cNvPr id="61" name="Text 59"/>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2" name="Text 60"/>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008376" y="4436723"/>
            <a:ext cx="1333504" cy="110266"/>
          </a:xfrm>
          <a:prstGeom prst="rect">
            <a:avLst/>
          </a:prstGeom>
          <a:solidFill>
            <a:srgbClr val="12A566"/>
          </a:solidFill>
          <a:ln/>
        </p:spPr>
      </p:sp>
      <p:sp>
        <p:nvSpPr>
          <p:cNvPr id="65" name="Shape 63"/>
          <p:cNvSpPr/>
          <p:nvPr/>
        </p:nvSpPr>
        <p:spPr>
          <a:xfrm>
            <a:off x="4239676" y="4403643"/>
            <a:ext cx="21946" cy="176425"/>
          </a:xfrm>
          <a:prstGeom prst="rect">
            <a:avLst/>
          </a:prstGeom>
          <a:solidFill>
            <a:srgbClr val="0B2C4A"/>
          </a:solidFill>
          <a:ln/>
        </p:spPr>
      </p:sp>
      <p:sp>
        <p:nvSpPr>
          <p:cNvPr id="66" name="Text 64"/>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7" name="Text 65"/>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008376" y="4657254"/>
            <a:ext cx="1327762" cy="110266"/>
          </a:xfrm>
          <a:prstGeom prst="rect">
            <a:avLst/>
          </a:prstGeom>
          <a:solidFill>
            <a:srgbClr val="12A566"/>
          </a:solidFill>
          <a:ln/>
        </p:spPr>
      </p:sp>
      <p:sp>
        <p:nvSpPr>
          <p:cNvPr id="70" name="Shape 68"/>
          <p:cNvSpPr/>
          <p:nvPr/>
        </p:nvSpPr>
        <p:spPr>
          <a:xfrm>
            <a:off x="4239676" y="4624175"/>
            <a:ext cx="21946" cy="176425"/>
          </a:xfrm>
          <a:prstGeom prst="rect">
            <a:avLst/>
          </a:prstGeom>
          <a:solidFill>
            <a:srgbClr val="0B2C4A"/>
          </a:solidFill>
          <a:ln/>
        </p:spPr>
      </p:sp>
      <p:sp>
        <p:nvSpPr>
          <p:cNvPr id="71" name="Text 69"/>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72" name="Text 70"/>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4" name="Shape 72"/>
          <p:cNvSpPr/>
          <p:nvPr/>
        </p:nvSpPr>
        <p:spPr>
          <a:xfrm>
            <a:off x="3008376" y="4877786"/>
            <a:ext cx="1320901" cy="110266"/>
          </a:xfrm>
          <a:prstGeom prst="rect">
            <a:avLst/>
          </a:prstGeom>
          <a:solidFill>
            <a:srgbClr val="12A566"/>
          </a:solidFill>
          <a:ln/>
        </p:spPr>
      </p:sp>
      <p:sp>
        <p:nvSpPr>
          <p:cNvPr id="75" name="Shape 73"/>
          <p:cNvSpPr/>
          <p:nvPr/>
        </p:nvSpPr>
        <p:spPr>
          <a:xfrm>
            <a:off x="4239676" y="4844706"/>
            <a:ext cx="21946" cy="176425"/>
          </a:xfrm>
          <a:prstGeom prst="rect">
            <a:avLst/>
          </a:prstGeom>
          <a:solidFill>
            <a:srgbClr val="0B2C4A"/>
          </a:solidFill>
          <a:ln/>
        </p:spPr>
      </p:sp>
      <p:sp>
        <p:nvSpPr>
          <p:cNvPr id="76" name="Text 74"/>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7" name="Text 75"/>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9" name="Shape 77"/>
          <p:cNvSpPr/>
          <p:nvPr/>
        </p:nvSpPr>
        <p:spPr>
          <a:xfrm>
            <a:off x="3008376" y="5098318"/>
            <a:ext cx="1297695" cy="110266"/>
          </a:xfrm>
          <a:prstGeom prst="rect">
            <a:avLst/>
          </a:prstGeom>
          <a:solidFill>
            <a:srgbClr val="12A566"/>
          </a:solidFill>
          <a:ln/>
        </p:spPr>
      </p:sp>
      <p:sp>
        <p:nvSpPr>
          <p:cNvPr id="80" name="Shape 78"/>
          <p:cNvSpPr/>
          <p:nvPr/>
        </p:nvSpPr>
        <p:spPr>
          <a:xfrm>
            <a:off x="4239676" y="5065238"/>
            <a:ext cx="21946" cy="176425"/>
          </a:xfrm>
          <a:prstGeom prst="rect">
            <a:avLst/>
          </a:prstGeom>
          <a:solidFill>
            <a:srgbClr val="0B2C4A"/>
          </a:solidFill>
          <a:ln/>
        </p:spPr>
      </p:sp>
      <p:sp>
        <p:nvSpPr>
          <p:cNvPr id="81" name="Text 79"/>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82" name="Text 80"/>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4" name="Shape 82"/>
          <p:cNvSpPr/>
          <p:nvPr/>
        </p:nvSpPr>
        <p:spPr>
          <a:xfrm>
            <a:off x="3008376" y="5318850"/>
            <a:ext cx="1224071" cy="110266"/>
          </a:xfrm>
          <a:prstGeom prst="rect">
            <a:avLst/>
          </a:prstGeom>
          <a:solidFill>
            <a:srgbClr val="C2352F"/>
          </a:solidFill>
          <a:ln/>
        </p:spPr>
      </p:sp>
      <p:sp>
        <p:nvSpPr>
          <p:cNvPr id="85" name="Shape 83"/>
          <p:cNvSpPr/>
          <p:nvPr/>
        </p:nvSpPr>
        <p:spPr>
          <a:xfrm>
            <a:off x="4239676" y="5285770"/>
            <a:ext cx="21946" cy="176425"/>
          </a:xfrm>
          <a:prstGeom prst="rect">
            <a:avLst/>
          </a:prstGeom>
          <a:solidFill>
            <a:srgbClr val="0B2C4A"/>
          </a:solidFill>
          <a:ln/>
        </p:spPr>
      </p:sp>
      <p:sp>
        <p:nvSpPr>
          <p:cNvPr id="86" name="Text 84"/>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87" name="Text 85"/>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3008376" y="5539381"/>
            <a:ext cx="1198528" cy="110266"/>
          </a:xfrm>
          <a:prstGeom prst="rect">
            <a:avLst/>
          </a:prstGeom>
          <a:solidFill>
            <a:srgbClr val="C2352F"/>
          </a:solidFill>
          <a:ln/>
        </p:spPr>
      </p:sp>
      <p:sp>
        <p:nvSpPr>
          <p:cNvPr id="90" name="Shape 88"/>
          <p:cNvSpPr/>
          <p:nvPr/>
        </p:nvSpPr>
        <p:spPr>
          <a:xfrm>
            <a:off x="4239676" y="5506302"/>
            <a:ext cx="21946" cy="176425"/>
          </a:xfrm>
          <a:prstGeom prst="rect">
            <a:avLst/>
          </a:prstGeom>
          <a:solidFill>
            <a:srgbClr val="0B2C4A"/>
          </a:solidFill>
          <a:ln/>
        </p:spPr>
      </p:sp>
      <p:sp>
        <p:nvSpPr>
          <p:cNvPr id="91" name="Text 89"/>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92" name="Text 90"/>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3008376" y="5759913"/>
            <a:ext cx="1081624" cy="110266"/>
          </a:xfrm>
          <a:prstGeom prst="rect">
            <a:avLst/>
          </a:prstGeom>
          <a:solidFill>
            <a:srgbClr val="C2352F"/>
          </a:solidFill>
          <a:ln/>
        </p:spPr>
      </p:sp>
      <p:sp>
        <p:nvSpPr>
          <p:cNvPr id="95" name="Shape 93"/>
          <p:cNvSpPr/>
          <p:nvPr/>
        </p:nvSpPr>
        <p:spPr>
          <a:xfrm>
            <a:off x="4239676" y="5726833"/>
            <a:ext cx="21946" cy="176425"/>
          </a:xfrm>
          <a:prstGeom prst="rect">
            <a:avLst/>
          </a:prstGeom>
          <a:solidFill>
            <a:srgbClr val="0B2C4A"/>
          </a:solidFill>
          <a:ln/>
        </p:spPr>
      </p:sp>
      <p:sp>
        <p:nvSpPr>
          <p:cNvPr id="96" name="Text 94"/>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97" name="Shape 95"/>
          <p:cNvSpPr/>
          <p:nvPr/>
        </p:nvSpPr>
        <p:spPr>
          <a:xfrm>
            <a:off x="6153912" y="2176272"/>
            <a:ext cx="5358384" cy="220532"/>
          </a:xfrm>
          <a:prstGeom prst="rect">
            <a:avLst/>
          </a:prstGeom>
          <a:solidFill>
            <a:srgbClr val="EDF4FA"/>
          </a:solidFill>
          <a:ln/>
        </p:spPr>
      </p:sp>
      <p:sp>
        <p:nvSpPr>
          <p:cNvPr id="98" name="Text 96"/>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9" name="Text 97"/>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00" name="Shape 98"/>
          <p:cNvSpPr/>
          <p:nvPr/>
        </p:nvSpPr>
        <p:spPr>
          <a:xfrm>
            <a:off x="8558784" y="2231405"/>
            <a:ext cx="1055564" cy="110266"/>
          </a:xfrm>
          <a:prstGeom prst="rect">
            <a:avLst/>
          </a:prstGeom>
          <a:solidFill>
            <a:srgbClr val="12A566"/>
          </a:solidFill>
          <a:ln/>
        </p:spPr>
      </p:sp>
      <p:sp>
        <p:nvSpPr>
          <p:cNvPr id="101" name="Shape 99"/>
          <p:cNvSpPr/>
          <p:nvPr/>
        </p:nvSpPr>
        <p:spPr>
          <a:xfrm>
            <a:off x="9288611" y="2198325"/>
            <a:ext cx="21946" cy="176425"/>
          </a:xfrm>
          <a:prstGeom prst="rect">
            <a:avLst/>
          </a:prstGeom>
          <a:solidFill>
            <a:srgbClr val="0B2C4A"/>
          </a:solidFill>
          <a:ln/>
        </p:spPr>
      </p:sp>
      <p:sp>
        <p:nvSpPr>
          <p:cNvPr id="102" name="Text 100"/>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03" name="Shape 101"/>
          <p:cNvSpPr/>
          <p:nvPr/>
        </p:nvSpPr>
        <p:spPr>
          <a:xfrm>
            <a:off x="6153912" y="2396804"/>
            <a:ext cx="5358384" cy="220532"/>
          </a:xfrm>
          <a:prstGeom prst="rect">
            <a:avLst/>
          </a:prstGeom>
          <a:solidFill>
            <a:srgbClr val="EDF4FA"/>
          </a:solidFill>
          <a:ln/>
        </p:spPr>
      </p:sp>
      <p:sp>
        <p:nvSpPr>
          <p:cNvPr id="104" name="Text 102"/>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5" name="Text 103"/>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6" name="Shape 104"/>
          <p:cNvSpPr/>
          <p:nvPr/>
        </p:nvSpPr>
        <p:spPr>
          <a:xfrm>
            <a:off x="8558784" y="2451937"/>
            <a:ext cx="1038179" cy="110266"/>
          </a:xfrm>
          <a:prstGeom prst="rect">
            <a:avLst/>
          </a:prstGeom>
          <a:solidFill>
            <a:srgbClr val="12A566"/>
          </a:solidFill>
          <a:ln/>
        </p:spPr>
      </p:sp>
      <p:sp>
        <p:nvSpPr>
          <p:cNvPr id="107" name="Shape 105"/>
          <p:cNvSpPr/>
          <p:nvPr/>
        </p:nvSpPr>
        <p:spPr>
          <a:xfrm>
            <a:off x="9288611" y="2418857"/>
            <a:ext cx="21946" cy="176425"/>
          </a:xfrm>
          <a:prstGeom prst="rect">
            <a:avLst/>
          </a:prstGeom>
          <a:solidFill>
            <a:srgbClr val="0B2C4A"/>
          </a:solidFill>
          <a:ln/>
        </p:spPr>
      </p:sp>
      <p:sp>
        <p:nvSpPr>
          <p:cNvPr id="108" name="Text 106"/>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109" name="Text 107"/>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0" name="Text 108"/>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1" name="Shape 109"/>
          <p:cNvSpPr/>
          <p:nvPr/>
        </p:nvSpPr>
        <p:spPr>
          <a:xfrm>
            <a:off x="8558784" y="2672468"/>
            <a:ext cx="1004084" cy="110266"/>
          </a:xfrm>
          <a:prstGeom prst="rect">
            <a:avLst/>
          </a:prstGeom>
          <a:solidFill>
            <a:srgbClr val="C2352F"/>
          </a:solidFill>
          <a:ln/>
        </p:spPr>
      </p:sp>
      <p:sp>
        <p:nvSpPr>
          <p:cNvPr id="112" name="Shape 110"/>
          <p:cNvSpPr/>
          <p:nvPr/>
        </p:nvSpPr>
        <p:spPr>
          <a:xfrm>
            <a:off x="9790084" y="2639389"/>
            <a:ext cx="21946" cy="176425"/>
          </a:xfrm>
          <a:prstGeom prst="rect">
            <a:avLst/>
          </a:prstGeom>
          <a:solidFill>
            <a:srgbClr val="0B2C4A"/>
          </a:solidFill>
          <a:ln/>
        </p:spPr>
      </p:sp>
      <p:sp>
        <p:nvSpPr>
          <p:cNvPr id="113" name="Text 111"/>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14" name="Text 112"/>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5" name="Text 113"/>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558784" y="2893000"/>
            <a:ext cx="961384" cy="110266"/>
          </a:xfrm>
          <a:prstGeom prst="rect">
            <a:avLst/>
          </a:prstGeom>
          <a:solidFill>
            <a:srgbClr val="C2352F"/>
          </a:solidFill>
          <a:ln/>
        </p:spPr>
      </p:sp>
      <p:sp>
        <p:nvSpPr>
          <p:cNvPr id="117" name="Shape 115"/>
          <p:cNvSpPr/>
          <p:nvPr/>
        </p:nvSpPr>
        <p:spPr>
          <a:xfrm>
            <a:off x="9790084" y="2859920"/>
            <a:ext cx="21946" cy="176425"/>
          </a:xfrm>
          <a:prstGeom prst="rect">
            <a:avLst/>
          </a:prstGeom>
          <a:solidFill>
            <a:srgbClr val="0B2C4A"/>
          </a:solidFill>
          <a:ln/>
        </p:spPr>
      </p:sp>
      <p:sp>
        <p:nvSpPr>
          <p:cNvPr id="118" name="Text 116"/>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19" name="Text 117"/>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0" name="Text 118"/>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3113532"/>
            <a:ext cx="939246" cy="110266"/>
          </a:xfrm>
          <a:prstGeom prst="rect">
            <a:avLst/>
          </a:prstGeom>
          <a:solidFill>
            <a:srgbClr val="C2352F"/>
          </a:solidFill>
          <a:ln/>
        </p:spPr>
      </p:sp>
      <p:sp>
        <p:nvSpPr>
          <p:cNvPr id="122" name="Shape 120"/>
          <p:cNvSpPr/>
          <p:nvPr/>
        </p:nvSpPr>
        <p:spPr>
          <a:xfrm>
            <a:off x="9790084" y="3080452"/>
            <a:ext cx="21946" cy="176425"/>
          </a:xfrm>
          <a:prstGeom prst="rect">
            <a:avLst/>
          </a:prstGeom>
          <a:solidFill>
            <a:srgbClr val="0B2C4A"/>
          </a:solidFill>
          <a:ln/>
        </p:spPr>
      </p:sp>
      <p:sp>
        <p:nvSpPr>
          <p:cNvPr id="123" name="Text 121"/>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24" name="Text 122"/>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5" name="Text 123"/>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6" name="Shape 124"/>
          <p:cNvSpPr/>
          <p:nvPr/>
        </p:nvSpPr>
        <p:spPr>
          <a:xfrm>
            <a:off x="8558784" y="3334064"/>
            <a:ext cx="888310" cy="110266"/>
          </a:xfrm>
          <a:prstGeom prst="rect">
            <a:avLst/>
          </a:prstGeom>
          <a:solidFill>
            <a:srgbClr val="C2352F"/>
          </a:solidFill>
          <a:ln/>
        </p:spPr>
      </p:sp>
      <p:sp>
        <p:nvSpPr>
          <p:cNvPr id="127" name="Shape 125"/>
          <p:cNvSpPr/>
          <p:nvPr/>
        </p:nvSpPr>
        <p:spPr>
          <a:xfrm>
            <a:off x="9790084" y="3300984"/>
            <a:ext cx="21946" cy="176425"/>
          </a:xfrm>
          <a:prstGeom prst="rect">
            <a:avLst/>
          </a:prstGeom>
          <a:solidFill>
            <a:srgbClr val="0B2C4A"/>
          </a:solidFill>
          <a:ln/>
        </p:spPr>
      </p:sp>
      <p:sp>
        <p:nvSpPr>
          <p:cNvPr id="128" name="Text 126"/>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29" name="Text 127"/>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0" name="Text 128"/>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1" name="Shape 129"/>
          <p:cNvSpPr/>
          <p:nvPr/>
        </p:nvSpPr>
        <p:spPr>
          <a:xfrm>
            <a:off x="8558784" y="3554596"/>
            <a:ext cx="863117" cy="110266"/>
          </a:xfrm>
          <a:prstGeom prst="rect">
            <a:avLst/>
          </a:prstGeom>
          <a:solidFill>
            <a:srgbClr val="C2352F"/>
          </a:solidFill>
          <a:ln/>
        </p:spPr>
      </p:sp>
      <p:sp>
        <p:nvSpPr>
          <p:cNvPr id="132" name="Shape 130"/>
          <p:cNvSpPr/>
          <p:nvPr/>
        </p:nvSpPr>
        <p:spPr>
          <a:xfrm>
            <a:off x="9790084" y="3521516"/>
            <a:ext cx="21946" cy="176425"/>
          </a:xfrm>
          <a:prstGeom prst="rect">
            <a:avLst/>
          </a:prstGeom>
          <a:solidFill>
            <a:srgbClr val="0B2C4A"/>
          </a:solidFill>
          <a:ln/>
        </p:spPr>
      </p:sp>
      <p:sp>
        <p:nvSpPr>
          <p:cNvPr id="133" name="Text 131"/>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34" name="Shape 132"/>
          <p:cNvSpPr/>
          <p:nvPr/>
        </p:nvSpPr>
        <p:spPr>
          <a:xfrm>
            <a:off x="6153912" y="3719994"/>
            <a:ext cx="5358384" cy="220532"/>
          </a:xfrm>
          <a:prstGeom prst="rect">
            <a:avLst/>
          </a:prstGeom>
          <a:solidFill>
            <a:srgbClr val="EDF4FA"/>
          </a:solidFill>
          <a:ln/>
        </p:spPr>
      </p:sp>
      <p:sp>
        <p:nvSpPr>
          <p:cNvPr id="135" name="Text 133"/>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558784" y="3775127"/>
            <a:ext cx="822425" cy="110266"/>
          </a:xfrm>
          <a:prstGeom prst="rect">
            <a:avLst/>
          </a:prstGeom>
          <a:solidFill>
            <a:srgbClr val="12A566"/>
          </a:solidFill>
          <a:ln/>
        </p:spPr>
      </p:sp>
      <p:sp>
        <p:nvSpPr>
          <p:cNvPr id="138" name="Shape 136"/>
          <p:cNvSpPr/>
          <p:nvPr/>
        </p:nvSpPr>
        <p:spPr>
          <a:xfrm>
            <a:off x="9288611" y="3742048"/>
            <a:ext cx="21946" cy="176425"/>
          </a:xfrm>
          <a:prstGeom prst="rect">
            <a:avLst/>
          </a:prstGeom>
          <a:solidFill>
            <a:srgbClr val="0B2C4A"/>
          </a:solidFill>
          <a:ln/>
        </p:spPr>
      </p:sp>
      <p:sp>
        <p:nvSpPr>
          <p:cNvPr id="139" name="Text 137"/>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40" name="Text 138"/>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3995659"/>
            <a:ext cx="814746" cy="110266"/>
          </a:xfrm>
          <a:prstGeom prst="rect">
            <a:avLst/>
          </a:prstGeom>
          <a:solidFill>
            <a:srgbClr val="C2352F"/>
          </a:solidFill>
          <a:ln/>
        </p:spPr>
      </p:sp>
      <p:sp>
        <p:nvSpPr>
          <p:cNvPr id="143" name="Shape 141"/>
          <p:cNvSpPr/>
          <p:nvPr/>
        </p:nvSpPr>
        <p:spPr>
          <a:xfrm>
            <a:off x="9790084" y="3962579"/>
            <a:ext cx="21946" cy="176425"/>
          </a:xfrm>
          <a:prstGeom prst="rect">
            <a:avLst/>
          </a:prstGeom>
          <a:solidFill>
            <a:srgbClr val="0B2C4A"/>
          </a:solidFill>
          <a:ln/>
        </p:spPr>
      </p:sp>
      <p:sp>
        <p:nvSpPr>
          <p:cNvPr id="144" name="Text 142"/>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5" name="Shape 143"/>
          <p:cNvSpPr/>
          <p:nvPr/>
        </p:nvSpPr>
        <p:spPr>
          <a:xfrm>
            <a:off x="6153912" y="4161058"/>
            <a:ext cx="5358384" cy="220532"/>
          </a:xfrm>
          <a:prstGeom prst="rect">
            <a:avLst/>
          </a:prstGeom>
          <a:solidFill>
            <a:srgbClr val="EDF4FA"/>
          </a:solidFill>
          <a:ln/>
        </p:spPr>
      </p:sp>
      <p:sp>
        <p:nvSpPr>
          <p:cNvPr id="146" name="Text 144"/>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7" name="Text 145"/>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216191"/>
            <a:ext cx="807912" cy="110266"/>
          </a:xfrm>
          <a:prstGeom prst="rect">
            <a:avLst/>
          </a:prstGeom>
          <a:solidFill>
            <a:srgbClr val="12A566"/>
          </a:solidFill>
          <a:ln/>
        </p:spPr>
      </p:sp>
      <p:sp>
        <p:nvSpPr>
          <p:cNvPr id="149" name="Shape 147"/>
          <p:cNvSpPr/>
          <p:nvPr/>
        </p:nvSpPr>
        <p:spPr>
          <a:xfrm>
            <a:off x="9288611" y="4183111"/>
            <a:ext cx="21946" cy="176425"/>
          </a:xfrm>
          <a:prstGeom prst="rect">
            <a:avLst/>
          </a:prstGeom>
          <a:solidFill>
            <a:srgbClr val="0B2C4A"/>
          </a:solidFill>
          <a:ln/>
        </p:spPr>
      </p:sp>
      <p:sp>
        <p:nvSpPr>
          <p:cNvPr id="150" name="Text 148"/>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151" name="Text 149"/>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2" name="Text 150"/>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3" name="Shape 151"/>
          <p:cNvSpPr/>
          <p:nvPr/>
        </p:nvSpPr>
        <p:spPr>
          <a:xfrm>
            <a:off x="8558784" y="4436723"/>
            <a:ext cx="736496" cy="110266"/>
          </a:xfrm>
          <a:prstGeom prst="rect">
            <a:avLst/>
          </a:prstGeom>
          <a:solidFill>
            <a:srgbClr val="C2352F"/>
          </a:solidFill>
          <a:ln/>
        </p:spPr>
      </p:sp>
      <p:sp>
        <p:nvSpPr>
          <p:cNvPr id="154" name="Shape 152"/>
          <p:cNvSpPr/>
          <p:nvPr/>
        </p:nvSpPr>
        <p:spPr>
          <a:xfrm>
            <a:off x="9790084" y="4403643"/>
            <a:ext cx="21946" cy="176425"/>
          </a:xfrm>
          <a:prstGeom prst="rect">
            <a:avLst/>
          </a:prstGeom>
          <a:solidFill>
            <a:srgbClr val="0B2C4A"/>
          </a:solidFill>
          <a:ln/>
        </p:spPr>
      </p:sp>
      <p:sp>
        <p:nvSpPr>
          <p:cNvPr id="155" name="Text 153"/>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6" name="Shape 154"/>
          <p:cNvSpPr/>
          <p:nvPr/>
        </p:nvSpPr>
        <p:spPr>
          <a:xfrm>
            <a:off x="6153912" y="4602121"/>
            <a:ext cx="5358384" cy="220532"/>
          </a:xfrm>
          <a:prstGeom prst="rect">
            <a:avLst/>
          </a:prstGeom>
          <a:solidFill>
            <a:srgbClr val="EDF4FA"/>
          </a:solidFill>
          <a:ln/>
        </p:spPr>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9" name="Shape 157"/>
          <p:cNvSpPr/>
          <p:nvPr/>
        </p:nvSpPr>
        <p:spPr>
          <a:xfrm>
            <a:off x="8558784" y="4657254"/>
            <a:ext cx="713277" cy="110266"/>
          </a:xfrm>
          <a:prstGeom prst="rect">
            <a:avLst/>
          </a:prstGeom>
          <a:solidFill>
            <a:srgbClr val="C2352F"/>
          </a:solidFill>
          <a:ln/>
        </p:spPr>
      </p:sp>
      <p:sp>
        <p:nvSpPr>
          <p:cNvPr id="160" name="Shape 158"/>
          <p:cNvSpPr/>
          <p:nvPr/>
        </p:nvSpPr>
        <p:spPr>
          <a:xfrm>
            <a:off x="9288611"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65" name="Shape 163"/>
          <p:cNvSpPr/>
          <p:nvPr/>
        </p:nvSpPr>
        <p:spPr>
          <a:xfrm>
            <a:off x="8558784" y="4877786"/>
            <a:ext cx="625128" cy="110266"/>
          </a:xfrm>
          <a:prstGeom prst="rect">
            <a:avLst/>
          </a:prstGeom>
          <a:solidFill>
            <a:srgbClr val="C2352F"/>
          </a:solidFill>
          <a:ln/>
        </p:spPr>
      </p:sp>
      <p:sp>
        <p:nvSpPr>
          <p:cNvPr id="166" name="Shape 164"/>
          <p:cNvSpPr/>
          <p:nvPr/>
        </p:nvSpPr>
        <p:spPr>
          <a:xfrm>
            <a:off x="928861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624943" cy="110266"/>
          </a:xfrm>
          <a:prstGeom prst="rect">
            <a:avLst/>
          </a:prstGeom>
          <a:solidFill>
            <a:srgbClr val="C2352F"/>
          </a:solidFill>
          <a:ln/>
        </p:spPr>
      </p:sp>
      <p:sp>
        <p:nvSpPr>
          <p:cNvPr id="172" name="Shape 170"/>
          <p:cNvSpPr/>
          <p:nvPr/>
        </p:nvSpPr>
        <p:spPr>
          <a:xfrm>
            <a:off x="928861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77" name="Shape 175"/>
          <p:cNvSpPr/>
          <p:nvPr/>
        </p:nvSpPr>
        <p:spPr>
          <a:xfrm>
            <a:off x="8558784" y="5318850"/>
            <a:ext cx="624412" cy="110266"/>
          </a:xfrm>
          <a:prstGeom prst="rect">
            <a:avLst/>
          </a:prstGeom>
          <a:solidFill>
            <a:srgbClr val="C2352F"/>
          </a:solidFill>
          <a:ln/>
        </p:spPr>
      </p:sp>
      <p:sp>
        <p:nvSpPr>
          <p:cNvPr id="178" name="Shape 176"/>
          <p:cNvSpPr/>
          <p:nvPr/>
        </p:nvSpPr>
        <p:spPr>
          <a:xfrm>
            <a:off x="928861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579399" cy="110266"/>
          </a:xfrm>
          <a:prstGeom prst="rect">
            <a:avLst/>
          </a:prstGeom>
          <a:solidFill>
            <a:srgbClr val="C2352F"/>
          </a:solidFill>
          <a:ln/>
        </p:spPr>
      </p:sp>
      <p:sp>
        <p:nvSpPr>
          <p:cNvPr id="184" name="Shape 182"/>
          <p:cNvSpPr/>
          <p:nvPr/>
        </p:nvSpPr>
        <p:spPr>
          <a:xfrm>
            <a:off x="928861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276, non-luxury 418.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3689433"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 name="Shape 17"/>
          <p:cNvSpPr/>
          <p:nvPr/>
        </p:nvSpPr>
        <p:spPr>
          <a:xfrm>
            <a:off x="3008376" y="2451937"/>
            <a:ext cx="1266793" cy="110266"/>
          </a:xfrm>
          <a:prstGeom prst="rect">
            <a:avLst/>
          </a:prstGeom>
          <a:solidFill>
            <a:srgbClr val="12A566"/>
          </a:solidFill>
          <a:ln/>
        </p:spPr>
      </p:sp>
      <p:sp>
        <p:nvSpPr>
          <p:cNvPr id="20" name="Shape 18"/>
          <p:cNvSpPr/>
          <p:nvPr/>
        </p:nvSpPr>
        <p:spPr>
          <a:xfrm>
            <a:off x="3689433"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4" name="Shape 22"/>
          <p:cNvSpPr/>
          <p:nvPr/>
        </p:nvSpPr>
        <p:spPr>
          <a:xfrm>
            <a:off x="3008376" y="2672468"/>
            <a:ext cx="1135515" cy="110266"/>
          </a:xfrm>
          <a:prstGeom prst="rect">
            <a:avLst/>
          </a:prstGeom>
          <a:solidFill>
            <a:srgbClr val="12A566"/>
          </a:solidFill>
          <a:ln/>
        </p:spPr>
      </p:sp>
      <p:sp>
        <p:nvSpPr>
          <p:cNvPr id="25" name="Shape 23"/>
          <p:cNvSpPr/>
          <p:nvPr/>
        </p:nvSpPr>
        <p:spPr>
          <a:xfrm>
            <a:off x="3689433"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9" name="Shape 27"/>
          <p:cNvSpPr/>
          <p:nvPr/>
        </p:nvSpPr>
        <p:spPr>
          <a:xfrm>
            <a:off x="3008376" y="2893000"/>
            <a:ext cx="1087688" cy="110266"/>
          </a:xfrm>
          <a:prstGeom prst="rect">
            <a:avLst/>
          </a:prstGeom>
          <a:solidFill>
            <a:srgbClr val="12A566"/>
          </a:solidFill>
          <a:ln/>
        </p:spPr>
      </p:sp>
      <p:sp>
        <p:nvSpPr>
          <p:cNvPr id="30" name="Shape 28"/>
          <p:cNvSpPr/>
          <p:nvPr/>
        </p:nvSpPr>
        <p:spPr>
          <a:xfrm>
            <a:off x="3689433"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4" name="Shape 32"/>
          <p:cNvSpPr/>
          <p:nvPr/>
        </p:nvSpPr>
        <p:spPr>
          <a:xfrm>
            <a:off x="3008376" y="3113532"/>
            <a:ext cx="977626" cy="110266"/>
          </a:xfrm>
          <a:prstGeom prst="rect">
            <a:avLst/>
          </a:prstGeom>
          <a:solidFill>
            <a:srgbClr val="12A566"/>
          </a:solidFill>
          <a:ln/>
        </p:spPr>
      </p:sp>
      <p:sp>
        <p:nvSpPr>
          <p:cNvPr id="35" name="Shape 33"/>
          <p:cNvSpPr/>
          <p:nvPr/>
        </p:nvSpPr>
        <p:spPr>
          <a:xfrm>
            <a:off x="3689433"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9" name="Shape 37"/>
          <p:cNvSpPr/>
          <p:nvPr/>
        </p:nvSpPr>
        <p:spPr>
          <a:xfrm>
            <a:off x="3008376" y="3334064"/>
            <a:ext cx="926687" cy="110266"/>
          </a:xfrm>
          <a:prstGeom prst="rect">
            <a:avLst/>
          </a:prstGeom>
          <a:solidFill>
            <a:srgbClr val="12A566"/>
          </a:solidFill>
          <a:ln/>
        </p:spPr>
      </p:sp>
      <p:sp>
        <p:nvSpPr>
          <p:cNvPr id="40" name="Shape 38"/>
          <p:cNvSpPr/>
          <p:nvPr/>
        </p:nvSpPr>
        <p:spPr>
          <a:xfrm>
            <a:off x="3689433"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42" name="Shape 40"/>
          <p:cNvSpPr/>
          <p:nvPr/>
        </p:nvSpPr>
        <p:spPr>
          <a:xfrm>
            <a:off x="603504" y="3499463"/>
            <a:ext cx="5358384" cy="220532"/>
          </a:xfrm>
          <a:prstGeom prst="rect">
            <a:avLst/>
          </a:prstGeom>
          <a:solidFill>
            <a:srgbClr val="EDF4FA"/>
          </a:solidFill>
          <a:ln/>
        </p:spPr>
      </p:sp>
      <p:sp>
        <p:nvSpPr>
          <p:cNvPr id="43" name="Text 41"/>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4" name="Text 42"/>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008376" y="3554596"/>
            <a:ext cx="812777" cy="110266"/>
          </a:xfrm>
          <a:prstGeom prst="rect">
            <a:avLst/>
          </a:prstGeom>
          <a:solidFill>
            <a:srgbClr val="12A566"/>
          </a:solidFill>
          <a:ln/>
        </p:spPr>
      </p:sp>
      <p:sp>
        <p:nvSpPr>
          <p:cNvPr id="46" name="Shape 44"/>
          <p:cNvSpPr/>
          <p:nvPr/>
        </p:nvSpPr>
        <p:spPr>
          <a:xfrm>
            <a:off x="3453660" y="3521516"/>
            <a:ext cx="21946" cy="176425"/>
          </a:xfrm>
          <a:prstGeom prst="rect">
            <a:avLst/>
          </a:prstGeom>
          <a:solidFill>
            <a:srgbClr val="0B2C4A"/>
          </a:solidFill>
          <a:ln/>
        </p:spPr>
      </p:sp>
      <p:sp>
        <p:nvSpPr>
          <p:cNvPr id="47" name="Text 45"/>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0" name="Shape 48"/>
          <p:cNvSpPr/>
          <p:nvPr/>
        </p:nvSpPr>
        <p:spPr>
          <a:xfrm>
            <a:off x="3008376" y="3775127"/>
            <a:ext cx="707282" cy="110266"/>
          </a:xfrm>
          <a:prstGeom prst="rect">
            <a:avLst/>
          </a:prstGeom>
          <a:solidFill>
            <a:srgbClr val="12A566"/>
          </a:solidFill>
          <a:ln/>
        </p:spPr>
      </p:sp>
      <p:sp>
        <p:nvSpPr>
          <p:cNvPr id="51" name="Shape 49"/>
          <p:cNvSpPr/>
          <p:nvPr/>
        </p:nvSpPr>
        <p:spPr>
          <a:xfrm>
            <a:off x="368943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3" name="Text 51"/>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4" name="Text 52"/>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5" name="Shape 53"/>
          <p:cNvSpPr/>
          <p:nvPr/>
        </p:nvSpPr>
        <p:spPr>
          <a:xfrm>
            <a:off x="3008376" y="3995659"/>
            <a:ext cx="660630" cy="110266"/>
          </a:xfrm>
          <a:prstGeom prst="rect">
            <a:avLst/>
          </a:prstGeom>
          <a:solidFill>
            <a:srgbClr val="C2352F"/>
          </a:solidFill>
          <a:ln/>
        </p:spPr>
      </p:sp>
      <p:sp>
        <p:nvSpPr>
          <p:cNvPr id="56" name="Shape 54"/>
          <p:cNvSpPr/>
          <p:nvPr/>
        </p:nvSpPr>
        <p:spPr>
          <a:xfrm>
            <a:off x="3689433" y="3962579"/>
            <a:ext cx="21946" cy="176425"/>
          </a:xfrm>
          <a:prstGeom prst="rect">
            <a:avLst/>
          </a:prstGeom>
          <a:solidFill>
            <a:srgbClr val="0B2C4A"/>
          </a:solidFill>
          <a:ln/>
        </p:spPr>
      </p:sp>
      <p:sp>
        <p:nvSpPr>
          <p:cNvPr id="57" name="Text 55"/>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58" name="Text 56"/>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0" name="Shape 58"/>
          <p:cNvSpPr/>
          <p:nvPr/>
        </p:nvSpPr>
        <p:spPr>
          <a:xfrm>
            <a:off x="3008376" y="4216191"/>
            <a:ext cx="649017" cy="110266"/>
          </a:xfrm>
          <a:prstGeom prst="rect">
            <a:avLst/>
          </a:prstGeom>
          <a:solidFill>
            <a:srgbClr val="C2352F"/>
          </a:solidFill>
          <a:ln/>
        </p:spPr>
      </p:sp>
      <p:sp>
        <p:nvSpPr>
          <p:cNvPr id="61" name="Shape 59"/>
          <p:cNvSpPr/>
          <p:nvPr/>
        </p:nvSpPr>
        <p:spPr>
          <a:xfrm>
            <a:off x="3689433" y="4183111"/>
            <a:ext cx="21946" cy="176425"/>
          </a:xfrm>
          <a:prstGeom prst="rect">
            <a:avLst/>
          </a:prstGeom>
          <a:solidFill>
            <a:srgbClr val="0B2C4A"/>
          </a:solidFill>
          <a:ln/>
        </p:spPr>
      </p:sp>
      <p:sp>
        <p:nvSpPr>
          <p:cNvPr id="62" name="Text 60"/>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63" name="Text 61"/>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4" name="Text 62"/>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4436723"/>
            <a:ext cx="623218" cy="110266"/>
          </a:xfrm>
          <a:prstGeom prst="rect">
            <a:avLst/>
          </a:prstGeom>
          <a:solidFill>
            <a:srgbClr val="C2352F"/>
          </a:solidFill>
          <a:ln/>
        </p:spPr>
      </p:sp>
      <p:sp>
        <p:nvSpPr>
          <p:cNvPr id="66" name="Shape 64"/>
          <p:cNvSpPr/>
          <p:nvPr/>
        </p:nvSpPr>
        <p:spPr>
          <a:xfrm>
            <a:off x="3689433" y="4403643"/>
            <a:ext cx="21946" cy="176425"/>
          </a:xfrm>
          <a:prstGeom prst="rect">
            <a:avLst/>
          </a:prstGeom>
          <a:solidFill>
            <a:srgbClr val="0B2C4A"/>
          </a:solidFill>
          <a:ln/>
        </p:spPr>
      </p:sp>
      <p:sp>
        <p:nvSpPr>
          <p:cNvPr id="67" name="Text 65"/>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68" name="Text 66"/>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9" name="Text 67"/>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0" name="Shape 68"/>
          <p:cNvSpPr/>
          <p:nvPr/>
        </p:nvSpPr>
        <p:spPr>
          <a:xfrm>
            <a:off x="3008376" y="4657254"/>
            <a:ext cx="611568" cy="110266"/>
          </a:xfrm>
          <a:prstGeom prst="rect">
            <a:avLst/>
          </a:prstGeom>
          <a:solidFill>
            <a:srgbClr val="C2352F"/>
          </a:solidFill>
          <a:ln/>
        </p:spPr>
      </p:sp>
      <p:sp>
        <p:nvSpPr>
          <p:cNvPr id="71" name="Shape 69"/>
          <p:cNvSpPr/>
          <p:nvPr/>
        </p:nvSpPr>
        <p:spPr>
          <a:xfrm>
            <a:off x="3689433" y="4624175"/>
            <a:ext cx="21946" cy="176425"/>
          </a:xfrm>
          <a:prstGeom prst="rect">
            <a:avLst/>
          </a:prstGeom>
          <a:solidFill>
            <a:srgbClr val="0B2C4A"/>
          </a:solidFill>
          <a:ln/>
        </p:spPr>
      </p:sp>
      <p:sp>
        <p:nvSpPr>
          <p:cNvPr id="72" name="Text 70"/>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73" name="Shape 71"/>
          <p:cNvSpPr/>
          <p:nvPr/>
        </p:nvSpPr>
        <p:spPr>
          <a:xfrm>
            <a:off x="603504" y="4822653"/>
            <a:ext cx="5358384" cy="220532"/>
          </a:xfrm>
          <a:prstGeom prst="rect">
            <a:avLst/>
          </a:prstGeom>
          <a:solidFill>
            <a:srgbClr val="EDF4FA"/>
          </a:solidFill>
          <a:ln/>
        </p:spPr>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76" name="Shape 74"/>
          <p:cNvSpPr/>
          <p:nvPr/>
        </p:nvSpPr>
        <p:spPr>
          <a:xfrm>
            <a:off x="3008376" y="4877786"/>
            <a:ext cx="606908" cy="110266"/>
          </a:xfrm>
          <a:prstGeom prst="rect">
            <a:avLst/>
          </a:prstGeom>
          <a:solidFill>
            <a:srgbClr val="12A566"/>
          </a:solidFill>
          <a:ln/>
        </p:spPr>
      </p:sp>
      <p:sp>
        <p:nvSpPr>
          <p:cNvPr id="77" name="Shape 75"/>
          <p:cNvSpPr/>
          <p:nvPr/>
        </p:nvSpPr>
        <p:spPr>
          <a:xfrm>
            <a:off x="3453660"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589371" cy="110266"/>
          </a:xfrm>
          <a:prstGeom prst="rect">
            <a:avLst/>
          </a:prstGeom>
          <a:solidFill>
            <a:srgbClr val="C2352F"/>
          </a:solidFill>
          <a:ln/>
        </p:spPr>
      </p:sp>
      <p:sp>
        <p:nvSpPr>
          <p:cNvPr id="82" name="Shape 80"/>
          <p:cNvSpPr/>
          <p:nvPr/>
        </p:nvSpPr>
        <p:spPr>
          <a:xfrm>
            <a:off x="3689433"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6" name="Shape 84"/>
          <p:cNvSpPr/>
          <p:nvPr/>
        </p:nvSpPr>
        <p:spPr>
          <a:xfrm>
            <a:off x="3008376" y="5318850"/>
            <a:ext cx="581573" cy="110266"/>
          </a:xfrm>
          <a:prstGeom prst="rect">
            <a:avLst/>
          </a:prstGeom>
          <a:solidFill>
            <a:srgbClr val="C2352F"/>
          </a:solidFill>
          <a:ln/>
        </p:spPr>
      </p:sp>
      <p:sp>
        <p:nvSpPr>
          <p:cNvPr id="87" name="Shape 85"/>
          <p:cNvSpPr/>
          <p:nvPr/>
        </p:nvSpPr>
        <p:spPr>
          <a:xfrm>
            <a:off x="3689433"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89" name="Shape 87"/>
          <p:cNvSpPr/>
          <p:nvPr/>
        </p:nvSpPr>
        <p:spPr>
          <a:xfrm>
            <a:off x="603504" y="5484248"/>
            <a:ext cx="5358384" cy="220532"/>
          </a:xfrm>
          <a:prstGeom prst="rect">
            <a:avLst/>
          </a:prstGeom>
          <a:solidFill>
            <a:srgbClr val="EDF4FA"/>
          </a:solidFill>
          <a:ln/>
        </p:spPr>
      </p:sp>
      <p:sp>
        <p:nvSpPr>
          <p:cNvPr id="90" name="Text 88"/>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92" name="Shape 90"/>
          <p:cNvSpPr/>
          <p:nvPr/>
        </p:nvSpPr>
        <p:spPr>
          <a:xfrm>
            <a:off x="3008376" y="5539381"/>
            <a:ext cx="551018" cy="110266"/>
          </a:xfrm>
          <a:prstGeom prst="rect">
            <a:avLst/>
          </a:prstGeom>
          <a:solidFill>
            <a:srgbClr val="12A566"/>
          </a:solidFill>
          <a:ln/>
        </p:spPr>
      </p:sp>
      <p:sp>
        <p:nvSpPr>
          <p:cNvPr id="93" name="Shape 91"/>
          <p:cNvSpPr/>
          <p:nvPr/>
        </p:nvSpPr>
        <p:spPr>
          <a:xfrm>
            <a:off x="3453660" y="5506302"/>
            <a:ext cx="21946" cy="176425"/>
          </a:xfrm>
          <a:prstGeom prst="rect">
            <a:avLst/>
          </a:prstGeom>
          <a:solidFill>
            <a:srgbClr val="0B2C4A"/>
          </a:solidFill>
          <a:ln/>
        </p:spPr>
      </p:sp>
      <p:sp>
        <p:nvSpPr>
          <p:cNvPr id="94" name="Text 92"/>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95" name="Text 93"/>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759913"/>
            <a:ext cx="541238" cy="110266"/>
          </a:xfrm>
          <a:prstGeom prst="rect">
            <a:avLst/>
          </a:prstGeom>
          <a:solidFill>
            <a:srgbClr val="C2352F"/>
          </a:solidFill>
          <a:ln/>
        </p:spPr>
      </p:sp>
      <p:sp>
        <p:nvSpPr>
          <p:cNvPr id="98" name="Shape 96"/>
          <p:cNvSpPr/>
          <p:nvPr/>
        </p:nvSpPr>
        <p:spPr>
          <a:xfrm>
            <a:off x="3689433" y="5726833"/>
            <a:ext cx="21946" cy="176425"/>
          </a:xfrm>
          <a:prstGeom prst="rect">
            <a:avLst/>
          </a:prstGeom>
          <a:solidFill>
            <a:srgbClr val="0B2C4A"/>
          </a:solidFill>
          <a:ln/>
        </p:spPr>
      </p:sp>
      <p:sp>
        <p:nvSpPr>
          <p:cNvPr id="99" name="Text 97"/>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2" name="Shape 100"/>
          <p:cNvSpPr/>
          <p:nvPr/>
        </p:nvSpPr>
        <p:spPr>
          <a:xfrm>
            <a:off x="8558784" y="2231405"/>
            <a:ext cx="510457" cy="110266"/>
          </a:xfrm>
          <a:prstGeom prst="rect">
            <a:avLst/>
          </a:prstGeom>
          <a:solidFill>
            <a:srgbClr val="C2352F"/>
          </a:solidFill>
          <a:ln/>
        </p:spPr>
      </p:sp>
      <p:sp>
        <p:nvSpPr>
          <p:cNvPr id="103" name="Shape 101"/>
          <p:cNvSpPr/>
          <p:nvPr/>
        </p:nvSpPr>
        <p:spPr>
          <a:xfrm>
            <a:off x="923984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7" name="Shape 105"/>
          <p:cNvSpPr/>
          <p:nvPr/>
        </p:nvSpPr>
        <p:spPr>
          <a:xfrm>
            <a:off x="8558784" y="2451937"/>
            <a:ext cx="495680" cy="110266"/>
          </a:xfrm>
          <a:prstGeom prst="rect">
            <a:avLst/>
          </a:prstGeom>
          <a:solidFill>
            <a:srgbClr val="C2352F"/>
          </a:solidFill>
          <a:ln/>
        </p:spPr>
      </p:sp>
      <p:sp>
        <p:nvSpPr>
          <p:cNvPr id="108" name="Shape 106"/>
          <p:cNvSpPr/>
          <p:nvPr/>
        </p:nvSpPr>
        <p:spPr>
          <a:xfrm>
            <a:off x="9239841"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0" name="Shape 108"/>
          <p:cNvSpPr/>
          <p:nvPr/>
        </p:nvSpPr>
        <p:spPr>
          <a:xfrm>
            <a:off x="6153912" y="2617336"/>
            <a:ext cx="5358384" cy="220532"/>
          </a:xfrm>
          <a:prstGeom prst="rect">
            <a:avLst/>
          </a:prstGeom>
          <a:solidFill>
            <a:srgbClr val="EDF4FA"/>
          </a:solidFill>
          <a:ln/>
        </p:spPr>
      </p:sp>
      <p:sp>
        <p:nvSpPr>
          <p:cNvPr id="111" name="Text 109"/>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2" name="Text 110"/>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58784" y="2672468"/>
            <a:ext cx="482497" cy="110266"/>
          </a:xfrm>
          <a:prstGeom prst="rect">
            <a:avLst/>
          </a:prstGeom>
          <a:solidFill>
            <a:srgbClr val="12A566"/>
          </a:solidFill>
          <a:ln/>
        </p:spPr>
      </p:sp>
      <p:sp>
        <p:nvSpPr>
          <p:cNvPr id="114" name="Shape 112"/>
          <p:cNvSpPr/>
          <p:nvPr/>
        </p:nvSpPr>
        <p:spPr>
          <a:xfrm>
            <a:off x="9004068" y="2639389"/>
            <a:ext cx="21946" cy="176425"/>
          </a:xfrm>
          <a:prstGeom prst="rect">
            <a:avLst/>
          </a:prstGeom>
          <a:solidFill>
            <a:srgbClr val="0B2C4A"/>
          </a:solidFill>
          <a:ln/>
        </p:spPr>
      </p:sp>
      <p:sp>
        <p:nvSpPr>
          <p:cNvPr id="115" name="Text 113"/>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116" name="Shape 114"/>
          <p:cNvSpPr/>
          <p:nvPr/>
        </p:nvSpPr>
        <p:spPr>
          <a:xfrm>
            <a:off x="6153912" y="2837867"/>
            <a:ext cx="5358384" cy="220532"/>
          </a:xfrm>
          <a:prstGeom prst="rect">
            <a:avLst/>
          </a:prstGeom>
          <a:solidFill>
            <a:srgbClr val="EDF4FA"/>
          </a:solidFill>
          <a:ln/>
        </p:spPr>
      </p:sp>
      <p:sp>
        <p:nvSpPr>
          <p:cNvPr id="117" name="Text 115"/>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8" name="Text 116"/>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19" name="Shape 117"/>
          <p:cNvSpPr/>
          <p:nvPr/>
        </p:nvSpPr>
        <p:spPr>
          <a:xfrm>
            <a:off x="8558784" y="2893000"/>
            <a:ext cx="476059" cy="110266"/>
          </a:xfrm>
          <a:prstGeom prst="rect">
            <a:avLst/>
          </a:prstGeom>
          <a:solidFill>
            <a:srgbClr val="12A566"/>
          </a:solidFill>
          <a:ln/>
        </p:spPr>
      </p:sp>
      <p:sp>
        <p:nvSpPr>
          <p:cNvPr id="120" name="Shape 118"/>
          <p:cNvSpPr/>
          <p:nvPr/>
        </p:nvSpPr>
        <p:spPr>
          <a:xfrm>
            <a:off x="9004068" y="2859920"/>
            <a:ext cx="21946" cy="176425"/>
          </a:xfrm>
          <a:prstGeom prst="rect">
            <a:avLst/>
          </a:prstGeom>
          <a:solidFill>
            <a:srgbClr val="0B2C4A"/>
          </a:solidFill>
          <a:ln/>
        </p:spPr>
      </p:sp>
      <p:sp>
        <p:nvSpPr>
          <p:cNvPr id="121" name="Text 119"/>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122" name="Text 120"/>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4" name="Shape 122"/>
          <p:cNvSpPr/>
          <p:nvPr/>
        </p:nvSpPr>
        <p:spPr>
          <a:xfrm>
            <a:off x="8558784" y="3113532"/>
            <a:ext cx="451778" cy="110266"/>
          </a:xfrm>
          <a:prstGeom prst="rect">
            <a:avLst/>
          </a:prstGeom>
          <a:solidFill>
            <a:srgbClr val="C2352F"/>
          </a:solidFill>
          <a:ln/>
        </p:spPr>
      </p:sp>
      <p:sp>
        <p:nvSpPr>
          <p:cNvPr id="125" name="Shape 123"/>
          <p:cNvSpPr/>
          <p:nvPr/>
        </p:nvSpPr>
        <p:spPr>
          <a:xfrm>
            <a:off x="9239841" y="3080452"/>
            <a:ext cx="21946" cy="176425"/>
          </a:xfrm>
          <a:prstGeom prst="rect">
            <a:avLst/>
          </a:prstGeom>
          <a:solidFill>
            <a:srgbClr val="0B2C4A"/>
          </a:solidFill>
          <a:ln/>
        </p:spPr>
      </p:sp>
      <p:sp>
        <p:nvSpPr>
          <p:cNvPr id="126" name="Text 124"/>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7" name="Text 125"/>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8" name="Text 126"/>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8558784" y="3334064"/>
            <a:ext cx="450306" cy="110266"/>
          </a:xfrm>
          <a:prstGeom prst="rect">
            <a:avLst/>
          </a:prstGeom>
          <a:solidFill>
            <a:srgbClr val="C2352F"/>
          </a:solidFill>
          <a:ln/>
        </p:spPr>
      </p:sp>
      <p:sp>
        <p:nvSpPr>
          <p:cNvPr id="130" name="Shape 128"/>
          <p:cNvSpPr/>
          <p:nvPr/>
        </p:nvSpPr>
        <p:spPr>
          <a:xfrm>
            <a:off x="9239841" y="3300984"/>
            <a:ext cx="21946" cy="176425"/>
          </a:xfrm>
          <a:prstGeom prst="rect">
            <a:avLst/>
          </a:prstGeom>
          <a:solidFill>
            <a:srgbClr val="0B2C4A"/>
          </a:solidFill>
          <a:ln/>
        </p:spPr>
      </p:sp>
      <p:sp>
        <p:nvSpPr>
          <p:cNvPr id="131" name="Text 129"/>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32" name="Shape 130"/>
          <p:cNvSpPr/>
          <p:nvPr/>
        </p:nvSpPr>
        <p:spPr>
          <a:xfrm>
            <a:off x="6153912" y="3499463"/>
            <a:ext cx="5358384" cy="220532"/>
          </a:xfrm>
          <a:prstGeom prst="rect">
            <a:avLst/>
          </a:prstGeom>
          <a:solidFill>
            <a:srgbClr val="EDF4FA"/>
          </a:solidFill>
          <a:ln/>
        </p:spPr>
      </p:sp>
      <p:sp>
        <p:nvSpPr>
          <p:cNvPr id="133" name="Text 131"/>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5" name="Shape 133"/>
          <p:cNvSpPr/>
          <p:nvPr/>
        </p:nvSpPr>
        <p:spPr>
          <a:xfrm>
            <a:off x="8558784" y="3554596"/>
            <a:ext cx="416908" cy="110266"/>
          </a:xfrm>
          <a:prstGeom prst="rect">
            <a:avLst/>
          </a:prstGeom>
          <a:solidFill>
            <a:srgbClr val="C2352F"/>
          </a:solidFill>
          <a:ln/>
        </p:spPr>
      </p:sp>
      <p:sp>
        <p:nvSpPr>
          <p:cNvPr id="136" name="Shape 134"/>
          <p:cNvSpPr/>
          <p:nvPr/>
        </p:nvSpPr>
        <p:spPr>
          <a:xfrm>
            <a:off x="9004068" y="3521516"/>
            <a:ext cx="21946" cy="176425"/>
          </a:xfrm>
          <a:prstGeom prst="rect">
            <a:avLst/>
          </a:prstGeom>
          <a:solidFill>
            <a:srgbClr val="0B2C4A"/>
          </a:solidFill>
          <a:ln/>
        </p:spPr>
      </p:sp>
      <p:sp>
        <p:nvSpPr>
          <p:cNvPr id="137" name="Text 135"/>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8" name="Text 136"/>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3775127"/>
            <a:ext cx="384775" cy="110266"/>
          </a:xfrm>
          <a:prstGeom prst="rect">
            <a:avLst/>
          </a:prstGeom>
          <a:solidFill>
            <a:srgbClr val="C2352F"/>
          </a:solidFill>
          <a:ln/>
        </p:spPr>
      </p:sp>
      <p:sp>
        <p:nvSpPr>
          <p:cNvPr id="141" name="Shape 139"/>
          <p:cNvSpPr/>
          <p:nvPr/>
        </p:nvSpPr>
        <p:spPr>
          <a:xfrm>
            <a:off x="9239841" y="3742048"/>
            <a:ext cx="21946" cy="176425"/>
          </a:xfrm>
          <a:prstGeom prst="rect">
            <a:avLst/>
          </a:prstGeom>
          <a:solidFill>
            <a:srgbClr val="0B2C4A"/>
          </a:solidFill>
          <a:ln/>
        </p:spPr>
      </p:sp>
      <p:sp>
        <p:nvSpPr>
          <p:cNvPr id="142" name="Text 140"/>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43" name="Text 141"/>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5" name="Shape 143"/>
          <p:cNvSpPr/>
          <p:nvPr/>
        </p:nvSpPr>
        <p:spPr>
          <a:xfrm>
            <a:off x="8558784" y="3995659"/>
            <a:ext cx="381326" cy="110266"/>
          </a:xfrm>
          <a:prstGeom prst="rect">
            <a:avLst/>
          </a:prstGeom>
          <a:solidFill>
            <a:srgbClr val="C2352F"/>
          </a:solidFill>
          <a:ln/>
        </p:spPr>
      </p:sp>
      <p:sp>
        <p:nvSpPr>
          <p:cNvPr id="146" name="Shape 144"/>
          <p:cNvSpPr/>
          <p:nvPr/>
        </p:nvSpPr>
        <p:spPr>
          <a:xfrm>
            <a:off x="9239841" y="3962579"/>
            <a:ext cx="21946" cy="176425"/>
          </a:xfrm>
          <a:prstGeom prst="rect">
            <a:avLst/>
          </a:prstGeom>
          <a:solidFill>
            <a:srgbClr val="0B2C4A"/>
          </a:solidFill>
          <a:ln/>
        </p:spPr>
      </p:sp>
      <p:sp>
        <p:nvSpPr>
          <p:cNvPr id="147" name="Text 145"/>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48" name="Text 146"/>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0" name="Shape 148"/>
          <p:cNvSpPr/>
          <p:nvPr/>
        </p:nvSpPr>
        <p:spPr>
          <a:xfrm>
            <a:off x="8558784" y="4216191"/>
            <a:ext cx="364218" cy="110266"/>
          </a:xfrm>
          <a:prstGeom prst="rect">
            <a:avLst/>
          </a:prstGeom>
          <a:solidFill>
            <a:srgbClr val="C2352F"/>
          </a:solidFill>
          <a:ln/>
        </p:spPr>
      </p:sp>
      <p:sp>
        <p:nvSpPr>
          <p:cNvPr id="151" name="Shape 149"/>
          <p:cNvSpPr/>
          <p:nvPr/>
        </p:nvSpPr>
        <p:spPr>
          <a:xfrm>
            <a:off x="9239841" y="4183111"/>
            <a:ext cx="21946" cy="176425"/>
          </a:xfrm>
          <a:prstGeom prst="rect">
            <a:avLst/>
          </a:prstGeom>
          <a:solidFill>
            <a:srgbClr val="0B2C4A"/>
          </a:solidFill>
          <a:ln/>
        </p:spPr>
      </p:sp>
      <p:sp>
        <p:nvSpPr>
          <p:cNvPr id="152" name="Text 150"/>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53" name="Text 151"/>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5" name="Shape 153"/>
          <p:cNvSpPr/>
          <p:nvPr/>
        </p:nvSpPr>
        <p:spPr>
          <a:xfrm>
            <a:off x="8558784" y="4436723"/>
            <a:ext cx="336516" cy="110266"/>
          </a:xfrm>
          <a:prstGeom prst="rect">
            <a:avLst/>
          </a:prstGeom>
          <a:solidFill>
            <a:srgbClr val="C2352F"/>
          </a:solidFill>
          <a:ln/>
        </p:spPr>
      </p:sp>
      <p:sp>
        <p:nvSpPr>
          <p:cNvPr id="156" name="Shape 154"/>
          <p:cNvSpPr/>
          <p:nvPr/>
        </p:nvSpPr>
        <p:spPr>
          <a:xfrm>
            <a:off x="9239841" y="4403643"/>
            <a:ext cx="21946" cy="176425"/>
          </a:xfrm>
          <a:prstGeom prst="rect">
            <a:avLst/>
          </a:prstGeom>
          <a:solidFill>
            <a:srgbClr val="0B2C4A"/>
          </a:solidFill>
          <a:ln/>
        </p:spPr>
      </p:sp>
      <p:sp>
        <p:nvSpPr>
          <p:cNvPr id="157" name="Text 155"/>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58" name="Shape 156"/>
          <p:cNvSpPr/>
          <p:nvPr/>
        </p:nvSpPr>
        <p:spPr>
          <a:xfrm>
            <a:off x="6153912" y="4602121"/>
            <a:ext cx="5358384" cy="220532"/>
          </a:xfrm>
          <a:prstGeom prst="rect">
            <a:avLst/>
          </a:prstGeom>
          <a:solidFill>
            <a:srgbClr val="EDF4FA"/>
          </a:solidFill>
          <a:ln/>
        </p:spPr>
      </p:sp>
      <p:sp>
        <p:nvSpPr>
          <p:cNvPr id="159" name="Text 157"/>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61" name="Shape 159"/>
          <p:cNvSpPr/>
          <p:nvPr/>
        </p:nvSpPr>
        <p:spPr>
          <a:xfrm>
            <a:off x="8558784" y="4657254"/>
            <a:ext cx="328532" cy="110266"/>
          </a:xfrm>
          <a:prstGeom prst="rect">
            <a:avLst/>
          </a:prstGeom>
          <a:solidFill>
            <a:srgbClr val="C2352F"/>
          </a:solidFill>
          <a:ln/>
        </p:spPr>
      </p:sp>
      <p:sp>
        <p:nvSpPr>
          <p:cNvPr id="162" name="Shape 160"/>
          <p:cNvSpPr/>
          <p:nvPr/>
        </p:nvSpPr>
        <p:spPr>
          <a:xfrm>
            <a:off x="9004068" y="4624175"/>
            <a:ext cx="21946" cy="176425"/>
          </a:xfrm>
          <a:prstGeom prst="rect">
            <a:avLst/>
          </a:prstGeom>
          <a:solidFill>
            <a:srgbClr val="0B2C4A"/>
          </a:solidFill>
          <a:ln/>
        </p:spPr>
      </p:sp>
      <p:sp>
        <p:nvSpPr>
          <p:cNvPr id="163" name="Text 161"/>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64" name="Text 162"/>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6" name="Shape 164"/>
          <p:cNvSpPr/>
          <p:nvPr/>
        </p:nvSpPr>
        <p:spPr>
          <a:xfrm>
            <a:off x="8558784" y="4877786"/>
            <a:ext cx="318652" cy="110266"/>
          </a:xfrm>
          <a:prstGeom prst="rect">
            <a:avLst/>
          </a:prstGeom>
          <a:solidFill>
            <a:srgbClr val="C2352F"/>
          </a:solidFill>
          <a:ln/>
        </p:spPr>
      </p:sp>
      <p:sp>
        <p:nvSpPr>
          <p:cNvPr id="167" name="Shape 165"/>
          <p:cNvSpPr/>
          <p:nvPr/>
        </p:nvSpPr>
        <p:spPr>
          <a:xfrm>
            <a:off x="9239841" y="4844706"/>
            <a:ext cx="21946" cy="176425"/>
          </a:xfrm>
          <a:prstGeom prst="rect">
            <a:avLst/>
          </a:prstGeom>
          <a:solidFill>
            <a:srgbClr val="0B2C4A"/>
          </a:solidFill>
          <a:ln/>
        </p:spPr>
      </p:sp>
      <p:sp>
        <p:nvSpPr>
          <p:cNvPr id="168" name="Text 166"/>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71" name="Shape 169"/>
          <p:cNvSpPr/>
          <p:nvPr/>
        </p:nvSpPr>
        <p:spPr>
          <a:xfrm>
            <a:off x="8558784" y="5098318"/>
            <a:ext cx="254217" cy="110266"/>
          </a:xfrm>
          <a:prstGeom prst="rect">
            <a:avLst/>
          </a:prstGeom>
          <a:solidFill>
            <a:srgbClr val="C2352F"/>
          </a:solidFill>
          <a:ln/>
        </p:spPr>
      </p:sp>
      <p:sp>
        <p:nvSpPr>
          <p:cNvPr id="172" name="Shape 170"/>
          <p:cNvSpPr/>
          <p:nvPr/>
        </p:nvSpPr>
        <p:spPr>
          <a:xfrm>
            <a:off x="923984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77" name="Shape 175"/>
          <p:cNvSpPr/>
          <p:nvPr/>
        </p:nvSpPr>
        <p:spPr>
          <a:xfrm>
            <a:off x="8558784" y="5318850"/>
            <a:ext cx="234718" cy="110266"/>
          </a:xfrm>
          <a:prstGeom prst="rect">
            <a:avLst/>
          </a:prstGeom>
          <a:solidFill>
            <a:srgbClr val="C2352F"/>
          </a:solidFill>
          <a:ln/>
        </p:spPr>
      </p:sp>
      <p:sp>
        <p:nvSpPr>
          <p:cNvPr id="178" name="Shape 176"/>
          <p:cNvSpPr/>
          <p:nvPr/>
        </p:nvSpPr>
        <p:spPr>
          <a:xfrm>
            <a:off x="9004068"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83" name="Shape 181"/>
          <p:cNvSpPr/>
          <p:nvPr/>
        </p:nvSpPr>
        <p:spPr>
          <a:xfrm>
            <a:off x="8558784" y="5539381"/>
            <a:ext cx="196365" cy="110266"/>
          </a:xfrm>
          <a:prstGeom prst="rect">
            <a:avLst/>
          </a:prstGeom>
          <a:solidFill>
            <a:srgbClr val="C2352F"/>
          </a:solidFill>
          <a:ln/>
        </p:spPr>
      </p:sp>
      <p:sp>
        <p:nvSpPr>
          <p:cNvPr id="184" name="Shape 182"/>
          <p:cNvSpPr/>
          <p:nvPr/>
        </p:nvSpPr>
        <p:spPr>
          <a:xfrm>
            <a:off x="900406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DF4FA"/>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YEAR TO DATE</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 YTD</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 of 583</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45% of technicians.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767328"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7" name="Text 5"/>
          <p:cNvSpPr txBox="1"/>
          <p:nvPr/>
        </p:nvSpPr>
        <p:spPr>
          <a:xfrm>
            <a:off x="455371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17736"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10" name="Text 8"/>
          <p:cNvSpPr txBox="1"/>
          <p:nvPr/>
        </p:nvSpPr>
        <p:spPr>
          <a:xfrm>
            <a:off x="1010412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1042416" cy="136676"/>
          </a:xfrm>
          <a:prstGeom prst="rect">
            <a:avLst/>
          </a:prstGeom>
          <a:solidFill>
            <a:srgbClr val="2587C5"/>
          </a:solidFill>
          <a:ln/>
        </p:spPr>
      </p:sp>
      <p:sp>
        <p:nvSpPr>
          <p:cNvPr id="14" name="Text 12"/>
          <p:cNvSpPr txBox="1"/>
          <p:nvPr/>
        </p:nvSpPr>
        <p:spPr>
          <a:xfrm>
            <a:off x="3767328"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$43.3K</a:t>
            </a:r>
            <a:endParaRPr lang="en-US" sz="1300" dirty="0"/>
          </a:p>
        </p:txBody>
      </p:sp>
      <p:sp>
        <p:nvSpPr>
          <p:cNvPr id="15" name="Text 13"/>
          <p:cNvSpPr txBox="1"/>
          <p:nvPr/>
        </p:nvSpPr>
        <p:spPr>
          <a:xfrm>
            <a:off x="455371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813746" cy="136676"/>
          </a:xfrm>
          <a:prstGeom prst="rect">
            <a:avLst/>
          </a:prstGeom>
          <a:solidFill>
            <a:srgbClr val="2587C5"/>
          </a:solidFill>
          <a:ln/>
        </p:spPr>
      </p:sp>
      <p:sp>
        <p:nvSpPr>
          <p:cNvPr id="19" name="Text 17"/>
          <p:cNvSpPr txBox="1"/>
          <p:nvPr/>
        </p:nvSpPr>
        <p:spPr>
          <a:xfrm>
            <a:off x="3767328"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$33.8K</a:t>
            </a:r>
            <a:endParaRPr lang="en-US" sz="1300" dirty="0"/>
          </a:p>
        </p:txBody>
      </p:sp>
      <p:sp>
        <p:nvSpPr>
          <p:cNvPr id="20" name="Text 18"/>
          <p:cNvSpPr txBox="1"/>
          <p:nvPr/>
        </p:nvSpPr>
        <p:spPr>
          <a:xfrm>
            <a:off x="455371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3" name="Shape 21"/>
          <p:cNvSpPr/>
          <p:nvPr/>
        </p:nvSpPr>
        <p:spPr>
          <a:xfrm>
            <a:off x="2670048" y="2253700"/>
            <a:ext cx="683623" cy="136676"/>
          </a:xfrm>
          <a:prstGeom prst="rect">
            <a:avLst/>
          </a:prstGeom>
          <a:solidFill>
            <a:srgbClr val="2587C5"/>
          </a:solidFill>
          <a:ln/>
        </p:spPr>
      </p:sp>
      <p:sp>
        <p:nvSpPr>
          <p:cNvPr id="24" name="Text 22"/>
          <p:cNvSpPr txBox="1"/>
          <p:nvPr/>
        </p:nvSpPr>
        <p:spPr>
          <a:xfrm>
            <a:off x="3767328"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$28.4K</a:t>
            </a:r>
            <a:endParaRPr lang="en-US" sz="1300" dirty="0"/>
          </a:p>
        </p:txBody>
      </p:sp>
      <p:sp>
        <p:nvSpPr>
          <p:cNvPr id="25" name="Text 23"/>
          <p:cNvSpPr txBox="1"/>
          <p:nvPr/>
        </p:nvSpPr>
        <p:spPr>
          <a:xfrm>
            <a:off x="455371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56778" cy="136676"/>
          </a:xfrm>
          <a:prstGeom prst="rect">
            <a:avLst/>
          </a:prstGeom>
          <a:solidFill>
            <a:srgbClr val="2587C5"/>
          </a:solidFill>
          <a:ln/>
        </p:spPr>
      </p:sp>
      <p:sp>
        <p:nvSpPr>
          <p:cNvPr id="29" name="Text 27"/>
          <p:cNvSpPr txBox="1"/>
          <p:nvPr/>
        </p:nvSpPr>
        <p:spPr>
          <a:xfrm>
            <a:off x="3767328"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$27.3K</a:t>
            </a:r>
            <a:endParaRPr lang="en-US" sz="1300" dirty="0"/>
          </a:p>
        </p:txBody>
      </p:sp>
      <p:sp>
        <p:nvSpPr>
          <p:cNvPr id="30" name="Text 28"/>
          <p:cNvSpPr txBox="1"/>
          <p:nvPr/>
        </p:nvSpPr>
        <p:spPr>
          <a:xfrm>
            <a:off x="455371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2670048" y="2750703"/>
            <a:ext cx="600457" cy="136676"/>
          </a:xfrm>
          <a:prstGeom prst="rect">
            <a:avLst/>
          </a:prstGeom>
          <a:solidFill>
            <a:srgbClr val="2587C5"/>
          </a:solidFill>
          <a:ln/>
        </p:spPr>
      </p:sp>
      <p:sp>
        <p:nvSpPr>
          <p:cNvPr id="34" name="Text 32"/>
          <p:cNvSpPr txBox="1"/>
          <p:nvPr/>
        </p:nvSpPr>
        <p:spPr>
          <a:xfrm>
            <a:off x="3767328"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$24.9K</a:t>
            </a:r>
            <a:endParaRPr lang="en-US" sz="1300" dirty="0"/>
          </a:p>
        </p:txBody>
      </p:sp>
      <p:sp>
        <p:nvSpPr>
          <p:cNvPr id="35" name="Text 33"/>
          <p:cNvSpPr txBox="1"/>
          <p:nvPr/>
        </p:nvSpPr>
        <p:spPr>
          <a:xfrm>
            <a:off x="455371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670048" y="2999205"/>
            <a:ext cx="548891" cy="136676"/>
          </a:xfrm>
          <a:prstGeom prst="rect">
            <a:avLst/>
          </a:prstGeom>
          <a:solidFill>
            <a:srgbClr val="2587C5"/>
          </a:solidFill>
          <a:ln/>
        </p:spPr>
      </p:sp>
      <p:sp>
        <p:nvSpPr>
          <p:cNvPr id="39" name="Text 37"/>
          <p:cNvSpPr txBox="1"/>
          <p:nvPr/>
        </p:nvSpPr>
        <p:spPr>
          <a:xfrm>
            <a:off x="3767328"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$22.8K</a:t>
            </a:r>
            <a:endParaRPr lang="en-US" sz="1300" dirty="0"/>
          </a:p>
        </p:txBody>
      </p:sp>
      <p:sp>
        <p:nvSpPr>
          <p:cNvPr id="40" name="Text 38"/>
          <p:cNvSpPr txBox="1"/>
          <p:nvPr/>
        </p:nvSpPr>
        <p:spPr>
          <a:xfrm>
            <a:off x="455371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3" name="Shape 41"/>
          <p:cNvSpPr/>
          <p:nvPr/>
        </p:nvSpPr>
        <p:spPr>
          <a:xfrm>
            <a:off x="2670048" y="3247707"/>
            <a:ext cx="393176" cy="136676"/>
          </a:xfrm>
          <a:prstGeom prst="rect">
            <a:avLst/>
          </a:prstGeom>
          <a:solidFill>
            <a:srgbClr val="2587C5"/>
          </a:solidFill>
          <a:ln/>
        </p:spPr>
      </p:sp>
      <p:sp>
        <p:nvSpPr>
          <p:cNvPr id="44" name="Text 42"/>
          <p:cNvSpPr txBox="1"/>
          <p:nvPr/>
        </p:nvSpPr>
        <p:spPr>
          <a:xfrm>
            <a:off x="3767328"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$16.3K</a:t>
            </a:r>
            <a:endParaRPr lang="en-US" sz="1300" dirty="0"/>
          </a:p>
        </p:txBody>
      </p:sp>
      <p:sp>
        <p:nvSpPr>
          <p:cNvPr id="45" name="Text 43"/>
          <p:cNvSpPr txBox="1"/>
          <p:nvPr/>
        </p:nvSpPr>
        <p:spPr>
          <a:xfrm>
            <a:off x="455371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2670048" y="3496208"/>
            <a:ext cx="391366" cy="136676"/>
          </a:xfrm>
          <a:prstGeom prst="rect">
            <a:avLst/>
          </a:prstGeom>
          <a:solidFill>
            <a:srgbClr val="2587C5"/>
          </a:solidFill>
          <a:ln/>
        </p:spPr>
      </p:sp>
      <p:sp>
        <p:nvSpPr>
          <p:cNvPr id="49" name="Text 47"/>
          <p:cNvSpPr txBox="1"/>
          <p:nvPr/>
        </p:nvSpPr>
        <p:spPr>
          <a:xfrm>
            <a:off x="3767328"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$16.2K</a:t>
            </a:r>
            <a:endParaRPr lang="en-US" sz="1300" dirty="0"/>
          </a:p>
        </p:txBody>
      </p:sp>
      <p:sp>
        <p:nvSpPr>
          <p:cNvPr id="50" name="Text 48"/>
          <p:cNvSpPr txBox="1"/>
          <p:nvPr/>
        </p:nvSpPr>
        <p:spPr>
          <a:xfrm>
            <a:off x="455371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3" name="Shape 51"/>
          <p:cNvSpPr/>
          <p:nvPr/>
        </p:nvSpPr>
        <p:spPr>
          <a:xfrm>
            <a:off x="2670048" y="3744710"/>
            <a:ext cx="367379" cy="136676"/>
          </a:xfrm>
          <a:prstGeom prst="rect">
            <a:avLst/>
          </a:prstGeom>
          <a:solidFill>
            <a:srgbClr val="2587C5"/>
          </a:solidFill>
          <a:ln/>
        </p:spPr>
      </p:sp>
      <p:sp>
        <p:nvSpPr>
          <p:cNvPr id="54" name="Text 52"/>
          <p:cNvSpPr txBox="1"/>
          <p:nvPr/>
        </p:nvSpPr>
        <p:spPr>
          <a:xfrm>
            <a:off x="3767328"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$15.2K</a:t>
            </a:r>
            <a:endParaRPr lang="en-US" sz="1300" dirty="0"/>
          </a:p>
        </p:txBody>
      </p:sp>
      <p:sp>
        <p:nvSpPr>
          <p:cNvPr id="55" name="Text 53"/>
          <p:cNvSpPr txBox="1"/>
          <p:nvPr/>
        </p:nvSpPr>
        <p:spPr>
          <a:xfrm>
            <a:off x="455371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5248" cy="136676"/>
          </a:xfrm>
          <a:prstGeom prst="rect">
            <a:avLst/>
          </a:prstGeom>
          <a:solidFill>
            <a:srgbClr val="2587C5"/>
          </a:solidFill>
          <a:ln/>
        </p:spPr>
      </p:sp>
      <p:sp>
        <p:nvSpPr>
          <p:cNvPr id="59" name="Text 57"/>
          <p:cNvSpPr txBox="1"/>
          <p:nvPr/>
        </p:nvSpPr>
        <p:spPr>
          <a:xfrm>
            <a:off x="3767328"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$14.7K</a:t>
            </a:r>
            <a:endParaRPr lang="en-US" sz="1300" dirty="0"/>
          </a:p>
        </p:txBody>
      </p:sp>
      <p:sp>
        <p:nvSpPr>
          <p:cNvPr id="60" name="Text 58"/>
          <p:cNvSpPr txBox="1"/>
          <p:nvPr/>
        </p:nvSpPr>
        <p:spPr>
          <a:xfrm>
            <a:off x="455371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3" name="Shape 61"/>
          <p:cNvSpPr/>
          <p:nvPr/>
        </p:nvSpPr>
        <p:spPr>
          <a:xfrm>
            <a:off x="2670048" y="4241713"/>
            <a:ext cx="338665" cy="136676"/>
          </a:xfrm>
          <a:prstGeom prst="rect">
            <a:avLst/>
          </a:prstGeom>
          <a:solidFill>
            <a:srgbClr val="2587C5"/>
          </a:solidFill>
          <a:ln/>
        </p:spPr>
      </p:sp>
      <p:sp>
        <p:nvSpPr>
          <p:cNvPr id="64" name="Text 62"/>
          <p:cNvSpPr txBox="1"/>
          <p:nvPr/>
        </p:nvSpPr>
        <p:spPr>
          <a:xfrm>
            <a:off x="3767328"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$14.1K</a:t>
            </a:r>
            <a:endParaRPr lang="en-US" sz="1300" dirty="0"/>
          </a:p>
        </p:txBody>
      </p:sp>
      <p:sp>
        <p:nvSpPr>
          <p:cNvPr id="65" name="Text 63"/>
          <p:cNvSpPr txBox="1"/>
          <p:nvPr/>
        </p:nvSpPr>
        <p:spPr>
          <a:xfrm>
            <a:off x="455371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4490215"/>
            <a:ext cx="305679" cy="136676"/>
          </a:xfrm>
          <a:prstGeom prst="rect">
            <a:avLst/>
          </a:prstGeom>
          <a:solidFill>
            <a:srgbClr val="2587C5"/>
          </a:solidFill>
          <a:ln/>
        </p:spPr>
      </p:sp>
      <p:sp>
        <p:nvSpPr>
          <p:cNvPr id="69" name="Text 67"/>
          <p:cNvSpPr txBox="1"/>
          <p:nvPr/>
        </p:nvSpPr>
        <p:spPr>
          <a:xfrm>
            <a:off x="3767328"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$12.7K</a:t>
            </a:r>
            <a:endParaRPr lang="en-US" sz="1300" dirty="0"/>
          </a:p>
        </p:txBody>
      </p:sp>
      <p:sp>
        <p:nvSpPr>
          <p:cNvPr id="70" name="Text 68"/>
          <p:cNvSpPr txBox="1"/>
          <p:nvPr/>
        </p:nvSpPr>
        <p:spPr>
          <a:xfrm>
            <a:off x="455371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303009" cy="136676"/>
          </a:xfrm>
          <a:prstGeom prst="rect">
            <a:avLst/>
          </a:prstGeom>
          <a:solidFill>
            <a:srgbClr val="2587C5"/>
          </a:solidFill>
          <a:ln/>
        </p:spPr>
      </p:sp>
      <p:sp>
        <p:nvSpPr>
          <p:cNvPr id="74" name="Text 72"/>
          <p:cNvSpPr txBox="1"/>
          <p:nvPr/>
        </p:nvSpPr>
        <p:spPr>
          <a:xfrm>
            <a:off x="3767328"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$12.6K</a:t>
            </a:r>
            <a:endParaRPr lang="en-US" sz="1300" dirty="0"/>
          </a:p>
        </p:txBody>
      </p:sp>
      <p:sp>
        <p:nvSpPr>
          <p:cNvPr id="75" name="Text 73"/>
          <p:cNvSpPr txBox="1"/>
          <p:nvPr/>
        </p:nvSpPr>
        <p:spPr>
          <a:xfrm>
            <a:off x="455371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8" name="Shape 76"/>
          <p:cNvSpPr/>
          <p:nvPr/>
        </p:nvSpPr>
        <p:spPr>
          <a:xfrm>
            <a:off x="2670048" y="4987218"/>
            <a:ext cx="297134" cy="136676"/>
          </a:xfrm>
          <a:prstGeom prst="rect">
            <a:avLst/>
          </a:prstGeom>
          <a:solidFill>
            <a:srgbClr val="2587C5"/>
          </a:solidFill>
          <a:ln/>
        </p:spPr>
      </p:sp>
      <p:sp>
        <p:nvSpPr>
          <p:cNvPr id="79" name="Text 77"/>
          <p:cNvSpPr txBox="1"/>
          <p:nvPr/>
        </p:nvSpPr>
        <p:spPr>
          <a:xfrm>
            <a:off x="3767328"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$12.3K</a:t>
            </a:r>
            <a:endParaRPr lang="en-US" sz="1300" dirty="0"/>
          </a:p>
        </p:txBody>
      </p:sp>
      <p:sp>
        <p:nvSpPr>
          <p:cNvPr id="80" name="Text 78"/>
          <p:cNvSpPr txBox="1"/>
          <p:nvPr/>
        </p:nvSpPr>
        <p:spPr>
          <a:xfrm>
            <a:off x="455371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235720"/>
            <a:ext cx="287796" cy="136676"/>
          </a:xfrm>
          <a:prstGeom prst="rect">
            <a:avLst/>
          </a:prstGeom>
          <a:solidFill>
            <a:srgbClr val="2587C5"/>
          </a:solidFill>
          <a:ln/>
        </p:spPr>
      </p:sp>
      <p:sp>
        <p:nvSpPr>
          <p:cNvPr id="84" name="Text 82"/>
          <p:cNvSpPr txBox="1"/>
          <p:nvPr/>
        </p:nvSpPr>
        <p:spPr>
          <a:xfrm>
            <a:off x="3767328"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$11.9K</a:t>
            </a:r>
            <a:endParaRPr lang="en-US" sz="1300" dirty="0"/>
          </a:p>
        </p:txBody>
      </p:sp>
      <p:sp>
        <p:nvSpPr>
          <p:cNvPr id="85" name="Text 83"/>
          <p:cNvSpPr txBox="1"/>
          <p:nvPr/>
        </p:nvSpPr>
        <p:spPr>
          <a:xfrm>
            <a:off x="455371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8" name="Shape 86"/>
          <p:cNvSpPr/>
          <p:nvPr/>
        </p:nvSpPr>
        <p:spPr>
          <a:xfrm>
            <a:off x="2670048" y="5484222"/>
            <a:ext cx="274938" cy="136676"/>
          </a:xfrm>
          <a:prstGeom prst="rect">
            <a:avLst/>
          </a:prstGeom>
          <a:solidFill>
            <a:srgbClr val="2587C5"/>
          </a:solidFill>
          <a:ln/>
        </p:spPr>
      </p:sp>
      <p:sp>
        <p:nvSpPr>
          <p:cNvPr id="89" name="Text 87"/>
          <p:cNvSpPr txBox="1"/>
          <p:nvPr/>
        </p:nvSpPr>
        <p:spPr>
          <a:xfrm>
            <a:off x="3767328"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$11.4K</a:t>
            </a:r>
            <a:endParaRPr lang="en-US" sz="1300" dirty="0"/>
          </a:p>
        </p:txBody>
      </p:sp>
      <p:sp>
        <p:nvSpPr>
          <p:cNvPr id="90" name="Text 88"/>
          <p:cNvSpPr txBox="1"/>
          <p:nvPr/>
        </p:nvSpPr>
        <p:spPr>
          <a:xfrm>
            <a:off x="455371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3" name="Shape 91"/>
          <p:cNvSpPr/>
          <p:nvPr/>
        </p:nvSpPr>
        <p:spPr>
          <a:xfrm>
            <a:off x="2670048" y="5732723"/>
            <a:ext cx="260210" cy="136676"/>
          </a:xfrm>
          <a:prstGeom prst="rect">
            <a:avLst/>
          </a:prstGeom>
          <a:solidFill>
            <a:srgbClr val="2587C5"/>
          </a:solidFill>
          <a:ln/>
        </p:spPr>
      </p:sp>
      <p:sp>
        <p:nvSpPr>
          <p:cNvPr id="94" name="Text 92"/>
          <p:cNvSpPr txBox="1"/>
          <p:nvPr/>
        </p:nvSpPr>
        <p:spPr>
          <a:xfrm>
            <a:off x="3767328" y="567681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$10.8K</a:t>
            </a:r>
            <a:endParaRPr lang="en-US" sz="1300" dirty="0"/>
          </a:p>
        </p:txBody>
      </p:sp>
      <p:sp>
        <p:nvSpPr>
          <p:cNvPr id="95" name="Text 93"/>
          <p:cNvSpPr txBox="1"/>
          <p:nvPr/>
        </p:nvSpPr>
        <p:spPr>
          <a:xfrm>
            <a:off x="455371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8" name="Shape 96"/>
          <p:cNvSpPr/>
          <p:nvPr/>
        </p:nvSpPr>
        <p:spPr>
          <a:xfrm>
            <a:off x="8220456" y="1756697"/>
            <a:ext cx="246097" cy="136676"/>
          </a:xfrm>
          <a:prstGeom prst="rect">
            <a:avLst/>
          </a:prstGeom>
          <a:solidFill>
            <a:srgbClr val="2587C5"/>
          </a:solidFill>
          <a:ln/>
        </p:spPr>
      </p:sp>
      <p:sp>
        <p:nvSpPr>
          <p:cNvPr id="99" name="Text 97"/>
          <p:cNvSpPr txBox="1"/>
          <p:nvPr/>
        </p:nvSpPr>
        <p:spPr>
          <a:xfrm>
            <a:off x="9317736"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$10.2K</a:t>
            </a:r>
            <a:endParaRPr lang="en-US" sz="1300" dirty="0"/>
          </a:p>
        </p:txBody>
      </p:sp>
      <p:sp>
        <p:nvSpPr>
          <p:cNvPr id="100" name="Text 98"/>
          <p:cNvSpPr txBox="1"/>
          <p:nvPr/>
        </p:nvSpPr>
        <p:spPr>
          <a:xfrm>
            <a:off x="1010412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8220456" y="2005199"/>
            <a:ext cx="220598" cy="136676"/>
          </a:xfrm>
          <a:prstGeom prst="rect">
            <a:avLst/>
          </a:prstGeom>
          <a:solidFill>
            <a:srgbClr val="2587C5"/>
          </a:solidFill>
          <a:ln/>
        </p:spPr>
      </p:sp>
      <p:sp>
        <p:nvSpPr>
          <p:cNvPr id="104" name="Text 102"/>
          <p:cNvSpPr txBox="1"/>
          <p:nvPr/>
        </p:nvSpPr>
        <p:spPr>
          <a:xfrm>
            <a:off x="9317736"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$9.2K</a:t>
            </a:r>
            <a:endParaRPr lang="en-US" sz="1300" dirty="0"/>
          </a:p>
        </p:txBody>
      </p:sp>
      <p:sp>
        <p:nvSpPr>
          <p:cNvPr id="105" name="Text 103"/>
          <p:cNvSpPr txBox="1"/>
          <p:nvPr/>
        </p:nvSpPr>
        <p:spPr>
          <a:xfrm>
            <a:off x="1010412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212176" cy="136676"/>
          </a:xfrm>
          <a:prstGeom prst="rect">
            <a:avLst/>
          </a:prstGeom>
          <a:solidFill>
            <a:srgbClr val="2587C5"/>
          </a:solidFill>
          <a:ln/>
        </p:spPr>
      </p:sp>
      <p:sp>
        <p:nvSpPr>
          <p:cNvPr id="109" name="Text 107"/>
          <p:cNvSpPr txBox="1"/>
          <p:nvPr/>
        </p:nvSpPr>
        <p:spPr>
          <a:xfrm>
            <a:off x="9317736"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$8.8K</a:t>
            </a:r>
            <a:endParaRPr lang="en-US" sz="1300" dirty="0"/>
          </a:p>
        </p:txBody>
      </p:sp>
      <p:sp>
        <p:nvSpPr>
          <p:cNvPr id="110" name="Text 108"/>
          <p:cNvSpPr txBox="1"/>
          <p:nvPr/>
        </p:nvSpPr>
        <p:spPr>
          <a:xfrm>
            <a:off x="1010412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203688" cy="136676"/>
          </a:xfrm>
          <a:prstGeom prst="rect">
            <a:avLst/>
          </a:prstGeom>
          <a:solidFill>
            <a:srgbClr val="2587C5"/>
          </a:solidFill>
          <a:ln/>
        </p:spPr>
      </p:sp>
      <p:sp>
        <p:nvSpPr>
          <p:cNvPr id="114" name="Text 112"/>
          <p:cNvSpPr txBox="1"/>
          <p:nvPr/>
        </p:nvSpPr>
        <p:spPr>
          <a:xfrm>
            <a:off x="9317736"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$8.5K</a:t>
            </a:r>
            <a:endParaRPr lang="en-US" sz="1300" dirty="0"/>
          </a:p>
        </p:txBody>
      </p:sp>
      <p:sp>
        <p:nvSpPr>
          <p:cNvPr id="115" name="Text 113"/>
          <p:cNvSpPr txBox="1"/>
          <p:nvPr/>
        </p:nvSpPr>
        <p:spPr>
          <a:xfrm>
            <a:off x="1010412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8" name="Shape 116"/>
          <p:cNvSpPr/>
          <p:nvPr/>
        </p:nvSpPr>
        <p:spPr>
          <a:xfrm>
            <a:off x="8220456" y="2750703"/>
            <a:ext cx="199671" cy="136676"/>
          </a:xfrm>
          <a:prstGeom prst="rect">
            <a:avLst/>
          </a:prstGeom>
          <a:solidFill>
            <a:srgbClr val="2587C5"/>
          </a:solidFill>
          <a:ln/>
        </p:spPr>
      </p:sp>
      <p:sp>
        <p:nvSpPr>
          <p:cNvPr id="119" name="Text 117"/>
          <p:cNvSpPr txBox="1"/>
          <p:nvPr/>
        </p:nvSpPr>
        <p:spPr>
          <a:xfrm>
            <a:off x="9317736"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$8.3K</a:t>
            </a:r>
            <a:endParaRPr lang="en-US" sz="1300" dirty="0"/>
          </a:p>
        </p:txBody>
      </p:sp>
      <p:sp>
        <p:nvSpPr>
          <p:cNvPr id="120" name="Text 118"/>
          <p:cNvSpPr txBox="1"/>
          <p:nvPr/>
        </p:nvSpPr>
        <p:spPr>
          <a:xfrm>
            <a:off x="1010412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3" name="Shape 121"/>
          <p:cNvSpPr/>
          <p:nvPr/>
        </p:nvSpPr>
        <p:spPr>
          <a:xfrm>
            <a:off x="8220456" y="2999205"/>
            <a:ext cx="194454" cy="136676"/>
          </a:xfrm>
          <a:prstGeom prst="rect">
            <a:avLst/>
          </a:prstGeom>
          <a:solidFill>
            <a:srgbClr val="2587C5"/>
          </a:solidFill>
          <a:ln/>
        </p:spPr>
      </p:sp>
      <p:sp>
        <p:nvSpPr>
          <p:cNvPr id="124" name="Text 122"/>
          <p:cNvSpPr txBox="1"/>
          <p:nvPr/>
        </p:nvSpPr>
        <p:spPr>
          <a:xfrm>
            <a:off x="9317736"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$8.1K</a:t>
            </a:r>
            <a:endParaRPr lang="en-US" sz="1300" dirty="0"/>
          </a:p>
        </p:txBody>
      </p:sp>
      <p:sp>
        <p:nvSpPr>
          <p:cNvPr id="125" name="Text 123"/>
          <p:cNvSpPr txBox="1"/>
          <p:nvPr/>
        </p:nvSpPr>
        <p:spPr>
          <a:xfrm>
            <a:off x="1010412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81881" cy="136676"/>
          </a:xfrm>
          <a:prstGeom prst="rect">
            <a:avLst/>
          </a:prstGeom>
          <a:solidFill>
            <a:srgbClr val="2587C5"/>
          </a:solidFill>
          <a:ln/>
        </p:spPr>
      </p:sp>
      <p:sp>
        <p:nvSpPr>
          <p:cNvPr id="129" name="Text 127"/>
          <p:cNvSpPr txBox="1"/>
          <p:nvPr/>
        </p:nvSpPr>
        <p:spPr>
          <a:xfrm>
            <a:off x="9317736"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$7.5K</a:t>
            </a:r>
            <a:endParaRPr lang="en-US" sz="1300" dirty="0"/>
          </a:p>
        </p:txBody>
      </p:sp>
      <p:sp>
        <p:nvSpPr>
          <p:cNvPr id="130" name="Text 128"/>
          <p:cNvSpPr txBox="1"/>
          <p:nvPr/>
        </p:nvSpPr>
        <p:spPr>
          <a:xfrm>
            <a:off x="1010412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8186" cy="136676"/>
          </a:xfrm>
          <a:prstGeom prst="rect">
            <a:avLst/>
          </a:prstGeom>
          <a:solidFill>
            <a:srgbClr val="2587C5"/>
          </a:solidFill>
          <a:ln/>
        </p:spPr>
      </p:sp>
      <p:sp>
        <p:nvSpPr>
          <p:cNvPr id="134" name="Text 132"/>
          <p:cNvSpPr txBox="1"/>
          <p:nvPr/>
        </p:nvSpPr>
        <p:spPr>
          <a:xfrm>
            <a:off x="9317736"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$7.4K</a:t>
            </a:r>
            <a:endParaRPr lang="en-US" sz="1300" dirty="0"/>
          </a:p>
        </p:txBody>
      </p:sp>
      <p:sp>
        <p:nvSpPr>
          <p:cNvPr id="135" name="Text 133"/>
          <p:cNvSpPr txBox="1"/>
          <p:nvPr/>
        </p:nvSpPr>
        <p:spPr>
          <a:xfrm>
            <a:off x="1010412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174696" cy="136676"/>
          </a:xfrm>
          <a:prstGeom prst="rect">
            <a:avLst/>
          </a:prstGeom>
          <a:solidFill>
            <a:srgbClr val="2587C5"/>
          </a:solidFill>
          <a:ln/>
        </p:spPr>
      </p:sp>
      <p:sp>
        <p:nvSpPr>
          <p:cNvPr id="139" name="Text 137"/>
          <p:cNvSpPr txBox="1"/>
          <p:nvPr/>
        </p:nvSpPr>
        <p:spPr>
          <a:xfrm>
            <a:off x="9317736"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0" name="Text 138"/>
          <p:cNvSpPr txBox="1"/>
          <p:nvPr/>
        </p:nvSpPr>
        <p:spPr>
          <a:xfrm>
            <a:off x="1010412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3" name="Shape 141"/>
          <p:cNvSpPr/>
          <p:nvPr/>
        </p:nvSpPr>
        <p:spPr>
          <a:xfrm>
            <a:off x="8220456" y="3993212"/>
            <a:ext cx="174121" cy="136676"/>
          </a:xfrm>
          <a:prstGeom prst="rect">
            <a:avLst/>
          </a:prstGeom>
          <a:solidFill>
            <a:srgbClr val="2587C5"/>
          </a:solidFill>
          <a:ln/>
        </p:spPr>
      </p:sp>
      <p:sp>
        <p:nvSpPr>
          <p:cNvPr id="144" name="Text 142"/>
          <p:cNvSpPr txBox="1"/>
          <p:nvPr/>
        </p:nvSpPr>
        <p:spPr>
          <a:xfrm>
            <a:off x="9317736"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5" name="Text 143"/>
          <p:cNvSpPr txBox="1"/>
          <p:nvPr/>
        </p:nvSpPr>
        <p:spPr>
          <a:xfrm>
            <a:off x="1010412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241713"/>
            <a:ext cx="172098" cy="136676"/>
          </a:xfrm>
          <a:prstGeom prst="rect">
            <a:avLst/>
          </a:prstGeom>
          <a:solidFill>
            <a:srgbClr val="2587C5"/>
          </a:solidFill>
          <a:ln/>
        </p:spPr>
      </p:sp>
      <p:sp>
        <p:nvSpPr>
          <p:cNvPr id="149" name="Text 147"/>
          <p:cNvSpPr txBox="1"/>
          <p:nvPr/>
        </p:nvSpPr>
        <p:spPr>
          <a:xfrm>
            <a:off x="9317736"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$7.1K</a:t>
            </a:r>
            <a:endParaRPr lang="en-US" sz="1300" dirty="0"/>
          </a:p>
        </p:txBody>
      </p:sp>
      <p:sp>
        <p:nvSpPr>
          <p:cNvPr id="150" name="Text 148"/>
          <p:cNvSpPr txBox="1"/>
          <p:nvPr/>
        </p:nvSpPr>
        <p:spPr>
          <a:xfrm>
            <a:off x="1010412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3" name="Shape 151"/>
          <p:cNvSpPr/>
          <p:nvPr/>
        </p:nvSpPr>
        <p:spPr>
          <a:xfrm>
            <a:off x="8220456" y="4490215"/>
            <a:ext cx="158631" cy="136676"/>
          </a:xfrm>
          <a:prstGeom prst="rect">
            <a:avLst/>
          </a:prstGeom>
          <a:solidFill>
            <a:srgbClr val="2587C5"/>
          </a:solidFill>
          <a:ln/>
        </p:spPr>
      </p:sp>
      <p:sp>
        <p:nvSpPr>
          <p:cNvPr id="154" name="Text 152"/>
          <p:cNvSpPr txBox="1"/>
          <p:nvPr/>
        </p:nvSpPr>
        <p:spPr>
          <a:xfrm>
            <a:off x="9317736"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1010412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8" name="Shape 156"/>
          <p:cNvSpPr/>
          <p:nvPr/>
        </p:nvSpPr>
        <p:spPr>
          <a:xfrm>
            <a:off x="8220456" y="4738717"/>
            <a:ext cx="156929" cy="136676"/>
          </a:xfrm>
          <a:prstGeom prst="rect">
            <a:avLst/>
          </a:prstGeom>
          <a:solidFill>
            <a:srgbClr val="2587C5"/>
          </a:solidFill>
          <a:ln/>
        </p:spPr>
      </p:sp>
      <p:sp>
        <p:nvSpPr>
          <p:cNvPr id="159" name="Text 157"/>
          <p:cNvSpPr txBox="1"/>
          <p:nvPr/>
        </p:nvSpPr>
        <p:spPr>
          <a:xfrm>
            <a:off x="9317736"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$6.5K</a:t>
            </a:r>
            <a:endParaRPr lang="en-US" sz="1300" dirty="0"/>
          </a:p>
        </p:txBody>
      </p:sp>
      <p:sp>
        <p:nvSpPr>
          <p:cNvPr id="160" name="Text 158"/>
          <p:cNvSpPr txBox="1"/>
          <p:nvPr/>
        </p:nvSpPr>
        <p:spPr>
          <a:xfrm>
            <a:off x="1010412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4987218"/>
            <a:ext cx="127568" cy="136676"/>
          </a:xfrm>
          <a:prstGeom prst="rect">
            <a:avLst/>
          </a:prstGeom>
          <a:solidFill>
            <a:srgbClr val="2587C5"/>
          </a:solidFill>
          <a:ln/>
        </p:spPr>
      </p:sp>
      <p:sp>
        <p:nvSpPr>
          <p:cNvPr id="164" name="Text 162"/>
          <p:cNvSpPr txBox="1"/>
          <p:nvPr/>
        </p:nvSpPr>
        <p:spPr>
          <a:xfrm>
            <a:off x="9317736"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$5.3K</a:t>
            </a:r>
            <a:endParaRPr lang="en-US" sz="1300" dirty="0"/>
          </a:p>
        </p:txBody>
      </p:sp>
      <p:sp>
        <p:nvSpPr>
          <p:cNvPr id="165" name="Text 163"/>
          <p:cNvSpPr txBox="1"/>
          <p:nvPr/>
        </p:nvSpPr>
        <p:spPr>
          <a:xfrm>
            <a:off x="1010412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8" name="Shape 166"/>
          <p:cNvSpPr/>
          <p:nvPr/>
        </p:nvSpPr>
        <p:spPr>
          <a:xfrm>
            <a:off x="8220456" y="5235720"/>
            <a:ext cx="104440" cy="136676"/>
          </a:xfrm>
          <a:prstGeom prst="rect">
            <a:avLst/>
          </a:prstGeom>
          <a:solidFill>
            <a:srgbClr val="2587C5"/>
          </a:solidFill>
          <a:ln/>
        </p:spPr>
      </p:sp>
      <p:sp>
        <p:nvSpPr>
          <p:cNvPr id="169" name="Text 167"/>
          <p:cNvSpPr txBox="1"/>
          <p:nvPr/>
        </p:nvSpPr>
        <p:spPr>
          <a:xfrm>
            <a:off x="9317736"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$4.3K</a:t>
            </a:r>
            <a:endParaRPr lang="en-US" sz="1300" dirty="0"/>
          </a:p>
        </p:txBody>
      </p:sp>
      <p:sp>
        <p:nvSpPr>
          <p:cNvPr id="170" name="Text 168"/>
          <p:cNvSpPr txBox="1"/>
          <p:nvPr/>
        </p:nvSpPr>
        <p:spPr>
          <a:xfrm>
            <a:off x="1010412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83338" cy="136676"/>
          </a:xfrm>
          <a:prstGeom prst="rect">
            <a:avLst/>
          </a:prstGeom>
          <a:solidFill>
            <a:srgbClr val="2587C5"/>
          </a:solidFill>
          <a:ln/>
        </p:spPr>
      </p:sp>
      <p:sp>
        <p:nvSpPr>
          <p:cNvPr id="174" name="Text 172"/>
          <p:cNvSpPr txBox="1"/>
          <p:nvPr/>
        </p:nvSpPr>
        <p:spPr>
          <a:xfrm>
            <a:off x="9317736"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$3.5K</a:t>
            </a:r>
            <a:endParaRPr lang="en-US" sz="1300" dirty="0"/>
          </a:p>
        </p:txBody>
      </p:sp>
      <p:sp>
        <p:nvSpPr>
          <p:cNvPr id="175" name="Text 173"/>
          <p:cNvSpPr txBox="1"/>
          <p:nvPr/>
        </p:nvSpPr>
        <p:spPr>
          <a:xfrm>
            <a:off x="1010412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77" name="Shape 175"/>
          <p:cNvSpPr/>
          <p:nvPr/>
        </p:nvSpPr>
        <p:spPr>
          <a:xfrm>
            <a:off x="457200" y="6126480"/>
            <a:ext cx="11274552" cy="341376"/>
          </a:xfrm>
          <a:prstGeom prst="rect">
            <a:avLst/>
          </a:prstGeom>
          <a:solidFill>
            <a:srgbClr val="EDF4FA"/>
          </a:solidFill>
          <a:ln/>
        </p:spPr>
      </p:sp>
      <p:sp>
        <p:nvSpPr>
          <p:cNvPr id="178" name="Text 17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+24.7%</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+21.0%</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−7.1%</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−9.0%</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(3 of 6). Most bottom-three: Audi Reno and VW St George (3 of 6).</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VW St George (3 of 6). Most bottom-three: Honda Henderson (4 of 6).</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6" name="Shape 14"/>
          <p:cNvSpPr/>
          <p:nvPr/>
        </p:nvSpPr>
        <p:spPr>
          <a:xfrm>
            <a:off x="4343400" y="2937053"/>
            <a:ext cx="96012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 parts $/RO</a:t>
            </a:r>
            <a:endParaRPr lang="en-US" sz="1300" dirty="0"/>
          </a:p>
        </p:txBody>
      </p:sp>
      <p:sp>
        <p:nvSpPr>
          <p:cNvPr id="21" name="Shape 19"/>
          <p:cNvSpPr/>
          <p:nvPr/>
        </p:nvSpPr>
        <p:spPr>
          <a:xfrm>
            <a:off x="4343400" y="3522269"/>
            <a:ext cx="96012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parts $/RO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7" name="Shape 45"/>
          <p:cNvSpPr/>
          <p:nvPr/>
        </p:nvSpPr>
        <p:spPr>
          <a:xfrm>
            <a:off x="10058400" y="2937053"/>
            <a:ext cx="72009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52" name="Shape 50"/>
          <p:cNvSpPr/>
          <p:nvPr/>
        </p:nvSpPr>
        <p:spPr>
          <a:xfrm>
            <a:off x="10058400" y="3522269"/>
            <a:ext cx="72009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48006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48006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$/RO</a:t>
            </a:r>
            <a:endParaRPr lang="en-US" sz="1300" dirty="0"/>
          </a:p>
        </p:txBody>
      </p:sp>
      <p:sp>
        <p:nvSpPr>
          <p:cNvPr id="65" name="Shape 63"/>
          <p:cNvSpPr/>
          <p:nvPr/>
        </p:nvSpPr>
        <p:spPr>
          <a:xfrm>
            <a:off x="10058400" y="5277917"/>
            <a:ext cx="48006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Three stores tie. Moving now: VW St George leads. Ten stores make both views.</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$224 → $298</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+32.9%</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44" name="Shape 42"/>
          <p:cNvSpPr/>
          <p:nvPr/>
        </p:nvSpPr>
        <p:spPr>
          <a:xfrm>
            <a:off x="621792" y="5065776"/>
            <a:ext cx="10945368" cy="548640"/>
          </a:xfrm>
          <a:prstGeom prst="rect">
            <a:avLst/>
          </a:prstGeom>
          <a:solidFill>
            <a:srgbClr val="F7F7F7"/>
          </a:solidFill>
          <a:ln/>
        </p:spPr>
      </p:sp>
      <p:sp>
        <p:nvSpPr>
          <p:cNvPr id="45" name="Text 43"/>
          <p:cNvSpPr txBox="1"/>
          <p:nvPr/>
        </p:nvSpPr>
        <p:spPr>
          <a:xfrm>
            <a:off x="749808" y="50657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6" name="Text 44"/>
          <p:cNvSpPr txBox="1"/>
          <p:nvPr/>
        </p:nvSpPr>
        <p:spPr>
          <a:xfrm>
            <a:off x="3520440" y="50657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7" name="Text 45"/>
          <p:cNvSpPr txBox="1"/>
          <p:nvPr/>
        </p:nvSpPr>
        <p:spPr>
          <a:xfrm>
            <a:off x="5669280" y="50657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8" name="Text 46"/>
          <p:cNvSpPr txBox="1"/>
          <p:nvPr/>
        </p:nvSpPr>
        <p:spPr>
          <a:xfrm>
            <a:off x="7726680" y="50657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9" name="Text 47"/>
          <p:cNvSpPr txBox="1"/>
          <p:nvPr/>
        </p:nvSpPr>
        <p:spPr>
          <a:xfrm>
            <a:off x="9326880" y="50657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50" name="Shape 48"/>
          <p:cNvSpPr/>
          <p:nvPr/>
        </p:nvSpPr>
        <p:spPr>
          <a:xfrm>
            <a:off x="457200" y="6126480"/>
            <a:ext cx="11274552" cy="364236"/>
          </a:xfrm>
          <a:prstGeom prst="rect">
            <a:avLst/>
          </a:prstGeom>
          <a:solidFill>
            <a:srgbClr val="EDF4FA"/>
          </a:solidFill>
          <a:ln/>
        </p:spPr>
      </p:sp>
      <p:sp>
        <p:nvSpPr>
          <p:cNvPr id="51" name="Text 49"/>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$7.05M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−$640,110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−9.1%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$6.08M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−$388,758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$6.60M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$6.77M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+$169,805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$7.14M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+$300,539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$6.67M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−$253,835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−3.8%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$7.07M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+$259,611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$6.97M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$7.66M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+$684,859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$7.21M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+$398,421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$6.54M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$7.18M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+$640,651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 + Q4</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$181.33M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$188.80M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+$7,468,567</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+4.1%</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 2025 shown through December</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1376"/>
          </a:xfrm>
          <a:prstGeom prst="rect">
            <a:avLst/>
          </a:prstGeom>
          <a:solidFill>
            <a:srgbClr val="E6F6EE"/>
          </a:solidFill>
          <a:ln/>
        </p:spPr>
      </p:sp>
      <p:sp>
        <p:nvSpPr>
          <p:cNvPr id="20" name="Text 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RECORD BOARD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264261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7" name="Text 5"/>
          <p:cNvSpPr txBox="1"/>
          <p:nvPr/>
        </p:nvSpPr>
        <p:spPr>
          <a:xfrm>
            <a:off x="3227832"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8" name="Text 6"/>
          <p:cNvSpPr txBox="1"/>
          <p:nvPr/>
        </p:nvSpPr>
        <p:spPr>
          <a:xfrm>
            <a:off x="3813048"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9" name="Text 7"/>
          <p:cNvSpPr txBox="1"/>
          <p:nvPr/>
        </p:nvSpPr>
        <p:spPr>
          <a:xfrm>
            <a:off x="4398264"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0" name="Text 8"/>
          <p:cNvSpPr txBox="1"/>
          <p:nvPr/>
        </p:nvSpPr>
        <p:spPr>
          <a:xfrm>
            <a:off x="52395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1" name="Text 9"/>
          <p:cNvSpPr txBox="1"/>
          <p:nvPr/>
        </p:nvSpPr>
        <p:spPr>
          <a:xfrm>
            <a:off x="8193024"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8778240"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3" name="Text 11"/>
          <p:cNvSpPr txBox="1"/>
          <p:nvPr/>
        </p:nvSpPr>
        <p:spPr>
          <a:xfrm>
            <a:off x="936345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4" name="Text 12"/>
          <p:cNvSpPr txBox="1"/>
          <p:nvPr/>
        </p:nvSpPr>
        <p:spPr>
          <a:xfrm>
            <a:off x="9948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5" name="Text 13"/>
          <p:cNvSpPr txBox="1"/>
          <p:nvPr/>
        </p:nvSpPr>
        <p:spPr>
          <a:xfrm>
            <a:off x="107899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6" name="Text 14"/>
          <p:cNvSpPr txBox="1"/>
          <p:nvPr/>
        </p:nvSpPr>
        <p:spPr>
          <a:xfrm>
            <a:off x="658368"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 name="Shape 15"/>
          <p:cNvSpPr/>
          <p:nvPr/>
        </p:nvSpPr>
        <p:spPr>
          <a:xfrm>
            <a:off x="2857500" y="1785542"/>
            <a:ext cx="155448" cy="155448"/>
          </a:xfrm>
          <a:prstGeom prst="ellipse">
            <a:avLst/>
          </a:prstGeom>
          <a:solidFill>
            <a:srgbClr val="12A566"/>
          </a:solidFill>
          <a:ln w="12700">
            <a:solidFill>
              <a:srgbClr val="12A566"/>
            </a:solidFill>
            <a:prstDash val="solid"/>
          </a:ln>
        </p:spPr>
      </p:sp>
      <p:sp>
        <p:nvSpPr>
          <p:cNvPr id="18" name="Shape 16"/>
          <p:cNvSpPr/>
          <p:nvPr/>
        </p:nvSpPr>
        <p:spPr>
          <a:xfrm>
            <a:off x="3442716" y="1785542"/>
            <a:ext cx="155448" cy="155448"/>
          </a:xfrm>
          <a:prstGeom prst="ellipse">
            <a:avLst/>
          </a:prstGeom>
          <a:solidFill>
            <a:srgbClr val="12A566"/>
          </a:solidFill>
          <a:ln w="12700">
            <a:solidFill>
              <a:srgbClr val="12A566"/>
            </a:solidFill>
            <a:prstDash val="solid"/>
          </a:ln>
        </p:spPr>
      </p:sp>
      <p:sp>
        <p:nvSpPr>
          <p:cNvPr id="19" name="Shape 17"/>
          <p:cNvSpPr/>
          <p:nvPr/>
        </p:nvSpPr>
        <p:spPr>
          <a:xfrm>
            <a:off x="4027932" y="1785542"/>
            <a:ext cx="155448" cy="155448"/>
          </a:xfrm>
          <a:prstGeom prst="ellipse">
            <a:avLst/>
          </a:prstGeom>
          <a:solidFill>
            <a:srgbClr val="12A566"/>
          </a:solidFill>
          <a:ln w="12700">
            <a:solidFill>
              <a:srgbClr val="12A566"/>
            </a:solidFill>
            <a:prstDash val="solid"/>
          </a:ln>
        </p:spPr>
      </p:sp>
      <p:sp>
        <p:nvSpPr>
          <p:cNvPr id="20" name="Text 18"/>
          <p:cNvSpPr txBox="1"/>
          <p:nvPr/>
        </p:nvSpPr>
        <p:spPr>
          <a:xfrm>
            <a:off x="4398264"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$1.54M</a:t>
            </a:r>
            <a:endParaRPr lang="en-US" sz="1300" dirty="0"/>
          </a:p>
        </p:txBody>
      </p:sp>
      <p:sp>
        <p:nvSpPr>
          <p:cNvPr id="21" name="Text 19"/>
          <p:cNvSpPr txBox="1"/>
          <p:nvPr/>
        </p:nvSpPr>
        <p:spPr>
          <a:xfrm>
            <a:off x="5239512"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+35.7%</a:t>
            </a:r>
            <a:endParaRPr lang="en-US" sz="1300" dirty="0"/>
          </a:p>
        </p:txBody>
      </p:sp>
      <p:sp>
        <p:nvSpPr>
          <p:cNvPr id="22" name="Shape 20"/>
          <p:cNvSpPr/>
          <p:nvPr/>
        </p:nvSpPr>
        <p:spPr>
          <a:xfrm>
            <a:off x="585216" y="2025748"/>
            <a:ext cx="5486400" cy="324964"/>
          </a:xfrm>
          <a:prstGeom prst="rect">
            <a:avLst/>
          </a:prstGeom>
          <a:solidFill>
            <a:srgbClr val="F7F7F7"/>
          </a:solidFill>
          <a:ln/>
        </p:spPr>
      </p:sp>
      <p:sp>
        <p:nvSpPr>
          <p:cNvPr id="23" name="Text 21"/>
          <p:cNvSpPr txBox="1"/>
          <p:nvPr/>
        </p:nvSpPr>
        <p:spPr>
          <a:xfrm>
            <a:off x="658368"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4" name="Shape 22"/>
          <p:cNvSpPr/>
          <p:nvPr/>
        </p:nvSpPr>
        <p:spPr>
          <a:xfrm>
            <a:off x="2857500" y="2110506"/>
            <a:ext cx="155448" cy="155448"/>
          </a:xfrm>
          <a:prstGeom prst="ellipse">
            <a:avLst/>
          </a:prstGeom>
          <a:solidFill>
            <a:srgbClr val="12A566"/>
          </a:solidFill>
          <a:ln w="12700">
            <a:solidFill>
              <a:srgbClr val="12A566"/>
            </a:solidFill>
            <a:prstDash val="solid"/>
          </a:ln>
        </p:spPr>
      </p:sp>
      <p:sp>
        <p:nvSpPr>
          <p:cNvPr id="25" name="Shape 23"/>
          <p:cNvSpPr/>
          <p:nvPr/>
        </p:nvSpPr>
        <p:spPr>
          <a:xfrm>
            <a:off x="3442716" y="2110506"/>
            <a:ext cx="155448" cy="155448"/>
          </a:xfrm>
          <a:prstGeom prst="ellipse">
            <a:avLst/>
          </a:prstGeom>
          <a:solidFill>
            <a:srgbClr val="12A566"/>
          </a:solidFill>
          <a:ln w="12700">
            <a:solidFill>
              <a:srgbClr val="12A566"/>
            </a:solidFill>
            <a:prstDash val="solid"/>
          </a:ln>
        </p:spPr>
      </p:sp>
      <p:sp>
        <p:nvSpPr>
          <p:cNvPr id="26" name="Shape 24"/>
          <p:cNvSpPr/>
          <p:nvPr/>
        </p:nvSpPr>
        <p:spPr>
          <a:xfrm>
            <a:off x="4027932" y="2110506"/>
            <a:ext cx="155448" cy="155448"/>
          </a:xfrm>
          <a:prstGeom prst="ellipse">
            <a:avLst/>
          </a:prstGeom>
          <a:solidFill>
            <a:srgbClr val="12A566"/>
          </a:solidFill>
          <a:ln w="12700">
            <a:solidFill>
              <a:srgbClr val="12A566"/>
            </a:solidFill>
            <a:prstDash val="solid"/>
          </a:ln>
        </p:spPr>
      </p:sp>
      <p:sp>
        <p:nvSpPr>
          <p:cNvPr id="27" name="Text 25"/>
          <p:cNvSpPr txBox="1"/>
          <p:nvPr/>
        </p:nvSpPr>
        <p:spPr>
          <a:xfrm>
            <a:off x="4398264"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$2.98M</a:t>
            </a:r>
            <a:endParaRPr lang="en-US" sz="1300" dirty="0"/>
          </a:p>
        </p:txBody>
      </p:sp>
      <p:sp>
        <p:nvSpPr>
          <p:cNvPr id="28" name="Text 26"/>
          <p:cNvSpPr txBox="1"/>
          <p:nvPr/>
        </p:nvSpPr>
        <p:spPr>
          <a:xfrm>
            <a:off x="5239512"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+31.6%</a:t>
            </a:r>
            <a:endParaRPr lang="en-US" sz="1300" dirty="0"/>
          </a:p>
        </p:txBody>
      </p:sp>
      <p:sp>
        <p:nvSpPr>
          <p:cNvPr id="29" name="Text 27"/>
          <p:cNvSpPr txBox="1"/>
          <p:nvPr/>
        </p:nvSpPr>
        <p:spPr>
          <a:xfrm>
            <a:off x="658368"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857500" y="2435469"/>
            <a:ext cx="155448" cy="155448"/>
          </a:xfrm>
          <a:prstGeom prst="ellipse">
            <a:avLst/>
          </a:prstGeom>
          <a:solidFill>
            <a:srgbClr val="12A566"/>
          </a:solidFill>
          <a:ln w="12700">
            <a:solidFill>
              <a:srgbClr val="12A566"/>
            </a:solidFill>
            <a:prstDash val="solid"/>
          </a:ln>
        </p:spPr>
      </p:sp>
      <p:sp>
        <p:nvSpPr>
          <p:cNvPr id="31" name="Shape 29"/>
          <p:cNvSpPr/>
          <p:nvPr/>
        </p:nvSpPr>
        <p:spPr>
          <a:xfrm>
            <a:off x="3442716" y="2435469"/>
            <a:ext cx="155448" cy="155448"/>
          </a:xfrm>
          <a:prstGeom prst="ellipse">
            <a:avLst/>
          </a:prstGeom>
          <a:solidFill>
            <a:srgbClr val="12A566"/>
          </a:solidFill>
          <a:ln w="12700">
            <a:solidFill>
              <a:srgbClr val="12A566"/>
            </a:solidFill>
            <a:prstDash val="solid"/>
          </a:ln>
        </p:spPr>
      </p:sp>
      <p:sp>
        <p:nvSpPr>
          <p:cNvPr id="32" name="Shape 30"/>
          <p:cNvSpPr/>
          <p:nvPr/>
        </p:nvSpPr>
        <p:spPr>
          <a:xfrm>
            <a:off x="4027932" y="2435469"/>
            <a:ext cx="155448" cy="155448"/>
          </a:xfrm>
          <a:prstGeom prst="ellipse">
            <a:avLst/>
          </a:prstGeom>
          <a:solidFill>
            <a:srgbClr val="12A566"/>
          </a:solidFill>
          <a:ln w="12700">
            <a:solidFill>
              <a:srgbClr val="12A566"/>
            </a:solidFill>
            <a:prstDash val="solid"/>
          </a:ln>
        </p:spPr>
      </p:sp>
      <p:sp>
        <p:nvSpPr>
          <p:cNvPr id="33" name="Text 31"/>
          <p:cNvSpPr txBox="1"/>
          <p:nvPr/>
        </p:nvSpPr>
        <p:spPr>
          <a:xfrm>
            <a:off x="4398264"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$4.15M</a:t>
            </a:r>
            <a:endParaRPr lang="en-US" sz="1300" dirty="0"/>
          </a:p>
        </p:txBody>
      </p:sp>
      <p:sp>
        <p:nvSpPr>
          <p:cNvPr id="34" name="Text 32"/>
          <p:cNvSpPr txBox="1"/>
          <p:nvPr/>
        </p:nvSpPr>
        <p:spPr>
          <a:xfrm>
            <a:off x="5239512"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a:t>
            </a:r>
            <a:endParaRPr lang="en-US" sz="1300" dirty="0"/>
          </a:p>
        </p:txBody>
      </p:sp>
      <p:sp>
        <p:nvSpPr>
          <p:cNvPr id="35" name="Shape 33"/>
          <p:cNvSpPr/>
          <p:nvPr/>
        </p:nvSpPr>
        <p:spPr>
          <a:xfrm>
            <a:off x="585216" y="2675675"/>
            <a:ext cx="5486400" cy="324964"/>
          </a:xfrm>
          <a:prstGeom prst="rect">
            <a:avLst/>
          </a:prstGeom>
          <a:solidFill>
            <a:srgbClr val="F7F7F7"/>
          </a:solidFill>
          <a:ln/>
        </p:spPr>
      </p:sp>
      <p:sp>
        <p:nvSpPr>
          <p:cNvPr id="36" name="Text 34"/>
          <p:cNvSpPr txBox="1"/>
          <p:nvPr/>
        </p:nvSpPr>
        <p:spPr>
          <a:xfrm>
            <a:off x="658368"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7" name="Shape 35"/>
          <p:cNvSpPr/>
          <p:nvPr/>
        </p:nvSpPr>
        <p:spPr>
          <a:xfrm>
            <a:off x="2857500" y="2760433"/>
            <a:ext cx="155448" cy="155448"/>
          </a:xfrm>
          <a:prstGeom prst="ellipse">
            <a:avLst/>
          </a:prstGeom>
          <a:solidFill>
            <a:srgbClr val="12A566"/>
          </a:solidFill>
          <a:ln w="12700">
            <a:solidFill>
              <a:srgbClr val="12A566"/>
            </a:solidFill>
            <a:prstDash val="solid"/>
          </a:ln>
        </p:spPr>
      </p:sp>
      <p:sp>
        <p:nvSpPr>
          <p:cNvPr id="38" name="Shape 36"/>
          <p:cNvSpPr/>
          <p:nvPr/>
        </p:nvSpPr>
        <p:spPr>
          <a:xfrm>
            <a:off x="3442716" y="2760433"/>
            <a:ext cx="155448" cy="155448"/>
          </a:xfrm>
          <a:prstGeom prst="ellipse">
            <a:avLst/>
          </a:prstGeom>
          <a:solidFill>
            <a:srgbClr val="12A566"/>
          </a:solidFill>
          <a:ln w="12700">
            <a:solidFill>
              <a:srgbClr val="12A566"/>
            </a:solidFill>
            <a:prstDash val="solid"/>
          </a:ln>
        </p:spPr>
      </p:sp>
      <p:sp>
        <p:nvSpPr>
          <p:cNvPr id="39" name="Shape 37"/>
          <p:cNvSpPr/>
          <p:nvPr/>
        </p:nvSpPr>
        <p:spPr>
          <a:xfrm>
            <a:off x="4027932" y="2760433"/>
            <a:ext cx="155448" cy="155448"/>
          </a:xfrm>
          <a:prstGeom prst="ellipse">
            <a:avLst/>
          </a:prstGeom>
          <a:solidFill>
            <a:srgbClr val="12A566"/>
          </a:solidFill>
          <a:ln w="12700">
            <a:solidFill>
              <a:srgbClr val="12A566"/>
            </a:solidFill>
            <a:prstDash val="solid"/>
          </a:ln>
        </p:spPr>
      </p:sp>
      <p:sp>
        <p:nvSpPr>
          <p:cNvPr id="40" name="Text 38"/>
          <p:cNvSpPr txBox="1"/>
          <p:nvPr/>
        </p:nvSpPr>
        <p:spPr>
          <a:xfrm>
            <a:off x="4398264"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$12.34M</a:t>
            </a:r>
            <a:endParaRPr lang="en-US" sz="1300" dirty="0"/>
          </a:p>
        </p:txBody>
      </p:sp>
      <p:sp>
        <p:nvSpPr>
          <p:cNvPr id="41" name="Text 39"/>
          <p:cNvSpPr txBox="1"/>
          <p:nvPr/>
        </p:nvSpPr>
        <p:spPr>
          <a:xfrm>
            <a:off x="5239512"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+16.0%</a:t>
            </a:r>
            <a:endParaRPr lang="en-US" sz="1300" dirty="0"/>
          </a:p>
        </p:txBody>
      </p:sp>
      <p:sp>
        <p:nvSpPr>
          <p:cNvPr id="42" name="Text 40"/>
          <p:cNvSpPr txBox="1"/>
          <p:nvPr/>
        </p:nvSpPr>
        <p:spPr>
          <a:xfrm>
            <a:off x="658368"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3" name="Shape 41"/>
          <p:cNvSpPr/>
          <p:nvPr/>
        </p:nvSpPr>
        <p:spPr>
          <a:xfrm>
            <a:off x="2857500" y="3085397"/>
            <a:ext cx="155448" cy="155448"/>
          </a:xfrm>
          <a:prstGeom prst="ellipse">
            <a:avLst/>
          </a:prstGeom>
          <a:solidFill>
            <a:srgbClr val="12A566"/>
          </a:solidFill>
          <a:ln w="12700">
            <a:solidFill>
              <a:srgbClr val="12A566"/>
            </a:solidFill>
            <a:prstDash val="solid"/>
          </a:ln>
        </p:spPr>
      </p:sp>
      <p:sp>
        <p:nvSpPr>
          <p:cNvPr id="44" name="Shape 42"/>
          <p:cNvSpPr/>
          <p:nvPr/>
        </p:nvSpPr>
        <p:spPr>
          <a:xfrm>
            <a:off x="3442716" y="3085397"/>
            <a:ext cx="155448" cy="155448"/>
          </a:xfrm>
          <a:prstGeom prst="ellipse">
            <a:avLst/>
          </a:prstGeom>
          <a:solidFill>
            <a:srgbClr val="12A566"/>
          </a:solidFill>
          <a:ln w="12700">
            <a:solidFill>
              <a:srgbClr val="12A566"/>
            </a:solidFill>
            <a:prstDash val="solid"/>
          </a:ln>
        </p:spPr>
      </p:sp>
      <p:sp>
        <p:nvSpPr>
          <p:cNvPr id="45" name="Shape 43"/>
          <p:cNvSpPr/>
          <p:nvPr/>
        </p:nvSpPr>
        <p:spPr>
          <a:xfrm>
            <a:off x="4027932" y="3085397"/>
            <a:ext cx="155448" cy="155448"/>
          </a:xfrm>
          <a:prstGeom prst="ellipse">
            <a:avLst/>
          </a:prstGeom>
          <a:solidFill>
            <a:srgbClr val="12A566"/>
          </a:solidFill>
          <a:ln w="12700">
            <a:solidFill>
              <a:srgbClr val="12A566"/>
            </a:solidFill>
            <a:prstDash val="solid"/>
          </a:ln>
        </p:spPr>
      </p:sp>
      <p:sp>
        <p:nvSpPr>
          <p:cNvPr id="46" name="Text 44"/>
          <p:cNvSpPr txBox="1"/>
          <p:nvPr/>
        </p:nvSpPr>
        <p:spPr>
          <a:xfrm>
            <a:off x="4398264"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$2.70M</a:t>
            </a:r>
            <a:endParaRPr lang="en-US" sz="1300" dirty="0"/>
          </a:p>
        </p:txBody>
      </p:sp>
      <p:sp>
        <p:nvSpPr>
          <p:cNvPr id="47" name="Text 45"/>
          <p:cNvSpPr txBox="1"/>
          <p:nvPr/>
        </p:nvSpPr>
        <p:spPr>
          <a:xfrm>
            <a:off x="5239512"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+15.7%</a:t>
            </a:r>
            <a:endParaRPr lang="en-US" sz="1300" dirty="0"/>
          </a:p>
        </p:txBody>
      </p:sp>
      <p:sp>
        <p:nvSpPr>
          <p:cNvPr id="48" name="Shape 46"/>
          <p:cNvSpPr/>
          <p:nvPr/>
        </p:nvSpPr>
        <p:spPr>
          <a:xfrm>
            <a:off x="585216" y="3325602"/>
            <a:ext cx="5486400" cy="324964"/>
          </a:xfrm>
          <a:prstGeom prst="rect">
            <a:avLst/>
          </a:prstGeom>
          <a:solidFill>
            <a:srgbClr val="F7F7F7"/>
          </a:solidFill>
          <a:ln/>
        </p:spPr>
      </p:sp>
      <p:sp>
        <p:nvSpPr>
          <p:cNvPr id="49" name="Text 47"/>
          <p:cNvSpPr txBox="1"/>
          <p:nvPr/>
        </p:nvSpPr>
        <p:spPr>
          <a:xfrm>
            <a:off x="658368"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0" name="Shape 48"/>
          <p:cNvSpPr/>
          <p:nvPr/>
        </p:nvSpPr>
        <p:spPr>
          <a:xfrm>
            <a:off x="2857500" y="3410360"/>
            <a:ext cx="155448" cy="155448"/>
          </a:xfrm>
          <a:prstGeom prst="ellipse">
            <a:avLst/>
          </a:prstGeom>
          <a:solidFill>
            <a:srgbClr val="12A566"/>
          </a:solidFill>
          <a:ln w="12700">
            <a:solidFill>
              <a:srgbClr val="12A566"/>
            </a:solidFill>
            <a:prstDash val="solid"/>
          </a:ln>
        </p:spPr>
      </p:sp>
      <p:sp>
        <p:nvSpPr>
          <p:cNvPr id="51" name="Shape 49"/>
          <p:cNvSpPr/>
          <p:nvPr/>
        </p:nvSpPr>
        <p:spPr>
          <a:xfrm>
            <a:off x="3442716" y="3410360"/>
            <a:ext cx="155448" cy="155448"/>
          </a:xfrm>
          <a:prstGeom prst="ellipse">
            <a:avLst/>
          </a:prstGeom>
          <a:solidFill>
            <a:srgbClr val="12A566"/>
          </a:solidFill>
          <a:ln w="12700">
            <a:solidFill>
              <a:srgbClr val="12A566"/>
            </a:solidFill>
            <a:prstDash val="solid"/>
          </a:ln>
        </p:spPr>
      </p:sp>
      <p:sp>
        <p:nvSpPr>
          <p:cNvPr id="52" name="Shape 50"/>
          <p:cNvSpPr/>
          <p:nvPr/>
        </p:nvSpPr>
        <p:spPr>
          <a:xfrm>
            <a:off x="4027932" y="3410360"/>
            <a:ext cx="155448" cy="155448"/>
          </a:xfrm>
          <a:prstGeom prst="ellipse">
            <a:avLst/>
          </a:prstGeom>
          <a:solidFill>
            <a:srgbClr val="12A566"/>
          </a:solidFill>
          <a:ln w="12700">
            <a:solidFill>
              <a:srgbClr val="12A566"/>
            </a:solidFill>
            <a:prstDash val="solid"/>
          </a:ln>
        </p:spPr>
      </p:sp>
      <p:sp>
        <p:nvSpPr>
          <p:cNvPr id="53" name="Text 51"/>
          <p:cNvSpPr txBox="1"/>
          <p:nvPr/>
        </p:nvSpPr>
        <p:spPr>
          <a:xfrm>
            <a:off x="4398264"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$3.52M</a:t>
            </a:r>
            <a:endParaRPr lang="en-US" sz="1300" dirty="0"/>
          </a:p>
        </p:txBody>
      </p:sp>
      <p:sp>
        <p:nvSpPr>
          <p:cNvPr id="54" name="Text 52"/>
          <p:cNvSpPr txBox="1"/>
          <p:nvPr/>
        </p:nvSpPr>
        <p:spPr>
          <a:xfrm>
            <a:off x="5239512"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+15.5%</a:t>
            </a:r>
            <a:endParaRPr lang="en-US" sz="1300" dirty="0"/>
          </a:p>
        </p:txBody>
      </p:sp>
      <p:sp>
        <p:nvSpPr>
          <p:cNvPr id="55" name="Text 53"/>
          <p:cNvSpPr txBox="1"/>
          <p:nvPr/>
        </p:nvSpPr>
        <p:spPr>
          <a:xfrm>
            <a:off x="658368"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6" name="Shape 54"/>
          <p:cNvSpPr/>
          <p:nvPr/>
        </p:nvSpPr>
        <p:spPr>
          <a:xfrm>
            <a:off x="2857500" y="3735324"/>
            <a:ext cx="155448" cy="155448"/>
          </a:xfrm>
          <a:prstGeom prst="ellipse">
            <a:avLst/>
          </a:prstGeom>
          <a:solidFill>
            <a:srgbClr val="12A566"/>
          </a:solidFill>
          <a:ln w="12700">
            <a:solidFill>
              <a:srgbClr val="12A566"/>
            </a:solidFill>
            <a:prstDash val="solid"/>
          </a:ln>
        </p:spPr>
      </p:sp>
      <p:sp>
        <p:nvSpPr>
          <p:cNvPr id="57" name="Shape 55"/>
          <p:cNvSpPr/>
          <p:nvPr/>
        </p:nvSpPr>
        <p:spPr>
          <a:xfrm>
            <a:off x="3442716" y="3735324"/>
            <a:ext cx="155448" cy="155448"/>
          </a:xfrm>
          <a:prstGeom prst="ellipse">
            <a:avLst/>
          </a:prstGeom>
          <a:solidFill>
            <a:srgbClr val="12A566"/>
          </a:solidFill>
          <a:ln w="12700">
            <a:solidFill>
              <a:srgbClr val="12A566"/>
            </a:solidFill>
            <a:prstDash val="solid"/>
          </a:ln>
        </p:spPr>
      </p:sp>
      <p:sp>
        <p:nvSpPr>
          <p:cNvPr id="58" name="Shape 56"/>
          <p:cNvSpPr/>
          <p:nvPr/>
        </p:nvSpPr>
        <p:spPr>
          <a:xfrm>
            <a:off x="4027932" y="3735324"/>
            <a:ext cx="155448" cy="155448"/>
          </a:xfrm>
          <a:prstGeom prst="ellipse">
            <a:avLst/>
          </a:prstGeom>
          <a:solidFill>
            <a:srgbClr val="12A566"/>
          </a:solidFill>
          <a:ln w="12700">
            <a:solidFill>
              <a:srgbClr val="12A566"/>
            </a:solidFill>
            <a:prstDash val="solid"/>
          </a:ln>
        </p:spPr>
      </p:sp>
      <p:sp>
        <p:nvSpPr>
          <p:cNvPr id="59" name="Text 57"/>
          <p:cNvSpPr txBox="1"/>
          <p:nvPr/>
        </p:nvSpPr>
        <p:spPr>
          <a:xfrm>
            <a:off x="4398264"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$4.47M</a:t>
            </a:r>
            <a:endParaRPr lang="en-US" sz="1300" dirty="0"/>
          </a:p>
        </p:txBody>
      </p:sp>
      <p:sp>
        <p:nvSpPr>
          <p:cNvPr id="60" name="Text 58"/>
          <p:cNvSpPr txBox="1"/>
          <p:nvPr/>
        </p:nvSpPr>
        <p:spPr>
          <a:xfrm>
            <a:off x="5239512"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endParaRPr lang="en-US" sz="1300" dirty="0"/>
          </a:p>
        </p:txBody>
      </p:sp>
      <p:sp>
        <p:nvSpPr>
          <p:cNvPr id="61" name="Shape 59"/>
          <p:cNvSpPr/>
          <p:nvPr/>
        </p:nvSpPr>
        <p:spPr>
          <a:xfrm>
            <a:off x="585216" y="3975530"/>
            <a:ext cx="5486400" cy="324964"/>
          </a:xfrm>
          <a:prstGeom prst="rect">
            <a:avLst/>
          </a:prstGeom>
          <a:solidFill>
            <a:srgbClr val="F7F7F7"/>
          </a:solidFill>
          <a:ln/>
        </p:spPr>
      </p:sp>
      <p:sp>
        <p:nvSpPr>
          <p:cNvPr id="62" name="Text 60"/>
          <p:cNvSpPr txBox="1"/>
          <p:nvPr/>
        </p:nvSpPr>
        <p:spPr>
          <a:xfrm>
            <a:off x="658368"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857500" y="4060288"/>
            <a:ext cx="155448" cy="155448"/>
          </a:xfrm>
          <a:prstGeom prst="ellipse">
            <a:avLst/>
          </a:prstGeom>
          <a:solidFill>
            <a:srgbClr val="12A566"/>
          </a:solidFill>
          <a:ln w="12700">
            <a:solidFill>
              <a:srgbClr val="12A566"/>
            </a:solidFill>
            <a:prstDash val="solid"/>
          </a:ln>
        </p:spPr>
      </p:sp>
      <p:sp>
        <p:nvSpPr>
          <p:cNvPr id="64" name="Shape 62"/>
          <p:cNvSpPr/>
          <p:nvPr/>
        </p:nvSpPr>
        <p:spPr>
          <a:xfrm>
            <a:off x="3442716" y="4060288"/>
            <a:ext cx="155448" cy="155448"/>
          </a:xfrm>
          <a:prstGeom prst="ellipse">
            <a:avLst/>
          </a:prstGeom>
          <a:solidFill>
            <a:srgbClr val="12A566"/>
          </a:solidFill>
          <a:ln w="12700">
            <a:solidFill>
              <a:srgbClr val="12A566"/>
            </a:solidFill>
            <a:prstDash val="solid"/>
          </a:ln>
        </p:spPr>
      </p:sp>
      <p:sp>
        <p:nvSpPr>
          <p:cNvPr id="65" name="Shape 63"/>
          <p:cNvSpPr/>
          <p:nvPr/>
        </p:nvSpPr>
        <p:spPr>
          <a:xfrm>
            <a:off x="4027932" y="4060288"/>
            <a:ext cx="155448" cy="155448"/>
          </a:xfrm>
          <a:prstGeom prst="ellipse">
            <a:avLst/>
          </a:prstGeom>
          <a:solidFill>
            <a:srgbClr val="12A566"/>
          </a:solidFill>
          <a:ln w="12700">
            <a:solidFill>
              <a:srgbClr val="12A566"/>
            </a:solidFill>
            <a:prstDash val="solid"/>
          </a:ln>
        </p:spPr>
      </p:sp>
      <p:sp>
        <p:nvSpPr>
          <p:cNvPr id="66" name="Text 64"/>
          <p:cNvSpPr txBox="1"/>
          <p:nvPr/>
        </p:nvSpPr>
        <p:spPr>
          <a:xfrm>
            <a:off x="4398264"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$4.78M</a:t>
            </a:r>
            <a:endParaRPr lang="en-US" sz="1300" dirty="0"/>
          </a:p>
        </p:txBody>
      </p:sp>
      <p:sp>
        <p:nvSpPr>
          <p:cNvPr id="67" name="Text 65"/>
          <p:cNvSpPr txBox="1"/>
          <p:nvPr/>
        </p:nvSpPr>
        <p:spPr>
          <a:xfrm>
            <a:off x="5239512"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endParaRPr lang="en-US" sz="1300" dirty="0"/>
          </a:p>
        </p:txBody>
      </p:sp>
      <p:sp>
        <p:nvSpPr>
          <p:cNvPr id="68" name="Text 66"/>
          <p:cNvSpPr txBox="1"/>
          <p:nvPr/>
        </p:nvSpPr>
        <p:spPr>
          <a:xfrm>
            <a:off x="658368"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9" name="Shape 67"/>
          <p:cNvSpPr/>
          <p:nvPr/>
        </p:nvSpPr>
        <p:spPr>
          <a:xfrm>
            <a:off x="2857500" y="4385251"/>
            <a:ext cx="155448" cy="155448"/>
          </a:xfrm>
          <a:prstGeom prst="ellipse">
            <a:avLst/>
          </a:prstGeom>
          <a:solidFill>
            <a:srgbClr val="12A566"/>
          </a:solidFill>
          <a:ln w="12700">
            <a:solidFill>
              <a:srgbClr val="12A566"/>
            </a:solidFill>
            <a:prstDash val="solid"/>
          </a:ln>
        </p:spPr>
      </p:sp>
      <p:sp>
        <p:nvSpPr>
          <p:cNvPr id="70" name="Shape 68"/>
          <p:cNvSpPr/>
          <p:nvPr/>
        </p:nvSpPr>
        <p:spPr>
          <a:xfrm>
            <a:off x="3442716" y="4385251"/>
            <a:ext cx="155448" cy="155448"/>
          </a:xfrm>
          <a:prstGeom prst="ellipse">
            <a:avLst/>
          </a:prstGeom>
          <a:solidFill>
            <a:srgbClr val="12A566"/>
          </a:solidFill>
          <a:ln w="12700">
            <a:solidFill>
              <a:srgbClr val="12A566"/>
            </a:solidFill>
            <a:prstDash val="solid"/>
          </a:ln>
        </p:spPr>
      </p:sp>
      <p:sp>
        <p:nvSpPr>
          <p:cNvPr id="71" name="Shape 69"/>
          <p:cNvSpPr/>
          <p:nvPr/>
        </p:nvSpPr>
        <p:spPr>
          <a:xfrm>
            <a:off x="4027932" y="4385251"/>
            <a:ext cx="155448" cy="155448"/>
          </a:xfrm>
          <a:prstGeom prst="ellipse">
            <a:avLst/>
          </a:prstGeom>
          <a:solidFill>
            <a:srgbClr val="12A566"/>
          </a:solidFill>
          <a:ln w="12700">
            <a:solidFill>
              <a:srgbClr val="12A566"/>
            </a:solidFill>
            <a:prstDash val="solid"/>
          </a:ln>
        </p:spPr>
      </p:sp>
      <p:sp>
        <p:nvSpPr>
          <p:cNvPr id="72" name="Text 70"/>
          <p:cNvSpPr txBox="1"/>
          <p:nvPr/>
        </p:nvSpPr>
        <p:spPr>
          <a:xfrm>
            <a:off x="4398264"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$2.34M</a:t>
            </a:r>
            <a:endParaRPr lang="en-US" sz="1300" dirty="0"/>
          </a:p>
        </p:txBody>
      </p:sp>
      <p:sp>
        <p:nvSpPr>
          <p:cNvPr id="73" name="Text 71"/>
          <p:cNvSpPr txBox="1"/>
          <p:nvPr/>
        </p:nvSpPr>
        <p:spPr>
          <a:xfrm>
            <a:off x="5239512"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74" name="Shape 72"/>
          <p:cNvSpPr/>
          <p:nvPr/>
        </p:nvSpPr>
        <p:spPr>
          <a:xfrm>
            <a:off x="585216" y="4625457"/>
            <a:ext cx="5486400" cy="324964"/>
          </a:xfrm>
          <a:prstGeom prst="rect">
            <a:avLst/>
          </a:prstGeom>
          <a:solidFill>
            <a:srgbClr val="F7F7F7"/>
          </a:solidFill>
          <a:ln/>
        </p:spPr>
      </p:sp>
      <p:sp>
        <p:nvSpPr>
          <p:cNvPr id="75" name="Text 73"/>
          <p:cNvSpPr txBox="1"/>
          <p:nvPr/>
        </p:nvSpPr>
        <p:spPr>
          <a:xfrm>
            <a:off x="658368"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Shape 74"/>
          <p:cNvSpPr/>
          <p:nvPr/>
        </p:nvSpPr>
        <p:spPr>
          <a:xfrm>
            <a:off x="2857500" y="4710215"/>
            <a:ext cx="155448" cy="155448"/>
          </a:xfrm>
          <a:prstGeom prst="ellipse">
            <a:avLst/>
          </a:prstGeom>
          <a:solidFill>
            <a:srgbClr val="12A566"/>
          </a:solidFill>
          <a:ln w="12700">
            <a:solidFill>
              <a:srgbClr val="12A566"/>
            </a:solidFill>
            <a:prstDash val="solid"/>
          </a:ln>
        </p:spPr>
      </p:sp>
      <p:sp>
        <p:nvSpPr>
          <p:cNvPr id="77" name="Shape 75"/>
          <p:cNvSpPr/>
          <p:nvPr/>
        </p:nvSpPr>
        <p:spPr>
          <a:xfrm>
            <a:off x="3442716" y="4710215"/>
            <a:ext cx="155448" cy="155448"/>
          </a:xfrm>
          <a:prstGeom prst="ellipse">
            <a:avLst/>
          </a:prstGeom>
          <a:solidFill>
            <a:srgbClr val="12A566"/>
          </a:solidFill>
          <a:ln w="12700">
            <a:solidFill>
              <a:srgbClr val="12A566"/>
            </a:solidFill>
            <a:prstDash val="solid"/>
          </a:ln>
        </p:spPr>
      </p:sp>
      <p:sp>
        <p:nvSpPr>
          <p:cNvPr id="78" name="Shape 76"/>
          <p:cNvSpPr/>
          <p:nvPr/>
        </p:nvSpPr>
        <p:spPr>
          <a:xfrm>
            <a:off x="4027932" y="4710215"/>
            <a:ext cx="155448" cy="155448"/>
          </a:xfrm>
          <a:prstGeom prst="ellipse">
            <a:avLst/>
          </a:prstGeom>
          <a:solidFill>
            <a:srgbClr val="12A566"/>
          </a:solidFill>
          <a:ln w="12700">
            <a:solidFill>
              <a:srgbClr val="12A566"/>
            </a:solidFill>
            <a:prstDash val="solid"/>
          </a:ln>
        </p:spPr>
      </p:sp>
      <p:sp>
        <p:nvSpPr>
          <p:cNvPr id="79" name="Text 77"/>
          <p:cNvSpPr txBox="1"/>
          <p:nvPr/>
        </p:nvSpPr>
        <p:spPr>
          <a:xfrm>
            <a:off x="4398264"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$22.59M</a:t>
            </a:r>
            <a:endParaRPr lang="en-US" sz="1300" dirty="0"/>
          </a:p>
        </p:txBody>
      </p:sp>
      <p:sp>
        <p:nvSpPr>
          <p:cNvPr id="80" name="Text 78"/>
          <p:cNvSpPr txBox="1"/>
          <p:nvPr/>
        </p:nvSpPr>
        <p:spPr>
          <a:xfrm>
            <a:off x="5239512"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+8.5%</a:t>
            </a:r>
            <a:endParaRPr lang="en-US" sz="1300" dirty="0"/>
          </a:p>
        </p:txBody>
      </p:sp>
      <p:sp>
        <p:nvSpPr>
          <p:cNvPr id="81" name="Text 79"/>
          <p:cNvSpPr txBox="1"/>
          <p:nvPr/>
        </p:nvSpPr>
        <p:spPr>
          <a:xfrm>
            <a:off x="658368"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2" name="Shape 80"/>
          <p:cNvSpPr/>
          <p:nvPr/>
        </p:nvSpPr>
        <p:spPr>
          <a:xfrm>
            <a:off x="2857500" y="5035179"/>
            <a:ext cx="155448" cy="155448"/>
          </a:xfrm>
          <a:prstGeom prst="ellipse">
            <a:avLst/>
          </a:prstGeom>
          <a:solidFill>
            <a:srgbClr val="12A566"/>
          </a:solidFill>
          <a:ln w="12700">
            <a:solidFill>
              <a:srgbClr val="12A566"/>
            </a:solidFill>
            <a:prstDash val="solid"/>
          </a:ln>
        </p:spPr>
      </p:sp>
      <p:sp>
        <p:nvSpPr>
          <p:cNvPr id="83" name="Shape 81"/>
          <p:cNvSpPr/>
          <p:nvPr/>
        </p:nvSpPr>
        <p:spPr>
          <a:xfrm>
            <a:off x="3442716" y="5035179"/>
            <a:ext cx="155448" cy="155448"/>
          </a:xfrm>
          <a:prstGeom prst="ellipse">
            <a:avLst/>
          </a:prstGeom>
          <a:solidFill>
            <a:srgbClr val="12A566"/>
          </a:solidFill>
          <a:ln w="12700">
            <a:solidFill>
              <a:srgbClr val="12A566"/>
            </a:solidFill>
            <a:prstDash val="solid"/>
          </a:ln>
        </p:spPr>
      </p:sp>
      <p:sp>
        <p:nvSpPr>
          <p:cNvPr id="84" name="Shape 82"/>
          <p:cNvSpPr/>
          <p:nvPr/>
        </p:nvSpPr>
        <p:spPr>
          <a:xfrm>
            <a:off x="4027932" y="5035179"/>
            <a:ext cx="155448" cy="155448"/>
          </a:xfrm>
          <a:prstGeom prst="ellipse">
            <a:avLst/>
          </a:prstGeom>
          <a:solidFill>
            <a:srgbClr val="12A566"/>
          </a:solidFill>
          <a:ln w="12700">
            <a:solidFill>
              <a:srgbClr val="12A566"/>
            </a:solidFill>
            <a:prstDash val="solid"/>
          </a:ln>
        </p:spPr>
      </p:sp>
      <p:sp>
        <p:nvSpPr>
          <p:cNvPr id="85" name="Text 83"/>
          <p:cNvSpPr txBox="1"/>
          <p:nvPr/>
        </p:nvSpPr>
        <p:spPr>
          <a:xfrm>
            <a:off x="4398264"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$14.42M</a:t>
            </a:r>
            <a:endParaRPr lang="en-US" sz="1300" dirty="0"/>
          </a:p>
        </p:txBody>
      </p:sp>
      <p:sp>
        <p:nvSpPr>
          <p:cNvPr id="86" name="Text 84"/>
          <p:cNvSpPr txBox="1"/>
          <p:nvPr/>
        </p:nvSpPr>
        <p:spPr>
          <a:xfrm>
            <a:off x="5239512"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a:t>
            </a:r>
            <a:endParaRPr lang="en-US" sz="1300" dirty="0"/>
          </a:p>
        </p:txBody>
      </p:sp>
      <p:sp>
        <p:nvSpPr>
          <p:cNvPr id="87" name="Shape 85"/>
          <p:cNvSpPr/>
          <p:nvPr/>
        </p:nvSpPr>
        <p:spPr>
          <a:xfrm>
            <a:off x="585216" y="5275385"/>
            <a:ext cx="5486400" cy="324964"/>
          </a:xfrm>
          <a:prstGeom prst="rect">
            <a:avLst/>
          </a:prstGeom>
          <a:solidFill>
            <a:srgbClr val="F7F7F7"/>
          </a:solidFill>
          <a:ln/>
        </p:spPr>
      </p:sp>
      <p:sp>
        <p:nvSpPr>
          <p:cNvPr id="88" name="Text 86"/>
          <p:cNvSpPr txBox="1"/>
          <p:nvPr/>
        </p:nvSpPr>
        <p:spPr>
          <a:xfrm>
            <a:off x="658368"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2857500" y="5360142"/>
            <a:ext cx="155448" cy="155448"/>
          </a:xfrm>
          <a:prstGeom prst="ellipse">
            <a:avLst/>
          </a:prstGeom>
          <a:solidFill>
            <a:srgbClr val="12A566"/>
          </a:solidFill>
          <a:ln w="12700">
            <a:solidFill>
              <a:srgbClr val="12A566"/>
            </a:solidFill>
            <a:prstDash val="solid"/>
          </a:ln>
        </p:spPr>
      </p:sp>
      <p:sp>
        <p:nvSpPr>
          <p:cNvPr id="90" name="Shape 88"/>
          <p:cNvSpPr/>
          <p:nvPr/>
        </p:nvSpPr>
        <p:spPr>
          <a:xfrm>
            <a:off x="3442716" y="5360142"/>
            <a:ext cx="155448" cy="155448"/>
          </a:xfrm>
          <a:prstGeom prst="ellipse">
            <a:avLst/>
          </a:prstGeom>
          <a:solidFill>
            <a:srgbClr val="12A566"/>
          </a:solidFill>
          <a:ln w="12700">
            <a:solidFill>
              <a:srgbClr val="12A566"/>
            </a:solidFill>
            <a:prstDash val="solid"/>
          </a:ln>
        </p:spPr>
      </p:sp>
      <p:sp>
        <p:nvSpPr>
          <p:cNvPr id="91" name="Shape 89"/>
          <p:cNvSpPr/>
          <p:nvPr/>
        </p:nvSpPr>
        <p:spPr>
          <a:xfrm>
            <a:off x="4027932" y="5360142"/>
            <a:ext cx="155448" cy="155448"/>
          </a:xfrm>
          <a:prstGeom prst="ellipse">
            <a:avLst/>
          </a:prstGeom>
          <a:solidFill>
            <a:srgbClr val="12A566"/>
          </a:solidFill>
          <a:ln w="12700">
            <a:solidFill>
              <a:srgbClr val="12A566"/>
            </a:solidFill>
            <a:prstDash val="solid"/>
          </a:ln>
        </p:spPr>
      </p:sp>
      <p:sp>
        <p:nvSpPr>
          <p:cNvPr id="92" name="Text 90"/>
          <p:cNvSpPr txBox="1"/>
          <p:nvPr/>
        </p:nvSpPr>
        <p:spPr>
          <a:xfrm>
            <a:off x="4398264"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$3.31M</a:t>
            </a:r>
            <a:endParaRPr lang="en-US" sz="1300" dirty="0"/>
          </a:p>
        </p:txBody>
      </p:sp>
      <p:sp>
        <p:nvSpPr>
          <p:cNvPr id="93" name="Text 91"/>
          <p:cNvSpPr txBox="1"/>
          <p:nvPr/>
        </p:nvSpPr>
        <p:spPr>
          <a:xfrm>
            <a:off x="5239512"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+3.7%</a:t>
            </a:r>
            <a:endParaRPr lang="en-US" sz="1300" dirty="0"/>
          </a:p>
        </p:txBody>
      </p:sp>
      <p:sp>
        <p:nvSpPr>
          <p:cNvPr id="94" name="Text 92"/>
          <p:cNvSpPr txBox="1"/>
          <p:nvPr/>
        </p:nvSpPr>
        <p:spPr>
          <a:xfrm>
            <a:off x="658368" y="56003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5" name="Shape 93"/>
          <p:cNvSpPr/>
          <p:nvPr/>
        </p:nvSpPr>
        <p:spPr>
          <a:xfrm>
            <a:off x="2857500" y="5685106"/>
            <a:ext cx="155448" cy="155448"/>
          </a:xfrm>
          <a:prstGeom prst="ellipse">
            <a:avLst/>
          </a:prstGeom>
          <a:solidFill>
            <a:srgbClr val="12A566"/>
          </a:solidFill>
          <a:ln w="12700">
            <a:solidFill>
              <a:srgbClr val="12A566"/>
            </a:solidFill>
            <a:prstDash val="solid"/>
          </a:ln>
        </p:spPr>
      </p:sp>
      <p:sp>
        <p:nvSpPr>
          <p:cNvPr id="96" name="Shape 94"/>
          <p:cNvSpPr/>
          <p:nvPr/>
        </p:nvSpPr>
        <p:spPr>
          <a:xfrm>
            <a:off x="3442716" y="5685106"/>
            <a:ext cx="155448" cy="155448"/>
          </a:xfrm>
          <a:prstGeom prst="ellipse">
            <a:avLst/>
          </a:prstGeom>
          <a:solidFill>
            <a:srgbClr val="12A566"/>
          </a:solidFill>
          <a:ln w="12700">
            <a:solidFill>
              <a:srgbClr val="12A566"/>
            </a:solidFill>
            <a:prstDash val="solid"/>
          </a:ln>
        </p:spPr>
      </p:sp>
      <p:sp>
        <p:nvSpPr>
          <p:cNvPr id="97" name="Shape 95"/>
          <p:cNvSpPr/>
          <p:nvPr/>
        </p:nvSpPr>
        <p:spPr>
          <a:xfrm>
            <a:off x="4027932" y="5685106"/>
            <a:ext cx="155448" cy="155448"/>
          </a:xfrm>
          <a:prstGeom prst="ellipse">
            <a:avLst/>
          </a:prstGeom>
          <a:solidFill>
            <a:srgbClr val="12A566"/>
          </a:solidFill>
          <a:ln w="12700">
            <a:solidFill>
              <a:srgbClr val="12A566"/>
            </a:solidFill>
            <a:prstDash val="solid"/>
          </a:ln>
        </p:spPr>
      </p:sp>
      <p:sp>
        <p:nvSpPr>
          <p:cNvPr id="98" name="Text 96"/>
          <p:cNvSpPr txBox="1"/>
          <p:nvPr/>
        </p:nvSpPr>
        <p:spPr>
          <a:xfrm>
            <a:off x="4398264" y="56003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$3.42M</a:t>
            </a:r>
            <a:endParaRPr lang="en-US" sz="1300" dirty="0"/>
          </a:p>
        </p:txBody>
      </p:sp>
      <p:sp>
        <p:nvSpPr>
          <p:cNvPr id="99" name="Text 97"/>
          <p:cNvSpPr txBox="1"/>
          <p:nvPr/>
        </p:nvSpPr>
        <p:spPr>
          <a:xfrm>
            <a:off x="5239512" y="56003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a:t>
            </a:r>
            <a:endParaRPr lang="en-US" sz="1300" dirty="0"/>
          </a:p>
        </p:txBody>
      </p:sp>
      <p:sp>
        <p:nvSpPr>
          <p:cNvPr id="100" name="Text 98"/>
          <p:cNvSpPr txBox="1"/>
          <p:nvPr/>
        </p:nvSpPr>
        <p:spPr>
          <a:xfrm>
            <a:off x="6208776"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1" name="Shape 99"/>
          <p:cNvSpPr/>
          <p:nvPr/>
        </p:nvSpPr>
        <p:spPr>
          <a:xfrm>
            <a:off x="8407908" y="1785542"/>
            <a:ext cx="155448" cy="155448"/>
          </a:xfrm>
          <a:prstGeom prst="ellipse">
            <a:avLst/>
          </a:prstGeom>
          <a:solidFill>
            <a:srgbClr val="12A566"/>
          </a:solidFill>
          <a:ln w="12700">
            <a:solidFill>
              <a:srgbClr val="12A566"/>
            </a:solidFill>
            <a:prstDash val="solid"/>
          </a:ln>
        </p:spPr>
      </p:sp>
      <p:sp>
        <p:nvSpPr>
          <p:cNvPr id="102" name="Shape 100"/>
          <p:cNvSpPr/>
          <p:nvPr/>
        </p:nvSpPr>
        <p:spPr>
          <a:xfrm>
            <a:off x="8993124" y="1785542"/>
            <a:ext cx="155448" cy="155448"/>
          </a:xfrm>
          <a:prstGeom prst="ellipse">
            <a:avLst/>
          </a:prstGeom>
          <a:solidFill>
            <a:srgbClr val="FFFFFF"/>
          </a:solidFill>
          <a:ln w="12700">
            <a:solidFill>
              <a:srgbClr val="9AA3AD"/>
            </a:solidFill>
            <a:prstDash val="solid"/>
          </a:ln>
        </p:spPr>
      </p:sp>
      <p:sp>
        <p:nvSpPr>
          <p:cNvPr id="103" name="Shape 101"/>
          <p:cNvSpPr/>
          <p:nvPr/>
        </p:nvSpPr>
        <p:spPr>
          <a:xfrm>
            <a:off x="9578340" y="1785542"/>
            <a:ext cx="155448" cy="155448"/>
          </a:xfrm>
          <a:prstGeom prst="ellipse">
            <a:avLst/>
          </a:prstGeom>
          <a:solidFill>
            <a:srgbClr val="12A566"/>
          </a:solidFill>
          <a:ln w="12700">
            <a:solidFill>
              <a:srgbClr val="12A566"/>
            </a:solidFill>
            <a:prstDash val="solid"/>
          </a:ln>
        </p:spPr>
      </p:sp>
      <p:sp>
        <p:nvSpPr>
          <p:cNvPr id="104" name="Text 102"/>
          <p:cNvSpPr txBox="1"/>
          <p:nvPr/>
        </p:nvSpPr>
        <p:spPr>
          <a:xfrm>
            <a:off x="9948672"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$5.08M</a:t>
            </a:r>
            <a:endParaRPr lang="en-US" sz="1300" dirty="0"/>
          </a:p>
        </p:txBody>
      </p:sp>
      <p:sp>
        <p:nvSpPr>
          <p:cNvPr id="105" name="Text 103"/>
          <p:cNvSpPr txBox="1"/>
          <p:nvPr/>
        </p:nvSpPr>
        <p:spPr>
          <a:xfrm>
            <a:off x="10789920"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106" name="Shape 104"/>
          <p:cNvSpPr/>
          <p:nvPr/>
        </p:nvSpPr>
        <p:spPr>
          <a:xfrm>
            <a:off x="6135624" y="2025748"/>
            <a:ext cx="5486400" cy="324964"/>
          </a:xfrm>
          <a:prstGeom prst="rect">
            <a:avLst/>
          </a:prstGeom>
          <a:solidFill>
            <a:srgbClr val="F7F7F7"/>
          </a:solidFill>
          <a:ln/>
        </p:spPr>
      </p:sp>
      <p:sp>
        <p:nvSpPr>
          <p:cNvPr id="107" name="Text 105"/>
          <p:cNvSpPr txBox="1"/>
          <p:nvPr/>
        </p:nvSpPr>
        <p:spPr>
          <a:xfrm>
            <a:off x="6208776"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407908" y="2110506"/>
            <a:ext cx="155448" cy="155448"/>
          </a:xfrm>
          <a:prstGeom prst="ellipse">
            <a:avLst/>
          </a:prstGeom>
          <a:solidFill>
            <a:srgbClr val="12A566"/>
          </a:solidFill>
          <a:ln w="12700">
            <a:solidFill>
              <a:srgbClr val="12A566"/>
            </a:solidFill>
            <a:prstDash val="solid"/>
          </a:ln>
        </p:spPr>
      </p:sp>
      <p:sp>
        <p:nvSpPr>
          <p:cNvPr id="109" name="Shape 107"/>
          <p:cNvSpPr/>
          <p:nvPr/>
        </p:nvSpPr>
        <p:spPr>
          <a:xfrm>
            <a:off x="8993124" y="2110506"/>
            <a:ext cx="155448" cy="155448"/>
          </a:xfrm>
          <a:prstGeom prst="ellipse">
            <a:avLst/>
          </a:prstGeom>
          <a:solidFill>
            <a:srgbClr val="FFFFFF"/>
          </a:solidFill>
          <a:ln w="12700">
            <a:solidFill>
              <a:srgbClr val="9AA3AD"/>
            </a:solidFill>
            <a:prstDash val="solid"/>
          </a:ln>
        </p:spPr>
      </p:sp>
      <p:sp>
        <p:nvSpPr>
          <p:cNvPr id="110" name="Shape 108"/>
          <p:cNvSpPr/>
          <p:nvPr/>
        </p:nvSpPr>
        <p:spPr>
          <a:xfrm>
            <a:off x="9578340" y="2110506"/>
            <a:ext cx="155448" cy="155448"/>
          </a:xfrm>
          <a:prstGeom prst="ellipse">
            <a:avLst/>
          </a:prstGeom>
          <a:solidFill>
            <a:srgbClr val="12A566"/>
          </a:solidFill>
          <a:ln w="12700">
            <a:solidFill>
              <a:srgbClr val="12A566"/>
            </a:solidFill>
            <a:prstDash val="solid"/>
          </a:ln>
        </p:spPr>
      </p:sp>
      <p:sp>
        <p:nvSpPr>
          <p:cNvPr id="111" name="Text 109"/>
          <p:cNvSpPr txBox="1"/>
          <p:nvPr/>
        </p:nvSpPr>
        <p:spPr>
          <a:xfrm>
            <a:off x="9948672"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$5.93M</a:t>
            </a:r>
            <a:endParaRPr lang="en-US" sz="1300" dirty="0"/>
          </a:p>
        </p:txBody>
      </p:sp>
      <p:sp>
        <p:nvSpPr>
          <p:cNvPr id="112" name="Text 110"/>
          <p:cNvSpPr txBox="1"/>
          <p:nvPr/>
        </p:nvSpPr>
        <p:spPr>
          <a:xfrm>
            <a:off x="10789920"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113" name="Text 111"/>
          <p:cNvSpPr txBox="1"/>
          <p:nvPr/>
        </p:nvSpPr>
        <p:spPr>
          <a:xfrm>
            <a:off x="6208776"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4" name="Shape 112"/>
          <p:cNvSpPr/>
          <p:nvPr/>
        </p:nvSpPr>
        <p:spPr>
          <a:xfrm>
            <a:off x="8407908" y="2435469"/>
            <a:ext cx="155448" cy="155448"/>
          </a:xfrm>
          <a:prstGeom prst="ellipse">
            <a:avLst/>
          </a:prstGeom>
          <a:solidFill>
            <a:srgbClr val="12A566"/>
          </a:solidFill>
          <a:ln w="12700">
            <a:solidFill>
              <a:srgbClr val="12A566"/>
            </a:solidFill>
            <a:prstDash val="solid"/>
          </a:ln>
        </p:spPr>
      </p:sp>
      <p:sp>
        <p:nvSpPr>
          <p:cNvPr id="115" name="Shape 113"/>
          <p:cNvSpPr/>
          <p:nvPr/>
        </p:nvSpPr>
        <p:spPr>
          <a:xfrm>
            <a:off x="8993124" y="2435469"/>
            <a:ext cx="155448" cy="155448"/>
          </a:xfrm>
          <a:prstGeom prst="ellipse">
            <a:avLst/>
          </a:prstGeom>
          <a:solidFill>
            <a:srgbClr val="FFFFFF"/>
          </a:solidFill>
          <a:ln w="12700">
            <a:solidFill>
              <a:srgbClr val="9AA3AD"/>
            </a:solidFill>
            <a:prstDash val="solid"/>
          </a:ln>
        </p:spPr>
      </p:sp>
      <p:sp>
        <p:nvSpPr>
          <p:cNvPr id="116" name="Shape 114"/>
          <p:cNvSpPr/>
          <p:nvPr/>
        </p:nvSpPr>
        <p:spPr>
          <a:xfrm>
            <a:off x="9578340" y="2435469"/>
            <a:ext cx="155448" cy="155448"/>
          </a:xfrm>
          <a:prstGeom prst="ellipse">
            <a:avLst/>
          </a:prstGeom>
          <a:solidFill>
            <a:srgbClr val="12A566"/>
          </a:solidFill>
          <a:ln w="12700">
            <a:solidFill>
              <a:srgbClr val="12A566"/>
            </a:solidFill>
            <a:prstDash val="solid"/>
          </a:ln>
        </p:spPr>
      </p:sp>
      <p:sp>
        <p:nvSpPr>
          <p:cNvPr id="117" name="Text 115"/>
          <p:cNvSpPr txBox="1"/>
          <p:nvPr/>
        </p:nvSpPr>
        <p:spPr>
          <a:xfrm>
            <a:off x="9948672"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$4.18M</a:t>
            </a:r>
            <a:endParaRPr lang="en-US" sz="1300" dirty="0"/>
          </a:p>
        </p:txBody>
      </p:sp>
      <p:sp>
        <p:nvSpPr>
          <p:cNvPr id="118" name="Text 116"/>
          <p:cNvSpPr txBox="1"/>
          <p:nvPr/>
        </p:nvSpPr>
        <p:spPr>
          <a:xfrm>
            <a:off x="10789920"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119" name="Shape 117"/>
          <p:cNvSpPr/>
          <p:nvPr/>
        </p:nvSpPr>
        <p:spPr>
          <a:xfrm>
            <a:off x="6135624" y="2675675"/>
            <a:ext cx="5486400" cy="324964"/>
          </a:xfrm>
          <a:prstGeom prst="rect">
            <a:avLst/>
          </a:prstGeom>
          <a:solidFill>
            <a:srgbClr val="F7F7F7"/>
          </a:solidFill>
          <a:ln/>
        </p:spPr>
      </p:sp>
      <p:sp>
        <p:nvSpPr>
          <p:cNvPr id="120" name="Text 118"/>
          <p:cNvSpPr txBox="1"/>
          <p:nvPr/>
        </p:nvSpPr>
        <p:spPr>
          <a:xfrm>
            <a:off x="6208776"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1" name="Shape 119"/>
          <p:cNvSpPr/>
          <p:nvPr/>
        </p:nvSpPr>
        <p:spPr>
          <a:xfrm>
            <a:off x="8407908" y="2760433"/>
            <a:ext cx="155448" cy="155448"/>
          </a:xfrm>
          <a:prstGeom prst="ellipse">
            <a:avLst/>
          </a:prstGeom>
          <a:solidFill>
            <a:srgbClr val="12A566"/>
          </a:solidFill>
          <a:ln w="12700">
            <a:solidFill>
              <a:srgbClr val="12A566"/>
            </a:solidFill>
            <a:prstDash val="solid"/>
          </a:ln>
        </p:spPr>
      </p:sp>
      <p:sp>
        <p:nvSpPr>
          <p:cNvPr id="122" name="Shape 120"/>
          <p:cNvSpPr/>
          <p:nvPr/>
        </p:nvSpPr>
        <p:spPr>
          <a:xfrm>
            <a:off x="8993124" y="2760433"/>
            <a:ext cx="155448" cy="155448"/>
          </a:xfrm>
          <a:prstGeom prst="ellipse">
            <a:avLst/>
          </a:prstGeom>
          <a:solidFill>
            <a:srgbClr val="FFFFFF"/>
          </a:solidFill>
          <a:ln w="12700">
            <a:solidFill>
              <a:srgbClr val="9AA3AD"/>
            </a:solidFill>
            <a:prstDash val="solid"/>
          </a:ln>
        </p:spPr>
      </p:sp>
      <p:sp>
        <p:nvSpPr>
          <p:cNvPr id="123" name="Shape 121"/>
          <p:cNvSpPr/>
          <p:nvPr/>
        </p:nvSpPr>
        <p:spPr>
          <a:xfrm>
            <a:off x="9578340" y="2760433"/>
            <a:ext cx="155448" cy="155448"/>
          </a:xfrm>
          <a:prstGeom prst="ellipse">
            <a:avLst/>
          </a:prstGeom>
          <a:solidFill>
            <a:srgbClr val="12A566"/>
          </a:solidFill>
          <a:ln w="12700">
            <a:solidFill>
              <a:srgbClr val="12A566"/>
            </a:solidFill>
            <a:prstDash val="solid"/>
          </a:ln>
        </p:spPr>
      </p:sp>
      <p:sp>
        <p:nvSpPr>
          <p:cNvPr id="124" name="Text 122"/>
          <p:cNvSpPr txBox="1"/>
          <p:nvPr/>
        </p:nvSpPr>
        <p:spPr>
          <a:xfrm>
            <a:off x="9948672"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$2.21M</a:t>
            </a:r>
            <a:endParaRPr lang="en-US" sz="1300" dirty="0"/>
          </a:p>
        </p:txBody>
      </p:sp>
      <p:sp>
        <p:nvSpPr>
          <p:cNvPr id="125" name="Text 123"/>
          <p:cNvSpPr txBox="1"/>
          <p:nvPr/>
        </p:nvSpPr>
        <p:spPr>
          <a:xfrm>
            <a:off x="10789920"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+7.6%</a:t>
            </a:r>
            <a:endParaRPr lang="en-US" sz="1300" dirty="0"/>
          </a:p>
        </p:txBody>
      </p:sp>
      <p:sp>
        <p:nvSpPr>
          <p:cNvPr id="126" name="Text 124"/>
          <p:cNvSpPr txBox="1"/>
          <p:nvPr/>
        </p:nvSpPr>
        <p:spPr>
          <a:xfrm>
            <a:off x="6208776"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7" name="Shape 125"/>
          <p:cNvSpPr/>
          <p:nvPr/>
        </p:nvSpPr>
        <p:spPr>
          <a:xfrm>
            <a:off x="8407908" y="3085397"/>
            <a:ext cx="155448" cy="155448"/>
          </a:xfrm>
          <a:prstGeom prst="ellipse">
            <a:avLst/>
          </a:prstGeom>
          <a:solidFill>
            <a:srgbClr val="FFFFFF"/>
          </a:solidFill>
          <a:ln w="12700">
            <a:solidFill>
              <a:srgbClr val="9AA3AD"/>
            </a:solidFill>
            <a:prstDash val="solid"/>
          </a:ln>
        </p:spPr>
      </p:sp>
      <p:sp>
        <p:nvSpPr>
          <p:cNvPr id="128" name="Shape 126"/>
          <p:cNvSpPr/>
          <p:nvPr/>
        </p:nvSpPr>
        <p:spPr>
          <a:xfrm>
            <a:off x="8993124" y="3085397"/>
            <a:ext cx="155448" cy="155448"/>
          </a:xfrm>
          <a:prstGeom prst="ellipse">
            <a:avLst/>
          </a:prstGeom>
          <a:solidFill>
            <a:srgbClr val="12A566"/>
          </a:solidFill>
          <a:ln w="12700">
            <a:solidFill>
              <a:srgbClr val="12A566"/>
            </a:solidFill>
            <a:prstDash val="solid"/>
          </a:ln>
        </p:spPr>
      </p:sp>
      <p:sp>
        <p:nvSpPr>
          <p:cNvPr id="129" name="Shape 127"/>
          <p:cNvSpPr/>
          <p:nvPr/>
        </p:nvSpPr>
        <p:spPr>
          <a:xfrm>
            <a:off x="9578340" y="3085397"/>
            <a:ext cx="155448" cy="155448"/>
          </a:xfrm>
          <a:prstGeom prst="ellipse">
            <a:avLst/>
          </a:prstGeom>
          <a:solidFill>
            <a:srgbClr val="12A566"/>
          </a:solidFill>
          <a:ln w="12700">
            <a:solidFill>
              <a:srgbClr val="12A566"/>
            </a:solidFill>
            <a:prstDash val="solid"/>
          </a:ln>
        </p:spPr>
      </p:sp>
      <p:sp>
        <p:nvSpPr>
          <p:cNvPr id="130" name="Text 128"/>
          <p:cNvSpPr txBox="1"/>
          <p:nvPr/>
        </p:nvSpPr>
        <p:spPr>
          <a:xfrm>
            <a:off x="9948672"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$9.60M</a:t>
            </a:r>
            <a:endParaRPr lang="en-US" sz="1300" dirty="0"/>
          </a:p>
        </p:txBody>
      </p:sp>
      <p:sp>
        <p:nvSpPr>
          <p:cNvPr id="131" name="Text 129"/>
          <p:cNvSpPr txBox="1"/>
          <p:nvPr/>
        </p:nvSpPr>
        <p:spPr>
          <a:xfrm>
            <a:off x="10789920"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a:t>
            </a:r>
            <a:endParaRPr lang="en-US" sz="1300" dirty="0"/>
          </a:p>
        </p:txBody>
      </p:sp>
      <p:sp>
        <p:nvSpPr>
          <p:cNvPr id="132" name="Shape 130"/>
          <p:cNvSpPr/>
          <p:nvPr/>
        </p:nvSpPr>
        <p:spPr>
          <a:xfrm>
            <a:off x="6135624" y="3325602"/>
            <a:ext cx="5486400" cy="324964"/>
          </a:xfrm>
          <a:prstGeom prst="rect">
            <a:avLst/>
          </a:prstGeom>
          <a:solidFill>
            <a:srgbClr val="F7F7F7"/>
          </a:solidFill>
          <a:ln/>
        </p:spPr>
      </p:sp>
      <p:sp>
        <p:nvSpPr>
          <p:cNvPr id="133" name="Text 131"/>
          <p:cNvSpPr txBox="1"/>
          <p:nvPr/>
        </p:nvSpPr>
        <p:spPr>
          <a:xfrm>
            <a:off x="6208776"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4" name="Shape 132"/>
          <p:cNvSpPr/>
          <p:nvPr/>
        </p:nvSpPr>
        <p:spPr>
          <a:xfrm>
            <a:off x="8407908" y="3410360"/>
            <a:ext cx="155448" cy="155448"/>
          </a:xfrm>
          <a:prstGeom prst="ellipse">
            <a:avLst/>
          </a:prstGeom>
          <a:solidFill>
            <a:srgbClr val="12A566"/>
          </a:solidFill>
          <a:ln w="12700">
            <a:solidFill>
              <a:srgbClr val="12A566"/>
            </a:solidFill>
            <a:prstDash val="solid"/>
          </a:ln>
        </p:spPr>
      </p:sp>
      <p:sp>
        <p:nvSpPr>
          <p:cNvPr id="135" name="Shape 133"/>
          <p:cNvSpPr/>
          <p:nvPr/>
        </p:nvSpPr>
        <p:spPr>
          <a:xfrm>
            <a:off x="8993124" y="3410360"/>
            <a:ext cx="155448" cy="155448"/>
          </a:xfrm>
          <a:prstGeom prst="ellipse">
            <a:avLst/>
          </a:prstGeom>
          <a:solidFill>
            <a:srgbClr val="FFFFFF"/>
          </a:solidFill>
          <a:ln w="12700">
            <a:solidFill>
              <a:srgbClr val="9AA3AD"/>
            </a:solidFill>
            <a:prstDash val="solid"/>
          </a:ln>
        </p:spPr>
      </p:sp>
      <p:sp>
        <p:nvSpPr>
          <p:cNvPr id="136" name="Shape 134"/>
          <p:cNvSpPr/>
          <p:nvPr/>
        </p:nvSpPr>
        <p:spPr>
          <a:xfrm>
            <a:off x="9578340" y="3410360"/>
            <a:ext cx="155448" cy="155448"/>
          </a:xfrm>
          <a:prstGeom prst="ellipse">
            <a:avLst/>
          </a:prstGeom>
          <a:solidFill>
            <a:srgbClr val="12A566"/>
          </a:solidFill>
          <a:ln w="12700">
            <a:solidFill>
              <a:srgbClr val="12A566"/>
            </a:solidFill>
            <a:prstDash val="solid"/>
          </a:ln>
        </p:spPr>
      </p:sp>
      <p:sp>
        <p:nvSpPr>
          <p:cNvPr id="137" name="Text 135"/>
          <p:cNvSpPr txBox="1"/>
          <p:nvPr/>
        </p:nvSpPr>
        <p:spPr>
          <a:xfrm>
            <a:off x="9948672"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$2.29M</a:t>
            </a:r>
            <a:endParaRPr lang="en-US" sz="1300" dirty="0"/>
          </a:p>
        </p:txBody>
      </p:sp>
      <p:sp>
        <p:nvSpPr>
          <p:cNvPr id="138" name="Text 136"/>
          <p:cNvSpPr txBox="1"/>
          <p:nvPr/>
        </p:nvSpPr>
        <p:spPr>
          <a:xfrm>
            <a:off x="10789920"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+4.0%</a:t>
            </a:r>
            <a:endParaRPr lang="en-US" sz="1300" dirty="0"/>
          </a:p>
        </p:txBody>
      </p:sp>
      <p:sp>
        <p:nvSpPr>
          <p:cNvPr id="139" name="Text 137"/>
          <p:cNvSpPr txBox="1"/>
          <p:nvPr/>
        </p:nvSpPr>
        <p:spPr>
          <a:xfrm>
            <a:off x="6208776"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40" name="Shape 138"/>
          <p:cNvSpPr/>
          <p:nvPr/>
        </p:nvSpPr>
        <p:spPr>
          <a:xfrm>
            <a:off x="8407908" y="3735324"/>
            <a:ext cx="155448" cy="155448"/>
          </a:xfrm>
          <a:prstGeom prst="ellipse">
            <a:avLst/>
          </a:prstGeom>
          <a:solidFill>
            <a:srgbClr val="12A566"/>
          </a:solidFill>
          <a:ln w="12700">
            <a:solidFill>
              <a:srgbClr val="12A566"/>
            </a:solidFill>
            <a:prstDash val="solid"/>
          </a:ln>
        </p:spPr>
      </p:sp>
      <p:sp>
        <p:nvSpPr>
          <p:cNvPr id="141" name="Shape 139"/>
          <p:cNvSpPr/>
          <p:nvPr/>
        </p:nvSpPr>
        <p:spPr>
          <a:xfrm>
            <a:off x="8993124" y="3735324"/>
            <a:ext cx="155448" cy="155448"/>
          </a:xfrm>
          <a:prstGeom prst="ellipse">
            <a:avLst/>
          </a:prstGeom>
          <a:solidFill>
            <a:srgbClr val="FFFFFF"/>
          </a:solidFill>
          <a:ln w="12700">
            <a:solidFill>
              <a:srgbClr val="9AA3AD"/>
            </a:solidFill>
            <a:prstDash val="solid"/>
          </a:ln>
        </p:spPr>
      </p:sp>
      <p:sp>
        <p:nvSpPr>
          <p:cNvPr id="142" name="Shape 140"/>
          <p:cNvSpPr/>
          <p:nvPr/>
        </p:nvSpPr>
        <p:spPr>
          <a:xfrm>
            <a:off x="9578340" y="3735324"/>
            <a:ext cx="155448" cy="155448"/>
          </a:xfrm>
          <a:prstGeom prst="ellipse">
            <a:avLst/>
          </a:prstGeom>
          <a:solidFill>
            <a:srgbClr val="12A566"/>
          </a:solidFill>
          <a:ln w="12700">
            <a:solidFill>
              <a:srgbClr val="12A566"/>
            </a:solidFill>
            <a:prstDash val="solid"/>
          </a:ln>
        </p:spPr>
      </p:sp>
      <p:sp>
        <p:nvSpPr>
          <p:cNvPr id="143" name="Text 141"/>
          <p:cNvSpPr txBox="1"/>
          <p:nvPr/>
        </p:nvSpPr>
        <p:spPr>
          <a:xfrm>
            <a:off x="9948672"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$6.61M</a:t>
            </a:r>
            <a:endParaRPr lang="en-US" sz="1300" dirty="0"/>
          </a:p>
        </p:txBody>
      </p:sp>
      <p:sp>
        <p:nvSpPr>
          <p:cNvPr id="144" name="Text 142"/>
          <p:cNvSpPr txBox="1"/>
          <p:nvPr/>
        </p:nvSpPr>
        <p:spPr>
          <a:xfrm>
            <a:off x="10789920"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45" name="Shape 143"/>
          <p:cNvSpPr/>
          <p:nvPr/>
        </p:nvSpPr>
        <p:spPr>
          <a:xfrm>
            <a:off x="6135624" y="3975530"/>
            <a:ext cx="5486400" cy="324964"/>
          </a:xfrm>
          <a:prstGeom prst="rect">
            <a:avLst/>
          </a:prstGeom>
          <a:solidFill>
            <a:srgbClr val="F7F7F7"/>
          </a:solidFill>
          <a:ln/>
        </p:spPr>
      </p:sp>
      <p:sp>
        <p:nvSpPr>
          <p:cNvPr id="146" name="Text 144"/>
          <p:cNvSpPr txBox="1"/>
          <p:nvPr/>
        </p:nvSpPr>
        <p:spPr>
          <a:xfrm>
            <a:off x="6208776"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7" name="Shape 145"/>
          <p:cNvSpPr/>
          <p:nvPr/>
        </p:nvSpPr>
        <p:spPr>
          <a:xfrm>
            <a:off x="8407908" y="4060288"/>
            <a:ext cx="155448" cy="155448"/>
          </a:xfrm>
          <a:prstGeom prst="ellipse">
            <a:avLst/>
          </a:prstGeom>
          <a:solidFill>
            <a:srgbClr val="12A566"/>
          </a:solidFill>
          <a:ln w="12700">
            <a:solidFill>
              <a:srgbClr val="12A566"/>
            </a:solidFill>
            <a:prstDash val="solid"/>
          </a:ln>
        </p:spPr>
      </p:sp>
      <p:sp>
        <p:nvSpPr>
          <p:cNvPr id="148" name="Shape 146"/>
          <p:cNvSpPr/>
          <p:nvPr/>
        </p:nvSpPr>
        <p:spPr>
          <a:xfrm>
            <a:off x="8993124" y="4060288"/>
            <a:ext cx="155448" cy="155448"/>
          </a:xfrm>
          <a:prstGeom prst="ellipse">
            <a:avLst/>
          </a:prstGeom>
          <a:solidFill>
            <a:srgbClr val="FFFFFF"/>
          </a:solidFill>
          <a:ln w="12700">
            <a:solidFill>
              <a:srgbClr val="9AA3AD"/>
            </a:solidFill>
            <a:prstDash val="solid"/>
          </a:ln>
        </p:spPr>
      </p:sp>
      <p:sp>
        <p:nvSpPr>
          <p:cNvPr id="149" name="Shape 147"/>
          <p:cNvSpPr/>
          <p:nvPr/>
        </p:nvSpPr>
        <p:spPr>
          <a:xfrm>
            <a:off x="9578340" y="4060288"/>
            <a:ext cx="155448" cy="155448"/>
          </a:xfrm>
          <a:prstGeom prst="ellipse">
            <a:avLst/>
          </a:prstGeom>
          <a:solidFill>
            <a:srgbClr val="12A566"/>
          </a:solidFill>
          <a:ln w="12700">
            <a:solidFill>
              <a:srgbClr val="12A566"/>
            </a:solidFill>
            <a:prstDash val="solid"/>
          </a:ln>
        </p:spPr>
      </p:sp>
      <p:sp>
        <p:nvSpPr>
          <p:cNvPr id="150" name="Text 148"/>
          <p:cNvSpPr txBox="1"/>
          <p:nvPr/>
        </p:nvSpPr>
        <p:spPr>
          <a:xfrm>
            <a:off x="9948672"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$6.15M</a:t>
            </a:r>
            <a:endParaRPr lang="en-US" sz="1300" dirty="0"/>
          </a:p>
        </p:txBody>
      </p:sp>
      <p:sp>
        <p:nvSpPr>
          <p:cNvPr id="151" name="Text 149"/>
          <p:cNvSpPr txBox="1"/>
          <p:nvPr/>
        </p:nvSpPr>
        <p:spPr>
          <a:xfrm>
            <a:off x="10789920"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52" name="Text 150"/>
          <p:cNvSpPr txBox="1"/>
          <p:nvPr/>
        </p:nvSpPr>
        <p:spPr>
          <a:xfrm>
            <a:off x="6208776"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407908" y="4385251"/>
            <a:ext cx="155448" cy="155448"/>
          </a:xfrm>
          <a:prstGeom prst="ellipse">
            <a:avLst/>
          </a:prstGeom>
          <a:solidFill>
            <a:srgbClr val="FFFFFF"/>
          </a:solidFill>
          <a:ln w="12700">
            <a:solidFill>
              <a:srgbClr val="9AA3AD"/>
            </a:solidFill>
            <a:prstDash val="solid"/>
          </a:ln>
        </p:spPr>
      </p:sp>
      <p:sp>
        <p:nvSpPr>
          <p:cNvPr id="154" name="Shape 152"/>
          <p:cNvSpPr/>
          <p:nvPr/>
        </p:nvSpPr>
        <p:spPr>
          <a:xfrm>
            <a:off x="8993124" y="4385251"/>
            <a:ext cx="155448" cy="155448"/>
          </a:xfrm>
          <a:prstGeom prst="ellipse">
            <a:avLst/>
          </a:prstGeom>
          <a:solidFill>
            <a:srgbClr val="12A566"/>
          </a:solidFill>
          <a:ln w="12700">
            <a:solidFill>
              <a:srgbClr val="12A566"/>
            </a:solidFill>
            <a:prstDash val="solid"/>
          </a:ln>
        </p:spPr>
      </p:sp>
      <p:sp>
        <p:nvSpPr>
          <p:cNvPr id="155" name="Shape 153"/>
          <p:cNvSpPr/>
          <p:nvPr/>
        </p:nvSpPr>
        <p:spPr>
          <a:xfrm>
            <a:off x="9578340" y="4385251"/>
            <a:ext cx="155448" cy="155448"/>
          </a:xfrm>
          <a:prstGeom prst="ellipse">
            <a:avLst/>
          </a:prstGeom>
          <a:solidFill>
            <a:srgbClr val="12A566"/>
          </a:solidFill>
          <a:ln w="12700">
            <a:solidFill>
              <a:srgbClr val="12A566"/>
            </a:solidFill>
            <a:prstDash val="solid"/>
          </a:ln>
        </p:spPr>
      </p:sp>
      <p:sp>
        <p:nvSpPr>
          <p:cNvPr id="156" name="Text 154"/>
          <p:cNvSpPr txBox="1"/>
          <p:nvPr/>
        </p:nvSpPr>
        <p:spPr>
          <a:xfrm>
            <a:off x="9948672"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$2.42M</a:t>
            </a:r>
            <a:endParaRPr lang="en-US" sz="1300" dirty="0"/>
          </a:p>
        </p:txBody>
      </p:sp>
      <p:sp>
        <p:nvSpPr>
          <p:cNvPr id="157" name="Text 155"/>
          <p:cNvSpPr txBox="1"/>
          <p:nvPr/>
        </p:nvSpPr>
        <p:spPr>
          <a:xfrm>
            <a:off x="10789920"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a:t>
            </a:r>
            <a:endParaRPr lang="en-US" sz="1300" dirty="0"/>
          </a:p>
        </p:txBody>
      </p:sp>
      <p:sp>
        <p:nvSpPr>
          <p:cNvPr id="158" name="Shape 156"/>
          <p:cNvSpPr/>
          <p:nvPr/>
        </p:nvSpPr>
        <p:spPr>
          <a:xfrm>
            <a:off x="6135624" y="4625457"/>
            <a:ext cx="5486400" cy="324964"/>
          </a:xfrm>
          <a:prstGeom prst="rect">
            <a:avLst/>
          </a:prstGeom>
          <a:solidFill>
            <a:srgbClr val="F7F7F7"/>
          </a:solidFill>
          <a:ln/>
        </p:spPr>
      </p:sp>
      <p:sp>
        <p:nvSpPr>
          <p:cNvPr id="159" name="Text 157"/>
          <p:cNvSpPr txBox="1"/>
          <p:nvPr/>
        </p:nvSpPr>
        <p:spPr>
          <a:xfrm>
            <a:off x="6208776"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60" name="Shape 158"/>
          <p:cNvSpPr/>
          <p:nvPr/>
        </p:nvSpPr>
        <p:spPr>
          <a:xfrm>
            <a:off x="8407908" y="4710215"/>
            <a:ext cx="155448" cy="155448"/>
          </a:xfrm>
          <a:prstGeom prst="ellipse">
            <a:avLst/>
          </a:prstGeom>
          <a:solidFill>
            <a:srgbClr val="12A566"/>
          </a:solidFill>
          <a:ln w="12700">
            <a:solidFill>
              <a:srgbClr val="12A566"/>
            </a:solidFill>
            <a:prstDash val="solid"/>
          </a:ln>
        </p:spPr>
      </p:sp>
      <p:sp>
        <p:nvSpPr>
          <p:cNvPr id="161" name="Shape 159"/>
          <p:cNvSpPr/>
          <p:nvPr/>
        </p:nvSpPr>
        <p:spPr>
          <a:xfrm>
            <a:off x="8993124" y="4710215"/>
            <a:ext cx="155448" cy="155448"/>
          </a:xfrm>
          <a:prstGeom prst="ellipse">
            <a:avLst/>
          </a:prstGeom>
          <a:solidFill>
            <a:srgbClr val="FFFFFF"/>
          </a:solidFill>
          <a:ln w="12700">
            <a:solidFill>
              <a:srgbClr val="9AA3AD"/>
            </a:solidFill>
            <a:prstDash val="solid"/>
          </a:ln>
        </p:spPr>
      </p:sp>
      <p:sp>
        <p:nvSpPr>
          <p:cNvPr id="162" name="Shape 160"/>
          <p:cNvSpPr/>
          <p:nvPr/>
        </p:nvSpPr>
        <p:spPr>
          <a:xfrm>
            <a:off x="9578340" y="4710215"/>
            <a:ext cx="155448" cy="155448"/>
          </a:xfrm>
          <a:prstGeom prst="ellipse">
            <a:avLst/>
          </a:prstGeom>
          <a:solidFill>
            <a:srgbClr val="12A566"/>
          </a:solidFill>
          <a:ln w="12700">
            <a:solidFill>
              <a:srgbClr val="12A566"/>
            </a:solidFill>
            <a:prstDash val="solid"/>
          </a:ln>
        </p:spPr>
      </p:sp>
      <p:sp>
        <p:nvSpPr>
          <p:cNvPr id="163" name="Text 161"/>
          <p:cNvSpPr txBox="1"/>
          <p:nvPr/>
        </p:nvSpPr>
        <p:spPr>
          <a:xfrm>
            <a:off x="9948672"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$3.91M</a:t>
            </a:r>
            <a:endParaRPr lang="en-US" sz="1300" dirty="0"/>
          </a:p>
        </p:txBody>
      </p:sp>
      <p:sp>
        <p:nvSpPr>
          <p:cNvPr id="164" name="Text 162"/>
          <p:cNvSpPr txBox="1"/>
          <p:nvPr/>
        </p:nvSpPr>
        <p:spPr>
          <a:xfrm>
            <a:off x="10789920"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a:t>
            </a:r>
            <a:endParaRPr lang="en-US" sz="1300" dirty="0"/>
          </a:p>
        </p:txBody>
      </p:sp>
      <p:sp>
        <p:nvSpPr>
          <p:cNvPr id="165" name="Text 163"/>
          <p:cNvSpPr txBox="1"/>
          <p:nvPr/>
        </p:nvSpPr>
        <p:spPr>
          <a:xfrm>
            <a:off x="6208776"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6" name="Shape 164"/>
          <p:cNvSpPr/>
          <p:nvPr/>
        </p:nvSpPr>
        <p:spPr>
          <a:xfrm>
            <a:off x="8407908" y="5035179"/>
            <a:ext cx="155448" cy="155448"/>
          </a:xfrm>
          <a:prstGeom prst="ellipse">
            <a:avLst/>
          </a:prstGeom>
          <a:solidFill>
            <a:srgbClr val="FFFFFF"/>
          </a:solidFill>
          <a:ln w="12700">
            <a:solidFill>
              <a:srgbClr val="9AA3AD"/>
            </a:solidFill>
            <a:prstDash val="solid"/>
          </a:ln>
        </p:spPr>
      </p:sp>
      <p:sp>
        <p:nvSpPr>
          <p:cNvPr id="167" name="Shape 165"/>
          <p:cNvSpPr/>
          <p:nvPr/>
        </p:nvSpPr>
        <p:spPr>
          <a:xfrm>
            <a:off x="8993124" y="5035179"/>
            <a:ext cx="155448" cy="155448"/>
          </a:xfrm>
          <a:prstGeom prst="ellipse">
            <a:avLst/>
          </a:prstGeom>
          <a:solidFill>
            <a:srgbClr val="12A566"/>
          </a:solidFill>
          <a:ln w="12700">
            <a:solidFill>
              <a:srgbClr val="12A566"/>
            </a:solidFill>
            <a:prstDash val="solid"/>
          </a:ln>
        </p:spPr>
      </p:sp>
      <p:sp>
        <p:nvSpPr>
          <p:cNvPr id="168" name="Shape 166"/>
          <p:cNvSpPr/>
          <p:nvPr/>
        </p:nvSpPr>
        <p:spPr>
          <a:xfrm>
            <a:off x="9578340" y="5035179"/>
            <a:ext cx="155448" cy="155448"/>
          </a:xfrm>
          <a:prstGeom prst="ellipse">
            <a:avLst/>
          </a:prstGeom>
          <a:solidFill>
            <a:srgbClr val="12A566"/>
          </a:solidFill>
          <a:ln w="12700">
            <a:solidFill>
              <a:srgbClr val="12A566"/>
            </a:solidFill>
            <a:prstDash val="solid"/>
          </a:ln>
        </p:spPr>
      </p:sp>
      <p:sp>
        <p:nvSpPr>
          <p:cNvPr id="169" name="Text 167"/>
          <p:cNvSpPr txBox="1"/>
          <p:nvPr/>
        </p:nvSpPr>
        <p:spPr>
          <a:xfrm>
            <a:off x="9948672"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$1.59M</a:t>
            </a:r>
            <a:endParaRPr lang="en-US" sz="1300" dirty="0"/>
          </a:p>
        </p:txBody>
      </p:sp>
      <p:sp>
        <p:nvSpPr>
          <p:cNvPr id="170" name="Text 168"/>
          <p:cNvSpPr txBox="1"/>
          <p:nvPr/>
        </p:nvSpPr>
        <p:spPr>
          <a:xfrm>
            <a:off x="10789920"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a:t>
            </a:r>
            <a:endParaRPr lang="en-US" sz="1300" dirty="0"/>
          </a:p>
        </p:txBody>
      </p:sp>
      <p:sp>
        <p:nvSpPr>
          <p:cNvPr id="171" name="Shape 169"/>
          <p:cNvSpPr/>
          <p:nvPr/>
        </p:nvSpPr>
        <p:spPr>
          <a:xfrm>
            <a:off x="6135624" y="5275385"/>
            <a:ext cx="5486400" cy="324964"/>
          </a:xfrm>
          <a:prstGeom prst="rect">
            <a:avLst/>
          </a:prstGeom>
          <a:solidFill>
            <a:srgbClr val="F7F7F7"/>
          </a:solidFill>
          <a:ln/>
        </p:spPr>
      </p:sp>
      <p:sp>
        <p:nvSpPr>
          <p:cNvPr id="172" name="Text 170"/>
          <p:cNvSpPr txBox="1"/>
          <p:nvPr/>
        </p:nvSpPr>
        <p:spPr>
          <a:xfrm>
            <a:off x="6208776"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73" name="Shape 171"/>
          <p:cNvSpPr/>
          <p:nvPr/>
        </p:nvSpPr>
        <p:spPr>
          <a:xfrm>
            <a:off x="8407908" y="5360142"/>
            <a:ext cx="155448" cy="155448"/>
          </a:xfrm>
          <a:prstGeom prst="ellipse">
            <a:avLst/>
          </a:prstGeom>
          <a:solidFill>
            <a:srgbClr val="12A566"/>
          </a:solidFill>
          <a:ln w="12700">
            <a:solidFill>
              <a:srgbClr val="12A566"/>
            </a:solidFill>
            <a:prstDash val="solid"/>
          </a:ln>
        </p:spPr>
      </p:sp>
      <p:sp>
        <p:nvSpPr>
          <p:cNvPr id="174" name="Shape 172"/>
          <p:cNvSpPr/>
          <p:nvPr/>
        </p:nvSpPr>
        <p:spPr>
          <a:xfrm>
            <a:off x="8993124" y="5360142"/>
            <a:ext cx="155448" cy="155448"/>
          </a:xfrm>
          <a:prstGeom prst="ellipse">
            <a:avLst/>
          </a:prstGeom>
          <a:solidFill>
            <a:srgbClr val="FFFFFF"/>
          </a:solidFill>
          <a:ln w="12700">
            <a:solidFill>
              <a:srgbClr val="9AA3AD"/>
            </a:solidFill>
            <a:prstDash val="solid"/>
          </a:ln>
        </p:spPr>
      </p:sp>
      <p:sp>
        <p:nvSpPr>
          <p:cNvPr id="175" name="Shape 173"/>
          <p:cNvSpPr/>
          <p:nvPr/>
        </p:nvSpPr>
        <p:spPr>
          <a:xfrm>
            <a:off x="9578340" y="5360142"/>
            <a:ext cx="155448" cy="155448"/>
          </a:xfrm>
          <a:prstGeom prst="ellipse">
            <a:avLst/>
          </a:prstGeom>
          <a:solidFill>
            <a:srgbClr val="12A566"/>
          </a:solidFill>
          <a:ln w="12700">
            <a:solidFill>
              <a:srgbClr val="12A566"/>
            </a:solidFill>
            <a:prstDash val="solid"/>
          </a:ln>
        </p:spPr>
      </p:sp>
      <p:sp>
        <p:nvSpPr>
          <p:cNvPr id="176" name="Text 174"/>
          <p:cNvSpPr txBox="1"/>
          <p:nvPr/>
        </p:nvSpPr>
        <p:spPr>
          <a:xfrm>
            <a:off x="9948672"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$4.53M</a:t>
            </a:r>
            <a:endParaRPr lang="en-US" sz="1300" dirty="0"/>
          </a:p>
        </p:txBody>
      </p:sp>
      <p:sp>
        <p:nvSpPr>
          <p:cNvPr id="177" name="Text 175"/>
          <p:cNvSpPr txBox="1"/>
          <p:nvPr/>
        </p:nvSpPr>
        <p:spPr>
          <a:xfrm>
            <a:off x="10789920"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+0.8%</a:t>
            </a:r>
            <a:endParaRPr lang="en-US" sz="1300" dirty="0"/>
          </a:p>
        </p:txBody>
      </p:sp>
      <p:sp>
        <p:nvSpPr>
          <p:cNvPr id="178" name="Shape 176"/>
          <p:cNvSpPr/>
          <p:nvPr/>
        </p:nvSpPr>
        <p:spPr>
          <a:xfrm>
            <a:off x="457200" y="6126480"/>
            <a:ext cx="11274552" cy="371856"/>
          </a:xfrm>
          <a:prstGeom prst="rect">
            <a:avLst/>
          </a:prstGeom>
          <a:solidFill>
            <a:srgbClr val="E6F6EE"/>
          </a:solidFill>
          <a:ln/>
        </p:spPr>
      </p:sp>
      <p:sp>
        <p:nvSpPr>
          <p:cNvPr id="179" name="Text 17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set a January–September record; 13 set it in service, parts and total.</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HYUNDAI PRESCOTT</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+35.7%</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$1.54M vs $1.13M, the previous best (2025).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+31.6%</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+16.0%</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Hyundai Prescott, Lincoln, Lexus and Audi Henderson beat their previous best by the most in percentage terms.</a:t>
            </a:r>
            <a:endParaRPr lang="en-US" sz="145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TOYOTA HENDERSON</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+$1.77M</a:t>
            </a:r>
            <a:endParaRPr lang="en-US" sz="32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$22.59M vs $20.82M, the previous best (2025); +8.5%.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+$1.70M</a:t>
            </a:r>
            <a:endParaRPr lang="en-US" sz="32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 +16.0%.</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+$0.76M</a:t>
            </a:r>
            <a:endParaRPr lang="en-US" sz="32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 +22.5%.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+$0.72M</a:t>
            </a:r>
            <a:endParaRPr lang="en-US" sz="32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 +31.6%.</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64236"/>
          </a:xfrm>
          <a:prstGeom prst="rect">
            <a:avLst/>
          </a:prstGeom>
          <a:solidFill>
            <a:srgbClr val="E6F6EE"/>
          </a:solidFill>
          <a:ln/>
        </p:spPr>
      </p:sp>
      <p:sp>
        <p:nvSpPr>
          <p:cNvPr id="28" name="Text 2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Toyota Henderson, Audi Henderson, Lexus and Lincoln beat their previous best by the most in dollars.</a:t>
            </a:r>
            <a:endParaRPr lang="en-US" sz="155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10369296"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8" name="Text 6"/>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 name="Shape 7"/>
          <p:cNvSpPr/>
          <p:nvPr/>
        </p:nvSpPr>
        <p:spPr>
          <a:xfrm>
            <a:off x="2670048" y="1779994"/>
            <a:ext cx="2093976" cy="193624"/>
          </a:xfrm>
          <a:prstGeom prst="rect">
            <a:avLst/>
          </a:prstGeom>
          <a:solidFill>
            <a:srgbClr val="12A566"/>
          </a:solidFill>
          <a:ln/>
        </p:spPr>
      </p:sp>
      <p:sp>
        <p:nvSpPr>
          <p:cNvPr id="10" name="Text 8"/>
          <p:cNvSpPr txBox="1"/>
          <p:nvPr/>
        </p:nvSpPr>
        <p:spPr>
          <a:xfrm>
            <a:off x="4818888"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 name="Text 9"/>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 name="Shape 10"/>
          <p:cNvSpPr/>
          <p:nvPr/>
        </p:nvSpPr>
        <p:spPr>
          <a:xfrm>
            <a:off x="2670048" y="2132038"/>
            <a:ext cx="2093976" cy="193624"/>
          </a:xfrm>
          <a:prstGeom prst="rect">
            <a:avLst/>
          </a:prstGeom>
          <a:solidFill>
            <a:srgbClr val="12A566"/>
          </a:solidFill>
          <a:ln/>
        </p:spPr>
      </p:sp>
      <p:sp>
        <p:nvSpPr>
          <p:cNvPr id="13" name="Text 11"/>
          <p:cNvSpPr txBox="1"/>
          <p:nvPr/>
        </p:nvSpPr>
        <p:spPr>
          <a:xfrm>
            <a:off x="4818888"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 name="Text 12"/>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 name="Shape 13"/>
          <p:cNvSpPr/>
          <p:nvPr/>
        </p:nvSpPr>
        <p:spPr>
          <a:xfrm>
            <a:off x="2670048" y="2484082"/>
            <a:ext cx="1861312" cy="193624"/>
          </a:xfrm>
          <a:prstGeom prst="rect">
            <a:avLst/>
          </a:prstGeom>
          <a:solidFill>
            <a:srgbClr val="12A566"/>
          </a:solidFill>
          <a:ln/>
        </p:spPr>
      </p:sp>
      <p:sp>
        <p:nvSpPr>
          <p:cNvPr id="16" name="Text 14"/>
          <p:cNvSpPr txBox="1"/>
          <p:nvPr/>
        </p:nvSpPr>
        <p:spPr>
          <a:xfrm>
            <a:off x="4818888"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7" name="Text 15"/>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836126"/>
            <a:ext cx="1628648" cy="193624"/>
          </a:xfrm>
          <a:prstGeom prst="rect">
            <a:avLst/>
          </a:prstGeom>
          <a:solidFill>
            <a:srgbClr val="12A566"/>
          </a:solidFill>
          <a:ln/>
        </p:spPr>
      </p:sp>
      <p:sp>
        <p:nvSpPr>
          <p:cNvPr id="19" name="Text 17"/>
          <p:cNvSpPr txBox="1"/>
          <p:nvPr/>
        </p:nvSpPr>
        <p:spPr>
          <a:xfrm>
            <a:off x="4818888"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0" name="Text 18"/>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670048" y="3188170"/>
            <a:ext cx="1628648" cy="193624"/>
          </a:xfrm>
          <a:prstGeom prst="rect">
            <a:avLst/>
          </a:prstGeom>
          <a:solidFill>
            <a:srgbClr val="12A566"/>
          </a:solidFill>
          <a:ln/>
        </p:spPr>
      </p:sp>
      <p:sp>
        <p:nvSpPr>
          <p:cNvPr id="22" name="Text 20"/>
          <p:cNvSpPr txBox="1"/>
          <p:nvPr/>
        </p:nvSpPr>
        <p:spPr>
          <a:xfrm>
            <a:off x="4818888"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3" name="Text 21"/>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2670048" y="3540214"/>
            <a:ext cx="1395984" cy="193624"/>
          </a:xfrm>
          <a:prstGeom prst="rect">
            <a:avLst/>
          </a:prstGeom>
          <a:solidFill>
            <a:srgbClr val="12A566"/>
          </a:solidFill>
          <a:ln/>
        </p:spPr>
      </p:sp>
      <p:sp>
        <p:nvSpPr>
          <p:cNvPr id="25" name="Text 23"/>
          <p:cNvSpPr txBox="1"/>
          <p:nvPr/>
        </p:nvSpPr>
        <p:spPr>
          <a:xfrm>
            <a:off x="4818888"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7" name="Shape 25"/>
          <p:cNvSpPr/>
          <p:nvPr/>
        </p:nvSpPr>
        <p:spPr>
          <a:xfrm>
            <a:off x="2670048" y="3892258"/>
            <a:ext cx="1395984" cy="193624"/>
          </a:xfrm>
          <a:prstGeom prst="rect">
            <a:avLst/>
          </a:prstGeom>
          <a:solidFill>
            <a:srgbClr val="12A566"/>
          </a:solidFill>
          <a:ln/>
        </p:spPr>
      </p:sp>
      <p:sp>
        <p:nvSpPr>
          <p:cNvPr id="28" name="Text 26"/>
          <p:cNvSpPr txBox="1"/>
          <p:nvPr/>
        </p:nvSpPr>
        <p:spPr>
          <a:xfrm>
            <a:off x="4818888"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0" name="Shape 28"/>
          <p:cNvSpPr/>
          <p:nvPr/>
        </p:nvSpPr>
        <p:spPr>
          <a:xfrm>
            <a:off x="2670048" y="4244302"/>
            <a:ext cx="1163320" cy="193624"/>
          </a:xfrm>
          <a:prstGeom prst="rect">
            <a:avLst/>
          </a:prstGeom>
          <a:solidFill>
            <a:srgbClr val="12A566"/>
          </a:solidFill>
          <a:ln/>
        </p:spPr>
      </p:sp>
      <p:sp>
        <p:nvSpPr>
          <p:cNvPr id="31" name="Text 29"/>
          <p:cNvSpPr txBox="1"/>
          <p:nvPr/>
        </p:nvSpPr>
        <p:spPr>
          <a:xfrm>
            <a:off x="4818888"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2" name="Text 30"/>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4596346"/>
            <a:ext cx="930656" cy="193624"/>
          </a:xfrm>
          <a:prstGeom prst="rect">
            <a:avLst/>
          </a:prstGeom>
          <a:solidFill>
            <a:srgbClr val="12A566"/>
          </a:solidFill>
          <a:ln/>
        </p:spPr>
      </p:sp>
      <p:sp>
        <p:nvSpPr>
          <p:cNvPr id="34" name="Text 32"/>
          <p:cNvSpPr txBox="1"/>
          <p:nvPr/>
        </p:nvSpPr>
        <p:spPr>
          <a:xfrm>
            <a:off x="4818888"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5" name="Text 33"/>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6" name="Shape 34"/>
          <p:cNvSpPr/>
          <p:nvPr/>
        </p:nvSpPr>
        <p:spPr>
          <a:xfrm>
            <a:off x="2670048" y="4948390"/>
            <a:ext cx="930656" cy="193624"/>
          </a:xfrm>
          <a:prstGeom prst="rect">
            <a:avLst/>
          </a:prstGeom>
          <a:solidFill>
            <a:srgbClr val="12A566"/>
          </a:solidFill>
          <a:ln/>
        </p:spPr>
      </p:sp>
      <p:sp>
        <p:nvSpPr>
          <p:cNvPr id="37" name="Text 35"/>
          <p:cNvSpPr txBox="1"/>
          <p:nvPr/>
        </p:nvSpPr>
        <p:spPr>
          <a:xfrm>
            <a:off x="4818888"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8" name="Text 36"/>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9" name="Shape 37"/>
          <p:cNvSpPr/>
          <p:nvPr/>
        </p:nvSpPr>
        <p:spPr>
          <a:xfrm>
            <a:off x="2670048" y="5300434"/>
            <a:ext cx="930656" cy="193624"/>
          </a:xfrm>
          <a:prstGeom prst="rect">
            <a:avLst/>
          </a:prstGeom>
          <a:solidFill>
            <a:srgbClr val="12A566"/>
          </a:solidFill>
          <a:ln/>
        </p:spPr>
      </p:sp>
      <p:sp>
        <p:nvSpPr>
          <p:cNvPr id="40" name="Text 38"/>
          <p:cNvSpPr txBox="1"/>
          <p:nvPr/>
        </p:nvSpPr>
        <p:spPr>
          <a:xfrm>
            <a:off x="4818888"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2" name="Shape 40"/>
          <p:cNvSpPr/>
          <p:nvPr/>
        </p:nvSpPr>
        <p:spPr>
          <a:xfrm>
            <a:off x="2670048" y="5652478"/>
            <a:ext cx="930656" cy="193624"/>
          </a:xfrm>
          <a:prstGeom prst="rect">
            <a:avLst/>
          </a:prstGeom>
          <a:solidFill>
            <a:srgbClr val="12A566"/>
          </a:solidFill>
          <a:ln/>
        </p:spPr>
      </p:sp>
      <p:sp>
        <p:nvSpPr>
          <p:cNvPr id="43" name="Text 41"/>
          <p:cNvSpPr txBox="1"/>
          <p:nvPr/>
        </p:nvSpPr>
        <p:spPr>
          <a:xfrm>
            <a:off x="4818888" y="557326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4" name="Text 42"/>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8220456" y="1779994"/>
            <a:ext cx="930656" cy="193624"/>
          </a:xfrm>
          <a:prstGeom prst="rect">
            <a:avLst/>
          </a:prstGeom>
          <a:solidFill>
            <a:srgbClr val="12A566"/>
          </a:solidFill>
          <a:ln/>
        </p:spPr>
      </p:sp>
      <p:sp>
        <p:nvSpPr>
          <p:cNvPr id="46" name="Text 44"/>
          <p:cNvSpPr txBox="1"/>
          <p:nvPr/>
        </p:nvSpPr>
        <p:spPr>
          <a:xfrm>
            <a:off x="10369296"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7" name="Text 45"/>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8220456" y="2132038"/>
            <a:ext cx="930656" cy="193624"/>
          </a:xfrm>
          <a:prstGeom prst="rect">
            <a:avLst/>
          </a:prstGeom>
          <a:solidFill>
            <a:srgbClr val="12A566"/>
          </a:solidFill>
          <a:ln/>
        </p:spPr>
      </p:sp>
      <p:sp>
        <p:nvSpPr>
          <p:cNvPr id="49" name="Text 47"/>
          <p:cNvSpPr txBox="1"/>
          <p:nvPr/>
        </p:nvSpPr>
        <p:spPr>
          <a:xfrm>
            <a:off x="10369296"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0" name="Text 48"/>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8220456" y="2484082"/>
            <a:ext cx="697992" cy="193624"/>
          </a:xfrm>
          <a:prstGeom prst="rect">
            <a:avLst/>
          </a:prstGeom>
          <a:solidFill>
            <a:srgbClr val="12A566"/>
          </a:solidFill>
          <a:ln/>
        </p:spPr>
      </p:sp>
      <p:sp>
        <p:nvSpPr>
          <p:cNvPr id="52" name="Text 50"/>
          <p:cNvSpPr txBox="1"/>
          <p:nvPr/>
        </p:nvSpPr>
        <p:spPr>
          <a:xfrm>
            <a:off x="10369296"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53" name="Text 51"/>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54" name="Shape 52"/>
          <p:cNvSpPr/>
          <p:nvPr/>
        </p:nvSpPr>
        <p:spPr>
          <a:xfrm>
            <a:off x="8220456" y="2836126"/>
            <a:ext cx="465328" cy="193624"/>
          </a:xfrm>
          <a:prstGeom prst="rect">
            <a:avLst/>
          </a:prstGeom>
          <a:solidFill>
            <a:srgbClr val="12A566"/>
          </a:solidFill>
          <a:ln/>
        </p:spPr>
      </p:sp>
      <p:sp>
        <p:nvSpPr>
          <p:cNvPr id="55" name="Text 53"/>
          <p:cNvSpPr txBox="1"/>
          <p:nvPr/>
        </p:nvSpPr>
        <p:spPr>
          <a:xfrm>
            <a:off x="10369296"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6" name="Text 54"/>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7" name="Shape 55"/>
          <p:cNvSpPr/>
          <p:nvPr/>
        </p:nvSpPr>
        <p:spPr>
          <a:xfrm>
            <a:off x="8220456" y="3188170"/>
            <a:ext cx="465328" cy="193624"/>
          </a:xfrm>
          <a:prstGeom prst="rect">
            <a:avLst/>
          </a:prstGeom>
          <a:solidFill>
            <a:srgbClr val="12A566"/>
          </a:solidFill>
          <a:ln/>
        </p:spPr>
      </p:sp>
      <p:sp>
        <p:nvSpPr>
          <p:cNvPr id="58" name="Text 56"/>
          <p:cNvSpPr txBox="1"/>
          <p:nvPr/>
        </p:nvSpPr>
        <p:spPr>
          <a:xfrm>
            <a:off x="10369296"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9" name="Text 57"/>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0" name="Shape 58"/>
          <p:cNvSpPr/>
          <p:nvPr/>
        </p:nvSpPr>
        <p:spPr>
          <a:xfrm>
            <a:off x="8220456" y="3540214"/>
            <a:ext cx="465328" cy="193624"/>
          </a:xfrm>
          <a:prstGeom prst="rect">
            <a:avLst/>
          </a:prstGeom>
          <a:solidFill>
            <a:srgbClr val="12A566"/>
          </a:solidFill>
          <a:ln/>
        </p:spPr>
      </p:sp>
      <p:sp>
        <p:nvSpPr>
          <p:cNvPr id="61" name="Text 59"/>
          <p:cNvSpPr txBox="1"/>
          <p:nvPr/>
        </p:nvSpPr>
        <p:spPr>
          <a:xfrm>
            <a:off x="10369296"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2" name="Text 60"/>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8220456" y="3892258"/>
            <a:ext cx="465328" cy="193624"/>
          </a:xfrm>
          <a:prstGeom prst="rect">
            <a:avLst/>
          </a:prstGeom>
          <a:solidFill>
            <a:srgbClr val="12A566"/>
          </a:solidFill>
          <a:ln/>
        </p:spPr>
      </p:sp>
      <p:sp>
        <p:nvSpPr>
          <p:cNvPr id="64" name="Text 62"/>
          <p:cNvSpPr txBox="1"/>
          <p:nvPr/>
        </p:nvSpPr>
        <p:spPr>
          <a:xfrm>
            <a:off x="10369296"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6" name="Shape 64"/>
          <p:cNvSpPr/>
          <p:nvPr/>
        </p:nvSpPr>
        <p:spPr>
          <a:xfrm>
            <a:off x="8220456" y="4244302"/>
            <a:ext cx="465328" cy="193624"/>
          </a:xfrm>
          <a:prstGeom prst="rect">
            <a:avLst/>
          </a:prstGeom>
          <a:solidFill>
            <a:srgbClr val="12A566"/>
          </a:solidFill>
          <a:ln/>
        </p:spPr>
      </p:sp>
      <p:sp>
        <p:nvSpPr>
          <p:cNvPr id="67" name="Text 65"/>
          <p:cNvSpPr txBox="1"/>
          <p:nvPr/>
        </p:nvSpPr>
        <p:spPr>
          <a:xfrm>
            <a:off x="10369296"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20456" y="4596346"/>
            <a:ext cx="465328" cy="193624"/>
          </a:xfrm>
          <a:prstGeom prst="rect">
            <a:avLst/>
          </a:prstGeom>
          <a:solidFill>
            <a:srgbClr val="12A566"/>
          </a:solidFill>
          <a:ln/>
        </p:spPr>
      </p:sp>
      <p:sp>
        <p:nvSpPr>
          <p:cNvPr id="70" name="Text 68"/>
          <p:cNvSpPr txBox="1"/>
          <p:nvPr/>
        </p:nvSpPr>
        <p:spPr>
          <a:xfrm>
            <a:off x="10369296"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2" name="Shape 70"/>
          <p:cNvSpPr/>
          <p:nvPr/>
        </p:nvSpPr>
        <p:spPr>
          <a:xfrm>
            <a:off x="8220456" y="4948390"/>
            <a:ext cx="232664" cy="193624"/>
          </a:xfrm>
          <a:prstGeom prst="rect">
            <a:avLst/>
          </a:prstGeom>
          <a:solidFill>
            <a:srgbClr val="12A566"/>
          </a:solidFill>
          <a:ln/>
        </p:spPr>
      </p:sp>
      <p:sp>
        <p:nvSpPr>
          <p:cNvPr id="73" name="Text 71"/>
          <p:cNvSpPr txBox="1"/>
          <p:nvPr/>
        </p:nvSpPr>
        <p:spPr>
          <a:xfrm>
            <a:off x="10369296"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4" name="Text 72"/>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5" name="Shape 73"/>
          <p:cNvSpPr/>
          <p:nvPr/>
        </p:nvSpPr>
        <p:spPr>
          <a:xfrm>
            <a:off x="8220456" y="5300434"/>
            <a:ext cx="232664" cy="193624"/>
          </a:xfrm>
          <a:prstGeom prst="rect">
            <a:avLst/>
          </a:prstGeom>
          <a:solidFill>
            <a:srgbClr val="12A566"/>
          </a:solidFill>
          <a:ln/>
        </p:spPr>
      </p:sp>
      <p:sp>
        <p:nvSpPr>
          <p:cNvPr id="76" name="Text 74"/>
          <p:cNvSpPr txBox="1"/>
          <p:nvPr/>
        </p:nvSpPr>
        <p:spPr>
          <a:xfrm>
            <a:off x="10369296"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7" name="Shape 75"/>
          <p:cNvSpPr/>
          <p:nvPr/>
        </p:nvSpPr>
        <p:spPr>
          <a:xfrm>
            <a:off x="457200" y="6126480"/>
            <a:ext cx="11274552" cy="371856"/>
          </a:xfrm>
          <a:prstGeom prst="rect">
            <a:avLst/>
          </a:prstGeom>
          <a:solidFill>
            <a:srgbClr val="E6F6EE"/>
          </a:solidFill>
          <a:ln/>
        </p:spPr>
      </p:sp>
      <p:sp>
        <p:nvSpPr>
          <p:cNvPr id="78" name="Text 7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set a new monthly record in 2026; Honda Spokane and Nissan set the most, 9 each.</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 BY CATEGORY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417320"/>
            <a:ext cx="128016" cy="128016"/>
          </a:xfrm>
          <a:prstGeom prst="rect">
            <a:avLst/>
          </a:prstGeom>
          <a:solidFill>
            <a:srgbClr val="0B7A4A"/>
          </a:solidFill>
          <a:ln/>
        </p:spPr>
      </p:sp>
      <p:sp>
        <p:nvSpPr>
          <p:cNvPr id="7" name="Text 5"/>
          <p:cNvSpPr txBox="1"/>
          <p:nvPr/>
        </p:nvSpPr>
        <p:spPr>
          <a:xfrm>
            <a:off x="841248"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8" name="Shape 6"/>
          <p:cNvSpPr/>
          <p:nvPr/>
        </p:nvSpPr>
        <p:spPr>
          <a:xfrm>
            <a:off x="1824228" y="1417320"/>
            <a:ext cx="128016" cy="128016"/>
          </a:xfrm>
          <a:prstGeom prst="rect">
            <a:avLst/>
          </a:prstGeom>
          <a:solidFill>
            <a:srgbClr val="12A566"/>
          </a:solidFill>
          <a:ln/>
        </p:spPr>
      </p:sp>
      <p:sp>
        <p:nvSpPr>
          <p:cNvPr id="9" name="Text 7"/>
          <p:cNvSpPr txBox="1"/>
          <p:nvPr/>
        </p:nvSpPr>
        <p:spPr>
          <a:xfrm>
            <a:off x="2007108"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10" name="Shape 8"/>
          <p:cNvSpPr/>
          <p:nvPr/>
        </p:nvSpPr>
        <p:spPr>
          <a:xfrm>
            <a:off x="2798064" y="1417320"/>
            <a:ext cx="128016" cy="128016"/>
          </a:xfrm>
          <a:prstGeom prst="rect">
            <a:avLst/>
          </a:prstGeom>
          <a:solidFill>
            <a:srgbClr val="8ED3B0"/>
          </a:solidFill>
          <a:ln/>
        </p:spPr>
      </p:sp>
      <p:sp>
        <p:nvSpPr>
          <p:cNvPr id="11" name="Text 9"/>
          <p:cNvSpPr txBox="1"/>
          <p:nvPr/>
        </p:nvSpPr>
        <p:spPr>
          <a:xfrm>
            <a:off x="2980944"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12" name="Text 10"/>
          <p:cNvSpPr txBox="1"/>
          <p:nvPr/>
        </p:nvSpPr>
        <p:spPr>
          <a:xfrm>
            <a:off x="395935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3" name="Text 11"/>
          <p:cNvSpPr txBox="1"/>
          <p:nvPr/>
        </p:nvSpPr>
        <p:spPr>
          <a:xfrm>
            <a:off x="446227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4" name="Text 12"/>
          <p:cNvSpPr txBox="1"/>
          <p:nvPr/>
        </p:nvSpPr>
        <p:spPr>
          <a:xfrm>
            <a:off x="496519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5" name="Text 13"/>
          <p:cNvSpPr txBox="1"/>
          <p:nvPr/>
        </p:nvSpPr>
        <p:spPr>
          <a:xfrm>
            <a:off x="5468112"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16" name="Shape 14"/>
          <p:cNvSpPr/>
          <p:nvPr/>
        </p:nvSpPr>
        <p:spPr>
          <a:xfrm>
            <a:off x="6208776" y="1417320"/>
            <a:ext cx="128016" cy="128016"/>
          </a:xfrm>
          <a:prstGeom prst="rect">
            <a:avLst/>
          </a:prstGeom>
          <a:solidFill>
            <a:srgbClr val="0B7A4A"/>
          </a:solidFill>
          <a:ln/>
        </p:spPr>
      </p:sp>
      <p:sp>
        <p:nvSpPr>
          <p:cNvPr id="17" name="Text 15"/>
          <p:cNvSpPr txBox="1"/>
          <p:nvPr/>
        </p:nvSpPr>
        <p:spPr>
          <a:xfrm>
            <a:off x="6391656"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18" name="Shape 16"/>
          <p:cNvSpPr/>
          <p:nvPr/>
        </p:nvSpPr>
        <p:spPr>
          <a:xfrm>
            <a:off x="7374636" y="1417320"/>
            <a:ext cx="128016" cy="128016"/>
          </a:xfrm>
          <a:prstGeom prst="rect">
            <a:avLst/>
          </a:prstGeom>
          <a:solidFill>
            <a:srgbClr val="12A566"/>
          </a:solidFill>
          <a:ln/>
        </p:spPr>
      </p:sp>
      <p:sp>
        <p:nvSpPr>
          <p:cNvPr id="19" name="Text 17"/>
          <p:cNvSpPr txBox="1"/>
          <p:nvPr/>
        </p:nvSpPr>
        <p:spPr>
          <a:xfrm>
            <a:off x="7557516"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20" name="Shape 18"/>
          <p:cNvSpPr/>
          <p:nvPr/>
        </p:nvSpPr>
        <p:spPr>
          <a:xfrm>
            <a:off x="8348472" y="1417320"/>
            <a:ext cx="128016" cy="128016"/>
          </a:xfrm>
          <a:prstGeom prst="rect">
            <a:avLst/>
          </a:prstGeom>
          <a:solidFill>
            <a:srgbClr val="8ED3B0"/>
          </a:solidFill>
          <a:ln/>
        </p:spPr>
      </p:sp>
      <p:sp>
        <p:nvSpPr>
          <p:cNvPr id="21" name="Text 19"/>
          <p:cNvSpPr txBox="1"/>
          <p:nvPr/>
        </p:nvSpPr>
        <p:spPr>
          <a:xfrm>
            <a:off x="8531352"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22" name="Text 20"/>
          <p:cNvSpPr txBox="1"/>
          <p:nvPr/>
        </p:nvSpPr>
        <p:spPr>
          <a:xfrm>
            <a:off x="950976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23" name="Text 21"/>
          <p:cNvSpPr txBox="1"/>
          <p:nvPr/>
        </p:nvSpPr>
        <p:spPr>
          <a:xfrm>
            <a:off x="1001268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24" name="Text 22"/>
          <p:cNvSpPr txBox="1"/>
          <p:nvPr/>
        </p:nvSpPr>
        <p:spPr>
          <a:xfrm>
            <a:off x="1051560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25" name="Text 23"/>
          <p:cNvSpPr txBox="1"/>
          <p:nvPr/>
        </p:nvSpPr>
        <p:spPr>
          <a:xfrm>
            <a:off x="11018520"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26" name="Text 24"/>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670048" y="1779994"/>
            <a:ext cx="540512" cy="193624"/>
          </a:xfrm>
          <a:prstGeom prst="rect">
            <a:avLst/>
          </a:prstGeom>
          <a:solidFill>
            <a:srgbClr val="0B7A4A"/>
          </a:solidFill>
          <a:ln w="9525">
            <a:solidFill>
              <a:srgbClr val="FFFFFF"/>
            </a:solidFill>
            <a:prstDash val="solid"/>
          </a:ln>
        </p:spPr>
      </p:sp>
      <p:sp>
        <p:nvSpPr>
          <p:cNvPr id="28" name="Shape 26"/>
          <p:cNvSpPr/>
          <p:nvPr/>
        </p:nvSpPr>
        <p:spPr>
          <a:xfrm>
            <a:off x="3210560" y="1779994"/>
            <a:ext cx="135128" cy="193624"/>
          </a:xfrm>
          <a:prstGeom prst="rect">
            <a:avLst/>
          </a:prstGeom>
          <a:solidFill>
            <a:srgbClr val="12A566"/>
          </a:solidFill>
          <a:ln w="9525">
            <a:solidFill>
              <a:srgbClr val="FFFFFF"/>
            </a:solidFill>
            <a:prstDash val="solid"/>
          </a:ln>
        </p:spPr>
      </p:sp>
      <p:sp>
        <p:nvSpPr>
          <p:cNvPr id="29" name="Shape 27"/>
          <p:cNvSpPr/>
          <p:nvPr/>
        </p:nvSpPr>
        <p:spPr>
          <a:xfrm>
            <a:off x="3345688" y="1779994"/>
            <a:ext cx="540512" cy="193624"/>
          </a:xfrm>
          <a:prstGeom prst="rect">
            <a:avLst/>
          </a:prstGeom>
          <a:solidFill>
            <a:srgbClr val="8ED3B0"/>
          </a:solidFill>
          <a:ln w="9525">
            <a:solidFill>
              <a:srgbClr val="FFFFFF"/>
            </a:solidFill>
            <a:prstDash val="solid"/>
          </a:ln>
        </p:spPr>
      </p:sp>
      <p:sp>
        <p:nvSpPr>
          <p:cNvPr id="30" name="Text 28"/>
          <p:cNvSpPr txBox="1"/>
          <p:nvPr/>
        </p:nvSpPr>
        <p:spPr>
          <a:xfrm>
            <a:off x="395935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1" name="Text 29"/>
          <p:cNvSpPr txBox="1"/>
          <p:nvPr/>
        </p:nvSpPr>
        <p:spPr>
          <a:xfrm>
            <a:off x="446227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496519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3" name="Text 31"/>
          <p:cNvSpPr txBox="1"/>
          <p:nvPr/>
        </p:nvSpPr>
        <p:spPr>
          <a:xfrm>
            <a:off x="5468112"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34" name="Text 32"/>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5" name="Shape 33"/>
          <p:cNvSpPr/>
          <p:nvPr/>
        </p:nvSpPr>
        <p:spPr>
          <a:xfrm>
            <a:off x="2670048" y="2132038"/>
            <a:ext cx="405384" cy="193624"/>
          </a:xfrm>
          <a:prstGeom prst="rect">
            <a:avLst/>
          </a:prstGeom>
          <a:solidFill>
            <a:srgbClr val="0B7A4A"/>
          </a:solidFill>
          <a:ln w="9525">
            <a:solidFill>
              <a:srgbClr val="FFFFFF"/>
            </a:solidFill>
            <a:prstDash val="solid"/>
          </a:ln>
        </p:spPr>
      </p:sp>
      <p:sp>
        <p:nvSpPr>
          <p:cNvPr id="36" name="Shape 34"/>
          <p:cNvSpPr/>
          <p:nvPr/>
        </p:nvSpPr>
        <p:spPr>
          <a:xfrm>
            <a:off x="3075432" y="2132038"/>
            <a:ext cx="270256" cy="193624"/>
          </a:xfrm>
          <a:prstGeom prst="rect">
            <a:avLst/>
          </a:prstGeom>
          <a:solidFill>
            <a:srgbClr val="12A566"/>
          </a:solidFill>
          <a:ln w="9525">
            <a:solidFill>
              <a:srgbClr val="FFFFFF"/>
            </a:solidFill>
            <a:prstDash val="solid"/>
          </a:ln>
        </p:spPr>
      </p:sp>
      <p:sp>
        <p:nvSpPr>
          <p:cNvPr id="37" name="Shape 35"/>
          <p:cNvSpPr/>
          <p:nvPr/>
        </p:nvSpPr>
        <p:spPr>
          <a:xfrm>
            <a:off x="3345688" y="2132038"/>
            <a:ext cx="540512" cy="193624"/>
          </a:xfrm>
          <a:prstGeom prst="rect">
            <a:avLst/>
          </a:prstGeom>
          <a:solidFill>
            <a:srgbClr val="8ED3B0"/>
          </a:solidFill>
          <a:ln w="9525">
            <a:solidFill>
              <a:srgbClr val="FFFFFF"/>
            </a:solidFill>
            <a:prstDash val="solid"/>
          </a:ln>
        </p:spPr>
      </p:sp>
      <p:sp>
        <p:nvSpPr>
          <p:cNvPr id="38" name="Text 36"/>
          <p:cNvSpPr txBox="1"/>
          <p:nvPr/>
        </p:nvSpPr>
        <p:spPr>
          <a:xfrm>
            <a:off x="395935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39" name="Text 37"/>
          <p:cNvSpPr txBox="1"/>
          <p:nvPr/>
        </p:nvSpPr>
        <p:spPr>
          <a:xfrm>
            <a:off x="446227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0" name="Text 38"/>
          <p:cNvSpPr txBox="1"/>
          <p:nvPr/>
        </p:nvSpPr>
        <p:spPr>
          <a:xfrm>
            <a:off x="496519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5468112"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42" name="Text 40"/>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670048" y="2484082"/>
            <a:ext cx="270256" cy="193624"/>
          </a:xfrm>
          <a:prstGeom prst="rect">
            <a:avLst/>
          </a:prstGeom>
          <a:solidFill>
            <a:srgbClr val="0B7A4A"/>
          </a:solidFill>
          <a:ln w="9525">
            <a:solidFill>
              <a:srgbClr val="FFFFFF"/>
            </a:solidFill>
            <a:prstDash val="solid"/>
          </a:ln>
        </p:spPr>
      </p:sp>
      <p:sp>
        <p:nvSpPr>
          <p:cNvPr id="44" name="Shape 42"/>
          <p:cNvSpPr/>
          <p:nvPr/>
        </p:nvSpPr>
        <p:spPr>
          <a:xfrm>
            <a:off x="2940304" y="2484082"/>
            <a:ext cx="405384" cy="193624"/>
          </a:xfrm>
          <a:prstGeom prst="rect">
            <a:avLst/>
          </a:prstGeom>
          <a:solidFill>
            <a:srgbClr val="12A566"/>
          </a:solidFill>
          <a:ln w="9525">
            <a:solidFill>
              <a:srgbClr val="FFFFFF"/>
            </a:solidFill>
            <a:prstDash val="solid"/>
          </a:ln>
        </p:spPr>
      </p:sp>
      <p:sp>
        <p:nvSpPr>
          <p:cNvPr id="45" name="Shape 43"/>
          <p:cNvSpPr/>
          <p:nvPr/>
        </p:nvSpPr>
        <p:spPr>
          <a:xfrm>
            <a:off x="3345688" y="2484082"/>
            <a:ext cx="405384" cy="193624"/>
          </a:xfrm>
          <a:prstGeom prst="rect">
            <a:avLst/>
          </a:prstGeom>
          <a:solidFill>
            <a:srgbClr val="8ED3B0"/>
          </a:solidFill>
          <a:ln w="9525">
            <a:solidFill>
              <a:srgbClr val="FFFFFF"/>
            </a:solidFill>
            <a:prstDash val="solid"/>
          </a:ln>
        </p:spPr>
      </p:sp>
      <p:sp>
        <p:nvSpPr>
          <p:cNvPr id="46" name="Text 44"/>
          <p:cNvSpPr txBox="1"/>
          <p:nvPr/>
        </p:nvSpPr>
        <p:spPr>
          <a:xfrm>
            <a:off x="395935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6227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496519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9" name="Text 47"/>
          <p:cNvSpPr txBox="1"/>
          <p:nvPr/>
        </p:nvSpPr>
        <p:spPr>
          <a:xfrm>
            <a:off x="5468112"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0" name="Text 48"/>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Shape 49"/>
          <p:cNvSpPr/>
          <p:nvPr/>
        </p:nvSpPr>
        <p:spPr>
          <a:xfrm>
            <a:off x="2670048" y="2836126"/>
            <a:ext cx="405384" cy="193624"/>
          </a:xfrm>
          <a:prstGeom prst="rect">
            <a:avLst/>
          </a:prstGeom>
          <a:solidFill>
            <a:srgbClr val="0B7A4A"/>
          </a:solidFill>
          <a:ln w="9525">
            <a:solidFill>
              <a:srgbClr val="FFFFFF"/>
            </a:solidFill>
            <a:prstDash val="solid"/>
          </a:ln>
        </p:spPr>
      </p:sp>
      <p:sp>
        <p:nvSpPr>
          <p:cNvPr id="52" name="Shape 50"/>
          <p:cNvSpPr/>
          <p:nvPr/>
        </p:nvSpPr>
        <p:spPr>
          <a:xfrm>
            <a:off x="3075432" y="2836126"/>
            <a:ext cx="135128" cy="193624"/>
          </a:xfrm>
          <a:prstGeom prst="rect">
            <a:avLst/>
          </a:prstGeom>
          <a:solidFill>
            <a:srgbClr val="12A566"/>
          </a:solidFill>
          <a:ln w="9525">
            <a:solidFill>
              <a:srgbClr val="FFFFFF"/>
            </a:solidFill>
            <a:prstDash val="solid"/>
          </a:ln>
        </p:spPr>
      </p:sp>
      <p:sp>
        <p:nvSpPr>
          <p:cNvPr id="53" name="Shape 51"/>
          <p:cNvSpPr/>
          <p:nvPr/>
        </p:nvSpPr>
        <p:spPr>
          <a:xfrm>
            <a:off x="3210560" y="2836126"/>
            <a:ext cx="405384" cy="193624"/>
          </a:xfrm>
          <a:prstGeom prst="rect">
            <a:avLst/>
          </a:prstGeom>
          <a:solidFill>
            <a:srgbClr val="8ED3B0"/>
          </a:solidFill>
          <a:ln w="9525">
            <a:solidFill>
              <a:srgbClr val="FFFFFF"/>
            </a:solidFill>
            <a:prstDash val="solid"/>
          </a:ln>
        </p:spPr>
      </p:sp>
      <p:sp>
        <p:nvSpPr>
          <p:cNvPr id="54" name="Text 52"/>
          <p:cNvSpPr txBox="1"/>
          <p:nvPr/>
        </p:nvSpPr>
        <p:spPr>
          <a:xfrm>
            <a:off x="395935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5" name="Text 53"/>
          <p:cNvSpPr txBox="1"/>
          <p:nvPr/>
        </p:nvSpPr>
        <p:spPr>
          <a:xfrm>
            <a:off x="446227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496519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7" name="Text 55"/>
          <p:cNvSpPr txBox="1"/>
          <p:nvPr/>
        </p:nvSpPr>
        <p:spPr>
          <a:xfrm>
            <a:off x="5468112"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58" name="Text 56"/>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Shape 57"/>
          <p:cNvSpPr/>
          <p:nvPr/>
        </p:nvSpPr>
        <p:spPr>
          <a:xfrm>
            <a:off x="2670048" y="3188170"/>
            <a:ext cx="270256" cy="193624"/>
          </a:xfrm>
          <a:prstGeom prst="rect">
            <a:avLst/>
          </a:prstGeom>
          <a:solidFill>
            <a:srgbClr val="0B7A4A"/>
          </a:solidFill>
          <a:ln w="9525">
            <a:solidFill>
              <a:srgbClr val="FFFFFF"/>
            </a:solidFill>
            <a:prstDash val="solid"/>
          </a:ln>
        </p:spPr>
      </p:sp>
      <p:sp>
        <p:nvSpPr>
          <p:cNvPr id="60" name="Shape 58"/>
          <p:cNvSpPr/>
          <p:nvPr/>
        </p:nvSpPr>
        <p:spPr>
          <a:xfrm>
            <a:off x="2940304" y="3188170"/>
            <a:ext cx="405384" cy="193624"/>
          </a:xfrm>
          <a:prstGeom prst="rect">
            <a:avLst/>
          </a:prstGeom>
          <a:solidFill>
            <a:srgbClr val="12A566"/>
          </a:solidFill>
          <a:ln w="9525">
            <a:solidFill>
              <a:srgbClr val="FFFFFF"/>
            </a:solidFill>
            <a:prstDash val="solid"/>
          </a:ln>
        </p:spPr>
      </p:sp>
      <p:sp>
        <p:nvSpPr>
          <p:cNvPr id="61" name="Shape 59"/>
          <p:cNvSpPr/>
          <p:nvPr/>
        </p:nvSpPr>
        <p:spPr>
          <a:xfrm>
            <a:off x="3345688" y="3188170"/>
            <a:ext cx="270256" cy="193624"/>
          </a:xfrm>
          <a:prstGeom prst="rect">
            <a:avLst/>
          </a:prstGeom>
          <a:solidFill>
            <a:srgbClr val="8ED3B0"/>
          </a:solidFill>
          <a:ln w="9525">
            <a:solidFill>
              <a:srgbClr val="FFFFFF"/>
            </a:solidFill>
            <a:prstDash val="solid"/>
          </a:ln>
        </p:spPr>
      </p:sp>
      <p:sp>
        <p:nvSpPr>
          <p:cNvPr id="62" name="Text 60"/>
          <p:cNvSpPr txBox="1"/>
          <p:nvPr/>
        </p:nvSpPr>
        <p:spPr>
          <a:xfrm>
            <a:off x="395935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3" name="Text 61"/>
          <p:cNvSpPr txBox="1"/>
          <p:nvPr/>
        </p:nvSpPr>
        <p:spPr>
          <a:xfrm>
            <a:off x="446227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496519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5468112"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66" name="Text 64"/>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7" name="Shape 65"/>
          <p:cNvSpPr/>
          <p:nvPr/>
        </p:nvSpPr>
        <p:spPr>
          <a:xfrm>
            <a:off x="2670048" y="3540214"/>
            <a:ext cx="270256" cy="193624"/>
          </a:xfrm>
          <a:prstGeom prst="rect">
            <a:avLst/>
          </a:prstGeom>
          <a:solidFill>
            <a:srgbClr val="0B7A4A"/>
          </a:solidFill>
          <a:ln w="9525">
            <a:solidFill>
              <a:srgbClr val="FFFFFF"/>
            </a:solidFill>
            <a:prstDash val="solid"/>
          </a:ln>
        </p:spPr>
      </p:sp>
      <p:sp>
        <p:nvSpPr>
          <p:cNvPr id="68" name="Shape 66"/>
          <p:cNvSpPr/>
          <p:nvPr/>
        </p:nvSpPr>
        <p:spPr>
          <a:xfrm>
            <a:off x="2940304" y="3540214"/>
            <a:ext cx="135128" cy="193624"/>
          </a:xfrm>
          <a:prstGeom prst="rect">
            <a:avLst/>
          </a:prstGeom>
          <a:solidFill>
            <a:srgbClr val="12A566"/>
          </a:solidFill>
          <a:ln w="9525">
            <a:solidFill>
              <a:srgbClr val="FFFFFF"/>
            </a:solidFill>
            <a:prstDash val="solid"/>
          </a:ln>
        </p:spPr>
      </p:sp>
      <p:sp>
        <p:nvSpPr>
          <p:cNvPr id="69" name="Shape 67"/>
          <p:cNvSpPr/>
          <p:nvPr/>
        </p:nvSpPr>
        <p:spPr>
          <a:xfrm>
            <a:off x="3075432" y="3540214"/>
            <a:ext cx="405384" cy="193624"/>
          </a:xfrm>
          <a:prstGeom prst="rect">
            <a:avLst/>
          </a:prstGeom>
          <a:solidFill>
            <a:srgbClr val="8ED3B0"/>
          </a:solidFill>
          <a:ln w="9525">
            <a:solidFill>
              <a:srgbClr val="FFFFFF"/>
            </a:solidFill>
            <a:prstDash val="solid"/>
          </a:ln>
        </p:spPr>
      </p:sp>
      <p:sp>
        <p:nvSpPr>
          <p:cNvPr id="70" name="Text 68"/>
          <p:cNvSpPr txBox="1"/>
          <p:nvPr/>
        </p:nvSpPr>
        <p:spPr>
          <a:xfrm>
            <a:off x="395935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446227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72" name="Text 70"/>
          <p:cNvSpPr txBox="1"/>
          <p:nvPr/>
        </p:nvSpPr>
        <p:spPr>
          <a:xfrm>
            <a:off x="496519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3" name="Text 71"/>
          <p:cNvSpPr txBox="1"/>
          <p:nvPr/>
        </p:nvSpPr>
        <p:spPr>
          <a:xfrm>
            <a:off x="5468112"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74" name="Text 72"/>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5" name="Shape 73"/>
          <p:cNvSpPr/>
          <p:nvPr/>
        </p:nvSpPr>
        <p:spPr>
          <a:xfrm>
            <a:off x="2670048" y="3892258"/>
            <a:ext cx="270256" cy="193624"/>
          </a:xfrm>
          <a:prstGeom prst="rect">
            <a:avLst/>
          </a:prstGeom>
          <a:solidFill>
            <a:srgbClr val="0B7A4A"/>
          </a:solidFill>
          <a:ln w="9525">
            <a:solidFill>
              <a:srgbClr val="FFFFFF"/>
            </a:solidFill>
            <a:prstDash val="solid"/>
          </a:ln>
        </p:spPr>
      </p:sp>
      <p:sp>
        <p:nvSpPr>
          <p:cNvPr id="76" name="Shape 74"/>
          <p:cNvSpPr/>
          <p:nvPr/>
        </p:nvSpPr>
        <p:spPr>
          <a:xfrm>
            <a:off x="2940304" y="3892258"/>
            <a:ext cx="135128" cy="193624"/>
          </a:xfrm>
          <a:prstGeom prst="rect">
            <a:avLst/>
          </a:prstGeom>
          <a:solidFill>
            <a:srgbClr val="12A566"/>
          </a:solidFill>
          <a:ln w="9525">
            <a:solidFill>
              <a:srgbClr val="FFFFFF"/>
            </a:solidFill>
            <a:prstDash val="solid"/>
          </a:ln>
        </p:spPr>
      </p:sp>
      <p:sp>
        <p:nvSpPr>
          <p:cNvPr id="77" name="Shape 75"/>
          <p:cNvSpPr/>
          <p:nvPr/>
        </p:nvSpPr>
        <p:spPr>
          <a:xfrm>
            <a:off x="3075432" y="3892258"/>
            <a:ext cx="405384" cy="193624"/>
          </a:xfrm>
          <a:prstGeom prst="rect">
            <a:avLst/>
          </a:prstGeom>
          <a:solidFill>
            <a:srgbClr val="8ED3B0"/>
          </a:solidFill>
          <a:ln w="9525">
            <a:solidFill>
              <a:srgbClr val="FFFFFF"/>
            </a:solidFill>
            <a:prstDash val="solid"/>
          </a:ln>
        </p:spPr>
      </p:sp>
      <p:sp>
        <p:nvSpPr>
          <p:cNvPr id="78" name="Text 76"/>
          <p:cNvSpPr txBox="1"/>
          <p:nvPr/>
        </p:nvSpPr>
        <p:spPr>
          <a:xfrm>
            <a:off x="395935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9" name="Text 77"/>
          <p:cNvSpPr txBox="1"/>
          <p:nvPr/>
        </p:nvSpPr>
        <p:spPr>
          <a:xfrm>
            <a:off x="446227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0" name="Text 78"/>
          <p:cNvSpPr txBox="1"/>
          <p:nvPr/>
        </p:nvSpPr>
        <p:spPr>
          <a:xfrm>
            <a:off x="496519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1" name="Text 79"/>
          <p:cNvSpPr txBox="1"/>
          <p:nvPr/>
        </p:nvSpPr>
        <p:spPr>
          <a:xfrm>
            <a:off x="5468112"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82" name="Text 80"/>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3" name="Shape 81"/>
          <p:cNvSpPr/>
          <p:nvPr/>
        </p:nvSpPr>
        <p:spPr>
          <a:xfrm>
            <a:off x="2670048" y="4244302"/>
            <a:ext cx="270256" cy="193624"/>
          </a:xfrm>
          <a:prstGeom prst="rect">
            <a:avLst/>
          </a:prstGeom>
          <a:solidFill>
            <a:srgbClr val="0B7A4A"/>
          </a:solidFill>
          <a:ln w="9525">
            <a:solidFill>
              <a:srgbClr val="FFFFFF"/>
            </a:solidFill>
            <a:prstDash val="solid"/>
          </a:ln>
        </p:spPr>
      </p:sp>
      <p:sp>
        <p:nvSpPr>
          <p:cNvPr id="84" name="Shape 82"/>
          <p:cNvSpPr/>
          <p:nvPr/>
        </p:nvSpPr>
        <p:spPr>
          <a:xfrm>
            <a:off x="2940304" y="4244302"/>
            <a:ext cx="135128" cy="193624"/>
          </a:xfrm>
          <a:prstGeom prst="rect">
            <a:avLst/>
          </a:prstGeom>
          <a:solidFill>
            <a:srgbClr val="12A566"/>
          </a:solidFill>
          <a:ln w="9525">
            <a:solidFill>
              <a:srgbClr val="FFFFFF"/>
            </a:solidFill>
            <a:prstDash val="solid"/>
          </a:ln>
        </p:spPr>
      </p:sp>
      <p:sp>
        <p:nvSpPr>
          <p:cNvPr id="85" name="Shape 83"/>
          <p:cNvSpPr/>
          <p:nvPr/>
        </p:nvSpPr>
        <p:spPr>
          <a:xfrm>
            <a:off x="3075432" y="4244302"/>
            <a:ext cx="270256" cy="193624"/>
          </a:xfrm>
          <a:prstGeom prst="rect">
            <a:avLst/>
          </a:prstGeom>
          <a:solidFill>
            <a:srgbClr val="8ED3B0"/>
          </a:solidFill>
          <a:ln w="9525">
            <a:solidFill>
              <a:srgbClr val="FFFFFF"/>
            </a:solidFill>
            <a:prstDash val="solid"/>
          </a:ln>
        </p:spPr>
      </p:sp>
      <p:sp>
        <p:nvSpPr>
          <p:cNvPr id="86" name="Text 84"/>
          <p:cNvSpPr txBox="1"/>
          <p:nvPr/>
        </p:nvSpPr>
        <p:spPr>
          <a:xfrm>
            <a:off x="395935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7" name="Text 85"/>
          <p:cNvSpPr txBox="1"/>
          <p:nvPr/>
        </p:nvSpPr>
        <p:spPr>
          <a:xfrm>
            <a:off x="446227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8" name="Text 86"/>
          <p:cNvSpPr txBox="1"/>
          <p:nvPr/>
        </p:nvSpPr>
        <p:spPr>
          <a:xfrm>
            <a:off x="496519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5468112"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90" name="Text 88"/>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1" name="Shape 89"/>
          <p:cNvSpPr/>
          <p:nvPr/>
        </p:nvSpPr>
        <p:spPr>
          <a:xfrm>
            <a:off x="2670048" y="4596346"/>
            <a:ext cx="270256" cy="193624"/>
          </a:xfrm>
          <a:prstGeom prst="rect">
            <a:avLst/>
          </a:prstGeom>
          <a:solidFill>
            <a:srgbClr val="0B7A4A"/>
          </a:solidFill>
          <a:ln w="9525">
            <a:solidFill>
              <a:srgbClr val="FFFFFF"/>
            </a:solidFill>
            <a:prstDash val="solid"/>
          </a:ln>
        </p:spPr>
      </p:sp>
      <p:sp>
        <p:nvSpPr>
          <p:cNvPr id="92" name="Shape 90"/>
          <p:cNvSpPr/>
          <p:nvPr/>
        </p:nvSpPr>
        <p:spPr>
          <a:xfrm>
            <a:off x="2940304" y="4596346"/>
            <a:ext cx="135128" cy="193624"/>
          </a:xfrm>
          <a:prstGeom prst="rect">
            <a:avLst/>
          </a:prstGeom>
          <a:solidFill>
            <a:srgbClr val="12A566"/>
          </a:solidFill>
          <a:ln w="9525">
            <a:solidFill>
              <a:srgbClr val="FFFFFF"/>
            </a:solidFill>
            <a:prstDash val="solid"/>
          </a:ln>
        </p:spPr>
      </p:sp>
      <p:sp>
        <p:nvSpPr>
          <p:cNvPr id="93" name="Shape 91"/>
          <p:cNvSpPr/>
          <p:nvPr/>
        </p:nvSpPr>
        <p:spPr>
          <a:xfrm>
            <a:off x="3075432" y="4596346"/>
            <a:ext cx="135128" cy="193624"/>
          </a:xfrm>
          <a:prstGeom prst="rect">
            <a:avLst/>
          </a:prstGeom>
          <a:solidFill>
            <a:srgbClr val="8ED3B0"/>
          </a:solidFill>
          <a:ln w="9525">
            <a:solidFill>
              <a:srgbClr val="FFFFFF"/>
            </a:solidFill>
            <a:prstDash val="solid"/>
          </a:ln>
        </p:spPr>
      </p:sp>
      <p:sp>
        <p:nvSpPr>
          <p:cNvPr id="94" name="Text 92"/>
          <p:cNvSpPr txBox="1"/>
          <p:nvPr/>
        </p:nvSpPr>
        <p:spPr>
          <a:xfrm>
            <a:off x="395935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95" name="Text 93"/>
          <p:cNvSpPr txBox="1"/>
          <p:nvPr/>
        </p:nvSpPr>
        <p:spPr>
          <a:xfrm>
            <a:off x="446227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496519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7" name="Text 95"/>
          <p:cNvSpPr txBox="1"/>
          <p:nvPr/>
        </p:nvSpPr>
        <p:spPr>
          <a:xfrm>
            <a:off x="5468112"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98" name="Text 96"/>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9" name="Shape 97"/>
          <p:cNvSpPr/>
          <p:nvPr/>
        </p:nvSpPr>
        <p:spPr>
          <a:xfrm>
            <a:off x="2670048" y="4948390"/>
            <a:ext cx="270256" cy="193624"/>
          </a:xfrm>
          <a:prstGeom prst="rect">
            <a:avLst/>
          </a:prstGeom>
          <a:solidFill>
            <a:srgbClr val="0B7A4A"/>
          </a:solidFill>
          <a:ln w="9525">
            <a:solidFill>
              <a:srgbClr val="FFFFFF"/>
            </a:solidFill>
            <a:prstDash val="solid"/>
          </a:ln>
        </p:spPr>
      </p:sp>
      <p:sp>
        <p:nvSpPr>
          <p:cNvPr id="100" name="Shape 98"/>
          <p:cNvSpPr/>
          <p:nvPr/>
        </p:nvSpPr>
        <p:spPr>
          <a:xfrm>
            <a:off x="2940304" y="4948390"/>
            <a:ext cx="135128" cy="193624"/>
          </a:xfrm>
          <a:prstGeom prst="rect">
            <a:avLst/>
          </a:prstGeom>
          <a:solidFill>
            <a:srgbClr val="12A566"/>
          </a:solidFill>
          <a:ln w="9525">
            <a:solidFill>
              <a:srgbClr val="FFFFFF"/>
            </a:solidFill>
            <a:prstDash val="solid"/>
          </a:ln>
        </p:spPr>
      </p:sp>
      <p:sp>
        <p:nvSpPr>
          <p:cNvPr id="101" name="Shape 99"/>
          <p:cNvSpPr/>
          <p:nvPr/>
        </p:nvSpPr>
        <p:spPr>
          <a:xfrm>
            <a:off x="3075432" y="4948390"/>
            <a:ext cx="135128" cy="193624"/>
          </a:xfrm>
          <a:prstGeom prst="rect">
            <a:avLst/>
          </a:prstGeom>
          <a:solidFill>
            <a:srgbClr val="8ED3B0"/>
          </a:solidFill>
          <a:ln w="9525">
            <a:solidFill>
              <a:srgbClr val="FFFFFF"/>
            </a:solidFill>
            <a:prstDash val="solid"/>
          </a:ln>
        </p:spPr>
      </p:sp>
      <p:sp>
        <p:nvSpPr>
          <p:cNvPr id="102" name="Text 100"/>
          <p:cNvSpPr txBox="1"/>
          <p:nvPr/>
        </p:nvSpPr>
        <p:spPr>
          <a:xfrm>
            <a:off x="395935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446227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496519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5468112"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06" name="Text 104"/>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7" name="Shape 105"/>
          <p:cNvSpPr/>
          <p:nvPr/>
        </p:nvSpPr>
        <p:spPr>
          <a:xfrm>
            <a:off x="2670048" y="5300434"/>
            <a:ext cx="270256" cy="193624"/>
          </a:xfrm>
          <a:prstGeom prst="rect">
            <a:avLst/>
          </a:prstGeom>
          <a:solidFill>
            <a:srgbClr val="0B7A4A"/>
          </a:solidFill>
          <a:ln w="9525">
            <a:solidFill>
              <a:srgbClr val="FFFFFF"/>
            </a:solidFill>
            <a:prstDash val="solid"/>
          </a:ln>
        </p:spPr>
      </p:sp>
      <p:sp>
        <p:nvSpPr>
          <p:cNvPr id="108" name="Shape 106"/>
          <p:cNvSpPr/>
          <p:nvPr/>
        </p:nvSpPr>
        <p:spPr>
          <a:xfrm>
            <a:off x="2940304" y="5300434"/>
            <a:ext cx="135128" cy="193624"/>
          </a:xfrm>
          <a:prstGeom prst="rect">
            <a:avLst/>
          </a:prstGeom>
          <a:solidFill>
            <a:srgbClr val="12A566"/>
          </a:solidFill>
          <a:ln w="9525">
            <a:solidFill>
              <a:srgbClr val="FFFFFF"/>
            </a:solidFill>
            <a:prstDash val="solid"/>
          </a:ln>
        </p:spPr>
      </p:sp>
      <p:sp>
        <p:nvSpPr>
          <p:cNvPr id="109" name="Shape 107"/>
          <p:cNvSpPr/>
          <p:nvPr/>
        </p:nvSpPr>
        <p:spPr>
          <a:xfrm>
            <a:off x="3075432" y="5300434"/>
            <a:ext cx="135128" cy="193624"/>
          </a:xfrm>
          <a:prstGeom prst="rect">
            <a:avLst/>
          </a:prstGeom>
          <a:solidFill>
            <a:srgbClr val="8ED3B0"/>
          </a:solidFill>
          <a:ln w="9525">
            <a:solidFill>
              <a:srgbClr val="FFFFFF"/>
            </a:solidFill>
            <a:prstDash val="solid"/>
          </a:ln>
        </p:spPr>
      </p:sp>
      <p:sp>
        <p:nvSpPr>
          <p:cNvPr id="110" name="Text 108"/>
          <p:cNvSpPr txBox="1"/>
          <p:nvPr/>
        </p:nvSpPr>
        <p:spPr>
          <a:xfrm>
            <a:off x="395935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11" name="Text 109"/>
          <p:cNvSpPr txBox="1"/>
          <p:nvPr/>
        </p:nvSpPr>
        <p:spPr>
          <a:xfrm>
            <a:off x="446227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2" name="Text 110"/>
          <p:cNvSpPr txBox="1"/>
          <p:nvPr/>
        </p:nvSpPr>
        <p:spPr>
          <a:xfrm>
            <a:off x="496519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3" name="Text 111"/>
          <p:cNvSpPr txBox="1"/>
          <p:nvPr/>
        </p:nvSpPr>
        <p:spPr>
          <a:xfrm>
            <a:off x="5468112"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14" name="Text 112"/>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2670048" y="5652478"/>
            <a:ext cx="405384" cy="193624"/>
          </a:xfrm>
          <a:prstGeom prst="rect">
            <a:avLst/>
          </a:prstGeom>
          <a:solidFill>
            <a:srgbClr val="0B7A4A"/>
          </a:solidFill>
          <a:ln w="9525">
            <a:solidFill>
              <a:srgbClr val="FFFFFF"/>
            </a:solidFill>
            <a:prstDash val="solid"/>
          </a:ln>
        </p:spPr>
      </p:sp>
      <p:sp>
        <p:nvSpPr>
          <p:cNvPr id="116" name="Shape 114"/>
          <p:cNvSpPr/>
          <p:nvPr/>
        </p:nvSpPr>
        <p:spPr>
          <a:xfrm>
            <a:off x="3075432" y="5652478"/>
            <a:ext cx="135128" cy="193624"/>
          </a:xfrm>
          <a:prstGeom prst="rect">
            <a:avLst/>
          </a:prstGeom>
          <a:solidFill>
            <a:srgbClr val="8ED3B0"/>
          </a:solidFill>
          <a:ln w="9525">
            <a:solidFill>
              <a:srgbClr val="FFFFFF"/>
            </a:solidFill>
            <a:prstDash val="solid"/>
          </a:ln>
        </p:spPr>
      </p:sp>
      <p:sp>
        <p:nvSpPr>
          <p:cNvPr id="117" name="Text 115"/>
          <p:cNvSpPr txBox="1"/>
          <p:nvPr/>
        </p:nvSpPr>
        <p:spPr>
          <a:xfrm>
            <a:off x="395935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118" name="Text 116"/>
          <p:cNvSpPr txBox="1"/>
          <p:nvPr/>
        </p:nvSpPr>
        <p:spPr>
          <a:xfrm>
            <a:off x="4462272" y="557326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496519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0" name="Text 118"/>
          <p:cNvSpPr txBox="1"/>
          <p:nvPr/>
        </p:nvSpPr>
        <p:spPr>
          <a:xfrm>
            <a:off x="5468112" y="557326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1" name="Text 119"/>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2" name="Shape 120"/>
          <p:cNvSpPr/>
          <p:nvPr/>
        </p:nvSpPr>
        <p:spPr>
          <a:xfrm>
            <a:off x="8220456" y="1779994"/>
            <a:ext cx="270256" cy="193624"/>
          </a:xfrm>
          <a:prstGeom prst="rect">
            <a:avLst/>
          </a:prstGeom>
          <a:solidFill>
            <a:srgbClr val="0B7A4A"/>
          </a:solidFill>
          <a:ln w="9525">
            <a:solidFill>
              <a:srgbClr val="FFFFFF"/>
            </a:solidFill>
            <a:prstDash val="solid"/>
          </a:ln>
        </p:spPr>
      </p:sp>
      <p:sp>
        <p:nvSpPr>
          <p:cNvPr id="123" name="Shape 121"/>
          <p:cNvSpPr/>
          <p:nvPr/>
        </p:nvSpPr>
        <p:spPr>
          <a:xfrm>
            <a:off x="8490712" y="1779994"/>
            <a:ext cx="135128" cy="193624"/>
          </a:xfrm>
          <a:prstGeom prst="rect">
            <a:avLst/>
          </a:prstGeom>
          <a:solidFill>
            <a:srgbClr val="12A566"/>
          </a:solidFill>
          <a:ln w="9525">
            <a:solidFill>
              <a:srgbClr val="FFFFFF"/>
            </a:solidFill>
            <a:prstDash val="solid"/>
          </a:ln>
        </p:spPr>
      </p:sp>
      <p:sp>
        <p:nvSpPr>
          <p:cNvPr id="124" name="Shape 122"/>
          <p:cNvSpPr/>
          <p:nvPr/>
        </p:nvSpPr>
        <p:spPr>
          <a:xfrm>
            <a:off x="8625840" y="1779994"/>
            <a:ext cx="135128" cy="193624"/>
          </a:xfrm>
          <a:prstGeom prst="rect">
            <a:avLst/>
          </a:prstGeom>
          <a:solidFill>
            <a:srgbClr val="8ED3B0"/>
          </a:solidFill>
          <a:ln w="9525">
            <a:solidFill>
              <a:srgbClr val="FFFFFF"/>
            </a:solidFill>
            <a:prstDash val="solid"/>
          </a:ln>
        </p:spPr>
      </p:sp>
      <p:sp>
        <p:nvSpPr>
          <p:cNvPr id="125" name="Text 123"/>
          <p:cNvSpPr txBox="1"/>
          <p:nvPr/>
        </p:nvSpPr>
        <p:spPr>
          <a:xfrm>
            <a:off x="950976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26" name="Text 124"/>
          <p:cNvSpPr txBox="1"/>
          <p:nvPr/>
        </p:nvSpPr>
        <p:spPr>
          <a:xfrm>
            <a:off x="1001268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7" name="Text 125"/>
          <p:cNvSpPr txBox="1"/>
          <p:nvPr/>
        </p:nvSpPr>
        <p:spPr>
          <a:xfrm>
            <a:off x="1051560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8" name="Text 126"/>
          <p:cNvSpPr txBox="1"/>
          <p:nvPr/>
        </p:nvSpPr>
        <p:spPr>
          <a:xfrm>
            <a:off x="11018520"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9" name="Text 127"/>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0" name="Shape 128"/>
          <p:cNvSpPr/>
          <p:nvPr/>
        </p:nvSpPr>
        <p:spPr>
          <a:xfrm>
            <a:off x="8220456" y="2132038"/>
            <a:ext cx="540512" cy="193624"/>
          </a:xfrm>
          <a:prstGeom prst="rect">
            <a:avLst/>
          </a:prstGeom>
          <a:solidFill>
            <a:srgbClr val="0B7A4A"/>
          </a:solidFill>
          <a:ln w="9525">
            <a:solidFill>
              <a:srgbClr val="FFFFFF"/>
            </a:solidFill>
            <a:prstDash val="solid"/>
          </a:ln>
        </p:spPr>
      </p:sp>
      <p:sp>
        <p:nvSpPr>
          <p:cNvPr id="131" name="Text 129"/>
          <p:cNvSpPr txBox="1"/>
          <p:nvPr/>
        </p:nvSpPr>
        <p:spPr>
          <a:xfrm>
            <a:off x="9509760"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32" name="Text 130"/>
          <p:cNvSpPr txBox="1"/>
          <p:nvPr/>
        </p:nvSpPr>
        <p:spPr>
          <a:xfrm>
            <a:off x="1001268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3" name="Text 131"/>
          <p:cNvSpPr txBox="1"/>
          <p:nvPr/>
        </p:nvSpPr>
        <p:spPr>
          <a:xfrm>
            <a:off x="1051560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4" name="Text 132"/>
          <p:cNvSpPr txBox="1"/>
          <p:nvPr/>
        </p:nvSpPr>
        <p:spPr>
          <a:xfrm>
            <a:off x="11018520"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35" name="Text 133"/>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6" name="Shape 134"/>
          <p:cNvSpPr/>
          <p:nvPr/>
        </p:nvSpPr>
        <p:spPr>
          <a:xfrm>
            <a:off x="8220456" y="2484082"/>
            <a:ext cx="135128" cy="193624"/>
          </a:xfrm>
          <a:prstGeom prst="rect">
            <a:avLst/>
          </a:prstGeom>
          <a:solidFill>
            <a:srgbClr val="12A566"/>
          </a:solidFill>
          <a:ln w="9525">
            <a:solidFill>
              <a:srgbClr val="FFFFFF"/>
            </a:solidFill>
            <a:prstDash val="solid"/>
          </a:ln>
        </p:spPr>
      </p:sp>
      <p:sp>
        <p:nvSpPr>
          <p:cNvPr id="137" name="Shape 135"/>
          <p:cNvSpPr/>
          <p:nvPr/>
        </p:nvSpPr>
        <p:spPr>
          <a:xfrm>
            <a:off x="8355584" y="2484082"/>
            <a:ext cx="270256" cy="193624"/>
          </a:xfrm>
          <a:prstGeom prst="rect">
            <a:avLst/>
          </a:prstGeom>
          <a:solidFill>
            <a:srgbClr val="8ED3B0"/>
          </a:solidFill>
          <a:ln w="9525">
            <a:solidFill>
              <a:srgbClr val="FFFFFF"/>
            </a:solidFill>
            <a:prstDash val="solid"/>
          </a:ln>
        </p:spPr>
      </p:sp>
      <p:sp>
        <p:nvSpPr>
          <p:cNvPr id="138" name="Text 136"/>
          <p:cNvSpPr txBox="1"/>
          <p:nvPr/>
        </p:nvSpPr>
        <p:spPr>
          <a:xfrm>
            <a:off x="9509760" y="240487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01268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1051560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41" name="Text 139"/>
          <p:cNvSpPr txBox="1"/>
          <p:nvPr/>
        </p:nvSpPr>
        <p:spPr>
          <a:xfrm>
            <a:off x="11018520"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142" name="Text 140"/>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43" name="Shape 141"/>
          <p:cNvSpPr/>
          <p:nvPr/>
        </p:nvSpPr>
        <p:spPr>
          <a:xfrm>
            <a:off x="8220456" y="2836126"/>
            <a:ext cx="135128" cy="193624"/>
          </a:xfrm>
          <a:prstGeom prst="rect">
            <a:avLst/>
          </a:prstGeom>
          <a:solidFill>
            <a:srgbClr val="12A566"/>
          </a:solidFill>
          <a:ln w="9525">
            <a:solidFill>
              <a:srgbClr val="FFFFFF"/>
            </a:solidFill>
            <a:prstDash val="solid"/>
          </a:ln>
        </p:spPr>
      </p:sp>
      <p:sp>
        <p:nvSpPr>
          <p:cNvPr id="144" name="Shape 142"/>
          <p:cNvSpPr/>
          <p:nvPr/>
        </p:nvSpPr>
        <p:spPr>
          <a:xfrm>
            <a:off x="8355584" y="2836126"/>
            <a:ext cx="135128" cy="193624"/>
          </a:xfrm>
          <a:prstGeom prst="rect">
            <a:avLst/>
          </a:prstGeom>
          <a:solidFill>
            <a:srgbClr val="8ED3B0"/>
          </a:solidFill>
          <a:ln w="9525">
            <a:solidFill>
              <a:srgbClr val="FFFFFF"/>
            </a:solidFill>
            <a:prstDash val="solid"/>
          </a:ln>
        </p:spPr>
      </p:sp>
      <p:sp>
        <p:nvSpPr>
          <p:cNvPr id="145" name="Text 143"/>
          <p:cNvSpPr txBox="1"/>
          <p:nvPr/>
        </p:nvSpPr>
        <p:spPr>
          <a:xfrm>
            <a:off x="9509760" y="275691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01268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1051560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8" name="Text 146"/>
          <p:cNvSpPr txBox="1"/>
          <p:nvPr/>
        </p:nvSpPr>
        <p:spPr>
          <a:xfrm>
            <a:off x="11018520"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49" name="Text 147"/>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0" name="Shape 148"/>
          <p:cNvSpPr/>
          <p:nvPr/>
        </p:nvSpPr>
        <p:spPr>
          <a:xfrm>
            <a:off x="8220456" y="3188170"/>
            <a:ext cx="135128" cy="193624"/>
          </a:xfrm>
          <a:prstGeom prst="rect">
            <a:avLst/>
          </a:prstGeom>
          <a:solidFill>
            <a:srgbClr val="0B7A4A"/>
          </a:solidFill>
          <a:ln w="9525">
            <a:solidFill>
              <a:srgbClr val="FFFFFF"/>
            </a:solidFill>
            <a:prstDash val="solid"/>
          </a:ln>
        </p:spPr>
      </p:sp>
      <p:sp>
        <p:nvSpPr>
          <p:cNvPr id="151" name="Shape 149"/>
          <p:cNvSpPr/>
          <p:nvPr/>
        </p:nvSpPr>
        <p:spPr>
          <a:xfrm>
            <a:off x="8355584" y="3188170"/>
            <a:ext cx="135128" cy="193624"/>
          </a:xfrm>
          <a:prstGeom prst="rect">
            <a:avLst/>
          </a:prstGeom>
          <a:solidFill>
            <a:srgbClr val="8ED3B0"/>
          </a:solidFill>
          <a:ln w="9525">
            <a:solidFill>
              <a:srgbClr val="FFFFFF"/>
            </a:solidFill>
            <a:prstDash val="solid"/>
          </a:ln>
        </p:spPr>
      </p:sp>
      <p:sp>
        <p:nvSpPr>
          <p:cNvPr id="152" name="Text 150"/>
          <p:cNvSpPr txBox="1"/>
          <p:nvPr/>
        </p:nvSpPr>
        <p:spPr>
          <a:xfrm>
            <a:off x="950976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3" name="Text 151"/>
          <p:cNvSpPr txBox="1"/>
          <p:nvPr/>
        </p:nvSpPr>
        <p:spPr>
          <a:xfrm>
            <a:off x="10012680" y="310896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54" name="Text 152"/>
          <p:cNvSpPr txBox="1"/>
          <p:nvPr/>
        </p:nvSpPr>
        <p:spPr>
          <a:xfrm>
            <a:off x="1051560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5" name="Text 153"/>
          <p:cNvSpPr txBox="1"/>
          <p:nvPr/>
        </p:nvSpPr>
        <p:spPr>
          <a:xfrm>
            <a:off x="11018520"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56" name="Text 154"/>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7" name="Shape 155"/>
          <p:cNvSpPr/>
          <p:nvPr/>
        </p:nvSpPr>
        <p:spPr>
          <a:xfrm>
            <a:off x="8220456" y="3540214"/>
            <a:ext cx="135128" cy="193624"/>
          </a:xfrm>
          <a:prstGeom prst="rect">
            <a:avLst/>
          </a:prstGeom>
          <a:solidFill>
            <a:srgbClr val="0B7A4A"/>
          </a:solidFill>
          <a:ln w="9525">
            <a:solidFill>
              <a:srgbClr val="FFFFFF"/>
            </a:solidFill>
            <a:prstDash val="solid"/>
          </a:ln>
        </p:spPr>
      </p:sp>
      <p:sp>
        <p:nvSpPr>
          <p:cNvPr id="158" name="Shape 156"/>
          <p:cNvSpPr/>
          <p:nvPr/>
        </p:nvSpPr>
        <p:spPr>
          <a:xfrm>
            <a:off x="8355584" y="3540214"/>
            <a:ext cx="135128" cy="193624"/>
          </a:xfrm>
          <a:prstGeom prst="rect">
            <a:avLst/>
          </a:prstGeom>
          <a:solidFill>
            <a:srgbClr val="8ED3B0"/>
          </a:solidFill>
          <a:ln w="9525">
            <a:solidFill>
              <a:srgbClr val="FFFFFF"/>
            </a:solidFill>
            <a:prstDash val="solid"/>
          </a:ln>
        </p:spPr>
      </p:sp>
      <p:sp>
        <p:nvSpPr>
          <p:cNvPr id="159" name="Text 157"/>
          <p:cNvSpPr txBox="1"/>
          <p:nvPr/>
        </p:nvSpPr>
        <p:spPr>
          <a:xfrm>
            <a:off x="950976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0" name="Text 158"/>
          <p:cNvSpPr txBox="1"/>
          <p:nvPr/>
        </p:nvSpPr>
        <p:spPr>
          <a:xfrm>
            <a:off x="10012680" y="346100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1051560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2" name="Text 160"/>
          <p:cNvSpPr txBox="1"/>
          <p:nvPr/>
        </p:nvSpPr>
        <p:spPr>
          <a:xfrm>
            <a:off x="11018520"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63" name="Text 161"/>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4" name="Shape 162"/>
          <p:cNvSpPr/>
          <p:nvPr/>
        </p:nvSpPr>
        <p:spPr>
          <a:xfrm>
            <a:off x="8220456" y="3892258"/>
            <a:ext cx="135128" cy="193624"/>
          </a:xfrm>
          <a:prstGeom prst="rect">
            <a:avLst/>
          </a:prstGeom>
          <a:solidFill>
            <a:srgbClr val="0B7A4A"/>
          </a:solidFill>
          <a:ln w="9525">
            <a:solidFill>
              <a:srgbClr val="FFFFFF"/>
            </a:solidFill>
            <a:prstDash val="solid"/>
          </a:ln>
        </p:spPr>
      </p:sp>
      <p:sp>
        <p:nvSpPr>
          <p:cNvPr id="165" name="Shape 163"/>
          <p:cNvSpPr/>
          <p:nvPr/>
        </p:nvSpPr>
        <p:spPr>
          <a:xfrm>
            <a:off x="8355584" y="3892258"/>
            <a:ext cx="135128" cy="193624"/>
          </a:xfrm>
          <a:prstGeom prst="rect">
            <a:avLst/>
          </a:prstGeom>
          <a:solidFill>
            <a:srgbClr val="8ED3B0"/>
          </a:solidFill>
          <a:ln w="9525">
            <a:solidFill>
              <a:srgbClr val="FFFFFF"/>
            </a:solidFill>
            <a:prstDash val="solid"/>
          </a:ln>
        </p:spPr>
      </p:sp>
      <p:sp>
        <p:nvSpPr>
          <p:cNvPr id="166" name="Text 164"/>
          <p:cNvSpPr txBox="1"/>
          <p:nvPr/>
        </p:nvSpPr>
        <p:spPr>
          <a:xfrm>
            <a:off x="950976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7" name="Text 165"/>
          <p:cNvSpPr txBox="1"/>
          <p:nvPr/>
        </p:nvSpPr>
        <p:spPr>
          <a:xfrm>
            <a:off x="10012680" y="381304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8" name="Text 166"/>
          <p:cNvSpPr txBox="1"/>
          <p:nvPr/>
        </p:nvSpPr>
        <p:spPr>
          <a:xfrm>
            <a:off x="1051560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9" name="Text 167"/>
          <p:cNvSpPr txBox="1"/>
          <p:nvPr/>
        </p:nvSpPr>
        <p:spPr>
          <a:xfrm>
            <a:off x="11018520"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0" name="Text 168"/>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1" name="Shape 169"/>
          <p:cNvSpPr/>
          <p:nvPr/>
        </p:nvSpPr>
        <p:spPr>
          <a:xfrm>
            <a:off x="8220456" y="4244302"/>
            <a:ext cx="135128" cy="193624"/>
          </a:xfrm>
          <a:prstGeom prst="rect">
            <a:avLst/>
          </a:prstGeom>
          <a:solidFill>
            <a:srgbClr val="0B7A4A"/>
          </a:solidFill>
          <a:ln w="9525">
            <a:solidFill>
              <a:srgbClr val="FFFFFF"/>
            </a:solidFill>
            <a:prstDash val="solid"/>
          </a:ln>
        </p:spPr>
      </p:sp>
      <p:sp>
        <p:nvSpPr>
          <p:cNvPr id="172" name="Shape 170"/>
          <p:cNvSpPr/>
          <p:nvPr/>
        </p:nvSpPr>
        <p:spPr>
          <a:xfrm>
            <a:off x="8355584" y="4244302"/>
            <a:ext cx="135128" cy="193624"/>
          </a:xfrm>
          <a:prstGeom prst="rect">
            <a:avLst/>
          </a:prstGeom>
          <a:solidFill>
            <a:srgbClr val="8ED3B0"/>
          </a:solidFill>
          <a:ln w="9525">
            <a:solidFill>
              <a:srgbClr val="FFFFFF"/>
            </a:solidFill>
            <a:prstDash val="solid"/>
          </a:ln>
        </p:spPr>
      </p:sp>
      <p:sp>
        <p:nvSpPr>
          <p:cNvPr id="173" name="Text 171"/>
          <p:cNvSpPr txBox="1"/>
          <p:nvPr/>
        </p:nvSpPr>
        <p:spPr>
          <a:xfrm>
            <a:off x="950976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4" name="Text 172"/>
          <p:cNvSpPr txBox="1"/>
          <p:nvPr/>
        </p:nvSpPr>
        <p:spPr>
          <a:xfrm>
            <a:off x="10012680" y="416509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75" name="Text 173"/>
          <p:cNvSpPr txBox="1"/>
          <p:nvPr/>
        </p:nvSpPr>
        <p:spPr>
          <a:xfrm>
            <a:off x="1051560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6" name="Text 174"/>
          <p:cNvSpPr txBox="1"/>
          <p:nvPr/>
        </p:nvSpPr>
        <p:spPr>
          <a:xfrm>
            <a:off x="11018520"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7" name="Text 175"/>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8" name="Shape 176"/>
          <p:cNvSpPr/>
          <p:nvPr/>
        </p:nvSpPr>
        <p:spPr>
          <a:xfrm>
            <a:off x="8220456" y="4596346"/>
            <a:ext cx="270256" cy="193624"/>
          </a:xfrm>
          <a:prstGeom prst="rect">
            <a:avLst/>
          </a:prstGeom>
          <a:solidFill>
            <a:srgbClr val="0B7A4A"/>
          </a:solidFill>
          <a:ln w="9525">
            <a:solidFill>
              <a:srgbClr val="FFFFFF"/>
            </a:solidFill>
            <a:prstDash val="solid"/>
          </a:ln>
        </p:spPr>
      </p:sp>
      <p:sp>
        <p:nvSpPr>
          <p:cNvPr id="179" name="Text 177"/>
          <p:cNvSpPr txBox="1"/>
          <p:nvPr/>
        </p:nvSpPr>
        <p:spPr>
          <a:xfrm>
            <a:off x="9509760"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80" name="Text 178"/>
          <p:cNvSpPr txBox="1"/>
          <p:nvPr/>
        </p:nvSpPr>
        <p:spPr>
          <a:xfrm>
            <a:off x="1001268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1" name="Text 179"/>
          <p:cNvSpPr txBox="1"/>
          <p:nvPr/>
        </p:nvSpPr>
        <p:spPr>
          <a:xfrm>
            <a:off x="1051560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2" name="Text 180"/>
          <p:cNvSpPr txBox="1"/>
          <p:nvPr/>
        </p:nvSpPr>
        <p:spPr>
          <a:xfrm>
            <a:off x="11018520"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83" name="Text 181"/>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4" name="Shape 182"/>
          <p:cNvSpPr/>
          <p:nvPr/>
        </p:nvSpPr>
        <p:spPr>
          <a:xfrm>
            <a:off x="8220456" y="4948390"/>
            <a:ext cx="135128" cy="193624"/>
          </a:xfrm>
          <a:prstGeom prst="rect">
            <a:avLst/>
          </a:prstGeom>
          <a:solidFill>
            <a:srgbClr val="8ED3B0"/>
          </a:solidFill>
          <a:ln w="9525">
            <a:solidFill>
              <a:srgbClr val="FFFFFF"/>
            </a:solidFill>
            <a:prstDash val="solid"/>
          </a:ln>
        </p:spPr>
      </p:sp>
      <p:sp>
        <p:nvSpPr>
          <p:cNvPr id="185" name="Text 183"/>
          <p:cNvSpPr txBox="1"/>
          <p:nvPr/>
        </p:nvSpPr>
        <p:spPr>
          <a:xfrm>
            <a:off x="950976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6" name="Text 184"/>
          <p:cNvSpPr txBox="1"/>
          <p:nvPr/>
        </p:nvSpPr>
        <p:spPr>
          <a:xfrm>
            <a:off x="1001268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7" name="Text 185"/>
          <p:cNvSpPr txBox="1"/>
          <p:nvPr/>
        </p:nvSpPr>
        <p:spPr>
          <a:xfrm>
            <a:off x="10515600"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88" name="Text 186"/>
          <p:cNvSpPr txBox="1"/>
          <p:nvPr/>
        </p:nvSpPr>
        <p:spPr>
          <a:xfrm>
            <a:off x="11018520"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89" name="Text 187"/>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220456" y="5300434"/>
            <a:ext cx="135128" cy="193624"/>
          </a:xfrm>
          <a:prstGeom prst="rect">
            <a:avLst/>
          </a:prstGeom>
          <a:solidFill>
            <a:srgbClr val="0B7A4A"/>
          </a:solidFill>
          <a:ln w="9525">
            <a:solidFill>
              <a:srgbClr val="FFFFFF"/>
            </a:solidFill>
            <a:prstDash val="solid"/>
          </a:ln>
        </p:spPr>
      </p:sp>
      <p:sp>
        <p:nvSpPr>
          <p:cNvPr id="191" name="Text 189"/>
          <p:cNvSpPr txBox="1"/>
          <p:nvPr/>
        </p:nvSpPr>
        <p:spPr>
          <a:xfrm>
            <a:off x="9509760"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92" name="Text 190"/>
          <p:cNvSpPr txBox="1"/>
          <p:nvPr/>
        </p:nvSpPr>
        <p:spPr>
          <a:xfrm>
            <a:off x="1001268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3" name="Text 191"/>
          <p:cNvSpPr txBox="1"/>
          <p:nvPr/>
        </p:nvSpPr>
        <p:spPr>
          <a:xfrm>
            <a:off x="1051560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4" name="Text 192"/>
          <p:cNvSpPr txBox="1"/>
          <p:nvPr/>
        </p:nvSpPr>
        <p:spPr>
          <a:xfrm>
            <a:off x="11018520"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95" name="Shape 193"/>
          <p:cNvSpPr/>
          <p:nvPr/>
        </p:nvSpPr>
        <p:spPr>
          <a:xfrm>
            <a:off x="457200" y="6126480"/>
            <a:ext cx="11274552" cy="356616"/>
          </a:xfrm>
          <a:prstGeom prst="rect">
            <a:avLst/>
          </a:prstGeom>
          <a:solidFill>
            <a:srgbClr val="E6F6EE"/>
          </a:solidFill>
          <a:ln/>
        </p:spPr>
      </p:sp>
      <p:sp>
        <p:nvSpPr>
          <p:cNvPr id="196" name="Text 19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set 98 new monthly records in 2026: 42 in service, 19 in parts and 37 in combined gross.</a:t>
            </a:r>
            <a:endParaRPr lang="en-US" sz="15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12A566"/>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12A566"/>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12A566"/>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12A566"/>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12A566"/>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12A566"/>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12A566"/>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00456"/>
          </a:xfrm>
          <a:prstGeom prst="rect">
            <a:avLst/>
          </a:prstGeom>
          <a:solidFill>
            <a:srgbClr val="EDF4FA"/>
          </a:solidFill>
          <a:ln/>
        </p:spPr>
      </p:sp>
      <p:sp>
        <p:nvSpPr>
          <p:cNvPr id="203" name="Text 201"/>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PHOTO COMPLETION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BEST TECHS · OPTION C</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737360"/>
            <a:ext cx="3840480" cy="1188720"/>
          </a:xfrm>
          <a:prstGeom prst="rect">
            <a:avLst/>
          </a:prstGeom>
          <a:noFill/>
          <a:ln/>
        </p:spPr>
        <p:txBody>
          <a:bodyPr wrap="square" lIns="0" tIns="0" rIns="0" bIns="0" rtlCol="0" anchor="ctr"/>
          <a:lstStyle/>
          <a:p>
            <a:pPr indent="0" marL="0">
              <a:buNone/>
            </a:pPr>
            <a:r>
              <a:rPr lang="en-US" sz="8000" b="1" dirty="0">
                <a:solidFill>
                  <a:srgbClr val="0B7A4A"/>
                </a:solidFill>
                <a:latin typeface="Inter" pitchFamily="34" charset="0"/>
                <a:ea typeface="Inter" pitchFamily="34" charset="-122"/>
                <a:cs typeface="Inter" pitchFamily="34" charset="-120"/>
              </a:rPr>
              <a:t>11 of 13</a:t>
            </a:r>
            <a:endParaRPr lang="en-US" sz="8000" dirty="0"/>
          </a:p>
        </p:txBody>
      </p:sp>
      <p:sp>
        <p:nvSpPr>
          <p:cNvPr id="7" name="Text 5"/>
          <p:cNvSpPr txBox="1"/>
          <p:nvPr/>
        </p:nvSpPr>
        <p:spPr>
          <a:xfrm>
            <a:off x="731520" y="2926080"/>
            <a:ext cx="3749040" cy="822960"/>
          </a:xfrm>
          <a:prstGeom prst="rect">
            <a:avLst/>
          </a:prstGeom>
          <a:noFill/>
          <a:ln/>
        </p:spPr>
        <p:txBody>
          <a:bodyPr wrap="square" lIns="0" tIns="0" rIns="0" bIns="0" rtlCol="0" anchor="t"/>
          <a:lstStyle/>
          <a:p>
            <a:pPr indent="0" marL="0">
              <a:buNone/>
            </a:pPr>
            <a:r>
              <a:rPr lang="en-US" sz="2200" b="1" dirty="0">
                <a:solidFill>
                  <a:srgbClr val="1A1A1A"/>
                </a:solidFill>
                <a:latin typeface="Inter" pitchFamily="34" charset="0"/>
                <a:ea typeface="Inter" pitchFamily="34" charset="-122"/>
                <a:cs typeface="Inter" pitchFamily="34" charset="-120"/>
              </a:rPr>
              <a:t>stores under 85% already have techs beating it.</a:t>
            </a:r>
            <a:endParaRPr lang="en-US" sz="2200" dirty="0"/>
          </a:p>
        </p:txBody>
      </p:sp>
      <p:sp>
        <p:nvSpPr>
          <p:cNvPr id="8" name="Text 6"/>
          <p:cNvSpPr txBox="1"/>
          <p:nvPr/>
        </p:nvSpPr>
        <p:spPr>
          <a:xfrm>
            <a:off x="731520" y="3886200"/>
            <a:ext cx="3657600" cy="1280160"/>
          </a:xfrm>
          <a:prstGeom prst="rect">
            <a:avLst/>
          </a:prstGeom>
          <a:noFill/>
          <a:ln/>
        </p:spPr>
        <p:txBody>
          <a:bodyPr wrap="square" lIns="0" tIns="0" rIns="0" bIns="0" rtlCol="0" anchor="t"/>
          <a:lstStyle/>
          <a:p>
            <a:pPr indent="0" marL="0">
              <a:buNone/>
            </a:pPr>
            <a:r>
              <a:rPr lang="en-US" sz="1600" dirty="0">
                <a:solidFill>
                  <a:srgbClr val="595959"/>
                </a:solidFill>
                <a:latin typeface="Inter" pitchFamily="34" charset="0"/>
                <a:ea typeface="Inter" pitchFamily="34" charset="-122"/>
                <a:cs typeface="Inter" pitchFamily="34" charset="-120"/>
              </a:rPr>
              <a:t>Same bays, same dispatch, same car count. The target is not theory; their own best techs hit it every month.</a:t>
            </a:r>
            <a:endParaRPr lang="en-US" sz="1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937760" y="1417320"/>
          <a:ext cx="6537960" cy="914400"/>
        </p:xfrm>
        <a:graphic>
          <a:graphicData uri="http://schemas.openxmlformats.org/drawingml/2006/table">
            <a:tbl>
              <a:tblPr/>
              <a:tblGrid>
                <a:gridCol w="3429000"/>
                <a:gridCol w="1554480"/>
                <a:gridCol w="1554480"/>
              </a:tblGrid>
              <a:tr h="283464">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Store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Store today</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Best techs</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KIA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CHEVY GMC BULLHEAD</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HYUNDAI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69%</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VW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CDJR POST FALLS</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71%</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VOLVO</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88%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GMC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KIA LV</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HONDA FLAGSTAFF</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130%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HYUNDAI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LR RENO</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81%</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TOYOTA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83%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bl>
          </a:graphicData>
        </a:graphic>
      </p:graphicFrame>
      <p:sp>
        <p:nvSpPr>
          <p:cNvPr id="10" name="Shape 7"/>
          <p:cNvSpPr/>
          <p:nvPr/>
        </p:nvSpPr>
        <p:spPr>
          <a:xfrm>
            <a:off x="457200" y="6126480"/>
            <a:ext cx="11274552" cy="615696"/>
          </a:xfrm>
          <a:prstGeom prst="rect">
            <a:avLst/>
          </a:prstGeom>
          <a:solidFill>
            <a:srgbClr val="EDF4FA"/>
          </a:solidFill>
          <a:ln/>
        </p:spPr>
      </p:sp>
      <p:sp>
        <p:nvSpPr>
          <p:cNvPr id="11" name="Text 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best quarter of techs already beat 85%. Same bays, same dispatch, same car count.</a:t>
            </a:r>
            <a:endParaRPr lang="en-US" sz="16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2026-10-22T20:48:35Z</dcterms:created>
  <dcterms:modified xsi:type="dcterms:W3CDTF">2026-10-22T20:48:35Z</dcterms:modified>
</cp:coreProperties>
</file>