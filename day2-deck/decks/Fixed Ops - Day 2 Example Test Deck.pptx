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00.xml" ContentType="application/vnd.openxmlformats-officedocument.drawingml.chart+xml"/>
  <Override PartName="/ppt/charts/chart101.xml" ContentType="application/vnd.openxmlformats-officedocument.drawingml.chart+xml"/>
  <Override PartName="/ppt/charts/chart102.xml" ContentType="application/vnd.openxmlformats-officedocument.drawingml.chart+xml"/>
  <Override PartName="/ppt/charts/chart103.xml" ContentType="application/vnd.openxmlformats-officedocument.drawingml.chart+xml"/>
  <Override PartName="/ppt/charts/chart104.xml" ContentType="application/vnd.openxmlformats-officedocument.drawingml.chart+xml"/>
  <Override PartName="/ppt/charts/chart105.xml" ContentType="application/vnd.openxmlformats-officedocument.drawingml.chart+xml"/>
  <Override PartName="/ppt/charts/chart106.xml" ContentType="application/vnd.openxmlformats-officedocument.drawingml.chart+xml"/>
  <Override PartName="/ppt/charts/chart107.xml" ContentType="application/vnd.openxmlformats-officedocument.drawingml.chart+xml"/>
  <Override PartName="/ppt/charts/chart108.xml" ContentType="application/vnd.openxmlformats-officedocument.drawingml.chart+xml"/>
  <Override PartName="/ppt/charts/chart109.xml" ContentType="application/vnd.openxmlformats-officedocument.drawingml.chart+xml"/>
  <Override PartName="/ppt/charts/chart11.xml" ContentType="application/vnd.openxmlformats-officedocument.drawingml.chart+xml"/>
  <Override PartName="/ppt/charts/chart110.xml" ContentType="application/vnd.openxmlformats-officedocument.drawingml.chart+xml"/>
  <Override PartName="/ppt/charts/chart111.xml" ContentType="application/vnd.openxmlformats-officedocument.drawingml.chart+xml"/>
  <Override PartName="/ppt/charts/chart112.xml" ContentType="application/vnd.openxmlformats-officedocument.drawingml.chart+xml"/>
  <Override PartName="/ppt/charts/chart113.xml" ContentType="application/vnd.openxmlformats-officedocument.drawingml.chart+xml"/>
  <Override PartName="/ppt/charts/chart114.xml" ContentType="application/vnd.openxmlformats-officedocument.drawingml.chart+xml"/>
  <Override PartName="/ppt/charts/chart115.xml" ContentType="application/vnd.openxmlformats-officedocument.drawingml.chart+xml"/>
  <Override PartName="/ppt/charts/chart116.xml" ContentType="application/vnd.openxmlformats-officedocument.drawingml.chart+xml"/>
  <Override PartName="/ppt/charts/chart117.xml" ContentType="application/vnd.openxmlformats-officedocument.drawingml.chart+xml"/>
  <Override PartName="/ppt/charts/chart118.xml" ContentType="application/vnd.openxmlformats-officedocument.drawingml.chart+xml"/>
  <Override PartName="/ppt/charts/chart119.xml" ContentType="application/vnd.openxmlformats-officedocument.drawingml.chart+xml"/>
  <Override PartName="/ppt/charts/chart12.xml" ContentType="application/vnd.openxmlformats-officedocument.drawingml.chart+xml"/>
  <Override PartName="/ppt/charts/chart120.xml" ContentType="application/vnd.openxmlformats-officedocument.drawingml.chart+xml"/>
  <Override PartName="/ppt/charts/chart121.xml" ContentType="application/vnd.openxmlformats-officedocument.drawingml.chart+xml"/>
  <Override PartName="/ppt/charts/chart122.xml" ContentType="application/vnd.openxmlformats-officedocument.drawingml.chart+xml"/>
  <Override PartName="/ppt/charts/chart123.xml" ContentType="application/vnd.openxmlformats-officedocument.drawingml.chart+xml"/>
  <Override PartName="/ppt/charts/chart124.xml" ContentType="application/vnd.openxmlformats-officedocument.drawingml.chart+xml"/>
  <Override PartName="/ppt/charts/chart125.xml" ContentType="application/vnd.openxmlformats-officedocument.drawingml.chart+xml"/>
  <Override PartName="/ppt/charts/chart126.xml" ContentType="application/vnd.openxmlformats-officedocument.drawingml.chart+xml"/>
  <Override PartName="/ppt/charts/chart127.xml" ContentType="application/vnd.openxmlformats-officedocument.drawingml.chart+xml"/>
  <Override PartName="/ppt/charts/chart128.xml" ContentType="application/vnd.openxmlformats-officedocument.drawingml.chart+xml"/>
  <Override PartName="/ppt/charts/chart129.xml" ContentType="application/vnd.openxmlformats-officedocument.drawingml.chart+xml"/>
  <Override PartName="/ppt/charts/chart13.xml" ContentType="application/vnd.openxmlformats-officedocument.drawingml.chart+xml"/>
  <Override PartName="/ppt/charts/chart130.xml" ContentType="application/vnd.openxmlformats-officedocument.drawingml.chart+xml"/>
  <Override PartName="/ppt/charts/chart131.xml" ContentType="application/vnd.openxmlformats-officedocument.drawingml.chart+xml"/>
  <Override PartName="/ppt/charts/chart132.xml" ContentType="application/vnd.openxmlformats-officedocument.drawingml.chart+xml"/>
  <Override PartName="/ppt/charts/chart133.xml" ContentType="application/vnd.openxmlformats-officedocument.drawingml.chart+xml"/>
  <Override PartName="/ppt/charts/chart134.xml" ContentType="application/vnd.openxmlformats-officedocument.drawingml.chart+xml"/>
  <Override PartName="/ppt/charts/chart135.xml" ContentType="application/vnd.openxmlformats-officedocument.drawingml.chart+xml"/>
  <Override PartName="/ppt/charts/chart136.xml" ContentType="application/vnd.openxmlformats-officedocument.drawingml.chart+xml"/>
  <Override PartName="/ppt/charts/chart137.xml" ContentType="application/vnd.openxmlformats-officedocument.drawingml.chart+xml"/>
  <Override PartName="/ppt/charts/chart138.xml" ContentType="application/vnd.openxmlformats-officedocument.drawingml.chart+xml"/>
  <Override PartName="/ppt/charts/chart139.xml" ContentType="application/vnd.openxmlformats-officedocument.drawingml.chart+xml"/>
  <Override PartName="/ppt/charts/chart14.xml" ContentType="application/vnd.openxmlformats-officedocument.drawingml.chart+xml"/>
  <Override PartName="/ppt/charts/chart140.xml" ContentType="application/vnd.openxmlformats-officedocument.drawingml.chart+xml"/>
  <Override PartName="/ppt/charts/chart141.xml" ContentType="application/vnd.openxmlformats-officedocument.drawingml.chart+xml"/>
  <Override PartName="/ppt/charts/chart142.xml" ContentType="application/vnd.openxmlformats-officedocument.drawingml.chart+xml"/>
  <Override PartName="/ppt/charts/chart143.xml" ContentType="application/vnd.openxmlformats-officedocument.drawingml.chart+xml"/>
  <Override PartName="/ppt/charts/chart144.xml" ContentType="application/vnd.openxmlformats-officedocument.drawingml.chart+xml"/>
  <Override PartName="/ppt/charts/chart145.xml" ContentType="application/vnd.openxmlformats-officedocument.drawingml.chart+xml"/>
  <Override PartName="/ppt/charts/chart146.xml" ContentType="application/vnd.openxmlformats-officedocument.drawingml.chart+xml"/>
  <Override PartName="/ppt/charts/chart147.xml" ContentType="application/vnd.openxmlformats-officedocument.drawingml.chart+xml"/>
  <Override PartName="/ppt/charts/chart148.xml" ContentType="application/vnd.openxmlformats-officedocument.drawingml.chart+xml"/>
  <Override PartName="/ppt/charts/chart149.xml" ContentType="application/vnd.openxmlformats-officedocument.drawingml.chart+xml"/>
  <Override PartName="/ppt/charts/chart15.xml" ContentType="application/vnd.openxmlformats-officedocument.drawingml.chart+xml"/>
  <Override PartName="/ppt/charts/chart150.xml" ContentType="application/vnd.openxmlformats-officedocument.drawingml.chart+xml"/>
  <Override PartName="/ppt/charts/chart151.xml" ContentType="application/vnd.openxmlformats-officedocument.drawingml.chart+xml"/>
  <Override PartName="/ppt/charts/chart152.xml" ContentType="application/vnd.openxmlformats-officedocument.drawingml.chart+xml"/>
  <Override PartName="/ppt/charts/chart153.xml" ContentType="application/vnd.openxmlformats-officedocument.drawingml.chart+xml"/>
  <Override PartName="/ppt/charts/chart154.xml" ContentType="application/vnd.openxmlformats-officedocument.drawingml.chart+xml"/>
  <Override PartName="/ppt/charts/chart155.xml" ContentType="application/vnd.openxmlformats-officedocument.drawingml.chart+xml"/>
  <Override PartName="/ppt/charts/chart156.xml" ContentType="application/vnd.openxmlformats-officedocument.drawingml.chart+xml"/>
  <Override PartName="/ppt/charts/chart157.xml" ContentType="application/vnd.openxmlformats-officedocument.drawingml.chart+xml"/>
  <Override PartName="/ppt/charts/chart158.xml" ContentType="application/vnd.openxmlformats-officedocument.drawingml.chart+xml"/>
  <Override PartName="/ppt/charts/chart159.xml" ContentType="application/vnd.openxmlformats-officedocument.drawingml.chart+xml"/>
  <Override PartName="/ppt/charts/chart16.xml" ContentType="application/vnd.openxmlformats-officedocument.drawingml.chart+xml"/>
  <Override PartName="/ppt/charts/chart160.xml" ContentType="application/vnd.openxmlformats-officedocument.drawingml.chart+xml"/>
  <Override PartName="/ppt/charts/chart161.xml" ContentType="application/vnd.openxmlformats-officedocument.drawingml.chart+xml"/>
  <Override PartName="/ppt/charts/chart162.xml" ContentType="application/vnd.openxmlformats-officedocument.drawingml.chart+xml"/>
  <Override PartName="/ppt/charts/chart163.xml" ContentType="application/vnd.openxmlformats-officedocument.drawingml.chart+xml"/>
  <Override PartName="/ppt/charts/chart164.xml" ContentType="application/vnd.openxmlformats-officedocument.drawingml.chart+xml"/>
  <Override PartName="/ppt/charts/chart165.xml" ContentType="application/vnd.openxmlformats-officedocument.drawingml.chart+xml"/>
  <Override PartName="/ppt/charts/chart166.xml" ContentType="application/vnd.openxmlformats-officedocument.drawingml.chart+xml"/>
  <Override PartName="/ppt/charts/chart167.xml" ContentType="application/vnd.openxmlformats-officedocument.drawingml.chart+xml"/>
  <Override PartName="/ppt/charts/chart168.xml" ContentType="application/vnd.openxmlformats-officedocument.drawingml.chart+xml"/>
  <Override PartName="/ppt/charts/chart169.xml" ContentType="application/vnd.openxmlformats-officedocument.drawingml.chart+xml"/>
  <Override PartName="/ppt/charts/chart17.xml" ContentType="application/vnd.openxmlformats-officedocument.drawingml.chart+xml"/>
  <Override PartName="/ppt/charts/chart170.xml" ContentType="application/vnd.openxmlformats-officedocument.drawingml.chart+xml"/>
  <Override PartName="/ppt/charts/chart171.xml" ContentType="application/vnd.openxmlformats-officedocument.drawingml.chart+xml"/>
  <Override PartName="/ppt/charts/chart172.xml" ContentType="application/vnd.openxmlformats-officedocument.drawingml.chart+xml"/>
  <Override PartName="/ppt/charts/chart173.xml" ContentType="application/vnd.openxmlformats-officedocument.drawingml.chart+xml"/>
  <Override PartName="/ppt/charts/chart174.xml" ContentType="application/vnd.openxmlformats-officedocument.drawingml.chart+xml"/>
  <Override PartName="/ppt/charts/chart175.xml" ContentType="application/vnd.openxmlformats-officedocument.drawingml.chart+xml"/>
  <Override PartName="/ppt/charts/chart176.xml" ContentType="application/vnd.openxmlformats-officedocument.drawingml.chart+xml"/>
  <Override PartName="/ppt/charts/chart177.xml" ContentType="application/vnd.openxmlformats-officedocument.drawingml.chart+xml"/>
  <Override PartName="/ppt/charts/chart178.xml" ContentType="application/vnd.openxmlformats-officedocument.drawingml.chart+xml"/>
  <Override PartName="/ppt/charts/chart179.xml" ContentType="application/vnd.openxmlformats-officedocument.drawingml.chart+xml"/>
  <Override PartName="/ppt/charts/chart18.xml" ContentType="application/vnd.openxmlformats-officedocument.drawingml.chart+xml"/>
  <Override PartName="/ppt/charts/chart180.xml" ContentType="application/vnd.openxmlformats-officedocument.drawingml.chart+xml"/>
  <Override PartName="/ppt/charts/chart181.xml" ContentType="application/vnd.openxmlformats-officedocument.drawingml.chart+xml"/>
  <Override PartName="/ppt/charts/chart182.xml" ContentType="application/vnd.openxmlformats-officedocument.drawingml.chart+xml"/>
  <Override PartName="/ppt/charts/chart183.xml" ContentType="application/vnd.openxmlformats-officedocument.drawingml.chart+xml"/>
  <Override PartName="/ppt/charts/chart184.xml" ContentType="application/vnd.openxmlformats-officedocument.drawingml.chart+xml"/>
  <Override PartName="/ppt/charts/chart185.xml" ContentType="application/vnd.openxmlformats-officedocument.drawingml.chart+xml"/>
  <Override PartName="/ppt/charts/chart186.xml" ContentType="application/vnd.openxmlformats-officedocument.drawingml.chart+xml"/>
  <Override PartName="/ppt/charts/chart187.xml" ContentType="application/vnd.openxmlformats-officedocument.drawingml.chart+xml"/>
  <Override PartName="/ppt/charts/chart188.xml" ContentType="application/vnd.openxmlformats-officedocument.drawingml.chart+xml"/>
  <Override PartName="/ppt/charts/chart189.xml" ContentType="application/vnd.openxmlformats-officedocument.drawingml.chart+xml"/>
  <Override PartName="/ppt/charts/chart19.xml" ContentType="application/vnd.openxmlformats-officedocument.drawingml.chart+xml"/>
  <Override PartName="/ppt/charts/chart190.xml" ContentType="application/vnd.openxmlformats-officedocument.drawingml.chart+xml"/>
  <Override PartName="/ppt/charts/chart191.xml" ContentType="application/vnd.openxmlformats-officedocument.drawingml.chart+xml"/>
  <Override PartName="/ppt/charts/chart192.xml" ContentType="application/vnd.openxmlformats-officedocument.drawingml.chart+xml"/>
  <Override PartName="/ppt/charts/chart193.xml" ContentType="application/vnd.openxmlformats-officedocument.drawingml.chart+xml"/>
  <Override PartName="/ppt/charts/chart194.xml" ContentType="application/vnd.openxmlformats-officedocument.drawingml.chart+xml"/>
  <Override PartName="/ppt/charts/chart195.xml" ContentType="application/vnd.openxmlformats-officedocument.drawingml.chart+xml"/>
  <Override PartName="/ppt/charts/chart196.xml" ContentType="application/vnd.openxmlformats-officedocument.drawingml.chart+xml"/>
  <Override PartName="/ppt/charts/chart197.xml" ContentType="application/vnd.openxmlformats-officedocument.drawingml.chart+xml"/>
  <Override PartName="/ppt/charts/chart198.xml" ContentType="application/vnd.openxmlformats-officedocument.drawingml.chart+xml"/>
  <Override PartName="/ppt/charts/chart19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00.xml" ContentType="application/vnd.openxmlformats-officedocument.drawingml.chart+xml"/>
  <Override PartName="/ppt/charts/chart201.xml" ContentType="application/vnd.openxmlformats-officedocument.drawingml.chart+xml"/>
  <Override PartName="/ppt/charts/chart202.xml" ContentType="application/vnd.openxmlformats-officedocument.drawingml.chart+xml"/>
  <Override PartName="/ppt/charts/chart203.xml" ContentType="application/vnd.openxmlformats-officedocument.drawingml.chart+xml"/>
  <Override PartName="/ppt/charts/chart204.xml" ContentType="application/vnd.openxmlformats-officedocument.drawingml.chart+xml"/>
  <Override PartName="/ppt/charts/chart205.xml" ContentType="application/vnd.openxmlformats-officedocument.drawingml.chart+xml"/>
  <Override PartName="/ppt/charts/chart206.xml" ContentType="application/vnd.openxmlformats-officedocument.drawingml.chart+xml"/>
  <Override PartName="/ppt/charts/chart207.xml" ContentType="application/vnd.openxmlformats-officedocument.drawingml.chart+xml"/>
  <Override PartName="/ppt/charts/chart208.xml" ContentType="application/vnd.openxmlformats-officedocument.drawingml.chart+xml"/>
  <Override PartName="/ppt/charts/chart209.xml" ContentType="application/vnd.openxmlformats-officedocument.drawingml.chart+xml"/>
  <Override PartName="/ppt/charts/chart21.xml" ContentType="application/vnd.openxmlformats-officedocument.drawingml.chart+xml"/>
  <Override PartName="/ppt/charts/chart210.xml" ContentType="application/vnd.openxmlformats-officedocument.drawingml.chart+xml"/>
  <Override PartName="/ppt/charts/chart211.xml" ContentType="application/vnd.openxmlformats-officedocument.drawingml.chart+xml"/>
  <Override PartName="/ppt/charts/chart212.xml" ContentType="application/vnd.openxmlformats-officedocument.drawingml.chart+xml"/>
  <Override PartName="/ppt/charts/chart213.xml" ContentType="application/vnd.openxmlformats-officedocument.drawingml.chart+xml"/>
  <Override PartName="/ppt/charts/chart214.xml" ContentType="application/vnd.openxmlformats-officedocument.drawingml.chart+xml"/>
  <Override PartName="/ppt/charts/chart215.xml" ContentType="application/vnd.openxmlformats-officedocument.drawingml.chart+xml"/>
  <Override PartName="/ppt/charts/chart216.xml" ContentType="application/vnd.openxmlformats-officedocument.drawingml.chart+xml"/>
  <Override PartName="/ppt/charts/chart217.xml" ContentType="application/vnd.openxmlformats-officedocument.drawingml.chart+xml"/>
  <Override PartName="/ppt/charts/chart218.xml" ContentType="application/vnd.openxmlformats-officedocument.drawingml.chart+xml"/>
  <Override PartName="/ppt/charts/chart219.xml" ContentType="application/vnd.openxmlformats-officedocument.drawingml.chart+xml"/>
  <Override PartName="/ppt/charts/chart22.xml" ContentType="application/vnd.openxmlformats-officedocument.drawingml.chart+xml"/>
  <Override PartName="/ppt/charts/chart220.xml" ContentType="application/vnd.openxmlformats-officedocument.drawingml.chart+xml"/>
  <Override PartName="/ppt/charts/chart221.xml" ContentType="application/vnd.openxmlformats-officedocument.drawingml.chart+xml"/>
  <Override PartName="/ppt/charts/chart222.xml" ContentType="application/vnd.openxmlformats-officedocument.drawingml.chart+xml"/>
  <Override PartName="/ppt/charts/chart223.xml" ContentType="application/vnd.openxmlformats-officedocument.drawingml.chart+xml"/>
  <Override PartName="/ppt/charts/chart224.xml" ContentType="application/vnd.openxmlformats-officedocument.drawingml.chart+xml"/>
  <Override PartName="/ppt/charts/chart225.xml" ContentType="application/vnd.openxmlformats-officedocument.drawingml.chart+xml"/>
  <Override PartName="/ppt/charts/chart226.xml" ContentType="application/vnd.openxmlformats-officedocument.drawingml.chart+xml"/>
  <Override PartName="/ppt/charts/chart227.xml" ContentType="application/vnd.openxmlformats-officedocument.drawingml.chart+xml"/>
  <Override PartName="/ppt/charts/chart228.xml" ContentType="application/vnd.openxmlformats-officedocument.drawingml.chart+xml"/>
  <Override PartName="/ppt/charts/chart229.xml" ContentType="application/vnd.openxmlformats-officedocument.drawingml.chart+xml"/>
  <Override PartName="/ppt/charts/chart23.xml" ContentType="application/vnd.openxmlformats-officedocument.drawingml.chart+xml"/>
  <Override PartName="/ppt/charts/chart230.xml" ContentType="application/vnd.openxmlformats-officedocument.drawingml.chart+xml"/>
  <Override PartName="/ppt/charts/chart231.xml" ContentType="application/vnd.openxmlformats-officedocument.drawingml.chart+xml"/>
  <Override PartName="/ppt/charts/chart232.xml" ContentType="application/vnd.openxmlformats-officedocument.drawingml.chart+xml"/>
  <Override PartName="/ppt/charts/chart233.xml" ContentType="application/vnd.openxmlformats-officedocument.drawingml.chart+xml"/>
  <Override PartName="/ppt/charts/chart234.xml" ContentType="application/vnd.openxmlformats-officedocument.drawingml.chart+xml"/>
  <Override PartName="/ppt/charts/chart235.xml" ContentType="application/vnd.openxmlformats-officedocument.drawingml.chart+xml"/>
  <Override PartName="/ppt/charts/chart236.xml" ContentType="application/vnd.openxmlformats-officedocument.drawingml.chart+xml"/>
  <Override PartName="/ppt/charts/chart237.xml" ContentType="application/vnd.openxmlformats-officedocument.drawingml.chart+xml"/>
  <Override PartName="/ppt/charts/chart238.xml" ContentType="application/vnd.openxmlformats-officedocument.drawingml.chart+xml"/>
  <Override PartName="/ppt/charts/chart239.xml" ContentType="application/vnd.openxmlformats-officedocument.drawingml.chart+xml"/>
  <Override PartName="/ppt/charts/chart24.xml" ContentType="application/vnd.openxmlformats-officedocument.drawingml.chart+xml"/>
  <Override PartName="/ppt/charts/chart240.xml" ContentType="application/vnd.openxmlformats-officedocument.drawingml.chart+xml"/>
  <Override PartName="/ppt/charts/chart241.xml" ContentType="application/vnd.openxmlformats-officedocument.drawingml.chart+xml"/>
  <Override PartName="/ppt/charts/chart242.xml" ContentType="application/vnd.openxmlformats-officedocument.drawingml.chart+xml"/>
  <Override PartName="/ppt/charts/chart243.xml" ContentType="application/vnd.openxmlformats-officedocument.drawingml.chart+xml"/>
  <Override PartName="/ppt/charts/chart244.xml" ContentType="application/vnd.openxmlformats-officedocument.drawingml.chart+xml"/>
  <Override PartName="/ppt/charts/chart245.xml" ContentType="application/vnd.openxmlformats-officedocument.drawingml.chart+xml"/>
  <Override PartName="/ppt/charts/chart246.xml" ContentType="application/vnd.openxmlformats-officedocument.drawingml.chart+xml"/>
  <Override PartName="/ppt/charts/chart247.xml" ContentType="application/vnd.openxmlformats-officedocument.drawingml.chart+xml"/>
  <Override PartName="/ppt/charts/chart248.xml" ContentType="application/vnd.openxmlformats-officedocument.drawingml.chart+xml"/>
  <Override PartName="/ppt/charts/chart249.xml" ContentType="application/vnd.openxmlformats-officedocument.drawingml.chart+xml"/>
  <Override PartName="/ppt/charts/chart25.xml" ContentType="application/vnd.openxmlformats-officedocument.drawingml.chart+xml"/>
  <Override PartName="/ppt/charts/chart250.xml" ContentType="application/vnd.openxmlformats-officedocument.drawingml.chart+xml"/>
  <Override PartName="/ppt/charts/chart251.xml" ContentType="application/vnd.openxmlformats-officedocument.drawingml.chart+xml"/>
  <Override PartName="/ppt/charts/chart26.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charts/chart36.xml" ContentType="application/vnd.openxmlformats-officedocument.drawingml.chart+xml"/>
  <Override PartName="/ppt/charts/chart37.xml" ContentType="application/vnd.openxmlformats-officedocument.drawingml.chart+xml"/>
  <Override PartName="/ppt/charts/chart38.xml" ContentType="application/vnd.openxmlformats-officedocument.drawingml.chart+xml"/>
  <Override PartName="/ppt/charts/chart39.xml" ContentType="application/vnd.openxmlformats-officedocument.drawingml.chart+xml"/>
  <Override PartName="/ppt/charts/chart4.xml" ContentType="application/vnd.openxmlformats-officedocument.drawingml.chart+xml"/>
  <Override PartName="/ppt/charts/chart40.xml" ContentType="application/vnd.openxmlformats-officedocument.drawingml.chart+xml"/>
  <Override PartName="/ppt/charts/chart41.xml" ContentType="application/vnd.openxmlformats-officedocument.drawingml.chart+xml"/>
  <Override PartName="/ppt/charts/chart42.xml" ContentType="application/vnd.openxmlformats-officedocument.drawingml.chart+xml"/>
  <Override PartName="/ppt/charts/chart43.xml" ContentType="application/vnd.openxmlformats-officedocument.drawingml.chart+xml"/>
  <Override PartName="/ppt/charts/chart44.xml" ContentType="application/vnd.openxmlformats-officedocument.drawingml.chart+xml"/>
  <Override PartName="/ppt/charts/chart45.xml" ContentType="application/vnd.openxmlformats-officedocument.drawingml.chart+xml"/>
  <Override PartName="/ppt/charts/chart46.xml" ContentType="application/vnd.openxmlformats-officedocument.drawingml.chart+xml"/>
  <Override PartName="/ppt/charts/chart47.xml" ContentType="application/vnd.openxmlformats-officedocument.drawingml.chart+xml"/>
  <Override PartName="/ppt/charts/chart48.xml" ContentType="application/vnd.openxmlformats-officedocument.drawingml.chart+xml"/>
  <Override PartName="/ppt/charts/chart49.xml" ContentType="application/vnd.openxmlformats-officedocument.drawingml.chart+xml"/>
  <Override PartName="/ppt/charts/chart5.xml" ContentType="application/vnd.openxmlformats-officedocument.drawingml.chart+xml"/>
  <Override PartName="/ppt/charts/chart50.xml" ContentType="application/vnd.openxmlformats-officedocument.drawingml.chart+xml"/>
  <Override PartName="/ppt/charts/chart51.xml" ContentType="application/vnd.openxmlformats-officedocument.drawingml.chart+xml"/>
  <Override PartName="/ppt/charts/chart52.xml" ContentType="application/vnd.openxmlformats-officedocument.drawingml.chart+xml"/>
  <Override PartName="/ppt/charts/chart53.xml" ContentType="application/vnd.openxmlformats-officedocument.drawingml.chart+xml"/>
  <Override PartName="/ppt/charts/chart54.xml" ContentType="application/vnd.openxmlformats-officedocument.drawingml.chart+xml"/>
  <Override PartName="/ppt/charts/chart55.xml" ContentType="application/vnd.openxmlformats-officedocument.drawingml.chart+xml"/>
  <Override PartName="/ppt/charts/chart56.xml" ContentType="application/vnd.openxmlformats-officedocument.drawingml.chart+xml"/>
  <Override PartName="/ppt/charts/chart57.xml" ContentType="application/vnd.openxmlformats-officedocument.drawingml.chart+xml"/>
  <Override PartName="/ppt/charts/chart58.xml" ContentType="application/vnd.openxmlformats-officedocument.drawingml.chart+xml"/>
  <Override PartName="/ppt/charts/chart59.xml" ContentType="application/vnd.openxmlformats-officedocument.drawingml.chart+xml"/>
  <Override PartName="/ppt/charts/chart6.xml" ContentType="application/vnd.openxmlformats-officedocument.drawingml.chart+xml"/>
  <Override PartName="/ppt/charts/chart60.xml" ContentType="application/vnd.openxmlformats-officedocument.drawingml.chart+xml"/>
  <Override PartName="/ppt/charts/chart61.xml" ContentType="application/vnd.openxmlformats-officedocument.drawingml.chart+xml"/>
  <Override PartName="/ppt/charts/chart62.xml" ContentType="application/vnd.openxmlformats-officedocument.drawingml.chart+xml"/>
  <Override PartName="/ppt/charts/chart63.xml" ContentType="application/vnd.openxmlformats-officedocument.drawingml.chart+xml"/>
  <Override PartName="/ppt/charts/chart64.xml" ContentType="application/vnd.openxmlformats-officedocument.drawingml.chart+xml"/>
  <Override PartName="/ppt/charts/chart65.xml" ContentType="application/vnd.openxmlformats-officedocument.drawingml.chart+xml"/>
  <Override PartName="/ppt/charts/chart66.xml" ContentType="application/vnd.openxmlformats-officedocument.drawingml.chart+xml"/>
  <Override PartName="/ppt/charts/chart67.xml" ContentType="application/vnd.openxmlformats-officedocument.drawingml.chart+xml"/>
  <Override PartName="/ppt/charts/chart68.xml" ContentType="application/vnd.openxmlformats-officedocument.drawingml.chart+xml"/>
  <Override PartName="/ppt/charts/chart69.xml" ContentType="application/vnd.openxmlformats-officedocument.drawingml.chart+xml"/>
  <Override PartName="/ppt/charts/chart7.xml" ContentType="application/vnd.openxmlformats-officedocument.drawingml.chart+xml"/>
  <Override PartName="/ppt/charts/chart70.xml" ContentType="application/vnd.openxmlformats-officedocument.drawingml.chart+xml"/>
  <Override PartName="/ppt/charts/chart71.xml" ContentType="application/vnd.openxmlformats-officedocument.drawingml.chart+xml"/>
  <Override PartName="/ppt/charts/chart72.xml" ContentType="application/vnd.openxmlformats-officedocument.drawingml.chart+xml"/>
  <Override PartName="/ppt/charts/chart73.xml" ContentType="application/vnd.openxmlformats-officedocument.drawingml.chart+xml"/>
  <Override PartName="/ppt/charts/chart74.xml" ContentType="application/vnd.openxmlformats-officedocument.drawingml.chart+xml"/>
  <Override PartName="/ppt/charts/chart75.xml" ContentType="application/vnd.openxmlformats-officedocument.drawingml.chart+xml"/>
  <Override PartName="/ppt/charts/chart76.xml" ContentType="application/vnd.openxmlformats-officedocument.drawingml.chart+xml"/>
  <Override PartName="/ppt/charts/chart77.xml" ContentType="application/vnd.openxmlformats-officedocument.drawingml.chart+xml"/>
  <Override PartName="/ppt/charts/chart78.xml" ContentType="application/vnd.openxmlformats-officedocument.drawingml.chart+xml"/>
  <Override PartName="/ppt/charts/chart79.xml" ContentType="application/vnd.openxmlformats-officedocument.drawingml.chart+xml"/>
  <Override PartName="/ppt/charts/chart8.xml" ContentType="application/vnd.openxmlformats-officedocument.drawingml.chart+xml"/>
  <Override PartName="/ppt/charts/chart80.xml" ContentType="application/vnd.openxmlformats-officedocument.drawingml.chart+xml"/>
  <Override PartName="/ppt/charts/chart81.xml" ContentType="application/vnd.openxmlformats-officedocument.drawingml.chart+xml"/>
  <Override PartName="/ppt/charts/chart82.xml" ContentType="application/vnd.openxmlformats-officedocument.drawingml.chart+xml"/>
  <Override PartName="/ppt/charts/chart83.xml" ContentType="application/vnd.openxmlformats-officedocument.drawingml.chart+xml"/>
  <Override PartName="/ppt/charts/chart84.xml" ContentType="application/vnd.openxmlformats-officedocument.drawingml.chart+xml"/>
  <Override PartName="/ppt/charts/chart85.xml" ContentType="application/vnd.openxmlformats-officedocument.drawingml.chart+xml"/>
  <Override PartName="/ppt/charts/chart86.xml" ContentType="application/vnd.openxmlformats-officedocument.drawingml.chart+xml"/>
  <Override PartName="/ppt/charts/chart87.xml" ContentType="application/vnd.openxmlformats-officedocument.drawingml.chart+xml"/>
  <Override PartName="/ppt/charts/chart88.xml" ContentType="application/vnd.openxmlformats-officedocument.drawingml.chart+xml"/>
  <Override PartName="/ppt/charts/chart89.xml" ContentType="application/vnd.openxmlformats-officedocument.drawingml.chart+xml"/>
  <Override PartName="/ppt/charts/chart9.xml" ContentType="application/vnd.openxmlformats-officedocument.drawingml.chart+xml"/>
  <Override PartName="/ppt/charts/chart90.xml" ContentType="application/vnd.openxmlformats-officedocument.drawingml.chart+xml"/>
  <Override PartName="/ppt/charts/chart91.xml" ContentType="application/vnd.openxmlformats-officedocument.drawingml.chart+xml"/>
  <Override PartName="/ppt/charts/chart92.xml" ContentType="application/vnd.openxmlformats-officedocument.drawingml.chart+xml"/>
  <Override PartName="/ppt/charts/chart93.xml" ContentType="application/vnd.openxmlformats-officedocument.drawingml.chart+xml"/>
  <Override PartName="/ppt/charts/chart94.xml" ContentType="application/vnd.openxmlformats-officedocument.drawingml.chart+xml"/>
  <Override PartName="/ppt/charts/chart95.xml" ContentType="application/vnd.openxmlformats-officedocument.drawingml.chart+xml"/>
  <Override PartName="/ppt/charts/chart96.xml" ContentType="application/vnd.openxmlformats-officedocument.drawingml.chart+xml"/>
  <Override PartName="/ppt/charts/chart97.xml" ContentType="application/vnd.openxmlformats-officedocument.drawingml.chart+xml"/>
  <Override PartName="/ppt/charts/chart98.xml" ContentType="application/vnd.openxmlformats-officedocument.drawingml.chart+xml"/>
  <Override PartName="/ppt/charts/chart9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67" r:id="rId18"/>
    <p:sldId id="258" r:id="rId4"/>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59" r:id="rId5"/>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60" r:id="rId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261" r:id="rId7"/>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262" r:id="rId8"/>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263" r:id="rId9"/>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264" r:id="rId10"/>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265" r:id="rId11"/>
    <p:sldId id="427" r:id="rId178"/>
    <p:sldId id="428" r:id="rId179"/>
    <p:sldId id="429" r:id="rId180"/>
    <p:sldId id="430" r:id="rId181"/>
    <p:sldId id="431" r:id="rId182"/>
    <p:sldId id="432" r:id="rId183"/>
    <p:sldId id="266" r:id="rId12"/>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453" r:id="rId204"/>
    <p:sldId id="454" r:id="rId205"/>
    <p:sldId id="455" r:id="rId206"/>
    <p:sldId id="456" r:id="rId207"/>
    <p:sldId id="457" r:id="rId208"/>
    <p:sldId id="458" r:id="rId209"/>
    <p:sldId id="459" r:id="rId210"/>
    <p:sldId id="460" r:id="rId211"/>
    <p:sldId id="461" r:id="rId212"/>
    <p:sldId id="462" r:id="rId213"/>
    <p:sldId id="463" r:id="rId214"/>
    <p:sldId id="464" r:id="rId215"/>
    <p:sldId id="465" r:id="rId216"/>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 Id="rId210" Type="http://schemas.openxmlformats.org/officeDocument/2006/relationships/slide" Target="slides/slide204.xml"/><Relationship Id="rId211" Type="http://schemas.openxmlformats.org/officeDocument/2006/relationships/slide" Target="slides/slide205.xml"/><Relationship Id="rId212" Type="http://schemas.openxmlformats.org/officeDocument/2006/relationships/slide" Target="slides/slide206.xml"/><Relationship Id="rId213" Type="http://schemas.openxmlformats.org/officeDocument/2006/relationships/slide" Target="slides/slide207.xml"/><Relationship Id="rId214" Type="http://schemas.openxmlformats.org/officeDocument/2006/relationships/slide" Target="slides/slide208.xml"/><Relationship Id="rId215" Type="http://schemas.openxmlformats.org/officeDocument/2006/relationships/slide" Target="slides/slide209.xml"/><Relationship Id="rId216" Type="http://schemas.openxmlformats.org/officeDocument/2006/relationships/slide" Target="slides/slide21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
<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
<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
<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
<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
<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
<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
<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
<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
<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
<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
<Relationships xmlns="http://schemas.openxmlformats.org/package/2006/relationships"><Relationship Id="rId1" Type="http://schemas.openxmlformats.org/officeDocument/2006/relationships/package" Target="../embeddings/Microsoft_Excel_Worksheet39.xlsx"/></Relationships>
</file>

<file path=ppt/charts/_rels/chart40.xml.rels><?xml version='1.0' encoding='UTF-8' standalone='yes'?>
<Relationships xmlns="http://schemas.openxmlformats.org/package/2006/relationships"><Relationship Id="rId1" Type="http://schemas.openxmlformats.org/officeDocument/2006/relationships/package" Target="../embeddings/Microsoft_Excel_Worksheet40.xlsx"/></Relationships>
</file>

<file path=ppt/charts/_rels/chart41.xml.rels><?xml version='1.0' encoding='UTF-8' standalone='yes'?>
<Relationships xmlns="http://schemas.openxmlformats.org/package/2006/relationships"><Relationship Id="rId1" Type="http://schemas.openxmlformats.org/officeDocument/2006/relationships/package" Target="../embeddings/Microsoft_Excel_Worksheet41.xlsx"/></Relationships>
</file>

<file path=ppt/charts/_rels/chart42.xml.rels><?xml version='1.0' encoding='UTF-8' standalone='yes'?>
<Relationships xmlns="http://schemas.openxmlformats.org/package/2006/relationships"><Relationship Id="rId1" Type="http://schemas.openxmlformats.org/officeDocument/2006/relationships/package" Target="../embeddings/Microsoft_Excel_Worksheet42.xlsx"/></Relationships>
</file>

<file path=ppt/charts/_rels/chart43.xml.rels><?xml version='1.0' encoding='UTF-8' standalone='yes'?>
<Relationships xmlns="http://schemas.openxmlformats.org/package/2006/relationships"><Relationship Id="rId1" Type="http://schemas.openxmlformats.org/officeDocument/2006/relationships/package" Target="../embeddings/Microsoft_Excel_Worksheet43.xlsx"/></Relationships>
</file>

<file path=ppt/charts/_rels/chart44.xml.rels><?xml version='1.0' encoding='UTF-8' standalone='yes'?>
<Relationships xmlns="http://schemas.openxmlformats.org/package/2006/relationships"><Relationship Id="rId1" Type="http://schemas.openxmlformats.org/officeDocument/2006/relationships/package" Target="../embeddings/Microsoft_Excel_Worksheet44.xlsx"/></Relationships>
</file>

<file path=ppt/charts/_rels/chart45.xml.rels><?xml version='1.0' encoding='UTF-8' standalone='yes'?>
<Relationships xmlns="http://schemas.openxmlformats.org/package/2006/relationships"><Relationship Id="rId1" Type="http://schemas.openxmlformats.org/officeDocument/2006/relationships/package" Target="../embeddings/Microsoft_Excel_Worksheet45.xlsx"/></Relationships>
</file>

<file path=ppt/charts/_rels/chart46.xml.rels><?xml version='1.0' encoding='UTF-8' standalone='yes'?>
<Relationships xmlns="http://schemas.openxmlformats.org/package/2006/relationships"><Relationship Id="rId1" Type="http://schemas.openxmlformats.org/officeDocument/2006/relationships/package" Target="../embeddings/Microsoft_Excel_Worksheet46.xlsx"/></Relationships>
</file>

<file path=ppt/charts/_rels/chart47.xml.rels><?xml version='1.0' encoding='UTF-8' standalone='yes'?>
<Relationships xmlns="http://schemas.openxmlformats.org/package/2006/relationships"><Relationship Id="rId1" Type="http://schemas.openxmlformats.org/officeDocument/2006/relationships/package" Target="../embeddings/Microsoft_Excel_Worksheet47.xlsx"/></Relationships>
</file>

<file path=ppt/charts/_rels/chart48.xml.rels><?xml version='1.0' encoding='UTF-8' standalone='yes'?>
<Relationships xmlns="http://schemas.openxmlformats.org/package/2006/relationships"><Relationship Id="rId1" Type="http://schemas.openxmlformats.org/officeDocument/2006/relationships/package" Target="../embeddings/Microsoft_Excel_Worksheet48.xlsx"/></Relationships>
</file>

<file path=ppt/charts/_rels/chart49.xml.rels><?xml version='1.0' encoding='UTF-8' standalone='yes'?>
<Relationships xmlns="http://schemas.openxmlformats.org/package/2006/relationships"><Relationship Id="rId1" Type="http://schemas.openxmlformats.org/officeDocument/2006/relationships/package" Target="../embeddings/Microsoft_Excel_Worksheet49.xlsx"/></Relationships>
</file>

<file path=ppt/charts/_rels/chart50.xml.rels><?xml version='1.0' encoding='UTF-8' standalone='yes'?>
<Relationships xmlns="http://schemas.openxmlformats.org/package/2006/relationships"><Relationship Id="rId1" Type="http://schemas.openxmlformats.org/officeDocument/2006/relationships/package" Target="../embeddings/Microsoft_Excel_Worksheet50.xlsx"/></Relationships>
</file>

<file path=ppt/charts/_rels/chart51.xml.rels><?xml version='1.0' encoding='UTF-8' standalone='yes'?>
<Relationships xmlns="http://schemas.openxmlformats.org/package/2006/relationships"><Relationship Id="rId1" Type="http://schemas.openxmlformats.org/officeDocument/2006/relationships/package" Target="../embeddings/Microsoft_Excel_Worksheet51.xlsx"/></Relationships>
</file>

<file path=ppt/charts/_rels/chart52.xml.rels><?xml version='1.0' encoding='UTF-8' standalone='yes'?>
<Relationships xmlns="http://schemas.openxmlformats.org/package/2006/relationships"><Relationship Id="rId1" Type="http://schemas.openxmlformats.org/officeDocument/2006/relationships/package" Target="../embeddings/Microsoft_Excel_Worksheet52.xlsx"/></Relationships>
</file>

<file path=ppt/charts/_rels/chart53.xml.rels><?xml version='1.0' encoding='UTF-8' standalone='yes'?>
<Relationships xmlns="http://schemas.openxmlformats.org/package/2006/relationships"><Relationship Id="rId1" Type="http://schemas.openxmlformats.org/officeDocument/2006/relationships/package" Target="../embeddings/Microsoft_Excel_Worksheet53.xlsx"/></Relationships>
</file>

<file path=ppt/charts/_rels/chart54.xml.rels><?xml version='1.0' encoding='UTF-8' standalone='yes'?>
<Relationships xmlns="http://schemas.openxmlformats.org/package/2006/relationships"><Relationship Id="rId1" Type="http://schemas.openxmlformats.org/officeDocument/2006/relationships/package" Target="../embeddings/Microsoft_Excel_Worksheet54.xlsx"/></Relationships>
</file>

<file path=ppt/charts/_rels/chart55.xml.rels><?xml version='1.0' encoding='UTF-8' standalone='yes'?>
<Relationships xmlns="http://schemas.openxmlformats.org/package/2006/relationships"><Relationship Id="rId1" Type="http://schemas.openxmlformats.org/officeDocument/2006/relationships/package" Target="../embeddings/Microsoft_Excel_Worksheet55.xlsx"/></Relationships>
</file>

<file path=ppt/charts/_rels/chart56.xml.rels><?xml version='1.0' encoding='UTF-8' standalone='yes'?>
<Relationships xmlns="http://schemas.openxmlformats.org/package/2006/relationships"><Relationship Id="rId1" Type="http://schemas.openxmlformats.org/officeDocument/2006/relationships/package" Target="../embeddings/Microsoft_Excel_Worksheet56.xlsx"/></Relationships>
</file>

<file path=ppt/charts/_rels/chart57.xml.rels><?xml version='1.0' encoding='UTF-8' standalone='yes'?>
<Relationships xmlns="http://schemas.openxmlformats.org/package/2006/relationships"><Relationship Id="rId1" Type="http://schemas.openxmlformats.org/officeDocument/2006/relationships/package" Target="../embeddings/Microsoft_Excel_Worksheet57.xlsx"/></Relationships>
</file>

<file path=ppt/charts/_rels/chart58.xml.rels><?xml version='1.0' encoding='UTF-8' standalone='yes'?>
<Relationships xmlns="http://schemas.openxmlformats.org/package/2006/relationships"><Relationship Id="rId1" Type="http://schemas.openxmlformats.org/officeDocument/2006/relationships/package" Target="../embeddings/Microsoft_Excel_Worksheet58.xlsx"/></Relationships>
</file>

<file path=ppt/charts/_rels/chart59.xml.rels><?xml version='1.0' encoding='UTF-8' standalone='yes'?>
<Relationships xmlns="http://schemas.openxmlformats.org/package/2006/relationships"><Relationship Id="rId1" Type="http://schemas.openxmlformats.org/officeDocument/2006/relationships/package" Target="../embeddings/Microsoft_Excel_Worksheet59.xlsx"/></Relationships>
</file>

<file path=ppt/charts/_rels/chart60.xml.rels><?xml version='1.0' encoding='UTF-8' standalone='yes'?>
<Relationships xmlns="http://schemas.openxmlformats.org/package/2006/relationships"><Relationship Id="rId1" Type="http://schemas.openxmlformats.org/officeDocument/2006/relationships/package" Target="../embeddings/Microsoft_Excel_Worksheet60.xlsx"/></Relationships>
</file>

<file path=ppt/charts/_rels/chart61.xml.rels><?xml version='1.0' encoding='UTF-8' standalone='yes'?>
<Relationships xmlns="http://schemas.openxmlformats.org/package/2006/relationships"><Relationship Id="rId1" Type="http://schemas.openxmlformats.org/officeDocument/2006/relationships/package" Target="../embeddings/Microsoft_Excel_Worksheet61.xlsx"/></Relationships>
</file>

<file path=ppt/charts/_rels/chart62.xml.rels><?xml version='1.0' encoding='UTF-8' standalone='yes'?>
<Relationships xmlns="http://schemas.openxmlformats.org/package/2006/relationships"><Relationship Id="rId1" Type="http://schemas.openxmlformats.org/officeDocument/2006/relationships/package" Target="../embeddings/Microsoft_Excel_Worksheet62.xlsx"/></Relationships>
</file>

<file path=ppt/charts/_rels/chart63.xml.rels><?xml version='1.0' encoding='UTF-8' standalone='yes'?>
<Relationships xmlns="http://schemas.openxmlformats.org/package/2006/relationships"><Relationship Id="rId1" Type="http://schemas.openxmlformats.org/officeDocument/2006/relationships/package" Target="../embeddings/Microsoft_Excel_Worksheet63.xlsx"/></Relationships>
</file>

<file path=ppt/charts/_rels/chart64.xml.rels><?xml version='1.0' encoding='UTF-8' standalone='yes'?>
<Relationships xmlns="http://schemas.openxmlformats.org/package/2006/relationships"><Relationship Id="rId1" Type="http://schemas.openxmlformats.org/officeDocument/2006/relationships/package" Target="../embeddings/Microsoft_Excel_Worksheet64.xlsx"/></Relationships>
</file>

<file path=ppt/charts/_rels/chart65.xml.rels><?xml version='1.0' encoding='UTF-8' standalone='yes'?>
<Relationships xmlns="http://schemas.openxmlformats.org/package/2006/relationships"><Relationship Id="rId1" Type="http://schemas.openxmlformats.org/officeDocument/2006/relationships/package" Target="../embeddings/Microsoft_Excel_Worksheet65.xlsx"/></Relationships>
</file>

<file path=ppt/charts/_rels/chart66.xml.rels><?xml version='1.0' encoding='UTF-8' standalone='yes'?>
<Relationships xmlns="http://schemas.openxmlformats.org/package/2006/relationships"><Relationship Id="rId1" Type="http://schemas.openxmlformats.org/officeDocument/2006/relationships/package" Target="../embeddings/Microsoft_Excel_Worksheet66.xlsx"/></Relationships>
</file>

<file path=ppt/charts/_rels/chart67.xml.rels><?xml version='1.0' encoding='UTF-8' standalone='yes'?>
<Relationships xmlns="http://schemas.openxmlformats.org/package/2006/relationships"><Relationship Id="rId1" Type="http://schemas.openxmlformats.org/officeDocument/2006/relationships/package" Target="../embeddings/Microsoft_Excel_Worksheet67.xlsx"/></Relationships>
</file>

<file path=ppt/charts/_rels/chart68.xml.rels><?xml version='1.0' encoding='UTF-8' standalone='yes'?>
<Relationships xmlns="http://schemas.openxmlformats.org/package/2006/relationships"><Relationship Id="rId1" Type="http://schemas.openxmlformats.org/officeDocument/2006/relationships/package" Target="../embeddings/Microsoft_Excel_Worksheet68.xlsx"/></Relationships>
</file>

<file path=ppt/charts/_rels/chart69.xml.rels><?xml version='1.0' encoding='UTF-8' standalone='yes'?>
<Relationships xmlns="http://schemas.openxmlformats.org/package/2006/relationships"><Relationship Id="rId1" Type="http://schemas.openxmlformats.org/officeDocument/2006/relationships/package" Target="../embeddings/Microsoft_Excel_Worksheet69.xlsx"/></Relationships>
</file>

<file path=ppt/charts/_rels/chart70.xml.rels><?xml version='1.0' encoding='UTF-8' standalone='yes'?>
<Relationships xmlns="http://schemas.openxmlformats.org/package/2006/relationships"><Relationship Id="rId1" Type="http://schemas.openxmlformats.org/officeDocument/2006/relationships/package" Target="../embeddings/Microsoft_Excel_Worksheet70.xlsx"/></Relationships>
</file>

<file path=ppt/charts/_rels/chart71.xml.rels><?xml version='1.0' encoding='UTF-8' standalone='yes'?>
<Relationships xmlns="http://schemas.openxmlformats.org/package/2006/relationships"><Relationship Id="rId1" Type="http://schemas.openxmlformats.org/officeDocument/2006/relationships/package" Target="../embeddings/Microsoft_Excel_Worksheet71.xlsx"/></Relationships>
</file>

<file path=ppt/charts/_rels/chart72.xml.rels><?xml version='1.0' encoding='UTF-8' standalone='yes'?>
<Relationships xmlns="http://schemas.openxmlformats.org/package/2006/relationships"><Relationship Id="rId1" Type="http://schemas.openxmlformats.org/officeDocument/2006/relationships/package" Target="../embeddings/Microsoft_Excel_Worksheet72.xlsx"/></Relationships>
</file>

<file path=ppt/charts/_rels/chart73.xml.rels><?xml version='1.0' encoding='UTF-8' standalone='yes'?>
<Relationships xmlns="http://schemas.openxmlformats.org/package/2006/relationships"><Relationship Id="rId1" Type="http://schemas.openxmlformats.org/officeDocument/2006/relationships/package" Target="../embeddings/Microsoft_Excel_Worksheet73.xlsx"/></Relationships>
</file>

<file path=ppt/charts/_rels/chart74.xml.rels><?xml version='1.0' encoding='UTF-8' standalone='yes'?>
<Relationships xmlns="http://schemas.openxmlformats.org/package/2006/relationships"><Relationship Id="rId1" Type="http://schemas.openxmlformats.org/officeDocument/2006/relationships/package" Target="../embeddings/Microsoft_Excel_Worksheet74.xlsx"/></Relationships>
</file>

<file path=ppt/charts/_rels/chart75.xml.rels><?xml version='1.0' encoding='UTF-8' standalone='yes'?>
<Relationships xmlns="http://schemas.openxmlformats.org/package/2006/relationships"><Relationship Id="rId1" Type="http://schemas.openxmlformats.org/officeDocument/2006/relationships/package" Target="../embeddings/Microsoft_Excel_Worksheet75.xlsx"/></Relationships>
</file>

<file path=ppt/charts/_rels/chart76.xml.rels><?xml version='1.0' encoding='UTF-8' standalone='yes'?>
<Relationships xmlns="http://schemas.openxmlformats.org/package/2006/relationships"><Relationship Id="rId1" Type="http://schemas.openxmlformats.org/officeDocument/2006/relationships/package" Target="../embeddings/Microsoft_Excel_Worksheet76.xlsx"/></Relationships>
</file>

<file path=ppt/charts/_rels/chart77.xml.rels><?xml version='1.0' encoding='UTF-8' standalone='yes'?>
<Relationships xmlns="http://schemas.openxmlformats.org/package/2006/relationships"><Relationship Id="rId1" Type="http://schemas.openxmlformats.org/officeDocument/2006/relationships/package" Target="../embeddings/Microsoft_Excel_Worksheet77.xlsx"/></Relationships>
</file>

<file path=ppt/charts/_rels/chart78.xml.rels><?xml version='1.0' encoding='UTF-8' standalone='yes'?>
<Relationships xmlns="http://schemas.openxmlformats.org/package/2006/relationships"><Relationship Id="rId1" Type="http://schemas.openxmlformats.org/officeDocument/2006/relationships/package" Target="../embeddings/Microsoft_Excel_Worksheet78.xlsx"/></Relationships>
</file>

<file path=ppt/charts/_rels/chart79.xml.rels><?xml version='1.0' encoding='UTF-8' standalone='yes'?>
<Relationships xmlns="http://schemas.openxmlformats.org/package/2006/relationships"><Relationship Id="rId1" Type="http://schemas.openxmlformats.org/officeDocument/2006/relationships/package" Target="../embeddings/Microsoft_Excel_Worksheet79.xlsx"/></Relationships>
</file>

<file path=ppt/charts/_rels/chart80.xml.rels><?xml version='1.0' encoding='UTF-8' standalone='yes'?>
<Relationships xmlns="http://schemas.openxmlformats.org/package/2006/relationships"><Relationship Id="rId1" Type="http://schemas.openxmlformats.org/officeDocument/2006/relationships/package" Target="../embeddings/Microsoft_Excel_Worksheet80.xlsx"/></Relationships>
</file>

<file path=ppt/charts/_rels/chart81.xml.rels><?xml version='1.0' encoding='UTF-8' standalone='yes'?>
<Relationships xmlns="http://schemas.openxmlformats.org/package/2006/relationships"><Relationship Id="rId1" Type="http://schemas.openxmlformats.org/officeDocument/2006/relationships/package" Target="../embeddings/Microsoft_Excel_Worksheet81.xlsx"/></Relationships>
</file>

<file path=ppt/charts/_rels/chart82.xml.rels><?xml version='1.0' encoding='UTF-8' standalone='yes'?>
<Relationships xmlns="http://schemas.openxmlformats.org/package/2006/relationships"><Relationship Id="rId1" Type="http://schemas.openxmlformats.org/officeDocument/2006/relationships/package" Target="../embeddings/Microsoft_Excel_Worksheet82.xlsx"/></Relationships>
</file>

<file path=ppt/charts/_rels/chart83.xml.rels><?xml version='1.0' encoding='UTF-8' standalone='yes'?>
<Relationships xmlns="http://schemas.openxmlformats.org/package/2006/relationships"><Relationship Id="rId1" Type="http://schemas.openxmlformats.org/officeDocument/2006/relationships/package" Target="../embeddings/Microsoft_Excel_Worksheet83.xlsx"/></Relationships>
</file>

<file path=ppt/charts/_rels/chart84.xml.rels><?xml version='1.0' encoding='UTF-8' standalone='yes'?>
<Relationships xmlns="http://schemas.openxmlformats.org/package/2006/relationships"><Relationship Id="rId1" Type="http://schemas.openxmlformats.org/officeDocument/2006/relationships/package" Target="../embeddings/Microsoft_Excel_Worksheet84.xlsx"/></Relationships>
</file>

<file path=ppt/charts/_rels/chart85.xml.rels><?xml version='1.0' encoding='UTF-8' standalone='yes'?>
<Relationships xmlns="http://schemas.openxmlformats.org/package/2006/relationships"><Relationship Id="rId1" Type="http://schemas.openxmlformats.org/officeDocument/2006/relationships/package" Target="../embeddings/Microsoft_Excel_Worksheet85.xlsx"/></Relationships>
</file>

<file path=ppt/charts/_rels/chart86.xml.rels><?xml version='1.0' encoding='UTF-8' standalone='yes'?>
<Relationships xmlns="http://schemas.openxmlformats.org/package/2006/relationships"><Relationship Id="rId1" Type="http://schemas.openxmlformats.org/officeDocument/2006/relationships/package" Target="../embeddings/Microsoft_Excel_Worksheet86.xlsx"/></Relationships>
</file>

<file path=ppt/charts/_rels/chart87.xml.rels><?xml version='1.0' encoding='UTF-8' standalone='yes'?>
<Relationships xmlns="http://schemas.openxmlformats.org/package/2006/relationships"><Relationship Id="rId1" Type="http://schemas.openxmlformats.org/officeDocument/2006/relationships/package" Target="../embeddings/Microsoft_Excel_Worksheet87.xlsx"/></Relationships>
</file>

<file path=ppt/charts/_rels/chart88.xml.rels><?xml version='1.0' encoding='UTF-8' standalone='yes'?>
<Relationships xmlns="http://schemas.openxmlformats.org/package/2006/relationships"><Relationship Id="rId1" Type="http://schemas.openxmlformats.org/officeDocument/2006/relationships/package" Target="../embeddings/Microsoft_Excel_Worksheet88.xlsx"/></Relationships>
</file>

<file path=ppt/charts/_rels/chart89.xml.rels><?xml version='1.0' encoding='UTF-8' standalone='yes'?>
<Relationships xmlns="http://schemas.openxmlformats.org/package/2006/relationships"><Relationship Id="rId1" Type="http://schemas.openxmlformats.org/officeDocument/2006/relationships/package" Target="../embeddings/Microsoft_Excel_Worksheet89.xlsx"/></Relationships>
</file>

<file path=ppt/charts/_rels/chart90.xml.rels><?xml version='1.0' encoding='UTF-8' standalone='yes'?>
<Relationships xmlns="http://schemas.openxmlformats.org/package/2006/relationships"><Relationship Id="rId1" Type="http://schemas.openxmlformats.org/officeDocument/2006/relationships/package" Target="../embeddings/Microsoft_Excel_Worksheet90.xlsx"/></Relationships>
</file>

<file path=ppt/charts/_rels/chart91.xml.rels><?xml version='1.0' encoding='UTF-8' standalone='yes'?>
<Relationships xmlns="http://schemas.openxmlformats.org/package/2006/relationships"><Relationship Id="rId1" Type="http://schemas.openxmlformats.org/officeDocument/2006/relationships/package" Target="../embeddings/Microsoft_Excel_Worksheet91.xlsx"/></Relationships>
</file>

<file path=ppt/charts/_rels/chart92.xml.rels><?xml version='1.0' encoding='UTF-8' standalone='yes'?>
<Relationships xmlns="http://schemas.openxmlformats.org/package/2006/relationships"><Relationship Id="rId1" Type="http://schemas.openxmlformats.org/officeDocument/2006/relationships/package" Target="../embeddings/Microsoft_Excel_Worksheet92.xlsx"/></Relationships>
</file>

<file path=ppt/charts/_rels/chart93.xml.rels><?xml version='1.0' encoding='UTF-8' standalone='yes'?>
<Relationships xmlns="http://schemas.openxmlformats.org/package/2006/relationships"><Relationship Id="rId1" Type="http://schemas.openxmlformats.org/officeDocument/2006/relationships/package" Target="../embeddings/Microsoft_Excel_Worksheet93.xlsx"/></Relationships>
</file>

<file path=ppt/charts/_rels/chart94.xml.rels><?xml version='1.0' encoding='UTF-8' standalone='yes'?>
<Relationships xmlns="http://schemas.openxmlformats.org/package/2006/relationships"><Relationship Id="rId1" Type="http://schemas.openxmlformats.org/officeDocument/2006/relationships/package" Target="../embeddings/Microsoft_Excel_Worksheet94.xlsx"/></Relationships>
</file>

<file path=ppt/charts/_rels/chart95.xml.rels><?xml version='1.0' encoding='UTF-8' standalone='yes'?>
<Relationships xmlns="http://schemas.openxmlformats.org/package/2006/relationships"><Relationship Id="rId1" Type="http://schemas.openxmlformats.org/officeDocument/2006/relationships/package" Target="../embeddings/Microsoft_Excel_Worksheet95.xlsx"/></Relationships>
</file>

<file path=ppt/charts/_rels/chart96.xml.rels><?xml version='1.0' encoding='UTF-8' standalone='yes'?>
<Relationships xmlns="http://schemas.openxmlformats.org/package/2006/relationships"><Relationship Id="rId1" Type="http://schemas.openxmlformats.org/officeDocument/2006/relationships/package" Target="../embeddings/Microsoft_Excel_Worksheet96.xlsx"/></Relationships>
</file>

<file path=ppt/charts/_rels/chart97.xml.rels><?xml version='1.0' encoding='UTF-8' standalone='yes'?>
<Relationships xmlns="http://schemas.openxmlformats.org/package/2006/relationships"><Relationship Id="rId1" Type="http://schemas.openxmlformats.org/officeDocument/2006/relationships/package" Target="../embeddings/Microsoft_Excel_Worksheet97.xlsx"/></Relationships>
</file>

<file path=ppt/charts/_rels/chart98.xml.rels><?xml version='1.0' encoding='UTF-8' standalone='yes'?>
<Relationships xmlns="http://schemas.openxmlformats.org/package/2006/relationships"><Relationship Id="rId1" Type="http://schemas.openxmlformats.org/officeDocument/2006/relationships/package" Target="../embeddings/Microsoft_Excel_Worksheet98.xlsx"/></Relationships>
</file>

<file path=ppt/charts/_rels/chart99.xml.rels><?xml version='1.0' encoding='UTF-8' standalone='yes'?>
<Relationships xmlns="http://schemas.openxmlformats.org/package/2006/relationships"><Relationship Id="rId1" Type="http://schemas.openxmlformats.org/officeDocument/2006/relationships/package" Target="../embeddings/Microsoft_Excel_Worksheet99.xlsx"/></Relationships>
</file>

<file path=ppt/charts/_rels/chart100.xml.rels><?xml version='1.0' encoding='UTF-8' standalone='yes'?>
<Relationships xmlns="http://schemas.openxmlformats.org/package/2006/relationships"><Relationship Id="rId1" Type="http://schemas.openxmlformats.org/officeDocument/2006/relationships/package" Target="../embeddings/Microsoft_Excel_Worksheet100.xlsx"/></Relationships>
</file>

<file path=ppt/charts/_rels/chart101.xml.rels><?xml version='1.0' encoding='UTF-8' standalone='yes'?>
<Relationships xmlns="http://schemas.openxmlformats.org/package/2006/relationships"><Relationship Id="rId1" Type="http://schemas.openxmlformats.org/officeDocument/2006/relationships/package" Target="../embeddings/Microsoft_Excel_Worksheet101.xlsx"/></Relationships>
</file>

<file path=ppt/charts/_rels/chart102.xml.rels><?xml version='1.0' encoding='UTF-8' standalone='yes'?>
<Relationships xmlns="http://schemas.openxmlformats.org/package/2006/relationships"><Relationship Id="rId1" Type="http://schemas.openxmlformats.org/officeDocument/2006/relationships/package" Target="../embeddings/Microsoft_Excel_Worksheet102.xlsx"/></Relationships>
</file>

<file path=ppt/charts/_rels/chart103.xml.rels><?xml version='1.0' encoding='UTF-8' standalone='yes'?>
<Relationships xmlns="http://schemas.openxmlformats.org/package/2006/relationships"><Relationship Id="rId1" Type="http://schemas.openxmlformats.org/officeDocument/2006/relationships/package" Target="../embeddings/Microsoft_Excel_Worksheet103.xlsx"/></Relationships>
</file>

<file path=ppt/charts/_rels/chart104.xml.rels><?xml version='1.0' encoding='UTF-8' standalone='yes'?>
<Relationships xmlns="http://schemas.openxmlformats.org/package/2006/relationships"><Relationship Id="rId1" Type="http://schemas.openxmlformats.org/officeDocument/2006/relationships/package" Target="../embeddings/Microsoft_Excel_Worksheet104.xlsx"/></Relationships>
</file>

<file path=ppt/charts/_rels/chart105.xml.rels><?xml version='1.0' encoding='UTF-8' standalone='yes'?>
<Relationships xmlns="http://schemas.openxmlformats.org/package/2006/relationships"><Relationship Id="rId1" Type="http://schemas.openxmlformats.org/officeDocument/2006/relationships/package" Target="../embeddings/Microsoft_Excel_Worksheet105.xlsx"/></Relationships>
</file>

<file path=ppt/charts/_rels/chart106.xml.rels><?xml version='1.0' encoding='UTF-8' standalone='yes'?>
<Relationships xmlns="http://schemas.openxmlformats.org/package/2006/relationships"><Relationship Id="rId1" Type="http://schemas.openxmlformats.org/officeDocument/2006/relationships/package" Target="../embeddings/Microsoft_Excel_Worksheet106.xlsx"/></Relationships>
</file>

<file path=ppt/charts/_rels/chart107.xml.rels><?xml version='1.0' encoding='UTF-8' standalone='yes'?>
<Relationships xmlns="http://schemas.openxmlformats.org/package/2006/relationships"><Relationship Id="rId1" Type="http://schemas.openxmlformats.org/officeDocument/2006/relationships/package" Target="../embeddings/Microsoft_Excel_Worksheet107.xlsx"/></Relationships>
</file>

<file path=ppt/charts/_rels/chart108.xml.rels><?xml version='1.0' encoding='UTF-8' standalone='yes'?>
<Relationships xmlns="http://schemas.openxmlformats.org/package/2006/relationships"><Relationship Id="rId1" Type="http://schemas.openxmlformats.org/officeDocument/2006/relationships/package" Target="../embeddings/Microsoft_Excel_Worksheet108.xlsx"/></Relationships>
</file>

<file path=ppt/charts/_rels/chart109.xml.rels><?xml version='1.0' encoding='UTF-8' standalone='yes'?>
<Relationships xmlns="http://schemas.openxmlformats.org/package/2006/relationships"><Relationship Id="rId1" Type="http://schemas.openxmlformats.org/officeDocument/2006/relationships/package" Target="../embeddings/Microsoft_Excel_Worksheet109.xlsx"/></Relationships>
</file>

<file path=ppt/charts/_rels/chart110.xml.rels><?xml version='1.0' encoding='UTF-8' standalone='yes'?>
<Relationships xmlns="http://schemas.openxmlformats.org/package/2006/relationships"><Relationship Id="rId1" Type="http://schemas.openxmlformats.org/officeDocument/2006/relationships/package" Target="../embeddings/Microsoft_Excel_Worksheet110.xlsx"/></Relationships>
</file>

<file path=ppt/charts/_rels/chart111.xml.rels><?xml version='1.0' encoding='UTF-8' standalone='yes'?>
<Relationships xmlns="http://schemas.openxmlformats.org/package/2006/relationships"><Relationship Id="rId1" Type="http://schemas.openxmlformats.org/officeDocument/2006/relationships/package" Target="../embeddings/Microsoft_Excel_Worksheet111.xlsx"/></Relationships>
</file>

<file path=ppt/charts/_rels/chart112.xml.rels><?xml version='1.0' encoding='UTF-8' standalone='yes'?>
<Relationships xmlns="http://schemas.openxmlformats.org/package/2006/relationships"><Relationship Id="rId1" Type="http://schemas.openxmlformats.org/officeDocument/2006/relationships/package" Target="../embeddings/Microsoft_Excel_Worksheet112.xlsx"/></Relationships>
</file>

<file path=ppt/charts/_rels/chart113.xml.rels><?xml version='1.0' encoding='UTF-8' standalone='yes'?>
<Relationships xmlns="http://schemas.openxmlformats.org/package/2006/relationships"><Relationship Id="rId1" Type="http://schemas.openxmlformats.org/officeDocument/2006/relationships/package" Target="../embeddings/Microsoft_Excel_Worksheet113.xlsx"/></Relationships>
</file>

<file path=ppt/charts/_rels/chart114.xml.rels><?xml version='1.0' encoding='UTF-8' standalone='yes'?>
<Relationships xmlns="http://schemas.openxmlformats.org/package/2006/relationships"><Relationship Id="rId1" Type="http://schemas.openxmlformats.org/officeDocument/2006/relationships/package" Target="../embeddings/Microsoft_Excel_Worksheet114.xlsx"/></Relationships>
</file>

<file path=ppt/charts/_rels/chart115.xml.rels><?xml version='1.0' encoding='UTF-8' standalone='yes'?>
<Relationships xmlns="http://schemas.openxmlformats.org/package/2006/relationships"><Relationship Id="rId1" Type="http://schemas.openxmlformats.org/officeDocument/2006/relationships/package" Target="../embeddings/Microsoft_Excel_Worksheet115.xlsx"/></Relationships>
</file>

<file path=ppt/charts/_rels/chart116.xml.rels><?xml version='1.0' encoding='UTF-8' standalone='yes'?>
<Relationships xmlns="http://schemas.openxmlformats.org/package/2006/relationships"><Relationship Id="rId1" Type="http://schemas.openxmlformats.org/officeDocument/2006/relationships/package" Target="../embeddings/Microsoft_Excel_Worksheet116.xlsx"/></Relationships>
</file>

<file path=ppt/charts/_rels/chart117.xml.rels><?xml version='1.0' encoding='UTF-8' standalone='yes'?>
<Relationships xmlns="http://schemas.openxmlformats.org/package/2006/relationships"><Relationship Id="rId1" Type="http://schemas.openxmlformats.org/officeDocument/2006/relationships/package" Target="../embeddings/Microsoft_Excel_Worksheet117.xlsx"/></Relationships>
</file>

<file path=ppt/charts/_rels/chart118.xml.rels><?xml version='1.0' encoding='UTF-8' standalone='yes'?>
<Relationships xmlns="http://schemas.openxmlformats.org/package/2006/relationships"><Relationship Id="rId1" Type="http://schemas.openxmlformats.org/officeDocument/2006/relationships/package" Target="../embeddings/Microsoft_Excel_Worksheet118.xlsx"/></Relationships>
</file>

<file path=ppt/charts/_rels/chart119.xml.rels><?xml version='1.0' encoding='UTF-8' standalone='yes'?>
<Relationships xmlns="http://schemas.openxmlformats.org/package/2006/relationships"><Relationship Id="rId1" Type="http://schemas.openxmlformats.org/officeDocument/2006/relationships/package" Target="../embeddings/Microsoft_Excel_Worksheet119.xlsx"/></Relationships>
</file>

<file path=ppt/charts/_rels/chart120.xml.rels><?xml version='1.0' encoding='UTF-8' standalone='yes'?>
<Relationships xmlns="http://schemas.openxmlformats.org/package/2006/relationships"><Relationship Id="rId1" Type="http://schemas.openxmlformats.org/officeDocument/2006/relationships/package" Target="../embeddings/Microsoft_Excel_Worksheet120.xlsx"/></Relationships>
</file>

<file path=ppt/charts/_rels/chart121.xml.rels><?xml version='1.0' encoding='UTF-8' standalone='yes'?>
<Relationships xmlns="http://schemas.openxmlformats.org/package/2006/relationships"><Relationship Id="rId1" Type="http://schemas.openxmlformats.org/officeDocument/2006/relationships/package" Target="../embeddings/Microsoft_Excel_Worksheet121.xlsx"/></Relationships>
</file>

<file path=ppt/charts/_rels/chart122.xml.rels><?xml version='1.0' encoding='UTF-8' standalone='yes'?>
<Relationships xmlns="http://schemas.openxmlformats.org/package/2006/relationships"><Relationship Id="rId1" Type="http://schemas.openxmlformats.org/officeDocument/2006/relationships/package" Target="../embeddings/Microsoft_Excel_Worksheet122.xlsx"/></Relationships>
</file>

<file path=ppt/charts/_rels/chart123.xml.rels><?xml version='1.0' encoding='UTF-8' standalone='yes'?>
<Relationships xmlns="http://schemas.openxmlformats.org/package/2006/relationships"><Relationship Id="rId1" Type="http://schemas.openxmlformats.org/officeDocument/2006/relationships/package" Target="../embeddings/Microsoft_Excel_Worksheet123.xlsx"/></Relationships>
</file>

<file path=ppt/charts/_rels/chart124.xml.rels><?xml version='1.0' encoding='UTF-8' standalone='yes'?>
<Relationships xmlns="http://schemas.openxmlformats.org/package/2006/relationships"><Relationship Id="rId1" Type="http://schemas.openxmlformats.org/officeDocument/2006/relationships/package" Target="../embeddings/Microsoft_Excel_Worksheet124.xlsx"/></Relationships>
</file>

<file path=ppt/charts/_rels/chart125.xml.rels><?xml version='1.0' encoding='UTF-8' standalone='yes'?>
<Relationships xmlns="http://schemas.openxmlformats.org/package/2006/relationships"><Relationship Id="rId1" Type="http://schemas.openxmlformats.org/officeDocument/2006/relationships/package" Target="../embeddings/Microsoft_Excel_Worksheet125.xlsx"/></Relationships>
</file>

<file path=ppt/charts/_rels/chart126.xml.rels><?xml version='1.0' encoding='UTF-8' standalone='yes'?>
<Relationships xmlns="http://schemas.openxmlformats.org/package/2006/relationships"><Relationship Id="rId1" Type="http://schemas.openxmlformats.org/officeDocument/2006/relationships/package" Target="../embeddings/Microsoft_Excel_Worksheet126.xlsx"/></Relationships>
</file>

<file path=ppt/charts/_rels/chart127.xml.rels><?xml version='1.0' encoding='UTF-8' standalone='yes'?>
<Relationships xmlns="http://schemas.openxmlformats.org/package/2006/relationships"><Relationship Id="rId1" Type="http://schemas.openxmlformats.org/officeDocument/2006/relationships/package" Target="../embeddings/Microsoft_Excel_Worksheet127.xlsx"/></Relationships>
</file>

<file path=ppt/charts/_rels/chart128.xml.rels><?xml version='1.0' encoding='UTF-8' standalone='yes'?>
<Relationships xmlns="http://schemas.openxmlformats.org/package/2006/relationships"><Relationship Id="rId1" Type="http://schemas.openxmlformats.org/officeDocument/2006/relationships/package" Target="../embeddings/Microsoft_Excel_Worksheet128.xlsx"/></Relationships>
</file>

<file path=ppt/charts/_rels/chart129.xml.rels><?xml version='1.0' encoding='UTF-8' standalone='yes'?>
<Relationships xmlns="http://schemas.openxmlformats.org/package/2006/relationships"><Relationship Id="rId1" Type="http://schemas.openxmlformats.org/officeDocument/2006/relationships/package" Target="../embeddings/Microsoft_Excel_Worksheet129.xlsx"/></Relationships>
</file>

<file path=ppt/charts/_rels/chart130.xml.rels><?xml version='1.0' encoding='UTF-8' standalone='yes'?>
<Relationships xmlns="http://schemas.openxmlformats.org/package/2006/relationships"><Relationship Id="rId1" Type="http://schemas.openxmlformats.org/officeDocument/2006/relationships/package" Target="../embeddings/Microsoft_Excel_Worksheet130.xlsx"/></Relationships>
</file>

<file path=ppt/charts/_rels/chart131.xml.rels><?xml version='1.0' encoding='UTF-8' standalone='yes'?>
<Relationships xmlns="http://schemas.openxmlformats.org/package/2006/relationships"><Relationship Id="rId1" Type="http://schemas.openxmlformats.org/officeDocument/2006/relationships/package" Target="../embeddings/Microsoft_Excel_Worksheet131.xlsx"/></Relationships>
</file>

<file path=ppt/charts/_rels/chart132.xml.rels><?xml version='1.0' encoding='UTF-8' standalone='yes'?>
<Relationships xmlns="http://schemas.openxmlformats.org/package/2006/relationships"><Relationship Id="rId1" Type="http://schemas.openxmlformats.org/officeDocument/2006/relationships/package" Target="../embeddings/Microsoft_Excel_Worksheet132.xlsx"/></Relationships>
</file>

<file path=ppt/charts/_rels/chart133.xml.rels><?xml version='1.0' encoding='UTF-8' standalone='yes'?>
<Relationships xmlns="http://schemas.openxmlformats.org/package/2006/relationships"><Relationship Id="rId1" Type="http://schemas.openxmlformats.org/officeDocument/2006/relationships/package" Target="../embeddings/Microsoft_Excel_Worksheet133.xlsx"/></Relationships>
</file>

<file path=ppt/charts/_rels/chart134.xml.rels><?xml version='1.0' encoding='UTF-8' standalone='yes'?>
<Relationships xmlns="http://schemas.openxmlformats.org/package/2006/relationships"><Relationship Id="rId1" Type="http://schemas.openxmlformats.org/officeDocument/2006/relationships/package" Target="../embeddings/Microsoft_Excel_Worksheet134.xlsx"/></Relationships>
</file>

<file path=ppt/charts/_rels/chart135.xml.rels><?xml version='1.0' encoding='UTF-8' standalone='yes'?>
<Relationships xmlns="http://schemas.openxmlformats.org/package/2006/relationships"><Relationship Id="rId1" Type="http://schemas.openxmlformats.org/officeDocument/2006/relationships/package" Target="../embeddings/Microsoft_Excel_Worksheet135.xlsx"/></Relationships>
</file>

<file path=ppt/charts/_rels/chart136.xml.rels><?xml version='1.0' encoding='UTF-8' standalone='yes'?>
<Relationships xmlns="http://schemas.openxmlformats.org/package/2006/relationships"><Relationship Id="rId1" Type="http://schemas.openxmlformats.org/officeDocument/2006/relationships/package" Target="../embeddings/Microsoft_Excel_Worksheet136.xlsx"/></Relationships>
</file>

<file path=ppt/charts/_rels/chart137.xml.rels><?xml version='1.0' encoding='UTF-8' standalone='yes'?>
<Relationships xmlns="http://schemas.openxmlformats.org/package/2006/relationships"><Relationship Id="rId1" Type="http://schemas.openxmlformats.org/officeDocument/2006/relationships/package" Target="../embeddings/Microsoft_Excel_Worksheet137.xlsx"/></Relationships>
</file>

<file path=ppt/charts/_rels/chart138.xml.rels><?xml version='1.0' encoding='UTF-8' standalone='yes'?>
<Relationships xmlns="http://schemas.openxmlformats.org/package/2006/relationships"><Relationship Id="rId1" Type="http://schemas.openxmlformats.org/officeDocument/2006/relationships/package" Target="../embeddings/Microsoft_Excel_Worksheet138.xlsx"/></Relationships>
</file>

<file path=ppt/charts/_rels/chart139.xml.rels><?xml version='1.0' encoding='UTF-8' standalone='yes'?>
<Relationships xmlns="http://schemas.openxmlformats.org/package/2006/relationships"><Relationship Id="rId1" Type="http://schemas.openxmlformats.org/officeDocument/2006/relationships/package" Target="../embeddings/Microsoft_Excel_Worksheet139.xlsx"/></Relationships>
</file>

<file path=ppt/charts/_rels/chart140.xml.rels><?xml version='1.0' encoding='UTF-8' standalone='yes'?>
<Relationships xmlns="http://schemas.openxmlformats.org/package/2006/relationships"><Relationship Id="rId1" Type="http://schemas.openxmlformats.org/officeDocument/2006/relationships/package" Target="../embeddings/Microsoft_Excel_Worksheet140.xlsx"/></Relationships>
</file>

<file path=ppt/charts/_rels/chart141.xml.rels><?xml version='1.0' encoding='UTF-8' standalone='yes'?>
<Relationships xmlns="http://schemas.openxmlformats.org/package/2006/relationships"><Relationship Id="rId1" Type="http://schemas.openxmlformats.org/officeDocument/2006/relationships/package" Target="../embeddings/Microsoft_Excel_Worksheet141.xlsx"/></Relationships>
</file>

<file path=ppt/charts/_rels/chart142.xml.rels><?xml version='1.0' encoding='UTF-8' standalone='yes'?>
<Relationships xmlns="http://schemas.openxmlformats.org/package/2006/relationships"><Relationship Id="rId1" Type="http://schemas.openxmlformats.org/officeDocument/2006/relationships/package" Target="../embeddings/Microsoft_Excel_Worksheet142.xlsx"/></Relationships>
</file>

<file path=ppt/charts/_rels/chart143.xml.rels><?xml version='1.0' encoding='UTF-8' standalone='yes'?>
<Relationships xmlns="http://schemas.openxmlformats.org/package/2006/relationships"><Relationship Id="rId1" Type="http://schemas.openxmlformats.org/officeDocument/2006/relationships/package" Target="../embeddings/Microsoft_Excel_Worksheet143.xlsx"/></Relationships>
</file>

<file path=ppt/charts/_rels/chart144.xml.rels><?xml version='1.0' encoding='UTF-8' standalone='yes'?>
<Relationships xmlns="http://schemas.openxmlformats.org/package/2006/relationships"><Relationship Id="rId1" Type="http://schemas.openxmlformats.org/officeDocument/2006/relationships/package" Target="../embeddings/Microsoft_Excel_Worksheet144.xlsx"/></Relationships>
</file>

<file path=ppt/charts/_rels/chart145.xml.rels><?xml version='1.0' encoding='UTF-8' standalone='yes'?>
<Relationships xmlns="http://schemas.openxmlformats.org/package/2006/relationships"><Relationship Id="rId1" Type="http://schemas.openxmlformats.org/officeDocument/2006/relationships/package" Target="../embeddings/Microsoft_Excel_Worksheet145.xlsx"/></Relationships>
</file>

<file path=ppt/charts/_rels/chart146.xml.rels><?xml version='1.0' encoding='UTF-8' standalone='yes'?>
<Relationships xmlns="http://schemas.openxmlformats.org/package/2006/relationships"><Relationship Id="rId1" Type="http://schemas.openxmlformats.org/officeDocument/2006/relationships/package" Target="../embeddings/Microsoft_Excel_Worksheet146.xlsx"/></Relationships>
</file>

<file path=ppt/charts/_rels/chart147.xml.rels><?xml version='1.0' encoding='UTF-8' standalone='yes'?>
<Relationships xmlns="http://schemas.openxmlformats.org/package/2006/relationships"><Relationship Id="rId1" Type="http://schemas.openxmlformats.org/officeDocument/2006/relationships/package" Target="../embeddings/Microsoft_Excel_Worksheet147.xlsx"/></Relationships>
</file>

<file path=ppt/charts/_rels/chart148.xml.rels><?xml version='1.0' encoding='UTF-8' standalone='yes'?>
<Relationships xmlns="http://schemas.openxmlformats.org/package/2006/relationships"><Relationship Id="rId1" Type="http://schemas.openxmlformats.org/officeDocument/2006/relationships/package" Target="../embeddings/Microsoft_Excel_Worksheet148.xlsx"/></Relationships>
</file>

<file path=ppt/charts/_rels/chart149.xml.rels><?xml version='1.0' encoding='UTF-8' standalone='yes'?>
<Relationships xmlns="http://schemas.openxmlformats.org/package/2006/relationships"><Relationship Id="rId1" Type="http://schemas.openxmlformats.org/officeDocument/2006/relationships/package" Target="../embeddings/Microsoft_Excel_Worksheet149.xlsx"/></Relationships>
</file>

<file path=ppt/charts/_rels/chart150.xml.rels><?xml version='1.0' encoding='UTF-8' standalone='yes'?>
<Relationships xmlns="http://schemas.openxmlformats.org/package/2006/relationships"><Relationship Id="rId1" Type="http://schemas.openxmlformats.org/officeDocument/2006/relationships/package" Target="../embeddings/Microsoft_Excel_Worksheet150.xlsx"/></Relationships>
</file>

<file path=ppt/charts/_rels/chart151.xml.rels><?xml version='1.0' encoding='UTF-8' standalone='yes'?>
<Relationships xmlns="http://schemas.openxmlformats.org/package/2006/relationships"><Relationship Id="rId1" Type="http://schemas.openxmlformats.org/officeDocument/2006/relationships/package" Target="../embeddings/Microsoft_Excel_Worksheet151.xlsx"/></Relationships>
</file>

<file path=ppt/charts/_rels/chart152.xml.rels><?xml version='1.0' encoding='UTF-8' standalone='yes'?>
<Relationships xmlns="http://schemas.openxmlformats.org/package/2006/relationships"><Relationship Id="rId1" Type="http://schemas.openxmlformats.org/officeDocument/2006/relationships/package" Target="../embeddings/Microsoft_Excel_Worksheet152.xlsx"/></Relationships>
</file>

<file path=ppt/charts/_rels/chart153.xml.rels><?xml version='1.0' encoding='UTF-8' standalone='yes'?>
<Relationships xmlns="http://schemas.openxmlformats.org/package/2006/relationships"><Relationship Id="rId1" Type="http://schemas.openxmlformats.org/officeDocument/2006/relationships/package" Target="../embeddings/Microsoft_Excel_Worksheet153.xlsx"/></Relationships>
</file>

<file path=ppt/charts/_rels/chart154.xml.rels><?xml version='1.0' encoding='UTF-8' standalone='yes'?>
<Relationships xmlns="http://schemas.openxmlformats.org/package/2006/relationships"><Relationship Id="rId1" Type="http://schemas.openxmlformats.org/officeDocument/2006/relationships/package" Target="../embeddings/Microsoft_Excel_Worksheet154.xlsx"/></Relationships>
</file>

<file path=ppt/charts/_rels/chart155.xml.rels><?xml version='1.0' encoding='UTF-8' standalone='yes'?>
<Relationships xmlns="http://schemas.openxmlformats.org/package/2006/relationships"><Relationship Id="rId1" Type="http://schemas.openxmlformats.org/officeDocument/2006/relationships/package" Target="../embeddings/Microsoft_Excel_Worksheet155.xlsx"/></Relationships>
</file>

<file path=ppt/charts/_rels/chart156.xml.rels><?xml version='1.0' encoding='UTF-8' standalone='yes'?>
<Relationships xmlns="http://schemas.openxmlformats.org/package/2006/relationships"><Relationship Id="rId1" Type="http://schemas.openxmlformats.org/officeDocument/2006/relationships/package" Target="../embeddings/Microsoft_Excel_Worksheet156.xlsx"/></Relationships>
</file>

<file path=ppt/charts/_rels/chart157.xml.rels><?xml version='1.0' encoding='UTF-8' standalone='yes'?>
<Relationships xmlns="http://schemas.openxmlformats.org/package/2006/relationships"><Relationship Id="rId1" Type="http://schemas.openxmlformats.org/officeDocument/2006/relationships/package" Target="../embeddings/Microsoft_Excel_Worksheet157.xlsx"/></Relationships>
</file>

<file path=ppt/charts/_rels/chart158.xml.rels><?xml version='1.0' encoding='UTF-8' standalone='yes'?>
<Relationships xmlns="http://schemas.openxmlformats.org/package/2006/relationships"><Relationship Id="rId1" Type="http://schemas.openxmlformats.org/officeDocument/2006/relationships/package" Target="../embeddings/Microsoft_Excel_Worksheet158.xlsx"/></Relationships>
</file>

<file path=ppt/charts/_rels/chart159.xml.rels><?xml version='1.0' encoding='UTF-8' standalone='yes'?>
<Relationships xmlns="http://schemas.openxmlformats.org/package/2006/relationships"><Relationship Id="rId1" Type="http://schemas.openxmlformats.org/officeDocument/2006/relationships/package" Target="../embeddings/Microsoft_Excel_Worksheet159.xlsx"/></Relationships>
</file>

<file path=ppt/charts/_rels/chart160.xml.rels><?xml version='1.0' encoding='UTF-8' standalone='yes'?>
<Relationships xmlns="http://schemas.openxmlformats.org/package/2006/relationships"><Relationship Id="rId1" Type="http://schemas.openxmlformats.org/officeDocument/2006/relationships/package" Target="../embeddings/Microsoft_Excel_Worksheet160.xlsx"/></Relationships>
</file>

<file path=ppt/charts/_rels/chart161.xml.rels><?xml version='1.0' encoding='UTF-8' standalone='yes'?>
<Relationships xmlns="http://schemas.openxmlformats.org/package/2006/relationships"><Relationship Id="rId1" Type="http://schemas.openxmlformats.org/officeDocument/2006/relationships/package" Target="../embeddings/Microsoft_Excel_Worksheet161.xlsx"/></Relationships>
</file>

<file path=ppt/charts/_rels/chart162.xml.rels><?xml version='1.0' encoding='UTF-8' standalone='yes'?>
<Relationships xmlns="http://schemas.openxmlformats.org/package/2006/relationships"><Relationship Id="rId1" Type="http://schemas.openxmlformats.org/officeDocument/2006/relationships/package" Target="../embeddings/Microsoft_Excel_Worksheet162.xlsx"/></Relationships>
</file>

<file path=ppt/charts/_rels/chart163.xml.rels><?xml version='1.0' encoding='UTF-8' standalone='yes'?>
<Relationships xmlns="http://schemas.openxmlformats.org/package/2006/relationships"><Relationship Id="rId1" Type="http://schemas.openxmlformats.org/officeDocument/2006/relationships/package" Target="../embeddings/Microsoft_Excel_Worksheet163.xlsx"/></Relationships>
</file>

<file path=ppt/charts/_rels/chart164.xml.rels><?xml version='1.0' encoding='UTF-8' standalone='yes'?>
<Relationships xmlns="http://schemas.openxmlformats.org/package/2006/relationships"><Relationship Id="rId1" Type="http://schemas.openxmlformats.org/officeDocument/2006/relationships/package" Target="../embeddings/Microsoft_Excel_Worksheet164.xlsx"/></Relationships>
</file>

<file path=ppt/charts/_rels/chart165.xml.rels><?xml version='1.0' encoding='UTF-8' standalone='yes'?>
<Relationships xmlns="http://schemas.openxmlformats.org/package/2006/relationships"><Relationship Id="rId1" Type="http://schemas.openxmlformats.org/officeDocument/2006/relationships/package" Target="../embeddings/Microsoft_Excel_Worksheet165.xlsx"/></Relationships>
</file>

<file path=ppt/charts/_rels/chart166.xml.rels><?xml version='1.0' encoding='UTF-8' standalone='yes'?>
<Relationships xmlns="http://schemas.openxmlformats.org/package/2006/relationships"><Relationship Id="rId1" Type="http://schemas.openxmlformats.org/officeDocument/2006/relationships/package" Target="../embeddings/Microsoft_Excel_Worksheet166.xlsx"/></Relationships>
</file>

<file path=ppt/charts/_rels/chart167.xml.rels><?xml version='1.0' encoding='UTF-8' standalone='yes'?>
<Relationships xmlns="http://schemas.openxmlformats.org/package/2006/relationships"><Relationship Id="rId1" Type="http://schemas.openxmlformats.org/officeDocument/2006/relationships/package" Target="../embeddings/Microsoft_Excel_Worksheet167.xlsx"/></Relationships>
</file>

<file path=ppt/charts/_rels/chart168.xml.rels><?xml version='1.0' encoding='UTF-8' standalone='yes'?>
<Relationships xmlns="http://schemas.openxmlformats.org/package/2006/relationships"><Relationship Id="rId1" Type="http://schemas.openxmlformats.org/officeDocument/2006/relationships/package" Target="../embeddings/Microsoft_Excel_Worksheet168.xlsx"/></Relationships>
</file>

<file path=ppt/charts/_rels/chart169.xml.rels><?xml version='1.0' encoding='UTF-8' standalone='yes'?>
<Relationships xmlns="http://schemas.openxmlformats.org/package/2006/relationships"><Relationship Id="rId1" Type="http://schemas.openxmlformats.org/officeDocument/2006/relationships/package" Target="../embeddings/Microsoft_Excel_Worksheet169.xlsx"/></Relationships>
</file>

<file path=ppt/charts/_rels/chart170.xml.rels><?xml version='1.0' encoding='UTF-8' standalone='yes'?>
<Relationships xmlns="http://schemas.openxmlformats.org/package/2006/relationships"><Relationship Id="rId1" Type="http://schemas.openxmlformats.org/officeDocument/2006/relationships/package" Target="../embeddings/Microsoft_Excel_Worksheet170.xlsx"/></Relationships>
</file>

<file path=ppt/charts/_rels/chart171.xml.rels><?xml version='1.0' encoding='UTF-8' standalone='yes'?>
<Relationships xmlns="http://schemas.openxmlformats.org/package/2006/relationships"><Relationship Id="rId1" Type="http://schemas.openxmlformats.org/officeDocument/2006/relationships/package" Target="../embeddings/Microsoft_Excel_Worksheet171.xlsx"/></Relationships>
</file>

<file path=ppt/charts/_rels/chart172.xml.rels><?xml version='1.0' encoding='UTF-8' standalone='yes'?>
<Relationships xmlns="http://schemas.openxmlformats.org/package/2006/relationships"><Relationship Id="rId1" Type="http://schemas.openxmlformats.org/officeDocument/2006/relationships/package" Target="../embeddings/Microsoft_Excel_Worksheet172.xlsx"/></Relationships>
</file>

<file path=ppt/charts/_rels/chart173.xml.rels><?xml version='1.0' encoding='UTF-8' standalone='yes'?>
<Relationships xmlns="http://schemas.openxmlformats.org/package/2006/relationships"><Relationship Id="rId1" Type="http://schemas.openxmlformats.org/officeDocument/2006/relationships/package" Target="../embeddings/Microsoft_Excel_Worksheet173.xlsx"/></Relationships>
</file>

<file path=ppt/charts/_rels/chart174.xml.rels><?xml version='1.0' encoding='UTF-8' standalone='yes'?>
<Relationships xmlns="http://schemas.openxmlformats.org/package/2006/relationships"><Relationship Id="rId1" Type="http://schemas.openxmlformats.org/officeDocument/2006/relationships/package" Target="../embeddings/Microsoft_Excel_Worksheet174.xlsx"/></Relationships>
</file>

<file path=ppt/charts/_rels/chart175.xml.rels><?xml version='1.0' encoding='UTF-8' standalone='yes'?>
<Relationships xmlns="http://schemas.openxmlformats.org/package/2006/relationships"><Relationship Id="rId1" Type="http://schemas.openxmlformats.org/officeDocument/2006/relationships/package" Target="../embeddings/Microsoft_Excel_Worksheet175.xlsx"/></Relationships>
</file>

<file path=ppt/charts/_rels/chart176.xml.rels><?xml version='1.0' encoding='UTF-8' standalone='yes'?>
<Relationships xmlns="http://schemas.openxmlformats.org/package/2006/relationships"><Relationship Id="rId1" Type="http://schemas.openxmlformats.org/officeDocument/2006/relationships/package" Target="../embeddings/Microsoft_Excel_Worksheet176.xlsx"/></Relationships>
</file>

<file path=ppt/charts/_rels/chart177.xml.rels><?xml version='1.0' encoding='UTF-8' standalone='yes'?>
<Relationships xmlns="http://schemas.openxmlformats.org/package/2006/relationships"><Relationship Id="rId1" Type="http://schemas.openxmlformats.org/officeDocument/2006/relationships/package" Target="../embeddings/Microsoft_Excel_Worksheet177.xlsx"/></Relationships>
</file>

<file path=ppt/charts/_rels/chart178.xml.rels><?xml version='1.0' encoding='UTF-8' standalone='yes'?>
<Relationships xmlns="http://schemas.openxmlformats.org/package/2006/relationships"><Relationship Id="rId1" Type="http://schemas.openxmlformats.org/officeDocument/2006/relationships/package" Target="../embeddings/Microsoft_Excel_Worksheet178.xlsx"/></Relationships>
</file>

<file path=ppt/charts/_rels/chart179.xml.rels><?xml version='1.0' encoding='UTF-8' standalone='yes'?>
<Relationships xmlns="http://schemas.openxmlformats.org/package/2006/relationships"><Relationship Id="rId1" Type="http://schemas.openxmlformats.org/officeDocument/2006/relationships/package" Target="../embeddings/Microsoft_Excel_Worksheet179.xlsx"/></Relationships>
</file>

<file path=ppt/charts/_rels/chart180.xml.rels><?xml version='1.0' encoding='UTF-8' standalone='yes'?>
<Relationships xmlns="http://schemas.openxmlformats.org/package/2006/relationships"><Relationship Id="rId1" Type="http://schemas.openxmlformats.org/officeDocument/2006/relationships/package" Target="../embeddings/Microsoft_Excel_Worksheet180.xlsx"/></Relationships>
</file>

<file path=ppt/charts/_rels/chart181.xml.rels><?xml version='1.0' encoding='UTF-8' standalone='yes'?>
<Relationships xmlns="http://schemas.openxmlformats.org/package/2006/relationships"><Relationship Id="rId1" Type="http://schemas.openxmlformats.org/officeDocument/2006/relationships/package" Target="../embeddings/Microsoft_Excel_Worksheet181.xlsx"/></Relationships>
</file>

<file path=ppt/charts/_rels/chart182.xml.rels><?xml version='1.0' encoding='UTF-8' standalone='yes'?>
<Relationships xmlns="http://schemas.openxmlformats.org/package/2006/relationships"><Relationship Id="rId1" Type="http://schemas.openxmlformats.org/officeDocument/2006/relationships/package" Target="../embeddings/Microsoft_Excel_Worksheet182.xlsx"/></Relationships>
</file>

<file path=ppt/charts/_rels/chart183.xml.rels><?xml version='1.0' encoding='UTF-8' standalone='yes'?>
<Relationships xmlns="http://schemas.openxmlformats.org/package/2006/relationships"><Relationship Id="rId1" Type="http://schemas.openxmlformats.org/officeDocument/2006/relationships/package" Target="../embeddings/Microsoft_Excel_Worksheet183.xlsx"/></Relationships>
</file>

<file path=ppt/charts/_rels/chart184.xml.rels><?xml version='1.0' encoding='UTF-8' standalone='yes'?>
<Relationships xmlns="http://schemas.openxmlformats.org/package/2006/relationships"><Relationship Id="rId1" Type="http://schemas.openxmlformats.org/officeDocument/2006/relationships/package" Target="../embeddings/Microsoft_Excel_Worksheet184.xlsx"/></Relationships>
</file>

<file path=ppt/charts/_rels/chart185.xml.rels><?xml version='1.0' encoding='UTF-8' standalone='yes'?>
<Relationships xmlns="http://schemas.openxmlformats.org/package/2006/relationships"><Relationship Id="rId1" Type="http://schemas.openxmlformats.org/officeDocument/2006/relationships/package" Target="../embeddings/Microsoft_Excel_Worksheet185.xlsx"/></Relationships>
</file>

<file path=ppt/charts/_rels/chart186.xml.rels><?xml version='1.0' encoding='UTF-8' standalone='yes'?>
<Relationships xmlns="http://schemas.openxmlformats.org/package/2006/relationships"><Relationship Id="rId1" Type="http://schemas.openxmlformats.org/officeDocument/2006/relationships/package" Target="../embeddings/Microsoft_Excel_Worksheet186.xlsx"/></Relationships>
</file>

<file path=ppt/charts/_rels/chart187.xml.rels><?xml version='1.0' encoding='UTF-8' standalone='yes'?>
<Relationships xmlns="http://schemas.openxmlformats.org/package/2006/relationships"><Relationship Id="rId1" Type="http://schemas.openxmlformats.org/officeDocument/2006/relationships/package" Target="../embeddings/Microsoft_Excel_Worksheet187.xlsx"/></Relationships>
</file>

<file path=ppt/charts/_rels/chart188.xml.rels><?xml version='1.0' encoding='UTF-8' standalone='yes'?>
<Relationships xmlns="http://schemas.openxmlformats.org/package/2006/relationships"><Relationship Id="rId1" Type="http://schemas.openxmlformats.org/officeDocument/2006/relationships/package" Target="../embeddings/Microsoft_Excel_Worksheet188.xlsx"/></Relationships>
</file>

<file path=ppt/charts/_rels/chart189.xml.rels><?xml version='1.0' encoding='UTF-8' standalone='yes'?>
<Relationships xmlns="http://schemas.openxmlformats.org/package/2006/relationships"><Relationship Id="rId1" Type="http://schemas.openxmlformats.org/officeDocument/2006/relationships/package" Target="../embeddings/Microsoft_Excel_Worksheet189.xlsx"/></Relationships>
</file>

<file path=ppt/charts/_rels/chart190.xml.rels><?xml version='1.0' encoding='UTF-8' standalone='yes'?>
<Relationships xmlns="http://schemas.openxmlformats.org/package/2006/relationships"><Relationship Id="rId1" Type="http://schemas.openxmlformats.org/officeDocument/2006/relationships/package" Target="../embeddings/Microsoft_Excel_Worksheet190.xlsx"/></Relationships>
</file>

<file path=ppt/charts/_rels/chart191.xml.rels><?xml version='1.0' encoding='UTF-8' standalone='yes'?>
<Relationships xmlns="http://schemas.openxmlformats.org/package/2006/relationships"><Relationship Id="rId1" Type="http://schemas.openxmlformats.org/officeDocument/2006/relationships/package" Target="../embeddings/Microsoft_Excel_Worksheet191.xlsx"/></Relationships>
</file>

<file path=ppt/charts/_rels/chart192.xml.rels><?xml version='1.0' encoding='UTF-8' standalone='yes'?>
<Relationships xmlns="http://schemas.openxmlformats.org/package/2006/relationships"><Relationship Id="rId1" Type="http://schemas.openxmlformats.org/officeDocument/2006/relationships/package" Target="../embeddings/Microsoft_Excel_Worksheet192.xlsx"/></Relationships>
</file>

<file path=ppt/charts/_rels/chart193.xml.rels><?xml version='1.0' encoding='UTF-8' standalone='yes'?>
<Relationships xmlns="http://schemas.openxmlformats.org/package/2006/relationships"><Relationship Id="rId1" Type="http://schemas.openxmlformats.org/officeDocument/2006/relationships/package" Target="../embeddings/Microsoft_Excel_Worksheet193.xlsx"/></Relationships>
</file>

<file path=ppt/charts/_rels/chart194.xml.rels><?xml version='1.0' encoding='UTF-8' standalone='yes'?>
<Relationships xmlns="http://schemas.openxmlformats.org/package/2006/relationships"><Relationship Id="rId1" Type="http://schemas.openxmlformats.org/officeDocument/2006/relationships/package" Target="../embeddings/Microsoft_Excel_Worksheet194.xlsx"/></Relationships>
</file>

<file path=ppt/charts/_rels/chart195.xml.rels><?xml version='1.0' encoding='UTF-8' standalone='yes'?>
<Relationships xmlns="http://schemas.openxmlformats.org/package/2006/relationships"><Relationship Id="rId1" Type="http://schemas.openxmlformats.org/officeDocument/2006/relationships/package" Target="../embeddings/Microsoft_Excel_Worksheet195.xlsx"/></Relationships>
</file>

<file path=ppt/charts/_rels/chart196.xml.rels><?xml version='1.0' encoding='UTF-8' standalone='yes'?>
<Relationships xmlns="http://schemas.openxmlformats.org/package/2006/relationships"><Relationship Id="rId1" Type="http://schemas.openxmlformats.org/officeDocument/2006/relationships/package" Target="../embeddings/Microsoft_Excel_Worksheet196.xlsx"/></Relationships>
</file>

<file path=ppt/charts/_rels/chart197.xml.rels><?xml version='1.0' encoding='UTF-8' standalone='yes'?>
<Relationships xmlns="http://schemas.openxmlformats.org/package/2006/relationships"><Relationship Id="rId1" Type="http://schemas.openxmlformats.org/officeDocument/2006/relationships/package" Target="../embeddings/Microsoft_Excel_Worksheet197.xlsx"/></Relationships>
</file>

<file path=ppt/charts/_rels/chart198.xml.rels><?xml version='1.0' encoding='UTF-8' standalone='yes'?>
<Relationships xmlns="http://schemas.openxmlformats.org/package/2006/relationships"><Relationship Id="rId1" Type="http://schemas.openxmlformats.org/officeDocument/2006/relationships/package" Target="../embeddings/Microsoft_Excel_Worksheet198.xlsx"/></Relationships>
</file>

<file path=ppt/charts/_rels/chart199.xml.rels><?xml version='1.0' encoding='UTF-8' standalone='yes'?>
<Relationships xmlns="http://schemas.openxmlformats.org/package/2006/relationships"><Relationship Id="rId1" Type="http://schemas.openxmlformats.org/officeDocument/2006/relationships/package" Target="../embeddings/Microsoft_Excel_Worksheet199.xlsx"/></Relationships>
</file>

<file path=ppt/charts/_rels/chart200.xml.rels><?xml version='1.0' encoding='UTF-8' standalone='yes'?>
<Relationships xmlns="http://schemas.openxmlformats.org/package/2006/relationships"><Relationship Id="rId1" Type="http://schemas.openxmlformats.org/officeDocument/2006/relationships/package" Target="../embeddings/Microsoft_Excel_Worksheet200.xlsx"/></Relationships>
</file>

<file path=ppt/charts/_rels/chart201.xml.rels><?xml version='1.0' encoding='UTF-8' standalone='yes'?>
<Relationships xmlns="http://schemas.openxmlformats.org/package/2006/relationships"><Relationship Id="rId1" Type="http://schemas.openxmlformats.org/officeDocument/2006/relationships/package" Target="../embeddings/Microsoft_Excel_Worksheet201.xlsx"/></Relationships>
</file>

<file path=ppt/charts/_rels/chart202.xml.rels><?xml version='1.0' encoding='UTF-8' standalone='yes'?>
<Relationships xmlns="http://schemas.openxmlformats.org/package/2006/relationships"><Relationship Id="rId1" Type="http://schemas.openxmlformats.org/officeDocument/2006/relationships/package" Target="../embeddings/Microsoft_Excel_Worksheet202.xlsx"/></Relationships>
</file>

<file path=ppt/charts/_rels/chart203.xml.rels><?xml version='1.0' encoding='UTF-8' standalone='yes'?>
<Relationships xmlns="http://schemas.openxmlformats.org/package/2006/relationships"><Relationship Id="rId1" Type="http://schemas.openxmlformats.org/officeDocument/2006/relationships/package" Target="../embeddings/Microsoft_Excel_Worksheet203.xlsx"/></Relationships>
</file>

<file path=ppt/charts/_rels/chart204.xml.rels><?xml version='1.0' encoding='UTF-8' standalone='yes'?>
<Relationships xmlns="http://schemas.openxmlformats.org/package/2006/relationships"><Relationship Id="rId1" Type="http://schemas.openxmlformats.org/officeDocument/2006/relationships/package" Target="../embeddings/Microsoft_Excel_Worksheet204.xlsx"/></Relationships>
</file>

<file path=ppt/charts/_rels/chart205.xml.rels><?xml version='1.0' encoding='UTF-8' standalone='yes'?>
<Relationships xmlns="http://schemas.openxmlformats.org/package/2006/relationships"><Relationship Id="rId1" Type="http://schemas.openxmlformats.org/officeDocument/2006/relationships/package" Target="../embeddings/Microsoft_Excel_Worksheet205.xlsx"/></Relationships>
</file>

<file path=ppt/charts/_rels/chart206.xml.rels><?xml version='1.0' encoding='UTF-8' standalone='yes'?>
<Relationships xmlns="http://schemas.openxmlformats.org/package/2006/relationships"><Relationship Id="rId1" Type="http://schemas.openxmlformats.org/officeDocument/2006/relationships/package" Target="../embeddings/Microsoft_Excel_Worksheet206.xlsx"/></Relationships>
</file>

<file path=ppt/charts/_rels/chart207.xml.rels><?xml version='1.0' encoding='UTF-8' standalone='yes'?>
<Relationships xmlns="http://schemas.openxmlformats.org/package/2006/relationships"><Relationship Id="rId1" Type="http://schemas.openxmlformats.org/officeDocument/2006/relationships/package" Target="../embeddings/Microsoft_Excel_Worksheet207.xlsx"/></Relationships>
</file>

<file path=ppt/charts/_rels/chart208.xml.rels><?xml version='1.0' encoding='UTF-8' standalone='yes'?>
<Relationships xmlns="http://schemas.openxmlformats.org/package/2006/relationships"><Relationship Id="rId1" Type="http://schemas.openxmlformats.org/officeDocument/2006/relationships/package" Target="../embeddings/Microsoft_Excel_Worksheet208.xlsx"/></Relationships>
</file>

<file path=ppt/charts/_rels/chart209.xml.rels><?xml version='1.0' encoding='UTF-8' standalone='yes'?>
<Relationships xmlns="http://schemas.openxmlformats.org/package/2006/relationships"><Relationship Id="rId1" Type="http://schemas.openxmlformats.org/officeDocument/2006/relationships/package" Target="../embeddings/Microsoft_Excel_Worksheet209.xlsx"/></Relationships>
</file>

<file path=ppt/charts/_rels/chart210.xml.rels><?xml version='1.0' encoding='UTF-8' standalone='yes'?>
<Relationships xmlns="http://schemas.openxmlformats.org/package/2006/relationships"><Relationship Id="rId1" Type="http://schemas.openxmlformats.org/officeDocument/2006/relationships/package" Target="../embeddings/Microsoft_Excel_Worksheet210.xlsx"/></Relationships>
</file>

<file path=ppt/charts/_rels/chart211.xml.rels><?xml version='1.0' encoding='UTF-8' standalone='yes'?>
<Relationships xmlns="http://schemas.openxmlformats.org/package/2006/relationships"><Relationship Id="rId1" Type="http://schemas.openxmlformats.org/officeDocument/2006/relationships/package" Target="../embeddings/Microsoft_Excel_Worksheet211.xlsx"/></Relationships>
</file>

<file path=ppt/charts/_rels/chart212.xml.rels><?xml version='1.0' encoding='UTF-8' standalone='yes'?>
<Relationships xmlns="http://schemas.openxmlformats.org/package/2006/relationships"><Relationship Id="rId1" Type="http://schemas.openxmlformats.org/officeDocument/2006/relationships/package" Target="../embeddings/Microsoft_Excel_Worksheet212.xlsx"/></Relationships>
</file>

<file path=ppt/charts/_rels/chart213.xml.rels><?xml version='1.0' encoding='UTF-8' standalone='yes'?>
<Relationships xmlns="http://schemas.openxmlformats.org/package/2006/relationships"><Relationship Id="rId1" Type="http://schemas.openxmlformats.org/officeDocument/2006/relationships/package" Target="../embeddings/Microsoft_Excel_Worksheet213.xlsx"/></Relationships>
</file>

<file path=ppt/charts/_rels/chart214.xml.rels><?xml version='1.0' encoding='UTF-8' standalone='yes'?>
<Relationships xmlns="http://schemas.openxmlformats.org/package/2006/relationships"><Relationship Id="rId1" Type="http://schemas.openxmlformats.org/officeDocument/2006/relationships/package" Target="../embeddings/Microsoft_Excel_Worksheet214.xlsx"/></Relationships>
</file>

<file path=ppt/charts/_rels/chart215.xml.rels><?xml version='1.0' encoding='UTF-8' standalone='yes'?>
<Relationships xmlns="http://schemas.openxmlformats.org/package/2006/relationships"><Relationship Id="rId1" Type="http://schemas.openxmlformats.org/officeDocument/2006/relationships/package" Target="../embeddings/Microsoft_Excel_Worksheet215.xlsx"/></Relationships>
</file>

<file path=ppt/charts/_rels/chart216.xml.rels><?xml version='1.0' encoding='UTF-8' standalone='yes'?>
<Relationships xmlns="http://schemas.openxmlformats.org/package/2006/relationships"><Relationship Id="rId1" Type="http://schemas.openxmlformats.org/officeDocument/2006/relationships/package" Target="../embeddings/Microsoft_Excel_Worksheet216.xlsx"/></Relationships>
</file>

<file path=ppt/charts/_rels/chart217.xml.rels><?xml version='1.0' encoding='UTF-8' standalone='yes'?>
<Relationships xmlns="http://schemas.openxmlformats.org/package/2006/relationships"><Relationship Id="rId1" Type="http://schemas.openxmlformats.org/officeDocument/2006/relationships/package" Target="../embeddings/Microsoft_Excel_Worksheet217.xlsx"/></Relationships>
</file>

<file path=ppt/charts/_rels/chart218.xml.rels><?xml version='1.0' encoding='UTF-8' standalone='yes'?>
<Relationships xmlns="http://schemas.openxmlformats.org/package/2006/relationships"><Relationship Id="rId1" Type="http://schemas.openxmlformats.org/officeDocument/2006/relationships/package" Target="../embeddings/Microsoft_Excel_Worksheet218.xlsx"/></Relationships>
</file>

<file path=ppt/charts/_rels/chart219.xml.rels><?xml version='1.0' encoding='UTF-8' standalone='yes'?>
<Relationships xmlns="http://schemas.openxmlformats.org/package/2006/relationships"><Relationship Id="rId1" Type="http://schemas.openxmlformats.org/officeDocument/2006/relationships/package" Target="../embeddings/Microsoft_Excel_Worksheet219.xlsx"/></Relationships>
</file>

<file path=ppt/charts/_rels/chart220.xml.rels><?xml version='1.0' encoding='UTF-8' standalone='yes'?>
<Relationships xmlns="http://schemas.openxmlformats.org/package/2006/relationships"><Relationship Id="rId1" Type="http://schemas.openxmlformats.org/officeDocument/2006/relationships/package" Target="../embeddings/Microsoft_Excel_Worksheet220.xlsx"/></Relationships>
</file>

<file path=ppt/charts/_rels/chart221.xml.rels><?xml version='1.0' encoding='UTF-8' standalone='yes'?>
<Relationships xmlns="http://schemas.openxmlformats.org/package/2006/relationships"><Relationship Id="rId1" Type="http://schemas.openxmlformats.org/officeDocument/2006/relationships/package" Target="../embeddings/Microsoft_Excel_Worksheet221.xlsx"/></Relationships>
</file>

<file path=ppt/charts/_rels/chart222.xml.rels><?xml version='1.0' encoding='UTF-8' standalone='yes'?>
<Relationships xmlns="http://schemas.openxmlformats.org/package/2006/relationships"><Relationship Id="rId1" Type="http://schemas.openxmlformats.org/officeDocument/2006/relationships/package" Target="../embeddings/Microsoft_Excel_Worksheet222.xlsx"/></Relationships>
</file>

<file path=ppt/charts/_rels/chart223.xml.rels><?xml version='1.0' encoding='UTF-8' standalone='yes'?>
<Relationships xmlns="http://schemas.openxmlformats.org/package/2006/relationships"><Relationship Id="rId1" Type="http://schemas.openxmlformats.org/officeDocument/2006/relationships/package" Target="../embeddings/Microsoft_Excel_Worksheet223.xlsx"/></Relationships>
</file>

<file path=ppt/charts/_rels/chart224.xml.rels><?xml version='1.0' encoding='UTF-8' standalone='yes'?>
<Relationships xmlns="http://schemas.openxmlformats.org/package/2006/relationships"><Relationship Id="rId1" Type="http://schemas.openxmlformats.org/officeDocument/2006/relationships/package" Target="../embeddings/Microsoft_Excel_Worksheet224.xlsx"/></Relationships>
</file>

<file path=ppt/charts/_rels/chart225.xml.rels><?xml version='1.0' encoding='UTF-8' standalone='yes'?>
<Relationships xmlns="http://schemas.openxmlformats.org/package/2006/relationships"><Relationship Id="rId1" Type="http://schemas.openxmlformats.org/officeDocument/2006/relationships/package" Target="../embeddings/Microsoft_Excel_Worksheet225.xlsx"/></Relationships>
</file>

<file path=ppt/charts/_rels/chart226.xml.rels><?xml version='1.0' encoding='UTF-8' standalone='yes'?>
<Relationships xmlns="http://schemas.openxmlformats.org/package/2006/relationships"><Relationship Id="rId1" Type="http://schemas.openxmlformats.org/officeDocument/2006/relationships/package" Target="../embeddings/Microsoft_Excel_Worksheet226.xlsx"/></Relationships>
</file>

<file path=ppt/charts/_rels/chart227.xml.rels><?xml version='1.0' encoding='UTF-8' standalone='yes'?>
<Relationships xmlns="http://schemas.openxmlformats.org/package/2006/relationships"><Relationship Id="rId1" Type="http://schemas.openxmlformats.org/officeDocument/2006/relationships/package" Target="../embeddings/Microsoft_Excel_Worksheet227.xlsx"/></Relationships>
</file>

<file path=ppt/charts/_rels/chart228.xml.rels><?xml version='1.0' encoding='UTF-8' standalone='yes'?>
<Relationships xmlns="http://schemas.openxmlformats.org/package/2006/relationships"><Relationship Id="rId1" Type="http://schemas.openxmlformats.org/officeDocument/2006/relationships/package" Target="../embeddings/Microsoft_Excel_Worksheet228.xlsx"/></Relationships>
</file>

<file path=ppt/charts/_rels/chart229.xml.rels><?xml version='1.0' encoding='UTF-8' standalone='yes'?>
<Relationships xmlns="http://schemas.openxmlformats.org/package/2006/relationships"><Relationship Id="rId1" Type="http://schemas.openxmlformats.org/officeDocument/2006/relationships/package" Target="../embeddings/Microsoft_Excel_Worksheet229.xlsx"/></Relationships>
</file>

<file path=ppt/charts/_rels/chart230.xml.rels><?xml version='1.0' encoding='UTF-8' standalone='yes'?>
<Relationships xmlns="http://schemas.openxmlformats.org/package/2006/relationships"><Relationship Id="rId1" Type="http://schemas.openxmlformats.org/officeDocument/2006/relationships/package" Target="../embeddings/Microsoft_Excel_Worksheet230.xlsx"/></Relationships>
</file>

<file path=ppt/charts/_rels/chart231.xml.rels><?xml version='1.0' encoding='UTF-8' standalone='yes'?>
<Relationships xmlns="http://schemas.openxmlformats.org/package/2006/relationships"><Relationship Id="rId1" Type="http://schemas.openxmlformats.org/officeDocument/2006/relationships/package" Target="../embeddings/Microsoft_Excel_Worksheet231.xlsx"/></Relationships>
</file>

<file path=ppt/charts/_rels/chart232.xml.rels><?xml version='1.0' encoding='UTF-8' standalone='yes'?>
<Relationships xmlns="http://schemas.openxmlformats.org/package/2006/relationships"><Relationship Id="rId1" Type="http://schemas.openxmlformats.org/officeDocument/2006/relationships/package" Target="../embeddings/Microsoft_Excel_Worksheet232.xlsx"/></Relationships>
</file>

<file path=ppt/charts/_rels/chart233.xml.rels><?xml version='1.0' encoding='UTF-8' standalone='yes'?>
<Relationships xmlns="http://schemas.openxmlformats.org/package/2006/relationships"><Relationship Id="rId1" Type="http://schemas.openxmlformats.org/officeDocument/2006/relationships/package" Target="../embeddings/Microsoft_Excel_Worksheet233.xlsx"/></Relationships>
</file>

<file path=ppt/charts/_rels/chart234.xml.rels><?xml version='1.0' encoding='UTF-8' standalone='yes'?>
<Relationships xmlns="http://schemas.openxmlformats.org/package/2006/relationships"><Relationship Id="rId1" Type="http://schemas.openxmlformats.org/officeDocument/2006/relationships/package" Target="../embeddings/Microsoft_Excel_Worksheet234.xlsx"/></Relationships>
</file>

<file path=ppt/charts/_rels/chart235.xml.rels><?xml version='1.0' encoding='UTF-8' standalone='yes'?>
<Relationships xmlns="http://schemas.openxmlformats.org/package/2006/relationships"><Relationship Id="rId1" Type="http://schemas.openxmlformats.org/officeDocument/2006/relationships/package" Target="../embeddings/Microsoft_Excel_Worksheet235.xlsx"/></Relationships>
</file>

<file path=ppt/charts/_rels/chart236.xml.rels><?xml version='1.0' encoding='UTF-8' standalone='yes'?>
<Relationships xmlns="http://schemas.openxmlformats.org/package/2006/relationships"><Relationship Id="rId1" Type="http://schemas.openxmlformats.org/officeDocument/2006/relationships/package" Target="../embeddings/Microsoft_Excel_Worksheet236.xlsx"/></Relationships>
</file>

<file path=ppt/charts/_rels/chart237.xml.rels><?xml version='1.0' encoding='UTF-8' standalone='yes'?>
<Relationships xmlns="http://schemas.openxmlformats.org/package/2006/relationships"><Relationship Id="rId1" Type="http://schemas.openxmlformats.org/officeDocument/2006/relationships/package" Target="../embeddings/Microsoft_Excel_Worksheet237.xlsx"/></Relationships>
</file>

<file path=ppt/charts/_rels/chart238.xml.rels><?xml version='1.0' encoding='UTF-8' standalone='yes'?>
<Relationships xmlns="http://schemas.openxmlformats.org/package/2006/relationships"><Relationship Id="rId1" Type="http://schemas.openxmlformats.org/officeDocument/2006/relationships/package" Target="../embeddings/Microsoft_Excel_Worksheet238.xlsx"/></Relationships>
</file>

<file path=ppt/charts/_rels/chart239.xml.rels><?xml version='1.0' encoding='UTF-8' standalone='yes'?>
<Relationships xmlns="http://schemas.openxmlformats.org/package/2006/relationships"><Relationship Id="rId1" Type="http://schemas.openxmlformats.org/officeDocument/2006/relationships/package" Target="../embeddings/Microsoft_Excel_Worksheet239.xlsx"/></Relationships>
</file>

<file path=ppt/charts/_rels/chart240.xml.rels><?xml version='1.0' encoding='UTF-8' standalone='yes'?>
<Relationships xmlns="http://schemas.openxmlformats.org/package/2006/relationships"><Relationship Id="rId1" Type="http://schemas.openxmlformats.org/officeDocument/2006/relationships/package" Target="../embeddings/Microsoft_Excel_Worksheet240.xlsx"/></Relationships>
</file>

<file path=ppt/charts/_rels/chart241.xml.rels><?xml version='1.0' encoding='UTF-8' standalone='yes'?>
<Relationships xmlns="http://schemas.openxmlformats.org/package/2006/relationships"><Relationship Id="rId1" Type="http://schemas.openxmlformats.org/officeDocument/2006/relationships/package" Target="../embeddings/Microsoft_Excel_Worksheet241.xlsx"/></Relationships>
</file>

<file path=ppt/charts/_rels/chart242.xml.rels><?xml version='1.0' encoding='UTF-8' standalone='yes'?>
<Relationships xmlns="http://schemas.openxmlformats.org/package/2006/relationships"><Relationship Id="rId1" Type="http://schemas.openxmlformats.org/officeDocument/2006/relationships/package" Target="../embeddings/Microsoft_Excel_Worksheet242.xlsx"/></Relationships>
</file>

<file path=ppt/charts/_rels/chart243.xml.rels><?xml version='1.0' encoding='UTF-8' standalone='yes'?>
<Relationships xmlns="http://schemas.openxmlformats.org/package/2006/relationships"><Relationship Id="rId1" Type="http://schemas.openxmlformats.org/officeDocument/2006/relationships/package" Target="../embeddings/Microsoft_Excel_Worksheet243.xlsx"/></Relationships>
</file>

<file path=ppt/charts/_rels/chart244.xml.rels><?xml version='1.0' encoding='UTF-8' standalone='yes'?>
<Relationships xmlns="http://schemas.openxmlformats.org/package/2006/relationships"><Relationship Id="rId1" Type="http://schemas.openxmlformats.org/officeDocument/2006/relationships/package" Target="../embeddings/Microsoft_Excel_Worksheet244.xlsx"/></Relationships>
</file>

<file path=ppt/charts/_rels/chart245.xml.rels><?xml version='1.0' encoding='UTF-8' standalone='yes'?>
<Relationships xmlns="http://schemas.openxmlformats.org/package/2006/relationships"><Relationship Id="rId1" Type="http://schemas.openxmlformats.org/officeDocument/2006/relationships/package" Target="../embeddings/Microsoft_Excel_Worksheet245.xlsx"/></Relationships>
</file>

<file path=ppt/charts/_rels/chart246.xml.rels><?xml version='1.0' encoding='UTF-8' standalone='yes'?>
<Relationships xmlns="http://schemas.openxmlformats.org/package/2006/relationships"><Relationship Id="rId1" Type="http://schemas.openxmlformats.org/officeDocument/2006/relationships/package" Target="../embeddings/Microsoft_Excel_Worksheet246.xlsx"/></Relationships>
</file>

<file path=ppt/charts/_rels/chart247.xml.rels><?xml version='1.0' encoding='UTF-8' standalone='yes'?>
<Relationships xmlns="http://schemas.openxmlformats.org/package/2006/relationships"><Relationship Id="rId1" Type="http://schemas.openxmlformats.org/officeDocument/2006/relationships/package" Target="../embeddings/Microsoft_Excel_Worksheet247.xlsx"/></Relationships>
</file>

<file path=ppt/charts/_rels/chart248.xml.rels><?xml version='1.0' encoding='UTF-8' standalone='yes'?>
<Relationships xmlns="http://schemas.openxmlformats.org/package/2006/relationships"><Relationship Id="rId1" Type="http://schemas.openxmlformats.org/officeDocument/2006/relationships/package" Target="../embeddings/Microsoft_Excel_Worksheet248.xlsx"/></Relationships>
</file>

<file path=ppt/charts/_rels/chart249.xml.rels><?xml version='1.0' encoding='UTF-8' standalone='yes'?>
<Relationships xmlns="http://schemas.openxmlformats.org/package/2006/relationships"><Relationship Id="rId1" Type="http://schemas.openxmlformats.org/officeDocument/2006/relationships/package" Target="../embeddings/Microsoft_Excel_Worksheet249.xlsx"/></Relationships>
</file>

<file path=ppt/charts/_rels/chart250.xml.rels><?xml version='1.0' encoding='UTF-8' standalone='yes'?>
<Relationships xmlns="http://schemas.openxmlformats.org/package/2006/relationships"><Relationship Id="rId1" Type="http://schemas.openxmlformats.org/officeDocument/2006/relationships/package" Target="../embeddings/Microsoft_Excel_Worksheet250.xlsx"/></Relationships>
</file>

<file path=ppt/charts/_rels/chart251.xml.rels><?xml version='1.0' encoding='UTF-8' standalone='yes'?>
<Relationships xmlns="http://schemas.openxmlformats.org/package/2006/relationships"><Relationship Id="rId1" Type="http://schemas.openxmlformats.org/officeDocument/2006/relationships/package" Target="../embeddings/Microsoft_Excel_Worksheet25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21.12</c:v>
                </c:pt>
                <c:pt idx="3">
                  <c:v>21.8</c:v>
                </c:pt>
                <c:pt idx="4">
                  <c:v>20.12</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21.12</c:v>
                </c:pt>
                <c:pt idx="3">
                  <c:v>21.8</c:v>
                </c:pt>
                <c:pt idx="4">
                  <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
                </c:pt>
                <c:pt idx="3">
                  <c:v/>
                </c:pt>
                <c:pt idx="4">
                  <c:v>20.12</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
                </c:pt>
                <c:pt idx="3">
                  <c:v/>
                </c:pt>
                <c:pt idx="4">
                  <c:v>20.28</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20.19</c:v>
                </c:pt>
                <c:pt idx="3">
                  <c:v>20.85</c:v>
                </c:pt>
                <c:pt idx="4">
                  <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20.19</c:v>
                </c:pt>
                <c:pt idx="3">
                  <c:v>20.85</c:v>
                </c:pt>
                <c:pt idx="4">
                  <c:v>20.28</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6.77</c:v>
                </c:pt>
                <c:pt idx="3">
                  <c:v>7.14</c:v>
                </c:pt>
                <c:pt idx="4">
                  <c:v>6.41</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6.77</c:v>
                </c:pt>
                <c:pt idx="3">
                  <c:v>7.14</c:v>
                </c:pt>
                <c:pt idx="4">
                  <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
                </c:pt>
                <c:pt idx="3">
                  <c:v/>
                </c:pt>
                <c:pt idx="4">
                  <c:v>6.41</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
                </c:pt>
                <c:pt idx="3">
                  <c:v/>
                </c:pt>
                <c:pt idx="4">
                  <c:v>6.67</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6.6</c:v>
                </c:pt>
                <c:pt idx="3">
                  <c:v>6.84</c:v>
                </c:pt>
                <c:pt idx="4">
                  <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6.6</c:v>
                </c:pt>
                <c:pt idx="3">
                  <c:v>6.84</c:v>
                </c:pt>
                <c:pt idx="4">
                  <c:v>6.67</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78.5</c:v>
                </c:pt>
                <c:pt idx="3">
                  <c:v>79.6</c:v>
                </c:pt>
                <c:pt idx="4">
                  <c:v>75.4</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78.5</c:v>
                </c:pt>
                <c:pt idx="3">
                  <c:v>79.6</c:v>
                </c:pt>
                <c:pt idx="4">
                  <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
                </c:pt>
                <c:pt idx="3">
                  <c:v/>
                </c:pt>
                <c:pt idx="4">
                  <c:v>75.4</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
                </c:pt>
                <c:pt idx="3">
                  <c:v/>
                </c:pt>
                <c:pt idx="4">
                  <c:v>76.9</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74.1</c:v>
                </c:pt>
                <c:pt idx="3">
                  <c:v>76.3</c:v>
                </c:pt>
                <c:pt idx="4">
                  <c:v/>
                </c:pt>
                <c:pt idx="5">
                  <c:v>77.8</c:v>
                </c:pt>
                <c:pt idx="6">
                  <c:v>78.4</c:v>
                </c:pt>
                <c:pt idx="7">
                  <c:v>75.9</c:v>
                </c:pt>
                <c:pt idx="8">
                  <c:v>72.7</c:v>
                </c:pt>
                <c:pt idx="9">
                  <c:v>82</c:v>
                </c:pt>
                <c:pt idx="10">
                  <c:v>73.4</c:v>
                </c:pt>
                <c:pt idx="11">
                  <c:v>74.6</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74.1</c:v>
                </c:pt>
                <c:pt idx="3">
                  <c:v>76.3</c:v>
                </c:pt>
                <c:pt idx="4">
                  <c:v>76.9</c:v>
                </c:pt>
                <c:pt idx="5">
                  <c:v>77.8</c:v>
                </c:pt>
                <c:pt idx="6">
                  <c:v>78.4</c:v>
                </c:pt>
                <c:pt idx="7">
                  <c:v>75.9</c:v>
                </c:pt>
                <c:pt idx="8">
                  <c:v>72.7</c:v>
                </c:pt>
                <c:pt idx="9">
                  <c:v>82</c:v>
                </c:pt>
                <c:pt idx="10">
                  <c:v>73.4</c:v>
                </c:pt>
                <c:pt idx="11">
                  <c:v>74.6</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21.1</c:v>
                </c:pt>
                <c:pt idx="10">
                  <c:v>14.4</c:v>
                </c:pt>
                <c:pt idx="11">
                  <c:v>16.7</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21.1</c:v>
                </c:pt>
                <c:pt idx="10">
                  <c:v>14.4</c:v>
                </c:pt>
                <c:pt idx="11">
                  <c:v>16.7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36.3</c:v>
                </c:pt>
                <c:pt idx="3">
                  <c:v>38</c:v>
                </c:pt>
                <c:pt idx="4">
                  <c:v>33.6</c:v>
                </c:pt>
                <c:pt idx="5">
                  <c:v>37.7</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36.3</c:v>
                </c:pt>
                <c:pt idx="3">
                  <c:v>38</c:v>
                </c:pt>
                <c:pt idx="4">
                  <c:v/>
                </c:pt>
                <c:pt idx="5">
                  <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
                </c:pt>
                <c:pt idx="3">
                  <c:v/>
                </c:pt>
                <c:pt idx="4">
                  <c:v>33.6</c:v>
                </c:pt>
                <c:pt idx="5">
                  <c:v>37.7</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
                </c:pt>
                <c:pt idx="3">
                  <c:v/>
                </c:pt>
                <c:pt idx="4">
                  <c:v>36.7</c:v>
                </c:pt>
                <c:pt idx="5">
                  <c:v>38.1</c:v>
                </c:pt>
                <c:pt idx="6">
                  <c:v/>
                </c:pt>
                <c:pt idx="7">
                  <c:v/>
                </c:pt>
                <c:pt idx="8">
                  <c:v/>
                </c:pt>
                <c:pt idx="9">
                  <c:v>42.6</c:v>
                </c:pt>
                <c:pt idx="10">
                  <c:v>33.3</c:v>
                </c:pt>
                <c:pt idx="11">
                  <c:v>33.8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35</c:v>
                </c:pt>
                <c:pt idx="3">
                  <c:v>37.7</c:v>
                </c:pt>
                <c:pt idx="4">
                  <c:v/>
                </c:pt>
                <c:pt idx="5">
                  <c:v/>
                </c:pt>
                <c:pt idx="6">
                  <c:v>39.7</c:v>
                </c:pt>
                <c:pt idx="7">
                  <c:v>35.7</c:v>
                </c:pt>
                <c:pt idx="8">
                  <c:v>34.8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35</c:v>
                </c:pt>
                <c:pt idx="3">
                  <c:v>37.7</c:v>
                </c:pt>
                <c:pt idx="4">
                  <c:v>36.7</c:v>
                </c:pt>
                <c:pt idx="5">
                  <c:v>38.1</c:v>
                </c:pt>
                <c:pt idx="6">
                  <c:v>39.7</c:v>
                </c:pt>
                <c:pt idx="7">
                  <c:v>35.7</c:v>
                </c:pt>
                <c:pt idx="8">
                  <c:v>34.8</c:v>
                </c:pt>
                <c:pt idx="9">
                  <c:v>42.6</c:v>
                </c:pt>
                <c:pt idx="10">
                  <c:v>33.3</c:v>
                </c:pt>
                <c:pt idx="11">
                  <c:v>33.8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31531</c:v>
                </c:pt>
                <c:pt idx="3">
                  <c:v>30786</c:v>
                </c:pt>
                <c:pt idx="4">
                  <c:v>30636</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31531</c:v>
                </c:pt>
                <c:pt idx="3">
                  <c:v/>
                </c:pt>
                <c:pt idx="4">
                  <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
                </c:pt>
                <c:pt idx="3">
                  <c:v>30786</c:v>
                </c:pt>
                <c:pt idx="4">
                  <c:v>30636</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
                </c:pt>
                <c:pt idx="3">
                  <c:v>31754</c:v>
                </c:pt>
                <c:pt idx="4">
                  <c:v>31740</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31247</c:v>
                </c:pt>
                <c:pt idx="3">
                  <c:v/>
                </c:pt>
                <c:pt idx="4">
                  <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31247</c:v>
                </c:pt>
                <c:pt idx="3">
                  <c:v>31754</c:v>
                </c:pt>
                <c:pt idx="4">
                  <c:v>31740</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57788.84</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noFill/>
        <a:ln>
          <a:noFill/>
        </a:ln>
        <a:effectLst/>
      </c:spPr>
    </c:plotArea>
    <c:plotVisOnly val="1"/>
    <c:dispBlanksAs val="span"/>
  </c:chart>
  <c:spPr>
    <a:noFill/>
    <a:ln>
      <a:noFill/>
    </a:ln>
    <a:effectLst/>
  </c:sp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57788.84</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57794.35</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
                </c:pt>
                <c:pt idx="5">
                  <c:v>56468.18</c:v>
                </c:pt>
                <c:pt idx="6">
                  <c:v>57717.31</c:v>
                </c:pt>
                <c:pt idx="7">
                  <c:v>57021.2</c:v>
                </c:pt>
                <c:pt idx="8">
                  <c:v>53309.32</c:v>
                </c:pt>
                <c:pt idx="9">
                  <c:v>58023.59000000028</c:v>
                </c:pt>
                <c:pt idx="10">
                  <c:v>51202.50000000025</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57794.35</c:v>
                </c:pt>
                <c:pt idx="5">
                  <c:v>56468.18</c:v>
                </c:pt>
                <c:pt idx="6">
                  <c:v>57717.31</c:v>
                </c:pt>
                <c:pt idx="7">
                  <c:v>57021.2</c:v>
                </c:pt>
                <c:pt idx="8">
                  <c:v>53309.32</c:v>
                </c:pt>
                <c:pt idx="9">
                  <c:v>58023.59000000028</c:v>
                </c:pt>
                <c:pt idx="10">
                  <c:v>51202.50000000025</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majorGridlines>
          <c:spPr>
            <a:ln w="9525" cap="flat">
              <a:solidFill>
                <a:srgbClr val="D9D9D9"/>
              </a:solidFill>
              <a:prstDash val="solid"/>
              <a:round/>
            </a:ln>
          </c:spPr>
        </c:majorGridlines>
        <c:numFmt formatCode="0.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52.3</c:v>
                </c:pt>
                <c:pt idx="1">
                  <c:v>51.7</c:v>
                </c:pt>
                <c:pt idx="2">
                  <c:v>53.3</c:v>
                </c:pt>
                <c:pt idx="3">
                  <c:v>51.8</c:v>
                </c:pt>
                <c:pt idx="4">
                  <c:v>53.6</c:v>
                </c:pt>
                <c:pt idx="5">
                  <c:v>53.4</c:v>
                </c:pt>
                <c:pt idx="6">
                  <c:v>52.4</c:v>
                </c:pt>
                <c:pt idx="7">
                  <c:v>53.1</c:v>
                </c:pt>
                <c:pt idx="8">
                  <c:v>50.7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52.3</c:v>
                </c:pt>
                <c:pt idx="1">
                  <c:v>51.7</c:v>
                </c:pt>
                <c:pt idx="2">
                  <c:v>53.3</c:v>
                </c:pt>
                <c:pt idx="3">
                  <c:v/>
                </c:pt>
                <c:pt idx="4">
                  <c:v/>
                </c:pt>
                <c:pt idx="5">
                  <c:v>53.4</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51.8</c:v>
                </c:pt>
                <c:pt idx="4">
                  <c:v>53.6</c:v>
                </c:pt>
                <c:pt idx="5">
                  <c:v/>
                </c:pt>
                <c:pt idx="6">
                  <c:v>52.4</c:v>
                </c:pt>
                <c:pt idx="7">
                  <c:v>53.1</c:v>
                </c:pt>
                <c:pt idx="8">
                  <c:v>50.7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52.5</c:v>
                </c:pt>
                <c:pt idx="4">
                  <c:v>53.9</c:v>
                </c:pt>
                <c:pt idx="5">
                  <c:v/>
                </c:pt>
                <c:pt idx="6">
                  <c:v>52.8</c:v>
                </c:pt>
                <c:pt idx="7">
                  <c:v>53.4</c:v>
                </c:pt>
                <c:pt idx="8">
                  <c:v>53.4</c:v>
                </c:pt>
                <c:pt idx="9">
                  <c:v>52.6</c:v>
                </c:pt>
                <c:pt idx="10">
                  <c:v>54.1</c:v>
                </c:pt>
                <c:pt idx="11">
                  <c:v>52</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51.3</c:v>
                </c:pt>
                <c:pt idx="1">
                  <c:v>51.4</c:v>
                </c:pt>
                <c:pt idx="2">
                  <c:v>52.8</c:v>
                </c:pt>
                <c:pt idx="3">
                  <c:v/>
                </c:pt>
                <c:pt idx="4">
                  <c:v/>
                </c:pt>
                <c:pt idx="5">
                  <c:v>53.3</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51.3</c:v>
                </c:pt>
                <c:pt idx="1">
                  <c:v>51.4</c:v>
                </c:pt>
                <c:pt idx="2">
                  <c:v>52.8</c:v>
                </c:pt>
                <c:pt idx="3">
                  <c:v>52.5</c:v>
                </c:pt>
                <c:pt idx="4">
                  <c:v>53.9</c:v>
                </c:pt>
                <c:pt idx="5">
                  <c:v>53.3</c:v>
                </c:pt>
                <c:pt idx="6">
                  <c:v>52.8</c:v>
                </c:pt>
                <c:pt idx="7">
                  <c:v>53.4</c:v>
                </c:pt>
                <c:pt idx="8">
                  <c:v>53.4</c:v>
                </c:pt>
                <c:pt idx="9">
                  <c:v>52.6</c:v>
                </c:pt>
                <c:pt idx="10">
                  <c:v>54.1</c:v>
                </c:pt>
                <c:pt idx="11">
                  <c:v>52</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80.7</c:v>
                </c:pt>
                <c:pt idx="2">
                  <c:v>80.8</c:v>
                </c:pt>
                <c:pt idx="3">
                  <c:v>80.7</c:v>
                </c:pt>
                <c:pt idx="4">
                  <c:v>80.7</c:v>
                </c:pt>
                <c:pt idx="5">
                  <c:v>80.8</c:v>
                </c:pt>
                <c:pt idx="6">
                  <c:v>80.8</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
                </c:pt>
                <c:pt idx="2">
                  <c:v/>
                </c:pt>
                <c:pt idx="3">
                  <c:v/>
                </c:pt>
                <c:pt idx="4">
                  <c:v/>
                </c:pt>
                <c:pt idx="5">
                  <c:v/>
                </c:pt>
                <c:pt idx="6">
                  <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80.7</c:v>
                </c:pt>
                <c:pt idx="2">
                  <c:v>80.8</c:v>
                </c:pt>
                <c:pt idx="3">
                  <c:v>80.7</c:v>
                </c:pt>
                <c:pt idx="4">
                  <c:v>80.7</c:v>
                </c:pt>
                <c:pt idx="5">
                  <c:v>80.8</c:v>
                </c:pt>
                <c:pt idx="6">
                  <c:v>80.8</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80.9</c:v>
                </c:pt>
                <c:pt idx="2">
                  <c:v>80.9</c:v>
                </c:pt>
                <c:pt idx="3">
                  <c:v>80.8</c:v>
                </c:pt>
                <c:pt idx="4">
                  <c:v>80.8</c:v>
                </c:pt>
                <c:pt idx="5">
                  <c:v>81.1</c:v>
                </c:pt>
                <c:pt idx="6">
                  <c:v>81</c:v>
                </c:pt>
                <c:pt idx="7">
                  <c:v/>
                </c:pt>
                <c:pt idx="8">
                  <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
                </c:pt>
                <c:pt idx="2">
                  <c:v/>
                </c:pt>
                <c:pt idx="3">
                  <c:v/>
                </c:pt>
                <c:pt idx="4">
                  <c:v/>
                </c:pt>
                <c:pt idx="5">
                  <c:v/>
                </c:pt>
                <c:pt idx="6">
                  <c:v/>
                </c:pt>
                <c:pt idx="7">
                  <c:v>80.8</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80.9</c:v>
                </c:pt>
                <c:pt idx="2">
                  <c:v>80.9</c:v>
                </c:pt>
                <c:pt idx="3">
                  <c:v>80.8</c:v>
                </c:pt>
                <c:pt idx="4">
                  <c:v>80.8</c:v>
                </c:pt>
                <c:pt idx="5">
                  <c:v>81.1</c:v>
                </c:pt>
                <c:pt idx="6">
                  <c:v>81</c:v>
                </c:pt>
                <c:pt idx="7">
                  <c:v>80.8</c:v>
                </c:pt>
                <c:pt idx="8">
                  <c:v>80.7</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12.1</c:v>
                </c:pt>
                <c:pt idx="10">
                  <c:v>12.3</c:v>
                </c:pt>
                <c:pt idx="11">
                  <c:v>11.8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12.1</c:v>
                </c:pt>
                <c:pt idx="10">
                  <c:v>12.3</c:v>
                </c:pt>
                <c:pt idx="11">
                  <c:v>11.8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124.08</c:v>
                </c:pt>
                <c:pt idx="2">
                  <c:v>130.61</c:v>
                </c:pt>
                <c:pt idx="3">
                  <c:v>130.85</c:v>
                </c:pt>
                <c:pt idx="4">
                  <c:v>131.64</c:v>
                </c:pt>
                <c:pt idx="5">
                  <c:v>128.34</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
                </c:pt>
                <c:pt idx="2">
                  <c:v>130.61</c:v>
                </c:pt>
                <c:pt idx="3">
                  <c:v>130.85</c:v>
                </c:pt>
                <c:pt idx="4">
                  <c:v>131.64</c:v>
                </c:pt>
                <c:pt idx="5">
                  <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124.08</c:v>
                </c:pt>
                <c:pt idx="2">
                  <c:v/>
                </c:pt>
                <c:pt idx="3">
                  <c:v/>
                </c:pt>
                <c:pt idx="4">
                  <c:v/>
                </c:pt>
                <c:pt idx="5">
                  <c:v>128.34</c:v>
                </c:pt>
                <c:pt idx="6">
                  <c:v/>
                </c:pt>
                <c:pt idx="7">
                  <c:v/>
                </c:pt>
                <c:pt idx="8">
                  <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125.41</c:v>
                </c:pt>
                <c:pt idx="2">
                  <c:v/>
                </c:pt>
                <c:pt idx="3">
                  <c:v/>
                </c:pt>
                <c:pt idx="4">
                  <c:v/>
                </c:pt>
                <c:pt idx="5">
                  <c:v>128.94</c:v>
                </c:pt>
                <c:pt idx="6">
                  <c:v/>
                </c:pt>
                <c:pt idx="7">
                  <c:v/>
                </c:pt>
                <c:pt idx="8">
                  <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
                </c:pt>
                <c:pt idx="2">
                  <c:v>124.77</c:v>
                </c:pt>
                <c:pt idx="3">
                  <c:v>125.94</c:v>
                </c:pt>
                <c:pt idx="4">
                  <c:v>130.19</c:v>
                </c:pt>
                <c:pt idx="5">
                  <c:v/>
                </c:pt>
                <c:pt idx="6">
                  <c:v>125.78</c:v>
                </c:pt>
                <c:pt idx="7">
                  <c:v>125.81</c:v>
                </c:pt>
                <c:pt idx="8">
                  <c:v>124.46</c:v>
                </c:pt>
                <c:pt idx="9">
                  <c:v>125.52</c:v>
                </c:pt>
                <c:pt idx="10">
                  <c:v>125.56</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125.41</c:v>
                </c:pt>
                <c:pt idx="2">
                  <c:v>124.77</c:v>
                </c:pt>
                <c:pt idx="3">
                  <c:v>125.94</c:v>
                </c:pt>
                <c:pt idx="4">
                  <c:v>130.19</c:v>
                </c:pt>
                <c:pt idx="5">
                  <c:v>128.94</c:v>
                </c:pt>
                <c:pt idx="6">
                  <c:v>125.78</c:v>
                </c:pt>
                <c:pt idx="7">
                  <c:v>125.81</c:v>
                </c:pt>
                <c:pt idx="8">
                  <c:v>124.46</c:v>
                </c:pt>
                <c:pt idx="9">
                  <c:v>125.52</c:v>
                </c:pt>
                <c:pt idx="10">
                  <c:v>125.56</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78.4</c:v>
                </c:pt>
                <c:pt idx="3">
                  <c:v>78.3</c:v>
                </c:pt>
                <c:pt idx="4">
                  <c:v>78.8</c:v>
                </c:pt>
                <c:pt idx="5">
                  <c:v>77.8</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78.4</c:v>
                </c:pt>
                <c:pt idx="3">
                  <c:v>78.3</c:v>
                </c:pt>
                <c:pt idx="4">
                  <c:v>78.8</c:v>
                </c:pt>
                <c:pt idx="5">
                  <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
                </c:pt>
                <c:pt idx="3">
                  <c:v/>
                </c:pt>
                <c:pt idx="4">
                  <c:v/>
                </c:pt>
                <c:pt idx="5">
                  <c:v>77.8</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
                </c:pt>
                <c:pt idx="3">
                  <c:v/>
                </c:pt>
                <c:pt idx="4">
                  <c:v/>
                </c:pt>
                <c:pt idx="5">
                  <c:v>78.3</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77.9</c:v>
                </c:pt>
                <c:pt idx="3">
                  <c:v>78</c:v>
                </c:pt>
                <c:pt idx="4">
                  <c:v>78.5</c:v>
                </c:pt>
                <c:pt idx="5">
                  <c:v/>
                </c:pt>
                <c:pt idx="6">
                  <c:v>77.7</c:v>
                </c:pt>
                <c:pt idx="7">
                  <c:v>77.4</c:v>
                </c:pt>
                <c:pt idx="8">
                  <c:v>77.3</c:v>
                </c:pt>
                <c:pt idx="9">
                  <c:v>77.9</c:v>
                </c:pt>
                <c:pt idx="10">
                  <c:v>77.4</c:v>
                </c:pt>
                <c:pt idx="11">
                  <c:v>78.4</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77.9</c:v>
                </c:pt>
                <c:pt idx="3">
                  <c:v>78</c:v>
                </c:pt>
                <c:pt idx="4">
                  <c:v>78.5</c:v>
                </c:pt>
                <c:pt idx="5">
                  <c:v>78.3</c:v>
                </c:pt>
                <c:pt idx="6">
                  <c:v>77.7</c:v>
                </c:pt>
                <c:pt idx="7">
                  <c:v>77.4</c:v>
                </c:pt>
                <c:pt idx="8">
                  <c:v>77.3</c:v>
                </c:pt>
                <c:pt idx="9">
                  <c:v>77.9</c:v>
                </c:pt>
                <c:pt idx="10">
                  <c:v>77.4</c:v>
                </c:pt>
                <c:pt idx="11">
                  <c:v>78.4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36.4</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36.4</c:v>
                </c:pt>
                <c:pt idx="4">
                  <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36.7</c:v>
                </c:pt>
                <c:pt idx="4">
                  <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
                </c:pt>
                <c:pt idx="4">
                  <c:v>35.5</c:v>
                </c:pt>
                <c:pt idx="5">
                  <c:v>36.7</c:v>
                </c:pt>
                <c:pt idx="6">
                  <c:v>36.4</c:v>
                </c:pt>
                <c:pt idx="7">
                  <c:v>35.3</c:v>
                </c:pt>
                <c:pt idx="8">
                  <c:v>36.1</c:v>
                </c:pt>
                <c:pt idx="9">
                  <c:v>35.4</c:v>
                </c:pt>
                <c:pt idx="10">
                  <c:v>35.2</c:v>
                </c:pt>
                <c:pt idx="11">
                  <c:v>35.4</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36.7</c:v>
                </c:pt>
                <c:pt idx="4">
                  <c:v>35.5</c:v>
                </c:pt>
                <c:pt idx="5">
                  <c:v>36.7</c:v>
                </c:pt>
                <c:pt idx="6">
                  <c:v>36.4</c:v>
                </c:pt>
                <c:pt idx="7">
                  <c:v>35.3</c:v>
                </c:pt>
                <c:pt idx="8">
                  <c:v>36.1</c:v>
                </c:pt>
                <c:pt idx="9">
                  <c:v>35.4</c:v>
                </c:pt>
                <c:pt idx="10">
                  <c:v>35.2</c:v>
                </c:pt>
                <c:pt idx="11">
                  <c:v>35.4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1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171.412</c:v>
                </c:pt>
                <c:pt idx="6">
                  <c:v>174.588</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171.412</c:v>
                </c:pt>
                <c:pt idx="6">
                  <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
                </c:pt>
                <c:pt idx="6">
                  <c:v>174.588</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
                </c:pt>
                <c:pt idx="6">
                  <c:v>177.77732793522267</c:v>
                </c:pt>
                <c:pt idx="7">
                  <c:v/>
                </c:pt>
                <c:pt idx="8">
                  <c:v/>
                </c:pt>
                <c:pt idx="9">
                  <c:v>173.3413654618474</c:v>
                </c:pt>
                <c:pt idx="10">
                  <c:v>152.834008097166</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171.10526315789474</c:v>
                </c:pt>
                <c:pt idx="6">
                  <c:v/>
                </c:pt>
                <c:pt idx="7">
                  <c:v>171.31075697211156</c:v>
                </c:pt>
                <c:pt idx="8">
                  <c:v>160.78225806451613</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171.10526315789474</c:v>
                </c:pt>
                <c:pt idx="6">
                  <c:v>177.77732793522267</c:v>
                </c:pt>
                <c:pt idx="7">
                  <c:v>171.31075697211156</c:v>
                </c:pt>
                <c:pt idx="8">
                  <c:v>160.78225806451613</c:v>
                </c:pt>
                <c:pt idx="9">
                  <c:v>173.3413654618474</c:v>
                </c:pt>
                <c:pt idx="10">
                  <c:v>152.834008097166</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23.790849673202615</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23.790849673202615</c:v>
                </c:pt>
                <c:pt idx="2">
                  <c:v/>
                </c:pt>
                <c:pt idx="3">
                  <c:v/>
                </c:pt>
                <c:pt idx="4">
                  <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24.324142156862745</c:v>
                </c:pt>
                <c:pt idx="2">
                  <c:v/>
                </c:pt>
                <c:pt idx="3">
                  <c:v/>
                </c:pt>
                <c:pt idx="4">
                  <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
                </c:pt>
                <c:pt idx="2">
                  <c:v>26.341313689379987</c:v>
                </c:pt>
                <c:pt idx="3">
                  <c:v>26.436532507739937</c:v>
                </c:pt>
                <c:pt idx="4">
                  <c:v>26.070240295748615</c:v>
                </c:pt>
                <c:pt idx="5">
                  <c:v>26.152846534653467</c:v>
                </c:pt>
                <c:pt idx="6">
                  <c:v>26.955801104972377</c:v>
                </c:pt>
                <c:pt idx="7">
                  <c:v>26.42839582052858</c:v>
                </c:pt>
                <c:pt idx="8">
                  <c:v>24.67450495049505</c:v>
                </c:pt>
                <c:pt idx="9">
                  <c:v>26.908977556109726</c:v>
                </c:pt>
                <c:pt idx="10">
                  <c:v>23.8621997471555</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24.324142156862745</c:v>
                </c:pt>
                <c:pt idx="2">
                  <c:v>26.341313689379987</c:v>
                </c:pt>
                <c:pt idx="3">
                  <c:v>26.436532507739937</c:v>
                </c:pt>
                <c:pt idx="4">
                  <c:v>26.070240295748615</c:v>
                </c:pt>
                <c:pt idx="5">
                  <c:v>26.152846534653467</c:v>
                </c:pt>
                <c:pt idx="6">
                  <c:v>26.955801104972377</c:v>
                </c:pt>
                <c:pt idx="7">
                  <c:v>26.42839582052858</c:v>
                </c:pt>
                <c:pt idx="8">
                  <c:v>24.67450495049505</c:v>
                </c:pt>
                <c:pt idx="9">
                  <c:v>26.908977556109726</c:v>
                </c:pt>
                <c:pt idx="10">
                  <c:v>23.8621997471555</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337.037037037037</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337.037037037037</c:v>
                </c:pt>
                <c:pt idx="2">
                  <c:v/>
                </c:pt>
                <c:pt idx="3">
                  <c:v/>
                </c:pt>
                <c:pt idx="4">
                  <c:v/>
                </c:pt>
                <c:pt idx="5">
                  <c:v/>
                </c:pt>
                <c:pt idx="6">
                  <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342.2155172413793</c:v>
                </c:pt>
                <c:pt idx="2">
                  <c:v/>
                </c:pt>
                <c:pt idx="3">
                  <c:v/>
                </c:pt>
                <c:pt idx="4">
                  <c:v/>
                </c:pt>
                <c:pt idx="5">
                  <c:v/>
                </c:pt>
                <c:pt idx="6">
                  <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
                </c:pt>
                <c:pt idx="2">
                  <c:v>369.91379310344826</c:v>
                </c:pt>
                <c:pt idx="3">
                  <c:v>384.63963963963965</c:v>
                </c:pt>
                <c:pt idx="4">
                  <c:v>381.18918918918916</c:v>
                </c:pt>
                <c:pt idx="5">
                  <c:v>387.73394495412845</c:v>
                </c:pt>
                <c:pt idx="6">
                  <c:v>399.1909090909091</c:v>
                </c:pt>
                <c:pt idx="7">
                  <c:v>390.9</c:v>
                </c:pt>
                <c:pt idx="8">
                  <c:v>372.6542056074766</c:v>
                </c:pt>
                <c:pt idx="9">
                  <c:v>395.9816513761468</c:v>
                </c:pt>
                <c:pt idx="10">
                  <c:v>352.803738317757</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342.2155172413793</c:v>
                </c:pt>
                <c:pt idx="2">
                  <c:v>369.91379310344826</c:v>
                </c:pt>
                <c:pt idx="3">
                  <c:v>384.63963963963965</c:v>
                </c:pt>
                <c:pt idx="4">
                  <c:v>381.18918918918916</c:v>
                </c:pt>
                <c:pt idx="5">
                  <c:v>387.73394495412845</c:v>
                </c:pt>
                <c:pt idx="6">
                  <c:v>399.1909090909091</c:v>
                </c:pt>
                <c:pt idx="7">
                  <c:v>390.9</c:v>
                </c:pt>
                <c:pt idx="8">
                  <c:v>372.6542056074766</c:v>
                </c:pt>
                <c:pt idx="9">
                  <c:v>395.9816513761468</c:v>
                </c:pt>
                <c:pt idx="10">
                  <c:v>352.803738317757</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196.34</c:v>
                </c:pt>
                <c:pt idx="1">
                  <c:v>197.6</c:v>
                </c:pt>
                <c:pt idx="2">
                  <c:v>196.73</c:v>
                </c:pt>
                <c:pt idx="3">
                  <c:v>199.07</c:v>
                </c:pt>
                <c:pt idx="4">
                  <c:v>194.28</c:v>
                </c:pt>
                <c:pt idx="5">
                  <c:v>194.35</c:v>
                </c:pt>
                <c:pt idx="6">
                  <c:v>198.7</c:v>
                </c:pt>
                <c:pt idx="7">
                  <c:v>198.48</c:v>
                </c:pt>
                <c:pt idx="8">
                  <c:v>198.65</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1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196.34</c:v>
                </c:pt>
                <c:pt idx="1">
                  <c:v>197.6</c:v>
                </c:pt>
                <c:pt idx="2">
                  <c:v>196.73</c:v>
                </c:pt>
                <c:pt idx="3">
                  <c:v>199.07</c:v>
                </c:pt>
                <c:pt idx="4">
                  <c:v>194.28</c:v>
                </c:pt>
                <c:pt idx="5">
                  <c:v>194.35</c:v>
                </c:pt>
                <c:pt idx="6">
                  <c:v>198.7</c:v>
                </c:pt>
                <c:pt idx="7">
                  <c:v>198.48</c:v>
                </c:pt>
                <c:pt idx="8">
                  <c:v>198.65</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175.24</c:v>
                </c:pt>
                <c:pt idx="1">
                  <c:v>174.7</c:v>
                </c:pt>
                <c:pt idx="2">
                  <c:v>172.93</c:v>
                </c:pt>
                <c:pt idx="3">
                  <c:v>175.61</c:v>
                </c:pt>
                <c:pt idx="4">
                  <c:v>181.76</c:v>
                </c:pt>
                <c:pt idx="5">
                  <c:v>185.29</c:v>
                </c:pt>
                <c:pt idx="6">
                  <c:v>186.84</c:v>
                </c:pt>
                <c:pt idx="7">
                  <c:v>186.04</c:v>
                </c:pt>
                <c:pt idx="8">
                  <c:v>186.63</c:v>
                </c:pt>
                <c:pt idx="9">
                  <c:v>187.82</c:v>
                </c:pt>
                <c:pt idx="10">
                  <c:v>188.55</c:v>
                </c:pt>
                <c:pt idx="11">
                  <c:v>193.03</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175.24</c:v>
                </c:pt>
                <c:pt idx="1">
                  <c:v>174.7</c:v>
                </c:pt>
                <c:pt idx="2">
                  <c:v>172.93</c:v>
                </c:pt>
                <c:pt idx="3">
                  <c:v>175.61</c:v>
                </c:pt>
                <c:pt idx="4">
                  <c:v>181.76</c:v>
                </c:pt>
                <c:pt idx="5">
                  <c:v>185.29</c:v>
                </c:pt>
                <c:pt idx="6">
                  <c:v>186.84</c:v>
                </c:pt>
                <c:pt idx="7">
                  <c:v>186.04</c:v>
                </c:pt>
                <c:pt idx="8">
                  <c:v>186.63</c:v>
                </c:pt>
                <c:pt idx="9">
                  <c:v>187.82</c:v>
                </c:pt>
                <c:pt idx="10">
                  <c:v>188.55</c:v>
                </c:pt>
                <c:pt idx="11">
                  <c:v>193.03</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43.5</c:v>
                </c:pt>
                <c:pt idx="1">
                  <c:v>44.2</c:v>
                </c:pt>
                <c:pt idx="2">
                  <c:v>44</c:v>
                </c:pt>
                <c:pt idx="3">
                  <c:v>44.3</c:v>
                </c:pt>
                <c:pt idx="4">
                  <c:v>44.5</c:v>
                </c:pt>
                <c:pt idx="5">
                  <c:v>44.5</c:v>
                </c:pt>
                <c:pt idx="6">
                  <c:v>46</c:v>
                </c:pt>
                <c:pt idx="7">
                  <c:v>45.1</c:v>
                </c:pt>
                <c:pt idx="8">
                  <c:v>45.6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8"/>
          <c:min val="4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43.5</c:v>
                </c:pt>
                <c:pt idx="1">
                  <c:v>44.2</c:v>
                </c:pt>
                <c:pt idx="2">
                  <c:v>44</c:v>
                </c:pt>
                <c:pt idx="3">
                  <c:v>44.3</c:v>
                </c:pt>
                <c:pt idx="4">
                  <c:v>44.5</c:v>
                </c:pt>
                <c:pt idx="5">
                  <c:v>44.5</c:v>
                </c:pt>
                <c:pt idx="6">
                  <c:v>46</c:v>
                </c:pt>
                <c:pt idx="7">
                  <c:v>45.1</c:v>
                </c:pt>
                <c:pt idx="8">
                  <c:v>45.6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8"/>
          <c:min val="4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42.3</c:v>
                </c:pt>
                <c:pt idx="1">
                  <c:v>42.4</c:v>
                </c:pt>
                <c:pt idx="2">
                  <c:v>42.7</c:v>
                </c:pt>
                <c:pt idx="3">
                  <c:v>42.7</c:v>
                </c:pt>
                <c:pt idx="4">
                  <c:v>41.8</c:v>
                </c:pt>
                <c:pt idx="5">
                  <c:v>41.7</c:v>
                </c:pt>
                <c:pt idx="6">
                  <c:v>43.3</c:v>
                </c:pt>
                <c:pt idx="7">
                  <c:v>43.1</c:v>
                </c:pt>
                <c:pt idx="8">
                  <c:v>43.2</c:v>
                </c:pt>
                <c:pt idx="9">
                  <c:v>42.5</c:v>
                </c:pt>
                <c:pt idx="10">
                  <c:v>42.9</c:v>
                </c:pt>
                <c:pt idx="11">
                  <c:v>43.1</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8"/>
          <c:min val="4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42.3</c:v>
                </c:pt>
                <c:pt idx="1">
                  <c:v>42.4</c:v>
                </c:pt>
                <c:pt idx="2">
                  <c:v>42.7</c:v>
                </c:pt>
                <c:pt idx="3">
                  <c:v>42.7</c:v>
                </c:pt>
                <c:pt idx="4">
                  <c:v>41.8</c:v>
                </c:pt>
                <c:pt idx="5">
                  <c:v>41.7</c:v>
                </c:pt>
                <c:pt idx="6">
                  <c:v>43.3</c:v>
                </c:pt>
                <c:pt idx="7">
                  <c:v>43.1</c:v>
                </c:pt>
                <c:pt idx="8">
                  <c:v>43.2</c:v>
                </c:pt>
                <c:pt idx="9">
                  <c:v>42.5</c:v>
                </c:pt>
                <c:pt idx="10">
                  <c:v>42.9</c:v>
                </c:pt>
                <c:pt idx="11">
                  <c:v>43.1</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8"/>
          <c:min val="4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14264</c:v>
                </c:pt>
                <c:pt idx="1">
                  <c:v>12746</c:v>
                </c:pt>
                <c:pt idx="2">
                  <c:v>13940</c:v>
                </c:pt>
                <c:pt idx="3">
                  <c:v>13710</c:v>
                </c:pt>
                <c:pt idx="4">
                  <c:v>13121</c:v>
                </c:pt>
                <c:pt idx="5">
                  <c:v>14168</c:v>
                </c:pt>
                <c:pt idx="6">
                  <c:v>14663</c:v>
                </c:pt>
                <c:pt idx="7">
                  <c:v>15204</c:v>
                </c:pt>
                <c:pt idx="8">
                  <c:v>15075</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1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15204</c:v>
                </c:pt>
                <c:pt idx="8">
                  <c:v>15075</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14264</c:v>
                </c:pt>
                <c:pt idx="1">
                  <c:v>12746</c:v>
                </c:pt>
                <c:pt idx="2">
                  <c:v>13940</c:v>
                </c:pt>
                <c:pt idx="3">
                  <c:v>13710</c:v>
                </c:pt>
                <c:pt idx="4">
                  <c:v>13121</c:v>
                </c:pt>
                <c:pt idx="5">
                  <c:v>14168</c:v>
                </c:pt>
                <c:pt idx="6">
                  <c:v>14663</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16565</c:v>
                </c:pt>
                <c:pt idx="1">
                  <c:v>15707</c:v>
                </c:pt>
                <c:pt idx="2">
                  <c:v>15981</c:v>
                </c:pt>
                <c:pt idx="3">
                  <c:v>14990</c:v>
                </c:pt>
                <c:pt idx="4">
                  <c:v>14527</c:v>
                </c:pt>
                <c:pt idx="5">
                  <c:v>14882</c:v>
                </c:pt>
                <c:pt idx="6">
                  <c:v>15408</c:v>
                </c:pt>
                <c:pt idx="7">
                  <c:v/>
                </c:pt>
                <c:pt idx="8">
                  <c:v/>
                </c:pt>
                <c:pt idx="9">
                  <c:v>14227</c:v>
                </c:pt>
                <c:pt idx="10">
                  <c:v>12951</c:v>
                </c:pt>
                <c:pt idx="11">
                  <c:v>14223</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14622</c:v>
                </c:pt>
                <c:pt idx="8">
                  <c:v>13082</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16565</c:v>
                </c:pt>
                <c:pt idx="1">
                  <c:v>15707</c:v>
                </c:pt>
                <c:pt idx="2">
                  <c:v>15981</c:v>
                </c:pt>
                <c:pt idx="3">
                  <c:v>14990</c:v>
                </c:pt>
                <c:pt idx="4">
                  <c:v>14527</c:v>
                </c:pt>
                <c:pt idx="5">
                  <c:v>14882</c:v>
                </c:pt>
                <c:pt idx="6">
                  <c:v>15408</c:v>
                </c:pt>
                <c:pt idx="7">
                  <c:v>14622</c:v>
                </c:pt>
                <c:pt idx="8">
                  <c:v>13082</c:v>
                </c:pt>
                <c:pt idx="9">
                  <c:v>14227</c:v>
                </c:pt>
                <c:pt idx="10">
                  <c:v>12951</c:v>
                </c:pt>
                <c:pt idx="11">
                  <c:v>14223</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176585.11</c:v>
                </c:pt>
                <c:pt idx="1">
                  <c:v>184273.9</c:v>
                </c:pt>
                <c:pt idx="2">
                  <c:v>243873.84</c:v>
                </c:pt>
                <c:pt idx="3">
                  <c:v>231682.97</c:v>
                </c:pt>
                <c:pt idx="4">
                  <c:v>262721.61</c:v>
                </c:pt>
                <c:pt idx="5">
                  <c:v>263340.99</c:v>
                </c:pt>
                <c:pt idx="6">
                  <c:v>244041.77</c:v>
                </c:pt>
                <c:pt idx="7">
                  <c:v>244446.27</c:v>
                </c:pt>
                <c:pt idx="8">
                  <c:v>249281.88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6354.372"/>
          <c:min val="163571.727999999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294309.57999999996</c:v>
                </c:pt>
                <c:pt idx="1">
                  <c:v>278868.58</c:v>
                </c:pt>
                <c:pt idx="2">
                  <c:v>359908.79</c:v>
                </c:pt>
                <c:pt idx="3">
                  <c:v>393728.92000000004</c:v>
                </c:pt>
                <c:pt idx="4">
                  <c:v>359273.68</c:v>
                </c:pt>
                <c:pt idx="5">
                  <c:v>386316.45</c:v>
                </c:pt>
                <c:pt idx="6">
                  <c:v>384135.08</c:v>
                </c:pt>
                <c:pt idx="7">
                  <c:v>397933.38999999996</c:v>
                </c:pt>
                <c:pt idx="8">
                  <c:v>341938.74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15793.11149999994"/>
          <c:min val="261008.8585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177080.6</c:v>
                </c:pt>
                <c:pt idx="1">
                  <c:v>116317.49</c:v>
                </c:pt>
                <c:pt idx="2">
                  <c:v>151683.66999999998</c:v>
                </c:pt>
                <c:pt idx="3">
                  <c:v>189304.13</c:v>
                </c:pt>
                <c:pt idx="4">
                  <c:v>164925.71000000002</c:v>
                </c:pt>
                <c:pt idx="5">
                  <c:v>166070.51</c:v>
                </c:pt>
                <c:pt idx="6">
                  <c:v>172210.90000000002</c:v>
                </c:pt>
                <c:pt idx="7">
                  <c:v>228828.82</c:v>
                </c:pt>
                <c:pt idx="8">
                  <c:v>129178.53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705.5195"/>
          <c:min val="99440.7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86931.73000000001</c:v>
                </c:pt>
                <c:pt idx="1">
                  <c:v>109867.53</c:v>
                </c:pt>
                <c:pt idx="2">
                  <c:v>104137.82</c:v>
                </c:pt>
                <c:pt idx="3">
                  <c:v>100928.84</c:v>
                </c:pt>
                <c:pt idx="4">
                  <c:v>93945.76000000001</c:v>
                </c:pt>
                <c:pt idx="5">
                  <c:v>108346.47</c:v>
                </c:pt>
                <c:pt idx="6">
                  <c:v>126637.39</c:v>
                </c:pt>
                <c:pt idx="7">
                  <c:v>106298.13999999998</c:v>
                </c:pt>
                <c:pt idx="8">
                  <c:v>124862.66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2593.239"/>
          <c:min val="80975.881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293762.4</c:v>
                </c:pt>
                <c:pt idx="1">
                  <c:v>268037.54000000004</c:v>
                </c:pt>
                <c:pt idx="2">
                  <c:v>319668.25</c:v>
                </c:pt>
                <c:pt idx="3">
                  <c:v>349268.96</c:v>
                </c:pt>
                <c:pt idx="4">
                  <c:v>347415.9</c:v>
                </c:pt>
                <c:pt idx="5">
                  <c:v>340633.41000000003</c:v>
                </c:pt>
                <c:pt idx="6">
                  <c:v>373611</c:v>
                </c:pt>
                <c:pt idx="7">
                  <c:v>323504.43</c:v>
                </c:pt>
                <c:pt idx="8">
                  <c:v>336990.87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9447.019"/>
          <c:min val="252201.5210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549</c:v>
                </c:pt>
                <c:pt idx="1">
                  <c:v>531</c:v>
                </c:pt>
                <c:pt idx="2">
                  <c:v>556</c:v>
                </c:pt>
                <c:pt idx="3">
                  <c:v>544</c:v>
                </c:pt>
                <c:pt idx="4">
                  <c:v>516</c:v>
                </c:pt>
                <c:pt idx="5">
                  <c:v>599</c:v>
                </c:pt>
                <c:pt idx="6">
                  <c:v>622</c:v>
                </c:pt>
                <c:pt idx="7">
                  <c:v>587</c:v>
                </c:pt>
                <c:pt idx="8">
                  <c:v>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59.75"/>
          <c:min val="497.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1576</c:v>
                </c:pt>
                <c:pt idx="1">
                  <c:v>1477</c:v>
                </c:pt>
                <c:pt idx="2">
                  <c:v>1631</c:v>
                </c:pt>
                <c:pt idx="3">
                  <c:v>1610</c:v>
                </c:pt>
                <c:pt idx="4">
                  <c:v>1739</c:v>
                </c:pt>
                <c:pt idx="5">
                  <c:v>1738</c:v>
                </c:pt>
                <c:pt idx="6">
                  <c:v>1723</c:v>
                </c:pt>
                <c:pt idx="7">
                  <c:v>1875</c:v>
                </c:pt>
                <c:pt idx="8">
                  <c:v>1679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34.7"/>
          <c:min val="141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311</c:v>
                </c:pt>
                <c:pt idx="1">
                  <c:v>327</c:v>
                </c:pt>
                <c:pt idx="2">
                  <c:v>353</c:v>
                </c:pt>
                <c:pt idx="3">
                  <c:v>344</c:v>
                </c:pt>
                <c:pt idx="4">
                  <c:v>308</c:v>
                </c:pt>
                <c:pt idx="5">
                  <c:v>355</c:v>
                </c:pt>
                <c:pt idx="6">
                  <c:v>370</c:v>
                </c:pt>
                <c:pt idx="7">
                  <c:v>382</c:v>
                </c:pt>
                <c:pt idx="8">
                  <c:v>357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93.1"/>
          <c:min val="29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1764</c:v>
                </c:pt>
                <c:pt idx="1">
                  <c:v>1687</c:v>
                </c:pt>
                <c:pt idx="2">
                  <c:v>1914</c:v>
                </c:pt>
                <c:pt idx="3">
                  <c:v>2057</c:v>
                </c:pt>
                <c:pt idx="4">
                  <c:v>1923</c:v>
                </c:pt>
                <c:pt idx="5">
                  <c:v>2056</c:v>
                </c:pt>
                <c:pt idx="6">
                  <c:v>2095</c:v>
                </c:pt>
                <c:pt idx="7">
                  <c:v>1882</c:v>
                </c:pt>
                <c:pt idx="8">
                  <c:v>1998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6.2"/>
          <c:min val="162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SUBARU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615</c:v>
                </c:pt>
                <c:pt idx="1">
                  <c:v>524</c:v>
                </c:pt>
                <c:pt idx="2">
                  <c:v>607</c:v>
                </c:pt>
                <c:pt idx="3">
                  <c:v>608</c:v>
                </c:pt>
                <c:pt idx="4">
                  <c:v>639</c:v>
                </c:pt>
                <c:pt idx="5">
                  <c:v>637</c:v>
                </c:pt>
                <c:pt idx="6">
                  <c:v>632</c:v>
                </c:pt>
                <c:pt idx="7">
                  <c:v>632</c:v>
                </c:pt>
                <c:pt idx="8">
                  <c:v>659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25"/>
          <c:min val="503.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1.188239247311828</c:v>
                </c:pt>
                <c:pt idx="1">
                  <c:v>1.275762195121951</c:v>
                </c:pt>
                <c:pt idx="2">
                  <c:v>1.4099208965062624</c:v>
                </c:pt>
                <c:pt idx="3">
                  <c:v>1.4275265957446808</c:v>
                </c:pt>
                <c:pt idx="4">
                  <c:v>1.4609295570079883</c:v>
                </c:pt>
                <c:pt idx="5">
                  <c:v>1.4721141374837874</c:v>
                </c:pt>
                <c:pt idx="6">
                  <c:v>1.4142063001852996</c:v>
                </c:pt>
                <c:pt idx="7">
                  <c:v>1.4298619824341279</c:v>
                </c:pt>
                <c:pt idx="8">
                  <c:v>1.3524723487312946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146953710095814"/>
          <c:min val="1.1456580137860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1.385793450881612</c:v>
                </c:pt>
                <c:pt idx="1">
                  <c:v>1.3389645776566756</c:v>
                </c:pt>
                <c:pt idx="2">
                  <c:v>1.2803874092009684</c:v>
                </c:pt>
                <c:pt idx="3">
                  <c:v>1.333613231552163</c:v>
                </c:pt>
                <c:pt idx="4">
                  <c:v>1.67296568627451</c:v>
                </c:pt>
                <c:pt idx="5">
                  <c:v>1.5423764705882352</c:v>
                </c:pt>
                <c:pt idx="6">
                  <c:v>1.4005580357142857</c:v>
                </c:pt>
                <c:pt idx="7">
                  <c:v>1.3604513064133017</c:v>
                </c:pt>
                <c:pt idx="8">
                  <c:v>1.4541353383458648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18524278355412"/>
          <c:min val="1.221500667639937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2.221710758377425</c:v>
                </c:pt>
                <c:pt idx="1">
                  <c:v>2.0838986354775826</c:v>
                </c:pt>
                <c:pt idx="2">
                  <c:v>2.2707272727272727</c:v>
                </c:pt>
                <c:pt idx="3">
                  <c:v>2.2252504638218924</c:v>
                </c:pt>
                <c:pt idx="4">
                  <c:v>2.1553717472118956</c:v>
                </c:pt>
                <c:pt idx="5">
                  <c:v>1.9233127889060093</c:v>
                </c:pt>
                <c:pt idx="6">
                  <c:v>2.230418994413408</c:v>
                </c:pt>
                <c:pt idx="7">
                  <c:v>2.2426998491704375</c:v>
                </c:pt>
                <c:pt idx="8">
                  <c:v>2.44900481540931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7858619384805"/>
          <c:min val="1.84445898493051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2.604809843400447</c:v>
                </c:pt>
                <c:pt idx="1">
                  <c:v>2.3054666666666663</c:v>
                </c:pt>
                <c:pt idx="2">
                  <c:v>2.8330453563714904</c:v>
                </c:pt>
                <c:pt idx="3">
                  <c:v>2.798717948717949</c:v>
                </c:pt>
                <c:pt idx="4">
                  <c:v>2.574561403508772</c:v>
                </c:pt>
                <c:pt idx="5">
                  <c:v>3.172391304347826</c:v>
                </c:pt>
                <c:pt idx="6">
                  <c:v>2.7021809744779586</c:v>
                </c:pt>
                <c:pt idx="7">
                  <c:v>2.878063063063063</c:v>
                </c:pt>
                <c:pt idx="8">
                  <c:v>2.5885922330097086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024299999999998"/>
          <c:min val="2.17542797101449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3.5072</c:v>
                </c:pt>
                <c:pt idx="1">
                  <c:v>2.8326470588235293</c:v>
                </c:pt>
                <c:pt idx="2">
                  <c:v>3.3393630573248405</c:v>
                </c:pt>
                <c:pt idx="3">
                  <c:v>3.9942944785276078</c:v>
                </c:pt>
                <c:pt idx="4">
                  <c:v>4.023714285714286</c:v>
                </c:pt>
                <c:pt idx="5">
                  <c:v>3.3935403726708073</c:v>
                </c:pt>
                <c:pt idx="6">
                  <c:v>3.0639884393063586</c:v>
                </c:pt>
                <c:pt idx="7">
                  <c:v>3.7738297872340425</c:v>
                </c:pt>
                <c:pt idx="8">
                  <c:v>3.325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2023743697479"/>
          <c:min val="2.65398697478991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NISSAN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170.91694630872482</c:v>
                </c:pt>
                <c:pt idx="1">
                  <c:v>174.94393030380394</c:v>
                </c:pt>
                <c:pt idx="2">
                  <c:v>171.33260055096417</c:v>
                </c:pt>
                <c:pt idx="3">
                  <c:v>169.3619524405507</c:v>
                </c:pt>
                <c:pt idx="4">
                  <c:v>178.97402165816766</c:v>
                </c:pt>
                <c:pt idx="5">
                  <c:v>176.8534134157945</c:v>
                </c:pt>
                <c:pt idx="6">
                  <c:v>178.75288589721362</c:v>
                </c:pt>
                <c:pt idx="7">
                  <c:v>178.72942668879108</c:v>
                </c:pt>
                <c:pt idx="8">
                  <c:v>183.27923149141628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5.36682334904611"/>
          <c:min val="167.274360582920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147.17883416109635</c:v>
                </c:pt>
                <c:pt idx="1">
                  <c:v>135.63777641695583</c:v>
                </c:pt>
                <c:pt idx="2">
                  <c:v>141.64139075345048</c:v>
                </c:pt>
                <c:pt idx="3">
                  <c:v>139.12898539404827</c:v>
                </c:pt>
                <c:pt idx="4">
                  <c:v>140.79767083404693</c:v>
                </c:pt>
                <c:pt idx="5">
                  <c:v>142.24952097083244</c:v>
                </c:pt>
                <c:pt idx="6">
                  <c:v>142.61742003865575</c:v>
                </c:pt>
                <c:pt idx="7">
                  <c:v>143.95335221631723</c:v>
                </c:pt>
                <c:pt idx="8">
                  <c:v>154.41898907103825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7.2361709691506"/>
          <c:min val="132.820594518843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VOLVO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208.9492918178626</c:v>
                </c:pt>
                <c:pt idx="1">
                  <c:v>217.9379829257705</c:v>
                </c:pt>
                <c:pt idx="2">
                  <c:v>223.98379699248122</c:v>
                </c:pt>
                <c:pt idx="3">
                  <c:v>226.2475382875938</c:v>
                </c:pt>
                <c:pt idx="4">
                  <c:v>219.74642583470168</c:v>
                </c:pt>
                <c:pt idx="5">
                  <c:v>224.43341441458693</c:v>
                </c:pt>
                <c:pt idx="6">
                  <c:v>228.6857179372484</c:v>
                </c:pt>
                <c:pt idx="7">
                  <c:v>221.59294258373205</c:v>
                </c:pt>
                <c:pt idx="8">
                  <c:v>226.9213371266003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1.64618185515627"/>
          <c:min val="205.98882789995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153.1491574232082</c:v>
                </c:pt>
                <c:pt idx="1">
                  <c:v>157.95352962362688</c:v>
                </c:pt>
                <c:pt idx="2">
                  <c:v>156.04347791229054</c:v>
                </c:pt>
                <c:pt idx="3">
                  <c:v>157.37133021424003</c:v>
                </c:pt>
                <c:pt idx="4">
                  <c:v>149.20385916225828</c:v>
                </c:pt>
                <c:pt idx="5">
                  <c:v>155.4821624007061</c:v>
                </c:pt>
                <c:pt idx="6">
                  <c:v>158.9620323488045</c:v>
                </c:pt>
                <c:pt idx="7">
                  <c:v>164.2580469341408</c:v>
                </c:pt>
                <c:pt idx="8">
                  <c:v>162.51214652956298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6.51617509992317"/>
          <c:min val="146.945730996475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CADILLAC</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169.23952076348527</c:v>
                </c:pt>
                <c:pt idx="1">
                  <c:v>171.362331838565</c:v>
                </c:pt>
                <c:pt idx="2">
                  <c:v>168.18649634020764</c:v>
                </c:pt>
                <c:pt idx="3">
                  <c:v>180.00863368961805</c:v>
                </c:pt>
                <c:pt idx="4">
                  <c:v>151.5942152678995</c:v>
                </c:pt>
                <c:pt idx="5">
                  <c:v>163.62502533205532</c:v>
                </c:pt>
                <c:pt idx="6">
                  <c:v>179.30890045543268</c:v>
                </c:pt>
                <c:pt idx="7">
                  <c:v>175.9947113813166</c:v>
                </c:pt>
                <c:pt idx="8">
                  <c:v>169.93955489368741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4.27079645287583"/>
          <c:min val="147.332052504641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226.22956521739133</c:v>
                </c:pt>
                <c:pt idx="1">
                  <c:v>248.52270270270267</c:v>
                </c:pt>
                <c:pt idx="2">
                  <c:v>200.74942028985507</c:v>
                </c:pt>
                <c:pt idx="3">
                  <c:v>243.29641592920353</c:v>
                </c:pt>
                <c:pt idx="4">
                  <c:v>234.13774647887323</c:v>
                </c:pt>
                <c:pt idx="5">
                  <c:v>287.9189156626506</c:v>
                </c:pt>
                <c:pt idx="6">
                  <c:v>324.6299523809524</c:v>
                </c:pt>
                <c:pt idx="7">
                  <c:v>281.9111059907834</c:v>
                </c:pt>
                <c:pt idx="8">
                  <c:v>287.2737362637363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3.212032194617"/>
          <c:min val="182.167340476190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735.0373714285714</c:v>
                </c:pt>
                <c:pt idx="1">
                  <c:v>633.5144852941177</c:v>
                </c:pt>
                <c:pt idx="2">
                  <c:v>695.5033121019109</c:v>
                </c:pt>
                <c:pt idx="3">
                  <c:v>845.1699386503068</c:v>
                </c:pt>
                <c:pt idx="4">
                  <c:v>839.2182857142857</c:v>
                </c:pt>
                <c:pt idx="5">
                  <c:v>919.2100621118013</c:v>
                </c:pt>
                <c:pt idx="6">
                  <c:v>872.8272254335259</c:v>
                </c:pt>
                <c:pt idx="7">
                  <c:v>956.7090425531915</c:v>
                </c:pt>
                <c:pt idx="8">
                  <c:v>764.899375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5.1882261420525"/>
          <c:min val="585.03530170525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240.3025692695214</c:v>
                </c:pt>
                <c:pt idx="1">
                  <c:v>216.6792098092643</c:v>
                </c:pt>
                <c:pt idx="2">
                  <c:v>230.04961259079906</c:v>
                </c:pt>
                <c:pt idx="3">
                  <c:v>243.99435114503817</c:v>
                </c:pt>
                <c:pt idx="4">
                  <c:v>304.9811274509804</c:v>
                </c:pt>
                <c:pt idx="5">
                  <c:v>286.73334117647056</c:v>
                </c:pt>
                <c:pt idx="6">
                  <c:v>273.25761160714285</c:v>
                </c:pt>
                <c:pt idx="7">
                  <c:v>260.6470308788598</c:v>
                </c:pt>
                <c:pt idx="8">
                  <c:v>314.04050125313285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8.6446949697131"/>
          <c:min val="202.075016092684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181.37186813186813</c:v>
                </c:pt>
                <c:pt idx="1">
                  <c:v>163.32138666666665</c:v>
                </c:pt>
                <c:pt idx="2">
                  <c:v>246.46716814159294</c:v>
                </c:pt>
                <c:pt idx="3">
                  <c:v>218.6002958579882</c:v>
                </c:pt>
                <c:pt idx="4">
                  <c:v>169.2365010799136</c:v>
                </c:pt>
                <c:pt idx="5">
                  <c:v>212.3986206896552</c:v>
                </c:pt>
                <c:pt idx="6">
                  <c:v>233.71951318458417</c:v>
                </c:pt>
                <c:pt idx="7">
                  <c:v>230.95786026200872</c:v>
                </c:pt>
                <c:pt idx="8">
                  <c:v>238.70922352941176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8.9390353628319"/>
          <c:min val="150.849519445427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178.2198300970874</c:v>
                </c:pt>
                <c:pt idx="1">
                  <c:v>209.37557803468206</c:v>
                </c:pt>
                <c:pt idx="2">
                  <c:v>226.22274193548387</c:v>
                </c:pt>
                <c:pt idx="3">
                  <c:v>224.48005076142132</c:v>
                </c:pt>
                <c:pt idx="4">
                  <c:v>221.7853680981595</c:v>
                </c:pt>
                <c:pt idx="5">
                  <c:v>210.79133663366335</c:v>
                </c:pt>
                <c:pt idx="6">
                  <c:v>209.2606100795756</c:v>
                </c:pt>
                <c:pt idx="7">
                  <c:v>270.77191860465115</c:v>
                </c:pt>
                <c:pt idx="8">
                  <c:v>225.52879679144385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65473188078573"/>
          <c:min val="164.33701682095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128.18389112903225</c:v>
                </c:pt>
                <c:pt idx="1">
                  <c:v>143.6304268292683</c:v>
                </c:pt>
                <c:pt idx="2">
                  <c:v>136.9080487804878</c:v>
                </c:pt>
                <c:pt idx="3">
                  <c:v>198.15143617021278</c:v>
                </c:pt>
                <c:pt idx="4">
                  <c:v>159.63840958605664</c:v>
                </c:pt>
                <c:pt idx="5">
                  <c:v>147.4817120622568</c:v>
                </c:pt>
                <c:pt idx="6">
                  <c:v>150.852402717727</c:v>
                </c:pt>
                <c:pt idx="7">
                  <c:v>176.80212672521958</c:v>
                </c:pt>
                <c:pt idx="8">
                  <c:v>139.20603773584907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8.64656792638985"/>
          <c:min val="117.6887593728551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233.84593837535013</c:v>
                </c:pt>
                <c:pt idx="1">
                  <c:v>272.64770642201836</c:v>
                </c:pt>
                <c:pt idx="2">
                  <c:v>264.5160053619303</c:v>
                </c:pt>
                <c:pt idx="3">
                  <c:v>300.4536959553696</c:v>
                </c:pt>
                <c:pt idx="4">
                  <c:v>288.36308157099694</c:v>
                </c:pt>
                <c:pt idx="5">
                  <c:v>250.08998518518518</c:v>
                </c:pt>
                <c:pt idx="6">
                  <c:v>321.2700792602378</c:v>
                </c:pt>
                <c:pt idx="7">
                  <c:v>293.4214486638537</c:v>
                </c:pt>
                <c:pt idx="8">
                  <c:v>258.24791976225856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4.383700392971"/>
          <c:min val="220.732317242616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640.6571929824562</c:v>
                </c:pt>
                <c:pt idx="1">
                  <c:v>906.8386104218363</c:v>
                </c:pt>
                <c:pt idx="2">
                  <c:v>634.7025063291139</c:v>
                </c:pt>
                <c:pt idx="3">
                  <c:v>665.1664390243902</c:v>
                </c:pt>
                <c:pt idx="4">
                  <c:v>689.3056844547564</c:v>
                </c:pt>
                <c:pt idx="5">
                  <c:v>652.1006864988558</c:v>
                </c:pt>
                <c:pt idx="6">
                  <c:v>693.769124726477</c:v>
                </c:pt>
                <c:pt idx="7">
                  <c:v>709.0950352941177</c:v>
                </c:pt>
                <c:pt idx="8">
                  <c:v>1041.912085308057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02.9935221548983"/>
          <c:min val="573.62106948227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879.8076687116564</c:v>
                </c:pt>
                <c:pt idx="1">
                  <c:v>925.1433742331288</c:v>
                </c:pt>
                <c:pt idx="2">
                  <c:v>886.3305590062112</c:v>
                </c:pt>
                <c:pt idx="3">
                  <c:v>953.3849523809523</c:v>
                </c:pt>
                <c:pt idx="4">
                  <c:v>911.7989444444445</c:v>
                </c:pt>
                <c:pt idx="5">
                  <c:v>804.3490058479532</c:v>
                </c:pt>
                <c:pt idx="6">
                  <c:v>1035.5124242424242</c:v>
                </c:pt>
                <c:pt idx="7">
                  <c:v>994.8709444444444</c:v>
                </c:pt>
                <c:pt idx="8">
                  <c:v>934.7331325301205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70.186937001595"/>
          <c:min val="769.6744930887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268.8725</c:v>
                </c:pt>
                <c:pt idx="1">
                  <c:v>180.48355670103092</c:v>
                </c:pt>
                <c:pt idx="2">
                  <c:v>249.92049773755656</c:v>
                </c:pt>
                <c:pt idx="3">
                  <c:v>255.83444915254236</c:v>
                </c:pt>
                <c:pt idx="4">
                  <c:v>224.2878260869565</c:v>
                </c:pt>
                <c:pt idx="5">
                  <c:v>167.36384920634922</c:v>
                </c:pt>
                <c:pt idx="6">
                  <c:v>269.1880172413793</c:v>
                </c:pt>
                <c:pt idx="7">
                  <c:v>279.6357425742574</c:v>
                </c:pt>
                <c:pt idx="8">
                  <c:v>227.57493506493506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6.4765265794436"/>
          <c:min val="150.523065201162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0.39385465162077204</c:v>
                </c:pt>
                <c:pt idx="1">
                  <c:v>0.4104798110566934</c:v>
                </c:pt>
                <c:pt idx="2">
                  <c:v>0.39984615107565896</c:v>
                </c:pt>
                <c:pt idx="3">
                  <c:v>0.4242643654011316</c:v>
                </c:pt>
                <c:pt idx="4">
                  <c:v>0.43535929201653073</c:v>
                </c:pt>
                <c:pt idx="5">
                  <c:v>0.4359650422122587</c:v>
                </c:pt>
                <c:pt idx="6">
                  <c:v>0.4310274406950725</c:v>
                </c:pt>
                <c:pt idx="7">
                  <c:v>0.4257261405886852</c:v>
                </c:pt>
                <c:pt idx="8">
                  <c:v>0.4125780793358778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228160080098167"/>
          <c:min val="0.387538093032049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0.34615649425879996</c:v>
                </c:pt>
                <c:pt idx="1">
                  <c:v>0.3553626019087758</c:v>
                </c:pt>
                <c:pt idx="2">
                  <c:v>0.33286088298414096</c:v>
                </c:pt>
                <c:pt idx="3">
                  <c:v>0.33135079455831645</c:v>
                </c:pt>
                <c:pt idx="4">
                  <c:v>0.36466133494564634</c:v>
                </c:pt>
                <c:pt idx="5">
                  <c:v>0.38118653720091344</c:v>
                </c:pt>
                <c:pt idx="6">
                  <c:v>0.3809185720341265</c:v>
                </c:pt>
                <c:pt idx="7">
                  <c:v>0.37479736400081787</c:v>
                </c:pt>
                <c:pt idx="8">
                  <c:v>0.3350495696231172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8661898597303"/>
          <c:min val="0.32387543316192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0.414351536191364</c:v>
                </c:pt>
                <c:pt idx="1">
                  <c:v>0.39318087070517616</c:v>
                </c:pt>
                <c:pt idx="2">
                  <c:v>0.4185113634289955</c:v>
                </c:pt>
                <c:pt idx="3">
                  <c:v>0.3984325401778728</c:v>
                </c:pt>
                <c:pt idx="4">
                  <c:v>0.4275287802058474</c:v>
                </c:pt>
                <c:pt idx="5">
                  <c:v>0.4314231842150624</c:v>
                </c:pt>
                <c:pt idx="6">
                  <c:v>0.40647931761383654</c:v>
                </c:pt>
                <c:pt idx="7">
                  <c:v>0.42811568086149515</c:v>
                </c:pt>
                <c:pt idx="8">
                  <c:v>0.4328714643805786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38825053431889"/>
          <c:min val="0.3872272816538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0.4411058127734458</c:v>
                </c:pt>
                <c:pt idx="1">
                  <c:v>0.45645701726723603</c:v>
                </c:pt>
                <c:pt idx="2">
                  <c:v>0.43879838840991475</c:v>
                </c:pt>
                <c:pt idx="3">
                  <c:v>0.40377729240207977</c:v>
                </c:pt>
                <c:pt idx="4">
                  <c:v>0.4744010071958122</c:v>
                </c:pt>
                <c:pt idx="5">
                  <c:v>0.4339098342743925</c:v>
                </c:pt>
                <c:pt idx="6">
                  <c:v>0.44740581583560335</c:v>
                </c:pt>
                <c:pt idx="7">
                  <c:v>0.46909418535282466</c:v>
                </c:pt>
                <c:pt idx="8">
                  <c:v>0.45065660188962764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499456441487204"/>
          <c:min val="0.39318373518301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0.3680342105578381</c:v>
                </c:pt>
                <c:pt idx="1">
                  <c:v>0.3691001034144722</c:v>
                </c:pt>
                <c:pt idx="2">
                  <c:v>0.3670958755466887</c:v>
                </c:pt>
                <c:pt idx="3">
                  <c:v>0.37086270739787763</c:v>
                </c:pt>
                <c:pt idx="4">
                  <c:v>0.3526965626793513</c:v>
                </c:pt>
                <c:pt idx="5">
                  <c:v>0.37527049523033906</c:v>
                </c:pt>
                <c:pt idx="6">
                  <c:v>0.3587371292399778</c:v>
                </c:pt>
                <c:pt idx="7">
                  <c:v>0.3863209963060099</c:v>
                </c:pt>
                <c:pt idx="8">
                  <c:v>0.40033452080355186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748021452218197"/>
          <c:min val="0.34555086896072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0.23308270676691728</c:v>
                </c:pt>
                <c:pt idx="1">
                  <c:v>0.18114143920595532</c:v>
                </c:pt>
                <c:pt idx="2">
                  <c:v>0.21772151898734177</c:v>
                </c:pt>
                <c:pt idx="3">
                  <c:v>0.20243902439024392</c:v>
                </c:pt>
                <c:pt idx="4">
                  <c:v>0.33410672853828305</c:v>
                </c:pt>
                <c:pt idx="5">
                  <c:v>0.33638443935926776</c:v>
                </c:pt>
                <c:pt idx="6">
                  <c:v>0.31072210065645517</c:v>
                </c:pt>
                <c:pt idx="7">
                  <c:v>0.28941176470588237</c:v>
                </c:pt>
                <c:pt idx="8">
                  <c:v>0.35308056872037913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788714381475427"/>
          <c:min val="0.155350569778791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0.07439446366782007</c:v>
                </c:pt>
                <c:pt idx="1">
                  <c:v>0.16377649325626203</c:v>
                </c:pt>
                <c:pt idx="2">
                  <c:v>0.14285714285714285</c:v>
                </c:pt>
                <c:pt idx="3">
                  <c:v>0.16510903426791276</c:v>
                </c:pt>
                <c:pt idx="4">
                  <c:v>0.1493212669683258</c:v>
                </c:pt>
                <c:pt idx="5">
                  <c:v>0.10703363914373089</c:v>
                </c:pt>
                <c:pt idx="6">
                  <c:v>0.16468842729970326</c:v>
                </c:pt>
                <c:pt idx="7">
                  <c:v>0.25258493353028066</c:v>
                </c:pt>
                <c:pt idx="8">
                  <c:v>0.2678843226788432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69078015304967"/>
          <c:min val="0.0453709848161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0.016666666666666666</c:v>
                </c:pt>
                <c:pt idx="1">
                  <c:v>0.04176904176904177</c:v>
                </c:pt>
                <c:pt idx="2">
                  <c:v>0.0630841121495327</c:v>
                </c:pt>
                <c:pt idx="3">
                  <c:v>0.06621004566210045</c:v>
                </c:pt>
                <c:pt idx="4">
                  <c:v>0.08983451536643026</c:v>
                </c:pt>
                <c:pt idx="5">
                  <c:v>0.07729468599033816</c:v>
                </c:pt>
                <c:pt idx="6">
                  <c:v>0.11608961303462322</c:v>
                </c:pt>
                <c:pt idx="7">
                  <c:v>0.11764705882352941</c:v>
                </c:pt>
                <c:pt idx="8">
                  <c:v>0.12026726057906459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580734966592428"/>
          <c:min val="0.00112657757980697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0.16037735849056603</c:v>
                </c:pt>
                <c:pt idx="1">
                  <c:v>0.15463917525773196</c:v>
                </c:pt>
                <c:pt idx="2">
                  <c:v>0.23076923076923078</c:v>
                </c:pt>
                <c:pt idx="3">
                  <c:v>0.23728813559322035</c:v>
                </c:pt>
                <c:pt idx="4">
                  <c:v>0.1826086956521739</c:v>
                </c:pt>
                <c:pt idx="5">
                  <c:v>0.21428571428571427</c:v>
                </c:pt>
                <c:pt idx="6">
                  <c:v>0.24568965517241378</c:v>
                </c:pt>
                <c:pt idx="7">
                  <c:v>0.24752475247524752</c:v>
                </c:pt>
                <c:pt idx="8">
                  <c:v>0.27705627705627706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54188423260588"/>
          <c:min val="0.136276609987950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0.15048543689320387</c:v>
                </c:pt>
                <c:pt idx="1">
                  <c:v>0.13583815028901733</c:v>
                </c:pt>
                <c:pt idx="2">
                  <c:v>0.0967741935483871</c:v>
                </c:pt>
                <c:pt idx="3">
                  <c:v>0.1116751269035533</c:v>
                </c:pt>
                <c:pt idx="4">
                  <c:v>0.11042944785276074</c:v>
                </c:pt>
                <c:pt idx="5">
                  <c:v>0.1485148514851485</c:v>
                </c:pt>
                <c:pt idx="6">
                  <c:v>0.19363395225464192</c:v>
                </c:pt>
                <c:pt idx="7">
                  <c:v>0.19186046511627908</c:v>
                </c:pt>
                <c:pt idx="8">
                  <c:v>0.19518716577540107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994911160945318"/>
          <c:min val="0.08201224771433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0.05536332179930796</c:v>
                </c:pt>
                <c:pt idx="1">
                  <c:v>0.1252408477842004</c:v>
                </c:pt>
                <c:pt idx="2">
                  <c:v>0.12401883830455258</c:v>
                </c:pt>
                <c:pt idx="3">
                  <c:v>0.11682242990654206</c:v>
                </c:pt>
                <c:pt idx="4">
                  <c:v>0.09803921568627451</c:v>
                </c:pt>
                <c:pt idx="5">
                  <c:v>0.07339449541284404</c:v>
                </c:pt>
                <c:pt idx="6">
                  <c:v>0.12166172106824925</c:v>
                </c:pt>
                <c:pt idx="7">
                  <c:v>0.22156573116691286</c:v>
                </c:pt>
                <c:pt idx="8">
                  <c:v>0.2374429223744292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647548624606974"/>
          <c:min val="0.0280513817130397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0.09433962264150944</c:v>
                </c:pt>
                <c:pt idx="1">
                  <c:v>0.11855670103092783</c:v>
                </c:pt>
                <c:pt idx="2">
                  <c:v>0.11312217194570136</c:v>
                </c:pt>
                <c:pt idx="3">
                  <c:v>0.1440677966101695</c:v>
                </c:pt>
                <c:pt idx="4">
                  <c:v>0.12173913043478261</c:v>
                </c:pt>
                <c:pt idx="5">
                  <c:v>0.1388888888888889</c:v>
                </c:pt>
                <c:pt idx="6">
                  <c:v>0.125</c:v>
                </c:pt>
                <c:pt idx="7">
                  <c:v>0.14356435643564355</c:v>
                </c:pt>
                <c:pt idx="8">
                  <c:v>0.21212121212121213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978845054316754"/>
          <c:min val="0.076672384219554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0.004873294346978557</c:v>
                </c:pt>
                <c:pt idx="1">
                  <c:v>0.0012048192771084338</c:v>
                </c:pt>
                <c:pt idx="2">
                  <c:v>0.015321756894790603</c:v>
                </c:pt>
                <c:pt idx="3">
                  <c:v>0.011099899091826439</c:v>
                </c:pt>
                <c:pt idx="4">
                  <c:v>0.003972194637537239</c:v>
                </c:pt>
                <c:pt idx="5">
                  <c:v>0.03501945525291829</c:v>
                </c:pt>
                <c:pt idx="6">
                  <c:v>0.05103969754253308</c:v>
                </c:pt>
                <c:pt idx="7">
                  <c:v>0.04133064516129032</c:v>
                </c:pt>
                <c:pt idx="8">
                  <c:v>0.02747791952894995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851492928234678"/>
          <c:min val="-0.0062704124627052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0.011904761904761904</c:v>
                </c:pt>
                <c:pt idx="1">
                  <c:v>0.05405405405405406</c:v>
                </c:pt>
                <c:pt idx="2">
                  <c:v>0.09345794392523364</c:v>
                </c:pt>
                <c:pt idx="3">
                  <c:v>0.1278538812785388</c:v>
                </c:pt>
                <c:pt idx="4">
                  <c:v>0.09219858156028368</c:v>
                </c:pt>
                <c:pt idx="5">
                  <c:v>0.05314009661835749</c:v>
                </c:pt>
                <c:pt idx="6">
                  <c:v>0.05702647657841141</c:v>
                </c:pt>
                <c:pt idx="7">
                  <c:v>0.10180995475113122</c:v>
                </c:pt>
                <c:pt idx="8">
                  <c:v>0.10022271714922049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524624918460532"/>
          <c:min val="-0.00548760600130462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0.09898477157360407</c:v>
                </c:pt>
                <c:pt idx="1">
                  <c:v>0.08869329722410291</c:v>
                </c:pt>
                <c:pt idx="2">
                  <c:v>0.10177805027590435</c:v>
                </c:pt>
                <c:pt idx="3">
                  <c:v>0.13354037267080746</c:v>
                </c:pt>
                <c:pt idx="4">
                  <c:v>0.156411730879816</c:v>
                </c:pt>
                <c:pt idx="5">
                  <c:v>0.1283084004602992</c:v>
                </c:pt>
                <c:pt idx="6">
                  <c:v>0.11723737666860128</c:v>
                </c:pt>
                <c:pt idx="7">
                  <c:v>0.13226666666666667</c:v>
                </c:pt>
                <c:pt idx="8">
                  <c:v>0.11554496724240619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656949592817297"/>
          <c:min val="0.078535532175745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0.04325259515570934</c:v>
                </c:pt>
                <c:pt idx="1">
                  <c:v>0.05009633911368015</c:v>
                </c:pt>
                <c:pt idx="2">
                  <c:v>0.061224489795918366</c:v>
                </c:pt>
                <c:pt idx="3">
                  <c:v>0.06542056074766354</c:v>
                </c:pt>
                <c:pt idx="4">
                  <c:v>0.058823529411764705</c:v>
                </c:pt>
                <c:pt idx="5">
                  <c:v>0.04434250764525994</c:v>
                </c:pt>
                <c:pt idx="6">
                  <c:v>0.057863501483679525</c:v>
                </c:pt>
                <c:pt idx="7">
                  <c:v>0.17725258493353027</c:v>
                </c:pt>
                <c:pt idx="8">
                  <c:v>0.1902587519025875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230967541461923"/>
          <c:min val="0.0212016716436776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0.007444168734491315</c:v>
                </c:pt>
                <c:pt idx="1">
                  <c:v>0.0030959752321981426</c:v>
                </c:pt>
                <c:pt idx="2">
                  <c:v>0.004796163069544364</c:v>
                </c:pt>
                <c:pt idx="3">
                  <c:v>0</c:v>
                </c:pt>
                <c:pt idx="4">
                  <c:v>0</c:v>
                </c:pt>
                <c:pt idx="5">
                  <c:v>0</c:v>
                </c:pt>
                <c:pt idx="6">
                  <c:v>0</c:v>
                </c:pt>
                <c:pt idx="7">
                  <c:v>0.05952380952380952</c:v>
                </c:pt>
                <c:pt idx="8">
                  <c:v>0.10632183908045977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227011494252873"/>
          <c:min val="-0.0159482758620689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0.03333333333333333</c:v>
                </c:pt>
                <c:pt idx="1">
                  <c:v>0.044226044226044224</c:v>
                </c:pt>
                <c:pt idx="2">
                  <c:v>0.0397196261682243</c:v>
                </c:pt>
                <c:pt idx="3">
                  <c:v>0.0684931506849315</c:v>
                </c:pt>
                <c:pt idx="4">
                  <c:v>0.05200945626477541</c:v>
                </c:pt>
                <c:pt idx="5">
                  <c:v>0.05555555555555555</c:v>
                </c:pt>
                <c:pt idx="6">
                  <c:v>0.06720977596741344</c:v>
                </c:pt>
                <c:pt idx="7">
                  <c:v>0.083710407239819</c:v>
                </c:pt>
                <c:pt idx="8">
                  <c:v>0.08685968819599109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488864142538975"/>
          <c:min val="0.0253043801039346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0.08490566037735849</c:v>
                </c:pt>
                <c:pt idx="1">
                  <c:v>0.0979381443298969</c:v>
                </c:pt>
                <c:pt idx="2">
                  <c:v>0.06787330316742081</c:v>
                </c:pt>
                <c:pt idx="3">
                  <c:v>0.08898305084745763</c:v>
                </c:pt>
                <c:pt idx="4">
                  <c:v>0.0782608695652174</c:v>
                </c:pt>
                <c:pt idx="5">
                  <c:v>0.0992063492063492</c:v>
                </c:pt>
                <c:pt idx="6">
                  <c:v>0.09913793103448276</c:v>
                </c:pt>
                <c:pt idx="7">
                  <c:v>0.09900990099009901</c:v>
                </c:pt>
                <c:pt idx="8">
                  <c:v>0.15151515151515152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40614287673111"/>
          <c:min val="0.0553270259152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0.08198489751887811</c:v>
                </c:pt>
                <c:pt idx="1">
                  <c:v>0.08132147395171538</c:v>
                </c:pt>
                <c:pt idx="2">
                  <c:v>0.07900432900432901</c:v>
                </c:pt>
                <c:pt idx="3">
                  <c:v>0.07203389830508475</c:v>
                </c:pt>
                <c:pt idx="4">
                  <c:v>0.05573770491803279</c:v>
                </c:pt>
                <c:pt idx="5">
                  <c:v>0.06837606837606838</c:v>
                </c:pt>
                <c:pt idx="6">
                  <c:v>0.10104166666666667</c:v>
                </c:pt>
                <c:pt idx="7">
                  <c:v>0.08740068104426787</c:v>
                </c:pt>
                <c:pt idx="8">
                  <c:v>0.119906868451688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95322429817363"/>
          <c:min val="0.0461123303879845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0.02249134948096886</c:v>
                </c:pt>
                <c:pt idx="1">
                  <c:v>0.030828516377649325</c:v>
                </c:pt>
                <c:pt idx="2">
                  <c:v>0.023547880690737835</c:v>
                </c:pt>
                <c:pt idx="3">
                  <c:v>0.020249221183800622</c:v>
                </c:pt>
                <c:pt idx="4">
                  <c:v>0.027149321266968326</c:v>
                </c:pt>
                <c:pt idx="5">
                  <c:v>0.012232415902140673</c:v>
                </c:pt>
                <c:pt idx="6">
                  <c:v>0.026706231454005934</c:v>
                </c:pt>
                <c:pt idx="7">
                  <c:v>0.10635155096011817</c:v>
                </c:pt>
                <c:pt idx="8">
                  <c:v>0.1887366818873668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521232178515073"/>
          <c:min val="-0.01424322399564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0.03398058252427184</c:v>
                </c:pt>
                <c:pt idx="1">
                  <c:v>0.04335260115606936</c:v>
                </c:pt>
                <c:pt idx="2">
                  <c:v>0.04838709677419355</c:v>
                </c:pt>
                <c:pt idx="3">
                  <c:v>0.04060913705583756</c:v>
                </c:pt>
                <c:pt idx="4">
                  <c:v>0.06134969325153374</c:v>
                </c:pt>
                <c:pt idx="5">
                  <c:v>0.06188118811881188</c:v>
                </c:pt>
                <c:pt idx="6">
                  <c:v>0.0636604774535809</c:v>
                </c:pt>
                <c:pt idx="7">
                  <c:v>0.061046511627906974</c:v>
                </c:pt>
                <c:pt idx="8">
                  <c:v>0.11764705882352941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19703026841806"/>
          <c:min val="0.021430611079383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0.0012048192771084338</c:v>
                </c:pt>
                <c:pt idx="2">
                  <c:v>0.033707865168539325</c:v>
                </c:pt>
                <c:pt idx="3">
                  <c:v>0.028254288597376387</c:v>
                </c:pt>
                <c:pt idx="4">
                  <c:v>0.030784508440913606</c:v>
                </c:pt>
                <c:pt idx="5">
                  <c:v>0.04377431906614786</c:v>
                </c:pt>
                <c:pt idx="6">
                  <c:v>0.04158790170132325</c:v>
                </c:pt>
                <c:pt idx="7">
                  <c:v>0.05141129032258065</c:v>
                </c:pt>
                <c:pt idx="8">
                  <c:v>0.053974484789008834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070657507360155"/>
          <c:min val="-0.008096172718351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LINCOLN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0.04912280701754386</c:v>
                </c:pt>
                <c:pt idx="1">
                  <c:v>0.08914728682170543</c:v>
                </c:pt>
                <c:pt idx="2">
                  <c:v>0.06493506493506493</c:v>
                </c:pt>
                <c:pt idx="3">
                  <c:v>0.06498194945848375</c:v>
                </c:pt>
                <c:pt idx="4">
                  <c:v>0.06007067137809187</c:v>
                </c:pt>
                <c:pt idx="5">
                  <c:v>0.1044776119402985</c:v>
                </c:pt>
                <c:pt idx="6">
                  <c:v>0.11987381703470032</c:v>
                </c:pt>
                <c:pt idx="7">
                  <c:v>0.11450381679389313</c:v>
                </c:pt>
                <c:pt idx="8">
                  <c:v>0.06885245901639345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48646853727378"/>
          <c:min val="0.038510155514970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c:v>
                </c:pt>
                <c:pt idx="2">
                  <c:v>0</c:v>
                </c:pt>
                <c:pt idx="3">
                  <c:v>0</c:v>
                </c:pt>
                <c:pt idx="4">
                  <c:v>0</c:v>
                </c:pt>
                <c:pt idx="5">
                  <c:v>0</c:v>
                </c:pt>
                <c:pt idx="6">
                  <c:v>0</c:v>
                </c:pt>
                <c:pt idx="7">
                  <c:v>0.023809523809523808</c:v>
                </c:pt>
                <c:pt idx="8">
                  <c:v>0.05459770114942529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78735632183909"/>
          <c:min val="-0.0081896551724137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review with Tommy, not for the room. Every slide built but not placed in the deck: alternate versions of slides already in it, and slides not yet decided on. In deck order: Store Records (five designs), Door Rate option A, CP vs Internal GP % option A, Photo completion % (optional measure), Who's Moving Now alternate versions and the line-chart versions taken out of the flow (Oct 23), Most Improved v1. Pick what moves into the deck, then delete this section before the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right after the cover, before the Gross section.</a:t>
            </a:r>
          </a:p>
          <a:p>
            <a:r>
              <a:t>Said: Roundtable slides 2, 5, 7, 6 (objective; philosophy &amp; culture; 'you get what you tolerate'; collaboration). Ask adapted from Roundtable slide 24 closing questions.</a:t>
            </a:r>
          </a:p>
          <a:p>
            <a:r>
              <a:t>Added Oct 22 (Noah): profit-generating activities and incremental dollars; working on the business versus in 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Gross section, after the section break and before Total Gross Profit - Fixed Ops.</a:t>
            </a:r>
          </a:p>
          <a:p>
            <a:r>
              <a:t>Said: Roundtable slide 9 ('Service Department?'); Jan GM slide 58 (Sales and Service Relationship).</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Gross section, after Service Is Sales 2.0 and in front of Total Gross Profit - Fixed Ops.</a:t>
            </a:r>
          </a:p>
          <a:p>
            <a:r>
              <a:t>Source: Qlik Profit &amp; Loss, Total Gross Profit - Service and Total Gross Profit - Parts, same-store, INEOS excluded, GMC Prescott body shop gross excluded (as on the gross slides). Hourly technician pay, guarantees and bonuses paid off the RO post as unapplied labor: not charged on any repair order, a cost-of-sale adjustment that reduces service gross (Noah, Oct 23).</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percent change, Jan-Sep 2026 vs Jan-Sep 2025, so store size does not set the order; dollar change alongside.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and bottom five stores by percent change in fixed ops gross, Jan-Sep 2026 vs 2025. Moving now: Jul-Sep 2026 vs Jan-Mar 2026, each store against itself (monthly averages); the group moved +9.4%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percent change, Jan-Sep 2026 vs Jan-Sep 2025, so store size does not set the order; dollar change alongside.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and bottom five stores by percent change in service gross, Jan-Sep 2026 vs 2025. Moving now: Jul-Sep 2026 vs Jan-Mar 2026, each store against itself (monthly averages); the group moved +7.0%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percent change, Jan-Sep 2026 vs Jan-Sep 2025, so store size does not set the order; dollar change alongside.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and bottom five stores by percent change in parts gross, Jan-Sep 2026 vs 2025. Moving now: Jul-Sep 2026 vs Jan-Mar 2026, each store against itself (monthly averages); the group moved +14.4%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Profitability, in front of Fixed Ops Absorption %.</a:t>
            </a:r>
          </a:p>
          <a:p>
            <a:r>
              <a:t>P&amp;L definition: line 254 Total Gross Profit - Fixed Ops / line 258 Fixed Expenses (the stored line 257 returns a dollar value, so the slide derives it). GMC Prescott includes its body shop, as on the P&amp;L.</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Jan-Sep 2026 YTD. Green at or above the group, red below. Bars start at 30.0%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Fixed Ops Absorption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Top and bottom five stores by change in Fixed Ops Absorption %, Jan-Sep 2026 vs 2025. Moving now: Jul-Sep 2026 vs Jan-Mar 2026, each store against itself; the group moved +4.2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Profitability, in front of Service Net to Gross %.</a:t>
            </a:r>
          </a:p>
          <a:p>
            <a:r>
              <a:t>P&amp;L Detail statement: DEPARTMENT PROFIT OR LOSS / GROSS PROFIT / INCOME, Mechanical Dept (service) and P&amp;A Dept (parts).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Jan-Sep 2026 YTD. Green at or above the group, red below. Bars start at -45.0%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Service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Top and bottom five stores by change in Service Net to Gross %, Jan-Sep 2026 vs 2025. Moving now: Jul-Sep 2026 vs Jan-Mar 2026, each store against itself; the group moved +1.0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Parts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Top and bottom five stores by change in Parts Net to Gross %, Jan-Sep 2026 vs 2025. Moving now: Jul-Sep 2026 vs Jan-Mar 2026, each store against itself; the group moved +5.3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section break and before CP RO Count.</a:t>
            </a:r>
          </a:p>
          <a:p>
            <a:r>
              <a:t>Said: Roundtable slides 18-19 (KPIs; CP Labor $ per RO).</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CP RO Count slides and before Hours per RO.</a:t>
            </a:r>
          </a:p>
          <a:p>
            <a:r>
              <a:t>Said: Jan/May GM slides on Appointment Scheduling, Appointment Discipline, Phone Call Handling and Retention Management (Jan 2, 7, 9, 11; May 2, 4, 8, 9).</a:t>
            </a:r>
          </a:p>
          <a:p>
            <a:r>
              <a:t>Optional: the Flai voice AI service view (Jul 16-Aug 15 pull: 4,368 of 8,351 transfers rang out) fits here, but it is a different source and period; refresh it before use and keep it off any slide with a P&amp;L number.</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RO Count.</a:t>
            </a:r>
          </a:p>
          <a:p>
            <a:r>
              <a:t>Definition is the data slides' own: distinct ROs with a customer-pay line, by close month. This includes the roughly 0.9% of CP ROs with no labor charged (parts-only sales such as additives, wipers and batteries, and blank CP lines); Qlik's hasLabor flag is set on every line, so it does not filter them, and the count is kept that way to match the numbers stores are used to. GMC Prescott body-shop-only ROs excluded.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Per RO = the store's customer-pay labor gross + parts gross / its CP RO count, Jan-Sep 2026. Days open a year: 307 for every store (open 6 days a week, 2026 calendar, less the 6 service holidays: New Year's, Memorial Day, Independence Day, Labor Day, Thanksgiving, Christmas). ROs/day = Jan-Sep 2026 CP ROs at a yearly pace / days open. Assumes the added RO is an average one.Talk track: one more customer a day - one more answered call, one appointment kept, one 'close to losing' customer brought back. Retention, phones and the scheduler are the levers.</a:t>
            </a:r>
          </a:p>
          <a:p>
            <a:r>
              <a:t>LR HENDERSON: $1,168 gross per RO x 307 days open a year = $358,484; 6.8 CP ROs a day today</a:t>
            </a:r>
          </a:p>
          <a:p>
            <a:r>
              <a:t>LR LV: $1,142 gross per RO x 307 days open a year = $350,585; 15.2 CP ROs a day today</a:t>
            </a:r>
          </a:p>
          <a:p>
            <a:r>
              <a:t>LR RENO: $1,052 gross per RO x 307 days open a year = $323,117; 6.2 CP ROs a day today</a:t>
            </a:r>
          </a:p>
          <a:p>
            <a:r>
              <a:t>AUDI HENDERSON: $1,030 gross per RO x 307 days open a year = $316,136; 16.4 CP ROs a day today</a:t>
            </a:r>
          </a:p>
          <a:p>
            <a:r>
              <a:t>AUDI RENO: $740 gross per RO x 307 days open a year = $227,297; 17.0 CP ROs a day today</a:t>
            </a:r>
          </a:p>
          <a:p>
            <a:r>
              <a:t>VOLVO: $662 gross per RO x 307 days open a year = $203,362; 14.8 CP ROs a day today</a:t>
            </a:r>
          </a:p>
          <a:p>
            <a:r>
              <a:t>CADILLAC: $509 gross per RO x 307 days open a year = $156,140; 23.2 CP ROs a day today</a:t>
            </a:r>
          </a:p>
          <a:p>
            <a:r>
              <a:t>LINCOLN: $480 gross per RO x 307 days open a year = $147,507; 11.4 CP ROs a day today</a:t>
            </a:r>
          </a:p>
          <a:p>
            <a:r>
              <a:t>LEXUS: $460 gross per RO x 307 days open a year = $141,182; 19.8 CP ROs a day today</a:t>
            </a:r>
          </a:p>
          <a:p>
            <a:r>
              <a:t>VW HENDERSON: $429 gross per RO x 307 days open a year = $131,560; 22.3 CP ROs a day today</a:t>
            </a:r>
          </a:p>
          <a:p>
            <a:r>
              <a:t>NISSAN: $406 gross per RO x 307 days open a year = $124,728; 30.3 CP ROs a day today</a:t>
            </a:r>
          </a:p>
          <a:p>
            <a:r>
              <a:t>CDJR POST FALLS: $399 gross per RO x 307 days open a year = $122,626; 23.3 CP ROs a day today</a:t>
            </a:r>
          </a:p>
          <a:p>
            <a:r>
              <a:t>CHEVY LV: $362 gross per RO x 307 days open a year = $111,273; 84.8 CP ROs a day today</a:t>
            </a:r>
          </a:p>
          <a:p>
            <a:r>
              <a:t>SUBARU ST GEORGE: $357 gross per RO x 307 days open a year = $109,693; 24.1 CP ROs a day today</a:t>
            </a:r>
          </a:p>
          <a:p>
            <a:r>
              <a:t>ACURA: $356 gross per RO x 307 days open a year = $109,151; 15.9 CP ROs a day today</a:t>
            </a:r>
          </a:p>
          <a:p>
            <a:r>
              <a:t>SUBARU LV: $354 gross per RO x 307 days open a year = $108,687; 61.9 CP ROs a day today</a:t>
            </a:r>
          </a:p>
          <a:p>
            <a:r>
              <a:t>HONDA NORTH: $338 gross per RO x 307 days open a year = $103,675; 65.4 CP ROs a day today</a:t>
            </a:r>
          </a:p>
          <a:p>
            <a:r>
              <a:t>HONDA HENDERSON: $337 gross per RO x 307 days open a year = $103,382; 97.8 CP ROs a day today</a:t>
            </a:r>
          </a:p>
          <a:p>
            <a:r>
              <a:t>HONDA SPOKANE: $331 gross per RO x 307 days open a year = $101,516; 38.8 CP ROs a day today</a:t>
            </a:r>
          </a:p>
          <a:p>
            <a:r>
              <a:t>CHEVY GMC BULLHEAD: $314 gross per RO x 307 days open a year = $96,545; 27.4 CP ROs a day today</a:t>
            </a:r>
          </a:p>
          <a:p>
            <a:r>
              <a:t>GMC PRESCOTT: $310 gross per RO x 307 days open a year = $95,050; 13.5 CP ROs a day today</a:t>
            </a:r>
          </a:p>
          <a:p>
            <a:r>
              <a:t>HONDA FLAGSTAFF: $307 gross per RO x 307 days open a year = $94,176; 17.5 CP ROs a day today</a:t>
            </a:r>
          </a:p>
          <a:p>
            <a:r>
              <a:t>VW ST GEORGE: $292 gross per RO x 307 days open a year = $89,636; 8.3 CP ROs a day today</a:t>
            </a:r>
          </a:p>
          <a:p>
            <a:r>
              <a:t>HYUNDAI ST GEORGE: $283 gross per RO x 307 days open a year = $86,985; 14.5 CP ROs a day today</a:t>
            </a:r>
          </a:p>
          <a:p>
            <a:r>
              <a:t>MAZDA: $280 gross per RO x 307 days open a year = $86,010; 24.8 CP ROs a day today</a:t>
            </a:r>
          </a:p>
          <a:p>
            <a:r>
              <a:t>KIA LV: $268 gross per RO x 307 days open a year = $82,314; 35.3 CP ROs a day today</a:t>
            </a:r>
          </a:p>
          <a:p>
            <a:r>
              <a:t>TOYOTA HENDERSON: $242 gross per RO x 307 days open a year = $74,324; 230.5 CP ROs a day today</a:t>
            </a:r>
          </a:p>
          <a:p>
            <a:r>
              <a:t>HYUNDAI PRESCOTT: $237 gross per RO x 307 days open a year = $72,795; 8.7 CP ROs a day today</a:t>
            </a:r>
          </a:p>
          <a:p>
            <a:r>
              <a:t>SUBARU PRESCOTT: $237 gross per RO x 307 days open a year = $72,776; 22.2 CP ROs a day today</a:t>
            </a:r>
          </a:p>
          <a:p>
            <a:r>
              <a:t>TOYOTA PRESCOTT: $237 gross per RO x 307 days open a year = $72,743; 58.6 CP ROs a day today</a:t>
            </a:r>
          </a:p>
          <a:p>
            <a:r>
              <a:t>KIA ST GEORGE: $220 gross per RO x 307 days open a year = $67,614; 17.0 CP ROs a day today</a:t>
            </a:r>
          </a:p>
          <a:p>
            <a:r>
              <a:t>TOYOTA SPOKANE: $217 gross per RO x 307 days open a year = $66,622; 75.5 CP ROs a day today</a:t>
            </a:r>
          </a:p>
          <a:p>
            <a:r>
              <a:t>TOYOTA FLAGSTAFF: $214 gross per RO x 307 days open a year = $65,596; 65.8 CP ROs a day today</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Top and bottom five stores by change in CP RO count (percent, so store size does not drive the ranking), Jan-Sep 2026 vs 2025. Moving now: Jul-Sep 2026 vs Jan-Mar 2026, each store against itself (monthly averages); the group moved +7.5%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Change in customer-pay hours sold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Top and bottom five stores by change in customer-pay hours sold (percent, so store size does not drive the ranking), Jan-Sep 2026 vs 2025. Moving now: Jul-Sep 2026 vs Jan-Mar 2026, each store against itself (monthly averages); the group moved +5.5%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Hours per RO.</a:t>
            </a:r>
          </a:p>
          <a:p>
            <a:r>
              <a:t>$4,543,691 = 0.1 x 279,756 CP ROs (27,976 hours) x $162.42 CP ELR (on the Hours per RO data slide). Slide rounds to $162 and $4.5M so the room can follow it (Noah, Oct 23).</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Hours per RO,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all CP ROs, Jan-Sep 2026 by close date. Same-store, INEOS excluded (opened 2026). GMC Prescott body shop labor types excluded. Each store: 0.1 x its CP RO count x its own customer-pay labor gross and parts gross per sold hour; a year = Jan-Sep x 12 / 9. Gross, not sale, so it will not match the $4,543,691 labor sale on the Hours per RO slide. Gross/yr = labor gross + parts gross a year. Parts assumes the extra hours carry the store's average customer-pay parts gross per sold hour.Talk track: 0.1 hour is six minutes of sold time on a visit - one more inspection item sold, one tire rotation, one cabin filter. Parts gross assumes the extra hours carry the store's usual parts.</a:t>
            </a:r>
          </a:p>
          <a:p>
            <a:r>
              <a:t>TOYOTA HENDERSON: 53,084 CP ROs, 1.47 hrs/RO; +0.1 = $97,028 gross a month, $1,164,334 a year (labor $868,256, parts $296,078)</a:t>
            </a:r>
          </a:p>
          <a:p>
            <a:r>
              <a:t>HONDA HENDERSON: 22,527 CP ROs, 1.97 hrs/RO; +0.1 = $42,821 gross a month, $513,852 a year (labor $396,326, parts $117,527)</a:t>
            </a:r>
          </a:p>
          <a:p>
            <a:r>
              <a:t>CHEVY LV: 19,520 CP ROs, 2.30 hrs/RO; +0.1 = $34,189 gross a month, $410,273 a year (labor $295,521, parts $114,751)</a:t>
            </a:r>
          </a:p>
          <a:p>
            <a:r>
              <a:t>TOYOTA SPOKANE: 17,376 CP ROs, 1.48 hrs/RO; +0.1 = $28,273 gross a month, $339,280 a year (labor $220,993, parts $118,287)</a:t>
            </a:r>
          </a:p>
          <a:p>
            <a:r>
              <a:t>TOYOTA FLAGSTAFF: 15,141 CP ROs, 1.41 hrs/RO; +0.1 = $25,581 gross a month, $306,971 a year (labor $228,073, parts $78,899)</a:t>
            </a:r>
          </a:p>
          <a:p>
            <a:r>
              <a:t>HONDA NORTH: 15,048 CP ROs, 2.02 hrs/RO; +0.1 = $27,949 gross a month, $335,387 a year (labor $243,757, parts $91,630)</a:t>
            </a:r>
          </a:p>
          <a:p>
            <a:r>
              <a:t>SUBARU LV: 14,250 CP ROs, 1.95 hrs/RO; +0.1 = $28,789 gross a month, $345,471 a year (labor $260,598, parts $84,873)</a:t>
            </a:r>
          </a:p>
          <a:p>
            <a:r>
              <a:t>TOYOTA PRESCOTT: 13,490 CP ROs, 1.38 hrs/RO; +0.1 = $25,680 gross a month, $308,157 a year (labor $224,917, parts $83,240)</a:t>
            </a:r>
          </a:p>
          <a:p>
            <a:r>
              <a:t>HONDA SPOKANE: 8,930 CP ROs, 2.01 hrs/RO; +0.1 = $16,345 gross a month, $196,138 a year (labor $136,735, parts $59,403)</a:t>
            </a:r>
          </a:p>
          <a:p>
            <a:r>
              <a:t>KIA LV: 8,133 CP ROs, 1.57 hrs/RO; +0.1 = $15,446 gross a month, $185,357 a year (labor $128,599, parts $56,758)</a:t>
            </a:r>
          </a:p>
          <a:p>
            <a:r>
              <a:t>NISSAN: 6,973 CP ROs, 2.11 hrs/RO; +0.1 = $14,916 gross a month, $178,988 a year (labor $128,448, parts $50,540)</a:t>
            </a:r>
          </a:p>
          <a:p>
            <a:r>
              <a:t>CHEVY GMC BULLHEAD: 6,309 CP ROs, 1.74 hrs/RO; +0.1 = $12,652 gross a month, $151,825 a year (labor $102,262, parts $49,564)</a:t>
            </a:r>
          </a:p>
          <a:p>
            <a:r>
              <a:t>MAZDA: 5,701 CP ROs, 1.46 hrs/RO; +0.1 = $12,192 gross a month, $146,304 a year (labor $105,012, parts $41,292)</a:t>
            </a:r>
          </a:p>
          <a:p>
            <a:r>
              <a:t>SUBARU ST GEORGE: 5,553 CP ROs, 2.30 hrs/RO; +0.1 = $9,589 gross a month, $115,073 a year (labor $75,721, parts $39,353)</a:t>
            </a:r>
          </a:p>
          <a:p>
            <a:r>
              <a:t>CDJR POST FALLS: 5,358 CP ROs, 2.20 hrs/RO; +0.1 = $10,803 gross a month, $129,631 a year (labor $91,262, parts $38,370)</a:t>
            </a:r>
          </a:p>
          <a:p>
            <a:r>
              <a:t>CADILLAC: 5,344 CP ROs, 2.73 hrs/RO; +0.1 = $11,060 gross a month, $132,722 a year (labor $95,285, parts $37,436)</a:t>
            </a:r>
          </a:p>
          <a:p>
            <a:r>
              <a:t>VW HENDERSON: 5,145 CP ROs, 2.49 hrs/RO; +0.1 = $9,835 gross a month, $118,025 a year (labor $89,434, parts $28,590)</a:t>
            </a:r>
          </a:p>
          <a:p>
            <a:r>
              <a:t>SUBARU PRESCOTT: 5,105 CP ROs, 1.60 hrs/RO; +0.1 = $8,418 gross a month, $101,015 a year (labor $70,208, parts $30,807)</a:t>
            </a:r>
          </a:p>
          <a:p>
            <a:r>
              <a:t>LEXUS: 4,567 CP ROs, 2.08 hrs/RO; +0.1 = $11,202 gross a month, $134,424 a year (labor $99,999, parts $34,425)</a:t>
            </a:r>
          </a:p>
          <a:p>
            <a:r>
              <a:t>HONDA FLAGSTAFF: 4,030 CP ROs, 1.67 hrs/RO; +0.1 = $8,249 gross a month, $98,985 a year (labor $68,101, parts $30,883)</a:t>
            </a:r>
          </a:p>
          <a:p>
            <a:r>
              <a:t>AUDI RENO: 3,917 CP ROs, 2.73 hrs/RO; +0.1 = $11,814 gross a month, $141,770 a year (labor $96,704, parts $45,066)</a:t>
            </a:r>
          </a:p>
          <a:p>
            <a:r>
              <a:t>KIA ST GEORGE: 3,912 CP ROs, 1.29 hrs/RO; +0.1 = $7,424 gross a month, $89,084 a year (labor $58,429, parts $30,655)</a:t>
            </a:r>
          </a:p>
          <a:p>
            <a:r>
              <a:t>AUDI HENDERSON: 3,779 CP ROs, 3.48 hrs/RO; +0.1 = $12,411 gross a month, $148,928 a year (labor $113,075, parts $35,853)</a:t>
            </a:r>
          </a:p>
          <a:p>
            <a:r>
              <a:t>ACURA: 3,671 CP ROs, 1.42 hrs/RO; +0.1 = $10,212 gross a month, $122,550 a year (labor $81,713, parts $40,837)</a:t>
            </a:r>
          </a:p>
          <a:p>
            <a:r>
              <a:t>LR LV: 3,496 CP ROs, 3.99 hrs/RO; +0.1 = $11,125 gross a month, $133,501 a year (labor $91,287, parts $42,215)</a:t>
            </a:r>
          </a:p>
          <a:p>
            <a:r>
              <a:t>VOLVO: 3,402 CP ROs, 2.28 hrs/RO; +0.1 = $10,992 gross a month, $131,908 a year (labor $89,257, parts $42,652)</a:t>
            </a:r>
          </a:p>
          <a:p>
            <a:r>
              <a:t>HYUNDAI ST GEORGE: 3,349 CP ROs, 1.43 hrs/RO; +0.1 = $7,381 gross a month, $88,568 a year (labor $61,607, parts $26,961)</a:t>
            </a:r>
          </a:p>
          <a:p>
            <a:r>
              <a:t>GMC PRESCOTT: 3,107 CP ROs, 1.96 hrs/RO; +0.1 = $5,461 gross a month, $65,535 a year (labor $42,792, parts $22,743)</a:t>
            </a:r>
          </a:p>
          <a:p>
            <a:r>
              <a:t>LINCOLN: 2,630 CP ROs, 2.48 hrs/RO; +0.1 = $5,651 gross a month, $67,817 a year (labor $48,880, parts $18,937)</a:t>
            </a:r>
          </a:p>
          <a:p>
            <a:r>
              <a:t>HYUNDAI PRESCOTT: 2,010 CP ROs, 1.64 hrs/RO; +0.1 = $3,238 gross a month, $38,856 a year (labor $23,679, parts $15,178)</a:t>
            </a:r>
          </a:p>
          <a:p>
            <a:r>
              <a:t>VW ST GEORGE: 1,919 CP ROs, 1.71 hrs/RO; +0.1 = $3,646 gross a month, $43,756 a year (labor $27,475, parts $16,281)</a:t>
            </a:r>
          </a:p>
          <a:p>
            <a:r>
              <a:t>LR HENDERSON: 1,559 CP ROs, 3.99 hrs/RO; +0.1 = $5,068 gross a month, $60,821 a year (labor $40,050, parts $20,772)</a:t>
            </a:r>
          </a:p>
          <a:p>
            <a:r>
              <a:t>LR RENO: 1,421 CP ROs, 3.48 hrs/RO; +0.1 = $4,771 gross a month, $57,255 a year (labor $37,516, parts $19,739)</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Top and bottom five stores by change in CP Hours per RO, Jan-Sep 2026 vs 2025. Moving now: Jul-Sep 2026 vs Jan-Mar 2026, each store against itself; the group moved −0.04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before the CP ELR slides (ahead of the door-rate options).</a:t>
            </a:r>
          </a:p>
          <a:p>
            <a:r>
              <a:t>Said: Roundtable slide 15 (Pricing Strategy); Jan/May GM Road to the Sale slide (pricing lines); Jan GM slide 54 (Discounting Discipline); 70% benchmark from the Jan/May door rate slides.</a:t>
            </a:r>
          </a:p>
          <a:p>
            <a:r>
              <a:t>Oct 23 (Noah): grid vs non-grid tile replaced. $126,831 a month = Jul-Sep, for each of the 8 stores under 70% (Chevy LV, Toyota Spokane, Cadillac, Kia LV, Subaru Prescott, Lincoln, GMC Prescott, Hyundai Prescott): (70% x door rate - CP ELR) x CP hours sold, summed ($380,494) / 3. Door rates from the store door rate sheet (door.json), ELR and hours from elr_q3.json.</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Customer Pay section, after Pricing Strategy and before the pay type slides (moved from Labor Mix, Oct 23).</a:t>
            </a:r>
          </a:p>
          <a:p>
            <a:r>
              <a:t>Said: Jan GM slide 8 / May GM slide 7 (Express Service).</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Jan-Sep 2026 shares of labor sale; sorted by customer-pay share. Bar labels are percent of labor sale; every value is also listed here.</a:t>
            </a:r>
          </a:p>
          <a:p>
            <a:r>
              <a:t>HONDA SPOKANE: CP 70.3%, W 8.0%, I 21.6%</a:t>
            </a:r>
          </a:p>
          <a:p>
            <a:r>
              <a:t>TOYOTA SPOKANE: CP 65.3%, W 15.5%, I 19.2%</a:t>
            </a:r>
          </a:p>
          <a:p>
            <a:r>
              <a:t>TOYOTA FLAGSTAFF: CP 65.1%, W 11.2%, I 23.7%</a:t>
            </a:r>
          </a:p>
          <a:p>
            <a:r>
              <a:t>HONDA FLAGSTAFF: CP 65.1%, W 11.9%, I 23.0%</a:t>
            </a:r>
          </a:p>
          <a:p>
            <a:r>
              <a:t>LR LV: CP 64.9%, W 25.2%, I 10.0%</a:t>
            </a:r>
          </a:p>
          <a:p>
            <a:r>
              <a:t>VOLVO: CP 62.9%, W 23.1%, I 14.0%</a:t>
            </a:r>
          </a:p>
          <a:p>
            <a:r>
              <a:t>LR RENO: CP 61.5%, W 17.2%, I 21.3%</a:t>
            </a:r>
          </a:p>
          <a:p>
            <a:r>
              <a:t>TOYOTA PRESCOTT: CP 60.5%, W 13.8%, I 25.8%</a:t>
            </a:r>
          </a:p>
          <a:p>
            <a:r>
              <a:t>AUDI RENO: CP 59.7%, W 29.1%, I 11.2%</a:t>
            </a:r>
          </a:p>
          <a:p>
            <a:r>
              <a:t>CDJR POST FALLS: CP 59.5%, W 23.6%, I 16.9%</a:t>
            </a:r>
          </a:p>
          <a:p>
            <a:r>
              <a:t>NISSAN: CP 59.4%, W 17.7%, I 22.9%</a:t>
            </a:r>
          </a:p>
          <a:p>
            <a:r>
              <a:t>SUBARU ST GEORGE: CP 59.0%, W 23.5%, I 17.5%</a:t>
            </a:r>
          </a:p>
          <a:p>
            <a:r>
              <a:t>SUBARU LV: CP 58.0%, W 24.2%, I 17.7%</a:t>
            </a:r>
          </a:p>
          <a:p>
            <a:r>
              <a:t>HONDA NORTH: CP 57.9%, W 13.5%, I 28.6%</a:t>
            </a:r>
          </a:p>
          <a:p>
            <a:r>
              <a:t>TOYOTA HENDERSON: CP 57.3%, W 14.8%, I 27.9%</a:t>
            </a:r>
          </a:p>
          <a:p>
            <a:r>
              <a:t>MAZDA: CP 56.6%, W 12.4%, I 31.0%</a:t>
            </a:r>
          </a:p>
          <a:p>
            <a:r>
              <a:t>HONDA HENDERSON: CP 56.6%, W 10.2%, I 33.3%</a:t>
            </a:r>
          </a:p>
          <a:p>
            <a:r>
              <a:t>VW ST GEORGE: CP 55.8%, W 31.0%, I 13.2%</a:t>
            </a:r>
          </a:p>
          <a:p>
            <a:r>
              <a:t>LR HENDERSON: CP 55.3%, W 20.2%, I 24.5%</a:t>
            </a:r>
          </a:p>
          <a:p>
            <a:r>
              <a:t>LEXUS: CP 54.5%, W 13.1%, I 32.4%</a:t>
            </a:r>
          </a:p>
          <a:p>
            <a:r>
              <a:t>SUBARU PRESCOTT: CP 50.8%, W 19.2%, I 30.0%</a:t>
            </a:r>
          </a:p>
          <a:p>
            <a:r>
              <a:t>ACURA: CP 48.7%, W 15.5%, I 35.8%</a:t>
            </a:r>
          </a:p>
          <a:p>
            <a:r>
              <a:t>GMC PRESCOTT: CP 48.0%, W 23.1%, I 29.0%</a:t>
            </a:r>
          </a:p>
          <a:p>
            <a:r>
              <a:t>VW HENDERSON: CP 47.2%, W 40.1%, I 12.8%</a:t>
            </a:r>
          </a:p>
          <a:p>
            <a:r>
              <a:t>CHEVY LV: CP 47.0%, W 28.1%, I 24.9%</a:t>
            </a:r>
          </a:p>
          <a:p>
            <a:r>
              <a:t>CHEVY GMC BULLHEAD: CP 45.3%, W 14.3%, I 40.4%</a:t>
            </a:r>
          </a:p>
          <a:p>
            <a:r>
              <a:t>LINCOLN: CP 44.6%, W 37.5%, I 17.8%</a:t>
            </a:r>
          </a:p>
          <a:p>
            <a:r>
              <a:t>HYUNDAI ST GEORGE: CP 40.3%, W 34.9%, I 24.8%</a:t>
            </a:r>
          </a:p>
          <a:p>
            <a:r>
              <a:t>KIA ST GEORGE: CP 40.0%, W 38.4%, I 21.7%</a:t>
            </a:r>
          </a:p>
          <a:p>
            <a:r>
              <a:t>KIA LV: CP 39.2%, W 31.5%, I 29.2%</a:t>
            </a:r>
          </a:p>
          <a:p>
            <a:r>
              <a:t>AUDI HENDERSON: CP 34.1%, W 52.2%, I 13.7%</a:t>
            </a:r>
          </a:p>
          <a:p>
            <a:r>
              <a:t>HYUNDAI PRESCOTT: CP 28.5%, W 35.7%, I 35.8%</a:t>
            </a:r>
          </a:p>
          <a:p>
            <a:r>
              <a:t>CADILLAC: CP 27.9%, W 51.3%, I 20.7%</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Customer-pay labor sale / total labor sale (customer pay + warranty + internal).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Change in Customer Pay Share of Labor Sale,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Customer-pay labor sale / total labor sale (customer pay + warranty + internal). Top and bottom five stores by change in Customer Pay Share of Labor Sale, Jan-Sep 2026 vs 2025. Moving now: Jul-Sep 2026 vs Jan-Mar 2026, each store against itself; the group moved −0.3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Customer-pay labor sale by op code description, Jan-Sep. Same-store, INEOS excluded. GMC Prescott body shop labor types excluded.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a:t>
            </a:r>
          </a:p>
          <a:p>
            <a:r>
              <a:t>HONDA HENDERSON: M 71.2%, R 24.6%, U 4.2%</a:t>
            </a:r>
          </a:p>
          <a:p>
            <a:r>
              <a:t>TOYOTA PRESCOTT: M 69.4%, R 25.1%, U 5.5%</a:t>
            </a:r>
          </a:p>
          <a:p>
            <a:r>
              <a:t>TOYOTA HENDERSON: M 68.0%, R 24.7%, U 7.3%</a:t>
            </a:r>
          </a:p>
          <a:p>
            <a:r>
              <a:t>LEXUS: M 67.1%, R 22.0%, U 10.9%</a:t>
            </a:r>
          </a:p>
          <a:p>
            <a:r>
              <a:t>HONDA FLAGSTAFF: M 66.4%, R 25.5%, U 8.1%</a:t>
            </a:r>
          </a:p>
          <a:p>
            <a:r>
              <a:t>HONDA NORTH: M 65.9%, R 29.5%, U 4.6%</a:t>
            </a:r>
          </a:p>
          <a:p>
            <a:r>
              <a:t>MAZDA: M 63.9%, R 21.3%, U 14.8%</a:t>
            </a:r>
          </a:p>
          <a:p>
            <a:r>
              <a:t>ACURA: M 62.0%, R 25.6%, U 12.4%</a:t>
            </a:r>
          </a:p>
          <a:p>
            <a:r>
              <a:t>TOYOTA FLAGSTAFF: M 61.6%, R 13.1%, U 25.3%</a:t>
            </a:r>
          </a:p>
          <a:p>
            <a:r>
              <a:t>TOYOTA SPOKANE: M 60.0%, R 26.4%, U 13.6%</a:t>
            </a:r>
          </a:p>
          <a:p>
            <a:r>
              <a:t>KIA LV: M 59.7%, R 31.1%, U 9.2%</a:t>
            </a:r>
          </a:p>
          <a:p>
            <a:r>
              <a:t>SUBARU PRESCOTT: M 59.2%, R 1.5%, U 39.3%</a:t>
            </a:r>
          </a:p>
          <a:p>
            <a:r>
              <a:t>SUBARU ST GEORGE: M 59.0%, R 26.6%, U 14.4%</a:t>
            </a:r>
          </a:p>
          <a:p>
            <a:r>
              <a:t>LR HENDERSON: M 58.8%, R 32.2%, U 9.0%</a:t>
            </a:r>
          </a:p>
          <a:p>
            <a:r>
              <a:t>HYUNDAI ST GEORGE: M 58.3%, R 18.2%, U 23.5%</a:t>
            </a:r>
          </a:p>
          <a:p>
            <a:r>
              <a:t>HYUNDAI PRESCOTT: M 56.8%, R 23.9%, U 19.3%</a:t>
            </a:r>
          </a:p>
          <a:p>
            <a:r>
              <a:t>LR RENO: M 56.8%, R 23.9%, U 19.3%</a:t>
            </a:r>
          </a:p>
          <a:p>
            <a:r>
              <a:t>SUBARU LV: M 55.1%, R 35.4%, U 9.5%</a:t>
            </a:r>
          </a:p>
          <a:p>
            <a:r>
              <a:t>KIA ST GEORGE: M 55.1%, R 29.6%, U 15.3%</a:t>
            </a:r>
          </a:p>
          <a:p>
            <a:r>
              <a:t>HONDA SPOKANE: M 48.6%, R 41.4%, U 10.0%</a:t>
            </a:r>
          </a:p>
          <a:p>
            <a:r>
              <a:t>VOLVO: M 43.9%, R 41.7%, U 14.4%</a:t>
            </a:r>
          </a:p>
          <a:p>
            <a:r>
              <a:t>LR LV: M 43.0%, R 30.0%, U 27.0%</a:t>
            </a:r>
          </a:p>
          <a:p>
            <a:r>
              <a:t>LINCOLN: M 42.8%, R 28.9%, U 28.3%</a:t>
            </a:r>
          </a:p>
          <a:p>
            <a:r>
              <a:t>VW HENDERSON: M 41.0%, R 51.3%, U 7.7%</a:t>
            </a:r>
          </a:p>
          <a:p>
            <a:r>
              <a:t>CHEVY LV: M 40.6%, R 48.3%, U 11.1%</a:t>
            </a:r>
          </a:p>
          <a:p>
            <a:r>
              <a:t>NISSAN: M 40.2%, R 41.9%, U 17.9%</a:t>
            </a:r>
          </a:p>
          <a:p>
            <a:r>
              <a:t>CHEVY GMC BULLHEAD: M 38.4%, R 32.6%, U 29.0%</a:t>
            </a:r>
          </a:p>
          <a:p>
            <a:r>
              <a:t>AUDI HENDERSON: M 35.1%, R 37.8%, U 27.1%</a:t>
            </a:r>
          </a:p>
          <a:p>
            <a:r>
              <a:t>GMC PRESCOTT: M 33.9%, R 2.6%, U 63.5%</a:t>
            </a:r>
          </a:p>
          <a:p>
            <a:r>
              <a:t>CADILLAC: M 32.8%, R 54.6%, U 12.6%</a:t>
            </a:r>
          </a:p>
          <a:p>
            <a:r>
              <a:t>AUDI RENO: M 32.2%, R 29.7%, U 38.1%</a:t>
            </a:r>
          </a:p>
          <a:p>
            <a:r>
              <a:t>VW ST GEORGE: M 27.5%, R 27.4%, U 45.1%</a:t>
            </a:r>
          </a:p>
          <a:p>
            <a:r>
              <a:t>CDJR POST FALLS: M 26.5%, R 21.7%, U 51.8%</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ELR (and ahead of the door-rate slides).</a:t>
            </a:r>
          </a:p>
          <a:p>
            <a:r>
              <a:t>Roundtable worked example removed from the slide (Noah, Oct 21).</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ELR,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Top and bottom five stores by change in CP ELR, Jan-Sep 2026 vs 2025. Moving now: Jul-Sep 2026 vs Jan-Mar 2026, each store against itself; the group moved +$1.85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D - door rate by store, split by labor grid, standard rate only. Store door rate sheet (Oct 15 2026); averages weighted by Jul-Sep CP sold hours. Bars start at $100. INEOS on the sheet but excluded (same-store).</a:t>
            </a:r>
          </a:p>
          <a:p>
            <a:r>
              <a:t>CHEVY LV: premium $264.87 (Diesel/Corvette)</a:t>
            </a:r>
          </a:p>
          <a:p>
            <a:r>
              <a:t>AUDI HENDERSON: premium $399.00 (Lambo Non-Grid)</a:t>
            </a:r>
          </a:p>
          <a:p>
            <a:r>
              <a:t>VW HENDERSON: premium $210.00 (EV)</a:t>
            </a:r>
          </a:p>
          <a:p>
            <a:r>
              <a:t>CHEVY GMC BULLHEAD: premium $199.87 (Non-Standard Grid)</a:t>
            </a:r>
          </a:p>
          <a:p>
            <a:r>
              <a:t>SUBARU ST GEORGE: premium $210.00 (EV)</a:t>
            </a:r>
          </a:p>
          <a:p>
            <a:r>
              <a:t>HONDA FLAGSTAFF: premium $215.00 (EV)</a:t>
            </a:r>
          </a:p>
          <a:p>
            <a:r>
              <a:t>GMC PRESCOTT: premium $230.00 (EV)</a:t>
            </a:r>
          </a:p>
          <a:p>
            <a:r>
              <a:t>KIA ST GEORGE: premium $195.00 (EV)</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CURRENT VERSION - bars and % only. Qlik - Closed Repair Orders. Customer pay, Jan-Sep by close month. Same-store, INEOS excluded (opened 2026). GMC Prescott body shop labor types excluded. CP ELR for JUL-SEP 2026 (last three months, to match current door rates) / store door rate (standard rate from the store door rate sheet; premium, EV and diesel rates not applied). Group = group CP labor sale / hours-weighted door rate. Green at or above 70%, red below. Bars start at 40%. Percentages are truncated, not rounded.</a:t>
            </a:r>
          </a:p>
          <a:p>
            <a:r>
              <a:t>AUDI RENO: ELR $244.12 / door $235.87 = 103.4%</a:t>
            </a:r>
          </a:p>
          <a:p>
            <a:r>
              <a:t>VOLVO: ELR $225.50 / door $249.95 = 90.2%</a:t>
            </a:r>
          </a:p>
          <a:p>
            <a:r>
              <a:t>CHEVY GMC BULLHEAD: ELR $161.80 / door $179.87 = 89.9%</a:t>
            </a:r>
          </a:p>
          <a:p>
            <a:r>
              <a:t>HYUNDAI ST GEORGE: ELR $165.96 / door $184.87 = 89.7%</a:t>
            </a:r>
          </a:p>
          <a:p>
            <a:r>
              <a:t>ACURA: ELR $199.04 / door $224.87 = 88.5%</a:t>
            </a:r>
          </a:p>
          <a:p>
            <a:r>
              <a:t>LR RENO: ELR $238.62 / door $275.00 = 86.7%</a:t>
            </a:r>
          </a:p>
          <a:p>
            <a:r>
              <a:t>HONDA FLAGSTAFF: ELR $159.69 / door $185.00 = 86.3%</a:t>
            </a:r>
          </a:p>
          <a:p>
            <a:r>
              <a:t>HONDA SPOKANE: ELR $147.93 / door $179.00 = 82.6%</a:t>
            </a:r>
          </a:p>
          <a:p>
            <a:r>
              <a:t>LEXUS: ELR $187.42 / door $229.95 = 81.5%</a:t>
            </a:r>
          </a:p>
          <a:p>
            <a:r>
              <a:t>CDJR POST FALLS: ELR $161.93 / door $199.95 = 80.9%</a:t>
            </a:r>
          </a:p>
          <a:p>
            <a:r>
              <a:t>TOYOTA PRESCOTT: ELR $155.78 / door $195.00 = 79.8%</a:t>
            </a:r>
          </a:p>
          <a:p>
            <a:r>
              <a:t>LR HENDERSON: ELR $234.48 / door $294.87 = 79.5%</a:t>
            </a:r>
          </a:p>
          <a:p>
            <a:r>
              <a:t>KIA ST GEORGE: ELR $146.04 / door $185.00 = 78.9%</a:t>
            </a:r>
          </a:p>
          <a:p>
            <a:r>
              <a:t>MAZDA: ELR $165.67 / door $209.87 = 78.9%</a:t>
            </a:r>
          </a:p>
          <a:p>
            <a:r>
              <a:t>VW HENDERSON: ELR $160.84 / door $204.87 = 78.5%</a:t>
            </a:r>
          </a:p>
          <a:p>
            <a:r>
              <a:t>VW ST GEORGE: ELR $141.89 / door $184.87 = 76.7%</a:t>
            </a:r>
          </a:p>
          <a:p>
            <a:r>
              <a:t>AUDI HENDERSON: ELR $266.72 / door $348.87 = 76.4%</a:t>
            </a:r>
          </a:p>
          <a:p>
            <a:r>
              <a:t>LR LV: ELR $233.88 / door $310.00 = 75.4%</a:t>
            </a:r>
          </a:p>
          <a:p>
            <a:r>
              <a:t>SUBARU LV: ELR $162.12 / door $215.37 = 75.2%</a:t>
            </a:r>
          </a:p>
          <a:p>
            <a:r>
              <a:t>NISSAN: ELR $180.14 / door $239.87 = 75.1%</a:t>
            </a:r>
          </a:p>
          <a:p>
            <a:r>
              <a:t>TOYOTA FLAGSTAFF: ELR $142.51 / door $190.00 = 75.0%</a:t>
            </a:r>
          </a:p>
          <a:p>
            <a:r>
              <a:t>SUBARU ST GEORGE: ELR $136.71 / door $185.00 = 73.8%</a:t>
            </a:r>
          </a:p>
          <a:p>
            <a:r>
              <a:t>TOYOTA HENDERSON: ELR $154.55 / door $211.26 = 73.1%</a:t>
            </a:r>
          </a:p>
          <a:p>
            <a:r>
              <a:t>HONDA HENDERSON: ELR $153.45 / door $211.87 = 72.4%</a:t>
            </a:r>
          </a:p>
          <a:p>
            <a:r>
              <a:t>HONDA NORTH: ELR $149.70 / door $211.87 = 70.6%</a:t>
            </a:r>
          </a:p>
          <a:p>
            <a:r>
              <a:t>KIA LV: ELR $150.72 / door $219.87 = 68.5%</a:t>
            </a:r>
          </a:p>
          <a:p>
            <a:r>
              <a:t>LINCOLN: ELR $167.22 / door $244.87 = 68.2%</a:t>
            </a:r>
          </a:p>
          <a:p>
            <a:r>
              <a:t>TOYOTA SPOKANE: ELR $124.92 / door $185.00 = 67.5%</a:t>
            </a:r>
          </a:p>
          <a:p>
            <a:r>
              <a:t>GMC PRESCOTT: ELR $146.92 / door $220.00 = 66.7%</a:t>
            </a:r>
          </a:p>
          <a:p>
            <a:r>
              <a:t>SUBARU PRESCOTT: ELR $139.81 / door $210.00 = 66.5%</a:t>
            </a:r>
          </a:p>
          <a:p>
            <a:r>
              <a:t>CHEVY LV: ELR $146.25 / door $224.87 = 65.0%</a:t>
            </a:r>
          </a:p>
          <a:p>
            <a:r>
              <a:t>HYUNDAI PRESCOTT: ELR $136.12 / door $210.00 = 64.8%</a:t>
            </a:r>
          </a:p>
          <a:p>
            <a:r>
              <a:t>CADILLAC: ELR $175.47 / door $285.00 = 61.5%</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A -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 per RO.</a:t>
            </a:r>
          </a:p>
          <a:p>
            <a:r>
              <a:t>1.87 x $162.42 = $303.73, which rounds to the $304 on the data slide. Parts line (Noah, Oct 23: the parts $ per RO section is out of the deck, so the link lives here): CP parts per RO $228.50 -&gt; $237.96 Jan-Sep 2025 -&gt; 2026 while CP labor per RO rose $286.67 -&gt; $303.72 (Qlik Closed RO, m5.json).</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Labor $ per RO,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Top and bottom five stores by change in CP Labor $ per RO, Jan-Sep 2026 vs 2025. Moving now: Jul-Sep 2026 vs Jan-Mar 2026, each store against itself; the group moved −$2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before CP Labor Gross Profit %.</a:t>
            </a:r>
          </a:p>
          <a:p>
            <a:r>
              <a:t>Said: Roundtable slide 21 (Gross Profit %). Above 80% can mean techs are underpaid on the work they do; below 78% means the job mix or the dispatch is off.</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Gross Profit %.</a:t>
            </a:r>
          </a:p>
          <a:p>
            <a:r>
              <a:t>Example (Noah, Oct 23: replaces the Roundtable table): one CP hour at the group's Jan-Sep 2026 averages, $162.42 ELR, $31.21 tech cost per hour sold, $131.21 kept = 80.8%; rounded on the slide.</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Roundtable target 78-80%.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Roundtable target 78-80%. Jan-Sep 2026 YTD. Green at or above the group, red below. Bars start at 60.0%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Roundtable target 78-80%. Top and bottom five stores by change in CP Labor Gross Profit %, Jan-Sep 2026 vs 2025. Moving now: Jul-Sep 2026 vs Jan-Mar 2026, each store against itself; the group moved +0.0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Gross Profit %.</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Jan-Sep 2026 YTD. Green at or above the group, red below. Bars start at 25.0%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Top and bottom five stores by change in CP Parts Gross Profit %, Jan-Sep 2026 vs 2025. Moving now: Jul-Sep 2026 vs Jan-Mar 2026, each store against itself; the group moved −0.0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Opcodes section, after the section break and before Alignment %.</a:t>
            </a:r>
          </a:p>
          <a:p>
            <a:r>
              <a:t>Said: Roundtable slides 11, 12, 14 (Road to the Sale, Maintenance Menus, MPI Mandate); Jan GM slide 15 / May GM slide 11 (Road to the Sale). Fuel service is 5.8% vs 7.5% (4,731 short).</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MPI % = CP+W ROs with a completed technician multi-point inspection / CP+W ROs closed. Benchmark 90% (Roundtable: 90%+ MPI completion). Green at or above the benchmark, red below.Every car, every time: the MPI is where the hours on the opcode slides come from. Cadillac switched to Auto.live during the quarter, so its number may understate the process.</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Video % = CP+W ROs with a technician video attached to the MPI / CP+W ROs closed. No benchmark set; scored against the group. Green at or above the group, red below.Video is what turns an inspection into a sale the customer can see. MPI at 80% or more but video under 45%, so the inspection is done and not shown: CDJR Post Falls (81.7% MPI, 16.0% video); Chevy GMC Bullhead (87.6% MPI, 21.8% video); Chevy LV (84.5% MPI, 40.2% video); GMC Prescott (93.2% MPI, 35.1% video); Nissan (97.0% MPI, 41.9% video).</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Opcodes, after the section break, in front of Alignment %.</a:t>
            </a:r>
          </a:p>
          <a:p>
            <a:r>
              <a:t>Denominator: CP ROs on the op code report basis (excluding ROs flagged out of the report).</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ALIGNMENT % = alignment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15% benchmark, red below.</a:t>
            </a:r>
          </a:p>
          <a:p>
            <a:r>
              <a:t>AUDI HENDERSON: 27.5% (2025 21.8%)</a:t>
            </a:r>
          </a:p>
          <a:p>
            <a:r>
              <a:t>LR HENDERSON: 24.4% (2025 19.4%)</a:t>
            </a:r>
          </a:p>
          <a:p>
            <a:r>
              <a:t>HYUNDAI PRESCOTT: 21.8% (2025 15.0%)</a:t>
            </a:r>
          </a:p>
          <a:p>
            <a:r>
              <a:t>HONDA HENDERSON: 21.3% (2025 20.7%)</a:t>
            </a:r>
          </a:p>
          <a:p>
            <a:r>
              <a:t>ACURA: 17.5% (2025 14.2%)</a:t>
            </a:r>
          </a:p>
          <a:p>
            <a:r>
              <a:t>LR LV: 17.4% (2025 11.4%)</a:t>
            </a:r>
          </a:p>
          <a:p>
            <a:r>
              <a:t>MAZDA: 16.7% (2025 10.0%)</a:t>
            </a:r>
          </a:p>
          <a:p>
            <a:r>
              <a:t>HONDA NORTH: 16.2% (2025 15.0%)</a:t>
            </a:r>
          </a:p>
          <a:p>
            <a:r>
              <a:t>HYUNDAI ST GEORGE: 14.8% (2025 5.2%)</a:t>
            </a:r>
          </a:p>
          <a:p>
            <a:r>
              <a:t>SUBARU LV: 14.6% (2025 16.1%)</a:t>
            </a:r>
          </a:p>
          <a:p>
            <a:r>
              <a:t>TOYOTA HENDERSON: 14.5% (2025 15.1%)</a:t>
            </a:r>
          </a:p>
          <a:p>
            <a:r>
              <a:t>CADILLAC: 13.9% (2025 9.7%)</a:t>
            </a:r>
          </a:p>
          <a:p>
            <a:r>
              <a:t>VOLVO: 13.9% (2025 13.5%)</a:t>
            </a:r>
          </a:p>
          <a:p>
            <a:r>
              <a:t>VW HENDERSON: 13.6% (2025 13.5%)</a:t>
            </a:r>
          </a:p>
          <a:p>
            <a:r>
              <a:t>LR RENO: 12.9% (2025 17.7%)</a:t>
            </a:r>
          </a:p>
          <a:p>
            <a:r>
              <a:t>CHEVY LV: 12.9% (2025 13.4%)</a:t>
            </a:r>
          </a:p>
          <a:p>
            <a:r>
              <a:t>SUBARU PRESCOTT: 12.6% (2025 7.1%)</a:t>
            </a:r>
          </a:p>
          <a:p>
            <a:r>
              <a:t>HONDA SPOKANE: 12.5% (2025 10.8%)</a:t>
            </a:r>
          </a:p>
          <a:p>
            <a:r>
              <a:t>TOYOTA PRESCOTT: 12.3% (2025 9.5%)</a:t>
            </a:r>
          </a:p>
          <a:p>
            <a:r>
              <a:t>AUDI RENO: 11.8% (2025 11.7%)</a:t>
            </a:r>
          </a:p>
          <a:p>
            <a:r>
              <a:t>GMC PRESCOTT: 11.7% (2025 5.0%)</a:t>
            </a:r>
          </a:p>
          <a:p>
            <a:r>
              <a:t>LEXUS: 11.4% (2025 8.3%)</a:t>
            </a:r>
          </a:p>
          <a:p>
            <a:r>
              <a:t>CHEVY GMC BULLHEAD: 11.1% (2025 11.2%)</a:t>
            </a:r>
          </a:p>
          <a:p>
            <a:r>
              <a:t>HONDA FLAGSTAFF: 11.1% (2025 5.6%)</a:t>
            </a:r>
          </a:p>
          <a:p>
            <a:r>
              <a:t>SUBARU ST GEORGE: 11.1% (2025 11.9%)</a:t>
            </a:r>
          </a:p>
          <a:p>
            <a:r>
              <a:t>KIA LV: 9.8% (2025 13.3%)</a:t>
            </a:r>
          </a:p>
          <a:p>
            <a:r>
              <a:t>TOYOTA FLAGSTAFF: 9.7% (2025 6.3%)</a:t>
            </a:r>
          </a:p>
          <a:p>
            <a:r>
              <a:t>LINCOLN: 8.4% (2025 2.7%)</a:t>
            </a:r>
          </a:p>
          <a:p>
            <a:r>
              <a:t>KIA ST GEORGE: 8.0% (2025 2.5%)</a:t>
            </a:r>
          </a:p>
          <a:p>
            <a:r>
              <a:t>NISSAN: 7.5% (2025 5.3%)</a:t>
            </a:r>
          </a:p>
          <a:p>
            <a:r>
              <a:t>VW ST GEORGE: 5.6% (2025 3.9%)</a:t>
            </a:r>
          </a:p>
          <a:p>
            <a:r>
              <a:t>TOYOTA SPOKANE: 4.3% (2025 2.6%)</a:t>
            </a:r>
          </a:p>
          <a:p>
            <a:r>
              <a:t>CDJR POST FALLS: 4.2% (2025 1.8%)</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Alignment %, Jan-Sep 2026 vs 2025, in points. Moving now: Jul-Sep 2026 vs Jan-Mar 2026, each store against itself; the group moved +0.2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BALANCE % = balance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15% benchmark, red below. CHECK OP-CODE MAPPING - under 0.5%: TOYOTA SPOKANE, LEXUS, AUDI RENO, AUDI HENDERSON, VW ST GEORGE. Near zero in 2025, so year-over-year gain may be mapping: HONDA SPOKANE, SUBARU PRESCOTT.</a:t>
            </a:r>
          </a:p>
          <a:p>
            <a:r>
              <a:t>LR HENDERSON: 27.0% (2025 22.9%)</a:t>
            </a:r>
          </a:p>
          <a:p>
            <a:r>
              <a:t>HONDA HENDERSON: 18.4% (2025 17.7%)</a:t>
            </a:r>
          </a:p>
          <a:p>
            <a:r>
              <a:t>LR LV: 17.0% (2025 3.4%)</a:t>
            </a:r>
          </a:p>
          <a:p>
            <a:r>
              <a:t>LR RENO: 17.0% (2025 16.3%)</a:t>
            </a:r>
          </a:p>
          <a:p>
            <a:r>
              <a:t>SUBARU PRESCOTT: 15.0% (2025 0.1%)</a:t>
            </a:r>
          </a:p>
          <a:p>
            <a:r>
              <a:t>ACURA: 14.1% (2025 10.3%)</a:t>
            </a:r>
          </a:p>
          <a:p>
            <a:r>
              <a:t>HYUNDAI PRESCOTT: 13.5% (2025 8.9%)</a:t>
            </a:r>
          </a:p>
          <a:p>
            <a:r>
              <a:t>MAZDA: 13.2% (2025 6.5%)</a:t>
            </a:r>
          </a:p>
          <a:p>
            <a:r>
              <a:t>HONDA NORTH: 12.0% (2025 11.3%)</a:t>
            </a:r>
          </a:p>
          <a:p>
            <a:r>
              <a:t>VOLVO: 11.7% (2025 10.9%)</a:t>
            </a:r>
          </a:p>
          <a:p>
            <a:r>
              <a:t>TOYOTA HENDERSON: 11.2% (2025 11.7%)</a:t>
            </a:r>
          </a:p>
          <a:p>
            <a:r>
              <a:t>SUBARU LV: 10.2% (2025 11.3%)</a:t>
            </a:r>
          </a:p>
          <a:p>
            <a:r>
              <a:t>CHEVY GMC BULLHEAD: 9.1% (2025 6.5%)</a:t>
            </a:r>
          </a:p>
          <a:p>
            <a:r>
              <a:t>VW HENDERSON: 8.3% (2025 7.0%)</a:t>
            </a:r>
          </a:p>
          <a:p>
            <a:r>
              <a:t>GMC PRESCOTT: 7.8% (2025 2.0%)</a:t>
            </a:r>
          </a:p>
          <a:p>
            <a:r>
              <a:t>KIA ST GEORGE: 7.7% (2025 1.1%)</a:t>
            </a:r>
          </a:p>
          <a:p>
            <a:r>
              <a:t>CHEVY LV: 7.3% (2025 4.2%)</a:t>
            </a:r>
          </a:p>
          <a:p>
            <a:r>
              <a:t>TOYOTA PRESCOTT: 6.2% (2025 3.3%)</a:t>
            </a:r>
          </a:p>
          <a:p>
            <a:r>
              <a:t>CADILLAC: 6.0% (2025 2.6%)</a:t>
            </a:r>
          </a:p>
          <a:p>
            <a:r>
              <a:t>KIA LV: 5.2% (2025 6.6%)</a:t>
            </a:r>
          </a:p>
          <a:p>
            <a:r>
              <a:t>TOYOTA FLAGSTAFF: 4.9% (2025 3.7%)</a:t>
            </a:r>
          </a:p>
          <a:p>
            <a:r>
              <a:t>SUBARU ST GEORGE: 3.7% (2025 5.3%)</a:t>
            </a:r>
          </a:p>
          <a:p>
            <a:r>
              <a:t>HONDA SPOKANE: 2.2% (2025 0.1%)</a:t>
            </a:r>
          </a:p>
          <a:p>
            <a:r>
              <a:t>LINCOLN: 1.7% (2025 0.0%)</a:t>
            </a:r>
          </a:p>
          <a:p>
            <a:r>
              <a:t>HONDA FLAGSTAFF: 1.3% (2025 0.2%)</a:t>
            </a:r>
          </a:p>
          <a:p>
            <a:r>
              <a:t>CDJR POST FALLS: 1.3% (2025 0.2%)</a:t>
            </a:r>
          </a:p>
          <a:p>
            <a:r>
              <a:t>HYUNDAI ST GEORGE: 1.2% (2025 0.4%)</a:t>
            </a:r>
          </a:p>
          <a:p>
            <a:r>
              <a:t>NISSAN: 1.1% (2025 2.6%)</a:t>
            </a:r>
          </a:p>
          <a:p>
            <a:r>
              <a:t>TOYOTA SPOKANE: 0.5% (2025 0.3%)</a:t>
            </a:r>
          </a:p>
          <a:p>
            <a:r>
              <a:t>VW ST GEORGE: 0.4% (2025 0.7%)</a:t>
            </a:r>
          </a:p>
          <a:p>
            <a:r>
              <a:t>AUDI RENO: 0.1% (2025 0.2%)</a:t>
            </a:r>
          </a:p>
          <a:p>
            <a:r>
              <a:t>LEXUS: 0.1% (2025 0.1%)</a:t>
            </a:r>
          </a:p>
          <a:p>
            <a:r>
              <a:t>AUDI HENDERSON: 0.0% (2025 0.0%)</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Balance %, Jan-Sep 2026 vs 2025, in points. Moving now: Jul-Sep 2026 vs Jan-Mar 2026, each store against itself; the group moved +0.1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BRAKE FLUID % = brake fluid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10% benchmark, red below.</a:t>
            </a:r>
          </a:p>
          <a:p>
            <a:r>
              <a:t>LR LV: 20.7% (2025 15.2%)</a:t>
            </a:r>
          </a:p>
          <a:p>
            <a:r>
              <a:t>HONDA HENDERSON: 15.6% (2025 12.9%)</a:t>
            </a:r>
          </a:p>
          <a:p>
            <a:r>
              <a:t>LR HENDERSON: 14.3% (2025 9.0%)</a:t>
            </a:r>
          </a:p>
          <a:p>
            <a:r>
              <a:t>ACURA: 12.7% (2025 8.6%)</a:t>
            </a:r>
          </a:p>
          <a:p>
            <a:r>
              <a:t>HONDA NORTH: 12.1% (2025 13.1%)</a:t>
            </a:r>
          </a:p>
          <a:p>
            <a:r>
              <a:t>VOLVO: 11.9% (2025 12.1%)</a:t>
            </a:r>
          </a:p>
          <a:p>
            <a:r>
              <a:t>NISSAN: 11.6% (2025 3.8%)</a:t>
            </a:r>
          </a:p>
          <a:p>
            <a:r>
              <a:t>SUBARU ST GEORGE: 10.8% (2025 11.0%)</a:t>
            </a:r>
          </a:p>
          <a:p>
            <a:r>
              <a:t>SUBARU PRESCOTT: 10.6% (2025 6.4%)</a:t>
            </a:r>
          </a:p>
          <a:p>
            <a:r>
              <a:t>HONDA SPOKANE: 10.3% (2025 9.8%)</a:t>
            </a:r>
          </a:p>
          <a:p>
            <a:r>
              <a:t>SUBARU LV: 10.1% (2025 9.3%)</a:t>
            </a:r>
          </a:p>
          <a:p>
            <a:r>
              <a:t>TOYOTA HENDERSON: 10.1% (2025 9.7%)</a:t>
            </a:r>
          </a:p>
          <a:p>
            <a:r>
              <a:t>HYUNDAI PRESCOTT: 9.7% (2025 8.1%)</a:t>
            </a:r>
          </a:p>
          <a:p>
            <a:r>
              <a:t>VW HENDERSON: 9.5% (2025 7.8%)</a:t>
            </a:r>
          </a:p>
          <a:p>
            <a:r>
              <a:t>MAZDA: 8.5% (2025 4.6%)</a:t>
            </a:r>
          </a:p>
          <a:p>
            <a:r>
              <a:t>TOYOTA PRESCOTT: 8.4% (2025 6.1%)</a:t>
            </a:r>
          </a:p>
          <a:p>
            <a:r>
              <a:t>LEXUS: 8.4% (2025 4.9%)</a:t>
            </a:r>
          </a:p>
          <a:p>
            <a:r>
              <a:t>KIA LV: 8.3% (2025 7.2%)</a:t>
            </a:r>
          </a:p>
          <a:p>
            <a:r>
              <a:t>TOYOTA FLAGSTAFF: 8.1% (2025 7.3%)</a:t>
            </a:r>
          </a:p>
          <a:p>
            <a:r>
              <a:t>LINCOLN: 7.5% (2025 2.4%)</a:t>
            </a:r>
          </a:p>
          <a:p>
            <a:r>
              <a:t>LR RENO: 7.2% (2025 2.5%)</a:t>
            </a:r>
          </a:p>
          <a:p>
            <a:r>
              <a:t>CHEVY GMC BULLHEAD: 7.1% (2025 3.8%)</a:t>
            </a:r>
          </a:p>
          <a:p>
            <a:r>
              <a:t>TOYOTA SPOKANE: 7.0% (2025 6.8%)</a:t>
            </a:r>
          </a:p>
          <a:p>
            <a:r>
              <a:t>GMC PRESCOTT: 6.1% (2025 4.6%)</a:t>
            </a:r>
          </a:p>
          <a:p>
            <a:r>
              <a:t>KIA ST GEORGE: 6.0% (2025 3.8%)</a:t>
            </a:r>
          </a:p>
          <a:p>
            <a:r>
              <a:t>CHEVY LV: 5.8% (2025 5.3%)</a:t>
            </a:r>
          </a:p>
          <a:p>
            <a:r>
              <a:t>VW ST GEORGE: 5.4% (2025 4.0%)</a:t>
            </a:r>
          </a:p>
          <a:p>
            <a:r>
              <a:t>HYUNDAI ST GEORGE: 4.7% (2025 1.6%)</a:t>
            </a:r>
          </a:p>
          <a:p>
            <a:r>
              <a:t>CADILLAC: 4.7% (2025 4.1%)</a:t>
            </a:r>
          </a:p>
          <a:p>
            <a:r>
              <a:t>CDJR POST FALLS: 4.2% (2025 6.0%)</a:t>
            </a:r>
          </a:p>
          <a:p>
            <a:r>
              <a:t>HONDA FLAGSTAFF: 3.2% (2025 2.4%)</a:t>
            </a:r>
          </a:p>
          <a:p>
            <a:r>
              <a:t>AUDI HENDERSON: 2.5% (2025 1.8%)</a:t>
            </a:r>
          </a:p>
          <a:p>
            <a:r>
              <a:t>AUDI RENO: 1.9% (2025 0.5%)</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Brake Fluid %, Jan-Sep 2026 vs 2025, in points. Moving now: Jul-Sep 2026 vs Jan-Mar 2026, each store against itself; the group moved +0.0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FUEL SERVICE % = fuel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7.5% benchmark, red below. CHECK OP-CODE MAPPING - under 0.5%: VW HENDERSON, AUDI HENDERSON, VOLVO. Near zero in 2025, so year-over-year gain may be mapping: HONDA SPOKANE, SUBARU ST GEORGE, LR LV, LR RENO.</a:t>
            </a:r>
          </a:p>
          <a:p>
            <a:r>
              <a:t>SUBARU ST GEORGE: 13.8% (2025 0.0%)</a:t>
            </a:r>
          </a:p>
          <a:p>
            <a:r>
              <a:t>HONDA HENDERSON: 12.0% (2025 10.4%)</a:t>
            </a:r>
          </a:p>
          <a:p>
            <a:r>
              <a:t>SUBARU PRESCOTT: 9.8% (2025 5.9%)</a:t>
            </a:r>
          </a:p>
          <a:p>
            <a:r>
              <a:t>ACURA: 9.4% (2025 5.4%)</a:t>
            </a:r>
          </a:p>
          <a:p>
            <a:r>
              <a:t>KIA ST GEORGE: 8.9% (2025 5.6%)</a:t>
            </a:r>
          </a:p>
          <a:p>
            <a:r>
              <a:t>LINCOLN: 8.2% (2025 2.1%)</a:t>
            </a:r>
          </a:p>
          <a:p>
            <a:r>
              <a:t>HONDA NORTH: 7.7% (2025 5.3%)</a:t>
            </a:r>
          </a:p>
          <a:p>
            <a:r>
              <a:t>HYUNDAI PRESCOTT: 7.4% (2025 6.7%)</a:t>
            </a:r>
          </a:p>
          <a:p>
            <a:r>
              <a:t>SUBARU LV: 7.1% (2025 8.2%)</a:t>
            </a:r>
          </a:p>
          <a:p>
            <a:r>
              <a:t>TOYOTA PRESCOTT: 6.5% (2025 5.0%)</a:t>
            </a:r>
          </a:p>
          <a:p>
            <a:r>
              <a:t>TOYOTA HENDERSON: 6.0% (2025 6.1%)</a:t>
            </a:r>
          </a:p>
          <a:p>
            <a:r>
              <a:t>HYUNDAI ST GEORGE: 5.9% (2025 2.4%)</a:t>
            </a:r>
          </a:p>
          <a:p>
            <a:r>
              <a:t>TOYOTA SPOKANE: 5.8% (2025 6.1%)</a:t>
            </a:r>
          </a:p>
          <a:p>
            <a:r>
              <a:t>LR LV: 5.5% (2025 0.2%)</a:t>
            </a:r>
          </a:p>
          <a:p>
            <a:r>
              <a:t>CHEVY LV: 5.3% (2025 4.8%)</a:t>
            </a:r>
          </a:p>
          <a:p>
            <a:r>
              <a:t>MAZDA: 5.2% (2025 1.4%)</a:t>
            </a:r>
          </a:p>
          <a:p>
            <a:r>
              <a:t>CADILLAC: 5.1% (2025 4.4%)</a:t>
            </a:r>
          </a:p>
          <a:p>
            <a:r>
              <a:t>LR RENO: 4.6% (2025 0.0%)</a:t>
            </a:r>
          </a:p>
          <a:p>
            <a:r>
              <a:t>LEXUS: 4.3% (2025 1.9%)</a:t>
            </a:r>
          </a:p>
          <a:p>
            <a:r>
              <a:t>NISSAN: 4.2% (2025 0.8%)</a:t>
            </a:r>
          </a:p>
          <a:p>
            <a:r>
              <a:t>GMC PRESCOTT: 3.6% (2025 3.0%)</a:t>
            </a:r>
          </a:p>
          <a:p>
            <a:r>
              <a:t>HONDA SPOKANE: 3.2% (2025 0.0%)</a:t>
            </a:r>
          </a:p>
          <a:p>
            <a:r>
              <a:t>KIA LV: 3.2% (2025 2.9%)</a:t>
            </a:r>
          </a:p>
          <a:p>
            <a:r>
              <a:t>CDJR POST FALLS: 3.0% (2025 4.0%)</a:t>
            </a:r>
          </a:p>
          <a:p>
            <a:r>
              <a:t>CHEVY GMC BULLHEAD: 2.7% (2025 1.8%)</a:t>
            </a:r>
          </a:p>
          <a:p>
            <a:r>
              <a:t>VW ST GEORGE: 2.7% (2025 2.4%)</a:t>
            </a:r>
          </a:p>
          <a:p>
            <a:r>
              <a:t>LR HENDERSON: 2.6% (2025 2.4%)</a:t>
            </a:r>
          </a:p>
          <a:p>
            <a:r>
              <a:t>TOYOTA FLAGSTAFF: 1.7% (2025 1.7%)</a:t>
            </a:r>
          </a:p>
          <a:p>
            <a:r>
              <a:t>AUDI RENO: 0.8% (2025 0.0%)</a:t>
            </a:r>
          </a:p>
          <a:p>
            <a:r>
              <a:t>HONDA FLAGSTAFF: 0.7% (2025 0.7%)</a:t>
            </a:r>
          </a:p>
          <a:p>
            <a:r>
              <a:t>VW HENDERSON: 0.0% (2025 0.0%)</a:t>
            </a:r>
          </a:p>
          <a:p>
            <a:r>
              <a:t>AUDI HENDERSON: 0.0% (2025 0.0%)</a:t>
            </a:r>
          </a:p>
          <a:p>
            <a:r>
              <a:t>VOLVO: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Fuel Service %, Jan-Sep 2026 vs 2025, in points. Moving now: Jul-Sep 2026 vs Jan-Mar 2026, each store against itself; the group moved −0.3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Alignment: group gross per service $129.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HENDERSON: 14.5%, 326 services short a year x $102/service = $33,148</a:t>
            </a:r>
          </a:p>
          <a:p>
            <a:r>
              <a:t>CHEVY LV: 12.8%, 556 services short a year x $136/service = $75,460</a:t>
            </a:r>
          </a:p>
          <a:p>
            <a:r>
              <a:t>TOYOTA SPOKANE: 4.2%, 2,490 services short a year x $90/service = $225,288</a:t>
            </a:r>
          </a:p>
          <a:p>
            <a:r>
              <a:t>TOYOTA FLAGSTAFF: 9.7%, 1,066 services short a year x $84/service = $89,952</a:t>
            </a:r>
          </a:p>
          <a:p>
            <a:r>
              <a:t>SUBARU LV: 14.5%, 83 services short a year x $117/service = $9,769</a:t>
            </a:r>
          </a:p>
          <a:p>
            <a:r>
              <a:t>TOYOTA PRESCOTT: 12.3%, 478 services short a year x $103/service = $49,384</a:t>
            </a:r>
          </a:p>
          <a:p>
            <a:r>
              <a:t>HONDA SPOKANE: 12.5%, 294 services short a year x $124/service = $36,325</a:t>
            </a:r>
          </a:p>
          <a:p>
            <a:r>
              <a:t>KIA LV: 9.7%, 568 services short a year x $135/service = $76,788</a:t>
            </a:r>
          </a:p>
          <a:p>
            <a:r>
              <a:t>NISSAN: 7.4%, 700 services short a year x $119/service = $83,122</a:t>
            </a:r>
          </a:p>
          <a:p>
            <a:r>
              <a:t>CHEVY GMC BULLHEAD: 11.1%, 324 services short a year x $78/service = $25,354</a:t>
            </a:r>
          </a:p>
          <a:p>
            <a:r>
              <a:t>SUBARU ST GEORGE: 11.0%, 291 services short a year x $78/service = $22,634</a:t>
            </a:r>
          </a:p>
          <a:p>
            <a:r>
              <a:t>CDJR POST FALLS: 4.2%, 770 services short a year x $74/service = $57,157</a:t>
            </a:r>
          </a:p>
          <a:p>
            <a:r>
              <a:t>CADILLAC: 13.8%, 79 services short a year x $115/service = $9,131</a:t>
            </a:r>
          </a:p>
          <a:p>
            <a:r>
              <a:t>VW HENDERSON: 13.6%, 96 services short a year x $245/service = $23,446</a:t>
            </a:r>
          </a:p>
          <a:p>
            <a:r>
              <a:t>SUBARU PRESCOTT: 12.5%, 165 services short a year x $73/service = $12,083</a:t>
            </a:r>
          </a:p>
          <a:p>
            <a:r>
              <a:t>LEXUS: 11.3%, 221 services short a year x $147/service = $32,644</a:t>
            </a:r>
          </a:p>
          <a:p>
            <a:r>
              <a:t>HONDA FLAGSTAFF: 11.0%, 210 services short a year x $100/service = $20,944</a:t>
            </a:r>
          </a:p>
          <a:p>
            <a:r>
              <a:t>KIA ST GEORGE: 8.0%, 365 services short a year x $105/service = $38,212</a:t>
            </a:r>
          </a:p>
          <a:p>
            <a:r>
              <a:t>AUDI RENO: 11.8%, 149 services short a year x $230/service = $34,339</a:t>
            </a:r>
          </a:p>
          <a:p>
            <a:r>
              <a:t>VOLVO: 13.8%, 51 services short a year x $142/service = $7,258</a:t>
            </a:r>
          </a:p>
          <a:p>
            <a:r>
              <a:t>HYUNDAI ST GEORGE: 14.8%, 7 services short a year x $121/service = $865</a:t>
            </a:r>
          </a:p>
          <a:p>
            <a:r>
              <a:t>GMC PRESCOTT: 11.7%, 135 services short a year x $85/service = $11,494</a:t>
            </a:r>
          </a:p>
          <a:p>
            <a:r>
              <a:t>LINCOLN: 8.4%, 230 services short a year x $114/service = $26,302</a:t>
            </a:r>
          </a:p>
          <a:p>
            <a:r>
              <a:t>VW ST GEORGE: 5.6%, 240 services short a year x $74/service = $17,767</a:t>
            </a:r>
          </a:p>
          <a:p>
            <a:r>
              <a:t>LR RENO: 12.8%, 40 services short a year x $259/service = $10,409 (capped; raw $715/service)</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Tire Balance: group gross per service $75.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HENDERSON: 11.2%, 2,671 services short a year x $55/service = $147,351</a:t>
            </a:r>
          </a:p>
          <a:p>
            <a:r>
              <a:t>CHEVY LV: 7.3%, 2,001 services short a year x $53/service = $106,293</a:t>
            </a:r>
          </a:p>
          <a:p>
            <a:r>
              <a:t>TOYOTA SPOKANE: 0.4%, 3,361 services short a year x $53/service = $179,701</a:t>
            </a:r>
          </a:p>
          <a:p>
            <a:r>
              <a:t>TOYOTA FLAGSTAFF: 4.9%, 2,031 services short a year x $54/service = $109,054</a:t>
            </a:r>
          </a:p>
          <a:p>
            <a:r>
              <a:t>HONDA NORTH: 12.0%, 600 services short a year x $64/service = $38,266</a:t>
            </a:r>
          </a:p>
          <a:p>
            <a:r>
              <a:t>SUBARU LV: 10.2%, 909 services short a year x $75/service = $67,808</a:t>
            </a:r>
          </a:p>
          <a:p>
            <a:r>
              <a:t>TOYOTA PRESCOTT: 6.1%, 1,590 services short a year x $83/service = $132,315</a:t>
            </a:r>
          </a:p>
          <a:p>
            <a:r>
              <a:t>HONDA SPOKANE: 2.1%, 1,526 services short a year x $52/service = $80,060</a:t>
            </a:r>
          </a:p>
          <a:p>
            <a:r>
              <a:t>KIA LV: 5.2%, 1,059 services short a year x $68/service = $71,767</a:t>
            </a:r>
          </a:p>
          <a:p>
            <a:r>
              <a:t>NISSAN: 1.0%, 1,296 services short a year x $59/service = $76,668</a:t>
            </a:r>
          </a:p>
          <a:p>
            <a:r>
              <a:t>CHEVY GMC BULLHEAD: 9.0%, 496 services short a year x $42/service = $20,863</a:t>
            </a:r>
          </a:p>
          <a:p>
            <a:r>
              <a:t>MAZDA: 13.1%, 138 services short a year x $79/service = $10,870</a:t>
            </a:r>
          </a:p>
          <a:p>
            <a:r>
              <a:t>SUBARU ST GEORGE: 3.6%, 837 services short a year x $149/service = $124,903 (capped; raw $247/service)</a:t>
            </a:r>
          </a:p>
          <a:p>
            <a:r>
              <a:t>CDJR POST FALLS: 1.2%, 981 services short a year x $75/service = $73,291</a:t>
            </a:r>
          </a:p>
          <a:p>
            <a:r>
              <a:t>CADILLAC: 5.9%, 643 services short a year x $22/service = $14,275</a:t>
            </a:r>
          </a:p>
          <a:p>
            <a:r>
              <a:t>VW HENDERSON: 8.2%, 460 services short a year x $60/service = $27,375</a:t>
            </a:r>
          </a:p>
          <a:p>
            <a:r>
              <a:t>SUBARU PRESCOTT: 14.9%, 1 services short a year x $34/service = $34</a:t>
            </a:r>
          </a:p>
          <a:p>
            <a:r>
              <a:t>LEXUS: 0.0%, 909 services short a year x $75/service (group avg) = $67,832</a:t>
            </a:r>
          </a:p>
          <a:p>
            <a:r>
              <a:t>HONDA FLAGSTAFF: 1.3%, 735 services short a year x $70/service = $51,753</a:t>
            </a:r>
          </a:p>
          <a:p>
            <a:r>
              <a:t>KIA ST GEORGE: 7.7%, 380 services short a year x $48/service = $18,369</a:t>
            </a:r>
          </a:p>
          <a:p>
            <a:r>
              <a:t>AUDI HENDERSON: 0.0%, 754 services short a year x $75/service (group avg) = $56,275</a:t>
            </a:r>
          </a:p>
          <a:p>
            <a:r>
              <a:t>ACURA: 14.1%, 44 services short a year x $64/service = $2,765</a:t>
            </a:r>
          </a:p>
          <a:p>
            <a:r>
              <a:t>AUDI RENO: 0.1%, 696 services short a year x $75/service (group avg) = $51,909</a:t>
            </a:r>
          </a:p>
          <a:p>
            <a:r>
              <a:t>VOLVO: 11.7%, 148 services short a year x $51/service = $7,511</a:t>
            </a:r>
          </a:p>
          <a:p>
            <a:r>
              <a:t>HYUNDAI ST GEORGE: 1.2%, 615 services short a year x $58/service = $35,684</a:t>
            </a:r>
          </a:p>
          <a:p>
            <a:r>
              <a:t>GMC PRESCOTT: 7.7%, 300 services short a year x $90/service = $26,856</a:t>
            </a:r>
          </a:p>
          <a:p>
            <a:r>
              <a:t>LINCOLN: 1.6%, 467 services short a year x $66/service = $30,836</a:t>
            </a:r>
          </a:p>
          <a:p>
            <a:r>
              <a:t>HYUNDAI PRESCOTT: 13.5%, 39 services short a year x $149/service = $5,868 (capped; raw $311/service)</a:t>
            </a:r>
          </a:p>
          <a:p>
            <a:r>
              <a:t>VW ST GEORGE: 0.4%, 373 services short a year x $75/service (group avg) = $27,832</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Brake Fluid: group gross per service $189.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5.7%, 1,093 services short a year x $138/service = $150,836</a:t>
            </a:r>
          </a:p>
          <a:p>
            <a:r>
              <a:t>TOYOTA SPOKANE: 7.0%, 683 services short a year x $117/service = $79,964</a:t>
            </a:r>
          </a:p>
          <a:p>
            <a:r>
              <a:t>TOYOTA FLAGSTAFF: 8.0%, 389 services short a year x $123/service = $47,769</a:t>
            </a:r>
          </a:p>
          <a:p>
            <a:r>
              <a:t>TOYOTA PRESCOTT: 8.4%, 287 services short a year x $112/service = $32,135</a:t>
            </a:r>
          </a:p>
          <a:p>
            <a:r>
              <a:t>KIA LV: 8.2%, 187 services short a year x $120/service = $22,410</a:t>
            </a:r>
          </a:p>
          <a:p>
            <a:r>
              <a:t>CHEVY GMC BULLHEAD: 7.0%, 245 services short a year x $87/service = $21,314</a:t>
            </a:r>
          </a:p>
          <a:p>
            <a:r>
              <a:t>MAZDA: 8.4%, 115 services short a year x $154/service = $17,686</a:t>
            </a:r>
          </a:p>
          <a:p>
            <a:r>
              <a:t>CDJR POST FALLS: 4.2%, 412 services short a year x $128/service = $52,525</a:t>
            </a:r>
          </a:p>
          <a:p>
            <a:r>
              <a:t>CADILLAC: 4.6%, 379 services short a year x $150/service = $56,716</a:t>
            </a:r>
          </a:p>
          <a:p>
            <a:r>
              <a:t>VW HENDERSON: 9.5%, 33 services short a year x $134/service = $4,382</a:t>
            </a:r>
          </a:p>
          <a:p>
            <a:r>
              <a:t>LEXUS: 8.3%, 98 services short a year x $154/service = $15,116</a:t>
            </a:r>
          </a:p>
          <a:p>
            <a:r>
              <a:t>HONDA FLAGSTAFF: 3.1%, 367 services short a year x $184/service = $67,341</a:t>
            </a:r>
          </a:p>
          <a:p>
            <a:r>
              <a:t>KIA ST GEORGE: 5.9%, 211 services short a year x $119/service = $25,037</a:t>
            </a:r>
          </a:p>
          <a:p>
            <a:r>
              <a:t>AUDI HENDERSON: 2.4%, 380 services short a year x $196/service = $74,435</a:t>
            </a:r>
          </a:p>
          <a:p>
            <a:r>
              <a:t>AUDI RENO: 1.9%, 378 services short a year x $206/service = $77,911</a:t>
            </a:r>
          </a:p>
          <a:p>
            <a:r>
              <a:t>HYUNDAI ST GEORGE: 4.7%, 235 services short a year x $134/service = $31,519</a:t>
            </a:r>
          </a:p>
          <a:p>
            <a:r>
              <a:t>GMC PRESCOTT: 6.0%, 162 services short a year x $127/service = $20,618</a:t>
            </a:r>
          </a:p>
          <a:p>
            <a:r>
              <a:t>LINCOLN: 7.5%, 87 services short a year x $126/service = $10,912</a:t>
            </a:r>
          </a:p>
          <a:p>
            <a:r>
              <a:t>HYUNDAI PRESCOTT: 9.6%, 9 services short a year x $354/service = $3,306</a:t>
            </a:r>
          </a:p>
          <a:p>
            <a:r>
              <a:t>VW ST GEORGE: 5.4%, 117 services short a year x $111/service = $13,049</a:t>
            </a:r>
          </a:p>
          <a:p>
            <a:r>
              <a:t>LR RENO: 7.2%, 52 services short a year x $377/service = $19,677 (capped; raw $1,380/service)</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Fuel System Service: group gross per service $165.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HENDERSON: 6.0%, 1,056 services short a year x $122/service = $128,570</a:t>
            </a:r>
          </a:p>
          <a:p>
            <a:r>
              <a:t>CHEVY LV: 5.2%, 585 services short a year x $243/service = $142,290</a:t>
            </a:r>
          </a:p>
          <a:p>
            <a:r>
              <a:t>TOYOTA SPOKANE: 5.8%, 387 services short a year x $145/service = $56,085</a:t>
            </a:r>
          </a:p>
          <a:p>
            <a:r>
              <a:t>TOYOTA FLAGSTAFF: 1.6%, 1,173 services short a year x $93/service = $108,879</a:t>
            </a:r>
          </a:p>
          <a:p>
            <a:r>
              <a:t>SUBARU LV: 7.0%, 78 services short a year x $130/service = $10,205</a:t>
            </a:r>
          </a:p>
          <a:p>
            <a:r>
              <a:t>TOYOTA PRESCOTT: 6.4%, 186 services short a year x $101/service = $18,882</a:t>
            </a:r>
          </a:p>
          <a:p>
            <a:r>
              <a:t>HONDA SPOKANE: 3.2%, 509 services short a year x $147/service = $75,071</a:t>
            </a:r>
          </a:p>
          <a:p>
            <a:r>
              <a:t>KIA LV: 3.2%, 464 services short a year x $163/service = $75,595</a:t>
            </a:r>
          </a:p>
          <a:p>
            <a:r>
              <a:t>NISSAN: 4.1%, 308 services short a year x $206/service = $63,573</a:t>
            </a:r>
          </a:p>
          <a:p>
            <a:r>
              <a:t>CHEVY GMC BULLHEAD: 2.7%, 400 services short a year x $163/service = $65,189</a:t>
            </a:r>
          </a:p>
          <a:p>
            <a:r>
              <a:t>MAZDA: 5.2%, 174 services short a year x $150/service = $26,069</a:t>
            </a:r>
          </a:p>
          <a:p>
            <a:r>
              <a:t>CDJR POST FALLS: 3.0%, 321 services short a year x $192/service = $61,758</a:t>
            </a:r>
          </a:p>
          <a:p>
            <a:r>
              <a:t>CADILLAC: 5.1%, 170 services short a year x $269/service = $45,825</a:t>
            </a:r>
          </a:p>
          <a:p>
            <a:r>
              <a:t>VW HENDERSON: 0.0%, 515 services short a year x $165/service (group avg) = $84,636</a:t>
            </a:r>
          </a:p>
          <a:p>
            <a:r>
              <a:t>LEXUS: 4.2%, 195 services short a year x $128/service = $24,920</a:t>
            </a:r>
          </a:p>
          <a:p>
            <a:r>
              <a:t>HONDA FLAGSTAFF: 0.7%, 364 services short a year x $165/service (group avg) = $59,934</a:t>
            </a:r>
          </a:p>
          <a:p>
            <a:r>
              <a:t>AUDI HENDERSON: 0.0%, 378 services short a year x $165/service (group avg) = $62,165</a:t>
            </a:r>
          </a:p>
          <a:p>
            <a:r>
              <a:t>AUDI RENO: 0.8%, 313 services short a year x $165/service (group avg) = $51,429</a:t>
            </a:r>
          </a:p>
          <a:p>
            <a:r>
              <a:t>LR LV: 5.5%, 92 services short a year x $258/service = $23,832</a:t>
            </a:r>
          </a:p>
          <a:p>
            <a:r>
              <a:t>VOLVO: 0.0%, 340 services short a year x $165/service (group avg) = $55,964</a:t>
            </a:r>
          </a:p>
          <a:p>
            <a:r>
              <a:t>HYUNDAI ST GEORGE: 5.8%, 72 services short a year x $176/service = $12,726</a:t>
            </a:r>
          </a:p>
          <a:p>
            <a:r>
              <a:t>GMC PRESCOTT: 3.6%, 160 services short a year x $133/service = $21,222</a:t>
            </a:r>
          </a:p>
          <a:p>
            <a:r>
              <a:t>HYUNDAI PRESCOTT: 7.3%, 4 services short a year x $329/service = $1,206 (capped; raw $459/service)</a:t>
            </a:r>
          </a:p>
          <a:p>
            <a:r>
              <a:t>VW ST GEORGE: 2.7%, 123 services short a year x $236/service = $28,870</a:t>
            </a:r>
          </a:p>
          <a:p>
            <a:r>
              <a:t>LR HENDERSON: 2.5%, 103 services short a year x $329/service = $33,745 (capped; raw $774/service)</a:t>
            </a:r>
          </a:p>
          <a:p>
            <a:r>
              <a:t>LR RENO: 4.5%, 55 services short a year x $329/service = $18,238 (capped; raw $1,631/service)</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Alignment, tire balance, brake fluid and fuel system service added together. Below = how many of the four benchmarks the store is under. Services = services short a year.TOYOTA SPOKANE: $541,039 a year, 6,921 services, under 4 of 4</a:t>
            </a:r>
          </a:p>
          <a:p>
            <a:r>
              <a:t>CHEVY LV: $474,880 a year, 4,236 services, under 4 of 4</a:t>
            </a:r>
          </a:p>
          <a:p>
            <a:r>
              <a:t>TOYOTA FLAGSTAFF: $355,653 a year, 4,659 services, under 4 of 4</a:t>
            </a:r>
          </a:p>
          <a:p>
            <a:r>
              <a:t>TOYOTA HENDERSON: $309,068 a year, 4,054 services, under 3 of 4</a:t>
            </a:r>
          </a:p>
          <a:p>
            <a:r>
              <a:t>KIA LV: $246,559 a year, 2,278 services, under 4 of 4</a:t>
            </a:r>
          </a:p>
          <a:p>
            <a:r>
              <a:t>CDJR POST FALLS: $244,731 a year, 2,484 services, under 4 of 4</a:t>
            </a:r>
          </a:p>
          <a:p>
            <a:r>
              <a:t>TOYOTA PRESCOTT: $232,717 a year, 2,541 services, under 4 of 4</a:t>
            </a:r>
          </a:p>
          <a:p>
            <a:r>
              <a:t>NISSAN: $223,362 a year, 2,304 services, under 3 of 4</a:t>
            </a:r>
          </a:p>
          <a:p>
            <a:r>
              <a:t>AUDI RENO: $215,588 a year, 1,536 services, under 4 of 4</a:t>
            </a:r>
          </a:p>
          <a:p>
            <a:r>
              <a:t>HONDA FLAGSTAFF: $199,972 a year, 1,676 services, under 4 of 4</a:t>
            </a:r>
          </a:p>
          <a:p>
            <a:r>
              <a:t>AUDI HENDERSON: $192,876 a year, 1,512 services, under 3 of 4</a:t>
            </a:r>
          </a:p>
          <a:p>
            <a:r>
              <a:t>HONDA SPOKANE: $191,456 a year, 2,329 services, under 3 of 4</a:t>
            </a:r>
          </a:p>
          <a:p>
            <a:r>
              <a:t>SUBARU ST GEORGE: $147,537 a year, 1,128 services, under 2 of 4</a:t>
            </a:r>
          </a:p>
          <a:p>
            <a:r>
              <a:t>LEXUS: $140,511 a year, 1,424 services, under 4 of 4</a:t>
            </a:r>
          </a:p>
          <a:p>
            <a:r>
              <a:t>VW HENDERSON: $139,840 a year, 1,103 services, under 4 of 4</a:t>
            </a:r>
          </a:p>
          <a:p>
            <a:r>
              <a:t>CHEVY GMC BULLHEAD: $132,721 a year, 1,466 services, under 4 of 4</a:t>
            </a:r>
          </a:p>
          <a:p>
            <a:r>
              <a:t>CADILLAC: $125,947 a year, 1,273 services, under 4 of 4</a:t>
            </a:r>
          </a:p>
          <a:p>
            <a:r>
              <a:t>SUBARU LV: $87,782 a year, 1,070 services, under 3 of 4</a:t>
            </a:r>
          </a:p>
          <a:p>
            <a:r>
              <a:t>VW ST GEORGE: $87,518 a year, 853 services, under 4 of 4</a:t>
            </a:r>
          </a:p>
          <a:p>
            <a:r>
              <a:t>KIA ST GEORGE: $81,619 a year, 956 services, under 3 of 4</a:t>
            </a:r>
          </a:p>
          <a:p>
            <a:r>
              <a:t>HYUNDAI ST GEORGE: $80,793 a year, 929 services, under 4 of 4</a:t>
            </a:r>
          </a:p>
          <a:p>
            <a:r>
              <a:t>GMC PRESCOTT: $80,190 a year, 757 services, under 4 of 4</a:t>
            </a:r>
          </a:p>
          <a:p>
            <a:r>
              <a:t>VOLVO: $70,733 a year, 540 services, under 3 of 4</a:t>
            </a:r>
          </a:p>
          <a:p>
            <a:r>
              <a:t>LINCOLN: $68,050 a year, 784 services, under 3 of 4</a:t>
            </a:r>
          </a:p>
          <a:p>
            <a:r>
              <a:t>MAZDA: $54,625 a year, 426 services, under 3 of 4</a:t>
            </a:r>
          </a:p>
          <a:p>
            <a:r>
              <a:t>LR RENO: $48,324 a year, 148 services, under 3 of 4</a:t>
            </a:r>
          </a:p>
          <a:p>
            <a:r>
              <a:t>HONDA NORTH: $38,266 a year, 600 services, under 1 of 4</a:t>
            </a:r>
          </a:p>
          <a:p>
            <a:r>
              <a:t>LR HENDERSON: $33,745 a year, 103 services, under 1 of 4</a:t>
            </a:r>
          </a:p>
          <a:p>
            <a:r>
              <a:t>LR LV: $23,832 a year, 92 services, under 1 of 4</a:t>
            </a:r>
          </a:p>
          <a:p>
            <a:r>
              <a:t>SUBARU PRESCOTT: $12,118 a year, 166 services, under 2 of 4</a:t>
            </a:r>
          </a:p>
          <a:p>
            <a:r>
              <a:t>HYUNDAI PRESCOTT: $10,380 a year, 52 services, under 3 of 4</a:t>
            </a:r>
          </a:p>
          <a:p>
            <a:r>
              <a:t>ACURA: $2,765 a year, 44 services, under 1 of 4</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anyone.Talk track: every one of these cars is already on a customer-pay RO in our drive. The inspection and the menu find the need; the advisor presents it.</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Internal ELR,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Top and bottom five stores by change in Internal ELR, Jan-Sep 2026 vs 2025. Moving now: Jul-Sep 2026 vs Jan-Mar 2026, each store against itself; the group moved +$5.20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Jan-Sep 2026 YTD. Green at or above the group, red below. Bars start at 50.0%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Change in Internal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Top and bottom five stores by change in Internal Labor Gross Profit %, Jan-Sep 2026 vs 2025. Moving now: Jul-Sep 2026 vs Jan-Mar 2026, each store against itself; the group moved +0.5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Jan-Sep 2026 YTD. Green at or above the group, red below. Bars start at 20.0%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Change in Internal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Top and bottom five stores by change in Internal Parts Gross Profit %, Jan-Sep 2026 vs 2025. Moving now: Jul-Sep 2026 vs Jan-Mar 2026, each store against itself; the group moved +0.5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Labor Mix section, before the work-type (maintenance / repair / unclassified) slides.</a:t>
            </a:r>
          </a:p>
          <a:p>
            <a:r>
              <a:t>Said: Jan GM slide 19 / May GM slide 15 (Tracking &amp; Accountability); Roundtable slide 16 (Performance Tracking).</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after the section break and before Fixed Gross per Fixed Employee.</a:t>
            </a:r>
          </a:p>
          <a:p>
            <a:r>
              <a:t>Said: Roundtable slide 6 (People); Jan GM slide 57 (Technician Pipeline).</a:t>
            </a:r>
          </a:p>
          <a:p>
            <a:r>
              <a:t>Numbers rebuilt 2026-10-20 on ADP headcount (Employee Master extract 10/19/2026); the Qlik headcount history undercounted 2025.</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before CP &amp; W ROs per Service Advisor.</a:t>
            </a:r>
          </a:p>
          <a:p>
            <a:r>
              <a:t>Said: Jan GM slide 16 / May GM slide 12 (Pay Plans aka Work Instructions).</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Gross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Top and bottom five stores by change in Fixed Gross per Fixed Employee, Jan-Sep 2026 vs 2025. Moving now: Jul-Sep 2026 vs Jan-Mar 2026, each store against itself; the group moved +$1,107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compared with its own segment average a month: luxury $16,998, non-luxury $12,714 (luxury = Lexus, Lincoln, Cadillac, Volvo, Audi Reno, Audi Henderson, LR Reno, LR LV, LR Henderson). Gross/yr = (segment average - store) x the store's average fixed employees x 12. Stores at or above their segment average are not shown. Per emp = the store's fixed gross per fixed employee a month. Seg avg = its segment's average.Framing: gross the team already in the building could produce, not a headcount target. Luxury stores are measured against luxury, non-luxury against non-luxury. Audi Henderson ($23,686) lifts the luxury average; Lincoln ($11,127) sits below even the non-luxury average.</a:t>
            </a:r>
          </a:p>
          <a:p>
            <a:r>
              <a:t>CADILLAC (luxury): $14,260 per employee a month vs $16,998; 74.8 fixed employees; $2,456,862 a year</a:t>
            </a:r>
          </a:p>
          <a:p>
            <a:r>
              <a:t>LINCOLN (luxury): $10,963 per employee a month vs $16,998; 30.2 fixed employees; $2,188,561 a year</a:t>
            </a:r>
          </a:p>
          <a:p>
            <a:r>
              <a:t>CHEVY GMC BULLHEAD (non-luxury): $10,391 per employee a month vs $12,714; 48.4 fixed employees; $1,350,504 a year</a:t>
            </a:r>
          </a:p>
          <a:p>
            <a:r>
              <a:t>CDJR POST FALLS (non-luxury): $9,953 per employee a month vs $12,714; 39.7 fixed employees; $1,314,435 a year</a:t>
            </a:r>
          </a:p>
          <a:p>
            <a:r>
              <a:t>CHEVY LV (non-luxury): $12,042 per employee a month vs $12,714; 152.7 fixed employees; $1,232,343 a year</a:t>
            </a:r>
          </a:p>
          <a:p>
            <a:r>
              <a:t>TOYOTA SPOKANE (non-luxury): $11,128 per employee a month vs $12,714; 59.2 fixed employees; $1,127,104 a year</a:t>
            </a:r>
          </a:p>
          <a:p>
            <a:r>
              <a:t>TOYOTA FLAGSTAFF (non-luxury): $10,794 per employee a month vs $12,714; 46.0 fixed employees; $1,060,118 a year</a:t>
            </a:r>
          </a:p>
          <a:p>
            <a:r>
              <a:t>GMC PRESCOTT (non-luxury): $9,498 per employee a month vs $12,714; 26.6 fixed employees; $1,024,925 a year</a:t>
            </a:r>
          </a:p>
          <a:p>
            <a:r>
              <a:t>TOYOTA PRESCOTT (non-luxury): $11,044 per employee a month vs $12,714; 51.1 fixed employees; $1,024,357 a year</a:t>
            </a:r>
          </a:p>
          <a:p>
            <a:r>
              <a:t>AUDI RENO (luxury): $14,916 per employee a month vs $16,998; 33.2 fixed employees; $830,073 a year</a:t>
            </a:r>
          </a:p>
          <a:p>
            <a:r>
              <a:t>HONDA FLAGSTAFF (non-luxury): $9,149 per employee a month vs $12,714; 19.3 fixed employees; $827,082 a year</a:t>
            </a:r>
          </a:p>
          <a:p>
            <a:r>
              <a:t>NISSAN (non-luxury): $11,957 per employee a month vs $12,714; 44.4 fixed employees; $403,638 a year</a:t>
            </a:r>
          </a:p>
          <a:p>
            <a:r>
              <a:t>VW HENDERSON (non-luxury): $12,006 per employee a month vs $12,714; 44.3 fixed employees; $376,895 a year</a:t>
            </a:r>
          </a:p>
          <a:p>
            <a:r>
              <a:t>VW ST GEORGE (non-luxury): $9,878 per employee a month vs $12,714; 10.9 fixed employees; $370,634 a year</a:t>
            </a:r>
          </a:p>
          <a:p>
            <a:r>
              <a:t>LR RENO (luxury): $15,226 per employee a month vs $16,998; 16.1 fixed employees; $342,526 a year</a:t>
            </a:r>
          </a:p>
          <a:p>
            <a:r>
              <a:t>HYUNDAI ST GEORGE (non-luxury): $11,541 per employee a month vs $12,714; 22.0 fixed employees; $309,678 a year</a:t>
            </a:r>
          </a:p>
          <a:p>
            <a:r>
              <a:t>HYUNDAI PRESCOTT (non-luxury): $11,631 per employee a month vs $12,714; 14.7 fixed employees; $190,674 a year</a:t>
            </a:r>
          </a:p>
          <a:p>
            <a:r>
              <a:t>KIA ST GEORGE (non-luxury): $12,103 per employee a month vs $12,714; 21.4 fixed employees; $157,193 a year</a:t>
            </a:r>
          </a:p>
          <a:p>
            <a:r>
              <a:t>ACURA (non-luxury): $12,364 per employee a month vs $12,714; 26.0 fixed employees; $109,303 a year</a:t>
            </a:r>
          </a:p>
          <a:p>
            <a:r>
              <a:t>SUBARU PRESCOTT (non-luxury): $12,501 per employee a month vs $12,714; 24.0 fixed employees; $61,379 a year</a:t>
            </a:r>
          </a:p>
          <a:p>
            <a:r>
              <a:t>LEXUS (luxury): $16,919 per employee a month vs $16,998; 27.2 fixed employees; $25,739 a year</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is measured against its own number: Target = today + 5%. Gross/yr = 5% x the store's gross per employee x its average fixed employees x 12 (the same staff producing 5% more). Per working day uses 307 days open a year (6 days a week less the 6 service holidays). Today and Target = fixed gross per fixed employee a month.Framing: every store is measured against itself, so an Audi store does not set a Lincoln store's target. 5% is roughly one more customer-pay RO a day for a small store, or a few tenths of an hour per RO.</a:t>
            </a:r>
          </a:p>
          <a:p>
            <a:r>
              <a:t>TOYOTA HENDERSON: $14,174 today -&gt; $14,883 target per employee a month; 177.1 fixed employees; $1,506,225 a year</a:t>
            </a:r>
          </a:p>
          <a:p>
            <a:r>
              <a:t>CHEVY LV: $12,042 today -&gt; $12,644 target per employee a month; 152.7 fixed employees; $1,103,005 a year</a:t>
            </a:r>
          </a:p>
          <a:p>
            <a:r>
              <a:t>HONDA HENDERSON: $16,061 today -&gt; $16,864 target per employee a month; 99.8 fixed employees; $961,535 a year</a:t>
            </a:r>
          </a:p>
          <a:p>
            <a:r>
              <a:t>AUDI HENDERSON: $23,461 today -&gt; $24,634 target per employee a month; 58.4 fixed employees; $822,684 a year</a:t>
            </a:r>
          </a:p>
          <a:p>
            <a:r>
              <a:t>SUBARU LV: $12,874 today -&gt; $13,518 target per employee a month; 87.0 fixed employees; $672,026 a year</a:t>
            </a:r>
          </a:p>
          <a:p>
            <a:r>
              <a:t>CADILLAC: $14,260 today -&gt; $14,973 target per employee a month; 74.8 fixed employees; $639,799 a year</a:t>
            </a:r>
          </a:p>
          <a:p>
            <a:r>
              <a:t>HONDA NORTH: $14,604 today -&gt; $15,334 target per employee a month; 65.6 fixed employees; $574,425 a year</a:t>
            </a:r>
          </a:p>
          <a:p>
            <a:r>
              <a:t>LR LV: $18,148 today -&gt; $19,056 target per employee a month; 40.4 fixed employees; $440,403 a year</a:t>
            </a:r>
          </a:p>
          <a:p>
            <a:r>
              <a:t>KIA LV: $13,289 today -&gt; $13,954 target per employee a month; 51.4 fixed employees; $410,199 a year</a:t>
            </a:r>
          </a:p>
          <a:p>
            <a:r>
              <a:t>TOYOTA SPOKANE: $11,128 today -&gt; $11,685 target per employee a month; 59.2 fixed employees; $395,423 a year</a:t>
            </a:r>
          </a:p>
          <a:p>
            <a:r>
              <a:t>TOYOTA PRESCOTT: $11,044 today -&gt; $11,596 target per employee a month; 51.1 fixed employees; $338,685 a year</a:t>
            </a:r>
          </a:p>
          <a:p>
            <a:r>
              <a:t>VW HENDERSON: $12,006 today -&gt; $12,606 target per employee a month; 44.3 fixed employees; $319,353 a year</a:t>
            </a:r>
          </a:p>
          <a:p>
            <a:r>
              <a:t>NISSAN: $11,957 today -&gt; $12,555 target per employee a month; 44.4 fixed employees; $318,864 a year</a:t>
            </a:r>
          </a:p>
          <a:p>
            <a:r>
              <a:t>CHEVY GMC BULLHEAD: $10,391 today -&gt; $10,911 target per employee a month; 48.4 fixed employees; $302,035 a year</a:t>
            </a:r>
          </a:p>
          <a:p>
            <a:r>
              <a:t>TOYOTA FLAGSTAFF: $10,794 today -&gt; $11,333 target per employee a month; 46.0 fixed employees; $297,906 a year</a:t>
            </a:r>
          </a:p>
          <a:p>
            <a:r>
              <a:t>AUDI RENO: $14,916 today -&gt; $15,662 target per employee a month; 33.2 fixed employees; $297,322 a year</a:t>
            </a:r>
          </a:p>
          <a:p>
            <a:r>
              <a:t>HONDA SPOKANE: $12,871 today -&gt; $13,514 target per employee a month; 36.1 fixed employees; $278,863 a year</a:t>
            </a:r>
          </a:p>
          <a:p>
            <a:r>
              <a:t>LEXUS: $16,919 today -&gt; $17,765 target per employee a month; 27.2 fixed employees; $276,346 a year</a:t>
            </a:r>
          </a:p>
          <a:p>
            <a:r>
              <a:t>VOLVO: $18,549 today -&gt; $19,476 target per employee a month; 23.4 fixed employees; $260,917 a year</a:t>
            </a:r>
          </a:p>
          <a:p>
            <a:r>
              <a:t>CDJR POST FALLS: $9,953 today -&gt; $10,450 target per employee a month; 39.7 fixed employees; $236,877 a year</a:t>
            </a:r>
          </a:p>
          <a:p>
            <a:r>
              <a:t>SUBARU ST GEORGE: $15,556 today -&gt; $16,333 target per employee a month; 25.1 fixed employees; $234,372 a year</a:t>
            </a:r>
          </a:p>
          <a:p>
            <a:r>
              <a:t>LR HENDERSON: $18,268 today -&gt; $19,182 target per employee a month; 20.8 fixed employees; $227,743 a year</a:t>
            </a:r>
          </a:p>
          <a:p>
            <a:r>
              <a:t>MAZDA: $15,966 today -&gt; $16,765 target per employee a month; 23.0 fixed employees; $220,335 a year</a:t>
            </a:r>
          </a:p>
          <a:p>
            <a:r>
              <a:t>LINCOLN: $10,963 today -&gt; $11,511 target per employee a month; 30.2 fixed employees; $198,802 a year</a:t>
            </a:r>
          </a:p>
          <a:p>
            <a:r>
              <a:t>ACURA: $12,364 today -&gt; $12,982 target per employee a month; 26.0 fixed employees; $192,877 a year</a:t>
            </a:r>
          </a:p>
          <a:p>
            <a:r>
              <a:t>SUBARU PRESCOTT: $12,501 today -&gt; $13,126 target per employee a month; 24.0 fixed employees; $180,016 a year</a:t>
            </a:r>
          </a:p>
          <a:p>
            <a:r>
              <a:t>KIA ST GEORGE: $12,103 today -&gt; $12,709 target per employee a month; 21.4 fixed employees; $155,730 a year</a:t>
            </a:r>
          </a:p>
          <a:p>
            <a:r>
              <a:t>HYUNDAI ST GEORGE: $11,541 today -&gt; $12,118 target per employee a month; 22.0 fixed employees; $152,344 a year</a:t>
            </a:r>
          </a:p>
          <a:p>
            <a:r>
              <a:t>GMC PRESCOTT: $9,498 today -&gt; $9,973 target per employee a month; 26.6 fixed employees; $151,334 a year</a:t>
            </a:r>
          </a:p>
          <a:p>
            <a:r>
              <a:t>LR RENO: $15,226 today -&gt; $15,988 target per employee a month; 16.1 fixed employees; $147,187 a year</a:t>
            </a:r>
          </a:p>
          <a:p>
            <a:r>
              <a:t>HONDA FLAGSTAFF: $9,149 today -&gt; $9,607 target per employee a month; 19.3 fixed employees; $106,131 a year</a:t>
            </a:r>
          </a:p>
          <a:p>
            <a:r>
              <a:t>HYUNDAI PRESCOTT: $11,631 today -&gt; $12,212 target per employee a month; 14.7 fixed employees; $102,351 a year</a:t>
            </a:r>
          </a:p>
          <a:p>
            <a:r>
              <a:t>VW ST GEORGE: $9,878 today -&gt; $10,372 target per employee a month; 10.9 fixed employees; $64,535 a year</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Service Advisor,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Top and bottom five stores by change in CP &amp; W ROs per Service Advisor, Jan-Sep 2026 vs 2025. Moving now: Jul-Sep 2026 vs Jan-Mar 2026, each store against itself; the group moved +15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Top and bottom five stores by change in CP &amp; W ROs per Fixed Employee, Jan-Sep 2026 vs 2025. Moving now: Jul-Sep 2026 vs Jan-Mar 2026, each store against itself; the group moved +1.8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Manager,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Top and bottom five stores by change in CP &amp; W ROs per Fixed Manager, Jan-Sep 2026 vs 2025. Moving now: Jul-Sep 2026 vs Jan-Mar 2026, each store against itself; the group moved +38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YTD = average month-end fixed headcount, Jan-Sep. Fixed employees include managers; technicians = service, express, foreman and team-leader titles. 2025 shown January-December.</a:t>
            </a:r>
          </a:p>
          <a:p>
            <a:r>
              <a:t>Jan 25: 1625 fixed, 703 techs, 238 advisors, 117 managers</a:t>
            </a:r>
          </a:p>
          <a:p>
            <a:r>
              <a:t>Feb 25: 1632 fixed, 705 techs, 237 advisors, 116 managers</a:t>
            </a:r>
          </a:p>
          <a:p>
            <a:r>
              <a:t>Mar 25: 1629 fixed, 702 techs, 240 advisors, 116 managers</a:t>
            </a:r>
          </a:p>
          <a:p>
            <a:r>
              <a:t>Apr 25: 1615 fixed, 695 techs, 242 advisors, 111 managers</a:t>
            </a:r>
          </a:p>
          <a:p>
            <a:r>
              <a:t>May 25: 1623 fixed, 699 techs, 250 advisors, 111 managers</a:t>
            </a:r>
          </a:p>
          <a:p>
            <a:r>
              <a:t>Jun 25: 1616 fixed, 695 techs, 247 advisors, 109 managers</a:t>
            </a:r>
          </a:p>
          <a:p>
            <a:r>
              <a:t>Jul 25: 1629 fixed, 705 techs, 247 advisors, 110 managers</a:t>
            </a:r>
          </a:p>
          <a:p>
            <a:r>
              <a:t>Aug 25: 1627 fixed, 701 techs, 251 advisors, 110 managers</a:t>
            </a:r>
          </a:p>
          <a:p>
            <a:r>
              <a:t>Sep 25: 1616 fixed, 701 techs, 248 advisors, 107 managers</a:t>
            </a:r>
          </a:p>
          <a:p>
            <a:r>
              <a:t>Oct 25: 1604 fixed, 688 techs, 249 advisors, 109 managers</a:t>
            </a:r>
          </a:p>
          <a:p>
            <a:r>
              <a:t>Nov 25: 1582 fixed, 685 techs, 247 advisors, 107 managers</a:t>
            </a:r>
          </a:p>
          <a:p>
            <a:r>
              <a:t>Dec 25: 1563 fixed, 674 techs, 249 advisors, 107 managers</a:t>
            </a:r>
          </a:p>
          <a:p>
            <a:r>
              <a:t>Jan 26: 1530 fixed, 657 techs, 248 advisors, 106 managers</a:t>
            </a:r>
          </a:p>
          <a:p>
            <a:r>
              <a:t>Feb 26: 1530 fixed, 670 techs, 245 advisors, 108 managers</a:t>
            </a:r>
          </a:p>
          <a:p>
            <a:r>
              <a:t>Mar 26: 1540 fixed, 669 techs, 252 advisors, 107 managers</a:t>
            </a:r>
          </a:p>
          <a:p>
            <a:r>
              <a:t>Apr 26: 1545 fixed, 687 techs, 250 advisors, 106 managers</a:t>
            </a:r>
          </a:p>
          <a:p>
            <a:r>
              <a:t>May 26: 1537 fixed, 680 techs, 254 advisors, 105 managers</a:t>
            </a:r>
          </a:p>
          <a:p>
            <a:r>
              <a:t>Jun 26: 1546 fixed, 684 techs, 250 advisors, 105 managers</a:t>
            </a:r>
          </a:p>
          <a:p>
            <a:r>
              <a:t>Jul 26: 1548 fixed, 682 techs, 250 advisors, 106 managers</a:t>
            </a:r>
          </a:p>
          <a:p>
            <a:r>
              <a:t>Aug 26: 1549 fixed, 684 techs, 244 advisors, 104 managers</a:t>
            </a:r>
          </a:p>
          <a:p>
            <a:r>
              <a:t>Sep 26: 1540 fixed, 684 techs, 241 advisors, 104 managers</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ops headcount, Sep 2026 vs Sep 2025, most added first. Neutral colour: added staff can be growth or excess.</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Technician Proficiency section, after the section break and before the store proficiency ranker.</a:t>
            </a:r>
          </a:p>
          <a:p>
            <a:r>
              <a:t>Said: Roundtable slide 22 (Technicians &amp; Stalls); Jan GM slide 52 / May GM slide 16 (MPI Completion and Tech Efficiency).</a:t>
            </a:r>
          </a:p>
          <a:p>
            <a:r>
              <a:t>Now: proficiency slides (ADP worked hours + Qlik sold hours, Dec 25-Oct 9, with the foreman 30%, tech 10%, role-change and keying-error rules).</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Technician Proficiency, after the section break, in front of the store ranker.</a:t>
            </a:r>
          </a:p>
          <a:p>
            <a:r>
              <a:t>Proficiency uses ADP worked hours (regular + overtime), so it includes time not on an RO. Efficiency would use DMS time punched on jobs, which this data does not have.</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right after 'What Is Technician Proficiency?'.</a:t>
            </a:r>
          </a:p>
          <a:p>
            <a:r>
              <a:t>Rules as applied on the proficiency slides (Oct 16 2026). Express techs at stores that pool express hours are mostly excluded by the 10% rule.</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Proficiency = sold hours / worked hours, from store totals. Green at or above 85%, red below. Bars start at 40%.ACURA: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Share of each store's technicians by proficiency band (workbook status: Above Target, On Target, Under Target), most above first.ACURA: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Per mo = labor + parts gross. Under 85% = technicians under 85% of all counted. Store = store proficiency.ACURA: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Missed and Gross are per month. Share = missed labor + parts gross / labor + parts gross on the store's closed ROs, all pay types, same dates (includes work on shared tech codes). Not P&amp;L gross: counter and wholesale parts are excluded because techs do not produce them.ACURA: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Top quarter = the store's most proficient quarter of counted technicians (at least one), sold / worked hours combined. Bars capped at 190%.ACURA: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Stores under 85% only. ROs/day = distinct ROs, all pay types, per counted tech per 8 worked hours. Seg avg = luxury 3.0, non-luxury 4.9 (luxury = Lexus, Lincoln, Cadillac, Volvo, Audi Reno, Audi Henderson, LR Reno, LR LV, LR Henderson). Fewer ROs per tech can mean too few cars for the staff or slow techs turning work away; it starts the conversation rather than settling it.ACURA: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12.Talk track: staged parts delivered to the bay (Roundtable: 'Stage parts, deliver and retrieve'), dispatch with the next job ready, fast MPI approvals, tools and keys where they belong. Ten minutes a day is less than two parts-counter trips.</a:t>
            </a:r>
          </a:p>
          <a:p>
            <a:r>
              <a:t>Assumption to say out loud: a minute saved only counts if it turns into flagged time, so the store needs the work waiting.</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 A year = one minute a day for every counted tech at the store, for a year. Per min = gross per tech minute.</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Warranty section, after the section break, ahead of Warranty Rate Increases (Oct 22: $3,788,200 added gross profit from the YTD RWR Financials vendor report replaced the warranty RO count here).</a:t>
            </a:r>
          </a:p>
          <a:p>
            <a:r>
              <a:t>Said: Jan GM slides 13-14 (audit chargebacks; Warranty Compliance). The Jan slide named six stores' chargebacks; kept to the $400,000 total here, in line with no store call-outs from the podium.</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YTD RWR Financials 2026 (warranty rate submission vendor), "YTD revenue secured": the added gross profit from approved increases, as more dollars per warranty labor hour sold or more parts markup. 19 stores have an approval this year; the other 14 have not had one yet. Labor $1,661,368, parts $2,126,832. Honda North uses its labor + parts ($463,396), not the vendor's $463,296 total (Noah, Oct 22: take the higher), so the group is $3,788,200 vs the report's $3,788,100.Talk track: these approvals are new money on every warranty claim, and they are why warranty ELR is up. The factory notices a higher rate too: more money in means more scrutiny. Every claim debited in an audit gives part of it back.</a:t>
            </a:r>
          </a:p>
          <a:p/>
          <a:p>
            <a:r>
              <a:t>Vendor store names: Findlay Acura = ACURA; Findlay Audi Reno Tahoe = AUDI RENO; Findlay BGMC Prescott = GMC PRESCOTT; Findlay Chevrolet = CHEVY LV; Findlay Chrysler Post Falls = CDJR POST FALLS; Findlay Honda Flagstaff = HONDA FLAGSTAFF; Findlay Honda Henderson = HONDA HENDERSON; Findlay Honda North = HONDA NORTH; Findlay Honda Spokane = HONDA SPOKANE; Findlay Hyundai Prescott = HYUNDAI PRESCOTT; Findlay Kia St George = KIA ST GEORGE; Findlay Lexus Spokane = LEXUS; Findlay Lincoln = LINCOLN; Findlay Mazda = MAZDA; Findlay Nissan Henderson = NISSAN; Findlay Subaru Prescott = SUBARU PRESCOTT; Land Rover Henderson = LR HENDERSON; Land Rover Las Vegas = LR LV; Land Rover Reno = LR RENO.</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Warranty labor sale / warranty sold hours.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Warranty labor sale / warranty sold hours.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Warranty ELR,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Warranty labor sale / warranty sold hours. Top and bottom five stores by change in Warranty ELR, Jan-Sep 2026 vs 2025. Moving now: Jul-Sep 2026 vs Jan-Mar 2026, each store against itself; the group moved +$1.73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Warranty pay type, parts gross / parts sale, by close month; 2025 January-December, 2026 January-September. Same-store, INEOS excluded (opened 2026). GMC Prescott body shop labor types excluded. Pulled Oct 22 2026.Example for the rate-increase story. The link to the approvals is the point we are making, not something the data proves on its own: 17 of the 19 stores with approvals got a parts markup increase (vendor YTD report), and warranty parts margin rose in every month. Mix of parts and campaigns also moves this line.</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Causes from Jan 2026 GM meeting slide 13; the two signature causes combined and Supporting evidence added (Noah, Oct 22: some manufacturers require photos of the failed component or proof a procedure was followed). That slide named six stores and their debits; stores are left off here, as on Warranty Compliance. The store amounts on the Jan slide add to $414,000 (headline said $400,000), so the slide says 'over $400,000'.</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Steps from Jan 2026 GM meeting slide 14 (Warranty Compliance); the GM responsibility line from slide 13.</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Distinct warranty ROs: every RO with a warranty line.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Distinct warranty ROs: every RO with a warranty line.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warranty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Distinct warranty ROs: every RO with a warranty line. Top and bottom five stores by change in warranty RO count (percent, so store size does not drive the ranking), Jan-Sep 2026 vs 2025. Moving now: Jul-Sep 2026 vs Jan-Mar 2026, each store against itself (monthly averages); the group moved +9.7%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top LINCOLN $865K → $1.26M; SUBARU PRESCOTT $832K → $1.21M; SUBARU ST GEORGE $1.48M → $1.98M. Bottom CHEVY LV $7.40M → $7.08M; AUDI RENO $3.38M → $2.90M; VW ST GEORGE $702K → $560K.</a:t>
            </a:r>
          </a:p>
          <a:p>
            <a:r>
              <a:t>CP RO Count: top KIA LV 7,156 → 8,133; HYUNDAI PRESCOTT 1,784 → 2,010; GMC PRESCOTT 2,810 → 3,107. Bottom AUDI RENO 4,379 → 3,917; HYUNDAI ST GEORGE 3,784 → 3,349; VW ST GEORGE 2,251 → 1,919.</a:t>
            </a:r>
          </a:p>
          <a:p>
            <a:r>
              <a:t>CP Hours per RO: top HYUNDAI ST GEORGE 1.03 → 1.43; SUBARU ST GEORGE 1.75 → 2.30; KIA ST GEORGE 0.99 → 1.29. Bottom VOLVO 2.58 → 2.28; VW ST GEORGE 1.95 → 1.71; LR RENO 4.04 → 3.48.</a:t>
            </a:r>
          </a:p>
          <a:p>
            <a:r>
              <a:t>CP ELR: top HONDA SPOKANE $117.05 → $143.89; VOLVO $181.59 → $222.12; LINCOLN $139.55 → $167.64. Bottom ACURA $221.78 → $210.50; SUBARU ST GEORGE $148.84 → $138.48; KIA LV $184.36 → $149.23.</a:t>
            </a:r>
          </a:p>
          <a:p>
            <a:r>
              <a:t>CP Parts GP %: top ACURA 38.7% → 44.9%; NISSAN 38.2% → 42.7%; SUBARU PRESCOTT 31.0% → 34.8%. Bottom HYUNDAI PRESCOTT 39.9% → 39.4%; TOYOTA SPOKANE 45.3% → 44.5%; AUDI HENDERSON 35.8% → 33.6%.Source: Qlik - Closed Repair Orders. Customer pay, by close date. Same-store, 33 stores (INEOS excluded, opened 2026). GMC Prescott body shop labor types excluded. CP gross = CP labor gross + CP parts gross. Change is Jan-Sep 2026 vs Jan-Sep 2025. Ranked by percent change (points for parts GP %), so store size does not drive the ranking.</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per Month: top MAZDA $155K → $209K; KIA ST GEORGE $85K → $112K; CDJR POST FALLS $218K → $279K. Bottom SUBARU ST GEORGE $220K → $218K; HONDA HENDERSON $841K → $823K; CADILLAC $317K → $283K.</a:t>
            </a:r>
          </a:p>
          <a:p>
            <a:r>
              <a:t>CP ROs per Month: top LEXUS 425 → 570; CDJR POST FALLS 543 → 667; LR LV 350 → 415. Bottom VW ST GEORGE 207 → 203; HYUNDAI ST GEORGE 377 → 365; CADILLAC 609 → 582.</a:t>
            </a:r>
          </a:p>
          <a:p>
            <a:r>
              <a:t>CP Hours per RO: top MAZDA 1.35 → 1.65; HYUNDAI PRESCOTT 1.56 → 1.76; HYUNDAI ST GEORGE 1.37 → 1.54. Bottom HONDA HENDERSON 2.06 → 1.86; VW HENDERSON 2.66 → 2.37; CADILLAC 2.85 → 2.45.</a:t>
            </a:r>
          </a:p>
          <a:p>
            <a:r>
              <a:t>CP ELR: top VW ST GEORGE $128.27 → $141.89; AUDI RENO $227.34 → $244.12; HONDA SPOKANE $139.40 → $147.93. Bottom SUBARU ST GEORGE $141.07 → $136.71; LEXUS $196.84 → $187.42; ACURA $232.02 → $199.04.</a:t>
            </a:r>
          </a:p>
          <a:p>
            <a:r>
              <a:t>CP Parts GP %: top ACURA 39.4% → 46.6%; VW ST GEORGE 39.1% → 43.8%; GMC PRESCOTT 35.3% → 39.2%. Bottom CHEVY LV 38.2% → 35.0%; LINCOLN 39.9% → 36.0%; HONDA HENDERSON 44.3% → 40.0%.Source: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Left: Jan-Sep 2026 vs Jan-Sep 2025. Right: Q3 2026 vs Q1 2026. Top-5 finishes counted across five measures (parts $ per RO dropped, Oct 23); top six stores shown in each view.</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Each row is the top Q1-to-Q3 mover on that measure. Opcode row: MAZDA tops 3 of the four opcode lists; its biggest move is shown. Opcode closing % = ROs with the service ÷ customer-pay ROs on the op-code report basis.</a:t>
            </a:r>
          </a:p>
          <a:p/>
          <a:p>
            <a:r>
              <a:t>MAZDA's August opcode increase was confirmed with the store as a real change (Noah, Oct 19 2026).</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Labor + parts gross a year, each from its own slide: Technician Proficiency (each tech under 85% raised to 85%, monthly x 12), Hours per RO (0.1 hr x CP ROs at each store's gross per hour), Op Codes (stores under each benchmark brought to it), One More CP RO a Day (307 open days), Tech Minute (one minute per tech per day). Jan-Sep 2026, same-store, 33 stores. The levers overlap - op code services are part of hours per RO, and selling more hours needs tech time - so they are not added together.Talk track: the GM owns the conditions - staffing, pay plans, marketing budget, the parts department. The service manager owns the daily process - dispatch, the inspection, the menu, the drive. Each line has its own slide earlier in the day.</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the close, after the last Productivity / Proficiency slide.</a:t>
            </a:r>
          </a:p>
          <a:p>
            <a:r>
              <a:t>Said: Roundtable slide 24 (Misc &amp; Closing). Commitments tracking was dropped for this meeting, so this asks for commitments without a scorecard.</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Record = Jan-Sep 2026 above every prior Jan-Sep for that store. % = combined gain over the previous best Jan-Sep. Stores with shorter histories count the same: HONDA SPOKANE (from 2025), HYUNDAI PRESCOTT (from 2023), LR HENDERSON (from 2022), NISSAN (from 2024). Order: records in all three first, then by % gain.</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Combined service + parts, Jan-Sep 2026 vs the store's best prior Jan-Sep.</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Combined service + parts, Jan-Sep 2026 vs the store's best prior Jan-Sep.</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Count of times a store set a new all-time monthly high in service, parts or combined gross, Jan-Sep 2026. Each new high counts, so a record beaten twice counts twice.</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Month each record was set, by store:</a:t>
            </a:r>
          </a:p>
          <a:p>
            <a:r>
              <a:t>AUDI HENDERSON: parts record reset once (Jul); combined record reset twice (Apr, Jul).</a:t>
            </a:r>
          </a:p>
          <a:p>
            <a:r>
              <a:t>CDJR POST FALLS: service record reset once (Jul); combined record reset once (Jul).</a:t>
            </a:r>
          </a:p>
          <a:p>
            <a:r>
              <a:t>GMC PRESCOTT: parts record reset once (Apr); combined record reset once (Apr).</a:t>
            </a:r>
          </a:p>
          <a:p>
            <a:r>
              <a:t>HONDA HENDERSON: service record reset 3 times (Mar, Jun, Jul); parts record reset once (Jul); combined record reset 3 times (Mar, Jun, Jul).</a:t>
            </a:r>
          </a:p>
          <a:p>
            <a:r>
              <a:t>HONDA SPOKANE: service record reset 4 times (Mar, Apr, Jun, Jul); parts record reset once (Jul); combined record reset 4 times (Mar, Apr, Jun, Jul).</a:t>
            </a:r>
          </a:p>
          <a:p>
            <a:r>
              <a:t>HYUNDAI PRESCOTT: service record reset twice (Mar, Jul); parts record reset once (Feb); combined record reset 3 times (Feb, Mar, Jul).</a:t>
            </a:r>
          </a:p>
          <a:p>
            <a:r>
              <a:t>HYUNDAI ST GEORGE: service record reset 4 times (Jan, Mar, Jul, Sep).</a:t>
            </a:r>
          </a:p>
          <a:p>
            <a:r>
              <a:t>KIA LV: service record reset once (Sep).</a:t>
            </a:r>
          </a:p>
          <a:p>
            <a:r>
              <a:t>KIA ST GEORGE: service record reset twice (Apr, Jul); parts record reset once (Jul); combined record reset once (Jul).</a:t>
            </a:r>
          </a:p>
          <a:p>
            <a:r>
              <a:t>LEXUS: service record reset twice (Mar, May); parts record reset once (May); combined record reset once (May).</a:t>
            </a:r>
          </a:p>
          <a:p>
            <a:r>
              <a:t>LINCOLN: service record reset twice (Aug, Sep); parts record reset once (Mar); combined record reset 3 times (Mar, Aug, Sep).</a:t>
            </a:r>
          </a:p>
          <a:p>
            <a:r>
              <a:t>LR HENDERSON: service record reset twice (Aug, Sep); parts record reset once (Jul); combined record reset once (Jul).</a:t>
            </a:r>
          </a:p>
          <a:p>
            <a:r>
              <a:t>LR LV: service record reset once (Jul); combined record reset once (Jul).</a:t>
            </a:r>
          </a:p>
          <a:p>
            <a:r>
              <a:t>LR RENO: service record reset once (Aug); combined record reset once (Aug).</a:t>
            </a:r>
          </a:p>
          <a:p>
            <a:r>
              <a:t>MAZDA: service record reset twice (Aug, Sep); parts record reset once (Sep); combined record reset twice (Aug, Sep).</a:t>
            </a:r>
          </a:p>
          <a:p>
            <a:r>
              <a:t>NISSAN: service record reset 3 times (Mar, Jun, Sep); parts record reset twice (Jun, Jul); combined record reset 4 times (Mar, Jun, Jul, Sep).</a:t>
            </a:r>
          </a:p>
          <a:p>
            <a:r>
              <a:t>SUBARU PRESCOTT: combined record reset once (Apr).</a:t>
            </a:r>
          </a:p>
          <a:p>
            <a:r>
              <a:t>SUBARU ST GEORGE: service record reset twice (Jan, Mar); parts record reset 3 times (Mar, Apr, Jun); combined record reset twice (Mar, Jun).</a:t>
            </a:r>
          </a:p>
          <a:p>
            <a:r>
              <a:t>TOYOTA FLAGSTAFF: service record reset 3 times (Mar, Apr, May); combined record reset once (Mar).</a:t>
            </a:r>
          </a:p>
          <a:p>
            <a:r>
              <a:t>TOYOTA HENDERSON: service record reset twice (Apr, Jul); parts record reset 3 times (Jun, Aug, Sep); combined record reset 3 times (Apr, Jun, Jul).</a:t>
            </a:r>
          </a:p>
          <a:p>
            <a:r>
              <a:t>TOYOTA PRESCOTT: service record reset twice (Mar, Apr); parts record reset once (Apr); combined record reset once (Apr).</a:t>
            </a:r>
          </a:p>
          <a:p>
            <a:r>
              <a:t>TOYOTA SPOKANE: service record reset once (Jul); combined record reset once (Jul).</a:t>
            </a:r>
          </a:p>
          <a:p>
            <a:r>
              <a:t>VOLVO: service record reset twice (Apr, Jun).</a:t>
            </a:r>
          </a:p>
          <a:p/>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Count of times a store set a new all-time monthly high, Jan-Sep 2026. SVC = service gross, PTS = parts gross, TOT = service + parts combined. Each new high counts, so a record beaten twice counts twice.</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A -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at or better than the group gap (−2.7 pts), red below. 8 stores run internal at or above customer pay: CADILLAC, CHEVY GMC BULLHEAD, GMC PRESCOTT, HYUNDAI PRESCOTT, HYUNDAI ST GEORGE, KIA LV, KIA ST GEORGE and VW ST GEORGE. A wide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at or better than the group gap (−4.2 pts), red below. 5 stores run internal at or above customer pay: CHEVY LV, HONDA HENDERSON, SUBARU PRESCOTT, TOYOTA HENDERSON and VOLVO. A wide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Photo % (optional on the form) = CP+W ROs with at least one technician photo on the MPI / CP+W ROs closed. Scored against the group. Green at or above the group, red below. 5 stores do not report it (N/A or blank).Optional measure: five stores do not report it, so it is a review slide, not a meeting slide.</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alignment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balance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brake fluid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fuel service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Jan–Sep 2026 vs Jan–Sep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Jul–Sep 2026 vs Jul–Sep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Top-3 finishes counted across six measures in each of two periods (Jan-Sep and Jul-Sep), 12 lists in all. Top 8 stores shown.</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chart" Target="../charts/chart3.xml"/><Relationship Id="rId5" Type="http://schemas.openxmlformats.org/officeDocument/2006/relationships/chart" Target="../charts/chart4.xml"/><Relationship Id="rId6" Type="http://schemas.openxmlformats.org/officeDocument/2006/relationships/chart" Target="../charts/chart5.xml"/><Relationship Id="rId7" Type="http://schemas.openxmlformats.org/officeDocument/2006/relationships/chart" Target="../charts/chart6.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xml"/><Relationship Id="rId3" Type="http://schemas.openxmlformats.org/officeDocument/2006/relationships/chart" Target="../charts/chart8.xml"/><Relationship Id="rId4" Type="http://schemas.openxmlformats.org/officeDocument/2006/relationships/chart" Target="../charts/chart9.xml"/><Relationship Id="rId5" Type="http://schemas.openxmlformats.org/officeDocument/2006/relationships/chart" Target="../charts/chart10.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xml"/><Relationship Id="rId3" Type="http://schemas.openxmlformats.org/officeDocument/2006/relationships/chart" Target="../charts/chart12.xml"/><Relationship Id="rId4" Type="http://schemas.openxmlformats.org/officeDocument/2006/relationships/chart" Target="../charts/chart13.xml"/><Relationship Id="rId5" Type="http://schemas.openxmlformats.org/officeDocument/2006/relationships/chart" Target="../charts/chart14.xml"/><Relationship Id="rId6" Type="http://schemas.openxmlformats.org/officeDocument/2006/relationships/chart" Target="../charts/chart15.xml"/><Relationship Id="rId7" Type="http://schemas.openxmlformats.org/officeDocument/2006/relationships/chart" Target="../charts/chart16.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xml"/><Relationship Id="rId3" Type="http://schemas.openxmlformats.org/officeDocument/2006/relationships/chart" Target="../charts/chart18.xml"/><Relationship Id="rId4" Type="http://schemas.openxmlformats.org/officeDocument/2006/relationships/chart" Target="../charts/chart19.xml"/><Relationship Id="rId5" Type="http://schemas.openxmlformats.org/officeDocument/2006/relationships/chart" Target="../charts/chart20.xml"/><Relationship Id="rId6" Type="http://schemas.openxmlformats.org/officeDocument/2006/relationships/chart" Target="../charts/chart21.xml"/><Relationship Id="rId7" Type="http://schemas.openxmlformats.org/officeDocument/2006/relationships/chart" Target="../charts/chart22.xml"/><Relationship Id="rId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xml"/><Relationship Id="rId3" Type="http://schemas.openxmlformats.org/officeDocument/2006/relationships/chart" Target="../charts/chart24.xml"/><Relationship Id="rId4" Type="http://schemas.openxmlformats.org/officeDocument/2006/relationships/chart" Target="../charts/chart25.xml"/><Relationship Id="rId5" Type="http://schemas.openxmlformats.org/officeDocument/2006/relationships/chart" Target="../charts/chart26.xml"/><Relationship Id="rId6"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7.xml"/><Relationship Id="rId3" Type="http://schemas.openxmlformats.org/officeDocument/2006/relationships/chart" Target="../charts/chart28.xml"/><Relationship Id="rId4" Type="http://schemas.openxmlformats.org/officeDocument/2006/relationships/chart" Target="../charts/chart29.xml"/><Relationship Id="rId5" Type="http://schemas.openxmlformats.org/officeDocument/2006/relationships/chart" Target="../charts/chart30.xml"/><Relationship Id="rId6" Type="http://schemas.openxmlformats.org/officeDocument/2006/relationships/chart" Target="../charts/chart31.xml"/><Relationship Id="rId7" Type="http://schemas.openxmlformats.org/officeDocument/2006/relationships/chart" Target="../charts/chart32.xml"/><Relationship Id="rId8"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3.xml"/><Relationship Id="rId3" Type="http://schemas.openxmlformats.org/officeDocument/2006/relationships/chart" Target="../charts/chart34.xml"/><Relationship Id="rId4" Type="http://schemas.openxmlformats.org/officeDocument/2006/relationships/chart" Target="../charts/chart35.xml"/><Relationship Id="rId5" Type="http://schemas.openxmlformats.org/officeDocument/2006/relationships/chart" Target="../charts/chart36.xml"/><Relationship Id="rId6" Type="http://schemas.openxmlformats.org/officeDocument/2006/relationships/chart" Target="../charts/chart37.xml"/><Relationship Id="rId7" Type="http://schemas.openxmlformats.org/officeDocument/2006/relationships/chart" Target="../charts/chart38.xml"/><Relationship Id="rId8"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9.xml"/><Relationship Id="rId3" Type="http://schemas.openxmlformats.org/officeDocument/2006/relationships/chart" Target="../charts/chart40.xml"/><Relationship Id="rId4" Type="http://schemas.openxmlformats.org/officeDocument/2006/relationships/chart" Target="../charts/chart41.xml"/><Relationship Id="rId5" Type="http://schemas.openxmlformats.org/officeDocument/2006/relationships/chart" Target="../charts/chart42.xml"/><Relationship Id="rId6" Type="http://schemas.openxmlformats.org/officeDocument/2006/relationships/chart" Target="../charts/chart43.xml"/><Relationship Id="rId7" Type="http://schemas.openxmlformats.org/officeDocument/2006/relationships/chart" Target="../charts/chart44.xml"/><Relationship Id="rId8"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5.xml"/><Relationship Id="rId3" Type="http://schemas.openxmlformats.org/officeDocument/2006/relationships/chart" Target="../charts/chart46.xml"/><Relationship Id="rId4" Type="http://schemas.openxmlformats.org/officeDocument/2006/relationships/chart" Target="../charts/chart47.xml"/><Relationship Id="rId5" Type="http://schemas.openxmlformats.org/officeDocument/2006/relationships/chart" Target="../charts/chart48.xml"/><Relationship Id="rId6"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9.xml"/><Relationship Id="rId3" Type="http://schemas.openxmlformats.org/officeDocument/2006/relationships/chart" Target="../charts/chart50.xml"/><Relationship Id="rId4" Type="http://schemas.openxmlformats.org/officeDocument/2006/relationships/chart" Target="../charts/chart51.xml"/><Relationship Id="rId5" Type="http://schemas.openxmlformats.org/officeDocument/2006/relationships/chart" Target="../charts/chart52.xml"/><Relationship Id="rId6" Type="http://schemas.openxmlformats.org/officeDocument/2006/relationships/chart" Target="../charts/chart53.xml"/><Relationship Id="rId7" Type="http://schemas.openxmlformats.org/officeDocument/2006/relationships/chart" Target="../charts/chart54.xml"/><Relationship Id="rId8"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5.xml"/><Relationship Id="rId3" Type="http://schemas.openxmlformats.org/officeDocument/2006/relationships/chart" Target="../charts/chart56.xml"/><Relationship Id="rId4" Type="http://schemas.openxmlformats.org/officeDocument/2006/relationships/chart" Target="../charts/chart57.xml"/><Relationship Id="rId5" Type="http://schemas.openxmlformats.org/officeDocument/2006/relationships/chart" Target="../charts/chart58.xml"/><Relationship Id="rId6"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9.xml"/><Relationship Id="rId3" Type="http://schemas.openxmlformats.org/officeDocument/2006/relationships/chart" Target="../charts/chart60.xml"/><Relationship Id="rId4" Type="http://schemas.openxmlformats.org/officeDocument/2006/relationships/chart" Target="../charts/chart61.xml"/><Relationship Id="rId5" Type="http://schemas.openxmlformats.org/officeDocument/2006/relationships/chart" Target="../charts/chart62.xml"/><Relationship Id="rId6"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3.xml"/><Relationship Id="rId3" Type="http://schemas.openxmlformats.org/officeDocument/2006/relationships/chart" Target="../charts/chart64.xml"/><Relationship Id="rId4" Type="http://schemas.openxmlformats.org/officeDocument/2006/relationships/chart" Target="../charts/chart65.xml"/><Relationship Id="rId5" Type="http://schemas.openxmlformats.org/officeDocument/2006/relationships/chart" Target="../charts/chart66.xml"/><Relationship Id="rId6" Type="http://schemas.openxmlformats.org/officeDocument/2006/relationships/chart" Target="../charts/chart67.xml"/><Relationship Id="rId7" Type="http://schemas.openxmlformats.org/officeDocument/2006/relationships/chart" Target="../charts/chart68.xml"/><Relationship Id="rId8"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9.xml"/><Relationship Id="rId3" Type="http://schemas.openxmlformats.org/officeDocument/2006/relationships/chart" Target="../charts/chart70.xml"/><Relationship Id="rId4" Type="http://schemas.openxmlformats.org/officeDocument/2006/relationships/chart" Target="../charts/chart71.xml"/><Relationship Id="rId5" Type="http://schemas.openxmlformats.org/officeDocument/2006/relationships/chart" Target="../charts/chart72.xml"/><Relationship Id="rId6"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3.xml"/><Relationship Id="rId3" Type="http://schemas.openxmlformats.org/officeDocument/2006/relationships/chart" Target="../charts/chart74.xml"/><Relationship Id="rId4" Type="http://schemas.openxmlformats.org/officeDocument/2006/relationships/chart" Target="../charts/chart75.xml"/><Relationship Id="rId5" Type="http://schemas.openxmlformats.org/officeDocument/2006/relationships/chart" Target="../charts/chart76.xml"/><Relationship Id="rId6"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7.xml"/><Relationship Id="rId3" Type="http://schemas.openxmlformats.org/officeDocument/2006/relationships/chart" Target="../charts/chart78.xml"/><Relationship Id="rId4" Type="http://schemas.openxmlformats.org/officeDocument/2006/relationships/chart" Target="../charts/chart79.xml"/><Relationship Id="rId5" Type="http://schemas.openxmlformats.org/officeDocument/2006/relationships/chart" Target="../charts/chart80.xml"/><Relationship Id="rId6"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1.xml"/><Relationship Id="rId3" Type="http://schemas.openxmlformats.org/officeDocument/2006/relationships/chart" Target="../charts/chart82.xml"/><Relationship Id="rId4" Type="http://schemas.openxmlformats.org/officeDocument/2006/relationships/chart" Target="../charts/chart83.xml"/><Relationship Id="rId5" Type="http://schemas.openxmlformats.org/officeDocument/2006/relationships/chart" Target="../charts/chart84.xml"/><Relationship Id="rId6"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5.xml"/><Relationship Id="rId3" Type="http://schemas.openxmlformats.org/officeDocument/2006/relationships/chart" Target="../charts/chart86.xml"/><Relationship Id="rId4" Type="http://schemas.openxmlformats.org/officeDocument/2006/relationships/chart" Target="../charts/chart87.xml"/><Relationship Id="rId5" Type="http://schemas.openxmlformats.org/officeDocument/2006/relationships/chart" Target="../charts/chart88.xml"/><Relationship Id="rId6"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9.xml"/><Relationship Id="rId3" Type="http://schemas.openxmlformats.org/officeDocument/2006/relationships/chart" Target="../charts/chart90.xml"/><Relationship Id="rId4" Type="http://schemas.openxmlformats.org/officeDocument/2006/relationships/chart" Target="../charts/chart91.xml"/><Relationship Id="rId5" Type="http://schemas.openxmlformats.org/officeDocument/2006/relationships/chart" Target="../charts/chart92.xml"/><Relationship Id="rId6" Type="http://schemas.openxmlformats.org/officeDocument/2006/relationships/chart" Target="../charts/chart93.xml"/><Relationship Id="rId7" Type="http://schemas.openxmlformats.org/officeDocument/2006/relationships/chart" Target="../charts/chart94.xml"/><Relationship Id="rId8"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5.xml"/><Relationship Id="rId3" Type="http://schemas.openxmlformats.org/officeDocument/2006/relationships/chart" Target="../charts/chart96.xml"/><Relationship Id="rId4" Type="http://schemas.openxmlformats.org/officeDocument/2006/relationships/chart" Target="../charts/chart97.xml"/><Relationship Id="rId5" Type="http://schemas.openxmlformats.org/officeDocument/2006/relationships/chart" Target="../charts/chart98.xml"/><Relationship Id="rId6" Type="http://schemas.openxmlformats.org/officeDocument/2006/relationships/chart" Target="../charts/chart99.xml"/><Relationship Id="rId7" Type="http://schemas.openxmlformats.org/officeDocument/2006/relationships/chart" Target="../charts/chart100.xml"/><Relationship Id="rId8"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1.xml"/><Relationship Id="rId3" Type="http://schemas.openxmlformats.org/officeDocument/2006/relationships/chart" Target="../charts/chart102.xml"/><Relationship Id="rId4" Type="http://schemas.openxmlformats.org/officeDocument/2006/relationships/chart" Target="../charts/chart103.xml"/><Relationship Id="rId5" Type="http://schemas.openxmlformats.org/officeDocument/2006/relationships/chart" Target="../charts/chart104.xml"/><Relationship Id="rId6" Type="http://schemas.openxmlformats.org/officeDocument/2006/relationships/chart" Target="../charts/chart105.xml"/><Relationship Id="rId7" Type="http://schemas.openxmlformats.org/officeDocument/2006/relationships/chart" Target="../charts/chart106.xml"/><Relationship Id="rId8"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7.xml"/><Relationship Id="rId3" Type="http://schemas.openxmlformats.org/officeDocument/2006/relationships/chart" Target="../charts/chart108.xml"/><Relationship Id="rId4" Type="http://schemas.openxmlformats.org/officeDocument/2006/relationships/chart" Target="../charts/chart109.xml"/><Relationship Id="rId5" Type="http://schemas.openxmlformats.org/officeDocument/2006/relationships/chart" Target="../charts/chart110.xml"/><Relationship Id="rId6"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1.xml"/><Relationship Id="rId3" Type="http://schemas.openxmlformats.org/officeDocument/2006/relationships/chart" Target="../charts/chart112.xml"/><Relationship Id="rId4" Type="http://schemas.openxmlformats.org/officeDocument/2006/relationships/chart" Target="../charts/chart113.xml"/><Relationship Id="rId5" Type="http://schemas.openxmlformats.org/officeDocument/2006/relationships/chart" Target="../charts/chart114.xml"/><Relationship Id="rId6" Type="http://schemas.openxmlformats.org/officeDocument/2006/relationships/chart" Target="../charts/chart115.xml"/><Relationship Id="rId7" Type="http://schemas.openxmlformats.org/officeDocument/2006/relationships/chart" Target="../charts/chart116.xml"/><Relationship Id="rId8"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7.xml"/><Relationship Id="rId3" Type="http://schemas.openxmlformats.org/officeDocument/2006/relationships/chart" Target="../charts/chart118.xml"/><Relationship Id="rId4" Type="http://schemas.openxmlformats.org/officeDocument/2006/relationships/chart" Target="../charts/chart119.xml"/><Relationship Id="rId5" Type="http://schemas.openxmlformats.org/officeDocument/2006/relationships/chart" Target="../charts/chart120.xml"/><Relationship Id="rId6" Type="http://schemas.openxmlformats.org/officeDocument/2006/relationships/chart" Target="../charts/chart121.xml"/><Relationship Id="rId7" Type="http://schemas.openxmlformats.org/officeDocument/2006/relationships/chart" Target="../charts/chart122.xml"/><Relationship Id="rId8"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3.xml"/><Relationship Id="rId3" Type="http://schemas.openxmlformats.org/officeDocument/2006/relationships/chart" Target="../charts/chart124.xml"/><Relationship Id="rId4" Type="http://schemas.openxmlformats.org/officeDocument/2006/relationships/chart" Target="../charts/chart125.xml"/><Relationship Id="rId5" Type="http://schemas.openxmlformats.org/officeDocument/2006/relationships/chart" Target="../charts/chart126.xml"/><Relationship Id="rId6" Type="http://schemas.openxmlformats.org/officeDocument/2006/relationships/chart" Target="../charts/chart127.xml"/><Relationship Id="rId7" Type="http://schemas.openxmlformats.org/officeDocument/2006/relationships/chart" Target="../charts/chart128.xml"/><Relationship Id="rId8"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9.xml"/><Relationship Id="rId3" Type="http://schemas.openxmlformats.org/officeDocument/2006/relationships/chart" Target="../charts/chart130.xml"/><Relationship Id="rId4" Type="http://schemas.openxmlformats.org/officeDocument/2006/relationships/chart" Target="../charts/chart131.xml"/><Relationship Id="rId5" Type="http://schemas.openxmlformats.org/officeDocument/2006/relationships/chart" Target="../charts/chart132.xml"/><Relationship Id="rId6"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3.xml"/><Relationship Id="rId3" Type="http://schemas.openxmlformats.org/officeDocument/2006/relationships/chart" Target="../charts/chart134.xml"/><Relationship Id="rId4" Type="http://schemas.openxmlformats.org/officeDocument/2006/relationships/chart" Target="../charts/chart135.xml"/><Relationship Id="rId5" Type="http://schemas.openxmlformats.org/officeDocument/2006/relationships/chart" Target="../charts/chart136.xml"/><Relationship Id="rId6"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7.xml"/><Relationship Id="rId3" Type="http://schemas.openxmlformats.org/officeDocument/2006/relationships/chart" Target="../charts/chart138.xml"/><Relationship Id="rId4" Type="http://schemas.openxmlformats.org/officeDocument/2006/relationships/chart" Target="../charts/chart139.xml"/><Relationship Id="rId5" Type="http://schemas.openxmlformats.org/officeDocument/2006/relationships/chart" Target="../charts/chart140.xml"/><Relationship Id="rId6"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1.xml"/><Relationship Id="rId3" Type="http://schemas.openxmlformats.org/officeDocument/2006/relationships/chart" Target="../charts/chart142.xml"/><Relationship Id="rId4" Type="http://schemas.openxmlformats.org/officeDocument/2006/relationships/chart" Target="../charts/chart143.xml"/><Relationship Id="rId5" Type="http://schemas.openxmlformats.org/officeDocument/2006/relationships/chart" Target="../charts/chart144.xml"/><Relationship Id="rId6" Type="http://schemas.openxmlformats.org/officeDocument/2006/relationships/chart" Target="../charts/chart145.xml"/><Relationship Id="rId7" Type="http://schemas.openxmlformats.org/officeDocument/2006/relationships/chart" Target="../charts/chart146.xml"/><Relationship Id="rId8"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7.xml"/><Relationship Id="rId3" Type="http://schemas.openxmlformats.org/officeDocument/2006/relationships/chart" Target="../charts/chart148.xml"/><Relationship Id="rId4" Type="http://schemas.openxmlformats.org/officeDocument/2006/relationships/chart" Target="../charts/chart149.xml"/><Relationship Id="rId5" Type="http://schemas.openxmlformats.org/officeDocument/2006/relationships/chart" Target="../charts/chart150.xml"/><Relationship Id="rId6" Type="http://schemas.openxmlformats.org/officeDocument/2006/relationships/chart" Target="../charts/chart151.xml"/><Relationship Id="rId7" Type="http://schemas.openxmlformats.org/officeDocument/2006/relationships/chart" Target="../charts/chart152.xml"/><Relationship Id="rId8" Type="http://schemas.openxmlformats.org/officeDocument/2006/relationships/chart" Target="../charts/chart153.xml"/><Relationship Id="rId9" Type="http://schemas.openxmlformats.org/officeDocument/2006/relationships/chart" Target="../charts/chart154.xml"/><Relationship Id="rId10" Type="http://schemas.openxmlformats.org/officeDocument/2006/relationships/chart" Target="../charts/chart155.xml"/><Relationship Id="rId11" Type="http://schemas.openxmlformats.org/officeDocument/2006/relationships/chart" Target="../charts/chart156.xml"/><Relationship Id="rId12"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7.xml"/><Relationship Id="rId3" Type="http://schemas.openxmlformats.org/officeDocument/2006/relationships/chart" Target="../charts/chart158.xml"/><Relationship Id="rId4" Type="http://schemas.openxmlformats.org/officeDocument/2006/relationships/chart" Target="../charts/chart159.xml"/><Relationship Id="rId5" Type="http://schemas.openxmlformats.org/officeDocument/2006/relationships/chart" Target="../charts/chart160.xml"/><Relationship Id="rId6" Type="http://schemas.openxmlformats.org/officeDocument/2006/relationships/chart" Target="../charts/chart161.xml"/><Relationship Id="rId7" Type="http://schemas.openxmlformats.org/officeDocument/2006/relationships/chart" Target="../charts/chart162.xml"/><Relationship Id="rId8" Type="http://schemas.openxmlformats.org/officeDocument/2006/relationships/chart" Target="../charts/chart163.xml"/><Relationship Id="rId9" Type="http://schemas.openxmlformats.org/officeDocument/2006/relationships/chart" Target="../charts/chart164.xml"/><Relationship Id="rId10" Type="http://schemas.openxmlformats.org/officeDocument/2006/relationships/chart" Target="../charts/chart165.xml"/><Relationship Id="rId11" Type="http://schemas.openxmlformats.org/officeDocument/2006/relationships/chart" Target="../charts/chart166.xml"/><Relationship Id="rId12"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7.xml"/><Relationship Id="rId3" Type="http://schemas.openxmlformats.org/officeDocument/2006/relationships/chart" Target="../charts/chart168.xml"/><Relationship Id="rId4" Type="http://schemas.openxmlformats.org/officeDocument/2006/relationships/chart" Target="../charts/chart169.xml"/><Relationship Id="rId5" Type="http://schemas.openxmlformats.org/officeDocument/2006/relationships/chart" Target="../charts/chart170.xml"/><Relationship Id="rId6" Type="http://schemas.openxmlformats.org/officeDocument/2006/relationships/chart" Target="../charts/chart171.xml"/><Relationship Id="rId7" Type="http://schemas.openxmlformats.org/officeDocument/2006/relationships/chart" Target="../charts/chart172.xml"/><Relationship Id="rId8" Type="http://schemas.openxmlformats.org/officeDocument/2006/relationships/chart" Target="../charts/chart173.xml"/><Relationship Id="rId9" Type="http://schemas.openxmlformats.org/officeDocument/2006/relationships/chart" Target="../charts/chart174.xml"/><Relationship Id="rId10" Type="http://schemas.openxmlformats.org/officeDocument/2006/relationships/chart" Target="../charts/chart175.xml"/><Relationship Id="rId11" Type="http://schemas.openxmlformats.org/officeDocument/2006/relationships/chart" Target="../charts/chart176.xml"/><Relationship Id="rId12"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7.xml"/><Relationship Id="rId3" Type="http://schemas.openxmlformats.org/officeDocument/2006/relationships/chart" Target="../charts/chart178.xml"/><Relationship Id="rId4" Type="http://schemas.openxmlformats.org/officeDocument/2006/relationships/chart" Target="../charts/chart179.xml"/><Relationship Id="rId5" Type="http://schemas.openxmlformats.org/officeDocument/2006/relationships/chart" Target="../charts/chart180.xml"/><Relationship Id="rId6" Type="http://schemas.openxmlformats.org/officeDocument/2006/relationships/chart" Target="../charts/chart181.xml"/><Relationship Id="rId7" Type="http://schemas.openxmlformats.org/officeDocument/2006/relationships/chart" Target="../charts/chart182.xml"/><Relationship Id="rId8" Type="http://schemas.openxmlformats.org/officeDocument/2006/relationships/chart" Target="../charts/chart183.xml"/><Relationship Id="rId9" Type="http://schemas.openxmlformats.org/officeDocument/2006/relationships/chart" Target="../charts/chart184.xml"/><Relationship Id="rId10" Type="http://schemas.openxmlformats.org/officeDocument/2006/relationships/chart" Target="../charts/chart185.xml"/><Relationship Id="rId11" Type="http://schemas.openxmlformats.org/officeDocument/2006/relationships/chart" Target="../charts/chart186.xml"/><Relationship Id="rId12"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7.xml"/><Relationship Id="rId3" Type="http://schemas.openxmlformats.org/officeDocument/2006/relationships/chart" Target="../charts/chart188.xml"/><Relationship Id="rId4" Type="http://schemas.openxmlformats.org/officeDocument/2006/relationships/chart" Target="../charts/chart189.xml"/><Relationship Id="rId5" Type="http://schemas.openxmlformats.org/officeDocument/2006/relationships/chart" Target="../charts/chart190.xml"/><Relationship Id="rId6" Type="http://schemas.openxmlformats.org/officeDocument/2006/relationships/chart" Target="../charts/chart191.xml"/><Relationship Id="rId7" Type="http://schemas.openxmlformats.org/officeDocument/2006/relationships/chart" Target="../charts/chart192.xml"/><Relationship Id="rId8" Type="http://schemas.openxmlformats.org/officeDocument/2006/relationships/chart" Target="../charts/chart193.xml"/><Relationship Id="rId9" Type="http://schemas.openxmlformats.org/officeDocument/2006/relationships/chart" Target="../charts/chart194.xml"/><Relationship Id="rId10" Type="http://schemas.openxmlformats.org/officeDocument/2006/relationships/chart" Target="../charts/chart195.xml"/><Relationship Id="rId11" Type="http://schemas.openxmlformats.org/officeDocument/2006/relationships/chart" Target="../charts/chart196.xml"/><Relationship Id="rId12"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97.xml"/><Relationship Id="rId3" Type="http://schemas.openxmlformats.org/officeDocument/2006/relationships/chart" Target="../charts/chart198.xml"/><Relationship Id="rId4" Type="http://schemas.openxmlformats.org/officeDocument/2006/relationships/chart" Target="../charts/chart199.xml"/><Relationship Id="rId5" Type="http://schemas.openxmlformats.org/officeDocument/2006/relationships/chart" Target="../charts/chart200.xml"/><Relationship Id="rId6" Type="http://schemas.openxmlformats.org/officeDocument/2006/relationships/chart" Target="../charts/chart201.xml"/><Relationship Id="rId7" Type="http://schemas.openxmlformats.org/officeDocument/2006/relationships/chart" Target="../charts/chart202.xml"/><Relationship Id="rId8" Type="http://schemas.openxmlformats.org/officeDocument/2006/relationships/chart" Target="../charts/chart203.xml"/><Relationship Id="rId9" Type="http://schemas.openxmlformats.org/officeDocument/2006/relationships/chart" Target="../charts/chart204.xml"/><Relationship Id="rId10" Type="http://schemas.openxmlformats.org/officeDocument/2006/relationships/chart" Target="../charts/chart205.xml"/><Relationship Id="rId11" Type="http://schemas.openxmlformats.org/officeDocument/2006/relationships/chart" Target="../charts/chart206.xml"/><Relationship Id="rId12"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7.xml"/><Relationship Id="rId3" Type="http://schemas.openxmlformats.org/officeDocument/2006/relationships/chart" Target="../charts/chart208.xml"/><Relationship Id="rId4" Type="http://schemas.openxmlformats.org/officeDocument/2006/relationships/chart" Target="../charts/chart209.xml"/><Relationship Id="rId5" Type="http://schemas.openxmlformats.org/officeDocument/2006/relationships/chart" Target="../charts/chart210.xml"/><Relationship Id="rId6" Type="http://schemas.openxmlformats.org/officeDocument/2006/relationships/chart" Target="../charts/chart211.xml"/><Relationship Id="rId7"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12.xml"/><Relationship Id="rId3" Type="http://schemas.openxmlformats.org/officeDocument/2006/relationships/chart" Target="../charts/chart213.xml"/><Relationship Id="rId4" Type="http://schemas.openxmlformats.org/officeDocument/2006/relationships/chart" Target="../charts/chart214.xml"/><Relationship Id="rId5" Type="http://schemas.openxmlformats.org/officeDocument/2006/relationships/chart" Target="../charts/chart215.xml"/><Relationship Id="rId6" Type="http://schemas.openxmlformats.org/officeDocument/2006/relationships/chart" Target="../charts/chart216.xml"/><Relationship Id="rId7"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17.xml"/><Relationship Id="rId3" Type="http://schemas.openxmlformats.org/officeDocument/2006/relationships/chart" Target="../charts/chart218.xml"/><Relationship Id="rId4" Type="http://schemas.openxmlformats.org/officeDocument/2006/relationships/chart" Target="../charts/chart219.xml"/><Relationship Id="rId5" Type="http://schemas.openxmlformats.org/officeDocument/2006/relationships/chart" Target="../charts/chart220.xml"/><Relationship Id="rId6" Type="http://schemas.openxmlformats.org/officeDocument/2006/relationships/chart" Target="../charts/chart221.xml"/><Relationship Id="rId7"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2.xml"/><Relationship Id="rId3" Type="http://schemas.openxmlformats.org/officeDocument/2006/relationships/chart" Target="../charts/chart223.xml"/><Relationship Id="rId4" Type="http://schemas.openxmlformats.org/officeDocument/2006/relationships/chart" Target="../charts/chart224.xml"/><Relationship Id="rId5" Type="http://schemas.openxmlformats.org/officeDocument/2006/relationships/chart" Target="../charts/chart225.xml"/><Relationship Id="rId6" Type="http://schemas.openxmlformats.org/officeDocument/2006/relationships/chart" Target="../charts/chart226.xml"/><Relationship Id="rId7"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7.xml"/><Relationship Id="rId3" Type="http://schemas.openxmlformats.org/officeDocument/2006/relationships/chart" Target="../charts/chart228.xml"/><Relationship Id="rId4" Type="http://schemas.openxmlformats.org/officeDocument/2006/relationships/chart" Target="../charts/chart229.xml"/><Relationship Id="rId5" Type="http://schemas.openxmlformats.org/officeDocument/2006/relationships/chart" Target="../charts/chart230.xml"/><Relationship Id="rId6" Type="http://schemas.openxmlformats.org/officeDocument/2006/relationships/chart" Target="../charts/chart231.xml"/><Relationship Id="rId7"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2.xml"/><Relationship Id="rId3" Type="http://schemas.openxmlformats.org/officeDocument/2006/relationships/chart" Target="../charts/chart233.xml"/><Relationship Id="rId4" Type="http://schemas.openxmlformats.org/officeDocument/2006/relationships/chart" Target="../charts/chart234.xml"/><Relationship Id="rId5" Type="http://schemas.openxmlformats.org/officeDocument/2006/relationships/chart" Target="../charts/chart235.xml"/><Relationship Id="rId6" Type="http://schemas.openxmlformats.org/officeDocument/2006/relationships/chart" Target="../charts/chart236.xml"/><Relationship Id="rId7"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7.xml"/><Relationship Id="rId3" Type="http://schemas.openxmlformats.org/officeDocument/2006/relationships/chart" Target="../charts/chart238.xml"/><Relationship Id="rId4" Type="http://schemas.openxmlformats.org/officeDocument/2006/relationships/chart" Target="../charts/chart239.xml"/><Relationship Id="rId5" Type="http://schemas.openxmlformats.org/officeDocument/2006/relationships/chart" Target="../charts/chart240.xml"/><Relationship Id="rId6" Type="http://schemas.openxmlformats.org/officeDocument/2006/relationships/chart" Target="../charts/chart241.xml"/><Relationship Id="rId7"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2.xml"/><Relationship Id="rId3" Type="http://schemas.openxmlformats.org/officeDocument/2006/relationships/chart" Target="../charts/chart243.xml"/><Relationship Id="rId4" Type="http://schemas.openxmlformats.org/officeDocument/2006/relationships/chart" Target="../charts/chart244.xml"/><Relationship Id="rId5" Type="http://schemas.openxmlformats.org/officeDocument/2006/relationships/chart" Target="../charts/chart245.xml"/><Relationship Id="rId6" Type="http://schemas.openxmlformats.org/officeDocument/2006/relationships/chart" Target="../charts/chart246.xml"/><Relationship Id="rId7"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7.xml"/><Relationship Id="rId3" Type="http://schemas.openxmlformats.org/officeDocument/2006/relationships/chart" Target="../charts/chart248.xml"/><Relationship Id="rId4" Type="http://schemas.openxmlformats.org/officeDocument/2006/relationships/chart" Target="../charts/chart249.xml"/><Relationship Id="rId5" Type="http://schemas.openxmlformats.org/officeDocument/2006/relationships/chart" Target="../charts/chart250.xml"/><Relationship Id="rId6" Type="http://schemas.openxmlformats.org/officeDocument/2006/relationships/chart" Target="../charts/chart251.xml"/><Relationship Id="rId7"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8.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9.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2194560" cy="667512"/>
          </a:xfrm>
          <a:prstGeom prst="rect">
            <a:avLst/>
          </a:prstGeom>
        </p:spPr>
      </p:pic>
      <p:sp>
        <p:nvSpPr>
          <p:cNvPr id="3" name="Text 0"/>
          <p:cNvSpPr txBox="1"/>
          <p:nvPr/>
        </p:nvSpPr>
        <p:spPr>
          <a:xfrm>
            <a:off x="667512" y="2377440"/>
            <a:ext cx="10789920" cy="1737360"/>
          </a:xfrm>
          <a:prstGeom prst="rect">
            <a:avLst/>
          </a:prstGeom>
          <a:noFill/>
          <a:ln/>
        </p:spPr>
        <p:txBody>
          <a:bodyPr wrap="square" lIns="0" tIns="0" rIns="0" bIns="0" rtlCol="0" anchor="ctr"/>
          <a:lstStyle/>
          <a:p>
            <a:pPr indent="0" marL="0">
              <a:buNone/>
            </a:pPr>
            <a:r>
              <a:rPr lang="en-US" sz="6200" b="1" dirty="0">
                <a:solidFill>
                  <a:srgbClr val="1A1A1A"/>
                </a:solidFill>
                <a:latin typeface="Inter" pitchFamily="34" charset="0"/>
                <a:ea typeface="Inter" pitchFamily="34" charset="-122"/>
                <a:cs typeface="Inter" pitchFamily="34" charset="-120"/>
              </a:rPr>
              <a:t>Fixed Operations</a:t>
            </a:r>
            <a:endParaRPr lang="en-US" sz="6200" dirty="0"/>
          </a:p>
        </p:txBody>
      </p:sp>
      <p:sp>
        <p:nvSpPr>
          <p:cNvPr id="4" name="Shape 1"/>
          <p:cNvSpPr/>
          <p:nvPr/>
        </p:nvSpPr>
        <p:spPr>
          <a:xfrm>
            <a:off x="713232" y="4224528"/>
            <a:ext cx="1371600" cy="50292"/>
          </a:xfrm>
          <a:prstGeom prst="rect">
            <a:avLst/>
          </a:prstGeom>
          <a:solidFill>
            <a:srgbClr val="2587C5"/>
          </a:solidFill>
          <a:ln/>
        </p:spPr>
      </p:sp>
      <p:sp>
        <p:nvSpPr>
          <p:cNvPr id="5" name="Text 2"/>
          <p:cNvSpPr txBox="1"/>
          <p:nvPr/>
        </p:nvSpPr>
        <p:spPr>
          <a:xfrm>
            <a:off x="694944" y="4462272"/>
            <a:ext cx="10789920" cy="457200"/>
          </a:xfrm>
          <a:prstGeom prst="rect">
            <a:avLst/>
          </a:prstGeom>
          <a:noFill/>
          <a:ln/>
        </p:spPr>
        <p:txBody>
          <a:bodyPr wrap="square" lIns="0" tIns="0" rIns="0" bIns="0" rtlCol="0" anchor="ctr"/>
          <a:lstStyle/>
          <a:p>
            <a:pPr indent="0" marL="0">
              <a:buNone/>
            </a:pPr>
            <a:r>
              <a:rPr lang="en-US" sz="2600" dirty="0">
                <a:solidFill>
                  <a:srgbClr val="2587C5"/>
                </a:solidFill>
                <a:latin typeface="Inter" pitchFamily="34" charset="0"/>
                <a:ea typeface="Inter" pitchFamily="34" charset="-122"/>
                <a:cs typeface="Inter" pitchFamily="34" charset="-120"/>
              </a:rPr>
              <a:t>Day 2  ·  General Managers &amp; Service Managers  ·  October 29, 2026</a:t>
            </a:r>
            <a:endParaRPr lang="en-US" sz="2600" dirty="0"/>
          </a:p>
        </p:txBody>
      </p:sp>
      <p:sp>
        <p:nvSpPr>
          <p:cNvPr id="6" name="Text 3"/>
          <p:cNvSpPr txBox="1"/>
          <p:nvPr/>
        </p:nvSpPr>
        <p:spPr>
          <a:xfrm>
            <a:off x="694944" y="4956048"/>
            <a:ext cx="10789920" cy="411480"/>
          </a:xfrm>
          <a:prstGeom prst="rect">
            <a:avLst/>
          </a:prstGeom>
          <a:noFill/>
          <a:ln/>
        </p:spPr>
        <p:txBody>
          <a:bodyPr wrap="square" lIns="0" tIns="0" rIns="0" bIns="0" rtlCol="0" anchor="ctr"/>
          <a:lstStyle/>
          <a:p>
            <a:pPr indent="0" marL="0">
              <a:buNone/>
            </a:pPr>
            <a:r>
              <a:rPr lang="en-US" sz="2000" dirty="0">
                <a:solidFill>
                  <a:srgbClr val="595959"/>
                </a:solidFill>
                <a:latin typeface="Inter" pitchFamily="34" charset="0"/>
                <a:ea typeface="Inter" pitchFamily="34" charset="-122"/>
                <a:cs typeface="Inter" pitchFamily="34" charset="-120"/>
              </a:rPr>
              <a:t>South Point, Las Vegas</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DAY 2 · GENERAL MANAGERS &amp; SERVICE MANAGERS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Agenda</a:t>
            </a:r>
            <a:endParaRPr lang="en-US" sz="2800" dirty="0"/>
          </a:p>
        </p:txBody>
      </p:sp>
      <p:sp>
        <p:nvSpPr>
          <p:cNvPr id="5" name="Shape 3"/>
          <p:cNvSpPr/>
          <p:nvPr/>
        </p:nvSpPr>
        <p:spPr>
          <a:xfrm>
            <a:off x="457200" y="1207008"/>
            <a:ext cx="5586984" cy="1195578"/>
          </a:xfrm>
          <a:prstGeom prst="rect">
            <a:avLst/>
          </a:prstGeom>
          <a:solidFill>
            <a:srgbClr val="FFFFFF"/>
          </a:solidFill>
          <a:ln/>
        </p:spPr>
      </p:sp>
      <p:sp>
        <p:nvSpPr>
          <p:cNvPr id="6" name="Shape 4"/>
          <p:cNvSpPr/>
          <p:nvPr/>
        </p:nvSpPr>
        <p:spPr>
          <a:xfrm>
            <a:off x="457200" y="1207008"/>
            <a:ext cx="50292" cy="1195578"/>
          </a:xfrm>
          <a:prstGeom prst="rect">
            <a:avLst/>
          </a:prstGeom>
          <a:solidFill>
            <a:srgbClr val="2587C5"/>
          </a:solidFill>
          <a:ln/>
        </p:spPr>
      </p:sp>
      <p:sp>
        <p:nvSpPr>
          <p:cNvPr id="7" name="Text 5"/>
          <p:cNvSpPr txBox="1"/>
          <p:nvPr/>
        </p:nvSpPr>
        <p:spPr>
          <a:xfrm>
            <a:off x="694944"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01</a:t>
            </a:r>
            <a:endParaRPr lang="en-US" sz="2000" dirty="0"/>
          </a:p>
        </p:txBody>
      </p:sp>
      <p:sp>
        <p:nvSpPr>
          <p:cNvPr id="8" name="Text 6"/>
          <p:cNvSpPr txBox="1"/>
          <p:nvPr/>
        </p:nvSpPr>
        <p:spPr>
          <a:xfrm>
            <a:off x="1371600"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9" name="Text 7"/>
          <p:cNvSpPr txBox="1"/>
          <p:nvPr/>
        </p:nvSpPr>
        <p:spPr>
          <a:xfrm>
            <a:off x="3703320"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Fixed ops, service and parts gross, and the store records.</a:t>
            </a:r>
            <a:endParaRPr lang="en-US" sz="1400" dirty="0"/>
          </a:p>
        </p:txBody>
      </p:sp>
      <p:sp>
        <p:nvSpPr>
          <p:cNvPr id="10" name="Shape 8"/>
          <p:cNvSpPr/>
          <p:nvPr/>
        </p:nvSpPr>
        <p:spPr>
          <a:xfrm>
            <a:off x="457200" y="2494026"/>
            <a:ext cx="5586984" cy="1195578"/>
          </a:xfrm>
          <a:prstGeom prst="rect">
            <a:avLst/>
          </a:prstGeom>
          <a:solidFill>
            <a:srgbClr val="FFFFFF"/>
          </a:solidFill>
          <a:ln/>
        </p:spPr>
      </p:sp>
      <p:sp>
        <p:nvSpPr>
          <p:cNvPr id="11" name="Shape 9"/>
          <p:cNvSpPr/>
          <p:nvPr/>
        </p:nvSpPr>
        <p:spPr>
          <a:xfrm>
            <a:off x="457200" y="2494026"/>
            <a:ext cx="50292" cy="1195578"/>
          </a:xfrm>
          <a:prstGeom prst="rect">
            <a:avLst/>
          </a:prstGeom>
          <a:solidFill>
            <a:srgbClr val="2587C5"/>
          </a:solidFill>
          <a:ln/>
        </p:spPr>
      </p:sp>
      <p:sp>
        <p:nvSpPr>
          <p:cNvPr id="12" name="Text 10"/>
          <p:cNvSpPr txBox="1"/>
          <p:nvPr/>
        </p:nvSpPr>
        <p:spPr>
          <a:xfrm>
            <a:off x="694944"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02</a:t>
            </a:r>
            <a:endParaRPr lang="en-US" sz="2000" dirty="0"/>
          </a:p>
        </p:txBody>
      </p:sp>
      <p:sp>
        <p:nvSpPr>
          <p:cNvPr id="13" name="Text 11"/>
          <p:cNvSpPr txBox="1"/>
          <p:nvPr/>
        </p:nvSpPr>
        <p:spPr>
          <a:xfrm>
            <a:off x="1371600"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4" name="Text 12"/>
          <p:cNvSpPr txBox="1"/>
          <p:nvPr/>
        </p:nvSpPr>
        <p:spPr>
          <a:xfrm>
            <a:off x="3703320"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Absorption and net to gross.</a:t>
            </a:r>
            <a:endParaRPr lang="en-US" sz="1400" dirty="0"/>
          </a:p>
        </p:txBody>
      </p:sp>
      <p:sp>
        <p:nvSpPr>
          <p:cNvPr id="15" name="Shape 13"/>
          <p:cNvSpPr/>
          <p:nvPr/>
        </p:nvSpPr>
        <p:spPr>
          <a:xfrm>
            <a:off x="457200" y="3781044"/>
            <a:ext cx="5586984" cy="1195578"/>
          </a:xfrm>
          <a:prstGeom prst="rect">
            <a:avLst/>
          </a:prstGeom>
          <a:solidFill>
            <a:srgbClr val="FFFFFF"/>
          </a:solidFill>
          <a:ln/>
        </p:spPr>
      </p:sp>
      <p:sp>
        <p:nvSpPr>
          <p:cNvPr id="16" name="Shape 14"/>
          <p:cNvSpPr/>
          <p:nvPr/>
        </p:nvSpPr>
        <p:spPr>
          <a:xfrm>
            <a:off x="457200" y="3781044"/>
            <a:ext cx="50292" cy="1195578"/>
          </a:xfrm>
          <a:prstGeom prst="rect">
            <a:avLst/>
          </a:prstGeom>
          <a:solidFill>
            <a:srgbClr val="2587C5"/>
          </a:solidFill>
          <a:ln/>
        </p:spPr>
      </p:sp>
      <p:sp>
        <p:nvSpPr>
          <p:cNvPr id="17" name="Text 15"/>
          <p:cNvSpPr txBox="1"/>
          <p:nvPr/>
        </p:nvSpPr>
        <p:spPr>
          <a:xfrm>
            <a:off x="694944"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03</a:t>
            </a:r>
            <a:endParaRPr lang="en-US" sz="2000" dirty="0"/>
          </a:p>
        </p:txBody>
      </p:sp>
      <p:sp>
        <p:nvSpPr>
          <p:cNvPr id="18" name="Text 16"/>
          <p:cNvSpPr txBox="1"/>
          <p:nvPr/>
        </p:nvSpPr>
        <p:spPr>
          <a:xfrm>
            <a:off x="1371600"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9" name="Text 17"/>
          <p:cNvSpPr txBox="1"/>
          <p:nvPr/>
        </p:nvSpPr>
        <p:spPr>
          <a:xfrm>
            <a:off x="3703320"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ROs, hours per RO, pricing and labor mix, rate and margin.</a:t>
            </a:r>
            <a:endParaRPr lang="en-US" sz="1400" dirty="0"/>
          </a:p>
        </p:txBody>
      </p:sp>
      <p:sp>
        <p:nvSpPr>
          <p:cNvPr id="20" name="Shape 18"/>
          <p:cNvSpPr/>
          <p:nvPr/>
        </p:nvSpPr>
        <p:spPr>
          <a:xfrm>
            <a:off x="457200" y="5068062"/>
            <a:ext cx="5586984" cy="1195578"/>
          </a:xfrm>
          <a:prstGeom prst="rect">
            <a:avLst/>
          </a:prstGeom>
          <a:solidFill>
            <a:srgbClr val="FFFFFF"/>
          </a:solidFill>
          <a:ln/>
        </p:spPr>
      </p:sp>
      <p:sp>
        <p:nvSpPr>
          <p:cNvPr id="21" name="Shape 19"/>
          <p:cNvSpPr/>
          <p:nvPr/>
        </p:nvSpPr>
        <p:spPr>
          <a:xfrm>
            <a:off x="457200" y="5068062"/>
            <a:ext cx="50292" cy="1195578"/>
          </a:xfrm>
          <a:prstGeom prst="rect">
            <a:avLst/>
          </a:prstGeom>
          <a:solidFill>
            <a:srgbClr val="2587C5"/>
          </a:solidFill>
          <a:ln/>
        </p:spPr>
      </p:sp>
      <p:sp>
        <p:nvSpPr>
          <p:cNvPr id="22" name="Text 20"/>
          <p:cNvSpPr txBox="1"/>
          <p:nvPr/>
        </p:nvSpPr>
        <p:spPr>
          <a:xfrm>
            <a:off x="694944"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04</a:t>
            </a:r>
            <a:endParaRPr lang="en-US" sz="2000" dirty="0"/>
          </a:p>
        </p:txBody>
      </p:sp>
      <p:sp>
        <p:nvSpPr>
          <p:cNvPr id="23" name="Text 21"/>
          <p:cNvSpPr txBox="1"/>
          <p:nvPr/>
        </p:nvSpPr>
        <p:spPr>
          <a:xfrm>
            <a:off x="1371600"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 Benchmarks</a:t>
            </a:r>
            <a:endParaRPr lang="en-US" sz="1700" dirty="0"/>
          </a:p>
        </p:txBody>
      </p:sp>
      <p:sp>
        <p:nvSpPr>
          <p:cNvPr id="24" name="Text 22"/>
          <p:cNvSpPr txBox="1"/>
          <p:nvPr/>
        </p:nvSpPr>
        <p:spPr>
          <a:xfrm>
            <a:off x="3703320"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MPI and video, then alignment, balance, brake fluid and fuel.</a:t>
            </a:r>
            <a:endParaRPr lang="en-US" sz="1400" dirty="0"/>
          </a:p>
        </p:txBody>
      </p:sp>
      <p:sp>
        <p:nvSpPr>
          <p:cNvPr id="25" name="Shape 23"/>
          <p:cNvSpPr/>
          <p:nvPr/>
        </p:nvSpPr>
        <p:spPr>
          <a:xfrm>
            <a:off x="6144768" y="1207008"/>
            <a:ext cx="5586984" cy="1195578"/>
          </a:xfrm>
          <a:prstGeom prst="rect">
            <a:avLst/>
          </a:prstGeom>
          <a:solidFill>
            <a:srgbClr val="FFFFFF"/>
          </a:solidFill>
          <a:ln/>
        </p:spPr>
      </p:sp>
      <p:sp>
        <p:nvSpPr>
          <p:cNvPr id="26" name="Shape 24"/>
          <p:cNvSpPr/>
          <p:nvPr/>
        </p:nvSpPr>
        <p:spPr>
          <a:xfrm>
            <a:off x="6144768" y="1207008"/>
            <a:ext cx="50292" cy="1195578"/>
          </a:xfrm>
          <a:prstGeom prst="rect">
            <a:avLst/>
          </a:prstGeom>
          <a:solidFill>
            <a:srgbClr val="2587C5"/>
          </a:solidFill>
          <a:ln/>
        </p:spPr>
      </p:sp>
      <p:sp>
        <p:nvSpPr>
          <p:cNvPr id="27" name="Text 25"/>
          <p:cNvSpPr txBox="1"/>
          <p:nvPr/>
        </p:nvSpPr>
        <p:spPr>
          <a:xfrm>
            <a:off x="6382512"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05</a:t>
            </a:r>
            <a:endParaRPr lang="en-US" sz="2000" dirty="0"/>
          </a:p>
        </p:txBody>
      </p:sp>
      <p:sp>
        <p:nvSpPr>
          <p:cNvPr id="28" name="Text 26"/>
          <p:cNvSpPr txBox="1"/>
          <p:nvPr/>
        </p:nvSpPr>
        <p:spPr>
          <a:xfrm>
            <a:off x="7059168"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Labor Mix</a:t>
            </a:r>
            <a:endParaRPr lang="en-US" sz="1700" dirty="0"/>
          </a:p>
        </p:txBody>
      </p:sp>
      <p:sp>
        <p:nvSpPr>
          <p:cNvPr id="29" name="Text 27"/>
          <p:cNvSpPr txBox="1"/>
          <p:nvPr/>
        </p:nvSpPr>
        <p:spPr>
          <a:xfrm>
            <a:off x="9390888"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Internal labor rate and margin, then tracking and accountability.</a:t>
            </a:r>
            <a:endParaRPr lang="en-US" sz="1400" dirty="0"/>
          </a:p>
        </p:txBody>
      </p:sp>
      <p:sp>
        <p:nvSpPr>
          <p:cNvPr id="30" name="Shape 28"/>
          <p:cNvSpPr/>
          <p:nvPr/>
        </p:nvSpPr>
        <p:spPr>
          <a:xfrm>
            <a:off x="6144768" y="2494026"/>
            <a:ext cx="5586984" cy="1195578"/>
          </a:xfrm>
          <a:prstGeom prst="rect">
            <a:avLst/>
          </a:prstGeom>
          <a:solidFill>
            <a:srgbClr val="FFFFFF"/>
          </a:solidFill>
          <a:ln/>
        </p:spPr>
      </p:sp>
      <p:sp>
        <p:nvSpPr>
          <p:cNvPr id="31" name="Shape 29"/>
          <p:cNvSpPr/>
          <p:nvPr/>
        </p:nvSpPr>
        <p:spPr>
          <a:xfrm>
            <a:off x="6144768" y="2494026"/>
            <a:ext cx="50292" cy="1195578"/>
          </a:xfrm>
          <a:prstGeom prst="rect">
            <a:avLst/>
          </a:prstGeom>
          <a:solidFill>
            <a:srgbClr val="2587C5"/>
          </a:solidFill>
          <a:ln/>
        </p:spPr>
      </p:sp>
      <p:sp>
        <p:nvSpPr>
          <p:cNvPr id="32" name="Text 30"/>
          <p:cNvSpPr txBox="1"/>
          <p:nvPr/>
        </p:nvSpPr>
        <p:spPr>
          <a:xfrm>
            <a:off x="6382512"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06</a:t>
            </a:r>
            <a:endParaRPr lang="en-US" sz="2000" dirty="0"/>
          </a:p>
        </p:txBody>
      </p:sp>
      <p:sp>
        <p:nvSpPr>
          <p:cNvPr id="33" name="Text 31"/>
          <p:cNvSpPr txBox="1"/>
          <p:nvPr/>
        </p:nvSpPr>
        <p:spPr>
          <a:xfrm>
            <a:off x="7059168"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34" name="Text 32"/>
          <p:cNvSpPr txBox="1"/>
          <p:nvPr/>
        </p:nvSpPr>
        <p:spPr>
          <a:xfrm>
            <a:off x="9390888"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Gross per employee, headcount and technician proficiency.</a:t>
            </a:r>
            <a:endParaRPr lang="en-US" sz="1400" dirty="0"/>
          </a:p>
        </p:txBody>
      </p:sp>
      <p:sp>
        <p:nvSpPr>
          <p:cNvPr id="35" name="Shape 33"/>
          <p:cNvSpPr/>
          <p:nvPr/>
        </p:nvSpPr>
        <p:spPr>
          <a:xfrm>
            <a:off x="6144768" y="3781044"/>
            <a:ext cx="5586984" cy="1195578"/>
          </a:xfrm>
          <a:prstGeom prst="rect">
            <a:avLst/>
          </a:prstGeom>
          <a:solidFill>
            <a:srgbClr val="FFFFFF"/>
          </a:solidFill>
          <a:ln/>
        </p:spPr>
      </p:sp>
      <p:sp>
        <p:nvSpPr>
          <p:cNvPr id="36" name="Shape 34"/>
          <p:cNvSpPr/>
          <p:nvPr/>
        </p:nvSpPr>
        <p:spPr>
          <a:xfrm>
            <a:off x="6144768" y="3781044"/>
            <a:ext cx="50292" cy="1195578"/>
          </a:xfrm>
          <a:prstGeom prst="rect">
            <a:avLst/>
          </a:prstGeom>
          <a:solidFill>
            <a:srgbClr val="2587C5"/>
          </a:solidFill>
          <a:ln/>
        </p:spPr>
      </p:sp>
      <p:sp>
        <p:nvSpPr>
          <p:cNvPr id="37" name="Text 35"/>
          <p:cNvSpPr txBox="1"/>
          <p:nvPr/>
        </p:nvSpPr>
        <p:spPr>
          <a:xfrm>
            <a:off x="6382512"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07</a:t>
            </a:r>
            <a:endParaRPr lang="en-US" sz="2000" dirty="0"/>
          </a:p>
        </p:txBody>
      </p:sp>
      <p:sp>
        <p:nvSpPr>
          <p:cNvPr id="38" name="Text 36"/>
          <p:cNvSpPr txBox="1"/>
          <p:nvPr/>
        </p:nvSpPr>
        <p:spPr>
          <a:xfrm>
            <a:off x="7059168"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39" name="Text 37"/>
          <p:cNvSpPr txBox="1"/>
          <p:nvPr/>
        </p:nvSpPr>
        <p:spPr>
          <a:xfrm>
            <a:off x="9390888"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Rate increases, warranty rate and parts margin, audits and compliance.</a:t>
            </a:r>
            <a:endParaRPr lang="en-US" sz="1400" dirty="0"/>
          </a:p>
        </p:txBody>
      </p:sp>
      <p:sp>
        <p:nvSpPr>
          <p:cNvPr id="40" name="Shape 38"/>
          <p:cNvSpPr/>
          <p:nvPr/>
        </p:nvSpPr>
        <p:spPr>
          <a:xfrm>
            <a:off x="6144768" y="5068062"/>
            <a:ext cx="5586984" cy="1195578"/>
          </a:xfrm>
          <a:prstGeom prst="rect">
            <a:avLst/>
          </a:prstGeom>
          <a:solidFill>
            <a:srgbClr val="FFFFFF"/>
          </a:solidFill>
          <a:ln/>
        </p:spPr>
      </p:sp>
      <p:sp>
        <p:nvSpPr>
          <p:cNvPr id="41" name="Shape 39"/>
          <p:cNvSpPr/>
          <p:nvPr/>
        </p:nvSpPr>
        <p:spPr>
          <a:xfrm>
            <a:off x="6144768" y="5068062"/>
            <a:ext cx="50292" cy="1195578"/>
          </a:xfrm>
          <a:prstGeom prst="rect">
            <a:avLst/>
          </a:prstGeom>
          <a:solidFill>
            <a:srgbClr val="2587C5"/>
          </a:solidFill>
          <a:ln/>
        </p:spPr>
      </p:sp>
      <p:sp>
        <p:nvSpPr>
          <p:cNvPr id="42" name="Text 40"/>
          <p:cNvSpPr txBox="1"/>
          <p:nvPr/>
        </p:nvSpPr>
        <p:spPr>
          <a:xfrm>
            <a:off x="6382512"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08</a:t>
            </a:r>
            <a:endParaRPr lang="en-US" sz="2000" dirty="0"/>
          </a:p>
        </p:txBody>
      </p:sp>
      <p:sp>
        <p:nvSpPr>
          <p:cNvPr id="43" name="Text 41"/>
          <p:cNvSpPr txBox="1"/>
          <p:nvPr/>
        </p:nvSpPr>
        <p:spPr>
          <a:xfrm>
            <a:off x="7059168"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
        <p:nvSpPr>
          <p:cNvPr id="44" name="Text 42"/>
          <p:cNvSpPr txBox="1"/>
          <p:nvPr/>
        </p:nvSpPr>
        <p:spPr>
          <a:xfrm>
            <a:off x="9390888"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changed, where the money is, and commitments.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01</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Gross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Fixed ops   ·   Service   ·   Parts</a:t>
            </a:r>
            <a:endParaRPr lang="en-US" sz="2200" dirty="0"/>
          </a:p>
        </p:txBody>
      </p:sp>
      <p:sp>
        <p:nvSpPr>
          <p:cNvPr id="6" name="Shape 3"/>
          <p:cNvSpPr/>
          <p:nvPr/>
        </p:nvSpPr>
        <p:spPr>
          <a:xfrm>
            <a:off x="685800" y="4983480"/>
            <a:ext cx="1956816" cy="91440"/>
          </a:xfrm>
          <a:prstGeom prst="rect">
            <a:avLst/>
          </a:prstGeom>
          <a:solidFill>
            <a:srgbClr val="2587C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D9D9D9"/>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02</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Profitability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Absorption   ·   Service net to gross   ·   Parts net to gross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91440"/>
          </a:xfrm>
          <a:prstGeom prst="rect">
            <a:avLst/>
          </a:prstGeom>
          <a:solidFill>
            <a:srgbClr val="2587C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03</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Customer Pay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ROs   ·   Hours per RO   ·   Pricing &amp; mix   ·   ELR   ·   $ per RO   ·   Margin</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91440"/>
          </a:xfrm>
          <a:prstGeom prst="rect">
            <a:avLst/>
          </a:prstGeom>
          <a:solidFill>
            <a:srgbClr val="2587C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04</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Opcode Benchmarks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MPI 90%   ·   Alignment 15%   ·   Balance 15%   ·   Brake fluid 10%   ·   Fuel 7.5%</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91440"/>
          </a:xfrm>
          <a:prstGeom prst="rect">
            <a:avLst/>
          </a:prstGeom>
          <a:solidFill>
            <a:srgbClr val="2587C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05</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Labor Mix</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Internal ELR   ·   Internal labor GP %   ·   Internal parts GP %   ·   Tracking</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91440"/>
          </a:xfrm>
          <a:prstGeom prst="rect">
            <a:avLst/>
          </a:prstGeom>
          <a:solidFill>
            <a:srgbClr val="2587C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Labor Mix</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06</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Productivity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Gross per employee   ·   ROs per person   ·   Headcount   ·   Technician proficiency</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6" name="Shape 13"/>
          <p:cNvSpPr/>
          <p:nvPr/>
        </p:nvSpPr>
        <p:spPr>
          <a:xfrm>
            <a:off x="685800" y="5696712"/>
            <a:ext cx="1956816" cy="91440"/>
          </a:xfrm>
          <a:prstGeom prst="rect">
            <a:avLst/>
          </a:prstGeom>
          <a:solidFill>
            <a:srgbClr val="2587C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07</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Warranty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Rate increases   ·   Warranty ELR   ·   Parts margin   ·   Warranty audits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91440"/>
          </a:xfrm>
          <a:prstGeom prst="rect">
            <a:avLst/>
          </a:prstGeom>
          <a:solidFill>
            <a:srgbClr val="2587C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08</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Close</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Most improved   ·   Where the money is   ·   Before you leave</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5B9BD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91440"/>
          </a:xfrm>
          <a:prstGeom prst="rect">
            <a:avLst/>
          </a:prstGeom>
          <a:solidFill>
            <a:srgbClr val="2587C5"/>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NOT PRESENTED · FOR REVIEW</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Open Decisions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Store records   ·   Door rate   ·   CP vs internal   ·   Photo %   ·   Who's moving now   ·   Most improved</a:t>
            </a:r>
            <a:endParaRPr lang="en-US" sz="22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Why We Are Here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Foster collaboration, introduce ideas that drive operational excellence, and set a clear path to exceptional service performance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Focus on profit-generating activities: the work that brings in incremental dollars, not just the work that fills the day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Work on the business, not just in it: step out of the daily fires long enough to fix the process behind them</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No risk of judgement: your success is our success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Customer first, company second, team third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You get what you tolerate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Leverage the power in this room: collaboration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+$7,468,567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up 4.1% year to date. 25 of 33 stores grew.</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absorption, up 2.1 pts. Fixed gross grew 4.1%, fixed expenses 1.3%.</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21.8%</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net to gross, up 2.9 pts and ahead of 2025 in all nine months.</a:t>
            </a:r>
            <a:endParaRPr lang="en-US" sz="1400" dirty="0"/>
          </a:p>
        </p:txBody>
      </p:sp>
      <p:sp>
        <p:nvSpPr>
          <p:cNvPr id="19" name="Shape 17"/>
          <p:cNvSpPr/>
          <p:nvPr/>
        </p:nvSpPr>
        <p:spPr>
          <a:xfrm>
            <a:off x="457200" y="6126480"/>
            <a:ext cx="11274552" cy="615696"/>
          </a:xfrm>
          <a:prstGeom prst="rect">
            <a:avLst/>
          </a:prstGeom>
          <a:solidFill>
            <a:srgbClr val="E6F6EE"/>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The ask: leave today with one or two things you will put in place before year end, and tell the room what they are.</a:t>
            </a:r>
            <a:endParaRPr lang="en-US" sz="16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Is Sales 2.0</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Sell hours, build value, sell peace of mind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visits: don't say no to dollars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Generate throughput: max out hours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retention and sell cars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Sales sells the first car. Service sells the next six.</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+$6,297,386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gross, up 5.2%, ahead of 2025 in all nine months.</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+$1,171,181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Parts gross, up 1.9%, but parts net to gross slipped 0.4 pts to 36.7%.</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$20.59M</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a month over the last twelve months.</a:t>
            </a:r>
            <a:endParaRPr lang="en-US" sz="1400" dirty="0"/>
          </a:p>
        </p:txBody>
      </p:sp>
      <p:sp>
        <p:nvSpPr>
          <p:cNvPr id="19" name="Shape 17"/>
          <p:cNvSpPr/>
          <p:nvPr/>
        </p:nvSpPr>
        <p:spPr>
          <a:xfrm>
            <a:off x="457200" y="6126480"/>
            <a:ext cx="11274552" cy="348996"/>
          </a:xfrm>
          <a:prstGeom prst="rect">
            <a:avLst/>
          </a:prstGeom>
          <a:solidFill>
            <a:srgbClr val="EDF4FA"/>
          </a:solidFill>
          <a:ln/>
        </p:spPr>
      </p:sp>
      <p:sp>
        <p:nvSpPr>
          <p:cNvPr id="20" name="Text 18"/>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The ask: run service like a sales department: every visit is a chance to sell the next hour and the next car.</a:t>
            </a:r>
            <a:endParaRPr lang="en-US" sz="145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Fixed Ops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service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What each department keeps after the cost of what it sold: labor sale less technician cost, parts sale less parts cost.</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JAN–SEP 2026</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Service  </a:t>
            </a:r>
            <a:pPr algn="ctr" indent="0" marL="0">
              <a:buNone/>
            </a:pPr>
            <a:r>
              <a:rPr lang="en-US" sz="1400" b="1" dirty="0">
                <a:solidFill>
                  <a:srgbClr val="0B2C4A"/>
                </a:solidFill>
                <a:latin typeface="Inter" pitchFamily="34" charset="0"/>
                <a:ea typeface="Inter" pitchFamily="34" charset="-122"/>
                <a:cs typeface="Inter" pitchFamily="34" charset="-120"/>
              </a:rPr>
              <a:t>$126.87M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Parts  </a:t>
            </a:r>
            <a:pPr algn="ctr" indent="0" marL="0">
              <a:buNone/>
            </a:pPr>
            <a:r>
              <a:rPr lang="en-US" sz="1400" b="1" dirty="0">
                <a:solidFill>
                  <a:srgbClr val="0B2C4A"/>
                </a:solidFill>
                <a:latin typeface="Inter" pitchFamily="34" charset="0"/>
                <a:ea typeface="Inter" pitchFamily="34" charset="-122"/>
                <a:cs typeface="Inter" pitchFamily="34" charset="-120"/>
              </a:rPr>
              <a:t>$61.93M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Fixed ops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HOW EACH IS BUILT</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earns only on labor hours sold: the labor sale less what the technician is paid for the job.</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sold on a service RO are parts gross, not service gross, even when an advisor sells them.</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Both include customer pay, warranty and internal work.</a:t>
            </a:r>
            <a:endParaRPr lang="en-US" sz="1500" dirty="0"/>
          </a:p>
        </p:txBody>
      </p:sp>
      <p:sp>
        <p:nvSpPr>
          <p:cNvPr id="20" name="Shape 18"/>
          <p:cNvSpPr/>
          <p:nvPr/>
        </p:nvSpPr>
        <p:spPr>
          <a:xfrm>
            <a:off x="5138928" y="3410712"/>
            <a:ext cx="45720" cy="1420837"/>
          </a:xfrm>
          <a:prstGeom prst="rect">
            <a:avLst/>
          </a:prstGeom>
          <a:solidFill>
            <a:srgbClr val="2587C5"/>
          </a:solidFill>
          <a:ln/>
        </p:spPr>
      </p:sp>
      <p:sp>
        <p:nvSpPr>
          <p:cNvPr id="21" name="Text 19"/>
          <p:cNvSpPr txBox="1"/>
          <p:nvPr/>
        </p:nvSpPr>
        <p:spPr>
          <a:xfrm>
            <a:off x="5266944" y="3410712"/>
            <a:ext cx="2962656" cy="142083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labor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Hours sold times the rate collected (ELR)</a:t>
            </a:r>
            <a:endParaRPr lang="en-US" sz="1400" dirty="0"/>
          </a:p>
        </p:txBody>
      </p:sp>
      <p:sp>
        <p:nvSpPr>
          <p:cNvPr id="22" name="Shape 20"/>
          <p:cNvSpPr/>
          <p:nvPr/>
        </p:nvSpPr>
        <p:spPr>
          <a:xfrm>
            <a:off x="8394192" y="3410712"/>
            <a:ext cx="45720" cy="1420837"/>
          </a:xfrm>
          <a:prstGeom prst="rect">
            <a:avLst/>
          </a:prstGeom>
          <a:solidFill>
            <a:srgbClr val="2587C5"/>
          </a:solidFill>
          <a:ln/>
        </p:spPr>
      </p:sp>
      <p:sp>
        <p:nvSpPr>
          <p:cNvPr id="23" name="Text 21"/>
          <p:cNvSpPr txBox="1"/>
          <p:nvPr/>
        </p:nvSpPr>
        <p:spPr>
          <a:xfrm>
            <a:off x="8522208" y="3410712"/>
            <a:ext cx="2962656" cy="142083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technician cost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 on the RO. Hourly pay, guarantees and bonuses paid off the RO are unapplied labor: not on the RO, but they lower gross</a:t>
            </a:r>
            <a:endParaRPr lang="en-US" sz="1400" dirty="0"/>
          </a:p>
        </p:txBody>
      </p:sp>
      <p:sp>
        <p:nvSpPr>
          <p:cNvPr id="24" name="Shape 22"/>
          <p:cNvSpPr/>
          <p:nvPr/>
        </p:nvSpPr>
        <p:spPr>
          <a:xfrm>
            <a:off x="5138928" y="4941277"/>
            <a:ext cx="45720" cy="846875"/>
          </a:xfrm>
          <a:prstGeom prst="rect">
            <a:avLst/>
          </a:prstGeom>
          <a:solidFill>
            <a:srgbClr val="2587C5"/>
          </a:solidFill>
          <a:ln/>
        </p:spPr>
      </p:sp>
      <p:sp>
        <p:nvSpPr>
          <p:cNvPr id="25" name="Text 23"/>
          <p:cNvSpPr txBox="1"/>
          <p:nvPr/>
        </p:nvSpPr>
        <p:spPr>
          <a:xfrm>
            <a:off x="5266944" y="4941277"/>
            <a:ext cx="2962656" cy="84687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on the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Customer pay, warranty and internal parts sold through service</a:t>
            </a:r>
            <a:endParaRPr lang="en-US" sz="1400" dirty="0"/>
          </a:p>
        </p:txBody>
      </p:sp>
      <p:sp>
        <p:nvSpPr>
          <p:cNvPr id="26" name="Shape 24"/>
          <p:cNvSpPr/>
          <p:nvPr/>
        </p:nvSpPr>
        <p:spPr>
          <a:xfrm>
            <a:off x="8394192" y="4941277"/>
            <a:ext cx="45720" cy="846875"/>
          </a:xfrm>
          <a:prstGeom prst="rect">
            <a:avLst/>
          </a:prstGeom>
          <a:solidFill>
            <a:srgbClr val="2587C5"/>
          </a:solidFill>
          <a:ln/>
        </p:spPr>
      </p:sp>
      <p:sp>
        <p:nvSpPr>
          <p:cNvPr id="27" name="Text 25"/>
          <p:cNvSpPr txBox="1"/>
          <p:nvPr/>
        </p:nvSpPr>
        <p:spPr>
          <a:xfrm>
            <a:off x="8522208" y="4941277"/>
            <a:ext cx="2962656" cy="84687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over the counter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Counter retail, wholesale, tires and oil</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$188.80M fixed ops gross Jan–Sep 2026, up $7.47M (4.1%): service +$6.30M, parts +$1.17M.</a:t>
            </a:r>
            <a:endParaRPr lang="en-US" sz="160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$181.33M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$188.80M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+$7.47M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+$7,468,567 (4.1%) year to date; 6 of nine months ahead of 2025, best September at +$2,098,497.</a:t>
            </a:r>
            <a:endParaRPr lang="en-US" sz="1600" dirty="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$188.80M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$22.59M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339226"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67458"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$14.42M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98871"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$12.34M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815948"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$10.08M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776819"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$9.60M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97445"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534720"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$6.61M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98047"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80108"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$5.93M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11218"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$5.08M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87746"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87152"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2980944" y="5030502"/>
            <a:ext cx="366719"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$4.53M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2980944" y="5270397"/>
            <a:ext cx="361706"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$4.47M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60997"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$4.46M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2980944" y="5750188"/>
            <a:ext cx="338585"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$4.18M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31352" y="1911860"/>
            <a:ext cx="335529"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$4.15M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316795"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87606"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$3.55M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84566"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$3.52M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76517"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$3.42M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67522"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41377"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$2.98M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34183"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218568"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189081"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$2.34M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310815"/>
            <a:ext cx="184970"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31352" y="4550711"/>
            <a:ext cx="183743"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78709"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$2.21M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28860"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24271"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$1.54M</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8355"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$968,018</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$22.59M of the group's $188.80M; VW St George is smallest at $968,018.</a:t>
            </a:r>
            <a:endParaRPr lang="en-US" sz="1600"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+4.1%  ·  +$7.47M</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+$404K</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2" name="Shape 20"/>
          <p:cNvSpPr/>
          <p:nvPr/>
        </p:nvSpPr>
        <p:spPr>
          <a:xfrm>
            <a:off x="3579876" y="2405582"/>
            <a:ext cx="506111"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+31.7%</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+$717K</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579876" y="2629341"/>
            <a:ext cx="360850"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+$764K</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3579876" y="2853100"/>
            <a:ext cx="256108"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+$1.70M</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579876" y="3076859"/>
            <a:ext cx="252129"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+$368K</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2" name="Shape 40"/>
          <p:cNvSpPr/>
          <p:nvPr/>
        </p:nvSpPr>
        <p:spPr>
          <a:xfrm>
            <a:off x="3579876" y="3300618"/>
            <a:ext cx="248007"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+$472K</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7" name="Shape 45"/>
          <p:cNvSpPr/>
          <p:nvPr/>
        </p:nvSpPr>
        <p:spPr>
          <a:xfrm>
            <a:off x="3579876" y="3524377"/>
            <a:ext cx="208279"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+13.0%</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+$586K</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2" name="Shape 50"/>
          <p:cNvSpPr/>
          <p:nvPr/>
        </p:nvSpPr>
        <p:spPr>
          <a:xfrm>
            <a:off x="3579876" y="3748136"/>
            <a:ext cx="166767"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+$422K</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579876" y="3971895"/>
            <a:ext cx="163731"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+$445K</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2" name="Shape 60"/>
          <p:cNvSpPr/>
          <p:nvPr/>
        </p:nvSpPr>
        <p:spPr>
          <a:xfrm>
            <a:off x="3579876" y="4195654"/>
            <a:ext cx="162710"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+$216K</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7" name="Shape 65"/>
          <p:cNvSpPr/>
          <p:nvPr/>
        </p:nvSpPr>
        <p:spPr>
          <a:xfrm>
            <a:off x="3579876" y="4419414"/>
            <a:ext cx="161498"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+$545K</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2" name="Shape 70"/>
          <p:cNvSpPr/>
          <p:nvPr/>
        </p:nvSpPr>
        <p:spPr>
          <a:xfrm>
            <a:off x="3579876" y="4643173"/>
            <a:ext cx="15637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+$373K</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7" name="Shape 75"/>
          <p:cNvSpPr/>
          <p:nvPr/>
        </p:nvSpPr>
        <p:spPr>
          <a:xfrm>
            <a:off x="3579876" y="4866932"/>
            <a:ext cx="136210"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+$178K</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2" name="Shape 80"/>
          <p:cNvSpPr/>
          <p:nvPr/>
        </p:nvSpPr>
        <p:spPr>
          <a:xfrm>
            <a:off x="3579876" y="5090691"/>
            <a:ext cx="13602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+$1.77M</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7" name="Shape 85"/>
          <p:cNvSpPr/>
          <p:nvPr/>
        </p:nvSpPr>
        <p:spPr>
          <a:xfrm>
            <a:off x="3579876" y="5314450"/>
            <a:ext cx="122042"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+$157K</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92" name="Shape 90"/>
          <p:cNvSpPr/>
          <p:nvPr/>
        </p:nvSpPr>
        <p:spPr>
          <a:xfrm>
            <a:off x="3579876" y="5538209"/>
            <a:ext cx="118786"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+$664K</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3579876" y="5761968"/>
            <a:ext cx="110352"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+$932K</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2" name="Shape 100"/>
          <p:cNvSpPr/>
          <p:nvPr/>
        </p:nvSpPr>
        <p:spPr>
          <a:xfrm>
            <a:off x="9130284" y="2181823"/>
            <a:ext cx="64131"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+$88K</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7" name="Shape 105"/>
          <p:cNvSpPr/>
          <p:nvPr/>
        </p:nvSpPr>
        <p:spPr>
          <a:xfrm>
            <a:off x="9130284" y="2405582"/>
            <a:ext cx="60011"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+$120K</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2" name="Shape 110"/>
          <p:cNvSpPr/>
          <p:nvPr/>
        </p:nvSpPr>
        <p:spPr>
          <a:xfrm>
            <a:off x="9130284" y="2629341"/>
            <a:ext cx="45763"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+$95K</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9130284" y="2853100"/>
            <a:ext cx="33373"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+$135K</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2" name="Shape 120"/>
          <p:cNvSpPr/>
          <p:nvPr/>
        </p:nvSpPr>
        <p:spPr>
          <a:xfrm>
            <a:off x="9130284" y="3076859"/>
            <a:ext cx="33130"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+$125K</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7" name="Shape 125"/>
          <p:cNvSpPr/>
          <p:nvPr/>
        </p:nvSpPr>
        <p:spPr>
          <a:xfrm>
            <a:off x="9130284" y="3300618"/>
            <a:ext cx="26052"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+$63K</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2" name="Shape 130"/>
          <p:cNvSpPr/>
          <p:nvPr/>
        </p:nvSpPr>
        <p:spPr>
          <a:xfrm>
            <a:off x="9130284" y="3524377"/>
            <a:ext cx="23062"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+$23K</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7" name="Shape 135"/>
          <p:cNvSpPr/>
          <p:nvPr/>
        </p:nvSpPr>
        <p:spPr>
          <a:xfrm>
            <a:off x="9130284" y="3748136"/>
            <a:ext cx="13857"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+$39K</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2" name="Shape 140"/>
          <p:cNvSpPr/>
          <p:nvPr/>
        </p:nvSpPr>
        <p:spPr>
          <a:xfrm>
            <a:off x="9089172" y="3971895"/>
            <a:ext cx="41112"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−$437K</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47" name="Shape 145"/>
          <p:cNvSpPr/>
          <p:nvPr/>
        </p:nvSpPr>
        <p:spPr>
          <a:xfrm>
            <a:off x="9054987" y="4195654"/>
            <a:ext cx="75297"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−$499K</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2" name="Shape 150"/>
          <p:cNvSpPr/>
          <p:nvPr/>
        </p:nvSpPr>
        <p:spPr>
          <a:xfrm>
            <a:off x="9043679" y="4419414"/>
            <a:ext cx="86605"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−$204K</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988381" y="4643173"/>
            <a:ext cx="141903"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−$840K</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2" name="Shape 160"/>
          <p:cNvSpPr/>
          <p:nvPr/>
        </p:nvSpPr>
        <p:spPr>
          <a:xfrm>
            <a:off x="8963498" y="4866932"/>
            <a:ext cx="166786"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−$520K</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7" name="Shape 165"/>
          <p:cNvSpPr/>
          <p:nvPr/>
        </p:nvSpPr>
        <p:spPr>
          <a:xfrm>
            <a:off x="8911219" y="5090691"/>
            <a:ext cx="219065"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−13.7%</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−$761K</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2" name="Shape 170"/>
          <p:cNvSpPr/>
          <p:nvPr/>
        </p:nvSpPr>
        <p:spPr>
          <a:xfrm>
            <a:off x="8900217" y="5314450"/>
            <a:ext cx="230067"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−$163K</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7" name="Shape 175"/>
          <p:cNvSpPr/>
          <p:nvPr/>
        </p:nvSpPr>
        <p:spPr>
          <a:xfrm>
            <a:off x="8888151" y="5538209"/>
            <a:ext cx="242133"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−15.2%</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−$517K</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356616"/>
          </a:xfrm>
          <a:prstGeom prst="rect">
            <a:avLst/>
          </a:prstGeom>
          <a:solidFill>
            <a:srgbClr val="E6F6EE"/>
          </a:solidFill>
          <a:ln/>
        </p:spPr>
      </p:sp>
      <p:sp>
        <p:nvSpPr>
          <p:cNvPr id="184" name="Text 18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25 of 33 stores grew. Hyundai Prescott grew most at +35.8% (+$404K); Acura fell most at −15.2% (−$517K).</a:t>
            </a:r>
            <a:endParaRPr lang="en-US" sz="1500"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$1.54M</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$2.26M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$2.98M</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+31.7%</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$4.15M</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+22.6%</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$10.64M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$12.34M</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$2.70M</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$2.89M</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−15.2%</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$968K</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−14.4%</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$4.79M</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$4.46M</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$9.46M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$8.62M</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−8.9%</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$425K</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+35.7%</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$301K</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+32.7%</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$429K</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$448K</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$188K</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Lexus what changed. Ask Acura, VW St George and VW Henderson what got in the way. Ask Mazda, Kia St George and LR Henderson what they started this year.</a:t>
            </a:r>
            <a:endParaRPr lang="en-US" sz="160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$120.57M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+$6.30M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+$6,297,386 (5.2%) year to date; 9 of nine months ahead of 2025, best September at +$1,457,847.</a:t>
            </a:r>
            <a:endParaRPr lang="en-US" sz="160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$126.87M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$16.38M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1178132"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1171781"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$10.50M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82405"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$8.80M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9" name="Shape 27"/>
          <p:cNvSpPr/>
          <p:nvPr/>
        </p:nvSpPr>
        <p:spPr>
          <a:xfrm>
            <a:off x="2980944" y="2871442"/>
            <a:ext cx="724430"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$6.49M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3" name="Shape 31"/>
          <p:cNvSpPr/>
          <p:nvPr/>
        </p:nvSpPr>
        <p:spPr>
          <a:xfrm>
            <a:off x="2980944" y="3111337"/>
            <a:ext cx="698259"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$6.26M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60750"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455591"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$4.08M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52277"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10917"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$3.68M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05463"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$3.63M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90976"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$3.50M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56124"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$3.19M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2980944" y="5030502"/>
            <a:ext cx="352683"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$3.16M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2980944" y="5270397"/>
            <a:ext cx="340845"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$3.05M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39380"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2980944" y="5750188"/>
            <a:ext cx="329329"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$2.95M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31352" y="1911860"/>
            <a:ext cx="311294"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$2.79M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270275"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$2.42M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56215"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$2.30M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45763"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$2.20M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38967"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$2.14M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35763"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32807"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$2.09M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10714"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178756"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62808"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$1.46M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8531352" y="4310815"/>
            <a:ext cx="160552"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55672"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4790606"/>
            <a:ext cx="131649"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$1.18M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16550"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10797"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$992,560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65691"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$588,480</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$16.38M of the group's $126.87M; VW St George is smallest at $588,480.</a:t>
            </a:r>
            <a:endParaRPr lang="en-US" sz="160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+5.2%  ·  +$6.30M</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+53.3%</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+$345K</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2" name="Shape 20"/>
          <p:cNvSpPr/>
          <p:nvPr/>
        </p:nvSpPr>
        <p:spPr>
          <a:xfrm>
            <a:off x="3579876" y="2405582"/>
            <a:ext cx="316386"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+$475K</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579876" y="2629341"/>
            <a:ext cx="296910"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+27.7%</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+$639K</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2" name="Shape 30"/>
          <p:cNvSpPr/>
          <p:nvPr/>
        </p:nvSpPr>
        <p:spPr>
          <a:xfrm>
            <a:off x="3579876" y="2853100"/>
            <a:ext cx="295598"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+$315K</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7" name="Shape 35"/>
          <p:cNvSpPr/>
          <p:nvPr/>
        </p:nvSpPr>
        <p:spPr>
          <a:xfrm>
            <a:off x="3579876" y="3076859"/>
            <a:ext cx="220512"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+$619K</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2" name="Shape 40"/>
          <p:cNvSpPr/>
          <p:nvPr/>
        </p:nvSpPr>
        <p:spPr>
          <a:xfrm>
            <a:off x="3579876" y="3300618"/>
            <a:ext cx="209724"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+$602K</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7" name="Shape 45"/>
          <p:cNvSpPr/>
          <p:nvPr/>
        </p:nvSpPr>
        <p:spPr>
          <a:xfrm>
            <a:off x="3579876" y="3524377"/>
            <a:ext cx="205980"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+$1.42M</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2" name="Shape 50"/>
          <p:cNvSpPr/>
          <p:nvPr/>
        </p:nvSpPr>
        <p:spPr>
          <a:xfrm>
            <a:off x="3579876" y="3748136"/>
            <a:ext cx="17160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+$384K</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7" name="Shape 55"/>
          <p:cNvSpPr/>
          <p:nvPr/>
        </p:nvSpPr>
        <p:spPr>
          <a:xfrm>
            <a:off x="3579876" y="3971895"/>
            <a:ext cx="167960"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+$217K</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2" name="Shape 60"/>
          <p:cNvSpPr/>
          <p:nvPr/>
        </p:nvSpPr>
        <p:spPr>
          <a:xfrm>
            <a:off x="3579876" y="4195654"/>
            <a:ext cx="15097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+$390K</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7" name="Shape 65"/>
          <p:cNvSpPr/>
          <p:nvPr/>
        </p:nvSpPr>
        <p:spPr>
          <a:xfrm>
            <a:off x="3579876" y="4419414"/>
            <a:ext cx="148094"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+$169K</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2" name="Shape 70"/>
          <p:cNvSpPr/>
          <p:nvPr/>
        </p:nvSpPr>
        <p:spPr>
          <a:xfrm>
            <a:off x="3579876" y="4643173"/>
            <a:ext cx="13584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+$162K</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579876" y="4866932"/>
            <a:ext cx="108217"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+$202K</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2" name="Shape 80"/>
          <p:cNvSpPr/>
          <p:nvPr/>
        </p:nvSpPr>
        <p:spPr>
          <a:xfrm>
            <a:off x="3579876" y="5090691"/>
            <a:ext cx="108105"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+$1.50M</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7" name="Shape 85"/>
          <p:cNvSpPr/>
          <p:nvPr/>
        </p:nvSpPr>
        <p:spPr>
          <a:xfrm>
            <a:off x="3579876" y="5314450"/>
            <a:ext cx="84908"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+$234K</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2" name="Shape 90"/>
          <p:cNvSpPr/>
          <p:nvPr/>
        </p:nvSpPr>
        <p:spPr>
          <a:xfrm>
            <a:off x="3579876" y="5538209"/>
            <a:ext cx="83407"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+$292K</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3579876" y="5761968"/>
            <a:ext cx="65940"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+$611K</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2" name="Shape 100"/>
          <p:cNvSpPr/>
          <p:nvPr/>
        </p:nvSpPr>
        <p:spPr>
          <a:xfrm>
            <a:off x="9130284" y="2181823"/>
            <a:ext cx="54058"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+$196K</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7" name="Shape 105"/>
          <p:cNvSpPr/>
          <p:nvPr/>
        </p:nvSpPr>
        <p:spPr>
          <a:xfrm>
            <a:off x="9130284" y="2405582"/>
            <a:ext cx="52461"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+$113K</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2" name="Shape 110"/>
          <p:cNvSpPr/>
          <p:nvPr/>
        </p:nvSpPr>
        <p:spPr>
          <a:xfrm>
            <a:off x="9130284" y="2629341"/>
            <a:ext cx="35288"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+$68K</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7" name="Shape 115"/>
          <p:cNvSpPr/>
          <p:nvPr/>
        </p:nvSpPr>
        <p:spPr>
          <a:xfrm>
            <a:off x="9130284" y="2853100"/>
            <a:ext cx="18626"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+$20K</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2" name="Shape 120"/>
          <p:cNvSpPr/>
          <p:nvPr/>
        </p:nvSpPr>
        <p:spPr>
          <a:xfrm>
            <a:off x="9130284" y="3076859"/>
            <a:ext cx="16084"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+$31K</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7" name="Shape 125"/>
          <p:cNvSpPr/>
          <p:nvPr/>
        </p:nvSpPr>
        <p:spPr>
          <a:xfrm>
            <a:off x="9130284" y="3300618"/>
            <a:ext cx="12802"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+$20K</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2" name="Shape 130"/>
          <p:cNvSpPr/>
          <p:nvPr/>
        </p:nvSpPr>
        <p:spPr>
          <a:xfrm>
            <a:off x="9126342" y="3524377"/>
            <a:ext cx="12802"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−$24K</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7" name="Shape 135"/>
          <p:cNvSpPr/>
          <p:nvPr/>
        </p:nvSpPr>
        <p:spPr>
          <a:xfrm>
            <a:off x="9103951" y="3748136"/>
            <a:ext cx="26333"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−$58K</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102538" y="3971895"/>
            <a:ext cx="27746"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−$28K</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47" name="Shape 145"/>
          <p:cNvSpPr/>
          <p:nvPr/>
        </p:nvSpPr>
        <p:spPr>
          <a:xfrm>
            <a:off x="9095214" y="4195654"/>
            <a:ext cx="35070"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−$211K</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2" name="Shape 150"/>
          <p:cNvSpPr/>
          <p:nvPr/>
        </p:nvSpPr>
        <p:spPr>
          <a:xfrm>
            <a:off x="9091379" y="4419414"/>
            <a:ext cx="38905"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−$395K</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7" name="Shape 155"/>
          <p:cNvSpPr/>
          <p:nvPr/>
        </p:nvSpPr>
        <p:spPr>
          <a:xfrm>
            <a:off x="9066557" y="4643173"/>
            <a:ext cx="63727"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−$192K</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62" name="Shape 160"/>
          <p:cNvSpPr/>
          <p:nvPr/>
        </p:nvSpPr>
        <p:spPr>
          <a:xfrm>
            <a:off x="9017570" y="4866932"/>
            <a:ext cx="112714"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−$695K</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7" name="Shape 165"/>
          <p:cNvSpPr/>
          <p:nvPr/>
        </p:nvSpPr>
        <p:spPr>
          <a:xfrm>
            <a:off x="8985267" y="5090691"/>
            <a:ext cx="145017"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−$547K</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2" name="Shape 170"/>
          <p:cNvSpPr/>
          <p:nvPr/>
        </p:nvSpPr>
        <p:spPr>
          <a:xfrm>
            <a:off x="8929980" y="5314450"/>
            <a:ext cx="200304"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−$135K</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7" name="Shape 175"/>
          <p:cNvSpPr/>
          <p:nvPr/>
        </p:nvSpPr>
        <p:spPr>
          <a:xfrm>
            <a:off x="8928189" y="5538209"/>
            <a:ext cx="202095"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−$438K</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356616"/>
          </a:xfrm>
          <a:prstGeom prst="rect">
            <a:avLst/>
          </a:prstGeom>
          <a:solidFill>
            <a:srgbClr val="E6F6EE"/>
          </a:solidFill>
          <a:ln/>
        </p:spPr>
      </p:sp>
      <p:sp>
        <p:nvSpPr>
          <p:cNvPr id="184" name="Text 18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23 of 33 stores grew. Hyundai Prescott grew most at +53.3% (+$345K); Acura fell most at −18.8% (−$438K).</a:t>
            </a:r>
            <a:endParaRPr lang="en-US" sz="15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$993K</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+53.3%</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$2.09M</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$2.95M</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+27.7%</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$1.46M</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+27.5%</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$3.63M</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+20.5%</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$1.89M</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$724K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$588K</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−18.7%</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$3.50M</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−13.5%</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$5.92M</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$3.04M</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$275K</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$178K</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+34.5%</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$128K</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+34.2%</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$273K</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$290K</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Lexus what changed. Ask Acura, VW St George and VW Henderson what got in the way. Ask Mazda, Kia St George and Hyundai Prescott what they started this year.</a:t>
            </a:r>
            <a:endParaRPr lang="en-US" sz="160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$60.76M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$61.93M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+$1,171,181 (1.9%) year to date; 6 of nine months ahead of 2025, best July at +$684,859.</a:t>
            </a:r>
            <a:endParaRPr lang="en-US" sz="1600" dirty="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$61.93M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$6.21M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780953"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39299"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$3.87M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5" name="Shape 23"/>
          <p:cNvSpPr/>
          <p:nvPr/>
        </p:nvSpPr>
        <p:spPr>
          <a:xfrm>
            <a:off x="2980944" y="2631546"/>
            <a:ext cx="1126417"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2980944" y="2871442"/>
            <a:ext cx="1042309"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$3.54M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915024"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$3.11M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794248"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743466"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$2.52M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2980944" y="3831024"/>
            <a:ext cx="662635"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618790"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$2.10M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469006"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7" name="Shape 55"/>
          <p:cNvSpPr/>
          <p:nvPr/>
        </p:nvSpPr>
        <p:spPr>
          <a:xfrm>
            <a:off x="2980944" y="4550711"/>
            <a:ext cx="439517"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2980944" y="4790606"/>
            <a:ext cx="434974"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5" name="Shape 63"/>
          <p:cNvSpPr/>
          <p:nvPr/>
        </p:nvSpPr>
        <p:spPr>
          <a:xfrm>
            <a:off x="2980944" y="5030502"/>
            <a:ext cx="426399"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2980944" y="5270397"/>
            <a:ext cx="418024"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2980944" y="5510293"/>
            <a:ext cx="410579"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2980944" y="5750188"/>
            <a:ext cx="386930"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8531352" y="1911860"/>
            <a:ext cx="385510"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5" name="Shape 83"/>
          <p:cNvSpPr/>
          <p:nvPr/>
        </p:nvSpPr>
        <p:spPr>
          <a:xfrm>
            <a:off x="8531352" y="2151755"/>
            <a:ext cx="379226"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$1.29M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9" name="Shape 87"/>
          <p:cNvSpPr/>
          <p:nvPr/>
        </p:nvSpPr>
        <p:spPr>
          <a:xfrm>
            <a:off x="8531352" y="2391651"/>
            <a:ext cx="375575"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31352" y="2631546"/>
            <a:ext cx="370418"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$1.26M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31352" y="2871442"/>
            <a:ext cx="351886"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351305"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5" name="Shape 103"/>
          <p:cNvSpPr/>
          <p:nvPr/>
        </p:nvSpPr>
        <p:spPr>
          <a:xfrm>
            <a:off x="8531352" y="3351233"/>
            <a:ext cx="323594"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8531352" y="3591128"/>
            <a:ext cx="321171"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3831024"/>
            <a:ext cx="296096"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277217"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$941,382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31352" y="4310815"/>
            <a:ext cx="263987"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$896,457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8531352" y="4550711"/>
            <a:ext cx="243434"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$826,662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226608"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$769,524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61334"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$547,864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59817"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$542,712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111766"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$379,537</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$6.21M of the group's $61.93M; VW St George is smallest at $379,537.</a:t>
            </a:r>
            <a:endParaRPr lang="en-US" sz="1600"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+1.9%  ·  +$1.17M</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+$243K</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2" name="Shape 20"/>
          <p:cNvSpPr/>
          <p:nvPr/>
        </p:nvSpPr>
        <p:spPr>
          <a:xfrm>
            <a:off x="3579876" y="2405582"/>
            <a:ext cx="438224"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+28.4%</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+$688K</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7" name="Shape 25"/>
          <p:cNvSpPr/>
          <p:nvPr/>
        </p:nvSpPr>
        <p:spPr>
          <a:xfrm>
            <a:off x="3579876" y="2629341"/>
            <a:ext cx="399845"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+26.0%</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+$271K</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2" name="Shape 30"/>
          <p:cNvSpPr/>
          <p:nvPr/>
        </p:nvSpPr>
        <p:spPr>
          <a:xfrm>
            <a:off x="3579876" y="2853100"/>
            <a:ext cx="261421"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+$158K</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579876" y="3076859"/>
            <a:ext cx="246093"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+$151K</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2" name="Shape 40"/>
          <p:cNvSpPr/>
          <p:nvPr/>
        </p:nvSpPr>
        <p:spPr>
          <a:xfrm>
            <a:off x="3579876" y="3300618"/>
            <a:ext cx="234911"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+$211K</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7" name="Shape 45"/>
          <p:cNvSpPr/>
          <p:nvPr/>
        </p:nvSpPr>
        <p:spPr>
          <a:xfrm>
            <a:off x="3579876" y="3524377"/>
            <a:ext cx="190077"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+$60K</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2" name="Shape 50"/>
          <p:cNvSpPr/>
          <p:nvPr/>
        </p:nvSpPr>
        <p:spPr>
          <a:xfrm>
            <a:off x="3579876" y="3748136"/>
            <a:ext cx="179058"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+$124K</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7" name="Shape 55"/>
          <p:cNvSpPr/>
          <p:nvPr/>
        </p:nvSpPr>
        <p:spPr>
          <a:xfrm>
            <a:off x="3579876" y="3971895"/>
            <a:ext cx="155972"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+$50K</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2" name="Shape 60"/>
          <p:cNvSpPr/>
          <p:nvPr/>
        </p:nvSpPr>
        <p:spPr>
          <a:xfrm>
            <a:off x="3579876" y="4195654"/>
            <a:ext cx="13936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+$321K</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7" name="Shape 65"/>
          <p:cNvSpPr/>
          <p:nvPr/>
        </p:nvSpPr>
        <p:spPr>
          <a:xfrm>
            <a:off x="3579876" y="4419414"/>
            <a:ext cx="136341"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+$288K</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2" name="Shape 70"/>
          <p:cNvSpPr/>
          <p:nvPr/>
        </p:nvSpPr>
        <p:spPr>
          <a:xfrm>
            <a:off x="3579876" y="4643173"/>
            <a:ext cx="123400"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+$88K</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7" name="Shape 75"/>
          <p:cNvSpPr/>
          <p:nvPr/>
        </p:nvSpPr>
        <p:spPr>
          <a:xfrm>
            <a:off x="3579876" y="4866932"/>
            <a:ext cx="80616"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+$47K</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2" name="Shape 80"/>
          <p:cNvSpPr/>
          <p:nvPr/>
        </p:nvSpPr>
        <p:spPr>
          <a:xfrm>
            <a:off x="3579876" y="5090691"/>
            <a:ext cx="7096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+$273K</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7" name="Shape 85"/>
          <p:cNvSpPr/>
          <p:nvPr/>
        </p:nvSpPr>
        <p:spPr>
          <a:xfrm>
            <a:off x="3579876" y="5314450"/>
            <a:ext cx="39483"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+$33K</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2" name="Shape 90"/>
          <p:cNvSpPr/>
          <p:nvPr/>
        </p:nvSpPr>
        <p:spPr>
          <a:xfrm>
            <a:off x="3579876" y="5538209"/>
            <a:ext cx="33295"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+$27K</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3579876" y="5761968"/>
            <a:ext cx="19780"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+$19K</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2" name="Shape 100"/>
          <p:cNvSpPr/>
          <p:nvPr/>
        </p:nvSpPr>
        <p:spPr>
          <a:xfrm>
            <a:off x="9120504" y="2181823"/>
            <a:ext cx="12802" cy="102929"/>
          </a:xfrm>
          <a:prstGeom prst="rect">
            <a:avLst/>
          </a:prstGeom>
          <a:solidFill>
            <a:srgbClr val="C2352F"/>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−$5K</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7" name="Shape 105"/>
          <p:cNvSpPr/>
          <p:nvPr/>
        </p:nvSpPr>
        <p:spPr>
          <a:xfrm>
            <a:off x="9119621" y="2405582"/>
            <a:ext cx="12802" cy="102929"/>
          </a:xfrm>
          <a:prstGeom prst="rect">
            <a:avLst/>
          </a:prstGeom>
          <a:solidFill>
            <a:srgbClr val="C2352F"/>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−$42K</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2" name="Shape 110"/>
          <p:cNvSpPr/>
          <p:nvPr/>
        </p:nvSpPr>
        <p:spPr>
          <a:xfrm>
            <a:off x="9117659" y="2629341"/>
            <a:ext cx="12802" cy="102929"/>
          </a:xfrm>
          <a:prstGeom prst="rect">
            <a:avLst/>
          </a:prstGeom>
          <a:solidFill>
            <a:srgbClr val="C2352F"/>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−$12K</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095741" y="2853100"/>
            <a:ext cx="34543"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−$33K</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2" name="Shape 120"/>
          <p:cNvSpPr/>
          <p:nvPr/>
        </p:nvSpPr>
        <p:spPr>
          <a:xfrm>
            <a:off x="9094197" y="3076859"/>
            <a:ext cx="36087"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−$61K</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7" name="Shape 125"/>
          <p:cNvSpPr/>
          <p:nvPr/>
        </p:nvSpPr>
        <p:spPr>
          <a:xfrm>
            <a:off x="9092061" y="3300618"/>
            <a:ext cx="38223"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−$57K</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2" name="Shape 130"/>
          <p:cNvSpPr/>
          <p:nvPr/>
        </p:nvSpPr>
        <p:spPr>
          <a:xfrm>
            <a:off x="9080300" y="3524377"/>
            <a:ext cx="49984"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−$50K</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9051537" y="3748136"/>
            <a:ext cx="78747"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−$145K</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2" name="Shape 140"/>
          <p:cNvSpPr/>
          <p:nvPr/>
        </p:nvSpPr>
        <p:spPr>
          <a:xfrm>
            <a:off x="9025094" y="3971895"/>
            <a:ext cx="105190"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−$28K</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47" name="Shape 145"/>
          <p:cNvSpPr/>
          <p:nvPr/>
        </p:nvSpPr>
        <p:spPr>
          <a:xfrm>
            <a:off x="9022657" y="4195654"/>
            <a:ext cx="107627"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−$287K</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52" name="Shape 150"/>
          <p:cNvSpPr/>
          <p:nvPr/>
        </p:nvSpPr>
        <p:spPr>
          <a:xfrm>
            <a:off x="9018226" y="4419414"/>
            <a:ext cx="112058"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−$79K</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7" name="Shape 155"/>
          <p:cNvSpPr/>
          <p:nvPr/>
        </p:nvSpPr>
        <p:spPr>
          <a:xfrm>
            <a:off x="9016738" y="4643173"/>
            <a:ext cx="113546"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−$167K</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2" name="Shape 160"/>
          <p:cNvSpPr/>
          <p:nvPr/>
        </p:nvSpPr>
        <p:spPr>
          <a:xfrm>
            <a:off x="8970138" y="4866932"/>
            <a:ext cx="160146"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−$146K</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7" name="Shape 165"/>
          <p:cNvSpPr/>
          <p:nvPr/>
        </p:nvSpPr>
        <p:spPr>
          <a:xfrm>
            <a:off x="8910748" y="5090691"/>
            <a:ext cx="219536"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−$214K</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2" name="Shape 170"/>
          <p:cNvSpPr/>
          <p:nvPr/>
        </p:nvSpPr>
        <p:spPr>
          <a:xfrm>
            <a:off x="8841155" y="5314450"/>
            <a:ext cx="289129"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−$328K</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7" name="Shape 175"/>
          <p:cNvSpPr/>
          <p:nvPr/>
        </p:nvSpPr>
        <p:spPr>
          <a:xfrm>
            <a:off x="8798602" y="5538209"/>
            <a:ext cx="331682"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−$227K</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348996"/>
          </a:xfrm>
          <a:prstGeom prst="rect">
            <a:avLst/>
          </a:prstGeom>
          <a:solidFill>
            <a:srgbClr val="E6F6EE"/>
          </a:solidFill>
          <a:ln/>
        </p:spPr>
      </p:sp>
      <p:sp>
        <p:nvSpPr>
          <p:cNvPr id="184" name="Text 18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17 of 33 stores grew. Lincoln grew most at +37.1% (+$243K); Hyundai St George fell most at −21.5% (−$227K).</a:t>
            </a:r>
            <a:endParaRPr lang="en-US" sz="1450" dirty="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$896K</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+37.1%</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$3.11M</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+28.4%</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$1.31M</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+26.0%</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$1.09M</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$1.10M</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$827K</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−21.5%</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$1.42M</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$1.29M</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$1.26M</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$2.10M</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$486K</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+43.4%</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$150K</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+31.5%</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$68K</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$123K</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+30.1%</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$198K</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+27.6%</a:t>
            </a:r>
            <a:endParaRPr lang="en-US" sz="1600" dirty="0"/>
          </a:p>
        </p:txBody>
      </p:sp>
      <p:sp>
        <p:nvSpPr>
          <p:cNvPr id="69" name="Shape 67"/>
          <p:cNvSpPr/>
          <p:nvPr/>
        </p:nvSpPr>
        <p:spPr>
          <a:xfrm>
            <a:off x="457200" y="6126480"/>
            <a:ext cx="11274552" cy="600456"/>
          </a:xfrm>
          <a:prstGeom prst="rect">
            <a:avLst/>
          </a:prstGeom>
          <a:solidFill>
            <a:srgbClr val="EDF4FA"/>
          </a:solidFill>
          <a:ln/>
        </p:spPr>
      </p:sp>
      <p:sp>
        <p:nvSpPr>
          <p:cNvPr id="70" name="Text 68"/>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Ask Lincoln, Cadillac and Subaru St George what changed. Ask Hyundai St George, Audi Reno and VW Henderson what got in the way. Ask Audi Henderson, Mazda and Honda Flagstaff what they started this year.</a:t>
            </a:r>
            <a:endParaRPr lang="en-US" sz="155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total store 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How much of the whole store's fixed expenses, not just service and parts expenses, the service and parts gross pays for.</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Fixed ops 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Everything on the customer-pay slides: ROs, hours, ELR, margin</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Store 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whole store's rent, facility and other fixed costs</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Warranty and internal</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Gross from warranty and reconditioning counts too</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Counter and wholesale parts gross counts as well</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Absorption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64236"/>
          </a:xfrm>
          <a:prstGeom prst="rect">
            <a:avLst/>
          </a:prstGeom>
          <a:solidFill>
            <a:srgbClr val="E6F6EE"/>
          </a:solidFill>
          <a:ln/>
        </p:spPr>
      </p:sp>
      <p:sp>
        <p:nvSpPr>
          <p:cNvPr id="30" name="Text 22"/>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Up 2.1 pts to 78.1%, ahead of 2025 in six of nine months. Fixed gross grew 4.1%; fixed expenses 1.3%.</a:t>
            </a:r>
            <a:endParaRPr lang="en-US" sz="1550"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2532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40692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323114"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27178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2439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2382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008376" y="3586331"/>
            <a:ext cx="1236225"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5" name="Shape 43"/>
          <p:cNvSpPr/>
          <p:nvPr/>
        </p:nvSpPr>
        <p:spPr>
          <a:xfrm>
            <a:off x="3008376" y="3826226"/>
            <a:ext cx="1203167"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008376" y="4066122"/>
            <a:ext cx="1188815"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3008376" y="4306017"/>
            <a:ext cx="114360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13692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9488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07398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06979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008376" y="5505495"/>
            <a:ext cx="1044916"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7" name="Shape 75"/>
          <p:cNvSpPr/>
          <p:nvPr/>
        </p:nvSpPr>
        <p:spPr>
          <a:xfrm>
            <a:off x="3008376" y="5745390"/>
            <a:ext cx="1007984"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58784" y="1907062"/>
            <a:ext cx="1007915"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5" name="Shape 83"/>
          <p:cNvSpPr/>
          <p:nvPr/>
        </p:nvSpPr>
        <p:spPr>
          <a:xfrm>
            <a:off x="8558784" y="2146957"/>
            <a:ext cx="97975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9564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3" name="Shape 91"/>
          <p:cNvSpPr/>
          <p:nvPr/>
        </p:nvSpPr>
        <p:spPr>
          <a:xfrm>
            <a:off x="8558784" y="2626748"/>
            <a:ext cx="897553"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8558784" y="2866644"/>
            <a:ext cx="89031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1" name="Shape 99"/>
          <p:cNvSpPr/>
          <p:nvPr/>
        </p:nvSpPr>
        <p:spPr>
          <a:xfrm>
            <a:off x="8558784" y="3106540"/>
            <a:ext cx="88351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860120"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79139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3" name="Shape 111"/>
          <p:cNvSpPr/>
          <p:nvPr/>
        </p:nvSpPr>
        <p:spPr>
          <a:xfrm>
            <a:off x="8558784" y="3826226"/>
            <a:ext cx="77437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74372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3022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58784" y="4545913"/>
            <a:ext cx="66024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0149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53164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4718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3580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46.2%</a:t>
            </a:r>
            <a:endParaRPr lang="en-US" sz="1200" dirty="0"/>
          </a:p>
        </p:txBody>
      </p:sp>
      <p:sp>
        <p:nvSpPr>
          <p:cNvPr id="143" name="Shape 141"/>
          <p:cNvSpPr/>
          <p:nvPr/>
        </p:nvSpPr>
        <p:spPr>
          <a:xfrm>
            <a:off x="4063635" y="1847088"/>
            <a:ext cx="14630" cy="4078224"/>
          </a:xfrm>
          <a:prstGeom prst="rect">
            <a:avLst/>
          </a:prstGeom>
          <a:solidFill>
            <a:srgbClr val="0B2C4A"/>
          </a:solidFill>
          <a:ln/>
        </p:spPr>
      </p:sp>
      <p:sp>
        <p:nvSpPr>
          <p:cNvPr id="144" name="Shape 142"/>
          <p:cNvSpPr/>
          <p:nvPr/>
        </p:nvSpPr>
        <p:spPr>
          <a:xfrm>
            <a:off x="961404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78.1% group, led by Audi Henderson at 106.6%. Hyundai Prescott is lowest at 46.2%.</a:t>
            </a:r>
            <a:endParaRPr lang="en-US" sz="1600"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16268"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785616" y="2151755"/>
            <a:ext cx="42572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2392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5" name="Shape 23"/>
          <p:cNvSpPr/>
          <p:nvPr/>
        </p:nvSpPr>
        <p:spPr>
          <a:xfrm>
            <a:off x="3785616" y="2631546"/>
            <a:ext cx="24978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9" name="Shape 27"/>
          <p:cNvSpPr/>
          <p:nvPr/>
        </p:nvSpPr>
        <p:spPr>
          <a:xfrm>
            <a:off x="3785616" y="2871442"/>
            <a:ext cx="24190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785616" y="3111337"/>
            <a:ext cx="234433"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785616" y="3351233"/>
            <a:ext cx="23412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785616" y="3591128"/>
            <a:ext cx="23051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5" name="Shape 43"/>
          <p:cNvSpPr/>
          <p:nvPr/>
        </p:nvSpPr>
        <p:spPr>
          <a:xfrm>
            <a:off x="3785616" y="3831024"/>
            <a:ext cx="22741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255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2080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550711"/>
            <a:ext cx="2123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1" name="Shape 59"/>
          <p:cNvSpPr/>
          <p:nvPr/>
        </p:nvSpPr>
        <p:spPr>
          <a:xfrm>
            <a:off x="3785616" y="4790606"/>
            <a:ext cx="17808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030502"/>
            <a:ext cx="17197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1707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510293"/>
            <a:ext cx="1457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4402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9336024" y="1911860"/>
            <a:ext cx="111949"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76399"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9336024" y="2391651"/>
            <a:ext cx="712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36024" y="2631546"/>
            <a:ext cx="2786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9336024" y="2871442"/>
            <a:ext cx="1333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9330933" y="3351233"/>
            <a:ext cx="1280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9" name="Shape 107"/>
          <p:cNvSpPr/>
          <p:nvPr/>
        </p:nvSpPr>
        <p:spPr>
          <a:xfrm>
            <a:off x="9329910"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25626"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7" name="Shape 115"/>
          <p:cNvSpPr/>
          <p:nvPr/>
        </p:nvSpPr>
        <p:spPr>
          <a:xfrm>
            <a:off x="9288072" y="4070920"/>
            <a:ext cx="47952"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286667" y="4310815"/>
            <a:ext cx="49357"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232720" y="4550711"/>
            <a:ext cx="10330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063013" y="4790606"/>
            <a:ext cx="27301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903742" y="5030502"/>
            <a:ext cx="43228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884924" y="5270397"/>
            <a:ext cx="45110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−10.1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raised absorption, led by Lincoln at +16.1 pts to 59.9%. 10 declined; VW St George fell most at −17.4 pts.</a:t>
            </a:r>
            <a:endParaRPr lang="en-US" sz="1600" dirty="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+16.1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86.1%</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78.4%</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75.6%</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+5.4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54.1%</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−17.4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65.8%</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83.8%</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103.6%</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63.1%</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−2.3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82.9%</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+16.3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69.5%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84.8%</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+15.3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73.1%</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+11.1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94.4%</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84.2%</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+10.0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Lincoln, Cadillac and LR Reno what changed. Ask VW St George, Kia St George and VW Henderson what got in the way. Ask LR Henderson, LR Reno and Kia St George what they started this year.</a:t>
            </a:r>
            <a:endParaRPr lang="en-US" sz="1600" dirty="0"/>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Net to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Net to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profit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each gross dollar the department keeps after its own expenses.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true measure of how the department performs.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is what we make; net is what we keep.</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can grow while net falls if expenses grow faster.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ties staffing and pay plans to results.</a:t>
            </a:r>
            <a:endParaRPr lang="en-US" sz="15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Personnel expense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Headcount and pay plans: the biggest line</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Semi-fixed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policy, training, equipment</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Policy and adjustments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Goodwill and comebacks charged to the department</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Grow gross faster than expense</a:t>
            </a:r>
            <a:endParaRPr lang="en-US" sz="14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service 21.8%, up 2.9 pts; parts 36.7%, down 0.4 pts.</a:t>
            </a:r>
            <a:endParaRPr lang="en-US" sz="1600" dirty="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21.8%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+2.9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+15.6%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56616"/>
          </a:xfrm>
          <a:prstGeom prst="rect">
            <a:avLst/>
          </a:prstGeom>
          <a:solidFill>
            <a:srgbClr val="E6F6EE"/>
          </a:solidFill>
          <a:ln/>
        </p:spPr>
      </p:sp>
      <p:sp>
        <p:nvSpPr>
          <p:cNvPr id="28"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2.9 pts to 21.8%, ahead of 2025 in all nine months. Department profit grew 21.6% on 5.2% more gross.</a:t>
            </a:r>
            <a:endParaRPr lang="en-US" sz="1500" dirty="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21.8%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872946" y="1907062"/>
            <a:ext cx="82707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872946" y="2146957"/>
            <a:ext cx="741210"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1" name="Shape 19"/>
          <p:cNvSpPr/>
          <p:nvPr/>
        </p:nvSpPr>
        <p:spPr>
          <a:xfrm>
            <a:off x="3872946" y="2386853"/>
            <a:ext cx="733821"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872946" y="2626748"/>
            <a:ext cx="71208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872946" y="2866644"/>
            <a:ext cx="65572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872946" y="3106540"/>
            <a:ext cx="566887"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872946" y="3346435"/>
            <a:ext cx="53918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872946" y="3586331"/>
            <a:ext cx="5216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872946" y="3826226"/>
            <a:ext cx="5162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872946" y="4066122"/>
            <a:ext cx="48658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872946" y="4306017"/>
            <a:ext cx="419144"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7" name="Shape 55"/>
          <p:cNvSpPr/>
          <p:nvPr/>
        </p:nvSpPr>
        <p:spPr>
          <a:xfrm>
            <a:off x="3872946" y="4545913"/>
            <a:ext cx="41360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1" name="Shape 59"/>
          <p:cNvSpPr/>
          <p:nvPr/>
        </p:nvSpPr>
        <p:spPr>
          <a:xfrm>
            <a:off x="3872946" y="4785808"/>
            <a:ext cx="387517"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20.2%</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872946" y="5025704"/>
            <a:ext cx="372520"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872946" y="5265599"/>
            <a:ext cx="37043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872946" y="5505495"/>
            <a:ext cx="362889"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872946" y="5745390"/>
            <a:ext cx="34721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423354" y="1907062"/>
            <a:ext cx="30743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9423354" y="2146957"/>
            <a:ext cx="29942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15.6%</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423354" y="2386853"/>
            <a:ext cx="228054"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9423354" y="2626748"/>
            <a:ext cx="22681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423354" y="2866644"/>
            <a:ext cx="15078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1" name="Shape 99"/>
          <p:cNvSpPr/>
          <p:nvPr/>
        </p:nvSpPr>
        <p:spPr>
          <a:xfrm>
            <a:off x="9423354" y="3106540"/>
            <a:ext cx="98956"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5" name="Shape 103"/>
          <p:cNvSpPr/>
          <p:nvPr/>
        </p:nvSpPr>
        <p:spPr>
          <a:xfrm>
            <a:off x="9423354" y="3346435"/>
            <a:ext cx="9274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423354" y="3586331"/>
            <a:ext cx="720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423354" y="3826226"/>
            <a:ext cx="6813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9362469" y="4066122"/>
            <a:ext cx="6088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301150" y="4306017"/>
            <a:ext cx="1222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57477" y="4545913"/>
            <a:ext cx="26587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147151" y="4785808"/>
            <a:ext cx="2762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054444" y="5025704"/>
            <a:ext cx="36891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939232" y="5265599"/>
            <a:ext cx="48412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691149" y="5505495"/>
            <a:ext cx="7322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3" name="Shape 141"/>
          <p:cNvSpPr/>
          <p:nvPr/>
        </p:nvSpPr>
        <p:spPr>
          <a:xfrm>
            <a:off x="3868374" y="1847088"/>
            <a:ext cx="9144" cy="4078224"/>
          </a:xfrm>
          <a:prstGeom prst="rect">
            <a:avLst/>
          </a:prstGeom>
          <a:solidFill>
            <a:srgbClr val="9AA3AD"/>
          </a:solidFill>
          <a:ln/>
        </p:spPr>
      </p:sp>
      <p:sp>
        <p:nvSpPr>
          <p:cNvPr id="144" name="Shape 142"/>
          <p:cNvSpPr/>
          <p:nvPr/>
        </p:nvSpPr>
        <p:spPr>
          <a:xfrm>
            <a:off x="4285058" y="1847088"/>
            <a:ext cx="14630" cy="4078224"/>
          </a:xfrm>
          <a:prstGeom prst="rect">
            <a:avLst/>
          </a:prstGeom>
          <a:solidFill>
            <a:srgbClr val="0B2C4A"/>
          </a:solidFill>
          <a:ln/>
        </p:spPr>
      </p:sp>
      <p:sp>
        <p:nvSpPr>
          <p:cNvPr id="145" name="Shape 143"/>
          <p:cNvSpPr/>
          <p:nvPr/>
        </p:nvSpPr>
        <p:spPr>
          <a:xfrm>
            <a:off x="9418782" y="1847088"/>
            <a:ext cx="9144" cy="4078224"/>
          </a:xfrm>
          <a:prstGeom prst="rect">
            <a:avLst/>
          </a:prstGeom>
          <a:solidFill>
            <a:srgbClr val="9AA3AD"/>
          </a:solidFill>
          <a:ln/>
        </p:spPr>
      </p:sp>
      <p:sp>
        <p:nvSpPr>
          <p:cNvPr id="146" name="Shape 144"/>
          <p:cNvSpPr/>
          <p:nvPr/>
        </p:nvSpPr>
        <p:spPr>
          <a:xfrm>
            <a:off x="9835466" y="1847088"/>
            <a:ext cx="14630" cy="4078224"/>
          </a:xfrm>
          <a:prstGeom prst="rect">
            <a:avLst/>
          </a:prstGeom>
          <a:solidFill>
            <a:srgbClr val="0B2C4A"/>
          </a:solidFill>
          <a:ln/>
        </p:spPr>
      </p:sp>
      <p:sp>
        <p:nvSpPr>
          <p:cNvPr id="147" name="Shape 145"/>
          <p:cNvSpPr/>
          <p:nvPr/>
        </p:nvSpPr>
        <p:spPr>
          <a:xfrm>
            <a:off x="6085332" y="1847088"/>
            <a:ext cx="10973" cy="4078224"/>
          </a:xfrm>
          <a:prstGeom prst="rect">
            <a:avLst/>
          </a:prstGeom>
          <a:solidFill>
            <a:srgbClr val="D9D9D9"/>
          </a:solidFill>
          <a:ln/>
        </p:spPr>
      </p:sp>
      <p:sp>
        <p:nvSpPr>
          <p:cNvPr id="148" name="Shape 146"/>
          <p:cNvSpPr/>
          <p:nvPr/>
        </p:nvSpPr>
        <p:spPr>
          <a:xfrm>
            <a:off x="457200" y="6126480"/>
            <a:ext cx="11274552" cy="341376"/>
          </a:xfrm>
          <a:prstGeom prst="rect">
            <a:avLst/>
          </a:prstGeom>
          <a:solidFill>
            <a:srgbClr val="EDF4FA"/>
          </a:solidFill>
          <a:ln/>
        </p:spPr>
      </p:sp>
      <p:sp>
        <p:nvSpPr>
          <p:cNvPr id="149" name="Text 14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10 of 33 stores at or above the 21.8% group, led by Honda Henderson at 43.0%. GMC Prescott is lowest at -38.1%.</a:t>
            </a:r>
            <a:endParaRPr lang="en-US" sz="1400" dirty="0"/>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+2.9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+33.5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2230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660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31835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27713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785616" y="3111337"/>
            <a:ext cx="1940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7" name="Shape 35"/>
          <p:cNvSpPr/>
          <p:nvPr/>
        </p:nvSpPr>
        <p:spPr>
          <a:xfrm>
            <a:off x="3785616" y="3351233"/>
            <a:ext cx="18345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785616" y="3591128"/>
            <a:ext cx="16907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16448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785616" y="4070920"/>
            <a:ext cx="14671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785616" y="4310815"/>
            <a:ext cx="14391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785616" y="4550711"/>
            <a:ext cx="13931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1172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3785616" y="5030502"/>
            <a:ext cx="108452"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10488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785616" y="5510293"/>
            <a:ext cx="9571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785616" y="5750188"/>
            <a:ext cx="9517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90237"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9336024" y="2151755"/>
            <a:ext cx="8707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9" name="Shape 87"/>
          <p:cNvSpPr/>
          <p:nvPr/>
        </p:nvSpPr>
        <p:spPr>
          <a:xfrm>
            <a:off x="9336024" y="2391651"/>
            <a:ext cx="54978"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3" name="Shape 91"/>
          <p:cNvSpPr/>
          <p:nvPr/>
        </p:nvSpPr>
        <p:spPr>
          <a:xfrm>
            <a:off x="9336024" y="2631546"/>
            <a:ext cx="52170"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36024" y="2871442"/>
            <a:ext cx="24496"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9336024" y="3351233"/>
            <a:ext cx="12802"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9326258"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01116" y="3831024"/>
            <a:ext cx="3490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83123" y="4070920"/>
            <a:ext cx="5290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263086" y="4310815"/>
            <a:ext cx="72938"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9244126" y="4550711"/>
            <a:ext cx="91898"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216373" y="4790606"/>
            <a:ext cx="11965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9139860" y="5030502"/>
            <a:ext cx="19616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81728" y="5270397"/>
            <a:ext cx="254296"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13274" y="5510293"/>
            <a:ext cx="62275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 of 33 stores raised service net to gross, led by Hyundai Prescott at +33.5 pts to -19.2%. 9 declined; VW St George fell most at −26.8 pts.</a:t>
            </a:r>
            <a:endParaRPr lang="en-US" sz="1600" dirty="0"/>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+33.5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−10.9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27.2%</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−8.4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18.1%</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+23.6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21.6%</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LR Reno what changed. Ask VW St George, Kia St George and Mazda what got in the way. Ask Hyundai Prescott, LR Henderson and LR Reno what they started this year.</a:t>
            </a:r>
            <a:endParaRPr lang="en-US" sz="1600" dirty="0"/>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37.1%</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−1.1%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48996"/>
          </a:xfrm>
          <a:prstGeom prst="rect">
            <a:avLst/>
          </a:prstGeom>
          <a:solidFill>
            <a:srgbClr val="FBEBEA"/>
          </a:solidFill>
          <a:ln/>
        </p:spPr>
      </p:sp>
      <p:sp>
        <p:nvSpPr>
          <p:cNvPr id="30" name="Text 2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Down 0.4 pts to 36.7%, behind 2025 in four of nine months. Gross grew 1.9% but department profit grew 0.8%.</a:t>
            </a:r>
            <a:endParaRPr lang="en-US" sz="1450" dirty="0"/>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42935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1206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398451"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31746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131272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3008376" y="3346435"/>
            <a:ext cx="130682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127906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3008376" y="3826226"/>
            <a:ext cx="1273414"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6194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008376" y="4306017"/>
            <a:ext cx="123954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20994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008376" y="4785808"/>
            <a:ext cx="114381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5" name="Shape 63"/>
          <p:cNvSpPr/>
          <p:nvPr/>
        </p:nvSpPr>
        <p:spPr>
          <a:xfrm>
            <a:off x="3008376" y="5025704"/>
            <a:ext cx="1134120"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008376" y="5265599"/>
            <a:ext cx="107993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039071"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3008376" y="5745390"/>
            <a:ext cx="102605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994650"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8558784" y="2146957"/>
            <a:ext cx="946998"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9" name="Shape 87"/>
          <p:cNvSpPr/>
          <p:nvPr/>
        </p:nvSpPr>
        <p:spPr>
          <a:xfrm>
            <a:off x="8558784" y="2386853"/>
            <a:ext cx="94103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008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89400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8873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5" name="Shape 103"/>
          <p:cNvSpPr/>
          <p:nvPr/>
        </p:nvSpPr>
        <p:spPr>
          <a:xfrm>
            <a:off x="8558784" y="3346435"/>
            <a:ext cx="86347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767637"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58784" y="3826226"/>
            <a:ext cx="74091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72858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26153"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8558784" y="4545913"/>
            <a:ext cx="6878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6807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5025704"/>
            <a:ext cx="51612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8558784" y="5265599"/>
            <a:ext cx="45537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28719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43" name="Shape 141"/>
          <p:cNvSpPr/>
          <p:nvPr/>
        </p:nvSpPr>
        <p:spPr>
          <a:xfrm>
            <a:off x="4060077" y="1847088"/>
            <a:ext cx="14630" cy="4078224"/>
          </a:xfrm>
          <a:prstGeom prst="rect">
            <a:avLst/>
          </a:prstGeom>
          <a:solidFill>
            <a:srgbClr val="0B2C4A"/>
          </a:solidFill>
          <a:ln/>
        </p:spPr>
      </p:sp>
      <p:sp>
        <p:nvSpPr>
          <p:cNvPr id="144" name="Shape 142"/>
          <p:cNvSpPr/>
          <p:nvPr/>
        </p:nvSpPr>
        <p:spPr>
          <a:xfrm>
            <a:off x="961048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36.7% group, led by Subaru St George at 58.7%. Hyundai Prescott is lowest at 10.0%.</a:t>
            </a:r>
            <a:endParaRPr lang="en-US" sz="1600" dirty="0"/>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−0.4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 name="Shape 15"/>
          <p:cNvSpPr/>
          <p:nvPr/>
        </p:nvSpPr>
        <p:spPr>
          <a:xfrm>
            <a:off x="3785616" y="2151755"/>
            <a:ext cx="7125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+13.1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1" name="Shape 19"/>
          <p:cNvSpPr/>
          <p:nvPr/>
        </p:nvSpPr>
        <p:spPr>
          <a:xfrm>
            <a:off x="3785616" y="2391651"/>
            <a:ext cx="57930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5" name="Shape 23"/>
          <p:cNvSpPr/>
          <p:nvPr/>
        </p:nvSpPr>
        <p:spPr>
          <a:xfrm>
            <a:off x="3785616" y="2631546"/>
            <a:ext cx="41252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9" name="Shape 27"/>
          <p:cNvSpPr/>
          <p:nvPr/>
        </p:nvSpPr>
        <p:spPr>
          <a:xfrm>
            <a:off x="3785616" y="2871442"/>
            <a:ext cx="384335"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3785616" y="3111337"/>
            <a:ext cx="3451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4425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26556"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785616" y="3831024"/>
            <a:ext cx="248228"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17670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7279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12083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1" name="Shape 59"/>
          <p:cNvSpPr/>
          <p:nvPr/>
        </p:nvSpPr>
        <p:spPr>
          <a:xfrm>
            <a:off x="3785616" y="4790606"/>
            <a:ext cx="10967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5" name="Shape 63"/>
          <p:cNvSpPr/>
          <p:nvPr/>
        </p:nvSpPr>
        <p:spPr>
          <a:xfrm>
            <a:off x="3785616" y="5030502"/>
            <a:ext cx="8102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785616" y="5270397"/>
            <a:ext cx="69580"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3" name="Shape 71"/>
          <p:cNvSpPr/>
          <p:nvPr/>
        </p:nvSpPr>
        <p:spPr>
          <a:xfrm>
            <a:off x="3783808" y="5510293"/>
            <a:ext cx="12802" cy="110352"/>
          </a:xfrm>
          <a:prstGeom prst="rect">
            <a:avLst/>
          </a:prstGeom>
          <a:solidFill>
            <a:srgbClr val="C2352F"/>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782938" y="5750188"/>
            <a:ext cx="12802" cy="110352"/>
          </a:xfrm>
          <a:prstGeom prst="rect">
            <a:avLst/>
          </a:prstGeom>
          <a:solidFill>
            <a:srgbClr val="C2352F"/>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279706" y="1911860"/>
            <a:ext cx="56318"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261209" y="2151755"/>
            <a:ext cx="74815"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9" name="Shape 87"/>
          <p:cNvSpPr/>
          <p:nvPr/>
        </p:nvSpPr>
        <p:spPr>
          <a:xfrm>
            <a:off x="9182825" y="2391651"/>
            <a:ext cx="153199"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3" name="Shape 91"/>
          <p:cNvSpPr/>
          <p:nvPr/>
        </p:nvSpPr>
        <p:spPr>
          <a:xfrm>
            <a:off x="9150574" y="2631546"/>
            <a:ext cx="185450"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9107949" y="2871442"/>
            <a:ext cx="22807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106168" y="3111337"/>
            <a:ext cx="22985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076473" y="3351233"/>
            <a:ext cx="25955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037703" y="3591128"/>
            <a:ext cx="29832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035179" y="3831024"/>
            <a:ext cx="300845"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018589" y="4070920"/>
            <a:ext cx="31743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1" name="Shape 119"/>
          <p:cNvSpPr/>
          <p:nvPr/>
        </p:nvSpPr>
        <p:spPr>
          <a:xfrm>
            <a:off x="8963304" y="4310815"/>
            <a:ext cx="3727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8882230" y="4550711"/>
            <a:ext cx="45379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9" name="Shape 127"/>
          <p:cNvSpPr/>
          <p:nvPr/>
        </p:nvSpPr>
        <p:spPr>
          <a:xfrm>
            <a:off x="8795705" y="4790606"/>
            <a:ext cx="54031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725604" y="5030502"/>
            <a:ext cx="61042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691636" y="5270397"/>
            <a:ext cx="64438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652415" y="5510293"/>
            <a:ext cx="683609"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15 of 33 stores raised parts net to gross, led by Lincoln at +14.2 pts to 17.9%. 18 declined; Hyundai Prescott fell most at −12.5 pts.</a:t>
            </a:r>
            <a:endParaRPr lang="en-US" sz="1600" dirty="0"/>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25.2%</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32.9%</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26.6%</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+7.6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44.4%</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+7.0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10.0%</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−12.5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37.5%</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−11.8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23.6%</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−11.2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−9.9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15.8%</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−8.3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35.8%</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40.6%</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+16.5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+15.4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24.1%</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Lincoln, Acura and Nissan what changed. Ask Hyundai Prescott, Hyundai St George and VW St George what got in the way. Ask LR Reno, VW St George and Mazda what they started this year.</a:t>
            </a:r>
            <a:endParaRPr lang="en-US" sz="1600" dirty="0"/>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Can You Control?</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Work it in order: ROs first, then hours per RO, the rate (ELR), the mix and the margin (GP%)</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CP labor $ per RO represents how well you execute, store and individual</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ELR plus hours per RO cannot be manipulated: true performance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Total dollars per RO matters more than any single measure. It's what we sell.</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279,756 ROs</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up only 456. Volume is flat.</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1.87 hrs per RO</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Up 0.07, ahead in all nine months. Every 0.1 hour per RO is worth $4,543,691 of labor.</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 per RO</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up $17. The $4,899,376 labor gain came from selling more per visit.</a:t>
            </a:r>
            <a:endParaRPr lang="en-US" sz="1400" dirty="0"/>
          </a:p>
        </p:txBody>
      </p:sp>
      <p:sp>
        <p:nvSpPr>
          <p:cNvPr id="19" name="Shape 17"/>
          <p:cNvSpPr/>
          <p:nvPr/>
        </p:nvSpPr>
        <p:spPr>
          <a:xfrm>
            <a:off x="457200" y="6126480"/>
            <a:ext cx="11274552" cy="356616"/>
          </a:xfrm>
          <a:prstGeom prst="rect">
            <a:avLst/>
          </a:prstGeom>
          <a:solidFill>
            <a:srgbClr val="E6F6EE"/>
          </a:solidFill>
          <a:ln/>
        </p:spPr>
      </p:sp>
      <p:sp>
        <p:nvSpPr>
          <p:cNvPr id="20" name="Text 1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The ask: with car count flat, the growth is in hours per RO. Sell the next tenth of an hour on every RO.</a:t>
            </a:r>
            <a:endParaRPr lang="en-US" sz="1500" dirty="0"/>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Front Door</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Open and available scheduler: same-day or next-day appointments, quick online scheduling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75% of visits are basic services. Saturdays are what you choose to make them.</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call is a sales opportunity. Mishandled calls cost millions.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Where do calls go after hours and Sundays?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No-show process; first appointment at time of sale; next appointment before the customer leaves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Active retention tracking: work the Viz 'Close to Losing' and 'Unretained' lists</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+0.2%</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13 of 33 stores had fewer CP ROs than last year.</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166 ROs per advisor</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per service advisor a month, down 7. Advisors grew 1.5%; ROs fell 2.3%.</a:t>
            </a:r>
            <a:endParaRPr lang="en-US" sz="1400" dirty="0"/>
          </a:p>
        </p:txBody>
      </p:sp>
      <p:sp>
        <p:nvSpPr>
          <p:cNvPr id="16" name="Shape 14"/>
          <p:cNvSpPr/>
          <p:nvPr/>
        </p:nvSpPr>
        <p:spPr>
          <a:xfrm>
            <a:off x="457200" y="6126480"/>
            <a:ext cx="11274552" cy="341376"/>
          </a:xfrm>
          <a:prstGeom prst="rect">
            <a:avLst/>
          </a:prstGeom>
          <a:solidFill>
            <a:srgbClr val="EDF4FA"/>
          </a:solidFill>
          <a:ln/>
        </p:spPr>
      </p:sp>
      <p:sp>
        <p:nvSpPr>
          <p:cNvPr id="17" name="Text 1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The ask: every customer leaves with the next appointment booked, and every call reaches someone who asks for it.</a:t>
            </a:r>
            <a:endParaRPr lang="en-US" sz="1400" dirty="0"/>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RO Count?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CP RO count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customer-pay repair orders closed in the period</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Every RO with a customer-pay line. One RO counts once, however many lines it has.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Everything else starts here: hours, ELR and $ per RO all multiply off the RO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the business is expanding or contracting: are customers coming back?</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Flat car count means growth has to come from selling more on each visit.</a:t>
            </a:r>
            <a:endParaRPr lang="en-US" sz="1600" dirty="0"/>
          </a:p>
        </p:txBody>
      </p:sp>
      <p:sp>
        <p:nvSpPr>
          <p:cNvPr id="13" name="Shape 11"/>
          <p:cNvSpPr/>
          <p:nvPr/>
        </p:nvSpPr>
        <p:spPr>
          <a:xfrm>
            <a:off x="5138928" y="2843784"/>
            <a:ext cx="45720" cy="801942"/>
          </a:xfrm>
          <a:prstGeom prst="rect">
            <a:avLst/>
          </a:prstGeom>
          <a:solidFill>
            <a:srgbClr val="2587C5"/>
          </a:solidFill>
          <a:ln/>
        </p:spPr>
      </p:sp>
      <p:sp>
        <p:nvSpPr>
          <p:cNvPr id="14" name="Text 12"/>
          <p:cNvSpPr txBox="1"/>
          <p:nvPr/>
        </p:nvSpPr>
        <p:spPr>
          <a:xfrm>
            <a:off x="5266944" y="2843784"/>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Appointment availability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Same-day and next-day slots; an easy online scheduler</a:t>
            </a:r>
            <a:endParaRPr lang="en-US" sz="1400" dirty="0"/>
          </a:p>
        </p:txBody>
      </p:sp>
      <p:sp>
        <p:nvSpPr>
          <p:cNvPr id="15" name="Shape 13"/>
          <p:cNvSpPr/>
          <p:nvPr/>
        </p:nvSpPr>
        <p:spPr>
          <a:xfrm>
            <a:off x="8394192" y="2843784"/>
            <a:ext cx="45720" cy="801942"/>
          </a:xfrm>
          <a:prstGeom prst="rect">
            <a:avLst/>
          </a:prstGeom>
          <a:solidFill>
            <a:srgbClr val="2587C5"/>
          </a:solidFill>
          <a:ln/>
        </p:spPr>
      </p:sp>
      <p:sp>
        <p:nvSpPr>
          <p:cNvPr id="16" name="Text 14"/>
          <p:cNvSpPr txBox="1"/>
          <p:nvPr/>
        </p:nvSpPr>
        <p:spPr>
          <a:xfrm>
            <a:off x="8522208" y="2843784"/>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Phone handling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call answered, and every caller asked for the appointment</a:t>
            </a:r>
            <a:endParaRPr lang="en-US" sz="1400" dirty="0"/>
          </a:p>
        </p:txBody>
      </p:sp>
      <p:sp>
        <p:nvSpPr>
          <p:cNvPr id="17" name="Shape 15"/>
          <p:cNvSpPr/>
          <p:nvPr/>
        </p:nvSpPr>
        <p:spPr>
          <a:xfrm>
            <a:off x="5138928" y="3755454"/>
            <a:ext cx="45720" cy="1121027"/>
          </a:xfrm>
          <a:prstGeom prst="rect">
            <a:avLst/>
          </a:prstGeom>
          <a:solidFill>
            <a:srgbClr val="2587C5"/>
          </a:solidFill>
          <a:ln/>
        </p:spPr>
      </p:sp>
      <p:sp>
        <p:nvSpPr>
          <p:cNvPr id="18" name="Text 16"/>
          <p:cNvSpPr txBox="1"/>
          <p:nvPr/>
        </p:nvSpPr>
        <p:spPr>
          <a:xfrm>
            <a:off x="5266944" y="375545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Retention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Proactive outreach and ongoing engagement: lapsed, inactive and sold-not-serviced customers (VizAuto retention app)</a:t>
            </a:r>
            <a:endParaRPr lang="en-US" sz="1400" dirty="0"/>
          </a:p>
        </p:txBody>
      </p:sp>
      <p:sp>
        <p:nvSpPr>
          <p:cNvPr id="19" name="Shape 17"/>
          <p:cNvSpPr/>
          <p:nvPr/>
        </p:nvSpPr>
        <p:spPr>
          <a:xfrm>
            <a:off x="8394192" y="3755454"/>
            <a:ext cx="45720" cy="1121027"/>
          </a:xfrm>
          <a:prstGeom prst="rect">
            <a:avLst/>
          </a:prstGeom>
          <a:solidFill>
            <a:srgbClr val="2587C5"/>
          </a:solidFill>
          <a:ln/>
        </p:spPr>
      </p:sp>
      <p:sp>
        <p:nvSpPr>
          <p:cNvPr id="20" name="Text 18"/>
          <p:cNvSpPr txBox="1"/>
          <p:nvPr/>
        </p:nvSpPr>
        <p:spPr>
          <a:xfrm>
            <a:off x="8522208" y="375545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Next visit booked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First appointment at the sale; next one before the customer leaves</a:t>
            </a:r>
            <a:endParaRPr lang="en-US" sz="1400" dirty="0"/>
          </a:p>
        </p:txBody>
      </p:sp>
      <p:sp>
        <p:nvSpPr>
          <p:cNvPr id="21" name="Shape 19"/>
          <p:cNvSpPr/>
          <p:nvPr/>
        </p:nvSpPr>
        <p:spPr>
          <a:xfrm>
            <a:off x="5138928" y="4986210"/>
            <a:ext cx="45720" cy="801942"/>
          </a:xfrm>
          <a:prstGeom prst="rect">
            <a:avLst/>
          </a:prstGeom>
          <a:solidFill>
            <a:srgbClr val="2587C5"/>
          </a:solidFill>
          <a:ln/>
        </p:spPr>
      </p:sp>
      <p:sp>
        <p:nvSpPr>
          <p:cNvPr id="22" name="Text 20"/>
          <p:cNvSpPr txBox="1"/>
          <p:nvPr/>
        </p:nvSpPr>
        <p:spPr>
          <a:xfrm>
            <a:off x="5266944"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Express service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easy maintenance keeps customers coming back</a:t>
            </a:r>
            <a:endParaRPr lang="en-US" sz="1400" dirty="0"/>
          </a:p>
        </p:txBody>
      </p:sp>
      <p:sp>
        <p:nvSpPr>
          <p:cNvPr id="23" name="Shape 21"/>
          <p:cNvSpPr/>
          <p:nvPr/>
        </p:nvSpPr>
        <p:spPr>
          <a:xfrm>
            <a:off x="8394192" y="4986210"/>
            <a:ext cx="45720" cy="801942"/>
          </a:xfrm>
          <a:prstGeom prst="rect">
            <a:avLst/>
          </a:prstGeom>
          <a:solidFill>
            <a:srgbClr val="2587C5"/>
          </a:solidFill>
          <a:ln/>
        </p:spPr>
      </p:sp>
      <p:sp>
        <p:nvSpPr>
          <p:cNvPr id="24" name="Text 22"/>
          <p:cNvSpPr txBox="1"/>
          <p:nvPr/>
        </p:nvSpPr>
        <p:spPr>
          <a:xfrm>
            <a:off x="8522208"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Marketing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Fixed ops budget, keyword search, OEM and third-party reminders</a:t>
            </a:r>
            <a:endParaRPr lang="en-US" sz="1400" dirty="0"/>
          </a:p>
        </p:txBody>
      </p:sp>
      <p:sp>
        <p:nvSpPr>
          <p:cNvPr id="25" name="Shape 23"/>
          <p:cNvSpPr/>
          <p:nvPr/>
        </p:nvSpPr>
        <p:spPr>
          <a:xfrm>
            <a:off x="457200" y="6126480"/>
            <a:ext cx="11274552" cy="371856"/>
          </a:xfrm>
          <a:prstGeom prst="rect">
            <a:avLst/>
          </a:prstGeom>
          <a:solidFill>
            <a:srgbClr val="EDF4FA"/>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279,756 CP ROs, up 456 from 2025. Volume is flat.</a:t>
            </a:r>
            <a:endParaRPr lang="en-US" sz="1600" dirty="0"/>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279,300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279,756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456 to 279,756, ahead of 2025 in five of nine months. Volume is flat, so every gain here comes from selling more per RO.</a:t>
            </a:r>
            <a:endParaRPr lang="en-US" sz="1600" dirty="0"/>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279,756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53,084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776079"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672485"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19,520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5" name="Shape 23"/>
          <p:cNvSpPr/>
          <p:nvPr/>
        </p:nvSpPr>
        <p:spPr>
          <a:xfrm>
            <a:off x="2980944" y="2631546"/>
            <a:ext cx="598622"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17,376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9" name="Shape 27"/>
          <p:cNvSpPr/>
          <p:nvPr/>
        </p:nvSpPr>
        <p:spPr>
          <a:xfrm>
            <a:off x="2980944" y="2871442"/>
            <a:ext cx="521623"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2980944" y="3111337"/>
            <a:ext cx="518420"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15,048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2980944" y="3351233"/>
            <a:ext cx="490928"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14,250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64745"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13,490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307648"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8,930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280190"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240227"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6,973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7" name="Shape 55"/>
          <p:cNvSpPr/>
          <p:nvPr/>
        </p:nvSpPr>
        <p:spPr>
          <a:xfrm>
            <a:off x="2980944" y="4550711"/>
            <a:ext cx="217352"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6,309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2980944" y="4790606"/>
            <a:ext cx="196405"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5,701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030502"/>
            <a:ext cx="191307"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5,553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2980944" y="5270397"/>
            <a:ext cx="184589"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5,358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2980944" y="5510293"/>
            <a:ext cx="184106"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5,344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5750188"/>
            <a:ext cx="177251"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5,145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8531352" y="1911860"/>
            <a:ext cx="175873"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31352" y="2151755"/>
            <a:ext cx="157338"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4,567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8531352" y="2391651"/>
            <a:ext cx="138838"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4,030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3" name="Shape 91"/>
          <p:cNvSpPr/>
          <p:nvPr/>
        </p:nvSpPr>
        <p:spPr>
          <a:xfrm>
            <a:off x="8531352" y="2631546"/>
            <a:ext cx="134945"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8531352" y="2871442"/>
            <a:ext cx="134773"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8531352" y="3111337"/>
            <a:ext cx="130191"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3,779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8531352" y="3351233"/>
            <a:ext cx="126470"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3,671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31352" y="3591128"/>
            <a:ext cx="120441"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3,496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31352" y="3831024"/>
            <a:ext cx="117203"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3,402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15377"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310815"/>
            <a:ext cx="107039"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3,107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550711"/>
            <a:ext cx="90606"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2,630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9" name="Shape 127"/>
          <p:cNvSpPr/>
          <p:nvPr/>
        </p:nvSpPr>
        <p:spPr>
          <a:xfrm>
            <a:off x="8531352" y="4790606"/>
            <a:ext cx="6924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31352" y="5030502"/>
            <a:ext cx="66112"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1,919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8531352" y="5270397"/>
            <a:ext cx="53709"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1,559</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510293"/>
            <a:ext cx="48955"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1,421</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53,084; LR Reno is smallest at 1,421.</a:t>
            </a:r>
            <a:endParaRPr lang="en-US" sz="1600" dirty="0"/>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 name="Shape 11"/>
          <p:cNvSpPr/>
          <p:nvPr/>
        </p:nvSpPr>
        <p:spPr>
          <a:xfrm>
            <a:off x="3785616" y="1911860"/>
            <a:ext cx="71947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66758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1" name="Shape 19"/>
          <p:cNvSpPr/>
          <p:nvPr/>
        </p:nvSpPr>
        <p:spPr>
          <a:xfrm>
            <a:off x="3785616" y="2391651"/>
            <a:ext cx="55698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5340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7723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0819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7" name="Shape 35"/>
          <p:cNvSpPr/>
          <p:nvPr/>
        </p:nvSpPr>
        <p:spPr>
          <a:xfrm>
            <a:off x="3785616" y="3351233"/>
            <a:ext cx="3245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591128"/>
            <a:ext cx="29319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193177"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9" name="Shape 47"/>
          <p:cNvSpPr/>
          <p:nvPr/>
        </p:nvSpPr>
        <p:spPr>
          <a:xfrm>
            <a:off x="3785616" y="4070920"/>
            <a:ext cx="18323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817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17181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3865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785616" y="5030502"/>
            <a:ext cx="1360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2550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8937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7727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336024" y="1911860"/>
            <a:ext cx="7223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9331930"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9304957" y="2871442"/>
            <a:ext cx="3106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1" name="Shape 99"/>
          <p:cNvSpPr/>
          <p:nvPr/>
        </p:nvSpPr>
        <p:spPr>
          <a:xfrm>
            <a:off x="9297085" y="3111337"/>
            <a:ext cx="3893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9291949" y="3351233"/>
            <a:ext cx="44075"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131973" y="3591128"/>
            <a:ext cx="20405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9090966" y="3831024"/>
            <a:ext cx="24505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076977" y="4070920"/>
            <a:ext cx="25904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029931" y="4310815"/>
            <a:ext cx="30609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013907" y="4550711"/>
            <a:ext cx="32211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805808" y="4790606"/>
            <a:ext cx="53021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780043" y="5030502"/>
            <a:ext cx="5559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730222" y="5270397"/>
            <a:ext cx="60580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grew CP RO count, led by Kia LV at +13.7% to 8,133. 13 declined; VW St George fell most at −14.7%.</a:t>
            </a:r>
            <a:endParaRPr lang="en-US" sz="1600" dirty="0"/>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One More CP RO a Day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958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5254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8" name="Text 6"/>
          <p:cNvSpPr txBox="1"/>
          <p:nvPr/>
        </p:nvSpPr>
        <p:spPr>
          <a:xfrm>
            <a:off x="513892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9" name="Text 7"/>
          <p:cNvSpPr txBox="1"/>
          <p:nvPr/>
        </p:nvSpPr>
        <p:spPr>
          <a:xfrm>
            <a:off x="9079992"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0295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11" name="Text 9"/>
          <p:cNvSpPr txBox="1"/>
          <p:nvPr/>
        </p:nvSpPr>
        <p:spPr>
          <a:xfrm>
            <a:off x="1068933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 name="Shape 11"/>
          <p:cNvSpPr/>
          <p:nvPr/>
        </p:nvSpPr>
        <p:spPr>
          <a:xfrm>
            <a:off x="2670048" y="1756697"/>
            <a:ext cx="804672" cy="136676"/>
          </a:xfrm>
          <a:prstGeom prst="rect">
            <a:avLst/>
          </a:prstGeom>
          <a:solidFill>
            <a:srgbClr val="2587C5"/>
          </a:solidFill>
          <a:ln/>
        </p:spPr>
      </p:sp>
      <p:sp>
        <p:nvSpPr>
          <p:cNvPr id="14" name="Text 12"/>
          <p:cNvSpPr txBox="1"/>
          <p:nvPr/>
        </p:nvSpPr>
        <p:spPr>
          <a:xfrm>
            <a:off x="3529584"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$358K</a:t>
            </a:r>
            <a:endParaRPr lang="en-US" sz="1300" dirty="0"/>
          </a:p>
        </p:txBody>
      </p:sp>
      <p:sp>
        <p:nvSpPr>
          <p:cNvPr id="15" name="Text 13"/>
          <p:cNvSpPr txBox="1"/>
          <p:nvPr/>
        </p:nvSpPr>
        <p:spPr>
          <a:xfrm>
            <a:off x="4352544"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6" name="Text 14"/>
          <p:cNvSpPr txBox="1"/>
          <p:nvPr/>
        </p:nvSpPr>
        <p:spPr>
          <a:xfrm>
            <a:off x="5138928"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$1,168</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8" name="Shape 16"/>
          <p:cNvSpPr/>
          <p:nvPr/>
        </p:nvSpPr>
        <p:spPr>
          <a:xfrm>
            <a:off x="2670048" y="2005199"/>
            <a:ext cx="786943" cy="136676"/>
          </a:xfrm>
          <a:prstGeom prst="rect">
            <a:avLst/>
          </a:prstGeom>
          <a:solidFill>
            <a:srgbClr val="2587C5"/>
          </a:solidFill>
          <a:ln/>
        </p:spPr>
      </p:sp>
      <p:sp>
        <p:nvSpPr>
          <p:cNvPr id="19" name="Text 17"/>
          <p:cNvSpPr txBox="1"/>
          <p:nvPr/>
        </p:nvSpPr>
        <p:spPr>
          <a:xfrm>
            <a:off x="3529584"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$351K</a:t>
            </a:r>
            <a:endParaRPr lang="en-US" sz="1300" dirty="0"/>
          </a:p>
        </p:txBody>
      </p:sp>
      <p:sp>
        <p:nvSpPr>
          <p:cNvPr id="20" name="Text 18"/>
          <p:cNvSpPr txBox="1"/>
          <p:nvPr/>
        </p:nvSpPr>
        <p:spPr>
          <a:xfrm>
            <a:off x="4352544"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21" name="Text 19"/>
          <p:cNvSpPr txBox="1"/>
          <p:nvPr/>
        </p:nvSpPr>
        <p:spPr>
          <a:xfrm>
            <a:off x="5138928"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$1,142</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23" name="Shape 21"/>
          <p:cNvSpPr/>
          <p:nvPr/>
        </p:nvSpPr>
        <p:spPr>
          <a:xfrm>
            <a:off x="2670048" y="2253700"/>
            <a:ext cx="725286" cy="136676"/>
          </a:xfrm>
          <a:prstGeom prst="rect">
            <a:avLst/>
          </a:prstGeom>
          <a:solidFill>
            <a:srgbClr val="2587C5"/>
          </a:solidFill>
          <a:ln/>
        </p:spPr>
      </p:sp>
      <p:sp>
        <p:nvSpPr>
          <p:cNvPr id="24" name="Text 22"/>
          <p:cNvSpPr txBox="1"/>
          <p:nvPr/>
        </p:nvSpPr>
        <p:spPr>
          <a:xfrm>
            <a:off x="3529584"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$323K</a:t>
            </a:r>
            <a:endParaRPr lang="en-US" sz="1300" dirty="0"/>
          </a:p>
        </p:txBody>
      </p:sp>
      <p:sp>
        <p:nvSpPr>
          <p:cNvPr id="25" name="Text 23"/>
          <p:cNvSpPr txBox="1"/>
          <p:nvPr/>
        </p:nvSpPr>
        <p:spPr>
          <a:xfrm>
            <a:off x="4352544"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6" name="Text 24"/>
          <p:cNvSpPr txBox="1"/>
          <p:nvPr/>
        </p:nvSpPr>
        <p:spPr>
          <a:xfrm>
            <a:off x="5138928"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$1,052</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502202"/>
            <a:ext cx="709617" cy="136676"/>
          </a:xfrm>
          <a:prstGeom prst="rect">
            <a:avLst/>
          </a:prstGeom>
          <a:solidFill>
            <a:srgbClr val="2587C5"/>
          </a:solidFill>
          <a:ln/>
        </p:spPr>
      </p:sp>
      <p:sp>
        <p:nvSpPr>
          <p:cNvPr id="29" name="Text 27"/>
          <p:cNvSpPr txBox="1"/>
          <p:nvPr/>
        </p:nvSpPr>
        <p:spPr>
          <a:xfrm>
            <a:off x="3529584"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$316K</a:t>
            </a:r>
            <a:endParaRPr lang="en-US" sz="1300" dirty="0"/>
          </a:p>
        </p:txBody>
      </p:sp>
      <p:sp>
        <p:nvSpPr>
          <p:cNvPr id="30" name="Text 28"/>
          <p:cNvSpPr txBox="1"/>
          <p:nvPr/>
        </p:nvSpPr>
        <p:spPr>
          <a:xfrm>
            <a:off x="4352544"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31" name="Text 29"/>
          <p:cNvSpPr txBox="1"/>
          <p:nvPr/>
        </p:nvSpPr>
        <p:spPr>
          <a:xfrm>
            <a:off x="5138928"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$1,030</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3" name="Shape 31"/>
          <p:cNvSpPr/>
          <p:nvPr/>
        </p:nvSpPr>
        <p:spPr>
          <a:xfrm>
            <a:off x="2670048" y="2750703"/>
            <a:ext cx="510203" cy="136676"/>
          </a:xfrm>
          <a:prstGeom prst="rect">
            <a:avLst/>
          </a:prstGeom>
          <a:solidFill>
            <a:srgbClr val="2587C5"/>
          </a:solidFill>
          <a:ln/>
        </p:spPr>
      </p:sp>
      <p:sp>
        <p:nvSpPr>
          <p:cNvPr id="34" name="Text 32"/>
          <p:cNvSpPr txBox="1"/>
          <p:nvPr/>
        </p:nvSpPr>
        <p:spPr>
          <a:xfrm>
            <a:off x="3529584"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$227K</a:t>
            </a:r>
            <a:endParaRPr lang="en-US" sz="1300" dirty="0"/>
          </a:p>
        </p:txBody>
      </p:sp>
      <p:sp>
        <p:nvSpPr>
          <p:cNvPr id="35" name="Text 33"/>
          <p:cNvSpPr txBox="1"/>
          <p:nvPr/>
        </p:nvSpPr>
        <p:spPr>
          <a:xfrm>
            <a:off x="4352544"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6" name="Text 34"/>
          <p:cNvSpPr txBox="1"/>
          <p:nvPr/>
        </p:nvSpPr>
        <p:spPr>
          <a:xfrm>
            <a:off x="5138928"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$740</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38" name="Shape 36"/>
          <p:cNvSpPr/>
          <p:nvPr/>
        </p:nvSpPr>
        <p:spPr>
          <a:xfrm>
            <a:off x="2670048" y="2999205"/>
            <a:ext cx="456478" cy="136676"/>
          </a:xfrm>
          <a:prstGeom prst="rect">
            <a:avLst/>
          </a:prstGeom>
          <a:solidFill>
            <a:srgbClr val="2587C5"/>
          </a:solidFill>
          <a:ln/>
        </p:spPr>
      </p:sp>
      <p:sp>
        <p:nvSpPr>
          <p:cNvPr id="39" name="Text 37"/>
          <p:cNvSpPr txBox="1"/>
          <p:nvPr/>
        </p:nvSpPr>
        <p:spPr>
          <a:xfrm>
            <a:off x="3529584"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$203K</a:t>
            </a:r>
            <a:endParaRPr lang="en-US" sz="1300" dirty="0"/>
          </a:p>
        </p:txBody>
      </p:sp>
      <p:sp>
        <p:nvSpPr>
          <p:cNvPr id="40" name="Text 38"/>
          <p:cNvSpPr txBox="1"/>
          <p:nvPr/>
        </p:nvSpPr>
        <p:spPr>
          <a:xfrm>
            <a:off x="4352544"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41" name="Text 39"/>
          <p:cNvSpPr txBox="1"/>
          <p:nvPr/>
        </p:nvSpPr>
        <p:spPr>
          <a:xfrm>
            <a:off x="5138928"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$662</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3" name="Shape 41"/>
          <p:cNvSpPr/>
          <p:nvPr/>
        </p:nvSpPr>
        <p:spPr>
          <a:xfrm>
            <a:off x="2670048" y="3247707"/>
            <a:ext cx="350480" cy="136676"/>
          </a:xfrm>
          <a:prstGeom prst="rect">
            <a:avLst/>
          </a:prstGeom>
          <a:solidFill>
            <a:srgbClr val="2587C5"/>
          </a:solidFill>
          <a:ln/>
        </p:spPr>
      </p:sp>
      <p:sp>
        <p:nvSpPr>
          <p:cNvPr id="44" name="Text 42"/>
          <p:cNvSpPr txBox="1"/>
          <p:nvPr/>
        </p:nvSpPr>
        <p:spPr>
          <a:xfrm>
            <a:off x="3529584"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45" name="Text 43"/>
          <p:cNvSpPr txBox="1"/>
          <p:nvPr/>
        </p:nvSpPr>
        <p:spPr>
          <a:xfrm>
            <a:off x="4352544"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46" name="Text 44"/>
          <p:cNvSpPr txBox="1"/>
          <p:nvPr/>
        </p:nvSpPr>
        <p:spPr>
          <a:xfrm>
            <a:off x="5138928"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48" name="Shape 46"/>
          <p:cNvSpPr/>
          <p:nvPr/>
        </p:nvSpPr>
        <p:spPr>
          <a:xfrm>
            <a:off x="2670048" y="3496208"/>
            <a:ext cx="331101" cy="136676"/>
          </a:xfrm>
          <a:prstGeom prst="rect">
            <a:avLst/>
          </a:prstGeom>
          <a:solidFill>
            <a:srgbClr val="2587C5"/>
          </a:solidFill>
          <a:ln/>
        </p:spPr>
      </p:sp>
      <p:sp>
        <p:nvSpPr>
          <p:cNvPr id="49" name="Text 47"/>
          <p:cNvSpPr txBox="1"/>
          <p:nvPr/>
        </p:nvSpPr>
        <p:spPr>
          <a:xfrm>
            <a:off x="3529584"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$148K</a:t>
            </a:r>
            <a:endParaRPr lang="en-US" sz="1300" dirty="0"/>
          </a:p>
        </p:txBody>
      </p:sp>
      <p:sp>
        <p:nvSpPr>
          <p:cNvPr id="50" name="Text 48"/>
          <p:cNvSpPr txBox="1"/>
          <p:nvPr/>
        </p:nvSpPr>
        <p:spPr>
          <a:xfrm>
            <a:off x="4352544"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1" name="Text 49"/>
          <p:cNvSpPr txBox="1"/>
          <p:nvPr/>
        </p:nvSpPr>
        <p:spPr>
          <a:xfrm>
            <a:off x="5138928"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$480</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53" name="Shape 51"/>
          <p:cNvSpPr/>
          <p:nvPr/>
        </p:nvSpPr>
        <p:spPr>
          <a:xfrm>
            <a:off x="2670048" y="3744710"/>
            <a:ext cx="316904" cy="136676"/>
          </a:xfrm>
          <a:prstGeom prst="rect">
            <a:avLst/>
          </a:prstGeom>
          <a:solidFill>
            <a:srgbClr val="2587C5"/>
          </a:solidFill>
          <a:ln/>
        </p:spPr>
      </p:sp>
      <p:sp>
        <p:nvSpPr>
          <p:cNvPr id="54" name="Text 52"/>
          <p:cNvSpPr txBox="1"/>
          <p:nvPr/>
        </p:nvSpPr>
        <p:spPr>
          <a:xfrm>
            <a:off x="3529584"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$141K</a:t>
            </a:r>
            <a:endParaRPr lang="en-US" sz="1300" dirty="0"/>
          </a:p>
        </p:txBody>
      </p:sp>
      <p:sp>
        <p:nvSpPr>
          <p:cNvPr id="55" name="Text 53"/>
          <p:cNvSpPr txBox="1"/>
          <p:nvPr/>
        </p:nvSpPr>
        <p:spPr>
          <a:xfrm>
            <a:off x="4352544"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56" name="Text 54"/>
          <p:cNvSpPr txBox="1"/>
          <p:nvPr/>
        </p:nvSpPr>
        <p:spPr>
          <a:xfrm>
            <a:off x="5138928"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8" name="Shape 56"/>
          <p:cNvSpPr/>
          <p:nvPr/>
        </p:nvSpPr>
        <p:spPr>
          <a:xfrm>
            <a:off x="2670048" y="3993212"/>
            <a:ext cx="295308" cy="136676"/>
          </a:xfrm>
          <a:prstGeom prst="rect">
            <a:avLst/>
          </a:prstGeom>
          <a:solidFill>
            <a:srgbClr val="2587C5"/>
          </a:solidFill>
          <a:ln/>
        </p:spPr>
      </p:sp>
      <p:sp>
        <p:nvSpPr>
          <p:cNvPr id="59" name="Text 57"/>
          <p:cNvSpPr txBox="1"/>
          <p:nvPr/>
        </p:nvSpPr>
        <p:spPr>
          <a:xfrm>
            <a:off x="3529584"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60" name="Text 58"/>
          <p:cNvSpPr txBox="1"/>
          <p:nvPr/>
        </p:nvSpPr>
        <p:spPr>
          <a:xfrm>
            <a:off x="4352544"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61" name="Text 59"/>
          <p:cNvSpPr txBox="1"/>
          <p:nvPr/>
        </p:nvSpPr>
        <p:spPr>
          <a:xfrm>
            <a:off x="5138928"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$429</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3" name="Shape 61"/>
          <p:cNvSpPr/>
          <p:nvPr/>
        </p:nvSpPr>
        <p:spPr>
          <a:xfrm>
            <a:off x="2670048" y="4241713"/>
            <a:ext cx="279971" cy="136676"/>
          </a:xfrm>
          <a:prstGeom prst="rect">
            <a:avLst/>
          </a:prstGeom>
          <a:solidFill>
            <a:srgbClr val="2587C5"/>
          </a:solidFill>
          <a:ln/>
        </p:spPr>
      </p:sp>
      <p:sp>
        <p:nvSpPr>
          <p:cNvPr id="64" name="Text 62"/>
          <p:cNvSpPr txBox="1"/>
          <p:nvPr/>
        </p:nvSpPr>
        <p:spPr>
          <a:xfrm>
            <a:off x="3529584"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$125K</a:t>
            </a:r>
            <a:endParaRPr lang="en-US" sz="1300" dirty="0"/>
          </a:p>
        </p:txBody>
      </p:sp>
      <p:sp>
        <p:nvSpPr>
          <p:cNvPr id="65" name="Text 63"/>
          <p:cNvSpPr txBox="1"/>
          <p:nvPr/>
        </p:nvSpPr>
        <p:spPr>
          <a:xfrm>
            <a:off x="4352544"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66" name="Text 64"/>
          <p:cNvSpPr txBox="1"/>
          <p:nvPr/>
        </p:nvSpPr>
        <p:spPr>
          <a:xfrm>
            <a:off x="5138928"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68" name="Shape 66"/>
          <p:cNvSpPr/>
          <p:nvPr/>
        </p:nvSpPr>
        <p:spPr>
          <a:xfrm>
            <a:off x="2670048" y="4490215"/>
            <a:ext cx="275254" cy="136676"/>
          </a:xfrm>
          <a:prstGeom prst="rect">
            <a:avLst/>
          </a:prstGeom>
          <a:solidFill>
            <a:srgbClr val="2587C5"/>
          </a:solidFill>
          <a:ln/>
        </p:spPr>
      </p:sp>
      <p:sp>
        <p:nvSpPr>
          <p:cNvPr id="69" name="Text 67"/>
          <p:cNvSpPr txBox="1"/>
          <p:nvPr/>
        </p:nvSpPr>
        <p:spPr>
          <a:xfrm>
            <a:off x="3529584"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70" name="Text 68"/>
          <p:cNvSpPr txBox="1"/>
          <p:nvPr/>
        </p:nvSpPr>
        <p:spPr>
          <a:xfrm>
            <a:off x="4352544"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71" name="Text 69"/>
          <p:cNvSpPr txBox="1"/>
          <p:nvPr/>
        </p:nvSpPr>
        <p:spPr>
          <a:xfrm>
            <a:off x="5138928"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73" name="Shape 71"/>
          <p:cNvSpPr/>
          <p:nvPr/>
        </p:nvSpPr>
        <p:spPr>
          <a:xfrm>
            <a:off x="2670048" y="4738717"/>
            <a:ext cx="249770" cy="136676"/>
          </a:xfrm>
          <a:prstGeom prst="rect">
            <a:avLst/>
          </a:prstGeom>
          <a:solidFill>
            <a:srgbClr val="2587C5"/>
          </a:solidFill>
          <a:ln/>
        </p:spPr>
      </p:sp>
      <p:sp>
        <p:nvSpPr>
          <p:cNvPr id="74" name="Text 72"/>
          <p:cNvSpPr txBox="1"/>
          <p:nvPr/>
        </p:nvSpPr>
        <p:spPr>
          <a:xfrm>
            <a:off x="3529584"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$111K</a:t>
            </a:r>
            <a:endParaRPr lang="en-US" sz="1300" dirty="0"/>
          </a:p>
        </p:txBody>
      </p:sp>
      <p:sp>
        <p:nvSpPr>
          <p:cNvPr id="75" name="Text 73"/>
          <p:cNvSpPr txBox="1"/>
          <p:nvPr/>
        </p:nvSpPr>
        <p:spPr>
          <a:xfrm>
            <a:off x="4352544"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a:t>
            </a:r>
            <a:endParaRPr lang="en-US" sz="1300" dirty="0"/>
          </a:p>
        </p:txBody>
      </p:sp>
      <p:sp>
        <p:nvSpPr>
          <p:cNvPr id="76" name="Text 74"/>
          <p:cNvSpPr txBox="1"/>
          <p:nvPr/>
        </p:nvSpPr>
        <p:spPr>
          <a:xfrm>
            <a:off x="5138928"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$362</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8" name="Shape 76"/>
          <p:cNvSpPr/>
          <p:nvPr/>
        </p:nvSpPr>
        <p:spPr>
          <a:xfrm>
            <a:off x="2670048" y="4987218"/>
            <a:ext cx="246222" cy="136676"/>
          </a:xfrm>
          <a:prstGeom prst="rect">
            <a:avLst/>
          </a:prstGeom>
          <a:solidFill>
            <a:srgbClr val="2587C5"/>
          </a:solidFill>
          <a:ln/>
        </p:spPr>
      </p:sp>
      <p:sp>
        <p:nvSpPr>
          <p:cNvPr id="79" name="Text 77"/>
          <p:cNvSpPr txBox="1"/>
          <p:nvPr/>
        </p:nvSpPr>
        <p:spPr>
          <a:xfrm>
            <a:off x="3529584"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$110K</a:t>
            </a:r>
            <a:endParaRPr lang="en-US" sz="1300" dirty="0"/>
          </a:p>
        </p:txBody>
      </p:sp>
      <p:sp>
        <p:nvSpPr>
          <p:cNvPr id="80" name="Text 78"/>
          <p:cNvSpPr txBox="1"/>
          <p:nvPr/>
        </p:nvSpPr>
        <p:spPr>
          <a:xfrm>
            <a:off x="4352544"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81" name="Text 79"/>
          <p:cNvSpPr txBox="1"/>
          <p:nvPr/>
        </p:nvSpPr>
        <p:spPr>
          <a:xfrm>
            <a:off x="5138928"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83" name="Shape 81"/>
          <p:cNvSpPr/>
          <p:nvPr/>
        </p:nvSpPr>
        <p:spPr>
          <a:xfrm>
            <a:off x="2670048" y="5235720"/>
            <a:ext cx="245006" cy="136676"/>
          </a:xfrm>
          <a:prstGeom prst="rect">
            <a:avLst/>
          </a:prstGeom>
          <a:solidFill>
            <a:srgbClr val="2587C5"/>
          </a:solidFill>
          <a:ln/>
        </p:spPr>
      </p:sp>
      <p:sp>
        <p:nvSpPr>
          <p:cNvPr id="84" name="Text 82"/>
          <p:cNvSpPr txBox="1"/>
          <p:nvPr/>
        </p:nvSpPr>
        <p:spPr>
          <a:xfrm>
            <a:off x="3529584"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85" name="Text 83"/>
          <p:cNvSpPr txBox="1"/>
          <p:nvPr/>
        </p:nvSpPr>
        <p:spPr>
          <a:xfrm>
            <a:off x="4352544"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86" name="Text 84"/>
          <p:cNvSpPr txBox="1"/>
          <p:nvPr/>
        </p:nvSpPr>
        <p:spPr>
          <a:xfrm>
            <a:off x="5138928"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$356</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8" name="Shape 86"/>
          <p:cNvSpPr/>
          <p:nvPr/>
        </p:nvSpPr>
        <p:spPr>
          <a:xfrm>
            <a:off x="2670048" y="5484222"/>
            <a:ext cx="243965" cy="136676"/>
          </a:xfrm>
          <a:prstGeom prst="rect">
            <a:avLst/>
          </a:prstGeom>
          <a:solidFill>
            <a:srgbClr val="2587C5"/>
          </a:solidFill>
          <a:ln/>
        </p:spPr>
      </p:sp>
      <p:sp>
        <p:nvSpPr>
          <p:cNvPr id="89" name="Text 87"/>
          <p:cNvSpPr txBox="1"/>
          <p:nvPr/>
        </p:nvSpPr>
        <p:spPr>
          <a:xfrm>
            <a:off x="3529584"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90" name="Text 88"/>
          <p:cNvSpPr txBox="1"/>
          <p:nvPr/>
        </p:nvSpPr>
        <p:spPr>
          <a:xfrm>
            <a:off x="4352544"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a:t>
            </a:r>
            <a:endParaRPr lang="en-US" sz="1300" dirty="0"/>
          </a:p>
        </p:txBody>
      </p:sp>
      <p:sp>
        <p:nvSpPr>
          <p:cNvPr id="91" name="Text 89"/>
          <p:cNvSpPr txBox="1"/>
          <p:nvPr/>
        </p:nvSpPr>
        <p:spPr>
          <a:xfrm>
            <a:off x="5138928"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$354</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93" name="Shape 91"/>
          <p:cNvSpPr/>
          <p:nvPr/>
        </p:nvSpPr>
        <p:spPr>
          <a:xfrm>
            <a:off x="2670048" y="5732723"/>
            <a:ext cx="232714" cy="136676"/>
          </a:xfrm>
          <a:prstGeom prst="rect">
            <a:avLst/>
          </a:prstGeom>
          <a:solidFill>
            <a:srgbClr val="2587C5"/>
          </a:solidFill>
          <a:ln/>
        </p:spPr>
      </p:sp>
      <p:sp>
        <p:nvSpPr>
          <p:cNvPr id="94" name="Text 92"/>
          <p:cNvSpPr txBox="1"/>
          <p:nvPr/>
        </p:nvSpPr>
        <p:spPr>
          <a:xfrm>
            <a:off x="3529584" y="567681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$104K</a:t>
            </a:r>
            <a:endParaRPr lang="en-US" sz="1300" dirty="0"/>
          </a:p>
        </p:txBody>
      </p:sp>
      <p:sp>
        <p:nvSpPr>
          <p:cNvPr id="95" name="Text 93"/>
          <p:cNvSpPr txBox="1"/>
          <p:nvPr/>
        </p:nvSpPr>
        <p:spPr>
          <a:xfrm>
            <a:off x="4352544" y="567681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96" name="Text 94"/>
          <p:cNvSpPr txBox="1"/>
          <p:nvPr/>
        </p:nvSpPr>
        <p:spPr>
          <a:xfrm>
            <a:off x="5138928" y="567681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$338</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98" name="Shape 96"/>
          <p:cNvSpPr/>
          <p:nvPr/>
        </p:nvSpPr>
        <p:spPr>
          <a:xfrm>
            <a:off x="8220456" y="1756697"/>
            <a:ext cx="232057" cy="136676"/>
          </a:xfrm>
          <a:prstGeom prst="rect">
            <a:avLst/>
          </a:prstGeom>
          <a:solidFill>
            <a:srgbClr val="2587C5"/>
          </a:solidFill>
          <a:ln/>
        </p:spPr>
      </p:sp>
      <p:sp>
        <p:nvSpPr>
          <p:cNvPr id="99" name="Text 97"/>
          <p:cNvSpPr txBox="1"/>
          <p:nvPr/>
        </p:nvSpPr>
        <p:spPr>
          <a:xfrm>
            <a:off x="9079992"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$103K</a:t>
            </a:r>
            <a:endParaRPr lang="en-US" sz="1300" dirty="0"/>
          </a:p>
        </p:txBody>
      </p:sp>
      <p:sp>
        <p:nvSpPr>
          <p:cNvPr id="100" name="Text 98"/>
          <p:cNvSpPr txBox="1"/>
          <p:nvPr/>
        </p:nvSpPr>
        <p:spPr>
          <a:xfrm>
            <a:off x="9902952"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101" name="Text 99"/>
          <p:cNvSpPr txBox="1"/>
          <p:nvPr/>
        </p:nvSpPr>
        <p:spPr>
          <a:xfrm>
            <a:off x="10689336"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03" name="Shape 101"/>
          <p:cNvSpPr/>
          <p:nvPr/>
        </p:nvSpPr>
        <p:spPr>
          <a:xfrm>
            <a:off x="8220456" y="2005199"/>
            <a:ext cx="227868" cy="136676"/>
          </a:xfrm>
          <a:prstGeom prst="rect">
            <a:avLst/>
          </a:prstGeom>
          <a:solidFill>
            <a:srgbClr val="2587C5"/>
          </a:solidFill>
          <a:ln/>
        </p:spPr>
      </p:sp>
      <p:sp>
        <p:nvSpPr>
          <p:cNvPr id="104" name="Text 102"/>
          <p:cNvSpPr txBox="1"/>
          <p:nvPr/>
        </p:nvSpPr>
        <p:spPr>
          <a:xfrm>
            <a:off x="9079992"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105" name="Text 103"/>
          <p:cNvSpPr txBox="1"/>
          <p:nvPr/>
        </p:nvSpPr>
        <p:spPr>
          <a:xfrm>
            <a:off x="9902952"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06" name="Text 104"/>
          <p:cNvSpPr txBox="1"/>
          <p:nvPr/>
        </p:nvSpPr>
        <p:spPr>
          <a:xfrm>
            <a:off x="10689336"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$331</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08" name="Shape 106"/>
          <p:cNvSpPr/>
          <p:nvPr/>
        </p:nvSpPr>
        <p:spPr>
          <a:xfrm>
            <a:off x="8220456" y="2253700"/>
            <a:ext cx="216710" cy="136676"/>
          </a:xfrm>
          <a:prstGeom prst="rect">
            <a:avLst/>
          </a:prstGeom>
          <a:solidFill>
            <a:srgbClr val="2587C5"/>
          </a:solidFill>
          <a:ln/>
        </p:spPr>
      </p:sp>
      <p:sp>
        <p:nvSpPr>
          <p:cNvPr id="109" name="Text 107"/>
          <p:cNvSpPr txBox="1"/>
          <p:nvPr/>
        </p:nvSpPr>
        <p:spPr>
          <a:xfrm>
            <a:off x="9079992"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$97K</a:t>
            </a:r>
            <a:endParaRPr lang="en-US" sz="1300" dirty="0"/>
          </a:p>
        </p:txBody>
      </p:sp>
      <p:sp>
        <p:nvSpPr>
          <p:cNvPr id="110" name="Text 108"/>
          <p:cNvSpPr txBox="1"/>
          <p:nvPr/>
        </p:nvSpPr>
        <p:spPr>
          <a:xfrm>
            <a:off x="9902952"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11" name="Text 109"/>
          <p:cNvSpPr txBox="1"/>
          <p:nvPr/>
        </p:nvSpPr>
        <p:spPr>
          <a:xfrm>
            <a:off x="10689336"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$314</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3" name="Shape 111"/>
          <p:cNvSpPr/>
          <p:nvPr/>
        </p:nvSpPr>
        <p:spPr>
          <a:xfrm>
            <a:off x="8220456" y="2502202"/>
            <a:ext cx="213355" cy="136676"/>
          </a:xfrm>
          <a:prstGeom prst="rect">
            <a:avLst/>
          </a:prstGeom>
          <a:solidFill>
            <a:srgbClr val="2587C5"/>
          </a:solidFill>
          <a:ln/>
        </p:spPr>
      </p:sp>
      <p:sp>
        <p:nvSpPr>
          <p:cNvPr id="114" name="Text 112"/>
          <p:cNvSpPr txBox="1"/>
          <p:nvPr/>
        </p:nvSpPr>
        <p:spPr>
          <a:xfrm>
            <a:off x="9079992"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$95K</a:t>
            </a:r>
            <a:endParaRPr lang="en-US" sz="1300" dirty="0"/>
          </a:p>
        </p:txBody>
      </p:sp>
      <p:sp>
        <p:nvSpPr>
          <p:cNvPr id="115" name="Text 113"/>
          <p:cNvSpPr txBox="1"/>
          <p:nvPr/>
        </p:nvSpPr>
        <p:spPr>
          <a:xfrm>
            <a:off x="9902952"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16" name="Text 114"/>
          <p:cNvSpPr txBox="1"/>
          <p:nvPr/>
        </p:nvSpPr>
        <p:spPr>
          <a:xfrm>
            <a:off x="10689336"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8" name="Shape 116"/>
          <p:cNvSpPr/>
          <p:nvPr/>
        </p:nvSpPr>
        <p:spPr>
          <a:xfrm>
            <a:off x="8220456" y="2750703"/>
            <a:ext cx="211393" cy="136676"/>
          </a:xfrm>
          <a:prstGeom prst="rect">
            <a:avLst/>
          </a:prstGeom>
          <a:solidFill>
            <a:srgbClr val="2587C5"/>
          </a:solidFill>
          <a:ln/>
        </p:spPr>
      </p:sp>
      <p:sp>
        <p:nvSpPr>
          <p:cNvPr id="119" name="Text 117"/>
          <p:cNvSpPr txBox="1"/>
          <p:nvPr/>
        </p:nvSpPr>
        <p:spPr>
          <a:xfrm>
            <a:off x="9079992"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$94K</a:t>
            </a:r>
            <a:endParaRPr lang="en-US" sz="1300" dirty="0"/>
          </a:p>
        </p:txBody>
      </p:sp>
      <p:sp>
        <p:nvSpPr>
          <p:cNvPr id="120" name="Text 118"/>
          <p:cNvSpPr txBox="1"/>
          <p:nvPr/>
        </p:nvSpPr>
        <p:spPr>
          <a:xfrm>
            <a:off x="9902952"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121" name="Text 119"/>
          <p:cNvSpPr txBox="1"/>
          <p:nvPr/>
        </p:nvSpPr>
        <p:spPr>
          <a:xfrm>
            <a:off x="10689336"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$307</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23" name="Shape 121"/>
          <p:cNvSpPr/>
          <p:nvPr/>
        </p:nvSpPr>
        <p:spPr>
          <a:xfrm>
            <a:off x="8220456" y="2999205"/>
            <a:ext cx="201201" cy="136676"/>
          </a:xfrm>
          <a:prstGeom prst="rect">
            <a:avLst/>
          </a:prstGeom>
          <a:solidFill>
            <a:srgbClr val="2587C5"/>
          </a:solidFill>
          <a:ln/>
        </p:spPr>
      </p:sp>
      <p:sp>
        <p:nvSpPr>
          <p:cNvPr id="124" name="Text 122"/>
          <p:cNvSpPr txBox="1"/>
          <p:nvPr/>
        </p:nvSpPr>
        <p:spPr>
          <a:xfrm>
            <a:off x="9079992"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$90K</a:t>
            </a:r>
            <a:endParaRPr lang="en-US" sz="1300" dirty="0"/>
          </a:p>
        </p:txBody>
      </p:sp>
      <p:sp>
        <p:nvSpPr>
          <p:cNvPr id="125" name="Text 123"/>
          <p:cNvSpPr txBox="1"/>
          <p:nvPr/>
        </p:nvSpPr>
        <p:spPr>
          <a:xfrm>
            <a:off x="9902952"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126" name="Text 124"/>
          <p:cNvSpPr txBox="1"/>
          <p:nvPr/>
        </p:nvSpPr>
        <p:spPr>
          <a:xfrm>
            <a:off x="10689336"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8" name="Shape 126"/>
          <p:cNvSpPr/>
          <p:nvPr/>
        </p:nvSpPr>
        <p:spPr>
          <a:xfrm>
            <a:off x="8220456" y="3247707"/>
            <a:ext cx="195251" cy="136676"/>
          </a:xfrm>
          <a:prstGeom prst="rect">
            <a:avLst/>
          </a:prstGeom>
          <a:solidFill>
            <a:srgbClr val="2587C5"/>
          </a:solidFill>
          <a:ln/>
        </p:spPr>
      </p:sp>
      <p:sp>
        <p:nvSpPr>
          <p:cNvPr id="129" name="Text 127"/>
          <p:cNvSpPr txBox="1"/>
          <p:nvPr/>
        </p:nvSpPr>
        <p:spPr>
          <a:xfrm>
            <a:off x="9079992"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$87K</a:t>
            </a:r>
            <a:endParaRPr lang="en-US" sz="1300" dirty="0"/>
          </a:p>
        </p:txBody>
      </p:sp>
      <p:sp>
        <p:nvSpPr>
          <p:cNvPr id="130" name="Text 128"/>
          <p:cNvSpPr txBox="1"/>
          <p:nvPr/>
        </p:nvSpPr>
        <p:spPr>
          <a:xfrm>
            <a:off x="9902952"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31" name="Text 129"/>
          <p:cNvSpPr txBox="1"/>
          <p:nvPr/>
        </p:nvSpPr>
        <p:spPr>
          <a:xfrm>
            <a:off x="10689336"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3496208"/>
            <a:ext cx="193063" cy="136676"/>
          </a:xfrm>
          <a:prstGeom prst="rect">
            <a:avLst/>
          </a:prstGeom>
          <a:solidFill>
            <a:srgbClr val="2587C5"/>
          </a:solidFill>
          <a:ln/>
        </p:spPr>
      </p:sp>
      <p:sp>
        <p:nvSpPr>
          <p:cNvPr id="134" name="Text 132"/>
          <p:cNvSpPr txBox="1"/>
          <p:nvPr/>
        </p:nvSpPr>
        <p:spPr>
          <a:xfrm>
            <a:off x="9079992"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$86K</a:t>
            </a:r>
            <a:endParaRPr lang="en-US" sz="1300" dirty="0"/>
          </a:p>
        </p:txBody>
      </p:sp>
      <p:sp>
        <p:nvSpPr>
          <p:cNvPr id="135" name="Text 133"/>
          <p:cNvSpPr txBox="1"/>
          <p:nvPr/>
        </p:nvSpPr>
        <p:spPr>
          <a:xfrm>
            <a:off x="9902952"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36" name="Text 134"/>
          <p:cNvSpPr txBox="1"/>
          <p:nvPr/>
        </p:nvSpPr>
        <p:spPr>
          <a:xfrm>
            <a:off x="10689336"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8" name="Shape 136"/>
          <p:cNvSpPr/>
          <p:nvPr/>
        </p:nvSpPr>
        <p:spPr>
          <a:xfrm>
            <a:off x="8220456" y="3744710"/>
            <a:ext cx="184766" cy="136676"/>
          </a:xfrm>
          <a:prstGeom prst="rect">
            <a:avLst/>
          </a:prstGeom>
          <a:solidFill>
            <a:srgbClr val="2587C5"/>
          </a:solidFill>
          <a:ln/>
        </p:spPr>
      </p:sp>
      <p:sp>
        <p:nvSpPr>
          <p:cNvPr id="139" name="Text 137"/>
          <p:cNvSpPr txBox="1"/>
          <p:nvPr/>
        </p:nvSpPr>
        <p:spPr>
          <a:xfrm>
            <a:off x="9079992"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$82K</a:t>
            </a:r>
            <a:endParaRPr lang="en-US" sz="1300" dirty="0"/>
          </a:p>
        </p:txBody>
      </p:sp>
      <p:sp>
        <p:nvSpPr>
          <p:cNvPr id="140" name="Text 138"/>
          <p:cNvSpPr txBox="1"/>
          <p:nvPr/>
        </p:nvSpPr>
        <p:spPr>
          <a:xfrm>
            <a:off x="9902952"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141" name="Text 139"/>
          <p:cNvSpPr txBox="1"/>
          <p:nvPr/>
        </p:nvSpPr>
        <p:spPr>
          <a:xfrm>
            <a:off x="10689336"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43" name="Shape 141"/>
          <p:cNvSpPr/>
          <p:nvPr/>
        </p:nvSpPr>
        <p:spPr>
          <a:xfrm>
            <a:off x="8220456" y="3993212"/>
            <a:ext cx="166831" cy="136676"/>
          </a:xfrm>
          <a:prstGeom prst="rect">
            <a:avLst/>
          </a:prstGeom>
          <a:solidFill>
            <a:srgbClr val="2587C5"/>
          </a:solidFill>
          <a:ln/>
        </p:spPr>
      </p:sp>
      <p:sp>
        <p:nvSpPr>
          <p:cNvPr id="144" name="Text 142"/>
          <p:cNvSpPr txBox="1"/>
          <p:nvPr/>
        </p:nvSpPr>
        <p:spPr>
          <a:xfrm>
            <a:off x="9079992"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$74K</a:t>
            </a:r>
            <a:endParaRPr lang="en-US" sz="1300" dirty="0"/>
          </a:p>
        </p:txBody>
      </p:sp>
      <p:sp>
        <p:nvSpPr>
          <p:cNvPr id="145" name="Text 143"/>
          <p:cNvSpPr txBox="1"/>
          <p:nvPr/>
        </p:nvSpPr>
        <p:spPr>
          <a:xfrm>
            <a:off x="9902952"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46" name="Text 144"/>
          <p:cNvSpPr txBox="1"/>
          <p:nvPr/>
        </p:nvSpPr>
        <p:spPr>
          <a:xfrm>
            <a:off x="10689336"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$242</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48" name="Shape 146"/>
          <p:cNvSpPr/>
          <p:nvPr/>
        </p:nvSpPr>
        <p:spPr>
          <a:xfrm>
            <a:off x="8220456" y="4241713"/>
            <a:ext cx="163399" cy="136676"/>
          </a:xfrm>
          <a:prstGeom prst="rect">
            <a:avLst/>
          </a:prstGeom>
          <a:solidFill>
            <a:srgbClr val="2587C5"/>
          </a:solidFill>
          <a:ln/>
        </p:spPr>
      </p:sp>
      <p:sp>
        <p:nvSpPr>
          <p:cNvPr id="149" name="Text 147"/>
          <p:cNvSpPr txBox="1"/>
          <p:nvPr/>
        </p:nvSpPr>
        <p:spPr>
          <a:xfrm>
            <a:off x="9079992"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50" name="Text 148"/>
          <p:cNvSpPr txBox="1"/>
          <p:nvPr/>
        </p:nvSpPr>
        <p:spPr>
          <a:xfrm>
            <a:off x="9902952"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51" name="Text 149"/>
          <p:cNvSpPr txBox="1"/>
          <p:nvPr/>
        </p:nvSpPr>
        <p:spPr>
          <a:xfrm>
            <a:off x="10689336"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53" name="Shape 151"/>
          <p:cNvSpPr/>
          <p:nvPr/>
        </p:nvSpPr>
        <p:spPr>
          <a:xfrm>
            <a:off x="8220456" y="4490215"/>
            <a:ext cx="163357" cy="136676"/>
          </a:xfrm>
          <a:prstGeom prst="rect">
            <a:avLst/>
          </a:prstGeom>
          <a:solidFill>
            <a:srgbClr val="2587C5"/>
          </a:solidFill>
          <a:ln/>
        </p:spPr>
      </p:sp>
      <p:sp>
        <p:nvSpPr>
          <p:cNvPr id="154" name="Text 152"/>
          <p:cNvSpPr txBox="1"/>
          <p:nvPr/>
        </p:nvSpPr>
        <p:spPr>
          <a:xfrm>
            <a:off x="9079992"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55" name="Text 153"/>
          <p:cNvSpPr txBox="1"/>
          <p:nvPr/>
        </p:nvSpPr>
        <p:spPr>
          <a:xfrm>
            <a:off x="9902952"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156" name="Text 154"/>
          <p:cNvSpPr txBox="1"/>
          <p:nvPr/>
        </p:nvSpPr>
        <p:spPr>
          <a:xfrm>
            <a:off x="10689336"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58" name="Shape 156"/>
          <p:cNvSpPr/>
          <p:nvPr/>
        </p:nvSpPr>
        <p:spPr>
          <a:xfrm>
            <a:off x="8220456" y="4738717"/>
            <a:ext cx="163282" cy="136676"/>
          </a:xfrm>
          <a:prstGeom prst="rect">
            <a:avLst/>
          </a:prstGeom>
          <a:solidFill>
            <a:srgbClr val="2587C5"/>
          </a:solidFill>
          <a:ln/>
        </p:spPr>
      </p:sp>
      <p:sp>
        <p:nvSpPr>
          <p:cNvPr id="159" name="Text 157"/>
          <p:cNvSpPr txBox="1"/>
          <p:nvPr/>
        </p:nvSpPr>
        <p:spPr>
          <a:xfrm>
            <a:off x="9079992"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60" name="Text 158"/>
          <p:cNvSpPr txBox="1"/>
          <p:nvPr/>
        </p:nvSpPr>
        <p:spPr>
          <a:xfrm>
            <a:off x="9902952"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61" name="Text 159"/>
          <p:cNvSpPr txBox="1"/>
          <p:nvPr/>
        </p:nvSpPr>
        <p:spPr>
          <a:xfrm>
            <a:off x="10689336"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3" name="Shape 161"/>
          <p:cNvSpPr/>
          <p:nvPr/>
        </p:nvSpPr>
        <p:spPr>
          <a:xfrm>
            <a:off x="8220456" y="4987218"/>
            <a:ext cx="151770" cy="136676"/>
          </a:xfrm>
          <a:prstGeom prst="rect">
            <a:avLst/>
          </a:prstGeom>
          <a:solidFill>
            <a:srgbClr val="2587C5"/>
          </a:solidFill>
          <a:ln/>
        </p:spPr>
      </p:sp>
      <p:sp>
        <p:nvSpPr>
          <p:cNvPr id="164" name="Text 162"/>
          <p:cNvSpPr txBox="1"/>
          <p:nvPr/>
        </p:nvSpPr>
        <p:spPr>
          <a:xfrm>
            <a:off x="9079992"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65" name="Text 163"/>
          <p:cNvSpPr txBox="1"/>
          <p:nvPr/>
        </p:nvSpPr>
        <p:spPr>
          <a:xfrm>
            <a:off x="9902952"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166" name="Text 164"/>
          <p:cNvSpPr txBox="1"/>
          <p:nvPr/>
        </p:nvSpPr>
        <p:spPr>
          <a:xfrm>
            <a:off x="10689336"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68" name="Shape 166"/>
          <p:cNvSpPr/>
          <p:nvPr/>
        </p:nvSpPr>
        <p:spPr>
          <a:xfrm>
            <a:off x="8220456" y="5235720"/>
            <a:ext cx="149543" cy="136676"/>
          </a:xfrm>
          <a:prstGeom prst="rect">
            <a:avLst/>
          </a:prstGeom>
          <a:solidFill>
            <a:srgbClr val="2587C5"/>
          </a:solidFill>
          <a:ln/>
        </p:spPr>
      </p:sp>
      <p:sp>
        <p:nvSpPr>
          <p:cNvPr id="169" name="Text 167"/>
          <p:cNvSpPr txBox="1"/>
          <p:nvPr/>
        </p:nvSpPr>
        <p:spPr>
          <a:xfrm>
            <a:off x="9079992"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$67K</a:t>
            </a:r>
            <a:endParaRPr lang="en-US" sz="1300" dirty="0"/>
          </a:p>
        </p:txBody>
      </p:sp>
      <p:sp>
        <p:nvSpPr>
          <p:cNvPr id="170" name="Text 168"/>
          <p:cNvSpPr txBox="1"/>
          <p:nvPr/>
        </p:nvSpPr>
        <p:spPr>
          <a:xfrm>
            <a:off x="9902952"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171" name="Text 169"/>
          <p:cNvSpPr txBox="1"/>
          <p:nvPr/>
        </p:nvSpPr>
        <p:spPr>
          <a:xfrm>
            <a:off x="10689336"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73" name="Shape 171"/>
          <p:cNvSpPr/>
          <p:nvPr/>
        </p:nvSpPr>
        <p:spPr>
          <a:xfrm>
            <a:off x="8220456" y="5484222"/>
            <a:ext cx="147241" cy="136676"/>
          </a:xfrm>
          <a:prstGeom prst="rect">
            <a:avLst/>
          </a:prstGeom>
          <a:solidFill>
            <a:srgbClr val="2587C5"/>
          </a:solidFill>
          <a:ln/>
        </p:spPr>
      </p:sp>
      <p:sp>
        <p:nvSpPr>
          <p:cNvPr id="174" name="Text 172"/>
          <p:cNvSpPr txBox="1"/>
          <p:nvPr/>
        </p:nvSpPr>
        <p:spPr>
          <a:xfrm>
            <a:off x="9079992"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175" name="Text 173"/>
          <p:cNvSpPr txBox="1"/>
          <p:nvPr/>
        </p:nvSpPr>
        <p:spPr>
          <a:xfrm>
            <a:off x="9902952"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176" name="Text 174"/>
          <p:cNvSpPr txBox="1"/>
          <p:nvPr/>
        </p:nvSpPr>
        <p:spPr>
          <a:xfrm>
            <a:off x="10689336"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$214</a:t>
            </a:r>
            <a:endParaRPr lang="en-US" sz="1300" dirty="0"/>
          </a:p>
        </p:txBody>
      </p:sp>
      <p:sp>
        <p:nvSpPr>
          <p:cNvPr id="177" name="Shape 175"/>
          <p:cNvSpPr/>
          <p:nvPr/>
        </p:nvSpPr>
        <p:spPr>
          <a:xfrm>
            <a:off x="457200" y="6126480"/>
            <a:ext cx="11274552" cy="615696"/>
          </a:xfrm>
          <a:prstGeom prst="rect">
            <a:avLst/>
          </a:prstGeom>
          <a:solidFill>
            <a:srgbClr val="E6F6EE"/>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One more customer-pay RO a day at every store is worth $4,473,284 a year in labor and parts gross. Each RO averages $342.</a:t>
            </a:r>
            <a:endParaRPr lang="en-US" sz="1600" dirty="0"/>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8,133</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1,784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2,010</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+12.7%</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3,107</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5,042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5,553</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1,421</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1,919</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3,349</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−11.5%</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3,917</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8,930</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3,671</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570</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667</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669</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459</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Kia LV, Hyundai Prescott and GMC Prescott what changed. Ask VW St George, Hyundai St George and Audi Reno what got in the way. Ask Lexus, CDJR Post Falls and LR LV what they started this year.</a:t>
            </a:r>
            <a:endParaRPr lang="en-US" sz="1600" dirty="0"/>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504,019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523,142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+19,123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Hours Sold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19,123 to 523,142, ahead of 2025 in eight of nine months. CP RO count rose only 0.2%, so the extra hours came from selling more on each visit.</a:t>
            </a:r>
            <a:endParaRPr lang="en-US" sz="1600" dirty="0"/>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523,142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78,123</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050673"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44,883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038014"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44,342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631546"/>
            <a:ext cx="711662"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649509"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27,746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2980944" y="3111337"/>
            <a:ext cx="602764"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25,749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7" name="Shape 35"/>
          <p:cNvSpPr/>
          <p:nvPr/>
        </p:nvSpPr>
        <p:spPr>
          <a:xfrm>
            <a:off x="2980944" y="3351233"/>
            <a:ext cx="498059"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21,276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36748"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18,657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419629"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17,926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2980944" y="4070920"/>
            <a:ext cx="344483"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14,716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3" name="Shape 51"/>
          <p:cNvSpPr/>
          <p:nvPr/>
        </p:nvSpPr>
        <p:spPr>
          <a:xfrm>
            <a:off x="2980944" y="4310815"/>
            <a:ext cx="341580"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14,592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2980944" y="4550711"/>
            <a:ext cx="326318"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13,940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2980944" y="4790606"/>
            <a:ext cx="308206"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13,166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2980944" y="5030502"/>
            <a:ext cx="299995"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12,815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270397"/>
            <a:ext cx="298846"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12,766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2980944" y="5510293"/>
            <a:ext cx="298644"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12,757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2980944" y="5750188"/>
            <a:ext cx="276102"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11,795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1" name="Shape 79"/>
          <p:cNvSpPr/>
          <p:nvPr/>
        </p:nvSpPr>
        <p:spPr>
          <a:xfrm>
            <a:off x="8531352" y="1911860"/>
            <a:ext cx="257333"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10,993</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5" name="Shape 83"/>
          <p:cNvSpPr/>
          <p:nvPr/>
        </p:nvSpPr>
        <p:spPr>
          <a:xfrm>
            <a:off x="8531352" y="2151755"/>
            <a:ext cx="250095"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10,684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8531352" y="2391651"/>
            <a:ext cx="222717"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9,514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3" name="Shape 91"/>
          <p:cNvSpPr/>
          <p:nvPr/>
        </p:nvSpPr>
        <p:spPr>
          <a:xfrm>
            <a:off x="8531352" y="2631546"/>
            <a:ext cx="194260"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8,298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7" name="Shape 95"/>
          <p:cNvSpPr/>
          <p:nvPr/>
        </p:nvSpPr>
        <p:spPr>
          <a:xfrm>
            <a:off x="8531352" y="2871442"/>
            <a:ext cx="190890"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8,154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8531352" y="3111337"/>
            <a:ext cx="181408"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31352" y="3351233"/>
            <a:ext cx="157098"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6,711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9" name="Shape 107"/>
          <p:cNvSpPr/>
          <p:nvPr/>
        </p:nvSpPr>
        <p:spPr>
          <a:xfrm>
            <a:off x="8531352" y="3591128"/>
            <a:ext cx="152958"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6,534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31352" y="3831024"/>
            <a:ext cx="145645"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6,222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7" name="Shape 115"/>
          <p:cNvSpPr/>
          <p:nvPr/>
        </p:nvSpPr>
        <p:spPr>
          <a:xfrm>
            <a:off x="8531352" y="4070920"/>
            <a:ext cx="142349"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31352" y="4310815"/>
            <a:ext cx="122032"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5,213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18093"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5,045</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1585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8531352" y="5030502"/>
            <a:ext cx="111992"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76952"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3,287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6698"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3,276</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78,123; VW St George is smallest at 3,276.</a:t>
            </a:r>
            <a:endParaRPr lang="en-US" sz="1600" dirty="0"/>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6087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5898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5" name="Shape 23"/>
          <p:cNvSpPr/>
          <p:nvPr/>
        </p:nvSpPr>
        <p:spPr>
          <a:xfrm>
            <a:off x="3785616" y="2631546"/>
            <a:ext cx="50260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785616" y="2871442"/>
            <a:ext cx="48952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7588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7" name="Shape 35"/>
          <p:cNvSpPr/>
          <p:nvPr/>
        </p:nvSpPr>
        <p:spPr>
          <a:xfrm>
            <a:off x="3785616" y="3351233"/>
            <a:ext cx="40339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2001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785616" y="3831024"/>
            <a:ext cx="31980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785616" y="4070920"/>
            <a:ext cx="30478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3" name="Shape 51"/>
          <p:cNvSpPr/>
          <p:nvPr/>
        </p:nvSpPr>
        <p:spPr>
          <a:xfrm>
            <a:off x="3785616" y="4310815"/>
            <a:ext cx="21498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207215"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1871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3785616" y="5030502"/>
            <a:ext cx="17212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1674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785616" y="5510293"/>
            <a:ext cx="1166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785616" y="5750188"/>
            <a:ext cx="11641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1063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9336024" y="2151755"/>
            <a:ext cx="9998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89045"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8806"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306237" y="3351233"/>
            <a:ext cx="29787"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291402" y="3591128"/>
            <a:ext cx="4462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9285327" y="3831024"/>
            <a:ext cx="5069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9275488" y="4070920"/>
            <a:ext cx="6053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9233370" y="4310815"/>
            <a:ext cx="10265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06595" y="4550711"/>
            <a:ext cx="129429"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9193818" y="4790606"/>
            <a:ext cx="14220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3" name="Shape 131"/>
          <p:cNvSpPr/>
          <p:nvPr/>
        </p:nvSpPr>
        <p:spPr>
          <a:xfrm>
            <a:off x="9153034" y="5030502"/>
            <a:ext cx="18299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9069849" y="5270397"/>
            <a:ext cx="26617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892903" y="5510293"/>
            <a:ext cx="44312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sold more CP hours, led by Subaru St George at +44.6% to 12,766. 10 declined; VW St George fell most at −25.4%.</a:t>
            </a:r>
            <a:endParaRPr lang="en-US" sz="1600" dirty="0"/>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8,827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12,766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+44.6%</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12,757</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+35.0%</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5,045</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6,328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8,154</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+28.9%</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3,287</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+28.1%</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4,394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3,276</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−25.4%</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12,611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10,684</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−15.3%</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7,749</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17,926</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−8.2%</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48,486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44,883</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1,102</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1,537</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+28.8%</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1,146</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+24.3%</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1,692</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+23.8%</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634</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+23.1%</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Subaru St George, Kia LV and Kia St George what changed. Ask VW St George, Audi Reno and Volvo what got in the way. Ask Mazda, CDJR Post Falls and Lexus what they started this year.</a:t>
            </a:r>
            <a:endParaRPr lang="en-US" sz="1600" dirty="0"/>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Hours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labor time we sell on the average customer-pay visit.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0.1 HOUR</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0.1 hour more on every RO  </a:t>
            </a:r>
            <a:pPr algn="ctr" indent="0" marL="0">
              <a:buNone/>
            </a:pPr>
            <a:r>
              <a:rPr lang="en-US" sz="1400" b="1" dirty="0">
                <a:solidFill>
                  <a:srgbClr val="0B2C4A"/>
                </a:solidFill>
                <a:latin typeface="Inter" pitchFamily="34" charset="0"/>
                <a:ea typeface="Inter" pitchFamily="34" charset="-122"/>
                <a:cs typeface="Inter" pitchFamily="34" charset="-120"/>
              </a:rPr>
              <a:t>= 27,976 more hours</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$162 an hour (our ELR)  </a:t>
            </a:r>
            <a:pPr algn="ctr" indent="0" marL="0">
              <a:buNone/>
            </a:pPr>
            <a:r>
              <a:rPr lang="en-US" sz="1400" b="1" dirty="0">
                <a:solidFill>
                  <a:srgbClr val="0B2C4A"/>
                </a:solidFill>
                <a:latin typeface="Inter" pitchFamily="34" charset="0"/>
                <a:ea typeface="Inter" pitchFamily="34" charset="-122"/>
                <a:cs typeface="Inter" pitchFamily="34" charset="-120"/>
              </a:rPr>
              <a:t>= $4.5M more labor</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cannot be manipulated: it is work the customer agreed to.</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main lever while car count is flat.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Selling more hours also sells parts.</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car inspected, with photos and video sent to the customer</a:t>
            </a:r>
            <a:endParaRPr lang="en-US" sz="1400" dirty="0"/>
          </a:p>
        </p:txBody>
      </p:sp>
      <p:sp>
        <p:nvSpPr>
          <p:cNvPr id="20" name="Shape 18"/>
          <p:cNvSpPr/>
          <p:nvPr/>
        </p:nvSpPr>
        <p:spPr>
          <a:xfrm>
            <a:off x="7309104" y="3410712"/>
            <a:ext cx="45720" cy="1133856"/>
          </a:xfrm>
          <a:prstGeom prst="rect">
            <a:avLst/>
          </a:prstGeom>
          <a:solidFill>
            <a:srgbClr val="2587C5"/>
          </a:solidFill>
          <a:ln/>
        </p:spPr>
      </p:sp>
      <p:sp>
        <p:nvSpPr>
          <p:cNvPr id="21" name="Text 19"/>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Road to the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Walk-around at the vehicle: hood, tires and wipers</a:t>
            </a:r>
            <a:endParaRPr lang="en-US" sz="1400" dirty="0"/>
          </a:p>
        </p:txBody>
      </p:sp>
      <p:sp>
        <p:nvSpPr>
          <p:cNvPr id="22" name="Shape 20"/>
          <p:cNvSpPr/>
          <p:nvPr/>
        </p:nvSpPr>
        <p:spPr>
          <a:xfrm>
            <a:off x="9479280" y="3410712"/>
            <a:ext cx="45720" cy="1133856"/>
          </a:xfrm>
          <a:prstGeom prst="rect">
            <a:avLst/>
          </a:prstGeom>
          <a:solidFill>
            <a:srgbClr val="2587C5"/>
          </a:solidFill>
          <a:ln/>
        </p:spPr>
      </p:sp>
      <p:sp>
        <p:nvSpPr>
          <p:cNvPr id="23" name="Text 21"/>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 every time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Declined work follow-up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defined process and a champion to bring it back</a:t>
            </a:r>
            <a:endParaRPr lang="en-US" sz="1400" dirty="0"/>
          </a:p>
        </p:txBody>
      </p:sp>
      <p:sp>
        <p:nvSpPr>
          <p:cNvPr id="26" name="Shape 24"/>
          <p:cNvSpPr/>
          <p:nvPr/>
        </p:nvSpPr>
        <p:spPr>
          <a:xfrm>
            <a:off x="7309104" y="4654296"/>
            <a:ext cx="45720" cy="1133856"/>
          </a:xfrm>
          <a:prstGeom prst="rect">
            <a:avLst/>
          </a:prstGeom>
          <a:solidFill>
            <a:srgbClr val="2587C5"/>
          </a:solidFill>
          <a:ln/>
        </p:spPr>
      </p:sp>
      <p:sp>
        <p:nvSpPr>
          <p:cNvPr id="27" name="Text 25"/>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 code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Sell the hours the job pays; don't give time away</a:t>
            </a:r>
            <a:endParaRPr lang="en-US" sz="1400" dirty="0"/>
          </a:p>
        </p:txBody>
      </p:sp>
      <p:sp>
        <p:nvSpPr>
          <p:cNvPr id="28" name="Shape 26"/>
          <p:cNvSpPr/>
          <p:nvPr/>
        </p:nvSpPr>
        <p:spPr>
          <a:xfrm>
            <a:off x="9479280" y="4654296"/>
            <a:ext cx="45720" cy="1133856"/>
          </a:xfrm>
          <a:prstGeom prst="rect">
            <a:avLst/>
          </a:prstGeom>
          <a:solidFill>
            <a:srgbClr val="2587C5"/>
          </a:solidFill>
          <a:ln/>
        </p:spPr>
      </p:sp>
      <p:sp>
        <p:nvSpPr>
          <p:cNvPr id="29" name="Text 27"/>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High-mileage and repair work to the techs who find it</a:t>
            </a:r>
            <a:endParaRPr lang="en-US" sz="1400" dirty="0"/>
          </a:p>
        </p:txBody>
      </p:sp>
      <p:sp>
        <p:nvSpPr>
          <p:cNvPr id="30" name="Shape 28"/>
          <p:cNvSpPr/>
          <p:nvPr/>
        </p:nvSpPr>
        <p:spPr>
          <a:xfrm>
            <a:off x="457200" y="6126480"/>
            <a:ext cx="11274552" cy="371856"/>
          </a:xfrm>
          <a:prstGeom prst="rect">
            <a:avLst/>
          </a:prstGeom>
          <a:solidFill>
            <a:srgbClr val="E6F6EE"/>
          </a:solidFill>
          <a:ln/>
        </p:spPr>
      </p:sp>
      <p:sp>
        <p:nvSpPr>
          <p:cNvPr id="31" name="Text 29"/>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1.87 CP hours per RO, up 0.07 and ahead of 2025 in all nine months.</a:t>
            </a:r>
            <a:endParaRPr lang="en-US" sz="1600" dirty="0"/>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0.07 to 1.87, ahead of 2025 in all nine months. Each 0.1 hour per RO is worth $4,543,691 of labor at the 2026 ELR.</a:t>
            </a:r>
            <a:endParaRPr lang="en-US" sz="1600" dirty="0"/>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1.87</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Each segment ranked on its own. Navy line = each segment's average; green at or above it.</a:t>
            </a:r>
            <a:endParaRPr lang="en-US" sz="1400" dirty="0"/>
          </a:p>
        </p:txBody>
      </p:sp>
      <p:sp>
        <p:nvSpPr>
          <p:cNvPr id="12" name="Text 10"/>
          <p:cNvSpPr txBox="1"/>
          <p:nvPr/>
        </p:nvSpPr>
        <p:spPr>
          <a:xfrm>
            <a:off x="658368" y="21762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2.90</a:t>
            </a:r>
            <a:endParaRPr lang="en-US" sz="1300" dirty="0"/>
          </a:p>
        </p:txBody>
      </p:sp>
      <p:sp>
        <p:nvSpPr>
          <p:cNvPr id="13" name="Shape 11"/>
          <p:cNvSpPr/>
          <p:nvPr/>
        </p:nvSpPr>
        <p:spPr>
          <a:xfrm>
            <a:off x="658368" y="2366264"/>
            <a:ext cx="5303520" cy="18288"/>
          </a:xfrm>
          <a:prstGeom prst="rect">
            <a:avLst/>
          </a:prstGeom>
          <a:solidFill>
            <a:srgbClr val="0B2C4A"/>
          </a:solidFill>
          <a:ln/>
        </p:spPr>
      </p:sp>
      <p:sp>
        <p:nvSpPr>
          <p:cNvPr id="14" name="Text 12"/>
          <p:cNvSpPr txBox="1"/>
          <p:nvPr/>
        </p:nvSpPr>
        <p:spPr>
          <a:xfrm>
            <a:off x="658368"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6" name="Shape 14"/>
          <p:cNvSpPr/>
          <p:nvPr/>
        </p:nvSpPr>
        <p:spPr>
          <a:xfrm>
            <a:off x="3008376" y="2436622"/>
            <a:ext cx="1599253" cy="104140"/>
          </a:xfrm>
          <a:prstGeom prst="rect">
            <a:avLst/>
          </a:prstGeom>
          <a:solidFill>
            <a:srgbClr val="12A566"/>
          </a:solidFill>
          <a:ln/>
        </p:spPr>
      </p:sp>
      <p:sp>
        <p:nvSpPr>
          <p:cNvPr id="17" name="Text 15"/>
          <p:cNvSpPr txBox="1"/>
          <p:nvPr/>
        </p:nvSpPr>
        <p:spPr>
          <a:xfrm>
            <a:off x="4754880"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18" name="Text 16"/>
          <p:cNvSpPr txBox="1"/>
          <p:nvPr/>
        </p:nvSpPr>
        <p:spPr>
          <a:xfrm>
            <a:off x="658368"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0" name="Shape 18"/>
          <p:cNvSpPr/>
          <p:nvPr/>
        </p:nvSpPr>
        <p:spPr>
          <a:xfrm>
            <a:off x="3008376" y="2644902"/>
            <a:ext cx="1597857" cy="104140"/>
          </a:xfrm>
          <a:prstGeom prst="rect">
            <a:avLst/>
          </a:prstGeom>
          <a:solidFill>
            <a:srgbClr val="12A566"/>
          </a:solidFill>
          <a:ln/>
        </p:spPr>
      </p:sp>
      <p:sp>
        <p:nvSpPr>
          <p:cNvPr id="21" name="Text 19"/>
          <p:cNvSpPr txBox="1"/>
          <p:nvPr/>
        </p:nvSpPr>
        <p:spPr>
          <a:xfrm>
            <a:off x="4754880"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22" name="Text 20"/>
          <p:cNvSpPr txBox="1"/>
          <p:nvPr/>
        </p:nvSpPr>
        <p:spPr>
          <a:xfrm>
            <a:off x="658368"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4" name="Shape 22"/>
          <p:cNvSpPr/>
          <p:nvPr/>
        </p:nvSpPr>
        <p:spPr>
          <a:xfrm>
            <a:off x="3008376" y="2853182"/>
            <a:ext cx="1396154" cy="104140"/>
          </a:xfrm>
          <a:prstGeom prst="rect">
            <a:avLst/>
          </a:prstGeom>
          <a:solidFill>
            <a:srgbClr val="12A566"/>
          </a:solidFill>
          <a:ln/>
        </p:spPr>
      </p:sp>
      <p:sp>
        <p:nvSpPr>
          <p:cNvPr id="25" name="Text 23"/>
          <p:cNvSpPr txBox="1"/>
          <p:nvPr/>
        </p:nvSpPr>
        <p:spPr>
          <a:xfrm>
            <a:off x="4754880"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6" name="Text 24"/>
          <p:cNvSpPr txBox="1"/>
          <p:nvPr/>
        </p:nvSpPr>
        <p:spPr>
          <a:xfrm>
            <a:off x="658368"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8" name="Shape 26"/>
          <p:cNvSpPr/>
          <p:nvPr/>
        </p:nvSpPr>
        <p:spPr>
          <a:xfrm>
            <a:off x="3008376" y="3061462"/>
            <a:ext cx="1395716" cy="104140"/>
          </a:xfrm>
          <a:prstGeom prst="rect">
            <a:avLst/>
          </a:prstGeom>
          <a:solidFill>
            <a:srgbClr val="12A566"/>
          </a:solidFill>
          <a:ln/>
        </p:spPr>
      </p:sp>
      <p:sp>
        <p:nvSpPr>
          <p:cNvPr id="29" name="Text 27"/>
          <p:cNvSpPr txBox="1"/>
          <p:nvPr/>
        </p:nvSpPr>
        <p:spPr>
          <a:xfrm>
            <a:off x="4754880"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30" name="Text 28"/>
          <p:cNvSpPr txBox="1"/>
          <p:nvPr/>
        </p:nvSpPr>
        <p:spPr>
          <a:xfrm>
            <a:off x="658368"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1" name="Text 29"/>
          <p:cNvSpPr txBox="1"/>
          <p:nvPr/>
        </p:nvSpPr>
        <p:spPr>
          <a:xfrm>
            <a:off x="1014984"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2" name="Shape 30"/>
          <p:cNvSpPr/>
          <p:nvPr/>
        </p:nvSpPr>
        <p:spPr>
          <a:xfrm>
            <a:off x="3008376" y="3269742"/>
            <a:ext cx="1094195" cy="104140"/>
          </a:xfrm>
          <a:prstGeom prst="rect">
            <a:avLst/>
          </a:prstGeom>
          <a:solidFill>
            <a:srgbClr val="C2352F"/>
          </a:solidFill>
          <a:ln/>
        </p:spPr>
      </p:sp>
      <p:sp>
        <p:nvSpPr>
          <p:cNvPr id="33" name="Text 31"/>
          <p:cNvSpPr txBox="1"/>
          <p:nvPr/>
        </p:nvSpPr>
        <p:spPr>
          <a:xfrm>
            <a:off x="4754880" y="32176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4" name="Text 32"/>
          <p:cNvSpPr txBox="1"/>
          <p:nvPr/>
        </p:nvSpPr>
        <p:spPr>
          <a:xfrm>
            <a:off x="658368"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5" name="Text 33"/>
          <p:cNvSpPr txBox="1"/>
          <p:nvPr/>
        </p:nvSpPr>
        <p:spPr>
          <a:xfrm>
            <a:off x="1014984"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6" name="Shape 34"/>
          <p:cNvSpPr/>
          <p:nvPr/>
        </p:nvSpPr>
        <p:spPr>
          <a:xfrm>
            <a:off x="3008376" y="3478022"/>
            <a:ext cx="1092999" cy="104140"/>
          </a:xfrm>
          <a:prstGeom prst="rect">
            <a:avLst/>
          </a:prstGeom>
          <a:solidFill>
            <a:srgbClr val="C2352F"/>
          </a:solidFill>
          <a:ln/>
        </p:spPr>
      </p:sp>
      <p:sp>
        <p:nvSpPr>
          <p:cNvPr id="37" name="Text 35"/>
          <p:cNvSpPr txBox="1"/>
          <p:nvPr/>
        </p:nvSpPr>
        <p:spPr>
          <a:xfrm>
            <a:off x="4754880"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8" name="Text 36"/>
          <p:cNvSpPr txBox="1"/>
          <p:nvPr/>
        </p:nvSpPr>
        <p:spPr>
          <a:xfrm>
            <a:off x="658368"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9" name="Text 37"/>
          <p:cNvSpPr txBox="1"/>
          <p:nvPr/>
        </p:nvSpPr>
        <p:spPr>
          <a:xfrm>
            <a:off x="1014984"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0" name="Shape 38"/>
          <p:cNvSpPr/>
          <p:nvPr/>
        </p:nvSpPr>
        <p:spPr>
          <a:xfrm>
            <a:off x="3008376" y="3686302"/>
            <a:ext cx="995599" cy="104140"/>
          </a:xfrm>
          <a:prstGeom prst="rect">
            <a:avLst/>
          </a:prstGeom>
          <a:solidFill>
            <a:srgbClr val="C2352F"/>
          </a:solidFill>
          <a:ln/>
        </p:spPr>
      </p:sp>
      <p:sp>
        <p:nvSpPr>
          <p:cNvPr id="41" name="Text 39"/>
          <p:cNvSpPr txBox="1"/>
          <p:nvPr/>
        </p:nvSpPr>
        <p:spPr>
          <a:xfrm>
            <a:off x="4754880"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2.48</a:t>
            </a:r>
            <a:endParaRPr lang="en-US" sz="1200" dirty="0"/>
          </a:p>
        </p:txBody>
      </p:sp>
      <p:sp>
        <p:nvSpPr>
          <p:cNvPr id="42" name="Text 40"/>
          <p:cNvSpPr txBox="1"/>
          <p:nvPr/>
        </p:nvSpPr>
        <p:spPr>
          <a:xfrm>
            <a:off x="658368"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3" name="Text 41"/>
          <p:cNvSpPr txBox="1"/>
          <p:nvPr/>
        </p:nvSpPr>
        <p:spPr>
          <a:xfrm>
            <a:off x="1014984"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4" name="Shape 42"/>
          <p:cNvSpPr/>
          <p:nvPr/>
        </p:nvSpPr>
        <p:spPr>
          <a:xfrm>
            <a:off x="3008376" y="3894582"/>
            <a:ext cx="912830" cy="104140"/>
          </a:xfrm>
          <a:prstGeom prst="rect">
            <a:avLst/>
          </a:prstGeom>
          <a:solidFill>
            <a:srgbClr val="C2352F"/>
          </a:solidFill>
          <a:ln/>
        </p:spPr>
      </p:sp>
      <p:sp>
        <p:nvSpPr>
          <p:cNvPr id="45" name="Text 43"/>
          <p:cNvSpPr txBox="1"/>
          <p:nvPr/>
        </p:nvSpPr>
        <p:spPr>
          <a:xfrm>
            <a:off x="4754880"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2.28</a:t>
            </a:r>
            <a:endParaRPr lang="en-US" sz="1200" dirty="0"/>
          </a:p>
        </p:txBody>
      </p:sp>
      <p:sp>
        <p:nvSpPr>
          <p:cNvPr id="46" name="Text 44"/>
          <p:cNvSpPr txBox="1"/>
          <p:nvPr/>
        </p:nvSpPr>
        <p:spPr>
          <a:xfrm>
            <a:off x="658368"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7" name="Text 45"/>
          <p:cNvSpPr txBox="1"/>
          <p:nvPr/>
        </p:nvSpPr>
        <p:spPr>
          <a:xfrm>
            <a:off x="1014984"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8" name="Shape 46"/>
          <p:cNvSpPr/>
          <p:nvPr/>
        </p:nvSpPr>
        <p:spPr>
          <a:xfrm>
            <a:off x="3008376" y="4102862"/>
            <a:ext cx="834814" cy="104140"/>
          </a:xfrm>
          <a:prstGeom prst="rect">
            <a:avLst/>
          </a:prstGeom>
          <a:solidFill>
            <a:srgbClr val="C2352F"/>
          </a:solidFill>
          <a:ln/>
        </p:spPr>
      </p:sp>
      <p:sp>
        <p:nvSpPr>
          <p:cNvPr id="49" name="Text 47"/>
          <p:cNvSpPr txBox="1"/>
          <p:nvPr/>
        </p:nvSpPr>
        <p:spPr>
          <a:xfrm>
            <a:off x="4754880"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2.08</a:t>
            </a:r>
            <a:endParaRPr lang="en-US" sz="1200" dirty="0"/>
          </a:p>
        </p:txBody>
      </p:sp>
      <p:sp>
        <p:nvSpPr>
          <p:cNvPr id="50" name="Text 48"/>
          <p:cNvSpPr txBox="1"/>
          <p:nvPr/>
        </p:nvSpPr>
        <p:spPr>
          <a:xfrm>
            <a:off x="658368" y="42590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a:t>
            </a:r>
            <a:endParaRPr lang="en-US" sz="1300" dirty="0"/>
          </a:p>
        </p:txBody>
      </p:sp>
      <p:sp>
        <p:nvSpPr>
          <p:cNvPr id="51" name="Shape 49"/>
          <p:cNvSpPr/>
          <p:nvPr/>
        </p:nvSpPr>
        <p:spPr>
          <a:xfrm>
            <a:off x="658368" y="4449064"/>
            <a:ext cx="5303520" cy="18288"/>
          </a:xfrm>
          <a:prstGeom prst="rect">
            <a:avLst/>
          </a:prstGeom>
          <a:solidFill>
            <a:srgbClr val="0B2C4A"/>
          </a:solidFill>
          <a:ln/>
        </p:spPr>
      </p:sp>
      <p:sp>
        <p:nvSpPr>
          <p:cNvPr id="52" name="Text 50"/>
          <p:cNvSpPr txBox="1"/>
          <p:nvPr/>
        </p:nvSpPr>
        <p:spPr>
          <a:xfrm>
            <a:off x="658368"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519422"/>
            <a:ext cx="1658471" cy="104140"/>
          </a:xfrm>
          <a:prstGeom prst="rect">
            <a:avLst/>
          </a:prstGeom>
          <a:solidFill>
            <a:srgbClr val="12A566"/>
          </a:solidFill>
          <a:ln/>
        </p:spPr>
      </p:sp>
      <p:sp>
        <p:nvSpPr>
          <p:cNvPr id="55" name="Text 53"/>
          <p:cNvSpPr txBox="1"/>
          <p:nvPr/>
        </p:nvSpPr>
        <p:spPr>
          <a:xfrm>
            <a:off x="4754880" y="44673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56" name="Text 54"/>
          <p:cNvSpPr txBox="1"/>
          <p:nvPr/>
        </p:nvSpPr>
        <p:spPr>
          <a:xfrm>
            <a:off x="658368"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8" name="Shape 56"/>
          <p:cNvSpPr/>
          <p:nvPr/>
        </p:nvSpPr>
        <p:spPr>
          <a:xfrm>
            <a:off x="3008376" y="4727702"/>
            <a:ext cx="1530972" cy="104140"/>
          </a:xfrm>
          <a:prstGeom prst="rect">
            <a:avLst/>
          </a:prstGeom>
          <a:solidFill>
            <a:srgbClr val="12A566"/>
          </a:solidFill>
          <a:ln/>
        </p:spPr>
      </p:sp>
      <p:sp>
        <p:nvSpPr>
          <p:cNvPr id="59" name="Text 57"/>
          <p:cNvSpPr txBox="1"/>
          <p:nvPr/>
        </p:nvSpPr>
        <p:spPr>
          <a:xfrm>
            <a:off x="4754880" y="46756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0" name="Text 58"/>
          <p:cNvSpPr txBox="1"/>
          <p:nvPr/>
        </p:nvSpPr>
        <p:spPr>
          <a:xfrm>
            <a:off x="658368"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4935982"/>
            <a:ext cx="1530733" cy="104140"/>
          </a:xfrm>
          <a:prstGeom prst="rect">
            <a:avLst/>
          </a:prstGeom>
          <a:solidFill>
            <a:srgbClr val="12A566"/>
          </a:solidFill>
          <a:ln/>
        </p:spPr>
      </p:sp>
      <p:sp>
        <p:nvSpPr>
          <p:cNvPr id="63" name="Text 61"/>
          <p:cNvSpPr txBox="1"/>
          <p:nvPr/>
        </p:nvSpPr>
        <p:spPr>
          <a:xfrm>
            <a:off x="4754880" y="48839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4" name="Text 62"/>
          <p:cNvSpPr txBox="1"/>
          <p:nvPr/>
        </p:nvSpPr>
        <p:spPr>
          <a:xfrm>
            <a:off x="658368"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6" name="Shape 64"/>
          <p:cNvSpPr/>
          <p:nvPr/>
        </p:nvSpPr>
        <p:spPr>
          <a:xfrm>
            <a:off x="3008376" y="5144262"/>
            <a:ext cx="1465702" cy="104140"/>
          </a:xfrm>
          <a:prstGeom prst="rect">
            <a:avLst/>
          </a:prstGeom>
          <a:solidFill>
            <a:srgbClr val="12A566"/>
          </a:solidFill>
          <a:ln/>
        </p:spPr>
      </p:sp>
      <p:sp>
        <p:nvSpPr>
          <p:cNvPr id="67" name="Text 65"/>
          <p:cNvSpPr txBox="1"/>
          <p:nvPr/>
        </p:nvSpPr>
        <p:spPr>
          <a:xfrm>
            <a:off x="4754880" y="50921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a:t>
            </a:r>
            <a:endParaRPr lang="en-US" sz="1200" dirty="0"/>
          </a:p>
        </p:txBody>
      </p:sp>
      <p:sp>
        <p:nvSpPr>
          <p:cNvPr id="68" name="Text 66"/>
          <p:cNvSpPr txBox="1"/>
          <p:nvPr/>
        </p:nvSpPr>
        <p:spPr>
          <a:xfrm>
            <a:off x="658368"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0" name="Shape 68"/>
          <p:cNvSpPr/>
          <p:nvPr/>
        </p:nvSpPr>
        <p:spPr>
          <a:xfrm>
            <a:off x="3008376" y="5352542"/>
            <a:ext cx="1405167" cy="104140"/>
          </a:xfrm>
          <a:prstGeom prst="rect">
            <a:avLst/>
          </a:prstGeom>
          <a:solidFill>
            <a:srgbClr val="12A566"/>
          </a:solidFill>
          <a:ln/>
        </p:spPr>
      </p:sp>
      <p:sp>
        <p:nvSpPr>
          <p:cNvPr id="71" name="Text 69"/>
          <p:cNvSpPr txBox="1"/>
          <p:nvPr/>
        </p:nvSpPr>
        <p:spPr>
          <a:xfrm>
            <a:off x="4754880" y="53004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72" name="Text 70"/>
          <p:cNvSpPr txBox="1"/>
          <p:nvPr/>
        </p:nvSpPr>
        <p:spPr>
          <a:xfrm>
            <a:off x="658368"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560822"/>
            <a:ext cx="1345161" cy="104140"/>
          </a:xfrm>
          <a:prstGeom prst="rect">
            <a:avLst/>
          </a:prstGeom>
          <a:solidFill>
            <a:srgbClr val="12A566"/>
          </a:solidFill>
          <a:ln/>
        </p:spPr>
      </p:sp>
      <p:sp>
        <p:nvSpPr>
          <p:cNvPr id="75" name="Text 73"/>
          <p:cNvSpPr txBox="1"/>
          <p:nvPr/>
        </p:nvSpPr>
        <p:spPr>
          <a:xfrm>
            <a:off x="4754880" y="55087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a:t>
            </a:r>
            <a:endParaRPr lang="en-US" sz="1200" dirty="0"/>
          </a:p>
        </p:txBody>
      </p:sp>
      <p:sp>
        <p:nvSpPr>
          <p:cNvPr id="76" name="Text 74"/>
          <p:cNvSpPr txBox="1"/>
          <p:nvPr/>
        </p:nvSpPr>
        <p:spPr>
          <a:xfrm>
            <a:off x="658368" y="57170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57170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8" name="Shape 76"/>
          <p:cNvSpPr/>
          <p:nvPr/>
        </p:nvSpPr>
        <p:spPr>
          <a:xfrm>
            <a:off x="3008376" y="5769102"/>
            <a:ext cx="1336576" cy="104140"/>
          </a:xfrm>
          <a:prstGeom prst="rect">
            <a:avLst/>
          </a:prstGeom>
          <a:solidFill>
            <a:srgbClr val="12A566"/>
          </a:solidFill>
          <a:ln/>
        </p:spPr>
      </p:sp>
      <p:sp>
        <p:nvSpPr>
          <p:cNvPr id="79" name="Text 77"/>
          <p:cNvSpPr txBox="1"/>
          <p:nvPr/>
        </p:nvSpPr>
        <p:spPr>
          <a:xfrm>
            <a:off x="4754880" y="57170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a:t>
            </a:r>
            <a:endParaRPr lang="en-US" sz="1200" dirty="0"/>
          </a:p>
        </p:txBody>
      </p:sp>
      <p:sp>
        <p:nvSpPr>
          <p:cNvPr id="80" name="Text 78"/>
          <p:cNvSpPr txBox="1"/>
          <p:nvPr/>
        </p:nvSpPr>
        <p:spPr>
          <a:xfrm>
            <a:off x="6208776" y="21762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1" name="Text 79"/>
          <p:cNvSpPr txBox="1"/>
          <p:nvPr/>
        </p:nvSpPr>
        <p:spPr>
          <a:xfrm>
            <a:off x="6565392" y="21762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2" name="Shape 80"/>
          <p:cNvSpPr/>
          <p:nvPr/>
        </p:nvSpPr>
        <p:spPr>
          <a:xfrm>
            <a:off x="8558784" y="2228342"/>
            <a:ext cx="1310628" cy="104140"/>
          </a:xfrm>
          <a:prstGeom prst="rect">
            <a:avLst/>
          </a:prstGeom>
          <a:solidFill>
            <a:srgbClr val="12A566"/>
          </a:solidFill>
          <a:ln/>
        </p:spPr>
      </p:sp>
      <p:sp>
        <p:nvSpPr>
          <p:cNvPr id="83" name="Text 81"/>
          <p:cNvSpPr txBox="1"/>
          <p:nvPr/>
        </p:nvSpPr>
        <p:spPr>
          <a:xfrm>
            <a:off x="10305288" y="21762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a:t>
            </a:r>
            <a:endParaRPr lang="en-US" sz="1200" dirty="0"/>
          </a:p>
        </p:txBody>
      </p:sp>
      <p:sp>
        <p:nvSpPr>
          <p:cNvPr id="84" name="Text 82"/>
          <p:cNvSpPr txBox="1"/>
          <p:nvPr/>
        </p:nvSpPr>
        <p:spPr>
          <a:xfrm>
            <a:off x="6208776"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5" name="Text 83"/>
          <p:cNvSpPr txBox="1"/>
          <p:nvPr/>
        </p:nvSpPr>
        <p:spPr>
          <a:xfrm>
            <a:off x="6565392"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6" name="Shape 84"/>
          <p:cNvSpPr/>
          <p:nvPr/>
        </p:nvSpPr>
        <p:spPr>
          <a:xfrm>
            <a:off x="8558784" y="2436622"/>
            <a:ext cx="1303142" cy="104140"/>
          </a:xfrm>
          <a:prstGeom prst="rect">
            <a:avLst/>
          </a:prstGeom>
          <a:solidFill>
            <a:srgbClr val="12A566"/>
          </a:solidFill>
          <a:ln/>
        </p:spPr>
      </p:sp>
      <p:sp>
        <p:nvSpPr>
          <p:cNvPr id="87" name="Text 85"/>
          <p:cNvSpPr txBox="1"/>
          <p:nvPr/>
        </p:nvSpPr>
        <p:spPr>
          <a:xfrm>
            <a:off x="10305288"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88" name="Text 86"/>
          <p:cNvSpPr txBox="1"/>
          <p:nvPr/>
        </p:nvSpPr>
        <p:spPr>
          <a:xfrm>
            <a:off x="6208776"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89" name="Text 87"/>
          <p:cNvSpPr txBox="1"/>
          <p:nvPr/>
        </p:nvSpPr>
        <p:spPr>
          <a:xfrm>
            <a:off x="6565392"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0" name="Shape 88"/>
          <p:cNvSpPr/>
          <p:nvPr/>
        </p:nvSpPr>
        <p:spPr>
          <a:xfrm>
            <a:off x="8558784" y="2644902"/>
            <a:ext cx="1296433" cy="104140"/>
          </a:xfrm>
          <a:prstGeom prst="rect">
            <a:avLst/>
          </a:prstGeom>
          <a:solidFill>
            <a:srgbClr val="12A566"/>
          </a:solidFill>
          <a:ln/>
        </p:spPr>
      </p:sp>
      <p:sp>
        <p:nvSpPr>
          <p:cNvPr id="91" name="Text 89"/>
          <p:cNvSpPr txBox="1"/>
          <p:nvPr/>
        </p:nvSpPr>
        <p:spPr>
          <a:xfrm>
            <a:off x="10305288"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92" name="Text 90"/>
          <p:cNvSpPr txBox="1"/>
          <p:nvPr/>
        </p:nvSpPr>
        <p:spPr>
          <a:xfrm>
            <a:off x="6208776"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3" name="Text 91"/>
          <p:cNvSpPr txBox="1"/>
          <p:nvPr/>
        </p:nvSpPr>
        <p:spPr>
          <a:xfrm>
            <a:off x="6565392"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4" name="Shape 92"/>
          <p:cNvSpPr/>
          <p:nvPr/>
        </p:nvSpPr>
        <p:spPr>
          <a:xfrm>
            <a:off x="8558784" y="2853182"/>
            <a:ext cx="1160151" cy="104140"/>
          </a:xfrm>
          <a:prstGeom prst="rect">
            <a:avLst/>
          </a:prstGeom>
          <a:solidFill>
            <a:srgbClr val="C2352F"/>
          </a:solidFill>
          <a:ln/>
        </p:spPr>
      </p:sp>
      <p:sp>
        <p:nvSpPr>
          <p:cNvPr id="95" name="Text 93"/>
          <p:cNvSpPr txBox="1"/>
          <p:nvPr/>
        </p:nvSpPr>
        <p:spPr>
          <a:xfrm>
            <a:off x="10305288" y="28011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a:t>
            </a:r>
            <a:endParaRPr lang="en-US" sz="1200" dirty="0"/>
          </a:p>
        </p:txBody>
      </p:sp>
      <p:sp>
        <p:nvSpPr>
          <p:cNvPr id="96" name="Text 94"/>
          <p:cNvSpPr txBox="1"/>
          <p:nvPr/>
        </p:nvSpPr>
        <p:spPr>
          <a:xfrm>
            <a:off x="6208776"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7" name="Text 95"/>
          <p:cNvSpPr txBox="1"/>
          <p:nvPr/>
        </p:nvSpPr>
        <p:spPr>
          <a:xfrm>
            <a:off x="6565392"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98" name="Shape 96"/>
          <p:cNvSpPr/>
          <p:nvPr/>
        </p:nvSpPr>
        <p:spPr>
          <a:xfrm>
            <a:off x="8558784" y="3061462"/>
            <a:ext cx="1136807" cy="104140"/>
          </a:xfrm>
          <a:prstGeom prst="rect">
            <a:avLst/>
          </a:prstGeom>
          <a:solidFill>
            <a:srgbClr val="C2352F"/>
          </a:solidFill>
          <a:ln/>
        </p:spPr>
      </p:sp>
      <p:sp>
        <p:nvSpPr>
          <p:cNvPr id="99" name="Text 97"/>
          <p:cNvSpPr txBox="1"/>
          <p:nvPr/>
        </p:nvSpPr>
        <p:spPr>
          <a:xfrm>
            <a:off x="10305288" y="30093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a:t>
            </a:r>
            <a:endParaRPr lang="en-US" sz="1200" dirty="0"/>
          </a:p>
        </p:txBody>
      </p:sp>
      <p:sp>
        <p:nvSpPr>
          <p:cNvPr id="100" name="Text 98"/>
          <p:cNvSpPr txBox="1"/>
          <p:nvPr/>
        </p:nvSpPr>
        <p:spPr>
          <a:xfrm>
            <a:off x="6208776"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1" name="Text 99"/>
          <p:cNvSpPr txBox="1"/>
          <p:nvPr/>
        </p:nvSpPr>
        <p:spPr>
          <a:xfrm>
            <a:off x="6565392"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2" name="Shape 100"/>
          <p:cNvSpPr/>
          <p:nvPr/>
        </p:nvSpPr>
        <p:spPr>
          <a:xfrm>
            <a:off x="8558784" y="3269742"/>
            <a:ext cx="1108783" cy="104140"/>
          </a:xfrm>
          <a:prstGeom prst="rect">
            <a:avLst/>
          </a:prstGeom>
          <a:solidFill>
            <a:srgbClr val="C2352F"/>
          </a:solidFill>
          <a:ln/>
        </p:spPr>
      </p:sp>
      <p:sp>
        <p:nvSpPr>
          <p:cNvPr id="103" name="Text 101"/>
          <p:cNvSpPr txBox="1"/>
          <p:nvPr/>
        </p:nvSpPr>
        <p:spPr>
          <a:xfrm>
            <a:off x="10305288" y="32176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a:t>
            </a:r>
            <a:endParaRPr lang="en-US" sz="1200" dirty="0"/>
          </a:p>
        </p:txBody>
      </p:sp>
      <p:sp>
        <p:nvSpPr>
          <p:cNvPr id="104" name="Text 102"/>
          <p:cNvSpPr txBox="1"/>
          <p:nvPr/>
        </p:nvSpPr>
        <p:spPr>
          <a:xfrm>
            <a:off x="6208776"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5" name="Text 103"/>
          <p:cNvSpPr txBox="1"/>
          <p:nvPr/>
        </p:nvSpPr>
        <p:spPr>
          <a:xfrm>
            <a:off x="6565392"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6" name="Shape 104"/>
          <p:cNvSpPr/>
          <p:nvPr/>
        </p:nvSpPr>
        <p:spPr>
          <a:xfrm>
            <a:off x="8558784" y="3478022"/>
            <a:ext cx="1088944" cy="104140"/>
          </a:xfrm>
          <a:prstGeom prst="rect">
            <a:avLst/>
          </a:prstGeom>
          <a:solidFill>
            <a:srgbClr val="C2352F"/>
          </a:solidFill>
          <a:ln/>
        </p:spPr>
      </p:sp>
      <p:sp>
        <p:nvSpPr>
          <p:cNvPr id="107" name="Text 105"/>
          <p:cNvSpPr txBox="1"/>
          <p:nvPr/>
        </p:nvSpPr>
        <p:spPr>
          <a:xfrm>
            <a:off x="10305288"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a:t>
            </a:r>
            <a:endParaRPr lang="en-US" sz="1200" dirty="0"/>
          </a:p>
        </p:txBody>
      </p:sp>
      <p:sp>
        <p:nvSpPr>
          <p:cNvPr id="108" name="Text 106"/>
          <p:cNvSpPr txBox="1"/>
          <p:nvPr/>
        </p:nvSpPr>
        <p:spPr>
          <a:xfrm>
            <a:off x="6208776"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9" name="Text 107"/>
          <p:cNvSpPr txBox="1"/>
          <p:nvPr/>
        </p:nvSpPr>
        <p:spPr>
          <a:xfrm>
            <a:off x="6565392"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0" name="Shape 108"/>
          <p:cNvSpPr/>
          <p:nvPr/>
        </p:nvSpPr>
        <p:spPr>
          <a:xfrm>
            <a:off x="8558784" y="3686302"/>
            <a:ext cx="1063571" cy="104140"/>
          </a:xfrm>
          <a:prstGeom prst="rect">
            <a:avLst/>
          </a:prstGeom>
          <a:solidFill>
            <a:srgbClr val="C2352F"/>
          </a:solidFill>
          <a:ln/>
        </p:spPr>
      </p:sp>
      <p:sp>
        <p:nvSpPr>
          <p:cNvPr id="111" name="Text 109"/>
          <p:cNvSpPr txBox="1"/>
          <p:nvPr/>
        </p:nvSpPr>
        <p:spPr>
          <a:xfrm>
            <a:off x="10305288"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12" name="Text 110"/>
          <p:cNvSpPr txBox="1"/>
          <p:nvPr/>
        </p:nvSpPr>
        <p:spPr>
          <a:xfrm>
            <a:off x="6208776"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3" name="Text 111"/>
          <p:cNvSpPr txBox="1"/>
          <p:nvPr/>
        </p:nvSpPr>
        <p:spPr>
          <a:xfrm>
            <a:off x="6565392"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4" name="Shape 112"/>
          <p:cNvSpPr/>
          <p:nvPr/>
        </p:nvSpPr>
        <p:spPr>
          <a:xfrm>
            <a:off x="8558784" y="3894582"/>
            <a:ext cx="1044439" cy="104140"/>
          </a:xfrm>
          <a:prstGeom prst="rect">
            <a:avLst/>
          </a:prstGeom>
          <a:solidFill>
            <a:srgbClr val="C2352F"/>
          </a:solidFill>
          <a:ln/>
        </p:spPr>
      </p:sp>
      <p:sp>
        <p:nvSpPr>
          <p:cNvPr id="115" name="Text 113"/>
          <p:cNvSpPr txBox="1"/>
          <p:nvPr/>
        </p:nvSpPr>
        <p:spPr>
          <a:xfrm>
            <a:off x="10305288"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a:t>
            </a:r>
            <a:endParaRPr lang="en-US" sz="1200" dirty="0"/>
          </a:p>
        </p:txBody>
      </p:sp>
      <p:sp>
        <p:nvSpPr>
          <p:cNvPr id="116" name="Text 114"/>
          <p:cNvSpPr txBox="1"/>
          <p:nvPr/>
        </p:nvSpPr>
        <p:spPr>
          <a:xfrm>
            <a:off x="6208776"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7" name="Text 115"/>
          <p:cNvSpPr txBox="1"/>
          <p:nvPr/>
        </p:nvSpPr>
        <p:spPr>
          <a:xfrm>
            <a:off x="6565392"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8" name="Shape 116"/>
          <p:cNvSpPr/>
          <p:nvPr/>
        </p:nvSpPr>
        <p:spPr>
          <a:xfrm>
            <a:off x="8558784" y="4102862"/>
            <a:ext cx="986681" cy="104140"/>
          </a:xfrm>
          <a:prstGeom prst="rect">
            <a:avLst/>
          </a:prstGeom>
          <a:solidFill>
            <a:srgbClr val="C2352F"/>
          </a:solidFill>
          <a:ln/>
        </p:spPr>
      </p:sp>
      <p:sp>
        <p:nvSpPr>
          <p:cNvPr id="119" name="Text 117"/>
          <p:cNvSpPr txBox="1"/>
          <p:nvPr/>
        </p:nvSpPr>
        <p:spPr>
          <a:xfrm>
            <a:off x="10305288"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20" name="Text 118"/>
          <p:cNvSpPr txBox="1"/>
          <p:nvPr/>
        </p:nvSpPr>
        <p:spPr>
          <a:xfrm>
            <a:off x="6208776" y="42590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42590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2" name="Shape 120"/>
          <p:cNvSpPr/>
          <p:nvPr/>
        </p:nvSpPr>
        <p:spPr>
          <a:xfrm>
            <a:off x="8558784" y="4311142"/>
            <a:ext cx="979901" cy="104140"/>
          </a:xfrm>
          <a:prstGeom prst="rect">
            <a:avLst/>
          </a:prstGeom>
          <a:solidFill>
            <a:srgbClr val="C2352F"/>
          </a:solidFill>
          <a:ln/>
        </p:spPr>
      </p:sp>
      <p:sp>
        <p:nvSpPr>
          <p:cNvPr id="123" name="Text 121"/>
          <p:cNvSpPr txBox="1"/>
          <p:nvPr/>
        </p:nvSpPr>
        <p:spPr>
          <a:xfrm>
            <a:off x="10305288" y="42590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24" name="Text 122"/>
          <p:cNvSpPr txBox="1"/>
          <p:nvPr/>
        </p:nvSpPr>
        <p:spPr>
          <a:xfrm>
            <a:off x="6208776"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5" name="Text 123"/>
          <p:cNvSpPr txBox="1"/>
          <p:nvPr/>
        </p:nvSpPr>
        <p:spPr>
          <a:xfrm>
            <a:off x="6565392"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6" name="Shape 124"/>
          <p:cNvSpPr/>
          <p:nvPr/>
        </p:nvSpPr>
        <p:spPr>
          <a:xfrm>
            <a:off x="8558784" y="4519422"/>
            <a:ext cx="969197" cy="104140"/>
          </a:xfrm>
          <a:prstGeom prst="rect">
            <a:avLst/>
          </a:prstGeom>
          <a:solidFill>
            <a:srgbClr val="C2352F"/>
          </a:solidFill>
          <a:ln/>
        </p:spPr>
      </p:sp>
      <p:sp>
        <p:nvSpPr>
          <p:cNvPr id="127" name="Text 125"/>
          <p:cNvSpPr txBox="1"/>
          <p:nvPr/>
        </p:nvSpPr>
        <p:spPr>
          <a:xfrm>
            <a:off x="10305288" y="44673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a:t>
            </a:r>
            <a:endParaRPr lang="en-US" sz="1200" dirty="0"/>
          </a:p>
        </p:txBody>
      </p:sp>
      <p:sp>
        <p:nvSpPr>
          <p:cNvPr id="128" name="Text 126"/>
          <p:cNvSpPr txBox="1"/>
          <p:nvPr/>
        </p:nvSpPr>
        <p:spPr>
          <a:xfrm>
            <a:off x="6208776"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9" name="Text 127"/>
          <p:cNvSpPr txBox="1"/>
          <p:nvPr/>
        </p:nvSpPr>
        <p:spPr>
          <a:xfrm>
            <a:off x="6565392"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0" name="Shape 128"/>
          <p:cNvSpPr/>
          <p:nvPr/>
        </p:nvSpPr>
        <p:spPr>
          <a:xfrm>
            <a:off x="8558784" y="4727702"/>
            <a:ext cx="951153" cy="104140"/>
          </a:xfrm>
          <a:prstGeom prst="rect">
            <a:avLst/>
          </a:prstGeom>
          <a:solidFill>
            <a:srgbClr val="C2352F"/>
          </a:solidFill>
          <a:ln/>
        </p:spPr>
      </p:sp>
      <p:sp>
        <p:nvSpPr>
          <p:cNvPr id="131" name="Text 129"/>
          <p:cNvSpPr txBox="1"/>
          <p:nvPr/>
        </p:nvSpPr>
        <p:spPr>
          <a:xfrm>
            <a:off x="10305288" y="46756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32" name="Text 130"/>
          <p:cNvSpPr txBox="1"/>
          <p:nvPr/>
        </p:nvSpPr>
        <p:spPr>
          <a:xfrm>
            <a:off x="6208776"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4" name="Shape 132"/>
          <p:cNvSpPr/>
          <p:nvPr/>
        </p:nvSpPr>
        <p:spPr>
          <a:xfrm>
            <a:off x="8558784" y="4935982"/>
            <a:ext cx="945514" cy="104140"/>
          </a:xfrm>
          <a:prstGeom prst="rect">
            <a:avLst/>
          </a:prstGeom>
          <a:solidFill>
            <a:srgbClr val="C2352F"/>
          </a:solidFill>
          <a:ln/>
        </p:spPr>
      </p:sp>
      <p:sp>
        <p:nvSpPr>
          <p:cNvPr id="135" name="Text 133"/>
          <p:cNvSpPr txBox="1"/>
          <p:nvPr/>
        </p:nvSpPr>
        <p:spPr>
          <a:xfrm>
            <a:off x="10305288" y="48839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36" name="Text 134"/>
          <p:cNvSpPr txBox="1"/>
          <p:nvPr/>
        </p:nvSpPr>
        <p:spPr>
          <a:xfrm>
            <a:off x="6208776"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7" name="Text 135"/>
          <p:cNvSpPr txBox="1"/>
          <p:nvPr/>
        </p:nvSpPr>
        <p:spPr>
          <a:xfrm>
            <a:off x="6565392"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8" name="Shape 136"/>
          <p:cNvSpPr/>
          <p:nvPr/>
        </p:nvSpPr>
        <p:spPr>
          <a:xfrm>
            <a:off x="8558784" y="5144262"/>
            <a:ext cx="935633" cy="104140"/>
          </a:xfrm>
          <a:prstGeom prst="rect">
            <a:avLst/>
          </a:prstGeom>
          <a:solidFill>
            <a:srgbClr val="C2352F"/>
          </a:solidFill>
          <a:ln/>
        </p:spPr>
      </p:sp>
      <p:sp>
        <p:nvSpPr>
          <p:cNvPr id="139" name="Text 137"/>
          <p:cNvSpPr txBox="1"/>
          <p:nvPr/>
        </p:nvSpPr>
        <p:spPr>
          <a:xfrm>
            <a:off x="10305288" y="50921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40" name="Text 138"/>
          <p:cNvSpPr txBox="1"/>
          <p:nvPr/>
        </p:nvSpPr>
        <p:spPr>
          <a:xfrm>
            <a:off x="6208776"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1" name="Text 139"/>
          <p:cNvSpPr txBox="1"/>
          <p:nvPr/>
        </p:nvSpPr>
        <p:spPr>
          <a:xfrm>
            <a:off x="6565392"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42" name="Shape 140"/>
          <p:cNvSpPr/>
          <p:nvPr/>
        </p:nvSpPr>
        <p:spPr>
          <a:xfrm>
            <a:off x="8558784" y="5352542"/>
            <a:ext cx="920871" cy="104140"/>
          </a:xfrm>
          <a:prstGeom prst="rect">
            <a:avLst/>
          </a:prstGeom>
          <a:solidFill>
            <a:srgbClr val="C2352F"/>
          </a:solidFill>
          <a:ln/>
        </p:spPr>
      </p:sp>
      <p:sp>
        <p:nvSpPr>
          <p:cNvPr id="143" name="Text 141"/>
          <p:cNvSpPr txBox="1"/>
          <p:nvPr/>
        </p:nvSpPr>
        <p:spPr>
          <a:xfrm>
            <a:off x="10305288" y="53004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44" name="Text 142"/>
          <p:cNvSpPr txBox="1"/>
          <p:nvPr/>
        </p:nvSpPr>
        <p:spPr>
          <a:xfrm>
            <a:off x="6208776"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5" name="Text 143"/>
          <p:cNvSpPr txBox="1"/>
          <p:nvPr/>
        </p:nvSpPr>
        <p:spPr>
          <a:xfrm>
            <a:off x="6565392"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6" name="Shape 144"/>
          <p:cNvSpPr/>
          <p:nvPr/>
        </p:nvSpPr>
        <p:spPr>
          <a:xfrm>
            <a:off x="8558784" y="5560822"/>
            <a:ext cx="858628" cy="104140"/>
          </a:xfrm>
          <a:prstGeom prst="rect">
            <a:avLst/>
          </a:prstGeom>
          <a:solidFill>
            <a:srgbClr val="C2352F"/>
          </a:solidFill>
          <a:ln/>
        </p:spPr>
      </p:sp>
      <p:sp>
        <p:nvSpPr>
          <p:cNvPr id="147" name="Text 145"/>
          <p:cNvSpPr txBox="1"/>
          <p:nvPr/>
        </p:nvSpPr>
        <p:spPr>
          <a:xfrm>
            <a:off x="10305288" y="55087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1.29</a:t>
            </a:r>
            <a:endParaRPr lang="en-US" sz="1200" dirty="0"/>
          </a:p>
        </p:txBody>
      </p:sp>
      <p:sp>
        <p:nvSpPr>
          <p:cNvPr id="148" name="Shape 146"/>
          <p:cNvSpPr/>
          <p:nvPr/>
        </p:nvSpPr>
        <p:spPr>
          <a:xfrm>
            <a:off x="4163400" y="2176272"/>
            <a:ext cx="14630" cy="3749040"/>
          </a:xfrm>
          <a:prstGeom prst="rect">
            <a:avLst/>
          </a:prstGeom>
          <a:solidFill>
            <a:srgbClr val="0B2C4A"/>
          </a:solidFill>
          <a:ln/>
        </p:spPr>
      </p:sp>
      <p:sp>
        <p:nvSpPr>
          <p:cNvPr id="149" name="Shape 147"/>
          <p:cNvSpPr/>
          <p:nvPr/>
        </p:nvSpPr>
        <p:spPr>
          <a:xfrm>
            <a:off x="9713808" y="2176272"/>
            <a:ext cx="14630" cy="3749040"/>
          </a:xfrm>
          <a:prstGeom prst="rect">
            <a:avLst/>
          </a:prstGeom>
          <a:solidFill>
            <a:srgbClr val="0B2C4A"/>
          </a:solidFill>
          <a:ln/>
        </p:spPr>
      </p:sp>
      <p:sp>
        <p:nvSpPr>
          <p:cNvPr id="150" name="Shape 148"/>
          <p:cNvSpPr/>
          <p:nvPr/>
        </p:nvSpPr>
        <p:spPr>
          <a:xfrm>
            <a:off x="6085332" y="2176272"/>
            <a:ext cx="10973" cy="3749040"/>
          </a:xfrm>
          <a:prstGeom prst="rect">
            <a:avLst/>
          </a:prstGeom>
          <a:solidFill>
            <a:srgbClr val="D9D9D9"/>
          </a:solidFill>
          <a:ln/>
        </p:spPr>
      </p:sp>
      <p:sp>
        <p:nvSpPr>
          <p:cNvPr id="151" name="Shape 149"/>
          <p:cNvSpPr/>
          <p:nvPr/>
        </p:nvSpPr>
        <p:spPr>
          <a:xfrm>
            <a:off x="457200" y="6126480"/>
            <a:ext cx="11274552" cy="615696"/>
          </a:xfrm>
          <a:prstGeom prst="rect">
            <a:avLst/>
          </a:prstGeom>
          <a:solidFill>
            <a:srgbClr val="EDF4FA"/>
          </a:solidFill>
          <a:ln/>
        </p:spPr>
      </p:sp>
      <p:sp>
        <p:nvSpPr>
          <p:cNvPr id="152" name="Text 1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4 of 9 luxury stores beat 2.90 and 10 of 24 others beat 1.75. VW Henderson leads non-luxury at 2.49.</a:t>
            </a:r>
            <a:endParaRPr lang="en-US" sz="1600" dirty="0"/>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0176"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785616" y="2151755"/>
            <a:ext cx="56466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4260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785616" y="2631546"/>
            <a:ext cx="41772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9" name="Shape 27"/>
          <p:cNvSpPr/>
          <p:nvPr/>
        </p:nvSpPr>
        <p:spPr>
          <a:xfrm>
            <a:off x="3785616" y="2871442"/>
            <a:ext cx="41289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41088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3676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1" name="Shape 39"/>
          <p:cNvSpPr/>
          <p:nvPr/>
        </p:nvSpPr>
        <p:spPr>
          <a:xfrm>
            <a:off x="3785616" y="3591128"/>
            <a:ext cx="36177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34777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3785616" y="4070920"/>
            <a:ext cx="32378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3" name="Shape 51"/>
          <p:cNvSpPr/>
          <p:nvPr/>
        </p:nvSpPr>
        <p:spPr>
          <a:xfrm>
            <a:off x="3785616" y="4310815"/>
            <a:ext cx="276863"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26107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1" name="Shape 59"/>
          <p:cNvSpPr/>
          <p:nvPr/>
        </p:nvSpPr>
        <p:spPr>
          <a:xfrm>
            <a:off x="3785616" y="4790606"/>
            <a:ext cx="22177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181513"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785616" y="5270397"/>
            <a:ext cx="15649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785616" y="5510293"/>
            <a:ext cx="14637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7" name="Shape 75"/>
          <p:cNvSpPr/>
          <p:nvPr/>
        </p:nvSpPr>
        <p:spPr>
          <a:xfrm>
            <a:off x="3785616" y="5750188"/>
            <a:ext cx="14269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132718"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9336024" y="2151755"/>
            <a:ext cx="12854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9" name="Shape 87"/>
          <p:cNvSpPr/>
          <p:nvPr/>
        </p:nvSpPr>
        <p:spPr>
          <a:xfrm>
            <a:off x="9336024" y="2391651"/>
            <a:ext cx="122528"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3" name="Shape 91"/>
          <p:cNvSpPr/>
          <p:nvPr/>
        </p:nvSpPr>
        <p:spPr>
          <a:xfrm>
            <a:off x="9336024" y="2631546"/>
            <a:ext cx="11461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9336024" y="2871442"/>
            <a:ext cx="111734"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1" name="Shape 99"/>
          <p:cNvSpPr/>
          <p:nvPr/>
        </p:nvSpPr>
        <p:spPr>
          <a:xfrm>
            <a:off x="9336024" y="3111337"/>
            <a:ext cx="63851"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5" name="Shape 103"/>
          <p:cNvSpPr/>
          <p:nvPr/>
        </p:nvSpPr>
        <p:spPr>
          <a:xfrm>
            <a:off x="9336024" y="3351233"/>
            <a:ext cx="58226"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336024" y="3591128"/>
            <a:ext cx="12802"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+0.01</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3" name="Shape 111"/>
          <p:cNvSpPr/>
          <p:nvPr/>
        </p:nvSpPr>
        <p:spPr>
          <a:xfrm>
            <a:off x="9336024" y="3831024"/>
            <a:ext cx="12802"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7" name="Shape 115"/>
          <p:cNvSpPr/>
          <p:nvPr/>
        </p:nvSpPr>
        <p:spPr>
          <a:xfrm>
            <a:off x="9297473" y="4070920"/>
            <a:ext cx="3855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292255" y="4310815"/>
            <a:ext cx="43769"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38983" y="4550711"/>
            <a:ext cx="9704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121986" y="4790606"/>
            <a:ext cx="21403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992031" y="5030502"/>
            <a:ext cx="34399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7" name="Shape 135"/>
          <p:cNvSpPr/>
          <p:nvPr/>
        </p:nvSpPr>
        <p:spPr>
          <a:xfrm>
            <a:off x="8911352" y="5270397"/>
            <a:ext cx="42467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−0.55</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sold more hours per RO, led by Subaru St George at +0.55 to 2.30. 7 declined; LR Reno fell most at −0.55.</a:t>
            </a:r>
            <a:endParaRPr lang="en-US" sz="1600" dirty="0"/>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0.1 Hour per RO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218688"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133088"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8" name="Text 6"/>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9" name="Text 7"/>
          <p:cNvSpPr txBox="1"/>
          <p:nvPr/>
        </p:nvSpPr>
        <p:spPr>
          <a:xfrm>
            <a:off x="8769096"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683496"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11" name="Text 9"/>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3" name="Shape 11"/>
          <p:cNvSpPr/>
          <p:nvPr/>
        </p:nvSpPr>
        <p:spPr>
          <a:xfrm>
            <a:off x="2670048" y="1756697"/>
            <a:ext cx="493776" cy="136676"/>
          </a:xfrm>
          <a:prstGeom prst="rect">
            <a:avLst/>
          </a:prstGeom>
          <a:solidFill>
            <a:srgbClr val="2587C5"/>
          </a:solidFill>
          <a:ln/>
        </p:spPr>
      </p:sp>
      <p:sp>
        <p:nvSpPr>
          <p:cNvPr id="14" name="Text 12"/>
          <p:cNvSpPr txBox="1"/>
          <p:nvPr/>
        </p:nvSpPr>
        <p:spPr>
          <a:xfrm>
            <a:off x="3218688"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$1.16M</a:t>
            </a:r>
            <a:endParaRPr lang="en-US" sz="1300" dirty="0"/>
          </a:p>
        </p:txBody>
      </p:sp>
      <p:sp>
        <p:nvSpPr>
          <p:cNvPr id="15" name="Text 13"/>
          <p:cNvSpPr txBox="1"/>
          <p:nvPr/>
        </p:nvSpPr>
        <p:spPr>
          <a:xfrm>
            <a:off x="4133088" y="170078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$868K</a:t>
            </a:r>
            <a:endParaRPr lang="en-US" sz="1300" dirty="0"/>
          </a:p>
        </p:txBody>
      </p:sp>
      <p:sp>
        <p:nvSpPr>
          <p:cNvPr id="16" name="Text 14"/>
          <p:cNvSpPr txBox="1"/>
          <p:nvPr/>
        </p:nvSpPr>
        <p:spPr>
          <a:xfrm>
            <a:off x="5029200" y="170078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$296K</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8" name="Shape 16"/>
          <p:cNvSpPr/>
          <p:nvPr/>
        </p:nvSpPr>
        <p:spPr>
          <a:xfrm>
            <a:off x="2670048" y="2005199"/>
            <a:ext cx="217917" cy="136676"/>
          </a:xfrm>
          <a:prstGeom prst="rect">
            <a:avLst/>
          </a:prstGeom>
          <a:solidFill>
            <a:srgbClr val="2587C5"/>
          </a:solidFill>
          <a:ln/>
        </p:spPr>
      </p:sp>
      <p:sp>
        <p:nvSpPr>
          <p:cNvPr id="19" name="Text 17"/>
          <p:cNvSpPr txBox="1"/>
          <p:nvPr/>
        </p:nvSpPr>
        <p:spPr>
          <a:xfrm>
            <a:off x="3218688"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$514K</a:t>
            </a:r>
            <a:endParaRPr lang="en-US" sz="1300" dirty="0"/>
          </a:p>
        </p:txBody>
      </p:sp>
      <p:sp>
        <p:nvSpPr>
          <p:cNvPr id="20" name="Text 18"/>
          <p:cNvSpPr txBox="1"/>
          <p:nvPr/>
        </p:nvSpPr>
        <p:spPr>
          <a:xfrm>
            <a:off x="4133088" y="194928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$396K</a:t>
            </a:r>
            <a:endParaRPr lang="en-US" sz="1300" dirty="0"/>
          </a:p>
        </p:txBody>
      </p:sp>
      <p:sp>
        <p:nvSpPr>
          <p:cNvPr id="21" name="Text 19"/>
          <p:cNvSpPr txBox="1"/>
          <p:nvPr/>
        </p:nvSpPr>
        <p:spPr>
          <a:xfrm>
            <a:off x="5029200" y="194928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$118K</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23" name="Shape 21"/>
          <p:cNvSpPr/>
          <p:nvPr/>
        </p:nvSpPr>
        <p:spPr>
          <a:xfrm>
            <a:off x="2670048" y="2253700"/>
            <a:ext cx="173990" cy="136676"/>
          </a:xfrm>
          <a:prstGeom prst="rect">
            <a:avLst/>
          </a:prstGeom>
          <a:solidFill>
            <a:srgbClr val="2587C5"/>
          </a:solidFill>
          <a:ln/>
        </p:spPr>
      </p:sp>
      <p:sp>
        <p:nvSpPr>
          <p:cNvPr id="24" name="Text 22"/>
          <p:cNvSpPr txBox="1"/>
          <p:nvPr/>
        </p:nvSpPr>
        <p:spPr>
          <a:xfrm>
            <a:off x="3218688"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25" name="Text 23"/>
          <p:cNvSpPr txBox="1"/>
          <p:nvPr/>
        </p:nvSpPr>
        <p:spPr>
          <a:xfrm>
            <a:off x="4133088" y="219778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$296K</a:t>
            </a:r>
            <a:endParaRPr lang="en-US" sz="1300" dirty="0"/>
          </a:p>
        </p:txBody>
      </p:sp>
      <p:sp>
        <p:nvSpPr>
          <p:cNvPr id="26" name="Text 24"/>
          <p:cNvSpPr txBox="1"/>
          <p:nvPr/>
        </p:nvSpPr>
        <p:spPr>
          <a:xfrm>
            <a:off x="5029200" y="219778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28" name="Shape 26"/>
          <p:cNvSpPr/>
          <p:nvPr/>
        </p:nvSpPr>
        <p:spPr>
          <a:xfrm>
            <a:off x="2670048" y="2502202"/>
            <a:ext cx="146509" cy="136676"/>
          </a:xfrm>
          <a:prstGeom prst="rect">
            <a:avLst/>
          </a:prstGeom>
          <a:solidFill>
            <a:srgbClr val="2587C5"/>
          </a:solidFill>
          <a:ln/>
        </p:spPr>
      </p:sp>
      <p:sp>
        <p:nvSpPr>
          <p:cNvPr id="29" name="Text 27"/>
          <p:cNvSpPr txBox="1"/>
          <p:nvPr/>
        </p:nvSpPr>
        <p:spPr>
          <a:xfrm>
            <a:off x="3218688"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$345K</a:t>
            </a:r>
            <a:endParaRPr lang="en-US" sz="1300" dirty="0"/>
          </a:p>
        </p:txBody>
      </p:sp>
      <p:sp>
        <p:nvSpPr>
          <p:cNvPr id="30" name="Text 28"/>
          <p:cNvSpPr txBox="1"/>
          <p:nvPr/>
        </p:nvSpPr>
        <p:spPr>
          <a:xfrm>
            <a:off x="4133088" y="244628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$261K</a:t>
            </a:r>
            <a:endParaRPr lang="en-US" sz="1300" dirty="0"/>
          </a:p>
        </p:txBody>
      </p:sp>
      <p:sp>
        <p:nvSpPr>
          <p:cNvPr id="31" name="Text 29"/>
          <p:cNvSpPr txBox="1"/>
          <p:nvPr/>
        </p:nvSpPr>
        <p:spPr>
          <a:xfrm>
            <a:off x="5029200" y="244628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$85K</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3" name="Shape 31"/>
          <p:cNvSpPr/>
          <p:nvPr/>
        </p:nvSpPr>
        <p:spPr>
          <a:xfrm>
            <a:off x="2670048" y="2750703"/>
            <a:ext cx="143883" cy="136676"/>
          </a:xfrm>
          <a:prstGeom prst="rect">
            <a:avLst/>
          </a:prstGeom>
          <a:solidFill>
            <a:srgbClr val="2587C5"/>
          </a:solidFill>
          <a:ln/>
        </p:spPr>
      </p:sp>
      <p:sp>
        <p:nvSpPr>
          <p:cNvPr id="34" name="Text 32"/>
          <p:cNvSpPr txBox="1"/>
          <p:nvPr/>
        </p:nvSpPr>
        <p:spPr>
          <a:xfrm>
            <a:off x="3218688"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35" name="Text 33"/>
          <p:cNvSpPr txBox="1"/>
          <p:nvPr/>
        </p:nvSpPr>
        <p:spPr>
          <a:xfrm>
            <a:off x="4133088" y="2694791"/>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$221K</a:t>
            </a:r>
            <a:endParaRPr lang="en-US" sz="1300" dirty="0"/>
          </a:p>
        </p:txBody>
      </p:sp>
      <p:sp>
        <p:nvSpPr>
          <p:cNvPr id="36" name="Text 34"/>
          <p:cNvSpPr txBox="1"/>
          <p:nvPr/>
        </p:nvSpPr>
        <p:spPr>
          <a:xfrm>
            <a:off x="5029200" y="2694791"/>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$118K</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8" name="Shape 36"/>
          <p:cNvSpPr/>
          <p:nvPr/>
        </p:nvSpPr>
        <p:spPr>
          <a:xfrm>
            <a:off x="2670048" y="2999205"/>
            <a:ext cx="142232" cy="136676"/>
          </a:xfrm>
          <a:prstGeom prst="rect">
            <a:avLst/>
          </a:prstGeom>
          <a:solidFill>
            <a:srgbClr val="2587C5"/>
          </a:solidFill>
          <a:ln/>
        </p:spPr>
      </p:sp>
      <p:sp>
        <p:nvSpPr>
          <p:cNvPr id="39" name="Text 37"/>
          <p:cNvSpPr txBox="1"/>
          <p:nvPr/>
        </p:nvSpPr>
        <p:spPr>
          <a:xfrm>
            <a:off x="3218688"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$335K</a:t>
            </a:r>
            <a:endParaRPr lang="en-US" sz="1300" dirty="0"/>
          </a:p>
        </p:txBody>
      </p:sp>
      <p:sp>
        <p:nvSpPr>
          <p:cNvPr id="40" name="Text 38"/>
          <p:cNvSpPr txBox="1"/>
          <p:nvPr/>
        </p:nvSpPr>
        <p:spPr>
          <a:xfrm>
            <a:off x="4133088" y="294329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$244K</a:t>
            </a:r>
            <a:endParaRPr lang="en-US" sz="1300" dirty="0"/>
          </a:p>
        </p:txBody>
      </p:sp>
      <p:sp>
        <p:nvSpPr>
          <p:cNvPr id="41" name="Text 39"/>
          <p:cNvSpPr txBox="1"/>
          <p:nvPr/>
        </p:nvSpPr>
        <p:spPr>
          <a:xfrm>
            <a:off x="5029200" y="294329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$92K</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247707"/>
            <a:ext cx="130684" cy="136676"/>
          </a:xfrm>
          <a:prstGeom prst="rect">
            <a:avLst/>
          </a:prstGeom>
          <a:solidFill>
            <a:srgbClr val="2587C5"/>
          </a:solidFill>
          <a:ln/>
        </p:spPr>
      </p:sp>
      <p:sp>
        <p:nvSpPr>
          <p:cNvPr id="44" name="Text 42"/>
          <p:cNvSpPr txBox="1"/>
          <p:nvPr/>
        </p:nvSpPr>
        <p:spPr>
          <a:xfrm>
            <a:off x="3218688"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$308K</a:t>
            </a:r>
            <a:endParaRPr lang="en-US" sz="1300" dirty="0"/>
          </a:p>
        </p:txBody>
      </p:sp>
      <p:sp>
        <p:nvSpPr>
          <p:cNvPr id="45" name="Text 43"/>
          <p:cNvSpPr txBox="1"/>
          <p:nvPr/>
        </p:nvSpPr>
        <p:spPr>
          <a:xfrm>
            <a:off x="4133088" y="319179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$225K</a:t>
            </a:r>
            <a:endParaRPr lang="en-US" sz="1300" dirty="0"/>
          </a:p>
        </p:txBody>
      </p:sp>
      <p:sp>
        <p:nvSpPr>
          <p:cNvPr id="46" name="Text 44"/>
          <p:cNvSpPr txBox="1"/>
          <p:nvPr/>
        </p:nvSpPr>
        <p:spPr>
          <a:xfrm>
            <a:off x="5029200" y="319179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$83K</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8" name="Shape 46"/>
          <p:cNvSpPr/>
          <p:nvPr/>
        </p:nvSpPr>
        <p:spPr>
          <a:xfrm>
            <a:off x="2670048" y="3496208"/>
            <a:ext cx="130182" cy="136676"/>
          </a:xfrm>
          <a:prstGeom prst="rect">
            <a:avLst/>
          </a:prstGeom>
          <a:solidFill>
            <a:srgbClr val="2587C5"/>
          </a:solidFill>
          <a:ln/>
        </p:spPr>
      </p:sp>
      <p:sp>
        <p:nvSpPr>
          <p:cNvPr id="49" name="Text 47"/>
          <p:cNvSpPr txBox="1"/>
          <p:nvPr/>
        </p:nvSpPr>
        <p:spPr>
          <a:xfrm>
            <a:off x="3218688"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$307K</a:t>
            </a:r>
            <a:endParaRPr lang="en-US" sz="1300" dirty="0"/>
          </a:p>
        </p:txBody>
      </p:sp>
      <p:sp>
        <p:nvSpPr>
          <p:cNvPr id="50" name="Text 48"/>
          <p:cNvSpPr txBox="1"/>
          <p:nvPr/>
        </p:nvSpPr>
        <p:spPr>
          <a:xfrm>
            <a:off x="4133088" y="344029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$228K</a:t>
            </a:r>
            <a:endParaRPr lang="en-US" sz="1300" dirty="0"/>
          </a:p>
        </p:txBody>
      </p:sp>
      <p:sp>
        <p:nvSpPr>
          <p:cNvPr id="51" name="Text 49"/>
          <p:cNvSpPr txBox="1"/>
          <p:nvPr/>
        </p:nvSpPr>
        <p:spPr>
          <a:xfrm>
            <a:off x="5029200" y="344029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$79K</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53" name="Shape 51"/>
          <p:cNvSpPr/>
          <p:nvPr/>
        </p:nvSpPr>
        <p:spPr>
          <a:xfrm>
            <a:off x="2670048" y="3744710"/>
            <a:ext cx="83179" cy="136676"/>
          </a:xfrm>
          <a:prstGeom prst="rect">
            <a:avLst/>
          </a:prstGeom>
          <a:solidFill>
            <a:srgbClr val="2587C5"/>
          </a:solidFill>
          <a:ln/>
        </p:spPr>
      </p:sp>
      <p:sp>
        <p:nvSpPr>
          <p:cNvPr id="54" name="Text 52"/>
          <p:cNvSpPr txBox="1"/>
          <p:nvPr/>
        </p:nvSpPr>
        <p:spPr>
          <a:xfrm>
            <a:off x="3218688"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$196K</a:t>
            </a:r>
            <a:endParaRPr lang="en-US" sz="1300" dirty="0"/>
          </a:p>
        </p:txBody>
      </p:sp>
      <p:sp>
        <p:nvSpPr>
          <p:cNvPr id="55" name="Text 53"/>
          <p:cNvSpPr txBox="1"/>
          <p:nvPr/>
        </p:nvSpPr>
        <p:spPr>
          <a:xfrm>
            <a:off x="4133088" y="368879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$137K</a:t>
            </a:r>
            <a:endParaRPr lang="en-US" sz="1300" dirty="0"/>
          </a:p>
        </p:txBody>
      </p:sp>
      <p:sp>
        <p:nvSpPr>
          <p:cNvPr id="56" name="Text 54"/>
          <p:cNvSpPr txBox="1"/>
          <p:nvPr/>
        </p:nvSpPr>
        <p:spPr>
          <a:xfrm>
            <a:off x="5029200" y="368879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$59K</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3993212"/>
            <a:ext cx="78607" cy="136676"/>
          </a:xfrm>
          <a:prstGeom prst="rect">
            <a:avLst/>
          </a:prstGeom>
          <a:solidFill>
            <a:srgbClr val="2587C5"/>
          </a:solidFill>
          <a:ln/>
        </p:spPr>
      </p:sp>
      <p:sp>
        <p:nvSpPr>
          <p:cNvPr id="59" name="Text 57"/>
          <p:cNvSpPr txBox="1"/>
          <p:nvPr/>
        </p:nvSpPr>
        <p:spPr>
          <a:xfrm>
            <a:off x="3218688"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$185K</a:t>
            </a:r>
            <a:endParaRPr lang="en-US" sz="1300" dirty="0"/>
          </a:p>
        </p:txBody>
      </p:sp>
      <p:sp>
        <p:nvSpPr>
          <p:cNvPr id="60" name="Text 58"/>
          <p:cNvSpPr txBox="1"/>
          <p:nvPr/>
        </p:nvSpPr>
        <p:spPr>
          <a:xfrm>
            <a:off x="4133088" y="393729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61" name="Text 59"/>
          <p:cNvSpPr txBox="1"/>
          <p:nvPr/>
        </p:nvSpPr>
        <p:spPr>
          <a:xfrm>
            <a:off x="5029200" y="393729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$57K</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3" name="Shape 61"/>
          <p:cNvSpPr/>
          <p:nvPr/>
        </p:nvSpPr>
        <p:spPr>
          <a:xfrm>
            <a:off x="2670048" y="4241713"/>
            <a:ext cx="75906" cy="136676"/>
          </a:xfrm>
          <a:prstGeom prst="rect">
            <a:avLst/>
          </a:prstGeom>
          <a:solidFill>
            <a:srgbClr val="2587C5"/>
          </a:solidFill>
          <a:ln/>
        </p:spPr>
      </p:sp>
      <p:sp>
        <p:nvSpPr>
          <p:cNvPr id="64" name="Text 62"/>
          <p:cNvSpPr txBox="1"/>
          <p:nvPr/>
        </p:nvSpPr>
        <p:spPr>
          <a:xfrm>
            <a:off x="3218688"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$179K</a:t>
            </a:r>
            <a:endParaRPr lang="en-US" sz="1300" dirty="0"/>
          </a:p>
        </p:txBody>
      </p:sp>
      <p:sp>
        <p:nvSpPr>
          <p:cNvPr id="65" name="Text 63"/>
          <p:cNvSpPr txBox="1"/>
          <p:nvPr/>
        </p:nvSpPr>
        <p:spPr>
          <a:xfrm>
            <a:off x="4133088" y="4185800"/>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$128K</a:t>
            </a:r>
            <a:endParaRPr lang="en-US" sz="1300" dirty="0"/>
          </a:p>
        </p:txBody>
      </p:sp>
      <p:sp>
        <p:nvSpPr>
          <p:cNvPr id="66" name="Text 64"/>
          <p:cNvSpPr txBox="1"/>
          <p:nvPr/>
        </p:nvSpPr>
        <p:spPr>
          <a:xfrm>
            <a:off x="5029200" y="4185800"/>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$51K</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8" name="Shape 66"/>
          <p:cNvSpPr/>
          <p:nvPr/>
        </p:nvSpPr>
        <p:spPr>
          <a:xfrm>
            <a:off x="2670048" y="4490215"/>
            <a:ext cx="64387" cy="136676"/>
          </a:xfrm>
          <a:prstGeom prst="rect">
            <a:avLst/>
          </a:prstGeom>
          <a:solidFill>
            <a:srgbClr val="2587C5"/>
          </a:solidFill>
          <a:ln/>
        </p:spPr>
      </p:sp>
      <p:sp>
        <p:nvSpPr>
          <p:cNvPr id="69" name="Text 67"/>
          <p:cNvSpPr txBox="1"/>
          <p:nvPr/>
        </p:nvSpPr>
        <p:spPr>
          <a:xfrm>
            <a:off x="3218688"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70" name="Text 68"/>
          <p:cNvSpPr txBox="1"/>
          <p:nvPr/>
        </p:nvSpPr>
        <p:spPr>
          <a:xfrm>
            <a:off x="4133088" y="443430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71" name="Text 69"/>
          <p:cNvSpPr txBox="1"/>
          <p:nvPr/>
        </p:nvSpPr>
        <p:spPr>
          <a:xfrm>
            <a:off x="5029200" y="443430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$50K</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73" name="Shape 71"/>
          <p:cNvSpPr/>
          <p:nvPr/>
        </p:nvSpPr>
        <p:spPr>
          <a:xfrm>
            <a:off x="2670048" y="4738717"/>
            <a:ext cx="63158" cy="136676"/>
          </a:xfrm>
          <a:prstGeom prst="rect">
            <a:avLst/>
          </a:prstGeom>
          <a:solidFill>
            <a:srgbClr val="2587C5"/>
          </a:solidFill>
          <a:ln/>
        </p:spPr>
      </p:sp>
      <p:sp>
        <p:nvSpPr>
          <p:cNvPr id="74" name="Text 72"/>
          <p:cNvSpPr txBox="1"/>
          <p:nvPr/>
        </p:nvSpPr>
        <p:spPr>
          <a:xfrm>
            <a:off x="3218688"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$149K</a:t>
            </a:r>
            <a:endParaRPr lang="en-US" sz="1300" dirty="0"/>
          </a:p>
        </p:txBody>
      </p:sp>
      <p:sp>
        <p:nvSpPr>
          <p:cNvPr id="75" name="Text 73"/>
          <p:cNvSpPr txBox="1"/>
          <p:nvPr/>
        </p:nvSpPr>
        <p:spPr>
          <a:xfrm>
            <a:off x="4133088" y="468280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$113K</a:t>
            </a:r>
            <a:endParaRPr lang="en-US" sz="1300" dirty="0"/>
          </a:p>
        </p:txBody>
      </p:sp>
      <p:sp>
        <p:nvSpPr>
          <p:cNvPr id="76" name="Text 74"/>
          <p:cNvSpPr txBox="1"/>
          <p:nvPr/>
        </p:nvSpPr>
        <p:spPr>
          <a:xfrm>
            <a:off x="5029200" y="468280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$36K</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8" name="Shape 76"/>
          <p:cNvSpPr/>
          <p:nvPr/>
        </p:nvSpPr>
        <p:spPr>
          <a:xfrm>
            <a:off x="2670048" y="4987218"/>
            <a:ext cx="62045" cy="136676"/>
          </a:xfrm>
          <a:prstGeom prst="rect">
            <a:avLst/>
          </a:prstGeom>
          <a:solidFill>
            <a:srgbClr val="2587C5"/>
          </a:solidFill>
          <a:ln/>
        </p:spPr>
      </p:sp>
      <p:sp>
        <p:nvSpPr>
          <p:cNvPr id="79" name="Text 77"/>
          <p:cNvSpPr txBox="1"/>
          <p:nvPr/>
        </p:nvSpPr>
        <p:spPr>
          <a:xfrm>
            <a:off x="3218688"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$146K</a:t>
            </a:r>
            <a:endParaRPr lang="en-US" sz="1300" dirty="0"/>
          </a:p>
        </p:txBody>
      </p:sp>
      <p:sp>
        <p:nvSpPr>
          <p:cNvPr id="80" name="Text 78"/>
          <p:cNvSpPr txBox="1"/>
          <p:nvPr/>
        </p:nvSpPr>
        <p:spPr>
          <a:xfrm>
            <a:off x="4133088" y="4931305"/>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$105K</a:t>
            </a:r>
            <a:endParaRPr lang="en-US" sz="1300" dirty="0"/>
          </a:p>
        </p:txBody>
      </p:sp>
      <p:sp>
        <p:nvSpPr>
          <p:cNvPr id="81" name="Text 79"/>
          <p:cNvSpPr txBox="1"/>
          <p:nvPr/>
        </p:nvSpPr>
        <p:spPr>
          <a:xfrm>
            <a:off x="5029200" y="4931305"/>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$41K</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83" name="Shape 81"/>
          <p:cNvSpPr/>
          <p:nvPr/>
        </p:nvSpPr>
        <p:spPr>
          <a:xfrm>
            <a:off x="2670048" y="5235720"/>
            <a:ext cx="60123" cy="136676"/>
          </a:xfrm>
          <a:prstGeom prst="rect">
            <a:avLst/>
          </a:prstGeom>
          <a:solidFill>
            <a:srgbClr val="2587C5"/>
          </a:solidFill>
          <a:ln/>
        </p:spPr>
      </p:sp>
      <p:sp>
        <p:nvSpPr>
          <p:cNvPr id="84" name="Text 82"/>
          <p:cNvSpPr txBox="1"/>
          <p:nvPr/>
        </p:nvSpPr>
        <p:spPr>
          <a:xfrm>
            <a:off x="3218688"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$142K</a:t>
            </a:r>
            <a:endParaRPr lang="en-US" sz="1300" dirty="0"/>
          </a:p>
        </p:txBody>
      </p:sp>
      <p:sp>
        <p:nvSpPr>
          <p:cNvPr id="85" name="Text 83"/>
          <p:cNvSpPr txBox="1"/>
          <p:nvPr/>
        </p:nvSpPr>
        <p:spPr>
          <a:xfrm>
            <a:off x="4133088" y="517980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$97K</a:t>
            </a:r>
            <a:endParaRPr lang="en-US" sz="1300" dirty="0"/>
          </a:p>
        </p:txBody>
      </p:sp>
      <p:sp>
        <p:nvSpPr>
          <p:cNvPr id="86" name="Text 84"/>
          <p:cNvSpPr txBox="1"/>
          <p:nvPr/>
        </p:nvSpPr>
        <p:spPr>
          <a:xfrm>
            <a:off x="5029200" y="517980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$45K</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88" name="Shape 86"/>
          <p:cNvSpPr/>
          <p:nvPr/>
        </p:nvSpPr>
        <p:spPr>
          <a:xfrm>
            <a:off x="2670048" y="5484222"/>
            <a:ext cx="57007" cy="136676"/>
          </a:xfrm>
          <a:prstGeom prst="rect">
            <a:avLst/>
          </a:prstGeom>
          <a:solidFill>
            <a:srgbClr val="2587C5"/>
          </a:solidFill>
          <a:ln/>
        </p:spPr>
      </p:sp>
      <p:sp>
        <p:nvSpPr>
          <p:cNvPr id="89" name="Text 87"/>
          <p:cNvSpPr txBox="1"/>
          <p:nvPr/>
        </p:nvSpPr>
        <p:spPr>
          <a:xfrm>
            <a:off x="3218688"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90" name="Text 88"/>
          <p:cNvSpPr txBox="1"/>
          <p:nvPr/>
        </p:nvSpPr>
        <p:spPr>
          <a:xfrm>
            <a:off x="4133088" y="542830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91" name="Text 89"/>
          <p:cNvSpPr txBox="1"/>
          <p:nvPr/>
        </p:nvSpPr>
        <p:spPr>
          <a:xfrm>
            <a:off x="5029200" y="542830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2670048" y="5732723"/>
            <a:ext cx="56616" cy="136676"/>
          </a:xfrm>
          <a:prstGeom prst="rect">
            <a:avLst/>
          </a:prstGeom>
          <a:solidFill>
            <a:srgbClr val="2587C5"/>
          </a:solidFill>
          <a:ln/>
        </p:spPr>
      </p:sp>
      <p:sp>
        <p:nvSpPr>
          <p:cNvPr id="94" name="Text 92"/>
          <p:cNvSpPr txBox="1"/>
          <p:nvPr/>
        </p:nvSpPr>
        <p:spPr>
          <a:xfrm>
            <a:off x="3218688"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95" name="Text 93"/>
          <p:cNvSpPr txBox="1"/>
          <p:nvPr/>
        </p:nvSpPr>
        <p:spPr>
          <a:xfrm>
            <a:off x="4133088" y="5676810"/>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96" name="Text 94"/>
          <p:cNvSpPr txBox="1"/>
          <p:nvPr/>
        </p:nvSpPr>
        <p:spPr>
          <a:xfrm>
            <a:off x="5029200" y="5676810"/>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98" name="Shape 96"/>
          <p:cNvSpPr/>
          <p:nvPr/>
        </p:nvSpPr>
        <p:spPr>
          <a:xfrm>
            <a:off x="8220456" y="1756697"/>
            <a:ext cx="56285" cy="136676"/>
          </a:xfrm>
          <a:prstGeom prst="rect">
            <a:avLst/>
          </a:prstGeom>
          <a:solidFill>
            <a:srgbClr val="2587C5"/>
          </a:solidFill>
          <a:ln/>
        </p:spPr>
      </p:sp>
      <p:sp>
        <p:nvSpPr>
          <p:cNvPr id="99" name="Text 97"/>
          <p:cNvSpPr txBox="1"/>
          <p:nvPr/>
        </p:nvSpPr>
        <p:spPr>
          <a:xfrm>
            <a:off x="8769096"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$133K</a:t>
            </a:r>
            <a:endParaRPr lang="en-US" sz="1300" dirty="0"/>
          </a:p>
        </p:txBody>
      </p:sp>
      <p:sp>
        <p:nvSpPr>
          <p:cNvPr id="100" name="Text 98"/>
          <p:cNvSpPr txBox="1"/>
          <p:nvPr/>
        </p:nvSpPr>
        <p:spPr>
          <a:xfrm>
            <a:off x="9683496" y="170078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$95K</a:t>
            </a:r>
            <a:endParaRPr lang="en-US" sz="1300" dirty="0"/>
          </a:p>
        </p:txBody>
      </p:sp>
      <p:sp>
        <p:nvSpPr>
          <p:cNvPr id="101" name="Text 99"/>
          <p:cNvSpPr txBox="1"/>
          <p:nvPr/>
        </p:nvSpPr>
        <p:spPr>
          <a:xfrm>
            <a:off x="10579608" y="170078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$37K</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03" name="Shape 101"/>
          <p:cNvSpPr/>
          <p:nvPr/>
        </p:nvSpPr>
        <p:spPr>
          <a:xfrm>
            <a:off x="8220456" y="2005199"/>
            <a:ext cx="55940" cy="136676"/>
          </a:xfrm>
          <a:prstGeom prst="rect">
            <a:avLst/>
          </a:prstGeom>
          <a:solidFill>
            <a:srgbClr val="2587C5"/>
          </a:solidFill>
          <a:ln/>
        </p:spPr>
      </p:sp>
      <p:sp>
        <p:nvSpPr>
          <p:cNvPr id="104" name="Text 102"/>
          <p:cNvSpPr txBox="1"/>
          <p:nvPr/>
        </p:nvSpPr>
        <p:spPr>
          <a:xfrm>
            <a:off x="8769096"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105" name="Text 103"/>
          <p:cNvSpPr txBox="1"/>
          <p:nvPr/>
        </p:nvSpPr>
        <p:spPr>
          <a:xfrm>
            <a:off x="9683496" y="194928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$89K</a:t>
            </a:r>
            <a:endParaRPr lang="en-US" sz="1300" dirty="0"/>
          </a:p>
        </p:txBody>
      </p:sp>
      <p:sp>
        <p:nvSpPr>
          <p:cNvPr id="106" name="Text 104"/>
          <p:cNvSpPr txBox="1"/>
          <p:nvPr/>
        </p:nvSpPr>
        <p:spPr>
          <a:xfrm>
            <a:off x="10579608" y="194928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$43K</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08" name="Shape 106"/>
          <p:cNvSpPr/>
          <p:nvPr/>
        </p:nvSpPr>
        <p:spPr>
          <a:xfrm>
            <a:off x="8220456" y="2253700"/>
            <a:ext cx="54975" cy="136676"/>
          </a:xfrm>
          <a:prstGeom prst="rect">
            <a:avLst/>
          </a:prstGeom>
          <a:solidFill>
            <a:srgbClr val="2587C5"/>
          </a:solidFill>
          <a:ln/>
        </p:spPr>
      </p:sp>
      <p:sp>
        <p:nvSpPr>
          <p:cNvPr id="109" name="Text 107"/>
          <p:cNvSpPr txBox="1"/>
          <p:nvPr/>
        </p:nvSpPr>
        <p:spPr>
          <a:xfrm>
            <a:off x="8769096"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$130K</a:t>
            </a:r>
            <a:endParaRPr lang="en-US" sz="1300" dirty="0"/>
          </a:p>
        </p:txBody>
      </p:sp>
      <p:sp>
        <p:nvSpPr>
          <p:cNvPr id="110" name="Text 108"/>
          <p:cNvSpPr txBox="1"/>
          <p:nvPr/>
        </p:nvSpPr>
        <p:spPr>
          <a:xfrm>
            <a:off x="9683496" y="219778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111" name="Text 109"/>
          <p:cNvSpPr txBox="1"/>
          <p:nvPr/>
        </p:nvSpPr>
        <p:spPr>
          <a:xfrm>
            <a:off x="10579608" y="219778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$38K</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13" name="Shape 111"/>
          <p:cNvSpPr/>
          <p:nvPr/>
        </p:nvSpPr>
        <p:spPr>
          <a:xfrm>
            <a:off x="8220456" y="2502202"/>
            <a:ext cx="51971" cy="136676"/>
          </a:xfrm>
          <a:prstGeom prst="rect">
            <a:avLst/>
          </a:prstGeom>
          <a:solidFill>
            <a:srgbClr val="2587C5"/>
          </a:solidFill>
          <a:ln/>
        </p:spPr>
      </p:sp>
      <p:sp>
        <p:nvSpPr>
          <p:cNvPr id="114" name="Text 112"/>
          <p:cNvSpPr txBox="1"/>
          <p:nvPr/>
        </p:nvSpPr>
        <p:spPr>
          <a:xfrm>
            <a:off x="8769096"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115" name="Text 113"/>
          <p:cNvSpPr txBox="1"/>
          <p:nvPr/>
        </p:nvSpPr>
        <p:spPr>
          <a:xfrm>
            <a:off x="9683496" y="244628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$82K</a:t>
            </a:r>
            <a:endParaRPr lang="en-US" sz="1300" dirty="0"/>
          </a:p>
        </p:txBody>
      </p:sp>
      <p:sp>
        <p:nvSpPr>
          <p:cNvPr id="116" name="Text 114"/>
          <p:cNvSpPr txBox="1"/>
          <p:nvPr/>
        </p:nvSpPr>
        <p:spPr>
          <a:xfrm>
            <a:off x="10579608" y="244628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$41K</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8" name="Shape 116"/>
          <p:cNvSpPr/>
          <p:nvPr/>
        </p:nvSpPr>
        <p:spPr>
          <a:xfrm>
            <a:off x="8220456" y="2750703"/>
            <a:ext cx="50052" cy="136676"/>
          </a:xfrm>
          <a:prstGeom prst="rect">
            <a:avLst/>
          </a:prstGeom>
          <a:solidFill>
            <a:srgbClr val="2587C5"/>
          </a:solidFill>
          <a:ln/>
        </p:spPr>
      </p:sp>
      <p:sp>
        <p:nvSpPr>
          <p:cNvPr id="119" name="Text 117"/>
          <p:cNvSpPr txBox="1"/>
          <p:nvPr/>
        </p:nvSpPr>
        <p:spPr>
          <a:xfrm>
            <a:off x="8769096"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$118K</a:t>
            </a:r>
            <a:endParaRPr lang="en-US" sz="1300" dirty="0"/>
          </a:p>
        </p:txBody>
      </p:sp>
      <p:sp>
        <p:nvSpPr>
          <p:cNvPr id="120" name="Text 118"/>
          <p:cNvSpPr txBox="1"/>
          <p:nvPr/>
        </p:nvSpPr>
        <p:spPr>
          <a:xfrm>
            <a:off x="9683496" y="2694791"/>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$89K</a:t>
            </a:r>
            <a:endParaRPr lang="en-US" sz="1300" dirty="0"/>
          </a:p>
        </p:txBody>
      </p:sp>
      <p:sp>
        <p:nvSpPr>
          <p:cNvPr id="121" name="Text 119"/>
          <p:cNvSpPr txBox="1"/>
          <p:nvPr/>
        </p:nvSpPr>
        <p:spPr>
          <a:xfrm>
            <a:off x="10579608" y="2694791"/>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$29K</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23" name="Shape 121"/>
          <p:cNvSpPr/>
          <p:nvPr/>
        </p:nvSpPr>
        <p:spPr>
          <a:xfrm>
            <a:off x="8220456" y="2999205"/>
            <a:ext cx="48801" cy="136676"/>
          </a:xfrm>
          <a:prstGeom prst="rect">
            <a:avLst/>
          </a:prstGeom>
          <a:solidFill>
            <a:srgbClr val="2587C5"/>
          </a:solidFill>
          <a:ln/>
        </p:spPr>
      </p:sp>
      <p:sp>
        <p:nvSpPr>
          <p:cNvPr id="124" name="Text 122"/>
          <p:cNvSpPr txBox="1"/>
          <p:nvPr/>
        </p:nvSpPr>
        <p:spPr>
          <a:xfrm>
            <a:off x="8769096"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$115K</a:t>
            </a:r>
            <a:endParaRPr lang="en-US" sz="1300" dirty="0"/>
          </a:p>
        </p:txBody>
      </p:sp>
      <p:sp>
        <p:nvSpPr>
          <p:cNvPr id="125" name="Text 123"/>
          <p:cNvSpPr txBox="1"/>
          <p:nvPr/>
        </p:nvSpPr>
        <p:spPr>
          <a:xfrm>
            <a:off x="9683496" y="294329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126" name="Text 124"/>
          <p:cNvSpPr txBox="1"/>
          <p:nvPr/>
        </p:nvSpPr>
        <p:spPr>
          <a:xfrm>
            <a:off x="10579608" y="294329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28" name="Shape 126"/>
          <p:cNvSpPr/>
          <p:nvPr/>
        </p:nvSpPr>
        <p:spPr>
          <a:xfrm>
            <a:off x="8220456" y="3247707"/>
            <a:ext cx="42839" cy="136676"/>
          </a:xfrm>
          <a:prstGeom prst="rect">
            <a:avLst/>
          </a:prstGeom>
          <a:solidFill>
            <a:srgbClr val="2587C5"/>
          </a:solidFill>
          <a:ln/>
        </p:spPr>
      </p:sp>
      <p:sp>
        <p:nvSpPr>
          <p:cNvPr id="129" name="Text 127"/>
          <p:cNvSpPr txBox="1"/>
          <p:nvPr/>
        </p:nvSpPr>
        <p:spPr>
          <a:xfrm>
            <a:off x="8769096"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$101K</a:t>
            </a:r>
            <a:endParaRPr lang="en-US" sz="1300" dirty="0"/>
          </a:p>
        </p:txBody>
      </p:sp>
      <p:sp>
        <p:nvSpPr>
          <p:cNvPr id="130" name="Text 128"/>
          <p:cNvSpPr txBox="1"/>
          <p:nvPr/>
        </p:nvSpPr>
        <p:spPr>
          <a:xfrm>
            <a:off x="9683496" y="319179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31" name="Text 129"/>
          <p:cNvSpPr txBox="1"/>
          <p:nvPr/>
        </p:nvSpPr>
        <p:spPr>
          <a:xfrm>
            <a:off x="10579608" y="319179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33" name="Shape 131"/>
          <p:cNvSpPr/>
          <p:nvPr/>
        </p:nvSpPr>
        <p:spPr>
          <a:xfrm>
            <a:off x="8220456" y="3496208"/>
            <a:ext cx="41978" cy="136676"/>
          </a:xfrm>
          <a:prstGeom prst="rect">
            <a:avLst/>
          </a:prstGeom>
          <a:solidFill>
            <a:srgbClr val="2587C5"/>
          </a:solidFill>
          <a:ln/>
        </p:spPr>
      </p:sp>
      <p:sp>
        <p:nvSpPr>
          <p:cNvPr id="134" name="Text 132"/>
          <p:cNvSpPr txBox="1"/>
          <p:nvPr/>
        </p:nvSpPr>
        <p:spPr>
          <a:xfrm>
            <a:off x="8769096"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$99K</a:t>
            </a:r>
            <a:endParaRPr lang="en-US" sz="1300" dirty="0"/>
          </a:p>
        </p:txBody>
      </p:sp>
      <p:sp>
        <p:nvSpPr>
          <p:cNvPr id="135" name="Text 133"/>
          <p:cNvSpPr txBox="1"/>
          <p:nvPr/>
        </p:nvSpPr>
        <p:spPr>
          <a:xfrm>
            <a:off x="9683496" y="344029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$68K</a:t>
            </a:r>
            <a:endParaRPr lang="en-US" sz="1300" dirty="0"/>
          </a:p>
        </p:txBody>
      </p:sp>
      <p:sp>
        <p:nvSpPr>
          <p:cNvPr id="136" name="Text 134"/>
          <p:cNvSpPr txBox="1"/>
          <p:nvPr/>
        </p:nvSpPr>
        <p:spPr>
          <a:xfrm>
            <a:off x="10579608" y="344029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38" name="Shape 136"/>
          <p:cNvSpPr/>
          <p:nvPr/>
        </p:nvSpPr>
        <p:spPr>
          <a:xfrm>
            <a:off x="8220456" y="3744710"/>
            <a:ext cx="37779" cy="136676"/>
          </a:xfrm>
          <a:prstGeom prst="rect">
            <a:avLst/>
          </a:prstGeom>
          <a:solidFill>
            <a:srgbClr val="2587C5"/>
          </a:solidFill>
          <a:ln/>
        </p:spPr>
      </p:sp>
      <p:sp>
        <p:nvSpPr>
          <p:cNvPr id="139" name="Text 137"/>
          <p:cNvSpPr txBox="1"/>
          <p:nvPr/>
        </p:nvSpPr>
        <p:spPr>
          <a:xfrm>
            <a:off x="8769096"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40" name="Text 138"/>
          <p:cNvSpPr txBox="1"/>
          <p:nvPr/>
        </p:nvSpPr>
        <p:spPr>
          <a:xfrm>
            <a:off x="9683496" y="368879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141" name="Text 139"/>
          <p:cNvSpPr txBox="1"/>
          <p:nvPr/>
        </p:nvSpPr>
        <p:spPr>
          <a:xfrm>
            <a:off x="10579608" y="368879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43" name="Shape 141"/>
          <p:cNvSpPr/>
          <p:nvPr/>
        </p:nvSpPr>
        <p:spPr>
          <a:xfrm>
            <a:off x="8220456" y="3993212"/>
            <a:ext cx="37560" cy="136676"/>
          </a:xfrm>
          <a:prstGeom prst="rect">
            <a:avLst/>
          </a:prstGeom>
          <a:solidFill>
            <a:srgbClr val="2587C5"/>
          </a:solidFill>
          <a:ln/>
        </p:spPr>
      </p:sp>
      <p:sp>
        <p:nvSpPr>
          <p:cNvPr id="144" name="Text 142"/>
          <p:cNvSpPr txBox="1"/>
          <p:nvPr/>
        </p:nvSpPr>
        <p:spPr>
          <a:xfrm>
            <a:off x="8769096"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45" name="Text 143"/>
          <p:cNvSpPr txBox="1"/>
          <p:nvPr/>
        </p:nvSpPr>
        <p:spPr>
          <a:xfrm>
            <a:off x="9683496" y="393729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146" name="Text 144"/>
          <p:cNvSpPr txBox="1"/>
          <p:nvPr/>
        </p:nvSpPr>
        <p:spPr>
          <a:xfrm>
            <a:off x="10579608" y="393729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$27K</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48" name="Shape 146"/>
          <p:cNvSpPr/>
          <p:nvPr/>
        </p:nvSpPr>
        <p:spPr>
          <a:xfrm>
            <a:off x="8220456" y="4241713"/>
            <a:ext cx="28760" cy="136676"/>
          </a:xfrm>
          <a:prstGeom prst="rect">
            <a:avLst/>
          </a:prstGeom>
          <a:solidFill>
            <a:srgbClr val="2587C5"/>
          </a:solidFill>
          <a:ln/>
        </p:spPr>
      </p:sp>
      <p:sp>
        <p:nvSpPr>
          <p:cNvPr id="149" name="Text 147"/>
          <p:cNvSpPr txBox="1"/>
          <p:nvPr/>
        </p:nvSpPr>
        <p:spPr>
          <a:xfrm>
            <a:off x="8769096"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50" name="Text 148"/>
          <p:cNvSpPr txBox="1"/>
          <p:nvPr/>
        </p:nvSpPr>
        <p:spPr>
          <a:xfrm>
            <a:off x="9683496" y="4185800"/>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$49K</a:t>
            </a:r>
            <a:endParaRPr lang="en-US" sz="1300" dirty="0"/>
          </a:p>
        </p:txBody>
      </p:sp>
      <p:sp>
        <p:nvSpPr>
          <p:cNvPr id="151" name="Text 149"/>
          <p:cNvSpPr txBox="1"/>
          <p:nvPr/>
        </p:nvSpPr>
        <p:spPr>
          <a:xfrm>
            <a:off x="10579608" y="4185800"/>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$19K</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3" name="Shape 151"/>
          <p:cNvSpPr/>
          <p:nvPr/>
        </p:nvSpPr>
        <p:spPr>
          <a:xfrm>
            <a:off x="8220456" y="4490215"/>
            <a:ext cx="27792" cy="136676"/>
          </a:xfrm>
          <a:prstGeom prst="rect">
            <a:avLst/>
          </a:prstGeom>
          <a:solidFill>
            <a:srgbClr val="2587C5"/>
          </a:solidFill>
          <a:ln/>
        </p:spPr>
      </p:sp>
      <p:sp>
        <p:nvSpPr>
          <p:cNvPr id="154" name="Text 152"/>
          <p:cNvSpPr txBox="1"/>
          <p:nvPr/>
        </p:nvSpPr>
        <p:spPr>
          <a:xfrm>
            <a:off x="8769096"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155" name="Text 153"/>
          <p:cNvSpPr txBox="1"/>
          <p:nvPr/>
        </p:nvSpPr>
        <p:spPr>
          <a:xfrm>
            <a:off x="9683496" y="443430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$43K</a:t>
            </a:r>
            <a:endParaRPr lang="en-US" sz="1300" dirty="0"/>
          </a:p>
        </p:txBody>
      </p:sp>
      <p:sp>
        <p:nvSpPr>
          <p:cNvPr id="156" name="Text 154"/>
          <p:cNvSpPr txBox="1"/>
          <p:nvPr/>
        </p:nvSpPr>
        <p:spPr>
          <a:xfrm>
            <a:off x="10579608" y="443430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$23K</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8" name="Shape 156"/>
          <p:cNvSpPr/>
          <p:nvPr/>
        </p:nvSpPr>
        <p:spPr>
          <a:xfrm>
            <a:off x="8220456" y="4738717"/>
            <a:ext cx="25793" cy="136676"/>
          </a:xfrm>
          <a:prstGeom prst="rect">
            <a:avLst/>
          </a:prstGeom>
          <a:solidFill>
            <a:srgbClr val="2587C5"/>
          </a:solidFill>
          <a:ln/>
        </p:spPr>
      </p:sp>
      <p:sp>
        <p:nvSpPr>
          <p:cNvPr id="159" name="Text 157"/>
          <p:cNvSpPr txBox="1"/>
          <p:nvPr/>
        </p:nvSpPr>
        <p:spPr>
          <a:xfrm>
            <a:off x="8769096"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$61K</a:t>
            </a:r>
            <a:endParaRPr lang="en-US" sz="1300" dirty="0"/>
          </a:p>
        </p:txBody>
      </p:sp>
      <p:sp>
        <p:nvSpPr>
          <p:cNvPr id="160" name="Text 158"/>
          <p:cNvSpPr txBox="1"/>
          <p:nvPr/>
        </p:nvSpPr>
        <p:spPr>
          <a:xfrm>
            <a:off x="9683496" y="468280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$40K</a:t>
            </a:r>
            <a:endParaRPr lang="en-US" sz="1300" dirty="0"/>
          </a:p>
        </p:txBody>
      </p:sp>
      <p:sp>
        <p:nvSpPr>
          <p:cNvPr id="161" name="Text 159"/>
          <p:cNvSpPr txBox="1"/>
          <p:nvPr/>
        </p:nvSpPr>
        <p:spPr>
          <a:xfrm>
            <a:off x="10579608" y="468280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3" name="Shape 161"/>
          <p:cNvSpPr/>
          <p:nvPr/>
        </p:nvSpPr>
        <p:spPr>
          <a:xfrm>
            <a:off x="8220456" y="4987218"/>
            <a:ext cx="24281" cy="136676"/>
          </a:xfrm>
          <a:prstGeom prst="rect">
            <a:avLst/>
          </a:prstGeom>
          <a:solidFill>
            <a:srgbClr val="2587C5"/>
          </a:solidFill>
          <a:ln/>
        </p:spPr>
      </p:sp>
      <p:sp>
        <p:nvSpPr>
          <p:cNvPr id="164" name="Text 162"/>
          <p:cNvSpPr txBox="1"/>
          <p:nvPr/>
        </p:nvSpPr>
        <p:spPr>
          <a:xfrm>
            <a:off x="8769096"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$57K</a:t>
            </a:r>
            <a:endParaRPr lang="en-US" sz="1300" dirty="0"/>
          </a:p>
        </p:txBody>
      </p:sp>
      <p:sp>
        <p:nvSpPr>
          <p:cNvPr id="165" name="Text 163"/>
          <p:cNvSpPr txBox="1"/>
          <p:nvPr/>
        </p:nvSpPr>
        <p:spPr>
          <a:xfrm>
            <a:off x="9683496" y="4931305"/>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$38K</a:t>
            </a:r>
            <a:endParaRPr lang="en-US" sz="1300" dirty="0"/>
          </a:p>
        </p:txBody>
      </p:sp>
      <p:sp>
        <p:nvSpPr>
          <p:cNvPr id="166" name="Text 164"/>
          <p:cNvSpPr txBox="1"/>
          <p:nvPr/>
        </p:nvSpPr>
        <p:spPr>
          <a:xfrm>
            <a:off x="10579608" y="4931305"/>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68" name="Shape 166"/>
          <p:cNvSpPr/>
          <p:nvPr/>
        </p:nvSpPr>
        <p:spPr>
          <a:xfrm>
            <a:off x="8220456" y="5235720"/>
            <a:ext cx="18556" cy="136676"/>
          </a:xfrm>
          <a:prstGeom prst="rect">
            <a:avLst/>
          </a:prstGeom>
          <a:solidFill>
            <a:srgbClr val="2587C5"/>
          </a:solidFill>
          <a:ln/>
        </p:spPr>
      </p:sp>
      <p:sp>
        <p:nvSpPr>
          <p:cNvPr id="169" name="Text 167"/>
          <p:cNvSpPr txBox="1"/>
          <p:nvPr/>
        </p:nvSpPr>
        <p:spPr>
          <a:xfrm>
            <a:off x="8769096"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$44K</a:t>
            </a:r>
            <a:endParaRPr lang="en-US" sz="1300" dirty="0"/>
          </a:p>
        </p:txBody>
      </p:sp>
      <p:sp>
        <p:nvSpPr>
          <p:cNvPr id="170" name="Text 168"/>
          <p:cNvSpPr txBox="1"/>
          <p:nvPr/>
        </p:nvSpPr>
        <p:spPr>
          <a:xfrm>
            <a:off x="9683496" y="517980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$27K</a:t>
            </a:r>
            <a:endParaRPr lang="en-US" sz="1300" dirty="0"/>
          </a:p>
        </p:txBody>
      </p:sp>
      <p:sp>
        <p:nvSpPr>
          <p:cNvPr id="171" name="Text 169"/>
          <p:cNvSpPr txBox="1"/>
          <p:nvPr/>
        </p:nvSpPr>
        <p:spPr>
          <a:xfrm>
            <a:off x="10579608" y="517980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$16K</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73" name="Shape 171"/>
          <p:cNvSpPr/>
          <p:nvPr/>
        </p:nvSpPr>
        <p:spPr>
          <a:xfrm>
            <a:off x="8220456" y="5484222"/>
            <a:ext cx="18288" cy="136676"/>
          </a:xfrm>
          <a:prstGeom prst="rect">
            <a:avLst/>
          </a:prstGeom>
          <a:solidFill>
            <a:srgbClr val="2587C5"/>
          </a:solidFill>
          <a:ln/>
        </p:spPr>
      </p:sp>
      <p:sp>
        <p:nvSpPr>
          <p:cNvPr id="174" name="Text 172"/>
          <p:cNvSpPr txBox="1"/>
          <p:nvPr/>
        </p:nvSpPr>
        <p:spPr>
          <a:xfrm>
            <a:off x="8769096"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$39K</a:t>
            </a:r>
            <a:endParaRPr lang="en-US" sz="1300" dirty="0"/>
          </a:p>
        </p:txBody>
      </p:sp>
      <p:sp>
        <p:nvSpPr>
          <p:cNvPr id="175" name="Text 173"/>
          <p:cNvSpPr txBox="1"/>
          <p:nvPr/>
        </p:nvSpPr>
        <p:spPr>
          <a:xfrm>
            <a:off x="9683496" y="542830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76" name="Text 174"/>
          <p:cNvSpPr txBox="1"/>
          <p:nvPr/>
        </p:nvSpPr>
        <p:spPr>
          <a:xfrm>
            <a:off x="10579608" y="542830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77" name="Shape 175"/>
          <p:cNvSpPr/>
          <p:nvPr/>
        </p:nvSpPr>
        <p:spPr>
          <a:xfrm>
            <a:off x="457200" y="6126480"/>
            <a:ext cx="11274552" cy="615696"/>
          </a:xfrm>
          <a:prstGeom prst="rect">
            <a:avLst/>
          </a:prstGeom>
          <a:solidFill>
            <a:srgbClr val="E6F6EE"/>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0.1 hour more on every CP RO is worth $6,602,564 a year in gross: $4,741,969 labor and $1,860,595 parts. Toyota Henderson leads at $1,164,334.</a:t>
            </a:r>
            <a:endParaRPr lang="en-US" sz="1600" dirty="0"/>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2.30</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+0.55</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+0.40</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+0.30</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2.08</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+0.30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3.99</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+0.29</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3.48</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−0.55</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2.28</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−0.30</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1.71</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−0.24</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2.73</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−0.15</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2.30</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−0.07</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1.65</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+0.30</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+0.21</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4.07</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+0.17</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+0.17</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3.41</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+0.15</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Subaru St George, Hyundai St George and Kia St George what changed. Ask LR Reno, Volvo and VW St George what got in the way. Ask Mazda, Hyundai Prescott and LR LV what they started this year.</a:t>
            </a:r>
            <a:endParaRPr lang="en-US" sz="1600" dirty="0"/>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Pricing Strategy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a comprehensive market labor study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Calculate your ELR on every maintenance item; target ELR by work type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Know your loss leader, and what the competition is charging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 direct price changes to parts or labor: use ADC-controlled discounting for every discount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Benchmark: CP ELR at least 70% of door rate</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$162.42</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effective labor rate, up $3.56 and ahead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ELR as a share of door rate, Jul-Sep. 25 of 33 stores at or above 70%.</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$127K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labor if the 8 stores under 70% reached it on the hours they already sell, Jul-Sep: $126,831 a month.</a:t>
            </a:r>
            <a:endParaRPr lang="en-US" sz="1400" dirty="0"/>
          </a:p>
        </p:txBody>
      </p:sp>
      <p:sp>
        <p:nvSpPr>
          <p:cNvPr id="19" name="Shape 17"/>
          <p:cNvSpPr/>
          <p:nvPr/>
        </p:nvSpPr>
        <p:spPr>
          <a:xfrm>
            <a:off x="457200" y="6126480"/>
            <a:ext cx="11274552" cy="364236"/>
          </a:xfrm>
          <a:prstGeom prst="rect">
            <a:avLst/>
          </a:prstGeom>
          <a:solidFill>
            <a:srgbClr val="EDF4FA"/>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The ask: know what you collect on every op code, and run every discount through ADC so we can see it.</a:t>
            </a:r>
            <a:endParaRPr lang="en-US" sz="1550" dirty="0"/>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Express Service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Express service is the #1 retention driver and business builder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75% of your business includes some type of maintenance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Express bays are simply MPI bays. Unknown dollars are worth 2.5 times the known.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Minimize labor costs for lower-skilled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If you don't help them, someone else will</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54.3%</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Maintenance share of customer-pay labor; repair 30.5%.</a:t>
            </a:r>
            <a:endParaRPr lang="en-US" sz="1400" dirty="0"/>
          </a:p>
        </p:txBody>
      </p:sp>
      <p:sp>
        <p:nvSpPr>
          <p:cNvPr id="13" name="Shape 11"/>
          <p:cNvSpPr/>
          <p:nvPr/>
        </p:nvSpPr>
        <p:spPr>
          <a:xfrm>
            <a:off x="7269480" y="3931920"/>
            <a:ext cx="54864" cy="1783080"/>
          </a:xfrm>
          <a:prstGeom prst="rect">
            <a:avLst/>
          </a:prstGeom>
          <a:solidFill>
            <a:srgbClr val="2587C5"/>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52.5%</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 pay as a share of labor sale, down 0.3 pts. Warranty labor rose 8.8%, internal 5.8%.</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treat every express visit as an inspection: fast in, inspected, and sold the next service.</a:t>
            </a:r>
            <a:endParaRPr lang="en-US" sz="1600" dirty="0"/>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Sale by Pay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Customer pay %</a:t>
            </a:r>
            <a:endParaRPr lang="en-US" sz="1400" dirty="0"/>
          </a:p>
        </p:txBody>
      </p:sp>
      <p:sp>
        <p:nvSpPr>
          <p:cNvPr id="8" name="Shape 6"/>
          <p:cNvSpPr/>
          <p:nvPr/>
        </p:nvSpPr>
        <p:spPr>
          <a:xfrm>
            <a:off x="2624328" y="1371600"/>
            <a:ext cx="201168" cy="201168"/>
          </a:xfrm>
          <a:prstGeom prst="rect">
            <a:avLst/>
          </a:prstGeom>
          <a:solidFill>
            <a:srgbClr val="8FBEE6"/>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Warranty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Internal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948645"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1948645"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52</a:t>
            </a:r>
            <a:endParaRPr lang="en-US" sz="1400" dirty="0"/>
          </a:p>
        </p:txBody>
      </p:sp>
      <p:sp>
        <p:nvSpPr>
          <p:cNvPr id="16" name="Shape 14"/>
          <p:cNvSpPr/>
          <p:nvPr/>
        </p:nvSpPr>
        <p:spPr>
          <a:xfrm>
            <a:off x="9675325" y="1344168"/>
            <a:ext cx="882937" cy="292608"/>
          </a:xfrm>
          <a:prstGeom prst="rect">
            <a:avLst/>
          </a:prstGeom>
          <a:solidFill>
            <a:srgbClr val="8FBEE6"/>
          </a:solidFill>
          <a:ln w="6350">
            <a:solidFill>
              <a:srgbClr val="FFFFFF"/>
            </a:solidFill>
            <a:prstDash val="solid"/>
          </a:ln>
        </p:spPr>
      </p:sp>
      <p:sp>
        <p:nvSpPr>
          <p:cNvPr id="17" name="Text 15"/>
          <p:cNvSpPr txBox="1"/>
          <p:nvPr/>
        </p:nvSpPr>
        <p:spPr>
          <a:xfrm>
            <a:off x="9675325" y="1344168"/>
            <a:ext cx="882937"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18" name="Shape 16"/>
          <p:cNvSpPr/>
          <p:nvPr/>
        </p:nvSpPr>
        <p:spPr>
          <a:xfrm>
            <a:off x="10558262" y="1344168"/>
            <a:ext cx="880882" cy="292608"/>
          </a:xfrm>
          <a:prstGeom prst="rect">
            <a:avLst/>
          </a:prstGeom>
          <a:solidFill>
            <a:srgbClr val="D9D9D9"/>
          </a:solidFill>
          <a:ln w="6350">
            <a:solidFill>
              <a:srgbClr val="FFFFFF"/>
            </a:solidFill>
            <a:prstDash val="solid"/>
          </a:ln>
        </p:spPr>
      </p:sp>
      <p:sp>
        <p:nvSpPr>
          <p:cNvPr id="19" name="Text 17"/>
          <p:cNvSpPr txBox="1"/>
          <p:nvPr/>
        </p:nvSpPr>
        <p:spPr>
          <a:xfrm>
            <a:off x="10558262" y="1344168"/>
            <a:ext cx="880882"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1" name="Shape 19"/>
          <p:cNvSpPr/>
          <p:nvPr/>
        </p:nvSpPr>
        <p:spPr>
          <a:xfrm>
            <a:off x="2807208" y="1857717"/>
            <a:ext cx="2219218"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1921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70</a:t>
            </a:r>
            <a:endParaRPr lang="en-US" sz="1300" dirty="0"/>
          </a:p>
        </p:txBody>
      </p:sp>
      <p:sp>
        <p:nvSpPr>
          <p:cNvPr id="23" name="Shape 21"/>
          <p:cNvSpPr/>
          <p:nvPr/>
        </p:nvSpPr>
        <p:spPr>
          <a:xfrm>
            <a:off x="5026426" y="1857717"/>
            <a:ext cx="252542" cy="183138"/>
          </a:xfrm>
          <a:prstGeom prst="rect">
            <a:avLst/>
          </a:prstGeom>
          <a:solidFill>
            <a:srgbClr val="8FBEE6"/>
          </a:solidFill>
          <a:ln w="6350">
            <a:solidFill>
              <a:srgbClr val="FFFFFF"/>
            </a:solidFill>
            <a:prstDash val="solid"/>
          </a:ln>
        </p:spPr>
      </p:sp>
      <p:sp>
        <p:nvSpPr>
          <p:cNvPr id="24" name="Text 22"/>
          <p:cNvSpPr txBox="1"/>
          <p:nvPr/>
        </p:nvSpPr>
        <p:spPr>
          <a:xfrm>
            <a:off x="5026426" y="1857717"/>
            <a:ext cx="2525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25" name="Shape 23"/>
          <p:cNvSpPr/>
          <p:nvPr/>
        </p:nvSpPr>
        <p:spPr>
          <a:xfrm>
            <a:off x="5278968" y="1857717"/>
            <a:ext cx="682920" cy="183138"/>
          </a:xfrm>
          <a:prstGeom prst="rect">
            <a:avLst/>
          </a:prstGeom>
          <a:solidFill>
            <a:srgbClr val="D9D9D9"/>
          </a:solidFill>
          <a:ln w="6350">
            <a:solidFill>
              <a:srgbClr val="FFFFFF"/>
            </a:solidFill>
            <a:prstDash val="solid"/>
          </a:ln>
        </p:spPr>
      </p:sp>
      <p:sp>
        <p:nvSpPr>
          <p:cNvPr id="26" name="Text 24"/>
          <p:cNvSpPr txBox="1"/>
          <p:nvPr/>
        </p:nvSpPr>
        <p:spPr>
          <a:xfrm>
            <a:off x="5278968" y="1857717"/>
            <a:ext cx="6829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7" name="Text 25"/>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8" name="Shape 26"/>
          <p:cNvSpPr/>
          <p:nvPr/>
        </p:nvSpPr>
        <p:spPr>
          <a:xfrm>
            <a:off x="2807208" y="2098688"/>
            <a:ext cx="2060840" cy="183138"/>
          </a:xfrm>
          <a:prstGeom prst="rect">
            <a:avLst/>
          </a:prstGeom>
          <a:solidFill>
            <a:srgbClr val="2587C5"/>
          </a:solidFill>
          <a:ln w="6350">
            <a:solidFill>
              <a:srgbClr val="FFFFFF"/>
            </a:solidFill>
            <a:prstDash val="solid"/>
          </a:ln>
        </p:spPr>
      </p:sp>
      <p:sp>
        <p:nvSpPr>
          <p:cNvPr id="29" name="Text 27"/>
          <p:cNvSpPr txBox="1"/>
          <p:nvPr/>
        </p:nvSpPr>
        <p:spPr>
          <a:xfrm>
            <a:off x="2807208" y="2098688"/>
            <a:ext cx="20608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0" name="Shape 28"/>
          <p:cNvSpPr/>
          <p:nvPr/>
        </p:nvSpPr>
        <p:spPr>
          <a:xfrm>
            <a:off x="4868048" y="2098688"/>
            <a:ext cx="489573" cy="183138"/>
          </a:xfrm>
          <a:prstGeom prst="rect">
            <a:avLst/>
          </a:prstGeom>
          <a:solidFill>
            <a:srgbClr val="8FBEE6"/>
          </a:solidFill>
          <a:ln w="6350">
            <a:solidFill>
              <a:srgbClr val="FFFFFF"/>
            </a:solidFill>
            <a:prstDash val="solid"/>
          </a:ln>
        </p:spPr>
      </p:sp>
      <p:sp>
        <p:nvSpPr>
          <p:cNvPr id="31" name="Text 29"/>
          <p:cNvSpPr txBox="1"/>
          <p:nvPr/>
        </p:nvSpPr>
        <p:spPr>
          <a:xfrm>
            <a:off x="4868048" y="2098688"/>
            <a:ext cx="4895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16</a:t>
            </a:r>
            <a:endParaRPr lang="en-US" sz="1300" dirty="0"/>
          </a:p>
        </p:txBody>
      </p:sp>
      <p:sp>
        <p:nvSpPr>
          <p:cNvPr id="32" name="Shape 30"/>
          <p:cNvSpPr/>
          <p:nvPr/>
        </p:nvSpPr>
        <p:spPr>
          <a:xfrm>
            <a:off x="5357621" y="2098688"/>
            <a:ext cx="604267" cy="183138"/>
          </a:xfrm>
          <a:prstGeom prst="rect">
            <a:avLst/>
          </a:prstGeom>
          <a:solidFill>
            <a:srgbClr val="D9D9D9"/>
          </a:solidFill>
          <a:ln w="6350">
            <a:solidFill>
              <a:srgbClr val="FFFFFF"/>
            </a:solidFill>
            <a:prstDash val="solid"/>
          </a:ln>
        </p:spPr>
      </p:sp>
      <p:sp>
        <p:nvSpPr>
          <p:cNvPr id="33" name="Text 31"/>
          <p:cNvSpPr txBox="1"/>
          <p:nvPr/>
        </p:nvSpPr>
        <p:spPr>
          <a:xfrm>
            <a:off x="5357621" y="2098688"/>
            <a:ext cx="6042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34" name="Text 32"/>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5" name="Shape 33"/>
          <p:cNvSpPr/>
          <p:nvPr/>
        </p:nvSpPr>
        <p:spPr>
          <a:xfrm>
            <a:off x="2807208" y="2339659"/>
            <a:ext cx="2054762" cy="183138"/>
          </a:xfrm>
          <a:prstGeom prst="rect">
            <a:avLst/>
          </a:prstGeom>
          <a:solidFill>
            <a:srgbClr val="2587C5"/>
          </a:solidFill>
          <a:ln w="6350">
            <a:solidFill>
              <a:srgbClr val="FFFFFF"/>
            </a:solidFill>
            <a:prstDash val="solid"/>
          </a:ln>
        </p:spPr>
      </p:sp>
      <p:sp>
        <p:nvSpPr>
          <p:cNvPr id="36" name="Text 34"/>
          <p:cNvSpPr txBox="1"/>
          <p:nvPr/>
        </p:nvSpPr>
        <p:spPr>
          <a:xfrm>
            <a:off x="2807208" y="2339659"/>
            <a:ext cx="205476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7" name="Shape 35"/>
          <p:cNvSpPr/>
          <p:nvPr/>
        </p:nvSpPr>
        <p:spPr>
          <a:xfrm>
            <a:off x="4861970" y="2339659"/>
            <a:ext cx="352121" cy="183138"/>
          </a:xfrm>
          <a:prstGeom prst="rect">
            <a:avLst/>
          </a:prstGeom>
          <a:solidFill>
            <a:srgbClr val="8FBEE6"/>
          </a:solidFill>
          <a:ln w="6350">
            <a:solidFill>
              <a:srgbClr val="FFFFFF"/>
            </a:solidFill>
            <a:prstDash val="solid"/>
          </a:ln>
        </p:spPr>
      </p:sp>
      <p:sp>
        <p:nvSpPr>
          <p:cNvPr id="38" name="Text 36"/>
          <p:cNvSpPr txBox="1"/>
          <p:nvPr/>
        </p:nvSpPr>
        <p:spPr>
          <a:xfrm>
            <a:off x="4861970" y="2339659"/>
            <a:ext cx="3521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39" name="Shape 37"/>
          <p:cNvSpPr/>
          <p:nvPr/>
        </p:nvSpPr>
        <p:spPr>
          <a:xfrm>
            <a:off x="5214091" y="2339659"/>
            <a:ext cx="747797" cy="183138"/>
          </a:xfrm>
          <a:prstGeom prst="rect">
            <a:avLst/>
          </a:prstGeom>
          <a:solidFill>
            <a:srgbClr val="D9D9D9"/>
          </a:solidFill>
          <a:ln w="6350">
            <a:solidFill>
              <a:srgbClr val="FFFFFF"/>
            </a:solidFill>
            <a:prstDash val="solid"/>
          </a:ln>
        </p:spPr>
      </p:sp>
      <p:sp>
        <p:nvSpPr>
          <p:cNvPr id="40" name="Text 38"/>
          <p:cNvSpPr txBox="1"/>
          <p:nvPr/>
        </p:nvSpPr>
        <p:spPr>
          <a:xfrm>
            <a:off x="5214091" y="2339659"/>
            <a:ext cx="74779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41" name="Text 39"/>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2" name="Shape 40"/>
          <p:cNvSpPr/>
          <p:nvPr/>
        </p:nvSpPr>
        <p:spPr>
          <a:xfrm>
            <a:off x="2807208" y="2580630"/>
            <a:ext cx="2053161" cy="183138"/>
          </a:xfrm>
          <a:prstGeom prst="rect">
            <a:avLst/>
          </a:prstGeom>
          <a:solidFill>
            <a:srgbClr val="2587C5"/>
          </a:solidFill>
          <a:ln w="6350">
            <a:solidFill>
              <a:srgbClr val="FFFFFF"/>
            </a:solidFill>
            <a:prstDash val="solid"/>
          </a:ln>
        </p:spPr>
      </p:sp>
      <p:sp>
        <p:nvSpPr>
          <p:cNvPr id="43" name="Text 41"/>
          <p:cNvSpPr txBox="1"/>
          <p:nvPr/>
        </p:nvSpPr>
        <p:spPr>
          <a:xfrm>
            <a:off x="2807208" y="2580630"/>
            <a:ext cx="20531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44" name="Shape 42"/>
          <p:cNvSpPr/>
          <p:nvPr/>
        </p:nvSpPr>
        <p:spPr>
          <a:xfrm>
            <a:off x="4860369" y="2580630"/>
            <a:ext cx="375876" cy="183138"/>
          </a:xfrm>
          <a:prstGeom prst="rect">
            <a:avLst/>
          </a:prstGeom>
          <a:solidFill>
            <a:srgbClr val="8FBEE6"/>
          </a:solidFill>
          <a:ln w="6350">
            <a:solidFill>
              <a:srgbClr val="FFFFFF"/>
            </a:solidFill>
            <a:prstDash val="solid"/>
          </a:ln>
        </p:spPr>
      </p:sp>
      <p:sp>
        <p:nvSpPr>
          <p:cNvPr id="45" name="Text 43"/>
          <p:cNvSpPr txBox="1"/>
          <p:nvPr/>
        </p:nvSpPr>
        <p:spPr>
          <a:xfrm>
            <a:off x="4860369" y="2580630"/>
            <a:ext cx="3758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46" name="Shape 44"/>
          <p:cNvSpPr/>
          <p:nvPr/>
        </p:nvSpPr>
        <p:spPr>
          <a:xfrm>
            <a:off x="5236245" y="2580630"/>
            <a:ext cx="725643" cy="183138"/>
          </a:xfrm>
          <a:prstGeom prst="rect">
            <a:avLst/>
          </a:prstGeom>
          <a:solidFill>
            <a:srgbClr val="D9D9D9"/>
          </a:solidFill>
          <a:ln w="6350">
            <a:solidFill>
              <a:srgbClr val="FFFFFF"/>
            </a:solidFill>
            <a:prstDash val="solid"/>
          </a:ln>
        </p:spPr>
      </p:sp>
      <p:sp>
        <p:nvSpPr>
          <p:cNvPr id="47" name="Text 45"/>
          <p:cNvSpPr txBox="1"/>
          <p:nvPr/>
        </p:nvSpPr>
        <p:spPr>
          <a:xfrm>
            <a:off x="5236245" y="2580630"/>
            <a:ext cx="725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48" name="Text 46"/>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9" name="Shape 47"/>
          <p:cNvSpPr/>
          <p:nvPr/>
        </p:nvSpPr>
        <p:spPr>
          <a:xfrm>
            <a:off x="2807208" y="2821602"/>
            <a:ext cx="2046848" cy="183138"/>
          </a:xfrm>
          <a:prstGeom prst="rect">
            <a:avLst/>
          </a:prstGeom>
          <a:solidFill>
            <a:srgbClr val="2587C5"/>
          </a:solidFill>
          <a:ln w="6350">
            <a:solidFill>
              <a:srgbClr val="FFFFFF"/>
            </a:solidFill>
            <a:prstDash val="solid"/>
          </a:ln>
        </p:spPr>
      </p:sp>
      <p:sp>
        <p:nvSpPr>
          <p:cNvPr id="50" name="Text 48"/>
          <p:cNvSpPr txBox="1"/>
          <p:nvPr/>
        </p:nvSpPr>
        <p:spPr>
          <a:xfrm>
            <a:off x="2807208" y="2821602"/>
            <a:ext cx="20468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51" name="Shape 49"/>
          <p:cNvSpPr/>
          <p:nvPr/>
        </p:nvSpPr>
        <p:spPr>
          <a:xfrm>
            <a:off x="4854056" y="2821602"/>
            <a:ext cx="793865" cy="183138"/>
          </a:xfrm>
          <a:prstGeom prst="rect">
            <a:avLst/>
          </a:prstGeom>
          <a:solidFill>
            <a:srgbClr val="8FBEE6"/>
          </a:solidFill>
          <a:ln w="6350">
            <a:solidFill>
              <a:srgbClr val="FFFFFF"/>
            </a:solidFill>
            <a:prstDash val="solid"/>
          </a:ln>
        </p:spPr>
      </p:sp>
      <p:sp>
        <p:nvSpPr>
          <p:cNvPr id="52" name="Text 50"/>
          <p:cNvSpPr txBox="1"/>
          <p:nvPr/>
        </p:nvSpPr>
        <p:spPr>
          <a:xfrm>
            <a:off x="4854056" y="2821602"/>
            <a:ext cx="79386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53" name="Shape 51"/>
          <p:cNvSpPr/>
          <p:nvPr/>
        </p:nvSpPr>
        <p:spPr>
          <a:xfrm>
            <a:off x="5647921" y="2821602"/>
            <a:ext cx="313967" cy="183138"/>
          </a:xfrm>
          <a:prstGeom prst="rect">
            <a:avLst/>
          </a:prstGeom>
          <a:solidFill>
            <a:srgbClr val="D9D9D9"/>
          </a:solidFill>
          <a:ln w="6350">
            <a:solidFill>
              <a:srgbClr val="FFFFFF"/>
            </a:solidFill>
            <a:prstDash val="solid"/>
          </a:ln>
        </p:spPr>
      </p:sp>
      <p:sp>
        <p:nvSpPr>
          <p:cNvPr id="54" name="Text 52"/>
          <p:cNvSpPr txBox="1"/>
          <p:nvPr/>
        </p:nvSpPr>
        <p:spPr>
          <a:xfrm>
            <a:off x="5647921" y="2821602"/>
            <a:ext cx="3139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55" name="Text 53"/>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6" name="Shape 54"/>
          <p:cNvSpPr/>
          <p:nvPr/>
        </p:nvSpPr>
        <p:spPr>
          <a:xfrm>
            <a:off x="2807208" y="3062573"/>
            <a:ext cx="1985155" cy="183138"/>
          </a:xfrm>
          <a:prstGeom prst="rect">
            <a:avLst/>
          </a:prstGeom>
          <a:solidFill>
            <a:srgbClr val="2587C5"/>
          </a:solidFill>
          <a:ln w="6350">
            <a:solidFill>
              <a:srgbClr val="FFFFFF"/>
            </a:solidFill>
            <a:prstDash val="solid"/>
          </a:ln>
        </p:spPr>
      </p:sp>
      <p:sp>
        <p:nvSpPr>
          <p:cNvPr id="57" name="Text 55"/>
          <p:cNvSpPr txBox="1"/>
          <p:nvPr/>
        </p:nvSpPr>
        <p:spPr>
          <a:xfrm>
            <a:off x="2807208" y="3062573"/>
            <a:ext cx="19851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63</a:t>
            </a:r>
            <a:endParaRPr lang="en-US" sz="1300" dirty="0"/>
          </a:p>
        </p:txBody>
      </p:sp>
      <p:sp>
        <p:nvSpPr>
          <p:cNvPr id="58" name="Shape 56"/>
          <p:cNvSpPr/>
          <p:nvPr/>
        </p:nvSpPr>
        <p:spPr>
          <a:xfrm>
            <a:off x="4792363" y="3062573"/>
            <a:ext cx="729180" cy="183138"/>
          </a:xfrm>
          <a:prstGeom prst="rect">
            <a:avLst/>
          </a:prstGeom>
          <a:solidFill>
            <a:srgbClr val="8FBEE6"/>
          </a:solidFill>
          <a:ln w="6350">
            <a:solidFill>
              <a:srgbClr val="FFFFFF"/>
            </a:solidFill>
            <a:prstDash val="solid"/>
          </a:ln>
        </p:spPr>
      </p:sp>
      <p:sp>
        <p:nvSpPr>
          <p:cNvPr id="59" name="Text 57"/>
          <p:cNvSpPr txBox="1"/>
          <p:nvPr/>
        </p:nvSpPr>
        <p:spPr>
          <a:xfrm>
            <a:off x="4792363" y="3062573"/>
            <a:ext cx="729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60" name="Shape 58"/>
          <p:cNvSpPr/>
          <p:nvPr/>
        </p:nvSpPr>
        <p:spPr>
          <a:xfrm>
            <a:off x="5521542" y="3062573"/>
            <a:ext cx="440346" cy="183138"/>
          </a:xfrm>
          <a:prstGeom prst="rect">
            <a:avLst/>
          </a:prstGeom>
          <a:solidFill>
            <a:srgbClr val="D9D9D9"/>
          </a:solidFill>
          <a:ln w="6350">
            <a:solidFill>
              <a:srgbClr val="FFFFFF"/>
            </a:solidFill>
            <a:prstDash val="solid"/>
          </a:ln>
        </p:spPr>
      </p:sp>
      <p:sp>
        <p:nvSpPr>
          <p:cNvPr id="61" name="Text 59"/>
          <p:cNvSpPr txBox="1"/>
          <p:nvPr/>
        </p:nvSpPr>
        <p:spPr>
          <a:xfrm>
            <a:off x="5521542" y="3062573"/>
            <a:ext cx="44034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62" name="Text 60"/>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2807208" y="3303544"/>
            <a:ext cx="1940199" cy="183138"/>
          </a:xfrm>
          <a:prstGeom prst="rect">
            <a:avLst/>
          </a:prstGeom>
          <a:solidFill>
            <a:srgbClr val="2587C5"/>
          </a:solidFill>
          <a:ln w="6350">
            <a:solidFill>
              <a:srgbClr val="FFFFFF"/>
            </a:solidFill>
            <a:prstDash val="solid"/>
          </a:ln>
        </p:spPr>
      </p:sp>
      <p:sp>
        <p:nvSpPr>
          <p:cNvPr id="64" name="Text 62"/>
          <p:cNvSpPr txBox="1"/>
          <p:nvPr/>
        </p:nvSpPr>
        <p:spPr>
          <a:xfrm>
            <a:off x="2807208" y="3303544"/>
            <a:ext cx="194019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65" name="Shape 63"/>
          <p:cNvSpPr/>
          <p:nvPr/>
        </p:nvSpPr>
        <p:spPr>
          <a:xfrm>
            <a:off x="4747407" y="3303544"/>
            <a:ext cx="542990" cy="183138"/>
          </a:xfrm>
          <a:prstGeom prst="rect">
            <a:avLst/>
          </a:prstGeom>
          <a:solidFill>
            <a:srgbClr val="8FBEE6"/>
          </a:solidFill>
          <a:ln w="6350">
            <a:solidFill>
              <a:srgbClr val="FFFFFF"/>
            </a:solidFill>
            <a:prstDash val="solid"/>
          </a:ln>
        </p:spPr>
      </p:sp>
      <p:sp>
        <p:nvSpPr>
          <p:cNvPr id="66" name="Text 64"/>
          <p:cNvSpPr txBox="1"/>
          <p:nvPr/>
        </p:nvSpPr>
        <p:spPr>
          <a:xfrm>
            <a:off x="4747407" y="3303544"/>
            <a:ext cx="5429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67" name="Shape 65"/>
          <p:cNvSpPr/>
          <p:nvPr/>
        </p:nvSpPr>
        <p:spPr>
          <a:xfrm>
            <a:off x="5290397" y="3303544"/>
            <a:ext cx="671491" cy="183138"/>
          </a:xfrm>
          <a:prstGeom prst="rect">
            <a:avLst/>
          </a:prstGeom>
          <a:solidFill>
            <a:srgbClr val="D9D9D9"/>
          </a:solidFill>
          <a:ln w="6350">
            <a:solidFill>
              <a:srgbClr val="FFFFFF"/>
            </a:solidFill>
            <a:prstDash val="solid"/>
          </a:ln>
        </p:spPr>
      </p:sp>
      <p:sp>
        <p:nvSpPr>
          <p:cNvPr id="68" name="Text 66"/>
          <p:cNvSpPr txBox="1"/>
          <p:nvPr/>
        </p:nvSpPr>
        <p:spPr>
          <a:xfrm>
            <a:off x="5290397" y="3303544"/>
            <a:ext cx="67149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69" name="Text 67"/>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0" name="Shape 68"/>
          <p:cNvSpPr/>
          <p:nvPr/>
        </p:nvSpPr>
        <p:spPr>
          <a:xfrm>
            <a:off x="2807208" y="3544516"/>
            <a:ext cx="1907392" cy="183138"/>
          </a:xfrm>
          <a:prstGeom prst="rect">
            <a:avLst/>
          </a:prstGeom>
          <a:solidFill>
            <a:srgbClr val="2587C5"/>
          </a:solidFill>
          <a:ln w="6350">
            <a:solidFill>
              <a:srgbClr val="FFFFFF"/>
            </a:solidFill>
            <a:prstDash val="solid"/>
          </a:ln>
        </p:spPr>
      </p:sp>
      <p:sp>
        <p:nvSpPr>
          <p:cNvPr id="71" name="Text 69"/>
          <p:cNvSpPr txBox="1"/>
          <p:nvPr/>
        </p:nvSpPr>
        <p:spPr>
          <a:xfrm>
            <a:off x="2807208" y="3544516"/>
            <a:ext cx="190739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2" name="Shape 70"/>
          <p:cNvSpPr/>
          <p:nvPr/>
        </p:nvSpPr>
        <p:spPr>
          <a:xfrm>
            <a:off x="4714600" y="3544516"/>
            <a:ext cx="434501" cy="183138"/>
          </a:xfrm>
          <a:prstGeom prst="rect">
            <a:avLst/>
          </a:prstGeom>
          <a:solidFill>
            <a:srgbClr val="8FBEE6"/>
          </a:solidFill>
          <a:ln w="6350">
            <a:solidFill>
              <a:srgbClr val="FFFFFF"/>
            </a:solidFill>
            <a:prstDash val="solid"/>
          </a:ln>
        </p:spPr>
      </p:sp>
      <p:sp>
        <p:nvSpPr>
          <p:cNvPr id="73" name="Text 71"/>
          <p:cNvSpPr txBox="1"/>
          <p:nvPr/>
        </p:nvSpPr>
        <p:spPr>
          <a:xfrm>
            <a:off x="4714600" y="3544516"/>
            <a:ext cx="43450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74" name="Shape 72"/>
          <p:cNvSpPr/>
          <p:nvPr/>
        </p:nvSpPr>
        <p:spPr>
          <a:xfrm>
            <a:off x="5149102" y="3544516"/>
            <a:ext cx="812786" cy="183138"/>
          </a:xfrm>
          <a:prstGeom prst="rect">
            <a:avLst/>
          </a:prstGeom>
          <a:solidFill>
            <a:srgbClr val="D9D9D9"/>
          </a:solidFill>
          <a:ln w="6350">
            <a:solidFill>
              <a:srgbClr val="FFFFFF"/>
            </a:solidFill>
            <a:prstDash val="solid"/>
          </a:ln>
        </p:spPr>
      </p:sp>
      <p:sp>
        <p:nvSpPr>
          <p:cNvPr id="75" name="Text 73"/>
          <p:cNvSpPr txBox="1"/>
          <p:nvPr/>
        </p:nvSpPr>
        <p:spPr>
          <a:xfrm>
            <a:off x="5149102" y="3544516"/>
            <a:ext cx="8127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26</a:t>
            </a:r>
            <a:endParaRPr lang="en-US" sz="1300" dirty="0"/>
          </a:p>
        </p:txBody>
      </p:sp>
      <p:sp>
        <p:nvSpPr>
          <p:cNvPr id="76" name="Text 74"/>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7" name="Shape 75"/>
          <p:cNvSpPr/>
          <p:nvPr/>
        </p:nvSpPr>
        <p:spPr>
          <a:xfrm>
            <a:off x="2807208" y="3785487"/>
            <a:ext cx="1883011" cy="183138"/>
          </a:xfrm>
          <a:prstGeom prst="rect">
            <a:avLst/>
          </a:prstGeom>
          <a:solidFill>
            <a:srgbClr val="2587C5"/>
          </a:solidFill>
          <a:ln w="6350">
            <a:solidFill>
              <a:srgbClr val="FFFFFF"/>
            </a:solidFill>
            <a:prstDash val="solid"/>
          </a:ln>
        </p:spPr>
      </p:sp>
      <p:sp>
        <p:nvSpPr>
          <p:cNvPr id="78" name="Text 76"/>
          <p:cNvSpPr txBox="1"/>
          <p:nvPr/>
        </p:nvSpPr>
        <p:spPr>
          <a:xfrm>
            <a:off x="2807208" y="3785487"/>
            <a:ext cx="18830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9" name="Shape 77"/>
          <p:cNvSpPr/>
          <p:nvPr/>
        </p:nvSpPr>
        <p:spPr>
          <a:xfrm>
            <a:off x="4690219" y="3785487"/>
            <a:ext cx="918142" cy="183138"/>
          </a:xfrm>
          <a:prstGeom prst="rect">
            <a:avLst/>
          </a:prstGeom>
          <a:solidFill>
            <a:srgbClr val="8FBEE6"/>
          </a:solidFill>
          <a:ln w="6350">
            <a:solidFill>
              <a:srgbClr val="FFFFFF"/>
            </a:solidFill>
            <a:prstDash val="solid"/>
          </a:ln>
        </p:spPr>
      </p:sp>
      <p:sp>
        <p:nvSpPr>
          <p:cNvPr id="80" name="Text 78"/>
          <p:cNvSpPr txBox="1"/>
          <p:nvPr/>
        </p:nvSpPr>
        <p:spPr>
          <a:xfrm>
            <a:off x="4690219" y="3785487"/>
            <a:ext cx="9181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81" name="Shape 79"/>
          <p:cNvSpPr/>
          <p:nvPr/>
        </p:nvSpPr>
        <p:spPr>
          <a:xfrm>
            <a:off x="5608361" y="3785487"/>
            <a:ext cx="353527" cy="183138"/>
          </a:xfrm>
          <a:prstGeom prst="rect">
            <a:avLst/>
          </a:prstGeom>
          <a:solidFill>
            <a:srgbClr val="D9D9D9"/>
          </a:solidFill>
          <a:ln w="6350">
            <a:solidFill>
              <a:srgbClr val="FFFFFF"/>
            </a:solidFill>
            <a:prstDash val="solid"/>
          </a:ln>
        </p:spPr>
      </p:sp>
      <p:sp>
        <p:nvSpPr>
          <p:cNvPr id="82" name="Text 80"/>
          <p:cNvSpPr txBox="1"/>
          <p:nvPr/>
        </p:nvSpPr>
        <p:spPr>
          <a:xfrm>
            <a:off x="5608361" y="3785487"/>
            <a:ext cx="3535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83" name="Text 81"/>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4" name="Shape 82"/>
          <p:cNvSpPr/>
          <p:nvPr/>
        </p:nvSpPr>
        <p:spPr>
          <a:xfrm>
            <a:off x="2807208" y="4026458"/>
            <a:ext cx="1876032" cy="183138"/>
          </a:xfrm>
          <a:prstGeom prst="rect">
            <a:avLst/>
          </a:prstGeom>
          <a:solidFill>
            <a:srgbClr val="2587C5"/>
          </a:solidFill>
          <a:ln w="6350">
            <a:solidFill>
              <a:srgbClr val="FFFFFF"/>
            </a:solidFill>
            <a:prstDash val="solid"/>
          </a:ln>
        </p:spPr>
      </p:sp>
      <p:sp>
        <p:nvSpPr>
          <p:cNvPr id="85" name="Text 83"/>
          <p:cNvSpPr txBox="1"/>
          <p:nvPr/>
        </p:nvSpPr>
        <p:spPr>
          <a:xfrm>
            <a:off x="2807208" y="4026458"/>
            <a:ext cx="18760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86" name="Shape 84"/>
          <p:cNvSpPr/>
          <p:nvPr/>
        </p:nvSpPr>
        <p:spPr>
          <a:xfrm>
            <a:off x="4683240" y="4026458"/>
            <a:ext cx="744656" cy="183138"/>
          </a:xfrm>
          <a:prstGeom prst="rect">
            <a:avLst/>
          </a:prstGeom>
          <a:solidFill>
            <a:srgbClr val="8FBEE6"/>
          </a:solidFill>
          <a:ln w="6350">
            <a:solidFill>
              <a:srgbClr val="FFFFFF"/>
            </a:solidFill>
            <a:prstDash val="solid"/>
          </a:ln>
        </p:spPr>
      </p:sp>
      <p:sp>
        <p:nvSpPr>
          <p:cNvPr id="87" name="Text 85"/>
          <p:cNvSpPr txBox="1"/>
          <p:nvPr/>
        </p:nvSpPr>
        <p:spPr>
          <a:xfrm>
            <a:off x="4683240" y="4026458"/>
            <a:ext cx="7446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88" name="Shape 86"/>
          <p:cNvSpPr/>
          <p:nvPr/>
        </p:nvSpPr>
        <p:spPr>
          <a:xfrm>
            <a:off x="5427896" y="4026458"/>
            <a:ext cx="533992" cy="183138"/>
          </a:xfrm>
          <a:prstGeom prst="rect">
            <a:avLst/>
          </a:prstGeom>
          <a:solidFill>
            <a:srgbClr val="D9D9D9"/>
          </a:solidFill>
          <a:ln w="6350">
            <a:solidFill>
              <a:srgbClr val="FFFFFF"/>
            </a:solidFill>
            <a:prstDash val="solid"/>
          </a:ln>
        </p:spPr>
      </p:sp>
      <p:sp>
        <p:nvSpPr>
          <p:cNvPr id="89" name="Text 87"/>
          <p:cNvSpPr txBox="1"/>
          <p:nvPr/>
        </p:nvSpPr>
        <p:spPr>
          <a:xfrm>
            <a:off x="5427896" y="4026458"/>
            <a:ext cx="5339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90" name="Text 88"/>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1" name="Shape 89"/>
          <p:cNvSpPr/>
          <p:nvPr/>
        </p:nvSpPr>
        <p:spPr>
          <a:xfrm>
            <a:off x="2807208" y="4267429"/>
            <a:ext cx="1874405" cy="183138"/>
          </a:xfrm>
          <a:prstGeom prst="rect">
            <a:avLst/>
          </a:prstGeom>
          <a:solidFill>
            <a:srgbClr val="2587C5"/>
          </a:solidFill>
          <a:ln w="6350">
            <a:solidFill>
              <a:srgbClr val="FFFFFF"/>
            </a:solidFill>
            <a:prstDash val="solid"/>
          </a:ln>
        </p:spPr>
      </p:sp>
      <p:sp>
        <p:nvSpPr>
          <p:cNvPr id="92" name="Text 90"/>
          <p:cNvSpPr txBox="1"/>
          <p:nvPr/>
        </p:nvSpPr>
        <p:spPr>
          <a:xfrm>
            <a:off x="2807208" y="4267429"/>
            <a:ext cx="18744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3" name="Shape 91"/>
          <p:cNvSpPr/>
          <p:nvPr/>
        </p:nvSpPr>
        <p:spPr>
          <a:xfrm>
            <a:off x="4681613" y="4267429"/>
            <a:ext cx="558160" cy="183138"/>
          </a:xfrm>
          <a:prstGeom prst="rect">
            <a:avLst/>
          </a:prstGeom>
          <a:solidFill>
            <a:srgbClr val="8FBEE6"/>
          </a:solidFill>
          <a:ln w="6350">
            <a:solidFill>
              <a:srgbClr val="FFFFFF"/>
            </a:solidFill>
            <a:prstDash val="solid"/>
          </a:ln>
        </p:spPr>
      </p:sp>
      <p:sp>
        <p:nvSpPr>
          <p:cNvPr id="94" name="Text 92"/>
          <p:cNvSpPr txBox="1"/>
          <p:nvPr/>
        </p:nvSpPr>
        <p:spPr>
          <a:xfrm>
            <a:off x="4681613" y="4267429"/>
            <a:ext cx="5581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95" name="Shape 93"/>
          <p:cNvSpPr/>
          <p:nvPr/>
        </p:nvSpPr>
        <p:spPr>
          <a:xfrm>
            <a:off x="5239773" y="4267429"/>
            <a:ext cx="722115" cy="183138"/>
          </a:xfrm>
          <a:prstGeom prst="rect">
            <a:avLst/>
          </a:prstGeom>
          <a:solidFill>
            <a:srgbClr val="D9D9D9"/>
          </a:solidFill>
          <a:ln w="6350">
            <a:solidFill>
              <a:srgbClr val="FFFFFF"/>
            </a:solidFill>
            <a:prstDash val="solid"/>
          </a:ln>
        </p:spPr>
      </p:sp>
      <p:sp>
        <p:nvSpPr>
          <p:cNvPr id="96" name="Text 94"/>
          <p:cNvSpPr txBox="1"/>
          <p:nvPr/>
        </p:nvSpPr>
        <p:spPr>
          <a:xfrm>
            <a:off x="5239773" y="4267429"/>
            <a:ext cx="7221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97" name="Text 95"/>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2807208" y="4508401"/>
            <a:ext cx="1862814" cy="183138"/>
          </a:xfrm>
          <a:prstGeom prst="rect">
            <a:avLst/>
          </a:prstGeom>
          <a:solidFill>
            <a:srgbClr val="2587C5"/>
          </a:solidFill>
          <a:ln w="6350">
            <a:solidFill>
              <a:srgbClr val="FFFFFF"/>
            </a:solidFill>
            <a:prstDash val="solid"/>
          </a:ln>
        </p:spPr>
      </p:sp>
      <p:sp>
        <p:nvSpPr>
          <p:cNvPr id="99" name="Text 97"/>
          <p:cNvSpPr txBox="1"/>
          <p:nvPr/>
        </p:nvSpPr>
        <p:spPr>
          <a:xfrm>
            <a:off x="2807208" y="4508401"/>
            <a:ext cx="186281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0" name="Shape 98"/>
          <p:cNvSpPr/>
          <p:nvPr/>
        </p:nvSpPr>
        <p:spPr>
          <a:xfrm>
            <a:off x="4670022" y="4508401"/>
            <a:ext cx="740644" cy="183138"/>
          </a:xfrm>
          <a:prstGeom prst="rect">
            <a:avLst/>
          </a:prstGeom>
          <a:solidFill>
            <a:srgbClr val="8FBEE6"/>
          </a:solidFill>
          <a:ln w="6350">
            <a:solidFill>
              <a:srgbClr val="FFFFFF"/>
            </a:solidFill>
            <a:prstDash val="solid"/>
          </a:ln>
        </p:spPr>
      </p:sp>
      <p:sp>
        <p:nvSpPr>
          <p:cNvPr id="101" name="Text 99"/>
          <p:cNvSpPr txBox="1"/>
          <p:nvPr/>
        </p:nvSpPr>
        <p:spPr>
          <a:xfrm>
            <a:off x="4670022" y="4508401"/>
            <a:ext cx="74064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02" name="Shape 100"/>
          <p:cNvSpPr/>
          <p:nvPr/>
        </p:nvSpPr>
        <p:spPr>
          <a:xfrm>
            <a:off x="5410666" y="4508401"/>
            <a:ext cx="551222" cy="183138"/>
          </a:xfrm>
          <a:prstGeom prst="rect">
            <a:avLst/>
          </a:prstGeom>
          <a:solidFill>
            <a:srgbClr val="D9D9D9"/>
          </a:solidFill>
          <a:ln w="6350">
            <a:solidFill>
              <a:srgbClr val="FFFFFF"/>
            </a:solidFill>
            <a:prstDash val="solid"/>
          </a:ln>
        </p:spPr>
      </p:sp>
      <p:sp>
        <p:nvSpPr>
          <p:cNvPr id="103" name="Text 101"/>
          <p:cNvSpPr txBox="1"/>
          <p:nvPr/>
        </p:nvSpPr>
        <p:spPr>
          <a:xfrm>
            <a:off x="5410666" y="4508401"/>
            <a:ext cx="551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104" name="Text 102"/>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05" name="Shape 103"/>
          <p:cNvSpPr/>
          <p:nvPr/>
        </p:nvSpPr>
        <p:spPr>
          <a:xfrm>
            <a:off x="2807208" y="4749372"/>
            <a:ext cx="1831119" cy="183138"/>
          </a:xfrm>
          <a:prstGeom prst="rect">
            <a:avLst/>
          </a:prstGeom>
          <a:solidFill>
            <a:srgbClr val="2587C5"/>
          </a:solidFill>
          <a:ln w="6350">
            <a:solidFill>
              <a:srgbClr val="FFFFFF"/>
            </a:solidFill>
            <a:prstDash val="solid"/>
          </a:ln>
        </p:spPr>
      </p:sp>
      <p:sp>
        <p:nvSpPr>
          <p:cNvPr id="106" name="Text 104"/>
          <p:cNvSpPr txBox="1"/>
          <p:nvPr/>
        </p:nvSpPr>
        <p:spPr>
          <a:xfrm>
            <a:off x="2807208" y="4749372"/>
            <a:ext cx="18311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07" name="Shape 105"/>
          <p:cNvSpPr/>
          <p:nvPr/>
        </p:nvSpPr>
        <p:spPr>
          <a:xfrm>
            <a:off x="4638327" y="4749372"/>
            <a:ext cx="764127" cy="183138"/>
          </a:xfrm>
          <a:prstGeom prst="rect">
            <a:avLst/>
          </a:prstGeom>
          <a:solidFill>
            <a:srgbClr val="8FBEE6"/>
          </a:solidFill>
          <a:ln w="6350">
            <a:solidFill>
              <a:srgbClr val="FFFFFF"/>
            </a:solidFill>
            <a:prstDash val="solid"/>
          </a:ln>
        </p:spPr>
      </p:sp>
      <p:sp>
        <p:nvSpPr>
          <p:cNvPr id="108" name="Text 106"/>
          <p:cNvSpPr txBox="1"/>
          <p:nvPr/>
        </p:nvSpPr>
        <p:spPr>
          <a:xfrm>
            <a:off x="4638327" y="4749372"/>
            <a:ext cx="7641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09" name="Shape 107"/>
          <p:cNvSpPr/>
          <p:nvPr/>
        </p:nvSpPr>
        <p:spPr>
          <a:xfrm>
            <a:off x="5402455" y="4749372"/>
            <a:ext cx="559433" cy="183138"/>
          </a:xfrm>
          <a:prstGeom prst="rect">
            <a:avLst/>
          </a:prstGeom>
          <a:solidFill>
            <a:srgbClr val="D9D9D9"/>
          </a:solidFill>
          <a:ln w="6350">
            <a:solidFill>
              <a:srgbClr val="FFFFFF"/>
            </a:solidFill>
            <a:prstDash val="solid"/>
          </a:ln>
        </p:spPr>
      </p:sp>
      <p:sp>
        <p:nvSpPr>
          <p:cNvPr id="110" name="Text 108"/>
          <p:cNvSpPr txBox="1"/>
          <p:nvPr/>
        </p:nvSpPr>
        <p:spPr>
          <a:xfrm>
            <a:off x="5402455" y="4749372"/>
            <a:ext cx="5594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11" name="Text 109"/>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12" name="Shape 110"/>
          <p:cNvSpPr/>
          <p:nvPr/>
        </p:nvSpPr>
        <p:spPr>
          <a:xfrm>
            <a:off x="2807208" y="4990343"/>
            <a:ext cx="1825486" cy="183138"/>
          </a:xfrm>
          <a:prstGeom prst="rect">
            <a:avLst/>
          </a:prstGeom>
          <a:solidFill>
            <a:srgbClr val="2587C5"/>
          </a:solidFill>
          <a:ln w="6350">
            <a:solidFill>
              <a:srgbClr val="FFFFFF"/>
            </a:solidFill>
            <a:prstDash val="solid"/>
          </a:ln>
        </p:spPr>
      </p:sp>
      <p:sp>
        <p:nvSpPr>
          <p:cNvPr id="113" name="Text 111"/>
          <p:cNvSpPr txBox="1"/>
          <p:nvPr/>
        </p:nvSpPr>
        <p:spPr>
          <a:xfrm>
            <a:off x="2807208" y="4990343"/>
            <a:ext cx="18254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4" name="Shape 112"/>
          <p:cNvSpPr/>
          <p:nvPr/>
        </p:nvSpPr>
        <p:spPr>
          <a:xfrm>
            <a:off x="4632694" y="4990343"/>
            <a:ext cx="426634" cy="183138"/>
          </a:xfrm>
          <a:prstGeom prst="rect">
            <a:avLst/>
          </a:prstGeom>
          <a:solidFill>
            <a:srgbClr val="8FBEE6"/>
          </a:solidFill>
          <a:ln w="6350">
            <a:solidFill>
              <a:srgbClr val="FFFFFF"/>
            </a:solidFill>
            <a:prstDash val="solid"/>
          </a:ln>
        </p:spPr>
      </p:sp>
      <p:sp>
        <p:nvSpPr>
          <p:cNvPr id="115" name="Text 113"/>
          <p:cNvSpPr txBox="1"/>
          <p:nvPr/>
        </p:nvSpPr>
        <p:spPr>
          <a:xfrm>
            <a:off x="4632694" y="4990343"/>
            <a:ext cx="4266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16" name="Shape 114"/>
          <p:cNvSpPr/>
          <p:nvPr/>
        </p:nvSpPr>
        <p:spPr>
          <a:xfrm>
            <a:off x="5059328" y="4990343"/>
            <a:ext cx="902560" cy="183138"/>
          </a:xfrm>
          <a:prstGeom prst="rect">
            <a:avLst/>
          </a:prstGeom>
          <a:solidFill>
            <a:srgbClr val="D9D9D9"/>
          </a:solidFill>
          <a:ln w="6350">
            <a:solidFill>
              <a:srgbClr val="FFFFFF"/>
            </a:solidFill>
            <a:prstDash val="solid"/>
          </a:ln>
        </p:spPr>
      </p:sp>
      <p:sp>
        <p:nvSpPr>
          <p:cNvPr id="117" name="Text 115"/>
          <p:cNvSpPr txBox="1"/>
          <p:nvPr/>
        </p:nvSpPr>
        <p:spPr>
          <a:xfrm>
            <a:off x="5059328" y="4990343"/>
            <a:ext cx="9025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18" name="Text 116"/>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19" name="Shape 117"/>
          <p:cNvSpPr/>
          <p:nvPr/>
        </p:nvSpPr>
        <p:spPr>
          <a:xfrm>
            <a:off x="2807208" y="5231315"/>
            <a:ext cx="1807555" cy="183138"/>
          </a:xfrm>
          <a:prstGeom prst="rect">
            <a:avLst/>
          </a:prstGeom>
          <a:solidFill>
            <a:srgbClr val="2587C5"/>
          </a:solidFill>
          <a:ln w="6350">
            <a:solidFill>
              <a:srgbClr val="FFFFFF"/>
            </a:solidFill>
            <a:prstDash val="solid"/>
          </a:ln>
        </p:spPr>
      </p:sp>
      <p:sp>
        <p:nvSpPr>
          <p:cNvPr id="120" name="Text 118"/>
          <p:cNvSpPr txBox="1"/>
          <p:nvPr/>
        </p:nvSpPr>
        <p:spPr>
          <a:xfrm>
            <a:off x="2807208" y="5231315"/>
            <a:ext cx="1807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1" name="Shape 119"/>
          <p:cNvSpPr/>
          <p:nvPr/>
        </p:nvSpPr>
        <p:spPr>
          <a:xfrm>
            <a:off x="4614763" y="5231315"/>
            <a:ext cx="466810" cy="183138"/>
          </a:xfrm>
          <a:prstGeom prst="rect">
            <a:avLst/>
          </a:prstGeom>
          <a:solidFill>
            <a:srgbClr val="8FBEE6"/>
          </a:solidFill>
          <a:ln w="6350">
            <a:solidFill>
              <a:srgbClr val="FFFFFF"/>
            </a:solidFill>
            <a:prstDash val="solid"/>
          </a:ln>
        </p:spPr>
      </p:sp>
      <p:sp>
        <p:nvSpPr>
          <p:cNvPr id="122" name="Text 120"/>
          <p:cNvSpPr txBox="1"/>
          <p:nvPr/>
        </p:nvSpPr>
        <p:spPr>
          <a:xfrm>
            <a:off x="4614763" y="5231315"/>
            <a:ext cx="4668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23" name="Shape 121"/>
          <p:cNvSpPr/>
          <p:nvPr/>
        </p:nvSpPr>
        <p:spPr>
          <a:xfrm>
            <a:off x="5081573" y="5231315"/>
            <a:ext cx="880315" cy="183138"/>
          </a:xfrm>
          <a:prstGeom prst="rect">
            <a:avLst/>
          </a:prstGeom>
          <a:solidFill>
            <a:srgbClr val="D9D9D9"/>
          </a:solidFill>
          <a:ln w="6350">
            <a:solidFill>
              <a:srgbClr val="FFFFFF"/>
            </a:solidFill>
            <a:prstDash val="solid"/>
          </a:ln>
        </p:spPr>
      </p:sp>
      <p:sp>
        <p:nvSpPr>
          <p:cNvPr id="124" name="Text 122"/>
          <p:cNvSpPr txBox="1"/>
          <p:nvPr/>
        </p:nvSpPr>
        <p:spPr>
          <a:xfrm>
            <a:off x="5081573" y="5231315"/>
            <a:ext cx="8803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25" name="Text 123"/>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6" name="Shape 124"/>
          <p:cNvSpPr/>
          <p:nvPr/>
        </p:nvSpPr>
        <p:spPr>
          <a:xfrm>
            <a:off x="2807208" y="5472286"/>
            <a:ext cx="1784948" cy="183138"/>
          </a:xfrm>
          <a:prstGeom prst="rect">
            <a:avLst/>
          </a:prstGeom>
          <a:solidFill>
            <a:srgbClr val="2587C5"/>
          </a:solidFill>
          <a:ln w="6350">
            <a:solidFill>
              <a:srgbClr val="FFFFFF"/>
            </a:solidFill>
            <a:prstDash val="solid"/>
          </a:ln>
        </p:spPr>
      </p:sp>
      <p:sp>
        <p:nvSpPr>
          <p:cNvPr id="127" name="Text 125"/>
          <p:cNvSpPr txBox="1"/>
          <p:nvPr/>
        </p:nvSpPr>
        <p:spPr>
          <a:xfrm>
            <a:off x="2807208" y="5472286"/>
            <a:ext cx="17849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8" name="Shape 126"/>
          <p:cNvSpPr/>
          <p:nvPr/>
        </p:nvSpPr>
        <p:spPr>
          <a:xfrm>
            <a:off x="4592156" y="5472286"/>
            <a:ext cx="390376" cy="183138"/>
          </a:xfrm>
          <a:prstGeom prst="rect">
            <a:avLst/>
          </a:prstGeom>
          <a:solidFill>
            <a:srgbClr val="8FBEE6"/>
          </a:solidFill>
          <a:ln w="6350">
            <a:solidFill>
              <a:srgbClr val="FFFFFF"/>
            </a:solidFill>
            <a:prstDash val="solid"/>
          </a:ln>
        </p:spPr>
      </p:sp>
      <p:sp>
        <p:nvSpPr>
          <p:cNvPr id="129" name="Text 127"/>
          <p:cNvSpPr txBox="1"/>
          <p:nvPr/>
        </p:nvSpPr>
        <p:spPr>
          <a:xfrm>
            <a:off x="4592156" y="5472286"/>
            <a:ext cx="3903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130" name="Shape 128"/>
          <p:cNvSpPr/>
          <p:nvPr/>
        </p:nvSpPr>
        <p:spPr>
          <a:xfrm>
            <a:off x="4982532" y="5472286"/>
            <a:ext cx="979356" cy="183138"/>
          </a:xfrm>
          <a:prstGeom prst="rect">
            <a:avLst/>
          </a:prstGeom>
          <a:solidFill>
            <a:srgbClr val="D9D9D9"/>
          </a:solidFill>
          <a:ln w="6350">
            <a:solidFill>
              <a:srgbClr val="FFFFFF"/>
            </a:solidFill>
            <a:prstDash val="solid"/>
          </a:ln>
        </p:spPr>
      </p:sp>
      <p:sp>
        <p:nvSpPr>
          <p:cNvPr id="131" name="Text 129"/>
          <p:cNvSpPr txBox="1"/>
          <p:nvPr/>
        </p:nvSpPr>
        <p:spPr>
          <a:xfrm>
            <a:off x="4982532" y="5472286"/>
            <a:ext cx="9793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32" name="Text 130"/>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3" name="Shape 131"/>
          <p:cNvSpPr/>
          <p:nvPr/>
        </p:nvSpPr>
        <p:spPr>
          <a:xfrm>
            <a:off x="2807208" y="5713257"/>
            <a:ext cx="1784687" cy="183138"/>
          </a:xfrm>
          <a:prstGeom prst="rect">
            <a:avLst/>
          </a:prstGeom>
          <a:solidFill>
            <a:srgbClr val="2587C5"/>
          </a:solidFill>
          <a:ln w="6350">
            <a:solidFill>
              <a:srgbClr val="FFFFFF"/>
            </a:solidFill>
            <a:prstDash val="solid"/>
          </a:ln>
        </p:spPr>
      </p:sp>
      <p:sp>
        <p:nvSpPr>
          <p:cNvPr id="134" name="Text 132"/>
          <p:cNvSpPr txBox="1"/>
          <p:nvPr/>
        </p:nvSpPr>
        <p:spPr>
          <a:xfrm>
            <a:off x="2807208" y="5713257"/>
            <a:ext cx="178468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5" name="Shape 133"/>
          <p:cNvSpPr/>
          <p:nvPr/>
        </p:nvSpPr>
        <p:spPr>
          <a:xfrm>
            <a:off x="4591895" y="5713257"/>
            <a:ext cx="320373" cy="183138"/>
          </a:xfrm>
          <a:prstGeom prst="rect">
            <a:avLst/>
          </a:prstGeom>
          <a:solidFill>
            <a:srgbClr val="8FBEE6"/>
          </a:solidFill>
          <a:ln w="6350">
            <a:solidFill>
              <a:srgbClr val="FFFFFF"/>
            </a:solidFill>
            <a:prstDash val="solid"/>
          </a:ln>
        </p:spPr>
      </p:sp>
      <p:sp>
        <p:nvSpPr>
          <p:cNvPr id="136" name="Text 134"/>
          <p:cNvSpPr txBox="1"/>
          <p:nvPr/>
        </p:nvSpPr>
        <p:spPr>
          <a:xfrm>
            <a:off x="4591895" y="5713257"/>
            <a:ext cx="3203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37" name="Shape 135"/>
          <p:cNvSpPr/>
          <p:nvPr/>
        </p:nvSpPr>
        <p:spPr>
          <a:xfrm>
            <a:off x="4912268" y="5713257"/>
            <a:ext cx="1049620" cy="183138"/>
          </a:xfrm>
          <a:prstGeom prst="rect">
            <a:avLst/>
          </a:prstGeom>
          <a:solidFill>
            <a:srgbClr val="D9D9D9"/>
          </a:solidFill>
          <a:ln w="6350">
            <a:solidFill>
              <a:srgbClr val="FFFFFF"/>
            </a:solidFill>
            <a:prstDash val="solid"/>
          </a:ln>
        </p:spPr>
      </p:sp>
      <p:sp>
        <p:nvSpPr>
          <p:cNvPr id="138" name="Text 136"/>
          <p:cNvSpPr txBox="1"/>
          <p:nvPr/>
        </p:nvSpPr>
        <p:spPr>
          <a:xfrm>
            <a:off x="4912268" y="5713257"/>
            <a:ext cx="10496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33</a:t>
            </a:r>
            <a:endParaRPr lang="en-US" sz="1300" dirty="0"/>
          </a:p>
        </p:txBody>
      </p:sp>
      <p:sp>
        <p:nvSpPr>
          <p:cNvPr id="139" name="Text 137"/>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40" name="Shape 138"/>
          <p:cNvSpPr/>
          <p:nvPr/>
        </p:nvSpPr>
        <p:spPr>
          <a:xfrm>
            <a:off x="8357616" y="1857717"/>
            <a:ext cx="1759183" cy="183138"/>
          </a:xfrm>
          <a:prstGeom prst="rect">
            <a:avLst/>
          </a:prstGeom>
          <a:solidFill>
            <a:srgbClr val="2587C5"/>
          </a:solidFill>
          <a:ln w="6350">
            <a:solidFill>
              <a:srgbClr val="FFFFFF"/>
            </a:solidFill>
            <a:prstDash val="solid"/>
          </a:ln>
        </p:spPr>
      </p:sp>
      <p:sp>
        <p:nvSpPr>
          <p:cNvPr id="141" name="Text 139"/>
          <p:cNvSpPr txBox="1"/>
          <p:nvPr/>
        </p:nvSpPr>
        <p:spPr>
          <a:xfrm>
            <a:off x="8357616" y="1857717"/>
            <a:ext cx="17591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56</a:t>
            </a:r>
            <a:endParaRPr lang="en-US" sz="1300" dirty="0"/>
          </a:p>
        </p:txBody>
      </p:sp>
      <p:sp>
        <p:nvSpPr>
          <p:cNvPr id="142" name="Shape 140"/>
          <p:cNvSpPr/>
          <p:nvPr/>
        </p:nvSpPr>
        <p:spPr>
          <a:xfrm>
            <a:off x="10116799" y="1857717"/>
            <a:ext cx="978643" cy="183138"/>
          </a:xfrm>
          <a:prstGeom prst="rect">
            <a:avLst/>
          </a:prstGeom>
          <a:solidFill>
            <a:srgbClr val="8FBEE6"/>
          </a:solidFill>
          <a:ln w="6350">
            <a:solidFill>
              <a:srgbClr val="FFFFFF"/>
            </a:solidFill>
            <a:prstDash val="solid"/>
          </a:ln>
        </p:spPr>
      </p:sp>
      <p:sp>
        <p:nvSpPr>
          <p:cNvPr id="143" name="Text 141"/>
          <p:cNvSpPr txBox="1"/>
          <p:nvPr/>
        </p:nvSpPr>
        <p:spPr>
          <a:xfrm>
            <a:off x="10116799" y="1857717"/>
            <a:ext cx="978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44" name="Shape 142"/>
          <p:cNvSpPr/>
          <p:nvPr/>
        </p:nvSpPr>
        <p:spPr>
          <a:xfrm>
            <a:off x="11095442" y="1857717"/>
            <a:ext cx="416854" cy="183138"/>
          </a:xfrm>
          <a:prstGeom prst="rect">
            <a:avLst/>
          </a:prstGeom>
          <a:solidFill>
            <a:srgbClr val="D9D9D9"/>
          </a:solidFill>
          <a:ln w="6350">
            <a:solidFill>
              <a:srgbClr val="FFFFFF"/>
            </a:solidFill>
            <a:prstDash val="solid"/>
          </a:ln>
        </p:spPr>
      </p:sp>
      <p:sp>
        <p:nvSpPr>
          <p:cNvPr id="145" name="Text 143"/>
          <p:cNvSpPr txBox="1"/>
          <p:nvPr/>
        </p:nvSpPr>
        <p:spPr>
          <a:xfrm>
            <a:off x="11095442" y="1857717"/>
            <a:ext cx="41685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46" name="Text 144"/>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7" name="Shape 145"/>
          <p:cNvSpPr/>
          <p:nvPr/>
        </p:nvSpPr>
        <p:spPr>
          <a:xfrm>
            <a:off x="8357616" y="2098688"/>
            <a:ext cx="1743709" cy="183138"/>
          </a:xfrm>
          <a:prstGeom prst="rect">
            <a:avLst/>
          </a:prstGeom>
          <a:solidFill>
            <a:srgbClr val="2587C5"/>
          </a:solidFill>
          <a:ln w="6350">
            <a:solidFill>
              <a:srgbClr val="FFFFFF"/>
            </a:solidFill>
            <a:prstDash val="solid"/>
          </a:ln>
        </p:spPr>
      </p:sp>
      <p:sp>
        <p:nvSpPr>
          <p:cNvPr id="148" name="Text 146"/>
          <p:cNvSpPr txBox="1"/>
          <p:nvPr/>
        </p:nvSpPr>
        <p:spPr>
          <a:xfrm>
            <a:off x="8357616" y="2098688"/>
            <a:ext cx="1743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9" name="Shape 147"/>
          <p:cNvSpPr/>
          <p:nvPr/>
        </p:nvSpPr>
        <p:spPr>
          <a:xfrm>
            <a:off x="10101325" y="2098688"/>
            <a:ext cx="638330" cy="183138"/>
          </a:xfrm>
          <a:prstGeom prst="rect">
            <a:avLst/>
          </a:prstGeom>
          <a:solidFill>
            <a:srgbClr val="8FBEE6"/>
          </a:solidFill>
          <a:ln w="6350">
            <a:solidFill>
              <a:srgbClr val="FFFFFF"/>
            </a:solidFill>
            <a:prstDash val="solid"/>
          </a:ln>
        </p:spPr>
      </p:sp>
      <p:sp>
        <p:nvSpPr>
          <p:cNvPr id="150" name="Text 148"/>
          <p:cNvSpPr txBox="1"/>
          <p:nvPr/>
        </p:nvSpPr>
        <p:spPr>
          <a:xfrm>
            <a:off x="10101325" y="2098688"/>
            <a:ext cx="63833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20</a:t>
            </a:r>
            <a:endParaRPr lang="en-US" sz="1300" dirty="0"/>
          </a:p>
        </p:txBody>
      </p:sp>
      <p:sp>
        <p:nvSpPr>
          <p:cNvPr id="151" name="Shape 149"/>
          <p:cNvSpPr/>
          <p:nvPr/>
        </p:nvSpPr>
        <p:spPr>
          <a:xfrm>
            <a:off x="10739655" y="2098688"/>
            <a:ext cx="772641" cy="183138"/>
          </a:xfrm>
          <a:prstGeom prst="rect">
            <a:avLst/>
          </a:prstGeom>
          <a:solidFill>
            <a:srgbClr val="D9D9D9"/>
          </a:solidFill>
          <a:ln w="6350">
            <a:solidFill>
              <a:srgbClr val="FFFFFF"/>
            </a:solidFill>
            <a:prstDash val="solid"/>
          </a:ln>
        </p:spPr>
      </p:sp>
      <p:sp>
        <p:nvSpPr>
          <p:cNvPr id="152" name="Text 150"/>
          <p:cNvSpPr txBox="1"/>
          <p:nvPr/>
        </p:nvSpPr>
        <p:spPr>
          <a:xfrm>
            <a:off x="10739655" y="2098688"/>
            <a:ext cx="77264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53" name="Text 151"/>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54" name="Shape 152"/>
          <p:cNvSpPr/>
          <p:nvPr/>
        </p:nvSpPr>
        <p:spPr>
          <a:xfrm>
            <a:off x="8357616" y="2339659"/>
            <a:ext cx="1719908" cy="183138"/>
          </a:xfrm>
          <a:prstGeom prst="rect">
            <a:avLst/>
          </a:prstGeom>
          <a:solidFill>
            <a:srgbClr val="2587C5"/>
          </a:solidFill>
          <a:ln w="6350">
            <a:solidFill>
              <a:srgbClr val="FFFFFF"/>
            </a:solidFill>
            <a:prstDash val="solid"/>
          </a:ln>
        </p:spPr>
      </p:sp>
      <p:sp>
        <p:nvSpPr>
          <p:cNvPr id="155" name="Text 153"/>
          <p:cNvSpPr txBox="1"/>
          <p:nvPr/>
        </p:nvSpPr>
        <p:spPr>
          <a:xfrm>
            <a:off x="8357616" y="2339659"/>
            <a:ext cx="17199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Shape 154"/>
          <p:cNvSpPr/>
          <p:nvPr/>
        </p:nvSpPr>
        <p:spPr>
          <a:xfrm>
            <a:off x="10077524" y="2339659"/>
            <a:ext cx="412555" cy="183138"/>
          </a:xfrm>
          <a:prstGeom prst="rect">
            <a:avLst/>
          </a:prstGeom>
          <a:solidFill>
            <a:srgbClr val="8FBEE6"/>
          </a:solidFill>
          <a:ln w="6350">
            <a:solidFill>
              <a:srgbClr val="FFFFFF"/>
            </a:solidFill>
            <a:prstDash val="solid"/>
          </a:ln>
        </p:spPr>
      </p:sp>
      <p:sp>
        <p:nvSpPr>
          <p:cNvPr id="157" name="Text 155"/>
          <p:cNvSpPr txBox="1"/>
          <p:nvPr/>
        </p:nvSpPr>
        <p:spPr>
          <a:xfrm>
            <a:off x="10077524" y="2339659"/>
            <a:ext cx="41255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58" name="Shape 156"/>
          <p:cNvSpPr/>
          <p:nvPr/>
        </p:nvSpPr>
        <p:spPr>
          <a:xfrm>
            <a:off x="10490079" y="2339659"/>
            <a:ext cx="1022217" cy="183138"/>
          </a:xfrm>
          <a:prstGeom prst="rect">
            <a:avLst/>
          </a:prstGeom>
          <a:solidFill>
            <a:srgbClr val="D9D9D9"/>
          </a:solidFill>
          <a:ln w="6350">
            <a:solidFill>
              <a:srgbClr val="FFFFFF"/>
            </a:solidFill>
            <a:prstDash val="solid"/>
          </a:ln>
        </p:spPr>
      </p:sp>
      <p:sp>
        <p:nvSpPr>
          <p:cNvPr id="159" name="Text 157"/>
          <p:cNvSpPr txBox="1"/>
          <p:nvPr/>
        </p:nvSpPr>
        <p:spPr>
          <a:xfrm>
            <a:off x="10490079" y="2339659"/>
            <a:ext cx="102221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160" name="Text 158"/>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61" name="Shape 159"/>
          <p:cNvSpPr/>
          <p:nvPr/>
        </p:nvSpPr>
        <p:spPr>
          <a:xfrm>
            <a:off x="8357616" y="2580630"/>
            <a:ext cx="1601041" cy="183138"/>
          </a:xfrm>
          <a:prstGeom prst="rect">
            <a:avLst/>
          </a:prstGeom>
          <a:solidFill>
            <a:srgbClr val="2587C5"/>
          </a:solidFill>
          <a:ln w="6350">
            <a:solidFill>
              <a:srgbClr val="FFFFFF"/>
            </a:solidFill>
            <a:prstDash val="solid"/>
          </a:ln>
        </p:spPr>
      </p:sp>
      <p:sp>
        <p:nvSpPr>
          <p:cNvPr id="162" name="Text 160"/>
          <p:cNvSpPr txBox="1"/>
          <p:nvPr/>
        </p:nvSpPr>
        <p:spPr>
          <a:xfrm>
            <a:off x="8357616" y="2580630"/>
            <a:ext cx="16010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63" name="Shape 161"/>
          <p:cNvSpPr/>
          <p:nvPr/>
        </p:nvSpPr>
        <p:spPr>
          <a:xfrm>
            <a:off x="9958657" y="2580630"/>
            <a:ext cx="606875" cy="183138"/>
          </a:xfrm>
          <a:prstGeom prst="rect">
            <a:avLst/>
          </a:prstGeom>
          <a:solidFill>
            <a:srgbClr val="8FBEE6"/>
          </a:solidFill>
          <a:ln w="6350">
            <a:solidFill>
              <a:srgbClr val="FFFFFF"/>
            </a:solidFill>
            <a:prstDash val="solid"/>
          </a:ln>
        </p:spPr>
      </p:sp>
      <p:sp>
        <p:nvSpPr>
          <p:cNvPr id="164" name="Text 162"/>
          <p:cNvSpPr txBox="1"/>
          <p:nvPr/>
        </p:nvSpPr>
        <p:spPr>
          <a:xfrm>
            <a:off x="9958657" y="2580630"/>
            <a:ext cx="6068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65" name="Shape 163"/>
          <p:cNvSpPr/>
          <p:nvPr/>
        </p:nvSpPr>
        <p:spPr>
          <a:xfrm>
            <a:off x="10565532" y="2580630"/>
            <a:ext cx="946764" cy="183138"/>
          </a:xfrm>
          <a:prstGeom prst="rect">
            <a:avLst/>
          </a:prstGeom>
          <a:solidFill>
            <a:srgbClr val="D9D9D9"/>
          </a:solidFill>
          <a:ln w="6350">
            <a:solidFill>
              <a:srgbClr val="FFFFFF"/>
            </a:solidFill>
            <a:prstDash val="solid"/>
          </a:ln>
        </p:spPr>
      </p:sp>
      <p:sp>
        <p:nvSpPr>
          <p:cNvPr id="166" name="Text 164"/>
          <p:cNvSpPr txBox="1"/>
          <p:nvPr/>
        </p:nvSpPr>
        <p:spPr>
          <a:xfrm>
            <a:off x="10565532" y="2580630"/>
            <a:ext cx="946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30</a:t>
            </a:r>
            <a:endParaRPr lang="en-US" sz="1300" dirty="0"/>
          </a:p>
        </p:txBody>
      </p:sp>
      <p:sp>
        <p:nvSpPr>
          <p:cNvPr id="167" name="Text 165"/>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357616" y="2821602"/>
            <a:ext cx="1536222" cy="183138"/>
          </a:xfrm>
          <a:prstGeom prst="rect">
            <a:avLst/>
          </a:prstGeom>
          <a:solidFill>
            <a:srgbClr val="2587C5"/>
          </a:solidFill>
          <a:ln w="6350">
            <a:solidFill>
              <a:srgbClr val="FFFFFF"/>
            </a:solidFill>
            <a:prstDash val="solid"/>
          </a:ln>
        </p:spPr>
      </p:sp>
      <p:sp>
        <p:nvSpPr>
          <p:cNvPr id="169" name="Text 167"/>
          <p:cNvSpPr txBox="1"/>
          <p:nvPr/>
        </p:nvSpPr>
        <p:spPr>
          <a:xfrm>
            <a:off x="8357616" y="2821602"/>
            <a:ext cx="153622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70" name="Shape 168"/>
          <p:cNvSpPr/>
          <p:nvPr/>
        </p:nvSpPr>
        <p:spPr>
          <a:xfrm>
            <a:off x="9893838" y="2821602"/>
            <a:ext cx="488153" cy="183138"/>
          </a:xfrm>
          <a:prstGeom prst="rect">
            <a:avLst/>
          </a:prstGeom>
          <a:solidFill>
            <a:srgbClr val="8FBEE6"/>
          </a:solidFill>
          <a:ln w="6350">
            <a:solidFill>
              <a:srgbClr val="FFFFFF"/>
            </a:solidFill>
            <a:prstDash val="solid"/>
          </a:ln>
        </p:spPr>
      </p:sp>
      <p:sp>
        <p:nvSpPr>
          <p:cNvPr id="171" name="Text 169"/>
          <p:cNvSpPr txBox="1"/>
          <p:nvPr/>
        </p:nvSpPr>
        <p:spPr>
          <a:xfrm>
            <a:off x="9893838" y="2821602"/>
            <a:ext cx="4881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72" name="Shape 170"/>
          <p:cNvSpPr/>
          <p:nvPr/>
        </p:nvSpPr>
        <p:spPr>
          <a:xfrm>
            <a:off x="10381990" y="2821602"/>
            <a:ext cx="1130306" cy="183138"/>
          </a:xfrm>
          <a:prstGeom prst="rect">
            <a:avLst/>
          </a:prstGeom>
          <a:solidFill>
            <a:srgbClr val="D9D9D9"/>
          </a:solidFill>
          <a:ln w="6350">
            <a:solidFill>
              <a:srgbClr val="FFFFFF"/>
            </a:solidFill>
            <a:prstDash val="solid"/>
          </a:ln>
        </p:spPr>
      </p:sp>
      <p:sp>
        <p:nvSpPr>
          <p:cNvPr id="173" name="Text 171"/>
          <p:cNvSpPr txBox="1"/>
          <p:nvPr/>
        </p:nvSpPr>
        <p:spPr>
          <a:xfrm>
            <a:off x="10381990" y="2821602"/>
            <a:ext cx="11303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174" name="Text 172"/>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5" name="Shape 173"/>
          <p:cNvSpPr/>
          <p:nvPr/>
        </p:nvSpPr>
        <p:spPr>
          <a:xfrm>
            <a:off x="8357616" y="3062573"/>
            <a:ext cx="1513638" cy="183138"/>
          </a:xfrm>
          <a:prstGeom prst="rect">
            <a:avLst/>
          </a:prstGeom>
          <a:solidFill>
            <a:srgbClr val="2587C5"/>
          </a:solidFill>
          <a:ln w="6350">
            <a:solidFill>
              <a:srgbClr val="FFFFFF"/>
            </a:solidFill>
            <a:prstDash val="solid"/>
          </a:ln>
        </p:spPr>
      </p:sp>
      <p:sp>
        <p:nvSpPr>
          <p:cNvPr id="176" name="Text 174"/>
          <p:cNvSpPr txBox="1"/>
          <p:nvPr/>
        </p:nvSpPr>
        <p:spPr>
          <a:xfrm>
            <a:off x="8357616" y="3062573"/>
            <a:ext cx="15136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77" name="Shape 175"/>
          <p:cNvSpPr/>
          <p:nvPr/>
        </p:nvSpPr>
        <p:spPr>
          <a:xfrm>
            <a:off x="9871254" y="3062573"/>
            <a:ext cx="727538" cy="183138"/>
          </a:xfrm>
          <a:prstGeom prst="rect">
            <a:avLst/>
          </a:prstGeom>
          <a:solidFill>
            <a:srgbClr val="8FBEE6"/>
          </a:solidFill>
          <a:ln w="6350">
            <a:solidFill>
              <a:srgbClr val="FFFFFF"/>
            </a:solidFill>
            <a:prstDash val="solid"/>
          </a:ln>
        </p:spPr>
      </p:sp>
      <p:sp>
        <p:nvSpPr>
          <p:cNvPr id="178" name="Text 176"/>
          <p:cNvSpPr txBox="1"/>
          <p:nvPr/>
        </p:nvSpPr>
        <p:spPr>
          <a:xfrm>
            <a:off x="9871254" y="3062573"/>
            <a:ext cx="72753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79" name="Shape 177"/>
          <p:cNvSpPr/>
          <p:nvPr/>
        </p:nvSpPr>
        <p:spPr>
          <a:xfrm>
            <a:off x="10598793" y="3062573"/>
            <a:ext cx="913503" cy="183138"/>
          </a:xfrm>
          <a:prstGeom prst="rect">
            <a:avLst/>
          </a:prstGeom>
          <a:solidFill>
            <a:srgbClr val="D9D9D9"/>
          </a:solidFill>
          <a:ln w="6350">
            <a:solidFill>
              <a:srgbClr val="FFFFFF"/>
            </a:solidFill>
            <a:prstDash val="solid"/>
          </a:ln>
        </p:spPr>
      </p:sp>
      <p:sp>
        <p:nvSpPr>
          <p:cNvPr id="180" name="Text 178"/>
          <p:cNvSpPr txBox="1"/>
          <p:nvPr/>
        </p:nvSpPr>
        <p:spPr>
          <a:xfrm>
            <a:off x="10598793" y="3062573"/>
            <a:ext cx="91350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81" name="Text 179"/>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82" name="Shape 180"/>
          <p:cNvSpPr/>
          <p:nvPr/>
        </p:nvSpPr>
        <p:spPr>
          <a:xfrm>
            <a:off x="8357616" y="3303544"/>
            <a:ext cx="1487709" cy="183138"/>
          </a:xfrm>
          <a:prstGeom prst="rect">
            <a:avLst/>
          </a:prstGeom>
          <a:solidFill>
            <a:srgbClr val="2587C5"/>
          </a:solidFill>
          <a:ln w="6350">
            <a:solidFill>
              <a:srgbClr val="FFFFFF"/>
            </a:solidFill>
            <a:prstDash val="solid"/>
          </a:ln>
        </p:spPr>
      </p:sp>
      <p:sp>
        <p:nvSpPr>
          <p:cNvPr id="183" name="Text 181"/>
          <p:cNvSpPr txBox="1"/>
          <p:nvPr/>
        </p:nvSpPr>
        <p:spPr>
          <a:xfrm>
            <a:off x="8357616" y="3303544"/>
            <a:ext cx="1487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4" name="Shape 182"/>
          <p:cNvSpPr/>
          <p:nvPr/>
        </p:nvSpPr>
        <p:spPr>
          <a:xfrm>
            <a:off x="9845325" y="3303544"/>
            <a:ext cx="1263575" cy="183138"/>
          </a:xfrm>
          <a:prstGeom prst="rect">
            <a:avLst/>
          </a:prstGeom>
          <a:solidFill>
            <a:srgbClr val="8FBEE6"/>
          </a:solidFill>
          <a:ln w="6350">
            <a:solidFill>
              <a:srgbClr val="FFFFFF"/>
            </a:solidFill>
            <a:prstDash val="solid"/>
          </a:ln>
        </p:spPr>
      </p:sp>
      <p:sp>
        <p:nvSpPr>
          <p:cNvPr id="185" name="Text 183"/>
          <p:cNvSpPr txBox="1"/>
          <p:nvPr/>
        </p:nvSpPr>
        <p:spPr>
          <a:xfrm>
            <a:off x="9845325" y="3303544"/>
            <a:ext cx="12635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186" name="Shape 184"/>
          <p:cNvSpPr/>
          <p:nvPr/>
        </p:nvSpPr>
        <p:spPr>
          <a:xfrm>
            <a:off x="11108900" y="3303544"/>
            <a:ext cx="403396" cy="183138"/>
          </a:xfrm>
          <a:prstGeom prst="rect">
            <a:avLst/>
          </a:prstGeom>
          <a:solidFill>
            <a:srgbClr val="D9D9D9"/>
          </a:solidFill>
          <a:ln w="6350">
            <a:solidFill>
              <a:srgbClr val="FFFFFF"/>
            </a:solidFill>
            <a:prstDash val="solid"/>
          </a:ln>
        </p:spPr>
      </p:sp>
      <p:sp>
        <p:nvSpPr>
          <p:cNvPr id="187" name="Text 185"/>
          <p:cNvSpPr txBox="1"/>
          <p:nvPr/>
        </p:nvSpPr>
        <p:spPr>
          <a:xfrm>
            <a:off x="11108900" y="3303544"/>
            <a:ext cx="4033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88" name="Text 186"/>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9" name="Shape 187"/>
          <p:cNvSpPr/>
          <p:nvPr/>
        </p:nvSpPr>
        <p:spPr>
          <a:xfrm>
            <a:off x="8357616" y="3544516"/>
            <a:ext cx="1483116" cy="183138"/>
          </a:xfrm>
          <a:prstGeom prst="rect">
            <a:avLst/>
          </a:prstGeom>
          <a:solidFill>
            <a:srgbClr val="2587C5"/>
          </a:solidFill>
          <a:ln w="6350">
            <a:solidFill>
              <a:srgbClr val="FFFFFF"/>
            </a:solidFill>
            <a:prstDash val="solid"/>
          </a:ln>
        </p:spPr>
      </p:sp>
      <p:sp>
        <p:nvSpPr>
          <p:cNvPr id="190" name="Text 188"/>
          <p:cNvSpPr txBox="1"/>
          <p:nvPr/>
        </p:nvSpPr>
        <p:spPr>
          <a:xfrm>
            <a:off x="8357616" y="3544516"/>
            <a:ext cx="14831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91" name="Shape 189"/>
          <p:cNvSpPr/>
          <p:nvPr/>
        </p:nvSpPr>
        <p:spPr>
          <a:xfrm>
            <a:off x="9840732" y="3544516"/>
            <a:ext cx="885736" cy="183138"/>
          </a:xfrm>
          <a:prstGeom prst="rect">
            <a:avLst/>
          </a:prstGeom>
          <a:solidFill>
            <a:srgbClr val="8FBEE6"/>
          </a:solidFill>
          <a:ln w="6350">
            <a:solidFill>
              <a:srgbClr val="FFFFFF"/>
            </a:solidFill>
            <a:prstDash val="solid"/>
          </a:ln>
        </p:spPr>
      </p:sp>
      <p:sp>
        <p:nvSpPr>
          <p:cNvPr id="192" name="Text 190"/>
          <p:cNvSpPr txBox="1"/>
          <p:nvPr/>
        </p:nvSpPr>
        <p:spPr>
          <a:xfrm>
            <a:off x="9840732" y="3544516"/>
            <a:ext cx="8857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93" name="Shape 191"/>
          <p:cNvSpPr/>
          <p:nvPr/>
        </p:nvSpPr>
        <p:spPr>
          <a:xfrm>
            <a:off x="10726468" y="3544516"/>
            <a:ext cx="785828" cy="183138"/>
          </a:xfrm>
          <a:prstGeom prst="rect">
            <a:avLst/>
          </a:prstGeom>
          <a:solidFill>
            <a:srgbClr val="D9D9D9"/>
          </a:solidFill>
          <a:ln w="6350">
            <a:solidFill>
              <a:srgbClr val="FFFFFF"/>
            </a:solidFill>
            <a:prstDash val="solid"/>
          </a:ln>
        </p:spPr>
      </p:sp>
      <p:sp>
        <p:nvSpPr>
          <p:cNvPr id="194" name="Text 192"/>
          <p:cNvSpPr txBox="1"/>
          <p:nvPr/>
        </p:nvSpPr>
        <p:spPr>
          <a:xfrm>
            <a:off x="10726468" y="3544516"/>
            <a:ext cx="78582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195" name="Text 193"/>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6" name="Shape 194"/>
          <p:cNvSpPr/>
          <p:nvPr/>
        </p:nvSpPr>
        <p:spPr>
          <a:xfrm>
            <a:off x="8357616" y="3785487"/>
            <a:ext cx="1429900" cy="183138"/>
          </a:xfrm>
          <a:prstGeom prst="rect">
            <a:avLst/>
          </a:prstGeom>
          <a:solidFill>
            <a:srgbClr val="2587C5"/>
          </a:solidFill>
          <a:ln w="6350">
            <a:solidFill>
              <a:srgbClr val="FFFFFF"/>
            </a:solidFill>
            <a:prstDash val="solid"/>
          </a:ln>
        </p:spPr>
      </p:sp>
      <p:sp>
        <p:nvSpPr>
          <p:cNvPr id="197" name="Text 195"/>
          <p:cNvSpPr txBox="1"/>
          <p:nvPr/>
        </p:nvSpPr>
        <p:spPr>
          <a:xfrm>
            <a:off x="8357616" y="3785487"/>
            <a:ext cx="14299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98" name="Shape 196"/>
          <p:cNvSpPr/>
          <p:nvPr/>
        </p:nvSpPr>
        <p:spPr>
          <a:xfrm>
            <a:off x="9787516" y="3785487"/>
            <a:ext cx="450296" cy="183138"/>
          </a:xfrm>
          <a:prstGeom prst="rect">
            <a:avLst/>
          </a:prstGeom>
          <a:solidFill>
            <a:srgbClr val="8FBEE6"/>
          </a:solidFill>
          <a:ln w="6350">
            <a:solidFill>
              <a:srgbClr val="FFFFFF"/>
            </a:solidFill>
            <a:prstDash val="solid"/>
          </a:ln>
        </p:spPr>
      </p:sp>
      <p:sp>
        <p:nvSpPr>
          <p:cNvPr id="199" name="Text 197"/>
          <p:cNvSpPr txBox="1"/>
          <p:nvPr/>
        </p:nvSpPr>
        <p:spPr>
          <a:xfrm>
            <a:off x="9787516" y="3785487"/>
            <a:ext cx="4502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00" name="Shape 198"/>
          <p:cNvSpPr/>
          <p:nvPr/>
        </p:nvSpPr>
        <p:spPr>
          <a:xfrm>
            <a:off x="10237812" y="3785487"/>
            <a:ext cx="1274484" cy="183138"/>
          </a:xfrm>
          <a:prstGeom prst="rect">
            <a:avLst/>
          </a:prstGeom>
          <a:solidFill>
            <a:srgbClr val="D9D9D9"/>
          </a:solidFill>
          <a:ln w="6350">
            <a:solidFill>
              <a:srgbClr val="FFFFFF"/>
            </a:solidFill>
            <a:prstDash val="solid"/>
          </a:ln>
        </p:spPr>
      </p:sp>
      <p:sp>
        <p:nvSpPr>
          <p:cNvPr id="201" name="Text 199"/>
          <p:cNvSpPr txBox="1"/>
          <p:nvPr/>
        </p:nvSpPr>
        <p:spPr>
          <a:xfrm>
            <a:off x="10237812" y="3785487"/>
            <a:ext cx="12744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202" name="Text 200"/>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03" name="Shape 201"/>
          <p:cNvSpPr/>
          <p:nvPr/>
        </p:nvSpPr>
        <p:spPr>
          <a:xfrm>
            <a:off x="8357616" y="4026458"/>
            <a:ext cx="1407663" cy="183138"/>
          </a:xfrm>
          <a:prstGeom prst="rect">
            <a:avLst/>
          </a:prstGeom>
          <a:solidFill>
            <a:srgbClr val="2587C5"/>
          </a:solidFill>
          <a:ln w="6350">
            <a:solidFill>
              <a:srgbClr val="FFFFFF"/>
            </a:solidFill>
            <a:prstDash val="solid"/>
          </a:ln>
        </p:spPr>
      </p:sp>
      <p:sp>
        <p:nvSpPr>
          <p:cNvPr id="204" name="Text 202"/>
          <p:cNvSpPr txBox="1"/>
          <p:nvPr/>
        </p:nvSpPr>
        <p:spPr>
          <a:xfrm>
            <a:off x="8357616" y="4026458"/>
            <a:ext cx="14076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205" name="Shape 203"/>
          <p:cNvSpPr/>
          <p:nvPr/>
        </p:nvSpPr>
        <p:spPr>
          <a:xfrm>
            <a:off x="9765279" y="4026458"/>
            <a:ext cx="1184133" cy="183138"/>
          </a:xfrm>
          <a:prstGeom prst="rect">
            <a:avLst/>
          </a:prstGeom>
          <a:solidFill>
            <a:srgbClr val="8FBEE6"/>
          </a:solidFill>
          <a:ln w="6350">
            <a:solidFill>
              <a:srgbClr val="FFFFFF"/>
            </a:solidFill>
            <a:prstDash val="solid"/>
          </a:ln>
        </p:spPr>
      </p:sp>
      <p:sp>
        <p:nvSpPr>
          <p:cNvPr id="206" name="Text 204"/>
          <p:cNvSpPr txBox="1"/>
          <p:nvPr/>
        </p:nvSpPr>
        <p:spPr>
          <a:xfrm>
            <a:off x="9765279" y="4026458"/>
            <a:ext cx="11841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07" name="Shape 205"/>
          <p:cNvSpPr/>
          <p:nvPr/>
        </p:nvSpPr>
        <p:spPr>
          <a:xfrm>
            <a:off x="10949412" y="4026458"/>
            <a:ext cx="562884" cy="183138"/>
          </a:xfrm>
          <a:prstGeom prst="rect">
            <a:avLst/>
          </a:prstGeom>
          <a:solidFill>
            <a:srgbClr val="D9D9D9"/>
          </a:solidFill>
          <a:ln w="6350">
            <a:solidFill>
              <a:srgbClr val="FFFFFF"/>
            </a:solidFill>
            <a:prstDash val="solid"/>
          </a:ln>
        </p:spPr>
      </p:sp>
      <p:sp>
        <p:nvSpPr>
          <p:cNvPr id="208" name="Text 206"/>
          <p:cNvSpPr txBox="1"/>
          <p:nvPr/>
        </p:nvSpPr>
        <p:spPr>
          <a:xfrm>
            <a:off x="10949412" y="4026458"/>
            <a:ext cx="5628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209" name="Text 207"/>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0" name="Shape 208"/>
          <p:cNvSpPr/>
          <p:nvPr/>
        </p:nvSpPr>
        <p:spPr>
          <a:xfrm>
            <a:off x="8357616" y="4267429"/>
            <a:ext cx="1272315" cy="183138"/>
          </a:xfrm>
          <a:prstGeom prst="rect">
            <a:avLst/>
          </a:prstGeom>
          <a:solidFill>
            <a:srgbClr val="2587C5"/>
          </a:solidFill>
          <a:ln w="6350">
            <a:solidFill>
              <a:srgbClr val="FFFFFF"/>
            </a:solidFill>
            <a:prstDash val="solid"/>
          </a:ln>
        </p:spPr>
      </p:sp>
      <p:sp>
        <p:nvSpPr>
          <p:cNvPr id="211" name="Text 209"/>
          <p:cNvSpPr txBox="1"/>
          <p:nvPr/>
        </p:nvSpPr>
        <p:spPr>
          <a:xfrm>
            <a:off x="8357616" y="4267429"/>
            <a:ext cx="12723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2" name="Shape 210"/>
          <p:cNvSpPr/>
          <p:nvPr/>
        </p:nvSpPr>
        <p:spPr>
          <a:xfrm>
            <a:off x="9629931" y="4267429"/>
            <a:ext cx="1101342" cy="183138"/>
          </a:xfrm>
          <a:prstGeom prst="rect">
            <a:avLst/>
          </a:prstGeom>
          <a:solidFill>
            <a:srgbClr val="8FBEE6"/>
          </a:solidFill>
          <a:ln w="6350">
            <a:solidFill>
              <a:srgbClr val="FFFFFF"/>
            </a:solidFill>
            <a:prstDash val="solid"/>
          </a:ln>
        </p:spPr>
      </p:sp>
      <p:sp>
        <p:nvSpPr>
          <p:cNvPr id="213" name="Text 211"/>
          <p:cNvSpPr txBox="1"/>
          <p:nvPr/>
        </p:nvSpPr>
        <p:spPr>
          <a:xfrm>
            <a:off x="9629931" y="4267429"/>
            <a:ext cx="11013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35</a:t>
            </a:r>
            <a:endParaRPr lang="en-US" sz="1300" dirty="0"/>
          </a:p>
        </p:txBody>
      </p:sp>
      <p:sp>
        <p:nvSpPr>
          <p:cNvPr id="214" name="Shape 212"/>
          <p:cNvSpPr/>
          <p:nvPr/>
        </p:nvSpPr>
        <p:spPr>
          <a:xfrm>
            <a:off x="10731273" y="4267429"/>
            <a:ext cx="781023" cy="183138"/>
          </a:xfrm>
          <a:prstGeom prst="rect">
            <a:avLst/>
          </a:prstGeom>
          <a:solidFill>
            <a:srgbClr val="D9D9D9"/>
          </a:solidFill>
          <a:ln w="6350">
            <a:solidFill>
              <a:srgbClr val="FFFFFF"/>
            </a:solidFill>
            <a:prstDash val="solid"/>
          </a:ln>
        </p:spPr>
      </p:sp>
      <p:sp>
        <p:nvSpPr>
          <p:cNvPr id="215" name="Text 213"/>
          <p:cNvSpPr txBox="1"/>
          <p:nvPr/>
        </p:nvSpPr>
        <p:spPr>
          <a:xfrm>
            <a:off x="10731273" y="4267429"/>
            <a:ext cx="78102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216" name="Text 214"/>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7" name="Shape 215"/>
          <p:cNvSpPr/>
          <p:nvPr/>
        </p:nvSpPr>
        <p:spPr>
          <a:xfrm>
            <a:off x="8357616" y="4508401"/>
            <a:ext cx="1260841" cy="183138"/>
          </a:xfrm>
          <a:prstGeom prst="rect">
            <a:avLst/>
          </a:prstGeom>
          <a:solidFill>
            <a:srgbClr val="2587C5"/>
          </a:solidFill>
          <a:ln w="6350">
            <a:solidFill>
              <a:srgbClr val="FFFFFF"/>
            </a:solidFill>
            <a:prstDash val="solid"/>
          </a:ln>
        </p:spPr>
      </p:sp>
      <p:sp>
        <p:nvSpPr>
          <p:cNvPr id="218" name="Text 216"/>
          <p:cNvSpPr txBox="1"/>
          <p:nvPr/>
        </p:nvSpPr>
        <p:spPr>
          <a:xfrm>
            <a:off x="8357616" y="4508401"/>
            <a:ext cx="1260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9" name="Shape 217"/>
          <p:cNvSpPr/>
          <p:nvPr/>
        </p:nvSpPr>
        <p:spPr>
          <a:xfrm>
            <a:off x="9618457" y="4508401"/>
            <a:ext cx="1210006" cy="183138"/>
          </a:xfrm>
          <a:prstGeom prst="rect">
            <a:avLst/>
          </a:prstGeom>
          <a:solidFill>
            <a:srgbClr val="8FBEE6"/>
          </a:solidFill>
          <a:ln w="6350">
            <a:solidFill>
              <a:srgbClr val="FFFFFF"/>
            </a:solidFill>
            <a:prstDash val="solid"/>
          </a:ln>
        </p:spPr>
      </p:sp>
      <p:sp>
        <p:nvSpPr>
          <p:cNvPr id="220" name="Text 218"/>
          <p:cNvSpPr txBox="1"/>
          <p:nvPr/>
        </p:nvSpPr>
        <p:spPr>
          <a:xfrm>
            <a:off x="9618457" y="4508401"/>
            <a:ext cx="12100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21" name="Shape 219"/>
          <p:cNvSpPr/>
          <p:nvPr/>
        </p:nvSpPr>
        <p:spPr>
          <a:xfrm>
            <a:off x="10828463" y="4508401"/>
            <a:ext cx="683833" cy="183138"/>
          </a:xfrm>
          <a:prstGeom prst="rect">
            <a:avLst/>
          </a:prstGeom>
          <a:solidFill>
            <a:srgbClr val="D9D9D9"/>
          </a:solidFill>
          <a:ln w="6350">
            <a:solidFill>
              <a:srgbClr val="FFFFFF"/>
            </a:solidFill>
            <a:prstDash val="solid"/>
          </a:ln>
        </p:spPr>
      </p:sp>
      <p:sp>
        <p:nvSpPr>
          <p:cNvPr id="222" name="Text 220"/>
          <p:cNvSpPr txBox="1"/>
          <p:nvPr/>
        </p:nvSpPr>
        <p:spPr>
          <a:xfrm>
            <a:off x="10828463" y="4508401"/>
            <a:ext cx="6838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23" name="Text 221"/>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24" name="Shape 222"/>
          <p:cNvSpPr/>
          <p:nvPr/>
        </p:nvSpPr>
        <p:spPr>
          <a:xfrm>
            <a:off x="8357616" y="4749372"/>
            <a:ext cx="1237324" cy="183138"/>
          </a:xfrm>
          <a:prstGeom prst="rect">
            <a:avLst/>
          </a:prstGeom>
          <a:solidFill>
            <a:srgbClr val="2587C5"/>
          </a:solidFill>
          <a:ln w="6350">
            <a:solidFill>
              <a:srgbClr val="FFFFFF"/>
            </a:solidFill>
            <a:prstDash val="solid"/>
          </a:ln>
        </p:spPr>
      </p:sp>
      <p:sp>
        <p:nvSpPr>
          <p:cNvPr id="225" name="Text 223"/>
          <p:cNvSpPr txBox="1"/>
          <p:nvPr/>
        </p:nvSpPr>
        <p:spPr>
          <a:xfrm>
            <a:off x="8357616" y="4749372"/>
            <a:ext cx="12373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226" name="Shape 224"/>
          <p:cNvSpPr/>
          <p:nvPr/>
        </p:nvSpPr>
        <p:spPr>
          <a:xfrm>
            <a:off x="9594940" y="4749372"/>
            <a:ext cx="995080" cy="183138"/>
          </a:xfrm>
          <a:prstGeom prst="rect">
            <a:avLst/>
          </a:prstGeom>
          <a:solidFill>
            <a:srgbClr val="8FBEE6"/>
          </a:solidFill>
          <a:ln w="6350">
            <a:solidFill>
              <a:srgbClr val="FFFFFF"/>
            </a:solidFill>
            <a:prstDash val="solid"/>
          </a:ln>
        </p:spPr>
      </p:sp>
      <p:sp>
        <p:nvSpPr>
          <p:cNvPr id="227" name="Text 225"/>
          <p:cNvSpPr txBox="1"/>
          <p:nvPr/>
        </p:nvSpPr>
        <p:spPr>
          <a:xfrm>
            <a:off x="9594940" y="4749372"/>
            <a:ext cx="9950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228" name="Shape 226"/>
          <p:cNvSpPr/>
          <p:nvPr/>
        </p:nvSpPr>
        <p:spPr>
          <a:xfrm>
            <a:off x="10590020" y="4749372"/>
            <a:ext cx="922276" cy="183138"/>
          </a:xfrm>
          <a:prstGeom prst="rect">
            <a:avLst/>
          </a:prstGeom>
          <a:solidFill>
            <a:srgbClr val="D9D9D9"/>
          </a:solidFill>
          <a:ln w="6350">
            <a:solidFill>
              <a:srgbClr val="FFFFFF"/>
            </a:solidFill>
            <a:prstDash val="solid"/>
          </a:ln>
        </p:spPr>
      </p:sp>
      <p:sp>
        <p:nvSpPr>
          <p:cNvPr id="229" name="Text 227"/>
          <p:cNvSpPr txBox="1"/>
          <p:nvPr/>
        </p:nvSpPr>
        <p:spPr>
          <a:xfrm>
            <a:off x="10590020" y="4749372"/>
            <a:ext cx="9222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30" name="Text 228"/>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1" name="Shape 229"/>
          <p:cNvSpPr/>
          <p:nvPr/>
        </p:nvSpPr>
        <p:spPr>
          <a:xfrm>
            <a:off x="8357616" y="4990343"/>
            <a:ext cx="1075368" cy="183138"/>
          </a:xfrm>
          <a:prstGeom prst="rect">
            <a:avLst/>
          </a:prstGeom>
          <a:solidFill>
            <a:srgbClr val="2587C5"/>
          </a:solidFill>
          <a:ln w="6350">
            <a:solidFill>
              <a:srgbClr val="FFFFFF"/>
            </a:solidFill>
            <a:prstDash val="solid"/>
          </a:ln>
        </p:spPr>
      </p:sp>
      <p:sp>
        <p:nvSpPr>
          <p:cNvPr id="232" name="Text 230"/>
          <p:cNvSpPr txBox="1"/>
          <p:nvPr/>
        </p:nvSpPr>
        <p:spPr>
          <a:xfrm>
            <a:off x="8357616" y="4990343"/>
            <a:ext cx="10753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33" name="Shape 231"/>
          <p:cNvSpPr/>
          <p:nvPr/>
        </p:nvSpPr>
        <p:spPr>
          <a:xfrm>
            <a:off x="9432984" y="4990343"/>
            <a:ext cx="1647182" cy="183138"/>
          </a:xfrm>
          <a:prstGeom prst="rect">
            <a:avLst/>
          </a:prstGeom>
          <a:solidFill>
            <a:srgbClr val="8FBEE6"/>
          </a:solidFill>
          <a:ln w="6350">
            <a:solidFill>
              <a:srgbClr val="FFFFFF"/>
            </a:solidFill>
            <a:prstDash val="solid"/>
          </a:ln>
        </p:spPr>
      </p:sp>
      <p:sp>
        <p:nvSpPr>
          <p:cNvPr id="234" name="Text 232"/>
          <p:cNvSpPr txBox="1"/>
          <p:nvPr/>
        </p:nvSpPr>
        <p:spPr>
          <a:xfrm>
            <a:off x="9432984" y="4990343"/>
            <a:ext cx="164718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35" name="Shape 233"/>
          <p:cNvSpPr/>
          <p:nvPr/>
        </p:nvSpPr>
        <p:spPr>
          <a:xfrm>
            <a:off x="11080165" y="4990343"/>
            <a:ext cx="432131" cy="183138"/>
          </a:xfrm>
          <a:prstGeom prst="rect">
            <a:avLst/>
          </a:prstGeom>
          <a:solidFill>
            <a:srgbClr val="D9D9D9"/>
          </a:solidFill>
          <a:ln w="6350">
            <a:solidFill>
              <a:srgbClr val="FFFFFF"/>
            </a:solidFill>
            <a:prstDash val="solid"/>
          </a:ln>
        </p:spPr>
      </p:sp>
      <p:sp>
        <p:nvSpPr>
          <p:cNvPr id="236" name="Text 234"/>
          <p:cNvSpPr txBox="1"/>
          <p:nvPr/>
        </p:nvSpPr>
        <p:spPr>
          <a:xfrm>
            <a:off x="11080165" y="4990343"/>
            <a:ext cx="4321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37" name="Text 235"/>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38" name="Shape 236"/>
          <p:cNvSpPr/>
          <p:nvPr/>
        </p:nvSpPr>
        <p:spPr>
          <a:xfrm>
            <a:off x="8357616" y="5231315"/>
            <a:ext cx="898846" cy="183138"/>
          </a:xfrm>
          <a:prstGeom prst="rect">
            <a:avLst/>
          </a:prstGeom>
          <a:solidFill>
            <a:srgbClr val="2587C5"/>
          </a:solidFill>
          <a:ln w="6350">
            <a:solidFill>
              <a:srgbClr val="FFFFFF"/>
            </a:solidFill>
            <a:prstDash val="solid"/>
          </a:ln>
        </p:spPr>
      </p:sp>
      <p:sp>
        <p:nvSpPr>
          <p:cNvPr id="239" name="Text 237"/>
          <p:cNvSpPr txBox="1"/>
          <p:nvPr/>
        </p:nvSpPr>
        <p:spPr>
          <a:xfrm>
            <a:off x="8357616" y="5231315"/>
            <a:ext cx="89884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0" name="Shape 238"/>
          <p:cNvSpPr/>
          <p:nvPr/>
        </p:nvSpPr>
        <p:spPr>
          <a:xfrm>
            <a:off x="9256462" y="5231315"/>
            <a:ext cx="1126586" cy="183138"/>
          </a:xfrm>
          <a:prstGeom prst="rect">
            <a:avLst/>
          </a:prstGeom>
          <a:solidFill>
            <a:srgbClr val="8FBEE6"/>
          </a:solidFill>
          <a:ln w="6350">
            <a:solidFill>
              <a:srgbClr val="FFFFFF"/>
            </a:solidFill>
            <a:prstDash val="solid"/>
          </a:ln>
        </p:spPr>
      </p:sp>
      <p:sp>
        <p:nvSpPr>
          <p:cNvPr id="241" name="Text 239"/>
          <p:cNvSpPr txBox="1"/>
          <p:nvPr/>
        </p:nvSpPr>
        <p:spPr>
          <a:xfrm>
            <a:off x="9256462" y="5231315"/>
            <a:ext cx="11265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2" name="Shape 240"/>
          <p:cNvSpPr/>
          <p:nvPr/>
        </p:nvSpPr>
        <p:spPr>
          <a:xfrm>
            <a:off x="10383048" y="5231315"/>
            <a:ext cx="1129248" cy="183138"/>
          </a:xfrm>
          <a:prstGeom prst="rect">
            <a:avLst/>
          </a:prstGeom>
          <a:solidFill>
            <a:srgbClr val="D9D9D9"/>
          </a:solidFill>
          <a:ln w="6350">
            <a:solidFill>
              <a:srgbClr val="FFFFFF"/>
            </a:solidFill>
            <a:prstDash val="solid"/>
          </a:ln>
        </p:spPr>
      </p:sp>
      <p:sp>
        <p:nvSpPr>
          <p:cNvPr id="243" name="Text 241"/>
          <p:cNvSpPr txBox="1"/>
          <p:nvPr/>
        </p:nvSpPr>
        <p:spPr>
          <a:xfrm>
            <a:off x="10383048" y="5231315"/>
            <a:ext cx="112924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4" name="Text 242"/>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45" name="Shape 243"/>
          <p:cNvSpPr/>
          <p:nvPr/>
        </p:nvSpPr>
        <p:spPr>
          <a:xfrm>
            <a:off x="8357616" y="5472286"/>
            <a:ext cx="880673" cy="183138"/>
          </a:xfrm>
          <a:prstGeom prst="rect">
            <a:avLst/>
          </a:prstGeom>
          <a:solidFill>
            <a:srgbClr val="2587C5"/>
          </a:solidFill>
          <a:ln w="6350">
            <a:solidFill>
              <a:srgbClr val="FFFFFF"/>
            </a:solidFill>
            <a:prstDash val="solid"/>
          </a:ln>
        </p:spPr>
      </p:sp>
      <p:sp>
        <p:nvSpPr>
          <p:cNvPr id="246" name="Text 244"/>
          <p:cNvSpPr txBox="1"/>
          <p:nvPr/>
        </p:nvSpPr>
        <p:spPr>
          <a:xfrm>
            <a:off x="8357616" y="5472286"/>
            <a:ext cx="8806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7" name="Shape 245"/>
          <p:cNvSpPr/>
          <p:nvPr/>
        </p:nvSpPr>
        <p:spPr>
          <a:xfrm>
            <a:off x="9238289" y="5472286"/>
            <a:ext cx="1619914" cy="183138"/>
          </a:xfrm>
          <a:prstGeom prst="rect">
            <a:avLst/>
          </a:prstGeom>
          <a:solidFill>
            <a:srgbClr val="8FBEE6"/>
          </a:solidFill>
          <a:ln w="6350">
            <a:solidFill>
              <a:srgbClr val="FFFFFF"/>
            </a:solidFill>
            <a:prstDash val="solid"/>
          </a:ln>
        </p:spPr>
      </p:sp>
      <p:sp>
        <p:nvSpPr>
          <p:cNvPr id="248" name="Text 246"/>
          <p:cNvSpPr txBox="1"/>
          <p:nvPr/>
        </p:nvSpPr>
        <p:spPr>
          <a:xfrm>
            <a:off x="9238289" y="5472286"/>
            <a:ext cx="161991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51</a:t>
            </a:r>
            <a:endParaRPr lang="en-US" sz="1300" dirty="0"/>
          </a:p>
        </p:txBody>
      </p:sp>
      <p:sp>
        <p:nvSpPr>
          <p:cNvPr id="249" name="Shape 247"/>
          <p:cNvSpPr/>
          <p:nvPr/>
        </p:nvSpPr>
        <p:spPr>
          <a:xfrm>
            <a:off x="10858202" y="5472286"/>
            <a:ext cx="654094" cy="183138"/>
          </a:xfrm>
          <a:prstGeom prst="rect">
            <a:avLst/>
          </a:prstGeom>
          <a:solidFill>
            <a:srgbClr val="D9D9D9"/>
          </a:solidFill>
          <a:ln w="6350">
            <a:solidFill>
              <a:srgbClr val="FFFFFF"/>
            </a:solidFill>
            <a:prstDash val="solid"/>
          </a:ln>
        </p:spPr>
      </p:sp>
      <p:sp>
        <p:nvSpPr>
          <p:cNvPr id="250" name="Text 248"/>
          <p:cNvSpPr txBox="1"/>
          <p:nvPr/>
        </p:nvSpPr>
        <p:spPr>
          <a:xfrm>
            <a:off x="10858202" y="5472286"/>
            <a:ext cx="65409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251" name="Shape 249"/>
          <p:cNvSpPr/>
          <p:nvPr/>
        </p:nvSpPr>
        <p:spPr>
          <a:xfrm>
            <a:off x="457200" y="6126480"/>
            <a:ext cx="11274552" cy="615696"/>
          </a:xfrm>
          <a:prstGeom prst="rect">
            <a:avLst/>
          </a:prstGeom>
          <a:solidFill>
            <a:srgbClr val="EDF4FA"/>
          </a:solidFill>
          <a:ln/>
        </p:spPr>
      </p:sp>
      <p:sp>
        <p:nvSpPr>
          <p:cNvPr id="252" name="Text 2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Customer pay is 52.5% of labor sale (52.8% in 2025), warranty 23.8%, internal 23.7%. Honda Spokane is most customer-pay at 70.3%.</a:t>
            </a:r>
            <a:endParaRPr lang="en-US" sz="1600" dirty="0"/>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Share of Labor Sale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52.8%</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Share of Labor Sale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56616"/>
          </a:xfrm>
          <a:prstGeom prst="rect">
            <a:avLst/>
          </a:prstGeom>
          <a:solidFill>
            <a:srgbClr val="FBEBEA"/>
          </a:solidFill>
          <a:ln/>
        </p:spPr>
      </p:sp>
      <p:sp>
        <p:nvSpPr>
          <p:cNvPr id="30"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A82B26"/>
                </a:solidFill>
                <a:latin typeface="Inter" pitchFamily="34" charset="0"/>
                <a:ea typeface="Inter" pitchFamily="34" charset="-122"/>
                <a:cs typeface="Inter" pitchFamily="34" charset="-120"/>
              </a:rPr>
              <a:t>Down 0.3 pts to 52.5%, behind 2025 in five of nine months. Warranty labor rose 8.8%, internal rose 5.8%.</a:t>
            </a:r>
            <a:endParaRPr lang="en-US" sz="1500" dirty="0"/>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Share of Labor Sale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9166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SHARE OF LABOR SALE</a:t>
            </a:r>
            <a:endParaRPr lang="en-US" sz="1500" dirty="0"/>
          </a:p>
        </p:txBody>
      </p:sp>
      <p:sp>
        <p:nvSpPr>
          <p:cNvPr id="9" name="Text 7"/>
          <p:cNvSpPr txBox="1"/>
          <p:nvPr/>
        </p:nvSpPr>
        <p:spPr>
          <a:xfrm>
            <a:off x="4831080" y="1335024"/>
            <a:ext cx="32156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 name="Shape 15"/>
          <p:cNvSpPr/>
          <p:nvPr/>
        </p:nvSpPr>
        <p:spPr>
          <a:xfrm>
            <a:off x="3785616" y="2151755"/>
            <a:ext cx="70182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1" name="Shape 19"/>
          <p:cNvSpPr/>
          <p:nvPr/>
        </p:nvSpPr>
        <p:spPr>
          <a:xfrm>
            <a:off x="3785616" y="2391651"/>
            <a:ext cx="68745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6677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64275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5795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7" name="Shape 35"/>
          <p:cNvSpPr/>
          <p:nvPr/>
        </p:nvSpPr>
        <p:spPr>
          <a:xfrm>
            <a:off x="3785616" y="3351233"/>
            <a:ext cx="38589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785616" y="3591128"/>
            <a:ext cx="31168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05606"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785616" y="4070920"/>
            <a:ext cx="28414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23156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785616" y="4550711"/>
            <a:ext cx="18196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1" name="Shape 59"/>
          <p:cNvSpPr/>
          <p:nvPr/>
        </p:nvSpPr>
        <p:spPr>
          <a:xfrm>
            <a:off x="3785616" y="4790606"/>
            <a:ext cx="17535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785616" y="5030502"/>
            <a:ext cx="9208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9" name="Shape 67"/>
          <p:cNvSpPr/>
          <p:nvPr/>
        </p:nvSpPr>
        <p:spPr>
          <a:xfrm>
            <a:off x="3785616" y="5270397"/>
            <a:ext cx="740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5436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3785616" y="5750188"/>
            <a:ext cx="16625"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9331272" y="2391651"/>
            <a:ext cx="12802"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18561" y="2631546"/>
            <a:ext cx="17463"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12447" y="2871442"/>
            <a:ext cx="2357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9255154" y="3111337"/>
            <a:ext cx="8087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9239288" y="3351233"/>
            <a:ext cx="96736"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34185" y="3591128"/>
            <a:ext cx="101839"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169807" y="3831024"/>
            <a:ext cx="16621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9092399" y="4070920"/>
            <a:ext cx="24362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1" name="Shape 119"/>
          <p:cNvSpPr/>
          <p:nvPr/>
        </p:nvSpPr>
        <p:spPr>
          <a:xfrm>
            <a:off x="9057340" y="4310815"/>
            <a:ext cx="27868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9043690" y="4550711"/>
            <a:ext cx="29233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9" name="Shape 127"/>
          <p:cNvSpPr/>
          <p:nvPr/>
        </p:nvSpPr>
        <p:spPr>
          <a:xfrm>
            <a:off x="8923753" y="4790606"/>
            <a:ext cx="41227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3" name="Shape 131"/>
          <p:cNvSpPr/>
          <p:nvPr/>
        </p:nvSpPr>
        <p:spPr>
          <a:xfrm>
            <a:off x="8868856" y="5030502"/>
            <a:ext cx="467168"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843092" y="5270397"/>
            <a:ext cx="49293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752645" y="5510293"/>
            <a:ext cx="583379"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 of 33 stores raised customer-pay share, led by Mazda at +10.8 pts to 56.6%. 14 declined; LR Reno fell most at −8.1 pts.</a:t>
            </a:r>
            <a:endParaRPr lang="en-US" sz="1600" dirty="0"/>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Share of Labor Sale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56.6%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+10.8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47.2%</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48.7%</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59.0%</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+9.3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50.8%</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+8.9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69.6%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61.5%</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−8.1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28.5%</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−6.8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63.8%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57.3%</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−6.5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34.1%</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−5.7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27.9%</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57.7%</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+8.9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52.5%</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48.3%</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51.5%</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+5.8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36.9%</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Mazda, VW Henderson and Acura what changed. Ask LR Reno, Hyundai Prescott and Toyota Henderson what got in the way. Ask Lexus, Acura and Chevy GMC Bullhead what they started this year.</a:t>
            </a:r>
            <a:endParaRPr lang="en-US" sz="1600" dirty="0"/>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Customer-Pay Labor by Work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Maintenance %</a:t>
            </a:r>
            <a:endParaRPr lang="en-US" sz="1400" dirty="0"/>
          </a:p>
        </p:txBody>
      </p:sp>
      <p:sp>
        <p:nvSpPr>
          <p:cNvPr id="8" name="Shape 6"/>
          <p:cNvSpPr/>
          <p:nvPr/>
        </p:nvSpPr>
        <p:spPr>
          <a:xfrm>
            <a:off x="2624328" y="1371600"/>
            <a:ext cx="201168" cy="201168"/>
          </a:xfrm>
          <a:prstGeom prst="rect">
            <a:avLst/>
          </a:prstGeom>
          <a:solidFill>
            <a:srgbClr val="0B2C4A"/>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Repair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Unclassified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2015868"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2015868"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54</a:t>
            </a:r>
            <a:endParaRPr lang="en-US" sz="1400" dirty="0"/>
          </a:p>
        </p:txBody>
      </p:sp>
      <p:sp>
        <p:nvSpPr>
          <p:cNvPr id="16" name="Shape 14"/>
          <p:cNvSpPr/>
          <p:nvPr/>
        </p:nvSpPr>
        <p:spPr>
          <a:xfrm>
            <a:off x="9742548" y="1344168"/>
            <a:ext cx="1132302" cy="292608"/>
          </a:xfrm>
          <a:prstGeom prst="rect">
            <a:avLst/>
          </a:prstGeom>
          <a:solidFill>
            <a:srgbClr val="0B2C4A"/>
          </a:solidFill>
          <a:ln w="6350">
            <a:solidFill>
              <a:srgbClr val="FFFFFF"/>
            </a:solidFill>
            <a:prstDash val="solid"/>
          </a:ln>
        </p:spPr>
      </p:sp>
      <p:sp>
        <p:nvSpPr>
          <p:cNvPr id="17" name="Text 15"/>
          <p:cNvSpPr txBox="1"/>
          <p:nvPr/>
        </p:nvSpPr>
        <p:spPr>
          <a:xfrm>
            <a:off x="9742548" y="1344168"/>
            <a:ext cx="1132302"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31</a:t>
            </a:r>
            <a:endParaRPr lang="en-US" sz="1400" dirty="0"/>
          </a:p>
        </p:txBody>
      </p:sp>
      <p:sp>
        <p:nvSpPr>
          <p:cNvPr id="18" name="Shape 16"/>
          <p:cNvSpPr/>
          <p:nvPr/>
        </p:nvSpPr>
        <p:spPr>
          <a:xfrm>
            <a:off x="10874849" y="1344168"/>
            <a:ext cx="564295" cy="292608"/>
          </a:xfrm>
          <a:prstGeom prst="rect">
            <a:avLst/>
          </a:prstGeom>
          <a:solidFill>
            <a:srgbClr val="D9D9D9"/>
          </a:solidFill>
          <a:ln w="6350">
            <a:solidFill>
              <a:srgbClr val="FFFFFF"/>
            </a:solidFill>
            <a:prstDash val="solid"/>
          </a:ln>
        </p:spPr>
      </p:sp>
      <p:sp>
        <p:nvSpPr>
          <p:cNvPr id="19" name="Text 17"/>
          <p:cNvSpPr txBox="1"/>
          <p:nvPr/>
        </p:nvSpPr>
        <p:spPr>
          <a:xfrm>
            <a:off x="10874849" y="1344168"/>
            <a:ext cx="564295"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15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1" name="Shape 19"/>
          <p:cNvSpPr/>
          <p:nvPr/>
        </p:nvSpPr>
        <p:spPr>
          <a:xfrm>
            <a:off x="2807208" y="1857717"/>
            <a:ext cx="2246132"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461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71</a:t>
            </a:r>
            <a:endParaRPr lang="en-US" sz="1300" dirty="0"/>
          </a:p>
        </p:txBody>
      </p:sp>
      <p:sp>
        <p:nvSpPr>
          <p:cNvPr id="23" name="Shape 21"/>
          <p:cNvSpPr/>
          <p:nvPr/>
        </p:nvSpPr>
        <p:spPr>
          <a:xfrm>
            <a:off x="5053340" y="1857717"/>
            <a:ext cx="776051" cy="183138"/>
          </a:xfrm>
          <a:prstGeom prst="rect">
            <a:avLst/>
          </a:prstGeom>
          <a:solidFill>
            <a:srgbClr val="0B2C4A"/>
          </a:solidFill>
          <a:ln w="6350">
            <a:solidFill>
              <a:srgbClr val="FFFFFF"/>
            </a:solidFill>
            <a:prstDash val="solid"/>
          </a:ln>
        </p:spPr>
      </p:sp>
      <p:sp>
        <p:nvSpPr>
          <p:cNvPr id="24" name="Text 22"/>
          <p:cNvSpPr txBox="1"/>
          <p:nvPr/>
        </p:nvSpPr>
        <p:spPr>
          <a:xfrm>
            <a:off x="5053340" y="1857717"/>
            <a:ext cx="7760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5" name="Shape 23"/>
          <p:cNvSpPr/>
          <p:nvPr/>
        </p:nvSpPr>
        <p:spPr>
          <a:xfrm>
            <a:off x="5829391" y="1857717"/>
            <a:ext cx="132497" cy="183138"/>
          </a:xfrm>
          <a:prstGeom prst="rect">
            <a:avLst/>
          </a:prstGeom>
          <a:solidFill>
            <a:srgbClr val="D9D9D9"/>
          </a:solidFill>
          <a:ln w="6350">
            <a:solidFill>
              <a:srgbClr val="FFFFFF"/>
            </a:solidFill>
            <a:prstDash val="solid"/>
          </a:ln>
        </p:spPr>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7" name="Shape 25"/>
          <p:cNvSpPr/>
          <p:nvPr/>
        </p:nvSpPr>
        <p:spPr>
          <a:xfrm>
            <a:off x="2807208" y="2098688"/>
            <a:ext cx="2189348" cy="183138"/>
          </a:xfrm>
          <a:prstGeom prst="rect">
            <a:avLst/>
          </a:prstGeom>
          <a:solidFill>
            <a:srgbClr val="2587C5"/>
          </a:solidFill>
          <a:ln w="6350">
            <a:solidFill>
              <a:srgbClr val="FFFFFF"/>
            </a:solidFill>
            <a:prstDash val="solid"/>
          </a:ln>
        </p:spPr>
      </p:sp>
      <p:sp>
        <p:nvSpPr>
          <p:cNvPr id="28" name="Text 26"/>
          <p:cNvSpPr txBox="1"/>
          <p:nvPr/>
        </p:nvSpPr>
        <p:spPr>
          <a:xfrm>
            <a:off x="2807208" y="2098688"/>
            <a:ext cx="21893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69</a:t>
            </a:r>
            <a:endParaRPr lang="en-US" sz="1300" dirty="0"/>
          </a:p>
        </p:txBody>
      </p:sp>
      <p:sp>
        <p:nvSpPr>
          <p:cNvPr id="29" name="Shape 27"/>
          <p:cNvSpPr/>
          <p:nvPr/>
        </p:nvSpPr>
        <p:spPr>
          <a:xfrm>
            <a:off x="4996556" y="2098688"/>
            <a:ext cx="791825" cy="183138"/>
          </a:xfrm>
          <a:prstGeom prst="rect">
            <a:avLst/>
          </a:prstGeom>
          <a:solidFill>
            <a:srgbClr val="0B2C4A"/>
          </a:solidFill>
          <a:ln w="6350">
            <a:solidFill>
              <a:srgbClr val="FFFFFF"/>
            </a:solidFill>
            <a:prstDash val="solid"/>
          </a:ln>
        </p:spPr>
      </p:sp>
      <p:sp>
        <p:nvSpPr>
          <p:cNvPr id="30" name="Text 28"/>
          <p:cNvSpPr txBox="1"/>
          <p:nvPr/>
        </p:nvSpPr>
        <p:spPr>
          <a:xfrm>
            <a:off x="4996556" y="2098688"/>
            <a:ext cx="79182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1" name="Shape 29"/>
          <p:cNvSpPr/>
          <p:nvPr/>
        </p:nvSpPr>
        <p:spPr>
          <a:xfrm>
            <a:off x="5788381" y="2098688"/>
            <a:ext cx="173507" cy="183138"/>
          </a:xfrm>
          <a:prstGeom prst="rect">
            <a:avLst/>
          </a:prstGeom>
          <a:solidFill>
            <a:srgbClr val="D9D9D9"/>
          </a:solidFill>
          <a:ln w="6350">
            <a:solidFill>
              <a:srgbClr val="FFFFFF"/>
            </a:solidFill>
            <a:prstDash val="solid"/>
          </a:ln>
        </p:spPr>
      </p:sp>
      <p:sp>
        <p:nvSpPr>
          <p:cNvPr id="32" name="Text 30"/>
          <p:cNvSpPr txBox="1"/>
          <p:nvPr/>
        </p:nvSpPr>
        <p:spPr>
          <a:xfrm>
            <a:off x="5788381" y="2098688"/>
            <a:ext cx="17350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34" name="Shape 32"/>
          <p:cNvSpPr/>
          <p:nvPr/>
        </p:nvSpPr>
        <p:spPr>
          <a:xfrm>
            <a:off x="2807208" y="2339659"/>
            <a:ext cx="2145182" cy="183138"/>
          </a:xfrm>
          <a:prstGeom prst="rect">
            <a:avLst/>
          </a:prstGeom>
          <a:solidFill>
            <a:srgbClr val="2587C5"/>
          </a:solidFill>
          <a:ln w="6350">
            <a:solidFill>
              <a:srgbClr val="FFFFFF"/>
            </a:solidFill>
            <a:prstDash val="solid"/>
          </a:ln>
        </p:spPr>
      </p:sp>
      <p:sp>
        <p:nvSpPr>
          <p:cNvPr id="35" name="Text 33"/>
          <p:cNvSpPr txBox="1"/>
          <p:nvPr/>
        </p:nvSpPr>
        <p:spPr>
          <a:xfrm>
            <a:off x="2807208" y="2339659"/>
            <a:ext cx="21451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68</a:t>
            </a:r>
            <a:endParaRPr lang="en-US" sz="1300" dirty="0"/>
          </a:p>
        </p:txBody>
      </p:sp>
      <p:sp>
        <p:nvSpPr>
          <p:cNvPr id="36" name="Shape 34"/>
          <p:cNvSpPr/>
          <p:nvPr/>
        </p:nvSpPr>
        <p:spPr>
          <a:xfrm>
            <a:off x="4952390" y="2339659"/>
            <a:ext cx="779206" cy="183138"/>
          </a:xfrm>
          <a:prstGeom prst="rect">
            <a:avLst/>
          </a:prstGeom>
          <a:solidFill>
            <a:srgbClr val="0B2C4A"/>
          </a:solidFill>
          <a:ln w="6350">
            <a:solidFill>
              <a:srgbClr val="FFFFFF"/>
            </a:solidFill>
            <a:prstDash val="solid"/>
          </a:ln>
        </p:spPr>
      </p:sp>
      <p:sp>
        <p:nvSpPr>
          <p:cNvPr id="37" name="Text 35"/>
          <p:cNvSpPr txBox="1"/>
          <p:nvPr/>
        </p:nvSpPr>
        <p:spPr>
          <a:xfrm>
            <a:off x="4952390" y="2339659"/>
            <a:ext cx="7792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8" name="Shape 36"/>
          <p:cNvSpPr/>
          <p:nvPr/>
        </p:nvSpPr>
        <p:spPr>
          <a:xfrm>
            <a:off x="5731596" y="2339659"/>
            <a:ext cx="230292" cy="183138"/>
          </a:xfrm>
          <a:prstGeom prst="rect">
            <a:avLst/>
          </a:prstGeom>
          <a:solidFill>
            <a:srgbClr val="D9D9D9"/>
          </a:solidFill>
          <a:ln w="6350">
            <a:solidFill>
              <a:srgbClr val="FFFFFF"/>
            </a:solidFill>
            <a:prstDash val="solid"/>
          </a:ln>
        </p:spPr>
      </p:sp>
      <p:sp>
        <p:nvSpPr>
          <p:cNvPr id="39" name="Text 37"/>
          <p:cNvSpPr txBox="1"/>
          <p:nvPr/>
        </p:nvSpPr>
        <p:spPr>
          <a:xfrm>
            <a:off x="5731596" y="2339659"/>
            <a:ext cx="2302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40" name="Text 38"/>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1" name="Shape 39"/>
          <p:cNvSpPr/>
          <p:nvPr/>
        </p:nvSpPr>
        <p:spPr>
          <a:xfrm>
            <a:off x="2807208" y="2580630"/>
            <a:ext cx="2116790" cy="183138"/>
          </a:xfrm>
          <a:prstGeom prst="rect">
            <a:avLst/>
          </a:prstGeom>
          <a:solidFill>
            <a:srgbClr val="2587C5"/>
          </a:solidFill>
          <a:ln w="6350">
            <a:solidFill>
              <a:srgbClr val="FFFFFF"/>
            </a:solidFill>
            <a:prstDash val="solid"/>
          </a:ln>
        </p:spPr>
      </p:sp>
      <p:sp>
        <p:nvSpPr>
          <p:cNvPr id="42" name="Text 40"/>
          <p:cNvSpPr txBox="1"/>
          <p:nvPr/>
        </p:nvSpPr>
        <p:spPr>
          <a:xfrm>
            <a:off x="2807208" y="2580630"/>
            <a:ext cx="21167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43" name="Shape 41"/>
          <p:cNvSpPr/>
          <p:nvPr/>
        </p:nvSpPr>
        <p:spPr>
          <a:xfrm>
            <a:off x="4923998" y="2580630"/>
            <a:ext cx="694030" cy="183138"/>
          </a:xfrm>
          <a:prstGeom prst="rect">
            <a:avLst/>
          </a:prstGeom>
          <a:solidFill>
            <a:srgbClr val="0B2C4A"/>
          </a:solidFill>
          <a:ln w="6350">
            <a:solidFill>
              <a:srgbClr val="FFFFFF"/>
            </a:solidFill>
            <a:prstDash val="solid"/>
          </a:ln>
        </p:spPr>
      </p:sp>
      <p:sp>
        <p:nvSpPr>
          <p:cNvPr id="44" name="Text 42"/>
          <p:cNvSpPr txBox="1"/>
          <p:nvPr/>
        </p:nvSpPr>
        <p:spPr>
          <a:xfrm>
            <a:off x="4923998" y="2580630"/>
            <a:ext cx="6940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45" name="Shape 43"/>
          <p:cNvSpPr/>
          <p:nvPr/>
        </p:nvSpPr>
        <p:spPr>
          <a:xfrm>
            <a:off x="5618028" y="2580630"/>
            <a:ext cx="343860" cy="183138"/>
          </a:xfrm>
          <a:prstGeom prst="rect">
            <a:avLst/>
          </a:prstGeom>
          <a:solidFill>
            <a:srgbClr val="D9D9D9"/>
          </a:solidFill>
          <a:ln w="6350">
            <a:solidFill>
              <a:srgbClr val="FFFFFF"/>
            </a:solidFill>
            <a:prstDash val="solid"/>
          </a:ln>
        </p:spPr>
      </p:sp>
      <p:sp>
        <p:nvSpPr>
          <p:cNvPr id="46" name="Text 44"/>
          <p:cNvSpPr txBox="1"/>
          <p:nvPr/>
        </p:nvSpPr>
        <p:spPr>
          <a:xfrm>
            <a:off x="5618028" y="2580630"/>
            <a:ext cx="3438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47" name="Text 45"/>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8" name="Shape 46"/>
          <p:cNvSpPr/>
          <p:nvPr/>
        </p:nvSpPr>
        <p:spPr>
          <a:xfrm>
            <a:off x="2807208" y="2821602"/>
            <a:ext cx="2094708" cy="183138"/>
          </a:xfrm>
          <a:prstGeom prst="rect">
            <a:avLst/>
          </a:prstGeom>
          <a:solidFill>
            <a:srgbClr val="2587C5"/>
          </a:solidFill>
          <a:ln w="6350">
            <a:solidFill>
              <a:srgbClr val="FFFFFF"/>
            </a:solidFill>
            <a:prstDash val="solid"/>
          </a:ln>
        </p:spPr>
      </p:sp>
      <p:sp>
        <p:nvSpPr>
          <p:cNvPr id="49" name="Text 47"/>
          <p:cNvSpPr txBox="1"/>
          <p:nvPr/>
        </p:nvSpPr>
        <p:spPr>
          <a:xfrm>
            <a:off x="2807208" y="2821602"/>
            <a:ext cx="2094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0" name="Shape 48"/>
          <p:cNvSpPr/>
          <p:nvPr/>
        </p:nvSpPr>
        <p:spPr>
          <a:xfrm>
            <a:off x="4901916" y="2821602"/>
            <a:ext cx="804443" cy="183138"/>
          </a:xfrm>
          <a:prstGeom prst="rect">
            <a:avLst/>
          </a:prstGeom>
          <a:solidFill>
            <a:srgbClr val="0B2C4A"/>
          </a:solidFill>
          <a:ln w="6350">
            <a:solidFill>
              <a:srgbClr val="FFFFFF"/>
            </a:solidFill>
            <a:prstDash val="solid"/>
          </a:ln>
        </p:spPr>
      </p:sp>
      <p:sp>
        <p:nvSpPr>
          <p:cNvPr id="51" name="Text 49"/>
          <p:cNvSpPr txBox="1"/>
          <p:nvPr/>
        </p:nvSpPr>
        <p:spPr>
          <a:xfrm>
            <a:off x="4901916" y="2821602"/>
            <a:ext cx="80444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52" name="Shape 50"/>
          <p:cNvSpPr/>
          <p:nvPr/>
        </p:nvSpPr>
        <p:spPr>
          <a:xfrm>
            <a:off x="5706359" y="2821602"/>
            <a:ext cx="255529" cy="183138"/>
          </a:xfrm>
          <a:prstGeom prst="rect">
            <a:avLst/>
          </a:prstGeom>
          <a:solidFill>
            <a:srgbClr val="D9D9D9"/>
          </a:solidFill>
          <a:ln w="6350">
            <a:solidFill>
              <a:srgbClr val="FFFFFF"/>
            </a:solidFill>
            <a:prstDash val="solid"/>
          </a:ln>
        </p:spPr>
      </p:sp>
      <p:sp>
        <p:nvSpPr>
          <p:cNvPr id="53" name="Text 51"/>
          <p:cNvSpPr txBox="1"/>
          <p:nvPr/>
        </p:nvSpPr>
        <p:spPr>
          <a:xfrm>
            <a:off x="5706359" y="2821602"/>
            <a:ext cx="25552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4" name="Text 52"/>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5" name="Shape 53"/>
          <p:cNvSpPr/>
          <p:nvPr/>
        </p:nvSpPr>
        <p:spPr>
          <a:xfrm>
            <a:off x="2807208" y="3062573"/>
            <a:ext cx="2078934" cy="183138"/>
          </a:xfrm>
          <a:prstGeom prst="rect">
            <a:avLst/>
          </a:prstGeom>
          <a:solidFill>
            <a:srgbClr val="2587C5"/>
          </a:solidFill>
          <a:ln w="6350">
            <a:solidFill>
              <a:srgbClr val="FFFFFF"/>
            </a:solidFill>
            <a:prstDash val="solid"/>
          </a:ln>
        </p:spPr>
      </p:sp>
      <p:sp>
        <p:nvSpPr>
          <p:cNvPr id="56" name="Text 54"/>
          <p:cNvSpPr txBox="1"/>
          <p:nvPr/>
        </p:nvSpPr>
        <p:spPr>
          <a:xfrm>
            <a:off x="2807208" y="3062573"/>
            <a:ext cx="20789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7" name="Shape 55"/>
          <p:cNvSpPr/>
          <p:nvPr/>
        </p:nvSpPr>
        <p:spPr>
          <a:xfrm>
            <a:off x="4886142" y="3062573"/>
            <a:ext cx="930631" cy="183138"/>
          </a:xfrm>
          <a:prstGeom prst="rect">
            <a:avLst/>
          </a:prstGeom>
          <a:solidFill>
            <a:srgbClr val="0B2C4A"/>
          </a:solidFill>
          <a:ln w="6350">
            <a:solidFill>
              <a:srgbClr val="FFFFFF"/>
            </a:solidFill>
            <a:prstDash val="solid"/>
          </a:ln>
        </p:spPr>
      </p:sp>
      <p:sp>
        <p:nvSpPr>
          <p:cNvPr id="58" name="Text 56"/>
          <p:cNvSpPr txBox="1"/>
          <p:nvPr/>
        </p:nvSpPr>
        <p:spPr>
          <a:xfrm>
            <a:off x="4886142" y="3062573"/>
            <a:ext cx="93063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59" name="Shape 57"/>
          <p:cNvSpPr/>
          <p:nvPr/>
        </p:nvSpPr>
        <p:spPr>
          <a:xfrm>
            <a:off x="5816773" y="3062573"/>
            <a:ext cx="145115" cy="183138"/>
          </a:xfrm>
          <a:prstGeom prst="rect">
            <a:avLst/>
          </a:prstGeom>
          <a:solidFill>
            <a:srgbClr val="D9D9D9"/>
          </a:solidFill>
          <a:ln w="6350">
            <a:solidFill>
              <a:srgbClr val="FFFFFF"/>
            </a:solidFill>
            <a:prstDash val="solid"/>
          </a:ln>
        </p:spPr>
      </p:sp>
      <p:sp>
        <p:nvSpPr>
          <p:cNvPr id="60" name="Text 58"/>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1" name="Shape 59"/>
          <p:cNvSpPr/>
          <p:nvPr/>
        </p:nvSpPr>
        <p:spPr>
          <a:xfrm>
            <a:off x="2807208" y="3303544"/>
            <a:ext cx="2015841" cy="183138"/>
          </a:xfrm>
          <a:prstGeom prst="rect">
            <a:avLst/>
          </a:prstGeom>
          <a:solidFill>
            <a:srgbClr val="2587C5"/>
          </a:solidFill>
          <a:ln w="6350">
            <a:solidFill>
              <a:srgbClr val="FFFFFF"/>
            </a:solidFill>
            <a:prstDash val="solid"/>
          </a:ln>
        </p:spPr>
      </p:sp>
      <p:sp>
        <p:nvSpPr>
          <p:cNvPr id="62" name="Text 60"/>
          <p:cNvSpPr txBox="1"/>
          <p:nvPr/>
        </p:nvSpPr>
        <p:spPr>
          <a:xfrm>
            <a:off x="2807208" y="3303544"/>
            <a:ext cx="2015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63" name="Shape 61"/>
          <p:cNvSpPr/>
          <p:nvPr/>
        </p:nvSpPr>
        <p:spPr>
          <a:xfrm>
            <a:off x="4823049" y="3303544"/>
            <a:ext cx="671947" cy="183138"/>
          </a:xfrm>
          <a:prstGeom prst="rect">
            <a:avLst/>
          </a:prstGeom>
          <a:solidFill>
            <a:srgbClr val="0B2C4A"/>
          </a:solidFill>
          <a:ln w="6350">
            <a:solidFill>
              <a:srgbClr val="FFFFFF"/>
            </a:solidFill>
            <a:prstDash val="solid"/>
          </a:ln>
        </p:spPr>
      </p:sp>
      <p:sp>
        <p:nvSpPr>
          <p:cNvPr id="64" name="Text 62"/>
          <p:cNvSpPr txBox="1"/>
          <p:nvPr/>
        </p:nvSpPr>
        <p:spPr>
          <a:xfrm>
            <a:off x="4823049" y="3303544"/>
            <a:ext cx="67194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21</a:t>
            </a:r>
            <a:endParaRPr lang="en-US" sz="1300" dirty="0"/>
          </a:p>
        </p:txBody>
      </p:sp>
      <p:sp>
        <p:nvSpPr>
          <p:cNvPr id="65" name="Shape 63"/>
          <p:cNvSpPr/>
          <p:nvPr/>
        </p:nvSpPr>
        <p:spPr>
          <a:xfrm>
            <a:off x="5494995" y="3303544"/>
            <a:ext cx="466893" cy="183138"/>
          </a:xfrm>
          <a:prstGeom prst="rect">
            <a:avLst/>
          </a:prstGeom>
          <a:solidFill>
            <a:srgbClr val="D9D9D9"/>
          </a:solidFill>
          <a:ln w="6350">
            <a:solidFill>
              <a:srgbClr val="FFFFFF"/>
            </a:solidFill>
            <a:prstDash val="solid"/>
          </a:ln>
        </p:spPr>
      </p:sp>
      <p:sp>
        <p:nvSpPr>
          <p:cNvPr id="66" name="Text 64"/>
          <p:cNvSpPr txBox="1"/>
          <p:nvPr/>
        </p:nvSpPr>
        <p:spPr>
          <a:xfrm>
            <a:off x="5494995" y="3303544"/>
            <a:ext cx="46689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67" name="Text 65"/>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68" name="Shape 66"/>
          <p:cNvSpPr/>
          <p:nvPr/>
        </p:nvSpPr>
        <p:spPr>
          <a:xfrm>
            <a:off x="2807208" y="3544516"/>
            <a:ext cx="1955902" cy="183138"/>
          </a:xfrm>
          <a:prstGeom prst="rect">
            <a:avLst/>
          </a:prstGeom>
          <a:solidFill>
            <a:srgbClr val="2587C5"/>
          </a:solidFill>
          <a:ln w="6350">
            <a:solidFill>
              <a:srgbClr val="FFFFFF"/>
            </a:solidFill>
            <a:prstDash val="solid"/>
          </a:ln>
        </p:spPr>
      </p:sp>
      <p:sp>
        <p:nvSpPr>
          <p:cNvPr id="69" name="Text 67"/>
          <p:cNvSpPr txBox="1"/>
          <p:nvPr/>
        </p:nvSpPr>
        <p:spPr>
          <a:xfrm>
            <a:off x="2807208" y="3544516"/>
            <a:ext cx="19559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0" name="Shape 68"/>
          <p:cNvSpPr/>
          <p:nvPr/>
        </p:nvSpPr>
        <p:spPr>
          <a:xfrm>
            <a:off x="4763110" y="3544516"/>
            <a:ext cx="807598" cy="183138"/>
          </a:xfrm>
          <a:prstGeom prst="rect">
            <a:avLst/>
          </a:prstGeom>
          <a:solidFill>
            <a:srgbClr val="0B2C4A"/>
          </a:solidFill>
          <a:ln w="6350">
            <a:solidFill>
              <a:srgbClr val="FFFFFF"/>
            </a:solidFill>
            <a:prstDash val="solid"/>
          </a:ln>
        </p:spPr>
      </p:sp>
      <p:sp>
        <p:nvSpPr>
          <p:cNvPr id="71" name="Text 69"/>
          <p:cNvSpPr txBox="1"/>
          <p:nvPr/>
        </p:nvSpPr>
        <p:spPr>
          <a:xfrm>
            <a:off x="4763110" y="3544516"/>
            <a:ext cx="80759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72" name="Shape 70"/>
          <p:cNvSpPr/>
          <p:nvPr/>
        </p:nvSpPr>
        <p:spPr>
          <a:xfrm>
            <a:off x="5570708" y="3544516"/>
            <a:ext cx="391180" cy="183138"/>
          </a:xfrm>
          <a:prstGeom prst="rect">
            <a:avLst/>
          </a:prstGeom>
          <a:solidFill>
            <a:srgbClr val="D9D9D9"/>
          </a:solidFill>
          <a:ln w="6350">
            <a:solidFill>
              <a:srgbClr val="FFFFFF"/>
            </a:solidFill>
            <a:prstDash val="solid"/>
          </a:ln>
        </p:spPr>
      </p:sp>
      <p:sp>
        <p:nvSpPr>
          <p:cNvPr id="73" name="Text 71"/>
          <p:cNvSpPr txBox="1"/>
          <p:nvPr/>
        </p:nvSpPr>
        <p:spPr>
          <a:xfrm>
            <a:off x="5570708" y="3544516"/>
            <a:ext cx="391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74" name="Text 72"/>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5" name="Shape 73"/>
          <p:cNvSpPr/>
          <p:nvPr/>
        </p:nvSpPr>
        <p:spPr>
          <a:xfrm>
            <a:off x="2807208" y="3785487"/>
            <a:ext cx="1943283" cy="183138"/>
          </a:xfrm>
          <a:prstGeom prst="rect">
            <a:avLst/>
          </a:prstGeom>
          <a:solidFill>
            <a:srgbClr val="2587C5"/>
          </a:solidFill>
          <a:ln w="6350">
            <a:solidFill>
              <a:srgbClr val="FFFFFF"/>
            </a:solidFill>
            <a:prstDash val="solid"/>
          </a:ln>
        </p:spPr>
      </p:sp>
      <p:sp>
        <p:nvSpPr>
          <p:cNvPr id="76" name="Text 74"/>
          <p:cNvSpPr txBox="1"/>
          <p:nvPr/>
        </p:nvSpPr>
        <p:spPr>
          <a:xfrm>
            <a:off x="2807208" y="3785487"/>
            <a:ext cx="19432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7" name="Shape 75"/>
          <p:cNvSpPr/>
          <p:nvPr/>
        </p:nvSpPr>
        <p:spPr>
          <a:xfrm>
            <a:off x="4750491" y="3785487"/>
            <a:ext cx="413263" cy="183138"/>
          </a:xfrm>
          <a:prstGeom prst="rect">
            <a:avLst/>
          </a:prstGeom>
          <a:solidFill>
            <a:srgbClr val="0B2C4A"/>
          </a:solidFill>
          <a:ln w="6350">
            <a:solidFill>
              <a:srgbClr val="FFFFFF"/>
            </a:solidFill>
            <a:prstDash val="solid"/>
          </a:ln>
        </p:spPr>
      </p:sp>
      <p:sp>
        <p:nvSpPr>
          <p:cNvPr id="78" name="Text 76"/>
          <p:cNvSpPr txBox="1"/>
          <p:nvPr/>
        </p:nvSpPr>
        <p:spPr>
          <a:xfrm>
            <a:off x="4750491" y="3785487"/>
            <a:ext cx="4132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79" name="Shape 77"/>
          <p:cNvSpPr/>
          <p:nvPr/>
        </p:nvSpPr>
        <p:spPr>
          <a:xfrm>
            <a:off x="5163754" y="3785487"/>
            <a:ext cx="798134" cy="183138"/>
          </a:xfrm>
          <a:prstGeom prst="rect">
            <a:avLst/>
          </a:prstGeom>
          <a:solidFill>
            <a:srgbClr val="D9D9D9"/>
          </a:solidFill>
          <a:ln w="6350">
            <a:solidFill>
              <a:srgbClr val="FFFFFF"/>
            </a:solidFill>
            <a:prstDash val="solid"/>
          </a:ln>
        </p:spPr>
      </p:sp>
      <p:sp>
        <p:nvSpPr>
          <p:cNvPr id="80" name="Text 78"/>
          <p:cNvSpPr txBox="1"/>
          <p:nvPr/>
        </p:nvSpPr>
        <p:spPr>
          <a:xfrm>
            <a:off x="5163754" y="3785487"/>
            <a:ext cx="7981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81" name="Text 79"/>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82" name="Shape 80"/>
          <p:cNvSpPr/>
          <p:nvPr/>
        </p:nvSpPr>
        <p:spPr>
          <a:xfrm>
            <a:off x="2807208" y="4026458"/>
            <a:ext cx="1892808" cy="183138"/>
          </a:xfrm>
          <a:prstGeom prst="rect">
            <a:avLst/>
          </a:prstGeom>
          <a:solidFill>
            <a:srgbClr val="2587C5"/>
          </a:solidFill>
          <a:ln w="6350">
            <a:solidFill>
              <a:srgbClr val="FFFFFF"/>
            </a:solidFill>
            <a:prstDash val="solid"/>
          </a:ln>
        </p:spPr>
      </p:sp>
      <p:sp>
        <p:nvSpPr>
          <p:cNvPr id="83" name="Text 81"/>
          <p:cNvSpPr txBox="1"/>
          <p:nvPr/>
        </p:nvSpPr>
        <p:spPr>
          <a:xfrm>
            <a:off x="2807208" y="4026458"/>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84" name="Shape 82"/>
          <p:cNvSpPr/>
          <p:nvPr/>
        </p:nvSpPr>
        <p:spPr>
          <a:xfrm>
            <a:off x="4700016" y="4026458"/>
            <a:ext cx="832836" cy="183138"/>
          </a:xfrm>
          <a:prstGeom prst="rect">
            <a:avLst/>
          </a:prstGeom>
          <a:solidFill>
            <a:srgbClr val="0B2C4A"/>
          </a:solidFill>
          <a:ln w="6350">
            <a:solidFill>
              <a:srgbClr val="FFFFFF"/>
            </a:solidFill>
            <a:prstDash val="solid"/>
          </a:ln>
        </p:spPr>
      </p:sp>
      <p:sp>
        <p:nvSpPr>
          <p:cNvPr id="85" name="Text 83"/>
          <p:cNvSpPr txBox="1"/>
          <p:nvPr/>
        </p:nvSpPr>
        <p:spPr>
          <a:xfrm>
            <a:off x="4700016" y="4026458"/>
            <a:ext cx="8328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86" name="Shape 84"/>
          <p:cNvSpPr/>
          <p:nvPr/>
        </p:nvSpPr>
        <p:spPr>
          <a:xfrm>
            <a:off x="5532852" y="4026458"/>
            <a:ext cx="429036" cy="183138"/>
          </a:xfrm>
          <a:prstGeom prst="rect">
            <a:avLst/>
          </a:prstGeom>
          <a:solidFill>
            <a:srgbClr val="D9D9D9"/>
          </a:solidFill>
          <a:ln w="6350">
            <a:solidFill>
              <a:srgbClr val="FFFFFF"/>
            </a:solidFill>
            <a:prstDash val="solid"/>
          </a:ln>
        </p:spPr>
      </p:sp>
      <p:sp>
        <p:nvSpPr>
          <p:cNvPr id="87" name="Text 85"/>
          <p:cNvSpPr txBox="1"/>
          <p:nvPr/>
        </p:nvSpPr>
        <p:spPr>
          <a:xfrm>
            <a:off x="5532852" y="4026458"/>
            <a:ext cx="4290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88" name="Text 86"/>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9" name="Shape 87"/>
          <p:cNvSpPr/>
          <p:nvPr/>
        </p:nvSpPr>
        <p:spPr>
          <a:xfrm>
            <a:off x="2807208" y="4267429"/>
            <a:ext cx="1883344" cy="183138"/>
          </a:xfrm>
          <a:prstGeom prst="rect">
            <a:avLst/>
          </a:prstGeom>
          <a:solidFill>
            <a:srgbClr val="2587C5"/>
          </a:solidFill>
          <a:ln w="6350">
            <a:solidFill>
              <a:srgbClr val="FFFFFF"/>
            </a:solidFill>
            <a:prstDash val="solid"/>
          </a:ln>
        </p:spPr>
      </p:sp>
      <p:sp>
        <p:nvSpPr>
          <p:cNvPr id="90" name="Text 88"/>
          <p:cNvSpPr txBox="1"/>
          <p:nvPr/>
        </p:nvSpPr>
        <p:spPr>
          <a:xfrm>
            <a:off x="2807208" y="4267429"/>
            <a:ext cx="18833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91" name="Shape 89"/>
          <p:cNvSpPr/>
          <p:nvPr/>
        </p:nvSpPr>
        <p:spPr>
          <a:xfrm>
            <a:off x="4690552" y="4267429"/>
            <a:ext cx="981105" cy="183138"/>
          </a:xfrm>
          <a:prstGeom prst="rect">
            <a:avLst/>
          </a:prstGeom>
          <a:solidFill>
            <a:srgbClr val="0B2C4A"/>
          </a:solidFill>
          <a:ln w="6350">
            <a:solidFill>
              <a:srgbClr val="FFFFFF"/>
            </a:solidFill>
            <a:prstDash val="solid"/>
          </a:ln>
        </p:spPr>
      </p:sp>
      <p:sp>
        <p:nvSpPr>
          <p:cNvPr id="92" name="Text 90"/>
          <p:cNvSpPr txBox="1"/>
          <p:nvPr/>
        </p:nvSpPr>
        <p:spPr>
          <a:xfrm>
            <a:off x="4690552" y="4267429"/>
            <a:ext cx="9811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93" name="Shape 91"/>
          <p:cNvSpPr/>
          <p:nvPr/>
        </p:nvSpPr>
        <p:spPr>
          <a:xfrm>
            <a:off x="5671657" y="4267429"/>
            <a:ext cx="290231" cy="183138"/>
          </a:xfrm>
          <a:prstGeom prst="rect">
            <a:avLst/>
          </a:prstGeom>
          <a:solidFill>
            <a:srgbClr val="D9D9D9"/>
          </a:solidFill>
          <a:ln w="6350">
            <a:solidFill>
              <a:srgbClr val="FFFFFF"/>
            </a:solidFill>
            <a:prstDash val="solid"/>
          </a:ln>
        </p:spPr>
      </p:sp>
      <p:sp>
        <p:nvSpPr>
          <p:cNvPr id="94" name="Text 92"/>
          <p:cNvSpPr txBox="1"/>
          <p:nvPr/>
        </p:nvSpPr>
        <p:spPr>
          <a:xfrm>
            <a:off x="5671657" y="4267429"/>
            <a:ext cx="2902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95" name="Text 93"/>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96" name="Shape 94"/>
          <p:cNvSpPr/>
          <p:nvPr/>
        </p:nvSpPr>
        <p:spPr>
          <a:xfrm>
            <a:off x="2807208" y="4508401"/>
            <a:ext cx="1867571" cy="183138"/>
          </a:xfrm>
          <a:prstGeom prst="rect">
            <a:avLst/>
          </a:prstGeom>
          <a:solidFill>
            <a:srgbClr val="2587C5"/>
          </a:solidFill>
          <a:ln w="6350">
            <a:solidFill>
              <a:srgbClr val="FFFFFF"/>
            </a:solidFill>
            <a:prstDash val="solid"/>
          </a:ln>
        </p:spPr>
      </p:sp>
      <p:sp>
        <p:nvSpPr>
          <p:cNvPr id="97" name="Text 95"/>
          <p:cNvSpPr txBox="1"/>
          <p:nvPr/>
        </p:nvSpPr>
        <p:spPr>
          <a:xfrm>
            <a:off x="2807208" y="4508401"/>
            <a:ext cx="186757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8" name="Shape 96"/>
          <p:cNvSpPr/>
          <p:nvPr/>
        </p:nvSpPr>
        <p:spPr>
          <a:xfrm>
            <a:off x="4674779" y="4508401"/>
            <a:ext cx="47320" cy="183138"/>
          </a:xfrm>
          <a:prstGeom prst="rect">
            <a:avLst/>
          </a:prstGeom>
          <a:solidFill>
            <a:srgbClr val="0B2C4A"/>
          </a:solidFill>
          <a:ln w="6350">
            <a:solidFill>
              <a:srgbClr val="FFFFFF"/>
            </a:solidFill>
            <a:prstDash val="solid"/>
          </a:ln>
        </p:spPr>
      </p:sp>
      <p:sp>
        <p:nvSpPr>
          <p:cNvPr id="99" name="Shape 97"/>
          <p:cNvSpPr/>
          <p:nvPr/>
        </p:nvSpPr>
        <p:spPr>
          <a:xfrm>
            <a:off x="4722099" y="4508401"/>
            <a:ext cx="1239789" cy="183138"/>
          </a:xfrm>
          <a:prstGeom prst="rect">
            <a:avLst/>
          </a:prstGeom>
          <a:solidFill>
            <a:srgbClr val="D9D9D9"/>
          </a:solidFill>
          <a:ln w="6350">
            <a:solidFill>
              <a:srgbClr val="FFFFFF"/>
            </a:solidFill>
            <a:prstDash val="solid"/>
          </a:ln>
        </p:spPr>
      </p:sp>
      <p:sp>
        <p:nvSpPr>
          <p:cNvPr id="100" name="Text 98"/>
          <p:cNvSpPr txBox="1"/>
          <p:nvPr/>
        </p:nvSpPr>
        <p:spPr>
          <a:xfrm>
            <a:off x="4722099" y="4508401"/>
            <a:ext cx="123978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39</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2" name="Shape 100"/>
          <p:cNvSpPr/>
          <p:nvPr/>
        </p:nvSpPr>
        <p:spPr>
          <a:xfrm>
            <a:off x="2807208" y="4749372"/>
            <a:ext cx="1861261" cy="183138"/>
          </a:xfrm>
          <a:prstGeom prst="rect">
            <a:avLst/>
          </a:prstGeom>
          <a:solidFill>
            <a:srgbClr val="2587C5"/>
          </a:solidFill>
          <a:ln w="6350">
            <a:solidFill>
              <a:srgbClr val="FFFFFF"/>
            </a:solidFill>
            <a:prstDash val="solid"/>
          </a:ln>
        </p:spPr>
      </p:sp>
      <p:sp>
        <p:nvSpPr>
          <p:cNvPr id="103" name="Text 101"/>
          <p:cNvSpPr txBox="1"/>
          <p:nvPr/>
        </p:nvSpPr>
        <p:spPr>
          <a:xfrm>
            <a:off x="2807208" y="4749372"/>
            <a:ext cx="18612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4" name="Shape 102"/>
          <p:cNvSpPr/>
          <p:nvPr/>
        </p:nvSpPr>
        <p:spPr>
          <a:xfrm>
            <a:off x="4668469" y="4749372"/>
            <a:ext cx="839145" cy="183138"/>
          </a:xfrm>
          <a:prstGeom prst="rect">
            <a:avLst/>
          </a:prstGeom>
          <a:solidFill>
            <a:srgbClr val="0B2C4A"/>
          </a:solidFill>
          <a:ln w="6350">
            <a:solidFill>
              <a:srgbClr val="FFFFFF"/>
            </a:solidFill>
            <a:prstDash val="solid"/>
          </a:ln>
        </p:spPr>
      </p:sp>
      <p:sp>
        <p:nvSpPr>
          <p:cNvPr id="105" name="Text 103"/>
          <p:cNvSpPr txBox="1"/>
          <p:nvPr/>
        </p:nvSpPr>
        <p:spPr>
          <a:xfrm>
            <a:off x="4668469" y="4749372"/>
            <a:ext cx="8391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06" name="Shape 104"/>
          <p:cNvSpPr/>
          <p:nvPr/>
        </p:nvSpPr>
        <p:spPr>
          <a:xfrm>
            <a:off x="5507614" y="4749372"/>
            <a:ext cx="454274" cy="183138"/>
          </a:xfrm>
          <a:prstGeom prst="rect">
            <a:avLst/>
          </a:prstGeom>
          <a:solidFill>
            <a:srgbClr val="D9D9D9"/>
          </a:solidFill>
          <a:ln w="6350">
            <a:solidFill>
              <a:srgbClr val="FFFFFF"/>
            </a:solidFill>
            <a:prstDash val="solid"/>
          </a:ln>
        </p:spPr>
      </p:sp>
      <p:sp>
        <p:nvSpPr>
          <p:cNvPr id="107" name="Text 105"/>
          <p:cNvSpPr txBox="1"/>
          <p:nvPr/>
        </p:nvSpPr>
        <p:spPr>
          <a:xfrm>
            <a:off x="5507614" y="4749372"/>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9" name="Shape 107"/>
          <p:cNvSpPr/>
          <p:nvPr/>
        </p:nvSpPr>
        <p:spPr>
          <a:xfrm>
            <a:off x="2807208" y="4990343"/>
            <a:ext cx="1854952" cy="183138"/>
          </a:xfrm>
          <a:prstGeom prst="rect">
            <a:avLst/>
          </a:prstGeom>
          <a:solidFill>
            <a:srgbClr val="2587C5"/>
          </a:solidFill>
          <a:ln w="6350">
            <a:solidFill>
              <a:srgbClr val="FFFFFF"/>
            </a:solidFill>
            <a:prstDash val="solid"/>
          </a:ln>
        </p:spPr>
      </p:sp>
      <p:sp>
        <p:nvSpPr>
          <p:cNvPr id="110" name="Text 108"/>
          <p:cNvSpPr txBox="1"/>
          <p:nvPr/>
        </p:nvSpPr>
        <p:spPr>
          <a:xfrm>
            <a:off x="2807208" y="4990343"/>
            <a:ext cx="18549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11" name="Shape 109"/>
          <p:cNvSpPr/>
          <p:nvPr/>
        </p:nvSpPr>
        <p:spPr>
          <a:xfrm>
            <a:off x="4662160" y="4990343"/>
            <a:ext cx="1015807" cy="183138"/>
          </a:xfrm>
          <a:prstGeom prst="rect">
            <a:avLst/>
          </a:prstGeom>
          <a:solidFill>
            <a:srgbClr val="0B2C4A"/>
          </a:solidFill>
          <a:ln w="6350">
            <a:solidFill>
              <a:srgbClr val="FFFFFF"/>
            </a:solidFill>
            <a:prstDash val="solid"/>
          </a:ln>
        </p:spPr>
      </p:sp>
      <p:sp>
        <p:nvSpPr>
          <p:cNvPr id="112" name="Text 110"/>
          <p:cNvSpPr txBox="1"/>
          <p:nvPr/>
        </p:nvSpPr>
        <p:spPr>
          <a:xfrm>
            <a:off x="4662160"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13" name="Shape 111"/>
          <p:cNvSpPr/>
          <p:nvPr/>
        </p:nvSpPr>
        <p:spPr>
          <a:xfrm>
            <a:off x="5677967" y="4990343"/>
            <a:ext cx="283921" cy="183138"/>
          </a:xfrm>
          <a:prstGeom prst="rect">
            <a:avLst/>
          </a:prstGeom>
          <a:solidFill>
            <a:srgbClr val="D9D9D9"/>
          </a:solidFill>
          <a:ln w="6350">
            <a:solidFill>
              <a:srgbClr val="FFFFFF"/>
            </a:solidFill>
            <a:prstDash val="solid"/>
          </a:ln>
        </p:spPr>
      </p:sp>
      <p:sp>
        <p:nvSpPr>
          <p:cNvPr id="114" name="Text 112"/>
          <p:cNvSpPr txBox="1"/>
          <p:nvPr/>
        </p:nvSpPr>
        <p:spPr>
          <a:xfrm>
            <a:off x="5677967" y="4990343"/>
            <a:ext cx="2839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6" name="Shape 114"/>
          <p:cNvSpPr/>
          <p:nvPr/>
        </p:nvSpPr>
        <p:spPr>
          <a:xfrm>
            <a:off x="2807208" y="5231315"/>
            <a:ext cx="1839178" cy="183138"/>
          </a:xfrm>
          <a:prstGeom prst="rect">
            <a:avLst/>
          </a:prstGeom>
          <a:solidFill>
            <a:srgbClr val="2587C5"/>
          </a:solidFill>
          <a:ln w="6350">
            <a:solidFill>
              <a:srgbClr val="FFFFFF"/>
            </a:solidFill>
            <a:prstDash val="solid"/>
          </a:ln>
        </p:spPr>
      </p:sp>
      <p:sp>
        <p:nvSpPr>
          <p:cNvPr id="117" name="Text 115"/>
          <p:cNvSpPr txBox="1"/>
          <p:nvPr/>
        </p:nvSpPr>
        <p:spPr>
          <a:xfrm>
            <a:off x="2807208" y="5231315"/>
            <a:ext cx="18391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8" name="Shape 116"/>
          <p:cNvSpPr/>
          <p:nvPr/>
        </p:nvSpPr>
        <p:spPr>
          <a:xfrm>
            <a:off x="4646386" y="5231315"/>
            <a:ext cx="574152" cy="183138"/>
          </a:xfrm>
          <a:prstGeom prst="rect">
            <a:avLst/>
          </a:prstGeom>
          <a:solidFill>
            <a:srgbClr val="0B2C4A"/>
          </a:solidFill>
          <a:ln w="6350">
            <a:solidFill>
              <a:srgbClr val="FFFFFF"/>
            </a:solidFill>
            <a:prstDash val="solid"/>
          </a:ln>
        </p:spPr>
      </p:sp>
      <p:sp>
        <p:nvSpPr>
          <p:cNvPr id="119" name="Text 117"/>
          <p:cNvSpPr txBox="1"/>
          <p:nvPr/>
        </p:nvSpPr>
        <p:spPr>
          <a:xfrm>
            <a:off x="4646386" y="5231315"/>
            <a:ext cx="5741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20" name="Shape 118"/>
          <p:cNvSpPr/>
          <p:nvPr/>
        </p:nvSpPr>
        <p:spPr>
          <a:xfrm>
            <a:off x="5220538" y="5231315"/>
            <a:ext cx="741350" cy="183138"/>
          </a:xfrm>
          <a:prstGeom prst="rect">
            <a:avLst/>
          </a:prstGeom>
          <a:solidFill>
            <a:srgbClr val="D9D9D9"/>
          </a:solidFill>
          <a:ln w="6350">
            <a:solidFill>
              <a:srgbClr val="FFFFFF"/>
            </a:solidFill>
            <a:prstDash val="solid"/>
          </a:ln>
        </p:spPr>
      </p:sp>
      <p:sp>
        <p:nvSpPr>
          <p:cNvPr id="121" name="Text 119"/>
          <p:cNvSpPr txBox="1"/>
          <p:nvPr/>
        </p:nvSpPr>
        <p:spPr>
          <a:xfrm>
            <a:off x="5220538" y="5231315"/>
            <a:ext cx="74135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22" name="Text 120"/>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2807208" y="5472286"/>
            <a:ext cx="1791858" cy="183138"/>
          </a:xfrm>
          <a:prstGeom prst="rect">
            <a:avLst/>
          </a:prstGeom>
          <a:solidFill>
            <a:srgbClr val="2587C5"/>
          </a:solidFill>
          <a:ln w="6350">
            <a:solidFill>
              <a:srgbClr val="FFFFFF"/>
            </a:solidFill>
            <a:prstDash val="solid"/>
          </a:ln>
        </p:spPr>
      </p:sp>
      <p:sp>
        <p:nvSpPr>
          <p:cNvPr id="124" name="Text 122"/>
          <p:cNvSpPr txBox="1"/>
          <p:nvPr/>
        </p:nvSpPr>
        <p:spPr>
          <a:xfrm>
            <a:off x="2807208" y="5472286"/>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5" name="Shape 123"/>
          <p:cNvSpPr/>
          <p:nvPr/>
        </p:nvSpPr>
        <p:spPr>
          <a:xfrm>
            <a:off x="4599066" y="5472286"/>
            <a:ext cx="753969" cy="183138"/>
          </a:xfrm>
          <a:prstGeom prst="rect">
            <a:avLst/>
          </a:prstGeom>
          <a:solidFill>
            <a:srgbClr val="0B2C4A"/>
          </a:solidFill>
          <a:ln w="6350">
            <a:solidFill>
              <a:srgbClr val="FFFFFF"/>
            </a:solidFill>
            <a:prstDash val="solid"/>
          </a:ln>
        </p:spPr>
      </p:sp>
      <p:sp>
        <p:nvSpPr>
          <p:cNvPr id="126" name="Text 124"/>
          <p:cNvSpPr txBox="1"/>
          <p:nvPr/>
        </p:nvSpPr>
        <p:spPr>
          <a:xfrm>
            <a:off x="4599066" y="5472286"/>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27" name="Shape 125"/>
          <p:cNvSpPr/>
          <p:nvPr/>
        </p:nvSpPr>
        <p:spPr>
          <a:xfrm>
            <a:off x="5353035" y="5472286"/>
            <a:ext cx="608853" cy="183138"/>
          </a:xfrm>
          <a:prstGeom prst="rect">
            <a:avLst/>
          </a:prstGeom>
          <a:solidFill>
            <a:srgbClr val="D9D9D9"/>
          </a:solidFill>
          <a:ln w="6350">
            <a:solidFill>
              <a:srgbClr val="FFFFFF"/>
            </a:solidFill>
            <a:prstDash val="solid"/>
          </a:ln>
        </p:spPr>
      </p:sp>
      <p:sp>
        <p:nvSpPr>
          <p:cNvPr id="128" name="Text 126"/>
          <p:cNvSpPr txBox="1"/>
          <p:nvPr/>
        </p:nvSpPr>
        <p:spPr>
          <a:xfrm>
            <a:off x="5353035" y="5472286"/>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29" name="Text 127"/>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2807208" y="5713257"/>
            <a:ext cx="1791858" cy="183138"/>
          </a:xfrm>
          <a:prstGeom prst="rect">
            <a:avLst/>
          </a:prstGeom>
          <a:solidFill>
            <a:srgbClr val="2587C5"/>
          </a:solidFill>
          <a:ln w="6350">
            <a:solidFill>
              <a:srgbClr val="FFFFFF"/>
            </a:solidFill>
            <a:prstDash val="solid"/>
          </a:ln>
        </p:spPr>
      </p:sp>
      <p:sp>
        <p:nvSpPr>
          <p:cNvPr id="131" name="Text 129"/>
          <p:cNvSpPr txBox="1"/>
          <p:nvPr/>
        </p:nvSpPr>
        <p:spPr>
          <a:xfrm>
            <a:off x="2807208" y="5713257"/>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2" name="Shape 130"/>
          <p:cNvSpPr/>
          <p:nvPr/>
        </p:nvSpPr>
        <p:spPr>
          <a:xfrm>
            <a:off x="4599066" y="5713257"/>
            <a:ext cx="753969" cy="183138"/>
          </a:xfrm>
          <a:prstGeom prst="rect">
            <a:avLst/>
          </a:prstGeom>
          <a:solidFill>
            <a:srgbClr val="0B2C4A"/>
          </a:solidFill>
          <a:ln w="6350">
            <a:solidFill>
              <a:srgbClr val="FFFFFF"/>
            </a:solidFill>
            <a:prstDash val="solid"/>
          </a:ln>
        </p:spPr>
      </p:sp>
      <p:sp>
        <p:nvSpPr>
          <p:cNvPr id="133" name="Text 131"/>
          <p:cNvSpPr txBox="1"/>
          <p:nvPr/>
        </p:nvSpPr>
        <p:spPr>
          <a:xfrm>
            <a:off x="4599066" y="5713257"/>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34" name="Shape 132"/>
          <p:cNvSpPr/>
          <p:nvPr/>
        </p:nvSpPr>
        <p:spPr>
          <a:xfrm>
            <a:off x="5353035" y="5713257"/>
            <a:ext cx="608853" cy="183138"/>
          </a:xfrm>
          <a:prstGeom prst="rect">
            <a:avLst/>
          </a:prstGeom>
          <a:solidFill>
            <a:srgbClr val="D9D9D9"/>
          </a:solidFill>
          <a:ln w="6350">
            <a:solidFill>
              <a:srgbClr val="FFFFFF"/>
            </a:solidFill>
            <a:prstDash val="solid"/>
          </a:ln>
        </p:spPr>
      </p:sp>
      <p:sp>
        <p:nvSpPr>
          <p:cNvPr id="135" name="Text 133"/>
          <p:cNvSpPr txBox="1"/>
          <p:nvPr/>
        </p:nvSpPr>
        <p:spPr>
          <a:xfrm>
            <a:off x="5353035" y="5713257"/>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36" name="Text 134"/>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7" name="Shape 135"/>
          <p:cNvSpPr/>
          <p:nvPr/>
        </p:nvSpPr>
        <p:spPr>
          <a:xfrm>
            <a:off x="8357616" y="1857717"/>
            <a:ext cx="1738229" cy="183138"/>
          </a:xfrm>
          <a:prstGeom prst="rect">
            <a:avLst/>
          </a:prstGeom>
          <a:solidFill>
            <a:srgbClr val="2587C5"/>
          </a:solidFill>
          <a:ln w="6350">
            <a:solidFill>
              <a:srgbClr val="FFFFFF"/>
            </a:solidFill>
            <a:prstDash val="solid"/>
          </a:ln>
        </p:spPr>
      </p:sp>
      <p:sp>
        <p:nvSpPr>
          <p:cNvPr id="138" name="Text 136"/>
          <p:cNvSpPr txBox="1"/>
          <p:nvPr/>
        </p:nvSpPr>
        <p:spPr>
          <a:xfrm>
            <a:off x="8357616" y="1857717"/>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39" name="Shape 137"/>
          <p:cNvSpPr/>
          <p:nvPr/>
        </p:nvSpPr>
        <p:spPr>
          <a:xfrm>
            <a:off x="10095845" y="1857717"/>
            <a:ext cx="1116757" cy="183138"/>
          </a:xfrm>
          <a:prstGeom prst="rect">
            <a:avLst/>
          </a:prstGeom>
          <a:solidFill>
            <a:srgbClr val="0B2C4A"/>
          </a:solidFill>
          <a:ln w="6350">
            <a:solidFill>
              <a:srgbClr val="FFFFFF"/>
            </a:solidFill>
            <a:prstDash val="solid"/>
          </a:ln>
        </p:spPr>
      </p:sp>
      <p:sp>
        <p:nvSpPr>
          <p:cNvPr id="140" name="Text 138"/>
          <p:cNvSpPr txBox="1"/>
          <p:nvPr/>
        </p:nvSpPr>
        <p:spPr>
          <a:xfrm>
            <a:off x="10095845" y="1857717"/>
            <a:ext cx="11167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41" name="Shape 139"/>
          <p:cNvSpPr/>
          <p:nvPr/>
        </p:nvSpPr>
        <p:spPr>
          <a:xfrm>
            <a:off x="11212601" y="1857717"/>
            <a:ext cx="299695" cy="183138"/>
          </a:xfrm>
          <a:prstGeom prst="rect">
            <a:avLst/>
          </a:prstGeom>
          <a:solidFill>
            <a:srgbClr val="D9D9D9"/>
          </a:solidFill>
          <a:ln w="6350">
            <a:solidFill>
              <a:srgbClr val="FFFFFF"/>
            </a:solidFill>
            <a:prstDash val="solid"/>
          </a:ln>
        </p:spPr>
      </p:sp>
      <p:sp>
        <p:nvSpPr>
          <p:cNvPr id="142" name="Text 140"/>
          <p:cNvSpPr txBox="1"/>
          <p:nvPr/>
        </p:nvSpPr>
        <p:spPr>
          <a:xfrm>
            <a:off x="11212601" y="1857717"/>
            <a:ext cx="29969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3" name="Text 141"/>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4" name="Shape 142"/>
          <p:cNvSpPr/>
          <p:nvPr/>
        </p:nvSpPr>
        <p:spPr>
          <a:xfrm>
            <a:off x="8357616" y="2098688"/>
            <a:ext cx="1738229" cy="183138"/>
          </a:xfrm>
          <a:prstGeom prst="rect">
            <a:avLst/>
          </a:prstGeom>
          <a:solidFill>
            <a:srgbClr val="2587C5"/>
          </a:solidFill>
          <a:ln w="6350">
            <a:solidFill>
              <a:srgbClr val="FFFFFF"/>
            </a:solidFill>
            <a:prstDash val="solid"/>
          </a:ln>
        </p:spPr>
      </p:sp>
      <p:sp>
        <p:nvSpPr>
          <p:cNvPr id="145" name="Text 143"/>
          <p:cNvSpPr txBox="1"/>
          <p:nvPr/>
        </p:nvSpPr>
        <p:spPr>
          <a:xfrm>
            <a:off x="8357616" y="2098688"/>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6" name="Shape 144"/>
          <p:cNvSpPr/>
          <p:nvPr/>
        </p:nvSpPr>
        <p:spPr>
          <a:xfrm>
            <a:off x="10095845" y="2098688"/>
            <a:ext cx="933785" cy="183138"/>
          </a:xfrm>
          <a:prstGeom prst="rect">
            <a:avLst/>
          </a:prstGeom>
          <a:solidFill>
            <a:srgbClr val="0B2C4A"/>
          </a:solidFill>
          <a:ln w="6350">
            <a:solidFill>
              <a:srgbClr val="FFFFFF"/>
            </a:solidFill>
            <a:prstDash val="solid"/>
          </a:ln>
        </p:spPr>
      </p:sp>
      <p:sp>
        <p:nvSpPr>
          <p:cNvPr id="147" name="Text 145"/>
          <p:cNvSpPr txBox="1"/>
          <p:nvPr/>
        </p:nvSpPr>
        <p:spPr>
          <a:xfrm>
            <a:off x="10095845" y="2098688"/>
            <a:ext cx="93378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48" name="Shape 146"/>
          <p:cNvSpPr/>
          <p:nvPr/>
        </p:nvSpPr>
        <p:spPr>
          <a:xfrm>
            <a:off x="11029630" y="2098688"/>
            <a:ext cx="482666" cy="183138"/>
          </a:xfrm>
          <a:prstGeom prst="rect">
            <a:avLst/>
          </a:prstGeom>
          <a:solidFill>
            <a:srgbClr val="D9D9D9"/>
          </a:solidFill>
          <a:ln w="6350">
            <a:solidFill>
              <a:srgbClr val="FFFFFF"/>
            </a:solidFill>
            <a:prstDash val="solid"/>
          </a:ln>
        </p:spPr>
      </p:sp>
      <p:sp>
        <p:nvSpPr>
          <p:cNvPr id="149" name="Text 147"/>
          <p:cNvSpPr txBox="1"/>
          <p:nvPr/>
        </p:nvSpPr>
        <p:spPr>
          <a:xfrm>
            <a:off x="11029630" y="2098688"/>
            <a:ext cx="48266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50" name="Text 148"/>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51" name="Shape 149"/>
          <p:cNvSpPr/>
          <p:nvPr/>
        </p:nvSpPr>
        <p:spPr>
          <a:xfrm>
            <a:off x="8357616" y="2339659"/>
            <a:ext cx="1533174" cy="183138"/>
          </a:xfrm>
          <a:prstGeom prst="rect">
            <a:avLst/>
          </a:prstGeom>
          <a:solidFill>
            <a:srgbClr val="2587C5"/>
          </a:solidFill>
          <a:ln w="6350">
            <a:solidFill>
              <a:srgbClr val="FFFFFF"/>
            </a:solidFill>
            <a:prstDash val="solid"/>
          </a:ln>
        </p:spPr>
      </p:sp>
      <p:sp>
        <p:nvSpPr>
          <p:cNvPr id="152" name="Text 150"/>
          <p:cNvSpPr txBox="1"/>
          <p:nvPr/>
        </p:nvSpPr>
        <p:spPr>
          <a:xfrm>
            <a:off x="8357616" y="2339659"/>
            <a:ext cx="15331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53" name="Shape 151"/>
          <p:cNvSpPr/>
          <p:nvPr/>
        </p:nvSpPr>
        <p:spPr>
          <a:xfrm>
            <a:off x="9890790" y="2339659"/>
            <a:ext cx="1306038" cy="183138"/>
          </a:xfrm>
          <a:prstGeom prst="rect">
            <a:avLst/>
          </a:prstGeom>
          <a:solidFill>
            <a:srgbClr val="0B2C4A"/>
          </a:solidFill>
          <a:ln w="6350">
            <a:solidFill>
              <a:srgbClr val="FFFFFF"/>
            </a:solidFill>
            <a:prstDash val="solid"/>
          </a:ln>
        </p:spPr>
      </p:sp>
      <p:sp>
        <p:nvSpPr>
          <p:cNvPr id="154" name="Text 152"/>
          <p:cNvSpPr txBox="1"/>
          <p:nvPr/>
        </p:nvSpPr>
        <p:spPr>
          <a:xfrm>
            <a:off x="9890790" y="2339659"/>
            <a:ext cx="13060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55" name="Shape 153"/>
          <p:cNvSpPr/>
          <p:nvPr/>
        </p:nvSpPr>
        <p:spPr>
          <a:xfrm>
            <a:off x="11196828" y="2339659"/>
            <a:ext cx="315468" cy="183138"/>
          </a:xfrm>
          <a:prstGeom prst="rect">
            <a:avLst/>
          </a:prstGeom>
          <a:solidFill>
            <a:srgbClr val="D9D9D9"/>
          </a:solidFill>
          <a:ln w="6350">
            <a:solidFill>
              <a:srgbClr val="FFFFFF"/>
            </a:solidFill>
            <a:prstDash val="solid"/>
          </a:ln>
        </p:spPr>
      </p:sp>
      <p:sp>
        <p:nvSpPr>
          <p:cNvPr id="156" name="Text 154"/>
          <p:cNvSpPr txBox="1"/>
          <p:nvPr/>
        </p:nvSpPr>
        <p:spPr>
          <a:xfrm>
            <a:off x="11196828" y="2339659"/>
            <a:ext cx="31546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57" name="Text 155"/>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58" name="Shape 156"/>
          <p:cNvSpPr/>
          <p:nvPr/>
        </p:nvSpPr>
        <p:spPr>
          <a:xfrm>
            <a:off x="8357616" y="2580630"/>
            <a:ext cx="1384905" cy="183138"/>
          </a:xfrm>
          <a:prstGeom prst="rect">
            <a:avLst/>
          </a:prstGeom>
          <a:solidFill>
            <a:srgbClr val="2587C5"/>
          </a:solidFill>
          <a:ln w="6350">
            <a:solidFill>
              <a:srgbClr val="FFFFFF"/>
            </a:solidFill>
            <a:prstDash val="solid"/>
          </a:ln>
        </p:spPr>
      </p:sp>
      <p:sp>
        <p:nvSpPr>
          <p:cNvPr id="159" name="Text 157"/>
          <p:cNvSpPr txBox="1"/>
          <p:nvPr/>
        </p:nvSpPr>
        <p:spPr>
          <a:xfrm>
            <a:off x="8357616" y="2580630"/>
            <a:ext cx="13849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44</a:t>
            </a:r>
            <a:endParaRPr lang="en-US" sz="1300" dirty="0"/>
          </a:p>
        </p:txBody>
      </p:sp>
      <p:sp>
        <p:nvSpPr>
          <p:cNvPr id="160" name="Shape 158"/>
          <p:cNvSpPr/>
          <p:nvPr/>
        </p:nvSpPr>
        <p:spPr>
          <a:xfrm>
            <a:off x="9742521" y="2580630"/>
            <a:ext cx="1315502" cy="183138"/>
          </a:xfrm>
          <a:prstGeom prst="rect">
            <a:avLst/>
          </a:prstGeom>
          <a:solidFill>
            <a:srgbClr val="0B2C4A"/>
          </a:solidFill>
          <a:ln w="6350">
            <a:solidFill>
              <a:srgbClr val="FFFFFF"/>
            </a:solidFill>
            <a:prstDash val="solid"/>
          </a:ln>
        </p:spPr>
      </p:sp>
      <p:sp>
        <p:nvSpPr>
          <p:cNvPr id="161" name="Text 159"/>
          <p:cNvSpPr txBox="1"/>
          <p:nvPr/>
        </p:nvSpPr>
        <p:spPr>
          <a:xfrm>
            <a:off x="9742521" y="2580630"/>
            <a:ext cx="13155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62" name="Shape 160"/>
          <p:cNvSpPr/>
          <p:nvPr/>
        </p:nvSpPr>
        <p:spPr>
          <a:xfrm>
            <a:off x="11058022" y="2580630"/>
            <a:ext cx="454274" cy="183138"/>
          </a:xfrm>
          <a:prstGeom prst="rect">
            <a:avLst/>
          </a:prstGeom>
          <a:solidFill>
            <a:srgbClr val="D9D9D9"/>
          </a:solidFill>
          <a:ln w="6350">
            <a:solidFill>
              <a:srgbClr val="FFFFFF"/>
            </a:solidFill>
            <a:prstDash val="solid"/>
          </a:ln>
        </p:spPr>
      </p:sp>
      <p:sp>
        <p:nvSpPr>
          <p:cNvPr id="163" name="Text 161"/>
          <p:cNvSpPr txBox="1"/>
          <p:nvPr/>
        </p:nvSpPr>
        <p:spPr>
          <a:xfrm>
            <a:off x="11058022" y="2580630"/>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64" name="Text 162"/>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5" name="Shape 163"/>
          <p:cNvSpPr/>
          <p:nvPr/>
        </p:nvSpPr>
        <p:spPr>
          <a:xfrm>
            <a:off x="8357616" y="2821602"/>
            <a:ext cx="1356512" cy="183138"/>
          </a:xfrm>
          <a:prstGeom prst="rect">
            <a:avLst/>
          </a:prstGeom>
          <a:solidFill>
            <a:srgbClr val="2587C5"/>
          </a:solidFill>
          <a:ln w="6350">
            <a:solidFill>
              <a:srgbClr val="FFFFFF"/>
            </a:solidFill>
            <a:prstDash val="solid"/>
          </a:ln>
        </p:spPr>
      </p:sp>
      <p:sp>
        <p:nvSpPr>
          <p:cNvPr id="166" name="Text 164"/>
          <p:cNvSpPr txBox="1"/>
          <p:nvPr/>
        </p:nvSpPr>
        <p:spPr>
          <a:xfrm>
            <a:off x="8357616" y="2821602"/>
            <a:ext cx="135651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67" name="Shape 165"/>
          <p:cNvSpPr/>
          <p:nvPr/>
        </p:nvSpPr>
        <p:spPr>
          <a:xfrm>
            <a:off x="9714128" y="2821602"/>
            <a:ext cx="946404" cy="183138"/>
          </a:xfrm>
          <a:prstGeom prst="rect">
            <a:avLst/>
          </a:prstGeom>
          <a:solidFill>
            <a:srgbClr val="0B2C4A"/>
          </a:solidFill>
          <a:ln w="6350">
            <a:solidFill>
              <a:srgbClr val="FFFFFF"/>
            </a:solidFill>
            <a:prstDash val="solid"/>
          </a:ln>
        </p:spPr>
      </p:sp>
      <p:sp>
        <p:nvSpPr>
          <p:cNvPr id="168" name="Text 166"/>
          <p:cNvSpPr txBox="1"/>
          <p:nvPr/>
        </p:nvSpPr>
        <p:spPr>
          <a:xfrm>
            <a:off x="9714128" y="2821602"/>
            <a:ext cx="9464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69" name="Shape 167"/>
          <p:cNvSpPr/>
          <p:nvPr/>
        </p:nvSpPr>
        <p:spPr>
          <a:xfrm>
            <a:off x="10660532" y="2821602"/>
            <a:ext cx="851764" cy="183138"/>
          </a:xfrm>
          <a:prstGeom prst="rect">
            <a:avLst/>
          </a:prstGeom>
          <a:solidFill>
            <a:srgbClr val="D9D9D9"/>
          </a:solidFill>
          <a:ln w="6350">
            <a:solidFill>
              <a:srgbClr val="FFFFFF"/>
            </a:solidFill>
            <a:prstDash val="solid"/>
          </a:ln>
        </p:spPr>
      </p:sp>
      <p:sp>
        <p:nvSpPr>
          <p:cNvPr id="170" name="Text 168"/>
          <p:cNvSpPr txBox="1"/>
          <p:nvPr/>
        </p:nvSpPr>
        <p:spPr>
          <a:xfrm>
            <a:off x="10660532" y="2821602"/>
            <a:ext cx="851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171" name="Text 169"/>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72" name="Shape 170"/>
          <p:cNvSpPr/>
          <p:nvPr/>
        </p:nvSpPr>
        <p:spPr>
          <a:xfrm>
            <a:off x="8357616" y="3062573"/>
            <a:ext cx="1350203" cy="183138"/>
          </a:xfrm>
          <a:prstGeom prst="rect">
            <a:avLst/>
          </a:prstGeom>
          <a:solidFill>
            <a:srgbClr val="2587C5"/>
          </a:solidFill>
          <a:ln w="6350">
            <a:solidFill>
              <a:srgbClr val="FFFFFF"/>
            </a:solidFill>
            <a:prstDash val="solid"/>
          </a:ln>
        </p:spPr>
      </p:sp>
      <p:sp>
        <p:nvSpPr>
          <p:cNvPr id="173" name="Text 171"/>
          <p:cNvSpPr txBox="1"/>
          <p:nvPr/>
        </p:nvSpPr>
        <p:spPr>
          <a:xfrm>
            <a:off x="8357616" y="3062573"/>
            <a:ext cx="13502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74" name="Shape 172"/>
          <p:cNvSpPr/>
          <p:nvPr/>
        </p:nvSpPr>
        <p:spPr>
          <a:xfrm>
            <a:off x="9707819" y="3062573"/>
            <a:ext cx="911703" cy="183138"/>
          </a:xfrm>
          <a:prstGeom prst="rect">
            <a:avLst/>
          </a:prstGeom>
          <a:solidFill>
            <a:srgbClr val="0B2C4A"/>
          </a:solidFill>
          <a:ln w="6350">
            <a:solidFill>
              <a:srgbClr val="FFFFFF"/>
            </a:solidFill>
            <a:prstDash val="solid"/>
          </a:ln>
        </p:spPr>
      </p:sp>
      <p:sp>
        <p:nvSpPr>
          <p:cNvPr id="175" name="Text 173"/>
          <p:cNvSpPr txBox="1"/>
          <p:nvPr/>
        </p:nvSpPr>
        <p:spPr>
          <a:xfrm>
            <a:off x="9707819" y="3062573"/>
            <a:ext cx="9117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76" name="Shape 174"/>
          <p:cNvSpPr/>
          <p:nvPr/>
        </p:nvSpPr>
        <p:spPr>
          <a:xfrm>
            <a:off x="10619522" y="3062573"/>
            <a:ext cx="892774" cy="183138"/>
          </a:xfrm>
          <a:prstGeom prst="rect">
            <a:avLst/>
          </a:prstGeom>
          <a:solidFill>
            <a:srgbClr val="D9D9D9"/>
          </a:solidFill>
          <a:ln w="6350">
            <a:solidFill>
              <a:srgbClr val="FFFFFF"/>
            </a:solidFill>
            <a:prstDash val="solid"/>
          </a:ln>
        </p:spPr>
      </p:sp>
      <p:sp>
        <p:nvSpPr>
          <p:cNvPr id="177" name="Text 175"/>
          <p:cNvSpPr txBox="1"/>
          <p:nvPr/>
        </p:nvSpPr>
        <p:spPr>
          <a:xfrm>
            <a:off x="10619522" y="3062573"/>
            <a:ext cx="8927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78" name="Text 176"/>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9" name="Shape 177"/>
          <p:cNvSpPr/>
          <p:nvPr/>
        </p:nvSpPr>
        <p:spPr>
          <a:xfrm>
            <a:off x="8357616" y="3303544"/>
            <a:ext cx="1293419" cy="183138"/>
          </a:xfrm>
          <a:prstGeom prst="rect">
            <a:avLst/>
          </a:prstGeom>
          <a:solidFill>
            <a:srgbClr val="2587C5"/>
          </a:solidFill>
          <a:ln w="6350">
            <a:solidFill>
              <a:srgbClr val="FFFFFF"/>
            </a:solidFill>
            <a:prstDash val="solid"/>
          </a:ln>
        </p:spPr>
      </p:sp>
      <p:sp>
        <p:nvSpPr>
          <p:cNvPr id="180" name="Text 178"/>
          <p:cNvSpPr txBox="1"/>
          <p:nvPr/>
        </p:nvSpPr>
        <p:spPr>
          <a:xfrm>
            <a:off x="8357616" y="3303544"/>
            <a:ext cx="12934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1" name="Shape 179"/>
          <p:cNvSpPr/>
          <p:nvPr/>
        </p:nvSpPr>
        <p:spPr>
          <a:xfrm>
            <a:off x="9651035" y="3303544"/>
            <a:ext cx="1618351" cy="183138"/>
          </a:xfrm>
          <a:prstGeom prst="rect">
            <a:avLst/>
          </a:prstGeom>
          <a:solidFill>
            <a:srgbClr val="0B2C4A"/>
          </a:solidFill>
          <a:ln w="6350">
            <a:solidFill>
              <a:srgbClr val="FFFFFF"/>
            </a:solidFill>
            <a:prstDash val="solid"/>
          </a:ln>
        </p:spPr>
      </p:sp>
      <p:sp>
        <p:nvSpPr>
          <p:cNvPr id="182" name="Text 180"/>
          <p:cNvSpPr txBox="1"/>
          <p:nvPr/>
        </p:nvSpPr>
        <p:spPr>
          <a:xfrm>
            <a:off x="9651035" y="3303544"/>
            <a:ext cx="16183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83" name="Shape 181"/>
          <p:cNvSpPr/>
          <p:nvPr/>
        </p:nvSpPr>
        <p:spPr>
          <a:xfrm>
            <a:off x="11269386" y="3303544"/>
            <a:ext cx="242910" cy="183138"/>
          </a:xfrm>
          <a:prstGeom prst="rect">
            <a:avLst/>
          </a:prstGeom>
          <a:solidFill>
            <a:srgbClr val="D9D9D9"/>
          </a:solidFill>
          <a:ln w="6350">
            <a:solidFill>
              <a:srgbClr val="FFFFFF"/>
            </a:solidFill>
            <a:prstDash val="solid"/>
          </a:ln>
        </p:spPr>
      </p:sp>
      <p:sp>
        <p:nvSpPr>
          <p:cNvPr id="184" name="Text 182"/>
          <p:cNvSpPr txBox="1"/>
          <p:nvPr/>
        </p:nvSpPr>
        <p:spPr>
          <a:xfrm>
            <a:off x="11269386" y="3303544"/>
            <a:ext cx="2429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85" name="Text 183"/>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6" name="Shape 184"/>
          <p:cNvSpPr/>
          <p:nvPr/>
        </p:nvSpPr>
        <p:spPr>
          <a:xfrm>
            <a:off x="8357616" y="3544516"/>
            <a:ext cx="1280800" cy="183138"/>
          </a:xfrm>
          <a:prstGeom prst="rect">
            <a:avLst/>
          </a:prstGeom>
          <a:solidFill>
            <a:srgbClr val="2587C5"/>
          </a:solidFill>
          <a:ln w="6350">
            <a:solidFill>
              <a:srgbClr val="FFFFFF"/>
            </a:solidFill>
            <a:prstDash val="solid"/>
          </a:ln>
        </p:spPr>
      </p:sp>
      <p:sp>
        <p:nvSpPr>
          <p:cNvPr id="187" name="Text 185"/>
          <p:cNvSpPr txBox="1"/>
          <p:nvPr/>
        </p:nvSpPr>
        <p:spPr>
          <a:xfrm>
            <a:off x="8357616" y="3544516"/>
            <a:ext cx="12808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8" name="Shape 186"/>
          <p:cNvSpPr/>
          <p:nvPr/>
        </p:nvSpPr>
        <p:spPr>
          <a:xfrm>
            <a:off x="9638416" y="3544516"/>
            <a:ext cx="1523710" cy="183138"/>
          </a:xfrm>
          <a:prstGeom prst="rect">
            <a:avLst/>
          </a:prstGeom>
          <a:solidFill>
            <a:srgbClr val="0B2C4A"/>
          </a:solidFill>
          <a:ln w="6350">
            <a:solidFill>
              <a:srgbClr val="FFFFFF"/>
            </a:solidFill>
            <a:prstDash val="solid"/>
          </a:ln>
        </p:spPr>
      </p:sp>
      <p:sp>
        <p:nvSpPr>
          <p:cNvPr id="189" name="Text 187"/>
          <p:cNvSpPr txBox="1"/>
          <p:nvPr/>
        </p:nvSpPr>
        <p:spPr>
          <a:xfrm>
            <a:off x="9638416" y="3544516"/>
            <a:ext cx="15237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90" name="Shape 188"/>
          <p:cNvSpPr/>
          <p:nvPr/>
        </p:nvSpPr>
        <p:spPr>
          <a:xfrm>
            <a:off x="11162127" y="3544516"/>
            <a:ext cx="350169" cy="183138"/>
          </a:xfrm>
          <a:prstGeom prst="rect">
            <a:avLst/>
          </a:prstGeom>
          <a:solidFill>
            <a:srgbClr val="D9D9D9"/>
          </a:solidFill>
          <a:ln w="6350">
            <a:solidFill>
              <a:srgbClr val="FFFFFF"/>
            </a:solidFill>
            <a:prstDash val="solid"/>
          </a:ln>
        </p:spPr>
      </p:sp>
      <p:sp>
        <p:nvSpPr>
          <p:cNvPr id="191" name="Text 189"/>
          <p:cNvSpPr txBox="1"/>
          <p:nvPr/>
        </p:nvSpPr>
        <p:spPr>
          <a:xfrm>
            <a:off x="11162127" y="3544516"/>
            <a:ext cx="35016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192" name="Text 190"/>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93" name="Shape 191"/>
          <p:cNvSpPr/>
          <p:nvPr/>
        </p:nvSpPr>
        <p:spPr>
          <a:xfrm>
            <a:off x="8357616" y="3785487"/>
            <a:ext cx="1268181" cy="183138"/>
          </a:xfrm>
          <a:prstGeom prst="rect">
            <a:avLst/>
          </a:prstGeom>
          <a:solidFill>
            <a:srgbClr val="2587C5"/>
          </a:solidFill>
          <a:ln w="6350">
            <a:solidFill>
              <a:srgbClr val="FFFFFF"/>
            </a:solidFill>
            <a:prstDash val="solid"/>
          </a:ln>
        </p:spPr>
      </p:sp>
      <p:sp>
        <p:nvSpPr>
          <p:cNvPr id="194" name="Text 192"/>
          <p:cNvSpPr txBox="1"/>
          <p:nvPr/>
        </p:nvSpPr>
        <p:spPr>
          <a:xfrm>
            <a:off x="8357616" y="3785487"/>
            <a:ext cx="126818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195" name="Shape 193"/>
          <p:cNvSpPr/>
          <p:nvPr/>
        </p:nvSpPr>
        <p:spPr>
          <a:xfrm>
            <a:off x="9625797" y="3785487"/>
            <a:ext cx="1321811" cy="183138"/>
          </a:xfrm>
          <a:prstGeom prst="rect">
            <a:avLst/>
          </a:prstGeom>
          <a:solidFill>
            <a:srgbClr val="0B2C4A"/>
          </a:solidFill>
          <a:ln w="6350">
            <a:solidFill>
              <a:srgbClr val="FFFFFF"/>
            </a:solidFill>
            <a:prstDash val="solid"/>
          </a:ln>
        </p:spPr>
      </p:sp>
      <p:sp>
        <p:nvSpPr>
          <p:cNvPr id="196" name="Text 194"/>
          <p:cNvSpPr txBox="1"/>
          <p:nvPr/>
        </p:nvSpPr>
        <p:spPr>
          <a:xfrm>
            <a:off x="9625797" y="3785487"/>
            <a:ext cx="13218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97" name="Shape 195"/>
          <p:cNvSpPr/>
          <p:nvPr/>
        </p:nvSpPr>
        <p:spPr>
          <a:xfrm>
            <a:off x="10947608" y="3785487"/>
            <a:ext cx="564688" cy="183138"/>
          </a:xfrm>
          <a:prstGeom prst="rect">
            <a:avLst/>
          </a:prstGeom>
          <a:solidFill>
            <a:srgbClr val="D9D9D9"/>
          </a:solidFill>
          <a:ln w="6350">
            <a:solidFill>
              <a:srgbClr val="FFFFFF"/>
            </a:solidFill>
            <a:prstDash val="solid"/>
          </a:ln>
        </p:spPr>
      </p:sp>
      <p:sp>
        <p:nvSpPr>
          <p:cNvPr id="198" name="Text 196"/>
          <p:cNvSpPr txBox="1"/>
          <p:nvPr/>
        </p:nvSpPr>
        <p:spPr>
          <a:xfrm>
            <a:off x="10947608" y="3785487"/>
            <a:ext cx="56468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99" name="Text 197"/>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00" name="Shape 198"/>
          <p:cNvSpPr/>
          <p:nvPr/>
        </p:nvSpPr>
        <p:spPr>
          <a:xfrm>
            <a:off x="8357616" y="4026458"/>
            <a:ext cx="1211397" cy="183138"/>
          </a:xfrm>
          <a:prstGeom prst="rect">
            <a:avLst/>
          </a:prstGeom>
          <a:solidFill>
            <a:srgbClr val="2587C5"/>
          </a:solidFill>
          <a:ln w="6350">
            <a:solidFill>
              <a:srgbClr val="FFFFFF"/>
            </a:solidFill>
            <a:prstDash val="solid"/>
          </a:ln>
        </p:spPr>
      </p:sp>
      <p:sp>
        <p:nvSpPr>
          <p:cNvPr id="201" name="Text 199"/>
          <p:cNvSpPr txBox="1"/>
          <p:nvPr/>
        </p:nvSpPr>
        <p:spPr>
          <a:xfrm>
            <a:off x="8357616" y="4026458"/>
            <a:ext cx="121139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02" name="Shape 200"/>
          <p:cNvSpPr/>
          <p:nvPr/>
        </p:nvSpPr>
        <p:spPr>
          <a:xfrm>
            <a:off x="9569013" y="4026458"/>
            <a:ext cx="1028426" cy="183138"/>
          </a:xfrm>
          <a:prstGeom prst="rect">
            <a:avLst/>
          </a:prstGeom>
          <a:solidFill>
            <a:srgbClr val="0B2C4A"/>
          </a:solidFill>
          <a:ln w="6350">
            <a:solidFill>
              <a:srgbClr val="FFFFFF"/>
            </a:solidFill>
            <a:prstDash val="solid"/>
          </a:ln>
        </p:spPr>
      </p:sp>
      <p:sp>
        <p:nvSpPr>
          <p:cNvPr id="203" name="Text 201"/>
          <p:cNvSpPr txBox="1"/>
          <p:nvPr/>
        </p:nvSpPr>
        <p:spPr>
          <a:xfrm>
            <a:off x="9569013" y="4026458"/>
            <a:ext cx="102842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04" name="Shape 202"/>
          <p:cNvSpPr/>
          <p:nvPr/>
        </p:nvSpPr>
        <p:spPr>
          <a:xfrm>
            <a:off x="10597439" y="4026458"/>
            <a:ext cx="914857" cy="183138"/>
          </a:xfrm>
          <a:prstGeom prst="rect">
            <a:avLst/>
          </a:prstGeom>
          <a:solidFill>
            <a:srgbClr val="D9D9D9"/>
          </a:solidFill>
          <a:ln w="6350">
            <a:solidFill>
              <a:srgbClr val="FFFFFF"/>
            </a:solidFill>
            <a:prstDash val="solid"/>
          </a:ln>
        </p:spPr>
      </p:sp>
      <p:sp>
        <p:nvSpPr>
          <p:cNvPr id="205" name="Text 203"/>
          <p:cNvSpPr txBox="1"/>
          <p:nvPr/>
        </p:nvSpPr>
        <p:spPr>
          <a:xfrm>
            <a:off x="10597439" y="4026458"/>
            <a:ext cx="91485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06" name="Text 204"/>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07" name="Shape 205"/>
          <p:cNvSpPr/>
          <p:nvPr/>
        </p:nvSpPr>
        <p:spPr>
          <a:xfrm>
            <a:off x="8357616" y="4267429"/>
            <a:ext cx="1107293" cy="183138"/>
          </a:xfrm>
          <a:prstGeom prst="rect">
            <a:avLst/>
          </a:prstGeom>
          <a:solidFill>
            <a:srgbClr val="2587C5"/>
          </a:solidFill>
          <a:ln w="6350">
            <a:solidFill>
              <a:srgbClr val="FFFFFF"/>
            </a:solidFill>
            <a:prstDash val="solid"/>
          </a:ln>
        </p:spPr>
      </p:sp>
      <p:sp>
        <p:nvSpPr>
          <p:cNvPr id="208" name="Text 206"/>
          <p:cNvSpPr txBox="1"/>
          <p:nvPr/>
        </p:nvSpPr>
        <p:spPr>
          <a:xfrm>
            <a:off x="8357616" y="4267429"/>
            <a:ext cx="110729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209" name="Shape 207"/>
          <p:cNvSpPr/>
          <p:nvPr/>
        </p:nvSpPr>
        <p:spPr>
          <a:xfrm>
            <a:off x="9464909" y="4267429"/>
            <a:ext cx="1192469" cy="183138"/>
          </a:xfrm>
          <a:prstGeom prst="rect">
            <a:avLst/>
          </a:prstGeom>
          <a:solidFill>
            <a:srgbClr val="0B2C4A"/>
          </a:solidFill>
          <a:ln w="6350">
            <a:solidFill>
              <a:srgbClr val="FFFFFF"/>
            </a:solidFill>
            <a:prstDash val="solid"/>
          </a:ln>
        </p:spPr>
      </p:sp>
      <p:sp>
        <p:nvSpPr>
          <p:cNvPr id="210" name="Text 208"/>
          <p:cNvSpPr txBox="1"/>
          <p:nvPr/>
        </p:nvSpPr>
        <p:spPr>
          <a:xfrm>
            <a:off x="9464909" y="4267429"/>
            <a:ext cx="11924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11" name="Shape 209"/>
          <p:cNvSpPr/>
          <p:nvPr/>
        </p:nvSpPr>
        <p:spPr>
          <a:xfrm>
            <a:off x="10657378" y="4267429"/>
            <a:ext cx="854918" cy="183138"/>
          </a:xfrm>
          <a:prstGeom prst="rect">
            <a:avLst/>
          </a:prstGeom>
          <a:solidFill>
            <a:srgbClr val="D9D9D9"/>
          </a:solidFill>
          <a:ln w="6350">
            <a:solidFill>
              <a:srgbClr val="FFFFFF"/>
            </a:solidFill>
            <a:prstDash val="solid"/>
          </a:ln>
        </p:spPr>
      </p:sp>
      <p:sp>
        <p:nvSpPr>
          <p:cNvPr id="212" name="Text 210"/>
          <p:cNvSpPr txBox="1"/>
          <p:nvPr/>
        </p:nvSpPr>
        <p:spPr>
          <a:xfrm>
            <a:off x="10657378" y="4267429"/>
            <a:ext cx="85491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213" name="Text 211"/>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4" name="Shape 212"/>
          <p:cNvSpPr/>
          <p:nvPr/>
        </p:nvSpPr>
        <p:spPr>
          <a:xfrm>
            <a:off x="8357616" y="4508401"/>
            <a:ext cx="1069437" cy="183138"/>
          </a:xfrm>
          <a:prstGeom prst="rect">
            <a:avLst/>
          </a:prstGeom>
          <a:solidFill>
            <a:srgbClr val="2587C5"/>
          </a:solidFill>
          <a:ln w="6350">
            <a:solidFill>
              <a:srgbClr val="FFFFFF"/>
            </a:solidFill>
            <a:prstDash val="solid"/>
          </a:ln>
        </p:spPr>
      </p:sp>
      <p:sp>
        <p:nvSpPr>
          <p:cNvPr id="215" name="Text 213"/>
          <p:cNvSpPr txBox="1"/>
          <p:nvPr/>
        </p:nvSpPr>
        <p:spPr>
          <a:xfrm>
            <a:off x="8357616" y="4508401"/>
            <a:ext cx="10694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16" name="Shape 214"/>
          <p:cNvSpPr/>
          <p:nvPr/>
        </p:nvSpPr>
        <p:spPr>
          <a:xfrm>
            <a:off x="9427053" y="4508401"/>
            <a:ext cx="82022" cy="183138"/>
          </a:xfrm>
          <a:prstGeom prst="rect">
            <a:avLst/>
          </a:prstGeom>
          <a:solidFill>
            <a:srgbClr val="0B2C4A"/>
          </a:solidFill>
          <a:ln w="6350">
            <a:solidFill>
              <a:srgbClr val="FFFFFF"/>
            </a:solidFill>
            <a:prstDash val="solid"/>
          </a:ln>
        </p:spPr>
      </p:sp>
      <p:sp>
        <p:nvSpPr>
          <p:cNvPr id="217" name="Shape 215"/>
          <p:cNvSpPr/>
          <p:nvPr/>
        </p:nvSpPr>
        <p:spPr>
          <a:xfrm>
            <a:off x="9509074" y="4508401"/>
            <a:ext cx="2003222" cy="183138"/>
          </a:xfrm>
          <a:prstGeom prst="rect">
            <a:avLst/>
          </a:prstGeom>
          <a:solidFill>
            <a:srgbClr val="D9D9D9"/>
          </a:solidFill>
          <a:ln w="6350">
            <a:solidFill>
              <a:srgbClr val="FFFFFF"/>
            </a:solidFill>
            <a:prstDash val="solid"/>
          </a:ln>
        </p:spPr>
      </p:sp>
      <p:sp>
        <p:nvSpPr>
          <p:cNvPr id="218" name="Text 216"/>
          <p:cNvSpPr txBox="1"/>
          <p:nvPr/>
        </p:nvSpPr>
        <p:spPr>
          <a:xfrm>
            <a:off x="9509074" y="4508401"/>
            <a:ext cx="2003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64</a:t>
            </a:r>
            <a:endParaRPr lang="en-US" sz="1300" dirty="0"/>
          </a:p>
        </p:txBody>
      </p:sp>
      <p:sp>
        <p:nvSpPr>
          <p:cNvPr id="219" name="Text 217"/>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20" name="Shape 218"/>
          <p:cNvSpPr/>
          <p:nvPr/>
        </p:nvSpPr>
        <p:spPr>
          <a:xfrm>
            <a:off x="8357616" y="4749372"/>
            <a:ext cx="1034735" cy="183138"/>
          </a:xfrm>
          <a:prstGeom prst="rect">
            <a:avLst/>
          </a:prstGeom>
          <a:solidFill>
            <a:srgbClr val="2587C5"/>
          </a:solidFill>
          <a:ln w="6350">
            <a:solidFill>
              <a:srgbClr val="FFFFFF"/>
            </a:solidFill>
            <a:prstDash val="solid"/>
          </a:ln>
        </p:spPr>
      </p:sp>
      <p:sp>
        <p:nvSpPr>
          <p:cNvPr id="221" name="Text 219"/>
          <p:cNvSpPr txBox="1"/>
          <p:nvPr/>
        </p:nvSpPr>
        <p:spPr>
          <a:xfrm>
            <a:off x="8357616" y="4749372"/>
            <a:ext cx="1034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22" name="Shape 220"/>
          <p:cNvSpPr/>
          <p:nvPr/>
        </p:nvSpPr>
        <p:spPr>
          <a:xfrm>
            <a:off x="9392351" y="4749372"/>
            <a:ext cx="1722455" cy="183138"/>
          </a:xfrm>
          <a:prstGeom prst="rect">
            <a:avLst/>
          </a:prstGeom>
          <a:solidFill>
            <a:srgbClr val="0B2C4A"/>
          </a:solidFill>
          <a:ln w="6350">
            <a:solidFill>
              <a:srgbClr val="FFFFFF"/>
            </a:solidFill>
            <a:prstDash val="solid"/>
          </a:ln>
        </p:spPr>
      </p:sp>
      <p:sp>
        <p:nvSpPr>
          <p:cNvPr id="223" name="Text 221"/>
          <p:cNvSpPr txBox="1"/>
          <p:nvPr/>
        </p:nvSpPr>
        <p:spPr>
          <a:xfrm>
            <a:off x="9392351" y="4749372"/>
            <a:ext cx="17224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224" name="Shape 222"/>
          <p:cNvSpPr/>
          <p:nvPr/>
        </p:nvSpPr>
        <p:spPr>
          <a:xfrm>
            <a:off x="11114806" y="4749372"/>
            <a:ext cx="397490" cy="183138"/>
          </a:xfrm>
          <a:prstGeom prst="rect">
            <a:avLst/>
          </a:prstGeom>
          <a:solidFill>
            <a:srgbClr val="D9D9D9"/>
          </a:solidFill>
          <a:ln w="6350">
            <a:solidFill>
              <a:srgbClr val="FFFFFF"/>
            </a:solidFill>
            <a:prstDash val="solid"/>
          </a:ln>
        </p:spPr>
      </p:sp>
      <p:sp>
        <p:nvSpPr>
          <p:cNvPr id="225" name="Text 223"/>
          <p:cNvSpPr txBox="1"/>
          <p:nvPr/>
        </p:nvSpPr>
        <p:spPr>
          <a:xfrm>
            <a:off x="11114806" y="4749372"/>
            <a:ext cx="3974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226" name="Text 224"/>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27" name="Shape 225"/>
          <p:cNvSpPr/>
          <p:nvPr/>
        </p:nvSpPr>
        <p:spPr>
          <a:xfrm>
            <a:off x="8357616" y="4990343"/>
            <a:ext cx="1015807" cy="183138"/>
          </a:xfrm>
          <a:prstGeom prst="rect">
            <a:avLst/>
          </a:prstGeom>
          <a:solidFill>
            <a:srgbClr val="2587C5"/>
          </a:solidFill>
          <a:ln w="6350">
            <a:solidFill>
              <a:srgbClr val="FFFFFF"/>
            </a:solidFill>
            <a:prstDash val="solid"/>
          </a:ln>
        </p:spPr>
      </p:sp>
      <p:sp>
        <p:nvSpPr>
          <p:cNvPr id="228" name="Text 226"/>
          <p:cNvSpPr txBox="1"/>
          <p:nvPr/>
        </p:nvSpPr>
        <p:spPr>
          <a:xfrm>
            <a:off x="8357616"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229" name="Shape 227"/>
          <p:cNvSpPr/>
          <p:nvPr/>
        </p:nvSpPr>
        <p:spPr>
          <a:xfrm>
            <a:off x="9373423" y="4990343"/>
            <a:ext cx="936940" cy="183138"/>
          </a:xfrm>
          <a:prstGeom prst="rect">
            <a:avLst/>
          </a:prstGeom>
          <a:solidFill>
            <a:srgbClr val="0B2C4A"/>
          </a:solidFill>
          <a:ln w="6350">
            <a:solidFill>
              <a:srgbClr val="FFFFFF"/>
            </a:solidFill>
            <a:prstDash val="solid"/>
          </a:ln>
        </p:spPr>
      </p:sp>
      <p:sp>
        <p:nvSpPr>
          <p:cNvPr id="230" name="Text 228"/>
          <p:cNvSpPr txBox="1"/>
          <p:nvPr/>
        </p:nvSpPr>
        <p:spPr>
          <a:xfrm>
            <a:off x="9373423" y="4990343"/>
            <a:ext cx="9369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231" name="Shape 229"/>
          <p:cNvSpPr/>
          <p:nvPr/>
        </p:nvSpPr>
        <p:spPr>
          <a:xfrm>
            <a:off x="10310363" y="4990343"/>
            <a:ext cx="1201933" cy="183138"/>
          </a:xfrm>
          <a:prstGeom prst="rect">
            <a:avLst/>
          </a:prstGeom>
          <a:solidFill>
            <a:srgbClr val="D9D9D9"/>
          </a:solidFill>
          <a:ln w="6350">
            <a:solidFill>
              <a:srgbClr val="FFFFFF"/>
            </a:solidFill>
            <a:prstDash val="solid"/>
          </a:ln>
        </p:spPr>
      </p:sp>
      <p:sp>
        <p:nvSpPr>
          <p:cNvPr id="232" name="Text 230"/>
          <p:cNvSpPr txBox="1"/>
          <p:nvPr/>
        </p:nvSpPr>
        <p:spPr>
          <a:xfrm>
            <a:off x="10310363" y="4990343"/>
            <a:ext cx="12019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33" name="Text 231"/>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4" name="Shape 232"/>
          <p:cNvSpPr/>
          <p:nvPr/>
        </p:nvSpPr>
        <p:spPr>
          <a:xfrm>
            <a:off x="8357616" y="5231315"/>
            <a:ext cx="867537" cy="183138"/>
          </a:xfrm>
          <a:prstGeom prst="rect">
            <a:avLst/>
          </a:prstGeom>
          <a:solidFill>
            <a:srgbClr val="2587C5"/>
          </a:solidFill>
          <a:ln w="6350">
            <a:solidFill>
              <a:srgbClr val="FFFFFF"/>
            </a:solidFill>
            <a:prstDash val="solid"/>
          </a:ln>
        </p:spPr>
      </p:sp>
      <p:sp>
        <p:nvSpPr>
          <p:cNvPr id="235" name="Text 233"/>
          <p:cNvSpPr txBox="1"/>
          <p:nvPr/>
        </p:nvSpPr>
        <p:spPr>
          <a:xfrm>
            <a:off x="8357616" y="5231315"/>
            <a:ext cx="8675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36" name="Shape 234"/>
          <p:cNvSpPr/>
          <p:nvPr/>
        </p:nvSpPr>
        <p:spPr>
          <a:xfrm>
            <a:off x="9225153" y="5231315"/>
            <a:ext cx="864382" cy="183138"/>
          </a:xfrm>
          <a:prstGeom prst="rect">
            <a:avLst/>
          </a:prstGeom>
          <a:solidFill>
            <a:srgbClr val="0B2C4A"/>
          </a:solidFill>
          <a:ln w="6350">
            <a:solidFill>
              <a:srgbClr val="FFFFFF"/>
            </a:solidFill>
            <a:prstDash val="solid"/>
          </a:ln>
        </p:spPr>
      </p:sp>
      <p:sp>
        <p:nvSpPr>
          <p:cNvPr id="237" name="Text 235"/>
          <p:cNvSpPr txBox="1"/>
          <p:nvPr/>
        </p:nvSpPr>
        <p:spPr>
          <a:xfrm>
            <a:off x="9225153" y="5231315"/>
            <a:ext cx="8643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38" name="Shape 236"/>
          <p:cNvSpPr/>
          <p:nvPr/>
        </p:nvSpPr>
        <p:spPr>
          <a:xfrm>
            <a:off x="10089535" y="5231315"/>
            <a:ext cx="1422761" cy="183138"/>
          </a:xfrm>
          <a:prstGeom prst="rect">
            <a:avLst/>
          </a:prstGeom>
          <a:solidFill>
            <a:srgbClr val="D9D9D9"/>
          </a:solidFill>
          <a:ln w="6350">
            <a:solidFill>
              <a:srgbClr val="FFFFFF"/>
            </a:solidFill>
            <a:prstDash val="solid"/>
          </a:ln>
        </p:spPr>
      </p:sp>
      <p:sp>
        <p:nvSpPr>
          <p:cNvPr id="239" name="Text 237"/>
          <p:cNvSpPr txBox="1"/>
          <p:nvPr/>
        </p:nvSpPr>
        <p:spPr>
          <a:xfrm>
            <a:off x="10089535" y="5231315"/>
            <a:ext cx="142276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45</a:t>
            </a:r>
            <a:endParaRPr lang="en-US" sz="1300" dirty="0"/>
          </a:p>
        </p:txBody>
      </p:sp>
      <p:sp>
        <p:nvSpPr>
          <p:cNvPr id="240" name="Text 238"/>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41" name="Shape 239"/>
          <p:cNvSpPr/>
          <p:nvPr/>
        </p:nvSpPr>
        <p:spPr>
          <a:xfrm>
            <a:off x="8357616" y="5472286"/>
            <a:ext cx="835990" cy="183138"/>
          </a:xfrm>
          <a:prstGeom prst="rect">
            <a:avLst/>
          </a:prstGeom>
          <a:solidFill>
            <a:srgbClr val="2587C5"/>
          </a:solidFill>
          <a:ln w="6350">
            <a:solidFill>
              <a:srgbClr val="FFFFFF"/>
            </a:solidFill>
            <a:prstDash val="solid"/>
          </a:ln>
        </p:spPr>
      </p:sp>
      <p:sp>
        <p:nvSpPr>
          <p:cNvPr id="242" name="Text 240"/>
          <p:cNvSpPr txBox="1"/>
          <p:nvPr/>
        </p:nvSpPr>
        <p:spPr>
          <a:xfrm>
            <a:off x="8357616" y="5472286"/>
            <a:ext cx="8359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43" name="Shape 241"/>
          <p:cNvSpPr/>
          <p:nvPr/>
        </p:nvSpPr>
        <p:spPr>
          <a:xfrm>
            <a:off x="9193606" y="5472286"/>
            <a:ext cx="684566" cy="183138"/>
          </a:xfrm>
          <a:prstGeom prst="rect">
            <a:avLst/>
          </a:prstGeom>
          <a:solidFill>
            <a:srgbClr val="0B2C4A"/>
          </a:solidFill>
          <a:ln w="6350">
            <a:solidFill>
              <a:srgbClr val="FFFFFF"/>
            </a:solidFill>
            <a:prstDash val="solid"/>
          </a:ln>
        </p:spPr>
      </p:sp>
      <p:sp>
        <p:nvSpPr>
          <p:cNvPr id="244" name="Text 242"/>
          <p:cNvSpPr txBox="1"/>
          <p:nvPr/>
        </p:nvSpPr>
        <p:spPr>
          <a:xfrm>
            <a:off x="9193606" y="5472286"/>
            <a:ext cx="68456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245" name="Shape 243"/>
          <p:cNvSpPr/>
          <p:nvPr/>
        </p:nvSpPr>
        <p:spPr>
          <a:xfrm>
            <a:off x="9878172" y="5472286"/>
            <a:ext cx="1634124" cy="183138"/>
          </a:xfrm>
          <a:prstGeom prst="rect">
            <a:avLst/>
          </a:prstGeom>
          <a:solidFill>
            <a:srgbClr val="D9D9D9"/>
          </a:solidFill>
          <a:ln w="6350">
            <a:solidFill>
              <a:srgbClr val="FFFFFF"/>
            </a:solidFill>
            <a:prstDash val="solid"/>
          </a:ln>
        </p:spPr>
      </p:sp>
      <p:sp>
        <p:nvSpPr>
          <p:cNvPr id="246" name="Text 244"/>
          <p:cNvSpPr txBox="1"/>
          <p:nvPr/>
        </p:nvSpPr>
        <p:spPr>
          <a:xfrm>
            <a:off x="9878172" y="5472286"/>
            <a:ext cx="163412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47" name="Shape 245"/>
          <p:cNvSpPr/>
          <p:nvPr/>
        </p:nvSpPr>
        <p:spPr>
          <a:xfrm>
            <a:off x="457200" y="6126480"/>
            <a:ext cx="11274552" cy="615696"/>
          </a:xfrm>
          <a:prstGeom prst="rect">
            <a:avLst/>
          </a:prstGeom>
          <a:solidFill>
            <a:srgbClr val="EDF4FA"/>
          </a:solidFill>
          <a:ln/>
        </p:spPr>
      </p:sp>
      <p:sp>
        <p:nvSpPr>
          <p:cNvPr id="248" name="Text 24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Maintenance is 54.3% of customer-pay labor, repair 30.5%, and 15.2% cannot be classified from its description (19.0% in 2025).</a:t>
            </a:r>
            <a:endParaRPr lang="en-US" sz="1600" dirty="0"/>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Effective Labor Rate?</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Effective labor rate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average amount we collect for each hour of customer-pay labor we sell.</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 hour sold is worth the ELR, so it sets the value of the whole shop.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The gap to door rate is money given away. Our benchmark: CP ELR at least 70% of door rate.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pricing, discounting and mix are under control.</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Door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posted rate, set from a market labor study</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Menus and loss leaders below door rate pull ELR down</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Repair work raises ELR; quick maintenance lowers it</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discount lowers ELR. Run them through ADC so we can see them.</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Labor grid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Prices longer jobs differently; should lift ELR on repair work</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labor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hours we set and pay the tech on menu jobs; repair times come from labor guides</a:t>
            </a:r>
            <a:endParaRPr lang="en-US" sz="1400" dirty="0"/>
          </a:p>
        </p:txBody>
      </p:sp>
      <p:sp>
        <p:nvSpPr>
          <p:cNvPr id="25" name="Shape 23"/>
          <p:cNvSpPr/>
          <p:nvPr/>
        </p:nvSpPr>
        <p:spPr>
          <a:xfrm>
            <a:off x="457200" y="6126480"/>
            <a:ext cx="11274552" cy="364236"/>
          </a:xfrm>
          <a:prstGeom prst="rect">
            <a:avLst/>
          </a:prstGeom>
          <a:solidFill>
            <a:srgbClr val="E6F6EE"/>
          </a:solidFill>
          <a:ln/>
        </p:spPr>
      </p:sp>
      <p:sp>
        <p:nvSpPr>
          <p:cNvPr id="26" name="Text 24"/>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Group: $162.42 CP ELR, up $3.56. Jul-Sep it ran 74.7% of door rate; 25 of 33 stores at or above 70%.</a:t>
            </a:r>
            <a:endParaRPr lang="en-US" sz="1550" dirty="0"/>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$158.86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$3.56 to $162.42, ahead of 2025 in all nine months.</a:t>
            </a:r>
            <a:endParaRPr lang="en-US" sz="1600" dirty="0"/>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$162.42</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Each segment ranked on its own. Navy line = each segment's average; green at or above it.</a:t>
            </a:r>
            <a:endParaRPr lang="en-US" sz="1400" dirty="0"/>
          </a:p>
        </p:txBody>
      </p:sp>
      <p:sp>
        <p:nvSpPr>
          <p:cNvPr id="12" name="Text 10"/>
          <p:cNvSpPr txBox="1"/>
          <p:nvPr/>
        </p:nvSpPr>
        <p:spPr>
          <a:xfrm>
            <a:off x="658368" y="21762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$217.79</a:t>
            </a:r>
            <a:endParaRPr lang="en-US" sz="1300" dirty="0"/>
          </a:p>
        </p:txBody>
      </p:sp>
      <p:sp>
        <p:nvSpPr>
          <p:cNvPr id="13" name="Shape 11"/>
          <p:cNvSpPr/>
          <p:nvPr/>
        </p:nvSpPr>
        <p:spPr>
          <a:xfrm>
            <a:off x="658368" y="2366264"/>
            <a:ext cx="5303520" cy="18288"/>
          </a:xfrm>
          <a:prstGeom prst="rect">
            <a:avLst/>
          </a:prstGeom>
          <a:solidFill>
            <a:srgbClr val="0B2C4A"/>
          </a:solidFill>
          <a:ln/>
        </p:spPr>
      </p:sp>
      <p:sp>
        <p:nvSpPr>
          <p:cNvPr id="14" name="Text 12"/>
          <p:cNvSpPr txBox="1"/>
          <p:nvPr/>
        </p:nvSpPr>
        <p:spPr>
          <a:xfrm>
            <a:off x="658368"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6" name="Shape 14"/>
          <p:cNvSpPr/>
          <p:nvPr/>
        </p:nvSpPr>
        <p:spPr>
          <a:xfrm>
            <a:off x="3008376" y="2436622"/>
            <a:ext cx="1457852" cy="104140"/>
          </a:xfrm>
          <a:prstGeom prst="rect">
            <a:avLst/>
          </a:prstGeom>
          <a:solidFill>
            <a:srgbClr val="12A566"/>
          </a:solidFill>
          <a:ln/>
        </p:spPr>
      </p:sp>
      <p:sp>
        <p:nvSpPr>
          <p:cNvPr id="17" name="Text 15"/>
          <p:cNvSpPr txBox="1"/>
          <p:nvPr/>
        </p:nvSpPr>
        <p:spPr>
          <a:xfrm>
            <a:off x="4754880"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$266.32</a:t>
            </a:r>
            <a:endParaRPr lang="en-US" sz="1200" dirty="0"/>
          </a:p>
        </p:txBody>
      </p:sp>
      <p:sp>
        <p:nvSpPr>
          <p:cNvPr id="18" name="Text 16"/>
          <p:cNvSpPr txBox="1"/>
          <p:nvPr/>
        </p:nvSpPr>
        <p:spPr>
          <a:xfrm>
            <a:off x="658368"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0" name="Shape 18"/>
          <p:cNvSpPr/>
          <p:nvPr/>
        </p:nvSpPr>
        <p:spPr>
          <a:xfrm>
            <a:off x="3008376" y="2644902"/>
            <a:ext cx="1286740" cy="104140"/>
          </a:xfrm>
          <a:prstGeom prst="rect">
            <a:avLst/>
          </a:prstGeom>
          <a:solidFill>
            <a:srgbClr val="12A566"/>
          </a:solidFill>
          <a:ln/>
        </p:spPr>
      </p:sp>
      <p:sp>
        <p:nvSpPr>
          <p:cNvPr id="21" name="Text 19"/>
          <p:cNvSpPr txBox="1"/>
          <p:nvPr/>
        </p:nvSpPr>
        <p:spPr>
          <a:xfrm>
            <a:off x="4754880"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$235.07</a:t>
            </a:r>
            <a:endParaRPr lang="en-US" sz="1200" dirty="0"/>
          </a:p>
        </p:txBody>
      </p:sp>
      <p:sp>
        <p:nvSpPr>
          <p:cNvPr id="22" name="Text 20"/>
          <p:cNvSpPr txBox="1"/>
          <p:nvPr/>
        </p:nvSpPr>
        <p:spPr>
          <a:xfrm>
            <a:off x="658368"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4" name="Shape 22"/>
          <p:cNvSpPr/>
          <p:nvPr/>
        </p:nvSpPr>
        <p:spPr>
          <a:xfrm>
            <a:off x="3008376" y="2853182"/>
            <a:ext cx="1283929" cy="104140"/>
          </a:xfrm>
          <a:prstGeom prst="rect">
            <a:avLst/>
          </a:prstGeom>
          <a:solidFill>
            <a:srgbClr val="12A566"/>
          </a:solidFill>
          <a:ln/>
        </p:spPr>
      </p:sp>
      <p:sp>
        <p:nvSpPr>
          <p:cNvPr id="25" name="Text 23"/>
          <p:cNvSpPr txBox="1"/>
          <p:nvPr/>
        </p:nvSpPr>
        <p:spPr>
          <a:xfrm>
            <a:off x="4754880"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$234.55</a:t>
            </a:r>
            <a:endParaRPr lang="en-US" sz="1200" dirty="0"/>
          </a:p>
        </p:txBody>
      </p:sp>
      <p:sp>
        <p:nvSpPr>
          <p:cNvPr id="26" name="Text 24"/>
          <p:cNvSpPr txBox="1"/>
          <p:nvPr/>
        </p:nvSpPr>
        <p:spPr>
          <a:xfrm>
            <a:off x="658368"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8" name="Shape 26"/>
          <p:cNvSpPr/>
          <p:nvPr/>
        </p:nvSpPr>
        <p:spPr>
          <a:xfrm>
            <a:off x="3008376" y="3061462"/>
            <a:ext cx="1279771" cy="104140"/>
          </a:xfrm>
          <a:prstGeom prst="rect">
            <a:avLst/>
          </a:prstGeom>
          <a:solidFill>
            <a:srgbClr val="12A566"/>
          </a:solidFill>
          <a:ln/>
        </p:spPr>
      </p:sp>
      <p:sp>
        <p:nvSpPr>
          <p:cNvPr id="29" name="Text 27"/>
          <p:cNvSpPr txBox="1"/>
          <p:nvPr/>
        </p:nvSpPr>
        <p:spPr>
          <a:xfrm>
            <a:off x="4754880"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$233.79</a:t>
            </a:r>
            <a:endParaRPr lang="en-US" sz="1200" dirty="0"/>
          </a:p>
        </p:txBody>
      </p:sp>
      <p:sp>
        <p:nvSpPr>
          <p:cNvPr id="30" name="Text 28"/>
          <p:cNvSpPr txBox="1"/>
          <p:nvPr/>
        </p:nvSpPr>
        <p:spPr>
          <a:xfrm>
            <a:off x="658368"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1" name="Text 29"/>
          <p:cNvSpPr txBox="1"/>
          <p:nvPr/>
        </p:nvSpPr>
        <p:spPr>
          <a:xfrm>
            <a:off x="1014984"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2" name="Shape 30"/>
          <p:cNvSpPr/>
          <p:nvPr/>
        </p:nvSpPr>
        <p:spPr>
          <a:xfrm>
            <a:off x="3008376" y="3269742"/>
            <a:ext cx="1277948" cy="104140"/>
          </a:xfrm>
          <a:prstGeom prst="rect">
            <a:avLst/>
          </a:prstGeom>
          <a:solidFill>
            <a:srgbClr val="12A566"/>
          </a:solidFill>
          <a:ln/>
        </p:spPr>
      </p:sp>
      <p:sp>
        <p:nvSpPr>
          <p:cNvPr id="33" name="Text 31"/>
          <p:cNvSpPr txBox="1"/>
          <p:nvPr/>
        </p:nvSpPr>
        <p:spPr>
          <a:xfrm>
            <a:off x="4754880" y="32176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$233.46</a:t>
            </a:r>
            <a:endParaRPr lang="en-US" sz="1200" dirty="0"/>
          </a:p>
        </p:txBody>
      </p:sp>
      <p:sp>
        <p:nvSpPr>
          <p:cNvPr id="34" name="Text 32"/>
          <p:cNvSpPr txBox="1"/>
          <p:nvPr/>
        </p:nvSpPr>
        <p:spPr>
          <a:xfrm>
            <a:off x="658368"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5" name="Text 33"/>
          <p:cNvSpPr txBox="1"/>
          <p:nvPr/>
        </p:nvSpPr>
        <p:spPr>
          <a:xfrm>
            <a:off x="1014984"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6" name="Shape 34"/>
          <p:cNvSpPr/>
          <p:nvPr/>
        </p:nvSpPr>
        <p:spPr>
          <a:xfrm>
            <a:off x="3008376" y="3478022"/>
            <a:ext cx="1215860" cy="104140"/>
          </a:xfrm>
          <a:prstGeom prst="rect">
            <a:avLst/>
          </a:prstGeom>
          <a:solidFill>
            <a:srgbClr val="12A566"/>
          </a:solidFill>
          <a:ln/>
        </p:spPr>
      </p:sp>
      <p:sp>
        <p:nvSpPr>
          <p:cNvPr id="37" name="Text 35"/>
          <p:cNvSpPr txBox="1"/>
          <p:nvPr/>
        </p:nvSpPr>
        <p:spPr>
          <a:xfrm>
            <a:off x="4754880" y="34259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$222.12</a:t>
            </a:r>
            <a:endParaRPr lang="en-US" sz="1200" dirty="0"/>
          </a:p>
        </p:txBody>
      </p:sp>
      <p:sp>
        <p:nvSpPr>
          <p:cNvPr id="38" name="Text 36"/>
          <p:cNvSpPr txBox="1"/>
          <p:nvPr/>
        </p:nvSpPr>
        <p:spPr>
          <a:xfrm>
            <a:off x="658368"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9" name="Text 37"/>
          <p:cNvSpPr txBox="1"/>
          <p:nvPr/>
        </p:nvSpPr>
        <p:spPr>
          <a:xfrm>
            <a:off x="1014984"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0" name="Shape 38"/>
          <p:cNvSpPr/>
          <p:nvPr/>
        </p:nvSpPr>
        <p:spPr>
          <a:xfrm>
            <a:off x="3008376" y="3686302"/>
            <a:ext cx="1058054" cy="104140"/>
          </a:xfrm>
          <a:prstGeom prst="rect">
            <a:avLst/>
          </a:prstGeom>
          <a:solidFill>
            <a:srgbClr val="C2352F"/>
          </a:solidFill>
          <a:ln/>
        </p:spPr>
      </p:sp>
      <p:sp>
        <p:nvSpPr>
          <p:cNvPr id="41" name="Text 39"/>
          <p:cNvSpPr txBox="1"/>
          <p:nvPr/>
        </p:nvSpPr>
        <p:spPr>
          <a:xfrm>
            <a:off x="4754880"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$193.29</a:t>
            </a:r>
            <a:endParaRPr lang="en-US" sz="1200" dirty="0"/>
          </a:p>
        </p:txBody>
      </p:sp>
      <p:sp>
        <p:nvSpPr>
          <p:cNvPr id="42" name="Text 40"/>
          <p:cNvSpPr txBox="1"/>
          <p:nvPr/>
        </p:nvSpPr>
        <p:spPr>
          <a:xfrm>
            <a:off x="658368"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3" name="Text 41"/>
          <p:cNvSpPr txBox="1"/>
          <p:nvPr/>
        </p:nvSpPr>
        <p:spPr>
          <a:xfrm>
            <a:off x="1014984"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3008376" y="3894582"/>
            <a:ext cx="930641" cy="104140"/>
          </a:xfrm>
          <a:prstGeom prst="rect">
            <a:avLst/>
          </a:prstGeom>
          <a:solidFill>
            <a:srgbClr val="C2352F"/>
          </a:solidFill>
          <a:ln/>
        </p:spPr>
      </p:sp>
      <p:sp>
        <p:nvSpPr>
          <p:cNvPr id="45" name="Text 43"/>
          <p:cNvSpPr txBox="1"/>
          <p:nvPr/>
        </p:nvSpPr>
        <p:spPr>
          <a:xfrm>
            <a:off x="4754880"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$170.01</a:t>
            </a:r>
            <a:endParaRPr lang="en-US" sz="1200" dirty="0"/>
          </a:p>
        </p:txBody>
      </p:sp>
      <p:sp>
        <p:nvSpPr>
          <p:cNvPr id="46" name="Text 44"/>
          <p:cNvSpPr txBox="1"/>
          <p:nvPr/>
        </p:nvSpPr>
        <p:spPr>
          <a:xfrm>
            <a:off x="658368"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7" name="Text 45"/>
          <p:cNvSpPr txBox="1"/>
          <p:nvPr/>
        </p:nvSpPr>
        <p:spPr>
          <a:xfrm>
            <a:off x="1014984"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8" name="Shape 46"/>
          <p:cNvSpPr/>
          <p:nvPr/>
        </p:nvSpPr>
        <p:spPr>
          <a:xfrm>
            <a:off x="3008376" y="4102862"/>
            <a:ext cx="917631" cy="104140"/>
          </a:xfrm>
          <a:prstGeom prst="rect">
            <a:avLst/>
          </a:prstGeom>
          <a:solidFill>
            <a:srgbClr val="C2352F"/>
          </a:solidFill>
          <a:ln/>
        </p:spPr>
      </p:sp>
      <p:sp>
        <p:nvSpPr>
          <p:cNvPr id="49" name="Text 47"/>
          <p:cNvSpPr txBox="1"/>
          <p:nvPr/>
        </p:nvSpPr>
        <p:spPr>
          <a:xfrm>
            <a:off x="4754880"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$167.64</a:t>
            </a:r>
            <a:endParaRPr lang="en-US" sz="1200" dirty="0"/>
          </a:p>
        </p:txBody>
      </p:sp>
      <p:sp>
        <p:nvSpPr>
          <p:cNvPr id="50" name="Text 48"/>
          <p:cNvSpPr txBox="1"/>
          <p:nvPr/>
        </p:nvSpPr>
        <p:spPr>
          <a:xfrm>
            <a:off x="658368" y="42590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$151.32</a:t>
            </a:r>
            <a:endParaRPr lang="en-US" sz="1300" dirty="0"/>
          </a:p>
        </p:txBody>
      </p:sp>
      <p:sp>
        <p:nvSpPr>
          <p:cNvPr id="51" name="Shape 49"/>
          <p:cNvSpPr/>
          <p:nvPr/>
        </p:nvSpPr>
        <p:spPr>
          <a:xfrm>
            <a:off x="658368" y="4449064"/>
            <a:ext cx="5303520" cy="18288"/>
          </a:xfrm>
          <a:prstGeom prst="rect">
            <a:avLst/>
          </a:prstGeom>
          <a:solidFill>
            <a:srgbClr val="0B2C4A"/>
          </a:solidFill>
          <a:ln/>
        </p:spPr>
      </p:sp>
      <p:sp>
        <p:nvSpPr>
          <p:cNvPr id="52" name="Text 50"/>
          <p:cNvSpPr txBox="1"/>
          <p:nvPr/>
        </p:nvSpPr>
        <p:spPr>
          <a:xfrm>
            <a:off x="658368"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4" name="Shape 52"/>
          <p:cNvSpPr/>
          <p:nvPr/>
        </p:nvSpPr>
        <p:spPr>
          <a:xfrm>
            <a:off x="3008376" y="4519422"/>
            <a:ext cx="1658471" cy="104140"/>
          </a:xfrm>
          <a:prstGeom prst="rect">
            <a:avLst/>
          </a:prstGeom>
          <a:solidFill>
            <a:srgbClr val="12A566"/>
          </a:solidFill>
          <a:ln/>
        </p:spPr>
      </p:sp>
      <p:sp>
        <p:nvSpPr>
          <p:cNvPr id="55" name="Text 53"/>
          <p:cNvSpPr txBox="1"/>
          <p:nvPr/>
        </p:nvSpPr>
        <p:spPr>
          <a:xfrm>
            <a:off x="4754880" y="44673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$210.50</a:t>
            </a:r>
            <a:endParaRPr lang="en-US" sz="1200" dirty="0"/>
          </a:p>
        </p:txBody>
      </p:sp>
      <p:sp>
        <p:nvSpPr>
          <p:cNvPr id="56" name="Text 54"/>
          <p:cNvSpPr txBox="1"/>
          <p:nvPr/>
        </p:nvSpPr>
        <p:spPr>
          <a:xfrm>
            <a:off x="658368"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727702"/>
            <a:ext cx="1385836" cy="104140"/>
          </a:xfrm>
          <a:prstGeom prst="rect">
            <a:avLst/>
          </a:prstGeom>
          <a:solidFill>
            <a:srgbClr val="12A566"/>
          </a:solidFill>
          <a:ln/>
        </p:spPr>
      </p:sp>
      <p:sp>
        <p:nvSpPr>
          <p:cNvPr id="59" name="Text 57"/>
          <p:cNvSpPr txBox="1"/>
          <p:nvPr/>
        </p:nvSpPr>
        <p:spPr>
          <a:xfrm>
            <a:off x="4754880" y="46756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$175.90</a:t>
            </a:r>
            <a:endParaRPr lang="en-US" sz="1200" dirty="0"/>
          </a:p>
        </p:txBody>
      </p:sp>
      <p:sp>
        <p:nvSpPr>
          <p:cNvPr id="60" name="Text 58"/>
          <p:cNvSpPr txBox="1"/>
          <p:nvPr/>
        </p:nvSpPr>
        <p:spPr>
          <a:xfrm>
            <a:off x="658368"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2" name="Shape 60"/>
          <p:cNvSpPr/>
          <p:nvPr/>
        </p:nvSpPr>
        <p:spPr>
          <a:xfrm>
            <a:off x="3008376" y="4935982"/>
            <a:ext cx="1311361" cy="104140"/>
          </a:xfrm>
          <a:prstGeom prst="rect">
            <a:avLst/>
          </a:prstGeom>
          <a:solidFill>
            <a:srgbClr val="12A566"/>
          </a:solidFill>
          <a:ln/>
        </p:spPr>
      </p:sp>
      <p:sp>
        <p:nvSpPr>
          <p:cNvPr id="63" name="Text 61"/>
          <p:cNvSpPr txBox="1"/>
          <p:nvPr/>
        </p:nvSpPr>
        <p:spPr>
          <a:xfrm>
            <a:off x="4754880" y="48839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$166.44</a:t>
            </a:r>
            <a:endParaRPr lang="en-US" sz="1200" dirty="0"/>
          </a:p>
        </p:txBody>
      </p:sp>
      <p:sp>
        <p:nvSpPr>
          <p:cNvPr id="64" name="Text 62"/>
          <p:cNvSpPr txBox="1"/>
          <p:nvPr/>
        </p:nvSpPr>
        <p:spPr>
          <a:xfrm>
            <a:off x="658368"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6" name="Shape 64"/>
          <p:cNvSpPr/>
          <p:nvPr/>
        </p:nvSpPr>
        <p:spPr>
          <a:xfrm>
            <a:off x="3008376" y="5144262"/>
            <a:ext cx="1289251" cy="104140"/>
          </a:xfrm>
          <a:prstGeom prst="rect">
            <a:avLst/>
          </a:prstGeom>
          <a:solidFill>
            <a:srgbClr val="12A566"/>
          </a:solidFill>
          <a:ln/>
        </p:spPr>
      </p:sp>
      <p:sp>
        <p:nvSpPr>
          <p:cNvPr id="67" name="Text 65"/>
          <p:cNvSpPr txBox="1"/>
          <p:nvPr/>
        </p:nvSpPr>
        <p:spPr>
          <a:xfrm>
            <a:off x="4754880" y="50921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$163.64</a:t>
            </a:r>
            <a:endParaRPr lang="en-US" sz="1200" dirty="0"/>
          </a:p>
        </p:txBody>
      </p:sp>
      <p:sp>
        <p:nvSpPr>
          <p:cNvPr id="68" name="Text 66"/>
          <p:cNvSpPr txBox="1"/>
          <p:nvPr/>
        </p:nvSpPr>
        <p:spPr>
          <a:xfrm>
            <a:off x="658368"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0" name="Shape 68"/>
          <p:cNvSpPr/>
          <p:nvPr/>
        </p:nvSpPr>
        <p:spPr>
          <a:xfrm>
            <a:off x="3008376" y="5352542"/>
            <a:ext cx="1283069" cy="104140"/>
          </a:xfrm>
          <a:prstGeom prst="rect">
            <a:avLst/>
          </a:prstGeom>
          <a:solidFill>
            <a:srgbClr val="12A566"/>
          </a:solidFill>
          <a:ln/>
        </p:spPr>
      </p:sp>
      <p:sp>
        <p:nvSpPr>
          <p:cNvPr id="71" name="Text 69"/>
          <p:cNvSpPr txBox="1"/>
          <p:nvPr/>
        </p:nvSpPr>
        <p:spPr>
          <a:xfrm>
            <a:off x="4754880" y="53004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$162.85</a:t>
            </a:r>
            <a:endParaRPr lang="en-US" sz="1200" dirty="0"/>
          </a:p>
        </p:txBody>
      </p:sp>
      <p:sp>
        <p:nvSpPr>
          <p:cNvPr id="72" name="Text 70"/>
          <p:cNvSpPr txBox="1"/>
          <p:nvPr/>
        </p:nvSpPr>
        <p:spPr>
          <a:xfrm>
            <a:off x="658368"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4" name="Shape 72"/>
          <p:cNvSpPr/>
          <p:nvPr/>
        </p:nvSpPr>
        <p:spPr>
          <a:xfrm>
            <a:off x="3008376" y="5560822"/>
            <a:ext cx="1265801" cy="104140"/>
          </a:xfrm>
          <a:prstGeom prst="rect">
            <a:avLst/>
          </a:prstGeom>
          <a:solidFill>
            <a:srgbClr val="12A566"/>
          </a:solidFill>
          <a:ln/>
        </p:spPr>
      </p:sp>
      <p:sp>
        <p:nvSpPr>
          <p:cNvPr id="75" name="Text 73"/>
          <p:cNvSpPr txBox="1"/>
          <p:nvPr/>
        </p:nvSpPr>
        <p:spPr>
          <a:xfrm>
            <a:off x="4754880" y="55087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$160.66</a:t>
            </a:r>
            <a:endParaRPr lang="en-US" sz="1200" dirty="0"/>
          </a:p>
        </p:txBody>
      </p:sp>
      <p:sp>
        <p:nvSpPr>
          <p:cNvPr id="76" name="Text 74"/>
          <p:cNvSpPr txBox="1"/>
          <p:nvPr/>
        </p:nvSpPr>
        <p:spPr>
          <a:xfrm>
            <a:off x="658368" y="57170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57170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8" name="Shape 76"/>
          <p:cNvSpPr/>
          <p:nvPr/>
        </p:nvSpPr>
        <p:spPr>
          <a:xfrm>
            <a:off x="3008376" y="5769102"/>
            <a:ext cx="1257200" cy="104140"/>
          </a:xfrm>
          <a:prstGeom prst="rect">
            <a:avLst/>
          </a:prstGeom>
          <a:solidFill>
            <a:srgbClr val="12A566"/>
          </a:solidFill>
          <a:ln/>
        </p:spPr>
      </p:sp>
      <p:sp>
        <p:nvSpPr>
          <p:cNvPr id="79" name="Text 77"/>
          <p:cNvSpPr txBox="1"/>
          <p:nvPr/>
        </p:nvSpPr>
        <p:spPr>
          <a:xfrm>
            <a:off x="4754880" y="57170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$159.57</a:t>
            </a:r>
            <a:endParaRPr lang="en-US" sz="1200" dirty="0"/>
          </a:p>
        </p:txBody>
      </p:sp>
      <p:sp>
        <p:nvSpPr>
          <p:cNvPr id="80" name="Text 78"/>
          <p:cNvSpPr txBox="1"/>
          <p:nvPr/>
        </p:nvSpPr>
        <p:spPr>
          <a:xfrm>
            <a:off x="6208776" y="21762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1" name="Text 79"/>
          <p:cNvSpPr txBox="1"/>
          <p:nvPr/>
        </p:nvSpPr>
        <p:spPr>
          <a:xfrm>
            <a:off x="6565392" y="21762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2" name="Shape 80"/>
          <p:cNvSpPr/>
          <p:nvPr/>
        </p:nvSpPr>
        <p:spPr>
          <a:xfrm>
            <a:off x="8558784" y="2228342"/>
            <a:ext cx="1255672" cy="104140"/>
          </a:xfrm>
          <a:prstGeom prst="rect">
            <a:avLst/>
          </a:prstGeom>
          <a:solidFill>
            <a:srgbClr val="12A566"/>
          </a:solidFill>
          <a:ln/>
        </p:spPr>
      </p:sp>
      <p:sp>
        <p:nvSpPr>
          <p:cNvPr id="83" name="Text 81"/>
          <p:cNvSpPr txBox="1"/>
          <p:nvPr/>
        </p:nvSpPr>
        <p:spPr>
          <a:xfrm>
            <a:off x="10305288" y="21762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$159.38</a:t>
            </a:r>
            <a:endParaRPr lang="en-US" sz="1200" dirty="0"/>
          </a:p>
        </p:txBody>
      </p:sp>
      <p:sp>
        <p:nvSpPr>
          <p:cNvPr id="84" name="Text 82"/>
          <p:cNvSpPr txBox="1"/>
          <p:nvPr/>
        </p:nvSpPr>
        <p:spPr>
          <a:xfrm>
            <a:off x="6208776"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5" name="Text 83"/>
          <p:cNvSpPr txBox="1"/>
          <p:nvPr/>
        </p:nvSpPr>
        <p:spPr>
          <a:xfrm>
            <a:off x="6565392"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6" name="Shape 84"/>
          <p:cNvSpPr/>
          <p:nvPr/>
        </p:nvSpPr>
        <p:spPr>
          <a:xfrm>
            <a:off x="8558784" y="2436622"/>
            <a:ext cx="1239620" cy="104140"/>
          </a:xfrm>
          <a:prstGeom prst="rect">
            <a:avLst/>
          </a:prstGeom>
          <a:solidFill>
            <a:srgbClr val="12A566"/>
          </a:solidFill>
          <a:ln/>
        </p:spPr>
      </p:sp>
      <p:sp>
        <p:nvSpPr>
          <p:cNvPr id="87" name="Text 85"/>
          <p:cNvSpPr txBox="1"/>
          <p:nvPr/>
        </p:nvSpPr>
        <p:spPr>
          <a:xfrm>
            <a:off x="10305288"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$157.34</a:t>
            </a:r>
            <a:endParaRPr lang="en-US" sz="1200" dirty="0"/>
          </a:p>
        </p:txBody>
      </p:sp>
      <p:sp>
        <p:nvSpPr>
          <p:cNvPr id="88" name="Text 86"/>
          <p:cNvSpPr txBox="1"/>
          <p:nvPr/>
        </p:nvSpPr>
        <p:spPr>
          <a:xfrm>
            <a:off x="6208776"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89" name="Text 87"/>
          <p:cNvSpPr txBox="1"/>
          <p:nvPr/>
        </p:nvSpPr>
        <p:spPr>
          <a:xfrm>
            <a:off x="6565392"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0" name="Shape 88"/>
          <p:cNvSpPr/>
          <p:nvPr/>
        </p:nvSpPr>
        <p:spPr>
          <a:xfrm>
            <a:off x="8558784" y="2644902"/>
            <a:ext cx="1230530" cy="104140"/>
          </a:xfrm>
          <a:prstGeom prst="rect">
            <a:avLst/>
          </a:prstGeom>
          <a:solidFill>
            <a:srgbClr val="12A566"/>
          </a:solidFill>
          <a:ln/>
        </p:spPr>
      </p:sp>
      <p:sp>
        <p:nvSpPr>
          <p:cNvPr id="91" name="Text 89"/>
          <p:cNvSpPr txBox="1"/>
          <p:nvPr/>
        </p:nvSpPr>
        <p:spPr>
          <a:xfrm>
            <a:off x="10305288"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$156.18</a:t>
            </a:r>
            <a:endParaRPr lang="en-US" sz="1200" dirty="0"/>
          </a:p>
        </p:txBody>
      </p:sp>
      <p:sp>
        <p:nvSpPr>
          <p:cNvPr id="92" name="Text 90"/>
          <p:cNvSpPr txBox="1"/>
          <p:nvPr/>
        </p:nvSpPr>
        <p:spPr>
          <a:xfrm>
            <a:off x="6208776"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3" name="Text 91"/>
          <p:cNvSpPr txBox="1"/>
          <p:nvPr/>
        </p:nvSpPr>
        <p:spPr>
          <a:xfrm>
            <a:off x="6565392"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4" name="Shape 92"/>
          <p:cNvSpPr/>
          <p:nvPr/>
        </p:nvSpPr>
        <p:spPr>
          <a:xfrm>
            <a:off x="8558784" y="2853182"/>
            <a:ext cx="1217330" cy="104140"/>
          </a:xfrm>
          <a:prstGeom prst="rect">
            <a:avLst/>
          </a:prstGeom>
          <a:solidFill>
            <a:srgbClr val="12A566"/>
          </a:solidFill>
          <a:ln/>
        </p:spPr>
      </p:sp>
      <p:sp>
        <p:nvSpPr>
          <p:cNvPr id="95" name="Text 93"/>
          <p:cNvSpPr txBox="1"/>
          <p:nvPr/>
        </p:nvSpPr>
        <p:spPr>
          <a:xfrm>
            <a:off x="10305288"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$154.51</a:t>
            </a:r>
            <a:endParaRPr lang="en-US" sz="1200" dirty="0"/>
          </a:p>
        </p:txBody>
      </p:sp>
      <p:sp>
        <p:nvSpPr>
          <p:cNvPr id="96" name="Text 94"/>
          <p:cNvSpPr txBox="1"/>
          <p:nvPr/>
        </p:nvSpPr>
        <p:spPr>
          <a:xfrm>
            <a:off x="6208776"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7" name="Text 95"/>
          <p:cNvSpPr txBox="1"/>
          <p:nvPr/>
        </p:nvSpPr>
        <p:spPr>
          <a:xfrm>
            <a:off x="6565392"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8" name="Shape 96"/>
          <p:cNvSpPr/>
          <p:nvPr/>
        </p:nvSpPr>
        <p:spPr>
          <a:xfrm>
            <a:off x="8558784" y="3061462"/>
            <a:ext cx="1207702" cy="104140"/>
          </a:xfrm>
          <a:prstGeom prst="rect">
            <a:avLst/>
          </a:prstGeom>
          <a:solidFill>
            <a:srgbClr val="12A566"/>
          </a:solidFill>
          <a:ln/>
        </p:spPr>
      </p:sp>
      <p:sp>
        <p:nvSpPr>
          <p:cNvPr id="99" name="Text 97"/>
          <p:cNvSpPr txBox="1"/>
          <p:nvPr/>
        </p:nvSpPr>
        <p:spPr>
          <a:xfrm>
            <a:off x="10305288"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$153.29</a:t>
            </a:r>
            <a:endParaRPr lang="en-US" sz="1200" dirty="0"/>
          </a:p>
        </p:txBody>
      </p:sp>
      <p:sp>
        <p:nvSpPr>
          <p:cNvPr id="100" name="Text 98"/>
          <p:cNvSpPr txBox="1"/>
          <p:nvPr/>
        </p:nvSpPr>
        <p:spPr>
          <a:xfrm>
            <a:off x="6208776"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1" name="Text 99"/>
          <p:cNvSpPr txBox="1"/>
          <p:nvPr/>
        </p:nvSpPr>
        <p:spPr>
          <a:xfrm>
            <a:off x="6565392"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2" name="Shape 100"/>
          <p:cNvSpPr/>
          <p:nvPr/>
        </p:nvSpPr>
        <p:spPr>
          <a:xfrm>
            <a:off x="8558784" y="3269742"/>
            <a:ext cx="1175735" cy="104140"/>
          </a:xfrm>
          <a:prstGeom prst="rect">
            <a:avLst/>
          </a:prstGeom>
          <a:solidFill>
            <a:srgbClr val="C2352F"/>
          </a:solidFill>
          <a:ln/>
        </p:spPr>
      </p:sp>
      <p:sp>
        <p:nvSpPr>
          <p:cNvPr id="103" name="Text 101"/>
          <p:cNvSpPr txBox="1"/>
          <p:nvPr/>
        </p:nvSpPr>
        <p:spPr>
          <a:xfrm>
            <a:off x="10305288" y="32176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$149.23</a:t>
            </a:r>
            <a:endParaRPr lang="en-US" sz="1200" dirty="0"/>
          </a:p>
        </p:txBody>
      </p:sp>
      <p:sp>
        <p:nvSpPr>
          <p:cNvPr id="104" name="Text 102"/>
          <p:cNvSpPr txBox="1"/>
          <p:nvPr/>
        </p:nvSpPr>
        <p:spPr>
          <a:xfrm>
            <a:off x="6208776"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5" name="Text 103"/>
          <p:cNvSpPr txBox="1"/>
          <p:nvPr/>
        </p:nvSpPr>
        <p:spPr>
          <a:xfrm>
            <a:off x="6565392"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6" name="Shape 104"/>
          <p:cNvSpPr/>
          <p:nvPr/>
        </p:nvSpPr>
        <p:spPr>
          <a:xfrm>
            <a:off x="8558784" y="3478022"/>
            <a:ext cx="1167864" cy="104140"/>
          </a:xfrm>
          <a:prstGeom prst="rect">
            <a:avLst/>
          </a:prstGeom>
          <a:solidFill>
            <a:srgbClr val="C2352F"/>
          </a:solidFill>
          <a:ln/>
        </p:spPr>
      </p:sp>
      <p:sp>
        <p:nvSpPr>
          <p:cNvPr id="107" name="Text 105"/>
          <p:cNvSpPr txBox="1"/>
          <p:nvPr/>
        </p:nvSpPr>
        <p:spPr>
          <a:xfrm>
            <a:off x="10305288"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$148.23</a:t>
            </a:r>
            <a:endParaRPr lang="en-US" sz="1200" dirty="0"/>
          </a:p>
        </p:txBody>
      </p:sp>
      <p:sp>
        <p:nvSpPr>
          <p:cNvPr id="108" name="Text 106"/>
          <p:cNvSpPr txBox="1"/>
          <p:nvPr/>
        </p:nvSpPr>
        <p:spPr>
          <a:xfrm>
            <a:off x="6208776"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9" name="Text 107"/>
          <p:cNvSpPr txBox="1"/>
          <p:nvPr/>
        </p:nvSpPr>
        <p:spPr>
          <a:xfrm>
            <a:off x="6565392"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0" name="Shape 108"/>
          <p:cNvSpPr/>
          <p:nvPr/>
        </p:nvSpPr>
        <p:spPr>
          <a:xfrm>
            <a:off x="8558784" y="3686302"/>
            <a:ext cx="1138434" cy="104140"/>
          </a:xfrm>
          <a:prstGeom prst="rect">
            <a:avLst/>
          </a:prstGeom>
          <a:solidFill>
            <a:srgbClr val="C2352F"/>
          </a:solidFill>
          <a:ln/>
        </p:spPr>
      </p:sp>
      <p:sp>
        <p:nvSpPr>
          <p:cNvPr id="111" name="Text 109"/>
          <p:cNvSpPr txBox="1"/>
          <p:nvPr/>
        </p:nvSpPr>
        <p:spPr>
          <a:xfrm>
            <a:off x="10305288"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$144.50</a:t>
            </a:r>
            <a:endParaRPr lang="en-US" sz="1200" dirty="0"/>
          </a:p>
        </p:txBody>
      </p:sp>
      <p:sp>
        <p:nvSpPr>
          <p:cNvPr id="112" name="Text 110"/>
          <p:cNvSpPr txBox="1"/>
          <p:nvPr/>
        </p:nvSpPr>
        <p:spPr>
          <a:xfrm>
            <a:off x="6208776"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3" name="Text 111"/>
          <p:cNvSpPr txBox="1"/>
          <p:nvPr/>
        </p:nvSpPr>
        <p:spPr>
          <a:xfrm>
            <a:off x="6565392"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4" name="Shape 112"/>
          <p:cNvSpPr/>
          <p:nvPr/>
        </p:nvSpPr>
        <p:spPr>
          <a:xfrm>
            <a:off x="8558784" y="3894582"/>
            <a:ext cx="1133676" cy="104140"/>
          </a:xfrm>
          <a:prstGeom prst="rect">
            <a:avLst/>
          </a:prstGeom>
          <a:solidFill>
            <a:srgbClr val="C2352F"/>
          </a:solidFill>
          <a:ln/>
        </p:spPr>
      </p:sp>
      <p:sp>
        <p:nvSpPr>
          <p:cNvPr id="115" name="Text 113"/>
          <p:cNvSpPr txBox="1"/>
          <p:nvPr/>
        </p:nvSpPr>
        <p:spPr>
          <a:xfrm>
            <a:off x="10305288"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$143.89</a:t>
            </a:r>
            <a:endParaRPr lang="en-US" sz="1200" dirty="0"/>
          </a:p>
        </p:txBody>
      </p:sp>
      <p:sp>
        <p:nvSpPr>
          <p:cNvPr id="116" name="Text 114"/>
          <p:cNvSpPr txBox="1"/>
          <p:nvPr/>
        </p:nvSpPr>
        <p:spPr>
          <a:xfrm>
            <a:off x="6208776"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7" name="Text 115"/>
          <p:cNvSpPr txBox="1"/>
          <p:nvPr/>
        </p:nvSpPr>
        <p:spPr>
          <a:xfrm>
            <a:off x="6565392"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8" name="Shape 116"/>
          <p:cNvSpPr/>
          <p:nvPr/>
        </p:nvSpPr>
        <p:spPr>
          <a:xfrm>
            <a:off x="8558784" y="4102862"/>
            <a:ext cx="1127091" cy="104140"/>
          </a:xfrm>
          <a:prstGeom prst="rect">
            <a:avLst/>
          </a:prstGeom>
          <a:solidFill>
            <a:srgbClr val="C2352F"/>
          </a:solidFill>
          <a:ln/>
        </p:spPr>
      </p:sp>
      <p:sp>
        <p:nvSpPr>
          <p:cNvPr id="119" name="Text 117"/>
          <p:cNvSpPr txBox="1"/>
          <p:nvPr/>
        </p:nvSpPr>
        <p:spPr>
          <a:xfrm>
            <a:off x="10305288"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$143.06</a:t>
            </a:r>
            <a:endParaRPr lang="en-US" sz="1200" dirty="0"/>
          </a:p>
        </p:txBody>
      </p:sp>
      <p:sp>
        <p:nvSpPr>
          <p:cNvPr id="120" name="Text 118"/>
          <p:cNvSpPr txBox="1"/>
          <p:nvPr/>
        </p:nvSpPr>
        <p:spPr>
          <a:xfrm>
            <a:off x="6208776" y="42590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42590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2" name="Shape 120"/>
          <p:cNvSpPr/>
          <p:nvPr/>
        </p:nvSpPr>
        <p:spPr>
          <a:xfrm>
            <a:off x="8558784" y="4311142"/>
            <a:ext cx="1125055" cy="104140"/>
          </a:xfrm>
          <a:prstGeom prst="rect">
            <a:avLst/>
          </a:prstGeom>
          <a:solidFill>
            <a:srgbClr val="C2352F"/>
          </a:solidFill>
          <a:ln/>
        </p:spPr>
      </p:sp>
      <p:sp>
        <p:nvSpPr>
          <p:cNvPr id="123" name="Text 121"/>
          <p:cNvSpPr txBox="1"/>
          <p:nvPr/>
        </p:nvSpPr>
        <p:spPr>
          <a:xfrm>
            <a:off x="10305288" y="42590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$142.80</a:t>
            </a:r>
            <a:endParaRPr lang="en-US" sz="1200" dirty="0"/>
          </a:p>
        </p:txBody>
      </p:sp>
      <p:sp>
        <p:nvSpPr>
          <p:cNvPr id="124" name="Text 122"/>
          <p:cNvSpPr txBox="1"/>
          <p:nvPr/>
        </p:nvSpPr>
        <p:spPr>
          <a:xfrm>
            <a:off x="6208776"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5" name="Text 123"/>
          <p:cNvSpPr txBox="1"/>
          <p:nvPr/>
        </p:nvSpPr>
        <p:spPr>
          <a:xfrm>
            <a:off x="6565392"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6" name="Shape 124"/>
          <p:cNvSpPr/>
          <p:nvPr/>
        </p:nvSpPr>
        <p:spPr>
          <a:xfrm>
            <a:off x="8558784" y="4519422"/>
            <a:ext cx="1111707" cy="104140"/>
          </a:xfrm>
          <a:prstGeom prst="rect">
            <a:avLst/>
          </a:prstGeom>
          <a:solidFill>
            <a:srgbClr val="C2352F"/>
          </a:solidFill>
          <a:ln/>
        </p:spPr>
      </p:sp>
      <p:sp>
        <p:nvSpPr>
          <p:cNvPr id="127" name="Text 125"/>
          <p:cNvSpPr txBox="1"/>
          <p:nvPr/>
        </p:nvSpPr>
        <p:spPr>
          <a:xfrm>
            <a:off x="10305288" y="44673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$141.10</a:t>
            </a:r>
            <a:endParaRPr lang="en-US" sz="1200" dirty="0"/>
          </a:p>
        </p:txBody>
      </p:sp>
      <p:sp>
        <p:nvSpPr>
          <p:cNvPr id="128" name="Text 126"/>
          <p:cNvSpPr txBox="1"/>
          <p:nvPr/>
        </p:nvSpPr>
        <p:spPr>
          <a:xfrm>
            <a:off x="6208776"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9" name="Text 127"/>
          <p:cNvSpPr txBox="1"/>
          <p:nvPr/>
        </p:nvSpPr>
        <p:spPr>
          <a:xfrm>
            <a:off x="6565392"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0" name="Shape 128"/>
          <p:cNvSpPr/>
          <p:nvPr/>
        </p:nvSpPr>
        <p:spPr>
          <a:xfrm>
            <a:off x="8558784" y="4727702"/>
            <a:ext cx="1096152" cy="104140"/>
          </a:xfrm>
          <a:prstGeom prst="rect">
            <a:avLst/>
          </a:prstGeom>
          <a:solidFill>
            <a:srgbClr val="C2352F"/>
          </a:solidFill>
          <a:ln/>
        </p:spPr>
      </p:sp>
      <p:sp>
        <p:nvSpPr>
          <p:cNvPr id="131" name="Text 129"/>
          <p:cNvSpPr txBox="1"/>
          <p:nvPr/>
        </p:nvSpPr>
        <p:spPr>
          <a:xfrm>
            <a:off x="10305288" y="46756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$139.13</a:t>
            </a:r>
            <a:endParaRPr lang="en-US" sz="1200" dirty="0"/>
          </a:p>
        </p:txBody>
      </p:sp>
      <p:sp>
        <p:nvSpPr>
          <p:cNvPr id="132" name="Text 130"/>
          <p:cNvSpPr txBox="1"/>
          <p:nvPr/>
        </p:nvSpPr>
        <p:spPr>
          <a:xfrm>
            <a:off x="6208776"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558784" y="4935982"/>
            <a:ext cx="1091062" cy="104140"/>
          </a:xfrm>
          <a:prstGeom prst="rect">
            <a:avLst/>
          </a:prstGeom>
          <a:solidFill>
            <a:srgbClr val="C2352F"/>
          </a:solidFill>
          <a:ln/>
        </p:spPr>
      </p:sp>
      <p:sp>
        <p:nvSpPr>
          <p:cNvPr id="135" name="Text 133"/>
          <p:cNvSpPr txBox="1"/>
          <p:nvPr/>
        </p:nvSpPr>
        <p:spPr>
          <a:xfrm>
            <a:off x="10305288" y="48839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$138.48</a:t>
            </a:r>
            <a:endParaRPr lang="en-US" sz="1200" dirty="0"/>
          </a:p>
        </p:txBody>
      </p:sp>
      <p:sp>
        <p:nvSpPr>
          <p:cNvPr id="136" name="Text 134"/>
          <p:cNvSpPr txBox="1"/>
          <p:nvPr/>
        </p:nvSpPr>
        <p:spPr>
          <a:xfrm>
            <a:off x="6208776"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7" name="Text 135"/>
          <p:cNvSpPr txBox="1"/>
          <p:nvPr/>
        </p:nvSpPr>
        <p:spPr>
          <a:xfrm>
            <a:off x="6565392"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8" name="Shape 136"/>
          <p:cNvSpPr/>
          <p:nvPr/>
        </p:nvSpPr>
        <p:spPr>
          <a:xfrm>
            <a:off x="8558784" y="5144262"/>
            <a:ext cx="1064841" cy="104140"/>
          </a:xfrm>
          <a:prstGeom prst="rect">
            <a:avLst/>
          </a:prstGeom>
          <a:solidFill>
            <a:srgbClr val="C2352F"/>
          </a:solidFill>
          <a:ln/>
        </p:spPr>
      </p:sp>
      <p:sp>
        <p:nvSpPr>
          <p:cNvPr id="139" name="Text 137"/>
          <p:cNvSpPr txBox="1"/>
          <p:nvPr/>
        </p:nvSpPr>
        <p:spPr>
          <a:xfrm>
            <a:off x="10305288" y="50921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$135.15</a:t>
            </a:r>
            <a:endParaRPr lang="en-US" sz="1200" dirty="0"/>
          </a:p>
        </p:txBody>
      </p:sp>
      <p:sp>
        <p:nvSpPr>
          <p:cNvPr id="140" name="Text 138"/>
          <p:cNvSpPr txBox="1"/>
          <p:nvPr/>
        </p:nvSpPr>
        <p:spPr>
          <a:xfrm>
            <a:off x="6208776"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1" name="Text 139"/>
          <p:cNvSpPr txBox="1"/>
          <p:nvPr/>
        </p:nvSpPr>
        <p:spPr>
          <a:xfrm>
            <a:off x="6565392"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2" name="Shape 140"/>
          <p:cNvSpPr/>
          <p:nvPr/>
        </p:nvSpPr>
        <p:spPr>
          <a:xfrm>
            <a:off x="8558784" y="5352542"/>
            <a:ext cx="1027823" cy="104140"/>
          </a:xfrm>
          <a:prstGeom prst="rect">
            <a:avLst/>
          </a:prstGeom>
          <a:solidFill>
            <a:srgbClr val="C2352F"/>
          </a:solidFill>
          <a:ln/>
        </p:spPr>
      </p:sp>
      <p:sp>
        <p:nvSpPr>
          <p:cNvPr id="143" name="Text 141"/>
          <p:cNvSpPr txBox="1"/>
          <p:nvPr/>
        </p:nvSpPr>
        <p:spPr>
          <a:xfrm>
            <a:off x="10305288" y="53004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$130.46</a:t>
            </a:r>
            <a:endParaRPr lang="en-US" sz="1200" dirty="0"/>
          </a:p>
        </p:txBody>
      </p:sp>
      <p:sp>
        <p:nvSpPr>
          <p:cNvPr id="144" name="Text 142"/>
          <p:cNvSpPr txBox="1"/>
          <p:nvPr/>
        </p:nvSpPr>
        <p:spPr>
          <a:xfrm>
            <a:off x="6208776"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5" name="Text 143"/>
          <p:cNvSpPr txBox="1"/>
          <p:nvPr/>
        </p:nvSpPr>
        <p:spPr>
          <a:xfrm>
            <a:off x="6565392"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6" name="Shape 144"/>
          <p:cNvSpPr/>
          <p:nvPr/>
        </p:nvSpPr>
        <p:spPr>
          <a:xfrm>
            <a:off x="8558784" y="5560822"/>
            <a:ext cx="993409" cy="104140"/>
          </a:xfrm>
          <a:prstGeom prst="rect">
            <a:avLst/>
          </a:prstGeom>
          <a:solidFill>
            <a:srgbClr val="C2352F"/>
          </a:solidFill>
          <a:ln/>
        </p:spPr>
      </p:sp>
      <p:sp>
        <p:nvSpPr>
          <p:cNvPr id="147" name="Text 145"/>
          <p:cNvSpPr txBox="1"/>
          <p:nvPr/>
        </p:nvSpPr>
        <p:spPr>
          <a:xfrm>
            <a:off x="10305288" y="55087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$126.09</a:t>
            </a:r>
            <a:endParaRPr lang="en-US" sz="1200" dirty="0"/>
          </a:p>
        </p:txBody>
      </p:sp>
      <p:sp>
        <p:nvSpPr>
          <p:cNvPr id="148" name="Shape 146"/>
          <p:cNvSpPr/>
          <p:nvPr/>
        </p:nvSpPr>
        <p:spPr>
          <a:xfrm>
            <a:off x="4193240" y="2176272"/>
            <a:ext cx="14630" cy="3749040"/>
          </a:xfrm>
          <a:prstGeom prst="rect">
            <a:avLst/>
          </a:prstGeom>
          <a:solidFill>
            <a:srgbClr val="0B2C4A"/>
          </a:solidFill>
          <a:ln/>
        </p:spPr>
      </p:sp>
      <p:sp>
        <p:nvSpPr>
          <p:cNvPr id="149" name="Shape 147"/>
          <p:cNvSpPr/>
          <p:nvPr/>
        </p:nvSpPr>
        <p:spPr>
          <a:xfrm>
            <a:off x="9743648" y="2176272"/>
            <a:ext cx="14630" cy="3749040"/>
          </a:xfrm>
          <a:prstGeom prst="rect">
            <a:avLst/>
          </a:prstGeom>
          <a:solidFill>
            <a:srgbClr val="0B2C4A"/>
          </a:solidFill>
          <a:ln/>
        </p:spPr>
      </p:sp>
      <p:sp>
        <p:nvSpPr>
          <p:cNvPr id="150" name="Shape 148"/>
          <p:cNvSpPr/>
          <p:nvPr/>
        </p:nvSpPr>
        <p:spPr>
          <a:xfrm>
            <a:off x="6085332" y="2176272"/>
            <a:ext cx="10973" cy="3749040"/>
          </a:xfrm>
          <a:prstGeom prst="rect">
            <a:avLst/>
          </a:prstGeom>
          <a:solidFill>
            <a:srgbClr val="D9D9D9"/>
          </a:solidFill>
          <a:ln/>
        </p:spPr>
      </p:sp>
      <p:sp>
        <p:nvSpPr>
          <p:cNvPr id="151" name="Shape 149"/>
          <p:cNvSpPr/>
          <p:nvPr/>
        </p:nvSpPr>
        <p:spPr>
          <a:xfrm>
            <a:off x="457200" y="6126480"/>
            <a:ext cx="11274552" cy="615696"/>
          </a:xfrm>
          <a:prstGeom prst="rect">
            <a:avLst/>
          </a:prstGeom>
          <a:solidFill>
            <a:srgbClr val="EDF4FA"/>
          </a:solidFill>
          <a:ln/>
        </p:spPr>
      </p:sp>
      <p:sp>
        <p:nvSpPr>
          <p:cNvPr id="152" name="Text 1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6 of 9 luxury stores beat $217.79 and 12 of 24 others beat $151.32. Acura leads non-luxury at $210.50.</a:t>
            </a:r>
            <a:endParaRPr lang="en-US" sz="1600" dirty="0"/>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+$3.56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+$40.53</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38508"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1" name="Shape 19"/>
          <p:cNvSpPr/>
          <p:nvPr/>
        </p:nvSpPr>
        <p:spPr>
          <a:xfrm>
            <a:off x="3785616" y="2391651"/>
            <a:ext cx="514703"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+$26.84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5" name="Shape 23"/>
          <p:cNvSpPr/>
          <p:nvPr/>
        </p:nvSpPr>
        <p:spPr>
          <a:xfrm>
            <a:off x="3785616" y="2631546"/>
            <a:ext cx="42234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33396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323669"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+$16.88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7" name="Shape 35"/>
          <p:cNvSpPr/>
          <p:nvPr/>
        </p:nvSpPr>
        <p:spPr>
          <a:xfrm>
            <a:off x="3785616" y="3351233"/>
            <a:ext cx="28557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+$14.89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22721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3785616" y="3831024"/>
            <a:ext cx="17598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785616" y="4070920"/>
            <a:ext cx="14332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18282"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+$6.17</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85736"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1" name="Shape 59"/>
          <p:cNvSpPr/>
          <p:nvPr/>
        </p:nvSpPr>
        <p:spPr>
          <a:xfrm>
            <a:off x="3785616" y="4790606"/>
            <a:ext cx="8143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7218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6525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3" name="Shape 71"/>
          <p:cNvSpPr/>
          <p:nvPr/>
        </p:nvSpPr>
        <p:spPr>
          <a:xfrm>
            <a:off x="3785616" y="5510293"/>
            <a:ext cx="6355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7" name="Shape 75"/>
          <p:cNvSpPr/>
          <p:nvPr/>
        </p:nvSpPr>
        <p:spPr>
          <a:xfrm>
            <a:off x="3785616" y="5750188"/>
            <a:ext cx="61758"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1" name="Shape 79"/>
          <p:cNvSpPr/>
          <p:nvPr/>
        </p:nvSpPr>
        <p:spPr>
          <a:xfrm>
            <a:off x="9336024" y="1911860"/>
            <a:ext cx="34241"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+$1.79</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+$0.18</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89" name="Shape 87"/>
          <p:cNvSpPr/>
          <p:nvPr/>
        </p:nvSpPr>
        <p:spPr>
          <a:xfrm>
            <a:off x="9318854" y="2391651"/>
            <a:ext cx="17170"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17123" y="2631546"/>
            <a:ext cx="1890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97" name="Shape 95"/>
          <p:cNvSpPr/>
          <p:nvPr/>
        </p:nvSpPr>
        <p:spPr>
          <a:xfrm>
            <a:off x="9308306" y="2871442"/>
            <a:ext cx="27718"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06754" y="3111337"/>
            <a:ext cx="2927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300755" y="3351233"/>
            <a:ext cx="3526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96965" y="3591128"/>
            <a:ext cx="39059"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9296926" y="3831024"/>
            <a:ext cx="3909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9294926" y="4070920"/>
            <a:ext cx="41098"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9266894" y="4310815"/>
            <a:ext cx="6913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9216031" y="4550711"/>
            <a:ext cx="119993"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137473" y="4790606"/>
            <a:ext cx="19855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3" name="Shape 131"/>
          <p:cNvSpPr/>
          <p:nvPr/>
        </p:nvSpPr>
        <p:spPr>
          <a:xfrm>
            <a:off x="9119752" y="5030502"/>
            <a:ext cx="21627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9093546" y="5270397"/>
            <a:ext cx="24247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1" name="Shape 139"/>
          <p:cNvSpPr/>
          <p:nvPr/>
        </p:nvSpPr>
        <p:spPr>
          <a:xfrm>
            <a:off x="8662367" y="5510293"/>
            <a:ext cx="6736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−$35.13</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6F6EE"/>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19 of 33 stores raised CP ELR, led by Volvo at +$40.53 to $222.12. 14 declined; Kia LV fell most at −$35.13.</a:t>
            </a:r>
            <a:endParaRPr lang="en-US" sz="1450" dirty="0"/>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$222.12</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+$40.53</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$139.55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$167.64</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+$28.08</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$143.89</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+$26.84</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$153.87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$175.90</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+$22.02</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$217.14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$234.55</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+$17.41</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$184.36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$149.23</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−$35.13</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$278.97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$266.32</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−$12.64</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$221.78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$210.50</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−$11.28</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$148.84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$138.48</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−$10.35</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$136.71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$130.46</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−$6.26</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$244.12</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+$16.78</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$141.89</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+$13.62</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$216.72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$225.50</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+$8.78</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$147.93</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+$8.53</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$142.56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$150.72</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+$8.17</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Volvo, Lincoln and Honda Spokane what changed. Ask Kia LV, Audi Henderson and Acura what got in the way. Ask Audi Reno, VW St George and Volvo what they started this year.</a:t>
            </a:r>
            <a:endParaRPr lang="en-US" sz="1600" dirty="0"/>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9" name="Shape 7"/>
          <p:cNvSpPr/>
          <p:nvPr/>
        </p:nvSpPr>
        <p:spPr>
          <a:xfrm>
            <a:off x="2651760" y="1813560"/>
            <a:ext cx="2414016" cy="115824"/>
          </a:xfrm>
          <a:prstGeom prst="rect">
            <a:avLst/>
          </a:prstGeom>
          <a:solidFill>
            <a:srgbClr val="2587C5"/>
          </a:solidFill>
          <a:ln/>
        </p:spPr>
      </p:sp>
      <p:sp>
        <p:nvSpPr>
          <p:cNvPr id="10" name="Text 8"/>
          <p:cNvSpPr txBox="1"/>
          <p:nvPr/>
        </p:nvSpPr>
        <p:spPr>
          <a:xfrm>
            <a:off x="512064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$348.87</a:t>
            </a:r>
            <a:endParaRPr lang="en-US" sz="1300" dirty="0"/>
          </a:p>
        </p:txBody>
      </p:sp>
      <p:sp>
        <p:nvSpPr>
          <p:cNvPr id="11" name="Text 9"/>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2" name="Shape 10"/>
          <p:cNvSpPr/>
          <p:nvPr/>
        </p:nvSpPr>
        <p:spPr>
          <a:xfrm>
            <a:off x="2651760" y="2045208"/>
            <a:ext cx="2036981" cy="115824"/>
          </a:xfrm>
          <a:prstGeom prst="rect">
            <a:avLst/>
          </a:prstGeom>
          <a:solidFill>
            <a:srgbClr val="2587C5"/>
          </a:solidFill>
          <a:ln/>
        </p:spPr>
      </p:sp>
      <p:sp>
        <p:nvSpPr>
          <p:cNvPr id="13" name="Text 11"/>
          <p:cNvSpPr txBox="1"/>
          <p:nvPr/>
        </p:nvSpPr>
        <p:spPr>
          <a:xfrm>
            <a:off x="512064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$310.00</a:t>
            </a:r>
            <a:endParaRPr lang="en-US" sz="1300" dirty="0"/>
          </a:p>
        </p:txBody>
      </p:sp>
      <p:sp>
        <p:nvSpPr>
          <p:cNvPr id="14" name="Text 12"/>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 name="Shape 13"/>
          <p:cNvSpPr/>
          <p:nvPr/>
        </p:nvSpPr>
        <p:spPr>
          <a:xfrm>
            <a:off x="2651760" y="2276856"/>
            <a:ext cx="1890221" cy="115824"/>
          </a:xfrm>
          <a:prstGeom prst="rect">
            <a:avLst/>
          </a:prstGeom>
          <a:solidFill>
            <a:srgbClr val="2587C5"/>
          </a:solidFill>
          <a:ln/>
        </p:spPr>
      </p:sp>
      <p:sp>
        <p:nvSpPr>
          <p:cNvPr id="16" name="Text 14"/>
          <p:cNvSpPr txBox="1"/>
          <p:nvPr/>
        </p:nvSpPr>
        <p:spPr>
          <a:xfrm>
            <a:off x="512064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$294.87</a:t>
            </a:r>
            <a:endParaRPr lang="en-US" sz="1300" dirty="0"/>
          </a:p>
        </p:txBody>
      </p:sp>
      <p:sp>
        <p:nvSpPr>
          <p:cNvPr id="17" name="Text 15"/>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8" name="Shape 16"/>
          <p:cNvSpPr/>
          <p:nvPr/>
        </p:nvSpPr>
        <p:spPr>
          <a:xfrm>
            <a:off x="2651760" y="2508504"/>
            <a:ext cx="1794483" cy="115824"/>
          </a:xfrm>
          <a:prstGeom prst="rect">
            <a:avLst/>
          </a:prstGeom>
          <a:solidFill>
            <a:srgbClr val="2587C5"/>
          </a:solidFill>
          <a:ln/>
        </p:spPr>
      </p:sp>
      <p:sp>
        <p:nvSpPr>
          <p:cNvPr id="19" name="Text 17"/>
          <p:cNvSpPr txBox="1"/>
          <p:nvPr/>
        </p:nvSpPr>
        <p:spPr>
          <a:xfrm>
            <a:off x="512064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$285.00</a:t>
            </a:r>
            <a:endParaRPr lang="en-US" sz="1300" dirty="0"/>
          </a:p>
        </p:txBody>
      </p:sp>
      <p:sp>
        <p:nvSpPr>
          <p:cNvPr id="20" name="Text 1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1" name="Shape 19"/>
          <p:cNvSpPr/>
          <p:nvPr/>
        </p:nvSpPr>
        <p:spPr>
          <a:xfrm>
            <a:off x="2651760" y="2740152"/>
            <a:ext cx="1356726" cy="115824"/>
          </a:xfrm>
          <a:prstGeom prst="rect">
            <a:avLst/>
          </a:prstGeom>
          <a:solidFill>
            <a:srgbClr val="2587C5"/>
          </a:solidFill>
          <a:ln/>
        </p:spPr>
      </p:sp>
      <p:sp>
        <p:nvSpPr>
          <p:cNvPr id="22" name="Text 20"/>
          <p:cNvSpPr txBox="1"/>
          <p:nvPr/>
        </p:nvSpPr>
        <p:spPr>
          <a:xfrm>
            <a:off x="512064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$239.87</a:t>
            </a:r>
            <a:endParaRPr lang="en-US" sz="1300" dirty="0"/>
          </a:p>
        </p:txBody>
      </p:sp>
      <p:sp>
        <p:nvSpPr>
          <p:cNvPr id="23" name="Text 21"/>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4" name="Shape 22"/>
          <p:cNvSpPr/>
          <p:nvPr/>
        </p:nvSpPr>
        <p:spPr>
          <a:xfrm>
            <a:off x="2651760" y="2971800"/>
            <a:ext cx="1317926" cy="115824"/>
          </a:xfrm>
          <a:prstGeom prst="rect">
            <a:avLst/>
          </a:prstGeom>
          <a:solidFill>
            <a:srgbClr val="2587C5"/>
          </a:solidFill>
          <a:ln/>
        </p:spPr>
      </p:sp>
      <p:sp>
        <p:nvSpPr>
          <p:cNvPr id="25" name="Text 23"/>
          <p:cNvSpPr txBox="1"/>
          <p:nvPr/>
        </p:nvSpPr>
        <p:spPr>
          <a:xfrm>
            <a:off x="512064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$235.87</a:t>
            </a:r>
            <a:endParaRPr lang="en-US" sz="1300" dirty="0"/>
          </a:p>
        </p:txBody>
      </p:sp>
      <p:sp>
        <p:nvSpPr>
          <p:cNvPr id="26" name="Shape 24"/>
          <p:cNvSpPr/>
          <p:nvPr/>
        </p:nvSpPr>
        <p:spPr>
          <a:xfrm>
            <a:off x="603504" y="3145536"/>
            <a:ext cx="5285232" cy="222504"/>
          </a:xfrm>
          <a:prstGeom prst="rect">
            <a:avLst/>
          </a:prstGeom>
          <a:solidFill>
            <a:srgbClr val="EDF4FA"/>
          </a:solidFill>
          <a:ln/>
        </p:spPr>
      </p:sp>
      <p:sp>
        <p:nvSpPr>
          <p:cNvPr id="27" name="Text 25"/>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28" name="Shape 26"/>
          <p:cNvSpPr/>
          <p:nvPr/>
        </p:nvSpPr>
        <p:spPr>
          <a:xfrm>
            <a:off x="2651760" y="3203448"/>
            <a:ext cx="1246950" cy="115824"/>
          </a:xfrm>
          <a:prstGeom prst="rect">
            <a:avLst/>
          </a:prstGeom>
          <a:solidFill>
            <a:srgbClr val="0B2C4A"/>
          </a:solidFill>
          <a:ln/>
        </p:spPr>
      </p:sp>
      <p:sp>
        <p:nvSpPr>
          <p:cNvPr id="29" name="Text 27"/>
          <p:cNvSpPr txBox="1"/>
          <p:nvPr/>
        </p:nvSpPr>
        <p:spPr>
          <a:xfrm>
            <a:off x="512064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$228.55</a:t>
            </a:r>
            <a:endParaRPr lang="en-US" sz="1300" dirty="0"/>
          </a:p>
        </p:txBody>
      </p:sp>
      <p:sp>
        <p:nvSpPr>
          <p:cNvPr id="30" name="Text 28"/>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1" name="Shape 29"/>
          <p:cNvSpPr/>
          <p:nvPr/>
        </p:nvSpPr>
        <p:spPr>
          <a:xfrm>
            <a:off x="2651760" y="3435096"/>
            <a:ext cx="1211227" cy="115824"/>
          </a:xfrm>
          <a:prstGeom prst="rect">
            <a:avLst/>
          </a:prstGeom>
          <a:solidFill>
            <a:srgbClr val="2587C5"/>
          </a:solidFill>
          <a:ln/>
        </p:spPr>
      </p:sp>
      <p:sp>
        <p:nvSpPr>
          <p:cNvPr id="32" name="Text 30"/>
          <p:cNvSpPr txBox="1"/>
          <p:nvPr/>
        </p:nvSpPr>
        <p:spPr>
          <a:xfrm>
            <a:off x="512064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33" name="Text 31"/>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4" name="Shape 32"/>
          <p:cNvSpPr/>
          <p:nvPr/>
        </p:nvSpPr>
        <p:spPr>
          <a:xfrm>
            <a:off x="2651760" y="3666744"/>
            <a:ext cx="1211227" cy="115824"/>
          </a:xfrm>
          <a:prstGeom prst="rect">
            <a:avLst/>
          </a:prstGeom>
          <a:solidFill>
            <a:srgbClr val="2587C5"/>
          </a:solidFill>
          <a:ln/>
        </p:spPr>
      </p:sp>
      <p:sp>
        <p:nvSpPr>
          <p:cNvPr id="35" name="Text 33"/>
          <p:cNvSpPr txBox="1"/>
          <p:nvPr/>
        </p:nvSpPr>
        <p:spPr>
          <a:xfrm>
            <a:off x="512064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36" name="Text 3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7" name="Shape 35"/>
          <p:cNvSpPr/>
          <p:nvPr/>
        </p:nvSpPr>
        <p:spPr>
          <a:xfrm>
            <a:off x="2651760" y="3898392"/>
            <a:ext cx="1162728" cy="115824"/>
          </a:xfrm>
          <a:prstGeom prst="rect">
            <a:avLst/>
          </a:prstGeom>
          <a:solidFill>
            <a:srgbClr val="2587C5"/>
          </a:solidFill>
          <a:ln/>
        </p:spPr>
      </p:sp>
      <p:sp>
        <p:nvSpPr>
          <p:cNvPr id="38" name="Text 36"/>
          <p:cNvSpPr txBox="1"/>
          <p:nvPr/>
        </p:nvSpPr>
        <p:spPr>
          <a:xfrm>
            <a:off x="512064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$219.87</a:t>
            </a:r>
            <a:endParaRPr lang="en-US" sz="1300" dirty="0"/>
          </a:p>
        </p:txBody>
      </p:sp>
      <p:sp>
        <p:nvSpPr>
          <p:cNvPr id="39" name="Text 37"/>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651760" y="4130040"/>
            <a:ext cx="1085129" cy="115824"/>
          </a:xfrm>
          <a:prstGeom prst="rect">
            <a:avLst/>
          </a:prstGeom>
          <a:solidFill>
            <a:srgbClr val="2587C5"/>
          </a:solidFill>
          <a:ln/>
        </p:spPr>
      </p:sp>
      <p:sp>
        <p:nvSpPr>
          <p:cNvPr id="41" name="Text 39"/>
          <p:cNvSpPr txBox="1"/>
          <p:nvPr/>
        </p:nvSpPr>
        <p:spPr>
          <a:xfrm>
            <a:off x="512064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42" name="Text 40"/>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51760" y="4361688"/>
            <a:ext cx="1085129" cy="115824"/>
          </a:xfrm>
          <a:prstGeom prst="rect">
            <a:avLst/>
          </a:prstGeom>
          <a:solidFill>
            <a:srgbClr val="2587C5"/>
          </a:solidFill>
          <a:ln/>
        </p:spPr>
      </p:sp>
      <p:sp>
        <p:nvSpPr>
          <p:cNvPr id="44" name="Text 42"/>
          <p:cNvSpPr txBox="1"/>
          <p:nvPr/>
        </p:nvSpPr>
        <p:spPr>
          <a:xfrm>
            <a:off x="512064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45" name="Text 43"/>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6" name="Shape 44"/>
          <p:cNvSpPr/>
          <p:nvPr/>
        </p:nvSpPr>
        <p:spPr>
          <a:xfrm>
            <a:off x="2651760" y="4593336"/>
            <a:ext cx="1079212" cy="115824"/>
          </a:xfrm>
          <a:prstGeom prst="rect">
            <a:avLst/>
          </a:prstGeom>
          <a:solidFill>
            <a:srgbClr val="2587C5"/>
          </a:solidFill>
          <a:ln/>
        </p:spPr>
      </p:sp>
      <p:sp>
        <p:nvSpPr>
          <p:cNvPr id="47" name="Text 45"/>
          <p:cNvSpPr txBox="1"/>
          <p:nvPr/>
        </p:nvSpPr>
        <p:spPr>
          <a:xfrm>
            <a:off x="512064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$211.26</a:t>
            </a:r>
            <a:endParaRPr lang="en-US" sz="1300" dirty="0"/>
          </a:p>
        </p:txBody>
      </p:sp>
      <p:sp>
        <p:nvSpPr>
          <p:cNvPr id="48" name="Text 46"/>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9" name="Shape 47"/>
          <p:cNvSpPr/>
          <p:nvPr/>
        </p:nvSpPr>
        <p:spPr>
          <a:xfrm>
            <a:off x="2651760" y="4824984"/>
            <a:ext cx="1065729" cy="115824"/>
          </a:xfrm>
          <a:prstGeom prst="rect">
            <a:avLst/>
          </a:prstGeom>
          <a:solidFill>
            <a:srgbClr val="2587C5"/>
          </a:solidFill>
          <a:ln/>
        </p:spPr>
      </p:sp>
      <p:sp>
        <p:nvSpPr>
          <p:cNvPr id="50" name="Text 48"/>
          <p:cNvSpPr txBox="1"/>
          <p:nvPr/>
        </p:nvSpPr>
        <p:spPr>
          <a:xfrm>
            <a:off x="512064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$209.87</a:t>
            </a:r>
            <a:endParaRPr lang="en-US" sz="1300" dirty="0"/>
          </a:p>
        </p:txBody>
      </p:sp>
      <p:sp>
        <p:nvSpPr>
          <p:cNvPr id="51" name="Text 4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2" name="Shape 50"/>
          <p:cNvSpPr/>
          <p:nvPr/>
        </p:nvSpPr>
        <p:spPr>
          <a:xfrm>
            <a:off x="2651760" y="5056632"/>
            <a:ext cx="1017229" cy="115824"/>
          </a:xfrm>
          <a:prstGeom prst="rect">
            <a:avLst/>
          </a:prstGeom>
          <a:solidFill>
            <a:srgbClr val="2587C5"/>
          </a:solidFill>
          <a:ln/>
        </p:spPr>
      </p:sp>
      <p:sp>
        <p:nvSpPr>
          <p:cNvPr id="53" name="Text 51"/>
          <p:cNvSpPr txBox="1"/>
          <p:nvPr/>
        </p:nvSpPr>
        <p:spPr>
          <a:xfrm>
            <a:off x="512064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$204.87</a:t>
            </a:r>
            <a:endParaRPr lang="en-US" sz="1300" dirty="0"/>
          </a:p>
        </p:txBody>
      </p:sp>
      <p:sp>
        <p:nvSpPr>
          <p:cNvPr id="54" name="Text 52"/>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2651760" y="5288280"/>
            <a:ext cx="823231" cy="115824"/>
          </a:xfrm>
          <a:prstGeom prst="rect">
            <a:avLst/>
          </a:prstGeom>
          <a:solidFill>
            <a:srgbClr val="2587C5"/>
          </a:solidFill>
          <a:ln/>
        </p:spPr>
      </p:sp>
      <p:sp>
        <p:nvSpPr>
          <p:cNvPr id="56" name="Text 54"/>
          <p:cNvSpPr txBox="1"/>
          <p:nvPr/>
        </p:nvSpPr>
        <p:spPr>
          <a:xfrm>
            <a:off x="512064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57" name="Text 55"/>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Shape 56"/>
          <p:cNvSpPr/>
          <p:nvPr/>
        </p:nvSpPr>
        <p:spPr>
          <a:xfrm>
            <a:off x="2651760" y="5519928"/>
            <a:ext cx="823231" cy="115824"/>
          </a:xfrm>
          <a:prstGeom prst="rect">
            <a:avLst/>
          </a:prstGeom>
          <a:solidFill>
            <a:srgbClr val="2587C5"/>
          </a:solidFill>
          <a:ln/>
        </p:spPr>
      </p:sp>
      <p:sp>
        <p:nvSpPr>
          <p:cNvPr id="59" name="Text 57"/>
          <p:cNvSpPr txBox="1"/>
          <p:nvPr/>
        </p:nvSpPr>
        <p:spPr>
          <a:xfrm>
            <a:off x="512064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60" name="Text 58"/>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1" name="Shape 59"/>
          <p:cNvSpPr/>
          <p:nvPr/>
        </p:nvSpPr>
        <p:spPr>
          <a:xfrm>
            <a:off x="2651760" y="5751576"/>
            <a:ext cx="774732" cy="115824"/>
          </a:xfrm>
          <a:prstGeom prst="rect">
            <a:avLst/>
          </a:prstGeom>
          <a:solidFill>
            <a:srgbClr val="2587C5"/>
          </a:solidFill>
          <a:ln/>
        </p:spPr>
      </p:sp>
      <p:sp>
        <p:nvSpPr>
          <p:cNvPr id="62" name="Text 60"/>
          <p:cNvSpPr txBox="1"/>
          <p:nvPr/>
        </p:nvSpPr>
        <p:spPr>
          <a:xfrm>
            <a:off x="512064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$179.87</a:t>
            </a:r>
            <a:endParaRPr lang="en-US" sz="1300" dirty="0"/>
          </a:p>
        </p:txBody>
      </p:sp>
      <p:sp>
        <p:nvSpPr>
          <p:cNvPr id="63" name="Text 61"/>
          <p:cNvSpPr txBox="1"/>
          <p:nvPr/>
        </p:nvSpPr>
        <p:spPr>
          <a:xfrm>
            <a:off x="6208776"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64" name="Text 62"/>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65" name="Text 6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6" name="Shape 64"/>
          <p:cNvSpPr/>
          <p:nvPr/>
        </p:nvSpPr>
        <p:spPr>
          <a:xfrm>
            <a:off x="8202168" y="1813560"/>
            <a:ext cx="1697484" cy="115824"/>
          </a:xfrm>
          <a:prstGeom prst="rect">
            <a:avLst/>
          </a:prstGeom>
          <a:solidFill>
            <a:srgbClr val="2587C5"/>
          </a:solidFill>
          <a:ln/>
        </p:spPr>
      </p:sp>
      <p:sp>
        <p:nvSpPr>
          <p:cNvPr id="67" name="Text 65"/>
          <p:cNvSpPr txBox="1"/>
          <p:nvPr/>
        </p:nvSpPr>
        <p:spPr>
          <a:xfrm>
            <a:off x="1067104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$275.00</a:t>
            </a:r>
            <a:endParaRPr lang="en-US" sz="1300" dirty="0"/>
          </a:p>
        </p:txBody>
      </p:sp>
      <p:sp>
        <p:nvSpPr>
          <p:cNvPr id="68" name="Text 66"/>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02168" y="2045208"/>
            <a:ext cx="1454501" cy="115824"/>
          </a:xfrm>
          <a:prstGeom prst="rect">
            <a:avLst/>
          </a:prstGeom>
          <a:solidFill>
            <a:srgbClr val="2587C5"/>
          </a:solidFill>
          <a:ln/>
        </p:spPr>
      </p:sp>
      <p:sp>
        <p:nvSpPr>
          <p:cNvPr id="70" name="Text 68"/>
          <p:cNvSpPr txBox="1"/>
          <p:nvPr/>
        </p:nvSpPr>
        <p:spPr>
          <a:xfrm>
            <a:off x="1067104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$249.95</a:t>
            </a:r>
            <a:endParaRPr lang="en-US" sz="1300" dirty="0"/>
          </a:p>
        </p:txBody>
      </p:sp>
      <p:sp>
        <p:nvSpPr>
          <p:cNvPr id="71" name="Text 69"/>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2" name="Shape 70"/>
          <p:cNvSpPr/>
          <p:nvPr/>
        </p:nvSpPr>
        <p:spPr>
          <a:xfrm>
            <a:off x="8202168" y="2276856"/>
            <a:ext cx="1405226" cy="115824"/>
          </a:xfrm>
          <a:prstGeom prst="rect">
            <a:avLst/>
          </a:prstGeom>
          <a:solidFill>
            <a:srgbClr val="2587C5"/>
          </a:solidFill>
          <a:ln/>
        </p:spPr>
      </p:sp>
      <p:sp>
        <p:nvSpPr>
          <p:cNvPr id="73" name="Text 71"/>
          <p:cNvSpPr txBox="1"/>
          <p:nvPr/>
        </p:nvSpPr>
        <p:spPr>
          <a:xfrm>
            <a:off x="1067104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$244.87</a:t>
            </a:r>
            <a:endParaRPr lang="en-US" sz="1300" dirty="0"/>
          </a:p>
        </p:txBody>
      </p:sp>
      <p:sp>
        <p:nvSpPr>
          <p:cNvPr id="74" name="Text 72"/>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5" name="Shape 73"/>
          <p:cNvSpPr/>
          <p:nvPr/>
        </p:nvSpPr>
        <p:spPr>
          <a:xfrm>
            <a:off x="8202168" y="2508504"/>
            <a:ext cx="1260503" cy="115824"/>
          </a:xfrm>
          <a:prstGeom prst="rect">
            <a:avLst/>
          </a:prstGeom>
          <a:solidFill>
            <a:srgbClr val="2587C5"/>
          </a:solidFill>
          <a:ln/>
        </p:spPr>
      </p:sp>
      <p:sp>
        <p:nvSpPr>
          <p:cNvPr id="76" name="Text 74"/>
          <p:cNvSpPr txBox="1"/>
          <p:nvPr/>
        </p:nvSpPr>
        <p:spPr>
          <a:xfrm>
            <a:off x="1067104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$229.95</a:t>
            </a:r>
            <a:endParaRPr lang="en-US" sz="1300" dirty="0"/>
          </a:p>
        </p:txBody>
      </p:sp>
      <p:sp>
        <p:nvSpPr>
          <p:cNvPr id="77" name="Text 75"/>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02168" y="2740152"/>
            <a:ext cx="1163989" cy="115824"/>
          </a:xfrm>
          <a:prstGeom prst="rect">
            <a:avLst/>
          </a:prstGeom>
          <a:solidFill>
            <a:srgbClr val="2587C5"/>
          </a:solidFill>
          <a:ln/>
        </p:spPr>
      </p:sp>
      <p:sp>
        <p:nvSpPr>
          <p:cNvPr id="79" name="Text 77"/>
          <p:cNvSpPr txBox="1"/>
          <p:nvPr/>
        </p:nvSpPr>
        <p:spPr>
          <a:xfrm>
            <a:off x="1067104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$220.00</a:t>
            </a:r>
            <a:endParaRPr lang="en-US" sz="1300" dirty="0"/>
          </a:p>
        </p:txBody>
      </p:sp>
      <p:sp>
        <p:nvSpPr>
          <p:cNvPr id="80" name="Text 7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1" name="Shape 79"/>
          <p:cNvSpPr/>
          <p:nvPr/>
        </p:nvSpPr>
        <p:spPr>
          <a:xfrm>
            <a:off x="8202168" y="2971800"/>
            <a:ext cx="1119078" cy="115824"/>
          </a:xfrm>
          <a:prstGeom prst="rect">
            <a:avLst/>
          </a:prstGeom>
          <a:solidFill>
            <a:srgbClr val="2587C5"/>
          </a:solidFill>
          <a:ln/>
        </p:spPr>
      </p:sp>
      <p:sp>
        <p:nvSpPr>
          <p:cNvPr id="82" name="Text 80"/>
          <p:cNvSpPr txBox="1"/>
          <p:nvPr/>
        </p:nvSpPr>
        <p:spPr>
          <a:xfrm>
            <a:off x="1067104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$215.37</a:t>
            </a:r>
            <a:endParaRPr lang="en-US" sz="1300" dirty="0"/>
          </a:p>
        </p:txBody>
      </p:sp>
      <p:sp>
        <p:nvSpPr>
          <p:cNvPr id="83" name="Text 81"/>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8202168" y="3203448"/>
            <a:ext cx="1066990" cy="115824"/>
          </a:xfrm>
          <a:prstGeom prst="rect">
            <a:avLst/>
          </a:prstGeom>
          <a:solidFill>
            <a:srgbClr val="2587C5"/>
          </a:solidFill>
          <a:ln/>
        </p:spPr>
      </p:sp>
      <p:sp>
        <p:nvSpPr>
          <p:cNvPr id="85" name="Text 83"/>
          <p:cNvSpPr txBox="1"/>
          <p:nvPr/>
        </p:nvSpPr>
        <p:spPr>
          <a:xfrm>
            <a:off x="1067104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86" name="Text 84"/>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7" name="Shape 85"/>
          <p:cNvSpPr/>
          <p:nvPr/>
        </p:nvSpPr>
        <p:spPr>
          <a:xfrm>
            <a:off x="8202168" y="3435096"/>
            <a:ext cx="1066990" cy="115824"/>
          </a:xfrm>
          <a:prstGeom prst="rect">
            <a:avLst/>
          </a:prstGeom>
          <a:solidFill>
            <a:srgbClr val="2587C5"/>
          </a:solidFill>
          <a:ln/>
        </p:spPr>
      </p:sp>
      <p:sp>
        <p:nvSpPr>
          <p:cNvPr id="88" name="Text 86"/>
          <p:cNvSpPr txBox="1"/>
          <p:nvPr/>
        </p:nvSpPr>
        <p:spPr>
          <a:xfrm>
            <a:off x="1067104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89" name="Shape 87"/>
          <p:cNvSpPr/>
          <p:nvPr/>
        </p:nvSpPr>
        <p:spPr>
          <a:xfrm>
            <a:off x="6153912" y="3608832"/>
            <a:ext cx="5285232" cy="222504"/>
          </a:xfrm>
          <a:prstGeom prst="rect">
            <a:avLst/>
          </a:prstGeom>
          <a:solidFill>
            <a:srgbClr val="EDF4FA"/>
          </a:solidFill>
          <a:ln/>
        </p:spPr>
      </p:sp>
      <p:sp>
        <p:nvSpPr>
          <p:cNvPr id="90" name="Text 88"/>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91" name="Shape 89"/>
          <p:cNvSpPr/>
          <p:nvPr/>
        </p:nvSpPr>
        <p:spPr>
          <a:xfrm>
            <a:off x="8202168" y="3666744"/>
            <a:ext cx="997468" cy="115824"/>
          </a:xfrm>
          <a:prstGeom prst="rect">
            <a:avLst/>
          </a:prstGeom>
          <a:solidFill>
            <a:srgbClr val="0B2C4A"/>
          </a:solidFill>
          <a:ln/>
        </p:spPr>
      </p:sp>
      <p:sp>
        <p:nvSpPr>
          <p:cNvPr id="92" name="Text 90"/>
          <p:cNvSpPr txBox="1"/>
          <p:nvPr/>
        </p:nvSpPr>
        <p:spPr>
          <a:xfrm>
            <a:off x="1067104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$202.83</a:t>
            </a:r>
            <a:endParaRPr lang="en-US" sz="1300" dirty="0"/>
          </a:p>
        </p:txBody>
      </p:sp>
      <p:sp>
        <p:nvSpPr>
          <p:cNvPr id="93" name="Text 91"/>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4" name="Shape 92"/>
          <p:cNvSpPr/>
          <p:nvPr/>
        </p:nvSpPr>
        <p:spPr>
          <a:xfrm>
            <a:off x="8202168" y="3898392"/>
            <a:ext cx="969506" cy="115824"/>
          </a:xfrm>
          <a:prstGeom prst="rect">
            <a:avLst/>
          </a:prstGeom>
          <a:solidFill>
            <a:srgbClr val="2587C5"/>
          </a:solidFill>
          <a:ln/>
        </p:spPr>
      </p:sp>
      <p:sp>
        <p:nvSpPr>
          <p:cNvPr id="95" name="Text 93"/>
          <p:cNvSpPr txBox="1"/>
          <p:nvPr/>
        </p:nvSpPr>
        <p:spPr>
          <a:xfrm>
            <a:off x="1067104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$199.95</a:t>
            </a:r>
            <a:endParaRPr lang="en-US" sz="1300" dirty="0"/>
          </a:p>
        </p:txBody>
      </p:sp>
      <p:sp>
        <p:nvSpPr>
          <p:cNvPr id="96" name="Text 9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7" name="Shape 95"/>
          <p:cNvSpPr/>
          <p:nvPr/>
        </p:nvSpPr>
        <p:spPr>
          <a:xfrm>
            <a:off x="8202168" y="4130040"/>
            <a:ext cx="921491" cy="115824"/>
          </a:xfrm>
          <a:prstGeom prst="rect">
            <a:avLst/>
          </a:prstGeom>
          <a:solidFill>
            <a:srgbClr val="2587C5"/>
          </a:solidFill>
          <a:ln/>
        </p:spPr>
      </p:sp>
      <p:sp>
        <p:nvSpPr>
          <p:cNvPr id="98" name="Text 96"/>
          <p:cNvSpPr txBox="1"/>
          <p:nvPr/>
        </p:nvSpPr>
        <p:spPr>
          <a:xfrm>
            <a:off x="1067104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$195.00</a:t>
            </a:r>
            <a:endParaRPr lang="en-US" sz="1300" dirty="0"/>
          </a:p>
        </p:txBody>
      </p:sp>
      <p:sp>
        <p:nvSpPr>
          <p:cNvPr id="99" name="Text 97"/>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0" name="Shape 98"/>
          <p:cNvSpPr/>
          <p:nvPr/>
        </p:nvSpPr>
        <p:spPr>
          <a:xfrm>
            <a:off x="8202168" y="4361688"/>
            <a:ext cx="872992" cy="115824"/>
          </a:xfrm>
          <a:prstGeom prst="rect">
            <a:avLst/>
          </a:prstGeom>
          <a:solidFill>
            <a:srgbClr val="2587C5"/>
          </a:solidFill>
          <a:ln/>
        </p:spPr>
      </p:sp>
      <p:sp>
        <p:nvSpPr>
          <p:cNvPr id="101" name="Text 99"/>
          <p:cNvSpPr txBox="1"/>
          <p:nvPr/>
        </p:nvSpPr>
        <p:spPr>
          <a:xfrm>
            <a:off x="1067104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$190.00</a:t>
            </a:r>
            <a:endParaRPr lang="en-US" sz="1300" dirty="0"/>
          </a:p>
        </p:txBody>
      </p:sp>
      <p:sp>
        <p:nvSpPr>
          <p:cNvPr id="102" name="Text 100"/>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3" name="Shape 101"/>
          <p:cNvSpPr/>
          <p:nvPr/>
        </p:nvSpPr>
        <p:spPr>
          <a:xfrm>
            <a:off x="8202168" y="4593336"/>
            <a:ext cx="824492" cy="115824"/>
          </a:xfrm>
          <a:prstGeom prst="rect">
            <a:avLst/>
          </a:prstGeom>
          <a:solidFill>
            <a:srgbClr val="2587C5"/>
          </a:solidFill>
          <a:ln/>
        </p:spPr>
      </p:sp>
      <p:sp>
        <p:nvSpPr>
          <p:cNvPr id="104" name="Text 102"/>
          <p:cNvSpPr txBox="1"/>
          <p:nvPr/>
        </p:nvSpPr>
        <p:spPr>
          <a:xfrm>
            <a:off x="1067104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05" name="Text 103"/>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6" name="Shape 104"/>
          <p:cNvSpPr/>
          <p:nvPr/>
        </p:nvSpPr>
        <p:spPr>
          <a:xfrm>
            <a:off x="8202168" y="4824984"/>
            <a:ext cx="824492" cy="115824"/>
          </a:xfrm>
          <a:prstGeom prst="rect">
            <a:avLst/>
          </a:prstGeom>
          <a:solidFill>
            <a:srgbClr val="2587C5"/>
          </a:solidFill>
          <a:ln/>
        </p:spPr>
      </p:sp>
      <p:sp>
        <p:nvSpPr>
          <p:cNvPr id="107" name="Text 105"/>
          <p:cNvSpPr txBox="1"/>
          <p:nvPr/>
        </p:nvSpPr>
        <p:spPr>
          <a:xfrm>
            <a:off x="1067104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08" name="Text 106"/>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9" name="Shape 107"/>
          <p:cNvSpPr/>
          <p:nvPr/>
        </p:nvSpPr>
        <p:spPr>
          <a:xfrm>
            <a:off x="8202168" y="5056632"/>
            <a:ext cx="824492" cy="115824"/>
          </a:xfrm>
          <a:prstGeom prst="rect">
            <a:avLst/>
          </a:prstGeom>
          <a:solidFill>
            <a:srgbClr val="2587C5"/>
          </a:solidFill>
          <a:ln/>
        </p:spPr>
      </p:sp>
      <p:sp>
        <p:nvSpPr>
          <p:cNvPr id="110" name="Text 108"/>
          <p:cNvSpPr txBox="1"/>
          <p:nvPr/>
        </p:nvSpPr>
        <p:spPr>
          <a:xfrm>
            <a:off x="1067104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11" name="Text 10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2" name="Shape 110"/>
          <p:cNvSpPr/>
          <p:nvPr/>
        </p:nvSpPr>
        <p:spPr>
          <a:xfrm>
            <a:off x="8202168" y="5288280"/>
            <a:ext cx="824492" cy="115824"/>
          </a:xfrm>
          <a:prstGeom prst="rect">
            <a:avLst/>
          </a:prstGeom>
          <a:solidFill>
            <a:srgbClr val="2587C5"/>
          </a:solidFill>
          <a:ln/>
        </p:spPr>
      </p:sp>
      <p:sp>
        <p:nvSpPr>
          <p:cNvPr id="113" name="Text 111"/>
          <p:cNvSpPr txBox="1"/>
          <p:nvPr/>
        </p:nvSpPr>
        <p:spPr>
          <a:xfrm>
            <a:off x="1067104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14" name="Text 112"/>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5" name="Shape 113"/>
          <p:cNvSpPr/>
          <p:nvPr/>
        </p:nvSpPr>
        <p:spPr>
          <a:xfrm>
            <a:off x="8202168" y="5519928"/>
            <a:ext cx="766293" cy="115824"/>
          </a:xfrm>
          <a:prstGeom prst="rect">
            <a:avLst/>
          </a:prstGeom>
          <a:solidFill>
            <a:srgbClr val="2587C5"/>
          </a:solidFill>
          <a:ln/>
        </p:spPr>
      </p:sp>
      <p:sp>
        <p:nvSpPr>
          <p:cNvPr id="116" name="Text 114"/>
          <p:cNvSpPr txBox="1"/>
          <p:nvPr/>
        </p:nvSpPr>
        <p:spPr>
          <a:xfrm>
            <a:off x="1067104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$179.00</a:t>
            </a:r>
            <a:endParaRPr lang="en-US" sz="1300" dirty="0"/>
          </a:p>
        </p:txBody>
      </p:sp>
      <p:sp>
        <p:nvSpPr>
          <p:cNvPr id="117" name="Shape 115"/>
          <p:cNvSpPr/>
          <p:nvPr/>
        </p:nvSpPr>
        <p:spPr>
          <a:xfrm>
            <a:off x="6035040" y="1371600"/>
            <a:ext cx="10973" cy="4553712"/>
          </a:xfrm>
          <a:prstGeom prst="rect">
            <a:avLst/>
          </a:prstGeom>
          <a:solidFill>
            <a:srgbClr val="D9D9D9"/>
          </a:solidFill>
          <a:ln/>
        </p:spPr>
      </p:sp>
      <p:sp>
        <p:nvSpPr>
          <p:cNvPr id="118" name="Shape 116"/>
          <p:cNvSpPr/>
          <p:nvPr/>
        </p:nvSpPr>
        <p:spPr>
          <a:xfrm>
            <a:off x="457200" y="6126480"/>
            <a:ext cx="11274552" cy="341376"/>
          </a:xfrm>
          <a:prstGeom prst="rect">
            <a:avLst/>
          </a:prstGeom>
          <a:solidFill>
            <a:srgbClr val="EDF4FA"/>
          </a:solidFill>
          <a:ln/>
        </p:spPr>
      </p:sp>
      <p:sp>
        <p:nvSpPr>
          <p:cNvPr id="119" name="Text 1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17 stores price labor on a grid, 16 at a flat door rate. Hours-weighted door rate: $228.55 grid, $202.83 no grid.</a:t>
            </a:r>
            <a:endParaRPr lang="en-US" sz="1400" dirty="0"/>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83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1" name="Shape 19"/>
          <p:cNvSpPr/>
          <p:nvPr/>
        </p:nvSpPr>
        <p:spPr>
          <a:xfrm>
            <a:off x="3008376" y="2386853"/>
            <a:ext cx="133075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008376" y="2626748"/>
            <a:ext cx="132591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29240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24598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008376" y="3346435"/>
            <a:ext cx="123394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1" name="Shape 39"/>
          <p:cNvSpPr/>
          <p:nvPr/>
        </p:nvSpPr>
        <p:spPr>
          <a:xfrm>
            <a:off x="3008376" y="3586331"/>
            <a:ext cx="11359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008376" y="3826226"/>
            <a:ext cx="1105695"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008376" y="4066122"/>
            <a:ext cx="109185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3008376" y="4306017"/>
            <a:ext cx="106257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052866"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1" name="Shape 59"/>
          <p:cNvSpPr/>
          <p:nvPr/>
        </p:nvSpPr>
        <p:spPr>
          <a:xfrm>
            <a:off x="3008376" y="4785808"/>
            <a:ext cx="1037454"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03731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9" name="Shape 67"/>
          <p:cNvSpPr/>
          <p:nvPr/>
        </p:nvSpPr>
        <p:spPr>
          <a:xfrm>
            <a:off x="3008376" y="5265599"/>
            <a:ext cx="1025918"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3" name="Shape 71"/>
          <p:cNvSpPr/>
          <p:nvPr/>
        </p:nvSpPr>
        <p:spPr>
          <a:xfrm>
            <a:off x="3008376" y="5505495"/>
            <a:ext cx="979141"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008376" y="5745390"/>
            <a:ext cx="97115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1" name="Shape 79"/>
          <p:cNvSpPr/>
          <p:nvPr/>
        </p:nvSpPr>
        <p:spPr>
          <a:xfrm>
            <a:off x="8558784" y="1907062"/>
            <a:ext cx="94428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8558784" y="2146957"/>
            <a:ext cx="939782"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935092"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32611"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903003" cy="119948"/>
          </a:xfrm>
          <a:prstGeom prst="rect">
            <a:avLst/>
          </a:prstGeom>
          <a:solidFill>
            <a:srgbClr val="12A566"/>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8558784" y="3106540"/>
            <a:ext cx="883327" cy="119948"/>
          </a:xfrm>
          <a:prstGeom prst="rect">
            <a:avLst/>
          </a:prstGeom>
          <a:solidFill>
            <a:srgbClr val="12A566"/>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8558784" y="3346435"/>
            <a:ext cx="863903" cy="119948"/>
          </a:xfrm>
          <a:prstGeom prst="rect">
            <a:avLst/>
          </a:prstGeom>
          <a:solidFill>
            <a:srgbClr val="12A566"/>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8558784" y="3586331"/>
            <a:ext cx="816673" cy="119948"/>
          </a:xfrm>
          <a:prstGeom prst="rect">
            <a:avLst/>
          </a:prstGeom>
          <a:solidFill>
            <a:srgbClr val="12A566"/>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76061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67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1" name="Shape 119"/>
          <p:cNvSpPr/>
          <p:nvPr/>
        </p:nvSpPr>
        <p:spPr>
          <a:xfrm>
            <a:off x="8558784" y="4306017"/>
            <a:ext cx="7333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58784" y="4545913"/>
            <a:ext cx="71352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707954"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3" name="Shape 131"/>
          <p:cNvSpPr/>
          <p:nvPr/>
        </p:nvSpPr>
        <p:spPr>
          <a:xfrm>
            <a:off x="8558784" y="5025704"/>
            <a:ext cx="66696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58784" y="5265599"/>
            <a:ext cx="66122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1" name="Shape 139"/>
          <p:cNvSpPr/>
          <p:nvPr/>
        </p:nvSpPr>
        <p:spPr>
          <a:xfrm>
            <a:off x="8558784" y="5505495"/>
            <a:ext cx="57463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143" name="Shape 141"/>
          <p:cNvSpPr/>
          <p:nvPr/>
        </p:nvSpPr>
        <p:spPr>
          <a:xfrm>
            <a:off x="3800278" y="1847088"/>
            <a:ext cx="14630" cy="4078224"/>
          </a:xfrm>
          <a:prstGeom prst="rect">
            <a:avLst/>
          </a:prstGeom>
          <a:solidFill>
            <a:srgbClr val="0B2C4A"/>
          </a:solidFill>
          <a:ln/>
        </p:spPr>
      </p:sp>
      <p:sp>
        <p:nvSpPr>
          <p:cNvPr id="144" name="Shape 142"/>
          <p:cNvSpPr/>
          <p:nvPr/>
        </p:nvSpPr>
        <p:spPr>
          <a:xfrm>
            <a:off x="9350686"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 Audi Reno leads at 103.4%; Cadillac is lowest at 61.5%.</a:t>
            </a:r>
            <a:endParaRPr lang="en-US" sz="1600" dirty="0"/>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$244.12</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$235.87</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$225.50</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$249.95</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$161.80</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$179.87</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$165.96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$199.04</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$238.62</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$275.00</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$159.69</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$147.93</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$179.00</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$187.42</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$229.95</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$161.93</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$199.95</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$155.78</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$195.00</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$234.48</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$294.87</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$146.04</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$165.67</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$209.87</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$160.84</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$204.87</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$141.89</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$266.72</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$348.87</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$233.88</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$310.00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$162.12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$215.37</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$180.14</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$239.87</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$142.51</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$190.00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$136.71</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$211.26</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$153.45</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$149.70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$150.72</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$219.87</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$167.22</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$244.87</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$124.92</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$146.92</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$220.00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$139.81</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$146.25</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$136.12</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$175.47</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$285.00</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41376"/>
          </a:xfrm>
          <a:prstGeom prst="rect">
            <a:avLst/>
          </a:prstGeom>
          <a:solidFill>
            <a:srgbClr val="EDF4FA"/>
          </a:solidFill>
          <a:ln/>
        </p:spPr>
      </p:sp>
      <p:sp>
        <p:nvSpPr>
          <p:cNvPr id="219" name="Text 2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Jul–Sep: 25 of 33 stores realize at least 70% of door rate; the group is at 74.7%. Cadillac is lowest at 61.5%.</a:t>
            </a:r>
            <a:endParaRPr lang="en-US" sz="1400" dirty="0"/>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Labor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labor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ELR</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labor sale divided by CP RO count. It combines how much we sell with what we collect for 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1.87 hours per RO  </a:t>
            </a:r>
            <a:pPr algn="ctr" indent="0" marL="0">
              <a:buNone/>
            </a:pPr>
            <a:r>
              <a:rPr lang="en-US" sz="1400" b="1" dirty="0">
                <a:solidFill>
                  <a:srgbClr val="0B2C4A"/>
                </a:solidFill>
                <a:latin typeface="Inter" pitchFamily="34" charset="0"/>
                <a:ea typeface="Inter" pitchFamily="34" charset="-122"/>
                <a:cs typeface="Inter" pitchFamily="34" charset="-120"/>
              </a:rPr>
              <a:t>× $162.42</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CP labor per RO  </a:t>
            </a:r>
            <a:pPr algn="ctr" indent="0" marL="0">
              <a:buNone/>
            </a:pPr>
            <a:r>
              <a:rPr lang="en-US" sz="1400" b="1" dirty="0">
                <a:solidFill>
                  <a:srgbClr val="0B2C4A"/>
                </a:solidFill>
                <a:latin typeface="Inter" pitchFamily="34" charset="0"/>
                <a:ea typeface="Inter" pitchFamily="34" charset="-122"/>
                <a:cs typeface="Inter" pitchFamily="34" charset="-120"/>
              </a:rPr>
              <a:t>$304</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Total dollars per RO matters more than any single measure. It's what we sell.</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Sell more labor and more parts come with it: parts per RO rose $9 to $238 alongside it.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single best metric to measure a service advisor's performance.</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per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lever on the hours slide: MPI, menu, Road to the Sale</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Pricing, discounts and mix</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Advisor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customer, every time, from an accurate menu</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Pay plans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 advisors on CP labor or gross per RO</a:t>
            </a:r>
            <a:endParaRPr lang="en-US" sz="1400" dirty="0"/>
          </a:p>
        </p:txBody>
      </p:sp>
      <p:sp>
        <p:nvSpPr>
          <p:cNvPr id="26" name="Shape 24"/>
          <p:cNvSpPr/>
          <p:nvPr/>
        </p:nvSpPr>
        <p:spPr>
          <a:xfrm>
            <a:off x="457200" y="6126480"/>
            <a:ext cx="11274552" cy="341376"/>
          </a:xfrm>
          <a:prstGeom prst="rect">
            <a:avLst/>
          </a:prstGeom>
          <a:solidFill>
            <a:srgbClr val="E6F6EE"/>
          </a:solidFill>
          <a:ln/>
        </p:spPr>
      </p:sp>
      <p:sp>
        <p:nvSpPr>
          <p:cNvPr id="27" name="Text 2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Group: $304 CP labor per RO, up $17. With ROs flat, the $4,899,376 labor gain came from selling more per visit.</a:t>
            </a:r>
            <a:endParaRPr lang="en-US" sz="1400" dirty="0"/>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$287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$304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$17 to $304, ahead of 2025 in all nine months. ROs were flat, so the $4,899,376 labor gain came from selling more per visit.</a:t>
            </a:r>
            <a:endParaRPr lang="en-US" sz="1600" dirty="0"/>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$304</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Each segment ranked on its own. Navy line = each segment's average; green at or above it.</a:t>
            </a:r>
            <a:endParaRPr lang="en-US" sz="1400" dirty="0"/>
          </a:p>
        </p:txBody>
      </p:sp>
      <p:sp>
        <p:nvSpPr>
          <p:cNvPr id="12" name="Text 10"/>
          <p:cNvSpPr txBox="1"/>
          <p:nvPr/>
        </p:nvSpPr>
        <p:spPr>
          <a:xfrm>
            <a:off x="658368" y="21762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$632</a:t>
            </a:r>
            <a:endParaRPr lang="en-US" sz="1300" dirty="0"/>
          </a:p>
        </p:txBody>
      </p:sp>
      <p:sp>
        <p:nvSpPr>
          <p:cNvPr id="13" name="Shape 11"/>
          <p:cNvSpPr/>
          <p:nvPr/>
        </p:nvSpPr>
        <p:spPr>
          <a:xfrm>
            <a:off x="658368" y="2366264"/>
            <a:ext cx="5303520" cy="18288"/>
          </a:xfrm>
          <a:prstGeom prst="rect">
            <a:avLst/>
          </a:prstGeom>
          <a:solidFill>
            <a:srgbClr val="0B2C4A"/>
          </a:solidFill>
          <a:ln/>
        </p:spPr>
      </p:sp>
      <p:sp>
        <p:nvSpPr>
          <p:cNvPr id="14" name="Text 12"/>
          <p:cNvSpPr txBox="1"/>
          <p:nvPr/>
        </p:nvSpPr>
        <p:spPr>
          <a:xfrm>
            <a:off x="658368"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6" name="Shape 14"/>
          <p:cNvSpPr/>
          <p:nvPr/>
        </p:nvSpPr>
        <p:spPr>
          <a:xfrm>
            <a:off x="3008376" y="2436622"/>
            <a:ext cx="1658471" cy="104140"/>
          </a:xfrm>
          <a:prstGeom prst="rect">
            <a:avLst/>
          </a:prstGeom>
          <a:solidFill>
            <a:srgbClr val="12A566"/>
          </a:solidFill>
          <a:ln/>
        </p:spPr>
      </p:sp>
      <p:sp>
        <p:nvSpPr>
          <p:cNvPr id="17" name="Text 15"/>
          <p:cNvSpPr txBox="1"/>
          <p:nvPr/>
        </p:nvSpPr>
        <p:spPr>
          <a:xfrm>
            <a:off x="4754880"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$933</a:t>
            </a:r>
            <a:endParaRPr lang="en-US" sz="1200" dirty="0"/>
          </a:p>
        </p:txBody>
      </p:sp>
      <p:sp>
        <p:nvSpPr>
          <p:cNvPr id="18" name="Text 16"/>
          <p:cNvSpPr txBox="1"/>
          <p:nvPr/>
        </p:nvSpPr>
        <p:spPr>
          <a:xfrm>
            <a:off x="658368"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0" name="Shape 18"/>
          <p:cNvSpPr/>
          <p:nvPr/>
        </p:nvSpPr>
        <p:spPr>
          <a:xfrm>
            <a:off x="3008376" y="2644902"/>
            <a:ext cx="1654662" cy="104140"/>
          </a:xfrm>
          <a:prstGeom prst="rect">
            <a:avLst/>
          </a:prstGeom>
          <a:solidFill>
            <a:srgbClr val="12A566"/>
          </a:solidFill>
          <a:ln/>
        </p:spPr>
      </p:sp>
      <p:sp>
        <p:nvSpPr>
          <p:cNvPr id="21" name="Text 19"/>
          <p:cNvSpPr txBox="1"/>
          <p:nvPr/>
        </p:nvSpPr>
        <p:spPr>
          <a:xfrm>
            <a:off x="4754880"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$931</a:t>
            </a:r>
            <a:endParaRPr lang="en-US" sz="1200" dirty="0"/>
          </a:p>
        </p:txBody>
      </p:sp>
      <p:sp>
        <p:nvSpPr>
          <p:cNvPr id="22" name="Text 20"/>
          <p:cNvSpPr txBox="1"/>
          <p:nvPr/>
        </p:nvSpPr>
        <p:spPr>
          <a:xfrm>
            <a:off x="658368"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4" name="Shape 22"/>
          <p:cNvSpPr/>
          <p:nvPr/>
        </p:nvSpPr>
        <p:spPr>
          <a:xfrm>
            <a:off x="3008376" y="2853182"/>
            <a:ext cx="1649321" cy="104140"/>
          </a:xfrm>
          <a:prstGeom prst="rect">
            <a:avLst/>
          </a:prstGeom>
          <a:solidFill>
            <a:srgbClr val="12A566"/>
          </a:solidFill>
          <a:ln/>
        </p:spPr>
      </p:sp>
      <p:sp>
        <p:nvSpPr>
          <p:cNvPr id="25" name="Text 23"/>
          <p:cNvSpPr txBox="1"/>
          <p:nvPr/>
        </p:nvSpPr>
        <p:spPr>
          <a:xfrm>
            <a:off x="4754880"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26" name="Text 24"/>
          <p:cNvSpPr txBox="1"/>
          <p:nvPr/>
        </p:nvSpPr>
        <p:spPr>
          <a:xfrm>
            <a:off x="658368"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8" name="Shape 26"/>
          <p:cNvSpPr/>
          <p:nvPr/>
        </p:nvSpPr>
        <p:spPr>
          <a:xfrm>
            <a:off x="3008376" y="3061462"/>
            <a:ext cx="1452099" cy="104140"/>
          </a:xfrm>
          <a:prstGeom prst="rect">
            <a:avLst/>
          </a:prstGeom>
          <a:solidFill>
            <a:srgbClr val="12A566"/>
          </a:solidFill>
          <a:ln/>
        </p:spPr>
      </p:sp>
      <p:sp>
        <p:nvSpPr>
          <p:cNvPr id="29" name="Text 27"/>
          <p:cNvSpPr txBox="1"/>
          <p:nvPr/>
        </p:nvSpPr>
        <p:spPr>
          <a:xfrm>
            <a:off x="4754880"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$817</a:t>
            </a:r>
            <a:endParaRPr lang="en-US" sz="1200" dirty="0"/>
          </a:p>
        </p:txBody>
      </p:sp>
      <p:sp>
        <p:nvSpPr>
          <p:cNvPr id="30" name="Text 28"/>
          <p:cNvSpPr txBox="1"/>
          <p:nvPr/>
        </p:nvSpPr>
        <p:spPr>
          <a:xfrm>
            <a:off x="658368"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1" name="Text 29"/>
          <p:cNvSpPr txBox="1"/>
          <p:nvPr/>
        </p:nvSpPr>
        <p:spPr>
          <a:xfrm>
            <a:off x="1014984"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2" name="Shape 30"/>
          <p:cNvSpPr/>
          <p:nvPr/>
        </p:nvSpPr>
        <p:spPr>
          <a:xfrm>
            <a:off x="3008376" y="3269742"/>
            <a:ext cx="1139643" cy="104140"/>
          </a:xfrm>
          <a:prstGeom prst="rect">
            <a:avLst/>
          </a:prstGeom>
          <a:solidFill>
            <a:srgbClr val="12A566"/>
          </a:solidFill>
          <a:ln/>
        </p:spPr>
      </p:sp>
      <p:sp>
        <p:nvSpPr>
          <p:cNvPr id="33" name="Text 31"/>
          <p:cNvSpPr txBox="1"/>
          <p:nvPr/>
        </p:nvSpPr>
        <p:spPr>
          <a:xfrm>
            <a:off x="4754880" y="32176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$641</a:t>
            </a:r>
            <a:endParaRPr lang="en-US" sz="1200" dirty="0"/>
          </a:p>
        </p:txBody>
      </p:sp>
      <p:sp>
        <p:nvSpPr>
          <p:cNvPr id="34" name="Text 32"/>
          <p:cNvSpPr txBox="1"/>
          <p:nvPr/>
        </p:nvSpPr>
        <p:spPr>
          <a:xfrm>
            <a:off x="658368"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5" name="Text 33"/>
          <p:cNvSpPr txBox="1"/>
          <p:nvPr/>
        </p:nvSpPr>
        <p:spPr>
          <a:xfrm>
            <a:off x="1014984"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6" name="Shape 34"/>
          <p:cNvSpPr/>
          <p:nvPr/>
        </p:nvSpPr>
        <p:spPr>
          <a:xfrm>
            <a:off x="3008376" y="3478022"/>
            <a:ext cx="899356" cy="104140"/>
          </a:xfrm>
          <a:prstGeom prst="rect">
            <a:avLst/>
          </a:prstGeom>
          <a:solidFill>
            <a:srgbClr val="C2352F"/>
          </a:solidFill>
          <a:ln/>
        </p:spPr>
      </p:sp>
      <p:sp>
        <p:nvSpPr>
          <p:cNvPr id="37" name="Text 35"/>
          <p:cNvSpPr txBox="1"/>
          <p:nvPr/>
        </p:nvSpPr>
        <p:spPr>
          <a:xfrm>
            <a:off x="4754880"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$506</a:t>
            </a:r>
            <a:endParaRPr lang="en-US" sz="1200" dirty="0"/>
          </a:p>
        </p:txBody>
      </p:sp>
      <p:sp>
        <p:nvSpPr>
          <p:cNvPr id="38" name="Text 36"/>
          <p:cNvSpPr txBox="1"/>
          <p:nvPr/>
        </p:nvSpPr>
        <p:spPr>
          <a:xfrm>
            <a:off x="658368"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9" name="Text 37"/>
          <p:cNvSpPr txBox="1"/>
          <p:nvPr/>
        </p:nvSpPr>
        <p:spPr>
          <a:xfrm>
            <a:off x="1014984"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0" name="Shape 38"/>
          <p:cNvSpPr/>
          <p:nvPr/>
        </p:nvSpPr>
        <p:spPr>
          <a:xfrm>
            <a:off x="3008376" y="3686302"/>
            <a:ext cx="825155" cy="104140"/>
          </a:xfrm>
          <a:prstGeom prst="rect">
            <a:avLst/>
          </a:prstGeom>
          <a:solidFill>
            <a:srgbClr val="C2352F"/>
          </a:solidFill>
          <a:ln/>
        </p:spPr>
      </p:sp>
      <p:sp>
        <p:nvSpPr>
          <p:cNvPr id="41" name="Text 39"/>
          <p:cNvSpPr txBox="1"/>
          <p:nvPr/>
        </p:nvSpPr>
        <p:spPr>
          <a:xfrm>
            <a:off x="4754880"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42" name="Text 40"/>
          <p:cNvSpPr txBox="1"/>
          <p:nvPr/>
        </p:nvSpPr>
        <p:spPr>
          <a:xfrm>
            <a:off x="658368"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3" name="Text 41"/>
          <p:cNvSpPr txBox="1"/>
          <p:nvPr/>
        </p:nvSpPr>
        <p:spPr>
          <a:xfrm>
            <a:off x="1014984"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4" name="Shape 42"/>
          <p:cNvSpPr/>
          <p:nvPr/>
        </p:nvSpPr>
        <p:spPr>
          <a:xfrm>
            <a:off x="3008376" y="3894582"/>
            <a:ext cx="740306" cy="104140"/>
          </a:xfrm>
          <a:prstGeom prst="rect">
            <a:avLst/>
          </a:prstGeom>
          <a:solidFill>
            <a:srgbClr val="C2352F"/>
          </a:solidFill>
          <a:ln/>
        </p:spPr>
      </p:sp>
      <p:sp>
        <p:nvSpPr>
          <p:cNvPr id="45" name="Text 43"/>
          <p:cNvSpPr txBox="1"/>
          <p:nvPr/>
        </p:nvSpPr>
        <p:spPr>
          <a:xfrm>
            <a:off x="4754880"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$416</a:t>
            </a:r>
            <a:endParaRPr lang="en-US" sz="1200" dirty="0"/>
          </a:p>
        </p:txBody>
      </p:sp>
      <p:sp>
        <p:nvSpPr>
          <p:cNvPr id="46" name="Text 44"/>
          <p:cNvSpPr txBox="1"/>
          <p:nvPr/>
        </p:nvSpPr>
        <p:spPr>
          <a:xfrm>
            <a:off x="658368"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7" name="Text 45"/>
          <p:cNvSpPr txBox="1"/>
          <p:nvPr/>
        </p:nvSpPr>
        <p:spPr>
          <a:xfrm>
            <a:off x="1014984"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8" name="Shape 46"/>
          <p:cNvSpPr/>
          <p:nvPr/>
        </p:nvSpPr>
        <p:spPr>
          <a:xfrm>
            <a:off x="3008376" y="4102862"/>
            <a:ext cx="715741" cy="104140"/>
          </a:xfrm>
          <a:prstGeom prst="rect">
            <a:avLst/>
          </a:prstGeom>
          <a:solidFill>
            <a:srgbClr val="C2352F"/>
          </a:solidFill>
          <a:ln/>
        </p:spPr>
      </p:sp>
      <p:sp>
        <p:nvSpPr>
          <p:cNvPr id="49" name="Text 47"/>
          <p:cNvSpPr txBox="1"/>
          <p:nvPr/>
        </p:nvSpPr>
        <p:spPr>
          <a:xfrm>
            <a:off x="4754880"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50" name="Text 48"/>
          <p:cNvSpPr txBox="1"/>
          <p:nvPr/>
        </p:nvSpPr>
        <p:spPr>
          <a:xfrm>
            <a:off x="658368" y="42590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a:t>
            </a:r>
            <a:endParaRPr lang="en-US" sz="1300" dirty="0"/>
          </a:p>
        </p:txBody>
      </p:sp>
      <p:sp>
        <p:nvSpPr>
          <p:cNvPr id="51" name="Shape 49"/>
          <p:cNvSpPr/>
          <p:nvPr/>
        </p:nvSpPr>
        <p:spPr>
          <a:xfrm>
            <a:off x="658368" y="4449064"/>
            <a:ext cx="5303520" cy="18288"/>
          </a:xfrm>
          <a:prstGeom prst="rect">
            <a:avLst/>
          </a:prstGeom>
          <a:solidFill>
            <a:srgbClr val="0B2C4A"/>
          </a:solidFill>
          <a:ln/>
        </p:spPr>
      </p:sp>
      <p:sp>
        <p:nvSpPr>
          <p:cNvPr id="52" name="Text 50"/>
          <p:cNvSpPr txBox="1"/>
          <p:nvPr/>
        </p:nvSpPr>
        <p:spPr>
          <a:xfrm>
            <a:off x="658368"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519422"/>
            <a:ext cx="1653705" cy="104140"/>
          </a:xfrm>
          <a:prstGeom prst="rect">
            <a:avLst/>
          </a:prstGeom>
          <a:solidFill>
            <a:srgbClr val="12A566"/>
          </a:solidFill>
          <a:ln/>
        </p:spPr>
      </p:sp>
      <p:sp>
        <p:nvSpPr>
          <p:cNvPr id="55" name="Text 53"/>
          <p:cNvSpPr txBox="1"/>
          <p:nvPr/>
        </p:nvSpPr>
        <p:spPr>
          <a:xfrm>
            <a:off x="4754880" y="44673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a:t>
            </a:r>
            <a:endParaRPr lang="en-US" sz="1200" dirty="0"/>
          </a:p>
        </p:txBody>
      </p:sp>
      <p:sp>
        <p:nvSpPr>
          <p:cNvPr id="56" name="Text 54"/>
          <p:cNvSpPr txBox="1"/>
          <p:nvPr/>
        </p:nvSpPr>
        <p:spPr>
          <a:xfrm>
            <a:off x="658368"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727702"/>
            <a:ext cx="1577968" cy="104140"/>
          </a:xfrm>
          <a:prstGeom prst="rect">
            <a:avLst/>
          </a:prstGeom>
          <a:solidFill>
            <a:srgbClr val="12A566"/>
          </a:solidFill>
          <a:ln/>
        </p:spPr>
      </p:sp>
      <p:sp>
        <p:nvSpPr>
          <p:cNvPr id="59" name="Text 57"/>
          <p:cNvSpPr txBox="1"/>
          <p:nvPr/>
        </p:nvSpPr>
        <p:spPr>
          <a:xfrm>
            <a:off x="4754880" y="46756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60" name="Text 58"/>
          <p:cNvSpPr txBox="1"/>
          <p:nvPr/>
        </p:nvSpPr>
        <p:spPr>
          <a:xfrm>
            <a:off x="658368"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2" name="Shape 60"/>
          <p:cNvSpPr/>
          <p:nvPr/>
        </p:nvSpPr>
        <p:spPr>
          <a:xfrm>
            <a:off x="3008376" y="4935982"/>
            <a:ext cx="1503381" cy="104140"/>
          </a:xfrm>
          <a:prstGeom prst="rect">
            <a:avLst/>
          </a:prstGeom>
          <a:solidFill>
            <a:srgbClr val="12A566"/>
          </a:solidFill>
          <a:ln/>
        </p:spPr>
      </p:sp>
      <p:sp>
        <p:nvSpPr>
          <p:cNvPr id="63" name="Text 61"/>
          <p:cNvSpPr txBox="1"/>
          <p:nvPr/>
        </p:nvSpPr>
        <p:spPr>
          <a:xfrm>
            <a:off x="4754880" y="48839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$354</a:t>
            </a:r>
            <a:endParaRPr lang="en-US" sz="1200" dirty="0"/>
          </a:p>
        </p:txBody>
      </p:sp>
      <p:sp>
        <p:nvSpPr>
          <p:cNvPr id="64" name="Text 62"/>
          <p:cNvSpPr txBox="1"/>
          <p:nvPr/>
        </p:nvSpPr>
        <p:spPr>
          <a:xfrm>
            <a:off x="658368"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6" name="Shape 64"/>
          <p:cNvSpPr/>
          <p:nvPr/>
        </p:nvSpPr>
        <p:spPr>
          <a:xfrm>
            <a:off x="3008376" y="5144262"/>
            <a:ext cx="1412321" cy="104140"/>
          </a:xfrm>
          <a:prstGeom prst="rect">
            <a:avLst/>
          </a:prstGeom>
          <a:solidFill>
            <a:srgbClr val="12A566"/>
          </a:solidFill>
          <a:ln/>
        </p:spPr>
      </p:sp>
      <p:sp>
        <p:nvSpPr>
          <p:cNvPr id="67" name="Text 65"/>
          <p:cNvSpPr txBox="1"/>
          <p:nvPr/>
        </p:nvSpPr>
        <p:spPr>
          <a:xfrm>
            <a:off x="4754880" y="50921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68" name="Text 66"/>
          <p:cNvSpPr txBox="1"/>
          <p:nvPr/>
        </p:nvSpPr>
        <p:spPr>
          <a:xfrm>
            <a:off x="658368"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0" name="Shape 68"/>
          <p:cNvSpPr/>
          <p:nvPr/>
        </p:nvSpPr>
        <p:spPr>
          <a:xfrm>
            <a:off x="3008376" y="5352542"/>
            <a:ext cx="1353340" cy="104140"/>
          </a:xfrm>
          <a:prstGeom prst="rect">
            <a:avLst/>
          </a:prstGeom>
          <a:solidFill>
            <a:srgbClr val="12A566"/>
          </a:solidFill>
          <a:ln/>
        </p:spPr>
      </p:sp>
      <p:sp>
        <p:nvSpPr>
          <p:cNvPr id="71" name="Text 69"/>
          <p:cNvSpPr txBox="1"/>
          <p:nvPr/>
        </p:nvSpPr>
        <p:spPr>
          <a:xfrm>
            <a:off x="4754880" y="53004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$318</a:t>
            </a:r>
            <a:endParaRPr lang="en-US" sz="1200" dirty="0"/>
          </a:p>
        </p:txBody>
      </p:sp>
      <p:sp>
        <p:nvSpPr>
          <p:cNvPr id="72" name="Text 70"/>
          <p:cNvSpPr txBox="1"/>
          <p:nvPr/>
        </p:nvSpPr>
        <p:spPr>
          <a:xfrm>
            <a:off x="658368"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4" name="Shape 72"/>
          <p:cNvSpPr/>
          <p:nvPr/>
        </p:nvSpPr>
        <p:spPr>
          <a:xfrm>
            <a:off x="3008376" y="5560822"/>
            <a:ext cx="1320726" cy="104140"/>
          </a:xfrm>
          <a:prstGeom prst="rect">
            <a:avLst/>
          </a:prstGeom>
          <a:solidFill>
            <a:srgbClr val="12A566"/>
          </a:solidFill>
          <a:ln/>
        </p:spPr>
      </p:sp>
      <p:sp>
        <p:nvSpPr>
          <p:cNvPr id="75" name="Text 73"/>
          <p:cNvSpPr txBox="1"/>
          <p:nvPr/>
        </p:nvSpPr>
        <p:spPr>
          <a:xfrm>
            <a:off x="4754880" y="55087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76" name="Text 74"/>
          <p:cNvSpPr txBox="1"/>
          <p:nvPr/>
        </p:nvSpPr>
        <p:spPr>
          <a:xfrm>
            <a:off x="658368" y="57170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57170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769102"/>
            <a:ext cx="1282619" cy="104140"/>
          </a:xfrm>
          <a:prstGeom prst="rect">
            <a:avLst/>
          </a:prstGeom>
          <a:solidFill>
            <a:srgbClr val="12A566"/>
          </a:solidFill>
          <a:ln/>
        </p:spPr>
      </p:sp>
      <p:sp>
        <p:nvSpPr>
          <p:cNvPr id="79" name="Text 77"/>
          <p:cNvSpPr txBox="1"/>
          <p:nvPr/>
        </p:nvSpPr>
        <p:spPr>
          <a:xfrm>
            <a:off x="4754880" y="57170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$302</a:t>
            </a:r>
            <a:endParaRPr lang="en-US" sz="1200" dirty="0"/>
          </a:p>
        </p:txBody>
      </p:sp>
      <p:sp>
        <p:nvSpPr>
          <p:cNvPr id="80" name="Text 78"/>
          <p:cNvSpPr txBox="1"/>
          <p:nvPr/>
        </p:nvSpPr>
        <p:spPr>
          <a:xfrm>
            <a:off x="6208776" y="21762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1" name="Text 79"/>
          <p:cNvSpPr txBox="1"/>
          <p:nvPr/>
        </p:nvSpPr>
        <p:spPr>
          <a:xfrm>
            <a:off x="6565392" y="21762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2" name="Shape 80"/>
          <p:cNvSpPr/>
          <p:nvPr/>
        </p:nvSpPr>
        <p:spPr>
          <a:xfrm>
            <a:off x="8558784" y="2228342"/>
            <a:ext cx="1272990" cy="104140"/>
          </a:xfrm>
          <a:prstGeom prst="rect">
            <a:avLst/>
          </a:prstGeom>
          <a:solidFill>
            <a:srgbClr val="12A566"/>
          </a:solidFill>
          <a:ln/>
        </p:spPr>
      </p:sp>
      <p:sp>
        <p:nvSpPr>
          <p:cNvPr id="83" name="Text 81"/>
          <p:cNvSpPr txBox="1"/>
          <p:nvPr/>
        </p:nvSpPr>
        <p:spPr>
          <a:xfrm>
            <a:off x="10305288" y="21762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84" name="Text 82"/>
          <p:cNvSpPr txBox="1"/>
          <p:nvPr/>
        </p:nvSpPr>
        <p:spPr>
          <a:xfrm>
            <a:off x="6208776"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5" name="Text 83"/>
          <p:cNvSpPr txBox="1"/>
          <p:nvPr/>
        </p:nvSpPr>
        <p:spPr>
          <a:xfrm>
            <a:off x="6565392"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6" name="Shape 84"/>
          <p:cNvSpPr/>
          <p:nvPr/>
        </p:nvSpPr>
        <p:spPr>
          <a:xfrm>
            <a:off x="8558784" y="2436622"/>
            <a:ext cx="1270673" cy="104140"/>
          </a:xfrm>
          <a:prstGeom prst="rect">
            <a:avLst/>
          </a:prstGeom>
          <a:solidFill>
            <a:srgbClr val="12A566"/>
          </a:solidFill>
          <a:ln/>
        </p:spPr>
      </p:sp>
      <p:sp>
        <p:nvSpPr>
          <p:cNvPr id="87" name="Text 85"/>
          <p:cNvSpPr txBox="1"/>
          <p:nvPr/>
        </p:nvSpPr>
        <p:spPr>
          <a:xfrm>
            <a:off x="10305288"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88" name="Text 86"/>
          <p:cNvSpPr txBox="1"/>
          <p:nvPr/>
        </p:nvSpPr>
        <p:spPr>
          <a:xfrm>
            <a:off x="6208776"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89" name="Text 87"/>
          <p:cNvSpPr txBox="1"/>
          <p:nvPr/>
        </p:nvSpPr>
        <p:spPr>
          <a:xfrm>
            <a:off x="6565392"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0" name="Shape 88"/>
          <p:cNvSpPr/>
          <p:nvPr/>
        </p:nvSpPr>
        <p:spPr>
          <a:xfrm>
            <a:off x="8558784" y="2644902"/>
            <a:ext cx="1227837" cy="104140"/>
          </a:xfrm>
          <a:prstGeom prst="rect">
            <a:avLst/>
          </a:prstGeom>
          <a:solidFill>
            <a:srgbClr val="12A566"/>
          </a:solidFill>
          <a:ln/>
        </p:spPr>
      </p:sp>
      <p:sp>
        <p:nvSpPr>
          <p:cNvPr id="91" name="Text 89"/>
          <p:cNvSpPr txBox="1"/>
          <p:nvPr/>
        </p:nvSpPr>
        <p:spPr>
          <a:xfrm>
            <a:off x="10305288"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92" name="Text 90"/>
          <p:cNvSpPr txBox="1"/>
          <p:nvPr/>
        </p:nvSpPr>
        <p:spPr>
          <a:xfrm>
            <a:off x="6208776"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3" name="Text 91"/>
          <p:cNvSpPr txBox="1"/>
          <p:nvPr/>
        </p:nvSpPr>
        <p:spPr>
          <a:xfrm>
            <a:off x="6565392"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4" name="Shape 92"/>
          <p:cNvSpPr/>
          <p:nvPr/>
        </p:nvSpPr>
        <p:spPr>
          <a:xfrm>
            <a:off x="8558784" y="2853182"/>
            <a:ext cx="1190170" cy="104140"/>
          </a:xfrm>
          <a:prstGeom prst="rect">
            <a:avLst/>
          </a:prstGeom>
          <a:solidFill>
            <a:srgbClr val="12A566"/>
          </a:solidFill>
          <a:ln/>
        </p:spPr>
      </p:sp>
      <p:sp>
        <p:nvSpPr>
          <p:cNvPr id="95" name="Text 93"/>
          <p:cNvSpPr txBox="1"/>
          <p:nvPr/>
        </p:nvSpPr>
        <p:spPr>
          <a:xfrm>
            <a:off x="10305288"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96" name="Text 94"/>
          <p:cNvSpPr txBox="1"/>
          <p:nvPr/>
        </p:nvSpPr>
        <p:spPr>
          <a:xfrm>
            <a:off x="6208776"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7" name="Text 95"/>
          <p:cNvSpPr txBox="1"/>
          <p:nvPr/>
        </p:nvSpPr>
        <p:spPr>
          <a:xfrm>
            <a:off x="6565392"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8" name="Shape 96"/>
          <p:cNvSpPr/>
          <p:nvPr/>
        </p:nvSpPr>
        <p:spPr>
          <a:xfrm>
            <a:off x="8558784" y="3061462"/>
            <a:ext cx="1165364" cy="104140"/>
          </a:xfrm>
          <a:prstGeom prst="rect">
            <a:avLst/>
          </a:prstGeom>
          <a:solidFill>
            <a:srgbClr val="12A566"/>
          </a:solidFill>
          <a:ln/>
        </p:spPr>
      </p:sp>
      <p:sp>
        <p:nvSpPr>
          <p:cNvPr id="99" name="Text 97"/>
          <p:cNvSpPr txBox="1"/>
          <p:nvPr/>
        </p:nvSpPr>
        <p:spPr>
          <a:xfrm>
            <a:off x="10305288"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a:t>
            </a:r>
            <a:endParaRPr lang="en-US" sz="1200" dirty="0"/>
          </a:p>
        </p:txBody>
      </p:sp>
      <p:sp>
        <p:nvSpPr>
          <p:cNvPr id="100" name="Text 98"/>
          <p:cNvSpPr txBox="1"/>
          <p:nvPr/>
        </p:nvSpPr>
        <p:spPr>
          <a:xfrm>
            <a:off x="6208776"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1" name="Text 99"/>
          <p:cNvSpPr txBox="1"/>
          <p:nvPr/>
        </p:nvSpPr>
        <p:spPr>
          <a:xfrm>
            <a:off x="6565392"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2" name="Shape 100"/>
          <p:cNvSpPr/>
          <p:nvPr/>
        </p:nvSpPr>
        <p:spPr>
          <a:xfrm>
            <a:off x="8558784" y="3269742"/>
            <a:ext cx="1152802" cy="104140"/>
          </a:xfrm>
          <a:prstGeom prst="rect">
            <a:avLst/>
          </a:prstGeom>
          <a:solidFill>
            <a:srgbClr val="12A566"/>
          </a:solidFill>
          <a:ln/>
        </p:spPr>
      </p:sp>
      <p:sp>
        <p:nvSpPr>
          <p:cNvPr id="103" name="Text 101"/>
          <p:cNvSpPr txBox="1"/>
          <p:nvPr/>
        </p:nvSpPr>
        <p:spPr>
          <a:xfrm>
            <a:off x="10305288" y="32176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a:t>
            </a:r>
            <a:endParaRPr lang="en-US" sz="1200" dirty="0"/>
          </a:p>
        </p:txBody>
      </p:sp>
      <p:sp>
        <p:nvSpPr>
          <p:cNvPr id="104" name="Text 102"/>
          <p:cNvSpPr txBox="1"/>
          <p:nvPr/>
        </p:nvSpPr>
        <p:spPr>
          <a:xfrm>
            <a:off x="6208776"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5" name="Text 103"/>
          <p:cNvSpPr txBox="1"/>
          <p:nvPr/>
        </p:nvSpPr>
        <p:spPr>
          <a:xfrm>
            <a:off x="6565392"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6" name="Shape 104"/>
          <p:cNvSpPr/>
          <p:nvPr/>
        </p:nvSpPr>
        <p:spPr>
          <a:xfrm>
            <a:off x="8558784" y="3478022"/>
            <a:ext cx="1012530" cy="104140"/>
          </a:xfrm>
          <a:prstGeom prst="rect">
            <a:avLst/>
          </a:prstGeom>
          <a:solidFill>
            <a:srgbClr val="C2352F"/>
          </a:solidFill>
          <a:ln/>
        </p:spPr>
      </p:sp>
      <p:sp>
        <p:nvSpPr>
          <p:cNvPr id="107" name="Text 105"/>
          <p:cNvSpPr txBox="1"/>
          <p:nvPr/>
        </p:nvSpPr>
        <p:spPr>
          <a:xfrm>
            <a:off x="10305288"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08" name="Text 106"/>
          <p:cNvSpPr txBox="1"/>
          <p:nvPr/>
        </p:nvSpPr>
        <p:spPr>
          <a:xfrm>
            <a:off x="6208776"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9" name="Text 107"/>
          <p:cNvSpPr txBox="1"/>
          <p:nvPr/>
        </p:nvSpPr>
        <p:spPr>
          <a:xfrm>
            <a:off x="6565392"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0" name="Shape 108"/>
          <p:cNvSpPr/>
          <p:nvPr/>
        </p:nvSpPr>
        <p:spPr>
          <a:xfrm>
            <a:off x="8558784" y="3686302"/>
            <a:ext cx="1010719" cy="104140"/>
          </a:xfrm>
          <a:prstGeom prst="rect">
            <a:avLst/>
          </a:prstGeom>
          <a:solidFill>
            <a:srgbClr val="C2352F"/>
          </a:solidFill>
          <a:ln/>
        </p:spPr>
      </p:sp>
      <p:sp>
        <p:nvSpPr>
          <p:cNvPr id="111" name="Text 109"/>
          <p:cNvSpPr txBox="1"/>
          <p:nvPr/>
        </p:nvSpPr>
        <p:spPr>
          <a:xfrm>
            <a:off x="10305288"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2" name="Text 110"/>
          <p:cNvSpPr txBox="1"/>
          <p:nvPr/>
        </p:nvSpPr>
        <p:spPr>
          <a:xfrm>
            <a:off x="6208776"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3" name="Text 111"/>
          <p:cNvSpPr txBox="1"/>
          <p:nvPr/>
        </p:nvSpPr>
        <p:spPr>
          <a:xfrm>
            <a:off x="6565392"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4" name="Shape 112"/>
          <p:cNvSpPr/>
          <p:nvPr/>
        </p:nvSpPr>
        <p:spPr>
          <a:xfrm>
            <a:off x="8558784" y="3894582"/>
            <a:ext cx="995064" cy="104140"/>
          </a:xfrm>
          <a:prstGeom prst="rect">
            <a:avLst/>
          </a:prstGeom>
          <a:solidFill>
            <a:srgbClr val="C2352F"/>
          </a:solidFill>
          <a:ln/>
        </p:spPr>
      </p:sp>
      <p:sp>
        <p:nvSpPr>
          <p:cNvPr id="115" name="Text 113"/>
          <p:cNvSpPr txBox="1"/>
          <p:nvPr/>
        </p:nvSpPr>
        <p:spPr>
          <a:xfrm>
            <a:off x="10305288"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6" name="Text 114"/>
          <p:cNvSpPr txBox="1"/>
          <p:nvPr/>
        </p:nvSpPr>
        <p:spPr>
          <a:xfrm>
            <a:off x="6208776"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7" name="Text 115"/>
          <p:cNvSpPr txBox="1"/>
          <p:nvPr/>
        </p:nvSpPr>
        <p:spPr>
          <a:xfrm>
            <a:off x="6565392"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8" name="Shape 116"/>
          <p:cNvSpPr/>
          <p:nvPr/>
        </p:nvSpPr>
        <p:spPr>
          <a:xfrm>
            <a:off x="8558784" y="4102862"/>
            <a:ext cx="980911" cy="104140"/>
          </a:xfrm>
          <a:prstGeom prst="rect">
            <a:avLst/>
          </a:prstGeom>
          <a:solidFill>
            <a:srgbClr val="C2352F"/>
          </a:solidFill>
          <a:ln/>
        </p:spPr>
      </p:sp>
      <p:sp>
        <p:nvSpPr>
          <p:cNvPr id="119" name="Text 117"/>
          <p:cNvSpPr txBox="1"/>
          <p:nvPr/>
        </p:nvSpPr>
        <p:spPr>
          <a:xfrm>
            <a:off x="10305288"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$231</a:t>
            </a:r>
            <a:endParaRPr lang="en-US" sz="1200" dirty="0"/>
          </a:p>
        </p:txBody>
      </p:sp>
      <p:sp>
        <p:nvSpPr>
          <p:cNvPr id="120" name="Text 118"/>
          <p:cNvSpPr txBox="1"/>
          <p:nvPr/>
        </p:nvSpPr>
        <p:spPr>
          <a:xfrm>
            <a:off x="6208776" y="42590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42590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2" name="Shape 120"/>
          <p:cNvSpPr/>
          <p:nvPr/>
        </p:nvSpPr>
        <p:spPr>
          <a:xfrm>
            <a:off x="8558784" y="4311142"/>
            <a:ext cx="966604" cy="104140"/>
          </a:xfrm>
          <a:prstGeom prst="rect">
            <a:avLst/>
          </a:prstGeom>
          <a:solidFill>
            <a:srgbClr val="C2352F"/>
          </a:solidFill>
          <a:ln/>
        </p:spPr>
      </p:sp>
      <p:sp>
        <p:nvSpPr>
          <p:cNvPr id="123" name="Text 121"/>
          <p:cNvSpPr txBox="1"/>
          <p:nvPr/>
        </p:nvSpPr>
        <p:spPr>
          <a:xfrm>
            <a:off x="10305288" y="42590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4" name="Text 122"/>
          <p:cNvSpPr txBox="1"/>
          <p:nvPr/>
        </p:nvSpPr>
        <p:spPr>
          <a:xfrm>
            <a:off x="6208776"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5" name="Text 123"/>
          <p:cNvSpPr txBox="1"/>
          <p:nvPr/>
        </p:nvSpPr>
        <p:spPr>
          <a:xfrm>
            <a:off x="6565392"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6" name="Shape 124"/>
          <p:cNvSpPr/>
          <p:nvPr/>
        </p:nvSpPr>
        <p:spPr>
          <a:xfrm>
            <a:off x="8558784" y="4519422"/>
            <a:ext cx="944704" cy="104140"/>
          </a:xfrm>
          <a:prstGeom prst="rect">
            <a:avLst/>
          </a:prstGeom>
          <a:solidFill>
            <a:srgbClr val="C2352F"/>
          </a:solidFill>
          <a:ln/>
        </p:spPr>
      </p:sp>
      <p:sp>
        <p:nvSpPr>
          <p:cNvPr id="127" name="Text 125"/>
          <p:cNvSpPr txBox="1"/>
          <p:nvPr/>
        </p:nvSpPr>
        <p:spPr>
          <a:xfrm>
            <a:off x="10305288" y="44673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$222</a:t>
            </a:r>
            <a:endParaRPr lang="en-US" sz="1200" dirty="0"/>
          </a:p>
        </p:txBody>
      </p:sp>
      <p:sp>
        <p:nvSpPr>
          <p:cNvPr id="128" name="Text 126"/>
          <p:cNvSpPr txBox="1"/>
          <p:nvPr/>
        </p:nvSpPr>
        <p:spPr>
          <a:xfrm>
            <a:off x="6208776"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9" name="Text 127"/>
          <p:cNvSpPr txBox="1"/>
          <p:nvPr/>
        </p:nvSpPr>
        <p:spPr>
          <a:xfrm>
            <a:off x="6565392"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0" name="Shape 128"/>
          <p:cNvSpPr/>
          <p:nvPr/>
        </p:nvSpPr>
        <p:spPr>
          <a:xfrm>
            <a:off x="8558784" y="4727702"/>
            <a:ext cx="936986" cy="104140"/>
          </a:xfrm>
          <a:prstGeom prst="rect">
            <a:avLst/>
          </a:prstGeom>
          <a:solidFill>
            <a:srgbClr val="C2352F"/>
          </a:solidFill>
          <a:ln/>
        </p:spPr>
      </p:sp>
      <p:sp>
        <p:nvSpPr>
          <p:cNvPr id="131" name="Text 129"/>
          <p:cNvSpPr txBox="1"/>
          <p:nvPr/>
        </p:nvSpPr>
        <p:spPr>
          <a:xfrm>
            <a:off x="10305288" y="46756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2" name="Text 130"/>
          <p:cNvSpPr txBox="1"/>
          <p:nvPr/>
        </p:nvSpPr>
        <p:spPr>
          <a:xfrm>
            <a:off x="6208776"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4" name="Shape 132"/>
          <p:cNvSpPr/>
          <p:nvPr/>
        </p:nvSpPr>
        <p:spPr>
          <a:xfrm>
            <a:off x="8558784" y="4935982"/>
            <a:ext cx="906947" cy="104140"/>
          </a:xfrm>
          <a:prstGeom prst="rect">
            <a:avLst/>
          </a:prstGeom>
          <a:solidFill>
            <a:srgbClr val="C2352F"/>
          </a:solidFill>
          <a:ln/>
        </p:spPr>
      </p:sp>
      <p:sp>
        <p:nvSpPr>
          <p:cNvPr id="135" name="Text 133"/>
          <p:cNvSpPr txBox="1"/>
          <p:nvPr/>
        </p:nvSpPr>
        <p:spPr>
          <a:xfrm>
            <a:off x="10305288" y="48839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$213</a:t>
            </a:r>
            <a:endParaRPr lang="en-US" sz="1200" dirty="0"/>
          </a:p>
        </p:txBody>
      </p:sp>
      <p:sp>
        <p:nvSpPr>
          <p:cNvPr id="136" name="Text 134"/>
          <p:cNvSpPr txBox="1"/>
          <p:nvPr/>
        </p:nvSpPr>
        <p:spPr>
          <a:xfrm>
            <a:off x="6208776"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7" name="Text 135"/>
          <p:cNvSpPr txBox="1"/>
          <p:nvPr/>
        </p:nvSpPr>
        <p:spPr>
          <a:xfrm>
            <a:off x="6565392"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8" name="Shape 136"/>
          <p:cNvSpPr/>
          <p:nvPr/>
        </p:nvSpPr>
        <p:spPr>
          <a:xfrm>
            <a:off x="8558784" y="5144262"/>
            <a:ext cx="852977" cy="104140"/>
          </a:xfrm>
          <a:prstGeom prst="rect">
            <a:avLst/>
          </a:prstGeom>
          <a:solidFill>
            <a:srgbClr val="C2352F"/>
          </a:solidFill>
          <a:ln/>
        </p:spPr>
      </p:sp>
      <p:sp>
        <p:nvSpPr>
          <p:cNvPr id="139" name="Text 137"/>
          <p:cNvSpPr txBox="1"/>
          <p:nvPr/>
        </p:nvSpPr>
        <p:spPr>
          <a:xfrm>
            <a:off x="10305288" y="50921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$201</a:t>
            </a:r>
            <a:endParaRPr lang="en-US" sz="1200" dirty="0"/>
          </a:p>
        </p:txBody>
      </p:sp>
      <p:sp>
        <p:nvSpPr>
          <p:cNvPr id="140" name="Text 138"/>
          <p:cNvSpPr txBox="1"/>
          <p:nvPr/>
        </p:nvSpPr>
        <p:spPr>
          <a:xfrm>
            <a:off x="6208776"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1" name="Text 139"/>
          <p:cNvSpPr txBox="1"/>
          <p:nvPr/>
        </p:nvSpPr>
        <p:spPr>
          <a:xfrm>
            <a:off x="6565392"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2" name="Shape 140"/>
          <p:cNvSpPr/>
          <p:nvPr/>
        </p:nvSpPr>
        <p:spPr>
          <a:xfrm>
            <a:off x="8558784" y="5352542"/>
            <a:ext cx="794261" cy="104140"/>
          </a:xfrm>
          <a:prstGeom prst="rect">
            <a:avLst/>
          </a:prstGeom>
          <a:solidFill>
            <a:srgbClr val="C2352F"/>
          </a:solidFill>
          <a:ln/>
        </p:spPr>
      </p:sp>
      <p:sp>
        <p:nvSpPr>
          <p:cNvPr id="143" name="Text 141"/>
          <p:cNvSpPr txBox="1"/>
          <p:nvPr/>
        </p:nvSpPr>
        <p:spPr>
          <a:xfrm>
            <a:off x="10305288" y="53004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44" name="Text 142"/>
          <p:cNvSpPr txBox="1"/>
          <p:nvPr/>
        </p:nvSpPr>
        <p:spPr>
          <a:xfrm>
            <a:off x="6208776"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5" name="Text 143"/>
          <p:cNvSpPr txBox="1"/>
          <p:nvPr/>
        </p:nvSpPr>
        <p:spPr>
          <a:xfrm>
            <a:off x="6565392"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6" name="Shape 144"/>
          <p:cNvSpPr/>
          <p:nvPr/>
        </p:nvSpPr>
        <p:spPr>
          <a:xfrm>
            <a:off x="8558784" y="5560822"/>
            <a:ext cx="773488" cy="104140"/>
          </a:xfrm>
          <a:prstGeom prst="rect">
            <a:avLst/>
          </a:prstGeom>
          <a:solidFill>
            <a:srgbClr val="C2352F"/>
          </a:solidFill>
          <a:ln/>
        </p:spPr>
      </p:sp>
      <p:sp>
        <p:nvSpPr>
          <p:cNvPr id="147" name="Text 145"/>
          <p:cNvSpPr txBox="1"/>
          <p:nvPr/>
        </p:nvSpPr>
        <p:spPr>
          <a:xfrm>
            <a:off x="10305288" y="55087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a:t>
            </a:r>
            <a:endParaRPr lang="en-US" sz="1200" dirty="0"/>
          </a:p>
        </p:txBody>
      </p:sp>
      <p:sp>
        <p:nvSpPr>
          <p:cNvPr id="148" name="Shape 146"/>
          <p:cNvSpPr/>
          <p:nvPr/>
        </p:nvSpPr>
        <p:spPr>
          <a:xfrm>
            <a:off x="4123939" y="2176272"/>
            <a:ext cx="14630" cy="3749040"/>
          </a:xfrm>
          <a:prstGeom prst="rect">
            <a:avLst/>
          </a:prstGeom>
          <a:solidFill>
            <a:srgbClr val="0B2C4A"/>
          </a:solidFill>
          <a:ln/>
        </p:spPr>
      </p:sp>
      <p:sp>
        <p:nvSpPr>
          <p:cNvPr id="149" name="Shape 147"/>
          <p:cNvSpPr/>
          <p:nvPr/>
        </p:nvSpPr>
        <p:spPr>
          <a:xfrm>
            <a:off x="9674347" y="2176272"/>
            <a:ext cx="14630" cy="3749040"/>
          </a:xfrm>
          <a:prstGeom prst="rect">
            <a:avLst/>
          </a:prstGeom>
          <a:solidFill>
            <a:srgbClr val="0B2C4A"/>
          </a:solidFill>
          <a:ln/>
        </p:spPr>
      </p:sp>
      <p:sp>
        <p:nvSpPr>
          <p:cNvPr id="150" name="Shape 148"/>
          <p:cNvSpPr/>
          <p:nvPr/>
        </p:nvSpPr>
        <p:spPr>
          <a:xfrm>
            <a:off x="6085332" y="2176272"/>
            <a:ext cx="10973" cy="3749040"/>
          </a:xfrm>
          <a:prstGeom prst="rect">
            <a:avLst/>
          </a:prstGeom>
          <a:solidFill>
            <a:srgbClr val="D9D9D9"/>
          </a:solidFill>
          <a:ln/>
        </p:spPr>
      </p:sp>
      <p:sp>
        <p:nvSpPr>
          <p:cNvPr id="151" name="Shape 149"/>
          <p:cNvSpPr/>
          <p:nvPr/>
        </p:nvSpPr>
        <p:spPr>
          <a:xfrm>
            <a:off x="457200" y="6126480"/>
            <a:ext cx="11274552" cy="615696"/>
          </a:xfrm>
          <a:prstGeom prst="rect">
            <a:avLst/>
          </a:prstGeom>
          <a:solidFill>
            <a:srgbClr val="EDF4FA"/>
          </a:solidFill>
          <a:ln/>
        </p:spPr>
      </p:sp>
      <p:sp>
        <p:nvSpPr>
          <p:cNvPr id="152" name="Text 1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$632 and 13 of 24 others beat $264. VW Henderson leads non-luxury at $389.</a:t>
            </a:r>
            <a:endParaRPr lang="en-US" sz="1600" dirty="0"/>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5943"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1" name="Shape 19"/>
          <p:cNvSpPr/>
          <p:nvPr/>
        </p:nvSpPr>
        <p:spPr>
          <a:xfrm>
            <a:off x="3785616" y="2391651"/>
            <a:ext cx="55269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46378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9" name="Shape 27"/>
          <p:cNvSpPr/>
          <p:nvPr/>
        </p:nvSpPr>
        <p:spPr>
          <a:xfrm>
            <a:off x="3785616" y="2871442"/>
            <a:ext cx="456716"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14355"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7" name="Shape 35"/>
          <p:cNvSpPr/>
          <p:nvPr/>
        </p:nvSpPr>
        <p:spPr>
          <a:xfrm>
            <a:off x="3785616" y="3351233"/>
            <a:ext cx="4127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785616" y="3591128"/>
            <a:ext cx="40624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28805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785616" y="4070920"/>
            <a:ext cx="26304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3" name="Shape 51"/>
          <p:cNvSpPr/>
          <p:nvPr/>
        </p:nvSpPr>
        <p:spPr>
          <a:xfrm>
            <a:off x="3785616" y="4310815"/>
            <a:ext cx="24249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3785616" y="4550711"/>
            <a:ext cx="23502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215884"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785616" y="5030502"/>
            <a:ext cx="1783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3785616" y="5270397"/>
            <a:ext cx="173516"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3" name="Shape 71"/>
          <p:cNvSpPr/>
          <p:nvPr/>
        </p:nvSpPr>
        <p:spPr>
          <a:xfrm>
            <a:off x="3785616" y="5510293"/>
            <a:ext cx="16262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7" name="Shape 75"/>
          <p:cNvSpPr/>
          <p:nvPr/>
        </p:nvSpPr>
        <p:spPr>
          <a:xfrm>
            <a:off x="3785616" y="5750188"/>
            <a:ext cx="15704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119398"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5" name="Shape 83"/>
          <p:cNvSpPr/>
          <p:nvPr/>
        </p:nvSpPr>
        <p:spPr>
          <a:xfrm>
            <a:off x="9336024" y="2151755"/>
            <a:ext cx="117460"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9" name="Shape 87"/>
          <p:cNvSpPr/>
          <p:nvPr/>
        </p:nvSpPr>
        <p:spPr>
          <a:xfrm>
            <a:off x="9336024" y="2391651"/>
            <a:ext cx="114434"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9336024" y="2631546"/>
            <a:ext cx="10153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97" name="Shape 95"/>
          <p:cNvSpPr/>
          <p:nvPr/>
        </p:nvSpPr>
        <p:spPr>
          <a:xfrm>
            <a:off x="9336024" y="2871442"/>
            <a:ext cx="97831"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90948"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5" name="Shape 103"/>
          <p:cNvSpPr/>
          <p:nvPr/>
        </p:nvSpPr>
        <p:spPr>
          <a:xfrm>
            <a:off x="9336024" y="3351233"/>
            <a:ext cx="55339"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336024" y="3591128"/>
            <a:ext cx="49679"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9336024" y="3831024"/>
            <a:ext cx="30084"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95589" y="4070920"/>
            <a:ext cx="4043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9290140" y="4310815"/>
            <a:ext cx="4588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5" name="Shape 123"/>
          <p:cNvSpPr/>
          <p:nvPr/>
        </p:nvSpPr>
        <p:spPr>
          <a:xfrm>
            <a:off x="9274808" y="4550711"/>
            <a:ext cx="6121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9" name="Shape 127"/>
          <p:cNvSpPr/>
          <p:nvPr/>
        </p:nvSpPr>
        <p:spPr>
          <a:xfrm>
            <a:off x="9269533" y="4790606"/>
            <a:ext cx="6649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3" name="Shape 131"/>
          <p:cNvSpPr/>
          <p:nvPr/>
        </p:nvSpPr>
        <p:spPr>
          <a:xfrm>
            <a:off x="9197430" y="5030502"/>
            <a:ext cx="13859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9075430" y="5270397"/>
            <a:ext cx="260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917914" y="5510293"/>
            <a:ext cx="41811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6F6EE"/>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26 of 33 stores grew CP labor per RO, led by Lincoln at +$111 to $416. 7 declined; LR Reno fell most at −$59.</a:t>
            </a:r>
            <a:endParaRPr lang="en-US" sz="1450" dirty="0"/>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+$111</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$371</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+$82</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+$79</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$238</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$931</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$876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$817</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$231</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$928</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$234</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$271</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$666</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+$75</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$813</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+$54</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$240</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Lincoln, Nissan and Lexus what changed. Ask LR Reno, VW St George and Audi Henderson what got in the way. Ask Audi Reno, LR Reno and Mazda what they started this year.</a:t>
            </a:r>
            <a:endParaRPr lang="en-US" sz="1600" dirty="0"/>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Goldilocks Margin</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Gross profit % is the share of labor you keep after paying the tech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Not too high, not too low: 78% to 80%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Skill code costing: a hybrid of traditional and percentage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Right tech, right job</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80.8%</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gross profit, down 0.1 pts. Just above the 78-80% target.</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40.7%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parts gross profit, up 1.2 pts and ahead in all nine months.</a:t>
            </a:r>
            <a:endParaRPr lang="en-US" sz="1400" dirty="0"/>
          </a:p>
        </p:txBody>
      </p:sp>
      <p:sp>
        <p:nvSpPr>
          <p:cNvPr id="16" name="Shape 14"/>
          <p:cNvSpPr/>
          <p:nvPr/>
        </p:nvSpPr>
        <p:spPr>
          <a:xfrm>
            <a:off x="457200" y="6126480"/>
            <a:ext cx="11274552" cy="356616"/>
          </a:xfrm>
          <a:prstGeom prst="rect">
            <a:avLst/>
          </a:prstGeom>
          <a:solidFill>
            <a:srgbClr val="EDF4FA"/>
          </a:solidFill>
          <a:ln/>
        </p:spPr>
      </p:sp>
      <p:sp>
        <p:nvSpPr>
          <p:cNvPr id="17" name="Text 1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ask: hold labor margin in the 78-80% band by matching the tech to the job, not by squeezing tech pay.</a:t>
            </a:r>
            <a:endParaRPr lang="en-US" sz="1500" dirty="0"/>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Labor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Labor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tech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labor dollar we keep after paying the technician.</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ONE HOUR SOLD</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 1 hour at  </a:t>
            </a:r>
            <a:pPr algn="ctr" indent="0" marL="0">
              <a:buNone/>
            </a:pPr>
            <a:r>
              <a:rPr lang="en-US" sz="1400" b="1" dirty="0">
                <a:solidFill>
                  <a:srgbClr val="0B2C4A"/>
                </a:solidFill>
                <a:latin typeface="Inter" pitchFamily="34" charset="0"/>
                <a:ea typeface="Inter" pitchFamily="34" charset="-122"/>
                <a:cs typeface="Inter" pitchFamily="34" charset="-120"/>
              </a:rPr>
              <a:t>$162</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Pay the tech  </a:t>
            </a:r>
            <a:pPr algn="ctr" indent="0" marL="0">
              <a:buNone/>
            </a:pPr>
            <a:r>
              <a:rPr lang="en-US" sz="1400" b="1" dirty="0">
                <a:solidFill>
                  <a:srgbClr val="0B2C4A"/>
                </a:solidFill>
                <a:latin typeface="Inter" pitchFamily="34" charset="0"/>
                <a:ea typeface="Inter" pitchFamily="34" charset="-122"/>
                <a:cs typeface="Inter" pitchFamily="34" charset="-120"/>
              </a:rPr>
              <a:t>$31</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We keep  </a:t>
            </a:r>
            <a:pPr algn="ctr" indent="0" marL="0">
              <a:buNone/>
            </a:pPr>
            <a:r>
              <a:rPr lang="en-US" sz="1400" b="1" dirty="0">
                <a:solidFill>
                  <a:srgbClr val="0B2C4A"/>
                </a:solidFill>
                <a:latin typeface="Inter" pitchFamily="34" charset="0"/>
                <a:ea typeface="Inter" pitchFamily="34" charset="-122"/>
                <a:cs typeface="Inter" pitchFamily="34" charset="-120"/>
              </a:rPr>
              <a:t>$131</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$131 ÷ $162  </a:t>
            </a:r>
            <a:pPr algn="ctr" indent="0" marL="0">
              <a:buNone/>
            </a:pPr>
            <a:r>
              <a:rPr lang="en-US" sz="1400" b="1" dirty="0">
                <a:solidFill>
                  <a:srgbClr val="0B2C4A"/>
                </a:solidFill>
                <a:latin typeface="Inter" pitchFamily="34" charset="0"/>
                <a:ea typeface="Inter" pitchFamily="34" charset="-122"/>
                <a:cs typeface="Inter" pitchFamily="34" charset="-120"/>
              </a:rPr>
              <a:t>81%</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Goldilocks: the Roundtable target is 78% to 80%. Not too high, not too 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low means tech cost is out of line with what the job sells for.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high can mean techs are underpaid on the work they do, which costs us techs.</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 tech cost, higher ELR = higher margin</a:t>
            </a:r>
            <a:endParaRPr lang="en-US" sz="1400" dirty="0"/>
          </a:p>
        </p:txBody>
      </p:sp>
      <p:sp>
        <p:nvSpPr>
          <p:cNvPr id="24" name="Shape 22"/>
          <p:cNvSpPr/>
          <p:nvPr/>
        </p:nvSpPr>
        <p:spPr>
          <a:xfrm>
            <a:off x="7309104" y="3410712"/>
            <a:ext cx="45720" cy="1133856"/>
          </a:xfrm>
          <a:prstGeom prst="rect">
            <a:avLst/>
          </a:prstGeom>
          <a:solidFill>
            <a:srgbClr val="2587C5"/>
          </a:solidFill>
          <a:ln/>
        </p:spPr>
      </p:sp>
      <p:sp>
        <p:nvSpPr>
          <p:cNvPr id="25" name="Text 23"/>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 pay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Flat-rate pay per hour against the rate we sell</a:t>
            </a:r>
            <a:endParaRPr lang="en-US" sz="1400" dirty="0"/>
          </a:p>
        </p:txBody>
      </p:sp>
      <p:sp>
        <p:nvSpPr>
          <p:cNvPr id="26" name="Shape 24"/>
          <p:cNvSpPr/>
          <p:nvPr/>
        </p:nvSpPr>
        <p:spPr>
          <a:xfrm>
            <a:off x="9479280" y="3410712"/>
            <a:ext cx="45720" cy="1133856"/>
          </a:xfrm>
          <a:prstGeom prst="rect">
            <a:avLst/>
          </a:prstGeom>
          <a:solidFill>
            <a:srgbClr val="2587C5"/>
          </a:solidFill>
          <a:ln/>
        </p:spPr>
      </p:sp>
      <p:sp>
        <p:nvSpPr>
          <p:cNvPr id="27" name="Text 25"/>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job</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Skill-code costing: don't pay a master-tech rate on an oil change</a:t>
            </a:r>
            <a:endParaRPr lang="en-US" sz="1400" dirty="0"/>
          </a:p>
        </p:txBody>
      </p:sp>
      <p:sp>
        <p:nvSpPr>
          <p:cNvPr id="28" name="Shape 26"/>
          <p:cNvSpPr/>
          <p:nvPr/>
        </p:nvSpPr>
        <p:spPr>
          <a:xfrm>
            <a:off x="5138928" y="4654296"/>
            <a:ext cx="45720" cy="1133856"/>
          </a:xfrm>
          <a:prstGeom prst="rect">
            <a:avLst/>
          </a:prstGeom>
          <a:solidFill>
            <a:srgbClr val="2587C5"/>
          </a:solidFill>
          <a:ln/>
        </p:spPr>
      </p:sp>
      <p:sp>
        <p:nvSpPr>
          <p:cNvPr id="29" name="Text 27"/>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Quick maintenance runs lower margin than repair</a:t>
            </a:r>
            <a:endParaRPr lang="en-US" sz="1400" dirty="0"/>
          </a:p>
        </p:txBody>
      </p:sp>
      <p:sp>
        <p:nvSpPr>
          <p:cNvPr id="30" name="Shape 28"/>
          <p:cNvSpPr/>
          <p:nvPr/>
        </p:nvSpPr>
        <p:spPr>
          <a:xfrm>
            <a:off x="7309104" y="4654296"/>
            <a:ext cx="45720" cy="1133856"/>
          </a:xfrm>
          <a:prstGeom prst="rect">
            <a:avLst/>
          </a:prstGeom>
          <a:solidFill>
            <a:srgbClr val="2587C5"/>
          </a:solidFill>
          <a:ln/>
        </p:spPr>
      </p:sp>
      <p:sp>
        <p:nvSpPr>
          <p:cNvPr id="31" name="Text 29"/>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Comebacks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Paying twice for the same job</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80.8% CP labor gross profit, down 0.1 pts and just above the 78-80% target.</a:t>
            </a:r>
            <a:endParaRPr lang="en-US" sz="1600" dirty="0"/>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0.1 pts to 80.8%, behind 2025 in six of nine months. Roundtable target is 78–80%.</a:t>
            </a:r>
            <a:endParaRPr lang="en-US" sz="1600" dirty="0"/>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431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3008376" y="2386853"/>
            <a:ext cx="153563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7687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9" name="Shape 27"/>
          <p:cNvSpPr/>
          <p:nvPr/>
        </p:nvSpPr>
        <p:spPr>
          <a:xfrm>
            <a:off x="3008376" y="2866644"/>
            <a:ext cx="144511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4449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008376" y="3346435"/>
            <a:ext cx="143563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3008376" y="3586331"/>
            <a:ext cx="141324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5" name="Shape 43"/>
          <p:cNvSpPr/>
          <p:nvPr/>
        </p:nvSpPr>
        <p:spPr>
          <a:xfrm>
            <a:off x="3008376" y="3826226"/>
            <a:ext cx="138877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08376" y="4066122"/>
            <a:ext cx="1369844"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008376" y="4306017"/>
            <a:ext cx="1354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32599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82.4%</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1" name="Shape 59"/>
          <p:cNvSpPr/>
          <p:nvPr/>
        </p:nvSpPr>
        <p:spPr>
          <a:xfrm>
            <a:off x="3008376" y="4785808"/>
            <a:ext cx="1299309"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5025704"/>
            <a:ext cx="1172081"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3008376" y="5265599"/>
            <a:ext cx="115451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008376" y="5505495"/>
            <a:ext cx="1151855"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5075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8558784" y="1907062"/>
            <a:ext cx="1147529"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114714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9" name="Shape 87"/>
          <p:cNvSpPr/>
          <p:nvPr/>
        </p:nvSpPr>
        <p:spPr>
          <a:xfrm>
            <a:off x="8558784" y="2386853"/>
            <a:ext cx="114234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113099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8558784" y="2866644"/>
            <a:ext cx="111061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8558784" y="3106540"/>
            <a:ext cx="110393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109937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9" name="Shape 107"/>
          <p:cNvSpPr/>
          <p:nvPr/>
        </p:nvSpPr>
        <p:spPr>
          <a:xfrm>
            <a:off x="8558784" y="3586331"/>
            <a:ext cx="109717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10922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105462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1021487"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926038"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83643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3" name="Shape 131"/>
          <p:cNvSpPr/>
          <p:nvPr/>
        </p:nvSpPr>
        <p:spPr>
          <a:xfrm>
            <a:off x="8558784" y="5025704"/>
            <a:ext cx="81948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72221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457124"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67.7%</a:t>
            </a:r>
            <a:endParaRPr lang="en-US" sz="1200" dirty="0"/>
          </a:p>
        </p:txBody>
      </p:sp>
      <p:sp>
        <p:nvSpPr>
          <p:cNvPr id="143" name="Shape 141"/>
          <p:cNvSpPr/>
          <p:nvPr/>
        </p:nvSpPr>
        <p:spPr>
          <a:xfrm>
            <a:off x="4230890" y="1847088"/>
            <a:ext cx="14630" cy="4078224"/>
          </a:xfrm>
          <a:prstGeom prst="rect">
            <a:avLst/>
          </a:prstGeom>
          <a:solidFill>
            <a:srgbClr val="0B2C4A"/>
          </a:solidFill>
          <a:ln/>
        </p:spPr>
      </p:sp>
      <p:sp>
        <p:nvSpPr>
          <p:cNvPr id="144" name="Shape 142"/>
          <p:cNvSpPr/>
          <p:nvPr/>
        </p:nvSpPr>
        <p:spPr>
          <a:xfrm>
            <a:off x="97812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56616"/>
          </a:xfrm>
          <a:prstGeom prst="rect">
            <a:avLst/>
          </a:prstGeom>
          <a:solidFill>
            <a:srgbClr val="EDF4FA"/>
          </a:solidFill>
          <a:ln/>
        </p:spPr>
      </p:sp>
      <p:sp>
        <p:nvSpPr>
          <p:cNvPr id="147" name="Text 14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13 of 33 stores at or above the 80.8% group, led by Volvo at 88.6%. Hyundai Prescott is lowest at 67.7%.</a:t>
            </a:r>
            <a:endParaRPr lang="en-US" sz="1500" dirty="0"/>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 name="Shape 11"/>
          <p:cNvSpPr/>
          <p:nvPr/>
        </p:nvSpPr>
        <p:spPr>
          <a:xfrm>
            <a:off x="3785616" y="1911860"/>
            <a:ext cx="69170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67696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1" name="Shape 19"/>
          <p:cNvSpPr/>
          <p:nvPr/>
        </p:nvSpPr>
        <p:spPr>
          <a:xfrm>
            <a:off x="3785616" y="2391651"/>
            <a:ext cx="44133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0167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785616" y="2871442"/>
            <a:ext cx="221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785616" y="3111337"/>
            <a:ext cx="2154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872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18079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536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3785616" y="4070920"/>
            <a:ext cx="14263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11772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785616" y="4550711"/>
            <a:ext cx="8396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785616" y="4790606"/>
            <a:ext cx="5721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571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520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3" name="Shape 71"/>
          <p:cNvSpPr/>
          <p:nvPr/>
        </p:nvSpPr>
        <p:spPr>
          <a:xfrm>
            <a:off x="3785616" y="5510293"/>
            <a:ext cx="4563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7" name="Shape 75"/>
          <p:cNvSpPr/>
          <p:nvPr/>
        </p:nvSpPr>
        <p:spPr>
          <a:xfrm>
            <a:off x="3785616" y="5750188"/>
            <a:ext cx="3293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2918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5" name="Shape 83"/>
          <p:cNvSpPr/>
          <p:nvPr/>
        </p:nvSpPr>
        <p:spPr>
          <a:xfrm>
            <a:off x="9336024" y="2151755"/>
            <a:ext cx="2849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336024" y="2391651"/>
            <a:ext cx="174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297900" y="2631546"/>
            <a:ext cx="38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284469" y="2871442"/>
            <a:ext cx="51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66787" y="3111337"/>
            <a:ext cx="69237"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18285" y="3351233"/>
            <a:ext cx="11773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176624" y="3591128"/>
            <a:ext cx="159400"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3" name="Shape 111"/>
          <p:cNvSpPr/>
          <p:nvPr/>
        </p:nvSpPr>
        <p:spPr>
          <a:xfrm>
            <a:off x="9124906" y="3831024"/>
            <a:ext cx="21111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120348" y="4070920"/>
            <a:ext cx="21567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1" name="Shape 119"/>
          <p:cNvSpPr/>
          <p:nvPr/>
        </p:nvSpPr>
        <p:spPr>
          <a:xfrm>
            <a:off x="9112792" y="4310815"/>
            <a:ext cx="22323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036343" y="4550711"/>
            <a:ext cx="29968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3651" y="4790606"/>
            <a:ext cx="3023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896902" y="5030502"/>
            <a:ext cx="43912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634430" y="5270397"/>
            <a:ext cx="701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 of 33 stores improved labor margin, led by Toyota Prescott at +4.6 pts to 78.5%. 13 declined; Hyundai Prescott fell most at −5.2 pts.</a:t>
            </a:r>
            <a:endParaRPr lang="en-US" sz="1600" dirty="0"/>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78.5%</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79.4%</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83.2%</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79.3%</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67.7%</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72.2%</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−4.7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78.8%</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73.9%</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82.9%</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81.0%</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80.9%</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80.5%</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86.8%</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 pts</a:t>
            </a:r>
            <a:endParaRPr lang="en-US" sz="1600" dirty="0"/>
          </a:p>
        </p:txBody>
      </p:sp>
      <p:sp>
        <p:nvSpPr>
          <p:cNvPr id="69" name="Shape 67"/>
          <p:cNvSpPr/>
          <p:nvPr/>
        </p:nvSpPr>
        <p:spPr>
          <a:xfrm>
            <a:off x="457200" y="6126480"/>
            <a:ext cx="11274552" cy="600456"/>
          </a:xfrm>
          <a:prstGeom prst="rect">
            <a:avLst/>
          </a:prstGeom>
          <a:solidFill>
            <a:srgbClr val="EDF4FA"/>
          </a:solidFill>
          <a:ln/>
        </p:spPr>
      </p:sp>
      <p:sp>
        <p:nvSpPr>
          <p:cNvPr id="70" name="Text 68"/>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Ask Toyota Prescott, Honda Spokane and VW St George what changed. Ask Hyundai Prescott, GMC Prescott and Audi Reno what got in the way. Ask Kia St George, Acura and Cadillac what they started this year.</a:t>
            </a:r>
            <a:endParaRPr lang="en-US" sz="1550" dirty="0"/>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Parts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Parts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customer-pay parts dollar we keep after the cost of the part.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other half of the gross on every RO.</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Small changes add up across every RO in the group.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pricing and discounting are under control.</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Markup by cost band; set and reviewed</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 direct price changes. ADC-controlled discounting only.</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Tires and competitive items carry thinner margins</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Bundled maintenance parts priced to protect margin</a:t>
            </a:r>
            <a:endParaRPr lang="en-US" sz="1400" dirty="0"/>
          </a:p>
        </p:txBody>
      </p:sp>
      <p:sp>
        <p:nvSpPr>
          <p:cNvPr id="21" name="Shape 19"/>
          <p:cNvSpPr/>
          <p:nvPr/>
        </p:nvSpPr>
        <p:spPr>
          <a:xfrm>
            <a:off x="457200" y="6126480"/>
            <a:ext cx="11274552" cy="371856"/>
          </a:xfrm>
          <a:prstGeom prst="rect">
            <a:avLst/>
          </a:prstGeom>
          <a:solidFill>
            <a:srgbClr val="E6F6EE"/>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40.7% CP parts gross profit, up 1.2 pts and ahead of 2025 in all nine months.</a:t>
            </a:r>
            <a:endParaRPr lang="en-US" sz="1600" dirty="0"/>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40.7%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40.7%, ahead of 2025 in all nine months.</a:t>
            </a:r>
            <a:endParaRPr lang="en-US" sz="1600" dirty="0"/>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008376" y="2146957"/>
            <a:ext cx="154617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008376" y="2386853"/>
            <a:ext cx="141597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39812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380211"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369862"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008376" y="3346435"/>
            <a:ext cx="13076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1" name="Shape 39"/>
          <p:cNvSpPr/>
          <p:nvPr/>
        </p:nvSpPr>
        <p:spPr>
          <a:xfrm>
            <a:off x="3008376" y="3586331"/>
            <a:ext cx="129860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12944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9" name="Shape 47"/>
          <p:cNvSpPr/>
          <p:nvPr/>
        </p:nvSpPr>
        <p:spPr>
          <a:xfrm>
            <a:off x="3008376" y="4066122"/>
            <a:ext cx="127145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008376" y="4306017"/>
            <a:ext cx="1251777"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008376" y="4545913"/>
            <a:ext cx="124567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123319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23287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008376" y="5265599"/>
            <a:ext cx="12034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11889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88871"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173558"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1128234"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8558784" y="2386853"/>
            <a:ext cx="1079577"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8558784" y="2626748"/>
            <a:ext cx="107183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7" name="Shape 95"/>
          <p:cNvSpPr/>
          <p:nvPr/>
        </p:nvSpPr>
        <p:spPr>
          <a:xfrm>
            <a:off x="8558784" y="2866644"/>
            <a:ext cx="1067637"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10169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8558784" y="3346435"/>
            <a:ext cx="1011567"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855582"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84507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84362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4306017"/>
            <a:ext cx="83846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5" name="Shape 123"/>
          <p:cNvSpPr/>
          <p:nvPr/>
        </p:nvSpPr>
        <p:spPr>
          <a:xfrm>
            <a:off x="8558784" y="4545913"/>
            <a:ext cx="83724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8558784" y="4785808"/>
            <a:ext cx="785861"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8558784" y="5025704"/>
            <a:ext cx="7491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686949"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608467"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33.6%</a:t>
            </a:r>
            <a:endParaRPr lang="en-US" sz="1200" dirty="0"/>
          </a:p>
        </p:txBody>
      </p:sp>
      <p:sp>
        <p:nvSpPr>
          <p:cNvPr id="143" name="Shape 141"/>
          <p:cNvSpPr/>
          <p:nvPr/>
        </p:nvSpPr>
        <p:spPr>
          <a:xfrm>
            <a:off x="4104295" y="1847088"/>
            <a:ext cx="14630" cy="4078224"/>
          </a:xfrm>
          <a:prstGeom prst="rect">
            <a:avLst/>
          </a:prstGeom>
          <a:solidFill>
            <a:srgbClr val="0B2C4A"/>
          </a:solidFill>
          <a:ln/>
        </p:spPr>
      </p:sp>
      <p:sp>
        <p:nvSpPr>
          <p:cNvPr id="144" name="Shape 142"/>
          <p:cNvSpPr/>
          <p:nvPr/>
        </p:nvSpPr>
        <p:spPr>
          <a:xfrm>
            <a:off x="965470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64236"/>
          </a:xfrm>
          <a:prstGeom prst="rect">
            <a:avLst/>
          </a:prstGeom>
          <a:solidFill>
            <a:srgbClr val="EDF4FA"/>
          </a:solidFill>
          <a:ln/>
        </p:spPr>
      </p:sp>
      <p:sp>
        <p:nvSpPr>
          <p:cNvPr id="147" name="Text 14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19 of 33 stores at or above the 40.7% group, led by Lexus at 49.0%. Audi Henderson is lowest at 33.6%.</a:t>
            </a:r>
            <a:endParaRPr lang="en-US" sz="1550" dirty="0"/>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313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785616" y="2391651"/>
            <a:ext cx="483678"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2071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1752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39596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785616" y="3351233"/>
            <a:ext cx="37178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5362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31311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28771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3" name="Shape 51"/>
          <p:cNvSpPr/>
          <p:nvPr/>
        </p:nvSpPr>
        <p:spPr>
          <a:xfrm>
            <a:off x="3785616" y="4310815"/>
            <a:ext cx="2425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7" name="Shape 55"/>
          <p:cNvSpPr/>
          <p:nvPr/>
        </p:nvSpPr>
        <p:spPr>
          <a:xfrm>
            <a:off x="3785616" y="4550711"/>
            <a:ext cx="22773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21497"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16540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5729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785616" y="5510293"/>
            <a:ext cx="13199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122499"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12133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05056"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973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666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7" name="Shape 95"/>
          <p:cNvSpPr/>
          <p:nvPr/>
        </p:nvSpPr>
        <p:spPr>
          <a:xfrm>
            <a:off x="9336024" y="2871442"/>
            <a:ext cx="7544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336024" y="3111337"/>
            <a:ext cx="64416"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5" name="Shape 103"/>
          <p:cNvSpPr/>
          <p:nvPr/>
        </p:nvSpPr>
        <p:spPr>
          <a:xfrm>
            <a:off x="9336024" y="3351233"/>
            <a:ext cx="63134"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9336024" y="3591128"/>
            <a:ext cx="32600"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9336024" y="3831024"/>
            <a:ext cx="28643"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36024" y="4070920"/>
            <a:ext cx="2718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1" name="Shape 119"/>
          <p:cNvSpPr/>
          <p:nvPr/>
        </p:nvSpPr>
        <p:spPr>
          <a:xfrm>
            <a:off x="9336024" y="4310815"/>
            <a:ext cx="12802"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5" name="Shape 123"/>
          <p:cNvSpPr/>
          <p:nvPr/>
        </p:nvSpPr>
        <p:spPr>
          <a:xfrm>
            <a:off x="9327684" y="4550711"/>
            <a:ext cx="128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9" name="Shape 127"/>
          <p:cNvSpPr/>
          <p:nvPr/>
        </p:nvSpPr>
        <p:spPr>
          <a:xfrm>
            <a:off x="9276212" y="4790606"/>
            <a:ext cx="59812"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272059" y="5030502"/>
            <a:ext cx="6396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9223329" y="5270397"/>
            <a:ext cx="11269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9065477" y="5510293"/>
            <a:ext cx="27054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 of 33 stores improved parts margin, led by Acura at +6.1 pts to 44.9%. 5 declined; Audi Henderson fell most at −2.1 pts.</a:t>
            </a:r>
            <a:endParaRPr lang="en-US" sz="1600" dirty="0"/>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42.7%</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37.0%</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44.6%</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33.6%</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44.5%</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−0.9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39.4%</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36.9%</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42.1%</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46.6%</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43.8%</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39.2%</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44.0%</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41.7%</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Nissan and Subaru Prescott what changed. Ask Audi Henderson, Toyota Spokane and Hyundai Prescott what got in the way. Ask Acura, VW St George and GMC Prescott what they started this year.</a:t>
            </a:r>
            <a:endParaRPr lang="en-US" sz="1600" dirty="0"/>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Road To The Sale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advisor, every customer: timely meet and greet at the vehicle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Walk-around with the customer: hood, tires and wipers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Review history and previously declined items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Time and mileage recommendations from an accurate, available menu</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MPI mandate: every car, every time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Consistency is key: trained, documented and actively managed</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Up in all four</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 balance, brake fluid and fuel service each rose 1.2-1.4 pts and beat 2025 every month.</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Balances short of the 15% benchmark. The group is at 8.3%.</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4,821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Alignments short of 15%; the group is at 13.2%. Brake fluid is 0.7 pts from its 10%.</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every car gets the walk-around and the menu. The benchmarks are where that process lands.</a:t>
            </a:r>
            <a:endParaRPr lang="en-US" sz="1600" dirty="0"/>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MPI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MPI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90.0%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81.3%</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 name="Shape 16"/>
          <p:cNvSpPr/>
          <p:nvPr/>
        </p:nvSpPr>
        <p:spPr>
          <a:xfrm>
            <a:off x="3008376" y="2401107"/>
            <a:ext cx="868680"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3" name="Shape 21"/>
          <p:cNvSpPr/>
          <p:nvPr/>
        </p:nvSpPr>
        <p:spPr>
          <a:xfrm>
            <a:off x="3008376" y="2624866"/>
            <a:ext cx="861660"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8" name="Shape 26"/>
          <p:cNvSpPr/>
          <p:nvPr/>
        </p:nvSpPr>
        <p:spPr>
          <a:xfrm>
            <a:off x="3008376" y="2848625"/>
            <a:ext cx="859905"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3" name="Shape 31"/>
          <p:cNvSpPr/>
          <p:nvPr/>
        </p:nvSpPr>
        <p:spPr>
          <a:xfrm>
            <a:off x="3008376" y="3072384"/>
            <a:ext cx="851131"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296143"/>
            <a:ext cx="851131"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843234"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96.1%</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8" name="Shape 46"/>
          <p:cNvSpPr/>
          <p:nvPr/>
        </p:nvSpPr>
        <p:spPr>
          <a:xfrm>
            <a:off x="3008376" y="3743661"/>
            <a:ext cx="830949"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94.7%</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3967420"/>
            <a:ext cx="822175"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8" name="Shape 56"/>
          <p:cNvSpPr/>
          <p:nvPr/>
        </p:nvSpPr>
        <p:spPr>
          <a:xfrm>
            <a:off x="3008376" y="4191179"/>
            <a:ext cx="817788"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93.2%</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3" name="Shape 61"/>
          <p:cNvSpPr/>
          <p:nvPr/>
        </p:nvSpPr>
        <p:spPr>
          <a:xfrm>
            <a:off x="3008376" y="4414938"/>
            <a:ext cx="805503"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91.8%</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8" name="Shape 66"/>
          <p:cNvSpPr/>
          <p:nvPr/>
        </p:nvSpPr>
        <p:spPr>
          <a:xfrm>
            <a:off x="3008376" y="4638697"/>
            <a:ext cx="80462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91.7%</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4862456"/>
            <a:ext cx="780935" cy="111880"/>
          </a:xfrm>
          <a:prstGeom prst="rect">
            <a:avLst/>
          </a:prstGeom>
          <a:solidFill>
            <a:srgbClr val="C2352F"/>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89.0%</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8" name="Shape 76"/>
          <p:cNvSpPr/>
          <p:nvPr/>
        </p:nvSpPr>
        <p:spPr>
          <a:xfrm>
            <a:off x="3008376" y="5086216"/>
            <a:ext cx="768650" cy="111880"/>
          </a:xfrm>
          <a:prstGeom prst="rect">
            <a:avLst/>
          </a:prstGeom>
          <a:solidFill>
            <a:srgbClr val="C2352F"/>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87.6%</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3" name="Shape 81"/>
          <p:cNvSpPr/>
          <p:nvPr/>
        </p:nvSpPr>
        <p:spPr>
          <a:xfrm>
            <a:off x="3008376" y="5309975"/>
            <a:ext cx="757243" cy="111880"/>
          </a:xfrm>
          <a:prstGeom prst="rect">
            <a:avLst/>
          </a:prstGeom>
          <a:solidFill>
            <a:srgbClr val="C2352F"/>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86.3%</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8" name="Shape 86"/>
          <p:cNvSpPr/>
          <p:nvPr/>
        </p:nvSpPr>
        <p:spPr>
          <a:xfrm>
            <a:off x="3008376" y="5533734"/>
            <a:ext cx="741449" cy="111880"/>
          </a:xfrm>
          <a:prstGeom prst="rect">
            <a:avLst/>
          </a:prstGeom>
          <a:solidFill>
            <a:srgbClr val="C2352F"/>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84.5%</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3008376" y="5757493"/>
            <a:ext cx="731797" cy="111880"/>
          </a:xfrm>
          <a:prstGeom prst="rect">
            <a:avLst/>
          </a:prstGeom>
          <a:solidFill>
            <a:srgbClr val="C2352F"/>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83.4%</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8" name="Shape 96"/>
          <p:cNvSpPr/>
          <p:nvPr/>
        </p:nvSpPr>
        <p:spPr>
          <a:xfrm>
            <a:off x="8558784" y="2177348"/>
            <a:ext cx="723900"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82.5%</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3" name="Shape 101"/>
          <p:cNvSpPr/>
          <p:nvPr/>
        </p:nvSpPr>
        <p:spPr>
          <a:xfrm>
            <a:off x="8558784" y="2401107"/>
            <a:ext cx="716880"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81.7%</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8" name="Shape 106"/>
          <p:cNvSpPr/>
          <p:nvPr/>
        </p:nvSpPr>
        <p:spPr>
          <a:xfrm>
            <a:off x="8558784" y="2624866"/>
            <a:ext cx="715125"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3" name="Shape 111"/>
          <p:cNvSpPr/>
          <p:nvPr/>
        </p:nvSpPr>
        <p:spPr>
          <a:xfrm>
            <a:off x="8558784" y="2848625"/>
            <a:ext cx="714248"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8" name="Shape 116"/>
          <p:cNvSpPr/>
          <p:nvPr/>
        </p:nvSpPr>
        <p:spPr>
          <a:xfrm>
            <a:off x="8558784" y="3072384"/>
            <a:ext cx="713371"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81.3%</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3" name="Shape 121"/>
          <p:cNvSpPr/>
          <p:nvPr/>
        </p:nvSpPr>
        <p:spPr>
          <a:xfrm>
            <a:off x="8558784" y="3296143"/>
            <a:ext cx="693189"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79.0%</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8" name="Shape 126"/>
          <p:cNvSpPr/>
          <p:nvPr/>
        </p:nvSpPr>
        <p:spPr>
          <a:xfrm>
            <a:off x="8558784" y="3519902"/>
            <a:ext cx="667743"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76.1%</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3" name="Shape 131"/>
          <p:cNvSpPr/>
          <p:nvPr/>
        </p:nvSpPr>
        <p:spPr>
          <a:xfrm>
            <a:off x="8558784" y="3743661"/>
            <a:ext cx="64054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73.0%</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8" name="Shape 136"/>
          <p:cNvSpPr/>
          <p:nvPr/>
        </p:nvSpPr>
        <p:spPr>
          <a:xfrm>
            <a:off x="8558784" y="3967420"/>
            <a:ext cx="624748"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3" name="Shape 141"/>
          <p:cNvSpPr/>
          <p:nvPr/>
        </p:nvSpPr>
        <p:spPr>
          <a:xfrm>
            <a:off x="8558784" y="4191179"/>
            <a:ext cx="62387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71.1%</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8" name="Shape 146"/>
          <p:cNvSpPr/>
          <p:nvPr/>
        </p:nvSpPr>
        <p:spPr>
          <a:xfrm>
            <a:off x="8558784" y="4414938"/>
            <a:ext cx="601056"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8558784" y="4638697"/>
            <a:ext cx="550164"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8" name="Shape 156"/>
          <p:cNvSpPr/>
          <p:nvPr/>
        </p:nvSpPr>
        <p:spPr>
          <a:xfrm>
            <a:off x="8558784" y="4862456"/>
            <a:ext cx="534370"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60.9%</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3" name="Shape 161"/>
          <p:cNvSpPr/>
          <p:nvPr/>
        </p:nvSpPr>
        <p:spPr>
          <a:xfrm>
            <a:off x="8558784" y="5086216"/>
            <a:ext cx="435217"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68" name="Shape 166"/>
          <p:cNvSpPr/>
          <p:nvPr/>
        </p:nvSpPr>
        <p:spPr>
          <a:xfrm>
            <a:off x="8558784" y="5309975"/>
            <a:ext cx="400997"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45.7%</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3" name="Shape 171"/>
          <p:cNvSpPr/>
          <p:nvPr/>
        </p:nvSpPr>
        <p:spPr>
          <a:xfrm>
            <a:off x="8558784" y="5533734"/>
            <a:ext cx="355369"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40.5%</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790770" y="2121408"/>
            <a:ext cx="14630" cy="3803904"/>
          </a:xfrm>
          <a:prstGeom prst="rect">
            <a:avLst/>
          </a:prstGeom>
          <a:solidFill>
            <a:srgbClr val="0B2C4A"/>
          </a:solidFill>
          <a:ln/>
        </p:spPr>
      </p:sp>
      <p:sp>
        <p:nvSpPr>
          <p:cNvPr id="181" name="Shape 179"/>
          <p:cNvSpPr/>
          <p:nvPr/>
        </p:nvSpPr>
        <p:spPr>
          <a:xfrm>
            <a:off x="9341178"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DF4FA"/>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90.0% benchmark; the group is at 81.3%. LR Reno and VW Henderson lead at 99.0%; Cadillac is lowest at 40.5%.</a:t>
            </a:r>
            <a:endParaRPr lang="en-US" sz="1600" dirty="0"/>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Video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VIDEO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57.8%</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8" name="Shape 16"/>
          <p:cNvSpPr/>
          <p:nvPr/>
        </p:nvSpPr>
        <p:spPr>
          <a:xfrm>
            <a:off x="3008376" y="2401107"/>
            <a:ext cx="832485"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3" name="Shape 21"/>
          <p:cNvSpPr/>
          <p:nvPr/>
        </p:nvSpPr>
        <p:spPr>
          <a:xfrm>
            <a:off x="3008376" y="2624866"/>
            <a:ext cx="825246"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008376" y="2848625"/>
            <a:ext cx="805339"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072384"/>
            <a:ext cx="805339"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8" name="Shape 36"/>
          <p:cNvSpPr/>
          <p:nvPr/>
        </p:nvSpPr>
        <p:spPr>
          <a:xfrm>
            <a:off x="3008376" y="3296143"/>
            <a:ext cx="805339"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786336"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86.9%</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8" name="Shape 46"/>
          <p:cNvSpPr/>
          <p:nvPr/>
        </p:nvSpPr>
        <p:spPr>
          <a:xfrm>
            <a:off x="3008376" y="3743661"/>
            <a:ext cx="773668"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85.5%</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3967420"/>
            <a:ext cx="740188"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191179"/>
            <a:ext cx="735663"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81.3%</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3" name="Shape 61"/>
          <p:cNvSpPr/>
          <p:nvPr/>
        </p:nvSpPr>
        <p:spPr>
          <a:xfrm>
            <a:off x="3008376" y="4414938"/>
            <a:ext cx="718471"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79.4%</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8" name="Shape 66"/>
          <p:cNvSpPr/>
          <p:nvPr/>
        </p:nvSpPr>
        <p:spPr>
          <a:xfrm>
            <a:off x="3008376" y="4638697"/>
            <a:ext cx="71394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3" name="Shape 71"/>
          <p:cNvSpPr/>
          <p:nvPr/>
        </p:nvSpPr>
        <p:spPr>
          <a:xfrm>
            <a:off x="3008376" y="4862456"/>
            <a:ext cx="702183" cy="111880"/>
          </a:xfrm>
          <a:prstGeom prst="rect">
            <a:avLst/>
          </a:prstGeom>
          <a:solidFill>
            <a:srgbClr val="12A566"/>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77.6%</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086216"/>
            <a:ext cx="668703" cy="111880"/>
          </a:xfrm>
          <a:prstGeom prst="rect">
            <a:avLst/>
          </a:prstGeom>
          <a:solidFill>
            <a:srgbClr val="12A566"/>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73.9%</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3" name="Shape 81"/>
          <p:cNvSpPr/>
          <p:nvPr/>
        </p:nvSpPr>
        <p:spPr>
          <a:xfrm>
            <a:off x="3008376" y="5309975"/>
            <a:ext cx="637937" cy="111880"/>
          </a:xfrm>
          <a:prstGeom prst="rect">
            <a:avLst/>
          </a:prstGeom>
          <a:solidFill>
            <a:srgbClr val="12A566"/>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70.5%</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8" name="Shape 86"/>
          <p:cNvSpPr/>
          <p:nvPr/>
        </p:nvSpPr>
        <p:spPr>
          <a:xfrm>
            <a:off x="3008376" y="5533734"/>
            <a:ext cx="606266" cy="111880"/>
          </a:xfrm>
          <a:prstGeom prst="rect">
            <a:avLst/>
          </a:prstGeom>
          <a:solidFill>
            <a:srgbClr val="12A566"/>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67.0%</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3008376" y="5757493"/>
            <a:ext cx="602647" cy="111880"/>
          </a:xfrm>
          <a:prstGeom prst="rect">
            <a:avLst/>
          </a:prstGeom>
          <a:solidFill>
            <a:srgbClr val="12A566"/>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66.6%</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8" name="Shape 96"/>
          <p:cNvSpPr/>
          <p:nvPr/>
        </p:nvSpPr>
        <p:spPr>
          <a:xfrm>
            <a:off x="8558784" y="2177348"/>
            <a:ext cx="490442"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54.2%</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3" name="Shape 101"/>
          <p:cNvSpPr/>
          <p:nvPr/>
        </p:nvSpPr>
        <p:spPr>
          <a:xfrm>
            <a:off x="8558784" y="2401107"/>
            <a:ext cx="480489"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53.1%</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8" name="Shape 106"/>
          <p:cNvSpPr/>
          <p:nvPr/>
        </p:nvSpPr>
        <p:spPr>
          <a:xfrm>
            <a:off x="8558784" y="2624866"/>
            <a:ext cx="475059"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58784" y="2848625"/>
            <a:ext cx="452437"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50.0%</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8" name="Shape 116"/>
          <p:cNvSpPr/>
          <p:nvPr/>
        </p:nvSpPr>
        <p:spPr>
          <a:xfrm>
            <a:off x="8558784" y="3072384"/>
            <a:ext cx="448818"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3" name="Shape 121"/>
          <p:cNvSpPr/>
          <p:nvPr/>
        </p:nvSpPr>
        <p:spPr>
          <a:xfrm>
            <a:off x="8558784" y="3296143"/>
            <a:ext cx="438864"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48.5%</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8" name="Shape 126"/>
          <p:cNvSpPr/>
          <p:nvPr/>
        </p:nvSpPr>
        <p:spPr>
          <a:xfrm>
            <a:off x="8558784" y="3519902"/>
            <a:ext cx="386382"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3743661"/>
            <a:ext cx="38638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8" name="Shape 136"/>
          <p:cNvSpPr/>
          <p:nvPr/>
        </p:nvSpPr>
        <p:spPr>
          <a:xfrm>
            <a:off x="8558784" y="3967420"/>
            <a:ext cx="379143"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41.9%</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3" name="Shape 141"/>
          <p:cNvSpPr/>
          <p:nvPr/>
        </p:nvSpPr>
        <p:spPr>
          <a:xfrm>
            <a:off x="8558784" y="4191179"/>
            <a:ext cx="36376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4414938"/>
            <a:ext cx="317611"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638697"/>
            <a:ext cx="286845"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8" name="Shape 156"/>
          <p:cNvSpPr/>
          <p:nvPr/>
        </p:nvSpPr>
        <p:spPr>
          <a:xfrm>
            <a:off x="8558784" y="4862456"/>
            <a:ext cx="285036"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31.5%</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63" name="Shape 161"/>
          <p:cNvSpPr/>
          <p:nvPr/>
        </p:nvSpPr>
        <p:spPr>
          <a:xfrm>
            <a:off x="8558784" y="5086216"/>
            <a:ext cx="197263"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8" name="Shape 166"/>
          <p:cNvSpPr/>
          <p:nvPr/>
        </p:nvSpPr>
        <p:spPr>
          <a:xfrm>
            <a:off x="8558784" y="5309975"/>
            <a:ext cx="144780"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3" name="Shape 171"/>
          <p:cNvSpPr/>
          <p:nvPr/>
        </p:nvSpPr>
        <p:spPr>
          <a:xfrm>
            <a:off x="8558784" y="5533734"/>
            <a:ext cx="47053"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524446" y="2121408"/>
            <a:ext cx="14630" cy="3803904"/>
          </a:xfrm>
          <a:prstGeom prst="rect">
            <a:avLst/>
          </a:prstGeom>
          <a:solidFill>
            <a:srgbClr val="0B2C4A"/>
          </a:solidFill>
          <a:ln/>
        </p:spPr>
      </p:sp>
      <p:sp>
        <p:nvSpPr>
          <p:cNvPr id="181" name="Shape 179"/>
          <p:cNvSpPr/>
          <p:nvPr/>
        </p:nvSpPr>
        <p:spPr>
          <a:xfrm>
            <a:off x="9074854"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356616"/>
          </a:xfrm>
          <a:prstGeom prst="rect">
            <a:avLst/>
          </a:prstGeom>
          <a:solidFill>
            <a:srgbClr val="EDF4FA"/>
          </a:solidFill>
          <a:ln/>
        </p:spPr>
      </p:sp>
      <p:sp>
        <p:nvSpPr>
          <p:cNvPr id="184" name="Text 18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17 of 33 stores at or above the 57.8% group. VW Henderson leads at 96.0%; Kia St George is lowest at 5.2%.</a:t>
            </a:r>
            <a:endParaRPr lang="en-US" sz="1500" dirty="0"/>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an Op Code Closing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Closing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ROs with the service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all CP ROs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often a customer-pay visit includes the service.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BENCHMARKS</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balance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Brake fluid  </a:t>
            </a:r>
            <a:pPr algn="ctr" indent="0" marL="0">
              <a:buNone/>
            </a:pPr>
            <a:r>
              <a:rPr lang="en-US" sz="1400" b="1" dirty="0">
                <a:solidFill>
                  <a:srgbClr val="0B2C4A"/>
                </a:solidFill>
                <a:latin typeface="Inter" pitchFamily="34" charset="0"/>
                <a:ea typeface="Inter" pitchFamily="34" charset="-122"/>
                <a:cs typeface="Inter" pitchFamily="34" charset="-120"/>
              </a:rPr>
              <a:t>10%</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Fuel service  </a:t>
            </a:r>
            <a:pPr algn="ctr" indent="0" marL="0">
              <a:buNone/>
            </a:pPr>
            <a:r>
              <a:rPr lang="en-US" sz="1400" b="1" dirty="0">
                <a:solidFill>
                  <a:srgbClr val="0B2C4A"/>
                </a:solidFill>
                <a:latin typeface="Inter" pitchFamily="34" charset="0"/>
                <a:ea typeface="Inter" pitchFamily="34" charset="-122"/>
                <a:cs typeface="Inter" pitchFamily="34" charset="-120"/>
              </a:rPr>
              <a:t>7.5%</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These are the services every car eventually needs.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rate shows whether the inspection and the menu are happening on every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Each point is worth thousands of jobs across the group.</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Find the need and show the customer</a:t>
            </a:r>
            <a:endParaRPr lang="en-US" sz="1400" dirty="0"/>
          </a:p>
        </p:txBody>
      </p:sp>
      <p:sp>
        <p:nvSpPr>
          <p:cNvPr id="24" name="Shape 22"/>
          <p:cNvSpPr/>
          <p:nvPr/>
        </p:nvSpPr>
        <p:spPr>
          <a:xfrm>
            <a:off x="8394192" y="3410712"/>
            <a:ext cx="45720" cy="1133856"/>
          </a:xfrm>
          <a:prstGeom prst="rect">
            <a:avLst/>
          </a:prstGeom>
          <a:solidFill>
            <a:srgbClr val="2587C5"/>
          </a:solidFill>
          <a:ln/>
        </p:spPr>
      </p:sp>
      <p:sp>
        <p:nvSpPr>
          <p:cNvPr id="25" name="Text 23"/>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at write-up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Advisor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it, price it, ask for it</a:t>
            </a:r>
            <a:endParaRPr lang="en-US" sz="1400" dirty="0"/>
          </a:p>
        </p:txBody>
      </p:sp>
      <p:sp>
        <p:nvSpPr>
          <p:cNvPr id="28" name="Shape 26"/>
          <p:cNvSpPr/>
          <p:nvPr/>
        </p:nvSpPr>
        <p:spPr>
          <a:xfrm>
            <a:off x="8394192" y="4654296"/>
            <a:ext cx="45720" cy="1133856"/>
          </a:xfrm>
          <a:prstGeom prst="rect">
            <a:avLst/>
          </a:prstGeom>
          <a:solidFill>
            <a:srgbClr val="2587C5"/>
          </a:solidFill>
          <a:ln/>
        </p:spPr>
      </p:sp>
      <p:sp>
        <p:nvSpPr>
          <p:cNvPr id="29" name="Text 27"/>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Daily Viz Op Code report; feedback before the 15th</a:t>
            </a:r>
            <a:endParaRPr lang="en-US" sz="1400" dirty="0"/>
          </a:p>
        </p:txBody>
      </p:sp>
      <p:sp>
        <p:nvSpPr>
          <p:cNvPr id="30" name="Shape 28"/>
          <p:cNvSpPr/>
          <p:nvPr/>
        </p:nvSpPr>
        <p:spPr>
          <a:xfrm>
            <a:off x="457200" y="6126480"/>
            <a:ext cx="11274552" cy="348996"/>
          </a:xfrm>
          <a:prstGeom prst="rect">
            <a:avLst/>
          </a:prstGeom>
          <a:solidFill>
            <a:srgbClr val="EDF4FA"/>
          </a:solidFill>
          <a:ln/>
        </p:spPr>
      </p:sp>
      <p:sp>
        <p:nvSpPr>
          <p:cNvPr id="31" name="Text 29"/>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All four rose 1.2-1.4 pts and beat 2025 every month. Balance is furthest off, at 8.3%: 18,493 short of 15%.</a:t>
            </a:r>
            <a:endParaRPr lang="en-US" sz="1450" dirty="0"/>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Alignment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13.2%, ahead of 2025 in all nine months, but 1.7 pts under the 15% benchmark — 4,821 alignments short.</a:t>
            </a:r>
            <a:endParaRPr lang="en-US" sz="1600" dirty="0"/>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ALIGNMENT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 name="Shape 15"/>
          <p:cNvSpPr/>
          <p:nvPr/>
        </p:nvSpPr>
        <p:spPr>
          <a:xfrm>
            <a:off x="3008376" y="2146957"/>
            <a:ext cx="15022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1" name="Shape 19"/>
          <p:cNvSpPr/>
          <p:nvPr/>
        </p:nvSpPr>
        <p:spPr>
          <a:xfrm>
            <a:off x="3008376" y="2386853"/>
            <a:ext cx="133945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3008376" y="2626748"/>
            <a:ext cx="131002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076659"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3" name="Shape 31"/>
          <p:cNvSpPr/>
          <p:nvPr/>
        </p:nvSpPr>
        <p:spPr>
          <a:xfrm>
            <a:off x="3008376" y="3106540"/>
            <a:ext cx="10690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02644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008376" y="3586331"/>
            <a:ext cx="99506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008376" y="3826226"/>
            <a:ext cx="91220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9" name="Shape 47"/>
          <p:cNvSpPr/>
          <p:nvPr/>
        </p:nvSpPr>
        <p:spPr>
          <a:xfrm>
            <a:off x="3008376" y="4066122"/>
            <a:ext cx="895065"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893702"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853471"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85282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83630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9" name="Shape 67"/>
          <p:cNvSpPr/>
          <p:nvPr/>
        </p:nvSpPr>
        <p:spPr>
          <a:xfrm>
            <a:off x="3008376" y="5265599"/>
            <a:ext cx="79160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3" name="Shape 71"/>
          <p:cNvSpPr/>
          <p:nvPr/>
        </p:nvSpPr>
        <p:spPr>
          <a:xfrm>
            <a:off x="3008376" y="5505495"/>
            <a:ext cx="79071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77302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58784" y="1907062"/>
            <a:ext cx="770247"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8558784" y="2146957"/>
            <a:ext cx="75867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58784" y="2386853"/>
            <a:ext cx="72614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72211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698534"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6849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68179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9" name="Shape 107"/>
          <p:cNvSpPr/>
          <p:nvPr/>
        </p:nvSpPr>
        <p:spPr>
          <a:xfrm>
            <a:off x="8558784" y="3586331"/>
            <a:ext cx="680768"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60009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7" name="Shape 115"/>
          <p:cNvSpPr/>
          <p:nvPr/>
        </p:nvSpPr>
        <p:spPr>
          <a:xfrm>
            <a:off x="8558784" y="4066122"/>
            <a:ext cx="59759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58784" y="4306017"/>
            <a:ext cx="51885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58784" y="4545913"/>
            <a:ext cx="491810"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9" name="Shape 127"/>
          <p:cNvSpPr/>
          <p:nvPr/>
        </p:nvSpPr>
        <p:spPr>
          <a:xfrm>
            <a:off x="8558784" y="4785808"/>
            <a:ext cx="45927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34594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8558784" y="5265599"/>
            <a:ext cx="26142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59273"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43" name="Shape 141"/>
          <p:cNvSpPr/>
          <p:nvPr/>
        </p:nvSpPr>
        <p:spPr>
          <a:xfrm>
            <a:off x="3923086" y="1847088"/>
            <a:ext cx="14630" cy="4078224"/>
          </a:xfrm>
          <a:prstGeom prst="rect">
            <a:avLst/>
          </a:prstGeom>
          <a:solidFill>
            <a:srgbClr val="0B2C4A"/>
          </a:solidFill>
          <a:ln/>
        </p:spPr>
      </p:sp>
      <p:sp>
        <p:nvSpPr>
          <p:cNvPr id="144" name="Shape 142"/>
          <p:cNvSpPr/>
          <p:nvPr/>
        </p:nvSpPr>
        <p:spPr>
          <a:xfrm>
            <a:off x="9473494"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8 of 33 stores at or above 15%, led by Audi Henderson at 27.5%. The group sits at 13.2%.</a:t>
            </a:r>
            <a:endParaRPr lang="en-US" sz="1600" dirty="0"/>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21.7%</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17.3%</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+5.9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12.8%</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−4.9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9.7%</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31.7%</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22.8%</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+10.2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25.7%</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+7.4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St George, Hyundai Prescott and GMC Prescott what changed. Ask LR Reno, Kia LV and Subaru LV what got in the way. Ask Audi Henderson, Mazda and Kia St George what they started this year.</a:t>
            </a:r>
            <a:endParaRPr lang="en-US" sz="1600" dirty="0"/>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8.3%</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+20.0%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Balance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8.3%, ahead of 2025 in all nine months, but 6.6 pts under the 15% benchmark — 18,493 balances short.</a:t>
            </a:r>
            <a:endParaRPr lang="en-US" sz="1600" dirty="0"/>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BALANCE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15347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0643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5" name="Shape 23"/>
          <p:cNvSpPr/>
          <p:nvPr/>
        </p:nvSpPr>
        <p:spPr>
          <a:xfrm>
            <a:off x="3008376" y="2626748"/>
            <a:ext cx="10624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008376" y="2866644"/>
            <a:ext cx="938723" cy="119948"/>
          </a:xfrm>
          <a:prstGeom prst="rect">
            <a:avLst/>
          </a:prstGeom>
          <a:solidFill>
            <a:srgbClr val="C2352F"/>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3" name="Shape 31"/>
          <p:cNvSpPr/>
          <p:nvPr/>
        </p:nvSpPr>
        <p:spPr>
          <a:xfrm>
            <a:off x="3008376" y="3106540"/>
            <a:ext cx="883929" cy="119948"/>
          </a:xfrm>
          <a:prstGeom prst="rect">
            <a:avLst/>
          </a:prstGeom>
          <a:solidFill>
            <a:srgbClr val="C2352F"/>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7" name="Shape 35"/>
          <p:cNvSpPr/>
          <p:nvPr/>
        </p:nvSpPr>
        <p:spPr>
          <a:xfrm>
            <a:off x="3008376" y="3346435"/>
            <a:ext cx="847705" cy="119948"/>
          </a:xfrm>
          <a:prstGeom prst="rect">
            <a:avLst/>
          </a:prstGeom>
          <a:solidFill>
            <a:srgbClr val="C2352F"/>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008376" y="3586331"/>
            <a:ext cx="826302"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752231"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008376" y="4066122"/>
            <a:ext cx="734701"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03205"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7" name="Shape 55"/>
          <p:cNvSpPr/>
          <p:nvPr/>
        </p:nvSpPr>
        <p:spPr>
          <a:xfrm>
            <a:off x="3008376" y="4545913"/>
            <a:ext cx="640057"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008376" y="4785808"/>
            <a:ext cx="569932"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51989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008376" y="5265599"/>
            <a:ext cx="485901"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48359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008376" y="5745390"/>
            <a:ext cx="457948"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38588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37393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8558784" y="2386853"/>
            <a:ext cx="328119"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30947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2312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1" name="Shape 99"/>
          <p:cNvSpPr/>
          <p:nvPr/>
        </p:nvSpPr>
        <p:spPr>
          <a:xfrm>
            <a:off x="8558784" y="3106540"/>
            <a:ext cx="13679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58784" y="3346435"/>
            <a:ext cx="10480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82384"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8558784" y="3826226"/>
            <a:ext cx="79502"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58784" y="4066122"/>
            <a:ext cx="76690"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8558784" y="4306017"/>
            <a:ext cx="66479"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310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2611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40705" y="1847088"/>
            <a:ext cx="14630" cy="4078224"/>
          </a:xfrm>
          <a:prstGeom prst="rect">
            <a:avLst/>
          </a:prstGeom>
          <a:solidFill>
            <a:srgbClr val="0B2C4A"/>
          </a:solidFill>
          <a:ln/>
        </p:spPr>
      </p:sp>
      <p:sp>
        <p:nvSpPr>
          <p:cNvPr id="144" name="Shape 142"/>
          <p:cNvSpPr/>
          <p:nvPr/>
        </p:nvSpPr>
        <p:spPr>
          <a:xfrm>
            <a:off x="949111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4 of 33 stores at or above 15%, led by LR Henderson at 27.0%. The group sits at 8.3%.</a:t>
            </a:r>
            <a:endParaRPr lang="en-US" sz="1600" dirty="0"/>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+14.9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+13.6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−1.6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10.2%</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11.2%</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12.2%</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Subaru Prescott, LR LV and Mazda what changed. Ask Subaru St George, Nissan and Kia LV what got in the way. Ask Mazda, Hyundai Prescott and Honda Spokane what they started this year.</a:t>
            </a:r>
            <a:endParaRPr lang="en-US" sz="1600" dirty="0"/>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9.2%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Brake Fluid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9.2%, ahead of 2025 in all nine months, but 0.7 pts under the 10% benchmark — 1,985 brake fluid services short.</a:t>
            </a:r>
            <a:endParaRPr lang="en-US" sz="1600" dirty="0"/>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BRAKE FLUID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27737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17165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0420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99122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97513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008376" y="3346435"/>
            <a:ext cx="95384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8806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5" name="Shape 43"/>
          <p:cNvSpPr/>
          <p:nvPr/>
        </p:nvSpPr>
        <p:spPr>
          <a:xfrm>
            <a:off x="3008376" y="3826226"/>
            <a:ext cx="8696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846628"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3" name="Shape 51"/>
          <p:cNvSpPr/>
          <p:nvPr/>
        </p:nvSpPr>
        <p:spPr>
          <a:xfrm>
            <a:off x="3008376" y="4306017"/>
            <a:ext cx="83060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824603"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08376" y="4785808"/>
            <a:ext cx="79058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78010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69540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5505495"/>
            <a:ext cx="68856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008376" y="5745390"/>
            <a:ext cx="68692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1" name="Shape 79"/>
          <p:cNvSpPr/>
          <p:nvPr/>
        </p:nvSpPr>
        <p:spPr>
          <a:xfrm>
            <a:off x="8558784" y="1907062"/>
            <a:ext cx="67780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58784" y="2146957"/>
            <a:ext cx="66108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58784" y="2386853"/>
            <a:ext cx="616668"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3" name="Shape 91"/>
          <p:cNvSpPr/>
          <p:nvPr/>
        </p:nvSpPr>
        <p:spPr>
          <a:xfrm>
            <a:off x="8558784" y="2626748"/>
            <a:ext cx="59372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8558784" y="2866644"/>
            <a:ext cx="58034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1" name="Shape 99"/>
          <p:cNvSpPr/>
          <p:nvPr/>
        </p:nvSpPr>
        <p:spPr>
          <a:xfrm>
            <a:off x="8558784" y="3106540"/>
            <a:ext cx="57746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49826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487865"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8558784" y="3826226"/>
            <a:ext cx="47501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8558784" y="4066122"/>
            <a:ext cx="443916"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58784" y="4306017"/>
            <a:ext cx="3888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558784" y="4545913"/>
            <a:ext cx="38319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347029"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2601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20158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158552"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a:t>
            </a:r>
            <a:endParaRPr lang="en-US" sz="1200" dirty="0"/>
          </a:p>
        </p:txBody>
      </p:sp>
      <p:sp>
        <p:nvSpPr>
          <p:cNvPr id="143" name="Shape 141"/>
          <p:cNvSpPr/>
          <p:nvPr/>
        </p:nvSpPr>
        <p:spPr>
          <a:xfrm>
            <a:off x="3820171" y="1847088"/>
            <a:ext cx="14630" cy="4078224"/>
          </a:xfrm>
          <a:prstGeom prst="rect">
            <a:avLst/>
          </a:prstGeom>
          <a:solidFill>
            <a:srgbClr val="0B2C4A"/>
          </a:solidFill>
          <a:ln/>
        </p:spPr>
      </p:sp>
      <p:sp>
        <p:nvSpPr>
          <p:cNvPr id="144" name="Shape 142"/>
          <p:cNvSpPr/>
          <p:nvPr/>
        </p:nvSpPr>
        <p:spPr>
          <a:xfrm>
            <a:off x="9370579"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10%, led by LR LV at 20.6%. The group sits at 9.2%.</a:t>
            </a:r>
            <a:endParaRPr lang="en-US" sz="1600" dirty="0"/>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+7.9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20.6%</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+5.1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10.7%</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−0.3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11.9%</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14.1%</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+9.0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5.3%</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Nissan, LR LV and LR Henderson what changed. Ask CDJR Post Falls, Honda North and Subaru St George what got in the way. Ask Mazda, Audi Reno and Kia St George what they started this year.</a:t>
            </a:r>
            <a:endParaRPr lang="en-US" sz="1600" dirty="0"/>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Fuel Service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5.8%, ahead of 2025 in all nine months, but 1.7 pts under the 7.5% benchmark — 4,731 fuel services short.</a:t>
            </a:r>
            <a:endParaRPr lang="en-US" sz="1600" dirty="0"/>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FUEL SERVICE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47168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008376" y="2386853"/>
            <a:ext cx="11964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14467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092895"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008376" y="3106540"/>
            <a:ext cx="100324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3008376" y="3346435"/>
            <a:ext cx="93677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899446"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86579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008376" y="4066122"/>
            <a:ext cx="789612"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33838"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3008376" y="4545913"/>
            <a:ext cx="71855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1" name="Shape 59"/>
          <p:cNvSpPr/>
          <p:nvPr/>
        </p:nvSpPr>
        <p:spPr>
          <a:xfrm>
            <a:off x="3008376" y="4785808"/>
            <a:ext cx="712146"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008376" y="5025704"/>
            <a:ext cx="67436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641436"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3" name="Shape 71"/>
          <p:cNvSpPr/>
          <p:nvPr/>
        </p:nvSpPr>
        <p:spPr>
          <a:xfrm>
            <a:off x="3008376" y="5505495"/>
            <a:ext cx="636377"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7" name="Shape 75"/>
          <p:cNvSpPr/>
          <p:nvPr/>
        </p:nvSpPr>
        <p:spPr>
          <a:xfrm>
            <a:off x="3008376" y="5745390"/>
            <a:ext cx="62403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8558784" y="1907062"/>
            <a:ext cx="55876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58784" y="2146957"/>
            <a:ext cx="52424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5115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44426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8558784" y="2866644"/>
            <a:ext cx="39395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1" name="Shape 99"/>
          <p:cNvSpPr/>
          <p:nvPr/>
        </p:nvSpPr>
        <p:spPr>
          <a:xfrm>
            <a:off x="8558784" y="3106540"/>
            <a:ext cx="393514"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36705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33496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8558784" y="3826226"/>
            <a:ext cx="33100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8558784" y="4066122"/>
            <a:ext cx="3134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206535"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0839"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58784" y="4785808"/>
            <a:ext cx="879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17219" y="1847088"/>
            <a:ext cx="14630" cy="4078224"/>
          </a:xfrm>
          <a:prstGeom prst="rect">
            <a:avLst/>
          </a:prstGeom>
          <a:solidFill>
            <a:srgbClr val="0B2C4A"/>
          </a:solidFill>
          <a:ln/>
        </p:spPr>
      </p:sp>
      <p:sp>
        <p:nvSpPr>
          <p:cNvPr id="144" name="Shape 142"/>
          <p:cNvSpPr/>
          <p:nvPr/>
        </p:nvSpPr>
        <p:spPr>
          <a:xfrm>
            <a:off x="946762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7 of 33 stores at or above 7.5%, led by Subaru St George at 13.8%. The group sits at 5.8%.</a:t>
            </a:r>
            <a:endParaRPr lang="en-US" sz="1600" dirty="0"/>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6.0%</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0.0%</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−0.0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10.6%</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10.0%</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69" name="Shape 67"/>
          <p:cNvSpPr/>
          <p:nvPr/>
        </p:nvSpPr>
        <p:spPr>
          <a:xfrm>
            <a:off x="457200" y="6126480"/>
            <a:ext cx="11274552" cy="600456"/>
          </a:xfrm>
          <a:prstGeom prst="rect">
            <a:avLst/>
          </a:prstGeom>
          <a:solidFill>
            <a:srgbClr val="EDF4FA"/>
          </a:solidFill>
          <a:ln/>
        </p:spPr>
      </p:sp>
      <p:sp>
        <p:nvSpPr>
          <p:cNvPr id="70" name="Text 68"/>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Ask Subaru St George, Lincoln and LR LV what changed. Ask Subaru LV, CDJR Post Falls and Toyota Spokane what got in the way. Ask Mazda, Hyundai St George and Honda Spokane what they started this year.</a:t>
            </a:r>
            <a:endParaRPr lang="en-US" sz="1550" dirty="0"/>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3" name="Shape 11"/>
          <p:cNvSpPr/>
          <p:nvPr/>
        </p:nvSpPr>
        <p:spPr>
          <a:xfrm>
            <a:off x="2670048" y="1773901"/>
            <a:ext cx="877824" cy="178730"/>
          </a:xfrm>
          <a:prstGeom prst="rect">
            <a:avLst/>
          </a:prstGeom>
          <a:solidFill>
            <a:srgbClr val="C2352F"/>
          </a:solidFill>
          <a:ln/>
        </p:spPr>
      </p:sp>
      <p:sp>
        <p:nvSpPr>
          <p:cNvPr id="14" name="Text 12"/>
          <p:cNvSpPr txBox="1"/>
          <p:nvPr/>
        </p:nvSpPr>
        <p:spPr>
          <a:xfrm>
            <a:off x="3602736" y="170078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$225K</a:t>
            </a:r>
            <a:endParaRPr lang="en-US" sz="1300" dirty="0"/>
          </a:p>
        </p:txBody>
      </p:sp>
      <p:sp>
        <p:nvSpPr>
          <p:cNvPr id="15" name="Text 13"/>
          <p:cNvSpPr txBox="1"/>
          <p:nvPr/>
        </p:nvSpPr>
        <p:spPr>
          <a:xfrm>
            <a:off x="4425696"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6" name="Text 14"/>
          <p:cNvSpPr txBox="1"/>
          <p:nvPr/>
        </p:nvSpPr>
        <p:spPr>
          <a:xfrm>
            <a:off x="4992624"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2,490</a:t>
            </a:r>
            <a:endParaRPr lang="en-US" sz="1300" dirty="0"/>
          </a:p>
        </p:txBody>
      </p:sp>
      <p:sp>
        <p:nvSpPr>
          <p:cNvPr id="17" name="Text 15"/>
          <p:cNvSpPr txBox="1"/>
          <p:nvPr/>
        </p:nvSpPr>
        <p:spPr>
          <a:xfrm>
            <a:off x="658368"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8" name="Shape 16"/>
          <p:cNvSpPr/>
          <p:nvPr/>
        </p:nvSpPr>
        <p:spPr>
          <a:xfrm>
            <a:off x="2670048" y="2098865"/>
            <a:ext cx="350494" cy="178730"/>
          </a:xfrm>
          <a:prstGeom prst="rect">
            <a:avLst/>
          </a:prstGeom>
          <a:solidFill>
            <a:srgbClr val="C2352F"/>
          </a:solidFill>
          <a:ln/>
        </p:spPr>
      </p:sp>
      <p:sp>
        <p:nvSpPr>
          <p:cNvPr id="19" name="Text 17"/>
          <p:cNvSpPr txBox="1"/>
          <p:nvPr/>
        </p:nvSpPr>
        <p:spPr>
          <a:xfrm>
            <a:off x="3602736" y="20257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$90K</a:t>
            </a:r>
            <a:endParaRPr lang="en-US" sz="1300" dirty="0"/>
          </a:p>
        </p:txBody>
      </p:sp>
      <p:sp>
        <p:nvSpPr>
          <p:cNvPr id="20" name="Text 18"/>
          <p:cNvSpPr txBox="1"/>
          <p:nvPr/>
        </p:nvSpPr>
        <p:spPr>
          <a:xfrm>
            <a:off x="4425696"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21" name="Text 19"/>
          <p:cNvSpPr txBox="1"/>
          <p:nvPr/>
        </p:nvSpPr>
        <p:spPr>
          <a:xfrm>
            <a:off x="4992624"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1,066</a:t>
            </a:r>
            <a:endParaRPr lang="en-US" sz="1300" dirty="0"/>
          </a:p>
        </p:txBody>
      </p:sp>
      <p:sp>
        <p:nvSpPr>
          <p:cNvPr id="22" name="Text 20"/>
          <p:cNvSpPr txBox="1"/>
          <p:nvPr/>
        </p:nvSpPr>
        <p:spPr>
          <a:xfrm>
            <a:off x="658368"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3" name="Shape 21"/>
          <p:cNvSpPr/>
          <p:nvPr/>
        </p:nvSpPr>
        <p:spPr>
          <a:xfrm>
            <a:off x="2670048" y="2423828"/>
            <a:ext cx="323881" cy="178730"/>
          </a:xfrm>
          <a:prstGeom prst="rect">
            <a:avLst/>
          </a:prstGeom>
          <a:solidFill>
            <a:srgbClr val="C2352F"/>
          </a:solidFill>
          <a:ln/>
        </p:spPr>
      </p:sp>
      <p:sp>
        <p:nvSpPr>
          <p:cNvPr id="24" name="Text 22"/>
          <p:cNvSpPr txBox="1"/>
          <p:nvPr/>
        </p:nvSpPr>
        <p:spPr>
          <a:xfrm>
            <a:off x="3602736" y="235071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$83K</a:t>
            </a:r>
            <a:endParaRPr lang="en-US" sz="1300" dirty="0"/>
          </a:p>
        </p:txBody>
      </p:sp>
      <p:sp>
        <p:nvSpPr>
          <p:cNvPr id="25" name="Text 23"/>
          <p:cNvSpPr txBox="1"/>
          <p:nvPr/>
        </p:nvSpPr>
        <p:spPr>
          <a:xfrm>
            <a:off x="4425696"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26" name="Text 24"/>
          <p:cNvSpPr txBox="1"/>
          <p:nvPr/>
        </p:nvSpPr>
        <p:spPr>
          <a:xfrm>
            <a:off x="4992624"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700</a:t>
            </a:r>
            <a:endParaRPr lang="en-US" sz="1300" dirty="0"/>
          </a:p>
        </p:txBody>
      </p:sp>
      <p:sp>
        <p:nvSpPr>
          <p:cNvPr id="27" name="Text 25"/>
          <p:cNvSpPr txBox="1"/>
          <p:nvPr/>
        </p:nvSpPr>
        <p:spPr>
          <a:xfrm>
            <a:off x="658368"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8" name="Shape 26"/>
          <p:cNvSpPr/>
          <p:nvPr/>
        </p:nvSpPr>
        <p:spPr>
          <a:xfrm>
            <a:off x="2670048" y="2748792"/>
            <a:ext cx="299199" cy="178730"/>
          </a:xfrm>
          <a:prstGeom prst="rect">
            <a:avLst/>
          </a:prstGeom>
          <a:solidFill>
            <a:srgbClr val="C2352F"/>
          </a:solidFill>
          <a:ln/>
        </p:spPr>
      </p:sp>
      <p:sp>
        <p:nvSpPr>
          <p:cNvPr id="29" name="Text 27"/>
          <p:cNvSpPr txBox="1"/>
          <p:nvPr/>
        </p:nvSpPr>
        <p:spPr>
          <a:xfrm>
            <a:off x="3602736" y="267567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30" name="Text 28"/>
          <p:cNvSpPr txBox="1"/>
          <p:nvPr/>
        </p:nvSpPr>
        <p:spPr>
          <a:xfrm>
            <a:off x="4425696"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31" name="Text 29"/>
          <p:cNvSpPr txBox="1"/>
          <p:nvPr/>
        </p:nvSpPr>
        <p:spPr>
          <a:xfrm>
            <a:off x="4992624"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568</a:t>
            </a:r>
            <a:endParaRPr lang="en-US" sz="1300" dirty="0"/>
          </a:p>
        </p:txBody>
      </p:sp>
      <p:sp>
        <p:nvSpPr>
          <p:cNvPr id="32" name="Text 30"/>
          <p:cNvSpPr txBox="1"/>
          <p:nvPr/>
        </p:nvSpPr>
        <p:spPr>
          <a:xfrm>
            <a:off x="658368"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3" name="Shape 31"/>
          <p:cNvSpPr/>
          <p:nvPr/>
        </p:nvSpPr>
        <p:spPr>
          <a:xfrm>
            <a:off x="2670048" y="3073756"/>
            <a:ext cx="294028" cy="178730"/>
          </a:xfrm>
          <a:prstGeom prst="rect">
            <a:avLst/>
          </a:prstGeom>
          <a:solidFill>
            <a:srgbClr val="C2352F"/>
          </a:solidFill>
          <a:ln/>
        </p:spPr>
      </p:sp>
      <p:sp>
        <p:nvSpPr>
          <p:cNvPr id="34" name="Text 32"/>
          <p:cNvSpPr txBox="1"/>
          <p:nvPr/>
        </p:nvSpPr>
        <p:spPr>
          <a:xfrm>
            <a:off x="3602736" y="3000639"/>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$75K</a:t>
            </a:r>
            <a:endParaRPr lang="en-US" sz="1300" dirty="0"/>
          </a:p>
        </p:txBody>
      </p:sp>
      <p:sp>
        <p:nvSpPr>
          <p:cNvPr id="35" name="Text 33"/>
          <p:cNvSpPr txBox="1"/>
          <p:nvPr/>
        </p:nvSpPr>
        <p:spPr>
          <a:xfrm>
            <a:off x="4425696"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36" name="Text 34"/>
          <p:cNvSpPr txBox="1"/>
          <p:nvPr/>
        </p:nvSpPr>
        <p:spPr>
          <a:xfrm>
            <a:off x="4992624"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556</a:t>
            </a:r>
            <a:endParaRPr lang="en-US" sz="1300" dirty="0"/>
          </a:p>
        </p:txBody>
      </p:sp>
      <p:sp>
        <p:nvSpPr>
          <p:cNvPr id="37" name="Text 35"/>
          <p:cNvSpPr txBox="1"/>
          <p:nvPr/>
        </p:nvSpPr>
        <p:spPr>
          <a:xfrm>
            <a:off x="658368"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8" name="Shape 36"/>
          <p:cNvSpPr/>
          <p:nvPr/>
        </p:nvSpPr>
        <p:spPr>
          <a:xfrm>
            <a:off x="2670048" y="3398719"/>
            <a:ext cx="222710" cy="178730"/>
          </a:xfrm>
          <a:prstGeom prst="rect">
            <a:avLst/>
          </a:prstGeom>
          <a:solidFill>
            <a:srgbClr val="C2352F"/>
          </a:solidFill>
          <a:ln/>
        </p:spPr>
      </p:sp>
      <p:sp>
        <p:nvSpPr>
          <p:cNvPr id="39" name="Text 37"/>
          <p:cNvSpPr txBox="1"/>
          <p:nvPr/>
        </p:nvSpPr>
        <p:spPr>
          <a:xfrm>
            <a:off x="3602736" y="3325602"/>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40" name="Text 38"/>
          <p:cNvSpPr txBox="1"/>
          <p:nvPr/>
        </p:nvSpPr>
        <p:spPr>
          <a:xfrm>
            <a:off x="4425696"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41" name="Text 39"/>
          <p:cNvSpPr txBox="1"/>
          <p:nvPr/>
        </p:nvSpPr>
        <p:spPr>
          <a:xfrm>
            <a:off x="4992624"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770</a:t>
            </a:r>
            <a:endParaRPr lang="en-US" sz="1300" dirty="0"/>
          </a:p>
        </p:txBody>
      </p:sp>
      <p:sp>
        <p:nvSpPr>
          <p:cNvPr id="42" name="Text 40"/>
          <p:cNvSpPr txBox="1"/>
          <p:nvPr/>
        </p:nvSpPr>
        <p:spPr>
          <a:xfrm>
            <a:off x="658368"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723683"/>
            <a:ext cx="192423" cy="178730"/>
          </a:xfrm>
          <a:prstGeom prst="rect">
            <a:avLst/>
          </a:prstGeom>
          <a:solidFill>
            <a:srgbClr val="C2352F"/>
          </a:solidFill>
          <a:ln/>
        </p:spPr>
      </p:sp>
      <p:sp>
        <p:nvSpPr>
          <p:cNvPr id="44" name="Text 42"/>
          <p:cNvSpPr txBox="1"/>
          <p:nvPr/>
        </p:nvSpPr>
        <p:spPr>
          <a:xfrm>
            <a:off x="3602736" y="3650566"/>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$49K</a:t>
            </a:r>
            <a:endParaRPr lang="en-US" sz="1300" dirty="0"/>
          </a:p>
        </p:txBody>
      </p:sp>
      <p:sp>
        <p:nvSpPr>
          <p:cNvPr id="45" name="Text 43"/>
          <p:cNvSpPr txBox="1"/>
          <p:nvPr/>
        </p:nvSpPr>
        <p:spPr>
          <a:xfrm>
            <a:off x="4425696"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46" name="Text 44"/>
          <p:cNvSpPr txBox="1"/>
          <p:nvPr/>
        </p:nvSpPr>
        <p:spPr>
          <a:xfrm>
            <a:off x="4992624"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478</a:t>
            </a:r>
            <a:endParaRPr lang="en-US" sz="1300" dirty="0"/>
          </a:p>
        </p:txBody>
      </p:sp>
      <p:sp>
        <p:nvSpPr>
          <p:cNvPr id="47" name="Text 45"/>
          <p:cNvSpPr txBox="1"/>
          <p:nvPr/>
        </p:nvSpPr>
        <p:spPr>
          <a:xfrm>
            <a:off x="658368"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8" name="Shape 46"/>
          <p:cNvSpPr/>
          <p:nvPr/>
        </p:nvSpPr>
        <p:spPr>
          <a:xfrm>
            <a:off x="2670048" y="4048647"/>
            <a:ext cx="148892" cy="178730"/>
          </a:xfrm>
          <a:prstGeom prst="rect">
            <a:avLst/>
          </a:prstGeom>
          <a:solidFill>
            <a:srgbClr val="C2352F"/>
          </a:solidFill>
          <a:ln/>
        </p:spPr>
      </p:sp>
      <p:sp>
        <p:nvSpPr>
          <p:cNvPr id="49" name="Text 47"/>
          <p:cNvSpPr txBox="1"/>
          <p:nvPr/>
        </p:nvSpPr>
        <p:spPr>
          <a:xfrm>
            <a:off x="3602736" y="3975530"/>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50" name="Text 48"/>
          <p:cNvSpPr txBox="1"/>
          <p:nvPr/>
        </p:nvSpPr>
        <p:spPr>
          <a:xfrm>
            <a:off x="4425696"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51" name="Text 49"/>
          <p:cNvSpPr txBox="1"/>
          <p:nvPr/>
        </p:nvSpPr>
        <p:spPr>
          <a:xfrm>
            <a:off x="4992624"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365</a:t>
            </a:r>
            <a:endParaRPr lang="en-US" sz="1300" dirty="0"/>
          </a:p>
        </p:txBody>
      </p:sp>
      <p:sp>
        <p:nvSpPr>
          <p:cNvPr id="52" name="Text 50"/>
          <p:cNvSpPr txBox="1"/>
          <p:nvPr/>
        </p:nvSpPr>
        <p:spPr>
          <a:xfrm>
            <a:off x="658368"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53" name="Shape 51"/>
          <p:cNvSpPr/>
          <p:nvPr/>
        </p:nvSpPr>
        <p:spPr>
          <a:xfrm>
            <a:off x="2670048" y="4373610"/>
            <a:ext cx="141539" cy="178730"/>
          </a:xfrm>
          <a:prstGeom prst="rect">
            <a:avLst/>
          </a:prstGeom>
          <a:solidFill>
            <a:srgbClr val="C2352F"/>
          </a:solidFill>
          <a:ln/>
        </p:spPr>
      </p:sp>
      <p:sp>
        <p:nvSpPr>
          <p:cNvPr id="54" name="Text 52"/>
          <p:cNvSpPr txBox="1"/>
          <p:nvPr/>
        </p:nvSpPr>
        <p:spPr>
          <a:xfrm>
            <a:off x="3602736" y="430049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55" name="Text 53"/>
          <p:cNvSpPr txBox="1"/>
          <p:nvPr/>
        </p:nvSpPr>
        <p:spPr>
          <a:xfrm>
            <a:off x="4425696"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56" name="Text 54"/>
          <p:cNvSpPr txBox="1"/>
          <p:nvPr/>
        </p:nvSpPr>
        <p:spPr>
          <a:xfrm>
            <a:off x="4992624"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294</a:t>
            </a:r>
            <a:endParaRPr lang="en-US" sz="1300" dirty="0"/>
          </a:p>
        </p:txBody>
      </p:sp>
      <p:sp>
        <p:nvSpPr>
          <p:cNvPr id="57" name="Text 55"/>
          <p:cNvSpPr txBox="1"/>
          <p:nvPr/>
        </p:nvSpPr>
        <p:spPr>
          <a:xfrm>
            <a:off x="658368"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58" name="Shape 56"/>
          <p:cNvSpPr/>
          <p:nvPr/>
        </p:nvSpPr>
        <p:spPr>
          <a:xfrm>
            <a:off x="2670048" y="4698574"/>
            <a:ext cx="133799" cy="178730"/>
          </a:xfrm>
          <a:prstGeom prst="rect">
            <a:avLst/>
          </a:prstGeom>
          <a:solidFill>
            <a:srgbClr val="C2352F"/>
          </a:solidFill>
          <a:ln/>
        </p:spPr>
      </p:sp>
      <p:sp>
        <p:nvSpPr>
          <p:cNvPr id="59" name="Text 57"/>
          <p:cNvSpPr txBox="1"/>
          <p:nvPr/>
        </p:nvSpPr>
        <p:spPr>
          <a:xfrm>
            <a:off x="3602736" y="4625457"/>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60" name="Text 58"/>
          <p:cNvSpPr txBox="1"/>
          <p:nvPr/>
        </p:nvSpPr>
        <p:spPr>
          <a:xfrm>
            <a:off x="4425696"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61" name="Text 59"/>
          <p:cNvSpPr txBox="1"/>
          <p:nvPr/>
        </p:nvSpPr>
        <p:spPr>
          <a:xfrm>
            <a:off x="4992624"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62" name="Text 60"/>
          <p:cNvSpPr txBox="1"/>
          <p:nvPr/>
        </p:nvSpPr>
        <p:spPr>
          <a:xfrm>
            <a:off x="658368"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63" name="Shape 61"/>
          <p:cNvSpPr/>
          <p:nvPr/>
        </p:nvSpPr>
        <p:spPr>
          <a:xfrm>
            <a:off x="2670048" y="5023538"/>
            <a:ext cx="129160" cy="178730"/>
          </a:xfrm>
          <a:prstGeom prst="rect">
            <a:avLst/>
          </a:prstGeom>
          <a:solidFill>
            <a:srgbClr val="C2352F"/>
          </a:solidFill>
          <a:ln/>
        </p:spPr>
      </p:sp>
      <p:sp>
        <p:nvSpPr>
          <p:cNvPr id="64" name="Text 62"/>
          <p:cNvSpPr txBox="1"/>
          <p:nvPr/>
        </p:nvSpPr>
        <p:spPr>
          <a:xfrm>
            <a:off x="3602736" y="495042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$33K</a:t>
            </a:r>
            <a:endParaRPr lang="en-US" sz="1300" dirty="0"/>
          </a:p>
        </p:txBody>
      </p:sp>
      <p:sp>
        <p:nvSpPr>
          <p:cNvPr id="65" name="Text 63"/>
          <p:cNvSpPr txBox="1"/>
          <p:nvPr/>
        </p:nvSpPr>
        <p:spPr>
          <a:xfrm>
            <a:off x="4425696"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66" name="Text 64"/>
          <p:cNvSpPr txBox="1"/>
          <p:nvPr/>
        </p:nvSpPr>
        <p:spPr>
          <a:xfrm>
            <a:off x="4992624"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326</a:t>
            </a:r>
            <a:endParaRPr lang="en-US" sz="1300" dirty="0"/>
          </a:p>
        </p:txBody>
      </p:sp>
      <p:sp>
        <p:nvSpPr>
          <p:cNvPr id="67" name="Text 65"/>
          <p:cNvSpPr txBox="1"/>
          <p:nvPr/>
        </p:nvSpPr>
        <p:spPr>
          <a:xfrm>
            <a:off x="658368"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68" name="Shape 66"/>
          <p:cNvSpPr/>
          <p:nvPr/>
        </p:nvSpPr>
        <p:spPr>
          <a:xfrm>
            <a:off x="2670048" y="5348501"/>
            <a:ext cx="127194" cy="178730"/>
          </a:xfrm>
          <a:prstGeom prst="rect">
            <a:avLst/>
          </a:prstGeom>
          <a:solidFill>
            <a:srgbClr val="C2352F"/>
          </a:solidFill>
          <a:ln/>
        </p:spPr>
      </p:sp>
      <p:sp>
        <p:nvSpPr>
          <p:cNvPr id="69" name="Text 67"/>
          <p:cNvSpPr txBox="1"/>
          <p:nvPr/>
        </p:nvSpPr>
        <p:spPr>
          <a:xfrm>
            <a:off x="3602736" y="527538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$33K</a:t>
            </a:r>
            <a:endParaRPr lang="en-US" sz="1300" dirty="0"/>
          </a:p>
        </p:txBody>
      </p:sp>
      <p:sp>
        <p:nvSpPr>
          <p:cNvPr id="70" name="Text 68"/>
          <p:cNvSpPr txBox="1"/>
          <p:nvPr/>
        </p:nvSpPr>
        <p:spPr>
          <a:xfrm>
            <a:off x="4425696"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a:t>
            </a:r>
            <a:endParaRPr lang="en-US" sz="1300" dirty="0"/>
          </a:p>
        </p:txBody>
      </p:sp>
      <p:sp>
        <p:nvSpPr>
          <p:cNvPr id="71" name="Text 69"/>
          <p:cNvSpPr txBox="1"/>
          <p:nvPr/>
        </p:nvSpPr>
        <p:spPr>
          <a:xfrm>
            <a:off x="4992624"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a:t>
            </a:r>
            <a:endParaRPr lang="en-US" sz="1300" dirty="0"/>
          </a:p>
        </p:txBody>
      </p:sp>
      <p:sp>
        <p:nvSpPr>
          <p:cNvPr id="72" name="Text 70"/>
          <p:cNvSpPr txBox="1"/>
          <p:nvPr/>
        </p:nvSpPr>
        <p:spPr>
          <a:xfrm>
            <a:off x="658368" y="56003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3" name="Shape 71"/>
          <p:cNvSpPr/>
          <p:nvPr/>
        </p:nvSpPr>
        <p:spPr>
          <a:xfrm>
            <a:off x="2670048" y="5673465"/>
            <a:ext cx="102484" cy="178730"/>
          </a:xfrm>
          <a:prstGeom prst="rect">
            <a:avLst/>
          </a:prstGeom>
          <a:solidFill>
            <a:srgbClr val="C2352F"/>
          </a:solidFill>
          <a:ln/>
        </p:spPr>
      </p:sp>
      <p:sp>
        <p:nvSpPr>
          <p:cNvPr id="74" name="Text 72"/>
          <p:cNvSpPr txBox="1"/>
          <p:nvPr/>
        </p:nvSpPr>
        <p:spPr>
          <a:xfrm>
            <a:off x="3602736" y="56003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75" name="Text 73"/>
          <p:cNvSpPr txBox="1"/>
          <p:nvPr/>
        </p:nvSpPr>
        <p:spPr>
          <a:xfrm>
            <a:off x="4425696" y="56003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76" name="Text 74"/>
          <p:cNvSpPr txBox="1"/>
          <p:nvPr/>
        </p:nvSpPr>
        <p:spPr>
          <a:xfrm>
            <a:off x="4992624" y="56003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230</a:t>
            </a:r>
            <a:endParaRPr lang="en-US" sz="1300" dirty="0"/>
          </a:p>
        </p:txBody>
      </p:sp>
      <p:sp>
        <p:nvSpPr>
          <p:cNvPr id="77" name="Text 75"/>
          <p:cNvSpPr txBox="1"/>
          <p:nvPr/>
        </p:nvSpPr>
        <p:spPr>
          <a:xfrm>
            <a:off x="6208776"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8" name="Shape 76"/>
          <p:cNvSpPr/>
          <p:nvPr/>
        </p:nvSpPr>
        <p:spPr>
          <a:xfrm>
            <a:off x="8220456" y="1773901"/>
            <a:ext cx="98792" cy="178730"/>
          </a:xfrm>
          <a:prstGeom prst="rect">
            <a:avLst/>
          </a:prstGeom>
          <a:solidFill>
            <a:srgbClr val="C2352F"/>
          </a:solidFill>
          <a:ln/>
        </p:spPr>
      </p:sp>
      <p:sp>
        <p:nvSpPr>
          <p:cNvPr id="79" name="Text 77"/>
          <p:cNvSpPr txBox="1"/>
          <p:nvPr/>
        </p:nvSpPr>
        <p:spPr>
          <a:xfrm>
            <a:off x="9153144" y="170078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80" name="Text 78"/>
          <p:cNvSpPr txBox="1"/>
          <p:nvPr/>
        </p:nvSpPr>
        <p:spPr>
          <a:xfrm>
            <a:off x="9976104"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81" name="Text 79"/>
          <p:cNvSpPr txBox="1"/>
          <p:nvPr/>
        </p:nvSpPr>
        <p:spPr>
          <a:xfrm>
            <a:off x="10543032"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324</a:t>
            </a:r>
            <a:endParaRPr lang="en-US" sz="1300" dirty="0"/>
          </a:p>
        </p:txBody>
      </p:sp>
      <p:sp>
        <p:nvSpPr>
          <p:cNvPr id="82" name="Text 80"/>
          <p:cNvSpPr txBox="1"/>
          <p:nvPr/>
        </p:nvSpPr>
        <p:spPr>
          <a:xfrm>
            <a:off x="6208776"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3" name="Shape 81"/>
          <p:cNvSpPr/>
          <p:nvPr/>
        </p:nvSpPr>
        <p:spPr>
          <a:xfrm>
            <a:off x="8220456" y="2098865"/>
            <a:ext cx="91358" cy="178730"/>
          </a:xfrm>
          <a:prstGeom prst="rect">
            <a:avLst/>
          </a:prstGeom>
          <a:solidFill>
            <a:srgbClr val="C2352F"/>
          </a:solidFill>
          <a:ln/>
        </p:spPr>
      </p:sp>
      <p:sp>
        <p:nvSpPr>
          <p:cNvPr id="84" name="Text 82"/>
          <p:cNvSpPr txBox="1"/>
          <p:nvPr/>
        </p:nvSpPr>
        <p:spPr>
          <a:xfrm>
            <a:off x="9153144" y="20257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85" name="Text 83"/>
          <p:cNvSpPr txBox="1"/>
          <p:nvPr/>
        </p:nvSpPr>
        <p:spPr>
          <a:xfrm>
            <a:off x="9976104"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a:t>
            </a:r>
            <a:endParaRPr lang="en-US" sz="1300" dirty="0"/>
          </a:p>
        </p:txBody>
      </p:sp>
      <p:sp>
        <p:nvSpPr>
          <p:cNvPr id="86" name="Text 84"/>
          <p:cNvSpPr txBox="1"/>
          <p:nvPr/>
        </p:nvSpPr>
        <p:spPr>
          <a:xfrm>
            <a:off x="10543032"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87" name="Text 85"/>
          <p:cNvSpPr txBox="1"/>
          <p:nvPr/>
        </p:nvSpPr>
        <p:spPr>
          <a:xfrm>
            <a:off x="6208776"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88" name="Shape 86"/>
          <p:cNvSpPr/>
          <p:nvPr/>
        </p:nvSpPr>
        <p:spPr>
          <a:xfrm>
            <a:off x="8220456" y="2423828"/>
            <a:ext cx="88193" cy="178730"/>
          </a:xfrm>
          <a:prstGeom prst="rect">
            <a:avLst/>
          </a:prstGeom>
          <a:solidFill>
            <a:srgbClr val="C2352F"/>
          </a:solidFill>
          <a:ln/>
        </p:spPr>
      </p:sp>
      <p:sp>
        <p:nvSpPr>
          <p:cNvPr id="89" name="Text 87"/>
          <p:cNvSpPr txBox="1"/>
          <p:nvPr/>
        </p:nvSpPr>
        <p:spPr>
          <a:xfrm>
            <a:off x="9153144" y="235071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90" name="Text 88"/>
          <p:cNvSpPr txBox="1"/>
          <p:nvPr/>
        </p:nvSpPr>
        <p:spPr>
          <a:xfrm>
            <a:off x="9976104"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91" name="Text 89"/>
          <p:cNvSpPr txBox="1"/>
          <p:nvPr/>
        </p:nvSpPr>
        <p:spPr>
          <a:xfrm>
            <a:off x="10543032"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291</a:t>
            </a:r>
            <a:endParaRPr lang="en-US" sz="1300" dirty="0"/>
          </a:p>
        </p:txBody>
      </p:sp>
      <p:sp>
        <p:nvSpPr>
          <p:cNvPr id="92" name="Text 90"/>
          <p:cNvSpPr txBox="1"/>
          <p:nvPr/>
        </p:nvSpPr>
        <p:spPr>
          <a:xfrm>
            <a:off x="6208776"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93" name="Shape 91"/>
          <p:cNvSpPr/>
          <p:nvPr/>
        </p:nvSpPr>
        <p:spPr>
          <a:xfrm>
            <a:off x="8220456" y="2748792"/>
            <a:ext cx="81609" cy="178730"/>
          </a:xfrm>
          <a:prstGeom prst="rect">
            <a:avLst/>
          </a:prstGeom>
          <a:solidFill>
            <a:srgbClr val="C2352F"/>
          </a:solidFill>
          <a:ln/>
        </p:spPr>
      </p:sp>
      <p:sp>
        <p:nvSpPr>
          <p:cNvPr id="94" name="Text 92"/>
          <p:cNvSpPr txBox="1"/>
          <p:nvPr/>
        </p:nvSpPr>
        <p:spPr>
          <a:xfrm>
            <a:off x="9153144" y="267567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95" name="Text 93"/>
          <p:cNvSpPr txBox="1"/>
          <p:nvPr/>
        </p:nvSpPr>
        <p:spPr>
          <a:xfrm>
            <a:off x="9976104"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96" name="Text 94"/>
          <p:cNvSpPr txBox="1"/>
          <p:nvPr/>
        </p:nvSpPr>
        <p:spPr>
          <a:xfrm>
            <a:off x="10543032"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a:t>
            </a:r>
            <a:endParaRPr lang="en-US" sz="1300" dirty="0"/>
          </a:p>
        </p:txBody>
      </p:sp>
      <p:sp>
        <p:nvSpPr>
          <p:cNvPr id="97" name="Text 95"/>
          <p:cNvSpPr txBox="1"/>
          <p:nvPr/>
        </p:nvSpPr>
        <p:spPr>
          <a:xfrm>
            <a:off x="6208776"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8" name="Shape 96"/>
          <p:cNvSpPr/>
          <p:nvPr/>
        </p:nvSpPr>
        <p:spPr>
          <a:xfrm>
            <a:off x="8220456" y="3073756"/>
            <a:ext cx="69229" cy="178730"/>
          </a:xfrm>
          <a:prstGeom prst="rect">
            <a:avLst/>
          </a:prstGeom>
          <a:solidFill>
            <a:srgbClr val="C2352F"/>
          </a:solidFill>
          <a:ln/>
        </p:spPr>
      </p:sp>
      <p:sp>
        <p:nvSpPr>
          <p:cNvPr id="99" name="Text 97"/>
          <p:cNvSpPr txBox="1"/>
          <p:nvPr/>
        </p:nvSpPr>
        <p:spPr>
          <a:xfrm>
            <a:off x="9153144" y="3000639"/>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00" name="Text 98"/>
          <p:cNvSpPr txBox="1"/>
          <p:nvPr/>
        </p:nvSpPr>
        <p:spPr>
          <a:xfrm>
            <a:off x="9976104"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101" name="Text 99"/>
          <p:cNvSpPr txBox="1"/>
          <p:nvPr/>
        </p:nvSpPr>
        <p:spPr>
          <a:xfrm>
            <a:off x="10543032"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240</a:t>
            </a:r>
            <a:endParaRPr lang="en-US" sz="1300" dirty="0"/>
          </a:p>
        </p:txBody>
      </p:sp>
      <p:sp>
        <p:nvSpPr>
          <p:cNvPr id="102" name="Text 100"/>
          <p:cNvSpPr txBox="1"/>
          <p:nvPr/>
        </p:nvSpPr>
        <p:spPr>
          <a:xfrm>
            <a:off x="6208776"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3" name="Shape 101"/>
          <p:cNvSpPr/>
          <p:nvPr/>
        </p:nvSpPr>
        <p:spPr>
          <a:xfrm>
            <a:off x="8220456" y="3398719"/>
            <a:ext cx="47082" cy="178730"/>
          </a:xfrm>
          <a:prstGeom prst="rect">
            <a:avLst/>
          </a:prstGeom>
          <a:solidFill>
            <a:srgbClr val="C2352F"/>
          </a:solidFill>
          <a:ln/>
        </p:spPr>
      </p:sp>
      <p:sp>
        <p:nvSpPr>
          <p:cNvPr id="104" name="Text 102"/>
          <p:cNvSpPr txBox="1"/>
          <p:nvPr/>
        </p:nvSpPr>
        <p:spPr>
          <a:xfrm>
            <a:off x="9153144" y="3325602"/>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$12K</a:t>
            </a:r>
            <a:endParaRPr lang="en-US" sz="1300" dirty="0"/>
          </a:p>
        </p:txBody>
      </p:sp>
      <p:sp>
        <p:nvSpPr>
          <p:cNvPr id="105" name="Text 103"/>
          <p:cNvSpPr txBox="1"/>
          <p:nvPr/>
        </p:nvSpPr>
        <p:spPr>
          <a:xfrm>
            <a:off x="9976104"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06" name="Text 104"/>
          <p:cNvSpPr txBox="1"/>
          <p:nvPr/>
        </p:nvSpPr>
        <p:spPr>
          <a:xfrm>
            <a:off x="10543032"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165</a:t>
            </a:r>
            <a:endParaRPr lang="en-US" sz="1300" dirty="0"/>
          </a:p>
        </p:txBody>
      </p:sp>
      <p:sp>
        <p:nvSpPr>
          <p:cNvPr id="107" name="Text 105"/>
          <p:cNvSpPr txBox="1"/>
          <p:nvPr/>
        </p:nvSpPr>
        <p:spPr>
          <a:xfrm>
            <a:off x="6208776"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08" name="Shape 106"/>
          <p:cNvSpPr/>
          <p:nvPr/>
        </p:nvSpPr>
        <p:spPr>
          <a:xfrm>
            <a:off x="8220456" y="3723683"/>
            <a:ext cx="44786" cy="178730"/>
          </a:xfrm>
          <a:prstGeom prst="rect">
            <a:avLst/>
          </a:prstGeom>
          <a:solidFill>
            <a:srgbClr val="C2352F"/>
          </a:solidFill>
          <a:ln/>
        </p:spPr>
      </p:sp>
      <p:sp>
        <p:nvSpPr>
          <p:cNvPr id="109" name="Text 107"/>
          <p:cNvSpPr txBox="1"/>
          <p:nvPr/>
        </p:nvSpPr>
        <p:spPr>
          <a:xfrm>
            <a:off x="9153144" y="3650566"/>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10" name="Text 108"/>
          <p:cNvSpPr txBox="1"/>
          <p:nvPr/>
        </p:nvSpPr>
        <p:spPr>
          <a:xfrm>
            <a:off x="9976104"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11" name="Text 109"/>
          <p:cNvSpPr txBox="1"/>
          <p:nvPr/>
        </p:nvSpPr>
        <p:spPr>
          <a:xfrm>
            <a:off x="10543032"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112" name="Text 110"/>
          <p:cNvSpPr txBox="1"/>
          <p:nvPr/>
        </p:nvSpPr>
        <p:spPr>
          <a:xfrm>
            <a:off x="6208776"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3" name="Shape 111"/>
          <p:cNvSpPr/>
          <p:nvPr/>
        </p:nvSpPr>
        <p:spPr>
          <a:xfrm>
            <a:off x="8220456" y="4048647"/>
            <a:ext cx="40558" cy="178730"/>
          </a:xfrm>
          <a:prstGeom prst="rect">
            <a:avLst/>
          </a:prstGeom>
          <a:solidFill>
            <a:srgbClr val="C2352F"/>
          </a:solidFill>
          <a:ln/>
        </p:spPr>
      </p:sp>
      <p:sp>
        <p:nvSpPr>
          <p:cNvPr id="114" name="Text 112"/>
          <p:cNvSpPr txBox="1"/>
          <p:nvPr/>
        </p:nvSpPr>
        <p:spPr>
          <a:xfrm>
            <a:off x="9153144" y="3975530"/>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15" name="Text 113"/>
          <p:cNvSpPr txBox="1"/>
          <p:nvPr/>
        </p:nvSpPr>
        <p:spPr>
          <a:xfrm>
            <a:off x="9976104"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16" name="Text 114"/>
          <p:cNvSpPr txBox="1"/>
          <p:nvPr/>
        </p:nvSpPr>
        <p:spPr>
          <a:xfrm>
            <a:off x="10543032"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a:t>
            </a:r>
            <a:endParaRPr lang="en-US" sz="1300" dirty="0"/>
          </a:p>
        </p:txBody>
      </p:sp>
      <p:sp>
        <p:nvSpPr>
          <p:cNvPr id="117" name="Text 115"/>
          <p:cNvSpPr txBox="1"/>
          <p:nvPr/>
        </p:nvSpPr>
        <p:spPr>
          <a:xfrm>
            <a:off x="6208776"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18" name="Shape 116"/>
          <p:cNvSpPr/>
          <p:nvPr/>
        </p:nvSpPr>
        <p:spPr>
          <a:xfrm>
            <a:off x="8220456" y="4373610"/>
            <a:ext cx="38064" cy="178730"/>
          </a:xfrm>
          <a:prstGeom prst="rect">
            <a:avLst/>
          </a:prstGeom>
          <a:solidFill>
            <a:srgbClr val="C2352F"/>
          </a:solidFill>
          <a:ln/>
        </p:spPr>
      </p:sp>
      <p:sp>
        <p:nvSpPr>
          <p:cNvPr id="119" name="Text 117"/>
          <p:cNvSpPr txBox="1"/>
          <p:nvPr/>
        </p:nvSpPr>
        <p:spPr>
          <a:xfrm>
            <a:off x="9153144" y="430049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20" name="Text 118"/>
          <p:cNvSpPr txBox="1"/>
          <p:nvPr/>
        </p:nvSpPr>
        <p:spPr>
          <a:xfrm>
            <a:off x="9976104"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121" name="Text 119"/>
          <p:cNvSpPr txBox="1"/>
          <p:nvPr/>
        </p:nvSpPr>
        <p:spPr>
          <a:xfrm>
            <a:off x="10543032"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122" name="Text 120"/>
          <p:cNvSpPr txBox="1"/>
          <p:nvPr/>
        </p:nvSpPr>
        <p:spPr>
          <a:xfrm>
            <a:off x="6208776"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23" name="Shape 121"/>
          <p:cNvSpPr/>
          <p:nvPr/>
        </p:nvSpPr>
        <p:spPr>
          <a:xfrm>
            <a:off x="8220456" y="4698574"/>
            <a:ext cx="35579" cy="178730"/>
          </a:xfrm>
          <a:prstGeom prst="rect">
            <a:avLst/>
          </a:prstGeom>
          <a:solidFill>
            <a:srgbClr val="C2352F"/>
          </a:solidFill>
          <a:ln/>
        </p:spPr>
      </p:sp>
      <p:sp>
        <p:nvSpPr>
          <p:cNvPr id="124" name="Text 122"/>
          <p:cNvSpPr txBox="1"/>
          <p:nvPr/>
        </p:nvSpPr>
        <p:spPr>
          <a:xfrm>
            <a:off x="9153144" y="4625457"/>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125" name="Text 123"/>
          <p:cNvSpPr txBox="1"/>
          <p:nvPr/>
        </p:nvSpPr>
        <p:spPr>
          <a:xfrm>
            <a:off x="9976104"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126" name="Text 124"/>
          <p:cNvSpPr txBox="1"/>
          <p:nvPr/>
        </p:nvSpPr>
        <p:spPr>
          <a:xfrm>
            <a:off x="10543032"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a:t>
            </a:r>
            <a:endParaRPr lang="en-US" sz="1300" dirty="0"/>
          </a:p>
        </p:txBody>
      </p:sp>
      <p:sp>
        <p:nvSpPr>
          <p:cNvPr id="127" name="Text 125"/>
          <p:cNvSpPr txBox="1"/>
          <p:nvPr/>
        </p:nvSpPr>
        <p:spPr>
          <a:xfrm>
            <a:off x="6208776"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28" name="Shape 126"/>
          <p:cNvSpPr/>
          <p:nvPr/>
        </p:nvSpPr>
        <p:spPr>
          <a:xfrm>
            <a:off x="8220456" y="5023538"/>
            <a:ext cx="28280" cy="178730"/>
          </a:xfrm>
          <a:prstGeom prst="rect">
            <a:avLst/>
          </a:prstGeom>
          <a:solidFill>
            <a:srgbClr val="C2352F"/>
          </a:solidFill>
          <a:ln/>
        </p:spPr>
      </p:sp>
      <p:sp>
        <p:nvSpPr>
          <p:cNvPr id="129" name="Text 127"/>
          <p:cNvSpPr txBox="1"/>
          <p:nvPr/>
        </p:nvSpPr>
        <p:spPr>
          <a:xfrm>
            <a:off x="9153144" y="495042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130" name="Text 128"/>
          <p:cNvSpPr txBox="1"/>
          <p:nvPr/>
        </p:nvSpPr>
        <p:spPr>
          <a:xfrm>
            <a:off x="9976104"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131" name="Text 129"/>
          <p:cNvSpPr txBox="1"/>
          <p:nvPr/>
        </p:nvSpPr>
        <p:spPr>
          <a:xfrm>
            <a:off x="10543032"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132" name="Text 130"/>
          <p:cNvSpPr txBox="1"/>
          <p:nvPr/>
        </p:nvSpPr>
        <p:spPr>
          <a:xfrm>
            <a:off x="6208776"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3" name="Shape 131"/>
          <p:cNvSpPr/>
          <p:nvPr/>
        </p:nvSpPr>
        <p:spPr>
          <a:xfrm>
            <a:off x="8220456" y="5348501"/>
            <a:ext cx="18288" cy="178730"/>
          </a:xfrm>
          <a:prstGeom prst="rect">
            <a:avLst/>
          </a:prstGeom>
          <a:solidFill>
            <a:srgbClr val="C2352F"/>
          </a:solidFill>
          <a:ln/>
        </p:spPr>
      </p:sp>
      <p:sp>
        <p:nvSpPr>
          <p:cNvPr id="134" name="Text 132"/>
          <p:cNvSpPr txBox="1"/>
          <p:nvPr/>
        </p:nvSpPr>
        <p:spPr>
          <a:xfrm>
            <a:off x="9153144" y="527538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$865</a:t>
            </a:r>
            <a:endParaRPr lang="en-US" sz="1300" dirty="0"/>
          </a:p>
        </p:txBody>
      </p:sp>
      <p:sp>
        <p:nvSpPr>
          <p:cNvPr id="135" name="Text 133"/>
          <p:cNvSpPr txBox="1"/>
          <p:nvPr/>
        </p:nvSpPr>
        <p:spPr>
          <a:xfrm>
            <a:off x="9976104"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36" name="Text 134"/>
          <p:cNvSpPr txBox="1"/>
          <p:nvPr/>
        </p:nvSpPr>
        <p:spPr>
          <a:xfrm>
            <a:off x="10543032"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37" name="Shape 135"/>
          <p:cNvSpPr/>
          <p:nvPr/>
        </p:nvSpPr>
        <p:spPr>
          <a:xfrm>
            <a:off x="457200" y="6126480"/>
            <a:ext cx="11274552" cy="364236"/>
          </a:xfrm>
          <a:prstGeom prst="rect">
            <a:avLst/>
          </a:prstGeom>
          <a:solidFill>
            <a:srgbClr val="FBEBEA"/>
          </a:solidFill>
          <a:ln/>
        </p:spPr>
      </p:sp>
      <p:sp>
        <p:nvSpPr>
          <p:cNvPr id="138" name="Text 136"/>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A82B26"/>
                </a:solidFill>
                <a:latin typeface="Inter" pitchFamily="34" charset="0"/>
                <a:ea typeface="Inter" pitchFamily="34" charset="-122"/>
                <a:cs typeface="Inter" pitchFamily="34" charset="-120"/>
              </a:rPr>
              <a:t>25 stores under 15% leave $1,029,276 a year: 9,935 services. Toyota Spokane has the most at $225,288.</a:t>
            </a:r>
            <a:endParaRPr lang="en-US" sz="1550" dirty="0"/>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Tire Balance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3" name="Shape 11"/>
          <p:cNvSpPr/>
          <p:nvPr/>
        </p:nvSpPr>
        <p:spPr>
          <a:xfrm>
            <a:off x="2670048" y="1764152"/>
            <a:ext cx="877824" cy="154899"/>
          </a:xfrm>
          <a:prstGeom prst="rect">
            <a:avLst/>
          </a:prstGeom>
          <a:solidFill>
            <a:srgbClr val="C2352F"/>
          </a:solidFill>
          <a:ln/>
        </p:spPr>
      </p:sp>
      <p:sp>
        <p:nvSpPr>
          <p:cNvPr id="14" name="Text 12"/>
          <p:cNvSpPr txBox="1"/>
          <p:nvPr/>
        </p:nvSpPr>
        <p:spPr>
          <a:xfrm>
            <a:off x="3602736" y="1700784"/>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$180K</a:t>
            </a:r>
            <a:endParaRPr lang="en-US" sz="1300" dirty="0"/>
          </a:p>
        </p:txBody>
      </p:sp>
      <p:sp>
        <p:nvSpPr>
          <p:cNvPr id="15" name="Text 13"/>
          <p:cNvSpPr txBox="1"/>
          <p:nvPr/>
        </p:nvSpPr>
        <p:spPr>
          <a:xfrm>
            <a:off x="4425696" y="170078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6" name="Text 14"/>
          <p:cNvSpPr txBox="1"/>
          <p:nvPr/>
        </p:nvSpPr>
        <p:spPr>
          <a:xfrm>
            <a:off x="4992624" y="170078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3,361</a:t>
            </a:r>
            <a:endParaRPr lang="en-US" sz="1300" dirty="0"/>
          </a:p>
        </p:txBody>
      </p:sp>
      <p:sp>
        <p:nvSpPr>
          <p:cNvPr id="17" name="Text 15"/>
          <p:cNvSpPr txBox="1"/>
          <p:nvPr/>
        </p:nvSpPr>
        <p:spPr>
          <a:xfrm>
            <a:off x="658368" y="1982419"/>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8" name="Shape 16"/>
          <p:cNvSpPr/>
          <p:nvPr/>
        </p:nvSpPr>
        <p:spPr>
          <a:xfrm>
            <a:off x="2670048" y="2045787"/>
            <a:ext cx="719796" cy="154899"/>
          </a:xfrm>
          <a:prstGeom prst="rect">
            <a:avLst/>
          </a:prstGeom>
          <a:solidFill>
            <a:srgbClr val="C2352F"/>
          </a:solidFill>
          <a:ln/>
        </p:spPr>
      </p:sp>
      <p:sp>
        <p:nvSpPr>
          <p:cNvPr id="19" name="Text 17"/>
          <p:cNvSpPr txBox="1"/>
          <p:nvPr/>
        </p:nvSpPr>
        <p:spPr>
          <a:xfrm>
            <a:off x="3602736" y="1982419"/>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$147K</a:t>
            </a:r>
            <a:endParaRPr lang="en-US" sz="1300" dirty="0"/>
          </a:p>
        </p:txBody>
      </p:sp>
      <p:sp>
        <p:nvSpPr>
          <p:cNvPr id="20" name="Text 18"/>
          <p:cNvSpPr txBox="1"/>
          <p:nvPr/>
        </p:nvSpPr>
        <p:spPr>
          <a:xfrm>
            <a:off x="4425696" y="1982419"/>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21" name="Text 19"/>
          <p:cNvSpPr txBox="1"/>
          <p:nvPr/>
        </p:nvSpPr>
        <p:spPr>
          <a:xfrm>
            <a:off x="4992624" y="1982419"/>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2,671</a:t>
            </a:r>
            <a:endParaRPr lang="en-US" sz="1300" dirty="0"/>
          </a:p>
        </p:txBody>
      </p:sp>
      <p:sp>
        <p:nvSpPr>
          <p:cNvPr id="22" name="Text 20"/>
          <p:cNvSpPr txBox="1"/>
          <p:nvPr/>
        </p:nvSpPr>
        <p:spPr>
          <a:xfrm>
            <a:off x="658368" y="226405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3" name="Shape 21"/>
          <p:cNvSpPr/>
          <p:nvPr/>
        </p:nvSpPr>
        <p:spPr>
          <a:xfrm>
            <a:off x="2670048" y="2327422"/>
            <a:ext cx="646349" cy="154899"/>
          </a:xfrm>
          <a:prstGeom prst="rect">
            <a:avLst/>
          </a:prstGeom>
          <a:solidFill>
            <a:srgbClr val="C2352F"/>
          </a:solidFill>
          <a:ln/>
        </p:spPr>
      </p:sp>
      <p:sp>
        <p:nvSpPr>
          <p:cNvPr id="24" name="Text 22"/>
          <p:cNvSpPr txBox="1"/>
          <p:nvPr/>
        </p:nvSpPr>
        <p:spPr>
          <a:xfrm>
            <a:off x="3602736" y="2264054"/>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$132K</a:t>
            </a:r>
            <a:endParaRPr lang="en-US" sz="1300" dirty="0"/>
          </a:p>
        </p:txBody>
      </p:sp>
      <p:sp>
        <p:nvSpPr>
          <p:cNvPr id="25" name="Text 23"/>
          <p:cNvSpPr txBox="1"/>
          <p:nvPr/>
        </p:nvSpPr>
        <p:spPr>
          <a:xfrm>
            <a:off x="4425696" y="226405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a:t>
            </a:r>
            <a:endParaRPr lang="en-US" sz="1300" dirty="0"/>
          </a:p>
        </p:txBody>
      </p:sp>
      <p:sp>
        <p:nvSpPr>
          <p:cNvPr id="26" name="Text 24"/>
          <p:cNvSpPr txBox="1"/>
          <p:nvPr/>
        </p:nvSpPr>
        <p:spPr>
          <a:xfrm>
            <a:off x="4992624" y="226405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1,590</a:t>
            </a:r>
            <a:endParaRPr lang="en-US" sz="1300" dirty="0"/>
          </a:p>
        </p:txBody>
      </p:sp>
      <p:sp>
        <p:nvSpPr>
          <p:cNvPr id="27" name="Text 25"/>
          <p:cNvSpPr txBox="1"/>
          <p:nvPr/>
        </p:nvSpPr>
        <p:spPr>
          <a:xfrm>
            <a:off x="658368" y="254569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8" name="Shape 26"/>
          <p:cNvSpPr/>
          <p:nvPr/>
        </p:nvSpPr>
        <p:spPr>
          <a:xfrm>
            <a:off x="2670048" y="2609058"/>
            <a:ext cx="610140" cy="154899"/>
          </a:xfrm>
          <a:prstGeom prst="rect">
            <a:avLst/>
          </a:prstGeom>
          <a:solidFill>
            <a:srgbClr val="C2352F"/>
          </a:solidFill>
          <a:ln/>
        </p:spPr>
      </p:sp>
      <p:sp>
        <p:nvSpPr>
          <p:cNvPr id="29" name="Text 27"/>
          <p:cNvSpPr txBox="1"/>
          <p:nvPr/>
        </p:nvSpPr>
        <p:spPr>
          <a:xfrm>
            <a:off x="3602736" y="254569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$125K</a:t>
            </a:r>
            <a:endParaRPr lang="en-US" sz="1300" dirty="0"/>
          </a:p>
        </p:txBody>
      </p:sp>
      <p:sp>
        <p:nvSpPr>
          <p:cNvPr id="30" name="Text 28"/>
          <p:cNvSpPr txBox="1"/>
          <p:nvPr/>
        </p:nvSpPr>
        <p:spPr>
          <a:xfrm>
            <a:off x="4425696" y="254569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31" name="Text 29"/>
          <p:cNvSpPr txBox="1"/>
          <p:nvPr/>
        </p:nvSpPr>
        <p:spPr>
          <a:xfrm>
            <a:off x="4992624" y="254569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837</a:t>
            </a:r>
            <a:endParaRPr lang="en-US" sz="1300" dirty="0"/>
          </a:p>
        </p:txBody>
      </p:sp>
      <p:sp>
        <p:nvSpPr>
          <p:cNvPr id="32" name="Text 30"/>
          <p:cNvSpPr txBox="1"/>
          <p:nvPr/>
        </p:nvSpPr>
        <p:spPr>
          <a:xfrm>
            <a:off x="658368" y="282732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3" name="Shape 31"/>
          <p:cNvSpPr/>
          <p:nvPr/>
        </p:nvSpPr>
        <p:spPr>
          <a:xfrm>
            <a:off x="2670048" y="2890693"/>
            <a:ext cx="532718" cy="154899"/>
          </a:xfrm>
          <a:prstGeom prst="rect">
            <a:avLst/>
          </a:prstGeom>
          <a:solidFill>
            <a:srgbClr val="C2352F"/>
          </a:solidFill>
          <a:ln/>
        </p:spPr>
      </p:sp>
      <p:sp>
        <p:nvSpPr>
          <p:cNvPr id="34" name="Text 32"/>
          <p:cNvSpPr txBox="1"/>
          <p:nvPr/>
        </p:nvSpPr>
        <p:spPr>
          <a:xfrm>
            <a:off x="3602736" y="2827325"/>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$109K</a:t>
            </a:r>
            <a:endParaRPr lang="en-US" sz="1300" dirty="0"/>
          </a:p>
        </p:txBody>
      </p:sp>
      <p:sp>
        <p:nvSpPr>
          <p:cNvPr id="35" name="Text 33"/>
          <p:cNvSpPr txBox="1"/>
          <p:nvPr/>
        </p:nvSpPr>
        <p:spPr>
          <a:xfrm>
            <a:off x="4425696" y="282732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6" name="Text 34"/>
          <p:cNvSpPr txBox="1"/>
          <p:nvPr/>
        </p:nvSpPr>
        <p:spPr>
          <a:xfrm>
            <a:off x="4992624" y="282732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2,031</a:t>
            </a:r>
            <a:endParaRPr lang="en-US" sz="1300" dirty="0"/>
          </a:p>
        </p:txBody>
      </p:sp>
      <p:sp>
        <p:nvSpPr>
          <p:cNvPr id="37" name="Text 35"/>
          <p:cNvSpPr txBox="1"/>
          <p:nvPr/>
        </p:nvSpPr>
        <p:spPr>
          <a:xfrm>
            <a:off x="658368" y="310896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8" name="Shape 36"/>
          <p:cNvSpPr/>
          <p:nvPr/>
        </p:nvSpPr>
        <p:spPr>
          <a:xfrm>
            <a:off x="2670048" y="3172328"/>
            <a:ext cx="519232" cy="154899"/>
          </a:xfrm>
          <a:prstGeom prst="rect">
            <a:avLst/>
          </a:prstGeom>
          <a:solidFill>
            <a:srgbClr val="C2352F"/>
          </a:solidFill>
          <a:ln/>
        </p:spPr>
      </p:sp>
      <p:sp>
        <p:nvSpPr>
          <p:cNvPr id="39" name="Text 37"/>
          <p:cNvSpPr txBox="1"/>
          <p:nvPr/>
        </p:nvSpPr>
        <p:spPr>
          <a:xfrm>
            <a:off x="3602736" y="310896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$106K</a:t>
            </a:r>
            <a:endParaRPr lang="en-US" sz="1300" dirty="0"/>
          </a:p>
        </p:txBody>
      </p:sp>
      <p:sp>
        <p:nvSpPr>
          <p:cNvPr id="40" name="Text 38"/>
          <p:cNvSpPr txBox="1"/>
          <p:nvPr/>
        </p:nvSpPr>
        <p:spPr>
          <a:xfrm>
            <a:off x="4425696" y="310896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41" name="Text 39"/>
          <p:cNvSpPr txBox="1"/>
          <p:nvPr/>
        </p:nvSpPr>
        <p:spPr>
          <a:xfrm>
            <a:off x="4992624" y="310896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2,001</a:t>
            </a:r>
            <a:endParaRPr lang="en-US" sz="1300" dirty="0"/>
          </a:p>
        </p:txBody>
      </p:sp>
      <p:sp>
        <p:nvSpPr>
          <p:cNvPr id="42" name="Text 40"/>
          <p:cNvSpPr txBox="1"/>
          <p:nvPr/>
        </p:nvSpPr>
        <p:spPr>
          <a:xfrm>
            <a:off x="658368" y="339059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43" name="Shape 41"/>
          <p:cNvSpPr/>
          <p:nvPr/>
        </p:nvSpPr>
        <p:spPr>
          <a:xfrm>
            <a:off x="2670048" y="3453963"/>
            <a:ext cx="391085" cy="154899"/>
          </a:xfrm>
          <a:prstGeom prst="rect">
            <a:avLst/>
          </a:prstGeom>
          <a:solidFill>
            <a:srgbClr val="C2352F"/>
          </a:solidFill>
          <a:ln/>
        </p:spPr>
      </p:sp>
      <p:sp>
        <p:nvSpPr>
          <p:cNvPr id="44" name="Text 42"/>
          <p:cNvSpPr txBox="1"/>
          <p:nvPr/>
        </p:nvSpPr>
        <p:spPr>
          <a:xfrm>
            <a:off x="3602736" y="3390595"/>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45" name="Text 43"/>
          <p:cNvSpPr txBox="1"/>
          <p:nvPr/>
        </p:nvSpPr>
        <p:spPr>
          <a:xfrm>
            <a:off x="4425696" y="339059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46" name="Text 44"/>
          <p:cNvSpPr txBox="1"/>
          <p:nvPr/>
        </p:nvSpPr>
        <p:spPr>
          <a:xfrm>
            <a:off x="4992624" y="339059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1,526</a:t>
            </a:r>
            <a:endParaRPr lang="en-US" sz="1300" dirty="0"/>
          </a:p>
        </p:txBody>
      </p:sp>
      <p:sp>
        <p:nvSpPr>
          <p:cNvPr id="47" name="Text 45"/>
          <p:cNvSpPr txBox="1"/>
          <p:nvPr/>
        </p:nvSpPr>
        <p:spPr>
          <a:xfrm>
            <a:off x="658368" y="367223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48" name="Shape 46"/>
          <p:cNvSpPr/>
          <p:nvPr/>
        </p:nvSpPr>
        <p:spPr>
          <a:xfrm>
            <a:off x="2670048" y="3735598"/>
            <a:ext cx="374515" cy="154899"/>
          </a:xfrm>
          <a:prstGeom prst="rect">
            <a:avLst/>
          </a:prstGeom>
          <a:solidFill>
            <a:srgbClr val="C2352F"/>
          </a:solidFill>
          <a:ln/>
        </p:spPr>
      </p:sp>
      <p:sp>
        <p:nvSpPr>
          <p:cNvPr id="49" name="Text 47"/>
          <p:cNvSpPr txBox="1"/>
          <p:nvPr/>
        </p:nvSpPr>
        <p:spPr>
          <a:xfrm>
            <a:off x="3602736" y="367223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0" name="Text 48"/>
          <p:cNvSpPr txBox="1"/>
          <p:nvPr/>
        </p:nvSpPr>
        <p:spPr>
          <a:xfrm>
            <a:off x="4425696" y="367223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51" name="Text 49"/>
          <p:cNvSpPr txBox="1"/>
          <p:nvPr/>
        </p:nvSpPr>
        <p:spPr>
          <a:xfrm>
            <a:off x="4992624" y="367223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1,296</a:t>
            </a:r>
            <a:endParaRPr lang="en-US" sz="1300" dirty="0"/>
          </a:p>
        </p:txBody>
      </p:sp>
      <p:sp>
        <p:nvSpPr>
          <p:cNvPr id="52" name="Text 50"/>
          <p:cNvSpPr txBox="1"/>
          <p:nvPr/>
        </p:nvSpPr>
        <p:spPr>
          <a:xfrm>
            <a:off x="658368" y="395386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53" name="Shape 51"/>
          <p:cNvSpPr/>
          <p:nvPr/>
        </p:nvSpPr>
        <p:spPr>
          <a:xfrm>
            <a:off x="2670048" y="4017234"/>
            <a:ext cx="358021" cy="154899"/>
          </a:xfrm>
          <a:prstGeom prst="rect">
            <a:avLst/>
          </a:prstGeom>
          <a:solidFill>
            <a:srgbClr val="C2352F"/>
          </a:solidFill>
          <a:ln/>
        </p:spPr>
      </p:sp>
      <p:sp>
        <p:nvSpPr>
          <p:cNvPr id="54" name="Text 52"/>
          <p:cNvSpPr txBox="1"/>
          <p:nvPr/>
        </p:nvSpPr>
        <p:spPr>
          <a:xfrm>
            <a:off x="3602736" y="395386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$73K</a:t>
            </a:r>
            <a:endParaRPr lang="en-US" sz="1300" dirty="0"/>
          </a:p>
        </p:txBody>
      </p:sp>
      <p:sp>
        <p:nvSpPr>
          <p:cNvPr id="55" name="Text 53"/>
          <p:cNvSpPr txBox="1"/>
          <p:nvPr/>
        </p:nvSpPr>
        <p:spPr>
          <a:xfrm>
            <a:off x="4425696" y="395386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56" name="Text 54"/>
          <p:cNvSpPr txBox="1"/>
          <p:nvPr/>
        </p:nvSpPr>
        <p:spPr>
          <a:xfrm>
            <a:off x="4992624" y="395386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981</a:t>
            </a:r>
            <a:endParaRPr lang="en-US" sz="1300" dirty="0"/>
          </a:p>
        </p:txBody>
      </p:sp>
      <p:sp>
        <p:nvSpPr>
          <p:cNvPr id="57" name="Text 55"/>
          <p:cNvSpPr txBox="1"/>
          <p:nvPr/>
        </p:nvSpPr>
        <p:spPr>
          <a:xfrm>
            <a:off x="658368" y="423550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4298869"/>
            <a:ext cx="350574" cy="154899"/>
          </a:xfrm>
          <a:prstGeom prst="rect">
            <a:avLst/>
          </a:prstGeom>
          <a:solidFill>
            <a:srgbClr val="C2352F"/>
          </a:solidFill>
          <a:ln/>
        </p:spPr>
      </p:sp>
      <p:sp>
        <p:nvSpPr>
          <p:cNvPr id="59" name="Text 57"/>
          <p:cNvSpPr txBox="1"/>
          <p:nvPr/>
        </p:nvSpPr>
        <p:spPr>
          <a:xfrm>
            <a:off x="3602736" y="4235501"/>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$72K</a:t>
            </a:r>
            <a:endParaRPr lang="en-US" sz="1300" dirty="0"/>
          </a:p>
        </p:txBody>
      </p:sp>
      <p:sp>
        <p:nvSpPr>
          <p:cNvPr id="60" name="Text 58"/>
          <p:cNvSpPr txBox="1"/>
          <p:nvPr/>
        </p:nvSpPr>
        <p:spPr>
          <a:xfrm>
            <a:off x="4425696" y="423550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61" name="Text 59"/>
          <p:cNvSpPr txBox="1"/>
          <p:nvPr/>
        </p:nvSpPr>
        <p:spPr>
          <a:xfrm>
            <a:off x="4992624" y="423550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1,059</a:t>
            </a:r>
            <a:endParaRPr lang="en-US" sz="1300" dirty="0"/>
          </a:p>
        </p:txBody>
      </p:sp>
      <p:sp>
        <p:nvSpPr>
          <p:cNvPr id="62" name="Text 60"/>
          <p:cNvSpPr txBox="1"/>
          <p:nvPr/>
        </p:nvSpPr>
        <p:spPr>
          <a:xfrm>
            <a:off x="658368" y="451713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63" name="Shape 61"/>
          <p:cNvSpPr/>
          <p:nvPr/>
        </p:nvSpPr>
        <p:spPr>
          <a:xfrm>
            <a:off x="2670048" y="4580504"/>
            <a:ext cx="331353" cy="154899"/>
          </a:xfrm>
          <a:prstGeom prst="rect">
            <a:avLst/>
          </a:prstGeom>
          <a:solidFill>
            <a:srgbClr val="C2352F"/>
          </a:solidFill>
          <a:ln/>
        </p:spPr>
      </p:sp>
      <p:sp>
        <p:nvSpPr>
          <p:cNvPr id="64" name="Text 62"/>
          <p:cNvSpPr txBox="1"/>
          <p:nvPr/>
        </p:nvSpPr>
        <p:spPr>
          <a:xfrm>
            <a:off x="3602736" y="451713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$68K</a:t>
            </a:r>
            <a:endParaRPr lang="en-US" sz="1300" dirty="0"/>
          </a:p>
        </p:txBody>
      </p:sp>
      <p:sp>
        <p:nvSpPr>
          <p:cNvPr id="65" name="Text 63"/>
          <p:cNvSpPr txBox="1"/>
          <p:nvPr/>
        </p:nvSpPr>
        <p:spPr>
          <a:xfrm>
            <a:off x="4425696" y="451713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66" name="Text 64"/>
          <p:cNvSpPr txBox="1"/>
          <p:nvPr/>
        </p:nvSpPr>
        <p:spPr>
          <a:xfrm>
            <a:off x="4992624" y="451713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909</a:t>
            </a:r>
            <a:endParaRPr lang="en-US" sz="1300" dirty="0"/>
          </a:p>
        </p:txBody>
      </p:sp>
      <p:sp>
        <p:nvSpPr>
          <p:cNvPr id="67" name="Text 65"/>
          <p:cNvSpPr txBox="1"/>
          <p:nvPr/>
        </p:nvSpPr>
        <p:spPr>
          <a:xfrm>
            <a:off x="658368" y="479877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68" name="Shape 66"/>
          <p:cNvSpPr/>
          <p:nvPr/>
        </p:nvSpPr>
        <p:spPr>
          <a:xfrm>
            <a:off x="2670048" y="4862139"/>
            <a:ext cx="331235" cy="154899"/>
          </a:xfrm>
          <a:prstGeom prst="rect">
            <a:avLst/>
          </a:prstGeom>
          <a:solidFill>
            <a:srgbClr val="C2352F"/>
          </a:solidFill>
          <a:ln/>
        </p:spPr>
      </p:sp>
      <p:sp>
        <p:nvSpPr>
          <p:cNvPr id="69" name="Text 67"/>
          <p:cNvSpPr txBox="1"/>
          <p:nvPr/>
        </p:nvSpPr>
        <p:spPr>
          <a:xfrm>
            <a:off x="3602736" y="4798771"/>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$68K</a:t>
            </a:r>
            <a:endParaRPr lang="en-US" sz="1300" dirty="0"/>
          </a:p>
        </p:txBody>
      </p:sp>
      <p:sp>
        <p:nvSpPr>
          <p:cNvPr id="70" name="Text 68"/>
          <p:cNvSpPr txBox="1"/>
          <p:nvPr/>
        </p:nvSpPr>
        <p:spPr>
          <a:xfrm>
            <a:off x="4425696" y="479877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71" name="Text 69"/>
          <p:cNvSpPr txBox="1"/>
          <p:nvPr/>
        </p:nvSpPr>
        <p:spPr>
          <a:xfrm>
            <a:off x="4992624" y="479877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909</a:t>
            </a:r>
            <a:endParaRPr lang="en-US" sz="1300" dirty="0"/>
          </a:p>
        </p:txBody>
      </p:sp>
      <p:sp>
        <p:nvSpPr>
          <p:cNvPr id="72" name="Text 70"/>
          <p:cNvSpPr txBox="1"/>
          <p:nvPr/>
        </p:nvSpPr>
        <p:spPr>
          <a:xfrm>
            <a:off x="658368" y="508040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73" name="Shape 71"/>
          <p:cNvSpPr/>
          <p:nvPr/>
        </p:nvSpPr>
        <p:spPr>
          <a:xfrm>
            <a:off x="2670048" y="5143774"/>
            <a:ext cx="274901" cy="154899"/>
          </a:xfrm>
          <a:prstGeom prst="rect">
            <a:avLst/>
          </a:prstGeom>
          <a:solidFill>
            <a:srgbClr val="C2352F"/>
          </a:solidFill>
          <a:ln/>
        </p:spPr>
      </p:sp>
      <p:sp>
        <p:nvSpPr>
          <p:cNvPr id="74" name="Text 72"/>
          <p:cNvSpPr txBox="1"/>
          <p:nvPr/>
        </p:nvSpPr>
        <p:spPr>
          <a:xfrm>
            <a:off x="3602736" y="508040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75" name="Text 73"/>
          <p:cNvSpPr txBox="1"/>
          <p:nvPr/>
        </p:nvSpPr>
        <p:spPr>
          <a:xfrm>
            <a:off x="4425696" y="508040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76" name="Text 74"/>
          <p:cNvSpPr txBox="1"/>
          <p:nvPr/>
        </p:nvSpPr>
        <p:spPr>
          <a:xfrm>
            <a:off x="4992624" y="508040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754</a:t>
            </a:r>
            <a:endParaRPr lang="en-US" sz="1300" dirty="0"/>
          </a:p>
        </p:txBody>
      </p:sp>
      <p:sp>
        <p:nvSpPr>
          <p:cNvPr id="77" name="Text 75"/>
          <p:cNvSpPr txBox="1"/>
          <p:nvPr/>
        </p:nvSpPr>
        <p:spPr>
          <a:xfrm>
            <a:off x="658368" y="5362042"/>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8" name="Shape 76"/>
          <p:cNvSpPr/>
          <p:nvPr/>
        </p:nvSpPr>
        <p:spPr>
          <a:xfrm>
            <a:off x="2670048" y="5425410"/>
            <a:ext cx="253573" cy="154899"/>
          </a:xfrm>
          <a:prstGeom prst="rect">
            <a:avLst/>
          </a:prstGeom>
          <a:solidFill>
            <a:srgbClr val="C2352F"/>
          </a:solidFill>
          <a:ln/>
        </p:spPr>
      </p:sp>
      <p:sp>
        <p:nvSpPr>
          <p:cNvPr id="79" name="Text 77"/>
          <p:cNvSpPr txBox="1"/>
          <p:nvPr/>
        </p:nvSpPr>
        <p:spPr>
          <a:xfrm>
            <a:off x="3602736" y="5362042"/>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$52K</a:t>
            </a:r>
            <a:endParaRPr lang="en-US" sz="1300" dirty="0"/>
          </a:p>
        </p:txBody>
      </p:sp>
      <p:sp>
        <p:nvSpPr>
          <p:cNvPr id="80" name="Text 78"/>
          <p:cNvSpPr txBox="1"/>
          <p:nvPr/>
        </p:nvSpPr>
        <p:spPr>
          <a:xfrm>
            <a:off x="4425696" y="5362042"/>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0.1%</a:t>
            </a:r>
            <a:endParaRPr lang="en-US" sz="1300" dirty="0"/>
          </a:p>
        </p:txBody>
      </p:sp>
      <p:sp>
        <p:nvSpPr>
          <p:cNvPr id="81" name="Text 79"/>
          <p:cNvSpPr txBox="1"/>
          <p:nvPr/>
        </p:nvSpPr>
        <p:spPr>
          <a:xfrm>
            <a:off x="4992624" y="5362042"/>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696</a:t>
            </a:r>
            <a:endParaRPr lang="en-US" sz="1300" dirty="0"/>
          </a:p>
        </p:txBody>
      </p:sp>
      <p:sp>
        <p:nvSpPr>
          <p:cNvPr id="82" name="Text 80"/>
          <p:cNvSpPr txBox="1"/>
          <p:nvPr/>
        </p:nvSpPr>
        <p:spPr>
          <a:xfrm>
            <a:off x="658368" y="5643677"/>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83" name="Shape 81"/>
          <p:cNvSpPr/>
          <p:nvPr/>
        </p:nvSpPr>
        <p:spPr>
          <a:xfrm>
            <a:off x="2670048" y="5707045"/>
            <a:ext cx="252810" cy="154899"/>
          </a:xfrm>
          <a:prstGeom prst="rect">
            <a:avLst/>
          </a:prstGeom>
          <a:solidFill>
            <a:srgbClr val="C2352F"/>
          </a:solidFill>
          <a:ln/>
        </p:spPr>
      </p:sp>
      <p:sp>
        <p:nvSpPr>
          <p:cNvPr id="84" name="Text 82"/>
          <p:cNvSpPr txBox="1"/>
          <p:nvPr/>
        </p:nvSpPr>
        <p:spPr>
          <a:xfrm>
            <a:off x="3602736" y="5643677"/>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$52K</a:t>
            </a:r>
            <a:endParaRPr lang="en-US" sz="1300" dirty="0"/>
          </a:p>
        </p:txBody>
      </p:sp>
      <p:sp>
        <p:nvSpPr>
          <p:cNvPr id="85" name="Text 83"/>
          <p:cNvSpPr txBox="1"/>
          <p:nvPr/>
        </p:nvSpPr>
        <p:spPr>
          <a:xfrm>
            <a:off x="4425696" y="5643677"/>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86" name="Text 84"/>
          <p:cNvSpPr txBox="1"/>
          <p:nvPr/>
        </p:nvSpPr>
        <p:spPr>
          <a:xfrm>
            <a:off x="4992624" y="5643677"/>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735</a:t>
            </a:r>
            <a:endParaRPr lang="en-US" sz="1300" dirty="0"/>
          </a:p>
        </p:txBody>
      </p:sp>
      <p:sp>
        <p:nvSpPr>
          <p:cNvPr id="87" name="Text 85"/>
          <p:cNvSpPr txBox="1"/>
          <p:nvPr/>
        </p:nvSpPr>
        <p:spPr>
          <a:xfrm>
            <a:off x="6208776" y="170078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88" name="Shape 86"/>
          <p:cNvSpPr/>
          <p:nvPr/>
        </p:nvSpPr>
        <p:spPr>
          <a:xfrm>
            <a:off x="8220456" y="1764152"/>
            <a:ext cx="186928" cy="154899"/>
          </a:xfrm>
          <a:prstGeom prst="rect">
            <a:avLst/>
          </a:prstGeom>
          <a:solidFill>
            <a:srgbClr val="C2352F"/>
          </a:solidFill>
          <a:ln/>
        </p:spPr>
      </p:sp>
      <p:sp>
        <p:nvSpPr>
          <p:cNvPr id="89" name="Text 87"/>
          <p:cNvSpPr txBox="1"/>
          <p:nvPr/>
        </p:nvSpPr>
        <p:spPr>
          <a:xfrm>
            <a:off x="9153144" y="1700784"/>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90" name="Text 88"/>
          <p:cNvSpPr txBox="1"/>
          <p:nvPr/>
        </p:nvSpPr>
        <p:spPr>
          <a:xfrm>
            <a:off x="9976104" y="170078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91" name="Text 89"/>
          <p:cNvSpPr txBox="1"/>
          <p:nvPr/>
        </p:nvSpPr>
        <p:spPr>
          <a:xfrm>
            <a:off x="10543032" y="170078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600</a:t>
            </a:r>
            <a:endParaRPr lang="en-US" sz="1300" dirty="0"/>
          </a:p>
        </p:txBody>
      </p:sp>
      <p:sp>
        <p:nvSpPr>
          <p:cNvPr id="92" name="Text 90"/>
          <p:cNvSpPr txBox="1"/>
          <p:nvPr/>
        </p:nvSpPr>
        <p:spPr>
          <a:xfrm>
            <a:off x="6208776" y="1982419"/>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93" name="Shape 91"/>
          <p:cNvSpPr/>
          <p:nvPr/>
        </p:nvSpPr>
        <p:spPr>
          <a:xfrm>
            <a:off x="8220456" y="2045787"/>
            <a:ext cx="174312" cy="154899"/>
          </a:xfrm>
          <a:prstGeom prst="rect">
            <a:avLst/>
          </a:prstGeom>
          <a:solidFill>
            <a:srgbClr val="C2352F"/>
          </a:solidFill>
          <a:ln/>
        </p:spPr>
      </p:sp>
      <p:sp>
        <p:nvSpPr>
          <p:cNvPr id="94" name="Text 92"/>
          <p:cNvSpPr txBox="1"/>
          <p:nvPr/>
        </p:nvSpPr>
        <p:spPr>
          <a:xfrm>
            <a:off x="9153144" y="1982419"/>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95" name="Text 93"/>
          <p:cNvSpPr txBox="1"/>
          <p:nvPr/>
        </p:nvSpPr>
        <p:spPr>
          <a:xfrm>
            <a:off x="9976104" y="1982419"/>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96" name="Text 94"/>
          <p:cNvSpPr txBox="1"/>
          <p:nvPr/>
        </p:nvSpPr>
        <p:spPr>
          <a:xfrm>
            <a:off x="10543032" y="1982419"/>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615</a:t>
            </a:r>
            <a:endParaRPr lang="en-US" sz="1300" dirty="0"/>
          </a:p>
        </p:txBody>
      </p:sp>
      <p:sp>
        <p:nvSpPr>
          <p:cNvPr id="97" name="Text 95"/>
          <p:cNvSpPr txBox="1"/>
          <p:nvPr/>
        </p:nvSpPr>
        <p:spPr>
          <a:xfrm>
            <a:off x="6208776" y="226405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98" name="Shape 96"/>
          <p:cNvSpPr/>
          <p:nvPr/>
        </p:nvSpPr>
        <p:spPr>
          <a:xfrm>
            <a:off x="8220456" y="2327422"/>
            <a:ext cx="150632" cy="154899"/>
          </a:xfrm>
          <a:prstGeom prst="rect">
            <a:avLst/>
          </a:prstGeom>
          <a:solidFill>
            <a:srgbClr val="C2352F"/>
          </a:solidFill>
          <a:ln/>
        </p:spPr>
      </p:sp>
      <p:sp>
        <p:nvSpPr>
          <p:cNvPr id="99" name="Text 97"/>
          <p:cNvSpPr txBox="1"/>
          <p:nvPr/>
        </p:nvSpPr>
        <p:spPr>
          <a:xfrm>
            <a:off x="9153144" y="2264054"/>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$31K</a:t>
            </a:r>
            <a:endParaRPr lang="en-US" sz="1300" dirty="0"/>
          </a:p>
        </p:txBody>
      </p:sp>
      <p:sp>
        <p:nvSpPr>
          <p:cNvPr id="100" name="Text 98"/>
          <p:cNvSpPr txBox="1"/>
          <p:nvPr/>
        </p:nvSpPr>
        <p:spPr>
          <a:xfrm>
            <a:off x="9976104" y="226405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01" name="Text 99"/>
          <p:cNvSpPr txBox="1"/>
          <p:nvPr/>
        </p:nvSpPr>
        <p:spPr>
          <a:xfrm>
            <a:off x="10543032" y="226405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467</a:t>
            </a:r>
            <a:endParaRPr lang="en-US" sz="1300" dirty="0"/>
          </a:p>
        </p:txBody>
      </p:sp>
      <p:sp>
        <p:nvSpPr>
          <p:cNvPr id="102" name="Text 100"/>
          <p:cNvSpPr txBox="1"/>
          <p:nvPr/>
        </p:nvSpPr>
        <p:spPr>
          <a:xfrm>
            <a:off x="6208776" y="254569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03" name="Shape 101"/>
          <p:cNvSpPr/>
          <p:nvPr/>
        </p:nvSpPr>
        <p:spPr>
          <a:xfrm>
            <a:off x="8220456" y="2609058"/>
            <a:ext cx="135957" cy="154899"/>
          </a:xfrm>
          <a:prstGeom prst="rect">
            <a:avLst/>
          </a:prstGeom>
          <a:solidFill>
            <a:srgbClr val="C2352F"/>
          </a:solidFill>
          <a:ln/>
        </p:spPr>
      </p:sp>
      <p:sp>
        <p:nvSpPr>
          <p:cNvPr id="104" name="Text 102"/>
          <p:cNvSpPr txBox="1"/>
          <p:nvPr/>
        </p:nvSpPr>
        <p:spPr>
          <a:xfrm>
            <a:off x="9153144" y="254569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$28K</a:t>
            </a:r>
            <a:endParaRPr lang="en-US" sz="1300" dirty="0"/>
          </a:p>
        </p:txBody>
      </p:sp>
      <p:sp>
        <p:nvSpPr>
          <p:cNvPr id="105" name="Text 103"/>
          <p:cNvSpPr txBox="1"/>
          <p:nvPr/>
        </p:nvSpPr>
        <p:spPr>
          <a:xfrm>
            <a:off x="9976104" y="254569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06" name="Text 104"/>
          <p:cNvSpPr txBox="1"/>
          <p:nvPr/>
        </p:nvSpPr>
        <p:spPr>
          <a:xfrm>
            <a:off x="10543032" y="254569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373</a:t>
            </a:r>
            <a:endParaRPr lang="en-US" sz="1300" dirty="0"/>
          </a:p>
        </p:txBody>
      </p:sp>
      <p:sp>
        <p:nvSpPr>
          <p:cNvPr id="107" name="Text 105"/>
          <p:cNvSpPr txBox="1"/>
          <p:nvPr/>
        </p:nvSpPr>
        <p:spPr>
          <a:xfrm>
            <a:off x="6208776" y="282732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08" name="Shape 106"/>
          <p:cNvSpPr/>
          <p:nvPr/>
        </p:nvSpPr>
        <p:spPr>
          <a:xfrm>
            <a:off x="8220456" y="2890693"/>
            <a:ext cx="133724" cy="154899"/>
          </a:xfrm>
          <a:prstGeom prst="rect">
            <a:avLst/>
          </a:prstGeom>
          <a:solidFill>
            <a:srgbClr val="C2352F"/>
          </a:solidFill>
          <a:ln/>
        </p:spPr>
      </p:sp>
      <p:sp>
        <p:nvSpPr>
          <p:cNvPr id="109" name="Text 107"/>
          <p:cNvSpPr txBox="1"/>
          <p:nvPr/>
        </p:nvSpPr>
        <p:spPr>
          <a:xfrm>
            <a:off x="9153144" y="2827325"/>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10" name="Text 108"/>
          <p:cNvSpPr txBox="1"/>
          <p:nvPr/>
        </p:nvSpPr>
        <p:spPr>
          <a:xfrm>
            <a:off x="9976104" y="282732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11" name="Text 109"/>
          <p:cNvSpPr txBox="1"/>
          <p:nvPr/>
        </p:nvSpPr>
        <p:spPr>
          <a:xfrm>
            <a:off x="10543032" y="282732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112" name="Text 110"/>
          <p:cNvSpPr txBox="1"/>
          <p:nvPr/>
        </p:nvSpPr>
        <p:spPr>
          <a:xfrm>
            <a:off x="6208776" y="310896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3" name="Shape 111"/>
          <p:cNvSpPr/>
          <p:nvPr/>
        </p:nvSpPr>
        <p:spPr>
          <a:xfrm>
            <a:off x="8220456" y="3172328"/>
            <a:ext cx="131190" cy="154899"/>
          </a:xfrm>
          <a:prstGeom prst="rect">
            <a:avLst/>
          </a:prstGeom>
          <a:solidFill>
            <a:srgbClr val="C2352F"/>
          </a:solidFill>
          <a:ln/>
        </p:spPr>
      </p:sp>
      <p:sp>
        <p:nvSpPr>
          <p:cNvPr id="114" name="Text 112"/>
          <p:cNvSpPr txBox="1"/>
          <p:nvPr/>
        </p:nvSpPr>
        <p:spPr>
          <a:xfrm>
            <a:off x="9153144" y="310896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15" name="Text 113"/>
          <p:cNvSpPr txBox="1"/>
          <p:nvPr/>
        </p:nvSpPr>
        <p:spPr>
          <a:xfrm>
            <a:off x="9976104" y="310896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116" name="Text 114"/>
          <p:cNvSpPr txBox="1"/>
          <p:nvPr/>
        </p:nvSpPr>
        <p:spPr>
          <a:xfrm>
            <a:off x="10543032" y="310896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a:t>
            </a:r>
            <a:endParaRPr lang="en-US" sz="1300" dirty="0"/>
          </a:p>
        </p:txBody>
      </p:sp>
      <p:sp>
        <p:nvSpPr>
          <p:cNvPr id="117" name="Text 115"/>
          <p:cNvSpPr txBox="1"/>
          <p:nvPr/>
        </p:nvSpPr>
        <p:spPr>
          <a:xfrm>
            <a:off x="6208776" y="339059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18" name="Shape 116"/>
          <p:cNvSpPr/>
          <p:nvPr/>
        </p:nvSpPr>
        <p:spPr>
          <a:xfrm>
            <a:off x="8220456" y="3453963"/>
            <a:ext cx="101915" cy="154899"/>
          </a:xfrm>
          <a:prstGeom prst="rect">
            <a:avLst/>
          </a:prstGeom>
          <a:solidFill>
            <a:srgbClr val="C2352F"/>
          </a:solidFill>
          <a:ln/>
        </p:spPr>
      </p:sp>
      <p:sp>
        <p:nvSpPr>
          <p:cNvPr id="119" name="Text 117"/>
          <p:cNvSpPr txBox="1"/>
          <p:nvPr/>
        </p:nvSpPr>
        <p:spPr>
          <a:xfrm>
            <a:off x="9153144" y="3390595"/>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20" name="Text 118"/>
          <p:cNvSpPr txBox="1"/>
          <p:nvPr/>
        </p:nvSpPr>
        <p:spPr>
          <a:xfrm>
            <a:off x="9976104" y="339059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a:t>
            </a:r>
            <a:endParaRPr lang="en-US" sz="1300" dirty="0"/>
          </a:p>
        </p:txBody>
      </p:sp>
      <p:sp>
        <p:nvSpPr>
          <p:cNvPr id="121" name="Text 119"/>
          <p:cNvSpPr txBox="1"/>
          <p:nvPr/>
        </p:nvSpPr>
        <p:spPr>
          <a:xfrm>
            <a:off x="10543032" y="339059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496</a:t>
            </a:r>
            <a:endParaRPr lang="en-US" sz="1300" dirty="0"/>
          </a:p>
        </p:txBody>
      </p:sp>
      <p:sp>
        <p:nvSpPr>
          <p:cNvPr id="122" name="Text 120"/>
          <p:cNvSpPr txBox="1"/>
          <p:nvPr/>
        </p:nvSpPr>
        <p:spPr>
          <a:xfrm>
            <a:off x="6208776" y="367223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23" name="Shape 121"/>
          <p:cNvSpPr/>
          <p:nvPr/>
        </p:nvSpPr>
        <p:spPr>
          <a:xfrm>
            <a:off x="8220456" y="3735598"/>
            <a:ext cx="89733" cy="154899"/>
          </a:xfrm>
          <a:prstGeom prst="rect">
            <a:avLst/>
          </a:prstGeom>
          <a:solidFill>
            <a:srgbClr val="C2352F"/>
          </a:solidFill>
          <a:ln/>
        </p:spPr>
      </p:sp>
      <p:sp>
        <p:nvSpPr>
          <p:cNvPr id="124" name="Text 122"/>
          <p:cNvSpPr txBox="1"/>
          <p:nvPr/>
        </p:nvSpPr>
        <p:spPr>
          <a:xfrm>
            <a:off x="9153144" y="367223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25" name="Text 123"/>
          <p:cNvSpPr txBox="1"/>
          <p:nvPr/>
        </p:nvSpPr>
        <p:spPr>
          <a:xfrm>
            <a:off x="9976104" y="367223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126" name="Text 124"/>
          <p:cNvSpPr txBox="1"/>
          <p:nvPr/>
        </p:nvSpPr>
        <p:spPr>
          <a:xfrm>
            <a:off x="10543032" y="367223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380</a:t>
            </a:r>
            <a:endParaRPr lang="en-US" sz="1300" dirty="0"/>
          </a:p>
        </p:txBody>
      </p:sp>
      <p:sp>
        <p:nvSpPr>
          <p:cNvPr id="127" name="Text 125"/>
          <p:cNvSpPr txBox="1"/>
          <p:nvPr/>
        </p:nvSpPr>
        <p:spPr>
          <a:xfrm>
            <a:off x="6208776" y="395386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28" name="Shape 126"/>
          <p:cNvSpPr/>
          <p:nvPr/>
        </p:nvSpPr>
        <p:spPr>
          <a:xfrm>
            <a:off x="8220456" y="4017234"/>
            <a:ext cx="69731" cy="154899"/>
          </a:xfrm>
          <a:prstGeom prst="rect">
            <a:avLst/>
          </a:prstGeom>
          <a:solidFill>
            <a:srgbClr val="C2352F"/>
          </a:solidFill>
          <a:ln/>
        </p:spPr>
      </p:sp>
      <p:sp>
        <p:nvSpPr>
          <p:cNvPr id="129" name="Text 127"/>
          <p:cNvSpPr txBox="1"/>
          <p:nvPr/>
        </p:nvSpPr>
        <p:spPr>
          <a:xfrm>
            <a:off x="9153144" y="395386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130" name="Text 128"/>
          <p:cNvSpPr txBox="1"/>
          <p:nvPr/>
        </p:nvSpPr>
        <p:spPr>
          <a:xfrm>
            <a:off x="9976104" y="395386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31" name="Text 129"/>
          <p:cNvSpPr txBox="1"/>
          <p:nvPr/>
        </p:nvSpPr>
        <p:spPr>
          <a:xfrm>
            <a:off x="10543032" y="395386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a:t>
            </a:r>
            <a:endParaRPr lang="en-US" sz="1300" dirty="0"/>
          </a:p>
        </p:txBody>
      </p:sp>
      <p:sp>
        <p:nvSpPr>
          <p:cNvPr id="132" name="Text 130"/>
          <p:cNvSpPr txBox="1"/>
          <p:nvPr/>
        </p:nvSpPr>
        <p:spPr>
          <a:xfrm>
            <a:off x="6208776" y="423550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4298869"/>
            <a:ext cx="53100" cy="154899"/>
          </a:xfrm>
          <a:prstGeom prst="rect">
            <a:avLst/>
          </a:prstGeom>
          <a:solidFill>
            <a:srgbClr val="C2352F"/>
          </a:solidFill>
          <a:ln/>
        </p:spPr>
      </p:sp>
      <p:sp>
        <p:nvSpPr>
          <p:cNvPr id="134" name="Text 132"/>
          <p:cNvSpPr txBox="1"/>
          <p:nvPr/>
        </p:nvSpPr>
        <p:spPr>
          <a:xfrm>
            <a:off x="9153144" y="4235501"/>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35" name="Text 133"/>
          <p:cNvSpPr txBox="1"/>
          <p:nvPr/>
        </p:nvSpPr>
        <p:spPr>
          <a:xfrm>
            <a:off x="9976104" y="423550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136" name="Text 134"/>
          <p:cNvSpPr txBox="1"/>
          <p:nvPr/>
        </p:nvSpPr>
        <p:spPr>
          <a:xfrm>
            <a:off x="10543032" y="423550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137" name="Text 135"/>
          <p:cNvSpPr txBox="1"/>
          <p:nvPr/>
        </p:nvSpPr>
        <p:spPr>
          <a:xfrm>
            <a:off x="6208776" y="451713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8" name="Shape 136"/>
          <p:cNvSpPr/>
          <p:nvPr/>
        </p:nvSpPr>
        <p:spPr>
          <a:xfrm>
            <a:off x="8220456" y="4580504"/>
            <a:ext cx="36692" cy="154899"/>
          </a:xfrm>
          <a:prstGeom prst="rect">
            <a:avLst/>
          </a:prstGeom>
          <a:solidFill>
            <a:srgbClr val="C2352F"/>
          </a:solidFill>
          <a:ln/>
        </p:spPr>
      </p:sp>
      <p:sp>
        <p:nvSpPr>
          <p:cNvPr id="139" name="Text 137"/>
          <p:cNvSpPr txBox="1"/>
          <p:nvPr/>
        </p:nvSpPr>
        <p:spPr>
          <a:xfrm>
            <a:off x="9153144" y="451713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140" name="Text 138"/>
          <p:cNvSpPr txBox="1"/>
          <p:nvPr/>
        </p:nvSpPr>
        <p:spPr>
          <a:xfrm>
            <a:off x="9976104" y="451713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41" name="Text 139"/>
          <p:cNvSpPr txBox="1"/>
          <p:nvPr/>
        </p:nvSpPr>
        <p:spPr>
          <a:xfrm>
            <a:off x="10543032" y="451713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42" name="Text 140"/>
          <p:cNvSpPr txBox="1"/>
          <p:nvPr/>
        </p:nvSpPr>
        <p:spPr>
          <a:xfrm>
            <a:off x="6208776" y="479877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43" name="Shape 141"/>
          <p:cNvSpPr/>
          <p:nvPr/>
        </p:nvSpPr>
        <p:spPr>
          <a:xfrm>
            <a:off x="8220456" y="4862139"/>
            <a:ext cx="28663" cy="154899"/>
          </a:xfrm>
          <a:prstGeom prst="rect">
            <a:avLst/>
          </a:prstGeom>
          <a:solidFill>
            <a:srgbClr val="C2352F"/>
          </a:solidFill>
          <a:ln/>
        </p:spPr>
      </p:sp>
      <p:sp>
        <p:nvSpPr>
          <p:cNvPr id="144" name="Text 142"/>
          <p:cNvSpPr txBox="1"/>
          <p:nvPr/>
        </p:nvSpPr>
        <p:spPr>
          <a:xfrm>
            <a:off x="9153144" y="4798771"/>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$6K</a:t>
            </a:r>
            <a:endParaRPr lang="en-US" sz="1300" dirty="0"/>
          </a:p>
        </p:txBody>
      </p:sp>
      <p:sp>
        <p:nvSpPr>
          <p:cNvPr id="145" name="Text 143"/>
          <p:cNvSpPr txBox="1"/>
          <p:nvPr/>
        </p:nvSpPr>
        <p:spPr>
          <a:xfrm>
            <a:off x="9976104" y="479877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146" name="Text 144"/>
          <p:cNvSpPr txBox="1"/>
          <p:nvPr/>
        </p:nvSpPr>
        <p:spPr>
          <a:xfrm>
            <a:off x="10543032" y="479877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47" name="Text 145"/>
          <p:cNvSpPr txBox="1"/>
          <p:nvPr/>
        </p:nvSpPr>
        <p:spPr>
          <a:xfrm>
            <a:off x="6208776" y="508040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48" name="Shape 146"/>
          <p:cNvSpPr/>
          <p:nvPr/>
        </p:nvSpPr>
        <p:spPr>
          <a:xfrm>
            <a:off x="8220456" y="5143774"/>
            <a:ext cx="18288" cy="154899"/>
          </a:xfrm>
          <a:prstGeom prst="rect">
            <a:avLst/>
          </a:prstGeom>
          <a:solidFill>
            <a:srgbClr val="C2352F"/>
          </a:solidFill>
          <a:ln/>
        </p:spPr>
      </p:sp>
      <p:sp>
        <p:nvSpPr>
          <p:cNvPr id="149" name="Text 147"/>
          <p:cNvSpPr txBox="1"/>
          <p:nvPr/>
        </p:nvSpPr>
        <p:spPr>
          <a:xfrm>
            <a:off x="9153144" y="508040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150" name="Text 148"/>
          <p:cNvSpPr txBox="1"/>
          <p:nvPr/>
        </p:nvSpPr>
        <p:spPr>
          <a:xfrm>
            <a:off x="9976104" y="508040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a:t>
            </a:r>
            <a:endParaRPr lang="en-US" sz="1300" dirty="0"/>
          </a:p>
        </p:txBody>
      </p:sp>
      <p:sp>
        <p:nvSpPr>
          <p:cNvPr id="151" name="Text 149"/>
          <p:cNvSpPr txBox="1"/>
          <p:nvPr/>
        </p:nvSpPr>
        <p:spPr>
          <a:xfrm>
            <a:off x="10543032" y="508040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a:t>
            </a:r>
            <a:endParaRPr lang="en-US" sz="1300" dirty="0"/>
          </a:p>
        </p:txBody>
      </p:sp>
      <p:sp>
        <p:nvSpPr>
          <p:cNvPr id="152" name="Text 150"/>
          <p:cNvSpPr txBox="1"/>
          <p:nvPr/>
        </p:nvSpPr>
        <p:spPr>
          <a:xfrm>
            <a:off x="6208776" y="5362042"/>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53" name="Shape 151"/>
          <p:cNvSpPr/>
          <p:nvPr/>
        </p:nvSpPr>
        <p:spPr>
          <a:xfrm>
            <a:off x="8220456" y="5425410"/>
            <a:ext cx="18288" cy="154899"/>
          </a:xfrm>
          <a:prstGeom prst="rect">
            <a:avLst/>
          </a:prstGeom>
          <a:solidFill>
            <a:srgbClr val="C2352F"/>
          </a:solidFill>
          <a:ln/>
        </p:spPr>
      </p:sp>
      <p:sp>
        <p:nvSpPr>
          <p:cNvPr id="154" name="Text 152"/>
          <p:cNvSpPr txBox="1"/>
          <p:nvPr/>
        </p:nvSpPr>
        <p:spPr>
          <a:xfrm>
            <a:off x="9153144" y="5362042"/>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a:t>
            </a:r>
            <a:endParaRPr lang="en-US" sz="1300" dirty="0"/>
          </a:p>
        </p:txBody>
      </p:sp>
      <p:sp>
        <p:nvSpPr>
          <p:cNvPr id="155" name="Text 153"/>
          <p:cNvSpPr txBox="1"/>
          <p:nvPr/>
        </p:nvSpPr>
        <p:spPr>
          <a:xfrm>
            <a:off x="9976104" y="5362042"/>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156" name="Text 154"/>
          <p:cNvSpPr txBox="1"/>
          <p:nvPr/>
        </p:nvSpPr>
        <p:spPr>
          <a:xfrm>
            <a:off x="10543032" y="5362042"/>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7" name="Shape 155"/>
          <p:cNvSpPr/>
          <p:nvPr/>
        </p:nvSpPr>
        <p:spPr>
          <a:xfrm>
            <a:off x="457200" y="6126480"/>
            <a:ext cx="11274552" cy="364236"/>
          </a:xfrm>
          <a:prstGeom prst="rect">
            <a:avLst/>
          </a:prstGeom>
          <a:solidFill>
            <a:srgbClr val="FBEBEA"/>
          </a:solidFill>
          <a:ln/>
        </p:spPr>
      </p:sp>
      <p:sp>
        <p:nvSpPr>
          <p:cNvPr id="158" name="Text 156"/>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A82B26"/>
                </a:solidFill>
                <a:latin typeface="Inter" pitchFamily="34" charset="0"/>
                <a:ea typeface="Inter" pitchFamily="34" charset="-122"/>
                <a:cs typeface="Inter" pitchFamily="34" charset="-120"/>
              </a:rPr>
              <a:t>29 stores under 15% leave $1,664,385 a year: 26,062 services. Toyota Spokane has the most at $179,701.</a:t>
            </a:r>
            <a:endParaRPr lang="en-US" sz="1550" dirty="0"/>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 name="Shape 11"/>
          <p:cNvSpPr/>
          <p:nvPr/>
        </p:nvSpPr>
        <p:spPr>
          <a:xfrm>
            <a:off x="2670048" y="1787195"/>
            <a:ext cx="877824" cy="211226"/>
          </a:xfrm>
          <a:prstGeom prst="rect">
            <a:avLst/>
          </a:prstGeom>
          <a:solidFill>
            <a:srgbClr val="C2352F"/>
          </a:solidFill>
          <a:ln/>
        </p:spPr>
      </p:sp>
      <p:sp>
        <p:nvSpPr>
          <p:cNvPr id="14" name="Text 12"/>
          <p:cNvSpPr txBox="1"/>
          <p:nvPr/>
        </p:nvSpPr>
        <p:spPr>
          <a:xfrm>
            <a:off x="3602736" y="170078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$151K</a:t>
            </a:r>
            <a:endParaRPr lang="en-US" sz="1300" dirty="0"/>
          </a:p>
        </p:txBody>
      </p:sp>
      <p:sp>
        <p:nvSpPr>
          <p:cNvPr id="15" name="Text 13"/>
          <p:cNvSpPr txBox="1"/>
          <p:nvPr/>
        </p:nvSpPr>
        <p:spPr>
          <a:xfrm>
            <a:off x="4425696" y="170078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16" name="Text 14"/>
          <p:cNvSpPr txBox="1"/>
          <p:nvPr/>
        </p:nvSpPr>
        <p:spPr>
          <a:xfrm>
            <a:off x="4992624" y="170078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1,093</a:t>
            </a:r>
            <a:endParaRPr lang="en-US" sz="1300" dirty="0"/>
          </a:p>
        </p:txBody>
      </p:sp>
      <p:sp>
        <p:nvSpPr>
          <p:cNvPr id="17" name="Text 15"/>
          <p:cNvSpPr txBox="1"/>
          <p:nvPr/>
        </p:nvSpPr>
        <p:spPr>
          <a:xfrm>
            <a:off x="658368"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8" name="Shape 16"/>
          <p:cNvSpPr/>
          <p:nvPr/>
        </p:nvSpPr>
        <p:spPr>
          <a:xfrm>
            <a:off x="2670048" y="2171243"/>
            <a:ext cx="465371" cy="211226"/>
          </a:xfrm>
          <a:prstGeom prst="rect">
            <a:avLst/>
          </a:prstGeom>
          <a:solidFill>
            <a:srgbClr val="C2352F"/>
          </a:solidFill>
          <a:ln/>
        </p:spPr>
      </p:sp>
      <p:sp>
        <p:nvSpPr>
          <p:cNvPr id="19" name="Text 17"/>
          <p:cNvSpPr txBox="1"/>
          <p:nvPr/>
        </p:nvSpPr>
        <p:spPr>
          <a:xfrm>
            <a:off x="3602736" y="2084832"/>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20" name="Text 18"/>
          <p:cNvSpPr txBox="1"/>
          <p:nvPr/>
        </p:nvSpPr>
        <p:spPr>
          <a:xfrm>
            <a:off x="4425696" y="208483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21" name="Text 19"/>
          <p:cNvSpPr txBox="1"/>
          <p:nvPr/>
        </p:nvSpPr>
        <p:spPr>
          <a:xfrm>
            <a:off x="4992624" y="208483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683</a:t>
            </a:r>
            <a:endParaRPr lang="en-US" sz="1300" dirty="0"/>
          </a:p>
        </p:txBody>
      </p:sp>
      <p:sp>
        <p:nvSpPr>
          <p:cNvPr id="22" name="Text 20"/>
          <p:cNvSpPr txBox="1"/>
          <p:nvPr/>
        </p:nvSpPr>
        <p:spPr>
          <a:xfrm>
            <a:off x="658368"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3" name="Shape 21"/>
          <p:cNvSpPr/>
          <p:nvPr/>
        </p:nvSpPr>
        <p:spPr>
          <a:xfrm>
            <a:off x="2670048" y="2555291"/>
            <a:ext cx="453423" cy="211226"/>
          </a:xfrm>
          <a:prstGeom prst="rect">
            <a:avLst/>
          </a:prstGeom>
          <a:solidFill>
            <a:srgbClr val="C2352F"/>
          </a:solidFill>
          <a:ln/>
        </p:spPr>
      </p:sp>
      <p:sp>
        <p:nvSpPr>
          <p:cNvPr id="24" name="Text 22"/>
          <p:cNvSpPr txBox="1"/>
          <p:nvPr/>
        </p:nvSpPr>
        <p:spPr>
          <a:xfrm>
            <a:off x="3602736" y="2468880"/>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$78K</a:t>
            </a:r>
            <a:endParaRPr lang="en-US" sz="1300" dirty="0"/>
          </a:p>
        </p:txBody>
      </p:sp>
      <p:sp>
        <p:nvSpPr>
          <p:cNvPr id="25" name="Text 23"/>
          <p:cNvSpPr txBox="1"/>
          <p:nvPr/>
        </p:nvSpPr>
        <p:spPr>
          <a:xfrm>
            <a:off x="4425696" y="246888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26" name="Text 24"/>
          <p:cNvSpPr txBox="1"/>
          <p:nvPr/>
        </p:nvSpPr>
        <p:spPr>
          <a:xfrm>
            <a:off x="4992624" y="246888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378</a:t>
            </a:r>
            <a:endParaRPr lang="en-US" sz="1300" dirty="0"/>
          </a:p>
        </p:txBody>
      </p:sp>
      <p:sp>
        <p:nvSpPr>
          <p:cNvPr id="27" name="Text 25"/>
          <p:cNvSpPr txBox="1"/>
          <p:nvPr/>
        </p:nvSpPr>
        <p:spPr>
          <a:xfrm>
            <a:off x="658368"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939339"/>
            <a:ext cx="433190" cy="211226"/>
          </a:xfrm>
          <a:prstGeom prst="rect">
            <a:avLst/>
          </a:prstGeom>
          <a:solidFill>
            <a:srgbClr val="C2352F"/>
          </a:solidFill>
          <a:ln/>
        </p:spPr>
      </p:sp>
      <p:sp>
        <p:nvSpPr>
          <p:cNvPr id="29" name="Text 27"/>
          <p:cNvSpPr txBox="1"/>
          <p:nvPr/>
        </p:nvSpPr>
        <p:spPr>
          <a:xfrm>
            <a:off x="3602736" y="2852928"/>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30" name="Text 28"/>
          <p:cNvSpPr txBox="1"/>
          <p:nvPr/>
        </p:nvSpPr>
        <p:spPr>
          <a:xfrm>
            <a:off x="4425696" y="285292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31" name="Text 29"/>
          <p:cNvSpPr txBox="1"/>
          <p:nvPr/>
        </p:nvSpPr>
        <p:spPr>
          <a:xfrm>
            <a:off x="4992624" y="285292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380</a:t>
            </a:r>
            <a:endParaRPr lang="en-US" sz="1300" dirty="0"/>
          </a:p>
        </p:txBody>
      </p:sp>
      <p:sp>
        <p:nvSpPr>
          <p:cNvPr id="32" name="Text 30"/>
          <p:cNvSpPr txBox="1"/>
          <p:nvPr/>
        </p:nvSpPr>
        <p:spPr>
          <a:xfrm>
            <a:off x="658368"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33" name="Shape 31"/>
          <p:cNvSpPr/>
          <p:nvPr/>
        </p:nvSpPr>
        <p:spPr>
          <a:xfrm>
            <a:off x="2670048" y="3323387"/>
            <a:ext cx="391906" cy="211226"/>
          </a:xfrm>
          <a:prstGeom prst="rect">
            <a:avLst/>
          </a:prstGeom>
          <a:solidFill>
            <a:srgbClr val="C2352F"/>
          </a:solidFill>
          <a:ln/>
        </p:spPr>
      </p:sp>
      <p:sp>
        <p:nvSpPr>
          <p:cNvPr id="34" name="Text 32"/>
          <p:cNvSpPr txBox="1"/>
          <p:nvPr/>
        </p:nvSpPr>
        <p:spPr>
          <a:xfrm>
            <a:off x="3602736" y="3236976"/>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$67K</a:t>
            </a:r>
            <a:endParaRPr lang="en-US" sz="1300" dirty="0"/>
          </a:p>
        </p:txBody>
      </p:sp>
      <p:sp>
        <p:nvSpPr>
          <p:cNvPr id="35" name="Text 33"/>
          <p:cNvSpPr txBox="1"/>
          <p:nvPr/>
        </p:nvSpPr>
        <p:spPr>
          <a:xfrm>
            <a:off x="4425696" y="323697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36" name="Text 34"/>
          <p:cNvSpPr txBox="1"/>
          <p:nvPr/>
        </p:nvSpPr>
        <p:spPr>
          <a:xfrm>
            <a:off x="4992624" y="323697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367</a:t>
            </a:r>
            <a:endParaRPr lang="en-US" sz="1300" dirty="0"/>
          </a:p>
        </p:txBody>
      </p:sp>
      <p:sp>
        <p:nvSpPr>
          <p:cNvPr id="37" name="Text 35"/>
          <p:cNvSpPr txBox="1"/>
          <p:nvPr/>
        </p:nvSpPr>
        <p:spPr>
          <a:xfrm>
            <a:off x="658368"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38" name="Shape 36"/>
          <p:cNvSpPr/>
          <p:nvPr/>
        </p:nvSpPr>
        <p:spPr>
          <a:xfrm>
            <a:off x="2670048" y="3707435"/>
            <a:ext cx="330070" cy="211226"/>
          </a:xfrm>
          <a:prstGeom prst="rect">
            <a:avLst/>
          </a:prstGeom>
          <a:solidFill>
            <a:srgbClr val="C2352F"/>
          </a:solidFill>
          <a:ln/>
        </p:spPr>
      </p:sp>
      <p:sp>
        <p:nvSpPr>
          <p:cNvPr id="39" name="Text 37"/>
          <p:cNvSpPr txBox="1"/>
          <p:nvPr/>
        </p:nvSpPr>
        <p:spPr>
          <a:xfrm>
            <a:off x="3602736" y="362102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40" name="Text 38"/>
          <p:cNvSpPr txBox="1"/>
          <p:nvPr/>
        </p:nvSpPr>
        <p:spPr>
          <a:xfrm>
            <a:off x="4425696" y="362102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a:t>
            </a:r>
            <a:endParaRPr lang="en-US" sz="1300" dirty="0"/>
          </a:p>
        </p:txBody>
      </p:sp>
      <p:sp>
        <p:nvSpPr>
          <p:cNvPr id="41" name="Text 39"/>
          <p:cNvSpPr txBox="1"/>
          <p:nvPr/>
        </p:nvSpPr>
        <p:spPr>
          <a:xfrm>
            <a:off x="4992624" y="362102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379</a:t>
            </a:r>
            <a:endParaRPr lang="en-US" sz="1300" dirty="0"/>
          </a:p>
        </p:txBody>
      </p:sp>
      <p:sp>
        <p:nvSpPr>
          <p:cNvPr id="42" name="Text 40"/>
          <p:cNvSpPr txBox="1"/>
          <p:nvPr/>
        </p:nvSpPr>
        <p:spPr>
          <a:xfrm>
            <a:off x="658368"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43" name="Shape 41"/>
          <p:cNvSpPr/>
          <p:nvPr/>
        </p:nvSpPr>
        <p:spPr>
          <a:xfrm>
            <a:off x="2670048" y="4091483"/>
            <a:ext cx="305680" cy="211226"/>
          </a:xfrm>
          <a:prstGeom prst="rect">
            <a:avLst/>
          </a:prstGeom>
          <a:solidFill>
            <a:srgbClr val="C2352F"/>
          </a:solidFill>
          <a:ln/>
        </p:spPr>
      </p:sp>
      <p:sp>
        <p:nvSpPr>
          <p:cNvPr id="44" name="Text 42"/>
          <p:cNvSpPr txBox="1"/>
          <p:nvPr/>
        </p:nvSpPr>
        <p:spPr>
          <a:xfrm>
            <a:off x="3602736" y="4005072"/>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$53K</a:t>
            </a:r>
            <a:endParaRPr lang="en-US" sz="1300" dirty="0"/>
          </a:p>
        </p:txBody>
      </p:sp>
      <p:sp>
        <p:nvSpPr>
          <p:cNvPr id="45" name="Text 43"/>
          <p:cNvSpPr txBox="1"/>
          <p:nvPr/>
        </p:nvSpPr>
        <p:spPr>
          <a:xfrm>
            <a:off x="4425696" y="400507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46" name="Text 44"/>
          <p:cNvSpPr txBox="1"/>
          <p:nvPr/>
        </p:nvSpPr>
        <p:spPr>
          <a:xfrm>
            <a:off x="4992624" y="400507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412</a:t>
            </a:r>
            <a:endParaRPr lang="en-US" sz="1300" dirty="0"/>
          </a:p>
        </p:txBody>
      </p:sp>
      <p:sp>
        <p:nvSpPr>
          <p:cNvPr id="47" name="Text 45"/>
          <p:cNvSpPr txBox="1"/>
          <p:nvPr/>
        </p:nvSpPr>
        <p:spPr>
          <a:xfrm>
            <a:off x="658368"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8" name="Shape 46"/>
          <p:cNvSpPr/>
          <p:nvPr/>
        </p:nvSpPr>
        <p:spPr>
          <a:xfrm>
            <a:off x="2670048" y="4475531"/>
            <a:ext cx="278002" cy="211226"/>
          </a:xfrm>
          <a:prstGeom prst="rect">
            <a:avLst/>
          </a:prstGeom>
          <a:solidFill>
            <a:srgbClr val="C2352F"/>
          </a:solidFill>
          <a:ln/>
        </p:spPr>
      </p:sp>
      <p:sp>
        <p:nvSpPr>
          <p:cNvPr id="49" name="Text 47"/>
          <p:cNvSpPr txBox="1"/>
          <p:nvPr/>
        </p:nvSpPr>
        <p:spPr>
          <a:xfrm>
            <a:off x="3602736" y="4389120"/>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50" name="Text 48"/>
          <p:cNvSpPr txBox="1"/>
          <p:nvPr/>
        </p:nvSpPr>
        <p:spPr>
          <a:xfrm>
            <a:off x="4425696" y="438912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51" name="Text 49"/>
          <p:cNvSpPr txBox="1"/>
          <p:nvPr/>
        </p:nvSpPr>
        <p:spPr>
          <a:xfrm>
            <a:off x="4992624" y="438912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389</a:t>
            </a:r>
            <a:endParaRPr lang="en-US" sz="1300" dirty="0"/>
          </a:p>
        </p:txBody>
      </p:sp>
      <p:sp>
        <p:nvSpPr>
          <p:cNvPr id="52" name="Text 50"/>
          <p:cNvSpPr txBox="1"/>
          <p:nvPr/>
        </p:nvSpPr>
        <p:spPr>
          <a:xfrm>
            <a:off x="658368"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53" name="Shape 51"/>
          <p:cNvSpPr/>
          <p:nvPr/>
        </p:nvSpPr>
        <p:spPr>
          <a:xfrm>
            <a:off x="2670048" y="4859579"/>
            <a:ext cx="187016" cy="211226"/>
          </a:xfrm>
          <a:prstGeom prst="rect">
            <a:avLst/>
          </a:prstGeom>
          <a:solidFill>
            <a:srgbClr val="C2352F"/>
          </a:solidFill>
          <a:ln/>
        </p:spPr>
      </p:sp>
      <p:sp>
        <p:nvSpPr>
          <p:cNvPr id="54" name="Text 52"/>
          <p:cNvSpPr txBox="1"/>
          <p:nvPr/>
        </p:nvSpPr>
        <p:spPr>
          <a:xfrm>
            <a:off x="3602736" y="4773168"/>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55" name="Text 53"/>
          <p:cNvSpPr txBox="1"/>
          <p:nvPr/>
        </p:nvSpPr>
        <p:spPr>
          <a:xfrm>
            <a:off x="4425696" y="477316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56" name="Text 54"/>
          <p:cNvSpPr txBox="1"/>
          <p:nvPr/>
        </p:nvSpPr>
        <p:spPr>
          <a:xfrm>
            <a:off x="4992624" y="477316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287</a:t>
            </a:r>
            <a:endParaRPr lang="en-US" sz="1300" dirty="0"/>
          </a:p>
        </p:txBody>
      </p:sp>
      <p:sp>
        <p:nvSpPr>
          <p:cNvPr id="57" name="Text 55"/>
          <p:cNvSpPr txBox="1"/>
          <p:nvPr/>
        </p:nvSpPr>
        <p:spPr>
          <a:xfrm>
            <a:off x="658368"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8" name="Shape 56"/>
          <p:cNvSpPr/>
          <p:nvPr/>
        </p:nvSpPr>
        <p:spPr>
          <a:xfrm>
            <a:off x="2670048" y="5243627"/>
            <a:ext cx="183429" cy="211226"/>
          </a:xfrm>
          <a:prstGeom prst="rect">
            <a:avLst/>
          </a:prstGeom>
          <a:solidFill>
            <a:srgbClr val="C2352F"/>
          </a:solidFill>
          <a:ln/>
        </p:spPr>
      </p:sp>
      <p:sp>
        <p:nvSpPr>
          <p:cNvPr id="59" name="Text 57"/>
          <p:cNvSpPr txBox="1"/>
          <p:nvPr/>
        </p:nvSpPr>
        <p:spPr>
          <a:xfrm>
            <a:off x="3602736" y="5157216"/>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60" name="Text 58"/>
          <p:cNvSpPr txBox="1"/>
          <p:nvPr/>
        </p:nvSpPr>
        <p:spPr>
          <a:xfrm>
            <a:off x="4425696" y="515721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61" name="Text 59"/>
          <p:cNvSpPr txBox="1"/>
          <p:nvPr/>
        </p:nvSpPr>
        <p:spPr>
          <a:xfrm>
            <a:off x="4992624" y="515721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a:t>
            </a:r>
            <a:endParaRPr lang="en-US" sz="1300" dirty="0"/>
          </a:p>
        </p:txBody>
      </p:sp>
      <p:sp>
        <p:nvSpPr>
          <p:cNvPr id="62" name="Text 60"/>
          <p:cNvSpPr txBox="1"/>
          <p:nvPr/>
        </p:nvSpPr>
        <p:spPr>
          <a:xfrm>
            <a:off x="658368" y="554126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3" name="Shape 61"/>
          <p:cNvSpPr/>
          <p:nvPr/>
        </p:nvSpPr>
        <p:spPr>
          <a:xfrm>
            <a:off x="2670048" y="5627675"/>
            <a:ext cx="145711" cy="211226"/>
          </a:xfrm>
          <a:prstGeom prst="rect">
            <a:avLst/>
          </a:prstGeom>
          <a:solidFill>
            <a:srgbClr val="C2352F"/>
          </a:solidFill>
          <a:ln/>
        </p:spPr>
      </p:sp>
      <p:sp>
        <p:nvSpPr>
          <p:cNvPr id="64" name="Text 62"/>
          <p:cNvSpPr txBox="1"/>
          <p:nvPr/>
        </p:nvSpPr>
        <p:spPr>
          <a:xfrm>
            <a:off x="3602736" y="554126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65" name="Text 63"/>
          <p:cNvSpPr txBox="1"/>
          <p:nvPr/>
        </p:nvSpPr>
        <p:spPr>
          <a:xfrm>
            <a:off x="4425696" y="554126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66" name="Text 64"/>
          <p:cNvSpPr txBox="1"/>
          <p:nvPr/>
        </p:nvSpPr>
        <p:spPr>
          <a:xfrm>
            <a:off x="4992624" y="554126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211</a:t>
            </a:r>
            <a:endParaRPr lang="en-US" sz="1300" dirty="0"/>
          </a:p>
        </p:txBody>
      </p:sp>
      <p:sp>
        <p:nvSpPr>
          <p:cNvPr id="67" name="Text 65"/>
          <p:cNvSpPr txBox="1"/>
          <p:nvPr/>
        </p:nvSpPr>
        <p:spPr>
          <a:xfrm>
            <a:off x="6208776"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68" name="Shape 66"/>
          <p:cNvSpPr/>
          <p:nvPr/>
        </p:nvSpPr>
        <p:spPr>
          <a:xfrm>
            <a:off x="8220456" y="1787195"/>
            <a:ext cx="130420" cy="211226"/>
          </a:xfrm>
          <a:prstGeom prst="rect">
            <a:avLst/>
          </a:prstGeom>
          <a:solidFill>
            <a:srgbClr val="C2352F"/>
          </a:solidFill>
          <a:ln/>
        </p:spPr>
      </p:sp>
      <p:sp>
        <p:nvSpPr>
          <p:cNvPr id="69" name="Text 67"/>
          <p:cNvSpPr txBox="1"/>
          <p:nvPr/>
        </p:nvSpPr>
        <p:spPr>
          <a:xfrm>
            <a:off x="9153144" y="170078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70" name="Text 68"/>
          <p:cNvSpPr txBox="1"/>
          <p:nvPr/>
        </p:nvSpPr>
        <p:spPr>
          <a:xfrm>
            <a:off x="9976104" y="170078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71" name="Text 69"/>
          <p:cNvSpPr txBox="1"/>
          <p:nvPr/>
        </p:nvSpPr>
        <p:spPr>
          <a:xfrm>
            <a:off x="10543032" y="170078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187</a:t>
            </a:r>
            <a:endParaRPr lang="en-US" sz="1300" dirty="0"/>
          </a:p>
        </p:txBody>
      </p:sp>
      <p:sp>
        <p:nvSpPr>
          <p:cNvPr id="72" name="Text 70"/>
          <p:cNvSpPr txBox="1"/>
          <p:nvPr/>
        </p:nvSpPr>
        <p:spPr>
          <a:xfrm>
            <a:off x="6208776"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3" name="Shape 71"/>
          <p:cNvSpPr/>
          <p:nvPr/>
        </p:nvSpPr>
        <p:spPr>
          <a:xfrm>
            <a:off x="8220456" y="2171243"/>
            <a:ext cx="124044" cy="211226"/>
          </a:xfrm>
          <a:prstGeom prst="rect">
            <a:avLst/>
          </a:prstGeom>
          <a:solidFill>
            <a:srgbClr val="C2352F"/>
          </a:solidFill>
          <a:ln/>
        </p:spPr>
      </p:sp>
      <p:sp>
        <p:nvSpPr>
          <p:cNvPr id="74" name="Text 72"/>
          <p:cNvSpPr txBox="1"/>
          <p:nvPr/>
        </p:nvSpPr>
        <p:spPr>
          <a:xfrm>
            <a:off x="9153144" y="2084832"/>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75" name="Text 73"/>
          <p:cNvSpPr txBox="1"/>
          <p:nvPr/>
        </p:nvSpPr>
        <p:spPr>
          <a:xfrm>
            <a:off x="9976104" y="208483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76" name="Text 74"/>
          <p:cNvSpPr txBox="1"/>
          <p:nvPr/>
        </p:nvSpPr>
        <p:spPr>
          <a:xfrm>
            <a:off x="10543032" y="208483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245</a:t>
            </a:r>
            <a:endParaRPr lang="en-US" sz="1300" dirty="0"/>
          </a:p>
        </p:txBody>
      </p:sp>
      <p:sp>
        <p:nvSpPr>
          <p:cNvPr id="77" name="Text 75"/>
          <p:cNvSpPr txBox="1"/>
          <p:nvPr/>
        </p:nvSpPr>
        <p:spPr>
          <a:xfrm>
            <a:off x="6208776"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20456" y="2555291"/>
            <a:ext cx="119989" cy="211226"/>
          </a:xfrm>
          <a:prstGeom prst="rect">
            <a:avLst/>
          </a:prstGeom>
          <a:solidFill>
            <a:srgbClr val="C2352F"/>
          </a:solidFill>
          <a:ln/>
        </p:spPr>
      </p:sp>
      <p:sp>
        <p:nvSpPr>
          <p:cNvPr id="79" name="Text 77"/>
          <p:cNvSpPr txBox="1"/>
          <p:nvPr/>
        </p:nvSpPr>
        <p:spPr>
          <a:xfrm>
            <a:off x="9153144" y="2468880"/>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80" name="Text 78"/>
          <p:cNvSpPr txBox="1"/>
          <p:nvPr/>
        </p:nvSpPr>
        <p:spPr>
          <a:xfrm>
            <a:off x="9976104" y="246888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81" name="Text 79"/>
          <p:cNvSpPr txBox="1"/>
          <p:nvPr/>
        </p:nvSpPr>
        <p:spPr>
          <a:xfrm>
            <a:off x="10543032" y="246888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162</a:t>
            </a:r>
            <a:endParaRPr lang="en-US" sz="1300" dirty="0"/>
          </a:p>
        </p:txBody>
      </p:sp>
      <p:sp>
        <p:nvSpPr>
          <p:cNvPr id="82" name="Text 80"/>
          <p:cNvSpPr txBox="1"/>
          <p:nvPr/>
        </p:nvSpPr>
        <p:spPr>
          <a:xfrm>
            <a:off x="6208776"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83" name="Shape 81"/>
          <p:cNvSpPr/>
          <p:nvPr/>
        </p:nvSpPr>
        <p:spPr>
          <a:xfrm>
            <a:off x="8220456" y="2939339"/>
            <a:ext cx="114513" cy="211226"/>
          </a:xfrm>
          <a:prstGeom prst="rect">
            <a:avLst/>
          </a:prstGeom>
          <a:solidFill>
            <a:srgbClr val="C2352F"/>
          </a:solidFill>
          <a:ln/>
        </p:spPr>
      </p:sp>
      <p:sp>
        <p:nvSpPr>
          <p:cNvPr id="84" name="Text 82"/>
          <p:cNvSpPr txBox="1"/>
          <p:nvPr/>
        </p:nvSpPr>
        <p:spPr>
          <a:xfrm>
            <a:off x="9153144" y="2852928"/>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85" name="Text 83"/>
          <p:cNvSpPr txBox="1"/>
          <p:nvPr/>
        </p:nvSpPr>
        <p:spPr>
          <a:xfrm>
            <a:off x="9976104" y="285292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86" name="Text 84"/>
          <p:cNvSpPr txBox="1"/>
          <p:nvPr/>
        </p:nvSpPr>
        <p:spPr>
          <a:xfrm>
            <a:off x="10543032" y="285292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87" name="Text 85"/>
          <p:cNvSpPr txBox="1"/>
          <p:nvPr/>
        </p:nvSpPr>
        <p:spPr>
          <a:xfrm>
            <a:off x="6208776"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8" name="Shape 86"/>
          <p:cNvSpPr/>
          <p:nvPr/>
        </p:nvSpPr>
        <p:spPr>
          <a:xfrm>
            <a:off x="8220456" y="3323387"/>
            <a:ext cx="102926" cy="211226"/>
          </a:xfrm>
          <a:prstGeom prst="rect">
            <a:avLst/>
          </a:prstGeom>
          <a:solidFill>
            <a:srgbClr val="C2352F"/>
          </a:solidFill>
          <a:ln/>
        </p:spPr>
      </p:sp>
      <p:sp>
        <p:nvSpPr>
          <p:cNvPr id="89" name="Text 87"/>
          <p:cNvSpPr txBox="1"/>
          <p:nvPr/>
        </p:nvSpPr>
        <p:spPr>
          <a:xfrm>
            <a:off x="9153144" y="3236976"/>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90" name="Text 88"/>
          <p:cNvSpPr txBox="1"/>
          <p:nvPr/>
        </p:nvSpPr>
        <p:spPr>
          <a:xfrm>
            <a:off x="9976104" y="323697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91" name="Text 89"/>
          <p:cNvSpPr txBox="1"/>
          <p:nvPr/>
        </p:nvSpPr>
        <p:spPr>
          <a:xfrm>
            <a:off x="10543032" y="323697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a:t>
            </a:r>
            <a:endParaRPr lang="en-US" sz="1300" dirty="0"/>
          </a:p>
        </p:txBody>
      </p:sp>
      <p:sp>
        <p:nvSpPr>
          <p:cNvPr id="92" name="Text 90"/>
          <p:cNvSpPr txBox="1"/>
          <p:nvPr/>
        </p:nvSpPr>
        <p:spPr>
          <a:xfrm>
            <a:off x="6208776"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3" name="Shape 91"/>
          <p:cNvSpPr/>
          <p:nvPr/>
        </p:nvSpPr>
        <p:spPr>
          <a:xfrm>
            <a:off x="8220456" y="3707435"/>
            <a:ext cx="87970" cy="211226"/>
          </a:xfrm>
          <a:prstGeom prst="rect">
            <a:avLst/>
          </a:prstGeom>
          <a:solidFill>
            <a:srgbClr val="C2352F"/>
          </a:solidFill>
          <a:ln/>
        </p:spPr>
      </p:sp>
      <p:sp>
        <p:nvSpPr>
          <p:cNvPr id="94" name="Text 92"/>
          <p:cNvSpPr txBox="1"/>
          <p:nvPr/>
        </p:nvSpPr>
        <p:spPr>
          <a:xfrm>
            <a:off x="9153144" y="362102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95" name="Text 93"/>
          <p:cNvSpPr txBox="1"/>
          <p:nvPr/>
        </p:nvSpPr>
        <p:spPr>
          <a:xfrm>
            <a:off x="9976104" y="362102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96" name="Text 94"/>
          <p:cNvSpPr txBox="1"/>
          <p:nvPr/>
        </p:nvSpPr>
        <p:spPr>
          <a:xfrm>
            <a:off x="10543032" y="362102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97" name="Text 95"/>
          <p:cNvSpPr txBox="1"/>
          <p:nvPr/>
        </p:nvSpPr>
        <p:spPr>
          <a:xfrm>
            <a:off x="6208776"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8" name="Shape 96"/>
          <p:cNvSpPr/>
          <p:nvPr/>
        </p:nvSpPr>
        <p:spPr>
          <a:xfrm>
            <a:off x="8220456" y="4091483"/>
            <a:ext cx="75941" cy="211226"/>
          </a:xfrm>
          <a:prstGeom prst="rect">
            <a:avLst/>
          </a:prstGeom>
          <a:solidFill>
            <a:srgbClr val="C2352F"/>
          </a:solidFill>
          <a:ln/>
        </p:spPr>
      </p:sp>
      <p:sp>
        <p:nvSpPr>
          <p:cNvPr id="99" name="Text 97"/>
          <p:cNvSpPr txBox="1"/>
          <p:nvPr/>
        </p:nvSpPr>
        <p:spPr>
          <a:xfrm>
            <a:off x="9153144" y="4005072"/>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00" name="Text 98"/>
          <p:cNvSpPr txBox="1"/>
          <p:nvPr/>
        </p:nvSpPr>
        <p:spPr>
          <a:xfrm>
            <a:off x="9976104" y="400507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101" name="Text 99"/>
          <p:cNvSpPr txBox="1"/>
          <p:nvPr/>
        </p:nvSpPr>
        <p:spPr>
          <a:xfrm>
            <a:off x="10543032" y="400507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02" name="Text 100"/>
          <p:cNvSpPr txBox="1"/>
          <p:nvPr/>
        </p:nvSpPr>
        <p:spPr>
          <a:xfrm>
            <a:off x="6208776"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3" name="Shape 101"/>
          <p:cNvSpPr/>
          <p:nvPr/>
        </p:nvSpPr>
        <p:spPr>
          <a:xfrm>
            <a:off x="8220456" y="4475531"/>
            <a:ext cx="63505" cy="211226"/>
          </a:xfrm>
          <a:prstGeom prst="rect">
            <a:avLst/>
          </a:prstGeom>
          <a:solidFill>
            <a:srgbClr val="C2352F"/>
          </a:solidFill>
          <a:ln/>
        </p:spPr>
      </p:sp>
      <p:sp>
        <p:nvSpPr>
          <p:cNvPr id="104" name="Text 102"/>
          <p:cNvSpPr txBox="1"/>
          <p:nvPr/>
        </p:nvSpPr>
        <p:spPr>
          <a:xfrm>
            <a:off x="9153144" y="4389120"/>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05" name="Text 103"/>
          <p:cNvSpPr txBox="1"/>
          <p:nvPr/>
        </p:nvSpPr>
        <p:spPr>
          <a:xfrm>
            <a:off x="9976104" y="438912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106" name="Text 104"/>
          <p:cNvSpPr txBox="1"/>
          <p:nvPr/>
        </p:nvSpPr>
        <p:spPr>
          <a:xfrm>
            <a:off x="10543032" y="438912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a:t>
            </a:r>
            <a:endParaRPr lang="en-US" sz="1300" dirty="0"/>
          </a:p>
        </p:txBody>
      </p:sp>
      <p:sp>
        <p:nvSpPr>
          <p:cNvPr id="107" name="Text 105"/>
          <p:cNvSpPr txBox="1"/>
          <p:nvPr/>
        </p:nvSpPr>
        <p:spPr>
          <a:xfrm>
            <a:off x="6208776"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08" name="Shape 106"/>
          <p:cNvSpPr/>
          <p:nvPr/>
        </p:nvSpPr>
        <p:spPr>
          <a:xfrm>
            <a:off x="8220456" y="4859579"/>
            <a:ext cx="25502" cy="211226"/>
          </a:xfrm>
          <a:prstGeom prst="rect">
            <a:avLst/>
          </a:prstGeom>
          <a:solidFill>
            <a:srgbClr val="C2352F"/>
          </a:solidFill>
          <a:ln/>
        </p:spPr>
      </p:sp>
      <p:sp>
        <p:nvSpPr>
          <p:cNvPr id="109" name="Text 107"/>
          <p:cNvSpPr txBox="1"/>
          <p:nvPr/>
        </p:nvSpPr>
        <p:spPr>
          <a:xfrm>
            <a:off x="9153144" y="4773168"/>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$4K</a:t>
            </a:r>
            <a:endParaRPr lang="en-US" sz="1300" dirty="0"/>
          </a:p>
        </p:txBody>
      </p:sp>
      <p:sp>
        <p:nvSpPr>
          <p:cNvPr id="110" name="Text 108"/>
          <p:cNvSpPr txBox="1"/>
          <p:nvPr/>
        </p:nvSpPr>
        <p:spPr>
          <a:xfrm>
            <a:off x="9976104" y="477316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a:t>
            </a:r>
            <a:endParaRPr lang="en-US" sz="1300" dirty="0"/>
          </a:p>
        </p:txBody>
      </p:sp>
      <p:sp>
        <p:nvSpPr>
          <p:cNvPr id="111" name="Text 109"/>
          <p:cNvSpPr txBox="1"/>
          <p:nvPr/>
        </p:nvSpPr>
        <p:spPr>
          <a:xfrm>
            <a:off x="10543032" y="477316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112" name="Text 110"/>
          <p:cNvSpPr txBox="1"/>
          <p:nvPr/>
        </p:nvSpPr>
        <p:spPr>
          <a:xfrm>
            <a:off x="6208776"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13" name="Shape 111"/>
          <p:cNvSpPr/>
          <p:nvPr/>
        </p:nvSpPr>
        <p:spPr>
          <a:xfrm>
            <a:off x="8220456" y="5243627"/>
            <a:ext cx="19240" cy="211226"/>
          </a:xfrm>
          <a:prstGeom prst="rect">
            <a:avLst/>
          </a:prstGeom>
          <a:solidFill>
            <a:srgbClr val="C2352F"/>
          </a:solidFill>
          <a:ln/>
        </p:spPr>
      </p:sp>
      <p:sp>
        <p:nvSpPr>
          <p:cNvPr id="114" name="Text 112"/>
          <p:cNvSpPr txBox="1"/>
          <p:nvPr/>
        </p:nvSpPr>
        <p:spPr>
          <a:xfrm>
            <a:off x="9153144" y="5157216"/>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115" name="Text 113"/>
          <p:cNvSpPr txBox="1"/>
          <p:nvPr/>
        </p:nvSpPr>
        <p:spPr>
          <a:xfrm>
            <a:off x="9976104" y="515721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116" name="Text 114"/>
          <p:cNvSpPr txBox="1"/>
          <p:nvPr/>
        </p:nvSpPr>
        <p:spPr>
          <a:xfrm>
            <a:off x="10543032" y="515721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17" name="Shape 115"/>
          <p:cNvSpPr/>
          <p:nvPr/>
        </p:nvSpPr>
        <p:spPr>
          <a:xfrm>
            <a:off x="457200" y="6126480"/>
            <a:ext cx="11274552" cy="371856"/>
          </a:xfrm>
          <a:prstGeom prst="rect">
            <a:avLst/>
          </a:prstGeom>
          <a:solidFill>
            <a:srgbClr val="FBEBEA"/>
          </a:solidFill>
          <a:ln/>
        </p:spPr>
      </p:sp>
      <p:sp>
        <p:nvSpPr>
          <p:cNvPr id="118" name="Text 11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stores under 10% leave $844,657 a year: 5,919 services. Chevy LV has the most at $150,836.</a:t>
            </a:r>
            <a:endParaRPr lang="en-US" sz="1600" dirty="0"/>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System Service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 name="Shape 11"/>
          <p:cNvSpPr/>
          <p:nvPr/>
        </p:nvSpPr>
        <p:spPr>
          <a:xfrm>
            <a:off x="2670048" y="1773901"/>
            <a:ext cx="877824" cy="178730"/>
          </a:xfrm>
          <a:prstGeom prst="rect">
            <a:avLst/>
          </a:prstGeom>
          <a:solidFill>
            <a:srgbClr val="C2352F"/>
          </a:solidFill>
          <a:ln/>
        </p:spPr>
      </p:sp>
      <p:sp>
        <p:nvSpPr>
          <p:cNvPr id="14" name="Text 12"/>
          <p:cNvSpPr txBox="1"/>
          <p:nvPr/>
        </p:nvSpPr>
        <p:spPr>
          <a:xfrm>
            <a:off x="3602736" y="170078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$142K</a:t>
            </a:r>
            <a:endParaRPr lang="en-US" sz="1300" dirty="0"/>
          </a:p>
        </p:txBody>
      </p:sp>
      <p:sp>
        <p:nvSpPr>
          <p:cNvPr id="15" name="Text 13"/>
          <p:cNvSpPr txBox="1"/>
          <p:nvPr/>
        </p:nvSpPr>
        <p:spPr>
          <a:xfrm>
            <a:off x="4425696"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6" name="Text 14"/>
          <p:cNvSpPr txBox="1"/>
          <p:nvPr/>
        </p:nvSpPr>
        <p:spPr>
          <a:xfrm>
            <a:off x="4992624"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585</a:t>
            </a:r>
            <a:endParaRPr lang="en-US" sz="1300" dirty="0"/>
          </a:p>
        </p:txBody>
      </p:sp>
      <p:sp>
        <p:nvSpPr>
          <p:cNvPr id="17" name="Text 15"/>
          <p:cNvSpPr txBox="1"/>
          <p:nvPr/>
        </p:nvSpPr>
        <p:spPr>
          <a:xfrm>
            <a:off x="658368"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8" name="Shape 16"/>
          <p:cNvSpPr/>
          <p:nvPr/>
        </p:nvSpPr>
        <p:spPr>
          <a:xfrm>
            <a:off x="2670048" y="2098865"/>
            <a:ext cx="793178" cy="178730"/>
          </a:xfrm>
          <a:prstGeom prst="rect">
            <a:avLst/>
          </a:prstGeom>
          <a:solidFill>
            <a:srgbClr val="C2352F"/>
          </a:solidFill>
          <a:ln/>
        </p:spPr>
      </p:sp>
      <p:sp>
        <p:nvSpPr>
          <p:cNvPr id="19" name="Text 17"/>
          <p:cNvSpPr txBox="1"/>
          <p:nvPr/>
        </p:nvSpPr>
        <p:spPr>
          <a:xfrm>
            <a:off x="3602736" y="20257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$129K</a:t>
            </a:r>
            <a:endParaRPr lang="en-US" sz="1300" dirty="0"/>
          </a:p>
        </p:txBody>
      </p:sp>
      <p:sp>
        <p:nvSpPr>
          <p:cNvPr id="20" name="Text 18"/>
          <p:cNvSpPr txBox="1"/>
          <p:nvPr/>
        </p:nvSpPr>
        <p:spPr>
          <a:xfrm>
            <a:off x="4425696"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21" name="Text 19"/>
          <p:cNvSpPr txBox="1"/>
          <p:nvPr/>
        </p:nvSpPr>
        <p:spPr>
          <a:xfrm>
            <a:off x="4992624"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1,056</a:t>
            </a:r>
            <a:endParaRPr lang="en-US" sz="1300" dirty="0"/>
          </a:p>
        </p:txBody>
      </p:sp>
      <p:sp>
        <p:nvSpPr>
          <p:cNvPr id="22" name="Text 20"/>
          <p:cNvSpPr txBox="1"/>
          <p:nvPr/>
        </p:nvSpPr>
        <p:spPr>
          <a:xfrm>
            <a:off x="658368"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3" name="Shape 21"/>
          <p:cNvSpPr/>
          <p:nvPr/>
        </p:nvSpPr>
        <p:spPr>
          <a:xfrm>
            <a:off x="2670048" y="2423828"/>
            <a:ext cx="671699" cy="178730"/>
          </a:xfrm>
          <a:prstGeom prst="rect">
            <a:avLst/>
          </a:prstGeom>
          <a:solidFill>
            <a:srgbClr val="C2352F"/>
          </a:solidFill>
          <a:ln/>
        </p:spPr>
      </p:sp>
      <p:sp>
        <p:nvSpPr>
          <p:cNvPr id="24" name="Text 22"/>
          <p:cNvSpPr txBox="1"/>
          <p:nvPr/>
        </p:nvSpPr>
        <p:spPr>
          <a:xfrm>
            <a:off x="3602736" y="235071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$109K</a:t>
            </a:r>
            <a:endParaRPr lang="en-US" sz="1300" dirty="0"/>
          </a:p>
        </p:txBody>
      </p:sp>
      <p:sp>
        <p:nvSpPr>
          <p:cNvPr id="25" name="Text 23"/>
          <p:cNvSpPr txBox="1"/>
          <p:nvPr/>
        </p:nvSpPr>
        <p:spPr>
          <a:xfrm>
            <a:off x="4425696"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26" name="Text 24"/>
          <p:cNvSpPr txBox="1"/>
          <p:nvPr/>
        </p:nvSpPr>
        <p:spPr>
          <a:xfrm>
            <a:off x="4992624"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1,173</a:t>
            </a:r>
            <a:endParaRPr lang="en-US" sz="1300" dirty="0"/>
          </a:p>
        </p:txBody>
      </p:sp>
      <p:sp>
        <p:nvSpPr>
          <p:cNvPr id="27" name="Text 25"/>
          <p:cNvSpPr txBox="1"/>
          <p:nvPr/>
        </p:nvSpPr>
        <p:spPr>
          <a:xfrm>
            <a:off x="658368"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28" name="Shape 26"/>
          <p:cNvSpPr/>
          <p:nvPr/>
        </p:nvSpPr>
        <p:spPr>
          <a:xfrm>
            <a:off x="2670048" y="2748792"/>
            <a:ext cx="522143" cy="178730"/>
          </a:xfrm>
          <a:prstGeom prst="rect">
            <a:avLst/>
          </a:prstGeom>
          <a:solidFill>
            <a:srgbClr val="C2352F"/>
          </a:solidFill>
          <a:ln/>
        </p:spPr>
      </p:sp>
      <p:sp>
        <p:nvSpPr>
          <p:cNvPr id="29" name="Text 27"/>
          <p:cNvSpPr txBox="1"/>
          <p:nvPr/>
        </p:nvSpPr>
        <p:spPr>
          <a:xfrm>
            <a:off x="3602736" y="267567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$85K</a:t>
            </a:r>
            <a:endParaRPr lang="en-US" sz="1300" dirty="0"/>
          </a:p>
        </p:txBody>
      </p:sp>
      <p:sp>
        <p:nvSpPr>
          <p:cNvPr id="30" name="Text 28"/>
          <p:cNvSpPr txBox="1"/>
          <p:nvPr/>
        </p:nvSpPr>
        <p:spPr>
          <a:xfrm>
            <a:off x="4425696"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31" name="Text 29"/>
          <p:cNvSpPr txBox="1"/>
          <p:nvPr/>
        </p:nvSpPr>
        <p:spPr>
          <a:xfrm>
            <a:off x="4992624"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515</a:t>
            </a:r>
            <a:endParaRPr lang="en-US" sz="1300" dirty="0"/>
          </a:p>
        </p:txBody>
      </p:sp>
      <p:sp>
        <p:nvSpPr>
          <p:cNvPr id="32" name="Text 30"/>
          <p:cNvSpPr txBox="1"/>
          <p:nvPr/>
        </p:nvSpPr>
        <p:spPr>
          <a:xfrm>
            <a:off x="658368"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3" name="Shape 31"/>
          <p:cNvSpPr/>
          <p:nvPr/>
        </p:nvSpPr>
        <p:spPr>
          <a:xfrm>
            <a:off x="2670048" y="3073756"/>
            <a:ext cx="466364" cy="178730"/>
          </a:xfrm>
          <a:prstGeom prst="rect">
            <a:avLst/>
          </a:prstGeom>
          <a:solidFill>
            <a:srgbClr val="C2352F"/>
          </a:solidFill>
          <a:ln/>
        </p:spPr>
      </p:sp>
      <p:sp>
        <p:nvSpPr>
          <p:cNvPr id="34" name="Text 32"/>
          <p:cNvSpPr txBox="1"/>
          <p:nvPr/>
        </p:nvSpPr>
        <p:spPr>
          <a:xfrm>
            <a:off x="3602736" y="3000639"/>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35" name="Text 33"/>
          <p:cNvSpPr txBox="1"/>
          <p:nvPr/>
        </p:nvSpPr>
        <p:spPr>
          <a:xfrm>
            <a:off x="4425696"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36" name="Text 34"/>
          <p:cNvSpPr txBox="1"/>
          <p:nvPr/>
        </p:nvSpPr>
        <p:spPr>
          <a:xfrm>
            <a:off x="4992624"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37" name="Text 35"/>
          <p:cNvSpPr txBox="1"/>
          <p:nvPr/>
        </p:nvSpPr>
        <p:spPr>
          <a:xfrm>
            <a:off x="658368"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8" name="Shape 36"/>
          <p:cNvSpPr/>
          <p:nvPr/>
        </p:nvSpPr>
        <p:spPr>
          <a:xfrm>
            <a:off x="2670048" y="3398719"/>
            <a:ext cx="463132" cy="178730"/>
          </a:xfrm>
          <a:prstGeom prst="rect">
            <a:avLst/>
          </a:prstGeom>
          <a:solidFill>
            <a:srgbClr val="C2352F"/>
          </a:solidFill>
          <a:ln/>
        </p:spPr>
      </p:sp>
      <p:sp>
        <p:nvSpPr>
          <p:cNvPr id="39" name="Text 37"/>
          <p:cNvSpPr txBox="1"/>
          <p:nvPr/>
        </p:nvSpPr>
        <p:spPr>
          <a:xfrm>
            <a:off x="3602736" y="3325602"/>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$75K</a:t>
            </a:r>
            <a:endParaRPr lang="en-US" sz="1300" dirty="0"/>
          </a:p>
        </p:txBody>
      </p:sp>
      <p:sp>
        <p:nvSpPr>
          <p:cNvPr id="40" name="Text 38"/>
          <p:cNvSpPr txBox="1"/>
          <p:nvPr/>
        </p:nvSpPr>
        <p:spPr>
          <a:xfrm>
            <a:off x="4425696"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41" name="Text 39"/>
          <p:cNvSpPr txBox="1"/>
          <p:nvPr/>
        </p:nvSpPr>
        <p:spPr>
          <a:xfrm>
            <a:off x="4992624"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42" name="Text 40"/>
          <p:cNvSpPr txBox="1"/>
          <p:nvPr/>
        </p:nvSpPr>
        <p:spPr>
          <a:xfrm>
            <a:off x="658368"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43" name="Shape 41"/>
          <p:cNvSpPr/>
          <p:nvPr/>
        </p:nvSpPr>
        <p:spPr>
          <a:xfrm>
            <a:off x="2670048" y="3723683"/>
            <a:ext cx="402170" cy="178730"/>
          </a:xfrm>
          <a:prstGeom prst="rect">
            <a:avLst/>
          </a:prstGeom>
          <a:solidFill>
            <a:srgbClr val="C2352F"/>
          </a:solidFill>
          <a:ln/>
        </p:spPr>
      </p:sp>
      <p:sp>
        <p:nvSpPr>
          <p:cNvPr id="44" name="Text 42"/>
          <p:cNvSpPr txBox="1"/>
          <p:nvPr/>
        </p:nvSpPr>
        <p:spPr>
          <a:xfrm>
            <a:off x="3602736" y="3650566"/>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$65K</a:t>
            </a:r>
            <a:endParaRPr lang="en-US" sz="1300" dirty="0"/>
          </a:p>
        </p:txBody>
      </p:sp>
      <p:sp>
        <p:nvSpPr>
          <p:cNvPr id="45" name="Text 43"/>
          <p:cNvSpPr txBox="1"/>
          <p:nvPr/>
        </p:nvSpPr>
        <p:spPr>
          <a:xfrm>
            <a:off x="4425696"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6" name="Text 44"/>
          <p:cNvSpPr txBox="1"/>
          <p:nvPr/>
        </p:nvSpPr>
        <p:spPr>
          <a:xfrm>
            <a:off x="4992624"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a:t>
            </a:r>
            <a:endParaRPr lang="en-US" sz="1300" dirty="0"/>
          </a:p>
        </p:txBody>
      </p:sp>
      <p:sp>
        <p:nvSpPr>
          <p:cNvPr id="47" name="Text 45"/>
          <p:cNvSpPr txBox="1"/>
          <p:nvPr/>
        </p:nvSpPr>
        <p:spPr>
          <a:xfrm>
            <a:off x="658368"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48" name="Shape 46"/>
          <p:cNvSpPr/>
          <p:nvPr/>
        </p:nvSpPr>
        <p:spPr>
          <a:xfrm>
            <a:off x="2670048" y="4048647"/>
            <a:ext cx="392196" cy="178730"/>
          </a:xfrm>
          <a:prstGeom prst="rect">
            <a:avLst/>
          </a:prstGeom>
          <a:solidFill>
            <a:srgbClr val="C2352F"/>
          </a:solidFill>
          <a:ln/>
        </p:spPr>
      </p:sp>
      <p:sp>
        <p:nvSpPr>
          <p:cNvPr id="49" name="Text 47"/>
          <p:cNvSpPr txBox="1"/>
          <p:nvPr/>
        </p:nvSpPr>
        <p:spPr>
          <a:xfrm>
            <a:off x="3602736" y="3975530"/>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$64K</a:t>
            </a:r>
            <a:endParaRPr lang="en-US" sz="1300" dirty="0"/>
          </a:p>
        </p:txBody>
      </p:sp>
      <p:sp>
        <p:nvSpPr>
          <p:cNvPr id="50" name="Text 48"/>
          <p:cNvSpPr txBox="1"/>
          <p:nvPr/>
        </p:nvSpPr>
        <p:spPr>
          <a:xfrm>
            <a:off x="4425696"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51" name="Text 49"/>
          <p:cNvSpPr txBox="1"/>
          <p:nvPr/>
        </p:nvSpPr>
        <p:spPr>
          <a:xfrm>
            <a:off x="4992624"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308</a:t>
            </a:r>
            <a:endParaRPr lang="en-US" sz="1300" dirty="0"/>
          </a:p>
        </p:txBody>
      </p:sp>
      <p:sp>
        <p:nvSpPr>
          <p:cNvPr id="52" name="Text 50"/>
          <p:cNvSpPr txBox="1"/>
          <p:nvPr/>
        </p:nvSpPr>
        <p:spPr>
          <a:xfrm>
            <a:off x="658368"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3" name="Shape 51"/>
          <p:cNvSpPr/>
          <p:nvPr/>
        </p:nvSpPr>
        <p:spPr>
          <a:xfrm>
            <a:off x="2670048" y="4373610"/>
            <a:ext cx="383514" cy="178730"/>
          </a:xfrm>
          <a:prstGeom prst="rect">
            <a:avLst/>
          </a:prstGeom>
          <a:solidFill>
            <a:srgbClr val="C2352F"/>
          </a:solidFill>
          <a:ln/>
        </p:spPr>
      </p:sp>
      <p:sp>
        <p:nvSpPr>
          <p:cNvPr id="54" name="Text 52"/>
          <p:cNvSpPr txBox="1"/>
          <p:nvPr/>
        </p:nvSpPr>
        <p:spPr>
          <a:xfrm>
            <a:off x="3602736" y="430049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55" name="Text 53"/>
          <p:cNvSpPr txBox="1"/>
          <p:nvPr/>
        </p:nvSpPr>
        <p:spPr>
          <a:xfrm>
            <a:off x="4425696"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56" name="Text 54"/>
          <p:cNvSpPr txBox="1"/>
          <p:nvPr/>
        </p:nvSpPr>
        <p:spPr>
          <a:xfrm>
            <a:off x="4992624"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378</a:t>
            </a:r>
            <a:endParaRPr lang="en-US" sz="1300" dirty="0"/>
          </a:p>
        </p:txBody>
      </p:sp>
      <p:sp>
        <p:nvSpPr>
          <p:cNvPr id="57" name="Text 55"/>
          <p:cNvSpPr txBox="1"/>
          <p:nvPr/>
        </p:nvSpPr>
        <p:spPr>
          <a:xfrm>
            <a:off x="658368"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58" name="Shape 56"/>
          <p:cNvSpPr/>
          <p:nvPr/>
        </p:nvSpPr>
        <p:spPr>
          <a:xfrm>
            <a:off x="2670048" y="4698574"/>
            <a:ext cx="381003" cy="178730"/>
          </a:xfrm>
          <a:prstGeom prst="rect">
            <a:avLst/>
          </a:prstGeom>
          <a:solidFill>
            <a:srgbClr val="C2352F"/>
          </a:solidFill>
          <a:ln/>
        </p:spPr>
      </p:sp>
      <p:sp>
        <p:nvSpPr>
          <p:cNvPr id="59" name="Text 57"/>
          <p:cNvSpPr txBox="1"/>
          <p:nvPr/>
        </p:nvSpPr>
        <p:spPr>
          <a:xfrm>
            <a:off x="3602736" y="4625457"/>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60" name="Text 58"/>
          <p:cNvSpPr txBox="1"/>
          <p:nvPr/>
        </p:nvSpPr>
        <p:spPr>
          <a:xfrm>
            <a:off x="4425696"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61" name="Text 59"/>
          <p:cNvSpPr txBox="1"/>
          <p:nvPr/>
        </p:nvSpPr>
        <p:spPr>
          <a:xfrm>
            <a:off x="4992624"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321</a:t>
            </a:r>
            <a:endParaRPr lang="en-US" sz="1300" dirty="0"/>
          </a:p>
        </p:txBody>
      </p:sp>
      <p:sp>
        <p:nvSpPr>
          <p:cNvPr id="62" name="Text 60"/>
          <p:cNvSpPr txBox="1"/>
          <p:nvPr/>
        </p:nvSpPr>
        <p:spPr>
          <a:xfrm>
            <a:off x="658368"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63" name="Shape 61"/>
          <p:cNvSpPr/>
          <p:nvPr/>
        </p:nvSpPr>
        <p:spPr>
          <a:xfrm>
            <a:off x="2670048" y="5023538"/>
            <a:ext cx="369746" cy="178730"/>
          </a:xfrm>
          <a:prstGeom prst="rect">
            <a:avLst/>
          </a:prstGeom>
          <a:solidFill>
            <a:srgbClr val="C2352F"/>
          </a:solidFill>
          <a:ln/>
        </p:spPr>
      </p:sp>
      <p:sp>
        <p:nvSpPr>
          <p:cNvPr id="64" name="Text 62"/>
          <p:cNvSpPr txBox="1"/>
          <p:nvPr/>
        </p:nvSpPr>
        <p:spPr>
          <a:xfrm>
            <a:off x="3602736" y="495042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65" name="Text 63"/>
          <p:cNvSpPr txBox="1"/>
          <p:nvPr/>
        </p:nvSpPr>
        <p:spPr>
          <a:xfrm>
            <a:off x="4425696"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0.7%</a:t>
            </a:r>
            <a:endParaRPr lang="en-US" sz="1300" dirty="0"/>
          </a:p>
        </p:txBody>
      </p:sp>
      <p:sp>
        <p:nvSpPr>
          <p:cNvPr id="66" name="Text 64"/>
          <p:cNvSpPr txBox="1"/>
          <p:nvPr/>
        </p:nvSpPr>
        <p:spPr>
          <a:xfrm>
            <a:off x="4992624"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364</a:t>
            </a:r>
            <a:endParaRPr lang="en-US" sz="1300" dirty="0"/>
          </a:p>
        </p:txBody>
      </p:sp>
      <p:sp>
        <p:nvSpPr>
          <p:cNvPr id="67" name="Text 65"/>
          <p:cNvSpPr txBox="1"/>
          <p:nvPr/>
        </p:nvSpPr>
        <p:spPr>
          <a:xfrm>
            <a:off x="658368"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68" name="Shape 66"/>
          <p:cNvSpPr/>
          <p:nvPr/>
        </p:nvSpPr>
        <p:spPr>
          <a:xfrm>
            <a:off x="2670048" y="5348501"/>
            <a:ext cx="346004" cy="178730"/>
          </a:xfrm>
          <a:prstGeom prst="rect">
            <a:avLst/>
          </a:prstGeom>
          <a:solidFill>
            <a:srgbClr val="C2352F"/>
          </a:solidFill>
          <a:ln/>
        </p:spPr>
      </p:sp>
      <p:sp>
        <p:nvSpPr>
          <p:cNvPr id="69" name="Text 67"/>
          <p:cNvSpPr txBox="1"/>
          <p:nvPr/>
        </p:nvSpPr>
        <p:spPr>
          <a:xfrm>
            <a:off x="3602736" y="527538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70" name="Text 68"/>
          <p:cNvSpPr txBox="1"/>
          <p:nvPr/>
        </p:nvSpPr>
        <p:spPr>
          <a:xfrm>
            <a:off x="4425696"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71" name="Text 69"/>
          <p:cNvSpPr txBox="1"/>
          <p:nvPr/>
        </p:nvSpPr>
        <p:spPr>
          <a:xfrm>
            <a:off x="4992624"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387</a:t>
            </a:r>
            <a:endParaRPr lang="en-US" sz="1300" dirty="0"/>
          </a:p>
        </p:txBody>
      </p:sp>
      <p:sp>
        <p:nvSpPr>
          <p:cNvPr id="72" name="Text 70"/>
          <p:cNvSpPr txBox="1"/>
          <p:nvPr/>
        </p:nvSpPr>
        <p:spPr>
          <a:xfrm>
            <a:off x="658368" y="56003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3" name="Shape 71"/>
          <p:cNvSpPr/>
          <p:nvPr/>
        </p:nvSpPr>
        <p:spPr>
          <a:xfrm>
            <a:off x="2670048" y="5673465"/>
            <a:ext cx="345254" cy="178730"/>
          </a:xfrm>
          <a:prstGeom prst="rect">
            <a:avLst/>
          </a:prstGeom>
          <a:solidFill>
            <a:srgbClr val="C2352F"/>
          </a:solidFill>
          <a:ln/>
        </p:spPr>
      </p:sp>
      <p:sp>
        <p:nvSpPr>
          <p:cNvPr id="74" name="Text 72"/>
          <p:cNvSpPr txBox="1"/>
          <p:nvPr/>
        </p:nvSpPr>
        <p:spPr>
          <a:xfrm>
            <a:off x="3602736" y="56003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75" name="Text 73"/>
          <p:cNvSpPr txBox="1"/>
          <p:nvPr/>
        </p:nvSpPr>
        <p:spPr>
          <a:xfrm>
            <a:off x="4425696" y="56003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76" name="Text 74"/>
          <p:cNvSpPr txBox="1"/>
          <p:nvPr/>
        </p:nvSpPr>
        <p:spPr>
          <a:xfrm>
            <a:off x="4992624" y="56003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340</a:t>
            </a:r>
            <a:endParaRPr lang="en-US" sz="1300" dirty="0"/>
          </a:p>
        </p:txBody>
      </p:sp>
      <p:sp>
        <p:nvSpPr>
          <p:cNvPr id="77" name="Text 75"/>
          <p:cNvSpPr txBox="1"/>
          <p:nvPr/>
        </p:nvSpPr>
        <p:spPr>
          <a:xfrm>
            <a:off x="6208776"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8" name="Shape 76"/>
          <p:cNvSpPr/>
          <p:nvPr/>
        </p:nvSpPr>
        <p:spPr>
          <a:xfrm>
            <a:off x="8220456" y="1773901"/>
            <a:ext cx="317278" cy="178730"/>
          </a:xfrm>
          <a:prstGeom prst="rect">
            <a:avLst/>
          </a:prstGeom>
          <a:solidFill>
            <a:srgbClr val="C2352F"/>
          </a:solidFill>
          <a:ln/>
        </p:spPr>
      </p:sp>
      <p:sp>
        <p:nvSpPr>
          <p:cNvPr id="79" name="Text 77"/>
          <p:cNvSpPr txBox="1"/>
          <p:nvPr/>
        </p:nvSpPr>
        <p:spPr>
          <a:xfrm>
            <a:off x="9153144" y="170078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80" name="Text 78"/>
          <p:cNvSpPr txBox="1"/>
          <p:nvPr/>
        </p:nvSpPr>
        <p:spPr>
          <a:xfrm>
            <a:off x="9976104"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0.8%</a:t>
            </a:r>
            <a:endParaRPr lang="en-US" sz="1300" dirty="0"/>
          </a:p>
        </p:txBody>
      </p:sp>
      <p:sp>
        <p:nvSpPr>
          <p:cNvPr id="81" name="Text 79"/>
          <p:cNvSpPr txBox="1"/>
          <p:nvPr/>
        </p:nvSpPr>
        <p:spPr>
          <a:xfrm>
            <a:off x="10543032"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313</a:t>
            </a:r>
            <a:endParaRPr lang="en-US" sz="1300" dirty="0"/>
          </a:p>
        </p:txBody>
      </p:sp>
      <p:sp>
        <p:nvSpPr>
          <p:cNvPr id="82" name="Text 80"/>
          <p:cNvSpPr txBox="1"/>
          <p:nvPr/>
        </p:nvSpPr>
        <p:spPr>
          <a:xfrm>
            <a:off x="6208776"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83" name="Shape 81"/>
          <p:cNvSpPr/>
          <p:nvPr/>
        </p:nvSpPr>
        <p:spPr>
          <a:xfrm>
            <a:off x="8220456" y="2098865"/>
            <a:ext cx="282708" cy="178730"/>
          </a:xfrm>
          <a:prstGeom prst="rect">
            <a:avLst/>
          </a:prstGeom>
          <a:solidFill>
            <a:srgbClr val="C2352F"/>
          </a:solidFill>
          <a:ln/>
        </p:spPr>
      </p:sp>
      <p:sp>
        <p:nvSpPr>
          <p:cNvPr id="84" name="Text 82"/>
          <p:cNvSpPr txBox="1"/>
          <p:nvPr/>
        </p:nvSpPr>
        <p:spPr>
          <a:xfrm>
            <a:off x="9153144" y="20257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$46K</a:t>
            </a:r>
            <a:endParaRPr lang="en-US" sz="1300" dirty="0"/>
          </a:p>
        </p:txBody>
      </p:sp>
      <p:sp>
        <p:nvSpPr>
          <p:cNvPr id="85" name="Text 83"/>
          <p:cNvSpPr txBox="1"/>
          <p:nvPr/>
        </p:nvSpPr>
        <p:spPr>
          <a:xfrm>
            <a:off x="9976104"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86" name="Text 84"/>
          <p:cNvSpPr txBox="1"/>
          <p:nvPr/>
        </p:nvSpPr>
        <p:spPr>
          <a:xfrm>
            <a:off x="10543032"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170</a:t>
            </a:r>
            <a:endParaRPr lang="en-US" sz="1300" dirty="0"/>
          </a:p>
        </p:txBody>
      </p:sp>
      <p:sp>
        <p:nvSpPr>
          <p:cNvPr id="87" name="Text 85"/>
          <p:cNvSpPr txBox="1"/>
          <p:nvPr/>
        </p:nvSpPr>
        <p:spPr>
          <a:xfrm>
            <a:off x="6208776"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88" name="Shape 86"/>
          <p:cNvSpPr/>
          <p:nvPr/>
        </p:nvSpPr>
        <p:spPr>
          <a:xfrm>
            <a:off x="8220456" y="2423828"/>
            <a:ext cx="208181" cy="178730"/>
          </a:xfrm>
          <a:prstGeom prst="rect">
            <a:avLst/>
          </a:prstGeom>
          <a:solidFill>
            <a:srgbClr val="C2352F"/>
          </a:solidFill>
          <a:ln/>
        </p:spPr>
      </p:sp>
      <p:sp>
        <p:nvSpPr>
          <p:cNvPr id="89" name="Text 87"/>
          <p:cNvSpPr txBox="1"/>
          <p:nvPr/>
        </p:nvSpPr>
        <p:spPr>
          <a:xfrm>
            <a:off x="9153144" y="235071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90" name="Text 88"/>
          <p:cNvSpPr txBox="1"/>
          <p:nvPr/>
        </p:nvSpPr>
        <p:spPr>
          <a:xfrm>
            <a:off x="9976104"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91" name="Text 89"/>
          <p:cNvSpPr txBox="1"/>
          <p:nvPr/>
        </p:nvSpPr>
        <p:spPr>
          <a:xfrm>
            <a:off x="10543032"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92" name="Text 90"/>
          <p:cNvSpPr txBox="1"/>
          <p:nvPr/>
        </p:nvSpPr>
        <p:spPr>
          <a:xfrm>
            <a:off x="6208776"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3" name="Shape 91"/>
          <p:cNvSpPr/>
          <p:nvPr/>
        </p:nvSpPr>
        <p:spPr>
          <a:xfrm>
            <a:off x="8220456" y="2748792"/>
            <a:ext cx="178106" cy="178730"/>
          </a:xfrm>
          <a:prstGeom prst="rect">
            <a:avLst/>
          </a:prstGeom>
          <a:solidFill>
            <a:srgbClr val="C2352F"/>
          </a:solidFill>
          <a:ln/>
        </p:spPr>
      </p:sp>
      <p:sp>
        <p:nvSpPr>
          <p:cNvPr id="94" name="Text 92"/>
          <p:cNvSpPr txBox="1"/>
          <p:nvPr/>
        </p:nvSpPr>
        <p:spPr>
          <a:xfrm>
            <a:off x="9153144" y="267567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95" name="Text 93"/>
          <p:cNvSpPr txBox="1"/>
          <p:nvPr/>
        </p:nvSpPr>
        <p:spPr>
          <a:xfrm>
            <a:off x="9976104"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96" name="Text 94"/>
          <p:cNvSpPr txBox="1"/>
          <p:nvPr/>
        </p:nvSpPr>
        <p:spPr>
          <a:xfrm>
            <a:off x="10543032"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97" name="Text 95"/>
          <p:cNvSpPr txBox="1"/>
          <p:nvPr/>
        </p:nvSpPr>
        <p:spPr>
          <a:xfrm>
            <a:off x="6208776"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98" name="Shape 96"/>
          <p:cNvSpPr/>
          <p:nvPr/>
        </p:nvSpPr>
        <p:spPr>
          <a:xfrm>
            <a:off x="8220456" y="3073756"/>
            <a:ext cx="160825" cy="178730"/>
          </a:xfrm>
          <a:prstGeom prst="rect">
            <a:avLst/>
          </a:prstGeom>
          <a:solidFill>
            <a:srgbClr val="C2352F"/>
          </a:solidFill>
          <a:ln/>
        </p:spPr>
      </p:sp>
      <p:sp>
        <p:nvSpPr>
          <p:cNvPr id="99" name="Text 97"/>
          <p:cNvSpPr txBox="1"/>
          <p:nvPr/>
        </p:nvSpPr>
        <p:spPr>
          <a:xfrm>
            <a:off x="9153144" y="3000639"/>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100" name="Text 98"/>
          <p:cNvSpPr txBox="1"/>
          <p:nvPr/>
        </p:nvSpPr>
        <p:spPr>
          <a:xfrm>
            <a:off x="9976104"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01" name="Text 99"/>
          <p:cNvSpPr txBox="1"/>
          <p:nvPr/>
        </p:nvSpPr>
        <p:spPr>
          <a:xfrm>
            <a:off x="10543032"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174</a:t>
            </a:r>
            <a:endParaRPr lang="en-US" sz="1300" dirty="0"/>
          </a:p>
        </p:txBody>
      </p:sp>
      <p:sp>
        <p:nvSpPr>
          <p:cNvPr id="102" name="Text 100"/>
          <p:cNvSpPr txBox="1"/>
          <p:nvPr/>
        </p:nvSpPr>
        <p:spPr>
          <a:xfrm>
            <a:off x="6208776"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3" name="Shape 101"/>
          <p:cNvSpPr/>
          <p:nvPr/>
        </p:nvSpPr>
        <p:spPr>
          <a:xfrm>
            <a:off x="8220456" y="3398719"/>
            <a:ext cx="153735" cy="178730"/>
          </a:xfrm>
          <a:prstGeom prst="rect">
            <a:avLst/>
          </a:prstGeom>
          <a:solidFill>
            <a:srgbClr val="C2352F"/>
          </a:solidFill>
          <a:ln/>
        </p:spPr>
      </p:sp>
      <p:sp>
        <p:nvSpPr>
          <p:cNvPr id="104" name="Text 102"/>
          <p:cNvSpPr txBox="1"/>
          <p:nvPr/>
        </p:nvSpPr>
        <p:spPr>
          <a:xfrm>
            <a:off x="9153144" y="3325602"/>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05" name="Text 103"/>
          <p:cNvSpPr txBox="1"/>
          <p:nvPr/>
        </p:nvSpPr>
        <p:spPr>
          <a:xfrm>
            <a:off x="9976104"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06" name="Text 104"/>
          <p:cNvSpPr txBox="1"/>
          <p:nvPr/>
        </p:nvSpPr>
        <p:spPr>
          <a:xfrm>
            <a:off x="10543032"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a:t>
            </a:r>
            <a:endParaRPr lang="en-US" sz="1300" dirty="0"/>
          </a:p>
        </p:txBody>
      </p:sp>
      <p:sp>
        <p:nvSpPr>
          <p:cNvPr id="107" name="Text 105"/>
          <p:cNvSpPr txBox="1"/>
          <p:nvPr/>
        </p:nvSpPr>
        <p:spPr>
          <a:xfrm>
            <a:off x="6208776"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08" name="Shape 106"/>
          <p:cNvSpPr/>
          <p:nvPr/>
        </p:nvSpPr>
        <p:spPr>
          <a:xfrm>
            <a:off x="8220456" y="3723683"/>
            <a:ext cx="147027" cy="178730"/>
          </a:xfrm>
          <a:prstGeom prst="rect">
            <a:avLst/>
          </a:prstGeom>
          <a:solidFill>
            <a:srgbClr val="C2352F"/>
          </a:solidFill>
          <a:ln/>
        </p:spPr>
      </p:sp>
      <p:sp>
        <p:nvSpPr>
          <p:cNvPr id="109" name="Text 107"/>
          <p:cNvSpPr txBox="1"/>
          <p:nvPr/>
        </p:nvSpPr>
        <p:spPr>
          <a:xfrm>
            <a:off x="9153144" y="3650566"/>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10" name="Text 108"/>
          <p:cNvSpPr txBox="1"/>
          <p:nvPr/>
        </p:nvSpPr>
        <p:spPr>
          <a:xfrm>
            <a:off x="9976104"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111" name="Text 109"/>
          <p:cNvSpPr txBox="1"/>
          <p:nvPr/>
        </p:nvSpPr>
        <p:spPr>
          <a:xfrm>
            <a:off x="10543032"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12" name="Text 110"/>
          <p:cNvSpPr txBox="1"/>
          <p:nvPr/>
        </p:nvSpPr>
        <p:spPr>
          <a:xfrm>
            <a:off x="6208776"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3" name="Shape 111"/>
          <p:cNvSpPr/>
          <p:nvPr/>
        </p:nvSpPr>
        <p:spPr>
          <a:xfrm>
            <a:off x="8220456" y="4048647"/>
            <a:ext cx="130926" cy="178730"/>
          </a:xfrm>
          <a:prstGeom prst="rect">
            <a:avLst/>
          </a:prstGeom>
          <a:solidFill>
            <a:srgbClr val="C2352F"/>
          </a:solidFill>
          <a:ln/>
        </p:spPr>
      </p:sp>
      <p:sp>
        <p:nvSpPr>
          <p:cNvPr id="114" name="Text 112"/>
          <p:cNvSpPr txBox="1"/>
          <p:nvPr/>
        </p:nvSpPr>
        <p:spPr>
          <a:xfrm>
            <a:off x="9153144" y="3975530"/>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15" name="Text 113"/>
          <p:cNvSpPr txBox="1"/>
          <p:nvPr/>
        </p:nvSpPr>
        <p:spPr>
          <a:xfrm>
            <a:off x="9976104"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116" name="Text 114"/>
          <p:cNvSpPr txBox="1"/>
          <p:nvPr/>
        </p:nvSpPr>
        <p:spPr>
          <a:xfrm>
            <a:off x="10543032"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a:t>
            </a:r>
            <a:endParaRPr lang="en-US" sz="1300" dirty="0"/>
          </a:p>
        </p:txBody>
      </p:sp>
      <p:sp>
        <p:nvSpPr>
          <p:cNvPr id="117" name="Text 115"/>
          <p:cNvSpPr txBox="1"/>
          <p:nvPr/>
        </p:nvSpPr>
        <p:spPr>
          <a:xfrm>
            <a:off x="6208776"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8" name="Shape 116"/>
          <p:cNvSpPr/>
          <p:nvPr/>
        </p:nvSpPr>
        <p:spPr>
          <a:xfrm>
            <a:off x="8220456" y="4373610"/>
            <a:ext cx="116489" cy="178730"/>
          </a:xfrm>
          <a:prstGeom prst="rect">
            <a:avLst/>
          </a:prstGeom>
          <a:solidFill>
            <a:srgbClr val="C2352F"/>
          </a:solidFill>
          <a:ln/>
        </p:spPr>
      </p:sp>
      <p:sp>
        <p:nvSpPr>
          <p:cNvPr id="119" name="Text 117"/>
          <p:cNvSpPr txBox="1"/>
          <p:nvPr/>
        </p:nvSpPr>
        <p:spPr>
          <a:xfrm>
            <a:off x="9153144" y="430049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20" name="Text 118"/>
          <p:cNvSpPr txBox="1"/>
          <p:nvPr/>
        </p:nvSpPr>
        <p:spPr>
          <a:xfrm>
            <a:off x="9976104"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a:t>
            </a:r>
            <a:endParaRPr lang="en-US" sz="1300" dirty="0"/>
          </a:p>
        </p:txBody>
      </p:sp>
      <p:sp>
        <p:nvSpPr>
          <p:cNvPr id="121" name="Text 119"/>
          <p:cNvSpPr txBox="1"/>
          <p:nvPr/>
        </p:nvSpPr>
        <p:spPr>
          <a:xfrm>
            <a:off x="10543032"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a:t>
            </a:r>
            <a:endParaRPr lang="en-US" sz="1300" dirty="0"/>
          </a:p>
        </p:txBody>
      </p:sp>
      <p:sp>
        <p:nvSpPr>
          <p:cNvPr id="122" name="Text 120"/>
          <p:cNvSpPr txBox="1"/>
          <p:nvPr/>
        </p:nvSpPr>
        <p:spPr>
          <a:xfrm>
            <a:off x="6208776"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23" name="Shape 121"/>
          <p:cNvSpPr/>
          <p:nvPr/>
        </p:nvSpPr>
        <p:spPr>
          <a:xfrm>
            <a:off x="8220456" y="4698574"/>
            <a:ext cx="112514" cy="178730"/>
          </a:xfrm>
          <a:prstGeom prst="rect">
            <a:avLst/>
          </a:prstGeom>
          <a:solidFill>
            <a:srgbClr val="C2352F"/>
          </a:solidFill>
          <a:ln/>
        </p:spPr>
      </p:sp>
      <p:sp>
        <p:nvSpPr>
          <p:cNvPr id="124" name="Text 122"/>
          <p:cNvSpPr txBox="1"/>
          <p:nvPr/>
        </p:nvSpPr>
        <p:spPr>
          <a:xfrm>
            <a:off x="9153144" y="4625457"/>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25" name="Text 123"/>
          <p:cNvSpPr txBox="1"/>
          <p:nvPr/>
        </p:nvSpPr>
        <p:spPr>
          <a:xfrm>
            <a:off x="9976104"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a:t>
            </a:r>
            <a:endParaRPr lang="en-US" sz="1300" dirty="0"/>
          </a:p>
        </p:txBody>
      </p:sp>
      <p:sp>
        <p:nvSpPr>
          <p:cNvPr id="126" name="Text 124"/>
          <p:cNvSpPr txBox="1"/>
          <p:nvPr/>
        </p:nvSpPr>
        <p:spPr>
          <a:xfrm>
            <a:off x="10543032"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127" name="Text 125"/>
          <p:cNvSpPr txBox="1"/>
          <p:nvPr/>
        </p:nvSpPr>
        <p:spPr>
          <a:xfrm>
            <a:off x="6208776"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8" name="Shape 126"/>
          <p:cNvSpPr/>
          <p:nvPr/>
        </p:nvSpPr>
        <p:spPr>
          <a:xfrm>
            <a:off x="8220456" y="5023538"/>
            <a:ext cx="78509" cy="178730"/>
          </a:xfrm>
          <a:prstGeom prst="rect">
            <a:avLst/>
          </a:prstGeom>
          <a:solidFill>
            <a:srgbClr val="C2352F"/>
          </a:solidFill>
          <a:ln/>
        </p:spPr>
      </p:sp>
      <p:sp>
        <p:nvSpPr>
          <p:cNvPr id="129" name="Text 127"/>
          <p:cNvSpPr txBox="1"/>
          <p:nvPr/>
        </p:nvSpPr>
        <p:spPr>
          <a:xfrm>
            <a:off x="9153144" y="495042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30" name="Text 128"/>
          <p:cNvSpPr txBox="1"/>
          <p:nvPr/>
        </p:nvSpPr>
        <p:spPr>
          <a:xfrm>
            <a:off x="9976104"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131" name="Text 129"/>
          <p:cNvSpPr txBox="1"/>
          <p:nvPr/>
        </p:nvSpPr>
        <p:spPr>
          <a:xfrm>
            <a:off x="10543032"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2" name="Text 130"/>
          <p:cNvSpPr txBox="1"/>
          <p:nvPr/>
        </p:nvSpPr>
        <p:spPr>
          <a:xfrm>
            <a:off x="6208776"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3" name="Shape 131"/>
          <p:cNvSpPr/>
          <p:nvPr/>
        </p:nvSpPr>
        <p:spPr>
          <a:xfrm>
            <a:off x="8220456" y="5348501"/>
            <a:ext cx="62960" cy="178730"/>
          </a:xfrm>
          <a:prstGeom prst="rect">
            <a:avLst/>
          </a:prstGeom>
          <a:solidFill>
            <a:srgbClr val="C2352F"/>
          </a:solidFill>
          <a:ln/>
        </p:spPr>
      </p:sp>
      <p:sp>
        <p:nvSpPr>
          <p:cNvPr id="134" name="Text 132"/>
          <p:cNvSpPr txBox="1"/>
          <p:nvPr/>
        </p:nvSpPr>
        <p:spPr>
          <a:xfrm>
            <a:off x="9153144" y="527538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35" name="Text 133"/>
          <p:cNvSpPr txBox="1"/>
          <p:nvPr/>
        </p:nvSpPr>
        <p:spPr>
          <a:xfrm>
            <a:off x="9976104"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36" name="Text 134"/>
          <p:cNvSpPr txBox="1"/>
          <p:nvPr/>
        </p:nvSpPr>
        <p:spPr>
          <a:xfrm>
            <a:off x="10543032"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37" name="Text 135"/>
          <p:cNvSpPr txBox="1"/>
          <p:nvPr/>
        </p:nvSpPr>
        <p:spPr>
          <a:xfrm>
            <a:off x="6208776" y="56003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38" name="Shape 136"/>
          <p:cNvSpPr/>
          <p:nvPr/>
        </p:nvSpPr>
        <p:spPr>
          <a:xfrm>
            <a:off x="8220456" y="5673465"/>
            <a:ext cx="18288" cy="178730"/>
          </a:xfrm>
          <a:prstGeom prst="rect">
            <a:avLst/>
          </a:prstGeom>
          <a:solidFill>
            <a:srgbClr val="C2352F"/>
          </a:solidFill>
          <a:ln/>
        </p:spPr>
      </p:sp>
      <p:sp>
        <p:nvSpPr>
          <p:cNvPr id="139" name="Text 137"/>
          <p:cNvSpPr txBox="1"/>
          <p:nvPr/>
        </p:nvSpPr>
        <p:spPr>
          <a:xfrm>
            <a:off x="9153144" y="56003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140" name="Text 138"/>
          <p:cNvSpPr txBox="1"/>
          <p:nvPr/>
        </p:nvSpPr>
        <p:spPr>
          <a:xfrm>
            <a:off x="9976104" y="56003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41" name="Text 139"/>
          <p:cNvSpPr txBox="1"/>
          <p:nvPr/>
        </p:nvSpPr>
        <p:spPr>
          <a:xfrm>
            <a:off x="10543032" y="56003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42" name="Shape 140"/>
          <p:cNvSpPr/>
          <p:nvPr/>
        </p:nvSpPr>
        <p:spPr>
          <a:xfrm>
            <a:off x="457200" y="6126480"/>
            <a:ext cx="11274552" cy="371856"/>
          </a:xfrm>
          <a:prstGeom prst="rect">
            <a:avLst/>
          </a:prstGeom>
          <a:solidFill>
            <a:srgbClr val="FBEBEA"/>
          </a:solidFill>
          <a:ln/>
        </p:spPr>
      </p:sp>
      <p:sp>
        <p:nvSpPr>
          <p:cNvPr id="143" name="Text 14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26 stores under 7.5% leave $1,356,881 a year: 8,527 services. Chevy LV has the most at $142,290.</a:t>
            </a:r>
            <a:endParaRPr lang="en-US" sz="1600" dirty="0"/>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Missed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60350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Below</a:t>
            </a:r>
            <a:endParaRPr lang="en-US" sz="1400" dirty="0"/>
          </a:p>
        </p:txBody>
      </p:sp>
      <p:sp>
        <p:nvSpPr>
          <p:cNvPr id="8" name="Text 6"/>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60350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Below</a:t>
            </a:r>
            <a:endParaRPr lang="en-US" sz="1400" dirty="0"/>
          </a:p>
        </p:txBody>
      </p:sp>
      <p:sp>
        <p:nvSpPr>
          <p:cNvPr id="11" name="Text 9"/>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3" name="Shape 11"/>
          <p:cNvSpPr/>
          <p:nvPr/>
        </p:nvSpPr>
        <p:spPr>
          <a:xfrm>
            <a:off x="2670048" y="1760191"/>
            <a:ext cx="877824" cy="145218"/>
          </a:xfrm>
          <a:prstGeom prst="rect">
            <a:avLst/>
          </a:prstGeom>
          <a:solidFill>
            <a:srgbClr val="C2352F"/>
          </a:solidFill>
          <a:ln/>
        </p:spPr>
      </p:sp>
      <p:sp>
        <p:nvSpPr>
          <p:cNvPr id="14" name="Text 12"/>
          <p:cNvSpPr txBox="1"/>
          <p:nvPr/>
        </p:nvSpPr>
        <p:spPr>
          <a:xfrm>
            <a:off x="3602736" y="1700784"/>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$541K</a:t>
            </a:r>
            <a:endParaRPr lang="en-US" sz="1300" dirty="0"/>
          </a:p>
        </p:txBody>
      </p:sp>
      <p:sp>
        <p:nvSpPr>
          <p:cNvPr id="15" name="Text 13"/>
          <p:cNvSpPr txBox="1"/>
          <p:nvPr/>
        </p:nvSpPr>
        <p:spPr>
          <a:xfrm>
            <a:off x="4425696" y="170078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6" name="Text 14"/>
          <p:cNvSpPr txBox="1"/>
          <p:nvPr/>
        </p:nvSpPr>
        <p:spPr>
          <a:xfrm>
            <a:off x="5029200" y="170078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6,921</a:t>
            </a:r>
            <a:endParaRPr lang="en-US" sz="1300" dirty="0"/>
          </a:p>
        </p:txBody>
      </p:sp>
      <p:sp>
        <p:nvSpPr>
          <p:cNvPr id="17" name="Text 15"/>
          <p:cNvSpPr txBox="1"/>
          <p:nvPr/>
        </p:nvSpPr>
        <p:spPr>
          <a:xfrm>
            <a:off x="658368" y="196481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2670048" y="2024224"/>
            <a:ext cx="770483" cy="145218"/>
          </a:xfrm>
          <a:prstGeom prst="rect">
            <a:avLst/>
          </a:prstGeom>
          <a:solidFill>
            <a:srgbClr val="C2352F"/>
          </a:solidFill>
          <a:ln/>
        </p:spPr>
      </p:sp>
      <p:sp>
        <p:nvSpPr>
          <p:cNvPr id="19" name="Text 17"/>
          <p:cNvSpPr txBox="1"/>
          <p:nvPr/>
        </p:nvSpPr>
        <p:spPr>
          <a:xfrm>
            <a:off x="3602736" y="1964817"/>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$475K</a:t>
            </a:r>
            <a:endParaRPr lang="en-US" sz="1300" dirty="0"/>
          </a:p>
        </p:txBody>
      </p:sp>
      <p:sp>
        <p:nvSpPr>
          <p:cNvPr id="20" name="Text 18"/>
          <p:cNvSpPr txBox="1"/>
          <p:nvPr/>
        </p:nvSpPr>
        <p:spPr>
          <a:xfrm>
            <a:off x="4425696" y="196481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1" name="Text 19"/>
          <p:cNvSpPr txBox="1"/>
          <p:nvPr/>
        </p:nvSpPr>
        <p:spPr>
          <a:xfrm>
            <a:off x="5029200" y="196481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4,236</a:t>
            </a:r>
            <a:endParaRPr lang="en-US" sz="1300" dirty="0"/>
          </a:p>
        </p:txBody>
      </p:sp>
      <p:sp>
        <p:nvSpPr>
          <p:cNvPr id="22" name="Text 20"/>
          <p:cNvSpPr txBox="1"/>
          <p:nvPr/>
        </p:nvSpPr>
        <p:spPr>
          <a:xfrm>
            <a:off x="658368" y="222885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3" name="Shape 21"/>
          <p:cNvSpPr/>
          <p:nvPr/>
        </p:nvSpPr>
        <p:spPr>
          <a:xfrm>
            <a:off x="2670048" y="2288257"/>
            <a:ext cx="577040" cy="145218"/>
          </a:xfrm>
          <a:prstGeom prst="rect">
            <a:avLst/>
          </a:prstGeom>
          <a:solidFill>
            <a:srgbClr val="C2352F"/>
          </a:solidFill>
          <a:ln/>
        </p:spPr>
      </p:sp>
      <p:sp>
        <p:nvSpPr>
          <p:cNvPr id="24" name="Text 22"/>
          <p:cNvSpPr txBox="1"/>
          <p:nvPr/>
        </p:nvSpPr>
        <p:spPr>
          <a:xfrm>
            <a:off x="3602736" y="2228850"/>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$356K</a:t>
            </a:r>
            <a:endParaRPr lang="en-US" sz="1300" dirty="0"/>
          </a:p>
        </p:txBody>
      </p:sp>
      <p:sp>
        <p:nvSpPr>
          <p:cNvPr id="25" name="Text 23"/>
          <p:cNvSpPr txBox="1"/>
          <p:nvPr/>
        </p:nvSpPr>
        <p:spPr>
          <a:xfrm>
            <a:off x="4425696" y="222885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6" name="Text 24"/>
          <p:cNvSpPr txBox="1"/>
          <p:nvPr/>
        </p:nvSpPr>
        <p:spPr>
          <a:xfrm>
            <a:off x="5029200" y="222885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4,659</a:t>
            </a:r>
            <a:endParaRPr lang="en-US" sz="1300" dirty="0"/>
          </a:p>
        </p:txBody>
      </p:sp>
      <p:sp>
        <p:nvSpPr>
          <p:cNvPr id="27" name="Text 25"/>
          <p:cNvSpPr txBox="1"/>
          <p:nvPr/>
        </p:nvSpPr>
        <p:spPr>
          <a:xfrm>
            <a:off x="658368" y="249288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8" name="Shape 26"/>
          <p:cNvSpPr/>
          <p:nvPr/>
        </p:nvSpPr>
        <p:spPr>
          <a:xfrm>
            <a:off x="2670048" y="2552290"/>
            <a:ext cx="501457" cy="145218"/>
          </a:xfrm>
          <a:prstGeom prst="rect">
            <a:avLst/>
          </a:prstGeom>
          <a:solidFill>
            <a:srgbClr val="C2352F"/>
          </a:solidFill>
          <a:ln/>
        </p:spPr>
      </p:sp>
      <p:sp>
        <p:nvSpPr>
          <p:cNvPr id="29" name="Text 27"/>
          <p:cNvSpPr txBox="1"/>
          <p:nvPr/>
        </p:nvSpPr>
        <p:spPr>
          <a:xfrm>
            <a:off x="3602736" y="2492883"/>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$309K</a:t>
            </a:r>
            <a:endParaRPr lang="en-US" sz="1300" dirty="0"/>
          </a:p>
        </p:txBody>
      </p:sp>
      <p:sp>
        <p:nvSpPr>
          <p:cNvPr id="30" name="Text 28"/>
          <p:cNvSpPr txBox="1"/>
          <p:nvPr/>
        </p:nvSpPr>
        <p:spPr>
          <a:xfrm>
            <a:off x="4425696" y="249288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31" name="Text 29"/>
          <p:cNvSpPr txBox="1"/>
          <p:nvPr/>
        </p:nvSpPr>
        <p:spPr>
          <a:xfrm>
            <a:off x="5029200" y="249288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4,054</a:t>
            </a:r>
            <a:endParaRPr lang="en-US" sz="1300" dirty="0"/>
          </a:p>
        </p:txBody>
      </p:sp>
      <p:sp>
        <p:nvSpPr>
          <p:cNvPr id="32" name="Text 30"/>
          <p:cNvSpPr txBox="1"/>
          <p:nvPr/>
        </p:nvSpPr>
        <p:spPr>
          <a:xfrm>
            <a:off x="658368" y="275691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3" name="Shape 31"/>
          <p:cNvSpPr/>
          <p:nvPr/>
        </p:nvSpPr>
        <p:spPr>
          <a:xfrm>
            <a:off x="2670048" y="2816323"/>
            <a:ext cx="400038" cy="145218"/>
          </a:xfrm>
          <a:prstGeom prst="rect">
            <a:avLst/>
          </a:prstGeom>
          <a:solidFill>
            <a:srgbClr val="C2352F"/>
          </a:solidFill>
          <a:ln/>
        </p:spPr>
      </p:sp>
      <p:sp>
        <p:nvSpPr>
          <p:cNvPr id="34" name="Text 32"/>
          <p:cNvSpPr txBox="1"/>
          <p:nvPr/>
        </p:nvSpPr>
        <p:spPr>
          <a:xfrm>
            <a:off x="3602736" y="2756916"/>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$247K</a:t>
            </a:r>
            <a:endParaRPr lang="en-US" sz="1300" dirty="0"/>
          </a:p>
        </p:txBody>
      </p:sp>
      <p:sp>
        <p:nvSpPr>
          <p:cNvPr id="35" name="Text 33"/>
          <p:cNvSpPr txBox="1"/>
          <p:nvPr/>
        </p:nvSpPr>
        <p:spPr>
          <a:xfrm>
            <a:off x="4425696" y="275691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36" name="Text 34"/>
          <p:cNvSpPr txBox="1"/>
          <p:nvPr/>
        </p:nvSpPr>
        <p:spPr>
          <a:xfrm>
            <a:off x="5029200" y="275691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2,278</a:t>
            </a:r>
            <a:endParaRPr lang="en-US" sz="1300" dirty="0"/>
          </a:p>
        </p:txBody>
      </p:sp>
      <p:sp>
        <p:nvSpPr>
          <p:cNvPr id="37" name="Text 35"/>
          <p:cNvSpPr txBox="1"/>
          <p:nvPr/>
        </p:nvSpPr>
        <p:spPr>
          <a:xfrm>
            <a:off x="658368" y="302094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8" name="Shape 36"/>
          <p:cNvSpPr/>
          <p:nvPr/>
        </p:nvSpPr>
        <p:spPr>
          <a:xfrm>
            <a:off x="2670048" y="3080356"/>
            <a:ext cx="397072" cy="145218"/>
          </a:xfrm>
          <a:prstGeom prst="rect">
            <a:avLst/>
          </a:prstGeom>
          <a:solidFill>
            <a:srgbClr val="C2352F"/>
          </a:solidFill>
          <a:ln/>
        </p:spPr>
      </p:sp>
      <p:sp>
        <p:nvSpPr>
          <p:cNvPr id="39" name="Text 37"/>
          <p:cNvSpPr txBox="1"/>
          <p:nvPr/>
        </p:nvSpPr>
        <p:spPr>
          <a:xfrm>
            <a:off x="3602736" y="3020949"/>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$245K</a:t>
            </a:r>
            <a:endParaRPr lang="en-US" sz="1300" dirty="0"/>
          </a:p>
        </p:txBody>
      </p:sp>
      <p:sp>
        <p:nvSpPr>
          <p:cNvPr id="40" name="Text 38"/>
          <p:cNvSpPr txBox="1"/>
          <p:nvPr/>
        </p:nvSpPr>
        <p:spPr>
          <a:xfrm>
            <a:off x="4425696" y="302094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41" name="Text 39"/>
          <p:cNvSpPr txBox="1"/>
          <p:nvPr/>
        </p:nvSpPr>
        <p:spPr>
          <a:xfrm>
            <a:off x="5029200" y="302094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2,484</a:t>
            </a:r>
            <a:endParaRPr lang="en-US" sz="1300" dirty="0"/>
          </a:p>
        </p:txBody>
      </p:sp>
      <p:sp>
        <p:nvSpPr>
          <p:cNvPr id="42" name="Text 40"/>
          <p:cNvSpPr txBox="1"/>
          <p:nvPr/>
        </p:nvSpPr>
        <p:spPr>
          <a:xfrm>
            <a:off x="658368" y="3284982"/>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344389"/>
            <a:ext cx="377578" cy="145218"/>
          </a:xfrm>
          <a:prstGeom prst="rect">
            <a:avLst/>
          </a:prstGeom>
          <a:solidFill>
            <a:srgbClr val="C2352F"/>
          </a:solidFill>
          <a:ln/>
        </p:spPr>
      </p:sp>
      <p:sp>
        <p:nvSpPr>
          <p:cNvPr id="44" name="Text 42"/>
          <p:cNvSpPr txBox="1"/>
          <p:nvPr/>
        </p:nvSpPr>
        <p:spPr>
          <a:xfrm>
            <a:off x="3602736" y="3284982"/>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$233K</a:t>
            </a:r>
            <a:endParaRPr lang="en-US" sz="1300" dirty="0"/>
          </a:p>
        </p:txBody>
      </p:sp>
      <p:sp>
        <p:nvSpPr>
          <p:cNvPr id="45" name="Text 43"/>
          <p:cNvSpPr txBox="1"/>
          <p:nvPr/>
        </p:nvSpPr>
        <p:spPr>
          <a:xfrm>
            <a:off x="4425696" y="3284982"/>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46" name="Text 44"/>
          <p:cNvSpPr txBox="1"/>
          <p:nvPr/>
        </p:nvSpPr>
        <p:spPr>
          <a:xfrm>
            <a:off x="5029200" y="3284982"/>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2,541</a:t>
            </a:r>
            <a:endParaRPr lang="en-US" sz="1300" dirty="0"/>
          </a:p>
        </p:txBody>
      </p:sp>
      <p:sp>
        <p:nvSpPr>
          <p:cNvPr id="47" name="Text 45"/>
          <p:cNvSpPr txBox="1"/>
          <p:nvPr/>
        </p:nvSpPr>
        <p:spPr>
          <a:xfrm>
            <a:off x="658368" y="3549015"/>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48" name="Shape 46"/>
          <p:cNvSpPr/>
          <p:nvPr/>
        </p:nvSpPr>
        <p:spPr>
          <a:xfrm>
            <a:off x="2670048" y="3608422"/>
            <a:ext cx="362401" cy="145218"/>
          </a:xfrm>
          <a:prstGeom prst="rect">
            <a:avLst/>
          </a:prstGeom>
          <a:solidFill>
            <a:srgbClr val="C2352F"/>
          </a:solidFill>
          <a:ln/>
        </p:spPr>
      </p:sp>
      <p:sp>
        <p:nvSpPr>
          <p:cNvPr id="49" name="Text 47"/>
          <p:cNvSpPr txBox="1"/>
          <p:nvPr/>
        </p:nvSpPr>
        <p:spPr>
          <a:xfrm>
            <a:off x="3602736" y="3549015"/>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$223K</a:t>
            </a:r>
            <a:endParaRPr lang="en-US" sz="1300" dirty="0"/>
          </a:p>
        </p:txBody>
      </p:sp>
      <p:sp>
        <p:nvSpPr>
          <p:cNvPr id="50" name="Text 48"/>
          <p:cNvSpPr txBox="1"/>
          <p:nvPr/>
        </p:nvSpPr>
        <p:spPr>
          <a:xfrm>
            <a:off x="4425696" y="3549015"/>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51" name="Text 49"/>
          <p:cNvSpPr txBox="1"/>
          <p:nvPr/>
        </p:nvSpPr>
        <p:spPr>
          <a:xfrm>
            <a:off x="5029200" y="3549015"/>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2,304</a:t>
            </a:r>
            <a:endParaRPr lang="en-US" sz="1300" dirty="0"/>
          </a:p>
        </p:txBody>
      </p:sp>
      <p:sp>
        <p:nvSpPr>
          <p:cNvPr id="52" name="Text 50"/>
          <p:cNvSpPr txBox="1"/>
          <p:nvPr/>
        </p:nvSpPr>
        <p:spPr>
          <a:xfrm>
            <a:off x="658368" y="3813048"/>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53" name="Shape 51"/>
          <p:cNvSpPr/>
          <p:nvPr/>
        </p:nvSpPr>
        <p:spPr>
          <a:xfrm>
            <a:off x="2670048" y="3872455"/>
            <a:ext cx="349788" cy="145218"/>
          </a:xfrm>
          <a:prstGeom prst="rect">
            <a:avLst/>
          </a:prstGeom>
          <a:solidFill>
            <a:srgbClr val="C2352F"/>
          </a:solidFill>
          <a:ln/>
        </p:spPr>
      </p:sp>
      <p:sp>
        <p:nvSpPr>
          <p:cNvPr id="54" name="Text 52"/>
          <p:cNvSpPr txBox="1"/>
          <p:nvPr/>
        </p:nvSpPr>
        <p:spPr>
          <a:xfrm>
            <a:off x="3602736" y="3813048"/>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$216K</a:t>
            </a:r>
            <a:endParaRPr lang="en-US" sz="1300" dirty="0"/>
          </a:p>
        </p:txBody>
      </p:sp>
      <p:sp>
        <p:nvSpPr>
          <p:cNvPr id="55" name="Text 53"/>
          <p:cNvSpPr txBox="1"/>
          <p:nvPr/>
        </p:nvSpPr>
        <p:spPr>
          <a:xfrm>
            <a:off x="4425696" y="3813048"/>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56" name="Text 54"/>
          <p:cNvSpPr txBox="1"/>
          <p:nvPr/>
        </p:nvSpPr>
        <p:spPr>
          <a:xfrm>
            <a:off x="5029200" y="3813048"/>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1,536</a:t>
            </a:r>
            <a:endParaRPr lang="en-US" sz="1300" dirty="0"/>
          </a:p>
        </p:txBody>
      </p:sp>
      <p:sp>
        <p:nvSpPr>
          <p:cNvPr id="57" name="Text 55"/>
          <p:cNvSpPr txBox="1"/>
          <p:nvPr/>
        </p:nvSpPr>
        <p:spPr>
          <a:xfrm>
            <a:off x="658368" y="4077081"/>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58" name="Shape 56"/>
          <p:cNvSpPr/>
          <p:nvPr/>
        </p:nvSpPr>
        <p:spPr>
          <a:xfrm>
            <a:off x="2670048" y="4136488"/>
            <a:ext cx="324451" cy="145218"/>
          </a:xfrm>
          <a:prstGeom prst="rect">
            <a:avLst/>
          </a:prstGeom>
          <a:solidFill>
            <a:srgbClr val="C2352F"/>
          </a:solidFill>
          <a:ln/>
        </p:spPr>
      </p:sp>
      <p:sp>
        <p:nvSpPr>
          <p:cNvPr id="59" name="Text 57"/>
          <p:cNvSpPr txBox="1"/>
          <p:nvPr/>
        </p:nvSpPr>
        <p:spPr>
          <a:xfrm>
            <a:off x="3602736" y="4077081"/>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$200K</a:t>
            </a:r>
            <a:endParaRPr lang="en-US" sz="1300" dirty="0"/>
          </a:p>
        </p:txBody>
      </p:sp>
      <p:sp>
        <p:nvSpPr>
          <p:cNvPr id="60" name="Text 58"/>
          <p:cNvSpPr txBox="1"/>
          <p:nvPr/>
        </p:nvSpPr>
        <p:spPr>
          <a:xfrm>
            <a:off x="4425696" y="4077081"/>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61" name="Text 59"/>
          <p:cNvSpPr txBox="1"/>
          <p:nvPr/>
        </p:nvSpPr>
        <p:spPr>
          <a:xfrm>
            <a:off x="5029200" y="4077081"/>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1,676</a:t>
            </a:r>
            <a:endParaRPr lang="en-US" sz="1300" dirty="0"/>
          </a:p>
        </p:txBody>
      </p:sp>
      <p:sp>
        <p:nvSpPr>
          <p:cNvPr id="62" name="Text 60"/>
          <p:cNvSpPr txBox="1"/>
          <p:nvPr/>
        </p:nvSpPr>
        <p:spPr>
          <a:xfrm>
            <a:off x="658368" y="434111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63" name="Shape 61"/>
          <p:cNvSpPr/>
          <p:nvPr/>
        </p:nvSpPr>
        <p:spPr>
          <a:xfrm>
            <a:off x="2670048" y="4400521"/>
            <a:ext cx="312937" cy="145218"/>
          </a:xfrm>
          <a:prstGeom prst="rect">
            <a:avLst/>
          </a:prstGeom>
          <a:solidFill>
            <a:srgbClr val="C2352F"/>
          </a:solidFill>
          <a:ln/>
        </p:spPr>
      </p:sp>
      <p:sp>
        <p:nvSpPr>
          <p:cNvPr id="64" name="Text 62"/>
          <p:cNvSpPr txBox="1"/>
          <p:nvPr/>
        </p:nvSpPr>
        <p:spPr>
          <a:xfrm>
            <a:off x="3602736" y="4341114"/>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$193K</a:t>
            </a:r>
            <a:endParaRPr lang="en-US" sz="1300" dirty="0"/>
          </a:p>
        </p:txBody>
      </p:sp>
      <p:sp>
        <p:nvSpPr>
          <p:cNvPr id="65" name="Text 63"/>
          <p:cNvSpPr txBox="1"/>
          <p:nvPr/>
        </p:nvSpPr>
        <p:spPr>
          <a:xfrm>
            <a:off x="4425696" y="434111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66" name="Text 64"/>
          <p:cNvSpPr txBox="1"/>
          <p:nvPr/>
        </p:nvSpPr>
        <p:spPr>
          <a:xfrm>
            <a:off x="5029200" y="434111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1,512</a:t>
            </a:r>
            <a:endParaRPr lang="en-US" sz="1300" dirty="0"/>
          </a:p>
        </p:txBody>
      </p:sp>
      <p:sp>
        <p:nvSpPr>
          <p:cNvPr id="67" name="Text 65"/>
          <p:cNvSpPr txBox="1"/>
          <p:nvPr/>
        </p:nvSpPr>
        <p:spPr>
          <a:xfrm>
            <a:off x="658368" y="460514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Shape 66"/>
          <p:cNvSpPr/>
          <p:nvPr/>
        </p:nvSpPr>
        <p:spPr>
          <a:xfrm>
            <a:off x="2670048" y="4664554"/>
            <a:ext cx="310634" cy="145218"/>
          </a:xfrm>
          <a:prstGeom prst="rect">
            <a:avLst/>
          </a:prstGeom>
          <a:solidFill>
            <a:srgbClr val="C2352F"/>
          </a:solidFill>
          <a:ln/>
        </p:spPr>
      </p:sp>
      <p:sp>
        <p:nvSpPr>
          <p:cNvPr id="69" name="Text 67"/>
          <p:cNvSpPr txBox="1"/>
          <p:nvPr/>
        </p:nvSpPr>
        <p:spPr>
          <a:xfrm>
            <a:off x="3602736" y="4605147"/>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$191K</a:t>
            </a:r>
            <a:endParaRPr lang="en-US" sz="1300" dirty="0"/>
          </a:p>
        </p:txBody>
      </p:sp>
      <p:sp>
        <p:nvSpPr>
          <p:cNvPr id="70" name="Text 68"/>
          <p:cNvSpPr txBox="1"/>
          <p:nvPr/>
        </p:nvSpPr>
        <p:spPr>
          <a:xfrm>
            <a:off x="4425696" y="460514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71" name="Text 69"/>
          <p:cNvSpPr txBox="1"/>
          <p:nvPr/>
        </p:nvSpPr>
        <p:spPr>
          <a:xfrm>
            <a:off x="5029200" y="460514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2,329</a:t>
            </a:r>
            <a:endParaRPr lang="en-US" sz="1300" dirty="0"/>
          </a:p>
        </p:txBody>
      </p:sp>
      <p:sp>
        <p:nvSpPr>
          <p:cNvPr id="72" name="Text 70"/>
          <p:cNvSpPr txBox="1"/>
          <p:nvPr/>
        </p:nvSpPr>
        <p:spPr>
          <a:xfrm>
            <a:off x="658368" y="486918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3" name="Shape 71"/>
          <p:cNvSpPr/>
          <p:nvPr/>
        </p:nvSpPr>
        <p:spPr>
          <a:xfrm>
            <a:off x="2670048" y="4928587"/>
            <a:ext cx="239376" cy="145218"/>
          </a:xfrm>
          <a:prstGeom prst="rect">
            <a:avLst/>
          </a:prstGeom>
          <a:solidFill>
            <a:srgbClr val="C2352F"/>
          </a:solidFill>
          <a:ln/>
        </p:spPr>
      </p:sp>
      <p:sp>
        <p:nvSpPr>
          <p:cNvPr id="74" name="Text 72"/>
          <p:cNvSpPr txBox="1"/>
          <p:nvPr/>
        </p:nvSpPr>
        <p:spPr>
          <a:xfrm>
            <a:off x="3602736" y="4869180"/>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$148K</a:t>
            </a:r>
            <a:endParaRPr lang="en-US" sz="1300" dirty="0"/>
          </a:p>
        </p:txBody>
      </p:sp>
      <p:sp>
        <p:nvSpPr>
          <p:cNvPr id="75" name="Text 73"/>
          <p:cNvSpPr txBox="1"/>
          <p:nvPr/>
        </p:nvSpPr>
        <p:spPr>
          <a:xfrm>
            <a:off x="4425696" y="486918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4</a:t>
            </a:r>
            <a:endParaRPr lang="en-US" sz="1300" dirty="0"/>
          </a:p>
        </p:txBody>
      </p:sp>
      <p:sp>
        <p:nvSpPr>
          <p:cNvPr id="76" name="Text 74"/>
          <p:cNvSpPr txBox="1"/>
          <p:nvPr/>
        </p:nvSpPr>
        <p:spPr>
          <a:xfrm>
            <a:off x="5029200" y="486918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1,128</a:t>
            </a:r>
            <a:endParaRPr lang="en-US" sz="1300" dirty="0"/>
          </a:p>
        </p:txBody>
      </p:sp>
      <p:sp>
        <p:nvSpPr>
          <p:cNvPr id="77" name="Text 75"/>
          <p:cNvSpPr txBox="1"/>
          <p:nvPr/>
        </p:nvSpPr>
        <p:spPr>
          <a:xfrm>
            <a:off x="658368" y="513321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8" name="Shape 76"/>
          <p:cNvSpPr/>
          <p:nvPr/>
        </p:nvSpPr>
        <p:spPr>
          <a:xfrm>
            <a:off x="2670048" y="5192620"/>
            <a:ext cx="227976" cy="145218"/>
          </a:xfrm>
          <a:prstGeom prst="rect">
            <a:avLst/>
          </a:prstGeom>
          <a:solidFill>
            <a:srgbClr val="C2352F"/>
          </a:solidFill>
          <a:ln/>
        </p:spPr>
      </p:sp>
      <p:sp>
        <p:nvSpPr>
          <p:cNvPr id="79" name="Text 77"/>
          <p:cNvSpPr txBox="1"/>
          <p:nvPr/>
        </p:nvSpPr>
        <p:spPr>
          <a:xfrm>
            <a:off x="3602736" y="5133213"/>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$141K</a:t>
            </a:r>
            <a:endParaRPr lang="en-US" sz="1300" dirty="0"/>
          </a:p>
        </p:txBody>
      </p:sp>
      <p:sp>
        <p:nvSpPr>
          <p:cNvPr id="80" name="Text 78"/>
          <p:cNvSpPr txBox="1"/>
          <p:nvPr/>
        </p:nvSpPr>
        <p:spPr>
          <a:xfrm>
            <a:off x="4425696" y="513321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81" name="Text 79"/>
          <p:cNvSpPr txBox="1"/>
          <p:nvPr/>
        </p:nvSpPr>
        <p:spPr>
          <a:xfrm>
            <a:off x="5029200" y="513321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1,424</a:t>
            </a:r>
            <a:endParaRPr lang="en-US" sz="1300" dirty="0"/>
          </a:p>
        </p:txBody>
      </p:sp>
      <p:sp>
        <p:nvSpPr>
          <p:cNvPr id="82" name="Text 80"/>
          <p:cNvSpPr txBox="1"/>
          <p:nvPr/>
        </p:nvSpPr>
        <p:spPr>
          <a:xfrm>
            <a:off x="658368" y="539724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3" name="Shape 81"/>
          <p:cNvSpPr/>
          <p:nvPr/>
        </p:nvSpPr>
        <p:spPr>
          <a:xfrm>
            <a:off x="2670048" y="5456653"/>
            <a:ext cx="226887" cy="145218"/>
          </a:xfrm>
          <a:prstGeom prst="rect">
            <a:avLst/>
          </a:prstGeom>
          <a:solidFill>
            <a:srgbClr val="C2352F"/>
          </a:solidFill>
          <a:ln/>
        </p:spPr>
      </p:sp>
      <p:sp>
        <p:nvSpPr>
          <p:cNvPr id="84" name="Text 82"/>
          <p:cNvSpPr txBox="1"/>
          <p:nvPr/>
        </p:nvSpPr>
        <p:spPr>
          <a:xfrm>
            <a:off x="3602736" y="5397246"/>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$140K</a:t>
            </a:r>
            <a:endParaRPr lang="en-US" sz="1300" dirty="0"/>
          </a:p>
        </p:txBody>
      </p:sp>
      <p:sp>
        <p:nvSpPr>
          <p:cNvPr id="85" name="Text 83"/>
          <p:cNvSpPr txBox="1"/>
          <p:nvPr/>
        </p:nvSpPr>
        <p:spPr>
          <a:xfrm>
            <a:off x="4425696" y="539724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86" name="Text 84"/>
          <p:cNvSpPr txBox="1"/>
          <p:nvPr/>
        </p:nvSpPr>
        <p:spPr>
          <a:xfrm>
            <a:off x="5029200" y="539724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1,103</a:t>
            </a:r>
            <a:endParaRPr lang="en-US" sz="1300" dirty="0"/>
          </a:p>
        </p:txBody>
      </p:sp>
      <p:sp>
        <p:nvSpPr>
          <p:cNvPr id="87" name="Text 85"/>
          <p:cNvSpPr txBox="1"/>
          <p:nvPr/>
        </p:nvSpPr>
        <p:spPr>
          <a:xfrm>
            <a:off x="658368" y="566127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88" name="Shape 86"/>
          <p:cNvSpPr/>
          <p:nvPr/>
        </p:nvSpPr>
        <p:spPr>
          <a:xfrm>
            <a:off x="2670048" y="5720686"/>
            <a:ext cx="215338" cy="145218"/>
          </a:xfrm>
          <a:prstGeom prst="rect">
            <a:avLst/>
          </a:prstGeom>
          <a:solidFill>
            <a:srgbClr val="C2352F"/>
          </a:solidFill>
          <a:ln/>
        </p:spPr>
      </p:sp>
      <p:sp>
        <p:nvSpPr>
          <p:cNvPr id="89" name="Text 87"/>
          <p:cNvSpPr txBox="1"/>
          <p:nvPr/>
        </p:nvSpPr>
        <p:spPr>
          <a:xfrm>
            <a:off x="3602736" y="5661279"/>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$133K</a:t>
            </a:r>
            <a:endParaRPr lang="en-US" sz="1300" dirty="0"/>
          </a:p>
        </p:txBody>
      </p:sp>
      <p:sp>
        <p:nvSpPr>
          <p:cNvPr id="90" name="Text 88"/>
          <p:cNvSpPr txBox="1"/>
          <p:nvPr/>
        </p:nvSpPr>
        <p:spPr>
          <a:xfrm>
            <a:off x="4425696" y="566127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91" name="Text 89"/>
          <p:cNvSpPr txBox="1"/>
          <p:nvPr/>
        </p:nvSpPr>
        <p:spPr>
          <a:xfrm>
            <a:off x="5029200" y="566127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1,466</a:t>
            </a:r>
            <a:endParaRPr lang="en-US" sz="1300" dirty="0"/>
          </a:p>
        </p:txBody>
      </p:sp>
      <p:sp>
        <p:nvSpPr>
          <p:cNvPr id="92" name="Text 90"/>
          <p:cNvSpPr txBox="1"/>
          <p:nvPr/>
        </p:nvSpPr>
        <p:spPr>
          <a:xfrm>
            <a:off x="6208776" y="170078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93" name="Shape 91"/>
          <p:cNvSpPr/>
          <p:nvPr/>
        </p:nvSpPr>
        <p:spPr>
          <a:xfrm>
            <a:off x="8220456" y="1760191"/>
            <a:ext cx="204347" cy="145218"/>
          </a:xfrm>
          <a:prstGeom prst="rect">
            <a:avLst/>
          </a:prstGeom>
          <a:solidFill>
            <a:srgbClr val="C2352F"/>
          </a:solidFill>
          <a:ln/>
        </p:spPr>
      </p:sp>
      <p:sp>
        <p:nvSpPr>
          <p:cNvPr id="94" name="Text 92"/>
          <p:cNvSpPr txBox="1"/>
          <p:nvPr/>
        </p:nvSpPr>
        <p:spPr>
          <a:xfrm>
            <a:off x="9153144" y="1700784"/>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$126K</a:t>
            </a:r>
            <a:endParaRPr lang="en-US" sz="1300" dirty="0"/>
          </a:p>
        </p:txBody>
      </p:sp>
      <p:sp>
        <p:nvSpPr>
          <p:cNvPr id="95" name="Text 93"/>
          <p:cNvSpPr txBox="1"/>
          <p:nvPr/>
        </p:nvSpPr>
        <p:spPr>
          <a:xfrm>
            <a:off x="9976104" y="170078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96" name="Text 94"/>
          <p:cNvSpPr txBox="1"/>
          <p:nvPr/>
        </p:nvSpPr>
        <p:spPr>
          <a:xfrm>
            <a:off x="10579608" y="170078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1,273</a:t>
            </a:r>
            <a:endParaRPr lang="en-US" sz="1300" dirty="0"/>
          </a:p>
        </p:txBody>
      </p:sp>
      <p:sp>
        <p:nvSpPr>
          <p:cNvPr id="97" name="Text 95"/>
          <p:cNvSpPr txBox="1"/>
          <p:nvPr/>
        </p:nvSpPr>
        <p:spPr>
          <a:xfrm>
            <a:off x="6208776" y="196481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98" name="Shape 96"/>
          <p:cNvSpPr/>
          <p:nvPr/>
        </p:nvSpPr>
        <p:spPr>
          <a:xfrm>
            <a:off x="8220456" y="2024224"/>
            <a:ext cx="142425" cy="145218"/>
          </a:xfrm>
          <a:prstGeom prst="rect">
            <a:avLst/>
          </a:prstGeom>
          <a:solidFill>
            <a:srgbClr val="C2352F"/>
          </a:solidFill>
          <a:ln/>
        </p:spPr>
      </p:sp>
      <p:sp>
        <p:nvSpPr>
          <p:cNvPr id="99" name="Text 97"/>
          <p:cNvSpPr txBox="1"/>
          <p:nvPr/>
        </p:nvSpPr>
        <p:spPr>
          <a:xfrm>
            <a:off x="9153144" y="1964817"/>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100" name="Text 98"/>
          <p:cNvSpPr txBox="1"/>
          <p:nvPr/>
        </p:nvSpPr>
        <p:spPr>
          <a:xfrm>
            <a:off x="9976104" y="196481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01" name="Text 99"/>
          <p:cNvSpPr txBox="1"/>
          <p:nvPr/>
        </p:nvSpPr>
        <p:spPr>
          <a:xfrm>
            <a:off x="10579608" y="196481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1,070</a:t>
            </a:r>
            <a:endParaRPr lang="en-US" sz="1300" dirty="0"/>
          </a:p>
        </p:txBody>
      </p:sp>
      <p:sp>
        <p:nvSpPr>
          <p:cNvPr id="102" name="Text 100"/>
          <p:cNvSpPr txBox="1"/>
          <p:nvPr/>
        </p:nvSpPr>
        <p:spPr>
          <a:xfrm>
            <a:off x="6208776" y="222885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03" name="Shape 101"/>
          <p:cNvSpPr/>
          <p:nvPr/>
        </p:nvSpPr>
        <p:spPr>
          <a:xfrm>
            <a:off x="8220456" y="2288257"/>
            <a:ext cx="141996" cy="145218"/>
          </a:xfrm>
          <a:prstGeom prst="rect">
            <a:avLst/>
          </a:prstGeom>
          <a:solidFill>
            <a:srgbClr val="C2352F"/>
          </a:solidFill>
          <a:ln/>
        </p:spPr>
      </p:sp>
      <p:sp>
        <p:nvSpPr>
          <p:cNvPr id="104" name="Text 102"/>
          <p:cNvSpPr txBox="1"/>
          <p:nvPr/>
        </p:nvSpPr>
        <p:spPr>
          <a:xfrm>
            <a:off x="9153144" y="2228850"/>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105" name="Text 103"/>
          <p:cNvSpPr txBox="1"/>
          <p:nvPr/>
        </p:nvSpPr>
        <p:spPr>
          <a:xfrm>
            <a:off x="9976104" y="222885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06" name="Text 104"/>
          <p:cNvSpPr txBox="1"/>
          <p:nvPr/>
        </p:nvSpPr>
        <p:spPr>
          <a:xfrm>
            <a:off x="10579608" y="222885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853</a:t>
            </a:r>
            <a:endParaRPr lang="en-US" sz="1300" dirty="0"/>
          </a:p>
        </p:txBody>
      </p:sp>
      <p:sp>
        <p:nvSpPr>
          <p:cNvPr id="107" name="Text 105"/>
          <p:cNvSpPr txBox="1"/>
          <p:nvPr/>
        </p:nvSpPr>
        <p:spPr>
          <a:xfrm>
            <a:off x="6208776" y="249288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08" name="Shape 106"/>
          <p:cNvSpPr/>
          <p:nvPr/>
        </p:nvSpPr>
        <p:spPr>
          <a:xfrm>
            <a:off x="8220456" y="2552290"/>
            <a:ext cx="132425" cy="145218"/>
          </a:xfrm>
          <a:prstGeom prst="rect">
            <a:avLst/>
          </a:prstGeom>
          <a:solidFill>
            <a:srgbClr val="C2352F"/>
          </a:solidFill>
          <a:ln/>
        </p:spPr>
      </p:sp>
      <p:sp>
        <p:nvSpPr>
          <p:cNvPr id="109" name="Text 107"/>
          <p:cNvSpPr txBox="1"/>
          <p:nvPr/>
        </p:nvSpPr>
        <p:spPr>
          <a:xfrm>
            <a:off x="9153144" y="2492883"/>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$82K</a:t>
            </a:r>
            <a:endParaRPr lang="en-US" sz="1300" dirty="0"/>
          </a:p>
        </p:txBody>
      </p:sp>
      <p:sp>
        <p:nvSpPr>
          <p:cNvPr id="110" name="Text 108"/>
          <p:cNvSpPr txBox="1"/>
          <p:nvPr/>
        </p:nvSpPr>
        <p:spPr>
          <a:xfrm>
            <a:off x="9976104" y="249288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11" name="Text 109"/>
          <p:cNvSpPr txBox="1"/>
          <p:nvPr/>
        </p:nvSpPr>
        <p:spPr>
          <a:xfrm>
            <a:off x="10579608" y="249288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956</a:t>
            </a:r>
            <a:endParaRPr lang="en-US" sz="1300" dirty="0"/>
          </a:p>
        </p:txBody>
      </p:sp>
      <p:sp>
        <p:nvSpPr>
          <p:cNvPr id="112" name="Text 110"/>
          <p:cNvSpPr txBox="1"/>
          <p:nvPr/>
        </p:nvSpPr>
        <p:spPr>
          <a:xfrm>
            <a:off x="6208776" y="275691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3" name="Shape 111"/>
          <p:cNvSpPr/>
          <p:nvPr/>
        </p:nvSpPr>
        <p:spPr>
          <a:xfrm>
            <a:off x="8220456" y="2816323"/>
            <a:ext cx="131085" cy="145218"/>
          </a:xfrm>
          <a:prstGeom prst="rect">
            <a:avLst/>
          </a:prstGeom>
          <a:solidFill>
            <a:srgbClr val="C2352F"/>
          </a:solidFill>
          <a:ln/>
        </p:spPr>
      </p:sp>
      <p:sp>
        <p:nvSpPr>
          <p:cNvPr id="114" name="Text 112"/>
          <p:cNvSpPr txBox="1"/>
          <p:nvPr/>
        </p:nvSpPr>
        <p:spPr>
          <a:xfrm>
            <a:off x="9153144" y="2756916"/>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$81K</a:t>
            </a:r>
            <a:endParaRPr lang="en-US" sz="1300" dirty="0"/>
          </a:p>
        </p:txBody>
      </p:sp>
      <p:sp>
        <p:nvSpPr>
          <p:cNvPr id="115" name="Text 113"/>
          <p:cNvSpPr txBox="1"/>
          <p:nvPr/>
        </p:nvSpPr>
        <p:spPr>
          <a:xfrm>
            <a:off x="9976104" y="275691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16" name="Text 114"/>
          <p:cNvSpPr txBox="1"/>
          <p:nvPr/>
        </p:nvSpPr>
        <p:spPr>
          <a:xfrm>
            <a:off x="10579608" y="275691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929</a:t>
            </a:r>
            <a:endParaRPr lang="en-US" sz="1300" dirty="0"/>
          </a:p>
        </p:txBody>
      </p:sp>
      <p:sp>
        <p:nvSpPr>
          <p:cNvPr id="117" name="Text 115"/>
          <p:cNvSpPr txBox="1"/>
          <p:nvPr/>
        </p:nvSpPr>
        <p:spPr>
          <a:xfrm>
            <a:off x="6208776" y="302094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8" name="Shape 116"/>
          <p:cNvSpPr/>
          <p:nvPr/>
        </p:nvSpPr>
        <p:spPr>
          <a:xfrm>
            <a:off x="8220456" y="3080356"/>
            <a:ext cx="130107" cy="145218"/>
          </a:xfrm>
          <a:prstGeom prst="rect">
            <a:avLst/>
          </a:prstGeom>
          <a:solidFill>
            <a:srgbClr val="C2352F"/>
          </a:solidFill>
          <a:ln/>
        </p:spPr>
      </p:sp>
      <p:sp>
        <p:nvSpPr>
          <p:cNvPr id="119" name="Text 117"/>
          <p:cNvSpPr txBox="1"/>
          <p:nvPr/>
        </p:nvSpPr>
        <p:spPr>
          <a:xfrm>
            <a:off x="9153144" y="3020949"/>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120" name="Text 118"/>
          <p:cNvSpPr txBox="1"/>
          <p:nvPr/>
        </p:nvSpPr>
        <p:spPr>
          <a:xfrm>
            <a:off x="9976104" y="302094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21" name="Text 119"/>
          <p:cNvSpPr txBox="1"/>
          <p:nvPr/>
        </p:nvSpPr>
        <p:spPr>
          <a:xfrm>
            <a:off x="10579608" y="302094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757</a:t>
            </a:r>
            <a:endParaRPr lang="en-US" sz="1300" dirty="0"/>
          </a:p>
        </p:txBody>
      </p:sp>
      <p:sp>
        <p:nvSpPr>
          <p:cNvPr id="122" name="Text 120"/>
          <p:cNvSpPr txBox="1"/>
          <p:nvPr/>
        </p:nvSpPr>
        <p:spPr>
          <a:xfrm>
            <a:off x="6208776" y="3284982"/>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23" name="Shape 121"/>
          <p:cNvSpPr/>
          <p:nvPr/>
        </p:nvSpPr>
        <p:spPr>
          <a:xfrm>
            <a:off x="8220456" y="3344389"/>
            <a:ext cx="114763" cy="145218"/>
          </a:xfrm>
          <a:prstGeom prst="rect">
            <a:avLst/>
          </a:prstGeom>
          <a:solidFill>
            <a:srgbClr val="C2352F"/>
          </a:solidFill>
          <a:ln/>
        </p:spPr>
      </p:sp>
      <p:sp>
        <p:nvSpPr>
          <p:cNvPr id="124" name="Text 122"/>
          <p:cNvSpPr txBox="1"/>
          <p:nvPr/>
        </p:nvSpPr>
        <p:spPr>
          <a:xfrm>
            <a:off x="9153144" y="3284982"/>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$71K</a:t>
            </a:r>
            <a:endParaRPr lang="en-US" sz="1300" dirty="0"/>
          </a:p>
        </p:txBody>
      </p:sp>
      <p:sp>
        <p:nvSpPr>
          <p:cNvPr id="125" name="Text 123"/>
          <p:cNvSpPr txBox="1"/>
          <p:nvPr/>
        </p:nvSpPr>
        <p:spPr>
          <a:xfrm>
            <a:off x="9976104" y="3284982"/>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26" name="Text 124"/>
          <p:cNvSpPr txBox="1"/>
          <p:nvPr/>
        </p:nvSpPr>
        <p:spPr>
          <a:xfrm>
            <a:off x="10579608" y="3284982"/>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540</a:t>
            </a:r>
            <a:endParaRPr lang="en-US" sz="1300" dirty="0"/>
          </a:p>
        </p:txBody>
      </p:sp>
      <p:sp>
        <p:nvSpPr>
          <p:cNvPr id="127" name="Text 125"/>
          <p:cNvSpPr txBox="1"/>
          <p:nvPr/>
        </p:nvSpPr>
        <p:spPr>
          <a:xfrm>
            <a:off x="6208776" y="3549015"/>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28" name="Shape 126"/>
          <p:cNvSpPr/>
          <p:nvPr/>
        </p:nvSpPr>
        <p:spPr>
          <a:xfrm>
            <a:off x="8220456" y="3608422"/>
            <a:ext cx="110410" cy="145218"/>
          </a:xfrm>
          <a:prstGeom prst="rect">
            <a:avLst/>
          </a:prstGeom>
          <a:solidFill>
            <a:srgbClr val="C2352F"/>
          </a:solidFill>
          <a:ln/>
        </p:spPr>
      </p:sp>
      <p:sp>
        <p:nvSpPr>
          <p:cNvPr id="129" name="Text 127"/>
          <p:cNvSpPr txBox="1"/>
          <p:nvPr/>
        </p:nvSpPr>
        <p:spPr>
          <a:xfrm>
            <a:off x="9153144" y="3549015"/>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$68K</a:t>
            </a:r>
            <a:endParaRPr lang="en-US" sz="1300" dirty="0"/>
          </a:p>
        </p:txBody>
      </p:sp>
      <p:sp>
        <p:nvSpPr>
          <p:cNvPr id="130" name="Text 128"/>
          <p:cNvSpPr txBox="1"/>
          <p:nvPr/>
        </p:nvSpPr>
        <p:spPr>
          <a:xfrm>
            <a:off x="9976104" y="3549015"/>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31" name="Text 129"/>
          <p:cNvSpPr txBox="1"/>
          <p:nvPr/>
        </p:nvSpPr>
        <p:spPr>
          <a:xfrm>
            <a:off x="10579608" y="3549015"/>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784</a:t>
            </a:r>
            <a:endParaRPr lang="en-US" sz="1300" dirty="0"/>
          </a:p>
        </p:txBody>
      </p:sp>
      <p:sp>
        <p:nvSpPr>
          <p:cNvPr id="132" name="Text 130"/>
          <p:cNvSpPr txBox="1"/>
          <p:nvPr/>
        </p:nvSpPr>
        <p:spPr>
          <a:xfrm>
            <a:off x="6208776" y="3813048"/>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3872455"/>
            <a:ext cx="88627" cy="145218"/>
          </a:xfrm>
          <a:prstGeom prst="rect">
            <a:avLst/>
          </a:prstGeom>
          <a:solidFill>
            <a:srgbClr val="C2352F"/>
          </a:solidFill>
          <a:ln/>
        </p:spPr>
      </p:sp>
      <p:sp>
        <p:nvSpPr>
          <p:cNvPr id="134" name="Text 132"/>
          <p:cNvSpPr txBox="1"/>
          <p:nvPr/>
        </p:nvSpPr>
        <p:spPr>
          <a:xfrm>
            <a:off x="9153144" y="3813048"/>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$55K</a:t>
            </a:r>
            <a:endParaRPr lang="en-US" sz="1300" dirty="0"/>
          </a:p>
        </p:txBody>
      </p:sp>
      <p:sp>
        <p:nvSpPr>
          <p:cNvPr id="135" name="Text 133"/>
          <p:cNvSpPr txBox="1"/>
          <p:nvPr/>
        </p:nvSpPr>
        <p:spPr>
          <a:xfrm>
            <a:off x="9976104" y="3813048"/>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36" name="Text 134"/>
          <p:cNvSpPr txBox="1"/>
          <p:nvPr/>
        </p:nvSpPr>
        <p:spPr>
          <a:xfrm>
            <a:off x="10579608" y="3813048"/>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426</a:t>
            </a:r>
            <a:endParaRPr lang="en-US" sz="1300" dirty="0"/>
          </a:p>
        </p:txBody>
      </p:sp>
      <p:sp>
        <p:nvSpPr>
          <p:cNvPr id="137" name="Text 135"/>
          <p:cNvSpPr txBox="1"/>
          <p:nvPr/>
        </p:nvSpPr>
        <p:spPr>
          <a:xfrm>
            <a:off x="6208776" y="4077081"/>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8" name="Shape 136"/>
          <p:cNvSpPr/>
          <p:nvPr/>
        </p:nvSpPr>
        <p:spPr>
          <a:xfrm>
            <a:off x="8220456" y="4136488"/>
            <a:ext cx="78404" cy="145218"/>
          </a:xfrm>
          <a:prstGeom prst="rect">
            <a:avLst/>
          </a:prstGeom>
          <a:solidFill>
            <a:srgbClr val="C2352F"/>
          </a:solidFill>
          <a:ln/>
        </p:spPr>
      </p:sp>
      <p:sp>
        <p:nvSpPr>
          <p:cNvPr id="139" name="Text 137"/>
          <p:cNvSpPr txBox="1"/>
          <p:nvPr/>
        </p:nvSpPr>
        <p:spPr>
          <a:xfrm>
            <a:off x="9153144" y="4077081"/>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40" name="Text 138"/>
          <p:cNvSpPr txBox="1"/>
          <p:nvPr/>
        </p:nvSpPr>
        <p:spPr>
          <a:xfrm>
            <a:off x="9976104" y="4077081"/>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41" name="Text 139"/>
          <p:cNvSpPr txBox="1"/>
          <p:nvPr/>
        </p:nvSpPr>
        <p:spPr>
          <a:xfrm>
            <a:off x="10579608" y="4077081"/>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42" name="Text 140"/>
          <p:cNvSpPr txBox="1"/>
          <p:nvPr/>
        </p:nvSpPr>
        <p:spPr>
          <a:xfrm>
            <a:off x="6208776" y="434111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43" name="Shape 141"/>
          <p:cNvSpPr/>
          <p:nvPr/>
        </p:nvSpPr>
        <p:spPr>
          <a:xfrm>
            <a:off x="8220456" y="4400521"/>
            <a:ext cx="62086" cy="145218"/>
          </a:xfrm>
          <a:prstGeom prst="rect">
            <a:avLst/>
          </a:prstGeom>
          <a:solidFill>
            <a:srgbClr val="C2352F"/>
          </a:solidFill>
          <a:ln/>
        </p:spPr>
      </p:sp>
      <p:sp>
        <p:nvSpPr>
          <p:cNvPr id="144" name="Text 142"/>
          <p:cNvSpPr txBox="1"/>
          <p:nvPr/>
        </p:nvSpPr>
        <p:spPr>
          <a:xfrm>
            <a:off x="9153144" y="4341114"/>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145" name="Text 143"/>
          <p:cNvSpPr txBox="1"/>
          <p:nvPr/>
        </p:nvSpPr>
        <p:spPr>
          <a:xfrm>
            <a:off x="9976104" y="434111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46" name="Text 144"/>
          <p:cNvSpPr txBox="1"/>
          <p:nvPr/>
        </p:nvSpPr>
        <p:spPr>
          <a:xfrm>
            <a:off x="10579608" y="434111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600</a:t>
            </a:r>
            <a:endParaRPr lang="en-US" sz="1300" dirty="0"/>
          </a:p>
        </p:txBody>
      </p:sp>
      <p:sp>
        <p:nvSpPr>
          <p:cNvPr id="147" name="Text 145"/>
          <p:cNvSpPr txBox="1"/>
          <p:nvPr/>
        </p:nvSpPr>
        <p:spPr>
          <a:xfrm>
            <a:off x="6208776" y="460514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8" name="Shape 146"/>
          <p:cNvSpPr/>
          <p:nvPr/>
        </p:nvSpPr>
        <p:spPr>
          <a:xfrm>
            <a:off x="8220456" y="4664554"/>
            <a:ext cx="54750" cy="145218"/>
          </a:xfrm>
          <a:prstGeom prst="rect">
            <a:avLst/>
          </a:prstGeom>
          <a:solidFill>
            <a:srgbClr val="C2352F"/>
          </a:solidFill>
          <a:ln/>
        </p:spPr>
      </p:sp>
      <p:sp>
        <p:nvSpPr>
          <p:cNvPr id="149" name="Text 147"/>
          <p:cNvSpPr txBox="1"/>
          <p:nvPr/>
        </p:nvSpPr>
        <p:spPr>
          <a:xfrm>
            <a:off x="9153144" y="4605147"/>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50" name="Text 148"/>
          <p:cNvSpPr txBox="1"/>
          <p:nvPr/>
        </p:nvSpPr>
        <p:spPr>
          <a:xfrm>
            <a:off x="9976104" y="460514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51" name="Text 149"/>
          <p:cNvSpPr txBox="1"/>
          <p:nvPr/>
        </p:nvSpPr>
        <p:spPr>
          <a:xfrm>
            <a:off x="10579608" y="460514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152" name="Text 150"/>
          <p:cNvSpPr txBox="1"/>
          <p:nvPr/>
        </p:nvSpPr>
        <p:spPr>
          <a:xfrm>
            <a:off x="6208776" y="486918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53" name="Shape 151"/>
          <p:cNvSpPr/>
          <p:nvPr/>
        </p:nvSpPr>
        <p:spPr>
          <a:xfrm>
            <a:off x="8220456" y="4928587"/>
            <a:ext cx="38667" cy="145218"/>
          </a:xfrm>
          <a:prstGeom prst="rect">
            <a:avLst/>
          </a:prstGeom>
          <a:solidFill>
            <a:srgbClr val="C2352F"/>
          </a:solidFill>
          <a:ln/>
        </p:spPr>
      </p:sp>
      <p:sp>
        <p:nvSpPr>
          <p:cNvPr id="154" name="Text 152"/>
          <p:cNvSpPr txBox="1"/>
          <p:nvPr/>
        </p:nvSpPr>
        <p:spPr>
          <a:xfrm>
            <a:off x="9153144" y="4869180"/>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55" name="Text 153"/>
          <p:cNvSpPr txBox="1"/>
          <p:nvPr/>
        </p:nvSpPr>
        <p:spPr>
          <a:xfrm>
            <a:off x="9976104" y="486918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56" name="Text 154"/>
          <p:cNvSpPr txBox="1"/>
          <p:nvPr/>
        </p:nvSpPr>
        <p:spPr>
          <a:xfrm>
            <a:off x="10579608" y="486918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57" name="Text 155"/>
          <p:cNvSpPr txBox="1"/>
          <p:nvPr/>
        </p:nvSpPr>
        <p:spPr>
          <a:xfrm>
            <a:off x="6208776" y="513321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58" name="Shape 156"/>
          <p:cNvSpPr/>
          <p:nvPr/>
        </p:nvSpPr>
        <p:spPr>
          <a:xfrm>
            <a:off x="8220456" y="5192620"/>
            <a:ext cx="19661" cy="145218"/>
          </a:xfrm>
          <a:prstGeom prst="rect">
            <a:avLst/>
          </a:prstGeom>
          <a:solidFill>
            <a:srgbClr val="C2352F"/>
          </a:solidFill>
          <a:ln/>
        </p:spPr>
      </p:sp>
      <p:sp>
        <p:nvSpPr>
          <p:cNvPr id="159" name="Text 157"/>
          <p:cNvSpPr txBox="1"/>
          <p:nvPr/>
        </p:nvSpPr>
        <p:spPr>
          <a:xfrm>
            <a:off x="9153144" y="5133213"/>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$12K</a:t>
            </a:r>
            <a:endParaRPr lang="en-US" sz="1300" dirty="0"/>
          </a:p>
        </p:txBody>
      </p:sp>
      <p:sp>
        <p:nvSpPr>
          <p:cNvPr id="160" name="Text 158"/>
          <p:cNvSpPr txBox="1"/>
          <p:nvPr/>
        </p:nvSpPr>
        <p:spPr>
          <a:xfrm>
            <a:off x="9976104" y="513321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4</a:t>
            </a:r>
            <a:endParaRPr lang="en-US" sz="1300" dirty="0"/>
          </a:p>
        </p:txBody>
      </p:sp>
      <p:sp>
        <p:nvSpPr>
          <p:cNvPr id="161" name="Text 159"/>
          <p:cNvSpPr txBox="1"/>
          <p:nvPr/>
        </p:nvSpPr>
        <p:spPr>
          <a:xfrm>
            <a:off x="10579608" y="513321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162" name="Text 160"/>
          <p:cNvSpPr txBox="1"/>
          <p:nvPr/>
        </p:nvSpPr>
        <p:spPr>
          <a:xfrm>
            <a:off x="6208776" y="539724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63" name="Shape 161"/>
          <p:cNvSpPr/>
          <p:nvPr/>
        </p:nvSpPr>
        <p:spPr>
          <a:xfrm>
            <a:off x="8220456" y="5456653"/>
            <a:ext cx="18288" cy="145218"/>
          </a:xfrm>
          <a:prstGeom prst="rect">
            <a:avLst/>
          </a:prstGeom>
          <a:solidFill>
            <a:srgbClr val="C2352F"/>
          </a:solidFill>
          <a:ln/>
        </p:spPr>
      </p:sp>
      <p:sp>
        <p:nvSpPr>
          <p:cNvPr id="164" name="Text 162"/>
          <p:cNvSpPr txBox="1"/>
          <p:nvPr/>
        </p:nvSpPr>
        <p:spPr>
          <a:xfrm>
            <a:off x="9153144" y="5397246"/>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65" name="Text 163"/>
          <p:cNvSpPr txBox="1"/>
          <p:nvPr/>
        </p:nvSpPr>
        <p:spPr>
          <a:xfrm>
            <a:off x="9976104" y="539724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66" name="Text 164"/>
          <p:cNvSpPr txBox="1"/>
          <p:nvPr/>
        </p:nvSpPr>
        <p:spPr>
          <a:xfrm>
            <a:off x="10579608" y="539724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67" name="Text 165"/>
          <p:cNvSpPr txBox="1"/>
          <p:nvPr/>
        </p:nvSpPr>
        <p:spPr>
          <a:xfrm>
            <a:off x="6208776" y="566127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220456" y="5720686"/>
            <a:ext cx="18288" cy="145218"/>
          </a:xfrm>
          <a:prstGeom prst="rect">
            <a:avLst/>
          </a:prstGeom>
          <a:solidFill>
            <a:srgbClr val="C2352F"/>
          </a:solidFill>
          <a:ln/>
        </p:spPr>
      </p:sp>
      <p:sp>
        <p:nvSpPr>
          <p:cNvPr id="169" name="Text 167"/>
          <p:cNvSpPr txBox="1"/>
          <p:nvPr/>
        </p:nvSpPr>
        <p:spPr>
          <a:xfrm>
            <a:off x="9153144" y="5661279"/>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170" name="Text 168"/>
          <p:cNvSpPr txBox="1"/>
          <p:nvPr/>
        </p:nvSpPr>
        <p:spPr>
          <a:xfrm>
            <a:off x="9976104" y="566127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71" name="Text 169"/>
          <p:cNvSpPr txBox="1"/>
          <p:nvPr/>
        </p:nvSpPr>
        <p:spPr>
          <a:xfrm>
            <a:off x="10579608" y="566127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a:t>
            </a:r>
            <a:endParaRPr lang="en-US" sz="1300" dirty="0"/>
          </a:p>
        </p:txBody>
      </p:sp>
      <p:sp>
        <p:nvSpPr>
          <p:cNvPr id="172" name="Shape 170"/>
          <p:cNvSpPr/>
          <p:nvPr/>
        </p:nvSpPr>
        <p:spPr>
          <a:xfrm>
            <a:off x="457200" y="6126480"/>
            <a:ext cx="11274552" cy="371856"/>
          </a:xfrm>
          <a:prstGeom prst="rect">
            <a:avLst/>
          </a:prstGeom>
          <a:solidFill>
            <a:srgbClr val="FBEBEA"/>
          </a:solidFill>
          <a:ln/>
        </p:spPr>
      </p:sp>
      <p:sp>
        <p:nvSpPr>
          <p:cNvPr id="173" name="Text 17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Toyota Spokane leaves the most at $541,039 a year. 15 stores are under all four benchmarks.</a:t>
            </a:r>
            <a:endParaRPr lang="en-US" sz="1600" dirty="0"/>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Every Store at Benchmark</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31520" y="1481328"/>
            <a:ext cx="10725912" cy="329184"/>
          </a:xfrm>
          <a:prstGeom prst="rect">
            <a:avLst/>
          </a:prstGeom>
          <a:noFill/>
          <a:ln/>
        </p:spPr>
        <p:txBody>
          <a:bodyPr wrap="square" lIns="0" tIns="0" rIns="0" bIns="0" rtlCol="0" anchor="ctr"/>
          <a:lstStyle/>
          <a:p>
            <a:pPr algn="ctr" indent="0" marL="0">
              <a:buNone/>
            </a:pPr>
            <a:r>
              <a:rPr lang="en-US" sz="1600" b="1" spc="140" kern="0" dirty="0">
                <a:solidFill>
                  <a:srgbClr val="0B2C4A"/>
                </a:solidFill>
                <a:latin typeface="Inter" pitchFamily="34" charset="0"/>
                <a:ea typeface="Inter" pitchFamily="34" charset="-122"/>
                <a:cs typeface="Inter" pitchFamily="34" charset="-120"/>
              </a:rPr>
              <a:t>IF EVERY STORE REACHED ALL FOUR BENCHMARKS</a:t>
            </a:r>
            <a:endParaRPr lang="en-US" sz="1600" dirty="0"/>
          </a:p>
        </p:txBody>
      </p:sp>
      <p:sp>
        <p:nvSpPr>
          <p:cNvPr id="7" name="Text 5"/>
          <p:cNvSpPr txBox="1"/>
          <p:nvPr/>
        </p:nvSpPr>
        <p:spPr>
          <a:xfrm>
            <a:off x="731520" y="1874520"/>
            <a:ext cx="10725912" cy="1234440"/>
          </a:xfrm>
          <a:prstGeom prst="rect">
            <a:avLst/>
          </a:prstGeom>
          <a:noFill/>
          <a:ln/>
        </p:spPr>
        <p:txBody>
          <a:bodyPr wrap="square" lIns="0" tIns="0" rIns="0" bIns="0" rtlCol="0" anchor="ctr"/>
          <a:lstStyle/>
          <a:p>
            <a:pPr algn="ctr" indent="0" marL="0">
              <a:buNone/>
            </a:pPr>
            <a:r>
              <a:rPr lang="en-US" sz="8000" b="1" dirty="0">
                <a:solidFill>
                  <a:srgbClr val="0B7A4A"/>
                </a:solidFill>
                <a:latin typeface="Inter" pitchFamily="34" charset="0"/>
                <a:ea typeface="Inter" pitchFamily="34" charset="-122"/>
                <a:cs typeface="Inter" pitchFamily="34" charset="-120"/>
              </a:rPr>
              <a:t>$4,895,199</a:t>
            </a:r>
            <a:endParaRPr lang="en-US" sz="8000" dirty="0"/>
          </a:p>
        </p:txBody>
      </p:sp>
      <p:sp>
        <p:nvSpPr>
          <p:cNvPr id="8" name="Text 6"/>
          <p:cNvSpPr txBox="1"/>
          <p:nvPr/>
        </p:nvSpPr>
        <p:spPr>
          <a:xfrm>
            <a:off x="731520" y="3090672"/>
            <a:ext cx="10725912" cy="411480"/>
          </a:xfrm>
          <a:prstGeom prst="rect">
            <a:avLst/>
          </a:prstGeom>
          <a:noFill/>
          <a:ln/>
        </p:spPr>
        <p:txBody>
          <a:bodyPr wrap="square" lIns="0" tIns="0" rIns="0" bIns="0" rtlCol="0" anchor="ctr"/>
          <a:lstStyle/>
          <a:p>
            <a:pPr algn="ctr" indent="0" marL="0">
              <a:buNone/>
            </a:pPr>
            <a:r>
              <a:rPr lang="en-US" sz="2000" dirty="0">
                <a:solidFill>
                  <a:srgbClr val="595959"/>
                </a:solidFill>
                <a:latin typeface="Inter" pitchFamily="34" charset="0"/>
                <a:ea typeface="Inter" pitchFamily="34" charset="-122"/>
                <a:cs typeface="Inter" pitchFamily="34" charset="-120"/>
              </a:rPr>
              <a:t>a year in labor and parts gross · about $407,933 a month</a:t>
            </a:r>
            <a:endParaRPr lang="en-US" sz="2000" dirty="0"/>
          </a:p>
        </p:txBody>
      </p:sp>
      <p:sp>
        <p:nvSpPr>
          <p:cNvPr id="9" name="Shape 7"/>
          <p:cNvSpPr/>
          <p:nvPr/>
        </p:nvSpPr>
        <p:spPr>
          <a:xfrm>
            <a:off x="736092" y="3794760"/>
            <a:ext cx="2542032" cy="1691640"/>
          </a:xfrm>
          <a:prstGeom prst="rect">
            <a:avLst/>
          </a:prstGeom>
          <a:solidFill>
            <a:srgbClr val="F7F7F7"/>
          </a:solidFill>
          <a:ln/>
        </p:spPr>
      </p:sp>
      <p:sp>
        <p:nvSpPr>
          <p:cNvPr id="10" name="Shape 8"/>
          <p:cNvSpPr/>
          <p:nvPr/>
        </p:nvSpPr>
        <p:spPr>
          <a:xfrm>
            <a:off x="736092" y="3794760"/>
            <a:ext cx="2542032" cy="64008"/>
          </a:xfrm>
          <a:prstGeom prst="rect">
            <a:avLst/>
          </a:prstGeom>
          <a:solidFill>
            <a:srgbClr val="12A566"/>
          </a:solidFill>
          <a:ln/>
        </p:spPr>
      </p:sp>
      <p:sp>
        <p:nvSpPr>
          <p:cNvPr id="11" name="Text 9"/>
          <p:cNvSpPr txBox="1"/>
          <p:nvPr/>
        </p:nvSpPr>
        <p:spPr>
          <a:xfrm>
            <a:off x="827532"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ALIGNMENT · 15%</a:t>
            </a:r>
            <a:endParaRPr lang="en-US" sz="1400" dirty="0"/>
          </a:p>
        </p:txBody>
      </p:sp>
      <p:sp>
        <p:nvSpPr>
          <p:cNvPr id="12" name="Text 10"/>
          <p:cNvSpPr txBox="1"/>
          <p:nvPr/>
        </p:nvSpPr>
        <p:spPr>
          <a:xfrm>
            <a:off x="827532"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$1,029,276</a:t>
            </a:r>
            <a:endParaRPr lang="en-US" sz="2600" dirty="0"/>
          </a:p>
        </p:txBody>
      </p:sp>
      <p:sp>
        <p:nvSpPr>
          <p:cNvPr id="13" name="Text 11"/>
          <p:cNvSpPr txBox="1"/>
          <p:nvPr/>
        </p:nvSpPr>
        <p:spPr>
          <a:xfrm>
            <a:off x="827532"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9,935 more services a year</a:t>
            </a:r>
            <a:endParaRPr lang="en-US" sz="1400" dirty="0"/>
          </a:p>
        </p:txBody>
      </p:sp>
      <p:sp>
        <p:nvSpPr>
          <p:cNvPr id="14" name="Shape 12"/>
          <p:cNvSpPr/>
          <p:nvPr/>
        </p:nvSpPr>
        <p:spPr>
          <a:xfrm>
            <a:off x="3461004" y="3794760"/>
            <a:ext cx="2542032" cy="1691640"/>
          </a:xfrm>
          <a:prstGeom prst="rect">
            <a:avLst/>
          </a:prstGeom>
          <a:solidFill>
            <a:srgbClr val="F7F7F7"/>
          </a:solidFill>
          <a:ln/>
        </p:spPr>
      </p:sp>
      <p:sp>
        <p:nvSpPr>
          <p:cNvPr id="15" name="Shape 13"/>
          <p:cNvSpPr/>
          <p:nvPr/>
        </p:nvSpPr>
        <p:spPr>
          <a:xfrm>
            <a:off x="3461004" y="3794760"/>
            <a:ext cx="2542032" cy="64008"/>
          </a:xfrm>
          <a:prstGeom prst="rect">
            <a:avLst/>
          </a:prstGeom>
          <a:solidFill>
            <a:srgbClr val="12A566"/>
          </a:solidFill>
          <a:ln/>
        </p:spPr>
      </p:sp>
      <p:sp>
        <p:nvSpPr>
          <p:cNvPr id="16" name="Text 14"/>
          <p:cNvSpPr txBox="1"/>
          <p:nvPr/>
        </p:nvSpPr>
        <p:spPr>
          <a:xfrm>
            <a:off x="3552444"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TIRE BALANCE · 15%</a:t>
            </a:r>
            <a:endParaRPr lang="en-US" sz="1400" dirty="0"/>
          </a:p>
        </p:txBody>
      </p:sp>
      <p:sp>
        <p:nvSpPr>
          <p:cNvPr id="17" name="Text 15"/>
          <p:cNvSpPr txBox="1"/>
          <p:nvPr/>
        </p:nvSpPr>
        <p:spPr>
          <a:xfrm>
            <a:off x="3552444"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$1,664,385</a:t>
            </a:r>
            <a:endParaRPr lang="en-US" sz="2600" dirty="0"/>
          </a:p>
        </p:txBody>
      </p:sp>
      <p:sp>
        <p:nvSpPr>
          <p:cNvPr id="18" name="Text 16"/>
          <p:cNvSpPr txBox="1"/>
          <p:nvPr/>
        </p:nvSpPr>
        <p:spPr>
          <a:xfrm>
            <a:off x="3552444"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26,062 more services a year</a:t>
            </a:r>
            <a:endParaRPr lang="en-US" sz="1400" dirty="0"/>
          </a:p>
        </p:txBody>
      </p:sp>
      <p:sp>
        <p:nvSpPr>
          <p:cNvPr id="19" name="Shape 17"/>
          <p:cNvSpPr/>
          <p:nvPr/>
        </p:nvSpPr>
        <p:spPr>
          <a:xfrm>
            <a:off x="6185916" y="3794760"/>
            <a:ext cx="2542032" cy="1691640"/>
          </a:xfrm>
          <a:prstGeom prst="rect">
            <a:avLst/>
          </a:prstGeom>
          <a:solidFill>
            <a:srgbClr val="F7F7F7"/>
          </a:solidFill>
          <a:ln/>
        </p:spPr>
      </p:sp>
      <p:sp>
        <p:nvSpPr>
          <p:cNvPr id="20" name="Shape 18"/>
          <p:cNvSpPr/>
          <p:nvPr/>
        </p:nvSpPr>
        <p:spPr>
          <a:xfrm>
            <a:off x="6185916" y="3794760"/>
            <a:ext cx="2542032" cy="64008"/>
          </a:xfrm>
          <a:prstGeom prst="rect">
            <a:avLst/>
          </a:prstGeom>
          <a:solidFill>
            <a:srgbClr val="12A566"/>
          </a:solidFill>
          <a:ln/>
        </p:spPr>
      </p:sp>
      <p:sp>
        <p:nvSpPr>
          <p:cNvPr id="21" name="Text 19"/>
          <p:cNvSpPr txBox="1"/>
          <p:nvPr/>
        </p:nvSpPr>
        <p:spPr>
          <a:xfrm>
            <a:off x="6277356"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BRAKE FLUID · 10%</a:t>
            </a:r>
            <a:endParaRPr lang="en-US" sz="1400" dirty="0"/>
          </a:p>
        </p:txBody>
      </p:sp>
      <p:sp>
        <p:nvSpPr>
          <p:cNvPr id="22" name="Text 20"/>
          <p:cNvSpPr txBox="1"/>
          <p:nvPr/>
        </p:nvSpPr>
        <p:spPr>
          <a:xfrm>
            <a:off x="6277356"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$844,657</a:t>
            </a:r>
            <a:endParaRPr lang="en-US" sz="2600" dirty="0"/>
          </a:p>
        </p:txBody>
      </p:sp>
      <p:sp>
        <p:nvSpPr>
          <p:cNvPr id="23" name="Text 21"/>
          <p:cNvSpPr txBox="1"/>
          <p:nvPr/>
        </p:nvSpPr>
        <p:spPr>
          <a:xfrm>
            <a:off x="6277356"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5,919 more services a year</a:t>
            </a:r>
            <a:endParaRPr lang="en-US" sz="1400" dirty="0"/>
          </a:p>
        </p:txBody>
      </p:sp>
      <p:sp>
        <p:nvSpPr>
          <p:cNvPr id="24" name="Shape 22"/>
          <p:cNvSpPr/>
          <p:nvPr/>
        </p:nvSpPr>
        <p:spPr>
          <a:xfrm>
            <a:off x="8910828" y="3794760"/>
            <a:ext cx="2542032" cy="1691640"/>
          </a:xfrm>
          <a:prstGeom prst="rect">
            <a:avLst/>
          </a:prstGeom>
          <a:solidFill>
            <a:srgbClr val="F7F7F7"/>
          </a:solidFill>
          <a:ln/>
        </p:spPr>
      </p:sp>
      <p:sp>
        <p:nvSpPr>
          <p:cNvPr id="25" name="Shape 23"/>
          <p:cNvSpPr/>
          <p:nvPr/>
        </p:nvSpPr>
        <p:spPr>
          <a:xfrm>
            <a:off x="8910828" y="3794760"/>
            <a:ext cx="2542032" cy="64008"/>
          </a:xfrm>
          <a:prstGeom prst="rect">
            <a:avLst/>
          </a:prstGeom>
          <a:solidFill>
            <a:srgbClr val="12A566"/>
          </a:solidFill>
          <a:ln/>
        </p:spPr>
      </p:sp>
      <p:sp>
        <p:nvSpPr>
          <p:cNvPr id="26" name="Text 24"/>
          <p:cNvSpPr txBox="1"/>
          <p:nvPr/>
        </p:nvSpPr>
        <p:spPr>
          <a:xfrm>
            <a:off x="9002268"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FUEL SERVICE · 7.5%</a:t>
            </a:r>
            <a:endParaRPr lang="en-US" sz="1400" dirty="0"/>
          </a:p>
        </p:txBody>
      </p:sp>
      <p:sp>
        <p:nvSpPr>
          <p:cNvPr id="27" name="Text 25"/>
          <p:cNvSpPr txBox="1"/>
          <p:nvPr/>
        </p:nvSpPr>
        <p:spPr>
          <a:xfrm>
            <a:off x="9002268"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$1,356,881</a:t>
            </a:r>
            <a:endParaRPr lang="en-US" sz="2600" dirty="0"/>
          </a:p>
        </p:txBody>
      </p:sp>
      <p:sp>
        <p:nvSpPr>
          <p:cNvPr id="28" name="Text 26"/>
          <p:cNvSpPr txBox="1"/>
          <p:nvPr/>
        </p:nvSpPr>
        <p:spPr>
          <a:xfrm>
            <a:off x="9002268"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8,527 more services a year</a:t>
            </a:r>
            <a:endParaRPr lang="en-US" sz="1400" dirty="0"/>
          </a:p>
        </p:txBody>
      </p:sp>
      <p:sp>
        <p:nvSpPr>
          <p:cNvPr id="29" name="Shape 27"/>
          <p:cNvSpPr/>
          <p:nvPr/>
        </p:nvSpPr>
        <p:spPr>
          <a:xfrm>
            <a:off x="457200" y="6126480"/>
            <a:ext cx="11274552" cy="371856"/>
          </a:xfrm>
          <a:prstGeom prst="rect">
            <a:avLst/>
          </a:prstGeom>
          <a:solidFill>
            <a:srgbClr val="E6F6EE"/>
          </a:solidFill>
          <a:ln/>
        </p:spPr>
      </p:sp>
      <p:sp>
        <p:nvSpPr>
          <p:cNvPr id="30" name="Text 2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50,442 more services a year on cars already in our drives. No new customers needed.</a:t>
            </a:r>
            <a:endParaRPr lang="en-US" sz="1600" dirty="0"/>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$129.84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+$3.75</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$3.75 to $129.84, ahead of 2025 in seven of nine months.</a:t>
            </a:r>
            <a:endParaRPr lang="en-US" sz="1600" dirty="0"/>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$129.84</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$207.05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7617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$205.15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35097"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$187.89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440950"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008376" y="2866644"/>
            <a:ext cx="1416843"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008376" y="3106540"/>
            <a:ext cx="1364170"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$166.97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7" name="Shape 35"/>
          <p:cNvSpPr/>
          <p:nvPr/>
        </p:nvSpPr>
        <p:spPr>
          <a:xfrm>
            <a:off x="3008376" y="3346435"/>
            <a:ext cx="1354753"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$165.81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008376" y="3586331"/>
            <a:ext cx="133461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$163.35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5" name="Shape 43"/>
          <p:cNvSpPr/>
          <p:nvPr/>
        </p:nvSpPr>
        <p:spPr>
          <a:xfrm>
            <a:off x="3008376" y="3826226"/>
            <a:ext cx="132628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$162.33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98491"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$158.93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1265243"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$154.86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7" name="Shape 55"/>
          <p:cNvSpPr/>
          <p:nvPr/>
        </p:nvSpPr>
        <p:spPr>
          <a:xfrm>
            <a:off x="3008376" y="4545913"/>
            <a:ext cx="12380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$151.53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008376" y="4785808"/>
            <a:ext cx="119979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$146.85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008376" y="5025704"/>
            <a:ext cx="1199589"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1582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08376" y="5505495"/>
            <a:ext cx="1138632"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$139.36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112261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$137.40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1" name="Shape 79"/>
          <p:cNvSpPr/>
          <p:nvPr/>
        </p:nvSpPr>
        <p:spPr>
          <a:xfrm>
            <a:off x="8558784" y="1907062"/>
            <a:ext cx="112102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$137.21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8558784" y="2146957"/>
            <a:ext cx="1118529"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$136.90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1098819"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$134.49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3" name="Shape 91"/>
          <p:cNvSpPr/>
          <p:nvPr/>
        </p:nvSpPr>
        <p:spPr>
          <a:xfrm>
            <a:off x="8558784" y="2626748"/>
            <a:ext cx="1098580"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$134.46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8558784" y="2866644"/>
            <a:ext cx="10475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1" name="Shape 99"/>
          <p:cNvSpPr/>
          <p:nvPr/>
        </p:nvSpPr>
        <p:spPr>
          <a:xfrm>
            <a:off x="8558784" y="3106540"/>
            <a:ext cx="104098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$127.41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101683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$124.45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8558784" y="3586331"/>
            <a:ext cx="100231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$122.68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9753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$119.37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9574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$117.18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8558784" y="4306017"/>
            <a:ext cx="93931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$114.97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89237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$109.22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9" name="Shape 127"/>
          <p:cNvSpPr/>
          <p:nvPr/>
        </p:nvSpPr>
        <p:spPr>
          <a:xfrm>
            <a:off x="8558784" y="4785808"/>
            <a:ext cx="85701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$104.89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838677"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$102.65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7" name="Shape 135"/>
          <p:cNvSpPr/>
          <p:nvPr/>
        </p:nvSpPr>
        <p:spPr>
          <a:xfrm>
            <a:off x="8558784" y="5265599"/>
            <a:ext cx="815241"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$99.78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05495"/>
            <a:ext cx="7125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$87.21</a:t>
            </a:r>
            <a:endParaRPr lang="en-US" sz="1200" dirty="0"/>
          </a:p>
        </p:txBody>
      </p:sp>
      <p:sp>
        <p:nvSpPr>
          <p:cNvPr id="143" name="Shape 141"/>
          <p:cNvSpPr/>
          <p:nvPr/>
        </p:nvSpPr>
        <p:spPr>
          <a:xfrm>
            <a:off x="4061880" y="1847088"/>
            <a:ext cx="14630" cy="4078224"/>
          </a:xfrm>
          <a:prstGeom prst="rect">
            <a:avLst/>
          </a:prstGeom>
          <a:solidFill>
            <a:srgbClr val="0B2C4A"/>
          </a:solidFill>
          <a:ln/>
        </p:spPr>
      </p:sp>
      <p:sp>
        <p:nvSpPr>
          <p:cNvPr id="144" name="Shape 142"/>
          <p:cNvSpPr/>
          <p:nvPr/>
        </p:nvSpPr>
        <p:spPr>
          <a:xfrm>
            <a:off x="961228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64236"/>
          </a:xfrm>
          <a:prstGeom prst="rect">
            <a:avLst/>
          </a:prstGeom>
          <a:solidFill>
            <a:srgbClr val="EDF4FA"/>
          </a:solidFill>
          <a:ln/>
        </p:spPr>
      </p:sp>
      <p:sp>
        <p:nvSpPr>
          <p:cNvPr id="147" name="Text 14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21 of 33 stores at or above the $129.84 group, led by LR Reno at $207.05. Nissan is lowest at $87.21.</a:t>
            </a:r>
            <a:endParaRPr lang="en-US" sz="1550" dirty="0"/>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+$3.75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 name="Shape 11"/>
          <p:cNvSpPr/>
          <p:nvPr/>
        </p:nvSpPr>
        <p:spPr>
          <a:xfrm>
            <a:off x="3785616" y="1911860"/>
            <a:ext cx="60083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+$46.71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 name="Shape 15"/>
          <p:cNvSpPr/>
          <p:nvPr/>
        </p:nvSpPr>
        <p:spPr>
          <a:xfrm>
            <a:off x="3785616" y="2151755"/>
            <a:ext cx="5092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+$39.59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34878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5" name="Shape 23"/>
          <p:cNvSpPr/>
          <p:nvPr/>
        </p:nvSpPr>
        <p:spPr>
          <a:xfrm>
            <a:off x="3785616" y="2631546"/>
            <a:ext cx="26770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22436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3785616" y="3111337"/>
            <a:ext cx="16313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+$12.68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7" name="Shape 35"/>
          <p:cNvSpPr/>
          <p:nvPr/>
        </p:nvSpPr>
        <p:spPr>
          <a:xfrm>
            <a:off x="3785616" y="3351233"/>
            <a:ext cx="1598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5483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5" name="Shape 43"/>
          <p:cNvSpPr/>
          <p:nvPr/>
        </p:nvSpPr>
        <p:spPr>
          <a:xfrm>
            <a:off x="3785616" y="3831024"/>
            <a:ext cx="14315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785616" y="4070920"/>
            <a:ext cx="8225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80763"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7" name="Shape 55"/>
          <p:cNvSpPr/>
          <p:nvPr/>
        </p:nvSpPr>
        <p:spPr>
          <a:xfrm>
            <a:off x="3785616" y="4550711"/>
            <a:ext cx="7359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785616" y="4790606"/>
            <a:ext cx="7034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5" name="Shape 63"/>
          <p:cNvSpPr/>
          <p:nvPr/>
        </p:nvSpPr>
        <p:spPr>
          <a:xfrm>
            <a:off x="3785616" y="5030502"/>
            <a:ext cx="6610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3785616" y="5270397"/>
            <a:ext cx="58016"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4914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4822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4601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5" name="Shape 83"/>
          <p:cNvSpPr/>
          <p:nvPr/>
        </p:nvSpPr>
        <p:spPr>
          <a:xfrm>
            <a:off x="9336024" y="2151755"/>
            <a:ext cx="24966"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24019"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317348" y="2871442"/>
            <a:ext cx="18676"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9313515" y="3111337"/>
            <a:ext cx="2250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278246" y="3351233"/>
            <a:ext cx="5777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73152" y="3591128"/>
            <a:ext cx="6287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842" y="3831024"/>
            <a:ext cx="7818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−$6.08</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253717" y="4070920"/>
            <a:ext cx="8230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3894" y="4310815"/>
            <a:ext cx="13213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5" name="Shape 123"/>
          <p:cNvSpPr/>
          <p:nvPr/>
        </p:nvSpPr>
        <p:spPr>
          <a:xfrm>
            <a:off x="9107808" y="4550711"/>
            <a:ext cx="22821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9" name="Shape 127"/>
          <p:cNvSpPr/>
          <p:nvPr/>
        </p:nvSpPr>
        <p:spPr>
          <a:xfrm>
            <a:off x="9069070" y="4790606"/>
            <a:ext cx="266954"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−$20.75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916687" y="5030502"/>
            <a:ext cx="419337"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809839" y="5270397"/>
            <a:ext cx="52618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−$40.91</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−$60.43</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raised internal ELR, led by Hyundai St George at +$46.71 to $205.15. 13 declined; Kia LV fell most at −$60.43.</a:t>
            </a:r>
            <a:endParaRPr lang="en-US" sz="1600" dirty="0"/>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$158.44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$205.15</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+$46.71</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$167.46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$207.05</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+$39.59</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$138.70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$165.81</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+$27.12</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$134.46</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+$20.81</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$97.52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$114.97</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+$17.44</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$227.39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$166.97</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−$60.43</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$182.66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$141.76</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−$40.91</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$119.81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$87.21</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−$32.60</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$172.28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$151.53</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−$20.75</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$139.36</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−$17.74</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$176.79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$233.00</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+$56.21</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$182.97</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+$48.61</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$187.46</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+$28.12</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$102.71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$128.57</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+$25.85</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$119.28</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+$22.54</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St George, LR Reno and Lincoln what changed. Ask Kia LV, Mazda and Nissan what got in the way. Ask Hyundai St George, Acura and Audi Reno what they started this year.</a:t>
            </a:r>
            <a:endParaRPr lang="en-US" sz="1600" dirty="0"/>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0.3 pts to 78.1%, ahead of 2025 in six of nine months.</a:t>
            </a:r>
            <a:endParaRPr lang="en-US" sz="1600" dirty="0"/>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64906"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64128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5" name="Shape 23"/>
          <p:cNvSpPr/>
          <p:nvPr/>
        </p:nvSpPr>
        <p:spPr>
          <a:xfrm>
            <a:off x="3008376" y="2626748"/>
            <a:ext cx="156998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008376" y="2866644"/>
            <a:ext cx="154621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82.8%</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52177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008376" y="3346435"/>
            <a:ext cx="151722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008376" y="3586331"/>
            <a:ext cx="151209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008376" y="3826226"/>
            <a:ext cx="1502318"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9" name="Shape 47"/>
          <p:cNvSpPr/>
          <p:nvPr/>
        </p:nvSpPr>
        <p:spPr>
          <a:xfrm>
            <a:off x="3008376" y="4066122"/>
            <a:ext cx="14857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008376" y="4306017"/>
            <a:ext cx="1450241"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008376" y="4545913"/>
            <a:ext cx="142542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1" name="Shape 59"/>
          <p:cNvSpPr/>
          <p:nvPr/>
        </p:nvSpPr>
        <p:spPr>
          <a:xfrm>
            <a:off x="3008376" y="4785808"/>
            <a:ext cx="1402468"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402095"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136481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3271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008376" y="5745390"/>
            <a:ext cx="128216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241952"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8558784" y="2146957"/>
            <a:ext cx="1223403"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8558784" y="2386853"/>
            <a:ext cx="121501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58784" y="2626748"/>
            <a:ext cx="120979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8558784" y="2866644"/>
            <a:ext cx="12016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8558784" y="3106540"/>
            <a:ext cx="118946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8558784" y="3346435"/>
            <a:ext cx="1139224"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9" name="Shape 107"/>
          <p:cNvSpPr/>
          <p:nvPr/>
        </p:nvSpPr>
        <p:spPr>
          <a:xfrm>
            <a:off x="8558784" y="3586331"/>
            <a:ext cx="1119486"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3" name="Shape 111"/>
          <p:cNvSpPr/>
          <p:nvPr/>
        </p:nvSpPr>
        <p:spPr>
          <a:xfrm>
            <a:off x="8558784" y="3826226"/>
            <a:ext cx="106176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105410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1" name="Shape 119"/>
          <p:cNvSpPr/>
          <p:nvPr/>
        </p:nvSpPr>
        <p:spPr>
          <a:xfrm>
            <a:off x="8558784" y="4306017"/>
            <a:ext cx="102057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95183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9" name="Shape 127"/>
          <p:cNvSpPr/>
          <p:nvPr/>
        </p:nvSpPr>
        <p:spPr>
          <a:xfrm>
            <a:off x="8558784" y="4785808"/>
            <a:ext cx="942987"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8877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7" name="Shape 135"/>
          <p:cNvSpPr/>
          <p:nvPr/>
        </p:nvSpPr>
        <p:spPr>
          <a:xfrm>
            <a:off x="8558784" y="5265599"/>
            <a:ext cx="837155"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41428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58.8%</a:t>
            </a:r>
            <a:endParaRPr lang="en-US" sz="1200" dirty="0"/>
          </a:p>
        </p:txBody>
      </p:sp>
      <p:sp>
        <p:nvSpPr>
          <p:cNvPr id="143" name="Shape 141"/>
          <p:cNvSpPr/>
          <p:nvPr/>
        </p:nvSpPr>
        <p:spPr>
          <a:xfrm>
            <a:off x="4326190" y="1847088"/>
            <a:ext cx="14630" cy="4078224"/>
          </a:xfrm>
          <a:prstGeom prst="rect">
            <a:avLst/>
          </a:prstGeom>
          <a:solidFill>
            <a:srgbClr val="0B2C4A"/>
          </a:solidFill>
          <a:ln/>
        </p:spPr>
      </p:sp>
      <p:sp>
        <p:nvSpPr>
          <p:cNvPr id="144" name="Shape 142"/>
          <p:cNvSpPr/>
          <p:nvPr/>
        </p:nvSpPr>
        <p:spPr>
          <a:xfrm>
            <a:off x="98765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DF4FA"/>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16 of 33 stores at or above the 78.1% group, led by Honda Henderson at 85.9%. Audi Reno is lowest at 58.8%.</a:t>
            </a:r>
            <a:endParaRPr lang="en-US" sz="1450" dirty="0"/>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495495"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32262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30333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26377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785616" y="2871442"/>
            <a:ext cx="214318"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3" name="Shape 31"/>
          <p:cNvSpPr/>
          <p:nvPr/>
        </p:nvSpPr>
        <p:spPr>
          <a:xfrm>
            <a:off x="3785616" y="3111337"/>
            <a:ext cx="19209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188815"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6057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427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3216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3148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85616" y="4550711"/>
            <a:ext cx="11730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9508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65" name="Shape 63"/>
          <p:cNvSpPr/>
          <p:nvPr/>
        </p:nvSpPr>
        <p:spPr>
          <a:xfrm>
            <a:off x="3785616" y="5030502"/>
            <a:ext cx="688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785616" y="5270397"/>
            <a:ext cx="3613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3435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2654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300490" y="2391651"/>
            <a:ext cx="35534"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3" name="Shape 91"/>
          <p:cNvSpPr/>
          <p:nvPr/>
        </p:nvSpPr>
        <p:spPr>
          <a:xfrm>
            <a:off x="9251253" y="2631546"/>
            <a:ext cx="8477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9226020" y="2871442"/>
            <a:ext cx="110004"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11478" y="3111337"/>
            <a:ext cx="12454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01170" y="3351233"/>
            <a:ext cx="13485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108753" y="3591128"/>
            <a:ext cx="22727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91564" y="3831024"/>
            <a:ext cx="244460"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060005" y="4070920"/>
            <a:ext cx="2760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9035101" y="4310815"/>
            <a:ext cx="30092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8954892" y="4550711"/>
            <a:ext cx="38113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929245" y="4790606"/>
            <a:ext cx="40677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865948" y="5030502"/>
            <a:ext cx="470076"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−5.3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842326" y="5270397"/>
            <a:ext cx="49369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internal labor GP%, led by Acura at +5.6 pts to 77.2%. 14 declined; Nissan fell most at −8.8 pts.</a:t>
            </a:r>
            <a:endParaRPr lang="en-US" sz="1600" dirty="0"/>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77.2%</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85.3%</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82.8%</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67.8%</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−8.8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70.0%</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79.7%</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−5.3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73.8%</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72.5%</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72.6%</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+6.4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82.0%</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87.1%</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76.4%</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Honda Spokane and LR Reno what changed. Ask Nissan, LR LV and Mazda what got in the way. Ask LR Henderson, Kia St George and Hyundai St George what they started this year.</a:t>
            </a:r>
            <a:endParaRPr lang="en-US" sz="1600" dirty="0"/>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+0.5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0.5 pts to 36.5%, ahead of 2025 in eight of nine months.</a:t>
            </a:r>
            <a:endParaRPr lang="en-US" sz="1600" dirty="0"/>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7138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26083"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2705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140426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008376" y="3106540"/>
            <a:ext cx="1329194"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008376" y="3346435"/>
            <a:ext cx="114763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1" name="Shape 39"/>
          <p:cNvSpPr/>
          <p:nvPr/>
        </p:nvSpPr>
        <p:spPr>
          <a:xfrm>
            <a:off x="3008376" y="3586331"/>
            <a:ext cx="114362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5" name="Shape 43"/>
          <p:cNvSpPr/>
          <p:nvPr/>
        </p:nvSpPr>
        <p:spPr>
          <a:xfrm>
            <a:off x="3008376" y="3826226"/>
            <a:ext cx="11384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133430"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3" name="Shape 51"/>
          <p:cNvSpPr/>
          <p:nvPr/>
        </p:nvSpPr>
        <p:spPr>
          <a:xfrm>
            <a:off x="3008376" y="4306017"/>
            <a:ext cx="1126165"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7" name="Shape 55"/>
          <p:cNvSpPr/>
          <p:nvPr/>
        </p:nvSpPr>
        <p:spPr>
          <a:xfrm>
            <a:off x="3008376" y="4545913"/>
            <a:ext cx="1120821"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3008376" y="4785808"/>
            <a:ext cx="11111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097912"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008376" y="5265599"/>
            <a:ext cx="108261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5505495"/>
            <a:ext cx="101776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7" name="Shape 75"/>
          <p:cNvSpPr/>
          <p:nvPr/>
        </p:nvSpPr>
        <p:spPr>
          <a:xfrm>
            <a:off x="3008376" y="5745390"/>
            <a:ext cx="975057"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1" name="Shape 79"/>
          <p:cNvSpPr/>
          <p:nvPr/>
        </p:nvSpPr>
        <p:spPr>
          <a:xfrm>
            <a:off x="8558784" y="1907062"/>
            <a:ext cx="973182"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8558784" y="2146957"/>
            <a:ext cx="944183"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9" name="Shape 87"/>
          <p:cNvSpPr/>
          <p:nvPr/>
        </p:nvSpPr>
        <p:spPr>
          <a:xfrm>
            <a:off x="8558784" y="2386853"/>
            <a:ext cx="900321"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86536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7" name="Shape 95"/>
          <p:cNvSpPr/>
          <p:nvPr/>
        </p:nvSpPr>
        <p:spPr>
          <a:xfrm>
            <a:off x="8558784" y="2866644"/>
            <a:ext cx="84433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8558784" y="3106540"/>
            <a:ext cx="7888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763564"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9" name="Shape 107"/>
          <p:cNvSpPr/>
          <p:nvPr/>
        </p:nvSpPr>
        <p:spPr>
          <a:xfrm>
            <a:off x="8558784" y="3586331"/>
            <a:ext cx="72703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7096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558784" y="4066122"/>
            <a:ext cx="67728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8558784" y="4306017"/>
            <a:ext cx="652252"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58648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8558784" y="4785808"/>
            <a:ext cx="4603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3" name="Shape 131"/>
          <p:cNvSpPr/>
          <p:nvPr/>
        </p:nvSpPr>
        <p:spPr>
          <a:xfrm>
            <a:off x="8558784" y="5025704"/>
            <a:ext cx="41461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558784" y="5265599"/>
            <a:ext cx="35136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98886"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24.4%</a:t>
            </a:r>
            <a:endParaRPr lang="en-US" sz="1200" dirty="0"/>
          </a:p>
        </p:txBody>
      </p:sp>
      <p:sp>
        <p:nvSpPr>
          <p:cNvPr id="143" name="Shape 141"/>
          <p:cNvSpPr/>
          <p:nvPr/>
        </p:nvSpPr>
        <p:spPr>
          <a:xfrm>
            <a:off x="4109587" y="1847088"/>
            <a:ext cx="14630" cy="4078224"/>
          </a:xfrm>
          <a:prstGeom prst="rect">
            <a:avLst/>
          </a:prstGeom>
          <a:solidFill>
            <a:srgbClr val="0B2C4A"/>
          </a:solidFill>
          <a:ln/>
        </p:spPr>
      </p:sp>
      <p:sp>
        <p:nvSpPr>
          <p:cNvPr id="144" name="Shape 142"/>
          <p:cNvSpPr/>
          <p:nvPr/>
        </p:nvSpPr>
        <p:spPr>
          <a:xfrm>
            <a:off x="965999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36.5% group, led by Toyota Henderson at 45.1%. CDJR Post Falls is lowest at 24.4%.</a:t>
            </a:r>
            <a:endParaRPr lang="en-US" sz="1600" dirty="0"/>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+0.5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746935"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785616" y="2391651"/>
            <a:ext cx="544841"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5" name="Shape 23"/>
          <p:cNvSpPr/>
          <p:nvPr/>
        </p:nvSpPr>
        <p:spPr>
          <a:xfrm>
            <a:off x="3785616" y="2631546"/>
            <a:ext cx="41184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410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366175"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216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1" name="Shape 39"/>
          <p:cNvSpPr/>
          <p:nvPr/>
        </p:nvSpPr>
        <p:spPr>
          <a:xfrm>
            <a:off x="3785616" y="3591128"/>
            <a:ext cx="31422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3012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6060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536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7" name="Shape 55"/>
          <p:cNvSpPr/>
          <p:nvPr/>
        </p:nvSpPr>
        <p:spPr>
          <a:xfrm>
            <a:off x="3785616" y="4550711"/>
            <a:ext cx="21108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19223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1908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785616" y="5270397"/>
            <a:ext cx="19084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3" name="Shape 71"/>
          <p:cNvSpPr/>
          <p:nvPr/>
        </p:nvSpPr>
        <p:spPr>
          <a:xfrm>
            <a:off x="3785616" y="5510293"/>
            <a:ext cx="158978"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85616" y="5750188"/>
            <a:ext cx="145538"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1" name="Shape 79"/>
          <p:cNvSpPr/>
          <p:nvPr/>
        </p:nvSpPr>
        <p:spPr>
          <a:xfrm>
            <a:off x="9336024" y="1911860"/>
            <a:ext cx="11801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12861"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9336024" y="2391651"/>
            <a:ext cx="51131"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9336024" y="2631546"/>
            <a:ext cx="4257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306469" y="2871442"/>
            <a:ext cx="29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9293325" y="3111337"/>
            <a:ext cx="4269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214515" y="3351233"/>
            <a:ext cx="12150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9" name="Shape 107"/>
          <p:cNvSpPr/>
          <p:nvPr/>
        </p:nvSpPr>
        <p:spPr>
          <a:xfrm>
            <a:off x="9050201" y="3591128"/>
            <a:ext cx="285823"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11711" y="3831024"/>
            <a:ext cx="324313"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964654" y="4070920"/>
            <a:ext cx="37137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1" name="Shape 119"/>
          <p:cNvSpPr/>
          <p:nvPr/>
        </p:nvSpPr>
        <p:spPr>
          <a:xfrm>
            <a:off x="8964060" y="4310815"/>
            <a:ext cx="37196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958532" y="4550711"/>
            <a:ext cx="37749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881593" y="4790606"/>
            <a:ext cx="45443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3" name="Shape 131"/>
          <p:cNvSpPr/>
          <p:nvPr/>
        </p:nvSpPr>
        <p:spPr>
          <a:xfrm>
            <a:off x="8875241" y="5030502"/>
            <a:ext cx="46078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7" name="Shape 135"/>
          <p:cNvSpPr/>
          <p:nvPr/>
        </p:nvSpPr>
        <p:spPr>
          <a:xfrm>
            <a:off x="8760254" y="5270397"/>
            <a:ext cx="57577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31990" y="5510293"/>
            <a:ext cx="60403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 of 33 stores raised internal parts GP%, led by Acura at +6.2 pts to 34.0%. 12 declined; VW St George fell most at −4.8 pts.</a:t>
            </a:r>
            <a:endParaRPr lang="en-US" sz="1600" dirty="0"/>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34.0%</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33.4%</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29.7%</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26.8%</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45.1%</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31.7%</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−4.8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32.5%</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31.3%</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−3.0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35.6%</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34.5%</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37.9%</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Hyundai Prescott and Honda Flagstaff what changed. Ask VW St George, Kia LV and LR LV what got in the way. Ask LR Reno, CDJR Post Falls and LR Henderson what they started this year.</a:t>
            </a:r>
            <a:endParaRPr lang="en-US" sz="1600" dirty="0"/>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Tracking &amp; Accountability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Daily review of the Viz 'Op Code' and 'Performance Report'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feedback quickly and often. Trends start early: don't wait until the 15th.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Tracked metrics improve performance; we are responsible for the knowing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Scoreboard techs and advisors: CP $ per RO, ELR, MPI completion, closing %, key op codes</a:t>
            </a:r>
            <a:endParaRPr lang="en-US" sz="1800" dirty="0"/>
          </a:p>
        </p:txBody>
      </p:sp>
      <p:sp>
        <p:nvSpPr>
          <p:cNvPr id="10" name="Shape 8"/>
          <p:cNvSpPr/>
          <p:nvPr/>
        </p:nvSpPr>
        <p:spPr>
          <a:xfrm>
            <a:off x="7269480" y="1920240"/>
            <a:ext cx="54864" cy="3794760"/>
          </a:xfrm>
          <a:prstGeom prst="rect">
            <a:avLst/>
          </a:prstGeom>
          <a:solidFill>
            <a:srgbClr val="C2352F"/>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2" name="Text 10"/>
          <p:cNvSpPr txBox="1"/>
          <p:nvPr/>
        </p:nvSpPr>
        <p:spPr>
          <a:xfrm>
            <a:off x="7452360" y="2441448"/>
            <a:ext cx="4023360" cy="329184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a:t>
            </a:r>
            <a:endParaRPr lang="en-US" sz="1400" dirty="0"/>
          </a:p>
        </p:txBody>
      </p:sp>
      <p:sp>
        <p:nvSpPr>
          <p:cNvPr id="13" name="Shape 11"/>
          <p:cNvSpPr/>
          <p:nvPr/>
        </p:nvSpPr>
        <p:spPr>
          <a:xfrm>
            <a:off x="457200" y="6126480"/>
            <a:ext cx="11274552" cy="615696"/>
          </a:xfrm>
          <a:prstGeom prst="rect">
            <a:avLst/>
          </a:prstGeom>
          <a:solidFill>
            <a:srgbClr val="EDF4FA"/>
          </a:solidFill>
          <a:ln/>
        </p:spPr>
      </p:sp>
      <p:sp>
        <p:nvSpPr>
          <p:cNvPr id="14" name="Text 1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if it isn't described, it can't be tracked. Clean up op code descriptions so the reports show what you sell.</a:t>
            </a:r>
            <a:endParaRPr lang="en-US" sz="1600" dirty="0"/>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People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Our most valuable asset: this is what separates us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Invest in training and a defined career path. Be the best place to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Grow your own: apprentice programs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does being short-handed cost? Limited scheduling, lost opportunities, missed MPIs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pay plans, job descriptions and expectations</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staff, Sep to Sep, to 1,540 (−4.7%): technicians −17, advisors −7, managers −3.</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$13,617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gross per fixed employee a month, up $1,207. Gross grew 4.1% with 5.1% fewer people.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−2.3%</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year to date. Fewer people and fewer cars: the next gain has to come from car count.</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keep every seat filled with someone who adds hours. Being short-handed costs appointments, MPIs and sold hours.</a:t>
            </a:r>
            <a:endParaRPr lang="en-US" sz="1600" dirty="0"/>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Plans Are Work Instructions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and easily understood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Based on customer-pay performance: CP labor or gross per RO, maintenance penetration, total sales or gross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the results you are looking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 versus bonus: a 50/50 ratio</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system is perfectly designed to get the results it gets</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the number the plans should pay on. Up $17.</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166</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per advisor a month, down 7. Advisors grew 1.5%; ROs fell 2.3%.</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check that every advisor and tech pay plan pays for the numbers on these slides.</a:t>
            </a:r>
            <a:endParaRPr lang="en-US" sz="1600" dirty="0"/>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$12,410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$13,617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Gross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$1,207 to $13,617, ahead of 2025 in all nine months. Gross grew 4.1%; headcount fell 5.1%.</a:t>
            </a:r>
            <a:endParaRPr lang="en-US" sz="1600" dirty="0"/>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$13,617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$23,461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45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$18,549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31724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$18,268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5" name="Shape 23"/>
          <p:cNvSpPr/>
          <p:nvPr/>
        </p:nvSpPr>
        <p:spPr>
          <a:xfrm>
            <a:off x="3008376" y="2626748"/>
            <a:ext cx="130860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$18,148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9" name="Shape 27"/>
          <p:cNvSpPr/>
          <p:nvPr/>
        </p:nvSpPr>
        <p:spPr>
          <a:xfrm>
            <a:off x="3008376" y="2866644"/>
            <a:ext cx="121996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$16,919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158109"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15126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112165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008376" y="3826226"/>
            <a:ext cx="1097901"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9" name="Shape 47"/>
          <p:cNvSpPr/>
          <p:nvPr/>
        </p:nvSpPr>
        <p:spPr>
          <a:xfrm>
            <a:off x="3008376" y="4066122"/>
            <a:ext cx="10755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$14,916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008376" y="4306017"/>
            <a:ext cx="105303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$14,604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102822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$14,260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2202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95823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92829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008376" y="5505495"/>
            <a:ext cx="928044"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90140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$12,501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8558784" y="1907062"/>
            <a:ext cx="891506"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87272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$12,103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8558784" y="2386853"/>
            <a:ext cx="86826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$12,042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8558784" y="2626748"/>
            <a:ext cx="86568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8558784" y="2866644"/>
            <a:ext cx="8621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$11,957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86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$11,631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8558784" y="3346435"/>
            <a:ext cx="83218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$11,541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9" name="Shape 107"/>
          <p:cNvSpPr/>
          <p:nvPr/>
        </p:nvSpPr>
        <p:spPr>
          <a:xfrm>
            <a:off x="8558784" y="3586331"/>
            <a:ext cx="80240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796340"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$11,044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905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$10,963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7782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$10,794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8558784" y="4545913"/>
            <a:ext cx="74925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$10,391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71765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71224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$9,878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68485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$9,498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58784" y="5505495"/>
            <a:ext cx="65971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$9,149</a:t>
            </a:r>
            <a:endParaRPr lang="en-US" sz="1200" dirty="0"/>
          </a:p>
        </p:txBody>
      </p:sp>
      <p:sp>
        <p:nvSpPr>
          <p:cNvPr id="143" name="Shape 141"/>
          <p:cNvSpPr/>
          <p:nvPr/>
        </p:nvSpPr>
        <p:spPr>
          <a:xfrm>
            <a:off x="3982924" y="1847088"/>
            <a:ext cx="14630" cy="4078224"/>
          </a:xfrm>
          <a:prstGeom prst="rect">
            <a:avLst/>
          </a:prstGeom>
          <a:solidFill>
            <a:srgbClr val="0B2C4A"/>
          </a:solidFill>
          <a:ln/>
        </p:spPr>
      </p:sp>
      <p:sp>
        <p:nvSpPr>
          <p:cNvPr id="144" name="Shape 142"/>
          <p:cNvSpPr/>
          <p:nvPr/>
        </p:nvSpPr>
        <p:spPr>
          <a:xfrm>
            <a:off x="9533332"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$13,617 group, led by Audi Henderson at $23,461. Honda Flagstaff is lowest at $9,149.</a:t>
            </a:r>
            <a:endParaRPr lang="en-US" sz="1600" dirty="0"/>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+$4,158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548170"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47566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+$2,545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5" name="Shape 23"/>
          <p:cNvSpPr/>
          <p:nvPr/>
        </p:nvSpPr>
        <p:spPr>
          <a:xfrm>
            <a:off x="3785616" y="2631546"/>
            <a:ext cx="45022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+$2,409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3785616" y="2871442"/>
            <a:ext cx="44088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4275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+$2,287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7" name="Shape 35"/>
          <p:cNvSpPr/>
          <p:nvPr/>
        </p:nvSpPr>
        <p:spPr>
          <a:xfrm>
            <a:off x="3785616" y="3351233"/>
            <a:ext cx="3909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3087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31945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30778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9964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7" name="Shape 55"/>
          <p:cNvSpPr/>
          <p:nvPr/>
        </p:nvSpPr>
        <p:spPr>
          <a:xfrm>
            <a:off x="3785616" y="4550711"/>
            <a:ext cx="27694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+$1,482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7496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785616" y="5030502"/>
            <a:ext cx="2363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+$1,264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785616" y="5270397"/>
            <a:ext cx="22022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3" name="Shape 71"/>
          <p:cNvSpPr/>
          <p:nvPr/>
        </p:nvSpPr>
        <p:spPr>
          <a:xfrm>
            <a:off x="3785616" y="5510293"/>
            <a:ext cx="20589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+$1,101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7" name="Shape 75"/>
          <p:cNvSpPr/>
          <p:nvPr/>
        </p:nvSpPr>
        <p:spPr>
          <a:xfrm>
            <a:off x="3785616" y="5750188"/>
            <a:ext cx="20198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9758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184443"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9336024" y="2391651"/>
            <a:ext cx="1733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9336024" y="2631546"/>
            <a:ext cx="172997"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7218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6461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336024" y="3351233"/>
            <a:ext cx="13616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9336024" y="3591128"/>
            <a:ext cx="126601"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36024" y="3831024"/>
            <a:ext cx="78291"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336024" y="4070920"/>
            <a:ext cx="3421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333892" y="4310815"/>
            <a:ext cx="1280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313319" y="4550711"/>
            <a:ext cx="227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9258696" y="4790606"/>
            <a:ext cx="7732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241624" y="5030502"/>
            <a:ext cx="9440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106061" y="5270397"/>
            <a:ext cx="22996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9089478" y="5510293"/>
            <a:ext cx="246546"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 of 33 stores raised gross per employee, led by Subaru St George at +$4,158 to $15,556. 6 declined; VW St George fell most at −$1,319.</a:t>
            </a:r>
            <a:endParaRPr lang="en-US" sz="1600" dirty="0"/>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$15,556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+$4,158</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$11,631</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+$2,933</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$10,963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+$2,545</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$13,289</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+$2,409</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$23,461</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+$2,359</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$9,878</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−$1,319</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$12,103</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−$1,230</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$14,765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$14,260</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−$505</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$12,006</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−$414</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$15,966</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−$121</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$20,761</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+$4,936</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+$4,856</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$13,709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+$3,587</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$12,004</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+$3,479</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$16,995</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+$2,972</a:t>
            </a:r>
            <a:endParaRPr lang="en-US" sz="1600" dirty="0"/>
          </a:p>
        </p:txBody>
      </p:sp>
      <p:sp>
        <p:nvSpPr>
          <p:cNvPr id="69" name="Shape 67"/>
          <p:cNvSpPr/>
          <p:nvPr/>
        </p:nvSpPr>
        <p:spPr>
          <a:xfrm>
            <a:off x="457200" y="6126480"/>
            <a:ext cx="11274552" cy="585216"/>
          </a:xfrm>
          <a:prstGeom prst="rect">
            <a:avLst/>
          </a:prstGeom>
          <a:solidFill>
            <a:srgbClr val="EDF4FA"/>
          </a:solidFill>
          <a:ln/>
        </p:spPr>
      </p:sp>
      <p:sp>
        <p:nvSpPr>
          <p:cNvPr id="70" name="Text 68"/>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Subaru St George, Hyundai Prescott and Lincoln what changed. Ask VW St George, Kia St George and Cadillac what got in the way. Ask LR Henderson, Subaru St George and LR Reno what they started this year.</a:t>
            </a:r>
            <a:endParaRPr lang="en-US" sz="1500" dirty="0"/>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10128"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34256"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8" name="Text 6"/>
          <p:cNvSpPr txBox="1"/>
          <p:nvPr/>
        </p:nvSpPr>
        <p:spPr>
          <a:xfrm>
            <a:off x="5102352"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9" name="Text 7"/>
          <p:cNvSpPr txBox="1"/>
          <p:nvPr/>
        </p:nvSpPr>
        <p:spPr>
          <a:xfrm>
            <a:off x="8860536"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884664"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11" name="Text 9"/>
          <p:cNvSpPr txBox="1"/>
          <p:nvPr/>
        </p:nvSpPr>
        <p:spPr>
          <a:xfrm>
            <a:off x="10652760"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2" name="Text 10"/>
          <p:cNvSpPr txBox="1"/>
          <p:nvPr/>
        </p:nvSpPr>
        <p:spPr>
          <a:xfrm>
            <a:off x="658368"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3" name="Shape 11"/>
          <p:cNvSpPr/>
          <p:nvPr/>
        </p:nvSpPr>
        <p:spPr>
          <a:xfrm>
            <a:off x="2670048" y="1787195"/>
            <a:ext cx="585216" cy="211226"/>
          </a:xfrm>
          <a:prstGeom prst="rect">
            <a:avLst/>
          </a:prstGeom>
          <a:solidFill>
            <a:srgbClr val="C2352F"/>
          </a:solidFill>
          <a:ln/>
        </p:spPr>
      </p:sp>
      <p:sp>
        <p:nvSpPr>
          <p:cNvPr id="14" name="Text 12"/>
          <p:cNvSpPr txBox="1"/>
          <p:nvPr/>
        </p:nvSpPr>
        <p:spPr>
          <a:xfrm>
            <a:off x="3310128"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$2,456,862</a:t>
            </a:r>
            <a:endParaRPr lang="en-US" sz="1300" dirty="0"/>
          </a:p>
        </p:txBody>
      </p:sp>
      <p:sp>
        <p:nvSpPr>
          <p:cNvPr id="15" name="Text 13"/>
          <p:cNvSpPr txBox="1"/>
          <p:nvPr/>
        </p:nvSpPr>
        <p:spPr>
          <a:xfrm>
            <a:off x="4334256"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$14,260</a:t>
            </a:r>
            <a:endParaRPr lang="en-US" sz="1300" dirty="0"/>
          </a:p>
        </p:txBody>
      </p:sp>
      <p:sp>
        <p:nvSpPr>
          <p:cNvPr id="16" name="Text 14"/>
          <p:cNvSpPr txBox="1"/>
          <p:nvPr/>
        </p:nvSpPr>
        <p:spPr>
          <a:xfrm>
            <a:off x="5102352"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7" name="Text 15"/>
          <p:cNvSpPr txBox="1"/>
          <p:nvPr/>
        </p:nvSpPr>
        <p:spPr>
          <a:xfrm>
            <a:off x="658368"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8" name="Shape 16"/>
          <p:cNvSpPr/>
          <p:nvPr/>
        </p:nvSpPr>
        <p:spPr>
          <a:xfrm>
            <a:off x="2670048" y="2171243"/>
            <a:ext cx="521308" cy="211226"/>
          </a:xfrm>
          <a:prstGeom prst="rect">
            <a:avLst/>
          </a:prstGeom>
          <a:solidFill>
            <a:srgbClr val="C2352F"/>
          </a:solidFill>
          <a:ln/>
        </p:spPr>
      </p:sp>
      <p:sp>
        <p:nvSpPr>
          <p:cNvPr id="19" name="Text 17"/>
          <p:cNvSpPr txBox="1"/>
          <p:nvPr/>
        </p:nvSpPr>
        <p:spPr>
          <a:xfrm>
            <a:off x="3310128"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$2,188,561</a:t>
            </a:r>
            <a:endParaRPr lang="en-US" sz="1300" dirty="0"/>
          </a:p>
        </p:txBody>
      </p:sp>
      <p:sp>
        <p:nvSpPr>
          <p:cNvPr id="20" name="Text 18"/>
          <p:cNvSpPr txBox="1"/>
          <p:nvPr/>
        </p:nvSpPr>
        <p:spPr>
          <a:xfrm>
            <a:off x="4334256"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$10,963</a:t>
            </a:r>
            <a:endParaRPr lang="en-US" sz="1300" dirty="0"/>
          </a:p>
        </p:txBody>
      </p:sp>
      <p:sp>
        <p:nvSpPr>
          <p:cNvPr id="21" name="Text 19"/>
          <p:cNvSpPr txBox="1"/>
          <p:nvPr/>
        </p:nvSpPr>
        <p:spPr>
          <a:xfrm>
            <a:off x="5102352"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22" name="Text 20"/>
          <p:cNvSpPr txBox="1"/>
          <p:nvPr/>
        </p:nvSpPr>
        <p:spPr>
          <a:xfrm>
            <a:off x="658368"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3" name="Shape 21"/>
          <p:cNvSpPr/>
          <p:nvPr/>
        </p:nvSpPr>
        <p:spPr>
          <a:xfrm>
            <a:off x="2670048" y="2555291"/>
            <a:ext cx="321685" cy="211226"/>
          </a:xfrm>
          <a:prstGeom prst="rect">
            <a:avLst/>
          </a:prstGeom>
          <a:solidFill>
            <a:srgbClr val="C2352F"/>
          </a:solidFill>
          <a:ln/>
        </p:spPr>
      </p:sp>
      <p:sp>
        <p:nvSpPr>
          <p:cNvPr id="24" name="Text 22"/>
          <p:cNvSpPr txBox="1"/>
          <p:nvPr/>
        </p:nvSpPr>
        <p:spPr>
          <a:xfrm>
            <a:off x="3310128"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$1,350,504</a:t>
            </a:r>
            <a:endParaRPr lang="en-US" sz="1300" dirty="0"/>
          </a:p>
        </p:txBody>
      </p:sp>
      <p:sp>
        <p:nvSpPr>
          <p:cNvPr id="25" name="Text 23"/>
          <p:cNvSpPr txBox="1"/>
          <p:nvPr/>
        </p:nvSpPr>
        <p:spPr>
          <a:xfrm>
            <a:off x="4334256"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$10,391</a:t>
            </a:r>
            <a:endParaRPr lang="en-US" sz="1300" dirty="0"/>
          </a:p>
        </p:txBody>
      </p:sp>
      <p:sp>
        <p:nvSpPr>
          <p:cNvPr id="26" name="Text 24"/>
          <p:cNvSpPr txBox="1"/>
          <p:nvPr/>
        </p:nvSpPr>
        <p:spPr>
          <a:xfrm>
            <a:off x="5102352"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27" name="Text 25"/>
          <p:cNvSpPr txBox="1"/>
          <p:nvPr/>
        </p:nvSpPr>
        <p:spPr>
          <a:xfrm>
            <a:off x="658368"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8" name="Shape 26"/>
          <p:cNvSpPr/>
          <p:nvPr/>
        </p:nvSpPr>
        <p:spPr>
          <a:xfrm>
            <a:off x="2670048" y="2939339"/>
            <a:ext cx="313094" cy="211226"/>
          </a:xfrm>
          <a:prstGeom prst="rect">
            <a:avLst/>
          </a:prstGeom>
          <a:solidFill>
            <a:srgbClr val="C2352F"/>
          </a:solidFill>
          <a:ln/>
        </p:spPr>
      </p:sp>
      <p:sp>
        <p:nvSpPr>
          <p:cNvPr id="29" name="Text 27"/>
          <p:cNvSpPr txBox="1"/>
          <p:nvPr/>
        </p:nvSpPr>
        <p:spPr>
          <a:xfrm>
            <a:off x="3310128"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$1,314,435</a:t>
            </a:r>
            <a:endParaRPr lang="en-US" sz="1300" dirty="0"/>
          </a:p>
        </p:txBody>
      </p:sp>
      <p:sp>
        <p:nvSpPr>
          <p:cNvPr id="30" name="Text 28"/>
          <p:cNvSpPr txBox="1"/>
          <p:nvPr/>
        </p:nvSpPr>
        <p:spPr>
          <a:xfrm>
            <a:off x="4334256"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$9,953</a:t>
            </a:r>
            <a:endParaRPr lang="en-US" sz="1300" dirty="0"/>
          </a:p>
        </p:txBody>
      </p:sp>
      <p:sp>
        <p:nvSpPr>
          <p:cNvPr id="31" name="Text 29"/>
          <p:cNvSpPr txBox="1"/>
          <p:nvPr/>
        </p:nvSpPr>
        <p:spPr>
          <a:xfrm>
            <a:off x="5102352"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2" name="Text 30"/>
          <p:cNvSpPr txBox="1"/>
          <p:nvPr/>
        </p:nvSpPr>
        <p:spPr>
          <a:xfrm>
            <a:off x="658368"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3" name="Shape 31"/>
          <p:cNvSpPr/>
          <p:nvPr/>
        </p:nvSpPr>
        <p:spPr>
          <a:xfrm>
            <a:off x="2670048" y="3323387"/>
            <a:ext cx="293540" cy="211226"/>
          </a:xfrm>
          <a:prstGeom prst="rect">
            <a:avLst/>
          </a:prstGeom>
          <a:solidFill>
            <a:srgbClr val="C2352F"/>
          </a:solidFill>
          <a:ln/>
        </p:spPr>
      </p:sp>
      <p:sp>
        <p:nvSpPr>
          <p:cNvPr id="34" name="Text 32"/>
          <p:cNvSpPr txBox="1"/>
          <p:nvPr/>
        </p:nvSpPr>
        <p:spPr>
          <a:xfrm>
            <a:off x="3310128"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$1,232,343</a:t>
            </a:r>
            <a:endParaRPr lang="en-US" sz="1300" dirty="0"/>
          </a:p>
        </p:txBody>
      </p:sp>
      <p:sp>
        <p:nvSpPr>
          <p:cNvPr id="35" name="Text 33"/>
          <p:cNvSpPr txBox="1"/>
          <p:nvPr/>
        </p:nvSpPr>
        <p:spPr>
          <a:xfrm>
            <a:off x="4334256"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$12,042</a:t>
            </a:r>
            <a:endParaRPr lang="en-US" sz="1300" dirty="0"/>
          </a:p>
        </p:txBody>
      </p:sp>
      <p:sp>
        <p:nvSpPr>
          <p:cNvPr id="36" name="Text 34"/>
          <p:cNvSpPr txBox="1"/>
          <p:nvPr/>
        </p:nvSpPr>
        <p:spPr>
          <a:xfrm>
            <a:off x="5102352"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7" name="Text 35"/>
          <p:cNvSpPr txBox="1"/>
          <p:nvPr/>
        </p:nvSpPr>
        <p:spPr>
          <a:xfrm>
            <a:off x="658368"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2670048" y="3707435"/>
            <a:ext cx="268472" cy="211226"/>
          </a:xfrm>
          <a:prstGeom prst="rect">
            <a:avLst/>
          </a:prstGeom>
          <a:solidFill>
            <a:srgbClr val="C2352F"/>
          </a:solidFill>
          <a:ln/>
        </p:spPr>
      </p:sp>
      <p:sp>
        <p:nvSpPr>
          <p:cNvPr id="39" name="Text 37"/>
          <p:cNvSpPr txBox="1"/>
          <p:nvPr/>
        </p:nvSpPr>
        <p:spPr>
          <a:xfrm>
            <a:off x="3310128"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$1,127,104</a:t>
            </a:r>
            <a:endParaRPr lang="en-US" sz="1300" dirty="0"/>
          </a:p>
        </p:txBody>
      </p:sp>
      <p:sp>
        <p:nvSpPr>
          <p:cNvPr id="40" name="Text 38"/>
          <p:cNvSpPr txBox="1"/>
          <p:nvPr/>
        </p:nvSpPr>
        <p:spPr>
          <a:xfrm>
            <a:off x="4334256"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$11,128</a:t>
            </a:r>
            <a:endParaRPr lang="en-US" sz="1300" dirty="0"/>
          </a:p>
        </p:txBody>
      </p:sp>
      <p:sp>
        <p:nvSpPr>
          <p:cNvPr id="41" name="Text 39"/>
          <p:cNvSpPr txBox="1"/>
          <p:nvPr/>
        </p:nvSpPr>
        <p:spPr>
          <a:xfrm>
            <a:off x="5102352"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2" name="Text 40"/>
          <p:cNvSpPr txBox="1"/>
          <p:nvPr/>
        </p:nvSpPr>
        <p:spPr>
          <a:xfrm>
            <a:off x="658368"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3" name="Shape 41"/>
          <p:cNvSpPr/>
          <p:nvPr/>
        </p:nvSpPr>
        <p:spPr>
          <a:xfrm>
            <a:off x="2670048" y="4091483"/>
            <a:ext cx="252516" cy="211226"/>
          </a:xfrm>
          <a:prstGeom prst="rect">
            <a:avLst/>
          </a:prstGeom>
          <a:solidFill>
            <a:srgbClr val="C2352F"/>
          </a:solidFill>
          <a:ln/>
        </p:spPr>
      </p:sp>
      <p:sp>
        <p:nvSpPr>
          <p:cNvPr id="44" name="Text 42"/>
          <p:cNvSpPr txBox="1"/>
          <p:nvPr/>
        </p:nvSpPr>
        <p:spPr>
          <a:xfrm>
            <a:off x="3310128"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$1,060,118</a:t>
            </a:r>
            <a:endParaRPr lang="en-US" sz="1300" dirty="0"/>
          </a:p>
        </p:txBody>
      </p:sp>
      <p:sp>
        <p:nvSpPr>
          <p:cNvPr id="45" name="Text 43"/>
          <p:cNvSpPr txBox="1"/>
          <p:nvPr/>
        </p:nvSpPr>
        <p:spPr>
          <a:xfrm>
            <a:off x="4334256"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$10,794</a:t>
            </a:r>
            <a:endParaRPr lang="en-US" sz="1300" dirty="0"/>
          </a:p>
        </p:txBody>
      </p:sp>
      <p:sp>
        <p:nvSpPr>
          <p:cNvPr id="46" name="Text 44"/>
          <p:cNvSpPr txBox="1"/>
          <p:nvPr/>
        </p:nvSpPr>
        <p:spPr>
          <a:xfrm>
            <a:off x="5102352"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7" name="Text 45"/>
          <p:cNvSpPr txBox="1"/>
          <p:nvPr/>
        </p:nvSpPr>
        <p:spPr>
          <a:xfrm>
            <a:off x="658368"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48" name="Shape 46"/>
          <p:cNvSpPr/>
          <p:nvPr/>
        </p:nvSpPr>
        <p:spPr>
          <a:xfrm>
            <a:off x="2670048" y="4475531"/>
            <a:ext cx="244133" cy="211226"/>
          </a:xfrm>
          <a:prstGeom prst="rect">
            <a:avLst/>
          </a:prstGeom>
          <a:solidFill>
            <a:srgbClr val="C2352F"/>
          </a:solidFill>
          <a:ln/>
        </p:spPr>
      </p:sp>
      <p:sp>
        <p:nvSpPr>
          <p:cNvPr id="49" name="Text 47"/>
          <p:cNvSpPr txBox="1"/>
          <p:nvPr/>
        </p:nvSpPr>
        <p:spPr>
          <a:xfrm>
            <a:off x="3310128"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$1,024,925</a:t>
            </a:r>
            <a:endParaRPr lang="en-US" sz="1300" dirty="0"/>
          </a:p>
        </p:txBody>
      </p:sp>
      <p:sp>
        <p:nvSpPr>
          <p:cNvPr id="50" name="Text 48"/>
          <p:cNvSpPr txBox="1"/>
          <p:nvPr/>
        </p:nvSpPr>
        <p:spPr>
          <a:xfrm>
            <a:off x="4334256"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$9,498</a:t>
            </a:r>
            <a:endParaRPr lang="en-US" sz="1300" dirty="0"/>
          </a:p>
        </p:txBody>
      </p:sp>
      <p:sp>
        <p:nvSpPr>
          <p:cNvPr id="51" name="Text 49"/>
          <p:cNvSpPr txBox="1"/>
          <p:nvPr/>
        </p:nvSpPr>
        <p:spPr>
          <a:xfrm>
            <a:off x="5102352"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52" name="Text 50"/>
          <p:cNvSpPr txBox="1"/>
          <p:nvPr/>
        </p:nvSpPr>
        <p:spPr>
          <a:xfrm>
            <a:off x="658368"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53" name="Shape 51"/>
          <p:cNvSpPr/>
          <p:nvPr/>
        </p:nvSpPr>
        <p:spPr>
          <a:xfrm>
            <a:off x="2670048" y="4859579"/>
            <a:ext cx="243998" cy="211226"/>
          </a:xfrm>
          <a:prstGeom prst="rect">
            <a:avLst/>
          </a:prstGeom>
          <a:solidFill>
            <a:srgbClr val="C2352F"/>
          </a:solidFill>
          <a:ln/>
        </p:spPr>
      </p:sp>
      <p:sp>
        <p:nvSpPr>
          <p:cNvPr id="54" name="Text 52"/>
          <p:cNvSpPr txBox="1"/>
          <p:nvPr/>
        </p:nvSpPr>
        <p:spPr>
          <a:xfrm>
            <a:off x="3310128"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$1,024,357</a:t>
            </a:r>
            <a:endParaRPr lang="en-US" sz="1300" dirty="0"/>
          </a:p>
        </p:txBody>
      </p:sp>
      <p:sp>
        <p:nvSpPr>
          <p:cNvPr id="55" name="Text 53"/>
          <p:cNvSpPr txBox="1"/>
          <p:nvPr/>
        </p:nvSpPr>
        <p:spPr>
          <a:xfrm>
            <a:off x="4334256"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$11,044</a:t>
            </a:r>
            <a:endParaRPr lang="en-US" sz="1300" dirty="0"/>
          </a:p>
        </p:txBody>
      </p:sp>
      <p:sp>
        <p:nvSpPr>
          <p:cNvPr id="56" name="Text 54"/>
          <p:cNvSpPr txBox="1"/>
          <p:nvPr/>
        </p:nvSpPr>
        <p:spPr>
          <a:xfrm>
            <a:off x="5102352"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57" name="Text 55"/>
          <p:cNvSpPr txBox="1"/>
          <p:nvPr/>
        </p:nvSpPr>
        <p:spPr>
          <a:xfrm>
            <a:off x="658368"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58" name="Shape 56"/>
          <p:cNvSpPr/>
          <p:nvPr/>
        </p:nvSpPr>
        <p:spPr>
          <a:xfrm>
            <a:off x="2670048" y="5243627"/>
            <a:ext cx="197721" cy="211226"/>
          </a:xfrm>
          <a:prstGeom prst="rect">
            <a:avLst/>
          </a:prstGeom>
          <a:solidFill>
            <a:srgbClr val="C2352F"/>
          </a:solidFill>
          <a:ln/>
        </p:spPr>
      </p:sp>
      <p:sp>
        <p:nvSpPr>
          <p:cNvPr id="59" name="Text 57"/>
          <p:cNvSpPr txBox="1"/>
          <p:nvPr/>
        </p:nvSpPr>
        <p:spPr>
          <a:xfrm>
            <a:off x="3310128"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$830,073</a:t>
            </a:r>
            <a:endParaRPr lang="en-US" sz="1300" dirty="0"/>
          </a:p>
        </p:txBody>
      </p:sp>
      <p:sp>
        <p:nvSpPr>
          <p:cNvPr id="60" name="Text 58"/>
          <p:cNvSpPr txBox="1"/>
          <p:nvPr/>
        </p:nvSpPr>
        <p:spPr>
          <a:xfrm>
            <a:off x="4334256"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$14,916</a:t>
            </a:r>
            <a:endParaRPr lang="en-US" sz="1300" dirty="0"/>
          </a:p>
        </p:txBody>
      </p:sp>
      <p:sp>
        <p:nvSpPr>
          <p:cNvPr id="61" name="Text 59"/>
          <p:cNvSpPr txBox="1"/>
          <p:nvPr/>
        </p:nvSpPr>
        <p:spPr>
          <a:xfrm>
            <a:off x="5102352"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62" name="Text 60"/>
          <p:cNvSpPr txBox="1"/>
          <p:nvPr/>
        </p:nvSpPr>
        <p:spPr>
          <a:xfrm>
            <a:off x="658368" y="554126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63" name="Shape 61"/>
          <p:cNvSpPr/>
          <p:nvPr/>
        </p:nvSpPr>
        <p:spPr>
          <a:xfrm>
            <a:off x="2670048" y="5627675"/>
            <a:ext cx="197008" cy="211226"/>
          </a:xfrm>
          <a:prstGeom prst="rect">
            <a:avLst/>
          </a:prstGeom>
          <a:solidFill>
            <a:srgbClr val="C2352F"/>
          </a:solidFill>
          <a:ln/>
        </p:spPr>
      </p:sp>
      <p:sp>
        <p:nvSpPr>
          <p:cNvPr id="64" name="Text 62"/>
          <p:cNvSpPr txBox="1"/>
          <p:nvPr/>
        </p:nvSpPr>
        <p:spPr>
          <a:xfrm>
            <a:off x="3310128" y="554126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$827,082</a:t>
            </a:r>
            <a:endParaRPr lang="en-US" sz="1300" dirty="0"/>
          </a:p>
        </p:txBody>
      </p:sp>
      <p:sp>
        <p:nvSpPr>
          <p:cNvPr id="65" name="Text 63"/>
          <p:cNvSpPr txBox="1"/>
          <p:nvPr/>
        </p:nvSpPr>
        <p:spPr>
          <a:xfrm>
            <a:off x="4334256"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$9,149</a:t>
            </a:r>
            <a:endParaRPr lang="en-US" sz="1300" dirty="0"/>
          </a:p>
        </p:txBody>
      </p:sp>
      <p:sp>
        <p:nvSpPr>
          <p:cNvPr id="66" name="Text 64"/>
          <p:cNvSpPr txBox="1"/>
          <p:nvPr/>
        </p:nvSpPr>
        <p:spPr>
          <a:xfrm>
            <a:off x="5102352"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7" name="Text 65"/>
          <p:cNvSpPr txBox="1"/>
          <p:nvPr/>
        </p:nvSpPr>
        <p:spPr>
          <a:xfrm>
            <a:off x="6208776"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8" name="Shape 66"/>
          <p:cNvSpPr/>
          <p:nvPr/>
        </p:nvSpPr>
        <p:spPr>
          <a:xfrm>
            <a:off x="8220456" y="1787195"/>
            <a:ext cx="96145" cy="211226"/>
          </a:xfrm>
          <a:prstGeom prst="rect">
            <a:avLst/>
          </a:prstGeom>
          <a:solidFill>
            <a:srgbClr val="C2352F"/>
          </a:solidFill>
          <a:ln/>
        </p:spPr>
      </p:sp>
      <p:sp>
        <p:nvSpPr>
          <p:cNvPr id="69" name="Text 67"/>
          <p:cNvSpPr txBox="1"/>
          <p:nvPr/>
        </p:nvSpPr>
        <p:spPr>
          <a:xfrm>
            <a:off x="8860536"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$403,638</a:t>
            </a:r>
            <a:endParaRPr lang="en-US" sz="1300" dirty="0"/>
          </a:p>
        </p:txBody>
      </p:sp>
      <p:sp>
        <p:nvSpPr>
          <p:cNvPr id="70" name="Text 68"/>
          <p:cNvSpPr txBox="1"/>
          <p:nvPr/>
        </p:nvSpPr>
        <p:spPr>
          <a:xfrm>
            <a:off x="9884664"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$11,957</a:t>
            </a:r>
            <a:endParaRPr lang="en-US" sz="1300" dirty="0"/>
          </a:p>
        </p:txBody>
      </p:sp>
      <p:sp>
        <p:nvSpPr>
          <p:cNvPr id="71" name="Text 69"/>
          <p:cNvSpPr txBox="1"/>
          <p:nvPr/>
        </p:nvSpPr>
        <p:spPr>
          <a:xfrm>
            <a:off x="10652760"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72" name="Text 70"/>
          <p:cNvSpPr txBox="1"/>
          <p:nvPr/>
        </p:nvSpPr>
        <p:spPr>
          <a:xfrm>
            <a:off x="6208776"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73" name="Shape 71"/>
          <p:cNvSpPr/>
          <p:nvPr/>
        </p:nvSpPr>
        <p:spPr>
          <a:xfrm>
            <a:off x="8220456" y="2171243"/>
            <a:ext cx="89775" cy="211226"/>
          </a:xfrm>
          <a:prstGeom prst="rect">
            <a:avLst/>
          </a:prstGeom>
          <a:solidFill>
            <a:srgbClr val="C2352F"/>
          </a:solidFill>
          <a:ln/>
        </p:spPr>
      </p:sp>
      <p:sp>
        <p:nvSpPr>
          <p:cNvPr id="74" name="Text 72"/>
          <p:cNvSpPr txBox="1"/>
          <p:nvPr/>
        </p:nvSpPr>
        <p:spPr>
          <a:xfrm>
            <a:off x="8860536"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$376,895</a:t>
            </a:r>
            <a:endParaRPr lang="en-US" sz="1300" dirty="0"/>
          </a:p>
        </p:txBody>
      </p:sp>
      <p:sp>
        <p:nvSpPr>
          <p:cNvPr id="75" name="Text 73"/>
          <p:cNvSpPr txBox="1"/>
          <p:nvPr/>
        </p:nvSpPr>
        <p:spPr>
          <a:xfrm>
            <a:off x="9884664"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$12,006</a:t>
            </a:r>
            <a:endParaRPr lang="en-US" sz="1300" dirty="0"/>
          </a:p>
        </p:txBody>
      </p:sp>
      <p:sp>
        <p:nvSpPr>
          <p:cNvPr id="76" name="Text 74"/>
          <p:cNvSpPr txBox="1"/>
          <p:nvPr/>
        </p:nvSpPr>
        <p:spPr>
          <a:xfrm>
            <a:off x="10652760"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77" name="Text 75"/>
          <p:cNvSpPr txBox="1"/>
          <p:nvPr/>
        </p:nvSpPr>
        <p:spPr>
          <a:xfrm>
            <a:off x="6208776"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78" name="Shape 76"/>
          <p:cNvSpPr/>
          <p:nvPr/>
        </p:nvSpPr>
        <p:spPr>
          <a:xfrm>
            <a:off x="8220456" y="2555291"/>
            <a:ext cx="88284" cy="211226"/>
          </a:xfrm>
          <a:prstGeom prst="rect">
            <a:avLst/>
          </a:prstGeom>
          <a:solidFill>
            <a:srgbClr val="C2352F"/>
          </a:solidFill>
          <a:ln/>
        </p:spPr>
      </p:sp>
      <p:sp>
        <p:nvSpPr>
          <p:cNvPr id="79" name="Text 77"/>
          <p:cNvSpPr txBox="1"/>
          <p:nvPr/>
        </p:nvSpPr>
        <p:spPr>
          <a:xfrm>
            <a:off x="8860536"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$370,634</a:t>
            </a:r>
            <a:endParaRPr lang="en-US" sz="1300" dirty="0"/>
          </a:p>
        </p:txBody>
      </p:sp>
      <p:sp>
        <p:nvSpPr>
          <p:cNvPr id="80" name="Text 78"/>
          <p:cNvSpPr txBox="1"/>
          <p:nvPr/>
        </p:nvSpPr>
        <p:spPr>
          <a:xfrm>
            <a:off x="9884664"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$9,878</a:t>
            </a:r>
            <a:endParaRPr lang="en-US" sz="1300" dirty="0"/>
          </a:p>
        </p:txBody>
      </p:sp>
      <p:sp>
        <p:nvSpPr>
          <p:cNvPr id="81" name="Text 79"/>
          <p:cNvSpPr txBox="1"/>
          <p:nvPr/>
        </p:nvSpPr>
        <p:spPr>
          <a:xfrm>
            <a:off x="10652760"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82" name="Text 80"/>
          <p:cNvSpPr txBox="1"/>
          <p:nvPr/>
        </p:nvSpPr>
        <p:spPr>
          <a:xfrm>
            <a:off x="6208776"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83" name="Shape 81"/>
          <p:cNvSpPr/>
          <p:nvPr/>
        </p:nvSpPr>
        <p:spPr>
          <a:xfrm>
            <a:off x="8220456" y="2939339"/>
            <a:ext cx="81589" cy="211226"/>
          </a:xfrm>
          <a:prstGeom prst="rect">
            <a:avLst/>
          </a:prstGeom>
          <a:solidFill>
            <a:srgbClr val="C2352F"/>
          </a:solidFill>
          <a:ln/>
        </p:spPr>
      </p:sp>
      <p:sp>
        <p:nvSpPr>
          <p:cNvPr id="84" name="Text 82"/>
          <p:cNvSpPr txBox="1"/>
          <p:nvPr/>
        </p:nvSpPr>
        <p:spPr>
          <a:xfrm>
            <a:off x="8860536"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$342,526</a:t>
            </a:r>
            <a:endParaRPr lang="en-US" sz="1300" dirty="0"/>
          </a:p>
        </p:txBody>
      </p:sp>
      <p:sp>
        <p:nvSpPr>
          <p:cNvPr id="85" name="Text 83"/>
          <p:cNvSpPr txBox="1"/>
          <p:nvPr/>
        </p:nvSpPr>
        <p:spPr>
          <a:xfrm>
            <a:off x="9884664"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$15,226</a:t>
            </a:r>
            <a:endParaRPr lang="en-US" sz="1300" dirty="0"/>
          </a:p>
        </p:txBody>
      </p:sp>
      <p:sp>
        <p:nvSpPr>
          <p:cNvPr id="86" name="Text 84"/>
          <p:cNvSpPr txBox="1"/>
          <p:nvPr/>
        </p:nvSpPr>
        <p:spPr>
          <a:xfrm>
            <a:off x="10652760"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87" name="Text 85"/>
          <p:cNvSpPr txBox="1"/>
          <p:nvPr/>
        </p:nvSpPr>
        <p:spPr>
          <a:xfrm>
            <a:off x="6208776"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88" name="Shape 86"/>
          <p:cNvSpPr/>
          <p:nvPr/>
        </p:nvSpPr>
        <p:spPr>
          <a:xfrm>
            <a:off x="8220456" y="3323387"/>
            <a:ext cx="73764" cy="211226"/>
          </a:xfrm>
          <a:prstGeom prst="rect">
            <a:avLst/>
          </a:prstGeom>
          <a:solidFill>
            <a:srgbClr val="C2352F"/>
          </a:solidFill>
          <a:ln/>
        </p:spPr>
      </p:sp>
      <p:sp>
        <p:nvSpPr>
          <p:cNvPr id="89" name="Text 87"/>
          <p:cNvSpPr txBox="1"/>
          <p:nvPr/>
        </p:nvSpPr>
        <p:spPr>
          <a:xfrm>
            <a:off x="8860536"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$309,678</a:t>
            </a:r>
            <a:endParaRPr lang="en-US" sz="1300" dirty="0"/>
          </a:p>
        </p:txBody>
      </p:sp>
      <p:sp>
        <p:nvSpPr>
          <p:cNvPr id="90" name="Text 88"/>
          <p:cNvSpPr txBox="1"/>
          <p:nvPr/>
        </p:nvSpPr>
        <p:spPr>
          <a:xfrm>
            <a:off x="9884664"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$11,541</a:t>
            </a:r>
            <a:endParaRPr lang="en-US" sz="1300" dirty="0"/>
          </a:p>
        </p:txBody>
      </p:sp>
      <p:sp>
        <p:nvSpPr>
          <p:cNvPr id="91" name="Text 89"/>
          <p:cNvSpPr txBox="1"/>
          <p:nvPr/>
        </p:nvSpPr>
        <p:spPr>
          <a:xfrm>
            <a:off x="10652760"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2" name="Text 90"/>
          <p:cNvSpPr txBox="1"/>
          <p:nvPr/>
        </p:nvSpPr>
        <p:spPr>
          <a:xfrm>
            <a:off x="6208776"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3" name="Shape 91"/>
          <p:cNvSpPr/>
          <p:nvPr/>
        </p:nvSpPr>
        <p:spPr>
          <a:xfrm>
            <a:off x="8220456" y="3707435"/>
            <a:ext cx="45418" cy="211226"/>
          </a:xfrm>
          <a:prstGeom prst="rect">
            <a:avLst/>
          </a:prstGeom>
          <a:solidFill>
            <a:srgbClr val="C2352F"/>
          </a:solidFill>
          <a:ln/>
        </p:spPr>
      </p:sp>
      <p:sp>
        <p:nvSpPr>
          <p:cNvPr id="94" name="Text 92"/>
          <p:cNvSpPr txBox="1"/>
          <p:nvPr/>
        </p:nvSpPr>
        <p:spPr>
          <a:xfrm>
            <a:off x="8860536"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$190,674</a:t>
            </a:r>
            <a:endParaRPr lang="en-US" sz="1300" dirty="0"/>
          </a:p>
        </p:txBody>
      </p:sp>
      <p:sp>
        <p:nvSpPr>
          <p:cNvPr id="95" name="Text 93"/>
          <p:cNvSpPr txBox="1"/>
          <p:nvPr/>
        </p:nvSpPr>
        <p:spPr>
          <a:xfrm>
            <a:off x="9884664"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$11,631</a:t>
            </a:r>
            <a:endParaRPr lang="en-US" sz="1300" dirty="0"/>
          </a:p>
        </p:txBody>
      </p:sp>
      <p:sp>
        <p:nvSpPr>
          <p:cNvPr id="96" name="Text 94"/>
          <p:cNvSpPr txBox="1"/>
          <p:nvPr/>
        </p:nvSpPr>
        <p:spPr>
          <a:xfrm>
            <a:off x="10652760"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7" name="Text 95"/>
          <p:cNvSpPr txBox="1"/>
          <p:nvPr/>
        </p:nvSpPr>
        <p:spPr>
          <a:xfrm>
            <a:off x="6208776"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98" name="Shape 96"/>
          <p:cNvSpPr/>
          <p:nvPr/>
        </p:nvSpPr>
        <p:spPr>
          <a:xfrm>
            <a:off x="8220456" y="4091483"/>
            <a:ext cx="37443" cy="211226"/>
          </a:xfrm>
          <a:prstGeom prst="rect">
            <a:avLst/>
          </a:prstGeom>
          <a:solidFill>
            <a:srgbClr val="C2352F"/>
          </a:solidFill>
          <a:ln/>
        </p:spPr>
      </p:sp>
      <p:sp>
        <p:nvSpPr>
          <p:cNvPr id="99" name="Text 97"/>
          <p:cNvSpPr txBox="1"/>
          <p:nvPr/>
        </p:nvSpPr>
        <p:spPr>
          <a:xfrm>
            <a:off x="8860536"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$157,193</a:t>
            </a:r>
            <a:endParaRPr lang="en-US" sz="1300" dirty="0"/>
          </a:p>
        </p:txBody>
      </p:sp>
      <p:sp>
        <p:nvSpPr>
          <p:cNvPr id="100" name="Text 98"/>
          <p:cNvSpPr txBox="1"/>
          <p:nvPr/>
        </p:nvSpPr>
        <p:spPr>
          <a:xfrm>
            <a:off x="9884664"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$12,103</a:t>
            </a:r>
            <a:endParaRPr lang="en-US" sz="1300" dirty="0"/>
          </a:p>
        </p:txBody>
      </p:sp>
      <p:sp>
        <p:nvSpPr>
          <p:cNvPr id="101" name="Text 99"/>
          <p:cNvSpPr txBox="1"/>
          <p:nvPr/>
        </p:nvSpPr>
        <p:spPr>
          <a:xfrm>
            <a:off x="10652760"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02" name="Text 100"/>
          <p:cNvSpPr txBox="1"/>
          <p:nvPr/>
        </p:nvSpPr>
        <p:spPr>
          <a:xfrm>
            <a:off x="6208776"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03" name="Shape 101"/>
          <p:cNvSpPr/>
          <p:nvPr/>
        </p:nvSpPr>
        <p:spPr>
          <a:xfrm>
            <a:off x="8220456" y="4475531"/>
            <a:ext cx="26036" cy="211226"/>
          </a:xfrm>
          <a:prstGeom prst="rect">
            <a:avLst/>
          </a:prstGeom>
          <a:solidFill>
            <a:srgbClr val="C2352F"/>
          </a:solidFill>
          <a:ln/>
        </p:spPr>
      </p:sp>
      <p:sp>
        <p:nvSpPr>
          <p:cNvPr id="104" name="Text 102"/>
          <p:cNvSpPr txBox="1"/>
          <p:nvPr/>
        </p:nvSpPr>
        <p:spPr>
          <a:xfrm>
            <a:off x="8860536"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$109,303</a:t>
            </a:r>
            <a:endParaRPr lang="en-US" sz="1300" dirty="0"/>
          </a:p>
        </p:txBody>
      </p:sp>
      <p:sp>
        <p:nvSpPr>
          <p:cNvPr id="105" name="Text 103"/>
          <p:cNvSpPr txBox="1"/>
          <p:nvPr/>
        </p:nvSpPr>
        <p:spPr>
          <a:xfrm>
            <a:off x="9884664"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$12,364</a:t>
            </a:r>
            <a:endParaRPr lang="en-US" sz="1300" dirty="0"/>
          </a:p>
        </p:txBody>
      </p:sp>
      <p:sp>
        <p:nvSpPr>
          <p:cNvPr id="106" name="Text 104"/>
          <p:cNvSpPr txBox="1"/>
          <p:nvPr/>
        </p:nvSpPr>
        <p:spPr>
          <a:xfrm>
            <a:off x="10652760"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07" name="Text 105"/>
          <p:cNvSpPr txBox="1"/>
          <p:nvPr/>
        </p:nvSpPr>
        <p:spPr>
          <a:xfrm>
            <a:off x="6208776"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8" name="Shape 106"/>
          <p:cNvSpPr/>
          <p:nvPr/>
        </p:nvSpPr>
        <p:spPr>
          <a:xfrm>
            <a:off x="8220456" y="4859579"/>
            <a:ext cx="18288" cy="211226"/>
          </a:xfrm>
          <a:prstGeom prst="rect">
            <a:avLst/>
          </a:prstGeom>
          <a:solidFill>
            <a:srgbClr val="C2352F"/>
          </a:solidFill>
          <a:ln/>
        </p:spPr>
      </p:sp>
      <p:sp>
        <p:nvSpPr>
          <p:cNvPr id="109" name="Text 107"/>
          <p:cNvSpPr txBox="1"/>
          <p:nvPr/>
        </p:nvSpPr>
        <p:spPr>
          <a:xfrm>
            <a:off x="8860536"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$61,379</a:t>
            </a:r>
            <a:endParaRPr lang="en-US" sz="1300" dirty="0"/>
          </a:p>
        </p:txBody>
      </p:sp>
      <p:sp>
        <p:nvSpPr>
          <p:cNvPr id="110" name="Text 108"/>
          <p:cNvSpPr txBox="1"/>
          <p:nvPr/>
        </p:nvSpPr>
        <p:spPr>
          <a:xfrm>
            <a:off x="9884664"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$12,501</a:t>
            </a:r>
            <a:endParaRPr lang="en-US" sz="1300" dirty="0"/>
          </a:p>
        </p:txBody>
      </p:sp>
      <p:sp>
        <p:nvSpPr>
          <p:cNvPr id="111" name="Text 109"/>
          <p:cNvSpPr txBox="1"/>
          <p:nvPr/>
        </p:nvSpPr>
        <p:spPr>
          <a:xfrm>
            <a:off x="10652760"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12" name="Text 110"/>
          <p:cNvSpPr txBox="1"/>
          <p:nvPr/>
        </p:nvSpPr>
        <p:spPr>
          <a:xfrm>
            <a:off x="6208776"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13" name="Shape 111"/>
          <p:cNvSpPr/>
          <p:nvPr/>
        </p:nvSpPr>
        <p:spPr>
          <a:xfrm>
            <a:off x="8220456" y="5243627"/>
            <a:ext cx="18288" cy="211226"/>
          </a:xfrm>
          <a:prstGeom prst="rect">
            <a:avLst/>
          </a:prstGeom>
          <a:solidFill>
            <a:srgbClr val="C2352F"/>
          </a:solidFill>
          <a:ln/>
        </p:spPr>
      </p:sp>
      <p:sp>
        <p:nvSpPr>
          <p:cNvPr id="114" name="Text 112"/>
          <p:cNvSpPr txBox="1"/>
          <p:nvPr/>
        </p:nvSpPr>
        <p:spPr>
          <a:xfrm>
            <a:off x="8860536"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$25,739</a:t>
            </a:r>
            <a:endParaRPr lang="en-US" sz="1300" dirty="0"/>
          </a:p>
        </p:txBody>
      </p:sp>
      <p:sp>
        <p:nvSpPr>
          <p:cNvPr id="115" name="Text 113"/>
          <p:cNvSpPr txBox="1"/>
          <p:nvPr/>
        </p:nvSpPr>
        <p:spPr>
          <a:xfrm>
            <a:off x="9884664"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$16,919</a:t>
            </a:r>
            <a:endParaRPr lang="en-US" sz="1300" dirty="0"/>
          </a:p>
        </p:txBody>
      </p:sp>
      <p:sp>
        <p:nvSpPr>
          <p:cNvPr id="116" name="Text 114"/>
          <p:cNvSpPr txBox="1"/>
          <p:nvPr/>
        </p:nvSpPr>
        <p:spPr>
          <a:xfrm>
            <a:off x="10652760"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17" name="Shape 115"/>
          <p:cNvSpPr/>
          <p:nvPr/>
        </p:nvSpPr>
        <p:spPr>
          <a:xfrm>
            <a:off x="457200" y="6126480"/>
            <a:ext cx="11274552" cy="615696"/>
          </a:xfrm>
          <a:prstGeom prst="rect">
            <a:avLst/>
          </a:prstGeom>
          <a:solidFill>
            <a:srgbClr val="FBEBEA"/>
          </a:solidFill>
          <a:ln/>
        </p:spPr>
      </p:sp>
      <p:sp>
        <p:nvSpPr>
          <p:cNvPr id="118" name="Text 11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Luxury stores are compared with $16,998 a month, non-luxury with $12,714. 21 stores below their average leave $16,784,025 a year with the same staff.</a:t>
            </a:r>
            <a:endParaRPr lang="en-US" sz="1600" dirty="0"/>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5% More per Employee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56432"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7083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8" name="Text 6"/>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9" name="Text 7"/>
          <p:cNvSpPr txBox="1"/>
          <p:nvPr/>
        </p:nvSpPr>
        <p:spPr>
          <a:xfrm>
            <a:off x="9006840"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212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11" name="Text 9"/>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3" name="Shape 11"/>
          <p:cNvSpPr/>
          <p:nvPr/>
        </p:nvSpPr>
        <p:spPr>
          <a:xfrm>
            <a:off x="2670048" y="1756697"/>
            <a:ext cx="731520" cy="136676"/>
          </a:xfrm>
          <a:prstGeom prst="rect">
            <a:avLst/>
          </a:prstGeom>
          <a:solidFill>
            <a:srgbClr val="2587C5"/>
          </a:solidFill>
          <a:ln/>
        </p:spPr>
      </p:sp>
      <p:sp>
        <p:nvSpPr>
          <p:cNvPr id="14" name="Text 12"/>
          <p:cNvSpPr txBox="1"/>
          <p:nvPr/>
        </p:nvSpPr>
        <p:spPr>
          <a:xfrm>
            <a:off x="3456432"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$1.51M</a:t>
            </a:r>
            <a:endParaRPr lang="en-US" sz="1300" dirty="0"/>
          </a:p>
        </p:txBody>
      </p:sp>
      <p:sp>
        <p:nvSpPr>
          <p:cNvPr id="15" name="Text 13"/>
          <p:cNvSpPr txBox="1"/>
          <p:nvPr/>
        </p:nvSpPr>
        <p:spPr>
          <a:xfrm>
            <a:off x="4370832"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$14.2K</a:t>
            </a:r>
            <a:endParaRPr lang="en-US" sz="1300" dirty="0"/>
          </a:p>
        </p:txBody>
      </p:sp>
      <p:sp>
        <p:nvSpPr>
          <p:cNvPr id="16" name="Text 14"/>
          <p:cNvSpPr txBox="1"/>
          <p:nvPr/>
        </p:nvSpPr>
        <p:spPr>
          <a:xfrm>
            <a:off x="512064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2670048" y="2005199"/>
            <a:ext cx="535690" cy="136676"/>
          </a:xfrm>
          <a:prstGeom prst="rect">
            <a:avLst/>
          </a:prstGeom>
          <a:solidFill>
            <a:srgbClr val="2587C5"/>
          </a:solidFill>
          <a:ln/>
        </p:spPr>
      </p:sp>
      <p:sp>
        <p:nvSpPr>
          <p:cNvPr id="19" name="Text 17"/>
          <p:cNvSpPr txBox="1"/>
          <p:nvPr/>
        </p:nvSpPr>
        <p:spPr>
          <a:xfrm>
            <a:off x="3456432"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$1.10M</a:t>
            </a:r>
            <a:endParaRPr lang="en-US" sz="1300" dirty="0"/>
          </a:p>
        </p:txBody>
      </p:sp>
      <p:sp>
        <p:nvSpPr>
          <p:cNvPr id="20" name="Text 18"/>
          <p:cNvSpPr txBox="1"/>
          <p:nvPr/>
        </p:nvSpPr>
        <p:spPr>
          <a:xfrm>
            <a:off x="4370832"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21" name="Text 19"/>
          <p:cNvSpPr txBox="1"/>
          <p:nvPr/>
        </p:nvSpPr>
        <p:spPr>
          <a:xfrm>
            <a:off x="512064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3" name="Shape 21"/>
          <p:cNvSpPr/>
          <p:nvPr/>
        </p:nvSpPr>
        <p:spPr>
          <a:xfrm>
            <a:off x="2670048" y="2253700"/>
            <a:ext cx="466983" cy="136676"/>
          </a:xfrm>
          <a:prstGeom prst="rect">
            <a:avLst/>
          </a:prstGeom>
          <a:solidFill>
            <a:srgbClr val="2587C5"/>
          </a:solidFill>
          <a:ln/>
        </p:spPr>
      </p:sp>
      <p:sp>
        <p:nvSpPr>
          <p:cNvPr id="24" name="Text 22"/>
          <p:cNvSpPr txBox="1"/>
          <p:nvPr/>
        </p:nvSpPr>
        <p:spPr>
          <a:xfrm>
            <a:off x="3456432"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$962K</a:t>
            </a:r>
            <a:endParaRPr lang="en-US" sz="1300" dirty="0"/>
          </a:p>
        </p:txBody>
      </p:sp>
      <p:sp>
        <p:nvSpPr>
          <p:cNvPr id="25" name="Text 23"/>
          <p:cNvSpPr txBox="1"/>
          <p:nvPr/>
        </p:nvSpPr>
        <p:spPr>
          <a:xfrm>
            <a:off x="4370832"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$16.1K</a:t>
            </a:r>
            <a:endParaRPr lang="en-US" sz="1300" dirty="0"/>
          </a:p>
        </p:txBody>
      </p:sp>
      <p:sp>
        <p:nvSpPr>
          <p:cNvPr id="26" name="Text 24"/>
          <p:cNvSpPr txBox="1"/>
          <p:nvPr/>
        </p:nvSpPr>
        <p:spPr>
          <a:xfrm>
            <a:off x="512064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502202"/>
            <a:ext cx="399548" cy="136676"/>
          </a:xfrm>
          <a:prstGeom prst="rect">
            <a:avLst/>
          </a:prstGeom>
          <a:solidFill>
            <a:srgbClr val="2587C5"/>
          </a:solidFill>
          <a:ln/>
        </p:spPr>
      </p:sp>
      <p:sp>
        <p:nvSpPr>
          <p:cNvPr id="29" name="Text 27"/>
          <p:cNvSpPr txBox="1"/>
          <p:nvPr/>
        </p:nvSpPr>
        <p:spPr>
          <a:xfrm>
            <a:off x="3456432"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$823K</a:t>
            </a:r>
            <a:endParaRPr lang="en-US" sz="1300" dirty="0"/>
          </a:p>
        </p:txBody>
      </p:sp>
      <p:sp>
        <p:nvSpPr>
          <p:cNvPr id="30" name="Text 28"/>
          <p:cNvSpPr txBox="1"/>
          <p:nvPr/>
        </p:nvSpPr>
        <p:spPr>
          <a:xfrm>
            <a:off x="4370832"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$23.5K</a:t>
            </a:r>
            <a:endParaRPr lang="en-US" sz="1300" dirty="0"/>
          </a:p>
        </p:txBody>
      </p:sp>
      <p:sp>
        <p:nvSpPr>
          <p:cNvPr id="31" name="Text 29"/>
          <p:cNvSpPr txBox="1"/>
          <p:nvPr/>
        </p:nvSpPr>
        <p:spPr>
          <a:xfrm>
            <a:off x="512064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$24.6K</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33" name="Shape 31"/>
          <p:cNvSpPr/>
          <p:nvPr/>
        </p:nvSpPr>
        <p:spPr>
          <a:xfrm>
            <a:off x="2670048" y="2750703"/>
            <a:ext cx="326379" cy="136676"/>
          </a:xfrm>
          <a:prstGeom prst="rect">
            <a:avLst/>
          </a:prstGeom>
          <a:solidFill>
            <a:srgbClr val="2587C5"/>
          </a:solidFill>
          <a:ln/>
        </p:spPr>
      </p:sp>
      <p:sp>
        <p:nvSpPr>
          <p:cNvPr id="34" name="Text 32"/>
          <p:cNvSpPr txBox="1"/>
          <p:nvPr/>
        </p:nvSpPr>
        <p:spPr>
          <a:xfrm>
            <a:off x="3456432"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$672K</a:t>
            </a:r>
            <a:endParaRPr lang="en-US" sz="1300" dirty="0"/>
          </a:p>
        </p:txBody>
      </p:sp>
      <p:sp>
        <p:nvSpPr>
          <p:cNvPr id="35" name="Text 33"/>
          <p:cNvSpPr txBox="1"/>
          <p:nvPr/>
        </p:nvSpPr>
        <p:spPr>
          <a:xfrm>
            <a:off x="4370832"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36" name="Text 34"/>
          <p:cNvSpPr txBox="1"/>
          <p:nvPr/>
        </p:nvSpPr>
        <p:spPr>
          <a:xfrm>
            <a:off x="512064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38" name="Shape 36"/>
          <p:cNvSpPr/>
          <p:nvPr/>
        </p:nvSpPr>
        <p:spPr>
          <a:xfrm>
            <a:off x="2670048" y="2999205"/>
            <a:ext cx="310728" cy="136676"/>
          </a:xfrm>
          <a:prstGeom prst="rect">
            <a:avLst/>
          </a:prstGeom>
          <a:solidFill>
            <a:srgbClr val="2587C5"/>
          </a:solidFill>
          <a:ln/>
        </p:spPr>
      </p:sp>
      <p:sp>
        <p:nvSpPr>
          <p:cNvPr id="39" name="Text 37"/>
          <p:cNvSpPr txBox="1"/>
          <p:nvPr/>
        </p:nvSpPr>
        <p:spPr>
          <a:xfrm>
            <a:off x="3456432"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$640K</a:t>
            </a:r>
            <a:endParaRPr lang="en-US" sz="1300" dirty="0"/>
          </a:p>
        </p:txBody>
      </p:sp>
      <p:sp>
        <p:nvSpPr>
          <p:cNvPr id="40" name="Text 38"/>
          <p:cNvSpPr txBox="1"/>
          <p:nvPr/>
        </p:nvSpPr>
        <p:spPr>
          <a:xfrm>
            <a:off x="4370832"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$14.3K</a:t>
            </a:r>
            <a:endParaRPr lang="en-US" sz="1300" dirty="0"/>
          </a:p>
        </p:txBody>
      </p:sp>
      <p:sp>
        <p:nvSpPr>
          <p:cNvPr id="41" name="Text 39"/>
          <p:cNvSpPr txBox="1"/>
          <p:nvPr/>
        </p:nvSpPr>
        <p:spPr>
          <a:xfrm>
            <a:off x="512064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$15.0K</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70048" y="3247707"/>
            <a:ext cx="278978" cy="136676"/>
          </a:xfrm>
          <a:prstGeom prst="rect">
            <a:avLst/>
          </a:prstGeom>
          <a:solidFill>
            <a:srgbClr val="2587C5"/>
          </a:solidFill>
          <a:ln/>
        </p:spPr>
      </p:sp>
      <p:sp>
        <p:nvSpPr>
          <p:cNvPr id="44" name="Text 42"/>
          <p:cNvSpPr txBox="1"/>
          <p:nvPr/>
        </p:nvSpPr>
        <p:spPr>
          <a:xfrm>
            <a:off x="3456432"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$574K</a:t>
            </a:r>
            <a:endParaRPr lang="en-US" sz="1300" dirty="0"/>
          </a:p>
        </p:txBody>
      </p:sp>
      <p:sp>
        <p:nvSpPr>
          <p:cNvPr id="45" name="Text 43"/>
          <p:cNvSpPr txBox="1"/>
          <p:nvPr/>
        </p:nvSpPr>
        <p:spPr>
          <a:xfrm>
            <a:off x="4370832"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$14.6K</a:t>
            </a:r>
            <a:endParaRPr lang="en-US" sz="1300" dirty="0"/>
          </a:p>
        </p:txBody>
      </p:sp>
      <p:sp>
        <p:nvSpPr>
          <p:cNvPr id="46" name="Text 44"/>
          <p:cNvSpPr txBox="1"/>
          <p:nvPr/>
        </p:nvSpPr>
        <p:spPr>
          <a:xfrm>
            <a:off x="512064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$15.3K</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8" name="Shape 46"/>
          <p:cNvSpPr/>
          <p:nvPr/>
        </p:nvSpPr>
        <p:spPr>
          <a:xfrm>
            <a:off x="2670048" y="3496208"/>
            <a:ext cx="213888" cy="136676"/>
          </a:xfrm>
          <a:prstGeom prst="rect">
            <a:avLst/>
          </a:prstGeom>
          <a:solidFill>
            <a:srgbClr val="2587C5"/>
          </a:solidFill>
          <a:ln/>
        </p:spPr>
      </p:sp>
      <p:sp>
        <p:nvSpPr>
          <p:cNvPr id="49" name="Text 47"/>
          <p:cNvSpPr txBox="1"/>
          <p:nvPr/>
        </p:nvSpPr>
        <p:spPr>
          <a:xfrm>
            <a:off x="3456432"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$440K</a:t>
            </a:r>
            <a:endParaRPr lang="en-US" sz="1300" dirty="0"/>
          </a:p>
        </p:txBody>
      </p:sp>
      <p:sp>
        <p:nvSpPr>
          <p:cNvPr id="50" name="Text 48"/>
          <p:cNvSpPr txBox="1"/>
          <p:nvPr/>
        </p:nvSpPr>
        <p:spPr>
          <a:xfrm>
            <a:off x="4370832"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$18.1K</a:t>
            </a:r>
            <a:endParaRPr lang="en-US" sz="1300" dirty="0"/>
          </a:p>
        </p:txBody>
      </p:sp>
      <p:sp>
        <p:nvSpPr>
          <p:cNvPr id="51" name="Text 49"/>
          <p:cNvSpPr txBox="1"/>
          <p:nvPr/>
        </p:nvSpPr>
        <p:spPr>
          <a:xfrm>
            <a:off x="512064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$19.1K</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3" name="Shape 51"/>
          <p:cNvSpPr/>
          <p:nvPr/>
        </p:nvSpPr>
        <p:spPr>
          <a:xfrm>
            <a:off x="2670048" y="3744710"/>
            <a:ext cx="199219" cy="136676"/>
          </a:xfrm>
          <a:prstGeom prst="rect">
            <a:avLst/>
          </a:prstGeom>
          <a:solidFill>
            <a:srgbClr val="2587C5"/>
          </a:solidFill>
          <a:ln/>
        </p:spPr>
      </p:sp>
      <p:sp>
        <p:nvSpPr>
          <p:cNvPr id="54" name="Text 52"/>
          <p:cNvSpPr txBox="1"/>
          <p:nvPr/>
        </p:nvSpPr>
        <p:spPr>
          <a:xfrm>
            <a:off x="3456432"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55" name="Text 53"/>
          <p:cNvSpPr txBox="1"/>
          <p:nvPr/>
        </p:nvSpPr>
        <p:spPr>
          <a:xfrm>
            <a:off x="4370832"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$13.3K</a:t>
            </a:r>
            <a:endParaRPr lang="en-US" sz="1300" dirty="0"/>
          </a:p>
        </p:txBody>
      </p:sp>
      <p:sp>
        <p:nvSpPr>
          <p:cNvPr id="56" name="Text 54"/>
          <p:cNvSpPr txBox="1"/>
          <p:nvPr/>
        </p:nvSpPr>
        <p:spPr>
          <a:xfrm>
            <a:off x="512064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$14.0K</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58" name="Shape 56"/>
          <p:cNvSpPr/>
          <p:nvPr/>
        </p:nvSpPr>
        <p:spPr>
          <a:xfrm>
            <a:off x="2670048" y="3993212"/>
            <a:ext cx="192043" cy="136676"/>
          </a:xfrm>
          <a:prstGeom prst="rect">
            <a:avLst/>
          </a:prstGeom>
          <a:solidFill>
            <a:srgbClr val="2587C5"/>
          </a:solidFill>
          <a:ln/>
        </p:spPr>
      </p:sp>
      <p:sp>
        <p:nvSpPr>
          <p:cNvPr id="59" name="Text 57"/>
          <p:cNvSpPr txBox="1"/>
          <p:nvPr/>
        </p:nvSpPr>
        <p:spPr>
          <a:xfrm>
            <a:off x="3456432"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$395K</a:t>
            </a:r>
            <a:endParaRPr lang="en-US" sz="1300" dirty="0"/>
          </a:p>
        </p:txBody>
      </p:sp>
      <p:sp>
        <p:nvSpPr>
          <p:cNvPr id="60" name="Text 58"/>
          <p:cNvSpPr txBox="1"/>
          <p:nvPr/>
        </p:nvSpPr>
        <p:spPr>
          <a:xfrm>
            <a:off x="4370832"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$11.1K</a:t>
            </a:r>
            <a:endParaRPr lang="en-US" sz="1300" dirty="0"/>
          </a:p>
        </p:txBody>
      </p:sp>
      <p:sp>
        <p:nvSpPr>
          <p:cNvPr id="61" name="Text 59"/>
          <p:cNvSpPr txBox="1"/>
          <p:nvPr/>
        </p:nvSpPr>
        <p:spPr>
          <a:xfrm>
            <a:off x="512064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$11.7K</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63" name="Shape 61"/>
          <p:cNvSpPr/>
          <p:nvPr/>
        </p:nvSpPr>
        <p:spPr>
          <a:xfrm>
            <a:off x="2670048" y="4241713"/>
            <a:ext cx="164487" cy="136676"/>
          </a:xfrm>
          <a:prstGeom prst="rect">
            <a:avLst/>
          </a:prstGeom>
          <a:solidFill>
            <a:srgbClr val="2587C5"/>
          </a:solidFill>
          <a:ln/>
        </p:spPr>
      </p:sp>
      <p:sp>
        <p:nvSpPr>
          <p:cNvPr id="64" name="Text 62"/>
          <p:cNvSpPr txBox="1"/>
          <p:nvPr/>
        </p:nvSpPr>
        <p:spPr>
          <a:xfrm>
            <a:off x="3456432"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65" name="Text 63"/>
          <p:cNvSpPr txBox="1"/>
          <p:nvPr/>
        </p:nvSpPr>
        <p:spPr>
          <a:xfrm>
            <a:off x="4370832"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66" name="Text 64"/>
          <p:cNvSpPr txBox="1"/>
          <p:nvPr/>
        </p:nvSpPr>
        <p:spPr>
          <a:xfrm>
            <a:off x="512064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68" name="Shape 66"/>
          <p:cNvSpPr/>
          <p:nvPr/>
        </p:nvSpPr>
        <p:spPr>
          <a:xfrm>
            <a:off x="2670048" y="4490215"/>
            <a:ext cx="155099" cy="136676"/>
          </a:xfrm>
          <a:prstGeom prst="rect">
            <a:avLst/>
          </a:prstGeom>
          <a:solidFill>
            <a:srgbClr val="2587C5"/>
          </a:solidFill>
          <a:ln/>
        </p:spPr>
      </p:sp>
      <p:sp>
        <p:nvSpPr>
          <p:cNvPr id="69" name="Text 67"/>
          <p:cNvSpPr txBox="1"/>
          <p:nvPr/>
        </p:nvSpPr>
        <p:spPr>
          <a:xfrm>
            <a:off x="3456432"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70" name="Text 68"/>
          <p:cNvSpPr txBox="1"/>
          <p:nvPr/>
        </p:nvSpPr>
        <p:spPr>
          <a:xfrm>
            <a:off x="4370832"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71" name="Text 69"/>
          <p:cNvSpPr txBox="1"/>
          <p:nvPr/>
        </p:nvSpPr>
        <p:spPr>
          <a:xfrm>
            <a:off x="512064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3" name="Shape 71"/>
          <p:cNvSpPr/>
          <p:nvPr/>
        </p:nvSpPr>
        <p:spPr>
          <a:xfrm>
            <a:off x="2670048" y="4738717"/>
            <a:ext cx="154861" cy="136676"/>
          </a:xfrm>
          <a:prstGeom prst="rect">
            <a:avLst/>
          </a:prstGeom>
          <a:solidFill>
            <a:srgbClr val="2587C5"/>
          </a:solidFill>
          <a:ln/>
        </p:spPr>
      </p:sp>
      <p:sp>
        <p:nvSpPr>
          <p:cNvPr id="74" name="Text 72"/>
          <p:cNvSpPr txBox="1"/>
          <p:nvPr/>
        </p:nvSpPr>
        <p:spPr>
          <a:xfrm>
            <a:off x="3456432"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75" name="Text 73"/>
          <p:cNvSpPr txBox="1"/>
          <p:nvPr/>
        </p:nvSpPr>
        <p:spPr>
          <a:xfrm>
            <a:off x="4370832"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76" name="Text 74"/>
          <p:cNvSpPr txBox="1"/>
          <p:nvPr/>
        </p:nvSpPr>
        <p:spPr>
          <a:xfrm>
            <a:off x="512064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8" name="Shape 76"/>
          <p:cNvSpPr/>
          <p:nvPr/>
        </p:nvSpPr>
        <p:spPr>
          <a:xfrm>
            <a:off x="2670048" y="4987218"/>
            <a:ext cx="146688" cy="136676"/>
          </a:xfrm>
          <a:prstGeom prst="rect">
            <a:avLst/>
          </a:prstGeom>
          <a:solidFill>
            <a:srgbClr val="2587C5"/>
          </a:solidFill>
          <a:ln/>
        </p:spPr>
      </p:sp>
      <p:sp>
        <p:nvSpPr>
          <p:cNvPr id="79" name="Text 77"/>
          <p:cNvSpPr txBox="1"/>
          <p:nvPr/>
        </p:nvSpPr>
        <p:spPr>
          <a:xfrm>
            <a:off x="3456432"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$302K</a:t>
            </a:r>
            <a:endParaRPr lang="en-US" sz="1300" dirty="0"/>
          </a:p>
        </p:txBody>
      </p:sp>
      <p:sp>
        <p:nvSpPr>
          <p:cNvPr id="80" name="Text 78"/>
          <p:cNvSpPr txBox="1"/>
          <p:nvPr/>
        </p:nvSpPr>
        <p:spPr>
          <a:xfrm>
            <a:off x="4370832"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81" name="Text 79"/>
          <p:cNvSpPr txBox="1"/>
          <p:nvPr/>
        </p:nvSpPr>
        <p:spPr>
          <a:xfrm>
            <a:off x="512064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3" name="Shape 81"/>
          <p:cNvSpPr/>
          <p:nvPr/>
        </p:nvSpPr>
        <p:spPr>
          <a:xfrm>
            <a:off x="2670048" y="5235720"/>
            <a:ext cx="144683" cy="136676"/>
          </a:xfrm>
          <a:prstGeom prst="rect">
            <a:avLst/>
          </a:prstGeom>
          <a:solidFill>
            <a:srgbClr val="2587C5"/>
          </a:solidFill>
          <a:ln/>
        </p:spPr>
      </p:sp>
      <p:sp>
        <p:nvSpPr>
          <p:cNvPr id="84" name="Text 82"/>
          <p:cNvSpPr txBox="1"/>
          <p:nvPr/>
        </p:nvSpPr>
        <p:spPr>
          <a:xfrm>
            <a:off x="3456432"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$298K</a:t>
            </a:r>
            <a:endParaRPr lang="en-US" sz="1300" dirty="0"/>
          </a:p>
        </p:txBody>
      </p:sp>
      <p:sp>
        <p:nvSpPr>
          <p:cNvPr id="85" name="Text 83"/>
          <p:cNvSpPr txBox="1"/>
          <p:nvPr/>
        </p:nvSpPr>
        <p:spPr>
          <a:xfrm>
            <a:off x="4370832"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$10.8K</a:t>
            </a:r>
            <a:endParaRPr lang="en-US" sz="1300" dirty="0"/>
          </a:p>
        </p:txBody>
      </p:sp>
      <p:sp>
        <p:nvSpPr>
          <p:cNvPr id="86" name="Text 84"/>
          <p:cNvSpPr txBox="1"/>
          <p:nvPr/>
        </p:nvSpPr>
        <p:spPr>
          <a:xfrm>
            <a:off x="512064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$11.3K</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88" name="Shape 86"/>
          <p:cNvSpPr/>
          <p:nvPr/>
        </p:nvSpPr>
        <p:spPr>
          <a:xfrm>
            <a:off x="2670048" y="5484222"/>
            <a:ext cx="144399" cy="136676"/>
          </a:xfrm>
          <a:prstGeom prst="rect">
            <a:avLst/>
          </a:prstGeom>
          <a:solidFill>
            <a:srgbClr val="2587C5"/>
          </a:solidFill>
          <a:ln/>
        </p:spPr>
      </p:sp>
      <p:sp>
        <p:nvSpPr>
          <p:cNvPr id="89" name="Text 87"/>
          <p:cNvSpPr txBox="1"/>
          <p:nvPr/>
        </p:nvSpPr>
        <p:spPr>
          <a:xfrm>
            <a:off x="3456432"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$297K</a:t>
            </a:r>
            <a:endParaRPr lang="en-US" sz="1300" dirty="0"/>
          </a:p>
        </p:txBody>
      </p:sp>
      <p:sp>
        <p:nvSpPr>
          <p:cNvPr id="90" name="Text 88"/>
          <p:cNvSpPr txBox="1"/>
          <p:nvPr/>
        </p:nvSpPr>
        <p:spPr>
          <a:xfrm>
            <a:off x="4370832"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91" name="Text 89"/>
          <p:cNvSpPr txBox="1"/>
          <p:nvPr/>
        </p:nvSpPr>
        <p:spPr>
          <a:xfrm>
            <a:off x="512064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$15.7K</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93" name="Shape 91"/>
          <p:cNvSpPr/>
          <p:nvPr/>
        </p:nvSpPr>
        <p:spPr>
          <a:xfrm>
            <a:off x="2670048" y="5732723"/>
            <a:ext cx="135434" cy="136676"/>
          </a:xfrm>
          <a:prstGeom prst="rect">
            <a:avLst/>
          </a:prstGeom>
          <a:solidFill>
            <a:srgbClr val="2587C5"/>
          </a:solidFill>
          <a:ln/>
        </p:spPr>
      </p:sp>
      <p:sp>
        <p:nvSpPr>
          <p:cNvPr id="94" name="Text 92"/>
          <p:cNvSpPr txBox="1"/>
          <p:nvPr/>
        </p:nvSpPr>
        <p:spPr>
          <a:xfrm>
            <a:off x="3456432"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$279K</a:t>
            </a:r>
            <a:endParaRPr lang="en-US" sz="1300" dirty="0"/>
          </a:p>
        </p:txBody>
      </p:sp>
      <p:sp>
        <p:nvSpPr>
          <p:cNvPr id="95" name="Text 93"/>
          <p:cNvSpPr txBox="1"/>
          <p:nvPr/>
        </p:nvSpPr>
        <p:spPr>
          <a:xfrm>
            <a:off x="4370832"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96" name="Text 94"/>
          <p:cNvSpPr txBox="1"/>
          <p:nvPr/>
        </p:nvSpPr>
        <p:spPr>
          <a:xfrm>
            <a:off x="512064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8" name="Shape 96"/>
          <p:cNvSpPr/>
          <p:nvPr/>
        </p:nvSpPr>
        <p:spPr>
          <a:xfrm>
            <a:off x="8220456" y="1756697"/>
            <a:ext cx="134212" cy="136676"/>
          </a:xfrm>
          <a:prstGeom prst="rect">
            <a:avLst/>
          </a:prstGeom>
          <a:solidFill>
            <a:srgbClr val="2587C5"/>
          </a:solidFill>
          <a:ln/>
        </p:spPr>
      </p:sp>
      <p:sp>
        <p:nvSpPr>
          <p:cNvPr id="99" name="Text 97"/>
          <p:cNvSpPr txBox="1"/>
          <p:nvPr/>
        </p:nvSpPr>
        <p:spPr>
          <a:xfrm>
            <a:off x="9006840"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$276K</a:t>
            </a:r>
            <a:endParaRPr lang="en-US" sz="1300" dirty="0"/>
          </a:p>
        </p:txBody>
      </p:sp>
      <p:sp>
        <p:nvSpPr>
          <p:cNvPr id="100" name="Text 98"/>
          <p:cNvSpPr txBox="1"/>
          <p:nvPr/>
        </p:nvSpPr>
        <p:spPr>
          <a:xfrm>
            <a:off x="992124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101" name="Text 99"/>
          <p:cNvSpPr txBox="1"/>
          <p:nvPr/>
        </p:nvSpPr>
        <p:spPr>
          <a:xfrm>
            <a:off x="1067104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$17.8K</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03" name="Shape 101"/>
          <p:cNvSpPr/>
          <p:nvPr/>
        </p:nvSpPr>
        <p:spPr>
          <a:xfrm>
            <a:off x="8220456" y="2005199"/>
            <a:ext cx="126718" cy="136676"/>
          </a:xfrm>
          <a:prstGeom prst="rect">
            <a:avLst/>
          </a:prstGeom>
          <a:solidFill>
            <a:srgbClr val="2587C5"/>
          </a:solidFill>
          <a:ln/>
        </p:spPr>
      </p:sp>
      <p:sp>
        <p:nvSpPr>
          <p:cNvPr id="104" name="Text 102"/>
          <p:cNvSpPr txBox="1"/>
          <p:nvPr/>
        </p:nvSpPr>
        <p:spPr>
          <a:xfrm>
            <a:off x="9006840"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$261K</a:t>
            </a:r>
            <a:endParaRPr lang="en-US" sz="1300" dirty="0"/>
          </a:p>
        </p:txBody>
      </p:sp>
      <p:sp>
        <p:nvSpPr>
          <p:cNvPr id="105" name="Text 103"/>
          <p:cNvSpPr txBox="1"/>
          <p:nvPr/>
        </p:nvSpPr>
        <p:spPr>
          <a:xfrm>
            <a:off x="992124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106" name="Text 104"/>
          <p:cNvSpPr txBox="1"/>
          <p:nvPr/>
        </p:nvSpPr>
        <p:spPr>
          <a:xfrm>
            <a:off x="1067104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$19.5K</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08" name="Shape 106"/>
          <p:cNvSpPr/>
          <p:nvPr/>
        </p:nvSpPr>
        <p:spPr>
          <a:xfrm>
            <a:off x="8220456" y="2253700"/>
            <a:ext cx="115043" cy="136676"/>
          </a:xfrm>
          <a:prstGeom prst="rect">
            <a:avLst/>
          </a:prstGeom>
          <a:solidFill>
            <a:srgbClr val="2587C5"/>
          </a:solidFill>
          <a:ln/>
        </p:spPr>
      </p:sp>
      <p:sp>
        <p:nvSpPr>
          <p:cNvPr id="109" name="Text 107"/>
          <p:cNvSpPr txBox="1"/>
          <p:nvPr/>
        </p:nvSpPr>
        <p:spPr>
          <a:xfrm>
            <a:off x="9006840"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$237K</a:t>
            </a:r>
            <a:endParaRPr lang="en-US" sz="1300" dirty="0"/>
          </a:p>
        </p:txBody>
      </p:sp>
      <p:sp>
        <p:nvSpPr>
          <p:cNvPr id="110" name="Text 108"/>
          <p:cNvSpPr txBox="1"/>
          <p:nvPr/>
        </p:nvSpPr>
        <p:spPr>
          <a:xfrm>
            <a:off x="992124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11" name="Text 109"/>
          <p:cNvSpPr txBox="1"/>
          <p:nvPr/>
        </p:nvSpPr>
        <p:spPr>
          <a:xfrm>
            <a:off x="1067104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$10.5K</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3" name="Shape 111"/>
          <p:cNvSpPr/>
          <p:nvPr/>
        </p:nvSpPr>
        <p:spPr>
          <a:xfrm>
            <a:off x="8220456" y="2502202"/>
            <a:ext cx="113826" cy="136676"/>
          </a:xfrm>
          <a:prstGeom prst="rect">
            <a:avLst/>
          </a:prstGeom>
          <a:solidFill>
            <a:srgbClr val="2587C5"/>
          </a:solidFill>
          <a:ln/>
        </p:spPr>
      </p:sp>
      <p:sp>
        <p:nvSpPr>
          <p:cNvPr id="114" name="Text 112"/>
          <p:cNvSpPr txBox="1"/>
          <p:nvPr/>
        </p:nvSpPr>
        <p:spPr>
          <a:xfrm>
            <a:off x="9006840"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$234K</a:t>
            </a:r>
            <a:endParaRPr lang="en-US" sz="1300" dirty="0"/>
          </a:p>
        </p:txBody>
      </p:sp>
      <p:sp>
        <p:nvSpPr>
          <p:cNvPr id="115" name="Text 113"/>
          <p:cNvSpPr txBox="1"/>
          <p:nvPr/>
        </p:nvSpPr>
        <p:spPr>
          <a:xfrm>
            <a:off x="992124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$15.6K</a:t>
            </a:r>
            <a:endParaRPr lang="en-US" sz="1300" dirty="0"/>
          </a:p>
        </p:txBody>
      </p:sp>
      <p:sp>
        <p:nvSpPr>
          <p:cNvPr id="116" name="Text 114"/>
          <p:cNvSpPr txBox="1"/>
          <p:nvPr/>
        </p:nvSpPr>
        <p:spPr>
          <a:xfrm>
            <a:off x="1067104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18" name="Shape 116"/>
          <p:cNvSpPr/>
          <p:nvPr/>
        </p:nvSpPr>
        <p:spPr>
          <a:xfrm>
            <a:off x="8220456" y="2750703"/>
            <a:ext cx="110607" cy="136676"/>
          </a:xfrm>
          <a:prstGeom prst="rect">
            <a:avLst/>
          </a:prstGeom>
          <a:solidFill>
            <a:srgbClr val="2587C5"/>
          </a:solidFill>
          <a:ln/>
        </p:spPr>
      </p:sp>
      <p:sp>
        <p:nvSpPr>
          <p:cNvPr id="119" name="Text 117"/>
          <p:cNvSpPr txBox="1"/>
          <p:nvPr/>
        </p:nvSpPr>
        <p:spPr>
          <a:xfrm>
            <a:off x="9006840"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$228K</a:t>
            </a:r>
            <a:endParaRPr lang="en-US" sz="1300" dirty="0"/>
          </a:p>
        </p:txBody>
      </p:sp>
      <p:sp>
        <p:nvSpPr>
          <p:cNvPr id="120" name="Text 118"/>
          <p:cNvSpPr txBox="1"/>
          <p:nvPr/>
        </p:nvSpPr>
        <p:spPr>
          <a:xfrm>
            <a:off x="992124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$18.3K</a:t>
            </a:r>
            <a:endParaRPr lang="en-US" sz="1300" dirty="0"/>
          </a:p>
        </p:txBody>
      </p:sp>
      <p:sp>
        <p:nvSpPr>
          <p:cNvPr id="121" name="Text 119"/>
          <p:cNvSpPr txBox="1"/>
          <p:nvPr/>
        </p:nvSpPr>
        <p:spPr>
          <a:xfrm>
            <a:off x="1067104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$19.2K</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3" name="Shape 121"/>
          <p:cNvSpPr/>
          <p:nvPr/>
        </p:nvSpPr>
        <p:spPr>
          <a:xfrm>
            <a:off x="8220456" y="2999205"/>
            <a:ext cx="107009" cy="136676"/>
          </a:xfrm>
          <a:prstGeom prst="rect">
            <a:avLst/>
          </a:prstGeom>
          <a:solidFill>
            <a:srgbClr val="2587C5"/>
          </a:solidFill>
          <a:ln/>
        </p:spPr>
      </p:sp>
      <p:sp>
        <p:nvSpPr>
          <p:cNvPr id="124" name="Text 122"/>
          <p:cNvSpPr txBox="1"/>
          <p:nvPr/>
        </p:nvSpPr>
        <p:spPr>
          <a:xfrm>
            <a:off x="9006840"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$220K</a:t>
            </a:r>
            <a:endParaRPr lang="en-US" sz="1300" dirty="0"/>
          </a:p>
        </p:txBody>
      </p:sp>
      <p:sp>
        <p:nvSpPr>
          <p:cNvPr id="125" name="Text 123"/>
          <p:cNvSpPr txBox="1"/>
          <p:nvPr/>
        </p:nvSpPr>
        <p:spPr>
          <a:xfrm>
            <a:off x="992124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26" name="Text 124"/>
          <p:cNvSpPr txBox="1"/>
          <p:nvPr/>
        </p:nvSpPr>
        <p:spPr>
          <a:xfrm>
            <a:off x="1067104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$16.8K</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28" name="Shape 126"/>
          <p:cNvSpPr/>
          <p:nvPr/>
        </p:nvSpPr>
        <p:spPr>
          <a:xfrm>
            <a:off x="8220456" y="3247707"/>
            <a:ext cx="96551" cy="136676"/>
          </a:xfrm>
          <a:prstGeom prst="rect">
            <a:avLst/>
          </a:prstGeom>
          <a:solidFill>
            <a:srgbClr val="2587C5"/>
          </a:solidFill>
          <a:ln/>
        </p:spPr>
      </p:sp>
      <p:sp>
        <p:nvSpPr>
          <p:cNvPr id="129" name="Text 127"/>
          <p:cNvSpPr txBox="1"/>
          <p:nvPr/>
        </p:nvSpPr>
        <p:spPr>
          <a:xfrm>
            <a:off x="9006840"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$199K</a:t>
            </a:r>
            <a:endParaRPr lang="en-US" sz="1300" dirty="0"/>
          </a:p>
        </p:txBody>
      </p:sp>
      <p:sp>
        <p:nvSpPr>
          <p:cNvPr id="130" name="Text 128"/>
          <p:cNvSpPr txBox="1"/>
          <p:nvPr/>
        </p:nvSpPr>
        <p:spPr>
          <a:xfrm>
            <a:off x="992124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131" name="Text 129"/>
          <p:cNvSpPr txBox="1"/>
          <p:nvPr/>
        </p:nvSpPr>
        <p:spPr>
          <a:xfrm>
            <a:off x="1067104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33" name="Shape 131"/>
          <p:cNvSpPr/>
          <p:nvPr/>
        </p:nvSpPr>
        <p:spPr>
          <a:xfrm>
            <a:off x="8220456" y="3496208"/>
            <a:ext cx="93673" cy="136676"/>
          </a:xfrm>
          <a:prstGeom prst="rect">
            <a:avLst/>
          </a:prstGeom>
          <a:solidFill>
            <a:srgbClr val="2587C5"/>
          </a:solidFill>
          <a:ln/>
        </p:spPr>
      </p:sp>
      <p:sp>
        <p:nvSpPr>
          <p:cNvPr id="134" name="Text 132"/>
          <p:cNvSpPr txBox="1"/>
          <p:nvPr/>
        </p:nvSpPr>
        <p:spPr>
          <a:xfrm>
            <a:off x="9006840"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$193K</a:t>
            </a:r>
            <a:endParaRPr lang="en-US" sz="1300" dirty="0"/>
          </a:p>
        </p:txBody>
      </p:sp>
      <p:sp>
        <p:nvSpPr>
          <p:cNvPr id="135" name="Text 133"/>
          <p:cNvSpPr txBox="1"/>
          <p:nvPr/>
        </p:nvSpPr>
        <p:spPr>
          <a:xfrm>
            <a:off x="992124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$12.4K</a:t>
            </a:r>
            <a:endParaRPr lang="en-US" sz="1300" dirty="0"/>
          </a:p>
        </p:txBody>
      </p:sp>
      <p:sp>
        <p:nvSpPr>
          <p:cNvPr id="136" name="Text 134"/>
          <p:cNvSpPr txBox="1"/>
          <p:nvPr/>
        </p:nvSpPr>
        <p:spPr>
          <a:xfrm>
            <a:off x="1067104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$13.0K</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38" name="Shape 136"/>
          <p:cNvSpPr/>
          <p:nvPr/>
        </p:nvSpPr>
        <p:spPr>
          <a:xfrm>
            <a:off x="8220456" y="3744710"/>
            <a:ext cx="87427" cy="136676"/>
          </a:xfrm>
          <a:prstGeom prst="rect">
            <a:avLst/>
          </a:prstGeom>
          <a:solidFill>
            <a:srgbClr val="2587C5"/>
          </a:solidFill>
          <a:ln/>
        </p:spPr>
      </p:sp>
      <p:sp>
        <p:nvSpPr>
          <p:cNvPr id="139" name="Text 137"/>
          <p:cNvSpPr txBox="1"/>
          <p:nvPr/>
        </p:nvSpPr>
        <p:spPr>
          <a:xfrm>
            <a:off x="9006840"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$180K</a:t>
            </a:r>
            <a:endParaRPr lang="en-US" sz="1300" dirty="0"/>
          </a:p>
        </p:txBody>
      </p:sp>
      <p:sp>
        <p:nvSpPr>
          <p:cNvPr id="140" name="Text 138"/>
          <p:cNvSpPr txBox="1"/>
          <p:nvPr/>
        </p:nvSpPr>
        <p:spPr>
          <a:xfrm>
            <a:off x="992124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$12.5K</a:t>
            </a:r>
            <a:endParaRPr lang="en-US" sz="1300" dirty="0"/>
          </a:p>
        </p:txBody>
      </p:sp>
      <p:sp>
        <p:nvSpPr>
          <p:cNvPr id="141" name="Text 139"/>
          <p:cNvSpPr txBox="1"/>
          <p:nvPr/>
        </p:nvSpPr>
        <p:spPr>
          <a:xfrm>
            <a:off x="1067104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$13.1K</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3" name="Shape 141"/>
          <p:cNvSpPr/>
          <p:nvPr/>
        </p:nvSpPr>
        <p:spPr>
          <a:xfrm>
            <a:off x="8220456" y="3993212"/>
            <a:ext cx="75632" cy="136676"/>
          </a:xfrm>
          <a:prstGeom prst="rect">
            <a:avLst/>
          </a:prstGeom>
          <a:solidFill>
            <a:srgbClr val="2587C5"/>
          </a:solidFill>
          <a:ln/>
        </p:spPr>
      </p:sp>
      <p:sp>
        <p:nvSpPr>
          <p:cNvPr id="144" name="Text 142"/>
          <p:cNvSpPr txBox="1"/>
          <p:nvPr/>
        </p:nvSpPr>
        <p:spPr>
          <a:xfrm>
            <a:off x="9006840"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145" name="Text 143"/>
          <p:cNvSpPr txBox="1"/>
          <p:nvPr/>
        </p:nvSpPr>
        <p:spPr>
          <a:xfrm>
            <a:off x="992124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46" name="Text 144"/>
          <p:cNvSpPr txBox="1"/>
          <p:nvPr/>
        </p:nvSpPr>
        <p:spPr>
          <a:xfrm>
            <a:off x="1067104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$12.7K</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48" name="Shape 146"/>
          <p:cNvSpPr/>
          <p:nvPr/>
        </p:nvSpPr>
        <p:spPr>
          <a:xfrm>
            <a:off x="8220456" y="4241713"/>
            <a:ext cx="73988" cy="136676"/>
          </a:xfrm>
          <a:prstGeom prst="rect">
            <a:avLst/>
          </a:prstGeom>
          <a:solidFill>
            <a:srgbClr val="2587C5"/>
          </a:solidFill>
          <a:ln/>
        </p:spPr>
      </p:sp>
      <p:sp>
        <p:nvSpPr>
          <p:cNvPr id="149" name="Text 147"/>
          <p:cNvSpPr txBox="1"/>
          <p:nvPr/>
        </p:nvSpPr>
        <p:spPr>
          <a:xfrm>
            <a:off x="9006840"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150" name="Text 148"/>
          <p:cNvSpPr txBox="1"/>
          <p:nvPr/>
        </p:nvSpPr>
        <p:spPr>
          <a:xfrm>
            <a:off x="992124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51" name="Text 149"/>
          <p:cNvSpPr txBox="1"/>
          <p:nvPr/>
        </p:nvSpPr>
        <p:spPr>
          <a:xfrm>
            <a:off x="1067104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3" name="Shape 151"/>
          <p:cNvSpPr/>
          <p:nvPr/>
        </p:nvSpPr>
        <p:spPr>
          <a:xfrm>
            <a:off x="8220456" y="4490215"/>
            <a:ext cx="73497" cy="136676"/>
          </a:xfrm>
          <a:prstGeom prst="rect">
            <a:avLst/>
          </a:prstGeom>
          <a:solidFill>
            <a:srgbClr val="2587C5"/>
          </a:solidFill>
          <a:ln/>
        </p:spPr>
      </p:sp>
      <p:sp>
        <p:nvSpPr>
          <p:cNvPr id="154" name="Text 152"/>
          <p:cNvSpPr txBox="1"/>
          <p:nvPr/>
        </p:nvSpPr>
        <p:spPr>
          <a:xfrm>
            <a:off x="9006840"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$151K</a:t>
            </a:r>
            <a:endParaRPr lang="en-US" sz="1300" dirty="0"/>
          </a:p>
        </p:txBody>
      </p:sp>
      <p:sp>
        <p:nvSpPr>
          <p:cNvPr id="155" name="Text 153"/>
          <p:cNvSpPr txBox="1"/>
          <p:nvPr/>
        </p:nvSpPr>
        <p:spPr>
          <a:xfrm>
            <a:off x="992124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$9.5K</a:t>
            </a:r>
            <a:endParaRPr lang="en-US" sz="1300" dirty="0"/>
          </a:p>
        </p:txBody>
      </p:sp>
      <p:sp>
        <p:nvSpPr>
          <p:cNvPr id="156" name="Text 154"/>
          <p:cNvSpPr txBox="1"/>
          <p:nvPr/>
        </p:nvSpPr>
        <p:spPr>
          <a:xfrm>
            <a:off x="1067104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58" name="Shape 156"/>
          <p:cNvSpPr/>
          <p:nvPr/>
        </p:nvSpPr>
        <p:spPr>
          <a:xfrm>
            <a:off x="8220456" y="4738717"/>
            <a:ext cx="71484" cy="136676"/>
          </a:xfrm>
          <a:prstGeom prst="rect">
            <a:avLst/>
          </a:prstGeom>
          <a:solidFill>
            <a:srgbClr val="2587C5"/>
          </a:solidFill>
          <a:ln/>
        </p:spPr>
      </p:sp>
      <p:sp>
        <p:nvSpPr>
          <p:cNvPr id="159" name="Text 157"/>
          <p:cNvSpPr txBox="1"/>
          <p:nvPr/>
        </p:nvSpPr>
        <p:spPr>
          <a:xfrm>
            <a:off x="9006840"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$147K</a:t>
            </a:r>
            <a:endParaRPr lang="en-US" sz="1300" dirty="0"/>
          </a:p>
        </p:txBody>
      </p:sp>
      <p:sp>
        <p:nvSpPr>
          <p:cNvPr id="160" name="Text 158"/>
          <p:cNvSpPr txBox="1"/>
          <p:nvPr/>
        </p:nvSpPr>
        <p:spPr>
          <a:xfrm>
            <a:off x="992124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$15.2K</a:t>
            </a:r>
            <a:endParaRPr lang="en-US" sz="1300" dirty="0"/>
          </a:p>
        </p:txBody>
      </p:sp>
      <p:sp>
        <p:nvSpPr>
          <p:cNvPr id="161" name="Text 159"/>
          <p:cNvSpPr txBox="1"/>
          <p:nvPr/>
        </p:nvSpPr>
        <p:spPr>
          <a:xfrm>
            <a:off x="1067104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63" name="Shape 161"/>
          <p:cNvSpPr/>
          <p:nvPr/>
        </p:nvSpPr>
        <p:spPr>
          <a:xfrm>
            <a:off x="8220456" y="4987218"/>
            <a:ext cx="51544" cy="136676"/>
          </a:xfrm>
          <a:prstGeom prst="rect">
            <a:avLst/>
          </a:prstGeom>
          <a:solidFill>
            <a:srgbClr val="2587C5"/>
          </a:solidFill>
          <a:ln/>
        </p:spPr>
      </p:sp>
      <p:sp>
        <p:nvSpPr>
          <p:cNvPr id="164" name="Text 162"/>
          <p:cNvSpPr txBox="1"/>
          <p:nvPr/>
        </p:nvSpPr>
        <p:spPr>
          <a:xfrm>
            <a:off x="9006840"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$106K</a:t>
            </a:r>
            <a:endParaRPr lang="en-US" sz="1300" dirty="0"/>
          </a:p>
        </p:txBody>
      </p:sp>
      <p:sp>
        <p:nvSpPr>
          <p:cNvPr id="165" name="Text 163"/>
          <p:cNvSpPr txBox="1"/>
          <p:nvPr/>
        </p:nvSpPr>
        <p:spPr>
          <a:xfrm>
            <a:off x="992124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166" name="Text 164"/>
          <p:cNvSpPr txBox="1"/>
          <p:nvPr/>
        </p:nvSpPr>
        <p:spPr>
          <a:xfrm>
            <a:off x="1067104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$9.6K</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68" name="Shape 166"/>
          <p:cNvSpPr/>
          <p:nvPr/>
        </p:nvSpPr>
        <p:spPr>
          <a:xfrm>
            <a:off x="8220456" y="5235720"/>
            <a:ext cx="49708" cy="136676"/>
          </a:xfrm>
          <a:prstGeom prst="rect">
            <a:avLst/>
          </a:prstGeom>
          <a:solidFill>
            <a:srgbClr val="2587C5"/>
          </a:solidFill>
          <a:ln/>
        </p:spPr>
      </p:sp>
      <p:sp>
        <p:nvSpPr>
          <p:cNvPr id="169" name="Text 167"/>
          <p:cNvSpPr txBox="1"/>
          <p:nvPr/>
        </p:nvSpPr>
        <p:spPr>
          <a:xfrm>
            <a:off x="9006840"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170" name="Text 168"/>
          <p:cNvSpPr txBox="1"/>
          <p:nvPr/>
        </p:nvSpPr>
        <p:spPr>
          <a:xfrm>
            <a:off x="992124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171" name="Text 169"/>
          <p:cNvSpPr txBox="1"/>
          <p:nvPr/>
        </p:nvSpPr>
        <p:spPr>
          <a:xfrm>
            <a:off x="1067104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$12.2K</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73" name="Shape 171"/>
          <p:cNvSpPr/>
          <p:nvPr/>
        </p:nvSpPr>
        <p:spPr>
          <a:xfrm>
            <a:off x="8220456" y="5484222"/>
            <a:ext cx="31342" cy="136676"/>
          </a:xfrm>
          <a:prstGeom prst="rect">
            <a:avLst/>
          </a:prstGeom>
          <a:solidFill>
            <a:srgbClr val="2587C5"/>
          </a:solidFill>
          <a:ln/>
        </p:spPr>
      </p:sp>
      <p:sp>
        <p:nvSpPr>
          <p:cNvPr id="174" name="Text 172"/>
          <p:cNvSpPr txBox="1"/>
          <p:nvPr/>
        </p:nvSpPr>
        <p:spPr>
          <a:xfrm>
            <a:off x="9006840"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$65K</a:t>
            </a:r>
            <a:endParaRPr lang="en-US" sz="1300" dirty="0"/>
          </a:p>
        </p:txBody>
      </p:sp>
      <p:sp>
        <p:nvSpPr>
          <p:cNvPr id="175" name="Text 173"/>
          <p:cNvSpPr txBox="1"/>
          <p:nvPr/>
        </p:nvSpPr>
        <p:spPr>
          <a:xfrm>
            <a:off x="992124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$9.9K</a:t>
            </a:r>
            <a:endParaRPr lang="en-US" sz="1300" dirty="0"/>
          </a:p>
        </p:txBody>
      </p:sp>
      <p:sp>
        <p:nvSpPr>
          <p:cNvPr id="176" name="Text 174"/>
          <p:cNvSpPr txBox="1"/>
          <p:nvPr/>
        </p:nvSpPr>
        <p:spPr>
          <a:xfrm>
            <a:off x="1067104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177" name="Shape 175"/>
          <p:cNvSpPr/>
          <p:nvPr/>
        </p:nvSpPr>
        <p:spPr>
          <a:xfrm>
            <a:off x="457200" y="6126480"/>
            <a:ext cx="11274552" cy="615696"/>
          </a:xfrm>
          <a:prstGeom prst="rect">
            <a:avLst/>
          </a:prstGeom>
          <a:solidFill>
            <a:srgbClr val="E6F6EE"/>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 more gross from the people already on staff is worth $12,586,648 a year. For the average employee that is $681 more a month, about $27 a working day.</a:t>
            </a:r>
            <a:endParaRPr lang="en-US" sz="1600" dirty="0"/>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173</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Service Advisor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7 to 166, behind 2025 in six of nine months. Advisors grew 1.5%; ROs fell 2.3%.</a:t>
            </a:r>
            <a:endParaRPr lang="en-US" sz="1600" dirty="0"/>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166</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Each segment ranked on its own. Navy line = each segment's average; green at or above it.</a:t>
            </a:r>
            <a:endParaRPr lang="en-US" sz="1400" dirty="0"/>
          </a:p>
        </p:txBody>
      </p:sp>
      <p:sp>
        <p:nvSpPr>
          <p:cNvPr id="12" name="Text 10"/>
          <p:cNvSpPr txBox="1"/>
          <p:nvPr/>
        </p:nvSpPr>
        <p:spPr>
          <a:xfrm>
            <a:off x="658368" y="21762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123</a:t>
            </a:r>
            <a:endParaRPr lang="en-US" sz="1300" dirty="0"/>
          </a:p>
        </p:txBody>
      </p:sp>
      <p:sp>
        <p:nvSpPr>
          <p:cNvPr id="13" name="Shape 11"/>
          <p:cNvSpPr/>
          <p:nvPr/>
        </p:nvSpPr>
        <p:spPr>
          <a:xfrm>
            <a:off x="658368" y="2366264"/>
            <a:ext cx="5303520" cy="18288"/>
          </a:xfrm>
          <a:prstGeom prst="rect">
            <a:avLst/>
          </a:prstGeom>
          <a:solidFill>
            <a:srgbClr val="0B2C4A"/>
          </a:solidFill>
          <a:ln/>
        </p:spPr>
      </p:sp>
      <p:sp>
        <p:nvSpPr>
          <p:cNvPr id="14" name="Text 12"/>
          <p:cNvSpPr txBox="1"/>
          <p:nvPr/>
        </p:nvSpPr>
        <p:spPr>
          <a:xfrm>
            <a:off x="658368"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6" name="Shape 14"/>
          <p:cNvSpPr/>
          <p:nvPr/>
        </p:nvSpPr>
        <p:spPr>
          <a:xfrm>
            <a:off x="3008376" y="2436622"/>
            <a:ext cx="1658471" cy="104140"/>
          </a:xfrm>
          <a:prstGeom prst="rect">
            <a:avLst/>
          </a:prstGeom>
          <a:solidFill>
            <a:srgbClr val="12A566"/>
          </a:solidFill>
          <a:ln/>
        </p:spPr>
      </p:sp>
      <p:sp>
        <p:nvSpPr>
          <p:cNvPr id="17" name="Text 15"/>
          <p:cNvSpPr txBox="1"/>
          <p:nvPr/>
        </p:nvSpPr>
        <p:spPr>
          <a:xfrm>
            <a:off x="4754880"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18" name="Text 16"/>
          <p:cNvSpPr txBox="1"/>
          <p:nvPr/>
        </p:nvSpPr>
        <p:spPr>
          <a:xfrm>
            <a:off x="658368"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0" name="Shape 18"/>
          <p:cNvSpPr/>
          <p:nvPr/>
        </p:nvSpPr>
        <p:spPr>
          <a:xfrm>
            <a:off x="3008376" y="2644902"/>
            <a:ext cx="1636341" cy="104140"/>
          </a:xfrm>
          <a:prstGeom prst="rect">
            <a:avLst/>
          </a:prstGeom>
          <a:solidFill>
            <a:srgbClr val="12A566"/>
          </a:solidFill>
          <a:ln/>
        </p:spPr>
      </p:sp>
      <p:sp>
        <p:nvSpPr>
          <p:cNvPr id="21" name="Text 19"/>
          <p:cNvSpPr txBox="1"/>
          <p:nvPr/>
        </p:nvSpPr>
        <p:spPr>
          <a:xfrm>
            <a:off x="4754880"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2" name="Text 20"/>
          <p:cNvSpPr txBox="1"/>
          <p:nvPr/>
        </p:nvSpPr>
        <p:spPr>
          <a:xfrm>
            <a:off x="658368"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4" name="Shape 22"/>
          <p:cNvSpPr/>
          <p:nvPr/>
        </p:nvSpPr>
        <p:spPr>
          <a:xfrm>
            <a:off x="3008376" y="2853182"/>
            <a:ext cx="1373312" cy="104140"/>
          </a:xfrm>
          <a:prstGeom prst="rect">
            <a:avLst/>
          </a:prstGeom>
          <a:solidFill>
            <a:srgbClr val="12A566"/>
          </a:solidFill>
          <a:ln/>
        </p:spPr>
      </p:sp>
      <p:sp>
        <p:nvSpPr>
          <p:cNvPr id="25" name="Text 23"/>
          <p:cNvSpPr txBox="1"/>
          <p:nvPr/>
        </p:nvSpPr>
        <p:spPr>
          <a:xfrm>
            <a:off x="4754880"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26" name="Text 24"/>
          <p:cNvSpPr txBox="1"/>
          <p:nvPr/>
        </p:nvSpPr>
        <p:spPr>
          <a:xfrm>
            <a:off x="658368"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8" name="Shape 26"/>
          <p:cNvSpPr/>
          <p:nvPr/>
        </p:nvSpPr>
        <p:spPr>
          <a:xfrm>
            <a:off x="3008376" y="3061462"/>
            <a:ext cx="1136397" cy="104140"/>
          </a:xfrm>
          <a:prstGeom prst="rect">
            <a:avLst/>
          </a:prstGeom>
          <a:solidFill>
            <a:srgbClr val="12A566"/>
          </a:solidFill>
          <a:ln/>
        </p:spPr>
      </p:sp>
      <p:sp>
        <p:nvSpPr>
          <p:cNvPr id="29" name="Text 27"/>
          <p:cNvSpPr txBox="1"/>
          <p:nvPr/>
        </p:nvSpPr>
        <p:spPr>
          <a:xfrm>
            <a:off x="4754880"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133</a:t>
            </a:r>
            <a:endParaRPr lang="en-US" sz="1200" dirty="0"/>
          </a:p>
        </p:txBody>
      </p:sp>
      <p:sp>
        <p:nvSpPr>
          <p:cNvPr id="30" name="Text 28"/>
          <p:cNvSpPr txBox="1"/>
          <p:nvPr/>
        </p:nvSpPr>
        <p:spPr>
          <a:xfrm>
            <a:off x="658368"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1" name="Text 29"/>
          <p:cNvSpPr txBox="1"/>
          <p:nvPr/>
        </p:nvSpPr>
        <p:spPr>
          <a:xfrm>
            <a:off x="1014984"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3008376" y="3269742"/>
            <a:ext cx="1062404" cy="104140"/>
          </a:xfrm>
          <a:prstGeom prst="rect">
            <a:avLst/>
          </a:prstGeom>
          <a:solidFill>
            <a:srgbClr val="12A566"/>
          </a:solidFill>
          <a:ln/>
        </p:spPr>
      </p:sp>
      <p:sp>
        <p:nvSpPr>
          <p:cNvPr id="33" name="Text 31"/>
          <p:cNvSpPr txBox="1"/>
          <p:nvPr/>
        </p:nvSpPr>
        <p:spPr>
          <a:xfrm>
            <a:off x="4754880" y="32176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34" name="Text 32"/>
          <p:cNvSpPr txBox="1"/>
          <p:nvPr/>
        </p:nvSpPr>
        <p:spPr>
          <a:xfrm>
            <a:off x="658368"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5" name="Text 33"/>
          <p:cNvSpPr txBox="1"/>
          <p:nvPr/>
        </p:nvSpPr>
        <p:spPr>
          <a:xfrm>
            <a:off x="1014984"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6" name="Shape 34"/>
          <p:cNvSpPr/>
          <p:nvPr/>
        </p:nvSpPr>
        <p:spPr>
          <a:xfrm>
            <a:off x="3008376" y="3478022"/>
            <a:ext cx="949294" cy="104140"/>
          </a:xfrm>
          <a:prstGeom prst="rect">
            <a:avLst/>
          </a:prstGeom>
          <a:solidFill>
            <a:srgbClr val="C2352F"/>
          </a:solidFill>
          <a:ln/>
        </p:spPr>
      </p:sp>
      <p:sp>
        <p:nvSpPr>
          <p:cNvPr id="37" name="Text 35"/>
          <p:cNvSpPr txBox="1"/>
          <p:nvPr/>
        </p:nvSpPr>
        <p:spPr>
          <a:xfrm>
            <a:off x="4754880"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38" name="Text 36"/>
          <p:cNvSpPr txBox="1"/>
          <p:nvPr/>
        </p:nvSpPr>
        <p:spPr>
          <a:xfrm>
            <a:off x="658368"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9" name="Text 37"/>
          <p:cNvSpPr txBox="1"/>
          <p:nvPr/>
        </p:nvSpPr>
        <p:spPr>
          <a:xfrm>
            <a:off x="1014984"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0" name="Shape 38"/>
          <p:cNvSpPr/>
          <p:nvPr/>
        </p:nvSpPr>
        <p:spPr>
          <a:xfrm>
            <a:off x="3008376" y="3686302"/>
            <a:ext cx="762245" cy="104140"/>
          </a:xfrm>
          <a:prstGeom prst="rect">
            <a:avLst/>
          </a:prstGeom>
          <a:solidFill>
            <a:srgbClr val="C2352F"/>
          </a:solidFill>
          <a:ln/>
        </p:spPr>
      </p:sp>
      <p:sp>
        <p:nvSpPr>
          <p:cNvPr id="41" name="Text 39"/>
          <p:cNvSpPr txBox="1"/>
          <p:nvPr/>
        </p:nvSpPr>
        <p:spPr>
          <a:xfrm>
            <a:off x="4754880"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42" name="Text 40"/>
          <p:cNvSpPr txBox="1"/>
          <p:nvPr/>
        </p:nvSpPr>
        <p:spPr>
          <a:xfrm>
            <a:off x="658368"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3" name="Text 41"/>
          <p:cNvSpPr txBox="1"/>
          <p:nvPr/>
        </p:nvSpPr>
        <p:spPr>
          <a:xfrm>
            <a:off x="1014984"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4" name="Shape 42"/>
          <p:cNvSpPr/>
          <p:nvPr/>
        </p:nvSpPr>
        <p:spPr>
          <a:xfrm>
            <a:off x="3008376" y="3894582"/>
            <a:ext cx="728956" cy="104140"/>
          </a:xfrm>
          <a:prstGeom prst="rect">
            <a:avLst/>
          </a:prstGeom>
          <a:solidFill>
            <a:srgbClr val="C2352F"/>
          </a:solidFill>
          <a:ln/>
        </p:spPr>
      </p:sp>
      <p:sp>
        <p:nvSpPr>
          <p:cNvPr id="45" name="Text 43"/>
          <p:cNvSpPr txBox="1"/>
          <p:nvPr/>
        </p:nvSpPr>
        <p:spPr>
          <a:xfrm>
            <a:off x="4754880"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85</a:t>
            </a:r>
            <a:endParaRPr lang="en-US" sz="1200" dirty="0"/>
          </a:p>
        </p:txBody>
      </p:sp>
      <p:sp>
        <p:nvSpPr>
          <p:cNvPr id="46" name="Text 44"/>
          <p:cNvSpPr txBox="1"/>
          <p:nvPr/>
        </p:nvSpPr>
        <p:spPr>
          <a:xfrm>
            <a:off x="658368"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7" name="Text 45"/>
          <p:cNvSpPr txBox="1"/>
          <p:nvPr/>
        </p:nvSpPr>
        <p:spPr>
          <a:xfrm>
            <a:off x="1014984"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8" name="Shape 46"/>
          <p:cNvSpPr/>
          <p:nvPr/>
        </p:nvSpPr>
        <p:spPr>
          <a:xfrm>
            <a:off x="3008376" y="4102862"/>
            <a:ext cx="605092" cy="104140"/>
          </a:xfrm>
          <a:prstGeom prst="rect">
            <a:avLst/>
          </a:prstGeom>
          <a:solidFill>
            <a:srgbClr val="C2352F"/>
          </a:solidFill>
          <a:ln/>
        </p:spPr>
      </p:sp>
      <p:sp>
        <p:nvSpPr>
          <p:cNvPr id="49" name="Text 47"/>
          <p:cNvSpPr txBox="1"/>
          <p:nvPr/>
        </p:nvSpPr>
        <p:spPr>
          <a:xfrm>
            <a:off x="4754880"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a:t>
            </a:r>
            <a:endParaRPr lang="en-US" sz="1200" dirty="0"/>
          </a:p>
        </p:txBody>
      </p:sp>
      <p:sp>
        <p:nvSpPr>
          <p:cNvPr id="50" name="Text 48"/>
          <p:cNvSpPr txBox="1"/>
          <p:nvPr/>
        </p:nvSpPr>
        <p:spPr>
          <a:xfrm>
            <a:off x="658368" y="42590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a:t>
            </a:r>
            <a:endParaRPr lang="en-US" sz="1300" dirty="0"/>
          </a:p>
        </p:txBody>
      </p:sp>
      <p:sp>
        <p:nvSpPr>
          <p:cNvPr id="51" name="Shape 49"/>
          <p:cNvSpPr/>
          <p:nvPr/>
        </p:nvSpPr>
        <p:spPr>
          <a:xfrm>
            <a:off x="658368" y="4449064"/>
            <a:ext cx="5303520" cy="18288"/>
          </a:xfrm>
          <a:prstGeom prst="rect">
            <a:avLst/>
          </a:prstGeom>
          <a:solidFill>
            <a:srgbClr val="0B2C4A"/>
          </a:solidFill>
          <a:ln/>
        </p:spPr>
      </p:sp>
      <p:sp>
        <p:nvSpPr>
          <p:cNvPr id="52" name="Text 50"/>
          <p:cNvSpPr txBox="1"/>
          <p:nvPr/>
        </p:nvSpPr>
        <p:spPr>
          <a:xfrm>
            <a:off x="658368"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008376" y="4519422"/>
            <a:ext cx="1503240" cy="104140"/>
          </a:xfrm>
          <a:prstGeom prst="rect">
            <a:avLst/>
          </a:prstGeom>
          <a:solidFill>
            <a:srgbClr val="12A566"/>
          </a:solidFill>
          <a:ln/>
        </p:spPr>
      </p:sp>
      <p:sp>
        <p:nvSpPr>
          <p:cNvPr id="55" name="Text 53"/>
          <p:cNvSpPr txBox="1"/>
          <p:nvPr/>
        </p:nvSpPr>
        <p:spPr>
          <a:xfrm>
            <a:off x="4754880" y="44673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6" name="Text 54"/>
          <p:cNvSpPr txBox="1"/>
          <p:nvPr/>
        </p:nvSpPr>
        <p:spPr>
          <a:xfrm>
            <a:off x="658368"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727702"/>
            <a:ext cx="1447357" cy="104140"/>
          </a:xfrm>
          <a:prstGeom prst="rect">
            <a:avLst/>
          </a:prstGeom>
          <a:solidFill>
            <a:srgbClr val="12A566"/>
          </a:solidFill>
          <a:ln/>
        </p:spPr>
      </p:sp>
      <p:sp>
        <p:nvSpPr>
          <p:cNvPr id="59" name="Text 57"/>
          <p:cNvSpPr txBox="1"/>
          <p:nvPr/>
        </p:nvSpPr>
        <p:spPr>
          <a:xfrm>
            <a:off x="4754880" y="46756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60" name="Text 58"/>
          <p:cNvSpPr txBox="1"/>
          <p:nvPr/>
        </p:nvSpPr>
        <p:spPr>
          <a:xfrm>
            <a:off x="658368"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4935982"/>
            <a:ext cx="1373578" cy="104140"/>
          </a:xfrm>
          <a:prstGeom prst="rect">
            <a:avLst/>
          </a:prstGeom>
          <a:solidFill>
            <a:srgbClr val="12A566"/>
          </a:solidFill>
          <a:ln/>
        </p:spPr>
      </p:sp>
      <p:sp>
        <p:nvSpPr>
          <p:cNvPr id="63" name="Text 61"/>
          <p:cNvSpPr txBox="1"/>
          <p:nvPr/>
        </p:nvSpPr>
        <p:spPr>
          <a:xfrm>
            <a:off x="4754880" y="48839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231</a:t>
            </a:r>
            <a:endParaRPr lang="en-US" sz="1200" dirty="0"/>
          </a:p>
        </p:txBody>
      </p:sp>
      <p:sp>
        <p:nvSpPr>
          <p:cNvPr id="64" name="Text 62"/>
          <p:cNvSpPr txBox="1"/>
          <p:nvPr/>
        </p:nvSpPr>
        <p:spPr>
          <a:xfrm>
            <a:off x="658368"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6" name="Shape 64"/>
          <p:cNvSpPr/>
          <p:nvPr/>
        </p:nvSpPr>
        <p:spPr>
          <a:xfrm>
            <a:off x="3008376" y="5144262"/>
            <a:ext cx="1343443" cy="104140"/>
          </a:xfrm>
          <a:prstGeom prst="rect">
            <a:avLst/>
          </a:prstGeom>
          <a:solidFill>
            <a:srgbClr val="12A566"/>
          </a:solidFill>
          <a:ln/>
        </p:spPr>
      </p:sp>
      <p:sp>
        <p:nvSpPr>
          <p:cNvPr id="67" name="Text 65"/>
          <p:cNvSpPr txBox="1"/>
          <p:nvPr/>
        </p:nvSpPr>
        <p:spPr>
          <a:xfrm>
            <a:off x="4754880" y="50921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68" name="Text 66"/>
          <p:cNvSpPr txBox="1"/>
          <p:nvPr/>
        </p:nvSpPr>
        <p:spPr>
          <a:xfrm>
            <a:off x="658368"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0" name="Shape 68"/>
          <p:cNvSpPr/>
          <p:nvPr/>
        </p:nvSpPr>
        <p:spPr>
          <a:xfrm>
            <a:off x="3008376" y="5352542"/>
            <a:ext cx="1341602" cy="104140"/>
          </a:xfrm>
          <a:prstGeom prst="rect">
            <a:avLst/>
          </a:prstGeom>
          <a:solidFill>
            <a:srgbClr val="12A566"/>
          </a:solidFill>
          <a:ln/>
        </p:spPr>
      </p:sp>
      <p:sp>
        <p:nvSpPr>
          <p:cNvPr id="71" name="Text 69"/>
          <p:cNvSpPr txBox="1"/>
          <p:nvPr/>
        </p:nvSpPr>
        <p:spPr>
          <a:xfrm>
            <a:off x="4754880" y="53004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72" name="Text 70"/>
          <p:cNvSpPr txBox="1"/>
          <p:nvPr/>
        </p:nvSpPr>
        <p:spPr>
          <a:xfrm>
            <a:off x="658368"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4" name="Shape 72"/>
          <p:cNvSpPr/>
          <p:nvPr/>
        </p:nvSpPr>
        <p:spPr>
          <a:xfrm>
            <a:off x="3008376" y="5560822"/>
            <a:ext cx="1333815" cy="104140"/>
          </a:xfrm>
          <a:prstGeom prst="rect">
            <a:avLst/>
          </a:prstGeom>
          <a:solidFill>
            <a:srgbClr val="12A566"/>
          </a:solidFill>
          <a:ln/>
        </p:spPr>
      </p:sp>
      <p:sp>
        <p:nvSpPr>
          <p:cNvPr id="75" name="Text 73"/>
          <p:cNvSpPr txBox="1"/>
          <p:nvPr/>
        </p:nvSpPr>
        <p:spPr>
          <a:xfrm>
            <a:off x="4754880" y="55087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a:t>
            </a:r>
            <a:endParaRPr lang="en-US" sz="1200" dirty="0"/>
          </a:p>
        </p:txBody>
      </p:sp>
      <p:sp>
        <p:nvSpPr>
          <p:cNvPr id="76" name="Text 74"/>
          <p:cNvSpPr txBox="1"/>
          <p:nvPr/>
        </p:nvSpPr>
        <p:spPr>
          <a:xfrm>
            <a:off x="658368" y="57170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57170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769102"/>
            <a:ext cx="1164283" cy="104140"/>
          </a:xfrm>
          <a:prstGeom prst="rect">
            <a:avLst/>
          </a:prstGeom>
          <a:solidFill>
            <a:srgbClr val="12A566"/>
          </a:solidFill>
          <a:ln/>
        </p:spPr>
      </p:sp>
      <p:sp>
        <p:nvSpPr>
          <p:cNvPr id="79" name="Text 77"/>
          <p:cNvSpPr txBox="1"/>
          <p:nvPr/>
        </p:nvSpPr>
        <p:spPr>
          <a:xfrm>
            <a:off x="4754880" y="57170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80" name="Text 78"/>
          <p:cNvSpPr txBox="1"/>
          <p:nvPr/>
        </p:nvSpPr>
        <p:spPr>
          <a:xfrm>
            <a:off x="6208776" y="21762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1" name="Text 79"/>
          <p:cNvSpPr txBox="1"/>
          <p:nvPr/>
        </p:nvSpPr>
        <p:spPr>
          <a:xfrm>
            <a:off x="6565392" y="21762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2" name="Shape 80"/>
          <p:cNvSpPr/>
          <p:nvPr/>
        </p:nvSpPr>
        <p:spPr>
          <a:xfrm>
            <a:off x="8558784" y="2228342"/>
            <a:ext cx="1134268" cy="104140"/>
          </a:xfrm>
          <a:prstGeom prst="rect">
            <a:avLst/>
          </a:prstGeom>
          <a:solidFill>
            <a:srgbClr val="12A566"/>
          </a:solidFill>
          <a:ln/>
        </p:spPr>
      </p:sp>
      <p:sp>
        <p:nvSpPr>
          <p:cNvPr id="83" name="Text 81"/>
          <p:cNvSpPr txBox="1"/>
          <p:nvPr/>
        </p:nvSpPr>
        <p:spPr>
          <a:xfrm>
            <a:off x="10305288" y="21762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a:t>
            </a:r>
            <a:endParaRPr lang="en-US" sz="1200" dirty="0"/>
          </a:p>
        </p:txBody>
      </p:sp>
      <p:sp>
        <p:nvSpPr>
          <p:cNvPr id="84" name="Text 82"/>
          <p:cNvSpPr txBox="1"/>
          <p:nvPr/>
        </p:nvSpPr>
        <p:spPr>
          <a:xfrm>
            <a:off x="6208776"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5" name="Text 83"/>
          <p:cNvSpPr txBox="1"/>
          <p:nvPr/>
        </p:nvSpPr>
        <p:spPr>
          <a:xfrm>
            <a:off x="6565392"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6" name="Shape 84"/>
          <p:cNvSpPr/>
          <p:nvPr/>
        </p:nvSpPr>
        <p:spPr>
          <a:xfrm>
            <a:off x="8558784" y="2436622"/>
            <a:ext cx="1095681" cy="104140"/>
          </a:xfrm>
          <a:prstGeom prst="rect">
            <a:avLst/>
          </a:prstGeom>
          <a:solidFill>
            <a:srgbClr val="12A566"/>
          </a:solidFill>
          <a:ln/>
        </p:spPr>
      </p:sp>
      <p:sp>
        <p:nvSpPr>
          <p:cNvPr id="87" name="Text 85"/>
          <p:cNvSpPr txBox="1"/>
          <p:nvPr/>
        </p:nvSpPr>
        <p:spPr>
          <a:xfrm>
            <a:off x="10305288"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88" name="Text 86"/>
          <p:cNvSpPr txBox="1"/>
          <p:nvPr/>
        </p:nvSpPr>
        <p:spPr>
          <a:xfrm>
            <a:off x="6208776"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89" name="Text 87"/>
          <p:cNvSpPr txBox="1"/>
          <p:nvPr/>
        </p:nvSpPr>
        <p:spPr>
          <a:xfrm>
            <a:off x="6565392"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0" name="Shape 88"/>
          <p:cNvSpPr/>
          <p:nvPr/>
        </p:nvSpPr>
        <p:spPr>
          <a:xfrm>
            <a:off x="8558784" y="2644902"/>
            <a:ext cx="1073173" cy="104140"/>
          </a:xfrm>
          <a:prstGeom prst="rect">
            <a:avLst/>
          </a:prstGeom>
          <a:solidFill>
            <a:srgbClr val="12A566"/>
          </a:solidFill>
          <a:ln/>
        </p:spPr>
      </p:sp>
      <p:sp>
        <p:nvSpPr>
          <p:cNvPr id="91" name="Text 89"/>
          <p:cNvSpPr txBox="1"/>
          <p:nvPr/>
        </p:nvSpPr>
        <p:spPr>
          <a:xfrm>
            <a:off x="10305288"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92" name="Text 90"/>
          <p:cNvSpPr txBox="1"/>
          <p:nvPr/>
        </p:nvSpPr>
        <p:spPr>
          <a:xfrm>
            <a:off x="6208776"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3" name="Text 91"/>
          <p:cNvSpPr txBox="1"/>
          <p:nvPr/>
        </p:nvSpPr>
        <p:spPr>
          <a:xfrm>
            <a:off x="6565392"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4" name="Shape 92"/>
          <p:cNvSpPr/>
          <p:nvPr/>
        </p:nvSpPr>
        <p:spPr>
          <a:xfrm>
            <a:off x="8558784" y="2853182"/>
            <a:ext cx="1070012" cy="104140"/>
          </a:xfrm>
          <a:prstGeom prst="rect">
            <a:avLst/>
          </a:prstGeom>
          <a:solidFill>
            <a:srgbClr val="12A566"/>
          </a:solidFill>
          <a:ln/>
        </p:spPr>
      </p:sp>
      <p:sp>
        <p:nvSpPr>
          <p:cNvPr id="95" name="Text 93"/>
          <p:cNvSpPr txBox="1"/>
          <p:nvPr/>
        </p:nvSpPr>
        <p:spPr>
          <a:xfrm>
            <a:off x="10305288"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180</a:t>
            </a:r>
            <a:endParaRPr lang="en-US" sz="1200" dirty="0"/>
          </a:p>
        </p:txBody>
      </p:sp>
      <p:sp>
        <p:nvSpPr>
          <p:cNvPr id="96" name="Text 94"/>
          <p:cNvSpPr txBox="1"/>
          <p:nvPr/>
        </p:nvSpPr>
        <p:spPr>
          <a:xfrm>
            <a:off x="6208776"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7" name="Text 95"/>
          <p:cNvSpPr txBox="1"/>
          <p:nvPr/>
        </p:nvSpPr>
        <p:spPr>
          <a:xfrm>
            <a:off x="6565392"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8" name="Shape 96"/>
          <p:cNvSpPr/>
          <p:nvPr/>
        </p:nvSpPr>
        <p:spPr>
          <a:xfrm>
            <a:off x="8558784" y="3061462"/>
            <a:ext cx="1057284" cy="104140"/>
          </a:xfrm>
          <a:prstGeom prst="rect">
            <a:avLst/>
          </a:prstGeom>
          <a:solidFill>
            <a:srgbClr val="12A566"/>
          </a:solidFill>
          <a:ln/>
        </p:spPr>
      </p:sp>
      <p:sp>
        <p:nvSpPr>
          <p:cNvPr id="99" name="Text 97"/>
          <p:cNvSpPr txBox="1"/>
          <p:nvPr/>
        </p:nvSpPr>
        <p:spPr>
          <a:xfrm>
            <a:off x="10305288"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a:t>
            </a:r>
            <a:endParaRPr lang="en-US" sz="1200" dirty="0"/>
          </a:p>
        </p:txBody>
      </p:sp>
      <p:sp>
        <p:nvSpPr>
          <p:cNvPr id="100" name="Text 98"/>
          <p:cNvSpPr txBox="1"/>
          <p:nvPr/>
        </p:nvSpPr>
        <p:spPr>
          <a:xfrm>
            <a:off x="6208776"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1" name="Text 99"/>
          <p:cNvSpPr txBox="1"/>
          <p:nvPr/>
        </p:nvSpPr>
        <p:spPr>
          <a:xfrm>
            <a:off x="6565392"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2" name="Shape 100"/>
          <p:cNvSpPr/>
          <p:nvPr/>
        </p:nvSpPr>
        <p:spPr>
          <a:xfrm>
            <a:off x="8558784" y="3269742"/>
            <a:ext cx="1042010" cy="104140"/>
          </a:xfrm>
          <a:prstGeom prst="rect">
            <a:avLst/>
          </a:prstGeom>
          <a:solidFill>
            <a:srgbClr val="C2352F"/>
          </a:solidFill>
          <a:ln/>
        </p:spPr>
      </p:sp>
      <p:sp>
        <p:nvSpPr>
          <p:cNvPr id="103" name="Text 101"/>
          <p:cNvSpPr txBox="1"/>
          <p:nvPr/>
        </p:nvSpPr>
        <p:spPr>
          <a:xfrm>
            <a:off x="10305288" y="32176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104" name="Text 102"/>
          <p:cNvSpPr txBox="1"/>
          <p:nvPr/>
        </p:nvSpPr>
        <p:spPr>
          <a:xfrm>
            <a:off x="6208776"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5" name="Text 103"/>
          <p:cNvSpPr txBox="1"/>
          <p:nvPr/>
        </p:nvSpPr>
        <p:spPr>
          <a:xfrm>
            <a:off x="6565392"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6" name="Shape 104"/>
          <p:cNvSpPr/>
          <p:nvPr/>
        </p:nvSpPr>
        <p:spPr>
          <a:xfrm>
            <a:off x="8558784" y="3478022"/>
            <a:ext cx="1021645" cy="104140"/>
          </a:xfrm>
          <a:prstGeom prst="rect">
            <a:avLst/>
          </a:prstGeom>
          <a:solidFill>
            <a:srgbClr val="C2352F"/>
          </a:solidFill>
          <a:ln/>
        </p:spPr>
      </p:sp>
      <p:sp>
        <p:nvSpPr>
          <p:cNvPr id="107" name="Text 105"/>
          <p:cNvSpPr txBox="1"/>
          <p:nvPr/>
        </p:nvSpPr>
        <p:spPr>
          <a:xfrm>
            <a:off x="10305288"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172</a:t>
            </a:r>
            <a:endParaRPr lang="en-US" sz="1200" dirty="0"/>
          </a:p>
        </p:txBody>
      </p:sp>
      <p:sp>
        <p:nvSpPr>
          <p:cNvPr id="108" name="Text 106"/>
          <p:cNvSpPr txBox="1"/>
          <p:nvPr/>
        </p:nvSpPr>
        <p:spPr>
          <a:xfrm>
            <a:off x="6208776"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9" name="Text 107"/>
          <p:cNvSpPr txBox="1"/>
          <p:nvPr/>
        </p:nvSpPr>
        <p:spPr>
          <a:xfrm>
            <a:off x="6565392"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0" name="Shape 108"/>
          <p:cNvSpPr/>
          <p:nvPr/>
        </p:nvSpPr>
        <p:spPr>
          <a:xfrm>
            <a:off x="8558784" y="3686302"/>
            <a:ext cx="981754" cy="104140"/>
          </a:xfrm>
          <a:prstGeom prst="rect">
            <a:avLst/>
          </a:prstGeom>
          <a:solidFill>
            <a:srgbClr val="C2352F"/>
          </a:solidFill>
          <a:ln/>
        </p:spPr>
      </p:sp>
      <p:sp>
        <p:nvSpPr>
          <p:cNvPr id="111" name="Text 109"/>
          <p:cNvSpPr txBox="1"/>
          <p:nvPr/>
        </p:nvSpPr>
        <p:spPr>
          <a:xfrm>
            <a:off x="10305288"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165</a:t>
            </a:r>
            <a:endParaRPr lang="en-US" sz="1200" dirty="0"/>
          </a:p>
        </p:txBody>
      </p:sp>
      <p:sp>
        <p:nvSpPr>
          <p:cNvPr id="112" name="Text 110"/>
          <p:cNvSpPr txBox="1"/>
          <p:nvPr/>
        </p:nvSpPr>
        <p:spPr>
          <a:xfrm>
            <a:off x="6208776"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3" name="Text 111"/>
          <p:cNvSpPr txBox="1"/>
          <p:nvPr/>
        </p:nvSpPr>
        <p:spPr>
          <a:xfrm>
            <a:off x="6565392"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4" name="Shape 112"/>
          <p:cNvSpPr/>
          <p:nvPr/>
        </p:nvSpPr>
        <p:spPr>
          <a:xfrm>
            <a:off x="8558784" y="3894582"/>
            <a:ext cx="943933" cy="104140"/>
          </a:xfrm>
          <a:prstGeom prst="rect">
            <a:avLst/>
          </a:prstGeom>
          <a:solidFill>
            <a:srgbClr val="C2352F"/>
          </a:solidFill>
          <a:ln/>
        </p:spPr>
      </p:sp>
      <p:sp>
        <p:nvSpPr>
          <p:cNvPr id="115" name="Text 113"/>
          <p:cNvSpPr txBox="1"/>
          <p:nvPr/>
        </p:nvSpPr>
        <p:spPr>
          <a:xfrm>
            <a:off x="10305288"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159</a:t>
            </a:r>
            <a:endParaRPr lang="en-US" sz="1200" dirty="0"/>
          </a:p>
        </p:txBody>
      </p:sp>
      <p:sp>
        <p:nvSpPr>
          <p:cNvPr id="116" name="Text 114"/>
          <p:cNvSpPr txBox="1"/>
          <p:nvPr/>
        </p:nvSpPr>
        <p:spPr>
          <a:xfrm>
            <a:off x="6208776"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7" name="Text 115"/>
          <p:cNvSpPr txBox="1"/>
          <p:nvPr/>
        </p:nvSpPr>
        <p:spPr>
          <a:xfrm>
            <a:off x="6565392"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8" name="Shape 116"/>
          <p:cNvSpPr/>
          <p:nvPr/>
        </p:nvSpPr>
        <p:spPr>
          <a:xfrm>
            <a:off x="8558784" y="4102862"/>
            <a:ext cx="912089" cy="104140"/>
          </a:xfrm>
          <a:prstGeom prst="rect">
            <a:avLst/>
          </a:prstGeom>
          <a:solidFill>
            <a:srgbClr val="C2352F"/>
          </a:solidFill>
          <a:ln/>
        </p:spPr>
      </p:sp>
      <p:sp>
        <p:nvSpPr>
          <p:cNvPr id="119" name="Text 117"/>
          <p:cNvSpPr txBox="1"/>
          <p:nvPr/>
        </p:nvSpPr>
        <p:spPr>
          <a:xfrm>
            <a:off x="10305288"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20" name="Text 118"/>
          <p:cNvSpPr txBox="1"/>
          <p:nvPr/>
        </p:nvSpPr>
        <p:spPr>
          <a:xfrm>
            <a:off x="6208776" y="42590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42590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2" name="Shape 120"/>
          <p:cNvSpPr/>
          <p:nvPr/>
        </p:nvSpPr>
        <p:spPr>
          <a:xfrm>
            <a:off x="8558784" y="4311142"/>
            <a:ext cx="848886" cy="104140"/>
          </a:xfrm>
          <a:prstGeom prst="rect">
            <a:avLst/>
          </a:prstGeom>
          <a:solidFill>
            <a:srgbClr val="C2352F"/>
          </a:solidFill>
          <a:ln/>
        </p:spPr>
      </p:sp>
      <p:sp>
        <p:nvSpPr>
          <p:cNvPr id="123" name="Text 121"/>
          <p:cNvSpPr txBox="1"/>
          <p:nvPr/>
        </p:nvSpPr>
        <p:spPr>
          <a:xfrm>
            <a:off x="10305288" y="42590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4" name="Text 122"/>
          <p:cNvSpPr txBox="1"/>
          <p:nvPr/>
        </p:nvSpPr>
        <p:spPr>
          <a:xfrm>
            <a:off x="6208776"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5" name="Text 123"/>
          <p:cNvSpPr txBox="1"/>
          <p:nvPr/>
        </p:nvSpPr>
        <p:spPr>
          <a:xfrm>
            <a:off x="6565392"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6" name="Shape 124"/>
          <p:cNvSpPr/>
          <p:nvPr/>
        </p:nvSpPr>
        <p:spPr>
          <a:xfrm>
            <a:off x="8558784" y="4519422"/>
            <a:ext cx="823202" cy="104140"/>
          </a:xfrm>
          <a:prstGeom prst="rect">
            <a:avLst/>
          </a:prstGeom>
          <a:solidFill>
            <a:srgbClr val="C2352F"/>
          </a:solidFill>
          <a:ln/>
        </p:spPr>
      </p:sp>
      <p:sp>
        <p:nvSpPr>
          <p:cNvPr id="127" name="Text 125"/>
          <p:cNvSpPr txBox="1"/>
          <p:nvPr/>
        </p:nvSpPr>
        <p:spPr>
          <a:xfrm>
            <a:off x="10305288" y="44673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28" name="Text 126"/>
          <p:cNvSpPr txBox="1"/>
          <p:nvPr/>
        </p:nvSpPr>
        <p:spPr>
          <a:xfrm>
            <a:off x="6208776"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9" name="Text 127"/>
          <p:cNvSpPr txBox="1"/>
          <p:nvPr/>
        </p:nvSpPr>
        <p:spPr>
          <a:xfrm>
            <a:off x="6565392"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0" name="Shape 128"/>
          <p:cNvSpPr/>
          <p:nvPr/>
        </p:nvSpPr>
        <p:spPr>
          <a:xfrm>
            <a:off x="8558784" y="4727702"/>
            <a:ext cx="759533" cy="104140"/>
          </a:xfrm>
          <a:prstGeom prst="rect">
            <a:avLst/>
          </a:prstGeom>
          <a:solidFill>
            <a:srgbClr val="C2352F"/>
          </a:solidFill>
          <a:ln/>
        </p:spPr>
      </p:sp>
      <p:sp>
        <p:nvSpPr>
          <p:cNvPr id="131" name="Text 129"/>
          <p:cNvSpPr txBox="1"/>
          <p:nvPr/>
        </p:nvSpPr>
        <p:spPr>
          <a:xfrm>
            <a:off x="10305288" y="46756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132" name="Text 130"/>
          <p:cNvSpPr txBox="1"/>
          <p:nvPr/>
        </p:nvSpPr>
        <p:spPr>
          <a:xfrm>
            <a:off x="6208776"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4" name="Shape 132"/>
          <p:cNvSpPr/>
          <p:nvPr/>
        </p:nvSpPr>
        <p:spPr>
          <a:xfrm>
            <a:off x="8558784" y="4935982"/>
            <a:ext cx="729747" cy="104140"/>
          </a:xfrm>
          <a:prstGeom prst="rect">
            <a:avLst/>
          </a:prstGeom>
          <a:solidFill>
            <a:srgbClr val="C2352F"/>
          </a:solidFill>
          <a:ln/>
        </p:spPr>
      </p:sp>
      <p:sp>
        <p:nvSpPr>
          <p:cNvPr id="135" name="Text 133"/>
          <p:cNvSpPr txBox="1"/>
          <p:nvPr/>
        </p:nvSpPr>
        <p:spPr>
          <a:xfrm>
            <a:off x="10305288" y="48839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36" name="Text 134"/>
          <p:cNvSpPr txBox="1"/>
          <p:nvPr/>
        </p:nvSpPr>
        <p:spPr>
          <a:xfrm>
            <a:off x="6208776"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7" name="Text 135"/>
          <p:cNvSpPr txBox="1"/>
          <p:nvPr/>
        </p:nvSpPr>
        <p:spPr>
          <a:xfrm>
            <a:off x="6565392"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8" name="Shape 136"/>
          <p:cNvSpPr/>
          <p:nvPr/>
        </p:nvSpPr>
        <p:spPr>
          <a:xfrm>
            <a:off x="8558784" y="5144262"/>
            <a:ext cx="709976" cy="104140"/>
          </a:xfrm>
          <a:prstGeom prst="rect">
            <a:avLst/>
          </a:prstGeom>
          <a:solidFill>
            <a:srgbClr val="C2352F"/>
          </a:solidFill>
          <a:ln/>
        </p:spPr>
      </p:sp>
      <p:sp>
        <p:nvSpPr>
          <p:cNvPr id="139" name="Text 137"/>
          <p:cNvSpPr txBox="1"/>
          <p:nvPr/>
        </p:nvSpPr>
        <p:spPr>
          <a:xfrm>
            <a:off x="10305288" y="50921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140" name="Text 138"/>
          <p:cNvSpPr txBox="1"/>
          <p:nvPr/>
        </p:nvSpPr>
        <p:spPr>
          <a:xfrm>
            <a:off x="6208776"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1" name="Text 139"/>
          <p:cNvSpPr txBox="1"/>
          <p:nvPr/>
        </p:nvSpPr>
        <p:spPr>
          <a:xfrm>
            <a:off x="6565392"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2" name="Shape 140"/>
          <p:cNvSpPr/>
          <p:nvPr/>
        </p:nvSpPr>
        <p:spPr>
          <a:xfrm>
            <a:off x="8558784" y="5352542"/>
            <a:ext cx="703612" cy="104140"/>
          </a:xfrm>
          <a:prstGeom prst="rect">
            <a:avLst/>
          </a:prstGeom>
          <a:solidFill>
            <a:srgbClr val="C2352F"/>
          </a:solidFill>
          <a:ln/>
        </p:spPr>
      </p:sp>
      <p:sp>
        <p:nvSpPr>
          <p:cNvPr id="143" name="Text 141"/>
          <p:cNvSpPr txBox="1"/>
          <p:nvPr/>
        </p:nvSpPr>
        <p:spPr>
          <a:xfrm>
            <a:off x="10305288" y="53004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44" name="Text 142"/>
          <p:cNvSpPr txBox="1"/>
          <p:nvPr/>
        </p:nvSpPr>
        <p:spPr>
          <a:xfrm>
            <a:off x="6208776"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5" name="Text 143"/>
          <p:cNvSpPr txBox="1"/>
          <p:nvPr/>
        </p:nvSpPr>
        <p:spPr>
          <a:xfrm>
            <a:off x="6565392"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6" name="Shape 144"/>
          <p:cNvSpPr/>
          <p:nvPr/>
        </p:nvSpPr>
        <p:spPr>
          <a:xfrm>
            <a:off x="8558784" y="5560822"/>
            <a:ext cx="692411" cy="104140"/>
          </a:xfrm>
          <a:prstGeom prst="rect">
            <a:avLst/>
          </a:prstGeom>
          <a:solidFill>
            <a:srgbClr val="C2352F"/>
          </a:solidFill>
          <a:ln/>
        </p:spPr>
      </p:sp>
      <p:sp>
        <p:nvSpPr>
          <p:cNvPr id="147" name="Text 145"/>
          <p:cNvSpPr txBox="1"/>
          <p:nvPr/>
        </p:nvSpPr>
        <p:spPr>
          <a:xfrm>
            <a:off x="10305288" y="55087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48" name="Shape 146"/>
          <p:cNvSpPr/>
          <p:nvPr/>
        </p:nvSpPr>
        <p:spPr>
          <a:xfrm>
            <a:off x="4047207" y="2176272"/>
            <a:ext cx="14630" cy="3749040"/>
          </a:xfrm>
          <a:prstGeom prst="rect">
            <a:avLst/>
          </a:prstGeom>
          <a:solidFill>
            <a:srgbClr val="0B2C4A"/>
          </a:solidFill>
          <a:ln/>
        </p:spPr>
      </p:sp>
      <p:sp>
        <p:nvSpPr>
          <p:cNvPr id="149" name="Shape 147"/>
          <p:cNvSpPr/>
          <p:nvPr/>
        </p:nvSpPr>
        <p:spPr>
          <a:xfrm>
            <a:off x="9597615" y="2176272"/>
            <a:ext cx="14630" cy="3749040"/>
          </a:xfrm>
          <a:prstGeom prst="rect">
            <a:avLst/>
          </a:prstGeom>
          <a:solidFill>
            <a:srgbClr val="0B2C4A"/>
          </a:solidFill>
          <a:ln/>
        </p:spPr>
      </p:sp>
      <p:sp>
        <p:nvSpPr>
          <p:cNvPr id="150" name="Shape 148"/>
          <p:cNvSpPr/>
          <p:nvPr/>
        </p:nvSpPr>
        <p:spPr>
          <a:xfrm>
            <a:off x="6085332" y="2176272"/>
            <a:ext cx="10973" cy="3749040"/>
          </a:xfrm>
          <a:prstGeom prst="rect">
            <a:avLst/>
          </a:prstGeom>
          <a:solidFill>
            <a:srgbClr val="D9D9D9"/>
          </a:solidFill>
          <a:ln/>
        </p:spPr>
      </p:sp>
      <p:sp>
        <p:nvSpPr>
          <p:cNvPr id="151" name="Shape 149"/>
          <p:cNvSpPr/>
          <p:nvPr/>
        </p:nvSpPr>
        <p:spPr>
          <a:xfrm>
            <a:off x="457200" y="6126480"/>
            <a:ext cx="11274552" cy="615696"/>
          </a:xfrm>
          <a:prstGeom prst="rect">
            <a:avLst/>
          </a:prstGeom>
          <a:solidFill>
            <a:srgbClr val="EDF4FA"/>
          </a:solidFill>
          <a:ln/>
        </p:spPr>
      </p:sp>
      <p:sp>
        <p:nvSpPr>
          <p:cNvPr id="152" name="Text 1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123 and 12 of 24 others beat 176. Toyota Flagstaff leads non-luxury at 253.</a:t>
            </a:r>
            <a:endParaRPr lang="en-US" sz="1600" dirty="0"/>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 name="Shape 11"/>
          <p:cNvSpPr/>
          <p:nvPr/>
        </p:nvSpPr>
        <p:spPr>
          <a:xfrm>
            <a:off x="3785616" y="1911860"/>
            <a:ext cx="52524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4675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1" name="Shape 19"/>
          <p:cNvSpPr/>
          <p:nvPr/>
        </p:nvSpPr>
        <p:spPr>
          <a:xfrm>
            <a:off x="3785616" y="2391651"/>
            <a:ext cx="4156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785616" y="2631546"/>
            <a:ext cx="26519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871442"/>
            <a:ext cx="19054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17953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7490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1" name="Shape 39"/>
          <p:cNvSpPr/>
          <p:nvPr/>
        </p:nvSpPr>
        <p:spPr>
          <a:xfrm>
            <a:off x="3785616" y="3591128"/>
            <a:ext cx="157180"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785616" y="3831024"/>
            <a:ext cx="14679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785616" y="4070920"/>
            <a:ext cx="13696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769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7" name="Shape 55"/>
          <p:cNvSpPr/>
          <p:nvPr/>
        </p:nvSpPr>
        <p:spPr>
          <a:xfrm>
            <a:off x="3785616" y="4550711"/>
            <a:ext cx="7506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6032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3557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2143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06884" y="1911860"/>
            <a:ext cx="29140"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9216705" y="2151755"/>
            <a:ext cx="119319"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155707" y="2391651"/>
            <a:ext cx="180317"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9144900" y="2631546"/>
            <a:ext cx="191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9113369" y="2871442"/>
            <a:ext cx="2226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9069301" y="3111337"/>
            <a:ext cx="266723"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5" name="Shape 103"/>
          <p:cNvSpPr/>
          <p:nvPr/>
        </p:nvSpPr>
        <p:spPr>
          <a:xfrm>
            <a:off x="9051012" y="3351233"/>
            <a:ext cx="28501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963630" y="3591128"/>
            <a:ext cx="372394"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3" name="Shape 111"/>
          <p:cNvSpPr/>
          <p:nvPr/>
        </p:nvSpPr>
        <p:spPr>
          <a:xfrm>
            <a:off x="8947862" y="3831024"/>
            <a:ext cx="38816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8941405" y="4070920"/>
            <a:ext cx="3946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1" name="Shape 119"/>
          <p:cNvSpPr/>
          <p:nvPr/>
        </p:nvSpPr>
        <p:spPr>
          <a:xfrm>
            <a:off x="8905154" y="4310815"/>
            <a:ext cx="43087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5" name="Shape 123"/>
          <p:cNvSpPr/>
          <p:nvPr/>
        </p:nvSpPr>
        <p:spPr>
          <a:xfrm>
            <a:off x="8863913" y="4550711"/>
            <a:ext cx="47211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8798725" y="4790606"/>
            <a:ext cx="53729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761661" y="5030502"/>
            <a:ext cx="5743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66984" y="5270397"/>
            <a:ext cx="76904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raised ROs per advisor, led by Honda Flagstaff at +40 to 175. 16 declined; Toyota Spokane fell most at −59.</a:t>
            </a:r>
            <a:endParaRPr lang="en-US" sz="1600" dirty="0"/>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194</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180</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244</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123</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161</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225</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203</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237</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186</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9" name="Shape 67"/>
          <p:cNvSpPr/>
          <p:nvPr/>
        </p:nvSpPr>
        <p:spPr>
          <a:xfrm>
            <a:off x="457200" y="6126480"/>
            <a:ext cx="11274552" cy="585216"/>
          </a:xfrm>
          <a:prstGeom prst="rect">
            <a:avLst/>
          </a:prstGeom>
          <a:solidFill>
            <a:srgbClr val="EDF4FA"/>
          </a:solidFill>
          <a:ln/>
        </p:spPr>
      </p:sp>
      <p:sp>
        <p:nvSpPr>
          <p:cNvPr id="70" name="Text 68"/>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Honda Flagstaff, Hyundai Prescott and Toyota Flagstaff what changed. Ask Toyota Spokane, VW St George and Nissan what got in the way. Ask Mazda, Honda North and Honda Spokane what they started this year.</a:t>
            </a:r>
            <a:endParaRPr lang="en-US" sz="1500" dirty="0"/>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+0.8</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0.8 to 26.8, ahead of 2025 in eight of nine months. Headcount fell 5.1%; ROs fell 2.3%.</a:t>
            </a:r>
            <a:endParaRPr lang="en-US" sz="1600" dirty="0"/>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26.8</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Each segment ranked on its own. Navy line = each segment's average; green at or above it.</a:t>
            </a:r>
            <a:endParaRPr lang="en-US" sz="1400" dirty="0"/>
          </a:p>
        </p:txBody>
      </p:sp>
      <p:sp>
        <p:nvSpPr>
          <p:cNvPr id="12" name="Text 10"/>
          <p:cNvSpPr txBox="1"/>
          <p:nvPr/>
        </p:nvSpPr>
        <p:spPr>
          <a:xfrm>
            <a:off x="658368" y="21762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17.4</a:t>
            </a:r>
            <a:endParaRPr lang="en-US" sz="1300" dirty="0"/>
          </a:p>
        </p:txBody>
      </p:sp>
      <p:sp>
        <p:nvSpPr>
          <p:cNvPr id="13" name="Shape 11"/>
          <p:cNvSpPr/>
          <p:nvPr/>
        </p:nvSpPr>
        <p:spPr>
          <a:xfrm>
            <a:off x="658368" y="2366264"/>
            <a:ext cx="5303520" cy="18288"/>
          </a:xfrm>
          <a:prstGeom prst="rect">
            <a:avLst/>
          </a:prstGeom>
          <a:solidFill>
            <a:srgbClr val="0B2C4A"/>
          </a:solidFill>
          <a:ln/>
        </p:spPr>
      </p:sp>
      <p:sp>
        <p:nvSpPr>
          <p:cNvPr id="14" name="Text 12"/>
          <p:cNvSpPr txBox="1"/>
          <p:nvPr/>
        </p:nvSpPr>
        <p:spPr>
          <a:xfrm>
            <a:off x="658368"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6" name="Shape 14"/>
          <p:cNvSpPr/>
          <p:nvPr/>
        </p:nvSpPr>
        <p:spPr>
          <a:xfrm>
            <a:off x="3008376" y="2436622"/>
            <a:ext cx="1658471" cy="104140"/>
          </a:xfrm>
          <a:prstGeom prst="rect">
            <a:avLst/>
          </a:prstGeom>
          <a:solidFill>
            <a:srgbClr val="12A566"/>
          </a:solidFill>
          <a:ln/>
        </p:spPr>
      </p:sp>
      <p:sp>
        <p:nvSpPr>
          <p:cNvPr id="17" name="Text 15"/>
          <p:cNvSpPr txBox="1"/>
          <p:nvPr/>
        </p:nvSpPr>
        <p:spPr>
          <a:xfrm>
            <a:off x="4754880"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18" name="Text 16"/>
          <p:cNvSpPr txBox="1"/>
          <p:nvPr/>
        </p:nvSpPr>
        <p:spPr>
          <a:xfrm>
            <a:off x="658368"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0" name="Shape 18"/>
          <p:cNvSpPr/>
          <p:nvPr/>
        </p:nvSpPr>
        <p:spPr>
          <a:xfrm>
            <a:off x="3008376" y="2644902"/>
            <a:ext cx="1631155" cy="104140"/>
          </a:xfrm>
          <a:prstGeom prst="rect">
            <a:avLst/>
          </a:prstGeom>
          <a:solidFill>
            <a:srgbClr val="12A566"/>
          </a:solidFill>
          <a:ln/>
        </p:spPr>
      </p:sp>
      <p:sp>
        <p:nvSpPr>
          <p:cNvPr id="21" name="Text 19"/>
          <p:cNvSpPr txBox="1"/>
          <p:nvPr/>
        </p:nvSpPr>
        <p:spPr>
          <a:xfrm>
            <a:off x="4754880"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24.5</a:t>
            </a:r>
            <a:endParaRPr lang="en-US" sz="1200" dirty="0"/>
          </a:p>
        </p:txBody>
      </p:sp>
      <p:sp>
        <p:nvSpPr>
          <p:cNvPr id="22" name="Text 20"/>
          <p:cNvSpPr txBox="1"/>
          <p:nvPr/>
        </p:nvSpPr>
        <p:spPr>
          <a:xfrm>
            <a:off x="658368"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4" name="Shape 22"/>
          <p:cNvSpPr/>
          <p:nvPr/>
        </p:nvSpPr>
        <p:spPr>
          <a:xfrm>
            <a:off x="3008376" y="2853182"/>
            <a:ext cx="1292169" cy="104140"/>
          </a:xfrm>
          <a:prstGeom prst="rect">
            <a:avLst/>
          </a:prstGeom>
          <a:solidFill>
            <a:srgbClr val="12A566"/>
          </a:solidFill>
          <a:ln/>
        </p:spPr>
      </p:sp>
      <p:sp>
        <p:nvSpPr>
          <p:cNvPr id="25" name="Text 23"/>
          <p:cNvSpPr txBox="1"/>
          <p:nvPr/>
        </p:nvSpPr>
        <p:spPr>
          <a:xfrm>
            <a:off x="4754880"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26" name="Text 24"/>
          <p:cNvSpPr txBox="1"/>
          <p:nvPr/>
        </p:nvSpPr>
        <p:spPr>
          <a:xfrm>
            <a:off x="658368"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8" name="Shape 26"/>
          <p:cNvSpPr/>
          <p:nvPr/>
        </p:nvSpPr>
        <p:spPr>
          <a:xfrm>
            <a:off x="3008376" y="3061462"/>
            <a:ext cx="1269367" cy="104140"/>
          </a:xfrm>
          <a:prstGeom prst="rect">
            <a:avLst/>
          </a:prstGeom>
          <a:solidFill>
            <a:srgbClr val="12A566"/>
          </a:solidFill>
          <a:ln/>
        </p:spPr>
      </p:sp>
      <p:sp>
        <p:nvSpPr>
          <p:cNvPr id="29" name="Text 27"/>
          <p:cNvSpPr txBox="1"/>
          <p:nvPr/>
        </p:nvSpPr>
        <p:spPr>
          <a:xfrm>
            <a:off x="4754880"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19.0</a:t>
            </a:r>
            <a:endParaRPr lang="en-US" sz="1200" dirty="0"/>
          </a:p>
        </p:txBody>
      </p:sp>
      <p:sp>
        <p:nvSpPr>
          <p:cNvPr id="30" name="Text 28"/>
          <p:cNvSpPr txBox="1"/>
          <p:nvPr/>
        </p:nvSpPr>
        <p:spPr>
          <a:xfrm>
            <a:off x="658368"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1" name="Text 29"/>
          <p:cNvSpPr txBox="1"/>
          <p:nvPr/>
        </p:nvSpPr>
        <p:spPr>
          <a:xfrm>
            <a:off x="1014984"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3008376" y="3269742"/>
            <a:ext cx="1120679" cy="104140"/>
          </a:xfrm>
          <a:prstGeom prst="rect">
            <a:avLst/>
          </a:prstGeom>
          <a:solidFill>
            <a:srgbClr val="C2352F"/>
          </a:solidFill>
          <a:ln/>
        </p:spPr>
      </p:sp>
      <p:sp>
        <p:nvSpPr>
          <p:cNvPr id="33" name="Text 31"/>
          <p:cNvSpPr txBox="1"/>
          <p:nvPr/>
        </p:nvSpPr>
        <p:spPr>
          <a:xfrm>
            <a:off x="4754880" y="32176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34" name="Text 32"/>
          <p:cNvSpPr txBox="1"/>
          <p:nvPr/>
        </p:nvSpPr>
        <p:spPr>
          <a:xfrm>
            <a:off x="658368"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5" name="Text 33"/>
          <p:cNvSpPr txBox="1"/>
          <p:nvPr/>
        </p:nvSpPr>
        <p:spPr>
          <a:xfrm>
            <a:off x="1014984"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6" name="Shape 34"/>
          <p:cNvSpPr/>
          <p:nvPr/>
        </p:nvSpPr>
        <p:spPr>
          <a:xfrm>
            <a:off x="3008376" y="3478022"/>
            <a:ext cx="982182" cy="104140"/>
          </a:xfrm>
          <a:prstGeom prst="rect">
            <a:avLst/>
          </a:prstGeom>
          <a:solidFill>
            <a:srgbClr val="C2352F"/>
          </a:solidFill>
          <a:ln/>
        </p:spPr>
      </p:sp>
      <p:sp>
        <p:nvSpPr>
          <p:cNvPr id="37" name="Text 35"/>
          <p:cNvSpPr txBox="1"/>
          <p:nvPr/>
        </p:nvSpPr>
        <p:spPr>
          <a:xfrm>
            <a:off x="4754880"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38" name="Text 36"/>
          <p:cNvSpPr txBox="1"/>
          <p:nvPr/>
        </p:nvSpPr>
        <p:spPr>
          <a:xfrm>
            <a:off x="658368"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9" name="Text 37"/>
          <p:cNvSpPr txBox="1"/>
          <p:nvPr/>
        </p:nvSpPr>
        <p:spPr>
          <a:xfrm>
            <a:off x="1014984"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0" name="Shape 38"/>
          <p:cNvSpPr/>
          <p:nvPr/>
        </p:nvSpPr>
        <p:spPr>
          <a:xfrm>
            <a:off x="3008376" y="3686302"/>
            <a:ext cx="981891" cy="104140"/>
          </a:xfrm>
          <a:prstGeom prst="rect">
            <a:avLst/>
          </a:prstGeom>
          <a:solidFill>
            <a:srgbClr val="C2352F"/>
          </a:solidFill>
          <a:ln/>
        </p:spPr>
      </p:sp>
      <p:sp>
        <p:nvSpPr>
          <p:cNvPr id="41" name="Text 39"/>
          <p:cNvSpPr txBox="1"/>
          <p:nvPr/>
        </p:nvSpPr>
        <p:spPr>
          <a:xfrm>
            <a:off x="4754880"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2" name="Text 40"/>
          <p:cNvSpPr txBox="1"/>
          <p:nvPr/>
        </p:nvSpPr>
        <p:spPr>
          <a:xfrm>
            <a:off x="658368"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3" name="Text 41"/>
          <p:cNvSpPr txBox="1"/>
          <p:nvPr/>
        </p:nvSpPr>
        <p:spPr>
          <a:xfrm>
            <a:off x="1014984"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3008376" y="3894582"/>
            <a:ext cx="981057" cy="104140"/>
          </a:xfrm>
          <a:prstGeom prst="rect">
            <a:avLst/>
          </a:prstGeom>
          <a:solidFill>
            <a:srgbClr val="C2352F"/>
          </a:solidFill>
          <a:ln/>
        </p:spPr>
      </p:sp>
      <p:sp>
        <p:nvSpPr>
          <p:cNvPr id="45" name="Text 43"/>
          <p:cNvSpPr txBox="1"/>
          <p:nvPr/>
        </p:nvSpPr>
        <p:spPr>
          <a:xfrm>
            <a:off x="4754880"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6" name="Text 44"/>
          <p:cNvSpPr txBox="1"/>
          <p:nvPr/>
        </p:nvSpPr>
        <p:spPr>
          <a:xfrm>
            <a:off x="658368"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7" name="Text 45"/>
          <p:cNvSpPr txBox="1"/>
          <p:nvPr/>
        </p:nvSpPr>
        <p:spPr>
          <a:xfrm>
            <a:off x="1014984"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8" name="Shape 46"/>
          <p:cNvSpPr/>
          <p:nvPr/>
        </p:nvSpPr>
        <p:spPr>
          <a:xfrm>
            <a:off x="3008376" y="4102862"/>
            <a:ext cx="910335" cy="104140"/>
          </a:xfrm>
          <a:prstGeom prst="rect">
            <a:avLst/>
          </a:prstGeom>
          <a:solidFill>
            <a:srgbClr val="C2352F"/>
          </a:solidFill>
          <a:ln/>
        </p:spPr>
      </p:sp>
      <p:sp>
        <p:nvSpPr>
          <p:cNvPr id="49" name="Text 47"/>
          <p:cNvSpPr txBox="1"/>
          <p:nvPr/>
        </p:nvSpPr>
        <p:spPr>
          <a:xfrm>
            <a:off x="4754880"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50" name="Text 48"/>
          <p:cNvSpPr txBox="1"/>
          <p:nvPr/>
        </p:nvSpPr>
        <p:spPr>
          <a:xfrm>
            <a:off x="658368" y="42590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a:t>
            </a:r>
            <a:endParaRPr lang="en-US" sz="1300" dirty="0"/>
          </a:p>
        </p:txBody>
      </p:sp>
      <p:sp>
        <p:nvSpPr>
          <p:cNvPr id="51" name="Shape 49"/>
          <p:cNvSpPr/>
          <p:nvPr/>
        </p:nvSpPr>
        <p:spPr>
          <a:xfrm>
            <a:off x="658368" y="4449064"/>
            <a:ext cx="5303520" cy="18288"/>
          </a:xfrm>
          <a:prstGeom prst="rect">
            <a:avLst/>
          </a:prstGeom>
          <a:solidFill>
            <a:srgbClr val="0B2C4A"/>
          </a:solidFill>
          <a:ln/>
        </p:spPr>
      </p:sp>
      <p:sp>
        <p:nvSpPr>
          <p:cNvPr id="52" name="Text 50"/>
          <p:cNvSpPr txBox="1"/>
          <p:nvPr/>
        </p:nvSpPr>
        <p:spPr>
          <a:xfrm>
            <a:off x="658368"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4" name="Shape 52"/>
          <p:cNvSpPr/>
          <p:nvPr/>
        </p:nvSpPr>
        <p:spPr>
          <a:xfrm>
            <a:off x="3008376" y="4519422"/>
            <a:ext cx="1584948" cy="104140"/>
          </a:xfrm>
          <a:prstGeom prst="rect">
            <a:avLst/>
          </a:prstGeom>
          <a:solidFill>
            <a:srgbClr val="12A566"/>
          </a:solidFill>
          <a:ln/>
        </p:spPr>
      </p:sp>
      <p:sp>
        <p:nvSpPr>
          <p:cNvPr id="55" name="Text 53"/>
          <p:cNvSpPr txBox="1"/>
          <p:nvPr/>
        </p:nvSpPr>
        <p:spPr>
          <a:xfrm>
            <a:off x="4754880" y="44673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a:t>
            </a:r>
            <a:endParaRPr lang="en-US" sz="1200" dirty="0"/>
          </a:p>
        </p:txBody>
      </p:sp>
      <p:sp>
        <p:nvSpPr>
          <p:cNvPr id="56" name="Text 54"/>
          <p:cNvSpPr txBox="1"/>
          <p:nvPr/>
        </p:nvSpPr>
        <p:spPr>
          <a:xfrm>
            <a:off x="658368"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8" name="Shape 56"/>
          <p:cNvSpPr/>
          <p:nvPr/>
        </p:nvSpPr>
        <p:spPr>
          <a:xfrm>
            <a:off x="3008376" y="4727702"/>
            <a:ext cx="1531944" cy="104140"/>
          </a:xfrm>
          <a:prstGeom prst="rect">
            <a:avLst/>
          </a:prstGeom>
          <a:solidFill>
            <a:srgbClr val="12A566"/>
          </a:solidFill>
          <a:ln/>
        </p:spPr>
      </p:sp>
      <p:sp>
        <p:nvSpPr>
          <p:cNvPr id="59" name="Text 57"/>
          <p:cNvSpPr txBox="1"/>
          <p:nvPr/>
        </p:nvSpPr>
        <p:spPr>
          <a:xfrm>
            <a:off x="4754880" y="46756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38.5</a:t>
            </a:r>
            <a:endParaRPr lang="en-US" sz="1200" dirty="0"/>
          </a:p>
        </p:txBody>
      </p:sp>
      <p:sp>
        <p:nvSpPr>
          <p:cNvPr id="60" name="Text 58"/>
          <p:cNvSpPr txBox="1"/>
          <p:nvPr/>
        </p:nvSpPr>
        <p:spPr>
          <a:xfrm>
            <a:off x="658368"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008376" y="4935982"/>
            <a:ext cx="1488739" cy="104140"/>
          </a:xfrm>
          <a:prstGeom prst="rect">
            <a:avLst/>
          </a:prstGeom>
          <a:solidFill>
            <a:srgbClr val="12A566"/>
          </a:solidFill>
          <a:ln/>
        </p:spPr>
      </p:sp>
      <p:sp>
        <p:nvSpPr>
          <p:cNvPr id="63" name="Text 61"/>
          <p:cNvSpPr txBox="1"/>
          <p:nvPr/>
        </p:nvSpPr>
        <p:spPr>
          <a:xfrm>
            <a:off x="4754880" y="48839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37.4</a:t>
            </a:r>
            <a:endParaRPr lang="en-US" sz="1200" dirty="0"/>
          </a:p>
        </p:txBody>
      </p:sp>
      <p:sp>
        <p:nvSpPr>
          <p:cNvPr id="64" name="Text 62"/>
          <p:cNvSpPr txBox="1"/>
          <p:nvPr/>
        </p:nvSpPr>
        <p:spPr>
          <a:xfrm>
            <a:off x="658368"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6" name="Shape 64"/>
          <p:cNvSpPr/>
          <p:nvPr/>
        </p:nvSpPr>
        <p:spPr>
          <a:xfrm>
            <a:off x="3008376" y="5144262"/>
            <a:ext cx="1465284" cy="104140"/>
          </a:xfrm>
          <a:prstGeom prst="rect">
            <a:avLst/>
          </a:prstGeom>
          <a:solidFill>
            <a:srgbClr val="12A566"/>
          </a:solidFill>
          <a:ln/>
        </p:spPr>
      </p:sp>
      <p:sp>
        <p:nvSpPr>
          <p:cNvPr id="67" name="Text 65"/>
          <p:cNvSpPr txBox="1"/>
          <p:nvPr/>
        </p:nvSpPr>
        <p:spPr>
          <a:xfrm>
            <a:off x="4754880" y="50921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68" name="Text 66"/>
          <p:cNvSpPr txBox="1"/>
          <p:nvPr/>
        </p:nvSpPr>
        <p:spPr>
          <a:xfrm>
            <a:off x="658368"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0" name="Shape 68"/>
          <p:cNvSpPr/>
          <p:nvPr/>
        </p:nvSpPr>
        <p:spPr>
          <a:xfrm>
            <a:off x="3008376" y="5352542"/>
            <a:ext cx="1453454" cy="104140"/>
          </a:xfrm>
          <a:prstGeom prst="rect">
            <a:avLst/>
          </a:prstGeom>
          <a:solidFill>
            <a:srgbClr val="12A566"/>
          </a:solidFill>
          <a:ln/>
        </p:spPr>
      </p:sp>
      <p:sp>
        <p:nvSpPr>
          <p:cNvPr id="71" name="Text 69"/>
          <p:cNvSpPr txBox="1"/>
          <p:nvPr/>
        </p:nvSpPr>
        <p:spPr>
          <a:xfrm>
            <a:off x="4754880" y="53004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72" name="Text 70"/>
          <p:cNvSpPr txBox="1"/>
          <p:nvPr/>
        </p:nvSpPr>
        <p:spPr>
          <a:xfrm>
            <a:off x="658368"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560822"/>
            <a:ext cx="1392914" cy="104140"/>
          </a:xfrm>
          <a:prstGeom prst="rect">
            <a:avLst/>
          </a:prstGeom>
          <a:solidFill>
            <a:srgbClr val="12A566"/>
          </a:solidFill>
          <a:ln/>
        </p:spPr>
      </p:sp>
      <p:sp>
        <p:nvSpPr>
          <p:cNvPr id="75" name="Text 73"/>
          <p:cNvSpPr txBox="1"/>
          <p:nvPr/>
        </p:nvSpPr>
        <p:spPr>
          <a:xfrm>
            <a:off x="4754880" y="55087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76" name="Text 74"/>
          <p:cNvSpPr txBox="1"/>
          <p:nvPr/>
        </p:nvSpPr>
        <p:spPr>
          <a:xfrm>
            <a:off x="658368" y="57170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57170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8" name="Shape 76"/>
          <p:cNvSpPr/>
          <p:nvPr/>
        </p:nvSpPr>
        <p:spPr>
          <a:xfrm>
            <a:off x="3008376" y="5769102"/>
            <a:ext cx="1382090" cy="104140"/>
          </a:xfrm>
          <a:prstGeom prst="rect">
            <a:avLst/>
          </a:prstGeom>
          <a:solidFill>
            <a:srgbClr val="12A566"/>
          </a:solidFill>
          <a:ln/>
        </p:spPr>
      </p:sp>
      <p:sp>
        <p:nvSpPr>
          <p:cNvPr id="79" name="Text 77"/>
          <p:cNvSpPr txBox="1"/>
          <p:nvPr/>
        </p:nvSpPr>
        <p:spPr>
          <a:xfrm>
            <a:off x="4754880" y="57170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34.7</a:t>
            </a:r>
            <a:endParaRPr lang="en-US" sz="1200" dirty="0"/>
          </a:p>
        </p:txBody>
      </p:sp>
      <p:sp>
        <p:nvSpPr>
          <p:cNvPr id="80" name="Text 78"/>
          <p:cNvSpPr txBox="1"/>
          <p:nvPr/>
        </p:nvSpPr>
        <p:spPr>
          <a:xfrm>
            <a:off x="6208776" y="21762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1" name="Text 79"/>
          <p:cNvSpPr txBox="1"/>
          <p:nvPr/>
        </p:nvSpPr>
        <p:spPr>
          <a:xfrm>
            <a:off x="6565392" y="21762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2" name="Shape 80"/>
          <p:cNvSpPr/>
          <p:nvPr/>
        </p:nvSpPr>
        <p:spPr>
          <a:xfrm>
            <a:off x="8558784" y="2228342"/>
            <a:ext cx="1290776" cy="104140"/>
          </a:xfrm>
          <a:prstGeom prst="rect">
            <a:avLst/>
          </a:prstGeom>
          <a:solidFill>
            <a:srgbClr val="12A566"/>
          </a:solidFill>
          <a:ln/>
        </p:spPr>
      </p:sp>
      <p:sp>
        <p:nvSpPr>
          <p:cNvPr id="83" name="Text 81"/>
          <p:cNvSpPr txBox="1"/>
          <p:nvPr/>
        </p:nvSpPr>
        <p:spPr>
          <a:xfrm>
            <a:off x="10305288" y="21762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32.4</a:t>
            </a:r>
            <a:endParaRPr lang="en-US" sz="1200" dirty="0"/>
          </a:p>
        </p:txBody>
      </p:sp>
      <p:sp>
        <p:nvSpPr>
          <p:cNvPr id="84" name="Text 82"/>
          <p:cNvSpPr txBox="1"/>
          <p:nvPr/>
        </p:nvSpPr>
        <p:spPr>
          <a:xfrm>
            <a:off x="6208776"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5" name="Text 83"/>
          <p:cNvSpPr txBox="1"/>
          <p:nvPr/>
        </p:nvSpPr>
        <p:spPr>
          <a:xfrm>
            <a:off x="6565392"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6" name="Shape 84"/>
          <p:cNvSpPr/>
          <p:nvPr/>
        </p:nvSpPr>
        <p:spPr>
          <a:xfrm>
            <a:off x="8558784" y="2436622"/>
            <a:ext cx="1250314" cy="104140"/>
          </a:xfrm>
          <a:prstGeom prst="rect">
            <a:avLst/>
          </a:prstGeom>
          <a:solidFill>
            <a:srgbClr val="12A566"/>
          </a:solidFill>
          <a:ln/>
        </p:spPr>
      </p:sp>
      <p:sp>
        <p:nvSpPr>
          <p:cNvPr id="87" name="Text 85"/>
          <p:cNvSpPr txBox="1"/>
          <p:nvPr/>
        </p:nvSpPr>
        <p:spPr>
          <a:xfrm>
            <a:off x="10305288"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88" name="Text 86"/>
          <p:cNvSpPr txBox="1"/>
          <p:nvPr/>
        </p:nvSpPr>
        <p:spPr>
          <a:xfrm>
            <a:off x="6208776"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89" name="Text 87"/>
          <p:cNvSpPr txBox="1"/>
          <p:nvPr/>
        </p:nvSpPr>
        <p:spPr>
          <a:xfrm>
            <a:off x="6565392"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0" name="Shape 88"/>
          <p:cNvSpPr/>
          <p:nvPr/>
        </p:nvSpPr>
        <p:spPr>
          <a:xfrm>
            <a:off x="8558784" y="2644902"/>
            <a:ext cx="1249903" cy="104140"/>
          </a:xfrm>
          <a:prstGeom prst="rect">
            <a:avLst/>
          </a:prstGeom>
          <a:solidFill>
            <a:srgbClr val="12A566"/>
          </a:solidFill>
          <a:ln/>
        </p:spPr>
      </p:sp>
      <p:sp>
        <p:nvSpPr>
          <p:cNvPr id="91" name="Text 89"/>
          <p:cNvSpPr txBox="1"/>
          <p:nvPr/>
        </p:nvSpPr>
        <p:spPr>
          <a:xfrm>
            <a:off x="10305288"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2" name="Text 90"/>
          <p:cNvSpPr txBox="1"/>
          <p:nvPr/>
        </p:nvSpPr>
        <p:spPr>
          <a:xfrm>
            <a:off x="6208776"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3" name="Text 91"/>
          <p:cNvSpPr txBox="1"/>
          <p:nvPr/>
        </p:nvSpPr>
        <p:spPr>
          <a:xfrm>
            <a:off x="6565392"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4" name="Shape 92"/>
          <p:cNvSpPr/>
          <p:nvPr/>
        </p:nvSpPr>
        <p:spPr>
          <a:xfrm>
            <a:off x="8558784" y="2853182"/>
            <a:ext cx="1249400" cy="104140"/>
          </a:xfrm>
          <a:prstGeom prst="rect">
            <a:avLst/>
          </a:prstGeom>
          <a:solidFill>
            <a:srgbClr val="12A566"/>
          </a:solidFill>
          <a:ln/>
        </p:spPr>
      </p:sp>
      <p:sp>
        <p:nvSpPr>
          <p:cNvPr id="95" name="Text 93"/>
          <p:cNvSpPr txBox="1"/>
          <p:nvPr/>
        </p:nvSpPr>
        <p:spPr>
          <a:xfrm>
            <a:off x="10305288"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6" name="Text 94"/>
          <p:cNvSpPr txBox="1"/>
          <p:nvPr/>
        </p:nvSpPr>
        <p:spPr>
          <a:xfrm>
            <a:off x="6208776"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7" name="Text 95"/>
          <p:cNvSpPr txBox="1"/>
          <p:nvPr/>
        </p:nvSpPr>
        <p:spPr>
          <a:xfrm>
            <a:off x="6565392"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8" name="Shape 96"/>
          <p:cNvSpPr/>
          <p:nvPr/>
        </p:nvSpPr>
        <p:spPr>
          <a:xfrm>
            <a:off x="8558784" y="3061462"/>
            <a:ext cx="1244020" cy="104140"/>
          </a:xfrm>
          <a:prstGeom prst="rect">
            <a:avLst/>
          </a:prstGeom>
          <a:solidFill>
            <a:srgbClr val="12A566"/>
          </a:solidFill>
          <a:ln/>
        </p:spPr>
      </p:sp>
      <p:sp>
        <p:nvSpPr>
          <p:cNvPr id="99" name="Text 97"/>
          <p:cNvSpPr txBox="1"/>
          <p:nvPr/>
        </p:nvSpPr>
        <p:spPr>
          <a:xfrm>
            <a:off x="10305288"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31.3</a:t>
            </a:r>
            <a:endParaRPr lang="en-US" sz="1200" dirty="0"/>
          </a:p>
        </p:txBody>
      </p:sp>
      <p:sp>
        <p:nvSpPr>
          <p:cNvPr id="100" name="Text 98"/>
          <p:cNvSpPr txBox="1"/>
          <p:nvPr/>
        </p:nvSpPr>
        <p:spPr>
          <a:xfrm>
            <a:off x="6208776"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1" name="Text 99"/>
          <p:cNvSpPr txBox="1"/>
          <p:nvPr/>
        </p:nvSpPr>
        <p:spPr>
          <a:xfrm>
            <a:off x="6565392"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2" name="Shape 100"/>
          <p:cNvSpPr/>
          <p:nvPr/>
        </p:nvSpPr>
        <p:spPr>
          <a:xfrm>
            <a:off x="8558784" y="3269742"/>
            <a:ext cx="1237592" cy="104140"/>
          </a:xfrm>
          <a:prstGeom prst="rect">
            <a:avLst/>
          </a:prstGeom>
          <a:solidFill>
            <a:srgbClr val="12A566"/>
          </a:solidFill>
          <a:ln/>
        </p:spPr>
      </p:sp>
      <p:sp>
        <p:nvSpPr>
          <p:cNvPr id="103" name="Text 101"/>
          <p:cNvSpPr txBox="1"/>
          <p:nvPr/>
        </p:nvSpPr>
        <p:spPr>
          <a:xfrm>
            <a:off x="10305288" y="32176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104" name="Text 102"/>
          <p:cNvSpPr txBox="1"/>
          <p:nvPr/>
        </p:nvSpPr>
        <p:spPr>
          <a:xfrm>
            <a:off x="6208776"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5" name="Text 103"/>
          <p:cNvSpPr txBox="1"/>
          <p:nvPr/>
        </p:nvSpPr>
        <p:spPr>
          <a:xfrm>
            <a:off x="6565392"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6" name="Shape 104"/>
          <p:cNvSpPr/>
          <p:nvPr/>
        </p:nvSpPr>
        <p:spPr>
          <a:xfrm>
            <a:off x="8558784" y="3478022"/>
            <a:ext cx="1215849" cy="104140"/>
          </a:xfrm>
          <a:prstGeom prst="rect">
            <a:avLst/>
          </a:prstGeom>
          <a:solidFill>
            <a:srgbClr val="12A566"/>
          </a:solidFill>
          <a:ln/>
        </p:spPr>
      </p:sp>
      <p:sp>
        <p:nvSpPr>
          <p:cNvPr id="107" name="Text 105"/>
          <p:cNvSpPr txBox="1"/>
          <p:nvPr/>
        </p:nvSpPr>
        <p:spPr>
          <a:xfrm>
            <a:off x="10305288" y="34259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30.6</a:t>
            </a:r>
            <a:endParaRPr lang="en-US" sz="1200" dirty="0"/>
          </a:p>
        </p:txBody>
      </p:sp>
      <p:sp>
        <p:nvSpPr>
          <p:cNvPr id="108" name="Text 106"/>
          <p:cNvSpPr txBox="1"/>
          <p:nvPr/>
        </p:nvSpPr>
        <p:spPr>
          <a:xfrm>
            <a:off x="6208776"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9" name="Text 107"/>
          <p:cNvSpPr txBox="1"/>
          <p:nvPr/>
        </p:nvSpPr>
        <p:spPr>
          <a:xfrm>
            <a:off x="6565392"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0" name="Shape 108"/>
          <p:cNvSpPr/>
          <p:nvPr/>
        </p:nvSpPr>
        <p:spPr>
          <a:xfrm>
            <a:off x="8558784" y="3686302"/>
            <a:ext cx="1146869" cy="104140"/>
          </a:xfrm>
          <a:prstGeom prst="rect">
            <a:avLst/>
          </a:prstGeom>
          <a:solidFill>
            <a:srgbClr val="C2352F"/>
          </a:solidFill>
          <a:ln/>
        </p:spPr>
      </p:sp>
      <p:sp>
        <p:nvSpPr>
          <p:cNvPr id="111" name="Text 109"/>
          <p:cNvSpPr txBox="1"/>
          <p:nvPr/>
        </p:nvSpPr>
        <p:spPr>
          <a:xfrm>
            <a:off x="10305288"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28.8</a:t>
            </a:r>
            <a:endParaRPr lang="en-US" sz="1200" dirty="0"/>
          </a:p>
        </p:txBody>
      </p:sp>
      <p:sp>
        <p:nvSpPr>
          <p:cNvPr id="112" name="Text 110"/>
          <p:cNvSpPr txBox="1"/>
          <p:nvPr/>
        </p:nvSpPr>
        <p:spPr>
          <a:xfrm>
            <a:off x="6208776"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3" name="Text 111"/>
          <p:cNvSpPr txBox="1"/>
          <p:nvPr/>
        </p:nvSpPr>
        <p:spPr>
          <a:xfrm>
            <a:off x="6565392"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4" name="Shape 112"/>
          <p:cNvSpPr/>
          <p:nvPr/>
        </p:nvSpPr>
        <p:spPr>
          <a:xfrm>
            <a:off x="8558784" y="3894582"/>
            <a:ext cx="1122936" cy="104140"/>
          </a:xfrm>
          <a:prstGeom prst="rect">
            <a:avLst/>
          </a:prstGeom>
          <a:solidFill>
            <a:srgbClr val="C2352F"/>
          </a:solidFill>
          <a:ln/>
        </p:spPr>
      </p:sp>
      <p:sp>
        <p:nvSpPr>
          <p:cNvPr id="115" name="Text 113"/>
          <p:cNvSpPr txBox="1"/>
          <p:nvPr/>
        </p:nvSpPr>
        <p:spPr>
          <a:xfrm>
            <a:off x="10305288"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28.2</a:t>
            </a:r>
            <a:endParaRPr lang="en-US" sz="1200" dirty="0"/>
          </a:p>
        </p:txBody>
      </p:sp>
      <p:sp>
        <p:nvSpPr>
          <p:cNvPr id="116" name="Text 114"/>
          <p:cNvSpPr txBox="1"/>
          <p:nvPr/>
        </p:nvSpPr>
        <p:spPr>
          <a:xfrm>
            <a:off x="6208776"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7" name="Text 115"/>
          <p:cNvSpPr txBox="1"/>
          <p:nvPr/>
        </p:nvSpPr>
        <p:spPr>
          <a:xfrm>
            <a:off x="6565392"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8" name="Shape 116"/>
          <p:cNvSpPr/>
          <p:nvPr/>
        </p:nvSpPr>
        <p:spPr>
          <a:xfrm>
            <a:off x="8558784" y="4102862"/>
            <a:ext cx="1013406" cy="104140"/>
          </a:xfrm>
          <a:prstGeom prst="rect">
            <a:avLst/>
          </a:prstGeom>
          <a:solidFill>
            <a:srgbClr val="C2352F"/>
          </a:solidFill>
          <a:ln/>
        </p:spPr>
      </p:sp>
      <p:sp>
        <p:nvSpPr>
          <p:cNvPr id="119" name="Text 117"/>
          <p:cNvSpPr txBox="1"/>
          <p:nvPr/>
        </p:nvSpPr>
        <p:spPr>
          <a:xfrm>
            <a:off x="10305288"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25.5</a:t>
            </a:r>
            <a:endParaRPr lang="en-US" sz="1200" dirty="0"/>
          </a:p>
        </p:txBody>
      </p:sp>
      <p:sp>
        <p:nvSpPr>
          <p:cNvPr id="120" name="Text 118"/>
          <p:cNvSpPr txBox="1"/>
          <p:nvPr/>
        </p:nvSpPr>
        <p:spPr>
          <a:xfrm>
            <a:off x="6208776" y="42590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42590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2" name="Shape 120"/>
          <p:cNvSpPr/>
          <p:nvPr/>
        </p:nvSpPr>
        <p:spPr>
          <a:xfrm>
            <a:off x="8558784" y="4311142"/>
            <a:ext cx="940756" cy="104140"/>
          </a:xfrm>
          <a:prstGeom prst="rect">
            <a:avLst/>
          </a:prstGeom>
          <a:solidFill>
            <a:srgbClr val="C2352F"/>
          </a:solidFill>
          <a:ln/>
        </p:spPr>
      </p:sp>
      <p:sp>
        <p:nvSpPr>
          <p:cNvPr id="123" name="Text 121"/>
          <p:cNvSpPr txBox="1"/>
          <p:nvPr/>
        </p:nvSpPr>
        <p:spPr>
          <a:xfrm>
            <a:off x="10305288" y="42590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24" name="Text 122"/>
          <p:cNvSpPr txBox="1"/>
          <p:nvPr/>
        </p:nvSpPr>
        <p:spPr>
          <a:xfrm>
            <a:off x="6208776"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5" name="Text 123"/>
          <p:cNvSpPr txBox="1"/>
          <p:nvPr/>
        </p:nvSpPr>
        <p:spPr>
          <a:xfrm>
            <a:off x="6565392"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6" name="Shape 124"/>
          <p:cNvSpPr/>
          <p:nvPr/>
        </p:nvSpPr>
        <p:spPr>
          <a:xfrm>
            <a:off x="8558784" y="4519422"/>
            <a:ext cx="900750" cy="104140"/>
          </a:xfrm>
          <a:prstGeom prst="rect">
            <a:avLst/>
          </a:prstGeom>
          <a:solidFill>
            <a:srgbClr val="C2352F"/>
          </a:solidFill>
          <a:ln/>
        </p:spPr>
      </p:sp>
      <p:sp>
        <p:nvSpPr>
          <p:cNvPr id="127" name="Text 125"/>
          <p:cNvSpPr txBox="1"/>
          <p:nvPr/>
        </p:nvSpPr>
        <p:spPr>
          <a:xfrm>
            <a:off x="10305288" y="44673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28" name="Text 126"/>
          <p:cNvSpPr txBox="1"/>
          <p:nvPr/>
        </p:nvSpPr>
        <p:spPr>
          <a:xfrm>
            <a:off x="6208776"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9" name="Text 127"/>
          <p:cNvSpPr txBox="1"/>
          <p:nvPr/>
        </p:nvSpPr>
        <p:spPr>
          <a:xfrm>
            <a:off x="6565392"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0" name="Shape 128"/>
          <p:cNvSpPr/>
          <p:nvPr/>
        </p:nvSpPr>
        <p:spPr>
          <a:xfrm>
            <a:off x="8558784" y="4727702"/>
            <a:ext cx="880007" cy="104140"/>
          </a:xfrm>
          <a:prstGeom prst="rect">
            <a:avLst/>
          </a:prstGeom>
          <a:solidFill>
            <a:srgbClr val="C2352F"/>
          </a:solidFill>
          <a:ln/>
        </p:spPr>
      </p:sp>
      <p:sp>
        <p:nvSpPr>
          <p:cNvPr id="131" name="Text 129"/>
          <p:cNvSpPr txBox="1"/>
          <p:nvPr/>
        </p:nvSpPr>
        <p:spPr>
          <a:xfrm>
            <a:off x="10305288" y="46756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32" name="Text 130"/>
          <p:cNvSpPr txBox="1"/>
          <p:nvPr/>
        </p:nvSpPr>
        <p:spPr>
          <a:xfrm>
            <a:off x="6208776"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4" name="Shape 132"/>
          <p:cNvSpPr/>
          <p:nvPr/>
        </p:nvSpPr>
        <p:spPr>
          <a:xfrm>
            <a:off x="8558784" y="4935982"/>
            <a:ext cx="832284" cy="104140"/>
          </a:xfrm>
          <a:prstGeom prst="rect">
            <a:avLst/>
          </a:prstGeom>
          <a:solidFill>
            <a:srgbClr val="C2352F"/>
          </a:solidFill>
          <a:ln/>
        </p:spPr>
      </p:sp>
      <p:sp>
        <p:nvSpPr>
          <p:cNvPr id="135" name="Text 133"/>
          <p:cNvSpPr txBox="1"/>
          <p:nvPr/>
        </p:nvSpPr>
        <p:spPr>
          <a:xfrm>
            <a:off x="10305288" y="48839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20.9</a:t>
            </a:r>
            <a:endParaRPr lang="en-US" sz="1200" dirty="0"/>
          </a:p>
        </p:txBody>
      </p:sp>
      <p:sp>
        <p:nvSpPr>
          <p:cNvPr id="136" name="Text 134"/>
          <p:cNvSpPr txBox="1"/>
          <p:nvPr/>
        </p:nvSpPr>
        <p:spPr>
          <a:xfrm>
            <a:off x="6208776"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7" name="Text 135"/>
          <p:cNvSpPr txBox="1"/>
          <p:nvPr/>
        </p:nvSpPr>
        <p:spPr>
          <a:xfrm>
            <a:off x="6565392"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8" name="Shape 136"/>
          <p:cNvSpPr/>
          <p:nvPr/>
        </p:nvSpPr>
        <p:spPr>
          <a:xfrm>
            <a:off x="8558784" y="5144262"/>
            <a:ext cx="808680" cy="104140"/>
          </a:xfrm>
          <a:prstGeom prst="rect">
            <a:avLst/>
          </a:prstGeom>
          <a:solidFill>
            <a:srgbClr val="C2352F"/>
          </a:solidFill>
          <a:ln/>
        </p:spPr>
      </p:sp>
      <p:sp>
        <p:nvSpPr>
          <p:cNvPr id="139" name="Text 137"/>
          <p:cNvSpPr txBox="1"/>
          <p:nvPr/>
        </p:nvSpPr>
        <p:spPr>
          <a:xfrm>
            <a:off x="10305288" y="50921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0" name="Text 138"/>
          <p:cNvSpPr txBox="1"/>
          <p:nvPr/>
        </p:nvSpPr>
        <p:spPr>
          <a:xfrm>
            <a:off x="6208776"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1" name="Text 139"/>
          <p:cNvSpPr txBox="1"/>
          <p:nvPr/>
        </p:nvSpPr>
        <p:spPr>
          <a:xfrm>
            <a:off x="6565392"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2" name="Shape 140"/>
          <p:cNvSpPr/>
          <p:nvPr/>
        </p:nvSpPr>
        <p:spPr>
          <a:xfrm>
            <a:off x="8558784" y="5352542"/>
            <a:ext cx="763360" cy="104140"/>
          </a:xfrm>
          <a:prstGeom prst="rect">
            <a:avLst/>
          </a:prstGeom>
          <a:solidFill>
            <a:srgbClr val="C2352F"/>
          </a:solidFill>
          <a:ln/>
        </p:spPr>
      </p:sp>
      <p:sp>
        <p:nvSpPr>
          <p:cNvPr id="143" name="Text 141"/>
          <p:cNvSpPr txBox="1"/>
          <p:nvPr/>
        </p:nvSpPr>
        <p:spPr>
          <a:xfrm>
            <a:off x="10305288" y="53004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4" name="Text 142"/>
          <p:cNvSpPr txBox="1"/>
          <p:nvPr/>
        </p:nvSpPr>
        <p:spPr>
          <a:xfrm>
            <a:off x="6208776"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5" name="Text 143"/>
          <p:cNvSpPr txBox="1"/>
          <p:nvPr/>
        </p:nvSpPr>
        <p:spPr>
          <a:xfrm>
            <a:off x="6565392"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6" name="Shape 144"/>
          <p:cNvSpPr/>
          <p:nvPr/>
        </p:nvSpPr>
        <p:spPr>
          <a:xfrm>
            <a:off x="8558784" y="5560822"/>
            <a:ext cx="690045" cy="104140"/>
          </a:xfrm>
          <a:prstGeom prst="rect">
            <a:avLst/>
          </a:prstGeom>
          <a:solidFill>
            <a:srgbClr val="C2352F"/>
          </a:solidFill>
          <a:ln/>
        </p:spPr>
      </p:sp>
      <p:sp>
        <p:nvSpPr>
          <p:cNvPr id="147" name="Text 145"/>
          <p:cNvSpPr txBox="1"/>
          <p:nvPr/>
        </p:nvSpPr>
        <p:spPr>
          <a:xfrm>
            <a:off x="10305288" y="55087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a:t>
            </a:r>
            <a:endParaRPr lang="en-US" sz="1200" dirty="0"/>
          </a:p>
        </p:txBody>
      </p:sp>
      <p:sp>
        <p:nvSpPr>
          <p:cNvPr id="148" name="Shape 146"/>
          <p:cNvSpPr/>
          <p:nvPr/>
        </p:nvSpPr>
        <p:spPr>
          <a:xfrm>
            <a:off x="4164984" y="2176272"/>
            <a:ext cx="14630" cy="3749040"/>
          </a:xfrm>
          <a:prstGeom prst="rect">
            <a:avLst/>
          </a:prstGeom>
          <a:solidFill>
            <a:srgbClr val="0B2C4A"/>
          </a:solidFill>
          <a:ln/>
        </p:spPr>
      </p:sp>
      <p:sp>
        <p:nvSpPr>
          <p:cNvPr id="149" name="Shape 147"/>
          <p:cNvSpPr/>
          <p:nvPr/>
        </p:nvSpPr>
        <p:spPr>
          <a:xfrm>
            <a:off x="9715392" y="2176272"/>
            <a:ext cx="14630" cy="3749040"/>
          </a:xfrm>
          <a:prstGeom prst="rect">
            <a:avLst/>
          </a:prstGeom>
          <a:solidFill>
            <a:srgbClr val="0B2C4A"/>
          </a:solidFill>
          <a:ln/>
        </p:spPr>
      </p:sp>
      <p:sp>
        <p:nvSpPr>
          <p:cNvPr id="150" name="Shape 148"/>
          <p:cNvSpPr/>
          <p:nvPr/>
        </p:nvSpPr>
        <p:spPr>
          <a:xfrm>
            <a:off x="6085332" y="2176272"/>
            <a:ext cx="10973" cy="3749040"/>
          </a:xfrm>
          <a:prstGeom prst="rect">
            <a:avLst/>
          </a:prstGeom>
          <a:solidFill>
            <a:srgbClr val="D9D9D9"/>
          </a:solidFill>
          <a:ln/>
        </p:spPr>
      </p:sp>
      <p:sp>
        <p:nvSpPr>
          <p:cNvPr id="151" name="Shape 149"/>
          <p:cNvSpPr/>
          <p:nvPr/>
        </p:nvSpPr>
        <p:spPr>
          <a:xfrm>
            <a:off x="457200" y="6126480"/>
            <a:ext cx="11274552" cy="615696"/>
          </a:xfrm>
          <a:prstGeom prst="rect">
            <a:avLst/>
          </a:prstGeom>
          <a:solidFill>
            <a:srgbClr val="EDF4FA"/>
          </a:solidFill>
          <a:ln/>
        </p:spPr>
      </p:sp>
      <p:sp>
        <p:nvSpPr>
          <p:cNvPr id="152" name="Text 1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4 of 9 luxury stores beat 17.4 and 14 of 24 others beat 29.3. Kia St George leads non-luxury at 39.8.</a:t>
            </a:r>
            <a:endParaRPr lang="en-US" sz="1600" dirty="0"/>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54493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43004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412371"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785616" y="2871442"/>
            <a:ext cx="36872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3" name="Shape 31"/>
          <p:cNvSpPr/>
          <p:nvPr/>
        </p:nvSpPr>
        <p:spPr>
          <a:xfrm>
            <a:off x="3785616" y="3111337"/>
            <a:ext cx="31398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2461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1" name="Shape 39"/>
          <p:cNvSpPr/>
          <p:nvPr/>
        </p:nvSpPr>
        <p:spPr>
          <a:xfrm>
            <a:off x="3785616" y="3591128"/>
            <a:ext cx="2432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785616" y="3831024"/>
            <a:ext cx="2020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7851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785616" y="4310815"/>
            <a:ext cx="17093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11618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785616" y="4790606"/>
            <a:ext cx="10925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3785616" y="5030502"/>
            <a:ext cx="9989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85616" y="5270397"/>
            <a:ext cx="8978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8131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7346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1" name="Shape 79"/>
          <p:cNvSpPr/>
          <p:nvPr/>
        </p:nvSpPr>
        <p:spPr>
          <a:xfrm>
            <a:off x="9336024" y="1911860"/>
            <a:ext cx="615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5" name="Shape 83"/>
          <p:cNvSpPr/>
          <p:nvPr/>
        </p:nvSpPr>
        <p:spPr>
          <a:xfrm>
            <a:off x="9336024" y="2151755"/>
            <a:ext cx="5547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4573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3" name="Shape 91"/>
          <p:cNvSpPr/>
          <p:nvPr/>
        </p:nvSpPr>
        <p:spPr>
          <a:xfrm>
            <a:off x="9336024" y="2631546"/>
            <a:ext cx="3327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336024" y="2871442"/>
            <a:ext cx="2831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331623" y="3111337"/>
            <a:ext cx="12802"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320203" y="3351233"/>
            <a:ext cx="1582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9316313" y="3591128"/>
            <a:ext cx="1971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3" name="Shape 111"/>
          <p:cNvSpPr/>
          <p:nvPr/>
        </p:nvSpPr>
        <p:spPr>
          <a:xfrm>
            <a:off x="9221677" y="3831024"/>
            <a:ext cx="11434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7" name="Shape 115"/>
          <p:cNvSpPr/>
          <p:nvPr/>
        </p:nvSpPr>
        <p:spPr>
          <a:xfrm>
            <a:off x="9212713" y="4070920"/>
            <a:ext cx="12331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1004" y="4310815"/>
            <a:ext cx="1350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5" name="Shape 123"/>
          <p:cNvSpPr/>
          <p:nvPr/>
        </p:nvSpPr>
        <p:spPr>
          <a:xfrm>
            <a:off x="9180928" y="4550711"/>
            <a:ext cx="15509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011951" y="4790606"/>
            <a:ext cx="3240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887261" y="5030502"/>
            <a:ext cx="4487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83531" y="5270397"/>
            <a:ext cx="6524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1" name="Shape 139"/>
          <p:cNvSpPr/>
          <p:nvPr/>
        </p:nvSpPr>
        <p:spPr>
          <a:xfrm>
            <a:off x="8594867" y="5510293"/>
            <a:ext cx="7411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fixed employee, led by Hyundai Prescott at +6.9 to 31.4. 11 declined; Kia St George fell most at −6.6.</a:t>
            </a:r>
            <a:endParaRPr lang="en-US" sz="1600" dirty="0"/>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31.4</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28.8</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30.6</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36.8</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46.4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39.8</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−6.6</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32.4</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31.1</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31.4</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24.5</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40.3</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+10.4</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28.3</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+9.4</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33.1</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37.4</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69" name="Shape 67"/>
          <p:cNvSpPr/>
          <p:nvPr/>
        </p:nvSpPr>
        <p:spPr>
          <a:xfrm>
            <a:off x="457200" y="6126480"/>
            <a:ext cx="11274552" cy="569976"/>
          </a:xfrm>
          <a:prstGeom prst="rect">
            <a:avLst/>
          </a:prstGeom>
          <a:solidFill>
            <a:srgbClr val="EDF4FA"/>
          </a:solidFill>
          <a:ln/>
        </p:spPr>
      </p:sp>
      <p:sp>
        <p:nvSpPr>
          <p:cNvPr id="70" name="Text 68"/>
          <p:cNvSpPr txBox="1"/>
          <p:nvPr/>
        </p:nvSpPr>
        <p:spPr>
          <a:xfrm>
            <a:off x="658368" y="6144768"/>
            <a:ext cx="10927080" cy="53340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Ask Hyundai Prescott, Kia LV and Hyundai St George what changed. Ask Kia St George, Mazda and VW St George what got in the way. Ask Subaru St George, CDJR Post Falls and Hyundai Prescott what they started this year.</a:t>
            </a:r>
            <a:endParaRPr lang="en-US" sz="1450" dirty="0"/>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390</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Manager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to 390, ahead of 2025 in eight of nine months. Managers fell 5.6%.</a:t>
            </a:r>
            <a:endParaRPr lang="en-US" sz="1600" dirty="0"/>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390</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Each segment ranked on its own. Navy line = each segment's average; green at or above it.</a:t>
            </a:r>
            <a:endParaRPr lang="en-US" sz="1400" dirty="0"/>
          </a:p>
        </p:txBody>
      </p:sp>
      <p:sp>
        <p:nvSpPr>
          <p:cNvPr id="12" name="Text 10"/>
          <p:cNvSpPr txBox="1"/>
          <p:nvPr/>
        </p:nvSpPr>
        <p:spPr>
          <a:xfrm>
            <a:off x="658368" y="21762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276</a:t>
            </a:r>
            <a:endParaRPr lang="en-US" sz="1300" dirty="0"/>
          </a:p>
        </p:txBody>
      </p:sp>
      <p:sp>
        <p:nvSpPr>
          <p:cNvPr id="13" name="Shape 11"/>
          <p:cNvSpPr/>
          <p:nvPr/>
        </p:nvSpPr>
        <p:spPr>
          <a:xfrm>
            <a:off x="658368" y="2366264"/>
            <a:ext cx="5303520" cy="18288"/>
          </a:xfrm>
          <a:prstGeom prst="rect">
            <a:avLst/>
          </a:prstGeom>
          <a:solidFill>
            <a:srgbClr val="0B2C4A"/>
          </a:solidFill>
          <a:ln/>
        </p:spPr>
      </p:sp>
      <p:sp>
        <p:nvSpPr>
          <p:cNvPr id="14" name="Text 12"/>
          <p:cNvSpPr txBox="1"/>
          <p:nvPr/>
        </p:nvSpPr>
        <p:spPr>
          <a:xfrm>
            <a:off x="658368"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6" name="Shape 14"/>
          <p:cNvSpPr/>
          <p:nvPr/>
        </p:nvSpPr>
        <p:spPr>
          <a:xfrm>
            <a:off x="3008376" y="2436622"/>
            <a:ext cx="1208610" cy="104140"/>
          </a:xfrm>
          <a:prstGeom prst="rect">
            <a:avLst/>
          </a:prstGeom>
          <a:solidFill>
            <a:srgbClr val="12A566"/>
          </a:solidFill>
          <a:ln/>
        </p:spPr>
      </p:sp>
      <p:sp>
        <p:nvSpPr>
          <p:cNvPr id="17" name="Text 15"/>
          <p:cNvSpPr txBox="1"/>
          <p:nvPr/>
        </p:nvSpPr>
        <p:spPr>
          <a:xfrm>
            <a:off x="4754880"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491</a:t>
            </a:r>
            <a:endParaRPr lang="en-US" sz="1200" dirty="0"/>
          </a:p>
        </p:txBody>
      </p:sp>
      <p:sp>
        <p:nvSpPr>
          <p:cNvPr id="18" name="Text 16"/>
          <p:cNvSpPr txBox="1"/>
          <p:nvPr/>
        </p:nvSpPr>
        <p:spPr>
          <a:xfrm>
            <a:off x="658368"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 name="Shape 18"/>
          <p:cNvSpPr/>
          <p:nvPr/>
        </p:nvSpPr>
        <p:spPr>
          <a:xfrm>
            <a:off x="3008376" y="2644902"/>
            <a:ext cx="902480" cy="104140"/>
          </a:xfrm>
          <a:prstGeom prst="rect">
            <a:avLst/>
          </a:prstGeom>
          <a:solidFill>
            <a:srgbClr val="12A566"/>
          </a:solidFill>
          <a:ln/>
        </p:spPr>
      </p:sp>
      <p:sp>
        <p:nvSpPr>
          <p:cNvPr id="21" name="Text 19"/>
          <p:cNvSpPr txBox="1"/>
          <p:nvPr/>
        </p:nvSpPr>
        <p:spPr>
          <a:xfrm>
            <a:off x="4754880"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22" name="Text 20"/>
          <p:cNvSpPr txBox="1"/>
          <p:nvPr/>
        </p:nvSpPr>
        <p:spPr>
          <a:xfrm>
            <a:off x="658368"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4" name="Shape 22"/>
          <p:cNvSpPr/>
          <p:nvPr/>
        </p:nvSpPr>
        <p:spPr>
          <a:xfrm>
            <a:off x="3008376" y="2853182"/>
            <a:ext cx="819371" cy="104140"/>
          </a:xfrm>
          <a:prstGeom prst="rect">
            <a:avLst/>
          </a:prstGeom>
          <a:solidFill>
            <a:srgbClr val="12A566"/>
          </a:solidFill>
          <a:ln/>
        </p:spPr>
      </p:sp>
      <p:sp>
        <p:nvSpPr>
          <p:cNvPr id="25" name="Text 23"/>
          <p:cNvSpPr txBox="1"/>
          <p:nvPr/>
        </p:nvSpPr>
        <p:spPr>
          <a:xfrm>
            <a:off x="4754880"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333</a:t>
            </a:r>
            <a:endParaRPr lang="en-US" sz="1200" dirty="0"/>
          </a:p>
        </p:txBody>
      </p:sp>
      <p:sp>
        <p:nvSpPr>
          <p:cNvPr id="26" name="Text 24"/>
          <p:cNvSpPr txBox="1"/>
          <p:nvPr/>
        </p:nvSpPr>
        <p:spPr>
          <a:xfrm>
            <a:off x="658368"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8" name="Shape 26"/>
          <p:cNvSpPr/>
          <p:nvPr/>
        </p:nvSpPr>
        <p:spPr>
          <a:xfrm>
            <a:off x="3008376" y="3061462"/>
            <a:ext cx="717480" cy="104140"/>
          </a:xfrm>
          <a:prstGeom prst="rect">
            <a:avLst/>
          </a:prstGeom>
          <a:solidFill>
            <a:srgbClr val="12A566"/>
          </a:solidFill>
          <a:ln/>
        </p:spPr>
      </p:sp>
      <p:sp>
        <p:nvSpPr>
          <p:cNvPr id="29" name="Text 27"/>
          <p:cNvSpPr txBox="1"/>
          <p:nvPr/>
        </p:nvSpPr>
        <p:spPr>
          <a:xfrm>
            <a:off x="4754880"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291</a:t>
            </a:r>
            <a:endParaRPr lang="en-US" sz="1200" dirty="0"/>
          </a:p>
        </p:txBody>
      </p:sp>
      <p:sp>
        <p:nvSpPr>
          <p:cNvPr id="30" name="Text 28"/>
          <p:cNvSpPr txBox="1"/>
          <p:nvPr/>
        </p:nvSpPr>
        <p:spPr>
          <a:xfrm>
            <a:off x="658368"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1" name="Text 29"/>
          <p:cNvSpPr txBox="1"/>
          <p:nvPr/>
        </p:nvSpPr>
        <p:spPr>
          <a:xfrm>
            <a:off x="1014984"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2" name="Shape 30"/>
          <p:cNvSpPr/>
          <p:nvPr/>
        </p:nvSpPr>
        <p:spPr>
          <a:xfrm>
            <a:off x="3008376" y="3269742"/>
            <a:ext cx="707906" cy="104140"/>
          </a:xfrm>
          <a:prstGeom prst="rect">
            <a:avLst/>
          </a:prstGeom>
          <a:solidFill>
            <a:srgbClr val="12A566"/>
          </a:solidFill>
          <a:ln/>
        </p:spPr>
      </p:sp>
      <p:sp>
        <p:nvSpPr>
          <p:cNvPr id="33" name="Text 31"/>
          <p:cNvSpPr txBox="1"/>
          <p:nvPr/>
        </p:nvSpPr>
        <p:spPr>
          <a:xfrm>
            <a:off x="4754880" y="32176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288</a:t>
            </a:r>
            <a:endParaRPr lang="en-US" sz="1200" dirty="0"/>
          </a:p>
        </p:txBody>
      </p:sp>
      <p:sp>
        <p:nvSpPr>
          <p:cNvPr id="34" name="Text 32"/>
          <p:cNvSpPr txBox="1"/>
          <p:nvPr/>
        </p:nvSpPr>
        <p:spPr>
          <a:xfrm>
            <a:off x="658368"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5" name="Text 33"/>
          <p:cNvSpPr txBox="1"/>
          <p:nvPr/>
        </p:nvSpPr>
        <p:spPr>
          <a:xfrm>
            <a:off x="1014984"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6" name="Shape 34"/>
          <p:cNvSpPr/>
          <p:nvPr/>
        </p:nvSpPr>
        <p:spPr>
          <a:xfrm>
            <a:off x="3008376" y="3478022"/>
            <a:ext cx="619947" cy="104140"/>
          </a:xfrm>
          <a:prstGeom prst="rect">
            <a:avLst/>
          </a:prstGeom>
          <a:solidFill>
            <a:srgbClr val="C2352F"/>
          </a:solidFill>
          <a:ln/>
        </p:spPr>
      </p:sp>
      <p:sp>
        <p:nvSpPr>
          <p:cNvPr id="37" name="Text 35"/>
          <p:cNvSpPr txBox="1"/>
          <p:nvPr/>
        </p:nvSpPr>
        <p:spPr>
          <a:xfrm>
            <a:off x="4754880"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38" name="Text 36"/>
          <p:cNvSpPr txBox="1"/>
          <p:nvPr/>
        </p:nvSpPr>
        <p:spPr>
          <a:xfrm>
            <a:off x="658368"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9" name="Text 37"/>
          <p:cNvSpPr txBox="1"/>
          <p:nvPr/>
        </p:nvSpPr>
        <p:spPr>
          <a:xfrm>
            <a:off x="1014984"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0" name="Shape 38"/>
          <p:cNvSpPr/>
          <p:nvPr/>
        </p:nvSpPr>
        <p:spPr>
          <a:xfrm>
            <a:off x="3008376" y="3686302"/>
            <a:ext cx="488532" cy="104140"/>
          </a:xfrm>
          <a:prstGeom prst="rect">
            <a:avLst/>
          </a:prstGeom>
          <a:solidFill>
            <a:srgbClr val="C2352F"/>
          </a:solidFill>
          <a:ln/>
        </p:spPr>
      </p:sp>
      <p:sp>
        <p:nvSpPr>
          <p:cNvPr id="41" name="Text 39"/>
          <p:cNvSpPr txBox="1"/>
          <p:nvPr/>
        </p:nvSpPr>
        <p:spPr>
          <a:xfrm>
            <a:off x="4754880"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42" name="Text 40"/>
          <p:cNvSpPr txBox="1"/>
          <p:nvPr/>
        </p:nvSpPr>
        <p:spPr>
          <a:xfrm>
            <a:off x="658368"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3" name="Text 41"/>
          <p:cNvSpPr txBox="1"/>
          <p:nvPr/>
        </p:nvSpPr>
        <p:spPr>
          <a:xfrm>
            <a:off x="1014984"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4" name="Shape 42"/>
          <p:cNvSpPr/>
          <p:nvPr/>
        </p:nvSpPr>
        <p:spPr>
          <a:xfrm>
            <a:off x="3008376" y="3894582"/>
            <a:ext cx="349030" cy="104140"/>
          </a:xfrm>
          <a:prstGeom prst="rect">
            <a:avLst/>
          </a:prstGeom>
          <a:solidFill>
            <a:srgbClr val="C2352F"/>
          </a:solidFill>
          <a:ln/>
        </p:spPr>
      </p:sp>
      <p:sp>
        <p:nvSpPr>
          <p:cNvPr id="45" name="Text 43"/>
          <p:cNvSpPr txBox="1"/>
          <p:nvPr/>
        </p:nvSpPr>
        <p:spPr>
          <a:xfrm>
            <a:off x="4754880"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46" name="Text 44"/>
          <p:cNvSpPr txBox="1"/>
          <p:nvPr/>
        </p:nvSpPr>
        <p:spPr>
          <a:xfrm>
            <a:off x="658368"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7" name="Text 45"/>
          <p:cNvSpPr txBox="1"/>
          <p:nvPr/>
        </p:nvSpPr>
        <p:spPr>
          <a:xfrm>
            <a:off x="1014984"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8" name="Shape 46"/>
          <p:cNvSpPr/>
          <p:nvPr/>
        </p:nvSpPr>
        <p:spPr>
          <a:xfrm>
            <a:off x="3008376" y="4102862"/>
            <a:ext cx="291998" cy="104140"/>
          </a:xfrm>
          <a:prstGeom prst="rect">
            <a:avLst/>
          </a:prstGeom>
          <a:solidFill>
            <a:srgbClr val="C2352F"/>
          </a:solidFill>
          <a:ln/>
        </p:spPr>
      </p:sp>
      <p:sp>
        <p:nvSpPr>
          <p:cNvPr id="49" name="Text 47"/>
          <p:cNvSpPr txBox="1"/>
          <p:nvPr/>
        </p:nvSpPr>
        <p:spPr>
          <a:xfrm>
            <a:off x="4754880"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50" name="Text 48"/>
          <p:cNvSpPr txBox="1"/>
          <p:nvPr/>
        </p:nvSpPr>
        <p:spPr>
          <a:xfrm>
            <a:off x="658368" y="42590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a:t>
            </a:r>
            <a:endParaRPr lang="en-US" sz="1300" dirty="0"/>
          </a:p>
        </p:txBody>
      </p:sp>
      <p:sp>
        <p:nvSpPr>
          <p:cNvPr id="51" name="Shape 49"/>
          <p:cNvSpPr/>
          <p:nvPr/>
        </p:nvSpPr>
        <p:spPr>
          <a:xfrm>
            <a:off x="658368" y="4449064"/>
            <a:ext cx="5303520" cy="18288"/>
          </a:xfrm>
          <a:prstGeom prst="rect">
            <a:avLst/>
          </a:prstGeom>
          <a:solidFill>
            <a:srgbClr val="0B2C4A"/>
          </a:solidFill>
          <a:ln/>
        </p:spPr>
      </p:sp>
      <p:sp>
        <p:nvSpPr>
          <p:cNvPr id="52" name="Text 50"/>
          <p:cNvSpPr txBox="1"/>
          <p:nvPr/>
        </p:nvSpPr>
        <p:spPr>
          <a:xfrm>
            <a:off x="658368"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4" name="Shape 52"/>
          <p:cNvSpPr/>
          <p:nvPr/>
        </p:nvSpPr>
        <p:spPr>
          <a:xfrm>
            <a:off x="3008376" y="4519422"/>
            <a:ext cx="1658471" cy="104140"/>
          </a:xfrm>
          <a:prstGeom prst="rect">
            <a:avLst/>
          </a:prstGeom>
          <a:solidFill>
            <a:srgbClr val="12A566"/>
          </a:solidFill>
          <a:ln/>
        </p:spPr>
      </p:sp>
      <p:sp>
        <p:nvSpPr>
          <p:cNvPr id="55" name="Text 53"/>
          <p:cNvSpPr txBox="1"/>
          <p:nvPr/>
        </p:nvSpPr>
        <p:spPr>
          <a:xfrm>
            <a:off x="4754880" y="44673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1,022</a:t>
            </a:r>
            <a:endParaRPr lang="en-US" sz="1200" dirty="0"/>
          </a:p>
        </p:txBody>
      </p:sp>
      <p:sp>
        <p:nvSpPr>
          <p:cNvPr id="56" name="Text 54"/>
          <p:cNvSpPr txBox="1"/>
          <p:nvPr/>
        </p:nvSpPr>
        <p:spPr>
          <a:xfrm>
            <a:off x="658368"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8" name="Shape 56"/>
          <p:cNvSpPr/>
          <p:nvPr/>
        </p:nvSpPr>
        <p:spPr>
          <a:xfrm>
            <a:off x="3008376" y="4727702"/>
            <a:ext cx="1241954" cy="104140"/>
          </a:xfrm>
          <a:prstGeom prst="rect">
            <a:avLst/>
          </a:prstGeom>
          <a:solidFill>
            <a:srgbClr val="12A566"/>
          </a:solidFill>
          <a:ln/>
        </p:spPr>
      </p:sp>
      <p:sp>
        <p:nvSpPr>
          <p:cNvPr id="59" name="Text 57"/>
          <p:cNvSpPr txBox="1"/>
          <p:nvPr/>
        </p:nvSpPr>
        <p:spPr>
          <a:xfrm>
            <a:off x="4754880" y="46756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765</a:t>
            </a:r>
            <a:endParaRPr lang="en-US" sz="1200" dirty="0"/>
          </a:p>
        </p:txBody>
      </p:sp>
      <p:sp>
        <p:nvSpPr>
          <p:cNvPr id="60" name="Text 58"/>
          <p:cNvSpPr txBox="1"/>
          <p:nvPr/>
        </p:nvSpPr>
        <p:spPr>
          <a:xfrm>
            <a:off x="658368"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008376" y="4935982"/>
            <a:ext cx="1113250" cy="104140"/>
          </a:xfrm>
          <a:prstGeom prst="rect">
            <a:avLst/>
          </a:prstGeom>
          <a:solidFill>
            <a:srgbClr val="12A566"/>
          </a:solidFill>
          <a:ln/>
        </p:spPr>
      </p:sp>
      <p:sp>
        <p:nvSpPr>
          <p:cNvPr id="63" name="Text 61"/>
          <p:cNvSpPr txBox="1"/>
          <p:nvPr/>
        </p:nvSpPr>
        <p:spPr>
          <a:xfrm>
            <a:off x="4754880" y="48839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686</a:t>
            </a:r>
            <a:endParaRPr lang="en-US" sz="1200" dirty="0"/>
          </a:p>
        </p:txBody>
      </p:sp>
      <p:sp>
        <p:nvSpPr>
          <p:cNvPr id="64" name="Text 62"/>
          <p:cNvSpPr txBox="1"/>
          <p:nvPr/>
        </p:nvSpPr>
        <p:spPr>
          <a:xfrm>
            <a:off x="658368"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6" name="Shape 64"/>
          <p:cNvSpPr/>
          <p:nvPr/>
        </p:nvSpPr>
        <p:spPr>
          <a:xfrm>
            <a:off x="3008376" y="5144262"/>
            <a:ext cx="1066361" cy="104140"/>
          </a:xfrm>
          <a:prstGeom prst="rect">
            <a:avLst/>
          </a:prstGeom>
          <a:solidFill>
            <a:srgbClr val="12A566"/>
          </a:solidFill>
          <a:ln/>
        </p:spPr>
      </p:sp>
      <p:sp>
        <p:nvSpPr>
          <p:cNvPr id="67" name="Text 65"/>
          <p:cNvSpPr txBox="1"/>
          <p:nvPr/>
        </p:nvSpPr>
        <p:spPr>
          <a:xfrm>
            <a:off x="4754880" y="50921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657</a:t>
            </a:r>
            <a:endParaRPr lang="en-US" sz="1200" dirty="0"/>
          </a:p>
        </p:txBody>
      </p:sp>
      <p:sp>
        <p:nvSpPr>
          <p:cNvPr id="68" name="Text 66"/>
          <p:cNvSpPr txBox="1"/>
          <p:nvPr/>
        </p:nvSpPr>
        <p:spPr>
          <a:xfrm>
            <a:off x="658368"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008376" y="5352542"/>
            <a:ext cx="958457" cy="104140"/>
          </a:xfrm>
          <a:prstGeom prst="rect">
            <a:avLst/>
          </a:prstGeom>
          <a:solidFill>
            <a:srgbClr val="12A566"/>
          </a:solidFill>
          <a:ln/>
        </p:spPr>
      </p:sp>
      <p:sp>
        <p:nvSpPr>
          <p:cNvPr id="71" name="Text 69"/>
          <p:cNvSpPr txBox="1"/>
          <p:nvPr/>
        </p:nvSpPr>
        <p:spPr>
          <a:xfrm>
            <a:off x="4754880" y="53004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591</a:t>
            </a:r>
            <a:endParaRPr lang="en-US" sz="1200" dirty="0"/>
          </a:p>
        </p:txBody>
      </p:sp>
      <p:sp>
        <p:nvSpPr>
          <p:cNvPr id="72" name="Text 70"/>
          <p:cNvSpPr txBox="1"/>
          <p:nvPr/>
        </p:nvSpPr>
        <p:spPr>
          <a:xfrm>
            <a:off x="658368"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4" name="Shape 72"/>
          <p:cNvSpPr/>
          <p:nvPr/>
        </p:nvSpPr>
        <p:spPr>
          <a:xfrm>
            <a:off x="3008376" y="5560822"/>
            <a:ext cx="908517" cy="104140"/>
          </a:xfrm>
          <a:prstGeom prst="rect">
            <a:avLst/>
          </a:prstGeom>
          <a:solidFill>
            <a:srgbClr val="12A566"/>
          </a:solidFill>
          <a:ln/>
        </p:spPr>
      </p:sp>
      <p:sp>
        <p:nvSpPr>
          <p:cNvPr id="75" name="Text 73"/>
          <p:cNvSpPr txBox="1"/>
          <p:nvPr/>
        </p:nvSpPr>
        <p:spPr>
          <a:xfrm>
            <a:off x="4754880" y="55087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560</a:t>
            </a:r>
            <a:endParaRPr lang="en-US" sz="1200" dirty="0"/>
          </a:p>
        </p:txBody>
      </p:sp>
      <p:sp>
        <p:nvSpPr>
          <p:cNvPr id="76" name="Text 74"/>
          <p:cNvSpPr txBox="1"/>
          <p:nvPr/>
        </p:nvSpPr>
        <p:spPr>
          <a:xfrm>
            <a:off x="658368" y="57170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57170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8" name="Shape 76"/>
          <p:cNvSpPr/>
          <p:nvPr/>
        </p:nvSpPr>
        <p:spPr>
          <a:xfrm>
            <a:off x="3008376" y="5769102"/>
            <a:ext cx="693414" cy="104140"/>
          </a:xfrm>
          <a:prstGeom prst="rect">
            <a:avLst/>
          </a:prstGeom>
          <a:solidFill>
            <a:srgbClr val="12A566"/>
          </a:solidFill>
          <a:ln/>
        </p:spPr>
      </p:sp>
      <p:sp>
        <p:nvSpPr>
          <p:cNvPr id="79" name="Text 77"/>
          <p:cNvSpPr txBox="1"/>
          <p:nvPr/>
        </p:nvSpPr>
        <p:spPr>
          <a:xfrm>
            <a:off x="4754880" y="57170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80" name="Text 78"/>
          <p:cNvSpPr txBox="1"/>
          <p:nvPr/>
        </p:nvSpPr>
        <p:spPr>
          <a:xfrm>
            <a:off x="6208776" y="21762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1" name="Text 79"/>
          <p:cNvSpPr txBox="1"/>
          <p:nvPr/>
        </p:nvSpPr>
        <p:spPr>
          <a:xfrm>
            <a:off x="6565392" y="21762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2" name="Shape 80"/>
          <p:cNvSpPr/>
          <p:nvPr/>
        </p:nvSpPr>
        <p:spPr>
          <a:xfrm>
            <a:off x="8558784" y="2228342"/>
            <a:ext cx="647677" cy="104140"/>
          </a:xfrm>
          <a:prstGeom prst="rect">
            <a:avLst/>
          </a:prstGeom>
          <a:solidFill>
            <a:srgbClr val="C2352F"/>
          </a:solidFill>
          <a:ln/>
        </p:spPr>
      </p:sp>
      <p:sp>
        <p:nvSpPr>
          <p:cNvPr id="83" name="Text 81"/>
          <p:cNvSpPr txBox="1"/>
          <p:nvPr/>
        </p:nvSpPr>
        <p:spPr>
          <a:xfrm>
            <a:off x="10305288" y="21762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399</a:t>
            </a:r>
            <a:endParaRPr lang="en-US" sz="1200" dirty="0"/>
          </a:p>
        </p:txBody>
      </p:sp>
      <p:sp>
        <p:nvSpPr>
          <p:cNvPr id="84" name="Text 82"/>
          <p:cNvSpPr txBox="1"/>
          <p:nvPr/>
        </p:nvSpPr>
        <p:spPr>
          <a:xfrm>
            <a:off x="6208776"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5" name="Text 83"/>
          <p:cNvSpPr txBox="1"/>
          <p:nvPr/>
        </p:nvSpPr>
        <p:spPr>
          <a:xfrm>
            <a:off x="6565392"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6" name="Shape 84"/>
          <p:cNvSpPr/>
          <p:nvPr/>
        </p:nvSpPr>
        <p:spPr>
          <a:xfrm>
            <a:off x="8558784" y="2436622"/>
            <a:ext cx="636291" cy="104140"/>
          </a:xfrm>
          <a:prstGeom prst="rect">
            <a:avLst/>
          </a:prstGeom>
          <a:solidFill>
            <a:srgbClr val="C2352F"/>
          </a:solidFill>
          <a:ln/>
        </p:spPr>
      </p:sp>
      <p:sp>
        <p:nvSpPr>
          <p:cNvPr id="87" name="Text 85"/>
          <p:cNvSpPr txBox="1"/>
          <p:nvPr/>
        </p:nvSpPr>
        <p:spPr>
          <a:xfrm>
            <a:off x="10305288" y="23845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392</a:t>
            </a:r>
            <a:endParaRPr lang="en-US" sz="1200" dirty="0"/>
          </a:p>
        </p:txBody>
      </p:sp>
      <p:sp>
        <p:nvSpPr>
          <p:cNvPr id="88" name="Text 86"/>
          <p:cNvSpPr txBox="1"/>
          <p:nvPr/>
        </p:nvSpPr>
        <p:spPr>
          <a:xfrm>
            <a:off x="6208776"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89" name="Text 87"/>
          <p:cNvSpPr txBox="1"/>
          <p:nvPr/>
        </p:nvSpPr>
        <p:spPr>
          <a:xfrm>
            <a:off x="6565392"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0" name="Shape 88"/>
          <p:cNvSpPr/>
          <p:nvPr/>
        </p:nvSpPr>
        <p:spPr>
          <a:xfrm>
            <a:off x="8558784" y="2644902"/>
            <a:ext cx="610998" cy="104140"/>
          </a:xfrm>
          <a:prstGeom prst="rect">
            <a:avLst/>
          </a:prstGeom>
          <a:solidFill>
            <a:srgbClr val="C2352F"/>
          </a:solidFill>
          <a:ln/>
        </p:spPr>
      </p:sp>
      <p:sp>
        <p:nvSpPr>
          <p:cNvPr id="91" name="Text 89"/>
          <p:cNvSpPr txBox="1"/>
          <p:nvPr/>
        </p:nvSpPr>
        <p:spPr>
          <a:xfrm>
            <a:off x="10305288" y="25928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376</a:t>
            </a:r>
            <a:endParaRPr lang="en-US" sz="1200" dirty="0"/>
          </a:p>
        </p:txBody>
      </p:sp>
      <p:sp>
        <p:nvSpPr>
          <p:cNvPr id="92" name="Text 90"/>
          <p:cNvSpPr txBox="1"/>
          <p:nvPr/>
        </p:nvSpPr>
        <p:spPr>
          <a:xfrm>
            <a:off x="6208776"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3" name="Text 91"/>
          <p:cNvSpPr txBox="1"/>
          <p:nvPr/>
        </p:nvSpPr>
        <p:spPr>
          <a:xfrm>
            <a:off x="6565392"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4" name="Shape 92"/>
          <p:cNvSpPr/>
          <p:nvPr/>
        </p:nvSpPr>
        <p:spPr>
          <a:xfrm>
            <a:off x="8558784" y="2853182"/>
            <a:ext cx="599576" cy="104140"/>
          </a:xfrm>
          <a:prstGeom prst="rect">
            <a:avLst/>
          </a:prstGeom>
          <a:solidFill>
            <a:srgbClr val="C2352F"/>
          </a:solidFill>
          <a:ln/>
        </p:spPr>
      </p:sp>
      <p:sp>
        <p:nvSpPr>
          <p:cNvPr id="95" name="Text 93"/>
          <p:cNvSpPr txBox="1"/>
          <p:nvPr/>
        </p:nvSpPr>
        <p:spPr>
          <a:xfrm>
            <a:off x="10305288" y="28011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96" name="Text 94"/>
          <p:cNvSpPr txBox="1"/>
          <p:nvPr/>
        </p:nvSpPr>
        <p:spPr>
          <a:xfrm>
            <a:off x="6208776"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7" name="Text 95"/>
          <p:cNvSpPr txBox="1"/>
          <p:nvPr/>
        </p:nvSpPr>
        <p:spPr>
          <a:xfrm>
            <a:off x="6565392"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8" name="Shape 96"/>
          <p:cNvSpPr/>
          <p:nvPr/>
        </p:nvSpPr>
        <p:spPr>
          <a:xfrm>
            <a:off x="8558784" y="3061462"/>
            <a:ext cx="577815" cy="104140"/>
          </a:xfrm>
          <a:prstGeom prst="rect">
            <a:avLst/>
          </a:prstGeom>
          <a:solidFill>
            <a:srgbClr val="C2352F"/>
          </a:solidFill>
          <a:ln/>
        </p:spPr>
      </p:sp>
      <p:sp>
        <p:nvSpPr>
          <p:cNvPr id="99" name="Text 97"/>
          <p:cNvSpPr txBox="1"/>
          <p:nvPr/>
        </p:nvSpPr>
        <p:spPr>
          <a:xfrm>
            <a:off x="10305288" y="30093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00" name="Text 98"/>
          <p:cNvSpPr txBox="1"/>
          <p:nvPr/>
        </p:nvSpPr>
        <p:spPr>
          <a:xfrm>
            <a:off x="6208776"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1" name="Text 99"/>
          <p:cNvSpPr txBox="1"/>
          <p:nvPr/>
        </p:nvSpPr>
        <p:spPr>
          <a:xfrm>
            <a:off x="6565392"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2" name="Shape 100"/>
          <p:cNvSpPr/>
          <p:nvPr/>
        </p:nvSpPr>
        <p:spPr>
          <a:xfrm>
            <a:off x="8558784" y="3269742"/>
            <a:ext cx="570170" cy="104140"/>
          </a:xfrm>
          <a:prstGeom prst="rect">
            <a:avLst/>
          </a:prstGeom>
          <a:solidFill>
            <a:srgbClr val="C2352F"/>
          </a:solidFill>
          <a:ln/>
        </p:spPr>
      </p:sp>
      <p:sp>
        <p:nvSpPr>
          <p:cNvPr id="103" name="Text 101"/>
          <p:cNvSpPr txBox="1"/>
          <p:nvPr/>
        </p:nvSpPr>
        <p:spPr>
          <a:xfrm>
            <a:off x="10305288" y="32176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04" name="Text 102"/>
          <p:cNvSpPr txBox="1"/>
          <p:nvPr/>
        </p:nvSpPr>
        <p:spPr>
          <a:xfrm>
            <a:off x="6208776"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5" name="Text 103"/>
          <p:cNvSpPr txBox="1"/>
          <p:nvPr/>
        </p:nvSpPr>
        <p:spPr>
          <a:xfrm>
            <a:off x="6565392"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06" name="Shape 104"/>
          <p:cNvSpPr/>
          <p:nvPr/>
        </p:nvSpPr>
        <p:spPr>
          <a:xfrm>
            <a:off x="8558784" y="3478022"/>
            <a:ext cx="530626" cy="104140"/>
          </a:xfrm>
          <a:prstGeom prst="rect">
            <a:avLst/>
          </a:prstGeom>
          <a:solidFill>
            <a:srgbClr val="C2352F"/>
          </a:solidFill>
          <a:ln/>
        </p:spPr>
      </p:sp>
      <p:sp>
        <p:nvSpPr>
          <p:cNvPr id="107" name="Text 105"/>
          <p:cNvSpPr txBox="1"/>
          <p:nvPr/>
        </p:nvSpPr>
        <p:spPr>
          <a:xfrm>
            <a:off x="10305288"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327</a:t>
            </a:r>
            <a:endParaRPr lang="en-US" sz="1200" dirty="0"/>
          </a:p>
        </p:txBody>
      </p:sp>
      <p:sp>
        <p:nvSpPr>
          <p:cNvPr id="108" name="Text 106"/>
          <p:cNvSpPr txBox="1"/>
          <p:nvPr/>
        </p:nvSpPr>
        <p:spPr>
          <a:xfrm>
            <a:off x="6208776"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9" name="Text 107"/>
          <p:cNvSpPr txBox="1"/>
          <p:nvPr/>
        </p:nvSpPr>
        <p:spPr>
          <a:xfrm>
            <a:off x="6565392"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0" name="Shape 108"/>
          <p:cNvSpPr/>
          <p:nvPr/>
        </p:nvSpPr>
        <p:spPr>
          <a:xfrm>
            <a:off x="8558784" y="3686302"/>
            <a:ext cx="500448" cy="104140"/>
          </a:xfrm>
          <a:prstGeom prst="rect">
            <a:avLst/>
          </a:prstGeom>
          <a:solidFill>
            <a:srgbClr val="C2352F"/>
          </a:solidFill>
          <a:ln/>
        </p:spPr>
      </p:sp>
      <p:sp>
        <p:nvSpPr>
          <p:cNvPr id="111" name="Text 109"/>
          <p:cNvSpPr txBox="1"/>
          <p:nvPr/>
        </p:nvSpPr>
        <p:spPr>
          <a:xfrm>
            <a:off x="10305288"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12" name="Text 110"/>
          <p:cNvSpPr txBox="1"/>
          <p:nvPr/>
        </p:nvSpPr>
        <p:spPr>
          <a:xfrm>
            <a:off x="6208776"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3" name="Text 111"/>
          <p:cNvSpPr txBox="1"/>
          <p:nvPr/>
        </p:nvSpPr>
        <p:spPr>
          <a:xfrm>
            <a:off x="6565392"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4" name="Shape 112"/>
          <p:cNvSpPr/>
          <p:nvPr/>
        </p:nvSpPr>
        <p:spPr>
          <a:xfrm>
            <a:off x="8558784" y="3894582"/>
            <a:ext cx="485961" cy="104140"/>
          </a:xfrm>
          <a:prstGeom prst="rect">
            <a:avLst/>
          </a:prstGeom>
          <a:solidFill>
            <a:srgbClr val="C2352F"/>
          </a:solidFill>
          <a:ln/>
        </p:spPr>
      </p:sp>
      <p:sp>
        <p:nvSpPr>
          <p:cNvPr id="115" name="Text 113"/>
          <p:cNvSpPr txBox="1"/>
          <p:nvPr/>
        </p:nvSpPr>
        <p:spPr>
          <a:xfrm>
            <a:off x="10305288"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299</a:t>
            </a:r>
            <a:endParaRPr lang="en-US" sz="1200" dirty="0"/>
          </a:p>
        </p:txBody>
      </p:sp>
      <p:sp>
        <p:nvSpPr>
          <p:cNvPr id="116" name="Text 114"/>
          <p:cNvSpPr txBox="1"/>
          <p:nvPr/>
        </p:nvSpPr>
        <p:spPr>
          <a:xfrm>
            <a:off x="6208776"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7" name="Text 115"/>
          <p:cNvSpPr txBox="1"/>
          <p:nvPr/>
        </p:nvSpPr>
        <p:spPr>
          <a:xfrm>
            <a:off x="6565392"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8" name="Shape 116"/>
          <p:cNvSpPr/>
          <p:nvPr/>
        </p:nvSpPr>
        <p:spPr>
          <a:xfrm>
            <a:off x="8558784" y="4102862"/>
            <a:ext cx="442919" cy="104140"/>
          </a:xfrm>
          <a:prstGeom prst="rect">
            <a:avLst/>
          </a:prstGeom>
          <a:solidFill>
            <a:srgbClr val="C2352F"/>
          </a:solidFill>
          <a:ln/>
        </p:spPr>
      </p:sp>
      <p:sp>
        <p:nvSpPr>
          <p:cNvPr id="119" name="Text 117"/>
          <p:cNvSpPr txBox="1"/>
          <p:nvPr/>
        </p:nvSpPr>
        <p:spPr>
          <a:xfrm>
            <a:off x="10305288"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0" name="Text 118"/>
          <p:cNvSpPr txBox="1"/>
          <p:nvPr/>
        </p:nvSpPr>
        <p:spPr>
          <a:xfrm>
            <a:off x="6208776" y="42590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42590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2" name="Shape 120"/>
          <p:cNvSpPr/>
          <p:nvPr/>
        </p:nvSpPr>
        <p:spPr>
          <a:xfrm>
            <a:off x="8558784" y="4311142"/>
            <a:ext cx="441477" cy="104140"/>
          </a:xfrm>
          <a:prstGeom prst="rect">
            <a:avLst/>
          </a:prstGeom>
          <a:solidFill>
            <a:srgbClr val="C2352F"/>
          </a:solidFill>
          <a:ln/>
        </p:spPr>
      </p:sp>
      <p:sp>
        <p:nvSpPr>
          <p:cNvPr id="123" name="Text 121"/>
          <p:cNvSpPr txBox="1"/>
          <p:nvPr/>
        </p:nvSpPr>
        <p:spPr>
          <a:xfrm>
            <a:off x="10305288" y="42590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272</a:t>
            </a:r>
            <a:endParaRPr lang="en-US" sz="1200" dirty="0"/>
          </a:p>
        </p:txBody>
      </p:sp>
      <p:sp>
        <p:nvSpPr>
          <p:cNvPr id="124" name="Text 122"/>
          <p:cNvSpPr txBox="1"/>
          <p:nvPr/>
        </p:nvSpPr>
        <p:spPr>
          <a:xfrm>
            <a:off x="6208776"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5" name="Text 123"/>
          <p:cNvSpPr txBox="1"/>
          <p:nvPr/>
        </p:nvSpPr>
        <p:spPr>
          <a:xfrm>
            <a:off x="6565392"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6" name="Shape 124"/>
          <p:cNvSpPr/>
          <p:nvPr/>
        </p:nvSpPr>
        <p:spPr>
          <a:xfrm>
            <a:off x="8558784" y="4519422"/>
            <a:ext cx="377230" cy="104140"/>
          </a:xfrm>
          <a:prstGeom prst="rect">
            <a:avLst/>
          </a:prstGeom>
          <a:solidFill>
            <a:srgbClr val="C2352F"/>
          </a:solidFill>
          <a:ln/>
        </p:spPr>
      </p:sp>
      <p:sp>
        <p:nvSpPr>
          <p:cNvPr id="127" name="Text 125"/>
          <p:cNvSpPr txBox="1"/>
          <p:nvPr/>
        </p:nvSpPr>
        <p:spPr>
          <a:xfrm>
            <a:off x="10305288" y="44673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232</a:t>
            </a:r>
            <a:endParaRPr lang="en-US" sz="1200" dirty="0"/>
          </a:p>
        </p:txBody>
      </p:sp>
      <p:sp>
        <p:nvSpPr>
          <p:cNvPr id="128" name="Text 126"/>
          <p:cNvSpPr txBox="1"/>
          <p:nvPr/>
        </p:nvSpPr>
        <p:spPr>
          <a:xfrm>
            <a:off x="6208776"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9" name="Text 127"/>
          <p:cNvSpPr txBox="1"/>
          <p:nvPr/>
        </p:nvSpPr>
        <p:spPr>
          <a:xfrm>
            <a:off x="6565392"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0" name="Shape 128"/>
          <p:cNvSpPr/>
          <p:nvPr/>
        </p:nvSpPr>
        <p:spPr>
          <a:xfrm>
            <a:off x="8558784" y="4727702"/>
            <a:ext cx="373849" cy="104140"/>
          </a:xfrm>
          <a:prstGeom prst="rect">
            <a:avLst/>
          </a:prstGeom>
          <a:solidFill>
            <a:srgbClr val="C2352F"/>
          </a:solidFill>
          <a:ln/>
        </p:spPr>
      </p:sp>
      <p:sp>
        <p:nvSpPr>
          <p:cNvPr id="131" name="Text 129"/>
          <p:cNvSpPr txBox="1"/>
          <p:nvPr/>
        </p:nvSpPr>
        <p:spPr>
          <a:xfrm>
            <a:off x="10305288" y="46756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230</a:t>
            </a:r>
            <a:endParaRPr lang="en-US" sz="1200" dirty="0"/>
          </a:p>
        </p:txBody>
      </p:sp>
      <p:sp>
        <p:nvSpPr>
          <p:cNvPr id="132" name="Text 130"/>
          <p:cNvSpPr txBox="1"/>
          <p:nvPr/>
        </p:nvSpPr>
        <p:spPr>
          <a:xfrm>
            <a:off x="6208776"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4" name="Shape 132"/>
          <p:cNvSpPr/>
          <p:nvPr/>
        </p:nvSpPr>
        <p:spPr>
          <a:xfrm>
            <a:off x="8558784" y="4935982"/>
            <a:ext cx="357077" cy="104140"/>
          </a:xfrm>
          <a:prstGeom prst="rect">
            <a:avLst/>
          </a:prstGeom>
          <a:solidFill>
            <a:srgbClr val="C2352F"/>
          </a:solidFill>
          <a:ln/>
        </p:spPr>
      </p:sp>
      <p:sp>
        <p:nvSpPr>
          <p:cNvPr id="135" name="Text 133"/>
          <p:cNvSpPr txBox="1"/>
          <p:nvPr/>
        </p:nvSpPr>
        <p:spPr>
          <a:xfrm>
            <a:off x="10305288" y="48839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6" name="Text 134"/>
          <p:cNvSpPr txBox="1"/>
          <p:nvPr/>
        </p:nvSpPr>
        <p:spPr>
          <a:xfrm>
            <a:off x="6208776"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7" name="Text 135"/>
          <p:cNvSpPr txBox="1"/>
          <p:nvPr/>
        </p:nvSpPr>
        <p:spPr>
          <a:xfrm>
            <a:off x="6565392"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8" name="Shape 136"/>
          <p:cNvSpPr/>
          <p:nvPr/>
        </p:nvSpPr>
        <p:spPr>
          <a:xfrm>
            <a:off x="8558784" y="5144262"/>
            <a:ext cx="329917" cy="104140"/>
          </a:xfrm>
          <a:prstGeom prst="rect">
            <a:avLst/>
          </a:prstGeom>
          <a:solidFill>
            <a:srgbClr val="C2352F"/>
          </a:solidFill>
          <a:ln/>
        </p:spPr>
      </p:sp>
      <p:sp>
        <p:nvSpPr>
          <p:cNvPr id="139" name="Text 137"/>
          <p:cNvSpPr txBox="1"/>
          <p:nvPr/>
        </p:nvSpPr>
        <p:spPr>
          <a:xfrm>
            <a:off x="10305288" y="50921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0" name="Text 138"/>
          <p:cNvSpPr txBox="1"/>
          <p:nvPr/>
        </p:nvSpPr>
        <p:spPr>
          <a:xfrm>
            <a:off x="6208776"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1" name="Text 139"/>
          <p:cNvSpPr txBox="1"/>
          <p:nvPr/>
        </p:nvSpPr>
        <p:spPr>
          <a:xfrm>
            <a:off x="6565392"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2" name="Shape 140"/>
          <p:cNvSpPr/>
          <p:nvPr/>
        </p:nvSpPr>
        <p:spPr>
          <a:xfrm>
            <a:off x="8558784" y="5352542"/>
            <a:ext cx="312404" cy="104140"/>
          </a:xfrm>
          <a:prstGeom prst="rect">
            <a:avLst/>
          </a:prstGeom>
          <a:solidFill>
            <a:srgbClr val="C2352F"/>
          </a:solidFill>
          <a:ln/>
        </p:spPr>
      </p:sp>
      <p:sp>
        <p:nvSpPr>
          <p:cNvPr id="143" name="Text 141"/>
          <p:cNvSpPr txBox="1"/>
          <p:nvPr/>
        </p:nvSpPr>
        <p:spPr>
          <a:xfrm>
            <a:off x="10305288" y="53004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4" name="Text 142"/>
          <p:cNvSpPr txBox="1"/>
          <p:nvPr/>
        </p:nvSpPr>
        <p:spPr>
          <a:xfrm>
            <a:off x="6208776"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5" name="Text 143"/>
          <p:cNvSpPr txBox="1"/>
          <p:nvPr/>
        </p:nvSpPr>
        <p:spPr>
          <a:xfrm>
            <a:off x="6565392"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6" name="Shape 144"/>
          <p:cNvSpPr/>
          <p:nvPr/>
        </p:nvSpPr>
        <p:spPr>
          <a:xfrm>
            <a:off x="8558784" y="5560822"/>
            <a:ext cx="249232" cy="104140"/>
          </a:xfrm>
          <a:prstGeom prst="rect">
            <a:avLst/>
          </a:prstGeom>
          <a:solidFill>
            <a:srgbClr val="C2352F"/>
          </a:solidFill>
          <a:ln/>
        </p:spPr>
      </p:sp>
      <p:sp>
        <p:nvSpPr>
          <p:cNvPr id="147" name="Text 145"/>
          <p:cNvSpPr txBox="1"/>
          <p:nvPr/>
        </p:nvSpPr>
        <p:spPr>
          <a:xfrm>
            <a:off x="10305288" y="55087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48" name="Shape 146"/>
          <p:cNvSpPr/>
          <p:nvPr/>
        </p:nvSpPr>
        <p:spPr>
          <a:xfrm>
            <a:off x="3679521" y="2176272"/>
            <a:ext cx="14630" cy="3749040"/>
          </a:xfrm>
          <a:prstGeom prst="rect">
            <a:avLst/>
          </a:prstGeom>
          <a:solidFill>
            <a:srgbClr val="0B2C4A"/>
          </a:solidFill>
          <a:ln/>
        </p:spPr>
      </p:sp>
      <p:sp>
        <p:nvSpPr>
          <p:cNvPr id="149" name="Shape 147"/>
          <p:cNvSpPr/>
          <p:nvPr/>
        </p:nvSpPr>
        <p:spPr>
          <a:xfrm>
            <a:off x="9229929" y="2176272"/>
            <a:ext cx="14630" cy="3749040"/>
          </a:xfrm>
          <a:prstGeom prst="rect">
            <a:avLst/>
          </a:prstGeom>
          <a:solidFill>
            <a:srgbClr val="0B2C4A"/>
          </a:solidFill>
          <a:ln/>
        </p:spPr>
      </p:sp>
      <p:sp>
        <p:nvSpPr>
          <p:cNvPr id="150" name="Shape 148"/>
          <p:cNvSpPr/>
          <p:nvPr/>
        </p:nvSpPr>
        <p:spPr>
          <a:xfrm>
            <a:off x="6085332" y="2176272"/>
            <a:ext cx="10973" cy="3749040"/>
          </a:xfrm>
          <a:prstGeom prst="rect">
            <a:avLst/>
          </a:prstGeom>
          <a:solidFill>
            <a:srgbClr val="D9D9D9"/>
          </a:solidFill>
          <a:ln/>
        </p:spPr>
      </p:sp>
      <p:sp>
        <p:nvSpPr>
          <p:cNvPr id="151" name="Shape 149"/>
          <p:cNvSpPr/>
          <p:nvPr/>
        </p:nvSpPr>
        <p:spPr>
          <a:xfrm>
            <a:off x="457200" y="6126480"/>
            <a:ext cx="11274552" cy="615696"/>
          </a:xfrm>
          <a:prstGeom prst="rect">
            <a:avLst/>
          </a:prstGeom>
          <a:solidFill>
            <a:srgbClr val="EDF4FA"/>
          </a:solidFill>
          <a:ln/>
        </p:spPr>
      </p:sp>
      <p:sp>
        <p:nvSpPr>
          <p:cNvPr id="152" name="Text 1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276 and 7 of 24 others beat 418. Toyota Henderson leads non-luxury at 1,022.</a:t>
            </a:r>
            <a:endParaRPr lang="en-US" sz="1600" dirty="0"/>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50319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 name="Shape 15"/>
          <p:cNvSpPr/>
          <p:nvPr/>
        </p:nvSpPr>
        <p:spPr>
          <a:xfrm>
            <a:off x="3785616" y="2151755"/>
            <a:ext cx="46961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785616" y="2391651"/>
            <a:ext cx="335572"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5" name="Shape 23"/>
          <p:cNvSpPr/>
          <p:nvPr/>
        </p:nvSpPr>
        <p:spPr>
          <a:xfrm>
            <a:off x="3785616" y="2631546"/>
            <a:ext cx="33081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785616" y="2871442"/>
            <a:ext cx="32212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3" name="Shape 31"/>
          <p:cNvSpPr/>
          <p:nvPr/>
        </p:nvSpPr>
        <p:spPr>
          <a:xfrm>
            <a:off x="3785616" y="3111337"/>
            <a:ext cx="146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13212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785616" y="3591128"/>
            <a:ext cx="12935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785616" y="3831024"/>
            <a:ext cx="12241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785616" y="4070920"/>
            <a:ext cx="1059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6345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4809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1" name="Shape 59"/>
          <p:cNvSpPr/>
          <p:nvPr/>
        </p:nvSpPr>
        <p:spPr>
          <a:xfrm>
            <a:off x="3785616" y="4790606"/>
            <a:ext cx="39795"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5" name="Shape 63"/>
          <p:cNvSpPr/>
          <p:nvPr/>
        </p:nvSpPr>
        <p:spPr>
          <a:xfrm>
            <a:off x="3785616" y="5030502"/>
            <a:ext cx="2904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284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1490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3" name="Shape 91"/>
          <p:cNvSpPr/>
          <p:nvPr/>
        </p:nvSpPr>
        <p:spPr>
          <a:xfrm>
            <a:off x="9336024" y="2631546"/>
            <a:ext cx="1280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321794" y="3111337"/>
            <a:ext cx="1423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9260296" y="3351233"/>
            <a:ext cx="757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258738" y="3591128"/>
            <a:ext cx="7728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048" y="3831024"/>
            <a:ext cx="78976"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246915" y="4070920"/>
            <a:ext cx="8910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9238712" y="4310815"/>
            <a:ext cx="9731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5" name="Shape 123"/>
          <p:cNvSpPr/>
          <p:nvPr/>
        </p:nvSpPr>
        <p:spPr>
          <a:xfrm>
            <a:off x="9192589" y="4550711"/>
            <a:ext cx="14343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181874" y="4790606"/>
            <a:ext cx="154150"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3" name="Shape 131"/>
          <p:cNvSpPr/>
          <p:nvPr/>
        </p:nvSpPr>
        <p:spPr>
          <a:xfrm>
            <a:off x="9137803" y="5030502"/>
            <a:ext cx="19822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7" name="Shape 135"/>
          <p:cNvSpPr/>
          <p:nvPr/>
        </p:nvSpPr>
        <p:spPr>
          <a:xfrm>
            <a:off x="9074707" y="5270397"/>
            <a:ext cx="26131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manager, led by Toyota Henderson at +182 to 1,022. 11 declined; Mazda fell most at −281.</a:t>
            </a:r>
            <a:endParaRPr lang="en-US" sz="1600" dirty="0"/>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1,022</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+182</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686</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657</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+121</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591</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765</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+116</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560</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−281</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−94</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376</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−72</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392</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351</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854</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1,134</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326</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+168</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814</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a:t>
            </a:r>
            <a:endParaRPr lang="en-US" sz="1600" dirty="0"/>
          </a:p>
        </p:txBody>
      </p:sp>
      <p:sp>
        <p:nvSpPr>
          <p:cNvPr id="69" name="Shape 67"/>
          <p:cNvSpPr/>
          <p:nvPr/>
        </p:nvSpPr>
        <p:spPr>
          <a:xfrm>
            <a:off x="457200" y="6126480"/>
            <a:ext cx="11274552" cy="554736"/>
          </a:xfrm>
          <a:prstGeom prst="rect">
            <a:avLst/>
          </a:prstGeom>
          <a:solidFill>
            <a:srgbClr val="EDF4FA"/>
          </a:solidFill>
          <a:ln/>
        </p:spPr>
      </p:sp>
      <p:sp>
        <p:nvSpPr>
          <p:cNvPr id="70" name="Text 68"/>
          <p:cNvSpPr txBox="1"/>
          <p:nvPr/>
        </p:nvSpPr>
        <p:spPr>
          <a:xfrm>
            <a:off x="658368" y="6144768"/>
            <a:ext cx="10927080" cy="51816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Ask Toyota Henderson, Toyota Spokane and Toyota Prescott what changed. Ask Mazda, Subaru St George and Honda Spokane what got in the way. Ask Toyota Prescott, Toyota Henderson and VW St George what they started this year.</a:t>
            </a:r>
            <a:endParaRPr lang="en-US" sz="1400" dirty="0"/>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1,541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−83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employees at month end,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DF4FA"/>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Fixed ops headcount fell 76 to 1,540 (−4.7%), Sep to Sep; CP &amp; W ROs fell 2.3% year to date.</a:t>
            </a:r>
            <a:endParaRPr lang="en-US" sz="1600" dirty="0"/>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812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HEADCOUNT</a:t>
            </a:r>
            <a:endParaRPr lang="en-US" sz="1500" dirty="0"/>
          </a:p>
        </p:txBody>
      </p:sp>
      <p:sp>
        <p:nvSpPr>
          <p:cNvPr id="9" name="Text 7"/>
          <p:cNvSpPr txBox="1"/>
          <p:nvPr/>
        </p:nvSpPr>
        <p:spPr>
          <a:xfrm>
            <a:off x="3295650" y="1335024"/>
            <a:ext cx="47510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 2026 VS SEP 2025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185057" cy="110352"/>
          </a:xfrm>
          <a:prstGeom prst="rect">
            <a:avLst/>
          </a:prstGeom>
          <a:solidFill>
            <a:srgbClr val="2587C5"/>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785616" y="2151755"/>
            <a:ext cx="148046" cy="110352"/>
          </a:xfrm>
          <a:prstGeom prst="rect">
            <a:avLst/>
          </a:prstGeom>
          <a:solidFill>
            <a:srgbClr val="2587C5"/>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 name="Shape 19"/>
          <p:cNvSpPr/>
          <p:nvPr/>
        </p:nvSpPr>
        <p:spPr>
          <a:xfrm>
            <a:off x="3785616" y="2391651"/>
            <a:ext cx="148046" cy="110352"/>
          </a:xfrm>
          <a:prstGeom prst="rect">
            <a:avLst/>
          </a:prstGeom>
          <a:solidFill>
            <a:srgbClr val="2587C5"/>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5" name="Shape 23"/>
          <p:cNvSpPr/>
          <p:nvPr/>
        </p:nvSpPr>
        <p:spPr>
          <a:xfrm>
            <a:off x="3785616" y="2631546"/>
            <a:ext cx="111034" cy="110352"/>
          </a:xfrm>
          <a:prstGeom prst="rect">
            <a:avLst/>
          </a:prstGeom>
          <a:solidFill>
            <a:srgbClr val="2587C5"/>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785616" y="2871442"/>
            <a:ext cx="111034" cy="110352"/>
          </a:xfrm>
          <a:prstGeom prst="rect">
            <a:avLst/>
          </a:prstGeom>
          <a:solidFill>
            <a:srgbClr val="2587C5"/>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785616" y="3111337"/>
            <a:ext cx="74023" cy="110352"/>
          </a:xfrm>
          <a:prstGeom prst="rect">
            <a:avLst/>
          </a:prstGeom>
          <a:solidFill>
            <a:srgbClr val="2587C5"/>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785616" y="3351233"/>
            <a:ext cx="37011" cy="110352"/>
          </a:xfrm>
          <a:prstGeom prst="rect">
            <a:avLst/>
          </a:prstGeom>
          <a:solidFill>
            <a:srgbClr val="2587C5"/>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37011" cy="110352"/>
          </a:xfrm>
          <a:prstGeom prst="rect">
            <a:avLst/>
          </a:prstGeom>
          <a:solidFill>
            <a:srgbClr val="2587C5"/>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7011" cy="110352"/>
          </a:xfrm>
          <a:prstGeom prst="rect">
            <a:avLst/>
          </a:prstGeom>
          <a:solidFill>
            <a:srgbClr val="2587C5"/>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9" name="Shape 47"/>
          <p:cNvSpPr/>
          <p:nvPr/>
        </p:nvSpPr>
        <p:spPr>
          <a:xfrm>
            <a:off x="3785616" y="4070920"/>
            <a:ext cx="37011" cy="110352"/>
          </a:xfrm>
          <a:prstGeom prst="rect">
            <a:avLst/>
          </a:prstGeom>
          <a:solidFill>
            <a:srgbClr val="2587C5"/>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3" name="Shape 51"/>
          <p:cNvSpPr/>
          <p:nvPr/>
        </p:nvSpPr>
        <p:spPr>
          <a:xfrm>
            <a:off x="3748605" y="4310815"/>
            <a:ext cx="37011" cy="110352"/>
          </a:xfrm>
          <a:prstGeom prst="rect">
            <a:avLst/>
          </a:prstGeom>
          <a:solidFill>
            <a:srgbClr val="2587C5"/>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48605" y="4550711"/>
            <a:ext cx="37011" cy="110352"/>
          </a:xfrm>
          <a:prstGeom prst="rect">
            <a:avLst/>
          </a:prstGeom>
          <a:solidFill>
            <a:srgbClr val="2587C5"/>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48605" y="4790606"/>
            <a:ext cx="37011" cy="110352"/>
          </a:xfrm>
          <a:prstGeom prst="rect">
            <a:avLst/>
          </a:prstGeom>
          <a:solidFill>
            <a:srgbClr val="2587C5"/>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748605" y="5030502"/>
            <a:ext cx="37011" cy="110352"/>
          </a:xfrm>
          <a:prstGeom prst="rect">
            <a:avLst/>
          </a:prstGeom>
          <a:solidFill>
            <a:srgbClr val="2587C5"/>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48605" y="5270397"/>
            <a:ext cx="37011" cy="110352"/>
          </a:xfrm>
          <a:prstGeom prst="rect">
            <a:avLst/>
          </a:prstGeom>
          <a:solidFill>
            <a:srgbClr val="2587C5"/>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748605" y="5510293"/>
            <a:ext cx="37011" cy="110352"/>
          </a:xfrm>
          <a:prstGeom prst="rect">
            <a:avLst/>
          </a:prstGeom>
          <a:solidFill>
            <a:srgbClr val="2587C5"/>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48605" y="5750188"/>
            <a:ext cx="37011" cy="110352"/>
          </a:xfrm>
          <a:prstGeom prst="rect">
            <a:avLst/>
          </a:prstGeom>
          <a:solidFill>
            <a:srgbClr val="2587C5"/>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9299013" y="1911860"/>
            <a:ext cx="37011" cy="110352"/>
          </a:xfrm>
          <a:prstGeom prst="rect">
            <a:avLst/>
          </a:prstGeom>
          <a:solidFill>
            <a:srgbClr val="2587C5"/>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5" name="Shape 83"/>
          <p:cNvSpPr/>
          <p:nvPr/>
        </p:nvSpPr>
        <p:spPr>
          <a:xfrm>
            <a:off x="9299013" y="2151755"/>
            <a:ext cx="37011" cy="110352"/>
          </a:xfrm>
          <a:prstGeom prst="rect">
            <a:avLst/>
          </a:prstGeom>
          <a:solidFill>
            <a:srgbClr val="2587C5"/>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9" name="Shape 87"/>
          <p:cNvSpPr/>
          <p:nvPr/>
        </p:nvSpPr>
        <p:spPr>
          <a:xfrm>
            <a:off x="9262001" y="2391651"/>
            <a:ext cx="74023" cy="110352"/>
          </a:xfrm>
          <a:prstGeom prst="rect">
            <a:avLst/>
          </a:prstGeom>
          <a:solidFill>
            <a:srgbClr val="2587C5"/>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3" name="Shape 91"/>
          <p:cNvSpPr/>
          <p:nvPr/>
        </p:nvSpPr>
        <p:spPr>
          <a:xfrm>
            <a:off x="9262001" y="2631546"/>
            <a:ext cx="74023" cy="110352"/>
          </a:xfrm>
          <a:prstGeom prst="rect">
            <a:avLst/>
          </a:prstGeom>
          <a:solidFill>
            <a:srgbClr val="2587C5"/>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9224990" y="2871442"/>
            <a:ext cx="111034" cy="110352"/>
          </a:xfrm>
          <a:prstGeom prst="rect">
            <a:avLst/>
          </a:prstGeom>
          <a:solidFill>
            <a:srgbClr val="2587C5"/>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224990" y="3111337"/>
            <a:ext cx="111034" cy="110352"/>
          </a:xfrm>
          <a:prstGeom prst="rect">
            <a:avLst/>
          </a:prstGeom>
          <a:solidFill>
            <a:srgbClr val="2587C5"/>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224990" y="3351233"/>
            <a:ext cx="111034" cy="110352"/>
          </a:xfrm>
          <a:prstGeom prst="rect">
            <a:avLst/>
          </a:prstGeom>
          <a:solidFill>
            <a:srgbClr val="2587C5"/>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187978" y="3591128"/>
            <a:ext cx="148046" cy="110352"/>
          </a:xfrm>
          <a:prstGeom prst="rect">
            <a:avLst/>
          </a:prstGeom>
          <a:solidFill>
            <a:srgbClr val="2587C5"/>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187978" y="3831024"/>
            <a:ext cx="148046" cy="110352"/>
          </a:xfrm>
          <a:prstGeom prst="rect">
            <a:avLst/>
          </a:prstGeom>
          <a:solidFill>
            <a:srgbClr val="2587C5"/>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113955" y="4070920"/>
            <a:ext cx="222069" cy="110352"/>
          </a:xfrm>
          <a:prstGeom prst="rect">
            <a:avLst/>
          </a:prstGeom>
          <a:solidFill>
            <a:srgbClr val="2587C5"/>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9076944" y="4310815"/>
            <a:ext cx="259080" cy="110352"/>
          </a:xfrm>
          <a:prstGeom prst="rect">
            <a:avLst/>
          </a:prstGeom>
          <a:solidFill>
            <a:srgbClr val="2587C5"/>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039933" y="4550711"/>
            <a:ext cx="296091" cy="110352"/>
          </a:xfrm>
          <a:prstGeom prst="rect">
            <a:avLst/>
          </a:prstGeom>
          <a:solidFill>
            <a:srgbClr val="2587C5"/>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9933" y="4790606"/>
            <a:ext cx="296091" cy="110352"/>
          </a:xfrm>
          <a:prstGeom prst="rect">
            <a:avLst/>
          </a:prstGeom>
          <a:solidFill>
            <a:srgbClr val="2587C5"/>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9002921" y="5030502"/>
            <a:ext cx="333103" cy="110352"/>
          </a:xfrm>
          <a:prstGeom prst="rect">
            <a:avLst/>
          </a:prstGeom>
          <a:solidFill>
            <a:srgbClr val="2587C5"/>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891887" y="5270397"/>
            <a:ext cx="444137" cy="110352"/>
          </a:xfrm>
          <a:prstGeom prst="rect">
            <a:avLst/>
          </a:prstGeom>
          <a:solidFill>
            <a:srgbClr val="2587C5"/>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1" name="Shape 139"/>
          <p:cNvSpPr/>
          <p:nvPr/>
        </p:nvSpPr>
        <p:spPr>
          <a:xfrm>
            <a:off x="8558784" y="5510293"/>
            <a:ext cx="777240" cy="110352"/>
          </a:xfrm>
          <a:prstGeom prst="rect">
            <a:avLst/>
          </a:prstGeom>
          <a:solidFill>
            <a:srgbClr val="2587C5"/>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stores added fixed staff, led by Mazda (+5); 23 reduced, led by Chevy LV (−21).</a:t>
            </a:r>
            <a:endParaRPr lang="en-US" sz="1600" dirty="0"/>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Technicians &amp; Stalls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1:1 tech to stall unless you run on-demand appointments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Tech level in line with job skill: right tech, right job</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5/6 of staff on schedule at all times, Saturdays included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90%+ MPI completion; track and report technician efficiency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Use scoreboarding and Teams to show techs where they stand</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Group technician proficiency (sold hours / worked hours). 20 of 33 stores at or above 85%.</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262 of 583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Counted technicians under 85%. Every store has at least one.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missed if each of them reached 85%: no extra hours, techs or bays.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show every tech their own proficiency every week. The best techs in each store already prove 85% is possible.</a:t>
            </a:r>
            <a:endParaRPr lang="en-US" sz="1600" dirty="0"/>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Technician Proficiency?</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Proficiency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sold (flagged)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worked (clocked)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many hours a technician produces for every hour they are on the clock. 85% is on target; 100% or more is above.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 40-HOUR WEEK</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Works 40 hours  </a:t>
            </a:r>
            <a:pPr algn="ctr" indent="0" marL="0">
              <a:buNone/>
            </a:pPr>
            <a:r>
              <a:rPr lang="en-US" sz="1400" b="1" dirty="0">
                <a:solidFill>
                  <a:srgbClr val="0B2C4A"/>
                </a:solidFill>
                <a:latin typeface="Inter" pitchFamily="34" charset="0"/>
                <a:ea typeface="Inter" pitchFamily="34" charset="-122"/>
                <a:cs typeface="Inter" pitchFamily="34" charset="-120"/>
              </a:rPr>
              <a:t>sells 34</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Proficiency  </a:t>
            </a:r>
            <a:pPr algn="ctr" indent="0" marL="0">
              <a:buNone/>
            </a:pPr>
            <a:r>
              <a:rPr lang="en-US" sz="1400" b="1" dirty="0">
                <a:solidFill>
                  <a:srgbClr val="0B2C4A"/>
                </a:solidFill>
                <a:latin typeface="Inter" pitchFamily="34" charset="0"/>
                <a:ea typeface="Inter" pitchFamily="34" charset="-122"/>
                <a:cs typeface="Inter" pitchFamily="34" charset="-120"/>
              </a:rPr>
              <a:t>85%</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Sells 40  </a:t>
            </a:r>
            <a:pPr algn="ctr" indent="0" marL="0">
              <a:buNone/>
            </a:pPr>
            <a:r>
              <a:rPr lang="en-US" sz="1400" b="1" dirty="0">
                <a:solidFill>
                  <a:srgbClr val="0B2C4A"/>
                </a:solidFill>
                <a:latin typeface="Inter" pitchFamily="34" charset="0"/>
                <a:ea typeface="Inter" pitchFamily="34" charset="-122"/>
                <a:cs typeface="Inter" pitchFamily="34" charset="-120"/>
              </a:rPr>
              <a:t>100%</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tech, bay and lift are already here; an unflagged hour can't be sold tomorrow.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Flat-rate techs earn more as they produce more.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where workflow, not effort, is the problem.</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Dispatch</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waiting at the bay; the right job to the right tech</a:t>
            </a:r>
            <a:endParaRPr lang="en-US" sz="1400" dirty="0"/>
          </a:p>
        </p:txBody>
      </p:sp>
      <p:sp>
        <p:nvSpPr>
          <p:cNvPr id="22" name="Shape 20"/>
          <p:cNvSpPr/>
          <p:nvPr/>
        </p:nvSpPr>
        <p:spPr>
          <a:xfrm>
            <a:off x="7309104" y="3410712"/>
            <a:ext cx="45720" cy="1133856"/>
          </a:xfrm>
          <a:prstGeom prst="rect">
            <a:avLst/>
          </a:prstGeom>
          <a:solidFill>
            <a:srgbClr val="2587C5"/>
          </a:solidFill>
          <a:ln/>
        </p:spPr>
      </p:sp>
      <p:sp>
        <p:nvSpPr>
          <p:cNvPr id="23" name="Text 21"/>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Car count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Not enough work leaves techs waiting</a:t>
            </a:r>
            <a:endParaRPr lang="en-US" sz="1400" dirty="0"/>
          </a:p>
        </p:txBody>
      </p:sp>
      <p:sp>
        <p:nvSpPr>
          <p:cNvPr id="24" name="Shape 22"/>
          <p:cNvSpPr/>
          <p:nvPr/>
        </p:nvSpPr>
        <p:spPr>
          <a:xfrm>
            <a:off x="9479280" y="3410712"/>
            <a:ext cx="45720" cy="1133856"/>
          </a:xfrm>
          <a:prstGeom prst="rect">
            <a:avLst/>
          </a:prstGeom>
          <a:solidFill>
            <a:srgbClr val="2587C5"/>
          </a:solidFill>
          <a:ln/>
        </p:spPr>
      </p:sp>
      <p:sp>
        <p:nvSpPr>
          <p:cNvPr id="25" name="Text 23"/>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staging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at the bay before the tech needs them</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Approvals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customer approval on the inspection</a:t>
            </a:r>
            <a:endParaRPr lang="en-US" sz="1400" dirty="0"/>
          </a:p>
        </p:txBody>
      </p:sp>
      <p:sp>
        <p:nvSpPr>
          <p:cNvPr id="28" name="Shape 26"/>
          <p:cNvSpPr/>
          <p:nvPr/>
        </p:nvSpPr>
        <p:spPr>
          <a:xfrm>
            <a:off x="7309104" y="4654296"/>
            <a:ext cx="45720" cy="1133856"/>
          </a:xfrm>
          <a:prstGeom prst="rect">
            <a:avLst/>
          </a:prstGeom>
          <a:solidFill>
            <a:srgbClr val="2587C5"/>
          </a:solidFill>
          <a:ln/>
        </p:spPr>
      </p:sp>
      <p:sp>
        <p:nvSpPr>
          <p:cNvPr id="29" name="Text 27"/>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Skill and training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Tech level in line with job skill</a:t>
            </a:r>
            <a:endParaRPr lang="en-US" sz="1400" dirty="0"/>
          </a:p>
        </p:txBody>
      </p:sp>
      <p:sp>
        <p:nvSpPr>
          <p:cNvPr id="30" name="Shape 28"/>
          <p:cNvSpPr/>
          <p:nvPr/>
        </p:nvSpPr>
        <p:spPr>
          <a:xfrm>
            <a:off x="9479280" y="4654296"/>
            <a:ext cx="45720" cy="1133856"/>
          </a:xfrm>
          <a:prstGeom prst="rect">
            <a:avLst/>
          </a:prstGeom>
          <a:solidFill>
            <a:srgbClr val="2587C5"/>
          </a:solidFill>
          <a:ln/>
        </p:spPr>
      </p:sp>
      <p:sp>
        <p:nvSpPr>
          <p:cNvPr id="31" name="Text 29"/>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Proficiency vs efficiency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Efficiency divides by time clocked on ROs, not all hours worked</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94.7%. 20 of 33 stores at or above 85%; 262 of 583 counted techs below it.</a:t>
            </a:r>
            <a:endParaRPr lang="en-US" sz="1600" dirty="0"/>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We Measured 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Sold hours (Qlik)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worked hours (ADP, regular + overtime)</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Matched by tech number, all pay types, Dec 25, 2025 to Oct 9, 2026. Store = total sold hours / total worked hours.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WHO COUNTS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THE RULES</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Service technicians, express technicians, service team leaders and shop foremen: everyone whose job is to flag hours on the line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Not counted: body shop, detail and tint</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Shop foremen above 30%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a foreman is mainly dispatching</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Techs above 10%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they are not working as a line tech</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Role changes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Worked hours trimmed to the months a tech actually flagged</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Keying errors removed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45 lines, such as 940 hours keyed on one $0 line</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Shared codes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Pooled codes (MULT, 999, 77777) aren't credited to anyone</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Opportunity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Each tech under 85% raised to 85% of their own worked hours</a:t>
            </a:r>
            <a:endParaRPr lang="en-US" sz="1400" dirty="0"/>
          </a:p>
        </p:txBody>
      </p:sp>
      <p:sp>
        <p:nvSpPr>
          <p:cNvPr id="25" name="Shape 23"/>
          <p:cNvSpPr/>
          <p:nvPr/>
        </p:nvSpPr>
        <p:spPr>
          <a:xfrm>
            <a:off x="457200" y="6126480"/>
            <a:ext cx="11274552" cy="356616"/>
          </a:xfrm>
          <a:prstGeom prst="rect">
            <a:avLst/>
          </a:prstGeom>
          <a:solidFill>
            <a:srgbClr val="EDF4FA"/>
          </a:solidFill>
          <a:ln/>
        </p:spPr>
      </p:sp>
      <p:sp>
        <p:nvSpPr>
          <p:cNvPr id="26" name="Text 2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rules keep non-tech time and data errors out of the numbers, and every store is measured the same way.</a:t>
            </a:r>
            <a:endParaRPr lang="en-US" sz="1500" dirty="0"/>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TECHNICIAN PROFICIENCY</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85.0%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6303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1" name="Shape 19"/>
          <p:cNvSpPr/>
          <p:nvPr/>
        </p:nvSpPr>
        <p:spPr>
          <a:xfrm>
            <a:off x="3008376" y="2386853"/>
            <a:ext cx="1503694"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493335"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488550"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4658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142378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008376" y="3586331"/>
            <a:ext cx="139459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5" name="Shape 43"/>
          <p:cNvSpPr/>
          <p:nvPr/>
        </p:nvSpPr>
        <p:spPr>
          <a:xfrm>
            <a:off x="3008376" y="3826226"/>
            <a:ext cx="138713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366169"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4306017"/>
            <a:ext cx="1345338"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008376" y="4545913"/>
            <a:ext cx="132856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1" name="Shape 59"/>
          <p:cNvSpPr/>
          <p:nvPr/>
        </p:nvSpPr>
        <p:spPr>
          <a:xfrm>
            <a:off x="3008376" y="4785808"/>
            <a:ext cx="12596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22750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9" name="Shape 67"/>
          <p:cNvSpPr/>
          <p:nvPr/>
        </p:nvSpPr>
        <p:spPr>
          <a:xfrm>
            <a:off x="3008376" y="5265599"/>
            <a:ext cx="118354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12583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008376" y="5745390"/>
            <a:ext cx="110324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8558784" y="1907062"/>
            <a:ext cx="1102256"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8558784" y="2146957"/>
            <a:ext cx="1100233"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9" name="Shape 87"/>
          <p:cNvSpPr/>
          <p:nvPr/>
        </p:nvSpPr>
        <p:spPr>
          <a:xfrm>
            <a:off x="8558784" y="2386853"/>
            <a:ext cx="1028587"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87.7%</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94018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892570"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65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83059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9" name="Shape 107"/>
          <p:cNvSpPr/>
          <p:nvPr/>
        </p:nvSpPr>
        <p:spPr>
          <a:xfrm>
            <a:off x="8558784" y="3586331"/>
            <a:ext cx="79418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72409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558784" y="4066122"/>
            <a:ext cx="69790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558784" y="4306017"/>
            <a:ext cx="672256"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647056"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2534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3" name="Shape 131"/>
          <p:cNvSpPr/>
          <p:nvPr/>
        </p:nvSpPr>
        <p:spPr>
          <a:xfrm>
            <a:off x="8558784" y="5025704"/>
            <a:ext cx="612255"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558784" y="5265599"/>
            <a:ext cx="59280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58784" y="5505495"/>
            <a:ext cx="5910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67.4%</a:t>
            </a:r>
            <a:endParaRPr lang="en-US" sz="1200" dirty="0"/>
          </a:p>
        </p:txBody>
      </p:sp>
      <p:sp>
        <p:nvSpPr>
          <p:cNvPr id="143" name="Shape 141"/>
          <p:cNvSpPr/>
          <p:nvPr/>
        </p:nvSpPr>
        <p:spPr>
          <a:xfrm>
            <a:off x="3970620" y="1847088"/>
            <a:ext cx="14630" cy="4078224"/>
          </a:xfrm>
          <a:prstGeom prst="rect">
            <a:avLst/>
          </a:prstGeom>
          <a:solidFill>
            <a:srgbClr val="0B2C4A"/>
          </a:solidFill>
          <a:ln/>
        </p:spPr>
      </p:sp>
      <p:sp>
        <p:nvSpPr>
          <p:cNvPr id="144" name="Shape 142"/>
          <p:cNvSpPr/>
          <p:nvPr/>
        </p:nvSpPr>
        <p:spPr>
          <a:xfrm>
            <a:off x="952102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20 of 33 stores at or above the 85% target and 12 above 100%. Group 94.7%, led by Honda Henderson at 118.5%; Acura lowest at 67.4%.</a:t>
            </a:r>
            <a:endParaRPr lang="en-US" sz="1600" dirty="0"/>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 Status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12A566"/>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Above 100 %</a:t>
            </a:r>
            <a:endParaRPr lang="en-US" sz="1400" dirty="0"/>
          </a:p>
        </p:txBody>
      </p:sp>
      <p:sp>
        <p:nvSpPr>
          <p:cNvPr id="8" name="Shape 6"/>
          <p:cNvSpPr/>
          <p:nvPr/>
        </p:nvSpPr>
        <p:spPr>
          <a:xfrm>
            <a:off x="2624328" y="1371600"/>
            <a:ext cx="201168" cy="201168"/>
          </a:xfrm>
          <a:prstGeom prst="rect">
            <a:avLst/>
          </a:prstGeom>
          <a:solidFill>
            <a:srgbClr val="5B9BD5"/>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 to 99.9 %</a:t>
            </a:r>
            <a:endParaRPr lang="en-US" sz="1400" dirty="0"/>
          </a:p>
        </p:txBody>
      </p:sp>
      <p:sp>
        <p:nvSpPr>
          <p:cNvPr id="10" name="Shape 8"/>
          <p:cNvSpPr/>
          <p:nvPr/>
        </p:nvSpPr>
        <p:spPr>
          <a:xfrm>
            <a:off x="4590288" y="1371600"/>
            <a:ext cx="201168" cy="201168"/>
          </a:xfrm>
          <a:prstGeom prst="rect">
            <a:avLst/>
          </a:prstGeom>
          <a:solidFill>
            <a:srgbClr val="C2352F"/>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Under 85 %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260837" cy="292608"/>
          </a:xfrm>
          <a:prstGeom prst="rect">
            <a:avLst/>
          </a:prstGeom>
          <a:solidFill>
            <a:srgbClr val="12A566"/>
          </a:solidFill>
          <a:ln w="6350">
            <a:solidFill>
              <a:srgbClr val="FFFFFF"/>
            </a:solidFill>
            <a:prstDash val="solid"/>
          </a:ln>
        </p:spPr>
      </p:sp>
      <p:sp>
        <p:nvSpPr>
          <p:cNvPr id="15" name="Text 13"/>
          <p:cNvSpPr txBox="1"/>
          <p:nvPr/>
        </p:nvSpPr>
        <p:spPr>
          <a:xfrm>
            <a:off x="7726680" y="1344168"/>
            <a:ext cx="126083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34</a:t>
            </a:r>
            <a:endParaRPr lang="en-US" sz="1400" dirty="0"/>
          </a:p>
        </p:txBody>
      </p:sp>
      <p:sp>
        <p:nvSpPr>
          <p:cNvPr id="16" name="Shape 14"/>
          <p:cNvSpPr/>
          <p:nvPr/>
        </p:nvSpPr>
        <p:spPr>
          <a:xfrm>
            <a:off x="8987517" y="1344168"/>
            <a:ext cx="783247" cy="292608"/>
          </a:xfrm>
          <a:prstGeom prst="rect">
            <a:avLst/>
          </a:prstGeom>
          <a:solidFill>
            <a:srgbClr val="5B9BD5"/>
          </a:solidFill>
          <a:ln w="6350">
            <a:solidFill>
              <a:srgbClr val="FFFFFF"/>
            </a:solidFill>
            <a:prstDash val="solid"/>
          </a:ln>
        </p:spPr>
      </p:sp>
      <p:sp>
        <p:nvSpPr>
          <p:cNvPr id="17" name="Text 15"/>
          <p:cNvSpPr txBox="1"/>
          <p:nvPr/>
        </p:nvSpPr>
        <p:spPr>
          <a:xfrm>
            <a:off x="8987517" y="1344168"/>
            <a:ext cx="78324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21</a:t>
            </a:r>
            <a:endParaRPr lang="en-US" sz="1400" dirty="0"/>
          </a:p>
        </p:txBody>
      </p:sp>
      <p:sp>
        <p:nvSpPr>
          <p:cNvPr id="18" name="Shape 16"/>
          <p:cNvSpPr/>
          <p:nvPr/>
        </p:nvSpPr>
        <p:spPr>
          <a:xfrm>
            <a:off x="9770764" y="1344168"/>
            <a:ext cx="1668380" cy="292608"/>
          </a:xfrm>
          <a:prstGeom prst="rect">
            <a:avLst/>
          </a:prstGeom>
          <a:solidFill>
            <a:srgbClr val="C2352F"/>
          </a:solidFill>
          <a:ln w="6350">
            <a:solidFill>
              <a:srgbClr val="FFFFFF"/>
            </a:solidFill>
            <a:prstDash val="solid"/>
          </a:ln>
        </p:spPr>
      </p:sp>
      <p:sp>
        <p:nvSpPr>
          <p:cNvPr id="19" name="Text 17"/>
          <p:cNvSpPr txBox="1"/>
          <p:nvPr/>
        </p:nvSpPr>
        <p:spPr>
          <a:xfrm>
            <a:off x="9770764" y="1344168"/>
            <a:ext cx="1668380"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45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807208" y="1857717"/>
            <a:ext cx="2366010" cy="183138"/>
          </a:xfrm>
          <a:prstGeom prst="rect">
            <a:avLst/>
          </a:prstGeom>
          <a:solidFill>
            <a:srgbClr val="12A566"/>
          </a:solidFill>
          <a:ln w="6350">
            <a:solidFill>
              <a:srgbClr val="FFFFFF"/>
            </a:solidFill>
            <a:prstDash val="solid"/>
          </a:ln>
        </p:spPr>
      </p:sp>
      <p:sp>
        <p:nvSpPr>
          <p:cNvPr id="22" name="Text 20"/>
          <p:cNvSpPr txBox="1"/>
          <p:nvPr/>
        </p:nvSpPr>
        <p:spPr>
          <a:xfrm>
            <a:off x="2807208" y="1857717"/>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3" name="Shape 21"/>
          <p:cNvSpPr/>
          <p:nvPr/>
        </p:nvSpPr>
        <p:spPr>
          <a:xfrm>
            <a:off x="5173218" y="1857717"/>
            <a:ext cx="914" cy="183138"/>
          </a:xfrm>
          <a:prstGeom prst="rect">
            <a:avLst/>
          </a:prstGeom>
          <a:solidFill>
            <a:srgbClr val="5B9BD5"/>
          </a:solidFill>
          <a:ln w="6350">
            <a:solidFill>
              <a:srgbClr val="FFFFFF"/>
            </a:solidFill>
            <a:prstDash val="solid"/>
          </a:ln>
        </p:spPr>
      </p:sp>
      <p:sp>
        <p:nvSpPr>
          <p:cNvPr id="24" name="Shape 22"/>
          <p:cNvSpPr/>
          <p:nvPr/>
        </p:nvSpPr>
        <p:spPr>
          <a:xfrm>
            <a:off x="5173218" y="1857717"/>
            <a:ext cx="788670" cy="183138"/>
          </a:xfrm>
          <a:prstGeom prst="rect">
            <a:avLst/>
          </a:prstGeom>
          <a:solidFill>
            <a:srgbClr val="C2352F"/>
          </a:solidFill>
          <a:ln w="6350">
            <a:solidFill>
              <a:srgbClr val="FFFFFF"/>
            </a:solidFill>
            <a:prstDash val="solid"/>
          </a:ln>
        </p:spPr>
      </p:sp>
      <p:sp>
        <p:nvSpPr>
          <p:cNvPr id="25" name="Text 23"/>
          <p:cNvSpPr txBox="1"/>
          <p:nvPr/>
        </p:nvSpPr>
        <p:spPr>
          <a:xfrm>
            <a:off x="5173218" y="1857717"/>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807208" y="2098688"/>
            <a:ext cx="2103120" cy="183138"/>
          </a:xfrm>
          <a:prstGeom prst="rect">
            <a:avLst/>
          </a:prstGeom>
          <a:solidFill>
            <a:srgbClr val="12A566"/>
          </a:solidFill>
          <a:ln w="6350">
            <a:solidFill>
              <a:srgbClr val="FFFFFF"/>
            </a:solidFill>
            <a:prstDash val="solid"/>
          </a:ln>
        </p:spPr>
      </p:sp>
      <p:sp>
        <p:nvSpPr>
          <p:cNvPr id="28" name="Text 26"/>
          <p:cNvSpPr txBox="1"/>
          <p:nvPr/>
        </p:nvSpPr>
        <p:spPr>
          <a:xfrm>
            <a:off x="2807208" y="2098688"/>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29" name="Shape 27"/>
          <p:cNvSpPr/>
          <p:nvPr/>
        </p:nvSpPr>
        <p:spPr>
          <a:xfrm>
            <a:off x="4910328" y="2098688"/>
            <a:ext cx="630936" cy="183138"/>
          </a:xfrm>
          <a:prstGeom prst="rect">
            <a:avLst/>
          </a:prstGeom>
          <a:solidFill>
            <a:srgbClr val="5B9BD5"/>
          </a:solidFill>
          <a:ln w="6350">
            <a:solidFill>
              <a:srgbClr val="FFFFFF"/>
            </a:solidFill>
            <a:prstDash val="solid"/>
          </a:ln>
        </p:spPr>
      </p:sp>
      <p:sp>
        <p:nvSpPr>
          <p:cNvPr id="30" name="Text 28"/>
          <p:cNvSpPr txBox="1"/>
          <p:nvPr/>
        </p:nvSpPr>
        <p:spPr>
          <a:xfrm>
            <a:off x="4910328" y="2098688"/>
            <a:ext cx="6309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20</a:t>
            </a:r>
            <a:endParaRPr lang="en-US" sz="1300" dirty="0"/>
          </a:p>
        </p:txBody>
      </p:sp>
      <p:sp>
        <p:nvSpPr>
          <p:cNvPr id="31" name="Shape 29"/>
          <p:cNvSpPr/>
          <p:nvPr/>
        </p:nvSpPr>
        <p:spPr>
          <a:xfrm>
            <a:off x="5541264" y="2098688"/>
            <a:ext cx="420624" cy="183138"/>
          </a:xfrm>
          <a:prstGeom prst="rect">
            <a:avLst/>
          </a:prstGeom>
          <a:solidFill>
            <a:srgbClr val="C2352F"/>
          </a:solidFill>
          <a:ln w="6350">
            <a:solidFill>
              <a:srgbClr val="FFFFFF"/>
            </a:solidFill>
            <a:prstDash val="solid"/>
          </a:ln>
        </p:spPr>
      </p:sp>
      <p:sp>
        <p:nvSpPr>
          <p:cNvPr id="32" name="Text 30"/>
          <p:cNvSpPr txBox="1"/>
          <p:nvPr/>
        </p:nvSpPr>
        <p:spPr>
          <a:xfrm>
            <a:off x="5541264" y="2098688"/>
            <a:ext cx="4206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4" name="Shape 32"/>
          <p:cNvSpPr/>
          <p:nvPr/>
        </p:nvSpPr>
        <p:spPr>
          <a:xfrm>
            <a:off x="2807208" y="2339659"/>
            <a:ext cx="1892808" cy="183138"/>
          </a:xfrm>
          <a:prstGeom prst="rect">
            <a:avLst/>
          </a:prstGeom>
          <a:solidFill>
            <a:srgbClr val="12A566"/>
          </a:solidFill>
          <a:ln w="6350">
            <a:solidFill>
              <a:srgbClr val="FFFFFF"/>
            </a:solidFill>
            <a:prstDash val="solid"/>
          </a:ln>
        </p:spPr>
      </p:sp>
      <p:sp>
        <p:nvSpPr>
          <p:cNvPr id="35" name="Text 33"/>
          <p:cNvSpPr txBox="1"/>
          <p:nvPr/>
        </p:nvSpPr>
        <p:spPr>
          <a:xfrm>
            <a:off x="2807208" y="2339659"/>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36" name="Shape 34"/>
          <p:cNvSpPr/>
          <p:nvPr/>
        </p:nvSpPr>
        <p:spPr>
          <a:xfrm>
            <a:off x="4700016" y="2339659"/>
            <a:ext cx="914" cy="183138"/>
          </a:xfrm>
          <a:prstGeom prst="rect">
            <a:avLst/>
          </a:prstGeom>
          <a:solidFill>
            <a:srgbClr val="5B9BD5"/>
          </a:solidFill>
          <a:ln w="6350">
            <a:solidFill>
              <a:srgbClr val="FFFFFF"/>
            </a:solidFill>
            <a:prstDash val="solid"/>
          </a:ln>
        </p:spPr>
      </p:sp>
      <p:sp>
        <p:nvSpPr>
          <p:cNvPr id="37" name="Shape 35"/>
          <p:cNvSpPr/>
          <p:nvPr/>
        </p:nvSpPr>
        <p:spPr>
          <a:xfrm>
            <a:off x="4700016" y="2339659"/>
            <a:ext cx="1261872" cy="183138"/>
          </a:xfrm>
          <a:prstGeom prst="rect">
            <a:avLst/>
          </a:prstGeom>
          <a:solidFill>
            <a:srgbClr val="C2352F"/>
          </a:solidFill>
          <a:ln w="6350">
            <a:solidFill>
              <a:srgbClr val="FFFFFF"/>
            </a:solidFill>
            <a:prstDash val="solid"/>
          </a:ln>
        </p:spPr>
      </p:sp>
      <p:sp>
        <p:nvSpPr>
          <p:cNvPr id="38" name="Text 36"/>
          <p:cNvSpPr txBox="1"/>
          <p:nvPr/>
        </p:nvSpPr>
        <p:spPr>
          <a:xfrm>
            <a:off x="4700016" y="2339659"/>
            <a:ext cx="126187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39" name="Text 37"/>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807208" y="2580630"/>
            <a:ext cx="1802674" cy="183138"/>
          </a:xfrm>
          <a:prstGeom prst="rect">
            <a:avLst/>
          </a:prstGeom>
          <a:solidFill>
            <a:srgbClr val="12A566"/>
          </a:solidFill>
          <a:ln w="6350">
            <a:solidFill>
              <a:srgbClr val="FFFFFF"/>
            </a:solidFill>
            <a:prstDash val="solid"/>
          </a:ln>
        </p:spPr>
      </p:sp>
      <p:sp>
        <p:nvSpPr>
          <p:cNvPr id="41" name="Text 39"/>
          <p:cNvSpPr txBox="1"/>
          <p:nvPr/>
        </p:nvSpPr>
        <p:spPr>
          <a:xfrm>
            <a:off x="2807208" y="2580630"/>
            <a:ext cx="18026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42" name="Shape 40"/>
          <p:cNvSpPr/>
          <p:nvPr/>
        </p:nvSpPr>
        <p:spPr>
          <a:xfrm>
            <a:off x="4609882" y="2580630"/>
            <a:ext cx="788670" cy="183138"/>
          </a:xfrm>
          <a:prstGeom prst="rect">
            <a:avLst/>
          </a:prstGeom>
          <a:solidFill>
            <a:srgbClr val="5B9BD5"/>
          </a:solidFill>
          <a:ln w="6350">
            <a:solidFill>
              <a:srgbClr val="FFFFFF"/>
            </a:solidFill>
            <a:prstDash val="solid"/>
          </a:ln>
        </p:spPr>
      </p:sp>
      <p:sp>
        <p:nvSpPr>
          <p:cNvPr id="43" name="Text 41"/>
          <p:cNvSpPr txBox="1"/>
          <p:nvPr/>
        </p:nvSpPr>
        <p:spPr>
          <a:xfrm>
            <a:off x="4609882" y="2580630"/>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44" name="Shape 42"/>
          <p:cNvSpPr/>
          <p:nvPr/>
        </p:nvSpPr>
        <p:spPr>
          <a:xfrm>
            <a:off x="5398552" y="2580630"/>
            <a:ext cx="563336" cy="183138"/>
          </a:xfrm>
          <a:prstGeom prst="rect">
            <a:avLst/>
          </a:prstGeom>
          <a:solidFill>
            <a:srgbClr val="C2352F"/>
          </a:solidFill>
          <a:ln w="6350">
            <a:solidFill>
              <a:srgbClr val="FFFFFF"/>
            </a:solidFill>
            <a:prstDash val="solid"/>
          </a:ln>
        </p:spPr>
      </p:sp>
      <p:sp>
        <p:nvSpPr>
          <p:cNvPr id="45" name="Text 43"/>
          <p:cNvSpPr txBox="1"/>
          <p:nvPr/>
        </p:nvSpPr>
        <p:spPr>
          <a:xfrm>
            <a:off x="5398552" y="2580630"/>
            <a:ext cx="5633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46" name="Text 44"/>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47" name="Shape 45"/>
          <p:cNvSpPr/>
          <p:nvPr/>
        </p:nvSpPr>
        <p:spPr>
          <a:xfrm>
            <a:off x="2807208" y="2821602"/>
            <a:ext cx="1690007" cy="183138"/>
          </a:xfrm>
          <a:prstGeom prst="rect">
            <a:avLst/>
          </a:prstGeom>
          <a:solidFill>
            <a:srgbClr val="12A566"/>
          </a:solidFill>
          <a:ln w="6350">
            <a:solidFill>
              <a:srgbClr val="FFFFFF"/>
            </a:solidFill>
            <a:prstDash val="solid"/>
          </a:ln>
        </p:spPr>
      </p:sp>
      <p:sp>
        <p:nvSpPr>
          <p:cNvPr id="48" name="Text 46"/>
          <p:cNvSpPr txBox="1"/>
          <p:nvPr/>
        </p:nvSpPr>
        <p:spPr>
          <a:xfrm>
            <a:off x="2807208" y="2821602"/>
            <a:ext cx="16900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54</a:t>
            </a:r>
            <a:endParaRPr lang="en-US" sz="1300" dirty="0"/>
          </a:p>
        </p:txBody>
      </p:sp>
      <p:sp>
        <p:nvSpPr>
          <p:cNvPr id="49" name="Shape 47"/>
          <p:cNvSpPr/>
          <p:nvPr/>
        </p:nvSpPr>
        <p:spPr>
          <a:xfrm>
            <a:off x="4497215" y="2821602"/>
            <a:ext cx="1014004" cy="183138"/>
          </a:xfrm>
          <a:prstGeom prst="rect">
            <a:avLst/>
          </a:prstGeom>
          <a:solidFill>
            <a:srgbClr val="5B9BD5"/>
          </a:solidFill>
          <a:ln w="6350">
            <a:solidFill>
              <a:srgbClr val="FFFFFF"/>
            </a:solidFill>
            <a:prstDash val="solid"/>
          </a:ln>
        </p:spPr>
      </p:sp>
      <p:sp>
        <p:nvSpPr>
          <p:cNvPr id="50" name="Text 48"/>
          <p:cNvSpPr txBox="1"/>
          <p:nvPr/>
        </p:nvSpPr>
        <p:spPr>
          <a:xfrm>
            <a:off x="4497215" y="2821602"/>
            <a:ext cx="10140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51" name="Shape 49"/>
          <p:cNvSpPr/>
          <p:nvPr/>
        </p:nvSpPr>
        <p:spPr>
          <a:xfrm>
            <a:off x="5511219" y="2821602"/>
            <a:ext cx="450669" cy="183138"/>
          </a:xfrm>
          <a:prstGeom prst="rect">
            <a:avLst/>
          </a:prstGeom>
          <a:solidFill>
            <a:srgbClr val="C2352F"/>
          </a:solidFill>
          <a:ln w="6350">
            <a:solidFill>
              <a:srgbClr val="FFFFFF"/>
            </a:solidFill>
            <a:prstDash val="solid"/>
          </a:ln>
        </p:spPr>
      </p:sp>
      <p:sp>
        <p:nvSpPr>
          <p:cNvPr id="52" name="Text 50"/>
          <p:cNvSpPr txBox="1"/>
          <p:nvPr/>
        </p:nvSpPr>
        <p:spPr>
          <a:xfrm>
            <a:off x="5511219" y="2821602"/>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53" name="Text 51"/>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4" name="Shape 52"/>
          <p:cNvSpPr/>
          <p:nvPr/>
        </p:nvSpPr>
        <p:spPr>
          <a:xfrm>
            <a:off x="2807208" y="3062573"/>
            <a:ext cx="1577340" cy="183138"/>
          </a:xfrm>
          <a:prstGeom prst="rect">
            <a:avLst/>
          </a:prstGeom>
          <a:solidFill>
            <a:srgbClr val="12A566"/>
          </a:solidFill>
          <a:ln w="6350">
            <a:solidFill>
              <a:srgbClr val="FFFFFF"/>
            </a:solidFill>
            <a:prstDash val="solid"/>
          </a:ln>
        </p:spPr>
      </p:sp>
      <p:sp>
        <p:nvSpPr>
          <p:cNvPr id="55" name="Text 53"/>
          <p:cNvSpPr txBox="1"/>
          <p:nvPr/>
        </p:nvSpPr>
        <p:spPr>
          <a:xfrm>
            <a:off x="280720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6" name="Shape 54"/>
          <p:cNvSpPr/>
          <p:nvPr/>
        </p:nvSpPr>
        <p:spPr>
          <a:xfrm>
            <a:off x="4384548" y="3062573"/>
            <a:ext cx="914" cy="183138"/>
          </a:xfrm>
          <a:prstGeom prst="rect">
            <a:avLst/>
          </a:prstGeom>
          <a:solidFill>
            <a:srgbClr val="5B9BD5"/>
          </a:solidFill>
          <a:ln w="6350">
            <a:solidFill>
              <a:srgbClr val="FFFFFF"/>
            </a:solidFill>
            <a:prstDash val="solid"/>
          </a:ln>
        </p:spPr>
      </p:sp>
      <p:sp>
        <p:nvSpPr>
          <p:cNvPr id="57" name="Shape 55"/>
          <p:cNvSpPr/>
          <p:nvPr/>
        </p:nvSpPr>
        <p:spPr>
          <a:xfrm>
            <a:off x="4384548" y="3062573"/>
            <a:ext cx="1577340" cy="183138"/>
          </a:xfrm>
          <a:prstGeom prst="rect">
            <a:avLst/>
          </a:prstGeom>
          <a:solidFill>
            <a:srgbClr val="C2352F"/>
          </a:solidFill>
          <a:ln w="6350">
            <a:solidFill>
              <a:srgbClr val="FFFFFF"/>
            </a:solidFill>
            <a:prstDash val="solid"/>
          </a:ln>
        </p:spPr>
      </p:sp>
      <p:sp>
        <p:nvSpPr>
          <p:cNvPr id="58" name="Text 56"/>
          <p:cNvSpPr txBox="1"/>
          <p:nvPr/>
        </p:nvSpPr>
        <p:spPr>
          <a:xfrm>
            <a:off x="438454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9" name="Text 57"/>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0" name="Shape 58"/>
          <p:cNvSpPr/>
          <p:nvPr/>
        </p:nvSpPr>
        <p:spPr>
          <a:xfrm>
            <a:off x="2807208" y="3303544"/>
            <a:ext cx="1433945" cy="183138"/>
          </a:xfrm>
          <a:prstGeom prst="rect">
            <a:avLst/>
          </a:prstGeom>
          <a:solidFill>
            <a:srgbClr val="12A566"/>
          </a:solidFill>
          <a:ln w="6350">
            <a:solidFill>
              <a:srgbClr val="FFFFFF"/>
            </a:solidFill>
            <a:prstDash val="solid"/>
          </a:ln>
        </p:spPr>
      </p:sp>
      <p:sp>
        <p:nvSpPr>
          <p:cNvPr id="61" name="Text 59"/>
          <p:cNvSpPr txBox="1"/>
          <p:nvPr/>
        </p:nvSpPr>
        <p:spPr>
          <a:xfrm>
            <a:off x="2807208" y="3303544"/>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2" name="Shape 60"/>
          <p:cNvSpPr/>
          <p:nvPr/>
        </p:nvSpPr>
        <p:spPr>
          <a:xfrm>
            <a:off x="4241153" y="3303544"/>
            <a:ext cx="1147156" cy="183138"/>
          </a:xfrm>
          <a:prstGeom prst="rect">
            <a:avLst/>
          </a:prstGeom>
          <a:solidFill>
            <a:srgbClr val="5B9BD5"/>
          </a:solidFill>
          <a:ln w="6350">
            <a:solidFill>
              <a:srgbClr val="FFFFFF"/>
            </a:solidFill>
            <a:prstDash val="solid"/>
          </a:ln>
        </p:spPr>
      </p:sp>
      <p:sp>
        <p:nvSpPr>
          <p:cNvPr id="63" name="Text 61"/>
          <p:cNvSpPr txBox="1"/>
          <p:nvPr/>
        </p:nvSpPr>
        <p:spPr>
          <a:xfrm>
            <a:off x="4241153" y="3303544"/>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64" name="Shape 62"/>
          <p:cNvSpPr/>
          <p:nvPr/>
        </p:nvSpPr>
        <p:spPr>
          <a:xfrm>
            <a:off x="5388310" y="3303544"/>
            <a:ext cx="573578" cy="183138"/>
          </a:xfrm>
          <a:prstGeom prst="rect">
            <a:avLst/>
          </a:prstGeom>
          <a:solidFill>
            <a:srgbClr val="C2352F"/>
          </a:solidFill>
          <a:ln w="6350">
            <a:solidFill>
              <a:srgbClr val="FFFFFF"/>
            </a:solidFill>
            <a:prstDash val="solid"/>
          </a:ln>
        </p:spPr>
      </p:sp>
      <p:sp>
        <p:nvSpPr>
          <p:cNvPr id="65" name="Text 63"/>
          <p:cNvSpPr txBox="1"/>
          <p:nvPr/>
        </p:nvSpPr>
        <p:spPr>
          <a:xfrm>
            <a:off x="5388310" y="3303544"/>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66" name="Text 64"/>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7" name="Shape 65"/>
          <p:cNvSpPr/>
          <p:nvPr/>
        </p:nvSpPr>
        <p:spPr>
          <a:xfrm>
            <a:off x="2807208" y="3544516"/>
            <a:ext cx="1433945" cy="183138"/>
          </a:xfrm>
          <a:prstGeom prst="rect">
            <a:avLst/>
          </a:prstGeom>
          <a:solidFill>
            <a:srgbClr val="12A566"/>
          </a:solidFill>
          <a:ln w="6350">
            <a:solidFill>
              <a:srgbClr val="FFFFFF"/>
            </a:solidFill>
            <a:prstDash val="solid"/>
          </a:ln>
        </p:spPr>
      </p:sp>
      <p:sp>
        <p:nvSpPr>
          <p:cNvPr id="68" name="Text 66"/>
          <p:cNvSpPr txBox="1"/>
          <p:nvPr/>
        </p:nvSpPr>
        <p:spPr>
          <a:xfrm>
            <a:off x="2807208" y="3544516"/>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9" name="Shape 67"/>
          <p:cNvSpPr/>
          <p:nvPr/>
        </p:nvSpPr>
        <p:spPr>
          <a:xfrm>
            <a:off x="4241153" y="3544516"/>
            <a:ext cx="573578" cy="183138"/>
          </a:xfrm>
          <a:prstGeom prst="rect">
            <a:avLst/>
          </a:prstGeom>
          <a:solidFill>
            <a:srgbClr val="5B9BD5"/>
          </a:solidFill>
          <a:ln w="6350">
            <a:solidFill>
              <a:srgbClr val="FFFFFF"/>
            </a:solidFill>
            <a:prstDash val="solid"/>
          </a:ln>
        </p:spPr>
      </p:sp>
      <p:sp>
        <p:nvSpPr>
          <p:cNvPr id="70" name="Text 68"/>
          <p:cNvSpPr txBox="1"/>
          <p:nvPr/>
        </p:nvSpPr>
        <p:spPr>
          <a:xfrm>
            <a:off x="4241153" y="3544516"/>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71" name="Shape 69"/>
          <p:cNvSpPr/>
          <p:nvPr/>
        </p:nvSpPr>
        <p:spPr>
          <a:xfrm>
            <a:off x="4814732" y="3544516"/>
            <a:ext cx="1147156" cy="183138"/>
          </a:xfrm>
          <a:prstGeom prst="rect">
            <a:avLst/>
          </a:prstGeom>
          <a:solidFill>
            <a:srgbClr val="C2352F"/>
          </a:solidFill>
          <a:ln w="6350">
            <a:solidFill>
              <a:srgbClr val="FFFFFF"/>
            </a:solidFill>
            <a:prstDash val="solid"/>
          </a:ln>
        </p:spPr>
      </p:sp>
      <p:sp>
        <p:nvSpPr>
          <p:cNvPr id="72" name="Text 70"/>
          <p:cNvSpPr txBox="1"/>
          <p:nvPr/>
        </p:nvSpPr>
        <p:spPr>
          <a:xfrm>
            <a:off x="4814732" y="3544516"/>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73" name="Text 71"/>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74" name="Shape 72"/>
          <p:cNvSpPr/>
          <p:nvPr/>
        </p:nvSpPr>
        <p:spPr>
          <a:xfrm>
            <a:off x="2807208" y="3785487"/>
            <a:ext cx="1352006" cy="183138"/>
          </a:xfrm>
          <a:prstGeom prst="rect">
            <a:avLst/>
          </a:prstGeom>
          <a:solidFill>
            <a:srgbClr val="12A566"/>
          </a:solidFill>
          <a:ln w="6350">
            <a:solidFill>
              <a:srgbClr val="FFFFFF"/>
            </a:solidFill>
            <a:prstDash val="solid"/>
          </a:ln>
        </p:spPr>
      </p:sp>
      <p:sp>
        <p:nvSpPr>
          <p:cNvPr id="75" name="Text 73"/>
          <p:cNvSpPr txBox="1"/>
          <p:nvPr/>
        </p:nvSpPr>
        <p:spPr>
          <a:xfrm>
            <a:off x="2807208"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76" name="Shape 74"/>
          <p:cNvSpPr/>
          <p:nvPr/>
        </p:nvSpPr>
        <p:spPr>
          <a:xfrm>
            <a:off x="4159214" y="3785487"/>
            <a:ext cx="450669" cy="183138"/>
          </a:xfrm>
          <a:prstGeom prst="rect">
            <a:avLst/>
          </a:prstGeom>
          <a:solidFill>
            <a:srgbClr val="5B9BD5"/>
          </a:solidFill>
          <a:ln w="6350">
            <a:solidFill>
              <a:srgbClr val="FFFFFF"/>
            </a:solidFill>
            <a:prstDash val="solid"/>
          </a:ln>
        </p:spPr>
      </p:sp>
      <p:sp>
        <p:nvSpPr>
          <p:cNvPr id="77" name="Text 75"/>
          <p:cNvSpPr txBox="1"/>
          <p:nvPr/>
        </p:nvSpPr>
        <p:spPr>
          <a:xfrm>
            <a:off x="4159214" y="3785487"/>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78" name="Shape 76"/>
          <p:cNvSpPr/>
          <p:nvPr/>
        </p:nvSpPr>
        <p:spPr>
          <a:xfrm>
            <a:off x="4609882" y="3785487"/>
            <a:ext cx="1352006" cy="183138"/>
          </a:xfrm>
          <a:prstGeom prst="rect">
            <a:avLst/>
          </a:prstGeom>
          <a:solidFill>
            <a:srgbClr val="C2352F"/>
          </a:solidFill>
          <a:ln w="6350">
            <a:solidFill>
              <a:srgbClr val="FFFFFF"/>
            </a:solidFill>
            <a:prstDash val="solid"/>
          </a:ln>
        </p:spPr>
      </p:sp>
      <p:sp>
        <p:nvSpPr>
          <p:cNvPr id="79" name="Text 77"/>
          <p:cNvSpPr txBox="1"/>
          <p:nvPr/>
        </p:nvSpPr>
        <p:spPr>
          <a:xfrm>
            <a:off x="4609882"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80" name="Text 78"/>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81" name="Shape 79"/>
          <p:cNvSpPr/>
          <p:nvPr/>
        </p:nvSpPr>
        <p:spPr>
          <a:xfrm>
            <a:off x="2807208" y="4026458"/>
            <a:ext cx="1298986" cy="183138"/>
          </a:xfrm>
          <a:prstGeom prst="rect">
            <a:avLst/>
          </a:prstGeom>
          <a:solidFill>
            <a:srgbClr val="12A566"/>
          </a:solidFill>
          <a:ln w="6350">
            <a:solidFill>
              <a:srgbClr val="FFFFFF"/>
            </a:solidFill>
            <a:prstDash val="solid"/>
          </a:ln>
        </p:spPr>
      </p:sp>
      <p:sp>
        <p:nvSpPr>
          <p:cNvPr id="82" name="Text 80"/>
          <p:cNvSpPr txBox="1"/>
          <p:nvPr/>
        </p:nvSpPr>
        <p:spPr>
          <a:xfrm>
            <a:off x="2807208" y="4026458"/>
            <a:ext cx="12989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83" name="Shape 81"/>
          <p:cNvSpPr/>
          <p:nvPr/>
        </p:nvSpPr>
        <p:spPr>
          <a:xfrm>
            <a:off x="4106194" y="4026458"/>
            <a:ext cx="865991" cy="183138"/>
          </a:xfrm>
          <a:prstGeom prst="rect">
            <a:avLst/>
          </a:prstGeom>
          <a:solidFill>
            <a:srgbClr val="5B9BD5"/>
          </a:solidFill>
          <a:ln w="6350">
            <a:solidFill>
              <a:srgbClr val="FFFFFF"/>
            </a:solidFill>
            <a:prstDash val="solid"/>
          </a:ln>
        </p:spPr>
      </p:sp>
      <p:sp>
        <p:nvSpPr>
          <p:cNvPr id="84" name="Text 82"/>
          <p:cNvSpPr txBox="1"/>
          <p:nvPr/>
        </p:nvSpPr>
        <p:spPr>
          <a:xfrm>
            <a:off x="4106194" y="4026458"/>
            <a:ext cx="86599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85" name="Shape 83"/>
          <p:cNvSpPr/>
          <p:nvPr/>
        </p:nvSpPr>
        <p:spPr>
          <a:xfrm>
            <a:off x="4972184" y="4026458"/>
            <a:ext cx="989704" cy="183138"/>
          </a:xfrm>
          <a:prstGeom prst="rect">
            <a:avLst/>
          </a:prstGeom>
          <a:solidFill>
            <a:srgbClr val="C2352F"/>
          </a:solidFill>
          <a:ln w="6350">
            <a:solidFill>
              <a:srgbClr val="FFFFFF"/>
            </a:solidFill>
            <a:prstDash val="solid"/>
          </a:ln>
        </p:spPr>
      </p:sp>
      <p:sp>
        <p:nvSpPr>
          <p:cNvPr id="86" name="Text 84"/>
          <p:cNvSpPr txBox="1"/>
          <p:nvPr/>
        </p:nvSpPr>
        <p:spPr>
          <a:xfrm>
            <a:off x="4972184" y="4026458"/>
            <a:ext cx="9897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87" name="Text 85"/>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8" name="Shape 86"/>
          <p:cNvSpPr/>
          <p:nvPr/>
        </p:nvSpPr>
        <p:spPr>
          <a:xfrm>
            <a:off x="2807208" y="4267429"/>
            <a:ext cx="1226820" cy="183138"/>
          </a:xfrm>
          <a:prstGeom prst="rect">
            <a:avLst/>
          </a:prstGeom>
          <a:solidFill>
            <a:srgbClr val="12A566"/>
          </a:solidFill>
          <a:ln w="6350">
            <a:solidFill>
              <a:srgbClr val="FFFFFF"/>
            </a:solidFill>
            <a:prstDash val="solid"/>
          </a:ln>
        </p:spPr>
      </p:sp>
      <p:sp>
        <p:nvSpPr>
          <p:cNvPr id="89" name="Text 87"/>
          <p:cNvSpPr txBox="1"/>
          <p:nvPr/>
        </p:nvSpPr>
        <p:spPr>
          <a:xfrm>
            <a:off x="2807208" y="4267429"/>
            <a:ext cx="12268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90" name="Shape 88"/>
          <p:cNvSpPr/>
          <p:nvPr/>
        </p:nvSpPr>
        <p:spPr>
          <a:xfrm>
            <a:off x="4034028" y="4267429"/>
            <a:ext cx="876300" cy="183138"/>
          </a:xfrm>
          <a:prstGeom prst="rect">
            <a:avLst/>
          </a:prstGeom>
          <a:solidFill>
            <a:srgbClr val="5B9BD5"/>
          </a:solidFill>
          <a:ln w="6350">
            <a:solidFill>
              <a:srgbClr val="FFFFFF"/>
            </a:solidFill>
            <a:prstDash val="solid"/>
          </a:ln>
        </p:spPr>
      </p:sp>
      <p:sp>
        <p:nvSpPr>
          <p:cNvPr id="91" name="Text 89"/>
          <p:cNvSpPr txBox="1"/>
          <p:nvPr/>
        </p:nvSpPr>
        <p:spPr>
          <a:xfrm>
            <a:off x="4034028" y="4267429"/>
            <a:ext cx="8763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92" name="Shape 90"/>
          <p:cNvSpPr/>
          <p:nvPr/>
        </p:nvSpPr>
        <p:spPr>
          <a:xfrm>
            <a:off x="4910328" y="4267429"/>
            <a:ext cx="1051560" cy="183138"/>
          </a:xfrm>
          <a:prstGeom prst="rect">
            <a:avLst/>
          </a:prstGeom>
          <a:solidFill>
            <a:srgbClr val="C2352F"/>
          </a:solidFill>
          <a:ln w="6350">
            <a:solidFill>
              <a:srgbClr val="FFFFFF"/>
            </a:solidFill>
            <a:prstDash val="solid"/>
          </a:ln>
        </p:spPr>
      </p:sp>
      <p:sp>
        <p:nvSpPr>
          <p:cNvPr id="93" name="Text 91"/>
          <p:cNvSpPr txBox="1"/>
          <p:nvPr/>
        </p:nvSpPr>
        <p:spPr>
          <a:xfrm>
            <a:off x="4910328" y="4267429"/>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94" name="Text 92"/>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95" name="Shape 93"/>
          <p:cNvSpPr/>
          <p:nvPr/>
        </p:nvSpPr>
        <p:spPr>
          <a:xfrm>
            <a:off x="2807208" y="4508401"/>
            <a:ext cx="1176321" cy="183138"/>
          </a:xfrm>
          <a:prstGeom prst="rect">
            <a:avLst/>
          </a:prstGeom>
          <a:solidFill>
            <a:srgbClr val="12A566"/>
          </a:solidFill>
          <a:ln w="6350">
            <a:solidFill>
              <a:srgbClr val="FFFFFF"/>
            </a:solidFill>
            <a:prstDash val="solid"/>
          </a:ln>
        </p:spPr>
      </p:sp>
      <p:sp>
        <p:nvSpPr>
          <p:cNvPr id="96" name="Text 94"/>
          <p:cNvSpPr txBox="1"/>
          <p:nvPr/>
        </p:nvSpPr>
        <p:spPr>
          <a:xfrm>
            <a:off x="2807208" y="4508401"/>
            <a:ext cx="117632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97" name="Shape 95"/>
          <p:cNvSpPr/>
          <p:nvPr/>
        </p:nvSpPr>
        <p:spPr>
          <a:xfrm>
            <a:off x="3983529" y="4508401"/>
            <a:ext cx="908976" cy="183138"/>
          </a:xfrm>
          <a:prstGeom prst="rect">
            <a:avLst/>
          </a:prstGeom>
          <a:solidFill>
            <a:srgbClr val="5B9BD5"/>
          </a:solidFill>
          <a:ln w="6350">
            <a:solidFill>
              <a:srgbClr val="FFFFFF"/>
            </a:solidFill>
            <a:prstDash val="solid"/>
          </a:ln>
        </p:spPr>
      </p:sp>
      <p:sp>
        <p:nvSpPr>
          <p:cNvPr id="98" name="Text 96"/>
          <p:cNvSpPr txBox="1"/>
          <p:nvPr/>
        </p:nvSpPr>
        <p:spPr>
          <a:xfrm>
            <a:off x="3983529" y="4508401"/>
            <a:ext cx="90897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99" name="Shape 97"/>
          <p:cNvSpPr/>
          <p:nvPr/>
        </p:nvSpPr>
        <p:spPr>
          <a:xfrm>
            <a:off x="4892505" y="4508401"/>
            <a:ext cx="1069383" cy="183138"/>
          </a:xfrm>
          <a:prstGeom prst="rect">
            <a:avLst/>
          </a:prstGeom>
          <a:solidFill>
            <a:srgbClr val="C2352F"/>
          </a:solidFill>
          <a:ln w="6350">
            <a:solidFill>
              <a:srgbClr val="FFFFFF"/>
            </a:solidFill>
            <a:prstDash val="solid"/>
          </a:ln>
        </p:spPr>
      </p:sp>
      <p:sp>
        <p:nvSpPr>
          <p:cNvPr id="100" name="Text 98"/>
          <p:cNvSpPr txBox="1"/>
          <p:nvPr/>
        </p:nvSpPr>
        <p:spPr>
          <a:xfrm>
            <a:off x="4892505" y="4508401"/>
            <a:ext cx="10693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2" name="Shape 100"/>
          <p:cNvSpPr/>
          <p:nvPr/>
        </p:nvSpPr>
        <p:spPr>
          <a:xfrm>
            <a:off x="2807208" y="4749372"/>
            <a:ext cx="1147156" cy="183138"/>
          </a:xfrm>
          <a:prstGeom prst="rect">
            <a:avLst/>
          </a:prstGeom>
          <a:solidFill>
            <a:srgbClr val="12A566"/>
          </a:solidFill>
          <a:ln w="6350">
            <a:solidFill>
              <a:srgbClr val="FFFFFF"/>
            </a:solidFill>
            <a:prstDash val="solid"/>
          </a:ln>
        </p:spPr>
      </p:sp>
      <p:sp>
        <p:nvSpPr>
          <p:cNvPr id="103" name="Text 101"/>
          <p:cNvSpPr txBox="1"/>
          <p:nvPr/>
        </p:nvSpPr>
        <p:spPr>
          <a:xfrm>
            <a:off x="2807208" y="4749372"/>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04" name="Shape 102"/>
          <p:cNvSpPr/>
          <p:nvPr/>
        </p:nvSpPr>
        <p:spPr>
          <a:xfrm>
            <a:off x="3954364" y="4749372"/>
            <a:ext cx="286789" cy="183138"/>
          </a:xfrm>
          <a:prstGeom prst="rect">
            <a:avLst/>
          </a:prstGeom>
          <a:solidFill>
            <a:srgbClr val="5B9BD5"/>
          </a:solidFill>
          <a:ln w="6350">
            <a:solidFill>
              <a:srgbClr val="FFFFFF"/>
            </a:solidFill>
            <a:prstDash val="solid"/>
          </a:ln>
        </p:spPr>
      </p:sp>
      <p:sp>
        <p:nvSpPr>
          <p:cNvPr id="105" name="Text 103"/>
          <p:cNvSpPr txBox="1"/>
          <p:nvPr/>
        </p:nvSpPr>
        <p:spPr>
          <a:xfrm>
            <a:off x="3954364" y="4749372"/>
            <a:ext cx="28678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9</a:t>
            </a:r>
            <a:endParaRPr lang="en-US" sz="1300" dirty="0"/>
          </a:p>
        </p:txBody>
      </p:sp>
      <p:sp>
        <p:nvSpPr>
          <p:cNvPr id="106" name="Shape 104"/>
          <p:cNvSpPr/>
          <p:nvPr/>
        </p:nvSpPr>
        <p:spPr>
          <a:xfrm>
            <a:off x="4241153" y="4749372"/>
            <a:ext cx="1720735" cy="183138"/>
          </a:xfrm>
          <a:prstGeom prst="rect">
            <a:avLst/>
          </a:prstGeom>
          <a:solidFill>
            <a:srgbClr val="C2352F"/>
          </a:solidFill>
          <a:ln w="6350">
            <a:solidFill>
              <a:srgbClr val="FFFFFF"/>
            </a:solidFill>
            <a:prstDash val="solid"/>
          </a:ln>
        </p:spPr>
      </p:sp>
      <p:sp>
        <p:nvSpPr>
          <p:cNvPr id="107" name="Text 105"/>
          <p:cNvSpPr txBox="1"/>
          <p:nvPr/>
        </p:nvSpPr>
        <p:spPr>
          <a:xfrm>
            <a:off x="4241153" y="4749372"/>
            <a:ext cx="1720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9" name="Shape 107"/>
          <p:cNvSpPr/>
          <p:nvPr/>
        </p:nvSpPr>
        <p:spPr>
          <a:xfrm>
            <a:off x="2807208" y="4990343"/>
            <a:ext cx="1147156" cy="183138"/>
          </a:xfrm>
          <a:prstGeom prst="rect">
            <a:avLst/>
          </a:prstGeom>
          <a:solidFill>
            <a:srgbClr val="12A566"/>
          </a:solidFill>
          <a:ln w="6350">
            <a:solidFill>
              <a:srgbClr val="FFFFFF"/>
            </a:solidFill>
            <a:prstDash val="solid"/>
          </a:ln>
        </p:spPr>
      </p:sp>
      <p:sp>
        <p:nvSpPr>
          <p:cNvPr id="110" name="Text 108"/>
          <p:cNvSpPr txBox="1"/>
          <p:nvPr/>
        </p:nvSpPr>
        <p:spPr>
          <a:xfrm>
            <a:off x="2807208" y="4990343"/>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11" name="Shape 109"/>
          <p:cNvSpPr/>
          <p:nvPr/>
        </p:nvSpPr>
        <p:spPr>
          <a:xfrm>
            <a:off x="3954364" y="4990343"/>
            <a:ext cx="573578" cy="183138"/>
          </a:xfrm>
          <a:prstGeom prst="rect">
            <a:avLst/>
          </a:prstGeom>
          <a:solidFill>
            <a:srgbClr val="5B9BD5"/>
          </a:solidFill>
          <a:ln w="6350">
            <a:solidFill>
              <a:srgbClr val="FFFFFF"/>
            </a:solidFill>
            <a:prstDash val="solid"/>
          </a:ln>
        </p:spPr>
      </p:sp>
      <p:sp>
        <p:nvSpPr>
          <p:cNvPr id="112" name="Text 110"/>
          <p:cNvSpPr txBox="1"/>
          <p:nvPr/>
        </p:nvSpPr>
        <p:spPr>
          <a:xfrm>
            <a:off x="3954364" y="4990343"/>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13" name="Shape 111"/>
          <p:cNvSpPr/>
          <p:nvPr/>
        </p:nvSpPr>
        <p:spPr>
          <a:xfrm>
            <a:off x="4527943" y="4990343"/>
            <a:ext cx="1433945" cy="183138"/>
          </a:xfrm>
          <a:prstGeom prst="rect">
            <a:avLst/>
          </a:prstGeom>
          <a:solidFill>
            <a:srgbClr val="C2352F"/>
          </a:solidFill>
          <a:ln w="6350">
            <a:solidFill>
              <a:srgbClr val="FFFFFF"/>
            </a:solidFill>
            <a:prstDash val="solid"/>
          </a:ln>
        </p:spPr>
      </p:sp>
      <p:sp>
        <p:nvSpPr>
          <p:cNvPr id="114" name="Text 112"/>
          <p:cNvSpPr txBox="1"/>
          <p:nvPr/>
        </p:nvSpPr>
        <p:spPr>
          <a:xfrm>
            <a:off x="4527943" y="4990343"/>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6" name="Shape 114"/>
          <p:cNvSpPr/>
          <p:nvPr/>
        </p:nvSpPr>
        <p:spPr>
          <a:xfrm>
            <a:off x="2807208" y="5231315"/>
            <a:ext cx="1051560" cy="183138"/>
          </a:xfrm>
          <a:prstGeom prst="rect">
            <a:avLst/>
          </a:prstGeom>
          <a:solidFill>
            <a:srgbClr val="12A566"/>
          </a:solidFill>
          <a:ln w="6350">
            <a:solidFill>
              <a:srgbClr val="FFFFFF"/>
            </a:solidFill>
            <a:prstDash val="solid"/>
          </a:ln>
        </p:spPr>
      </p:sp>
      <p:sp>
        <p:nvSpPr>
          <p:cNvPr id="117" name="Text 115"/>
          <p:cNvSpPr txBox="1"/>
          <p:nvPr/>
        </p:nvSpPr>
        <p:spPr>
          <a:xfrm>
            <a:off x="2807208" y="5231315"/>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18" name="Shape 116"/>
          <p:cNvSpPr/>
          <p:nvPr/>
        </p:nvSpPr>
        <p:spPr>
          <a:xfrm>
            <a:off x="3858768" y="5231315"/>
            <a:ext cx="914" cy="183138"/>
          </a:xfrm>
          <a:prstGeom prst="rect">
            <a:avLst/>
          </a:prstGeom>
          <a:solidFill>
            <a:srgbClr val="5B9BD5"/>
          </a:solidFill>
          <a:ln w="6350">
            <a:solidFill>
              <a:srgbClr val="FFFFFF"/>
            </a:solidFill>
            <a:prstDash val="solid"/>
          </a:ln>
        </p:spPr>
      </p:sp>
      <p:sp>
        <p:nvSpPr>
          <p:cNvPr id="119" name="Shape 117"/>
          <p:cNvSpPr/>
          <p:nvPr/>
        </p:nvSpPr>
        <p:spPr>
          <a:xfrm>
            <a:off x="3858768" y="5231315"/>
            <a:ext cx="2103120" cy="183138"/>
          </a:xfrm>
          <a:prstGeom prst="rect">
            <a:avLst/>
          </a:prstGeom>
          <a:solidFill>
            <a:srgbClr val="C2352F"/>
          </a:solidFill>
          <a:ln w="6350">
            <a:solidFill>
              <a:srgbClr val="FFFFFF"/>
            </a:solidFill>
            <a:prstDash val="solid"/>
          </a:ln>
        </p:spPr>
      </p:sp>
      <p:sp>
        <p:nvSpPr>
          <p:cNvPr id="120" name="Text 118"/>
          <p:cNvSpPr txBox="1"/>
          <p:nvPr/>
        </p:nvSpPr>
        <p:spPr>
          <a:xfrm>
            <a:off x="3858768" y="5231315"/>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21" name="Text 119"/>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22" name="Shape 120"/>
          <p:cNvSpPr/>
          <p:nvPr/>
        </p:nvSpPr>
        <p:spPr>
          <a:xfrm>
            <a:off x="2807208" y="5472286"/>
            <a:ext cx="1051560" cy="183138"/>
          </a:xfrm>
          <a:prstGeom prst="rect">
            <a:avLst/>
          </a:prstGeom>
          <a:solidFill>
            <a:srgbClr val="12A566"/>
          </a:solidFill>
          <a:ln w="6350">
            <a:solidFill>
              <a:srgbClr val="FFFFFF"/>
            </a:solidFill>
            <a:prstDash val="solid"/>
          </a:ln>
        </p:spPr>
      </p:sp>
      <p:sp>
        <p:nvSpPr>
          <p:cNvPr id="123" name="Text 121"/>
          <p:cNvSpPr txBox="1"/>
          <p:nvPr/>
        </p:nvSpPr>
        <p:spPr>
          <a:xfrm>
            <a:off x="2807208" y="547228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24" name="Shape 122"/>
          <p:cNvSpPr/>
          <p:nvPr/>
        </p:nvSpPr>
        <p:spPr>
          <a:xfrm>
            <a:off x="3858768" y="5472286"/>
            <a:ext cx="817880" cy="183138"/>
          </a:xfrm>
          <a:prstGeom prst="rect">
            <a:avLst/>
          </a:prstGeom>
          <a:solidFill>
            <a:srgbClr val="5B9BD5"/>
          </a:solidFill>
          <a:ln w="6350">
            <a:solidFill>
              <a:srgbClr val="FFFFFF"/>
            </a:solidFill>
            <a:prstDash val="solid"/>
          </a:ln>
        </p:spPr>
      </p:sp>
      <p:sp>
        <p:nvSpPr>
          <p:cNvPr id="125" name="Text 123"/>
          <p:cNvSpPr txBox="1"/>
          <p:nvPr/>
        </p:nvSpPr>
        <p:spPr>
          <a:xfrm>
            <a:off x="3858768" y="5472286"/>
            <a:ext cx="8178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26" name="Shape 124"/>
          <p:cNvSpPr/>
          <p:nvPr/>
        </p:nvSpPr>
        <p:spPr>
          <a:xfrm>
            <a:off x="4676648" y="5472286"/>
            <a:ext cx="1285240" cy="183138"/>
          </a:xfrm>
          <a:prstGeom prst="rect">
            <a:avLst/>
          </a:prstGeom>
          <a:solidFill>
            <a:srgbClr val="C2352F"/>
          </a:solidFill>
          <a:ln w="6350">
            <a:solidFill>
              <a:srgbClr val="FFFFFF"/>
            </a:solidFill>
            <a:prstDash val="solid"/>
          </a:ln>
        </p:spPr>
      </p:sp>
      <p:sp>
        <p:nvSpPr>
          <p:cNvPr id="127" name="Text 125"/>
          <p:cNvSpPr txBox="1"/>
          <p:nvPr/>
        </p:nvSpPr>
        <p:spPr>
          <a:xfrm>
            <a:off x="4676648" y="5472286"/>
            <a:ext cx="12852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28" name="Text 126"/>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9" name="Shape 127"/>
          <p:cNvSpPr/>
          <p:nvPr/>
        </p:nvSpPr>
        <p:spPr>
          <a:xfrm>
            <a:off x="2807208" y="5713257"/>
            <a:ext cx="996215" cy="183138"/>
          </a:xfrm>
          <a:prstGeom prst="rect">
            <a:avLst/>
          </a:prstGeom>
          <a:solidFill>
            <a:srgbClr val="12A566"/>
          </a:solidFill>
          <a:ln w="6350">
            <a:solidFill>
              <a:srgbClr val="FFFFFF"/>
            </a:solidFill>
            <a:prstDash val="solid"/>
          </a:ln>
        </p:spPr>
      </p:sp>
      <p:sp>
        <p:nvSpPr>
          <p:cNvPr id="130" name="Text 128"/>
          <p:cNvSpPr txBox="1"/>
          <p:nvPr/>
        </p:nvSpPr>
        <p:spPr>
          <a:xfrm>
            <a:off x="2807208"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1" name="Shape 129"/>
          <p:cNvSpPr/>
          <p:nvPr/>
        </p:nvSpPr>
        <p:spPr>
          <a:xfrm>
            <a:off x="3803423" y="5713257"/>
            <a:ext cx="1162251" cy="183138"/>
          </a:xfrm>
          <a:prstGeom prst="rect">
            <a:avLst/>
          </a:prstGeom>
          <a:solidFill>
            <a:srgbClr val="5B9BD5"/>
          </a:solidFill>
          <a:ln w="6350">
            <a:solidFill>
              <a:srgbClr val="FFFFFF"/>
            </a:solidFill>
            <a:prstDash val="solid"/>
          </a:ln>
        </p:spPr>
      </p:sp>
      <p:sp>
        <p:nvSpPr>
          <p:cNvPr id="132" name="Text 130"/>
          <p:cNvSpPr txBox="1"/>
          <p:nvPr/>
        </p:nvSpPr>
        <p:spPr>
          <a:xfrm>
            <a:off x="3803423" y="5713257"/>
            <a:ext cx="11622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133" name="Shape 131"/>
          <p:cNvSpPr/>
          <p:nvPr/>
        </p:nvSpPr>
        <p:spPr>
          <a:xfrm>
            <a:off x="4965673" y="5713257"/>
            <a:ext cx="996215" cy="183138"/>
          </a:xfrm>
          <a:prstGeom prst="rect">
            <a:avLst/>
          </a:prstGeom>
          <a:solidFill>
            <a:srgbClr val="C2352F"/>
          </a:solidFill>
          <a:ln w="6350">
            <a:solidFill>
              <a:srgbClr val="FFFFFF"/>
            </a:solidFill>
            <a:prstDash val="solid"/>
          </a:ln>
        </p:spPr>
      </p:sp>
      <p:sp>
        <p:nvSpPr>
          <p:cNvPr id="134" name="Text 132"/>
          <p:cNvSpPr txBox="1"/>
          <p:nvPr/>
        </p:nvSpPr>
        <p:spPr>
          <a:xfrm>
            <a:off x="4965673"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5" name="Text 133"/>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36" name="Shape 134"/>
          <p:cNvSpPr/>
          <p:nvPr/>
        </p:nvSpPr>
        <p:spPr>
          <a:xfrm>
            <a:off x="8357616" y="1857717"/>
            <a:ext cx="985838" cy="183138"/>
          </a:xfrm>
          <a:prstGeom prst="rect">
            <a:avLst/>
          </a:prstGeom>
          <a:solidFill>
            <a:srgbClr val="12A566"/>
          </a:solidFill>
          <a:ln w="6350">
            <a:solidFill>
              <a:srgbClr val="FFFFFF"/>
            </a:solidFill>
            <a:prstDash val="solid"/>
          </a:ln>
        </p:spPr>
      </p:sp>
      <p:sp>
        <p:nvSpPr>
          <p:cNvPr id="137" name="Text 135"/>
          <p:cNvSpPr txBox="1"/>
          <p:nvPr/>
        </p:nvSpPr>
        <p:spPr>
          <a:xfrm>
            <a:off x="8357616" y="1857717"/>
            <a:ext cx="9858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138" name="Shape 136"/>
          <p:cNvSpPr/>
          <p:nvPr/>
        </p:nvSpPr>
        <p:spPr>
          <a:xfrm>
            <a:off x="9343454" y="1857717"/>
            <a:ext cx="591503" cy="183138"/>
          </a:xfrm>
          <a:prstGeom prst="rect">
            <a:avLst/>
          </a:prstGeom>
          <a:solidFill>
            <a:srgbClr val="5B9BD5"/>
          </a:solidFill>
          <a:ln w="6350">
            <a:solidFill>
              <a:srgbClr val="FFFFFF"/>
            </a:solidFill>
            <a:prstDash val="solid"/>
          </a:ln>
        </p:spPr>
      </p:sp>
      <p:sp>
        <p:nvSpPr>
          <p:cNvPr id="139" name="Text 137"/>
          <p:cNvSpPr txBox="1"/>
          <p:nvPr/>
        </p:nvSpPr>
        <p:spPr>
          <a:xfrm>
            <a:off x="9343454" y="1857717"/>
            <a:ext cx="5915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19</a:t>
            </a:r>
            <a:endParaRPr lang="en-US" sz="1300" dirty="0"/>
          </a:p>
        </p:txBody>
      </p:sp>
      <p:sp>
        <p:nvSpPr>
          <p:cNvPr id="140" name="Shape 138"/>
          <p:cNvSpPr/>
          <p:nvPr/>
        </p:nvSpPr>
        <p:spPr>
          <a:xfrm>
            <a:off x="9934956" y="1857717"/>
            <a:ext cx="1577340" cy="183138"/>
          </a:xfrm>
          <a:prstGeom prst="rect">
            <a:avLst/>
          </a:prstGeom>
          <a:solidFill>
            <a:srgbClr val="C2352F"/>
          </a:solidFill>
          <a:ln w="6350">
            <a:solidFill>
              <a:srgbClr val="FFFFFF"/>
            </a:solidFill>
            <a:prstDash val="solid"/>
          </a:ln>
        </p:spPr>
      </p:sp>
      <p:sp>
        <p:nvSpPr>
          <p:cNvPr id="141" name="Text 139"/>
          <p:cNvSpPr txBox="1"/>
          <p:nvPr/>
        </p:nvSpPr>
        <p:spPr>
          <a:xfrm>
            <a:off x="9934956" y="1857717"/>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42" name="Text 140"/>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357616" y="2098688"/>
            <a:ext cx="901337" cy="183138"/>
          </a:xfrm>
          <a:prstGeom prst="rect">
            <a:avLst/>
          </a:prstGeom>
          <a:solidFill>
            <a:srgbClr val="12A566"/>
          </a:solidFill>
          <a:ln w="6350">
            <a:solidFill>
              <a:srgbClr val="FFFFFF"/>
            </a:solidFill>
            <a:prstDash val="solid"/>
          </a:ln>
        </p:spPr>
      </p:sp>
      <p:sp>
        <p:nvSpPr>
          <p:cNvPr id="144" name="Text 142"/>
          <p:cNvSpPr txBox="1"/>
          <p:nvPr/>
        </p:nvSpPr>
        <p:spPr>
          <a:xfrm>
            <a:off x="8357616" y="2098688"/>
            <a:ext cx="9013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45" name="Shape 143"/>
          <p:cNvSpPr/>
          <p:nvPr/>
        </p:nvSpPr>
        <p:spPr>
          <a:xfrm>
            <a:off x="9258953" y="2098688"/>
            <a:ext cx="225334" cy="183138"/>
          </a:xfrm>
          <a:prstGeom prst="rect">
            <a:avLst/>
          </a:prstGeom>
          <a:solidFill>
            <a:srgbClr val="5B9BD5"/>
          </a:solidFill>
          <a:ln w="6350">
            <a:solidFill>
              <a:srgbClr val="FFFFFF"/>
            </a:solidFill>
            <a:prstDash val="solid"/>
          </a:ln>
        </p:spPr>
      </p:sp>
      <p:sp>
        <p:nvSpPr>
          <p:cNvPr id="146" name="Text 144"/>
          <p:cNvSpPr txBox="1"/>
          <p:nvPr/>
        </p:nvSpPr>
        <p:spPr>
          <a:xfrm>
            <a:off x="9258953" y="2098688"/>
            <a:ext cx="2253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a:t>
            </a:r>
            <a:endParaRPr lang="en-US" sz="1300" dirty="0"/>
          </a:p>
        </p:txBody>
      </p:sp>
      <p:sp>
        <p:nvSpPr>
          <p:cNvPr id="147" name="Shape 145"/>
          <p:cNvSpPr/>
          <p:nvPr/>
        </p:nvSpPr>
        <p:spPr>
          <a:xfrm>
            <a:off x="9484287" y="2098688"/>
            <a:ext cx="2028009" cy="183138"/>
          </a:xfrm>
          <a:prstGeom prst="rect">
            <a:avLst/>
          </a:prstGeom>
          <a:solidFill>
            <a:srgbClr val="C2352F"/>
          </a:solidFill>
          <a:ln w="6350">
            <a:solidFill>
              <a:srgbClr val="FFFFFF"/>
            </a:solidFill>
            <a:prstDash val="solid"/>
          </a:ln>
        </p:spPr>
      </p:sp>
      <p:sp>
        <p:nvSpPr>
          <p:cNvPr id="148" name="Text 146"/>
          <p:cNvSpPr txBox="1"/>
          <p:nvPr/>
        </p:nvSpPr>
        <p:spPr>
          <a:xfrm>
            <a:off x="9484287" y="2098688"/>
            <a:ext cx="20280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149" name="Text 147"/>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50" name="Shape 148"/>
          <p:cNvSpPr/>
          <p:nvPr/>
        </p:nvSpPr>
        <p:spPr>
          <a:xfrm>
            <a:off x="8357616" y="2339659"/>
            <a:ext cx="870257" cy="183138"/>
          </a:xfrm>
          <a:prstGeom prst="rect">
            <a:avLst/>
          </a:prstGeom>
          <a:solidFill>
            <a:srgbClr val="12A566"/>
          </a:solidFill>
          <a:ln w="6350">
            <a:solidFill>
              <a:srgbClr val="FFFFFF"/>
            </a:solidFill>
            <a:prstDash val="solid"/>
          </a:ln>
        </p:spPr>
      </p:sp>
      <p:sp>
        <p:nvSpPr>
          <p:cNvPr id="151" name="Text 149"/>
          <p:cNvSpPr txBox="1"/>
          <p:nvPr/>
        </p:nvSpPr>
        <p:spPr>
          <a:xfrm>
            <a:off x="8357616" y="2339659"/>
            <a:ext cx="8702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152" name="Shape 150"/>
          <p:cNvSpPr/>
          <p:nvPr/>
        </p:nvSpPr>
        <p:spPr>
          <a:xfrm>
            <a:off x="9227873" y="2339659"/>
            <a:ext cx="543910" cy="183138"/>
          </a:xfrm>
          <a:prstGeom prst="rect">
            <a:avLst/>
          </a:prstGeom>
          <a:solidFill>
            <a:srgbClr val="5B9BD5"/>
          </a:solidFill>
          <a:ln w="6350">
            <a:solidFill>
              <a:srgbClr val="FFFFFF"/>
            </a:solidFill>
            <a:prstDash val="solid"/>
          </a:ln>
        </p:spPr>
      </p:sp>
      <p:sp>
        <p:nvSpPr>
          <p:cNvPr id="153" name="Text 151"/>
          <p:cNvSpPr txBox="1"/>
          <p:nvPr/>
        </p:nvSpPr>
        <p:spPr>
          <a:xfrm>
            <a:off x="9227873" y="2339659"/>
            <a:ext cx="5439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54" name="Shape 152"/>
          <p:cNvSpPr/>
          <p:nvPr/>
        </p:nvSpPr>
        <p:spPr>
          <a:xfrm>
            <a:off x="9771783" y="2339659"/>
            <a:ext cx="1740513" cy="183138"/>
          </a:xfrm>
          <a:prstGeom prst="rect">
            <a:avLst/>
          </a:prstGeom>
          <a:solidFill>
            <a:srgbClr val="C2352F"/>
          </a:solidFill>
          <a:ln w="6350">
            <a:solidFill>
              <a:srgbClr val="FFFFFF"/>
            </a:solidFill>
            <a:prstDash val="solid"/>
          </a:ln>
        </p:spPr>
      </p:sp>
      <p:sp>
        <p:nvSpPr>
          <p:cNvPr id="155" name="Text 153"/>
          <p:cNvSpPr txBox="1"/>
          <p:nvPr/>
        </p:nvSpPr>
        <p:spPr>
          <a:xfrm>
            <a:off x="9771783" y="2339659"/>
            <a:ext cx="17405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Text 154"/>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7" name="Shape 155"/>
          <p:cNvSpPr/>
          <p:nvPr/>
        </p:nvSpPr>
        <p:spPr>
          <a:xfrm>
            <a:off x="8357616" y="2580630"/>
            <a:ext cx="860367" cy="183138"/>
          </a:xfrm>
          <a:prstGeom prst="rect">
            <a:avLst/>
          </a:prstGeom>
          <a:solidFill>
            <a:srgbClr val="12A566"/>
          </a:solidFill>
          <a:ln w="6350">
            <a:solidFill>
              <a:srgbClr val="FFFFFF"/>
            </a:solidFill>
            <a:prstDash val="solid"/>
          </a:ln>
        </p:spPr>
      </p:sp>
      <p:sp>
        <p:nvSpPr>
          <p:cNvPr id="158" name="Text 156"/>
          <p:cNvSpPr txBox="1"/>
          <p:nvPr/>
        </p:nvSpPr>
        <p:spPr>
          <a:xfrm>
            <a:off x="8357616" y="2580630"/>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59" name="Shape 157"/>
          <p:cNvSpPr/>
          <p:nvPr/>
        </p:nvSpPr>
        <p:spPr>
          <a:xfrm>
            <a:off x="9217983" y="2580630"/>
            <a:ext cx="914" cy="183138"/>
          </a:xfrm>
          <a:prstGeom prst="rect">
            <a:avLst/>
          </a:prstGeom>
          <a:solidFill>
            <a:srgbClr val="5B9BD5"/>
          </a:solidFill>
          <a:ln w="6350">
            <a:solidFill>
              <a:srgbClr val="FFFFFF"/>
            </a:solidFill>
            <a:prstDash val="solid"/>
          </a:ln>
        </p:spPr>
      </p:sp>
      <p:sp>
        <p:nvSpPr>
          <p:cNvPr id="160" name="Shape 158"/>
          <p:cNvSpPr/>
          <p:nvPr/>
        </p:nvSpPr>
        <p:spPr>
          <a:xfrm>
            <a:off x="9217983" y="2580630"/>
            <a:ext cx="2294313" cy="183138"/>
          </a:xfrm>
          <a:prstGeom prst="rect">
            <a:avLst/>
          </a:prstGeom>
          <a:solidFill>
            <a:srgbClr val="C2352F"/>
          </a:solidFill>
          <a:ln w="6350">
            <a:solidFill>
              <a:srgbClr val="FFFFFF"/>
            </a:solidFill>
            <a:prstDash val="solid"/>
          </a:ln>
        </p:spPr>
      </p:sp>
      <p:sp>
        <p:nvSpPr>
          <p:cNvPr id="161" name="Text 159"/>
          <p:cNvSpPr txBox="1"/>
          <p:nvPr/>
        </p:nvSpPr>
        <p:spPr>
          <a:xfrm>
            <a:off x="9217983" y="2580630"/>
            <a:ext cx="22943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73</a:t>
            </a:r>
            <a:endParaRPr lang="en-US" sz="1300" dirty="0"/>
          </a:p>
        </p:txBody>
      </p:sp>
      <p:sp>
        <p:nvSpPr>
          <p:cNvPr id="162" name="Text 160"/>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63" name="Shape 161"/>
          <p:cNvSpPr/>
          <p:nvPr/>
        </p:nvSpPr>
        <p:spPr>
          <a:xfrm>
            <a:off x="8357616" y="2821602"/>
            <a:ext cx="860367" cy="183138"/>
          </a:xfrm>
          <a:prstGeom prst="rect">
            <a:avLst/>
          </a:prstGeom>
          <a:solidFill>
            <a:srgbClr val="12A566"/>
          </a:solidFill>
          <a:ln w="6350">
            <a:solidFill>
              <a:srgbClr val="FFFFFF"/>
            </a:solidFill>
            <a:prstDash val="solid"/>
          </a:ln>
        </p:spPr>
      </p:sp>
      <p:sp>
        <p:nvSpPr>
          <p:cNvPr id="164" name="Text 162"/>
          <p:cNvSpPr txBox="1"/>
          <p:nvPr/>
        </p:nvSpPr>
        <p:spPr>
          <a:xfrm>
            <a:off x="8357616" y="2821602"/>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65" name="Shape 163"/>
          <p:cNvSpPr/>
          <p:nvPr/>
        </p:nvSpPr>
        <p:spPr>
          <a:xfrm>
            <a:off x="9217983" y="2821602"/>
            <a:ext cx="716973" cy="183138"/>
          </a:xfrm>
          <a:prstGeom prst="rect">
            <a:avLst/>
          </a:prstGeom>
          <a:solidFill>
            <a:srgbClr val="5B9BD5"/>
          </a:solidFill>
          <a:ln w="6350">
            <a:solidFill>
              <a:srgbClr val="FFFFFF"/>
            </a:solidFill>
            <a:prstDash val="solid"/>
          </a:ln>
        </p:spPr>
      </p:sp>
      <p:sp>
        <p:nvSpPr>
          <p:cNvPr id="166" name="Text 164"/>
          <p:cNvSpPr txBox="1"/>
          <p:nvPr/>
        </p:nvSpPr>
        <p:spPr>
          <a:xfrm>
            <a:off x="9217983" y="2821602"/>
            <a:ext cx="7169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23</a:t>
            </a:r>
            <a:endParaRPr lang="en-US" sz="1300" dirty="0"/>
          </a:p>
        </p:txBody>
      </p:sp>
      <p:sp>
        <p:nvSpPr>
          <p:cNvPr id="167" name="Shape 165"/>
          <p:cNvSpPr/>
          <p:nvPr/>
        </p:nvSpPr>
        <p:spPr>
          <a:xfrm>
            <a:off x="9934956" y="2821602"/>
            <a:ext cx="1577340" cy="183138"/>
          </a:xfrm>
          <a:prstGeom prst="rect">
            <a:avLst/>
          </a:prstGeom>
          <a:solidFill>
            <a:srgbClr val="C2352F"/>
          </a:solidFill>
          <a:ln w="6350">
            <a:solidFill>
              <a:srgbClr val="FFFFFF"/>
            </a:solidFill>
            <a:prstDash val="solid"/>
          </a:ln>
        </p:spPr>
      </p:sp>
      <p:sp>
        <p:nvSpPr>
          <p:cNvPr id="168" name="Text 166"/>
          <p:cNvSpPr txBox="1"/>
          <p:nvPr/>
        </p:nvSpPr>
        <p:spPr>
          <a:xfrm>
            <a:off x="9934956" y="2821602"/>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69" name="Text 167"/>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70" name="Shape 168"/>
          <p:cNvSpPr/>
          <p:nvPr/>
        </p:nvSpPr>
        <p:spPr>
          <a:xfrm>
            <a:off x="8357616" y="3062573"/>
            <a:ext cx="822960" cy="183138"/>
          </a:xfrm>
          <a:prstGeom prst="rect">
            <a:avLst/>
          </a:prstGeom>
          <a:solidFill>
            <a:srgbClr val="12A566"/>
          </a:solidFill>
          <a:ln w="6350">
            <a:solidFill>
              <a:srgbClr val="FFFFFF"/>
            </a:solidFill>
            <a:prstDash val="solid"/>
          </a:ln>
        </p:spPr>
      </p:sp>
      <p:sp>
        <p:nvSpPr>
          <p:cNvPr id="171" name="Text 169"/>
          <p:cNvSpPr txBox="1"/>
          <p:nvPr/>
        </p:nvSpPr>
        <p:spPr>
          <a:xfrm>
            <a:off x="8357616" y="3062573"/>
            <a:ext cx="8229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72" name="Shape 170"/>
          <p:cNvSpPr/>
          <p:nvPr/>
        </p:nvSpPr>
        <p:spPr>
          <a:xfrm>
            <a:off x="9180576" y="3062573"/>
            <a:ext cx="548640" cy="183138"/>
          </a:xfrm>
          <a:prstGeom prst="rect">
            <a:avLst/>
          </a:prstGeom>
          <a:solidFill>
            <a:srgbClr val="5B9BD5"/>
          </a:solidFill>
          <a:ln w="6350">
            <a:solidFill>
              <a:srgbClr val="FFFFFF"/>
            </a:solidFill>
            <a:prstDash val="solid"/>
          </a:ln>
        </p:spPr>
      </p:sp>
      <p:sp>
        <p:nvSpPr>
          <p:cNvPr id="173" name="Text 171"/>
          <p:cNvSpPr txBox="1"/>
          <p:nvPr/>
        </p:nvSpPr>
        <p:spPr>
          <a:xfrm>
            <a:off x="9180576" y="3062573"/>
            <a:ext cx="5486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74" name="Shape 172"/>
          <p:cNvSpPr/>
          <p:nvPr/>
        </p:nvSpPr>
        <p:spPr>
          <a:xfrm>
            <a:off x="9729216" y="3062573"/>
            <a:ext cx="1783080" cy="183138"/>
          </a:xfrm>
          <a:prstGeom prst="rect">
            <a:avLst/>
          </a:prstGeom>
          <a:solidFill>
            <a:srgbClr val="C2352F"/>
          </a:solidFill>
          <a:ln w="6350">
            <a:solidFill>
              <a:srgbClr val="FFFFFF"/>
            </a:solidFill>
            <a:prstDash val="solid"/>
          </a:ln>
        </p:spPr>
      </p:sp>
      <p:sp>
        <p:nvSpPr>
          <p:cNvPr id="175" name="Text 173"/>
          <p:cNvSpPr txBox="1"/>
          <p:nvPr/>
        </p:nvSpPr>
        <p:spPr>
          <a:xfrm>
            <a:off x="9729216" y="3062573"/>
            <a:ext cx="17830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76" name="Text 174"/>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77" name="Shape 175"/>
          <p:cNvSpPr/>
          <p:nvPr/>
        </p:nvSpPr>
        <p:spPr>
          <a:xfrm>
            <a:off x="8357616" y="3303544"/>
            <a:ext cx="556708" cy="183138"/>
          </a:xfrm>
          <a:prstGeom prst="rect">
            <a:avLst/>
          </a:prstGeom>
          <a:solidFill>
            <a:srgbClr val="12A566"/>
          </a:solidFill>
          <a:ln w="6350">
            <a:solidFill>
              <a:srgbClr val="FFFFFF"/>
            </a:solidFill>
            <a:prstDash val="solid"/>
          </a:ln>
        </p:spPr>
      </p:sp>
      <p:sp>
        <p:nvSpPr>
          <p:cNvPr id="178" name="Text 176"/>
          <p:cNvSpPr txBox="1"/>
          <p:nvPr/>
        </p:nvSpPr>
        <p:spPr>
          <a:xfrm>
            <a:off x="8357616" y="3303544"/>
            <a:ext cx="556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79" name="Shape 177"/>
          <p:cNvSpPr/>
          <p:nvPr/>
        </p:nvSpPr>
        <p:spPr>
          <a:xfrm>
            <a:off x="8914324" y="3303544"/>
            <a:ext cx="1113416" cy="183138"/>
          </a:xfrm>
          <a:prstGeom prst="rect">
            <a:avLst/>
          </a:prstGeom>
          <a:solidFill>
            <a:srgbClr val="5B9BD5"/>
          </a:solidFill>
          <a:ln w="6350">
            <a:solidFill>
              <a:srgbClr val="FFFFFF"/>
            </a:solidFill>
            <a:prstDash val="solid"/>
          </a:ln>
        </p:spPr>
      </p:sp>
      <p:sp>
        <p:nvSpPr>
          <p:cNvPr id="180" name="Text 178"/>
          <p:cNvSpPr txBox="1"/>
          <p:nvPr/>
        </p:nvSpPr>
        <p:spPr>
          <a:xfrm>
            <a:off x="8914324" y="3303544"/>
            <a:ext cx="11134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81" name="Shape 179"/>
          <p:cNvSpPr/>
          <p:nvPr/>
        </p:nvSpPr>
        <p:spPr>
          <a:xfrm>
            <a:off x="10027741" y="3303544"/>
            <a:ext cx="1484555" cy="183138"/>
          </a:xfrm>
          <a:prstGeom prst="rect">
            <a:avLst/>
          </a:prstGeom>
          <a:solidFill>
            <a:srgbClr val="C2352F"/>
          </a:solidFill>
          <a:ln w="6350">
            <a:solidFill>
              <a:srgbClr val="FFFFFF"/>
            </a:solidFill>
            <a:prstDash val="solid"/>
          </a:ln>
        </p:spPr>
      </p:sp>
      <p:sp>
        <p:nvSpPr>
          <p:cNvPr id="182" name="Text 180"/>
          <p:cNvSpPr txBox="1"/>
          <p:nvPr/>
        </p:nvSpPr>
        <p:spPr>
          <a:xfrm>
            <a:off x="10027741" y="3303544"/>
            <a:ext cx="1484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3" name="Text 181"/>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4" name="Shape 182"/>
          <p:cNvSpPr/>
          <p:nvPr/>
        </p:nvSpPr>
        <p:spPr>
          <a:xfrm>
            <a:off x="8357616" y="3544516"/>
            <a:ext cx="525780" cy="183138"/>
          </a:xfrm>
          <a:prstGeom prst="rect">
            <a:avLst/>
          </a:prstGeom>
          <a:solidFill>
            <a:srgbClr val="12A566"/>
          </a:solidFill>
          <a:ln w="6350">
            <a:solidFill>
              <a:srgbClr val="FFFFFF"/>
            </a:solidFill>
            <a:prstDash val="solid"/>
          </a:ln>
        </p:spPr>
      </p:sp>
      <p:sp>
        <p:nvSpPr>
          <p:cNvPr id="185" name="Text 183"/>
          <p:cNvSpPr txBox="1"/>
          <p:nvPr/>
        </p:nvSpPr>
        <p:spPr>
          <a:xfrm>
            <a:off x="8357616" y="3544516"/>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86" name="Shape 184"/>
          <p:cNvSpPr/>
          <p:nvPr/>
        </p:nvSpPr>
        <p:spPr>
          <a:xfrm>
            <a:off x="8883396" y="3544516"/>
            <a:ext cx="1577340" cy="183138"/>
          </a:xfrm>
          <a:prstGeom prst="rect">
            <a:avLst/>
          </a:prstGeom>
          <a:solidFill>
            <a:srgbClr val="5B9BD5"/>
          </a:solidFill>
          <a:ln w="6350">
            <a:solidFill>
              <a:srgbClr val="FFFFFF"/>
            </a:solidFill>
            <a:prstDash val="solid"/>
          </a:ln>
        </p:spPr>
      </p:sp>
      <p:sp>
        <p:nvSpPr>
          <p:cNvPr id="187" name="Text 185"/>
          <p:cNvSpPr txBox="1"/>
          <p:nvPr/>
        </p:nvSpPr>
        <p:spPr>
          <a:xfrm>
            <a:off x="8883396" y="3544516"/>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88" name="Shape 186"/>
          <p:cNvSpPr/>
          <p:nvPr/>
        </p:nvSpPr>
        <p:spPr>
          <a:xfrm>
            <a:off x="10460736" y="3544516"/>
            <a:ext cx="1051560" cy="183138"/>
          </a:xfrm>
          <a:prstGeom prst="rect">
            <a:avLst/>
          </a:prstGeom>
          <a:solidFill>
            <a:srgbClr val="C2352F"/>
          </a:solidFill>
          <a:ln w="6350">
            <a:solidFill>
              <a:srgbClr val="FFFFFF"/>
            </a:solidFill>
            <a:prstDash val="solid"/>
          </a:ln>
        </p:spPr>
      </p:sp>
      <p:sp>
        <p:nvSpPr>
          <p:cNvPr id="189" name="Text 187"/>
          <p:cNvSpPr txBox="1"/>
          <p:nvPr/>
        </p:nvSpPr>
        <p:spPr>
          <a:xfrm>
            <a:off x="10460736" y="354451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90" name="Text 188"/>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91" name="Shape 189"/>
          <p:cNvSpPr/>
          <p:nvPr/>
        </p:nvSpPr>
        <p:spPr>
          <a:xfrm>
            <a:off x="8357616" y="3785487"/>
            <a:ext cx="350520" cy="183138"/>
          </a:xfrm>
          <a:prstGeom prst="rect">
            <a:avLst/>
          </a:prstGeom>
          <a:solidFill>
            <a:srgbClr val="12A566"/>
          </a:solidFill>
          <a:ln w="6350">
            <a:solidFill>
              <a:srgbClr val="FFFFFF"/>
            </a:solidFill>
            <a:prstDash val="solid"/>
          </a:ln>
        </p:spPr>
      </p:sp>
      <p:sp>
        <p:nvSpPr>
          <p:cNvPr id="192" name="Text 190"/>
          <p:cNvSpPr txBox="1"/>
          <p:nvPr/>
        </p:nvSpPr>
        <p:spPr>
          <a:xfrm>
            <a:off x="8357616" y="3785487"/>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193" name="Shape 191"/>
          <p:cNvSpPr/>
          <p:nvPr/>
        </p:nvSpPr>
        <p:spPr>
          <a:xfrm>
            <a:off x="8708136" y="3785487"/>
            <a:ext cx="701040" cy="183138"/>
          </a:xfrm>
          <a:prstGeom prst="rect">
            <a:avLst/>
          </a:prstGeom>
          <a:solidFill>
            <a:srgbClr val="5B9BD5"/>
          </a:solidFill>
          <a:ln w="6350">
            <a:solidFill>
              <a:srgbClr val="FFFFFF"/>
            </a:solidFill>
            <a:prstDash val="solid"/>
          </a:ln>
        </p:spPr>
      </p:sp>
      <p:sp>
        <p:nvSpPr>
          <p:cNvPr id="194" name="Text 192"/>
          <p:cNvSpPr txBox="1"/>
          <p:nvPr/>
        </p:nvSpPr>
        <p:spPr>
          <a:xfrm>
            <a:off x="8708136" y="3785487"/>
            <a:ext cx="7010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195" name="Shape 193"/>
          <p:cNvSpPr/>
          <p:nvPr/>
        </p:nvSpPr>
        <p:spPr>
          <a:xfrm>
            <a:off x="9409176" y="3785487"/>
            <a:ext cx="2103120" cy="183138"/>
          </a:xfrm>
          <a:prstGeom prst="rect">
            <a:avLst/>
          </a:prstGeom>
          <a:solidFill>
            <a:srgbClr val="C2352F"/>
          </a:solidFill>
          <a:ln w="6350">
            <a:solidFill>
              <a:srgbClr val="FFFFFF"/>
            </a:solidFill>
            <a:prstDash val="solid"/>
          </a:ln>
        </p:spPr>
      </p:sp>
      <p:sp>
        <p:nvSpPr>
          <p:cNvPr id="196" name="Text 194"/>
          <p:cNvSpPr txBox="1"/>
          <p:nvPr/>
        </p:nvSpPr>
        <p:spPr>
          <a:xfrm>
            <a:off x="9409176" y="3785487"/>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97" name="Text 195"/>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8" name="Shape 196"/>
          <p:cNvSpPr/>
          <p:nvPr/>
        </p:nvSpPr>
        <p:spPr>
          <a:xfrm>
            <a:off x="8357616" y="4026458"/>
            <a:ext cx="315468" cy="183138"/>
          </a:xfrm>
          <a:prstGeom prst="rect">
            <a:avLst/>
          </a:prstGeom>
          <a:solidFill>
            <a:srgbClr val="12A566"/>
          </a:solidFill>
          <a:ln w="6350">
            <a:solidFill>
              <a:srgbClr val="FFFFFF"/>
            </a:solidFill>
            <a:prstDash val="solid"/>
          </a:ln>
        </p:spPr>
      </p:sp>
      <p:sp>
        <p:nvSpPr>
          <p:cNvPr id="199" name="Text 197"/>
          <p:cNvSpPr txBox="1"/>
          <p:nvPr/>
        </p:nvSpPr>
        <p:spPr>
          <a:xfrm>
            <a:off x="8357616"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0" name="Shape 198"/>
          <p:cNvSpPr/>
          <p:nvPr/>
        </p:nvSpPr>
        <p:spPr>
          <a:xfrm>
            <a:off x="8673084" y="4026458"/>
            <a:ext cx="315468" cy="183138"/>
          </a:xfrm>
          <a:prstGeom prst="rect">
            <a:avLst/>
          </a:prstGeom>
          <a:solidFill>
            <a:srgbClr val="5B9BD5"/>
          </a:solidFill>
          <a:ln w="6350">
            <a:solidFill>
              <a:srgbClr val="FFFFFF"/>
            </a:solidFill>
            <a:prstDash val="solid"/>
          </a:ln>
        </p:spPr>
      </p:sp>
      <p:sp>
        <p:nvSpPr>
          <p:cNvPr id="201" name="Text 199"/>
          <p:cNvSpPr txBox="1"/>
          <p:nvPr/>
        </p:nvSpPr>
        <p:spPr>
          <a:xfrm>
            <a:off x="8673084"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2" name="Shape 200"/>
          <p:cNvSpPr/>
          <p:nvPr/>
        </p:nvSpPr>
        <p:spPr>
          <a:xfrm>
            <a:off x="8988552" y="4026458"/>
            <a:ext cx="2523744" cy="183138"/>
          </a:xfrm>
          <a:prstGeom prst="rect">
            <a:avLst/>
          </a:prstGeom>
          <a:solidFill>
            <a:srgbClr val="C2352F"/>
          </a:solidFill>
          <a:ln w="6350">
            <a:solidFill>
              <a:srgbClr val="FFFFFF"/>
            </a:solidFill>
            <a:prstDash val="solid"/>
          </a:ln>
        </p:spPr>
      </p:sp>
      <p:sp>
        <p:nvSpPr>
          <p:cNvPr id="203" name="Text 201"/>
          <p:cNvSpPr txBox="1"/>
          <p:nvPr/>
        </p:nvSpPr>
        <p:spPr>
          <a:xfrm>
            <a:off x="8988552" y="4026458"/>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04" name="Text 202"/>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05" name="Shape 203"/>
          <p:cNvSpPr/>
          <p:nvPr/>
        </p:nvSpPr>
        <p:spPr>
          <a:xfrm>
            <a:off x="8357616" y="4267429"/>
            <a:ext cx="315468" cy="183138"/>
          </a:xfrm>
          <a:prstGeom prst="rect">
            <a:avLst/>
          </a:prstGeom>
          <a:solidFill>
            <a:srgbClr val="12A566"/>
          </a:solidFill>
          <a:ln w="6350">
            <a:solidFill>
              <a:srgbClr val="FFFFFF"/>
            </a:solidFill>
            <a:prstDash val="solid"/>
          </a:ln>
        </p:spPr>
      </p:sp>
      <p:sp>
        <p:nvSpPr>
          <p:cNvPr id="206" name="Text 204"/>
          <p:cNvSpPr txBox="1"/>
          <p:nvPr/>
        </p:nvSpPr>
        <p:spPr>
          <a:xfrm>
            <a:off x="8357616"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7" name="Shape 205"/>
          <p:cNvSpPr/>
          <p:nvPr/>
        </p:nvSpPr>
        <p:spPr>
          <a:xfrm>
            <a:off x="8673084" y="4267429"/>
            <a:ext cx="315468" cy="183138"/>
          </a:xfrm>
          <a:prstGeom prst="rect">
            <a:avLst/>
          </a:prstGeom>
          <a:solidFill>
            <a:srgbClr val="5B9BD5"/>
          </a:solidFill>
          <a:ln w="6350">
            <a:solidFill>
              <a:srgbClr val="FFFFFF"/>
            </a:solidFill>
            <a:prstDash val="solid"/>
          </a:ln>
        </p:spPr>
      </p:sp>
      <p:sp>
        <p:nvSpPr>
          <p:cNvPr id="208" name="Text 206"/>
          <p:cNvSpPr txBox="1"/>
          <p:nvPr/>
        </p:nvSpPr>
        <p:spPr>
          <a:xfrm>
            <a:off x="8673084"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9" name="Shape 207"/>
          <p:cNvSpPr/>
          <p:nvPr/>
        </p:nvSpPr>
        <p:spPr>
          <a:xfrm>
            <a:off x="8988552" y="4267429"/>
            <a:ext cx="2523744" cy="183138"/>
          </a:xfrm>
          <a:prstGeom prst="rect">
            <a:avLst/>
          </a:prstGeom>
          <a:solidFill>
            <a:srgbClr val="C2352F"/>
          </a:solidFill>
          <a:ln w="6350">
            <a:solidFill>
              <a:srgbClr val="FFFFFF"/>
            </a:solidFill>
            <a:prstDash val="solid"/>
          </a:ln>
        </p:spPr>
      </p:sp>
      <p:sp>
        <p:nvSpPr>
          <p:cNvPr id="210" name="Text 208"/>
          <p:cNvSpPr txBox="1"/>
          <p:nvPr/>
        </p:nvSpPr>
        <p:spPr>
          <a:xfrm>
            <a:off x="8988552" y="4267429"/>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11" name="Text 209"/>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2" name="Shape 210"/>
          <p:cNvSpPr/>
          <p:nvPr/>
        </p:nvSpPr>
        <p:spPr>
          <a:xfrm>
            <a:off x="8357616" y="4508401"/>
            <a:ext cx="262890" cy="183138"/>
          </a:xfrm>
          <a:prstGeom prst="rect">
            <a:avLst/>
          </a:prstGeom>
          <a:solidFill>
            <a:srgbClr val="12A566"/>
          </a:solidFill>
          <a:ln w="6350">
            <a:solidFill>
              <a:srgbClr val="FFFFFF"/>
            </a:solidFill>
            <a:prstDash val="solid"/>
          </a:ln>
        </p:spPr>
      </p:sp>
      <p:sp>
        <p:nvSpPr>
          <p:cNvPr id="213" name="Text 211"/>
          <p:cNvSpPr txBox="1"/>
          <p:nvPr/>
        </p:nvSpPr>
        <p:spPr>
          <a:xfrm>
            <a:off x="8357616" y="4508401"/>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14" name="Shape 212"/>
          <p:cNvSpPr/>
          <p:nvPr/>
        </p:nvSpPr>
        <p:spPr>
          <a:xfrm>
            <a:off x="8620506" y="4508401"/>
            <a:ext cx="1051560" cy="183138"/>
          </a:xfrm>
          <a:prstGeom prst="rect">
            <a:avLst/>
          </a:prstGeom>
          <a:solidFill>
            <a:srgbClr val="5B9BD5"/>
          </a:solidFill>
          <a:ln w="6350">
            <a:solidFill>
              <a:srgbClr val="FFFFFF"/>
            </a:solidFill>
            <a:prstDash val="solid"/>
          </a:ln>
        </p:spPr>
      </p:sp>
      <p:sp>
        <p:nvSpPr>
          <p:cNvPr id="215" name="Text 213"/>
          <p:cNvSpPr txBox="1"/>
          <p:nvPr/>
        </p:nvSpPr>
        <p:spPr>
          <a:xfrm>
            <a:off x="8620506" y="4508401"/>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16" name="Shape 214"/>
          <p:cNvSpPr/>
          <p:nvPr/>
        </p:nvSpPr>
        <p:spPr>
          <a:xfrm>
            <a:off x="9672066" y="4508401"/>
            <a:ext cx="1840230" cy="183138"/>
          </a:xfrm>
          <a:prstGeom prst="rect">
            <a:avLst/>
          </a:prstGeom>
          <a:solidFill>
            <a:srgbClr val="C2352F"/>
          </a:solidFill>
          <a:ln w="6350">
            <a:solidFill>
              <a:srgbClr val="FFFFFF"/>
            </a:solidFill>
            <a:prstDash val="solid"/>
          </a:ln>
        </p:spPr>
      </p:sp>
      <p:sp>
        <p:nvSpPr>
          <p:cNvPr id="217" name="Text 215"/>
          <p:cNvSpPr txBox="1"/>
          <p:nvPr/>
        </p:nvSpPr>
        <p:spPr>
          <a:xfrm>
            <a:off x="9672066" y="4508401"/>
            <a:ext cx="18402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218" name="Text 216"/>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9" name="Shape 217"/>
          <p:cNvSpPr/>
          <p:nvPr/>
        </p:nvSpPr>
        <p:spPr>
          <a:xfrm>
            <a:off x="8357616" y="4749372"/>
            <a:ext cx="262890" cy="183138"/>
          </a:xfrm>
          <a:prstGeom prst="rect">
            <a:avLst/>
          </a:prstGeom>
          <a:solidFill>
            <a:srgbClr val="12A566"/>
          </a:solidFill>
          <a:ln w="6350">
            <a:solidFill>
              <a:srgbClr val="FFFFFF"/>
            </a:solidFill>
            <a:prstDash val="solid"/>
          </a:ln>
        </p:spPr>
      </p:sp>
      <p:sp>
        <p:nvSpPr>
          <p:cNvPr id="220" name="Text 218"/>
          <p:cNvSpPr txBox="1"/>
          <p:nvPr/>
        </p:nvSpPr>
        <p:spPr>
          <a:xfrm>
            <a:off x="8357616" y="4749372"/>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21" name="Shape 219"/>
          <p:cNvSpPr/>
          <p:nvPr/>
        </p:nvSpPr>
        <p:spPr>
          <a:xfrm>
            <a:off x="8620506" y="4749372"/>
            <a:ext cx="525780" cy="183138"/>
          </a:xfrm>
          <a:prstGeom prst="rect">
            <a:avLst/>
          </a:prstGeom>
          <a:solidFill>
            <a:srgbClr val="5B9BD5"/>
          </a:solidFill>
          <a:ln w="6350">
            <a:solidFill>
              <a:srgbClr val="FFFFFF"/>
            </a:solidFill>
            <a:prstDash val="solid"/>
          </a:ln>
        </p:spPr>
      </p:sp>
      <p:sp>
        <p:nvSpPr>
          <p:cNvPr id="222" name="Text 220"/>
          <p:cNvSpPr txBox="1"/>
          <p:nvPr/>
        </p:nvSpPr>
        <p:spPr>
          <a:xfrm>
            <a:off x="8620506" y="4749372"/>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223" name="Shape 221"/>
          <p:cNvSpPr/>
          <p:nvPr/>
        </p:nvSpPr>
        <p:spPr>
          <a:xfrm>
            <a:off x="9146286" y="4749372"/>
            <a:ext cx="2366010" cy="183138"/>
          </a:xfrm>
          <a:prstGeom prst="rect">
            <a:avLst/>
          </a:prstGeom>
          <a:solidFill>
            <a:srgbClr val="C2352F"/>
          </a:solidFill>
          <a:ln w="6350">
            <a:solidFill>
              <a:srgbClr val="FFFFFF"/>
            </a:solidFill>
            <a:prstDash val="solid"/>
          </a:ln>
        </p:spPr>
      </p:sp>
      <p:sp>
        <p:nvSpPr>
          <p:cNvPr id="224" name="Text 222"/>
          <p:cNvSpPr txBox="1"/>
          <p:nvPr/>
        </p:nvSpPr>
        <p:spPr>
          <a:xfrm>
            <a:off x="9146286" y="4749372"/>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25" name="Text 223"/>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26" name="Shape 224"/>
          <p:cNvSpPr/>
          <p:nvPr/>
        </p:nvSpPr>
        <p:spPr>
          <a:xfrm>
            <a:off x="8357616" y="4990343"/>
            <a:ext cx="914" cy="183138"/>
          </a:xfrm>
          <a:prstGeom prst="rect">
            <a:avLst/>
          </a:prstGeom>
          <a:solidFill>
            <a:srgbClr val="12A566"/>
          </a:solidFill>
          <a:ln w="6350">
            <a:solidFill>
              <a:srgbClr val="FFFFFF"/>
            </a:solidFill>
            <a:prstDash val="solid"/>
          </a:ln>
        </p:spPr>
      </p:sp>
      <p:sp>
        <p:nvSpPr>
          <p:cNvPr id="227" name="Shape 225"/>
          <p:cNvSpPr/>
          <p:nvPr/>
        </p:nvSpPr>
        <p:spPr>
          <a:xfrm>
            <a:off x="8357616" y="4990343"/>
            <a:ext cx="914" cy="183138"/>
          </a:xfrm>
          <a:prstGeom prst="rect">
            <a:avLst/>
          </a:prstGeom>
          <a:solidFill>
            <a:srgbClr val="5B9BD5"/>
          </a:solidFill>
          <a:ln w="6350">
            <a:solidFill>
              <a:srgbClr val="FFFFFF"/>
            </a:solidFill>
            <a:prstDash val="solid"/>
          </a:ln>
        </p:spPr>
      </p:sp>
      <p:sp>
        <p:nvSpPr>
          <p:cNvPr id="228" name="Shape 226"/>
          <p:cNvSpPr/>
          <p:nvPr/>
        </p:nvSpPr>
        <p:spPr>
          <a:xfrm>
            <a:off x="8357616" y="4990343"/>
            <a:ext cx="3154680" cy="183138"/>
          </a:xfrm>
          <a:prstGeom prst="rect">
            <a:avLst/>
          </a:prstGeom>
          <a:solidFill>
            <a:srgbClr val="C2352F"/>
          </a:solidFill>
          <a:ln w="6350">
            <a:solidFill>
              <a:srgbClr val="FFFFFF"/>
            </a:solidFill>
            <a:prstDash val="solid"/>
          </a:ln>
        </p:spPr>
      </p:sp>
      <p:sp>
        <p:nvSpPr>
          <p:cNvPr id="229" name="Text 227"/>
          <p:cNvSpPr txBox="1"/>
          <p:nvPr/>
        </p:nvSpPr>
        <p:spPr>
          <a:xfrm>
            <a:off x="8357616" y="4990343"/>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30" name="Text 228"/>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231" name="Shape 229"/>
          <p:cNvSpPr/>
          <p:nvPr/>
        </p:nvSpPr>
        <p:spPr>
          <a:xfrm>
            <a:off x="8357616" y="5231315"/>
            <a:ext cx="914" cy="183138"/>
          </a:xfrm>
          <a:prstGeom prst="rect">
            <a:avLst/>
          </a:prstGeom>
          <a:solidFill>
            <a:srgbClr val="12A566"/>
          </a:solidFill>
          <a:ln w="6350">
            <a:solidFill>
              <a:srgbClr val="FFFFFF"/>
            </a:solidFill>
            <a:prstDash val="solid"/>
          </a:ln>
        </p:spPr>
      </p:sp>
      <p:sp>
        <p:nvSpPr>
          <p:cNvPr id="232" name="Shape 230"/>
          <p:cNvSpPr/>
          <p:nvPr/>
        </p:nvSpPr>
        <p:spPr>
          <a:xfrm>
            <a:off x="8357616" y="5231315"/>
            <a:ext cx="350520" cy="183138"/>
          </a:xfrm>
          <a:prstGeom prst="rect">
            <a:avLst/>
          </a:prstGeom>
          <a:solidFill>
            <a:srgbClr val="5B9BD5"/>
          </a:solidFill>
          <a:ln w="6350">
            <a:solidFill>
              <a:srgbClr val="FFFFFF"/>
            </a:solidFill>
            <a:prstDash val="solid"/>
          </a:ln>
        </p:spPr>
      </p:sp>
      <p:sp>
        <p:nvSpPr>
          <p:cNvPr id="233" name="Text 231"/>
          <p:cNvSpPr txBox="1"/>
          <p:nvPr/>
        </p:nvSpPr>
        <p:spPr>
          <a:xfrm>
            <a:off x="8357616" y="5231315"/>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234" name="Shape 232"/>
          <p:cNvSpPr/>
          <p:nvPr/>
        </p:nvSpPr>
        <p:spPr>
          <a:xfrm>
            <a:off x="8708136" y="5231315"/>
            <a:ext cx="2804160" cy="183138"/>
          </a:xfrm>
          <a:prstGeom prst="rect">
            <a:avLst/>
          </a:prstGeom>
          <a:solidFill>
            <a:srgbClr val="C2352F"/>
          </a:solidFill>
          <a:ln w="6350">
            <a:solidFill>
              <a:srgbClr val="FFFFFF"/>
            </a:solidFill>
            <a:prstDash val="solid"/>
          </a:ln>
        </p:spPr>
      </p:sp>
      <p:sp>
        <p:nvSpPr>
          <p:cNvPr id="235" name="Text 233"/>
          <p:cNvSpPr txBox="1"/>
          <p:nvPr/>
        </p:nvSpPr>
        <p:spPr>
          <a:xfrm>
            <a:off x="8708136" y="5231315"/>
            <a:ext cx="28041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89</a:t>
            </a:r>
            <a:endParaRPr lang="en-US" sz="1300" dirty="0"/>
          </a:p>
        </p:txBody>
      </p:sp>
      <p:sp>
        <p:nvSpPr>
          <p:cNvPr id="236" name="Text 234"/>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7" name="Shape 235"/>
          <p:cNvSpPr/>
          <p:nvPr/>
        </p:nvSpPr>
        <p:spPr>
          <a:xfrm>
            <a:off x="8357616" y="5472286"/>
            <a:ext cx="914" cy="183138"/>
          </a:xfrm>
          <a:prstGeom prst="rect">
            <a:avLst/>
          </a:prstGeom>
          <a:solidFill>
            <a:srgbClr val="12A566"/>
          </a:solidFill>
          <a:ln w="6350">
            <a:solidFill>
              <a:srgbClr val="FFFFFF"/>
            </a:solidFill>
            <a:prstDash val="solid"/>
          </a:ln>
        </p:spPr>
      </p:sp>
      <p:sp>
        <p:nvSpPr>
          <p:cNvPr id="238" name="Shape 236"/>
          <p:cNvSpPr/>
          <p:nvPr/>
        </p:nvSpPr>
        <p:spPr>
          <a:xfrm>
            <a:off x="8357616" y="5472286"/>
            <a:ext cx="914" cy="183138"/>
          </a:xfrm>
          <a:prstGeom prst="rect">
            <a:avLst/>
          </a:prstGeom>
          <a:solidFill>
            <a:srgbClr val="5B9BD5"/>
          </a:solidFill>
          <a:ln w="6350">
            <a:solidFill>
              <a:srgbClr val="FFFFFF"/>
            </a:solidFill>
            <a:prstDash val="solid"/>
          </a:ln>
        </p:spPr>
      </p:sp>
      <p:sp>
        <p:nvSpPr>
          <p:cNvPr id="239" name="Shape 237"/>
          <p:cNvSpPr/>
          <p:nvPr/>
        </p:nvSpPr>
        <p:spPr>
          <a:xfrm>
            <a:off x="8357616" y="5472286"/>
            <a:ext cx="3154680" cy="183138"/>
          </a:xfrm>
          <a:prstGeom prst="rect">
            <a:avLst/>
          </a:prstGeom>
          <a:solidFill>
            <a:srgbClr val="C2352F"/>
          </a:solidFill>
          <a:ln w="6350">
            <a:solidFill>
              <a:srgbClr val="FFFFFF"/>
            </a:solidFill>
            <a:prstDash val="solid"/>
          </a:ln>
        </p:spPr>
      </p:sp>
      <p:sp>
        <p:nvSpPr>
          <p:cNvPr id="240" name="Text 238"/>
          <p:cNvSpPr txBox="1"/>
          <p:nvPr/>
        </p:nvSpPr>
        <p:spPr>
          <a:xfrm>
            <a:off x="8357616" y="5472286"/>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41" name="Shape 239"/>
          <p:cNvSpPr/>
          <p:nvPr/>
        </p:nvSpPr>
        <p:spPr>
          <a:xfrm>
            <a:off x="457200" y="6126480"/>
            <a:ext cx="11274552" cy="615696"/>
          </a:xfrm>
          <a:prstGeom prst="rect">
            <a:avLst/>
          </a:prstGeom>
          <a:solidFill>
            <a:srgbClr val="EDF4FA"/>
          </a:solidFill>
          <a:ln/>
        </p:spPr>
      </p:sp>
      <p:sp>
        <p:nvSpPr>
          <p:cNvPr id="242" name="Text 24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Of 583 technicians, 198 are above 100% and 262 (45%) are under 85%. 14 stores have more than half their technicians under target.</a:t>
            </a:r>
            <a:endParaRPr lang="en-US" sz="1600" dirty="0"/>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Proficiency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C2352F"/>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GROSS MISSED A MONTH</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$1.65M</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Labor $1.13M + parts $514K: 8.1% of the $20.44M a month our ROs generate.</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C2352F"/>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 PAY MISSED A MONTH</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$282K</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$1,080 a month for each tech under 85%. Same hours, bigger checks.</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C2352F"/>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HOURS NOT PRODUCED YTD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79K</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8.3K hours a month on the clock and not flagged, below the 85% line alone. 48 full-time techs of capacity.</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TECHS UNDER 85%</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2C4A"/>
                </a:solidFill>
                <a:latin typeface="Inter" pitchFamily="34" charset="0"/>
                <a:ea typeface="Inter" pitchFamily="34" charset="-122"/>
                <a:cs typeface="Inter" pitchFamily="34" charset="-120"/>
              </a:rPr>
              <a:t>262</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583 technicians (45%). Every store has at least one.</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 extra hours, no extra techs, no extra bays. The techs, bays and lifts are already here; the hour is spent whether it is flagged or not. An hour not produced today cannot be sold tomorrow.</a:t>
            </a:r>
            <a:endParaRPr lang="en-US" sz="1700" dirty="0"/>
          </a:p>
        </p:txBody>
      </p:sp>
      <p:sp>
        <p:nvSpPr>
          <p:cNvPr id="27" name="Shape 25"/>
          <p:cNvSpPr/>
          <p:nvPr/>
        </p:nvSpPr>
        <p:spPr>
          <a:xfrm>
            <a:off x="457200" y="6126480"/>
            <a:ext cx="11274552" cy="371856"/>
          </a:xfrm>
          <a:prstGeom prst="rect">
            <a:avLst/>
          </a:prstGeom>
          <a:solidFill>
            <a:srgbClr val="FBEBEA"/>
          </a:solidFill>
          <a:ln/>
        </p:spPr>
      </p:sp>
      <p:sp>
        <p:nvSpPr>
          <p:cNvPr id="28"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Lifting each tech under 85% to 85% is worth $1.65M a month in gross and $282K a month in tech pay.</a:t>
            </a:r>
            <a:endParaRPr lang="en-US" sz="1600" dirty="0"/>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7472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7" name="Text 5"/>
          <p:cNvSpPr txBox="1"/>
          <p:nvPr/>
        </p:nvSpPr>
        <p:spPr>
          <a:xfrm>
            <a:off x="4261104"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8" name="Text 6"/>
          <p:cNvSpPr txBox="1"/>
          <p:nvPr/>
        </p:nvSpPr>
        <p:spPr>
          <a:xfrm>
            <a:off x="5193792"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9" name="Text 7"/>
          <p:cNvSpPr txBox="1"/>
          <p:nvPr/>
        </p:nvSpPr>
        <p:spPr>
          <a:xfrm>
            <a:off x="902512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10" name="Text 8"/>
          <p:cNvSpPr txBox="1"/>
          <p:nvPr/>
        </p:nvSpPr>
        <p:spPr>
          <a:xfrm>
            <a:off x="9811512"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11" name="Text 9"/>
          <p:cNvSpPr txBox="1"/>
          <p:nvPr/>
        </p:nvSpPr>
        <p:spPr>
          <a:xfrm>
            <a:off x="10744200"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3" name="Shape 11"/>
          <p:cNvSpPr/>
          <p:nvPr/>
        </p:nvSpPr>
        <p:spPr>
          <a:xfrm>
            <a:off x="2670048" y="1756697"/>
            <a:ext cx="749808" cy="136676"/>
          </a:xfrm>
          <a:prstGeom prst="rect">
            <a:avLst/>
          </a:prstGeom>
          <a:solidFill>
            <a:srgbClr val="C2352F"/>
          </a:solidFill>
          <a:ln/>
        </p:spPr>
      </p:sp>
      <p:sp>
        <p:nvSpPr>
          <p:cNvPr id="14" name="Text 12"/>
          <p:cNvSpPr txBox="1"/>
          <p:nvPr/>
        </p:nvSpPr>
        <p:spPr>
          <a:xfrm>
            <a:off x="3474720"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$158K</a:t>
            </a:r>
            <a:endParaRPr lang="en-US" sz="1300" dirty="0"/>
          </a:p>
        </p:txBody>
      </p:sp>
      <p:sp>
        <p:nvSpPr>
          <p:cNvPr id="15" name="Text 13"/>
          <p:cNvSpPr txBox="1"/>
          <p:nvPr/>
        </p:nvSpPr>
        <p:spPr>
          <a:xfrm>
            <a:off x="4261104"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29</a:t>
            </a:r>
            <a:endParaRPr lang="en-US" sz="1300" dirty="0"/>
          </a:p>
        </p:txBody>
      </p:sp>
      <p:sp>
        <p:nvSpPr>
          <p:cNvPr id="16" name="Text 14"/>
          <p:cNvSpPr txBox="1"/>
          <p:nvPr/>
        </p:nvSpPr>
        <p:spPr>
          <a:xfrm>
            <a:off x="5193792"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87.7%</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8" name="Shape 16"/>
          <p:cNvSpPr/>
          <p:nvPr/>
        </p:nvSpPr>
        <p:spPr>
          <a:xfrm>
            <a:off x="2670048" y="2005199"/>
            <a:ext cx="533948" cy="136676"/>
          </a:xfrm>
          <a:prstGeom prst="rect">
            <a:avLst/>
          </a:prstGeom>
          <a:solidFill>
            <a:srgbClr val="C2352F"/>
          </a:solidFill>
          <a:ln/>
        </p:spPr>
      </p:sp>
      <p:sp>
        <p:nvSpPr>
          <p:cNvPr id="19" name="Text 17"/>
          <p:cNvSpPr txBox="1"/>
          <p:nvPr/>
        </p:nvSpPr>
        <p:spPr>
          <a:xfrm>
            <a:off x="3474720"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$112K</a:t>
            </a:r>
            <a:endParaRPr lang="en-US" sz="1300" dirty="0"/>
          </a:p>
        </p:txBody>
      </p:sp>
      <p:sp>
        <p:nvSpPr>
          <p:cNvPr id="20" name="Text 18"/>
          <p:cNvSpPr txBox="1"/>
          <p:nvPr/>
        </p:nvSpPr>
        <p:spPr>
          <a:xfrm>
            <a:off x="4261104"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21" name="Text 19"/>
          <p:cNvSpPr txBox="1"/>
          <p:nvPr/>
        </p:nvSpPr>
        <p:spPr>
          <a:xfrm>
            <a:off x="5193792"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68.4%</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 name="Shape 21"/>
          <p:cNvSpPr/>
          <p:nvPr/>
        </p:nvSpPr>
        <p:spPr>
          <a:xfrm>
            <a:off x="2670048" y="2253700"/>
            <a:ext cx="483297" cy="136676"/>
          </a:xfrm>
          <a:prstGeom prst="rect">
            <a:avLst/>
          </a:prstGeom>
          <a:solidFill>
            <a:srgbClr val="C2352F"/>
          </a:solidFill>
          <a:ln/>
        </p:spPr>
      </p:sp>
      <p:sp>
        <p:nvSpPr>
          <p:cNvPr id="24" name="Text 22"/>
          <p:cNvSpPr txBox="1"/>
          <p:nvPr/>
        </p:nvSpPr>
        <p:spPr>
          <a:xfrm>
            <a:off x="3474720"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$102K</a:t>
            </a:r>
            <a:endParaRPr lang="en-US" sz="1300" dirty="0"/>
          </a:p>
        </p:txBody>
      </p:sp>
      <p:sp>
        <p:nvSpPr>
          <p:cNvPr id="25" name="Text 23"/>
          <p:cNvSpPr txBox="1"/>
          <p:nvPr/>
        </p:nvSpPr>
        <p:spPr>
          <a:xfrm>
            <a:off x="4261104"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 of 23</a:t>
            </a:r>
            <a:endParaRPr lang="en-US" sz="1300" dirty="0"/>
          </a:p>
        </p:txBody>
      </p:sp>
      <p:sp>
        <p:nvSpPr>
          <p:cNvPr id="26" name="Text 24"/>
          <p:cNvSpPr txBox="1"/>
          <p:nvPr/>
        </p:nvSpPr>
        <p:spPr>
          <a:xfrm>
            <a:off x="5193792"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91.0%</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8" name="Shape 26"/>
          <p:cNvSpPr/>
          <p:nvPr/>
        </p:nvSpPr>
        <p:spPr>
          <a:xfrm>
            <a:off x="2670048" y="2502202"/>
            <a:ext cx="476411" cy="136676"/>
          </a:xfrm>
          <a:prstGeom prst="rect">
            <a:avLst/>
          </a:prstGeom>
          <a:solidFill>
            <a:srgbClr val="C2352F"/>
          </a:solidFill>
          <a:ln/>
        </p:spPr>
      </p:sp>
      <p:sp>
        <p:nvSpPr>
          <p:cNvPr id="29" name="Text 27"/>
          <p:cNvSpPr txBox="1"/>
          <p:nvPr/>
        </p:nvSpPr>
        <p:spPr>
          <a:xfrm>
            <a:off x="3474720"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30" name="Text 28"/>
          <p:cNvSpPr txBox="1"/>
          <p:nvPr/>
        </p:nvSpPr>
        <p:spPr>
          <a:xfrm>
            <a:off x="4261104"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14</a:t>
            </a:r>
            <a:endParaRPr lang="en-US" sz="1300" dirty="0"/>
          </a:p>
        </p:txBody>
      </p:sp>
      <p:sp>
        <p:nvSpPr>
          <p:cNvPr id="31" name="Text 29"/>
          <p:cNvSpPr txBox="1"/>
          <p:nvPr/>
        </p:nvSpPr>
        <p:spPr>
          <a:xfrm>
            <a:off x="5193792"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71.2%</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33" name="Shape 31"/>
          <p:cNvSpPr/>
          <p:nvPr/>
        </p:nvSpPr>
        <p:spPr>
          <a:xfrm>
            <a:off x="2670048" y="2750703"/>
            <a:ext cx="419972" cy="136676"/>
          </a:xfrm>
          <a:prstGeom prst="rect">
            <a:avLst/>
          </a:prstGeom>
          <a:solidFill>
            <a:srgbClr val="C2352F"/>
          </a:solidFill>
          <a:ln/>
        </p:spPr>
      </p:sp>
      <p:sp>
        <p:nvSpPr>
          <p:cNvPr id="34" name="Text 32"/>
          <p:cNvSpPr txBox="1"/>
          <p:nvPr/>
        </p:nvSpPr>
        <p:spPr>
          <a:xfrm>
            <a:off x="3474720"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35" name="Text 33"/>
          <p:cNvSpPr txBox="1"/>
          <p:nvPr/>
        </p:nvSpPr>
        <p:spPr>
          <a:xfrm>
            <a:off x="4261104"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11</a:t>
            </a:r>
            <a:endParaRPr lang="en-US" sz="1300" dirty="0"/>
          </a:p>
        </p:txBody>
      </p:sp>
      <p:sp>
        <p:nvSpPr>
          <p:cNvPr id="36" name="Text 34"/>
          <p:cNvSpPr txBox="1"/>
          <p:nvPr/>
        </p:nvSpPr>
        <p:spPr>
          <a:xfrm>
            <a:off x="5193792"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69.0%</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8" name="Shape 36"/>
          <p:cNvSpPr/>
          <p:nvPr/>
        </p:nvSpPr>
        <p:spPr>
          <a:xfrm>
            <a:off x="2670048" y="2999205"/>
            <a:ext cx="415094" cy="136676"/>
          </a:xfrm>
          <a:prstGeom prst="rect">
            <a:avLst/>
          </a:prstGeom>
          <a:solidFill>
            <a:srgbClr val="C2352F"/>
          </a:solidFill>
          <a:ln/>
        </p:spPr>
      </p:sp>
      <p:sp>
        <p:nvSpPr>
          <p:cNvPr id="39" name="Text 37"/>
          <p:cNvSpPr txBox="1"/>
          <p:nvPr/>
        </p:nvSpPr>
        <p:spPr>
          <a:xfrm>
            <a:off x="3474720"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$87K</a:t>
            </a:r>
            <a:endParaRPr lang="en-US" sz="1300" dirty="0"/>
          </a:p>
        </p:txBody>
      </p:sp>
      <p:sp>
        <p:nvSpPr>
          <p:cNvPr id="40" name="Text 38"/>
          <p:cNvSpPr txBox="1"/>
          <p:nvPr/>
        </p:nvSpPr>
        <p:spPr>
          <a:xfrm>
            <a:off x="4261104"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51</a:t>
            </a:r>
            <a:endParaRPr lang="en-US" sz="1300" dirty="0"/>
          </a:p>
        </p:txBody>
      </p:sp>
      <p:sp>
        <p:nvSpPr>
          <p:cNvPr id="41" name="Text 39"/>
          <p:cNvSpPr txBox="1"/>
          <p:nvPr/>
        </p:nvSpPr>
        <p:spPr>
          <a:xfrm>
            <a:off x="5193792"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103.4%</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247707"/>
            <a:ext cx="367707" cy="136676"/>
          </a:xfrm>
          <a:prstGeom prst="rect">
            <a:avLst/>
          </a:prstGeom>
          <a:solidFill>
            <a:srgbClr val="C2352F"/>
          </a:solidFill>
          <a:ln/>
        </p:spPr>
      </p:sp>
      <p:sp>
        <p:nvSpPr>
          <p:cNvPr id="44" name="Text 42"/>
          <p:cNvSpPr txBox="1"/>
          <p:nvPr/>
        </p:nvSpPr>
        <p:spPr>
          <a:xfrm>
            <a:off x="3474720"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45" name="Text 43"/>
          <p:cNvSpPr txBox="1"/>
          <p:nvPr/>
        </p:nvSpPr>
        <p:spPr>
          <a:xfrm>
            <a:off x="4261104"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22</a:t>
            </a:r>
            <a:endParaRPr lang="en-US" sz="1300" dirty="0"/>
          </a:p>
        </p:txBody>
      </p:sp>
      <p:sp>
        <p:nvSpPr>
          <p:cNvPr id="46" name="Text 44"/>
          <p:cNvSpPr txBox="1"/>
          <p:nvPr/>
        </p:nvSpPr>
        <p:spPr>
          <a:xfrm>
            <a:off x="5193792"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83.6%</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8" name="Shape 46"/>
          <p:cNvSpPr/>
          <p:nvPr/>
        </p:nvSpPr>
        <p:spPr>
          <a:xfrm>
            <a:off x="2670048" y="3496208"/>
            <a:ext cx="364470" cy="136676"/>
          </a:xfrm>
          <a:prstGeom prst="rect">
            <a:avLst/>
          </a:prstGeom>
          <a:solidFill>
            <a:srgbClr val="C2352F"/>
          </a:solidFill>
          <a:ln/>
        </p:spPr>
      </p:sp>
      <p:sp>
        <p:nvSpPr>
          <p:cNvPr id="49" name="Text 47"/>
          <p:cNvSpPr txBox="1"/>
          <p:nvPr/>
        </p:nvSpPr>
        <p:spPr>
          <a:xfrm>
            <a:off x="3474720"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0" name="Text 48"/>
          <p:cNvSpPr txBox="1"/>
          <p:nvPr/>
        </p:nvSpPr>
        <p:spPr>
          <a:xfrm>
            <a:off x="4261104"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12</a:t>
            </a:r>
            <a:endParaRPr lang="en-US" sz="1300" dirty="0"/>
          </a:p>
        </p:txBody>
      </p:sp>
      <p:sp>
        <p:nvSpPr>
          <p:cNvPr id="51" name="Text 49"/>
          <p:cNvSpPr txBox="1"/>
          <p:nvPr/>
        </p:nvSpPr>
        <p:spPr>
          <a:xfrm>
            <a:off x="5193792"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67.5%</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53" name="Shape 51"/>
          <p:cNvSpPr/>
          <p:nvPr/>
        </p:nvSpPr>
        <p:spPr>
          <a:xfrm>
            <a:off x="2670048" y="3744710"/>
            <a:ext cx="361005" cy="136676"/>
          </a:xfrm>
          <a:prstGeom prst="rect">
            <a:avLst/>
          </a:prstGeom>
          <a:solidFill>
            <a:srgbClr val="C2352F"/>
          </a:solidFill>
          <a:ln/>
        </p:spPr>
      </p:sp>
      <p:sp>
        <p:nvSpPr>
          <p:cNvPr id="54" name="Text 52"/>
          <p:cNvSpPr txBox="1"/>
          <p:nvPr/>
        </p:nvSpPr>
        <p:spPr>
          <a:xfrm>
            <a:off x="3474720"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55" name="Text 53"/>
          <p:cNvSpPr txBox="1"/>
          <p:nvPr/>
        </p:nvSpPr>
        <p:spPr>
          <a:xfrm>
            <a:off x="4261104"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11</a:t>
            </a:r>
            <a:endParaRPr lang="en-US" sz="1300" dirty="0"/>
          </a:p>
        </p:txBody>
      </p:sp>
      <p:sp>
        <p:nvSpPr>
          <p:cNvPr id="56" name="Text 54"/>
          <p:cNvSpPr txBox="1"/>
          <p:nvPr/>
        </p:nvSpPr>
        <p:spPr>
          <a:xfrm>
            <a:off x="5193792"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67.4%</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3993212"/>
            <a:ext cx="353265" cy="136676"/>
          </a:xfrm>
          <a:prstGeom prst="rect">
            <a:avLst/>
          </a:prstGeom>
          <a:solidFill>
            <a:srgbClr val="C2352F"/>
          </a:solidFill>
          <a:ln/>
        </p:spPr>
      </p:sp>
      <p:sp>
        <p:nvSpPr>
          <p:cNvPr id="59" name="Text 57"/>
          <p:cNvSpPr txBox="1"/>
          <p:nvPr/>
        </p:nvSpPr>
        <p:spPr>
          <a:xfrm>
            <a:off x="3474720"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60" name="Text 58"/>
          <p:cNvSpPr txBox="1"/>
          <p:nvPr/>
        </p:nvSpPr>
        <p:spPr>
          <a:xfrm>
            <a:off x="4261104"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61" name="Text 59"/>
          <p:cNvSpPr txBox="1"/>
          <p:nvPr/>
        </p:nvSpPr>
        <p:spPr>
          <a:xfrm>
            <a:off x="5193792"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76.8%</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63" name="Shape 61"/>
          <p:cNvSpPr/>
          <p:nvPr/>
        </p:nvSpPr>
        <p:spPr>
          <a:xfrm>
            <a:off x="2670048" y="4241713"/>
            <a:ext cx="333730" cy="136676"/>
          </a:xfrm>
          <a:prstGeom prst="rect">
            <a:avLst/>
          </a:prstGeom>
          <a:solidFill>
            <a:srgbClr val="C2352F"/>
          </a:solidFill>
          <a:ln/>
        </p:spPr>
      </p:sp>
      <p:sp>
        <p:nvSpPr>
          <p:cNvPr id="64" name="Text 62"/>
          <p:cNvSpPr txBox="1"/>
          <p:nvPr/>
        </p:nvSpPr>
        <p:spPr>
          <a:xfrm>
            <a:off x="3474720"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$70K</a:t>
            </a:r>
            <a:endParaRPr lang="en-US" sz="1300" dirty="0"/>
          </a:p>
        </p:txBody>
      </p:sp>
      <p:sp>
        <p:nvSpPr>
          <p:cNvPr id="65" name="Text 63"/>
          <p:cNvSpPr txBox="1"/>
          <p:nvPr/>
        </p:nvSpPr>
        <p:spPr>
          <a:xfrm>
            <a:off x="4261104"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 of 59</a:t>
            </a:r>
            <a:endParaRPr lang="en-US" sz="1300" dirty="0"/>
          </a:p>
        </p:txBody>
      </p:sp>
      <p:sp>
        <p:nvSpPr>
          <p:cNvPr id="66" name="Text 64"/>
          <p:cNvSpPr txBox="1"/>
          <p:nvPr/>
        </p:nvSpPr>
        <p:spPr>
          <a:xfrm>
            <a:off x="5193792"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104.3%</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68" name="Shape 66"/>
          <p:cNvSpPr/>
          <p:nvPr/>
        </p:nvSpPr>
        <p:spPr>
          <a:xfrm>
            <a:off x="2670048" y="4490215"/>
            <a:ext cx="300431" cy="136676"/>
          </a:xfrm>
          <a:prstGeom prst="rect">
            <a:avLst/>
          </a:prstGeom>
          <a:solidFill>
            <a:srgbClr val="C2352F"/>
          </a:solidFill>
          <a:ln/>
        </p:spPr>
      </p:sp>
      <p:sp>
        <p:nvSpPr>
          <p:cNvPr id="69" name="Text 67"/>
          <p:cNvSpPr txBox="1"/>
          <p:nvPr/>
        </p:nvSpPr>
        <p:spPr>
          <a:xfrm>
            <a:off x="3474720"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70" name="Text 68"/>
          <p:cNvSpPr txBox="1"/>
          <p:nvPr/>
        </p:nvSpPr>
        <p:spPr>
          <a:xfrm>
            <a:off x="4261104"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16</a:t>
            </a:r>
            <a:endParaRPr lang="en-US" sz="1300" dirty="0"/>
          </a:p>
        </p:txBody>
      </p:sp>
      <p:sp>
        <p:nvSpPr>
          <p:cNvPr id="71" name="Text 69"/>
          <p:cNvSpPr txBox="1"/>
          <p:nvPr/>
        </p:nvSpPr>
        <p:spPr>
          <a:xfrm>
            <a:off x="5193792"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91.2%</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3" name="Shape 71"/>
          <p:cNvSpPr/>
          <p:nvPr/>
        </p:nvSpPr>
        <p:spPr>
          <a:xfrm>
            <a:off x="2670048" y="4738717"/>
            <a:ext cx="294453" cy="136676"/>
          </a:xfrm>
          <a:prstGeom prst="rect">
            <a:avLst/>
          </a:prstGeom>
          <a:solidFill>
            <a:srgbClr val="C2352F"/>
          </a:solidFill>
          <a:ln/>
        </p:spPr>
      </p:sp>
      <p:sp>
        <p:nvSpPr>
          <p:cNvPr id="74" name="Text 72"/>
          <p:cNvSpPr txBox="1"/>
          <p:nvPr/>
        </p:nvSpPr>
        <p:spPr>
          <a:xfrm>
            <a:off x="3474720"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75" name="Text 73"/>
          <p:cNvSpPr txBox="1"/>
          <p:nvPr/>
        </p:nvSpPr>
        <p:spPr>
          <a:xfrm>
            <a:off x="4261104"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9</a:t>
            </a:r>
            <a:endParaRPr lang="en-US" sz="1300" dirty="0"/>
          </a:p>
        </p:txBody>
      </p:sp>
      <p:sp>
        <p:nvSpPr>
          <p:cNvPr id="76" name="Text 74"/>
          <p:cNvSpPr txBox="1"/>
          <p:nvPr/>
        </p:nvSpPr>
        <p:spPr>
          <a:xfrm>
            <a:off x="5193792"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72.3%</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8" name="Shape 76"/>
          <p:cNvSpPr/>
          <p:nvPr/>
        </p:nvSpPr>
        <p:spPr>
          <a:xfrm>
            <a:off x="2670048" y="4987218"/>
            <a:ext cx="273826" cy="136676"/>
          </a:xfrm>
          <a:prstGeom prst="rect">
            <a:avLst/>
          </a:prstGeom>
          <a:solidFill>
            <a:srgbClr val="C2352F"/>
          </a:solidFill>
          <a:ln/>
        </p:spPr>
      </p:sp>
      <p:sp>
        <p:nvSpPr>
          <p:cNvPr id="79" name="Text 77"/>
          <p:cNvSpPr txBox="1"/>
          <p:nvPr/>
        </p:nvSpPr>
        <p:spPr>
          <a:xfrm>
            <a:off x="3474720"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80" name="Text 78"/>
          <p:cNvSpPr txBox="1"/>
          <p:nvPr/>
        </p:nvSpPr>
        <p:spPr>
          <a:xfrm>
            <a:off x="4261104"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12</a:t>
            </a:r>
            <a:endParaRPr lang="en-US" sz="1300" dirty="0"/>
          </a:p>
        </p:txBody>
      </p:sp>
      <p:sp>
        <p:nvSpPr>
          <p:cNvPr id="81" name="Text 79"/>
          <p:cNvSpPr txBox="1"/>
          <p:nvPr/>
        </p:nvSpPr>
        <p:spPr>
          <a:xfrm>
            <a:off x="5193792"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98.4%</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3" name="Shape 81"/>
          <p:cNvSpPr/>
          <p:nvPr/>
        </p:nvSpPr>
        <p:spPr>
          <a:xfrm>
            <a:off x="2670048" y="5235720"/>
            <a:ext cx="227614" cy="136676"/>
          </a:xfrm>
          <a:prstGeom prst="rect">
            <a:avLst/>
          </a:prstGeom>
          <a:solidFill>
            <a:srgbClr val="C2352F"/>
          </a:solidFill>
          <a:ln/>
        </p:spPr>
      </p:sp>
      <p:sp>
        <p:nvSpPr>
          <p:cNvPr id="84" name="Text 82"/>
          <p:cNvSpPr txBox="1"/>
          <p:nvPr/>
        </p:nvSpPr>
        <p:spPr>
          <a:xfrm>
            <a:off x="3474720"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85" name="Text 83"/>
          <p:cNvSpPr txBox="1"/>
          <p:nvPr/>
        </p:nvSpPr>
        <p:spPr>
          <a:xfrm>
            <a:off x="4261104"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 of 12</a:t>
            </a:r>
            <a:endParaRPr lang="en-US" sz="1300" dirty="0"/>
          </a:p>
        </p:txBody>
      </p:sp>
      <p:sp>
        <p:nvSpPr>
          <p:cNvPr id="86" name="Text 84"/>
          <p:cNvSpPr txBox="1"/>
          <p:nvPr/>
        </p:nvSpPr>
        <p:spPr>
          <a:xfrm>
            <a:off x="5193792"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73.6%</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8" name="Shape 86"/>
          <p:cNvSpPr/>
          <p:nvPr/>
        </p:nvSpPr>
        <p:spPr>
          <a:xfrm>
            <a:off x="2670048" y="5484222"/>
            <a:ext cx="207650" cy="136676"/>
          </a:xfrm>
          <a:prstGeom prst="rect">
            <a:avLst/>
          </a:prstGeom>
          <a:solidFill>
            <a:srgbClr val="C2352F"/>
          </a:solidFill>
          <a:ln/>
        </p:spPr>
      </p:sp>
      <p:sp>
        <p:nvSpPr>
          <p:cNvPr id="89" name="Text 87"/>
          <p:cNvSpPr txBox="1"/>
          <p:nvPr/>
        </p:nvSpPr>
        <p:spPr>
          <a:xfrm>
            <a:off x="3474720"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$44K</a:t>
            </a:r>
            <a:endParaRPr lang="en-US" sz="1300" dirty="0"/>
          </a:p>
        </p:txBody>
      </p:sp>
      <p:sp>
        <p:nvSpPr>
          <p:cNvPr id="90" name="Text 88"/>
          <p:cNvSpPr txBox="1"/>
          <p:nvPr/>
        </p:nvSpPr>
        <p:spPr>
          <a:xfrm>
            <a:off x="4261104"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27</a:t>
            </a:r>
            <a:endParaRPr lang="en-US" sz="1300" dirty="0"/>
          </a:p>
        </p:txBody>
      </p:sp>
      <p:sp>
        <p:nvSpPr>
          <p:cNvPr id="91" name="Text 89"/>
          <p:cNvSpPr txBox="1"/>
          <p:nvPr/>
        </p:nvSpPr>
        <p:spPr>
          <a:xfrm>
            <a:off x="5193792"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96.9%</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3" name="Shape 91"/>
          <p:cNvSpPr/>
          <p:nvPr/>
        </p:nvSpPr>
        <p:spPr>
          <a:xfrm>
            <a:off x="2670048" y="5732723"/>
            <a:ext cx="201603" cy="136676"/>
          </a:xfrm>
          <a:prstGeom prst="rect">
            <a:avLst/>
          </a:prstGeom>
          <a:solidFill>
            <a:srgbClr val="C2352F"/>
          </a:solidFill>
          <a:ln/>
        </p:spPr>
      </p:sp>
      <p:sp>
        <p:nvSpPr>
          <p:cNvPr id="94" name="Text 92"/>
          <p:cNvSpPr txBox="1"/>
          <p:nvPr/>
        </p:nvSpPr>
        <p:spPr>
          <a:xfrm>
            <a:off x="3474720"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95" name="Text 93"/>
          <p:cNvSpPr txBox="1"/>
          <p:nvPr/>
        </p:nvSpPr>
        <p:spPr>
          <a:xfrm>
            <a:off x="4261104" y="567681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17</a:t>
            </a:r>
            <a:endParaRPr lang="en-US" sz="1300" dirty="0"/>
          </a:p>
        </p:txBody>
      </p:sp>
      <p:sp>
        <p:nvSpPr>
          <p:cNvPr id="96" name="Text 94"/>
          <p:cNvSpPr txBox="1"/>
          <p:nvPr/>
        </p:nvSpPr>
        <p:spPr>
          <a:xfrm>
            <a:off x="5193792" y="567681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91.1%</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98" name="Shape 96"/>
          <p:cNvSpPr/>
          <p:nvPr/>
        </p:nvSpPr>
        <p:spPr>
          <a:xfrm>
            <a:off x="8220456" y="1756697"/>
            <a:ext cx="187634" cy="136676"/>
          </a:xfrm>
          <a:prstGeom prst="rect">
            <a:avLst/>
          </a:prstGeom>
          <a:solidFill>
            <a:srgbClr val="C2352F"/>
          </a:solidFill>
          <a:ln/>
        </p:spPr>
      </p:sp>
      <p:sp>
        <p:nvSpPr>
          <p:cNvPr id="99" name="Text 97"/>
          <p:cNvSpPr txBox="1"/>
          <p:nvPr/>
        </p:nvSpPr>
        <p:spPr>
          <a:xfrm>
            <a:off x="9025128"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00" name="Text 98"/>
          <p:cNvSpPr txBox="1"/>
          <p:nvPr/>
        </p:nvSpPr>
        <p:spPr>
          <a:xfrm>
            <a:off x="9811512"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6</a:t>
            </a:r>
            <a:endParaRPr lang="en-US" sz="1300" dirty="0"/>
          </a:p>
        </p:txBody>
      </p:sp>
      <p:sp>
        <p:nvSpPr>
          <p:cNvPr id="101" name="Text 99"/>
          <p:cNvSpPr txBox="1"/>
          <p:nvPr/>
        </p:nvSpPr>
        <p:spPr>
          <a:xfrm>
            <a:off x="10744200"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78.5%</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03" name="Shape 101"/>
          <p:cNvSpPr/>
          <p:nvPr/>
        </p:nvSpPr>
        <p:spPr>
          <a:xfrm>
            <a:off x="8220456" y="2005199"/>
            <a:ext cx="163154" cy="136676"/>
          </a:xfrm>
          <a:prstGeom prst="rect">
            <a:avLst/>
          </a:prstGeom>
          <a:solidFill>
            <a:srgbClr val="C2352F"/>
          </a:solidFill>
          <a:ln/>
        </p:spPr>
      </p:sp>
      <p:sp>
        <p:nvSpPr>
          <p:cNvPr id="104" name="Text 102"/>
          <p:cNvSpPr txBox="1"/>
          <p:nvPr/>
        </p:nvSpPr>
        <p:spPr>
          <a:xfrm>
            <a:off x="9025128"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05" name="Text 103"/>
          <p:cNvSpPr txBox="1"/>
          <p:nvPr/>
        </p:nvSpPr>
        <p:spPr>
          <a:xfrm>
            <a:off x="9811512"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9</a:t>
            </a:r>
            <a:endParaRPr lang="en-US" sz="1300" dirty="0"/>
          </a:p>
        </p:txBody>
      </p:sp>
      <p:sp>
        <p:nvSpPr>
          <p:cNvPr id="106" name="Text 104"/>
          <p:cNvSpPr txBox="1"/>
          <p:nvPr/>
        </p:nvSpPr>
        <p:spPr>
          <a:xfrm>
            <a:off x="10744200"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78.8%</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8" name="Shape 106"/>
          <p:cNvSpPr/>
          <p:nvPr/>
        </p:nvSpPr>
        <p:spPr>
          <a:xfrm>
            <a:off x="8220456" y="2253700"/>
            <a:ext cx="150261" cy="136676"/>
          </a:xfrm>
          <a:prstGeom prst="rect">
            <a:avLst/>
          </a:prstGeom>
          <a:solidFill>
            <a:srgbClr val="C2352F"/>
          </a:solidFill>
          <a:ln/>
        </p:spPr>
      </p:sp>
      <p:sp>
        <p:nvSpPr>
          <p:cNvPr id="109" name="Text 107"/>
          <p:cNvSpPr txBox="1"/>
          <p:nvPr/>
        </p:nvSpPr>
        <p:spPr>
          <a:xfrm>
            <a:off x="9025128"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10" name="Text 108"/>
          <p:cNvSpPr txBox="1"/>
          <p:nvPr/>
        </p:nvSpPr>
        <p:spPr>
          <a:xfrm>
            <a:off x="9811512"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11</a:t>
            </a:r>
            <a:endParaRPr lang="en-US" sz="1300" dirty="0"/>
          </a:p>
        </p:txBody>
      </p:sp>
      <p:sp>
        <p:nvSpPr>
          <p:cNvPr id="111" name="Text 109"/>
          <p:cNvSpPr txBox="1"/>
          <p:nvPr/>
        </p:nvSpPr>
        <p:spPr>
          <a:xfrm>
            <a:off x="10744200"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104.7%</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3" name="Shape 111"/>
          <p:cNvSpPr/>
          <p:nvPr/>
        </p:nvSpPr>
        <p:spPr>
          <a:xfrm>
            <a:off x="8220456" y="2502202"/>
            <a:ext cx="116946" cy="136676"/>
          </a:xfrm>
          <a:prstGeom prst="rect">
            <a:avLst/>
          </a:prstGeom>
          <a:solidFill>
            <a:srgbClr val="C2352F"/>
          </a:solidFill>
          <a:ln/>
        </p:spPr>
      </p:sp>
      <p:sp>
        <p:nvSpPr>
          <p:cNvPr id="114" name="Text 112"/>
          <p:cNvSpPr txBox="1"/>
          <p:nvPr/>
        </p:nvSpPr>
        <p:spPr>
          <a:xfrm>
            <a:off x="9025128"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15" name="Text 113"/>
          <p:cNvSpPr txBox="1"/>
          <p:nvPr/>
        </p:nvSpPr>
        <p:spPr>
          <a:xfrm>
            <a:off x="9811512"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19</a:t>
            </a:r>
            <a:endParaRPr lang="en-US" sz="1300" dirty="0"/>
          </a:p>
        </p:txBody>
      </p:sp>
      <p:sp>
        <p:nvSpPr>
          <p:cNvPr id="116" name="Text 114"/>
          <p:cNvSpPr txBox="1"/>
          <p:nvPr/>
        </p:nvSpPr>
        <p:spPr>
          <a:xfrm>
            <a:off x="10744200"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92.2%</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8" name="Shape 116"/>
          <p:cNvSpPr/>
          <p:nvPr/>
        </p:nvSpPr>
        <p:spPr>
          <a:xfrm>
            <a:off x="8220456" y="2750703"/>
            <a:ext cx="112759" cy="136676"/>
          </a:xfrm>
          <a:prstGeom prst="rect">
            <a:avLst/>
          </a:prstGeom>
          <a:solidFill>
            <a:srgbClr val="C2352F"/>
          </a:solidFill>
          <a:ln/>
        </p:spPr>
      </p:sp>
      <p:sp>
        <p:nvSpPr>
          <p:cNvPr id="119" name="Text 117"/>
          <p:cNvSpPr txBox="1"/>
          <p:nvPr/>
        </p:nvSpPr>
        <p:spPr>
          <a:xfrm>
            <a:off x="9025128"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20" name="Text 118"/>
          <p:cNvSpPr txBox="1"/>
          <p:nvPr/>
        </p:nvSpPr>
        <p:spPr>
          <a:xfrm>
            <a:off x="9811512"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11</a:t>
            </a:r>
            <a:endParaRPr lang="en-US" sz="1300" dirty="0"/>
          </a:p>
        </p:txBody>
      </p:sp>
      <p:sp>
        <p:nvSpPr>
          <p:cNvPr id="121" name="Text 119"/>
          <p:cNvSpPr txBox="1"/>
          <p:nvPr/>
        </p:nvSpPr>
        <p:spPr>
          <a:xfrm>
            <a:off x="10744200"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23" name="Shape 121"/>
          <p:cNvSpPr/>
          <p:nvPr/>
        </p:nvSpPr>
        <p:spPr>
          <a:xfrm>
            <a:off x="8220456" y="2999205"/>
            <a:ext cx="105168" cy="136676"/>
          </a:xfrm>
          <a:prstGeom prst="rect">
            <a:avLst/>
          </a:prstGeom>
          <a:solidFill>
            <a:srgbClr val="C2352F"/>
          </a:solidFill>
          <a:ln/>
        </p:spPr>
      </p:sp>
      <p:sp>
        <p:nvSpPr>
          <p:cNvPr id="124" name="Text 122"/>
          <p:cNvSpPr txBox="1"/>
          <p:nvPr/>
        </p:nvSpPr>
        <p:spPr>
          <a:xfrm>
            <a:off x="9025128"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25" name="Text 123"/>
          <p:cNvSpPr txBox="1"/>
          <p:nvPr/>
        </p:nvSpPr>
        <p:spPr>
          <a:xfrm>
            <a:off x="9811512"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12</a:t>
            </a:r>
            <a:endParaRPr lang="en-US" sz="1300" dirty="0"/>
          </a:p>
        </p:txBody>
      </p:sp>
      <p:sp>
        <p:nvSpPr>
          <p:cNvPr id="126" name="Text 124"/>
          <p:cNvSpPr txBox="1"/>
          <p:nvPr/>
        </p:nvSpPr>
        <p:spPr>
          <a:xfrm>
            <a:off x="10744200"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109.7%</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28" name="Shape 126"/>
          <p:cNvSpPr/>
          <p:nvPr/>
        </p:nvSpPr>
        <p:spPr>
          <a:xfrm>
            <a:off x="8220456" y="3247707"/>
            <a:ext cx="98507" cy="136676"/>
          </a:xfrm>
          <a:prstGeom prst="rect">
            <a:avLst/>
          </a:prstGeom>
          <a:solidFill>
            <a:srgbClr val="C2352F"/>
          </a:solidFill>
          <a:ln/>
        </p:spPr>
      </p:sp>
      <p:sp>
        <p:nvSpPr>
          <p:cNvPr id="129" name="Text 127"/>
          <p:cNvSpPr txBox="1"/>
          <p:nvPr/>
        </p:nvSpPr>
        <p:spPr>
          <a:xfrm>
            <a:off x="9025128"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30" name="Text 128"/>
          <p:cNvSpPr txBox="1"/>
          <p:nvPr/>
        </p:nvSpPr>
        <p:spPr>
          <a:xfrm>
            <a:off x="9811512"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5</a:t>
            </a:r>
            <a:endParaRPr lang="en-US" sz="1300" dirty="0"/>
          </a:p>
        </p:txBody>
      </p:sp>
      <p:sp>
        <p:nvSpPr>
          <p:cNvPr id="131" name="Text 129"/>
          <p:cNvSpPr txBox="1"/>
          <p:nvPr/>
        </p:nvSpPr>
        <p:spPr>
          <a:xfrm>
            <a:off x="10744200"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70.0%</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3" name="Shape 131"/>
          <p:cNvSpPr/>
          <p:nvPr/>
        </p:nvSpPr>
        <p:spPr>
          <a:xfrm>
            <a:off x="8220456" y="3496208"/>
            <a:ext cx="97766" cy="136676"/>
          </a:xfrm>
          <a:prstGeom prst="rect">
            <a:avLst/>
          </a:prstGeom>
          <a:solidFill>
            <a:srgbClr val="C2352F"/>
          </a:solidFill>
          <a:ln/>
        </p:spPr>
      </p:sp>
      <p:sp>
        <p:nvSpPr>
          <p:cNvPr id="134" name="Text 132"/>
          <p:cNvSpPr txBox="1"/>
          <p:nvPr/>
        </p:nvSpPr>
        <p:spPr>
          <a:xfrm>
            <a:off x="9025128"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35" name="Text 133"/>
          <p:cNvSpPr txBox="1"/>
          <p:nvPr/>
        </p:nvSpPr>
        <p:spPr>
          <a:xfrm>
            <a:off x="9811512"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6</a:t>
            </a:r>
            <a:endParaRPr lang="en-US" sz="1300" dirty="0"/>
          </a:p>
        </p:txBody>
      </p:sp>
      <p:sp>
        <p:nvSpPr>
          <p:cNvPr id="136" name="Text 134"/>
          <p:cNvSpPr txBox="1"/>
          <p:nvPr/>
        </p:nvSpPr>
        <p:spPr>
          <a:xfrm>
            <a:off x="10744200"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81.4%</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38" name="Shape 136"/>
          <p:cNvSpPr/>
          <p:nvPr/>
        </p:nvSpPr>
        <p:spPr>
          <a:xfrm>
            <a:off x="8220456" y="3744710"/>
            <a:ext cx="95452" cy="136676"/>
          </a:xfrm>
          <a:prstGeom prst="rect">
            <a:avLst/>
          </a:prstGeom>
          <a:solidFill>
            <a:srgbClr val="C2352F"/>
          </a:solidFill>
          <a:ln/>
        </p:spPr>
      </p:sp>
      <p:sp>
        <p:nvSpPr>
          <p:cNvPr id="139" name="Text 137"/>
          <p:cNvSpPr txBox="1"/>
          <p:nvPr/>
        </p:nvSpPr>
        <p:spPr>
          <a:xfrm>
            <a:off x="9025128"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40" name="Text 138"/>
          <p:cNvSpPr txBox="1"/>
          <p:nvPr/>
        </p:nvSpPr>
        <p:spPr>
          <a:xfrm>
            <a:off x="9811512"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10</a:t>
            </a:r>
            <a:endParaRPr lang="en-US" sz="1300" dirty="0"/>
          </a:p>
        </p:txBody>
      </p:sp>
      <p:sp>
        <p:nvSpPr>
          <p:cNvPr id="141" name="Text 139"/>
          <p:cNvSpPr txBox="1"/>
          <p:nvPr/>
        </p:nvSpPr>
        <p:spPr>
          <a:xfrm>
            <a:off x="10744200"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117.1%</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3" name="Shape 141"/>
          <p:cNvSpPr/>
          <p:nvPr/>
        </p:nvSpPr>
        <p:spPr>
          <a:xfrm>
            <a:off x="8220456" y="3993212"/>
            <a:ext cx="71097" cy="136676"/>
          </a:xfrm>
          <a:prstGeom prst="rect">
            <a:avLst/>
          </a:prstGeom>
          <a:solidFill>
            <a:srgbClr val="C2352F"/>
          </a:solidFill>
          <a:ln/>
        </p:spPr>
      </p:sp>
      <p:sp>
        <p:nvSpPr>
          <p:cNvPr id="144" name="Text 142"/>
          <p:cNvSpPr txBox="1"/>
          <p:nvPr/>
        </p:nvSpPr>
        <p:spPr>
          <a:xfrm>
            <a:off x="9025128"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45" name="Text 143"/>
          <p:cNvSpPr txBox="1"/>
          <p:nvPr/>
        </p:nvSpPr>
        <p:spPr>
          <a:xfrm>
            <a:off x="9811512"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7</a:t>
            </a:r>
            <a:endParaRPr lang="en-US" sz="1300" dirty="0"/>
          </a:p>
        </p:txBody>
      </p:sp>
      <p:sp>
        <p:nvSpPr>
          <p:cNvPr id="146" name="Text 144"/>
          <p:cNvSpPr txBox="1"/>
          <p:nvPr/>
        </p:nvSpPr>
        <p:spPr>
          <a:xfrm>
            <a:off x="10744200"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106.0%</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8" name="Shape 146"/>
          <p:cNvSpPr/>
          <p:nvPr/>
        </p:nvSpPr>
        <p:spPr>
          <a:xfrm>
            <a:off x="8220456" y="4241713"/>
            <a:ext cx="61565" cy="136676"/>
          </a:xfrm>
          <a:prstGeom prst="rect">
            <a:avLst/>
          </a:prstGeom>
          <a:solidFill>
            <a:srgbClr val="C2352F"/>
          </a:solidFill>
          <a:ln/>
        </p:spPr>
      </p:sp>
      <p:sp>
        <p:nvSpPr>
          <p:cNvPr id="149" name="Text 147"/>
          <p:cNvSpPr txBox="1"/>
          <p:nvPr/>
        </p:nvSpPr>
        <p:spPr>
          <a:xfrm>
            <a:off x="9025128"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50" name="Text 148"/>
          <p:cNvSpPr txBox="1"/>
          <p:nvPr/>
        </p:nvSpPr>
        <p:spPr>
          <a:xfrm>
            <a:off x="9811512"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28</a:t>
            </a:r>
            <a:endParaRPr lang="en-US" sz="1300" dirty="0"/>
          </a:p>
        </p:txBody>
      </p:sp>
      <p:sp>
        <p:nvSpPr>
          <p:cNvPr id="151" name="Text 149"/>
          <p:cNvSpPr txBox="1"/>
          <p:nvPr/>
        </p:nvSpPr>
        <p:spPr>
          <a:xfrm>
            <a:off x="10744200"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118.5%</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3" name="Shape 151"/>
          <p:cNvSpPr/>
          <p:nvPr/>
        </p:nvSpPr>
        <p:spPr>
          <a:xfrm>
            <a:off x="8220456" y="4490215"/>
            <a:ext cx="61457" cy="136676"/>
          </a:xfrm>
          <a:prstGeom prst="rect">
            <a:avLst/>
          </a:prstGeom>
          <a:solidFill>
            <a:srgbClr val="C2352F"/>
          </a:solidFill>
          <a:ln/>
        </p:spPr>
      </p:sp>
      <p:sp>
        <p:nvSpPr>
          <p:cNvPr id="154" name="Text 152"/>
          <p:cNvSpPr txBox="1"/>
          <p:nvPr/>
        </p:nvSpPr>
        <p:spPr>
          <a:xfrm>
            <a:off x="9025128"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55" name="Text 153"/>
          <p:cNvSpPr txBox="1"/>
          <p:nvPr/>
        </p:nvSpPr>
        <p:spPr>
          <a:xfrm>
            <a:off x="9811512"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22</a:t>
            </a:r>
            <a:endParaRPr lang="en-US" sz="1300" dirty="0"/>
          </a:p>
        </p:txBody>
      </p:sp>
      <p:sp>
        <p:nvSpPr>
          <p:cNvPr id="156" name="Text 154"/>
          <p:cNvSpPr txBox="1"/>
          <p:nvPr/>
        </p:nvSpPr>
        <p:spPr>
          <a:xfrm>
            <a:off x="10744200"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109.3%</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58" name="Shape 156"/>
          <p:cNvSpPr/>
          <p:nvPr/>
        </p:nvSpPr>
        <p:spPr>
          <a:xfrm>
            <a:off x="8220456" y="4738717"/>
            <a:ext cx="54038" cy="136676"/>
          </a:xfrm>
          <a:prstGeom prst="rect">
            <a:avLst/>
          </a:prstGeom>
          <a:solidFill>
            <a:srgbClr val="C2352F"/>
          </a:solidFill>
          <a:ln/>
        </p:spPr>
      </p:sp>
      <p:sp>
        <p:nvSpPr>
          <p:cNvPr id="159" name="Text 157"/>
          <p:cNvSpPr txBox="1"/>
          <p:nvPr/>
        </p:nvSpPr>
        <p:spPr>
          <a:xfrm>
            <a:off x="9025128"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60" name="Text 158"/>
          <p:cNvSpPr txBox="1"/>
          <p:nvPr/>
        </p:nvSpPr>
        <p:spPr>
          <a:xfrm>
            <a:off x="9811512"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28</a:t>
            </a:r>
            <a:endParaRPr lang="en-US" sz="1300" dirty="0"/>
          </a:p>
        </p:txBody>
      </p:sp>
      <p:sp>
        <p:nvSpPr>
          <p:cNvPr id="161" name="Text 159"/>
          <p:cNvSpPr txBox="1"/>
          <p:nvPr/>
        </p:nvSpPr>
        <p:spPr>
          <a:xfrm>
            <a:off x="10744200"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108.0%</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3" name="Shape 161"/>
          <p:cNvSpPr/>
          <p:nvPr/>
        </p:nvSpPr>
        <p:spPr>
          <a:xfrm>
            <a:off x="8220456" y="4987218"/>
            <a:ext cx="49766" cy="136676"/>
          </a:xfrm>
          <a:prstGeom prst="rect">
            <a:avLst/>
          </a:prstGeom>
          <a:solidFill>
            <a:srgbClr val="C2352F"/>
          </a:solidFill>
          <a:ln/>
        </p:spPr>
      </p:sp>
      <p:sp>
        <p:nvSpPr>
          <p:cNvPr id="164" name="Text 162"/>
          <p:cNvSpPr txBox="1"/>
          <p:nvPr/>
        </p:nvSpPr>
        <p:spPr>
          <a:xfrm>
            <a:off x="9025128"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65" name="Text 163"/>
          <p:cNvSpPr txBox="1"/>
          <p:nvPr/>
        </p:nvSpPr>
        <p:spPr>
          <a:xfrm>
            <a:off x="9811512"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18</a:t>
            </a:r>
            <a:endParaRPr lang="en-US" sz="1300" dirty="0"/>
          </a:p>
        </p:txBody>
      </p:sp>
      <p:sp>
        <p:nvSpPr>
          <p:cNvPr id="166" name="Text 164"/>
          <p:cNvSpPr txBox="1"/>
          <p:nvPr/>
        </p:nvSpPr>
        <p:spPr>
          <a:xfrm>
            <a:off x="10744200"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102.4%</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68" name="Shape 166"/>
          <p:cNvSpPr/>
          <p:nvPr/>
        </p:nvSpPr>
        <p:spPr>
          <a:xfrm>
            <a:off x="8220456" y="5235720"/>
            <a:ext cx="40736" cy="136676"/>
          </a:xfrm>
          <a:prstGeom prst="rect">
            <a:avLst/>
          </a:prstGeom>
          <a:solidFill>
            <a:srgbClr val="C2352F"/>
          </a:solidFill>
          <a:ln/>
        </p:spPr>
      </p:sp>
      <p:sp>
        <p:nvSpPr>
          <p:cNvPr id="169" name="Text 167"/>
          <p:cNvSpPr txBox="1"/>
          <p:nvPr/>
        </p:nvSpPr>
        <p:spPr>
          <a:xfrm>
            <a:off x="9025128"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170" name="Text 168"/>
          <p:cNvSpPr txBox="1"/>
          <p:nvPr/>
        </p:nvSpPr>
        <p:spPr>
          <a:xfrm>
            <a:off x="9811512"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11</a:t>
            </a:r>
            <a:endParaRPr lang="en-US" sz="1300" dirty="0"/>
          </a:p>
        </p:txBody>
      </p:sp>
      <p:sp>
        <p:nvSpPr>
          <p:cNvPr id="171" name="Text 169"/>
          <p:cNvSpPr txBox="1"/>
          <p:nvPr/>
        </p:nvSpPr>
        <p:spPr>
          <a:xfrm>
            <a:off x="10744200"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101.6%</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73" name="Shape 171"/>
          <p:cNvSpPr/>
          <p:nvPr/>
        </p:nvSpPr>
        <p:spPr>
          <a:xfrm>
            <a:off x="8220456" y="5484222"/>
            <a:ext cx="18288" cy="136676"/>
          </a:xfrm>
          <a:prstGeom prst="rect">
            <a:avLst/>
          </a:prstGeom>
          <a:solidFill>
            <a:srgbClr val="C2352F"/>
          </a:solidFill>
          <a:ln/>
        </p:spPr>
      </p:sp>
      <p:sp>
        <p:nvSpPr>
          <p:cNvPr id="174" name="Text 172"/>
          <p:cNvSpPr txBox="1"/>
          <p:nvPr/>
        </p:nvSpPr>
        <p:spPr>
          <a:xfrm>
            <a:off x="9025128"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175" name="Text 173"/>
          <p:cNvSpPr txBox="1"/>
          <p:nvPr/>
        </p:nvSpPr>
        <p:spPr>
          <a:xfrm>
            <a:off x="9811512"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15</a:t>
            </a:r>
            <a:endParaRPr lang="en-US" sz="1300" dirty="0"/>
          </a:p>
        </p:txBody>
      </p:sp>
      <p:sp>
        <p:nvSpPr>
          <p:cNvPr id="176" name="Text 174"/>
          <p:cNvSpPr txBox="1"/>
          <p:nvPr/>
        </p:nvSpPr>
        <p:spPr>
          <a:xfrm>
            <a:off x="10744200"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109.0%</a:t>
            </a:r>
            <a:endParaRPr lang="en-US" sz="1300" dirty="0"/>
          </a:p>
        </p:txBody>
      </p:sp>
      <p:sp>
        <p:nvSpPr>
          <p:cNvPr id="177" name="Shape 175"/>
          <p:cNvSpPr/>
          <p:nvPr/>
        </p:nvSpPr>
        <p:spPr>
          <a:xfrm>
            <a:off x="457200" y="6126480"/>
            <a:ext cx="11274552" cy="348996"/>
          </a:xfrm>
          <a:prstGeom prst="rect">
            <a:avLst/>
          </a:prstGeom>
          <a:solidFill>
            <a:srgbClr val="FBEBEA"/>
          </a:solidFill>
          <a:ln/>
        </p:spPr>
      </p:sp>
      <p:sp>
        <p:nvSpPr>
          <p:cNvPr id="178" name="Text 176"/>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Six stores hold $647K a month, led by Cadillac at $158K. 6 stores at or above 85% still leave $537K a month.</a:t>
            </a:r>
            <a:endParaRPr lang="en-US" sz="1450" dirty="0"/>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Opportunity as a Share of Gross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4670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7" name="Text 5"/>
          <p:cNvSpPr txBox="1"/>
          <p:nvPr/>
        </p:nvSpPr>
        <p:spPr>
          <a:xfrm>
            <a:off x="41330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8" name="Text 6"/>
          <p:cNvSpPr txBox="1"/>
          <p:nvPr/>
        </p:nvSpPr>
        <p:spPr>
          <a:xfrm>
            <a:off x="500176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9" name="Text 7"/>
          <p:cNvSpPr txBox="1"/>
          <p:nvPr/>
        </p:nvSpPr>
        <p:spPr>
          <a:xfrm>
            <a:off x="889711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10" name="Text 8"/>
          <p:cNvSpPr txBox="1"/>
          <p:nvPr/>
        </p:nvSpPr>
        <p:spPr>
          <a:xfrm>
            <a:off x="96834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11" name="Text 9"/>
          <p:cNvSpPr txBox="1"/>
          <p:nvPr/>
        </p:nvSpPr>
        <p:spPr>
          <a:xfrm>
            <a:off x="1055217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 name="Shape 11"/>
          <p:cNvSpPr/>
          <p:nvPr/>
        </p:nvSpPr>
        <p:spPr>
          <a:xfrm>
            <a:off x="2670048" y="1756697"/>
            <a:ext cx="621792" cy="136676"/>
          </a:xfrm>
          <a:prstGeom prst="rect">
            <a:avLst/>
          </a:prstGeom>
          <a:solidFill>
            <a:srgbClr val="C2352F"/>
          </a:solidFill>
          <a:ln/>
        </p:spPr>
      </p:sp>
      <p:sp>
        <p:nvSpPr>
          <p:cNvPr id="14" name="Text 12"/>
          <p:cNvSpPr txBox="1"/>
          <p:nvPr/>
        </p:nvSpPr>
        <p:spPr>
          <a:xfrm>
            <a:off x="3346704"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31.9%</a:t>
            </a:r>
            <a:endParaRPr lang="en-US" sz="1300" dirty="0"/>
          </a:p>
        </p:txBody>
      </p:sp>
      <p:sp>
        <p:nvSpPr>
          <p:cNvPr id="15" name="Text 13"/>
          <p:cNvSpPr txBox="1"/>
          <p:nvPr/>
        </p:nvSpPr>
        <p:spPr>
          <a:xfrm>
            <a:off x="41330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$88K</a:t>
            </a:r>
            <a:endParaRPr lang="en-US" sz="1300" dirty="0"/>
          </a:p>
        </p:txBody>
      </p:sp>
      <p:sp>
        <p:nvSpPr>
          <p:cNvPr id="16" name="Text 14"/>
          <p:cNvSpPr txBox="1"/>
          <p:nvPr/>
        </p:nvSpPr>
        <p:spPr>
          <a:xfrm>
            <a:off x="500176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$277K</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8" name="Shape 16"/>
          <p:cNvSpPr/>
          <p:nvPr/>
        </p:nvSpPr>
        <p:spPr>
          <a:xfrm>
            <a:off x="2670048" y="2005199"/>
            <a:ext cx="580151" cy="136676"/>
          </a:xfrm>
          <a:prstGeom prst="rect">
            <a:avLst/>
          </a:prstGeom>
          <a:solidFill>
            <a:srgbClr val="C2352F"/>
          </a:solidFill>
          <a:ln/>
        </p:spPr>
      </p:sp>
      <p:sp>
        <p:nvSpPr>
          <p:cNvPr id="19" name="Text 17"/>
          <p:cNvSpPr txBox="1"/>
          <p:nvPr/>
        </p:nvSpPr>
        <p:spPr>
          <a:xfrm>
            <a:off x="3346704"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29.7%</a:t>
            </a:r>
            <a:endParaRPr lang="en-US" sz="1300" dirty="0"/>
          </a:p>
        </p:txBody>
      </p:sp>
      <p:sp>
        <p:nvSpPr>
          <p:cNvPr id="20" name="Text 18"/>
          <p:cNvSpPr txBox="1"/>
          <p:nvPr/>
        </p:nvSpPr>
        <p:spPr>
          <a:xfrm>
            <a:off x="41330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21" name="Text 19"/>
          <p:cNvSpPr txBox="1"/>
          <p:nvPr/>
        </p:nvSpPr>
        <p:spPr>
          <a:xfrm>
            <a:off x="500176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$258K</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3" name="Shape 21"/>
          <p:cNvSpPr/>
          <p:nvPr/>
        </p:nvSpPr>
        <p:spPr>
          <a:xfrm>
            <a:off x="2670048" y="2253700"/>
            <a:ext cx="495930" cy="136676"/>
          </a:xfrm>
          <a:prstGeom prst="rect">
            <a:avLst/>
          </a:prstGeom>
          <a:solidFill>
            <a:srgbClr val="C2352F"/>
          </a:solidFill>
          <a:ln/>
        </p:spPr>
      </p:sp>
      <p:sp>
        <p:nvSpPr>
          <p:cNvPr id="24" name="Text 22"/>
          <p:cNvSpPr txBox="1"/>
          <p:nvPr/>
        </p:nvSpPr>
        <p:spPr>
          <a:xfrm>
            <a:off x="3346704"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25.4%</a:t>
            </a:r>
            <a:endParaRPr lang="en-US" sz="1300" dirty="0"/>
          </a:p>
        </p:txBody>
      </p:sp>
      <p:sp>
        <p:nvSpPr>
          <p:cNvPr id="25" name="Text 23"/>
          <p:cNvSpPr txBox="1"/>
          <p:nvPr/>
        </p:nvSpPr>
        <p:spPr>
          <a:xfrm>
            <a:off x="41330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26" name="Text 24"/>
          <p:cNvSpPr txBox="1"/>
          <p:nvPr/>
        </p:nvSpPr>
        <p:spPr>
          <a:xfrm>
            <a:off x="500176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$299K</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8" name="Shape 26"/>
          <p:cNvSpPr/>
          <p:nvPr/>
        </p:nvSpPr>
        <p:spPr>
          <a:xfrm>
            <a:off x="2670048" y="2502202"/>
            <a:ext cx="479181" cy="136676"/>
          </a:xfrm>
          <a:prstGeom prst="rect">
            <a:avLst/>
          </a:prstGeom>
          <a:solidFill>
            <a:srgbClr val="C2352F"/>
          </a:solidFill>
          <a:ln/>
        </p:spPr>
      </p:sp>
      <p:sp>
        <p:nvSpPr>
          <p:cNvPr id="29" name="Text 27"/>
          <p:cNvSpPr txBox="1"/>
          <p:nvPr/>
        </p:nvSpPr>
        <p:spPr>
          <a:xfrm>
            <a:off x="3346704"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24.6%</a:t>
            </a:r>
            <a:endParaRPr lang="en-US" sz="1300" dirty="0"/>
          </a:p>
        </p:txBody>
      </p:sp>
      <p:sp>
        <p:nvSpPr>
          <p:cNvPr id="30" name="Text 28"/>
          <p:cNvSpPr txBox="1"/>
          <p:nvPr/>
        </p:nvSpPr>
        <p:spPr>
          <a:xfrm>
            <a:off x="41330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31" name="Text 29"/>
          <p:cNvSpPr txBox="1"/>
          <p:nvPr/>
        </p:nvSpPr>
        <p:spPr>
          <a:xfrm>
            <a:off x="500176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$408K</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33" name="Shape 31"/>
          <p:cNvSpPr/>
          <p:nvPr/>
        </p:nvSpPr>
        <p:spPr>
          <a:xfrm>
            <a:off x="2670048" y="2750703"/>
            <a:ext cx="453006" cy="136676"/>
          </a:xfrm>
          <a:prstGeom prst="rect">
            <a:avLst/>
          </a:prstGeom>
          <a:solidFill>
            <a:srgbClr val="C2352F"/>
          </a:solidFill>
          <a:ln/>
        </p:spPr>
      </p:sp>
      <p:sp>
        <p:nvSpPr>
          <p:cNvPr id="34" name="Text 32"/>
          <p:cNvSpPr txBox="1"/>
          <p:nvPr/>
        </p:nvSpPr>
        <p:spPr>
          <a:xfrm>
            <a:off x="3346704"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23.2%</a:t>
            </a:r>
            <a:endParaRPr lang="en-US" sz="1300" dirty="0"/>
          </a:p>
        </p:txBody>
      </p:sp>
      <p:sp>
        <p:nvSpPr>
          <p:cNvPr id="35" name="Text 33"/>
          <p:cNvSpPr txBox="1"/>
          <p:nvPr/>
        </p:nvSpPr>
        <p:spPr>
          <a:xfrm>
            <a:off x="41330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36" name="Text 34"/>
          <p:cNvSpPr txBox="1"/>
          <p:nvPr/>
        </p:nvSpPr>
        <p:spPr>
          <a:xfrm>
            <a:off x="500176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$483K</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38" name="Shape 36"/>
          <p:cNvSpPr/>
          <p:nvPr/>
        </p:nvSpPr>
        <p:spPr>
          <a:xfrm>
            <a:off x="2670048" y="2999205"/>
            <a:ext cx="389713" cy="136676"/>
          </a:xfrm>
          <a:prstGeom prst="rect">
            <a:avLst/>
          </a:prstGeom>
          <a:solidFill>
            <a:srgbClr val="C2352F"/>
          </a:solidFill>
          <a:ln/>
        </p:spPr>
      </p:sp>
      <p:sp>
        <p:nvSpPr>
          <p:cNvPr id="39" name="Text 37"/>
          <p:cNvSpPr txBox="1"/>
          <p:nvPr/>
        </p:nvSpPr>
        <p:spPr>
          <a:xfrm>
            <a:off x="3346704"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a:t>
            </a:r>
            <a:endParaRPr lang="en-US" sz="1300" dirty="0"/>
          </a:p>
        </p:txBody>
      </p:sp>
      <p:sp>
        <p:nvSpPr>
          <p:cNvPr id="40" name="Text 38"/>
          <p:cNvSpPr txBox="1"/>
          <p:nvPr/>
        </p:nvSpPr>
        <p:spPr>
          <a:xfrm>
            <a:off x="41330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41" name="Text 39"/>
          <p:cNvSpPr txBox="1"/>
          <p:nvPr/>
        </p:nvSpPr>
        <p:spPr>
          <a:xfrm>
            <a:off x="500176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$288K</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3" name="Shape 41"/>
          <p:cNvSpPr/>
          <p:nvPr/>
        </p:nvSpPr>
        <p:spPr>
          <a:xfrm>
            <a:off x="2670048" y="3247707"/>
            <a:ext cx="381884" cy="136676"/>
          </a:xfrm>
          <a:prstGeom prst="rect">
            <a:avLst/>
          </a:prstGeom>
          <a:solidFill>
            <a:srgbClr val="C2352F"/>
          </a:solidFill>
          <a:ln/>
        </p:spPr>
      </p:sp>
      <p:sp>
        <p:nvSpPr>
          <p:cNvPr id="44" name="Text 42"/>
          <p:cNvSpPr txBox="1"/>
          <p:nvPr/>
        </p:nvSpPr>
        <p:spPr>
          <a:xfrm>
            <a:off x="3346704"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19.6%</a:t>
            </a:r>
            <a:endParaRPr lang="en-US" sz="1300" dirty="0"/>
          </a:p>
        </p:txBody>
      </p:sp>
      <p:sp>
        <p:nvSpPr>
          <p:cNvPr id="45" name="Text 43"/>
          <p:cNvSpPr txBox="1"/>
          <p:nvPr/>
        </p:nvSpPr>
        <p:spPr>
          <a:xfrm>
            <a:off x="41330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46" name="Text 44"/>
          <p:cNvSpPr txBox="1"/>
          <p:nvPr/>
        </p:nvSpPr>
        <p:spPr>
          <a:xfrm>
            <a:off x="500176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$202K</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Shape 46"/>
          <p:cNvSpPr/>
          <p:nvPr/>
        </p:nvSpPr>
        <p:spPr>
          <a:xfrm>
            <a:off x="2670048" y="3496208"/>
            <a:ext cx="370032" cy="136676"/>
          </a:xfrm>
          <a:prstGeom prst="rect">
            <a:avLst/>
          </a:prstGeom>
          <a:solidFill>
            <a:srgbClr val="C2352F"/>
          </a:solidFill>
          <a:ln/>
        </p:spPr>
      </p:sp>
      <p:sp>
        <p:nvSpPr>
          <p:cNvPr id="49" name="Text 47"/>
          <p:cNvSpPr txBox="1"/>
          <p:nvPr/>
        </p:nvSpPr>
        <p:spPr>
          <a:xfrm>
            <a:off x="3346704"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a:t>
            </a:r>
            <a:endParaRPr lang="en-US" sz="1300" dirty="0"/>
          </a:p>
        </p:txBody>
      </p:sp>
      <p:sp>
        <p:nvSpPr>
          <p:cNvPr id="50" name="Text 48"/>
          <p:cNvSpPr txBox="1"/>
          <p:nvPr/>
        </p:nvSpPr>
        <p:spPr>
          <a:xfrm>
            <a:off x="41330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51" name="Text 49"/>
          <p:cNvSpPr txBox="1"/>
          <p:nvPr/>
        </p:nvSpPr>
        <p:spPr>
          <a:xfrm>
            <a:off x="500176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3" name="Shape 51"/>
          <p:cNvSpPr/>
          <p:nvPr/>
        </p:nvSpPr>
        <p:spPr>
          <a:xfrm>
            <a:off x="2670048" y="3744710"/>
            <a:ext cx="361163" cy="136676"/>
          </a:xfrm>
          <a:prstGeom prst="rect">
            <a:avLst/>
          </a:prstGeom>
          <a:solidFill>
            <a:srgbClr val="C2352F"/>
          </a:solidFill>
          <a:ln/>
        </p:spPr>
      </p:sp>
      <p:sp>
        <p:nvSpPr>
          <p:cNvPr id="54" name="Text 52"/>
          <p:cNvSpPr txBox="1"/>
          <p:nvPr/>
        </p:nvSpPr>
        <p:spPr>
          <a:xfrm>
            <a:off x="3346704"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18.5%</a:t>
            </a:r>
            <a:endParaRPr lang="en-US" sz="1300" dirty="0"/>
          </a:p>
        </p:txBody>
      </p:sp>
      <p:sp>
        <p:nvSpPr>
          <p:cNvPr id="55" name="Text 53"/>
          <p:cNvSpPr txBox="1"/>
          <p:nvPr/>
        </p:nvSpPr>
        <p:spPr>
          <a:xfrm>
            <a:off x="41330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56" name="Text 54"/>
          <p:cNvSpPr txBox="1"/>
          <p:nvPr/>
        </p:nvSpPr>
        <p:spPr>
          <a:xfrm>
            <a:off x="500176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8" name="Shape 56"/>
          <p:cNvSpPr/>
          <p:nvPr/>
        </p:nvSpPr>
        <p:spPr>
          <a:xfrm>
            <a:off x="2670048" y="3993212"/>
            <a:ext cx="289514" cy="136676"/>
          </a:xfrm>
          <a:prstGeom prst="rect">
            <a:avLst/>
          </a:prstGeom>
          <a:solidFill>
            <a:srgbClr val="C2352F"/>
          </a:solidFill>
          <a:ln/>
        </p:spPr>
      </p:sp>
      <p:sp>
        <p:nvSpPr>
          <p:cNvPr id="59" name="Text 57"/>
          <p:cNvSpPr txBox="1"/>
          <p:nvPr/>
        </p:nvSpPr>
        <p:spPr>
          <a:xfrm>
            <a:off x="3346704"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14.8%</a:t>
            </a:r>
            <a:endParaRPr lang="en-US" sz="1300" dirty="0"/>
          </a:p>
        </p:txBody>
      </p:sp>
      <p:sp>
        <p:nvSpPr>
          <p:cNvPr id="60" name="Text 58"/>
          <p:cNvSpPr txBox="1"/>
          <p:nvPr/>
        </p:nvSpPr>
        <p:spPr>
          <a:xfrm>
            <a:off x="41330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61" name="Text 59"/>
          <p:cNvSpPr txBox="1"/>
          <p:nvPr/>
        </p:nvSpPr>
        <p:spPr>
          <a:xfrm>
            <a:off x="500176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$417K</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63" name="Shape 61"/>
          <p:cNvSpPr/>
          <p:nvPr/>
        </p:nvSpPr>
        <p:spPr>
          <a:xfrm>
            <a:off x="2670048" y="4241713"/>
            <a:ext cx="280378" cy="136676"/>
          </a:xfrm>
          <a:prstGeom prst="rect">
            <a:avLst/>
          </a:prstGeom>
          <a:solidFill>
            <a:srgbClr val="C2352F"/>
          </a:solidFill>
          <a:ln/>
        </p:spPr>
      </p:sp>
      <p:sp>
        <p:nvSpPr>
          <p:cNvPr id="64" name="Text 62"/>
          <p:cNvSpPr txBox="1"/>
          <p:nvPr/>
        </p:nvSpPr>
        <p:spPr>
          <a:xfrm>
            <a:off x="3346704"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14.4%</a:t>
            </a:r>
            <a:endParaRPr lang="en-US" sz="1300" dirty="0"/>
          </a:p>
        </p:txBody>
      </p:sp>
      <p:sp>
        <p:nvSpPr>
          <p:cNvPr id="65" name="Text 63"/>
          <p:cNvSpPr txBox="1"/>
          <p:nvPr/>
        </p:nvSpPr>
        <p:spPr>
          <a:xfrm>
            <a:off x="41330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$48K</a:t>
            </a:r>
            <a:endParaRPr lang="en-US" sz="1300" dirty="0"/>
          </a:p>
        </p:txBody>
      </p:sp>
      <p:sp>
        <p:nvSpPr>
          <p:cNvPr id="66" name="Text 64"/>
          <p:cNvSpPr txBox="1"/>
          <p:nvPr/>
        </p:nvSpPr>
        <p:spPr>
          <a:xfrm>
            <a:off x="500176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$333K</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68" name="Shape 66"/>
          <p:cNvSpPr/>
          <p:nvPr/>
        </p:nvSpPr>
        <p:spPr>
          <a:xfrm>
            <a:off x="2670048" y="4490215"/>
            <a:ext cx="265831" cy="136676"/>
          </a:xfrm>
          <a:prstGeom prst="rect">
            <a:avLst/>
          </a:prstGeom>
          <a:solidFill>
            <a:srgbClr val="C2352F"/>
          </a:solidFill>
          <a:ln/>
        </p:spPr>
      </p:sp>
      <p:sp>
        <p:nvSpPr>
          <p:cNvPr id="69" name="Text 67"/>
          <p:cNvSpPr txBox="1"/>
          <p:nvPr/>
        </p:nvSpPr>
        <p:spPr>
          <a:xfrm>
            <a:off x="3346704"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13.6%</a:t>
            </a:r>
            <a:endParaRPr lang="en-US" sz="1300" dirty="0"/>
          </a:p>
        </p:txBody>
      </p:sp>
      <p:sp>
        <p:nvSpPr>
          <p:cNvPr id="70" name="Text 68"/>
          <p:cNvSpPr txBox="1"/>
          <p:nvPr/>
        </p:nvSpPr>
        <p:spPr>
          <a:xfrm>
            <a:off x="41330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$158K</a:t>
            </a:r>
            <a:endParaRPr lang="en-US" sz="1300" dirty="0"/>
          </a:p>
        </p:txBody>
      </p:sp>
      <p:sp>
        <p:nvSpPr>
          <p:cNvPr id="71" name="Text 69"/>
          <p:cNvSpPr txBox="1"/>
          <p:nvPr/>
        </p:nvSpPr>
        <p:spPr>
          <a:xfrm>
            <a:off x="500176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$1.16M</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3" name="Shape 71"/>
          <p:cNvSpPr/>
          <p:nvPr/>
        </p:nvSpPr>
        <p:spPr>
          <a:xfrm>
            <a:off x="2670048" y="4738717"/>
            <a:ext cx="263180" cy="136676"/>
          </a:xfrm>
          <a:prstGeom prst="rect">
            <a:avLst/>
          </a:prstGeom>
          <a:solidFill>
            <a:srgbClr val="C2352F"/>
          </a:solidFill>
          <a:ln/>
        </p:spPr>
      </p:sp>
      <p:sp>
        <p:nvSpPr>
          <p:cNvPr id="74" name="Text 72"/>
          <p:cNvSpPr txBox="1"/>
          <p:nvPr/>
        </p:nvSpPr>
        <p:spPr>
          <a:xfrm>
            <a:off x="3346704"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a:t>
            </a:r>
            <a:endParaRPr lang="en-US" sz="1300" dirty="0"/>
          </a:p>
        </p:txBody>
      </p:sp>
      <p:sp>
        <p:nvSpPr>
          <p:cNvPr id="75" name="Text 73"/>
          <p:cNvSpPr txBox="1"/>
          <p:nvPr/>
        </p:nvSpPr>
        <p:spPr>
          <a:xfrm>
            <a:off x="41330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76" name="Text 74"/>
          <p:cNvSpPr txBox="1"/>
          <p:nvPr/>
        </p:nvSpPr>
        <p:spPr>
          <a:xfrm>
            <a:off x="500176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$573K</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8" name="Shape 76"/>
          <p:cNvSpPr/>
          <p:nvPr/>
        </p:nvSpPr>
        <p:spPr>
          <a:xfrm>
            <a:off x="2670048" y="4987218"/>
            <a:ext cx="225366" cy="136676"/>
          </a:xfrm>
          <a:prstGeom prst="rect">
            <a:avLst/>
          </a:prstGeom>
          <a:solidFill>
            <a:srgbClr val="C2352F"/>
          </a:solidFill>
          <a:ln/>
        </p:spPr>
      </p:sp>
      <p:sp>
        <p:nvSpPr>
          <p:cNvPr id="79" name="Text 77"/>
          <p:cNvSpPr txBox="1"/>
          <p:nvPr/>
        </p:nvSpPr>
        <p:spPr>
          <a:xfrm>
            <a:off x="3346704"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11.6%</a:t>
            </a:r>
            <a:endParaRPr lang="en-US" sz="1300" dirty="0"/>
          </a:p>
        </p:txBody>
      </p:sp>
      <p:sp>
        <p:nvSpPr>
          <p:cNvPr id="80" name="Text 78"/>
          <p:cNvSpPr txBox="1"/>
          <p:nvPr/>
        </p:nvSpPr>
        <p:spPr>
          <a:xfrm>
            <a:off x="41330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81" name="Text 79"/>
          <p:cNvSpPr txBox="1"/>
          <p:nvPr/>
        </p:nvSpPr>
        <p:spPr>
          <a:xfrm>
            <a:off x="500176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$643K</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83" name="Shape 81"/>
          <p:cNvSpPr/>
          <p:nvPr/>
        </p:nvSpPr>
        <p:spPr>
          <a:xfrm>
            <a:off x="2670048" y="5235720"/>
            <a:ext cx="175448" cy="136676"/>
          </a:xfrm>
          <a:prstGeom prst="rect">
            <a:avLst/>
          </a:prstGeom>
          <a:solidFill>
            <a:srgbClr val="C2352F"/>
          </a:solidFill>
          <a:ln/>
        </p:spPr>
      </p:sp>
      <p:sp>
        <p:nvSpPr>
          <p:cNvPr id="84" name="Text 82"/>
          <p:cNvSpPr txBox="1"/>
          <p:nvPr/>
        </p:nvSpPr>
        <p:spPr>
          <a:xfrm>
            <a:off x="3346704"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a:t>
            </a:r>
            <a:endParaRPr lang="en-US" sz="1300" dirty="0"/>
          </a:p>
        </p:txBody>
      </p:sp>
      <p:sp>
        <p:nvSpPr>
          <p:cNvPr id="85" name="Text 83"/>
          <p:cNvSpPr txBox="1"/>
          <p:nvPr/>
        </p:nvSpPr>
        <p:spPr>
          <a:xfrm>
            <a:off x="41330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$63K</a:t>
            </a:r>
            <a:endParaRPr lang="en-US" sz="1300" dirty="0"/>
          </a:p>
        </p:txBody>
      </p:sp>
      <p:sp>
        <p:nvSpPr>
          <p:cNvPr id="86" name="Text 84"/>
          <p:cNvSpPr txBox="1"/>
          <p:nvPr/>
        </p:nvSpPr>
        <p:spPr>
          <a:xfrm>
            <a:off x="500176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$702K</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88" name="Shape 86"/>
          <p:cNvSpPr/>
          <p:nvPr/>
        </p:nvSpPr>
        <p:spPr>
          <a:xfrm>
            <a:off x="2670048" y="5484222"/>
            <a:ext cx="161118" cy="136676"/>
          </a:xfrm>
          <a:prstGeom prst="rect">
            <a:avLst/>
          </a:prstGeom>
          <a:solidFill>
            <a:srgbClr val="C2352F"/>
          </a:solidFill>
          <a:ln/>
        </p:spPr>
      </p:sp>
      <p:sp>
        <p:nvSpPr>
          <p:cNvPr id="89" name="Text 87"/>
          <p:cNvSpPr txBox="1"/>
          <p:nvPr/>
        </p:nvSpPr>
        <p:spPr>
          <a:xfrm>
            <a:off x="3346704"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a:t>
            </a:r>
            <a:endParaRPr lang="en-US" sz="1300" dirty="0"/>
          </a:p>
        </p:txBody>
      </p:sp>
      <p:sp>
        <p:nvSpPr>
          <p:cNvPr id="90" name="Text 88"/>
          <p:cNvSpPr txBox="1"/>
          <p:nvPr/>
        </p:nvSpPr>
        <p:spPr>
          <a:xfrm>
            <a:off x="41330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91" name="Text 89"/>
          <p:cNvSpPr txBox="1"/>
          <p:nvPr/>
        </p:nvSpPr>
        <p:spPr>
          <a:xfrm>
            <a:off x="500176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$1.23M</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93" name="Shape 91"/>
          <p:cNvSpPr/>
          <p:nvPr/>
        </p:nvSpPr>
        <p:spPr>
          <a:xfrm>
            <a:off x="2670048" y="5732723"/>
            <a:ext cx="155810" cy="136676"/>
          </a:xfrm>
          <a:prstGeom prst="rect">
            <a:avLst/>
          </a:prstGeom>
          <a:solidFill>
            <a:srgbClr val="C2352F"/>
          </a:solidFill>
          <a:ln/>
        </p:spPr>
      </p:sp>
      <p:sp>
        <p:nvSpPr>
          <p:cNvPr id="94" name="Text 92"/>
          <p:cNvSpPr txBox="1"/>
          <p:nvPr/>
        </p:nvSpPr>
        <p:spPr>
          <a:xfrm>
            <a:off x="3346704"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a:t>
            </a:r>
            <a:endParaRPr lang="en-US" sz="1300" dirty="0"/>
          </a:p>
        </p:txBody>
      </p:sp>
      <p:sp>
        <p:nvSpPr>
          <p:cNvPr id="95" name="Text 93"/>
          <p:cNvSpPr txBox="1"/>
          <p:nvPr/>
        </p:nvSpPr>
        <p:spPr>
          <a:xfrm>
            <a:off x="41330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96" name="Text 94"/>
          <p:cNvSpPr txBox="1"/>
          <p:nvPr/>
        </p:nvSpPr>
        <p:spPr>
          <a:xfrm>
            <a:off x="500176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$257K</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220456" y="1756697"/>
            <a:ext cx="155313" cy="136676"/>
          </a:xfrm>
          <a:prstGeom prst="rect">
            <a:avLst/>
          </a:prstGeom>
          <a:solidFill>
            <a:srgbClr val="C2352F"/>
          </a:solidFill>
          <a:ln/>
        </p:spPr>
      </p:sp>
      <p:sp>
        <p:nvSpPr>
          <p:cNvPr id="99" name="Text 97"/>
          <p:cNvSpPr txBox="1"/>
          <p:nvPr/>
        </p:nvSpPr>
        <p:spPr>
          <a:xfrm>
            <a:off x="8897112"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a:t>
            </a:r>
            <a:endParaRPr lang="en-US" sz="1300" dirty="0"/>
          </a:p>
        </p:txBody>
      </p:sp>
      <p:sp>
        <p:nvSpPr>
          <p:cNvPr id="100" name="Text 98"/>
          <p:cNvSpPr txBox="1"/>
          <p:nvPr/>
        </p:nvSpPr>
        <p:spPr>
          <a:xfrm>
            <a:off x="96834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101" name="Text 99"/>
          <p:cNvSpPr txBox="1"/>
          <p:nvPr/>
        </p:nvSpPr>
        <p:spPr>
          <a:xfrm>
            <a:off x="1055217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$532K</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3" name="Shape 101"/>
          <p:cNvSpPr/>
          <p:nvPr/>
        </p:nvSpPr>
        <p:spPr>
          <a:xfrm>
            <a:off x="8220456" y="2005199"/>
            <a:ext cx="154055" cy="136676"/>
          </a:xfrm>
          <a:prstGeom prst="rect">
            <a:avLst/>
          </a:prstGeom>
          <a:solidFill>
            <a:srgbClr val="C2352F"/>
          </a:solidFill>
          <a:ln/>
        </p:spPr>
      </p:sp>
      <p:sp>
        <p:nvSpPr>
          <p:cNvPr id="104" name="Text 102"/>
          <p:cNvSpPr txBox="1"/>
          <p:nvPr/>
        </p:nvSpPr>
        <p:spPr>
          <a:xfrm>
            <a:off x="8897112"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endParaRPr lang="en-US" sz="1300" dirty="0"/>
          </a:p>
        </p:txBody>
      </p:sp>
      <p:sp>
        <p:nvSpPr>
          <p:cNvPr id="105" name="Text 103"/>
          <p:cNvSpPr txBox="1"/>
          <p:nvPr/>
        </p:nvSpPr>
        <p:spPr>
          <a:xfrm>
            <a:off x="96834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$32K</a:t>
            </a:r>
            <a:endParaRPr lang="en-US" sz="1300" dirty="0"/>
          </a:p>
        </p:txBody>
      </p:sp>
      <p:sp>
        <p:nvSpPr>
          <p:cNvPr id="106" name="Text 104"/>
          <p:cNvSpPr txBox="1"/>
          <p:nvPr/>
        </p:nvSpPr>
        <p:spPr>
          <a:xfrm>
            <a:off x="1055217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$400K</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8" name="Shape 106"/>
          <p:cNvSpPr/>
          <p:nvPr/>
        </p:nvSpPr>
        <p:spPr>
          <a:xfrm>
            <a:off x="8220456" y="2253700"/>
            <a:ext cx="148215" cy="136676"/>
          </a:xfrm>
          <a:prstGeom prst="rect">
            <a:avLst/>
          </a:prstGeom>
          <a:solidFill>
            <a:srgbClr val="C2352F"/>
          </a:solidFill>
          <a:ln/>
        </p:spPr>
      </p:sp>
      <p:sp>
        <p:nvSpPr>
          <p:cNvPr id="109" name="Text 107"/>
          <p:cNvSpPr txBox="1"/>
          <p:nvPr/>
        </p:nvSpPr>
        <p:spPr>
          <a:xfrm>
            <a:off x="8897112"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a:t>
            </a:r>
            <a:endParaRPr lang="en-US" sz="1300" dirty="0"/>
          </a:p>
        </p:txBody>
      </p:sp>
      <p:sp>
        <p:nvSpPr>
          <p:cNvPr id="110" name="Text 108"/>
          <p:cNvSpPr txBox="1"/>
          <p:nvPr/>
        </p:nvSpPr>
        <p:spPr>
          <a:xfrm>
            <a:off x="96834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11" name="Text 109"/>
          <p:cNvSpPr txBox="1"/>
          <p:nvPr/>
        </p:nvSpPr>
        <p:spPr>
          <a:xfrm>
            <a:off x="1055217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$312K</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3" name="Shape 111"/>
          <p:cNvSpPr/>
          <p:nvPr/>
        </p:nvSpPr>
        <p:spPr>
          <a:xfrm>
            <a:off x="8220456" y="2502202"/>
            <a:ext cx="113006" cy="136676"/>
          </a:xfrm>
          <a:prstGeom prst="rect">
            <a:avLst/>
          </a:prstGeom>
          <a:solidFill>
            <a:srgbClr val="C2352F"/>
          </a:solidFill>
          <a:ln/>
        </p:spPr>
      </p:sp>
      <p:sp>
        <p:nvSpPr>
          <p:cNvPr id="114" name="Text 112"/>
          <p:cNvSpPr txBox="1"/>
          <p:nvPr/>
        </p:nvSpPr>
        <p:spPr>
          <a:xfrm>
            <a:off x="8897112"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a:t>
            </a:r>
            <a:endParaRPr lang="en-US" sz="1300" dirty="0"/>
          </a:p>
        </p:txBody>
      </p:sp>
      <p:sp>
        <p:nvSpPr>
          <p:cNvPr id="115" name="Text 113"/>
          <p:cNvSpPr txBox="1"/>
          <p:nvPr/>
        </p:nvSpPr>
        <p:spPr>
          <a:xfrm>
            <a:off x="96834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$22K</a:t>
            </a:r>
            <a:endParaRPr lang="en-US" sz="1300" dirty="0"/>
          </a:p>
        </p:txBody>
      </p:sp>
      <p:sp>
        <p:nvSpPr>
          <p:cNvPr id="116" name="Text 114"/>
          <p:cNvSpPr txBox="1"/>
          <p:nvPr/>
        </p:nvSpPr>
        <p:spPr>
          <a:xfrm>
            <a:off x="1055217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$382K</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8" name="Shape 116"/>
          <p:cNvSpPr/>
          <p:nvPr/>
        </p:nvSpPr>
        <p:spPr>
          <a:xfrm>
            <a:off x="8220456" y="2750703"/>
            <a:ext cx="100935" cy="136676"/>
          </a:xfrm>
          <a:prstGeom prst="rect">
            <a:avLst/>
          </a:prstGeom>
          <a:solidFill>
            <a:srgbClr val="C2352F"/>
          </a:solidFill>
          <a:ln/>
        </p:spPr>
      </p:sp>
      <p:sp>
        <p:nvSpPr>
          <p:cNvPr id="119" name="Text 117"/>
          <p:cNvSpPr txBox="1"/>
          <p:nvPr/>
        </p:nvSpPr>
        <p:spPr>
          <a:xfrm>
            <a:off x="8897112"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a:t>
            </a:r>
            <a:endParaRPr lang="en-US" sz="1300" dirty="0"/>
          </a:p>
        </p:txBody>
      </p:sp>
      <p:sp>
        <p:nvSpPr>
          <p:cNvPr id="120" name="Text 118"/>
          <p:cNvSpPr txBox="1"/>
          <p:nvPr/>
        </p:nvSpPr>
        <p:spPr>
          <a:xfrm>
            <a:off x="96834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$87K</a:t>
            </a:r>
            <a:endParaRPr lang="en-US" sz="1300" dirty="0"/>
          </a:p>
        </p:txBody>
      </p:sp>
      <p:sp>
        <p:nvSpPr>
          <p:cNvPr id="121" name="Text 119"/>
          <p:cNvSpPr txBox="1"/>
          <p:nvPr/>
        </p:nvSpPr>
        <p:spPr>
          <a:xfrm>
            <a:off x="1055217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$1.69M</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3" name="Shape 121"/>
          <p:cNvSpPr/>
          <p:nvPr/>
        </p:nvSpPr>
        <p:spPr>
          <a:xfrm>
            <a:off x="8220456" y="2999205"/>
            <a:ext cx="93000" cy="136676"/>
          </a:xfrm>
          <a:prstGeom prst="rect">
            <a:avLst/>
          </a:prstGeom>
          <a:solidFill>
            <a:srgbClr val="C2352F"/>
          </a:solidFill>
          <a:ln/>
        </p:spPr>
      </p:sp>
      <p:sp>
        <p:nvSpPr>
          <p:cNvPr id="124" name="Text 122"/>
          <p:cNvSpPr txBox="1"/>
          <p:nvPr/>
        </p:nvSpPr>
        <p:spPr>
          <a:xfrm>
            <a:off x="8897112"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a:t>
            </a:r>
            <a:endParaRPr lang="en-US" sz="1300" dirty="0"/>
          </a:p>
        </p:txBody>
      </p:sp>
      <p:sp>
        <p:nvSpPr>
          <p:cNvPr id="125" name="Text 123"/>
          <p:cNvSpPr txBox="1"/>
          <p:nvPr/>
        </p:nvSpPr>
        <p:spPr>
          <a:xfrm>
            <a:off x="96834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$25K</a:t>
            </a:r>
            <a:endParaRPr lang="en-US" sz="1300" dirty="0"/>
          </a:p>
        </p:txBody>
      </p:sp>
      <p:sp>
        <p:nvSpPr>
          <p:cNvPr id="126" name="Text 124"/>
          <p:cNvSpPr txBox="1"/>
          <p:nvPr/>
        </p:nvSpPr>
        <p:spPr>
          <a:xfrm>
            <a:off x="1055217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$516K</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28" name="Shape 126"/>
          <p:cNvSpPr/>
          <p:nvPr/>
        </p:nvSpPr>
        <p:spPr>
          <a:xfrm>
            <a:off x="8220456" y="3247707"/>
            <a:ext cx="81778" cy="136676"/>
          </a:xfrm>
          <a:prstGeom prst="rect">
            <a:avLst/>
          </a:prstGeom>
          <a:solidFill>
            <a:srgbClr val="C2352F"/>
          </a:solidFill>
          <a:ln/>
        </p:spPr>
      </p:sp>
      <p:sp>
        <p:nvSpPr>
          <p:cNvPr id="129" name="Text 127"/>
          <p:cNvSpPr txBox="1"/>
          <p:nvPr/>
        </p:nvSpPr>
        <p:spPr>
          <a:xfrm>
            <a:off x="8897112"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a:t>
            </a:r>
            <a:endParaRPr lang="en-US" sz="1300" dirty="0"/>
          </a:p>
        </p:txBody>
      </p:sp>
      <p:sp>
        <p:nvSpPr>
          <p:cNvPr id="130" name="Text 128"/>
          <p:cNvSpPr txBox="1"/>
          <p:nvPr/>
        </p:nvSpPr>
        <p:spPr>
          <a:xfrm>
            <a:off x="96834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31" name="Text 129"/>
          <p:cNvSpPr txBox="1"/>
          <p:nvPr/>
        </p:nvSpPr>
        <p:spPr>
          <a:xfrm>
            <a:off x="1055217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$357K</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3" name="Shape 131"/>
          <p:cNvSpPr/>
          <p:nvPr/>
        </p:nvSpPr>
        <p:spPr>
          <a:xfrm>
            <a:off x="8220456" y="3496208"/>
            <a:ext cx="79315" cy="136676"/>
          </a:xfrm>
          <a:prstGeom prst="rect">
            <a:avLst/>
          </a:prstGeom>
          <a:solidFill>
            <a:srgbClr val="C2352F"/>
          </a:solidFill>
          <a:ln/>
        </p:spPr>
      </p:sp>
      <p:sp>
        <p:nvSpPr>
          <p:cNvPr id="134" name="Text 132"/>
          <p:cNvSpPr txBox="1"/>
          <p:nvPr/>
        </p:nvSpPr>
        <p:spPr>
          <a:xfrm>
            <a:off x="8897112"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4.1%</a:t>
            </a:r>
            <a:endParaRPr lang="en-US" sz="1300" dirty="0"/>
          </a:p>
        </p:txBody>
      </p:sp>
      <p:sp>
        <p:nvSpPr>
          <p:cNvPr id="135" name="Text 133"/>
          <p:cNvSpPr txBox="1"/>
          <p:nvPr/>
        </p:nvSpPr>
        <p:spPr>
          <a:xfrm>
            <a:off x="96834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$44K</a:t>
            </a:r>
            <a:endParaRPr lang="en-US" sz="1300" dirty="0"/>
          </a:p>
        </p:txBody>
      </p:sp>
      <p:sp>
        <p:nvSpPr>
          <p:cNvPr id="136" name="Text 134"/>
          <p:cNvSpPr txBox="1"/>
          <p:nvPr/>
        </p:nvSpPr>
        <p:spPr>
          <a:xfrm>
            <a:off x="1055217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$1.07M</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38" name="Shape 136"/>
          <p:cNvSpPr/>
          <p:nvPr/>
        </p:nvSpPr>
        <p:spPr>
          <a:xfrm>
            <a:off x="8220456" y="3744710"/>
            <a:ext cx="77721" cy="136676"/>
          </a:xfrm>
          <a:prstGeom prst="rect">
            <a:avLst/>
          </a:prstGeom>
          <a:solidFill>
            <a:srgbClr val="C2352F"/>
          </a:solidFill>
          <a:ln/>
        </p:spPr>
      </p:sp>
      <p:sp>
        <p:nvSpPr>
          <p:cNvPr id="139" name="Text 137"/>
          <p:cNvSpPr txBox="1"/>
          <p:nvPr/>
        </p:nvSpPr>
        <p:spPr>
          <a:xfrm>
            <a:off x="8897112"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a:t>
            </a:r>
            <a:endParaRPr lang="en-US" sz="1300" dirty="0"/>
          </a:p>
        </p:txBody>
      </p:sp>
      <p:sp>
        <p:nvSpPr>
          <p:cNvPr id="140" name="Text 138"/>
          <p:cNvSpPr txBox="1"/>
          <p:nvPr/>
        </p:nvSpPr>
        <p:spPr>
          <a:xfrm>
            <a:off x="96834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41" name="Text 139"/>
          <p:cNvSpPr txBox="1"/>
          <p:nvPr/>
        </p:nvSpPr>
        <p:spPr>
          <a:xfrm>
            <a:off x="1055217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$504K</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43" name="Shape 141"/>
          <p:cNvSpPr/>
          <p:nvPr/>
        </p:nvSpPr>
        <p:spPr>
          <a:xfrm>
            <a:off x="8220456" y="3993212"/>
            <a:ext cx="56042" cy="136676"/>
          </a:xfrm>
          <a:prstGeom prst="rect">
            <a:avLst/>
          </a:prstGeom>
          <a:solidFill>
            <a:srgbClr val="C2352F"/>
          </a:solidFill>
          <a:ln/>
        </p:spPr>
      </p:sp>
      <p:sp>
        <p:nvSpPr>
          <p:cNvPr id="144" name="Text 142"/>
          <p:cNvSpPr txBox="1"/>
          <p:nvPr/>
        </p:nvSpPr>
        <p:spPr>
          <a:xfrm>
            <a:off x="8897112"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a:t>
            </a:r>
            <a:endParaRPr lang="en-US" sz="1300" dirty="0"/>
          </a:p>
        </p:txBody>
      </p:sp>
      <p:sp>
        <p:nvSpPr>
          <p:cNvPr id="145" name="Text 143"/>
          <p:cNvSpPr txBox="1"/>
          <p:nvPr/>
        </p:nvSpPr>
        <p:spPr>
          <a:xfrm>
            <a:off x="96834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46" name="Text 144"/>
          <p:cNvSpPr txBox="1"/>
          <p:nvPr/>
        </p:nvSpPr>
        <p:spPr>
          <a:xfrm>
            <a:off x="1055217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$2.44M</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220456" y="4241713"/>
            <a:ext cx="51888" cy="136676"/>
          </a:xfrm>
          <a:prstGeom prst="rect">
            <a:avLst/>
          </a:prstGeom>
          <a:solidFill>
            <a:srgbClr val="C2352F"/>
          </a:solidFill>
          <a:ln/>
        </p:spPr>
      </p:sp>
      <p:sp>
        <p:nvSpPr>
          <p:cNvPr id="149" name="Text 147"/>
          <p:cNvSpPr txBox="1"/>
          <p:nvPr/>
        </p:nvSpPr>
        <p:spPr>
          <a:xfrm>
            <a:off x="8897112"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a:t>
            </a:r>
            <a:endParaRPr lang="en-US" sz="1300" dirty="0"/>
          </a:p>
        </p:txBody>
      </p:sp>
      <p:sp>
        <p:nvSpPr>
          <p:cNvPr id="150" name="Text 148"/>
          <p:cNvSpPr txBox="1"/>
          <p:nvPr/>
        </p:nvSpPr>
        <p:spPr>
          <a:xfrm>
            <a:off x="96834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$9K</a:t>
            </a:r>
            <a:endParaRPr lang="en-US" sz="1300" dirty="0"/>
          </a:p>
        </p:txBody>
      </p:sp>
      <p:sp>
        <p:nvSpPr>
          <p:cNvPr id="151" name="Text 149"/>
          <p:cNvSpPr txBox="1"/>
          <p:nvPr/>
        </p:nvSpPr>
        <p:spPr>
          <a:xfrm>
            <a:off x="1055217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$322K</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3" name="Shape 151"/>
          <p:cNvSpPr/>
          <p:nvPr/>
        </p:nvSpPr>
        <p:spPr>
          <a:xfrm>
            <a:off x="8220456" y="4490215"/>
            <a:ext cx="37656" cy="136676"/>
          </a:xfrm>
          <a:prstGeom prst="rect">
            <a:avLst/>
          </a:prstGeom>
          <a:solidFill>
            <a:srgbClr val="C2352F"/>
          </a:solidFill>
          <a:ln/>
        </p:spPr>
      </p:sp>
      <p:sp>
        <p:nvSpPr>
          <p:cNvPr id="154" name="Text 152"/>
          <p:cNvSpPr txBox="1"/>
          <p:nvPr/>
        </p:nvSpPr>
        <p:spPr>
          <a:xfrm>
            <a:off x="8897112"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155" name="Text 153"/>
          <p:cNvSpPr txBox="1"/>
          <p:nvPr/>
        </p:nvSpPr>
        <p:spPr>
          <a:xfrm>
            <a:off x="96834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$10K</a:t>
            </a:r>
            <a:endParaRPr lang="en-US" sz="1300" dirty="0"/>
          </a:p>
        </p:txBody>
      </p:sp>
      <p:sp>
        <p:nvSpPr>
          <p:cNvPr id="156" name="Text 154"/>
          <p:cNvSpPr txBox="1"/>
          <p:nvPr/>
        </p:nvSpPr>
        <p:spPr>
          <a:xfrm>
            <a:off x="1055217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$542K</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58" name="Shape 156"/>
          <p:cNvSpPr/>
          <p:nvPr/>
        </p:nvSpPr>
        <p:spPr>
          <a:xfrm>
            <a:off x="8220456" y="4738717"/>
            <a:ext cx="36383" cy="136676"/>
          </a:xfrm>
          <a:prstGeom prst="rect">
            <a:avLst/>
          </a:prstGeom>
          <a:solidFill>
            <a:srgbClr val="C2352F"/>
          </a:solidFill>
          <a:ln/>
        </p:spPr>
      </p:sp>
      <p:sp>
        <p:nvSpPr>
          <p:cNvPr id="159" name="Text 157"/>
          <p:cNvSpPr txBox="1"/>
          <p:nvPr/>
        </p:nvSpPr>
        <p:spPr>
          <a:xfrm>
            <a:off x="8897112"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160" name="Text 158"/>
          <p:cNvSpPr txBox="1"/>
          <p:nvPr/>
        </p:nvSpPr>
        <p:spPr>
          <a:xfrm>
            <a:off x="96834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$11K</a:t>
            </a:r>
            <a:endParaRPr lang="en-US" sz="1300" dirty="0"/>
          </a:p>
        </p:txBody>
      </p:sp>
      <p:sp>
        <p:nvSpPr>
          <p:cNvPr id="161" name="Text 159"/>
          <p:cNvSpPr txBox="1"/>
          <p:nvPr/>
        </p:nvSpPr>
        <p:spPr>
          <a:xfrm>
            <a:off x="1055217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$609K</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63" name="Shape 161"/>
          <p:cNvSpPr/>
          <p:nvPr/>
        </p:nvSpPr>
        <p:spPr>
          <a:xfrm>
            <a:off x="8220456" y="4987218"/>
            <a:ext cx="26547" cy="136676"/>
          </a:xfrm>
          <a:prstGeom prst="rect">
            <a:avLst/>
          </a:prstGeom>
          <a:solidFill>
            <a:srgbClr val="C2352F"/>
          </a:solidFill>
          <a:ln/>
        </p:spPr>
      </p:sp>
      <p:sp>
        <p:nvSpPr>
          <p:cNvPr id="164" name="Text 162"/>
          <p:cNvSpPr txBox="1"/>
          <p:nvPr/>
        </p:nvSpPr>
        <p:spPr>
          <a:xfrm>
            <a:off x="8897112"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165" name="Text 163"/>
          <p:cNvSpPr txBox="1"/>
          <p:nvPr/>
        </p:nvSpPr>
        <p:spPr>
          <a:xfrm>
            <a:off x="96834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66" name="Text 164"/>
          <p:cNvSpPr txBox="1"/>
          <p:nvPr/>
        </p:nvSpPr>
        <p:spPr>
          <a:xfrm>
            <a:off x="1055217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$949K</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68" name="Shape 166"/>
          <p:cNvSpPr/>
          <p:nvPr/>
        </p:nvSpPr>
        <p:spPr>
          <a:xfrm>
            <a:off x="8220456" y="5235720"/>
            <a:ext cx="18288" cy="136676"/>
          </a:xfrm>
          <a:prstGeom prst="rect">
            <a:avLst/>
          </a:prstGeom>
          <a:solidFill>
            <a:srgbClr val="C2352F"/>
          </a:solidFill>
          <a:ln/>
        </p:spPr>
      </p:sp>
      <p:sp>
        <p:nvSpPr>
          <p:cNvPr id="169" name="Text 167"/>
          <p:cNvSpPr txBox="1"/>
          <p:nvPr/>
        </p:nvSpPr>
        <p:spPr>
          <a:xfrm>
            <a:off x="8897112"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0.8%</a:t>
            </a:r>
            <a:endParaRPr lang="en-US" sz="1300" dirty="0"/>
          </a:p>
        </p:txBody>
      </p:sp>
      <p:sp>
        <p:nvSpPr>
          <p:cNvPr id="170" name="Text 168"/>
          <p:cNvSpPr txBox="1"/>
          <p:nvPr/>
        </p:nvSpPr>
        <p:spPr>
          <a:xfrm>
            <a:off x="96834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71" name="Text 169"/>
          <p:cNvSpPr txBox="1"/>
          <p:nvPr/>
        </p:nvSpPr>
        <p:spPr>
          <a:xfrm>
            <a:off x="1055217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$1.54M</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73" name="Shape 171"/>
          <p:cNvSpPr/>
          <p:nvPr/>
        </p:nvSpPr>
        <p:spPr>
          <a:xfrm>
            <a:off x="8220456" y="5484222"/>
            <a:ext cx="18288" cy="136676"/>
          </a:xfrm>
          <a:prstGeom prst="rect">
            <a:avLst/>
          </a:prstGeom>
          <a:solidFill>
            <a:srgbClr val="C2352F"/>
          </a:solidFill>
          <a:ln/>
        </p:spPr>
      </p:sp>
      <p:sp>
        <p:nvSpPr>
          <p:cNvPr id="174" name="Text 172"/>
          <p:cNvSpPr txBox="1"/>
          <p:nvPr/>
        </p:nvSpPr>
        <p:spPr>
          <a:xfrm>
            <a:off x="8897112"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0.2%</a:t>
            </a:r>
            <a:endParaRPr lang="en-US" sz="1300" dirty="0"/>
          </a:p>
        </p:txBody>
      </p:sp>
      <p:sp>
        <p:nvSpPr>
          <p:cNvPr id="175" name="Text 173"/>
          <p:cNvSpPr txBox="1"/>
          <p:nvPr/>
        </p:nvSpPr>
        <p:spPr>
          <a:xfrm>
            <a:off x="96834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$1K</a:t>
            </a:r>
            <a:endParaRPr lang="en-US" sz="1300" dirty="0"/>
          </a:p>
        </p:txBody>
      </p:sp>
      <p:sp>
        <p:nvSpPr>
          <p:cNvPr id="176" name="Text 174"/>
          <p:cNvSpPr txBox="1"/>
          <p:nvPr/>
        </p:nvSpPr>
        <p:spPr>
          <a:xfrm>
            <a:off x="1055217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$453K</a:t>
            </a:r>
            <a:endParaRPr lang="en-US" sz="1300" dirty="0"/>
          </a:p>
        </p:txBody>
      </p:sp>
      <p:sp>
        <p:nvSpPr>
          <p:cNvPr id="177" name="Shape 175"/>
          <p:cNvSpPr/>
          <p:nvPr/>
        </p:nvSpPr>
        <p:spPr>
          <a:xfrm>
            <a:off x="457200" y="6126480"/>
            <a:ext cx="11274552" cy="615696"/>
          </a:xfrm>
          <a:prstGeom prst="rect">
            <a:avLst/>
          </a:prstGeom>
          <a:solidFill>
            <a:srgbClr val="FBEBE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Group-wide the gap is 8.1% of RO gross. 5 stores are missing a fifth or more, led by Hyundai St George at 32% ($88K of $277K a month).</a:t>
            </a:r>
            <a:endParaRPr lang="en-US" sz="1600" dirty="0"/>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182880" cy="182880"/>
          </a:xfrm>
          <a:prstGeom prst="ellipse">
            <a:avLst/>
          </a:prstGeom>
          <a:solidFill>
            <a:srgbClr val="C2352F"/>
          </a:solidFill>
          <a:ln/>
        </p:spPr>
      </p:sp>
      <p:sp>
        <p:nvSpPr>
          <p:cNvPr id="7" name="Text 5"/>
          <p:cNvSpPr txBox="1"/>
          <p:nvPr/>
        </p:nvSpPr>
        <p:spPr>
          <a:xfrm>
            <a:off x="932688"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Store proficiency (green at or above 85%)</a:t>
            </a:r>
            <a:endParaRPr lang="en-US" sz="1400" dirty="0"/>
          </a:p>
        </p:txBody>
      </p:sp>
      <p:sp>
        <p:nvSpPr>
          <p:cNvPr id="8" name="Shape 6"/>
          <p:cNvSpPr/>
          <p:nvPr/>
        </p:nvSpPr>
        <p:spPr>
          <a:xfrm>
            <a:off x="6208776" y="1371600"/>
            <a:ext cx="182880" cy="182880"/>
          </a:xfrm>
          <a:prstGeom prst="ellipse">
            <a:avLst/>
          </a:prstGeom>
          <a:solidFill>
            <a:srgbClr val="0B2C4A"/>
          </a:solidFill>
          <a:ln/>
        </p:spPr>
      </p:sp>
      <p:sp>
        <p:nvSpPr>
          <p:cNvPr id="9" name="Text 7"/>
          <p:cNvSpPr txBox="1"/>
          <p:nvPr/>
        </p:nvSpPr>
        <p:spPr>
          <a:xfrm>
            <a:off x="6483096"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Top quarter of that store's techs</a:t>
            </a:r>
            <a:endParaRPr lang="en-US" sz="1400" dirty="0"/>
          </a:p>
        </p:txBody>
      </p:sp>
      <p:sp>
        <p:nvSpPr>
          <p:cNvPr id="10" name="Shape 8"/>
          <p:cNvSpPr/>
          <p:nvPr/>
        </p:nvSpPr>
        <p:spPr>
          <a:xfrm>
            <a:off x="3099359" y="1737360"/>
            <a:ext cx="14630" cy="4187952"/>
          </a:xfrm>
          <a:prstGeom prst="rect">
            <a:avLst/>
          </a:prstGeom>
          <a:solidFill>
            <a:srgbClr val="9AA3AD"/>
          </a:solidFill>
          <a:ln/>
        </p:spPr>
      </p:sp>
      <p:sp>
        <p:nvSpPr>
          <p:cNvPr id="11" name="Shape 9"/>
          <p:cNvSpPr/>
          <p:nvPr/>
        </p:nvSpPr>
        <p:spPr>
          <a:xfrm>
            <a:off x="8649767" y="1737360"/>
            <a:ext cx="14630" cy="3941602"/>
          </a:xfrm>
          <a:prstGeom prst="rect">
            <a:avLst/>
          </a:prstGeom>
          <a:solidFill>
            <a:srgbClr val="9AA3AD"/>
          </a:solidFill>
          <a:ln/>
        </p:spPr>
      </p:sp>
      <p:sp>
        <p:nvSpPr>
          <p:cNvPr id="12" name="Text 10"/>
          <p:cNvSpPr txBox="1"/>
          <p:nvPr/>
        </p:nvSpPr>
        <p:spPr>
          <a:xfrm>
            <a:off x="658368"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 name="Shape 11"/>
          <p:cNvSpPr/>
          <p:nvPr/>
        </p:nvSpPr>
        <p:spPr>
          <a:xfrm>
            <a:off x="3507248" y="1846819"/>
            <a:ext cx="645269" cy="27432"/>
          </a:xfrm>
          <a:prstGeom prst="rect">
            <a:avLst/>
          </a:prstGeom>
          <a:solidFill>
            <a:srgbClr val="D9D9D9"/>
          </a:solidFill>
          <a:ln/>
        </p:spPr>
      </p:sp>
      <p:sp>
        <p:nvSpPr>
          <p:cNvPr id="14" name="Shape 12"/>
          <p:cNvSpPr/>
          <p:nvPr/>
        </p:nvSpPr>
        <p:spPr>
          <a:xfrm>
            <a:off x="4074793" y="1782811"/>
            <a:ext cx="155448" cy="155448"/>
          </a:xfrm>
          <a:prstGeom prst="ellipse">
            <a:avLst/>
          </a:prstGeom>
          <a:solidFill>
            <a:srgbClr val="0B2C4A"/>
          </a:solidFill>
          <a:ln/>
        </p:spPr>
      </p:sp>
      <p:sp>
        <p:nvSpPr>
          <p:cNvPr id="15" name="Shape 13"/>
          <p:cNvSpPr/>
          <p:nvPr/>
        </p:nvSpPr>
        <p:spPr>
          <a:xfrm>
            <a:off x="3429524" y="1782811"/>
            <a:ext cx="155448" cy="155448"/>
          </a:xfrm>
          <a:prstGeom prst="ellipse">
            <a:avLst/>
          </a:prstGeom>
          <a:solidFill>
            <a:srgbClr val="12A566"/>
          </a:solidFill>
          <a:ln/>
        </p:spPr>
      </p:sp>
      <p:sp>
        <p:nvSpPr>
          <p:cNvPr id="16" name="Text 14"/>
          <p:cNvSpPr txBox="1"/>
          <p:nvPr/>
        </p:nvSpPr>
        <p:spPr>
          <a:xfrm>
            <a:off x="4498848"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119%</a:t>
            </a:r>
            <a:pPr algn="r" indent="0" marL="0">
              <a:buNone/>
            </a:pPr>
            <a:r>
              <a:rPr lang="en-US" sz="1300" dirty="0">
                <a:solidFill>
                  <a:srgbClr val="0B2C4A"/>
                </a:solidFill>
                <a:latin typeface="Inter" pitchFamily="34" charset="0"/>
                <a:ea typeface="Inter" pitchFamily="34" charset="-122"/>
                <a:cs typeface="Inter" pitchFamily="34" charset="-120"/>
              </a:rPr>
              <a:t>  172%</a:t>
            </a:r>
            <a:endParaRPr lang="en-US" sz="1300" dirty="0"/>
          </a:p>
        </p:txBody>
      </p:sp>
      <p:sp>
        <p:nvSpPr>
          <p:cNvPr id="17" name="Text 15"/>
          <p:cNvSpPr txBox="1"/>
          <p:nvPr/>
        </p:nvSpPr>
        <p:spPr>
          <a:xfrm>
            <a:off x="658368"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 name="Shape 16"/>
          <p:cNvSpPr/>
          <p:nvPr/>
        </p:nvSpPr>
        <p:spPr>
          <a:xfrm>
            <a:off x="3491377" y="2093169"/>
            <a:ext cx="870311" cy="27432"/>
          </a:xfrm>
          <a:prstGeom prst="rect">
            <a:avLst/>
          </a:prstGeom>
          <a:solidFill>
            <a:srgbClr val="D9D9D9"/>
          </a:solidFill>
          <a:ln/>
        </p:spPr>
      </p:sp>
      <p:sp>
        <p:nvSpPr>
          <p:cNvPr id="19" name="Shape 17"/>
          <p:cNvSpPr/>
          <p:nvPr/>
        </p:nvSpPr>
        <p:spPr>
          <a:xfrm>
            <a:off x="4283964" y="2029161"/>
            <a:ext cx="155448" cy="155448"/>
          </a:xfrm>
          <a:prstGeom prst="ellipse">
            <a:avLst/>
          </a:prstGeom>
          <a:solidFill>
            <a:srgbClr val="0B2C4A"/>
          </a:solidFill>
          <a:ln/>
        </p:spPr>
      </p:sp>
      <p:sp>
        <p:nvSpPr>
          <p:cNvPr id="20" name="Shape 18"/>
          <p:cNvSpPr/>
          <p:nvPr/>
        </p:nvSpPr>
        <p:spPr>
          <a:xfrm>
            <a:off x="3413653" y="2029161"/>
            <a:ext cx="155448" cy="155448"/>
          </a:xfrm>
          <a:prstGeom prst="ellipse">
            <a:avLst/>
          </a:prstGeom>
          <a:solidFill>
            <a:srgbClr val="12A566"/>
          </a:solidFill>
          <a:ln/>
        </p:spPr>
      </p:sp>
      <p:sp>
        <p:nvSpPr>
          <p:cNvPr id="21" name="Text 19"/>
          <p:cNvSpPr txBox="1"/>
          <p:nvPr/>
        </p:nvSpPr>
        <p:spPr>
          <a:xfrm>
            <a:off x="4498848"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117%</a:t>
            </a:r>
            <a:pPr algn="r" indent="0" marL="0">
              <a:buNone/>
            </a:pPr>
            <a:r>
              <a:rPr lang="en-US" sz="1300" dirty="0">
                <a:solidFill>
                  <a:srgbClr val="0B2C4A"/>
                </a:solidFill>
                <a:latin typeface="Inter" pitchFamily="34" charset="0"/>
                <a:ea typeface="Inter" pitchFamily="34" charset="-122"/>
                <a:cs typeface="Inter" pitchFamily="34" charset="-120"/>
              </a:rPr>
              <a:t>  194%</a:t>
            </a:r>
            <a:endParaRPr lang="en-US" sz="1300" dirty="0"/>
          </a:p>
        </p:txBody>
      </p:sp>
      <p:sp>
        <p:nvSpPr>
          <p:cNvPr id="22" name="Text 20"/>
          <p:cNvSpPr txBox="1"/>
          <p:nvPr/>
        </p:nvSpPr>
        <p:spPr>
          <a:xfrm>
            <a:off x="658368"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3" name="Shape 21"/>
          <p:cNvSpPr/>
          <p:nvPr/>
        </p:nvSpPr>
        <p:spPr>
          <a:xfrm>
            <a:off x="3402985" y="2339519"/>
            <a:ext cx="434135" cy="27432"/>
          </a:xfrm>
          <a:prstGeom prst="rect">
            <a:avLst/>
          </a:prstGeom>
          <a:solidFill>
            <a:srgbClr val="D9D9D9"/>
          </a:solidFill>
          <a:ln/>
        </p:spPr>
      </p:sp>
      <p:sp>
        <p:nvSpPr>
          <p:cNvPr id="24" name="Shape 22"/>
          <p:cNvSpPr/>
          <p:nvPr/>
        </p:nvSpPr>
        <p:spPr>
          <a:xfrm>
            <a:off x="3759396" y="2275511"/>
            <a:ext cx="155448" cy="155448"/>
          </a:xfrm>
          <a:prstGeom prst="ellipse">
            <a:avLst/>
          </a:prstGeom>
          <a:solidFill>
            <a:srgbClr val="0B2C4A"/>
          </a:solidFill>
          <a:ln/>
        </p:spPr>
      </p:sp>
      <p:sp>
        <p:nvSpPr>
          <p:cNvPr id="25" name="Shape 23"/>
          <p:cNvSpPr/>
          <p:nvPr/>
        </p:nvSpPr>
        <p:spPr>
          <a:xfrm>
            <a:off x="3325261" y="2275511"/>
            <a:ext cx="155448" cy="155448"/>
          </a:xfrm>
          <a:prstGeom prst="ellipse">
            <a:avLst/>
          </a:prstGeom>
          <a:solidFill>
            <a:srgbClr val="12A566"/>
          </a:solidFill>
          <a:ln/>
        </p:spPr>
      </p:sp>
      <p:sp>
        <p:nvSpPr>
          <p:cNvPr id="26" name="Text 24"/>
          <p:cNvSpPr txBox="1"/>
          <p:nvPr/>
        </p:nvSpPr>
        <p:spPr>
          <a:xfrm>
            <a:off x="4498848"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110%</a:t>
            </a:r>
            <a:pPr algn="r" indent="0" marL="0">
              <a:buNone/>
            </a:pPr>
            <a:r>
              <a:rPr lang="en-US" sz="1300" dirty="0">
                <a:solidFill>
                  <a:srgbClr val="0B2C4A"/>
                </a:solidFill>
                <a:latin typeface="Inter" pitchFamily="34" charset="0"/>
                <a:ea typeface="Inter" pitchFamily="34" charset="-122"/>
                <a:cs typeface="Inter" pitchFamily="34" charset="-120"/>
              </a:rPr>
              <a:t>  146%</a:t>
            </a:r>
            <a:endParaRPr lang="en-US" sz="1300" dirty="0"/>
          </a:p>
        </p:txBody>
      </p:sp>
      <p:sp>
        <p:nvSpPr>
          <p:cNvPr id="27" name="Text 25"/>
          <p:cNvSpPr txBox="1"/>
          <p:nvPr/>
        </p:nvSpPr>
        <p:spPr>
          <a:xfrm>
            <a:off x="658368"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8" name="Shape 26"/>
          <p:cNvSpPr/>
          <p:nvPr/>
        </p:nvSpPr>
        <p:spPr>
          <a:xfrm>
            <a:off x="3397238" y="2585869"/>
            <a:ext cx="510500" cy="27432"/>
          </a:xfrm>
          <a:prstGeom prst="rect">
            <a:avLst/>
          </a:prstGeom>
          <a:solidFill>
            <a:srgbClr val="D9D9D9"/>
          </a:solidFill>
          <a:ln/>
        </p:spPr>
      </p:sp>
      <p:sp>
        <p:nvSpPr>
          <p:cNvPr id="29" name="Shape 27"/>
          <p:cNvSpPr/>
          <p:nvPr/>
        </p:nvSpPr>
        <p:spPr>
          <a:xfrm>
            <a:off x="3830014" y="2521861"/>
            <a:ext cx="155448" cy="155448"/>
          </a:xfrm>
          <a:prstGeom prst="ellipse">
            <a:avLst/>
          </a:prstGeom>
          <a:solidFill>
            <a:srgbClr val="0B2C4A"/>
          </a:solidFill>
          <a:ln/>
        </p:spPr>
      </p:sp>
      <p:sp>
        <p:nvSpPr>
          <p:cNvPr id="30" name="Shape 28"/>
          <p:cNvSpPr/>
          <p:nvPr/>
        </p:nvSpPr>
        <p:spPr>
          <a:xfrm>
            <a:off x="3319514" y="2521861"/>
            <a:ext cx="155448" cy="155448"/>
          </a:xfrm>
          <a:prstGeom prst="ellipse">
            <a:avLst/>
          </a:prstGeom>
          <a:solidFill>
            <a:srgbClr val="12A566"/>
          </a:solidFill>
          <a:ln/>
        </p:spPr>
      </p:sp>
      <p:sp>
        <p:nvSpPr>
          <p:cNvPr id="31" name="Text 29"/>
          <p:cNvSpPr txBox="1"/>
          <p:nvPr/>
        </p:nvSpPr>
        <p:spPr>
          <a:xfrm>
            <a:off x="4498848" y="24764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152%</a:t>
            </a:r>
            <a:endParaRPr lang="en-US" sz="1300" dirty="0"/>
          </a:p>
        </p:txBody>
      </p:sp>
      <p:sp>
        <p:nvSpPr>
          <p:cNvPr id="32" name="Text 30"/>
          <p:cNvSpPr txBox="1"/>
          <p:nvPr/>
        </p:nvSpPr>
        <p:spPr>
          <a:xfrm>
            <a:off x="658368"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3" name="Shape 31"/>
          <p:cNvSpPr/>
          <p:nvPr/>
        </p:nvSpPr>
        <p:spPr>
          <a:xfrm>
            <a:off x="3394584" y="2832220"/>
            <a:ext cx="248054" cy="27432"/>
          </a:xfrm>
          <a:prstGeom prst="rect">
            <a:avLst/>
          </a:prstGeom>
          <a:solidFill>
            <a:srgbClr val="D9D9D9"/>
          </a:solidFill>
          <a:ln/>
        </p:spPr>
      </p:sp>
      <p:sp>
        <p:nvSpPr>
          <p:cNvPr id="34" name="Shape 32"/>
          <p:cNvSpPr/>
          <p:nvPr/>
        </p:nvSpPr>
        <p:spPr>
          <a:xfrm>
            <a:off x="3564914" y="2768212"/>
            <a:ext cx="155448" cy="155448"/>
          </a:xfrm>
          <a:prstGeom prst="ellipse">
            <a:avLst/>
          </a:prstGeom>
          <a:solidFill>
            <a:srgbClr val="0B2C4A"/>
          </a:solidFill>
          <a:ln/>
        </p:spPr>
      </p:sp>
      <p:sp>
        <p:nvSpPr>
          <p:cNvPr id="35" name="Shape 33"/>
          <p:cNvSpPr/>
          <p:nvPr/>
        </p:nvSpPr>
        <p:spPr>
          <a:xfrm>
            <a:off x="3316860" y="2768212"/>
            <a:ext cx="155448" cy="155448"/>
          </a:xfrm>
          <a:prstGeom prst="ellipse">
            <a:avLst/>
          </a:prstGeom>
          <a:solidFill>
            <a:srgbClr val="12A566"/>
          </a:solidFill>
          <a:ln/>
        </p:spPr>
      </p:sp>
      <p:sp>
        <p:nvSpPr>
          <p:cNvPr id="36" name="Text 34"/>
          <p:cNvSpPr txBox="1"/>
          <p:nvPr/>
        </p:nvSpPr>
        <p:spPr>
          <a:xfrm>
            <a:off x="4498848" y="27227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130%</a:t>
            </a:r>
            <a:endParaRPr lang="en-US" sz="1300" dirty="0"/>
          </a:p>
        </p:txBody>
      </p:sp>
      <p:sp>
        <p:nvSpPr>
          <p:cNvPr id="37" name="Text 35"/>
          <p:cNvSpPr txBox="1"/>
          <p:nvPr/>
        </p:nvSpPr>
        <p:spPr>
          <a:xfrm>
            <a:off x="658368"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3381966" y="3078570"/>
            <a:ext cx="305207" cy="27432"/>
          </a:xfrm>
          <a:prstGeom prst="rect">
            <a:avLst/>
          </a:prstGeom>
          <a:solidFill>
            <a:srgbClr val="D9D9D9"/>
          </a:solidFill>
          <a:ln/>
        </p:spPr>
      </p:sp>
      <p:sp>
        <p:nvSpPr>
          <p:cNvPr id="39" name="Shape 37"/>
          <p:cNvSpPr/>
          <p:nvPr/>
        </p:nvSpPr>
        <p:spPr>
          <a:xfrm>
            <a:off x="3609449" y="3014562"/>
            <a:ext cx="155448" cy="155448"/>
          </a:xfrm>
          <a:prstGeom prst="ellipse">
            <a:avLst/>
          </a:prstGeom>
          <a:solidFill>
            <a:srgbClr val="0B2C4A"/>
          </a:solidFill>
          <a:ln/>
        </p:spPr>
      </p:sp>
      <p:sp>
        <p:nvSpPr>
          <p:cNvPr id="40" name="Shape 38"/>
          <p:cNvSpPr/>
          <p:nvPr/>
        </p:nvSpPr>
        <p:spPr>
          <a:xfrm>
            <a:off x="3304242" y="3014562"/>
            <a:ext cx="155448" cy="155448"/>
          </a:xfrm>
          <a:prstGeom prst="ellipse">
            <a:avLst/>
          </a:prstGeom>
          <a:solidFill>
            <a:srgbClr val="12A566"/>
          </a:solidFill>
          <a:ln/>
        </p:spPr>
      </p:sp>
      <p:sp>
        <p:nvSpPr>
          <p:cNvPr id="41" name="Text 39"/>
          <p:cNvSpPr txBox="1"/>
          <p:nvPr/>
        </p:nvSpPr>
        <p:spPr>
          <a:xfrm>
            <a:off x="4498848" y="29691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108%</a:t>
            </a:r>
            <a:pPr algn="r" indent="0" marL="0">
              <a:buNone/>
            </a:pPr>
            <a:r>
              <a:rPr lang="en-US" sz="1300" dirty="0">
                <a:solidFill>
                  <a:srgbClr val="0B2C4A"/>
                </a:solidFill>
                <a:latin typeface="Inter" pitchFamily="34" charset="0"/>
                <a:ea typeface="Inter" pitchFamily="34" charset="-122"/>
                <a:cs typeface="Inter" pitchFamily="34" charset="-120"/>
              </a:rPr>
              <a:t>  134%</a:t>
            </a:r>
            <a:endParaRPr lang="en-US" sz="1300" dirty="0"/>
          </a:p>
        </p:txBody>
      </p:sp>
      <p:sp>
        <p:nvSpPr>
          <p:cNvPr id="42" name="Text 40"/>
          <p:cNvSpPr txBox="1"/>
          <p:nvPr/>
        </p:nvSpPr>
        <p:spPr>
          <a:xfrm>
            <a:off x="658368"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3" name="Shape 41"/>
          <p:cNvSpPr/>
          <p:nvPr/>
        </p:nvSpPr>
        <p:spPr>
          <a:xfrm>
            <a:off x="3358657" y="3324920"/>
            <a:ext cx="461897" cy="27432"/>
          </a:xfrm>
          <a:prstGeom prst="rect">
            <a:avLst/>
          </a:prstGeom>
          <a:solidFill>
            <a:srgbClr val="D9D9D9"/>
          </a:solidFill>
          <a:ln/>
        </p:spPr>
      </p:sp>
      <p:sp>
        <p:nvSpPr>
          <p:cNvPr id="44" name="Shape 42"/>
          <p:cNvSpPr/>
          <p:nvPr/>
        </p:nvSpPr>
        <p:spPr>
          <a:xfrm>
            <a:off x="3742830" y="3260912"/>
            <a:ext cx="155448" cy="155448"/>
          </a:xfrm>
          <a:prstGeom prst="ellipse">
            <a:avLst/>
          </a:prstGeom>
          <a:solidFill>
            <a:srgbClr val="0B2C4A"/>
          </a:solidFill>
          <a:ln/>
        </p:spPr>
      </p:sp>
      <p:sp>
        <p:nvSpPr>
          <p:cNvPr id="45" name="Shape 43"/>
          <p:cNvSpPr/>
          <p:nvPr/>
        </p:nvSpPr>
        <p:spPr>
          <a:xfrm>
            <a:off x="3280933" y="3260912"/>
            <a:ext cx="155448" cy="155448"/>
          </a:xfrm>
          <a:prstGeom prst="ellipse">
            <a:avLst/>
          </a:prstGeom>
          <a:solidFill>
            <a:srgbClr val="12A566"/>
          </a:solidFill>
          <a:ln/>
        </p:spPr>
      </p:sp>
      <p:sp>
        <p:nvSpPr>
          <p:cNvPr id="46" name="Text 44"/>
          <p:cNvSpPr txBox="1"/>
          <p:nvPr/>
        </p:nvSpPr>
        <p:spPr>
          <a:xfrm>
            <a:off x="4498848" y="32154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106%</a:t>
            </a:r>
            <a:pPr algn="r" indent="0" marL="0">
              <a:buNone/>
            </a:pPr>
            <a:r>
              <a:rPr lang="en-US" sz="1300" dirty="0">
                <a:solidFill>
                  <a:srgbClr val="0B2C4A"/>
                </a:solidFill>
                <a:latin typeface="Inter" pitchFamily="34" charset="0"/>
                <a:ea typeface="Inter" pitchFamily="34" charset="-122"/>
                <a:cs typeface="Inter" pitchFamily="34" charset="-120"/>
              </a:rPr>
              <a:t>  145%</a:t>
            </a:r>
            <a:endParaRPr lang="en-US" sz="1300" dirty="0"/>
          </a:p>
        </p:txBody>
      </p:sp>
      <p:sp>
        <p:nvSpPr>
          <p:cNvPr id="47" name="Text 45"/>
          <p:cNvSpPr txBox="1"/>
          <p:nvPr/>
        </p:nvSpPr>
        <p:spPr>
          <a:xfrm>
            <a:off x="658368"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8" name="Shape 46"/>
          <p:cNvSpPr/>
          <p:nvPr/>
        </p:nvSpPr>
        <p:spPr>
          <a:xfrm>
            <a:off x="3342460" y="3571270"/>
            <a:ext cx="879840" cy="27432"/>
          </a:xfrm>
          <a:prstGeom prst="rect">
            <a:avLst/>
          </a:prstGeom>
          <a:solidFill>
            <a:srgbClr val="D9D9D9"/>
          </a:solidFill>
          <a:ln/>
        </p:spPr>
      </p:sp>
      <p:sp>
        <p:nvSpPr>
          <p:cNvPr id="49" name="Shape 47"/>
          <p:cNvSpPr/>
          <p:nvPr/>
        </p:nvSpPr>
        <p:spPr>
          <a:xfrm>
            <a:off x="4144576" y="3507262"/>
            <a:ext cx="155448" cy="155448"/>
          </a:xfrm>
          <a:prstGeom prst="ellipse">
            <a:avLst/>
          </a:prstGeom>
          <a:solidFill>
            <a:srgbClr val="0B2C4A"/>
          </a:solidFill>
          <a:ln/>
        </p:spPr>
      </p:sp>
      <p:sp>
        <p:nvSpPr>
          <p:cNvPr id="50" name="Shape 48"/>
          <p:cNvSpPr/>
          <p:nvPr/>
        </p:nvSpPr>
        <p:spPr>
          <a:xfrm>
            <a:off x="3264736" y="3507262"/>
            <a:ext cx="155448" cy="155448"/>
          </a:xfrm>
          <a:prstGeom prst="ellipse">
            <a:avLst/>
          </a:prstGeom>
          <a:solidFill>
            <a:srgbClr val="12A566"/>
          </a:solidFill>
          <a:ln/>
        </p:spPr>
      </p:sp>
      <p:sp>
        <p:nvSpPr>
          <p:cNvPr id="51" name="Text 49"/>
          <p:cNvSpPr txBox="1"/>
          <p:nvPr/>
        </p:nvSpPr>
        <p:spPr>
          <a:xfrm>
            <a:off x="4498848" y="34618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105%</a:t>
            </a:r>
            <a:pPr algn="r" indent="0" marL="0">
              <a:buNone/>
            </a:pPr>
            <a:r>
              <a:rPr lang="en-US" sz="1300" dirty="0">
                <a:solidFill>
                  <a:srgbClr val="0B2C4A"/>
                </a:solidFill>
                <a:latin typeface="Inter" pitchFamily="34" charset="0"/>
                <a:ea typeface="Inter" pitchFamily="34" charset="-122"/>
                <a:cs typeface="Inter" pitchFamily="34" charset="-120"/>
              </a:rPr>
              <a:t>  178%</a:t>
            </a:r>
            <a:endParaRPr lang="en-US" sz="1300" dirty="0"/>
          </a:p>
        </p:txBody>
      </p:sp>
      <p:sp>
        <p:nvSpPr>
          <p:cNvPr id="52" name="Text 50"/>
          <p:cNvSpPr txBox="1"/>
          <p:nvPr/>
        </p:nvSpPr>
        <p:spPr>
          <a:xfrm>
            <a:off x="658368"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53" name="Shape 51"/>
          <p:cNvSpPr/>
          <p:nvPr/>
        </p:nvSpPr>
        <p:spPr>
          <a:xfrm>
            <a:off x="3338325" y="3817620"/>
            <a:ext cx="578029" cy="27432"/>
          </a:xfrm>
          <a:prstGeom prst="rect">
            <a:avLst/>
          </a:prstGeom>
          <a:solidFill>
            <a:srgbClr val="D9D9D9"/>
          </a:solidFill>
          <a:ln/>
        </p:spPr>
      </p:sp>
      <p:sp>
        <p:nvSpPr>
          <p:cNvPr id="54" name="Shape 52"/>
          <p:cNvSpPr/>
          <p:nvPr/>
        </p:nvSpPr>
        <p:spPr>
          <a:xfrm>
            <a:off x="3838629" y="3753612"/>
            <a:ext cx="155448" cy="155448"/>
          </a:xfrm>
          <a:prstGeom prst="ellipse">
            <a:avLst/>
          </a:prstGeom>
          <a:solidFill>
            <a:srgbClr val="0B2C4A"/>
          </a:solidFill>
          <a:ln/>
        </p:spPr>
      </p:sp>
      <p:sp>
        <p:nvSpPr>
          <p:cNvPr id="55" name="Shape 53"/>
          <p:cNvSpPr/>
          <p:nvPr/>
        </p:nvSpPr>
        <p:spPr>
          <a:xfrm>
            <a:off x="3260601" y="3753612"/>
            <a:ext cx="155448" cy="155448"/>
          </a:xfrm>
          <a:prstGeom prst="ellipse">
            <a:avLst/>
          </a:prstGeom>
          <a:solidFill>
            <a:srgbClr val="12A566"/>
          </a:solidFill>
          <a:ln/>
        </p:spPr>
      </p:sp>
      <p:sp>
        <p:nvSpPr>
          <p:cNvPr id="56" name="Text 54"/>
          <p:cNvSpPr txBox="1"/>
          <p:nvPr/>
        </p:nvSpPr>
        <p:spPr>
          <a:xfrm>
            <a:off x="4498848" y="37081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pPr algn="r" indent="0" marL="0">
              <a:buNone/>
            </a:pPr>
            <a:r>
              <a:rPr lang="en-US" sz="1300" dirty="0">
                <a:solidFill>
                  <a:srgbClr val="0B2C4A"/>
                </a:solidFill>
                <a:latin typeface="Inter" pitchFamily="34" charset="0"/>
                <a:ea typeface="Inter" pitchFamily="34" charset="-122"/>
                <a:cs typeface="Inter" pitchFamily="34" charset="-120"/>
              </a:rPr>
              <a:t>  153%</a:t>
            </a:r>
            <a:endParaRPr lang="en-US" sz="1300" dirty="0"/>
          </a:p>
        </p:txBody>
      </p:sp>
      <p:sp>
        <p:nvSpPr>
          <p:cNvPr id="57" name="Text 55"/>
          <p:cNvSpPr txBox="1"/>
          <p:nvPr/>
        </p:nvSpPr>
        <p:spPr>
          <a:xfrm>
            <a:off x="658368"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58" name="Shape 56"/>
          <p:cNvSpPr/>
          <p:nvPr/>
        </p:nvSpPr>
        <p:spPr>
          <a:xfrm>
            <a:off x="3326693" y="4063970"/>
            <a:ext cx="718840" cy="27432"/>
          </a:xfrm>
          <a:prstGeom prst="rect">
            <a:avLst/>
          </a:prstGeom>
          <a:solidFill>
            <a:srgbClr val="D9D9D9"/>
          </a:solidFill>
          <a:ln/>
        </p:spPr>
      </p:sp>
      <p:sp>
        <p:nvSpPr>
          <p:cNvPr id="59" name="Shape 57"/>
          <p:cNvSpPr/>
          <p:nvPr/>
        </p:nvSpPr>
        <p:spPr>
          <a:xfrm>
            <a:off x="3967809" y="3999962"/>
            <a:ext cx="155448" cy="155448"/>
          </a:xfrm>
          <a:prstGeom prst="ellipse">
            <a:avLst/>
          </a:prstGeom>
          <a:solidFill>
            <a:srgbClr val="0B2C4A"/>
          </a:solidFill>
          <a:ln/>
        </p:spPr>
      </p:sp>
      <p:sp>
        <p:nvSpPr>
          <p:cNvPr id="60" name="Shape 58"/>
          <p:cNvSpPr/>
          <p:nvPr/>
        </p:nvSpPr>
        <p:spPr>
          <a:xfrm>
            <a:off x="3248969" y="3999962"/>
            <a:ext cx="155448" cy="155448"/>
          </a:xfrm>
          <a:prstGeom prst="ellipse">
            <a:avLst/>
          </a:prstGeom>
          <a:solidFill>
            <a:srgbClr val="12A566"/>
          </a:solidFill>
          <a:ln/>
        </p:spPr>
      </p:sp>
      <p:sp>
        <p:nvSpPr>
          <p:cNvPr id="61" name="Text 59"/>
          <p:cNvSpPr txBox="1"/>
          <p:nvPr/>
        </p:nvSpPr>
        <p:spPr>
          <a:xfrm>
            <a:off x="4498848" y="39545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103%</a:t>
            </a:r>
            <a:pPr algn="r" indent="0" marL="0">
              <a:buNone/>
            </a:pPr>
            <a:r>
              <a:rPr lang="en-US" sz="1300" dirty="0">
                <a:solidFill>
                  <a:srgbClr val="0B2C4A"/>
                </a:solidFill>
                <a:latin typeface="Inter" pitchFamily="34" charset="0"/>
                <a:ea typeface="Inter" pitchFamily="34" charset="-122"/>
                <a:cs typeface="Inter" pitchFamily="34" charset="-120"/>
              </a:rPr>
              <a:t>  164%</a:t>
            </a:r>
            <a:endParaRPr lang="en-US" sz="1300" dirty="0"/>
          </a:p>
        </p:txBody>
      </p:sp>
      <p:sp>
        <p:nvSpPr>
          <p:cNvPr id="62" name="Text 60"/>
          <p:cNvSpPr txBox="1"/>
          <p:nvPr/>
        </p:nvSpPr>
        <p:spPr>
          <a:xfrm>
            <a:off x="658368"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63" name="Shape 61"/>
          <p:cNvSpPr/>
          <p:nvPr/>
        </p:nvSpPr>
        <p:spPr>
          <a:xfrm>
            <a:off x="3315137" y="4310320"/>
            <a:ext cx="576560" cy="27432"/>
          </a:xfrm>
          <a:prstGeom prst="rect">
            <a:avLst/>
          </a:prstGeom>
          <a:solidFill>
            <a:srgbClr val="D9D9D9"/>
          </a:solidFill>
          <a:ln/>
        </p:spPr>
      </p:sp>
      <p:sp>
        <p:nvSpPr>
          <p:cNvPr id="64" name="Shape 62"/>
          <p:cNvSpPr/>
          <p:nvPr/>
        </p:nvSpPr>
        <p:spPr>
          <a:xfrm>
            <a:off x="3813973" y="4246312"/>
            <a:ext cx="155448" cy="155448"/>
          </a:xfrm>
          <a:prstGeom prst="ellipse">
            <a:avLst/>
          </a:prstGeom>
          <a:solidFill>
            <a:srgbClr val="0B2C4A"/>
          </a:solidFill>
          <a:ln/>
        </p:spPr>
      </p:sp>
      <p:sp>
        <p:nvSpPr>
          <p:cNvPr id="65" name="Shape 63"/>
          <p:cNvSpPr/>
          <p:nvPr/>
        </p:nvSpPr>
        <p:spPr>
          <a:xfrm>
            <a:off x="3237413" y="4246312"/>
            <a:ext cx="155448" cy="155448"/>
          </a:xfrm>
          <a:prstGeom prst="ellipse">
            <a:avLst/>
          </a:prstGeom>
          <a:solidFill>
            <a:srgbClr val="12A566"/>
          </a:solidFill>
          <a:ln/>
        </p:spPr>
      </p:sp>
      <p:sp>
        <p:nvSpPr>
          <p:cNvPr id="66" name="Text 64"/>
          <p:cNvSpPr txBox="1"/>
          <p:nvPr/>
        </p:nvSpPr>
        <p:spPr>
          <a:xfrm>
            <a:off x="4498848" y="42008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151%</a:t>
            </a:r>
            <a:endParaRPr lang="en-US" sz="1300" dirty="0"/>
          </a:p>
        </p:txBody>
      </p:sp>
      <p:sp>
        <p:nvSpPr>
          <p:cNvPr id="67" name="Text 65"/>
          <p:cNvSpPr txBox="1"/>
          <p:nvPr/>
        </p:nvSpPr>
        <p:spPr>
          <a:xfrm>
            <a:off x="658368"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8" name="Shape 66"/>
          <p:cNvSpPr/>
          <p:nvPr/>
        </p:nvSpPr>
        <p:spPr>
          <a:xfrm>
            <a:off x="3305834" y="4556670"/>
            <a:ext cx="253206" cy="27432"/>
          </a:xfrm>
          <a:prstGeom prst="rect">
            <a:avLst/>
          </a:prstGeom>
          <a:solidFill>
            <a:srgbClr val="D9D9D9"/>
          </a:solidFill>
          <a:ln/>
        </p:spPr>
      </p:sp>
      <p:sp>
        <p:nvSpPr>
          <p:cNvPr id="69" name="Shape 67"/>
          <p:cNvSpPr/>
          <p:nvPr/>
        </p:nvSpPr>
        <p:spPr>
          <a:xfrm>
            <a:off x="3481317" y="4492662"/>
            <a:ext cx="155448" cy="155448"/>
          </a:xfrm>
          <a:prstGeom prst="ellipse">
            <a:avLst/>
          </a:prstGeom>
          <a:solidFill>
            <a:srgbClr val="0B2C4A"/>
          </a:solidFill>
          <a:ln/>
        </p:spPr>
      </p:sp>
      <p:sp>
        <p:nvSpPr>
          <p:cNvPr id="70" name="Shape 68"/>
          <p:cNvSpPr/>
          <p:nvPr/>
        </p:nvSpPr>
        <p:spPr>
          <a:xfrm>
            <a:off x="3228110" y="4492662"/>
            <a:ext cx="155448" cy="155448"/>
          </a:xfrm>
          <a:prstGeom prst="ellipse">
            <a:avLst/>
          </a:prstGeom>
          <a:solidFill>
            <a:srgbClr val="12A566"/>
          </a:solidFill>
          <a:ln/>
        </p:spPr>
      </p:sp>
      <p:sp>
        <p:nvSpPr>
          <p:cNvPr id="71" name="Text 69"/>
          <p:cNvSpPr txBox="1"/>
          <p:nvPr/>
        </p:nvSpPr>
        <p:spPr>
          <a:xfrm>
            <a:off x="4498848" y="44472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123%</a:t>
            </a:r>
            <a:endParaRPr lang="en-US" sz="1300" dirty="0"/>
          </a:p>
        </p:txBody>
      </p:sp>
      <p:sp>
        <p:nvSpPr>
          <p:cNvPr id="72" name="Text 70"/>
          <p:cNvSpPr txBox="1"/>
          <p:nvPr/>
        </p:nvSpPr>
        <p:spPr>
          <a:xfrm>
            <a:off x="658368"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3" name="Shape 71"/>
          <p:cNvSpPr/>
          <p:nvPr/>
        </p:nvSpPr>
        <p:spPr>
          <a:xfrm>
            <a:off x="3267627" y="4803020"/>
            <a:ext cx="968031" cy="27432"/>
          </a:xfrm>
          <a:prstGeom prst="rect">
            <a:avLst/>
          </a:prstGeom>
          <a:solidFill>
            <a:srgbClr val="D9D9D9"/>
          </a:solidFill>
          <a:ln/>
        </p:spPr>
      </p:sp>
      <p:sp>
        <p:nvSpPr>
          <p:cNvPr id="74" name="Shape 72"/>
          <p:cNvSpPr/>
          <p:nvPr/>
        </p:nvSpPr>
        <p:spPr>
          <a:xfrm>
            <a:off x="4157934" y="4739012"/>
            <a:ext cx="155448" cy="155448"/>
          </a:xfrm>
          <a:prstGeom prst="ellipse">
            <a:avLst/>
          </a:prstGeom>
          <a:solidFill>
            <a:srgbClr val="0B2C4A"/>
          </a:solidFill>
          <a:ln/>
        </p:spPr>
      </p:sp>
      <p:sp>
        <p:nvSpPr>
          <p:cNvPr id="75" name="Shape 73"/>
          <p:cNvSpPr/>
          <p:nvPr/>
        </p:nvSpPr>
        <p:spPr>
          <a:xfrm>
            <a:off x="3189903" y="4739012"/>
            <a:ext cx="155448" cy="155448"/>
          </a:xfrm>
          <a:prstGeom prst="ellipse">
            <a:avLst/>
          </a:prstGeom>
          <a:solidFill>
            <a:srgbClr val="12A566"/>
          </a:solidFill>
          <a:ln/>
        </p:spPr>
      </p:sp>
      <p:sp>
        <p:nvSpPr>
          <p:cNvPr id="76" name="Text 74"/>
          <p:cNvSpPr txBox="1"/>
          <p:nvPr/>
        </p:nvSpPr>
        <p:spPr>
          <a:xfrm>
            <a:off x="4498848" y="46935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98%</a:t>
            </a:r>
            <a:pPr algn="r" indent="0" marL="0">
              <a:buNone/>
            </a:pPr>
            <a:r>
              <a:rPr lang="en-US" sz="1300" dirty="0">
                <a:solidFill>
                  <a:srgbClr val="0B2C4A"/>
                </a:solidFill>
                <a:latin typeface="Inter" pitchFamily="34" charset="0"/>
                <a:ea typeface="Inter" pitchFamily="34" charset="-122"/>
                <a:cs typeface="Inter" pitchFamily="34" charset="-120"/>
              </a:rPr>
              <a:t>  179%</a:t>
            </a:r>
            <a:endParaRPr lang="en-US" sz="1300" dirty="0"/>
          </a:p>
        </p:txBody>
      </p:sp>
      <p:sp>
        <p:nvSpPr>
          <p:cNvPr id="77" name="Text 75"/>
          <p:cNvSpPr txBox="1"/>
          <p:nvPr/>
        </p:nvSpPr>
        <p:spPr>
          <a:xfrm>
            <a:off x="658368"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8" name="Shape 76"/>
          <p:cNvSpPr/>
          <p:nvPr/>
        </p:nvSpPr>
        <p:spPr>
          <a:xfrm>
            <a:off x="3249769" y="5049371"/>
            <a:ext cx="416296" cy="27432"/>
          </a:xfrm>
          <a:prstGeom prst="rect">
            <a:avLst/>
          </a:prstGeom>
          <a:solidFill>
            <a:srgbClr val="D9D9D9"/>
          </a:solidFill>
          <a:ln/>
        </p:spPr>
      </p:sp>
      <p:sp>
        <p:nvSpPr>
          <p:cNvPr id="79" name="Shape 77"/>
          <p:cNvSpPr/>
          <p:nvPr/>
        </p:nvSpPr>
        <p:spPr>
          <a:xfrm>
            <a:off x="3588341" y="4985363"/>
            <a:ext cx="155448" cy="155448"/>
          </a:xfrm>
          <a:prstGeom prst="ellipse">
            <a:avLst/>
          </a:prstGeom>
          <a:solidFill>
            <a:srgbClr val="0B2C4A"/>
          </a:solidFill>
          <a:ln/>
        </p:spPr>
      </p:sp>
      <p:sp>
        <p:nvSpPr>
          <p:cNvPr id="80" name="Shape 78"/>
          <p:cNvSpPr/>
          <p:nvPr/>
        </p:nvSpPr>
        <p:spPr>
          <a:xfrm>
            <a:off x="3172045" y="4985363"/>
            <a:ext cx="155448" cy="155448"/>
          </a:xfrm>
          <a:prstGeom prst="ellipse">
            <a:avLst/>
          </a:prstGeom>
          <a:solidFill>
            <a:srgbClr val="12A566"/>
          </a:solidFill>
          <a:ln/>
        </p:spPr>
      </p:sp>
      <p:sp>
        <p:nvSpPr>
          <p:cNvPr id="81" name="Text 79"/>
          <p:cNvSpPr txBox="1"/>
          <p:nvPr/>
        </p:nvSpPr>
        <p:spPr>
          <a:xfrm>
            <a:off x="4498848" y="49399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82" name="Text 80"/>
          <p:cNvSpPr txBox="1"/>
          <p:nvPr/>
        </p:nvSpPr>
        <p:spPr>
          <a:xfrm>
            <a:off x="658368"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3" name="Shape 81"/>
          <p:cNvSpPr/>
          <p:nvPr/>
        </p:nvSpPr>
        <p:spPr>
          <a:xfrm>
            <a:off x="3225383" y="5295721"/>
            <a:ext cx="363571" cy="27432"/>
          </a:xfrm>
          <a:prstGeom prst="rect">
            <a:avLst/>
          </a:prstGeom>
          <a:solidFill>
            <a:srgbClr val="D9D9D9"/>
          </a:solidFill>
          <a:ln/>
        </p:spPr>
      </p:sp>
      <p:sp>
        <p:nvSpPr>
          <p:cNvPr id="84" name="Shape 82"/>
          <p:cNvSpPr/>
          <p:nvPr/>
        </p:nvSpPr>
        <p:spPr>
          <a:xfrm>
            <a:off x="3511230" y="5231713"/>
            <a:ext cx="155448" cy="155448"/>
          </a:xfrm>
          <a:prstGeom prst="ellipse">
            <a:avLst/>
          </a:prstGeom>
          <a:solidFill>
            <a:srgbClr val="0B2C4A"/>
          </a:solidFill>
          <a:ln/>
        </p:spPr>
      </p:sp>
      <p:sp>
        <p:nvSpPr>
          <p:cNvPr id="85" name="Shape 83"/>
          <p:cNvSpPr/>
          <p:nvPr/>
        </p:nvSpPr>
        <p:spPr>
          <a:xfrm>
            <a:off x="3147659" y="5231713"/>
            <a:ext cx="155448" cy="155448"/>
          </a:xfrm>
          <a:prstGeom prst="ellipse">
            <a:avLst/>
          </a:prstGeom>
          <a:solidFill>
            <a:srgbClr val="12A566"/>
          </a:solidFill>
          <a:ln/>
        </p:spPr>
      </p:sp>
      <p:sp>
        <p:nvSpPr>
          <p:cNvPr id="86" name="Text 84"/>
          <p:cNvSpPr txBox="1"/>
          <p:nvPr/>
        </p:nvSpPr>
        <p:spPr>
          <a:xfrm>
            <a:off x="4498848" y="51862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95%</a:t>
            </a:r>
            <a:pPr algn="r" indent="0" marL="0">
              <a:buNone/>
            </a:pPr>
            <a:r>
              <a:rPr lang="en-US" sz="1300" dirty="0">
                <a:solidFill>
                  <a:srgbClr val="0B2C4A"/>
                </a:solidFill>
                <a:latin typeface="Inter" pitchFamily="34" charset="0"/>
                <a:ea typeface="Inter" pitchFamily="34" charset="-122"/>
                <a:cs typeface="Inter" pitchFamily="34" charset="-120"/>
              </a:rPr>
              <a:t>  125%</a:t>
            </a:r>
            <a:endParaRPr lang="en-US" sz="1300" dirty="0"/>
          </a:p>
        </p:txBody>
      </p:sp>
      <p:sp>
        <p:nvSpPr>
          <p:cNvPr id="87" name="Text 85"/>
          <p:cNvSpPr txBox="1"/>
          <p:nvPr/>
        </p:nvSpPr>
        <p:spPr>
          <a:xfrm>
            <a:off x="658368"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8" name="Shape 86"/>
          <p:cNvSpPr/>
          <p:nvPr/>
        </p:nvSpPr>
        <p:spPr>
          <a:xfrm>
            <a:off x="3193370" y="5542071"/>
            <a:ext cx="267102" cy="27432"/>
          </a:xfrm>
          <a:prstGeom prst="rect">
            <a:avLst/>
          </a:prstGeom>
          <a:solidFill>
            <a:srgbClr val="D9D9D9"/>
          </a:solidFill>
          <a:ln/>
        </p:spPr>
      </p:sp>
      <p:sp>
        <p:nvSpPr>
          <p:cNvPr id="89" name="Shape 87"/>
          <p:cNvSpPr/>
          <p:nvPr/>
        </p:nvSpPr>
        <p:spPr>
          <a:xfrm>
            <a:off x="3382748" y="5478063"/>
            <a:ext cx="155448" cy="155448"/>
          </a:xfrm>
          <a:prstGeom prst="ellipse">
            <a:avLst/>
          </a:prstGeom>
          <a:solidFill>
            <a:srgbClr val="0B2C4A"/>
          </a:solidFill>
          <a:ln/>
        </p:spPr>
      </p:sp>
      <p:sp>
        <p:nvSpPr>
          <p:cNvPr id="90" name="Shape 88"/>
          <p:cNvSpPr/>
          <p:nvPr/>
        </p:nvSpPr>
        <p:spPr>
          <a:xfrm>
            <a:off x="3115646" y="5478063"/>
            <a:ext cx="155448" cy="155448"/>
          </a:xfrm>
          <a:prstGeom prst="ellipse">
            <a:avLst/>
          </a:prstGeom>
          <a:solidFill>
            <a:srgbClr val="12A566"/>
          </a:solidFill>
          <a:ln/>
        </p:spPr>
      </p:sp>
      <p:sp>
        <p:nvSpPr>
          <p:cNvPr id="91" name="Text 89"/>
          <p:cNvSpPr txBox="1"/>
          <p:nvPr/>
        </p:nvSpPr>
        <p:spPr>
          <a:xfrm>
            <a:off x="4498848" y="54326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92%</a:t>
            </a:r>
            <a:pPr algn="r" indent="0" marL="0">
              <a:buNone/>
            </a:pPr>
            <a:r>
              <a:rPr lang="en-US" sz="1300" dirty="0">
                <a:solidFill>
                  <a:srgbClr val="0B2C4A"/>
                </a:solidFill>
                <a:latin typeface="Inter" pitchFamily="34" charset="0"/>
                <a:ea typeface="Inter" pitchFamily="34" charset="-122"/>
                <a:cs typeface="Inter" pitchFamily="34" charset="-120"/>
              </a:rPr>
              <a:t>  115%</a:t>
            </a:r>
            <a:endParaRPr lang="en-US" sz="1300" dirty="0"/>
          </a:p>
        </p:txBody>
      </p:sp>
      <p:sp>
        <p:nvSpPr>
          <p:cNvPr id="92" name="Text 90"/>
          <p:cNvSpPr txBox="1"/>
          <p:nvPr/>
        </p:nvSpPr>
        <p:spPr>
          <a:xfrm>
            <a:off x="658368" y="56789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3180836" y="5788421"/>
            <a:ext cx="479504" cy="27432"/>
          </a:xfrm>
          <a:prstGeom prst="rect">
            <a:avLst/>
          </a:prstGeom>
          <a:solidFill>
            <a:srgbClr val="D9D9D9"/>
          </a:solidFill>
          <a:ln/>
        </p:spPr>
      </p:sp>
      <p:sp>
        <p:nvSpPr>
          <p:cNvPr id="94" name="Shape 92"/>
          <p:cNvSpPr/>
          <p:nvPr/>
        </p:nvSpPr>
        <p:spPr>
          <a:xfrm>
            <a:off x="3582616" y="5724413"/>
            <a:ext cx="155448" cy="155448"/>
          </a:xfrm>
          <a:prstGeom prst="ellipse">
            <a:avLst/>
          </a:prstGeom>
          <a:solidFill>
            <a:srgbClr val="0B2C4A"/>
          </a:solidFill>
          <a:ln/>
        </p:spPr>
      </p:sp>
      <p:sp>
        <p:nvSpPr>
          <p:cNvPr id="95" name="Shape 93"/>
          <p:cNvSpPr/>
          <p:nvPr/>
        </p:nvSpPr>
        <p:spPr>
          <a:xfrm>
            <a:off x="3103112" y="5724413"/>
            <a:ext cx="155448" cy="155448"/>
          </a:xfrm>
          <a:prstGeom prst="ellipse">
            <a:avLst/>
          </a:prstGeom>
          <a:solidFill>
            <a:srgbClr val="12A566"/>
          </a:solidFill>
          <a:ln/>
        </p:spPr>
      </p:sp>
      <p:sp>
        <p:nvSpPr>
          <p:cNvPr id="96" name="Text 94"/>
          <p:cNvSpPr txBox="1"/>
          <p:nvPr/>
        </p:nvSpPr>
        <p:spPr>
          <a:xfrm>
            <a:off x="4498848" y="56789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97" name="Text 95"/>
          <p:cNvSpPr txBox="1"/>
          <p:nvPr/>
        </p:nvSpPr>
        <p:spPr>
          <a:xfrm>
            <a:off x="6208776"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730696" y="1846819"/>
            <a:ext cx="492337" cy="27432"/>
          </a:xfrm>
          <a:prstGeom prst="rect">
            <a:avLst/>
          </a:prstGeom>
          <a:solidFill>
            <a:srgbClr val="D9D9D9"/>
          </a:solidFill>
          <a:ln/>
        </p:spPr>
      </p:sp>
      <p:sp>
        <p:nvSpPr>
          <p:cNvPr id="99" name="Shape 97"/>
          <p:cNvSpPr/>
          <p:nvPr/>
        </p:nvSpPr>
        <p:spPr>
          <a:xfrm>
            <a:off x="9145308" y="1782811"/>
            <a:ext cx="155448" cy="155448"/>
          </a:xfrm>
          <a:prstGeom prst="ellipse">
            <a:avLst/>
          </a:prstGeom>
          <a:solidFill>
            <a:srgbClr val="0B2C4A"/>
          </a:solidFill>
          <a:ln/>
        </p:spPr>
      </p:sp>
      <p:sp>
        <p:nvSpPr>
          <p:cNvPr id="100" name="Shape 98"/>
          <p:cNvSpPr/>
          <p:nvPr/>
        </p:nvSpPr>
        <p:spPr>
          <a:xfrm>
            <a:off x="8652972" y="1782811"/>
            <a:ext cx="155448" cy="155448"/>
          </a:xfrm>
          <a:prstGeom prst="ellipse">
            <a:avLst/>
          </a:prstGeom>
          <a:solidFill>
            <a:srgbClr val="12A566"/>
          </a:solidFill>
          <a:ln/>
        </p:spPr>
      </p:sp>
      <p:sp>
        <p:nvSpPr>
          <p:cNvPr id="101" name="Text 99"/>
          <p:cNvSpPr txBox="1"/>
          <p:nvPr/>
        </p:nvSpPr>
        <p:spPr>
          <a:xfrm>
            <a:off x="10049256"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102" name="Text 100"/>
          <p:cNvSpPr txBox="1"/>
          <p:nvPr/>
        </p:nvSpPr>
        <p:spPr>
          <a:xfrm>
            <a:off x="6208776"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03" name="Shape 101"/>
          <p:cNvSpPr/>
          <p:nvPr/>
        </p:nvSpPr>
        <p:spPr>
          <a:xfrm>
            <a:off x="8729573" y="2093169"/>
            <a:ext cx="521449" cy="27432"/>
          </a:xfrm>
          <a:prstGeom prst="rect">
            <a:avLst/>
          </a:prstGeom>
          <a:solidFill>
            <a:srgbClr val="D9D9D9"/>
          </a:solidFill>
          <a:ln/>
        </p:spPr>
      </p:sp>
      <p:sp>
        <p:nvSpPr>
          <p:cNvPr id="104" name="Shape 102"/>
          <p:cNvSpPr/>
          <p:nvPr/>
        </p:nvSpPr>
        <p:spPr>
          <a:xfrm>
            <a:off x="9173299" y="2029161"/>
            <a:ext cx="155448" cy="155448"/>
          </a:xfrm>
          <a:prstGeom prst="ellipse">
            <a:avLst/>
          </a:prstGeom>
          <a:solidFill>
            <a:srgbClr val="0B2C4A"/>
          </a:solidFill>
          <a:ln/>
        </p:spPr>
      </p:sp>
      <p:sp>
        <p:nvSpPr>
          <p:cNvPr id="105" name="Shape 103"/>
          <p:cNvSpPr/>
          <p:nvPr/>
        </p:nvSpPr>
        <p:spPr>
          <a:xfrm>
            <a:off x="8651849" y="2029161"/>
            <a:ext cx="155448" cy="155448"/>
          </a:xfrm>
          <a:prstGeom prst="ellipse">
            <a:avLst/>
          </a:prstGeom>
          <a:solidFill>
            <a:srgbClr val="12A566"/>
          </a:solidFill>
          <a:ln/>
        </p:spPr>
      </p:sp>
      <p:sp>
        <p:nvSpPr>
          <p:cNvPr id="106" name="Text 104"/>
          <p:cNvSpPr txBox="1"/>
          <p:nvPr/>
        </p:nvSpPr>
        <p:spPr>
          <a:xfrm>
            <a:off x="10049256"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135%</a:t>
            </a:r>
            <a:endParaRPr lang="en-US" sz="1300" dirty="0"/>
          </a:p>
        </p:txBody>
      </p:sp>
      <p:sp>
        <p:nvSpPr>
          <p:cNvPr id="107" name="Text 105"/>
          <p:cNvSpPr txBox="1"/>
          <p:nvPr/>
        </p:nvSpPr>
        <p:spPr>
          <a:xfrm>
            <a:off x="6208776"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8" name="Shape 106"/>
          <p:cNvSpPr/>
          <p:nvPr/>
        </p:nvSpPr>
        <p:spPr>
          <a:xfrm>
            <a:off x="8689828" y="2339519"/>
            <a:ext cx="659446" cy="27432"/>
          </a:xfrm>
          <a:prstGeom prst="rect">
            <a:avLst/>
          </a:prstGeom>
          <a:solidFill>
            <a:srgbClr val="D9D9D9"/>
          </a:solidFill>
          <a:ln/>
        </p:spPr>
      </p:sp>
      <p:sp>
        <p:nvSpPr>
          <p:cNvPr id="109" name="Shape 107"/>
          <p:cNvSpPr/>
          <p:nvPr/>
        </p:nvSpPr>
        <p:spPr>
          <a:xfrm>
            <a:off x="9271550" y="2275511"/>
            <a:ext cx="155448" cy="155448"/>
          </a:xfrm>
          <a:prstGeom prst="ellipse">
            <a:avLst/>
          </a:prstGeom>
          <a:solidFill>
            <a:srgbClr val="0B2C4A"/>
          </a:solidFill>
          <a:ln/>
        </p:spPr>
      </p:sp>
      <p:sp>
        <p:nvSpPr>
          <p:cNvPr id="110" name="Shape 108"/>
          <p:cNvSpPr/>
          <p:nvPr/>
        </p:nvSpPr>
        <p:spPr>
          <a:xfrm>
            <a:off x="8612104" y="2275511"/>
            <a:ext cx="155448" cy="155448"/>
          </a:xfrm>
          <a:prstGeom prst="ellipse">
            <a:avLst/>
          </a:prstGeom>
          <a:solidFill>
            <a:srgbClr val="12A566"/>
          </a:solidFill>
          <a:ln/>
        </p:spPr>
      </p:sp>
      <p:sp>
        <p:nvSpPr>
          <p:cNvPr id="111" name="Text 109"/>
          <p:cNvSpPr txBox="1"/>
          <p:nvPr/>
        </p:nvSpPr>
        <p:spPr>
          <a:xfrm>
            <a:off x="10049256"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88%</a:t>
            </a:r>
            <a:pPr algn="r" indent="0" marL="0">
              <a:buNone/>
            </a:pPr>
            <a:r>
              <a:rPr lang="en-US" sz="1300" dirty="0">
                <a:solidFill>
                  <a:srgbClr val="0B2C4A"/>
                </a:solidFill>
                <a:latin typeface="Inter" pitchFamily="34" charset="0"/>
                <a:ea typeface="Inter" pitchFamily="34" charset="-122"/>
                <a:cs typeface="Inter" pitchFamily="34" charset="-120"/>
              </a:rPr>
              <a:t>  143%</a:t>
            </a:r>
            <a:endParaRPr lang="en-US" sz="1300" dirty="0"/>
          </a:p>
        </p:txBody>
      </p:sp>
      <p:sp>
        <p:nvSpPr>
          <p:cNvPr id="112" name="Text 110"/>
          <p:cNvSpPr txBox="1"/>
          <p:nvPr/>
        </p:nvSpPr>
        <p:spPr>
          <a:xfrm>
            <a:off x="6208776"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3" name="Shape 111"/>
          <p:cNvSpPr/>
          <p:nvPr/>
        </p:nvSpPr>
        <p:spPr>
          <a:xfrm>
            <a:off x="8640786" y="2585869"/>
            <a:ext cx="406163" cy="27432"/>
          </a:xfrm>
          <a:prstGeom prst="rect">
            <a:avLst/>
          </a:prstGeom>
          <a:solidFill>
            <a:srgbClr val="D9D9D9"/>
          </a:solidFill>
          <a:ln/>
        </p:spPr>
      </p:sp>
      <p:sp>
        <p:nvSpPr>
          <p:cNvPr id="114" name="Shape 112"/>
          <p:cNvSpPr/>
          <p:nvPr/>
        </p:nvSpPr>
        <p:spPr>
          <a:xfrm>
            <a:off x="8969225" y="2521861"/>
            <a:ext cx="155448" cy="155448"/>
          </a:xfrm>
          <a:prstGeom prst="ellipse">
            <a:avLst/>
          </a:prstGeom>
          <a:solidFill>
            <a:srgbClr val="0B2C4A"/>
          </a:solidFill>
          <a:ln/>
        </p:spPr>
      </p:sp>
      <p:sp>
        <p:nvSpPr>
          <p:cNvPr id="115" name="Shape 113"/>
          <p:cNvSpPr/>
          <p:nvPr/>
        </p:nvSpPr>
        <p:spPr>
          <a:xfrm>
            <a:off x="8563062" y="2521861"/>
            <a:ext cx="155448" cy="155448"/>
          </a:xfrm>
          <a:prstGeom prst="ellipse">
            <a:avLst/>
          </a:prstGeom>
          <a:solidFill>
            <a:srgbClr val="C2352F"/>
          </a:solidFill>
          <a:ln/>
        </p:spPr>
      </p:sp>
      <p:sp>
        <p:nvSpPr>
          <p:cNvPr id="116" name="Text 114"/>
          <p:cNvSpPr txBox="1"/>
          <p:nvPr/>
        </p:nvSpPr>
        <p:spPr>
          <a:xfrm>
            <a:off x="10049256" y="247641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84%</a:t>
            </a:r>
            <a:pPr algn="r" indent="0" marL="0">
              <a:buNone/>
            </a:pPr>
            <a:r>
              <a:rPr lang="en-US" sz="1300" dirty="0">
                <a:solidFill>
                  <a:srgbClr val="0B2C4A"/>
                </a:solidFill>
                <a:latin typeface="Inter" pitchFamily="34" charset="0"/>
                <a:ea typeface="Inter" pitchFamily="34" charset="-122"/>
                <a:cs typeface="Inter" pitchFamily="34" charset="-120"/>
              </a:rPr>
              <a:t>  118%</a:t>
            </a:r>
            <a:endParaRPr lang="en-US" sz="1300" dirty="0"/>
          </a:p>
        </p:txBody>
      </p:sp>
      <p:sp>
        <p:nvSpPr>
          <p:cNvPr id="117" name="Text 115"/>
          <p:cNvSpPr txBox="1"/>
          <p:nvPr/>
        </p:nvSpPr>
        <p:spPr>
          <a:xfrm>
            <a:off x="6208776"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8" name="Shape 116"/>
          <p:cNvSpPr/>
          <p:nvPr/>
        </p:nvSpPr>
        <p:spPr>
          <a:xfrm>
            <a:off x="8614372" y="2832220"/>
            <a:ext cx="174890" cy="27432"/>
          </a:xfrm>
          <a:prstGeom prst="rect">
            <a:avLst/>
          </a:prstGeom>
          <a:solidFill>
            <a:srgbClr val="D9D9D9"/>
          </a:solidFill>
          <a:ln/>
        </p:spPr>
      </p:sp>
      <p:sp>
        <p:nvSpPr>
          <p:cNvPr id="119" name="Shape 117"/>
          <p:cNvSpPr/>
          <p:nvPr/>
        </p:nvSpPr>
        <p:spPr>
          <a:xfrm>
            <a:off x="8711538" y="2768212"/>
            <a:ext cx="155448" cy="155448"/>
          </a:xfrm>
          <a:prstGeom prst="ellipse">
            <a:avLst/>
          </a:prstGeom>
          <a:solidFill>
            <a:srgbClr val="0B2C4A"/>
          </a:solidFill>
          <a:ln/>
        </p:spPr>
      </p:sp>
      <p:sp>
        <p:nvSpPr>
          <p:cNvPr id="120" name="Shape 118"/>
          <p:cNvSpPr/>
          <p:nvPr/>
        </p:nvSpPr>
        <p:spPr>
          <a:xfrm>
            <a:off x="8536648" y="2768212"/>
            <a:ext cx="155448" cy="155448"/>
          </a:xfrm>
          <a:prstGeom prst="ellipse">
            <a:avLst/>
          </a:prstGeom>
          <a:solidFill>
            <a:srgbClr val="C2352F"/>
          </a:solidFill>
          <a:ln/>
        </p:spPr>
      </p:sp>
      <p:sp>
        <p:nvSpPr>
          <p:cNvPr id="121" name="Text 119"/>
          <p:cNvSpPr txBox="1"/>
          <p:nvPr/>
        </p:nvSpPr>
        <p:spPr>
          <a:xfrm>
            <a:off x="10049256" y="272276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22" name="Text 120"/>
          <p:cNvSpPr txBox="1"/>
          <p:nvPr/>
        </p:nvSpPr>
        <p:spPr>
          <a:xfrm>
            <a:off x="6208776"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8583295" y="3078570"/>
            <a:ext cx="403087" cy="27432"/>
          </a:xfrm>
          <a:prstGeom prst="rect">
            <a:avLst/>
          </a:prstGeom>
          <a:solidFill>
            <a:srgbClr val="D9D9D9"/>
          </a:solidFill>
          <a:ln/>
        </p:spPr>
      </p:sp>
      <p:sp>
        <p:nvSpPr>
          <p:cNvPr id="124" name="Shape 122"/>
          <p:cNvSpPr/>
          <p:nvPr/>
        </p:nvSpPr>
        <p:spPr>
          <a:xfrm>
            <a:off x="8908658" y="3014562"/>
            <a:ext cx="155448" cy="155448"/>
          </a:xfrm>
          <a:prstGeom prst="ellipse">
            <a:avLst/>
          </a:prstGeom>
          <a:solidFill>
            <a:srgbClr val="0B2C4A"/>
          </a:solidFill>
          <a:ln/>
        </p:spPr>
      </p:sp>
      <p:sp>
        <p:nvSpPr>
          <p:cNvPr id="125" name="Shape 123"/>
          <p:cNvSpPr/>
          <p:nvPr/>
        </p:nvSpPr>
        <p:spPr>
          <a:xfrm>
            <a:off x="8505571" y="3014562"/>
            <a:ext cx="155448" cy="155448"/>
          </a:xfrm>
          <a:prstGeom prst="ellipse">
            <a:avLst/>
          </a:prstGeom>
          <a:solidFill>
            <a:srgbClr val="C2352F"/>
          </a:solidFill>
          <a:ln/>
        </p:spPr>
      </p:sp>
      <p:sp>
        <p:nvSpPr>
          <p:cNvPr id="126" name="Text 124"/>
          <p:cNvSpPr txBox="1"/>
          <p:nvPr/>
        </p:nvSpPr>
        <p:spPr>
          <a:xfrm>
            <a:off x="10049256" y="29691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113%</a:t>
            </a:r>
            <a:endParaRPr lang="en-US" sz="1300" dirty="0"/>
          </a:p>
        </p:txBody>
      </p:sp>
      <p:sp>
        <p:nvSpPr>
          <p:cNvPr id="127" name="Text 125"/>
          <p:cNvSpPr txBox="1"/>
          <p:nvPr/>
        </p:nvSpPr>
        <p:spPr>
          <a:xfrm>
            <a:off x="6208776"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8" name="Shape 126"/>
          <p:cNvSpPr/>
          <p:nvPr/>
        </p:nvSpPr>
        <p:spPr>
          <a:xfrm>
            <a:off x="8579993" y="3324920"/>
            <a:ext cx="626069" cy="27432"/>
          </a:xfrm>
          <a:prstGeom prst="rect">
            <a:avLst/>
          </a:prstGeom>
          <a:solidFill>
            <a:srgbClr val="D9D9D9"/>
          </a:solidFill>
          <a:ln/>
        </p:spPr>
      </p:sp>
      <p:sp>
        <p:nvSpPr>
          <p:cNvPr id="129" name="Shape 127"/>
          <p:cNvSpPr/>
          <p:nvPr/>
        </p:nvSpPr>
        <p:spPr>
          <a:xfrm>
            <a:off x="9128338" y="3260912"/>
            <a:ext cx="155448" cy="155448"/>
          </a:xfrm>
          <a:prstGeom prst="ellipse">
            <a:avLst/>
          </a:prstGeom>
          <a:solidFill>
            <a:srgbClr val="0B2C4A"/>
          </a:solidFill>
          <a:ln/>
        </p:spPr>
      </p:sp>
      <p:sp>
        <p:nvSpPr>
          <p:cNvPr id="130" name="Shape 128"/>
          <p:cNvSpPr/>
          <p:nvPr/>
        </p:nvSpPr>
        <p:spPr>
          <a:xfrm>
            <a:off x="8502269" y="3260912"/>
            <a:ext cx="155448" cy="155448"/>
          </a:xfrm>
          <a:prstGeom prst="ellipse">
            <a:avLst/>
          </a:prstGeom>
          <a:solidFill>
            <a:srgbClr val="C2352F"/>
          </a:solidFill>
          <a:ln/>
        </p:spPr>
      </p:sp>
      <p:sp>
        <p:nvSpPr>
          <p:cNvPr id="131" name="Text 129"/>
          <p:cNvSpPr txBox="1"/>
          <p:nvPr/>
        </p:nvSpPr>
        <p:spPr>
          <a:xfrm>
            <a:off x="10049256" y="32154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132" name="Text 130"/>
          <p:cNvSpPr txBox="1"/>
          <p:nvPr/>
        </p:nvSpPr>
        <p:spPr>
          <a:xfrm>
            <a:off x="6208776"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3" name="Shape 131"/>
          <p:cNvSpPr/>
          <p:nvPr/>
        </p:nvSpPr>
        <p:spPr>
          <a:xfrm>
            <a:off x="8559791" y="3571270"/>
            <a:ext cx="285552" cy="27432"/>
          </a:xfrm>
          <a:prstGeom prst="rect">
            <a:avLst/>
          </a:prstGeom>
          <a:solidFill>
            <a:srgbClr val="D9D9D9"/>
          </a:solidFill>
          <a:ln/>
        </p:spPr>
      </p:sp>
      <p:sp>
        <p:nvSpPr>
          <p:cNvPr id="134" name="Shape 132"/>
          <p:cNvSpPr/>
          <p:nvPr/>
        </p:nvSpPr>
        <p:spPr>
          <a:xfrm>
            <a:off x="8767619" y="3507262"/>
            <a:ext cx="155448" cy="155448"/>
          </a:xfrm>
          <a:prstGeom prst="ellipse">
            <a:avLst/>
          </a:prstGeom>
          <a:solidFill>
            <a:srgbClr val="0B2C4A"/>
          </a:solidFill>
          <a:ln/>
        </p:spPr>
      </p:sp>
      <p:sp>
        <p:nvSpPr>
          <p:cNvPr id="135" name="Shape 133"/>
          <p:cNvSpPr/>
          <p:nvPr/>
        </p:nvSpPr>
        <p:spPr>
          <a:xfrm>
            <a:off x="8482067" y="3507262"/>
            <a:ext cx="155448" cy="155448"/>
          </a:xfrm>
          <a:prstGeom prst="ellipse">
            <a:avLst/>
          </a:prstGeom>
          <a:solidFill>
            <a:srgbClr val="C2352F"/>
          </a:solidFill>
          <a:ln/>
        </p:spPr>
      </p:sp>
      <p:sp>
        <p:nvSpPr>
          <p:cNvPr id="136" name="Text 134"/>
          <p:cNvSpPr txBox="1"/>
          <p:nvPr/>
        </p:nvSpPr>
        <p:spPr>
          <a:xfrm>
            <a:off x="10049256" y="34618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a:t>
            </a:r>
            <a:pPr algn="r" indent="0" marL="0">
              <a:buNone/>
            </a:pPr>
            <a:r>
              <a:rPr lang="en-US" sz="1300" dirty="0">
                <a:solidFill>
                  <a:srgbClr val="0B2C4A"/>
                </a:solidFill>
                <a:latin typeface="Inter" pitchFamily="34" charset="0"/>
                <a:ea typeface="Inter" pitchFamily="34" charset="-122"/>
                <a:cs typeface="Inter" pitchFamily="34" charset="-120"/>
              </a:rPr>
              <a:t>  101%</a:t>
            </a:r>
            <a:endParaRPr lang="en-US" sz="1300" dirty="0"/>
          </a:p>
        </p:txBody>
      </p:sp>
      <p:sp>
        <p:nvSpPr>
          <p:cNvPr id="137" name="Text 135"/>
          <p:cNvSpPr txBox="1"/>
          <p:nvPr/>
        </p:nvSpPr>
        <p:spPr>
          <a:xfrm>
            <a:off x="6208776"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38" name="Shape 136"/>
          <p:cNvSpPr/>
          <p:nvPr/>
        </p:nvSpPr>
        <p:spPr>
          <a:xfrm>
            <a:off x="8520910" y="3817620"/>
            <a:ext cx="360320" cy="27432"/>
          </a:xfrm>
          <a:prstGeom prst="rect">
            <a:avLst/>
          </a:prstGeom>
          <a:solidFill>
            <a:srgbClr val="D9D9D9"/>
          </a:solidFill>
          <a:ln/>
        </p:spPr>
      </p:sp>
      <p:sp>
        <p:nvSpPr>
          <p:cNvPr id="139" name="Shape 137"/>
          <p:cNvSpPr/>
          <p:nvPr/>
        </p:nvSpPr>
        <p:spPr>
          <a:xfrm>
            <a:off x="8803506" y="3753612"/>
            <a:ext cx="155448" cy="155448"/>
          </a:xfrm>
          <a:prstGeom prst="ellipse">
            <a:avLst/>
          </a:prstGeom>
          <a:solidFill>
            <a:srgbClr val="0B2C4A"/>
          </a:solidFill>
          <a:ln/>
        </p:spPr>
      </p:sp>
      <p:sp>
        <p:nvSpPr>
          <p:cNvPr id="140" name="Shape 138"/>
          <p:cNvSpPr/>
          <p:nvPr/>
        </p:nvSpPr>
        <p:spPr>
          <a:xfrm>
            <a:off x="8443186" y="3753612"/>
            <a:ext cx="155448" cy="155448"/>
          </a:xfrm>
          <a:prstGeom prst="ellipse">
            <a:avLst/>
          </a:prstGeom>
          <a:solidFill>
            <a:srgbClr val="C2352F"/>
          </a:solidFill>
          <a:ln/>
        </p:spPr>
      </p:sp>
      <p:sp>
        <p:nvSpPr>
          <p:cNvPr id="141" name="Text 139"/>
          <p:cNvSpPr txBox="1"/>
          <p:nvPr/>
        </p:nvSpPr>
        <p:spPr>
          <a:xfrm>
            <a:off x="10049256" y="37081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a:t>
            </a:r>
            <a:pPr algn="r" indent="0" marL="0">
              <a:buNone/>
            </a:pPr>
            <a:r>
              <a:rPr lang="en-US" sz="1300" dirty="0">
                <a:solidFill>
                  <a:srgbClr val="0B2C4A"/>
                </a:solidFill>
                <a:latin typeface="Inter" pitchFamily="34" charset="0"/>
                <a:ea typeface="Inter" pitchFamily="34" charset="-122"/>
                <a:cs typeface="Inter" pitchFamily="34" charset="-120"/>
              </a:rPr>
              <a:t>  104%</a:t>
            </a:r>
            <a:endParaRPr lang="en-US" sz="1300" dirty="0"/>
          </a:p>
        </p:txBody>
      </p:sp>
      <p:sp>
        <p:nvSpPr>
          <p:cNvPr id="142" name="Text 140"/>
          <p:cNvSpPr txBox="1"/>
          <p:nvPr/>
        </p:nvSpPr>
        <p:spPr>
          <a:xfrm>
            <a:off x="6208776"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43" name="Shape 141"/>
          <p:cNvSpPr/>
          <p:nvPr/>
        </p:nvSpPr>
        <p:spPr>
          <a:xfrm>
            <a:off x="8506383" y="4063970"/>
            <a:ext cx="198400" cy="27432"/>
          </a:xfrm>
          <a:prstGeom prst="rect">
            <a:avLst/>
          </a:prstGeom>
          <a:solidFill>
            <a:srgbClr val="D9D9D9"/>
          </a:solidFill>
          <a:ln/>
        </p:spPr>
      </p:sp>
      <p:sp>
        <p:nvSpPr>
          <p:cNvPr id="144" name="Shape 142"/>
          <p:cNvSpPr/>
          <p:nvPr/>
        </p:nvSpPr>
        <p:spPr>
          <a:xfrm>
            <a:off x="8627059" y="3999962"/>
            <a:ext cx="155448" cy="155448"/>
          </a:xfrm>
          <a:prstGeom prst="ellipse">
            <a:avLst/>
          </a:prstGeom>
          <a:solidFill>
            <a:srgbClr val="0B2C4A"/>
          </a:solidFill>
          <a:ln/>
        </p:spPr>
      </p:sp>
      <p:sp>
        <p:nvSpPr>
          <p:cNvPr id="145" name="Shape 143"/>
          <p:cNvSpPr/>
          <p:nvPr/>
        </p:nvSpPr>
        <p:spPr>
          <a:xfrm>
            <a:off x="8428659" y="3999962"/>
            <a:ext cx="155448" cy="155448"/>
          </a:xfrm>
          <a:prstGeom prst="ellipse">
            <a:avLst/>
          </a:prstGeom>
          <a:solidFill>
            <a:srgbClr val="C2352F"/>
          </a:solidFill>
          <a:ln/>
        </p:spPr>
      </p:sp>
      <p:sp>
        <p:nvSpPr>
          <p:cNvPr id="146" name="Text 144"/>
          <p:cNvSpPr txBox="1"/>
          <p:nvPr/>
        </p:nvSpPr>
        <p:spPr>
          <a:xfrm>
            <a:off x="10049256" y="39545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a:t>
            </a:r>
            <a:pPr algn="r" indent="0" marL="0">
              <a:buNone/>
            </a:pPr>
            <a:r>
              <a:rPr lang="en-US" sz="1300" dirty="0">
                <a:solidFill>
                  <a:srgbClr val="0B2C4A"/>
                </a:solidFill>
                <a:latin typeface="Inter" pitchFamily="34" charset="0"/>
                <a:ea typeface="Inter" pitchFamily="34" charset="-122"/>
                <a:cs typeface="Inter" pitchFamily="34" charset="-120"/>
              </a:rPr>
              <a:t>  89%</a:t>
            </a:r>
            <a:endParaRPr lang="en-US" sz="1300" dirty="0"/>
          </a:p>
        </p:txBody>
      </p:sp>
      <p:sp>
        <p:nvSpPr>
          <p:cNvPr id="147" name="Text 145"/>
          <p:cNvSpPr txBox="1"/>
          <p:nvPr/>
        </p:nvSpPr>
        <p:spPr>
          <a:xfrm>
            <a:off x="6208776"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8" name="Shape 146"/>
          <p:cNvSpPr/>
          <p:nvPr/>
        </p:nvSpPr>
        <p:spPr>
          <a:xfrm>
            <a:off x="8492153" y="4310320"/>
            <a:ext cx="689844" cy="27432"/>
          </a:xfrm>
          <a:prstGeom prst="rect">
            <a:avLst/>
          </a:prstGeom>
          <a:solidFill>
            <a:srgbClr val="D9D9D9"/>
          </a:solidFill>
          <a:ln/>
        </p:spPr>
      </p:sp>
      <p:sp>
        <p:nvSpPr>
          <p:cNvPr id="149" name="Shape 147"/>
          <p:cNvSpPr/>
          <p:nvPr/>
        </p:nvSpPr>
        <p:spPr>
          <a:xfrm>
            <a:off x="9104273" y="4246312"/>
            <a:ext cx="155448" cy="155448"/>
          </a:xfrm>
          <a:prstGeom prst="ellipse">
            <a:avLst/>
          </a:prstGeom>
          <a:solidFill>
            <a:srgbClr val="0B2C4A"/>
          </a:solidFill>
          <a:ln/>
        </p:spPr>
      </p:sp>
      <p:sp>
        <p:nvSpPr>
          <p:cNvPr id="150" name="Shape 148"/>
          <p:cNvSpPr/>
          <p:nvPr/>
        </p:nvSpPr>
        <p:spPr>
          <a:xfrm>
            <a:off x="8414429" y="4246312"/>
            <a:ext cx="155448" cy="155448"/>
          </a:xfrm>
          <a:prstGeom prst="ellipse">
            <a:avLst/>
          </a:prstGeom>
          <a:solidFill>
            <a:srgbClr val="C2352F"/>
          </a:solidFill>
          <a:ln/>
        </p:spPr>
      </p:sp>
      <p:sp>
        <p:nvSpPr>
          <p:cNvPr id="151" name="Text 149"/>
          <p:cNvSpPr txBox="1"/>
          <p:nvPr/>
        </p:nvSpPr>
        <p:spPr>
          <a:xfrm>
            <a:off x="10049256" y="42008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a:t>
            </a:r>
            <a:pPr algn="r" indent="0" marL="0">
              <a:buNone/>
            </a:pPr>
            <a:r>
              <a:rPr lang="en-US" sz="1300" dirty="0">
                <a:solidFill>
                  <a:srgbClr val="0B2C4A"/>
                </a:solidFill>
                <a:latin typeface="Inter" pitchFamily="34" charset="0"/>
                <a:ea typeface="Inter" pitchFamily="34" charset="-122"/>
                <a:cs typeface="Inter" pitchFamily="34" charset="-120"/>
              </a:rPr>
              <a:t>  129%</a:t>
            </a:r>
            <a:endParaRPr lang="en-US" sz="1300" dirty="0"/>
          </a:p>
        </p:txBody>
      </p:sp>
      <p:sp>
        <p:nvSpPr>
          <p:cNvPr id="152" name="Text 150"/>
          <p:cNvSpPr txBox="1"/>
          <p:nvPr/>
        </p:nvSpPr>
        <p:spPr>
          <a:xfrm>
            <a:off x="6208776"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3" name="Shape 151"/>
          <p:cNvSpPr/>
          <p:nvPr/>
        </p:nvSpPr>
        <p:spPr>
          <a:xfrm>
            <a:off x="8478173" y="4556670"/>
            <a:ext cx="73001" cy="27432"/>
          </a:xfrm>
          <a:prstGeom prst="rect">
            <a:avLst/>
          </a:prstGeom>
          <a:solidFill>
            <a:srgbClr val="D9D9D9"/>
          </a:solidFill>
          <a:ln/>
        </p:spPr>
      </p:sp>
      <p:sp>
        <p:nvSpPr>
          <p:cNvPr id="154" name="Shape 152"/>
          <p:cNvSpPr/>
          <p:nvPr/>
        </p:nvSpPr>
        <p:spPr>
          <a:xfrm>
            <a:off x="8473450" y="4492662"/>
            <a:ext cx="155448" cy="155448"/>
          </a:xfrm>
          <a:prstGeom prst="ellipse">
            <a:avLst/>
          </a:prstGeom>
          <a:solidFill>
            <a:srgbClr val="0B2C4A"/>
          </a:solidFill>
          <a:ln/>
        </p:spPr>
      </p:sp>
      <p:sp>
        <p:nvSpPr>
          <p:cNvPr id="155" name="Shape 153"/>
          <p:cNvSpPr/>
          <p:nvPr/>
        </p:nvSpPr>
        <p:spPr>
          <a:xfrm>
            <a:off x="8400449" y="4492662"/>
            <a:ext cx="155448" cy="155448"/>
          </a:xfrm>
          <a:prstGeom prst="ellipse">
            <a:avLst/>
          </a:prstGeom>
          <a:solidFill>
            <a:srgbClr val="C2352F"/>
          </a:solidFill>
          <a:ln/>
        </p:spPr>
      </p:sp>
      <p:sp>
        <p:nvSpPr>
          <p:cNvPr id="156" name="Text 154"/>
          <p:cNvSpPr txBox="1"/>
          <p:nvPr/>
        </p:nvSpPr>
        <p:spPr>
          <a:xfrm>
            <a:off x="10049256" y="44472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a:t>
            </a:r>
            <a:pPr algn="r" indent="0" marL="0">
              <a:buNone/>
            </a:pPr>
            <a:r>
              <a:rPr lang="en-US" sz="1300" dirty="0">
                <a:solidFill>
                  <a:srgbClr val="0B2C4A"/>
                </a:solidFill>
                <a:latin typeface="Inter" pitchFamily="34" charset="0"/>
                <a:ea typeface="Inter" pitchFamily="34" charset="-122"/>
                <a:cs typeface="Inter" pitchFamily="34" charset="-120"/>
              </a:rPr>
              <a:t>  76%</a:t>
            </a:r>
            <a:endParaRPr lang="en-US" sz="1300" dirty="0"/>
          </a:p>
        </p:txBody>
      </p:sp>
      <p:sp>
        <p:nvSpPr>
          <p:cNvPr id="157" name="Text 155"/>
          <p:cNvSpPr txBox="1"/>
          <p:nvPr/>
        </p:nvSpPr>
        <p:spPr>
          <a:xfrm>
            <a:off x="6208776"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8" name="Shape 156"/>
          <p:cNvSpPr/>
          <p:nvPr/>
        </p:nvSpPr>
        <p:spPr>
          <a:xfrm>
            <a:off x="8466129" y="4803020"/>
            <a:ext cx="635814" cy="27432"/>
          </a:xfrm>
          <a:prstGeom prst="rect">
            <a:avLst/>
          </a:prstGeom>
          <a:solidFill>
            <a:srgbClr val="D9D9D9"/>
          </a:solidFill>
          <a:ln/>
        </p:spPr>
      </p:sp>
      <p:sp>
        <p:nvSpPr>
          <p:cNvPr id="159" name="Shape 157"/>
          <p:cNvSpPr/>
          <p:nvPr/>
        </p:nvSpPr>
        <p:spPr>
          <a:xfrm>
            <a:off x="9024219" y="4739012"/>
            <a:ext cx="155448" cy="155448"/>
          </a:xfrm>
          <a:prstGeom prst="ellipse">
            <a:avLst/>
          </a:prstGeom>
          <a:solidFill>
            <a:srgbClr val="0B2C4A"/>
          </a:solidFill>
          <a:ln/>
        </p:spPr>
      </p:sp>
      <p:sp>
        <p:nvSpPr>
          <p:cNvPr id="160" name="Shape 158"/>
          <p:cNvSpPr/>
          <p:nvPr/>
        </p:nvSpPr>
        <p:spPr>
          <a:xfrm>
            <a:off x="8388405" y="4739012"/>
            <a:ext cx="155448" cy="155448"/>
          </a:xfrm>
          <a:prstGeom prst="ellipse">
            <a:avLst/>
          </a:prstGeom>
          <a:solidFill>
            <a:srgbClr val="C2352F"/>
          </a:solidFill>
          <a:ln/>
        </p:spPr>
      </p:sp>
      <p:sp>
        <p:nvSpPr>
          <p:cNvPr id="161" name="Text 159"/>
          <p:cNvSpPr txBox="1"/>
          <p:nvPr/>
        </p:nvSpPr>
        <p:spPr>
          <a:xfrm>
            <a:off x="10049256" y="46935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69%</a:t>
            </a:r>
            <a:pPr algn="r" indent="0" marL="0">
              <a:buNone/>
            </a:pPr>
            <a:r>
              <a:rPr lang="en-US" sz="1300" dirty="0">
                <a:solidFill>
                  <a:srgbClr val="0B2C4A"/>
                </a:solidFill>
                <a:latin typeface="Inter" pitchFamily="34" charset="0"/>
                <a:ea typeface="Inter" pitchFamily="34" charset="-122"/>
                <a:cs typeface="Inter" pitchFamily="34" charset="-120"/>
              </a:rPr>
              <a:t>  122%</a:t>
            </a:r>
            <a:endParaRPr lang="en-US" sz="1300" dirty="0"/>
          </a:p>
        </p:txBody>
      </p:sp>
      <p:sp>
        <p:nvSpPr>
          <p:cNvPr id="162" name="Text 160"/>
          <p:cNvSpPr txBox="1"/>
          <p:nvPr/>
        </p:nvSpPr>
        <p:spPr>
          <a:xfrm>
            <a:off x="6208776"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3" name="Shape 161"/>
          <p:cNvSpPr/>
          <p:nvPr/>
        </p:nvSpPr>
        <p:spPr>
          <a:xfrm>
            <a:off x="8458867" y="5049371"/>
            <a:ext cx="335577" cy="27432"/>
          </a:xfrm>
          <a:prstGeom prst="rect">
            <a:avLst/>
          </a:prstGeom>
          <a:solidFill>
            <a:srgbClr val="D9D9D9"/>
          </a:solidFill>
          <a:ln/>
        </p:spPr>
      </p:sp>
      <p:sp>
        <p:nvSpPr>
          <p:cNvPr id="164" name="Shape 162"/>
          <p:cNvSpPr/>
          <p:nvPr/>
        </p:nvSpPr>
        <p:spPr>
          <a:xfrm>
            <a:off x="8716721" y="4985363"/>
            <a:ext cx="155448" cy="155448"/>
          </a:xfrm>
          <a:prstGeom prst="ellipse">
            <a:avLst/>
          </a:prstGeom>
          <a:solidFill>
            <a:srgbClr val="0B2C4A"/>
          </a:solidFill>
          <a:ln/>
        </p:spPr>
      </p:sp>
      <p:sp>
        <p:nvSpPr>
          <p:cNvPr id="165" name="Shape 163"/>
          <p:cNvSpPr/>
          <p:nvPr/>
        </p:nvSpPr>
        <p:spPr>
          <a:xfrm>
            <a:off x="8381143" y="4985363"/>
            <a:ext cx="155448" cy="155448"/>
          </a:xfrm>
          <a:prstGeom prst="ellipse">
            <a:avLst/>
          </a:prstGeom>
          <a:solidFill>
            <a:srgbClr val="C2352F"/>
          </a:solidFill>
          <a:ln/>
        </p:spPr>
      </p:sp>
      <p:sp>
        <p:nvSpPr>
          <p:cNvPr id="166" name="Text 164"/>
          <p:cNvSpPr txBox="1"/>
          <p:nvPr/>
        </p:nvSpPr>
        <p:spPr>
          <a:xfrm>
            <a:off x="10049256" y="49399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67" name="Text 165"/>
          <p:cNvSpPr txBox="1"/>
          <p:nvPr/>
        </p:nvSpPr>
        <p:spPr>
          <a:xfrm>
            <a:off x="6208776"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8" name="Shape 166"/>
          <p:cNvSpPr/>
          <p:nvPr/>
        </p:nvSpPr>
        <p:spPr>
          <a:xfrm>
            <a:off x="8448076" y="5295721"/>
            <a:ext cx="363217" cy="27432"/>
          </a:xfrm>
          <a:prstGeom prst="rect">
            <a:avLst/>
          </a:prstGeom>
          <a:solidFill>
            <a:srgbClr val="D9D9D9"/>
          </a:solidFill>
          <a:ln/>
        </p:spPr>
      </p:sp>
      <p:sp>
        <p:nvSpPr>
          <p:cNvPr id="169" name="Shape 167"/>
          <p:cNvSpPr/>
          <p:nvPr/>
        </p:nvSpPr>
        <p:spPr>
          <a:xfrm>
            <a:off x="8733569" y="5231713"/>
            <a:ext cx="155448" cy="155448"/>
          </a:xfrm>
          <a:prstGeom prst="ellipse">
            <a:avLst/>
          </a:prstGeom>
          <a:solidFill>
            <a:srgbClr val="0B2C4A"/>
          </a:solidFill>
          <a:ln/>
        </p:spPr>
      </p:sp>
      <p:sp>
        <p:nvSpPr>
          <p:cNvPr id="170" name="Shape 168"/>
          <p:cNvSpPr/>
          <p:nvPr/>
        </p:nvSpPr>
        <p:spPr>
          <a:xfrm>
            <a:off x="8370352" y="5231713"/>
            <a:ext cx="155448" cy="155448"/>
          </a:xfrm>
          <a:prstGeom prst="ellipse">
            <a:avLst/>
          </a:prstGeom>
          <a:solidFill>
            <a:srgbClr val="C2352F"/>
          </a:solidFill>
          <a:ln/>
        </p:spPr>
      </p:sp>
      <p:sp>
        <p:nvSpPr>
          <p:cNvPr id="171" name="Text 169"/>
          <p:cNvSpPr txBox="1"/>
          <p:nvPr/>
        </p:nvSpPr>
        <p:spPr>
          <a:xfrm>
            <a:off x="10049256" y="518626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98%</a:t>
            </a:r>
            <a:endParaRPr lang="en-US" sz="1300" dirty="0"/>
          </a:p>
        </p:txBody>
      </p:sp>
      <p:sp>
        <p:nvSpPr>
          <p:cNvPr id="172" name="Text 170"/>
          <p:cNvSpPr txBox="1"/>
          <p:nvPr/>
        </p:nvSpPr>
        <p:spPr>
          <a:xfrm>
            <a:off x="6208776"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3" name="Shape 171"/>
          <p:cNvSpPr/>
          <p:nvPr/>
        </p:nvSpPr>
        <p:spPr>
          <a:xfrm>
            <a:off x="8447091" y="5542071"/>
            <a:ext cx="75203" cy="27432"/>
          </a:xfrm>
          <a:prstGeom prst="rect">
            <a:avLst/>
          </a:prstGeom>
          <a:solidFill>
            <a:srgbClr val="D9D9D9"/>
          </a:solidFill>
          <a:ln/>
        </p:spPr>
      </p:sp>
      <p:sp>
        <p:nvSpPr>
          <p:cNvPr id="174" name="Shape 172"/>
          <p:cNvSpPr/>
          <p:nvPr/>
        </p:nvSpPr>
        <p:spPr>
          <a:xfrm>
            <a:off x="8444570" y="5478063"/>
            <a:ext cx="155448" cy="155448"/>
          </a:xfrm>
          <a:prstGeom prst="ellipse">
            <a:avLst/>
          </a:prstGeom>
          <a:solidFill>
            <a:srgbClr val="0B2C4A"/>
          </a:solidFill>
          <a:ln/>
        </p:spPr>
      </p:sp>
      <p:sp>
        <p:nvSpPr>
          <p:cNvPr id="175" name="Shape 173"/>
          <p:cNvSpPr/>
          <p:nvPr/>
        </p:nvSpPr>
        <p:spPr>
          <a:xfrm>
            <a:off x="8369367" y="5478063"/>
            <a:ext cx="155448" cy="155448"/>
          </a:xfrm>
          <a:prstGeom prst="ellipse">
            <a:avLst/>
          </a:prstGeom>
          <a:solidFill>
            <a:srgbClr val="C2352F"/>
          </a:solidFill>
          <a:ln/>
        </p:spPr>
      </p:sp>
      <p:sp>
        <p:nvSpPr>
          <p:cNvPr id="176" name="Text 174"/>
          <p:cNvSpPr txBox="1"/>
          <p:nvPr/>
        </p:nvSpPr>
        <p:spPr>
          <a:xfrm>
            <a:off x="10049256" y="54326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a:t>
            </a:r>
            <a:pPr algn="r" indent="0" marL="0">
              <a:buNone/>
            </a:pPr>
            <a:r>
              <a:rPr lang="en-US" sz="1300" dirty="0">
                <a:solidFill>
                  <a:srgbClr val="0B2C4A"/>
                </a:solidFill>
                <a:latin typeface="Inter" pitchFamily="34" charset="0"/>
                <a:ea typeface="Inter" pitchFamily="34" charset="-122"/>
                <a:cs typeface="Inter" pitchFamily="34" charset="-120"/>
              </a:rPr>
              <a:t>  74%</a:t>
            </a:r>
            <a:endParaRPr lang="en-US" sz="1300" dirty="0"/>
          </a:p>
        </p:txBody>
      </p:sp>
      <p:sp>
        <p:nvSpPr>
          <p:cNvPr id="177" name="Shape 175"/>
          <p:cNvSpPr/>
          <p:nvPr/>
        </p:nvSpPr>
        <p:spPr>
          <a:xfrm>
            <a:off x="457200" y="6126480"/>
            <a:ext cx="11274552" cy="615696"/>
          </a:xfrm>
          <a:prstGeom prst="rect">
            <a:avLst/>
          </a:prstGeom>
          <a:solidFill>
            <a:srgbClr val="EDF4F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top quarter of techs already run above 85%. Same bays, same dispatch, same car count.</a:t>
            </a:r>
            <a:endParaRPr lang="en-US" sz="1600" dirty="0"/>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Is It the Work or the Workers?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265176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FEWER ROS · 10 STORES</a:t>
            </a:r>
            <a:endParaRPr lang="en-US" sz="1400" dirty="0"/>
          </a:p>
        </p:txBody>
      </p:sp>
      <p:sp>
        <p:nvSpPr>
          <p:cNvPr id="7" name="Text 5"/>
          <p:cNvSpPr txBox="1"/>
          <p:nvPr/>
        </p:nvSpPr>
        <p:spPr>
          <a:xfrm>
            <a:off x="3438144"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Prof.</a:t>
            </a:r>
            <a:endParaRPr lang="en-US" sz="1400" dirty="0"/>
          </a:p>
        </p:txBody>
      </p:sp>
      <p:sp>
        <p:nvSpPr>
          <p:cNvPr id="8" name="Text 6"/>
          <p:cNvSpPr txBox="1"/>
          <p:nvPr/>
        </p:nvSpPr>
        <p:spPr>
          <a:xfrm>
            <a:off x="4187952"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9" name="Text 7"/>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0" name="Text 8"/>
          <p:cNvSpPr txBox="1"/>
          <p:nvPr/>
        </p:nvSpPr>
        <p:spPr>
          <a:xfrm>
            <a:off x="658368" y="1755648"/>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 name="Shape 9"/>
          <p:cNvSpPr/>
          <p:nvPr/>
        </p:nvSpPr>
        <p:spPr>
          <a:xfrm>
            <a:off x="2651760" y="1859890"/>
            <a:ext cx="648144" cy="208483"/>
          </a:xfrm>
          <a:prstGeom prst="rect">
            <a:avLst/>
          </a:prstGeom>
          <a:solidFill>
            <a:srgbClr val="C2352F"/>
          </a:solidFill>
          <a:ln/>
        </p:spPr>
      </p:sp>
      <p:sp>
        <p:nvSpPr>
          <p:cNvPr id="12" name="Text 10"/>
          <p:cNvSpPr txBox="1"/>
          <p:nvPr/>
        </p:nvSpPr>
        <p:spPr>
          <a:xfrm>
            <a:off x="3438144" y="1755648"/>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83.6%</a:t>
            </a:r>
            <a:endParaRPr lang="en-US" sz="1300" dirty="0"/>
          </a:p>
        </p:txBody>
      </p:sp>
      <p:sp>
        <p:nvSpPr>
          <p:cNvPr id="13" name="Text 11"/>
          <p:cNvSpPr txBox="1"/>
          <p:nvPr/>
        </p:nvSpPr>
        <p:spPr>
          <a:xfrm>
            <a:off x="4187952"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4" name="Text 12"/>
          <p:cNvSpPr txBox="1"/>
          <p:nvPr/>
        </p:nvSpPr>
        <p:spPr>
          <a:xfrm>
            <a:off x="5029200"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15" name="Text 13"/>
          <p:cNvSpPr txBox="1"/>
          <p:nvPr/>
        </p:nvSpPr>
        <p:spPr>
          <a:xfrm>
            <a:off x="658368" y="21726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 name="Shape 14"/>
          <p:cNvSpPr/>
          <p:nvPr/>
        </p:nvSpPr>
        <p:spPr>
          <a:xfrm>
            <a:off x="2651760" y="2276856"/>
            <a:ext cx="615319" cy="208483"/>
          </a:xfrm>
          <a:prstGeom prst="rect">
            <a:avLst/>
          </a:prstGeom>
          <a:solidFill>
            <a:srgbClr val="C2352F"/>
          </a:solidFill>
          <a:ln/>
        </p:spPr>
      </p:sp>
      <p:sp>
        <p:nvSpPr>
          <p:cNvPr id="17" name="Text 15"/>
          <p:cNvSpPr txBox="1"/>
          <p:nvPr/>
        </p:nvSpPr>
        <p:spPr>
          <a:xfrm>
            <a:off x="3438144" y="21726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81.4%</a:t>
            </a:r>
            <a:endParaRPr lang="en-US" sz="1300" dirty="0"/>
          </a:p>
        </p:txBody>
      </p:sp>
      <p:sp>
        <p:nvSpPr>
          <p:cNvPr id="18" name="Text 16"/>
          <p:cNvSpPr txBox="1"/>
          <p:nvPr/>
        </p:nvSpPr>
        <p:spPr>
          <a:xfrm>
            <a:off x="4187952"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19" name="Text 17"/>
          <p:cNvSpPr txBox="1"/>
          <p:nvPr/>
        </p:nvSpPr>
        <p:spPr>
          <a:xfrm>
            <a:off x="5029200"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20" name="Text 18"/>
          <p:cNvSpPr txBox="1"/>
          <p:nvPr/>
        </p:nvSpPr>
        <p:spPr>
          <a:xfrm>
            <a:off x="658368" y="2589581"/>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1" name="Shape 19"/>
          <p:cNvSpPr/>
          <p:nvPr/>
        </p:nvSpPr>
        <p:spPr>
          <a:xfrm>
            <a:off x="2651760" y="2693822"/>
            <a:ext cx="576700" cy="208483"/>
          </a:xfrm>
          <a:prstGeom prst="rect">
            <a:avLst/>
          </a:prstGeom>
          <a:solidFill>
            <a:srgbClr val="C2352F"/>
          </a:solidFill>
          <a:ln/>
        </p:spPr>
      </p:sp>
      <p:sp>
        <p:nvSpPr>
          <p:cNvPr id="22" name="Text 20"/>
          <p:cNvSpPr txBox="1"/>
          <p:nvPr/>
        </p:nvSpPr>
        <p:spPr>
          <a:xfrm>
            <a:off x="3438144" y="2589581"/>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78.8%</a:t>
            </a:r>
            <a:endParaRPr lang="en-US" sz="1300" dirty="0"/>
          </a:p>
        </p:txBody>
      </p:sp>
      <p:sp>
        <p:nvSpPr>
          <p:cNvPr id="23" name="Text 21"/>
          <p:cNvSpPr txBox="1"/>
          <p:nvPr/>
        </p:nvSpPr>
        <p:spPr>
          <a:xfrm>
            <a:off x="4187952"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24" name="Text 22"/>
          <p:cNvSpPr txBox="1"/>
          <p:nvPr/>
        </p:nvSpPr>
        <p:spPr>
          <a:xfrm>
            <a:off x="5029200"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25" name="Text 23"/>
          <p:cNvSpPr txBox="1"/>
          <p:nvPr/>
        </p:nvSpPr>
        <p:spPr>
          <a:xfrm>
            <a:off x="658368" y="3006547"/>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6" name="Shape 24"/>
          <p:cNvSpPr/>
          <p:nvPr/>
        </p:nvSpPr>
        <p:spPr>
          <a:xfrm>
            <a:off x="2651760" y="3110789"/>
            <a:ext cx="499175" cy="208483"/>
          </a:xfrm>
          <a:prstGeom prst="rect">
            <a:avLst/>
          </a:prstGeom>
          <a:solidFill>
            <a:srgbClr val="C2352F"/>
          </a:solidFill>
          <a:ln/>
        </p:spPr>
      </p:sp>
      <p:sp>
        <p:nvSpPr>
          <p:cNvPr id="27" name="Text 25"/>
          <p:cNvSpPr txBox="1"/>
          <p:nvPr/>
        </p:nvSpPr>
        <p:spPr>
          <a:xfrm>
            <a:off x="3438144" y="3006547"/>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73.6%</a:t>
            </a:r>
            <a:endParaRPr lang="en-US" sz="1300" dirty="0"/>
          </a:p>
        </p:txBody>
      </p:sp>
      <p:sp>
        <p:nvSpPr>
          <p:cNvPr id="28" name="Text 26"/>
          <p:cNvSpPr txBox="1"/>
          <p:nvPr/>
        </p:nvSpPr>
        <p:spPr>
          <a:xfrm>
            <a:off x="4187952" y="3006547"/>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29" name="Text 27"/>
          <p:cNvSpPr txBox="1"/>
          <p:nvPr/>
        </p:nvSpPr>
        <p:spPr>
          <a:xfrm>
            <a:off x="5029200" y="3006547"/>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0" name="Text 28"/>
          <p:cNvSpPr txBox="1"/>
          <p:nvPr/>
        </p:nvSpPr>
        <p:spPr>
          <a:xfrm>
            <a:off x="658368" y="34235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1" name="Shape 29"/>
          <p:cNvSpPr/>
          <p:nvPr/>
        </p:nvSpPr>
        <p:spPr>
          <a:xfrm>
            <a:off x="2651760" y="3527755"/>
            <a:ext cx="463439" cy="208483"/>
          </a:xfrm>
          <a:prstGeom prst="rect">
            <a:avLst/>
          </a:prstGeom>
          <a:solidFill>
            <a:srgbClr val="C2352F"/>
          </a:solidFill>
          <a:ln/>
        </p:spPr>
      </p:sp>
      <p:sp>
        <p:nvSpPr>
          <p:cNvPr id="32" name="Text 30"/>
          <p:cNvSpPr txBox="1"/>
          <p:nvPr/>
        </p:nvSpPr>
        <p:spPr>
          <a:xfrm>
            <a:off x="3438144" y="34235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71.2%</a:t>
            </a:r>
            <a:endParaRPr lang="en-US" sz="1300" dirty="0"/>
          </a:p>
        </p:txBody>
      </p:sp>
      <p:sp>
        <p:nvSpPr>
          <p:cNvPr id="33" name="Text 31"/>
          <p:cNvSpPr txBox="1"/>
          <p:nvPr/>
        </p:nvSpPr>
        <p:spPr>
          <a:xfrm>
            <a:off x="4187952" y="34235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34" name="Text 32"/>
          <p:cNvSpPr txBox="1"/>
          <p:nvPr/>
        </p:nvSpPr>
        <p:spPr>
          <a:xfrm>
            <a:off x="5029200" y="34235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5" name="Text 33"/>
          <p:cNvSpPr txBox="1"/>
          <p:nvPr/>
        </p:nvSpPr>
        <p:spPr>
          <a:xfrm>
            <a:off x="658368" y="3840480"/>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6" name="Shape 34"/>
          <p:cNvSpPr/>
          <p:nvPr/>
        </p:nvSpPr>
        <p:spPr>
          <a:xfrm>
            <a:off x="2651760" y="3944722"/>
            <a:ext cx="446067" cy="208483"/>
          </a:xfrm>
          <a:prstGeom prst="rect">
            <a:avLst/>
          </a:prstGeom>
          <a:solidFill>
            <a:srgbClr val="C2352F"/>
          </a:solidFill>
          <a:ln/>
        </p:spPr>
      </p:sp>
      <p:sp>
        <p:nvSpPr>
          <p:cNvPr id="37" name="Text 35"/>
          <p:cNvSpPr txBox="1"/>
          <p:nvPr/>
        </p:nvSpPr>
        <p:spPr>
          <a:xfrm>
            <a:off x="3438144" y="3840480"/>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70.0%</a:t>
            </a:r>
            <a:endParaRPr lang="en-US" sz="1300" dirty="0"/>
          </a:p>
        </p:txBody>
      </p:sp>
      <p:sp>
        <p:nvSpPr>
          <p:cNvPr id="38" name="Text 36"/>
          <p:cNvSpPr txBox="1"/>
          <p:nvPr/>
        </p:nvSpPr>
        <p:spPr>
          <a:xfrm>
            <a:off x="4187952" y="3840480"/>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39" name="Text 37"/>
          <p:cNvSpPr txBox="1"/>
          <p:nvPr/>
        </p:nvSpPr>
        <p:spPr>
          <a:xfrm>
            <a:off x="5029200" y="3840480"/>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40" name="Text 38"/>
          <p:cNvSpPr txBox="1"/>
          <p:nvPr/>
        </p:nvSpPr>
        <p:spPr>
          <a:xfrm>
            <a:off x="658368" y="4257446"/>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1" name="Shape 39"/>
          <p:cNvSpPr/>
          <p:nvPr/>
        </p:nvSpPr>
        <p:spPr>
          <a:xfrm>
            <a:off x="2651760" y="4361688"/>
            <a:ext cx="431099" cy="208483"/>
          </a:xfrm>
          <a:prstGeom prst="rect">
            <a:avLst/>
          </a:prstGeom>
          <a:solidFill>
            <a:srgbClr val="C2352F"/>
          </a:solidFill>
          <a:ln/>
        </p:spPr>
      </p:sp>
      <p:sp>
        <p:nvSpPr>
          <p:cNvPr id="42" name="Text 40"/>
          <p:cNvSpPr txBox="1"/>
          <p:nvPr/>
        </p:nvSpPr>
        <p:spPr>
          <a:xfrm>
            <a:off x="3438144" y="4257446"/>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69.0%</a:t>
            </a:r>
            <a:endParaRPr lang="en-US" sz="1300" dirty="0"/>
          </a:p>
        </p:txBody>
      </p:sp>
      <p:sp>
        <p:nvSpPr>
          <p:cNvPr id="43" name="Text 41"/>
          <p:cNvSpPr txBox="1"/>
          <p:nvPr/>
        </p:nvSpPr>
        <p:spPr>
          <a:xfrm>
            <a:off x="4187952" y="42574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44" name="Text 42"/>
          <p:cNvSpPr txBox="1"/>
          <p:nvPr/>
        </p:nvSpPr>
        <p:spPr>
          <a:xfrm>
            <a:off x="5029200" y="42574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45" name="Text 43"/>
          <p:cNvSpPr txBox="1"/>
          <p:nvPr/>
        </p:nvSpPr>
        <p:spPr>
          <a:xfrm>
            <a:off x="658368" y="4674413"/>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46" name="Shape 44"/>
          <p:cNvSpPr/>
          <p:nvPr/>
        </p:nvSpPr>
        <p:spPr>
          <a:xfrm>
            <a:off x="2651760" y="4778654"/>
            <a:ext cx="422076" cy="208483"/>
          </a:xfrm>
          <a:prstGeom prst="rect">
            <a:avLst/>
          </a:prstGeom>
          <a:solidFill>
            <a:srgbClr val="C2352F"/>
          </a:solidFill>
          <a:ln/>
        </p:spPr>
      </p:sp>
      <p:sp>
        <p:nvSpPr>
          <p:cNvPr id="47" name="Text 45"/>
          <p:cNvSpPr txBox="1"/>
          <p:nvPr/>
        </p:nvSpPr>
        <p:spPr>
          <a:xfrm>
            <a:off x="3438144" y="4674413"/>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68.4%</a:t>
            </a:r>
            <a:endParaRPr lang="en-US" sz="1300" dirty="0"/>
          </a:p>
        </p:txBody>
      </p:sp>
      <p:sp>
        <p:nvSpPr>
          <p:cNvPr id="48" name="Text 46"/>
          <p:cNvSpPr txBox="1"/>
          <p:nvPr/>
        </p:nvSpPr>
        <p:spPr>
          <a:xfrm>
            <a:off x="4187952" y="4674413"/>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49" name="Text 47"/>
          <p:cNvSpPr txBox="1"/>
          <p:nvPr/>
        </p:nvSpPr>
        <p:spPr>
          <a:xfrm>
            <a:off x="5029200" y="4674413"/>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50" name="Text 48"/>
          <p:cNvSpPr txBox="1"/>
          <p:nvPr/>
        </p:nvSpPr>
        <p:spPr>
          <a:xfrm>
            <a:off x="658368" y="5091379"/>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51" name="Shape 49"/>
          <p:cNvSpPr/>
          <p:nvPr/>
        </p:nvSpPr>
        <p:spPr>
          <a:xfrm>
            <a:off x="2651760" y="5195621"/>
            <a:ext cx="408666" cy="208483"/>
          </a:xfrm>
          <a:prstGeom prst="rect">
            <a:avLst/>
          </a:prstGeom>
          <a:solidFill>
            <a:srgbClr val="C2352F"/>
          </a:solidFill>
          <a:ln/>
        </p:spPr>
      </p:sp>
      <p:sp>
        <p:nvSpPr>
          <p:cNvPr id="52" name="Text 50"/>
          <p:cNvSpPr txBox="1"/>
          <p:nvPr/>
        </p:nvSpPr>
        <p:spPr>
          <a:xfrm>
            <a:off x="3438144" y="5091379"/>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67.5%</a:t>
            </a:r>
            <a:endParaRPr lang="en-US" sz="1300" dirty="0"/>
          </a:p>
        </p:txBody>
      </p:sp>
      <p:sp>
        <p:nvSpPr>
          <p:cNvPr id="53" name="Text 51"/>
          <p:cNvSpPr txBox="1"/>
          <p:nvPr/>
        </p:nvSpPr>
        <p:spPr>
          <a:xfrm>
            <a:off x="4187952" y="5091379"/>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54" name="Text 52"/>
          <p:cNvSpPr txBox="1"/>
          <p:nvPr/>
        </p:nvSpPr>
        <p:spPr>
          <a:xfrm>
            <a:off x="5029200" y="5091379"/>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55" name="Text 53"/>
          <p:cNvSpPr txBox="1"/>
          <p:nvPr/>
        </p:nvSpPr>
        <p:spPr>
          <a:xfrm>
            <a:off x="658368" y="5508346"/>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56" name="Shape 54"/>
          <p:cNvSpPr/>
          <p:nvPr/>
        </p:nvSpPr>
        <p:spPr>
          <a:xfrm>
            <a:off x="2651760" y="5612587"/>
            <a:ext cx="407442" cy="208483"/>
          </a:xfrm>
          <a:prstGeom prst="rect">
            <a:avLst/>
          </a:prstGeom>
          <a:solidFill>
            <a:srgbClr val="C2352F"/>
          </a:solidFill>
          <a:ln/>
        </p:spPr>
      </p:sp>
      <p:sp>
        <p:nvSpPr>
          <p:cNvPr id="57" name="Text 55"/>
          <p:cNvSpPr txBox="1"/>
          <p:nvPr/>
        </p:nvSpPr>
        <p:spPr>
          <a:xfrm>
            <a:off x="3438144" y="5508346"/>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67.4%</a:t>
            </a:r>
            <a:endParaRPr lang="en-US" sz="1300" dirty="0"/>
          </a:p>
        </p:txBody>
      </p:sp>
      <p:sp>
        <p:nvSpPr>
          <p:cNvPr id="58" name="Text 56"/>
          <p:cNvSpPr txBox="1"/>
          <p:nvPr/>
        </p:nvSpPr>
        <p:spPr>
          <a:xfrm>
            <a:off x="4187952" y="55083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59" name="Text 57"/>
          <p:cNvSpPr txBox="1"/>
          <p:nvPr/>
        </p:nvSpPr>
        <p:spPr>
          <a:xfrm>
            <a:off x="5029200" y="55083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0" name="Shape 58"/>
          <p:cNvSpPr/>
          <p:nvPr/>
        </p:nvSpPr>
        <p:spPr>
          <a:xfrm>
            <a:off x="3312839" y="1755648"/>
            <a:ext cx="14630" cy="4169664"/>
          </a:xfrm>
          <a:prstGeom prst="rect">
            <a:avLst/>
          </a:prstGeom>
          <a:solidFill>
            <a:srgbClr val="0B2C4A"/>
          </a:solidFill>
          <a:ln/>
        </p:spPr>
      </p:sp>
      <p:sp>
        <p:nvSpPr>
          <p:cNvPr id="61" name="Text 59"/>
          <p:cNvSpPr txBox="1"/>
          <p:nvPr/>
        </p:nvSpPr>
        <p:spPr>
          <a:xfrm>
            <a:off x="6208776" y="1316736"/>
            <a:ext cx="265176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ENOUGH ROS · 3 STORES</a:t>
            </a:r>
            <a:endParaRPr lang="en-US" sz="1400" dirty="0"/>
          </a:p>
        </p:txBody>
      </p:sp>
      <p:sp>
        <p:nvSpPr>
          <p:cNvPr id="62" name="Text 60"/>
          <p:cNvSpPr txBox="1"/>
          <p:nvPr/>
        </p:nvSpPr>
        <p:spPr>
          <a:xfrm>
            <a:off x="898855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Prof.</a:t>
            </a:r>
            <a:endParaRPr lang="en-US" sz="1400" dirty="0"/>
          </a:p>
        </p:txBody>
      </p:sp>
      <p:sp>
        <p:nvSpPr>
          <p:cNvPr id="63" name="Text 61"/>
          <p:cNvSpPr txBox="1"/>
          <p:nvPr/>
        </p:nvSpPr>
        <p:spPr>
          <a:xfrm>
            <a:off x="973836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64" name="Text 62"/>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65" name="Text 63"/>
          <p:cNvSpPr txBox="1"/>
          <p:nvPr/>
        </p:nvSpPr>
        <p:spPr>
          <a:xfrm>
            <a:off x="6208776" y="1755648"/>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66" name="Shape 64"/>
          <p:cNvSpPr/>
          <p:nvPr/>
        </p:nvSpPr>
        <p:spPr>
          <a:xfrm>
            <a:off x="8202168" y="1859890"/>
            <a:ext cx="572597" cy="208483"/>
          </a:xfrm>
          <a:prstGeom prst="rect">
            <a:avLst/>
          </a:prstGeom>
          <a:solidFill>
            <a:srgbClr val="C2352F"/>
          </a:solidFill>
          <a:ln/>
        </p:spPr>
      </p:sp>
      <p:sp>
        <p:nvSpPr>
          <p:cNvPr id="67" name="Text 65"/>
          <p:cNvSpPr txBox="1"/>
          <p:nvPr/>
        </p:nvSpPr>
        <p:spPr>
          <a:xfrm>
            <a:off x="8988552" y="1755648"/>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78.5%</a:t>
            </a:r>
            <a:endParaRPr lang="en-US" sz="1300" dirty="0"/>
          </a:p>
        </p:txBody>
      </p:sp>
      <p:sp>
        <p:nvSpPr>
          <p:cNvPr id="68" name="Text 66"/>
          <p:cNvSpPr txBox="1"/>
          <p:nvPr/>
        </p:nvSpPr>
        <p:spPr>
          <a:xfrm>
            <a:off x="9738360"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69" name="Text 67"/>
          <p:cNvSpPr txBox="1"/>
          <p:nvPr/>
        </p:nvSpPr>
        <p:spPr>
          <a:xfrm>
            <a:off x="10579608"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0" name="Text 68"/>
          <p:cNvSpPr txBox="1"/>
          <p:nvPr/>
        </p:nvSpPr>
        <p:spPr>
          <a:xfrm>
            <a:off x="6208776" y="21726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1" name="Shape 69"/>
          <p:cNvSpPr/>
          <p:nvPr/>
        </p:nvSpPr>
        <p:spPr>
          <a:xfrm>
            <a:off x="8202168" y="2276856"/>
            <a:ext cx="547492" cy="208483"/>
          </a:xfrm>
          <a:prstGeom prst="rect">
            <a:avLst/>
          </a:prstGeom>
          <a:solidFill>
            <a:srgbClr val="C2352F"/>
          </a:solidFill>
          <a:ln/>
        </p:spPr>
      </p:sp>
      <p:sp>
        <p:nvSpPr>
          <p:cNvPr id="72" name="Text 70"/>
          <p:cNvSpPr txBox="1"/>
          <p:nvPr/>
        </p:nvSpPr>
        <p:spPr>
          <a:xfrm>
            <a:off x="8988552" y="21726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76.8%</a:t>
            </a:r>
            <a:endParaRPr lang="en-US" sz="1300" dirty="0"/>
          </a:p>
        </p:txBody>
      </p:sp>
      <p:sp>
        <p:nvSpPr>
          <p:cNvPr id="73" name="Text 71"/>
          <p:cNvSpPr txBox="1"/>
          <p:nvPr/>
        </p:nvSpPr>
        <p:spPr>
          <a:xfrm>
            <a:off x="9738360"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74" name="Text 72"/>
          <p:cNvSpPr txBox="1"/>
          <p:nvPr/>
        </p:nvSpPr>
        <p:spPr>
          <a:xfrm>
            <a:off x="10579608"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5" name="Text 73"/>
          <p:cNvSpPr txBox="1"/>
          <p:nvPr/>
        </p:nvSpPr>
        <p:spPr>
          <a:xfrm>
            <a:off x="6208776" y="2589581"/>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6" name="Shape 74"/>
          <p:cNvSpPr/>
          <p:nvPr/>
        </p:nvSpPr>
        <p:spPr>
          <a:xfrm>
            <a:off x="8202168" y="2693822"/>
            <a:ext cx="481123" cy="208483"/>
          </a:xfrm>
          <a:prstGeom prst="rect">
            <a:avLst/>
          </a:prstGeom>
          <a:solidFill>
            <a:srgbClr val="C2352F"/>
          </a:solidFill>
          <a:ln/>
        </p:spPr>
      </p:sp>
      <p:sp>
        <p:nvSpPr>
          <p:cNvPr id="77" name="Text 75"/>
          <p:cNvSpPr txBox="1"/>
          <p:nvPr/>
        </p:nvSpPr>
        <p:spPr>
          <a:xfrm>
            <a:off x="8988552" y="2589581"/>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72.3%</a:t>
            </a:r>
            <a:endParaRPr lang="en-US" sz="1300" dirty="0"/>
          </a:p>
        </p:txBody>
      </p:sp>
      <p:sp>
        <p:nvSpPr>
          <p:cNvPr id="78" name="Text 76"/>
          <p:cNvSpPr txBox="1"/>
          <p:nvPr/>
        </p:nvSpPr>
        <p:spPr>
          <a:xfrm>
            <a:off x="9738360"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79" name="Text 77"/>
          <p:cNvSpPr txBox="1"/>
          <p:nvPr/>
        </p:nvSpPr>
        <p:spPr>
          <a:xfrm>
            <a:off x="10579608"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80" name="Shape 78"/>
          <p:cNvSpPr/>
          <p:nvPr/>
        </p:nvSpPr>
        <p:spPr>
          <a:xfrm>
            <a:off x="8863247" y="1755648"/>
            <a:ext cx="14630" cy="1250899"/>
          </a:xfrm>
          <a:prstGeom prst="rect">
            <a:avLst/>
          </a:prstGeom>
          <a:solidFill>
            <a:srgbClr val="0B2C4A"/>
          </a:solidFill>
          <a:ln/>
        </p:spPr>
      </p:sp>
      <p:sp>
        <p:nvSpPr>
          <p:cNvPr id="81" name="Shape 79"/>
          <p:cNvSpPr/>
          <p:nvPr/>
        </p:nvSpPr>
        <p:spPr>
          <a:xfrm>
            <a:off x="6035040" y="1371600"/>
            <a:ext cx="10973" cy="4553712"/>
          </a:xfrm>
          <a:prstGeom prst="rect">
            <a:avLst/>
          </a:prstGeom>
          <a:solidFill>
            <a:srgbClr val="D9D9D9"/>
          </a:solidFill>
          <a:ln/>
        </p:spPr>
      </p:sp>
      <p:sp>
        <p:nvSpPr>
          <p:cNvPr id="82" name="Shape 80"/>
          <p:cNvSpPr/>
          <p:nvPr/>
        </p:nvSpPr>
        <p:spPr>
          <a:xfrm>
            <a:off x="457200" y="6126480"/>
            <a:ext cx="11274552" cy="615696"/>
          </a:xfrm>
          <a:prstGeom prst="rect">
            <a:avLst/>
          </a:prstGeom>
          <a:solidFill>
            <a:srgbClr val="EDF4FA"/>
          </a:solidFill>
          <a:ln/>
        </p:spPr>
      </p:sp>
      <p:sp>
        <p:nvSpPr>
          <p:cNvPr id="83" name="Text 8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of the 13 stores under 85% also see fewer ROs per tech than their segment: check car count and staffing first. At Honda Flagstaff, Kia LV, Volvo the work is there.</a:t>
            </a:r>
            <a:endParaRPr lang="en-US" sz="1600" dirty="0"/>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4572000" cy="4645152"/>
          </a:xfrm>
          <a:prstGeom prst="rect">
            <a:avLst/>
          </a:prstGeom>
          <a:solidFill>
            <a:srgbClr val="FFFFFF"/>
          </a:solidFill>
          <a:ln/>
        </p:spPr>
      </p:sp>
      <p:sp>
        <p:nvSpPr>
          <p:cNvPr id="6" name="Shape 4"/>
          <p:cNvSpPr/>
          <p:nvPr/>
        </p:nvSpPr>
        <p:spPr>
          <a:xfrm>
            <a:off x="5166360" y="1207008"/>
            <a:ext cx="6565392" cy="4645152"/>
          </a:xfrm>
          <a:prstGeom prst="rect">
            <a:avLst/>
          </a:prstGeom>
          <a:solidFill>
            <a:srgbClr val="FFFFFF"/>
          </a:solidFill>
          <a:ln/>
        </p:spPr>
      </p:sp>
      <p:sp>
        <p:nvSpPr>
          <p:cNvPr id="7" name="Text 5"/>
          <p:cNvSpPr txBox="1"/>
          <p:nvPr/>
        </p:nvSpPr>
        <p:spPr>
          <a:xfrm>
            <a:off x="713232" y="14173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HOUR</a:t>
            </a:r>
            <a:endParaRPr lang="en-US" sz="1400" dirty="0"/>
          </a:p>
        </p:txBody>
      </p:sp>
      <p:sp>
        <p:nvSpPr>
          <p:cNvPr id="8" name="Text 6"/>
          <p:cNvSpPr txBox="1"/>
          <p:nvPr/>
        </p:nvSpPr>
        <p:spPr>
          <a:xfrm>
            <a:off x="713232" y="1737360"/>
            <a:ext cx="4114800" cy="822960"/>
          </a:xfrm>
          <a:prstGeom prst="rect">
            <a:avLst/>
          </a:prstGeom>
          <a:noFill/>
          <a:ln/>
        </p:spPr>
        <p:txBody>
          <a:bodyPr wrap="square" lIns="0" tIns="0" rIns="0" bIns="0" rtlCol="0" anchor="ctr"/>
          <a:lstStyle/>
          <a:p>
            <a:pPr indent="0" marL="0">
              <a:buNone/>
            </a:pPr>
            <a:r>
              <a:rPr lang="en-US" sz="5400" b="1" dirty="0">
                <a:solidFill>
                  <a:srgbClr val="0B2C4A"/>
                </a:solidFill>
                <a:latin typeface="Inter" pitchFamily="34" charset="0"/>
                <a:ea typeface="Inter" pitchFamily="34" charset="-122"/>
                <a:cs typeface="Inter" pitchFamily="34" charset="-120"/>
              </a:rPr>
              <a:t>$188</a:t>
            </a:r>
            <a:endParaRPr lang="en-US" sz="5400" dirty="0"/>
          </a:p>
        </p:txBody>
      </p:sp>
      <p:sp>
        <p:nvSpPr>
          <p:cNvPr id="9" name="Text 7"/>
          <p:cNvSpPr txBox="1"/>
          <p:nvPr/>
        </p:nvSpPr>
        <p:spPr>
          <a:xfrm>
            <a:off x="713232" y="2560320"/>
            <a:ext cx="4114800" cy="32918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in labor and parts gross, group average</a:t>
            </a:r>
            <a:endParaRPr lang="en-US" sz="1500" dirty="0"/>
          </a:p>
        </p:txBody>
      </p:sp>
      <p:sp>
        <p:nvSpPr>
          <p:cNvPr id="10" name="Shape 8"/>
          <p:cNvSpPr/>
          <p:nvPr/>
        </p:nvSpPr>
        <p:spPr>
          <a:xfrm>
            <a:off x="713232" y="3063240"/>
            <a:ext cx="4069080" cy="10973"/>
          </a:xfrm>
          <a:prstGeom prst="rect">
            <a:avLst/>
          </a:prstGeom>
          <a:solidFill>
            <a:srgbClr val="D9D9D9"/>
          </a:solidFill>
          <a:ln/>
        </p:spPr>
      </p:sp>
      <p:sp>
        <p:nvSpPr>
          <p:cNvPr id="11" name="Text 9"/>
          <p:cNvSpPr txBox="1"/>
          <p:nvPr/>
        </p:nvSpPr>
        <p:spPr>
          <a:xfrm>
            <a:off x="713232" y="32461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MINUTE</a:t>
            </a:r>
            <a:endParaRPr lang="en-US" sz="1400" dirty="0"/>
          </a:p>
        </p:txBody>
      </p:sp>
      <p:sp>
        <p:nvSpPr>
          <p:cNvPr id="12" name="Text 10"/>
          <p:cNvSpPr txBox="1"/>
          <p:nvPr/>
        </p:nvSpPr>
        <p:spPr>
          <a:xfrm>
            <a:off x="713232" y="3566160"/>
            <a:ext cx="4114800" cy="822960"/>
          </a:xfrm>
          <a:prstGeom prst="rect">
            <a:avLst/>
          </a:prstGeom>
          <a:noFill/>
          <a:ln/>
        </p:spPr>
        <p:txBody>
          <a:bodyPr wrap="square" lIns="0" tIns="0" rIns="0" bIns="0" rtlCol="0" anchor="ctr"/>
          <a:lstStyle/>
          <a:p>
            <a:pPr indent="0" marL="0">
              <a:buNone/>
            </a:pPr>
            <a:r>
              <a:rPr lang="en-US" sz="5400" b="1" dirty="0">
                <a:solidFill>
                  <a:srgbClr val="0B7A4A"/>
                </a:solidFill>
                <a:latin typeface="Inter" pitchFamily="34" charset="0"/>
                <a:ea typeface="Inter" pitchFamily="34" charset="-122"/>
                <a:cs typeface="Inter" pitchFamily="34" charset="-120"/>
              </a:rPr>
              <a:t>$3.13</a:t>
            </a:r>
            <a:endParaRPr lang="en-US" sz="5400" dirty="0"/>
          </a:p>
        </p:txBody>
      </p:sp>
      <p:sp>
        <p:nvSpPr>
          <p:cNvPr id="13" name="Text 11"/>
          <p:cNvSpPr txBox="1"/>
          <p:nvPr/>
        </p:nvSpPr>
        <p:spPr>
          <a:xfrm>
            <a:off x="713232" y="4389120"/>
            <a:ext cx="4114800" cy="64008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About $762 a year for each tech, one minute a day</a:t>
            </a:r>
            <a:endParaRPr lang="en-US" sz="1500" dirty="0"/>
          </a:p>
        </p:txBody>
      </p:sp>
      <p:sp>
        <p:nvSpPr>
          <p:cNvPr id="14" name="Text 12"/>
          <p:cNvSpPr txBox="1"/>
          <p:nvPr/>
        </p:nvSpPr>
        <p:spPr>
          <a:xfrm>
            <a:off x="5422392" y="1417320"/>
            <a:ext cx="612648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MINUTES SAVED PER TECH, EVERY DAY · 583 TECHNICIANS</a:t>
            </a:r>
            <a:endParaRPr lang="en-US" sz="14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5422392" y="1828800"/>
          <a:ext cx="6053328" cy="914400"/>
        </p:xfrm>
        <a:graphic>
          <a:graphicData uri="http://schemas.openxmlformats.org/drawingml/2006/table">
            <a:tbl>
              <a:tblPr/>
              <a:tblGrid>
                <a:gridCol w="2212848"/>
                <a:gridCol w="1920240"/>
                <a:gridCol w="1920240"/>
              </a:tblGrid>
              <a:tr h="475488">
                <a:tc>
                  <a:txBody>
                    <a:bodyPr/>
                    <a:lstStyle/>
                    <a:p>
                      <a:pPr algn="l" indent="0" marL="0">
                        <a:buNone/>
                      </a:pPr>
                      <a:r>
                        <a:rPr lang="en-US" sz="2000" b="1" dirty="0">
                          <a:solidFill>
                            <a:srgbClr val="FFFFFF"/>
                          </a:solidFill>
                          <a:latin typeface="Inter" pitchFamily="34" charset="0"/>
                          <a:ea typeface="Inter" pitchFamily="34" charset="-122"/>
                          <a:cs typeface="Inter" pitchFamily="34" charset="-120"/>
                        </a:rPr>
                        <a:t>Minutes a day</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month</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year</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 minute</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$185K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$2.22M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10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$370K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$555K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$6.67M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16" name="Text 13"/>
          <p:cNvSpPr txBox="1"/>
          <p:nvPr/>
        </p:nvSpPr>
        <p:spPr>
          <a:xfrm>
            <a:off x="5422392" y="4434840"/>
            <a:ext cx="6053328" cy="123444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Where the minutes go: walking to the parts counter, waiting on dispatch or a customer approval, hunting for tools, chasing a key or a car.</a:t>
            </a:r>
            <a:endParaRPr lang="en-US" sz="1600" dirty="0"/>
          </a:p>
        </p:txBody>
      </p:sp>
      <p:sp>
        <p:nvSpPr>
          <p:cNvPr id="17" name="Shape 14"/>
          <p:cNvSpPr/>
          <p:nvPr/>
        </p:nvSpPr>
        <p:spPr>
          <a:xfrm>
            <a:off x="457200" y="6126480"/>
            <a:ext cx="11274552" cy="364236"/>
          </a:xfrm>
          <a:prstGeom prst="rect">
            <a:avLst/>
          </a:prstGeom>
          <a:solidFill>
            <a:srgbClr val="E6F6EE"/>
          </a:solidFill>
          <a:ln/>
        </p:spPr>
      </p:sp>
      <p:sp>
        <p:nvSpPr>
          <p:cNvPr id="18" name="Text 1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One minute a day for every tech is worth $37,032 a month, $444,380 a year. No new techs, no new bays.</a:t>
            </a:r>
            <a:endParaRPr lang="en-US" sz="1550" dirty="0"/>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767328" y="1316736"/>
            <a:ext cx="786384" cy="329184"/>
          </a:xfrm>
          <a:prstGeom prst="rect">
            <a:avLst/>
          </a:prstGeom>
          <a:noFill/>
          <a:ln/>
        </p:spPr>
        <p:txBody>
          <a:bodyPr wrap="square" lIns="0" tIns="0" rIns="0" bIns="0" rtlCol="0" anchor="ctr"/>
          <a:lstStyle/>
          <a:p>
            <a:pPr algn="r" indent="0" marL="0">
              <a:buNone/>
            </a:pPr>
            <a:endParaRPr lang="en-US" sz="1400" dirty="0"/>
          </a:p>
        </p:txBody>
      </p:sp>
      <p:sp>
        <p:nvSpPr>
          <p:cNvPr id="7" name="Text 5"/>
          <p:cNvSpPr txBox="1"/>
          <p:nvPr/>
        </p:nvSpPr>
        <p:spPr>
          <a:xfrm>
            <a:off x="4553712"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8" name="Text 6"/>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9" name="Text 7"/>
          <p:cNvSpPr txBox="1"/>
          <p:nvPr/>
        </p:nvSpPr>
        <p:spPr>
          <a:xfrm>
            <a:off x="9317736" y="1316736"/>
            <a:ext cx="786384" cy="329184"/>
          </a:xfrm>
          <a:prstGeom prst="rect">
            <a:avLst/>
          </a:prstGeom>
          <a:noFill/>
          <a:ln/>
        </p:spPr>
        <p:txBody>
          <a:bodyPr wrap="square" lIns="0" tIns="0" rIns="0" bIns="0" rtlCol="0" anchor="ctr"/>
          <a:lstStyle/>
          <a:p>
            <a:pPr algn="r" indent="0" marL="0">
              <a:buNone/>
            </a:pPr>
            <a:endParaRPr lang="en-US" sz="1400" dirty="0"/>
          </a:p>
        </p:txBody>
      </p:sp>
      <p:sp>
        <p:nvSpPr>
          <p:cNvPr id="10" name="Text 8"/>
          <p:cNvSpPr txBox="1"/>
          <p:nvPr/>
        </p:nvSpPr>
        <p:spPr>
          <a:xfrm>
            <a:off x="10104120"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11" name="Text 9"/>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3" name="Shape 11"/>
          <p:cNvSpPr/>
          <p:nvPr/>
        </p:nvSpPr>
        <p:spPr>
          <a:xfrm>
            <a:off x="2670048" y="1756697"/>
            <a:ext cx="1042416" cy="136676"/>
          </a:xfrm>
          <a:prstGeom prst="rect">
            <a:avLst/>
          </a:prstGeom>
          <a:solidFill>
            <a:srgbClr val="2587C5"/>
          </a:solidFill>
          <a:ln/>
        </p:spPr>
      </p:sp>
      <p:sp>
        <p:nvSpPr>
          <p:cNvPr id="14" name="Text 12"/>
          <p:cNvSpPr txBox="1"/>
          <p:nvPr/>
        </p:nvSpPr>
        <p:spPr>
          <a:xfrm>
            <a:off x="3767328" y="170078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$43.3K</a:t>
            </a:r>
            <a:endParaRPr lang="en-US" sz="1300" dirty="0"/>
          </a:p>
        </p:txBody>
      </p:sp>
      <p:sp>
        <p:nvSpPr>
          <p:cNvPr id="15" name="Text 13"/>
          <p:cNvSpPr txBox="1"/>
          <p:nvPr/>
        </p:nvSpPr>
        <p:spPr>
          <a:xfrm>
            <a:off x="4553712" y="170078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6" name="Text 14"/>
          <p:cNvSpPr txBox="1"/>
          <p:nvPr/>
        </p:nvSpPr>
        <p:spPr>
          <a:xfrm>
            <a:off x="512064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2670048" y="2005199"/>
            <a:ext cx="813746" cy="136676"/>
          </a:xfrm>
          <a:prstGeom prst="rect">
            <a:avLst/>
          </a:prstGeom>
          <a:solidFill>
            <a:srgbClr val="2587C5"/>
          </a:solidFill>
          <a:ln/>
        </p:spPr>
      </p:sp>
      <p:sp>
        <p:nvSpPr>
          <p:cNvPr id="19" name="Text 17"/>
          <p:cNvSpPr txBox="1"/>
          <p:nvPr/>
        </p:nvSpPr>
        <p:spPr>
          <a:xfrm>
            <a:off x="3767328" y="194928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$33.8K</a:t>
            </a:r>
            <a:endParaRPr lang="en-US" sz="1300" dirty="0"/>
          </a:p>
        </p:txBody>
      </p:sp>
      <p:sp>
        <p:nvSpPr>
          <p:cNvPr id="20" name="Text 18"/>
          <p:cNvSpPr txBox="1"/>
          <p:nvPr/>
        </p:nvSpPr>
        <p:spPr>
          <a:xfrm>
            <a:off x="4553712" y="194928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21" name="Text 19"/>
          <p:cNvSpPr txBox="1"/>
          <p:nvPr/>
        </p:nvSpPr>
        <p:spPr>
          <a:xfrm>
            <a:off x="512064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$2.71</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3" name="Shape 21"/>
          <p:cNvSpPr/>
          <p:nvPr/>
        </p:nvSpPr>
        <p:spPr>
          <a:xfrm>
            <a:off x="2670048" y="2253700"/>
            <a:ext cx="683623" cy="136676"/>
          </a:xfrm>
          <a:prstGeom prst="rect">
            <a:avLst/>
          </a:prstGeom>
          <a:solidFill>
            <a:srgbClr val="2587C5"/>
          </a:solidFill>
          <a:ln/>
        </p:spPr>
      </p:sp>
      <p:sp>
        <p:nvSpPr>
          <p:cNvPr id="24" name="Text 22"/>
          <p:cNvSpPr txBox="1"/>
          <p:nvPr/>
        </p:nvSpPr>
        <p:spPr>
          <a:xfrm>
            <a:off x="3767328" y="219778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$28.4K</a:t>
            </a:r>
            <a:endParaRPr lang="en-US" sz="1300" dirty="0"/>
          </a:p>
        </p:txBody>
      </p:sp>
      <p:sp>
        <p:nvSpPr>
          <p:cNvPr id="25" name="Text 23"/>
          <p:cNvSpPr txBox="1"/>
          <p:nvPr/>
        </p:nvSpPr>
        <p:spPr>
          <a:xfrm>
            <a:off x="4553712" y="219778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26" name="Text 24"/>
          <p:cNvSpPr txBox="1"/>
          <p:nvPr/>
        </p:nvSpPr>
        <p:spPr>
          <a:xfrm>
            <a:off x="512064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502202"/>
            <a:ext cx="656778" cy="136676"/>
          </a:xfrm>
          <a:prstGeom prst="rect">
            <a:avLst/>
          </a:prstGeom>
          <a:solidFill>
            <a:srgbClr val="2587C5"/>
          </a:solidFill>
          <a:ln/>
        </p:spPr>
      </p:sp>
      <p:sp>
        <p:nvSpPr>
          <p:cNvPr id="29" name="Text 27"/>
          <p:cNvSpPr txBox="1"/>
          <p:nvPr/>
        </p:nvSpPr>
        <p:spPr>
          <a:xfrm>
            <a:off x="3767328" y="244628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$27.3K</a:t>
            </a:r>
            <a:endParaRPr lang="en-US" sz="1300" dirty="0"/>
          </a:p>
        </p:txBody>
      </p:sp>
      <p:sp>
        <p:nvSpPr>
          <p:cNvPr id="30" name="Text 28"/>
          <p:cNvSpPr txBox="1"/>
          <p:nvPr/>
        </p:nvSpPr>
        <p:spPr>
          <a:xfrm>
            <a:off x="4553712" y="244628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31" name="Text 29"/>
          <p:cNvSpPr txBox="1"/>
          <p:nvPr/>
        </p:nvSpPr>
        <p:spPr>
          <a:xfrm>
            <a:off x="512064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$4.69</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2670048" y="2750703"/>
            <a:ext cx="600457" cy="136676"/>
          </a:xfrm>
          <a:prstGeom prst="rect">
            <a:avLst/>
          </a:prstGeom>
          <a:solidFill>
            <a:srgbClr val="2587C5"/>
          </a:solidFill>
          <a:ln/>
        </p:spPr>
      </p:sp>
      <p:sp>
        <p:nvSpPr>
          <p:cNvPr id="34" name="Text 32"/>
          <p:cNvSpPr txBox="1"/>
          <p:nvPr/>
        </p:nvSpPr>
        <p:spPr>
          <a:xfrm>
            <a:off x="3767328" y="2694791"/>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$24.9K</a:t>
            </a:r>
            <a:endParaRPr lang="en-US" sz="1300" dirty="0"/>
          </a:p>
        </p:txBody>
      </p:sp>
      <p:sp>
        <p:nvSpPr>
          <p:cNvPr id="35" name="Text 33"/>
          <p:cNvSpPr txBox="1"/>
          <p:nvPr/>
        </p:nvSpPr>
        <p:spPr>
          <a:xfrm>
            <a:off x="4553712" y="2694791"/>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36" name="Text 34"/>
          <p:cNvSpPr txBox="1"/>
          <p:nvPr/>
        </p:nvSpPr>
        <p:spPr>
          <a:xfrm>
            <a:off x="512064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38" name="Shape 36"/>
          <p:cNvSpPr/>
          <p:nvPr/>
        </p:nvSpPr>
        <p:spPr>
          <a:xfrm>
            <a:off x="2670048" y="2999205"/>
            <a:ext cx="548891" cy="136676"/>
          </a:xfrm>
          <a:prstGeom prst="rect">
            <a:avLst/>
          </a:prstGeom>
          <a:solidFill>
            <a:srgbClr val="2587C5"/>
          </a:solidFill>
          <a:ln/>
        </p:spPr>
      </p:sp>
      <p:sp>
        <p:nvSpPr>
          <p:cNvPr id="39" name="Text 37"/>
          <p:cNvSpPr txBox="1"/>
          <p:nvPr/>
        </p:nvSpPr>
        <p:spPr>
          <a:xfrm>
            <a:off x="3767328" y="294329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$22.8K</a:t>
            </a:r>
            <a:endParaRPr lang="en-US" sz="1300" dirty="0"/>
          </a:p>
        </p:txBody>
      </p:sp>
      <p:sp>
        <p:nvSpPr>
          <p:cNvPr id="40" name="Text 38"/>
          <p:cNvSpPr txBox="1"/>
          <p:nvPr/>
        </p:nvSpPr>
        <p:spPr>
          <a:xfrm>
            <a:off x="4553712" y="294329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1" name="Text 39"/>
          <p:cNvSpPr txBox="1"/>
          <p:nvPr/>
        </p:nvSpPr>
        <p:spPr>
          <a:xfrm>
            <a:off x="512064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3" name="Shape 41"/>
          <p:cNvSpPr/>
          <p:nvPr/>
        </p:nvSpPr>
        <p:spPr>
          <a:xfrm>
            <a:off x="2670048" y="3247707"/>
            <a:ext cx="393176" cy="136676"/>
          </a:xfrm>
          <a:prstGeom prst="rect">
            <a:avLst/>
          </a:prstGeom>
          <a:solidFill>
            <a:srgbClr val="2587C5"/>
          </a:solidFill>
          <a:ln/>
        </p:spPr>
      </p:sp>
      <p:sp>
        <p:nvSpPr>
          <p:cNvPr id="44" name="Text 42"/>
          <p:cNvSpPr txBox="1"/>
          <p:nvPr/>
        </p:nvSpPr>
        <p:spPr>
          <a:xfrm>
            <a:off x="3767328" y="319179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$16.3K</a:t>
            </a:r>
            <a:endParaRPr lang="en-US" sz="1300" dirty="0"/>
          </a:p>
        </p:txBody>
      </p:sp>
      <p:sp>
        <p:nvSpPr>
          <p:cNvPr id="45" name="Text 43"/>
          <p:cNvSpPr txBox="1"/>
          <p:nvPr/>
        </p:nvSpPr>
        <p:spPr>
          <a:xfrm>
            <a:off x="4553712" y="319179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46" name="Text 44"/>
          <p:cNvSpPr txBox="1"/>
          <p:nvPr/>
        </p:nvSpPr>
        <p:spPr>
          <a:xfrm>
            <a:off x="512064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8" name="Shape 46"/>
          <p:cNvSpPr/>
          <p:nvPr/>
        </p:nvSpPr>
        <p:spPr>
          <a:xfrm>
            <a:off x="2670048" y="3496208"/>
            <a:ext cx="391366" cy="136676"/>
          </a:xfrm>
          <a:prstGeom prst="rect">
            <a:avLst/>
          </a:prstGeom>
          <a:solidFill>
            <a:srgbClr val="2587C5"/>
          </a:solidFill>
          <a:ln/>
        </p:spPr>
      </p:sp>
      <p:sp>
        <p:nvSpPr>
          <p:cNvPr id="49" name="Text 47"/>
          <p:cNvSpPr txBox="1"/>
          <p:nvPr/>
        </p:nvSpPr>
        <p:spPr>
          <a:xfrm>
            <a:off x="3767328" y="344029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$16.2K</a:t>
            </a:r>
            <a:endParaRPr lang="en-US" sz="1300" dirty="0"/>
          </a:p>
        </p:txBody>
      </p:sp>
      <p:sp>
        <p:nvSpPr>
          <p:cNvPr id="50" name="Text 48"/>
          <p:cNvSpPr txBox="1"/>
          <p:nvPr/>
        </p:nvSpPr>
        <p:spPr>
          <a:xfrm>
            <a:off x="4553712" y="344029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1" name="Text 49"/>
          <p:cNvSpPr txBox="1"/>
          <p:nvPr/>
        </p:nvSpPr>
        <p:spPr>
          <a:xfrm>
            <a:off x="512064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3" name="Shape 51"/>
          <p:cNvSpPr/>
          <p:nvPr/>
        </p:nvSpPr>
        <p:spPr>
          <a:xfrm>
            <a:off x="2670048" y="3744710"/>
            <a:ext cx="367379" cy="136676"/>
          </a:xfrm>
          <a:prstGeom prst="rect">
            <a:avLst/>
          </a:prstGeom>
          <a:solidFill>
            <a:srgbClr val="2587C5"/>
          </a:solidFill>
          <a:ln/>
        </p:spPr>
      </p:sp>
      <p:sp>
        <p:nvSpPr>
          <p:cNvPr id="54" name="Text 52"/>
          <p:cNvSpPr txBox="1"/>
          <p:nvPr/>
        </p:nvSpPr>
        <p:spPr>
          <a:xfrm>
            <a:off x="3767328" y="368879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$15.2K</a:t>
            </a:r>
            <a:endParaRPr lang="en-US" sz="1300" dirty="0"/>
          </a:p>
        </p:txBody>
      </p:sp>
      <p:sp>
        <p:nvSpPr>
          <p:cNvPr id="55" name="Text 53"/>
          <p:cNvSpPr txBox="1"/>
          <p:nvPr/>
        </p:nvSpPr>
        <p:spPr>
          <a:xfrm>
            <a:off x="4553712" y="368879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6" name="Text 54"/>
          <p:cNvSpPr txBox="1"/>
          <p:nvPr/>
        </p:nvSpPr>
        <p:spPr>
          <a:xfrm>
            <a:off x="512064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3993212"/>
            <a:ext cx="355248" cy="136676"/>
          </a:xfrm>
          <a:prstGeom prst="rect">
            <a:avLst/>
          </a:prstGeom>
          <a:solidFill>
            <a:srgbClr val="2587C5"/>
          </a:solidFill>
          <a:ln/>
        </p:spPr>
      </p:sp>
      <p:sp>
        <p:nvSpPr>
          <p:cNvPr id="59" name="Text 57"/>
          <p:cNvSpPr txBox="1"/>
          <p:nvPr/>
        </p:nvSpPr>
        <p:spPr>
          <a:xfrm>
            <a:off x="3767328" y="393729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$14.7K</a:t>
            </a:r>
            <a:endParaRPr lang="en-US" sz="1300" dirty="0"/>
          </a:p>
        </p:txBody>
      </p:sp>
      <p:sp>
        <p:nvSpPr>
          <p:cNvPr id="60" name="Text 58"/>
          <p:cNvSpPr txBox="1"/>
          <p:nvPr/>
        </p:nvSpPr>
        <p:spPr>
          <a:xfrm>
            <a:off x="4553712" y="393729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1" name="Text 59"/>
          <p:cNvSpPr txBox="1"/>
          <p:nvPr/>
        </p:nvSpPr>
        <p:spPr>
          <a:xfrm>
            <a:off x="512064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$3.47</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3" name="Shape 61"/>
          <p:cNvSpPr/>
          <p:nvPr/>
        </p:nvSpPr>
        <p:spPr>
          <a:xfrm>
            <a:off x="2670048" y="4241713"/>
            <a:ext cx="338665" cy="136676"/>
          </a:xfrm>
          <a:prstGeom prst="rect">
            <a:avLst/>
          </a:prstGeom>
          <a:solidFill>
            <a:srgbClr val="2587C5"/>
          </a:solidFill>
          <a:ln/>
        </p:spPr>
      </p:sp>
      <p:sp>
        <p:nvSpPr>
          <p:cNvPr id="64" name="Text 62"/>
          <p:cNvSpPr txBox="1"/>
          <p:nvPr/>
        </p:nvSpPr>
        <p:spPr>
          <a:xfrm>
            <a:off x="3767328" y="4185800"/>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$14.1K</a:t>
            </a:r>
            <a:endParaRPr lang="en-US" sz="1300" dirty="0"/>
          </a:p>
        </p:txBody>
      </p:sp>
      <p:sp>
        <p:nvSpPr>
          <p:cNvPr id="65" name="Text 63"/>
          <p:cNvSpPr txBox="1"/>
          <p:nvPr/>
        </p:nvSpPr>
        <p:spPr>
          <a:xfrm>
            <a:off x="4553712" y="418580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6" name="Text 64"/>
          <p:cNvSpPr txBox="1"/>
          <p:nvPr/>
        </p:nvSpPr>
        <p:spPr>
          <a:xfrm>
            <a:off x="512064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68" name="Shape 66"/>
          <p:cNvSpPr/>
          <p:nvPr/>
        </p:nvSpPr>
        <p:spPr>
          <a:xfrm>
            <a:off x="2670048" y="4490215"/>
            <a:ext cx="305679" cy="136676"/>
          </a:xfrm>
          <a:prstGeom prst="rect">
            <a:avLst/>
          </a:prstGeom>
          <a:solidFill>
            <a:srgbClr val="2587C5"/>
          </a:solidFill>
          <a:ln/>
        </p:spPr>
      </p:sp>
      <p:sp>
        <p:nvSpPr>
          <p:cNvPr id="69" name="Text 67"/>
          <p:cNvSpPr txBox="1"/>
          <p:nvPr/>
        </p:nvSpPr>
        <p:spPr>
          <a:xfrm>
            <a:off x="3767328" y="443430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$12.7K</a:t>
            </a:r>
            <a:endParaRPr lang="en-US" sz="1300" dirty="0"/>
          </a:p>
        </p:txBody>
      </p:sp>
      <p:sp>
        <p:nvSpPr>
          <p:cNvPr id="70" name="Text 68"/>
          <p:cNvSpPr txBox="1"/>
          <p:nvPr/>
        </p:nvSpPr>
        <p:spPr>
          <a:xfrm>
            <a:off x="4553712" y="443430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71" name="Text 69"/>
          <p:cNvSpPr txBox="1"/>
          <p:nvPr/>
        </p:nvSpPr>
        <p:spPr>
          <a:xfrm>
            <a:off x="512064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3" name="Shape 71"/>
          <p:cNvSpPr/>
          <p:nvPr/>
        </p:nvSpPr>
        <p:spPr>
          <a:xfrm>
            <a:off x="2670048" y="4738717"/>
            <a:ext cx="303009" cy="136676"/>
          </a:xfrm>
          <a:prstGeom prst="rect">
            <a:avLst/>
          </a:prstGeom>
          <a:solidFill>
            <a:srgbClr val="2587C5"/>
          </a:solidFill>
          <a:ln/>
        </p:spPr>
      </p:sp>
      <p:sp>
        <p:nvSpPr>
          <p:cNvPr id="74" name="Text 72"/>
          <p:cNvSpPr txBox="1"/>
          <p:nvPr/>
        </p:nvSpPr>
        <p:spPr>
          <a:xfrm>
            <a:off x="3767328" y="468280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$12.6K</a:t>
            </a:r>
            <a:endParaRPr lang="en-US" sz="1300" dirty="0"/>
          </a:p>
        </p:txBody>
      </p:sp>
      <p:sp>
        <p:nvSpPr>
          <p:cNvPr id="75" name="Text 73"/>
          <p:cNvSpPr txBox="1"/>
          <p:nvPr/>
        </p:nvSpPr>
        <p:spPr>
          <a:xfrm>
            <a:off x="4553712" y="468280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76" name="Text 74"/>
          <p:cNvSpPr txBox="1"/>
          <p:nvPr/>
        </p:nvSpPr>
        <p:spPr>
          <a:xfrm>
            <a:off x="512064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8" name="Shape 76"/>
          <p:cNvSpPr/>
          <p:nvPr/>
        </p:nvSpPr>
        <p:spPr>
          <a:xfrm>
            <a:off x="2670048" y="4987218"/>
            <a:ext cx="297134" cy="136676"/>
          </a:xfrm>
          <a:prstGeom prst="rect">
            <a:avLst/>
          </a:prstGeom>
          <a:solidFill>
            <a:srgbClr val="2587C5"/>
          </a:solidFill>
          <a:ln/>
        </p:spPr>
      </p:sp>
      <p:sp>
        <p:nvSpPr>
          <p:cNvPr id="79" name="Text 77"/>
          <p:cNvSpPr txBox="1"/>
          <p:nvPr/>
        </p:nvSpPr>
        <p:spPr>
          <a:xfrm>
            <a:off x="3767328" y="4931305"/>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$12.3K</a:t>
            </a:r>
            <a:endParaRPr lang="en-US" sz="1300" dirty="0"/>
          </a:p>
        </p:txBody>
      </p:sp>
      <p:sp>
        <p:nvSpPr>
          <p:cNvPr id="80" name="Text 78"/>
          <p:cNvSpPr txBox="1"/>
          <p:nvPr/>
        </p:nvSpPr>
        <p:spPr>
          <a:xfrm>
            <a:off x="4553712" y="4931305"/>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81" name="Text 79"/>
          <p:cNvSpPr txBox="1"/>
          <p:nvPr/>
        </p:nvSpPr>
        <p:spPr>
          <a:xfrm>
            <a:off x="512064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$2.50</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3" name="Shape 81"/>
          <p:cNvSpPr/>
          <p:nvPr/>
        </p:nvSpPr>
        <p:spPr>
          <a:xfrm>
            <a:off x="2670048" y="5235720"/>
            <a:ext cx="287796" cy="136676"/>
          </a:xfrm>
          <a:prstGeom prst="rect">
            <a:avLst/>
          </a:prstGeom>
          <a:solidFill>
            <a:srgbClr val="2587C5"/>
          </a:solidFill>
          <a:ln/>
        </p:spPr>
      </p:sp>
      <p:sp>
        <p:nvSpPr>
          <p:cNvPr id="84" name="Text 82"/>
          <p:cNvSpPr txBox="1"/>
          <p:nvPr/>
        </p:nvSpPr>
        <p:spPr>
          <a:xfrm>
            <a:off x="3767328" y="517980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$11.9K</a:t>
            </a:r>
            <a:endParaRPr lang="en-US" sz="1300" dirty="0"/>
          </a:p>
        </p:txBody>
      </p:sp>
      <p:sp>
        <p:nvSpPr>
          <p:cNvPr id="85" name="Text 83"/>
          <p:cNvSpPr txBox="1"/>
          <p:nvPr/>
        </p:nvSpPr>
        <p:spPr>
          <a:xfrm>
            <a:off x="4553712" y="517980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86" name="Text 84"/>
          <p:cNvSpPr txBox="1"/>
          <p:nvPr/>
        </p:nvSpPr>
        <p:spPr>
          <a:xfrm>
            <a:off x="512064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88" name="Shape 86"/>
          <p:cNvSpPr/>
          <p:nvPr/>
        </p:nvSpPr>
        <p:spPr>
          <a:xfrm>
            <a:off x="2670048" y="5484222"/>
            <a:ext cx="274938" cy="136676"/>
          </a:xfrm>
          <a:prstGeom prst="rect">
            <a:avLst/>
          </a:prstGeom>
          <a:solidFill>
            <a:srgbClr val="2587C5"/>
          </a:solidFill>
          <a:ln/>
        </p:spPr>
      </p:sp>
      <p:sp>
        <p:nvSpPr>
          <p:cNvPr id="89" name="Text 87"/>
          <p:cNvSpPr txBox="1"/>
          <p:nvPr/>
        </p:nvSpPr>
        <p:spPr>
          <a:xfrm>
            <a:off x="3767328" y="542830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$11.4K</a:t>
            </a:r>
            <a:endParaRPr lang="en-US" sz="1300" dirty="0"/>
          </a:p>
        </p:txBody>
      </p:sp>
      <p:sp>
        <p:nvSpPr>
          <p:cNvPr id="90" name="Text 88"/>
          <p:cNvSpPr txBox="1"/>
          <p:nvPr/>
        </p:nvSpPr>
        <p:spPr>
          <a:xfrm>
            <a:off x="4553712" y="542830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91" name="Text 89"/>
          <p:cNvSpPr txBox="1"/>
          <p:nvPr/>
        </p:nvSpPr>
        <p:spPr>
          <a:xfrm>
            <a:off x="512064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$4.99</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3" name="Shape 91"/>
          <p:cNvSpPr/>
          <p:nvPr/>
        </p:nvSpPr>
        <p:spPr>
          <a:xfrm>
            <a:off x="2670048" y="5732723"/>
            <a:ext cx="260210" cy="136676"/>
          </a:xfrm>
          <a:prstGeom prst="rect">
            <a:avLst/>
          </a:prstGeom>
          <a:solidFill>
            <a:srgbClr val="2587C5"/>
          </a:solidFill>
          <a:ln/>
        </p:spPr>
      </p:sp>
      <p:sp>
        <p:nvSpPr>
          <p:cNvPr id="94" name="Text 92"/>
          <p:cNvSpPr txBox="1"/>
          <p:nvPr/>
        </p:nvSpPr>
        <p:spPr>
          <a:xfrm>
            <a:off x="3767328" y="5676810"/>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$10.8K</a:t>
            </a:r>
            <a:endParaRPr lang="en-US" sz="1300" dirty="0"/>
          </a:p>
        </p:txBody>
      </p:sp>
      <p:sp>
        <p:nvSpPr>
          <p:cNvPr id="95" name="Text 93"/>
          <p:cNvSpPr txBox="1"/>
          <p:nvPr/>
        </p:nvSpPr>
        <p:spPr>
          <a:xfrm>
            <a:off x="4553712" y="567681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96" name="Text 94"/>
          <p:cNvSpPr txBox="1"/>
          <p:nvPr/>
        </p:nvSpPr>
        <p:spPr>
          <a:xfrm>
            <a:off x="512064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8" name="Shape 96"/>
          <p:cNvSpPr/>
          <p:nvPr/>
        </p:nvSpPr>
        <p:spPr>
          <a:xfrm>
            <a:off x="8220456" y="1756697"/>
            <a:ext cx="246097" cy="136676"/>
          </a:xfrm>
          <a:prstGeom prst="rect">
            <a:avLst/>
          </a:prstGeom>
          <a:solidFill>
            <a:srgbClr val="2587C5"/>
          </a:solidFill>
          <a:ln/>
        </p:spPr>
      </p:sp>
      <p:sp>
        <p:nvSpPr>
          <p:cNvPr id="99" name="Text 97"/>
          <p:cNvSpPr txBox="1"/>
          <p:nvPr/>
        </p:nvSpPr>
        <p:spPr>
          <a:xfrm>
            <a:off x="9317736" y="170078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$10.2K</a:t>
            </a:r>
            <a:endParaRPr lang="en-US" sz="1300" dirty="0"/>
          </a:p>
        </p:txBody>
      </p:sp>
      <p:sp>
        <p:nvSpPr>
          <p:cNvPr id="100" name="Text 98"/>
          <p:cNvSpPr txBox="1"/>
          <p:nvPr/>
        </p:nvSpPr>
        <p:spPr>
          <a:xfrm>
            <a:off x="10104120" y="170078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101" name="Text 99"/>
          <p:cNvSpPr txBox="1"/>
          <p:nvPr/>
        </p:nvSpPr>
        <p:spPr>
          <a:xfrm>
            <a:off x="1067104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03" name="Shape 101"/>
          <p:cNvSpPr/>
          <p:nvPr/>
        </p:nvSpPr>
        <p:spPr>
          <a:xfrm>
            <a:off x="8220456" y="2005199"/>
            <a:ext cx="220598" cy="136676"/>
          </a:xfrm>
          <a:prstGeom prst="rect">
            <a:avLst/>
          </a:prstGeom>
          <a:solidFill>
            <a:srgbClr val="2587C5"/>
          </a:solidFill>
          <a:ln/>
        </p:spPr>
      </p:sp>
      <p:sp>
        <p:nvSpPr>
          <p:cNvPr id="104" name="Text 102"/>
          <p:cNvSpPr txBox="1"/>
          <p:nvPr/>
        </p:nvSpPr>
        <p:spPr>
          <a:xfrm>
            <a:off x="9317736" y="194928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$9.2K</a:t>
            </a:r>
            <a:endParaRPr lang="en-US" sz="1300" dirty="0"/>
          </a:p>
        </p:txBody>
      </p:sp>
      <p:sp>
        <p:nvSpPr>
          <p:cNvPr id="105" name="Text 103"/>
          <p:cNvSpPr txBox="1"/>
          <p:nvPr/>
        </p:nvSpPr>
        <p:spPr>
          <a:xfrm>
            <a:off x="10104120" y="194928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06" name="Text 104"/>
          <p:cNvSpPr txBox="1"/>
          <p:nvPr/>
        </p:nvSpPr>
        <p:spPr>
          <a:xfrm>
            <a:off x="1067104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8" name="Shape 106"/>
          <p:cNvSpPr/>
          <p:nvPr/>
        </p:nvSpPr>
        <p:spPr>
          <a:xfrm>
            <a:off x="8220456" y="2253700"/>
            <a:ext cx="212176" cy="136676"/>
          </a:xfrm>
          <a:prstGeom prst="rect">
            <a:avLst/>
          </a:prstGeom>
          <a:solidFill>
            <a:srgbClr val="2587C5"/>
          </a:solidFill>
          <a:ln/>
        </p:spPr>
      </p:sp>
      <p:sp>
        <p:nvSpPr>
          <p:cNvPr id="109" name="Text 107"/>
          <p:cNvSpPr txBox="1"/>
          <p:nvPr/>
        </p:nvSpPr>
        <p:spPr>
          <a:xfrm>
            <a:off x="9317736" y="219778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$8.8K</a:t>
            </a:r>
            <a:endParaRPr lang="en-US" sz="1300" dirty="0"/>
          </a:p>
        </p:txBody>
      </p:sp>
      <p:sp>
        <p:nvSpPr>
          <p:cNvPr id="110" name="Text 108"/>
          <p:cNvSpPr txBox="1"/>
          <p:nvPr/>
        </p:nvSpPr>
        <p:spPr>
          <a:xfrm>
            <a:off x="10104120" y="219778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11" name="Text 109"/>
          <p:cNvSpPr txBox="1"/>
          <p:nvPr/>
        </p:nvSpPr>
        <p:spPr>
          <a:xfrm>
            <a:off x="1067104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3" name="Shape 111"/>
          <p:cNvSpPr/>
          <p:nvPr/>
        </p:nvSpPr>
        <p:spPr>
          <a:xfrm>
            <a:off x="8220456" y="2502202"/>
            <a:ext cx="203688" cy="136676"/>
          </a:xfrm>
          <a:prstGeom prst="rect">
            <a:avLst/>
          </a:prstGeom>
          <a:solidFill>
            <a:srgbClr val="2587C5"/>
          </a:solidFill>
          <a:ln/>
        </p:spPr>
      </p:sp>
      <p:sp>
        <p:nvSpPr>
          <p:cNvPr id="114" name="Text 112"/>
          <p:cNvSpPr txBox="1"/>
          <p:nvPr/>
        </p:nvSpPr>
        <p:spPr>
          <a:xfrm>
            <a:off x="9317736" y="244628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$8.5K</a:t>
            </a:r>
            <a:endParaRPr lang="en-US" sz="1300" dirty="0"/>
          </a:p>
        </p:txBody>
      </p:sp>
      <p:sp>
        <p:nvSpPr>
          <p:cNvPr id="115" name="Text 113"/>
          <p:cNvSpPr txBox="1"/>
          <p:nvPr/>
        </p:nvSpPr>
        <p:spPr>
          <a:xfrm>
            <a:off x="10104120" y="244628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16" name="Text 114"/>
          <p:cNvSpPr txBox="1"/>
          <p:nvPr/>
        </p:nvSpPr>
        <p:spPr>
          <a:xfrm>
            <a:off x="1067104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18" name="Shape 116"/>
          <p:cNvSpPr/>
          <p:nvPr/>
        </p:nvSpPr>
        <p:spPr>
          <a:xfrm>
            <a:off x="8220456" y="2750703"/>
            <a:ext cx="199671" cy="136676"/>
          </a:xfrm>
          <a:prstGeom prst="rect">
            <a:avLst/>
          </a:prstGeom>
          <a:solidFill>
            <a:srgbClr val="2587C5"/>
          </a:solidFill>
          <a:ln/>
        </p:spPr>
      </p:sp>
      <p:sp>
        <p:nvSpPr>
          <p:cNvPr id="119" name="Text 117"/>
          <p:cNvSpPr txBox="1"/>
          <p:nvPr/>
        </p:nvSpPr>
        <p:spPr>
          <a:xfrm>
            <a:off x="9317736" y="2694791"/>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$8.3K</a:t>
            </a:r>
            <a:endParaRPr lang="en-US" sz="1300" dirty="0"/>
          </a:p>
        </p:txBody>
      </p:sp>
      <p:sp>
        <p:nvSpPr>
          <p:cNvPr id="120" name="Text 118"/>
          <p:cNvSpPr txBox="1"/>
          <p:nvPr/>
        </p:nvSpPr>
        <p:spPr>
          <a:xfrm>
            <a:off x="10104120" y="2694791"/>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21" name="Text 119"/>
          <p:cNvSpPr txBox="1"/>
          <p:nvPr/>
        </p:nvSpPr>
        <p:spPr>
          <a:xfrm>
            <a:off x="1067104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$3.84</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23" name="Shape 121"/>
          <p:cNvSpPr/>
          <p:nvPr/>
        </p:nvSpPr>
        <p:spPr>
          <a:xfrm>
            <a:off x="8220456" y="2999205"/>
            <a:ext cx="194454" cy="136676"/>
          </a:xfrm>
          <a:prstGeom prst="rect">
            <a:avLst/>
          </a:prstGeom>
          <a:solidFill>
            <a:srgbClr val="2587C5"/>
          </a:solidFill>
          <a:ln/>
        </p:spPr>
      </p:sp>
      <p:sp>
        <p:nvSpPr>
          <p:cNvPr id="124" name="Text 122"/>
          <p:cNvSpPr txBox="1"/>
          <p:nvPr/>
        </p:nvSpPr>
        <p:spPr>
          <a:xfrm>
            <a:off x="9317736" y="294329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$8.1K</a:t>
            </a:r>
            <a:endParaRPr lang="en-US" sz="1300" dirty="0"/>
          </a:p>
        </p:txBody>
      </p:sp>
      <p:sp>
        <p:nvSpPr>
          <p:cNvPr id="125" name="Text 123"/>
          <p:cNvSpPr txBox="1"/>
          <p:nvPr/>
        </p:nvSpPr>
        <p:spPr>
          <a:xfrm>
            <a:off x="10104120" y="294329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26" name="Text 124"/>
          <p:cNvSpPr txBox="1"/>
          <p:nvPr/>
        </p:nvSpPr>
        <p:spPr>
          <a:xfrm>
            <a:off x="1067104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$3.03</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8" name="Shape 126"/>
          <p:cNvSpPr/>
          <p:nvPr/>
        </p:nvSpPr>
        <p:spPr>
          <a:xfrm>
            <a:off x="8220456" y="3247707"/>
            <a:ext cx="181881" cy="136676"/>
          </a:xfrm>
          <a:prstGeom prst="rect">
            <a:avLst/>
          </a:prstGeom>
          <a:solidFill>
            <a:srgbClr val="2587C5"/>
          </a:solidFill>
          <a:ln/>
        </p:spPr>
      </p:sp>
      <p:sp>
        <p:nvSpPr>
          <p:cNvPr id="129" name="Text 127"/>
          <p:cNvSpPr txBox="1"/>
          <p:nvPr/>
        </p:nvSpPr>
        <p:spPr>
          <a:xfrm>
            <a:off x="9317736" y="319179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$7.5K</a:t>
            </a:r>
            <a:endParaRPr lang="en-US" sz="1300" dirty="0"/>
          </a:p>
        </p:txBody>
      </p:sp>
      <p:sp>
        <p:nvSpPr>
          <p:cNvPr id="130" name="Text 128"/>
          <p:cNvSpPr txBox="1"/>
          <p:nvPr/>
        </p:nvSpPr>
        <p:spPr>
          <a:xfrm>
            <a:off x="10104120" y="319179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1" name="Text 129"/>
          <p:cNvSpPr txBox="1"/>
          <p:nvPr/>
        </p:nvSpPr>
        <p:spPr>
          <a:xfrm>
            <a:off x="1067104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3496208"/>
            <a:ext cx="178186" cy="136676"/>
          </a:xfrm>
          <a:prstGeom prst="rect">
            <a:avLst/>
          </a:prstGeom>
          <a:solidFill>
            <a:srgbClr val="2587C5"/>
          </a:solidFill>
          <a:ln/>
        </p:spPr>
      </p:sp>
      <p:sp>
        <p:nvSpPr>
          <p:cNvPr id="134" name="Text 132"/>
          <p:cNvSpPr txBox="1"/>
          <p:nvPr/>
        </p:nvSpPr>
        <p:spPr>
          <a:xfrm>
            <a:off x="9317736" y="344029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$7.4K</a:t>
            </a:r>
            <a:endParaRPr lang="en-US" sz="1300" dirty="0"/>
          </a:p>
        </p:txBody>
      </p:sp>
      <p:sp>
        <p:nvSpPr>
          <p:cNvPr id="135" name="Text 133"/>
          <p:cNvSpPr txBox="1"/>
          <p:nvPr/>
        </p:nvSpPr>
        <p:spPr>
          <a:xfrm>
            <a:off x="10104120" y="344029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6" name="Text 134"/>
          <p:cNvSpPr txBox="1"/>
          <p:nvPr/>
        </p:nvSpPr>
        <p:spPr>
          <a:xfrm>
            <a:off x="1067104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38" name="Shape 136"/>
          <p:cNvSpPr/>
          <p:nvPr/>
        </p:nvSpPr>
        <p:spPr>
          <a:xfrm>
            <a:off x="8220456" y="3744710"/>
            <a:ext cx="174696" cy="136676"/>
          </a:xfrm>
          <a:prstGeom prst="rect">
            <a:avLst/>
          </a:prstGeom>
          <a:solidFill>
            <a:srgbClr val="2587C5"/>
          </a:solidFill>
          <a:ln/>
        </p:spPr>
      </p:sp>
      <p:sp>
        <p:nvSpPr>
          <p:cNvPr id="139" name="Text 137"/>
          <p:cNvSpPr txBox="1"/>
          <p:nvPr/>
        </p:nvSpPr>
        <p:spPr>
          <a:xfrm>
            <a:off x="9317736" y="368879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$7.2K</a:t>
            </a:r>
            <a:endParaRPr lang="en-US" sz="1300" dirty="0"/>
          </a:p>
        </p:txBody>
      </p:sp>
      <p:sp>
        <p:nvSpPr>
          <p:cNvPr id="140" name="Text 138"/>
          <p:cNvSpPr txBox="1"/>
          <p:nvPr/>
        </p:nvSpPr>
        <p:spPr>
          <a:xfrm>
            <a:off x="10104120" y="368879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41" name="Text 139"/>
          <p:cNvSpPr txBox="1"/>
          <p:nvPr/>
        </p:nvSpPr>
        <p:spPr>
          <a:xfrm>
            <a:off x="1067104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$2.59</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43" name="Shape 141"/>
          <p:cNvSpPr/>
          <p:nvPr/>
        </p:nvSpPr>
        <p:spPr>
          <a:xfrm>
            <a:off x="8220456" y="3993212"/>
            <a:ext cx="174121" cy="136676"/>
          </a:xfrm>
          <a:prstGeom prst="rect">
            <a:avLst/>
          </a:prstGeom>
          <a:solidFill>
            <a:srgbClr val="2587C5"/>
          </a:solidFill>
          <a:ln/>
        </p:spPr>
      </p:sp>
      <p:sp>
        <p:nvSpPr>
          <p:cNvPr id="144" name="Text 142"/>
          <p:cNvSpPr txBox="1"/>
          <p:nvPr/>
        </p:nvSpPr>
        <p:spPr>
          <a:xfrm>
            <a:off x="9317736" y="393729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$7.2K</a:t>
            </a:r>
            <a:endParaRPr lang="en-US" sz="1300" dirty="0"/>
          </a:p>
        </p:txBody>
      </p:sp>
      <p:sp>
        <p:nvSpPr>
          <p:cNvPr id="145" name="Text 143"/>
          <p:cNvSpPr txBox="1"/>
          <p:nvPr/>
        </p:nvSpPr>
        <p:spPr>
          <a:xfrm>
            <a:off x="10104120" y="393729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46" name="Text 144"/>
          <p:cNvSpPr txBox="1"/>
          <p:nvPr/>
        </p:nvSpPr>
        <p:spPr>
          <a:xfrm>
            <a:off x="1067104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8" name="Shape 146"/>
          <p:cNvSpPr/>
          <p:nvPr/>
        </p:nvSpPr>
        <p:spPr>
          <a:xfrm>
            <a:off x="8220456" y="4241713"/>
            <a:ext cx="172098" cy="136676"/>
          </a:xfrm>
          <a:prstGeom prst="rect">
            <a:avLst/>
          </a:prstGeom>
          <a:solidFill>
            <a:srgbClr val="2587C5"/>
          </a:solidFill>
          <a:ln/>
        </p:spPr>
      </p:sp>
      <p:sp>
        <p:nvSpPr>
          <p:cNvPr id="149" name="Text 147"/>
          <p:cNvSpPr txBox="1"/>
          <p:nvPr/>
        </p:nvSpPr>
        <p:spPr>
          <a:xfrm>
            <a:off x="9317736" y="4185800"/>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$7.1K</a:t>
            </a:r>
            <a:endParaRPr lang="en-US" sz="1300" dirty="0"/>
          </a:p>
        </p:txBody>
      </p:sp>
      <p:sp>
        <p:nvSpPr>
          <p:cNvPr id="150" name="Text 148"/>
          <p:cNvSpPr txBox="1"/>
          <p:nvPr/>
        </p:nvSpPr>
        <p:spPr>
          <a:xfrm>
            <a:off x="10104120" y="418580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51" name="Text 149"/>
          <p:cNvSpPr txBox="1"/>
          <p:nvPr/>
        </p:nvSpPr>
        <p:spPr>
          <a:xfrm>
            <a:off x="1067104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53" name="Shape 151"/>
          <p:cNvSpPr/>
          <p:nvPr/>
        </p:nvSpPr>
        <p:spPr>
          <a:xfrm>
            <a:off x="8220456" y="4490215"/>
            <a:ext cx="158631" cy="136676"/>
          </a:xfrm>
          <a:prstGeom prst="rect">
            <a:avLst/>
          </a:prstGeom>
          <a:solidFill>
            <a:srgbClr val="2587C5"/>
          </a:solidFill>
          <a:ln/>
        </p:spPr>
      </p:sp>
      <p:sp>
        <p:nvSpPr>
          <p:cNvPr id="154" name="Text 152"/>
          <p:cNvSpPr txBox="1"/>
          <p:nvPr/>
        </p:nvSpPr>
        <p:spPr>
          <a:xfrm>
            <a:off x="9317736" y="443430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$6.6K</a:t>
            </a:r>
            <a:endParaRPr lang="en-US" sz="1300" dirty="0"/>
          </a:p>
        </p:txBody>
      </p:sp>
      <p:sp>
        <p:nvSpPr>
          <p:cNvPr id="155" name="Text 153"/>
          <p:cNvSpPr txBox="1"/>
          <p:nvPr/>
        </p:nvSpPr>
        <p:spPr>
          <a:xfrm>
            <a:off x="10104120" y="443430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56" name="Text 154"/>
          <p:cNvSpPr txBox="1"/>
          <p:nvPr/>
        </p:nvSpPr>
        <p:spPr>
          <a:xfrm>
            <a:off x="1067104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$4.49</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8" name="Shape 156"/>
          <p:cNvSpPr/>
          <p:nvPr/>
        </p:nvSpPr>
        <p:spPr>
          <a:xfrm>
            <a:off x="8220456" y="4738717"/>
            <a:ext cx="156929" cy="136676"/>
          </a:xfrm>
          <a:prstGeom prst="rect">
            <a:avLst/>
          </a:prstGeom>
          <a:solidFill>
            <a:srgbClr val="2587C5"/>
          </a:solidFill>
          <a:ln/>
        </p:spPr>
      </p:sp>
      <p:sp>
        <p:nvSpPr>
          <p:cNvPr id="159" name="Text 157"/>
          <p:cNvSpPr txBox="1"/>
          <p:nvPr/>
        </p:nvSpPr>
        <p:spPr>
          <a:xfrm>
            <a:off x="9317736" y="468280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$6.5K</a:t>
            </a:r>
            <a:endParaRPr lang="en-US" sz="1300" dirty="0"/>
          </a:p>
        </p:txBody>
      </p:sp>
      <p:sp>
        <p:nvSpPr>
          <p:cNvPr id="160" name="Text 158"/>
          <p:cNvSpPr txBox="1"/>
          <p:nvPr/>
        </p:nvSpPr>
        <p:spPr>
          <a:xfrm>
            <a:off x="10104120" y="468280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61" name="Text 159"/>
          <p:cNvSpPr txBox="1"/>
          <p:nvPr/>
        </p:nvSpPr>
        <p:spPr>
          <a:xfrm>
            <a:off x="1067104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$2.76</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63" name="Shape 161"/>
          <p:cNvSpPr/>
          <p:nvPr/>
        </p:nvSpPr>
        <p:spPr>
          <a:xfrm>
            <a:off x="8220456" y="4987218"/>
            <a:ext cx="127568" cy="136676"/>
          </a:xfrm>
          <a:prstGeom prst="rect">
            <a:avLst/>
          </a:prstGeom>
          <a:solidFill>
            <a:srgbClr val="2587C5"/>
          </a:solidFill>
          <a:ln/>
        </p:spPr>
      </p:sp>
      <p:sp>
        <p:nvSpPr>
          <p:cNvPr id="164" name="Text 162"/>
          <p:cNvSpPr txBox="1"/>
          <p:nvPr/>
        </p:nvSpPr>
        <p:spPr>
          <a:xfrm>
            <a:off x="9317736" y="4931305"/>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$5.3K</a:t>
            </a:r>
            <a:endParaRPr lang="en-US" sz="1300" dirty="0"/>
          </a:p>
        </p:txBody>
      </p:sp>
      <p:sp>
        <p:nvSpPr>
          <p:cNvPr id="165" name="Text 163"/>
          <p:cNvSpPr txBox="1"/>
          <p:nvPr/>
        </p:nvSpPr>
        <p:spPr>
          <a:xfrm>
            <a:off x="10104120" y="4931305"/>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66" name="Text 164"/>
          <p:cNvSpPr txBox="1"/>
          <p:nvPr/>
        </p:nvSpPr>
        <p:spPr>
          <a:xfrm>
            <a:off x="1067104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68" name="Shape 166"/>
          <p:cNvSpPr/>
          <p:nvPr/>
        </p:nvSpPr>
        <p:spPr>
          <a:xfrm>
            <a:off x="8220456" y="5235720"/>
            <a:ext cx="104440" cy="136676"/>
          </a:xfrm>
          <a:prstGeom prst="rect">
            <a:avLst/>
          </a:prstGeom>
          <a:solidFill>
            <a:srgbClr val="2587C5"/>
          </a:solidFill>
          <a:ln/>
        </p:spPr>
      </p:sp>
      <p:sp>
        <p:nvSpPr>
          <p:cNvPr id="169" name="Text 167"/>
          <p:cNvSpPr txBox="1"/>
          <p:nvPr/>
        </p:nvSpPr>
        <p:spPr>
          <a:xfrm>
            <a:off x="9317736" y="517980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$4.3K</a:t>
            </a:r>
            <a:endParaRPr lang="en-US" sz="1300" dirty="0"/>
          </a:p>
        </p:txBody>
      </p:sp>
      <p:sp>
        <p:nvSpPr>
          <p:cNvPr id="170" name="Text 168"/>
          <p:cNvSpPr txBox="1"/>
          <p:nvPr/>
        </p:nvSpPr>
        <p:spPr>
          <a:xfrm>
            <a:off x="10104120" y="517980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71" name="Text 169"/>
          <p:cNvSpPr txBox="1"/>
          <p:nvPr/>
        </p:nvSpPr>
        <p:spPr>
          <a:xfrm>
            <a:off x="1067104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$2.82</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73" name="Shape 171"/>
          <p:cNvSpPr/>
          <p:nvPr/>
        </p:nvSpPr>
        <p:spPr>
          <a:xfrm>
            <a:off x="8220456" y="5484222"/>
            <a:ext cx="83338" cy="136676"/>
          </a:xfrm>
          <a:prstGeom prst="rect">
            <a:avLst/>
          </a:prstGeom>
          <a:solidFill>
            <a:srgbClr val="2587C5"/>
          </a:solidFill>
          <a:ln/>
        </p:spPr>
      </p:sp>
      <p:sp>
        <p:nvSpPr>
          <p:cNvPr id="174" name="Text 172"/>
          <p:cNvSpPr txBox="1"/>
          <p:nvPr/>
        </p:nvSpPr>
        <p:spPr>
          <a:xfrm>
            <a:off x="9317736" y="542830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$3.5K</a:t>
            </a:r>
            <a:endParaRPr lang="en-US" sz="1300" dirty="0"/>
          </a:p>
        </p:txBody>
      </p:sp>
      <p:sp>
        <p:nvSpPr>
          <p:cNvPr id="175" name="Text 173"/>
          <p:cNvSpPr txBox="1"/>
          <p:nvPr/>
        </p:nvSpPr>
        <p:spPr>
          <a:xfrm>
            <a:off x="10104120" y="542830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176" name="Text 174"/>
          <p:cNvSpPr txBox="1"/>
          <p:nvPr/>
        </p:nvSpPr>
        <p:spPr>
          <a:xfrm>
            <a:off x="1067104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177" name="Shape 175"/>
          <p:cNvSpPr/>
          <p:nvPr/>
        </p:nvSpPr>
        <p:spPr>
          <a:xfrm>
            <a:off x="457200" y="6126480"/>
            <a:ext cx="11274552" cy="341376"/>
          </a:xfrm>
          <a:prstGeom prst="rect">
            <a:avLst/>
          </a:prstGeom>
          <a:solidFill>
            <a:srgbClr val="EDF4FA"/>
          </a:solidFill>
          <a:ln/>
        </p:spPr>
      </p:sp>
      <p:sp>
        <p:nvSpPr>
          <p:cNvPr id="178" name="Text 176"/>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One minute a day per tech: Toyota Henderson $43,256 a year. Volvo techs are worth the most per minute at $4.99.</a:t>
            </a:r>
            <a:endParaRPr lang="en-US" sz="1400" dirty="0"/>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Compliance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Higher labor rates, higher parts reimbursement and tariffs are driving up OEM scrutiny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Six audits cost over $400,000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Primary causes: written documentation, manager signatures on add-ons and in-stock units, out mileage, punch times, manufacturer authorization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general manager is responsible for warranty policy being followed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Spot-check repair orders and self-audit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$3,788,200</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gross profit from warranty labor and parts rate increases approved this year, 19 stores.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$197.17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ELR, up $16.93; 30 of 33 stores raised it.</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44.7%</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parts gross profit, up 2.1 pts and ahead of 2025 in all nine months.</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a higher warranty rate brings more scrutiny. Self-audit before the factory does.</a:t>
            </a:r>
            <a:endParaRPr lang="en-US" sz="1600" dirty="0"/>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Rate Increases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273552"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GP added</a:t>
            </a:r>
            <a:endParaRPr lang="en-US" sz="1400" dirty="0"/>
          </a:p>
        </p:txBody>
      </p:sp>
      <p:sp>
        <p:nvSpPr>
          <p:cNvPr id="7" name="Text 5"/>
          <p:cNvSpPr txBox="1"/>
          <p:nvPr/>
        </p:nvSpPr>
        <p:spPr>
          <a:xfrm>
            <a:off x="4187952"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8" name="Text 6"/>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9" name="Text 7"/>
          <p:cNvSpPr txBox="1"/>
          <p:nvPr/>
        </p:nvSpPr>
        <p:spPr>
          <a:xfrm>
            <a:off x="8823960"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GP added</a:t>
            </a:r>
            <a:endParaRPr lang="en-US" sz="1400" dirty="0"/>
          </a:p>
        </p:txBody>
      </p:sp>
      <p:sp>
        <p:nvSpPr>
          <p:cNvPr id="10" name="Text 8"/>
          <p:cNvSpPr txBox="1"/>
          <p:nvPr/>
        </p:nvSpPr>
        <p:spPr>
          <a:xfrm>
            <a:off x="973836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11" name="Text 9"/>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12" name="Text 10"/>
          <p:cNvSpPr txBox="1"/>
          <p:nvPr/>
        </p:nvSpPr>
        <p:spPr>
          <a:xfrm>
            <a:off x="658368" y="170078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 name="Shape 11"/>
          <p:cNvSpPr/>
          <p:nvPr/>
        </p:nvSpPr>
        <p:spPr>
          <a:xfrm>
            <a:off x="2670048" y="1795836"/>
            <a:ext cx="548640" cy="232349"/>
          </a:xfrm>
          <a:prstGeom prst="rect">
            <a:avLst/>
          </a:prstGeom>
          <a:solidFill>
            <a:srgbClr val="2587C5"/>
          </a:solidFill>
          <a:ln/>
        </p:spPr>
      </p:sp>
      <p:sp>
        <p:nvSpPr>
          <p:cNvPr id="14" name="Text 12"/>
          <p:cNvSpPr txBox="1"/>
          <p:nvPr/>
        </p:nvSpPr>
        <p:spPr>
          <a:xfrm>
            <a:off x="3273552" y="1700784"/>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$798K</a:t>
            </a:r>
            <a:endParaRPr lang="en-US" sz="1300" dirty="0"/>
          </a:p>
        </p:txBody>
      </p:sp>
      <p:sp>
        <p:nvSpPr>
          <p:cNvPr id="15" name="Text 13"/>
          <p:cNvSpPr txBox="1"/>
          <p:nvPr/>
        </p:nvSpPr>
        <p:spPr>
          <a:xfrm>
            <a:off x="4187952"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$420K</a:t>
            </a:r>
            <a:endParaRPr lang="en-US" sz="1300" dirty="0"/>
          </a:p>
        </p:txBody>
      </p:sp>
      <p:sp>
        <p:nvSpPr>
          <p:cNvPr id="16" name="Text 14"/>
          <p:cNvSpPr txBox="1"/>
          <p:nvPr/>
        </p:nvSpPr>
        <p:spPr>
          <a:xfrm>
            <a:off x="5029200"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$378K</a:t>
            </a:r>
            <a:endParaRPr lang="en-US" sz="1300" dirty="0"/>
          </a:p>
        </p:txBody>
      </p:sp>
      <p:sp>
        <p:nvSpPr>
          <p:cNvPr id="17" name="Text 15"/>
          <p:cNvSpPr txBox="1"/>
          <p:nvPr/>
        </p:nvSpPr>
        <p:spPr>
          <a:xfrm>
            <a:off x="658368" y="2123237"/>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8" name="Shape 16"/>
          <p:cNvSpPr/>
          <p:nvPr/>
        </p:nvSpPr>
        <p:spPr>
          <a:xfrm>
            <a:off x="2670048" y="2218289"/>
            <a:ext cx="318622" cy="232349"/>
          </a:xfrm>
          <a:prstGeom prst="rect">
            <a:avLst/>
          </a:prstGeom>
          <a:solidFill>
            <a:srgbClr val="2587C5"/>
          </a:solidFill>
          <a:ln/>
        </p:spPr>
      </p:sp>
      <p:sp>
        <p:nvSpPr>
          <p:cNvPr id="19" name="Text 17"/>
          <p:cNvSpPr txBox="1"/>
          <p:nvPr/>
        </p:nvSpPr>
        <p:spPr>
          <a:xfrm>
            <a:off x="3273552" y="2123237"/>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$463K</a:t>
            </a:r>
            <a:endParaRPr lang="en-US" sz="1300" dirty="0"/>
          </a:p>
        </p:txBody>
      </p:sp>
      <p:sp>
        <p:nvSpPr>
          <p:cNvPr id="20" name="Text 18"/>
          <p:cNvSpPr txBox="1"/>
          <p:nvPr/>
        </p:nvSpPr>
        <p:spPr>
          <a:xfrm>
            <a:off x="4187952"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$143K</a:t>
            </a:r>
            <a:endParaRPr lang="en-US" sz="1300" dirty="0"/>
          </a:p>
        </p:txBody>
      </p:sp>
      <p:sp>
        <p:nvSpPr>
          <p:cNvPr id="21" name="Text 19"/>
          <p:cNvSpPr txBox="1"/>
          <p:nvPr/>
        </p:nvSpPr>
        <p:spPr>
          <a:xfrm>
            <a:off x="5029200"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$320K</a:t>
            </a:r>
            <a:endParaRPr lang="en-US" sz="1300" dirty="0"/>
          </a:p>
        </p:txBody>
      </p:sp>
      <p:sp>
        <p:nvSpPr>
          <p:cNvPr id="22" name="Text 20"/>
          <p:cNvSpPr txBox="1"/>
          <p:nvPr/>
        </p:nvSpPr>
        <p:spPr>
          <a:xfrm>
            <a:off x="658368" y="2545690"/>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23" name="Shape 21"/>
          <p:cNvSpPr/>
          <p:nvPr/>
        </p:nvSpPr>
        <p:spPr>
          <a:xfrm>
            <a:off x="2670048" y="2640741"/>
            <a:ext cx="236506" cy="232349"/>
          </a:xfrm>
          <a:prstGeom prst="rect">
            <a:avLst/>
          </a:prstGeom>
          <a:solidFill>
            <a:srgbClr val="2587C5"/>
          </a:solidFill>
          <a:ln/>
        </p:spPr>
      </p:sp>
      <p:sp>
        <p:nvSpPr>
          <p:cNvPr id="24" name="Text 22"/>
          <p:cNvSpPr txBox="1"/>
          <p:nvPr/>
        </p:nvSpPr>
        <p:spPr>
          <a:xfrm>
            <a:off x="3273552" y="2545690"/>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$344K</a:t>
            </a:r>
            <a:endParaRPr lang="en-US" sz="1300" dirty="0"/>
          </a:p>
        </p:txBody>
      </p:sp>
      <p:sp>
        <p:nvSpPr>
          <p:cNvPr id="25" name="Text 23"/>
          <p:cNvSpPr txBox="1"/>
          <p:nvPr/>
        </p:nvSpPr>
        <p:spPr>
          <a:xfrm>
            <a:off x="4187952"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$123K</a:t>
            </a:r>
            <a:endParaRPr lang="en-US" sz="1300" dirty="0"/>
          </a:p>
        </p:txBody>
      </p:sp>
      <p:sp>
        <p:nvSpPr>
          <p:cNvPr id="26" name="Text 24"/>
          <p:cNvSpPr txBox="1"/>
          <p:nvPr/>
        </p:nvSpPr>
        <p:spPr>
          <a:xfrm>
            <a:off x="5029200"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$221K</a:t>
            </a:r>
            <a:endParaRPr lang="en-US" sz="1300" dirty="0"/>
          </a:p>
        </p:txBody>
      </p:sp>
      <p:sp>
        <p:nvSpPr>
          <p:cNvPr id="27" name="Text 25"/>
          <p:cNvSpPr txBox="1"/>
          <p:nvPr/>
        </p:nvSpPr>
        <p:spPr>
          <a:xfrm>
            <a:off x="658368" y="2968142"/>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8" name="Shape 26"/>
          <p:cNvSpPr/>
          <p:nvPr/>
        </p:nvSpPr>
        <p:spPr>
          <a:xfrm>
            <a:off x="2670048" y="3063194"/>
            <a:ext cx="223981" cy="232349"/>
          </a:xfrm>
          <a:prstGeom prst="rect">
            <a:avLst/>
          </a:prstGeom>
          <a:solidFill>
            <a:srgbClr val="2587C5"/>
          </a:solidFill>
          <a:ln/>
        </p:spPr>
      </p:sp>
      <p:sp>
        <p:nvSpPr>
          <p:cNvPr id="29" name="Text 27"/>
          <p:cNvSpPr txBox="1"/>
          <p:nvPr/>
        </p:nvSpPr>
        <p:spPr>
          <a:xfrm>
            <a:off x="3273552" y="2968142"/>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$326K</a:t>
            </a:r>
            <a:endParaRPr lang="en-US" sz="1300" dirty="0"/>
          </a:p>
        </p:txBody>
      </p:sp>
      <p:sp>
        <p:nvSpPr>
          <p:cNvPr id="30" name="Text 28"/>
          <p:cNvSpPr txBox="1"/>
          <p:nvPr/>
        </p:nvSpPr>
        <p:spPr>
          <a:xfrm>
            <a:off x="4187952"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$206K</a:t>
            </a:r>
            <a:endParaRPr lang="en-US" sz="1300" dirty="0"/>
          </a:p>
        </p:txBody>
      </p:sp>
      <p:sp>
        <p:nvSpPr>
          <p:cNvPr id="31" name="Text 29"/>
          <p:cNvSpPr txBox="1"/>
          <p:nvPr/>
        </p:nvSpPr>
        <p:spPr>
          <a:xfrm>
            <a:off x="5029200"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$119K</a:t>
            </a:r>
            <a:endParaRPr lang="en-US" sz="1300" dirty="0"/>
          </a:p>
        </p:txBody>
      </p:sp>
      <p:sp>
        <p:nvSpPr>
          <p:cNvPr id="32" name="Text 30"/>
          <p:cNvSpPr txBox="1"/>
          <p:nvPr/>
        </p:nvSpPr>
        <p:spPr>
          <a:xfrm>
            <a:off x="658368" y="3390595"/>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33" name="Shape 31"/>
          <p:cNvSpPr/>
          <p:nvPr/>
        </p:nvSpPr>
        <p:spPr>
          <a:xfrm>
            <a:off x="2670048" y="3485647"/>
            <a:ext cx="200812" cy="232349"/>
          </a:xfrm>
          <a:prstGeom prst="rect">
            <a:avLst/>
          </a:prstGeom>
          <a:solidFill>
            <a:srgbClr val="2587C5"/>
          </a:solidFill>
          <a:ln/>
        </p:spPr>
      </p:sp>
      <p:sp>
        <p:nvSpPr>
          <p:cNvPr id="34" name="Text 32"/>
          <p:cNvSpPr txBox="1"/>
          <p:nvPr/>
        </p:nvSpPr>
        <p:spPr>
          <a:xfrm>
            <a:off x="3273552" y="3390595"/>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$292K</a:t>
            </a:r>
            <a:endParaRPr lang="en-US" sz="1300" dirty="0"/>
          </a:p>
        </p:txBody>
      </p:sp>
      <p:sp>
        <p:nvSpPr>
          <p:cNvPr id="35" name="Text 33"/>
          <p:cNvSpPr txBox="1"/>
          <p:nvPr/>
        </p:nvSpPr>
        <p:spPr>
          <a:xfrm>
            <a:off x="4187952"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$165K</a:t>
            </a:r>
            <a:endParaRPr lang="en-US" sz="1300" dirty="0"/>
          </a:p>
        </p:txBody>
      </p:sp>
      <p:sp>
        <p:nvSpPr>
          <p:cNvPr id="36" name="Text 34"/>
          <p:cNvSpPr txBox="1"/>
          <p:nvPr/>
        </p:nvSpPr>
        <p:spPr>
          <a:xfrm>
            <a:off x="5029200"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$127K</a:t>
            </a:r>
            <a:endParaRPr lang="en-US" sz="1300" dirty="0"/>
          </a:p>
        </p:txBody>
      </p:sp>
      <p:sp>
        <p:nvSpPr>
          <p:cNvPr id="37" name="Text 35"/>
          <p:cNvSpPr txBox="1"/>
          <p:nvPr/>
        </p:nvSpPr>
        <p:spPr>
          <a:xfrm>
            <a:off x="658368" y="3813048"/>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8" name="Shape 36"/>
          <p:cNvSpPr/>
          <p:nvPr/>
        </p:nvSpPr>
        <p:spPr>
          <a:xfrm>
            <a:off x="2670048" y="3908100"/>
            <a:ext cx="194987" cy="232349"/>
          </a:xfrm>
          <a:prstGeom prst="rect">
            <a:avLst/>
          </a:prstGeom>
          <a:solidFill>
            <a:srgbClr val="2587C5"/>
          </a:solidFill>
          <a:ln/>
        </p:spPr>
      </p:sp>
      <p:sp>
        <p:nvSpPr>
          <p:cNvPr id="39" name="Text 37"/>
          <p:cNvSpPr txBox="1"/>
          <p:nvPr/>
        </p:nvSpPr>
        <p:spPr>
          <a:xfrm>
            <a:off x="3273552" y="3813048"/>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$284K</a:t>
            </a:r>
            <a:endParaRPr lang="en-US" sz="1300" dirty="0"/>
          </a:p>
        </p:txBody>
      </p:sp>
      <p:sp>
        <p:nvSpPr>
          <p:cNvPr id="40" name="Text 38"/>
          <p:cNvSpPr txBox="1"/>
          <p:nvPr/>
        </p:nvSpPr>
        <p:spPr>
          <a:xfrm>
            <a:off x="4187952"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$137K</a:t>
            </a:r>
            <a:endParaRPr lang="en-US" sz="1300" dirty="0"/>
          </a:p>
        </p:txBody>
      </p:sp>
      <p:sp>
        <p:nvSpPr>
          <p:cNvPr id="41" name="Text 39"/>
          <p:cNvSpPr txBox="1"/>
          <p:nvPr/>
        </p:nvSpPr>
        <p:spPr>
          <a:xfrm>
            <a:off x="5029200"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$147K</a:t>
            </a:r>
            <a:endParaRPr lang="en-US" sz="1300" dirty="0"/>
          </a:p>
        </p:txBody>
      </p:sp>
      <p:sp>
        <p:nvSpPr>
          <p:cNvPr id="42" name="Text 40"/>
          <p:cNvSpPr txBox="1"/>
          <p:nvPr/>
        </p:nvSpPr>
        <p:spPr>
          <a:xfrm>
            <a:off x="658368" y="4235501"/>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3" name="Shape 41"/>
          <p:cNvSpPr/>
          <p:nvPr/>
        </p:nvSpPr>
        <p:spPr>
          <a:xfrm>
            <a:off x="2670048" y="4330553"/>
            <a:ext cx="154953" cy="232349"/>
          </a:xfrm>
          <a:prstGeom prst="rect">
            <a:avLst/>
          </a:prstGeom>
          <a:solidFill>
            <a:srgbClr val="2587C5"/>
          </a:solidFill>
          <a:ln/>
        </p:spPr>
      </p:sp>
      <p:sp>
        <p:nvSpPr>
          <p:cNvPr id="44" name="Text 42"/>
          <p:cNvSpPr txBox="1"/>
          <p:nvPr/>
        </p:nvSpPr>
        <p:spPr>
          <a:xfrm>
            <a:off x="3273552" y="4235501"/>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$225K</a:t>
            </a:r>
            <a:endParaRPr lang="en-US" sz="1300" dirty="0"/>
          </a:p>
        </p:txBody>
      </p:sp>
      <p:sp>
        <p:nvSpPr>
          <p:cNvPr id="45" name="Text 43"/>
          <p:cNvSpPr txBox="1"/>
          <p:nvPr/>
        </p:nvSpPr>
        <p:spPr>
          <a:xfrm>
            <a:off x="4187952"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$128K</a:t>
            </a:r>
            <a:endParaRPr lang="en-US" sz="1300" dirty="0"/>
          </a:p>
        </p:txBody>
      </p:sp>
      <p:sp>
        <p:nvSpPr>
          <p:cNvPr id="46" name="Text 44"/>
          <p:cNvSpPr txBox="1"/>
          <p:nvPr/>
        </p:nvSpPr>
        <p:spPr>
          <a:xfrm>
            <a:off x="5029200"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$98K</a:t>
            </a:r>
            <a:endParaRPr lang="en-US" sz="1300" dirty="0"/>
          </a:p>
        </p:txBody>
      </p:sp>
      <p:sp>
        <p:nvSpPr>
          <p:cNvPr id="47" name="Text 45"/>
          <p:cNvSpPr txBox="1"/>
          <p:nvPr/>
        </p:nvSpPr>
        <p:spPr>
          <a:xfrm>
            <a:off x="658368" y="465795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8" name="Shape 46"/>
          <p:cNvSpPr/>
          <p:nvPr/>
        </p:nvSpPr>
        <p:spPr>
          <a:xfrm>
            <a:off x="2670048" y="4753005"/>
            <a:ext cx="143889" cy="232349"/>
          </a:xfrm>
          <a:prstGeom prst="rect">
            <a:avLst/>
          </a:prstGeom>
          <a:solidFill>
            <a:srgbClr val="2587C5"/>
          </a:solidFill>
          <a:ln/>
        </p:spPr>
      </p:sp>
      <p:sp>
        <p:nvSpPr>
          <p:cNvPr id="49" name="Text 47"/>
          <p:cNvSpPr txBox="1"/>
          <p:nvPr/>
        </p:nvSpPr>
        <p:spPr>
          <a:xfrm>
            <a:off x="3273552" y="4657954"/>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$209K</a:t>
            </a:r>
            <a:endParaRPr lang="en-US" sz="1300" dirty="0"/>
          </a:p>
        </p:txBody>
      </p:sp>
      <p:sp>
        <p:nvSpPr>
          <p:cNvPr id="50" name="Text 48"/>
          <p:cNvSpPr txBox="1"/>
          <p:nvPr/>
        </p:nvSpPr>
        <p:spPr>
          <a:xfrm>
            <a:off x="4187952"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$46K</a:t>
            </a:r>
            <a:endParaRPr lang="en-US" sz="1300" dirty="0"/>
          </a:p>
        </p:txBody>
      </p:sp>
      <p:sp>
        <p:nvSpPr>
          <p:cNvPr id="51" name="Text 49"/>
          <p:cNvSpPr txBox="1"/>
          <p:nvPr/>
        </p:nvSpPr>
        <p:spPr>
          <a:xfrm>
            <a:off x="5029200"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52" name="Text 50"/>
          <p:cNvSpPr txBox="1"/>
          <p:nvPr/>
        </p:nvSpPr>
        <p:spPr>
          <a:xfrm>
            <a:off x="658368" y="5080406"/>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53" name="Shape 51"/>
          <p:cNvSpPr/>
          <p:nvPr/>
        </p:nvSpPr>
        <p:spPr>
          <a:xfrm>
            <a:off x="2670048" y="5175458"/>
            <a:ext cx="100447" cy="232349"/>
          </a:xfrm>
          <a:prstGeom prst="rect">
            <a:avLst/>
          </a:prstGeom>
          <a:solidFill>
            <a:srgbClr val="2587C5"/>
          </a:solidFill>
          <a:ln/>
        </p:spPr>
      </p:sp>
      <p:sp>
        <p:nvSpPr>
          <p:cNvPr id="54" name="Text 52"/>
          <p:cNvSpPr txBox="1"/>
          <p:nvPr/>
        </p:nvSpPr>
        <p:spPr>
          <a:xfrm>
            <a:off x="3273552" y="5080406"/>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$146K</a:t>
            </a:r>
            <a:endParaRPr lang="en-US" sz="1300" dirty="0"/>
          </a:p>
        </p:txBody>
      </p:sp>
      <p:sp>
        <p:nvSpPr>
          <p:cNvPr id="55" name="Text 53"/>
          <p:cNvSpPr txBox="1"/>
          <p:nvPr/>
        </p:nvSpPr>
        <p:spPr>
          <a:xfrm>
            <a:off x="4187952"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$49K</a:t>
            </a:r>
            <a:endParaRPr lang="en-US" sz="1300" dirty="0"/>
          </a:p>
        </p:txBody>
      </p:sp>
      <p:sp>
        <p:nvSpPr>
          <p:cNvPr id="56" name="Text 54"/>
          <p:cNvSpPr txBox="1"/>
          <p:nvPr/>
        </p:nvSpPr>
        <p:spPr>
          <a:xfrm>
            <a:off x="5029200"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$97K</a:t>
            </a:r>
            <a:endParaRPr lang="en-US" sz="1300" dirty="0"/>
          </a:p>
        </p:txBody>
      </p:sp>
      <p:sp>
        <p:nvSpPr>
          <p:cNvPr id="57" name="Text 55"/>
          <p:cNvSpPr txBox="1"/>
          <p:nvPr/>
        </p:nvSpPr>
        <p:spPr>
          <a:xfrm>
            <a:off x="658368" y="5502859"/>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58" name="Shape 56"/>
          <p:cNvSpPr/>
          <p:nvPr/>
        </p:nvSpPr>
        <p:spPr>
          <a:xfrm>
            <a:off x="2670048" y="5597911"/>
            <a:ext cx="91924" cy="232349"/>
          </a:xfrm>
          <a:prstGeom prst="rect">
            <a:avLst/>
          </a:prstGeom>
          <a:solidFill>
            <a:srgbClr val="2587C5"/>
          </a:solidFill>
          <a:ln/>
        </p:spPr>
      </p:sp>
      <p:sp>
        <p:nvSpPr>
          <p:cNvPr id="59" name="Text 57"/>
          <p:cNvSpPr txBox="1"/>
          <p:nvPr/>
        </p:nvSpPr>
        <p:spPr>
          <a:xfrm>
            <a:off x="3273552" y="5502859"/>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60" name="Text 58"/>
          <p:cNvSpPr txBox="1"/>
          <p:nvPr/>
        </p:nvSpPr>
        <p:spPr>
          <a:xfrm>
            <a:off x="4187952" y="5502859"/>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61" name="Text 59"/>
          <p:cNvSpPr txBox="1"/>
          <p:nvPr/>
        </p:nvSpPr>
        <p:spPr>
          <a:xfrm>
            <a:off x="5029200" y="5502859"/>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$134K</a:t>
            </a:r>
            <a:endParaRPr lang="en-US" sz="1300" dirty="0"/>
          </a:p>
        </p:txBody>
      </p:sp>
      <p:sp>
        <p:nvSpPr>
          <p:cNvPr id="62" name="Text 60"/>
          <p:cNvSpPr txBox="1"/>
          <p:nvPr/>
        </p:nvSpPr>
        <p:spPr>
          <a:xfrm>
            <a:off x="6208776" y="170078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3" name="Shape 61"/>
          <p:cNvSpPr/>
          <p:nvPr/>
        </p:nvSpPr>
        <p:spPr>
          <a:xfrm>
            <a:off x="8220456" y="1795836"/>
            <a:ext cx="66189" cy="232349"/>
          </a:xfrm>
          <a:prstGeom prst="rect">
            <a:avLst/>
          </a:prstGeom>
          <a:solidFill>
            <a:srgbClr val="2587C5"/>
          </a:solidFill>
          <a:ln/>
        </p:spPr>
      </p:sp>
      <p:sp>
        <p:nvSpPr>
          <p:cNvPr id="64" name="Text 62"/>
          <p:cNvSpPr txBox="1"/>
          <p:nvPr/>
        </p:nvSpPr>
        <p:spPr>
          <a:xfrm>
            <a:off x="8823960" y="1700784"/>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$96K</a:t>
            </a:r>
            <a:endParaRPr lang="en-US" sz="1300" dirty="0"/>
          </a:p>
        </p:txBody>
      </p:sp>
      <p:sp>
        <p:nvSpPr>
          <p:cNvPr id="65" name="Text 63"/>
          <p:cNvSpPr txBox="1"/>
          <p:nvPr/>
        </p:nvSpPr>
        <p:spPr>
          <a:xfrm>
            <a:off x="9738360"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66" name="Text 64"/>
          <p:cNvSpPr txBox="1"/>
          <p:nvPr/>
        </p:nvSpPr>
        <p:spPr>
          <a:xfrm>
            <a:off x="10579608"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$96K</a:t>
            </a:r>
            <a:endParaRPr lang="en-US" sz="1300" dirty="0"/>
          </a:p>
        </p:txBody>
      </p:sp>
      <p:sp>
        <p:nvSpPr>
          <p:cNvPr id="67" name="Text 65"/>
          <p:cNvSpPr txBox="1"/>
          <p:nvPr/>
        </p:nvSpPr>
        <p:spPr>
          <a:xfrm>
            <a:off x="6208776" y="2123237"/>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Shape 66"/>
          <p:cNvSpPr/>
          <p:nvPr/>
        </p:nvSpPr>
        <p:spPr>
          <a:xfrm>
            <a:off x="8220456" y="2218289"/>
            <a:ext cx="65059" cy="232349"/>
          </a:xfrm>
          <a:prstGeom prst="rect">
            <a:avLst/>
          </a:prstGeom>
          <a:solidFill>
            <a:srgbClr val="2587C5"/>
          </a:solidFill>
          <a:ln/>
        </p:spPr>
      </p:sp>
      <p:sp>
        <p:nvSpPr>
          <p:cNvPr id="69" name="Text 67"/>
          <p:cNvSpPr txBox="1"/>
          <p:nvPr/>
        </p:nvSpPr>
        <p:spPr>
          <a:xfrm>
            <a:off x="8823960" y="2123237"/>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$95K</a:t>
            </a:r>
            <a:endParaRPr lang="en-US" sz="1300" dirty="0"/>
          </a:p>
        </p:txBody>
      </p:sp>
      <p:sp>
        <p:nvSpPr>
          <p:cNvPr id="70" name="Text 68"/>
          <p:cNvSpPr txBox="1"/>
          <p:nvPr/>
        </p:nvSpPr>
        <p:spPr>
          <a:xfrm>
            <a:off x="9738360"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$64K</a:t>
            </a:r>
            <a:endParaRPr lang="en-US" sz="1300" dirty="0"/>
          </a:p>
        </p:txBody>
      </p:sp>
      <p:sp>
        <p:nvSpPr>
          <p:cNvPr id="71" name="Text 69"/>
          <p:cNvSpPr txBox="1"/>
          <p:nvPr/>
        </p:nvSpPr>
        <p:spPr>
          <a:xfrm>
            <a:off x="10579608"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
        <p:nvSpPr>
          <p:cNvPr id="72" name="Text 70"/>
          <p:cNvSpPr txBox="1"/>
          <p:nvPr/>
        </p:nvSpPr>
        <p:spPr>
          <a:xfrm>
            <a:off x="6208776" y="2545690"/>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73" name="Shape 71"/>
          <p:cNvSpPr/>
          <p:nvPr/>
        </p:nvSpPr>
        <p:spPr>
          <a:xfrm>
            <a:off x="8220456" y="2640741"/>
            <a:ext cx="64094" cy="232349"/>
          </a:xfrm>
          <a:prstGeom prst="rect">
            <a:avLst/>
          </a:prstGeom>
          <a:solidFill>
            <a:srgbClr val="2587C5"/>
          </a:solidFill>
          <a:ln/>
        </p:spPr>
      </p:sp>
      <p:sp>
        <p:nvSpPr>
          <p:cNvPr id="74" name="Text 72"/>
          <p:cNvSpPr txBox="1"/>
          <p:nvPr/>
        </p:nvSpPr>
        <p:spPr>
          <a:xfrm>
            <a:off x="8823960" y="2545690"/>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$93K</a:t>
            </a:r>
            <a:endParaRPr lang="en-US" sz="1300" dirty="0"/>
          </a:p>
        </p:txBody>
      </p:sp>
      <p:sp>
        <p:nvSpPr>
          <p:cNvPr id="75" name="Text 73"/>
          <p:cNvSpPr txBox="1"/>
          <p:nvPr/>
        </p:nvSpPr>
        <p:spPr>
          <a:xfrm>
            <a:off x="9738360"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$33K</a:t>
            </a:r>
            <a:endParaRPr lang="en-US" sz="1300" dirty="0"/>
          </a:p>
        </p:txBody>
      </p:sp>
      <p:sp>
        <p:nvSpPr>
          <p:cNvPr id="76" name="Text 74"/>
          <p:cNvSpPr txBox="1"/>
          <p:nvPr/>
        </p:nvSpPr>
        <p:spPr>
          <a:xfrm>
            <a:off x="10579608"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$60K</a:t>
            </a:r>
            <a:endParaRPr lang="en-US" sz="1300" dirty="0"/>
          </a:p>
        </p:txBody>
      </p:sp>
      <p:sp>
        <p:nvSpPr>
          <p:cNvPr id="77" name="Text 75"/>
          <p:cNvSpPr txBox="1"/>
          <p:nvPr/>
        </p:nvSpPr>
        <p:spPr>
          <a:xfrm>
            <a:off x="6208776" y="2968142"/>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8" name="Shape 76"/>
          <p:cNvSpPr/>
          <p:nvPr/>
        </p:nvSpPr>
        <p:spPr>
          <a:xfrm>
            <a:off x="8220456" y="3063194"/>
            <a:ext cx="62344" cy="232349"/>
          </a:xfrm>
          <a:prstGeom prst="rect">
            <a:avLst/>
          </a:prstGeom>
          <a:solidFill>
            <a:srgbClr val="2587C5"/>
          </a:solidFill>
          <a:ln/>
        </p:spPr>
      </p:sp>
      <p:sp>
        <p:nvSpPr>
          <p:cNvPr id="79" name="Text 77"/>
          <p:cNvSpPr txBox="1"/>
          <p:nvPr/>
        </p:nvSpPr>
        <p:spPr>
          <a:xfrm>
            <a:off x="8823960" y="2968142"/>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$91K</a:t>
            </a:r>
            <a:endParaRPr lang="en-US" sz="1300" dirty="0"/>
          </a:p>
        </p:txBody>
      </p:sp>
      <p:sp>
        <p:nvSpPr>
          <p:cNvPr id="80" name="Text 78"/>
          <p:cNvSpPr txBox="1"/>
          <p:nvPr/>
        </p:nvSpPr>
        <p:spPr>
          <a:xfrm>
            <a:off x="9738360"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$37K</a:t>
            </a:r>
            <a:endParaRPr lang="en-US" sz="1300" dirty="0"/>
          </a:p>
        </p:txBody>
      </p:sp>
      <p:sp>
        <p:nvSpPr>
          <p:cNvPr id="81" name="Text 79"/>
          <p:cNvSpPr txBox="1"/>
          <p:nvPr/>
        </p:nvSpPr>
        <p:spPr>
          <a:xfrm>
            <a:off x="10579608"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$53K</a:t>
            </a:r>
            <a:endParaRPr lang="en-US" sz="1300" dirty="0"/>
          </a:p>
        </p:txBody>
      </p:sp>
      <p:sp>
        <p:nvSpPr>
          <p:cNvPr id="82" name="Text 80"/>
          <p:cNvSpPr txBox="1"/>
          <p:nvPr/>
        </p:nvSpPr>
        <p:spPr>
          <a:xfrm>
            <a:off x="6208776" y="3390595"/>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83" name="Shape 81"/>
          <p:cNvSpPr/>
          <p:nvPr/>
        </p:nvSpPr>
        <p:spPr>
          <a:xfrm>
            <a:off x="8220456" y="3485647"/>
            <a:ext cx="51536" cy="232349"/>
          </a:xfrm>
          <a:prstGeom prst="rect">
            <a:avLst/>
          </a:prstGeom>
          <a:solidFill>
            <a:srgbClr val="2587C5"/>
          </a:solidFill>
          <a:ln/>
        </p:spPr>
      </p:sp>
      <p:sp>
        <p:nvSpPr>
          <p:cNvPr id="84" name="Text 82"/>
          <p:cNvSpPr txBox="1"/>
          <p:nvPr/>
        </p:nvSpPr>
        <p:spPr>
          <a:xfrm>
            <a:off x="8823960" y="3390595"/>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$75K</a:t>
            </a:r>
            <a:endParaRPr lang="en-US" sz="1300" dirty="0"/>
          </a:p>
        </p:txBody>
      </p:sp>
      <p:sp>
        <p:nvSpPr>
          <p:cNvPr id="85" name="Text 83"/>
          <p:cNvSpPr txBox="1"/>
          <p:nvPr/>
        </p:nvSpPr>
        <p:spPr>
          <a:xfrm>
            <a:off x="9738360"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$75K</a:t>
            </a:r>
            <a:endParaRPr lang="en-US" sz="1300" dirty="0"/>
          </a:p>
        </p:txBody>
      </p:sp>
      <p:sp>
        <p:nvSpPr>
          <p:cNvPr id="86" name="Text 84"/>
          <p:cNvSpPr txBox="1"/>
          <p:nvPr/>
        </p:nvSpPr>
        <p:spPr>
          <a:xfrm>
            <a:off x="10579608"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87" name="Text 85"/>
          <p:cNvSpPr txBox="1"/>
          <p:nvPr/>
        </p:nvSpPr>
        <p:spPr>
          <a:xfrm>
            <a:off x="6208776" y="3813048"/>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8" name="Shape 86"/>
          <p:cNvSpPr/>
          <p:nvPr/>
        </p:nvSpPr>
        <p:spPr>
          <a:xfrm>
            <a:off x="8220456" y="3908100"/>
            <a:ext cx="42311" cy="232349"/>
          </a:xfrm>
          <a:prstGeom prst="rect">
            <a:avLst/>
          </a:prstGeom>
          <a:solidFill>
            <a:srgbClr val="2587C5"/>
          </a:solidFill>
          <a:ln/>
        </p:spPr>
      </p:sp>
      <p:sp>
        <p:nvSpPr>
          <p:cNvPr id="89" name="Text 87"/>
          <p:cNvSpPr txBox="1"/>
          <p:nvPr/>
        </p:nvSpPr>
        <p:spPr>
          <a:xfrm>
            <a:off x="8823960" y="3813048"/>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$62K</a:t>
            </a:r>
            <a:endParaRPr lang="en-US" sz="1300" dirty="0"/>
          </a:p>
        </p:txBody>
      </p:sp>
      <p:sp>
        <p:nvSpPr>
          <p:cNvPr id="90" name="Text 88"/>
          <p:cNvSpPr txBox="1"/>
          <p:nvPr/>
        </p:nvSpPr>
        <p:spPr>
          <a:xfrm>
            <a:off x="9738360"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91" name="Text 89"/>
          <p:cNvSpPr txBox="1"/>
          <p:nvPr/>
        </p:nvSpPr>
        <p:spPr>
          <a:xfrm>
            <a:off x="10579608"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92" name="Text 90"/>
          <p:cNvSpPr txBox="1"/>
          <p:nvPr/>
        </p:nvSpPr>
        <p:spPr>
          <a:xfrm>
            <a:off x="6208776" y="4235501"/>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3" name="Shape 91"/>
          <p:cNvSpPr/>
          <p:nvPr/>
        </p:nvSpPr>
        <p:spPr>
          <a:xfrm>
            <a:off x="8220456" y="4330553"/>
            <a:ext cx="24274" cy="232349"/>
          </a:xfrm>
          <a:prstGeom prst="rect">
            <a:avLst/>
          </a:prstGeom>
          <a:solidFill>
            <a:srgbClr val="2587C5"/>
          </a:solidFill>
          <a:ln/>
        </p:spPr>
      </p:sp>
      <p:sp>
        <p:nvSpPr>
          <p:cNvPr id="94" name="Text 92"/>
          <p:cNvSpPr txBox="1"/>
          <p:nvPr/>
        </p:nvSpPr>
        <p:spPr>
          <a:xfrm>
            <a:off x="8823960" y="4235501"/>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$35K</a:t>
            </a:r>
            <a:endParaRPr lang="en-US" sz="1300" dirty="0"/>
          </a:p>
        </p:txBody>
      </p:sp>
      <p:sp>
        <p:nvSpPr>
          <p:cNvPr id="95" name="Text 93"/>
          <p:cNvSpPr txBox="1"/>
          <p:nvPr/>
        </p:nvSpPr>
        <p:spPr>
          <a:xfrm>
            <a:off x="9738360"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$35K</a:t>
            </a:r>
            <a:endParaRPr lang="en-US" sz="1300" dirty="0"/>
          </a:p>
        </p:txBody>
      </p:sp>
      <p:sp>
        <p:nvSpPr>
          <p:cNvPr id="96" name="Text 94"/>
          <p:cNvSpPr txBox="1"/>
          <p:nvPr/>
        </p:nvSpPr>
        <p:spPr>
          <a:xfrm>
            <a:off x="10579608"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97" name="Text 95"/>
          <p:cNvSpPr txBox="1"/>
          <p:nvPr/>
        </p:nvSpPr>
        <p:spPr>
          <a:xfrm>
            <a:off x="6208776" y="465795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98" name="Shape 96"/>
          <p:cNvSpPr/>
          <p:nvPr/>
        </p:nvSpPr>
        <p:spPr>
          <a:xfrm>
            <a:off x="8220456" y="4753005"/>
            <a:ext cx="18288" cy="232349"/>
          </a:xfrm>
          <a:prstGeom prst="rect">
            <a:avLst/>
          </a:prstGeom>
          <a:solidFill>
            <a:srgbClr val="2587C5"/>
          </a:solidFill>
          <a:ln/>
        </p:spPr>
      </p:sp>
      <p:sp>
        <p:nvSpPr>
          <p:cNvPr id="99" name="Text 97"/>
          <p:cNvSpPr txBox="1"/>
          <p:nvPr/>
        </p:nvSpPr>
        <p:spPr>
          <a:xfrm>
            <a:off x="8823960" y="4657954"/>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$15K</a:t>
            </a:r>
            <a:endParaRPr lang="en-US" sz="1300" dirty="0"/>
          </a:p>
        </p:txBody>
      </p:sp>
      <p:sp>
        <p:nvSpPr>
          <p:cNvPr id="100" name="Text 98"/>
          <p:cNvSpPr txBox="1"/>
          <p:nvPr/>
        </p:nvSpPr>
        <p:spPr>
          <a:xfrm>
            <a:off x="9738360"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01" name="Text 99"/>
          <p:cNvSpPr txBox="1"/>
          <p:nvPr/>
        </p:nvSpPr>
        <p:spPr>
          <a:xfrm>
            <a:off x="10579608"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02" name="Text 100"/>
          <p:cNvSpPr txBox="1"/>
          <p:nvPr/>
        </p:nvSpPr>
        <p:spPr>
          <a:xfrm>
            <a:off x="6208776" y="5080406"/>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3" name="Shape 101"/>
          <p:cNvSpPr/>
          <p:nvPr/>
        </p:nvSpPr>
        <p:spPr>
          <a:xfrm>
            <a:off x="8220456" y="5175458"/>
            <a:ext cx="18288" cy="232349"/>
          </a:xfrm>
          <a:prstGeom prst="rect">
            <a:avLst/>
          </a:prstGeom>
          <a:solidFill>
            <a:srgbClr val="2587C5"/>
          </a:solidFill>
          <a:ln/>
        </p:spPr>
      </p:sp>
      <p:sp>
        <p:nvSpPr>
          <p:cNvPr id="104" name="Text 102"/>
          <p:cNvSpPr txBox="1"/>
          <p:nvPr/>
        </p:nvSpPr>
        <p:spPr>
          <a:xfrm>
            <a:off x="8823960" y="5080406"/>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$5K</a:t>
            </a:r>
            <a:endParaRPr lang="en-US" sz="1300" dirty="0"/>
          </a:p>
        </p:txBody>
      </p:sp>
      <p:sp>
        <p:nvSpPr>
          <p:cNvPr id="105" name="Text 103"/>
          <p:cNvSpPr txBox="1"/>
          <p:nvPr/>
        </p:nvSpPr>
        <p:spPr>
          <a:xfrm>
            <a:off x="9738360"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06" name="Text 104"/>
          <p:cNvSpPr txBox="1"/>
          <p:nvPr/>
        </p:nvSpPr>
        <p:spPr>
          <a:xfrm>
            <a:off x="10579608"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$5K</a:t>
            </a:r>
            <a:endParaRPr lang="en-US" sz="1300" dirty="0"/>
          </a:p>
        </p:txBody>
      </p:sp>
      <p:sp>
        <p:nvSpPr>
          <p:cNvPr id="107" name="Shape 105"/>
          <p:cNvSpPr/>
          <p:nvPr/>
        </p:nvSpPr>
        <p:spPr>
          <a:xfrm>
            <a:off x="457200" y="6126480"/>
            <a:ext cx="11274552" cy="615696"/>
          </a:xfrm>
          <a:prstGeom prst="rect">
            <a:avLst/>
          </a:prstGeom>
          <a:solidFill>
            <a:srgbClr val="EDF4FA"/>
          </a:solidFill>
          <a:ln/>
        </p:spPr>
      </p:sp>
      <p:sp>
        <p:nvSpPr>
          <p:cNvPr id="108" name="Text 10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$3,788,200 in added gross profit from warranty rate increases approved this year at 19 stores. Higher rates bring more audits: the process is how we keep it.</a:t>
            </a:r>
            <a:endParaRPr lang="en-US" sz="1600" dirty="0"/>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$180.25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$197.17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+$16.93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$16.93 to $197.17, ahead of 2025 in all nine months.</a:t>
            </a:r>
            <a:endParaRPr lang="en-US" sz="1600" dirty="0"/>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$197.17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$308.88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505642"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$274.91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414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$263.19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008376" y="2626748"/>
            <a:ext cx="128435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$234.51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25085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$228.39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3" name="Shape 31"/>
          <p:cNvSpPr/>
          <p:nvPr/>
        </p:nvSpPr>
        <p:spPr>
          <a:xfrm>
            <a:off x="3008376" y="3106540"/>
            <a:ext cx="118762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$216.85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163222"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$212.39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11483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$209.67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008376" y="3826226"/>
            <a:ext cx="1147249"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008376" y="4066122"/>
            <a:ext cx="113346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$206.96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3" name="Shape 51"/>
          <p:cNvSpPr/>
          <p:nvPr/>
        </p:nvSpPr>
        <p:spPr>
          <a:xfrm>
            <a:off x="3008376" y="4306017"/>
            <a:ext cx="1133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$206.95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10821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$197.59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4785808"/>
            <a:ext cx="1070003"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$195.37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008376" y="5025704"/>
            <a:ext cx="106886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$195.16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101870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$186.00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002048"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$182.96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7" name="Shape 75"/>
          <p:cNvSpPr/>
          <p:nvPr/>
        </p:nvSpPr>
        <p:spPr>
          <a:xfrm>
            <a:off x="3008376" y="5745390"/>
            <a:ext cx="989419"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$180.66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98896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97270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$177.61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9" name="Shape 87"/>
          <p:cNvSpPr/>
          <p:nvPr/>
        </p:nvSpPr>
        <p:spPr>
          <a:xfrm>
            <a:off x="8558784" y="2386853"/>
            <a:ext cx="96721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$176.60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58784" y="2626748"/>
            <a:ext cx="95047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$173.55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7" name="Shape 95"/>
          <p:cNvSpPr/>
          <p:nvPr/>
        </p:nvSpPr>
        <p:spPr>
          <a:xfrm>
            <a:off x="8558784" y="2866644"/>
            <a:ext cx="93898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58784" y="3106540"/>
            <a:ext cx="937921"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$171.25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936379"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$170.97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934636"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$170.65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3" name="Shape 111"/>
          <p:cNvSpPr/>
          <p:nvPr/>
        </p:nvSpPr>
        <p:spPr>
          <a:xfrm>
            <a:off x="8558784" y="3826226"/>
            <a:ext cx="89907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$164.16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8558784" y="4066122"/>
            <a:ext cx="8782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864282"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$157.81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853702"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$155.88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9" name="Shape 127"/>
          <p:cNvSpPr/>
          <p:nvPr/>
        </p:nvSpPr>
        <p:spPr>
          <a:xfrm>
            <a:off x="8558784" y="4785808"/>
            <a:ext cx="830028"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$151.55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3" name="Shape 131"/>
          <p:cNvSpPr/>
          <p:nvPr/>
        </p:nvSpPr>
        <p:spPr>
          <a:xfrm>
            <a:off x="8558784" y="5025704"/>
            <a:ext cx="781476"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$142.69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558784" y="5265599"/>
            <a:ext cx="71462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41" name="Shape 139"/>
          <p:cNvSpPr/>
          <p:nvPr/>
        </p:nvSpPr>
        <p:spPr>
          <a:xfrm>
            <a:off x="8558784" y="5505495"/>
            <a:ext cx="665401"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$121.50</a:t>
            </a:r>
            <a:endParaRPr lang="en-US" sz="1200" dirty="0"/>
          </a:p>
        </p:txBody>
      </p:sp>
      <p:sp>
        <p:nvSpPr>
          <p:cNvPr id="143" name="Shape 141"/>
          <p:cNvSpPr/>
          <p:nvPr/>
        </p:nvSpPr>
        <p:spPr>
          <a:xfrm>
            <a:off x="4080932" y="1847088"/>
            <a:ext cx="14630" cy="4078224"/>
          </a:xfrm>
          <a:prstGeom prst="rect">
            <a:avLst/>
          </a:prstGeom>
          <a:solidFill>
            <a:srgbClr val="0B2C4A"/>
          </a:solidFill>
          <a:ln/>
        </p:spPr>
      </p:sp>
      <p:sp>
        <p:nvSpPr>
          <p:cNvPr id="144" name="Shape 142"/>
          <p:cNvSpPr/>
          <p:nvPr/>
        </p:nvSpPr>
        <p:spPr>
          <a:xfrm>
            <a:off x="9631340"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$197.17 group, led by Audi Henderson at $308.88. Subaru Prescott is lowest at $121.50.</a:t>
            </a:r>
            <a:endParaRPr lang="en-US" sz="1600" dirty="0"/>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+$16.93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+$57.74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785616" y="2151755"/>
            <a:ext cx="536453"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785616" y="2391651"/>
            <a:ext cx="36840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5" name="Shape 23"/>
          <p:cNvSpPr/>
          <p:nvPr/>
        </p:nvSpPr>
        <p:spPr>
          <a:xfrm>
            <a:off x="3785616" y="2631546"/>
            <a:ext cx="35513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+$26.38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9" name="Shape 27"/>
          <p:cNvSpPr/>
          <p:nvPr/>
        </p:nvSpPr>
        <p:spPr>
          <a:xfrm>
            <a:off x="3785616" y="2871442"/>
            <a:ext cx="27660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25852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785616" y="3351233"/>
            <a:ext cx="25783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1" name="Shape 39"/>
          <p:cNvSpPr/>
          <p:nvPr/>
        </p:nvSpPr>
        <p:spPr>
          <a:xfrm>
            <a:off x="3785616" y="3591128"/>
            <a:ext cx="22818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22572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9" name="Shape 47"/>
          <p:cNvSpPr/>
          <p:nvPr/>
        </p:nvSpPr>
        <p:spPr>
          <a:xfrm>
            <a:off x="3785616" y="4070920"/>
            <a:ext cx="22568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785616" y="4310815"/>
            <a:ext cx="21600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3785616" y="4550711"/>
            <a:ext cx="2146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1" name="Shape 59"/>
          <p:cNvSpPr/>
          <p:nvPr/>
        </p:nvSpPr>
        <p:spPr>
          <a:xfrm>
            <a:off x="3785616" y="4790606"/>
            <a:ext cx="1835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+$13.64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17351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3785616" y="5270397"/>
            <a:ext cx="16498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+$12.26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3785616" y="5510293"/>
            <a:ext cx="130019"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7" name="Shape 75"/>
          <p:cNvSpPr/>
          <p:nvPr/>
        </p:nvSpPr>
        <p:spPr>
          <a:xfrm>
            <a:off x="3785616" y="5750188"/>
            <a:ext cx="129735"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9336024" y="1911860"/>
            <a:ext cx="123986"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5" name="Shape 83"/>
          <p:cNvSpPr/>
          <p:nvPr/>
        </p:nvSpPr>
        <p:spPr>
          <a:xfrm>
            <a:off x="9336024" y="2151755"/>
            <a:ext cx="115500"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+$8.58</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9336024" y="2391651"/>
            <a:ext cx="93591"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9336024" y="2631546"/>
            <a:ext cx="9154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7" name="Shape 95"/>
          <p:cNvSpPr/>
          <p:nvPr/>
        </p:nvSpPr>
        <p:spPr>
          <a:xfrm>
            <a:off x="9336024" y="2871442"/>
            <a:ext cx="90857"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36024" y="3111337"/>
            <a:ext cx="83711"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336024" y="3351233"/>
            <a:ext cx="7134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336024" y="3591128"/>
            <a:ext cx="61183"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9336024" y="3831024"/>
            <a:ext cx="57486"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336024" y="4070920"/>
            <a:ext cx="50066"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9336024" y="4310815"/>
            <a:ext cx="33186"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9336024" y="4550711"/>
            <a:ext cx="13817" cy="110352"/>
          </a:xfrm>
          <a:prstGeom prst="rect">
            <a:avLst/>
          </a:prstGeom>
          <a:solidFill>
            <a:srgbClr val="12A566"/>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336024" y="4790606"/>
            <a:ext cx="12802" cy="110352"/>
          </a:xfrm>
          <a:prstGeom prst="rect">
            <a:avLst/>
          </a:prstGeom>
          <a:solidFill>
            <a:srgbClr val="12A566"/>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335137" y="5030502"/>
            <a:ext cx="1280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7" name="Shape 135"/>
          <p:cNvSpPr/>
          <p:nvPr/>
        </p:nvSpPr>
        <p:spPr>
          <a:xfrm>
            <a:off x="9314711" y="5270397"/>
            <a:ext cx="2131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1" name="Shape 139"/>
          <p:cNvSpPr/>
          <p:nvPr/>
        </p:nvSpPr>
        <p:spPr>
          <a:xfrm>
            <a:off x="9171193" y="5510293"/>
            <a:ext cx="16483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−$12.25</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 of 33 stores raised warranty ELR, led by LR LV at +$57.74 to $274.91. 3 declined; Honda North fell most at −$12.25.</a:t>
            </a:r>
            <a:endParaRPr lang="en-US" sz="1600" dirty="0"/>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$217.17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$274.91</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+$57.74</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$269.02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$308.88</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+$39.85</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$207.14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$234.51</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+$27.37</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$236.81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$263.19</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+$26.38</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$171.25</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+$20.55</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$142.73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$130.48</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−$12.25</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$229.98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$228.39</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−$1.58</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$212.46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$212.39</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−$0.07</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$120.55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$121.50</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+$0.95</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$154.85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$155.88</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+$1.03</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$190.66</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+$33.25</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$246.88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$270.18</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+$23.31</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$158.87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$180.92</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+$22.06</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$123.60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$140.08</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+$16.48</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$206.44</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+$14.88</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LR LV, Audi Henderson and Volvo what changed. Ask Honda North, LR Reno and Cadillac what got in the way. Ask Nissan, LR Henderson and Honda Flagstaff what they started this year.</a:t>
            </a:r>
            <a:endParaRPr lang="en-US" sz="1600" dirty="0"/>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42.6%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44.7%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56616"/>
          </a:xfrm>
          <a:prstGeom prst="rect">
            <a:avLst/>
          </a:prstGeom>
          <a:solidFill>
            <a:srgbClr val="E6F6EE"/>
          </a:solidFill>
          <a:ln/>
        </p:spPr>
      </p:sp>
      <p:sp>
        <p:nvSpPr>
          <p:cNvPr id="28"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2.1 pts to 44.7%, ahead of 2025 in all nine months: approved parts markup increases show up as margin.</a:t>
            </a:r>
            <a:endParaRPr lang="en-US" sz="1500" dirty="0"/>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Gets Claims Debited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auditors check: the causes in the six audits, plus supporting evidence</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3496056" cy="1888236"/>
          </a:xfrm>
          <a:prstGeom prst="rect">
            <a:avLst/>
          </a:prstGeom>
          <a:solidFill>
            <a:srgbClr val="F7F7F7"/>
          </a:solidFill>
          <a:ln/>
        </p:spPr>
      </p:sp>
      <p:sp>
        <p:nvSpPr>
          <p:cNvPr id="9" name="Shape 7"/>
          <p:cNvSpPr/>
          <p:nvPr/>
        </p:nvSpPr>
        <p:spPr>
          <a:xfrm>
            <a:off x="685800" y="1865376"/>
            <a:ext cx="54864" cy="1888236"/>
          </a:xfrm>
          <a:prstGeom prst="rect">
            <a:avLst/>
          </a:prstGeom>
          <a:solidFill>
            <a:srgbClr val="C2352F"/>
          </a:solidFill>
          <a:ln/>
        </p:spPr>
      </p:sp>
      <p:sp>
        <p:nvSpPr>
          <p:cNvPr id="10" name="Text 8"/>
          <p:cNvSpPr txBox="1"/>
          <p:nvPr/>
        </p:nvSpPr>
        <p:spPr>
          <a:xfrm>
            <a:off x="886968"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Written documentation</a:t>
            </a:r>
            <a:endParaRPr lang="en-US" sz="1800" dirty="0"/>
          </a:p>
        </p:txBody>
      </p:sp>
      <p:sp>
        <p:nvSpPr>
          <p:cNvPr id="11" name="Text 9"/>
          <p:cNvSpPr txBox="1"/>
          <p:nvPr/>
        </p:nvSpPr>
        <p:spPr>
          <a:xfrm>
            <a:off x="886968"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Complaint, cause and correction written on the RO, and matching what was claimed</a:t>
            </a:r>
            <a:endParaRPr lang="en-US" sz="1500" dirty="0"/>
          </a:p>
        </p:txBody>
      </p:sp>
      <p:sp>
        <p:nvSpPr>
          <p:cNvPr id="12" name="Shape 10"/>
          <p:cNvSpPr/>
          <p:nvPr/>
        </p:nvSpPr>
        <p:spPr>
          <a:xfrm>
            <a:off x="4346448" y="1865376"/>
            <a:ext cx="3496056" cy="1888236"/>
          </a:xfrm>
          <a:prstGeom prst="rect">
            <a:avLst/>
          </a:prstGeom>
          <a:solidFill>
            <a:srgbClr val="F7F7F7"/>
          </a:solidFill>
          <a:ln/>
        </p:spPr>
      </p:sp>
      <p:sp>
        <p:nvSpPr>
          <p:cNvPr id="13" name="Shape 11"/>
          <p:cNvSpPr/>
          <p:nvPr/>
        </p:nvSpPr>
        <p:spPr>
          <a:xfrm>
            <a:off x="4346448" y="1865376"/>
            <a:ext cx="54864" cy="1888236"/>
          </a:xfrm>
          <a:prstGeom prst="rect">
            <a:avLst/>
          </a:prstGeom>
          <a:solidFill>
            <a:srgbClr val="C2352F"/>
          </a:solidFill>
          <a:ln/>
        </p:spPr>
      </p:sp>
      <p:sp>
        <p:nvSpPr>
          <p:cNvPr id="14" name="Text 12"/>
          <p:cNvSpPr txBox="1"/>
          <p:nvPr/>
        </p:nvSpPr>
        <p:spPr>
          <a:xfrm>
            <a:off x="4547616"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Required signatures</a:t>
            </a:r>
            <a:endParaRPr lang="en-US" sz="1800" dirty="0"/>
          </a:p>
        </p:txBody>
      </p:sp>
      <p:sp>
        <p:nvSpPr>
          <p:cNvPr id="15" name="Text 13"/>
          <p:cNvSpPr txBox="1"/>
          <p:nvPr/>
        </p:nvSpPr>
        <p:spPr>
          <a:xfrm>
            <a:off x="4547616"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Manager sign-off on added repairs; customer and manager signatures on in-stock units</a:t>
            </a:r>
            <a:endParaRPr lang="en-US" sz="1500" dirty="0"/>
          </a:p>
        </p:txBody>
      </p:sp>
      <p:sp>
        <p:nvSpPr>
          <p:cNvPr id="16" name="Shape 14"/>
          <p:cNvSpPr/>
          <p:nvPr/>
        </p:nvSpPr>
        <p:spPr>
          <a:xfrm>
            <a:off x="8007096" y="1865376"/>
            <a:ext cx="3496056" cy="1888236"/>
          </a:xfrm>
          <a:prstGeom prst="rect">
            <a:avLst/>
          </a:prstGeom>
          <a:solidFill>
            <a:srgbClr val="F7F7F7"/>
          </a:solidFill>
          <a:ln/>
        </p:spPr>
      </p:sp>
      <p:sp>
        <p:nvSpPr>
          <p:cNvPr id="17" name="Shape 15"/>
          <p:cNvSpPr/>
          <p:nvPr/>
        </p:nvSpPr>
        <p:spPr>
          <a:xfrm>
            <a:off x="8007096" y="1865376"/>
            <a:ext cx="54864" cy="1888236"/>
          </a:xfrm>
          <a:prstGeom prst="rect">
            <a:avLst/>
          </a:prstGeom>
          <a:solidFill>
            <a:srgbClr val="C2352F"/>
          </a:solidFill>
          <a:ln/>
        </p:spPr>
      </p:sp>
      <p:sp>
        <p:nvSpPr>
          <p:cNvPr id="18" name="Text 16"/>
          <p:cNvSpPr txBox="1"/>
          <p:nvPr/>
        </p:nvSpPr>
        <p:spPr>
          <a:xfrm>
            <a:off x="8208264"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Supporting evidence</a:t>
            </a:r>
            <a:endParaRPr lang="en-US" sz="1800" dirty="0"/>
          </a:p>
        </p:txBody>
      </p:sp>
      <p:sp>
        <p:nvSpPr>
          <p:cNvPr id="19" name="Text 17"/>
          <p:cNvSpPr txBox="1"/>
          <p:nvPr/>
        </p:nvSpPr>
        <p:spPr>
          <a:xfrm>
            <a:off x="8208264"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Photos of the failed part, test results and proof the required procedure was followed, where the manufacturer asks for it</a:t>
            </a:r>
            <a:endParaRPr lang="en-US" sz="1500" dirty="0"/>
          </a:p>
        </p:txBody>
      </p:sp>
      <p:sp>
        <p:nvSpPr>
          <p:cNvPr id="20" name="Shape 18"/>
          <p:cNvSpPr/>
          <p:nvPr/>
        </p:nvSpPr>
        <p:spPr>
          <a:xfrm>
            <a:off x="685800" y="3918204"/>
            <a:ext cx="3496056" cy="1888236"/>
          </a:xfrm>
          <a:prstGeom prst="rect">
            <a:avLst/>
          </a:prstGeom>
          <a:solidFill>
            <a:srgbClr val="F7F7F7"/>
          </a:solidFill>
          <a:ln/>
        </p:spPr>
      </p:sp>
      <p:sp>
        <p:nvSpPr>
          <p:cNvPr id="21" name="Shape 19"/>
          <p:cNvSpPr/>
          <p:nvPr/>
        </p:nvSpPr>
        <p:spPr>
          <a:xfrm>
            <a:off x="685800" y="3918204"/>
            <a:ext cx="54864" cy="1888236"/>
          </a:xfrm>
          <a:prstGeom prst="rect">
            <a:avLst/>
          </a:prstGeom>
          <a:solidFill>
            <a:srgbClr val="C2352F"/>
          </a:solidFill>
          <a:ln/>
        </p:spPr>
      </p:sp>
      <p:sp>
        <p:nvSpPr>
          <p:cNvPr id="22" name="Text 20"/>
          <p:cNvSpPr txBox="1"/>
          <p:nvPr/>
        </p:nvSpPr>
        <p:spPr>
          <a:xfrm>
            <a:off x="886968"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Out mileage</a:t>
            </a:r>
            <a:endParaRPr lang="en-US" sz="1800" dirty="0"/>
          </a:p>
        </p:txBody>
      </p:sp>
      <p:sp>
        <p:nvSpPr>
          <p:cNvPr id="23" name="Text 21"/>
          <p:cNvSpPr txBox="1"/>
          <p:nvPr/>
        </p:nvSpPr>
        <p:spPr>
          <a:xfrm>
            <a:off x="886968"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Recorded on every RO and consistent with the mileage in</a:t>
            </a:r>
            <a:endParaRPr lang="en-US" sz="1500" dirty="0"/>
          </a:p>
        </p:txBody>
      </p:sp>
      <p:sp>
        <p:nvSpPr>
          <p:cNvPr id="24" name="Shape 22"/>
          <p:cNvSpPr/>
          <p:nvPr/>
        </p:nvSpPr>
        <p:spPr>
          <a:xfrm>
            <a:off x="4346448" y="3918204"/>
            <a:ext cx="3496056" cy="1888236"/>
          </a:xfrm>
          <a:prstGeom prst="rect">
            <a:avLst/>
          </a:prstGeom>
          <a:solidFill>
            <a:srgbClr val="F7F7F7"/>
          </a:solidFill>
          <a:ln/>
        </p:spPr>
      </p:sp>
      <p:sp>
        <p:nvSpPr>
          <p:cNvPr id="25" name="Shape 23"/>
          <p:cNvSpPr/>
          <p:nvPr/>
        </p:nvSpPr>
        <p:spPr>
          <a:xfrm>
            <a:off x="4346448" y="3918204"/>
            <a:ext cx="54864" cy="1888236"/>
          </a:xfrm>
          <a:prstGeom prst="rect">
            <a:avLst/>
          </a:prstGeom>
          <a:solidFill>
            <a:srgbClr val="C2352F"/>
          </a:solidFill>
          <a:ln/>
        </p:spPr>
      </p:sp>
      <p:sp>
        <p:nvSpPr>
          <p:cNvPr id="26" name="Text 24"/>
          <p:cNvSpPr txBox="1"/>
          <p:nvPr/>
        </p:nvSpPr>
        <p:spPr>
          <a:xfrm>
            <a:off x="4547616"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Punch times</a:t>
            </a:r>
            <a:endParaRPr lang="en-US" sz="1800" dirty="0"/>
          </a:p>
        </p:txBody>
      </p:sp>
      <p:sp>
        <p:nvSpPr>
          <p:cNvPr id="27" name="Text 25"/>
          <p:cNvSpPr txBox="1"/>
          <p:nvPr/>
        </p:nvSpPr>
        <p:spPr>
          <a:xfrm>
            <a:off x="4547616"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Technician clock times on the RO support the hours claimed</a:t>
            </a:r>
            <a:endParaRPr lang="en-US" sz="1500" dirty="0"/>
          </a:p>
        </p:txBody>
      </p:sp>
      <p:sp>
        <p:nvSpPr>
          <p:cNvPr id="28" name="Shape 26"/>
          <p:cNvSpPr/>
          <p:nvPr/>
        </p:nvSpPr>
        <p:spPr>
          <a:xfrm>
            <a:off x="8007096" y="3918204"/>
            <a:ext cx="3496056" cy="1888236"/>
          </a:xfrm>
          <a:prstGeom prst="rect">
            <a:avLst/>
          </a:prstGeom>
          <a:solidFill>
            <a:srgbClr val="F7F7F7"/>
          </a:solidFill>
          <a:ln/>
        </p:spPr>
      </p:sp>
      <p:sp>
        <p:nvSpPr>
          <p:cNvPr id="29" name="Shape 27"/>
          <p:cNvSpPr/>
          <p:nvPr/>
        </p:nvSpPr>
        <p:spPr>
          <a:xfrm>
            <a:off x="8007096" y="3918204"/>
            <a:ext cx="54864" cy="1888236"/>
          </a:xfrm>
          <a:prstGeom prst="rect">
            <a:avLst/>
          </a:prstGeom>
          <a:solidFill>
            <a:srgbClr val="C2352F"/>
          </a:solidFill>
          <a:ln/>
        </p:spPr>
      </p:sp>
      <p:sp>
        <p:nvSpPr>
          <p:cNvPr id="30" name="Text 28"/>
          <p:cNvSpPr txBox="1"/>
          <p:nvPr/>
        </p:nvSpPr>
        <p:spPr>
          <a:xfrm>
            <a:off x="8208264"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Manufacturer authorization</a:t>
            </a:r>
            <a:endParaRPr lang="en-US" sz="1800" dirty="0"/>
          </a:p>
        </p:txBody>
      </p:sp>
      <p:sp>
        <p:nvSpPr>
          <p:cNvPr id="31" name="Text 29"/>
          <p:cNvSpPr txBox="1"/>
          <p:nvPr/>
        </p:nvSpPr>
        <p:spPr>
          <a:xfrm>
            <a:off x="8208264"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Prior approval on file wherever the manufacturer requires it</a:t>
            </a:r>
            <a:endParaRPr lang="en-US" sz="1500" dirty="0"/>
          </a:p>
        </p:txBody>
      </p:sp>
      <p:sp>
        <p:nvSpPr>
          <p:cNvPr id="32" name="Shape 30"/>
          <p:cNvSpPr/>
          <p:nvPr/>
        </p:nvSpPr>
        <p:spPr>
          <a:xfrm>
            <a:off x="457200" y="6126480"/>
            <a:ext cx="11274552" cy="615696"/>
          </a:xfrm>
          <a:prstGeom prst="rect">
            <a:avLst/>
          </a:prstGeom>
          <a:solidFill>
            <a:srgbClr val="FBEBEA"/>
          </a:solidFill>
          <a:ln/>
        </p:spPr>
      </p:sp>
      <p:sp>
        <p:nvSpPr>
          <p:cNvPr id="33" name="Text 3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Six audits took back over $400,000, more than a tenth of what rate increases brought in this year. Every cause here is documentation the store controls.</a:t>
            </a:r>
            <a:endParaRPr lang="en-US" sz="1600" dirty="0"/>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Keep the Claim Paid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compliance, in five steps</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2031797" cy="3941064"/>
          </a:xfrm>
          <a:prstGeom prst="rect">
            <a:avLst/>
          </a:prstGeom>
          <a:solidFill>
            <a:srgbClr val="F7F7F7"/>
          </a:solidFill>
          <a:ln/>
        </p:spPr>
      </p:sp>
      <p:sp>
        <p:nvSpPr>
          <p:cNvPr id="9" name="Shape 7"/>
          <p:cNvSpPr/>
          <p:nvPr/>
        </p:nvSpPr>
        <p:spPr>
          <a:xfrm>
            <a:off x="685800" y="1865376"/>
            <a:ext cx="54864" cy="3941064"/>
          </a:xfrm>
          <a:prstGeom prst="rect">
            <a:avLst/>
          </a:prstGeom>
          <a:solidFill>
            <a:srgbClr val="2587C5"/>
          </a:solidFill>
          <a:ln/>
        </p:spPr>
      </p:sp>
      <p:sp>
        <p:nvSpPr>
          <p:cNvPr id="10" name="Text 8"/>
          <p:cNvSpPr txBox="1"/>
          <p:nvPr/>
        </p:nvSpPr>
        <p:spPr>
          <a:xfrm>
            <a:off x="886968"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1  Documented policies</a:t>
            </a:r>
            <a:endParaRPr lang="en-US" sz="1800" dirty="0"/>
          </a:p>
        </p:txBody>
      </p:sp>
      <p:sp>
        <p:nvSpPr>
          <p:cNvPr id="11" name="Text 9"/>
          <p:cNvSpPr txBox="1"/>
          <p:nvPr/>
        </p:nvSpPr>
        <p:spPr>
          <a:xfrm>
            <a:off x="886968"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Each manufacturer's current warranty policy manual, where the team can reach it</a:t>
            </a:r>
            <a:endParaRPr lang="en-US" sz="1500" dirty="0"/>
          </a:p>
        </p:txBody>
      </p:sp>
      <p:sp>
        <p:nvSpPr>
          <p:cNvPr id="12" name="Shape 10"/>
          <p:cNvSpPr/>
          <p:nvPr/>
        </p:nvSpPr>
        <p:spPr>
          <a:xfrm>
            <a:off x="2882189" y="1865376"/>
            <a:ext cx="2031797" cy="3941064"/>
          </a:xfrm>
          <a:prstGeom prst="rect">
            <a:avLst/>
          </a:prstGeom>
          <a:solidFill>
            <a:srgbClr val="F7F7F7"/>
          </a:solidFill>
          <a:ln/>
        </p:spPr>
      </p:sp>
      <p:sp>
        <p:nvSpPr>
          <p:cNvPr id="13" name="Shape 11"/>
          <p:cNvSpPr/>
          <p:nvPr/>
        </p:nvSpPr>
        <p:spPr>
          <a:xfrm>
            <a:off x="2882189" y="1865376"/>
            <a:ext cx="54864" cy="3941064"/>
          </a:xfrm>
          <a:prstGeom prst="rect">
            <a:avLst/>
          </a:prstGeom>
          <a:solidFill>
            <a:srgbClr val="2587C5"/>
          </a:solidFill>
          <a:ln/>
        </p:spPr>
      </p:sp>
      <p:sp>
        <p:nvSpPr>
          <p:cNvPr id="14" name="Text 12"/>
          <p:cNvSpPr txBox="1"/>
          <p:nvPr/>
        </p:nvSpPr>
        <p:spPr>
          <a:xfrm>
            <a:off x="3083357"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2  Defined process</a:t>
            </a:r>
            <a:endParaRPr lang="en-US" sz="1800" dirty="0"/>
          </a:p>
        </p:txBody>
      </p:sp>
      <p:sp>
        <p:nvSpPr>
          <p:cNvPr id="15" name="Text 13"/>
          <p:cNvSpPr txBox="1"/>
          <p:nvPr/>
        </p:nvSpPr>
        <p:spPr>
          <a:xfrm>
            <a:off x="3083357"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Who writes, who approves, who submits: every claim handled the same way</a:t>
            </a:r>
            <a:endParaRPr lang="en-US" sz="1500" dirty="0"/>
          </a:p>
        </p:txBody>
      </p:sp>
      <p:sp>
        <p:nvSpPr>
          <p:cNvPr id="16" name="Shape 14"/>
          <p:cNvSpPr/>
          <p:nvPr/>
        </p:nvSpPr>
        <p:spPr>
          <a:xfrm>
            <a:off x="5078578" y="1865376"/>
            <a:ext cx="2031797" cy="3941064"/>
          </a:xfrm>
          <a:prstGeom prst="rect">
            <a:avLst/>
          </a:prstGeom>
          <a:solidFill>
            <a:srgbClr val="F7F7F7"/>
          </a:solidFill>
          <a:ln/>
        </p:spPr>
      </p:sp>
      <p:sp>
        <p:nvSpPr>
          <p:cNvPr id="17" name="Shape 15"/>
          <p:cNvSpPr/>
          <p:nvPr/>
        </p:nvSpPr>
        <p:spPr>
          <a:xfrm>
            <a:off x="5078578" y="1865376"/>
            <a:ext cx="54864" cy="3941064"/>
          </a:xfrm>
          <a:prstGeom prst="rect">
            <a:avLst/>
          </a:prstGeom>
          <a:solidFill>
            <a:srgbClr val="2587C5"/>
          </a:solidFill>
          <a:ln/>
        </p:spPr>
      </p:sp>
      <p:sp>
        <p:nvSpPr>
          <p:cNvPr id="18" name="Text 16"/>
          <p:cNvSpPr txBox="1"/>
          <p:nvPr/>
        </p:nvSpPr>
        <p:spPr>
          <a:xfrm>
            <a:off x="5279746"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3  Create awareness</a:t>
            </a:r>
            <a:endParaRPr lang="en-US" sz="1800" dirty="0"/>
          </a:p>
        </p:txBody>
      </p:sp>
      <p:sp>
        <p:nvSpPr>
          <p:cNvPr id="19" name="Text 17"/>
          <p:cNvSpPr txBox="1"/>
          <p:nvPr/>
        </p:nvSpPr>
        <p:spPr>
          <a:xfrm>
            <a:off x="5279746"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Advisors, technicians and warranty admins know what an auditor checks</a:t>
            </a:r>
            <a:endParaRPr lang="en-US" sz="1500" dirty="0"/>
          </a:p>
        </p:txBody>
      </p:sp>
      <p:sp>
        <p:nvSpPr>
          <p:cNvPr id="20" name="Shape 18"/>
          <p:cNvSpPr/>
          <p:nvPr/>
        </p:nvSpPr>
        <p:spPr>
          <a:xfrm>
            <a:off x="7274966" y="1865376"/>
            <a:ext cx="2031797" cy="3941064"/>
          </a:xfrm>
          <a:prstGeom prst="rect">
            <a:avLst/>
          </a:prstGeom>
          <a:solidFill>
            <a:srgbClr val="F7F7F7"/>
          </a:solidFill>
          <a:ln/>
        </p:spPr>
      </p:sp>
      <p:sp>
        <p:nvSpPr>
          <p:cNvPr id="21" name="Shape 19"/>
          <p:cNvSpPr/>
          <p:nvPr/>
        </p:nvSpPr>
        <p:spPr>
          <a:xfrm>
            <a:off x="7274966" y="1865376"/>
            <a:ext cx="54864" cy="3941064"/>
          </a:xfrm>
          <a:prstGeom prst="rect">
            <a:avLst/>
          </a:prstGeom>
          <a:solidFill>
            <a:srgbClr val="2587C5"/>
          </a:solidFill>
          <a:ln/>
        </p:spPr>
      </p:sp>
      <p:sp>
        <p:nvSpPr>
          <p:cNvPr id="22" name="Text 20"/>
          <p:cNvSpPr txBox="1"/>
          <p:nvPr/>
        </p:nvSpPr>
        <p:spPr>
          <a:xfrm>
            <a:off x="7476134"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4  Safety nets</a:t>
            </a:r>
            <a:endParaRPr lang="en-US" sz="1800" dirty="0"/>
          </a:p>
        </p:txBody>
      </p:sp>
      <p:sp>
        <p:nvSpPr>
          <p:cNvPr id="23" name="Text 21"/>
          <p:cNvSpPr txBox="1"/>
          <p:nvPr/>
        </p:nvSpPr>
        <p:spPr>
          <a:xfrm>
            <a:off x="7476134"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Signatures, out mileage, punch times and authorizations checked before the claim goes in</a:t>
            </a:r>
            <a:endParaRPr lang="en-US" sz="1500" dirty="0"/>
          </a:p>
        </p:txBody>
      </p:sp>
      <p:sp>
        <p:nvSpPr>
          <p:cNvPr id="24" name="Shape 22"/>
          <p:cNvSpPr/>
          <p:nvPr/>
        </p:nvSpPr>
        <p:spPr>
          <a:xfrm>
            <a:off x="9471355" y="1865376"/>
            <a:ext cx="2031797" cy="3941064"/>
          </a:xfrm>
          <a:prstGeom prst="rect">
            <a:avLst/>
          </a:prstGeom>
          <a:solidFill>
            <a:srgbClr val="F7F7F7"/>
          </a:solidFill>
          <a:ln/>
        </p:spPr>
      </p:sp>
      <p:sp>
        <p:nvSpPr>
          <p:cNvPr id="25" name="Shape 23"/>
          <p:cNvSpPr/>
          <p:nvPr/>
        </p:nvSpPr>
        <p:spPr>
          <a:xfrm>
            <a:off x="9471355" y="1865376"/>
            <a:ext cx="54864" cy="3941064"/>
          </a:xfrm>
          <a:prstGeom prst="rect">
            <a:avLst/>
          </a:prstGeom>
          <a:solidFill>
            <a:srgbClr val="2587C5"/>
          </a:solidFill>
          <a:ln/>
        </p:spPr>
      </p:sp>
      <p:sp>
        <p:nvSpPr>
          <p:cNvPr id="26" name="Text 24"/>
          <p:cNvSpPr txBox="1"/>
          <p:nvPr/>
        </p:nvSpPr>
        <p:spPr>
          <a:xfrm>
            <a:off x="9672523"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5  Spot-check and self-audit</a:t>
            </a:r>
            <a:endParaRPr lang="en-US" sz="1800" dirty="0"/>
          </a:p>
        </p:txBody>
      </p:sp>
      <p:sp>
        <p:nvSpPr>
          <p:cNvPr id="27" name="Text 25"/>
          <p:cNvSpPr txBox="1"/>
          <p:nvPr/>
        </p:nvSpPr>
        <p:spPr>
          <a:xfrm>
            <a:off x="9672523"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Pull warranty ROs every month and audit them the way the factory will</a:t>
            </a:r>
            <a:endParaRPr lang="en-US" sz="1500" dirty="0"/>
          </a:p>
        </p:txBody>
      </p:sp>
      <p:sp>
        <p:nvSpPr>
          <p:cNvPr id="28" name="Shape 26"/>
          <p:cNvSpPr/>
          <p:nvPr/>
        </p:nvSpPr>
        <p:spPr>
          <a:xfrm>
            <a:off x="457200" y="6126480"/>
            <a:ext cx="11274552" cy="371856"/>
          </a:xfrm>
          <a:prstGeom prst="rect">
            <a:avLst/>
          </a:prstGeom>
          <a:solidFill>
            <a:srgbClr val="EDF4FA"/>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General Manager is responsible for making sure warranty policies and procedures are followed.</a:t>
            </a:r>
            <a:endParaRPr lang="en-US" sz="1600" dirty="0"/>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135,764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126,891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−8,873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−6.5%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FBEBEA"/>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8,873 to 126,891, behind 2025 in seven of nine months. Warranty volume follows OEM campaigns and recalls as much as store effort.</a:t>
            </a:r>
            <a:endParaRPr lang="en-US" sz="1600" dirty="0"/>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126,891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11,211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722605"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10,560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2980944" y="2391651"/>
            <a:ext cx="1400922"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8,588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2980944" y="2631546"/>
            <a:ext cx="1286245"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2980944" y="2871442"/>
            <a:ext cx="1262755"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2980944" y="3111337"/>
            <a:ext cx="1196036"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7,332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2980944" y="3351233"/>
            <a:ext cx="1030953"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6,320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1" name="Shape 39"/>
          <p:cNvSpPr/>
          <p:nvPr/>
        </p:nvSpPr>
        <p:spPr>
          <a:xfrm>
            <a:off x="2980944" y="3591128"/>
            <a:ext cx="798989"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4,898</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2980944" y="3831024"/>
            <a:ext cx="772073"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4,733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2980944" y="4070920"/>
            <a:ext cx="625097"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3" name="Shape 51"/>
          <p:cNvSpPr/>
          <p:nvPr/>
        </p:nvSpPr>
        <p:spPr>
          <a:xfrm>
            <a:off x="2980944" y="4310815"/>
            <a:ext cx="616778"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3,781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2980944" y="4550711"/>
            <a:ext cx="596224"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3,655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595571"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3,651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5" name="Shape 63"/>
          <p:cNvSpPr/>
          <p:nvPr/>
        </p:nvSpPr>
        <p:spPr>
          <a:xfrm>
            <a:off x="2980944" y="5030502"/>
            <a:ext cx="552180"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3,385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270397"/>
            <a:ext cx="530647"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3,253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2980944" y="5510293"/>
            <a:ext cx="509930"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3,126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7" name="Shape 75"/>
          <p:cNvSpPr/>
          <p:nvPr/>
        </p:nvSpPr>
        <p:spPr>
          <a:xfrm>
            <a:off x="2980944" y="5750188"/>
            <a:ext cx="500632"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3,069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1" name="Shape 79"/>
          <p:cNvSpPr/>
          <p:nvPr/>
        </p:nvSpPr>
        <p:spPr>
          <a:xfrm>
            <a:off x="8531352" y="1911860"/>
            <a:ext cx="457078"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2,802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8531352" y="2151755"/>
            <a:ext cx="444517"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2,725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31352" y="2391651"/>
            <a:ext cx="408466"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3" name="Shape 91"/>
          <p:cNvSpPr/>
          <p:nvPr/>
        </p:nvSpPr>
        <p:spPr>
          <a:xfrm>
            <a:off x="8531352" y="2631546"/>
            <a:ext cx="399331"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2,448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8531352" y="2871442"/>
            <a:ext cx="375026"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2,299</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8531352" y="3111337"/>
            <a:ext cx="369153"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2,263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5" name="Shape 103"/>
          <p:cNvSpPr/>
          <p:nvPr/>
        </p:nvSpPr>
        <p:spPr>
          <a:xfrm>
            <a:off x="8531352" y="3351233"/>
            <a:ext cx="328209"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8531352" y="3591128"/>
            <a:ext cx="325762"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1,997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31352" y="3831024"/>
            <a:ext cx="294768"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1,807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7" name="Shape 115"/>
          <p:cNvSpPr/>
          <p:nvPr/>
        </p:nvSpPr>
        <p:spPr>
          <a:xfrm>
            <a:off x="8531352" y="4070920"/>
            <a:ext cx="246646"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8531352" y="4310815"/>
            <a:ext cx="235390"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8531352" y="4550711"/>
            <a:ext cx="222666"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1,365</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4790606"/>
            <a:ext cx="212389"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1,302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201460"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270397"/>
            <a:ext cx="185147"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1,135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510293"/>
            <a:ext cx="166714"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1,022</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11,211; LR Reno is smallest at 1,022.</a:t>
            </a:r>
            <a:endParaRPr lang="en-US" sz="1600" dirty="0"/>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−6.5%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7" name="Shape 15"/>
          <p:cNvSpPr/>
          <p:nvPr/>
        </p:nvSpPr>
        <p:spPr>
          <a:xfrm>
            <a:off x="3785616" y="2151755"/>
            <a:ext cx="776748"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76745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5" name="Shape 23"/>
          <p:cNvSpPr/>
          <p:nvPr/>
        </p:nvSpPr>
        <p:spPr>
          <a:xfrm>
            <a:off x="3785616" y="2631546"/>
            <a:ext cx="58323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53085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3" name="Shape 31"/>
          <p:cNvSpPr/>
          <p:nvPr/>
        </p:nvSpPr>
        <p:spPr>
          <a:xfrm>
            <a:off x="3785616" y="3111337"/>
            <a:ext cx="48565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368446"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+22.7%</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1" name="Shape 39"/>
          <p:cNvSpPr/>
          <p:nvPr/>
        </p:nvSpPr>
        <p:spPr>
          <a:xfrm>
            <a:off x="3785616" y="3591128"/>
            <a:ext cx="3320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5" name="Shape 43"/>
          <p:cNvSpPr/>
          <p:nvPr/>
        </p:nvSpPr>
        <p:spPr>
          <a:xfrm>
            <a:off x="3785616" y="3831024"/>
            <a:ext cx="19401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9" name="Shape 47"/>
          <p:cNvSpPr/>
          <p:nvPr/>
        </p:nvSpPr>
        <p:spPr>
          <a:xfrm>
            <a:off x="3785616" y="4070920"/>
            <a:ext cx="18893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3" name="Shape 51"/>
          <p:cNvSpPr/>
          <p:nvPr/>
        </p:nvSpPr>
        <p:spPr>
          <a:xfrm>
            <a:off x="3785616" y="4310815"/>
            <a:ext cx="164792"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785616" y="4550711"/>
            <a:ext cx="14485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3785616" y="4790606"/>
            <a:ext cx="12062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11091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9" name="Shape 67"/>
          <p:cNvSpPr/>
          <p:nvPr/>
        </p:nvSpPr>
        <p:spPr>
          <a:xfrm>
            <a:off x="3785616" y="5270397"/>
            <a:ext cx="6589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3785616" y="5510293"/>
            <a:ext cx="5428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3785616" y="5750188"/>
            <a:ext cx="2176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1" name="Shape 79"/>
          <p:cNvSpPr/>
          <p:nvPr/>
        </p:nvSpPr>
        <p:spPr>
          <a:xfrm>
            <a:off x="9267349" y="1911860"/>
            <a:ext cx="68675"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9226847" y="2151755"/>
            <a:ext cx="109177"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9209036" y="2391651"/>
            <a:ext cx="126988"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157295" y="2631546"/>
            <a:ext cx="178729"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9151411" y="2871442"/>
            <a:ext cx="184613"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132099" y="3111337"/>
            <a:ext cx="203925"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5" name="Shape 103"/>
          <p:cNvSpPr/>
          <p:nvPr/>
        </p:nvSpPr>
        <p:spPr>
          <a:xfrm>
            <a:off x="9091020" y="3351233"/>
            <a:ext cx="24500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09" name="Shape 107"/>
          <p:cNvSpPr/>
          <p:nvPr/>
        </p:nvSpPr>
        <p:spPr>
          <a:xfrm>
            <a:off x="9014543" y="3591128"/>
            <a:ext cx="32148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9006870" y="3831024"/>
            <a:ext cx="329154"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967454" y="4070920"/>
            <a:ext cx="36857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1" name="Shape 119"/>
          <p:cNvSpPr/>
          <p:nvPr/>
        </p:nvSpPr>
        <p:spPr>
          <a:xfrm>
            <a:off x="8892133" y="4310815"/>
            <a:ext cx="443891"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5" name="Shape 123"/>
          <p:cNvSpPr/>
          <p:nvPr/>
        </p:nvSpPr>
        <p:spPr>
          <a:xfrm>
            <a:off x="8853570" y="4550711"/>
            <a:ext cx="48245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762298" y="4790606"/>
            <a:ext cx="57372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3" name="Shape 131"/>
          <p:cNvSpPr/>
          <p:nvPr/>
        </p:nvSpPr>
        <p:spPr>
          <a:xfrm>
            <a:off x="8694064" y="5030502"/>
            <a:ext cx="64196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26252" y="5270397"/>
            <a:ext cx="70977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83100" y="5510293"/>
            <a:ext cx="75292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grew warranty RO count, led by Hyundai Prescott at +47.9% to 2,802. 16 declined; Acura fell most at −46.4%.</a:t>
            </a:r>
            <a:endParaRPr lang="en-US" sz="1600" dirty="0"/>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1,895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2,802</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+47.9%</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2,012</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+47.8%</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3,655</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+47.3%</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2,263</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+35.9%</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11,211</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+32.7%</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2,545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1,365</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−46.4%</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1,512</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−43.7%</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13,040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7,885</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−39.5%</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1,997</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−35.3%</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1,235</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−29.7%</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157</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+98.3%</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409</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+83.0%</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214</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+71.0%</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560</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+62.2%</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283</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+56.5%</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Lexus and Hyundai St George what changed. Ask Acura, Mazda and Honda Henderson what got in the way. Ask LR Reno, LR LV and LR Henderson what they started this year.</a:t>
            </a:r>
            <a:endParaRPr lang="en-US" sz="1600" dirty="0"/>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Better Than Last Year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Jan–Sep 2026 vs Jan–Sep 2025</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2026310" cy="45720"/>
          </a:xfrm>
          <a:prstGeom prst="rect">
            <a:avLst/>
          </a:prstGeom>
          <a:solidFill>
            <a:srgbClr val="12A566"/>
          </a:solidFill>
          <a:ln/>
        </p:spPr>
      </p:sp>
      <p:sp>
        <p:nvSpPr>
          <p:cNvPr id="20" name="Text 18"/>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22" name="Text 20"/>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23" name="Text 21"/>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+46.0%</a:t>
            </a:r>
            <a:endParaRPr lang="en-US" sz="1600" dirty="0"/>
          </a:p>
        </p:txBody>
      </p:sp>
      <p:sp>
        <p:nvSpPr>
          <p:cNvPr id="24" name="Text 22"/>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25" name="Text 23"/>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+45.3%</a:t>
            </a:r>
            <a:endParaRPr lang="en-US" sz="1600" dirty="0"/>
          </a:p>
        </p:txBody>
      </p:sp>
      <p:sp>
        <p:nvSpPr>
          <p:cNvPr id="26" name="Text 24"/>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7" name="Text 25"/>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+33.8%</a:t>
            </a:r>
            <a:endParaRPr lang="en-US" sz="1600" dirty="0"/>
          </a:p>
        </p:txBody>
      </p:sp>
      <p:sp>
        <p:nvSpPr>
          <p:cNvPr id="28" name="Text 26"/>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29" name="Text 27"/>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30" name="Text 28"/>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31" name="Text 29"/>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−14.1%</a:t>
            </a:r>
            <a:endParaRPr lang="en-US" sz="1600" dirty="0"/>
          </a:p>
        </p:txBody>
      </p:sp>
      <p:sp>
        <p:nvSpPr>
          <p:cNvPr id="32" name="Text 30"/>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Text 31"/>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−20.1%</a:t>
            </a:r>
            <a:endParaRPr lang="en-US" sz="1600" dirty="0"/>
          </a:p>
        </p:txBody>
      </p:sp>
      <p:sp>
        <p:nvSpPr>
          <p:cNvPr id="34" name="Shape 32"/>
          <p:cNvSpPr/>
          <p:nvPr/>
        </p:nvSpPr>
        <p:spPr>
          <a:xfrm>
            <a:off x="3105302" y="1691640"/>
            <a:ext cx="2026310" cy="45720"/>
          </a:xfrm>
          <a:prstGeom prst="rect">
            <a:avLst/>
          </a:prstGeom>
          <a:solidFill>
            <a:srgbClr val="12A566"/>
          </a:solidFill>
          <a:ln/>
        </p:spPr>
      </p:sp>
      <p:sp>
        <p:nvSpPr>
          <p:cNvPr id="35" name="Text 33"/>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37" name="Text 35"/>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38" name="Text 36"/>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+13.6%</a:t>
            </a:r>
            <a:endParaRPr lang="en-US" sz="1600" dirty="0"/>
          </a:p>
        </p:txBody>
      </p:sp>
      <p:sp>
        <p:nvSpPr>
          <p:cNvPr id="39" name="Text 37"/>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0" name="Text 38"/>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41" name="Text 39"/>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42" name="Text 40"/>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+10.5%</a:t>
            </a:r>
            <a:endParaRPr lang="en-US" sz="1600" dirty="0"/>
          </a:p>
        </p:txBody>
      </p:sp>
      <p:sp>
        <p:nvSpPr>
          <p:cNvPr id="43" name="Text 41"/>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44" name="Text 42"/>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5" name="Text 43"/>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−11.4%</a:t>
            </a:r>
            <a:endParaRPr lang="en-US" sz="1600" dirty="0"/>
          </a:p>
        </p:txBody>
      </p:sp>
      <p:sp>
        <p:nvSpPr>
          <p:cNvPr id="47" name="Text 45"/>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Text 46"/>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49" name="Shape 47"/>
          <p:cNvSpPr/>
          <p:nvPr/>
        </p:nvSpPr>
        <p:spPr>
          <a:xfrm>
            <a:off x="5241341" y="1691640"/>
            <a:ext cx="2026310" cy="45720"/>
          </a:xfrm>
          <a:prstGeom prst="rect">
            <a:avLst/>
          </a:prstGeom>
          <a:solidFill>
            <a:srgbClr val="12A566"/>
          </a:solidFill>
          <a:ln/>
        </p:spPr>
      </p:sp>
      <p:sp>
        <p:nvSpPr>
          <p:cNvPr id="50" name="Text 48"/>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52" name="Text 50"/>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3" name="Text 51"/>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+39.1%</a:t>
            </a:r>
            <a:endParaRPr lang="en-US" sz="1600" dirty="0"/>
          </a:p>
        </p:txBody>
      </p:sp>
      <p:sp>
        <p:nvSpPr>
          <p:cNvPr id="54" name="Text 52"/>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5" name="Text 53"/>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56" name="Text 54"/>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57" name="Text 55"/>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+30.7%</a:t>
            </a:r>
            <a:endParaRPr lang="en-US" sz="1600" dirty="0"/>
          </a:p>
        </p:txBody>
      </p:sp>
      <p:sp>
        <p:nvSpPr>
          <p:cNvPr id="58" name="Text 56"/>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59" name="Text 57"/>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60" name="Text 58"/>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1" name="Text 59"/>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62" name="Text 60"/>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63" name="Text 61"/>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64" name="Shape 62"/>
          <p:cNvSpPr/>
          <p:nvPr/>
        </p:nvSpPr>
        <p:spPr>
          <a:xfrm>
            <a:off x="7377379" y="1691640"/>
            <a:ext cx="2026310" cy="45720"/>
          </a:xfrm>
          <a:prstGeom prst="rect">
            <a:avLst/>
          </a:prstGeom>
          <a:solidFill>
            <a:srgbClr val="12A566"/>
          </a:solidFill>
          <a:ln/>
        </p:spPr>
      </p:sp>
      <p:sp>
        <p:nvSpPr>
          <p:cNvPr id="65" name="Text 63"/>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67" name="Text 65"/>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Text 66"/>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69" name="Text 67"/>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70" name="Text 68"/>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71" name="Text 69"/>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72" name="Text 70"/>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73" name="Text 71"/>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4" name="Text 72"/>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−5.0%</a:t>
            </a:r>
            <a:endParaRPr lang="en-US" sz="1600" dirty="0"/>
          </a:p>
        </p:txBody>
      </p:sp>
      <p:sp>
        <p:nvSpPr>
          <p:cNvPr id="75" name="Text 73"/>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6" name="Text 74"/>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−6.9%</a:t>
            </a:r>
            <a:endParaRPr lang="en-US" sz="1600" dirty="0"/>
          </a:p>
        </p:txBody>
      </p:sp>
      <p:sp>
        <p:nvSpPr>
          <p:cNvPr id="77" name="Text 75"/>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78" name="Text 76"/>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−19.0%</a:t>
            </a:r>
            <a:endParaRPr lang="en-US" sz="1600" dirty="0"/>
          </a:p>
        </p:txBody>
      </p:sp>
      <p:sp>
        <p:nvSpPr>
          <p:cNvPr id="79" name="Shape 77"/>
          <p:cNvSpPr/>
          <p:nvPr/>
        </p:nvSpPr>
        <p:spPr>
          <a:xfrm>
            <a:off x="9513418" y="1691640"/>
            <a:ext cx="2026310" cy="45720"/>
          </a:xfrm>
          <a:prstGeom prst="rect">
            <a:avLst/>
          </a:prstGeom>
          <a:solidFill>
            <a:srgbClr val="12A566"/>
          </a:solidFill>
          <a:ln/>
        </p:spPr>
      </p:sp>
      <p:sp>
        <p:nvSpPr>
          <p:cNvPr id="80" name="Text 78"/>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81" name="Text 79"/>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82" name="Text 80"/>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3" name="Text 81"/>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84" name="Text 82"/>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Nissan</a:t>
            </a:r>
            <a:endParaRPr lang="en-US" sz="1300" dirty="0"/>
          </a:p>
        </p:txBody>
      </p:sp>
      <p:sp>
        <p:nvSpPr>
          <p:cNvPr id="85" name="Text 83"/>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86" name="Text 84"/>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87" name="Text 85"/>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88" name="Text 86"/>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9" name="Text 87"/>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90" name="Text 88"/>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Spokane</a:t>
            </a:r>
            <a:endParaRPr lang="en-US" sz="1300" dirty="0"/>
          </a:p>
        </p:txBody>
      </p:sp>
      <p:sp>
        <p:nvSpPr>
          <p:cNvPr id="91" name="Text 89"/>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92" name="Text 90"/>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Henderson</a:t>
            </a:r>
            <a:endParaRPr lang="en-US" sz="1300" dirty="0"/>
          </a:p>
        </p:txBody>
      </p:sp>
      <p:sp>
        <p:nvSpPr>
          <p:cNvPr id="93" name="Text 91"/>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
        <p:nvSpPr>
          <p:cNvPr id="95" name="Shape 92"/>
          <p:cNvSpPr/>
          <p:nvPr/>
        </p:nvSpPr>
        <p:spPr>
          <a:xfrm>
            <a:off x="457200" y="6126480"/>
            <a:ext cx="11274552" cy="615696"/>
          </a:xfrm>
          <a:prstGeom prst="rect">
            <a:avLst/>
          </a:prstGeom>
          <a:solidFill>
            <a:srgbClr val="EDF4FA"/>
          </a:solidFill>
          <a:ln/>
        </p:spPr>
      </p:sp>
      <p:sp>
        <p:nvSpPr>
          <p:cNvPr id="96" name="Text 9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Most top-three finishes: Lincoln, Subaru Prescott and Subaru St George (2 of 5). Most bottom-three: VW St George (3 of 5).</a:t>
            </a:r>
            <a:endParaRPr lang="en-US" sz="1600" dirty="0"/>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Q3 2026 vs Q1 2026 (gross and ROs per month). Group change = the season.</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2026310" cy="45720"/>
          </a:xfrm>
          <a:prstGeom prst="rect">
            <a:avLst/>
          </a:prstGeom>
          <a:solidFill>
            <a:srgbClr val="12A566"/>
          </a:solidFill>
          <a:ln/>
        </p:spPr>
      </p:sp>
      <p:sp>
        <p:nvSpPr>
          <p:cNvPr id="20" name="Text 18"/>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22" name="Text 20"/>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23" name="Text 21"/>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24" name="Text 22"/>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25" name="Text 23"/>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6" name="Text 24"/>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27" name="Text 25"/>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28" name="Text 26"/>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9" name="Text 27"/>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−0.9%</a:t>
            </a:r>
            <a:endParaRPr lang="en-US" sz="1600" dirty="0"/>
          </a:p>
        </p:txBody>
      </p:sp>
      <p:sp>
        <p:nvSpPr>
          <p:cNvPr id="30" name="Text 28"/>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31" name="Text 29"/>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32" name="Text 30"/>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33" name="Text 31"/>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−10.7%</a:t>
            </a:r>
            <a:endParaRPr lang="en-US" sz="1600" dirty="0"/>
          </a:p>
        </p:txBody>
      </p:sp>
      <p:sp>
        <p:nvSpPr>
          <p:cNvPr id="34" name="Shape 32"/>
          <p:cNvSpPr/>
          <p:nvPr/>
        </p:nvSpPr>
        <p:spPr>
          <a:xfrm>
            <a:off x="3105302" y="1691640"/>
            <a:ext cx="2026310" cy="45720"/>
          </a:xfrm>
          <a:prstGeom prst="rect">
            <a:avLst/>
          </a:prstGeom>
          <a:solidFill>
            <a:srgbClr val="12A566"/>
          </a:solidFill>
          <a:ln/>
        </p:spPr>
      </p:sp>
      <p:sp>
        <p:nvSpPr>
          <p:cNvPr id="35" name="Text 33"/>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ROS</a:t>
            </a:r>
            <a:endParaRPr lang="en-US" sz="1300" dirty="0"/>
          </a:p>
        </p:txBody>
      </p:sp>
      <p:sp>
        <p:nvSpPr>
          <p:cNvPr id="36" name="Text 34"/>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+7.5%</a:t>
            </a:r>
            <a:endParaRPr lang="en-US" sz="1300" dirty="0"/>
          </a:p>
        </p:txBody>
      </p:sp>
      <p:sp>
        <p:nvSpPr>
          <p:cNvPr id="37" name="Text 35"/>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38" name="Text 36"/>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39" name="Text 37"/>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40" name="Text 38"/>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41" name="Text 39"/>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42" name="Text 40"/>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43" name="Text 41"/>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4" name="Text 42"/>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45" name="Text 43"/>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47" name="Text 45"/>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48" name="Text 46"/>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9" name="Shape 47"/>
          <p:cNvSpPr/>
          <p:nvPr/>
        </p:nvSpPr>
        <p:spPr>
          <a:xfrm>
            <a:off x="5241341" y="1691640"/>
            <a:ext cx="2026310" cy="45720"/>
          </a:xfrm>
          <a:prstGeom prst="rect">
            <a:avLst/>
          </a:prstGeom>
          <a:solidFill>
            <a:srgbClr val="12A566"/>
          </a:solidFill>
          <a:ln/>
        </p:spPr>
      </p:sp>
      <p:sp>
        <p:nvSpPr>
          <p:cNvPr id="50" name="Text 48"/>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−1.8%</a:t>
            </a:r>
            <a:endParaRPr lang="en-US" sz="1300" dirty="0"/>
          </a:p>
        </p:txBody>
      </p:sp>
      <p:sp>
        <p:nvSpPr>
          <p:cNvPr id="52" name="Text 50"/>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53" name="Text 51"/>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54" name="Text 52"/>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5" name="Text 53"/>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56" name="Text 54"/>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7" name="Text 55"/>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58" name="Text 56"/>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59" name="Text 57"/>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−9.9%</a:t>
            </a:r>
            <a:endParaRPr lang="en-US" sz="1600" dirty="0"/>
          </a:p>
        </p:txBody>
      </p:sp>
      <p:sp>
        <p:nvSpPr>
          <p:cNvPr id="60" name="Text 58"/>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Henderson</a:t>
            </a:r>
            <a:endParaRPr lang="en-US" sz="1300" dirty="0"/>
          </a:p>
        </p:txBody>
      </p:sp>
      <p:sp>
        <p:nvSpPr>
          <p:cNvPr id="61" name="Text 59"/>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62" name="Text 60"/>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63" name="Text 61"/>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−14.0%</a:t>
            </a:r>
            <a:endParaRPr lang="en-US" sz="1600" dirty="0"/>
          </a:p>
        </p:txBody>
      </p:sp>
      <p:sp>
        <p:nvSpPr>
          <p:cNvPr id="64" name="Shape 62"/>
          <p:cNvSpPr/>
          <p:nvPr/>
        </p:nvSpPr>
        <p:spPr>
          <a:xfrm>
            <a:off x="7377379" y="1691640"/>
            <a:ext cx="2026310" cy="45720"/>
          </a:xfrm>
          <a:prstGeom prst="rect">
            <a:avLst/>
          </a:prstGeom>
          <a:solidFill>
            <a:srgbClr val="12A566"/>
          </a:solidFill>
          <a:ln/>
        </p:spPr>
      </p:sp>
      <p:sp>
        <p:nvSpPr>
          <p:cNvPr id="65" name="Text 63"/>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+1.1%</a:t>
            </a:r>
            <a:endParaRPr lang="en-US" sz="1300" dirty="0"/>
          </a:p>
        </p:txBody>
      </p:sp>
      <p:sp>
        <p:nvSpPr>
          <p:cNvPr id="67" name="Text 65"/>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8" name="Text 66"/>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69" name="Text 67"/>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70" name="Text 68"/>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71" name="Text 69"/>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72" name="Text 70"/>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3" name="Text 71"/>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4" name="Text 72"/>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75" name="Text 73"/>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76" name="Text 74"/>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−4.7%</a:t>
            </a:r>
            <a:endParaRPr lang="en-US" sz="1600" dirty="0"/>
          </a:p>
        </p:txBody>
      </p:sp>
      <p:sp>
        <p:nvSpPr>
          <p:cNvPr id="77" name="Text 75"/>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8" name="Text 76"/>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79" name="Shape 77"/>
          <p:cNvSpPr/>
          <p:nvPr/>
        </p:nvSpPr>
        <p:spPr>
          <a:xfrm>
            <a:off x="9513418" y="1691640"/>
            <a:ext cx="2026310" cy="45720"/>
          </a:xfrm>
          <a:prstGeom prst="rect">
            <a:avLst/>
          </a:prstGeom>
          <a:solidFill>
            <a:srgbClr val="12A566"/>
          </a:solidFill>
          <a:ln/>
        </p:spPr>
      </p:sp>
      <p:sp>
        <p:nvSpPr>
          <p:cNvPr id="80" name="Text 78"/>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81" name="Text 79"/>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0.0 pts</a:t>
            </a:r>
            <a:endParaRPr lang="en-US" sz="1300" dirty="0"/>
          </a:p>
        </p:txBody>
      </p:sp>
      <p:sp>
        <p:nvSpPr>
          <p:cNvPr id="82" name="Text 80"/>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3" name="Text 81"/>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84" name="Text 82"/>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85" name="Text 83"/>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86" name="Text 84"/>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87" name="Text 85"/>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88" name="Text 86"/>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89" name="Text 87"/>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−3.1 pts</a:t>
            </a:r>
            <a:endParaRPr lang="en-US" sz="1600" dirty="0"/>
          </a:p>
        </p:txBody>
      </p:sp>
      <p:sp>
        <p:nvSpPr>
          <p:cNvPr id="90" name="Text 88"/>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91" name="Text 89"/>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−3.8 pts</a:t>
            </a:r>
            <a:endParaRPr lang="en-US" sz="1600" dirty="0"/>
          </a:p>
        </p:txBody>
      </p:sp>
      <p:sp>
        <p:nvSpPr>
          <p:cNvPr id="92" name="Text 90"/>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93" name="Text 91"/>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−4.2 pts</a:t>
            </a:r>
            <a:endParaRPr lang="en-US" sz="1600" dirty="0"/>
          </a:p>
        </p:txBody>
      </p:sp>
      <p:sp>
        <p:nvSpPr>
          <p:cNvPr id="95" name="Shape 92"/>
          <p:cNvSpPr/>
          <p:nvPr/>
        </p:nvSpPr>
        <p:spPr>
          <a:xfrm>
            <a:off x="457200" y="6126480"/>
            <a:ext cx="11274552" cy="615696"/>
          </a:xfrm>
          <a:prstGeom prst="rect">
            <a:avLst/>
          </a:prstGeom>
          <a:solidFill>
            <a:srgbClr val="EDF4FA"/>
          </a:solidFill>
          <a:ln/>
        </p:spPr>
      </p:sp>
      <p:sp>
        <p:nvSpPr>
          <p:cNvPr id="96" name="Text 9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Most top-three finishes: Mazda, CDJR Post Falls and VW St George (2 of 5). Most bottom-three: Honda Henderson and Cadillac (3 of 5).</a:t>
            </a:r>
            <a:endParaRPr lang="en-US" sz="1600" dirty="0"/>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Two Ways to Read Improvement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Better than last year · Jan–Sep 2026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five measures</a:t>
            </a:r>
            <a:endParaRPr lang="en-US" sz="1400" dirty="0"/>
          </a:p>
        </p:txBody>
      </p:sp>
      <p:sp>
        <p:nvSpPr>
          <p:cNvPr id="9" name="Shape 7"/>
          <p:cNvSpPr/>
          <p:nvPr/>
        </p:nvSpPr>
        <p:spPr>
          <a:xfrm>
            <a:off x="621792" y="2176272"/>
            <a:ext cx="5230368" cy="585216"/>
          </a:xfrm>
          <a:prstGeom prst="rect">
            <a:avLst/>
          </a:prstGeom>
          <a:solidFill>
            <a:srgbClr val="F7F7F7"/>
          </a:solidFill>
          <a:ln/>
        </p:spPr>
      </p:sp>
      <p:sp>
        <p:nvSpPr>
          <p:cNvPr id="10" name="Text 8"/>
          <p:cNvSpPr txBox="1"/>
          <p:nvPr/>
        </p:nvSpPr>
        <p:spPr>
          <a:xfrm>
            <a:off x="731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1" name="Text 9"/>
          <p:cNvSpPr txBox="1"/>
          <p:nvPr/>
        </p:nvSpPr>
        <p:spPr>
          <a:xfrm>
            <a:off x="731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 parts GP%</a:t>
            </a:r>
            <a:endParaRPr lang="en-US" sz="1300" dirty="0"/>
          </a:p>
        </p:txBody>
      </p:sp>
      <p:sp>
        <p:nvSpPr>
          <p:cNvPr id="12" name="Shape 10"/>
          <p:cNvSpPr/>
          <p:nvPr/>
        </p:nvSpPr>
        <p:spPr>
          <a:xfrm>
            <a:off x="4343400" y="2351837"/>
            <a:ext cx="960120" cy="234086"/>
          </a:xfrm>
          <a:prstGeom prst="rect">
            <a:avLst/>
          </a:prstGeom>
          <a:solidFill>
            <a:srgbClr val="12A566"/>
          </a:solidFill>
          <a:ln/>
        </p:spPr>
      </p:sp>
      <p:sp>
        <p:nvSpPr>
          <p:cNvPr id="13" name="Text 11"/>
          <p:cNvSpPr txBox="1"/>
          <p:nvPr/>
        </p:nvSpPr>
        <p:spPr>
          <a:xfrm>
            <a:off x="5330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14" name="Text 12"/>
          <p:cNvSpPr txBox="1"/>
          <p:nvPr/>
        </p:nvSpPr>
        <p:spPr>
          <a:xfrm>
            <a:off x="731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5" name="Text 13"/>
          <p:cNvSpPr txBox="1"/>
          <p:nvPr/>
        </p:nvSpPr>
        <p:spPr>
          <a:xfrm>
            <a:off x="731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GP%</a:t>
            </a:r>
            <a:endParaRPr lang="en-US" sz="1300" dirty="0"/>
          </a:p>
        </p:txBody>
      </p:sp>
      <p:sp>
        <p:nvSpPr>
          <p:cNvPr id="16" name="Shape 14"/>
          <p:cNvSpPr/>
          <p:nvPr/>
        </p:nvSpPr>
        <p:spPr>
          <a:xfrm>
            <a:off x="4343400" y="2937053"/>
            <a:ext cx="720090" cy="234086"/>
          </a:xfrm>
          <a:prstGeom prst="rect">
            <a:avLst/>
          </a:prstGeom>
          <a:solidFill>
            <a:srgbClr val="12A566"/>
          </a:solidFill>
          <a:ln/>
        </p:spPr>
      </p:sp>
      <p:sp>
        <p:nvSpPr>
          <p:cNvPr id="17" name="Text 15"/>
          <p:cNvSpPr txBox="1"/>
          <p:nvPr/>
        </p:nvSpPr>
        <p:spPr>
          <a:xfrm>
            <a:off x="5330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18" name="Shape 16"/>
          <p:cNvSpPr/>
          <p:nvPr/>
        </p:nvSpPr>
        <p:spPr>
          <a:xfrm>
            <a:off x="621792" y="3346704"/>
            <a:ext cx="5230368" cy="585216"/>
          </a:xfrm>
          <a:prstGeom prst="rect">
            <a:avLst/>
          </a:prstGeom>
          <a:solidFill>
            <a:srgbClr val="F7F7F7"/>
          </a:solidFill>
          <a:ln/>
        </p:spPr>
      </p:sp>
      <p:sp>
        <p:nvSpPr>
          <p:cNvPr id="19" name="Text 17"/>
          <p:cNvSpPr txBox="1"/>
          <p:nvPr/>
        </p:nvSpPr>
        <p:spPr>
          <a:xfrm>
            <a:off x="731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0" name="Text 18"/>
          <p:cNvSpPr txBox="1"/>
          <p:nvPr/>
        </p:nvSpPr>
        <p:spPr>
          <a:xfrm>
            <a:off x="731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21" name="Shape 19"/>
          <p:cNvSpPr/>
          <p:nvPr/>
        </p:nvSpPr>
        <p:spPr>
          <a:xfrm>
            <a:off x="4343400" y="3522269"/>
            <a:ext cx="720090" cy="234086"/>
          </a:xfrm>
          <a:prstGeom prst="rect">
            <a:avLst/>
          </a:prstGeom>
          <a:solidFill>
            <a:srgbClr val="12A566"/>
          </a:solidFill>
          <a:ln/>
        </p:spPr>
      </p:sp>
      <p:sp>
        <p:nvSpPr>
          <p:cNvPr id="22" name="Text 20"/>
          <p:cNvSpPr txBox="1"/>
          <p:nvPr/>
        </p:nvSpPr>
        <p:spPr>
          <a:xfrm>
            <a:off x="5330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23" name="Text 21"/>
          <p:cNvSpPr txBox="1"/>
          <p:nvPr/>
        </p:nvSpPr>
        <p:spPr>
          <a:xfrm>
            <a:off x="731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4" name="Text 22"/>
          <p:cNvSpPr txBox="1"/>
          <p:nvPr/>
        </p:nvSpPr>
        <p:spPr>
          <a:xfrm>
            <a:off x="731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25" name="Shape 23"/>
          <p:cNvSpPr/>
          <p:nvPr/>
        </p:nvSpPr>
        <p:spPr>
          <a:xfrm>
            <a:off x="4343400" y="4107485"/>
            <a:ext cx="480060" cy="234086"/>
          </a:xfrm>
          <a:prstGeom prst="rect">
            <a:avLst/>
          </a:prstGeom>
          <a:solidFill>
            <a:srgbClr val="12A566"/>
          </a:solidFill>
          <a:ln/>
        </p:spPr>
      </p:sp>
      <p:sp>
        <p:nvSpPr>
          <p:cNvPr id="26" name="Text 24"/>
          <p:cNvSpPr txBox="1"/>
          <p:nvPr/>
        </p:nvSpPr>
        <p:spPr>
          <a:xfrm>
            <a:off x="5330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27" name="Shape 25"/>
          <p:cNvSpPr/>
          <p:nvPr/>
        </p:nvSpPr>
        <p:spPr>
          <a:xfrm>
            <a:off x="621792" y="4517136"/>
            <a:ext cx="5230368" cy="585216"/>
          </a:xfrm>
          <a:prstGeom prst="rect">
            <a:avLst/>
          </a:prstGeom>
          <a:solidFill>
            <a:srgbClr val="F7F7F7"/>
          </a:solidFill>
          <a:ln/>
        </p:spPr>
      </p:sp>
      <p:sp>
        <p:nvSpPr>
          <p:cNvPr id="28" name="Text 26"/>
          <p:cNvSpPr txBox="1"/>
          <p:nvPr/>
        </p:nvSpPr>
        <p:spPr>
          <a:xfrm>
            <a:off x="731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731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hours/RO</a:t>
            </a:r>
            <a:endParaRPr lang="en-US" sz="1300" dirty="0"/>
          </a:p>
        </p:txBody>
      </p:sp>
      <p:sp>
        <p:nvSpPr>
          <p:cNvPr id="30" name="Shape 28"/>
          <p:cNvSpPr/>
          <p:nvPr/>
        </p:nvSpPr>
        <p:spPr>
          <a:xfrm>
            <a:off x="4343400" y="4692701"/>
            <a:ext cx="480060" cy="234086"/>
          </a:xfrm>
          <a:prstGeom prst="rect">
            <a:avLst/>
          </a:prstGeom>
          <a:solidFill>
            <a:srgbClr val="12A566"/>
          </a:solidFill>
          <a:ln/>
        </p:spPr>
      </p:sp>
      <p:sp>
        <p:nvSpPr>
          <p:cNvPr id="31" name="Text 29"/>
          <p:cNvSpPr txBox="1"/>
          <p:nvPr/>
        </p:nvSpPr>
        <p:spPr>
          <a:xfrm>
            <a:off x="5330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2" name="Text 30"/>
          <p:cNvSpPr txBox="1"/>
          <p:nvPr/>
        </p:nvSpPr>
        <p:spPr>
          <a:xfrm>
            <a:off x="731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33" name="Text 31"/>
          <p:cNvSpPr txBox="1"/>
          <p:nvPr/>
        </p:nvSpPr>
        <p:spPr>
          <a:xfrm>
            <a:off x="731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parts GP%</a:t>
            </a:r>
            <a:endParaRPr lang="en-US" sz="1300" dirty="0"/>
          </a:p>
        </p:txBody>
      </p:sp>
      <p:sp>
        <p:nvSpPr>
          <p:cNvPr id="34" name="Shape 32"/>
          <p:cNvSpPr/>
          <p:nvPr/>
        </p:nvSpPr>
        <p:spPr>
          <a:xfrm>
            <a:off x="4343400" y="5277917"/>
            <a:ext cx="480060" cy="234086"/>
          </a:xfrm>
          <a:prstGeom prst="rect">
            <a:avLst/>
          </a:prstGeom>
          <a:solidFill>
            <a:srgbClr val="12A566"/>
          </a:solidFill>
          <a:ln/>
        </p:spPr>
      </p:sp>
      <p:sp>
        <p:nvSpPr>
          <p:cNvPr id="35" name="Text 33"/>
          <p:cNvSpPr txBox="1"/>
          <p:nvPr/>
        </p:nvSpPr>
        <p:spPr>
          <a:xfrm>
            <a:off x="5330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6" name="Shape 34"/>
          <p:cNvSpPr/>
          <p:nvPr/>
        </p:nvSpPr>
        <p:spPr>
          <a:xfrm>
            <a:off x="6172200" y="1207008"/>
            <a:ext cx="5559552" cy="4645152"/>
          </a:xfrm>
          <a:prstGeom prst="rect">
            <a:avLst/>
          </a:prstGeom>
          <a:solidFill>
            <a:srgbClr val="FFFFFF"/>
          </a:solidFill>
          <a:ln/>
        </p:spPr>
      </p:sp>
      <p:sp>
        <p:nvSpPr>
          <p:cNvPr id="37" name="Text 35"/>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Moving now · Q3 vs Q1, this year</a:t>
            </a:r>
            <a:endParaRPr lang="en-US" sz="1500" dirty="0"/>
          </a:p>
        </p:txBody>
      </p:sp>
      <p:sp>
        <p:nvSpPr>
          <p:cNvPr id="38" name="Shape 36"/>
          <p:cNvSpPr/>
          <p:nvPr/>
        </p:nvSpPr>
        <p:spPr>
          <a:xfrm>
            <a:off x="6400800" y="1691640"/>
            <a:ext cx="5102352" cy="10973"/>
          </a:xfrm>
          <a:prstGeom prst="rect">
            <a:avLst/>
          </a:prstGeom>
          <a:solidFill>
            <a:srgbClr val="1A1A1A"/>
          </a:solidFill>
          <a:ln/>
        </p:spPr>
      </p:sp>
      <p:sp>
        <p:nvSpPr>
          <p:cNvPr id="39" name="Text 37"/>
          <p:cNvSpPr txBox="1"/>
          <p:nvPr/>
        </p:nvSpPr>
        <p:spPr>
          <a:xfrm>
            <a:off x="6400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five measures</a:t>
            </a:r>
            <a:endParaRPr lang="en-US" sz="1400" dirty="0"/>
          </a:p>
        </p:txBody>
      </p:sp>
      <p:sp>
        <p:nvSpPr>
          <p:cNvPr id="40" name="Shape 38"/>
          <p:cNvSpPr/>
          <p:nvPr/>
        </p:nvSpPr>
        <p:spPr>
          <a:xfrm>
            <a:off x="6336792" y="2176272"/>
            <a:ext cx="5230368" cy="585216"/>
          </a:xfrm>
          <a:prstGeom prst="rect">
            <a:avLst/>
          </a:prstGeom>
          <a:solidFill>
            <a:srgbClr val="F7F7F7"/>
          </a:solidFill>
          <a:ln/>
        </p:spPr>
      </p:sp>
      <p:sp>
        <p:nvSpPr>
          <p:cNvPr id="41" name="Text 39"/>
          <p:cNvSpPr txBox="1"/>
          <p:nvPr/>
        </p:nvSpPr>
        <p:spPr>
          <a:xfrm>
            <a:off x="6446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2" name="Text 40"/>
          <p:cNvSpPr txBox="1"/>
          <p:nvPr/>
        </p:nvSpPr>
        <p:spPr>
          <a:xfrm>
            <a:off x="6446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43" name="Shape 41"/>
          <p:cNvSpPr/>
          <p:nvPr/>
        </p:nvSpPr>
        <p:spPr>
          <a:xfrm>
            <a:off x="10058400" y="2351837"/>
            <a:ext cx="960120" cy="234086"/>
          </a:xfrm>
          <a:prstGeom prst="rect">
            <a:avLst/>
          </a:prstGeom>
          <a:solidFill>
            <a:srgbClr val="12A566"/>
          </a:solidFill>
          <a:ln/>
        </p:spPr>
      </p:sp>
      <p:sp>
        <p:nvSpPr>
          <p:cNvPr id="44" name="Text 42"/>
          <p:cNvSpPr txBox="1"/>
          <p:nvPr/>
        </p:nvSpPr>
        <p:spPr>
          <a:xfrm>
            <a:off x="11045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5" name="Text 43"/>
          <p:cNvSpPr txBox="1"/>
          <p:nvPr/>
        </p:nvSpPr>
        <p:spPr>
          <a:xfrm>
            <a:off x="6446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44"/>
          <p:cNvSpPr txBox="1"/>
          <p:nvPr/>
        </p:nvSpPr>
        <p:spPr>
          <a:xfrm>
            <a:off x="6446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a:t>
            </a:r>
            <a:endParaRPr lang="en-US" sz="1300" dirty="0"/>
          </a:p>
        </p:txBody>
      </p:sp>
      <p:sp>
        <p:nvSpPr>
          <p:cNvPr id="47" name="Shape 45"/>
          <p:cNvSpPr/>
          <p:nvPr/>
        </p:nvSpPr>
        <p:spPr>
          <a:xfrm>
            <a:off x="10058400" y="2937053"/>
            <a:ext cx="960120" cy="234086"/>
          </a:xfrm>
          <a:prstGeom prst="rect">
            <a:avLst/>
          </a:prstGeom>
          <a:solidFill>
            <a:srgbClr val="12A566"/>
          </a:solidFill>
          <a:ln/>
        </p:spPr>
      </p:sp>
      <p:sp>
        <p:nvSpPr>
          <p:cNvPr id="48" name="Text 46"/>
          <p:cNvSpPr txBox="1"/>
          <p:nvPr/>
        </p:nvSpPr>
        <p:spPr>
          <a:xfrm>
            <a:off x="11045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9" name="Shape 47"/>
          <p:cNvSpPr/>
          <p:nvPr/>
        </p:nvSpPr>
        <p:spPr>
          <a:xfrm>
            <a:off x="6336792" y="3346704"/>
            <a:ext cx="5230368" cy="585216"/>
          </a:xfrm>
          <a:prstGeom prst="rect">
            <a:avLst/>
          </a:prstGeom>
          <a:solidFill>
            <a:srgbClr val="F7F7F7"/>
          </a:solidFill>
          <a:ln/>
        </p:spPr>
      </p:sp>
      <p:sp>
        <p:nvSpPr>
          <p:cNvPr id="50" name="Text 48"/>
          <p:cNvSpPr txBox="1"/>
          <p:nvPr/>
        </p:nvSpPr>
        <p:spPr>
          <a:xfrm>
            <a:off x="6446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51" name="Text 49"/>
          <p:cNvSpPr txBox="1"/>
          <p:nvPr/>
        </p:nvSpPr>
        <p:spPr>
          <a:xfrm>
            <a:off x="6446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GP%</a:t>
            </a:r>
            <a:endParaRPr lang="en-US" sz="1300" dirty="0"/>
          </a:p>
        </p:txBody>
      </p:sp>
      <p:sp>
        <p:nvSpPr>
          <p:cNvPr id="52" name="Shape 50"/>
          <p:cNvSpPr/>
          <p:nvPr/>
        </p:nvSpPr>
        <p:spPr>
          <a:xfrm>
            <a:off x="10058400" y="3522269"/>
            <a:ext cx="960120" cy="234086"/>
          </a:xfrm>
          <a:prstGeom prst="rect">
            <a:avLst/>
          </a:prstGeom>
          <a:solidFill>
            <a:srgbClr val="12A566"/>
          </a:solidFill>
          <a:ln/>
        </p:spPr>
      </p:sp>
      <p:sp>
        <p:nvSpPr>
          <p:cNvPr id="53" name="Text 51"/>
          <p:cNvSpPr txBox="1"/>
          <p:nvPr/>
        </p:nvSpPr>
        <p:spPr>
          <a:xfrm>
            <a:off x="11045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446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5" name="Text 53"/>
          <p:cNvSpPr txBox="1"/>
          <p:nvPr/>
        </p:nvSpPr>
        <p:spPr>
          <a:xfrm>
            <a:off x="6446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a:t>
            </a:r>
            <a:endParaRPr lang="en-US" sz="1300" dirty="0"/>
          </a:p>
        </p:txBody>
      </p:sp>
      <p:sp>
        <p:nvSpPr>
          <p:cNvPr id="56" name="Shape 54"/>
          <p:cNvSpPr/>
          <p:nvPr/>
        </p:nvSpPr>
        <p:spPr>
          <a:xfrm>
            <a:off x="10058400" y="4107485"/>
            <a:ext cx="640080" cy="234086"/>
          </a:xfrm>
          <a:prstGeom prst="rect">
            <a:avLst/>
          </a:prstGeom>
          <a:solidFill>
            <a:srgbClr val="12A566"/>
          </a:solidFill>
          <a:ln/>
        </p:spPr>
      </p:sp>
      <p:sp>
        <p:nvSpPr>
          <p:cNvPr id="57" name="Text 55"/>
          <p:cNvSpPr txBox="1"/>
          <p:nvPr/>
        </p:nvSpPr>
        <p:spPr>
          <a:xfrm>
            <a:off x="11045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58" name="Shape 56"/>
          <p:cNvSpPr/>
          <p:nvPr/>
        </p:nvSpPr>
        <p:spPr>
          <a:xfrm>
            <a:off x="6336792" y="4517136"/>
            <a:ext cx="5230368" cy="585216"/>
          </a:xfrm>
          <a:prstGeom prst="rect">
            <a:avLst/>
          </a:prstGeom>
          <a:solidFill>
            <a:srgbClr val="F7F7F7"/>
          </a:solidFill>
          <a:ln/>
        </p:spPr>
      </p:sp>
      <p:sp>
        <p:nvSpPr>
          <p:cNvPr id="59" name="Text 57"/>
          <p:cNvSpPr txBox="1"/>
          <p:nvPr/>
        </p:nvSpPr>
        <p:spPr>
          <a:xfrm>
            <a:off x="6446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60" name="Text 58"/>
          <p:cNvSpPr txBox="1"/>
          <p:nvPr/>
        </p:nvSpPr>
        <p:spPr>
          <a:xfrm>
            <a:off x="6446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61" name="Shape 59"/>
          <p:cNvSpPr/>
          <p:nvPr/>
        </p:nvSpPr>
        <p:spPr>
          <a:xfrm>
            <a:off x="10058400" y="4692701"/>
            <a:ext cx="640080" cy="234086"/>
          </a:xfrm>
          <a:prstGeom prst="rect">
            <a:avLst/>
          </a:prstGeom>
          <a:solidFill>
            <a:srgbClr val="12A566"/>
          </a:solidFill>
          <a:ln/>
        </p:spPr>
      </p:sp>
      <p:sp>
        <p:nvSpPr>
          <p:cNvPr id="62" name="Text 60"/>
          <p:cNvSpPr txBox="1"/>
          <p:nvPr/>
        </p:nvSpPr>
        <p:spPr>
          <a:xfrm>
            <a:off x="11045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3" name="Text 61"/>
          <p:cNvSpPr txBox="1"/>
          <p:nvPr/>
        </p:nvSpPr>
        <p:spPr>
          <a:xfrm>
            <a:off x="6446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4" name="Text 62"/>
          <p:cNvSpPr txBox="1"/>
          <p:nvPr/>
        </p:nvSpPr>
        <p:spPr>
          <a:xfrm>
            <a:off x="6446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ELR, parts GP%</a:t>
            </a:r>
            <a:endParaRPr lang="en-US" sz="1300" dirty="0"/>
          </a:p>
        </p:txBody>
      </p:sp>
      <p:sp>
        <p:nvSpPr>
          <p:cNvPr id="65" name="Shape 63"/>
          <p:cNvSpPr/>
          <p:nvPr/>
        </p:nvSpPr>
        <p:spPr>
          <a:xfrm>
            <a:off x="10058400" y="5277917"/>
            <a:ext cx="640080" cy="234086"/>
          </a:xfrm>
          <a:prstGeom prst="rect">
            <a:avLst/>
          </a:prstGeom>
          <a:solidFill>
            <a:srgbClr val="12A566"/>
          </a:solidFill>
          <a:ln/>
        </p:spPr>
      </p:sp>
      <p:sp>
        <p:nvSpPr>
          <p:cNvPr id="66" name="Text 64"/>
          <p:cNvSpPr txBox="1"/>
          <p:nvPr/>
        </p:nvSpPr>
        <p:spPr>
          <a:xfrm>
            <a:off x="11045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7" name="Shape 65"/>
          <p:cNvSpPr/>
          <p:nvPr/>
        </p:nvSpPr>
        <p:spPr>
          <a:xfrm>
            <a:off x="457200" y="6126480"/>
            <a:ext cx="11274552" cy="371856"/>
          </a:xfrm>
          <a:prstGeom prst="rect">
            <a:avLst/>
          </a:prstGeom>
          <a:solidFill>
            <a:srgbClr val="E6F6EE"/>
          </a:solidFill>
          <a:ln/>
        </p:spPr>
      </p:sp>
      <p:sp>
        <p:nvSpPr>
          <p:cNvPr id="68" name="Text 6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Last year: Subaru Prescott leads. Moving now: Three stores tie. Eight stores make both views.</a:t>
            </a:r>
            <a:endParaRPr lang="en-US" sz="1600" dirty="0"/>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Changed?</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49808"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7" name="Text 5"/>
          <p:cNvSpPr txBox="1"/>
          <p:nvPr/>
        </p:nvSpPr>
        <p:spPr>
          <a:xfrm>
            <a:off x="352044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Moved on</a:t>
            </a:r>
            <a:endParaRPr lang="en-US" sz="1400" dirty="0"/>
          </a:p>
        </p:txBody>
      </p:sp>
      <p:sp>
        <p:nvSpPr>
          <p:cNvPr id="8" name="Text 6"/>
          <p:cNvSpPr txBox="1"/>
          <p:nvPr/>
        </p:nvSpPr>
        <p:spPr>
          <a:xfrm>
            <a:off x="56692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9" name="Text 7"/>
          <p:cNvSpPr txBox="1"/>
          <p:nvPr/>
        </p:nvSpPr>
        <p:spPr>
          <a:xfrm>
            <a:off x="77266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93268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21792" y="1773936"/>
            <a:ext cx="10945368" cy="548640"/>
          </a:xfrm>
          <a:prstGeom prst="rect">
            <a:avLst/>
          </a:prstGeom>
          <a:solidFill>
            <a:srgbClr val="F7F7F7"/>
          </a:solidFill>
          <a:ln/>
        </p:spPr>
      </p:sp>
      <p:sp>
        <p:nvSpPr>
          <p:cNvPr id="12" name="Text 10"/>
          <p:cNvSpPr txBox="1"/>
          <p:nvPr/>
        </p:nvSpPr>
        <p:spPr>
          <a:xfrm>
            <a:off x="749808" y="17739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13" name="Text 11"/>
          <p:cNvSpPr txBox="1"/>
          <p:nvPr/>
        </p:nvSpPr>
        <p:spPr>
          <a:xfrm>
            <a:off x="3520440" y="17739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Gross per Month</a:t>
            </a:r>
            <a:endParaRPr lang="en-US" sz="1500" dirty="0"/>
          </a:p>
        </p:txBody>
      </p:sp>
      <p:sp>
        <p:nvSpPr>
          <p:cNvPr id="14" name="Text 12"/>
          <p:cNvSpPr txBox="1"/>
          <p:nvPr/>
        </p:nvSpPr>
        <p:spPr>
          <a:xfrm>
            <a:off x="5669280" y="17739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$155K → $209K</a:t>
            </a:r>
            <a:endParaRPr lang="en-US" sz="1500" dirty="0"/>
          </a:p>
        </p:txBody>
      </p:sp>
      <p:sp>
        <p:nvSpPr>
          <p:cNvPr id="15" name="Text 13"/>
          <p:cNvSpPr txBox="1"/>
          <p:nvPr/>
        </p:nvSpPr>
        <p:spPr>
          <a:xfrm>
            <a:off x="7726680" y="17739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16" name="Text 14"/>
          <p:cNvSpPr txBox="1"/>
          <p:nvPr/>
        </p:nvSpPr>
        <p:spPr>
          <a:xfrm>
            <a:off x="9326880" y="17739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+34.6%</a:t>
            </a:r>
            <a:endParaRPr lang="en-US" sz="1500" dirty="0"/>
          </a:p>
        </p:txBody>
      </p:sp>
      <p:sp>
        <p:nvSpPr>
          <p:cNvPr id="17" name="Text 15"/>
          <p:cNvSpPr txBox="1"/>
          <p:nvPr/>
        </p:nvSpPr>
        <p:spPr>
          <a:xfrm>
            <a:off x="749808" y="232257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8" name="Text 16"/>
          <p:cNvSpPr txBox="1"/>
          <p:nvPr/>
        </p:nvSpPr>
        <p:spPr>
          <a:xfrm>
            <a:off x="3520440" y="232257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ROs per Month</a:t>
            </a:r>
            <a:endParaRPr lang="en-US" sz="1500" dirty="0"/>
          </a:p>
        </p:txBody>
      </p:sp>
      <p:sp>
        <p:nvSpPr>
          <p:cNvPr id="19" name="Text 17"/>
          <p:cNvSpPr txBox="1"/>
          <p:nvPr/>
        </p:nvSpPr>
        <p:spPr>
          <a:xfrm>
            <a:off x="5669280" y="232257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425 → 570</a:t>
            </a:r>
            <a:endParaRPr lang="en-US" sz="1500" dirty="0"/>
          </a:p>
        </p:txBody>
      </p:sp>
      <p:sp>
        <p:nvSpPr>
          <p:cNvPr id="20" name="Text 18"/>
          <p:cNvSpPr txBox="1"/>
          <p:nvPr/>
        </p:nvSpPr>
        <p:spPr>
          <a:xfrm>
            <a:off x="7726680" y="232257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21" name="Text 19"/>
          <p:cNvSpPr txBox="1"/>
          <p:nvPr/>
        </p:nvSpPr>
        <p:spPr>
          <a:xfrm>
            <a:off x="9326880" y="232257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+34.0%</a:t>
            </a:r>
            <a:endParaRPr lang="en-US" sz="1500" dirty="0"/>
          </a:p>
        </p:txBody>
      </p:sp>
      <p:sp>
        <p:nvSpPr>
          <p:cNvPr id="22" name="Shape 20"/>
          <p:cNvSpPr/>
          <p:nvPr/>
        </p:nvSpPr>
        <p:spPr>
          <a:xfrm>
            <a:off x="621792" y="2871216"/>
            <a:ext cx="10945368" cy="548640"/>
          </a:xfrm>
          <a:prstGeom prst="rect">
            <a:avLst/>
          </a:prstGeom>
          <a:solidFill>
            <a:srgbClr val="F7F7F7"/>
          </a:solidFill>
          <a:ln/>
        </p:spPr>
      </p:sp>
      <p:sp>
        <p:nvSpPr>
          <p:cNvPr id="23" name="Text 21"/>
          <p:cNvSpPr txBox="1"/>
          <p:nvPr/>
        </p:nvSpPr>
        <p:spPr>
          <a:xfrm>
            <a:off x="749808" y="287121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24" name="Text 22"/>
          <p:cNvSpPr txBox="1"/>
          <p:nvPr/>
        </p:nvSpPr>
        <p:spPr>
          <a:xfrm>
            <a:off x="3520440" y="287121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a:t>
            </a:r>
            <a:endParaRPr lang="en-US" sz="1500" dirty="0"/>
          </a:p>
        </p:txBody>
      </p:sp>
      <p:sp>
        <p:nvSpPr>
          <p:cNvPr id="25" name="Text 23"/>
          <p:cNvSpPr txBox="1"/>
          <p:nvPr/>
        </p:nvSpPr>
        <p:spPr>
          <a:xfrm>
            <a:off x="5669280" y="287121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1.35 → 1.65</a:t>
            </a:r>
            <a:endParaRPr lang="en-US" sz="1500" dirty="0"/>
          </a:p>
        </p:txBody>
      </p:sp>
      <p:sp>
        <p:nvSpPr>
          <p:cNvPr id="26" name="Text 24"/>
          <p:cNvSpPr txBox="1"/>
          <p:nvPr/>
        </p:nvSpPr>
        <p:spPr>
          <a:xfrm>
            <a:off x="7726680" y="287121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27" name="Text 25"/>
          <p:cNvSpPr txBox="1"/>
          <p:nvPr/>
        </p:nvSpPr>
        <p:spPr>
          <a:xfrm>
            <a:off x="9326880" y="287121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+22.1%</a:t>
            </a:r>
            <a:endParaRPr lang="en-US" sz="1500" dirty="0"/>
          </a:p>
        </p:txBody>
      </p:sp>
      <p:sp>
        <p:nvSpPr>
          <p:cNvPr id="28" name="Text 26"/>
          <p:cNvSpPr txBox="1"/>
          <p:nvPr/>
        </p:nvSpPr>
        <p:spPr>
          <a:xfrm>
            <a:off x="749808" y="341985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29" name="Text 27"/>
          <p:cNvSpPr txBox="1"/>
          <p:nvPr/>
        </p:nvSpPr>
        <p:spPr>
          <a:xfrm>
            <a:off x="3520440" y="341985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a:t>
            </a:r>
            <a:endParaRPr lang="en-US" sz="1500" dirty="0"/>
          </a:p>
        </p:txBody>
      </p:sp>
      <p:sp>
        <p:nvSpPr>
          <p:cNvPr id="30" name="Text 28"/>
          <p:cNvSpPr txBox="1"/>
          <p:nvPr/>
        </p:nvSpPr>
        <p:spPr>
          <a:xfrm>
            <a:off x="5669280" y="341985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$128.27 → $141.89</a:t>
            </a:r>
            <a:endParaRPr lang="en-US" sz="1500" dirty="0"/>
          </a:p>
        </p:txBody>
      </p:sp>
      <p:sp>
        <p:nvSpPr>
          <p:cNvPr id="31" name="Text 29"/>
          <p:cNvSpPr txBox="1"/>
          <p:nvPr/>
        </p:nvSpPr>
        <p:spPr>
          <a:xfrm>
            <a:off x="7726680" y="341985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June</a:t>
            </a:r>
            <a:endParaRPr lang="en-US" sz="1500" dirty="0"/>
          </a:p>
        </p:txBody>
      </p:sp>
      <p:sp>
        <p:nvSpPr>
          <p:cNvPr id="32" name="Text 30"/>
          <p:cNvSpPr txBox="1"/>
          <p:nvPr/>
        </p:nvSpPr>
        <p:spPr>
          <a:xfrm>
            <a:off x="9326880" y="341985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+10.6%</a:t>
            </a:r>
            <a:endParaRPr lang="en-US" sz="1500" dirty="0"/>
          </a:p>
        </p:txBody>
      </p:sp>
      <p:sp>
        <p:nvSpPr>
          <p:cNvPr id="33" name="Shape 31"/>
          <p:cNvSpPr/>
          <p:nvPr/>
        </p:nvSpPr>
        <p:spPr>
          <a:xfrm>
            <a:off x="621792" y="3968496"/>
            <a:ext cx="10945368" cy="548640"/>
          </a:xfrm>
          <a:prstGeom prst="rect">
            <a:avLst/>
          </a:prstGeom>
          <a:solidFill>
            <a:srgbClr val="F7F7F7"/>
          </a:solidFill>
          <a:ln/>
        </p:spPr>
      </p:sp>
      <p:sp>
        <p:nvSpPr>
          <p:cNvPr id="34" name="Text 32"/>
          <p:cNvSpPr txBox="1"/>
          <p:nvPr/>
        </p:nvSpPr>
        <p:spPr>
          <a:xfrm>
            <a:off x="749808" y="396849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35" name="Text 33"/>
          <p:cNvSpPr txBox="1"/>
          <p:nvPr/>
        </p:nvSpPr>
        <p:spPr>
          <a:xfrm>
            <a:off x="3520440" y="396849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GP %</a:t>
            </a:r>
            <a:endParaRPr lang="en-US" sz="1500" dirty="0"/>
          </a:p>
        </p:txBody>
      </p:sp>
      <p:sp>
        <p:nvSpPr>
          <p:cNvPr id="36" name="Text 34"/>
          <p:cNvSpPr txBox="1"/>
          <p:nvPr/>
        </p:nvSpPr>
        <p:spPr>
          <a:xfrm>
            <a:off x="5669280" y="396849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39.4% → 46.6%</a:t>
            </a:r>
            <a:endParaRPr lang="en-US" sz="1500" dirty="0"/>
          </a:p>
        </p:txBody>
      </p:sp>
      <p:sp>
        <p:nvSpPr>
          <p:cNvPr id="37" name="Text 35"/>
          <p:cNvSpPr txBox="1"/>
          <p:nvPr/>
        </p:nvSpPr>
        <p:spPr>
          <a:xfrm>
            <a:off x="7726680" y="396849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38" name="Text 36"/>
          <p:cNvSpPr txBox="1"/>
          <p:nvPr/>
        </p:nvSpPr>
        <p:spPr>
          <a:xfrm>
            <a:off x="9326880" y="396849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+7.2 pts</a:t>
            </a:r>
            <a:endParaRPr lang="en-US" sz="1500" dirty="0"/>
          </a:p>
        </p:txBody>
      </p:sp>
      <p:sp>
        <p:nvSpPr>
          <p:cNvPr id="39" name="Text 37"/>
          <p:cNvSpPr txBox="1"/>
          <p:nvPr/>
        </p:nvSpPr>
        <p:spPr>
          <a:xfrm>
            <a:off x="749808" y="45171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40" name="Text 38"/>
          <p:cNvSpPr txBox="1"/>
          <p:nvPr/>
        </p:nvSpPr>
        <p:spPr>
          <a:xfrm>
            <a:off x="3520440" y="45171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Opcodes · alignment</a:t>
            </a:r>
            <a:endParaRPr lang="en-US" sz="1500" dirty="0"/>
          </a:p>
        </p:txBody>
      </p:sp>
      <p:sp>
        <p:nvSpPr>
          <p:cNvPr id="41" name="Text 39"/>
          <p:cNvSpPr txBox="1"/>
          <p:nvPr/>
        </p:nvSpPr>
        <p:spPr>
          <a:xfrm>
            <a:off x="5669280" y="45171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12.6% → 22.8%</a:t>
            </a:r>
            <a:endParaRPr lang="en-US" sz="1500" dirty="0"/>
          </a:p>
        </p:txBody>
      </p:sp>
      <p:sp>
        <p:nvSpPr>
          <p:cNvPr id="42" name="Text 40"/>
          <p:cNvSpPr txBox="1"/>
          <p:nvPr/>
        </p:nvSpPr>
        <p:spPr>
          <a:xfrm>
            <a:off x="7726680" y="45171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43" name="Text 41"/>
          <p:cNvSpPr txBox="1"/>
          <p:nvPr/>
        </p:nvSpPr>
        <p:spPr>
          <a:xfrm>
            <a:off x="9326880" y="45171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+10.1 pts</a:t>
            </a:r>
            <a:endParaRPr lang="en-US" sz="1500" dirty="0"/>
          </a:p>
        </p:txBody>
      </p:sp>
      <p:sp>
        <p:nvSpPr>
          <p:cNvPr id="44" name="Shape 42"/>
          <p:cNvSpPr/>
          <p:nvPr/>
        </p:nvSpPr>
        <p:spPr>
          <a:xfrm>
            <a:off x="457200" y="6126480"/>
            <a:ext cx="11274552" cy="364236"/>
          </a:xfrm>
          <a:prstGeom prst="rect">
            <a:avLst/>
          </a:prstGeom>
          <a:solidFill>
            <a:srgbClr val="EDF4FA"/>
          </a:solidFill>
          <a:ln/>
        </p:spPr>
      </p:sp>
      <p:sp>
        <p:nvSpPr>
          <p:cNvPr id="45" name="Text 43"/>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Four stores, one question each: what did you start doing that month? One sentence, before you leave.</a:t>
            </a:r>
            <a:endParaRPr lang="en-US" sz="1550" dirty="0"/>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Where the Money Is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353312"/>
            <a:ext cx="40233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THE LEVER</a:t>
            </a:r>
            <a:endParaRPr lang="en-US" sz="1400" dirty="0"/>
          </a:p>
        </p:txBody>
      </p:sp>
      <p:sp>
        <p:nvSpPr>
          <p:cNvPr id="7" name="Text 5"/>
          <p:cNvSpPr txBox="1"/>
          <p:nvPr/>
        </p:nvSpPr>
        <p:spPr>
          <a:xfrm>
            <a:off x="4754880" y="1353312"/>
            <a:ext cx="2103120" cy="310896"/>
          </a:xfrm>
          <a:prstGeom prst="rect">
            <a:avLst/>
          </a:prstGeom>
          <a:noFill/>
          <a:ln/>
        </p:spPr>
        <p:txBody>
          <a:bodyPr wrap="square" lIns="0" tIns="0" rIns="0" bIns="0" rtlCol="0" anchor="ctr"/>
          <a:lstStyle/>
          <a:p>
            <a:pPr algn="r" indent="0" marL="0">
              <a:buNone/>
            </a:pPr>
            <a:r>
              <a:rPr lang="en-US" sz="1400" b="1" spc="100" kern="0" dirty="0">
                <a:solidFill>
                  <a:srgbClr val="0B2C4A"/>
                </a:solidFill>
                <a:latin typeface="Inter" pitchFamily="34" charset="0"/>
                <a:ea typeface="Inter" pitchFamily="34" charset="-122"/>
                <a:cs typeface="Inter" pitchFamily="34" charset="-120"/>
              </a:rPr>
              <a:t>GROSS A YEAR</a:t>
            </a:r>
            <a:endParaRPr lang="en-US" sz="1400" dirty="0"/>
          </a:p>
        </p:txBody>
      </p:sp>
      <p:sp>
        <p:nvSpPr>
          <p:cNvPr id="8" name="Text 6"/>
          <p:cNvSpPr txBox="1"/>
          <p:nvPr/>
        </p:nvSpPr>
        <p:spPr>
          <a:xfrm>
            <a:off x="7178040" y="1353312"/>
            <a:ext cx="26517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HOW</a:t>
            </a:r>
            <a:endParaRPr lang="en-US" sz="1400" dirty="0"/>
          </a:p>
        </p:txBody>
      </p:sp>
      <p:sp>
        <p:nvSpPr>
          <p:cNvPr id="9" name="Text 7"/>
          <p:cNvSpPr txBox="1"/>
          <p:nvPr/>
        </p:nvSpPr>
        <p:spPr>
          <a:xfrm>
            <a:off x="9875520" y="1353312"/>
            <a:ext cx="169164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WHO OWNS IT</a:t>
            </a:r>
            <a:endParaRPr lang="en-US" sz="1400" dirty="0"/>
          </a:p>
        </p:txBody>
      </p:sp>
      <p:sp>
        <p:nvSpPr>
          <p:cNvPr id="10" name="Shape 8"/>
          <p:cNvSpPr/>
          <p:nvPr/>
        </p:nvSpPr>
        <p:spPr>
          <a:xfrm>
            <a:off x="548640" y="1755648"/>
            <a:ext cx="11091672" cy="713232"/>
          </a:xfrm>
          <a:prstGeom prst="rect">
            <a:avLst/>
          </a:prstGeom>
          <a:solidFill>
            <a:srgbClr val="F7F7F7"/>
          </a:solidFill>
          <a:ln/>
        </p:spPr>
      </p:sp>
      <p:sp>
        <p:nvSpPr>
          <p:cNvPr id="11" name="Shape 9"/>
          <p:cNvSpPr/>
          <p:nvPr/>
        </p:nvSpPr>
        <p:spPr>
          <a:xfrm>
            <a:off x="548640" y="1755648"/>
            <a:ext cx="64008" cy="713232"/>
          </a:xfrm>
          <a:prstGeom prst="rect">
            <a:avLst/>
          </a:prstGeom>
          <a:solidFill>
            <a:srgbClr val="12A566"/>
          </a:solidFill>
          <a:ln/>
        </p:spPr>
      </p:sp>
      <p:sp>
        <p:nvSpPr>
          <p:cNvPr id="12" name="Text 10"/>
          <p:cNvSpPr txBox="1"/>
          <p:nvPr/>
        </p:nvSpPr>
        <p:spPr>
          <a:xfrm>
            <a:off x="749808" y="1755648"/>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tech under 85% reaches 85%</a:t>
            </a:r>
            <a:endParaRPr lang="en-US" sz="1700" dirty="0"/>
          </a:p>
        </p:txBody>
      </p:sp>
      <p:sp>
        <p:nvSpPr>
          <p:cNvPr id="13" name="Text 11"/>
          <p:cNvSpPr txBox="1"/>
          <p:nvPr/>
        </p:nvSpPr>
        <p:spPr>
          <a:xfrm>
            <a:off x="4754880" y="1755648"/>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$19,763,184</a:t>
            </a:r>
            <a:endParaRPr lang="en-US" sz="2400" dirty="0"/>
          </a:p>
        </p:txBody>
      </p:sp>
      <p:sp>
        <p:nvSpPr>
          <p:cNvPr id="14" name="Text 12"/>
          <p:cNvSpPr txBox="1"/>
          <p:nvPr/>
        </p:nvSpPr>
        <p:spPr>
          <a:xfrm>
            <a:off x="7178040" y="1755648"/>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Dispatch, parts staging, approvals, coaching</a:t>
            </a:r>
            <a:endParaRPr lang="en-US" sz="1400" dirty="0"/>
          </a:p>
        </p:txBody>
      </p:sp>
      <p:sp>
        <p:nvSpPr>
          <p:cNvPr id="15" name="Shape 13"/>
          <p:cNvSpPr/>
          <p:nvPr/>
        </p:nvSpPr>
        <p:spPr>
          <a:xfrm>
            <a:off x="9875520" y="1810512"/>
            <a:ext cx="1691640" cy="274320"/>
          </a:xfrm>
          <a:prstGeom prst="roundRect">
            <a:avLst>
              <a:gd name="adj" fmla="val 20000"/>
            </a:avLst>
          </a:prstGeom>
          <a:solidFill>
            <a:srgbClr val="EDF4FA"/>
          </a:solidFill>
          <a:ln w="9525">
            <a:solidFill>
              <a:srgbClr val="0B2C4A"/>
            </a:solidFill>
            <a:prstDash val="solid"/>
          </a:ln>
        </p:spPr>
      </p:sp>
      <p:sp>
        <p:nvSpPr>
          <p:cNvPr id="16" name="Text 14"/>
          <p:cNvSpPr txBox="1"/>
          <p:nvPr/>
        </p:nvSpPr>
        <p:spPr>
          <a:xfrm>
            <a:off x="9875520" y="181051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17" name="Shape 15"/>
          <p:cNvSpPr/>
          <p:nvPr/>
        </p:nvSpPr>
        <p:spPr>
          <a:xfrm>
            <a:off x="9875520" y="2139696"/>
            <a:ext cx="566928" cy="274320"/>
          </a:xfrm>
          <a:prstGeom prst="roundRect">
            <a:avLst>
              <a:gd name="adj" fmla="val 20000"/>
            </a:avLst>
          </a:prstGeom>
          <a:solidFill>
            <a:srgbClr val="0B2C4A"/>
          </a:solidFill>
          <a:ln w="9525">
            <a:solidFill>
              <a:srgbClr val="0B2C4A"/>
            </a:solidFill>
            <a:prstDash val="solid"/>
          </a:ln>
        </p:spPr>
      </p:sp>
      <p:sp>
        <p:nvSpPr>
          <p:cNvPr id="18" name="Text 16"/>
          <p:cNvSpPr txBox="1"/>
          <p:nvPr/>
        </p:nvSpPr>
        <p:spPr>
          <a:xfrm>
            <a:off x="9875520" y="2139696"/>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19" name="Shape 17"/>
          <p:cNvSpPr/>
          <p:nvPr/>
        </p:nvSpPr>
        <p:spPr>
          <a:xfrm>
            <a:off x="548640" y="2542032"/>
            <a:ext cx="11091672" cy="713232"/>
          </a:xfrm>
          <a:prstGeom prst="rect">
            <a:avLst/>
          </a:prstGeom>
          <a:solidFill>
            <a:srgbClr val="FFFFFF"/>
          </a:solidFill>
          <a:ln/>
        </p:spPr>
      </p:sp>
      <p:sp>
        <p:nvSpPr>
          <p:cNvPr id="20" name="Shape 18"/>
          <p:cNvSpPr/>
          <p:nvPr/>
        </p:nvSpPr>
        <p:spPr>
          <a:xfrm>
            <a:off x="548640" y="2542032"/>
            <a:ext cx="64008" cy="713232"/>
          </a:xfrm>
          <a:prstGeom prst="rect">
            <a:avLst/>
          </a:prstGeom>
          <a:solidFill>
            <a:srgbClr val="12A566"/>
          </a:solidFill>
          <a:ln/>
        </p:spPr>
      </p:sp>
      <p:sp>
        <p:nvSpPr>
          <p:cNvPr id="21" name="Text 19"/>
          <p:cNvSpPr txBox="1"/>
          <p:nvPr/>
        </p:nvSpPr>
        <p:spPr>
          <a:xfrm>
            <a:off x="749808" y="2542032"/>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0.1 more hours on every CP RO</a:t>
            </a:r>
            <a:endParaRPr lang="en-US" sz="1700" dirty="0"/>
          </a:p>
        </p:txBody>
      </p:sp>
      <p:sp>
        <p:nvSpPr>
          <p:cNvPr id="22" name="Text 20"/>
          <p:cNvSpPr txBox="1"/>
          <p:nvPr/>
        </p:nvSpPr>
        <p:spPr>
          <a:xfrm>
            <a:off x="4754880" y="2542032"/>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$6,602,564</a:t>
            </a:r>
            <a:endParaRPr lang="en-US" sz="2400" dirty="0"/>
          </a:p>
        </p:txBody>
      </p:sp>
      <p:sp>
        <p:nvSpPr>
          <p:cNvPr id="23" name="Text 21"/>
          <p:cNvSpPr txBox="1"/>
          <p:nvPr/>
        </p:nvSpPr>
        <p:spPr>
          <a:xfrm>
            <a:off x="7178040" y="2542032"/>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MPI on every car, the menu, Road to the Sale</a:t>
            </a:r>
            <a:endParaRPr lang="en-US" sz="1400" dirty="0"/>
          </a:p>
        </p:txBody>
      </p:sp>
      <p:sp>
        <p:nvSpPr>
          <p:cNvPr id="24" name="Shape 22"/>
          <p:cNvSpPr/>
          <p:nvPr/>
        </p:nvSpPr>
        <p:spPr>
          <a:xfrm>
            <a:off x="9875520" y="2761488"/>
            <a:ext cx="1691640" cy="274320"/>
          </a:xfrm>
          <a:prstGeom prst="roundRect">
            <a:avLst>
              <a:gd name="adj" fmla="val 20000"/>
            </a:avLst>
          </a:prstGeom>
          <a:solidFill>
            <a:srgbClr val="EDF4FA"/>
          </a:solidFill>
          <a:ln w="9525">
            <a:solidFill>
              <a:srgbClr val="0B2C4A"/>
            </a:solidFill>
            <a:prstDash val="solid"/>
          </a:ln>
        </p:spPr>
      </p:sp>
      <p:sp>
        <p:nvSpPr>
          <p:cNvPr id="25" name="Text 23"/>
          <p:cNvSpPr txBox="1"/>
          <p:nvPr/>
        </p:nvSpPr>
        <p:spPr>
          <a:xfrm>
            <a:off x="9875520" y="276148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26" name="Shape 24"/>
          <p:cNvSpPr/>
          <p:nvPr/>
        </p:nvSpPr>
        <p:spPr>
          <a:xfrm>
            <a:off x="548640" y="3328416"/>
            <a:ext cx="11091672" cy="713232"/>
          </a:xfrm>
          <a:prstGeom prst="rect">
            <a:avLst/>
          </a:prstGeom>
          <a:solidFill>
            <a:srgbClr val="F7F7F7"/>
          </a:solidFill>
          <a:ln/>
        </p:spPr>
      </p:sp>
      <p:sp>
        <p:nvSpPr>
          <p:cNvPr id="27" name="Shape 25"/>
          <p:cNvSpPr/>
          <p:nvPr/>
        </p:nvSpPr>
        <p:spPr>
          <a:xfrm>
            <a:off x="548640" y="3328416"/>
            <a:ext cx="64008" cy="713232"/>
          </a:xfrm>
          <a:prstGeom prst="rect">
            <a:avLst/>
          </a:prstGeom>
          <a:solidFill>
            <a:srgbClr val="12A566"/>
          </a:solidFill>
          <a:ln/>
        </p:spPr>
      </p:sp>
      <p:sp>
        <p:nvSpPr>
          <p:cNvPr id="28" name="Text 26"/>
          <p:cNvSpPr txBox="1"/>
          <p:nvPr/>
        </p:nvSpPr>
        <p:spPr>
          <a:xfrm>
            <a:off x="749808" y="3328416"/>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store at the four op code benchmarks</a:t>
            </a:r>
            <a:endParaRPr lang="en-US" sz="1700" dirty="0"/>
          </a:p>
        </p:txBody>
      </p:sp>
      <p:sp>
        <p:nvSpPr>
          <p:cNvPr id="29" name="Text 27"/>
          <p:cNvSpPr txBox="1"/>
          <p:nvPr/>
        </p:nvSpPr>
        <p:spPr>
          <a:xfrm>
            <a:off x="4754880" y="3328416"/>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$4,895,199</a:t>
            </a:r>
            <a:endParaRPr lang="en-US" sz="2400" dirty="0"/>
          </a:p>
        </p:txBody>
      </p:sp>
      <p:sp>
        <p:nvSpPr>
          <p:cNvPr id="30" name="Text 28"/>
          <p:cNvSpPr txBox="1"/>
          <p:nvPr/>
        </p:nvSpPr>
        <p:spPr>
          <a:xfrm>
            <a:off x="7178040" y="3328416"/>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Alignment, balance, brake fluid, fuel service</a:t>
            </a:r>
            <a:endParaRPr lang="en-US" sz="1400" dirty="0"/>
          </a:p>
        </p:txBody>
      </p:sp>
      <p:sp>
        <p:nvSpPr>
          <p:cNvPr id="31" name="Shape 29"/>
          <p:cNvSpPr/>
          <p:nvPr/>
        </p:nvSpPr>
        <p:spPr>
          <a:xfrm>
            <a:off x="9875520" y="3547872"/>
            <a:ext cx="1691640" cy="274320"/>
          </a:xfrm>
          <a:prstGeom prst="roundRect">
            <a:avLst>
              <a:gd name="adj" fmla="val 20000"/>
            </a:avLst>
          </a:prstGeom>
          <a:solidFill>
            <a:srgbClr val="EDF4FA"/>
          </a:solidFill>
          <a:ln w="9525">
            <a:solidFill>
              <a:srgbClr val="0B2C4A"/>
            </a:solidFill>
            <a:prstDash val="solid"/>
          </a:ln>
        </p:spPr>
      </p:sp>
      <p:sp>
        <p:nvSpPr>
          <p:cNvPr id="32" name="Text 30"/>
          <p:cNvSpPr txBox="1"/>
          <p:nvPr/>
        </p:nvSpPr>
        <p:spPr>
          <a:xfrm>
            <a:off x="9875520" y="354787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33" name="Shape 31"/>
          <p:cNvSpPr/>
          <p:nvPr/>
        </p:nvSpPr>
        <p:spPr>
          <a:xfrm>
            <a:off x="548640" y="4114800"/>
            <a:ext cx="11091672" cy="713232"/>
          </a:xfrm>
          <a:prstGeom prst="rect">
            <a:avLst/>
          </a:prstGeom>
          <a:solidFill>
            <a:srgbClr val="FFFFFF"/>
          </a:solidFill>
          <a:ln/>
        </p:spPr>
      </p:sp>
      <p:sp>
        <p:nvSpPr>
          <p:cNvPr id="34" name="Shape 32"/>
          <p:cNvSpPr/>
          <p:nvPr/>
        </p:nvSpPr>
        <p:spPr>
          <a:xfrm>
            <a:off x="548640" y="4114800"/>
            <a:ext cx="64008" cy="713232"/>
          </a:xfrm>
          <a:prstGeom prst="rect">
            <a:avLst/>
          </a:prstGeom>
          <a:solidFill>
            <a:srgbClr val="12A566"/>
          </a:solidFill>
          <a:ln/>
        </p:spPr>
      </p:sp>
      <p:sp>
        <p:nvSpPr>
          <p:cNvPr id="35" name="Text 33"/>
          <p:cNvSpPr txBox="1"/>
          <p:nvPr/>
        </p:nvSpPr>
        <p:spPr>
          <a:xfrm>
            <a:off x="749808" y="4114800"/>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more customer-pay RO a day</a:t>
            </a:r>
            <a:endParaRPr lang="en-US" sz="1700" dirty="0"/>
          </a:p>
        </p:txBody>
      </p:sp>
      <p:sp>
        <p:nvSpPr>
          <p:cNvPr id="36" name="Text 34"/>
          <p:cNvSpPr txBox="1"/>
          <p:nvPr/>
        </p:nvSpPr>
        <p:spPr>
          <a:xfrm>
            <a:off x="4754880" y="4114800"/>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$4,473,284</a:t>
            </a:r>
            <a:endParaRPr lang="en-US" sz="2400" dirty="0"/>
          </a:p>
        </p:txBody>
      </p:sp>
      <p:sp>
        <p:nvSpPr>
          <p:cNvPr id="37" name="Text 35"/>
          <p:cNvSpPr txBox="1"/>
          <p:nvPr/>
        </p:nvSpPr>
        <p:spPr>
          <a:xfrm>
            <a:off x="7178040" y="4114800"/>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Phones, scheduler, retention, marketing</a:t>
            </a:r>
            <a:endParaRPr lang="en-US" sz="1400" dirty="0"/>
          </a:p>
        </p:txBody>
      </p:sp>
      <p:sp>
        <p:nvSpPr>
          <p:cNvPr id="38" name="Shape 36"/>
          <p:cNvSpPr/>
          <p:nvPr/>
        </p:nvSpPr>
        <p:spPr>
          <a:xfrm>
            <a:off x="9875520" y="4169664"/>
            <a:ext cx="566928" cy="274320"/>
          </a:xfrm>
          <a:prstGeom prst="roundRect">
            <a:avLst>
              <a:gd name="adj" fmla="val 20000"/>
            </a:avLst>
          </a:prstGeom>
          <a:solidFill>
            <a:srgbClr val="0B2C4A"/>
          </a:solidFill>
          <a:ln w="9525">
            <a:solidFill>
              <a:srgbClr val="0B2C4A"/>
            </a:solidFill>
            <a:prstDash val="solid"/>
          </a:ln>
        </p:spPr>
      </p:sp>
      <p:sp>
        <p:nvSpPr>
          <p:cNvPr id="39" name="Text 37"/>
          <p:cNvSpPr txBox="1"/>
          <p:nvPr/>
        </p:nvSpPr>
        <p:spPr>
          <a:xfrm>
            <a:off x="9875520" y="4169664"/>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40" name="Shape 38"/>
          <p:cNvSpPr/>
          <p:nvPr/>
        </p:nvSpPr>
        <p:spPr>
          <a:xfrm>
            <a:off x="9875520" y="4498848"/>
            <a:ext cx="1691640" cy="274320"/>
          </a:xfrm>
          <a:prstGeom prst="roundRect">
            <a:avLst>
              <a:gd name="adj" fmla="val 20000"/>
            </a:avLst>
          </a:prstGeom>
          <a:solidFill>
            <a:srgbClr val="EDF4FA"/>
          </a:solidFill>
          <a:ln w="9525">
            <a:solidFill>
              <a:srgbClr val="0B2C4A"/>
            </a:solidFill>
            <a:prstDash val="solid"/>
          </a:ln>
        </p:spPr>
      </p:sp>
      <p:sp>
        <p:nvSpPr>
          <p:cNvPr id="41" name="Text 39"/>
          <p:cNvSpPr txBox="1"/>
          <p:nvPr/>
        </p:nvSpPr>
        <p:spPr>
          <a:xfrm>
            <a:off x="9875520" y="44988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2" name="Shape 40"/>
          <p:cNvSpPr/>
          <p:nvPr/>
        </p:nvSpPr>
        <p:spPr>
          <a:xfrm>
            <a:off x="548640" y="4901184"/>
            <a:ext cx="11091672" cy="713232"/>
          </a:xfrm>
          <a:prstGeom prst="rect">
            <a:avLst/>
          </a:prstGeom>
          <a:solidFill>
            <a:srgbClr val="F7F7F7"/>
          </a:solidFill>
          <a:ln/>
        </p:spPr>
      </p:sp>
      <p:sp>
        <p:nvSpPr>
          <p:cNvPr id="43" name="Shape 41"/>
          <p:cNvSpPr/>
          <p:nvPr/>
        </p:nvSpPr>
        <p:spPr>
          <a:xfrm>
            <a:off x="548640" y="4901184"/>
            <a:ext cx="64008" cy="713232"/>
          </a:xfrm>
          <a:prstGeom prst="rect">
            <a:avLst/>
          </a:prstGeom>
          <a:solidFill>
            <a:srgbClr val="12A566"/>
          </a:solidFill>
          <a:ln/>
        </p:spPr>
      </p:sp>
      <p:sp>
        <p:nvSpPr>
          <p:cNvPr id="44" name="Text 42"/>
          <p:cNvSpPr txBox="1"/>
          <p:nvPr/>
        </p:nvSpPr>
        <p:spPr>
          <a:xfrm>
            <a:off x="749808" y="4901184"/>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minute a day saved for every tech</a:t>
            </a:r>
            <a:endParaRPr lang="en-US" sz="1700" dirty="0"/>
          </a:p>
        </p:txBody>
      </p:sp>
      <p:sp>
        <p:nvSpPr>
          <p:cNvPr id="45" name="Text 43"/>
          <p:cNvSpPr txBox="1"/>
          <p:nvPr/>
        </p:nvSpPr>
        <p:spPr>
          <a:xfrm>
            <a:off x="4754880" y="4901184"/>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$444,380</a:t>
            </a:r>
            <a:endParaRPr lang="en-US" sz="2400" dirty="0"/>
          </a:p>
        </p:txBody>
      </p:sp>
      <p:sp>
        <p:nvSpPr>
          <p:cNvPr id="46" name="Text 44"/>
          <p:cNvSpPr txBox="1"/>
          <p:nvPr/>
        </p:nvSpPr>
        <p:spPr>
          <a:xfrm>
            <a:off x="7178040" y="4901184"/>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Parts to the bay, tools and keys in place</a:t>
            </a:r>
            <a:endParaRPr lang="en-US" sz="1400" dirty="0"/>
          </a:p>
        </p:txBody>
      </p:sp>
      <p:sp>
        <p:nvSpPr>
          <p:cNvPr id="47" name="Shape 45"/>
          <p:cNvSpPr/>
          <p:nvPr/>
        </p:nvSpPr>
        <p:spPr>
          <a:xfrm>
            <a:off x="9875520" y="4956048"/>
            <a:ext cx="1691640" cy="274320"/>
          </a:xfrm>
          <a:prstGeom prst="roundRect">
            <a:avLst>
              <a:gd name="adj" fmla="val 20000"/>
            </a:avLst>
          </a:prstGeom>
          <a:solidFill>
            <a:srgbClr val="EDF4FA"/>
          </a:solidFill>
          <a:ln w="9525">
            <a:solidFill>
              <a:srgbClr val="0B2C4A"/>
            </a:solidFill>
            <a:prstDash val="solid"/>
          </a:ln>
        </p:spPr>
      </p:sp>
      <p:sp>
        <p:nvSpPr>
          <p:cNvPr id="48" name="Text 46"/>
          <p:cNvSpPr txBox="1"/>
          <p:nvPr/>
        </p:nvSpPr>
        <p:spPr>
          <a:xfrm>
            <a:off x="9875520" y="49560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9" name="Shape 47"/>
          <p:cNvSpPr/>
          <p:nvPr/>
        </p:nvSpPr>
        <p:spPr>
          <a:xfrm>
            <a:off x="9875520" y="5285232"/>
            <a:ext cx="566928" cy="274320"/>
          </a:xfrm>
          <a:prstGeom prst="roundRect">
            <a:avLst>
              <a:gd name="adj" fmla="val 20000"/>
            </a:avLst>
          </a:prstGeom>
          <a:solidFill>
            <a:srgbClr val="0B2C4A"/>
          </a:solidFill>
          <a:ln w="9525">
            <a:solidFill>
              <a:srgbClr val="0B2C4A"/>
            </a:solidFill>
            <a:prstDash val="solid"/>
          </a:ln>
        </p:spPr>
      </p:sp>
      <p:sp>
        <p:nvSpPr>
          <p:cNvPr id="50" name="Text 48"/>
          <p:cNvSpPr txBox="1"/>
          <p:nvPr/>
        </p:nvSpPr>
        <p:spPr>
          <a:xfrm>
            <a:off x="9875520" y="5285232"/>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51" name="Shape 49"/>
          <p:cNvSpPr/>
          <p:nvPr/>
        </p:nvSpPr>
        <p:spPr>
          <a:xfrm>
            <a:off x="457200" y="6126480"/>
            <a:ext cx="11274552" cy="615696"/>
          </a:xfrm>
          <a:prstGeom prst="rect">
            <a:avLst/>
          </a:prstGeom>
          <a:solidFill>
            <a:srgbClr val="E6F6EE"/>
          </a:solidFill>
          <a:ln/>
        </p:spPr>
      </p:sp>
      <p:sp>
        <p:nvSpPr>
          <p:cNvPr id="52" name="Text 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Every number is gross on cars, bays and techs we already have, except one more RO a day. They overlap, so read each on its own.</a:t>
            </a:r>
            <a:endParaRPr lang="en-US" sz="1600" dirty="0"/>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Before You Leave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THE MONEY IS</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did you learn today?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us one or two things you are going to act on and implement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you want to do this again?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Reach this room in FMGSVCMGR</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0.1 hr per RO</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Worth $4,543,691 of labor at today's ELR.</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 balances</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The largest benchmark gap, at 8.3% against 15%.</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lifting each tech under 85% to 85%.</a:t>
            </a:r>
            <a:endParaRPr lang="en-US" sz="1400" dirty="0"/>
          </a:p>
        </p:txBody>
      </p:sp>
      <p:sp>
        <p:nvSpPr>
          <p:cNvPr id="19" name="Shape 17"/>
          <p:cNvSpPr/>
          <p:nvPr/>
        </p:nvSpPr>
        <p:spPr>
          <a:xfrm>
            <a:off x="457200" y="6126480"/>
            <a:ext cx="11274552" cy="364236"/>
          </a:xfrm>
          <a:prstGeom prst="rect">
            <a:avLst/>
          </a:prstGeom>
          <a:solidFill>
            <a:srgbClr val="E6F6EE"/>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The ask: name your one or two commitments out loud, with a number attached, before you leave the room.</a:t>
            </a:r>
            <a:endParaRPr lang="en-US" sz="1550" dirty="0"/>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RECORD BOARD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2642616"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7" name="Text 5"/>
          <p:cNvSpPr txBox="1"/>
          <p:nvPr/>
        </p:nvSpPr>
        <p:spPr>
          <a:xfrm>
            <a:off x="3227832"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8" name="Text 6"/>
          <p:cNvSpPr txBox="1"/>
          <p:nvPr/>
        </p:nvSpPr>
        <p:spPr>
          <a:xfrm>
            <a:off x="3813048"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9" name="Text 7"/>
          <p:cNvSpPr txBox="1"/>
          <p:nvPr/>
        </p:nvSpPr>
        <p:spPr>
          <a:xfrm>
            <a:off x="4398264"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10" name="Text 8"/>
          <p:cNvSpPr txBox="1"/>
          <p:nvPr/>
        </p:nvSpPr>
        <p:spPr>
          <a:xfrm>
            <a:off x="523951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VS BEST</a:t>
            </a:r>
            <a:endParaRPr lang="en-US" sz="1400" dirty="0"/>
          </a:p>
        </p:txBody>
      </p:sp>
      <p:sp>
        <p:nvSpPr>
          <p:cNvPr id="11" name="Text 9"/>
          <p:cNvSpPr txBox="1"/>
          <p:nvPr/>
        </p:nvSpPr>
        <p:spPr>
          <a:xfrm>
            <a:off x="8193024"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12" name="Text 10"/>
          <p:cNvSpPr txBox="1"/>
          <p:nvPr/>
        </p:nvSpPr>
        <p:spPr>
          <a:xfrm>
            <a:off x="8778240"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13" name="Text 11"/>
          <p:cNvSpPr txBox="1"/>
          <p:nvPr/>
        </p:nvSpPr>
        <p:spPr>
          <a:xfrm>
            <a:off x="9363456"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14" name="Text 12"/>
          <p:cNvSpPr txBox="1"/>
          <p:nvPr/>
        </p:nvSpPr>
        <p:spPr>
          <a:xfrm>
            <a:off x="9948672"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15" name="Text 13"/>
          <p:cNvSpPr txBox="1"/>
          <p:nvPr/>
        </p:nvSpPr>
        <p:spPr>
          <a:xfrm>
            <a:off x="1078992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VS BEST</a:t>
            </a:r>
            <a:endParaRPr lang="en-US" sz="1400" dirty="0"/>
          </a:p>
        </p:txBody>
      </p:sp>
      <p:sp>
        <p:nvSpPr>
          <p:cNvPr id="16" name="Text 14"/>
          <p:cNvSpPr txBox="1"/>
          <p:nvPr/>
        </p:nvSpPr>
        <p:spPr>
          <a:xfrm>
            <a:off x="658368" y="170078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7" name="Shape 15"/>
          <p:cNvSpPr/>
          <p:nvPr/>
        </p:nvSpPr>
        <p:spPr>
          <a:xfrm>
            <a:off x="2857500" y="1785542"/>
            <a:ext cx="155448" cy="155448"/>
          </a:xfrm>
          <a:prstGeom prst="ellipse">
            <a:avLst/>
          </a:prstGeom>
          <a:solidFill>
            <a:srgbClr val="12A566"/>
          </a:solidFill>
          <a:ln w="12700">
            <a:solidFill>
              <a:srgbClr val="12A566"/>
            </a:solidFill>
            <a:prstDash val="solid"/>
          </a:ln>
        </p:spPr>
      </p:sp>
      <p:sp>
        <p:nvSpPr>
          <p:cNvPr id="18" name="Shape 16"/>
          <p:cNvSpPr/>
          <p:nvPr/>
        </p:nvSpPr>
        <p:spPr>
          <a:xfrm>
            <a:off x="3442716" y="1785542"/>
            <a:ext cx="155448" cy="155448"/>
          </a:xfrm>
          <a:prstGeom prst="ellipse">
            <a:avLst/>
          </a:prstGeom>
          <a:solidFill>
            <a:srgbClr val="12A566"/>
          </a:solidFill>
          <a:ln w="12700">
            <a:solidFill>
              <a:srgbClr val="12A566"/>
            </a:solidFill>
            <a:prstDash val="solid"/>
          </a:ln>
        </p:spPr>
      </p:sp>
      <p:sp>
        <p:nvSpPr>
          <p:cNvPr id="19" name="Shape 17"/>
          <p:cNvSpPr/>
          <p:nvPr/>
        </p:nvSpPr>
        <p:spPr>
          <a:xfrm>
            <a:off x="4027932" y="1785542"/>
            <a:ext cx="155448" cy="155448"/>
          </a:xfrm>
          <a:prstGeom prst="ellipse">
            <a:avLst/>
          </a:prstGeom>
          <a:solidFill>
            <a:srgbClr val="12A566"/>
          </a:solidFill>
          <a:ln w="12700">
            <a:solidFill>
              <a:srgbClr val="12A566"/>
            </a:solidFill>
            <a:prstDash val="solid"/>
          </a:ln>
        </p:spPr>
      </p:sp>
      <p:sp>
        <p:nvSpPr>
          <p:cNvPr id="20" name="Text 18"/>
          <p:cNvSpPr txBox="1"/>
          <p:nvPr/>
        </p:nvSpPr>
        <p:spPr>
          <a:xfrm>
            <a:off x="4398264" y="170078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$1.54M</a:t>
            </a:r>
            <a:endParaRPr lang="en-US" sz="1300" dirty="0"/>
          </a:p>
        </p:txBody>
      </p:sp>
      <p:sp>
        <p:nvSpPr>
          <p:cNvPr id="21" name="Text 19"/>
          <p:cNvSpPr txBox="1"/>
          <p:nvPr/>
        </p:nvSpPr>
        <p:spPr>
          <a:xfrm>
            <a:off x="5239512" y="170078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+35.7%</a:t>
            </a:r>
            <a:endParaRPr lang="en-US" sz="1300" dirty="0"/>
          </a:p>
        </p:txBody>
      </p:sp>
      <p:sp>
        <p:nvSpPr>
          <p:cNvPr id="22" name="Shape 20"/>
          <p:cNvSpPr/>
          <p:nvPr/>
        </p:nvSpPr>
        <p:spPr>
          <a:xfrm>
            <a:off x="585216" y="2025748"/>
            <a:ext cx="5486400" cy="324964"/>
          </a:xfrm>
          <a:prstGeom prst="rect">
            <a:avLst/>
          </a:prstGeom>
          <a:solidFill>
            <a:srgbClr val="F7F7F7"/>
          </a:solidFill>
          <a:ln/>
        </p:spPr>
      </p:sp>
      <p:sp>
        <p:nvSpPr>
          <p:cNvPr id="23" name="Text 21"/>
          <p:cNvSpPr txBox="1"/>
          <p:nvPr/>
        </p:nvSpPr>
        <p:spPr>
          <a:xfrm>
            <a:off x="658368" y="2025748"/>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4" name="Shape 22"/>
          <p:cNvSpPr/>
          <p:nvPr/>
        </p:nvSpPr>
        <p:spPr>
          <a:xfrm>
            <a:off x="2857500" y="2110506"/>
            <a:ext cx="155448" cy="155448"/>
          </a:xfrm>
          <a:prstGeom prst="ellipse">
            <a:avLst/>
          </a:prstGeom>
          <a:solidFill>
            <a:srgbClr val="12A566"/>
          </a:solidFill>
          <a:ln w="12700">
            <a:solidFill>
              <a:srgbClr val="12A566"/>
            </a:solidFill>
            <a:prstDash val="solid"/>
          </a:ln>
        </p:spPr>
      </p:sp>
      <p:sp>
        <p:nvSpPr>
          <p:cNvPr id="25" name="Shape 23"/>
          <p:cNvSpPr/>
          <p:nvPr/>
        </p:nvSpPr>
        <p:spPr>
          <a:xfrm>
            <a:off x="3442716" y="2110506"/>
            <a:ext cx="155448" cy="155448"/>
          </a:xfrm>
          <a:prstGeom prst="ellipse">
            <a:avLst/>
          </a:prstGeom>
          <a:solidFill>
            <a:srgbClr val="12A566"/>
          </a:solidFill>
          <a:ln w="12700">
            <a:solidFill>
              <a:srgbClr val="12A566"/>
            </a:solidFill>
            <a:prstDash val="solid"/>
          </a:ln>
        </p:spPr>
      </p:sp>
      <p:sp>
        <p:nvSpPr>
          <p:cNvPr id="26" name="Shape 24"/>
          <p:cNvSpPr/>
          <p:nvPr/>
        </p:nvSpPr>
        <p:spPr>
          <a:xfrm>
            <a:off x="4027932" y="2110506"/>
            <a:ext cx="155448" cy="155448"/>
          </a:xfrm>
          <a:prstGeom prst="ellipse">
            <a:avLst/>
          </a:prstGeom>
          <a:solidFill>
            <a:srgbClr val="12A566"/>
          </a:solidFill>
          <a:ln w="12700">
            <a:solidFill>
              <a:srgbClr val="12A566"/>
            </a:solidFill>
            <a:prstDash val="solid"/>
          </a:ln>
        </p:spPr>
      </p:sp>
      <p:sp>
        <p:nvSpPr>
          <p:cNvPr id="27" name="Text 25"/>
          <p:cNvSpPr txBox="1"/>
          <p:nvPr/>
        </p:nvSpPr>
        <p:spPr>
          <a:xfrm>
            <a:off x="4398264" y="2025748"/>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$2.98M</a:t>
            </a:r>
            <a:endParaRPr lang="en-US" sz="1300" dirty="0"/>
          </a:p>
        </p:txBody>
      </p:sp>
      <p:sp>
        <p:nvSpPr>
          <p:cNvPr id="28" name="Text 26"/>
          <p:cNvSpPr txBox="1"/>
          <p:nvPr/>
        </p:nvSpPr>
        <p:spPr>
          <a:xfrm>
            <a:off x="5239512" y="2025748"/>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+31.6%</a:t>
            </a:r>
            <a:endParaRPr lang="en-US" sz="1300" dirty="0"/>
          </a:p>
        </p:txBody>
      </p:sp>
      <p:sp>
        <p:nvSpPr>
          <p:cNvPr id="29" name="Text 27"/>
          <p:cNvSpPr txBox="1"/>
          <p:nvPr/>
        </p:nvSpPr>
        <p:spPr>
          <a:xfrm>
            <a:off x="658368" y="235071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30" name="Shape 28"/>
          <p:cNvSpPr/>
          <p:nvPr/>
        </p:nvSpPr>
        <p:spPr>
          <a:xfrm>
            <a:off x="2857500" y="2435469"/>
            <a:ext cx="155448" cy="155448"/>
          </a:xfrm>
          <a:prstGeom prst="ellipse">
            <a:avLst/>
          </a:prstGeom>
          <a:solidFill>
            <a:srgbClr val="12A566"/>
          </a:solidFill>
          <a:ln w="12700">
            <a:solidFill>
              <a:srgbClr val="12A566"/>
            </a:solidFill>
            <a:prstDash val="solid"/>
          </a:ln>
        </p:spPr>
      </p:sp>
      <p:sp>
        <p:nvSpPr>
          <p:cNvPr id="31" name="Shape 29"/>
          <p:cNvSpPr/>
          <p:nvPr/>
        </p:nvSpPr>
        <p:spPr>
          <a:xfrm>
            <a:off x="3442716" y="2435469"/>
            <a:ext cx="155448" cy="155448"/>
          </a:xfrm>
          <a:prstGeom prst="ellipse">
            <a:avLst/>
          </a:prstGeom>
          <a:solidFill>
            <a:srgbClr val="12A566"/>
          </a:solidFill>
          <a:ln w="12700">
            <a:solidFill>
              <a:srgbClr val="12A566"/>
            </a:solidFill>
            <a:prstDash val="solid"/>
          </a:ln>
        </p:spPr>
      </p:sp>
      <p:sp>
        <p:nvSpPr>
          <p:cNvPr id="32" name="Shape 30"/>
          <p:cNvSpPr/>
          <p:nvPr/>
        </p:nvSpPr>
        <p:spPr>
          <a:xfrm>
            <a:off x="4027932" y="2435469"/>
            <a:ext cx="155448" cy="155448"/>
          </a:xfrm>
          <a:prstGeom prst="ellipse">
            <a:avLst/>
          </a:prstGeom>
          <a:solidFill>
            <a:srgbClr val="12A566"/>
          </a:solidFill>
          <a:ln w="12700">
            <a:solidFill>
              <a:srgbClr val="12A566"/>
            </a:solidFill>
            <a:prstDash val="solid"/>
          </a:ln>
        </p:spPr>
      </p:sp>
      <p:sp>
        <p:nvSpPr>
          <p:cNvPr id="33" name="Text 31"/>
          <p:cNvSpPr txBox="1"/>
          <p:nvPr/>
        </p:nvSpPr>
        <p:spPr>
          <a:xfrm>
            <a:off x="4398264" y="235071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$4.15M</a:t>
            </a:r>
            <a:endParaRPr lang="en-US" sz="1300" dirty="0"/>
          </a:p>
        </p:txBody>
      </p:sp>
      <p:sp>
        <p:nvSpPr>
          <p:cNvPr id="34" name="Text 32"/>
          <p:cNvSpPr txBox="1"/>
          <p:nvPr/>
        </p:nvSpPr>
        <p:spPr>
          <a:xfrm>
            <a:off x="5239512" y="235071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+22.5%</a:t>
            </a:r>
            <a:endParaRPr lang="en-US" sz="1300" dirty="0"/>
          </a:p>
        </p:txBody>
      </p:sp>
      <p:sp>
        <p:nvSpPr>
          <p:cNvPr id="35" name="Shape 33"/>
          <p:cNvSpPr/>
          <p:nvPr/>
        </p:nvSpPr>
        <p:spPr>
          <a:xfrm>
            <a:off x="585216" y="2675675"/>
            <a:ext cx="5486400" cy="324964"/>
          </a:xfrm>
          <a:prstGeom prst="rect">
            <a:avLst/>
          </a:prstGeom>
          <a:solidFill>
            <a:srgbClr val="F7F7F7"/>
          </a:solidFill>
          <a:ln/>
        </p:spPr>
      </p:sp>
      <p:sp>
        <p:nvSpPr>
          <p:cNvPr id="36" name="Text 34"/>
          <p:cNvSpPr txBox="1"/>
          <p:nvPr/>
        </p:nvSpPr>
        <p:spPr>
          <a:xfrm>
            <a:off x="658368" y="267567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37" name="Shape 35"/>
          <p:cNvSpPr/>
          <p:nvPr/>
        </p:nvSpPr>
        <p:spPr>
          <a:xfrm>
            <a:off x="2857500" y="2760433"/>
            <a:ext cx="155448" cy="155448"/>
          </a:xfrm>
          <a:prstGeom prst="ellipse">
            <a:avLst/>
          </a:prstGeom>
          <a:solidFill>
            <a:srgbClr val="12A566"/>
          </a:solidFill>
          <a:ln w="12700">
            <a:solidFill>
              <a:srgbClr val="12A566"/>
            </a:solidFill>
            <a:prstDash val="solid"/>
          </a:ln>
        </p:spPr>
      </p:sp>
      <p:sp>
        <p:nvSpPr>
          <p:cNvPr id="38" name="Shape 36"/>
          <p:cNvSpPr/>
          <p:nvPr/>
        </p:nvSpPr>
        <p:spPr>
          <a:xfrm>
            <a:off x="3442716" y="2760433"/>
            <a:ext cx="155448" cy="155448"/>
          </a:xfrm>
          <a:prstGeom prst="ellipse">
            <a:avLst/>
          </a:prstGeom>
          <a:solidFill>
            <a:srgbClr val="12A566"/>
          </a:solidFill>
          <a:ln w="12700">
            <a:solidFill>
              <a:srgbClr val="12A566"/>
            </a:solidFill>
            <a:prstDash val="solid"/>
          </a:ln>
        </p:spPr>
      </p:sp>
      <p:sp>
        <p:nvSpPr>
          <p:cNvPr id="39" name="Shape 37"/>
          <p:cNvSpPr/>
          <p:nvPr/>
        </p:nvSpPr>
        <p:spPr>
          <a:xfrm>
            <a:off x="4027932" y="2760433"/>
            <a:ext cx="155448" cy="155448"/>
          </a:xfrm>
          <a:prstGeom prst="ellipse">
            <a:avLst/>
          </a:prstGeom>
          <a:solidFill>
            <a:srgbClr val="12A566"/>
          </a:solidFill>
          <a:ln w="12700">
            <a:solidFill>
              <a:srgbClr val="12A566"/>
            </a:solidFill>
            <a:prstDash val="solid"/>
          </a:ln>
        </p:spPr>
      </p:sp>
      <p:sp>
        <p:nvSpPr>
          <p:cNvPr id="40" name="Text 38"/>
          <p:cNvSpPr txBox="1"/>
          <p:nvPr/>
        </p:nvSpPr>
        <p:spPr>
          <a:xfrm>
            <a:off x="4398264" y="267567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$12.34M</a:t>
            </a:r>
            <a:endParaRPr lang="en-US" sz="1300" dirty="0"/>
          </a:p>
        </p:txBody>
      </p:sp>
      <p:sp>
        <p:nvSpPr>
          <p:cNvPr id="41" name="Text 39"/>
          <p:cNvSpPr txBox="1"/>
          <p:nvPr/>
        </p:nvSpPr>
        <p:spPr>
          <a:xfrm>
            <a:off x="5239512" y="267567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+16.0%</a:t>
            </a:r>
            <a:endParaRPr lang="en-US" sz="1300" dirty="0"/>
          </a:p>
        </p:txBody>
      </p:sp>
      <p:sp>
        <p:nvSpPr>
          <p:cNvPr id="42" name="Text 40"/>
          <p:cNvSpPr txBox="1"/>
          <p:nvPr/>
        </p:nvSpPr>
        <p:spPr>
          <a:xfrm>
            <a:off x="658368" y="3000639"/>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43" name="Shape 41"/>
          <p:cNvSpPr/>
          <p:nvPr/>
        </p:nvSpPr>
        <p:spPr>
          <a:xfrm>
            <a:off x="2857500" y="3085397"/>
            <a:ext cx="155448" cy="155448"/>
          </a:xfrm>
          <a:prstGeom prst="ellipse">
            <a:avLst/>
          </a:prstGeom>
          <a:solidFill>
            <a:srgbClr val="12A566"/>
          </a:solidFill>
          <a:ln w="12700">
            <a:solidFill>
              <a:srgbClr val="12A566"/>
            </a:solidFill>
            <a:prstDash val="solid"/>
          </a:ln>
        </p:spPr>
      </p:sp>
      <p:sp>
        <p:nvSpPr>
          <p:cNvPr id="44" name="Shape 42"/>
          <p:cNvSpPr/>
          <p:nvPr/>
        </p:nvSpPr>
        <p:spPr>
          <a:xfrm>
            <a:off x="3442716" y="3085397"/>
            <a:ext cx="155448" cy="155448"/>
          </a:xfrm>
          <a:prstGeom prst="ellipse">
            <a:avLst/>
          </a:prstGeom>
          <a:solidFill>
            <a:srgbClr val="12A566"/>
          </a:solidFill>
          <a:ln w="12700">
            <a:solidFill>
              <a:srgbClr val="12A566"/>
            </a:solidFill>
            <a:prstDash val="solid"/>
          </a:ln>
        </p:spPr>
      </p:sp>
      <p:sp>
        <p:nvSpPr>
          <p:cNvPr id="45" name="Shape 43"/>
          <p:cNvSpPr/>
          <p:nvPr/>
        </p:nvSpPr>
        <p:spPr>
          <a:xfrm>
            <a:off x="4027932" y="3085397"/>
            <a:ext cx="155448" cy="155448"/>
          </a:xfrm>
          <a:prstGeom prst="ellipse">
            <a:avLst/>
          </a:prstGeom>
          <a:solidFill>
            <a:srgbClr val="12A566"/>
          </a:solidFill>
          <a:ln w="12700">
            <a:solidFill>
              <a:srgbClr val="12A566"/>
            </a:solidFill>
            <a:prstDash val="solid"/>
          </a:ln>
        </p:spPr>
      </p:sp>
      <p:sp>
        <p:nvSpPr>
          <p:cNvPr id="46" name="Text 44"/>
          <p:cNvSpPr txBox="1"/>
          <p:nvPr/>
        </p:nvSpPr>
        <p:spPr>
          <a:xfrm>
            <a:off x="4398264" y="3000639"/>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$2.70M</a:t>
            </a:r>
            <a:endParaRPr lang="en-US" sz="1300" dirty="0"/>
          </a:p>
        </p:txBody>
      </p:sp>
      <p:sp>
        <p:nvSpPr>
          <p:cNvPr id="47" name="Text 45"/>
          <p:cNvSpPr txBox="1"/>
          <p:nvPr/>
        </p:nvSpPr>
        <p:spPr>
          <a:xfrm>
            <a:off x="5239512" y="3000639"/>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+15.7%</a:t>
            </a:r>
            <a:endParaRPr lang="en-US" sz="1300" dirty="0"/>
          </a:p>
        </p:txBody>
      </p:sp>
      <p:sp>
        <p:nvSpPr>
          <p:cNvPr id="48" name="Shape 46"/>
          <p:cNvSpPr/>
          <p:nvPr/>
        </p:nvSpPr>
        <p:spPr>
          <a:xfrm>
            <a:off x="585216" y="3325602"/>
            <a:ext cx="5486400" cy="324964"/>
          </a:xfrm>
          <a:prstGeom prst="rect">
            <a:avLst/>
          </a:prstGeom>
          <a:solidFill>
            <a:srgbClr val="F7F7F7"/>
          </a:solidFill>
          <a:ln/>
        </p:spPr>
      </p:sp>
      <p:sp>
        <p:nvSpPr>
          <p:cNvPr id="49" name="Text 47"/>
          <p:cNvSpPr txBox="1"/>
          <p:nvPr/>
        </p:nvSpPr>
        <p:spPr>
          <a:xfrm>
            <a:off x="658368" y="3325602"/>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0" name="Shape 48"/>
          <p:cNvSpPr/>
          <p:nvPr/>
        </p:nvSpPr>
        <p:spPr>
          <a:xfrm>
            <a:off x="2857500" y="3410360"/>
            <a:ext cx="155448" cy="155448"/>
          </a:xfrm>
          <a:prstGeom prst="ellipse">
            <a:avLst/>
          </a:prstGeom>
          <a:solidFill>
            <a:srgbClr val="12A566"/>
          </a:solidFill>
          <a:ln w="12700">
            <a:solidFill>
              <a:srgbClr val="12A566"/>
            </a:solidFill>
            <a:prstDash val="solid"/>
          </a:ln>
        </p:spPr>
      </p:sp>
      <p:sp>
        <p:nvSpPr>
          <p:cNvPr id="51" name="Shape 49"/>
          <p:cNvSpPr/>
          <p:nvPr/>
        </p:nvSpPr>
        <p:spPr>
          <a:xfrm>
            <a:off x="3442716" y="3410360"/>
            <a:ext cx="155448" cy="155448"/>
          </a:xfrm>
          <a:prstGeom prst="ellipse">
            <a:avLst/>
          </a:prstGeom>
          <a:solidFill>
            <a:srgbClr val="12A566"/>
          </a:solidFill>
          <a:ln w="12700">
            <a:solidFill>
              <a:srgbClr val="12A566"/>
            </a:solidFill>
            <a:prstDash val="solid"/>
          </a:ln>
        </p:spPr>
      </p:sp>
      <p:sp>
        <p:nvSpPr>
          <p:cNvPr id="52" name="Shape 50"/>
          <p:cNvSpPr/>
          <p:nvPr/>
        </p:nvSpPr>
        <p:spPr>
          <a:xfrm>
            <a:off x="4027932" y="3410360"/>
            <a:ext cx="155448" cy="155448"/>
          </a:xfrm>
          <a:prstGeom prst="ellipse">
            <a:avLst/>
          </a:prstGeom>
          <a:solidFill>
            <a:srgbClr val="12A566"/>
          </a:solidFill>
          <a:ln w="12700">
            <a:solidFill>
              <a:srgbClr val="12A566"/>
            </a:solidFill>
            <a:prstDash val="solid"/>
          </a:ln>
        </p:spPr>
      </p:sp>
      <p:sp>
        <p:nvSpPr>
          <p:cNvPr id="53" name="Text 51"/>
          <p:cNvSpPr txBox="1"/>
          <p:nvPr/>
        </p:nvSpPr>
        <p:spPr>
          <a:xfrm>
            <a:off x="4398264" y="3325602"/>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$3.52M</a:t>
            </a:r>
            <a:endParaRPr lang="en-US" sz="1300" dirty="0"/>
          </a:p>
        </p:txBody>
      </p:sp>
      <p:sp>
        <p:nvSpPr>
          <p:cNvPr id="54" name="Text 52"/>
          <p:cNvSpPr txBox="1"/>
          <p:nvPr/>
        </p:nvSpPr>
        <p:spPr>
          <a:xfrm>
            <a:off x="5239512" y="3325602"/>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+15.5%</a:t>
            </a:r>
            <a:endParaRPr lang="en-US" sz="1300" dirty="0"/>
          </a:p>
        </p:txBody>
      </p:sp>
      <p:sp>
        <p:nvSpPr>
          <p:cNvPr id="55" name="Text 53"/>
          <p:cNvSpPr txBox="1"/>
          <p:nvPr/>
        </p:nvSpPr>
        <p:spPr>
          <a:xfrm>
            <a:off x="658368" y="3650566"/>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56" name="Shape 54"/>
          <p:cNvSpPr/>
          <p:nvPr/>
        </p:nvSpPr>
        <p:spPr>
          <a:xfrm>
            <a:off x="2857500" y="3735324"/>
            <a:ext cx="155448" cy="155448"/>
          </a:xfrm>
          <a:prstGeom prst="ellipse">
            <a:avLst/>
          </a:prstGeom>
          <a:solidFill>
            <a:srgbClr val="12A566"/>
          </a:solidFill>
          <a:ln w="12700">
            <a:solidFill>
              <a:srgbClr val="12A566"/>
            </a:solidFill>
            <a:prstDash val="solid"/>
          </a:ln>
        </p:spPr>
      </p:sp>
      <p:sp>
        <p:nvSpPr>
          <p:cNvPr id="57" name="Shape 55"/>
          <p:cNvSpPr/>
          <p:nvPr/>
        </p:nvSpPr>
        <p:spPr>
          <a:xfrm>
            <a:off x="3442716" y="3735324"/>
            <a:ext cx="155448" cy="155448"/>
          </a:xfrm>
          <a:prstGeom prst="ellipse">
            <a:avLst/>
          </a:prstGeom>
          <a:solidFill>
            <a:srgbClr val="12A566"/>
          </a:solidFill>
          <a:ln w="12700">
            <a:solidFill>
              <a:srgbClr val="12A566"/>
            </a:solidFill>
            <a:prstDash val="solid"/>
          </a:ln>
        </p:spPr>
      </p:sp>
      <p:sp>
        <p:nvSpPr>
          <p:cNvPr id="58" name="Shape 56"/>
          <p:cNvSpPr/>
          <p:nvPr/>
        </p:nvSpPr>
        <p:spPr>
          <a:xfrm>
            <a:off x="4027932" y="3735324"/>
            <a:ext cx="155448" cy="155448"/>
          </a:xfrm>
          <a:prstGeom prst="ellipse">
            <a:avLst/>
          </a:prstGeom>
          <a:solidFill>
            <a:srgbClr val="12A566"/>
          </a:solidFill>
          <a:ln w="12700">
            <a:solidFill>
              <a:srgbClr val="12A566"/>
            </a:solidFill>
            <a:prstDash val="solid"/>
          </a:ln>
        </p:spPr>
      </p:sp>
      <p:sp>
        <p:nvSpPr>
          <p:cNvPr id="59" name="Text 57"/>
          <p:cNvSpPr txBox="1"/>
          <p:nvPr/>
        </p:nvSpPr>
        <p:spPr>
          <a:xfrm>
            <a:off x="4398264" y="3650566"/>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$4.47M</a:t>
            </a:r>
            <a:endParaRPr lang="en-US" sz="1300" dirty="0"/>
          </a:p>
        </p:txBody>
      </p:sp>
      <p:sp>
        <p:nvSpPr>
          <p:cNvPr id="60" name="Text 58"/>
          <p:cNvSpPr txBox="1"/>
          <p:nvPr/>
        </p:nvSpPr>
        <p:spPr>
          <a:xfrm>
            <a:off x="5239512" y="3650566"/>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endParaRPr lang="en-US" sz="1300" dirty="0"/>
          </a:p>
        </p:txBody>
      </p:sp>
      <p:sp>
        <p:nvSpPr>
          <p:cNvPr id="61" name="Shape 59"/>
          <p:cNvSpPr/>
          <p:nvPr/>
        </p:nvSpPr>
        <p:spPr>
          <a:xfrm>
            <a:off x="585216" y="3975530"/>
            <a:ext cx="5486400" cy="324964"/>
          </a:xfrm>
          <a:prstGeom prst="rect">
            <a:avLst/>
          </a:prstGeom>
          <a:solidFill>
            <a:srgbClr val="F7F7F7"/>
          </a:solidFill>
          <a:ln/>
        </p:spPr>
      </p:sp>
      <p:sp>
        <p:nvSpPr>
          <p:cNvPr id="62" name="Text 60"/>
          <p:cNvSpPr txBox="1"/>
          <p:nvPr/>
        </p:nvSpPr>
        <p:spPr>
          <a:xfrm>
            <a:off x="658368" y="3975530"/>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3" name="Shape 61"/>
          <p:cNvSpPr/>
          <p:nvPr/>
        </p:nvSpPr>
        <p:spPr>
          <a:xfrm>
            <a:off x="2857500" y="4060288"/>
            <a:ext cx="155448" cy="155448"/>
          </a:xfrm>
          <a:prstGeom prst="ellipse">
            <a:avLst/>
          </a:prstGeom>
          <a:solidFill>
            <a:srgbClr val="12A566"/>
          </a:solidFill>
          <a:ln w="12700">
            <a:solidFill>
              <a:srgbClr val="12A566"/>
            </a:solidFill>
            <a:prstDash val="solid"/>
          </a:ln>
        </p:spPr>
      </p:sp>
      <p:sp>
        <p:nvSpPr>
          <p:cNvPr id="64" name="Shape 62"/>
          <p:cNvSpPr/>
          <p:nvPr/>
        </p:nvSpPr>
        <p:spPr>
          <a:xfrm>
            <a:off x="3442716" y="4060288"/>
            <a:ext cx="155448" cy="155448"/>
          </a:xfrm>
          <a:prstGeom prst="ellipse">
            <a:avLst/>
          </a:prstGeom>
          <a:solidFill>
            <a:srgbClr val="12A566"/>
          </a:solidFill>
          <a:ln w="12700">
            <a:solidFill>
              <a:srgbClr val="12A566"/>
            </a:solidFill>
            <a:prstDash val="solid"/>
          </a:ln>
        </p:spPr>
      </p:sp>
      <p:sp>
        <p:nvSpPr>
          <p:cNvPr id="65" name="Shape 63"/>
          <p:cNvSpPr/>
          <p:nvPr/>
        </p:nvSpPr>
        <p:spPr>
          <a:xfrm>
            <a:off x="4027932" y="4060288"/>
            <a:ext cx="155448" cy="155448"/>
          </a:xfrm>
          <a:prstGeom prst="ellipse">
            <a:avLst/>
          </a:prstGeom>
          <a:solidFill>
            <a:srgbClr val="12A566"/>
          </a:solidFill>
          <a:ln w="12700">
            <a:solidFill>
              <a:srgbClr val="12A566"/>
            </a:solidFill>
            <a:prstDash val="solid"/>
          </a:ln>
        </p:spPr>
      </p:sp>
      <p:sp>
        <p:nvSpPr>
          <p:cNvPr id="66" name="Text 64"/>
          <p:cNvSpPr txBox="1"/>
          <p:nvPr/>
        </p:nvSpPr>
        <p:spPr>
          <a:xfrm>
            <a:off x="4398264" y="3975530"/>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$4.78M</a:t>
            </a:r>
            <a:endParaRPr lang="en-US" sz="1300" dirty="0"/>
          </a:p>
        </p:txBody>
      </p:sp>
      <p:sp>
        <p:nvSpPr>
          <p:cNvPr id="67" name="Text 65"/>
          <p:cNvSpPr txBox="1"/>
          <p:nvPr/>
        </p:nvSpPr>
        <p:spPr>
          <a:xfrm>
            <a:off x="5239512" y="3975530"/>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endParaRPr lang="en-US" sz="1300" dirty="0"/>
          </a:p>
        </p:txBody>
      </p:sp>
      <p:sp>
        <p:nvSpPr>
          <p:cNvPr id="68" name="Text 66"/>
          <p:cNvSpPr txBox="1"/>
          <p:nvPr/>
        </p:nvSpPr>
        <p:spPr>
          <a:xfrm>
            <a:off x="658368" y="430049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9" name="Shape 67"/>
          <p:cNvSpPr/>
          <p:nvPr/>
        </p:nvSpPr>
        <p:spPr>
          <a:xfrm>
            <a:off x="2857500" y="4385251"/>
            <a:ext cx="155448" cy="155448"/>
          </a:xfrm>
          <a:prstGeom prst="ellipse">
            <a:avLst/>
          </a:prstGeom>
          <a:solidFill>
            <a:srgbClr val="12A566"/>
          </a:solidFill>
          <a:ln w="12700">
            <a:solidFill>
              <a:srgbClr val="12A566"/>
            </a:solidFill>
            <a:prstDash val="solid"/>
          </a:ln>
        </p:spPr>
      </p:sp>
      <p:sp>
        <p:nvSpPr>
          <p:cNvPr id="70" name="Shape 68"/>
          <p:cNvSpPr/>
          <p:nvPr/>
        </p:nvSpPr>
        <p:spPr>
          <a:xfrm>
            <a:off x="3442716" y="4385251"/>
            <a:ext cx="155448" cy="155448"/>
          </a:xfrm>
          <a:prstGeom prst="ellipse">
            <a:avLst/>
          </a:prstGeom>
          <a:solidFill>
            <a:srgbClr val="12A566"/>
          </a:solidFill>
          <a:ln w="12700">
            <a:solidFill>
              <a:srgbClr val="12A566"/>
            </a:solidFill>
            <a:prstDash val="solid"/>
          </a:ln>
        </p:spPr>
      </p:sp>
      <p:sp>
        <p:nvSpPr>
          <p:cNvPr id="71" name="Shape 69"/>
          <p:cNvSpPr/>
          <p:nvPr/>
        </p:nvSpPr>
        <p:spPr>
          <a:xfrm>
            <a:off x="4027932" y="4385251"/>
            <a:ext cx="155448" cy="155448"/>
          </a:xfrm>
          <a:prstGeom prst="ellipse">
            <a:avLst/>
          </a:prstGeom>
          <a:solidFill>
            <a:srgbClr val="12A566"/>
          </a:solidFill>
          <a:ln w="12700">
            <a:solidFill>
              <a:srgbClr val="12A566"/>
            </a:solidFill>
            <a:prstDash val="solid"/>
          </a:ln>
        </p:spPr>
      </p:sp>
      <p:sp>
        <p:nvSpPr>
          <p:cNvPr id="72" name="Text 70"/>
          <p:cNvSpPr txBox="1"/>
          <p:nvPr/>
        </p:nvSpPr>
        <p:spPr>
          <a:xfrm>
            <a:off x="4398264" y="430049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$2.34M</a:t>
            </a:r>
            <a:endParaRPr lang="en-US" sz="1300" dirty="0"/>
          </a:p>
        </p:txBody>
      </p:sp>
      <p:sp>
        <p:nvSpPr>
          <p:cNvPr id="73" name="Text 71"/>
          <p:cNvSpPr txBox="1"/>
          <p:nvPr/>
        </p:nvSpPr>
        <p:spPr>
          <a:xfrm>
            <a:off x="5239512" y="430049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+10.1%</a:t>
            </a:r>
            <a:endParaRPr lang="en-US" sz="1300" dirty="0"/>
          </a:p>
        </p:txBody>
      </p:sp>
      <p:sp>
        <p:nvSpPr>
          <p:cNvPr id="74" name="Shape 72"/>
          <p:cNvSpPr/>
          <p:nvPr/>
        </p:nvSpPr>
        <p:spPr>
          <a:xfrm>
            <a:off x="585216" y="4625457"/>
            <a:ext cx="5486400" cy="324964"/>
          </a:xfrm>
          <a:prstGeom prst="rect">
            <a:avLst/>
          </a:prstGeom>
          <a:solidFill>
            <a:srgbClr val="F7F7F7"/>
          </a:solidFill>
          <a:ln/>
        </p:spPr>
      </p:sp>
      <p:sp>
        <p:nvSpPr>
          <p:cNvPr id="75" name="Text 73"/>
          <p:cNvSpPr txBox="1"/>
          <p:nvPr/>
        </p:nvSpPr>
        <p:spPr>
          <a:xfrm>
            <a:off x="658368" y="4625457"/>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76" name="Shape 74"/>
          <p:cNvSpPr/>
          <p:nvPr/>
        </p:nvSpPr>
        <p:spPr>
          <a:xfrm>
            <a:off x="2857500" y="4710215"/>
            <a:ext cx="155448" cy="155448"/>
          </a:xfrm>
          <a:prstGeom prst="ellipse">
            <a:avLst/>
          </a:prstGeom>
          <a:solidFill>
            <a:srgbClr val="12A566"/>
          </a:solidFill>
          <a:ln w="12700">
            <a:solidFill>
              <a:srgbClr val="12A566"/>
            </a:solidFill>
            <a:prstDash val="solid"/>
          </a:ln>
        </p:spPr>
      </p:sp>
      <p:sp>
        <p:nvSpPr>
          <p:cNvPr id="77" name="Shape 75"/>
          <p:cNvSpPr/>
          <p:nvPr/>
        </p:nvSpPr>
        <p:spPr>
          <a:xfrm>
            <a:off x="3442716" y="4710215"/>
            <a:ext cx="155448" cy="155448"/>
          </a:xfrm>
          <a:prstGeom prst="ellipse">
            <a:avLst/>
          </a:prstGeom>
          <a:solidFill>
            <a:srgbClr val="12A566"/>
          </a:solidFill>
          <a:ln w="12700">
            <a:solidFill>
              <a:srgbClr val="12A566"/>
            </a:solidFill>
            <a:prstDash val="solid"/>
          </a:ln>
        </p:spPr>
      </p:sp>
      <p:sp>
        <p:nvSpPr>
          <p:cNvPr id="78" name="Shape 76"/>
          <p:cNvSpPr/>
          <p:nvPr/>
        </p:nvSpPr>
        <p:spPr>
          <a:xfrm>
            <a:off x="4027932" y="4710215"/>
            <a:ext cx="155448" cy="155448"/>
          </a:xfrm>
          <a:prstGeom prst="ellipse">
            <a:avLst/>
          </a:prstGeom>
          <a:solidFill>
            <a:srgbClr val="12A566"/>
          </a:solidFill>
          <a:ln w="12700">
            <a:solidFill>
              <a:srgbClr val="12A566"/>
            </a:solidFill>
            <a:prstDash val="solid"/>
          </a:ln>
        </p:spPr>
      </p:sp>
      <p:sp>
        <p:nvSpPr>
          <p:cNvPr id="79" name="Text 77"/>
          <p:cNvSpPr txBox="1"/>
          <p:nvPr/>
        </p:nvSpPr>
        <p:spPr>
          <a:xfrm>
            <a:off x="4398264" y="4625457"/>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$22.59M</a:t>
            </a:r>
            <a:endParaRPr lang="en-US" sz="1300" dirty="0"/>
          </a:p>
        </p:txBody>
      </p:sp>
      <p:sp>
        <p:nvSpPr>
          <p:cNvPr id="80" name="Text 78"/>
          <p:cNvSpPr txBox="1"/>
          <p:nvPr/>
        </p:nvSpPr>
        <p:spPr>
          <a:xfrm>
            <a:off x="5239512" y="4625457"/>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+8.5%</a:t>
            </a:r>
            <a:endParaRPr lang="en-US" sz="1300" dirty="0"/>
          </a:p>
        </p:txBody>
      </p:sp>
      <p:sp>
        <p:nvSpPr>
          <p:cNvPr id="81" name="Text 79"/>
          <p:cNvSpPr txBox="1"/>
          <p:nvPr/>
        </p:nvSpPr>
        <p:spPr>
          <a:xfrm>
            <a:off x="658368" y="495042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82" name="Shape 80"/>
          <p:cNvSpPr/>
          <p:nvPr/>
        </p:nvSpPr>
        <p:spPr>
          <a:xfrm>
            <a:off x="2857500" y="5035179"/>
            <a:ext cx="155448" cy="155448"/>
          </a:xfrm>
          <a:prstGeom prst="ellipse">
            <a:avLst/>
          </a:prstGeom>
          <a:solidFill>
            <a:srgbClr val="12A566"/>
          </a:solidFill>
          <a:ln w="12700">
            <a:solidFill>
              <a:srgbClr val="12A566"/>
            </a:solidFill>
            <a:prstDash val="solid"/>
          </a:ln>
        </p:spPr>
      </p:sp>
      <p:sp>
        <p:nvSpPr>
          <p:cNvPr id="83" name="Shape 81"/>
          <p:cNvSpPr/>
          <p:nvPr/>
        </p:nvSpPr>
        <p:spPr>
          <a:xfrm>
            <a:off x="3442716" y="5035179"/>
            <a:ext cx="155448" cy="155448"/>
          </a:xfrm>
          <a:prstGeom prst="ellipse">
            <a:avLst/>
          </a:prstGeom>
          <a:solidFill>
            <a:srgbClr val="12A566"/>
          </a:solidFill>
          <a:ln w="12700">
            <a:solidFill>
              <a:srgbClr val="12A566"/>
            </a:solidFill>
            <a:prstDash val="solid"/>
          </a:ln>
        </p:spPr>
      </p:sp>
      <p:sp>
        <p:nvSpPr>
          <p:cNvPr id="84" name="Shape 82"/>
          <p:cNvSpPr/>
          <p:nvPr/>
        </p:nvSpPr>
        <p:spPr>
          <a:xfrm>
            <a:off x="4027932" y="5035179"/>
            <a:ext cx="155448" cy="155448"/>
          </a:xfrm>
          <a:prstGeom prst="ellipse">
            <a:avLst/>
          </a:prstGeom>
          <a:solidFill>
            <a:srgbClr val="12A566"/>
          </a:solidFill>
          <a:ln w="12700">
            <a:solidFill>
              <a:srgbClr val="12A566"/>
            </a:solidFill>
            <a:prstDash val="solid"/>
          </a:ln>
        </p:spPr>
      </p:sp>
      <p:sp>
        <p:nvSpPr>
          <p:cNvPr id="85" name="Text 83"/>
          <p:cNvSpPr txBox="1"/>
          <p:nvPr/>
        </p:nvSpPr>
        <p:spPr>
          <a:xfrm>
            <a:off x="4398264" y="495042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$14.42M</a:t>
            </a:r>
            <a:endParaRPr lang="en-US" sz="1300" dirty="0"/>
          </a:p>
        </p:txBody>
      </p:sp>
      <p:sp>
        <p:nvSpPr>
          <p:cNvPr id="86" name="Text 84"/>
          <p:cNvSpPr txBox="1"/>
          <p:nvPr/>
        </p:nvSpPr>
        <p:spPr>
          <a:xfrm>
            <a:off x="5239512" y="495042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+4.2%</a:t>
            </a:r>
            <a:endParaRPr lang="en-US" sz="1300" dirty="0"/>
          </a:p>
        </p:txBody>
      </p:sp>
      <p:sp>
        <p:nvSpPr>
          <p:cNvPr id="87" name="Shape 85"/>
          <p:cNvSpPr/>
          <p:nvPr/>
        </p:nvSpPr>
        <p:spPr>
          <a:xfrm>
            <a:off x="585216" y="5275385"/>
            <a:ext cx="5486400" cy="324964"/>
          </a:xfrm>
          <a:prstGeom prst="rect">
            <a:avLst/>
          </a:prstGeom>
          <a:solidFill>
            <a:srgbClr val="F7F7F7"/>
          </a:solidFill>
          <a:ln/>
        </p:spPr>
      </p:sp>
      <p:sp>
        <p:nvSpPr>
          <p:cNvPr id="88" name="Text 86"/>
          <p:cNvSpPr txBox="1"/>
          <p:nvPr/>
        </p:nvSpPr>
        <p:spPr>
          <a:xfrm>
            <a:off x="658368" y="527538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9" name="Shape 87"/>
          <p:cNvSpPr/>
          <p:nvPr/>
        </p:nvSpPr>
        <p:spPr>
          <a:xfrm>
            <a:off x="2857500" y="5360142"/>
            <a:ext cx="155448" cy="155448"/>
          </a:xfrm>
          <a:prstGeom prst="ellipse">
            <a:avLst/>
          </a:prstGeom>
          <a:solidFill>
            <a:srgbClr val="12A566"/>
          </a:solidFill>
          <a:ln w="12700">
            <a:solidFill>
              <a:srgbClr val="12A566"/>
            </a:solidFill>
            <a:prstDash val="solid"/>
          </a:ln>
        </p:spPr>
      </p:sp>
      <p:sp>
        <p:nvSpPr>
          <p:cNvPr id="90" name="Shape 88"/>
          <p:cNvSpPr/>
          <p:nvPr/>
        </p:nvSpPr>
        <p:spPr>
          <a:xfrm>
            <a:off x="3442716" y="5360142"/>
            <a:ext cx="155448" cy="155448"/>
          </a:xfrm>
          <a:prstGeom prst="ellipse">
            <a:avLst/>
          </a:prstGeom>
          <a:solidFill>
            <a:srgbClr val="12A566"/>
          </a:solidFill>
          <a:ln w="12700">
            <a:solidFill>
              <a:srgbClr val="12A566"/>
            </a:solidFill>
            <a:prstDash val="solid"/>
          </a:ln>
        </p:spPr>
      </p:sp>
      <p:sp>
        <p:nvSpPr>
          <p:cNvPr id="91" name="Shape 89"/>
          <p:cNvSpPr/>
          <p:nvPr/>
        </p:nvSpPr>
        <p:spPr>
          <a:xfrm>
            <a:off x="4027932" y="5360142"/>
            <a:ext cx="155448" cy="155448"/>
          </a:xfrm>
          <a:prstGeom prst="ellipse">
            <a:avLst/>
          </a:prstGeom>
          <a:solidFill>
            <a:srgbClr val="12A566"/>
          </a:solidFill>
          <a:ln w="12700">
            <a:solidFill>
              <a:srgbClr val="12A566"/>
            </a:solidFill>
            <a:prstDash val="solid"/>
          </a:ln>
        </p:spPr>
      </p:sp>
      <p:sp>
        <p:nvSpPr>
          <p:cNvPr id="92" name="Text 90"/>
          <p:cNvSpPr txBox="1"/>
          <p:nvPr/>
        </p:nvSpPr>
        <p:spPr>
          <a:xfrm>
            <a:off x="4398264" y="527538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$3.31M</a:t>
            </a:r>
            <a:endParaRPr lang="en-US" sz="1300" dirty="0"/>
          </a:p>
        </p:txBody>
      </p:sp>
      <p:sp>
        <p:nvSpPr>
          <p:cNvPr id="93" name="Text 91"/>
          <p:cNvSpPr txBox="1"/>
          <p:nvPr/>
        </p:nvSpPr>
        <p:spPr>
          <a:xfrm>
            <a:off x="5239512" y="527538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+3.7%</a:t>
            </a:r>
            <a:endParaRPr lang="en-US" sz="1300" dirty="0"/>
          </a:p>
        </p:txBody>
      </p:sp>
      <p:sp>
        <p:nvSpPr>
          <p:cNvPr id="94" name="Text 92"/>
          <p:cNvSpPr txBox="1"/>
          <p:nvPr/>
        </p:nvSpPr>
        <p:spPr>
          <a:xfrm>
            <a:off x="658368" y="5600348"/>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95" name="Shape 93"/>
          <p:cNvSpPr/>
          <p:nvPr/>
        </p:nvSpPr>
        <p:spPr>
          <a:xfrm>
            <a:off x="2857500" y="5685106"/>
            <a:ext cx="155448" cy="155448"/>
          </a:xfrm>
          <a:prstGeom prst="ellipse">
            <a:avLst/>
          </a:prstGeom>
          <a:solidFill>
            <a:srgbClr val="12A566"/>
          </a:solidFill>
          <a:ln w="12700">
            <a:solidFill>
              <a:srgbClr val="12A566"/>
            </a:solidFill>
            <a:prstDash val="solid"/>
          </a:ln>
        </p:spPr>
      </p:sp>
      <p:sp>
        <p:nvSpPr>
          <p:cNvPr id="96" name="Shape 94"/>
          <p:cNvSpPr/>
          <p:nvPr/>
        </p:nvSpPr>
        <p:spPr>
          <a:xfrm>
            <a:off x="3442716" y="5685106"/>
            <a:ext cx="155448" cy="155448"/>
          </a:xfrm>
          <a:prstGeom prst="ellipse">
            <a:avLst/>
          </a:prstGeom>
          <a:solidFill>
            <a:srgbClr val="12A566"/>
          </a:solidFill>
          <a:ln w="12700">
            <a:solidFill>
              <a:srgbClr val="12A566"/>
            </a:solidFill>
            <a:prstDash val="solid"/>
          </a:ln>
        </p:spPr>
      </p:sp>
      <p:sp>
        <p:nvSpPr>
          <p:cNvPr id="97" name="Shape 95"/>
          <p:cNvSpPr/>
          <p:nvPr/>
        </p:nvSpPr>
        <p:spPr>
          <a:xfrm>
            <a:off x="4027932" y="5685106"/>
            <a:ext cx="155448" cy="155448"/>
          </a:xfrm>
          <a:prstGeom prst="ellipse">
            <a:avLst/>
          </a:prstGeom>
          <a:solidFill>
            <a:srgbClr val="12A566"/>
          </a:solidFill>
          <a:ln w="12700">
            <a:solidFill>
              <a:srgbClr val="12A566"/>
            </a:solidFill>
            <a:prstDash val="solid"/>
          </a:ln>
        </p:spPr>
      </p:sp>
      <p:sp>
        <p:nvSpPr>
          <p:cNvPr id="98" name="Text 96"/>
          <p:cNvSpPr txBox="1"/>
          <p:nvPr/>
        </p:nvSpPr>
        <p:spPr>
          <a:xfrm>
            <a:off x="4398264" y="5600348"/>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$3.42M</a:t>
            </a:r>
            <a:endParaRPr lang="en-US" sz="1300" dirty="0"/>
          </a:p>
        </p:txBody>
      </p:sp>
      <p:sp>
        <p:nvSpPr>
          <p:cNvPr id="99" name="Text 97"/>
          <p:cNvSpPr txBox="1"/>
          <p:nvPr/>
        </p:nvSpPr>
        <p:spPr>
          <a:xfrm>
            <a:off x="5239512" y="5600348"/>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+2.8%</a:t>
            </a:r>
            <a:endParaRPr lang="en-US" sz="1300" dirty="0"/>
          </a:p>
        </p:txBody>
      </p:sp>
      <p:sp>
        <p:nvSpPr>
          <p:cNvPr id="100" name="Text 98"/>
          <p:cNvSpPr txBox="1"/>
          <p:nvPr/>
        </p:nvSpPr>
        <p:spPr>
          <a:xfrm>
            <a:off x="6208776" y="170078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01" name="Shape 99"/>
          <p:cNvSpPr/>
          <p:nvPr/>
        </p:nvSpPr>
        <p:spPr>
          <a:xfrm>
            <a:off x="8407908" y="1785542"/>
            <a:ext cx="155448" cy="155448"/>
          </a:xfrm>
          <a:prstGeom prst="ellipse">
            <a:avLst/>
          </a:prstGeom>
          <a:solidFill>
            <a:srgbClr val="12A566"/>
          </a:solidFill>
          <a:ln w="12700">
            <a:solidFill>
              <a:srgbClr val="12A566"/>
            </a:solidFill>
            <a:prstDash val="solid"/>
          </a:ln>
        </p:spPr>
      </p:sp>
      <p:sp>
        <p:nvSpPr>
          <p:cNvPr id="102" name="Shape 100"/>
          <p:cNvSpPr/>
          <p:nvPr/>
        </p:nvSpPr>
        <p:spPr>
          <a:xfrm>
            <a:off x="8993124" y="1785542"/>
            <a:ext cx="155448" cy="155448"/>
          </a:xfrm>
          <a:prstGeom prst="ellipse">
            <a:avLst/>
          </a:prstGeom>
          <a:solidFill>
            <a:srgbClr val="FFFFFF"/>
          </a:solidFill>
          <a:ln w="12700">
            <a:solidFill>
              <a:srgbClr val="9AA3AD"/>
            </a:solidFill>
            <a:prstDash val="solid"/>
          </a:ln>
        </p:spPr>
      </p:sp>
      <p:sp>
        <p:nvSpPr>
          <p:cNvPr id="103" name="Shape 101"/>
          <p:cNvSpPr/>
          <p:nvPr/>
        </p:nvSpPr>
        <p:spPr>
          <a:xfrm>
            <a:off x="9578340" y="1785542"/>
            <a:ext cx="155448" cy="155448"/>
          </a:xfrm>
          <a:prstGeom prst="ellipse">
            <a:avLst/>
          </a:prstGeom>
          <a:solidFill>
            <a:srgbClr val="12A566"/>
          </a:solidFill>
          <a:ln w="12700">
            <a:solidFill>
              <a:srgbClr val="12A566"/>
            </a:solidFill>
            <a:prstDash val="solid"/>
          </a:ln>
        </p:spPr>
      </p:sp>
      <p:sp>
        <p:nvSpPr>
          <p:cNvPr id="104" name="Text 102"/>
          <p:cNvSpPr txBox="1"/>
          <p:nvPr/>
        </p:nvSpPr>
        <p:spPr>
          <a:xfrm>
            <a:off x="9948672" y="170078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$5.08M</a:t>
            </a:r>
            <a:endParaRPr lang="en-US" sz="1300" dirty="0"/>
          </a:p>
        </p:txBody>
      </p:sp>
      <p:sp>
        <p:nvSpPr>
          <p:cNvPr id="105" name="Text 103"/>
          <p:cNvSpPr txBox="1"/>
          <p:nvPr/>
        </p:nvSpPr>
        <p:spPr>
          <a:xfrm>
            <a:off x="10789920" y="170078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+13.0%</a:t>
            </a:r>
            <a:endParaRPr lang="en-US" sz="1300" dirty="0"/>
          </a:p>
        </p:txBody>
      </p:sp>
      <p:sp>
        <p:nvSpPr>
          <p:cNvPr id="106" name="Shape 104"/>
          <p:cNvSpPr/>
          <p:nvPr/>
        </p:nvSpPr>
        <p:spPr>
          <a:xfrm>
            <a:off x="6135624" y="2025748"/>
            <a:ext cx="5486400" cy="324964"/>
          </a:xfrm>
          <a:prstGeom prst="rect">
            <a:avLst/>
          </a:prstGeom>
          <a:solidFill>
            <a:srgbClr val="F7F7F7"/>
          </a:solidFill>
          <a:ln/>
        </p:spPr>
      </p:sp>
      <p:sp>
        <p:nvSpPr>
          <p:cNvPr id="107" name="Text 105"/>
          <p:cNvSpPr txBox="1"/>
          <p:nvPr/>
        </p:nvSpPr>
        <p:spPr>
          <a:xfrm>
            <a:off x="6208776" y="2025748"/>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8" name="Shape 106"/>
          <p:cNvSpPr/>
          <p:nvPr/>
        </p:nvSpPr>
        <p:spPr>
          <a:xfrm>
            <a:off x="8407908" y="2110506"/>
            <a:ext cx="155448" cy="155448"/>
          </a:xfrm>
          <a:prstGeom prst="ellipse">
            <a:avLst/>
          </a:prstGeom>
          <a:solidFill>
            <a:srgbClr val="12A566"/>
          </a:solidFill>
          <a:ln w="12700">
            <a:solidFill>
              <a:srgbClr val="12A566"/>
            </a:solidFill>
            <a:prstDash val="solid"/>
          </a:ln>
        </p:spPr>
      </p:sp>
      <p:sp>
        <p:nvSpPr>
          <p:cNvPr id="109" name="Shape 107"/>
          <p:cNvSpPr/>
          <p:nvPr/>
        </p:nvSpPr>
        <p:spPr>
          <a:xfrm>
            <a:off x="8993124" y="2110506"/>
            <a:ext cx="155448" cy="155448"/>
          </a:xfrm>
          <a:prstGeom prst="ellipse">
            <a:avLst/>
          </a:prstGeom>
          <a:solidFill>
            <a:srgbClr val="FFFFFF"/>
          </a:solidFill>
          <a:ln w="12700">
            <a:solidFill>
              <a:srgbClr val="9AA3AD"/>
            </a:solidFill>
            <a:prstDash val="solid"/>
          </a:ln>
        </p:spPr>
      </p:sp>
      <p:sp>
        <p:nvSpPr>
          <p:cNvPr id="110" name="Shape 108"/>
          <p:cNvSpPr/>
          <p:nvPr/>
        </p:nvSpPr>
        <p:spPr>
          <a:xfrm>
            <a:off x="9578340" y="2110506"/>
            <a:ext cx="155448" cy="155448"/>
          </a:xfrm>
          <a:prstGeom prst="ellipse">
            <a:avLst/>
          </a:prstGeom>
          <a:solidFill>
            <a:srgbClr val="12A566"/>
          </a:solidFill>
          <a:ln w="12700">
            <a:solidFill>
              <a:srgbClr val="12A566"/>
            </a:solidFill>
            <a:prstDash val="solid"/>
          </a:ln>
        </p:spPr>
      </p:sp>
      <p:sp>
        <p:nvSpPr>
          <p:cNvPr id="111" name="Text 109"/>
          <p:cNvSpPr txBox="1"/>
          <p:nvPr/>
        </p:nvSpPr>
        <p:spPr>
          <a:xfrm>
            <a:off x="9948672" y="2025748"/>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$5.93M</a:t>
            </a:r>
            <a:endParaRPr lang="en-US" sz="1300" dirty="0"/>
          </a:p>
        </p:txBody>
      </p:sp>
      <p:sp>
        <p:nvSpPr>
          <p:cNvPr id="112" name="Text 110"/>
          <p:cNvSpPr txBox="1"/>
          <p:nvPr/>
        </p:nvSpPr>
        <p:spPr>
          <a:xfrm>
            <a:off x="10789920" y="2025748"/>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+10.1%</a:t>
            </a:r>
            <a:endParaRPr lang="en-US" sz="1300" dirty="0"/>
          </a:p>
        </p:txBody>
      </p:sp>
      <p:sp>
        <p:nvSpPr>
          <p:cNvPr id="113" name="Text 111"/>
          <p:cNvSpPr txBox="1"/>
          <p:nvPr/>
        </p:nvSpPr>
        <p:spPr>
          <a:xfrm>
            <a:off x="6208776" y="235071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4" name="Shape 112"/>
          <p:cNvSpPr/>
          <p:nvPr/>
        </p:nvSpPr>
        <p:spPr>
          <a:xfrm>
            <a:off x="8407908" y="2435469"/>
            <a:ext cx="155448" cy="155448"/>
          </a:xfrm>
          <a:prstGeom prst="ellipse">
            <a:avLst/>
          </a:prstGeom>
          <a:solidFill>
            <a:srgbClr val="12A566"/>
          </a:solidFill>
          <a:ln w="12700">
            <a:solidFill>
              <a:srgbClr val="12A566"/>
            </a:solidFill>
            <a:prstDash val="solid"/>
          </a:ln>
        </p:spPr>
      </p:sp>
      <p:sp>
        <p:nvSpPr>
          <p:cNvPr id="115" name="Shape 113"/>
          <p:cNvSpPr/>
          <p:nvPr/>
        </p:nvSpPr>
        <p:spPr>
          <a:xfrm>
            <a:off x="8993124" y="2435469"/>
            <a:ext cx="155448" cy="155448"/>
          </a:xfrm>
          <a:prstGeom prst="ellipse">
            <a:avLst/>
          </a:prstGeom>
          <a:solidFill>
            <a:srgbClr val="FFFFFF"/>
          </a:solidFill>
          <a:ln w="12700">
            <a:solidFill>
              <a:srgbClr val="9AA3AD"/>
            </a:solidFill>
            <a:prstDash val="solid"/>
          </a:ln>
        </p:spPr>
      </p:sp>
      <p:sp>
        <p:nvSpPr>
          <p:cNvPr id="116" name="Shape 114"/>
          <p:cNvSpPr/>
          <p:nvPr/>
        </p:nvSpPr>
        <p:spPr>
          <a:xfrm>
            <a:off x="9578340" y="2435469"/>
            <a:ext cx="155448" cy="155448"/>
          </a:xfrm>
          <a:prstGeom prst="ellipse">
            <a:avLst/>
          </a:prstGeom>
          <a:solidFill>
            <a:srgbClr val="12A566"/>
          </a:solidFill>
          <a:ln w="12700">
            <a:solidFill>
              <a:srgbClr val="12A566"/>
            </a:solidFill>
            <a:prstDash val="solid"/>
          </a:ln>
        </p:spPr>
      </p:sp>
      <p:sp>
        <p:nvSpPr>
          <p:cNvPr id="117" name="Text 115"/>
          <p:cNvSpPr txBox="1"/>
          <p:nvPr/>
        </p:nvSpPr>
        <p:spPr>
          <a:xfrm>
            <a:off x="9948672" y="235071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$4.18M</a:t>
            </a:r>
            <a:endParaRPr lang="en-US" sz="1300" dirty="0"/>
          </a:p>
        </p:txBody>
      </p:sp>
      <p:sp>
        <p:nvSpPr>
          <p:cNvPr id="118" name="Text 116"/>
          <p:cNvSpPr txBox="1"/>
          <p:nvPr/>
        </p:nvSpPr>
        <p:spPr>
          <a:xfrm>
            <a:off x="10789920" y="235071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endParaRPr lang="en-US" sz="1300" dirty="0"/>
          </a:p>
        </p:txBody>
      </p:sp>
      <p:sp>
        <p:nvSpPr>
          <p:cNvPr id="119" name="Shape 117"/>
          <p:cNvSpPr/>
          <p:nvPr/>
        </p:nvSpPr>
        <p:spPr>
          <a:xfrm>
            <a:off x="6135624" y="2675675"/>
            <a:ext cx="5486400" cy="324964"/>
          </a:xfrm>
          <a:prstGeom prst="rect">
            <a:avLst/>
          </a:prstGeom>
          <a:solidFill>
            <a:srgbClr val="F7F7F7"/>
          </a:solidFill>
          <a:ln/>
        </p:spPr>
      </p:sp>
      <p:sp>
        <p:nvSpPr>
          <p:cNvPr id="120" name="Text 118"/>
          <p:cNvSpPr txBox="1"/>
          <p:nvPr/>
        </p:nvSpPr>
        <p:spPr>
          <a:xfrm>
            <a:off x="6208776" y="267567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21" name="Shape 119"/>
          <p:cNvSpPr/>
          <p:nvPr/>
        </p:nvSpPr>
        <p:spPr>
          <a:xfrm>
            <a:off x="8407908" y="2760433"/>
            <a:ext cx="155448" cy="155448"/>
          </a:xfrm>
          <a:prstGeom prst="ellipse">
            <a:avLst/>
          </a:prstGeom>
          <a:solidFill>
            <a:srgbClr val="12A566"/>
          </a:solidFill>
          <a:ln w="12700">
            <a:solidFill>
              <a:srgbClr val="12A566"/>
            </a:solidFill>
            <a:prstDash val="solid"/>
          </a:ln>
        </p:spPr>
      </p:sp>
      <p:sp>
        <p:nvSpPr>
          <p:cNvPr id="122" name="Shape 120"/>
          <p:cNvSpPr/>
          <p:nvPr/>
        </p:nvSpPr>
        <p:spPr>
          <a:xfrm>
            <a:off x="8993124" y="2760433"/>
            <a:ext cx="155448" cy="155448"/>
          </a:xfrm>
          <a:prstGeom prst="ellipse">
            <a:avLst/>
          </a:prstGeom>
          <a:solidFill>
            <a:srgbClr val="FFFFFF"/>
          </a:solidFill>
          <a:ln w="12700">
            <a:solidFill>
              <a:srgbClr val="9AA3AD"/>
            </a:solidFill>
            <a:prstDash val="solid"/>
          </a:ln>
        </p:spPr>
      </p:sp>
      <p:sp>
        <p:nvSpPr>
          <p:cNvPr id="123" name="Shape 121"/>
          <p:cNvSpPr/>
          <p:nvPr/>
        </p:nvSpPr>
        <p:spPr>
          <a:xfrm>
            <a:off x="9578340" y="2760433"/>
            <a:ext cx="155448" cy="155448"/>
          </a:xfrm>
          <a:prstGeom prst="ellipse">
            <a:avLst/>
          </a:prstGeom>
          <a:solidFill>
            <a:srgbClr val="12A566"/>
          </a:solidFill>
          <a:ln w="12700">
            <a:solidFill>
              <a:srgbClr val="12A566"/>
            </a:solidFill>
            <a:prstDash val="solid"/>
          </a:ln>
        </p:spPr>
      </p:sp>
      <p:sp>
        <p:nvSpPr>
          <p:cNvPr id="124" name="Text 122"/>
          <p:cNvSpPr txBox="1"/>
          <p:nvPr/>
        </p:nvSpPr>
        <p:spPr>
          <a:xfrm>
            <a:off x="9948672" y="267567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$2.21M</a:t>
            </a:r>
            <a:endParaRPr lang="en-US" sz="1300" dirty="0"/>
          </a:p>
        </p:txBody>
      </p:sp>
      <p:sp>
        <p:nvSpPr>
          <p:cNvPr id="125" name="Text 123"/>
          <p:cNvSpPr txBox="1"/>
          <p:nvPr/>
        </p:nvSpPr>
        <p:spPr>
          <a:xfrm>
            <a:off x="10789920" y="267567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+7.6%</a:t>
            </a:r>
            <a:endParaRPr lang="en-US" sz="1300" dirty="0"/>
          </a:p>
        </p:txBody>
      </p:sp>
      <p:sp>
        <p:nvSpPr>
          <p:cNvPr id="126" name="Text 124"/>
          <p:cNvSpPr txBox="1"/>
          <p:nvPr/>
        </p:nvSpPr>
        <p:spPr>
          <a:xfrm>
            <a:off x="6208776" y="3000639"/>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27" name="Shape 125"/>
          <p:cNvSpPr/>
          <p:nvPr/>
        </p:nvSpPr>
        <p:spPr>
          <a:xfrm>
            <a:off x="8407908" y="3085397"/>
            <a:ext cx="155448" cy="155448"/>
          </a:xfrm>
          <a:prstGeom prst="ellipse">
            <a:avLst/>
          </a:prstGeom>
          <a:solidFill>
            <a:srgbClr val="FFFFFF"/>
          </a:solidFill>
          <a:ln w="12700">
            <a:solidFill>
              <a:srgbClr val="9AA3AD"/>
            </a:solidFill>
            <a:prstDash val="solid"/>
          </a:ln>
        </p:spPr>
      </p:sp>
      <p:sp>
        <p:nvSpPr>
          <p:cNvPr id="128" name="Shape 126"/>
          <p:cNvSpPr/>
          <p:nvPr/>
        </p:nvSpPr>
        <p:spPr>
          <a:xfrm>
            <a:off x="8993124" y="3085397"/>
            <a:ext cx="155448" cy="155448"/>
          </a:xfrm>
          <a:prstGeom prst="ellipse">
            <a:avLst/>
          </a:prstGeom>
          <a:solidFill>
            <a:srgbClr val="12A566"/>
          </a:solidFill>
          <a:ln w="12700">
            <a:solidFill>
              <a:srgbClr val="12A566"/>
            </a:solidFill>
            <a:prstDash val="solid"/>
          </a:ln>
        </p:spPr>
      </p:sp>
      <p:sp>
        <p:nvSpPr>
          <p:cNvPr id="129" name="Shape 127"/>
          <p:cNvSpPr/>
          <p:nvPr/>
        </p:nvSpPr>
        <p:spPr>
          <a:xfrm>
            <a:off x="9578340" y="3085397"/>
            <a:ext cx="155448" cy="155448"/>
          </a:xfrm>
          <a:prstGeom prst="ellipse">
            <a:avLst/>
          </a:prstGeom>
          <a:solidFill>
            <a:srgbClr val="12A566"/>
          </a:solidFill>
          <a:ln w="12700">
            <a:solidFill>
              <a:srgbClr val="12A566"/>
            </a:solidFill>
            <a:prstDash val="solid"/>
          </a:ln>
        </p:spPr>
      </p:sp>
      <p:sp>
        <p:nvSpPr>
          <p:cNvPr id="130" name="Text 128"/>
          <p:cNvSpPr txBox="1"/>
          <p:nvPr/>
        </p:nvSpPr>
        <p:spPr>
          <a:xfrm>
            <a:off x="9948672" y="3000639"/>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$9.60M</a:t>
            </a:r>
            <a:endParaRPr lang="en-US" sz="1300" dirty="0"/>
          </a:p>
        </p:txBody>
      </p:sp>
      <p:sp>
        <p:nvSpPr>
          <p:cNvPr id="131" name="Text 129"/>
          <p:cNvSpPr txBox="1"/>
          <p:nvPr/>
        </p:nvSpPr>
        <p:spPr>
          <a:xfrm>
            <a:off x="10789920" y="3000639"/>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+7.4%</a:t>
            </a:r>
            <a:endParaRPr lang="en-US" sz="1300" dirty="0"/>
          </a:p>
        </p:txBody>
      </p:sp>
      <p:sp>
        <p:nvSpPr>
          <p:cNvPr id="132" name="Shape 130"/>
          <p:cNvSpPr/>
          <p:nvPr/>
        </p:nvSpPr>
        <p:spPr>
          <a:xfrm>
            <a:off x="6135624" y="3325602"/>
            <a:ext cx="5486400" cy="324964"/>
          </a:xfrm>
          <a:prstGeom prst="rect">
            <a:avLst/>
          </a:prstGeom>
          <a:solidFill>
            <a:srgbClr val="F7F7F7"/>
          </a:solidFill>
          <a:ln/>
        </p:spPr>
      </p:sp>
      <p:sp>
        <p:nvSpPr>
          <p:cNvPr id="133" name="Text 131"/>
          <p:cNvSpPr txBox="1"/>
          <p:nvPr/>
        </p:nvSpPr>
        <p:spPr>
          <a:xfrm>
            <a:off x="6208776" y="3325602"/>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4" name="Shape 132"/>
          <p:cNvSpPr/>
          <p:nvPr/>
        </p:nvSpPr>
        <p:spPr>
          <a:xfrm>
            <a:off x="8407908" y="3410360"/>
            <a:ext cx="155448" cy="155448"/>
          </a:xfrm>
          <a:prstGeom prst="ellipse">
            <a:avLst/>
          </a:prstGeom>
          <a:solidFill>
            <a:srgbClr val="12A566"/>
          </a:solidFill>
          <a:ln w="12700">
            <a:solidFill>
              <a:srgbClr val="12A566"/>
            </a:solidFill>
            <a:prstDash val="solid"/>
          </a:ln>
        </p:spPr>
      </p:sp>
      <p:sp>
        <p:nvSpPr>
          <p:cNvPr id="135" name="Shape 133"/>
          <p:cNvSpPr/>
          <p:nvPr/>
        </p:nvSpPr>
        <p:spPr>
          <a:xfrm>
            <a:off x="8993124" y="3410360"/>
            <a:ext cx="155448" cy="155448"/>
          </a:xfrm>
          <a:prstGeom prst="ellipse">
            <a:avLst/>
          </a:prstGeom>
          <a:solidFill>
            <a:srgbClr val="FFFFFF"/>
          </a:solidFill>
          <a:ln w="12700">
            <a:solidFill>
              <a:srgbClr val="9AA3AD"/>
            </a:solidFill>
            <a:prstDash val="solid"/>
          </a:ln>
        </p:spPr>
      </p:sp>
      <p:sp>
        <p:nvSpPr>
          <p:cNvPr id="136" name="Shape 134"/>
          <p:cNvSpPr/>
          <p:nvPr/>
        </p:nvSpPr>
        <p:spPr>
          <a:xfrm>
            <a:off x="9578340" y="3410360"/>
            <a:ext cx="155448" cy="155448"/>
          </a:xfrm>
          <a:prstGeom prst="ellipse">
            <a:avLst/>
          </a:prstGeom>
          <a:solidFill>
            <a:srgbClr val="12A566"/>
          </a:solidFill>
          <a:ln w="12700">
            <a:solidFill>
              <a:srgbClr val="12A566"/>
            </a:solidFill>
            <a:prstDash val="solid"/>
          </a:ln>
        </p:spPr>
      </p:sp>
      <p:sp>
        <p:nvSpPr>
          <p:cNvPr id="137" name="Text 135"/>
          <p:cNvSpPr txBox="1"/>
          <p:nvPr/>
        </p:nvSpPr>
        <p:spPr>
          <a:xfrm>
            <a:off x="9948672" y="3325602"/>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$2.29M</a:t>
            </a:r>
            <a:endParaRPr lang="en-US" sz="1300" dirty="0"/>
          </a:p>
        </p:txBody>
      </p:sp>
      <p:sp>
        <p:nvSpPr>
          <p:cNvPr id="138" name="Text 136"/>
          <p:cNvSpPr txBox="1"/>
          <p:nvPr/>
        </p:nvSpPr>
        <p:spPr>
          <a:xfrm>
            <a:off x="10789920" y="3325602"/>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+4.0%</a:t>
            </a:r>
            <a:endParaRPr lang="en-US" sz="1300" dirty="0"/>
          </a:p>
        </p:txBody>
      </p:sp>
      <p:sp>
        <p:nvSpPr>
          <p:cNvPr id="139" name="Text 137"/>
          <p:cNvSpPr txBox="1"/>
          <p:nvPr/>
        </p:nvSpPr>
        <p:spPr>
          <a:xfrm>
            <a:off x="6208776" y="3650566"/>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40" name="Shape 138"/>
          <p:cNvSpPr/>
          <p:nvPr/>
        </p:nvSpPr>
        <p:spPr>
          <a:xfrm>
            <a:off x="8407908" y="3735324"/>
            <a:ext cx="155448" cy="155448"/>
          </a:xfrm>
          <a:prstGeom prst="ellipse">
            <a:avLst/>
          </a:prstGeom>
          <a:solidFill>
            <a:srgbClr val="12A566"/>
          </a:solidFill>
          <a:ln w="12700">
            <a:solidFill>
              <a:srgbClr val="12A566"/>
            </a:solidFill>
            <a:prstDash val="solid"/>
          </a:ln>
        </p:spPr>
      </p:sp>
      <p:sp>
        <p:nvSpPr>
          <p:cNvPr id="141" name="Shape 139"/>
          <p:cNvSpPr/>
          <p:nvPr/>
        </p:nvSpPr>
        <p:spPr>
          <a:xfrm>
            <a:off x="8993124" y="3735324"/>
            <a:ext cx="155448" cy="155448"/>
          </a:xfrm>
          <a:prstGeom prst="ellipse">
            <a:avLst/>
          </a:prstGeom>
          <a:solidFill>
            <a:srgbClr val="FFFFFF"/>
          </a:solidFill>
          <a:ln w="12700">
            <a:solidFill>
              <a:srgbClr val="9AA3AD"/>
            </a:solidFill>
            <a:prstDash val="solid"/>
          </a:ln>
        </p:spPr>
      </p:sp>
      <p:sp>
        <p:nvSpPr>
          <p:cNvPr id="142" name="Shape 140"/>
          <p:cNvSpPr/>
          <p:nvPr/>
        </p:nvSpPr>
        <p:spPr>
          <a:xfrm>
            <a:off x="9578340" y="3735324"/>
            <a:ext cx="155448" cy="155448"/>
          </a:xfrm>
          <a:prstGeom prst="ellipse">
            <a:avLst/>
          </a:prstGeom>
          <a:solidFill>
            <a:srgbClr val="12A566"/>
          </a:solidFill>
          <a:ln w="12700">
            <a:solidFill>
              <a:srgbClr val="12A566"/>
            </a:solidFill>
            <a:prstDash val="solid"/>
          </a:ln>
        </p:spPr>
      </p:sp>
      <p:sp>
        <p:nvSpPr>
          <p:cNvPr id="143" name="Text 141"/>
          <p:cNvSpPr txBox="1"/>
          <p:nvPr/>
        </p:nvSpPr>
        <p:spPr>
          <a:xfrm>
            <a:off x="9948672" y="3650566"/>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$6.61M</a:t>
            </a:r>
            <a:endParaRPr lang="en-US" sz="1300" dirty="0"/>
          </a:p>
        </p:txBody>
      </p:sp>
      <p:sp>
        <p:nvSpPr>
          <p:cNvPr id="144" name="Text 142"/>
          <p:cNvSpPr txBox="1"/>
          <p:nvPr/>
        </p:nvSpPr>
        <p:spPr>
          <a:xfrm>
            <a:off x="10789920" y="3650566"/>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a:t>
            </a:r>
            <a:endParaRPr lang="en-US" sz="1300" dirty="0"/>
          </a:p>
        </p:txBody>
      </p:sp>
      <p:sp>
        <p:nvSpPr>
          <p:cNvPr id="145" name="Shape 143"/>
          <p:cNvSpPr/>
          <p:nvPr/>
        </p:nvSpPr>
        <p:spPr>
          <a:xfrm>
            <a:off x="6135624" y="3975530"/>
            <a:ext cx="5486400" cy="324964"/>
          </a:xfrm>
          <a:prstGeom prst="rect">
            <a:avLst/>
          </a:prstGeom>
          <a:solidFill>
            <a:srgbClr val="F7F7F7"/>
          </a:solidFill>
          <a:ln/>
        </p:spPr>
      </p:sp>
      <p:sp>
        <p:nvSpPr>
          <p:cNvPr id="146" name="Text 144"/>
          <p:cNvSpPr txBox="1"/>
          <p:nvPr/>
        </p:nvSpPr>
        <p:spPr>
          <a:xfrm>
            <a:off x="6208776" y="3975530"/>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7" name="Shape 145"/>
          <p:cNvSpPr/>
          <p:nvPr/>
        </p:nvSpPr>
        <p:spPr>
          <a:xfrm>
            <a:off x="8407908" y="4060288"/>
            <a:ext cx="155448" cy="155448"/>
          </a:xfrm>
          <a:prstGeom prst="ellipse">
            <a:avLst/>
          </a:prstGeom>
          <a:solidFill>
            <a:srgbClr val="12A566"/>
          </a:solidFill>
          <a:ln w="12700">
            <a:solidFill>
              <a:srgbClr val="12A566"/>
            </a:solidFill>
            <a:prstDash val="solid"/>
          </a:ln>
        </p:spPr>
      </p:sp>
      <p:sp>
        <p:nvSpPr>
          <p:cNvPr id="148" name="Shape 146"/>
          <p:cNvSpPr/>
          <p:nvPr/>
        </p:nvSpPr>
        <p:spPr>
          <a:xfrm>
            <a:off x="8993124" y="4060288"/>
            <a:ext cx="155448" cy="155448"/>
          </a:xfrm>
          <a:prstGeom prst="ellipse">
            <a:avLst/>
          </a:prstGeom>
          <a:solidFill>
            <a:srgbClr val="FFFFFF"/>
          </a:solidFill>
          <a:ln w="12700">
            <a:solidFill>
              <a:srgbClr val="9AA3AD"/>
            </a:solidFill>
            <a:prstDash val="solid"/>
          </a:ln>
        </p:spPr>
      </p:sp>
      <p:sp>
        <p:nvSpPr>
          <p:cNvPr id="149" name="Shape 147"/>
          <p:cNvSpPr/>
          <p:nvPr/>
        </p:nvSpPr>
        <p:spPr>
          <a:xfrm>
            <a:off x="9578340" y="4060288"/>
            <a:ext cx="155448" cy="155448"/>
          </a:xfrm>
          <a:prstGeom prst="ellipse">
            <a:avLst/>
          </a:prstGeom>
          <a:solidFill>
            <a:srgbClr val="12A566"/>
          </a:solidFill>
          <a:ln w="12700">
            <a:solidFill>
              <a:srgbClr val="12A566"/>
            </a:solidFill>
            <a:prstDash val="solid"/>
          </a:ln>
        </p:spPr>
      </p:sp>
      <p:sp>
        <p:nvSpPr>
          <p:cNvPr id="150" name="Text 148"/>
          <p:cNvSpPr txBox="1"/>
          <p:nvPr/>
        </p:nvSpPr>
        <p:spPr>
          <a:xfrm>
            <a:off x="9948672" y="3975530"/>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$6.15M</a:t>
            </a:r>
            <a:endParaRPr lang="en-US" sz="1300" dirty="0"/>
          </a:p>
        </p:txBody>
      </p:sp>
      <p:sp>
        <p:nvSpPr>
          <p:cNvPr id="151" name="Text 149"/>
          <p:cNvSpPr txBox="1"/>
          <p:nvPr/>
        </p:nvSpPr>
        <p:spPr>
          <a:xfrm>
            <a:off x="10789920" y="3975530"/>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a:t>
            </a:r>
            <a:endParaRPr lang="en-US" sz="1300" dirty="0"/>
          </a:p>
        </p:txBody>
      </p:sp>
      <p:sp>
        <p:nvSpPr>
          <p:cNvPr id="152" name="Text 150"/>
          <p:cNvSpPr txBox="1"/>
          <p:nvPr/>
        </p:nvSpPr>
        <p:spPr>
          <a:xfrm>
            <a:off x="6208776" y="430049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3" name="Shape 151"/>
          <p:cNvSpPr/>
          <p:nvPr/>
        </p:nvSpPr>
        <p:spPr>
          <a:xfrm>
            <a:off x="8407908" y="4385251"/>
            <a:ext cx="155448" cy="155448"/>
          </a:xfrm>
          <a:prstGeom prst="ellipse">
            <a:avLst/>
          </a:prstGeom>
          <a:solidFill>
            <a:srgbClr val="FFFFFF"/>
          </a:solidFill>
          <a:ln w="12700">
            <a:solidFill>
              <a:srgbClr val="9AA3AD"/>
            </a:solidFill>
            <a:prstDash val="solid"/>
          </a:ln>
        </p:spPr>
      </p:sp>
      <p:sp>
        <p:nvSpPr>
          <p:cNvPr id="154" name="Shape 152"/>
          <p:cNvSpPr/>
          <p:nvPr/>
        </p:nvSpPr>
        <p:spPr>
          <a:xfrm>
            <a:off x="8993124" y="4385251"/>
            <a:ext cx="155448" cy="155448"/>
          </a:xfrm>
          <a:prstGeom prst="ellipse">
            <a:avLst/>
          </a:prstGeom>
          <a:solidFill>
            <a:srgbClr val="12A566"/>
          </a:solidFill>
          <a:ln w="12700">
            <a:solidFill>
              <a:srgbClr val="12A566"/>
            </a:solidFill>
            <a:prstDash val="solid"/>
          </a:ln>
        </p:spPr>
      </p:sp>
      <p:sp>
        <p:nvSpPr>
          <p:cNvPr id="155" name="Shape 153"/>
          <p:cNvSpPr/>
          <p:nvPr/>
        </p:nvSpPr>
        <p:spPr>
          <a:xfrm>
            <a:off x="9578340" y="4385251"/>
            <a:ext cx="155448" cy="155448"/>
          </a:xfrm>
          <a:prstGeom prst="ellipse">
            <a:avLst/>
          </a:prstGeom>
          <a:solidFill>
            <a:srgbClr val="12A566"/>
          </a:solidFill>
          <a:ln w="12700">
            <a:solidFill>
              <a:srgbClr val="12A566"/>
            </a:solidFill>
            <a:prstDash val="solid"/>
          </a:ln>
        </p:spPr>
      </p:sp>
      <p:sp>
        <p:nvSpPr>
          <p:cNvPr id="156" name="Text 154"/>
          <p:cNvSpPr txBox="1"/>
          <p:nvPr/>
        </p:nvSpPr>
        <p:spPr>
          <a:xfrm>
            <a:off x="9948672" y="430049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$2.42M</a:t>
            </a:r>
            <a:endParaRPr lang="en-US" sz="1300" dirty="0"/>
          </a:p>
        </p:txBody>
      </p:sp>
      <p:sp>
        <p:nvSpPr>
          <p:cNvPr id="157" name="Text 155"/>
          <p:cNvSpPr txBox="1"/>
          <p:nvPr/>
        </p:nvSpPr>
        <p:spPr>
          <a:xfrm>
            <a:off x="10789920" y="430049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+1.9%</a:t>
            </a:r>
            <a:endParaRPr lang="en-US" sz="1300" dirty="0"/>
          </a:p>
        </p:txBody>
      </p:sp>
      <p:sp>
        <p:nvSpPr>
          <p:cNvPr id="158" name="Shape 156"/>
          <p:cNvSpPr/>
          <p:nvPr/>
        </p:nvSpPr>
        <p:spPr>
          <a:xfrm>
            <a:off x="6135624" y="4625457"/>
            <a:ext cx="5486400" cy="324964"/>
          </a:xfrm>
          <a:prstGeom prst="rect">
            <a:avLst/>
          </a:prstGeom>
          <a:solidFill>
            <a:srgbClr val="F7F7F7"/>
          </a:solidFill>
          <a:ln/>
        </p:spPr>
      </p:sp>
      <p:sp>
        <p:nvSpPr>
          <p:cNvPr id="159" name="Text 157"/>
          <p:cNvSpPr txBox="1"/>
          <p:nvPr/>
        </p:nvSpPr>
        <p:spPr>
          <a:xfrm>
            <a:off x="6208776" y="4625457"/>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60" name="Shape 158"/>
          <p:cNvSpPr/>
          <p:nvPr/>
        </p:nvSpPr>
        <p:spPr>
          <a:xfrm>
            <a:off x="8407908" y="4710215"/>
            <a:ext cx="155448" cy="155448"/>
          </a:xfrm>
          <a:prstGeom prst="ellipse">
            <a:avLst/>
          </a:prstGeom>
          <a:solidFill>
            <a:srgbClr val="12A566"/>
          </a:solidFill>
          <a:ln w="12700">
            <a:solidFill>
              <a:srgbClr val="12A566"/>
            </a:solidFill>
            <a:prstDash val="solid"/>
          </a:ln>
        </p:spPr>
      </p:sp>
      <p:sp>
        <p:nvSpPr>
          <p:cNvPr id="161" name="Shape 159"/>
          <p:cNvSpPr/>
          <p:nvPr/>
        </p:nvSpPr>
        <p:spPr>
          <a:xfrm>
            <a:off x="8993124" y="4710215"/>
            <a:ext cx="155448" cy="155448"/>
          </a:xfrm>
          <a:prstGeom prst="ellipse">
            <a:avLst/>
          </a:prstGeom>
          <a:solidFill>
            <a:srgbClr val="FFFFFF"/>
          </a:solidFill>
          <a:ln w="12700">
            <a:solidFill>
              <a:srgbClr val="9AA3AD"/>
            </a:solidFill>
            <a:prstDash val="solid"/>
          </a:ln>
        </p:spPr>
      </p:sp>
      <p:sp>
        <p:nvSpPr>
          <p:cNvPr id="162" name="Shape 160"/>
          <p:cNvSpPr/>
          <p:nvPr/>
        </p:nvSpPr>
        <p:spPr>
          <a:xfrm>
            <a:off x="9578340" y="4710215"/>
            <a:ext cx="155448" cy="155448"/>
          </a:xfrm>
          <a:prstGeom prst="ellipse">
            <a:avLst/>
          </a:prstGeom>
          <a:solidFill>
            <a:srgbClr val="12A566"/>
          </a:solidFill>
          <a:ln w="12700">
            <a:solidFill>
              <a:srgbClr val="12A566"/>
            </a:solidFill>
            <a:prstDash val="solid"/>
          </a:ln>
        </p:spPr>
      </p:sp>
      <p:sp>
        <p:nvSpPr>
          <p:cNvPr id="163" name="Text 161"/>
          <p:cNvSpPr txBox="1"/>
          <p:nvPr/>
        </p:nvSpPr>
        <p:spPr>
          <a:xfrm>
            <a:off x="9948672" y="4625457"/>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$3.91M</a:t>
            </a:r>
            <a:endParaRPr lang="en-US" sz="1300" dirty="0"/>
          </a:p>
        </p:txBody>
      </p:sp>
      <p:sp>
        <p:nvSpPr>
          <p:cNvPr id="164" name="Text 162"/>
          <p:cNvSpPr txBox="1"/>
          <p:nvPr/>
        </p:nvSpPr>
        <p:spPr>
          <a:xfrm>
            <a:off x="10789920" y="4625457"/>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a:t>
            </a:r>
            <a:endParaRPr lang="en-US" sz="1300" dirty="0"/>
          </a:p>
        </p:txBody>
      </p:sp>
      <p:sp>
        <p:nvSpPr>
          <p:cNvPr id="165" name="Text 163"/>
          <p:cNvSpPr txBox="1"/>
          <p:nvPr/>
        </p:nvSpPr>
        <p:spPr>
          <a:xfrm>
            <a:off x="6208776" y="495042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66" name="Shape 164"/>
          <p:cNvSpPr/>
          <p:nvPr/>
        </p:nvSpPr>
        <p:spPr>
          <a:xfrm>
            <a:off x="8407908" y="5035179"/>
            <a:ext cx="155448" cy="155448"/>
          </a:xfrm>
          <a:prstGeom prst="ellipse">
            <a:avLst/>
          </a:prstGeom>
          <a:solidFill>
            <a:srgbClr val="FFFFFF"/>
          </a:solidFill>
          <a:ln w="12700">
            <a:solidFill>
              <a:srgbClr val="9AA3AD"/>
            </a:solidFill>
            <a:prstDash val="solid"/>
          </a:ln>
        </p:spPr>
      </p:sp>
      <p:sp>
        <p:nvSpPr>
          <p:cNvPr id="167" name="Shape 165"/>
          <p:cNvSpPr/>
          <p:nvPr/>
        </p:nvSpPr>
        <p:spPr>
          <a:xfrm>
            <a:off x="8993124" y="5035179"/>
            <a:ext cx="155448" cy="155448"/>
          </a:xfrm>
          <a:prstGeom prst="ellipse">
            <a:avLst/>
          </a:prstGeom>
          <a:solidFill>
            <a:srgbClr val="12A566"/>
          </a:solidFill>
          <a:ln w="12700">
            <a:solidFill>
              <a:srgbClr val="12A566"/>
            </a:solidFill>
            <a:prstDash val="solid"/>
          </a:ln>
        </p:spPr>
      </p:sp>
      <p:sp>
        <p:nvSpPr>
          <p:cNvPr id="168" name="Shape 166"/>
          <p:cNvSpPr/>
          <p:nvPr/>
        </p:nvSpPr>
        <p:spPr>
          <a:xfrm>
            <a:off x="9578340" y="5035179"/>
            <a:ext cx="155448" cy="155448"/>
          </a:xfrm>
          <a:prstGeom prst="ellipse">
            <a:avLst/>
          </a:prstGeom>
          <a:solidFill>
            <a:srgbClr val="12A566"/>
          </a:solidFill>
          <a:ln w="12700">
            <a:solidFill>
              <a:srgbClr val="12A566"/>
            </a:solidFill>
            <a:prstDash val="solid"/>
          </a:ln>
        </p:spPr>
      </p:sp>
      <p:sp>
        <p:nvSpPr>
          <p:cNvPr id="169" name="Text 167"/>
          <p:cNvSpPr txBox="1"/>
          <p:nvPr/>
        </p:nvSpPr>
        <p:spPr>
          <a:xfrm>
            <a:off x="9948672" y="495042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$1.59M</a:t>
            </a:r>
            <a:endParaRPr lang="en-US" sz="1300" dirty="0"/>
          </a:p>
        </p:txBody>
      </p:sp>
      <p:sp>
        <p:nvSpPr>
          <p:cNvPr id="170" name="Text 168"/>
          <p:cNvSpPr txBox="1"/>
          <p:nvPr/>
        </p:nvSpPr>
        <p:spPr>
          <a:xfrm>
            <a:off x="10789920" y="495042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a:t>
            </a:r>
            <a:endParaRPr lang="en-US" sz="1300" dirty="0"/>
          </a:p>
        </p:txBody>
      </p:sp>
      <p:sp>
        <p:nvSpPr>
          <p:cNvPr id="171" name="Shape 169"/>
          <p:cNvSpPr/>
          <p:nvPr/>
        </p:nvSpPr>
        <p:spPr>
          <a:xfrm>
            <a:off x="6135624" y="5275385"/>
            <a:ext cx="5486400" cy="324964"/>
          </a:xfrm>
          <a:prstGeom prst="rect">
            <a:avLst/>
          </a:prstGeom>
          <a:solidFill>
            <a:srgbClr val="F7F7F7"/>
          </a:solidFill>
          <a:ln/>
        </p:spPr>
      </p:sp>
      <p:sp>
        <p:nvSpPr>
          <p:cNvPr id="172" name="Text 170"/>
          <p:cNvSpPr txBox="1"/>
          <p:nvPr/>
        </p:nvSpPr>
        <p:spPr>
          <a:xfrm>
            <a:off x="6208776" y="527538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73" name="Shape 171"/>
          <p:cNvSpPr/>
          <p:nvPr/>
        </p:nvSpPr>
        <p:spPr>
          <a:xfrm>
            <a:off x="8407908" y="5360142"/>
            <a:ext cx="155448" cy="155448"/>
          </a:xfrm>
          <a:prstGeom prst="ellipse">
            <a:avLst/>
          </a:prstGeom>
          <a:solidFill>
            <a:srgbClr val="12A566"/>
          </a:solidFill>
          <a:ln w="12700">
            <a:solidFill>
              <a:srgbClr val="12A566"/>
            </a:solidFill>
            <a:prstDash val="solid"/>
          </a:ln>
        </p:spPr>
      </p:sp>
      <p:sp>
        <p:nvSpPr>
          <p:cNvPr id="174" name="Shape 172"/>
          <p:cNvSpPr/>
          <p:nvPr/>
        </p:nvSpPr>
        <p:spPr>
          <a:xfrm>
            <a:off x="8993124" y="5360142"/>
            <a:ext cx="155448" cy="155448"/>
          </a:xfrm>
          <a:prstGeom prst="ellipse">
            <a:avLst/>
          </a:prstGeom>
          <a:solidFill>
            <a:srgbClr val="FFFFFF"/>
          </a:solidFill>
          <a:ln w="12700">
            <a:solidFill>
              <a:srgbClr val="9AA3AD"/>
            </a:solidFill>
            <a:prstDash val="solid"/>
          </a:ln>
        </p:spPr>
      </p:sp>
      <p:sp>
        <p:nvSpPr>
          <p:cNvPr id="175" name="Shape 173"/>
          <p:cNvSpPr/>
          <p:nvPr/>
        </p:nvSpPr>
        <p:spPr>
          <a:xfrm>
            <a:off x="9578340" y="5360142"/>
            <a:ext cx="155448" cy="155448"/>
          </a:xfrm>
          <a:prstGeom prst="ellipse">
            <a:avLst/>
          </a:prstGeom>
          <a:solidFill>
            <a:srgbClr val="12A566"/>
          </a:solidFill>
          <a:ln w="12700">
            <a:solidFill>
              <a:srgbClr val="12A566"/>
            </a:solidFill>
            <a:prstDash val="solid"/>
          </a:ln>
        </p:spPr>
      </p:sp>
      <p:sp>
        <p:nvSpPr>
          <p:cNvPr id="176" name="Text 174"/>
          <p:cNvSpPr txBox="1"/>
          <p:nvPr/>
        </p:nvSpPr>
        <p:spPr>
          <a:xfrm>
            <a:off x="9948672" y="527538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$4.53M</a:t>
            </a:r>
            <a:endParaRPr lang="en-US" sz="1300" dirty="0"/>
          </a:p>
        </p:txBody>
      </p:sp>
      <p:sp>
        <p:nvSpPr>
          <p:cNvPr id="177" name="Text 175"/>
          <p:cNvSpPr txBox="1"/>
          <p:nvPr/>
        </p:nvSpPr>
        <p:spPr>
          <a:xfrm>
            <a:off x="10789920" y="527538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+0.8%</a:t>
            </a:r>
            <a:endParaRPr lang="en-US" sz="1300" dirty="0"/>
          </a:p>
        </p:txBody>
      </p:sp>
      <p:sp>
        <p:nvSpPr>
          <p:cNvPr id="178" name="Shape 176"/>
          <p:cNvSpPr/>
          <p:nvPr/>
        </p:nvSpPr>
        <p:spPr>
          <a:xfrm>
            <a:off x="457200" y="6126480"/>
            <a:ext cx="11274552" cy="371856"/>
          </a:xfrm>
          <a:prstGeom prst="rect">
            <a:avLst/>
          </a:prstGeom>
          <a:solidFill>
            <a:srgbClr val="E6F6EE"/>
          </a:solidFill>
          <a:ln/>
        </p:spPr>
      </p:sp>
      <p:sp>
        <p:nvSpPr>
          <p:cNvPr id="179" name="Text 17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25 of 33 stores set a January–September record; 13 set it in service, parts and total.</a:t>
            </a:r>
            <a:endParaRPr lang="en-US" sz="1600" dirty="0"/>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SPOTLIGHT BY %</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12A566"/>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HYUNDAI PRESCOTT</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+35.7%</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$1.54M vs $1.13M, the previous best (2025).</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LINCOLN</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+31.6%</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$2.98M vs $2.26M, the previous best (2025).</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LEXUS</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+22.5%</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$4.15M vs $3.38M, the previous best (2025).</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12A566"/>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AUDI HENDERSON</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+16.0%</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$12.34M vs $10.64M, the previous best (2025).</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What changed? Each of these stores tells the room one thing they did differently this year.</a:t>
            </a:r>
            <a:endParaRPr lang="en-US" sz="1700" dirty="0"/>
          </a:p>
        </p:txBody>
      </p:sp>
      <p:sp>
        <p:nvSpPr>
          <p:cNvPr id="27" name="Shape 25"/>
          <p:cNvSpPr/>
          <p:nvPr/>
        </p:nvSpPr>
        <p:spPr>
          <a:xfrm>
            <a:off x="457200" y="6126480"/>
            <a:ext cx="11274552" cy="348996"/>
          </a:xfrm>
          <a:prstGeom prst="rect">
            <a:avLst/>
          </a:prstGeom>
          <a:solidFill>
            <a:srgbClr val="E6F6EE"/>
          </a:solidFill>
          <a:ln/>
        </p:spPr>
      </p:sp>
      <p:sp>
        <p:nvSpPr>
          <p:cNvPr id="28" name="Text 26"/>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Hyundai Prescott, Lincoln, Lexus and Audi Henderson beat their previous best by the most in percentage terms.</a:t>
            </a:r>
            <a:endParaRPr lang="en-US" sz="1450" dirty="0"/>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SPOTLIGHT BY $</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12A566"/>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TOYOTA HENDERSON</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3200" b="1" dirty="0">
                <a:solidFill>
                  <a:srgbClr val="0B7A4A"/>
                </a:solidFill>
                <a:latin typeface="Inter" pitchFamily="34" charset="0"/>
                <a:ea typeface="Inter" pitchFamily="34" charset="-122"/>
                <a:cs typeface="Inter" pitchFamily="34" charset="-120"/>
              </a:rPr>
              <a:t>+$1.77M</a:t>
            </a:r>
            <a:endParaRPr lang="en-US" sz="32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$22.59M vs $20.82M, the previous best (2025); +8.5%.</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3200" b="1" dirty="0">
                <a:solidFill>
                  <a:srgbClr val="0B7A4A"/>
                </a:solidFill>
                <a:latin typeface="Inter" pitchFamily="34" charset="0"/>
                <a:ea typeface="Inter" pitchFamily="34" charset="-122"/>
                <a:cs typeface="Inter" pitchFamily="34" charset="-120"/>
              </a:rPr>
              <a:t>+$1.70M</a:t>
            </a:r>
            <a:endParaRPr lang="en-US" sz="32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$12.34M vs $10.64M, the previous best (2025); +16.0%.</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LEXUS</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3200" b="1" dirty="0">
                <a:solidFill>
                  <a:srgbClr val="0B7A4A"/>
                </a:solidFill>
                <a:latin typeface="Inter" pitchFamily="34" charset="0"/>
                <a:ea typeface="Inter" pitchFamily="34" charset="-122"/>
                <a:cs typeface="Inter" pitchFamily="34" charset="-120"/>
              </a:rPr>
              <a:t>+$0.76M</a:t>
            </a:r>
            <a:endParaRPr lang="en-US" sz="32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$4.15M vs $3.38M, the previous best (2025); +22.5%.</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12A566"/>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LINCOLN</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3200" b="1" dirty="0">
                <a:solidFill>
                  <a:srgbClr val="0B7A4A"/>
                </a:solidFill>
                <a:latin typeface="Inter" pitchFamily="34" charset="0"/>
                <a:ea typeface="Inter" pitchFamily="34" charset="-122"/>
                <a:cs typeface="Inter" pitchFamily="34" charset="-120"/>
              </a:rPr>
              <a:t>+$0.72M</a:t>
            </a:r>
            <a:endParaRPr lang="en-US" sz="32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$2.98M vs $2.26M, the previous best (2025); +31.6%.</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What changed? Each of these stores tells the room one thing they did differently this year.</a:t>
            </a:r>
            <a:endParaRPr lang="en-US" sz="1700" dirty="0"/>
          </a:p>
        </p:txBody>
      </p:sp>
      <p:sp>
        <p:nvSpPr>
          <p:cNvPr id="27" name="Shape 25"/>
          <p:cNvSpPr/>
          <p:nvPr/>
        </p:nvSpPr>
        <p:spPr>
          <a:xfrm>
            <a:off x="457200" y="6126480"/>
            <a:ext cx="11274552" cy="364236"/>
          </a:xfrm>
          <a:prstGeom prst="rect">
            <a:avLst/>
          </a:prstGeom>
          <a:solidFill>
            <a:srgbClr val="E6F6EE"/>
          </a:solidFill>
          <a:ln/>
        </p:spPr>
      </p:sp>
      <p:sp>
        <p:nvSpPr>
          <p:cNvPr id="28" name="Text 26"/>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Toyota Henderson, Audi Henderson, Lexus and Lincoln beat their previous best by the most in dollars.</a:t>
            </a:r>
            <a:endParaRPr lang="en-US" sz="1550" dirty="0"/>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RANKER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Monthly Gross Records Set in 2026</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818888" y="1316736"/>
            <a:ext cx="10515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RECORDS</a:t>
            </a:r>
            <a:endParaRPr lang="en-US" sz="1400" dirty="0"/>
          </a:p>
        </p:txBody>
      </p:sp>
      <p:sp>
        <p:nvSpPr>
          <p:cNvPr id="7" name="Text 5"/>
          <p:cNvSpPr txBox="1"/>
          <p:nvPr/>
        </p:nvSpPr>
        <p:spPr>
          <a:xfrm>
            <a:off x="10369296" y="1316736"/>
            <a:ext cx="10515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RECORDS</a:t>
            </a:r>
            <a:endParaRPr lang="en-US" sz="1400" dirty="0"/>
          </a:p>
        </p:txBody>
      </p:sp>
      <p:sp>
        <p:nvSpPr>
          <p:cNvPr id="8" name="Text 6"/>
          <p:cNvSpPr txBox="1"/>
          <p:nvPr/>
        </p:nvSpPr>
        <p:spPr>
          <a:xfrm>
            <a:off x="658368"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9" name="Shape 7"/>
          <p:cNvSpPr/>
          <p:nvPr/>
        </p:nvSpPr>
        <p:spPr>
          <a:xfrm>
            <a:off x="2670048" y="1779994"/>
            <a:ext cx="2093976" cy="193624"/>
          </a:xfrm>
          <a:prstGeom prst="rect">
            <a:avLst/>
          </a:prstGeom>
          <a:solidFill>
            <a:srgbClr val="12A566"/>
          </a:solidFill>
          <a:ln/>
        </p:spPr>
      </p:sp>
      <p:sp>
        <p:nvSpPr>
          <p:cNvPr id="10" name="Text 8"/>
          <p:cNvSpPr txBox="1"/>
          <p:nvPr/>
        </p:nvSpPr>
        <p:spPr>
          <a:xfrm>
            <a:off x="4818888" y="170078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 name="Text 9"/>
          <p:cNvSpPr txBox="1"/>
          <p:nvPr/>
        </p:nvSpPr>
        <p:spPr>
          <a:xfrm>
            <a:off x="658368"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2" name="Shape 10"/>
          <p:cNvSpPr/>
          <p:nvPr/>
        </p:nvSpPr>
        <p:spPr>
          <a:xfrm>
            <a:off x="2670048" y="2132038"/>
            <a:ext cx="2093976" cy="193624"/>
          </a:xfrm>
          <a:prstGeom prst="rect">
            <a:avLst/>
          </a:prstGeom>
          <a:solidFill>
            <a:srgbClr val="12A566"/>
          </a:solidFill>
          <a:ln/>
        </p:spPr>
      </p:sp>
      <p:sp>
        <p:nvSpPr>
          <p:cNvPr id="13" name="Text 11"/>
          <p:cNvSpPr txBox="1"/>
          <p:nvPr/>
        </p:nvSpPr>
        <p:spPr>
          <a:xfrm>
            <a:off x="4818888" y="205282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 name="Text 12"/>
          <p:cNvSpPr txBox="1"/>
          <p:nvPr/>
        </p:nvSpPr>
        <p:spPr>
          <a:xfrm>
            <a:off x="658368"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5" name="Shape 13"/>
          <p:cNvSpPr/>
          <p:nvPr/>
        </p:nvSpPr>
        <p:spPr>
          <a:xfrm>
            <a:off x="2670048" y="2484082"/>
            <a:ext cx="1861312" cy="193624"/>
          </a:xfrm>
          <a:prstGeom prst="rect">
            <a:avLst/>
          </a:prstGeom>
          <a:solidFill>
            <a:srgbClr val="12A566"/>
          </a:solidFill>
          <a:ln/>
        </p:spPr>
      </p:sp>
      <p:sp>
        <p:nvSpPr>
          <p:cNvPr id="16" name="Text 14"/>
          <p:cNvSpPr txBox="1"/>
          <p:nvPr/>
        </p:nvSpPr>
        <p:spPr>
          <a:xfrm>
            <a:off x="4818888" y="240487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7" name="Text 15"/>
          <p:cNvSpPr txBox="1"/>
          <p:nvPr/>
        </p:nvSpPr>
        <p:spPr>
          <a:xfrm>
            <a:off x="658368"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8" name="Shape 16"/>
          <p:cNvSpPr/>
          <p:nvPr/>
        </p:nvSpPr>
        <p:spPr>
          <a:xfrm>
            <a:off x="2670048" y="2836126"/>
            <a:ext cx="1628648" cy="193624"/>
          </a:xfrm>
          <a:prstGeom prst="rect">
            <a:avLst/>
          </a:prstGeom>
          <a:solidFill>
            <a:srgbClr val="12A566"/>
          </a:solidFill>
          <a:ln/>
        </p:spPr>
      </p:sp>
      <p:sp>
        <p:nvSpPr>
          <p:cNvPr id="19" name="Text 17"/>
          <p:cNvSpPr txBox="1"/>
          <p:nvPr/>
        </p:nvSpPr>
        <p:spPr>
          <a:xfrm>
            <a:off x="4818888" y="275691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20" name="Text 18"/>
          <p:cNvSpPr txBox="1"/>
          <p:nvPr/>
        </p:nvSpPr>
        <p:spPr>
          <a:xfrm>
            <a:off x="658368"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670048" y="3188170"/>
            <a:ext cx="1628648" cy="193624"/>
          </a:xfrm>
          <a:prstGeom prst="rect">
            <a:avLst/>
          </a:prstGeom>
          <a:solidFill>
            <a:srgbClr val="12A566"/>
          </a:solidFill>
          <a:ln/>
        </p:spPr>
      </p:sp>
      <p:sp>
        <p:nvSpPr>
          <p:cNvPr id="22" name="Text 20"/>
          <p:cNvSpPr txBox="1"/>
          <p:nvPr/>
        </p:nvSpPr>
        <p:spPr>
          <a:xfrm>
            <a:off x="4818888" y="310896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23" name="Text 21"/>
          <p:cNvSpPr txBox="1"/>
          <p:nvPr/>
        </p:nvSpPr>
        <p:spPr>
          <a:xfrm>
            <a:off x="658368"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4" name="Shape 22"/>
          <p:cNvSpPr/>
          <p:nvPr/>
        </p:nvSpPr>
        <p:spPr>
          <a:xfrm>
            <a:off x="2670048" y="3540214"/>
            <a:ext cx="1395984" cy="193624"/>
          </a:xfrm>
          <a:prstGeom prst="rect">
            <a:avLst/>
          </a:prstGeom>
          <a:solidFill>
            <a:srgbClr val="12A566"/>
          </a:solidFill>
          <a:ln/>
        </p:spPr>
      </p:sp>
      <p:sp>
        <p:nvSpPr>
          <p:cNvPr id="25" name="Text 23"/>
          <p:cNvSpPr txBox="1"/>
          <p:nvPr/>
        </p:nvSpPr>
        <p:spPr>
          <a:xfrm>
            <a:off x="4818888" y="346100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26" name="Text 24"/>
          <p:cNvSpPr txBox="1"/>
          <p:nvPr/>
        </p:nvSpPr>
        <p:spPr>
          <a:xfrm>
            <a:off x="658368"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7" name="Shape 25"/>
          <p:cNvSpPr/>
          <p:nvPr/>
        </p:nvSpPr>
        <p:spPr>
          <a:xfrm>
            <a:off x="2670048" y="3892258"/>
            <a:ext cx="1395984" cy="193624"/>
          </a:xfrm>
          <a:prstGeom prst="rect">
            <a:avLst/>
          </a:prstGeom>
          <a:solidFill>
            <a:srgbClr val="12A566"/>
          </a:solidFill>
          <a:ln/>
        </p:spPr>
      </p:sp>
      <p:sp>
        <p:nvSpPr>
          <p:cNvPr id="28" name="Text 26"/>
          <p:cNvSpPr txBox="1"/>
          <p:nvPr/>
        </p:nvSpPr>
        <p:spPr>
          <a:xfrm>
            <a:off x="4818888" y="381304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29" name="Text 27"/>
          <p:cNvSpPr txBox="1"/>
          <p:nvPr/>
        </p:nvSpPr>
        <p:spPr>
          <a:xfrm>
            <a:off x="658368"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30" name="Shape 28"/>
          <p:cNvSpPr/>
          <p:nvPr/>
        </p:nvSpPr>
        <p:spPr>
          <a:xfrm>
            <a:off x="2670048" y="4244302"/>
            <a:ext cx="1163320" cy="193624"/>
          </a:xfrm>
          <a:prstGeom prst="rect">
            <a:avLst/>
          </a:prstGeom>
          <a:solidFill>
            <a:srgbClr val="12A566"/>
          </a:solidFill>
          <a:ln/>
        </p:spPr>
      </p:sp>
      <p:sp>
        <p:nvSpPr>
          <p:cNvPr id="31" name="Text 29"/>
          <p:cNvSpPr txBox="1"/>
          <p:nvPr/>
        </p:nvSpPr>
        <p:spPr>
          <a:xfrm>
            <a:off x="4818888" y="416509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2" name="Text 30"/>
          <p:cNvSpPr txBox="1"/>
          <p:nvPr/>
        </p:nvSpPr>
        <p:spPr>
          <a:xfrm>
            <a:off x="658368"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33" name="Shape 31"/>
          <p:cNvSpPr/>
          <p:nvPr/>
        </p:nvSpPr>
        <p:spPr>
          <a:xfrm>
            <a:off x="2670048" y="4596346"/>
            <a:ext cx="930656" cy="193624"/>
          </a:xfrm>
          <a:prstGeom prst="rect">
            <a:avLst/>
          </a:prstGeom>
          <a:solidFill>
            <a:srgbClr val="12A566"/>
          </a:solidFill>
          <a:ln/>
        </p:spPr>
      </p:sp>
      <p:sp>
        <p:nvSpPr>
          <p:cNvPr id="34" name="Text 32"/>
          <p:cNvSpPr txBox="1"/>
          <p:nvPr/>
        </p:nvSpPr>
        <p:spPr>
          <a:xfrm>
            <a:off x="4818888" y="451713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35" name="Text 33"/>
          <p:cNvSpPr txBox="1"/>
          <p:nvPr/>
        </p:nvSpPr>
        <p:spPr>
          <a:xfrm>
            <a:off x="658368"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36" name="Shape 34"/>
          <p:cNvSpPr/>
          <p:nvPr/>
        </p:nvSpPr>
        <p:spPr>
          <a:xfrm>
            <a:off x="2670048" y="4948390"/>
            <a:ext cx="930656" cy="193624"/>
          </a:xfrm>
          <a:prstGeom prst="rect">
            <a:avLst/>
          </a:prstGeom>
          <a:solidFill>
            <a:srgbClr val="12A566"/>
          </a:solidFill>
          <a:ln/>
        </p:spPr>
      </p:sp>
      <p:sp>
        <p:nvSpPr>
          <p:cNvPr id="37" name="Text 35"/>
          <p:cNvSpPr txBox="1"/>
          <p:nvPr/>
        </p:nvSpPr>
        <p:spPr>
          <a:xfrm>
            <a:off x="4818888" y="486918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38" name="Text 36"/>
          <p:cNvSpPr txBox="1"/>
          <p:nvPr/>
        </p:nvSpPr>
        <p:spPr>
          <a:xfrm>
            <a:off x="658368"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39" name="Shape 37"/>
          <p:cNvSpPr/>
          <p:nvPr/>
        </p:nvSpPr>
        <p:spPr>
          <a:xfrm>
            <a:off x="2670048" y="5300434"/>
            <a:ext cx="930656" cy="193624"/>
          </a:xfrm>
          <a:prstGeom prst="rect">
            <a:avLst/>
          </a:prstGeom>
          <a:solidFill>
            <a:srgbClr val="12A566"/>
          </a:solidFill>
          <a:ln/>
        </p:spPr>
      </p:sp>
      <p:sp>
        <p:nvSpPr>
          <p:cNvPr id="40" name="Text 38"/>
          <p:cNvSpPr txBox="1"/>
          <p:nvPr/>
        </p:nvSpPr>
        <p:spPr>
          <a:xfrm>
            <a:off x="4818888" y="522122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41" name="Text 39"/>
          <p:cNvSpPr txBox="1"/>
          <p:nvPr/>
        </p:nvSpPr>
        <p:spPr>
          <a:xfrm>
            <a:off x="658368" y="557326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2" name="Shape 40"/>
          <p:cNvSpPr/>
          <p:nvPr/>
        </p:nvSpPr>
        <p:spPr>
          <a:xfrm>
            <a:off x="2670048" y="5652478"/>
            <a:ext cx="930656" cy="193624"/>
          </a:xfrm>
          <a:prstGeom prst="rect">
            <a:avLst/>
          </a:prstGeom>
          <a:solidFill>
            <a:srgbClr val="12A566"/>
          </a:solidFill>
          <a:ln/>
        </p:spPr>
      </p:sp>
      <p:sp>
        <p:nvSpPr>
          <p:cNvPr id="43" name="Text 41"/>
          <p:cNvSpPr txBox="1"/>
          <p:nvPr/>
        </p:nvSpPr>
        <p:spPr>
          <a:xfrm>
            <a:off x="4818888" y="557326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44" name="Text 42"/>
          <p:cNvSpPr txBox="1"/>
          <p:nvPr/>
        </p:nvSpPr>
        <p:spPr>
          <a:xfrm>
            <a:off x="6208776"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5" name="Shape 43"/>
          <p:cNvSpPr/>
          <p:nvPr/>
        </p:nvSpPr>
        <p:spPr>
          <a:xfrm>
            <a:off x="8220456" y="1779994"/>
            <a:ext cx="930656" cy="193624"/>
          </a:xfrm>
          <a:prstGeom prst="rect">
            <a:avLst/>
          </a:prstGeom>
          <a:solidFill>
            <a:srgbClr val="12A566"/>
          </a:solidFill>
          <a:ln/>
        </p:spPr>
      </p:sp>
      <p:sp>
        <p:nvSpPr>
          <p:cNvPr id="46" name="Text 44"/>
          <p:cNvSpPr txBox="1"/>
          <p:nvPr/>
        </p:nvSpPr>
        <p:spPr>
          <a:xfrm>
            <a:off x="10369296" y="170078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47" name="Text 45"/>
          <p:cNvSpPr txBox="1"/>
          <p:nvPr/>
        </p:nvSpPr>
        <p:spPr>
          <a:xfrm>
            <a:off x="6208776"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8" name="Shape 46"/>
          <p:cNvSpPr/>
          <p:nvPr/>
        </p:nvSpPr>
        <p:spPr>
          <a:xfrm>
            <a:off x="8220456" y="2132038"/>
            <a:ext cx="930656" cy="193624"/>
          </a:xfrm>
          <a:prstGeom prst="rect">
            <a:avLst/>
          </a:prstGeom>
          <a:solidFill>
            <a:srgbClr val="12A566"/>
          </a:solidFill>
          <a:ln/>
        </p:spPr>
      </p:sp>
      <p:sp>
        <p:nvSpPr>
          <p:cNvPr id="49" name="Text 47"/>
          <p:cNvSpPr txBox="1"/>
          <p:nvPr/>
        </p:nvSpPr>
        <p:spPr>
          <a:xfrm>
            <a:off x="10369296" y="205282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50" name="Text 48"/>
          <p:cNvSpPr txBox="1"/>
          <p:nvPr/>
        </p:nvSpPr>
        <p:spPr>
          <a:xfrm>
            <a:off x="6208776"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1" name="Shape 49"/>
          <p:cNvSpPr/>
          <p:nvPr/>
        </p:nvSpPr>
        <p:spPr>
          <a:xfrm>
            <a:off x="8220456" y="2484082"/>
            <a:ext cx="697992" cy="193624"/>
          </a:xfrm>
          <a:prstGeom prst="rect">
            <a:avLst/>
          </a:prstGeom>
          <a:solidFill>
            <a:srgbClr val="12A566"/>
          </a:solidFill>
          <a:ln/>
        </p:spPr>
      </p:sp>
      <p:sp>
        <p:nvSpPr>
          <p:cNvPr id="52" name="Text 50"/>
          <p:cNvSpPr txBox="1"/>
          <p:nvPr/>
        </p:nvSpPr>
        <p:spPr>
          <a:xfrm>
            <a:off x="10369296" y="240487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a:t>
            </a:r>
            <a:endParaRPr lang="en-US" sz="1300" dirty="0"/>
          </a:p>
        </p:txBody>
      </p:sp>
      <p:sp>
        <p:nvSpPr>
          <p:cNvPr id="53" name="Text 51"/>
          <p:cNvSpPr txBox="1"/>
          <p:nvPr/>
        </p:nvSpPr>
        <p:spPr>
          <a:xfrm>
            <a:off x="6208776"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54" name="Shape 52"/>
          <p:cNvSpPr/>
          <p:nvPr/>
        </p:nvSpPr>
        <p:spPr>
          <a:xfrm>
            <a:off x="8220456" y="2836126"/>
            <a:ext cx="465328" cy="193624"/>
          </a:xfrm>
          <a:prstGeom prst="rect">
            <a:avLst/>
          </a:prstGeom>
          <a:solidFill>
            <a:srgbClr val="12A566"/>
          </a:solidFill>
          <a:ln/>
        </p:spPr>
      </p:sp>
      <p:sp>
        <p:nvSpPr>
          <p:cNvPr id="55" name="Text 53"/>
          <p:cNvSpPr txBox="1"/>
          <p:nvPr/>
        </p:nvSpPr>
        <p:spPr>
          <a:xfrm>
            <a:off x="10369296" y="275691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56" name="Text 54"/>
          <p:cNvSpPr txBox="1"/>
          <p:nvPr/>
        </p:nvSpPr>
        <p:spPr>
          <a:xfrm>
            <a:off x="6208776"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57" name="Shape 55"/>
          <p:cNvSpPr/>
          <p:nvPr/>
        </p:nvSpPr>
        <p:spPr>
          <a:xfrm>
            <a:off x="8220456" y="3188170"/>
            <a:ext cx="465328" cy="193624"/>
          </a:xfrm>
          <a:prstGeom prst="rect">
            <a:avLst/>
          </a:prstGeom>
          <a:solidFill>
            <a:srgbClr val="12A566"/>
          </a:solidFill>
          <a:ln/>
        </p:spPr>
      </p:sp>
      <p:sp>
        <p:nvSpPr>
          <p:cNvPr id="58" name="Text 56"/>
          <p:cNvSpPr txBox="1"/>
          <p:nvPr/>
        </p:nvSpPr>
        <p:spPr>
          <a:xfrm>
            <a:off x="10369296" y="310896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59" name="Text 57"/>
          <p:cNvSpPr txBox="1"/>
          <p:nvPr/>
        </p:nvSpPr>
        <p:spPr>
          <a:xfrm>
            <a:off x="6208776"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60" name="Shape 58"/>
          <p:cNvSpPr/>
          <p:nvPr/>
        </p:nvSpPr>
        <p:spPr>
          <a:xfrm>
            <a:off x="8220456" y="3540214"/>
            <a:ext cx="465328" cy="193624"/>
          </a:xfrm>
          <a:prstGeom prst="rect">
            <a:avLst/>
          </a:prstGeom>
          <a:solidFill>
            <a:srgbClr val="12A566"/>
          </a:solidFill>
          <a:ln/>
        </p:spPr>
      </p:sp>
      <p:sp>
        <p:nvSpPr>
          <p:cNvPr id="61" name="Text 59"/>
          <p:cNvSpPr txBox="1"/>
          <p:nvPr/>
        </p:nvSpPr>
        <p:spPr>
          <a:xfrm>
            <a:off x="10369296" y="346100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62" name="Text 60"/>
          <p:cNvSpPr txBox="1"/>
          <p:nvPr/>
        </p:nvSpPr>
        <p:spPr>
          <a:xfrm>
            <a:off x="6208776"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8220456" y="3892258"/>
            <a:ext cx="465328" cy="193624"/>
          </a:xfrm>
          <a:prstGeom prst="rect">
            <a:avLst/>
          </a:prstGeom>
          <a:solidFill>
            <a:srgbClr val="12A566"/>
          </a:solidFill>
          <a:ln/>
        </p:spPr>
      </p:sp>
      <p:sp>
        <p:nvSpPr>
          <p:cNvPr id="64" name="Text 62"/>
          <p:cNvSpPr txBox="1"/>
          <p:nvPr/>
        </p:nvSpPr>
        <p:spPr>
          <a:xfrm>
            <a:off x="10369296" y="381304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65" name="Text 63"/>
          <p:cNvSpPr txBox="1"/>
          <p:nvPr/>
        </p:nvSpPr>
        <p:spPr>
          <a:xfrm>
            <a:off x="6208776"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66" name="Shape 64"/>
          <p:cNvSpPr/>
          <p:nvPr/>
        </p:nvSpPr>
        <p:spPr>
          <a:xfrm>
            <a:off x="8220456" y="4244302"/>
            <a:ext cx="465328" cy="193624"/>
          </a:xfrm>
          <a:prstGeom prst="rect">
            <a:avLst/>
          </a:prstGeom>
          <a:solidFill>
            <a:srgbClr val="12A566"/>
          </a:solidFill>
          <a:ln/>
        </p:spPr>
      </p:sp>
      <p:sp>
        <p:nvSpPr>
          <p:cNvPr id="67" name="Text 65"/>
          <p:cNvSpPr txBox="1"/>
          <p:nvPr/>
        </p:nvSpPr>
        <p:spPr>
          <a:xfrm>
            <a:off x="10369296" y="416509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68" name="Text 66"/>
          <p:cNvSpPr txBox="1"/>
          <p:nvPr/>
        </p:nvSpPr>
        <p:spPr>
          <a:xfrm>
            <a:off x="6208776"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20456" y="4596346"/>
            <a:ext cx="465328" cy="193624"/>
          </a:xfrm>
          <a:prstGeom prst="rect">
            <a:avLst/>
          </a:prstGeom>
          <a:solidFill>
            <a:srgbClr val="12A566"/>
          </a:solidFill>
          <a:ln/>
        </p:spPr>
      </p:sp>
      <p:sp>
        <p:nvSpPr>
          <p:cNvPr id="70" name="Text 68"/>
          <p:cNvSpPr txBox="1"/>
          <p:nvPr/>
        </p:nvSpPr>
        <p:spPr>
          <a:xfrm>
            <a:off x="10369296" y="451713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71" name="Text 69"/>
          <p:cNvSpPr txBox="1"/>
          <p:nvPr/>
        </p:nvSpPr>
        <p:spPr>
          <a:xfrm>
            <a:off x="6208776"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2" name="Shape 70"/>
          <p:cNvSpPr/>
          <p:nvPr/>
        </p:nvSpPr>
        <p:spPr>
          <a:xfrm>
            <a:off x="8220456" y="4948390"/>
            <a:ext cx="232664" cy="193624"/>
          </a:xfrm>
          <a:prstGeom prst="rect">
            <a:avLst/>
          </a:prstGeom>
          <a:solidFill>
            <a:srgbClr val="12A566"/>
          </a:solidFill>
          <a:ln/>
        </p:spPr>
      </p:sp>
      <p:sp>
        <p:nvSpPr>
          <p:cNvPr id="73" name="Text 71"/>
          <p:cNvSpPr txBox="1"/>
          <p:nvPr/>
        </p:nvSpPr>
        <p:spPr>
          <a:xfrm>
            <a:off x="10369296" y="486918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74" name="Text 72"/>
          <p:cNvSpPr txBox="1"/>
          <p:nvPr/>
        </p:nvSpPr>
        <p:spPr>
          <a:xfrm>
            <a:off x="6208776"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5" name="Shape 73"/>
          <p:cNvSpPr/>
          <p:nvPr/>
        </p:nvSpPr>
        <p:spPr>
          <a:xfrm>
            <a:off x="8220456" y="5300434"/>
            <a:ext cx="232664" cy="193624"/>
          </a:xfrm>
          <a:prstGeom prst="rect">
            <a:avLst/>
          </a:prstGeom>
          <a:solidFill>
            <a:srgbClr val="12A566"/>
          </a:solidFill>
          <a:ln/>
        </p:spPr>
      </p:sp>
      <p:sp>
        <p:nvSpPr>
          <p:cNvPr id="76" name="Text 74"/>
          <p:cNvSpPr txBox="1"/>
          <p:nvPr/>
        </p:nvSpPr>
        <p:spPr>
          <a:xfrm>
            <a:off x="10369296" y="522122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77" name="Shape 75"/>
          <p:cNvSpPr/>
          <p:nvPr/>
        </p:nvSpPr>
        <p:spPr>
          <a:xfrm>
            <a:off x="457200" y="6126480"/>
            <a:ext cx="11274552" cy="371856"/>
          </a:xfrm>
          <a:prstGeom prst="rect">
            <a:avLst/>
          </a:prstGeom>
          <a:solidFill>
            <a:srgbClr val="E6F6EE"/>
          </a:solidFill>
          <a:ln/>
        </p:spPr>
      </p:sp>
      <p:sp>
        <p:nvSpPr>
          <p:cNvPr id="78" name="Text 7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set a new monthly record in 2026; Honda Spokane and Nissan set the most, 9 each.</a:t>
            </a:r>
            <a:endParaRPr lang="en-US" sz="1600" dirty="0"/>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RANKER BY CATEGORY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Monthly Gross Records Set in 2026</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417320"/>
            <a:ext cx="128016" cy="128016"/>
          </a:xfrm>
          <a:prstGeom prst="rect">
            <a:avLst/>
          </a:prstGeom>
          <a:solidFill>
            <a:srgbClr val="0B7A4A"/>
          </a:solidFill>
          <a:ln/>
        </p:spPr>
      </p:sp>
      <p:sp>
        <p:nvSpPr>
          <p:cNvPr id="7" name="Text 5"/>
          <p:cNvSpPr txBox="1"/>
          <p:nvPr/>
        </p:nvSpPr>
        <p:spPr>
          <a:xfrm>
            <a:off x="841248" y="1316736"/>
            <a:ext cx="873252"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Service</a:t>
            </a:r>
            <a:endParaRPr lang="en-US" sz="1400" dirty="0"/>
          </a:p>
        </p:txBody>
      </p:sp>
      <p:sp>
        <p:nvSpPr>
          <p:cNvPr id="8" name="Shape 6"/>
          <p:cNvSpPr/>
          <p:nvPr/>
        </p:nvSpPr>
        <p:spPr>
          <a:xfrm>
            <a:off x="1824228" y="1417320"/>
            <a:ext cx="128016" cy="128016"/>
          </a:xfrm>
          <a:prstGeom prst="rect">
            <a:avLst/>
          </a:prstGeom>
          <a:solidFill>
            <a:srgbClr val="12A566"/>
          </a:solidFill>
          <a:ln/>
        </p:spPr>
      </p:sp>
      <p:sp>
        <p:nvSpPr>
          <p:cNvPr id="9" name="Text 7"/>
          <p:cNvSpPr txBox="1"/>
          <p:nvPr/>
        </p:nvSpPr>
        <p:spPr>
          <a:xfrm>
            <a:off x="2007108" y="1316736"/>
            <a:ext cx="681228"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a:t>
            </a:r>
            <a:endParaRPr lang="en-US" sz="1400" dirty="0"/>
          </a:p>
        </p:txBody>
      </p:sp>
      <p:sp>
        <p:nvSpPr>
          <p:cNvPr id="10" name="Shape 8"/>
          <p:cNvSpPr/>
          <p:nvPr/>
        </p:nvSpPr>
        <p:spPr>
          <a:xfrm>
            <a:off x="2798064" y="1417320"/>
            <a:ext cx="128016" cy="128016"/>
          </a:xfrm>
          <a:prstGeom prst="rect">
            <a:avLst/>
          </a:prstGeom>
          <a:solidFill>
            <a:srgbClr val="8ED3B0"/>
          </a:solidFill>
          <a:ln/>
        </p:spPr>
      </p:sp>
      <p:sp>
        <p:nvSpPr>
          <p:cNvPr id="11" name="Text 9"/>
          <p:cNvSpPr txBox="1"/>
          <p:nvPr/>
        </p:nvSpPr>
        <p:spPr>
          <a:xfrm>
            <a:off x="2980944" y="1316736"/>
            <a:ext cx="969264"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Combined</a:t>
            </a:r>
            <a:endParaRPr lang="en-US" sz="1400" dirty="0"/>
          </a:p>
        </p:txBody>
      </p:sp>
      <p:sp>
        <p:nvSpPr>
          <p:cNvPr id="12" name="Text 10"/>
          <p:cNvSpPr txBox="1"/>
          <p:nvPr/>
        </p:nvSpPr>
        <p:spPr>
          <a:xfrm>
            <a:off x="3959352"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13" name="Text 11"/>
          <p:cNvSpPr txBox="1"/>
          <p:nvPr/>
        </p:nvSpPr>
        <p:spPr>
          <a:xfrm>
            <a:off x="4462272"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14" name="Text 12"/>
          <p:cNvSpPr txBox="1"/>
          <p:nvPr/>
        </p:nvSpPr>
        <p:spPr>
          <a:xfrm>
            <a:off x="4965192"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15" name="Text 13"/>
          <p:cNvSpPr txBox="1"/>
          <p:nvPr/>
        </p:nvSpPr>
        <p:spPr>
          <a:xfrm>
            <a:off x="5468112" y="1316736"/>
            <a:ext cx="548640" cy="329184"/>
          </a:xfrm>
          <a:prstGeom prst="rect">
            <a:avLst/>
          </a:prstGeom>
          <a:noFill/>
          <a:ln/>
        </p:spPr>
        <p:txBody>
          <a:bodyPr wrap="square" lIns="0" tIns="0" rIns="0" bIns="0" rtlCol="0" anchor="ctr"/>
          <a:lstStyle/>
          <a:p>
            <a:pPr algn="r" indent="0" marL="0">
              <a:buNone/>
            </a:pPr>
            <a:r>
              <a:rPr lang="en-US" sz="1400" b="1" dirty="0">
                <a:solidFill>
                  <a:srgbClr val="1A1A1A"/>
                </a:solidFill>
                <a:latin typeface="Inter" pitchFamily="34" charset="0"/>
                <a:ea typeface="Inter" pitchFamily="34" charset="-122"/>
                <a:cs typeface="Inter" pitchFamily="34" charset="-120"/>
              </a:rPr>
              <a:t>ALL</a:t>
            </a:r>
            <a:endParaRPr lang="en-US" sz="1400" dirty="0"/>
          </a:p>
        </p:txBody>
      </p:sp>
      <p:sp>
        <p:nvSpPr>
          <p:cNvPr id="16" name="Shape 14"/>
          <p:cNvSpPr/>
          <p:nvPr/>
        </p:nvSpPr>
        <p:spPr>
          <a:xfrm>
            <a:off x="6208776" y="1417320"/>
            <a:ext cx="128016" cy="128016"/>
          </a:xfrm>
          <a:prstGeom prst="rect">
            <a:avLst/>
          </a:prstGeom>
          <a:solidFill>
            <a:srgbClr val="0B7A4A"/>
          </a:solidFill>
          <a:ln/>
        </p:spPr>
      </p:sp>
      <p:sp>
        <p:nvSpPr>
          <p:cNvPr id="17" name="Text 15"/>
          <p:cNvSpPr txBox="1"/>
          <p:nvPr/>
        </p:nvSpPr>
        <p:spPr>
          <a:xfrm>
            <a:off x="6391656" y="1316736"/>
            <a:ext cx="873252"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Service</a:t>
            </a:r>
            <a:endParaRPr lang="en-US" sz="1400" dirty="0"/>
          </a:p>
        </p:txBody>
      </p:sp>
      <p:sp>
        <p:nvSpPr>
          <p:cNvPr id="18" name="Shape 16"/>
          <p:cNvSpPr/>
          <p:nvPr/>
        </p:nvSpPr>
        <p:spPr>
          <a:xfrm>
            <a:off x="7374636" y="1417320"/>
            <a:ext cx="128016" cy="128016"/>
          </a:xfrm>
          <a:prstGeom prst="rect">
            <a:avLst/>
          </a:prstGeom>
          <a:solidFill>
            <a:srgbClr val="12A566"/>
          </a:solidFill>
          <a:ln/>
        </p:spPr>
      </p:sp>
      <p:sp>
        <p:nvSpPr>
          <p:cNvPr id="19" name="Text 17"/>
          <p:cNvSpPr txBox="1"/>
          <p:nvPr/>
        </p:nvSpPr>
        <p:spPr>
          <a:xfrm>
            <a:off x="7557516" y="1316736"/>
            <a:ext cx="681228"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a:t>
            </a:r>
            <a:endParaRPr lang="en-US" sz="1400" dirty="0"/>
          </a:p>
        </p:txBody>
      </p:sp>
      <p:sp>
        <p:nvSpPr>
          <p:cNvPr id="20" name="Shape 18"/>
          <p:cNvSpPr/>
          <p:nvPr/>
        </p:nvSpPr>
        <p:spPr>
          <a:xfrm>
            <a:off x="8348472" y="1417320"/>
            <a:ext cx="128016" cy="128016"/>
          </a:xfrm>
          <a:prstGeom prst="rect">
            <a:avLst/>
          </a:prstGeom>
          <a:solidFill>
            <a:srgbClr val="8ED3B0"/>
          </a:solidFill>
          <a:ln/>
        </p:spPr>
      </p:sp>
      <p:sp>
        <p:nvSpPr>
          <p:cNvPr id="21" name="Text 19"/>
          <p:cNvSpPr txBox="1"/>
          <p:nvPr/>
        </p:nvSpPr>
        <p:spPr>
          <a:xfrm>
            <a:off x="8531352" y="1316736"/>
            <a:ext cx="969264"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Combined</a:t>
            </a:r>
            <a:endParaRPr lang="en-US" sz="1400" dirty="0"/>
          </a:p>
        </p:txBody>
      </p:sp>
      <p:sp>
        <p:nvSpPr>
          <p:cNvPr id="22" name="Text 20"/>
          <p:cNvSpPr txBox="1"/>
          <p:nvPr/>
        </p:nvSpPr>
        <p:spPr>
          <a:xfrm>
            <a:off x="9509760"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23" name="Text 21"/>
          <p:cNvSpPr txBox="1"/>
          <p:nvPr/>
        </p:nvSpPr>
        <p:spPr>
          <a:xfrm>
            <a:off x="10012680"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24" name="Text 22"/>
          <p:cNvSpPr txBox="1"/>
          <p:nvPr/>
        </p:nvSpPr>
        <p:spPr>
          <a:xfrm>
            <a:off x="10515600"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25" name="Text 23"/>
          <p:cNvSpPr txBox="1"/>
          <p:nvPr/>
        </p:nvSpPr>
        <p:spPr>
          <a:xfrm>
            <a:off x="11018520" y="1316736"/>
            <a:ext cx="548640" cy="329184"/>
          </a:xfrm>
          <a:prstGeom prst="rect">
            <a:avLst/>
          </a:prstGeom>
          <a:noFill/>
          <a:ln/>
        </p:spPr>
        <p:txBody>
          <a:bodyPr wrap="square" lIns="0" tIns="0" rIns="0" bIns="0" rtlCol="0" anchor="ctr"/>
          <a:lstStyle/>
          <a:p>
            <a:pPr algn="r" indent="0" marL="0">
              <a:buNone/>
            </a:pPr>
            <a:r>
              <a:rPr lang="en-US" sz="1400" b="1" dirty="0">
                <a:solidFill>
                  <a:srgbClr val="1A1A1A"/>
                </a:solidFill>
                <a:latin typeface="Inter" pitchFamily="34" charset="0"/>
                <a:ea typeface="Inter" pitchFamily="34" charset="-122"/>
                <a:cs typeface="Inter" pitchFamily="34" charset="-120"/>
              </a:rPr>
              <a:t>ALL</a:t>
            </a:r>
            <a:endParaRPr lang="en-US" sz="1400" dirty="0"/>
          </a:p>
        </p:txBody>
      </p:sp>
      <p:sp>
        <p:nvSpPr>
          <p:cNvPr id="26" name="Text 24"/>
          <p:cNvSpPr txBox="1"/>
          <p:nvPr/>
        </p:nvSpPr>
        <p:spPr>
          <a:xfrm>
            <a:off x="658368"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670048" y="1779994"/>
            <a:ext cx="540512" cy="193624"/>
          </a:xfrm>
          <a:prstGeom prst="rect">
            <a:avLst/>
          </a:prstGeom>
          <a:solidFill>
            <a:srgbClr val="0B7A4A"/>
          </a:solidFill>
          <a:ln w="9525">
            <a:solidFill>
              <a:srgbClr val="FFFFFF"/>
            </a:solidFill>
            <a:prstDash val="solid"/>
          </a:ln>
        </p:spPr>
      </p:sp>
      <p:sp>
        <p:nvSpPr>
          <p:cNvPr id="28" name="Shape 26"/>
          <p:cNvSpPr/>
          <p:nvPr/>
        </p:nvSpPr>
        <p:spPr>
          <a:xfrm>
            <a:off x="3210560" y="1779994"/>
            <a:ext cx="135128" cy="193624"/>
          </a:xfrm>
          <a:prstGeom prst="rect">
            <a:avLst/>
          </a:prstGeom>
          <a:solidFill>
            <a:srgbClr val="12A566"/>
          </a:solidFill>
          <a:ln w="9525">
            <a:solidFill>
              <a:srgbClr val="FFFFFF"/>
            </a:solidFill>
            <a:prstDash val="solid"/>
          </a:ln>
        </p:spPr>
      </p:sp>
      <p:sp>
        <p:nvSpPr>
          <p:cNvPr id="29" name="Shape 27"/>
          <p:cNvSpPr/>
          <p:nvPr/>
        </p:nvSpPr>
        <p:spPr>
          <a:xfrm>
            <a:off x="3345688" y="1779994"/>
            <a:ext cx="540512" cy="193624"/>
          </a:xfrm>
          <a:prstGeom prst="rect">
            <a:avLst/>
          </a:prstGeom>
          <a:solidFill>
            <a:srgbClr val="8ED3B0"/>
          </a:solidFill>
          <a:ln w="9525">
            <a:solidFill>
              <a:srgbClr val="FFFFFF"/>
            </a:solidFill>
            <a:prstDash val="solid"/>
          </a:ln>
        </p:spPr>
      </p:sp>
      <p:sp>
        <p:nvSpPr>
          <p:cNvPr id="30" name="Text 28"/>
          <p:cNvSpPr txBox="1"/>
          <p:nvPr/>
        </p:nvSpPr>
        <p:spPr>
          <a:xfrm>
            <a:off x="3959352"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31" name="Text 29"/>
          <p:cNvSpPr txBox="1"/>
          <p:nvPr/>
        </p:nvSpPr>
        <p:spPr>
          <a:xfrm>
            <a:off x="4462272"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32" name="Text 30"/>
          <p:cNvSpPr txBox="1"/>
          <p:nvPr/>
        </p:nvSpPr>
        <p:spPr>
          <a:xfrm>
            <a:off x="4965192"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33" name="Text 31"/>
          <p:cNvSpPr txBox="1"/>
          <p:nvPr/>
        </p:nvSpPr>
        <p:spPr>
          <a:xfrm>
            <a:off x="5468112" y="170078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34" name="Text 32"/>
          <p:cNvSpPr txBox="1"/>
          <p:nvPr/>
        </p:nvSpPr>
        <p:spPr>
          <a:xfrm>
            <a:off x="658368"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35" name="Shape 33"/>
          <p:cNvSpPr/>
          <p:nvPr/>
        </p:nvSpPr>
        <p:spPr>
          <a:xfrm>
            <a:off x="2670048" y="2132038"/>
            <a:ext cx="405384" cy="193624"/>
          </a:xfrm>
          <a:prstGeom prst="rect">
            <a:avLst/>
          </a:prstGeom>
          <a:solidFill>
            <a:srgbClr val="0B7A4A"/>
          </a:solidFill>
          <a:ln w="9525">
            <a:solidFill>
              <a:srgbClr val="FFFFFF"/>
            </a:solidFill>
            <a:prstDash val="solid"/>
          </a:ln>
        </p:spPr>
      </p:sp>
      <p:sp>
        <p:nvSpPr>
          <p:cNvPr id="36" name="Shape 34"/>
          <p:cNvSpPr/>
          <p:nvPr/>
        </p:nvSpPr>
        <p:spPr>
          <a:xfrm>
            <a:off x="3075432" y="2132038"/>
            <a:ext cx="270256" cy="193624"/>
          </a:xfrm>
          <a:prstGeom prst="rect">
            <a:avLst/>
          </a:prstGeom>
          <a:solidFill>
            <a:srgbClr val="12A566"/>
          </a:solidFill>
          <a:ln w="9525">
            <a:solidFill>
              <a:srgbClr val="FFFFFF"/>
            </a:solidFill>
            <a:prstDash val="solid"/>
          </a:ln>
        </p:spPr>
      </p:sp>
      <p:sp>
        <p:nvSpPr>
          <p:cNvPr id="37" name="Shape 35"/>
          <p:cNvSpPr/>
          <p:nvPr/>
        </p:nvSpPr>
        <p:spPr>
          <a:xfrm>
            <a:off x="3345688" y="2132038"/>
            <a:ext cx="540512" cy="193624"/>
          </a:xfrm>
          <a:prstGeom prst="rect">
            <a:avLst/>
          </a:prstGeom>
          <a:solidFill>
            <a:srgbClr val="8ED3B0"/>
          </a:solidFill>
          <a:ln w="9525">
            <a:solidFill>
              <a:srgbClr val="FFFFFF"/>
            </a:solidFill>
            <a:prstDash val="solid"/>
          </a:ln>
        </p:spPr>
      </p:sp>
      <p:sp>
        <p:nvSpPr>
          <p:cNvPr id="38" name="Text 36"/>
          <p:cNvSpPr txBox="1"/>
          <p:nvPr/>
        </p:nvSpPr>
        <p:spPr>
          <a:xfrm>
            <a:off x="3959352"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39" name="Text 37"/>
          <p:cNvSpPr txBox="1"/>
          <p:nvPr/>
        </p:nvSpPr>
        <p:spPr>
          <a:xfrm>
            <a:off x="4462272"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40" name="Text 38"/>
          <p:cNvSpPr txBox="1"/>
          <p:nvPr/>
        </p:nvSpPr>
        <p:spPr>
          <a:xfrm>
            <a:off x="4965192"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41" name="Text 39"/>
          <p:cNvSpPr txBox="1"/>
          <p:nvPr/>
        </p:nvSpPr>
        <p:spPr>
          <a:xfrm>
            <a:off x="5468112" y="205282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42" name="Text 40"/>
          <p:cNvSpPr txBox="1"/>
          <p:nvPr/>
        </p:nvSpPr>
        <p:spPr>
          <a:xfrm>
            <a:off x="658368"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3" name="Shape 41"/>
          <p:cNvSpPr/>
          <p:nvPr/>
        </p:nvSpPr>
        <p:spPr>
          <a:xfrm>
            <a:off x="2670048" y="2484082"/>
            <a:ext cx="270256" cy="193624"/>
          </a:xfrm>
          <a:prstGeom prst="rect">
            <a:avLst/>
          </a:prstGeom>
          <a:solidFill>
            <a:srgbClr val="0B7A4A"/>
          </a:solidFill>
          <a:ln w="9525">
            <a:solidFill>
              <a:srgbClr val="FFFFFF"/>
            </a:solidFill>
            <a:prstDash val="solid"/>
          </a:ln>
        </p:spPr>
      </p:sp>
      <p:sp>
        <p:nvSpPr>
          <p:cNvPr id="44" name="Shape 42"/>
          <p:cNvSpPr/>
          <p:nvPr/>
        </p:nvSpPr>
        <p:spPr>
          <a:xfrm>
            <a:off x="2940304" y="2484082"/>
            <a:ext cx="405384" cy="193624"/>
          </a:xfrm>
          <a:prstGeom prst="rect">
            <a:avLst/>
          </a:prstGeom>
          <a:solidFill>
            <a:srgbClr val="12A566"/>
          </a:solidFill>
          <a:ln w="9525">
            <a:solidFill>
              <a:srgbClr val="FFFFFF"/>
            </a:solidFill>
            <a:prstDash val="solid"/>
          </a:ln>
        </p:spPr>
      </p:sp>
      <p:sp>
        <p:nvSpPr>
          <p:cNvPr id="45" name="Shape 43"/>
          <p:cNvSpPr/>
          <p:nvPr/>
        </p:nvSpPr>
        <p:spPr>
          <a:xfrm>
            <a:off x="3345688" y="2484082"/>
            <a:ext cx="405384" cy="193624"/>
          </a:xfrm>
          <a:prstGeom prst="rect">
            <a:avLst/>
          </a:prstGeom>
          <a:solidFill>
            <a:srgbClr val="8ED3B0"/>
          </a:solidFill>
          <a:ln w="9525">
            <a:solidFill>
              <a:srgbClr val="FFFFFF"/>
            </a:solidFill>
            <a:prstDash val="solid"/>
          </a:ln>
        </p:spPr>
      </p:sp>
      <p:sp>
        <p:nvSpPr>
          <p:cNvPr id="46" name="Text 44"/>
          <p:cNvSpPr txBox="1"/>
          <p:nvPr/>
        </p:nvSpPr>
        <p:spPr>
          <a:xfrm>
            <a:off x="3959352"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47" name="Text 45"/>
          <p:cNvSpPr txBox="1"/>
          <p:nvPr/>
        </p:nvSpPr>
        <p:spPr>
          <a:xfrm>
            <a:off x="4462272"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48" name="Text 46"/>
          <p:cNvSpPr txBox="1"/>
          <p:nvPr/>
        </p:nvSpPr>
        <p:spPr>
          <a:xfrm>
            <a:off x="4965192"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49" name="Text 47"/>
          <p:cNvSpPr txBox="1"/>
          <p:nvPr/>
        </p:nvSpPr>
        <p:spPr>
          <a:xfrm>
            <a:off x="5468112" y="240487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0" name="Text 48"/>
          <p:cNvSpPr txBox="1"/>
          <p:nvPr/>
        </p:nvSpPr>
        <p:spPr>
          <a:xfrm>
            <a:off x="658368"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51" name="Shape 49"/>
          <p:cNvSpPr/>
          <p:nvPr/>
        </p:nvSpPr>
        <p:spPr>
          <a:xfrm>
            <a:off x="2670048" y="2836126"/>
            <a:ext cx="405384" cy="193624"/>
          </a:xfrm>
          <a:prstGeom prst="rect">
            <a:avLst/>
          </a:prstGeom>
          <a:solidFill>
            <a:srgbClr val="0B7A4A"/>
          </a:solidFill>
          <a:ln w="9525">
            <a:solidFill>
              <a:srgbClr val="FFFFFF"/>
            </a:solidFill>
            <a:prstDash val="solid"/>
          </a:ln>
        </p:spPr>
      </p:sp>
      <p:sp>
        <p:nvSpPr>
          <p:cNvPr id="52" name="Shape 50"/>
          <p:cNvSpPr/>
          <p:nvPr/>
        </p:nvSpPr>
        <p:spPr>
          <a:xfrm>
            <a:off x="3075432" y="2836126"/>
            <a:ext cx="135128" cy="193624"/>
          </a:xfrm>
          <a:prstGeom prst="rect">
            <a:avLst/>
          </a:prstGeom>
          <a:solidFill>
            <a:srgbClr val="12A566"/>
          </a:solidFill>
          <a:ln w="9525">
            <a:solidFill>
              <a:srgbClr val="FFFFFF"/>
            </a:solidFill>
            <a:prstDash val="solid"/>
          </a:ln>
        </p:spPr>
      </p:sp>
      <p:sp>
        <p:nvSpPr>
          <p:cNvPr id="53" name="Shape 51"/>
          <p:cNvSpPr/>
          <p:nvPr/>
        </p:nvSpPr>
        <p:spPr>
          <a:xfrm>
            <a:off x="3210560" y="2836126"/>
            <a:ext cx="405384" cy="193624"/>
          </a:xfrm>
          <a:prstGeom prst="rect">
            <a:avLst/>
          </a:prstGeom>
          <a:solidFill>
            <a:srgbClr val="8ED3B0"/>
          </a:solidFill>
          <a:ln w="9525">
            <a:solidFill>
              <a:srgbClr val="FFFFFF"/>
            </a:solidFill>
            <a:prstDash val="solid"/>
          </a:ln>
        </p:spPr>
      </p:sp>
      <p:sp>
        <p:nvSpPr>
          <p:cNvPr id="54" name="Text 52"/>
          <p:cNvSpPr txBox="1"/>
          <p:nvPr/>
        </p:nvSpPr>
        <p:spPr>
          <a:xfrm>
            <a:off x="3959352"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55" name="Text 53"/>
          <p:cNvSpPr txBox="1"/>
          <p:nvPr/>
        </p:nvSpPr>
        <p:spPr>
          <a:xfrm>
            <a:off x="4462272"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56" name="Text 54"/>
          <p:cNvSpPr txBox="1"/>
          <p:nvPr/>
        </p:nvSpPr>
        <p:spPr>
          <a:xfrm>
            <a:off x="4965192"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57" name="Text 55"/>
          <p:cNvSpPr txBox="1"/>
          <p:nvPr/>
        </p:nvSpPr>
        <p:spPr>
          <a:xfrm>
            <a:off x="5468112" y="275691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58" name="Text 56"/>
          <p:cNvSpPr txBox="1"/>
          <p:nvPr/>
        </p:nvSpPr>
        <p:spPr>
          <a:xfrm>
            <a:off x="658368"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9" name="Shape 57"/>
          <p:cNvSpPr/>
          <p:nvPr/>
        </p:nvSpPr>
        <p:spPr>
          <a:xfrm>
            <a:off x="2670048" y="3188170"/>
            <a:ext cx="270256" cy="193624"/>
          </a:xfrm>
          <a:prstGeom prst="rect">
            <a:avLst/>
          </a:prstGeom>
          <a:solidFill>
            <a:srgbClr val="0B7A4A"/>
          </a:solidFill>
          <a:ln w="9525">
            <a:solidFill>
              <a:srgbClr val="FFFFFF"/>
            </a:solidFill>
            <a:prstDash val="solid"/>
          </a:ln>
        </p:spPr>
      </p:sp>
      <p:sp>
        <p:nvSpPr>
          <p:cNvPr id="60" name="Shape 58"/>
          <p:cNvSpPr/>
          <p:nvPr/>
        </p:nvSpPr>
        <p:spPr>
          <a:xfrm>
            <a:off x="2940304" y="3188170"/>
            <a:ext cx="405384" cy="193624"/>
          </a:xfrm>
          <a:prstGeom prst="rect">
            <a:avLst/>
          </a:prstGeom>
          <a:solidFill>
            <a:srgbClr val="12A566"/>
          </a:solidFill>
          <a:ln w="9525">
            <a:solidFill>
              <a:srgbClr val="FFFFFF"/>
            </a:solidFill>
            <a:prstDash val="solid"/>
          </a:ln>
        </p:spPr>
      </p:sp>
      <p:sp>
        <p:nvSpPr>
          <p:cNvPr id="61" name="Shape 59"/>
          <p:cNvSpPr/>
          <p:nvPr/>
        </p:nvSpPr>
        <p:spPr>
          <a:xfrm>
            <a:off x="3345688" y="3188170"/>
            <a:ext cx="270256" cy="193624"/>
          </a:xfrm>
          <a:prstGeom prst="rect">
            <a:avLst/>
          </a:prstGeom>
          <a:solidFill>
            <a:srgbClr val="8ED3B0"/>
          </a:solidFill>
          <a:ln w="9525">
            <a:solidFill>
              <a:srgbClr val="FFFFFF"/>
            </a:solidFill>
            <a:prstDash val="solid"/>
          </a:ln>
        </p:spPr>
      </p:sp>
      <p:sp>
        <p:nvSpPr>
          <p:cNvPr id="62" name="Text 60"/>
          <p:cNvSpPr txBox="1"/>
          <p:nvPr/>
        </p:nvSpPr>
        <p:spPr>
          <a:xfrm>
            <a:off x="3959352"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63" name="Text 61"/>
          <p:cNvSpPr txBox="1"/>
          <p:nvPr/>
        </p:nvSpPr>
        <p:spPr>
          <a:xfrm>
            <a:off x="4462272"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64" name="Text 62"/>
          <p:cNvSpPr txBox="1"/>
          <p:nvPr/>
        </p:nvSpPr>
        <p:spPr>
          <a:xfrm>
            <a:off x="4965192"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65" name="Text 63"/>
          <p:cNvSpPr txBox="1"/>
          <p:nvPr/>
        </p:nvSpPr>
        <p:spPr>
          <a:xfrm>
            <a:off x="5468112" y="310896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66" name="Text 64"/>
          <p:cNvSpPr txBox="1"/>
          <p:nvPr/>
        </p:nvSpPr>
        <p:spPr>
          <a:xfrm>
            <a:off x="658368"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67" name="Shape 65"/>
          <p:cNvSpPr/>
          <p:nvPr/>
        </p:nvSpPr>
        <p:spPr>
          <a:xfrm>
            <a:off x="2670048" y="3540214"/>
            <a:ext cx="270256" cy="193624"/>
          </a:xfrm>
          <a:prstGeom prst="rect">
            <a:avLst/>
          </a:prstGeom>
          <a:solidFill>
            <a:srgbClr val="0B7A4A"/>
          </a:solidFill>
          <a:ln w="9525">
            <a:solidFill>
              <a:srgbClr val="FFFFFF"/>
            </a:solidFill>
            <a:prstDash val="solid"/>
          </a:ln>
        </p:spPr>
      </p:sp>
      <p:sp>
        <p:nvSpPr>
          <p:cNvPr id="68" name="Shape 66"/>
          <p:cNvSpPr/>
          <p:nvPr/>
        </p:nvSpPr>
        <p:spPr>
          <a:xfrm>
            <a:off x="2940304" y="3540214"/>
            <a:ext cx="135128" cy="193624"/>
          </a:xfrm>
          <a:prstGeom prst="rect">
            <a:avLst/>
          </a:prstGeom>
          <a:solidFill>
            <a:srgbClr val="12A566"/>
          </a:solidFill>
          <a:ln w="9525">
            <a:solidFill>
              <a:srgbClr val="FFFFFF"/>
            </a:solidFill>
            <a:prstDash val="solid"/>
          </a:ln>
        </p:spPr>
      </p:sp>
      <p:sp>
        <p:nvSpPr>
          <p:cNvPr id="69" name="Shape 67"/>
          <p:cNvSpPr/>
          <p:nvPr/>
        </p:nvSpPr>
        <p:spPr>
          <a:xfrm>
            <a:off x="3075432" y="3540214"/>
            <a:ext cx="405384" cy="193624"/>
          </a:xfrm>
          <a:prstGeom prst="rect">
            <a:avLst/>
          </a:prstGeom>
          <a:solidFill>
            <a:srgbClr val="8ED3B0"/>
          </a:solidFill>
          <a:ln w="9525">
            <a:solidFill>
              <a:srgbClr val="FFFFFF"/>
            </a:solidFill>
            <a:prstDash val="solid"/>
          </a:ln>
        </p:spPr>
      </p:sp>
      <p:sp>
        <p:nvSpPr>
          <p:cNvPr id="70" name="Text 68"/>
          <p:cNvSpPr txBox="1"/>
          <p:nvPr/>
        </p:nvSpPr>
        <p:spPr>
          <a:xfrm>
            <a:off x="3959352"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71" name="Text 69"/>
          <p:cNvSpPr txBox="1"/>
          <p:nvPr/>
        </p:nvSpPr>
        <p:spPr>
          <a:xfrm>
            <a:off x="4462272"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72" name="Text 70"/>
          <p:cNvSpPr txBox="1"/>
          <p:nvPr/>
        </p:nvSpPr>
        <p:spPr>
          <a:xfrm>
            <a:off x="4965192"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73" name="Text 71"/>
          <p:cNvSpPr txBox="1"/>
          <p:nvPr/>
        </p:nvSpPr>
        <p:spPr>
          <a:xfrm>
            <a:off x="5468112" y="346100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74" name="Text 72"/>
          <p:cNvSpPr txBox="1"/>
          <p:nvPr/>
        </p:nvSpPr>
        <p:spPr>
          <a:xfrm>
            <a:off x="658368"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5" name="Shape 73"/>
          <p:cNvSpPr/>
          <p:nvPr/>
        </p:nvSpPr>
        <p:spPr>
          <a:xfrm>
            <a:off x="2670048" y="3892258"/>
            <a:ext cx="270256" cy="193624"/>
          </a:xfrm>
          <a:prstGeom prst="rect">
            <a:avLst/>
          </a:prstGeom>
          <a:solidFill>
            <a:srgbClr val="0B7A4A"/>
          </a:solidFill>
          <a:ln w="9525">
            <a:solidFill>
              <a:srgbClr val="FFFFFF"/>
            </a:solidFill>
            <a:prstDash val="solid"/>
          </a:ln>
        </p:spPr>
      </p:sp>
      <p:sp>
        <p:nvSpPr>
          <p:cNvPr id="76" name="Shape 74"/>
          <p:cNvSpPr/>
          <p:nvPr/>
        </p:nvSpPr>
        <p:spPr>
          <a:xfrm>
            <a:off x="2940304" y="3892258"/>
            <a:ext cx="135128" cy="193624"/>
          </a:xfrm>
          <a:prstGeom prst="rect">
            <a:avLst/>
          </a:prstGeom>
          <a:solidFill>
            <a:srgbClr val="12A566"/>
          </a:solidFill>
          <a:ln w="9525">
            <a:solidFill>
              <a:srgbClr val="FFFFFF"/>
            </a:solidFill>
            <a:prstDash val="solid"/>
          </a:ln>
        </p:spPr>
      </p:sp>
      <p:sp>
        <p:nvSpPr>
          <p:cNvPr id="77" name="Shape 75"/>
          <p:cNvSpPr/>
          <p:nvPr/>
        </p:nvSpPr>
        <p:spPr>
          <a:xfrm>
            <a:off x="3075432" y="3892258"/>
            <a:ext cx="405384" cy="193624"/>
          </a:xfrm>
          <a:prstGeom prst="rect">
            <a:avLst/>
          </a:prstGeom>
          <a:solidFill>
            <a:srgbClr val="8ED3B0"/>
          </a:solidFill>
          <a:ln w="9525">
            <a:solidFill>
              <a:srgbClr val="FFFFFF"/>
            </a:solidFill>
            <a:prstDash val="solid"/>
          </a:ln>
        </p:spPr>
      </p:sp>
      <p:sp>
        <p:nvSpPr>
          <p:cNvPr id="78" name="Text 76"/>
          <p:cNvSpPr txBox="1"/>
          <p:nvPr/>
        </p:nvSpPr>
        <p:spPr>
          <a:xfrm>
            <a:off x="3959352"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79" name="Text 77"/>
          <p:cNvSpPr txBox="1"/>
          <p:nvPr/>
        </p:nvSpPr>
        <p:spPr>
          <a:xfrm>
            <a:off x="4462272"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80" name="Text 78"/>
          <p:cNvSpPr txBox="1"/>
          <p:nvPr/>
        </p:nvSpPr>
        <p:spPr>
          <a:xfrm>
            <a:off x="4965192"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81" name="Text 79"/>
          <p:cNvSpPr txBox="1"/>
          <p:nvPr/>
        </p:nvSpPr>
        <p:spPr>
          <a:xfrm>
            <a:off x="5468112" y="381304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82" name="Text 80"/>
          <p:cNvSpPr txBox="1"/>
          <p:nvPr/>
        </p:nvSpPr>
        <p:spPr>
          <a:xfrm>
            <a:off x="658368"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3" name="Shape 81"/>
          <p:cNvSpPr/>
          <p:nvPr/>
        </p:nvSpPr>
        <p:spPr>
          <a:xfrm>
            <a:off x="2670048" y="4244302"/>
            <a:ext cx="270256" cy="193624"/>
          </a:xfrm>
          <a:prstGeom prst="rect">
            <a:avLst/>
          </a:prstGeom>
          <a:solidFill>
            <a:srgbClr val="0B7A4A"/>
          </a:solidFill>
          <a:ln w="9525">
            <a:solidFill>
              <a:srgbClr val="FFFFFF"/>
            </a:solidFill>
            <a:prstDash val="solid"/>
          </a:ln>
        </p:spPr>
      </p:sp>
      <p:sp>
        <p:nvSpPr>
          <p:cNvPr id="84" name="Shape 82"/>
          <p:cNvSpPr/>
          <p:nvPr/>
        </p:nvSpPr>
        <p:spPr>
          <a:xfrm>
            <a:off x="2940304" y="4244302"/>
            <a:ext cx="135128" cy="193624"/>
          </a:xfrm>
          <a:prstGeom prst="rect">
            <a:avLst/>
          </a:prstGeom>
          <a:solidFill>
            <a:srgbClr val="12A566"/>
          </a:solidFill>
          <a:ln w="9525">
            <a:solidFill>
              <a:srgbClr val="FFFFFF"/>
            </a:solidFill>
            <a:prstDash val="solid"/>
          </a:ln>
        </p:spPr>
      </p:sp>
      <p:sp>
        <p:nvSpPr>
          <p:cNvPr id="85" name="Shape 83"/>
          <p:cNvSpPr/>
          <p:nvPr/>
        </p:nvSpPr>
        <p:spPr>
          <a:xfrm>
            <a:off x="3075432" y="4244302"/>
            <a:ext cx="270256" cy="193624"/>
          </a:xfrm>
          <a:prstGeom prst="rect">
            <a:avLst/>
          </a:prstGeom>
          <a:solidFill>
            <a:srgbClr val="8ED3B0"/>
          </a:solidFill>
          <a:ln w="9525">
            <a:solidFill>
              <a:srgbClr val="FFFFFF"/>
            </a:solidFill>
            <a:prstDash val="solid"/>
          </a:ln>
        </p:spPr>
      </p:sp>
      <p:sp>
        <p:nvSpPr>
          <p:cNvPr id="86" name="Text 84"/>
          <p:cNvSpPr txBox="1"/>
          <p:nvPr/>
        </p:nvSpPr>
        <p:spPr>
          <a:xfrm>
            <a:off x="3959352"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87" name="Text 85"/>
          <p:cNvSpPr txBox="1"/>
          <p:nvPr/>
        </p:nvSpPr>
        <p:spPr>
          <a:xfrm>
            <a:off x="4462272"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88" name="Text 86"/>
          <p:cNvSpPr txBox="1"/>
          <p:nvPr/>
        </p:nvSpPr>
        <p:spPr>
          <a:xfrm>
            <a:off x="4965192"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89" name="Text 87"/>
          <p:cNvSpPr txBox="1"/>
          <p:nvPr/>
        </p:nvSpPr>
        <p:spPr>
          <a:xfrm>
            <a:off x="5468112" y="416509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90" name="Text 88"/>
          <p:cNvSpPr txBox="1"/>
          <p:nvPr/>
        </p:nvSpPr>
        <p:spPr>
          <a:xfrm>
            <a:off x="658368"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91" name="Shape 89"/>
          <p:cNvSpPr/>
          <p:nvPr/>
        </p:nvSpPr>
        <p:spPr>
          <a:xfrm>
            <a:off x="2670048" y="4596346"/>
            <a:ext cx="270256" cy="193624"/>
          </a:xfrm>
          <a:prstGeom prst="rect">
            <a:avLst/>
          </a:prstGeom>
          <a:solidFill>
            <a:srgbClr val="0B7A4A"/>
          </a:solidFill>
          <a:ln w="9525">
            <a:solidFill>
              <a:srgbClr val="FFFFFF"/>
            </a:solidFill>
            <a:prstDash val="solid"/>
          </a:ln>
        </p:spPr>
      </p:sp>
      <p:sp>
        <p:nvSpPr>
          <p:cNvPr id="92" name="Shape 90"/>
          <p:cNvSpPr/>
          <p:nvPr/>
        </p:nvSpPr>
        <p:spPr>
          <a:xfrm>
            <a:off x="2940304" y="4596346"/>
            <a:ext cx="135128" cy="193624"/>
          </a:xfrm>
          <a:prstGeom prst="rect">
            <a:avLst/>
          </a:prstGeom>
          <a:solidFill>
            <a:srgbClr val="12A566"/>
          </a:solidFill>
          <a:ln w="9525">
            <a:solidFill>
              <a:srgbClr val="FFFFFF"/>
            </a:solidFill>
            <a:prstDash val="solid"/>
          </a:ln>
        </p:spPr>
      </p:sp>
      <p:sp>
        <p:nvSpPr>
          <p:cNvPr id="93" name="Shape 91"/>
          <p:cNvSpPr/>
          <p:nvPr/>
        </p:nvSpPr>
        <p:spPr>
          <a:xfrm>
            <a:off x="3075432" y="4596346"/>
            <a:ext cx="135128" cy="193624"/>
          </a:xfrm>
          <a:prstGeom prst="rect">
            <a:avLst/>
          </a:prstGeom>
          <a:solidFill>
            <a:srgbClr val="8ED3B0"/>
          </a:solidFill>
          <a:ln w="9525">
            <a:solidFill>
              <a:srgbClr val="FFFFFF"/>
            </a:solidFill>
            <a:prstDash val="solid"/>
          </a:ln>
        </p:spPr>
      </p:sp>
      <p:sp>
        <p:nvSpPr>
          <p:cNvPr id="94" name="Text 92"/>
          <p:cNvSpPr txBox="1"/>
          <p:nvPr/>
        </p:nvSpPr>
        <p:spPr>
          <a:xfrm>
            <a:off x="3959352"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95" name="Text 93"/>
          <p:cNvSpPr txBox="1"/>
          <p:nvPr/>
        </p:nvSpPr>
        <p:spPr>
          <a:xfrm>
            <a:off x="4462272"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96" name="Text 94"/>
          <p:cNvSpPr txBox="1"/>
          <p:nvPr/>
        </p:nvSpPr>
        <p:spPr>
          <a:xfrm>
            <a:off x="4965192"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97" name="Text 95"/>
          <p:cNvSpPr txBox="1"/>
          <p:nvPr/>
        </p:nvSpPr>
        <p:spPr>
          <a:xfrm>
            <a:off x="5468112" y="451713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98" name="Text 96"/>
          <p:cNvSpPr txBox="1"/>
          <p:nvPr/>
        </p:nvSpPr>
        <p:spPr>
          <a:xfrm>
            <a:off x="658368"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9" name="Shape 97"/>
          <p:cNvSpPr/>
          <p:nvPr/>
        </p:nvSpPr>
        <p:spPr>
          <a:xfrm>
            <a:off x="2670048" y="4948390"/>
            <a:ext cx="270256" cy="193624"/>
          </a:xfrm>
          <a:prstGeom prst="rect">
            <a:avLst/>
          </a:prstGeom>
          <a:solidFill>
            <a:srgbClr val="0B7A4A"/>
          </a:solidFill>
          <a:ln w="9525">
            <a:solidFill>
              <a:srgbClr val="FFFFFF"/>
            </a:solidFill>
            <a:prstDash val="solid"/>
          </a:ln>
        </p:spPr>
      </p:sp>
      <p:sp>
        <p:nvSpPr>
          <p:cNvPr id="100" name="Shape 98"/>
          <p:cNvSpPr/>
          <p:nvPr/>
        </p:nvSpPr>
        <p:spPr>
          <a:xfrm>
            <a:off x="2940304" y="4948390"/>
            <a:ext cx="135128" cy="193624"/>
          </a:xfrm>
          <a:prstGeom prst="rect">
            <a:avLst/>
          </a:prstGeom>
          <a:solidFill>
            <a:srgbClr val="12A566"/>
          </a:solidFill>
          <a:ln w="9525">
            <a:solidFill>
              <a:srgbClr val="FFFFFF"/>
            </a:solidFill>
            <a:prstDash val="solid"/>
          </a:ln>
        </p:spPr>
      </p:sp>
      <p:sp>
        <p:nvSpPr>
          <p:cNvPr id="101" name="Shape 99"/>
          <p:cNvSpPr/>
          <p:nvPr/>
        </p:nvSpPr>
        <p:spPr>
          <a:xfrm>
            <a:off x="3075432" y="4948390"/>
            <a:ext cx="135128" cy="193624"/>
          </a:xfrm>
          <a:prstGeom prst="rect">
            <a:avLst/>
          </a:prstGeom>
          <a:solidFill>
            <a:srgbClr val="8ED3B0"/>
          </a:solidFill>
          <a:ln w="9525">
            <a:solidFill>
              <a:srgbClr val="FFFFFF"/>
            </a:solidFill>
            <a:prstDash val="solid"/>
          </a:ln>
        </p:spPr>
      </p:sp>
      <p:sp>
        <p:nvSpPr>
          <p:cNvPr id="102" name="Text 100"/>
          <p:cNvSpPr txBox="1"/>
          <p:nvPr/>
        </p:nvSpPr>
        <p:spPr>
          <a:xfrm>
            <a:off x="3959352"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03" name="Text 101"/>
          <p:cNvSpPr txBox="1"/>
          <p:nvPr/>
        </p:nvSpPr>
        <p:spPr>
          <a:xfrm>
            <a:off x="4462272"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04" name="Text 102"/>
          <p:cNvSpPr txBox="1"/>
          <p:nvPr/>
        </p:nvSpPr>
        <p:spPr>
          <a:xfrm>
            <a:off x="4965192"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05" name="Text 103"/>
          <p:cNvSpPr txBox="1"/>
          <p:nvPr/>
        </p:nvSpPr>
        <p:spPr>
          <a:xfrm>
            <a:off x="5468112" y="486918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06" name="Text 104"/>
          <p:cNvSpPr txBox="1"/>
          <p:nvPr/>
        </p:nvSpPr>
        <p:spPr>
          <a:xfrm>
            <a:off x="658368"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7" name="Shape 105"/>
          <p:cNvSpPr/>
          <p:nvPr/>
        </p:nvSpPr>
        <p:spPr>
          <a:xfrm>
            <a:off x="2670048" y="5300434"/>
            <a:ext cx="270256" cy="193624"/>
          </a:xfrm>
          <a:prstGeom prst="rect">
            <a:avLst/>
          </a:prstGeom>
          <a:solidFill>
            <a:srgbClr val="0B7A4A"/>
          </a:solidFill>
          <a:ln w="9525">
            <a:solidFill>
              <a:srgbClr val="FFFFFF"/>
            </a:solidFill>
            <a:prstDash val="solid"/>
          </a:ln>
        </p:spPr>
      </p:sp>
      <p:sp>
        <p:nvSpPr>
          <p:cNvPr id="108" name="Shape 106"/>
          <p:cNvSpPr/>
          <p:nvPr/>
        </p:nvSpPr>
        <p:spPr>
          <a:xfrm>
            <a:off x="2940304" y="5300434"/>
            <a:ext cx="135128" cy="193624"/>
          </a:xfrm>
          <a:prstGeom prst="rect">
            <a:avLst/>
          </a:prstGeom>
          <a:solidFill>
            <a:srgbClr val="12A566"/>
          </a:solidFill>
          <a:ln w="9525">
            <a:solidFill>
              <a:srgbClr val="FFFFFF"/>
            </a:solidFill>
            <a:prstDash val="solid"/>
          </a:ln>
        </p:spPr>
      </p:sp>
      <p:sp>
        <p:nvSpPr>
          <p:cNvPr id="109" name="Shape 107"/>
          <p:cNvSpPr/>
          <p:nvPr/>
        </p:nvSpPr>
        <p:spPr>
          <a:xfrm>
            <a:off x="3075432" y="5300434"/>
            <a:ext cx="135128" cy="193624"/>
          </a:xfrm>
          <a:prstGeom prst="rect">
            <a:avLst/>
          </a:prstGeom>
          <a:solidFill>
            <a:srgbClr val="8ED3B0"/>
          </a:solidFill>
          <a:ln w="9525">
            <a:solidFill>
              <a:srgbClr val="FFFFFF"/>
            </a:solidFill>
            <a:prstDash val="solid"/>
          </a:ln>
        </p:spPr>
      </p:sp>
      <p:sp>
        <p:nvSpPr>
          <p:cNvPr id="110" name="Text 108"/>
          <p:cNvSpPr txBox="1"/>
          <p:nvPr/>
        </p:nvSpPr>
        <p:spPr>
          <a:xfrm>
            <a:off x="3959352"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11" name="Text 109"/>
          <p:cNvSpPr txBox="1"/>
          <p:nvPr/>
        </p:nvSpPr>
        <p:spPr>
          <a:xfrm>
            <a:off x="4462272"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12" name="Text 110"/>
          <p:cNvSpPr txBox="1"/>
          <p:nvPr/>
        </p:nvSpPr>
        <p:spPr>
          <a:xfrm>
            <a:off x="4965192"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13" name="Text 111"/>
          <p:cNvSpPr txBox="1"/>
          <p:nvPr/>
        </p:nvSpPr>
        <p:spPr>
          <a:xfrm>
            <a:off x="5468112" y="522122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14" name="Text 112"/>
          <p:cNvSpPr txBox="1"/>
          <p:nvPr/>
        </p:nvSpPr>
        <p:spPr>
          <a:xfrm>
            <a:off x="658368" y="557326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15" name="Shape 113"/>
          <p:cNvSpPr/>
          <p:nvPr/>
        </p:nvSpPr>
        <p:spPr>
          <a:xfrm>
            <a:off x="2670048" y="5652478"/>
            <a:ext cx="405384" cy="193624"/>
          </a:xfrm>
          <a:prstGeom prst="rect">
            <a:avLst/>
          </a:prstGeom>
          <a:solidFill>
            <a:srgbClr val="0B7A4A"/>
          </a:solidFill>
          <a:ln w="9525">
            <a:solidFill>
              <a:srgbClr val="FFFFFF"/>
            </a:solidFill>
            <a:prstDash val="solid"/>
          </a:ln>
        </p:spPr>
      </p:sp>
      <p:sp>
        <p:nvSpPr>
          <p:cNvPr id="116" name="Shape 114"/>
          <p:cNvSpPr/>
          <p:nvPr/>
        </p:nvSpPr>
        <p:spPr>
          <a:xfrm>
            <a:off x="3075432" y="5652478"/>
            <a:ext cx="135128" cy="193624"/>
          </a:xfrm>
          <a:prstGeom prst="rect">
            <a:avLst/>
          </a:prstGeom>
          <a:solidFill>
            <a:srgbClr val="8ED3B0"/>
          </a:solidFill>
          <a:ln w="9525">
            <a:solidFill>
              <a:srgbClr val="FFFFFF"/>
            </a:solidFill>
            <a:prstDash val="solid"/>
          </a:ln>
        </p:spPr>
      </p:sp>
      <p:sp>
        <p:nvSpPr>
          <p:cNvPr id="117" name="Text 115"/>
          <p:cNvSpPr txBox="1"/>
          <p:nvPr/>
        </p:nvSpPr>
        <p:spPr>
          <a:xfrm>
            <a:off x="3959352" y="557326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118" name="Text 116"/>
          <p:cNvSpPr txBox="1"/>
          <p:nvPr/>
        </p:nvSpPr>
        <p:spPr>
          <a:xfrm>
            <a:off x="4462272" y="557326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19" name="Text 117"/>
          <p:cNvSpPr txBox="1"/>
          <p:nvPr/>
        </p:nvSpPr>
        <p:spPr>
          <a:xfrm>
            <a:off x="4965192" y="557326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20" name="Text 118"/>
          <p:cNvSpPr txBox="1"/>
          <p:nvPr/>
        </p:nvSpPr>
        <p:spPr>
          <a:xfrm>
            <a:off x="5468112" y="557326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21" name="Text 119"/>
          <p:cNvSpPr txBox="1"/>
          <p:nvPr/>
        </p:nvSpPr>
        <p:spPr>
          <a:xfrm>
            <a:off x="6208776"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22" name="Shape 120"/>
          <p:cNvSpPr/>
          <p:nvPr/>
        </p:nvSpPr>
        <p:spPr>
          <a:xfrm>
            <a:off x="8220456" y="1779994"/>
            <a:ext cx="270256" cy="193624"/>
          </a:xfrm>
          <a:prstGeom prst="rect">
            <a:avLst/>
          </a:prstGeom>
          <a:solidFill>
            <a:srgbClr val="0B7A4A"/>
          </a:solidFill>
          <a:ln w="9525">
            <a:solidFill>
              <a:srgbClr val="FFFFFF"/>
            </a:solidFill>
            <a:prstDash val="solid"/>
          </a:ln>
        </p:spPr>
      </p:sp>
      <p:sp>
        <p:nvSpPr>
          <p:cNvPr id="123" name="Shape 121"/>
          <p:cNvSpPr/>
          <p:nvPr/>
        </p:nvSpPr>
        <p:spPr>
          <a:xfrm>
            <a:off x="8490712" y="1779994"/>
            <a:ext cx="135128" cy="193624"/>
          </a:xfrm>
          <a:prstGeom prst="rect">
            <a:avLst/>
          </a:prstGeom>
          <a:solidFill>
            <a:srgbClr val="12A566"/>
          </a:solidFill>
          <a:ln w="9525">
            <a:solidFill>
              <a:srgbClr val="FFFFFF"/>
            </a:solidFill>
            <a:prstDash val="solid"/>
          </a:ln>
        </p:spPr>
      </p:sp>
      <p:sp>
        <p:nvSpPr>
          <p:cNvPr id="124" name="Shape 122"/>
          <p:cNvSpPr/>
          <p:nvPr/>
        </p:nvSpPr>
        <p:spPr>
          <a:xfrm>
            <a:off x="8625840" y="1779994"/>
            <a:ext cx="135128" cy="193624"/>
          </a:xfrm>
          <a:prstGeom prst="rect">
            <a:avLst/>
          </a:prstGeom>
          <a:solidFill>
            <a:srgbClr val="8ED3B0"/>
          </a:solidFill>
          <a:ln w="9525">
            <a:solidFill>
              <a:srgbClr val="FFFFFF"/>
            </a:solidFill>
            <a:prstDash val="solid"/>
          </a:ln>
        </p:spPr>
      </p:sp>
      <p:sp>
        <p:nvSpPr>
          <p:cNvPr id="125" name="Text 123"/>
          <p:cNvSpPr txBox="1"/>
          <p:nvPr/>
        </p:nvSpPr>
        <p:spPr>
          <a:xfrm>
            <a:off x="9509760"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26" name="Text 124"/>
          <p:cNvSpPr txBox="1"/>
          <p:nvPr/>
        </p:nvSpPr>
        <p:spPr>
          <a:xfrm>
            <a:off x="10012680"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27" name="Text 125"/>
          <p:cNvSpPr txBox="1"/>
          <p:nvPr/>
        </p:nvSpPr>
        <p:spPr>
          <a:xfrm>
            <a:off x="10515600"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28" name="Text 126"/>
          <p:cNvSpPr txBox="1"/>
          <p:nvPr/>
        </p:nvSpPr>
        <p:spPr>
          <a:xfrm>
            <a:off x="11018520" y="170078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29" name="Text 127"/>
          <p:cNvSpPr txBox="1"/>
          <p:nvPr/>
        </p:nvSpPr>
        <p:spPr>
          <a:xfrm>
            <a:off x="6208776"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0" name="Shape 128"/>
          <p:cNvSpPr/>
          <p:nvPr/>
        </p:nvSpPr>
        <p:spPr>
          <a:xfrm>
            <a:off x="8220456" y="2132038"/>
            <a:ext cx="540512" cy="193624"/>
          </a:xfrm>
          <a:prstGeom prst="rect">
            <a:avLst/>
          </a:prstGeom>
          <a:solidFill>
            <a:srgbClr val="0B7A4A"/>
          </a:solidFill>
          <a:ln w="9525">
            <a:solidFill>
              <a:srgbClr val="FFFFFF"/>
            </a:solidFill>
            <a:prstDash val="solid"/>
          </a:ln>
        </p:spPr>
      </p:sp>
      <p:sp>
        <p:nvSpPr>
          <p:cNvPr id="131" name="Text 129"/>
          <p:cNvSpPr txBox="1"/>
          <p:nvPr/>
        </p:nvSpPr>
        <p:spPr>
          <a:xfrm>
            <a:off x="9509760"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132" name="Text 130"/>
          <p:cNvSpPr txBox="1"/>
          <p:nvPr/>
        </p:nvSpPr>
        <p:spPr>
          <a:xfrm>
            <a:off x="10012680" y="205282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33" name="Text 131"/>
          <p:cNvSpPr txBox="1"/>
          <p:nvPr/>
        </p:nvSpPr>
        <p:spPr>
          <a:xfrm>
            <a:off x="10515600" y="205282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34" name="Text 132"/>
          <p:cNvSpPr txBox="1"/>
          <p:nvPr/>
        </p:nvSpPr>
        <p:spPr>
          <a:xfrm>
            <a:off x="11018520" y="205282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35" name="Text 133"/>
          <p:cNvSpPr txBox="1"/>
          <p:nvPr/>
        </p:nvSpPr>
        <p:spPr>
          <a:xfrm>
            <a:off x="6208776"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6" name="Shape 134"/>
          <p:cNvSpPr/>
          <p:nvPr/>
        </p:nvSpPr>
        <p:spPr>
          <a:xfrm>
            <a:off x="8220456" y="2484082"/>
            <a:ext cx="135128" cy="193624"/>
          </a:xfrm>
          <a:prstGeom prst="rect">
            <a:avLst/>
          </a:prstGeom>
          <a:solidFill>
            <a:srgbClr val="12A566"/>
          </a:solidFill>
          <a:ln w="9525">
            <a:solidFill>
              <a:srgbClr val="FFFFFF"/>
            </a:solidFill>
            <a:prstDash val="solid"/>
          </a:ln>
        </p:spPr>
      </p:sp>
      <p:sp>
        <p:nvSpPr>
          <p:cNvPr id="137" name="Shape 135"/>
          <p:cNvSpPr/>
          <p:nvPr/>
        </p:nvSpPr>
        <p:spPr>
          <a:xfrm>
            <a:off x="8355584" y="2484082"/>
            <a:ext cx="270256" cy="193624"/>
          </a:xfrm>
          <a:prstGeom prst="rect">
            <a:avLst/>
          </a:prstGeom>
          <a:solidFill>
            <a:srgbClr val="8ED3B0"/>
          </a:solidFill>
          <a:ln w="9525">
            <a:solidFill>
              <a:srgbClr val="FFFFFF"/>
            </a:solidFill>
            <a:prstDash val="solid"/>
          </a:ln>
        </p:spPr>
      </p:sp>
      <p:sp>
        <p:nvSpPr>
          <p:cNvPr id="138" name="Text 136"/>
          <p:cNvSpPr txBox="1"/>
          <p:nvPr/>
        </p:nvSpPr>
        <p:spPr>
          <a:xfrm>
            <a:off x="9509760" y="2404872"/>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39" name="Text 137"/>
          <p:cNvSpPr txBox="1"/>
          <p:nvPr/>
        </p:nvSpPr>
        <p:spPr>
          <a:xfrm>
            <a:off x="10012680"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40" name="Text 138"/>
          <p:cNvSpPr txBox="1"/>
          <p:nvPr/>
        </p:nvSpPr>
        <p:spPr>
          <a:xfrm>
            <a:off x="10515600"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41" name="Text 139"/>
          <p:cNvSpPr txBox="1"/>
          <p:nvPr/>
        </p:nvSpPr>
        <p:spPr>
          <a:xfrm>
            <a:off x="11018520" y="240487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a:t>
            </a:r>
            <a:endParaRPr lang="en-US" sz="1300" dirty="0"/>
          </a:p>
        </p:txBody>
      </p:sp>
      <p:sp>
        <p:nvSpPr>
          <p:cNvPr id="142" name="Text 140"/>
          <p:cNvSpPr txBox="1"/>
          <p:nvPr/>
        </p:nvSpPr>
        <p:spPr>
          <a:xfrm>
            <a:off x="6208776"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43" name="Shape 141"/>
          <p:cNvSpPr/>
          <p:nvPr/>
        </p:nvSpPr>
        <p:spPr>
          <a:xfrm>
            <a:off x="8220456" y="2836126"/>
            <a:ext cx="135128" cy="193624"/>
          </a:xfrm>
          <a:prstGeom prst="rect">
            <a:avLst/>
          </a:prstGeom>
          <a:solidFill>
            <a:srgbClr val="12A566"/>
          </a:solidFill>
          <a:ln w="9525">
            <a:solidFill>
              <a:srgbClr val="FFFFFF"/>
            </a:solidFill>
            <a:prstDash val="solid"/>
          </a:ln>
        </p:spPr>
      </p:sp>
      <p:sp>
        <p:nvSpPr>
          <p:cNvPr id="144" name="Shape 142"/>
          <p:cNvSpPr/>
          <p:nvPr/>
        </p:nvSpPr>
        <p:spPr>
          <a:xfrm>
            <a:off x="8355584" y="2836126"/>
            <a:ext cx="135128" cy="193624"/>
          </a:xfrm>
          <a:prstGeom prst="rect">
            <a:avLst/>
          </a:prstGeom>
          <a:solidFill>
            <a:srgbClr val="8ED3B0"/>
          </a:solidFill>
          <a:ln w="9525">
            <a:solidFill>
              <a:srgbClr val="FFFFFF"/>
            </a:solidFill>
            <a:prstDash val="solid"/>
          </a:ln>
        </p:spPr>
      </p:sp>
      <p:sp>
        <p:nvSpPr>
          <p:cNvPr id="145" name="Text 143"/>
          <p:cNvSpPr txBox="1"/>
          <p:nvPr/>
        </p:nvSpPr>
        <p:spPr>
          <a:xfrm>
            <a:off x="9509760" y="2756916"/>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46" name="Text 144"/>
          <p:cNvSpPr txBox="1"/>
          <p:nvPr/>
        </p:nvSpPr>
        <p:spPr>
          <a:xfrm>
            <a:off x="10012680"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47" name="Text 145"/>
          <p:cNvSpPr txBox="1"/>
          <p:nvPr/>
        </p:nvSpPr>
        <p:spPr>
          <a:xfrm>
            <a:off x="10515600"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48" name="Text 146"/>
          <p:cNvSpPr txBox="1"/>
          <p:nvPr/>
        </p:nvSpPr>
        <p:spPr>
          <a:xfrm>
            <a:off x="11018520" y="275691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49" name="Text 147"/>
          <p:cNvSpPr txBox="1"/>
          <p:nvPr/>
        </p:nvSpPr>
        <p:spPr>
          <a:xfrm>
            <a:off x="6208776"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50" name="Shape 148"/>
          <p:cNvSpPr/>
          <p:nvPr/>
        </p:nvSpPr>
        <p:spPr>
          <a:xfrm>
            <a:off x="8220456" y="3188170"/>
            <a:ext cx="135128" cy="193624"/>
          </a:xfrm>
          <a:prstGeom prst="rect">
            <a:avLst/>
          </a:prstGeom>
          <a:solidFill>
            <a:srgbClr val="0B7A4A"/>
          </a:solidFill>
          <a:ln w="9525">
            <a:solidFill>
              <a:srgbClr val="FFFFFF"/>
            </a:solidFill>
            <a:prstDash val="solid"/>
          </a:ln>
        </p:spPr>
      </p:sp>
      <p:sp>
        <p:nvSpPr>
          <p:cNvPr id="151" name="Shape 149"/>
          <p:cNvSpPr/>
          <p:nvPr/>
        </p:nvSpPr>
        <p:spPr>
          <a:xfrm>
            <a:off x="8355584" y="3188170"/>
            <a:ext cx="135128" cy="193624"/>
          </a:xfrm>
          <a:prstGeom prst="rect">
            <a:avLst/>
          </a:prstGeom>
          <a:solidFill>
            <a:srgbClr val="8ED3B0"/>
          </a:solidFill>
          <a:ln w="9525">
            <a:solidFill>
              <a:srgbClr val="FFFFFF"/>
            </a:solidFill>
            <a:prstDash val="solid"/>
          </a:ln>
        </p:spPr>
      </p:sp>
      <p:sp>
        <p:nvSpPr>
          <p:cNvPr id="152" name="Text 150"/>
          <p:cNvSpPr txBox="1"/>
          <p:nvPr/>
        </p:nvSpPr>
        <p:spPr>
          <a:xfrm>
            <a:off x="9509760"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53" name="Text 151"/>
          <p:cNvSpPr txBox="1"/>
          <p:nvPr/>
        </p:nvSpPr>
        <p:spPr>
          <a:xfrm>
            <a:off x="10012680" y="3108960"/>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54" name="Text 152"/>
          <p:cNvSpPr txBox="1"/>
          <p:nvPr/>
        </p:nvSpPr>
        <p:spPr>
          <a:xfrm>
            <a:off x="10515600"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55" name="Text 153"/>
          <p:cNvSpPr txBox="1"/>
          <p:nvPr/>
        </p:nvSpPr>
        <p:spPr>
          <a:xfrm>
            <a:off x="11018520" y="310896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56" name="Text 154"/>
          <p:cNvSpPr txBox="1"/>
          <p:nvPr/>
        </p:nvSpPr>
        <p:spPr>
          <a:xfrm>
            <a:off x="6208776"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57" name="Shape 155"/>
          <p:cNvSpPr/>
          <p:nvPr/>
        </p:nvSpPr>
        <p:spPr>
          <a:xfrm>
            <a:off x="8220456" y="3540214"/>
            <a:ext cx="135128" cy="193624"/>
          </a:xfrm>
          <a:prstGeom prst="rect">
            <a:avLst/>
          </a:prstGeom>
          <a:solidFill>
            <a:srgbClr val="0B7A4A"/>
          </a:solidFill>
          <a:ln w="9525">
            <a:solidFill>
              <a:srgbClr val="FFFFFF"/>
            </a:solidFill>
            <a:prstDash val="solid"/>
          </a:ln>
        </p:spPr>
      </p:sp>
      <p:sp>
        <p:nvSpPr>
          <p:cNvPr id="158" name="Shape 156"/>
          <p:cNvSpPr/>
          <p:nvPr/>
        </p:nvSpPr>
        <p:spPr>
          <a:xfrm>
            <a:off x="8355584" y="3540214"/>
            <a:ext cx="135128" cy="193624"/>
          </a:xfrm>
          <a:prstGeom prst="rect">
            <a:avLst/>
          </a:prstGeom>
          <a:solidFill>
            <a:srgbClr val="8ED3B0"/>
          </a:solidFill>
          <a:ln w="9525">
            <a:solidFill>
              <a:srgbClr val="FFFFFF"/>
            </a:solidFill>
            <a:prstDash val="solid"/>
          </a:ln>
        </p:spPr>
      </p:sp>
      <p:sp>
        <p:nvSpPr>
          <p:cNvPr id="159" name="Text 157"/>
          <p:cNvSpPr txBox="1"/>
          <p:nvPr/>
        </p:nvSpPr>
        <p:spPr>
          <a:xfrm>
            <a:off x="9509760"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0" name="Text 158"/>
          <p:cNvSpPr txBox="1"/>
          <p:nvPr/>
        </p:nvSpPr>
        <p:spPr>
          <a:xfrm>
            <a:off x="10012680" y="3461004"/>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61" name="Text 159"/>
          <p:cNvSpPr txBox="1"/>
          <p:nvPr/>
        </p:nvSpPr>
        <p:spPr>
          <a:xfrm>
            <a:off x="10515600"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2" name="Text 160"/>
          <p:cNvSpPr txBox="1"/>
          <p:nvPr/>
        </p:nvSpPr>
        <p:spPr>
          <a:xfrm>
            <a:off x="11018520" y="346100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63" name="Text 161"/>
          <p:cNvSpPr txBox="1"/>
          <p:nvPr/>
        </p:nvSpPr>
        <p:spPr>
          <a:xfrm>
            <a:off x="6208776"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4" name="Shape 162"/>
          <p:cNvSpPr/>
          <p:nvPr/>
        </p:nvSpPr>
        <p:spPr>
          <a:xfrm>
            <a:off x="8220456" y="3892258"/>
            <a:ext cx="135128" cy="193624"/>
          </a:xfrm>
          <a:prstGeom prst="rect">
            <a:avLst/>
          </a:prstGeom>
          <a:solidFill>
            <a:srgbClr val="0B7A4A"/>
          </a:solidFill>
          <a:ln w="9525">
            <a:solidFill>
              <a:srgbClr val="FFFFFF"/>
            </a:solidFill>
            <a:prstDash val="solid"/>
          </a:ln>
        </p:spPr>
      </p:sp>
      <p:sp>
        <p:nvSpPr>
          <p:cNvPr id="165" name="Shape 163"/>
          <p:cNvSpPr/>
          <p:nvPr/>
        </p:nvSpPr>
        <p:spPr>
          <a:xfrm>
            <a:off x="8355584" y="3892258"/>
            <a:ext cx="135128" cy="193624"/>
          </a:xfrm>
          <a:prstGeom prst="rect">
            <a:avLst/>
          </a:prstGeom>
          <a:solidFill>
            <a:srgbClr val="8ED3B0"/>
          </a:solidFill>
          <a:ln w="9525">
            <a:solidFill>
              <a:srgbClr val="FFFFFF"/>
            </a:solidFill>
            <a:prstDash val="solid"/>
          </a:ln>
        </p:spPr>
      </p:sp>
      <p:sp>
        <p:nvSpPr>
          <p:cNvPr id="166" name="Text 164"/>
          <p:cNvSpPr txBox="1"/>
          <p:nvPr/>
        </p:nvSpPr>
        <p:spPr>
          <a:xfrm>
            <a:off x="9509760"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7" name="Text 165"/>
          <p:cNvSpPr txBox="1"/>
          <p:nvPr/>
        </p:nvSpPr>
        <p:spPr>
          <a:xfrm>
            <a:off x="10012680" y="381304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68" name="Text 166"/>
          <p:cNvSpPr txBox="1"/>
          <p:nvPr/>
        </p:nvSpPr>
        <p:spPr>
          <a:xfrm>
            <a:off x="10515600"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9" name="Text 167"/>
          <p:cNvSpPr txBox="1"/>
          <p:nvPr/>
        </p:nvSpPr>
        <p:spPr>
          <a:xfrm>
            <a:off x="11018520" y="381304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70" name="Text 168"/>
          <p:cNvSpPr txBox="1"/>
          <p:nvPr/>
        </p:nvSpPr>
        <p:spPr>
          <a:xfrm>
            <a:off x="6208776"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1" name="Shape 169"/>
          <p:cNvSpPr/>
          <p:nvPr/>
        </p:nvSpPr>
        <p:spPr>
          <a:xfrm>
            <a:off x="8220456" y="4244302"/>
            <a:ext cx="135128" cy="193624"/>
          </a:xfrm>
          <a:prstGeom prst="rect">
            <a:avLst/>
          </a:prstGeom>
          <a:solidFill>
            <a:srgbClr val="0B7A4A"/>
          </a:solidFill>
          <a:ln w="9525">
            <a:solidFill>
              <a:srgbClr val="FFFFFF"/>
            </a:solidFill>
            <a:prstDash val="solid"/>
          </a:ln>
        </p:spPr>
      </p:sp>
      <p:sp>
        <p:nvSpPr>
          <p:cNvPr id="172" name="Shape 170"/>
          <p:cNvSpPr/>
          <p:nvPr/>
        </p:nvSpPr>
        <p:spPr>
          <a:xfrm>
            <a:off x="8355584" y="4244302"/>
            <a:ext cx="135128" cy="193624"/>
          </a:xfrm>
          <a:prstGeom prst="rect">
            <a:avLst/>
          </a:prstGeom>
          <a:solidFill>
            <a:srgbClr val="8ED3B0"/>
          </a:solidFill>
          <a:ln w="9525">
            <a:solidFill>
              <a:srgbClr val="FFFFFF"/>
            </a:solidFill>
            <a:prstDash val="solid"/>
          </a:ln>
        </p:spPr>
      </p:sp>
      <p:sp>
        <p:nvSpPr>
          <p:cNvPr id="173" name="Text 171"/>
          <p:cNvSpPr txBox="1"/>
          <p:nvPr/>
        </p:nvSpPr>
        <p:spPr>
          <a:xfrm>
            <a:off x="9509760"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74" name="Text 172"/>
          <p:cNvSpPr txBox="1"/>
          <p:nvPr/>
        </p:nvSpPr>
        <p:spPr>
          <a:xfrm>
            <a:off x="10012680" y="4165092"/>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75" name="Text 173"/>
          <p:cNvSpPr txBox="1"/>
          <p:nvPr/>
        </p:nvSpPr>
        <p:spPr>
          <a:xfrm>
            <a:off x="10515600"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76" name="Text 174"/>
          <p:cNvSpPr txBox="1"/>
          <p:nvPr/>
        </p:nvSpPr>
        <p:spPr>
          <a:xfrm>
            <a:off x="11018520" y="416509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77" name="Text 175"/>
          <p:cNvSpPr txBox="1"/>
          <p:nvPr/>
        </p:nvSpPr>
        <p:spPr>
          <a:xfrm>
            <a:off x="6208776"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78" name="Shape 176"/>
          <p:cNvSpPr/>
          <p:nvPr/>
        </p:nvSpPr>
        <p:spPr>
          <a:xfrm>
            <a:off x="8220456" y="4596346"/>
            <a:ext cx="270256" cy="193624"/>
          </a:xfrm>
          <a:prstGeom prst="rect">
            <a:avLst/>
          </a:prstGeom>
          <a:solidFill>
            <a:srgbClr val="0B7A4A"/>
          </a:solidFill>
          <a:ln w="9525">
            <a:solidFill>
              <a:srgbClr val="FFFFFF"/>
            </a:solidFill>
            <a:prstDash val="solid"/>
          </a:ln>
        </p:spPr>
      </p:sp>
      <p:sp>
        <p:nvSpPr>
          <p:cNvPr id="179" name="Text 177"/>
          <p:cNvSpPr txBox="1"/>
          <p:nvPr/>
        </p:nvSpPr>
        <p:spPr>
          <a:xfrm>
            <a:off x="9509760"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80" name="Text 178"/>
          <p:cNvSpPr txBox="1"/>
          <p:nvPr/>
        </p:nvSpPr>
        <p:spPr>
          <a:xfrm>
            <a:off x="10012680" y="4517136"/>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1" name="Text 179"/>
          <p:cNvSpPr txBox="1"/>
          <p:nvPr/>
        </p:nvSpPr>
        <p:spPr>
          <a:xfrm>
            <a:off x="10515600" y="4517136"/>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2" name="Text 180"/>
          <p:cNvSpPr txBox="1"/>
          <p:nvPr/>
        </p:nvSpPr>
        <p:spPr>
          <a:xfrm>
            <a:off x="11018520" y="451713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83" name="Text 181"/>
          <p:cNvSpPr txBox="1"/>
          <p:nvPr/>
        </p:nvSpPr>
        <p:spPr>
          <a:xfrm>
            <a:off x="6208776"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84" name="Shape 182"/>
          <p:cNvSpPr/>
          <p:nvPr/>
        </p:nvSpPr>
        <p:spPr>
          <a:xfrm>
            <a:off x="8220456" y="4948390"/>
            <a:ext cx="135128" cy="193624"/>
          </a:xfrm>
          <a:prstGeom prst="rect">
            <a:avLst/>
          </a:prstGeom>
          <a:solidFill>
            <a:srgbClr val="8ED3B0"/>
          </a:solidFill>
          <a:ln w="9525">
            <a:solidFill>
              <a:srgbClr val="FFFFFF"/>
            </a:solidFill>
            <a:prstDash val="solid"/>
          </a:ln>
        </p:spPr>
      </p:sp>
      <p:sp>
        <p:nvSpPr>
          <p:cNvPr id="185" name="Text 183"/>
          <p:cNvSpPr txBox="1"/>
          <p:nvPr/>
        </p:nvSpPr>
        <p:spPr>
          <a:xfrm>
            <a:off x="9509760" y="4869180"/>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6" name="Text 184"/>
          <p:cNvSpPr txBox="1"/>
          <p:nvPr/>
        </p:nvSpPr>
        <p:spPr>
          <a:xfrm>
            <a:off x="10012680" y="4869180"/>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7" name="Text 185"/>
          <p:cNvSpPr txBox="1"/>
          <p:nvPr/>
        </p:nvSpPr>
        <p:spPr>
          <a:xfrm>
            <a:off x="10515600"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88" name="Text 186"/>
          <p:cNvSpPr txBox="1"/>
          <p:nvPr/>
        </p:nvSpPr>
        <p:spPr>
          <a:xfrm>
            <a:off x="11018520" y="486918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189" name="Text 187"/>
          <p:cNvSpPr txBox="1"/>
          <p:nvPr/>
        </p:nvSpPr>
        <p:spPr>
          <a:xfrm>
            <a:off x="6208776"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90" name="Shape 188"/>
          <p:cNvSpPr/>
          <p:nvPr/>
        </p:nvSpPr>
        <p:spPr>
          <a:xfrm>
            <a:off x="8220456" y="5300434"/>
            <a:ext cx="135128" cy="193624"/>
          </a:xfrm>
          <a:prstGeom prst="rect">
            <a:avLst/>
          </a:prstGeom>
          <a:solidFill>
            <a:srgbClr val="0B7A4A"/>
          </a:solidFill>
          <a:ln w="9525">
            <a:solidFill>
              <a:srgbClr val="FFFFFF"/>
            </a:solidFill>
            <a:prstDash val="solid"/>
          </a:ln>
        </p:spPr>
      </p:sp>
      <p:sp>
        <p:nvSpPr>
          <p:cNvPr id="191" name="Text 189"/>
          <p:cNvSpPr txBox="1"/>
          <p:nvPr/>
        </p:nvSpPr>
        <p:spPr>
          <a:xfrm>
            <a:off x="9509760"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92" name="Text 190"/>
          <p:cNvSpPr txBox="1"/>
          <p:nvPr/>
        </p:nvSpPr>
        <p:spPr>
          <a:xfrm>
            <a:off x="10012680" y="5221224"/>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93" name="Text 191"/>
          <p:cNvSpPr txBox="1"/>
          <p:nvPr/>
        </p:nvSpPr>
        <p:spPr>
          <a:xfrm>
            <a:off x="10515600" y="5221224"/>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94" name="Text 192"/>
          <p:cNvSpPr txBox="1"/>
          <p:nvPr/>
        </p:nvSpPr>
        <p:spPr>
          <a:xfrm>
            <a:off x="11018520" y="522122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195" name="Shape 193"/>
          <p:cNvSpPr/>
          <p:nvPr/>
        </p:nvSpPr>
        <p:spPr>
          <a:xfrm>
            <a:off x="457200" y="6126480"/>
            <a:ext cx="11274552" cy="356616"/>
          </a:xfrm>
          <a:prstGeom prst="rect">
            <a:avLst/>
          </a:prstGeom>
          <a:solidFill>
            <a:srgbClr val="E6F6EE"/>
          </a:solidFill>
          <a:ln/>
        </p:spPr>
      </p:sp>
      <p:sp>
        <p:nvSpPr>
          <p:cNvPr id="196" name="Text 19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23 of 33 stores set 98 new monthly records in 2026: 42 in service, 19 in parts and 37 in combined gross.</a:t>
            </a:r>
            <a:endParaRPr lang="en-US" sz="1500" dirty="0"/>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$244.12</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$235.87</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$225.50</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$249.95</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$161.80</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$179.87</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$165.96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$199.04</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$238.62</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$275.00</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$159.69</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$147.93</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$179.00</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$187.42</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$229.95</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$161.93</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$199.95</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$155.78</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$195.00</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$234.48</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$294.87</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$146.04</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$165.67</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$209.87</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$160.84</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$204.87</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$141.89</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$266.72</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$348.87</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$233.88</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$310.00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$162.12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$215.37</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$180.14</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$239.87</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$142.51</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$190.00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$136.71</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$211.26</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$153.45</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$149.70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$150.72</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$219.87</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$167.22</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$244.87</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$124.92</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$146.92</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$220.00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$139.81</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$146.25</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$136.12</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$175.47</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$285.00</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41376"/>
          </a:xfrm>
          <a:prstGeom prst="rect">
            <a:avLst/>
          </a:prstGeom>
          <a:solidFill>
            <a:srgbClr val="EDF4FA"/>
          </a:solidFill>
          <a:ln/>
        </p:spPr>
      </p:sp>
      <p:sp>
        <p:nvSpPr>
          <p:cNvPr id="219" name="Text 2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Jul–Sep: 25 of 33 stores realize at least 70% of door rate; the group is at 74.7%. Cadillac is lowest at 61.5%.</a:t>
            </a:r>
            <a:endParaRPr lang="en-US" sz="1400" dirty="0"/>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CP VS INTERNAL GP %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80.8%      INTERNAL 78.1%      GAP </a:t>
            </a:r>
            <a:pPr indent="0" marL="0">
              <a:buNone/>
            </a:pPr>
            <a:r>
              <a:rPr lang="en-US" sz="1500" b="1" dirty="0">
                <a:solidFill>
                  <a:srgbClr val="0B2C4A"/>
                </a:solidFill>
                <a:latin typeface="Inter" pitchFamily="34" charset="0"/>
                <a:ea typeface="Inter" pitchFamily="34" charset="-122"/>
                <a:cs typeface="Inter" pitchFamily="34" charset="-120"/>
              </a:rPr>
              <a:t>−2.7 pts</a:t>
            </a:r>
            <a:pPr indent="0" marL="0">
              <a:buNone/>
            </a:pPr>
            <a:r>
              <a:rPr lang="en-US" sz="1500" dirty="0">
                <a:solidFill>
                  <a:srgbClr val="595959"/>
                </a:solidFill>
                <a:latin typeface="Inter" pitchFamily="34" charset="0"/>
                <a:ea typeface="Inter" pitchFamily="34" charset="-122"/>
                <a:cs typeface="Inter" pitchFamily="34" charset="-120"/>
              </a:rPr>
              <a:t>      green = gap at or better than the group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83188"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733596"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2" name="Shape 20"/>
          <p:cNvSpPr/>
          <p:nvPr/>
        </p:nvSpPr>
        <p:spPr>
          <a:xfrm>
            <a:off x="3255264" y="2153708"/>
            <a:ext cx="13011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77.3%</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8" name="Shape 26"/>
          <p:cNvSpPr/>
          <p:nvPr/>
        </p:nvSpPr>
        <p:spPr>
          <a:xfrm>
            <a:off x="3255264" y="2378543"/>
            <a:ext cx="129665"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67.7%</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72.5%</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Shape 31"/>
          <p:cNvSpPr/>
          <p:nvPr/>
        </p:nvSpPr>
        <p:spPr>
          <a:xfrm>
            <a:off x="3255264" y="2603377"/>
            <a:ext cx="104292"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39" name="Shape 37"/>
          <p:cNvSpPr/>
          <p:nvPr/>
        </p:nvSpPr>
        <p:spPr>
          <a:xfrm>
            <a:off x="3255264" y="2828212"/>
            <a:ext cx="96492"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72.2%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+3.6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4" name="Shape 42"/>
          <p:cNvSpPr/>
          <p:nvPr/>
        </p:nvSpPr>
        <p:spPr>
          <a:xfrm>
            <a:off x="3255264" y="3053047"/>
            <a:ext cx="77376"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78.7%</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81.5%</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+2.9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Shape 48"/>
          <p:cNvSpPr/>
          <p:nvPr/>
        </p:nvSpPr>
        <p:spPr>
          <a:xfrm>
            <a:off x="3255264" y="3277882"/>
            <a:ext cx="65728"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82.9%</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85.3%</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5" name="Shape 53"/>
          <p:cNvSpPr/>
          <p:nvPr/>
        </p:nvSpPr>
        <p:spPr>
          <a:xfrm>
            <a:off x="3255264" y="3502717"/>
            <a:ext cx="65019"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81.9%</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1" name="Shape 59"/>
          <p:cNvSpPr/>
          <p:nvPr/>
        </p:nvSpPr>
        <p:spPr>
          <a:xfrm>
            <a:off x="3255264" y="3727552"/>
            <a:ext cx="2311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80.2%</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+0.9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6" name="Shape 64"/>
          <p:cNvSpPr/>
          <p:nvPr/>
        </p:nvSpPr>
        <p:spPr>
          <a:xfrm>
            <a:off x="3253849" y="3952386"/>
            <a:ext cx="9144" cy="123659"/>
          </a:xfrm>
          <a:prstGeom prst="rect">
            <a:avLst/>
          </a:prstGeom>
          <a:solidFill>
            <a:srgbClr val="12A566"/>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79.8%</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79.8%</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2" name="Shape 70"/>
          <p:cNvSpPr/>
          <p:nvPr/>
        </p:nvSpPr>
        <p:spPr>
          <a:xfrm>
            <a:off x="3250197" y="4177221"/>
            <a:ext cx="9144" cy="123659"/>
          </a:xfrm>
          <a:prstGeom prst="rect">
            <a:avLst/>
          </a:prstGeom>
          <a:solidFill>
            <a:srgbClr val="12A566"/>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86.1%</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85.9%</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−0.2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7" name="Shape 75"/>
          <p:cNvSpPr/>
          <p:nvPr/>
        </p:nvSpPr>
        <p:spPr>
          <a:xfrm>
            <a:off x="3245953" y="4402056"/>
            <a:ext cx="9311" cy="123659"/>
          </a:xfrm>
          <a:prstGeom prst="rect">
            <a:avLst/>
          </a:prstGeom>
          <a:solidFill>
            <a:srgbClr val="12A566"/>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82.8%</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−0.3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3" name="Shape 81"/>
          <p:cNvSpPr/>
          <p:nvPr/>
        </p:nvSpPr>
        <p:spPr>
          <a:xfrm>
            <a:off x="3244900" y="4626891"/>
            <a:ext cx="10364" cy="123659"/>
          </a:xfrm>
          <a:prstGeom prst="rect">
            <a:avLst/>
          </a:prstGeom>
          <a:solidFill>
            <a:srgbClr val="12A566"/>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74.1%</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73.8%</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−0.4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8" name="Shape 86"/>
          <p:cNvSpPr/>
          <p:nvPr/>
        </p:nvSpPr>
        <p:spPr>
          <a:xfrm>
            <a:off x="3221879" y="4851726"/>
            <a:ext cx="33385" cy="123659"/>
          </a:xfrm>
          <a:prstGeom prst="rect">
            <a:avLst/>
          </a:prstGeom>
          <a:solidFill>
            <a:srgbClr val="12A566"/>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78.2%</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4" name="Shape 92"/>
          <p:cNvSpPr/>
          <p:nvPr/>
        </p:nvSpPr>
        <p:spPr>
          <a:xfrm>
            <a:off x="3198494" y="5076561"/>
            <a:ext cx="56770" cy="123659"/>
          </a:xfrm>
          <a:prstGeom prst="rect">
            <a:avLst/>
          </a:prstGeom>
          <a:solidFill>
            <a:srgbClr val="12A566"/>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79.3%</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77.2%</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9" name="Shape 97"/>
          <p:cNvSpPr/>
          <p:nvPr/>
        </p:nvSpPr>
        <p:spPr>
          <a:xfrm>
            <a:off x="3198327" y="5301395"/>
            <a:ext cx="56937" cy="123659"/>
          </a:xfrm>
          <a:prstGeom prst="rect">
            <a:avLst/>
          </a:prstGeom>
          <a:solidFill>
            <a:srgbClr val="12A566"/>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5" name="Shape 103"/>
          <p:cNvSpPr/>
          <p:nvPr/>
        </p:nvSpPr>
        <p:spPr>
          <a:xfrm>
            <a:off x="3197693" y="5526230"/>
            <a:ext cx="57571" cy="123659"/>
          </a:xfrm>
          <a:prstGeom prst="rect">
            <a:avLst/>
          </a:prstGeom>
          <a:solidFill>
            <a:srgbClr val="12A566"/>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82.3%</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0" name="Shape 108"/>
          <p:cNvSpPr/>
          <p:nvPr/>
        </p:nvSpPr>
        <p:spPr>
          <a:xfrm>
            <a:off x="3195970" y="5751065"/>
            <a:ext cx="59294" cy="123659"/>
          </a:xfrm>
          <a:prstGeom prst="rect">
            <a:avLst/>
          </a:prstGeom>
          <a:solidFill>
            <a:srgbClr val="12A566"/>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73.9%</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71.7%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5" name="Shape 113"/>
          <p:cNvSpPr/>
          <p:nvPr/>
        </p:nvSpPr>
        <p:spPr>
          <a:xfrm>
            <a:off x="8734848" y="2153708"/>
            <a:ext cx="70824" cy="123659"/>
          </a:xfrm>
          <a:prstGeom prst="rect">
            <a:avLst/>
          </a:prstGeom>
          <a:solidFill>
            <a:srgbClr val="12A566"/>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76.0%</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−2.6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1" name="Shape 119"/>
          <p:cNvSpPr/>
          <p:nvPr/>
        </p:nvSpPr>
        <p:spPr>
          <a:xfrm>
            <a:off x="8730906" y="2378543"/>
            <a:ext cx="74766"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85.0%</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82.2%</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6" name="Shape 124"/>
          <p:cNvSpPr/>
          <p:nvPr/>
        </p:nvSpPr>
        <p:spPr>
          <a:xfrm>
            <a:off x="8716961" y="2603377"/>
            <a:ext cx="88711"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75.7%</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72.4%</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2" name="Shape 130"/>
          <p:cNvSpPr/>
          <p:nvPr/>
        </p:nvSpPr>
        <p:spPr>
          <a:xfrm>
            <a:off x="8711353" y="2828212"/>
            <a:ext cx="94319"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84.3%</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80.8%</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7" name="Shape 135"/>
          <p:cNvSpPr/>
          <p:nvPr/>
        </p:nvSpPr>
        <p:spPr>
          <a:xfrm>
            <a:off x="8703971" y="3053047"/>
            <a:ext cx="101701"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88.6%</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84.8%</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701890" y="3277882"/>
            <a:ext cx="103782"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75.7%</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679444" y="3502717"/>
            <a:ext cx="12622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79.7%</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4" name="Shape 152"/>
          <p:cNvSpPr/>
          <p:nvPr/>
        </p:nvSpPr>
        <p:spPr>
          <a:xfrm>
            <a:off x="8672194" y="3727552"/>
            <a:ext cx="133478"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79.1%</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74.2%</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9" name="Shape 157"/>
          <p:cNvSpPr/>
          <p:nvPr/>
        </p:nvSpPr>
        <p:spPr>
          <a:xfrm>
            <a:off x="8624168" y="3952386"/>
            <a:ext cx="181504"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82.0%</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75.2%</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65" name="Shape 163"/>
          <p:cNvSpPr/>
          <p:nvPr/>
        </p:nvSpPr>
        <p:spPr>
          <a:xfrm>
            <a:off x="8616775" y="4177221"/>
            <a:ext cx="188897"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79.0%</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0" name="Shape 168"/>
          <p:cNvSpPr/>
          <p:nvPr/>
        </p:nvSpPr>
        <p:spPr>
          <a:xfrm>
            <a:off x="8590345" y="4402056"/>
            <a:ext cx="215327"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83.5%</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75.5%</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76" name="Shape 174"/>
          <p:cNvSpPr/>
          <p:nvPr/>
        </p:nvSpPr>
        <p:spPr>
          <a:xfrm>
            <a:off x="8562958" y="4626891"/>
            <a:ext cx="242714"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77.8%</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68.8%</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81" name="Shape 179"/>
          <p:cNvSpPr/>
          <p:nvPr/>
        </p:nvSpPr>
        <p:spPr>
          <a:xfrm>
            <a:off x="8514572" y="4851726"/>
            <a:ext cx="29110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67.8%</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87" name="Shape 185"/>
          <p:cNvSpPr/>
          <p:nvPr/>
        </p:nvSpPr>
        <p:spPr>
          <a:xfrm>
            <a:off x="8475849" y="5076561"/>
            <a:ext cx="329823"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70.2%</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−12.2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2" name="Shape 190"/>
          <p:cNvSpPr/>
          <p:nvPr/>
        </p:nvSpPr>
        <p:spPr>
          <a:xfrm>
            <a:off x="8430963" y="5301395"/>
            <a:ext cx="374709"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83.9%</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70.0%</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−13.9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58.8%</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 pts</a:t>
            </a:r>
            <a:endParaRPr lang="en-US" sz="1300" dirty="0"/>
          </a:p>
        </p:txBody>
      </p:sp>
      <p:sp>
        <p:nvSpPr>
          <p:cNvPr id="202" name="Shape 200"/>
          <p:cNvSpPr/>
          <p:nvPr/>
        </p:nvSpPr>
        <p:spPr>
          <a:xfrm>
            <a:off x="457200" y="6126480"/>
            <a:ext cx="11274552" cy="615696"/>
          </a:xfrm>
          <a:prstGeom prst="rect">
            <a:avLst/>
          </a:prstGeom>
          <a:solidFill>
            <a:srgbClr val="EDF4FA"/>
          </a:solidFill>
          <a:ln/>
        </p:spPr>
      </p:sp>
      <p:sp>
        <p:nvSpPr>
          <p:cNvPr id="203" name="Text 20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Internal labor margin runs 2.7 pts below customer pay across the group; 18 of 33 stores are at or better than that gap. Widest: Audi Reno (−20.0 pts), LR LV (−13.9 pts) and LR Henderson (−12.2 pts).</a:t>
            </a:r>
            <a:endParaRPr lang="en-US" sz="1600" dirty="0"/>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CP VS INTERNAL GP %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40.7%      INTERNAL 36.5%      GAP </a:t>
            </a:r>
            <a:pPr indent="0" marL="0">
              <a:buNone/>
            </a:pPr>
            <a:r>
              <a:rPr lang="en-US" sz="1500" b="1" dirty="0">
                <a:solidFill>
                  <a:srgbClr val="0B2C4A"/>
                </a:solidFill>
                <a:latin typeface="Inter" pitchFamily="34" charset="0"/>
                <a:ea typeface="Inter" pitchFamily="34" charset="-122"/>
                <a:cs typeface="Inter" pitchFamily="34" charset="-120"/>
              </a:rPr>
              <a:t>−4.2 pts</a:t>
            </a:r>
            <a:pPr indent="0" marL="0">
              <a:buNone/>
            </a:pPr>
            <a:r>
              <a:rPr lang="en-US" sz="1500" dirty="0">
                <a:solidFill>
                  <a:srgbClr val="595959"/>
                </a:solidFill>
                <a:latin typeface="Inter" pitchFamily="34" charset="0"/>
                <a:ea typeface="Inter" pitchFamily="34" charset="-122"/>
                <a:cs typeface="Inter" pitchFamily="34" charset="-120"/>
              </a:rPr>
              <a:t>      green = gap at or better than the group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25947"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676355"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2" name="Shape 20"/>
          <p:cNvSpPr/>
          <p:nvPr/>
        </p:nvSpPr>
        <p:spPr>
          <a:xfrm>
            <a:off x="3255264" y="2153708"/>
            <a:ext cx="15036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+4.9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8" name="Shape 26"/>
          <p:cNvSpPr/>
          <p:nvPr/>
        </p:nvSpPr>
        <p:spPr>
          <a:xfrm>
            <a:off x="3255264" y="2378543"/>
            <a:ext cx="70154"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34.8%</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3255264" y="2603377"/>
            <a:ext cx="38107"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42.1%</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9" name="Shape 37"/>
          <p:cNvSpPr/>
          <p:nvPr/>
        </p:nvSpPr>
        <p:spPr>
          <a:xfrm>
            <a:off x="3255264" y="2828212"/>
            <a:ext cx="20517"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+0.7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4" name="Shape 42"/>
          <p:cNvSpPr/>
          <p:nvPr/>
        </p:nvSpPr>
        <p:spPr>
          <a:xfrm>
            <a:off x="3255264" y="3053047"/>
            <a:ext cx="9144"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42.7%</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0" name="Shape 48"/>
          <p:cNvSpPr/>
          <p:nvPr/>
        </p:nvSpPr>
        <p:spPr>
          <a:xfrm>
            <a:off x="3222182" y="3277882"/>
            <a:ext cx="33082"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37.2%</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36.1%</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3179597" y="3502717"/>
            <a:ext cx="75667"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61" name="Shape 59"/>
          <p:cNvSpPr/>
          <p:nvPr/>
        </p:nvSpPr>
        <p:spPr>
          <a:xfrm>
            <a:off x="3178337" y="3727552"/>
            <a:ext cx="7692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6" name="Shape 64"/>
          <p:cNvSpPr/>
          <p:nvPr/>
        </p:nvSpPr>
        <p:spPr>
          <a:xfrm>
            <a:off x="3177426" y="3952386"/>
            <a:ext cx="77838" cy="123659"/>
          </a:xfrm>
          <a:prstGeom prst="rect">
            <a:avLst/>
          </a:prstGeom>
          <a:solidFill>
            <a:srgbClr val="12A566"/>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40.9%</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2" name="Shape 70"/>
          <p:cNvSpPr/>
          <p:nvPr/>
        </p:nvSpPr>
        <p:spPr>
          <a:xfrm>
            <a:off x="3137487" y="4177221"/>
            <a:ext cx="117777" cy="123659"/>
          </a:xfrm>
          <a:prstGeom prst="rect">
            <a:avLst/>
          </a:prstGeom>
          <a:solidFill>
            <a:srgbClr val="12A566"/>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40.3%</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36.5%</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−3.8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7" name="Shape 75"/>
          <p:cNvSpPr/>
          <p:nvPr/>
        </p:nvSpPr>
        <p:spPr>
          <a:xfrm>
            <a:off x="3136637" y="4402056"/>
            <a:ext cx="118627" cy="123659"/>
          </a:xfrm>
          <a:prstGeom prst="rect">
            <a:avLst/>
          </a:prstGeom>
          <a:solidFill>
            <a:srgbClr val="12A566"/>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36.3%</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3" name="Shape 81"/>
          <p:cNvSpPr/>
          <p:nvPr/>
        </p:nvSpPr>
        <p:spPr>
          <a:xfrm>
            <a:off x="3096612" y="4626891"/>
            <a:ext cx="158652"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36.7%</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8" name="Shape 86"/>
          <p:cNvSpPr/>
          <p:nvPr/>
        </p:nvSpPr>
        <p:spPr>
          <a:xfrm>
            <a:off x="3081235" y="4851726"/>
            <a:ext cx="174029"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31.3%</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4" name="Shape 92"/>
          <p:cNvSpPr/>
          <p:nvPr/>
        </p:nvSpPr>
        <p:spPr>
          <a:xfrm>
            <a:off x="3077450" y="5076561"/>
            <a:ext cx="177814"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42.7%</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36.9%</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9" name="Shape 97"/>
          <p:cNvSpPr/>
          <p:nvPr/>
        </p:nvSpPr>
        <p:spPr>
          <a:xfrm>
            <a:off x="3070973" y="5301395"/>
            <a:ext cx="184291"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5" name="Shape 103"/>
          <p:cNvSpPr/>
          <p:nvPr/>
        </p:nvSpPr>
        <p:spPr>
          <a:xfrm>
            <a:off x="3060053" y="5526230"/>
            <a:ext cx="19521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30.5%</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0" name="Shape 108"/>
          <p:cNvSpPr/>
          <p:nvPr/>
        </p:nvSpPr>
        <p:spPr>
          <a:xfrm>
            <a:off x="3033339" y="5751065"/>
            <a:ext cx="221925"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47.0%</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5" name="Shape 113"/>
          <p:cNvSpPr/>
          <p:nvPr/>
        </p:nvSpPr>
        <p:spPr>
          <a:xfrm>
            <a:off x="8575710" y="2153708"/>
            <a:ext cx="229962"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33.6%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26.2%</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1" name="Shape 119"/>
          <p:cNvSpPr/>
          <p:nvPr/>
        </p:nvSpPr>
        <p:spPr>
          <a:xfrm>
            <a:off x="8565630" y="2378543"/>
            <a:ext cx="240042"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44.5%</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36.6%</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6" name="Shape 124"/>
          <p:cNvSpPr/>
          <p:nvPr/>
        </p:nvSpPr>
        <p:spPr>
          <a:xfrm>
            <a:off x="8564916" y="2603377"/>
            <a:ext cx="240756"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49.0%</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41.2%</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32" name="Shape 130"/>
          <p:cNvSpPr/>
          <p:nvPr/>
        </p:nvSpPr>
        <p:spPr>
          <a:xfrm>
            <a:off x="8545748" y="2828212"/>
            <a:ext cx="259924"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43.6%</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35.1%</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7" name="Shape 135"/>
          <p:cNvSpPr/>
          <p:nvPr/>
        </p:nvSpPr>
        <p:spPr>
          <a:xfrm>
            <a:off x="8541222" y="3053047"/>
            <a:ext cx="264450"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43.1%</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3" name="Shape 141"/>
          <p:cNvSpPr/>
          <p:nvPr/>
        </p:nvSpPr>
        <p:spPr>
          <a:xfrm>
            <a:off x="8534757" y="3277882"/>
            <a:ext cx="270915"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41.7%</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32.8%</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8" name="Shape 146"/>
          <p:cNvSpPr/>
          <p:nvPr/>
        </p:nvSpPr>
        <p:spPr>
          <a:xfrm>
            <a:off x="8499284" y="3502717"/>
            <a:ext cx="30638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32.5%</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54" name="Shape 152"/>
          <p:cNvSpPr/>
          <p:nvPr/>
        </p:nvSpPr>
        <p:spPr>
          <a:xfrm>
            <a:off x="8496238" y="3727552"/>
            <a:ext cx="309434"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26.8%</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−10.1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9" name="Shape 157"/>
          <p:cNvSpPr/>
          <p:nvPr/>
        </p:nvSpPr>
        <p:spPr>
          <a:xfrm>
            <a:off x="8493166" y="3952386"/>
            <a:ext cx="312506"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31.7%</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65" name="Shape 163"/>
          <p:cNvSpPr/>
          <p:nvPr/>
        </p:nvSpPr>
        <p:spPr>
          <a:xfrm>
            <a:off x="8491434" y="4177221"/>
            <a:ext cx="314238"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30.8%</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0" name="Shape 168"/>
          <p:cNvSpPr/>
          <p:nvPr/>
        </p:nvSpPr>
        <p:spPr>
          <a:xfrm>
            <a:off x="8472728" y="4402056"/>
            <a:ext cx="332944"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44.9%</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34.0%</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76" name="Shape 174"/>
          <p:cNvSpPr/>
          <p:nvPr/>
        </p:nvSpPr>
        <p:spPr>
          <a:xfrm>
            <a:off x="8461553" y="4626891"/>
            <a:ext cx="344119"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35.6%</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1" name="Shape 179"/>
          <p:cNvSpPr/>
          <p:nvPr/>
        </p:nvSpPr>
        <p:spPr>
          <a:xfrm>
            <a:off x="8358802" y="4851726"/>
            <a:ext cx="44687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44.6%</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30.1%</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−14.5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7" name="Shape 185"/>
          <p:cNvSpPr/>
          <p:nvPr/>
        </p:nvSpPr>
        <p:spPr>
          <a:xfrm>
            <a:off x="8352988" y="5076561"/>
            <a:ext cx="452684"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28.7%</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92" name="Shape 190"/>
          <p:cNvSpPr/>
          <p:nvPr/>
        </p:nvSpPr>
        <p:spPr>
          <a:xfrm>
            <a:off x="8331777" y="5301395"/>
            <a:ext cx="473895"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45.1%</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29.7%</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−15.4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25.2%</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−17.6 pts</a:t>
            </a:r>
            <a:endParaRPr lang="en-US" sz="1300" dirty="0"/>
          </a:p>
        </p:txBody>
      </p:sp>
      <p:sp>
        <p:nvSpPr>
          <p:cNvPr id="202" name="Shape 200"/>
          <p:cNvSpPr/>
          <p:nvPr/>
        </p:nvSpPr>
        <p:spPr>
          <a:xfrm>
            <a:off x="457200" y="6126480"/>
            <a:ext cx="11274552" cy="600456"/>
          </a:xfrm>
          <a:prstGeom prst="rect">
            <a:avLst/>
          </a:prstGeom>
          <a:solidFill>
            <a:srgbClr val="EDF4FA"/>
          </a:solidFill>
          <a:ln/>
        </p:spPr>
      </p:sp>
      <p:sp>
        <p:nvSpPr>
          <p:cNvPr id="203" name="Text 201"/>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Internal parts margin runs 4.2 pts below customer pay across the group; 11 of 33 stores are at or better than that gap. Widest: LR LV (−17.6 pts), Honda Flagstaff (−15.4 pts) and Audi Reno (−14.7 pts).</a:t>
            </a:r>
            <a:endParaRPr lang="en-US" sz="1550" dirty="0"/>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PHOTO COMPLETION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Photo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PHOTO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45.3%</a:t>
            </a:r>
            <a:endParaRPr lang="en-US" sz="2000" dirty="0"/>
          </a:p>
        </p:txBody>
      </p:sp>
      <p:sp>
        <p:nvSpPr>
          <p:cNvPr id="11" name="Text 9"/>
          <p:cNvSpPr txBox="1"/>
          <p:nvPr/>
        </p:nvSpPr>
        <p:spPr>
          <a:xfrm>
            <a:off x="658368"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008376" y="2189335"/>
            <a:ext cx="868680" cy="135854"/>
          </a:xfrm>
          <a:prstGeom prst="rect">
            <a:avLst/>
          </a:prstGeom>
          <a:solidFill>
            <a:srgbClr val="12A566"/>
          </a:solidFill>
          <a:ln/>
        </p:spPr>
      </p:sp>
      <p:sp>
        <p:nvSpPr>
          <p:cNvPr id="14" name="Text 12"/>
          <p:cNvSpPr txBox="1"/>
          <p:nvPr/>
        </p:nvSpPr>
        <p:spPr>
          <a:xfrm>
            <a:off x="3931920" y="212140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15" name="Text 13"/>
          <p:cNvSpPr txBox="1"/>
          <p:nvPr/>
        </p:nvSpPr>
        <p:spPr>
          <a:xfrm>
            <a:off x="4608576"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16" name="Text 14"/>
          <p:cNvSpPr txBox="1"/>
          <p:nvPr/>
        </p:nvSpPr>
        <p:spPr>
          <a:xfrm>
            <a:off x="658368"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 name="Shape 16"/>
          <p:cNvSpPr/>
          <p:nvPr/>
        </p:nvSpPr>
        <p:spPr>
          <a:xfrm>
            <a:off x="3008376" y="2461042"/>
            <a:ext cx="862965" cy="135854"/>
          </a:xfrm>
          <a:prstGeom prst="rect">
            <a:avLst/>
          </a:prstGeom>
          <a:solidFill>
            <a:srgbClr val="12A566"/>
          </a:solidFill>
          <a:ln/>
        </p:spPr>
      </p:sp>
      <p:sp>
        <p:nvSpPr>
          <p:cNvPr id="19" name="Text 17"/>
          <p:cNvSpPr txBox="1"/>
          <p:nvPr/>
        </p:nvSpPr>
        <p:spPr>
          <a:xfrm>
            <a:off x="3931920" y="239311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90.6%</a:t>
            </a:r>
            <a:endParaRPr lang="en-US" sz="1200" dirty="0"/>
          </a:p>
        </p:txBody>
      </p:sp>
      <p:sp>
        <p:nvSpPr>
          <p:cNvPr id="20" name="Text 18"/>
          <p:cNvSpPr txBox="1"/>
          <p:nvPr/>
        </p:nvSpPr>
        <p:spPr>
          <a:xfrm>
            <a:off x="4608576"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21" name="Text 19"/>
          <p:cNvSpPr txBox="1"/>
          <p:nvPr/>
        </p:nvSpPr>
        <p:spPr>
          <a:xfrm>
            <a:off x="658368"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3" name="Shape 21"/>
          <p:cNvSpPr/>
          <p:nvPr/>
        </p:nvSpPr>
        <p:spPr>
          <a:xfrm>
            <a:off x="3008376" y="2732750"/>
            <a:ext cx="847725" cy="135854"/>
          </a:xfrm>
          <a:prstGeom prst="rect">
            <a:avLst/>
          </a:prstGeom>
          <a:solidFill>
            <a:srgbClr val="12A566"/>
          </a:solidFill>
          <a:ln/>
        </p:spPr>
      </p:sp>
      <p:sp>
        <p:nvSpPr>
          <p:cNvPr id="24" name="Text 22"/>
          <p:cNvSpPr txBox="1"/>
          <p:nvPr/>
        </p:nvSpPr>
        <p:spPr>
          <a:xfrm>
            <a:off x="3931920" y="266482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25" name="Text 23"/>
          <p:cNvSpPr txBox="1"/>
          <p:nvPr/>
        </p:nvSpPr>
        <p:spPr>
          <a:xfrm>
            <a:off x="4608576"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8" name="Shape 26"/>
          <p:cNvSpPr/>
          <p:nvPr/>
        </p:nvSpPr>
        <p:spPr>
          <a:xfrm>
            <a:off x="3008376" y="3004457"/>
            <a:ext cx="845820" cy="135854"/>
          </a:xfrm>
          <a:prstGeom prst="rect">
            <a:avLst/>
          </a:prstGeom>
          <a:solidFill>
            <a:srgbClr val="12A566"/>
          </a:solidFill>
          <a:ln/>
        </p:spPr>
      </p:sp>
      <p:sp>
        <p:nvSpPr>
          <p:cNvPr id="29" name="Text 27"/>
          <p:cNvSpPr txBox="1"/>
          <p:nvPr/>
        </p:nvSpPr>
        <p:spPr>
          <a:xfrm>
            <a:off x="3931920" y="293653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88.8%</a:t>
            </a:r>
            <a:endParaRPr lang="en-US" sz="1200" dirty="0"/>
          </a:p>
        </p:txBody>
      </p:sp>
      <p:sp>
        <p:nvSpPr>
          <p:cNvPr id="30" name="Text 28"/>
          <p:cNvSpPr txBox="1"/>
          <p:nvPr/>
        </p:nvSpPr>
        <p:spPr>
          <a:xfrm>
            <a:off x="4608576"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008376" y="3276165"/>
            <a:ext cx="755333" cy="135854"/>
          </a:xfrm>
          <a:prstGeom prst="rect">
            <a:avLst/>
          </a:prstGeom>
          <a:solidFill>
            <a:srgbClr val="12A566"/>
          </a:solidFill>
          <a:ln/>
        </p:spPr>
      </p:sp>
      <p:sp>
        <p:nvSpPr>
          <p:cNvPr id="34" name="Text 32"/>
          <p:cNvSpPr txBox="1"/>
          <p:nvPr/>
        </p:nvSpPr>
        <p:spPr>
          <a:xfrm>
            <a:off x="3931920" y="320823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79.3%</a:t>
            </a:r>
            <a:endParaRPr lang="en-US" sz="1200" dirty="0"/>
          </a:p>
        </p:txBody>
      </p:sp>
      <p:sp>
        <p:nvSpPr>
          <p:cNvPr id="35" name="Text 33"/>
          <p:cNvSpPr txBox="1"/>
          <p:nvPr/>
        </p:nvSpPr>
        <p:spPr>
          <a:xfrm>
            <a:off x="4608576"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547872"/>
            <a:ext cx="687705" cy="135854"/>
          </a:xfrm>
          <a:prstGeom prst="rect">
            <a:avLst/>
          </a:prstGeom>
          <a:solidFill>
            <a:srgbClr val="12A566"/>
          </a:solidFill>
          <a:ln/>
        </p:spPr>
      </p:sp>
      <p:sp>
        <p:nvSpPr>
          <p:cNvPr id="39" name="Text 37"/>
          <p:cNvSpPr txBox="1"/>
          <p:nvPr/>
        </p:nvSpPr>
        <p:spPr>
          <a:xfrm>
            <a:off x="3931920" y="347994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72.2%</a:t>
            </a:r>
            <a:endParaRPr lang="en-US" sz="1200" dirty="0"/>
          </a:p>
        </p:txBody>
      </p:sp>
      <p:sp>
        <p:nvSpPr>
          <p:cNvPr id="40" name="Text 38"/>
          <p:cNvSpPr txBox="1"/>
          <p:nvPr/>
        </p:nvSpPr>
        <p:spPr>
          <a:xfrm>
            <a:off x="4608576"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3" name="Shape 41"/>
          <p:cNvSpPr/>
          <p:nvPr/>
        </p:nvSpPr>
        <p:spPr>
          <a:xfrm>
            <a:off x="3008376" y="3819579"/>
            <a:ext cx="666750" cy="135854"/>
          </a:xfrm>
          <a:prstGeom prst="rect">
            <a:avLst/>
          </a:prstGeom>
          <a:solidFill>
            <a:srgbClr val="12A566"/>
          </a:solidFill>
          <a:ln/>
        </p:spPr>
      </p:sp>
      <p:sp>
        <p:nvSpPr>
          <p:cNvPr id="44" name="Text 42"/>
          <p:cNvSpPr txBox="1"/>
          <p:nvPr/>
        </p:nvSpPr>
        <p:spPr>
          <a:xfrm>
            <a:off x="3931920" y="375165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70.0%</a:t>
            </a:r>
            <a:endParaRPr lang="en-US" sz="1200" dirty="0"/>
          </a:p>
        </p:txBody>
      </p:sp>
      <p:sp>
        <p:nvSpPr>
          <p:cNvPr id="45" name="Text 43"/>
          <p:cNvSpPr txBox="1"/>
          <p:nvPr/>
        </p:nvSpPr>
        <p:spPr>
          <a:xfrm>
            <a:off x="4608576"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46" name="Text 44"/>
          <p:cNvSpPr txBox="1"/>
          <p:nvPr/>
        </p:nvSpPr>
        <p:spPr>
          <a:xfrm>
            <a:off x="658368"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3008376" y="4091287"/>
            <a:ext cx="658178" cy="135854"/>
          </a:xfrm>
          <a:prstGeom prst="rect">
            <a:avLst/>
          </a:prstGeom>
          <a:solidFill>
            <a:srgbClr val="12A566"/>
          </a:solidFill>
          <a:ln/>
        </p:spPr>
      </p:sp>
      <p:sp>
        <p:nvSpPr>
          <p:cNvPr id="49" name="Text 47"/>
          <p:cNvSpPr txBox="1"/>
          <p:nvPr/>
        </p:nvSpPr>
        <p:spPr>
          <a:xfrm>
            <a:off x="3931920" y="402336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69.1%</a:t>
            </a:r>
            <a:endParaRPr lang="en-US" sz="1200" dirty="0"/>
          </a:p>
        </p:txBody>
      </p:sp>
      <p:sp>
        <p:nvSpPr>
          <p:cNvPr id="50" name="Text 48"/>
          <p:cNvSpPr txBox="1"/>
          <p:nvPr/>
        </p:nvSpPr>
        <p:spPr>
          <a:xfrm>
            <a:off x="4608576"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51" name="Text 49"/>
          <p:cNvSpPr txBox="1"/>
          <p:nvPr/>
        </p:nvSpPr>
        <p:spPr>
          <a:xfrm>
            <a:off x="658368"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008376" y="4362994"/>
            <a:ext cx="578168" cy="135854"/>
          </a:xfrm>
          <a:prstGeom prst="rect">
            <a:avLst/>
          </a:prstGeom>
          <a:solidFill>
            <a:srgbClr val="12A566"/>
          </a:solidFill>
          <a:ln/>
        </p:spPr>
      </p:sp>
      <p:sp>
        <p:nvSpPr>
          <p:cNvPr id="54" name="Text 52"/>
          <p:cNvSpPr txBox="1"/>
          <p:nvPr/>
        </p:nvSpPr>
        <p:spPr>
          <a:xfrm>
            <a:off x="3931920" y="4295067"/>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60.7%</a:t>
            </a:r>
            <a:endParaRPr lang="en-US" sz="1200" dirty="0"/>
          </a:p>
        </p:txBody>
      </p:sp>
      <p:sp>
        <p:nvSpPr>
          <p:cNvPr id="55" name="Text 53"/>
          <p:cNvSpPr txBox="1"/>
          <p:nvPr/>
        </p:nvSpPr>
        <p:spPr>
          <a:xfrm>
            <a:off x="4608576"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8" name="Shape 56"/>
          <p:cNvSpPr/>
          <p:nvPr/>
        </p:nvSpPr>
        <p:spPr>
          <a:xfrm>
            <a:off x="3008376" y="4634702"/>
            <a:ext cx="571500" cy="135854"/>
          </a:xfrm>
          <a:prstGeom prst="rect">
            <a:avLst/>
          </a:prstGeom>
          <a:solidFill>
            <a:srgbClr val="12A566"/>
          </a:solidFill>
          <a:ln/>
        </p:spPr>
      </p:sp>
      <p:sp>
        <p:nvSpPr>
          <p:cNvPr id="59" name="Text 57"/>
          <p:cNvSpPr txBox="1"/>
          <p:nvPr/>
        </p:nvSpPr>
        <p:spPr>
          <a:xfrm>
            <a:off x="3931920" y="456677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60.0%</a:t>
            </a:r>
            <a:endParaRPr lang="en-US" sz="1200" dirty="0"/>
          </a:p>
        </p:txBody>
      </p:sp>
      <p:sp>
        <p:nvSpPr>
          <p:cNvPr id="60" name="Text 58"/>
          <p:cNvSpPr txBox="1"/>
          <p:nvPr/>
        </p:nvSpPr>
        <p:spPr>
          <a:xfrm>
            <a:off x="4608576"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3" name="Shape 61"/>
          <p:cNvSpPr/>
          <p:nvPr/>
        </p:nvSpPr>
        <p:spPr>
          <a:xfrm>
            <a:off x="3008376" y="4906409"/>
            <a:ext cx="476250" cy="135854"/>
          </a:xfrm>
          <a:prstGeom prst="rect">
            <a:avLst/>
          </a:prstGeom>
          <a:solidFill>
            <a:srgbClr val="12A566"/>
          </a:solidFill>
          <a:ln/>
        </p:spPr>
      </p:sp>
      <p:sp>
        <p:nvSpPr>
          <p:cNvPr id="64" name="Text 62"/>
          <p:cNvSpPr txBox="1"/>
          <p:nvPr/>
        </p:nvSpPr>
        <p:spPr>
          <a:xfrm>
            <a:off x="3931920" y="4838482"/>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50.0%</a:t>
            </a:r>
            <a:endParaRPr lang="en-US" sz="1200" dirty="0"/>
          </a:p>
        </p:txBody>
      </p:sp>
      <p:sp>
        <p:nvSpPr>
          <p:cNvPr id="65" name="Text 63"/>
          <p:cNvSpPr txBox="1"/>
          <p:nvPr/>
        </p:nvSpPr>
        <p:spPr>
          <a:xfrm>
            <a:off x="4608576"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66" name="Text 64"/>
          <p:cNvSpPr txBox="1"/>
          <p:nvPr/>
        </p:nvSpPr>
        <p:spPr>
          <a:xfrm>
            <a:off x="658368"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8" name="Shape 66"/>
          <p:cNvSpPr/>
          <p:nvPr/>
        </p:nvSpPr>
        <p:spPr>
          <a:xfrm>
            <a:off x="3008376" y="5178117"/>
            <a:ext cx="419100" cy="135854"/>
          </a:xfrm>
          <a:prstGeom prst="rect">
            <a:avLst/>
          </a:prstGeom>
          <a:solidFill>
            <a:srgbClr val="C2352F"/>
          </a:solidFill>
          <a:ln/>
        </p:spPr>
      </p:sp>
      <p:sp>
        <p:nvSpPr>
          <p:cNvPr id="69" name="Text 67"/>
          <p:cNvSpPr txBox="1"/>
          <p:nvPr/>
        </p:nvSpPr>
        <p:spPr>
          <a:xfrm>
            <a:off x="3931920"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44.0%</a:t>
            </a:r>
            <a:endParaRPr lang="en-US" sz="1200" dirty="0"/>
          </a:p>
        </p:txBody>
      </p:sp>
      <p:sp>
        <p:nvSpPr>
          <p:cNvPr id="70" name="Text 68"/>
          <p:cNvSpPr txBox="1"/>
          <p:nvPr/>
        </p:nvSpPr>
        <p:spPr>
          <a:xfrm>
            <a:off x="4608576"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008376" y="5449824"/>
            <a:ext cx="416338" cy="135854"/>
          </a:xfrm>
          <a:prstGeom prst="rect">
            <a:avLst/>
          </a:prstGeom>
          <a:solidFill>
            <a:srgbClr val="C2352F"/>
          </a:solidFill>
          <a:ln/>
        </p:spPr>
      </p:sp>
      <p:sp>
        <p:nvSpPr>
          <p:cNvPr id="74" name="Text 72"/>
          <p:cNvSpPr txBox="1"/>
          <p:nvPr/>
        </p:nvSpPr>
        <p:spPr>
          <a:xfrm>
            <a:off x="3931920"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a:t>
            </a:r>
            <a:endParaRPr lang="en-US" sz="1200" dirty="0"/>
          </a:p>
        </p:txBody>
      </p:sp>
      <p:sp>
        <p:nvSpPr>
          <p:cNvPr id="75" name="Text 73"/>
          <p:cNvSpPr txBox="1"/>
          <p:nvPr/>
        </p:nvSpPr>
        <p:spPr>
          <a:xfrm>
            <a:off x="4608576"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721531"/>
            <a:ext cx="375285" cy="135854"/>
          </a:xfrm>
          <a:prstGeom prst="rect">
            <a:avLst/>
          </a:prstGeom>
          <a:solidFill>
            <a:srgbClr val="C2352F"/>
          </a:solidFill>
          <a:ln/>
        </p:spPr>
      </p:sp>
      <p:sp>
        <p:nvSpPr>
          <p:cNvPr id="79" name="Text 77"/>
          <p:cNvSpPr txBox="1"/>
          <p:nvPr/>
        </p:nvSpPr>
        <p:spPr>
          <a:xfrm>
            <a:off x="3931920"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80" name="Text 78"/>
          <p:cNvSpPr txBox="1"/>
          <p:nvPr/>
        </p:nvSpPr>
        <p:spPr>
          <a:xfrm>
            <a:off x="4608576"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208776"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6565392"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3" name="Shape 81"/>
          <p:cNvSpPr/>
          <p:nvPr/>
        </p:nvSpPr>
        <p:spPr>
          <a:xfrm>
            <a:off x="8558784" y="2189335"/>
            <a:ext cx="348615" cy="135854"/>
          </a:xfrm>
          <a:prstGeom prst="rect">
            <a:avLst/>
          </a:prstGeom>
          <a:solidFill>
            <a:srgbClr val="C2352F"/>
          </a:solidFill>
          <a:ln/>
        </p:spPr>
      </p:sp>
      <p:sp>
        <p:nvSpPr>
          <p:cNvPr id="84" name="Text 82"/>
          <p:cNvSpPr txBox="1"/>
          <p:nvPr/>
        </p:nvSpPr>
        <p:spPr>
          <a:xfrm>
            <a:off x="9482328" y="212140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36.6%</a:t>
            </a:r>
            <a:endParaRPr lang="en-US" sz="1200" dirty="0"/>
          </a:p>
        </p:txBody>
      </p:sp>
      <p:sp>
        <p:nvSpPr>
          <p:cNvPr id="85" name="Text 83"/>
          <p:cNvSpPr txBox="1"/>
          <p:nvPr/>
        </p:nvSpPr>
        <p:spPr>
          <a:xfrm>
            <a:off x="10158984"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208776"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6565392"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8" name="Shape 86"/>
          <p:cNvSpPr/>
          <p:nvPr/>
        </p:nvSpPr>
        <p:spPr>
          <a:xfrm>
            <a:off x="8558784" y="2461042"/>
            <a:ext cx="332422" cy="135854"/>
          </a:xfrm>
          <a:prstGeom prst="rect">
            <a:avLst/>
          </a:prstGeom>
          <a:solidFill>
            <a:srgbClr val="C2352F"/>
          </a:solidFill>
          <a:ln/>
        </p:spPr>
      </p:sp>
      <p:sp>
        <p:nvSpPr>
          <p:cNvPr id="89" name="Text 87"/>
          <p:cNvSpPr txBox="1"/>
          <p:nvPr/>
        </p:nvSpPr>
        <p:spPr>
          <a:xfrm>
            <a:off x="9482328" y="239311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34.9%</a:t>
            </a:r>
            <a:endParaRPr lang="en-US" sz="1200" dirty="0"/>
          </a:p>
        </p:txBody>
      </p:sp>
      <p:sp>
        <p:nvSpPr>
          <p:cNvPr id="90" name="Text 88"/>
          <p:cNvSpPr txBox="1"/>
          <p:nvPr/>
        </p:nvSpPr>
        <p:spPr>
          <a:xfrm>
            <a:off x="10158984"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208776"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6565392"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732750"/>
            <a:ext cx="329565" cy="135854"/>
          </a:xfrm>
          <a:prstGeom prst="rect">
            <a:avLst/>
          </a:prstGeom>
          <a:solidFill>
            <a:srgbClr val="C2352F"/>
          </a:solidFill>
          <a:ln/>
        </p:spPr>
      </p:sp>
      <p:sp>
        <p:nvSpPr>
          <p:cNvPr id="94" name="Text 92"/>
          <p:cNvSpPr txBox="1"/>
          <p:nvPr/>
        </p:nvSpPr>
        <p:spPr>
          <a:xfrm>
            <a:off x="9482328" y="266482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34.6%</a:t>
            </a:r>
            <a:endParaRPr lang="en-US" sz="1200" dirty="0"/>
          </a:p>
        </p:txBody>
      </p:sp>
      <p:sp>
        <p:nvSpPr>
          <p:cNvPr id="95" name="Text 93"/>
          <p:cNvSpPr txBox="1"/>
          <p:nvPr/>
        </p:nvSpPr>
        <p:spPr>
          <a:xfrm>
            <a:off x="10158984"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8" name="Shape 96"/>
          <p:cNvSpPr/>
          <p:nvPr/>
        </p:nvSpPr>
        <p:spPr>
          <a:xfrm>
            <a:off x="8558784" y="3004457"/>
            <a:ext cx="304800" cy="135854"/>
          </a:xfrm>
          <a:prstGeom prst="rect">
            <a:avLst/>
          </a:prstGeom>
          <a:solidFill>
            <a:srgbClr val="C2352F"/>
          </a:solidFill>
          <a:ln/>
        </p:spPr>
      </p:sp>
      <p:sp>
        <p:nvSpPr>
          <p:cNvPr id="99" name="Text 97"/>
          <p:cNvSpPr txBox="1"/>
          <p:nvPr/>
        </p:nvSpPr>
        <p:spPr>
          <a:xfrm>
            <a:off x="9482328" y="293653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32.0%</a:t>
            </a:r>
            <a:endParaRPr lang="en-US" sz="1200" dirty="0"/>
          </a:p>
        </p:txBody>
      </p:sp>
      <p:sp>
        <p:nvSpPr>
          <p:cNvPr id="100" name="Text 98"/>
          <p:cNvSpPr txBox="1"/>
          <p:nvPr/>
        </p:nvSpPr>
        <p:spPr>
          <a:xfrm>
            <a:off x="10158984"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1" name="Text 99"/>
          <p:cNvSpPr txBox="1"/>
          <p:nvPr/>
        </p:nvSpPr>
        <p:spPr>
          <a:xfrm>
            <a:off x="6208776"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3" name="Shape 101"/>
          <p:cNvSpPr/>
          <p:nvPr/>
        </p:nvSpPr>
        <p:spPr>
          <a:xfrm>
            <a:off x="8558784" y="3276165"/>
            <a:ext cx="297180" cy="135854"/>
          </a:xfrm>
          <a:prstGeom prst="rect">
            <a:avLst/>
          </a:prstGeom>
          <a:solidFill>
            <a:srgbClr val="C2352F"/>
          </a:solidFill>
          <a:ln/>
        </p:spPr>
      </p:sp>
      <p:sp>
        <p:nvSpPr>
          <p:cNvPr id="104" name="Text 102"/>
          <p:cNvSpPr txBox="1"/>
          <p:nvPr/>
        </p:nvSpPr>
        <p:spPr>
          <a:xfrm>
            <a:off x="9482328" y="320823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31.2%</a:t>
            </a:r>
            <a:endParaRPr lang="en-US" sz="1200" dirty="0"/>
          </a:p>
        </p:txBody>
      </p:sp>
      <p:sp>
        <p:nvSpPr>
          <p:cNvPr id="105" name="Text 103"/>
          <p:cNvSpPr txBox="1"/>
          <p:nvPr/>
        </p:nvSpPr>
        <p:spPr>
          <a:xfrm>
            <a:off x="10158984"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8" name="Shape 106"/>
          <p:cNvSpPr/>
          <p:nvPr/>
        </p:nvSpPr>
        <p:spPr>
          <a:xfrm>
            <a:off x="8558784" y="3547872"/>
            <a:ext cx="240983" cy="135854"/>
          </a:xfrm>
          <a:prstGeom prst="rect">
            <a:avLst/>
          </a:prstGeom>
          <a:solidFill>
            <a:srgbClr val="C2352F"/>
          </a:solidFill>
          <a:ln/>
        </p:spPr>
      </p:sp>
      <p:sp>
        <p:nvSpPr>
          <p:cNvPr id="109" name="Text 107"/>
          <p:cNvSpPr txBox="1"/>
          <p:nvPr/>
        </p:nvSpPr>
        <p:spPr>
          <a:xfrm>
            <a:off x="9482328" y="347994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0" name="Text 108"/>
          <p:cNvSpPr txBox="1"/>
          <p:nvPr/>
        </p:nvSpPr>
        <p:spPr>
          <a:xfrm>
            <a:off x="10158984"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11" name="Text 109"/>
          <p:cNvSpPr txBox="1"/>
          <p:nvPr/>
        </p:nvSpPr>
        <p:spPr>
          <a:xfrm>
            <a:off x="6208776"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8558784" y="3819579"/>
            <a:ext cx="222885" cy="135854"/>
          </a:xfrm>
          <a:prstGeom prst="rect">
            <a:avLst/>
          </a:prstGeom>
          <a:solidFill>
            <a:srgbClr val="C2352F"/>
          </a:solidFill>
          <a:ln/>
        </p:spPr>
      </p:sp>
      <p:sp>
        <p:nvSpPr>
          <p:cNvPr id="114" name="Text 112"/>
          <p:cNvSpPr txBox="1"/>
          <p:nvPr/>
        </p:nvSpPr>
        <p:spPr>
          <a:xfrm>
            <a:off x="9482328" y="375165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5" name="Text 113"/>
          <p:cNvSpPr txBox="1"/>
          <p:nvPr/>
        </p:nvSpPr>
        <p:spPr>
          <a:xfrm>
            <a:off x="10158984"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8" name="Shape 116"/>
          <p:cNvSpPr/>
          <p:nvPr/>
        </p:nvSpPr>
        <p:spPr>
          <a:xfrm>
            <a:off x="8558784" y="4091287"/>
            <a:ext cx="216217" cy="135854"/>
          </a:xfrm>
          <a:prstGeom prst="rect">
            <a:avLst/>
          </a:prstGeom>
          <a:solidFill>
            <a:srgbClr val="C2352F"/>
          </a:solidFill>
          <a:ln/>
        </p:spPr>
      </p:sp>
      <p:sp>
        <p:nvSpPr>
          <p:cNvPr id="119" name="Text 117"/>
          <p:cNvSpPr txBox="1"/>
          <p:nvPr/>
        </p:nvSpPr>
        <p:spPr>
          <a:xfrm>
            <a:off x="9482328" y="402336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0" name="Text 118"/>
          <p:cNvSpPr txBox="1"/>
          <p:nvPr/>
        </p:nvSpPr>
        <p:spPr>
          <a:xfrm>
            <a:off x="10158984"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1" name="Text 119"/>
          <p:cNvSpPr txBox="1"/>
          <p:nvPr/>
        </p:nvSpPr>
        <p:spPr>
          <a:xfrm>
            <a:off x="6208776"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3" name="Shape 121"/>
          <p:cNvSpPr/>
          <p:nvPr/>
        </p:nvSpPr>
        <p:spPr>
          <a:xfrm>
            <a:off x="8558784" y="4362994"/>
            <a:ext cx="216217" cy="135854"/>
          </a:xfrm>
          <a:prstGeom prst="rect">
            <a:avLst/>
          </a:prstGeom>
          <a:solidFill>
            <a:srgbClr val="C2352F"/>
          </a:solidFill>
          <a:ln/>
        </p:spPr>
      </p:sp>
      <p:sp>
        <p:nvSpPr>
          <p:cNvPr id="124" name="Text 122"/>
          <p:cNvSpPr txBox="1"/>
          <p:nvPr/>
        </p:nvSpPr>
        <p:spPr>
          <a:xfrm>
            <a:off x="9482328" y="429506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5" name="Text 123"/>
          <p:cNvSpPr txBox="1"/>
          <p:nvPr/>
        </p:nvSpPr>
        <p:spPr>
          <a:xfrm>
            <a:off x="10158984"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558784" y="4634702"/>
            <a:ext cx="183833" cy="135854"/>
          </a:xfrm>
          <a:prstGeom prst="rect">
            <a:avLst/>
          </a:prstGeom>
          <a:solidFill>
            <a:srgbClr val="C2352F"/>
          </a:solidFill>
          <a:ln/>
        </p:spPr>
      </p:sp>
      <p:sp>
        <p:nvSpPr>
          <p:cNvPr id="129" name="Text 127"/>
          <p:cNvSpPr txBox="1"/>
          <p:nvPr/>
        </p:nvSpPr>
        <p:spPr>
          <a:xfrm>
            <a:off x="9482328" y="456677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130" name="Text 128"/>
          <p:cNvSpPr txBox="1"/>
          <p:nvPr/>
        </p:nvSpPr>
        <p:spPr>
          <a:xfrm>
            <a:off x="10158984"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4906409"/>
            <a:ext cx="150495" cy="135854"/>
          </a:xfrm>
          <a:prstGeom prst="rect">
            <a:avLst/>
          </a:prstGeom>
          <a:solidFill>
            <a:srgbClr val="C2352F"/>
          </a:solidFill>
          <a:ln/>
        </p:spPr>
      </p:sp>
      <p:sp>
        <p:nvSpPr>
          <p:cNvPr id="134" name="Text 132"/>
          <p:cNvSpPr txBox="1"/>
          <p:nvPr/>
        </p:nvSpPr>
        <p:spPr>
          <a:xfrm>
            <a:off x="9482328" y="4838482"/>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5" name="Text 133"/>
          <p:cNvSpPr txBox="1"/>
          <p:nvPr/>
        </p:nvSpPr>
        <p:spPr>
          <a:xfrm>
            <a:off x="10158984"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8" name="Shape 136"/>
          <p:cNvSpPr/>
          <p:nvPr/>
        </p:nvSpPr>
        <p:spPr>
          <a:xfrm>
            <a:off x="8558784" y="5178117"/>
            <a:ext cx="137160" cy="135854"/>
          </a:xfrm>
          <a:prstGeom prst="rect">
            <a:avLst/>
          </a:prstGeom>
          <a:solidFill>
            <a:srgbClr val="C2352F"/>
          </a:solidFill>
          <a:ln/>
        </p:spPr>
      </p:sp>
      <p:sp>
        <p:nvSpPr>
          <p:cNvPr id="139" name="Text 137"/>
          <p:cNvSpPr txBox="1"/>
          <p:nvPr/>
        </p:nvSpPr>
        <p:spPr>
          <a:xfrm>
            <a:off x="9482328"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0" name="Text 138"/>
          <p:cNvSpPr txBox="1"/>
          <p:nvPr/>
        </p:nvSpPr>
        <p:spPr>
          <a:xfrm>
            <a:off x="10158984"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3" name="Shape 141"/>
          <p:cNvSpPr/>
          <p:nvPr/>
        </p:nvSpPr>
        <p:spPr>
          <a:xfrm>
            <a:off x="8558784" y="5449824"/>
            <a:ext cx="135255" cy="135854"/>
          </a:xfrm>
          <a:prstGeom prst="rect">
            <a:avLst/>
          </a:prstGeom>
          <a:solidFill>
            <a:srgbClr val="C2352F"/>
          </a:solidFill>
          <a:ln/>
        </p:spPr>
      </p:sp>
      <p:sp>
        <p:nvSpPr>
          <p:cNvPr id="144" name="Text 142"/>
          <p:cNvSpPr txBox="1"/>
          <p:nvPr/>
        </p:nvSpPr>
        <p:spPr>
          <a:xfrm>
            <a:off x="9482328"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45" name="Text 143"/>
          <p:cNvSpPr txBox="1"/>
          <p:nvPr/>
        </p:nvSpPr>
        <p:spPr>
          <a:xfrm>
            <a:off x="10158984"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5721531"/>
            <a:ext cx="112395" cy="135854"/>
          </a:xfrm>
          <a:prstGeom prst="rect">
            <a:avLst/>
          </a:prstGeom>
          <a:solidFill>
            <a:srgbClr val="C2352F"/>
          </a:solidFill>
          <a:ln/>
        </p:spPr>
      </p:sp>
      <p:sp>
        <p:nvSpPr>
          <p:cNvPr id="149" name="Text 147"/>
          <p:cNvSpPr txBox="1"/>
          <p:nvPr/>
        </p:nvSpPr>
        <p:spPr>
          <a:xfrm>
            <a:off x="9482328"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50" name="Text 148"/>
          <p:cNvSpPr txBox="1"/>
          <p:nvPr/>
        </p:nvSpPr>
        <p:spPr>
          <a:xfrm>
            <a:off x="10158984"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2" name="Text 150"/>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3" name="Text 151"/>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4" name="Text 152"/>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5" name="Shape 153"/>
          <p:cNvSpPr/>
          <p:nvPr/>
        </p:nvSpPr>
        <p:spPr>
          <a:xfrm>
            <a:off x="3432502" y="2121408"/>
            <a:ext cx="14630" cy="3803904"/>
          </a:xfrm>
          <a:prstGeom prst="rect">
            <a:avLst/>
          </a:prstGeom>
          <a:solidFill>
            <a:srgbClr val="0B2C4A"/>
          </a:solidFill>
          <a:ln/>
        </p:spPr>
      </p:sp>
      <p:sp>
        <p:nvSpPr>
          <p:cNvPr id="156" name="Shape 154"/>
          <p:cNvSpPr/>
          <p:nvPr/>
        </p:nvSpPr>
        <p:spPr>
          <a:xfrm>
            <a:off x="8982910" y="2121408"/>
            <a:ext cx="14630" cy="3803904"/>
          </a:xfrm>
          <a:prstGeom prst="rect">
            <a:avLst/>
          </a:prstGeom>
          <a:solidFill>
            <a:srgbClr val="0B2C4A"/>
          </a:solidFill>
          <a:ln/>
        </p:spPr>
      </p:sp>
      <p:sp>
        <p:nvSpPr>
          <p:cNvPr id="157" name="Shape 155"/>
          <p:cNvSpPr/>
          <p:nvPr/>
        </p:nvSpPr>
        <p:spPr>
          <a:xfrm>
            <a:off x="6085332" y="2121408"/>
            <a:ext cx="10973" cy="3803904"/>
          </a:xfrm>
          <a:prstGeom prst="rect">
            <a:avLst/>
          </a:prstGeom>
          <a:solidFill>
            <a:srgbClr val="D9D9D9"/>
          </a:solidFill>
          <a:ln/>
        </p:spPr>
      </p:sp>
      <p:sp>
        <p:nvSpPr>
          <p:cNvPr id="158" name="Shape 156"/>
          <p:cNvSpPr/>
          <p:nvPr/>
        </p:nvSpPr>
        <p:spPr>
          <a:xfrm>
            <a:off x="457200" y="6126480"/>
            <a:ext cx="11274552" cy="341376"/>
          </a:xfrm>
          <a:prstGeom prst="rect">
            <a:avLst/>
          </a:prstGeom>
          <a:solidFill>
            <a:srgbClr val="EDF4FA"/>
          </a:solidFill>
          <a:ln/>
        </p:spPr>
      </p:sp>
      <p:sp>
        <p:nvSpPr>
          <p:cNvPr id="159" name="Text 15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11 of 28 stores at or above the 45.3% group. Hyundai Prescott leads at 91.2%; Kia St George is lowest at 11.8%.</a:t>
            </a:r>
            <a:endParaRPr lang="en-US" sz="1400" dirty="0"/>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$155K → $209K</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$85K → $112K</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$218K → $279K</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$54K → $66K</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$49K → $60K</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$202K → $246K</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+21.9%</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$311K → $375K</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+20.4%</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$148K → $177K</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$100K → $119K</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$294K → $345K</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+17.3%</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$155K to $209K, stepping up in August. Ask what changed that month.</a:t>
            </a:r>
            <a:endParaRPr lang="en-US" sz="1600" dirty="0"/>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425 → 570</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543 → 667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350 → 415</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578 → 669</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397 → 459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545 → 617</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+13.0%</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1,561 → 1,759</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330 → 370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1,788 → 1,992</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+11.3%</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582 → 641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Lexus went 425 to 570, stepping up in April. Ask what changed that month.</a:t>
            </a:r>
            <a:endParaRPr lang="en-US" sz="1600" dirty="0"/>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1.35 → 1.65</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 → 1.76</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1.37 → 1.54</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1.23 → 1.38</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1.65 → 1.79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1.29 → 1.40</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+8.2%</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1.33 → 1.40</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2.19 → 2.30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2.60 → 2.73</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3.25 → 3.41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1.35 to 1.65, stepping up in August. Ask what changed that month.</a:t>
            </a:r>
            <a:endParaRPr lang="en-US" sz="1600" dirty="0"/>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$128.27 → $141.89</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$227.34 → $244.12</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$139.40 → $147.93</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$142.56 → $150.72</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$139.09 → $146.04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$172.35 → $180.14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$140.89 → $146.92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$216.72 → $225.50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$155.72 → $161.80</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$169.51 → $175.47</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$128.27 to $141.89, stepping up in June. Ask what changed that month.</a:t>
            </a:r>
            <a:endParaRPr lang="en-US" sz="1600" dirty="0"/>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$230 → $242, +5.1%: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$224 → $298</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$692 → $877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+26.6%</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$229 → $282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$200 → $234</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$204 → $234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$136 → $156</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+14.6%</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$257 → $292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$728 → $811</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+11.4%</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$897 → $988</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$235 → $258</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+9.8%</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$224 to $298, stepping up in June. Ask what changed that month.</a:t>
            </a:r>
            <a:endParaRPr lang="en-US" sz="1600" dirty="0"/>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46.6%</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39.1% → 43.8%</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35.3% → 39.2%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41.1% → 44.0%</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41.7%</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40.1% → 42.4%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34.4% → 36.3%</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40.9% → 42.2%</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 pts</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44.4% → 45.7%</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 pts</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36.8% → 37.9%</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 pts</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went 39.4% to 46.6%, stepping up in April. Ask what changed that month.</a:t>
            </a:r>
            <a:endParaRPr lang="en-US" sz="1600" dirty="0"/>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570</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667</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415</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578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669</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459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Lexus went 425 to 570, stepping up in April. Ask what changed that month.</a:t>
            </a:r>
            <a:endParaRPr lang="en-US" sz="1600" dirty="0"/>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1.65</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1.76</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1.54</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1.38</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1.35 to 1.65, stepping up in August. Ask what changed that month.</a:t>
            </a:r>
            <a:endParaRPr lang="en-US" sz="1600" dirty="0"/>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$128.27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$141.89</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$227.34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$244.12</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$139.40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$147.93</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$142.56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$150.72</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$139.09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$146.04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$128.27 to $141.89, stepping up in June. Ask what changed that month.</a:t>
            </a:r>
            <a:endParaRPr lang="en-US" sz="1600" dirty="0"/>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46.6%</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43.8%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39.2%</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44.0%</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41.7%</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went 39.4% to 46.6%, stepping up in April. Ask what changed that month.</a:t>
            </a:r>
            <a:endParaRPr lang="en-US" sz="1600" dirty="0"/>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$209K</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$112K</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$218K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$279K</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$66K</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$49K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$60K</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$155K to $209K, stepping up in August. Ask what changed that month.</a:t>
            </a:r>
            <a:endParaRPr lang="en-US" sz="1600" dirty="0"/>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Alignment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12.9% → 13.1%, +0.1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31.7%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22.8%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11.8%</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Audi Henderson went 21.1% to 31.7%, stepping up in May. Ask what changed that month.</a:t>
            </a:r>
            <a:endParaRPr lang="en-US" sz="1600" dirty="0"/>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Balance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8.2% → 8.3%,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19.3%</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4.0%</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8.5%</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12.2%</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10.1% to 19.3%, stepping up in August. Ask what changed that month.</a:t>
            </a:r>
            <a:endParaRPr lang="en-US" sz="1600" dirty="0"/>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Brake Fluid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9.1% → 9.1%,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+8.9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5.3%</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10.3%</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5.2% to 14.1%, stepping up in August. Ask what changed that month.</a:t>
            </a:r>
            <a:endParaRPr lang="en-US" sz="1600" dirty="0"/>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Fuel Service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5.8% → 5.6%, −0.2 pts: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10.1%</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2.5% to 10.7%, stepping up in August. Ask what changed that month.</a:t>
            </a:r>
            <a:endParaRPr lang="en-US" sz="1600" dirty="0"/>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January–September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vs Jan–Sep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+46.0%</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+45.3%</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+33.8%</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+13.6%</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+12.6%</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+10.5%</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+39.1%</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+31.3%</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+30.7%</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+20.1%</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+4.1%</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+28.9%</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+21.0%</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+6.1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+3.8 pts</a:t>
            </a:r>
            <a:endParaRPr lang="en-US" sz="1800" dirty="0"/>
          </a:p>
        </p:txBody>
      </p:sp>
      <p:sp>
        <p:nvSpPr>
          <p:cNvPr id="103" name="Shape 101"/>
          <p:cNvSpPr/>
          <p:nvPr/>
        </p:nvSpPr>
        <p:spPr>
          <a:xfrm>
            <a:off x="457200" y="6126480"/>
            <a:ext cx="11274552" cy="371856"/>
          </a:xfrm>
          <a:prstGeom prst="rect">
            <a:avLst/>
          </a:prstGeom>
          <a:solidFill>
            <a:srgbClr val="E6F6EE"/>
          </a:solidFill>
          <a:ln/>
        </p:spPr>
      </p:sp>
      <p:sp>
        <p:nvSpPr>
          <p:cNvPr id="104"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makes three of six lists; three stores make two.</a:t>
            </a:r>
            <a:endParaRPr lang="en-US" sz="1600" dirty="0"/>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Last 90 Days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Jul–Sep vs Jul–Sep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+72.1%</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+41.5%</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+41.0%</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+2.0%</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+20.4%</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+19.2%</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+17.4%</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+3.1%</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+44.7%</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+41.1%</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+27.5%</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+2.5%</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+22.5%</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+3.8%</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+40.0%</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+24.6%</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+7.7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 pts</a:t>
            </a:r>
            <a:endParaRPr lang="en-US" sz="1800" dirty="0"/>
          </a:p>
        </p:txBody>
      </p:sp>
      <p:sp>
        <p:nvSpPr>
          <p:cNvPr id="103" name="Shape 101"/>
          <p:cNvSpPr/>
          <p:nvPr/>
        </p:nvSpPr>
        <p:spPr>
          <a:xfrm>
            <a:off x="457200" y="6126480"/>
            <a:ext cx="11274552" cy="371856"/>
          </a:xfrm>
          <a:prstGeom prst="rect">
            <a:avLst/>
          </a:prstGeom>
          <a:solidFill>
            <a:srgbClr val="E6F6EE"/>
          </a:solidFill>
          <a:ln/>
        </p:spPr>
      </p:sp>
      <p:sp>
        <p:nvSpPr>
          <p:cNvPr id="104"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and Kia St George each make three of six lists.</a:t>
            </a:r>
            <a:endParaRPr lang="en-US" sz="1600" dirty="0"/>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Who Shows Up Most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292608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Top-3 finishes of 12</a:t>
            </a:r>
            <a:endParaRPr lang="en-US" sz="1400" dirty="0"/>
          </a:p>
        </p:txBody>
      </p:sp>
      <p:sp>
        <p:nvSpPr>
          <p:cNvPr id="7" name="Text 5"/>
          <p:cNvSpPr txBox="1"/>
          <p:nvPr/>
        </p:nvSpPr>
        <p:spPr>
          <a:xfrm>
            <a:off x="617220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8" name="Text 6"/>
          <p:cNvSpPr txBox="1"/>
          <p:nvPr/>
        </p:nvSpPr>
        <p:spPr>
          <a:xfrm>
            <a:off x="882396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Last 90 days</a:t>
            </a:r>
            <a:endParaRPr lang="en-US" sz="1400" dirty="0"/>
          </a:p>
        </p:txBody>
      </p:sp>
      <p:sp>
        <p:nvSpPr>
          <p:cNvPr id="9" name="Shape 7"/>
          <p:cNvSpPr/>
          <p:nvPr/>
        </p:nvSpPr>
        <p:spPr>
          <a:xfrm>
            <a:off x="621792" y="1792224"/>
            <a:ext cx="10945368" cy="484632"/>
          </a:xfrm>
          <a:prstGeom prst="rect">
            <a:avLst/>
          </a:prstGeom>
          <a:solidFill>
            <a:srgbClr val="F7F7F7"/>
          </a:solidFill>
          <a:ln/>
        </p:spPr>
      </p:sp>
      <p:sp>
        <p:nvSpPr>
          <p:cNvPr id="10" name="Text 8"/>
          <p:cNvSpPr txBox="1"/>
          <p:nvPr/>
        </p:nvSpPr>
        <p:spPr>
          <a:xfrm>
            <a:off x="713232" y="179222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Shape 9"/>
          <p:cNvSpPr/>
          <p:nvPr/>
        </p:nvSpPr>
        <p:spPr>
          <a:xfrm>
            <a:off x="2926080" y="1913382"/>
            <a:ext cx="2651760" cy="242316"/>
          </a:xfrm>
          <a:prstGeom prst="rect">
            <a:avLst/>
          </a:prstGeom>
          <a:solidFill>
            <a:srgbClr val="12A566"/>
          </a:solidFill>
          <a:ln/>
        </p:spPr>
      </p:sp>
      <p:sp>
        <p:nvSpPr>
          <p:cNvPr id="12" name="Text 10"/>
          <p:cNvSpPr txBox="1"/>
          <p:nvPr/>
        </p:nvSpPr>
        <p:spPr>
          <a:xfrm>
            <a:off x="5486400" y="179222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a:t>
            </a:r>
            <a:endParaRPr lang="en-US" sz="1600" dirty="0"/>
          </a:p>
        </p:txBody>
      </p:sp>
      <p:sp>
        <p:nvSpPr>
          <p:cNvPr id="13" name="Text 11"/>
          <p:cNvSpPr txBox="1"/>
          <p:nvPr/>
        </p:nvSpPr>
        <p:spPr>
          <a:xfrm>
            <a:off x="617220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4" name="Text 12"/>
          <p:cNvSpPr txBox="1"/>
          <p:nvPr/>
        </p:nvSpPr>
        <p:spPr>
          <a:xfrm>
            <a:off x="882396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5" name="Text 13"/>
          <p:cNvSpPr txBox="1"/>
          <p:nvPr/>
        </p:nvSpPr>
        <p:spPr>
          <a:xfrm>
            <a:off x="713232" y="227685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6" name="Shape 14"/>
          <p:cNvSpPr/>
          <p:nvPr/>
        </p:nvSpPr>
        <p:spPr>
          <a:xfrm>
            <a:off x="2926080" y="2398014"/>
            <a:ext cx="1767840" cy="242316"/>
          </a:xfrm>
          <a:prstGeom prst="rect">
            <a:avLst/>
          </a:prstGeom>
          <a:solidFill>
            <a:srgbClr val="12A566"/>
          </a:solidFill>
          <a:ln/>
        </p:spPr>
      </p:sp>
      <p:sp>
        <p:nvSpPr>
          <p:cNvPr id="17" name="Text 15"/>
          <p:cNvSpPr txBox="1"/>
          <p:nvPr/>
        </p:nvSpPr>
        <p:spPr>
          <a:xfrm>
            <a:off x="5486400" y="227685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a:t>
            </a:r>
            <a:endParaRPr lang="en-US" sz="1600" dirty="0"/>
          </a:p>
        </p:txBody>
      </p:sp>
      <p:sp>
        <p:nvSpPr>
          <p:cNvPr id="18" name="Text 16"/>
          <p:cNvSpPr txBox="1"/>
          <p:nvPr/>
        </p:nvSpPr>
        <p:spPr>
          <a:xfrm>
            <a:off x="617220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19" name="Text 17"/>
          <p:cNvSpPr txBox="1"/>
          <p:nvPr/>
        </p:nvSpPr>
        <p:spPr>
          <a:xfrm>
            <a:off x="882396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hours/RO, parts GP%</a:t>
            </a:r>
            <a:endParaRPr lang="en-US" sz="1300" dirty="0"/>
          </a:p>
        </p:txBody>
      </p:sp>
      <p:sp>
        <p:nvSpPr>
          <p:cNvPr id="20" name="Shape 18"/>
          <p:cNvSpPr/>
          <p:nvPr/>
        </p:nvSpPr>
        <p:spPr>
          <a:xfrm>
            <a:off x="621792" y="2761488"/>
            <a:ext cx="10945368" cy="484632"/>
          </a:xfrm>
          <a:prstGeom prst="rect">
            <a:avLst/>
          </a:prstGeom>
          <a:solidFill>
            <a:srgbClr val="F7F7F7"/>
          </a:solidFill>
          <a:ln/>
        </p:spPr>
      </p:sp>
      <p:sp>
        <p:nvSpPr>
          <p:cNvPr id="21" name="Text 19"/>
          <p:cNvSpPr txBox="1"/>
          <p:nvPr/>
        </p:nvSpPr>
        <p:spPr>
          <a:xfrm>
            <a:off x="713232" y="276148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2" name="Shape 20"/>
          <p:cNvSpPr/>
          <p:nvPr/>
        </p:nvSpPr>
        <p:spPr>
          <a:xfrm>
            <a:off x="2926080" y="2882646"/>
            <a:ext cx="1325880" cy="242316"/>
          </a:xfrm>
          <a:prstGeom prst="rect">
            <a:avLst/>
          </a:prstGeom>
          <a:solidFill>
            <a:srgbClr val="12A566"/>
          </a:solidFill>
          <a:ln/>
        </p:spPr>
      </p:sp>
      <p:sp>
        <p:nvSpPr>
          <p:cNvPr id="23" name="Text 21"/>
          <p:cNvSpPr txBox="1"/>
          <p:nvPr/>
        </p:nvSpPr>
        <p:spPr>
          <a:xfrm>
            <a:off x="5486400" y="276148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4" name="Text 22"/>
          <p:cNvSpPr txBox="1"/>
          <p:nvPr/>
        </p:nvSpPr>
        <p:spPr>
          <a:xfrm>
            <a:off x="617220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parts GP%</a:t>
            </a:r>
            <a:endParaRPr lang="en-US" sz="1300" dirty="0"/>
          </a:p>
        </p:txBody>
      </p:sp>
      <p:sp>
        <p:nvSpPr>
          <p:cNvPr id="25" name="Text 23"/>
          <p:cNvSpPr txBox="1"/>
          <p:nvPr/>
        </p:nvSpPr>
        <p:spPr>
          <a:xfrm>
            <a:off x="882396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a:t>
            </a:r>
            <a:endParaRPr lang="en-US" sz="1300" dirty="0"/>
          </a:p>
        </p:txBody>
      </p:sp>
      <p:sp>
        <p:nvSpPr>
          <p:cNvPr id="26" name="Text 24"/>
          <p:cNvSpPr txBox="1"/>
          <p:nvPr/>
        </p:nvSpPr>
        <p:spPr>
          <a:xfrm>
            <a:off x="713232" y="3246120"/>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Shape 25"/>
          <p:cNvSpPr/>
          <p:nvPr/>
        </p:nvSpPr>
        <p:spPr>
          <a:xfrm>
            <a:off x="2926080" y="3367278"/>
            <a:ext cx="1325880" cy="242316"/>
          </a:xfrm>
          <a:prstGeom prst="rect">
            <a:avLst/>
          </a:prstGeom>
          <a:solidFill>
            <a:srgbClr val="12A566"/>
          </a:solidFill>
          <a:ln/>
        </p:spPr>
      </p:sp>
      <p:sp>
        <p:nvSpPr>
          <p:cNvPr id="28" name="Text 26"/>
          <p:cNvSpPr txBox="1"/>
          <p:nvPr/>
        </p:nvSpPr>
        <p:spPr>
          <a:xfrm>
            <a:off x="5486400" y="3246120"/>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9" name="Text 27"/>
          <p:cNvSpPr txBox="1"/>
          <p:nvPr/>
        </p:nvSpPr>
        <p:spPr>
          <a:xfrm>
            <a:off x="617220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 parts $/RO</a:t>
            </a:r>
            <a:endParaRPr lang="en-US" sz="1300" dirty="0"/>
          </a:p>
        </p:txBody>
      </p:sp>
      <p:sp>
        <p:nvSpPr>
          <p:cNvPr id="30" name="Text 28"/>
          <p:cNvSpPr txBox="1"/>
          <p:nvPr/>
        </p:nvSpPr>
        <p:spPr>
          <a:xfrm>
            <a:off x="882396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31" name="Shape 29"/>
          <p:cNvSpPr/>
          <p:nvPr/>
        </p:nvSpPr>
        <p:spPr>
          <a:xfrm>
            <a:off x="621792" y="3730752"/>
            <a:ext cx="10945368" cy="484632"/>
          </a:xfrm>
          <a:prstGeom prst="rect">
            <a:avLst/>
          </a:prstGeom>
          <a:solidFill>
            <a:srgbClr val="F7F7F7"/>
          </a:solidFill>
          <a:ln/>
        </p:spPr>
      </p:sp>
      <p:sp>
        <p:nvSpPr>
          <p:cNvPr id="32" name="Text 30"/>
          <p:cNvSpPr txBox="1"/>
          <p:nvPr/>
        </p:nvSpPr>
        <p:spPr>
          <a:xfrm>
            <a:off x="713232" y="3730752"/>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Shape 31"/>
          <p:cNvSpPr/>
          <p:nvPr/>
        </p:nvSpPr>
        <p:spPr>
          <a:xfrm>
            <a:off x="2926080" y="3851910"/>
            <a:ext cx="883920" cy="242316"/>
          </a:xfrm>
          <a:prstGeom prst="rect">
            <a:avLst/>
          </a:prstGeom>
          <a:solidFill>
            <a:srgbClr val="12A566"/>
          </a:solidFill>
          <a:ln/>
        </p:spPr>
      </p:sp>
      <p:sp>
        <p:nvSpPr>
          <p:cNvPr id="34" name="Text 32"/>
          <p:cNvSpPr txBox="1"/>
          <p:nvPr/>
        </p:nvSpPr>
        <p:spPr>
          <a:xfrm>
            <a:off x="5486400" y="3730752"/>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35" name="Text 33"/>
          <p:cNvSpPr txBox="1"/>
          <p:nvPr/>
        </p:nvSpPr>
        <p:spPr>
          <a:xfrm>
            <a:off x="617220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882396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7" name="Text 35"/>
          <p:cNvSpPr txBox="1"/>
          <p:nvPr/>
        </p:nvSpPr>
        <p:spPr>
          <a:xfrm>
            <a:off x="713232" y="421538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38" name="Shape 36"/>
          <p:cNvSpPr/>
          <p:nvPr/>
        </p:nvSpPr>
        <p:spPr>
          <a:xfrm>
            <a:off x="2926080" y="4336542"/>
            <a:ext cx="883920" cy="242316"/>
          </a:xfrm>
          <a:prstGeom prst="rect">
            <a:avLst/>
          </a:prstGeom>
          <a:solidFill>
            <a:srgbClr val="12A566"/>
          </a:solidFill>
          <a:ln/>
        </p:spPr>
      </p:sp>
      <p:sp>
        <p:nvSpPr>
          <p:cNvPr id="39" name="Text 37"/>
          <p:cNvSpPr txBox="1"/>
          <p:nvPr/>
        </p:nvSpPr>
        <p:spPr>
          <a:xfrm>
            <a:off x="5486400" y="421538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0" name="Text 38"/>
          <p:cNvSpPr txBox="1"/>
          <p:nvPr/>
        </p:nvSpPr>
        <p:spPr>
          <a:xfrm>
            <a:off x="617220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1" name="Text 39"/>
          <p:cNvSpPr txBox="1"/>
          <p:nvPr/>
        </p:nvSpPr>
        <p:spPr>
          <a:xfrm>
            <a:off x="882396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2" name="Shape 40"/>
          <p:cNvSpPr/>
          <p:nvPr/>
        </p:nvSpPr>
        <p:spPr>
          <a:xfrm>
            <a:off x="621792" y="4700016"/>
            <a:ext cx="10945368" cy="484632"/>
          </a:xfrm>
          <a:prstGeom prst="rect">
            <a:avLst/>
          </a:prstGeom>
          <a:solidFill>
            <a:srgbClr val="F7F7F7"/>
          </a:solidFill>
          <a:ln/>
        </p:spPr>
      </p:sp>
      <p:sp>
        <p:nvSpPr>
          <p:cNvPr id="43" name="Text 41"/>
          <p:cNvSpPr txBox="1"/>
          <p:nvPr/>
        </p:nvSpPr>
        <p:spPr>
          <a:xfrm>
            <a:off x="713232" y="470001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44" name="Shape 42"/>
          <p:cNvSpPr/>
          <p:nvPr/>
        </p:nvSpPr>
        <p:spPr>
          <a:xfrm>
            <a:off x="2926080" y="4821174"/>
            <a:ext cx="883920" cy="242316"/>
          </a:xfrm>
          <a:prstGeom prst="rect">
            <a:avLst/>
          </a:prstGeom>
          <a:solidFill>
            <a:srgbClr val="12A566"/>
          </a:solidFill>
          <a:ln/>
        </p:spPr>
      </p:sp>
      <p:sp>
        <p:nvSpPr>
          <p:cNvPr id="45" name="Text 43"/>
          <p:cNvSpPr txBox="1"/>
          <p:nvPr/>
        </p:nvSpPr>
        <p:spPr>
          <a:xfrm>
            <a:off x="5486400" y="470001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6" name="Text 44"/>
          <p:cNvSpPr txBox="1"/>
          <p:nvPr/>
        </p:nvSpPr>
        <p:spPr>
          <a:xfrm>
            <a:off x="617220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7" name="Text 45"/>
          <p:cNvSpPr txBox="1"/>
          <p:nvPr/>
        </p:nvSpPr>
        <p:spPr>
          <a:xfrm>
            <a:off x="882396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8" name="Text 46"/>
          <p:cNvSpPr txBox="1"/>
          <p:nvPr/>
        </p:nvSpPr>
        <p:spPr>
          <a:xfrm>
            <a:off x="713232" y="518464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49" name="Shape 47"/>
          <p:cNvSpPr/>
          <p:nvPr/>
        </p:nvSpPr>
        <p:spPr>
          <a:xfrm>
            <a:off x="2926080" y="5305806"/>
            <a:ext cx="883920" cy="242316"/>
          </a:xfrm>
          <a:prstGeom prst="rect">
            <a:avLst/>
          </a:prstGeom>
          <a:solidFill>
            <a:srgbClr val="12A566"/>
          </a:solidFill>
          <a:ln/>
        </p:spPr>
      </p:sp>
      <p:sp>
        <p:nvSpPr>
          <p:cNvPr id="50" name="Text 48"/>
          <p:cNvSpPr txBox="1"/>
          <p:nvPr/>
        </p:nvSpPr>
        <p:spPr>
          <a:xfrm>
            <a:off x="5486400" y="518464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51" name="Text 49"/>
          <p:cNvSpPr txBox="1"/>
          <p:nvPr/>
        </p:nvSpPr>
        <p:spPr>
          <a:xfrm>
            <a:off x="617220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2" name="Text 50"/>
          <p:cNvSpPr txBox="1"/>
          <p:nvPr/>
        </p:nvSpPr>
        <p:spPr>
          <a:xfrm>
            <a:off x="882396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3" name="Shape 51"/>
          <p:cNvSpPr/>
          <p:nvPr/>
        </p:nvSpPr>
        <p:spPr>
          <a:xfrm>
            <a:off x="457200" y="6126480"/>
            <a:ext cx="11274552" cy="371856"/>
          </a:xfrm>
          <a:prstGeom prst="rect">
            <a:avLst/>
          </a:prstGeom>
          <a:solidFill>
            <a:srgbClr val="E6F6EE"/>
          </a:solidFill>
          <a:ln/>
        </p:spPr>
      </p:sp>
      <p:sp>
        <p:nvSpPr>
          <p:cNvPr id="54" name="Text 5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has 6 top-3 finishes of 12. 8 stores make a top-3 list in both periods.</a:t>
            </a:r>
            <a:endParaRPr lang="en-US" sz="1600" dirty="0"/>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Gross</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+6.4% · 27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+46.0%</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Shape 16"/>
          <p:cNvSpPr/>
          <p:nvPr/>
        </p:nvSpPr>
        <p:spPr>
          <a:xfrm>
            <a:off x="3383280" y="3127248"/>
            <a:ext cx="126095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4" name="Shape 22"/>
          <p:cNvSpPr/>
          <p:nvPr/>
        </p:nvSpPr>
        <p:spPr>
          <a:xfrm>
            <a:off x="3383280" y="3785616"/>
            <a:ext cx="939340"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+33.8%</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$657K → $862K</a:t>
            </a:r>
            <a:endParaRPr lang="en-US" sz="1300" dirty="0"/>
          </a:p>
        </p:txBody>
      </p:sp>
      <p:sp>
        <p:nvSpPr>
          <p:cNvPr id="29" name="Shape 27"/>
          <p:cNvSpPr/>
          <p:nvPr/>
        </p:nvSpPr>
        <p:spPr>
          <a:xfrm>
            <a:off x="3383280" y="4443984"/>
            <a:ext cx="862566"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+31.0%</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$1.63M → $2.10M</a:t>
            </a:r>
            <a:endParaRPr lang="en-US" sz="1300" dirty="0"/>
          </a:p>
        </p:txBody>
      </p:sp>
      <p:sp>
        <p:nvSpPr>
          <p:cNvPr id="35" name="Shape 33"/>
          <p:cNvSpPr/>
          <p:nvPr/>
        </p:nvSpPr>
        <p:spPr>
          <a:xfrm>
            <a:off x="3383280" y="5102352"/>
            <a:ext cx="80027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+8.4% · 29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+72.1%</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50" name="Shape 48"/>
          <p:cNvSpPr/>
          <p:nvPr/>
        </p:nvSpPr>
        <p:spPr>
          <a:xfrm>
            <a:off x="9098280" y="3127248"/>
            <a:ext cx="738338"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+41.5%</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56" name="Shape 54"/>
          <p:cNvSpPr/>
          <p:nvPr/>
        </p:nvSpPr>
        <p:spPr>
          <a:xfrm>
            <a:off x="9098280" y="3785616"/>
            <a:ext cx="72918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+41.0%</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$268K → $358K</a:t>
            </a:r>
            <a:endParaRPr lang="en-US" sz="1300" dirty="0"/>
          </a:p>
        </p:txBody>
      </p:sp>
      <p:sp>
        <p:nvSpPr>
          <p:cNvPr id="61" name="Shape 59"/>
          <p:cNvSpPr/>
          <p:nvPr/>
        </p:nvSpPr>
        <p:spPr>
          <a:xfrm>
            <a:off x="9098280" y="4443984"/>
            <a:ext cx="592350"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+33.3%</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$473K → $626K</a:t>
            </a:r>
            <a:endParaRPr lang="en-US" sz="1300" dirty="0"/>
          </a:p>
        </p:txBody>
      </p:sp>
      <p:sp>
        <p:nvSpPr>
          <p:cNvPr id="67" name="Shape 65"/>
          <p:cNvSpPr/>
          <p:nvPr/>
        </p:nvSpPr>
        <p:spPr>
          <a:xfrm>
            <a:off x="9098280" y="5102352"/>
            <a:ext cx="57469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+32.3%</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RO Count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+0.1% · 20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+13.6%</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18" name="Shape 16"/>
          <p:cNvSpPr/>
          <p:nvPr/>
        </p:nvSpPr>
        <p:spPr>
          <a:xfrm>
            <a:off x="3383280" y="3127248"/>
            <a:ext cx="118782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+12.6%</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24" name="Shape 22"/>
          <p:cNvSpPr/>
          <p:nvPr/>
        </p:nvSpPr>
        <p:spPr>
          <a:xfrm>
            <a:off x="3383280" y="3785616"/>
            <a:ext cx="9910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+10.5%</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5,042 → 5,553</a:t>
            </a:r>
            <a:endParaRPr lang="en-US" sz="1300" dirty="0"/>
          </a:p>
        </p:txBody>
      </p:sp>
      <p:sp>
        <p:nvSpPr>
          <p:cNvPr id="29" name="Shape 27"/>
          <p:cNvSpPr/>
          <p:nvPr/>
        </p:nvSpPr>
        <p:spPr>
          <a:xfrm>
            <a:off x="3383280" y="4443984"/>
            <a:ext cx="95029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+10.1%</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1,303 → 1,421</a:t>
            </a:r>
            <a:endParaRPr lang="en-US" sz="1300" dirty="0"/>
          </a:p>
        </p:txBody>
      </p:sp>
      <p:sp>
        <p:nvSpPr>
          <p:cNvPr id="35" name="Shape 33"/>
          <p:cNvSpPr/>
          <p:nvPr/>
        </p:nvSpPr>
        <p:spPr>
          <a:xfrm>
            <a:off x="3383280" y="5102352"/>
            <a:ext cx="84913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+9.0%</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+2.0% · 20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+20.4%</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50" name="Shape 48"/>
          <p:cNvSpPr/>
          <p:nvPr/>
        </p:nvSpPr>
        <p:spPr>
          <a:xfrm>
            <a:off x="9098280" y="3127248"/>
            <a:ext cx="1205264"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+19.2%</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56" name="Shape 54"/>
          <p:cNvSpPr/>
          <p:nvPr/>
        </p:nvSpPr>
        <p:spPr>
          <a:xfrm>
            <a:off x="9098280" y="3785616"/>
            <a:ext cx="1091864"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+17.4%</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AUDI HENDERSON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1,144 → 1,304</a:t>
            </a:r>
            <a:endParaRPr lang="en-US" sz="1300" dirty="0"/>
          </a:p>
        </p:txBody>
      </p:sp>
      <p:sp>
        <p:nvSpPr>
          <p:cNvPr id="61" name="Shape 59"/>
          <p:cNvSpPr/>
          <p:nvPr/>
        </p:nvSpPr>
        <p:spPr>
          <a:xfrm>
            <a:off x="9098280" y="4443984"/>
            <a:ext cx="87580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+13.9%</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2,374 → 2,700</a:t>
            </a:r>
            <a:endParaRPr lang="en-US" sz="1300" dirty="0"/>
          </a:p>
        </p:txBody>
      </p:sp>
      <p:sp>
        <p:nvSpPr>
          <p:cNvPr id="67" name="Shape 65"/>
          <p:cNvSpPr/>
          <p:nvPr/>
        </p:nvSpPr>
        <p:spPr>
          <a:xfrm>
            <a:off x="9098280" y="5102352"/>
            <a:ext cx="859902"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+13.7%</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Kia LV leads Jan–Sep; LR Reno leads the last 90 days. Three stores are top five in both.</a:t>
            </a:r>
            <a:endParaRPr lang="en-US" sz="1600" dirty="0"/>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Hours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+3.6% · 26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+39.1%</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18" name="Shape 16"/>
          <p:cNvSpPr/>
          <p:nvPr/>
        </p:nvSpPr>
        <p:spPr>
          <a:xfrm>
            <a:off x="3383280" y="3127248"/>
            <a:ext cx="102382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24" name="Shape 22"/>
          <p:cNvSpPr/>
          <p:nvPr/>
        </p:nvSpPr>
        <p:spPr>
          <a:xfrm>
            <a:off x="3383280" y="3785616"/>
            <a:ext cx="1005399"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+30.7%</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 → 1.60</a:t>
            </a:r>
            <a:endParaRPr lang="en-US" sz="1300" dirty="0"/>
          </a:p>
        </p:txBody>
      </p:sp>
      <p:sp>
        <p:nvSpPr>
          <p:cNvPr id="29" name="Shape 27"/>
          <p:cNvSpPr/>
          <p:nvPr/>
        </p:nvSpPr>
        <p:spPr>
          <a:xfrm>
            <a:off x="3383280" y="4443984"/>
            <a:ext cx="6405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+19.5%</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1.32 → 1.57</a:t>
            </a:r>
            <a:endParaRPr lang="en-US" sz="1300" dirty="0"/>
          </a:p>
        </p:txBody>
      </p:sp>
      <p:sp>
        <p:nvSpPr>
          <p:cNvPr id="35" name="Shape 33"/>
          <p:cNvSpPr/>
          <p:nvPr/>
        </p:nvSpPr>
        <p:spPr>
          <a:xfrm>
            <a:off x="3383280" y="5102352"/>
            <a:ext cx="612671"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+3.1% · 23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+44.7%</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Shape 48"/>
          <p:cNvSpPr/>
          <p:nvPr/>
        </p:nvSpPr>
        <p:spPr>
          <a:xfrm>
            <a:off x="9098280" y="3127248"/>
            <a:ext cx="1177847"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+41.1%</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6" name="Shape 54"/>
          <p:cNvSpPr/>
          <p:nvPr/>
        </p:nvSpPr>
        <p:spPr>
          <a:xfrm>
            <a:off x="9098280" y="3785616"/>
            <a:ext cx="78850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+27.5%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3.39 → 4.07</a:t>
            </a:r>
            <a:endParaRPr lang="en-US" sz="1300" dirty="0"/>
          </a:p>
        </p:txBody>
      </p:sp>
      <p:sp>
        <p:nvSpPr>
          <p:cNvPr id="61" name="Shape 59"/>
          <p:cNvSpPr/>
          <p:nvPr/>
        </p:nvSpPr>
        <p:spPr>
          <a:xfrm>
            <a:off x="9098280" y="4443984"/>
            <a:ext cx="576271"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2.07 → 2.44</a:t>
            </a:r>
            <a:endParaRPr lang="en-US" sz="1300" dirty="0"/>
          </a:p>
        </p:txBody>
      </p:sp>
      <p:sp>
        <p:nvSpPr>
          <p:cNvPr id="67" name="Shape 65"/>
          <p:cNvSpPr/>
          <p:nvPr/>
        </p:nvSpPr>
        <p:spPr>
          <a:xfrm>
            <a:off x="9098280" y="5102352"/>
            <a:ext cx="50434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Hyundai St George leads both periods. Hyundai St George and Kia St George are top five in both.</a:t>
            </a:r>
            <a:endParaRPr lang="en-US" sz="1600" dirty="0"/>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ELR</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+2.2% · 19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18" name="Shape 16"/>
          <p:cNvSpPr/>
          <p:nvPr/>
        </p:nvSpPr>
        <p:spPr>
          <a:xfrm>
            <a:off x="3383280" y="3127248"/>
            <a:ext cx="1246113"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24" name="Shape 22"/>
          <p:cNvSpPr/>
          <p:nvPr/>
        </p:nvSpPr>
        <p:spPr>
          <a:xfrm>
            <a:off x="3383280" y="3785616"/>
            <a:ext cx="1123401"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$153.87 → $175.90</a:t>
            </a:r>
            <a:endParaRPr lang="en-US" sz="1300" dirty="0"/>
          </a:p>
        </p:txBody>
      </p:sp>
      <p:sp>
        <p:nvSpPr>
          <p:cNvPr id="29" name="Shape 27"/>
          <p:cNvSpPr/>
          <p:nvPr/>
        </p:nvSpPr>
        <p:spPr>
          <a:xfrm>
            <a:off x="3383280" y="4443984"/>
            <a:ext cx="7990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+14.3%</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$122.25 → $139.13</a:t>
            </a:r>
            <a:endParaRPr lang="en-US" sz="1300" dirty="0"/>
          </a:p>
        </p:txBody>
      </p:sp>
      <p:sp>
        <p:nvSpPr>
          <p:cNvPr id="35" name="Shape 33"/>
          <p:cNvSpPr/>
          <p:nvPr/>
        </p:nvSpPr>
        <p:spPr>
          <a:xfrm>
            <a:off x="3383280" y="5102352"/>
            <a:ext cx="770788"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+2.5% · 22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+23.9%</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50" name="Shape 48"/>
          <p:cNvSpPr/>
          <p:nvPr/>
        </p:nvSpPr>
        <p:spPr>
          <a:xfrm>
            <a:off x="9098280" y="3127248"/>
            <a:ext cx="1244425"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+23.3%</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56" name="Shape 54"/>
          <p:cNvSpPr/>
          <p:nvPr/>
        </p:nvSpPr>
        <p:spPr>
          <a:xfrm>
            <a:off x="9098280" y="3785616"/>
            <a:ext cx="1205012"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$160.07 → $180.14</a:t>
            </a:r>
            <a:endParaRPr lang="en-US" sz="1300" dirty="0"/>
          </a:p>
        </p:txBody>
      </p:sp>
      <p:sp>
        <p:nvSpPr>
          <p:cNvPr id="61" name="Shape 59"/>
          <p:cNvSpPr/>
          <p:nvPr/>
        </p:nvSpPr>
        <p:spPr>
          <a:xfrm>
            <a:off x="9098280" y="4443984"/>
            <a:ext cx="669135"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+12.5%</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$125.74 → $139.81</a:t>
            </a:r>
            <a:endParaRPr lang="en-US" sz="1300" dirty="0"/>
          </a:p>
        </p:txBody>
      </p:sp>
      <p:sp>
        <p:nvSpPr>
          <p:cNvPr id="67" name="Shape 65"/>
          <p:cNvSpPr/>
          <p:nvPr/>
        </p:nvSpPr>
        <p:spPr>
          <a:xfrm>
            <a:off x="9098280" y="5102352"/>
            <a:ext cx="596701"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+11.1%</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Honda Spokane leads Jan–Sep; Lincoln leads the last 90 days. Five stores are top five in both.</a:t>
            </a:r>
            <a:endParaRPr lang="en-US" sz="1600" dirty="0"/>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+4.1% · 24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18" name="Shape 16"/>
          <p:cNvSpPr/>
          <p:nvPr/>
        </p:nvSpPr>
        <p:spPr>
          <a:xfrm>
            <a:off x="3383280" y="3127248"/>
            <a:ext cx="109553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+24.7%</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24" name="Shape 22"/>
          <p:cNvSpPr/>
          <p:nvPr/>
        </p:nvSpPr>
        <p:spPr>
          <a:xfrm>
            <a:off x="3383280" y="3785616"/>
            <a:ext cx="9305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+21.0%</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$179 → $212</a:t>
            </a:r>
            <a:endParaRPr lang="en-US" sz="1300" dirty="0"/>
          </a:p>
        </p:txBody>
      </p:sp>
      <p:sp>
        <p:nvSpPr>
          <p:cNvPr id="29" name="Shape 27"/>
          <p:cNvSpPr/>
          <p:nvPr/>
        </p:nvSpPr>
        <p:spPr>
          <a:xfrm>
            <a:off x="3383280" y="4443984"/>
            <a:ext cx="829801"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$238 → $280</a:t>
            </a:r>
            <a:endParaRPr lang="en-US" sz="1300" dirty="0"/>
          </a:p>
        </p:txBody>
      </p:sp>
      <p:sp>
        <p:nvSpPr>
          <p:cNvPr id="35" name="Shape 33"/>
          <p:cNvSpPr/>
          <p:nvPr/>
        </p:nvSpPr>
        <p:spPr>
          <a:xfrm>
            <a:off x="3383280" y="5102352"/>
            <a:ext cx="78160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+3.8% · 24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+40.0%</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50" name="Shape 48"/>
          <p:cNvSpPr/>
          <p:nvPr/>
        </p:nvSpPr>
        <p:spPr>
          <a:xfrm>
            <a:off x="9098280" y="3127248"/>
            <a:ext cx="919791"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+28.7%</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HENDERSON</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56" name="Shape 54"/>
          <p:cNvSpPr/>
          <p:nvPr/>
        </p:nvSpPr>
        <p:spPr>
          <a:xfrm>
            <a:off x="9098280" y="3785616"/>
            <a:ext cx="786898"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+24.6%</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$234 → $285</a:t>
            </a:r>
            <a:endParaRPr lang="en-US" sz="1300" dirty="0"/>
          </a:p>
        </p:txBody>
      </p:sp>
      <p:sp>
        <p:nvSpPr>
          <p:cNvPr id="61" name="Shape 59"/>
          <p:cNvSpPr/>
          <p:nvPr/>
        </p:nvSpPr>
        <p:spPr>
          <a:xfrm>
            <a:off x="9098280" y="4443984"/>
            <a:ext cx="69781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+21.8%</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$197 → $234</a:t>
            </a:r>
            <a:endParaRPr lang="en-US" sz="1300" dirty="0"/>
          </a:p>
        </p:txBody>
      </p:sp>
      <p:sp>
        <p:nvSpPr>
          <p:cNvPr id="67" name="Shape 65"/>
          <p:cNvSpPr/>
          <p:nvPr/>
        </p:nvSpPr>
        <p:spPr>
          <a:xfrm>
            <a:off x="9098280" y="5102352"/>
            <a:ext cx="597749"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GP %</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28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+6.1 pts</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18" name="Shape 16"/>
          <p:cNvSpPr/>
          <p:nvPr/>
        </p:nvSpPr>
        <p:spPr>
          <a:xfrm>
            <a:off x="3383280" y="3127248"/>
            <a:ext cx="943982"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 pts</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24" name="Shape 22"/>
          <p:cNvSpPr/>
          <p:nvPr/>
        </p:nvSpPr>
        <p:spPr>
          <a:xfrm>
            <a:off x="3383280" y="3785616"/>
            <a:ext cx="796646"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33.7% → 37.0%</a:t>
            </a:r>
            <a:endParaRPr lang="en-US" sz="1300" dirty="0"/>
          </a:p>
        </p:txBody>
      </p:sp>
      <p:sp>
        <p:nvSpPr>
          <p:cNvPr id="29" name="Shape 27"/>
          <p:cNvSpPr/>
          <p:nvPr/>
        </p:nvSpPr>
        <p:spPr>
          <a:xfrm>
            <a:off x="3383280" y="4443984"/>
            <a:ext cx="692935"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41.3% → 44.6%</a:t>
            </a:r>
            <a:endParaRPr lang="en-US" sz="1300" dirty="0"/>
          </a:p>
        </p:txBody>
      </p:sp>
      <p:sp>
        <p:nvSpPr>
          <p:cNvPr id="35" name="Shape 33"/>
          <p:cNvSpPr/>
          <p:nvPr/>
        </p:nvSpPr>
        <p:spPr>
          <a:xfrm>
            <a:off x="3383280" y="5102352"/>
            <a:ext cx="68768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 pts</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27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+7.7 pts</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50" name="Shape 48"/>
          <p:cNvSpPr/>
          <p:nvPr/>
        </p:nvSpPr>
        <p:spPr>
          <a:xfrm>
            <a:off x="9098280" y="3127248"/>
            <a:ext cx="686566"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 pts</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56" name="Shape 54"/>
          <p:cNvSpPr/>
          <p:nvPr/>
        </p:nvSpPr>
        <p:spPr>
          <a:xfrm>
            <a:off x="9098280" y="3785616"/>
            <a:ext cx="670906"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 pts</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34.9%</a:t>
            </a:r>
            <a:endParaRPr lang="en-US" sz="1300" dirty="0"/>
          </a:p>
        </p:txBody>
      </p:sp>
      <p:sp>
        <p:nvSpPr>
          <p:cNvPr id="61" name="Shape 59"/>
          <p:cNvSpPr/>
          <p:nvPr/>
        </p:nvSpPr>
        <p:spPr>
          <a:xfrm>
            <a:off x="9098280" y="4443984"/>
            <a:ext cx="632324"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39.3% → 42.6%</a:t>
            </a:r>
            <a:endParaRPr lang="en-US" sz="1300" dirty="0"/>
          </a:p>
        </p:txBody>
      </p:sp>
      <p:sp>
        <p:nvSpPr>
          <p:cNvPr id="67" name="Shape 65"/>
          <p:cNvSpPr/>
          <p:nvPr/>
        </p:nvSpPr>
        <p:spPr>
          <a:xfrm>
            <a:off x="9098280" y="5102352"/>
            <a:ext cx="546860"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leads both periods. Acura and Subaru Prescott are top five in both.</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2026-10-23T19:18:44Z</dcterms:created>
  <dcterms:modified xsi:type="dcterms:W3CDTF">2026-10-23T19:18:44Z</dcterms:modified>
</cp:coreProperties>
</file>