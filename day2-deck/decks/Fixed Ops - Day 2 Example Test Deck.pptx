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58" r:id="rId4"/>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59" r:id="rId5"/>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260" r:id="rId6"/>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261" r:id="rId7"/>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262" r:id="rId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263" r:id="rId9"/>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264" r:id="rId10"/>
    <p:sldId id="398" r:id="rId149"/>
    <p:sldId id="399" r:id="rId150"/>
    <p:sldId id="400" r:id="rId151"/>
    <p:sldId id="401" r:id="rId152"/>
    <p:sldId id="402" r:id="rId153"/>
    <p:sldId id="403" r:id="rId154"/>
    <p:sldId id="404" r:id="rId155"/>
    <p:sldId id="405" r:id="rId156"/>
    <p:sldId id="406" r:id="rId157"/>
    <p:sldId id="265" r:id="rId11"/>
    <p:sldId id="407" r:id="rId158"/>
    <p:sldId id="408" r:id="rId159"/>
    <p:sldId id="409" r:id="rId160"/>
    <p:sldId id="410" r:id="rId161"/>
    <p:sldId id="411" r:id="rId162"/>
    <p:sldId id="412" r:id="rId163"/>
    <p:sldId id="266" r:id="rId12"/>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12951</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 Fixed Expenses line by account class, every department of the store; categories reconcile to the line to the cent ($242,850,782).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express visits and a complete MPI go hand in hand).</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by close month; 2025 shown January-December, 2026 January-September. Warranty ELR = warranty labor sale / warranty hours sold; parts margin = warranty parts gross / parts sale. Same-store, INEOS excluded; GMC Prescott body shop labor types excluded.Talk track (Noah, Oct 24): the point is the direction. Rate increases are lifting both warranty ELR and warranty parts margin. The factory notices higher rates: more money in means more scrutiny, so documentation and process on every claim have to be right. Store detail for warranty ELR is no longer in the flow.</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$50.19M</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department profit. New, used, F&amp;I and the rest of the store together: $32.05M.</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Adding that same $1 through sales takes about $6.89 of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in this deck: ROs, hours, ELR,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policy and comebacks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296063"/>
          </a:xfrm>
          <a:prstGeom prst="rect">
            <a:avLst/>
          </a:prstGeom>
          <a:solidFill>
            <a:srgbClr val="2587C5"/>
          </a:solidFill>
          <a:ln/>
        </p:spPr>
      </p:sp>
      <p:sp>
        <p:nvSpPr>
          <p:cNvPr id="19" name="Text 17"/>
          <p:cNvSpPr txBox="1"/>
          <p:nvPr/>
        </p:nvSpPr>
        <p:spPr>
          <a:xfrm>
            <a:off x="5266944"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296063"/>
          </a:xfrm>
          <a:prstGeom prst="rect">
            <a:avLst/>
          </a:prstGeom>
          <a:solidFill>
            <a:srgbClr val="2587C5"/>
          </a:solidFill>
          <a:ln/>
        </p:spPr>
      </p:sp>
      <p:sp>
        <p:nvSpPr>
          <p:cNvPr id="21" name="Text 19"/>
          <p:cNvSpPr txBox="1"/>
          <p:nvPr/>
        </p:nvSpPr>
        <p:spPr>
          <a:xfrm>
            <a:off x="8522208"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department's people, rent and systems, carried whether or not a car sells</a:t>
            </a:r>
            <a:endParaRPr lang="en-US" sz="1400" dirty="0"/>
          </a:p>
        </p:txBody>
      </p:sp>
      <p:sp>
        <p:nvSpPr>
          <p:cNvPr id="22" name="Shape 20"/>
          <p:cNvSpPr/>
          <p:nvPr/>
        </p:nvSpPr>
        <p:spPr>
          <a:xfrm>
            <a:off x="5138928" y="4816503"/>
            <a:ext cx="45720" cy="971649"/>
          </a:xfrm>
          <a:prstGeom prst="rect">
            <a:avLst/>
          </a:prstGeom>
          <a:solidFill>
            <a:srgbClr val="2587C5"/>
          </a:solidFill>
          <a:ln/>
        </p:spPr>
      </p:sp>
      <p:sp>
        <p:nvSpPr>
          <p:cNvPr id="23" name="Text 21"/>
          <p:cNvSpPr txBox="1"/>
          <p:nvPr/>
        </p:nvSpPr>
        <p:spPr>
          <a:xfrm>
            <a:off x="5266944"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816503"/>
            <a:ext cx="45720" cy="971649"/>
          </a:xfrm>
          <a:prstGeom prst="rect">
            <a:avLst/>
          </a:prstGeom>
          <a:solidFill>
            <a:srgbClr val="2587C5"/>
          </a:solidFill>
          <a:ln/>
        </p:spPr>
      </p:sp>
      <p:sp>
        <p:nvSpPr>
          <p:cNvPr id="25" name="Text 23"/>
          <p:cNvSpPr txBox="1"/>
          <p:nvPr/>
        </p:nvSpPr>
        <p:spPr>
          <a:xfrm>
            <a:off x="8522208"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in 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81304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9943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6345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4984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 name="Shape 12"/>
          <p:cNvSpPr/>
          <p:nvPr/>
        </p:nvSpPr>
        <p:spPr>
          <a:xfrm>
            <a:off x="2871216" y="1756697"/>
            <a:ext cx="886968" cy="136676"/>
          </a:xfrm>
          <a:prstGeom prst="rect">
            <a:avLst/>
          </a:prstGeom>
          <a:solidFill>
            <a:srgbClr val="2587C5"/>
          </a:solidFill>
          <a:ln/>
        </p:spPr>
      </p:sp>
      <p:sp>
        <p:nvSpPr>
          <p:cNvPr id="15" name="Text 13"/>
          <p:cNvSpPr txBox="1"/>
          <p:nvPr/>
        </p:nvSpPr>
        <p:spPr>
          <a:xfrm>
            <a:off x="381304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6" name="Text 14"/>
          <p:cNvSpPr txBox="1"/>
          <p:nvPr/>
        </p:nvSpPr>
        <p:spPr>
          <a:xfrm>
            <a:off x="459943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0" name="Shape 18"/>
          <p:cNvSpPr/>
          <p:nvPr/>
        </p:nvSpPr>
        <p:spPr>
          <a:xfrm>
            <a:off x="2871216" y="2005199"/>
            <a:ext cx="692398" cy="136676"/>
          </a:xfrm>
          <a:prstGeom prst="rect">
            <a:avLst/>
          </a:prstGeom>
          <a:solidFill>
            <a:srgbClr val="2587C5"/>
          </a:solidFill>
          <a:ln/>
        </p:spPr>
      </p:sp>
      <p:sp>
        <p:nvSpPr>
          <p:cNvPr id="21" name="Text 19"/>
          <p:cNvSpPr txBox="1"/>
          <p:nvPr/>
        </p:nvSpPr>
        <p:spPr>
          <a:xfrm>
            <a:off x="381304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2" name="Text 20"/>
          <p:cNvSpPr txBox="1"/>
          <p:nvPr/>
        </p:nvSpPr>
        <p:spPr>
          <a:xfrm>
            <a:off x="459943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871216" y="2253700"/>
            <a:ext cx="581679" cy="136676"/>
          </a:xfrm>
          <a:prstGeom prst="rect">
            <a:avLst/>
          </a:prstGeom>
          <a:solidFill>
            <a:srgbClr val="2587C5"/>
          </a:solidFill>
          <a:ln/>
        </p:spPr>
      </p:sp>
      <p:sp>
        <p:nvSpPr>
          <p:cNvPr id="27" name="Text 25"/>
          <p:cNvSpPr txBox="1"/>
          <p:nvPr/>
        </p:nvSpPr>
        <p:spPr>
          <a:xfrm>
            <a:off x="381304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8" name="Text 26"/>
          <p:cNvSpPr txBox="1"/>
          <p:nvPr/>
        </p:nvSpPr>
        <p:spPr>
          <a:xfrm>
            <a:off x="459943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558837" cy="136676"/>
          </a:xfrm>
          <a:prstGeom prst="rect">
            <a:avLst/>
          </a:prstGeom>
          <a:solidFill>
            <a:srgbClr val="2587C5"/>
          </a:solidFill>
          <a:ln/>
        </p:spPr>
      </p:sp>
      <p:sp>
        <p:nvSpPr>
          <p:cNvPr id="33" name="Text 31"/>
          <p:cNvSpPr txBox="1"/>
          <p:nvPr/>
        </p:nvSpPr>
        <p:spPr>
          <a:xfrm>
            <a:off x="381304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4" name="Text 32"/>
          <p:cNvSpPr txBox="1"/>
          <p:nvPr/>
        </p:nvSpPr>
        <p:spPr>
          <a:xfrm>
            <a:off x="459943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8" name="Shape 36"/>
          <p:cNvSpPr/>
          <p:nvPr/>
        </p:nvSpPr>
        <p:spPr>
          <a:xfrm>
            <a:off x="2871216" y="2750703"/>
            <a:ext cx="510915" cy="136676"/>
          </a:xfrm>
          <a:prstGeom prst="rect">
            <a:avLst/>
          </a:prstGeom>
          <a:solidFill>
            <a:srgbClr val="2587C5"/>
          </a:solidFill>
          <a:ln/>
        </p:spPr>
      </p:sp>
      <p:sp>
        <p:nvSpPr>
          <p:cNvPr id="39" name="Text 37"/>
          <p:cNvSpPr txBox="1"/>
          <p:nvPr/>
        </p:nvSpPr>
        <p:spPr>
          <a:xfrm>
            <a:off x="381304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40" name="Text 38"/>
          <p:cNvSpPr txBox="1"/>
          <p:nvPr/>
        </p:nvSpPr>
        <p:spPr>
          <a:xfrm>
            <a:off x="459943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44" name="Shape 42"/>
          <p:cNvSpPr/>
          <p:nvPr/>
        </p:nvSpPr>
        <p:spPr>
          <a:xfrm>
            <a:off x="2871216" y="2999205"/>
            <a:ext cx="467039" cy="136676"/>
          </a:xfrm>
          <a:prstGeom prst="rect">
            <a:avLst/>
          </a:prstGeom>
          <a:solidFill>
            <a:srgbClr val="2587C5"/>
          </a:solidFill>
          <a:ln/>
        </p:spPr>
      </p:sp>
      <p:sp>
        <p:nvSpPr>
          <p:cNvPr id="45" name="Text 43"/>
          <p:cNvSpPr txBox="1"/>
          <p:nvPr/>
        </p:nvSpPr>
        <p:spPr>
          <a:xfrm>
            <a:off x="381304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6" name="Text 44"/>
          <p:cNvSpPr txBox="1"/>
          <p:nvPr/>
        </p:nvSpPr>
        <p:spPr>
          <a:xfrm>
            <a:off x="459943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0" name="Shape 48"/>
          <p:cNvSpPr/>
          <p:nvPr/>
        </p:nvSpPr>
        <p:spPr>
          <a:xfrm>
            <a:off x="2871216" y="3247707"/>
            <a:ext cx="334545" cy="136676"/>
          </a:xfrm>
          <a:prstGeom prst="rect">
            <a:avLst/>
          </a:prstGeom>
          <a:solidFill>
            <a:srgbClr val="2587C5"/>
          </a:solidFill>
          <a:ln/>
        </p:spPr>
      </p:sp>
      <p:sp>
        <p:nvSpPr>
          <p:cNvPr id="51" name="Text 49"/>
          <p:cNvSpPr txBox="1"/>
          <p:nvPr/>
        </p:nvSpPr>
        <p:spPr>
          <a:xfrm>
            <a:off x="381304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459943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6" name="Shape 54"/>
          <p:cNvSpPr/>
          <p:nvPr/>
        </p:nvSpPr>
        <p:spPr>
          <a:xfrm>
            <a:off x="2871216" y="3496208"/>
            <a:ext cx="333005" cy="136676"/>
          </a:xfrm>
          <a:prstGeom prst="rect">
            <a:avLst/>
          </a:prstGeom>
          <a:solidFill>
            <a:srgbClr val="2587C5"/>
          </a:solidFill>
          <a:ln/>
        </p:spPr>
      </p:sp>
      <p:sp>
        <p:nvSpPr>
          <p:cNvPr id="57" name="Text 55"/>
          <p:cNvSpPr txBox="1"/>
          <p:nvPr/>
        </p:nvSpPr>
        <p:spPr>
          <a:xfrm>
            <a:off x="381304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8" name="Text 56"/>
          <p:cNvSpPr txBox="1"/>
          <p:nvPr/>
        </p:nvSpPr>
        <p:spPr>
          <a:xfrm>
            <a:off x="459943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2" name="Shape 60"/>
          <p:cNvSpPr/>
          <p:nvPr/>
        </p:nvSpPr>
        <p:spPr>
          <a:xfrm>
            <a:off x="2871216" y="3744710"/>
            <a:ext cx="312594" cy="136676"/>
          </a:xfrm>
          <a:prstGeom prst="rect">
            <a:avLst/>
          </a:prstGeom>
          <a:solidFill>
            <a:srgbClr val="2587C5"/>
          </a:solidFill>
          <a:ln/>
        </p:spPr>
      </p:sp>
      <p:sp>
        <p:nvSpPr>
          <p:cNvPr id="63" name="Text 61"/>
          <p:cNvSpPr txBox="1"/>
          <p:nvPr/>
        </p:nvSpPr>
        <p:spPr>
          <a:xfrm>
            <a:off x="381304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64" name="Text 62"/>
          <p:cNvSpPr txBox="1"/>
          <p:nvPr/>
        </p:nvSpPr>
        <p:spPr>
          <a:xfrm>
            <a:off x="459943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2871216" y="3993212"/>
            <a:ext cx="302272" cy="136676"/>
          </a:xfrm>
          <a:prstGeom prst="rect">
            <a:avLst/>
          </a:prstGeom>
          <a:solidFill>
            <a:srgbClr val="2587C5"/>
          </a:solidFill>
          <a:ln/>
        </p:spPr>
      </p:sp>
      <p:sp>
        <p:nvSpPr>
          <p:cNvPr id="69" name="Text 67"/>
          <p:cNvSpPr txBox="1"/>
          <p:nvPr/>
        </p:nvSpPr>
        <p:spPr>
          <a:xfrm>
            <a:off x="381304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70" name="Text 68"/>
          <p:cNvSpPr txBox="1"/>
          <p:nvPr/>
        </p:nvSpPr>
        <p:spPr>
          <a:xfrm>
            <a:off x="459943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4" name="Shape 72"/>
          <p:cNvSpPr/>
          <p:nvPr/>
        </p:nvSpPr>
        <p:spPr>
          <a:xfrm>
            <a:off x="2871216" y="4241713"/>
            <a:ext cx="288162" cy="136676"/>
          </a:xfrm>
          <a:prstGeom prst="rect">
            <a:avLst/>
          </a:prstGeom>
          <a:solidFill>
            <a:srgbClr val="2587C5"/>
          </a:solidFill>
          <a:ln/>
        </p:spPr>
      </p:sp>
      <p:sp>
        <p:nvSpPr>
          <p:cNvPr id="75" name="Text 73"/>
          <p:cNvSpPr txBox="1"/>
          <p:nvPr/>
        </p:nvSpPr>
        <p:spPr>
          <a:xfrm>
            <a:off x="381304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76" name="Text 74"/>
          <p:cNvSpPr txBox="1"/>
          <p:nvPr/>
        </p:nvSpPr>
        <p:spPr>
          <a:xfrm>
            <a:off x="459943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0" name="Shape 78"/>
          <p:cNvSpPr/>
          <p:nvPr/>
        </p:nvSpPr>
        <p:spPr>
          <a:xfrm>
            <a:off x="2871216" y="4490215"/>
            <a:ext cx="260095" cy="136676"/>
          </a:xfrm>
          <a:prstGeom prst="rect">
            <a:avLst/>
          </a:prstGeom>
          <a:solidFill>
            <a:srgbClr val="2587C5"/>
          </a:solidFill>
          <a:ln/>
        </p:spPr>
      </p:sp>
      <p:sp>
        <p:nvSpPr>
          <p:cNvPr id="81" name="Text 79"/>
          <p:cNvSpPr txBox="1"/>
          <p:nvPr/>
        </p:nvSpPr>
        <p:spPr>
          <a:xfrm>
            <a:off x="381304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82" name="Text 80"/>
          <p:cNvSpPr txBox="1"/>
          <p:nvPr/>
        </p:nvSpPr>
        <p:spPr>
          <a:xfrm>
            <a:off x="459943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86" name="Shape 84"/>
          <p:cNvSpPr/>
          <p:nvPr/>
        </p:nvSpPr>
        <p:spPr>
          <a:xfrm>
            <a:off x="2871216" y="4738717"/>
            <a:ext cx="257823" cy="136676"/>
          </a:xfrm>
          <a:prstGeom prst="rect">
            <a:avLst/>
          </a:prstGeom>
          <a:solidFill>
            <a:srgbClr val="2587C5"/>
          </a:solidFill>
          <a:ln/>
        </p:spPr>
      </p:sp>
      <p:sp>
        <p:nvSpPr>
          <p:cNvPr id="87" name="Text 85"/>
          <p:cNvSpPr txBox="1"/>
          <p:nvPr/>
        </p:nvSpPr>
        <p:spPr>
          <a:xfrm>
            <a:off x="381304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88" name="Text 86"/>
          <p:cNvSpPr txBox="1"/>
          <p:nvPr/>
        </p:nvSpPr>
        <p:spPr>
          <a:xfrm>
            <a:off x="459943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92" name="Shape 90"/>
          <p:cNvSpPr/>
          <p:nvPr/>
        </p:nvSpPr>
        <p:spPr>
          <a:xfrm>
            <a:off x="2871216" y="4987218"/>
            <a:ext cx="252824" cy="136676"/>
          </a:xfrm>
          <a:prstGeom prst="rect">
            <a:avLst/>
          </a:prstGeom>
          <a:solidFill>
            <a:srgbClr val="2587C5"/>
          </a:solidFill>
          <a:ln/>
        </p:spPr>
      </p:sp>
      <p:sp>
        <p:nvSpPr>
          <p:cNvPr id="93" name="Text 91"/>
          <p:cNvSpPr txBox="1"/>
          <p:nvPr/>
        </p:nvSpPr>
        <p:spPr>
          <a:xfrm>
            <a:off x="381304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94" name="Text 92"/>
          <p:cNvSpPr txBox="1"/>
          <p:nvPr/>
        </p:nvSpPr>
        <p:spPr>
          <a:xfrm>
            <a:off x="459943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8" name="Shape 96"/>
          <p:cNvSpPr/>
          <p:nvPr/>
        </p:nvSpPr>
        <p:spPr>
          <a:xfrm>
            <a:off x="2871216" y="5235720"/>
            <a:ext cx="244879" cy="136676"/>
          </a:xfrm>
          <a:prstGeom prst="rect">
            <a:avLst/>
          </a:prstGeom>
          <a:solidFill>
            <a:srgbClr val="2587C5"/>
          </a:solidFill>
          <a:ln/>
        </p:spPr>
      </p:sp>
      <p:sp>
        <p:nvSpPr>
          <p:cNvPr id="99" name="Text 97"/>
          <p:cNvSpPr txBox="1"/>
          <p:nvPr/>
        </p:nvSpPr>
        <p:spPr>
          <a:xfrm>
            <a:off x="381304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100" name="Text 98"/>
          <p:cNvSpPr txBox="1"/>
          <p:nvPr/>
        </p:nvSpPr>
        <p:spPr>
          <a:xfrm>
            <a:off x="459943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4" name="Shape 102"/>
          <p:cNvSpPr/>
          <p:nvPr/>
        </p:nvSpPr>
        <p:spPr>
          <a:xfrm>
            <a:off x="2871216" y="5484222"/>
            <a:ext cx="233938" cy="136676"/>
          </a:xfrm>
          <a:prstGeom prst="rect">
            <a:avLst/>
          </a:prstGeom>
          <a:solidFill>
            <a:srgbClr val="2587C5"/>
          </a:solidFill>
          <a:ln/>
        </p:spPr>
      </p:sp>
      <p:sp>
        <p:nvSpPr>
          <p:cNvPr id="105" name="Text 103"/>
          <p:cNvSpPr txBox="1"/>
          <p:nvPr/>
        </p:nvSpPr>
        <p:spPr>
          <a:xfrm>
            <a:off x="381304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106" name="Text 104"/>
          <p:cNvSpPr txBox="1"/>
          <p:nvPr/>
        </p:nvSpPr>
        <p:spPr>
          <a:xfrm>
            <a:off x="459943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0" name="Shape 108"/>
          <p:cNvSpPr/>
          <p:nvPr/>
        </p:nvSpPr>
        <p:spPr>
          <a:xfrm>
            <a:off x="2871216" y="5732723"/>
            <a:ext cx="221407" cy="136676"/>
          </a:xfrm>
          <a:prstGeom prst="rect">
            <a:avLst/>
          </a:prstGeom>
          <a:solidFill>
            <a:srgbClr val="2587C5"/>
          </a:solidFill>
          <a:ln/>
        </p:spPr>
      </p:sp>
      <p:sp>
        <p:nvSpPr>
          <p:cNvPr id="111" name="Text 109"/>
          <p:cNvSpPr txBox="1"/>
          <p:nvPr/>
        </p:nvSpPr>
        <p:spPr>
          <a:xfrm>
            <a:off x="381304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112" name="Text 110"/>
          <p:cNvSpPr txBox="1"/>
          <p:nvPr/>
        </p:nvSpPr>
        <p:spPr>
          <a:xfrm>
            <a:off x="459943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16" name="Shape 114"/>
          <p:cNvSpPr/>
          <p:nvPr/>
        </p:nvSpPr>
        <p:spPr>
          <a:xfrm>
            <a:off x="8421624" y="1756697"/>
            <a:ext cx="209398" cy="136676"/>
          </a:xfrm>
          <a:prstGeom prst="rect">
            <a:avLst/>
          </a:prstGeom>
          <a:solidFill>
            <a:srgbClr val="2587C5"/>
          </a:solidFill>
          <a:ln/>
        </p:spPr>
      </p:sp>
      <p:sp>
        <p:nvSpPr>
          <p:cNvPr id="117" name="Text 115"/>
          <p:cNvSpPr txBox="1"/>
          <p:nvPr/>
        </p:nvSpPr>
        <p:spPr>
          <a:xfrm>
            <a:off x="936345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18" name="Text 116"/>
          <p:cNvSpPr txBox="1"/>
          <p:nvPr/>
        </p:nvSpPr>
        <p:spPr>
          <a:xfrm>
            <a:off x="1014984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2" name="Shape 120"/>
          <p:cNvSpPr/>
          <p:nvPr/>
        </p:nvSpPr>
        <p:spPr>
          <a:xfrm>
            <a:off x="8421624" y="2005199"/>
            <a:ext cx="187702" cy="136676"/>
          </a:xfrm>
          <a:prstGeom prst="rect">
            <a:avLst/>
          </a:prstGeom>
          <a:solidFill>
            <a:srgbClr val="2587C5"/>
          </a:solidFill>
          <a:ln/>
        </p:spPr>
      </p:sp>
      <p:sp>
        <p:nvSpPr>
          <p:cNvPr id="123" name="Text 121"/>
          <p:cNvSpPr txBox="1"/>
          <p:nvPr/>
        </p:nvSpPr>
        <p:spPr>
          <a:xfrm>
            <a:off x="936345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24" name="Text 122"/>
          <p:cNvSpPr txBox="1"/>
          <p:nvPr/>
        </p:nvSpPr>
        <p:spPr>
          <a:xfrm>
            <a:off x="1014984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8" name="Shape 126"/>
          <p:cNvSpPr/>
          <p:nvPr/>
        </p:nvSpPr>
        <p:spPr>
          <a:xfrm>
            <a:off x="8421624" y="2253700"/>
            <a:ext cx="180536" cy="136676"/>
          </a:xfrm>
          <a:prstGeom prst="rect">
            <a:avLst/>
          </a:prstGeom>
          <a:solidFill>
            <a:srgbClr val="2587C5"/>
          </a:solidFill>
          <a:ln/>
        </p:spPr>
      </p:sp>
      <p:sp>
        <p:nvSpPr>
          <p:cNvPr id="129" name="Text 127"/>
          <p:cNvSpPr txBox="1"/>
          <p:nvPr/>
        </p:nvSpPr>
        <p:spPr>
          <a:xfrm>
            <a:off x="936345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30" name="Text 128"/>
          <p:cNvSpPr txBox="1"/>
          <p:nvPr/>
        </p:nvSpPr>
        <p:spPr>
          <a:xfrm>
            <a:off x="1014984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173314" cy="136676"/>
          </a:xfrm>
          <a:prstGeom prst="rect">
            <a:avLst/>
          </a:prstGeom>
          <a:solidFill>
            <a:srgbClr val="2587C5"/>
          </a:solidFill>
          <a:ln/>
        </p:spPr>
      </p:sp>
      <p:sp>
        <p:nvSpPr>
          <p:cNvPr id="135" name="Text 133"/>
          <p:cNvSpPr txBox="1"/>
          <p:nvPr/>
        </p:nvSpPr>
        <p:spPr>
          <a:xfrm>
            <a:off x="936345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36" name="Text 134"/>
          <p:cNvSpPr txBox="1"/>
          <p:nvPr/>
        </p:nvSpPr>
        <p:spPr>
          <a:xfrm>
            <a:off x="1014984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0" name="Shape 138"/>
          <p:cNvSpPr/>
          <p:nvPr/>
        </p:nvSpPr>
        <p:spPr>
          <a:xfrm>
            <a:off x="8421624" y="2750703"/>
            <a:ext cx="169896" cy="136676"/>
          </a:xfrm>
          <a:prstGeom prst="rect">
            <a:avLst/>
          </a:prstGeom>
          <a:solidFill>
            <a:srgbClr val="2587C5"/>
          </a:solidFill>
          <a:ln/>
        </p:spPr>
      </p:sp>
      <p:sp>
        <p:nvSpPr>
          <p:cNvPr id="141" name="Text 139"/>
          <p:cNvSpPr txBox="1"/>
          <p:nvPr/>
        </p:nvSpPr>
        <p:spPr>
          <a:xfrm>
            <a:off x="936345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42" name="Text 140"/>
          <p:cNvSpPr txBox="1"/>
          <p:nvPr/>
        </p:nvSpPr>
        <p:spPr>
          <a:xfrm>
            <a:off x="1014984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6" name="Shape 144"/>
          <p:cNvSpPr/>
          <p:nvPr/>
        </p:nvSpPr>
        <p:spPr>
          <a:xfrm>
            <a:off x="8421624" y="2999205"/>
            <a:ext cx="165457" cy="136676"/>
          </a:xfrm>
          <a:prstGeom prst="rect">
            <a:avLst/>
          </a:prstGeom>
          <a:solidFill>
            <a:srgbClr val="2587C5"/>
          </a:solidFill>
          <a:ln/>
        </p:spPr>
      </p:sp>
      <p:sp>
        <p:nvSpPr>
          <p:cNvPr id="147" name="Text 145"/>
          <p:cNvSpPr txBox="1"/>
          <p:nvPr/>
        </p:nvSpPr>
        <p:spPr>
          <a:xfrm>
            <a:off x="936345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48" name="Text 146"/>
          <p:cNvSpPr txBox="1"/>
          <p:nvPr/>
        </p:nvSpPr>
        <p:spPr>
          <a:xfrm>
            <a:off x="1014984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2" name="Shape 150"/>
          <p:cNvSpPr/>
          <p:nvPr/>
        </p:nvSpPr>
        <p:spPr>
          <a:xfrm>
            <a:off x="8421624" y="3247707"/>
            <a:ext cx="154758" cy="136676"/>
          </a:xfrm>
          <a:prstGeom prst="rect">
            <a:avLst/>
          </a:prstGeom>
          <a:solidFill>
            <a:srgbClr val="2587C5"/>
          </a:solidFill>
          <a:ln/>
        </p:spPr>
      </p:sp>
      <p:sp>
        <p:nvSpPr>
          <p:cNvPr id="153" name="Text 151"/>
          <p:cNvSpPr txBox="1"/>
          <p:nvPr/>
        </p:nvSpPr>
        <p:spPr>
          <a:xfrm>
            <a:off x="936345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54" name="Text 152"/>
          <p:cNvSpPr txBox="1"/>
          <p:nvPr/>
        </p:nvSpPr>
        <p:spPr>
          <a:xfrm>
            <a:off x="1014984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58" name="Shape 156"/>
          <p:cNvSpPr/>
          <p:nvPr/>
        </p:nvSpPr>
        <p:spPr>
          <a:xfrm>
            <a:off x="8421624" y="3496208"/>
            <a:ext cx="151615" cy="136676"/>
          </a:xfrm>
          <a:prstGeom prst="rect">
            <a:avLst/>
          </a:prstGeom>
          <a:solidFill>
            <a:srgbClr val="2587C5"/>
          </a:solidFill>
          <a:ln/>
        </p:spPr>
      </p:sp>
      <p:sp>
        <p:nvSpPr>
          <p:cNvPr id="159" name="Text 157"/>
          <p:cNvSpPr txBox="1"/>
          <p:nvPr/>
        </p:nvSpPr>
        <p:spPr>
          <a:xfrm>
            <a:off x="936345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60" name="Text 158"/>
          <p:cNvSpPr txBox="1"/>
          <p:nvPr/>
        </p:nvSpPr>
        <p:spPr>
          <a:xfrm>
            <a:off x="1014984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4" name="Shape 162"/>
          <p:cNvSpPr/>
          <p:nvPr/>
        </p:nvSpPr>
        <p:spPr>
          <a:xfrm>
            <a:off x="8421624" y="3744710"/>
            <a:ext cx="148645" cy="136676"/>
          </a:xfrm>
          <a:prstGeom prst="rect">
            <a:avLst/>
          </a:prstGeom>
          <a:solidFill>
            <a:srgbClr val="2587C5"/>
          </a:solidFill>
          <a:ln/>
        </p:spPr>
      </p:sp>
      <p:sp>
        <p:nvSpPr>
          <p:cNvPr id="165" name="Text 163"/>
          <p:cNvSpPr txBox="1"/>
          <p:nvPr/>
        </p:nvSpPr>
        <p:spPr>
          <a:xfrm>
            <a:off x="936345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66" name="Text 164"/>
          <p:cNvSpPr txBox="1"/>
          <p:nvPr/>
        </p:nvSpPr>
        <p:spPr>
          <a:xfrm>
            <a:off x="1014984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0" name="Shape 168"/>
          <p:cNvSpPr/>
          <p:nvPr/>
        </p:nvSpPr>
        <p:spPr>
          <a:xfrm>
            <a:off x="8421624" y="3993212"/>
            <a:ext cx="148155" cy="136676"/>
          </a:xfrm>
          <a:prstGeom prst="rect">
            <a:avLst/>
          </a:prstGeom>
          <a:solidFill>
            <a:srgbClr val="2587C5"/>
          </a:solidFill>
          <a:ln/>
        </p:spPr>
      </p:sp>
      <p:sp>
        <p:nvSpPr>
          <p:cNvPr id="171" name="Text 169"/>
          <p:cNvSpPr txBox="1"/>
          <p:nvPr/>
        </p:nvSpPr>
        <p:spPr>
          <a:xfrm>
            <a:off x="936345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72" name="Text 170"/>
          <p:cNvSpPr txBox="1"/>
          <p:nvPr/>
        </p:nvSpPr>
        <p:spPr>
          <a:xfrm>
            <a:off x="1014984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6" name="Shape 174"/>
          <p:cNvSpPr/>
          <p:nvPr/>
        </p:nvSpPr>
        <p:spPr>
          <a:xfrm>
            <a:off x="8421624" y="4241713"/>
            <a:ext cx="146434" cy="136676"/>
          </a:xfrm>
          <a:prstGeom prst="rect">
            <a:avLst/>
          </a:prstGeom>
          <a:solidFill>
            <a:srgbClr val="2587C5"/>
          </a:solidFill>
          <a:ln/>
        </p:spPr>
      </p:sp>
      <p:sp>
        <p:nvSpPr>
          <p:cNvPr id="177" name="Text 175"/>
          <p:cNvSpPr txBox="1"/>
          <p:nvPr/>
        </p:nvSpPr>
        <p:spPr>
          <a:xfrm>
            <a:off x="936345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78" name="Text 176"/>
          <p:cNvSpPr txBox="1"/>
          <p:nvPr/>
        </p:nvSpPr>
        <p:spPr>
          <a:xfrm>
            <a:off x="1014984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2" name="Shape 180"/>
          <p:cNvSpPr/>
          <p:nvPr/>
        </p:nvSpPr>
        <p:spPr>
          <a:xfrm>
            <a:off x="8421624" y="4490215"/>
            <a:ext cx="134976" cy="136676"/>
          </a:xfrm>
          <a:prstGeom prst="rect">
            <a:avLst/>
          </a:prstGeom>
          <a:solidFill>
            <a:srgbClr val="2587C5"/>
          </a:solidFill>
          <a:ln/>
        </p:spPr>
      </p:sp>
      <p:sp>
        <p:nvSpPr>
          <p:cNvPr id="183" name="Text 181"/>
          <p:cNvSpPr txBox="1"/>
          <p:nvPr/>
        </p:nvSpPr>
        <p:spPr>
          <a:xfrm>
            <a:off x="936345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84" name="Text 182"/>
          <p:cNvSpPr txBox="1"/>
          <p:nvPr/>
        </p:nvSpPr>
        <p:spPr>
          <a:xfrm>
            <a:off x="1014984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88" name="Shape 186"/>
          <p:cNvSpPr/>
          <p:nvPr/>
        </p:nvSpPr>
        <p:spPr>
          <a:xfrm>
            <a:off x="8421624" y="4738717"/>
            <a:ext cx="133528" cy="136676"/>
          </a:xfrm>
          <a:prstGeom prst="rect">
            <a:avLst/>
          </a:prstGeom>
          <a:solidFill>
            <a:srgbClr val="2587C5"/>
          </a:solidFill>
          <a:ln/>
        </p:spPr>
      </p:sp>
      <p:sp>
        <p:nvSpPr>
          <p:cNvPr id="189" name="Text 187"/>
          <p:cNvSpPr txBox="1"/>
          <p:nvPr/>
        </p:nvSpPr>
        <p:spPr>
          <a:xfrm>
            <a:off x="936345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90" name="Text 188"/>
          <p:cNvSpPr txBox="1"/>
          <p:nvPr/>
        </p:nvSpPr>
        <p:spPr>
          <a:xfrm>
            <a:off x="1014984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4" name="Shape 192"/>
          <p:cNvSpPr/>
          <p:nvPr/>
        </p:nvSpPr>
        <p:spPr>
          <a:xfrm>
            <a:off x="8421624" y="4987218"/>
            <a:ext cx="108545" cy="136676"/>
          </a:xfrm>
          <a:prstGeom prst="rect">
            <a:avLst/>
          </a:prstGeom>
          <a:solidFill>
            <a:srgbClr val="2587C5"/>
          </a:solidFill>
          <a:ln/>
        </p:spPr>
      </p:sp>
      <p:sp>
        <p:nvSpPr>
          <p:cNvPr id="195" name="Text 193"/>
          <p:cNvSpPr txBox="1"/>
          <p:nvPr/>
        </p:nvSpPr>
        <p:spPr>
          <a:xfrm>
            <a:off x="936345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96" name="Text 194"/>
          <p:cNvSpPr txBox="1"/>
          <p:nvPr/>
        </p:nvSpPr>
        <p:spPr>
          <a:xfrm>
            <a:off x="1014984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00" name="Shape 198"/>
          <p:cNvSpPr/>
          <p:nvPr/>
        </p:nvSpPr>
        <p:spPr>
          <a:xfrm>
            <a:off x="8421624" y="5235720"/>
            <a:ext cx="88865" cy="136676"/>
          </a:xfrm>
          <a:prstGeom prst="rect">
            <a:avLst/>
          </a:prstGeom>
          <a:solidFill>
            <a:srgbClr val="2587C5"/>
          </a:solidFill>
          <a:ln/>
        </p:spPr>
      </p:sp>
      <p:sp>
        <p:nvSpPr>
          <p:cNvPr id="201" name="Text 199"/>
          <p:cNvSpPr txBox="1"/>
          <p:nvPr/>
        </p:nvSpPr>
        <p:spPr>
          <a:xfrm>
            <a:off x="936345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202" name="Text 200"/>
          <p:cNvSpPr txBox="1"/>
          <p:nvPr/>
        </p:nvSpPr>
        <p:spPr>
          <a:xfrm>
            <a:off x="1014984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6" name="Shape 204"/>
          <p:cNvSpPr/>
          <p:nvPr/>
        </p:nvSpPr>
        <p:spPr>
          <a:xfrm>
            <a:off x="8421624" y="5484222"/>
            <a:ext cx="70911" cy="136676"/>
          </a:xfrm>
          <a:prstGeom prst="rect">
            <a:avLst/>
          </a:prstGeom>
          <a:solidFill>
            <a:srgbClr val="2587C5"/>
          </a:solidFill>
          <a:ln/>
        </p:spPr>
      </p:sp>
      <p:sp>
        <p:nvSpPr>
          <p:cNvPr id="207" name="Text 205"/>
          <p:cNvSpPr txBox="1"/>
          <p:nvPr/>
        </p:nvSpPr>
        <p:spPr>
          <a:xfrm>
            <a:off x="936345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208" name="Text 206"/>
          <p:cNvSpPr txBox="1"/>
          <p:nvPr/>
        </p:nvSpPr>
        <p:spPr>
          <a:xfrm>
            <a:off x="1014984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927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233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7492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6968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8408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62532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 name="Shape 12"/>
          <p:cNvSpPr/>
          <p:nvPr/>
        </p:nvSpPr>
        <p:spPr>
          <a:xfrm>
            <a:off x="2871216" y="1795836"/>
            <a:ext cx="393192" cy="232349"/>
          </a:xfrm>
          <a:prstGeom prst="rect">
            <a:avLst/>
          </a:prstGeom>
          <a:solidFill>
            <a:srgbClr val="2587C5"/>
          </a:solidFill>
          <a:ln/>
        </p:spPr>
      </p:sp>
      <p:sp>
        <p:nvSpPr>
          <p:cNvPr id="15" name="Text 13"/>
          <p:cNvSpPr txBox="1"/>
          <p:nvPr/>
        </p:nvSpPr>
        <p:spPr>
          <a:xfrm>
            <a:off x="331927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6" name="Text 14"/>
          <p:cNvSpPr txBox="1"/>
          <p:nvPr/>
        </p:nvSpPr>
        <p:spPr>
          <a:xfrm>
            <a:off x="423367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7" name="Text 15"/>
          <p:cNvSpPr txBox="1"/>
          <p:nvPr/>
        </p:nvSpPr>
        <p:spPr>
          <a:xfrm>
            <a:off x="507492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8" name="Text 16"/>
          <p:cNvSpPr txBox="1"/>
          <p:nvPr/>
        </p:nvSpPr>
        <p:spPr>
          <a:xfrm>
            <a:off x="658368" y="2123237"/>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123237"/>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 name="Shape 18"/>
          <p:cNvSpPr/>
          <p:nvPr/>
        </p:nvSpPr>
        <p:spPr>
          <a:xfrm>
            <a:off x="2871216" y="2218289"/>
            <a:ext cx="228346" cy="232349"/>
          </a:xfrm>
          <a:prstGeom prst="rect">
            <a:avLst/>
          </a:prstGeom>
          <a:solidFill>
            <a:srgbClr val="2587C5"/>
          </a:solidFill>
          <a:ln/>
        </p:spPr>
      </p:sp>
      <p:sp>
        <p:nvSpPr>
          <p:cNvPr id="21" name="Text 19"/>
          <p:cNvSpPr txBox="1"/>
          <p:nvPr/>
        </p:nvSpPr>
        <p:spPr>
          <a:xfrm>
            <a:off x="331927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2" name="Text 20"/>
          <p:cNvSpPr txBox="1"/>
          <p:nvPr/>
        </p:nvSpPr>
        <p:spPr>
          <a:xfrm>
            <a:off x="423367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3" name="Text 21"/>
          <p:cNvSpPr txBox="1"/>
          <p:nvPr/>
        </p:nvSpPr>
        <p:spPr>
          <a:xfrm>
            <a:off x="507492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4" name="Text 22"/>
          <p:cNvSpPr txBox="1"/>
          <p:nvPr/>
        </p:nvSpPr>
        <p:spPr>
          <a:xfrm>
            <a:off x="658368" y="2545690"/>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545690"/>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6" name="Shape 24"/>
          <p:cNvSpPr/>
          <p:nvPr/>
        </p:nvSpPr>
        <p:spPr>
          <a:xfrm>
            <a:off x="2871216" y="2640741"/>
            <a:ext cx="169496" cy="232349"/>
          </a:xfrm>
          <a:prstGeom prst="rect">
            <a:avLst/>
          </a:prstGeom>
          <a:solidFill>
            <a:srgbClr val="2587C5"/>
          </a:solidFill>
          <a:ln/>
        </p:spPr>
      </p:sp>
      <p:sp>
        <p:nvSpPr>
          <p:cNvPr id="27" name="Text 25"/>
          <p:cNvSpPr txBox="1"/>
          <p:nvPr/>
        </p:nvSpPr>
        <p:spPr>
          <a:xfrm>
            <a:off x="331927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8" name="Text 26"/>
          <p:cNvSpPr txBox="1"/>
          <p:nvPr/>
        </p:nvSpPr>
        <p:spPr>
          <a:xfrm>
            <a:off x="423367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9" name="Text 27"/>
          <p:cNvSpPr txBox="1"/>
          <p:nvPr/>
        </p:nvSpPr>
        <p:spPr>
          <a:xfrm>
            <a:off x="507492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0" name="Text 28"/>
          <p:cNvSpPr txBox="1"/>
          <p:nvPr/>
        </p:nvSpPr>
        <p:spPr>
          <a:xfrm>
            <a:off x="658368" y="2968142"/>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968142"/>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2" name="Shape 30"/>
          <p:cNvSpPr/>
          <p:nvPr/>
        </p:nvSpPr>
        <p:spPr>
          <a:xfrm>
            <a:off x="2871216" y="3063194"/>
            <a:ext cx="160520" cy="232349"/>
          </a:xfrm>
          <a:prstGeom prst="rect">
            <a:avLst/>
          </a:prstGeom>
          <a:solidFill>
            <a:srgbClr val="2587C5"/>
          </a:solidFill>
          <a:ln/>
        </p:spPr>
      </p:sp>
      <p:sp>
        <p:nvSpPr>
          <p:cNvPr id="33" name="Text 31"/>
          <p:cNvSpPr txBox="1"/>
          <p:nvPr/>
        </p:nvSpPr>
        <p:spPr>
          <a:xfrm>
            <a:off x="331927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4" name="Text 32"/>
          <p:cNvSpPr txBox="1"/>
          <p:nvPr/>
        </p:nvSpPr>
        <p:spPr>
          <a:xfrm>
            <a:off x="423367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5" name="Text 33"/>
          <p:cNvSpPr txBox="1"/>
          <p:nvPr/>
        </p:nvSpPr>
        <p:spPr>
          <a:xfrm>
            <a:off x="507492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6" name="Text 34"/>
          <p:cNvSpPr txBox="1"/>
          <p:nvPr/>
        </p:nvSpPr>
        <p:spPr>
          <a:xfrm>
            <a:off x="658368" y="3390595"/>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390595"/>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8" name="Shape 36"/>
          <p:cNvSpPr/>
          <p:nvPr/>
        </p:nvSpPr>
        <p:spPr>
          <a:xfrm>
            <a:off x="2871216" y="3485647"/>
            <a:ext cx="143915" cy="232349"/>
          </a:xfrm>
          <a:prstGeom prst="rect">
            <a:avLst/>
          </a:prstGeom>
          <a:solidFill>
            <a:srgbClr val="2587C5"/>
          </a:solidFill>
          <a:ln/>
        </p:spPr>
      </p:sp>
      <p:sp>
        <p:nvSpPr>
          <p:cNvPr id="39" name="Text 37"/>
          <p:cNvSpPr txBox="1"/>
          <p:nvPr/>
        </p:nvSpPr>
        <p:spPr>
          <a:xfrm>
            <a:off x="331927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40" name="Text 38"/>
          <p:cNvSpPr txBox="1"/>
          <p:nvPr/>
        </p:nvSpPr>
        <p:spPr>
          <a:xfrm>
            <a:off x="423367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41" name="Text 39"/>
          <p:cNvSpPr txBox="1"/>
          <p:nvPr/>
        </p:nvSpPr>
        <p:spPr>
          <a:xfrm>
            <a:off x="507492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42" name="Text 40"/>
          <p:cNvSpPr txBox="1"/>
          <p:nvPr/>
        </p:nvSpPr>
        <p:spPr>
          <a:xfrm>
            <a:off x="658368" y="3813048"/>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813048"/>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44" name="Shape 42"/>
          <p:cNvSpPr/>
          <p:nvPr/>
        </p:nvSpPr>
        <p:spPr>
          <a:xfrm>
            <a:off x="2871216" y="3908100"/>
            <a:ext cx="139741" cy="232349"/>
          </a:xfrm>
          <a:prstGeom prst="rect">
            <a:avLst/>
          </a:prstGeom>
          <a:solidFill>
            <a:srgbClr val="2587C5"/>
          </a:solidFill>
          <a:ln/>
        </p:spPr>
      </p:sp>
      <p:sp>
        <p:nvSpPr>
          <p:cNvPr id="45" name="Text 43"/>
          <p:cNvSpPr txBox="1"/>
          <p:nvPr/>
        </p:nvSpPr>
        <p:spPr>
          <a:xfrm>
            <a:off x="331927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6" name="Text 44"/>
          <p:cNvSpPr txBox="1"/>
          <p:nvPr/>
        </p:nvSpPr>
        <p:spPr>
          <a:xfrm>
            <a:off x="423367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7" name="Text 45"/>
          <p:cNvSpPr txBox="1"/>
          <p:nvPr/>
        </p:nvSpPr>
        <p:spPr>
          <a:xfrm>
            <a:off x="507492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8" name="Text 46"/>
          <p:cNvSpPr txBox="1"/>
          <p:nvPr/>
        </p:nvSpPr>
        <p:spPr>
          <a:xfrm>
            <a:off x="658368" y="4235501"/>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235501"/>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0" name="Shape 48"/>
          <p:cNvSpPr/>
          <p:nvPr/>
        </p:nvSpPr>
        <p:spPr>
          <a:xfrm>
            <a:off x="2871216" y="4330553"/>
            <a:ext cx="111050" cy="232349"/>
          </a:xfrm>
          <a:prstGeom prst="rect">
            <a:avLst/>
          </a:prstGeom>
          <a:solidFill>
            <a:srgbClr val="2587C5"/>
          </a:solidFill>
          <a:ln/>
        </p:spPr>
      </p:sp>
      <p:sp>
        <p:nvSpPr>
          <p:cNvPr id="51" name="Text 49"/>
          <p:cNvSpPr txBox="1"/>
          <p:nvPr/>
        </p:nvSpPr>
        <p:spPr>
          <a:xfrm>
            <a:off x="331927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52" name="Text 50"/>
          <p:cNvSpPr txBox="1"/>
          <p:nvPr/>
        </p:nvSpPr>
        <p:spPr>
          <a:xfrm>
            <a:off x="423367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53" name="Text 51"/>
          <p:cNvSpPr txBox="1"/>
          <p:nvPr/>
        </p:nvSpPr>
        <p:spPr>
          <a:xfrm>
            <a:off x="507492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54" name="Text 52"/>
          <p:cNvSpPr txBox="1"/>
          <p:nvPr/>
        </p:nvSpPr>
        <p:spPr>
          <a:xfrm>
            <a:off x="658368" y="465795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65795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6" name="Shape 54"/>
          <p:cNvSpPr/>
          <p:nvPr/>
        </p:nvSpPr>
        <p:spPr>
          <a:xfrm>
            <a:off x="2871216" y="4753005"/>
            <a:ext cx="103120" cy="232349"/>
          </a:xfrm>
          <a:prstGeom prst="rect">
            <a:avLst/>
          </a:prstGeom>
          <a:solidFill>
            <a:srgbClr val="2587C5"/>
          </a:solidFill>
          <a:ln/>
        </p:spPr>
      </p:sp>
      <p:sp>
        <p:nvSpPr>
          <p:cNvPr id="57" name="Text 55"/>
          <p:cNvSpPr txBox="1"/>
          <p:nvPr/>
        </p:nvSpPr>
        <p:spPr>
          <a:xfrm>
            <a:off x="331927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8" name="Text 56"/>
          <p:cNvSpPr txBox="1"/>
          <p:nvPr/>
        </p:nvSpPr>
        <p:spPr>
          <a:xfrm>
            <a:off x="423367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9" name="Text 57"/>
          <p:cNvSpPr txBox="1"/>
          <p:nvPr/>
        </p:nvSpPr>
        <p:spPr>
          <a:xfrm>
            <a:off x="507492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60" name="Text 58"/>
          <p:cNvSpPr txBox="1"/>
          <p:nvPr/>
        </p:nvSpPr>
        <p:spPr>
          <a:xfrm>
            <a:off x="658368" y="5080406"/>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5080406"/>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62" name="Shape 60"/>
          <p:cNvSpPr/>
          <p:nvPr/>
        </p:nvSpPr>
        <p:spPr>
          <a:xfrm>
            <a:off x="2871216" y="5175458"/>
            <a:ext cx="71987" cy="232349"/>
          </a:xfrm>
          <a:prstGeom prst="rect">
            <a:avLst/>
          </a:prstGeom>
          <a:solidFill>
            <a:srgbClr val="2587C5"/>
          </a:solidFill>
          <a:ln/>
        </p:spPr>
      </p:sp>
      <p:sp>
        <p:nvSpPr>
          <p:cNvPr id="63" name="Text 61"/>
          <p:cNvSpPr txBox="1"/>
          <p:nvPr/>
        </p:nvSpPr>
        <p:spPr>
          <a:xfrm>
            <a:off x="331927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423367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65" name="Text 63"/>
          <p:cNvSpPr txBox="1"/>
          <p:nvPr/>
        </p:nvSpPr>
        <p:spPr>
          <a:xfrm>
            <a:off x="507492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66" name="Text 64"/>
          <p:cNvSpPr txBox="1"/>
          <p:nvPr/>
        </p:nvSpPr>
        <p:spPr>
          <a:xfrm>
            <a:off x="658368" y="5502859"/>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502859"/>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2871216" y="5597911"/>
            <a:ext cx="65879" cy="232349"/>
          </a:xfrm>
          <a:prstGeom prst="rect">
            <a:avLst/>
          </a:prstGeom>
          <a:solidFill>
            <a:srgbClr val="2587C5"/>
          </a:solidFill>
          <a:ln/>
        </p:spPr>
      </p:sp>
      <p:sp>
        <p:nvSpPr>
          <p:cNvPr id="69" name="Text 67"/>
          <p:cNvSpPr txBox="1"/>
          <p:nvPr/>
        </p:nvSpPr>
        <p:spPr>
          <a:xfrm>
            <a:off x="331927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0" name="Text 68"/>
          <p:cNvSpPr txBox="1"/>
          <p:nvPr/>
        </p:nvSpPr>
        <p:spPr>
          <a:xfrm>
            <a:off x="423367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71" name="Text 69"/>
          <p:cNvSpPr txBox="1"/>
          <p:nvPr/>
        </p:nvSpPr>
        <p:spPr>
          <a:xfrm>
            <a:off x="507492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208776" y="170078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6565392" y="170078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4" name="Shape 72"/>
          <p:cNvSpPr/>
          <p:nvPr/>
        </p:nvSpPr>
        <p:spPr>
          <a:xfrm>
            <a:off x="8421624" y="1795836"/>
            <a:ext cx="47436" cy="232349"/>
          </a:xfrm>
          <a:prstGeom prst="rect">
            <a:avLst/>
          </a:prstGeom>
          <a:solidFill>
            <a:srgbClr val="2587C5"/>
          </a:solidFill>
          <a:ln/>
        </p:spPr>
      </p:sp>
      <p:sp>
        <p:nvSpPr>
          <p:cNvPr id="75" name="Text 73"/>
          <p:cNvSpPr txBox="1"/>
          <p:nvPr/>
        </p:nvSpPr>
        <p:spPr>
          <a:xfrm>
            <a:off x="886968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76" name="Text 74"/>
          <p:cNvSpPr txBox="1"/>
          <p:nvPr/>
        </p:nvSpPr>
        <p:spPr>
          <a:xfrm>
            <a:off x="978408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77" name="Text 75"/>
          <p:cNvSpPr txBox="1"/>
          <p:nvPr/>
        </p:nvSpPr>
        <p:spPr>
          <a:xfrm>
            <a:off x="1062532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78" name="Text 76"/>
          <p:cNvSpPr txBox="1"/>
          <p:nvPr/>
        </p:nvSpPr>
        <p:spPr>
          <a:xfrm>
            <a:off x="6208776" y="2123237"/>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2123237"/>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80" name="Shape 78"/>
          <p:cNvSpPr/>
          <p:nvPr/>
        </p:nvSpPr>
        <p:spPr>
          <a:xfrm>
            <a:off x="8421624" y="2218289"/>
            <a:ext cx="46626" cy="232349"/>
          </a:xfrm>
          <a:prstGeom prst="rect">
            <a:avLst/>
          </a:prstGeom>
          <a:solidFill>
            <a:srgbClr val="2587C5"/>
          </a:solidFill>
          <a:ln/>
        </p:spPr>
      </p:sp>
      <p:sp>
        <p:nvSpPr>
          <p:cNvPr id="81" name="Text 79"/>
          <p:cNvSpPr txBox="1"/>
          <p:nvPr/>
        </p:nvSpPr>
        <p:spPr>
          <a:xfrm>
            <a:off x="886968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82" name="Text 80"/>
          <p:cNvSpPr txBox="1"/>
          <p:nvPr/>
        </p:nvSpPr>
        <p:spPr>
          <a:xfrm>
            <a:off x="978408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83" name="Text 81"/>
          <p:cNvSpPr txBox="1"/>
          <p:nvPr/>
        </p:nvSpPr>
        <p:spPr>
          <a:xfrm>
            <a:off x="1062532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84" name="Text 82"/>
          <p:cNvSpPr txBox="1"/>
          <p:nvPr/>
        </p:nvSpPr>
        <p:spPr>
          <a:xfrm>
            <a:off x="6208776" y="2545690"/>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545690"/>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6" name="Shape 84"/>
          <p:cNvSpPr/>
          <p:nvPr/>
        </p:nvSpPr>
        <p:spPr>
          <a:xfrm>
            <a:off x="8421624" y="2640741"/>
            <a:ext cx="45934" cy="232349"/>
          </a:xfrm>
          <a:prstGeom prst="rect">
            <a:avLst/>
          </a:prstGeom>
          <a:solidFill>
            <a:srgbClr val="2587C5"/>
          </a:solidFill>
          <a:ln/>
        </p:spPr>
      </p:sp>
      <p:sp>
        <p:nvSpPr>
          <p:cNvPr id="87" name="Text 85"/>
          <p:cNvSpPr txBox="1"/>
          <p:nvPr/>
        </p:nvSpPr>
        <p:spPr>
          <a:xfrm>
            <a:off x="886968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88" name="Text 86"/>
          <p:cNvSpPr txBox="1"/>
          <p:nvPr/>
        </p:nvSpPr>
        <p:spPr>
          <a:xfrm>
            <a:off x="978408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89" name="Text 87"/>
          <p:cNvSpPr txBox="1"/>
          <p:nvPr/>
        </p:nvSpPr>
        <p:spPr>
          <a:xfrm>
            <a:off x="1062532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90" name="Text 88"/>
          <p:cNvSpPr txBox="1"/>
          <p:nvPr/>
        </p:nvSpPr>
        <p:spPr>
          <a:xfrm>
            <a:off x="6208776" y="2968142"/>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968142"/>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2" name="Shape 90"/>
          <p:cNvSpPr/>
          <p:nvPr/>
        </p:nvSpPr>
        <p:spPr>
          <a:xfrm>
            <a:off x="8421624" y="3063194"/>
            <a:ext cx="44680" cy="232349"/>
          </a:xfrm>
          <a:prstGeom prst="rect">
            <a:avLst/>
          </a:prstGeom>
          <a:solidFill>
            <a:srgbClr val="2587C5"/>
          </a:solidFill>
          <a:ln/>
        </p:spPr>
      </p:sp>
      <p:sp>
        <p:nvSpPr>
          <p:cNvPr id="93" name="Text 91"/>
          <p:cNvSpPr txBox="1"/>
          <p:nvPr/>
        </p:nvSpPr>
        <p:spPr>
          <a:xfrm>
            <a:off x="886968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94" name="Text 92"/>
          <p:cNvSpPr txBox="1"/>
          <p:nvPr/>
        </p:nvSpPr>
        <p:spPr>
          <a:xfrm>
            <a:off x="978408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95" name="Text 93"/>
          <p:cNvSpPr txBox="1"/>
          <p:nvPr/>
        </p:nvSpPr>
        <p:spPr>
          <a:xfrm>
            <a:off x="1062532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96" name="Text 94"/>
          <p:cNvSpPr txBox="1"/>
          <p:nvPr/>
        </p:nvSpPr>
        <p:spPr>
          <a:xfrm>
            <a:off x="6208776" y="3390595"/>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3390595"/>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8" name="Shape 96"/>
          <p:cNvSpPr/>
          <p:nvPr/>
        </p:nvSpPr>
        <p:spPr>
          <a:xfrm>
            <a:off x="8421624" y="3485647"/>
            <a:ext cx="36934" cy="232349"/>
          </a:xfrm>
          <a:prstGeom prst="rect">
            <a:avLst/>
          </a:prstGeom>
          <a:solidFill>
            <a:srgbClr val="2587C5"/>
          </a:solidFill>
          <a:ln/>
        </p:spPr>
      </p:sp>
      <p:sp>
        <p:nvSpPr>
          <p:cNvPr id="99" name="Text 97"/>
          <p:cNvSpPr txBox="1"/>
          <p:nvPr/>
        </p:nvSpPr>
        <p:spPr>
          <a:xfrm>
            <a:off x="886968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100" name="Text 98"/>
          <p:cNvSpPr txBox="1"/>
          <p:nvPr/>
        </p:nvSpPr>
        <p:spPr>
          <a:xfrm>
            <a:off x="978408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101" name="Text 99"/>
          <p:cNvSpPr txBox="1"/>
          <p:nvPr/>
        </p:nvSpPr>
        <p:spPr>
          <a:xfrm>
            <a:off x="1062532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2" name="Text 100"/>
          <p:cNvSpPr txBox="1"/>
          <p:nvPr/>
        </p:nvSpPr>
        <p:spPr>
          <a:xfrm>
            <a:off x="6208776" y="3813048"/>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813048"/>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4" name="Shape 102"/>
          <p:cNvSpPr/>
          <p:nvPr/>
        </p:nvSpPr>
        <p:spPr>
          <a:xfrm>
            <a:off x="8421624" y="3908100"/>
            <a:ext cx="30323" cy="232349"/>
          </a:xfrm>
          <a:prstGeom prst="rect">
            <a:avLst/>
          </a:prstGeom>
          <a:solidFill>
            <a:srgbClr val="2587C5"/>
          </a:solidFill>
          <a:ln/>
        </p:spPr>
      </p:sp>
      <p:sp>
        <p:nvSpPr>
          <p:cNvPr id="105" name="Text 103"/>
          <p:cNvSpPr txBox="1"/>
          <p:nvPr/>
        </p:nvSpPr>
        <p:spPr>
          <a:xfrm>
            <a:off x="886968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106" name="Text 104"/>
          <p:cNvSpPr txBox="1"/>
          <p:nvPr/>
        </p:nvSpPr>
        <p:spPr>
          <a:xfrm>
            <a:off x="978408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7" name="Text 105"/>
          <p:cNvSpPr txBox="1"/>
          <p:nvPr/>
        </p:nvSpPr>
        <p:spPr>
          <a:xfrm>
            <a:off x="1062532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08" name="Text 106"/>
          <p:cNvSpPr txBox="1"/>
          <p:nvPr/>
        </p:nvSpPr>
        <p:spPr>
          <a:xfrm>
            <a:off x="6208776" y="4235501"/>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4235501"/>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0" name="Shape 108"/>
          <p:cNvSpPr/>
          <p:nvPr/>
        </p:nvSpPr>
        <p:spPr>
          <a:xfrm>
            <a:off x="8421624" y="4330553"/>
            <a:ext cx="18288" cy="232349"/>
          </a:xfrm>
          <a:prstGeom prst="rect">
            <a:avLst/>
          </a:prstGeom>
          <a:solidFill>
            <a:srgbClr val="2587C5"/>
          </a:solidFill>
          <a:ln/>
        </p:spPr>
      </p:sp>
      <p:sp>
        <p:nvSpPr>
          <p:cNvPr id="111" name="Text 109"/>
          <p:cNvSpPr txBox="1"/>
          <p:nvPr/>
        </p:nvSpPr>
        <p:spPr>
          <a:xfrm>
            <a:off x="886968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112" name="Text 110"/>
          <p:cNvSpPr txBox="1"/>
          <p:nvPr/>
        </p:nvSpPr>
        <p:spPr>
          <a:xfrm>
            <a:off x="978408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113" name="Text 111"/>
          <p:cNvSpPr txBox="1"/>
          <p:nvPr/>
        </p:nvSpPr>
        <p:spPr>
          <a:xfrm>
            <a:off x="1062532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4" name="Text 112"/>
          <p:cNvSpPr txBox="1"/>
          <p:nvPr/>
        </p:nvSpPr>
        <p:spPr>
          <a:xfrm>
            <a:off x="6208776" y="465795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65795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6" name="Shape 114"/>
          <p:cNvSpPr/>
          <p:nvPr/>
        </p:nvSpPr>
        <p:spPr>
          <a:xfrm>
            <a:off x="8421624" y="4753005"/>
            <a:ext cx="18288" cy="232349"/>
          </a:xfrm>
          <a:prstGeom prst="rect">
            <a:avLst/>
          </a:prstGeom>
          <a:solidFill>
            <a:srgbClr val="2587C5"/>
          </a:solidFill>
          <a:ln/>
        </p:spPr>
      </p:sp>
      <p:sp>
        <p:nvSpPr>
          <p:cNvPr id="117" name="Text 115"/>
          <p:cNvSpPr txBox="1"/>
          <p:nvPr/>
        </p:nvSpPr>
        <p:spPr>
          <a:xfrm>
            <a:off x="886968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18" name="Text 116"/>
          <p:cNvSpPr txBox="1"/>
          <p:nvPr/>
        </p:nvSpPr>
        <p:spPr>
          <a:xfrm>
            <a:off x="978408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1062532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20" name="Text 118"/>
          <p:cNvSpPr txBox="1"/>
          <p:nvPr/>
        </p:nvSpPr>
        <p:spPr>
          <a:xfrm>
            <a:off x="6208776" y="5080406"/>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5080406"/>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2" name="Shape 120"/>
          <p:cNvSpPr/>
          <p:nvPr/>
        </p:nvSpPr>
        <p:spPr>
          <a:xfrm>
            <a:off x="8421624" y="5175458"/>
            <a:ext cx="18288" cy="232349"/>
          </a:xfrm>
          <a:prstGeom prst="rect">
            <a:avLst/>
          </a:prstGeom>
          <a:solidFill>
            <a:srgbClr val="2587C5"/>
          </a:solidFill>
          <a:ln/>
        </p:spPr>
      </p:sp>
      <p:sp>
        <p:nvSpPr>
          <p:cNvPr id="123" name="Text 121"/>
          <p:cNvSpPr txBox="1"/>
          <p:nvPr/>
        </p:nvSpPr>
        <p:spPr>
          <a:xfrm>
            <a:off x="886968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24" name="Text 122"/>
          <p:cNvSpPr txBox="1"/>
          <p:nvPr/>
        </p:nvSpPr>
        <p:spPr>
          <a:xfrm>
            <a:off x="978408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62532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26" name="Shape 124"/>
          <p:cNvSpPr/>
          <p:nvPr/>
        </p:nvSpPr>
        <p:spPr>
          <a:xfrm>
            <a:off x="6085332" y="1700784"/>
            <a:ext cx="10973" cy="4224528"/>
          </a:xfrm>
          <a:prstGeom prst="rect">
            <a:avLst/>
          </a:prstGeom>
          <a:solidFill>
            <a:srgbClr val="D9D9D9"/>
          </a:solidFill>
          <a:ln/>
        </p:spPr>
      </p:sp>
      <p:sp>
        <p:nvSpPr>
          <p:cNvPr id="127" name="Shape 125"/>
          <p:cNvSpPr/>
          <p:nvPr/>
        </p:nvSpPr>
        <p:spPr>
          <a:xfrm>
            <a:off x="457200" y="6126480"/>
            <a:ext cx="11274552" cy="615696"/>
          </a:xfrm>
          <a:prstGeom prst="rect">
            <a:avLst/>
          </a:prstGeom>
          <a:solidFill>
            <a:srgbClr val="EDF4FA"/>
          </a:solidFill>
          <a:ln/>
        </p:spPr>
      </p:sp>
      <p:sp>
        <p:nvSpPr>
          <p:cNvPr id="128" name="Text 1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586984" cy="4782312"/>
          </a:xfrm>
          <a:prstGeom prst="rect">
            <a:avLst/>
          </a:prstGeom>
          <a:solidFill>
            <a:srgbClr val="FFFFFF"/>
          </a:solidFill>
          <a:ln/>
        </p:spPr>
      </p:sp>
      <p:sp>
        <p:nvSpPr>
          <p:cNvPr id="6" name="Text 4"/>
          <p:cNvSpPr txBox="1"/>
          <p:nvPr/>
        </p:nvSpPr>
        <p:spPr>
          <a:xfrm>
            <a:off x="658368" y="1335024"/>
            <a:ext cx="5184648"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WARRANTY ELR</a:t>
            </a:r>
            <a:endParaRPr lang="en-US" sz="1400" dirty="0"/>
          </a:p>
        </p:txBody>
      </p:sp>
      <p:sp>
        <p:nvSpPr>
          <p:cNvPr id="7" name="Text 5"/>
          <p:cNvSpPr txBox="1"/>
          <p:nvPr/>
        </p:nvSpPr>
        <p:spPr>
          <a:xfrm>
            <a:off x="658368" y="1664208"/>
            <a:ext cx="5184648" cy="457200"/>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2025  </a:t>
            </a:r>
            <a:pPr indent="0" marL="0">
              <a:buNone/>
            </a:pPr>
            <a:r>
              <a:rPr lang="en-US" sz="2400" b="1" dirty="0">
                <a:solidFill>
                  <a:srgbClr val="595959"/>
                </a:solidFill>
                <a:latin typeface="Inter" pitchFamily="34" charset="0"/>
                <a:ea typeface="Inter" pitchFamily="34" charset="-122"/>
                <a:cs typeface="Inter" pitchFamily="34" charset="-120"/>
              </a:rPr>
              <a:t>$180     </a:t>
            </a:r>
            <a:pPr indent="0" marL="0">
              <a:buNone/>
            </a:pPr>
            <a:r>
              <a:rPr lang="en-US" sz="1600" dirty="0">
                <a:solidFill>
                  <a:srgbClr val="595959"/>
                </a:solidFill>
                <a:latin typeface="Inter" pitchFamily="34" charset="0"/>
                <a:ea typeface="Inter" pitchFamily="34" charset="-122"/>
                <a:cs typeface="Inter" pitchFamily="34" charset="-120"/>
              </a:rPr>
              <a:t>2026  </a:t>
            </a:r>
            <a:pPr indent="0" marL="0">
              <a:buNone/>
            </a:pPr>
            <a:r>
              <a:rPr lang="en-US" sz="2400" b="1" dirty="0">
                <a:solidFill>
                  <a:srgbClr val="0B7A4A"/>
                </a:solidFill>
                <a:latin typeface="Inter" pitchFamily="34" charset="0"/>
                <a:ea typeface="Inter" pitchFamily="34" charset="-122"/>
                <a:cs typeface="Inter" pitchFamily="34" charset="-120"/>
              </a:rPr>
              <a:t>$197</a:t>
            </a:r>
            <a:endParaRPr lang="en-US" sz="1600" dirty="0"/>
          </a:p>
        </p:txBody>
      </p:sp>
      <p:sp>
        <p:nvSpPr>
          <p:cNvPr id="8" name="Text 6"/>
          <p:cNvSpPr txBox="1"/>
          <p:nvPr/>
        </p:nvSpPr>
        <p:spPr>
          <a:xfrm>
            <a:off x="658368" y="2121408"/>
            <a:ext cx="5184648"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year to date · ahead of 2025 in all nine months</a:t>
            </a:r>
            <a:endParaRPr lang="en-US" sz="1400" dirty="0"/>
          </a:p>
        </p:txBody>
      </p:sp>
      <p:graphicFrame>
        <p:nvGraphicFramePr>
          <p:cNvPr id="9" name="Chart 0" descr=""/>
          <p:cNvGraphicFramePr/>
          <p:nvPr/>
        </p:nvGraphicFramePr>
        <p:xfrm>
          <a:off x="548640" y="2441448"/>
          <a:ext cx="5404104" cy="3456432"/>
        </p:xfrm>
        <a:graphic>
          <a:graphicData uri="http://schemas.openxmlformats.org/drawingml/2006/chart">
            <c:chart xmlns:c="http://schemas.openxmlformats.org/drawingml/2006/chart" r:id="rId2"/>
          </a:graphicData>
        </a:graphic>
      </p:graphicFrame>
      <p:sp>
        <p:nvSpPr>
          <p:cNvPr id="10" name="Shape 7"/>
          <p:cNvSpPr/>
          <p:nvPr/>
        </p:nvSpPr>
        <p:spPr>
          <a:xfrm>
            <a:off x="6144768" y="1207008"/>
            <a:ext cx="5586984" cy="4782312"/>
          </a:xfrm>
          <a:prstGeom prst="rect">
            <a:avLst/>
          </a:prstGeom>
          <a:solidFill>
            <a:srgbClr val="FFFFFF"/>
          </a:solidFill>
          <a:ln/>
        </p:spPr>
      </p:sp>
      <p:sp>
        <p:nvSpPr>
          <p:cNvPr id="11" name="Text 8"/>
          <p:cNvSpPr txBox="1"/>
          <p:nvPr/>
        </p:nvSpPr>
        <p:spPr>
          <a:xfrm>
            <a:off x="6345936" y="1335024"/>
            <a:ext cx="5184648"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WARRANTY PARTS GROSS PROFIT %</a:t>
            </a:r>
            <a:endParaRPr lang="en-US" sz="1400" dirty="0"/>
          </a:p>
        </p:txBody>
      </p:sp>
      <p:sp>
        <p:nvSpPr>
          <p:cNvPr id="12" name="Text 9"/>
          <p:cNvSpPr txBox="1"/>
          <p:nvPr/>
        </p:nvSpPr>
        <p:spPr>
          <a:xfrm>
            <a:off x="6345936" y="1664208"/>
            <a:ext cx="5184648" cy="457200"/>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2025  </a:t>
            </a:r>
            <a:pPr indent="0" marL="0">
              <a:buNone/>
            </a:pPr>
            <a:r>
              <a:rPr lang="en-US" sz="2400" b="1" dirty="0">
                <a:solidFill>
                  <a:srgbClr val="595959"/>
                </a:solidFill>
                <a:latin typeface="Inter" pitchFamily="34" charset="0"/>
                <a:ea typeface="Inter" pitchFamily="34" charset="-122"/>
                <a:cs typeface="Inter" pitchFamily="34" charset="-120"/>
              </a:rPr>
              <a:t>42.6%     </a:t>
            </a:r>
            <a:pPr indent="0" marL="0">
              <a:buNone/>
            </a:pPr>
            <a:r>
              <a:rPr lang="en-US" sz="1600" dirty="0">
                <a:solidFill>
                  <a:srgbClr val="595959"/>
                </a:solidFill>
                <a:latin typeface="Inter" pitchFamily="34" charset="0"/>
                <a:ea typeface="Inter" pitchFamily="34" charset="-122"/>
                <a:cs typeface="Inter" pitchFamily="34" charset="-120"/>
              </a:rPr>
              <a:t>2026  </a:t>
            </a:r>
            <a:pPr indent="0" marL="0">
              <a:buNone/>
            </a:pPr>
            <a:r>
              <a:rPr lang="en-US" sz="2400" b="1" dirty="0">
                <a:solidFill>
                  <a:srgbClr val="0B7A4A"/>
                </a:solidFill>
                <a:latin typeface="Inter" pitchFamily="34" charset="0"/>
                <a:ea typeface="Inter" pitchFamily="34" charset="-122"/>
                <a:cs typeface="Inter" pitchFamily="34" charset="-120"/>
              </a:rPr>
              <a:t>44.7%</a:t>
            </a:r>
            <a:endParaRPr lang="en-US" sz="1600" dirty="0"/>
          </a:p>
        </p:txBody>
      </p:sp>
      <p:sp>
        <p:nvSpPr>
          <p:cNvPr id="13" name="Text 10"/>
          <p:cNvSpPr txBox="1"/>
          <p:nvPr/>
        </p:nvSpPr>
        <p:spPr>
          <a:xfrm>
            <a:off x="6345936" y="2121408"/>
            <a:ext cx="5184648"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year to date · ahead of 2025 in all nine months</a:t>
            </a:r>
            <a:endParaRPr lang="en-US" sz="1400" dirty="0"/>
          </a:p>
        </p:txBody>
      </p:sp>
      <p:graphicFrame>
        <p:nvGraphicFramePr>
          <p:cNvPr id="14" name="Chart 1" descr=""/>
          <p:cNvGraphicFramePr/>
          <p:nvPr/>
        </p:nvGraphicFramePr>
        <p:xfrm>
          <a:off x="6236208" y="2441448"/>
          <a:ext cx="5404104" cy="3456432"/>
        </p:xfrm>
        <a:graphic>
          <a:graphicData uri="http://schemas.openxmlformats.org/drawingml/2006/chart">
            <c:chart xmlns:c="http://schemas.openxmlformats.org/drawingml/2006/chart" r:id="rId3"/>
          </a:graphicData>
        </a:graphic>
      </p:graphicFrame>
      <p:sp>
        <p:nvSpPr>
          <p:cNvPr id="15" name="Shape 11"/>
          <p:cNvSpPr/>
          <p:nvPr/>
        </p:nvSpPr>
        <p:spPr>
          <a:xfrm>
            <a:off x="457200" y="6126480"/>
            <a:ext cx="11274552" cy="615696"/>
          </a:xfrm>
          <a:prstGeom prst="rect">
            <a:avLst/>
          </a:prstGeom>
          <a:solidFill>
            <a:srgbClr val="EDF4FA"/>
          </a:solidFill>
          <a:ln/>
        </p:spPr>
      </p:sp>
      <p:sp>
        <p:nvSpPr>
          <p:cNvPr id="16"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Warranty ELR is up $17 to $197 and warranty parts margin up 2.1 pts to 44.7%. Higher rates draw more audits: every claim's documentation has to hold up.</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6460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41501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 name="Shape 8"/>
          <p:cNvSpPr/>
          <p:nvPr/>
        </p:nvSpPr>
        <p:spPr>
          <a:xfrm>
            <a:off x="3099816" y="1779994"/>
            <a:ext cx="1709928" cy="193624"/>
          </a:xfrm>
          <a:prstGeom prst="rect">
            <a:avLst/>
          </a:prstGeom>
          <a:solidFill>
            <a:srgbClr val="12A566"/>
          </a:solidFill>
          <a:ln/>
        </p:spPr>
      </p:sp>
      <p:sp>
        <p:nvSpPr>
          <p:cNvPr id="11" name="Text 9"/>
          <p:cNvSpPr txBox="1"/>
          <p:nvPr/>
        </p:nvSpPr>
        <p:spPr>
          <a:xfrm>
            <a:off x="486460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2" name="Text 10"/>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205282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4" name="Shape 12"/>
          <p:cNvSpPr/>
          <p:nvPr/>
        </p:nvSpPr>
        <p:spPr>
          <a:xfrm>
            <a:off x="3099816" y="2132038"/>
            <a:ext cx="1709928" cy="193624"/>
          </a:xfrm>
          <a:prstGeom prst="rect">
            <a:avLst/>
          </a:prstGeom>
          <a:solidFill>
            <a:srgbClr val="12A566"/>
          </a:solidFill>
          <a:ln/>
        </p:spPr>
      </p:sp>
      <p:sp>
        <p:nvSpPr>
          <p:cNvPr id="15" name="Text 13"/>
          <p:cNvSpPr txBox="1"/>
          <p:nvPr/>
        </p:nvSpPr>
        <p:spPr>
          <a:xfrm>
            <a:off x="486460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6" name="Text 14"/>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40487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099816" y="2484082"/>
            <a:ext cx="1519936" cy="193624"/>
          </a:xfrm>
          <a:prstGeom prst="rect">
            <a:avLst/>
          </a:prstGeom>
          <a:solidFill>
            <a:srgbClr val="12A566"/>
          </a:solidFill>
          <a:ln/>
        </p:spPr>
      </p:sp>
      <p:sp>
        <p:nvSpPr>
          <p:cNvPr id="19" name="Text 17"/>
          <p:cNvSpPr txBox="1"/>
          <p:nvPr/>
        </p:nvSpPr>
        <p:spPr>
          <a:xfrm>
            <a:off x="486460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0" name="Text 18"/>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75691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2" name="Shape 20"/>
          <p:cNvSpPr/>
          <p:nvPr/>
        </p:nvSpPr>
        <p:spPr>
          <a:xfrm>
            <a:off x="3099816" y="2836126"/>
            <a:ext cx="1329944" cy="193624"/>
          </a:xfrm>
          <a:prstGeom prst="rect">
            <a:avLst/>
          </a:prstGeom>
          <a:solidFill>
            <a:srgbClr val="12A566"/>
          </a:solidFill>
          <a:ln/>
        </p:spPr>
      </p:sp>
      <p:sp>
        <p:nvSpPr>
          <p:cNvPr id="23" name="Text 21"/>
          <p:cNvSpPr txBox="1"/>
          <p:nvPr/>
        </p:nvSpPr>
        <p:spPr>
          <a:xfrm>
            <a:off x="486460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4" name="Text 22"/>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310896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6" name="Shape 24"/>
          <p:cNvSpPr/>
          <p:nvPr/>
        </p:nvSpPr>
        <p:spPr>
          <a:xfrm>
            <a:off x="3099816" y="3188170"/>
            <a:ext cx="1329944" cy="193624"/>
          </a:xfrm>
          <a:prstGeom prst="rect">
            <a:avLst/>
          </a:prstGeom>
          <a:solidFill>
            <a:srgbClr val="12A566"/>
          </a:solidFill>
          <a:ln/>
        </p:spPr>
      </p:sp>
      <p:sp>
        <p:nvSpPr>
          <p:cNvPr id="27" name="Text 25"/>
          <p:cNvSpPr txBox="1"/>
          <p:nvPr/>
        </p:nvSpPr>
        <p:spPr>
          <a:xfrm>
            <a:off x="486460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8" name="Text 26"/>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346100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0" name="Shape 28"/>
          <p:cNvSpPr/>
          <p:nvPr/>
        </p:nvSpPr>
        <p:spPr>
          <a:xfrm>
            <a:off x="3099816" y="3540214"/>
            <a:ext cx="1139952" cy="193624"/>
          </a:xfrm>
          <a:prstGeom prst="rect">
            <a:avLst/>
          </a:prstGeom>
          <a:solidFill>
            <a:srgbClr val="12A566"/>
          </a:solidFill>
          <a:ln/>
        </p:spPr>
      </p:sp>
      <p:sp>
        <p:nvSpPr>
          <p:cNvPr id="31" name="Text 29"/>
          <p:cNvSpPr txBox="1"/>
          <p:nvPr/>
        </p:nvSpPr>
        <p:spPr>
          <a:xfrm>
            <a:off x="486460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32" name="Text 30"/>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81304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4" name="Shape 32"/>
          <p:cNvSpPr/>
          <p:nvPr/>
        </p:nvSpPr>
        <p:spPr>
          <a:xfrm>
            <a:off x="3099816" y="3892258"/>
            <a:ext cx="1139952" cy="193624"/>
          </a:xfrm>
          <a:prstGeom prst="rect">
            <a:avLst/>
          </a:prstGeom>
          <a:solidFill>
            <a:srgbClr val="12A566"/>
          </a:solidFill>
          <a:ln/>
        </p:spPr>
      </p:sp>
      <p:sp>
        <p:nvSpPr>
          <p:cNvPr id="35" name="Text 33"/>
          <p:cNvSpPr txBox="1"/>
          <p:nvPr/>
        </p:nvSpPr>
        <p:spPr>
          <a:xfrm>
            <a:off x="486460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36" name="Text 34"/>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416509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8" name="Shape 36"/>
          <p:cNvSpPr/>
          <p:nvPr/>
        </p:nvSpPr>
        <p:spPr>
          <a:xfrm>
            <a:off x="3099816" y="4244302"/>
            <a:ext cx="949960" cy="193624"/>
          </a:xfrm>
          <a:prstGeom prst="rect">
            <a:avLst/>
          </a:prstGeom>
          <a:solidFill>
            <a:srgbClr val="12A566"/>
          </a:solidFill>
          <a:ln/>
        </p:spPr>
      </p:sp>
      <p:sp>
        <p:nvSpPr>
          <p:cNvPr id="39" name="Text 37"/>
          <p:cNvSpPr txBox="1"/>
          <p:nvPr/>
        </p:nvSpPr>
        <p:spPr>
          <a:xfrm>
            <a:off x="486460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40" name="Text 3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451713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2" name="Shape 40"/>
          <p:cNvSpPr/>
          <p:nvPr/>
        </p:nvSpPr>
        <p:spPr>
          <a:xfrm>
            <a:off x="3099816" y="4596346"/>
            <a:ext cx="759968" cy="193624"/>
          </a:xfrm>
          <a:prstGeom prst="rect">
            <a:avLst/>
          </a:prstGeom>
          <a:solidFill>
            <a:srgbClr val="12A566"/>
          </a:solidFill>
          <a:ln/>
        </p:spPr>
      </p:sp>
      <p:sp>
        <p:nvSpPr>
          <p:cNvPr id="43" name="Text 41"/>
          <p:cNvSpPr txBox="1"/>
          <p:nvPr/>
        </p:nvSpPr>
        <p:spPr>
          <a:xfrm>
            <a:off x="486460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486918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6" name="Shape 44"/>
          <p:cNvSpPr/>
          <p:nvPr/>
        </p:nvSpPr>
        <p:spPr>
          <a:xfrm>
            <a:off x="3099816" y="4948390"/>
            <a:ext cx="759968" cy="193624"/>
          </a:xfrm>
          <a:prstGeom prst="rect">
            <a:avLst/>
          </a:prstGeom>
          <a:solidFill>
            <a:srgbClr val="12A566"/>
          </a:solidFill>
          <a:ln/>
        </p:spPr>
      </p:sp>
      <p:sp>
        <p:nvSpPr>
          <p:cNvPr id="47" name="Text 45"/>
          <p:cNvSpPr txBox="1"/>
          <p:nvPr/>
        </p:nvSpPr>
        <p:spPr>
          <a:xfrm>
            <a:off x="486460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8" name="Text 46"/>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522122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0" name="Shape 48"/>
          <p:cNvSpPr/>
          <p:nvPr/>
        </p:nvSpPr>
        <p:spPr>
          <a:xfrm>
            <a:off x="3099816" y="5300434"/>
            <a:ext cx="759968" cy="193624"/>
          </a:xfrm>
          <a:prstGeom prst="rect">
            <a:avLst/>
          </a:prstGeom>
          <a:solidFill>
            <a:srgbClr val="12A566"/>
          </a:solidFill>
          <a:ln/>
        </p:spPr>
      </p:sp>
      <p:sp>
        <p:nvSpPr>
          <p:cNvPr id="51" name="Text 49"/>
          <p:cNvSpPr txBox="1"/>
          <p:nvPr/>
        </p:nvSpPr>
        <p:spPr>
          <a:xfrm>
            <a:off x="486460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2" name="Text 50"/>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557326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4" name="Shape 52"/>
          <p:cNvSpPr/>
          <p:nvPr/>
        </p:nvSpPr>
        <p:spPr>
          <a:xfrm>
            <a:off x="3099816" y="5652478"/>
            <a:ext cx="759968" cy="193624"/>
          </a:xfrm>
          <a:prstGeom prst="rect">
            <a:avLst/>
          </a:prstGeom>
          <a:solidFill>
            <a:srgbClr val="12A566"/>
          </a:solidFill>
          <a:ln/>
        </p:spPr>
      </p:sp>
      <p:sp>
        <p:nvSpPr>
          <p:cNvPr id="55" name="Text 53"/>
          <p:cNvSpPr txBox="1"/>
          <p:nvPr/>
        </p:nvSpPr>
        <p:spPr>
          <a:xfrm>
            <a:off x="486460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6" name="Text 54"/>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6565392" y="170078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8" name="Shape 56"/>
          <p:cNvSpPr/>
          <p:nvPr/>
        </p:nvSpPr>
        <p:spPr>
          <a:xfrm>
            <a:off x="8650224" y="1779994"/>
            <a:ext cx="759968" cy="193624"/>
          </a:xfrm>
          <a:prstGeom prst="rect">
            <a:avLst/>
          </a:prstGeom>
          <a:solidFill>
            <a:srgbClr val="12A566"/>
          </a:solidFill>
          <a:ln/>
        </p:spPr>
      </p:sp>
      <p:sp>
        <p:nvSpPr>
          <p:cNvPr id="59" name="Text 57"/>
          <p:cNvSpPr txBox="1"/>
          <p:nvPr/>
        </p:nvSpPr>
        <p:spPr>
          <a:xfrm>
            <a:off x="1041501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60" name="Text 58"/>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6565392" y="205282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2" name="Shape 60"/>
          <p:cNvSpPr/>
          <p:nvPr/>
        </p:nvSpPr>
        <p:spPr>
          <a:xfrm>
            <a:off x="8650224" y="2132038"/>
            <a:ext cx="759968" cy="193624"/>
          </a:xfrm>
          <a:prstGeom prst="rect">
            <a:avLst/>
          </a:prstGeom>
          <a:solidFill>
            <a:srgbClr val="12A566"/>
          </a:solidFill>
          <a:ln/>
        </p:spPr>
      </p:sp>
      <p:sp>
        <p:nvSpPr>
          <p:cNvPr id="63" name="Text 61"/>
          <p:cNvSpPr txBox="1"/>
          <p:nvPr/>
        </p:nvSpPr>
        <p:spPr>
          <a:xfrm>
            <a:off x="1041501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64" name="Text 62"/>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6565392" y="240487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Shape 64"/>
          <p:cNvSpPr/>
          <p:nvPr/>
        </p:nvSpPr>
        <p:spPr>
          <a:xfrm>
            <a:off x="8650224" y="2484082"/>
            <a:ext cx="569976" cy="193624"/>
          </a:xfrm>
          <a:prstGeom prst="rect">
            <a:avLst/>
          </a:prstGeom>
          <a:solidFill>
            <a:srgbClr val="12A566"/>
          </a:solidFill>
          <a:ln/>
        </p:spPr>
      </p:sp>
      <p:sp>
        <p:nvSpPr>
          <p:cNvPr id="67" name="Text 65"/>
          <p:cNvSpPr txBox="1"/>
          <p:nvPr/>
        </p:nvSpPr>
        <p:spPr>
          <a:xfrm>
            <a:off x="1041501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68" name="Text 66"/>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6565392" y="275691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0" name="Shape 68"/>
          <p:cNvSpPr/>
          <p:nvPr/>
        </p:nvSpPr>
        <p:spPr>
          <a:xfrm>
            <a:off x="8650224" y="2836126"/>
            <a:ext cx="379984" cy="193624"/>
          </a:xfrm>
          <a:prstGeom prst="rect">
            <a:avLst/>
          </a:prstGeom>
          <a:solidFill>
            <a:srgbClr val="12A566"/>
          </a:solidFill>
          <a:ln/>
        </p:spPr>
      </p:sp>
      <p:sp>
        <p:nvSpPr>
          <p:cNvPr id="71" name="Text 69"/>
          <p:cNvSpPr txBox="1"/>
          <p:nvPr/>
        </p:nvSpPr>
        <p:spPr>
          <a:xfrm>
            <a:off x="1041501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2" name="Text 70"/>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6565392" y="310896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74" name="Shape 72"/>
          <p:cNvSpPr/>
          <p:nvPr/>
        </p:nvSpPr>
        <p:spPr>
          <a:xfrm>
            <a:off x="8650224" y="3188170"/>
            <a:ext cx="379984" cy="193624"/>
          </a:xfrm>
          <a:prstGeom prst="rect">
            <a:avLst/>
          </a:prstGeom>
          <a:solidFill>
            <a:srgbClr val="12A566"/>
          </a:solidFill>
          <a:ln/>
        </p:spPr>
      </p:sp>
      <p:sp>
        <p:nvSpPr>
          <p:cNvPr id="75" name="Text 73"/>
          <p:cNvSpPr txBox="1"/>
          <p:nvPr/>
        </p:nvSpPr>
        <p:spPr>
          <a:xfrm>
            <a:off x="1041501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6" name="Text 74"/>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346100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8" name="Shape 76"/>
          <p:cNvSpPr/>
          <p:nvPr/>
        </p:nvSpPr>
        <p:spPr>
          <a:xfrm>
            <a:off x="8650224" y="3540214"/>
            <a:ext cx="379984" cy="193624"/>
          </a:xfrm>
          <a:prstGeom prst="rect">
            <a:avLst/>
          </a:prstGeom>
          <a:solidFill>
            <a:srgbClr val="12A566"/>
          </a:solidFill>
          <a:ln/>
        </p:spPr>
      </p:sp>
      <p:sp>
        <p:nvSpPr>
          <p:cNvPr id="79" name="Text 77"/>
          <p:cNvSpPr txBox="1"/>
          <p:nvPr/>
        </p:nvSpPr>
        <p:spPr>
          <a:xfrm>
            <a:off x="1041501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80" name="Text 7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381304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2" name="Shape 80"/>
          <p:cNvSpPr/>
          <p:nvPr/>
        </p:nvSpPr>
        <p:spPr>
          <a:xfrm>
            <a:off x="8650224" y="3892258"/>
            <a:ext cx="379984" cy="193624"/>
          </a:xfrm>
          <a:prstGeom prst="rect">
            <a:avLst/>
          </a:prstGeom>
          <a:solidFill>
            <a:srgbClr val="12A566"/>
          </a:solidFill>
          <a:ln/>
        </p:spPr>
      </p:sp>
      <p:sp>
        <p:nvSpPr>
          <p:cNvPr id="83" name="Text 81"/>
          <p:cNvSpPr txBox="1"/>
          <p:nvPr/>
        </p:nvSpPr>
        <p:spPr>
          <a:xfrm>
            <a:off x="1041501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84" name="Text 82"/>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416509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6" name="Shape 84"/>
          <p:cNvSpPr/>
          <p:nvPr/>
        </p:nvSpPr>
        <p:spPr>
          <a:xfrm>
            <a:off x="8650224" y="4244302"/>
            <a:ext cx="379984" cy="193624"/>
          </a:xfrm>
          <a:prstGeom prst="rect">
            <a:avLst/>
          </a:prstGeom>
          <a:solidFill>
            <a:srgbClr val="12A566"/>
          </a:solidFill>
          <a:ln/>
        </p:spPr>
      </p:sp>
      <p:sp>
        <p:nvSpPr>
          <p:cNvPr id="87" name="Text 85"/>
          <p:cNvSpPr txBox="1"/>
          <p:nvPr/>
        </p:nvSpPr>
        <p:spPr>
          <a:xfrm>
            <a:off x="1041501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88" name="Text 86"/>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451713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90" name="Shape 88"/>
          <p:cNvSpPr/>
          <p:nvPr/>
        </p:nvSpPr>
        <p:spPr>
          <a:xfrm>
            <a:off x="8650224" y="4596346"/>
            <a:ext cx="379984" cy="193624"/>
          </a:xfrm>
          <a:prstGeom prst="rect">
            <a:avLst/>
          </a:prstGeom>
          <a:solidFill>
            <a:srgbClr val="12A566"/>
          </a:solidFill>
          <a:ln/>
        </p:spPr>
      </p:sp>
      <p:sp>
        <p:nvSpPr>
          <p:cNvPr id="91" name="Text 89"/>
          <p:cNvSpPr txBox="1"/>
          <p:nvPr/>
        </p:nvSpPr>
        <p:spPr>
          <a:xfrm>
            <a:off x="1041501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92" name="Text 90"/>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486918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4" name="Shape 92"/>
          <p:cNvSpPr/>
          <p:nvPr/>
        </p:nvSpPr>
        <p:spPr>
          <a:xfrm>
            <a:off x="8650224" y="4948390"/>
            <a:ext cx="189992" cy="193624"/>
          </a:xfrm>
          <a:prstGeom prst="rect">
            <a:avLst/>
          </a:prstGeom>
          <a:solidFill>
            <a:srgbClr val="12A566"/>
          </a:solidFill>
          <a:ln/>
        </p:spPr>
      </p:sp>
      <p:sp>
        <p:nvSpPr>
          <p:cNvPr id="95" name="Text 93"/>
          <p:cNvSpPr txBox="1"/>
          <p:nvPr/>
        </p:nvSpPr>
        <p:spPr>
          <a:xfrm>
            <a:off x="1041501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522122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8" name="Shape 96"/>
          <p:cNvSpPr/>
          <p:nvPr/>
        </p:nvSpPr>
        <p:spPr>
          <a:xfrm>
            <a:off x="8650224" y="5300434"/>
            <a:ext cx="189992" cy="193624"/>
          </a:xfrm>
          <a:prstGeom prst="rect">
            <a:avLst/>
          </a:prstGeom>
          <a:solidFill>
            <a:srgbClr val="12A566"/>
          </a:solidFill>
          <a:ln/>
        </p:spPr>
      </p:sp>
      <p:sp>
        <p:nvSpPr>
          <p:cNvPr id="99" name="Text 97"/>
          <p:cNvSpPr txBox="1"/>
          <p:nvPr/>
        </p:nvSpPr>
        <p:spPr>
          <a:xfrm>
            <a:off x="1041501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00" name="Shape 98"/>
          <p:cNvSpPr/>
          <p:nvPr/>
        </p:nvSpPr>
        <p:spPr>
          <a:xfrm>
            <a:off x="6085332" y="1700784"/>
            <a:ext cx="10973" cy="4224528"/>
          </a:xfrm>
          <a:prstGeom prst="rect">
            <a:avLst/>
          </a:prstGeom>
          <a:solidFill>
            <a:srgbClr val="D9D9D9"/>
          </a:solidFill>
          <a:ln/>
        </p:spPr>
      </p:sp>
      <p:sp>
        <p:nvSpPr>
          <p:cNvPr id="101" name="Shape 99"/>
          <p:cNvSpPr/>
          <p:nvPr/>
        </p:nvSpPr>
        <p:spPr>
          <a:xfrm>
            <a:off x="457200" y="6126480"/>
            <a:ext cx="11274552" cy="371856"/>
          </a:xfrm>
          <a:prstGeom prst="rect">
            <a:avLst/>
          </a:prstGeom>
          <a:solidFill>
            <a:srgbClr val="E6F6EE"/>
          </a:solidFill>
          <a:ln/>
        </p:spPr>
      </p:sp>
      <p:sp>
        <p:nvSpPr>
          <p:cNvPr id="102" name="Text 10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2026-10-24T20:52:26Z</dcterms:created>
  <dcterms:modified xsi:type="dcterms:W3CDTF">2026-10-24T20:52:26Z</dcterms:modified>
</cp:coreProperties>
</file>